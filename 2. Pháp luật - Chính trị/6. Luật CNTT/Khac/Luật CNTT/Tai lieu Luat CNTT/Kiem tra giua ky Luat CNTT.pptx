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68043" autoAdjust="0"/>
  </p:normalViewPr>
  <p:slideViewPr>
    <p:cSldViewPr snapToGrid="0">
      <p:cViewPr varScale="1">
        <p:scale>
          <a:sx n="50" d="100"/>
          <a:sy n="50" d="100"/>
        </p:scale>
        <p:origin x="150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C55295-A5E2-4FCC-BA77-C5843775B9EF}" type="datetimeFigureOut">
              <a:rPr lang="en-US" smtClean="0"/>
              <a:t>10/15/2019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1BECE-819D-4CF3-8389-75F0396AF3E4}" type="slidenum">
              <a:rPr lang="en-US" smtClean="0"/>
              <a:t>‹#›</a:t>
            </a:fld>
            <a:endParaRPr lang="en-US"/>
          </a:p>
        </p:txBody>
      </p:sp>
    </p:spTree>
    <p:extLst>
      <p:ext uri="{BB962C8B-B14F-4D97-AF65-F5344CB8AC3E}">
        <p14:creationId xmlns:p14="http://schemas.microsoft.com/office/powerpoint/2010/main" val="3784316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smtClean="0">
                <a:solidFill>
                  <a:schemeClr val="tx1"/>
                </a:solidFill>
                <a:effectLst/>
                <a:latin typeface="+mn-lt"/>
                <a:ea typeface="+mn-ea"/>
                <a:cs typeface="+mn-cs"/>
              </a:rPr>
              <a:t>Câu</a:t>
            </a:r>
            <a:r>
              <a:rPr lang="en-US" sz="1200" b="1" kern="1200" baseline="0" smtClean="0">
                <a:solidFill>
                  <a:schemeClr val="tx1"/>
                </a:solidFill>
                <a:effectLst/>
                <a:latin typeface="+mn-lt"/>
                <a:ea typeface="+mn-ea"/>
                <a:cs typeface="+mn-cs"/>
              </a:rPr>
              <a:t> 2:  c</a:t>
            </a:r>
          </a:p>
          <a:p>
            <a:r>
              <a:rPr lang="en-US" sz="1200" b="1" kern="1200" baseline="0" smtClean="0">
                <a:solidFill>
                  <a:schemeClr val="tx1"/>
                </a:solidFill>
                <a:effectLst/>
                <a:latin typeface="+mn-lt"/>
                <a:ea typeface="+mn-ea"/>
                <a:cs typeface="+mn-cs"/>
              </a:rPr>
              <a:t>Khoản 2 điều 3 nghị định 72/2013/NĐ-CP</a:t>
            </a:r>
          </a:p>
          <a:p>
            <a:r>
              <a:rPr lang="en-US" sz="1200" b="1" kern="1200" smtClean="0">
                <a:solidFill>
                  <a:schemeClr val="tx1"/>
                </a:solidFill>
                <a:effectLst/>
                <a:latin typeface="+mn-lt"/>
                <a:ea typeface="+mn-ea"/>
                <a:cs typeface="+mn-cs"/>
              </a:rPr>
              <a:t>Câu</a:t>
            </a:r>
            <a:r>
              <a:rPr lang="en-US" sz="1200" b="1" kern="1200" baseline="0" smtClean="0">
                <a:solidFill>
                  <a:schemeClr val="tx1"/>
                </a:solidFill>
                <a:effectLst/>
                <a:latin typeface="+mn-lt"/>
                <a:ea typeface="+mn-ea"/>
                <a:cs typeface="+mn-cs"/>
              </a:rPr>
              <a:t> 3 : b</a:t>
            </a:r>
          </a:p>
          <a:p>
            <a:r>
              <a:rPr lang="en-US" sz="1200" b="1" kern="1200" baseline="0" smtClean="0">
                <a:solidFill>
                  <a:schemeClr val="tx1"/>
                </a:solidFill>
                <a:effectLst/>
                <a:latin typeface="+mn-lt"/>
                <a:ea typeface="+mn-ea"/>
                <a:cs typeface="+mn-cs"/>
              </a:rPr>
              <a:t>điểm b khoản 2 điều 27 luật SHTT 2005 sửa đổi 2009</a:t>
            </a:r>
            <a:endParaRPr lang="en-US" sz="1200" b="1" kern="1200" smtClean="0">
              <a:solidFill>
                <a:schemeClr val="tx1"/>
              </a:solidFill>
              <a:effectLst/>
              <a:latin typeface="+mn-lt"/>
              <a:ea typeface="+mn-ea"/>
              <a:cs typeface="+mn-cs"/>
            </a:endParaRPr>
          </a:p>
          <a:p>
            <a:r>
              <a:rPr lang="en-US" sz="1200" b="1" kern="1200" smtClean="0">
                <a:solidFill>
                  <a:schemeClr val="tx1"/>
                </a:solidFill>
                <a:effectLst/>
                <a:latin typeface="+mn-lt"/>
                <a:ea typeface="+mn-ea"/>
                <a:cs typeface="+mn-cs"/>
              </a:rPr>
              <a:t>Điều 58. Vi phạm quy định về sử dụng dịch vụ chữ ký số và chứng thư số</a:t>
            </a:r>
            <a:endParaRPr lang="en-US" sz="1200" kern="1200" smtClean="0">
              <a:solidFill>
                <a:schemeClr val="tx1"/>
              </a:solidFill>
              <a:effectLst/>
              <a:latin typeface="+mn-lt"/>
              <a:ea typeface="+mn-ea"/>
              <a:cs typeface="+mn-cs"/>
            </a:endParaRPr>
          </a:p>
          <a:p>
            <a:r>
              <a:rPr lang="en-US" sz="1200" kern="1200" smtClean="0">
                <a:solidFill>
                  <a:schemeClr val="tx1"/>
                </a:solidFill>
                <a:effectLst/>
                <a:latin typeface="+mn-lt"/>
                <a:ea typeface="+mn-ea"/>
                <a:cs typeface="+mn-cs"/>
              </a:rPr>
              <a:t>2. Phạt tiền từ 40.000.000 đồng đến 60.000.000 đồng đối với một trong các hành vi sau đây:</a:t>
            </a:r>
          </a:p>
          <a:p>
            <a:r>
              <a:rPr lang="en-US" sz="1200" kern="1200" smtClean="0">
                <a:solidFill>
                  <a:schemeClr val="tx1"/>
                </a:solidFill>
                <a:effectLst/>
                <a:latin typeface="+mn-lt"/>
                <a:ea typeface="+mn-ea"/>
                <a:cs typeface="+mn-cs"/>
              </a:rPr>
              <a:t>a) Cung cấp thông tin sai sự thật để được cấp hoặc thay đổi nội dung chứng thư số;</a:t>
            </a:r>
          </a:p>
          <a:p>
            <a:r>
              <a:rPr lang="en-US" sz="1200" kern="1200" smtClean="0">
                <a:solidFill>
                  <a:schemeClr val="tx1"/>
                </a:solidFill>
                <a:effectLst/>
                <a:latin typeface="+mn-lt"/>
                <a:ea typeface="+mn-ea"/>
                <a:cs typeface="+mn-cs"/>
              </a:rPr>
              <a:t>b) Sử dụng chữ ký số tương ứng với chứng thư số của cơ quan, tổ chức khi không còn giữ chức danh tương ứng với chứng thư số đó</a:t>
            </a:r>
          </a:p>
          <a:p>
            <a:endParaRPr lang="en-US"/>
          </a:p>
        </p:txBody>
      </p:sp>
      <p:sp>
        <p:nvSpPr>
          <p:cNvPr id="4" name="Slide Number Placeholder 3"/>
          <p:cNvSpPr>
            <a:spLocks noGrp="1"/>
          </p:cNvSpPr>
          <p:nvPr>
            <p:ph type="sldNum" sz="quarter" idx="10"/>
          </p:nvPr>
        </p:nvSpPr>
        <p:spPr/>
        <p:txBody>
          <a:bodyPr/>
          <a:lstStyle/>
          <a:p>
            <a:fld id="{3C71BECE-819D-4CF3-8389-75F0396AF3E4}" type="slidenum">
              <a:rPr lang="en-US" smtClean="0"/>
              <a:t>1</a:t>
            </a:fld>
            <a:endParaRPr lang="en-US"/>
          </a:p>
        </p:txBody>
      </p:sp>
    </p:spTree>
    <p:extLst>
      <p:ext uri="{BB962C8B-B14F-4D97-AF65-F5344CB8AC3E}">
        <p14:creationId xmlns:p14="http://schemas.microsoft.com/office/powerpoint/2010/main" val="2829899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36E45E6-4EAC-4AAB-86BF-148A1FFB1237}" type="datetimeFigureOut">
              <a:rPr lang="en-US" smtClean="0"/>
              <a:t>10/15/2019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1253078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6E45E6-4EAC-4AAB-86BF-148A1FFB1237}" type="datetimeFigureOut">
              <a:rPr lang="en-US" smtClean="0"/>
              <a:t>10/15/2019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2011217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36E45E6-4EAC-4AAB-86BF-148A1FFB1237}" type="datetimeFigureOut">
              <a:rPr lang="en-US" smtClean="0"/>
              <a:t>10/15/2019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1472245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36E45E6-4EAC-4AAB-86BF-148A1FFB1237}" type="datetimeFigureOut">
              <a:rPr lang="en-US" smtClean="0"/>
              <a:t>10/15/2019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420467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36E45E6-4EAC-4AAB-86BF-148A1FFB1237}" type="datetimeFigureOut">
              <a:rPr lang="en-US" smtClean="0"/>
              <a:t>10/15/2019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1813442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36E45E6-4EAC-4AAB-86BF-148A1FFB1237}" type="datetimeFigureOut">
              <a:rPr lang="en-US" smtClean="0"/>
              <a:t>10/15/2019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1968841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6E45E6-4EAC-4AAB-86BF-148A1FFB1237}" type="datetimeFigureOut">
              <a:rPr lang="en-US" smtClean="0"/>
              <a:t>10/15/2019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2486430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6E45E6-4EAC-4AAB-86BF-148A1FFB1237}" type="datetimeFigureOut">
              <a:rPr lang="en-US" smtClean="0"/>
              <a:t>10/15/2019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2440220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6E45E6-4EAC-4AAB-86BF-148A1FFB1237}" type="datetimeFigureOut">
              <a:rPr lang="en-US" smtClean="0"/>
              <a:t>10/15/2019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3924172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6E45E6-4EAC-4AAB-86BF-148A1FFB1237}" type="datetimeFigureOut">
              <a:rPr lang="en-US" smtClean="0"/>
              <a:t>10/15/2019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2145405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6E45E6-4EAC-4AAB-86BF-148A1FFB1237}" type="datetimeFigureOut">
              <a:rPr lang="en-US" smtClean="0"/>
              <a:t>10/15/2019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1303898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6E45E6-4EAC-4AAB-86BF-148A1FFB1237}" type="datetimeFigureOut">
              <a:rPr lang="en-US" smtClean="0"/>
              <a:t>10/15/2019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193F5F-DA00-42AD-905A-4C82F88BCB74}" type="slidenum">
              <a:rPr lang="en-US" smtClean="0"/>
              <a:t>‹#›</a:t>
            </a:fld>
            <a:endParaRPr lang="en-US"/>
          </a:p>
        </p:txBody>
      </p:sp>
    </p:spTree>
    <p:extLst>
      <p:ext uri="{BB962C8B-B14F-4D97-AF65-F5344CB8AC3E}">
        <p14:creationId xmlns:p14="http://schemas.microsoft.com/office/powerpoint/2010/main" val="1666702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3350" y="117693"/>
            <a:ext cx="12058649" cy="6740307"/>
          </a:xfrm>
          <a:prstGeom prst="rect">
            <a:avLst/>
          </a:prstGeom>
          <a:noFill/>
        </p:spPr>
        <p:txBody>
          <a:bodyPr wrap="square" rtlCol="0">
            <a:spAutoFit/>
          </a:bodyPr>
          <a:lstStyle/>
          <a:p>
            <a:pPr>
              <a:lnSpc>
                <a:spcPct val="150000"/>
              </a:lnSpc>
            </a:pPr>
            <a:r>
              <a:rPr lang="en-US" b="1" smtClean="0">
                <a:latin typeface="Times New Roman" panose="02020603050405020304" pitchFamily="18" charset="0"/>
                <a:cs typeface="Times New Roman" panose="02020603050405020304" pitchFamily="18" charset="0"/>
              </a:rPr>
              <a:t>Câu 1</a:t>
            </a:r>
            <a:r>
              <a:rPr lang="en-US" smtClean="0">
                <a:latin typeface="Times New Roman" panose="02020603050405020304" pitchFamily="18" charset="0"/>
                <a:cs typeface="Times New Roman" panose="02020603050405020304" pitchFamily="18" charset="0"/>
              </a:rPr>
              <a:t>. Nêu quy định về truyền đưa thông tin số được quy định trong Luật Công nghệ thông tin, Luật số 67/2006/QH11.</a:t>
            </a:r>
          </a:p>
          <a:p>
            <a:pPr>
              <a:lnSpc>
                <a:spcPct val="150000"/>
              </a:lnSpc>
            </a:pPr>
            <a:r>
              <a:rPr lang="en-US" smtClean="0">
                <a:latin typeface="Times New Roman" panose="02020603050405020304" pitchFamily="18" charset="0"/>
                <a:cs typeface="Times New Roman" panose="02020603050405020304" pitchFamily="18" charset="0"/>
              </a:rPr>
              <a:t>Chọn đáp án đúng và nêu căn cứ cho câu 2 và câu 3</a:t>
            </a:r>
            <a:endParaRPr lang="en-US" smtClean="0">
              <a:latin typeface="Times New Roman" panose="02020603050405020304" pitchFamily="18" charset="0"/>
              <a:cs typeface="Times New Roman" panose="02020603050405020304" pitchFamily="18" charset="0"/>
            </a:endParaRPr>
          </a:p>
          <a:p>
            <a:pPr>
              <a:lnSpc>
                <a:spcPct val="150000"/>
              </a:lnSpc>
            </a:pPr>
            <a:r>
              <a:rPr lang="en-US" b="1" smtClean="0">
                <a:latin typeface="Times New Roman" panose="02020603050405020304" pitchFamily="18" charset="0"/>
                <a:cs typeface="Times New Roman" panose="02020603050405020304" pitchFamily="18" charset="0"/>
              </a:rPr>
              <a:t>Câu 2</a:t>
            </a:r>
            <a:r>
              <a:rPr lang="en-US" smtClean="0">
                <a:latin typeface="Times New Roman" panose="02020603050405020304" pitchFamily="18" charset="0"/>
                <a:cs typeface="Times New Roman" panose="02020603050405020304" pitchFamily="18" charset="0"/>
              </a:rPr>
              <a:t>. </a:t>
            </a:r>
          </a:p>
          <a:p>
            <a:pPr>
              <a:lnSpc>
                <a:spcPct val="150000"/>
              </a:lnSpc>
            </a:pPr>
            <a:r>
              <a:rPr lang="en-US" smtClean="0">
                <a:latin typeface="Times New Roman" panose="02020603050405020304" pitchFamily="18" charset="0"/>
                <a:cs typeface="Times New Roman" panose="02020603050405020304" pitchFamily="18" charset="0"/>
              </a:rPr>
              <a:t> </a:t>
            </a:r>
            <a:r>
              <a:rPr lang="vi-VN" smtClean="0">
                <a:latin typeface="Times New Roman" panose="02020603050405020304" pitchFamily="18" charset="0"/>
                <a:cs typeface="Times New Roman" panose="02020603050405020304" pitchFamily="18" charset="0"/>
              </a:rPr>
              <a:t>Dịch </a:t>
            </a:r>
            <a:r>
              <a:rPr lang="vi-VN">
                <a:latin typeface="Times New Roman" panose="02020603050405020304" pitchFamily="18" charset="0"/>
                <a:cs typeface="Times New Roman" panose="02020603050405020304" pitchFamily="18" charset="0"/>
              </a:rPr>
              <a:t>vụ Internet là một loại hình dịch vụ viễn thông, bao </a:t>
            </a:r>
            <a:r>
              <a:rPr lang="vi-VN">
                <a:latin typeface="Times New Roman" panose="02020603050405020304" pitchFamily="18" charset="0"/>
                <a:cs typeface="Times New Roman" panose="02020603050405020304" pitchFamily="18" charset="0"/>
              </a:rPr>
              <a:t>gồm </a:t>
            </a:r>
            <a:r>
              <a:rPr lang="vi-VN" smtClean="0">
                <a:latin typeface="Times New Roman" panose="02020603050405020304" pitchFamily="18" charset="0"/>
                <a:cs typeface="Times New Roman" panose="02020603050405020304" pitchFamily="18" charset="0"/>
              </a:rPr>
              <a:t>:</a:t>
            </a:r>
            <a:endParaRPr lang="en-US">
              <a:latin typeface="Times New Roman" panose="02020603050405020304" pitchFamily="18" charset="0"/>
              <a:cs typeface="Times New Roman" panose="02020603050405020304" pitchFamily="18" charset="0"/>
            </a:endParaRPr>
          </a:p>
          <a:p>
            <a:pPr>
              <a:lnSpc>
                <a:spcPct val="150000"/>
              </a:lnSpc>
            </a:pPr>
            <a:r>
              <a:rPr lang="en-US">
                <a:latin typeface="Times New Roman" panose="02020603050405020304" pitchFamily="18" charset="0"/>
                <a:cs typeface="Times New Roman" panose="02020603050405020304" pitchFamily="18" charset="0"/>
              </a:rPr>
              <a:t>1</a:t>
            </a:r>
            <a:r>
              <a:rPr lang="en-US" smtClean="0">
                <a:latin typeface="Times New Roman" panose="02020603050405020304" pitchFamily="18" charset="0"/>
                <a:cs typeface="Times New Roman" panose="02020603050405020304" pitchFamily="18" charset="0"/>
              </a:rPr>
              <a:t>) </a:t>
            </a:r>
            <a:r>
              <a:rPr lang="vi-VN">
                <a:latin typeface="Times New Roman" panose="02020603050405020304" pitchFamily="18" charset="0"/>
                <a:cs typeface="Times New Roman" panose="02020603050405020304" pitchFamily="18" charset="0"/>
              </a:rPr>
              <a:t>Dịch vụ truy nhập Internet là dịch vụ cung cấp cho người sử dụng Internet khả năng truy nhập đến Internet;</a:t>
            </a:r>
            <a:endParaRPr lang="en-US">
              <a:latin typeface="Times New Roman" panose="02020603050405020304" pitchFamily="18" charset="0"/>
              <a:cs typeface="Times New Roman" panose="02020603050405020304" pitchFamily="18" charset="0"/>
            </a:endParaRPr>
          </a:p>
          <a:p>
            <a:pPr>
              <a:lnSpc>
                <a:spcPct val="150000"/>
              </a:lnSpc>
            </a:pPr>
            <a:r>
              <a:rPr lang="en-US">
                <a:latin typeface="Times New Roman" panose="02020603050405020304" pitchFamily="18" charset="0"/>
                <a:cs typeface="Times New Roman" panose="02020603050405020304" pitchFamily="18" charset="0"/>
              </a:rPr>
              <a:t>2</a:t>
            </a:r>
            <a:r>
              <a:rPr lang="en-US" smtClean="0">
                <a:latin typeface="Times New Roman" panose="02020603050405020304" pitchFamily="18" charset="0"/>
                <a:cs typeface="Times New Roman" panose="02020603050405020304" pitchFamily="18" charset="0"/>
              </a:rPr>
              <a:t>) </a:t>
            </a:r>
            <a:r>
              <a:rPr lang="vi-VN">
                <a:latin typeface="Times New Roman" panose="02020603050405020304" pitchFamily="18" charset="0"/>
                <a:cs typeface="Times New Roman" panose="02020603050405020304" pitchFamily="18" charset="0"/>
              </a:rPr>
              <a:t>Dịch vụ kết nối Internet là dịch vụ cung cấp cho doanh nghiệp cung cấp dịch vụ truy nhập Internet, doanh nghiệp cung cấp dịch vụ ứng dụng viễn thông khả năng kết nối v</a:t>
            </a:r>
            <a:r>
              <a:rPr lang="en-US">
                <a:latin typeface="Times New Roman" panose="02020603050405020304" pitchFamily="18" charset="0"/>
                <a:cs typeface="Times New Roman" panose="02020603050405020304" pitchFamily="18" charset="0"/>
              </a:rPr>
              <a:t>ớ</a:t>
            </a:r>
            <a:r>
              <a:rPr lang="vi-VN">
                <a:latin typeface="Times New Roman" panose="02020603050405020304" pitchFamily="18" charset="0"/>
                <a:cs typeface="Times New Roman" panose="02020603050405020304" pitchFamily="18" charset="0"/>
              </a:rPr>
              <a:t>i nhau để chuyển tải lưu </a:t>
            </a:r>
            <a:r>
              <a:rPr lang="vi-VN">
                <a:latin typeface="Times New Roman" panose="02020603050405020304" pitchFamily="18" charset="0"/>
                <a:cs typeface="Times New Roman" panose="02020603050405020304" pitchFamily="18" charset="0"/>
              </a:rPr>
              <a:t>lượng </a:t>
            </a:r>
            <a:r>
              <a:rPr lang="vi-VN" smtClean="0">
                <a:latin typeface="Times New Roman" panose="02020603050405020304" pitchFamily="18" charset="0"/>
                <a:cs typeface="Times New Roman" panose="02020603050405020304" pitchFamily="18" charset="0"/>
              </a:rPr>
              <a:t>Internet</a:t>
            </a:r>
            <a:endParaRPr lang="en-US" smtClean="0">
              <a:latin typeface="Times New Roman" panose="02020603050405020304" pitchFamily="18" charset="0"/>
              <a:cs typeface="Times New Roman" panose="02020603050405020304" pitchFamily="18" charset="0"/>
            </a:endParaRPr>
          </a:p>
          <a:p>
            <a:pPr>
              <a:lnSpc>
                <a:spcPct val="150000"/>
              </a:lnSpc>
            </a:pPr>
            <a:r>
              <a:rPr lang="en-US">
                <a:latin typeface="Times New Roman" panose="02020603050405020304" pitchFamily="18" charset="0"/>
                <a:cs typeface="Times New Roman" panose="02020603050405020304" pitchFamily="18" charset="0"/>
              </a:rPr>
              <a:t>a</a:t>
            </a:r>
            <a:r>
              <a:rPr lang="en-US" smtClean="0">
                <a:latin typeface="Times New Roman" panose="02020603050405020304" pitchFamily="18" charset="0"/>
                <a:cs typeface="Times New Roman" panose="02020603050405020304" pitchFamily="18" charset="0"/>
              </a:rPr>
              <a:t>)  1 đúng, 2 sai		b) 1 sai, 2 đúng		c) 1 đúng, 2 đúng		d) 1 sai, 2 sai</a:t>
            </a:r>
          </a:p>
          <a:p>
            <a:pPr>
              <a:lnSpc>
                <a:spcPct val="150000"/>
              </a:lnSpc>
            </a:pPr>
            <a:r>
              <a:rPr lang="en-US" b="1" smtClean="0">
                <a:latin typeface="Times New Roman" panose="02020603050405020304" pitchFamily="18" charset="0"/>
                <a:cs typeface="Times New Roman" panose="02020603050405020304" pitchFamily="18" charset="0"/>
              </a:rPr>
              <a:t>Câu 3</a:t>
            </a:r>
            <a:r>
              <a:rPr lang="en-US" smtClean="0">
                <a:latin typeface="Times New Roman" panose="02020603050405020304" pitchFamily="18" charset="0"/>
                <a:cs typeface="Times New Roman" panose="02020603050405020304" pitchFamily="18" charset="0"/>
              </a:rPr>
              <a:t> Chương trình máy tính được bảo hộ quyền tác giả bao lâu:</a:t>
            </a:r>
          </a:p>
          <a:p>
            <a:pPr>
              <a:lnSpc>
                <a:spcPct val="150000"/>
              </a:lnSpc>
            </a:pPr>
            <a:r>
              <a:rPr lang="en-US">
                <a:latin typeface="Times New Roman" panose="02020603050405020304" pitchFamily="18" charset="0"/>
                <a:cs typeface="Times New Roman" panose="02020603050405020304" pitchFamily="18" charset="0"/>
              </a:rPr>
              <a:t>1</a:t>
            </a:r>
            <a:r>
              <a:rPr lang="en-US" smtClean="0">
                <a:latin typeface="Times New Roman" panose="02020603050405020304" pitchFamily="18" charset="0"/>
                <a:cs typeface="Times New Roman" panose="02020603050405020304" pitchFamily="18" charset="0"/>
              </a:rPr>
              <a:t>) Suốt đời tác giả và 70 năm tiếp theo sau khi tác giả cuối cùng chết.</a:t>
            </a:r>
          </a:p>
          <a:p>
            <a:pPr>
              <a:lnSpc>
                <a:spcPct val="150000"/>
              </a:lnSpc>
            </a:pPr>
            <a:r>
              <a:rPr lang="en-US" smtClean="0">
                <a:latin typeface="Times New Roman" panose="02020603050405020304" pitchFamily="18" charset="0"/>
                <a:cs typeface="Times New Roman" panose="02020603050405020304" pitchFamily="18" charset="0"/>
              </a:rPr>
              <a:t>2) Suốt đời tác giả và 50 năm tiếp theo sau khi tác giả cuối cùng chết.</a:t>
            </a:r>
          </a:p>
          <a:p>
            <a:pPr>
              <a:lnSpc>
                <a:spcPct val="150000"/>
              </a:lnSpc>
            </a:pPr>
            <a:r>
              <a:rPr lang="en-US">
                <a:latin typeface="Times New Roman" panose="02020603050405020304" pitchFamily="18" charset="0"/>
                <a:cs typeface="Times New Roman" panose="02020603050405020304" pitchFamily="18" charset="0"/>
              </a:rPr>
              <a:t>a</a:t>
            </a:r>
            <a:r>
              <a:rPr lang="en-US" smtClean="0">
                <a:latin typeface="Times New Roman" panose="02020603050405020304" pitchFamily="18" charset="0"/>
                <a:cs typeface="Times New Roman" panose="02020603050405020304" pitchFamily="18" charset="0"/>
              </a:rPr>
              <a:t>) 1 đúng, 2 sai	b) 1 sai, 2 đúng	c) 1 đúng, 2 đúng		d) 1 sai, 2 sai</a:t>
            </a:r>
            <a:endParaRPr lang="en-US" smtClean="0">
              <a:latin typeface="Times New Roman" panose="02020603050405020304" pitchFamily="18" charset="0"/>
              <a:cs typeface="Times New Roman" panose="02020603050405020304" pitchFamily="18" charset="0"/>
            </a:endParaRPr>
          </a:p>
          <a:p>
            <a:pPr>
              <a:lnSpc>
                <a:spcPct val="150000"/>
              </a:lnSpc>
            </a:pPr>
            <a:r>
              <a:rPr lang="en-US" b="1" smtClean="0">
                <a:latin typeface="Times New Roman" panose="02020603050405020304" pitchFamily="18" charset="0"/>
                <a:cs typeface="Times New Roman" panose="02020603050405020304" pitchFamily="18" charset="0"/>
              </a:rPr>
              <a:t>Câu 4</a:t>
            </a:r>
            <a:r>
              <a:rPr lang="en-US" smtClean="0">
                <a:latin typeface="Times New Roman" panose="02020603050405020304" pitchFamily="18" charset="0"/>
                <a:cs typeface="Times New Roman" panose="02020603050405020304" pitchFamily="18" charset="0"/>
              </a:rPr>
              <a:t>. Ông A. sử dụng chữ ký số để ký vào hợp đồng mua bán giữa công ty B. và công ty C. (Ông A. đại diện cho công ty B.). Sau một thời gian hợp đồng trên bị hủy và công ty B. bị thất thoát với số tiền lớn.</a:t>
            </a:r>
          </a:p>
          <a:p>
            <a:pPr>
              <a:lnSpc>
                <a:spcPct val="150000"/>
              </a:lnSpc>
            </a:pPr>
            <a:r>
              <a:rPr lang="en-US" smtClean="0">
                <a:latin typeface="Times New Roman" panose="02020603050405020304" pitchFamily="18" charset="0"/>
                <a:cs typeface="Times New Roman" panose="02020603050405020304" pitchFamily="18" charset="0"/>
              </a:rPr>
              <a:t>Trên cơ sở các quy định đã học, bạn hãy phân tích và đưa ra kết luận, nếu có vi phạm thì bị xử phạt vi phạm hành chính như thế nào?</a:t>
            </a: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80749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257</Words>
  <Application>Microsoft Office PowerPoint</Application>
  <PresentationFormat>Widescreen</PresentationFormat>
  <Paragraphs>22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Thach</dc:creator>
  <cp:lastModifiedBy>Thach</cp:lastModifiedBy>
  <cp:revision>8</cp:revision>
  <dcterms:created xsi:type="dcterms:W3CDTF">2019-10-15T03:40:13Z</dcterms:created>
  <dcterms:modified xsi:type="dcterms:W3CDTF">2019-10-15T04:19:55Z</dcterms:modified>
</cp:coreProperties>
</file>