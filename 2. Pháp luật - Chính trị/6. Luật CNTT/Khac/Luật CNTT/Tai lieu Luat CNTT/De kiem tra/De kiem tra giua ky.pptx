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1741" autoAdjust="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64CBC1-9002-4044-8A85-C3CE228F4137}" type="datetimeFigureOut">
              <a:rPr lang="en-US" smtClean="0"/>
              <a:t>4/12/2019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B33061-3C51-4F78-A8E5-9E643723545C}" type="slidenum">
              <a:rPr lang="en-US" smtClean="0"/>
              <a:t>‹#›</a:t>
            </a:fld>
            <a:endParaRPr lang="en-US"/>
          </a:p>
        </p:txBody>
      </p:sp>
    </p:spTree>
    <p:extLst>
      <p:ext uri="{BB962C8B-B14F-4D97-AF65-F5344CB8AC3E}">
        <p14:creationId xmlns:p14="http://schemas.microsoft.com/office/powerpoint/2010/main" val="3875623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b="1" kern="1200" smtClean="0">
                <a:solidFill>
                  <a:schemeClr val="tx1"/>
                </a:solidFill>
                <a:effectLst/>
                <a:latin typeface="+mn-lt"/>
                <a:ea typeface="+mn-ea"/>
                <a:cs typeface="+mn-cs"/>
              </a:rPr>
              <a:t>2. Điều 65. Vi phạm các quy định về trách nhiệm của tổ chức, doanh nghiệp cung cấp dịch vụ mạng xã hội</a:t>
            </a:r>
            <a:endParaRPr lang="en-US" sz="1200"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2. Phạt tiền từ 10.000.000 đồng đến 20.000.000 đồng đối với một trong các hành vi sau đây:</a:t>
            </a:r>
          </a:p>
          <a:p>
            <a:r>
              <a:rPr lang="en-US" sz="1200" kern="1200" smtClean="0">
                <a:solidFill>
                  <a:schemeClr val="tx1"/>
                </a:solidFill>
                <a:effectLst/>
                <a:latin typeface="+mn-lt"/>
                <a:ea typeface="+mn-ea"/>
                <a:cs typeface="+mn-cs"/>
              </a:rPr>
              <a:t>d) Không thông báo cho người sử dụng về quyền, trách nhiệm, rủi ro khi lưu trữ trao đổi, chia sẻ thông tin trên mạng</a:t>
            </a:r>
          </a:p>
          <a:p>
            <a:endParaRPr lang="en-US" sz="1200" kern="1200" smtClean="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smtClean="0">
                <a:solidFill>
                  <a:schemeClr val="tx1"/>
                </a:solidFill>
                <a:effectLst/>
                <a:latin typeface="+mn-lt"/>
                <a:ea typeface="+mn-ea"/>
                <a:cs typeface="+mn-cs"/>
              </a:rPr>
              <a:t>3. </a:t>
            </a:r>
            <a:r>
              <a:rPr lang="en-US" sz="1200" b="1" kern="1200" smtClean="0">
                <a:solidFill>
                  <a:schemeClr val="tx1"/>
                </a:solidFill>
                <a:effectLst/>
                <a:latin typeface="+mn-lt"/>
                <a:ea typeface="+mn-ea"/>
                <a:cs typeface="+mn-cs"/>
              </a:rPr>
              <a:t>Điều 42. Vi phạm các quy định về đăng ký, cung cấp tên miền Internet</a:t>
            </a:r>
            <a:endParaRPr lang="en-US" sz="1200" kern="1200" smtClean="0">
              <a:solidFill>
                <a:schemeClr val="tx1"/>
              </a:solidFill>
              <a:effectLst/>
              <a:latin typeface="+mn-lt"/>
              <a:ea typeface="+mn-ea"/>
              <a:cs typeface="+mn-cs"/>
            </a:endParaRPr>
          </a:p>
          <a:p>
            <a:r>
              <a:rPr lang="en-US" sz="1200" kern="1200" smtClean="0">
                <a:solidFill>
                  <a:schemeClr val="tx1"/>
                </a:solidFill>
                <a:effectLst/>
                <a:latin typeface="+mn-lt"/>
                <a:ea typeface="+mn-ea"/>
                <a:cs typeface="+mn-cs"/>
              </a:rPr>
              <a:t>3. Phạt tiền từ 20.000.000 đồng đến 30.000.000 đồng đối với nhà đăng ký tên miền ".vn" vi phạm một trong các hành vi sau:</a:t>
            </a:r>
          </a:p>
          <a:p>
            <a:r>
              <a:rPr lang="en-US" sz="1200" kern="1200" smtClean="0">
                <a:solidFill>
                  <a:schemeClr val="tx1"/>
                </a:solidFill>
                <a:effectLst/>
                <a:latin typeface="+mn-lt"/>
                <a:ea typeface="+mn-ea"/>
                <a:cs typeface="+mn-cs"/>
              </a:rPr>
              <a:t>a) Không có các biện pháp bảo đảm an toàn, an ninh đối với các tên miền của tổ chức, cá nhân đã đăng ký trên hệ thống máy chủ tên miền (DNS) của mình;</a:t>
            </a:r>
          </a:p>
          <a:p>
            <a:endParaRPr lang="en-US"/>
          </a:p>
        </p:txBody>
      </p:sp>
      <p:sp>
        <p:nvSpPr>
          <p:cNvPr id="4" name="Slide Number Placeholder 3"/>
          <p:cNvSpPr>
            <a:spLocks noGrp="1"/>
          </p:cNvSpPr>
          <p:nvPr>
            <p:ph type="sldNum" sz="quarter" idx="10"/>
          </p:nvPr>
        </p:nvSpPr>
        <p:spPr/>
        <p:txBody>
          <a:bodyPr/>
          <a:lstStyle/>
          <a:p>
            <a:fld id="{E5B33061-3C51-4F78-A8E5-9E643723545C}" type="slidenum">
              <a:rPr lang="en-US" smtClean="0"/>
              <a:t>1</a:t>
            </a:fld>
            <a:endParaRPr lang="en-US"/>
          </a:p>
        </p:txBody>
      </p:sp>
    </p:spTree>
    <p:extLst>
      <p:ext uri="{BB962C8B-B14F-4D97-AF65-F5344CB8AC3E}">
        <p14:creationId xmlns:p14="http://schemas.microsoft.com/office/powerpoint/2010/main" val="339314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12725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4654562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83258ED-25DD-4B08-8561-875BB4276E09}" type="datetimeFigureOut">
              <a:rPr lang="en-US" smtClean="0"/>
              <a:t>4/12/2019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971461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B83258ED-25DD-4B08-8561-875BB4276E09}" type="datetimeFigureOut">
              <a:rPr lang="en-US" smtClean="0"/>
              <a:t>4/12/2019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874094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83258ED-25DD-4B08-8561-875BB4276E09}" type="datetimeFigureOut">
              <a:rPr lang="en-US" smtClean="0"/>
              <a:t>4/12/2019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24619351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83258ED-25DD-4B08-8561-875BB4276E09}" type="datetimeFigureOut">
              <a:rPr lang="en-US" smtClean="0"/>
              <a:t>4/12/2019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4457730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83258ED-25DD-4B08-8561-875BB4276E09}" type="datetimeFigureOut">
              <a:rPr lang="en-US" smtClean="0"/>
              <a:t>4/12/2019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065554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4/12/2019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5990692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83258ED-25DD-4B08-8561-875BB4276E09}" type="datetimeFigureOut">
              <a:rPr lang="en-US" smtClean="0"/>
              <a:t>4/12/2019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748135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19383597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83258ED-25DD-4B08-8561-875BB4276E09}" type="datetimeFigureOut">
              <a:rPr lang="en-US" smtClean="0"/>
              <a:t>4/12/2019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61443AC-9301-45BE-9176-56DC12CEDECF}" type="slidenum">
              <a:rPr lang="en-US" smtClean="0"/>
              <a:t>‹#›</a:t>
            </a:fld>
            <a:endParaRPr lang="en-US"/>
          </a:p>
        </p:txBody>
      </p:sp>
    </p:spTree>
    <p:extLst>
      <p:ext uri="{BB962C8B-B14F-4D97-AF65-F5344CB8AC3E}">
        <p14:creationId xmlns:p14="http://schemas.microsoft.com/office/powerpoint/2010/main" val="37935491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83258ED-25DD-4B08-8561-875BB4276E09}" type="datetimeFigureOut">
              <a:rPr lang="en-US" smtClean="0"/>
              <a:t>4/12/2019</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1443AC-9301-45BE-9176-56DC12CEDECF}" type="slidenum">
              <a:rPr lang="en-US" smtClean="0"/>
              <a:t>‹#›</a:t>
            </a:fld>
            <a:endParaRPr lang="en-US"/>
          </a:p>
        </p:txBody>
      </p:sp>
    </p:spTree>
    <p:extLst>
      <p:ext uri="{BB962C8B-B14F-4D97-AF65-F5344CB8AC3E}">
        <p14:creationId xmlns:p14="http://schemas.microsoft.com/office/powerpoint/2010/main" val="27433626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403"/>
            <a:ext cx="12028868" cy="7171194"/>
          </a:xfrm>
          <a:prstGeom prst="rect">
            <a:avLst/>
          </a:prstGeom>
          <a:noFill/>
        </p:spPr>
        <p:txBody>
          <a:bodyPr wrap="square" rtlCol="0">
            <a:spAutoFit/>
          </a:bodyPr>
          <a:lstStyle/>
          <a:p>
            <a:pPr algn="just"/>
            <a:r>
              <a:rPr lang="en-US" sz="2300" smtClean="0">
                <a:latin typeface="Times New Roman" panose="02020603050405020304" pitchFamily="18" charset="0"/>
                <a:cs typeface="Times New Roman" panose="02020603050405020304" pitchFamily="18" charset="0"/>
              </a:rPr>
              <a:t>1. Trình bày các hành vi bị nghiêm cấm được quy định trong nghị định </a:t>
            </a:r>
            <a:r>
              <a:rPr lang="en-US" sz="2300">
                <a:latin typeface="Times New Roman" panose="02020603050405020304" pitchFamily="18" charset="0"/>
                <a:cs typeface="Times New Roman" panose="02020603050405020304" pitchFamily="18" charset="0"/>
              </a:rPr>
              <a:t>s</a:t>
            </a:r>
            <a:r>
              <a:rPr lang="vi-VN" sz="2300" smtClean="0">
                <a:latin typeface="Times New Roman" panose="02020603050405020304" pitchFamily="18" charset="0"/>
                <a:cs typeface="Times New Roman" panose="02020603050405020304" pitchFamily="18" charset="0"/>
              </a:rPr>
              <a:t>ố</a:t>
            </a:r>
            <a:r>
              <a:rPr lang="vi-VN" sz="2300">
                <a:latin typeface="Times New Roman" panose="02020603050405020304" pitchFamily="18" charset="0"/>
                <a:cs typeface="Times New Roman" panose="02020603050405020304" pitchFamily="18" charset="0"/>
              </a:rPr>
              <a:t>: </a:t>
            </a:r>
            <a:r>
              <a:rPr lang="vi-VN" sz="2300" smtClean="0">
                <a:latin typeface="Times New Roman" panose="02020603050405020304" pitchFamily="18" charset="0"/>
                <a:cs typeface="Times New Roman" panose="02020603050405020304" pitchFamily="18" charset="0"/>
              </a:rPr>
              <a:t>72/2013/NĐ-CP</a:t>
            </a:r>
            <a:r>
              <a:rPr lang="en-US" sz="2300" smtClean="0">
                <a:latin typeface="Times New Roman" panose="02020603050405020304" pitchFamily="18" charset="0"/>
                <a:cs typeface="Times New Roman" panose="02020603050405020304" pitchFamily="18" charset="0"/>
              </a:rPr>
              <a:t> </a:t>
            </a:r>
            <a:r>
              <a:rPr lang="en-US" sz="2300" smtClean="0">
                <a:latin typeface="Times New Roman" panose="02020603050405020304" pitchFamily="18" charset="0"/>
                <a:cs typeface="Times New Roman" panose="02020603050405020304" pitchFamily="18" charset="0"/>
              </a:rPr>
              <a:t> </a:t>
            </a:r>
            <a:r>
              <a:rPr lang="vi-VN" sz="2300" smtClean="0">
                <a:latin typeface="Times New Roman" panose="02020603050405020304" pitchFamily="18" charset="0"/>
                <a:cs typeface="Times New Roman" panose="02020603050405020304" pitchFamily="18" charset="0"/>
              </a:rPr>
              <a:t>Nghị định</a:t>
            </a:r>
            <a:r>
              <a:rPr lang="en-US" sz="2300">
                <a:latin typeface="Times New Roman" panose="02020603050405020304" pitchFamily="18" charset="0"/>
                <a:cs typeface="Times New Roman" panose="02020603050405020304" pitchFamily="18" charset="0"/>
              </a:rPr>
              <a:t> q</a:t>
            </a:r>
            <a:r>
              <a:rPr lang="vi-VN" sz="2300" smtClean="0">
                <a:latin typeface="Times New Roman" panose="02020603050405020304" pitchFamily="18" charset="0"/>
                <a:cs typeface="Times New Roman" panose="02020603050405020304" pitchFamily="18" charset="0"/>
              </a:rPr>
              <a:t>uản lý, cung cấp, sử dụng dịch vụ internet và thông tin trên mạng</a:t>
            </a:r>
            <a:r>
              <a:rPr lang="en-US" sz="2300" smtClean="0">
                <a:latin typeface="Times New Roman" panose="02020603050405020304" pitchFamily="18" charset="0"/>
                <a:cs typeface="Times New Roman" panose="02020603050405020304" pitchFamily="18" charset="0"/>
              </a:rPr>
              <a:t>.</a:t>
            </a:r>
          </a:p>
          <a:p>
            <a:pPr algn="just"/>
            <a:r>
              <a:rPr lang="en-US" sz="2300" smtClean="0">
                <a:latin typeface="Times New Roman" panose="02020603050405020304" pitchFamily="18" charset="0"/>
                <a:cs typeface="Times New Roman" panose="02020603050405020304" pitchFamily="18" charset="0"/>
              </a:rPr>
              <a:t>2. </a:t>
            </a:r>
            <a:r>
              <a:rPr lang="en-US" sz="2300">
                <a:latin typeface="Times New Roman" panose="02020603050405020304" pitchFamily="18" charset="0"/>
                <a:cs typeface="Times New Roman" panose="02020603050405020304" pitchFamily="18" charset="0"/>
              </a:rPr>
              <a:t>D</a:t>
            </a:r>
            <a:r>
              <a:rPr lang="en-US" sz="2300" smtClean="0">
                <a:latin typeface="Times New Roman" panose="02020603050405020304" pitchFamily="18" charset="0"/>
                <a:cs typeface="Times New Roman" panose="02020603050405020304" pitchFamily="18" charset="0"/>
              </a:rPr>
              <a:t>oanh </a:t>
            </a:r>
            <a:r>
              <a:rPr lang="en-US" sz="2300">
                <a:latin typeface="Times New Roman" panose="02020603050405020304" pitchFamily="18" charset="0"/>
                <a:cs typeface="Times New Roman" panose="02020603050405020304" pitchFamily="18" charset="0"/>
              </a:rPr>
              <a:t>nghiệp cung cấp dịch vụ mạng xã </a:t>
            </a:r>
            <a:r>
              <a:rPr lang="en-US" sz="2300" smtClean="0">
                <a:latin typeface="Times New Roman" panose="02020603050405020304" pitchFamily="18" charset="0"/>
                <a:cs typeface="Times New Roman" panose="02020603050405020304" pitchFamily="18" charset="0"/>
              </a:rPr>
              <a:t>hội không </a:t>
            </a:r>
            <a:r>
              <a:rPr lang="en-US" sz="2300">
                <a:latin typeface="Times New Roman" panose="02020603050405020304" pitchFamily="18" charset="0"/>
                <a:cs typeface="Times New Roman" panose="02020603050405020304" pitchFamily="18" charset="0"/>
              </a:rPr>
              <a:t>thông báo cho người sử dụng về quyền, trách nhiệm, rủi ro khi lưu trữ trao đổi, chia sẻ thông tin trên </a:t>
            </a:r>
            <a:r>
              <a:rPr lang="en-US" sz="2300" smtClean="0">
                <a:latin typeface="Times New Roman" panose="02020603050405020304" pitchFamily="18" charset="0"/>
                <a:cs typeface="Times New Roman" panose="02020603050405020304" pitchFamily="18" charset="0"/>
              </a:rPr>
              <a:t>mạng thì bị xử phạt tối đa bao nhiêu tiền: </a:t>
            </a:r>
            <a:endParaRPr lang="en-US" sz="2300" smtClean="0">
              <a:latin typeface="Times New Roman" panose="02020603050405020304" pitchFamily="18" charset="0"/>
              <a:cs typeface="Times New Roman" panose="02020603050405020304" pitchFamily="18" charset="0"/>
            </a:endParaRPr>
          </a:p>
          <a:p>
            <a:pPr algn="just"/>
            <a:r>
              <a:rPr lang="en-US" sz="2300">
                <a:latin typeface="Times New Roman" panose="02020603050405020304" pitchFamily="18" charset="0"/>
                <a:cs typeface="Times New Roman" panose="02020603050405020304" pitchFamily="18" charset="0"/>
              </a:rPr>
              <a:t>	</a:t>
            </a:r>
            <a:r>
              <a:rPr lang="en-US" sz="2300" smtClean="0">
                <a:latin typeface="Times New Roman" panose="02020603050405020304" pitchFamily="18" charset="0"/>
                <a:cs typeface="Times New Roman" panose="02020603050405020304" pitchFamily="18" charset="0"/>
              </a:rPr>
              <a:t>a</a:t>
            </a:r>
            <a:r>
              <a:rPr lang="en-US" sz="2300" smtClean="0">
                <a:latin typeface="Times New Roman" panose="02020603050405020304" pitchFamily="18" charset="0"/>
                <a:cs typeface="Times New Roman" panose="02020603050405020304" pitchFamily="18" charset="0"/>
              </a:rPr>
              <a:t>. 10 000 000 đồng		b. 20 000 000 		c. 30 000 000 đồng</a:t>
            </a:r>
          </a:p>
          <a:p>
            <a:pPr algn="just"/>
            <a:r>
              <a:rPr lang="en-US" sz="2300" smtClean="0">
                <a:latin typeface="Times New Roman" panose="02020603050405020304" pitchFamily="18" charset="0"/>
                <a:cs typeface="Times New Roman" panose="02020603050405020304" pitchFamily="18" charset="0"/>
              </a:rPr>
              <a:t>3. Nhà đăng ký tên miền không </a:t>
            </a:r>
            <a:r>
              <a:rPr lang="en-US" sz="2300">
                <a:latin typeface="Times New Roman" panose="02020603050405020304" pitchFamily="18" charset="0"/>
                <a:cs typeface="Times New Roman" panose="02020603050405020304" pitchFamily="18" charset="0"/>
              </a:rPr>
              <a:t>có các biện pháp bảo đảm an toàn, an ninh đối với các tên miền của tổ chức, cá nhân đã đăng ký trên hệ thống máy chủ tên miền (DNS) của </a:t>
            </a:r>
            <a:r>
              <a:rPr lang="en-US" sz="2300" smtClean="0">
                <a:latin typeface="Times New Roman" panose="02020603050405020304" pitchFamily="18" charset="0"/>
                <a:cs typeface="Times New Roman" panose="02020603050405020304" pitchFamily="18" charset="0"/>
              </a:rPr>
              <a:t>mình </a:t>
            </a:r>
            <a:r>
              <a:rPr lang="en-US" sz="2300">
                <a:latin typeface="Times New Roman" panose="02020603050405020304" pitchFamily="18" charset="0"/>
                <a:cs typeface="Times New Roman" panose="02020603050405020304" pitchFamily="18" charset="0"/>
              </a:rPr>
              <a:t>thì bị xử phạt tối đa bao nhiêu </a:t>
            </a:r>
            <a:r>
              <a:rPr lang="en-US" sz="2300" smtClean="0">
                <a:latin typeface="Times New Roman" panose="02020603050405020304" pitchFamily="18" charset="0"/>
                <a:cs typeface="Times New Roman" panose="02020603050405020304" pitchFamily="18" charset="0"/>
              </a:rPr>
              <a:t>tiền: </a:t>
            </a:r>
            <a:endParaRPr lang="en-US" sz="2300" smtClean="0">
              <a:latin typeface="Times New Roman" panose="02020603050405020304" pitchFamily="18" charset="0"/>
              <a:cs typeface="Times New Roman" panose="02020603050405020304" pitchFamily="18" charset="0"/>
            </a:endParaRPr>
          </a:p>
          <a:p>
            <a:pPr algn="just"/>
            <a:r>
              <a:rPr lang="en-US" sz="2300">
                <a:latin typeface="Times New Roman" panose="02020603050405020304" pitchFamily="18" charset="0"/>
                <a:cs typeface="Times New Roman" panose="02020603050405020304" pitchFamily="18" charset="0"/>
              </a:rPr>
              <a:t>	</a:t>
            </a:r>
            <a:r>
              <a:rPr lang="en-US" sz="2300" smtClean="0">
                <a:latin typeface="Times New Roman" panose="02020603050405020304" pitchFamily="18" charset="0"/>
                <a:cs typeface="Times New Roman" panose="02020603050405020304" pitchFamily="18" charset="0"/>
              </a:rPr>
              <a:t>a</a:t>
            </a:r>
            <a:r>
              <a:rPr lang="en-US" sz="2300">
                <a:latin typeface="Times New Roman" panose="02020603050405020304" pitchFamily="18" charset="0"/>
                <a:cs typeface="Times New Roman" panose="02020603050405020304" pitchFamily="18" charset="0"/>
              </a:rPr>
              <a:t>. 10 000 000 đồng	</a:t>
            </a:r>
            <a:r>
              <a:rPr lang="en-US" sz="2300" smtClean="0">
                <a:latin typeface="Times New Roman" panose="02020603050405020304" pitchFamily="18" charset="0"/>
                <a:cs typeface="Times New Roman" panose="02020603050405020304" pitchFamily="18" charset="0"/>
              </a:rPr>
              <a:t>	b</a:t>
            </a:r>
            <a:r>
              <a:rPr lang="en-US" sz="2300">
                <a:latin typeface="Times New Roman" panose="02020603050405020304" pitchFamily="18" charset="0"/>
                <a:cs typeface="Times New Roman" panose="02020603050405020304" pitchFamily="18" charset="0"/>
              </a:rPr>
              <a:t>. 20 000 000 	</a:t>
            </a:r>
            <a:r>
              <a:rPr lang="en-US" sz="2300" smtClean="0">
                <a:latin typeface="Times New Roman" panose="02020603050405020304" pitchFamily="18" charset="0"/>
                <a:cs typeface="Times New Roman" panose="02020603050405020304" pitchFamily="18" charset="0"/>
              </a:rPr>
              <a:t>	c</a:t>
            </a:r>
            <a:r>
              <a:rPr lang="en-US" sz="2300">
                <a:latin typeface="Times New Roman" panose="02020603050405020304" pitchFamily="18" charset="0"/>
                <a:cs typeface="Times New Roman" panose="02020603050405020304" pitchFamily="18" charset="0"/>
              </a:rPr>
              <a:t>. 30 000 000 đồng</a:t>
            </a:r>
          </a:p>
          <a:p>
            <a:pPr algn="just"/>
            <a:r>
              <a:rPr lang="en-US" sz="2300" smtClean="0">
                <a:latin typeface="Times New Roman" panose="02020603050405020304" pitchFamily="18" charset="0"/>
                <a:cs typeface="Times New Roman" panose="02020603050405020304" pitchFamily="18" charset="0"/>
              </a:rPr>
              <a:t>4. </a:t>
            </a:r>
            <a:r>
              <a:rPr lang="en-US" altLang="en-US" sz="2300">
                <a:latin typeface="Times New Roman" panose="02020603050405020304" pitchFamily="18" charset="0"/>
                <a:cs typeface="Times New Roman" panose="02020603050405020304" pitchFamily="18" charset="0"/>
              </a:rPr>
              <a:t>A. có sử dụng phần </a:t>
            </a:r>
            <a:r>
              <a:rPr lang="en-US" altLang="en-US" sz="2300" smtClean="0">
                <a:latin typeface="Times New Roman" panose="02020603050405020304" pitchFamily="18" charset="0"/>
                <a:cs typeface="Times New Roman" panose="02020603050405020304" pitchFamily="18" charset="0"/>
              </a:rPr>
              <a:t>mềm X. trong </a:t>
            </a:r>
            <a:r>
              <a:rPr lang="en-US" altLang="en-US" sz="2300">
                <a:latin typeface="Times New Roman" panose="02020603050405020304" pitchFamily="18" charset="0"/>
                <a:cs typeface="Times New Roman" panose="02020603050405020304" pitchFamily="18" charset="0"/>
              </a:rPr>
              <a:t>máy tính cá của mình với mục đích để học tập nâng cao kiến </a:t>
            </a:r>
            <a:r>
              <a:rPr lang="en-US" altLang="en-US" sz="2300" smtClean="0">
                <a:latin typeface="Times New Roman" panose="02020603050405020304" pitchFamily="18" charset="0"/>
                <a:cs typeface="Times New Roman" panose="02020603050405020304" pitchFamily="18" charset="0"/>
              </a:rPr>
              <a:t>thức. Theo </a:t>
            </a:r>
            <a:r>
              <a:rPr lang="en-US" altLang="en-US" sz="2300">
                <a:latin typeface="Times New Roman" panose="02020603050405020304" pitchFamily="18" charset="0"/>
                <a:cs typeface="Times New Roman" panose="02020603050405020304" pitchFamily="18" charset="0"/>
              </a:rPr>
              <a:t>bạn A. có bị phạm lỗi không? Nếu có bị xử phạt vi phạm hành chính như thế nào</a:t>
            </a:r>
            <a:r>
              <a:rPr lang="en-US" altLang="en-US" sz="2300" smtClean="0">
                <a:latin typeface="Times New Roman" panose="02020603050405020304" pitchFamily="18" charset="0"/>
                <a:cs typeface="Times New Roman" panose="02020603050405020304" pitchFamily="18" charset="0"/>
              </a:rPr>
              <a:t>?</a:t>
            </a:r>
          </a:p>
          <a:p>
            <a:pPr algn="just"/>
            <a:r>
              <a:rPr lang="en-US" sz="2300" smtClean="0">
                <a:latin typeface="Times New Roman" panose="02020603050405020304" pitchFamily="18" charset="0"/>
                <a:cs typeface="Times New Roman" panose="02020603050405020304" pitchFamily="18" charset="0"/>
              </a:rPr>
              <a:t>5.1</a:t>
            </a:r>
            <a:r>
              <a:rPr lang="en-US" sz="2300">
                <a:latin typeface="Times New Roman" panose="02020603050405020304" pitchFamily="18" charset="0"/>
                <a:cs typeface="Times New Roman" panose="02020603050405020304" pitchFamily="18" charset="0"/>
              </a:rPr>
              <a:t>. C. đã xây dựng một trang thông tin điện tử, trên đó có cung cấp đường dẫn đến một số trang thông tin điện tử khác và không lưu trữ thông tin tổng hợp theo thời gian quy định.</a:t>
            </a:r>
          </a:p>
          <a:p>
            <a:pPr algn="just"/>
            <a:r>
              <a:rPr lang="en-US" sz="2300">
                <a:latin typeface="Times New Roman" panose="02020603050405020304" pitchFamily="18" charset="0"/>
                <a:cs typeface="Times New Roman" panose="02020603050405020304" pitchFamily="18" charset="0"/>
              </a:rPr>
              <a:t>Vậy C. có vi phạm không? nếu có thì bị xử phạt vi phạm hành chính như thế nào? </a:t>
            </a:r>
          </a:p>
          <a:p>
            <a:pPr algn="just"/>
            <a:r>
              <a:rPr lang="en-US" sz="2300" smtClean="0">
                <a:latin typeface="Times New Roman" panose="02020603050405020304" pitchFamily="18" charset="0"/>
                <a:cs typeface="Times New Roman" panose="02020603050405020304" pitchFamily="18" charset="0"/>
              </a:rPr>
              <a:t>5.2</a:t>
            </a:r>
            <a:r>
              <a:rPr lang="en-US" sz="2300">
                <a:latin typeface="Times New Roman" panose="02020603050405020304" pitchFamily="18" charset="0"/>
                <a:cs typeface="Times New Roman" panose="02020603050405020304" pitchFamily="18" charset="0"/>
              </a:rPr>
              <a:t>. A. </a:t>
            </a:r>
            <a:r>
              <a:rPr lang="en-US" sz="2300" smtClean="0">
                <a:latin typeface="Times New Roman" panose="02020603050405020304" pitchFamily="18" charset="0"/>
                <a:cs typeface="Times New Roman" panose="02020603050405020304" pitchFamily="18" charset="0"/>
              </a:rPr>
              <a:t>đưa cho B.</a:t>
            </a:r>
            <a:r>
              <a:rPr lang="en-US" sz="2300" smtClean="0">
                <a:latin typeface="Times New Roman" panose="02020603050405020304" pitchFamily="18" charset="0"/>
                <a:cs typeface="Times New Roman" panose="02020603050405020304" pitchFamily="18" charset="0"/>
              </a:rPr>
              <a:t> tên đăng nhập, </a:t>
            </a:r>
            <a:r>
              <a:rPr lang="en-US" sz="2300">
                <a:latin typeface="Times New Roman" panose="02020603050405020304" pitchFamily="18" charset="0"/>
                <a:cs typeface="Times New Roman" panose="02020603050405020304" pitchFamily="18" charset="0"/>
              </a:rPr>
              <a:t>mật </a:t>
            </a:r>
            <a:r>
              <a:rPr lang="en-US" sz="2300" smtClean="0">
                <a:latin typeface="Times New Roman" panose="02020603050405020304" pitchFamily="18" charset="0"/>
                <a:cs typeface="Times New Roman" panose="02020603050405020304" pitchFamily="18" charset="0"/>
              </a:rPr>
              <a:t>khẩu của một tài khoản để </a:t>
            </a:r>
            <a:r>
              <a:rPr lang="en-US" sz="2300">
                <a:latin typeface="Times New Roman" panose="02020603050405020304" pitchFamily="18" charset="0"/>
                <a:cs typeface="Times New Roman" panose="02020603050405020304" pitchFamily="18" charset="0"/>
              </a:rPr>
              <a:t>vào dịch vụ Internet Banking của ngân hàng V.. </a:t>
            </a:r>
            <a:r>
              <a:rPr lang="en-US" sz="2300">
                <a:latin typeface="Times New Roman" panose="02020603050405020304" pitchFamily="18" charset="0"/>
                <a:cs typeface="Times New Roman" panose="02020603050405020304" pitchFamily="18" charset="0"/>
              </a:rPr>
              <a:t>B. đã dùng tên đăng nhập, mật </a:t>
            </a:r>
            <a:r>
              <a:rPr lang="en-US" sz="2300">
                <a:latin typeface="Times New Roman" panose="02020603050405020304" pitchFamily="18" charset="0"/>
                <a:cs typeface="Times New Roman" panose="02020603050405020304" pitchFamily="18" charset="0"/>
              </a:rPr>
              <a:t>khẩu </a:t>
            </a:r>
            <a:r>
              <a:rPr lang="en-US" sz="2300" smtClean="0">
                <a:latin typeface="Times New Roman" panose="02020603050405020304" pitchFamily="18" charset="0"/>
                <a:cs typeface="Times New Roman" panose="02020603050405020304" pitchFamily="18" charset="0"/>
              </a:rPr>
              <a:t>đó đăng nhập vào Internet Banking và B. đã chuyển</a:t>
            </a:r>
            <a:r>
              <a:rPr lang="en-US" sz="2300" smtClean="0">
                <a:latin typeface="Times New Roman" panose="02020603050405020304" pitchFamily="18" charset="0"/>
                <a:cs typeface="Times New Roman" panose="02020603050405020304" pitchFamily="18" charset="0"/>
              </a:rPr>
              <a:t> </a:t>
            </a:r>
            <a:r>
              <a:rPr lang="en-US" sz="2300">
                <a:latin typeface="Times New Roman" panose="02020603050405020304" pitchFamily="18" charset="0"/>
                <a:cs typeface="Times New Roman" panose="02020603050405020304" pitchFamily="18" charset="0"/>
              </a:rPr>
              <a:t>tiền trong tài khoản </a:t>
            </a:r>
            <a:r>
              <a:rPr lang="en-US" sz="2300" smtClean="0">
                <a:latin typeface="Times New Roman" panose="02020603050405020304" pitchFamily="18" charset="0"/>
                <a:cs typeface="Times New Roman" panose="02020603050405020304" pitchFamily="18" charset="0"/>
              </a:rPr>
              <a:t>đó</a:t>
            </a:r>
            <a:r>
              <a:rPr lang="en-US" sz="2300" smtClean="0">
                <a:latin typeface="Times New Roman" panose="02020603050405020304" pitchFamily="18" charset="0"/>
                <a:cs typeface="Times New Roman" panose="02020603050405020304" pitchFamily="18" charset="0"/>
              </a:rPr>
              <a:t> </a:t>
            </a:r>
            <a:r>
              <a:rPr lang="en-US" sz="2300" smtClean="0">
                <a:latin typeface="Times New Roman" panose="02020603050405020304" pitchFamily="18" charset="0"/>
                <a:cs typeface="Times New Roman" panose="02020603050405020304" pitchFamily="18" charset="0"/>
              </a:rPr>
              <a:t>sang </a:t>
            </a:r>
            <a:r>
              <a:rPr lang="en-US" sz="2300">
                <a:latin typeface="Times New Roman" panose="02020603050405020304" pitchFamily="18" charset="0"/>
                <a:cs typeface="Times New Roman" panose="02020603050405020304" pitchFamily="18" charset="0"/>
              </a:rPr>
              <a:t>tài khoản của mình.</a:t>
            </a:r>
          </a:p>
          <a:p>
            <a:pPr algn="just"/>
            <a:r>
              <a:rPr lang="en-US" sz="2300">
                <a:latin typeface="Times New Roman" panose="02020603050405020304" pitchFamily="18" charset="0"/>
                <a:cs typeface="Times New Roman" panose="02020603050405020304" pitchFamily="18" charset="0"/>
              </a:rPr>
              <a:t>Vậy A. , B. có bị vi phạm không? Nếu có bị xử phạt vi phạm hành chính như thế nào?</a:t>
            </a:r>
          </a:p>
          <a:p>
            <a:pPr algn="just"/>
            <a:endParaRPr lang="en-US" sz="2300">
              <a:latin typeface="Times New Roman" panose="02020603050405020304" pitchFamily="18" charset="0"/>
              <a:cs typeface="Times New Roman" panose="02020603050405020304" pitchFamily="18" charset="0"/>
            </a:endParaRPr>
          </a:p>
          <a:p>
            <a:pPr algn="just"/>
            <a:endParaRPr lang="en-US" sz="2300" smtClean="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5639719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154</TotalTime>
  <Words>253</Words>
  <Application>Microsoft Office PowerPoint</Application>
  <PresentationFormat>Widescreen</PresentationFormat>
  <Paragraphs>18</Paragraphs>
  <Slides>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Times New Roman</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Thach</dc:creator>
  <cp:lastModifiedBy>Thach</cp:lastModifiedBy>
  <cp:revision>34</cp:revision>
  <dcterms:created xsi:type="dcterms:W3CDTF">2019-03-15T02:10:08Z</dcterms:created>
  <dcterms:modified xsi:type="dcterms:W3CDTF">2019-04-12T07:04:35Z</dcterms:modified>
</cp:coreProperties>
</file>