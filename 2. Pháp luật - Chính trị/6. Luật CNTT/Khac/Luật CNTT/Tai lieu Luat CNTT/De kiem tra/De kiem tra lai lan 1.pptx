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72890" autoAdjust="0"/>
  </p:normalViewPr>
  <p:slideViewPr>
    <p:cSldViewPr snapToGrid="0">
      <p:cViewPr varScale="1">
        <p:scale>
          <a:sx n="54" d="100"/>
          <a:sy n="54" d="100"/>
        </p:scale>
        <p:origin x="1380" y="84"/>
      </p:cViewPr>
      <p:guideLst/>
    </p:cSldViewPr>
  </p:slideViewPr>
  <p:notesTextViewPr>
    <p:cViewPr>
      <p:scale>
        <a:sx n="1" d="1"/>
        <a:sy n="1" d="1"/>
      </p:scale>
      <p:origin x="0" y="-12"/>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64CBC1-9002-4044-8A85-C3CE228F4137}" type="datetimeFigureOut">
              <a:rPr lang="en-US" smtClean="0"/>
              <a:t>4/5/2019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B33061-3C51-4F78-A8E5-9E643723545C}" type="slidenum">
              <a:rPr lang="en-US" smtClean="0"/>
              <a:t>‹#›</a:t>
            </a:fld>
            <a:endParaRPr lang="en-US"/>
          </a:p>
        </p:txBody>
      </p:sp>
    </p:spTree>
    <p:extLst>
      <p:ext uri="{BB962C8B-B14F-4D97-AF65-F5344CB8AC3E}">
        <p14:creationId xmlns:p14="http://schemas.microsoft.com/office/powerpoint/2010/main" val="3875623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Câu</a:t>
            </a:r>
            <a:r>
              <a:rPr lang="en-US" baseline="0" smtClean="0"/>
              <a:t> 2:</a:t>
            </a:r>
          </a:p>
          <a:p>
            <a:r>
              <a:rPr lang="en-US" sz="1200" b="1" kern="1200" smtClean="0">
                <a:solidFill>
                  <a:schemeClr val="tx1"/>
                </a:solidFill>
                <a:effectLst/>
                <a:latin typeface="+mn-lt"/>
                <a:ea typeface="+mn-ea"/>
                <a:cs typeface="+mn-cs"/>
              </a:rPr>
              <a:t>Điều 43. Vi phạm các quy định về đăng ký, sử dụng địa chỉ IP và số hiệu mạng</a:t>
            </a:r>
          </a:p>
          <a:p>
            <a:r>
              <a:rPr lang="en-US" sz="1200" kern="1200" smtClean="0">
                <a:solidFill>
                  <a:schemeClr val="tx1"/>
                </a:solidFill>
                <a:effectLst/>
                <a:latin typeface="+mn-lt"/>
                <a:ea typeface="+mn-ea"/>
                <a:cs typeface="+mn-cs"/>
              </a:rPr>
              <a:t>2. Phạt tiền từ 30.000.000 đồng đến 50.000.000 đồng đối với một trong các hành vi sau đây:</a:t>
            </a:r>
          </a:p>
          <a:p>
            <a:r>
              <a:rPr lang="en-US" sz="1200" kern="1200" smtClean="0">
                <a:solidFill>
                  <a:schemeClr val="tx1"/>
                </a:solidFill>
                <a:effectLst/>
                <a:latin typeface="+mn-lt"/>
                <a:ea typeface="+mn-ea"/>
                <a:cs typeface="+mn-cs"/>
              </a:rPr>
              <a:t>a) Tổ chức, doanh nghiệp tiếp nhận, sử dụng địa chỉ IP và số hiệu mạng từ tổ chức nước ngoài mà không tuân thủ các chính sách quản lý chung của Bộ Thông tin và Truyền thông</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smtClean="0">
                <a:solidFill>
                  <a:schemeClr val="tx1"/>
                </a:solidFill>
                <a:effectLst/>
                <a:latin typeface="+mn-lt"/>
                <a:ea typeface="+mn-ea"/>
                <a:cs typeface="+mn-cs"/>
              </a:rPr>
              <a:t>Điều 64. Vi phạm quy định về trang thông tin điện tử, trang thông tin điện tử tổng hợp</a:t>
            </a:r>
            <a:endParaRPr lang="en-US" sz="1200" kern="1200" smtClean="0">
              <a:solidFill>
                <a:schemeClr val="tx1"/>
              </a:solidFill>
              <a:effectLst/>
              <a:latin typeface="+mn-lt"/>
              <a:ea typeface="+mn-ea"/>
              <a:cs typeface="+mn-cs"/>
            </a:endParaRPr>
          </a:p>
          <a:p>
            <a:r>
              <a:rPr lang="en-US" sz="1200" kern="1200" smtClean="0">
                <a:solidFill>
                  <a:schemeClr val="tx1"/>
                </a:solidFill>
                <a:effectLst/>
                <a:latin typeface="+mn-lt"/>
                <a:ea typeface="+mn-ea"/>
                <a:cs typeface="+mn-cs"/>
              </a:rPr>
              <a:t>3. Phạt tiền từ 20.000.000 đồng đến 30.000.000 đồng đối với một trong các hành vi sau đây:</a:t>
            </a:r>
          </a:p>
          <a:p>
            <a:r>
              <a:rPr lang="en-US" sz="1200" kern="1200" smtClean="0">
                <a:solidFill>
                  <a:schemeClr val="tx1"/>
                </a:solidFill>
                <a:effectLst/>
                <a:latin typeface="+mn-lt"/>
                <a:ea typeface="+mn-ea"/>
                <a:cs typeface="+mn-cs"/>
              </a:rPr>
              <a:t>a) Cung cấp nội dung thông tin sai sự thật, vu khống, xuyên tạc, xúc phạm uy tín của cơ quan, tổ chức và danh dự, nhân phẩm của cá nhân</a:t>
            </a:r>
            <a:endParaRPr lang="en-US"/>
          </a:p>
        </p:txBody>
      </p:sp>
      <p:sp>
        <p:nvSpPr>
          <p:cNvPr id="4" name="Slide Number Placeholder 3"/>
          <p:cNvSpPr>
            <a:spLocks noGrp="1"/>
          </p:cNvSpPr>
          <p:nvPr>
            <p:ph type="sldNum" sz="quarter" idx="10"/>
          </p:nvPr>
        </p:nvSpPr>
        <p:spPr/>
        <p:txBody>
          <a:bodyPr/>
          <a:lstStyle/>
          <a:p>
            <a:fld id="{E5B33061-3C51-4F78-A8E5-9E643723545C}" type="slidenum">
              <a:rPr lang="en-US" smtClean="0"/>
              <a:t>1</a:t>
            </a:fld>
            <a:endParaRPr lang="en-US"/>
          </a:p>
        </p:txBody>
      </p:sp>
    </p:spTree>
    <p:extLst>
      <p:ext uri="{BB962C8B-B14F-4D97-AF65-F5344CB8AC3E}">
        <p14:creationId xmlns:p14="http://schemas.microsoft.com/office/powerpoint/2010/main" val="339314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812725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465456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83258ED-25DD-4B08-8561-875BB4276E09}"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297146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83258ED-25DD-4B08-8561-875BB4276E09}" type="datetimeFigureOut">
              <a:rPr lang="en-US" smtClean="0"/>
              <a:t>4/5/2019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874094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83258ED-25DD-4B08-8561-875BB4276E09}" type="datetimeFigureOut">
              <a:rPr lang="en-US" smtClean="0"/>
              <a:t>4/5/2019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2461935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83258ED-25DD-4B08-8561-875BB4276E09}" type="datetimeFigureOut">
              <a:rPr lang="en-US" smtClean="0"/>
              <a:t>4/5/2019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3445773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3258ED-25DD-4B08-8561-875BB4276E09}" type="datetimeFigureOut">
              <a:rPr lang="en-US" smtClean="0"/>
              <a:t>4/5/2019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06555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3258ED-25DD-4B08-8561-875BB4276E09}" type="datetimeFigureOut">
              <a:rPr lang="en-US" smtClean="0"/>
              <a:t>4/5/2019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599069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3258ED-25DD-4B08-8561-875BB4276E09}" type="datetimeFigureOut">
              <a:rPr lang="en-US" smtClean="0"/>
              <a:t>4/5/2019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748135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938359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4/5/2019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3793549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3258ED-25DD-4B08-8561-875BB4276E09}" type="datetimeFigureOut">
              <a:rPr lang="en-US" smtClean="0"/>
              <a:t>4/5/2019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1443AC-9301-45BE-9176-56DC12CEDECF}" type="slidenum">
              <a:rPr lang="en-US" smtClean="0"/>
              <a:t>‹#›</a:t>
            </a:fld>
            <a:endParaRPr lang="en-US"/>
          </a:p>
        </p:txBody>
      </p:sp>
    </p:spTree>
    <p:extLst>
      <p:ext uri="{BB962C8B-B14F-4D97-AF65-F5344CB8AC3E}">
        <p14:creationId xmlns:p14="http://schemas.microsoft.com/office/powerpoint/2010/main" val="27433626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309093"/>
            <a:ext cx="12028868" cy="5632311"/>
          </a:xfrm>
          <a:prstGeom prst="rect">
            <a:avLst/>
          </a:prstGeom>
          <a:noFill/>
        </p:spPr>
        <p:txBody>
          <a:bodyPr wrap="square" rtlCol="0">
            <a:spAutoFit/>
          </a:bodyPr>
          <a:lstStyle/>
          <a:p>
            <a:pPr algn="just"/>
            <a:r>
              <a:rPr lang="en-US" sz="2400" b="1">
                <a:latin typeface="Times New Roman" panose="02020603050405020304" pitchFamily="18" charset="0"/>
                <a:cs typeface="Times New Roman" panose="02020603050405020304" pitchFamily="18" charset="0"/>
              </a:rPr>
              <a:t>Câu 1 </a:t>
            </a:r>
            <a:r>
              <a:rPr lang="en-US" sz="2400">
                <a:latin typeface="Times New Roman" panose="02020603050405020304" pitchFamily="18" charset="0"/>
                <a:cs typeface="Times New Roman" panose="02020603050405020304" pitchFamily="18" charset="0"/>
              </a:rPr>
              <a:t>Trình bày quyền, trách nhiệm của các tổ chức, cá nhân tham gia hoạt động ứng dụng và phát triển công nghệ thông tin được quy định trong Luật Công nghệ thông tin số 67/2006/QH11</a:t>
            </a:r>
            <a:r>
              <a:rPr lang="en-US" sz="2400">
                <a:latin typeface="Times New Roman" panose="02020603050405020304" pitchFamily="18" charset="0"/>
                <a:cs typeface="Times New Roman" panose="02020603050405020304" pitchFamily="18" charset="0"/>
              </a:rPr>
              <a:t>? </a:t>
            </a:r>
            <a:endParaRPr lang="en-US" sz="2400">
              <a:latin typeface="Times New Roman" panose="02020603050405020304" pitchFamily="18" charset="0"/>
              <a:cs typeface="Times New Roman" panose="02020603050405020304" pitchFamily="18" charset="0"/>
            </a:endParaRPr>
          </a:p>
          <a:p>
            <a:pPr algn="just"/>
            <a:r>
              <a:rPr lang="en-US" sz="2400" b="1">
                <a:latin typeface="Times New Roman" panose="02020603050405020304" pitchFamily="18" charset="0"/>
                <a:cs typeface="Times New Roman" panose="02020603050405020304" pitchFamily="18" charset="0"/>
              </a:rPr>
              <a:t>Câu </a:t>
            </a:r>
            <a:r>
              <a:rPr lang="en-US" sz="2400" b="1">
                <a:latin typeface="Times New Roman" panose="02020603050405020304" pitchFamily="18" charset="0"/>
                <a:cs typeface="Times New Roman" panose="02020603050405020304" pitchFamily="18" charset="0"/>
              </a:rPr>
              <a:t>2 </a:t>
            </a:r>
            <a:r>
              <a:rPr lang="en-US" sz="2400">
                <a:latin typeface="Times New Roman" panose="02020603050405020304" pitchFamily="18" charset="0"/>
                <a:cs typeface="Times New Roman" panose="02020603050405020304" pitchFamily="18" charset="0"/>
              </a:rPr>
              <a:t>Tổ chức, doanh nghiệp tiếp nhận, sử dụng địa chỉ IP và số hiệu mạng từ tổ chức nước ngoài mà không tuân thủ các chính sách quản lý chung của Bộ Thông tin và </a:t>
            </a:r>
            <a:r>
              <a:rPr lang="en-US" sz="2400">
                <a:latin typeface="Times New Roman" panose="02020603050405020304" pitchFamily="18" charset="0"/>
                <a:cs typeface="Times New Roman" panose="02020603050405020304" pitchFamily="18" charset="0"/>
              </a:rPr>
              <a:t>Truyền </a:t>
            </a:r>
            <a:r>
              <a:rPr lang="en-US" sz="2400" smtClean="0">
                <a:latin typeface="Times New Roman" panose="02020603050405020304" pitchFamily="18" charset="0"/>
                <a:cs typeface="Times New Roman" panose="02020603050405020304" pitchFamily="18" charset="0"/>
              </a:rPr>
              <a:t>thông thì bị xử phạt tối đa bao nhiêu tiền</a:t>
            </a:r>
          </a:p>
          <a:p>
            <a:pPr algn="just"/>
            <a:r>
              <a:rPr lang="en-US" sz="2400" smtClean="0">
                <a:latin typeface="Times New Roman" panose="02020603050405020304" pitchFamily="18" charset="0"/>
                <a:cs typeface="Times New Roman" panose="02020603050405020304" pitchFamily="18" charset="0"/>
              </a:rPr>
              <a:t>a. 30 000 000 đồng		b. 40 000 000 đồng		c. 50 000 000 đồng</a:t>
            </a:r>
          </a:p>
          <a:p>
            <a:pPr algn="just"/>
            <a:r>
              <a:rPr lang="en-US" sz="2400" b="1" smtClean="0">
                <a:latin typeface="Times New Roman" panose="02020603050405020304" pitchFamily="18" charset="0"/>
                <a:cs typeface="Times New Roman" panose="02020603050405020304" pitchFamily="18" charset="0"/>
              </a:rPr>
              <a:t>Câu 3 </a:t>
            </a:r>
            <a:r>
              <a:rPr lang="en-US" sz="2400" smtClean="0">
                <a:latin typeface="Times New Roman" panose="02020603050405020304" pitchFamily="18" charset="0"/>
                <a:cs typeface="Times New Roman" panose="02020603050405020304" pitchFamily="18" charset="0"/>
              </a:rPr>
              <a:t>Cá nhân có hành vi cung </a:t>
            </a:r>
            <a:r>
              <a:rPr lang="en-US" sz="2400">
                <a:latin typeface="Times New Roman" panose="02020603050405020304" pitchFamily="18" charset="0"/>
                <a:cs typeface="Times New Roman" panose="02020603050405020304" pitchFamily="18" charset="0"/>
              </a:rPr>
              <a:t>cấp nội dung thông tin sai sự thật, vu khống, xuyên tạc, xúc phạm uy tín của cơ quan, tổ chức và danh dự, nhân phẩm của </a:t>
            </a:r>
            <a:r>
              <a:rPr lang="en-US" sz="2400">
                <a:latin typeface="Times New Roman" panose="02020603050405020304" pitchFamily="18" charset="0"/>
                <a:cs typeface="Times New Roman" panose="02020603050405020304" pitchFamily="18" charset="0"/>
              </a:rPr>
              <a:t>cá </a:t>
            </a:r>
            <a:r>
              <a:rPr lang="en-US" sz="2400" smtClean="0">
                <a:latin typeface="Times New Roman" panose="02020603050405020304" pitchFamily="18" charset="0"/>
                <a:cs typeface="Times New Roman" panose="02020603050405020304" pitchFamily="18" charset="0"/>
              </a:rPr>
              <a:t>nhân </a:t>
            </a:r>
            <a:r>
              <a:rPr lang="en-US" sz="2400">
                <a:latin typeface="Times New Roman" panose="02020603050405020304" pitchFamily="18" charset="0"/>
                <a:cs typeface="Times New Roman" panose="02020603050405020304" pitchFamily="18" charset="0"/>
              </a:rPr>
              <a:t>thì bị xử phạt tối đa bao nhiêu tiền</a:t>
            </a:r>
          </a:p>
          <a:p>
            <a:pPr algn="just"/>
            <a:r>
              <a:rPr lang="en-US" sz="2400">
                <a:latin typeface="Times New Roman" panose="02020603050405020304" pitchFamily="18" charset="0"/>
                <a:cs typeface="Times New Roman" panose="02020603050405020304" pitchFamily="18" charset="0"/>
              </a:rPr>
              <a:t>a</a:t>
            </a:r>
            <a:r>
              <a:rPr lang="en-US" sz="2400">
                <a:latin typeface="Times New Roman" panose="02020603050405020304" pitchFamily="18" charset="0"/>
                <a:cs typeface="Times New Roman" panose="02020603050405020304" pitchFamily="18" charset="0"/>
              </a:rPr>
              <a:t>. </a:t>
            </a:r>
            <a:r>
              <a:rPr lang="en-US" sz="2400" smtClean="0">
                <a:latin typeface="Times New Roman" panose="02020603050405020304" pitchFamily="18" charset="0"/>
                <a:cs typeface="Times New Roman" panose="02020603050405020304" pitchFamily="18" charset="0"/>
              </a:rPr>
              <a:t>15 </a:t>
            </a:r>
            <a:r>
              <a:rPr lang="en-US" sz="2400">
                <a:latin typeface="Times New Roman" panose="02020603050405020304" pitchFamily="18" charset="0"/>
                <a:cs typeface="Times New Roman" panose="02020603050405020304" pitchFamily="18" charset="0"/>
              </a:rPr>
              <a:t>000 000 đồng		b</a:t>
            </a:r>
            <a:r>
              <a:rPr lang="en-US" sz="2400">
                <a:latin typeface="Times New Roman" panose="02020603050405020304" pitchFamily="18" charset="0"/>
                <a:cs typeface="Times New Roman" panose="02020603050405020304" pitchFamily="18" charset="0"/>
              </a:rPr>
              <a:t>. </a:t>
            </a:r>
            <a:r>
              <a:rPr lang="en-US" sz="2400" smtClean="0">
                <a:latin typeface="Times New Roman" panose="02020603050405020304" pitchFamily="18" charset="0"/>
                <a:cs typeface="Times New Roman" panose="02020603050405020304" pitchFamily="18" charset="0"/>
              </a:rPr>
              <a:t>20 </a:t>
            </a:r>
            <a:r>
              <a:rPr lang="en-US" sz="2400">
                <a:latin typeface="Times New Roman" panose="02020603050405020304" pitchFamily="18" charset="0"/>
                <a:cs typeface="Times New Roman" panose="02020603050405020304" pitchFamily="18" charset="0"/>
              </a:rPr>
              <a:t>000 000 đồng		c</a:t>
            </a:r>
            <a:r>
              <a:rPr lang="en-US" sz="2400">
                <a:latin typeface="Times New Roman" panose="02020603050405020304" pitchFamily="18" charset="0"/>
                <a:cs typeface="Times New Roman" panose="02020603050405020304" pitchFamily="18" charset="0"/>
              </a:rPr>
              <a:t>. </a:t>
            </a:r>
            <a:r>
              <a:rPr lang="en-US" sz="2400" smtClean="0">
                <a:latin typeface="Times New Roman" panose="02020603050405020304" pitchFamily="18" charset="0"/>
                <a:cs typeface="Times New Roman" panose="02020603050405020304" pitchFamily="18" charset="0"/>
              </a:rPr>
              <a:t>25 </a:t>
            </a:r>
            <a:r>
              <a:rPr lang="en-US" sz="2400">
                <a:latin typeface="Times New Roman" panose="02020603050405020304" pitchFamily="18" charset="0"/>
                <a:cs typeface="Times New Roman" panose="02020603050405020304" pitchFamily="18" charset="0"/>
              </a:rPr>
              <a:t>000 </a:t>
            </a:r>
            <a:r>
              <a:rPr lang="en-US" sz="2400">
                <a:latin typeface="Times New Roman" panose="02020603050405020304" pitchFamily="18" charset="0"/>
                <a:cs typeface="Times New Roman" panose="02020603050405020304" pitchFamily="18" charset="0"/>
              </a:rPr>
              <a:t>000 </a:t>
            </a:r>
            <a:r>
              <a:rPr lang="en-US" sz="2400" smtClean="0">
                <a:latin typeface="Times New Roman" panose="02020603050405020304" pitchFamily="18" charset="0"/>
                <a:cs typeface="Times New Roman" panose="02020603050405020304" pitchFamily="18" charset="0"/>
              </a:rPr>
              <a:t>đồng</a:t>
            </a:r>
            <a:r>
              <a:rPr lang="en-US" sz="2400">
                <a:latin typeface="Times New Roman" panose="02020603050405020304" pitchFamily="18" charset="0"/>
                <a:cs typeface="Times New Roman" panose="02020603050405020304" pitchFamily="18" charset="0"/>
              </a:rPr>
              <a:t> </a:t>
            </a:r>
          </a:p>
          <a:p>
            <a:pPr algn="just"/>
            <a:r>
              <a:rPr lang="en-US" sz="2400" b="1">
                <a:latin typeface="Times New Roman" panose="02020603050405020304" pitchFamily="18" charset="0"/>
                <a:cs typeface="Times New Roman" panose="02020603050405020304" pitchFamily="18" charset="0"/>
              </a:rPr>
              <a:t>Câu 4 </a:t>
            </a:r>
            <a:r>
              <a:rPr lang="en-US" sz="2400">
                <a:latin typeface="Times New Roman" panose="02020603050405020304" pitchFamily="18" charset="0"/>
                <a:cs typeface="Times New Roman" panose="02020603050405020304" pitchFamily="18" charset="0"/>
              </a:rPr>
              <a:t>Ông A. đã viết một ch</a:t>
            </a:r>
            <a:r>
              <a:rPr lang="vi-VN" sz="2400">
                <a:latin typeface="Times New Roman" panose="02020603050405020304" pitchFamily="18" charset="0"/>
                <a:cs typeface="Times New Roman" panose="02020603050405020304" pitchFamily="18" charset="0"/>
              </a:rPr>
              <a:t>ươ</a:t>
            </a:r>
            <a:r>
              <a:rPr lang="en-US" sz="2400">
                <a:latin typeface="Times New Roman" panose="02020603050405020304" pitchFamily="18" charset="0"/>
                <a:cs typeface="Times New Roman" panose="02020603050405020304" pitchFamily="18" charset="0"/>
              </a:rPr>
              <a:t>ng trình máy tính để xâm nhập vào hệ thống thiết bị của một tổ chức cung cấp dịch vụ chứng thực chữ ký số B.. Hệ thống này không hoạt động bình th</a:t>
            </a:r>
            <a:r>
              <a:rPr lang="vi-VN" sz="2400">
                <a:latin typeface="Times New Roman" panose="02020603050405020304" pitchFamily="18" charset="0"/>
                <a:cs typeface="Times New Roman" panose="02020603050405020304" pitchFamily="18" charset="0"/>
              </a:rPr>
              <a:t>ường</a:t>
            </a:r>
            <a:r>
              <a:rPr lang="en-US" sz="2400">
                <a:latin typeface="Times New Roman" panose="02020603050405020304" pitchFamily="18" charset="0"/>
                <a:cs typeface="Times New Roman" panose="02020603050405020304" pitchFamily="18" charset="0"/>
              </a:rPr>
              <a:t> khoảng 2 giờ.</a:t>
            </a:r>
          </a:p>
          <a:p>
            <a:pPr algn="just"/>
            <a:r>
              <a:rPr lang="en-US" sz="2400">
                <a:latin typeface="Times New Roman" panose="02020603050405020304" pitchFamily="18" charset="0"/>
                <a:cs typeface="Times New Roman" panose="02020603050405020304" pitchFamily="18" charset="0"/>
              </a:rPr>
              <a:t>Hãy phân tích và trên cơ sở các quy định đã học kết luận ông A. có vi phạm không? Nếu có ông A. bị xử phạt vi phạm hành chính nh</a:t>
            </a:r>
            <a:r>
              <a:rPr lang="vi-VN" sz="2400">
                <a:latin typeface="Times New Roman" panose="02020603050405020304" pitchFamily="18" charset="0"/>
                <a:cs typeface="Times New Roman" panose="02020603050405020304" pitchFamily="18" charset="0"/>
              </a:rPr>
              <a:t>ư</a:t>
            </a:r>
            <a:r>
              <a:rPr lang="en-US" sz="2400">
                <a:latin typeface="Times New Roman" panose="02020603050405020304" pitchFamily="18" charset="0"/>
                <a:cs typeface="Times New Roman" panose="02020603050405020304" pitchFamily="18" charset="0"/>
              </a:rPr>
              <a:t> thế nào?</a:t>
            </a:r>
            <a:endParaRPr lang="en-US" sz="240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639719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TotalTime>
  <Words>260</Words>
  <Application>Microsoft Office PowerPoint</Application>
  <PresentationFormat>Widescreen</PresentationFormat>
  <Paragraphs>15</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Thach</dc:creator>
  <cp:lastModifiedBy>Thach</cp:lastModifiedBy>
  <cp:revision>22</cp:revision>
  <dcterms:created xsi:type="dcterms:W3CDTF">2019-03-15T02:10:08Z</dcterms:created>
  <dcterms:modified xsi:type="dcterms:W3CDTF">2019-04-05T08:09:17Z</dcterms:modified>
</cp:coreProperties>
</file>