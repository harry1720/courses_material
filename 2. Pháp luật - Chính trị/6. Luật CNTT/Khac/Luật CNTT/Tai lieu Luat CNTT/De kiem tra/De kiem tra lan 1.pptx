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72890" autoAdjust="0"/>
  </p:normalViewPr>
  <p:slideViewPr>
    <p:cSldViewPr snapToGrid="0">
      <p:cViewPr varScale="1">
        <p:scale>
          <a:sx n="54" d="100"/>
          <a:sy n="54" d="100"/>
        </p:scale>
        <p:origin x="1380" y="72"/>
      </p:cViewPr>
      <p:guideLst/>
    </p:cSldViewPr>
  </p:slideViewPr>
  <p:notesTextViewPr>
    <p:cViewPr>
      <p:scale>
        <a:sx n="1" d="1"/>
        <a:sy n="1" d="1"/>
      </p:scale>
      <p:origin x="0" y="-123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64CBC1-9002-4044-8A85-C3CE228F4137}" type="datetimeFigureOut">
              <a:rPr lang="en-US" smtClean="0"/>
              <a:t>4/1/2019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B33061-3C51-4F78-A8E5-9E643723545C}" type="slidenum">
              <a:rPr lang="en-US" smtClean="0"/>
              <a:t>‹#›</a:t>
            </a:fld>
            <a:endParaRPr lang="en-US"/>
          </a:p>
        </p:txBody>
      </p:sp>
    </p:spTree>
    <p:extLst>
      <p:ext uri="{BB962C8B-B14F-4D97-AF65-F5344CB8AC3E}">
        <p14:creationId xmlns:p14="http://schemas.microsoft.com/office/powerpoint/2010/main" val="3875623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smtClean="0">
                <a:solidFill>
                  <a:schemeClr val="tx1"/>
                </a:solidFill>
                <a:effectLst/>
                <a:latin typeface="+mn-lt"/>
                <a:ea typeface="+mn-ea"/>
                <a:cs typeface="+mn-cs"/>
              </a:rPr>
              <a:t>B</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smtClean="0">
                <a:solidFill>
                  <a:schemeClr val="tx1"/>
                </a:solidFill>
                <a:effectLst/>
                <a:latin typeface="+mn-lt"/>
                <a:ea typeface="+mn-ea"/>
                <a:cs typeface="+mn-cs"/>
              </a:rPr>
              <a:t>3</a:t>
            </a:r>
            <a:r>
              <a:rPr lang="en-US" sz="1200" b="1" kern="1200" smtClean="0">
                <a:solidFill>
                  <a:schemeClr val="tx1"/>
                </a:solidFill>
                <a:effectLst/>
                <a:latin typeface="+mn-lt"/>
                <a:ea typeface="+mn-ea"/>
                <a:cs typeface="+mn-cs"/>
              </a:rPr>
              <a:t>. Điều 64. Vi phạm quy định về trang thông tin điện tử, trang thông tin điện tử tổng hợp</a:t>
            </a:r>
            <a:endParaRPr lang="en-US" sz="1200" kern="1200" smtClean="0">
              <a:solidFill>
                <a:schemeClr val="tx1"/>
              </a:solidFill>
              <a:effectLst/>
              <a:latin typeface="+mn-lt"/>
              <a:ea typeface="+mn-ea"/>
              <a:cs typeface="+mn-cs"/>
            </a:endParaRPr>
          </a:p>
          <a:p>
            <a:r>
              <a:rPr lang="en-US" sz="1200" kern="1200" smtClean="0">
                <a:solidFill>
                  <a:schemeClr val="tx1"/>
                </a:solidFill>
                <a:effectLst/>
                <a:latin typeface="+mn-lt"/>
                <a:ea typeface="+mn-ea"/>
                <a:cs typeface="+mn-cs"/>
              </a:rPr>
              <a:t>2. Phạt tiền từ 10.000.000 đồng đến 20.000.000 đồng đối với một trong các hành vi sau đây:</a:t>
            </a:r>
          </a:p>
          <a:p>
            <a:r>
              <a:rPr lang="en-US" sz="1200" kern="1200" smtClean="0">
                <a:solidFill>
                  <a:schemeClr val="tx1"/>
                </a:solidFill>
                <a:effectLst/>
                <a:latin typeface="+mn-lt"/>
                <a:ea typeface="+mn-ea"/>
                <a:cs typeface="+mn-cs"/>
              </a:rPr>
              <a:t>a) Không cung cấp thông tin trên trang thông tin điện tử tổng hợp đúng với nội dung được quy định trong giấy phép; không trích dẫn nguyên văn, chính xác nguồn tin chính thức theo quy định;</a:t>
            </a:r>
          </a:p>
          <a:p>
            <a:endParaRPr lang="en-US" smtClean="0"/>
          </a:p>
          <a:p>
            <a:r>
              <a:rPr lang="en-US" smtClean="0"/>
              <a:t>B</a:t>
            </a:r>
            <a:endParaRPr lang="en-US"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smtClean="0">
                <a:solidFill>
                  <a:schemeClr val="tx1"/>
                </a:solidFill>
                <a:effectLst/>
                <a:latin typeface="+mn-lt"/>
                <a:ea typeface="+mn-ea"/>
                <a:cs typeface="+mn-cs"/>
              </a:rPr>
              <a:t>4. Điều 71. Vi phạm các quy định về đảm bảo an toàn thông tin và ứng cứu sự cố mạng</a:t>
            </a:r>
            <a:endParaRPr lang="en-US" sz="1200" kern="120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smtClean="0">
                <a:solidFill>
                  <a:schemeClr val="tx1"/>
                </a:solidFill>
                <a:effectLst/>
                <a:latin typeface="+mn-lt"/>
                <a:ea typeface="+mn-ea"/>
                <a:cs typeface="+mn-cs"/>
              </a:rPr>
              <a:t>3. Phạt tiền từ 20.000.000 đồng đến 30.000.000 đồng đối với một trong các hành vi sau đây:</a:t>
            </a:r>
          </a:p>
          <a:p>
            <a:r>
              <a:rPr lang="en-US" sz="1200" kern="1200" smtClean="0">
                <a:solidFill>
                  <a:schemeClr val="tx1"/>
                </a:solidFill>
                <a:effectLst/>
                <a:latin typeface="+mn-lt"/>
                <a:ea typeface="+mn-ea"/>
                <a:cs typeface="+mn-cs"/>
              </a:rPr>
              <a:t>c) Không áp dụng các biện pháp, giải pháp kỹ thuật bảo đảm an toàn thông tin, rà quét mã độc; không ban hành, thực hiện quy chế hoạt động nội bộ trong việc bảo đảm an toàn thông tin và an ninh thông tin;</a:t>
            </a:r>
          </a:p>
          <a:p>
            <a:endParaRPr lang="en-US" sz="1200" kern="120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smtClean="0">
                <a:solidFill>
                  <a:schemeClr val="tx1"/>
                </a:solidFill>
                <a:effectLst/>
                <a:latin typeface="+mn-lt"/>
                <a:ea typeface="+mn-ea"/>
                <a:cs typeface="+mn-cs"/>
              </a:rPr>
              <a:t>5. </a:t>
            </a:r>
            <a:r>
              <a:rPr lang="en-US" sz="1200" b="1" kern="1200" smtClean="0">
                <a:solidFill>
                  <a:schemeClr val="tx1"/>
                </a:solidFill>
                <a:effectLst/>
                <a:latin typeface="+mn-lt"/>
                <a:ea typeface="+mn-ea"/>
                <a:cs typeface="+mn-cs"/>
              </a:rPr>
              <a:t>Điều 54. Vi phạm quy định về bảo vệ quyền, lợi ích hợp pháp và hỗ trợ người sử dụng sản phẩm, dịch vụ công nghệ thông tin</a:t>
            </a:r>
            <a:endParaRPr lang="en-US" sz="1200" kern="1200" smtClean="0">
              <a:solidFill>
                <a:schemeClr val="tx1"/>
              </a:solidFill>
              <a:effectLst/>
              <a:latin typeface="+mn-lt"/>
              <a:ea typeface="+mn-ea"/>
              <a:cs typeface="+mn-cs"/>
            </a:endParaRPr>
          </a:p>
          <a:p>
            <a:r>
              <a:rPr lang="en-US" sz="1200" kern="1200" smtClean="0">
                <a:solidFill>
                  <a:schemeClr val="tx1"/>
                </a:solidFill>
                <a:effectLst/>
                <a:latin typeface="+mn-lt"/>
                <a:ea typeface="+mn-ea"/>
                <a:cs typeface="+mn-cs"/>
              </a:rPr>
              <a:t>3. Phạt tiền từ 30.000.000 đồng đến 40.000.000 đồng đối với một trong các hành vi sau:</a:t>
            </a:r>
          </a:p>
          <a:p>
            <a:r>
              <a:rPr lang="en-US" sz="1200" kern="1200" smtClean="0">
                <a:solidFill>
                  <a:schemeClr val="tx1"/>
                </a:solidFill>
                <a:effectLst/>
                <a:latin typeface="+mn-lt"/>
                <a:ea typeface="+mn-ea"/>
                <a:cs typeface="+mn-cs"/>
              </a:rPr>
              <a:t>a) Tạo ra và cài đặt chương trình vi rút máy tính hoặc phần mềm gây hại hoặc đoạn mã gây hại để thực hiện một trong những hành vi quy định tại Điều 71 của Luật công nghệ thông tin</a:t>
            </a:r>
            <a:r>
              <a:rPr lang="en-US" sz="1200" kern="1200" smtClean="0">
                <a:solidFill>
                  <a:schemeClr val="tx1"/>
                </a:solidFill>
                <a:effectLst/>
                <a:latin typeface="+mn-lt"/>
                <a:ea typeface="+mn-ea"/>
                <a:cs typeface="+mn-cs"/>
              </a:rPr>
              <a:t>;</a:t>
            </a:r>
          </a:p>
          <a:p>
            <a:endParaRPr lang="en-US" sz="1200" kern="120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smtClean="0">
                <a:solidFill>
                  <a:schemeClr val="tx1"/>
                </a:solidFill>
                <a:effectLst/>
                <a:latin typeface="+mn-lt"/>
                <a:ea typeface="+mn-ea"/>
                <a:cs typeface="+mn-cs"/>
              </a:rPr>
              <a:t>Điều 66. Vi phạm quy định về lưu trữ, cho thuê, truyền đưa, cung cấp, truy nhập, thu thập, xử lý, trao đổi và sử dụng thông tin</a:t>
            </a:r>
            <a:endParaRPr lang="en-US" sz="1200" kern="1200" smtClean="0">
              <a:solidFill>
                <a:schemeClr val="tx1"/>
              </a:solidFill>
              <a:effectLst/>
              <a:latin typeface="+mn-lt"/>
              <a:ea typeface="+mn-ea"/>
              <a:cs typeface="+mn-cs"/>
            </a:endParaRPr>
          </a:p>
          <a:p>
            <a:r>
              <a:rPr lang="en-US" sz="1200" kern="1200" smtClean="0">
                <a:solidFill>
                  <a:schemeClr val="tx1"/>
                </a:solidFill>
                <a:effectLst/>
                <a:latin typeface="+mn-lt"/>
                <a:ea typeface="+mn-ea"/>
                <a:cs typeface="+mn-cs"/>
              </a:rPr>
              <a:t>3. Phạt tiền từ 10.000.000 đồng đến 20.000.000 đồng đối với một trong các hành vi sau đây:</a:t>
            </a:r>
          </a:p>
          <a:p>
            <a:r>
              <a:rPr lang="en-US" sz="1200" kern="1200" smtClean="0">
                <a:solidFill>
                  <a:schemeClr val="tx1"/>
                </a:solidFill>
                <a:effectLst/>
                <a:latin typeface="+mn-lt"/>
                <a:ea typeface="+mn-ea"/>
                <a:cs typeface="+mn-cs"/>
              </a:rPr>
              <a:t>a) Truy nhập trái phép vào cơ sở dữ liệu, hệ thống mạng;</a:t>
            </a:r>
          </a:p>
          <a:p>
            <a:endParaRPr lang="en-US" sz="1200" kern="1200" smtClean="0">
              <a:solidFill>
                <a:schemeClr val="tx1"/>
              </a:solidFill>
              <a:effectLst/>
              <a:latin typeface="+mn-lt"/>
              <a:ea typeface="+mn-ea"/>
              <a:cs typeface="+mn-cs"/>
            </a:endParaRPr>
          </a:p>
          <a:p>
            <a:endParaRPr lang="en-US"/>
          </a:p>
        </p:txBody>
      </p:sp>
      <p:sp>
        <p:nvSpPr>
          <p:cNvPr id="4" name="Slide Number Placeholder 3"/>
          <p:cNvSpPr>
            <a:spLocks noGrp="1"/>
          </p:cNvSpPr>
          <p:nvPr>
            <p:ph type="sldNum" sz="quarter" idx="10"/>
          </p:nvPr>
        </p:nvSpPr>
        <p:spPr/>
        <p:txBody>
          <a:bodyPr/>
          <a:lstStyle/>
          <a:p>
            <a:fld id="{E5B33061-3C51-4F78-A8E5-9E643723545C}" type="slidenum">
              <a:rPr lang="en-US" smtClean="0"/>
              <a:t>1</a:t>
            </a:fld>
            <a:endParaRPr lang="en-US"/>
          </a:p>
        </p:txBody>
      </p:sp>
    </p:spTree>
    <p:extLst>
      <p:ext uri="{BB962C8B-B14F-4D97-AF65-F5344CB8AC3E}">
        <p14:creationId xmlns:p14="http://schemas.microsoft.com/office/powerpoint/2010/main" val="339314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83258ED-25DD-4B08-8561-875BB4276E09}" type="datetimeFigureOut">
              <a:rPr lang="en-US" smtClean="0"/>
              <a:t>4/1/2019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812725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3258ED-25DD-4B08-8561-875BB4276E09}" type="datetimeFigureOut">
              <a:rPr lang="en-US" smtClean="0"/>
              <a:t>4/1/2019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1465456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83258ED-25DD-4B08-8561-875BB4276E09}" type="datetimeFigureOut">
              <a:rPr lang="en-US" smtClean="0"/>
              <a:t>4/1/2019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297146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83258ED-25DD-4B08-8561-875BB4276E09}" type="datetimeFigureOut">
              <a:rPr lang="en-US" smtClean="0"/>
              <a:t>4/1/2019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874094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83258ED-25DD-4B08-8561-875BB4276E09}" type="datetimeFigureOut">
              <a:rPr lang="en-US" smtClean="0"/>
              <a:t>4/1/2019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2461935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83258ED-25DD-4B08-8561-875BB4276E09}" type="datetimeFigureOut">
              <a:rPr lang="en-US" smtClean="0"/>
              <a:t>4/1/2019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3445773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3258ED-25DD-4B08-8561-875BB4276E09}" type="datetimeFigureOut">
              <a:rPr lang="en-US" smtClean="0"/>
              <a:t>4/1/2019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106555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83258ED-25DD-4B08-8561-875BB4276E09}" type="datetimeFigureOut">
              <a:rPr lang="en-US" smtClean="0"/>
              <a:t>4/1/2019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1599069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83258ED-25DD-4B08-8561-875BB4276E09}" type="datetimeFigureOut">
              <a:rPr lang="en-US" smtClean="0"/>
              <a:t>4/1/2019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748135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3258ED-25DD-4B08-8561-875BB4276E09}" type="datetimeFigureOut">
              <a:rPr lang="en-US" smtClean="0"/>
              <a:t>4/1/2019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1938359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3258ED-25DD-4B08-8561-875BB4276E09}" type="datetimeFigureOut">
              <a:rPr lang="en-US" smtClean="0"/>
              <a:t>4/1/2019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37935491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3258ED-25DD-4B08-8561-875BB4276E09}" type="datetimeFigureOut">
              <a:rPr lang="en-US" smtClean="0"/>
              <a:t>4/1/2019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1443AC-9301-45BE-9176-56DC12CEDECF}" type="slidenum">
              <a:rPr lang="en-US" smtClean="0"/>
              <a:t>‹#›</a:t>
            </a:fld>
            <a:endParaRPr lang="en-US"/>
          </a:p>
        </p:txBody>
      </p:sp>
    </p:spTree>
    <p:extLst>
      <p:ext uri="{BB962C8B-B14F-4D97-AF65-F5344CB8AC3E}">
        <p14:creationId xmlns:p14="http://schemas.microsoft.com/office/powerpoint/2010/main" val="27433626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309093"/>
            <a:ext cx="12028868" cy="6001643"/>
          </a:xfrm>
          <a:prstGeom prst="rect">
            <a:avLst/>
          </a:prstGeom>
          <a:noFill/>
        </p:spPr>
        <p:txBody>
          <a:bodyPr wrap="square" rtlCol="0">
            <a:spAutoFit/>
          </a:bodyPr>
          <a:lstStyle/>
          <a:p>
            <a:pPr algn="just"/>
            <a:r>
              <a:rPr lang="en-US" sz="2400" smtClean="0">
                <a:latin typeface="Times New Roman" panose="02020603050405020304" pitchFamily="18" charset="0"/>
                <a:cs typeface="Times New Roman" panose="02020603050405020304" pitchFamily="18" charset="0"/>
              </a:rPr>
              <a:t>1. Trình bày các hành vi bị nghiêm cấm được quy định trong Luật Công nghệ Thông tin, Luật số 67/2006/QH11.</a:t>
            </a:r>
          </a:p>
          <a:p>
            <a:pPr algn="just"/>
            <a:r>
              <a:rPr lang="en-US" sz="2400" smtClean="0">
                <a:latin typeface="Times New Roman" panose="02020603050405020304" pitchFamily="18" charset="0"/>
                <a:cs typeface="Times New Roman" panose="02020603050405020304" pitchFamily="18" charset="0"/>
              </a:rPr>
              <a:t>2. Trình bày về </a:t>
            </a:r>
            <a:r>
              <a:rPr lang="en-US" sz="2400">
                <a:latin typeface="Times New Roman" panose="02020603050405020304" pitchFamily="18" charset="0"/>
                <a:cs typeface="Times New Roman" panose="02020603050405020304" pitchFamily="18" charset="0"/>
              </a:rPr>
              <a:t>c</a:t>
            </a:r>
            <a:r>
              <a:rPr lang="en-US" sz="2400" smtClean="0">
                <a:latin typeface="Times New Roman" panose="02020603050405020304" pitchFamily="18" charset="0"/>
                <a:cs typeface="Times New Roman" panose="02020603050405020304" pitchFamily="18" charset="0"/>
              </a:rPr>
              <a:t>hống </a:t>
            </a:r>
            <a:r>
              <a:rPr lang="en-US" sz="2400">
                <a:latin typeface="Times New Roman" panose="02020603050405020304" pitchFamily="18" charset="0"/>
                <a:cs typeface="Times New Roman" panose="02020603050405020304" pitchFamily="18" charset="0"/>
              </a:rPr>
              <a:t>vi rút máy tính và phần mềm gây hại</a:t>
            </a:r>
            <a:r>
              <a:rPr lang="en-US" sz="2400" smtClean="0">
                <a:latin typeface="Times New Roman" panose="02020603050405020304" pitchFamily="18" charset="0"/>
                <a:cs typeface="Times New Roman" panose="02020603050405020304" pitchFamily="18" charset="0"/>
              </a:rPr>
              <a:t> được quy định trong Luật Công nghệ Thông tin, Luật số 67/2006/QH11.</a:t>
            </a:r>
          </a:p>
          <a:p>
            <a:pPr algn="just"/>
            <a:r>
              <a:rPr lang="en-US" sz="2400" smtClean="0">
                <a:latin typeface="Times New Roman" panose="02020603050405020304" pitchFamily="18" charset="0"/>
                <a:cs typeface="Times New Roman" panose="02020603050405020304" pitchFamily="18" charset="0"/>
              </a:rPr>
              <a:t>3. Cá nhân có hành vi </a:t>
            </a:r>
            <a:r>
              <a:rPr lang="en-US" sz="2400">
                <a:latin typeface="Times New Roman" panose="02020603050405020304" pitchFamily="18" charset="0"/>
                <a:cs typeface="Times New Roman" panose="02020603050405020304" pitchFamily="18" charset="0"/>
              </a:rPr>
              <a:t>k</a:t>
            </a:r>
            <a:r>
              <a:rPr lang="en-US" sz="2400" smtClean="0">
                <a:latin typeface="Times New Roman" panose="02020603050405020304" pitchFamily="18" charset="0"/>
                <a:cs typeface="Times New Roman" panose="02020603050405020304" pitchFamily="18" charset="0"/>
              </a:rPr>
              <a:t>hông </a:t>
            </a:r>
            <a:r>
              <a:rPr lang="en-US" sz="2400">
                <a:latin typeface="Times New Roman" panose="02020603050405020304" pitchFamily="18" charset="0"/>
                <a:cs typeface="Times New Roman" panose="02020603050405020304" pitchFamily="18" charset="0"/>
              </a:rPr>
              <a:t>cung cấp thông tin trên trang thông tin điện tử tổng hợp đúng với nội dung được quy định trong giấy phép; không trích dẫn nguyên văn, chính xác nguồn tin chính thức theo quy </a:t>
            </a:r>
            <a:r>
              <a:rPr lang="en-US" sz="2400" smtClean="0">
                <a:latin typeface="Times New Roman" panose="02020603050405020304" pitchFamily="18" charset="0"/>
                <a:cs typeface="Times New Roman" panose="02020603050405020304" pitchFamily="18" charset="0"/>
              </a:rPr>
              <a:t>định thì bị xử phạt tối đa bao nhiêu tiền: (chọn đáp án và nêu căn cứ pháp lý)</a:t>
            </a:r>
          </a:p>
          <a:p>
            <a:pPr algn="just"/>
            <a:r>
              <a:rPr lang="en-US" sz="2400" smtClean="0">
                <a:latin typeface="Times New Roman" panose="02020603050405020304" pitchFamily="18" charset="0"/>
                <a:cs typeface="Times New Roman" panose="02020603050405020304" pitchFamily="18" charset="0"/>
              </a:rPr>
              <a:t>a. 5 000 000 đồng		b. 10 000 000 đồng		c. 15 000 000 đồng</a:t>
            </a:r>
          </a:p>
          <a:p>
            <a:pPr algn="just"/>
            <a:r>
              <a:rPr lang="en-US" sz="2400" smtClean="0">
                <a:latin typeface="Times New Roman" panose="02020603050405020304" pitchFamily="18" charset="0"/>
                <a:cs typeface="Times New Roman" panose="02020603050405020304" pitchFamily="18" charset="0"/>
              </a:rPr>
              <a:t>4. Doanh nghiệp có hành vi </a:t>
            </a:r>
            <a:r>
              <a:rPr lang="en-US" sz="2400">
                <a:latin typeface="Times New Roman" panose="02020603050405020304" pitchFamily="18" charset="0"/>
                <a:cs typeface="Times New Roman" panose="02020603050405020304" pitchFamily="18" charset="0"/>
              </a:rPr>
              <a:t>k</a:t>
            </a:r>
            <a:r>
              <a:rPr lang="en-US" sz="2400" smtClean="0">
                <a:latin typeface="Times New Roman" panose="02020603050405020304" pitchFamily="18" charset="0"/>
                <a:cs typeface="Times New Roman" panose="02020603050405020304" pitchFamily="18" charset="0"/>
              </a:rPr>
              <a:t>hông </a:t>
            </a:r>
            <a:r>
              <a:rPr lang="en-US" sz="2400">
                <a:latin typeface="Times New Roman" panose="02020603050405020304" pitchFamily="18" charset="0"/>
                <a:cs typeface="Times New Roman" panose="02020603050405020304" pitchFamily="18" charset="0"/>
              </a:rPr>
              <a:t>áp dụng các biện pháp, giải pháp kỹ thuật bảo đảm an toàn thông tin, rà quét mã độc; không ban hành, thực hiện quy chế hoạt động nội bộ trong việc bảo đảm an toàn thông tin và an ninh thông </a:t>
            </a:r>
            <a:r>
              <a:rPr lang="en-US" sz="2400" smtClean="0">
                <a:latin typeface="Times New Roman" panose="02020603050405020304" pitchFamily="18" charset="0"/>
                <a:cs typeface="Times New Roman" panose="02020603050405020304" pitchFamily="18" charset="0"/>
              </a:rPr>
              <a:t>tin thì bị xử phạt tối đa bao nhiêu tiền: (chọn đáp án và nêu căn cứ pháp lý)</a:t>
            </a:r>
          </a:p>
          <a:p>
            <a:pPr algn="just"/>
            <a:r>
              <a:rPr lang="en-US" sz="2400" smtClean="0">
                <a:latin typeface="Times New Roman" panose="02020603050405020304" pitchFamily="18" charset="0"/>
                <a:cs typeface="Times New Roman" panose="02020603050405020304" pitchFamily="18" charset="0"/>
              </a:rPr>
              <a:t>a. 20 000 000 đồng		b. 30 000 000 đồng		c. 40 000 000 đồng</a:t>
            </a:r>
          </a:p>
          <a:p>
            <a:pPr algn="just"/>
            <a:r>
              <a:rPr lang="en-US" sz="2400" smtClean="0">
                <a:latin typeface="Times New Roman" panose="02020603050405020304" pitchFamily="18" charset="0"/>
                <a:cs typeface="Times New Roman" panose="02020603050405020304" pitchFamily="18" charset="0"/>
              </a:rPr>
              <a:t>5. Ông A. đã tạo ra và cài đặt vào máy tính của ông B. một đoạn mã  làm xóa </a:t>
            </a:r>
            <a:r>
              <a:rPr lang="en-US" sz="2400">
                <a:latin typeface="Times New Roman" panose="02020603050405020304" pitchFamily="18" charset="0"/>
                <a:cs typeface="Times New Roman" panose="02020603050405020304" pitchFamily="18" charset="0"/>
              </a:rPr>
              <a:t>bỏ </a:t>
            </a:r>
            <a:r>
              <a:rPr lang="en-US" sz="2400" smtClean="0">
                <a:latin typeface="Times New Roman" panose="02020603050405020304" pitchFamily="18" charset="0"/>
                <a:cs typeface="Times New Roman" panose="02020603050405020304" pitchFamily="18" charset="0"/>
              </a:rPr>
              <a:t>một số thông </a:t>
            </a:r>
            <a:r>
              <a:rPr lang="en-US" sz="2400">
                <a:latin typeface="Times New Roman" panose="02020603050405020304" pitchFamily="18" charset="0"/>
                <a:cs typeface="Times New Roman" panose="02020603050405020304" pitchFamily="18" charset="0"/>
              </a:rPr>
              <a:t>tin lưu trữ </a:t>
            </a:r>
            <a:r>
              <a:rPr lang="en-US" sz="2400" smtClean="0">
                <a:latin typeface="Times New Roman" panose="02020603050405020304" pitchFamily="18" charset="0"/>
                <a:cs typeface="Times New Roman" panose="02020603050405020304" pitchFamily="18" charset="0"/>
              </a:rPr>
              <a:t>trên máy tính của ông B.. Bạn hãy phân tích và đưa ra kết luận về hành vi của ông A. . Nếu ông A. có lỗi thì bị xử phạt hành chính như thế nào?</a:t>
            </a:r>
          </a:p>
        </p:txBody>
      </p:sp>
    </p:spTree>
    <p:extLst>
      <p:ext uri="{BB962C8B-B14F-4D97-AF65-F5344CB8AC3E}">
        <p14:creationId xmlns:p14="http://schemas.microsoft.com/office/powerpoint/2010/main" val="115639719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TotalTime>
  <Words>475</Words>
  <Application>Microsoft Office PowerPoint</Application>
  <PresentationFormat>Widescreen</PresentationFormat>
  <Paragraphs>25</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Times New Roman</vt:lpstr>
      <vt:lpstr>Office Theme</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Thach</dc:creator>
  <cp:lastModifiedBy>Thach</cp:lastModifiedBy>
  <cp:revision>19</cp:revision>
  <dcterms:created xsi:type="dcterms:W3CDTF">2019-03-15T02:10:08Z</dcterms:created>
  <dcterms:modified xsi:type="dcterms:W3CDTF">2019-04-01T05:44:41Z</dcterms:modified>
</cp:coreProperties>
</file>