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72890" autoAdjust="0"/>
  </p:normalViewPr>
  <p:slideViewPr>
    <p:cSldViewPr snapToGrid="0">
      <p:cViewPr varScale="1">
        <p:scale>
          <a:sx n="54" d="100"/>
          <a:sy n="54" d="100"/>
        </p:scale>
        <p:origin x="1380"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64CBC1-9002-4044-8A85-C3CE228F4137}" type="datetimeFigureOut">
              <a:rPr lang="en-US" smtClean="0"/>
              <a:t>10/13/2022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B33061-3C51-4F78-A8E5-9E643723545C}" type="slidenum">
              <a:rPr lang="en-US" smtClean="0"/>
              <a:t>‹#›</a:t>
            </a:fld>
            <a:endParaRPr lang="en-US"/>
          </a:p>
        </p:txBody>
      </p:sp>
    </p:spTree>
    <p:extLst>
      <p:ext uri="{BB962C8B-B14F-4D97-AF65-F5344CB8AC3E}">
        <p14:creationId xmlns:p14="http://schemas.microsoft.com/office/powerpoint/2010/main" val="38756230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5B33061-3C51-4F78-A8E5-9E643723545C}" type="slidenum">
              <a:rPr lang="en-US" smtClean="0"/>
              <a:t>1</a:t>
            </a:fld>
            <a:endParaRPr lang="en-US"/>
          </a:p>
        </p:txBody>
      </p:sp>
    </p:spTree>
    <p:extLst>
      <p:ext uri="{BB962C8B-B14F-4D97-AF65-F5344CB8AC3E}">
        <p14:creationId xmlns:p14="http://schemas.microsoft.com/office/powerpoint/2010/main" val="339314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83258ED-25DD-4B08-8561-875BB4276E09}" type="datetimeFigureOut">
              <a:rPr lang="en-US" smtClean="0"/>
              <a:t>10/13/2022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8127255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83258ED-25DD-4B08-8561-875BB4276E09}" type="datetimeFigureOut">
              <a:rPr lang="en-US" smtClean="0"/>
              <a:t>10/13/2022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14654562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83258ED-25DD-4B08-8561-875BB4276E09}" type="datetimeFigureOut">
              <a:rPr lang="en-US" smtClean="0"/>
              <a:t>10/13/2022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2971461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83258ED-25DD-4B08-8561-875BB4276E09}" type="datetimeFigureOut">
              <a:rPr lang="en-US" smtClean="0"/>
              <a:t>10/13/2022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8740947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83258ED-25DD-4B08-8561-875BB4276E09}" type="datetimeFigureOut">
              <a:rPr lang="en-US" smtClean="0"/>
              <a:t>10/13/2022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24619351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83258ED-25DD-4B08-8561-875BB4276E09}" type="datetimeFigureOut">
              <a:rPr lang="en-US" smtClean="0"/>
              <a:t>10/13/2022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34457730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83258ED-25DD-4B08-8561-875BB4276E09}" type="datetimeFigureOut">
              <a:rPr lang="en-US" smtClean="0"/>
              <a:t>10/13/2022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1065554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83258ED-25DD-4B08-8561-875BB4276E09}" type="datetimeFigureOut">
              <a:rPr lang="en-US" smtClean="0"/>
              <a:t>10/13/2022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1599069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83258ED-25DD-4B08-8561-875BB4276E09}" type="datetimeFigureOut">
              <a:rPr lang="en-US" smtClean="0"/>
              <a:t>10/13/2022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7481355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83258ED-25DD-4B08-8561-875BB4276E09}" type="datetimeFigureOut">
              <a:rPr lang="en-US" smtClean="0"/>
              <a:t>10/13/2022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19383597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83258ED-25DD-4B08-8561-875BB4276E09}" type="datetimeFigureOut">
              <a:rPr lang="en-US" smtClean="0"/>
              <a:t>10/13/2022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37935491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83258ED-25DD-4B08-8561-875BB4276E09}" type="datetimeFigureOut">
              <a:rPr lang="en-US" smtClean="0"/>
              <a:t>10/13/2022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1443AC-9301-45BE-9176-56DC12CEDECF}" type="slidenum">
              <a:rPr lang="en-US" smtClean="0"/>
              <a:t>‹#›</a:t>
            </a:fld>
            <a:endParaRPr lang="en-US"/>
          </a:p>
        </p:txBody>
      </p:sp>
    </p:spTree>
    <p:extLst>
      <p:ext uri="{BB962C8B-B14F-4D97-AF65-F5344CB8AC3E}">
        <p14:creationId xmlns:p14="http://schemas.microsoft.com/office/powerpoint/2010/main" val="27433626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309093"/>
            <a:ext cx="12028868" cy="6555641"/>
          </a:xfrm>
          <a:prstGeom prst="rect">
            <a:avLst/>
          </a:prstGeom>
          <a:noFill/>
        </p:spPr>
        <p:txBody>
          <a:bodyPr wrap="square" rtlCol="0">
            <a:spAutoFit/>
          </a:bodyPr>
          <a:lstStyle/>
          <a:p>
            <a:pPr algn="just"/>
            <a:r>
              <a:rPr lang="en-US" sz="2800" smtClean="0">
                <a:latin typeface="Times New Roman" panose="02020603050405020304" pitchFamily="18" charset="0"/>
                <a:cs typeface="Times New Roman" panose="02020603050405020304" pitchFamily="18" charset="0"/>
              </a:rPr>
              <a:t>1. Trình bày </a:t>
            </a:r>
            <a:r>
              <a:rPr lang="en-US" sz="2800">
                <a:latin typeface="Times New Roman" panose="02020603050405020304" pitchFamily="18" charset="0"/>
                <a:cs typeface="Times New Roman" panose="02020603050405020304" pitchFamily="18" charset="0"/>
              </a:rPr>
              <a:t>Chính sách phát triển nguồn nhân lực công nghệ thông tin </a:t>
            </a:r>
            <a:r>
              <a:rPr lang="en-US" sz="2800" smtClean="0">
                <a:latin typeface="Times New Roman" panose="02020603050405020304" pitchFamily="18" charset="0"/>
                <a:cs typeface="Times New Roman" panose="02020603050405020304" pitchFamily="18" charset="0"/>
              </a:rPr>
              <a:t>được quy định trong Luật Công nghệ Thông tin, Luật số 67/2006/QH11.</a:t>
            </a:r>
          </a:p>
          <a:p>
            <a:pPr algn="just"/>
            <a:r>
              <a:rPr lang="en-US" sz="2800" smtClean="0">
                <a:latin typeface="Times New Roman" panose="02020603050405020304" pitchFamily="18" charset="0"/>
                <a:cs typeface="Times New Roman" panose="02020603050405020304" pitchFamily="18" charset="0"/>
              </a:rPr>
              <a:t>2. </a:t>
            </a:r>
            <a:r>
              <a:rPr lang="en-US" sz="2800">
                <a:latin typeface="Times New Roman" panose="02020603050405020304" pitchFamily="18" charset="0"/>
                <a:cs typeface="Times New Roman" panose="02020603050405020304" pitchFamily="18" charset="0"/>
              </a:rPr>
              <a:t>Hiện nay một số đối tượng chuyên tạo lập các tài khoản Facebook giả mạo, sau đó kết bạn với nhiều người, gửi đường link trang web lừa đảo với hình thức bình chọn ảnh đẹp, giọng hát Việt nhí… để lấy thông tin đăng nhập, mật khẩu, số điện thoại đăng ký tài khoản Zalo, Facebook rồi chiếm </a:t>
            </a:r>
            <a:r>
              <a:rPr lang="en-US" sz="2800" smtClean="0">
                <a:latin typeface="Times New Roman" panose="02020603050405020304" pitchFamily="18" charset="0"/>
                <a:cs typeface="Times New Roman" panose="02020603050405020304" pitchFamily="18" charset="0"/>
              </a:rPr>
              <a:t>quyền kiểm soát các tài </a:t>
            </a:r>
            <a:r>
              <a:rPr lang="en-US" sz="2800">
                <a:latin typeface="Times New Roman" panose="02020603050405020304" pitchFamily="18" charset="0"/>
                <a:cs typeface="Times New Roman" panose="02020603050405020304" pitchFamily="18" charset="0"/>
              </a:rPr>
              <a:t>khoản mạng xã hội này, mạo danh chủ tài khoản để nhắn tin lừa mượn </a:t>
            </a:r>
            <a:r>
              <a:rPr lang="en-US" sz="2800" smtClean="0">
                <a:latin typeface="Times New Roman" panose="02020603050405020304" pitchFamily="18" charset="0"/>
                <a:cs typeface="Times New Roman" panose="02020603050405020304" pitchFamily="18" charset="0"/>
              </a:rPr>
              <a:t>tiền.</a:t>
            </a:r>
          </a:p>
          <a:p>
            <a:pPr algn="just"/>
            <a:r>
              <a:rPr lang="en-US" sz="2800">
                <a:latin typeface="Times New Roman" panose="02020603050405020304" pitchFamily="18" charset="0"/>
                <a:cs typeface="Times New Roman" panose="02020603050405020304" pitchFamily="18" charset="0"/>
              </a:rPr>
              <a:t>Bạn </a:t>
            </a:r>
            <a:r>
              <a:rPr lang="en-US" sz="2800" smtClean="0">
                <a:latin typeface="Times New Roman" panose="02020603050405020304" pitchFamily="18" charset="0"/>
                <a:cs typeface="Times New Roman" panose="02020603050405020304" pitchFamily="18" charset="0"/>
              </a:rPr>
              <a:t>liệt </a:t>
            </a:r>
            <a:r>
              <a:rPr lang="en-US" sz="2800">
                <a:latin typeface="Times New Roman" panose="02020603050405020304" pitchFamily="18" charset="0"/>
                <a:cs typeface="Times New Roman" panose="02020603050405020304" pitchFamily="18" charset="0"/>
              </a:rPr>
              <a:t>kê các giải pháp khi bản thân bị chiếm quyền kiểm soát các tài khoản mạng xã </a:t>
            </a:r>
            <a:r>
              <a:rPr lang="en-US" sz="2800" smtClean="0">
                <a:latin typeface="Times New Roman" panose="02020603050405020304" pitchFamily="18" charset="0"/>
                <a:cs typeface="Times New Roman" panose="02020603050405020304" pitchFamily="18" charset="0"/>
              </a:rPr>
              <a:t>hội như trên.</a:t>
            </a:r>
          </a:p>
          <a:p>
            <a:pPr marL="0" lvl="1" algn="just">
              <a:defRPr/>
            </a:pPr>
            <a:r>
              <a:rPr lang="en-US" sz="2800" smtClean="0">
                <a:latin typeface="Times New Roman" panose="02020603050405020304" pitchFamily="18" charset="0"/>
                <a:cs typeface="Times New Roman" panose="02020603050405020304" pitchFamily="18" charset="0"/>
              </a:rPr>
              <a:t>3. </a:t>
            </a:r>
            <a:r>
              <a:rPr lang="en-US" sz="2800" smtClean="0">
                <a:latin typeface="Times New Roman" panose="02020603050405020304" pitchFamily="18" charset="0"/>
                <a:cs typeface="Times New Roman" panose="02020603050405020304" pitchFamily="18" charset="0"/>
              </a:rPr>
              <a:t>Ông </a:t>
            </a:r>
            <a:r>
              <a:rPr lang="en-US" sz="2800">
                <a:latin typeface="Times New Roman" panose="02020603050405020304" pitchFamily="18" charset="0"/>
                <a:cs typeface="Times New Roman" panose="02020603050405020304" pitchFamily="18" charset="0"/>
              </a:rPr>
              <a:t>A. đã tạo ra và cài đặt vào máy tính </a:t>
            </a:r>
            <a:r>
              <a:rPr lang="en-US" sz="2800">
                <a:latin typeface="Times New Roman" panose="02020603050405020304" pitchFamily="18" charset="0"/>
                <a:cs typeface="Times New Roman" panose="02020603050405020304" pitchFamily="18" charset="0"/>
              </a:rPr>
              <a:t>của </a:t>
            </a:r>
            <a:r>
              <a:rPr lang="en-US" sz="2800" smtClean="0">
                <a:latin typeface="Times New Roman" panose="02020603050405020304" pitchFamily="18" charset="0"/>
                <a:cs typeface="Times New Roman" panose="02020603050405020304" pitchFamily="18" charset="0"/>
              </a:rPr>
              <a:t>công ty </a:t>
            </a:r>
            <a:r>
              <a:rPr lang="en-US" sz="2800">
                <a:latin typeface="Times New Roman" panose="02020603050405020304" pitchFamily="18" charset="0"/>
                <a:cs typeface="Times New Roman" panose="02020603050405020304" pitchFamily="18" charset="0"/>
              </a:rPr>
              <a:t>B. một đoạn </a:t>
            </a:r>
            <a:r>
              <a:rPr lang="en-US" sz="2800">
                <a:latin typeface="Times New Roman" panose="02020603050405020304" pitchFamily="18" charset="0"/>
                <a:cs typeface="Times New Roman" panose="02020603050405020304" pitchFamily="18" charset="0"/>
              </a:rPr>
              <a:t>mã </a:t>
            </a:r>
            <a:r>
              <a:rPr lang="en-US" sz="2800" smtClean="0">
                <a:latin typeface="Times New Roman" panose="02020603050405020304" pitchFamily="18" charset="0"/>
                <a:cs typeface="Times New Roman" panose="02020603050405020304" pitchFamily="18" charset="0"/>
              </a:rPr>
              <a:t>làm </a:t>
            </a:r>
            <a:r>
              <a:rPr lang="en-US" sz="2800">
                <a:latin typeface="Times New Roman" panose="02020603050405020304" pitchFamily="18" charset="0"/>
                <a:cs typeface="Times New Roman" panose="02020603050405020304" pitchFamily="18" charset="0"/>
              </a:rPr>
              <a:t>n</a:t>
            </a:r>
            <a:r>
              <a:rPr lang="en-US" sz="2800" smtClean="0">
                <a:latin typeface="Times New Roman" panose="02020603050405020304" pitchFamily="18" charset="0"/>
                <a:cs typeface="Times New Roman" panose="02020603050405020304" pitchFamily="18" charset="0"/>
              </a:rPr>
              <a:t>găn </a:t>
            </a:r>
            <a:r>
              <a:rPr lang="en-US" sz="2800">
                <a:latin typeface="Times New Roman" panose="02020603050405020304" pitchFamily="18" charset="0"/>
                <a:cs typeface="Times New Roman" panose="02020603050405020304" pitchFamily="18" charset="0"/>
              </a:rPr>
              <a:t>chặn khả năng của người </a:t>
            </a:r>
            <a:r>
              <a:rPr lang="en-US" sz="2800">
                <a:latin typeface="Times New Roman" panose="02020603050405020304" pitchFamily="18" charset="0"/>
                <a:cs typeface="Times New Roman" panose="02020603050405020304" pitchFamily="18" charset="0"/>
              </a:rPr>
              <a:t>sử </a:t>
            </a:r>
            <a:r>
              <a:rPr lang="en-US" sz="2800" smtClean="0">
                <a:latin typeface="Times New Roman" panose="02020603050405020304" pitchFamily="18" charset="0"/>
                <a:cs typeface="Times New Roman" panose="02020603050405020304" pitchFamily="18" charset="0"/>
              </a:rPr>
              <a:t>dụng và gây biến dạng chức năng phần mềm kế toán của công ty B.</a:t>
            </a:r>
          </a:p>
          <a:p>
            <a:pPr marL="514350" lvl="1" indent="-514350" algn="just">
              <a:buAutoNum type="alphaLcPeriod"/>
              <a:defRPr/>
            </a:pPr>
            <a:r>
              <a:rPr lang="en-US" sz="2800" smtClean="0">
                <a:latin typeface="Times New Roman" panose="02020603050405020304" pitchFamily="18" charset="0"/>
                <a:cs typeface="Times New Roman" panose="02020603050405020304" pitchFamily="18" charset="0"/>
              </a:rPr>
              <a:t>Liệt kê các trường hợp có thể xảy ra cho tình huống trên.</a:t>
            </a:r>
          </a:p>
          <a:p>
            <a:pPr marL="514350" lvl="1" indent="-514350" algn="just">
              <a:buAutoNum type="alphaLcPeriod"/>
              <a:defRPr/>
            </a:pPr>
            <a:r>
              <a:rPr lang="en-US" sz="2800" smtClean="0">
                <a:latin typeface="Times New Roman" panose="02020603050405020304" pitchFamily="18" charset="0"/>
                <a:cs typeface="Times New Roman" panose="02020603050405020304" pitchFamily="18" charset="0"/>
              </a:rPr>
              <a:t>Trình bày lại các căn cứ xử phạt vi phạm hành chính (nếu có).</a:t>
            </a:r>
          </a:p>
          <a:p>
            <a:pPr marL="0" lvl="1" algn="just">
              <a:defRPr/>
            </a:pPr>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5639719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157</TotalTime>
  <Words>61</Words>
  <Application>Microsoft Office PowerPoint</Application>
  <PresentationFormat>Widescreen</PresentationFormat>
  <Paragraphs>7</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Times New Roman</vt:lpstr>
      <vt:lpstr>Office Theme</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Thach</dc:creator>
  <cp:lastModifiedBy>Thach</cp:lastModifiedBy>
  <cp:revision>34</cp:revision>
  <dcterms:created xsi:type="dcterms:W3CDTF">2019-03-15T02:10:08Z</dcterms:created>
  <dcterms:modified xsi:type="dcterms:W3CDTF">2022-10-13T02:01:48Z</dcterms:modified>
</cp:coreProperties>
</file>