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8043" autoAdjust="0"/>
  </p:normalViewPr>
  <p:slideViewPr>
    <p:cSldViewPr snapToGrid="0">
      <p:cViewPr varScale="1">
        <p:scale>
          <a:sx n="50" d="100"/>
          <a:sy n="50" d="100"/>
        </p:scale>
        <p:origin x="150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55295-A5E2-4FCC-BA77-C5843775B9EF}" type="datetimeFigureOut">
              <a:rPr lang="en-US" smtClean="0"/>
              <a:t>10/16/2020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1BECE-819D-4CF3-8389-75F0396AF3E4}" type="slidenum">
              <a:rPr lang="en-US" smtClean="0"/>
              <a:t>‹#›</a:t>
            </a:fld>
            <a:endParaRPr lang="en-US"/>
          </a:p>
        </p:txBody>
      </p:sp>
    </p:spTree>
    <p:extLst>
      <p:ext uri="{BB962C8B-B14F-4D97-AF65-F5344CB8AC3E}">
        <p14:creationId xmlns:p14="http://schemas.microsoft.com/office/powerpoint/2010/main" val="378431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2:  c</a:t>
            </a:r>
          </a:p>
          <a:p>
            <a:r>
              <a:rPr lang="en-US" sz="1200" b="1" kern="1200" baseline="0" smtClean="0">
                <a:solidFill>
                  <a:schemeClr val="tx1"/>
                </a:solidFill>
                <a:effectLst/>
                <a:latin typeface="+mn-lt"/>
                <a:ea typeface="+mn-ea"/>
                <a:cs typeface="+mn-cs"/>
              </a:rPr>
              <a:t>Khoản 8 điều 3 nghị định 72/2013/NĐ-CP</a:t>
            </a:r>
          </a:p>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3 : c</a:t>
            </a:r>
          </a:p>
          <a:p>
            <a:r>
              <a:rPr lang="en-US" sz="1200" b="1" kern="1200" baseline="0" smtClean="0">
                <a:solidFill>
                  <a:schemeClr val="tx1"/>
                </a:solidFill>
                <a:effectLst/>
                <a:latin typeface="+mn-lt"/>
                <a:ea typeface="+mn-ea"/>
                <a:cs typeface="+mn-cs"/>
              </a:rPr>
              <a:t>Khoản 3 điều 3 nghị định 91/2020/NĐ-CP</a:t>
            </a:r>
            <a:r>
              <a:rPr lang="vi-VN" altLang="en-US" b="1" smtClean="0"/>
              <a:t>Điều 77. Vi phạm quy định về bảo vệ quyền, lợi ích hợp pháp và hỗ trợ người sử dụng sản phẩm, dịch vụ công nghệ thông tin</a:t>
            </a:r>
            <a:endParaRPr lang="en-US" altLang="en-US" smtClean="0"/>
          </a:p>
          <a:p>
            <a:r>
              <a:rPr lang="vi-VN" altLang="en-US" smtClean="0"/>
              <a:t>3. Phạt tiền từ 30.000.000 đồng đến 50.000.000 đồng đối với một trong các hành vi sau:</a:t>
            </a:r>
            <a:endParaRPr lang="en-US" altLang="en-US" smtClean="0"/>
          </a:p>
          <a:p>
            <a:r>
              <a:rPr lang="vi-VN" altLang="en-US" smtClean="0"/>
              <a:t>a) Tạo ra hoặc cài đặt hoặc phát tán chương trình vi rút máy tính hoặc phần mềm gây hại vào thiết bị số của người khác;</a:t>
            </a:r>
            <a:endParaRPr lang="en-US" altLang="en-US" smtClean="0"/>
          </a:p>
          <a:p>
            <a:r>
              <a:rPr lang="en-US" altLang="en-US" smtClean="0"/>
              <a:t> </a:t>
            </a:r>
          </a:p>
          <a:p>
            <a:r>
              <a:rPr lang="vi-VN" altLang="en-US" b="1" smtClean="0"/>
              <a:t>Điều 80. Vi phạm quy định về cung cấp, sử dụng trái phép thông tin trên mạng</a:t>
            </a:r>
            <a:endParaRPr lang="en-US" altLang="en-US" smtClean="0"/>
          </a:p>
          <a:p>
            <a:r>
              <a:rPr lang="vi-VN" altLang="en-US" smtClean="0"/>
              <a:t>2. Phạt tiền từ 30.000.000 đồng đến 50.000.000 đồng đối với một trong các hành vi sau:</a:t>
            </a:r>
            <a:endParaRPr lang="en-US" altLang="en-US" smtClean="0"/>
          </a:p>
          <a:p>
            <a:r>
              <a:rPr lang="en-US" altLang="en-US" smtClean="0"/>
              <a:t>a) Truy cập trái phép vào mạng hoặc thiết bị số của người khác để chiếm quyền điều khiển thiết bị số hoặc thay đổi, xóa bỏ thông tin lưu trữ trên thiết bị số hoặc thay đổi tham số cài đặt thiết bị số hoặc thu thập thông tin của người khác;</a:t>
            </a:r>
          </a:p>
          <a:p>
            <a:pPr eaLnBrk="1" hangingPunct="1"/>
            <a:endParaRPr lang="en-US" altLang="en-US" smtClean="0"/>
          </a:p>
          <a:p>
            <a:endParaRPr lang="en-US" sz="1200" b="1" kern="1200" baseline="0" smtClean="0">
              <a:solidFill>
                <a:schemeClr val="tx1"/>
              </a:solidFill>
              <a:effectLst/>
              <a:latin typeface="+mn-lt"/>
              <a:ea typeface="+mn-ea"/>
              <a:cs typeface="+mn-cs"/>
            </a:endParaRPr>
          </a:p>
          <a:p>
            <a:endParaRPr lang="en-US" sz="1200" b="1" kern="1200" smtClean="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3C71BECE-819D-4CF3-8389-75F0396AF3E4}" type="slidenum">
              <a:rPr lang="en-US" smtClean="0"/>
              <a:t>1</a:t>
            </a:fld>
            <a:endParaRPr lang="en-US"/>
          </a:p>
        </p:txBody>
      </p:sp>
    </p:spTree>
    <p:extLst>
      <p:ext uri="{BB962C8B-B14F-4D97-AF65-F5344CB8AC3E}">
        <p14:creationId xmlns:p14="http://schemas.microsoft.com/office/powerpoint/2010/main" val="282989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25307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01121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6E45E6-4EAC-4AAB-86BF-148A1FFB1237}" type="datetimeFigureOut">
              <a:rPr lang="en-US" smtClean="0"/>
              <a:t>10/16/2020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47224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6E45E6-4EAC-4AAB-86BF-148A1FFB1237}" type="datetimeFigureOut">
              <a:rPr lang="en-US" smtClean="0"/>
              <a:t>10/16/2020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42046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6E45E6-4EAC-4AAB-86BF-148A1FFB1237}" type="datetimeFigureOut">
              <a:rPr lang="en-US" smtClean="0"/>
              <a:t>10/16/2020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81344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6E45E6-4EAC-4AAB-86BF-148A1FFB1237}" type="datetimeFigureOut">
              <a:rPr lang="en-US" smtClean="0"/>
              <a:t>10/16/2020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968841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E45E6-4EAC-4AAB-86BF-148A1FFB1237}" type="datetimeFigureOut">
              <a:rPr lang="en-US" smtClean="0"/>
              <a:t>10/16/2020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8643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4022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392417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14540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30389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45E6-4EAC-4AAB-86BF-148A1FFB1237}" type="datetimeFigureOut">
              <a:rPr lang="en-US" smtClean="0"/>
              <a:t>10/16/2020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193F5F-DA00-42AD-905A-4C82F88BCB74}" type="slidenum">
              <a:rPr lang="en-US" smtClean="0"/>
              <a:t>‹#›</a:t>
            </a:fld>
            <a:endParaRPr lang="en-US"/>
          </a:p>
        </p:txBody>
      </p:sp>
    </p:spTree>
    <p:extLst>
      <p:ext uri="{BB962C8B-B14F-4D97-AF65-F5344CB8AC3E}">
        <p14:creationId xmlns:p14="http://schemas.microsoft.com/office/powerpoint/2010/main" val="1666702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350" y="117693"/>
            <a:ext cx="12058649" cy="6878806"/>
          </a:xfrm>
          <a:prstGeom prst="rect">
            <a:avLst/>
          </a:prstGeom>
          <a:noFill/>
        </p:spPr>
        <p:txBody>
          <a:bodyPr wrap="square" rtlCol="0">
            <a:spAutoFit/>
          </a:bodyPr>
          <a:lstStyle/>
          <a:p>
            <a:pPr algn="just"/>
            <a:r>
              <a:rPr lang="en-US" sz="2100" b="1" smtClean="0">
                <a:latin typeface="Times New Roman" panose="02020603050405020304" pitchFamily="18" charset="0"/>
                <a:cs typeface="Times New Roman" panose="02020603050405020304" pitchFamily="18" charset="0"/>
              </a:rPr>
              <a:t>Câu 1</a:t>
            </a:r>
            <a:r>
              <a:rPr lang="en-US" sz="2100" smtClean="0">
                <a:latin typeface="Times New Roman" panose="02020603050405020304" pitchFamily="18" charset="0"/>
                <a:cs typeface="Times New Roman" panose="02020603050405020304" pitchFamily="18" charset="0"/>
              </a:rPr>
              <a:t>. Nêu quy định về </a:t>
            </a:r>
            <a:r>
              <a:rPr lang="en-US" sz="2100">
                <a:latin typeface="Times New Roman" panose="02020603050405020304" pitchFamily="18" charset="0"/>
                <a:cs typeface="Times New Roman" panose="02020603050405020304" pitchFamily="18" charset="0"/>
              </a:rPr>
              <a:t>l</a:t>
            </a:r>
            <a:r>
              <a:rPr lang="en-US" sz="2100" smtClean="0">
                <a:latin typeface="Times New Roman" panose="02020603050405020304" pitchFamily="18" charset="0"/>
                <a:cs typeface="Times New Roman" panose="02020603050405020304" pitchFamily="18" charset="0"/>
              </a:rPr>
              <a:t>ưu </a:t>
            </a:r>
            <a:r>
              <a:rPr lang="en-US" sz="2100">
                <a:latin typeface="Times New Roman" panose="02020603050405020304" pitchFamily="18" charset="0"/>
                <a:cs typeface="Times New Roman" panose="02020603050405020304" pitchFamily="18" charset="0"/>
              </a:rPr>
              <a:t>trữ tạm thời thông tin </a:t>
            </a:r>
            <a:r>
              <a:rPr lang="en-US" sz="2100" smtClean="0">
                <a:latin typeface="Times New Roman" panose="02020603050405020304" pitchFamily="18" charset="0"/>
                <a:cs typeface="Times New Roman" panose="02020603050405020304" pitchFamily="18" charset="0"/>
              </a:rPr>
              <a:t>số được quy định trong Luật Công nghệ thông tin, Luật số 67/2006/QH11.</a:t>
            </a:r>
          </a:p>
          <a:p>
            <a:pPr algn="just"/>
            <a:r>
              <a:rPr lang="en-US" sz="2100" smtClean="0">
                <a:latin typeface="Times New Roman" panose="02020603050405020304" pitchFamily="18" charset="0"/>
                <a:cs typeface="Times New Roman" panose="02020603050405020304" pitchFamily="18" charset="0"/>
              </a:rPr>
              <a:t>Chọn đáp án đúng và nêu căn cứ cho câu 2 và câu 3</a:t>
            </a:r>
          </a:p>
          <a:p>
            <a:pPr algn="just"/>
            <a:r>
              <a:rPr lang="en-US" sz="2100" b="1" smtClean="0">
                <a:latin typeface="Times New Roman" panose="02020603050405020304" pitchFamily="18" charset="0"/>
                <a:cs typeface="Times New Roman" panose="02020603050405020304" pitchFamily="18" charset="0"/>
              </a:rPr>
              <a:t>Câu 2</a:t>
            </a:r>
            <a:r>
              <a:rPr lang="en-US" sz="2100" smtClean="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Tài nguyên Internet là tập hợp tên và số thuộc quyền quản lý của Việt Nam, bao gồm:</a:t>
            </a:r>
            <a:r>
              <a:rPr lang="vi-VN" sz="2100" smtClean="0">
                <a:latin typeface="Times New Roman" panose="02020603050405020304" pitchFamily="18" charset="0"/>
                <a:cs typeface="Times New Roman" panose="02020603050405020304" pitchFamily="18" charset="0"/>
              </a:rPr>
              <a:t>:</a:t>
            </a:r>
            <a:endParaRPr lang="en-US" sz="2100">
              <a:latin typeface="Times New Roman" panose="02020603050405020304" pitchFamily="18" charset="0"/>
              <a:cs typeface="Times New Roman" panose="02020603050405020304" pitchFamily="18" charset="0"/>
            </a:endParaRPr>
          </a:p>
          <a:p>
            <a:pPr algn="just"/>
            <a:r>
              <a:rPr lang="en-US" sz="2100">
                <a:latin typeface="Times New Roman" panose="02020603050405020304" pitchFamily="18" charset="0"/>
                <a:cs typeface="Times New Roman" panose="02020603050405020304" pitchFamily="18" charset="0"/>
              </a:rPr>
              <a:t>1</a:t>
            </a:r>
            <a:r>
              <a:rPr lang="en-US" sz="2100" smtClean="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Tên miền quốc gia Việt Nam “.vn”, các tên miền khác liên quan đến quyền </a:t>
            </a:r>
            <a:r>
              <a:rPr lang="en-US" sz="2100">
                <a:latin typeface="Times New Roman" panose="02020603050405020304" pitchFamily="18" charset="0"/>
                <a:cs typeface="Times New Roman" panose="02020603050405020304" pitchFamily="18" charset="0"/>
              </a:rPr>
              <a:t>l</a:t>
            </a:r>
            <a:r>
              <a:rPr lang="vi-VN" sz="2100">
                <a:latin typeface="Times New Roman" panose="02020603050405020304" pitchFamily="18" charset="0"/>
                <a:cs typeface="Times New Roman" panose="02020603050405020304" pitchFamily="18" charset="0"/>
              </a:rPr>
              <a:t>ợi quốc gia Việt Nam; địa chỉ Internet, số hiệu mạng, các tên và số khác được các tổ chức quốc tế phân bổ cho Việt Nam thông qua Trung tâm Internet Việt Nam (VNNIC);</a:t>
            </a:r>
            <a:endParaRPr lang="en-US" sz="2100">
              <a:latin typeface="Times New Roman" panose="02020603050405020304" pitchFamily="18" charset="0"/>
              <a:cs typeface="Times New Roman" panose="02020603050405020304" pitchFamily="18" charset="0"/>
            </a:endParaRPr>
          </a:p>
          <a:p>
            <a:pPr algn="just"/>
            <a:r>
              <a:rPr lang="en-US" sz="2100">
                <a:latin typeface="Times New Roman" panose="02020603050405020304" pitchFamily="18" charset="0"/>
                <a:cs typeface="Times New Roman" panose="02020603050405020304" pitchFamily="18" charset="0"/>
              </a:rPr>
              <a:t>2</a:t>
            </a:r>
            <a:r>
              <a:rPr lang="en-US" sz="2100" smtClean="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Tên miền quốc tế, địa chỉ Internet, số hiệu mạng, tên và số khác được tổ chức quốc tế phân bổ cho tổ chức, cá nhân tại Việt </a:t>
            </a:r>
            <a:r>
              <a:rPr lang="vi-VN" sz="2100" smtClean="0">
                <a:latin typeface="Times New Roman" panose="02020603050405020304" pitchFamily="18" charset="0"/>
                <a:cs typeface="Times New Roman" panose="02020603050405020304" pitchFamily="18" charset="0"/>
              </a:rPr>
              <a:t>Nam</a:t>
            </a:r>
            <a:r>
              <a:rPr lang="en-US" sz="2100" smtClean="0">
                <a:latin typeface="Times New Roman" panose="02020603050405020304" pitchFamily="18" charset="0"/>
                <a:cs typeface="Times New Roman" panose="02020603050405020304" pitchFamily="18" charset="0"/>
              </a:rPr>
              <a:t>.</a:t>
            </a:r>
          </a:p>
          <a:p>
            <a:pPr algn="just"/>
            <a:r>
              <a:rPr lang="en-US" sz="2100" smtClean="0">
                <a:latin typeface="Times New Roman" panose="02020603050405020304" pitchFamily="18" charset="0"/>
                <a:cs typeface="Times New Roman" panose="02020603050405020304" pitchFamily="18" charset="0"/>
              </a:rPr>
              <a:t>a)  1 đúng, 2 sai		b) 1 sai, 2 đúng		c) 1 đúng, 2 đúng		d) 1 sai, 2 sai</a:t>
            </a:r>
          </a:p>
          <a:p>
            <a:pPr algn="just"/>
            <a:r>
              <a:rPr lang="en-US" sz="2100" b="1" smtClean="0">
                <a:latin typeface="Times New Roman" panose="02020603050405020304" pitchFamily="18" charset="0"/>
                <a:cs typeface="Times New Roman" panose="02020603050405020304" pitchFamily="18" charset="0"/>
              </a:rPr>
              <a:t>Câu 3</a:t>
            </a:r>
            <a:r>
              <a:rPr lang="en-US" sz="2100" smtClean="0">
                <a:latin typeface="Times New Roman" panose="02020603050405020304" pitchFamily="18" charset="0"/>
                <a:cs typeface="Times New Roman" panose="02020603050405020304" pitchFamily="18" charset="0"/>
              </a:rPr>
              <a:t> </a:t>
            </a:r>
            <a:r>
              <a:rPr lang="en-US" sz="2100">
                <a:latin typeface="Times New Roman" panose="02020603050405020304" pitchFamily="18" charset="0"/>
                <a:cs typeface="Times New Roman" panose="02020603050405020304" pitchFamily="18" charset="0"/>
              </a:rPr>
              <a:t>Tin nhắn rác bao gồm các loại sau:</a:t>
            </a:r>
          </a:p>
          <a:p>
            <a:pPr algn="just"/>
            <a:r>
              <a:rPr lang="en-US" sz="2100">
                <a:latin typeface="Times New Roman" panose="02020603050405020304" pitchFamily="18" charset="0"/>
                <a:cs typeface="Times New Roman" panose="02020603050405020304" pitchFamily="18" charset="0"/>
              </a:rPr>
              <a:t>1</a:t>
            </a:r>
            <a:r>
              <a:rPr lang="en-US" sz="2100" smtClean="0">
                <a:latin typeface="Times New Roman" panose="02020603050405020304" pitchFamily="18" charset="0"/>
                <a:cs typeface="Times New Roman" panose="02020603050405020304" pitchFamily="18" charset="0"/>
              </a:rPr>
              <a:t>) </a:t>
            </a:r>
            <a:r>
              <a:rPr lang="en-US" sz="2100">
                <a:latin typeface="Times New Roman" panose="02020603050405020304" pitchFamily="18" charset="0"/>
                <a:cs typeface="Times New Roman" panose="02020603050405020304" pitchFamily="18" charset="0"/>
              </a:rPr>
              <a:t>Tin nhắn quảng cáo mà không được sự đồng ý trước của Người sử dụng hoặc tin nhắn quảng cáo vi phạm các quy định về gửi tin nhắn quảng cáo tại Nghị định này;</a:t>
            </a:r>
          </a:p>
          <a:p>
            <a:pPr algn="just"/>
            <a:r>
              <a:rPr lang="en-US" sz="2100">
                <a:latin typeface="Times New Roman" panose="02020603050405020304" pitchFamily="18" charset="0"/>
                <a:cs typeface="Times New Roman" panose="02020603050405020304" pitchFamily="18" charset="0"/>
              </a:rPr>
              <a:t>2</a:t>
            </a:r>
            <a:r>
              <a:rPr lang="vi-VN" sz="2100" smtClean="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Tin nhắn vi phạm các nội dung bị cấm theo quy định tại Điều 9 Luật Giao dịch điện tử, Điều 12 Luật Công nghệ thông tin, Điều 12 Luật Viễn thông, Điều 8 Luật Quảng cáo, Điều 7 Luật An toàn thông tin mạng, Điều 8 Luật An ninh mạng</a:t>
            </a:r>
            <a:endParaRPr lang="en-US" sz="2100" smtClean="0">
              <a:latin typeface="Times New Roman" panose="02020603050405020304" pitchFamily="18" charset="0"/>
              <a:cs typeface="Times New Roman" panose="02020603050405020304" pitchFamily="18" charset="0"/>
            </a:endParaRPr>
          </a:p>
          <a:p>
            <a:r>
              <a:rPr lang="en-US" sz="2100" smtClean="0">
                <a:latin typeface="Times New Roman" panose="02020603050405020304" pitchFamily="18" charset="0"/>
                <a:cs typeface="Times New Roman" panose="02020603050405020304" pitchFamily="18" charset="0"/>
              </a:rPr>
              <a:t>a) 1 đúng, 2 sai		b) 1 sai, 2 đúng		c) 1 đúng, 2 đúng		d) 1 sai, 2 sai</a:t>
            </a:r>
          </a:p>
          <a:p>
            <a:pPr marL="0" lvl="1" algn="just">
              <a:defRPr/>
            </a:pPr>
            <a:r>
              <a:rPr lang="en-US" sz="2100" b="1" smtClean="0">
                <a:latin typeface="Times New Roman" panose="02020603050405020304" pitchFamily="18" charset="0"/>
                <a:cs typeface="Times New Roman" panose="02020603050405020304" pitchFamily="18" charset="0"/>
              </a:rPr>
              <a:t>Câu 4</a:t>
            </a:r>
            <a:r>
              <a:rPr lang="en-US" sz="2100" smtClean="0">
                <a:latin typeface="Times New Roman" panose="02020603050405020304" pitchFamily="18" charset="0"/>
                <a:cs typeface="Times New Roman" panose="02020603050405020304" pitchFamily="18" charset="0"/>
              </a:rPr>
              <a:t>. </a:t>
            </a:r>
            <a:r>
              <a:rPr lang="en-US" altLang="en-US" sz="2100">
                <a:latin typeface="Times New Roman" panose="02020603050405020304" pitchFamily="18" charset="0"/>
                <a:cs typeface="Times New Roman" panose="02020603050405020304" pitchFamily="18" charset="0"/>
              </a:rPr>
              <a:t>A. vào hệ thống mạng máy tính của công ty B.</a:t>
            </a:r>
          </a:p>
          <a:p>
            <a:pPr marL="0" lvl="1" algn="just">
              <a:defRPr/>
            </a:pPr>
            <a:r>
              <a:rPr lang="en-US" altLang="en-US" sz="2100">
                <a:latin typeface="Times New Roman" panose="02020603050405020304" pitchFamily="18" charset="0"/>
                <a:cs typeface="Times New Roman" panose="02020603050405020304" pitchFamily="18" charset="0"/>
              </a:rPr>
              <a:t>Mấy ngày sau,  C. nhân viên IT của công ty B. phát hiện phần mềm quản lý nhân sự của công ty B. bị biến dạng chức năng.</a:t>
            </a:r>
          </a:p>
          <a:p>
            <a:pPr marL="0" lvl="1" algn="just">
              <a:defRPr/>
            </a:pPr>
            <a:r>
              <a:rPr lang="en-US" altLang="en-US" sz="2100">
                <a:latin typeface="Times New Roman" panose="02020603050405020304" pitchFamily="18" charset="0"/>
                <a:cs typeface="Times New Roman" panose="02020603050405020304" pitchFamily="18" charset="0"/>
              </a:rPr>
              <a:t>Bạn hãy phân tích, và đưa ra kết luận. Nếu vi phạm bị xử phạt vi phạm hành chính như thế nào?</a:t>
            </a:r>
          </a:p>
        </p:txBody>
      </p:sp>
    </p:spTree>
    <p:extLst>
      <p:ext uri="{BB962C8B-B14F-4D97-AF65-F5344CB8AC3E}">
        <p14:creationId xmlns:p14="http://schemas.microsoft.com/office/powerpoint/2010/main" val="33180749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270</Words>
  <Application>Microsoft Office PowerPoint</Application>
  <PresentationFormat>Widescreen</PresentationFormat>
  <Paragraphs>26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13</cp:revision>
  <dcterms:created xsi:type="dcterms:W3CDTF">2019-10-15T03:40:13Z</dcterms:created>
  <dcterms:modified xsi:type="dcterms:W3CDTF">2020-10-16T00:33:01Z</dcterms:modified>
</cp:coreProperties>
</file>