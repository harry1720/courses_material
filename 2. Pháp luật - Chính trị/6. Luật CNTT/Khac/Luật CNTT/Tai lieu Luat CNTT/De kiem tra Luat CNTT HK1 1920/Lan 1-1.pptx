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9/24/2019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Câu</a:t>
            </a:r>
            <a:r>
              <a:rPr lang="en-US" baseline="0" smtClean="0"/>
              <a:t> 2:</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Điều 42. Vi phạm các quy định về đăng ký, cung cấp tên miền Internet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2. Phạt tiền từ 10.000.000 đồng đến 20.000.000 đồng đối với hành vi cung cấp dịch vụ đăng ký, duy trì tên miền cho tổ chức, cá nhân nhưng không bảo đảm lưu giữ thông tin đầy đủ hoặc thiếu hoặc không chính xác theo quy định</a:t>
            </a:r>
            <a:endParaRPr lang="en-US"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Điều </a:t>
            </a:r>
            <a:r>
              <a:rPr lang="en-US" sz="1200" b="1" kern="1200" smtClean="0">
                <a:solidFill>
                  <a:schemeClr val="tx1"/>
                </a:solidFill>
                <a:effectLst/>
                <a:latin typeface="+mn-lt"/>
                <a:ea typeface="+mn-ea"/>
                <a:cs typeface="+mn-cs"/>
              </a:rPr>
              <a:t>64. Vi phạm quy định về trang thông tin điện tử, trang thông tin điện tử tổng hợp</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20.000.000 đồng đến 30.000.000 đồng đối với một trong các hành vi sau đây:</a:t>
            </a:r>
          </a:p>
          <a:p>
            <a:r>
              <a:rPr lang="en-US" sz="1200" kern="1200" smtClean="0">
                <a:solidFill>
                  <a:schemeClr val="tx1"/>
                </a:solidFill>
                <a:effectLst/>
                <a:latin typeface="+mn-lt"/>
                <a:ea typeface="+mn-ea"/>
                <a:cs typeface="+mn-cs"/>
              </a:rPr>
              <a:t>đ)Giả mạo trang thông tin điện tử của tổ chức, cá nhân khác;</a:t>
            </a:r>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9/24/2019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9/24/2019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9/24/2019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9/24/2019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5262979"/>
          </a:xfrm>
          <a:prstGeom prst="rect">
            <a:avLst/>
          </a:prstGeom>
          <a:noFill/>
        </p:spPr>
        <p:txBody>
          <a:bodyPr wrap="square" rtlCol="0">
            <a:spAutoFit/>
          </a:bodyPr>
          <a:lstStyle/>
          <a:p>
            <a:pPr algn="just"/>
            <a:r>
              <a:rPr lang="en-US" sz="2400" b="1">
                <a:latin typeface="Times New Roman" panose="02020603050405020304" pitchFamily="18" charset="0"/>
                <a:cs typeface="Times New Roman" panose="02020603050405020304" pitchFamily="18" charset="0"/>
              </a:rPr>
              <a:t>Câu 1 </a:t>
            </a:r>
            <a:r>
              <a:rPr lang="en-US" sz="2400">
                <a:latin typeface="Times New Roman" panose="02020603050405020304" pitchFamily="18" charset="0"/>
                <a:cs typeface="Times New Roman" panose="02020603050405020304" pitchFamily="18" charset="0"/>
              </a:rPr>
              <a:t>Trình bày </a:t>
            </a:r>
            <a:r>
              <a:rPr lang="en-US" sz="2400">
                <a:latin typeface="Times New Roman" panose="02020603050405020304" pitchFamily="18" charset="0"/>
                <a:cs typeface="Times New Roman" panose="02020603050405020304" pitchFamily="18" charset="0"/>
              </a:rPr>
              <a:t>q</a:t>
            </a:r>
            <a:r>
              <a:rPr lang="en-US" sz="2400" smtClean="0">
                <a:latin typeface="Times New Roman" panose="02020603050405020304" pitchFamily="18" charset="0"/>
                <a:cs typeface="Times New Roman" panose="02020603050405020304" pitchFamily="18" charset="0"/>
              </a:rPr>
              <a:t>uản </a:t>
            </a:r>
            <a:r>
              <a:rPr lang="en-US" sz="2400">
                <a:latin typeface="Times New Roman" panose="02020603050405020304" pitchFamily="18" charset="0"/>
                <a:cs typeface="Times New Roman" panose="02020603050405020304" pitchFamily="18" charset="0"/>
              </a:rPr>
              <a:t>lý và sử dụng thông tin số</a:t>
            </a:r>
            <a:r>
              <a:rPr lang="en-US" sz="2400" smtClean="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được quy định trong Luật Công nghệ thông tin số 67/2006/QH11? </a:t>
            </a:r>
          </a:p>
          <a:p>
            <a:pPr algn="just"/>
            <a:r>
              <a:rPr lang="en-US" sz="2400" b="1">
                <a:latin typeface="Times New Roman" panose="02020603050405020304" pitchFamily="18" charset="0"/>
                <a:cs typeface="Times New Roman" panose="02020603050405020304" pitchFamily="18" charset="0"/>
              </a:rPr>
              <a:t>Câu 2 </a:t>
            </a:r>
            <a:r>
              <a:rPr lang="en-US" sz="2400" smtClean="0">
                <a:latin typeface="Times New Roman" panose="02020603050405020304" pitchFamily="18" charset="0"/>
                <a:cs typeface="Times New Roman" panose="02020603050405020304" pitchFamily="18" charset="0"/>
              </a:rPr>
              <a:t>Nhà đăng ký tên miền </a:t>
            </a:r>
            <a:r>
              <a:rPr lang="en-US" sz="2400" smtClean="0">
                <a:latin typeface="Times New Roman" panose="02020603050405020304" pitchFamily="18" charset="0"/>
                <a:cs typeface="Times New Roman" panose="02020603050405020304" pitchFamily="18" charset="0"/>
              </a:rPr>
              <a:t>có </a:t>
            </a:r>
            <a:r>
              <a:rPr lang="en-US" sz="2400" smtClean="0">
                <a:latin typeface="Times New Roman" panose="02020603050405020304" pitchFamily="18" charset="0"/>
                <a:cs typeface="Times New Roman" panose="02020603050405020304" pitchFamily="18" charset="0"/>
              </a:rPr>
              <a:t>hành </a:t>
            </a:r>
            <a:r>
              <a:rPr lang="en-US" sz="2400">
                <a:latin typeface="Times New Roman" panose="02020603050405020304" pitchFamily="18" charset="0"/>
                <a:cs typeface="Times New Roman" panose="02020603050405020304" pitchFamily="18" charset="0"/>
              </a:rPr>
              <a:t>vi cung cấp dịch vụ đăng ký, duy trì tên miền cho tổ chức, cá nhân nhưng không bảo đảm lưu giữ thông tin đầy đủ hoặc thiếu hoặc không chính xác theo </a:t>
            </a:r>
            <a:r>
              <a:rPr lang="en-US" sz="2400">
                <a:latin typeface="Times New Roman" panose="02020603050405020304" pitchFamily="18" charset="0"/>
                <a:cs typeface="Times New Roman" panose="02020603050405020304" pitchFamily="18" charset="0"/>
              </a:rPr>
              <a:t>quy </a:t>
            </a:r>
            <a:r>
              <a:rPr lang="en-US" sz="2400" smtClean="0">
                <a:latin typeface="Times New Roman" panose="02020603050405020304" pitchFamily="18" charset="0"/>
                <a:cs typeface="Times New Roman" panose="02020603050405020304" pitchFamily="18" charset="0"/>
              </a:rPr>
              <a:t>định bị phạt tối đa bao nhiêu tiền</a:t>
            </a:r>
            <a:r>
              <a:rPr lang="en-US" sz="2400" smtClean="0">
                <a:latin typeface="Times New Roman" panose="02020603050405020304" pitchFamily="18" charset="0"/>
                <a:cs typeface="Times New Roman" panose="02020603050405020304" pitchFamily="18" charset="0"/>
              </a:rPr>
              <a:t> (Chọn đáp án, nêu cơ sở pháp lý)</a:t>
            </a:r>
            <a:endParaRPr lang="en-US" sz="2400" smtClean="0">
              <a:latin typeface="Times New Roman" panose="02020603050405020304" pitchFamily="18" charset="0"/>
              <a:cs typeface="Times New Roman" panose="02020603050405020304" pitchFamily="18" charset="0"/>
            </a:endParaRPr>
          </a:p>
          <a:p>
            <a:pPr algn="just"/>
            <a:r>
              <a:rPr lang="en-US" sz="2400" smtClean="0">
                <a:latin typeface="Times New Roman" panose="02020603050405020304" pitchFamily="18" charset="0"/>
                <a:cs typeface="Times New Roman" panose="02020603050405020304" pitchFamily="18" charset="0"/>
              </a:rPr>
              <a:t>a. </a:t>
            </a:r>
            <a:r>
              <a:rPr lang="en-US" sz="2400" smtClean="0">
                <a:latin typeface="Times New Roman" panose="02020603050405020304" pitchFamily="18" charset="0"/>
                <a:cs typeface="Times New Roman" panose="02020603050405020304" pitchFamily="18" charset="0"/>
              </a:rPr>
              <a:t>10</a:t>
            </a:r>
            <a:r>
              <a:rPr lang="en-US" sz="2400"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000 000 đồng		b. </a:t>
            </a:r>
            <a:r>
              <a:rPr lang="en-US" sz="2400" smtClean="0">
                <a:latin typeface="Times New Roman" panose="02020603050405020304" pitchFamily="18" charset="0"/>
                <a:cs typeface="Times New Roman" panose="02020603050405020304" pitchFamily="18" charset="0"/>
              </a:rPr>
              <a:t>20 </a:t>
            </a:r>
            <a:r>
              <a:rPr lang="en-US" sz="2400" smtClean="0">
                <a:latin typeface="Times New Roman" panose="02020603050405020304" pitchFamily="18" charset="0"/>
                <a:cs typeface="Times New Roman" panose="02020603050405020304" pitchFamily="18" charset="0"/>
              </a:rPr>
              <a:t>000 000 đồng		c. </a:t>
            </a:r>
            <a:r>
              <a:rPr lang="en-US" sz="2400" smtClean="0">
                <a:latin typeface="Times New Roman" panose="02020603050405020304" pitchFamily="18" charset="0"/>
                <a:cs typeface="Times New Roman" panose="02020603050405020304" pitchFamily="18" charset="0"/>
              </a:rPr>
              <a:t>30</a:t>
            </a:r>
            <a:r>
              <a:rPr lang="en-US" sz="2400"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000 000 đồng</a:t>
            </a:r>
          </a:p>
          <a:p>
            <a:pPr algn="just"/>
            <a:r>
              <a:rPr lang="en-US" sz="2400" b="1" smtClean="0">
                <a:latin typeface="Times New Roman" panose="02020603050405020304" pitchFamily="18" charset="0"/>
                <a:cs typeface="Times New Roman" panose="02020603050405020304" pitchFamily="18" charset="0"/>
              </a:rPr>
              <a:t>Câu 3 </a:t>
            </a:r>
            <a:r>
              <a:rPr lang="en-US" sz="2400" smtClean="0">
                <a:latin typeface="Times New Roman" panose="02020603050405020304" pitchFamily="18" charset="0"/>
                <a:cs typeface="Times New Roman" panose="02020603050405020304" pitchFamily="18" charset="0"/>
              </a:rPr>
              <a:t>Cá nhân có hành vi </a:t>
            </a:r>
            <a:r>
              <a:rPr lang="en-US" sz="2400">
                <a:latin typeface="Times New Roman" panose="02020603050405020304" pitchFamily="18" charset="0"/>
                <a:cs typeface="Times New Roman" panose="02020603050405020304" pitchFamily="18" charset="0"/>
              </a:rPr>
              <a:t>g</a:t>
            </a:r>
            <a:r>
              <a:rPr lang="en-US" sz="2400" smtClean="0">
                <a:latin typeface="Times New Roman" panose="02020603050405020304" pitchFamily="18" charset="0"/>
                <a:cs typeface="Times New Roman" panose="02020603050405020304" pitchFamily="18" charset="0"/>
              </a:rPr>
              <a:t>iả </a:t>
            </a:r>
            <a:r>
              <a:rPr lang="en-US" sz="2400">
                <a:latin typeface="Times New Roman" panose="02020603050405020304" pitchFamily="18" charset="0"/>
                <a:cs typeface="Times New Roman" panose="02020603050405020304" pitchFamily="18" charset="0"/>
              </a:rPr>
              <a:t>mạo trang thông tin điện tử của tổ chức, cá </a:t>
            </a:r>
            <a:r>
              <a:rPr lang="en-US" sz="2400">
                <a:latin typeface="Times New Roman" panose="02020603050405020304" pitchFamily="18" charset="0"/>
                <a:cs typeface="Times New Roman" panose="02020603050405020304" pitchFamily="18" charset="0"/>
              </a:rPr>
              <a:t>nhân </a:t>
            </a:r>
            <a:r>
              <a:rPr lang="en-US" sz="2400" smtClean="0">
                <a:latin typeface="Times New Roman" panose="02020603050405020304" pitchFamily="18" charset="0"/>
                <a:cs typeface="Times New Roman" panose="02020603050405020304" pitchFamily="18" charset="0"/>
              </a:rPr>
              <a:t>khác </a:t>
            </a:r>
            <a:r>
              <a:rPr lang="en-US" sz="2400">
                <a:latin typeface="Times New Roman" panose="02020603050405020304" pitchFamily="18" charset="0"/>
                <a:cs typeface="Times New Roman" panose="02020603050405020304" pitchFamily="18" charset="0"/>
              </a:rPr>
              <a:t>bị phạt tối đa bao nhiêu </a:t>
            </a:r>
            <a:r>
              <a:rPr lang="en-US" sz="2400">
                <a:latin typeface="Times New Roman" panose="02020603050405020304" pitchFamily="18" charset="0"/>
                <a:cs typeface="Times New Roman" panose="02020603050405020304" pitchFamily="18" charset="0"/>
              </a:rPr>
              <a:t>tiền </a:t>
            </a:r>
            <a:r>
              <a:rPr lang="en-US" sz="2400" smtClean="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(Chọn đáp án, nêu cơ sở pháp </a:t>
            </a:r>
            <a:r>
              <a:rPr lang="en-US" sz="2400">
                <a:latin typeface="Times New Roman" panose="02020603050405020304" pitchFamily="18" charset="0"/>
                <a:cs typeface="Times New Roman" panose="02020603050405020304" pitchFamily="18" charset="0"/>
              </a:rPr>
              <a:t>lý</a:t>
            </a:r>
            <a:r>
              <a:rPr lang="en-US" sz="2400" smtClean="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 </a:t>
            </a:r>
            <a:r>
              <a:rPr lang="en-US" sz="2400" smtClean="0">
                <a:latin typeface="Times New Roman" panose="02020603050405020304" pitchFamily="18" charset="0"/>
                <a:cs typeface="Times New Roman" panose="02020603050405020304" pitchFamily="18" charset="0"/>
              </a:rPr>
              <a:t>10 </a:t>
            </a:r>
            <a:r>
              <a:rPr lang="en-US" sz="2400">
                <a:latin typeface="Times New Roman" panose="02020603050405020304" pitchFamily="18" charset="0"/>
                <a:cs typeface="Times New Roman" panose="02020603050405020304" pitchFamily="18" charset="0"/>
              </a:rPr>
              <a:t>000 000 đồng		b. </a:t>
            </a:r>
            <a:r>
              <a:rPr lang="en-US" sz="2400" smtClean="0">
                <a:latin typeface="Times New Roman" panose="02020603050405020304" pitchFamily="18" charset="0"/>
                <a:cs typeface="Times New Roman" panose="02020603050405020304" pitchFamily="18" charset="0"/>
              </a:rPr>
              <a:t>15 </a:t>
            </a:r>
            <a:r>
              <a:rPr lang="en-US" sz="2400">
                <a:latin typeface="Times New Roman" panose="02020603050405020304" pitchFamily="18" charset="0"/>
                <a:cs typeface="Times New Roman" panose="02020603050405020304" pitchFamily="18" charset="0"/>
              </a:rPr>
              <a:t>000 000 đồng		c. </a:t>
            </a:r>
            <a:r>
              <a:rPr lang="en-US" sz="2400" smtClean="0">
                <a:latin typeface="Times New Roman" panose="02020603050405020304" pitchFamily="18" charset="0"/>
                <a:cs typeface="Times New Roman" panose="02020603050405020304" pitchFamily="18" charset="0"/>
              </a:rPr>
              <a:t>20 </a:t>
            </a:r>
            <a:r>
              <a:rPr lang="en-US" sz="2400">
                <a:latin typeface="Times New Roman" panose="02020603050405020304" pitchFamily="18" charset="0"/>
                <a:cs typeface="Times New Roman" panose="02020603050405020304" pitchFamily="18" charset="0"/>
              </a:rPr>
              <a:t>000 000 </a:t>
            </a:r>
            <a:r>
              <a:rPr lang="en-US" sz="2400" smtClean="0">
                <a:latin typeface="Times New Roman" panose="02020603050405020304" pitchFamily="18" charset="0"/>
                <a:cs typeface="Times New Roman" panose="02020603050405020304" pitchFamily="18" charset="0"/>
              </a:rPr>
              <a:t>đồng</a:t>
            </a:r>
            <a:r>
              <a:rPr lang="en-US" sz="2400">
                <a:latin typeface="Times New Roman" panose="02020603050405020304" pitchFamily="18" charset="0"/>
                <a:cs typeface="Times New Roman" panose="02020603050405020304" pitchFamily="18" charset="0"/>
              </a:rPr>
              <a:t> </a:t>
            </a:r>
          </a:p>
          <a:p>
            <a:pPr algn="just"/>
            <a:r>
              <a:rPr lang="en-US" sz="2400" b="1">
                <a:latin typeface="Times New Roman" panose="02020603050405020304" pitchFamily="18" charset="0"/>
                <a:cs typeface="Times New Roman" panose="02020603050405020304" pitchFamily="18" charset="0"/>
              </a:rPr>
              <a:t>Câu 4 </a:t>
            </a:r>
            <a:r>
              <a:rPr lang="en-US" sz="2400">
                <a:latin typeface="Times New Roman" panose="02020603050405020304" pitchFamily="18" charset="0"/>
                <a:cs typeface="Times New Roman" panose="02020603050405020304" pitchFamily="18" charset="0"/>
              </a:rPr>
              <a:t>Ông A. đã viết một ch</a:t>
            </a:r>
            <a:r>
              <a:rPr lang="vi-VN" sz="2400">
                <a:latin typeface="Times New Roman" panose="02020603050405020304" pitchFamily="18" charset="0"/>
                <a:cs typeface="Times New Roman" panose="02020603050405020304" pitchFamily="18" charset="0"/>
              </a:rPr>
              <a:t>ươ</a:t>
            </a:r>
            <a:r>
              <a:rPr lang="en-US" sz="2400">
                <a:latin typeface="Times New Roman" panose="02020603050405020304" pitchFamily="18" charset="0"/>
                <a:cs typeface="Times New Roman" panose="02020603050405020304" pitchFamily="18" charset="0"/>
              </a:rPr>
              <a:t>ng trình máy tính để xâm nhập vào hệ thống thiết bị của một tổ chức cung cấp dịch vụ chứng thực chữ ký số B.. Hệ thống này không hoạt động bình th</a:t>
            </a:r>
            <a:r>
              <a:rPr lang="vi-VN" sz="2400">
                <a:latin typeface="Times New Roman" panose="02020603050405020304" pitchFamily="18" charset="0"/>
                <a:cs typeface="Times New Roman" panose="02020603050405020304" pitchFamily="18" charset="0"/>
              </a:rPr>
              <a:t>ường</a:t>
            </a:r>
            <a:r>
              <a:rPr lang="en-US" sz="2400">
                <a:latin typeface="Times New Roman" panose="02020603050405020304" pitchFamily="18" charset="0"/>
                <a:cs typeface="Times New Roman" panose="02020603050405020304" pitchFamily="18" charset="0"/>
              </a:rPr>
              <a:t> khoảng 2 giờ.</a:t>
            </a:r>
          </a:p>
          <a:p>
            <a:pPr algn="just"/>
            <a:r>
              <a:rPr lang="en-US" sz="2400">
                <a:latin typeface="Times New Roman" panose="02020603050405020304" pitchFamily="18" charset="0"/>
                <a:cs typeface="Times New Roman" panose="02020603050405020304" pitchFamily="18" charset="0"/>
              </a:rPr>
              <a:t>Hãy phân tích và trên cơ sở các quy định đã học kết luận ông A. có vi phạm không? Nếu có ông A. bị xử phạt vi phạm hành chính nh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 thế nào?</a:t>
            </a:r>
            <a:endParaRPr lang="en-US" sz="240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221</Words>
  <Application>Microsoft Office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29</cp:revision>
  <dcterms:created xsi:type="dcterms:W3CDTF">2019-03-15T02:10:08Z</dcterms:created>
  <dcterms:modified xsi:type="dcterms:W3CDTF">2019-09-24T07:44:52Z</dcterms:modified>
</cp:coreProperties>
</file>