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499AC67-9928-4594-BDD7-83F06D772091}" type="datetimeFigureOut">
              <a:rPr lang="en-US" smtClean="0"/>
              <a:t>10/11/2022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4B76EB-A28B-4619-93E7-89E16D1B658B}" type="slidenum">
              <a:rPr lang="en-US" smtClean="0"/>
              <a:t>‹#›</a:t>
            </a:fld>
            <a:endParaRPr lang="en-US"/>
          </a:p>
        </p:txBody>
      </p:sp>
    </p:spTree>
    <p:extLst>
      <p:ext uri="{BB962C8B-B14F-4D97-AF65-F5344CB8AC3E}">
        <p14:creationId xmlns:p14="http://schemas.microsoft.com/office/powerpoint/2010/main" val="505143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499AC67-9928-4594-BDD7-83F06D772091}" type="datetimeFigureOut">
              <a:rPr lang="en-US" smtClean="0"/>
              <a:t>10/11/2022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4B76EB-A28B-4619-93E7-89E16D1B658B}" type="slidenum">
              <a:rPr lang="en-US" smtClean="0"/>
              <a:t>‹#›</a:t>
            </a:fld>
            <a:endParaRPr lang="en-US"/>
          </a:p>
        </p:txBody>
      </p:sp>
    </p:spTree>
    <p:extLst>
      <p:ext uri="{BB962C8B-B14F-4D97-AF65-F5344CB8AC3E}">
        <p14:creationId xmlns:p14="http://schemas.microsoft.com/office/powerpoint/2010/main" val="253183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499AC67-9928-4594-BDD7-83F06D772091}" type="datetimeFigureOut">
              <a:rPr lang="en-US" smtClean="0"/>
              <a:t>10/11/2022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4B76EB-A28B-4619-93E7-89E16D1B658B}" type="slidenum">
              <a:rPr lang="en-US" smtClean="0"/>
              <a:t>‹#›</a:t>
            </a:fld>
            <a:endParaRPr lang="en-US"/>
          </a:p>
        </p:txBody>
      </p:sp>
    </p:spTree>
    <p:extLst>
      <p:ext uri="{BB962C8B-B14F-4D97-AF65-F5344CB8AC3E}">
        <p14:creationId xmlns:p14="http://schemas.microsoft.com/office/powerpoint/2010/main" val="3290831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499AC67-9928-4594-BDD7-83F06D772091}" type="datetimeFigureOut">
              <a:rPr lang="en-US" smtClean="0"/>
              <a:t>10/11/2022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4B76EB-A28B-4619-93E7-89E16D1B658B}" type="slidenum">
              <a:rPr lang="en-US" smtClean="0"/>
              <a:t>‹#›</a:t>
            </a:fld>
            <a:endParaRPr lang="en-US"/>
          </a:p>
        </p:txBody>
      </p:sp>
    </p:spTree>
    <p:extLst>
      <p:ext uri="{BB962C8B-B14F-4D97-AF65-F5344CB8AC3E}">
        <p14:creationId xmlns:p14="http://schemas.microsoft.com/office/powerpoint/2010/main" val="436034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499AC67-9928-4594-BDD7-83F06D772091}" type="datetimeFigureOut">
              <a:rPr lang="en-US" smtClean="0"/>
              <a:t>10/11/2022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4B76EB-A28B-4619-93E7-89E16D1B658B}" type="slidenum">
              <a:rPr lang="en-US" smtClean="0"/>
              <a:t>‹#›</a:t>
            </a:fld>
            <a:endParaRPr lang="en-US"/>
          </a:p>
        </p:txBody>
      </p:sp>
    </p:spTree>
    <p:extLst>
      <p:ext uri="{BB962C8B-B14F-4D97-AF65-F5344CB8AC3E}">
        <p14:creationId xmlns:p14="http://schemas.microsoft.com/office/powerpoint/2010/main" val="3484089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499AC67-9928-4594-BDD7-83F06D772091}" type="datetimeFigureOut">
              <a:rPr lang="en-US" smtClean="0"/>
              <a:t>10/11/2022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4B76EB-A28B-4619-93E7-89E16D1B658B}" type="slidenum">
              <a:rPr lang="en-US" smtClean="0"/>
              <a:t>‹#›</a:t>
            </a:fld>
            <a:endParaRPr lang="en-US"/>
          </a:p>
        </p:txBody>
      </p:sp>
    </p:spTree>
    <p:extLst>
      <p:ext uri="{BB962C8B-B14F-4D97-AF65-F5344CB8AC3E}">
        <p14:creationId xmlns:p14="http://schemas.microsoft.com/office/powerpoint/2010/main" val="1821554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99AC67-9928-4594-BDD7-83F06D772091}" type="datetimeFigureOut">
              <a:rPr lang="en-US" smtClean="0"/>
              <a:t>10/11/2022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4B76EB-A28B-4619-93E7-89E16D1B658B}" type="slidenum">
              <a:rPr lang="en-US" smtClean="0"/>
              <a:t>‹#›</a:t>
            </a:fld>
            <a:endParaRPr lang="en-US"/>
          </a:p>
        </p:txBody>
      </p:sp>
    </p:spTree>
    <p:extLst>
      <p:ext uri="{BB962C8B-B14F-4D97-AF65-F5344CB8AC3E}">
        <p14:creationId xmlns:p14="http://schemas.microsoft.com/office/powerpoint/2010/main" val="3381459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99AC67-9928-4594-BDD7-83F06D772091}" type="datetimeFigureOut">
              <a:rPr lang="en-US" smtClean="0"/>
              <a:t>10/11/2022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4B76EB-A28B-4619-93E7-89E16D1B658B}" type="slidenum">
              <a:rPr lang="en-US" smtClean="0"/>
              <a:t>‹#›</a:t>
            </a:fld>
            <a:endParaRPr lang="en-US"/>
          </a:p>
        </p:txBody>
      </p:sp>
    </p:spTree>
    <p:extLst>
      <p:ext uri="{BB962C8B-B14F-4D97-AF65-F5344CB8AC3E}">
        <p14:creationId xmlns:p14="http://schemas.microsoft.com/office/powerpoint/2010/main" val="2940117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99AC67-9928-4594-BDD7-83F06D772091}" type="datetimeFigureOut">
              <a:rPr lang="en-US" smtClean="0"/>
              <a:t>10/11/2022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4B76EB-A28B-4619-93E7-89E16D1B658B}" type="slidenum">
              <a:rPr lang="en-US" smtClean="0"/>
              <a:t>‹#›</a:t>
            </a:fld>
            <a:endParaRPr lang="en-US"/>
          </a:p>
        </p:txBody>
      </p:sp>
    </p:spTree>
    <p:extLst>
      <p:ext uri="{BB962C8B-B14F-4D97-AF65-F5344CB8AC3E}">
        <p14:creationId xmlns:p14="http://schemas.microsoft.com/office/powerpoint/2010/main" val="4242337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499AC67-9928-4594-BDD7-83F06D772091}" type="datetimeFigureOut">
              <a:rPr lang="en-US" smtClean="0"/>
              <a:t>10/11/2022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4B76EB-A28B-4619-93E7-89E16D1B658B}" type="slidenum">
              <a:rPr lang="en-US" smtClean="0"/>
              <a:t>‹#›</a:t>
            </a:fld>
            <a:endParaRPr lang="en-US"/>
          </a:p>
        </p:txBody>
      </p:sp>
    </p:spTree>
    <p:extLst>
      <p:ext uri="{BB962C8B-B14F-4D97-AF65-F5344CB8AC3E}">
        <p14:creationId xmlns:p14="http://schemas.microsoft.com/office/powerpoint/2010/main" val="2768520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499AC67-9928-4594-BDD7-83F06D772091}" type="datetimeFigureOut">
              <a:rPr lang="en-US" smtClean="0"/>
              <a:t>10/11/2022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4B76EB-A28B-4619-93E7-89E16D1B658B}" type="slidenum">
              <a:rPr lang="en-US" smtClean="0"/>
              <a:t>‹#›</a:t>
            </a:fld>
            <a:endParaRPr lang="en-US"/>
          </a:p>
        </p:txBody>
      </p:sp>
    </p:spTree>
    <p:extLst>
      <p:ext uri="{BB962C8B-B14F-4D97-AF65-F5344CB8AC3E}">
        <p14:creationId xmlns:p14="http://schemas.microsoft.com/office/powerpoint/2010/main" val="3045383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99AC67-9928-4594-BDD7-83F06D772091}" type="datetimeFigureOut">
              <a:rPr lang="en-US" smtClean="0"/>
              <a:t>10/11/2022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4B76EB-A28B-4619-93E7-89E16D1B658B}" type="slidenum">
              <a:rPr lang="en-US" smtClean="0"/>
              <a:t>‹#›</a:t>
            </a:fld>
            <a:endParaRPr lang="en-US"/>
          </a:p>
        </p:txBody>
      </p:sp>
    </p:spTree>
    <p:extLst>
      <p:ext uri="{BB962C8B-B14F-4D97-AF65-F5344CB8AC3E}">
        <p14:creationId xmlns:p14="http://schemas.microsoft.com/office/powerpoint/2010/main" val="28077324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5913157"/>
          </a:xfrm>
          <a:prstGeom prst="rect">
            <a:avLst/>
          </a:prstGeom>
          <a:noFill/>
        </p:spPr>
        <p:txBody>
          <a:bodyPr wrap="square" rtlCol="0">
            <a:spAutoFit/>
          </a:bodyPr>
          <a:lstStyle/>
          <a:p>
            <a:pPr algn="just">
              <a:lnSpc>
                <a:spcPct val="150000"/>
              </a:lnSpc>
            </a:pPr>
            <a:r>
              <a:rPr lang="en-US" sz="3200" b="1" smtClean="0">
                <a:latin typeface="Times New Roman" panose="02020603050405020304" pitchFamily="18" charset="0"/>
                <a:cs typeface="Times New Roman" panose="02020603050405020304" pitchFamily="18" charset="0"/>
              </a:rPr>
              <a:t>I. </a:t>
            </a:r>
            <a:r>
              <a:rPr lang="en-US" sz="3200" b="1">
                <a:latin typeface="Times New Roman" panose="02020603050405020304" pitchFamily="18" charset="0"/>
                <a:cs typeface="Times New Roman" panose="02020603050405020304" pitchFamily="18" charset="0"/>
              </a:rPr>
              <a:t>CƠ CẤU CỦA LUẬT:</a:t>
            </a:r>
            <a:endParaRPr lang="en-US" sz="3200">
              <a:latin typeface="Times New Roman" panose="02020603050405020304" pitchFamily="18" charset="0"/>
              <a:cs typeface="Times New Roman" panose="02020603050405020304" pitchFamily="18" charset="0"/>
            </a:endParaRPr>
          </a:p>
          <a:p>
            <a:pPr algn="just">
              <a:lnSpc>
                <a:spcPct val="150000"/>
              </a:lnSpc>
            </a:pPr>
            <a:r>
              <a:rPr lang="vi-VN" sz="3200">
                <a:latin typeface="Times New Roman" panose="02020603050405020304" pitchFamily="18" charset="0"/>
                <a:cs typeface="Times New Roman" panose="02020603050405020304" pitchFamily="18" charset="0"/>
              </a:rPr>
              <a:t>Luật Giao dịch điện tử gồm 8 chương, 54 điều.</a:t>
            </a:r>
            <a:endParaRPr lang="en-US" sz="3200">
              <a:latin typeface="Times New Roman" panose="02020603050405020304" pitchFamily="18" charset="0"/>
              <a:cs typeface="Times New Roman" panose="02020603050405020304" pitchFamily="18" charset="0"/>
            </a:endParaRPr>
          </a:p>
          <a:p>
            <a:pPr algn="just">
              <a:lnSpc>
                <a:spcPct val="150000"/>
              </a:lnSpc>
            </a:pPr>
            <a:r>
              <a:rPr lang="en-US" sz="3200">
                <a:latin typeface="Times New Roman" panose="02020603050405020304" pitchFamily="18" charset="0"/>
                <a:cs typeface="Times New Roman" panose="02020603050405020304" pitchFamily="18" charset="0"/>
              </a:rPr>
              <a:t>Chương I: Những quy định chung, gồm 9 điều, từ Điều 1 đến Điều 9;</a:t>
            </a:r>
          </a:p>
          <a:p>
            <a:pPr algn="just">
              <a:lnSpc>
                <a:spcPct val="150000"/>
              </a:lnSpc>
            </a:pPr>
            <a:r>
              <a:rPr lang="en-US" sz="3200">
                <a:latin typeface="Times New Roman" panose="02020603050405020304" pitchFamily="18" charset="0"/>
                <a:cs typeface="Times New Roman" panose="02020603050405020304" pitchFamily="18" charset="0"/>
              </a:rPr>
              <a:t>Chương II: Thông điệp dữ liệu, gồm 11 điều, từ Điều 10 đến Điều 20;</a:t>
            </a:r>
          </a:p>
          <a:p>
            <a:pPr algn="just">
              <a:lnSpc>
                <a:spcPct val="150000"/>
              </a:lnSpc>
            </a:pPr>
            <a:r>
              <a:rPr lang="en-US" sz="3200">
                <a:latin typeface="Times New Roman" panose="02020603050405020304" pitchFamily="18" charset="0"/>
                <a:cs typeface="Times New Roman" panose="02020603050405020304" pitchFamily="18" charset="0"/>
              </a:rPr>
              <a:t>Chương III: Chữ ký điện tử và chứng thực chữ ký điện tử, gồm 12 điều, từ Điều 21 đến Điều 32;</a:t>
            </a:r>
          </a:p>
          <a:p>
            <a:pPr algn="just">
              <a:lnSpc>
                <a:spcPct val="150000"/>
              </a:lnSpc>
            </a:pPr>
            <a:r>
              <a:rPr lang="en-US" sz="3200">
                <a:latin typeface="Times New Roman" panose="02020603050405020304" pitchFamily="18" charset="0"/>
                <a:cs typeface="Times New Roman" panose="02020603050405020304" pitchFamily="18" charset="0"/>
              </a:rPr>
              <a:t>Chương IV: Giao kết và thực hiện hợp đồng điện tử, gồm 6 điều, từ Điều 33 đến Điều 38;</a:t>
            </a:r>
          </a:p>
        </p:txBody>
      </p:sp>
    </p:spTree>
    <p:extLst>
      <p:ext uri="{BB962C8B-B14F-4D97-AF65-F5344CB8AC3E}">
        <p14:creationId xmlns:p14="http://schemas.microsoft.com/office/powerpoint/2010/main" val="111955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5174493"/>
          </a:xfrm>
          <a:prstGeom prst="rect">
            <a:avLst/>
          </a:prstGeom>
          <a:noFill/>
        </p:spPr>
        <p:txBody>
          <a:bodyPr wrap="square" rtlCol="0">
            <a:spAutoFit/>
          </a:bodyPr>
          <a:lstStyle/>
          <a:p>
            <a:pPr algn="just">
              <a:lnSpc>
                <a:spcPct val="150000"/>
              </a:lnSpc>
            </a:pPr>
            <a:r>
              <a:rPr lang="en-US" sz="3200">
                <a:latin typeface="Times New Roman" panose="02020603050405020304" pitchFamily="18" charset="0"/>
                <a:cs typeface="Times New Roman" panose="02020603050405020304" pitchFamily="18" charset="0"/>
              </a:rPr>
              <a:t>Chương V: Giao dịch điện tử của cơ quan nhà nước, gồm 5 điều, từ Điều 39 đến Điều 43;</a:t>
            </a:r>
          </a:p>
          <a:p>
            <a:pPr algn="just">
              <a:lnSpc>
                <a:spcPct val="150000"/>
              </a:lnSpc>
            </a:pPr>
            <a:r>
              <a:rPr lang="en-US" sz="3200">
                <a:latin typeface="Times New Roman" panose="02020603050405020304" pitchFamily="18" charset="0"/>
                <a:cs typeface="Times New Roman" panose="02020603050405020304" pitchFamily="18" charset="0"/>
              </a:rPr>
              <a:t>Chương VI: An ninh, an toàn, bảo vệ, bảo mật trong giao dịch điện tử, gồm 6 điều, từ Điều 44 đến Điều 49;</a:t>
            </a:r>
          </a:p>
          <a:p>
            <a:pPr algn="just">
              <a:lnSpc>
                <a:spcPct val="150000"/>
              </a:lnSpc>
            </a:pPr>
            <a:r>
              <a:rPr lang="en-US" sz="3200">
                <a:latin typeface="Times New Roman" panose="02020603050405020304" pitchFamily="18" charset="0"/>
                <a:cs typeface="Times New Roman" panose="02020603050405020304" pitchFamily="18" charset="0"/>
              </a:rPr>
              <a:t>Chương VII: Giải quyết tranh chấp và xử lý vi phạm, gồm 3 điều, từ Điều 50 đến Điều 52;</a:t>
            </a:r>
          </a:p>
          <a:p>
            <a:pPr algn="just">
              <a:lnSpc>
                <a:spcPct val="150000"/>
              </a:lnSpc>
            </a:pPr>
            <a:r>
              <a:rPr lang="en-US" sz="3200">
                <a:latin typeface="Times New Roman" panose="02020603050405020304" pitchFamily="18" charset="0"/>
                <a:cs typeface="Times New Roman" panose="02020603050405020304" pitchFamily="18" charset="0"/>
              </a:rPr>
              <a:t>Chương VIII: Điều khoản thi hành, gồm 2 điều, Điều 53 và Điều 54.</a:t>
            </a:r>
          </a:p>
        </p:txBody>
      </p:sp>
    </p:spTree>
    <p:extLst>
      <p:ext uri="{BB962C8B-B14F-4D97-AF65-F5344CB8AC3E}">
        <p14:creationId xmlns:p14="http://schemas.microsoft.com/office/powerpoint/2010/main" val="1223509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5922712"/>
          </a:xfrm>
          <a:prstGeom prst="rect">
            <a:avLst/>
          </a:prstGeom>
          <a:noFill/>
        </p:spPr>
        <p:txBody>
          <a:bodyPr wrap="square" rtlCol="0">
            <a:spAutoFit/>
          </a:bodyPr>
          <a:lstStyle/>
          <a:p>
            <a:pPr algn="just">
              <a:lnSpc>
                <a:spcPct val="150000"/>
              </a:lnSpc>
            </a:pPr>
            <a:r>
              <a:rPr lang="en-US" sz="3200" b="1"/>
              <a:t>B. NHỮNG NỘI DUNG CƠ BẢN CỦA LUẬT:</a:t>
            </a:r>
            <a:endParaRPr lang="en-US" sz="3200"/>
          </a:p>
          <a:p>
            <a:pPr algn="just">
              <a:lnSpc>
                <a:spcPct val="150000"/>
              </a:lnSpc>
            </a:pPr>
            <a:r>
              <a:rPr lang="en-US" sz="3200" b="1"/>
              <a:t>Chương I: Những quy định chung</a:t>
            </a:r>
          </a:p>
          <a:p>
            <a:pPr algn="just">
              <a:lnSpc>
                <a:spcPct val="150000"/>
              </a:lnSpc>
            </a:pPr>
            <a:r>
              <a:rPr lang="en-US" sz="3200"/>
              <a:t>Chương này quy định về phạm vi điều chỉnh; đối tượng áp dụng; áp dụng Luật Giao dịch điện tử; giải thích từ ngữ; nguyên tắc chung tiến hành giao dịch điện tử; chính sách phát triển và ứng dụng giao dịch điện tử; nội dung quản lý nhà nước về hoạt động giao dịch điện tử; trách nhiệm quản lý nhà nước về hoạt động giao dịch điện tử; các hành vi bị nghiêm cấm trong giao dịch điện tử.</a:t>
            </a: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96501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5184048"/>
          </a:xfrm>
          <a:prstGeom prst="rect">
            <a:avLst/>
          </a:prstGeom>
          <a:noFill/>
        </p:spPr>
        <p:txBody>
          <a:bodyPr wrap="square" rtlCol="0">
            <a:spAutoFit/>
          </a:bodyPr>
          <a:lstStyle/>
          <a:p>
            <a:pPr algn="just">
              <a:lnSpc>
                <a:spcPct val="150000"/>
              </a:lnSpc>
            </a:pPr>
            <a:r>
              <a:rPr lang="en-US" sz="3200" b="1" i="1"/>
              <a:t>Về phạm vi điều chỉnh</a:t>
            </a:r>
            <a:r>
              <a:rPr lang="en-US" sz="3200"/>
              <a:t>, Luật này quy định về giao điện tử trong hoạt động của các cơ quan nhà nước; trong lĩnh vực dân sự, kinh doanh, thương mại và các lĩnh vực khác do pháp luật quy định. </a:t>
            </a:r>
          </a:p>
          <a:p>
            <a:pPr algn="just">
              <a:lnSpc>
                <a:spcPct val="150000"/>
              </a:lnSpc>
            </a:pPr>
            <a:r>
              <a:rPr lang="en-US" sz="3200"/>
              <a:t>Việc cấp giấy chứng nhận quyền sử dụng đất, quyền sở hữu nhà và các bất động sản khác, văn bản về thừa kế, giấy đăng ký kết hôn, quyết định ly hôn, giấy khai sinh, giấy khai tử, hối phiếu và các giấy tờ có giá khác không áp dụng các quy định của Luật giao dịch điện tử.</a:t>
            </a: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34595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5016758"/>
          </a:xfrm>
          <a:prstGeom prst="rect">
            <a:avLst/>
          </a:prstGeom>
          <a:noFill/>
        </p:spPr>
        <p:txBody>
          <a:bodyPr wrap="square" rtlCol="0">
            <a:spAutoFit/>
          </a:bodyPr>
          <a:lstStyle/>
          <a:p>
            <a:pPr algn="just"/>
            <a:r>
              <a:rPr lang="en-US" sz="3200" b="1" i="1"/>
              <a:t>Về nguyên tắc</a:t>
            </a:r>
            <a:r>
              <a:rPr lang="en-US" sz="3200"/>
              <a:t>, cơ quan, t</a:t>
            </a:r>
            <a:r>
              <a:rPr lang="vi-VN" sz="3200"/>
              <a:t>ổ chức, cá nhân có quyền tự thỏa thuận và tự nguyện lựa chọn phương thức giao dịch (theo phương thức truyền thống hay giao dịch điện tử), tự thỏa thuận về việc lựa chọn loại công nghệ thực hiện giao dịch và phải chịu trách nhiệm về mọi hành vi của mình trong giao dịch điện tử. Không một công nghệ nào được coi là duy nhất trong giao dịch điện tử.</a:t>
            </a:r>
            <a:endParaRPr lang="en-US" sz="3200"/>
          </a:p>
          <a:p>
            <a:pPr algn="just"/>
            <a:r>
              <a:rPr lang="en-US" sz="3200"/>
              <a:t>Trong giao dịch điện tử, sự bình đẳng và an toàn phải được bảo đảm; quyền và lợi ích hợp pháp của cơ quan, tổ chức, cá nhân, lợi ích của nhà nước, lợi ích công cộng phải được bảo vệ.</a:t>
            </a: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70255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0006" y="528034"/>
            <a:ext cx="10766738" cy="6093976"/>
          </a:xfrm>
          <a:prstGeom prst="rect">
            <a:avLst/>
          </a:prstGeom>
          <a:noFill/>
        </p:spPr>
        <p:txBody>
          <a:bodyPr wrap="square" rtlCol="0">
            <a:spAutoFit/>
          </a:bodyPr>
          <a:lstStyle/>
          <a:p>
            <a:pPr algn="just"/>
            <a:r>
              <a:rPr lang="en-US" sz="3000"/>
              <a:t>Theo quy định tại Điều 9, các hành vi sau đây bị nghiêm cấm trong giao dịch điện tử:</a:t>
            </a:r>
          </a:p>
          <a:p>
            <a:pPr marL="457200" lvl="0" indent="-457200" algn="just">
              <a:buFont typeface="Wingdings" panose="05000000000000000000" pitchFamily="2" charset="2"/>
              <a:buChar char="Ø"/>
            </a:pPr>
            <a:r>
              <a:rPr lang="en-US" sz="3000"/>
              <a:t>Cản trở việc lựa chọn sử dụng giao dịch điện tử.</a:t>
            </a:r>
          </a:p>
          <a:p>
            <a:pPr marL="457200" lvl="0" indent="-457200" algn="just">
              <a:buFont typeface="Wingdings" panose="05000000000000000000" pitchFamily="2" charset="2"/>
              <a:buChar char="Ø"/>
            </a:pPr>
            <a:r>
              <a:rPr lang="en-US" sz="3000"/>
              <a:t>Cản trở hoặc ngăn chặn trái phép quá trình truyền, gửi, nhận thông điệp dữ liệu.</a:t>
            </a:r>
          </a:p>
          <a:p>
            <a:pPr marL="457200" lvl="0" indent="-457200" algn="just">
              <a:buFont typeface="Wingdings" panose="05000000000000000000" pitchFamily="2" charset="2"/>
              <a:buChar char="Ø"/>
            </a:pPr>
            <a:r>
              <a:rPr lang="en-US" sz="3000"/>
              <a:t>Thay đổi, xoá, huỷ, giả mạo, sao chép, tiết lộ, hiển thị, di chuyển trái phép một phần hoặc toàn bộ thông điệp dữ liệu.</a:t>
            </a:r>
          </a:p>
          <a:p>
            <a:pPr marL="457200" lvl="0" indent="-457200" algn="just">
              <a:buFont typeface="Wingdings" panose="05000000000000000000" pitchFamily="2" charset="2"/>
              <a:buChar char="Ø"/>
            </a:pPr>
            <a:r>
              <a:rPr lang="en-US" sz="3000"/>
              <a:t>Tạo ra hoặc phát tán chương trình phần mềm làm rối loạn, thay đổi, phá hoại hệ thống điều hành hoặc có hành vi khác nhằm phá hoại hạ tầng công nghệ về giao dịch điện tử.</a:t>
            </a:r>
          </a:p>
          <a:p>
            <a:pPr marL="457200" lvl="0" indent="-457200" algn="just">
              <a:buFont typeface="Wingdings" panose="05000000000000000000" pitchFamily="2" charset="2"/>
              <a:buChar char="Ø"/>
            </a:pPr>
            <a:r>
              <a:rPr lang="en-US" sz="3000"/>
              <a:t>Tạo ra thông điệp dữ liệu nhằm thực hiện hành vi trái pháp luật.</a:t>
            </a:r>
          </a:p>
          <a:p>
            <a:pPr marL="457200" indent="-457200" algn="just">
              <a:buFont typeface="Wingdings" panose="05000000000000000000" pitchFamily="2" charset="2"/>
              <a:buChar char="Ø"/>
            </a:pPr>
            <a:r>
              <a:rPr lang="en-US" sz="3000"/>
              <a:t>Gian lận, mạo nhận, chiếm đoạt hoặc sử dụng trái phép chữ ký điện tử của người khác.</a:t>
            </a:r>
          </a:p>
        </p:txBody>
      </p:sp>
    </p:spTree>
    <p:extLst>
      <p:ext uri="{BB962C8B-B14F-4D97-AF65-F5344CB8AC3E}">
        <p14:creationId xmlns:p14="http://schemas.microsoft.com/office/powerpoint/2010/main" val="25136432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4435317"/>
          </a:xfrm>
          <a:prstGeom prst="rect">
            <a:avLst/>
          </a:prstGeom>
          <a:noFill/>
        </p:spPr>
        <p:txBody>
          <a:bodyPr wrap="square" rtlCol="0">
            <a:spAutoFit/>
          </a:bodyPr>
          <a:lstStyle/>
          <a:p>
            <a:pPr algn="just">
              <a:lnSpc>
                <a:spcPct val="150000"/>
              </a:lnSpc>
            </a:pPr>
            <a:r>
              <a:rPr lang="en-US" sz="3200" b="1"/>
              <a:t>Chương II: Thông điệp dữ liệu</a:t>
            </a:r>
            <a:endParaRPr lang="en-US" sz="3200"/>
          </a:p>
          <a:p>
            <a:pPr algn="just">
              <a:lnSpc>
                <a:spcPct val="150000"/>
              </a:lnSpc>
            </a:pPr>
            <a:r>
              <a:rPr lang="vi-VN" sz="3200"/>
              <a:t>Thông điệp dữ liệu là thông tin được tạo ra, được gửi đi, được nhận và được lưu trữ bằng phương tiện điện tử. Thông điệp dữ liệu được thể hiện dưới hình thức trao đổi dữ liệu điện tử, chứng từ điện tử, thư điện tử, điện tín, điện báo, fax và các hình thức tương tự khác.</a:t>
            </a: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80611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6661375"/>
          </a:xfrm>
          <a:prstGeom prst="rect">
            <a:avLst/>
          </a:prstGeom>
          <a:noFill/>
        </p:spPr>
        <p:txBody>
          <a:bodyPr wrap="square" rtlCol="0">
            <a:spAutoFit/>
          </a:bodyPr>
          <a:lstStyle/>
          <a:p>
            <a:pPr algn="just">
              <a:lnSpc>
                <a:spcPct val="150000"/>
              </a:lnSpc>
            </a:pPr>
            <a:r>
              <a:rPr lang="vi-VN" sz="3200"/>
              <a:t>Tinh thần xuyên suốt của chương này là pháp luật công nhận giá trị pháp lý của thông điệp dữ liệu. Chương này có 2 mục</a:t>
            </a:r>
            <a:r>
              <a:rPr lang="en-US" sz="3200"/>
              <a:t>:</a:t>
            </a:r>
            <a:r>
              <a:rPr lang="vi-VN" sz="3200"/>
              <a:t> Mục 1 quy định về hình thức thể hiện thông điệp dữ liệu; giá trị pháp lý của thông điệp dữ liệu; thông điệp dữ liệu có giá trị như văn bản; thông điệp dữ liệu có giá trị như bản gốc; thông điệp dữ liệu có giá trị làm chứng cứ; lưu trữ thông điệp dữ liệu. </a:t>
            </a:r>
            <a:r>
              <a:rPr lang="en-US" sz="3200"/>
              <a:t>Mục 2 gồm quy định về người khởi tạo thông điệp dữ liệu; thời điểm, địa điểm gửi thông điệp dữ liệu; nhận thông điệp dữ liệu; thời điểm, địa điểm nhận thông điệp dữ liệu; gửi, nhận tự động thông điệp dữ liệu.</a:t>
            </a: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03572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4448013"/>
          </a:xfrm>
          <a:prstGeom prst="rect">
            <a:avLst/>
          </a:prstGeom>
          <a:noFill/>
        </p:spPr>
        <p:txBody>
          <a:bodyPr wrap="square" rtlCol="0">
            <a:spAutoFit/>
          </a:bodyPr>
          <a:lstStyle/>
          <a:p>
            <a:pPr algn="just">
              <a:lnSpc>
                <a:spcPct val="150000"/>
              </a:lnSpc>
            </a:pPr>
            <a:r>
              <a:rPr lang="en-US" sz="3200"/>
              <a:t>Trong trường hợp pháp luật yêu cầu thông tin phải được thể hiện bằng văn bản thì thông điệp dữ liệu được xem là đáp ứng yêu cầu này nếu thông tin chứa trong thông điệp dữ liệu đó có thể truy cập và sử dụng được để tham chiếu khi cần thiết.</a:t>
            </a:r>
          </a:p>
          <a:p>
            <a:pPr algn="just">
              <a:lnSpc>
                <a:spcPct val="150000"/>
              </a:lnSpc>
            </a:pPr>
            <a:r>
              <a:rPr lang="en-US" sz="3200"/>
              <a:t>Thông điệp dữ liệu có giá trị như bản gốc (Điều 13) khi đáp ứng được các điều kiện sau:</a:t>
            </a:r>
          </a:p>
        </p:txBody>
      </p:sp>
    </p:spTree>
    <p:extLst>
      <p:ext uri="{BB962C8B-B14F-4D97-AF65-F5344CB8AC3E}">
        <p14:creationId xmlns:p14="http://schemas.microsoft.com/office/powerpoint/2010/main" val="19249428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5186676"/>
          </a:xfrm>
          <a:prstGeom prst="rect">
            <a:avLst/>
          </a:prstGeom>
          <a:noFill/>
        </p:spPr>
        <p:txBody>
          <a:bodyPr wrap="square" rtlCol="0">
            <a:spAutoFit/>
          </a:bodyPr>
          <a:lstStyle/>
          <a:p>
            <a:pPr marL="457200" lvl="0" indent="-457200" algn="just">
              <a:lnSpc>
                <a:spcPct val="150000"/>
              </a:lnSpc>
              <a:buFont typeface="Wingdings" panose="05000000000000000000" pitchFamily="2" charset="2"/>
              <a:buChar char="Ø"/>
            </a:pPr>
            <a:r>
              <a:rPr lang="en-US" sz="3200"/>
              <a:t>Nội dung của thông điệp dữ liệu được bảo đảm toàn vẹn kể từ khi được khởi tạo lần đầu tiên dưới dạng một thông điệp dữ liệu hoàn chỉnh (nội dung thông điệp chưa bị thay đổi, trừ những thay đổi về hình thức phát sinh trong quá trình gửi, lưu trữ hoặc hiển thị thông điệp đó);</a:t>
            </a:r>
          </a:p>
          <a:p>
            <a:pPr marL="457200" indent="-457200" algn="just">
              <a:lnSpc>
                <a:spcPct val="150000"/>
              </a:lnSpc>
              <a:buFont typeface="Wingdings" panose="05000000000000000000" pitchFamily="2" charset="2"/>
              <a:buChar char="Ø"/>
            </a:pPr>
            <a:r>
              <a:rPr lang="en-US" sz="3200"/>
              <a:t>Nội dung của thông điệp dữ liệu có thể truy cập và sử dụng được dưới dạng hoàn chỉnh khi cần thiết. </a:t>
            </a:r>
          </a:p>
        </p:txBody>
      </p:sp>
    </p:spTree>
    <p:extLst>
      <p:ext uri="{BB962C8B-B14F-4D97-AF65-F5344CB8AC3E}">
        <p14:creationId xmlns:p14="http://schemas.microsoft.com/office/powerpoint/2010/main" val="13792573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3709349"/>
          </a:xfrm>
          <a:prstGeom prst="rect">
            <a:avLst/>
          </a:prstGeom>
          <a:noFill/>
        </p:spPr>
        <p:txBody>
          <a:bodyPr wrap="square" rtlCol="0">
            <a:spAutoFit/>
          </a:bodyPr>
          <a:lstStyle/>
          <a:p>
            <a:pPr lvl="0" algn="just">
              <a:lnSpc>
                <a:spcPct val="150000"/>
              </a:lnSpc>
            </a:pPr>
            <a:r>
              <a:rPr lang="en-US" sz="3200"/>
              <a:t>Thông điệp dữ liệu có giá trị làm chứng cứ (Điều 14). Giá trị chứng cứ của thông điệp dữ liệu được xác định căn cứ vào độ tin cậy của cách thức khởi tạo, lưu trữ hoặc truyền gửi thông điệp dữ liệu; cách thức bảo đảm và duy trì tính toàn vẹn của thông điệp dữ liệu; cách thức xác định người khởi tạo và các yếu tố phù hợp khác.</a:t>
            </a:r>
          </a:p>
        </p:txBody>
      </p:sp>
    </p:spTree>
    <p:extLst>
      <p:ext uri="{BB962C8B-B14F-4D97-AF65-F5344CB8AC3E}">
        <p14:creationId xmlns:p14="http://schemas.microsoft.com/office/powerpoint/2010/main" val="17737681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7232749"/>
          </a:xfrm>
          <a:prstGeom prst="rect">
            <a:avLst/>
          </a:prstGeom>
          <a:noFill/>
        </p:spPr>
        <p:txBody>
          <a:bodyPr wrap="square" rtlCol="0">
            <a:spAutoFit/>
          </a:bodyPr>
          <a:lstStyle/>
          <a:p>
            <a:pPr algn="just"/>
            <a:r>
              <a:rPr lang="en-US" sz="3200" b="1"/>
              <a:t>Chương III: Chữ ký điện tử và chứng thực chữ ký điện tử</a:t>
            </a:r>
            <a:endParaRPr lang="en-US" sz="3200"/>
          </a:p>
          <a:p>
            <a:pPr algn="just"/>
            <a:r>
              <a:rPr lang="en-US" sz="3200"/>
              <a:t>Chương này</a:t>
            </a:r>
            <a:r>
              <a:rPr lang="vi-VN" sz="3200"/>
              <a:t> gồm 3 mục</a:t>
            </a:r>
            <a:r>
              <a:rPr lang="en-US" sz="3200"/>
              <a:t>:</a:t>
            </a:r>
            <a:r>
              <a:rPr lang="vi-VN" sz="3200"/>
              <a:t> Mục 1</a:t>
            </a:r>
            <a:r>
              <a:rPr lang="en-US" sz="3200"/>
              <a:t> -</a:t>
            </a:r>
            <a:r>
              <a:rPr lang="vi-VN" sz="3200"/>
              <a:t> Giá trị pháp lý của chữ ký điện tử</a:t>
            </a:r>
            <a:r>
              <a:rPr lang="en-US" sz="3200"/>
              <a:t>, </a:t>
            </a:r>
            <a:r>
              <a:rPr lang="vi-VN" sz="3200"/>
              <a:t>quy định về chữ ký điện tử; điều kiện bảo đảm an toàn cho chữ ký điện tử; nguyên tắc sử dụng chữ ký điện tử; giá trị pháp lý của chữ ký điện tử; nghĩa vụ của người ký chữ ký điện tử; nghĩa vụ của </a:t>
            </a:r>
            <a:r>
              <a:rPr lang="en-US" sz="3200"/>
              <a:t>b</a:t>
            </a:r>
            <a:r>
              <a:rPr lang="vi-VN" sz="3200"/>
              <a:t>ên chấp nhận chữ ký điện tử; thừa nhận chữ ký điện tử và chứng thư điện tử nước ngoài. Mục 2</a:t>
            </a:r>
            <a:r>
              <a:rPr lang="en-US" sz="3200"/>
              <a:t> - </a:t>
            </a:r>
            <a:r>
              <a:rPr lang="vi-VN" sz="3200"/>
              <a:t>Dịch vụ chứng thực điện tử</a:t>
            </a:r>
            <a:r>
              <a:rPr lang="en-US" sz="3200"/>
              <a:t>,</a:t>
            </a:r>
            <a:r>
              <a:rPr lang="vi-VN" sz="3200"/>
              <a:t> quy định về hoạt động dịch vụ chứng thực chữ ký điện tử; nội dung của chứng thư điện tử; tổ chức cung cấp dịch vụ chứng thực chữ ký điện tử; quyền và nghĩa vụ của tổ chức cung cấp dịch vụ chứng thực chữ ký điện tử. Mục 3</a:t>
            </a:r>
            <a:r>
              <a:rPr lang="en-US" sz="3200"/>
              <a:t> - </a:t>
            </a:r>
            <a:r>
              <a:rPr lang="vi-VN" sz="3200"/>
              <a:t>Quản lý dịch vụ chứng thực chữ ký điện tử quy định về các điều kiện để được cung cấp dịch vụ chứng thực chữ ký điện tử. </a:t>
            </a:r>
            <a:endParaRPr lang="en-US" sz="3200"/>
          </a:p>
          <a:p>
            <a:pPr lvl="0" algn="just">
              <a:lnSpc>
                <a:spcPct val="150000"/>
              </a:lnSpc>
            </a:pPr>
            <a:endParaRPr lang="en-US" sz="3200"/>
          </a:p>
        </p:txBody>
      </p:sp>
    </p:spTree>
    <p:extLst>
      <p:ext uri="{BB962C8B-B14F-4D97-AF65-F5344CB8AC3E}">
        <p14:creationId xmlns:p14="http://schemas.microsoft.com/office/powerpoint/2010/main" val="18257337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5016758"/>
          </a:xfrm>
          <a:prstGeom prst="rect">
            <a:avLst/>
          </a:prstGeom>
          <a:noFill/>
        </p:spPr>
        <p:txBody>
          <a:bodyPr wrap="square" rtlCol="0">
            <a:spAutoFit/>
          </a:bodyPr>
          <a:lstStyle/>
          <a:p>
            <a:pPr algn="just"/>
            <a:r>
              <a:rPr lang="vi-VN" sz="3200"/>
              <a:t>Chữ ký điện tử là </a:t>
            </a:r>
            <a:r>
              <a:rPr lang="en-US" sz="3200"/>
              <a:t>chữ </a:t>
            </a:r>
            <a:r>
              <a:rPr lang="vi-VN" sz="3200"/>
              <a:t>ký được tạo lập dưới dạng từ, chữ, số, ký hiệu, âm thanh hoặc các hình thức khác bằng phương tiện điện tử, gắn liền hoặc kết hợp một cách l</a:t>
            </a:r>
            <a:r>
              <a:rPr lang="en-US" sz="3200"/>
              <a:t>ô</a:t>
            </a:r>
            <a:r>
              <a:rPr lang="vi-VN" sz="3200"/>
              <a:t>gic với thông điệp dữ liệu. Chữ ký điện tử có giá trị xác nhận người ký thông điệp dữ liệu và xác nhận sự chấp thuận của người đó đối với nội dung thông điệp dữ liệu được ký.</a:t>
            </a:r>
            <a:endParaRPr lang="en-US" sz="3200"/>
          </a:p>
          <a:p>
            <a:pPr algn="just"/>
            <a:r>
              <a:rPr lang="en-US" sz="3200" b="1"/>
              <a:t>Theo quy định của </a:t>
            </a:r>
            <a:r>
              <a:rPr lang="vi-VN" sz="3200" b="1"/>
              <a:t>Đ</a:t>
            </a:r>
            <a:r>
              <a:rPr lang="en-US" sz="3200" b="1"/>
              <a:t>iều 22 , chữ ký điện tử được xem là bảo đảm an toàn nếu được kiểm chứng bằng một quy trình kiểm tra an toàn do các bên giao dịch thoả thuận và đáp ứng được các đ</a:t>
            </a:r>
            <a:r>
              <a:rPr lang="vi-VN" sz="3200" b="1"/>
              <a:t>iều kiện sau đây:</a:t>
            </a:r>
            <a:endParaRPr lang="en-US" sz="3200"/>
          </a:p>
        </p:txBody>
      </p:sp>
    </p:spTree>
    <p:extLst>
      <p:ext uri="{BB962C8B-B14F-4D97-AF65-F5344CB8AC3E}">
        <p14:creationId xmlns:p14="http://schemas.microsoft.com/office/powerpoint/2010/main" val="9028673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5922134"/>
          </a:xfrm>
          <a:prstGeom prst="rect">
            <a:avLst/>
          </a:prstGeom>
          <a:noFill/>
        </p:spPr>
        <p:txBody>
          <a:bodyPr wrap="square" rtlCol="0">
            <a:spAutoFit/>
          </a:bodyPr>
          <a:lstStyle/>
          <a:p>
            <a:pPr marL="457200" lvl="0" indent="-457200" algn="just">
              <a:lnSpc>
                <a:spcPct val="150000"/>
              </a:lnSpc>
              <a:buFont typeface="Wingdings" panose="05000000000000000000" pitchFamily="2" charset="2"/>
              <a:buChar char="§"/>
            </a:pPr>
            <a:r>
              <a:rPr lang="vi-VN" sz="3200"/>
              <a:t>Dữ liệu tạo chữ ký điện tử chỉ gắn duy nhất với người ký trong bối cảnh dữ liệu đó được sử dụng;</a:t>
            </a:r>
            <a:endParaRPr lang="en-US" sz="3200"/>
          </a:p>
          <a:p>
            <a:pPr marL="457200" lvl="0" indent="-457200" algn="just">
              <a:lnSpc>
                <a:spcPct val="150000"/>
              </a:lnSpc>
              <a:buFont typeface="Wingdings" panose="05000000000000000000" pitchFamily="2" charset="2"/>
              <a:buChar char="§"/>
            </a:pPr>
            <a:r>
              <a:rPr lang="vi-VN" sz="3200"/>
              <a:t>Dữ liệu tạo chữ ký điện tử chỉ thuộc sự kiểm soát của người ký tại thời điểm ký;</a:t>
            </a:r>
            <a:endParaRPr lang="en-US" sz="3200"/>
          </a:p>
          <a:p>
            <a:pPr marL="457200" lvl="0" indent="-457200" algn="just">
              <a:lnSpc>
                <a:spcPct val="150000"/>
              </a:lnSpc>
              <a:buFont typeface="Wingdings" panose="05000000000000000000" pitchFamily="2" charset="2"/>
              <a:buChar char="§"/>
            </a:pPr>
            <a:r>
              <a:rPr lang="vi-VN" sz="3200"/>
              <a:t>Mọi thay đổi đối với chữ ký điện tử sau thời điểm ký đều có thể bị phát hiện;</a:t>
            </a:r>
            <a:endParaRPr lang="en-US" sz="3200"/>
          </a:p>
          <a:p>
            <a:pPr marL="457200" indent="-457200" algn="just">
              <a:lnSpc>
                <a:spcPct val="150000"/>
              </a:lnSpc>
              <a:buFont typeface="Wingdings" panose="05000000000000000000" pitchFamily="2" charset="2"/>
              <a:buChar char="§"/>
            </a:pPr>
            <a:r>
              <a:rPr lang="vi-VN" sz="3200"/>
              <a:t>Mọi thay đổi đối với nội dung của thông điệp dữ liệu sau thời điểm ký đều có thể bị phát hiện.</a:t>
            </a:r>
            <a:endParaRPr lang="en-US" sz="3200"/>
          </a:p>
        </p:txBody>
      </p:sp>
    </p:spTree>
    <p:extLst>
      <p:ext uri="{BB962C8B-B14F-4D97-AF65-F5344CB8AC3E}">
        <p14:creationId xmlns:p14="http://schemas.microsoft.com/office/powerpoint/2010/main" val="15000824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4524315"/>
          </a:xfrm>
          <a:prstGeom prst="rect">
            <a:avLst/>
          </a:prstGeom>
          <a:noFill/>
        </p:spPr>
        <p:txBody>
          <a:bodyPr wrap="square" rtlCol="0">
            <a:spAutoFit/>
          </a:bodyPr>
          <a:lstStyle/>
          <a:p>
            <a:pPr algn="just"/>
            <a:r>
              <a:rPr lang="en-US" sz="3200"/>
              <a:t>Về giá trị pháp lý của chữ ký điện tử, trong trường hợp pháp luật quy định văn bản cần có chữ ký thì yêu cầu đó đối với một thông điệp dữ liệu được xem là đáp ứng nếu chữ ký điện tử được sử dụng để ký thông điệp dữ liệu đó đáp ứng được các điều kiện sau: </a:t>
            </a:r>
          </a:p>
          <a:p>
            <a:pPr marL="457200" lvl="0" indent="-457200" algn="just">
              <a:buFont typeface="Wingdings" panose="05000000000000000000" pitchFamily="2" charset="2"/>
              <a:buChar char="Ø"/>
            </a:pPr>
            <a:r>
              <a:rPr lang="vi-VN" sz="3200"/>
              <a:t>Phương pháp tạo chữ ký điện tử cho phép xác minh được người ký và chứng tỏ được sự chấp thuận của người ký đối với nội dung thông điệp dữ liệu;</a:t>
            </a:r>
            <a:endParaRPr lang="en-US" sz="3200"/>
          </a:p>
          <a:p>
            <a:pPr marL="457200" indent="-457200" algn="just">
              <a:buFont typeface="Wingdings" panose="05000000000000000000" pitchFamily="2" charset="2"/>
              <a:buChar char="Ø"/>
            </a:pPr>
            <a:r>
              <a:rPr lang="vi-VN" sz="3200"/>
              <a:t>Phương pháp đó là đủ tin cậy và phù hợp với mục đích mà theo đó thông điệp dữ liệu được tạo ra và gửi đi.</a:t>
            </a:r>
            <a:endParaRPr lang="en-US" sz="3200"/>
          </a:p>
        </p:txBody>
      </p:sp>
    </p:spTree>
    <p:extLst>
      <p:ext uri="{BB962C8B-B14F-4D97-AF65-F5344CB8AC3E}">
        <p14:creationId xmlns:p14="http://schemas.microsoft.com/office/powerpoint/2010/main" val="38764484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4524315"/>
          </a:xfrm>
          <a:prstGeom prst="rect">
            <a:avLst/>
          </a:prstGeom>
          <a:noFill/>
        </p:spPr>
        <p:txBody>
          <a:bodyPr wrap="square" rtlCol="0">
            <a:spAutoFit/>
          </a:bodyPr>
          <a:lstStyle/>
          <a:p>
            <a:pPr algn="just"/>
            <a:r>
              <a:rPr lang="en-US" sz="3200"/>
              <a:t>Về giá trị pháp lý của chữ ký điện tử, trong trường hợp pháp luật quy định văn bản cần có chữ ký thì yêu cầu đó đối với một thông điệp dữ liệu được xem là đáp ứng nếu chữ ký điện tử được sử dụng để ký thông điệp dữ liệu đó đáp ứng được các điều kiện sau: </a:t>
            </a:r>
          </a:p>
          <a:p>
            <a:pPr marL="457200" lvl="0" indent="-457200" algn="just">
              <a:buFont typeface="Wingdings" panose="05000000000000000000" pitchFamily="2" charset="2"/>
              <a:buChar char="Ø"/>
            </a:pPr>
            <a:r>
              <a:rPr lang="vi-VN" sz="3200"/>
              <a:t>Phương pháp tạo chữ ký điện tử cho phép xác minh được người ký và chứng tỏ được sự chấp thuận của người ký đối với nội dung thông điệp dữ liệu;</a:t>
            </a:r>
            <a:endParaRPr lang="en-US" sz="3200"/>
          </a:p>
          <a:p>
            <a:pPr marL="457200" indent="-457200" algn="just">
              <a:buFont typeface="Wingdings" panose="05000000000000000000" pitchFamily="2" charset="2"/>
              <a:buChar char="Ø"/>
            </a:pPr>
            <a:r>
              <a:rPr lang="vi-VN" sz="3200"/>
              <a:t>Phương pháp đó là đủ tin cậy và phù hợp với mục đích mà theo đó thông điệp dữ liệu được tạo ra và gửi đi.</a:t>
            </a:r>
            <a:endParaRPr lang="en-US" sz="3200"/>
          </a:p>
        </p:txBody>
      </p:sp>
    </p:spTree>
    <p:extLst>
      <p:ext uri="{BB962C8B-B14F-4D97-AF65-F5344CB8AC3E}">
        <p14:creationId xmlns:p14="http://schemas.microsoft.com/office/powerpoint/2010/main" val="11996876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4524315"/>
          </a:xfrm>
          <a:prstGeom prst="rect">
            <a:avLst/>
          </a:prstGeom>
          <a:noFill/>
        </p:spPr>
        <p:txBody>
          <a:bodyPr wrap="square" rtlCol="0">
            <a:spAutoFit/>
          </a:bodyPr>
          <a:lstStyle/>
          <a:p>
            <a:pPr algn="just"/>
            <a:r>
              <a:rPr lang="en-US" sz="3200"/>
              <a:t>Giá trị pháp lý của chữ ký điện tử và chứng thư điện tử nước ngoài được nhà nước công nhận nếu </a:t>
            </a:r>
            <a:r>
              <a:rPr lang="vi-VN" sz="3200"/>
              <a:t>chữ ký điện tử hoặc chứng thư điện tử đó có độ tin cậy tương đương với độ tin cậy của chữ ký điện tử và chứng thư điện tử theo quy định của pháp luật. Việc xác định mức độ tin cậy của chữ ký điện tử và chứng thư điện tử nước ngoài phải căn cứ vào các tiêu chuẩn quốc tế đã được thừa nhận, điều ước quốc tế mà Cộng hòa xã hội chủ nghĩa Việt Nam là thành viên và các yếu tố có liên quan khác</a:t>
            </a:r>
            <a:r>
              <a:rPr lang="en-US" sz="3200"/>
              <a:t> (khoản 1 Điều 27)</a:t>
            </a:r>
            <a:r>
              <a:rPr lang="vi-VN" sz="3200"/>
              <a:t>.</a:t>
            </a:r>
            <a:endParaRPr lang="en-US" sz="3200"/>
          </a:p>
        </p:txBody>
      </p:sp>
    </p:spTree>
    <p:extLst>
      <p:ext uri="{BB962C8B-B14F-4D97-AF65-F5344CB8AC3E}">
        <p14:creationId xmlns:p14="http://schemas.microsoft.com/office/powerpoint/2010/main" val="157896032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4031873"/>
          </a:xfrm>
          <a:prstGeom prst="rect">
            <a:avLst/>
          </a:prstGeom>
          <a:noFill/>
        </p:spPr>
        <p:txBody>
          <a:bodyPr wrap="square" rtlCol="0">
            <a:spAutoFit/>
          </a:bodyPr>
          <a:lstStyle/>
          <a:p>
            <a:pPr algn="just"/>
            <a:r>
              <a:rPr lang="en-US" sz="3200"/>
              <a:t>Chứng thực c</a:t>
            </a:r>
            <a:r>
              <a:rPr lang="vi-VN" sz="3200"/>
              <a:t>hữ ký</a:t>
            </a:r>
            <a:r>
              <a:rPr lang="en-US" sz="3200"/>
              <a:t> điện tử là việc xác nhận cá nhân, tổ chức được chứng thực là người </a:t>
            </a:r>
            <a:r>
              <a:rPr lang="vi-VN" sz="3200"/>
              <a:t>ký</a:t>
            </a:r>
            <a:r>
              <a:rPr lang="he-IL" sz="3200" b="1"/>
              <a:t>‎</a:t>
            </a:r>
            <a:r>
              <a:rPr lang="en-US" sz="3200"/>
              <a:t> chữ ký điện tử. Dịch vụ chứng thực chữ ký điện tử bao gồm các hoạt động:</a:t>
            </a:r>
          </a:p>
          <a:p>
            <a:pPr marL="457200" lvl="0" indent="-457200" algn="just">
              <a:buFont typeface="Wingdings" panose="05000000000000000000" pitchFamily="2" charset="2"/>
              <a:buChar char="v"/>
            </a:pPr>
            <a:r>
              <a:rPr lang="en-US" sz="3200"/>
              <a:t>Cấp, gia hạn, tạm đình chỉ, phục hồi, thu hồi chứng thư điện tử.</a:t>
            </a:r>
          </a:p>
          <a:p>
            <a:pPr marL="457200" lvl="0" indent="-457200" algn="just">
              <a:buFont typeface="Wingdings" panose="05000000000000000000" pitchFamily="2" charset="2"/>
              <a:buChar char="v"/>
            </a:pPr>
            <a:r>
              <a:rPr lang="en-US" sz="3200"/>
              <a:t>Cung cấp thông tin cần thiết để giúp chứng thực chữ ký điện tử của người ký thông điệp dữ liệu.</a:t>
            </a:r>
          </a:p>
          <a:p>
            <a:pPr marL="457200" indent="-457200" algn="just">
              <a:buFont typeface="Wingdings" panose="05000000000000000000" pitchFamily="2" charset="2"/>
              <a:buChar char="v"/>
            </a:pPr>
            <a:r>
              <a:rPr lang="en-US" sz="3200"/>
              <a:t>Cung cấp các dịch vụ khác liên quan đến chữ ký điện tử và chứng thực chữ ký điện tử theo quy định của pháp luật.</a:t>
            </a:r>
          </a:p>
        </p:txBody>
      </p:sp>
    </p:spTree>
    <p:extLst>
      <p:ext uri="{BB962C8B-B14F-4D97-AF65-F5344CB8AC3E}">
        <p14:creationId xmlns:p14="http://schemas.microsoft.com/office/powerpoint/2010/main" val="139303906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5922134"/>
          </a:xfrm>
          <a:prstGeom prst="rect">
            <a:avLst/>
          </a:prstGeom>
          <a:noFill/>
        </p:spPr>
        <p:txBody>
          <a:bodyPr wrap="square" rtlCol="0">
            <a:spAutoFit/>
          </a:bodyPr>
          <a:lstStyle/>
          <a:p>
            <a:pPr algn="just">
              <a:lnSpc>
                <a:spcPct val="150000"/>
              </a:lnSpc>
            </a:pPr>
            <a:r>
              <a:rPr lang="vi-VN" sz="3200" b="1"/>
              <a:t>Chương IV: Giao kết và thực hiện hợp đồng điện tử</a:t>
            </a:r>
            <a:endParaRPr lang="en-US" sz="3200" b="1"/>
          </a:p>
          <a:p>
            <a:pPr algn="just">
              <a:lnSpc>
                <a:spcPct val="150000"/>
              </a:lnSpc>
            </a:pPr>
            <a:r>
              <a:rPr lang="en-US" sz="3200"/>
              <a:t>Nội dung</a:t>
            </a:r>
            <a:r>
              <a:rPr lang="vi-VN" sz="3200"/>
              <a:t> cơ bản của chương này là công nhận giá trị pháp lý của hợp đồng điện tử, quy định về hợp đồng điện tử; thừa nhận giá trị pháp lý của hợp đồng điện tử; nguyên tắc giao kết và thực hiện hợp đồng điện tử; giao kết hợp đồng điện tử; việc nhận, gửi, thời điểm nhận, gửi thông điệp dữ liệu trong giao kết và thực hiện hợp đồng điện tử; giá trị pháp lý của thông báo trong giao kết và thực hiện hợp đồng điện tử.</a:t>
            </a:r>
            <a:endParaRPr lang="en-US" sz="3200"/>
          </a:p>
        </p:txBody>
      </p:sp>
    </p:spTree>
    <p:extLst>
      <p:ext uri="{BB962C8B-B14F-4D97-AF65-F5344CB8AC3E}">
        <p14:creationId xmlns:p14="http://schemas.microsoft.com/office/powerpoint/2010/main" val="23260634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5509200"/>
          </a:xfrm>
          <a:prstGeom prst="rect">
            <a:avLst/>
          </a:prstGeom>
          <a:noFill/>
        </p:spPr>
        <p:txBody>
          <a:bodyPr wrap="square" rtlCol="0">
            <a:spAutoFit/>
          </a:bodyPr>
          <a:lstStyle/>
          <a:p>
            <a:pPr algn="just"/>
            <a:r>
              <a:rPr lang="en-US" sz="3200"/>
              <a:t>Hợp đồng điện tử là hợp đồng được thiết lập dưới dạng thông điệp dữ liệu theo quy định của Luật này. Việc giao kết và thực hiện hợp đồng điện tử dựa trên các nguyên tắc:</a:t>
            </a:r>
          </a:p>
          <a:p>
            <a:pPr algn="just"/>
            <a:r>
              <a:rPr lang="vi-VN" sz="3200"/>
              <a:t>1. Các bên tham gia có quyền thỏa thuận sử dụng phương tiện điện tử trong giao kết và thực hiện hợp đồng.</a:t>
            </a:r>
            <a:endParaRPr lang="en-US" sz="3200"/>
          </a:p>
          <a:p>
            <a:pPr algn="just"/>
            <a:r>
              <a:rPr lang="vi-VN" sz="3200"/>
              <a:t>2. Việc giao kết và thực hiện hợp đồng điện tử phải tuân thủ các quy định của Luật này và pháp luật về hợp đồng.</a:t>
            </a:r>
            <a:endParaRPr lang="en-US" sz="3200"/>
          </a:p>
          <a:p>
            <a:pPr algn="just"/>
            <a:r>
              <a:rPr lang="vi-VN" sz="3200"/>
              <a:t>3. Khi giao kết và thực hiện hợp đồng điện tử, các bên có quyền thoả thuận về yêu cầu kỹ thuật, chứng thực, các điều kiện bảo đảm tính toàn vẹn, bảo mật có liên quan đến hợp đồng điện tử đó.</a:t>
            </a:r>
            <a:endParaRPr lang="en-US" sz="3200"/>
          </a:p>
        </p:txBody>
      </p:sp>
    </p:spTree>
    <p:extLst>
      <p:ext uri="{BB962C8B-B14F-4D97-AF65-F5344CB8AC3E}">
        <p14:creationId xmlns:p14="http://schemas.microsoft.com/office/powerpoint/2010/main" val="18265623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4524315"/>
          </a:xfrm>
          <a:prstGeom prst="rect">
            <a:avLst/>
          </a:prstGeom>
          <a:noFill/>
        </p:spPr>
        <p:txBody>
          <a:bodyPr wrap="square" rtlCol="0">
            <a:spAutoFit/>
          </a:bodyPr>
          <a:lstStyle/>
          <a:p>
            <a:pPr algn="just"/>
            <a:r>
              <a:rPr lang="en-US" sz="3200" b="1"/>
              <a:t>Chương V: Giao dịch điện tử của cơ quan Nhà nước</a:t>
            </a:r>
          </a:p>
          <a:p>
            <a:pPr algn="just"/>
            <a:r>
              <a:rPr lang="vi-VN" sz="3200"/>
              <a:t>Chương này quy định về giao dịch điện tử của cơ quan Nhà nước (cả lập pháp, hành pháp và tư pháp), quy định về các loại hình giao dịch điện tử của cơ quan Nhà nước; nguyên tắc tiến hành giao dịch điện tử của cơ quan Nhà nước; bảo đảm an toàn, bảo mật và lưu trữ thông tin điện tử trong cơ quan Nhà nước; trách nhiệm của cơ quan Nhà nước trong trường hợp hệ thống thông tin điện tử bị lỗi; trách nhiệm của tổ chức, cá nhân trong giao dịch điện tử với cơ quan Nhà nước.</a:t>
            </a:r>
            <a:endParaRPr lang="en-US" sz="3200"/>
          </a:p>
        </p:txBody>
      </p:sp>
    </p:spTree>
    <p:extLst>
      <p:ext uri="{BB962C8B-B14F-4D97-AF65-F5344CB8AC3E}">
        <p14:creationId xmlns:p14="http://schemas.microsoft.com/office/powerpoint/2010/main" val="9989783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2554545"/>
          </a:xfrm>
          <a:prstGeom prst="rect">
            <a:avLst/>
          </a:prstGeom>
          <a:noFill/>
        </p:spPr>
        <p:txBody>
          <a:bodyPr wrap="square" rtlCol="0">
            <a:spAutoFit/>
          </a:bodyPr>
          <a:lstStyle/>
          <a:p>
            <a:pPr algn="just"/>
            <a:r>
              <a:rPr lang="en-US" sz="3200"/>
              <a:t>Theo quy định tại Điều 39, c</a:t>
            </a:r>
            <a:r>
              <a:rPr lang="vi-VN" sz="3200"/>
              <a:t>ác loại hình giao dịch điện tử của cơ quan Nhà nước bao gồm: Giao dịch điện tử trong nội bộ cơ quan Nhà nước; </a:t>
            </a:r>
            <a:r>
              <a:rPr lang="en-US" sz="3200"/>
              <a:t>g</a:t>
            </a:r>
            <a:r>
              <a:rPr lang="vi-VN" sz="3200"/>
              <a:t>iao dịch điện tử giữa các cơ quan Nhà nước với nhau; </a:t>
            </a:r>
            <a:r>
              <a:rPr lang="en-US" sz="3200"/>
              <a:t>g</a:t>
            </a:r>
            <a:r>
              <a:rPr lang="vi-VN" sz="3200"/>
              <a:t>iao dịch điện tử giữa cơ quan Nhà nước với tổ chức, cá nhân.</a:t>
            </a:r>
            <a:endParaRPr lang="en-US" sz="3200"/>
          </a:p>
        </p:txBody>
      </p:sp>
    </p:spTree>
    <p:extLst>
      <p:ext uri="{BB962C8B-B14F-4D97-AF65-F5344CB8AC3E}">
        <p14:creationId xmlns:p14="http://schemas.microsoft.com/office/powerpoint/2010/main" val="36437164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4031873"/>
          </a:xfrm>
          <a:prstGeom prst="rect">
            <a:avLst/>
          </a:prstGeom>
          <a:noFill/>
        </p:spPr>
        <p:txBody>
          <a:bodyPr wrap="square" rtlCol="0">
            <a:spAutoFit/>
          </a:bodyPr>
          <a:lstStyle/>
          <a:p>
            <a:pPr algn="just"/>
            <a:r>
              <a:rPr lang="en-US" sz="3200" b="1"/>
              <a:t>Chương VI: An ninh, an toàn, bảo vệ, bảo mật trong giao dịch điện tử</a:t>
            </a:r>
            <a:endParaRPr lang="en-US" sz="3200"/>
          </a:p>
          <a:p>
            <a:pPr algn="just"/>
            <a:r>
              <a:rPr lang="en-US" sz="3200"/>
              <a:t>Chương này quy định về bảo đảm an ninh, an toàn trong giao dịch điện tử; bảo vệ thông điệp dữ liệu; bảo mật thông tin trong giao dịch điện tử; trách nhiệm của tổ chức cung cấp dịch vụ mạng; trách nhiệm của cơ quan, tổ chức, cá nhân khi có yêu cầu của cơ quan Nhà nước có thẩm quyền; quyền và  trách nhiệm của cơ quan Nhà nước có thẩm quyền.</a:t>
            </a:r>
          </a:p>
        </p:txBody>
      </p:sp>
    </p:spTree>
    <p:extLst>
      <p:ext uri="{BB962C8B-B14F-4D97-AF65-F5344CB8AC3E}">
        <p14:creationId xmlns:p14="http://schemas.microsoft.com/office/powerpoint/2010/main" val="93363098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3539430"/>
          </a:xfrm>
          <a:prstGeom prst="rect">
            <a:avLst/>
          </a:prstGeom>
          <a:noFill/>
        </p:spPr>
        <p:txBody>
          <a:bodyPr wrap="square" rtlCol="0">
            <a:spAutoFit/>
          </a:bodyPr>
          <a:lstStyle/>
          <a:p>
            <a:pPr algn="just"/>
            <a:r>
              <a:rPr lang="en-US" sz="3200"/>
              <a:t>Điều 46 quy định: c</a:t>
            </a:r>
            <a:r>
              <a:rPr lang="vi-VN" sz="3200"/>
              <a:t>ơ quan, tổ chức, cá nhân có quyền lựa chọn các biện pháp bảo mật phù hợp với quy định của pháp luật khi tiến hành giao dịch điện tử</a:t>
            </a:r>
            <a:r>
              <a:rPr lang="en-US" sz="3200"/>
              <a:t>; </a:t>
            </a:r>
            <a:r>
              <a:rPr lang="vi-VN" sz="3200"/>
              <a:t>không được sử dụng, cung cấp hoặc tiết lộ thông tin về bí mật đời tư hoặc thông tin của cơ quan, tổ chức, cá nhân khác mà mình tiếp cận hoặc kiểm soát được trong giao dịch điện tử nếu không được sự đồng ý của họ, trừ trường hợp pháp luật có quy định khác.</a:t>
            </a:r>
            <a:endParaRPr lang="en-US" sz="3200"/>
          </a:p>
        </p:txBody>
      </p:sp>
    </p:spTree>
    <p:extLst>
      <p:ext uri="{BB962C8B-B14F-4D97-AF65-F5344CB8AC3E}">
        <p14:creationId xmlns:p14="http://schemas.microsoft.com/office/powerpoint/2010/main" val="2441114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4524315"/>
          </a:xfrm>
          <a:prstGeom prst="rect">
            <a:avLst/>
          </a:prstGeom>
          <a:noFill/>
        </p:spPr>
        <p:txBody>
          <a:bodyPr wrap="square" rtlCol="0">
            <a:spAutoFit/>
          </a:bodyPr>
          <a:lstStyle/>
          <a:p>
            <a:pPr algn="just"/>
            <a:r>
              <a:rPr lang="en-US" sz="3200"/>
              <a:t>Tổ chức cung cấp dịch vụ mạng có trách nhiệm phối hợp với các cơ quan hữu quan xây dựng quy chế quản lý và các biện pháp kỹ thuật để phòng ngừa, ngăn chặn việc sử dụng dịch vụ mạng nhằm phát tán các thông điệp dữ liệu có nội dung không phù hợp với truyền thống văn hoá, đạo đức của dân tộc, gây phương hại đến an ninh quốc gia, trật tự, an toàn xã hội hoặc vi phạm các quy định khác của pháp luật; phải chịu trách nhiệm trước pháp luật nếu không kịp thời loại bỏ những thông điệp dữ liệu đó khi đã nhận được thông báo của cơ quan nhà nước có thẩm quyền (Điều 47).</a:t>
            </a:r>
          </a:p>
        </p:txBody>
      </p:sp>
    </p:spTree>
    <p:extLst>
      <p:ext uri="{BB962C8B-B14F-4D97-AF65-F5344CB8AC3E}">
        <p14:creationId xmlns:p14="http://schemas.microsoft.com/office/powerpoint/2010/main" val="392069982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6001643"/>
          </a:xfrm>
          <a:prstGeom prst="rect">
            <a:avLst/>
          </a:prstGeom>
          <a:noFill/>
        </p:spPr>
        <p:txBody>
          <a:bodyPr wrap="square" rtlCol="0">
            <a:spAutoFit/>
          </a:bodyPr>
          <a:lstStyle/>
          <a:p>
            <a:pPr algn="just"/>
            <a:r>
              <a:rPr lang="en-US" sz="3200" b="1"/>
              <a:t>Chương VII:  Giải quyết tranh chấp và xử lý vi phạm</a:t>
            </a:r>
            <a:endParaRPr lang="en-US" sz="3200"/>
          </a:p>
          <a:p>
            <a:pPr algn="just"/>
            <a:r>
              <a:rPr lang="en-US" sz="3200"/>
              <a:t>Chương này quy định có tính nguyên tắc về xử lý vi phạm pháp luật trong giao dịch điện tử; tranh chấp trong giao dịch điện tử; giải quyết tranh chấp trong giao dịch điện tử.</a:t>
            </a:r>
          </a:p>
          <a:p>
            <a:pPr algn="just"/>
            <a:r>
              <a:rPr lang="en-US" sz="3200"/>
              <a:t>Theo quy định tại Điều 50, người có </a:t>
            </a:r>
            <a:r>
              <a:rPr lang="vi-VN" sz="3200"/>
              <a:t>hành vi vi phạm pháp luật về giao dịch điện tử thì tuỳ theo tính chất, mức độ vi phạm mà bị xử lý kỷ luật, xử phạt hành chính hoặc bị truy cứu trách nhiệm hình sự, nếu gây thiệt hại thì phải bồi thường theo quy định của pháp luật</a:t>
            </a:r>
            <a:r>
              <a:rPr lang="en-US" sz="3200"/>
              <a:t>; </a:t>
            </a:r>
            <a:r>
              <a:rPr lang="vi-VN" sz="3200"/>
              <a:t>Cơ quan, tổ chức có hành vi vi phạm pháp luật trong giao dịch điện tử thì tuỳ theo tính chất, mức độ vi phạm mà bị xử phạt hành chính, đình chỉ hoạt động, nếu gây thiệt hại thì phải bồi thường theo quy định của pháp luật.</a:t>
            </a:r>
            <a:endParaRPr lang="en-US" sz="3200"/>
          </a:p>
        </p:txBody>
      </p:sp>
    </p:spTree>
    <p:extLst>
      <p:ext uri="{BB962C8B-B14F-4D97-AF65-F5344CB8AC3E}">
        <p14:creationId xmlns:p14="http://schemas.microsoft.com/office/powerpoint/2010/main" val="33184476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2554545"/>
          </a:xfrm>
          <a:prstGeom prst="rect">
            <a:avLst/>
          </a:prstGeom>
          <a:noFill/>
        </p:spPr>
        <p:txBody>
          <a:bodyPr wrap="square" rtlCol="0">
            <a:spAutoFit/>
          </a:bodyPr>
          <a:lstStyle/>
          <a:p>
            <a:pPr algn="just"/>
            <a:r>
              <a:rPr lang="en-US" sz="3200"/>
              <a:t>Nhà nước khuyến khích các bên giải quyết tranh chấp phát sinh trong giao dịch điện tử thông qua hoà giải. Trong trường hợp các bên không hoà giải được thì thẩm quyền, trình tự, thủ tục giải quyết tranh chấp về giao dịch điện tử được thực hiện theo quy định của pháp luật (Điều 52).</a:t>
            </a:r>
          </a:p>
        </p:txBody>
      </p:sp>
    </p:spTree>
    <p:extLst>
      <p:ext uri="{BB962C8B-B14F-4D97-AF65-F5344CB8AC3E}">
        <p14:creationId xmlns:p14="http://schemas.microsoft.com/office/powerpoint/2010/main" val="135499016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730" y="360608"/>
            <a:ext cx="11694016" cy="1569660"/>
          </a:xfrm>
          <a:prstGeom prst="rect">
            <a:avLst/>
          </a:prstGeom>
          <a:noFill/>
        </p:spPr>
        <p:txBody>
          <a:bodyPr wrap="square" rtlCol="0">
            <a:spAutoFit/>
          </a:bodyPr>
          <a:lstStyle/>
          <a:p>
            <a:pPr algn="just"/>
            <a:r>
              <a:rPr lang="en-US" sz="3200" b="1"/>
              <a:t>Chương VIII: Điều khoản thi hành</a:t>
            </a:r>
            <a:endParaRPr lang="en-US" sz="3200"/>
          </a:p>
          <a:p>
            <a:pPr algn="just"/>
            <a:r>
              <a:rPr lang="en-US" sz="3200"/>
              <a:t>Chương này quy định về hiệu lực thi hành và hướng dẫn thi hành Luật Giao dịch điện tử.</a:t>
            </a:r>
          </a:p>
        </p:txBody>
      </p:sp>
    </p:spTree>
    <p:extLst>
      <p:ext uri="{BB962C8B-B14F-4D97-AF65-F5344CB8AC3E}">
        <p14:creationId xmlns:p14="http://schemas.microsoft.com/office/powerpoint/2010/main" val="7088622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3124</Words>
  <Application>Microsoft Office PowerPoint</Application>
  <PresentationFormat>Widescreen</PresentationFormat>
  <Paragraphs>70</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Thach</dc:creator>
  <cp:lastModifiedBy>Thach</cp:lastModifiedBy>
  <cp:revision>25</cp:revision>
  <dcterms:created xsi:type="dcterms:W3CDTF">2022-10-11T01:46:30Z</dcterms:created>
  <dcterms:modified xsi:type="dcterms:W3CDTF">2022-10-11T02:07:36Z</dcterms:modified>
</cp:coreProperties>
</file>