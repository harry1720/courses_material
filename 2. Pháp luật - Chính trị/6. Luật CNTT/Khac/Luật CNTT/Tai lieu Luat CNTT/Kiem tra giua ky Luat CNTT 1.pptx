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8043" autoAdjust="0"/>
  </p:normalViewPr>
  <p:slideViewPr>
    <p:cSldViewPr snapToGrid="0">
      <p:cViewPr varScale="1">
        <p:scale>
          <a:sx n="50" d="100"/>
          <a:sy n="50" d="100"/>
        </p:scale>
        <p:origin x="15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55295-A5E2-4FCC-BA77-C5843775B9EF}" type="datetimeFigureOut">
              <a:rPr lang="en-US" smtClean="0"/>
              <a:t>10/15/2019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1BECE-819D-4CF3-8389-75F0396AF3E4}" type="slidenum">
              <a:rPr lang="en-US" smtClean="0"/>
              <a:t>‹#›</a:t>
            </a:fld>
            <a:endParaRPr lang="en-US"/>
          </a:p>
        </p:txBody>
      </p:sp>
    </p:spTree>
    <p:extLst>
      <p:ext uri="{BB962C8B-B14F-4D97-AF65-F5344CB8AC3E}">
        <p14:creationId xmlns:p14="http://schemas.microsoft.com/office/powerpoint/2010/main" val="3784316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smtClean="0">
                <a:solidFill>
                  <a:schemeClr val="tx1"/>
                </a:solidFill>
                <a:effectLst/>
                <a:latin typeface="+mn-lt"/>
                <a:ea typeface="+mn-ea"/>
                <a:cs typeface="+mn-cs"/>
              </a:rPr>
              <a:t>Câu</a:t>
            </a:r>
            <a:r>
              <a:rPr lang="en-US" sz="1200" b="1" kern="1200" baseline="0" smtClean="0">
                <a:solidFill>
                  <a:schemeClr val="tx1"/>
                </a:solidFill>
                <a:effectLst/>
                <a:latin typeface="+mn-lt"/>
                <a:ea typeface="+mn-ea"/>
                <a:cs typeface="+mn-cs"/>
              </a:rPr>
              <a:t> 2:  c</a:t>
            </a:r>
          </a:p>
          <a:p>
            <a:r>
              <a:rPr lang="en-US" sz="1200" b="1" kern="1200" baseline="0" smtClean="0">
                <a:solidFill>
                  <a:schemeClr val="tx1"/>
                </a:solidFill>
                <a:effectLst/>
                <a:latin typeface="+mn-lt"/>
                <a:ea typeface="+mn-ea"/>
                <a:cs typeface="+mn-cs"/>
              </a:rPr>
              <a:t>Khoản 2 điều 3 nghị định 72/2013/NĐ-CP</a:t>
            </a:r>
          </a:p>
          <a:p>
            <a:r>
              <a:rPr lang="en-US" sz="1200" b="1" kern="1200" smtClean="0">
                <a:solidFill>
                  <a:schemeClr val="tx1"/>
                </a:solidFill>
                <a:effectLst/>
                <a:latin typeface="+mn-lt"/>
                <a:ea typeface="+mn-ea"/>
                <a:cs typeface="+mn-cs"/>
              </a:rPr>
              <a:t>Câu</a:t>
            </a:r>
            <a:r>
              <a:rPr lang="en-US" sz="1200" b="1" kern="1200" baseline="0" smtClean="0">
                <a:solidFill>
                  <a:schemeClr val="tx1"/>
                </a:solidFill>
                <a:effectLst/>
                <a:latin typeface="+mn-lt"/>
                <a:ea typeface="+mn-ea"/>
                <a:cs typeface="+mn-cs"/>
              </a:rPr>
              <a:t> 3 : b</a:t>
            </a:r>
          </a:p>
          <a:p>
            <a:r>
              <a:rPr lang="en-US" sz="1200" b="1" kern="1200" baseline="0" smtClean="0">
                <a:solidFill>
                  <a:schemeClr val="tx1"/>
                </a:solidFill>
                <a:effectLst/>
                <a:latin typeface="+mn-lt"/>
                <a:ea typeface="+mn-ea"/>
                <a:cs typeface="+mn-cs"/>
              </a:rPr>
              <a:t>điểm </a:t>
            </a:r>
            <a:r>
              <a:rPr lang="en-US" sz="1200" b="1" kern="1200" baseline="0" smtClean="0">
                <a:solidFill>
                  <a:schemeClr val="tx1"/>
                </a:solidFill>
                <a:effectLst/>
                <a:latin typeface="+mn-lt"/>
                <a:ea typeface="+mn-ea"/>
                <a:cs typeface="+mn-cs"/>
              </a:rPr>
              <a:t>m </a:t>
            </a:r>
            <a:r>
              <a:rPr lang="en-US" sz="1200" b="1" kern="1200" baseline="0" smtClean="0">
                <a:solidFill>
                  <a:schemeClr val="tx1"/>
                </a:solidFill>
                <a:effectLst/>
                <a:latin typeface="+mn-lt"/>
                <a:ea typeface="+mn-ea"/>
                <a:cs typeface="+mn-cs"/>
              </a:rPr>
              <a:t>khoản </a:t>
            </a:r>
            <a:r>
              <a:rPr lang="en-US" sz="1200" b="1" kern="1200" baseline="0" smtClean="0">
                <a:solidFill>
                  <a:schemeClr val="tx1"/>
                </a:solidFill>
                <a:effectLst/>
                <a:latin typeface="+mn-lt"/>
                <a:ea typeface="+mn-ea"/>
                <a:cs typeface="+mn-cs"/>
              </a:rPr>
              <a:t>1 </a:t>
            </a:r>
            <a:r>
              <a:rPr lang="en-US" sz="1200" b="1" kern="1200" baseline="0" smtClean="0">
                <a:solidFill>
                  <a:schemeClr val="tx1"/>
                </a:solidFill>
                <a:effectLst/>
                <a:latin typeface="+mn-lt"/>
                <a:ea typeface="+mn-ea"/>
                <a:cs typeface="+mn-cs"/>
              </a:rPr>
              <a:t>điều </a:t>
            </a:r>
            <a:r>
              <a:rPr lang="en-US" sz="1200" b="1" kern="1200" baseline="0" smtClean="0">
                <a:solidFill>
                  <a:schemeClr val="tx1"/>
                </a:solidFill>
                <a:effectLst/>
                <a:latin typeface="+mn-lt"/>
                <a:ea typeface="+mn-ea"/>
                <a:cs typeface="+mn-cs"/>
              </a:rPr>
              <a:t>14 </a:t>
            </a:r>
            <a:r>
              <a:rPr lang="en-US" sz="1200" b="1" kern="1200" baseline="0" smtClean="0">
                <a:solidFill>
                  <a:schemeClr val="tx1"/>
                </a:solidFill>
                <a:effectLst/>
                <a:latin typeface="+mn-lt"/>
                <a:ea typeface="+mn-ea"/>
                <a:cs typeface="+mn-cs"/>
              </a:rPr>
              <a:t>luật SHTT 2005 sửa đổi </a:t>
            </a:r>
            <a:r>
              <a:rPr lang="en-US" sz="1200" b="1" kern="1200" baseline="0" smtClean="0">
                <a:solidFill>
                  <a:schemeClr val="tx1"/>
                </a:solidFill>
                <a:effectLst/>
                <a:latin typeface="+mn-lt"/>
                <a:ea typeface="+mn-ea"/>
                <a:cs typeface="+mn-cs"/>
              </a:rPr>
              <a:t>2009</a:t>
            </a:r>
          </a:p>
          <a:p>
            <a:r>
              <a:rPr lang="en-US" sz="1200" b="1" kern="1200" baseline="0" smtClean="0">
                <a:solidFill>
                  <a:schemeClr val="tx1"/>
                </a:solidFill>
                <a:effectLst/>
                <a:latin typeface="+mn-lt"/>
                <a:ea typeface="+mn-ea"/>
                <a:cs typeface="+mn-cs"/>
              </a:rPr>
              <a:t>khoản 1 điều 22</a:t>
            </a:r>
            <a:endParaRPr lang="en-US" sz="1200" b="1" kern="1200" smtClean="0">
              <a:solidFill>
                <a:schemeClr val="tx1"/>
              </a:solidFill>
              <a:effectLst/>
              <a:latin typeface="+mn-lt"/>
              <a:ea typeface="+mn-ea"/>
              <a:cs typeface="+mn-cs"/>
            </a:endParaRPr>
          </a:p>
          <a:p>
            <a:r>
              <a:rPr lang="en-US" sz="1200" b="1" kern="1200" smtClean="0">
                <a:solidFill>
                  <a:schemeClr val="tx1"/>
                </a:solidFill>
                <a:effectLst/>
                <a:latin typeface="+mn-lt"/>
                <a:ea typeface="+mn-ea"/>
                <a:cs typeface="+mn-cs"/>
              </a:rPr>
              <a:t>Điều 58. Vi phạm quy định về sử dụng dịch vụ chữ ký số và chứng thư số</a:t>
            </a:r>
            <a:endParaRPr lang="en-US" sz="1200" kern="1200" smtClean="0">
              <a:solidFill>
                <a:schemeClr val="tx1"/>
              </a:solidFill>
              <a:effectLst/>
              <a:latin typeface="+mn-lt"/>
              <a:ea typeface="+mn-ea"/>
              <a:cs typeface="+mn-cs"/>
            </a:endParaRPr>
          </a:p>
          <a:p>
            <a:r>
              <a:rPr lang="en-US" sz="1200" kern="1200" smtClean="0">
                <a:solidFill>
                  <a:schemeClr val="tx1"/>
                </a:solidFill>
                <a:effectLst/>
                <a:latin typeface="+mn-lt"/>
                <a:ea typeface="+mn-ea"/>
                <a:cs typeface="+mn-cs"/>
              </a:rPr>
              <a:t>2. Phạt tiền từ 40.000.000 đồng đến 60.000.000 đồng đối với một trong các hành vi sau đây:</a:t>
            </a:r>
          </a:p>
          <a:p>
            <a:r>
              <a:rPr lang="en-US" sz="1200" kern="1200" smtClean="0">
                <a:solidFill>
                  <a:schemeClr val="tx1"/>
                </a:solidFill>
                <a:effectLst/>
                <a:latin typeface="+mn-lt"/>
                <a:ea typeface="+mn-ea"/>
                <a:cs typeface="+mn-cs"/>
              </a:rPr>
              <a:t>a) Cung cấp thông tin sai sự thật để được cấp hoặc thay đổi nội dung chứng thư số;</a:t>
            </a:r>
          </a:p>
          <a:p>
            <a:r>
              <a:rPr lang="en-US" sz="1200" kern="1200" smtClean="0">
                <a:solidFill>
                  <a:schemeClr val="tx1"/>
                </a:solidFill>
                <a:effectLst/>
                <a:latin typeface="+mn-lt"/>
                <a:ea typeface="+mn-ea"/>
                <a:cs typeface="+mn-cs"/>
              </a:rPr>
              <a:t>b) Sử dụng chữ ký số tương ứng với chứng thư số của cơ quan, tổ chức khi không còn giữ chức danh tương ứng với chứng thư số đó</a:t>
            </a:r>
          </a:p>
          <a:p>
            <a:endParaRPr lang="en-US"/>
          </a:p>
        </p:txBody>
      </p:sp>
      <p:sp>
        <p:nvSpPr>
          <p:cNvPr id="4" name="Slide Number Placeholder 3"/>
          <p:cNvSpPr>
            <a:spLocks noGrp="1"/>
          </p:cNvSpPr>
          <p:nvPr>
            <p:ph type="sldNum" sz="quarter" idx="10"/>
          </p:nvPr>
        </p:nvSpPr>
        <p:spPr/>
        <p:txBody>
          <a:bodyPr/>
          <a:lstStyle/>
          <a:p>
            <a:fld id="{3C71BECE-819D-4CF3-8389-75F0396AF3E4}" type="slidenum">
              <a:rPr lang="en-US" smtClean="0"/>
              <a:t>1</a:t>
            </a:fld>
            <a:endParaRPr lang="en-US"/>
          </a:p>
        </p:txBody>
      </p:sp>
    </p:spTree>
    <p:extLst>
      <p:ext uri="{BB962C8B-B14F-4D97-AF65-F5344CB8AC3E}">
        <p14:creationId xmlns:p14="http://schemas.microsoft.com/office/powerpoint/2010/main" val="2829899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253078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011217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472245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6E45E6-4EAC-4AAB-86BF-148A1FFB1237}" type="datetimeFigureOut">
              <a:rPr lang="en-US" smtClean="0"/>
              <a:t>10/15/2019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420467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6E45E6-4EAC-4AAB-86BF-148A1FFB1237}" type="datetimeFigureOut">
              <a:rPr lang="en-US" smtClean="0"/>
              <a:t>10/15/2019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813442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6E45E6-4EAC-4AAB-86BF-148A1FFB1237}" type="datetimeFigureOut">
              <a:rPr lang="en-US" smtClean="0"/>
              <a:t>10/15/2019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968841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6E45E6-4EAC-4AAB-86BF-148A1FFB1237}" type="datetimeFigureOut">
              <a:rPr lang="en-US" smtClean="0"/>
              <a:t>10/15/2019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486430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6E45E6-4EAC-4AAB-86BF-148A1FFB1237}" type="datetimeFigureOut">
              <a:rPr lang="en-US" smtClean="0"/>
              <a:t>10/15/2019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440220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6E45E6-4EAC-4AAB-86BF-148A1FFB1237}" type="datetimeFigureOut">
              <a:rPr lang="en-US" smtClean="0"/>
              <a:t>10/15/2019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392417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2145405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6E45E6-4EAC-4AAB-86BF-148A1FFB1237}" type="datetimeFigureOut">
              <a:rPr lang="en-US" smtClean="0"/>
              <a:t>10/15/2019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193F5F-DA00-42AD-905A-4C82F88BCB74}" type="slidenum">
              <a:rPr lang="en-US" smtClean="0"/>
              <a:t>‹#›</a:t>
            </a:fld>
            <a:endParaRPr lang="en-US"/>
          </a:p>
        </p:txBody>
      </p:sp>
    </p:spTree>
    <p:extLst>
      <p:ext uri="{BB962C8B-B14F-4D97-AF65-F5344CB8AC3E}">
        <p14:creationId xmlns:p14="http://schemas.microsoft.com/office/powerpoint/2010/main" val="1303898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6E45E6-4EAC-4AAB-86BF-148A1FFB1237}" type="datetimeFigureOut">
              <a:rPr lang="en-US" smtClean="0"/>
              <a:t>10/15/2019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193F5F-DA00-42AD-905A-4C82F88BCB74}" type="slidenum">
              <a:rPr lang="en-US" smtClean="0"/>
              <a:t>‹#›</a:t>
            </a:fld>
            <a:endParaRPr lang="en-US"/>
          </a:p>
        </p:txBody>
      </p:sp>
    </p:spTree>
    <p:extLst>
      <p:ext uri="{BB962C8B-B14F-4D97-AF65-F5344CB8AC3E}">
        <p14:creationId xmlns:p14="http://schemas.microsoft.com/office/powerpoint/2010/main" val="1666702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350" y="117693"/>
            <a:ext cx="12058649" cy="6324808"/>
          </a:xfrm>
          <a:prstGeom prst="rect">
            <a:avLst/>
          </a:prstGeom>
          <a:noFill/>
        </p:spPr>
        <p:txBody>
          <a:bodyPr wrap="square" rtlCol="0">
            <a:spAutoFit/>
          </a:bodyPr>
          <a:lstStyle/>
          <a:p>
            <a:pPr>
              <a:lnSpc>
                <a:spcPct val="150000"/>
              </a:lnSpc>
            </a:pPr>
            <a:r>
              <a:rPr lang="en-US" b="1" smtClean="0">
                <a:latin typeface="Times New Roman" panose="02020603050405020304" pitchFamily="18" charset="0"/>
                <a:cs typeface="Times New Roman" panose="02020603050405020304" pitchFamily="18" charset="0"/>
              </a:rPr>
              <a:t>Câu 1</a:t>
            </a:r>
            <a:r>
              <a:rPr lang="en-US" smtClean="0">
                <a:latin typeface="Times New Roman" panose="02020603050405020304" pitchFamily="18" charset="0"/>
                <a:cs typeface="Times New Roman" panose="02020603050405020304" pitchFamily="18" charset="0"/>
              </a:rPr>
              <a:t>. Nêu quy định </a:t>
            </a:r>
            <a:r>
              <a:rPr lang="en-US" smtClean="0">
                <a:latin typeface="Times New Roman" panose="02020603050405020304" pitchFamily="18" charset="0"/>
                <a:cs typeface="Times New Roman" panose="02020603050405020304" pitchFamily="18" charset="0"/>
              </a:rPr>
              <a:t>về trang </a:t>
            </a:r>
            <a:r>
              <a:rPr lang="en-US" smtClean="0">
                <a:latin typeface="Times New Roman" panose="02020603050405020304" pitchFamily="18" charset="0"/>
                <a:cs typeface="Times New Roman" panose="02020603050405020304" pitchFamily="18" charset="0"/>
              </a:rPr>
              <a:t>thông </a:t>
            </a:r>
            <a:r>
              <a:rPr lang="en-US">
                <a:latin typeface="Times New Roman" panose="02020603050405020304" pitchFamily="18" charset="0"/>
                <a:cs typeface="Times New Roman" panose="02020603050405020304" pitchFamily="18" charset="0"/>
              </a:rPr>
              <a:t>tin điện tử </a:t>
            </a:r>
            <a:r>
              <a:rPr lang="en-US">
                <a:latin typeface="Times New Roman" panose="02020603050405020304" pitchFamily="18" charset="0"/>
                <a:cs typeface="Times New Roman" panose="02020603050405020304" pitchFamily="18" charset="0"/>
              </a:rPr>
              <a:t>bán </a:t>
            </a:r>
            <a:r>
              <a:rPr lang="en-US" smtClean="0">
                <a:latin typeface="Times New Roman" panose="02020603050405020304" pitchFamily="18" charset="0"/>
                <a:cs typeface="Times New Roman" panose="02020603050405020304" pitchFamily="18" charset="0"/>
              </a:rPr>
              <a:t>hàng</a:t>
            </a:r>
            <a:r>
              <a:rPr lang="en-US" b="1" smtClean="0"/>
              <a:t> </a:t>
            </a:r>
            <a:r>
              <a:rPr lang="en-US" smtClean="0">
                <a:latin typeface="Times New Roman" panose="02020603050405020304" pitchFamily="18" charset="0"/>
                <a:cs typeface="Times New Roman" panose="02020603050405020304" pitchFamily="18" charset="0"/>
              </a:rPr>
              <a:t>được </a:t>
            </a:r>
            <a:r>
              <a:rPr lang="en-US" smtClean="0">
                <a:latin typeface="Times New Roman" panose="02020603050405020304" pitchFamily="18" charset="0"/>
                <a:cs typeface="Times New Roman" panose="02020603050405020304" pitchFamily="18" charset="0"/>
              </a:rPr>
              <a:t>quy định trong Luật Công nghệ thông tin, Luật số 67/2006/QH11.</a:t>
            </a:r>
          </a:p>
          <a:p>
            <a:pPr>
              <a:lnSpc>
                <a:spcPct val="150000"/>
              </a:lnSpc>
            </a:pPr>
            <a:r>
              <a:rPr lang="en-US" smtClean="0">
                <a:latin typeface="Times New Roman" panose="02020603050405020304" pitchFamily="18" charset="0"/>
                <a:cs typeface="Times New Roman" panose="02020603050405020304" pitchFamily="18" charset="0"/>
              </a:rPr>
              <a:t>Chọn đáp án đúng và nêu căn cứ cho câu 2 và câu 3</a:t>
            </a:r>
          </a:p>
          <a:p>
            <a:pPr>
              <a:lnSpc>
                <a:spcPct val="150000"/>
              </a:lnSpc>
            </a:pPr>
            <a:r>
              <a:rPr lang="en-US" b="1" smtClean="0">
                <a:latin typeface="Times New Roman" panose="02020603050405020304" pitchFamily="18" charset="0"/>
                <a:cs typeface="Times New Roman" panose="02020603050405020304" pitchFamily="18" charset="0"/>
              </a:rPr>
              <a:t>Câu 2</a:t>
            </a:r>
            <a:r>
              <a:rPr lang="en-US" smtClean="0">
                <a:latin typeface="Times New Roman" panose="02020603050405020304" pitchFamily="18" charset="0"/>
                <a:cs typeface="Times New Roman" panose="02020603050405020304" pitchFamily="18" charset="0"/>
              </a:rPr>
              <a:t>. </a:t>
            </a:r>
          </a:p>
          <a:p>
            <a:r>
              <a:rPr lang="vi-VN" smtClean="0">
                <a:latin typeface="+mj-lt"/>
              </a:rPr>
              <a:t>Tài </a:t>
            </a:r>
            <a:r>
              <a:rPr lang="vi-VN">
                <a:latin typeface="+mj-lt"/>
              </a:rPr>
              <a:t>nguyên Internet là tập hợp tên và số thuộc quyền quản lý của Việt Nam, bao gồm:</a:t>
            </a:r>
            <a:endParaRPr lang="en-US">
              <a:latin typeface="+mj-lt"/>
            </a:endParaRPr>
          </a:p>
          <a:p>
            <a:r>
              <a:rPr lang="en-US">
                <a:latin typeface="+mj-lt"/>
              </a:rPr>
              <a:t>1</a:t>
            </a:r>
            <a:r>
              <a:rPr lang="en-US" smtClean="0">
                <a:latin typeface="+mj-lt"/>
              </a:rPr>
              <a:t>) </a:t>
            </a:r>
            <a:r>
              <a:rPr lang="vi-VN">
                <a:latin typeface="+mj-lt"/>
              </a:rPr>
              <a:t>Tên miền quốc gia Việt Nam “.vn”, các tên miền khác liên quan đến quyền </a:t>
            </a:r>
            <a:r>
              <a:rPr lang="en-US">
                <a:latin typeface="+mj-lt"/>
              </a:rPr>
              <a:t>l</a:t>
            </a:r>
            <a:r>
              <a:rPr lang="vi-VN">
                <a:latin typeface="+mj-lt"/>
              </a:rPr>
              <a:t>ợi quốc gia Việt Nam; địa chỉ Internet, số hiệu mạng, các tên và số khác được các tổ chức quốc tế phân bổ cho Việt Nam thông qua Trung tâm Internet Việt Nam (VNNIC);</a:t>
            </a:r>
            <a:endParaRPr lang="en-US">
              <a:latin typeface="+mj-lt"/>
            </a:endParaRPr>
          </a:p>
          <a:p>
            <a:r>
              <a:rPr lang="en-US">
                <a:latin typeface="+mj-lt"/>
              </a:rPr>
              <a:t>2</a:t>
            </a:r>
            <a:r>
              <a:rPr lang="en-US" smtClean="0">
                <a:latin typeface="+mj-lt"/>
              </a:rPr>
              <a:t>) </a:t>
            </a:r>
            <a:r>
              <a:rPr lang="vi-VN">
                <a:latin typeface="+mj-lt"/>
              </a:rPr>
              <a:t>Tên miền quốc tế, địa chỉ Internet, số hiệu mạng, tên và số khác được tổ chức quốc tế phân bổ cho tổ chức, cá nhân tại </a:t>
            </a:r>
            <a:r>
              <a:rPr lang="vi-VN">
                <a:latin typeface="+mj-lt"/>
              </a:rPr>
              <a:t>Việt </a:t>
            </a:r>
            <a:r>
              <a:rPr lang="vi-VN" smtClean="0">
                <a:latin typeface="+mj-lt"/>
              </a:rPr>
              <a:t>Nam</a:t>
            </a:r>
            <a:endParaRPr lang="en-US" smtClean="0">
              <a:latin typeface="+mj-lt"/>
            </a:endParaRPr>
          </a:p>
          <a:p>
            <a:r>
              <a:rPr lang="en-US" smtClean="0">
                <a:latin typeface="Times New Roman" panose="02020603050405020304" pitchFamily="18" charset="0"/>
                <a:cs typeface="Times New Roman" panose="02020603050405020304" pitchFamily="18" charset="0"/>
              </a:rPr>
              <a:t>a</a:t>
            </a:r>
            <a:r>
              <a:rPr lang="en-US" smtClean="0">
                <a:latin typeface="Times New Roman" panose="02020603050405020304" pitchFamily="18" charset="0"/>
                <a:cs typeface="Times New Roman" panose="02020603050405020304" pitchFamily="18" charset="0"/>
              </a:rPr>
              <a:t>)  1 đúng, 2 sai		b) 1 sai, 2 đúng		c) 1 đúng, 2 đúng		d) 1 sai, 2 sai</a:t>
            </a:r>
          </a:p>
          <a:p>
            <a:pPr>
              <a:lnSpc>
                <a:spcPct val="150000"/>
              </a:lnSpc>
            </a:pPr>
            <a:r>
              <a:rPr lang="en-US" b="1" smtClean="0">
                <a:latin typeface="Times New Roman" panose="02020603050405020304" pitchFamily="18" charset="0"/>
                <a:cs typeface="Times New Roman" panose="02020603050405020304" pitchFamily="18" charset="0"/>
              </a:rPr>
              <a:t>Câu 3</a:t>
            </a:r>
            <a:r>
              <a:rPr lang="en-US" smtClean="0">
                <a:latin typeface="Times New Roman" panose="02020603050405020304" pitchFamily="18" charset="0"/>
                <a:cs typeface="Times New Roman" panose="02020603050405020304" pitchFamily="18" charset="0"/>
              </a:rPr>
              <a:t> Chương trình máy tính được bảo hộ </a:t>
            </a:r>
            <a:r>
              <a:rPr lang="en-US" smtClean="0">
                <a:latin typeface="Times New Roman" panose="02020603050405020304" pitchFamily="18" charset="0"/>
                <a:cs typeface="Times New Roman" panose="02020603050405020304" pitchFamily="18" charset="0"/>
              </a:rPr>
              <a:t>quyền nào</a:t>
            </a:r>
            <a:r>
              <a:rPr lang="en-US" smtClean="0">
                <a:latin typeface="Times New Roman" panose="02020603050405020304" pitchFamily="18" charset="0"/>
                <a:cs typeface="Times New Roman" panose="02020603050405020304" pitchFamily="18" charset="0"/>
              </a:rPr>
              <a:t>:</a:t>
            </a:r>
            <a:endParaRPr lang="en-US" smtClean="0">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1</a:t>
            </a:r>
            <a:r>
              <a:rPr lang="en-US" smtClean="0">
                <a:latin typeface="Times New Roman" panose="02020603050405020304" pitchFamily="18" charset="0"/>
                <a:cs typeface="Times New Roman" panose="02020603050405020304" pitchFamily="18" charset="0"/>
              </a:rPr>
              <a:t>) </a:t>
            </a:r>
            <a:r>
              <a:rPr lang="en-US" smtClean="0">
                <a:latin typeface="Times New Roman" panose="02020603050405020304" pitchFamily="18" charset="0"/>
                <a:cs typeface="Times New Roman" panose="02020603050405020304" pitchFamily="18" charset="0"/>
              </a:rPr>
              <a:t>Quyền tác giả.</a:t>
            </a:r>
            <a:endParaRPr lang="en-US" smtClean="0">
              <a:latin typeface="Times New Roman" panose="02020603050405020304" pitchFamily="18" charset="0"/>
              <a:cs typeface="Times New Roman" panose="02020603050405020304" pitchFamily="18" charset="0"/>
            </a:endParaRPr>
          </a:p>
          <a:p>
            <a:pPr>
              <a:lnSpc>
                <a:spcPct val="150000"/>
              </a:lnSpc>
            </a:pPr>
            <a:r>
              <a:rPr lang="en-US" smtClean="0">
                <a:latin typeface="Times New Roman" panose="02020603050405020304" pitchFamily="18" charset="0"/>
                <a:cs typeface="Times New Roman" panose="02020603050405020304" pitchFamily="18" charset="0"/>
              </a:rPr>
              <a:t>2) </a:t>
            </a:r>
            <a:r>
              <a:rPr lang="en-US" smtClean="0">
                <a:latin typeface="Times New Roman" panose="02020603050405020304" pitchFamily="18" charset="0"/>
                <a:cs typeface="Times New Roman" panose="02020603050405020304" pitchFamily="18" charset="0"/>
              </a:rPr>
              <a:t>Quyền liên quan đến quyền tác giả.</a:t>
            </a:r>
            <a:endParaRPr lang="en-US" smtClean="0">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a</a:t>
            </a:r>
            <a:r>
              <a:rPr lang="en-US" smtClean="0">
                <a:latin typeface="Times New Roman" panose="02020603050405020304" pitchFamily="18" charset="0"/>
                <a:cs typeface="Times New Roman" panose="02020603050405020304" pitchFamily="18" charset="0"/>
              </a:rPr>
              <a:t>) 1 đúng, 2 sai	b) 1 sai, 2 đúng	c) 1 đúng, 2 đúng		d) 1 sai, 2 sai</a:t>
            </a:r>
          </a:p>
          <a:p>
            <a:pPr>
              <a:lnSpc>
                <a:spcPct val="150000"/>
              </a:lnSpc>
            </a:pPr>
            <a:r>
              <a:rPr lang="en-US" b="1" smtClean="0">
                <a:latin typeface="Times New Roman" panose="02020603050405020304" pitchFamily="18" charset="0"/>
                <a:cs typeface="Times New Roman" panose="02020603050405020304" pitchFamily="18" charset="0"/>
              </a:rPr>
              <a:t>Câu 4</a:t>
            </a:r>
            <a:r>
              <a:rPr lang="en-US" smtClean="0">
                <a:latin typeface="Times New Roman" panose="02020603050405020304" pitchFamily="18" charset="0"/>
                <a:cs typeface="Times New Roman" panose="02020603050405020304" pitchFamily="18" charset="0"/>
              </a:rPr>
              <a:t>. Ông A. sử dụng chữ ký số để ký vào hợp đồng mua bán giữa công ty B. và công ty C. (Ông A. đại diện cho công ty B.). Sau một thời gian hợp đồng trên bị hủy và công ty B. bị thất thoát với số tiền lớn.</a:t>
            </a:r>
          </a:p>
          <a:p>
            <a:pPr>
              <a:lnSpc>
                <a:spcPct val="150000"/>
              </a:lnSpc>
            </a:pPr>
            <a:r>
              <a:rPr lang="en-US" smtClean="0">
                <a:latin typeface="Times New Roman" panose="02020603050405020304" pitchFamily="18" charset="0"/>
                <a:cs typeface="Times New Roman" panose="02020603050405020304" pitchFamily="18" charset="0"/>
              </a:rPr>
              <a:t>Trên cơ sở các quy định đã học, bạn hãy phân tích và đưa ra kết luận, nếu có vi phạm thì bị xử phạt vi phạm hành chính như thế nào?</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8074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291</Words>
  <Application>Microsoft Office PowerPoint</Application>
  <PresentationFormat>Widescreen</PresentationFormat>
  <Paragraphs>23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11</cp:revision>
  <dcterms:created xsi:type="dcterms:W3CDTF">2019-10-15T03:40:13Z</dcterms:created>
  <dcterms:modified xsi:type="dcterms:W3CDTF">2019-10-15T05:14:44Z</dcterms:modified>
</cp:coreProperties>
</file>