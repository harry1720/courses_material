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handoutMasterIdLst>
    <p:handoutMasterId r:id="rId77"/>
  </p:handoutMasterIdLst>
  <p:sldIdLst>
    <p:sldId id="328" r:id="rId2"/>
    <p:sldId id="259" r:id="rId3"/>
    <p:sldId id="308" r:id="rId4"/>
    <p:sldId id="309" r:id="rId5"/>
    <p:sldId id="310" r:id="rId6"/>
    <p:sldId id="311" r:id="rId7"/>
    <p:sldId id="290" r:id="rId8"/>
    <p:sldId id="350" r:id="rId9"/>
    <p:sldId id="351" r:id="rId10"/>
    <p:sldId id="352" r:id="rId11"/>
    <p:sldId id="822" r:id="rId12"/>
    <p:sldId id="588" r:id="rId13"/>
    <p:sldId id="353" r:id="rId14"/>
    <p:sldId id="354" r:id="rId15"/>
    <p:sldId id="355" r:id="rId16"/>
    <p:sldId id="398" r:id="rId17"/>
    <p:sldId id="399" r:id="rId18"/>
    <p:sldId id="400" r:id="rId19"/>
    <p:sldId id="401" r:id="rId20"/>
    <p:sldId id="402" r:id="rId21"/>
    <p:sldId id="403" r:id="rId22"/>
    <p:sldId id="404" r:id="rId23"/>
    <p:sldId id="665" r:id="rId24"/>
    <p:sldId id="417" r:id="rId25"/>
    <p:sldId id="821" r:id="rId26"/>
    <p:sldId id="418" r:id="rId27"/>
    <p:sldId id="405" r:id="rId28"/>
    <p:sldId id="406" r:id="rId29"/>
    <p:sldId id="407" r:id="rId30"/>
    <p:sldId id="408" r:id="rId31"/>
    <p:sldId id="409" r:id="rId32"/>
    <p:sldId id="410" r:id="rId33"/>
    <p:sldId id="411" r:id="rId34"/>
    <p:sldId id="412" r:id="rId35"/>
    <p:sldId id="413" r:id="rId36"/>
    <p:sldId id="414" r:id="rId37"/>
    <p:sldId id="415" r:id="rId38"/>
    <p:sldId id="421" r:id="rId39"/>
    <p:sldId id="422" r:id="rId40"/>
    <p:sldId id="423" r:id="rId41"/>
    <p:sldId id="426" r:id="rId42"/>
    <p:sldId id="427" r:id="rId43"/>
    <p:sldId id="428" r:id="rId44"/>
    <p:sldId id="429" r:id="rId45"/>
    <p:sldId id="431" r:id="rId46"/>
    <p:sldId id="432" r:id="rId47"/>
    <p:sldId id="433" r:id="rId48"/>
    <p:sldId id="448" r:id="rId49"/>
    <p:sldId id="291" r:id="rId50"/>
    <p:sldId id="449" r:id="rId51"/>
    <p:sldId id="548" r:id="rId52"/>
    <p:sldId id="292" r:id="rId53"/>
    <p:sldId id="545" r:id="rId54"/>
    <p:sldId id="546" r:id="rId55"/>
    <p:sldId id="547" r:id="rId56"/>
    <p:sldId id="550" r:id="rId57"/>
    <p:sldId id="549" r:id="rId58"/>
    <p:sldId id="552" r:id="rId59"/>
    <p:sldId id="551" r:id="rId60"/>
    <p:sldId id="553" r:id="rId61"/>
    <p:sldId id="554" r:id="rId62"/>
    <p:sldId id="293" r:id="rId63"/>
    <p:sldId id="294" r:id="rId64"/>
    <p:sldId id="295" r:id="rId65"/>
    <p:sldId id="296" r:id="rId66"/>
    <p:sldId id="299" r:id="rId67"/>
    <p:sldId id="300" r:id="rId68"/>
    <p:sldId id="301" r:id="rId69"/>
    <p:sldId id="302" r:id="rId70"/>
    <p:sldId id="303" r:id="rId71"/>
    <p:sldId id="304" r:id="rId72"/>
    <p:sldId id="305" r:id="rId73"/>
    <p:sldId id="306" r:id="rId74"/>
    <p:sldId id="307" r:id="rId7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5868"/>
    <a:srgbClr val="5F5F5F"/>
    <a:srgbClr val="808080"/>
    <a:srgbClr val="66990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p:restoredTop sz="70528" autoAdjust="0"/>
  </p:normalViewPr>
  <p:slideViewPr>
    <p:cSldViewPr showGuides="1">
      <p:cViewPr varScale="1">
        <p:scale>
          <a:sx n="55" d="100"/>
          <a:sy n="55" d="100"/>
        </p:scale>
        <p:origin x="21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18/12/2025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18/12/2025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Gửi</a:t>
            </a:r>
            <a:r>
              <a:rPr lang="en-US" dirty="0"/>
              <a:t> mail -&gt; </a:t>
            </a:r>
            <a:r>
              <a:rPr lang="en-US" dirty="0" err="1"/>
              <a:t>có</a:t>
            </a:r>
            <a:r>
              <a:rPr lang="en-US" dirty="0"/>
              <a:t> </a:t>
            </a:r>
            <a:r>
              <a:rPr lang="en-US" dirty="0" err="1"/>
              <a:t>mục</a:t>
            </a:r>
            <a:r>
              <a:rPr lang="en-US" dirty="0"/>
              <a:t> </a:t>
            </a:r>
            <a:r>
              <a:rPr lang="en-US" dirty="0" err="1"/>
              <a:t>điều</a:t>
            </a:r>
            <a:r>
              <a:rPr lang="en-US" dirty="0"/>
              <a:t> </a:t>
            </a:r>
            <a:r>
              <a:rPr lang="en-US" dirty="0" err="1"/>
              <a:t>khoản</a:t>
            </a:r>
            <a:r>
              <a:rPr lang="en-US" dirty="0"/>
              <a:t> </a:t>
            </a:r>
            <a:r>
              <a:rPr lang="en-US" dirty="0" err="1"/>
              <a:t>sử</a:t>
            </a:r>
            <a:r>
              <a:rPr lang="en-US" dirty="0"/>
              <a:t> </a:t>
            </a:r>
            <a:r>
              <a:rPr lang="en-US" dirty="0" err="1"/>
              <a:t>dụng</a:t>
            </a:r>
            <a:endParaRPr lang="en-US" dirty="0"/>
          </a:p>
        </p:txBody>
      </p:sp>
      <p:sp>
        <p:nvSpPr>
          <p:cNvPr id="4" name="Slide Number Placeholder 3"/>
          <p:cNvSpPr>
            <a:spLocks noGrp="1"/>
          </p:cNvSpPr>
          <p:nvPr>
            <p:ph type="sldNum" sz="quarter" idx="5"/>
          </p:nvPr>
        </p:nvSpPr>
        <p:spPr/>
        <p:txBody>
          <a:bodyPr/>
          <a:lstStyle/>
          <a:p>
            <a:fld id="{21B2AA4F-B828-4D7C-AFD3-893933DAFCB4}" type="slidenum">
              <a:rPr lang="en-US" smtClean="0"/>
              <a:t>2</a:t>
            </a:fld>
            <a:endParaRPr lang="en-US"/>
          </a:p>
        </p:txBody>
      </p:sp>
    </p:spTree>
    <p:extLst>
      <p:ext uri="{BB962C8B-B14F-4D97-AF65-F5344CB8AC3E}">
        <p14:creationId xmlns:p14="http://schemas.microsoft.com/office/powerpoint/2010/main" val="3763335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Ghi</a:t>
            </a:r>
            <a:r>
              <a:rPr lang="en-US" dirty="0"/>
              <a:t> </a:t>
            </a:r>
            <a:r>
              <a:rPr lang="en-US" dirty="0" err="1"/>
              <a:t>chương</a:t>
            </a:r>
            <a:r>
              <a:rPr lang="en-US" dirty="0"/>
              <a:t> 1,2…5,6</a:t>
            </a:r>
          </a:p>
        </p:txBody>
      </p:sp>
      <p:sp>
        <p:nvSpPr>
          <p:cNvPr id="4" name="Slide Number Placeholder 3"/>
          <p:cNvSpPr>
            <a:spLocks noGrp="1"/>
          </p:cNvSpPr>
          <p:nvPr>
            <p:ph type="sldNum" sz="quarter" idx="5"/>
          </p:nvPr>
        </p:nvSpPr>
        <p:spPr/>
        <p:txBody>
          <a:bodyPr/>
          <a:lstStyle/>
          <a:p>
            <a:fld id="{21B2AA4F-B828-4D7C-AFD3-893933DAFCB4}" type="slidenum">
              <a:rPr lang="en-US" smtClean="0"/>
              <a:t>3</a:t>
            </a:fld>
            <a:endParaRPr lang="en-US"/>
          </a:p>
        </p:txBody>
      </p:sp>
    </p:spTree>
    <p:extLst>
      <p:ext uri="{BB962C8B-B14F-4D97-AF65-F5344CB8AC3E}">
        <p14:creationId xmlns:p14="http://schemas.microsoft.com/office/powerpoint/2010/main" val="3336291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Ghi</a:t>
            </a:r>
            <a:r>
              <a:rPr lang="en-US" dirty="0"/>
              <a:t> </a:t>
            </a:r>
            <a:r>
              <a:rPr lang="en-US" dirty="0" err="1"/>
              <a:t>phần</a:t>
            </a:r>
            <a:r>
              <a:rPr lang="en-US" dirty="0"/>
              <a:t> </a:t>
            </a:r>
            <a:r>
              <a:rPr lang="en-US" dirty="0" err="1"/>
              <a:t>màu</a:t>
            </a:r>
            <a:r>
              <a:rPr lang="en-US" dirty="0"/>
              <a:t> </a:t>
            </a:r>
            <a:r>
              <a:rPr lang="en-US" dirty="0" err="1"/>
              <a:t>đỏ</a:t>
            </a:r>
            <a:endParaRPr lang="en-US" dirty="0"/>
          </a:p>
          <a:p>
            <a:endParaRPr lang="en-US" dirty="0"/>
          </a:p>
        </p:txBody>
      </p:sp>
      <p:sp>
        <p:nvSpPr>
          <p:cNvPr id="4" name="Slide Number Placeholder 3"/>
          <p:cNvSpPr>
            <a:spLocks noGrp="1"/>
          </p:cNvSpPr>
          <p:nvPr>
            <p:ph type="sldNum" sz="quarter" idx="5"/>
          </p:nvPr>
        </p:nvSpPr>
        <p:spPr/>
        <p:txBody>
          <a:bodyPr/>
          <a:lstStyle/>
          <a:p>
            <a:fld id="{21B2AA4F-B828-4D7C-AFD3-893933DAFCB4}" type="slidenum">
              <a:rPr lang="en-US" smtClean="0"/>
              <a:t>8</a:t>
            </a:fld>
            <a:endParaRPr lang="en-US"/>
          </a:p>
        </p:txBody>
      </p:sp>
    </p:spTree>
    <p:extLst>
      <p:ext uri="{BB962C8B-B14F-4D97-AF65-F5344CB8AC3E}">
        <p14:creationId xmlns:p14="http://schemas.microsoft.com/office/powerpoint/2010/main" val="2899801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Tại</a:t>
            </a:r>
            <a:r>
              <a:rPr lang="en-US" dirty="0"/>
              <a:t> = </a:t>
            </a:r>
            <a:r>
              <a:rPr lang="en-US" dirty="0" err="1"/>
              <a:t>Bất</a:t>
            </a:r>
            <a:r>
              <a:rPr lang="en-US" dirty="0"/>
              <a:t> </a:t>
            </a:r>
            <a:r>
              <a:rPr lang="en-US" dirty="0" err="1"/>
              <a:t>cứ</a:t>
            </a:r>
            <a:r>
              <a:rPr lang="en-US" dirty="0"/>
              <a:t> </a:t>
            </a:r>
            <a:r>
              <a:rPr lang="en-US" dirty="0" err="1"/>
              <a:t>nơi</a:t>
            </a:r>
            <a:r>
              <a:rPr lang="en-US" dirty="0"/>
              <a:t> </a:t>
            </a:r>
            <a:r>
              <a:rPr lang="en-US" dirty="0" err="1"/>
              <a:t>nào</a:t>
            </a:r>
            <a:r>
              <a:rPr lang="en-US" dirty="0"/>
              <a:t> </a:t>
            </a:r>
            <a:r>
              <a:rPr lang="en-US" dirty="0" err="1"/>
              <a:t>mà</a:t>
            </a:r>
            <a:r>
              <a:rPr lang="en-US" dirty="0"/>
              <a:t> </a:t>
            </a:r>
            <a:r>
              <a:rPr lang="en-US" dirty="0" err="1"/>
              <a:t>liên</a:t>
            </a:r>
            <a:r>
              <a:rPr lang="en-US" dirty="0"/>
              <a:t> </a:t>
            </a:r>
            <a:r>
              <a:rPr lang="en-US" dirty="0" err="1"/>
              <a:t>quan</a:t>
            </a:r>
            <a:r>
              <a:rPr lang="en-US" dirty="0"/>
              <a:t> </a:t>
            </a:r>
            <a:r>
              <a:rPr lang="en-US" dirty="0" err="1"/>
              <a:t>đến</a:t>
            </a:r>
            <a:r>
              <a:rPr lang="en-US" dirty="0"/>
              <a:t> Việt Nam, </a:t>
            </a:r>
            <a:r>
              <a:rPr lang="en-US" dirty="0" err="1"/>
              <a:t>khác</a:t>
            </a:r>
            <a:r>
              <a:rPr lang="en-US" dirty="0"/>
              <a:t> </a:t>
            </a:r>
            <a:r>
              <a:rPr lang="en-US" dirty="0" err="1"/>
              <a:t>với</a:t>
            </a:r>
            <a:r>
              <a:rPr lang="en-US" dirty="0"/>
              <a:t> </a:t>
            </a:r>
            <a:r>
              <a:rPr lang="en-US" dirty="0" err="1"/>
              <a:t>nghĩa</a:t>
            </a:r>
            <a:r>
              <a:rPr lang="en-US" dirty="0"/>
              <a:t> </a:t>
            </a:r>
            <a:r>
              <a:rPr lang="en-US" dirty="0" err="1"/>
              <a:t>thông</a:t>
            </a:r>
            <a:r>
              <a:rPr lang="en-US" dirty="0"/>
              <a:t> </a:t>
            </a:r>
            <a:r>
              <a:rPr lang="en-US" dirty="0" err="1"/>
              <a:t>thường</a:t>
            </a:r>
            <a:r>
              <a:rPr lang="en-US" dirty="0"/>
              <a:t>.</a:t>
            </a:r>
          </a:p>
          <a:p>
            <a:r>
              <a:rPr lang="en-US" dirty="0" err="1"/>
              <a:t>Ghi</a:t>
            </a:r>
            <a:r>
              <a:rPr lang="en-US" dirty="0"/>
              <a:t>.</a:t>
            </a:r>
          </a:p>
        </p:txBody>
      </p:sp>
      <p:sp>
        <p:nvSpPr>
          <p:cNvPr id="4" name="Slide Number Placeholder 3"/>
          <p:cNvSpPr>
            <a:spLocks noGrp="1"/>
          </p:cNvSpPr>
          <p:nvPr>
            <p:ph type="sldNum" sz="quarter" idx="5"/>
          </p:nvPr>
        </p:nvSpPr>
        <p:spPr/>
        <p:txBody>
          <a:bodyPr/>
          <a:lstStyle/>
          <a:p>
            <a:fld id="{21B2AA4F-B828-4D7C-AFD3-893933DAFCB4}" type="slidenum">
              <a:rPr lang="en-US" smtClean="0"/>
              <a:t>9</a:t>
            </a:fld>
            <a:endParaRPr lang="en-US"/>
          </a:p>
        </p:txBody>
      </p:sp>
    </p:spTree>
    <p:extLst>
      <p:ext uri="{BB962C8B-B14F-4D97-AF65-F5344CB8AC3E}">
        <p14:creationId xmlns:p14="http://schemas.microsoft.com/office/powerpoint/2010/main" val="4110188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Ghi</a:t>
            </a:r>
            <a:r>
              <a:rPr lang="en-US" dirty="0"/>
              <a:t> </a:t>
            </a:r>
            <a:r>
              <a:rPr lang="en-US" dirty="0" err="1"/>
              <a:t>phần</a:t>
            </a:r>
            <a:r>
              <a:rPr lang="en-US" dirty="0"/>
              <a:t> </a:t>
            </a:r>
            <a:r>
              <a:rPr lang="en-US" dirty="0" err="1"/>
              <a:t>màu</a:t>
            </a:r>
            <a:r>
              <a:rPr lang="en-US" dirty="0"/>
              <a:t> </a:t>
            </a:r>
            <a:r>
              <a:rPr lang="en-US" dirty="0" err="1"/>
              <a:t>đỏ</a:t>
            </a:r>
            <a:endParaRPr lang="en-US" dirty="0"/>
          </a:p>
        </p:txBody>
      </p:sp>
      <p:sp>
        <p:nvSpPr>
          <p:cNvPr id="4" name="Slide Number Placeholder 3"/>
          <p:cNvSpPr>
            <a:spLocks noGrp="1"/>
          </p:cNvSpPr>
          <p:nvPr>
            <p:ph type="sldNum" sz="quarter" idx="5"/>
          </p:nvPr>
        </p:nvSpPr>
        <p:spPr/>
        <p:txBody>
          <a:bodyPr/>
          <a:lstStyle/>
          <a:p>
            <a:fld id="{21B2AA4F-B828-4D7C-AFD3-893933DAFCB4}" type="slidenum">
              <a:rPr lang="en-US" smtClean="0"/>
              <a:t>10</a:t>
            </a:fld>
            <a:endParaRPr lang="en-US"/>
          </a:p>
        </p:txBody>
      </p:sp>
    </p:spTree>
    <p:extLst>
      <p:ext uri="{BB962C8B-B14F-4D97-AF65-F5344CB8AC3E}">
        <p14:creationId xmlns:p14="http://schemas.microsoft.com/office/powerpoint/2010/main" val="30838220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8" name="Rectangle 17"/>
          <p:cNvSpPr>
            <a:spLocks noChangeArrowheads="1"/>
          </p:cNvSpPr>
          <p:nvPr/>
        </p:nvSpPr>
        <p:spPr bwMode="gray">
          <a:xfrm>
            <a:off x="8004175" y="0"/>
            <a:ext cx="1139825" cy="6858000"/>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9" name="Rectangle 18"/>
          <p:cNvSpPr>
            <a:spLocks noChangeArrowheads="1"/>
          </p:cNvSpPr>
          <p:nvPr/>
        </p:nvSpPr>
        <p:spPr bwMode="white">
          <a:xfrm>
            <a:off x="0" y="4638675"/>
            <a:ext cx="9144000" cy="2219325"/>
          </a:xfrm>
          <a:prstGeom prst="rect">
            <a:avLst/>
          </a:prstGeom>
          <a:solidFill>
            <a:schemeClr val="folHlink">
              <a:alpha val="3098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 name="Rectangle 19"/>
          <p:cNvSpPr>
            <a:spLocks noChangeArrowheads="1"/>
          </p:cNvSpPr>
          <p:nvPr/>
        </p:nvSpPr>
        <p:spPr bwMode="gray">
          <a:xfrm>
            <a:off x="0" y="2149475"/>
            <a:ext cx="9144000" cy="24987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3" name="Freeform 20"/>
          <p:cNvSpPr/>
          <p:nvPr/>
        </p:nvSpPr>
        <p:spPr>
          <a:xfrm>
            <a:off x="-9525" y="2138363"/>
            <a:ext cx="8015288" cy="2271712"/>
          </a:xfrm>
          <a:custGeom>
            <a:avLst/>
            <a:gdLst/>
            <a:ahLst/>
            <a:cxnLst>
              <a:cxn ang="0">
                <a:pos x="0" y="0"/>
              </a:cxn>
              <a:cxn ang="0">
                <a:pos x="2147483646" y="2147483646"/>
              </a:cxn>
              <a:cxn ang="0">
                <a:pos x="2147483646" y="2147483646"/>
              </a:cxn>
              <a:cxn ang="0">
                <a:pos x="0" y="2147483646"/>
              </a:cxn>
              <a:cxn ang="0">
                <a:pos x="0" y="0"/>
              </a:cxn>
            </a:cxnLst>
            <a:rect l="0" t="0" r="0" b="0"/>
            <a:pathLst>
              <a:path w="5049" h="1471">
                <a:moveTo>
                  <a:pt x="0" y="0"/>
                </a:moveTo>
                <a:lnTo>
                  <a:pt x="5049" y="2"/>
                </a:lnTo>
                <a:lnTo>
                  <a:pt x="5048" y="1458"/>
                </a:lnTo>
                <a:lnTo>
                  <a:pt x="0" y="1471"/>
                </a:lnTo>
                <a:lnTo>
                  <a:pt x="0" y="0"/>
                </a:lnTo>
                <a:close/>
              </a:path>
            </a:pathLst>
          </a:custGeom>
          <a:solidFill>
            <a:schemeClr val="folHlink">
              <a:alpha val="72940"/>
            </a:schemeClr>
          </a:solidFill>
          <a:ln w="9525">
            <a:noFill/>
          </a:ln>
        </p:spPr>
        <p:txBody>
          <a:bodyPr/>
          <a:lstStyle/>
          <a:p>
            <a:endParaRPr lang="en-US"/>
          </a:p>
        </p:txBody>
      </p:sp>
      <p:sp>
        <p:nvSpPr>
          <p:cNvPr id="22" name="AutoShape 21"/>
          <p:cNvSpPr>
            <a:spLocks noChangeArrowheads="1"/>
          </p:cNvSpPr>
          <p:nvPr/>
        </p:nvSpPr>
        <p:spPr bwMode="gray">
          <a:xfrm>
            <a:off x="7696200" y="594360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3" name="AutoShape 22"/>
          <p:cNvSpPr>
            <a:spLocks noChangeArrowheads="1"/>
          </p:cNvSpPr>
          <p:nvPr/>
        </p:nvSpPr>
        <p:spPr bwMode="gray">
          <a:xfrm>
            <a:off x="8229600" y="563880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4" name="AutoShape 23"/>
          <p:cNvSpPr>
            <a:spLocks noChangeArrowheads="1"/>
          </p:cNvSpPr>
          <p:nvPr/>
        </p:nvSpPr>
        <p:spPr bwMode="gray">
          <a:xfrm>
            <a:off x="8220075" y="622935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5" name="Text Box 14"/>
          <p:cNvSpPr txBox="1">
            <a:spLocks noChangeArrowheads="1"/>
          </p:cNvSpPr>
          <p:nvPr/>
        </p:nvSpPr>
        <p:spPr bwMode="auto">
          <a:xfrm>
            <a:off x="304800" y="2286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800" b="1" i="0" u="none" strike="noStrike" kern="1200" cap="none" spc="0" normalizeH="0" baseline="0" noProof="0">
                <a:ln>
                  <a:noFill/>
                </a:ln>
                <a:solidFill>
                  <a:schemeClr val="tx2"/>
                </a:solidFill>
                <a:effectLst/>
                <a:uLnTx/>
                <a:uFillTx/>
                <a:latin typeface="Verdana" panose="020B0604030504040204" pitchFamily="34" charset="0"/>
                <a:ea typeface="+mn-ea"/>
                <a:cs typeface="+mn-cs"/>
              </a:rPr>
              <a:t>LOGO</a:t>
            </a:r>
          </a:p>
        </p:txBody>
      </p:sp>
      <p:grpSp>
        <p:nvGrpSpPr>
          <p:cNvPr id="2058" name="Group 116"/>
          <p:cNvGrpSpPr/>
          <p:nvPr/>
        </p:nvGrpSpPr>
        <p:grpSpPr>
          <a:xfrm>
            <a:off x="190500" y="2324100"/>
            <a:ext cx="3276600" cy="3314700"/>
            <a:chOff x="120" y="1464"/>
            <a:chExt cx="2064" cy="2088"/>
          </a:xfrm>
        </p:grpSpPr>
        <p:sp>
          <p:nvSpPr>
            <p:cNvPr id="2059" name="AutoShape 113" descr="gdd01"/>
            <p:cNvSpPr/>
            <p:nvPr/>
          </p:nvSpPr>
          <p:spPr>
            <a:xfrm>
              <a:off x="120" y="1992"/>
              <a:ext cx="1104" cy="1008"/>
            </a:xfrm>
            <a:prstGeom prst="hexagon">
              <a:avLst>
                <a:gd name="adj" fmla="val 27380"/>
                <a:gd name="vf" fmla="val 115470"/>
              </a:avLst>
            </a:prstGeom>
            <a:blipFill rotWithShape="1">
              <a:blip r:embed="rId2"/>
              <a:stretch>
                <a:fillRect/>
              </a:stretch>
            </a:blipFill>
            <a:ln w="28575" cap="flat" cmpd="sng">
              <a:solidFill>
                <a:schemeClr val="bg1"/>
              </a:solidFill>
              <a:prstDash val="solid"/>
              <a:miter/>
              <a:headEnd type="none" w="med" len="med"/>
              <a:tailEnd type="none" w="med" len="med"/>
            </a:ln>
            <a:effectLst>
              <a:outerShdw dist="125080" dir="1437749" algn="ctr" rotWithShape="0">
                <a:schemeClr val="bg2">
                  <a:alpha val="32001"/>
                </a:schemeClr>
              </a:outerShdw>
            </a:effectLst>
          </p:spPr>
          <p:txBody>
            <a:bodyPr wrap="none" anchor="ctr" anchorCtr="0"/>
            <a:lstStyle/>
            <a:p>
              <a:pPr lvl="0" algn="ctr" eaLnBrk="0" hangingPunct="0"/>
              <a:endParaRPr lang="ko-KR" altLang="en-US" dirty="0">
                <a:latin typeface="Times New Roman" panose="02020603050405020304" pitchFamily="18" charset="0"/>
                <a:ea typeface="Gulim" pitchFamily="34" charset="-127"/>
              </a:endParaRPr>
            </a:p>
          </p:txBody>
        </p:sp>
        <p:sp>
          <p:nvSpPr>
            <p:cNvPr id="2060" name="AutoShape 114" descr="gdd04"/>
            <p:cNvSpPr/>
            <p:nvPr/>
          </p:nvSpPr>
          <p:spPr>
            <a:xfrm>
              <a:off x="1032" y="1464"/>
              <a:ext cx="1152" cy="1008"/>
            </a:xfrm>
            <a:prstGeom prst="hexagon">
              <a:avLst>
                <a:gd name="adj" fmla="val 28571"/>
                <a:gd name="vf" fmla="val 115470"/>
              </a:avLst>
            </a:prstGeom>
            <a:blipFill rotWithShape="1">
              <a:blip r:embed="rId3"/>
              <a:stretch>
                <a:fillRect/>
              </a:stretch>
            </a:blipFill>
            <a:ln w="28575" cap="flat" cmpd="sng">
              <a:solidFill>
                <a:schemeClr val="bg1"/>
              </a:solidFill>
              <a:prstDash val="solid"/>
              <a:miter/>
              <a:headEnd type="none" w="med" len="med"/>
              <a:tailEnd type="none" w="med" len="med"/>
            </a:ln>
            <a:effectLst>
              <a:outerShdw dist="125080" dir="1437749" algn="ctr" rotWithShape="0">
                <a:schemeClr val="bg2">
                  <a:alpha val="32001"/>
                </a:schemeClr>
              </a:outerShdw>
            </a:effectLst>
          </p:spPr>
          <p:txBody>
            <a:bodyPr wrap="none" anchor="ctr" anchorCtr="0"/>
            <a:lstStyle/>
            <a:p>
              <a:pPr lvl="0" algn="ctr" eaLnBrk="0" hangingPunct="0"/>
              <a:endParaRPr lang="ko-KR" altLang="en-US" dirty="0">
                <a:latin typeface="Times New Roman" panose="02020603050405020304" pitchFamily="18" charset="0"/>
                <a:ea typeface="Gulim" pitchFamily="34" charset="-127"/>
              </a:endParaRPr>
            </a:p>
          </p:txBody>
        </p:sp>
        <p:sp>
          <p:nvSpPr>
            <p:cNvPr id="2061" name="AutoShape 115" descr="gdd03"/>
            <p:cNvSpPr/>
            <p:nvPr/>
          </p:nvSpPr>
          <p:spPr>
            <a:xfrm>
              <a:off x="1008" y="2544"/>
              <a:ext cx="1152" cy="1008"/>
            </a:xfrm>
            <a:prstGeom prst="hexagon">
              <a:avLst>
                <a:gd name="adj" fmla="val 28571"/>
                <a:gd name="vf" fmla="val 115470"/>
              </a:avLst>
            </a:prstGeom>
            <a:blipFill rotWithShape="1">
              <a:blip r:embed="rId4"/>
              <a:stretch>
                <a:fillRect/>
              </a:stretch>
            </a:blipFill>
            <a:ln w="28575" cap="flat" cmpd="sng">
              <a:solidFill>
                <a:schemeClr val="bg1"/>
              </a:solidFill>
              <a:prstDash val="solid"/>
              <a:miter/>
              <a:headEnd type="none" w="med" len="med"/>
              <a:tailEnd type="none" w="med" len="med"/>
            </a:ln>
            <a:effectLst>
              <a:outerShdw dist="125080" dir="1437749" algn="ctr" rotWithShape="0">
                <a:schemeClr val="bg2">
                  <a:alpha val="32001"/>
                </a:schemeClr>
              </a:outerShdw>
            </a:effectLst>
          </p:spPr>
          <p:txBody>
            <a:bodyPr wrap="none" anchor="ctr" anchorCtr="0"/>
            <a:lstStyle/>
            <a:p>
              <a:pPr lvl="0" algn="ctr" eaLnBrk="0" hangingPunct="0"/>
              <a:endParaRPr lang="ko-KR" altLang="en-US" dirty="0">
                <a:latin typeface="Times New Roman" panose="02020603050405020304" pitchFamily="18" charset="0"/>
                <a:ea typeface="Gulim" pitchFamily="34" charset="-127"/>
              </a:endParaRPr>
            </a:p>
          </p:txBody>
        </p:sp>
      </p:grpSp>
      <p:sp>
        <p:nvSpPr>
          <p:cNvPr id="3074" name="Rectangle 2"/>
          <p:cNvSpPr>
            <a:spLocks noGrp="1" noChangeArrowheads="1"/>
          </p:cNvSpPr>
          <p:nvPr>
            <p:ph type="ctrTitle"/>
          </p:nvPr>
        </p:nvSpPr>
        <p:spPr bwMode="gray">
          <a:xfrm>
            <a:off x="1143000" y="990600"/>
            <a:ext cx="6705600" cy="1012825"/>
          </a:xfrm>
        </p:spPr>
        <p:txBody>
          <a:bodyPr/>
          <a:lstStyle>
            <a:lvl1pPr algn="ctr">
              <a:defRPr sz="3600" b="1">
                <a:solidFill>
                  <a:schemeClr val="tx2"/>
                </a:solidFill>
              </a:defRPr>
            </a:lvl1pPr>
          </a:lstStyle>
          <a:p>
            <a:pPr lvl="0" fontAlgn="base"/>
            <a:r>
              <a:rPr lang="en-US" strike="noStrike" noProof="0"/>
              <a:t>Click to edit Master title style</a:t>
            </a:r>
          </a:p>
        </p:txBody>
      </p:sp>
      <p:sp>
        <p:nvSpPr>
          <p:cNvPr id="3075" name="Rectangle 3"/>
          <p:cNvSpPr>
            <a:spLocks noGrp="1" noChangeArrowheads="1"/>
          </p:cNvSpPr>
          <p:nvPr>
            <p:ph type="subTitle" idx="1"/>
          </p:nvPr>
        </p:nvSpPr>
        <p:spPr bwMode="white">
          <a:xfrm>
            <a:off x="3505200" y="2971800"/>
            <a:ext cx="4343400" cy="685800"/>
          </a:xfrm>
        </p:spPr>
        <p:txBody>
          <a:bodyPr/>
          <a:lstStyle>
            <a:lvl1pPr marL="0" indent="0" algn="r">
              <a:buFont typeface="Wingdings" panose="05000000000000000000" pitchFamily="2" charset="2"/>
              <a:buNone/>
              <a:defRPr sz="1600">
                <a:solidFill>
                  <a:schemeClr val="bg1"/>
                </a:solidFill>
              </a:defRPr>
            </a:lvl1pPr>
          </a:lstStyle>
          <a:p>
            <a:pPr lvl="0" fontAlgn="base"/>
            <a:r>
              <a:rPr lang="en-US" strike="noStrike" noProof="0"/>
              <a:t>Click to edit Master subtitle style</a:t>
            </a:r>
          </a:p>
        </p:txBody>
      </p:sp>
      <p:sp>
        <p:nvSpPr>
          <p:cNvPr id="30" name="Rectangle 4"/>
          <p:cNvSpPr>
            <a:spLocks noGrp="1" noChangeArrowheads="1"/>
          </p:cNvSpPr>
          <p:nvPr>
            <p:ph type="dt" sz="half" idx="2"/>
          </p:nvPr>
        </p:nvSpPr>
        <p:spPr bwMode="auto">
          <a:xfrm>
            <a:off x="3352800" y="6553200"/>
            <a:ext cx="21336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solidFill>
                  <a:schemeClr val="tx2"/>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2"/>
              </a:solidFill>
              <a:effectLst/>
              <a:uLnTx/>
              <a:uFillTx/>
              <a:latin typeface="+mn-lt"/>
              <a:ea typeface="+mn-ea"/>
              <a:cs typeface="+mn-cs"/>
            </a:endParaRPr>
          </a:p>
        </p:txBody>
      </p:sp>
      <p:sp>
        <p:nvSpPr>
          <p:cNvPr id="31" name="Rectangle 5"/>
          <p:cNvSpPr>
            <a:spLocks noGrp="1" noChangeArrowheads="1"/>
          </p:cNvSpPr>
          <p:nvPr>
            <p:ph type="ftr" sz="quarter" idx="3"/>
          </p:nvPr>
        </p:nvSpPr>
        <p:spPr bwMode="auto">
          <a:xfrm>
            <a:off x="304800" y="6477000"/>
            <a:ext cx="25908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200">
                <a:solidFill>
                  <a:schemeClr val="tx2"/>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mn-cs"/>
            </a:endParaRPr>
          </a:p>
        </p:txBody>
      </p:sp>
      <p:sp>
        <p:nvSpPr>
          <p:cNvPr id="32" name="Rectangle 6"/>
          <p:cNvSpPr>
            <a:spLocks noGrp="1" noChangeArrowheads="1"/>
          </p:cNvSpPr>
          <p:nvPr>
            <p:ph type="sldNum" sz="quarter" idx="4"/>
          </p:nvPr>
        </p:nvSpPr>
        <p:spPr bwMode="auto">
          <a:xfrm>
            <a:off x="8210550" y="6467475"/>
            <a:ext cx="533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D5FD092-09D6-47CA-A8D5-95AE64CB0E5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mn-ea"/>
                <a:cs typeface="+mn-cs"/>
              </a:rPr>
              <a:t>‹#›</a:t>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pPr fontAlgn="base"/>
            <a:r>
              <a:rPr lang="en-US" strike="noStrike" noProof="1"/>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457200" y="1076325"/>
            <a:ext cx="4038600" cy="5248275"/>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4648200" y="1076325"/>
            <a:ext cx="4038600" cy="5248275"/>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pPr fontAlgn="base"/>
            <a:r>
              <a:rPr lang="en-US" strike="noStrike" noProof="1"/>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pPr fontAlgn="base"/>
            <a:r>
              <a:rPr lang="en-US" strike="noStrike" noProof="1"/>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pPr fontAlgn="base"/>
            <a:r>
              <a:rPr lang="en-US" strike="noStrike" noProof="1"/>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sz="3200" b="1" i="0" u="none" strike="noStrike" kern="1200" cap="none" spc="0" normalizeH="0" baseline="0" noProof="0">
                <a:ln>
                  <a:noFill/>
                </a:ln>
                <a:solidFill>
                  <a:schemeClr val="tx1"/>
                </a:solidFill>
                <a:effectLst/>
                <a:uLnTx/>
                <a:uFillTx/>
                <a:latin typeface="+mn-lt"/>
                <a:ea typeface="+mn-ea"/>
                <a:cs typeface="+mn-cs"/>
              </a:rPr>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943600"/>
          </a:xfrm>
        </p:spPr>
        <p:txBody>
          <a:bodyPr vert="eaVert"/>
          <a:lstStyle/>
          <a:p>
            <a:pPr fontAlgn="base"/>
            <a:r>
              <a:rPr lang="en-US" strike="noStrike" noProof="1"/>
              <a:t>Click to edit Master title style</a:t>
            </a:r>
          </a:p>
        </p:txBody>
      </p:sp>
      <p:sp>
        <p:nvSpPr>
          <p:cNvPr id="3" name="Vertical Text Placeholder 2"/>
          <p:cNvSpPr>
            <a:spLocks noGrp="1"/>
          </p:cNvSpPr>
          <p:nvPr>
            <p:ph type="body" orient="vert" idx="1"/>
          </p:nvPr>
        </p:nvSpPr>
        <p:spPr>
          <a:xfrm>
            <a:off x="457200" y="381000"/>
            <a:ext cx="6019800" cy="5943600"/>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a:lstStyle/>
          <a:p>
            <a:pPr fontAlgn="base"/>
            <a:r>
              <a:rPr lang="en-US" strike="noStrike" noProof="1"/>
              <a:t>Click to edit Master title style</a:t>
            </a:r>
          </a:p>
        </p:txBody>
      </p:sp>
      <p:sp>
        <p:nvSpPr>
          <p:cNvPr id="3" name="Table Placeholder 2"/>
          <p:cNvSpPr>
            <a:spLocks noGrp="1"/>
          </p:cNvSpPr>
          <p:nvPr>
            <p:ph type="tbl" idx="1" hasCustomPrompt="1"/>
          </p:nvPr>
        </p:nvSpPr>
        <p:spPr>
          <a:xfrm>
            <a:off x="457200" y="1076325"/>
            <a:ext cx="8229600" cy="52482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sz="2800" b="1" i="0" u="none" strike="noStrike" kern="1200" cap="none" spc="0" normalizeH="0" baseline="0" noProof="0">
                <a:ln>
                  <a:noFill/>
                </a:ln>
                <a:solidFill>
                  <a:schemeClr val="tx1"/>
                </a:solidFill>
                <a:effectLst/>
                <a:uLnTx/>
                <a:uFillTx/>
                <a:latin typeface="+mn-lt"/>
                <a:ea typeface="+mn-ea"/>
                <a:cs typeface="+mn-cs"/>
              </a:rPr>
              <a:t>Click icon to add table</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a:lstStyle/>
          <a:p>
            <a:pPr fontAlgn="base"/>
            <a:r>
              <a:rPr lang="en-US" strike="noStrike" noProof="1"/>
              <a:t>Click to edit Master title style</a:t>
            </a:r>
          </a:p>
        </p:txBody>
      </p:sp>
      <p:sp>
        <p:nvSpPr>
          <p:cNvPr id="3" name="Chart Placeholder 2"/>
          <p:cNvSpPr>
            <a:spLocks noGrp="1"/>
          </p:cNvSpPr>
          <p:nvPr>
            <p:ph type="chart" idx="1" hasCustomPrompt="1"/>
          </p:nvPr>
        </p:nvSpPr>
        <p:spPr>
          <a:xfrm>
            <a:off x="457200" y="1076325"/>
            <a:ext cx="8229600" cy="52482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sz="2800" b="1" i="0" u="none" strike="noStrike" kern="1200" cap="none" spc="0" normalizeH="0" baseline="0" noProof="0">
                <a:ln>
                  <a:noFill/>
                </a:ln>
                <a:solidFill>
                  <a:schemeClr val="tx1"/>
                </a:solidFill>
                <a:effectLst/>
                <a:uLnTx/>
                <a:uFillTx/>
                <a:latin typeface="+mn-lt"/>
                <a:ea typeface="+mn-ea"/>
                <a:cs typeface="+mn-cs"/>
              </a:rPr>
              <a:t>Click icon to add chart</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15"/>
          <p:cNvSpPr/>
          <p:nvPr/>
        </p:nvSpPr>
        <p:spPr>
          <a:xfrm>
            <a:off x="-9525" y="344488"/>
            <a:ext cx="8194675" cy="633412"/>
          </a:xfrm>
          <a:custGeom>
            <a:avLst/>
            <a:gdLst/>
            <a:ahLst/>
            <a:cxnLst>
              <a:cxn ang="0">
                <a:pos x="0" y="0"/>
              </a:cxn>
              <a:cxn ang="0">
                <a:pos x="2147483646" y="2147483646"/>
              </a:cxn>
              <a:cxn ang="0">
                <a:pos x="2147483646" y="2147483646"/>
              </a:cxn>
              <a:cxn ang="0">
                <a:pos x="0" y="2147483646"/>
              </a:cxn>
              <a:cxn ang="0">
                <a:pos x="0" y="0"/>
              </a:cxn>
            </a:cxnLst>
            <a:rect l="0" t="0" r="0" b="0"/>
            <a:pathLst>
              <a:path w="5049" h="1471">
                <a:moveTo>
                  <a:pt x="0" y="0"/>
                </a:moveTo>
                <a:lnTo>
                  <a:pt x="5049" y="2"/>
                </a:lnTo>
                <a:lnTo>
                  <a:pt x="5048" y="1458"/>
                </a:lnTo>
                <a:lnTo>
                  <a:pt x="0" y="1471"/>
                </a:lnTo>
                <a:lnTo>
                  <a:pt x="0" y="0"/>
                </a:lnTo>
                <a:close/>
              </a:path>
            </a:pathLst>
          </a:custGeom>
          <a:solidFill>
            <a:schemeClr val="tx2"/>
          </a:solidFill>
          <a:ln w="9525">
            <a:noFill/>
          </a:ln>
        </p:spPr>
        <p:txBody>
          <a:bodyPr/>
          <a:lstStyle/>
          <a:p>
            <a:endParaRPr lang="en-US"/>
          </a:p>
        </p:txBody>
      </p:sp>
      <p:grpSp>
        <p:nvGrpSpPr>
          <p:cNvPr id="1027" name="Group 16"/>
          <p:cNvGrpSpPr/>
          <p:nvPr/>
        </p:nvGrpSpPr>
        <p:grpSpPr>
          <a:xfrm>
            <a:off x="8153400" y="0"/>
            <a:ext cx="990600" cy="6858000"/>
            <a:chOff x="5040" y="0"/>
            <a:chExt cx="720" cy="4320"/>
          </a:xfrm>
        </p:grpSpPr>
        <p:sp>
          <p:nvSpPr>
            <p:cNvPr id="1040" name="Rectangle 17"/>
            <p:cNvSpPr>
              <a:spLocks noChangeArrowheads="1"/>
            </p:cNvSpPr>
            <p:nvPr/>
          </p:nvSpPr>
          <p:spPr bwMode="gray">
            <a:xfrm>
              <a:off x="5042" y="0"/>
              <a:ext cx="718" cy="4320"/>
            </a:xfrm>
            <a:prstGeom prst="rect">
              <a:avLst/>
            </a:prstGeom>
            <a:solidFill>
              <a:schemeClr val="folHlink">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41" name="Rectangle 18"/>
            <p:cNvSpPr>
              <a:spLocks noChangeArrowheads="1"/>
            </p:cNvSpPr>
            <p:nvPr/>
          </p:nvSpPr>
          <p:spPr bwMode="gray">
            <a:xfrm>
              <a:off x="5040" y="219"/>
              <a:ext cx="720" cy="393"/>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1028" name="AutoShape 19"/>
          <p:cNvSpPr>
            <a:spLocks noChangeArrowheads="1"/>
          </p:cNvSpPr>
          <p:nvPr/>
        </p:nvSpPr>
        <p:spPr bwMode="gray">
          <a:xfrm>
            <a:off x="7696200" y="594360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29" name="AutoShape 20"/>
          <p:cNvSpPr>
            <a:spLocks noChangeArrowheads="1"/>
          </p:cNvSpPr>
          <p:nvPr/>
        </p:nvSpPr>
        <p:spPr bwMode="gray">
          <a:xfrm>
            <a:off x="8229600" y="563880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0" name="AutoShape 21"/>
          <p:cNvSpPr>
            <a:spLocks noChangeArrowheads="1"/>
          </p:cNvSpPr>
          <p:nvPr/>
        </p:nvSpPr>
        <p:spPr bwMode="gray">
          <a:xfrm>
            <a:off x="8220075" y="622935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3" name="Rectangle 3"/>
          <p:cNvSpPr>
            <a:spLocks noGrp="1"/>
          </p:cNvSpPr>
          <p:nvPr>
            <p:ph type="body"/>
          </p:nvPr>
        </p:nvSpPr>
        <p:spPr>
          <a:xfrm>
            <a:off x="457200" y="1076325"/>
            <a:ext cx="8229600" cy="5248275"/>
          </a:xfrm>
          <a:prstGeom prst="rect">
            <a:avLst/>
          </a:prstGeom>
          <a:noFill/>
          <a:ln w="9525">
            <a:noFill/>
          </a:ln>
        </p:spPr>
        <p:txBody>
          <a:bodyPr anchor="t" anchorCtr="0"/>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Rectangle 4"/>
          <p:cNvSpPr>
            <a:spLocks noGrp="1" noChangeArrowheads="1"/>
          </p:cNvSpPr>
          <p:nvPr>
            <p:ph type="dt" sz="half" idx="2"/>
          </p:nvPr>
        </p:nvSpPr>
        <p:spPr bwMode="auto">
          <a:xfrm>
            <a:off x="457200" y="6519863"/>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Rectangle 5"/>
          <p:cNvSpPr>
            <a:spLocks noGrp="1" noChangeArrowheads="1"/>
          </p:cNvSpPr>
          <p:nvPr>
            <p:ph type="ftr" sz="quarter" idx="3"/>
          </p:nvPr>
        </p:nvSpPr>
        <p:spPr bwMode="auto">
          <a:xfrm>
            <a:off x="5181600" y="6477000"/>
            <a:ext cx="2895600" cy="23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4" name="Rectangle 6"/>
          <p:cNvSpPr>
            <a:spLocks noGrp="1" noChangeArrowheads="1"/>
          </p:cNvSpPr>
          <p:nvPr>
            <p:ph type="sldNum" sz="quarter" idx="4"/>
          </p:nvPr>
        </p:nvSpPr>
        <p:spPr bwMode="auto">
          <a:xfrm>
            <a:off x="8286750" y="6386513"/>
            <a:ext cx="457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solidFill>
                  <a:schemeClr val="bg1"/>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96E12FC-8412-400C-B270-3FB3608473BA}"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grpSp>
        <p:nvGrpSpPr>
          <p:cNvPr id="1037" name="Group 22"/>
          <p:cNvGrpSpPr/>
          <p:nvPr/>
        </p:nvGrpSpPr>
        <p:grpSpPr>
          <a:xfrm>
            <a:off x="152400" y="228600"/>
            <a:ext cx="838200" cy="838200"/>
            <a:chOff x="18" y="144"/>
            <a:chExt cx="510" cy="480"/>
          </a:xfrm>
        </p:grpSpPr>
        <p:sp>
          <p:nvSpPr>
            <p:cNvPr id="5" name="AutoShape 23"/>
            <p:cNvSpPr>
              <a:spLocks noChangeArrowheads="1"/>
            </p:cNvSpPr>
            <p:nvPr/>
          </p:nvSpPr>
          <p:spPr bwMode="gray">
            <a:xfrm>
              <a:off x="18" y="258"/>
              <a:ext cx="288" cy="240"/>
            </a:xfrm>
            <a:prstGeom prst="hexagon">
              <a:avLst>
                <a:gd name="adj" fmla="val 30000"/>
                <a:gd name="vf" fmla="val 115470"/>
              </a:avLst>
            </a:prstGeom>
            <a:solidFill>
              <a:schemeClr val="hlink"/>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8" name="AutoShape 24"/>
            <p:cNvSpPr>
              <a:spLocks noChangeArrowheads="1"/>
            </p:cNvSpPr>
            <p:nvPr/>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9" name="AutoShape 25"/>
            <p:cNvSpPr>
              <a:spLocks noChangeArrowheads="1"/>
            </p:cNvSpPr>
            <p:nvPr/>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6" name="Rectangle 2"/>
          <p:cNvSpPr>
            <a:spLocks noGrp="1"/>
          </p:cNvSpPr>
          <p:nvPr>
            <p:ph type="title"/>
          </p:nvPr>
        </p:nvSpPr>
        <p:spPr>
          <a:xfrm>
            <a:off x="1143000" y="381000"/>
            <a:ext cx="6705600" cy="563563"/>
          </a:xfrm>
          <a:prstGeom prst="rect">
            <a:avLst/>
          </a:prstGeom>
          <a:noFill/>
          <a:ln w="9525">
            <a:noFill/>
          </a:ln>
        </p:spPr>
        <p:txBody>
          <a:bodyPr anchor="ctr" anchorCtr="0"/>
          <a:lstStyle/>
          <a:p>
            <a:pPr lvl="0"/>
            <a:r>
              <a:rPr lang="en-US" altLang="en-US" dirty="0"/>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kern="1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anose="020B0604030504040204" pitchFamily="34" charset="0"/>
        </a:defRPr>
      </a:lvl2pPr>
      <a:lvl3pPr algn="l" rtl="0" eaLnBrk="0" fontAlgn="base" hangingPunct="0">
        <a:spcBef>
          <a:spcPct val="0"/>
        </a:spcBef>
        <a:spcAft>
          <a:spcPct val="0"/>
        </a:spcAft>
        <a:defRPr sz="3200">
          <a:solidFill>
            <a:schemeClr val="bg1"/>
          </a:solidFill>
          <a:latin typeface="Verdana" panose="020B0604030504040204" pitchFamily="34" charset="0"/>
        </a:defRPr>
      </a:lvl3pPr>
      <a:lvl4pPr algn="l" rtl="0" eaLnBrk="0" fontAlgn="base" hangingPunct="0">
        <a:spcBef>
          <a:spcPct val="0"/>
        </a:spcBef>
        <a:spcAft>
          <a:spcPct val="0"/>
        </a:spcAft>
        <a:defRPr sz="3200">
          <a:solidFill>
            <a:schemeClr val="bg1"/>
          </a:solidFill>
          <a:latin typeface="Verdana" panose="020B0604030504040204" pitchFamily="34" charset="0"/>
        </a:defRPr>
      </a:lvl4pPr>
      <a:lvl5pPr algn="l" rtl="0" eaLnBrk="0" fontAlgn="base" hangingPunct="0">
        <a:spcBef>
          <a:spcPct val="0"/>
        </a:spcBef>
        <a:spcAft>
          <a:spcPct val="0"/>
        </a:spcAft>
        <a:defRPr sz="3200">
          <a:solidFill>
            <a:schemeClr val="bg1"/>
          </a:solidFill>
          <a:latin typeface="Verdana" panose="020B0604030504040204" pitchFamily="34" charset="0"/>
        </a:defRPr>
      </a:lvl5pPr>
      <a:lvl6pPr marL="457200" algn="l" rtl="0" eaLnBrk="1" fontAlgn="base" hangingPunct="1">
        <a:spcBef>
          <a:spcPct val="0"/>
        </a:spcBef>
        <a:spcAft>
          <a:spcPct val="0"/>
        </a:spcAft>
        <a:defRPr sz="3200">
          <a:solidFill>
            <a:schemeClr val="bg1"/>
          </a:solidFill>
          <a:latin typeface="Verdana" panose="020B0604030504040204" pitchFamily="34" charset="0"/>
        </a:defRPr>
      </a:lvl6pPr>
      <a:lvl7pPr marL="914400" algn="l" rtl="0" eaLnBrk="1" fontAlgn="base" hangingPunct="1">
        <a:spcBef>
          <a:spcPct val="0"/>
        </a:spcBef>
        <a:spcAft>
          <a:spcPct val="0"/>
        </a:spcAft>
        <a:defRPr sz="3200">
          <a:solidFill>
            <a:schemeClr val="bg1"/>
          </a:solidFill>
          <a:latin typeface="Verdana" panose="020B0604030504040204" pitchFamily="34" charset="0"/>
        </a:defRPr>
      </a:lvl7pPr>
      <a:lvl8pPr marL="1371600" algn="l" rtl="0" eaLnBrk="1" fontAlgn="base" hangingPunct="1">
        <a:spcBef>
          <a:spcPct val="0"/>
        </a:spcBef>
        <a:spcAft>
          <a:spcPct val="0"/>
        </a:spcAft>
        <a:defRPr sz="3200">
          <a:solidFill>
            <a:schemeClr val="bg1"/>
          </a:solidFill>
          <a:latin typeface="Verdana" panose="020B0604030504040204" pitchFamily="34" charset="0"/>
        </a:defRPr>
      </a:lvl8pPr>
      <a:lvl9pPr marL="1828800" algn="l" rtl="0" eaLnBrk="1" fontAlgn="base" hangingPunct="1">
        <a:spcBef>
          <a:spcPct val="0"/>
        </a:spcBef>
        <a:spcAft>
          <a:spcPct val="0"/>
        </a:spcAft>
        <a:defRPr sz="3200">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Xu%20h&#432;&#7899;ng%20vi&#7879;c%20l&#224;m%20th&#7901;i%20c&#244;ng%20ngh&#7879;%20s&#7889;%20-%20VTV24.mp4"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VTC14%20-%20Th&#244;ng%20qua%20Lu&#7853;t%20an%20ninh%20m&#7841;ng%20&#273;&#7875;%20ng&#259;n%20xuy&#234;n%20t&#7841;c,%20k&#237;ch%20&#273;&#7897;ng,%20vu%20kh&#7889;ng.mp4" TargetMode="External"/><Relationship Id="rId5" Type="http://schemas.openxmlformats.org/officeDocument/2006/relationships/hyperlink" Target="T&#236;m%20hi&#7875;u%20v&#7873;%20ng&#224;nh%20An%20to&#224;n%20th&#244;ng%20tin%20v&#224;%20B&#7843;o%20m&#7853;t%20-%20C&#417;%20h&#7897;i%20vi&#7879;c%20l&#224;m%20v&#224;%20L&#7897;%20tr&#236;nh%20h&#7885;c.mp4" TargetMode="External"/><Relationship Id="rId4" Type="http://schemas.openxmlformats.org/officeDocument/2006/relationships/hyperlink" Target="B&#432;&#7899;c%20chuy&#7875;n%20c&#259;n%20b&#7843;n%20trong%20c&#244;ng%20t&#225;c%20&#273;&#7847;u%20t&#432;,%20&#7913;ng%20d&#7909;ng%20CNTT%20tr&#234;n%20&#273;&#7883;a%20b&#224;n%20t&#7881;nh%20-%20THLC.mp4"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Ph&#243;ng%20xe%20m&#225;y%20v&#224;o%20l&#224;n%20&#273;&#432;&#7901;ng%20ng&#432;&#7907;c%20l&#7841;i,%20t&#244;ng%20tr&#7921;c%20di&#7879;n%20&#244;%20t&#244;%20khi&#7871;n%202%20ng&#432;&#7901;i%20th&#432;&#417;ng%20vong.mp4"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224;%20N&#7897;i%20&#273;&#259;ng%20cai%20l&#7877;%20m&#7903;%20k&#253;%20c&#244;ng%20&#432;&#7899;c%20v&#7873;%20t&#7897;i%20ph&#7841;m%20m&#7841;ng%20-%20VTV24.mp4" TargetMode="External"/><Relationship Id="rId2" Type="http://schemas.openxmlformats.org/officeDocument/2006/relationships/hyperlink" Target="C&#244;ng%20t&#225;c%20ph&#242;ng%20ch&#7889;ng%20t&#7897;i%20ph&#7841;m%20s&#7917;%20d&#7909;ng%20c&#244;ng%20ngh&#7879;%20cao%20-%20C&#244;ng%20ngh&#7879;%20&#273;&#7901;i%20s&#7889;ng.mp4"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V&#244;%20t&#432;%20d&#249;ng%20AI%20t&#7841;o%20video,%20c&#7849;n%20tr&#7885;ng%20v&#432;&#7899;ng%20&#225;n%20h&#236;nh%20s&#7921;.mp4" TargetMode="External"/><Relationship Id="rId2" Type="http://schemas.openxmlformats.org/officeDocument/2006/relationships/hyperlink" Target="VAFC%20khuy&#7871;n%20c&#225;o%20chia%20s&#7867;%20th&#244;ng%20tin%20c&#243;%20ki&#7875;m%20ch&#7913;ng%20sau%20v&#7909;%20'B&#225;c%20s&#7929;%20Khoa'.mp4"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FPT%20Telecom%20ra%20m&#7855;t%20FPT%20Camera%20SME%20an%20ninh%20&#273;&#7891;ng%20b&#7897;%20cho%20doanh%20nghi&#7879;p%20&#7913;ng%20d&#7909;ng%20Cloud%20v&#224;%20AI%20-%20VnExpress.mp4"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B&#7843;n%20&#225;n%20nghi&#234;m%20kh&#7855;c%20cho%20k&#7867;%20tuy&#234;n%20truy&#7873;n,%20k&#237;ch%20&#273;&#7897;ng%20ch&#7889;ng%20ph&#225;%20nh&#224;%20n&#432;&#7899;c%20-%20An%20ninh%2024h%20ng&#224;y%2023-4%20-%20ANTV.mp4"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B&#7883;%20ph&#7841;t%207,5%20tri&#7879;u%20&#273;&#7891;ng%20v&#236;%20t&#7897;i%20x&#250;c%20ph&#7841;m%20danh%20d&#7921;%20nh&#226;n%20ph&#7849;m%20ng&#432;&#7901;i%20kh&#225;c.mp4"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itle 1"/>
          <p:cNvSpPr>
            <a:spLocks noGrp="1"/>
          </p:cNvSpPr>
          <p:nvPr>
            <p:ph type="title"/>
          </p:nvPr>
        </p:nvSpPr>
        <p:spPr/>
        <p:txBody>
          <a:bodyPr anchor="ctr" anchorCtr="0"/>
          <a:lstStyle/>
          <a:p>
            <a:r>
              <a:rPr lang="en-US" altLang="zh-CN"/>
              <a:t> </a:t>
            </a:r>
          </a:p>
        </p:txBody>
      </p:sp>
      <p:sp>
        <p:nvSpPr>
          <p:cNvPr id="3074" name="Content Placeholder 2"/>
          <p:cNvSpPr>
            <a:spLocks noGrp="1"/>
          </p:cNvSpPr>
          <p:nvPr>
            <p:ph idx="1"/>
          </p:nvPr>
        </p:nvSpPr>
        <p:spPr/>
        <p:txBody>
          <a:bodyPr anchor="t" anchorCtr="0"/>
          <a:lstStyle/>
          <a:p>
            <a:pPr marL="0" indent="0" algn="ctr">
              <a:buNone/>
            </a:pPr>
            <a:endParaRPr lang="en-US" altLang="zh-CN" sz="4400"/>
          </a:p>
          <a:p>
            <a:pPr marL="0" indent="0" algn="ctr">
              <a:buNone/>
            </a:pPr>
            <a:endParaRPr lang="en-US" altLang="zh-CN" sz="4400"/>
          </a:p>
          <a:p>
            <a:pPr marL="0" indent="0" algn="ctr">
              <a:buNone/>
            </a:pPr>
            <a:r>
              <a:rPr lang="en-US" altLang="zh-CN" sz="4400"/>
              <a:t>LUẬT </a:t>
            </a:r>
          </a:p>
          <a:p>
            <a:pPr marL="0" indent="0" algn="ctr">
              <a:buNone/>
            </a:pPr>
            <a:r>
              <a:rPr lang="en-US" altLang="zh-CN" sz="4400"/>
              <a:t>CÔNG NGHỆ THÔNG TIN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p:cNvSpPr>
          <p:nvPr>
            <p:ph type="title"/>
          </p:nvPr>
        </p:nvSpPr>
        <p:spPr/>
        <p:txBody>
          <a:bodyPr vert="horz" wrap="square" lIns="91440" tIns="45720" rIns="91440" bIns="45720" anchor="ctr" anchorCtr="0"/>
          <a:lstStyle/>
          <a:p>
            <a:pPr eaLnBrk="1" hangingPunct="1"/>
            <a:r>
              <a:rPr lang="en-US" altLang="en-US" dirty="0"/>
              <a:t>Luật CNTT số 67/2006/QH11</a:t>
            </a:r>
          </a:p>
        </p:txBody>
      </p:sp>
      <p:sp>
        <p:nvSpPr>
          <p:cNvPr id="4098" name="Rectangle 3"/>
          <p:cNvSpPr>
            <a:spLocks noGrp="1"/>
          </p:cNvSpPr>
          <p:nvPr>
            <p:ph idx="1"/>
          </p:nvPr>
        </p:nvSpPr>
        <p:spPr>
          <a:xfrm>
            <a:off x="250825" y="1392238"/>
            <a:ext cx="8713788" cy="5205412"/>
          </a:xfrm>
        </p:spPr>
        <p:txBody>
          <a:bodyPr vert="horz" wrap="square" lIns="91440" tIns="45720" rIns="91440" bIns="45720" anchor="t" anchorCtr="0"/>
          <a:lstStyle/>
          <a:p>
            <a:pPr algn="just" eaLnBrk="1" hangingPunct="1"/>
            <a:r>
              <a:rPr lang="en-US" altLang="en-US" b="0" dirty="0">
                <a:latin typeface="Times New Roman" panose="02020603050405020304" pitchFamily="18" charset="0"/>
              </a:rPr>
              <a:t> </a:t>
            </a:r>
            <a:r>
              <a:rPr lang="vi-VN" altLang="en-US" b="0" dirty="0">
                <a:latin typeface="Times New Roman" panose="02020603050405020304" pitchFamily="18" charset="0"/>
              </a:rPr>
              <a:t>Ng</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y 29/6/2006, tại kỳ họp 9 - Quốc hội khóa XI đã thông qua Luật Công nghệ thông tin.</a:t>
            </a:r>
            <a:endParaRPr lang="en-US" altLang="en-US" b="0" dirty="0">
              <a:latin typeface="Times New Roman" panose="02020603050405020304" pitchFamily="18" charset="0"/>
            </a:endParaRPr>
          </a:p>
          <a:p>
            <a:pPr algn="just" eaLnBrk="1" hangingPunct="1"/>
            <a:r>
              <a:rPr lang="vi-VN" altLang="en-US" b="0" dirty="0">
                <a:latin typeface="Times New Roman" panose="02020603050405020304" pitchFamily="18" charset="0"/>
              </a:rPr>
              <a:t> </a:t>
            </a:r>
            <a:r>
              <a:rPr lang="vi-VN" altLang="en-US" b="0" dirty="0">
                <a:highlight>
                  <a:srgbClr val="FFFF00"/>
                </a:highlight>
                <a:latin typeface="Times New Roman" panose="02020603050405020304" pitchFamily="18" charset="0"/>
              </a:rPr>
              <a:t>Đây l</a:t>
            </a:r>
            <a:r>
              <a:rPr lang="vi-VN" altLang="en-US" b="0" dirty="0">
                <a:highlight>
                  <a:srgbClr val="FFFF00"/>
                </a:highlight>
                <a:latin typeface="Times New Roman" panose="02020603050405020304" pitchFamily="18" charset="0"/>
                <a:ea typeface="Times New Roman" panose="02020603050405020304" pitchFamily="18" charset="0"/>
              </a:rPr>
              <a:t>à</a:t>
            </a:r>
            <a:r>
              <a:rPr lang="vi-VN" altLang="en-US" b="0" dirty="0">
                <a:highlight>
                  <a:srgbClr val="FFFF00"/>
                </a:highlight>
                <a:latin typeface="Times New Roman" panose="02020603050405020304" pitchFamily="18" charset="0"/>
              </a:rPr>
              <a:t> một văn bản quy phạm pháp luật có giá trị pháp lý cao nhất điều chỉnh một cách to</a:t>
            </a:r>
            <a:r>
              <a:rPr lang="vi-VN" altLang="en-US" b="0" dirty="0">
                <a:highlight>
                  <a:srgbClr val="FFFF00"/>
                </a:highlight>
                <a:latin typeface="Times New Roman" panose="02020603050405020304" pitchFamily="18" charset="0"/>
                <a:ea typeface="Times New Roman" panose="02020603050405020304" pitchFamily="18" charset="0"/>
              </a:rPr>
              <a:t>à</a:t>
            </a:r>
            <a:r>
              <a:rPr lang="vi-VN" altLang="en-US" b="0" dirty="0">
                <a:highlight>
                  <a:srgbClr val="FFFF00"/>
                </a:highlight>
                <a:latin typeface="Times New Roman" panose="02020603050405020304" pitchFamily="18" charset="0"/>
              </a:rPr>
              <a:t>n diện v</a:t>
            </a:r>
            <a:r>
              <a:rPr lang="vi-VN" altLang="en-US" b="0" dirty="0">
                <a:highlight>
                  <a:srgbClr val="FFFF00"/>
                </a:highlight>
                <a:latin typeface="Times New Roman" panose="02020603050405020304" pitchFamily="18" charset="0"/>
                <a:ea typeface="Times New Roman" panose="02020603050405020304" pitchFamily="18" charset="0"/>
              </a:rPr>
              <a:t>à</a:t>
            </a:r>
            <a:r>
              <a:rPr lang="vi-VN" altLang="en-US" b="0" dirty="0">
                <a:highlight>
                  <a:srgbClr val="FFFF00"/>
                </a:highlight>
                <a:latin typeface="Times New Roman" panose="02020603050405020304" pitchFamily="18" charset="0"/>
              </a:rPr>
              <a:t> đầy đủ về</a:t>
            </a:r>
            <a:r>
              <a:rPr lang="en-US" altLang="en-US" b="0" dirty="0">
                <a:highlight>
                  <a:srgbClr val="FFFF00"/>
                </a:highlight>
                <a:latin typeface="Times New Roman" panose="02020603050405020304" pitchFamily="18" charset="0"/>
              </a:rPr>
              <a:t>:</a:t>
            </a:r>
          </a:p>
          <a:p>
            <a:pPr lvl="1" algn="just" eaLnBrk="1" hangingPunct="1"/>
            <a:r>
              <a:rPr lang="en-US" altLang="en-US" dirty="0">
                <a:highlight>
                  <a:srgbClr val="FFFF00"/>
                </a:highlight>
                <a:latin typeface="Times New Roman" panose="02020603050405020304" pitchFamily="18" charset="0"/>
                <a:hlinkClick r:id="rId3" action="ppaction://hlinkfile"/>
              </a:rPr>
              <a:t>H</a:t>
            </a:r>
            <a:r>
              <a:rPr lang="vi-VN" altLang="en-US" dirty="0">
                <a:highlight>
                  <a:srgbClr val="FFFF00"/>
                </a:highlight>
                <a:latin typeface="Times New Roman" panose="02020603050405020304" pitchFamily="18" charset="0"/>
                <a:hlinkClick r:id="rId3" action="ppaction://hlinkfile"/>
              </a:rPr>
              <a:t>oạt động ứng dụng </a:t>
            </a:r>
            <a:r>
              <a:rPr lang="vi-VN" altLang="en-US" dirty="0">
                <a:highlight>
                  <a:srgbClr val="FFFF00"/>
                </a:highlight>
                <a:latin typeface="Times New Roman" panose="02020603050405020304" pitchFamily="18" charset="0"/>
              </a:rPr>
              <a:t>v</a:t>
            </a:r>
            <a:r>
              <a:rPr lang="vi-VN" altLang="en-US" dirty="0">
                <a:highlight>
                  <a:srgbClr val="FFFF00"/>
                </a:highlight>
                <a:latin typeface="Times New Roman" panose="02020603050405020304" pitchFamily="18" charset="0"/>
                <a:ea typeface="Times New Roman" panose="02020603050405020304" pitchFamily="18" charset="0"/>
              </a:rPr>
              <a:t>à</a:t>
            </a:r>
            <a:r>
              <a:rPr lang="vi-VN" altLang="en-US" dirty="0">
                <a:highlight>
                  <a:srgbClr val="FFFF00"/>
                </a:highlight>
                <a:latin typeface="Times New Roman" panose="02020603050405020304" pitchFamily="18" charset="0"/>
              </a:rPr>
              <a:t> phát triển </a:t>
            </a:r>
            <a:r>
              <a:rPr lang="en-US" altLang="en-US" dirty="0">
                <a:highlight>
                  <a:srgbClr val="FFFF00"/>
                </a:highlight>
                <a:latin typeface="Times New Roman" panose="02020603050405020304" pitchFamily="18" charset="0"/>
              </a:rPr>
              <a:t>CNTT.</a:t>
            </a:r>
          </a:p>
          <a:p>
            <a:pPr lvl="1" algn="just" eaLnBrk="1" hangingPunct="1"/>
            <a:r>
              <a:rPr lang="en-US" altLang="en-US" dirty="0">
                <a:highlight>
                  <a:srgbClr val="FFFF00"/>
                </a:highlight>
                <a:latin typeface="Times New Roman" panose="02020603050405020304" pitchFamily="18" charset="0"/>
                <a:hlinkClick r:id="rId4" action="ppaction://hlinkfile"/>
              </a:rPr>
              <a:t>Q</a:t>
            </a:r>
            <a:r>
              <a:rPr lang="vi-VN" altLang="en-US" dirty="0">
                <a:highlight>
                  <a:srgbClr val="FFFF00"/>
                </a:highlight>
                <a:latin typeface="Times New Roman" panose="02020603050405020304" pitchFamily="18" charset="0"/>
                <a:hlinkClick r:id="rId4" action="ppaction://hlinkfile"/>
              </a:rPr>
              <a:t>uyền v</a:t>
            </a:r>
            <a:r>
              <a:rPr lang="vi-VN" altLang="en-US" dirty="0">
                <a:highlight>
                  <a:srgbClr val="FFFF00"/>
                </a:highlight>
                <a:latin typeface="Times New Roman" panose="02020603050405020304" pitchFamily="18" charset="0"/>
                <a:ea typeface="Times New Roman" panose="02020603050405020304" pitchFamily="18" charset="0"/>
                <a:hlinkClick r:id="rId4" action="ppaction://hlinkfile"/>
              </a:rPr>
              <a:t>à</a:t>
            </a:r>
            <a:r>
              <a:rPr lang="vi-VN" altLang="en-US" dirty="0">
                <a:highlight>
                  <a:srgbClr val="FFFF00"/>
                </a:highlight>
                <a:latin typeface="Times New Roman" panose="02020603050405020304" pitchFamily="18" charset="0"/>
                <a:hlinkClick r:id="rId4" action="ppaction://hlinkfile"/>
              </a:rPr>
              <a:t> nghĩa vụ của cơ quan, tổ chức, cá nhân tham gia hoạt động ứng dụng v</a:t>
            </a:r>
            <a:r>
              <a:rPr lang="vi-VN" altLang="en-US" dirty="0">
                <a:highlight>
                  <a:srgbClr val="FFFF00"/>
                </a:highlight>
                <a:latin typeface="Times New Roman" panose="02020603050405020304" pitchFamily="18" charset="0"/>
                <a:ea typeface="Times New Roman" panose="02020603050405020304" pitchFamily="18" charset="0"/>
                <a:hlinkClick r:id="rId4" action="ppaction://hlinkfile"/>
              </a:rPr>
              <a:t>à</a:t>
            </a:r>
            <a:r>
              <a:rPr lang="vi-VN" altLang="en-US" dirty="0">
                <a:highlight>
                  <a:srgbClr val="FFFF00"/>
                </a:highlight>
                <a:latin typeface="Times New Roman" panose="02020603050405020304" pitchFamily="18" charset="0"/>
                <a:hlinkClick r:id="rId4" action="ppaction://hlinkfile"/>
              </a:rPr>
              <a:t> phát triển </a:t>
            </a:r>
            <a:r>
              <a:rPr lang="en-US" altLang="en-US" dirty="0">
                <a:highlight>
                  <a:srgbClr val="FFFF00"/>
                </a:highlight>
                <a:latin typeface="Times New Roman" panose="02020603050405020304" pitchFamily="18" charset="0"/>
                <a:hlinkClick r:id="rId4" action="ppaction://hlinkfile"/>
              </a:rPr>
              <a:t>CNTT.</a:t>
            </a:r>
            <a:endParaRPr lang="en-US" altLang="en-US" dirty="0">
              <a:highlight>
                <a:srgbClr val="FFFF00"/>
              </a:highlight>
              <a:latin typeface="Times New Roman" panose="02020603050405020304" pitchFamily="18" charset="0"/>
            </a:endParaRPr>
          </a:p>
          <a:p>
            <a:pPr lvl="1" algn="just" eaLnBrk="1" hangingPunct="1"/>
            <a:r>
              <a:rPr lang="en-US" dirty="0">
                <a:highlight>
                  <a:srgbClr val="FFFF00"/>
                </a:highlight>
                <a:latin typeface="Times New Roman" panose="02020603050405020304" pitchFamily="18" charset="0"/>
              </a:rPr>
              <a:t>Các biện pháp bảo đảm ứng dụng v</a:t>
            </a:r>
            <a:r>
              <a:rPr lang="en-US" dirty="0">
                <a:highlight>
                  <a:srgbClr val="FFFF00"/>
                </a:highlight>
                <a:latin typeface="Times New Roman" panose="02020603050405020304" pitchFamily="18" charset="0"/>
                <a:ea typeface="Times New Roman" panose="02020603050405020304" pitchFamily="18" charset="0"/>
              </a:rPr>
              <a:t>à</a:t>
            </a:r>
            <a:r>
              <a:rPr lang="en-US" dirty="0">
                <a:highlight>
                  <a:srgbClr val="FFFF00"/>
                </a:highlight>
                <a:latin typeface="Times New Roman" panose="02020603050405020304" pitchFamily="18" charset="0"/>
              </a:rPr>
              <a:t> phát triển CNTT, </a:t>
            </a:r>
            <a:r>
              <a:rPr lang="en-US" dirty="0">
                <a:highlight>
                  <a:srgbClr val="FFFF00"/>
                </a:highlight>
                <a:latin typeface="Times New Roman" panose="02020603050405020304" pitchFamily="18" charset="0"/>
                <a:hlinkClick r:id="rId5" action="ppaction://hlinkfile"/>
              </a:rPr>
              <a:t>vd</a:t>
            </a:r>
            <a:r>
              <a:rPr lang="en-US" dirty="0">
                <a:highlight>
                  <a:srgbClr val="FFFF00"/>
                </a:highlight>
                <a:latin typeface="Times New Roman" panose="02020603050405020304" pitchFamily="18" charset="0"/>
              </a:rPr>
              <a:t>1, </a:t>
            </a:r>
            <a:r>
              <a:rPr lang="en-US" dirty="0">
                <a:highlight>
                  <a:srgbClr val="FFFF00"/>
                </a:highlight>
                <a:latin typeface="Times New Roman" panose="02020603050405020304" pitchFamily="18" charset="0"/>
                <a:hlinkClick r:id="rId6" action="ppaction://hlinkfile"/>
              </a:rPr>
              <a:t>vd2</a:t>
            </a:r>
            <a:endParaRPr lang="en-US" altLang="en-US" dirty="0">
              <a:highlight>
                <a:srgbClr val="FFFF00"/>
              </a:highlight>
              <a:latin typeface="Times New Roman" panose="02020603050405020304" pitchFamily="18" charset="0"/>
            </a:endParaRPr>
          </a:p>
          <a:p>
            <a:pPr algn="just" eaLnBrk="1" hangingPunct="1"/>
            <a:r>
              <a:rPr lang="en-US" altLang="en-US" b="0" dirty="0">
                <a:latin typeface="Times New Roman" panose="02020603050405020304" pitchFamily="18" charset="0"/>
              </a:rPr>
              <a:t>Luật n</a:t>
            </a:r>
            <a:r>
              <a:rPr lang="en-US" altLang="en-US" b="0" dirty="0">
                <a:latin typeface="Times New Roman" panose="02020603050405020304" pitchFamily="18" charset="0"/>
                <a:ea typeface="Times New Roman" panose="02020603050405020304" pitchFamily="18" charset="0"/>
              </a:rPr>
              <a:t>à</a:t>
            </a:r>
            <a:r>
              <a:rPr lang="en-US" altLang="en-US" b="0" dirty="0">
                <a:latin typeface="Times New Roman" panose="02020603050405020304" pitchFamily="18" charset="0"/>
              </a:rPr>
              <a:t>y có hiệu lực thi h</a:t>
            </a:r>
            <a:r>
              <a:rPr lang="en-US" altLang="en-US" b="0" dirty="0">
                <a:latin typeface="Times New Roman" panose="02020603050405020304" pitchFamily="18" charset="0"/>
                <a:ea typeface="Times New Roman" panose="02020603050405020304" pitchFamily="18" charset="0"/>
              </a:rPr>
              <a:t>à</a:t>
            </a:r>
            <a:r>
              <a:rPr lang="en-US" altLang="en-US" b="0" dirty="0">
                <a:latin typeface="Times New Roman" panose="02020603050405020304" pitchFamily="18" charset="0"/>
              </a:rPr>
              <a:t>nh từ ng</a:t>
            </a:r>
            <a:r>
              <a:rPr lang="en-US" altLang="en-US" b="0" dirty="0">
                <a:latin typeface="Times New Roman" panose="02020603050405020304" pitchFamily="18" charset="0"/>
                <a:ea typeface="Times New Roman" panose="02020603050405020304" pitchFamily="18" charset="0"/>
              </a:rPr>
              <a:t>à</a:t>
            </a:r>
            <a:r>
              <a:rPr lang="en-US" altLang="en-US" b="0" dirty="0">
                <a:latin typeface="Times New Roman" panose="02020603050405020304" pitchFamily="18" charset="0"/>
              </a:rPr>
              <a:t>y 01 tháng 01 năm 2007</a:t>
            </a:r>
          </a:p>
          <a:p>
            <a:pPr lvl="1" algn="just" eaLnBrk="1" hangingPunct="1"/>
            <a:br>
              <a:rPr lang="en-US" altLang="en-US" dirty="0">
                <a:latin typeface="Times New Roman" panose="02020603050405020304" pitchFamily="18" charset="0"/>
              </a:rPr>
            </a:br>
            <a:endParaRPr lang="en-US" altLang="en-US" dirty="0">
              <a:latin typeface="Times New Roman" panose="02020603050405020304" pitchFamily="18" charset="0"/>
            </a:endParaRPr>
          </a:p>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9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9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98">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9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build="p"/>
      <p:bldP spid="4098"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p:cNvSpPr>
          <p:nvPr>
            <p:ph type="title"/>
          </p:nvPr>
        </p:nvSpPr>
        <p:spPr/>
        <p:txBody>
          <a:bodyPr vert="horz" wrap="square" lIns="91440" tIns="45720" rIns="91440" bIns="45720" anchor="ctr" anchorCtr="0"/>
          <a:lstStyle/>
          <a:p>
            <a:pPr eaLnBrk="1" hangingPunct="1"/>
            <a:r>
              <a:rPr lang="en-US" altLang="en-US" dirty="0"/>
              <a:t>Luật CNTT số 67/2006/QH11</a:t>
            </a:r>
          </a:p>
        </p:txBody>
      </p:sp>
      <p:sp>
        <p:nvSpPr>
          <p:cNvPr id="5122" name="Rectangle 3"/>
          <p:cNvSpPr>
            <a:spLocks noGrp="1"/>
          </p:cNvSpPr>
          <p:nvPr>
            <p:ph idx="1"/>
          </p:nvPr>
        </p:nvSpPr>
        <p:spPr>
          <a:xfrm>
            <a:off x="0" y="1196975"/>
            <a:ext cx="9144000" cy="5048250"/>
          </a:xfrm>
        </p:spPr>
        <p:txBody>
          <a:bodyPr vert="horz" wrap="square" lIns="91440" tIns="45720" rIns="91440" bIns="45720" anchor="t" anchorCtr="0"/>
          <a:lstStyle/>
          <a:p>
            <a:pPr eaLnBrk="1" hangingPunct="1"/>
            <a:r>
              <a:rPr lang="vi-VN" altLang="en-US" b="0" dirty="0">
                <a:highlight>
                  <a:srgbClr val="FFFF00"/>
                </a:highlight>
                <a:latin typeface="Times New Roman" panose="02020603050405020304" pitchFamily="18" charset="0"/>
              </a:rPr>
              <a:t>Luật </a:t>
            </a:r>
            <a:r>
              <a:rPr lang="en-US" altLang="en-US" b="0" dirty="0">
                <a:highlight>
                  <a:srgbClr val="FFFF00"/>
                </a:highlight>
                <a:latin typeface="Times New Roman" panose="02020603050405020304" pitchFamily="18" charset="0"/>
              </a:rPr>
              <a:t>CNTT </a:t>
            </a:r>
            <a:r>
              <a:rPr lang="vi-VN" altLang="en-US" b="0" dirty="0">
                <a:highlight>
                  <a:srgbClr val="FFFF00"/>
                </a:highlight>
                <a:latin typeface="Times New Roman" panose="02020603050405020304" pitchFamily="18" charset="0"/>
              </a:rPr>
              <a:t>gồm 6 chương, 79 điều</a:t>
            </a:r>
            <a:endParaRPr lang="en-US" altLang="en-US" b="0" dirty="0">
              <a:latin typeface="Times New Roman" panose="02020603050405020304" pitchFamily="18" charset="0"/>
            </a:endParaRPr>
          </a:p>
          <a:p>
            <a:pPr eaLnBrk="1" hangingPunct="1"/>
            <a:r>
              <a:rPr lang="en-US" altLang="en-US" dirty="0">
                <a:latin typeface="Times New Roman" panose="02020603050405020304" pitchFamily="18" charset="0"/>
              </a:rPr>
              <a:t>Chương 1. Những quy định chung</a:t>
            </a:r>
          </a:p>
          <a:p>
            <a:pPr eaLnBrk="1" hangingPunct="1"/>
            <a:r>
              <a:rPr lang="en-US" altLang="en-US" dirty="0">
                <a:latin typeface="Times New Roman" panose="02020603050405020304" pitchFamily="18" charset="0"/>
              </a:rPr>
              <a:t>Chương 2. </a:t>
            </a:r>
            <a:r>
              <a:rPr lang="en-US" dirty="0">
                <a:latin typeface="Times New Roman" panose="02020603050405020304" pitchFamily="18" charset="0"/>
              </a:rPr>
              <a:t>Ứng dụng công nghệ thông tin</a:t>
            </a:r>
          </a:p>
          <a:p>
            <a:pPr lvl="1" eaLnBrk="1" hangingPunct="1"/>
            <a:r>
              <a:rPr lang="en-US" dirty="0">
                <a:latin typeface="Times New Roman" panose="02020603050405020304" pitchFamily="18" charset="0"/>
              </a:rPr>
              <a:t>Mục 1. Quy định chung về ứng dụng công nghệ thông tin</a:t>
            </a:r>
          </a:p>
          <a:p>
            <a:pPr lvl="1" eaLnBrk="1" hangingPunct="1"/>
            <a:r>
              <a:rPr lang="en-US" dirty="0">
                <a:latin typeface="Times New Roman" panose="02020603050405020304" pitchFamily="18" charset="0"/>
              </a:rPr>
              <a:t>Mục 2. Ứng dụng công nghệ thông tin trong hoạt động của cơ quan nh</a:t>
            </a:r>
            <a:r>
              <a:rPr lang="en-US" dirty="0">
                <a:latin typeface="Times New Roman" panose="02020603050405020304" pitchFamily="18" charset="0"/>
                <a:ea typeface="Times New Roman" panose="02020603050405020304" pitchFamily="18" charset="0"/>
              </a:rPr>
              <a:t>à</a:t>
            </a:r>
            <a:r>
              <a:rPr lang="en-US" dirty="0">
                <a:latin typeface="Times New Roman" panose="02020603050405020304" pitchFamily="18" charset="0"/>
              </a:rPr>
              <a:t> nước</a:t>
            </a:r>
          </a:p>
          <a:p>
            <a:pPr lvl="1" eaLnBrk="1" hangingPunct="1"/>
            <a:r>
              <a:rPr lang="en-US" dirty="0">
                <a:latin typeface="Times New Roman" panose="02020603050405020304" pitchFamily="18" charset="0"/>
              </a:rPr>
              <a:t>Mục 3. Ứng dụng công nghệ thông tin trong thương mại</a:t>
            </a:r>
          </a:p>
          <a:p>
            <a:pPr lvl="1" eaLnBrk="1" hangingPunct="1"/>
            <a:r>
              <a:rPr lang="en-US" dirty="0">
                <a:latin typeface="Times New Roman" panose="02020603050405020304" pitchFamily="18" charset="0"/>
              </a:rPr>
              <a:t>Mục 4. Ứng dụng công nghệ thông tin trong một số lĩnh vực</a:t>
            </a:r>
          </a:p>
          <a:p>
            <a:pPr lvl="1" eaLnBrk="1" hangingPunct="1">
              <a:buNone/>
            </a:pPr>
            <a:br>
              <a:rPr lang="en-US" altLang="en-US" dirty="0">
                <a:latin typeface="Times New Roman" panose="02020603050405020304" pitchFamily="18" charset="0"/>
              </a:rPr>
            </a:br>
            <a:endParaRPr lang="en-US" altLang="en-US" dirty="0">
              <a:latin typeface="Times New Roman" panose="02020603050405020304" pitchFamily="18" charset="0"/>
            </a:endParaRPr>
          </a:p>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p:cNvSpPr>
          <p:nvPr>
            <p:ph type="title"/>
          </p:nvPr>
        </p:nvSpPr>
        <p:spPr/>
        <p:txBody>
          <a:bodyPr vert="horz" wrap="square" lIns="91440" tIns="45720" rIns="91440" bIns="45720" anchor="ctr" anchorCtr="0"/>
          <a:lstStyle/>
          <a:p>
            <a:pPr eaLnBrk="1" hangingPunct="1"/>
            <a:r>
              <a:rPr lang="en-US" altLang="en-US" dirty="0"/>
              <a:t>Luật CNTT số 67/2006/QH11</a:t>
            </a:r>
          </a:p>
        </p:txBody>
      </p:sp>
      <p:sp>
        <p:nvSpPr>
          <p:cNvPr id="6146" name="Rectangle 3"/>
          <p:cNvSpPr>
            <a:spLocks noGrp="1"/>
          </p:cNvSpPr>
          <p:nvPr>
            <p:ph idx="1"/>
          </p:nvPr>
        </p:nvSpPr>
        <p:spPr>
          <a:xfrm>
            <a:off x="0" y="1196975"/>
            <a:ext cx="9144000" cy="5048250"/>
          </a:xfrm>
        </p:spPr>
        <p:txBody>
          <a:bodyPr vert="horz" wrap="square" lIns="91440" tIns="45720" rIns="91440" bIns="45720" anchor="t" anchorCtr="0"/>
          <a:lstStyle/>
          <a:p>
            <a:pPr algn="just"/>
            <a:r>
              <a:rPr lang="en-US" sz="3000" dirty="0">
                <a:latin typeface="Times New Roman" panose="02020603050405020304" pitchFamily="18" charset="0"/>
              </a:rPr>
              <a:t>Chương 3. Phát triển công nghệ thông tin</a:t>
            </a:r>
          </a:p>
          <a:p>
            <a:pPr lvl="1" algn="just"/>
            <a:r>
              <a:rPr lang="en-US" sz="3000" dirty="0">
                <a:latin typeface="Times New Roman" panose="02020603050405020304" pitchFamily="18" charset="0"/>
              </a:rPr>
              <a:t>Mục 1. Nghiên cứu - phát triển công nghệ thông tin</a:t>
            </a:r>
          </a:p>
          <a:p>
            <a:pPr lvl="1" algn="just"/>
            <a:r>
              <a:rPr lang="en-US" sz="3000" dirty="0">
                <a:latin typeface="Times New Roman" panose="02020603050405020304" pitchFamily="18" charset="0"/>
              </a:rPr>
              <a:t>Mục 2. Phát triển nguồn nhân lực công nghệ thông tin</a:t>
            </a:r>
          </a:p>
          <a:p>
            <a:pPr lvl="1" algn="just"/>
            <a:r>
              <a:rPr lang="en-US" sz="3000" dirty="0">
                <a:latin typeface="Times New Roman" panose="02020603050405020304" pitchFamily="18" charset="0"/>
              </a:rPr>
              <a:t>Mục 3. Phát triển công nghiệp công nghệ thông tin</a:t>
            </a:r>
          </a:p>
          <a:p>
            <a:pPr lvl="1" algn="just"/>
            <a:r>
              <a:rPr lang="en-US" sz="3000" dirty="0">
                <a:latin typeface="Times New Roman" panose="02020603050405020304" pitchFamily="18" charset="0"/>
              </a:rPr>
              <a:t>Mục 4. Phát triển dịch vụ công nghệ thông tin</a:t>
            </a:r>
          </a:p>
          <a:p>
            <a:pPr lvl="1" algn="just" eaLnBrk="1" hangingPunct="1">
              <a:buNone/>
            </a:pPr>
            <a:endParaRPr lang="en-US" altLang="en-US" sz="3000"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type="title"/>
          </p:nvPr>
        </p:nvSpPr>
        <p:spPr/>
        <p:txBody>
          <a:bodyPr vert="horz" wrap="square" lIns="91440" tIns="45720" rIns="91440" bIns="45720" anchor="ctr" anchorCtr="0"/>
          <a:lstStyle/>
          <a:p>
            <a:pPr eaLnBrk="1" hangingPunct="1"/>
            <a:r>
              <a:rPr lang="en-US" altLang="en-US" dirty="0"/>
              <a:t>Luật CNTT số 67/2006/QH11</a:t>
            </a:r>
          </a:p>
        </p:txBody>
      </p:sp>
      <p:sp>
        <p:nvSpPr>
          <p:cNvPr id="7170" name="Rectangle 3"/>
          <p:cNvSpPr>
            <a:spLocks noGrp="1"/>
          </p:cNvSpPr>
          <p:nvPr>
            <p:ph idx="1"/>
          </p:nvPr>
        </p:nvSpPr>
        <p:spPr>
          <a:xfrm>
            <a:off x="0" y="1196975"/>
            <a:ext cx="9144000" cy="5048250"/>
          </a:xfrm>
        </p:spPr>
        <p:txBody>
          <a:bodyPr vert="horz" wrap="square" lIns="91440" tIns="45720" rIns="91440" bIns="45720" anchor="t" anchorCtr="0"/>
          <a:lstStyle/>
          <a:p>
            <a:pPr algn="just"/>
            <a:r>
              <a:rPr lang="en-US" dirty="0">
                <a:latin typeface="Times New Roman" panose="02020603050405020304" pitchFamily="18" charset="0"/>
              </a:rPr>
              <a:t>Chương 4. Biện pháp bảo đảm ứng dụng v</a:t>
            </a:r>
            <a:r>
              <a:rPr lang="en-US" dirty="0">
                <a:latin typeface="Times New Roman" panose="02020603050405020304" pitchFamily="18" charset="0"/>
                <a:ea typeface="Times New Roman" panose="02020603050405020304" pitchFamily="18" charset="0"/>
              </a:rPr>
              <a:t>à</a:t>
            </a:r>
            <a:r>
              <a:rPr lang="en-US" dirty="0">
                <a:latin typeface="Times New Roman" panose="02020603050405020304" pitchFamily="18" charset="0"/>
              </a:rPr>
              <a:t> phát triển công nghệ thông tin</a:t>
            </a:r>
          </a:p>
          <a:p>
            <a:pPr lvl="1" algn="just"/>
            <a:r>
              <a:rPr lang="en-US" dirty="0">
                <a:latin typeface="Times New Roman" panose="02020603050405020304" pitchFamily="18" charset="0"/>
              </a:rPr>
              <a:t>Mục 1.Cơ sở hạ tầng thông tin phục vụ ứng dụng v</a:t>
            </a:r>
            <a:r>
              <a:rPr lang="en-US" dirty="0">
                <a:latin typeface="Times New Roman" panose="02020603050405020304" pitchFamily="18" charset="0"/>
                <a:ea typeface="Times New Roman" panose="02020603050405020304" pitchFamily="18" charset="0"/>
              </a:rPr>
              <a:t>à</a:t>
            </a:r>
            <a:r>
              <a:rPr lang="en-US" dirty="0">
                <a:latin typeface="Times New Roman" panose="02020603050405020304" pitchFamily="18" charset="0"/>
              </a:rPr>
              <a:t> phát triển công nghệ thông tin</a:t>
            </a:r>
          </a:p>
          <a:p>
            <a:pPr lvl="1" algn="just"/>
            <a:r>
              <a:rPr lang="en-US" dirty="0">
                <a:latin typeface="Times New Roman" panose="02020603050405020304" pitchFamily="18" charset="0"/>
              </a:rPr>
              <a:t>Mục 2. Đầu tư cho công nghệ thông tin</a:t>
            </a:r>
          </a:p>
          <a:p>
            <a:pPr lvl="1" algn="just"/>
            <a:r>
              <a:rPr lang="en-US" dirty="0">
                <a:latin typeface="Times New Roman" panose="02020603050405020304" pitchFamily="18" charset="0"/>
              </a:rPr>
              <a:t>Mục 3. Hợp tác quốc tế về công nghệ thông tin</a:t>
            </a:r>
          </a:p>
          <a:p>
            <a:pPr lvl="1" algn="just"/>
            <a:r>
              <a:rPr lang="en-US" dirty="0">
                <a:latin typeface="Times New Roman" panose="02020603050405020304" pitchFamily="18" charset="0"/>
              </a:rPr>
              <a:t>Mục 4. Bảo vệ quyền, lợi ích hợp pháp v</a:t>
            </a:r>
            <a:r>
              <a:rPr lang="en-US" dirty="0">
                <a:latin typeface="Times New Roman" panose="02020603050405020304" pitchFamily="18" charset="0"/>
                <a:ea typeface="Times New Roman" panose="02020603050405020304" pitchFamily="18" charset="0"/>
              </a:rPr>
              <a:t>à</a:t>
            </a:r>
            <a:r>
              <a:rPr lang="en-US" dirty="0">
                <a:latin typeface="Times New Roman" panose="02020603050405020304" pitchFamily="18" charset="0"/>
              </a:rPr>
              <a:t> hỗ trợ người sử dụng sản phẩm, dịch vụ công nghệ thông tin</a:t>
            </a:r>
          </a:p>
          <a:p>
            <a:pPr lvl="1" algn="just"/>
            <a:endParaRPr lang="en-US" dirty="0">
              <a:latin typeface="Times New Roman" panose="02020603050405020304" pitchFamily="18" charset="0"/>
            </a:endParaRPr>
          </a:p>
          <a:p>
            <a:pPr algn="just"/>
            <a:endParaRPr lang="en-US" altLang="en-US" b="0"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p:nvPr>
        </p:nvSpPr>
        <p:spPr/>
        <p:txBody>
          <a:bodyPr vert="horz" wrap="square" lIns="91440" tIns="45720" rIns="91440" bIns="45720" anchor="ctr" anchorCtr="0"/>
          <a:lstStyle/>
          <a:p>
            <a:pPr eaLnBrk="1" hangingPunct="1"/>
            <a:r>
              <a:rPr lang="en-US" altLang="en-US" dirty="0"/>
              <a:t>Luật CNTT số 67/2006/QH11</a:t>
            </a:r>
          </a:p>
        </p:txBody>
      </p:sp>
      <p:sp>
        <p:nvSpPr>
          <p:cNvPr id="8194" name="Rectangle 3"/>
          <p:cNvSpPr>
            <a:spLocks noGrp="1"/>
          </p:cNvSpPr>
          <p:nvPr>
            <p:ph idx="1"/>
          </p:nvPr>
        </p:nvSpPr>
        <p:spPr>
          <a:xfrm>
            <a:off x="0" y="1196975"/>
            <a:ext cx="9144000" cy="5048250"/>
          </a:xfrm>
        </p:spPr>
        <p:txBody>
          <a:bodyPr vert="horz" wrap="square" lIns="91440" tIns="45720" rIns="91440" bIns="45720" anchor="t" anchorCtr="0"/>
          <a:lstStyle/>
          <a:p>
            <a:r>
              <a:rPr lang="en-US" sz="3000" dirty="0">
                <a:latin typeface="Times New Roman" panose="02020603050405020304" pitchFamily="18" charset="0"/>
              </a:rPr>
              <a:t>Chương 5. Giải quyết tranh chấp v</a:t>
            </a:r>
            <a:r>
              <a:rPr lang="en-US" sz="3000" dirty="0">
                <a:latin typeface="Times New Roman" panose="02020603050405020304" pitchFamily="18" charset="0"/>
                <a:ea typeface="Times New Roman" panose="02020603050405020304" pitchFamily="18" charset="0"/>
              </a:rPr>
              <a:t>à</a:t>
            </a:r>
            <a:r>
              <a:rPr lang="en-US" sz="3000" dirty="0">
                <a:latin typeface="Times New Roman" panose="02020603050405020304" pitchFamily="18" charset="0"/>
              </a:rPr>
              <a:t> xử lý vi phạm</a:t>
            </a:r>
          </a:p>
          <a:p>
            <a:pPr algn="just"/>
            <a:r>
              <a:rPr lang="en-US" sz="3000" dirty="0">
                <a:latin typeface="Times New Roman" panose="02020603050405020304" pitchFamily="18" charset="0"/>
              </a:rPr>
              <a:t>Chương 6. Điều khoản thi h</a:t>
            </a:r>
            <a:r>
              <a:rPr lang="en-US" sz="3000" dirty="0">
                <a:latin typeface="Times New Roman" panose="02020603050405020304" pitchFamily="18" charset="0"/>
                <a:ea typeface="Times New Roman" panose="02020603050405020304" pitchFamily="18" charset="0"/>
              </a:rPr>
              <a:t>à</a:t>
            </a:r>
            <a:r>
              <a:rPr lang="en-US" sz="3000" dirty="0">
                <a:latin typeface="Times New Roman" panose="02020603050405020304" pitchFamily="18" charset="0"/>
              </a:rPr>
              <a:t>nh</a:t>
            </a:r>
          </a:p>
          <a:p>
            <a:pPr algn="just"/>
            <a:endParaRPr lang="en-US" altLang="en-US" sz="3000"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p:txBody>
          <a:bodyPr vert="horz" wrap="square" lIns="91440" tIns="45720" rIns="91440" bIns="45720" anchor="ctr" anchorCtr="0"/>
          <a:lstStyle/>
          <a:p>
            <a:pPr eaLnBrk="1" hangingPunct="1"/>
            <a:r>
              <a:rPr lang="en-US" altLang="en-US" dirty="0"/>
              <a:t>Chương I</a:t>
            </a:r>
          </a:p>
        </p:txBody>
      </p:sp>
      <p:sp>
        <p:nvSpPr>
          <p:cNvPr id="9218" name="Rectangle 3"/>
          <p:cNvSpPr>
            <a:spLocks noGrp="1"/>
          </p:cNvSpPr>
          <p:nvPr>
            <p:ph idx="1"/>
          </p:nvPr>
        </p:nvSpPr>
        <p:spPr>
          <a:xfrm>
            <a:off x="619125" y="1392238"/>
            <a:ext cx="8274050" cy="4852987"/>
          </a:xfrm>
        </p:spPr>
        <p:txBody>
          <a:bodyPr vert="horz" wrap="square" lIns="91440" tIns="45720" rIns="91440" bIns="45720" anchor="t" anchorCtr="0"/>
          <a:lstStyle/>
          <a:p>
            <a:pPr algn="just"/>
            <a:r>
              <a:rPr lang="en-US" altLang="en-US" b="0" dirty="0">
                <a:highlight>
                  <a:srgbClr val="FFFF00"/>
                </a:highlight>
                <a:latin typeface="Times New Roman" panose="02020603050405020304" pitchFamily="18" charset="0"/>
              </a:rPr>
              <a:t> </a:t>
            </a:r>
            <a:r>
              <a:rPr lang="vi-VN" altLang="x-none" dirty="0">
                <a:highlight>
                  <a:srgbClr val="FFFF00"/>
                </a:highlight>
                <a:latin typeface="Times New Roman" panose="02020603050405020304" pitchFamily="18" charset="0"/>
              </a:rPr>
              <a:t>Chương I. Những quy định chung</a:t>
            </a:r>
            <a:r>
              <a:rPr lang="vi-VN" altLang="x-none" b="0" dirty="0">
                <a:highlight>
                  <a:srgbClr val="FFFF00"/>
                </a:highlight>
                <a:latin typeface="Times New Roman" panose="02020603050405020304" pitchFamily="18" charset="0"/>
              </a:rPr>
              <a:t> gồm 12 điều.</a:t>
            </a:r>
          </a:p>
          <a:p>
            <a:pPr algn="just">
              <a:buNone/>
            </a:pPr>
            <a:r>
              <a:rPr lang="vi-VN" altLang="x-none" b="0" dirty="0">
                <a:latin typeface="Times New Roman" panose="02020603050405020304" pitchFamily="18" charset="0"/>
              </a:rPr>
              <a:t>Nội dung của Chương n</a:t>
            </a:r>
            <a:r>
              <a:rPr lang="vi-VN" altLang="x-none" b="0" dirty="0">
                <a:latin typeface="Times New Roman" panose="02020603050405020304" pitchFamily="18" charset="0"/>
                <a:ea typeface="Times New Roman" panose="02020603050405020304" pitchFamily="18" charset="0"/>
              </a:rPr>
              <a:t>à</a:t>
            </a:r>
            <a:r>
              <a:rPr lang="vi-VN" altLang="x-none" b="0" dirty="0">
                <a:latin typeface="Times New Roman" panose="02020603050405020304" pitchFamily="18" charset="0"/>
              </a:rPr>
              <a:t>y quy định những vấn đề về</a:t>
            </a:r>
            <a:r>
              <a:rPr lang="en-US" b="0" dirty="0">
                <a:latin typeface="Times New Roman" panose="02020603050405020304" pitchFamily="18" charset="0"/>
              </a:rPr>
              <a:t>:</a:t>
            </a:r>
            <a:r>
              <a:rPr lang="vi-VN" altLang="x-none" b="0" dirty="0">
                <a:latin typeface="Times New Roman" panose="02020603050405020304" pitchFamily="18" charset="0"/>
              </a:rPr>
              <a:t> phạm vi điều chỉnh, đối tượng áp dụng, áp dụng luật, giải thích từ ngữ, chính sách của nh</a:t>
            </a:r>
            <a:r>
              <a:rPr lang="vi-VN" altLang="x-none" b="0" dirty="0">
                <a:latin typeface="Times New Roman" panose="02020603050405020304" pitchFamily="18" charset="0"/>
                <a:ea typeface="Times New Roman" panose="02020603050405020304" pitchFamily="18" charset="0"/>
              </a:rPr>
              <a:t>à</a:t>
            </a:r>
            <a:r>
              <a:rPr lang="vi-VN" altLang="x-none" b="0" dirty="0">
                <a:latin typeface="Times New Roman" panose="02020603050405020304" pitchFamily="18" charset="0"/>
              </a:rPr>
              <a:t> nước về công nghệ thông tin, nội dung quản lý nh</a:t>
            </a:r>
            <a:r>
              <a:rPr lang="vi-VN" altLang="x-none" b="0" dirty="0">
                <a:latin typeface="Times New Roman" panose="02020603050405020304" pitchFamily="18" charset="0"/>
                <a:ea typeface="Times New Roman" panose="02020603050405020304" pitchFamily="18" charset="0"/>
              </a:rPr>
              <a:t>à</a:t>
            </a:r>
            <a:r>
              <a:rPr lang="vi-VN" altLang="x-none" b="0" dirty="0">
                <a:latin typeface="Times New Roman" panose="02020603050405020304" pitchFamily="18" charset="0"/>
              </a:rPr>
              <a:t> nước cũng như trách nhiệm của cơ quan quản lý nh</a:t>
            </a:r>
            <a:r>
              <a:rPr lang="vi-VN" altLang="x-none" b="0" dirty="0">
                <a:latin typeface="Times New Roman" panose="02020603050405020304" pitchFamily="18" charset="0"/>
                <a:ea typeface="Times New Roman" panose="02020603050405020304" pitchFamily="18" charset="0"/>
              </a:rPr>
              <a:t>à</a:t>
            </a:r>
            <a:r>
              <a:rPr lang="vi-VN" altLang="x-none" b="0" dirty="0">
                <a:latin typeface="Times New Roman" panose="02020603050405020304" pitchFamily="18" charset="0"/>
              </a:rPr>
              <a:t> nước về công nghệ thông tin, quyền v</a:t>
            </a:r>
            <a:r>
              <a:rPr lang="vi-VN" altLang="x-none" b="0" dirty="0">
                <a:latin typeface="Times New Roman" panose="02020603050405020304" pitchFamily="18" charset="0"/>
                <a:ea typeface="Times New Roman" panose="02020603050405020304" pitchFamily="18" charset="0"/>
              </a:rPr>
              <a:t>à</a:t>
            </a:r>
            <a:r>
              <a:rPr lang="vi-VN" altLang="x-none" b="0" dirty="0">
                <a:latin typeface="Times New Roman" panose="02020603050405020304" pitchFamily="18" charset="0"/>
              </a:rPr>
              <a:t> trách nhiệm của tổ chức, cá nhân tham gia hoạt động ứng dụng v</a:t>
            </a:r>
            <a:r>
              <a:rPr lang="vi-VN" altLang="x-none" b="0" dirty="0">
                <a:latin typeface="Times New Roman" panose="02020603050405020304" pitchFamily="18" charset="0"/>
                <a:ea typeface="Times New Roman" panose="02020603050405020304" pitchFamily="18" charset="0"/>
              </a:rPr>
              <a:t>à</a:t>
            </a:r>
            <a:r>
              <a:rPr lang="vi-VN" altLang="x-none" b="0" dirty="0">
                <a:latin typeface="Times New Roman" panose="02020603050405020304" pitchFamily="18" charset="0"/>
              </a:rPr>
              <a:t> phát triển công nghệ thông tin, thanh tra công nghệ thông tin, hiệp hội công nghệ thông tin v</a:t>
            </a:r>
            <a:r>
              <a:rPr lang="vi-VN" altLang="x-none" b="0" dirty="0">
                <a:latin typeface="Times New Roman" panose="02020603050405020304" pitchFamily="18" charset="0"/>
                <a:ea typeface="Times New Roman" panose="02020603050405020304" pitchFamily="18" charset="0"/>
              </a:rPr>
              <a:t>à</a:t>
            </a:r>
            <a:r>
              <a:rPr lang="vi-VN" altLang="x-none" b="0" dirty="0">
                <a:latin typeface="Times New Roman" panose="02020603050405020304" pitchFamily="18" charset="0"/>
              </a:rPr>
              <a:t> các h</a:t>
            </a:r>
            <a:r>
              <a:rPr lang="vi-VN" altLang="x-none" b="0" dirty="0">
                <a:latin typeface="Times New Roman" panose="02020603050405020304" pitchFamily="18" charset="0"/>
                <a:ea typeface="Times New Roman" panose="02020603050405020304" pitchFamily="18" charset="0"/>
              </a:rPr>
              <a:t>à</a:t>
            </a:r>
            <a:r>
              <a:rPr lang="vi-VN" altLang="x-none" b="0" dirty="0">
                <a:latin typeface="Times New Roman" panose="02020603050405020304" pitchFamily="18" charset="0"/>
              </a:rPr>
              <a:t>nh vi bị nghiêm cấm</a:t>
            </a:r>
          </a:p>
          <a:p>
            <a:pPr algn="just" eaLnBrk="1" hangingPunct="1">
              <a:lnSpc>
                <a:spcPct val="80000"/>
              </a:lnSpc>
            </a:pPr>
            <a:endParaRPr lang="en-US" altLang="en-US" b="0" dirty="0">
              <a:latin typeface="Times New Roman" panose="02020603050405020304" pitchFamily="18" charset="0"/>
            </a:endParaRPr>
          </a:p>
          <a:p>
            <a:pPr algn="just" eaLnBrk="1" hangingPunct="1">
              <a:lnSpc>
                <a:spcPct val="80000"/>
              </a:lnSpc>
            </a:pPr>
            <a:endParaRPr lang="en-US" altLang="en-US" b="0" dirty="0">
              <a:latin typeface="Times New Roman" panose="02020603050405020304" pitchFamily="18" charset="0"/>
            </a:endParaRPr>
          </a:p>
          <a:p>
            <a:pPr lvl="1" algn="just" eaLnBrk="1" hangingPunct="1">
              <a:lnSpc>
                <a:spcPct val="80000"/>
              </a:lnSpc>
            </a:pPr>
            <a:r>
              <a:rPr lang="en-US" altLang="en-US" dirty="0">
                <a:latin typeface="Times New Roman" panose="02020603050405020304" pitchFamily="18" charset="0"/>
              </a:rPr>
              <a:t>. </a:t>
            </a:r>
            <a:br>
              <a:rPr lang="en-US" altLang="en-US" dirty="0">
                <a:latin typeface="Times New Roman" panose="02020603050405020304" pitchFamily="18" charset="0"/>
              </a:rPr>
            </a:br>
            <a:endParaRPr lang="en-US" altLang="en-US" dirty="0">
              <a:latin typeface="Times New Roman" panose="02020603050405020304" pitchFamily="18" charset="0"/>
            </a:endParaRPr>
          </a:p>
          <a:p>
            <a:pPr lvl="1" algn="just" eaLnBrk="1" hangingPunct="1">
              <a:lnSpc>
                <a:spcPct val="80000"/>
              </a:lnSpc>
            </a:pP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Điều 1. Phạm vi điều chỉnh</a:t>
            </a:r>
            <a:endParaRPr lang="en-US"/>
          </a:p>
        </p:txBody>
      </p:sp>
      <p:sp>
        <p:nvSpPr>
          <p:cNvPr id="3" name="Content Placeholder 2"/>
          <p:cNvSpPr>
            <a:spLocks noGrp="1"/>
          </p:cNvSpPr>
          <p:nvPr>
            <p:ph idx="1"/>
          </p:nvPr>
        </p:nvSpPr>
        <p:spPr/>
        <p:txBody>
          <a:bodyPr/>
          <a:lstStyle/>
          <a:p>
            <a:endParaRPr lang="en-US" dirty="0"/>
          </a:p>
          <a:p>
            <a:r>
              <a:rPr lang="en-US" dirty="0" err="1"/>
              <a:t>Hoạt</a:t>
            </a:r>
            <a:r>
              <a:rPr lang="en-US" dirty="0"/>
              <a:t> </a:t>
            </a:r>
            <a:r>
              <a:rPr lang="en-US" dirty="0" err="1"/>
              <a:t>động</a:t>
            </a:r>
            <a:r>
              <a:rPr lang="en-US" dirty="0"/>
              <a:t> </a:t>
            </a:r>
            <a:r>
              <a:rPr lang="en-US" dirty="0" err="1"/>
              <a:t>ứng</a:t>
            </a:r>
            <a:r>
              <a:rPr lang="en-US" dirty="0"/>
              <a:t> </a:t>
            </a:r>
            <a:r>
              <a:rPr lang="en-US" dirty="0" err="1"/>
              <a:t>dụng</a:t>
            </a:r>
            <a:r>
              <a:rPr lang="en-US" dirty="0"/>
              <a:t> </a:t>
            </a:r>
            <a:r>
              <a:rPr lang="en-US" dirty="0" err="1"/>
              <a:t>và</a:t>
            </a:r>
            <a:r>
              <a:rPr lang="en-US" dirty="0"/>
              <a:t> </a:t>
            </a:r>
            <a:r>
              <a:rPr lang="en-US" dirty="0" err="1"/>
              <a:t>phát</a:t>
            </a:r>
            <a:r>
              <a:rPr lang="en-US" dirty="0"/>
              <a:t> </a:t>
            </a:r>
            <a:r>
              <a:rPr lang="en-US" dirty="0" err="1"/>
              <a:t>triển</a:t>
            </a:r>
            <a:r>
              <a:rPr lang="en-US" dirty="0"/>
              <a:t> </a:t>
            </a:r>
            <a:r>
              <a:rPr lang="en-US" dirty="0" err="1"/>
              <a:t>công</a:t>
            </a:r>
            <a:r>
              <a:rPr lang="en-US" dirty="0"/>
              <a:t> </a:t>
            </a:r>
            <a:r>
              <a:rPr lang="en-US" dirty="0" err="1"/>
              <a:t>nghệ</a:t>
            </a:r>
            <a:r>
              <a:rPr lang="en-US" dirty="0"/>
              <a:t> </a:t>
            </a:r>
            <a:r>
              <a:rPr lang="en-US" dirty="0" err="1"/>
              <a:t>thông</a:t>
            </a:r>
            <a:r>
              <a:rPr lang="en-US" dirty="0"/>
              <a:t> tin, </a:t>
            </a:r>
          </a:p>
          <a:p>
            <a:r>
              <a:rPr lang="en-US" dirty="0"/>
              <a:t>Các </a:t>
            </a:r>
            <a:r>
              <a:rPr lang="en-US" dirty="0" err="1"/>
              <a:t>biện</a:t>
            </a:r>
            <a:r>
              <a:rPr lang="en-US" dirty="0"/>
              <a:t> </a:t>
            </a:r>
            <a:r>
              <a:rPr lang="en-US" dirty="0" err="1"/>
              <a:t>pháp</a:t>
            </a:r>
            <a:r>
              <a:rPr lang="en-US" dirty="0"/>
              <a:t> </a:t>
            </a:r>
            <a:r>
              <a:rPr lang="en-US" dirty="0" err="1"/>
              <a:t>bảo</a:t>
            </a:r>
            <a:r>
              <a:rPr lang="en-US" dirty="0"/>
              <a:t> </a:t>
            </a:r>
            <a:r>
              <a:rPr lang="en-US" dirty="0" err="1"/>
              <a:t>đảm</a:t>
            </a:r>
            <a:r>
              <a:rPr lang="en-US" dirty="0"/>
              <a:t> </a:t>
            </a:r>
            <a:r>
              <a:rPr lang="en-US" dirty="0" err="1"/>
              <a:t>ứng</a:t>
            </a:r>
            <a:r>
              <a:rPr lang="en-US" dirty="0"/>
              <a:t> </a:t>
            </a:r>
            <a:r>
              <a:rPr lang="en-US" dirty="0" err="1"/>
              <a:t>dụng</a:t>
            </a:r>
            <a:r>
              <a:rPr lang="en-US" dirty="0"/>
              <a:t> </a:t>
            </a:r>
            <a:r>
              <a:rPr lang="en-US" dirty="0" err="1"/>
              <a:t>và</a:t>
            </a:r>
            <a:r>
              <a:rPr lang="en-US" dirty="0"/>
              <a:t> </a:t>
            </a:r>
            <a:r>
              <a:rPr lang="en-US" dirty="0" err="1"/>
              <a:t>phát</a:t>
            </a:r>
            <a:r>
              <a:rPr lang="en-US" dirty="0"/>
              <a:t> </a:t>
            </a:r>
            <a:r>
              <a:rPr lang="en-US" dirty="0" err="1"/>
              <a:t>triển</a:t>
            </a:r>
            <a:r>
              <a:rPr lang="en-US" dirty="0"/>
              <a:t> </a:t>
            </a:r>
            <a:r>
              <a:rPr lang="en-US" dirty="0" err="1"/>
              <a:t>công</a:t>
            </a:r>
            <a:r>
              <a:rPr lang="en-US" dirty="0"/>
              <a:t> </a:t>
            </a:r>
            <a:r>
              <a:rPr lang="en-US" dirty="0" err="1"/>
              <a:t>nghệ</a:t>
            </a:r>
            <a:r>
              <a:rPr lang="en-US" dirty="0"/>
              <a:t> </a:t>
            </a:r>
            <a:r>
              <a:rPr lang="en-US" dirty="0" err="1"/>
              <a:t>thông</a:t>
            </a:r>
            <a:r>
              <a:rPr lang="en-US" dirty="0"/>
              <a:t> tin </a:t>
            </a:r>
          </a:p>
          <a:p>
            <a:r>
              <a:rPr lang="en-US" dirty="0">
                <a:solidFill>
                  <a:srgbClr val="FF0000"/>
                </a:solidFill>
                <a:highlight>
                  <a:srgbClr val="FFFF00"/>
                </a:highlight>
              </a:rPr>
              <a:t>Quyền </a:t>
            </a:r>
            <a:r>
              <a:rPr lang="en-US" dirty="0" err="1">
                <a:solidFill>
                  <a:srgbClr val="FF0000"/>
                </a:solidFill>
                <a:highlight>
                  <a:srgbClr val="FFFF00"/>
                </a:highlight>
              </a:rPr>
              <a:t>và</a:t>
            </a:r>
            <a:r>
              <a:rPr lang="en-US" dirty="0">
                <a:solidFill>
                  <a:srgbClr val="FF0000"/>
                </a:solidFill>
                <a:highlight>
                  <a:srgbClr val="FFFF00"/>
                </a:highlight>
              </a:rPr>
              <a:t> </a:t>
            </a:r>
            <a:r>
              <a:rPr lang="en-US" dirty="0" err="1">
                <a:solidFill>
                  <a:srgbClr val="FF0000"/>
                </a:solidFill>
                <a:highlight>
                  <a:srgbClr val="FFFF00"/>
                </a:highlight>
              </a:rPr>
              <a:t>nghĩa</a:t>
            </a:r>
            <a:r>
              <a:rPr lang="en-US" dirty="0">
                <a:solidFill>
                  <a:srgbClr val="FF0000"/>
                </a:solidFill>
                <a:highlight>
                  <a:srgbClr val="FFFF00"/>
                </a:highlight>
              </a:rPr>
              <a:t> </a:t>
            </a:r>
            <a:r>
              <a:rPr lang="en-US" dirty="0" err="1">
                <a:solidFill>
                  <a:srgbClr val="FF0000"/>
                </a:solidFill>
                <a:highlight>
                  <a:srgbClr val="FFFF00"/>
                </a:highlight>
              </a:rPr>
              <a:t>vụ</a:t>
            </a:r>
            <a:r>
              <a:rPr lang="en-US" dirty="0">
                <a:solidFill>
                  <a:srgbClr val="FF0000"/>
                </a:solidFill>
                <a:highlight>
                  <a:srgbClr val="FFFF00"/>
                </a:highlight>
              </a:rPr>
              <a:t> </a:t>
            </a:r>
            <a:r>
              <a:rPr lang="en-US" dirty="0" err="1">
                <a:solidFill>
                  <a:srgbClr val="FF0000"/>
                </a:solidFill>
              </a:rPr>
              <a:t>của</a:t>
            </a:r>
            <a:r>
              <a:rPr lang="en-US" dirty="0">
                <a:solidFill>
                  <a:srgbClr val="FF0000"/>
                </a:solidFill>
              </a:rPr>
              <a:t> </a:t>
            </a:r>
            <a:r>
              <a:rPr lang="en-US" dirty="0" err="1">
                <a:solidFill>
                  <a:srgbClr val="FF0000"/>
                </a:solidFill>
              </a:rPr>
              <a:t>cơ</a:t>
            </a:r>
            <a:r>
              <a:rPr lang="en-US" dirty="0">
                <a:solidFill>
                  <a:srgbClr val="FF0000"/>
                </a:solidFill>
              </a:rPr>
              <a:t> </a:t>
            </a:r>
            <a:r>
              <a:rPr lang="en-US" dirty="0" err="1">
                <a:solidFill>
                  <a:srgbClr val="FF0000"/>
                </a:solidFill>
              </a:rPr>
              <a:t>quan</a:t>
            </a:r>
            <a:r>
              <a:rPr lang="en-US" dirty="0">
                <a:solidFill>
                  <a:srgbClr val="FF0000"/>
                </a:solidFill>
              </a:rPr>
              <a:t>, </a:t>
            </a:r>
            <a:r>
              <a:rPr lang="en-US" dirty="0" err="1">
                <a:solidFill>
                  <a:srgbClr val="FF0000"/>
                </a:solidFill>
              </a:rPr>
              <a:t>tổ</a:t>
            </a:r>
            <a:r>
              <a:rPr lang="en-US" dirty="0">
                <a:solidFill>
                  <a:srgbClr val="FF0000"/>
                </a:solidFill>
              </a:rPr>
              <a:t> </a:t>
            </a:r>
            <a:r>
              <a:rPr lang="en-US" dirty="0" err="1">
                <a:solidFill>
                  <a:srgbClr val="FF0000"/>
                </a:solidFill>
              </a:rPr>
              <a:t>chức</a:t>
            </a:r>
            <a:r>
              <a:rPr lang="en-US" dirty="0">
                <a:solidFill>
                  <a:srgbClr val="FF0000"/>
                </a:solidFill>
              </a:rPr>
              <a:t>, </a:t>
            </a:r>
            <a:r>
              <a:rPr lang="en-US" dirty="0" err="1">
                <a:solidFill>
                  <a:srgbClr val="FF0000"/>
                </a:solidFill>
              </a:rPr>
              <a:t>cá</a:t>
            </a:r>
            <a:r>
              <a:rPr lang="en-US" dirty="0">
                <a:solidFill>
                  <a:srgbClr val="FF0000"/>
                </a:solidFill>
              </a:rPr>
              <a:t> </a:t>
            </a:r>
            <a:r>
              <a:rPr lang="en-US" dirty="0" err="1">
                <a:solidFill>
                  <a:srgbClr val="FF0000"/>
                </a:solidFill>
              </a:rPr>
              <a:t>nhân</a:t>
            </a:r>
            <a:r>
              <a:rPr lang="en-US" dirty="0">
                <a:solidFill>
                  <a:srgbClr val="FF0000"/>
                </a:solidFill>
              </a:rPr>
              <a:t> </a:t>
            </a:r>
            <a:r>
              <a:rPr lang="en-US" dirty="0" err="1">
                <a:solidFill>
                  <a:srgbClr val="FF0000"/>
                </a:solidFill>
              </a:rPr>
              <a:t>tham</a:t>
            </a:r>
            <a:r>
              <a:rPr lang="en-US" dirty="0">
                <a:solidFill>
                  <a:srgbClr val="FF0000"/>
                </a:solidFill>
              </a:rPr>
              <a:t> </a:t>
            </a:r>
            <a:r>
              <a:rPr lang="en-US" dirty="0" err="1">
                <a:solidFill>
                  <a:srgbClr val="FF0000"/>
                </a:solidFill>
              </a:rPr>
              <a:t>gia</a:t>
            </a:r>
            <a:r>
              <a:rPr lang="en-US" dirty="0">
                <a:solidFill>
                  <a:srgbClr val="FF0000"/>
                </a:solidFill>
              </a:rPr>
              <a:t> </a:t>
            </a:r>
            <a:r>
              <a:rPr lang="en-US" dirty="0" err="1">
                <a:solidFill>
                  <a:srgbClr val="FF0000"/>
                </a:solidFill>
              </a:rPr>
              <a:t>hoạt</a:t>
            </a:r>
            <a:r>
              <a:rPr lang="en-US" dirty="0">
                <a:solidFill>
                  <a:srgbClr val="FF0000"/>
                </a:solidFill>
              </a:rPr>
              <a:t> </a:t>
            </a:r>
            <a:r>
              <a:rPr lang="en-US" dirty="0" err="1">
                <a:solidFill>
                  <a:srgbClr val="FF0000"/>
                </a:solidFill>
              </a:rPr>
              <a:t>động</a:t>
            </a:r>
            <a:r>
              <a:rPr lang="en-US" dirty="0">
                <a:solidFill>
                  <a:srgbClr val="FF0000"/>
                </a:solidFill>
              </a:rPr>
              <a:t> </a:t>
            </a:r>
            <a:r>
              <a:rPr lang="en-US" u="sng" dirty="0" err="1">
                <a:solidFill>
                  <a:srgbClr val="FF0000"/>
                </a:solidFill>
              </a:rPr>
              <a:t>ứng</a:t>
            </a:r>
            <a:r>
              <a:rPr lang="en-US" u="sng" dirty="0">
                <a:solidFill>
                  <a:srgbClr val="FF0000"/>
                </a:solidFill>
              </a:rPr>
              <a:t> </a:t>
            </a:r>
            <a:r>
              <a:rPr lang="en-US" u="sng" dirty="0" err="1">
                <a:solidFill>
                  <a:srgbClr val="FF0000"/>
                </a:solidFill>
              </a:rPr>
              <a:t>dụng</a:t>
            </a:r>
            <a:r>
              <a:rPr lang="en-US" u="sng" dirty="0">
                <a:solidFill>
                  <a:srgbClr val="FF0000"/>
                </a:solidFill>
              </a:rPr>
              <a:t> </a:t>
            </a:r>
            <a:r>
              <a:rPr lang="en-US" u="sng" dirty="0" err="1">
                <a:solidFill>
                  <a:srgbClr val="FF0000"/>
                </a:solidFill>
              </a:rPr>
              <a:t>và</a:t>
            </a:r>
            <a:r>
              <a:rPr lang="en-US" u="sng" dirty="0">
                <a:solidFill>
                  <a:srgbClr val="FF0000"/>
                </a:solidFill>
              </a:rPr>
              <a:t> </a:t>
            </a:r>
            <a:r>
              <a:rPr lang="en-US" u="sng" dirty="0" err="1">
                <a:solidFill>
                  <a:srgbClr val="FF0000"/>
                </a:solidFill>
              </a:rPr>
              <a:t>phát</a:t>
            </a:r>
            <a:r>
              <a:rPr lang="en-US" u="sng" dirty="0">
                <a:solidFill>
                  <a:srgbClr val="FF0000"/>
                </a:solidFill>
              </a:rPr>
              <a:t> </a:t>
            </a:r>
            <a:r>
              <a:rPr lang="en-US" u="sng" dirty="0" err="1">
                <a:solidFill>
                  <a:srgbClr val="FF0000"/>
                </a:solidFill>
              </a:rPr>
              <a:t>triển</a:t>
            </a:r>
            <a:r>
              <a:rPr lang="en-US" dirty="0">
                <a:solidFill>
                  <a:srgbClr val="FF0000"/>
                </a:solidFill>
              </a:rPr>
              <a:t> </a:t>
            </a:r>
            <a:r>
              <a:rPr lang="en-US" dirty="0" err="1">
                <a:solidFill>
                  <a:srgbClr val="FF0000"/>
                </a:solidFill>
              </a:rPr>
              <a:t>công</a:t>
            </a:r>
            <a:r>
              <a:rPr lang="en-US" dirty="0">
                <a:solidFill>
                  <a:srgbClr val="FF0000"/>
                </a:solidFill>
              </a:rPr>
              <a:t> </a:t>
            </a:r>
            <a:r>
              <a:rPr lang="en-US" dirty="0" err="1">
                <a:solidFill>
                  <a:srgbClr val="FF0000"/>
                </a:solidFill>
              </a:rPr>
              <a:t>nghệ</a:t>
            </a:r>
            <a:r>
              <a:rPr lang="en-US" dirty="0">
                <a:solidFill>
                  <a:srgbClr val="FF0000"/>
                </a:solidFill>
              </a:rPr>
              <a:t> </a:t>
            </a:r>
            <a:r>
              <a:rPr lang="en-US" dirty="0" err="1">
                <a:solidFill>
                  <a:srgbClr val="FF0000"/>
                </a:solidFill>
              </a:rPr>
              <a:t>thông</a:t>
            </a:r>
            <a:r>
              <a:rPr lang="en-US" dirty="0">
                <a:solidFill>
                  <a:srgbClr val="FF0000"/>
                </a:solidFill>
              </a:rPr>
              <a:t> tin.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Điều 2. Đối tượng áp dụng	</a:t>
            </a:r>
            <a:endParaRPr lang="en-US"/>
          </a:p>
        </p:txBody>
      </p:sp>
      <p:sp>
        <p:nvSpPr>
          <p:cNvPr id="3" name="Content Placeholder 2"/>
          <p:cNvSpPr>
            <a:spLocks noGrp="1"/>
          </p:cNvSpPr>
          <p:nvPr>
            <p:ph idx="1"/>
          </p:nvPr>
        </p:nvSpPr>
        <p:spPr/>
        <p:txBody>
          <a:bodyPr/>
          <a:lstStyle/>
          <a:p>
            <a:endParaRPr lang="en-US" dirty="0"/>
          </a:p>
          <a:p>
            <a:r>
              <a:rPr lang="en-US" dirty="0" err="1"/>
              <a:t>Áp</a:t>
            </a:r>
            <a:r>
              <a:rPr lang="en-US" dirty="0"/>
              <a:t> </a:t>
            </a:r>
            <a:r>
              <a:rPr lang="en-US" dirty="0" err="1"/>
              <a:t>dụng</a:t>
            </a:r>
            <a:r>
              <a:rPr lang="en-US" dirty="0"/>
              <a:t> </a:t>
            </a:r>
            <a:r>
              <a:rPr lang="en-US" dirty="0" err="1"/>
              <a:t>đối</a:t>
            </a:r>
            <a:r>
              <a:rPr lang="en-US" dirty="0"/>
              <a:t> </a:t>
            </a:r>
            <a:r>
              <a:rPr lang="en-US" dirty="0" err="1"/>
              <a:t>với</a:t>
            </a:r>
            <a:r>
              <a:rPr lang="en-US" dirty="0"/>
              <a:t> </a:t>
            </a:r>
            <a:r>
              <a:rPr lang="en-US" dirty="0" err="1"/>
              <a:t>tổ</a:t>
            </a:r>
            <a:r>
              <a:rPr lang="en-US" dirty="0"/>
              <a:t> </a:t>
            </a:r>
            <a:r>
              <a:rPr lang="en-US" dirty="0" err="1"/>
              <a:t>chức</a:t>
            </a:r>
            <a:r>
              <a:rPr lang="en-US" dirty="0"/>
              <a:t>, </a:t>
            </a:r>
            <a:r>
              <a:rPr lang="en-US" dirty="0" err="1"/>
              <a:t>cá</a:t>
            </a:r>
            <a:r>
              <a:rPr lang="en-US" dirty="0"/>
              <a:t> </a:t>
            </a:r>
            <a:r>
              <a:rPr lang="en-US" dirty="0" err="1"/>
              <a:t>nhân</a:t>
            </a:r>
            <a:r>
              <a:rPr lang="en-US" dirty="0"/>
              <a:t> </a:t>
            </a:r>
            <a:r>
              <a:rPr lang="en-US" dirty="0">
                <a:solidFill>
                  <a:srgbClr val="FF0000"/>
                </a:solidFill>
              </a:rPr>
              <a:t>Việt Nam</a:t>
            </a:r>
            <a:r>
              <a:rPr lang="en-US" dirty="0"/>
              <a:t>, </a:t>
            </a:r>
            <a:r>
              <a:rPr lang="en-US" dirty="0" err="1"/>
              <a:t>tổ</a:t>
            </a:r>
            <a:r>
              <a:rPr lang="en-US" dirty="0"/>
              <a:t> </a:t>
            </a:r>
            <a:r>
              <a:rPr lang="en-US" dirty="0" err="1"/>
              <a:t>chức</a:t>
            </a:r>
            <a:r>
              <a:rPr lang="en-US" dirty="0"/>
              <a:t>, </a:t>
            </a:r>
            <a:r>
              <a:rPr lang="en-US" dirty="0" err="1"/>
              <a:t>cá</a:t>
            </a:r>
            <a:r>
              <a:rPr lang="en-US" dirty="0"/>
              <a:t> </a:t>
            </a:r>
            <a:r>
              <a:rPr lang="en-US" dirty="0" err="1"/>
              <a:t>nhân</a:t>
            </a:r>
            <a:r>
              <a:rPr lang="en-US" dirty="0"/>
              <a:t> </a:t>
            </a:r>
            <a:r>
              <a:rPr lang="en-US" dirty="0" err="1">
                <a:solidFill>
                  <a:srgbClr val="FF0000"/>
                </a:solidFill>
              </a:rPr>
              <a:t>nước</a:t>
            </a:r>
            <a:r>
              <a:rPr lang="en-US" dirty="0">
                <a:solidFill>
                  <a:srgbClr val="FF0000"/>
                </a:solidFill>
              </a:rPr>
              <a:t> </a:t>
            </a:r>
            <a:r>
              <a:rPr lang="en-US" dirty="0" err="1">
                <a:solidFill>
                  <a:srgbClr val="FF0000"/>
                </a:solidFill>
              </a:rPr>
              <a:t>ngoài</a:t>
            </a:r>
            <a:r>
              <a:rPr lang="en-US" dirty="0">
                <a:solidFill>
                  <a:srgbClr val="FF0000"/>
                </a:solidFill>
              </a:rPr>
              <a:t> </a:t>
            </a:r>
            <a:r>
              <a:rPr lang="en-US" dirty="0" err="1"/>
              <a:t>tham</a:t>
            </a:r>
            <a:r>
              <a:rPr lang="en-US" dirty="0"/>
              <a:t> </a:t>
            </a:r>
            <a:r>
              <a:rPr lang="en-US" dirty="0" err="1"/>
              <a:t>gia</a:t>
            </a:r>
            <a:r>
              <a:rPr lang="en-US" dirty="0"/>
              <a:t> </a:t>
            </a:r>
            <a:r>
              <a:rPr lang="en-US" dirty="0" err="1"/>
              <a:t>hoạt</a:t>
            </a:r>
            <a:r>
              <a:rPr lang="en-US" dirty="0"/>
              <a:t> </a:t>
            </a:r>
            <a:r>
              <a:rPr lang="en-US" dirty="0" err="1"/>
              <a:t>động</a:t>
            </a:r>
            <a:r>
              <a:rPr lang="en-US" dirty="0"/>
              <a:t> </a:t>
            </a:r>
            <a:r>
              <a:rPr lang="en-US" dirty="0" err="1">
                <a:highlight>
                  <a:srgbClr val="FFFF00"/>
                </a:highlight>
              </a:rPr>
              <a:t>ứng</a:t>
            </a:r>
            <a:r>
              <a:rPr lang="en-US" dirty="0">
                <a:highlight>
                  <a:srgbClr val="FFFF00"/>
                </a:highlight>
              </a:rPr>
              <a:t> </a:t>
            </a:r>
            <a:r>
              <a:rPr lang="en-US" dirty="0" err="1">
                <a:highlight>
                  <a:srgbClr val="FFFF00"/>
                </a:highlight>
              </a:rPr>
              <a:t>dụng</a:t>
            </a:r>
            <a:r>
              <a:rPr lang="en-US" dirty="0">
                <a:highlight>
                  <a:srgbClr val="FFFF00"/>
                </a:highlight>
              </a:rPr>
              <a:t> </a:t>
            </a:r>
            <a:r>
              <a:rPr lang="en-US" dirty="0" err="1">
                <a:highlight>
                  <a:srgbClr val="FFFF00"/>
                </a:highlight>
              </a:rPr>
              <a:t>và</a:t>
            </a:r>
            <a:r>
              <a:rPr lang="en-US" dirty="0">
                <a:highlight>
                  <a:srgbClr val="FFFF00"/>
                </a:highlight>
              </a:rPr>
              <a:t> </a:t>
            </a:r>
            <a:r>
              <a:rPr lang="en-US" dirty="0" err="1">
                <a:highlight>
                  <a:srgbClr val="FFFF00"/>
                </a:highlight>
              </a:rPr>
              <a:t>phát</a:t>
            </a:r>
            <a:r>
              <a:rPr lang="en-US" dirty="0">
                <a:highlight>
                  <a:srgbClr val="FFFF00"/>
                </a:highlight>
              </a:rPr>
              <a:t> </a:t>
            </a:r>
            <a:r>
              <a:rPr lang="en-US" dirty="0" err="1">
                <a:highlight>
                  <a:srgbClr val="FFFF00"/>
                </a:highlight>
              </a:rPr>
              <a:t>triển</a:t>
            </a:r>
            <a:r>
              <a:rPr lang="en-US" dirty="0">
                <a:highlight>
                  <a:srgbClr val="FFFF00"/>
                </a:highlight>
              </a:rPr>
              <a:t> </a:t>
            </a:r>
            <a:r>
              <a:rPr lang="en-US" dirty="0" err="1">
                <a:highlight>
                  <a:srgbClr val="FFFF00"/>
                </a:highlight>
              </a:rPr>
              <a:t>công</a:t>
            </a:r>
            <a:r>
              <a:rPr lang="en-US" dirty="0">
                <a:highlight>
                  <a:srgbClr val="FFFF00"/>
                </a:highlight>
              </a:rPr>
              <a:t> </a:t>
            </a:r>
            <a:r>
              <a:rPr lang="en-US" dirty="0" err="1">
                <a:highlight>
                  <a:srgbClr val="FFFF00"/>
                </a:highlight>
              </a:rPr>
              <a:t>nghệ</a:t>
            </a:r>
            <a:r>
              <a:rPr lang="en-US" dirty="0">
                <a:highlight>
                  <a:srgbClr val="FFFF00"/>
                </a:highlight>
              </a:rPr>
              <a:t> </a:t>
            </a:r>
            <a:r>
              <a:rPr lang="en-US" dirty="0" err="1">
                <a:highlight>
                  <a:srgbClr val="FFFF00"/>
                </a:highlight>
              </a:rPr>
              <a:t>thông</a:t>
            </a:r>
            <a:r>
              <a:rPr lang="en-US" dirty="0">
                <a:highlight>
                  <a:srgbClr val="FFFF00"/>
                </a:highlight>
              </a:rPr>
              <a:t> tin </a:t>
            </a:r>
            <a:r>
              <a:rPr lang="en-US" u="sng" dirty="0" err="1">
                <a:highlight>
                  <a:srgbClr val="FFFF00"/>
                </a:highlight>
              </a:rPr>
              <a:t>tại</a:t>
            </a:r>
            <a:r>
              <a:rPr lang="en-US" dirty="0">
                <a:highlight>
                  <a:srgbClr val="FFFF00"/>
                </a:highlight>
              </a:rPr>
              <a:t> Việt Nam</a:t>
            </a:r>
            <a:r>
              <a:rPr lang="en-US" dirty="0"/>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7611745" cy="961390"/>
          </a:xfrm>
        </p:spPr>
        <p:txBody>
          <a:bodyPr/>
          <a:lstStyle/>
          <a:p>
            <a:r>
              <a:rPr lang="en-US">
                <a:sym typeface="+mn-ea"/>
              </a:rPr>
              <a:t>Điều 3. Áp dụng Luật </a:t>
            </a:r>
            <a:r>
              <a:rPr lang="vi-VN" altLang="en-US">
                <a:sym typeface="+mn-ea"/>
              </a:rPr>
              <a:t>cntt</a:t>
            </a:r>
            <a:br>
              <a:rPr lang="vi-VN" altLang="en-US">
                <a:sym typeface="+mn-ea"/>
              </a:rPr>
            </a:br>
            <a:endParaRPr lang="en-US"/>
          </a:p>
        </p:txBody>
      </p:sp>
      <p:sp>
        <p:nvSpPr>
          <p:cNvPr id="3" name="Content Placeholder 2"/>
          <p:cNvSpPr>
            <a:spLocks noGrp="1"/>
          </p:cNvSpPr>
          <p:nvPr>
            <p:ph idx="1"/>
          </p:nvPr>
        </p:nvSpPr>
        <p:spPr>
          <a:xfrm>
            <a:off x="457200" y="1772285"/>
            <a:ext cx="8229600" cy="5248275"/>
          </a:xfrm>
        </p:spPr>
        <p:txBody>
          <a:bodyPr/>
          <a:lstStyle/>
          <a:p>
            <a:r>
              <a:rPr lang="en-US" dirty="0"/>
              <a:t>1. </a:t>
            </a:r>
            <a:r>
              <a:rPr lang="en-US" dirty="0">
                <a:solidFill>
                  <a:srgbClr val="FF0000"/>
                </a:solidFill>
              </a:rPr>
              <a:t>Trường </a:t>
            </a:r>
            <a:r>
              <a:rPr lang="en-US" dirty="0" err="1">
                <a:solidFill>
                  <a:srgbClr val="FF0000"/>
                </a:solidFill>
              </a:rPr>
              <a:t>hợp</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sự</a:t>
            </a:r>
            <a:r>
              <a:rPr lang="en-US" dirty="0">
                <a:solidFill>
                  <a:srgbClr val="FF0000"/>
                </a:solidFill>
              </a:rPr>
              <a:t> </a:t>
            </a:r>
            <a:r>
              <a:rPr lang="en-US" dirty="0" err="1">
                <a:solidFill>
                  <a:srgbClr val="FF0000"/>
                </a:solidFill>
              </a:rPr>
              <a:t>khác</a:t>
            </a:r>
            <a:r>
              <a:rPr lang="en-US" dirty="0">
                <a:solidFill>
                  <a:srgbClr val="FF0000"/>
                </a:solidFill>
              </a:rPr>
              <a:t> </a:t>
            </a:r>
            <a:r>
              <a:rPr lang="en-US" dirty="0" err="1">
                <a:solidFill>
                  <a:srgbClr val="FF0000"/>
                </a:solidFill>
              </a:rPr>
              <a:t>nhau</a:t>
            </a:r>
            <a:r>
              <a:rPr lang="en-US" dirty="0">
                <a:solidFill>
                  <a:srgbClr val="FF0000"/>
                </a:solidFill>
              </a:rPr>
              <a:t> </a:t>
            </a:r>
            <a:r>
              <a:rPr lang="en-US" dirty="0" err="1">
                <a:solidFill>
                  <a:srgbClr val="FF0000"/>
                </a:solidFill>
              </a:rPr>
              <a:t>giữa</a:t>
            </a:r>
            <a:r>
              <a:rPr lang="en-US" dirty="0">
                <a:solidFill>
                  <a:srgbClr val="FF0000"/>
                </a:solidFill>
              </a:rPr>
              <a:t> </a:t>
            </a:r>
            <a:r>
              <a:rPr lang="en-US" dirty="0" err="1">
                <a:solidFill>
                  <a:srgbClr val="FF0000"/>
                </a:solidFill>
              </a:rPr>
              <a:t>quy</a:t>
            </a:r>
            <a:r>
              <a:rPr lang="en-US" dirty="0">
                <a:solidFill>
                  <a:srgbClr val="FF0000"/>
                </a:solidFill>
              </a:rPr>
              <a:t> </a:t>
            </a:r>
            <a:r>
              <a:rPr lang="en-US" dirty="0" err="1">
                <a:solidFill>
                  <a:srgbClr val="FF0000"/>
                </a:solidFill>
              </a:rPr>
              <a:t>định</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Luật</a:t>
            </a:r>
            <a:r>
              <a:rPr lang="en-US" dirty="0">
                <a:solidFill>
                  <a:srgbClr val="FF0000"/>
                </a:solidFill>
              </a:rPr>
              <a:t> </a:t>
            </a:r>
            <a:r>
              <a:rPr lang="en-US" dirty="0" err="1">
                <a:solidFill>
                  <a:srgbClr val="FF0000"/>
                </a:solidFill>
              </a:rPr>
              <a:t>công</a:t>
            </a:r>
            <a:r>
              <a:rPr lang="en-US" dirty="0">
                <a:solidFill>
                  <a:srgbClr val="FF0000"/>
                </a:solidFill>
              </a:rPr>
              <a:t> </a:t>
            </a:r>
            <a:r>
              <a:rPr lang="en-US" dirty="0" err="1">
                <a:solidFill>
                  <a:srgbClr val="FF0000"/>
                </a:solidFill>
              </a:rPr>
              <a:t>nghệ</a:t>
            </a:r>
            <a:r>
              <a:rPr lang="en-US" dirty="0">
                <a:solidFill>
                  <a:srgbClr val="FF0000"/>
                </a:solidFill>
              </a:rPr>
              <a:t> </a:t>
            </a:r>
            <a:r>
              <a:rPr lang="en-US" dirty="0" err="1">
                <a:solidFill>
                  <a:srgbClr val="FF0000"/>
                </a:solidFill>
              </a:rPr>
              <a:t>thông</a:t>
            </a:r>
            <a:r>
              <a:rPr lang="en-US" dirty="0">
                <a:solidFill>
                  <a:srgbClr val="FF0000"/>
                </a:solidFill>
              </a:rPr>
              <a:t> tin </a:t>
            </a:r>
            <a:r>
              <a:rPr lang="en-US" dirty="0" err="1">
                <a:solidFill>
                  <a:srgbClr val="FF0000"/>
                </a:solidFill>
              </a:rPr>
              <a:t>với</a:t>
            </a:r>
            <a:r>
              <a:rPr lang="en-US" dirty="0">
                <a:solidFill>
                  <a:srgbClr val="FF0000"/>
                </a:solidFill>
              </a:rPr>
              <a:t> </a:t>
            </a:r>
            <a:r>
              <a:rPr lang="en-US" dirty="0" err="1">
                <a:solidFill>
                  <a:srgbClr val="FF0000"/>
                </a:solidFill>
              </a:rPr>
              <a:t>quy</a:t>
            </a:r>
            <a:r>
              <a:rPr lang="en-US" dirty="0">
                <a:solidFill>
                  <a:srgbClr val="FF0000"/>
                </a:solidFill>
              </a:rPr>
              <a:t> </a:t>
            </a:r>
            <a:r>
              <a:rPr lang="en-US" dirty="0" err="1">
                <a:solidFill>
                  <a:srgbClr val="FF0000"/>
                </a:solidFill>
              </a:rPr>
              <a:t>định</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luật</a:t>
            </a:r>
            <a:r>
              <a:rPr lang="en-US" dirty="0">
                <a:solidFill>
                  <a:srgbClr val="FF0000"/>
                </a:solidFill>
              </a:rPr>
              <a:t> </a:t>
            </a:r>
            <a:r>
              <a:rPr lang="en-US" dirty="0" err="1">
                <a:solidFill>
                  <a:srgbClr val="FF0000"/>
                </a:solidFill>
              </a:rPr>
              <a:t>khác</a:t>
            </a:r>
            <a:r>
              <a:rPr lang="en-US" dirty="0">
                <a:solidFill>
                  <a:srgbClr val="FF0000"/>
                </a:solidFill>
              </a:rPr>
              <a:t> </a:t>
            </a:r>
            <a:r>
              <a:rPr lang="en-US" dirty="0" err="1">
                <a:solidFill>
                  <a:srgbClr val="FF0000"/>
                </a:solidFill>
              </a:rPr>
              <a:t>về</a:t>
            </a:r>
            <a:r>
              <a:rPr lang="en-US" dirty="0">
                <a:solidFill>
                  <a:srgbClr val="FF0000"/>
                </a:solidFill>
              </a:rPr>
              <a:t> </a:t>
            </a:r>
            <a:r>
              <a:rPr lang="en-US" dirty="0" err="1">
                <a:solidFill>
                  <a:srgbClr val="FF0000"/>
                </a:solidFill>
              </a:rPr>
              <a:t>cùng</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vấn</a:t>
            </a:r>
            <a:r>
              <a:rPr lang="en-US" dirty="0">
                <a:solidFill>
                  <a:srgbClr val="FF0000"/>
                </a:solidFill>
              </a:rPr>
              <a:t> </a:t>
            </a:r>
            <a:r>
              <a:rPr lang="en-US" dirty="0" err="1">
                <a:solidFill>
                  <a:srgbClr val="FF0000"/>
                </a:solidFill>
              </a:rPr>
              <a:t>đề</a:t>
            </a:r>
            <a:r>
              <a:rPr lang="en-US" dirty="0"/>
              <a:t> </a:t>
            </a:r>
            <a:r>
              <a:rPr lang="en-US" dirty="0" err="1">
                <a:highlight>
                  <a:srgbClr val="FFFF00"/>
                </a:highlight>
              </a:rPr>
              <a:t>liên</a:t>
            </a:r>
            <a:r>
              <a:rPr lang="en-US" dirty="0">
                <a:highlight>
                  <a:srgbClr val="FFFF00"/>
                </a:highlight>
              </a:rPr>
              <a:t> </a:t>
            </a:r>
            <a:r>
              <a:rPr lang="en-US" dirty="0" err="1">
                <a:highlight>
                  <a:srgbClr val="FFFF00"/>
                </a:highlight>
              </a:rPr>
              <a:t>quan</a:t>
            </a:r>
            <a:r>
              <a:rPr lang="en-US" dirty="0">
                <a:highlight>
                  <a:srgbClr val="FFFF00"/>
                </a:highlight>
              </a:rPr>
              <a:t> </a:t>
            </a:r>
            <a:r>
              <a:rPr lang="en-US" dirty="0" err="1">
                <a:highlight>
                  <a:srgbClr val="FFFF00"/>
                </a:highlight>
              </a:rPr>
              <a:t>đến</a:t>
            </a:r>
            <a:r>
              <a:rPr lang="en-US" dirty="0">
                <a:highlight>
                  <a:srgbClr val="FFFF00"/>
                </a:highlight>
              </a:rPr>
              <a:t> </a:t>
            </a:r>
            <a:r>
              <a:rPr lang="en-US" dirty="0" err="1">
                <a:highlight>
                  <a:srgbClr val="FFFF00"/>
                </a:highlight>
              </a:rPr>
              <a:t>hoạt</a:t>
            </a:r>
            <a:r>
              <a:rPr lang="en-US" dirty="0">
                <a:highlight>
                  <a:srgbClr val="FFFF00"/>
                </a:highlight>
              </a:rPr>
              <a:t> </a:t>
            </a:r>
            <a:r>
              <a:rPr lang="en-US" dirty="0" err="1">
                <a:highlight>
                  <a:srgbClr val="FFFF00"/>
                </a:highlight>
              </a:rPr>
              <a:t>động</a:t>
            </a:r>
            <a:r>
              <a:rPr lang="en-US" dirty="0">
                <a:highlight>
                  <a:srgbClr val="FFFF00"/>
                </a:highlight>
              </a:rPr>
              <a:t> </a:t>
            </a:r>
            <a:r>
              <a:rPr lang="en-US" u="sng" dirty="0" err="1">
                <a:highlight>
                  <a:srgbClr val="FFFF00"/>
                </a:highlight>
              </a:rPr>
              <a:t>ứng</a:t>
            </a:r>
            <a:r>
              <a:rPr lang="en-US" u="sng" dirty="0">
                <a:highlight>
                  <a:srgbClr val="FFFF00"/>
                </a:highlight>
              </a:rPr>
              <a:t> </a:t>
            </a:r>
            <a:r>
              <a:rPr lang="en-US" u="sng" dirty="0" err="1">
                <a:highlight>
                  <a:srgbClr val="FFFF00"/>
                </a:highlight>
              </a:rPr>
              <a:t>dụng</a:t>
            </a:r>
            <a:r>
              <a:rPr lang="en-US" u="sng" dirty="0">
                <a:highlight>
                  <a:srgbClr val="FFFF00"/>
                </a:highlight>
              </a:rPr>
              <a:t> </a:t>
            </a:r>
            <a:r>
              <a:rPr lang="en-US" u="sng" dirty="0" err="1">
                <a:highlight>
                  <a:srgbClr val="FFFF00"/>
                </a:highlight>
              </a:rPr>
              <a:t>và</a:t>
            </a:r>
            <a:r>
              <a:rPr lang="en-US" u="sng" dirty="0">
                <a:highlight>
                  <a:srgbClr val="FFFF00"/>
                </a:highlight>
              </a:rPr>
              <a:t> </a:t>
            </a:r>
            <a:r>
              <a:rPr lang="en-US" u="sng" dirty="0" err="1">
                <a:highlight>
                  <a:srgbClr val="FFFF00"/>
                </a:highlight>
              </a:rPr>
              <a:t>phát</a:t>
            </a:r>
            <a:r>
              <a:rPr lang="en-US" u="sng" dirty="0">
                <a:highlight>
                  <a:srgbClr val="FFFF00"/>
                </a:highlight>
              </a:rPr>
              <a:t> </a:t>
            </a:r>
            <a:r>
              <a:rPr lang="en-US" u="sng" dirty="0" err="1">
                <a:highlight>
                  <a:srgbClr val="FFFF00"/>
                </a:highlight>
              </a:rPr>
              <a:t>triển</a:t>
            </a:r>
            <a:r>
              <a:rPr lang="en-US" u="sng" dirty="0">
                <a:highlight>
                  <a:srgbClr val="FFFF00"/>
                </a:highlight>
              </a:rPr>
              <a:t> </a:t>
            </a:r>
            <a:r>
              <a:rPr lang="en-US" u="sng" dirty="0" err="1">
                <a:highlight>
                  <a:srgbClr val="FFFF00"/>
                </a:highlight>
              </a:rPr>
              <a:t>công</a:t>
            </a:r>
            <a:r>
              <a:rPr lang="en-US" u="sng" dirty="0">
                <a:highlight>
                  <a:srgbClr val="FFFF00"/>
                </a:highlight>
              </a:rPr>
              <a:t> </a:t>
            </a:r>
            <a:r>
              <a:rPr lang="en-US" u="sng" dirty="0" err="1">
                <a:highlight>
                  <a:srgbClr val="FFFF00"/>
                </a:highlight>
              </a:rPr>
              <a:t>nghệ</a:t>
            </a:r>
            <a:r>
              <a:rPr lang="en-US" u="sng" dirty="0">
                <a:highlight>
                  <a:srgbClr val="FFFF00"/>
                </a:highlight>
              </a:rPr>
              <a:t> </a:t>
            </a:r>
            <a:r>
              <a:rPr lang="en-US" u="sng" dirty="0" err="1">
                <a:highlight>
                  <a:srgbClr val="FFFF00"/>
                </a:highlight>
              </a:rPr>
              <a:t>thông</a:t>
            </a:r>
            <a:r>
              <a:rPr lang="en-US" u="sng" dirty="0">
                <a:highlight>
                  <a:srgbClr val="FFFF00"/>
                </a:highlight>
              </a:rPr>
              <a:t> tin</a:t>
            </a:r>
            <a:r>
              <a:rPr lang="en-US" dirty="0">
                <a:highlight>
                  <a:srgbClr val="FFFF00"/>
                </a:highlight>
              </a:rPr>
              <a:t> </a:t>
            </a:r>
            <a:r>
              <a:rPr lang="en-US" dirty="0" err="1"/>
              <a:t>thì</a:t>
            </a:r>
            <a:r>
              <a:rPr lang="en-US" dirty="0"/>
              <a:t> </a:t>
            </a:r>
            <a:r>
              <a:rPr lang="en-US" i="1" dirty="0" err="1">
                <a:solidFill>
                  <a:srgbClr val="FF0000"/>
                </a:solidFill>
              </a:rPr>
              <a:t>áp</a:t>
            </a:r>
            <a:r>
              <a:rPr lang="en-US" i="1" dirty="0">
                <a:solidFill>
                  <a:srgbClr val="FF0000"/>
                </a:solidFill>
              </a:rPr>
              <a:t> </a:t>
            </a:r>
            <a:r>
              <a:rPr lang="en-US" i="1" dirty="0" err="1">
                <a:solidFill>
                  <a:srgbClr val="FF0000"/>
                </a:solidFill>
              </a:rPr>
              <a:t>dụng</a:t>
            </a:r>
            <a:r>
              <a:rPr lang="en-US" i="1" dirty="0">
                <a:solidFill>
                  <a:srgbClr val="FF0000"/>
                </a:solidFill>
              </a:rPr>
              <a:t> </a:t>
            </a:r>
            <a:r>
              <a:rPr lang="en-US" i="1" dirty="0" err="1">
                <a:solidFill>
                  <a:srgbClr val="FF0000"/>
                </a:solidFill>
              </a:rPr>
              <a:t>quy</a:t>
            </a:r>
            <a:r>
              <a:rPr lang="en-US" i="1" dirty="0">
                <a:solidFill>
                  <a:srgbClr val="FF0000"/>
                </a:solidFill>
              </a:rPr>
              <a:t> </a:t>
            </a:r>
            <a:r>
              <a:rPr lang="en-US" i="1" dirty="0" err="1">
                <a:solidFill>
                  <a:srgbClr val="FF0000"/>
                </a:solidFill>
              </a:rPr>
              <a:t>định</a:t>
            </a:r>
            <a:r>
              <a:rPr lang="en-US" i="1" dirty="0">
                <a:solidFill>
                  <a:srgbClr val="FF0000"/>
                </a:solidFill>
              </a:rPr>
              <a:t> </a:t>
            </a:r>
            <a:r>
              <a:rPr lang="en-US" i="1" dirty="0" err="1">
                <a:solidFill>
                  <a:srgbClr val="FF0000"/>
                </a:solidFill>
              </a:rPr>
              <a:t>của</a:t>
            </a:r>
            <a:r>
              <a:rPr lang="en-US" i="1" dirty="0">
                <a:solidFill>
                  <a:srgbClr val="FF0000"/>
                </a:solidFill>
              </a:rPr>
              <a:t> </a:t>
            </a:r>
            <a:r>
              <a:rPr lang="en-US" i="1" dirty="0" err="1">
                <a:solidFill>
                  <a:srgbClr val="FF0000"/>
                </a:solidFill>
              </a:rPr>
              <a:t>Luật</a:t>
            </a:r>
            <a:r>
              <a:rPr lang="en-US" i="1" dirty="0">
                <a:solidFill>
                  <a:srgbClr val="FF0000"/>
                </a:solidFill>
              </a:rPr>
              <a:t> </a:t>
            </a:r>
            <a:r>
              <a:rPr lang="en-US" i="1" dirty="0" err="1">
                <a:solidFill>
                  <a:srgbClr val="FF0000"/>
                </a:solidFill>
              </a:rPr>
              <a:t>công</a:t>
            </a:r>
            <a:r>
              <a:rPr lang="en-US" i="1" dirty="0">
                <a:solidFill>
                  <a:srgbClr val="FF0000"/>
                </a:solidFill>
              </a:rPr>
              <a:t> </a:t>
            </a:r>
            <a:r>
              <a:rPr lang="en-US" i="1" dirty="0" err="1">
                <a:solidFill>
                  <a:srgbClr val="FF0000"/>
                </a:solidFill>
              </a:rPr>
              <a:t>nghệ</a:t>
            </a:r>
            <a:r>
              <a:rPr lang="en-US" i="1" dirty="0">
                <a:solidFill>
                  <a:srgbClr val="FF0000"/>
                </a:solidFill>
              </a:rPr>
              <a:t> </a:t>
            </a:r>
            <a:r>
              <a:rPr lang="en-US" i="1" dirty="0" err="1">
                <a:solidFill>
                  <a:srgbClr val="FF0000"/>
                </a:solidFill>
              </a:rPr>
              <a:t>thông</a:t>
            </a:r>
            <a:r>
              <a:rPr lang="en-US" i="1" dirty="0">
                <a:solidFill>
                  <a:srgbClr val="FF0000"/>
                </a:solidFill>
              </a:rPr>
              <a:t> tin</a:t>
            </a:r>
            <a:r>
              <a:rPr lang="en-US" dirty="0">
                <a:solidFill>
                  <a:srgbClr val="FF0000"/>
                </a:solidFill>
              </a:rPr>
              <a:t>.</a:t>
            </a:r>
          </a:p>
          <a:p>
            <a:r>
              <a:rPr lang="en-US" dirty="0"/>
              <a:t>VD: </a:t>
            </a:r>
            <a:r>
              <a:rPr lang="en-US" dirty="0" err="1"/>
              <a:t>Cùng</a:t>
            </a:r>
            <a:r>
              <a:rPr lang="en-US" dirty="0"/>
              <a:t> </a:t>
            </a:r>
            <a:r>
              <a:rPr lang="en-US" dirty="0" err="1"/>
              <a:t>quy</a:t>
            </a:r>
            <a:r>
              <a:rPr lang="en-US" dirty="0"/>
              <a:t> </a:t>
            </a:r>
            <a:r>
              <a:rPr lang="en-US" dirty="0" err="1"/>
              <a:t>định</a:t>
            </a:r>
            <a:r>
              <a:rPr lang="en-US" dirty="0"/>
              <a:t> </a:t>
            </a:r>
            <a:r>
              <a:rPr lang="en-US" dirty="0" err="1"/>
              <a:t>về</a:t>
            </a:r>
            <a:r>
              <a:rPr lang="en-US" dirty="0"/>
              <a:t> </a:t>
            </a:r>
            <a:r>
              <a:rPr lang="en-US" dirty="0" err="1"/>
              <a:t>thời</a:t>
            </a:r>
            <a:r>
              <a:rPr lang="en-US" dirty="0"/>
              <a:t> </a:t>
            </a:r>
            <a:r>
              <a:rPr lang="en-US" dirty="0" err="1"/>
              <a:t>gian</a:t>
            </a:r>
            <a:r>
              <a:rPr lang="en-US" dirty="0"/>
              <a:t> </a:t>
            </a:r>
            <a:r>
              <a:rPr lang="en-US" dirty="0" err="1"/>
              <a:t>bắt</a:t>
            </a:r>
            <a:r>
              <a:rPr lang="en-US" dirty="0"/>
              <a:t> </a:t>
            </a:r>
            <a:r>
              <a:rPr lang="en-US" dirty="0" err="1"/>
              <a:t>đầu</a:t>
            </a:r>
            <a:r>
              <a:rPr lang="en-US" dirty="0"/>
              <a:t> HĐ</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VD: Luật giao thông đường bộ</a:t>
            </a:r>
          </a:p>
          <a:p>
            <a:r>
              <a:rPr lang="en-US"/>
              <a:t>Luật Công nghệ thông tin</a:t>
            </a:r>
          </a:p>
          <a:p>
            <a:r>
              <a:rPr lang="en-US">
                <a:hlinkClick r:id="rId2" action="ppaction://hlinkfile"/>
              </a:rPr>
              <a:t>Camera</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sym typeface="+mn-ea"/>
              </a:rPr>
              <a:t>2. </a:t>
            </a:r>
            <a:r>
              <a:rPr lang="en-US" dirty="0">
                <a:solidFill>
                  <a:srgbClr val="FF0000"/>
                </a:solidFill>
                <a:sym typeface="+mn-ea"/>
              </a:rPr>
              <a:t>Trường </a:t>
            </a:r>
            <a:r>
              <a:rPr lang="en-US" dirty="0" err="1">
                <a:solidFill>
                  <a:srgbClr val="FF0000"/>
                </a:solidFill>
                <a:sym typeface="+mn-ea"/>
              </a:rPr>
              <a:t>hợp</a:t>
            </a:r>
            <a:r>
              <a:rPr lang="en-US" dirty="0">
                <a:solidFill>
                  <a:srgbClr val="FF0000"/>
                </a:solidFill>
                <a:sym typeface="+mn-ea"/>
              </a:rPr>
              <a:t> </a:t>
            </a:r>
            <a:r>
              <a:rPr lang="en-US" dirty="0" err="1">
                <a:solidFill>
                  <a:srgbClr val="FF0000"/>
                </a:solidFill>
                <a:sym typeface="+mn-ea"/>
              </a:rPr>
              <a:t>điều</a:t>
            </a:r>
            <a:r>
              <a:rPr lang="en-US" dirty="0">
                <a:solidFill>
                  <a:srgbClr val="FF0000"/>
                </a:solidFill>
                <a:sym typeface="+mn-ea"/>
              </a:rPr>
              <a:t> </a:t>
            </a:r>
            <a:r>
              <a:rPr lang="en-US" dirty="0" err="1">
                <a:solidFill>
                  <a:srgbClr val="FF0000"/>
                </a:solidFill>
                <a:sym typeface="+mn-ea"/>
              </a:rPr>
              <a:t>ước</a:t>
            </a:r>
            <a:r>
              <a:rPr lang="en-US" dirty="0">
                <a:solidFill>
                  <a:srgbClr val="FF0000"/>
                </a:solidFill>
                <a:sym typeface="+mn-ea"/>
              </a:rPr>
              <a:t> </a:t>
            </a:r>
            <a:r>
              <a:rPr lang="en-US" dirty="0" err="1">
                <a:solidFill>
                  <a:srgbClr val="FF0000"/>
                </a:solidFill>
                <a:sym typeface="+mn-ea"/>
              </a:rPr>
              <a:t>quốc</a:t>
            </a:r>
            <a:r>
              <a:rPr lang="en-US" dirty="0">
                <a:solidFill>
                  <a:srgbClr val="FF0000"/>
                </a:solidFill>
                <a:sym typeface="+mn-ea"/>
              </a:rPr>
              <a:t> </a:t>
            </a:r>
            <a:r>
              <a:rPr lang="en-US" dirty="0" err="1">
                <a:solidFill>
                  <a:srgbClr val="FF0000"/>
                </a:solidFill>
                <a:sym typeface="+mn-ea"/>
              </a:rPr>
              <a:t>tế</a:t>
            </a:r>
            <a:r>
              <a:rPr lang="en-US" dirty="0">
                <a:sym typeface="+mn-ea"/>
              </a:rPr>
              <a:t> </a:t>
            </a:r>
            <a:r>
              <a:rPr lang="en-US" dirty="0" err="1">
                <a:sym typeface="+mn-ea"/>
              </a:rPr>
              <a:t>mà</a:t>
            </a:r>
            <a:r>
              <a:rPr lang="en-US" dirty="0">
                <a:sym typeface="+mn-ea"/>
              </a:rPr>
              <a:t> </a:t>
            </a:r>
            <a:r>
              <a:rPr lang="en-US" dirty="0" err="1">
                <a:sym typeface="+mn-ea"/>
              </a:rPr>
              <a:t>Cộng</a:t>
            </a:r>
            <a:r>
              <a:rPr lang="en-US" dirty="0">
                <a:sym typeface="+mn-ea"/>
              </a:rPr>
              <a:t> </a:t>
            </a:r>
            <a:r>
              <a:rPr lang="en-US" dirty="0" err="1">
                <a:sym typeface="+mn-ea"/>
              </a:rPr>
              <a:t>hòa</a:t>
            </a:r>
            <a:r>
              <a:rPr lang="en-US" dirty="0">
                <a:sym typeface="+mn-ea"/>
              </a:rPr>
              <a:t> </a:t>
            </a:r>
            <a:r>
              <a:rPr lang="en-US" dirty="0" err="1">
                <a:sym typeface="+mn-ea"/>
              </a:rPr>
              <a:t>xã</a:t>
            </a:r>
            <a:r>
              <a:rPr lang="en-US" dirty="0">
                <a:sym typeface="+mn-ea"/>
              </a:rPr>
              <a:t> </a:t>
            </a:r>
            <a:r>
              <a:rPr lang="en-US" dirty="0" err="1">
                <a:sym typeface="+mn-ea"/>
              </a:rPr>
              <a:t>hội</a:t>
            </a:r>
            <a:r>
              <a:rPr lang="en-US" dirty="0">
                <a:sym typeface="+mn-ea"/>
              </a:rPr>
              <a:t> </a:t>
            </a:r>
            <a:r>
              <a:rPr lang="en-US" dirty="0" err="1">
                <a:sym typeface="+mn-ea"/>
              </a:rPr>
              <a:t>chủ</a:t>
            </a:r>
            <a:r>
              <a:rPr lang="en-US" dirty="0">
                <a:sym typeface="+mn-ea"/>
              </a:rPr>
              <a:t> </a:t>
            </a:r>
            <a:r>
              <a:rPr lang="en-US" dirty="0" err="1">
                <a:sym typeface="+mn-ea"/>
              </a:rPr>
              <a:t>nghĩa</a:t>
            </a:r>
            <a:r>
              <a:rPr lang="en-US" dirty="0">
                <a:sym typeface="+mn-ea"/>
              </a:rPr>
              <a:t> Việt Nam </a:t>
            </a:r>
            <a:r>
              <a:rPr lang="en-US" u="sng" dirty="0" err="1">
                <a:solidFill>
                  <a:srgbClr val="FF0000"/>
                </a:solidFill>
                <a:sym typeface="+mn-ea"/>
              </a:rPr>
              <a:t>là</a:t>
            </a:r>
            <a:r>
              <a:rPr lang="en-US" u="sng" dirty="0">
                <a:solidFill>
                  <a:srgbClr val="FF0000"/>
                </a:solidFill>
                <a:sym typeface="+mn-ea"/>
              </a:rPr>
              <a:t> </a:t>
            </a:r>
            <a:r>
              <a:rPr lang="en-US" u="sng" dirty="0" err="1">
                <a:solidFill>
                  <a:srgbClr val="FF0000"/>
                </a:solidFill>
                <a:sym typeface="+mn-ea"/>
              </a:rPr>
              <a:t>thành</a:t>
            </a:r>
            <a:r>
              <a:rPr lang="en-US" u="sng" dirty="0">
                <a:solidFill>
                  <a:srgbClr val="FF0000"/>
                </a:solidFill>
                <a:sym typeface="+mn-ea"/>
              </a:rPr>
              <a:t> </a:t>
            </a:r>
            <a:r>
              <a:rPr lang="en-US" u="sng" dirty="0" err="1">
                <a:solidFill>
                  <a:srgbClr val="FF0000"/>
                </a:solidFill>
                <a:sym typeface="+mn-ea"/>
              </a:rPr>
              <a:t>viên</a:t>
            </a:r>
            <a:r>
              <a:rPr lang="en-US" u="sng" dirty="0">
                <a:solidFill>
                  <a:srgbClr val="FF0000"/>
                </a:solidFill>
                <a:sym typeface="+mn-ea"/>
              </a:rPr>
              <a:t> </a:t>
            </a:r>
            <a:r>
              <a:rPr lang="en-US" dirty="0" err="1">
                <a:highlight>
                  <a:srgbClr val="FFFF00"/>
                </a:highlight>
                <a:sym typeface="+mn-ea"/>
              </a:rPr>
              <a:t>có</a:t>
            </a:r>
            <a:r>
              <a:rPr lang="en-US" dirty="0">
                <a:highlight>
                  <a:srgbClr val="FFFF00"/>
                </a:highlight>
                <a:sym typeface="+mn-ea"/>
              </a:rPr>
              <a:t> </a:t>
            </a:r>
            <a:r>
              <a:rPr lang="en-US" dirty="0" err="1">
                <a:highlight>
                  <a:srgbClr val="FFFF00"/>
                </a:highlight>
                <a:sym typeface="+mn-ea"/>
              </a:rPr>
              <a:t>quy</a:t>
            </a:r>
            <a:r>
              <a:rPr lang="en-US" dirty="0">
                <a:highlight>
                  <a:srgbClr val="FFFF00"/>
                </a:highlight>
                <a:sym typeface="+mn-ea"/>
              </a:rPr>
              <a:t> </a:t>
            </a:r>
            <a:r>
              <a:rPr lang="en-US" dirty="0" err="1">
                <a:highlight>
                  <a:srgbClr val="FFFF00"/>
                </a:highlight>
                <a:sym typeface="+mn-ea"/>
              </a:rPr>
              <a:t>định</a:t>
            </a:r>
            <a:r>
              <a:rPr lang="en-US" dirty="0">
                <a:highlight>
                  <a:srgbClr val="FFFF00"/>
                </a:highlight>
                <a:sym typeface="+mn-ea"/>
              </a:rPr>
              <a:t> </a:t>
            </a:r>
            <a:r>
              <a:rPr lang="en-US" dirty="0" err="1">
                <a:highlight>
                  <a:srgbClr val="FFFF00"/>
                </a:highlight>
                <a:sym typeface="+mn-ea"/>
              </a:rPr>
              <a:t>khác</a:t>
            </a:r>
            <a:r>
              <a:rPr lang="en-US" dirty="0">
                <a:highlight>
                  <a:srgbClr val="FFFF00"/>
                </a:highlight>
                <a:sym typeface="+mn-ea"/>
              </a:rPr>
              <a:t> </a:t>
            </a:r>
            <a:r>
              <a:rPr lang="en-US" dirty="0" err="1">
                <a:sym typeface="+mn-ea"/>
              </a:rPr>
              <a:t>với</a:t>
            </a:r>
            <a:r>
              <a:rPr lang="en-US" dirty="0">
                <a:sym typeface="+mn-ea"/>
              </a:rPr>
              <a:t> </a:t>
            </a:r>
            <a:r>
              <a:rPr lang="en-US" dirty="0" err="1">
                <a:sym typeface="+mn-ea"/>
              </a:rPr>
              <a:t>quy</a:t>
            </a:r>
            <a:r>
              <a:rPr lang="en-US" dirty="0">
                <a:sym typeface="+mn-ea"/>
              </a:rPr>
              <a:t> </a:t>
            </a:r>
            <a:r>
              <a:rPr lang="en-US" dirty="0" err="1">
                <a:sym typeface="+mn-ea"/>
              </a:rPr>
              <a:t>định</a:t>
            </a:r>
            <a:r>
              <a:rPr lang="en-US" dirty="0">
                <a:sym typeface="+mn-ea"/>
              </a:rPr>
              <a:t> </a:t>
            </a:r>
            <a:r>
              <a:rPr lang="en-US" dirty="0" err="1">
                <a:sym typeface="+mn-ea"/>
              </a:rPr>
              <a:t>của</a:t>
            </a:r>
            <a:r>
              <a:rPr lang="en-US" dirty="0">
                <a:sym typeface="+mn-ea"/>
              </a:rPr>
              <a:t> </a:t>
            </a:r>
            <a:r>
              <a:rPr lang="en-US" dirty="0" err="1">
                <a:sym typeface="+mn-ea"/>
              </a:rPr>
              <a:t>Luật</a:t>
            </a:r>
            <a:r>
              <a:rPr lang="en-US" dirty="0">
                <a:sym typeface="+mn-ea"/>
              </a:rPr>
              <a:t> </a:t>
            </a:r>
            <a:r>
              <a:rPr lang="en-US" dirty="0" err="1">
                <a:sym typeface="+mn-ea"/>
              </a:rPr>
              <a:t>này</a:t>
            </a:r>
            <a:r>
              <a:rPr lang="en-US" dirty="0">
                <a:sym typeface="+mn-ea"/>
              </a:rPr>
              <a:t> </a:t>
            </a:r>
            <a:r>
              <a:rPr lang="en-US" dirty="0" err="1">
                <a:sym typeface="+mn-ea"/>
              </a:rPr>
              <a:t>thì</a:t>
            </a:r>
            <a:r>
              <a:rPr lang="en-US" dirty="0">
                <a:sym typeface="+mn-ea"/>
              </a:rPr>
              <a:t> </a:t>
            </a:r>
            <a:r>
              <a:rPr lang="en-US" dirty="0" err="1">
                <a:sym typeface="+mn-ea"/>
              </a:rPr>
              <a:t>áp</a:t>
            </a:r>
            <a:r>
              <a:rPr lang="en-US" dirty="0">
                <a:sym typeface="+mn-ea"/>
              </a:rPr>
              <a:t> </a:t>
            </a:r>
            <a:r>
              <a:rPr lang="en-US" dirty="0" err="1">
                <a:sym typeface="+mn-ea"/>
              </a:rPr>
              <a:t>dụng</a:t>
            </a:r>
            <a:r>
              <a:rPr lang="en-US" dirty="0">
                <a:sym typeface="+mn-ea"/>
              </a:rPr>
              <a:t> </a:t>
            </a:r>
            <a:r>
              <a:rPr lang="en-US" dirty="0" err="1">
                <a:sym typeface="+mn-ea"/>
              </a:rPr>
              <a:t>quy</a:t>
            </a:r>
            <a:r>
              <a:rPr lang="en-US" dirty="0">
                <a:sym typeface="+mn-ea"/>
              </a:rPr>
              <a:t> </a:t>
            </a:r>
            <a:r>
              <a:rPr lang="en-US" dirty="0" err="1">
                <a:sym typeface="+mn-ea"/>
              </a:rPr>
              <a:t>định</a:t>
            </a:r>
            <a:r>
              <a:rPr lang="en-US" dirty="0">
                <a:sym typeface="+mn-ea"/>
              </a:rPr>
              <a:t> </a:t>
            </a:r>
            <a:r>
              <a:rPr lang="en-US" dirty="0" err="1">
                <a:sym typeface="+mn-ea"/>
              </a:rPr>
              <a:t>của</a:t>
            </a:r>
            <a:r>
              <a:rPr lang="en-US" dirty="0">
                <a:solidFill>
                  <a:srgbClr val="FF0000"/>
                </a:solidFill>
                <a:sym typeface="+mn-ea"/>
              </a:rPr>
              <a:t> </a:t>
            </a:r>
            <a:r>
              <a:rPr lang="en-US" dirty="0" err="1">
                <a:solidFill>
                  <a:srgbClr val="FF0000"/>
                </a:solidFill>
                <a:sym typeface="+mn-ea"/>
              </a:rPr>
              <a:t>điều</a:t>
            </a:r>
            <a:r>
              <a:rPr lang="en-US" dirty="0">
                <a:solidFill>
                  <a:srgbClr val="FF0000"/>
                </a:solidFill>
                <a:sym typeface="+mn-ea"/>
              </a:rPr>
              <a:t> </a:t>
            </a:r>
            <a:r>
              <a:rPr lang="en-US" dirty="0" err="1">
                <a:solidFill>
                  <a:srgbClr val="FF0000"/>
                </a:solidFill>
                <a:sym typeface="+mn-ea"/>
              </a:rPr>
              <a:t>ước</a:t>
            </a:r>
            <a:r>
              <a:rPr lang="en-US" dirty="0">
                <a:solidFill>
                  <a:srgbClr val="FF0000"/>
                </a:solidFill>
                <a:sym typeface="+mn-ea"/>
              </a:rPr>
              <a:t> </a:t>
            </a:r>
            <a:r>
              <a:rPr lang="en-US" dirty="0" err="1">
                <a:solidFill>
                  <a:srgbClr val="FF0000"/>
                </a:solidFill>
                <a:sym typeface="+mn-ea"/>
              </a:rPr>
              <a:t>quốc</a:t>
            </a:r>
            <a:r>
              <a:rPr lang="en-US" dirty="0">
                <a:solidFill>
                  <a:srgbClr val="FF0000"/>
                </a:solidFill>
                <a:sym typeface="+mn-ea"/>
              </a:rPr>
              <a:t> </a:t>
            </a:r>
            <a:r>
              <a:rPr lang="en-US" dirty="0" err="1">
                <a:solidFill>
                  <a:srgbClr val="FF0000"/>
                </a:solidFill>
                <a:sym typeface="+mn-ea"/>
              </a:rPr>
              <a:t>tế</a:t>
            </a:r>
            <a:r>
              <a:rPr lang="en-US" dirty="0">
                <a:solidFill>
                  <a:srgbClr val="FF0000"/>
                </a:solidFill>
                <a:sym typeface="+mn-ea"/>
              </a:rPr>
              <a:t> </a:t>
            </a:r>
            <a:r>
              <a:rPr lang="en-US" dirty="0" err="1">
                <a:solidFill>
                  <a:srgbClr val="FF0000"/>
                </a:solidFill>
                <a:sym typeface="+mn-ea"/>
              </a:rPr>
              <a:t>đó</a:t>
            </a:r>
            <a:r>
              <a:rPr lang="en-US" dirty="0">
                <a:solidFill>
                  <a:srgbClr val="FF0000"/>
                </a:solidFill>
                <a:sym typeface="+mn-ea"/>
              </a:rPr>
              <a:t>.</a:t>
            </a:r>
          </a:p>
          <a:p>
            <a:r>
              <a:rPr lang="en-US" dirty="0" err="1">
                <a:solidFill>
                  <a:srgbClr val="FF0000"/>
                </a:solidFill>
                <a:sym typeface="+mn-ea"/>
                <a:hlinkClick r:id="rId2" action="ppaction://hlinkfile"/>
              </a:rPr>
              <a:t>vd</a:t>
            </a:r>
            <a:endParaRPr lang="en-US" dirty="0"/>
          </a:p>
          <a:p>
            <a:r>
              <a:rPr lang="en-US" dirty="0" err="1">
                <a:hlinkClick r:id="rId3" action="ppaction://hlinkfile"/>
              </a:rPr>
              <a:t>vd</a:t>
            </a:r>
            <a:r>
              <a:rPr lang="en-US" dirty="0">
                <a:hlinkClick r:id="rId3" action="ppaction://hlinkfile"/>
              </a:rPr>
              <a:t> Công </a:t>
            </a:r>
            <a:r>
              <a:rPr lang="en-US" dirty="0" err="1">
                <a:hlinkClick r:id="rId3" action="ppaction://hlinkfile"/>
              </a:rPr>
              <a:t>ước</a:t>
            </a:r>
            <a:r>
              <a:rPr lang="en-US" dirty="0">
                <a:hlinkClick r:id="rId3" action="ppaction://hlinkfile"/>
              </a:rPr>
              <a:t> Hà </a:t>
            </a:r>
            <a:r>
              <a:rPr lang="en-US" dirty="0" err="1">
                <a:hlinkClick r:id="rId3" action="ppaction://hlinkfile"/>
              </a:rPr>
              <a:t>Nội</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a:t>Điều</a:t>
            </a:r>
            <a:r>
              <a:rPr lang="en-US" dirty="0"/>
              <a:t> 8. </a:t>
            </a:r>
            <a:r>
              <a:rPr lang="en-US" dirty="0">
                <a:solidFill>
                  <a:srgbClr val="FF0000"/>
                </a:solidFill>
              </a:rPr>
              <a:t>Quyền</a:t>
            </a:r>
            <a:r>
              <a:rPr lang="en-US" dirty="0"/>
              <a:t> </a:t>
            </a:r>
            <a:r>
              <a:rPr lang="en-US" dirty="0" err="1"/>
              <a:t>của</a:t>
            </a:r>
            <a:r>
              <a:rPr lang="en-US" dirty="0"/>
              <a:t> </a:t>
            </a:r>
            <a:r>
              <a:rPr lang="en-US" dirty="0" err="1"/>
              <a:t>tổ</a:t>
            </a:r>
            <a:r>
              <a:rPr lang="en-US" dirty="0"/>
              <a:t> </a:t>
            </a:r>
            <a:r>
              <a:rPr lang="en-US" dirty="0" err="1"/>
              <a:t>chức</a:t>
            </a:r>
            <a:r>
              <a:rPr lang="en-US" dirty="0"/>
              <a:t>, </a:t>
            </a:r>
            <a:r>
              <a:rPr lang="en-US" dirty="0" err="1"/>
              <a:t>cá</a:t>
            </a:r>
            <a:r>
              <a:rPr lang="en-US" dirty="0"/>
              <a:t> </a:t>
            </a:r>
            <a:r>
              <a:rPr lang="en-US" dirty="0" err="1"/>
              <a:t>nhân</a:t>
            </a:r>
            <a:r>
              <a:rPr lang="en-US" dirty="0"/>
              <a:t> </a:t>
            </a:r>
            <a:r>
              <a:rPr lang="en-US" dirty="0" err="1"/>
              <a:t>tham</a:t>
            </a:r>
            <a:r>
              <a:rPr lang="en-US" dirty="0"/>
              <a:t> </a:t>
            </a:r>
            <a:r>
              <a:rPr lang="en-US" dirty="0" err="1"/>
              <a:t>gia</a:t>
            </a:r>
            <a:r>
              <a:rPr lang="en-US" dirty="0"/>
              <a:t> </a:t>
            </a:r>
            <a:r>
              <a:rPr lang="en-US" dirty="0" err="1"/>
              <a:t>hoạt</a:t>
            </a:r>
            <a:r>
              <a:rPr lang="en-US" dirty="0"/>
              <a:t> </a:t>
            </a:r>
            <a:r>
              <a:rPr lang="en-US" dirty="0" err="1"/>
              <a:t>động</a:t>
            </a:r>
            <a:r>
              <a:rPr lang="en-US" dirty="0"/>
              <a:t> </a:t>
            </a:r>
            <a:r>
              <a:rPr lang="en-US" u="sng" dirty="0" err="1">
                <a:solidFill>
                  <a:srgbClr val="FF0000"/>
                </a:solidFill>
              </a:rPr>
              <a:t>ứng</a:t>
            </a:r>
            <a:r>
              <a:rPr lang="en-US" u="sng" dirty="0">
                <a:solidFill>
                  <a:srgbClr val="FF0000"/>
                </a:solidFill>
              </a:rPr>
              <a:t> </a:t>
            </a:r>
            <a:r>
              <a:rPr lang="en-US" u="sng" dirty="0" err="1">
                <a:solidFill>
                  <a:srgbClr val="FF0000"/>
                </a:solidFill>
              </a:rPr>
              <a:t>dụng</a:t>
            </a:r>
            <a:r>
              <a:rPr lang="en-US" u="sng" dirty="0">
                <a:solidFill>
                  <a:srgbClr val="FF0000"/>
                </a:solidFill>
              </a:rPr>
              <a:t> </a:t>
            </a:r>
            <a:r>
              <a:rPr lang="en-US" u="sng" dirty="0" err="1">
                <a:solidFill>
                  <a:srgbClr val="FF0000"/>
                </a:solidFill>
              </a:rPr>
              <a:t>và</a:t>
            </a:r>
            <a:r>
              <a:rPr lang="en-US" u="sng" dirty="0">
                <a:solidFill>
                  <a:srgbClr val="FF0000"/>
                </a:solidFill>
              </a:rPr>
              <a:t> </a:t>
            </a:r>
            <a:r>
              <a:rPr lang="en-US" u="sng" dirty="0" err="1">
                <a:solidFill>
                  <a:srgbClr val="FF0000"/>
                </a:solidFill>
              </a:rPr>
              <a:t>phát</a:t>
            </a:r>
            <a:r>
              <a:rPr lang="en-US" u="sng" dirty="0">
                <a:solidFill>
                  <a:srgbClr val="FF0000"/>
                </a:solidFill>
              </a:rPr>
              <a:t> </a:t>
            </a:r>
            <a:r>
              <a:rPr lang="en-US" u="sng" dirty="0" err="1">
                <a:solidFill>
                  <a:srgbClr val="FF0000"/>
                </a:solidFill>
              </a:rPr>
              <a:t>triển</a:t>
            </a:r>
            <a:r>
              <a:rPr lang="en-US" dirty="0"/>
              <a:t> </a:t>
            </a:r>
            <a:r>
              <a:rPr lang="en-US" dirty="0" err="1"/>
              <a:t>công</a:t>
            </a:r>
            <a:r>
              <a:rPr lang="en-US" dirty="0"/>
              <a:t> </a:t>
            </a:r>
            <a:r>
              <a:rPr lang="en-US" dirty="0" err="1"/>
              <a:t>nghệ</a:t>
            </a:r>
            <a:r>
              <a:rPr lang="en-US" dirty="0"/>
              <a:t> </a:t>
            </a:r>
            <a:r>
              <a:rPr lang="en-US" dirty="0" err="1"/>
              <a:t>thông</a:t>
            </a:r>
            <a:r>
              <a:rPr lang="en-US" dirty="0"/>
              <a:t> tin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a:t>1. Tổ chức, cá nhân tham gia hoạt động ứng dụng công nghệ thông tin có các quyền sau đây:</a:t>
            </a:r>
          </a:p>
          <a:p>
            <a:pPr marL="0" indent="0">
              <a:buNone/>
            </a:pPr>
            <a:r>
              <a:rPr lang="en-US"/>
              <a:t>a) Tìm kiếm, trao đổi, sử dụng thông tin trên môi trường mạng, trừ thông tin có nội dung quy định tại khoản 2 Điều 12 của Luật này;</a:t>
            </a:r>
          </a:p>
          <a:p>
            <a:pPr marL="0" indent="0">
              <a:buNone/>
            </a:pPr>
            <a:r>
              <a:rPr lang="en-US"/>
              <a:t>b) Yêu cầu khôi phục thông tin của mình hoặc khôi phục khả năng truy nhập đến nguồn thông tin của mình trong trường hợp nội dung thông tin đó không vi phạm quy định tại khoản 2 Điều 12 của Luật này;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a:sym typeface="+mn-ea"/>
              </a:rPr>
              <a:t>c) Yêu cầu cơ quan nhà nước có thẩm quyền giải quyết theo quy định của pháp luật trong trường hợp bị từ chối việc khôi phục thông tin hoặc khôi phục khả năng truy nhập đến nguồn thông tin đó;</a:t>
            </a:r>
          </a:p>
          <a:p>
            <a:pPr marL="0" indent="0">
              <a:buNone/>
            </a:pPr>
            <a:r>
              <a:rPr lang="en-US">
                <a:sym typeface="+mn-ea"/>
              </a:rPr>
              <a:t>d) Phân phát các địa chỉ liên lạc có trên môi trường mạng khi có sự đồng ý của chủ sở hữu địa chỉ liên lạc đó;</a:t>
            </a:r>
            <a:endParaRPr lang="en-US"/>
          </a:p>
          <a:p>
            <a:pPr marL="0" indent="0">
              <a:buNone/>
            </a:pPr>
            <a:r>
              <a:rPr lang="en-US">
                <a:sym typeface="+mn-ea"/>
              </a:rPr>
              <a:t>đ) Từ chối cung cấp hoặc nhận trên môi trường mạng sản phẩm, dịch vụ trái với quy định của pháp luật và phải chịu trách nhiệm về việc đó.</a:t>
            </a:r>
            <a:endParaRPr lang="en-US"/>
          </a:p>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2. Tổ chức, cá nhân tham gia phát triển công nghệ thông tin có các quyền sau đây:</a:t>
            </a:r>
          </a:p>
          <a:p>
            <a:r>
              <a:rPr lang="en-US"/>
              <a:t>a) Nghiên cứu và phát triển sản phẩm công nghệ thông tin;</a:t>
            </a:r>
          </a:p>
          <a:p>
            <a:r>
              <a:rPr lang="en-US"/>
              <a:t>b) Sản xuất sản phẩm công nghệ thông tin; số hóa, duy trì và làm tăng giá trị các nguồn tài nguyên thông tin.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600"/>
              <a:t>3. Cơ quan nhà nước có quyền từ chối nhận thông tin trên môi trường mạng nếu độ tin cậy và bí mật của thông tin đó được truyền đưa qua môi trường mạng không được bảo đảm.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p:txBody>
          <a:bodyPr/>
          <a:lstStyle/>
          <a:p>
            <a:r>
              <a:rPr lang="en-US" dirty="0" err="1">
                <a:solidFill>
                  <a:srgbClr val="FF0000"/>
                </a:solidFill>
              </a:rPr>
              <a:t>Điều</a:t>
            </a:r>
            <a:r>
              <a:rPr lang="en-US" dirty="0">
                <a:solidFill>
                  <a:srgbClr val="FF0000"/>
                </a:solidFill>
              </a:rPr>
              <a:t> 9. </a:t>
            </a:r>
            <a:r>
              <a:rPr lang="en-US" u="sng" dirty="0" err="1">
                <a:solidFill>
                  <a:srgbClr val="FF0000"/>
                </a:solidFill>
              </a:rPr>
              <a:t>Trách</a:t>
            </a:r>
            <a:r>
              <a:rPr lang="en-US" u="sng" dirty="0">
                <a:solidFill>
                  <a:srgbClr val="FF0000"/>
                </a:solidFill>
              </a:rPr>
              <a:t> </a:t>
            </a:r>
            <a:r>
              <a:rPr lang="en-US" u="sng" dirty="0" err="1">
                <a:solidFill>
                  <a:srgbClr val="FF0000"/>
                </a:solidFill>
              </a:rPr>
              <a:t>nhiệm</a:t>
            </a:r>
            <a:r>
              <a:rPr lang="en-US" u="sng"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tổ</a:t>
            </a:r>
            <a:r>
              <a:rPr lang="en-US" dirty="0">
                <a:solidFill>
                  <a:srgbClr val="FF0000"/>
                </a:solidFill>
              </a:rPr>
              <a:t> </a:t>
            </a:r>
            <a:r>
              <a:rPr lang="en-US" dirty="0" err="1">
                <a:solidFill>
                  <a:srgbClr val="FF0000"/>
                </a:solidFill>
              </a:rPr>
              <a:t>chức</a:t>
            </a:r>
            <a:r>
              <a:rPr lang="en-US" dirty="0">
                <a:solidFill>
                  <a:srgbClr val="FF0000"/>
                </a:solidFill>
              </a:rPr>
              <a:t>, </a:t>
            </a:r>
            <a:r>
              <a:rPr lang="en-US" dirty="0" err="1">
                <a:solidFill>
                  <a:srgbClr val="FF0000"/>
                </a:solidFill>
              </a:rPr>
              <a:t>cá</a:t>
            </a:r>
            <a:r>
              <a:rPr lang="en-US" dirty="0">
                <a:solidFill>
                  <a:srgbClr val="FF0000"/>
                </a:solidFill>
              </a:rPr>
              <a:t> </a:t>
            </a:r>
            <a:r>
              <a:rPr lang="en-US" dirty="0" err="1">
                <a:solidFill>
                  <a:srgbClr val="FF0000"/>
                </a:solidFill>
              </a:rPr>
              <a:t>nhân</a:t>
            </a:r>
            <a:r>
              <a:rPr lang="en-US" dirty="0">
                <a:solidFill>
                  <a:srgbClr val="FF0000"/>
                </a:solidFill>
              </a:rPr>
              <a:t> </a:t>
            </a:r>
            <a:r>
              <a:rPr lang="en-US" dirty="0" err="1">
                <a:solidFill>
                  <a:srgbClr val="FF0000"/>
                </a:solidFill>
                <a:highlight>
                  <a:srgbClr val="FFFF00"/>
                </a:highlight>
              </a:rPr>
              <a:t>tham</a:t>
            </a:r>
            <a:r>
              <a:rPr lang="en-US" dirty="0">
                <a:solidFill>
                  <a:srgbClr val="FF0000"/>
                </a:solidFill>
                <a:highlight>
                  <a:srgbClr val="FFFF00"/>
                </a:highlight>
              </a:rPr>
              <a:t> </a:t>
            </a:r>
            <a:r>
              <a:rPr lang="en-US" dirty="0" err="1">
                <a:solidFill>
                  <a:srgbClr val="FF0000"/>
                </a:solidFill>
                <a:highlight>
                  <a:srgbClr val="FFFF00"/>
                </a:highlight>
              </a:rPr>
              <a:t>gia</a:t>
            </a:r>
            <a:r>
              <a:rPr lang="en-US" dirty="0">
                <a:solidFill>
                  <a:srgbClr val="FF0000"/>
                </a:solidFill>
                <a:highlight>
                  <a:srgbClr val="FFFF00"/>
                </a:highlight>
              </a:rPr>
              <a:t> </a:t>
            </a:r>
            <a:r>
              <a:rPr lang="en-US" dirty="0" err="1">
                <a:solidFill>
                  <a:srgbClr val="FF0000"/>
                </a:solidFill>
                <a:highlight>
                  <a:srgbClr val="FFFF00"/>
                </a:highlight>
              </a:rPr>
              <a:t>hoạt</a:t>
            </a:r>
            <a:r>
              <a:rPr lang="en-US" dirty="0">
                <a:solidFill>
                  <a:srgbClr val="FF0000"/>
                </a:solidFill>
                <a:highlight>
                  <a:srgbClr val="FFFF00"/>
                </a:highlight>
              </a:rPr>
              <a:t> </a:t>
            </a:r>
            <a:r>
              <a:rPr lang="en-US" dirty="0" err="1">
                <a:solidFill>
                  <a:srgbClr val="FF0000"/>
                </a:solidFill>
                <a:highlight>
                  <a:srgbClr val="FFFF00"/>
                </a:highlight>
              </a:rPr>
              <a:t>động</a:t>
            </a:r>
            <a:r>
              <a:rPr lang="en-US" dirty="0">
                <a:solidFill>
                  <a:srgbClr val="FF0000"/>
                </a:solidFill>
                <a:highlight>
                  <a:srgbClr val="FFFF00"/>
                </a:highlight>
              </a:rPr>
              <a:t> </a:t>
            </a:r>
            <a:r>
              <a:rPr lang="en-US" dirty="0" err="1">
                <a:solidFill>
                  <a:srgbClr val="FF0000"/>
                </a:solidFill>
              </a:rPr>
              <a:t>ứng</a:t>
            </a:r>
            <a:r>
              <a:rPr lang="en-US" dirty="0">
                <a:solidFill>
                  <a:srgbClr val="FF0000"/>
                </a:solidFill>
              </a:rPr>
              <a:t> </a:t>
            </a:r>
            <a:r>
              <a:rPr lang="en-US" dirty="0" err="1">
                <a:solidFill>
                  <a:srgbClr val="FF0000"/>
                </a:solidFill>
              </a:rPr>
              <a:t>dụng</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phát</a:t>
            </a:r>
            <a:r>
              <a:rPr lang="en-US" dirty="0">
                <a:solidFill>
                  <a:srgbClr val="FF0000"/>
                </a:solidFill>
              </a:rPr>
              <a:t> </a:t>
            </a:r>
            <a:r>
              <a:rPr lang="en-US" dirty="0" err="1">
                <a:solidFill>
                  <a:srgbClr val="FF0000"/>
                </a:solidFill>
              </a:rPr>
              <a:t>triển</a:t>
            </a:r>
            <a:r>
              <a:rPr lang="en-US" dirty="0">
                <a:solidFill>
                  <a:srgbClr val="FF0000"/>
                </a:solidFill>
              </a:rPr>
              <a:t> </a:t>
            </a:r>
            <a:r>
              <a:rPr lang="en-US" dirty="0" err="1">
                <a:solidFill>
                  <a:srgbClr val="FF0000"/>
                </a:solidFill>
              </a:rPr>
              <a:t>công</a:t>
            </a:r>
            <a:r>
              <a:rPr lang="en-US" dirty="0">
                <a:solidFill>
                  <a:srgbClr val="FF0000"/>
                </a:solidFill>
              </a:rPr>
              <a:t> </a:t>
            </a:r>
            <a:r>
              <a:rPr lang="en-US" dirty="0" err="1">
                <a:solidFill>
                  <a:srgbClr val="FF0000"/>
                </a:solidFill>
              </a:rPr>
              <a:t>nghệ</a:t>
            </a:r>
            <a:r>
              <a:rPr lang="en-US" dirty="0">
                <a:solidFill>
                  <a:srgbClr val="FF0000"/>
                </a:solidFill>
              </a:rPr>
              <a:t> </a:t>
            </a:r>
            <a:r>
              <a:rPr lang="en-US" dirty="0" err="1">
                <a:solidFill>
                  <a:srgbClr val="FF0000"/>
                </a:solidFill>
              </a:rPr>
              <a:t>thông</a:t>
            </a:r>
            <a:r>
              <a:rPr lang="en-US" dirty="0">
                <a:solidFill>
                  <a:srgbClr val="FF0000"/>
                </a:solidFill>
              </a:rPr>
              <a:t> tin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1. </a:t>
            </a:r>
            <a:r>
              <a:rPr lang="en-US" dirty="0" err="1"/>
              <a:t>Tổ</a:t>
            </a:r>
            <a:r>
              <a:rPr lang="en-US" dirty="0"/>
              <a:t> </a:t>
            </a:r>
            <a:r>
              <a:rPr lang="en-US" dirty="0" err="1"/>
              <a:t>chức</a:t>
            </a:r>
            <a:r>
              <a:rPr lang="en-US" dirty="0"/>
              <a:t>, </a:t>
            </a:r>
            <a:r>
              <a:rPr lang="en-US" dirty="0" err="1"/>
              <a:t>cá</a:t>
            </a:r>
            <a:r>
              <a:rPr lang="en-US" dirty="0"/>
              <a:t> </a:t>
            </a:r>
            <a:r>
              <a:rPr lang="en-US" dirty="0" err="1"/>
              <a:t>nhân</a:t>
            </a:r>
            <a:r>
              <a:rPr lang="en-US" dirty="0"/>
              <a:t> </a:t>
            </a:r>
            <a:r>
              <a:rPr lang="en-US" dirty="0" err="1"/>
              <a:t>tham</a:t>
            </a:r>
            <a:r>
              <a:rPr lang="en-US" dirty="0"/>
              <a:t> </a:t>
            </a:r>
            <a:r>
              <a:rPr lang="en-US" dirty="0" err="1"/>
              <a:t>gia</a:t>
            </a:r>
            <a:r>
              <a:rPr lang="en-US" dirty="0"/>
              <a:t> </a:t>
            </a:r>
            <a:r>
              <a:rPr lang="en-US" dirty="0" err="1"/>
              <a:t>hoạt</a:t>
            </a:r>
            <a:r>
              <a:rPr lang="en-US" dirty="0"/>
              <a:t> </a:t>
            </a:r>
            <a:r>
              <a:rPr lang="en-US" dirty="0" err="1"/>
              <a:t>động</a:t>
            </a:r>
            <a:r>
              <a:rPr lang="en-US" dirty="0"/>
              <a:t> </a:t>
            </a:r>
            <a:r>
              <a:rPr lang="en-US" dirty="0" err="1"/>
              <a:t>ứng</a:t>
            </a:r>
            <a:r>
              <a:rPr lang="en-US" dirty="0"/>
              <a:t> </a:t>
            </a:r>
            <a:r>
              <a:rPr lang="en-US" dirty="0" err="1"/>
              <a:t>dụng</a:t>
            </a:r>
            <a:r>
              <a:rPr lang="en-US" dirty="0"/>
              <a:t> </a:t>
            </a:r>
            <a:r>
              <a:rPr lang="en-US" dirty="0" err="1"/>
              <a:t>công</a:t>
            </a:r>
            <a:r>
              <a:rPr lang="en-US" dirty="0"/>
              <a:t> </a:t>
            </a:r>
            <a:r>
              <a:rPr lang="en-US" dirty="0" err="1"/>
              <a:t>nghệ</a:t>
            </a:r>
            <a:r>
              <a:rPr lang="en-US" dirty="0"/>
              <a:t> </a:t>
            </a:r>
            <a:r>
              <a:rPr lang="en-US" dirty="0" err="1"/>
              <a:t>thông</a:t>
            </a:r>
            <a:r>
              <a:rPr lang="en-US" dirty="0"/>
              <a:t> tin </a:t>
            </a:r>
            <a:r>
              <a:rPr lang="en-US" dirty="0" err="1">
                <a:solidFill>
                  <a:srgbClr val="FF0000"/>
                </a:solidFill>
              </a:rPr>
              <a:t>phải</a:t>
            </a:r>
            <a:r>
              <a:rPr lang="en-US" dirty="0">
                <a:solidFill>
                  <a:srgbClr val="FF0000"/>
                </a:solidFill>
              </a:rPr>
              <a:t> </a:t>
            </a:r>
            <a:r>
              <a:rPr lang="en-US" dirty="0" err="1">
                <a:solidFill>
                  <a:srgbClr val="FF0000"/>
                </a:solidFill>
              </a:rPr>
              <a:t>chịu</a:t>
            </a:r>
            <a:r>
              <a:rPr lang="en-US" dirty="0">
                <a:solidFill>
                  <a:srgbClr val="FF0000"/>
                </a:solidFill>
              </a:rPr>
              <a:t> </a:t>
            </a:r>
            <a:r>
              <a:rPr lang="en-US" dirty="0" err="1">
                <a:solidFill>
                  <a:srgbClr val="FF0000"/>
                </a:solidFill>
              </a:rPr>
              <a:t>trách</a:t>
            </a:r>
            <a:r>
              <a:rPr lang="en-US" dirty="0">
                <a:solidFill>
                  <a:srgbClr val="FF0000"/>
                </a:solidFill>
              </a:rPr>
              <a:t> </a:t>
            </a:r>
            <a:r>
              <a:rPr lang="en-US" dirty="0" err="1">
                <a:solidFill>
                  <a:srgbClr val="FF0000"/>
                </a:solidFill>
              </a:rPr>
              <a:t>nhiệm</a:t>
            </a:r>
            <a:r>
              <a:rPr lang="en-US" dirty="0">
                <a:solidFill>
                  <a:srgbClr val="FF0000"/>
                </a:solidFill>
              </a:rPr>
              <a:t> </a:t>
            </a:r>
            <a:r>
              <a:rPr lang="en-US" dirty="0" err="1">
                <a:solidFill>
                  <a:srgbClr val="FF0000"/>
                </a:solidFill>
              </a:rPr>
              <a:t>về</a:t>
            </a:r>
            <a:r>
              <a:rPr lang="en-US" dirty="0">
                <a:solidFill>
                  <a:srgbClr val="FF0000"/>
                </a:solidFill>
              </a:rPr>
              <a:t> </a:t>
            </a:r>
            <a:r>
              <a:rPr lang="en-US" dirty="0" err="1">
                <a:solidFill>
                  <a:srgbClr val="FF0000"/>
                </a:solidFill>
              </a:rPr>
              <a:t>nội</a:t>
            </a:r>
            <a:r>
              <a:rPr lang="en-US" dirty="0">
                <a:solidFill>
                  <a:srgbClr val="FF0000"/>
                </a:solidFill>
              </a:rPr>
              <a:t> dung </a:t>
            </a:r>
            <a:r>
              <a:rPr lang="en-US" dirty="0" err="1">
                <a:solidFill>
                  <a:srgbClr val="FF0000"/>
                </a:solidFill>
              </a:rPr>
              <a:t>thông</a:t>
            </a:r>
            <a:r>
              <a:rPr lang="en-US" dirty="0">
                <a:solidFill>
                  <a:srgbClr val="FF0000"/>
                </a:solidFill>
              </a:rPr>
              <a:t> tin </a:t>
            </a:r>
            <a:r>
              <a:rPr lang="en-US" dirty="0" err="1">
                <a:solidFill>
                  <a:srgbClr val="FF0000"/>
                </a:solidFill>
              </a:rPr>
              <a:t>số</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mình</a:t>
            </a:r>
            <a:r>
              <a:rPr lang="en-US" dirty="0">
                <a:solidFill>
                  <a:srgbClr val="FF0000"/>
                </a:solidFill>
              </a:rPr>
              <a:t> </a:t>
            </a:r>
            <a:r>
              <a:rPr lang="en-US" dirty="0" err="1">
                <a:solidFill>
                  <a:srgbClr val="FF0000"/>
                </a:solidFill>
              </a:rPr>
              <a:t>trên</a:t>
            </a:r>
            <a:r>
              <a:rPr lang="en-US" dirty="0">
                <a:solidFill>
                  <a:srgbClr val="FF0000"/>
                </a:solidFill>
              </a:rPr>
              <a:t> </a:t>
            </a:r>
            <a:r>
              <a:rPr lang="en-US" dirty="0" err="1">
                <a:solidFill>
                  <a:srgbClr val="FF0000"/>
                </a:solidFill>
              </a:rPr>
              <a:t>môi</a:t>
            </a:r>
            <a:r>
              <a:rPr lang="en-US" dirty="0">
                <a:solidFill>
                  <a:srgbClr val="FF0000"/>
                </a:solidFill>
              </a:rPr>
              <a:t> </a:t>
            </a:r>
            <a:r>
              <a:rPr lang="en-US" dirty="0" err="1">
                <a:solidFill>
                  <a:srgbClr val="FF0000"/>
                </a:solidFill>
              </a:rPr>
              <a:t>trường</a:t>
            </a:r>
            <a:r>
              <a:rPr lang="en-US" dirty="0">
                <a:solidFill>
                  <a:srgbClr val="FF0000"/>
                </a:solidFill>
              </a:rPr>
              <a:t> </a:t>
            </a:r>
            <a:r>
              <a:rPr lang="en-US" dirty="0" err="1">
                <a:solidFill>
                  <a:srgbClr val="FF0000"/>
                </a:solidFill>
              </a:rPr>
              <a:t>mạng</a:t>
            </a:r>
            <a:r>
              <a:rPr lang="en-US" dirty="0">
                <a:solidFill>
                  <a:srgbClr val="FF0000"/>
                </a:solidFill>
              </a:rPr>
              <a:t>.</a:t>
            </a:r>
          </a:p>
          <a:p>
            <a:r>
              <a:rPr lang="vi-VN" altLang="en-US" dirty="0">
                <a:solidFill>
                  <a:srgbClr val="FF0000"/>
                </a:solidFill>
              </a:rPr>
              <a:t>(kể cả dẫn từ trang thông tin khác)</a:t>
            </a:r>
          </a:p>
          <a:p>
            <a:r>
              <a:rPr lang="en-US" altLang="vi-VN" dirty="0">
                <a:solidFill>
                  <a:srgbClr val="FF0000"/>
                </a:solidFill>
                <a:hlinkClick r:id="rId2" action="ppaction://hlinkfile"/>
              </a:rPr>
              <a:t>VD</a:t>
            </a:r>
            <a:r>
              <a:rPr lang="en-US" altLang="vi-VN" dirty="0">
                <a:solidFill>
                  <a:srgbClr val="FF0000"/>
                </a:solidFill>
              </a:rPr>
              <a:t>, </a:t>
            </a:r>
            <a:r>
              <a:rPr lang="en-US" altLang="vi-VN" dirty="0" err="1">
                <a:solidFill>
                  <a:srgbClr val="FF0000"/>
                </a:solidFill>
                <a:hlinkClick r:id="rId3" action="ppaction://hlinkfile"/>
              </a:rPr>
              <a:t>vd</a:t>
            </a:r>
            <a:endParaRPr lang="en-US" altLang="vi-VN" dirty="0">
              <a:solidFill>
                <a:srgbClr val="FF0000"/>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200"/>
              <a:t>2. Tổ chức, cá nhân </a:t>
            </a:r>
            <a:r>
              <a:rPr lang="en-US" sz="2200">
                <a:highlight>
                  <a:srgbClr val="FFFF00"/>
                </a:highlight>
              </a:rPr>
              <a:t>khi hoạt động kinh doanh </a:t>
            </a:r>
            <a:r>
              <a:rPr lang="en-US" sz="2200"/>
              <a:t>trên môi trường mạng </a:t>
            </a:r>
            <a:r>
              <a:rPr lang="en-US" sz="2200">
                <a:solidFill>
                  <a:srgbClr val="FF0000"/>
                </a:solidFill>
              </a:rPr>
              <a:t>phải thông báo công khai trên môi trường mạng những thông tin có liên quan, bao gồm:</a:t>
            </a:r>
          </a:p>
          <a:p>
            <a:r>
              <a:rPr lang="en-US" sz="2200">
                <a:solidFill>
                  <a:srgbClr val="FF0000"/>
                </a:solidFill>
              </a:rPr>
              <a:t>a. Tên, địa chỉ địa lý, số điện thoại, địa chỉ thư điện tử;</a:t>
            </a:r>
          </a:p>
          <a:p>
            <a:r>
              <a:rPr lang="en-US" sz="2200">
                <a:solidFill>
                  <a:srgbClr val="FF0000"/>
                </a:solidFill>
              </a:rPr>
              <a:t>b. Thông tin về quyết định thành lập, giấy phép hoạt động hoặc giấy chứng nhận đăng ký kinh doanh (nếu có);</a:t>
            </a:r>
          </a:p>
          <a:p>
            <a:r>
              <a:rPr lang="en-US" sz="2200">
                <a:solidFill>
                  <a:srgbClr val="FF0000"/>
                </a:solidFill>
              </a:rPr>
              <a:t>c. Tên cơ quan quản lý nhà cung cấp (nếu có);</a:t>
            </a:r>
          </a:p>
          <a:p>
            <a:r>
              <a:rPr lang="en-US" sz="2200">
                <a:solidFill>
                  <a:srgbClr val="FF0000"/>
                </a:solidFill>
              </a:rPr>
              <a:t>d. Thông tin về giá, thuế, chi phí vận chuyển (nếu có) của hàng hóa, dịch vụ. </a:t>
            </a:r>
          </a:p>
          <a:p>
            <a:endParaRPr lang="en-US" sz="2200">
              <a:solidFill>
                <a:srgbClr val="FF0000"/>
              </a:solidFill>
            </a:endParaRPr>
          </a:p>
          <a:p>
            <a:r>
              <a:rPr lang="en-US" sz="2200">
                <a:solidFill>
                  <a:srgbClr val="FF0000"/>
                </a:solidFill>
              </a:rPr>
              <a:t>Bài tập: Tìm tên công ty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solidFill>
                  <a:srgbClr val="FF0000"/>
                </a:solidFill>
              </a:rPr>
              <a:t>3. Tổ chức, cá nhân tham gia phát triển công nghệ thông tin có trách nhiệm sau đây:</a:t>
            </a:r>
          </a:p>
          <a:p>
            <a:r>
              <a:rPr lang="en-US"/>
              <a:t>a) Bảo đảm </a:t>
            </a:r>
            <a:r>
              <a:rPr lang="en-US">
                <a:solidFill>
                  <a:srgbClr val="FF0000"/>
                </a:solidFill>
                <a:highlight>
                  <a:srgbClr val="FFFF00"/>
                </a:highlight>
                <a:hlinkClick r:id="rId2" action="ppaction://hlinkfile"/>
              </a:rPr>
              <a:t>tính trung thực của kết quả nghiên cứu - phát triển;</a:t>
            </a:r>
            <a:endParaRPr lang="en-US">
              <a:solidFill>
                <a:srgbClr val="FF0000"/>
              </a:solidFill>
              <a:highlight>
                <a:srgbClr val="FFFF00"/>
              </a:highlight>
            </a:endParaRPr>
          </a:p>
          <a:p>
            <a:r>
              <a:rPr lang="en-US"/>
              <a:t>b) Bảo đảm quyền và lợi ích hợp pháp của chủ sở hữu cơ sở dữ liệu và </a:t>
            </a:r>
            <a:r>
              <a:rPr lang="en-US">
                <a:solidFill>
                  <a:srgbClr val="FF0000"/>
                </a:solidFill>
              </a:rPr>
              <a:t>không gây cản trở cho việc sử dụng cơ sở dữ liệu đó khi thực hiện hành vi tái sản xuất, phân phối, quảng bá</a:t>
            </a:r>
            <a:r>
              <a:rPr lang="en-US"/>
              <a:t>, truyền đưa, cung cấp nội dung hợp thành cơ sở dữ liệu đó.</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a:solidFill>
                  <a:srgbClr val="FF0000"/>
                </a:solidFill>
                <a:sym typeface="+mn-ea"/>
              </a:rPr>
              <a:t>Điều 12. Các hành vi bị nghiêm cấm </a:t>
            </a:r>
          </a:p>
        </p:txBody>
      </p:sp>
      <p:sp>
        <p:nvSpPr>
          <p:cNvPr id="3" name="Content Placeholder 2"/>
          <p:cNvSpPr>
            <a:spLocks noGrp="1"/>
          </p:cNvSpPr>
          <p:nvPr>
            <p:ph idx="1"/>
          </p:nvPr>
        </p:nvSpPr>
        <p:spPr/>
        <p:txBody>
          <a:bodyPr/>
          <a:lstStyle/>
          <a:p>
            <a:pPr marL="0" indent="0">
              <a:buNone/>
            </a:pPr>
            <a:r>
              <a:rPr lang="en-US"/>
              <a:t>1. </a:t>
            </a:r>
            <a:r>
              <a:rPr lang="en-US" u="sng">
                <a:solidFill>
                  <a:srgbClr val="FF0000"/>
                </a:solidFill>
              </a:rPr>
              <a:t>Cản trở hoạt động hợp pháp hoặc hỗ trợ hoạt động bất hợp pháp về ứng dụng và phát triển công nghệ thông tin; </a:t>
            </a:r>
            <a:r>
              <a:rPr lang="en-US"/>
              <a:t>cản trở bất hợp pháp hoạt động của hệ thống máy chủ tên miền quốc gia; phá hoại cơ sở hạ tầng thông tin, phá hoại thông tin trên môi trường mạng.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vi-VN" altLang="en-US"/>
              <a:t>Làm nhóm</a:t>
            </a:r>
          </a:p>
          <a:p>
            <a:r>
              <a:rPr lang="vi-VN" altLang="en-US"/>
              <a:t>Nêu các điều luật trong Luật CNTT</a:t>
            </a:r>
          </a:p>
          <a:p>
            <a:endParaRPr lang="vi-VN" altLang="en-US"/>
          </a:p>
          <a:p>
            <a:r>
              <a:rPr lang="vi-VN" altLang="en-US"/>
              <a:t>Ghi tên điều ra giấy</a:t>
            </a:r>
          </a:p>
          <a:p>
            <a:r>
              <a:rPr lang="vi-VN" altLang="en-US"/>
              <a:t>GV chỉ định 1 sv trong nhóm lên bảng</a:t>
            </a:r>
          </a:p>
          <a:p>
            <a:r>
              <a:rPr lang="vi-VN" altLang="en-US"/>
              <a:t>Tính điểm chung cho cả nhóm</a:t>
            </a:r>
          </a:p>
          <a:p>
            <a:r>
              <a:rPr lang="vi-VN" altLang="en-US"/>
              <a:t>Thang điểm 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a:solidFill>
                  <a:srgbClr val="FF0000"/>
                </a:solidFill>
                <a:sym typeface="+mn-ea"/>
              </a:rPr>
              <a:t>Điều 12. Các hành vi bị nghiêm cấm </a:t>
            </a:r>
          </a:p>
        </p:txBody>
      </p:sp>
      <p:sp>
        <p:nvSpPr>
          <p:cNvPr id="3" name="Content Placeholder 2"/>
          <p:cNvSpPr>
            <a:spLocks noGrp="1"/>
          </p:cNvSpPr>
          <p:nvPr>
            <p:ph idx="1"/>
          </p:nvPr>
        </p:nvSpPr>
        <p:spPr/>
        <p:txBody>
          <a:bodyPr/>
          <a:lstStyle/>
          <a:p>
            <a:pPr marL="0" indent="0">
              <a:buNone/>
            </a:pPr>
            <a:r>
              <a:rPr lang="en-US">
                <a:solidFill>
                  <a:schemeClr val="tx1">
                    <a:lumMod val="75000"/>
                  </a:schemeClr>
                </a:solidFill>
              </a:rPr>
              <a:t>2. </a:t>
            </a:r>
            <a:r>
              <a:rPr lang="en-US" u="sng">
                <a:solidFill>
                  <a:schemeClr val="tx1">
                    <a:lumMod val="75000"/>
                  </a:schemeClr>
                </a:solidFill>
              </a:rPr>
              <a:t>Cung cấp, trao đổi, truyền đưa, lưu trữ, sử dụng thông tin số nhằm mục đích sau đây:</a:t>
            </a:r>
          </a:p>
          <a:p>
            <a:pPr marL="0" indent="0">
              <a:buNone/>
            </a:pPr>
            <a:r>
              <a:rPr lang="en-US">
                <a:solidFill>
                  <a:schemeClr val="tx1">
                    <a:lumMod val="75000"/>
                  </a:schemeClr>
                </a:solidFill>
              </a:rPr>
              <a:t>a) </a:t>
            </a:r>
            <a:r>
              <a:rPr lang="en-US" u="sng">
                <a:solidFill>
                  <a:schemeClr val="tx1">
                    <a:lumMod val="75000"/>
                  </a:schemeClr>
                </a:solidFill>
                <a:hlinkClick r:id="rId2" action="ppaction://hlinkfile"/>
              </a:rPr>
              <a:t>Chống Nhà nước</a:t>
            </a:r>
            <a:r>
              <a:rPr lang="en-US">
                <a:solidFill>
                  <a:schemeClr val="tx1">
                    <a:lumMod val="75000"/>
                  </a:schemeClr>
                </a:solidFill>
                <a:hlinkClick r:id="rId2" action="ppaction://hlinkfile"/>
              </a:rPr>
              <a:t> </a:t>
            </a:r>
            <a:r>
              <a:rPr lang="en-US">
                <a:solidFill>
                  <a:schemeClr val="tx1">
                    <a:lumMod val="75000"/>
                  </a:schemeClr>
                </a:solidFill>
              </a:rPr>
              <a:t>Cộng hoà xã hội chủ nghĩa Việt Nam, phá hoại khối đoàn kết toàn dân;</a:t>
            </a:r>
          </a:p>
          <a:p>
            <a:pPr marL="0" indent="0">
              <a:buNone/>
            </a:pPr>
            <a:r>
              <a:rPr lang="en-US">
                <a:solidFill>
                  <a:schemeClr val="tx1">
                    <a:lumMod val="75000"/>
                  </a:schemeClr>
                </a:solidFill>
              </a:rPr>
              <a:t>b) </a:t>
            </a:r>
            <a:r>
              <a:rPr lang="en-US" u="sng">
                <a:solidFill>
                  <a:schemeClr val="tx1">
                    <a:lumMod val="75000"/>
                  </a:schemeClr>
                </a:solidFill>
              </a:rPr>
              <a:t>Kích động bạo lực, tuyên truyền chiến tranh xâm lược, gây hận thù giữa các dân tộc và nhân dân các nước, kích động dâm ô, đồi trụy, tội ác, tệ nạn xã hội, mê tín dị đoan, phá hoại thuần phong mỹ tục của dân tộc</a:t>
            </a:r>
            <a:r>
              <a:rPr lang="en-US">
                <a:solidFill>
                  <a:schemeClr val="tx1">
                    <a:lumMod val="75000"/>
                  </a:schemeClr>
                </a:solidFill>
              </a:rPr>
              <a:t>;</a:t>
            </a:r>
          </a:p>
          <a:p>
            <a:pPr marL="0" indent="0">
              <a:buNone/>
            </a:pPr>
            <a:endParaRPr lang="en-US">
              <a:solidFill>
                <a:schemeClr val="tx1">
                  <a:lumMod val="7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linds(horizontal)">
                                      <p:cBhvr>
                                        <p:cTn id="15" dur="500"/>
                                        <p:tgtEl>
                                          <p:spTgt spid="3">
                                            <p:txEl>
                                              <p:pRg st="0" end="0"/>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blinds(horizontal)">
                                      <p:cBhvr>
                                        <p:cTn id="18" dur="500"/>
                                        <p:tgtEl>
                                          <p:spTgt spid="3">
                                            <p:txEl>
                                              <p:pRg st="1" end="1"/>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linds(horizontal)">
                                      <p:cBhvr>
                                        <p:cTn id="2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a:solidFill>
                  <a:srgbClr val="FF0000"/>
                </a:solidFill>
                <a:sym typeface="+mn-ea"/>
              </a:rPr>
              <a:t>c) </a:t>
            </a:r>
            <a:r>
              <a:rPr lang="en-US" u="sng">
                <a:solidFill>
                  <a:srgbClr val="FF0000"/>
                </a:solidFill>
                <a:sym typeface="+mn-ea"/>
              </a:rPr>
              <a:t>Tiết lộ bí mật nhà nước</a:t>
            </a:r>
            <a:r>
              <a:rPr lang="en-US">
                <a:solidFill>
                  <a:srgbClr val="FF0000"/>
                </a:solidFill>
                <a:sym typeface="+mn-ea"/>
              </a:rPr>
              <a:t>, bí mật quân sự, an ninh, kinh tế, đối ngoại và những bí mật khác đã được pháp luật quy định;</a:t>
            </a:r>
            <a:endParaRPr lang="en-US">
              <a:solidFill>
                <a:srgbClr val="FF0000"/>
              </a:solidFill>
            </a:endParaRPr>
          </a:p>
          <a:p>
            <a:pPr marL="0" indent="0">
              <a:buNone/>
            </a:pPr>
            <a:r>
              <a:rPr lang="en-US">
                <a:solidFill>
                  <a:srgbClr val="FF0000"/>
                </a:solidFill>
                <a:sym typeface="+mn-ea"/>
              </a:rPr>
              <a:t>d) </a:t>
            </a:r>
            <a:r>
              <a:rPr lang="en-US" u="sng">
                <a:solidFill>
                  <a:srgbClr val="FF0000"/>
                </a:solidFill>
                <a:sym typeface="+mn-ea"/>
                <a:hlinkClick r:id="rId2" action="ppaction://hlinkfile"/>
              </a:rPr>
              <a:t>Xuyên tạc, vu khống, xúc phạm uy tín của tổ chức, danh dự, nhân phẩm, uy tín của công dân;</a:t>
            </a:r>
            <a:endParaRPr lang="en-US" u="sng">
              <a:solidFill>
                <a:srgbClr val="FF0000"/>
              </a:solidFill>
            </a:endParaRPr>
          </a:p>
          <a:p>
            <a:pPr marL="0" indent="0">
              <a:buNone/>
            </a:pPr>
            <a:r>
              <a:rPr lang="en-US">
                <a:solidFill>
                  <a:srgbClr val="FF0000"/>
                </a:solidFill>
                <a:sym typeface="+mn-ea"/>
              </a:rPr>
              <a:t>đ) </a:t>
            </a:r>
            <a:r>
              <a:rPr lang="en-US" u="sng">
                <a:solidFill>
                  <a:srgbClr val="FF0000"/>
                </a:solidFill>
                <a:sym typeface="+mn-ea"/>
              </a:rPr>
              <a:t>Quảng cáo, tuyên truyền hàng hoá, dịch vụ thuộc danh mục cấm</a:t>
            </a:r>
            <a:r>
              <a:rPr lang="en-US">
                <a:solidFill>
                  <a:srgbClr val="FF0000"/>
                </a:solidFill>
                <a:sym typeface="+mn-ea"/>
              </a:rPr>
              <a:t> đã được pháp luật quy định. </a:t>
            </a:r>
            <a:endParaRPr lang="en-US">
              <a:solidFill>
                <a:srgbClr val="FF0000"/>
              </a:solidFill>
            </a:endParaRPr>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a:solidFill>
                  <a:srgbClr val="FF0000"/>
                </a:solidFill>
                <a:sym typeface="+mn-ea"/>
              </a:rPr>
              <a:t>Điều 12. Các hành vi bị nghiêm cấm </a:t>
            </a:r>
          </a:p>
        </p:txBody>
      </p:sp>
      <p:sp>
        <p:nvSpPr>
          <p:cNvPr id="3" name="Content Placeholder 2"/>
          <p:cNvSpPr>
            <a:spLocks noGrp="1"/>
          </p:cNvSpPr>
          <p:nvPr>
            <p:ph idx="1"/>
          </p:nvPr>
        </p:nvSpPr>
        <p:spPr/>
        <p:txBody>
          <a:bodyPr/>
          <a:lstStyle/>
          <a:p>
            <a:pPr marL="0" indent="0">
              <a:buNone/>
            </a:pPr>
            <a:r>
              <a:rPr lang="en-US" sz="500"/>
              <a:t>2. Cung cấp, trao đổi, truyền đưa, lưu trữ, sử dụng thông tin số nhằm mục đích sau đây:</a:t>
            </a:r>
          </a:p>
          <a:p>
            <a:pPr marL="0" indent="0">
              <a:buNone/>
            </a:pPr>
            <a:r>
              <a:rPr lang="en-US" sz="500"/>
              <a:t>a) Chống Nhà nước Cộng hoà xã hội chủ nghĩa Việt Nam, phá hoại khối đoàn kết toàn dân;</a:t>
            </a:r>
          </a:p>
          <a:p>
            <a:pPr marL="0" indent="0">
              <a:buNone/>
            </a:pPr>
            <a:r>
              <a:rPr lang="en-US" sz="500"/>
              <a:t>b) Kích động bạo lực, tuyên truyền chiến tranh xâm lược, gây hận thù giữa các dân tộc và nhân dân các nước, kích động dâm ô, đồi trụy, tội ác, tệ nạn xã hội, mê tín dị đoan, phá hoại thuần phong mỹ tục của dân tộc;</a:t>
            </a:r>
          </a:p>
          <a:p>
            <a:pPr marL="0" indent="0">
              <a:buNone/>
            </a:pPr>
            <a:r>
              <a:rPr lang="en-US" sz="500"/>
              <a:t>c) Tiết lộ bí mật nhà nước, bí mật quân sự, an ninh, kinh tế, đối ngoại và những bí mật khác đã được pháp luật quy định;</a:t>
            </a:r>
          </a:p>
          <a:p>
            <a:pPr marL="0" indent="0">
              <a:buNone/>
            </a:pPr>
            <a:r>
              <a:rPr lang="en-US" sz="500"/>
              <a:t>d) Xuyên tạc, vu khống, xúc phạm uy tín của tổ chức, danh dự, nhân phẩm, uy tín của công dân;</a:t>
            </a:r>
          </a:p>
          <a:p>
            <a:pPr marL="0" indent="0">
              <a:buNone/>
            </a:pPr>
            <a:r>
              <a:rPr lang="en-US" sz="500"/>
              <a:t>đ) Quảng cáo, tuyên truyền hàng hoá, dịch vụ thuộc danh mục cấm đã được pháp luật quy định. </a:t>
            </a:r>
          </a:p>
          <a:p>
            <a:pPr marL="0" indent="0">
              <a:buNone/>
            </a:pPr>
            <a:endParaRPr lang="en-US" sz="500"/>
          </a:p>
          <a:p>
            <a:pPr marL="0" indent="0">
              <a:buNone/>
            </a:pPr>
            <a:endParaRPr lang="en-US" sz="500"/>
          </a:p>
          <a:p>
            <a:pPr marL="0" indent="0">
              <a:buNone/>
            </a:pPr>
            <a:r>
              <a:rPr lang="en-US" sz="2500"/>
              <a:t>3. </a:t>
            </a:r>
            <a:r>
              <a:rPr lang="en-US" sz="2500">
                <a:solidFill>
                  <a:srgbClr val="FF0000"/>
                </a:solidFill>
              </a:rPr>
              <a:t>Xâm phạm quyền sở hữu trí tuệ</a:t>
            </a:r>
            <a:r>
              <a:rPr lang="en-US" sz="2500"/>
              <a:t> trong hoạt động công nghệ thông tin; sản xuất, lưu hành sản phẩm công nghệ thông tin trái pháp luật; giả mạo trang thông tin điện tử của tổ chức, cá nhân khác; tạo đường dẫn trái phép đối với tên miền của tổ chức, cá nhân sử dụng hợp pháp tên miền đó.</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sz="half" idx="1"/>
          </p:nvPr>
        </p:nvSpPr>
        <p:spPr>
          <a:xfrm>
            <a:off x="457200" y="1076325"/>
            <a:ext cx="8491220" cy="5248275"/>
          </a:xfrm>
        </p:spPr>
        <p:txBody>
          <a:bodyPr/>
          <a:lstStyle/>
          <a:p>
            <a:pPr marL="0" indent="0">
              <a:buNone/>
            </a:pPr>
            <a:r>
              <a:rPr lang="vi-VN" altLang="en-US" sz="4000"/>
              <a:t>Một số vụ án</a:t>
            </a:r>
            <a:r>
              <a:rPr lang="en-US" altLang="vi-VN" sz="4000"/>
              <a:t> về CNTT</a:t>
            </a:r>
            <a:endParaRPr lang="vi-VN" altLang="en-US" sz="4000"/>
          </a:p>
          <a:p>
            <a:pPr marL="0" indent="0">
              <a:buNone/>
            </a:pPr>
            <a:endParaRPr lang="vi-VN" altLang="en-US" sz="4000"/>
          </a:p>
        </p:txBody>
      </p:sp>
      <p:pic>
        <p:nvPicPr>
          <p:cNvPr id="4" name="Content Placeholder 3"/>
          <p:cNvPicPr>
            <a:picLocks noGrp="1" noChangeAspect="1"/>
          </p:cNvPicPr>
          <p:nvPr>
            <p:ph sz="half" idx="2"/>
          </p:nvPr>
        </p:nvPicPr>
        <p:blipFill>
          <a:blip r:embed="rId2"/>
          <a:stretch>
            <a:fillRect/>
          </a:stretch>
        </p:blipFill>
        <p:spPr>
          <a:xfrm>
            <a:off x="1784985" y="2378710"/>
            <a:ext cx="5225415" cy="40982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Tháng 5/2017, Cục Cảnh sát phòng chống tội phạm công nghệ cao (C50) đã phối hợp Công an tỉnh An Giang thi hành lệnh bắt khẩn cấp, khám xét nơi làm việc và nhà ở của bà Nguyễn Thị Khéo (34 tuổi, quê tỉnh An Giang, Phó Giám đốc Công ty TNHH dịch vụ phần mềm Asian Livetech, phường Tân Phú, Quận 7, TP. Hồ Chí Minh) để điều tra về hành vi tổ chức đánh bạc qua mạng.</a:t>
            </a:r>
          </a:p>
          <a:p>
            <a:endParaRPr lang="en-US"/>
          </a:p>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sym typeface="+mn-ea"/>
              </a:rPr>
              <a:t>Công ty TNHH dịch vụ phần mềm Asian Livetech này núp bóng là một công ty phần mềm nhưng chuyên tổ chức đánh bạc trên mạng. </a:t>
            </a:r>
          </a:p>
          <a:p>
            <a:r>
              <a:rPr lang="en-US">
                <a:sym typeface="+mn-ea"/>
              </a:rPr>
              <a:t>Theo điều tra từ cơ quan công an, trang web www.ibet789.com có máy chủ tại Hồng Kông và một số nước khác trong khu vực châu Á. </a:t>
            </a:r>
          </a:p>
          <a:p>
            <a:r>
              <a:rPr lang="en-US">
                <a:sym typeface="+mn-ea"/>
              </a:rPr>
              <a:t>Cơ quan công an xác định số tiền giao dịch đánh bạc qua trang web này là hơn 1.200 tỷ đồng...</a:t>
            </a:r>
            <a:endParaRPr lang="en-US"/>
          </a:p>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39750" y="1196975"/>
            <a:ext cx="8229600" cy="5248275"/>
          </a:xfrm>
        </p:spPr>
        <p:txBody>
          <a:bodyPr/>
          <a:lstStyle/>
          <a:p>
            <a:r>
              <a:rPr lang="vi-VN" altLang="en-US" sz="2400"/>
              <a:t>N</a:t>
            </a:r>
            <a:r>
              <a:rPr lang="en-US" sz="2400"/>
              <a:t>ăm 2018, Công an tỉnh Phú Yên cũng đã phối hợp với C50 triệt phá đường dây tổ chức đánh bạc và đánh bạc dưới hình thức cá độ bóng đá qua mạng Internet quy mô lớn nhất từ trước đến nay do Nguyễn Tấn Thành và Trần Thanh Tín cầm đầu trên địa bàn tỉnh Phú Yên. </a:t>
            </a:r>
          </a:p>
          <a:p>
            <a:r>
              <a:rPr lang="vi-VN" altLang="en-US" sz="2400"/>
              <a:t>Công an </a:t>
            </a:r>
            <a:r>
              <a:rPr lang="en-US" sz="2400"/>
              <a:t>tạm giữ 13 nghi can, lực lượng công an tiến hành khám xét khẩn cấp nơi ở của các đối tượng và đã thu giữ gần 418 triệu đồng, 1.300 USD, 2 xe ô tô cùng nhiều công cụ, phương tiện tổ chức đánh bạc.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Công an Phú Thọ đã phá được vụ án đánh bạc có tổ chức, xuyên quốc gia; Thu được trên 1.000 tỷ đồng. </a:t>
            </a:r>
          </a:p>
          <a:p>
            <a:r>
              <a:rPr lang="en-US"/>
              <a:t>Số ngoại tệ đánh bạc chuyển ra nước ngoài theo thống kê ban đầu ước chừng 3,6 triệu USD. </a:t>
            </a:r>
          </a:p>
          <a:p>
            <a:r>
              <a:rPr lang="en-US"/>
              <a:t>Cơ quan điều tra Công an tỉnh Phú Thọ đã ra quyết định khởi tố bị can, thi hành lệnh bắt tạm giam ông Nguyễn Thanh Hóa, nguyên Cục trưởng C50 để điều tra về hành vi đồng phạm tổ chức đánh bạc.</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Trong thời gian từ tháng 10/2018 đến hết tháng 7/2019, cơ quan chức năng đã phát hiện 287 vụ, 437 đối tượng phạm tội, vi phạm pháp luật trong lĩnh vực công nghệ thông tin, mạng viễn thông, trong đó đã khởi tố 127 vụ với 258 bị can.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1800"/>
              <a:t>Vụ do Bùi Hải Long – Văn Cao, Đằng Giang, Ngô Quyền, Hải Phòng thực</a:t>
            </a:r>
            <a:r>
              <a:rPr lang="vi-VN" altLang="en-US" sz="1800"/>
              <a:t> </a:t>
            </a:r>
            <a:r>
              <a:rPr lang="en-US" sz="1800"/>
              <a:t>hiện. Đối tượng viết virus Xrobot (Gái xinh), đưa lên mạng Internet qua Yahoo</a:t>
            </a:r>
            <a:r>
              <a:rPr lang="vi-VN" altLang="en-US" sz="1800"/>
              <a:t> </a:t>
            </a:r>
            <a:r>
              <a:rPr lang="en-US" sz="1800"/>
              <a:t>Messenger. Khi máy tính bị lây nhiễm sẽ tự động gửi các dòng lệnh như: Gái xinh</a:t>
            </a:r>
            <a:r>
              <a:rPr lang="vi-VN" altLang="en-US" sz="1800"/>
              <a:t> </a:t>
            </a:r>
            <a:r>
              <a:rPr lang="en-US" sz="1800"/>
              <a:t>đây... kèm theo một đường dẫn đến website có chứa virus đến danh sách các</a:t>
            </a:r>
            <a:r>
              <a:rPr lang="vi-VN" altLang="en-US" sz="1800"/>
              <a:t> </a:t>
            </a:r>
            <a:r>
              <a:rPr lang="en-US" sz="1800"/>
              <a:t>Nickname khác có trong tài khoản của người sử dụng. </a:t>
            </a:r>
          </a:p>
          <a:p>
            <a:r>
              <a:rPr lang="en-US" sz="1800"/>
              <a:t>Nếu người đang chat kích vào</a:t>
            </a:r>
            <a:r>
              <a:rPr lang="vi-VN" altLang="en-US" sz="1800"/>
              <a:t> </a:t>
            </a:r>
            <a:r>
              <a:rPr lang="en-US" sz="1800"/>
              <a:t>đường dẫn, lập tức, Virus Xrobot sẽ lây lan vào máy tính và tiếp tục gửi các dòng lệnh</a:t>
            </a:r>
            <a:r>
              <a:rPr lang="vi-VN" altLang="en-US" sz="1800"/>
              <a:t> </a:t>
            </a:r>
            <a:r>
              <a:rPr lang="en-US" sz="1800"/>
              <a:t>đến tất cả các tài khoản có trên máy tính mới bị lây nhiễm. </a:t>
            </a:r>
          </a:p>
          <a:p>
            <a:r>
              <a:rPr lang="vi-VN" altLang="en-US" sz="1800"/>
              <a:t>T</a:t>
            </a:r>
            <a:r>
              <a:rPr lang="en-US" sz="1800"/>
              <a:t>ốc độ lam truyền</a:t>
            </a:r>
            <a:r>
              <a:rPr lang="vi-VN" altLang="en-US" sz="1800"/>
              <a:t> </a:t>
            </a:r>
            <a:r>
              <a:rPr lang="en-US" sz="1800"/>
              <a:t>của virus Xrobot rất nhanh, chỉ sau 24h, 10 ngàn máy tính đã bị lây nhiễm. </a:t>
            </a:r>
          </a:p>
          <a:p>
            <a:r>
              <a:rPr lang="en-US" sz="1800"/>
              <a:t>Đối tượng</a:t>
            </a:r>
            <a:r>
              <a:rPr lang="vi-VN" altLang="en-US" sz="1800"/>
              <a:t> </a:t>
            </a:r>
            <a:r>
              <a:rPr lang="en-US" sz="1800"/>
              <a:t>đã bị xử phạt 10triệu đồng về hành vi tạo ra và cố ý lan truyền, phát tán chương trình</a:t>
            </a:r>
            <a:r>
              <a:rPr lang="vi-VN" altLang="en-US" sz="1800"/>
              <a:t> </a:t>
            </a:r>
            <a:r>
              <a:rPr lang="en-US" sz="1800"/>
              <a:t>Virus lên Internet (do đơi tượng chưa đủ 18 tuổi và đã tìm cách hạn chế hậu quả).</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Tấn công từ chối dịch vụ</a:t>
            </a:r>
            <a:endParaRPr lang="en-US"/>
          </a:p>
        </p:txBody>
      </p:sp>
      <p:sp>
        <p:nvSpPr>
          <p:cNvPr id="3" name="Content Placeholder 2"/>
          <p:cNvSpPr>
            <a:spLocks noGrp="1"/>
          </p:cNvSpPr>
          <p:nvPr>
            <p:ph idx="1"/>
          </p:nvPr>
        </p:nvSpPr>
        <p:spPr/>
        <p:txBody>
          <a:bodyPr/>
          <a:lstStyle/>
          <a:p>
            <a:pPr marL="0" indent="0">
              <a:buNone/>
            </a:pPr>
            <a:r>
              <a:rPr lang="en-US" sz="1600"/>
              <a:t>Đây là hình thức gửi nhiều lệnh truy nhập (yêu cầu truy nhập ảo) cùng một lúc</a:t>
            </a:r>
            <a:r>
              <a:rPr lang="vi-VN" altLang="en-US" sz="1600"/>
              <a:t> </a:t>
            </a:r>
            <a:r>
              <a:rPr lang="en-US" sz="1600"/>
              <a:t>đến hệ thống thiết bị cung cấp dịch vụ của doanh nghiệp Internet hoặc doanh nghiệp</a:t>
            </a:r>
            <a:r>
              <a:rPr lang="vi-VN" altLang="en-US" sz="1600"/>
              <a:t> </a:t>
            </a:r>
            <a:r>
              <a:rPr lang="en-US" sz="1600"/>
              <a:t>cung cấp dịch vụ Hosting khiến cho hệ thống thiết bị, máy chủ truy cập bị quá tải.</a:t>
            </a:r>
          </a:p>
          <a:p>
            <a:r>
              <a:rPr lang="vi-VN" altLang="en-US" sz="1600"/>
              <a:t>Việc </a:t>
            </a:r>
            <a:r>
              <a:rPr lang="en-US" sz="1600"/>
              <a:t> này khiến người có yêu cầu truy nhập thật không thể tiếp cận được dịch vụ.</a:t>
            </a:r>
          </a:p>
          <a:p>
            <a:r>
              <a:rPr lang="en-US" sz="1600"/>
              <a:t>Có 02 hình thức tấn công từ chối dịch vụ:</a:t>
            </a:r>
          </a:p>
          <a:p>
            <a:r>
              <a:rPr lang="en-US" sz="1600"/>
              <a:t>- Đối tượng trực tiếp sử dụng máy tính của mình tấn công (Dos)</a:t>
            </a:r>
          </a:p>
          <a:p>
            <a:r>
              <a:rPr lang="en-US" sz="1600"/>
              <a:t>- Đối tượng chiếm quyền điều khiển một số máy tính của người sử dụng</a:t>
            </a:r>
          </a:p>
          <a:p>
            <a:r>
              <a:rPr lang="en-US" sz="1600"/>
              <a:t>Internet sau đó sử dụng các máy tính này để tấn công (DdoS)</a:t>
            </a:r>
          </a:p>
          <a:p>
            <a:endParaRPr lang="en-US" sz="1600"/>
          </a:p>
          <a:p>
            <a:r>
              <a:rPr lang="en-US" sz="1600"/>
              <a:t>Điển hình là vụ do Nguyễn Ngọc Khánh sinh ngày 26/9/1985 tại Đồng Nguyên- Từ Sơn - Bắc Ninh, sinh viên lớp K39A3 CIDG Trường ĐH sư phạm Thái Nguyên</a:t>
            </a:r>
            <a:r>
              <a:rPr lang="vi-VN" altLang="en-US" sz="1600"/>
              <a:t> </a:t>
            </a:r>
            <a:r>
              <a:rPr lang="en-US" sz="1600"/>
              <a:t>tấn công từ chối dịch vụ website www.tu-son.com làm 300 website khác cũng bị</a:t>
            </a:r>
            <a:r>
              <a:rPr lang="vi-VN" altLang="en-US" sz="1600"/>
              <a:t> </a:t>
            </a:r>
            <a:r>
              <a:rPr lang="en-US" sz="1600"/>
              <a:t>ngừng hoạt động.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1500"/>
              <a:t>3. Truy nhập trái phép vào cơ sở dữ liệu của tổ chức, cá nhân</a:t>
            </a:r>
          </a:p>
          <a:p>
            <a:r>
              <a:rPr lang="en-US" sz="1500"/>
              <a:t>Đây là hình thức đối tượng truy nhập vào cơ sở dữ liệu của tổ chức, cá nhân để</a:t>
            </a:r>
            <a:r>
              <a:rPr lang="vi-VN" altLang="en-US" sz="1500"/>
              <a:t> </a:t>
            </a:r>
            <a:r>
              <a:rPr lang="en-US" sz="1500"/>
              <a:t>lấy cắp thông tin riêng, ăn cắp tài khoản, kích hoạt SIM di động... nhằm thu lợi bất</a:t>
            </a:r>
            <a:r>
              <a:rPr lang="vi-VN" altLang="en-US" sz="1500"/>
              <a:t> </a:t>
            </a:r>
            <a:r>
              <a:rPr lang="en-US" sz="1500"/>
              <a:t>chính. </a:t>
            </a:r>
          </a:p>
          <a:p>
            <a:r>
              <a:rPr lang="en-US" sz="1500"/>
              <a:t>Điển hình là vụ do Nguyễn Văn Nhuần – Nhân viên Công ty TNHH Thiên An –1136 La Thành – HN thực hiện. Tháng 4/2006, Nhuần đã truy nhập vào website chăm</a:t>
            </a:r>
            <a:r>
              <a:rPr lang="vi-VN" altLang="en-US" sz="1500"/>
              <a:t> </a:t>
            </a:r>
            <a:r>
              <a:rPr lang="en-US" sz="1500"/>
              <a:t>sóc khách hàng của trung tâm III (Đà Nẵng) tải phần mềm đấu nối hệ thống thuê bao</a:t>
            </a:r>
            <a:r>
              <a:rPr lang="vi-VN" altLang="en-US" sz="1500"/>
              <a:t> </a:t>
            </a:r>
            <a:r>
              <a:rPr lang="en-US" sz="1500"/>
              <a:t>di động về máy tính ở nhà riêng. </a:t>
            </a:r>
          </a:p>
          <a:p>
            <a:endParaRPr lang="en-US" sz="1500"/>
          </a:p>
          <a:p>
            <a:r>
              <a:rPr lang="en-US" sz="1500"/>
              <a:t>Ngày 24/5/2006, Nhuần truy nhập vào cơ sở dữ liệu</a:t>
            </a:r>
            <a:r>
              <a:rPr lang="vi-VN" altLang="en-US" sz="1500"/>
              <a:t> </a:t>
            </a:r>
            <a:r>
              <a:rPr lang="en-US" sz="1500"/>
              <a:t>Máy chủ</a:t>
            </a:r>
            <a:r>
              <a:rPr lang="vi-VN" altLang="en-US" sz="1500"/>
              <a:t> </a:t>
            </a:r>
            <a:r>
              <a:rPr lang="en-US" sz="1500"/>
              <a:t>của Công ty Thông tin di động VMS và kích hoạt 05 số điện thoại 0905522222,</a:t>
            </a:r>
          </a:p>
          <a:p>
            <a:r>
              <a:rPr lang="en-US" sz="1500"/>
              <a:t>0905588888, 0905599999, 0905688888, 0906559999. Bằng cách này tháng 10/2005,</a:t>
            </a:r>
            <a:r>
              <a:rPr lang="vi-VN" altLang="en-US" sz="1500"/>
              <a:t> </a:t>
            </a:r>
            <a:r>
              <a:rPr lang="en-US" sz="1500"/>
              <a:t>Nhuần cũng đã truy nhập và đấu nối bất hợp pháp số điện thoại 0902000000 để sử</a:t>
            </a:r>
            <a:r>
              <a:rPr lang="vi-VN" altLang="en-US" sz="1500"/>
              <a:t> </a:t>
            </a:r>
            <a:r>
              <a:rPr lang="en-US" sz="1500"/>
              <a:t>dụng.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Vụ Bùi Minh Trí truy nhập vào trang web của Bộ Giáo dục và Đạo tạo thay ảnh</a:t>
            </a:r>
            <a:r>
              <a:rPr lang="vi-VN" altLang="en-US"/>
              <a:t> </a:t>
            </a:r>
            <a:r>
              <a:rPr lang="en-US"/>
              <a:t>của Phó Thủ tướng kiêm Bộ trưởng Bộ Giáo dục và Đào tạo Nguyễn Thiện Nhân bằng</a:t>
            </a:r>
            <a:r>
              <a:rPr lang="vi-VN" altLang="en-US"/>
              <a:t> </a:t>
            </a:r>
            <a:r>
              <a:rPr lang="en-US"/>
              <a:t>ảnh của mình.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1500"/>
              <a:t>4. Phát tán thư rác</a:t>
            </a:r>
          </a:p>
          <a:p>
            <a:r>
              <a:rPr lang="en-US" sz="1500"/>
              <a:t>- Là những thư quảng cáo: Nội dung quảng cáo được mô tả trên Email hoặc 01</a:t>
            </a:r>
            <a:r>
              <a:rPr lang="vi-VN" altLang="en-US" sz="1500"/>
              <a:t> </a:t>
            </a:r>
            <a:r>
              <a:rPr lang="en-US" sz="1500"/>
              <a:t>file kèm theo. Ngoài ra, trên email còn gắn kèm theo các đường link để người sử dụng</a:t>
            </a:r>
            <a:r>
              <a:rPr lang="vi-VN" altLang="en-US" sz="1500"/>
              <a:t> </a:t>
            </a:r>
            <a:r>
              <a:rPr lang="en-US" sz="1500"/>
              <a:t>Internet có thể truy nhập trực tiếp lên trang web giới thiệu, cung cấp sản phẩm được</a:t>
            </a:r>
            <a:r>
              <a:rPr lang="vi-VN" altLang="en-US" sz="1500"/>
              <a:t> </a:t>
            </a:r>
            <a:r>
              <a:rPr lang="en-US" sz="1500"/>
              <a:t>quảng cáo;</a:t>
            </a:r>
          </a:p>
          <a:p>
            <a:r>
              <a:rPr lang="en-US" sz="1500"/>
              <a:t>- Phần địa chỉ người nhận: Thông thường có rất nhiều địa chỉ người nhận được</a:t>
            </a:r>
            <a:r>
              <a:rPr lang="vi-VN" altLang="en-US" sz="1500"/>
              <a:t> </a:t>
            </a:r>
            <a:r>
              <a:rPr lang="en-US" sz="1500"/>
              <a:t>gửi cùng một lúc;</a:t>
            </a:r>
          </a:p>
          <a:p>
            <a:r>
              <a:rPr lang="en-US" sz="1500"/>
              <a:t>- Thường có phần hướng dẫn chuyển tiếp thông tin sang cho một người nhận</a:t>
            </a:r>
            <a:r>
              <a:rPr lang="vi-VN" altLang="en-US" sz="1500"/>
              <a:t> </a:t>
            </a:r>
            <a:r>
              <a:rPr lang="en-US" sz="1500"/>
              <a:t>thứ 3;</a:t>
            </a:r>
          </a:p>
          <a:p>
            <a:r>
              <a:rPr lang="en-US" sz="1500"/>
              <a:t>- Có phần thông tin liên hệ về nhà cung cấp sản phẩm, dịch vụ (họ tên người</a:t>
            </a:r>
            <a:r>
              <a:rPr lang="vi-VN" altLang="en-US" sz="1500"/>
              <a:t> </a:t>
            </a:r>
            <a:r>
              <a:rPr lang="en-US" sz="1500"/>
              <a:t>liên hệ, số điện thoại, email liên hệ);</a:t>
            </a:r>
          </a:p>
          <a:p>
            <a:r>
              <a:rPr lang="en-US" sz="1500"/>
              <a:t>- Thông tin về nhà cung cấp dịch vụ quảng cáo bằng Email;</a:t>
            </a:r>
          </a:p>
          <a:p>
            <a:r>
              <a:rPr lang="en-US" sz="1500"/>
              <a:t>- Có hoặc không có phần thông tin từ chối nhận quảng cáo.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5. Cá độ, đánh bạc trực tuyến trên mạng</a:t>
            </a:r>
          </a:p>
          <a:p>
            <a:r>
              <a:rPr lang="en-US"/>
              <a:t>Đây là hành vi sử dụng Internet để trao đổi thông tin, cá độ các trận bóng đá</a:t>
            </a:r>
            <a:r>
              <a:rPr lang="vi-VN" altLang="en-US"/>
              <a:t> </a:t>
            </a:r>
            <a:r>
              <a:rPr lang="en-US"/>
              <a:t>hoặc đánh bạc trên mạng.</a:t>
            </a:r>
          </a:p>
          <a:p>
            <a:r>
              <a:rPr lang="en-US"/>
              <a:t>Điển hình như vụ do Nguyễn Anh Tuấn, Lê Thị Thảo và Nguyễn Đức Vượng</a:t>
            </a:r>
            <a:r>
              <a:rPr lang="vi-VN" altLang="en-US"/>
              <a:t> </a:t>
            </a:r>
            <a:r>
              <a:rPr lang="en-US"/>
              <a:t>thường trú ở Hà Nội thực hiện. Số tiền mà các đối tượng sử dụng để đánh bạc và cá độ</a:t>
            </a:r>
            <a:r>
              <a:rPr lang="vi-VN" altLang="en-US"/>
              <a:t> </a:t>
            </a:r>
            <a:r>
              <a:rPr lang="en-US"/>
              <a:t>lên đến 30 tỉ đồng/tháng.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200"/>
              <a:t>6. Mua bán chuyển nhượng tên miền, địa chỉ Internet Việt Nam</a:t>
            </a:r>
          </a:p>
          <a:p>
            <a:r>
              <a:rPr lang="en-US" sz="2200"/>
              <a:t>- Vụ do Nguyễn Hoàng Hải ở Trần Phú – Tx Hà Giang thực hiện. Đối tượng đã</a:t>
            </a:r>
            <a:r>
              <a:rPr lang="vi-VN" altLang="en-US" sz="2200"/>
              <a:t> </a:t>
            </a:r>
            <a:r>
              <a:rPr lang="en-US" sz="2200"/>
              <a:t>đăng ký tên miền nhanhoa.com.vn tại Trung tâm Internet Việt Nam. Sau đó đề nghị</a:t>
            </a:r>
            <a:r>
              <a:rPr lang="vi-VN" altLang="en-US" sz="2200"/>
              <a:t> </a:t>
            </a:r>
            <a:r>
              <a:rPr lang="en-US" sz="2200"/>
              <a:t>Công ty TNHH phần mềm Nhân Hoà ở số 48 Ngõ 26 Nguyên Hồng – Hà Nội mua lại</a:t>
            </a:r>
            <a:r>
              <a:rPr lang="vi-VN" altLang="en-US" sz="2200"/>
              <a:t> </a:t>
            </a:r>
            <a:r>
              <a:rPr lang="en-US" sz="2200"/>
              <a:t>nhưng không được chấp nhận. Bán không được , Hải đã đề nghị Công ty Nhân Hoà</a:t>
            </a:r>
            <a:r>
              <a:rPr lang="vi-VN" altLang="en-US" sz="2200"/>
              <a:t> </a:t>
            </a:r>
            <a:r>
              <a:rPr lang="en-US" sz="2200"/>
              <a:t>bán cho Hải 500 tên miền dùng chung (tên miền.com,.net,.info,.org...), đổi lại Hải sẽ</a:t>
            </a:r>
            <a:r>
              <a:rPr lang="vi-VN" altLang="en-US" sz="2200"/>
              <a:t> </a:t>
            </a:r>
            <a:r>
              <a:rPr lang="en-US" sz="2200"/>
              <a:t>chuyển nhượng lại tên miền nhanhoa.com.vn để công ty Nhân Hoà sử dụng. Hành vi</a:t>
            </a:r>
            <a:r>
              <a:rPr lang="vi-VN" altLang="en-US" sz="2200"/>
              <a:t> </a:t>
            </a:r>
            <a:r>
              <a:rPr lang="en-US" sz="2200"/>
              <a:t>của Hải đã bị xử phạt 3.000.000 đồng và bị thu hồi 02 tên miền nhanhoa.com.vn và tên</a:t>
            </a:r>
            <a:r>
              <a:rPr lang="vi-VN" altLang="en-US" sz="2200"/>
              <a:t> </a:t>
            </a:r>
            <a:r>
              <a:rPr lang="en-US" sz="2200"/>
              <a:t>miền wto.com.vn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200"/>
              <a:t>- Vụ do Đỗ Tuyển và Trương Phi Cường thực hiện, hai đối tượng đã đăng ký sử</a:t>
            </a:r>
            <a:r>
              <a:rPr lang="vi-VN" altLang="en-US" sz="2200"/>
              <a:t> </a:t>
            </a:r>
            <a:r>
              <a:rPr lang="en-US" sz="2200"/>
              <a:t>dụng hai tên miền vietnamwork.com.vn và tên miền vietnamworks.com.vn là hai tên</a:t>
            </a:r>
            <a:r>
              <a:rPr lang="vi-VN" altLang="en-US" sz="2200"/>
              <a:t> </a:t>
            </a:r>
            <a:r>
              <a:rPr lang="en-US" sz="2200"/>
              <a:t>miền đã được văn phòng đại diện Management Consulting Group đăng ký sử dụng từ</a:t>
            </a:r>
            <a:r>
              <a:rPr lang="vi-VN" altLang="en-US" sz="2200"/>
              <a:t> </a:t>
            </a:r>
            <a:r>
              <a:rPr lang="en-US" sz="2200"/>
              <a:t>trước nhưng do chưa kịp đóng tiền duy trì tên miền nên bị thu hồi. Hai đối tượng thoả</a:t>
            </a:r>
            <a:r>
              <a:rPr lang="vi-VN" altLang="en-US" sz="2200"/>
              <a:t> </a:t>
            </a:r>
            <a:r>
              <a:rPr lang="en-US" sz="2200"/>
              <a:t>thuận với Văn phòng với giá 10.000 USD để được sử dụng lại 02 tên miền đó. Thanh</a:t>
            </a:r>
            <a:r>
              <a:rPr lang="vi-VN" altLang="en-US" sz="2200"/>
              <a:t> </a:t>
            </a:r>
            <a:r>
              <a:rPr lang="en-US" sz="2200"/>
              <a:t>tra Bộ đề nghị Trung tâm Internet Việt Nam thu hồ và cấp lại cho Văn phong đại diện</a:t>
            </a:r>
            <a:r>
              <a:rPr lang="vi-VN" altLang="en-US" sz="2200"/>
              <a:t> </a:t>
            </a:r>
            <a:r>
              <a:rPr lang="en-US" sz="2200"/>
              <a:t>Management Consulting Group.</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7. Phát tán thông tin của tổ chức, cá nhân lên mạng trái quy định của pháp</a:t>
            </a:r>
            <a:r>
              <a:rPr lang="vi-VN" altLang="en-US"/>
              <a:t> </a:t>
            </a:r>
            <a:r>
              <a:rPr lang="en-US"/>
              <a:t>luật</a:t>
            </a:r>
          </a:p>
          <a:p>
            <a:r>
              <a:rPr lang="en-US"/>
              <a:t>Điển hình là vụ Tổng Công ty Bia, nước giải khát Hà Nội bị đối tượng xấu tự</a:t>
            </a:r>
            <a:r>
              <a:rPr lang="vi-VN" altLang="en-US"/>
              <a:t> </a:t>
            </a:r>
            <a:r>
              <a:rPr lang="en-US"/>
              <a:t>lập website www.habecovn.com (Habeco là tên giao dịch của Tổng công ty Bia, Rượu,</a:t>
            </a:r>
            <a:r>
              <a:rPr lang="vi-VN" altLang="en-US"/>
              <a:t> </a:t>
            </a:r>
            <a:r>
              <a:rPr lang="en-US"/>
              <a:t>Nước giải khát Hà Nội), sau đó đối tượng đưa thông tin cá nhân của cán bộ thuộc</a:t>
            </a:r>
            <a:r>
              <a:rPr lang="vi-VN" altLang="en-US"/>
              <a:t> </a:t>
            </a:r>
            <a:r>
              <a:rPr lang="en-US"/>
              <a:t>Tổng công ty Bia, Rượu, Nước giải khát Hà Nội lên Internet trái phép.</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1800"/>
              <a:t>8. Vi phạm bản quyền phần mềm máy tính</a:t>
            </a:r>
          </a:p>
          <a:p>
            <a:pPr marL="0" indent="0">
              <a:buNone/>
            </a:pPr>
            <a:r>
              <a:rPr lang="en-US" sz="1800"/>
              <a:t>Công ty Daewoo-Hanel (Sài Đồng, Hà Nội) sử dụng nhiều phần mềm vi phạm</a:t>
            </a:r>
            <a:r>
              <a:rPr lang="vi-VN" altLang="en-US" sz="1800"/>
              <a:t> </a:t>
            </a:r>
            <a:r>
              <a:rPr lang="en-US" sz="1800"/>
              <a:t>bản quyền đang được sử dụng, với trị giá ước tính gần 1 tỷ đồng;</a:t>
            </a:r>
          </a:p>
          <a:p>
            <a:pPr marL="0" indent="0">
              <a:buNone/>
            </a:pPr>
            <a:r>
              <a:rPr lang="en-US" sz="1800"/>
              <a:t>Công ty TNHH Nhà máy tàu biển Huyndai - Vinashin sử dụng 191 máy tính và</a:t>
            </a:r>
            <a:r>
              <a:rPr lang="vi-VN" altLang="en-US" sz="1800"/>
              <a:t> </a:t>
            </a:r>
            <a:r>
              <a:rPr lang="en-US" sz="1800"/>
              <a:t>phát hiện có sao chép, cài đặt, sử dụng một số chương trình phần mềm không có bản</a:t>
            </a:r>
            <a:r>
              <a:rPr lang="vi-VN" altLang="en-US" sz="1800"/>
              <a:t> </a:t>
            </a:r>
            <a:r>
              <a:rPr lang="en-US" sz="1800"/>
              <a:t>quyền;</a:t>
            </a:r>
          </a:p>
          <a:p>
            <a:pPr marL="0" indent="0">
              <a:buNone/>
            </a:pPr>
            <a:r>
              <a:rPr lang="en-US" sz="1800"/>
              <a:t>Công ty Cổ phần thế giới số (Digi World, trụ sở tại 213 Võ Văn Tần, phường 5,</a:t>
            </a:r>
            <a:r>
              <a:rPr lang="vi-VN" altLang="en-US" sz="1800"/>
              <a:t> </a:t>
            </a:r>
            <a:r>
              <a:rPr lang="en-US" sz="1800"/>
              <a:t>quận 3, TPHCM) sử dụng 60 máy tính có cài đặt các phần mềm không có bản quyền.</a:t>
            </a:r>
          </a:p>
          <a:p>
            <a:pPr marL="0" indent="0">
              <a:buNone/>
            </a:pPr>
            <a:r>
              <a:rPr lang="en-US" sz="1800"/>
              <a:t>Công ty Apave Vietnam &amp; Southeast Asia - một công ty 100% vốn nước ngoài</a:t>
            </a:r>
            <a:r>
              <a:rPr lang="vi-VN" altLang="en-US" sz="1800"/>
              <a:t> </a:t>
            </a:r>
            <a:r>
              <a:rPr lang="en-US" sz="1800"/>
              <a:t>hoạt động trong lĩnh vực tư vấn thiết kế, giám sát thi công, có trụ sở tại 147 đường</a:t>
            </a:r>
            <a:r>
              <a:rPr lang="vi-VN" altLang="en-US" sz="1800"/>
              <a:t> </a:t>
            </a:r>
            <a:r>
              <a:rPr lang="en-US" sz="1800"/>
              <a:t>Hoàng Quốc Việt, (Hà Nội), sử dụng 31 máy tính có cài đặt: Bộ gõ Vietkey, Microsoft</a:t>
            </a:r>
          </a:p>
          <a:p>
            <a:pPr marL="0" indent="0">
              <a:buNone/>
            </a:pPr>
            <a:r>
              <a:rPr lang="en-US" sz="1800"/>
              <a:t>Window XP, Microsoft Office và các phần mềm chuyên dụng như AutoCAD, ACD</a:t>
            </a:r>
            <a:r>
              <a:rPr lang="vi-VN" altLang="en-US" sz="1800"/>
              <a:t> </a:t>
            </a:r>
            <a:r>
              <a:rPr lang="en-US" sz="1800"/>
              <a:t>See, Lạc Việt từ điển không có bản quyền;</a:t>
            </a:r>
          </a:p>
          <a:p>
            <a:pPr marL="0" indent="0">
              <a:buNone/>
            </a:pPr>
            <a:r>
              <a:rPr lang="en-US" sz="1800"/>
              <a:t>Công ty phụ tùng xe máy ô tô Goshi Thăng Long (khu công nghiệp Sài Đồng,</a:t>
            </a:r>
          </a:p>
          <a:p>
            <a:pPr marL="0" indent="0">
              <a:buNone/>
            </a:pPr>
            <a:r>
              <a:rPr lang="en-US" sz="1800"/>
              <a:t>Long Biên, Hà Nội) sử dụng 37 máy tính sử dụng các phần mềm không có bản quyền;</a:t>
            </a:r>
          </a:p>
          <a:p>
            <a:pPr marL="0" indent="0">
              <a:buNone/>
            </a:pPr>
            <a:r>
              <a:rPr lang="en-US" sz="1800"/>
              <a:t>Công ty TNHH đầu tư và phát triển công nghệ Nguyễn Hoàng (207/3 Nguyễn</a:t>
            </a:r>
          </a:p>
          <a:p>
            <a:pPr marL="0" indent="0">
              <a:buNone/>
            </a:pPr>
            <a:r>
              <a:rPr lang="en-US" sz="1800"/>
              <a:t>Văn Thủ, TP HCM) với 27 máy tính;</a:t>
            </a:r>
          </a:p>
          <a:p>
            <a:pPr marL="0" indent="0">
              <a:buNone/>
            </a:pPr>
            <a:r>
              <a:rPr lang="en-US" sz="1800"/>
              <a:t>Công ty Nguyễn Kim (63-65 Trần Hưng Đạo, TP HCM) với 93 máy tính.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1800"/>
              <a:t>9. Sử dụng tên miền, địa chỉ Internet để truyền bá nội dung đồi truỵ</a:t>
            </a:r>
          </a:p>
          <a:p>
            <a:pPr marL="0" indent="0">
              <a:buNone/>
            </a:pPr>
            <a:r>
              <a:rPr lang="en-US" sz="1800"/>
              <a:t>Vụ Vũ Thái Hà đăng tải nội dung đồi trụy lên website có tên miền Việt Nam:</a:t>
            </a:r>
            <a:r>
              <a:rPr lang="vi-VN" altLang="en-US" sz="1800"/>
              <a:t> </a:t>
            </a:r>
            <a:r>
              <a:rPr lang="en-US" sz="1800"/>
              <a:t>www.000.com.vn. Mục đích đăng ký sử dụng tên miền này là nhằm triẻn khai thưong</a:t>
            </a:r>
            <a:r>
              <a:rPr lang="vi-VN" altLang="en-US" sz="1800"/>
              <a:t> </a:t>
            </a:r>
            <a:r>
              <a:rPr lang="en-US" sz="1800"/>
              <a:t>mại điện tử. Tuy nhiên, Hà đã đưa nhiều hình ảnh đồi truỵ lên website này, khi bị xử</a:t>
            </a:r>
            <a:r>
              <a:rPr lang="vi-VN" altLang="en-US" sz="1800"/>
              <a:t> </a:t>
            </a:r>
            <a:r>
              <a:rPr lang="en-US" sz="1800"/>
              <a:t>lý, Hà khai là do Hacker tấn công, thay đổi nội dung website. Thanh tra Bộ VHTT đã</a:t>
            </a:r>
            <a:r>
              <a:rPr lang="vi-VN" altLang="en-US" sz="1800"/>
              <a:t> </a:t>
            </a:r>
            <a:r>
              <a:rPr lang="en-US" sz="1800"/>
              <a:t>xử phạt Vũ Thái Hà 10 triệu đồng về hành vi đưa thông tin đồi truỵ lên Internet và</a:t>
            </a:r>
            <a:r>
              <a:rPr lang="vi-VN" altLang="en-US" sz="1800"/>
              <a:t> </a:t>
            </a:r>
            <a:r>
              <a:rPr lang="en-US" sz="1800"/>
              <a:t>Thanh tra Bộ BCVT đã xử phạt 3 triệu đồng về hành vi sử dụng tên miền để truyền bá</a:t>
            </a:r>
            <a:r>
              <a:rPr lang="vi-VN" altLang="en-US" sz="1800"/>
              <a:t> </a:t>
            </a:r>
            <a:r>
              <a:rPr lang="en-US" sz="1800"/>
              <a:t>văn hoá phẩm đồi truỵ vi phạm vào Điều 41 khoản 3 điểm c của Nghị định số</a:t>
            </a:r>
          </a:p>
          <a:p>
            <a:pPr marL="0" indent="0">
              <a:buNone/>
            </a:pPr>
            <a:r>
              <a:rPr lang="en-US" sz="1800"/>
              <a:t>55/2001/NĐ-CP ngày 23/8/2001 của Chính phủ về quản lý, cung cấp và sử dụng dịch</a:t>
            </a:r>
            <a:r>
              <a:rPr lang="vi-VN" altLang="en-US" sz="1800"/>
              <a:t> </a:t>
            </a:r>
            <a:r>
              <a:rPr lang="en-US" sz="1800"/>
              <a:t>vụ Internet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a:t>10. Làm thẻ giả ATM</a:t>
            </a:r>
          </a:p>
          <a:p>
            <a:pPr marL="0" indent="0">
              <a:buNone/>
            </a:pPr>
            <a:r>
              <a:rPr lang="en-US"/>
              <a:t>Đây là hành vi làm thẻ ATM giả để ăn cắp tiền từ các máy rút tiền tự động. Để</a:t>
            </a:r>
          </a:p>
          <a:p>
            <a:pPr marL="0" indent="0">
              <a:buNone/>
            </a:pPr>
            <a:r>
              <a:rPr lang="en-US"/>
              <a:t>thực hiện được hành vi này, đối tượng Nguyễn Lê Việt cùng vợ là Nguyễn Lê Thuý</a:t>
            </a:r>
            <a:r>
              <a:rPr lang="vi-VN" altLang="en-US"/>
              <a:t> </a:t>
            </a:r>
            <a:r>
              <a:rPr lang="en-US"/>
              <a:t>Mai (23 tuổi), đều trú tại Lò Đúc Hà Nội thực hiện. Việt cùng Mai đã lưu thông tin của</a:t>
            </a:r>
            <a:r>
              <a:rPr lang="vi-VN" altLang="en-US"/>
              <a:t> </a:t>
            </a:r>
            <a:r>
              <a:rPr lang="en-US"/>
              <a:t>khách hàng ngân hàng ECOMBANK và ngân hàng ACB, sau đó làm giả thẻ lấy cắp</a:t>
            </a:r>
            <a:r>
              <a:rPr lang="vi-VN" altLang="en-US"/>
              <a:t> </a:t>
            </a:r>
            <a:r>
              <a:rPr lang="en-US"/>
              <a:t>tiền của khách hàng.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200"/>
              <a:t>11. Ăn cắp tài khoản, thẻ tín dụng điện tử</a:t>
            </a:r>
          </a:p>
          <a:p>
            <a:pPr marL="0" indent="0">
              <a:buNone/>
            </a:pPr>
            <a:r>
              <a:rPr lang="vi-VN" altLang="en-US" sz="2200"/>
              <a:t>	</a:t>
            </a:r>
            <a:r>
              <a:rPr lang="en-US" sz="2200"/>
              <a:t>Đây là hành vi ăn cắp tài khoản, thẻ tín dụng điện tử (ACC – Account hoặc CCCredit Card) của các cá nhân ở nước ngoài để mua hàng ở nước ngoài chuyển về Việt</a:t>
            </a:r>
            <a:r>
              <a:rPr lang="vi-VN" altLang="en-US" sz="2200"/>
              <a:t> </a:t>
            </a:r>
            <a:r>
              <a:rPr lang="en-US" sz="2200"/>
              <a:t>Nam hoặc sau đó làm thẻ ATM giả để rút tiền</a:t>
            </a:r>
          </a:p>
          <a:p>
            <a:pPr marL="0" indent="0">
              <a:buNone/>
            </a:pPr>
            <a:r>
              <a:rPr lang="vi-VN" altLang="en-US" sz="2200"/>
              <a:t>	</a:t>
            </a:r>
            <a:r>
              <a:rPr lang="en-US" sz="2200"/>
              <a:t>Điển hình là vụ do Nguyễn Đình Cường, Sn 1986, thường trú tại TP Hồ Chí</a:t>
            </a:r>
            <a:r>
              <a:rPr lang="vi-VN" altLang="en-US" sz="2200"/>
              <a:t> </a:t>
            </a:r>
            <a:r>
              <a:rPr lang="en-US" sz="2200"/>
              <a:t>Minh. Cường đã ăn cắp ACC và CC ở nước ngoài, tham gia đường dây làm thẻ ATM</a:t>
            </a:r>
            <a:r>
              <a:rPr lang="vi-VN" altLang="en-US" sz="2200"/>
              <a:t> </a:t>
            </a:r>
            <a:r>
              <a:rPr lang="en-US" sz="2200"/>
              <a:t>ăn cắp tiền nước ngoài, sau đó chính Cường đã mua máy làm thẻ ATM ở nước ngoài</a:t>
            </a:r>
            <a:r>
              <a:rPr lang="vi-VN" altLang="en-US" sz="2200"/>
              <a:t> </a:t>
            </a:r>
            <a:r>
              <a:rPr lang="en-US" sz="2200"/>
              <a:t>và rút tiền của người nước ngoài. Lần rút tiền nhiều nhất mà Cường thực hiện là 01 tỉ</a:t>
            </a:r>
            <a:r>
              <a:rPr lang="vi-VN" altLang="en-US" sz="2200"/>
              <a:t> </a:t>
            </a:r>
            <a:r>
              <a:rPr lang="en-US" sz="2200"/>
              <a:t>đồng.</a:t>
            </a:r>
          </a:p>
          <a:p>
            <a:pPr marL="0" indent="0">
              <a:buNone/>
            </a:pPr>
            <a:endParaRPr lang="en-US" sz="22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2200"/>
              <a:t>12. Lưu trữ thông tin số nhằm mục đích xúc phạm nhân phẩm, danh dự của</a:t>
            </a:r>
            <a:r>
              <a:rPr lang="vi-VN" altLang="en-US" sz="2200"/>
              <a:t> </a:t>
            </a:r>
            <a:r>
              <a:rPr lang="en-US" sz="2200"/>
              <a:t>cá nhân</a:t>
            </a:r>
          </a:p>
          <a:p>
            <a:pPr marL="0" indent="0">
              <a:buNone/>
            </a:pPr>
            <a:r>
              <a:rPr lang="en-US" sz="2200"/>
              <a:t>Đây là hành vi vi phạm do Công ty cổ phần truyền thông Tinh Vân thực hiện.</a:t>
            </a:r>
          </a:p>
          <a:p>
            <a:pPr marL="0" indent="0">
              <a:buNone/>
            </a:pPr>
            <a:r>
              <a:rPr lang="en-US" sz="2200"/>
              <a:t>Công ty đã thiết lập trang web cung cấp dịch vụ tìm kiếm thông tin trên mạng sử dụng</a:t>
            </a:r>
            <a:r>
              <a:rPr lang="vi-VN" altLang="en-US" sz="2200"/>
              <a:t> </a:t>
            </a:r>
            <a:r>
              <a:rPr lang="en-US" sz="2200"/>
              <a:t>tên miền xalo.com.vn và tên miền xalo.vn. Để cung cấp dịch vụ, công ty đã thiết lập hệ</a:t>
            </a:r>
            <a:r>
              <a:rPr lang="vi-VN" altLang="en-US" sz="2200"/>
              <a:t> </a:t>
            </a:r>
            <a:r>
              <a:rPr lang="en-US" sz="2200"/>
              <a:t>thống máy chủ nhằm lưu trữ thông tin số của các website, blog, hình ảnh... mà hệ</a:t>
            </a:r>
            <a:r>
              <a:rPr lang="vi-VN" altLang="en-US" sz="2200"/>
              <a:t> </a:t>
            </a:r>
            <a:r>
              <a:rPr lang="en-US" sz="2200"/>
              <a:t>thống tìm kiếm tìm thấy trên Internet. Việc tìm kiếm thông tin trên Internet thực tế là</a:t>
            </a:r>
            <a:r>
              <a:rPr lang="vi-VN" altLang="en-US" sz="2200"/>
              <a:t> </a:t>
            </a:r>
            <a:r>
              <a:rPr lang="en-US" sz="2200"/>
              <a:t>được tìm kiếm trong chính máy chủ của Công ty Tin</a:t>
            </a:r>
            <a:r>
              <a:rPr lang="vi-VN" altLang="en-US" sz="2200"/>
              <a:t>h</a:t>
            </a:r>
            <a:r>
              <a:rPr lang="en-US" sz="2200"/>
              <a:t> Vân. Trong đó có thông tin nói</a:t>
            </a:r>
          </a:p>
          <a:p>
            <a:pPr marL="0" indent="0">
              <a:buNone/>
            </a:pPr>
            <a:r>
              <a:rPr lang="en-US" sz="2200"/>
              <a:t>xấu, bôi nhọ </a:t>
            </a:r>
            <a:r>
              <a:rPr lang="vi-VN" altLang="en-US" sz="2200"/>
              <a:t>cá nhân </a:t>
            </a:r>
            <a:r>
              <a:rPr lang="en-US" sz="2200"/>
              <a:t>trên một số blog. Hành vi này của Công ty Tinh</a:t>
            </a:r>
            <a:r>
              <a:rPr lang="vi-VN" altLang="en-US" sz="2200"/>
              <a:t> </a:t>
            </a:r>
            <a:r>
              <a:rPr lang="en-US" sz="2200"/>
              <a:t>Vân đã bị xử phạt với mức phạt là 10 triệu đồng.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200"/>
              <a:t>13. Hành vi vi phạm bản quyền tác giả thông tin số</a:t>
            </a:r>
          </a:p>
          <a:p>
            <a:pPr marL="0" indent="0">
              <a:buNone/>
            </a:pPr>
            <a:r>
              <a:rPr lang="en-US" sz="2200"/>
              <a:t>Đây là hành vi vi phạm do Công ty Cổ phần Trò chơi trực tuyến Việt Nam</a:t>
            </a:r>
            <a:r>
              <a:rPr lang="vi-VN" altLang="en-US" sz="2200"/>
              <a:t> </a:t>
            </a:r>
            <a:r>
              <a:rPr lang="en-US" sz="2200"/>
              <a:t>(Vinagame) và Công ty cổ phần Công Nghệ Thông Tin NAISCORP thực hiện. Hai</a:t>
            </a:r>
            <a:r>
              <a:rPr lang="vi-VN" altLang="en-US" sz="2200"/>
              <a:t> </a:t>
            </a:r>
            <a:r>
              <a:rPr lang="en-US" sz="2200"/>
              <a:t>Công ty này đã cho phép tìm kiếm và download trực tiếp các bài hát nước ngoài từ</a:t>
            </a:r>
            <a:r>
              <a:rPr lang="vi-VN" altLang="en-US" sz="2200"/>
              <a:t> </a:t>
            </a:r>
            <a:r>
              <a:rPr lang="en-US" sz="2200"/>
              <a:t>trên máy chủ cung cấp dịch vụ của công ty thông qua dịch vụ tìm kiếm tại trang web</a:t>
            </a:r>
            <a:r>
              <a:rPr lang="vi-VN" altLang="en-US" sz="2200"/>
              <a:t> </a:t>
            </a:r>
            <a:r>
              <a:rPr lang="en-US" sz="2200"/>
              <a:t>sử dụng tên miền zing.com.vn (Vinagame), tên miền socbay.com (Naiscorp). Tuy</a:t>
            </a:r>
            <a:r>
              <a:rPr lang="vi-VN" altLang="en-US" sz="2200"/>
              <a:t> </a:t>
            </a:r>
            <a:r>
              <a:rPr lang="en-US" sz="2200"/>
              <a:t>nhiên, hai công ty đã có nhận thức rất tốt đối với hành vi của mình. Trước khi bị phát</a:t>
            </a:r>
            <a:r>
              <a:rPr lang="vi-VN" altLang="en-US" sz="2200"/>
              <a:t> </a:t>
            </a:r>
            <a:r>
              <a:rPr lang="en-US" sz="2200"/>
              <a:t>hiện, hai công ty đã chủ động làm việc với Hội nhạc sỹ Việt Nam để đăng ký bản</a:t>
            </a:r>
            <a:r>
              <a:rPr lang="vi-VN" altLang="en-US" sz="2200"/>
              <a:t> </a:t>
            </a:r>
            <a:r>
              <a:rPr lang="en-US" sz="2200"/>
              <a:t>quyền đối với các tác phẩm âm nhạc Việt Nam và thông qua đối tác nước ngoài để</a:t>
            </a:r>
            <a:r>
              <a:rPr lang="vi-VN" altLang="en-US" sz="2200"/>
              <a:t> </a:t>
            </a:r>
            <a:r>
              <a:rPr lang="en-US" sz="2200"/>
              <a:t>đăng ký bản quyền các tác phẩm âm nhạc nước ngoài nhưng chưa nhận được ý kiến trả</a:t>
            </a:r>
            <a:r>
              <a:rPr lang="vi-VN" altLang="en-US" sz="2200"/>
              <a:t> </a:t>
            </a:r>
            <a:r>
              <a:rPr lang="en-US" sz="2200"/>
              <a:t>lời của phía nước ngoài. Hai Công ty đã bị xử phạt cảnh cáo và yêu cầu gỡ bở các bài</a:t>
            </a:r>
            <a:r>
              <a:rPr lang="vi-VN" altLang="en-US" sz="2200"/>
              <a:t> </a:t>
            </a:r>
            <a:r>
              <a:rPr lang="en-US" sz="2200"/>
              <a:t>hát nước ngoài ra khỏi danh mục tìm kiếm, cung cấp thông tin cho khách hàng.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p:cNvSpPr>
          <p:nvPr>
            <p:ph type="title"/>
          </p:nvPr>
        </p:nvSpPr>
        <p:spPr/>
        <p:txBody>
          <a:bodyPr vert="horz" wrap="square" lIns="91440" tIns="45720" rIns="91440" bIns="45720" anchor="ctr" anchorCtr="0"/>
          <a:lstStyle/>
          <a:p>
            <a:pPr eaLnBrk="1" hangingPunct="1"/>
            <a:r>
              <a:rPr lang="en-US" altLang="en-US" dirty="0"/>
              <a:t>Chương 2</a:t>
            </a:r>
          </a:p>
        </p:txBody>
      </p:sp>
      <p:sp>
        <p:nvSpPr>
          <p:cNvPr id="10242" name="Rectangle 3"/>
          <p:cNvSpPr>
            <a:spLocks noGrp="1"/>
          </p:cNvSpPr>
          <p:nvPr>
            <p:ph idx="1"/>
          </p:nvPr>
        </p:nvSpPr>
        <p:spPr>
          <a:xfrm>
            <a:off x="179388" y="1392238"/>
            <a:ext cx="8785225" cy="4852987"/>
          </a:xfrm>
        </p:spPr>
        <p:txBody>
          <a:bodyPr vert="horz" wrap="square" lIns="91440" tIns="45720" rIns="91440" bIns="45720" anchor="t" anchorCtr="0"/>
          <a:lstStyle/>
          <a:p>
            <a:pPr algn="just"/>
            <a:r>
              <a:rPr lang="vi-VN" altLang="en-US" dirty="0">
                <a:latin typeface="Times New Roman" panose="02020603050405020304" pitchFamily="18" charset="0"/>
              </a:rPr>
              <a:t>Chương II. Ứng dụng công nghệ thông tin - Tóm tắt</a:t>
            </a:r>
          </a:p>
          <a:p>
            <a:pPr algn="just"/>
            <a:r>
              <a:rPr lang="vi-VN" altLang="en-US" b="0" dirty="0">
                <a:latin typeface="Times New Roman" panose="02020603050405020304" pitchFamily="18" charset="0"/>
              </a:rPr>
              <a:t> gồm 24 điều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được quy định th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nh 4 mục.</a:t>
            </a:r>
          </a:p>
          <a:p>
            <a:r>
              <a:rPr lang="vi-VN" altLang="en-US" b="0" dirty="0">
                <a:latin typeface="Times New Roman" panose="02020603050405020304" pitchFamily="18" charset="0"/>
              </a:rPr>
              <a:t>Mục 1 quy định những vấn đề chung nhất về ứng dụng công nghệ thông tin trên môi trường mạng. Mục 2, mục 3 quy định cụ thể về ứng dụng công nghệ thông tin trong hoạt động của cơ quan nh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nước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trong thương mại vì đây l</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hai nội dung trọng tâm nhằm thúc đẩy hoạt động ứng dụng công nghệ thông tin. Mục 4 quy định về ứng dụng công nghệ thông tin trong một số lĩnh vực như giáo dục- đ</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o tạo, y tế, văn hóa thông tin, quốc phòng, an ninh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một số lĩnh vực khác.</a:t>
            </a:r>
            <a:br>
              <a:rPr lang="en-US" altLang="en-US" dirty="0">
                <a:latin typeface="Times New Roman" panose="02020603050405020304" pitchFamily="18" charset="0"/>
              </a:rPr>
            </a:br>
            <a:endParaRPr lang="en-US" altLang="en-US" dirty="0">
              <a:latin typeface="Times New Roman" panose="02020603050405020304" pitchFamily="18" charset="0"/>
            </a:endParaRPr>
          </a:p>
          <a:p>
            <a:pPr lvl="1" algn="just" eaLnBrk="1" hangingPunct="1">
              <a:lnSpc>
                <a:spcPct val="80000"/>
              </a:lnSpc>
            </a:pP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a:t>Chương II</a:t>
            </a:r>
          </a:p>
          <a:p>
            <a:pPr marL="0" indent="0">
              <a:buNone/>
            </a:pPr>
            <a:r>
              <a:rPr lang="en-US"/>
              <a:t>ỨNG DỤNG CÔNG NGHỆ THÔNG TIN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a:sym typeface="+mn-ea"/>
              </a:rPr>
              <a:t>Mục 1  QUY ĐỊNH CHUNG VỀ ỨNG DỤNG CÔNG NGHỆ THÔNG TIN</a:t>
            </a:r>
          </a:p>
        </p:txBody>
      </p:sp>
      <p:sp>
        <p:nvSpPr>
          <p:cNvPr id="3" name="Content Placeholder 2"/>
          <p:cNvSpPr>
            <a:spLocks noGrp="1"/>
          </p:cNvSpPr>
          <p:nvPr>
            <p:ph idx="1"/>
          </p:nvPr>
        </p:nvSpPr>
        <p:spPr/>
        <p:txBody>
          <a:bodyPr/>
          <a:lstStyle/>
          <a:p>
            <a:r>
              <a:rPr lang="en-US" sz="1800"/>
              <a:t>Nguyên tắc chung về hoạt động ứng dụng công nghệ thông tin</a:t>
            </a:r>
            <a:r>
              <a:rPr lang="vi-VN" altLang="en-US" sz="1800"/>
              <a:t> (</a:t>
            </a:r>
            <a:r>
              <a:rPr lang="en-US" sz="1800">
                <a:sym typeface="+mn-ea"/>
              </a:rPr>
              <a:t>Điều 13</a:t>
            </a:r>
            <a:r>
              <a:rPr lang="vi-VN" altLang="en-US" sz="1800">
                <a:sym typeface="+mn-ea"/>
              </a:rPr>
              <a:t>)</a:t>
            </a:r>
            <a:endParaRPr lang="vi-VN" altLang="en-US" sz="1800"/>
          </a:p>
          <a:p>
            <a:r>
              <a:rPr lang="en-US" sz="1800"/>
              <a:t>Ưu tiên ứng dụng công nghệ thông tin trong trường hợp khẩn cấp</a:t>
            </a:r>
            <a:r>
              <a:rPr lang="vi-VN" altLang="en-US" sz="1800"/>
              <a:t> (</a:t>
            </a:r>
            <a:r>
              <a:rPr lang="en-US" sz="1800">
                <a:sym typeface="+mn-ea"/>
              </a:rPr>
              <a:t>Điều 14</a:t>
            </a:r>
            <a:r>
              <a:rPr lang="vi-VN" altLang="en-US" sz="1800">
                <a:sym typeface="+mn-ea"/>
              </a:rPr>
              <a:t>)</a:t>
            </a:r>
            <a:endParaRPr lang="vi-VN" altLang="en-US" sz="1800"/>
          </a:p>
          <a:p>
            <a:r>
              <a:rPr lang="en-US" sz="1800"/>
              <a:t>Quản lý và sử dụng thông tin số	</a:t>
            </a:r>
            <a:r>
              <a:rPr lang="vi-VN" altLang="en-US" sz="1800"/>
              <a:t>(</a:t>
            </a:r>
            <a:r>
              <a:rPr lang="en-US" sz="1800">
                <a:sym typeface="+mn-ea"/>
              </a:rPr>
              <a:t>Điều 15</a:t>
            </a:r>
            <a:r>
              <a:rPr lang="vi-VN" altLang="en-US" sz="1800">
                <a:sym typeface="+mn-ea"/>
              </a:rPr>
              <a:t>)</a:t>
            </a:r>
          </a:p>
          <a:p>
            <a:r>
              <a:rPr lang="en-US" sz="1800"/>
              <a:t>Truyền đưa thông tin số	</a:t>
            </a:r>
            <a:r>
              <a:rPr lang="vi-VN" altLang="en-US" sz="1800"/>
              <a:t>(</a:t>
            </a:r>
            <a:r>
              <a:rPr lang="en-US" sz="1800">
                <a:sym typeface="+mn-ea"/>
              </a:rPr>
              <a:t>Điều 16</a:t>
            </a:r>
            <a:r>
              <a:rPr lang="vi-VN" altLang="en-US" sz="1800">
                <a:sym typeface="+mn-ea"/>
              </a:rPr>
              <a:t>)</a:t>
            </a:r>
            <a:endParaRPr lang="en-US" sz="1800"/>
          </a:p>
          <a:p>
            <a:r>
              <a:rPr lang="en-US" sz="1800"/>
              <a:t>Lưu trữ tạm thời thông tin số	</a:t>
            </a:r>
            <a:r>
              <a:rPr lang="vi-VN" altLang="en-US" sz="1800"/>
              <a:t>(</a:t>
            </a:r>
            <a:r>
              <a:rPr lang="en-US" sz="1800">
                <a:sym typeface="+mn-ea"/>
              </a:rPr>
              <a:t>Điều 17</a:t>
            </a:r>
            <a:r>
              <a:rPr lang="vi-VN" altLang="en-US" sz="1800">
                <a:sym typeface="+mn-ea"/>
              </a:rPr>
              <a:t>)</a:t>
            </a:r>
            <a:endParaRPr lang="en-US" sz="1800"/>
          </a:p>
          <a:p>
            <a:r>
              <a:rPr lang="en-US" sz="1800"/>
              <a:t>Cho thuê chỗ lưu trữ thông tin số</a:t>
            </a:r>
            <a:r>
              <a:rPr lang="vi-VN" altLang="en-US" sz="1800"/>
              <a:t> (</a:t>
            </a:r>
            <a:r>
              <a:rPr lang="en-US" sz="1800">
                <a:sym typeface="+mn-ea"/>
              </a:rPr>
              <a:t>Điều 18</a:t>
            </a:r>
            <a:r>
              <a:rPr lang="vi-VN" altLang="en-US" sz="1800">
                <a:sym typeface="+mn-ea"/>
              </a:rPr>
              <a:t>)</a:t>
            </a:r>
            <a:endParaRPr lang="en-US" sz="1800"/>
          </a:p>
          <a:p>
            <a:r>
              <a:rPr lang="en-US" sz="1800"/>
              <a:t>Công cụ tìm kiếm thông tin số	</a:t>
            </a:r>
            <a:r>
              <a:rPr lang="vi-VN" altLang="en-US" sz="1800"/>
              <a:t>(</a:t>
            </a:r>
            <a:r>
              <a:rPr lang="en-US" sz="1800">
                <a:sym typeface="+mn-ea"/>
              </a:rPr>
              <a:t>Điều 19</a:t>
            </a:r>
            <a:r>
              <a:rPr lang="vi-VN" altLang="en-US" sz="1800">
                <a:sym typeface="+mn-ea"/>
              </a:rPr>
              <a:t>)</a:t>
            </a:r>
            <a:endParaRPr lang="en-US" sz="1800"/>
          </a:p>
          <a:p>
            <a:r>
              <a:rPr lang="en-US" sz="1800"/>
              <a:t>Theo dõi, giám sát nội dung thông tin số</a:t>
            </a:r>
            <a:r>
              <a:rPr lang="vi-VN" altLang="en-US" sz="1800"/>
              <a:t> (</a:t>
            </a:r>
            <a:r>
              <a:rPr lang="en-US" sz="1800">
                <a:sym typeface="+mn-ea"/>
              </a:rPr>
              <a:t>Điều 20</a:t>
            </a:r>
            <a:r>
              <a:rPr lang="vi-VN" altLang="en-US" sz="1800">
                <a:sym typeface="+mn-ea"/>
              </a:rPr>
              <a:t>)</a:t>
            </a:r>
            <a:endParaRPr lang="en-US" sz="1800"/>
          </a:p>
          <a:p>
            <a:r>
              <a:rPr lang="en-US" sz="1800"/>
              <a:t>Thu thập, xử lý và sử dụng thông tin cá nhân trên môi trường mạng</a:t>
            </a:r>
            <a:r>
              <a:rPr lang="vi-VN" altLang="en-US" sz="1800"/>
              <a:t> (</a:t>
            </a:r>
            <a:r>
              <a:rPr lang="en-US" sz="1800">
                <a:sym typeface="+mn-ea"/>
              </a:rPr>
              <a:t>Điều 21</a:t>
            </a:r>
            <a:r>
              <a:rPr lang="vi-VN" altLang="en-US" sz="1800">
                <a:sym typeface="+mn-ea"/>
              </a:rPr>
              <a:t>)</a:t>
            </a:r>
            <a:endParaRPr lang="en-US" sz="1800"/>
          </a:p>
          <a:p>
            <a:r>
              <a:rPr lang="en-US" sz="1800"/>
              <a:t>Lưu trữ, cung cấp thông tin cá nhân trên môi trường mạng</a:t>
            </a:r>
            <a:r>
              <a:rPr lang="vi-VN" altLang="en-US" sz="1800"/>
              <a:t> (</a:t>
            </a:r>
            <a:r>
              <a:rPr lang="en-US" sz="1800">
                <a:sym typeface="+mn-ea"/>
              </a:rPr>
              <a:t>Điều 22</a:t>
            </a:r>
            <a:r>
              <a:rPr lang="vi-VN" altLang="en-US" sz="1800">
                <a:sym typeface="+mn-ea"/>
              </a:rPr>
              <a:t>)</a:t>
            </a:r>
            <a:endParaRPr lang="en-US" sz="1800"/>
          </a:p>
          <a:p>
            <a:r>
              <a:rPr lang="en-US" sz="1800"/>
              <a:t>Thiết lập trang thông tin điện tử	</a:t>
            </a:r>
            <a:r>
              <a:rPr lang="vi-VN" altLang="en-US" sz="1800"/>
              <a:t>(</a:t>
            </a:r>
            <a:r>
              <a:rPr lang="en-US" sz="1800">
                <a:sym typeface="+mn-ea"/>
              </a:rPr>
              <a:t>Điều 23</a:t>
            </a:r>
            <a:r>
              <a:rPr lang="vi-VN" altLang="en-US" sz="1800">
                <a:sym typeface="+mn-ea"/>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type="title"/>
          </p:nvPr>
        </p:nvSpPr>
        <p:spPr/>
        <p:txBody>
          <a:bodyPr vert="horz" wrap="square" lIns="91440" tIns="45720" rIns="91440" bIns="45720" anchor="ctr" anchorCtr="0"/>
          <a:lstStyle/>
          <a:p>
            <a:pPr eaLnBrk="1" hangingPunct="1"/>
            <a:r>
              <a:rPr lang="en-US" altLang="en-US" dirty="0"/>
              <a:t>Chương 2</a:t>
            </a:r>
          </a:p>
        </p:txBody>
      </p:sp>
      <p:sp>
        <p:nvSpPr>
          <p:cNvPr id="11266" name="Rectangle 3"/>
          <p:cNvSpPr>
            <a:spLocks noGrp="1"/>
          </p:cNvSpPr>
          <p:nvPr>
            <p:ph idx="1"/>
          </p:nvPr>
        </p:nvSpPr>
        <p:spPr>
          <a:xfrm>
            <a:off x="179388" y="1392238"/>
            <a:ext cx="8713787" cy="4852987"/>
          </a:xfrm>
        </p:spPr>
        <p:txBody>
          <a:bodyPr vert="horz" wrap="square" lIns="91440" tIns="45720" rIns="91440" bIns="45720" anchor="t" anchorCtr="0"/>
          <a:lstStyle/>
          <a:p>
            <a:pPr marL="457200" lvl="1" indent="0" algn="just" eaLnBrk="1" hangingPunct="1">
              <a:lnSpc>
                <a:spcPct val="80000"/>
              </a:lnSpc>
              <a:buNone/>
            </a:pPr>
            <a:r>
              <a:rPr lang="vi-VN" altLang="en-US" b="1" dirty="0">
                <a:solidFill>
                  <a:srgbClr val="FF0000"/>
                </a:solidFill>
                <a:latin typeface="Times New Roman" panose="02020603050405020304" pitchFamily="18" charset="0"/>
              </a:rPr>
              <a:t>Mục 1. Quy định chung về ứng dụng công nghệ thông tin </a:t>
            </a:r>
            <a:endParaRPr lang="en-US" altLang="en-US" dirty="0">
              <a:latin typeface="Times New Roman" panose="02020603050405020304" pitchFamily="18" charset="0"/>
            </a:endParaRPr>
          </a:p>
          <a:p>
            <a:pPr marL="457200" lvl="1" indent="0" algn="just" eaLnBrk="1" hangingPunct="1">
              <a:lnSpc>
                <a:spcPct val="80000"/>
              </a:lnSpc>
              <a:buNone/>
            </a:pPr>
            <a:r>
              <a:rPr lang="vi-VN" altLang="en-US" dirty="0">
                <a:latin typeface="Times New Roman" panose="02020603050405020304" pitchFamily="18" charset="0"/>
              </a:rPr>
              <a:t>  </a:t>
            </a:r>
            <a:r>
              <a:rPr lang="en-US" altLang="en-US" dirty="0">
                <a:latin typeface="Times New Roman" panose="02020603050405020304" pitchFamily="18" charset="0"/>
              </a:rPr>
              <a:t>Q</a:t>
            </a:r>
            <a:r>
              <a:rPr lang="vi-VN" altLang="en-US" dirty="0">
                <a:latin typeface="Times New Roman" panose="02020603050405020304" pitchFamily="18" charset="0"/>
              </a:rPr>
              <a:t>uy định về nguyên tắc hoạt động ứng dụng công nghệ thông tin; ưu tiên ứng dụng công nghệ thông tin trong trường hợp khẩn cấp; quyền, nghĩa vụ của cơ quan, tổ chức, cá nhân trong việc quản lý, sử dụng, truyền đưa thông tin số; lưu trữ tạm thời thông tin số; cho thuê chỗ lưu trữ thông tin số; công cụ tìm kiếm thông tin số; thu thập, xử lý, sử dụng, lưu trữ, cung cấp thông tin cá nhân trên môi trường mạng; thiết lập trang thông tin điện tử.</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type="title"/>
          </p:nvPr>
        </p:nvSpPr>
        <p:spPr/>
        <p:txBody>
          <a:bodyPr vert="horz" wrap="square" lIns="91440" tIns="45720" rIns="91440" bIns="45720" anchor="ctr" anchorCtr="0"/>
          <a:lstStyle/>
          <a:p>
            <a:pPr eaLnBrk="1" hangingPunct="1"/>
            <a:r>
              <a:rPr lang="vi-VN" altLang="en-US" sz="2400" b="1" dirty="0">
                <a:solidFill>
                  <a:srgbClr val="FF0000"/>
                </a:solidFill>
                <a:latin typeface="Times New Roman" panose="02020603050405020304" pitchFamily="18" charset="0"/>
                <a:sym typeface="+mn-ea"/>
              </a:rPr>
              <a:t>Mục 1. Quy định chung về ứng dụng công nghệ thông tin </a:t>
            </a:r>
            <a:endParaRPr lang="en-US" altLang="en-US" sz="2400" dirty="0">
              <a:latin typeface="Times New Roman" panose="02020603050405020304" pitchFamily="18" charset="0"/>
              <a:sym typeface="+mn-ea"/>
            </a:endParaRPr>
          </a:p>
        </p:txBody>
      </p:sp>
      <p:sp>
        <p:nvSpPr>
          <p:cNvPr id="11266" name="Rectangle 3"/>
          <p:cNvSpPr>
            <a:spLocks noGrp="1"/>
          </p:cNvSpPr>
          <p:nvPr>
            <p:ph idx="1"/>
          </p:nvPr>
        </p:nvSpPr>
        <p:spPr>
          <a:xfrm>
            <a:off x="179388" y="1392238"/>
            <a:ext cx="8713787" cy="4852987"/>
          </a:xfrm>
        </p:spPr>
        <p:txBody>
          <a:bodyPr vert="horz" wrap="square" lIns="91440" tIns="45720" rIns="91440" bIns="45720" anchor="t" anchorCtr="0"/>
          <a:lstStyle/>
          <a:p>
            <a:pPr marL="457200" lvl="1" indent="0" algn="just" eaLnBrk="1" hangingPunct="1">
              <a:lnSpc>
                <a:spcPct val="80000"/>
              </a:lnSpc>
              <a:buNone/>
            </a:pPr>
            <a:r>
              <a:rPr altLang="en-US" dirty="0">
                <a:latin typeface="Times New Roman" panose="02020603050405020304" pitchFamily="18" charset="0"/>
                <a:sym typeface="+mn-ea"/>
              </a:rPr>
              <a:t>Nguyên tắc chung về hoạt động ứng dụng công nghệ thông tin</a:t>
            </a:r>
            <a:r>
              <a:rPr lang="vi-VN" dirty="0">
                <a:latin typeface="Times New Roman" panose="02020603050405020304" pitchFamily="18" charset="0"/>
                <a:sym typeface="+mn-ea"/>
              </a:rPr>
              <a:t> - </a:t>
            </a:r>
            <a:r>
              <a:rPr altLang="en-US" dirty="0">
                <a:latin typeface="Times New Roman" panose="02020603050405020304" pitchFamily="18" charset="0"/>
                <a:sym typeface="+mn-ea"/>
              </a:rPr>
              <a:t>Điều 13. </a:t>
            </a:r>
            <a:endParaRPr lang="en-US" altLang="en-US" dirty="0">
              <a:latin typeface="Times New Roman" panose="02020603050405020304" pitchFamily="18" charset="0"/>
              <a:sym typeface="+mn-ea"/>
            </a:endParaRPr>
          </a:p>
          <a:p>
            <a:pPr marL="457200" lvl="1" indent="0" algn="just" eaLnBrk="1" hangingPunct="1">
              <a:lnSpc>
                <a:spcPct val="80000"/>
              </a:lnSpc>
              <a:buNone/>
            </a:pPr>
            <a:r>
              <a:rPr altLang="en-US" dirty="0">
                <a:latin typeface="Times New Roman" panose="02020603050405020304" pitchFamily="18" charset="0"/>
              </a:rPr>
              <a:t>1. Tổ chức, cá nhân có quyền tiến hành các hoạt động ứng dụng công nghệ thông tin theo quy định của Luật này và các quy định khác của pháp luật có liên quan. </a:t>
            </a:r>
          </a:p>
          <a:p>
            <a:pPr marL="457200" lvl="1" indent="0" algn="just" eaLnBrk="1" hangingPunct="1">
              <a:lnSpc>
                <a:spcPct val="80000"/>
              </a:lnSpc>
              <a:buNone/>
            </a:pPr>
            <a:r>
              <a:rPr altLang="en-US" dirty="0">
                <a:latin typeface="Times New Roman" panose="02020603050405020304" pitchFamily="18" charset="0"/>
              </a:rPr>
              <a:t>2. Việc ứng dụng công nghệ thông tin vào các hoạt động thuộc lĩnh vực kinh tế - xã hội, đối ngoại, quốc phòng, an ninh; hoạt động phòng, chống lụt, bão, thiên tai, thảm họa khác, cứu hộ, cứu nạn và các hoạt động khác được Nhà nước khuyến khích.</a:t>
            </a:r>
          </a:p>
          <a:p>
            <a:pPr marL="457200" lvl="1" indent="0" algn="just" eaLnBrk="1" hangingPunct="1">
              <a:lnSpc>
                <a:spcPct val="80000"/>
              </a:lnSpc>
              <a:buNone/>
            </a:pPr>
            <a:r>
              <a:rPr altLang="en-US" dirty="0">
                <a:latin typeface="Times New Roman" panose="02020603050405020304" pitchFamily="18" charset="0"/>
              </a:rPr>
              <a:t>3. Tổ chức, cá nhân tiến hành hoạt động viễn thông, hoạt động phát thanh, truyền hình trên môi trường mạng phải thực hiện các quy định của pháp luật về viễn thông, báo chí và các quy định của Luật này.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type="title"/>
          </p:nvPr>
        </p:nvSpPr>
        <p:spPr/>
        <p:txBody>
          <a:bodyPr vert="horz" wrap="square" lIns="91440" tIns="45720" rIns="91440" bIns="45720" anchor="ctr" anchorCtr="0"/>
          <a:lstStyle/>
          <a:p>
            <a:pPr eaLnBrk="1" hangingPunct="1"/>
            <a:r>
              <a:rPr lang="vi-VN" altLang="en-US" sz="2400" b="1" dirty="0">
                <a:solidFill>
                  <a:srgbClr val="FF0000"/>
                </a:solidFill>
                <a:latin typeface="Times New Roman" panose="02020603050405020304" pitchFamily="18" charset="0"/>
                <a:sym typeface="+mn-ea"/>
              </a:rPr>
              <a:t>Mục 1. Quy định chung về ứng dụng công nghệ thông tin </a:t>
            </a:r>
            <a:endParaRPr lang="en-US" altLang="en-US" sz="2400" dirty="0">
              <a:latin typeface="Times New Roman" panose="02020603050405020304" pitchFamily="18" charset="0"/>
              <a:sym typeface="+mn-ea"/>
            </a:endParaRPr>
          </a:p>
        </p:txBody>
      </p:sp>
      <p:sp>
        <p:nvSpPr>
          <p:cNvPr id="11266" name="Rectangle 3"/>
          <p:cNvSpPr>
            <a:spLocks noGrp="1"/>
          </p:cNvSpPr>
          <p:nvPr>
            <p:ph idx="1"/>
          </p:nvPr>
        </p:nvSpPr>
        <p:spPr>
          <a:xfrm>
            <a:off x="179388" y="1392238"/>
            <a:ext cx="8713787" cy="4852987"/>
          </a:xfrm>
        </p:spPr>
        <p:txBody>
          <a:bodyPr vert="horz" wrap="square" lIns="91440" tIns="45720" rIns="91440" bIns="45720" anchor="t" anchorCtr="0"/>
          <a:lstStyle/>
          <a:p>
            <a:pPr marL="457200" lvl="1" indent="0" algn="just" eaLnBrk="1" hangingPunct="1">
              <a:lnSpc>
                <a:spcPct val="80000"/>
              </a:lnSpc>
              <a:buNone/>
            </a:pPr>
            <a:r>
              <a:rPr altLang="en-US" dirty="0">
                <a:latin typeface="Times New Roman" panose="02020603050405020304" pitchFamily="18" charset="0"/>
                <a:sym typeface="+mn-ea"/>
              </a:rPr>
              <a:t>Ưu tiên ứng dụng công nghệ thông tin trong trường hợp khẩn cấp</a:t>
            </a:r>
            <a:r>
              <a:rPr lang="vi-VN" dirty="0">
                <a:latin typeface="Times New Roman" panose="02020603050405020304" pitchFamily="18" charset="0"/>
                <a:sym typeface="+mn-ea"/>
              </a:rPr>
              <a:t> - Điều 14</a:t>
            </a:r>
            <a:endParaRPr altLang="en-US" dirty="0">
              <a:latin typeface="Times New Roman" panose="02020603050405020304" pitchFamily="18" charset="0"/>
              <a:sym typeface="+mn-ea"/>
            </a:endParaRPr>
          </a:p>
          <a:p>
            <a:pPr marL="457200" lvl="1" indent="0" algn="just" eaLnBrk="1" hangingPunct="1">
              <a:lnSpc>
                <a:spcPct val="80000"/>
              </a:lnSpc>
              <a:buNone/>
            </a:pPr>
            <a:r>
              <a:rPr altLang="en-US" dirty="0">
                <a:latin typeface="Times New Roman" panose="02020603050405020304" pitchFamily="18" charset="0"/>
                <a:sym typeface="+mn-ea"/>
              </a:rPr>
              <a:t>Cơ quan nhà nước có thẩm quyền quyết định huy động một phần hoặc toàn bộ cơ sở hạ tầng thông tin để ưu tiên phục vụ cho việc ứng dụng công nghệ thông tin khi có một trong các trường hợp khẩn cấp sau đây: </a:t>
            </a:r>
          </a:p>
          <a:p>
            <a:pPr marL="457200" lvl="1" indent="0" algn="just" eaLnBrk="1" hangingPunct="1">
              <a:lnSpc>
                <a:spcPct val="80000"/>
              </a:lnSpc>
              <a:buNone/>
            </a:pPr>
            <a:r>
              <a:rPr altLang="en-US" dirty="0">
                <a:latin typeface="Times New Roman" panose="02020603050405020304" pitchFamily="18" charset="0"/>
                <a:sym typeface="+mn-ea"/>
              </a:rPr>
              <a:t>a) Phục vụ phòng, chống lụt, bão, hỏa hoạn, thiên tai, thảm họa khác; </a:t>
            </a:r>
          </a:p>
          <a:p>
            <a:pPr marL="457200" lvl="1" indent="0" algn="just" eaLnBrk="1" hangingPunct="1">
              <a:lnSpc>
                <a:spcPct val="80000"/>
              </a:lnSpc>
              <a:buNone/>
            </a:pPr>
            <a:r>
              <a:rPr altLang="en-US" dirty="0">
                <a:latin typeface="Times New Roman" panose="02020603050405020304" pitchFamily="18" charset="0"/>
                <a:sym typeface="+mn-ea"/>
              </a:rPr>
              <a:t>b) Phục vụ cấp cứu và phòng, chống dịch bệnh;</a:t>
            </a:r>
          </a:p>
          <a:p>
            <a:pPr marL="457200" lvl="1" indent="0" algn="just" eaLnBrk="1" hangingPunct="1">
              <a:lnSpc>
                <a:spcPct val="80000"/>
              </a:lnSpc>
              <a:buNone/>
            </a:pPr>
            <a:r>
              <a:rPr altLang="en-US" dirty="0">
                <a:latin typeface="Times New Roman" panose="02020603050405020304" pitchFamily="18" charset="0"/>
                <a:sym typeface="+mn-ea"/>
              </a:rPr>
              <a:t>c) Phục vụ cứu nạn, cứu hộ;</a:t>
            </a:r>
          </a:p>
          <a:p>
            <a:pPr marL="457200" lvl="1" indent="0" algn="just" eaLnBrk="1" hangingPunct="1">
              <a:lnSpc>
                <a:spcPct val="80000"/>
              </a:lnSpc>
              <a:buNone/>
            </a:pPr>
            <a:r>
              <a:rPr altLang="en-US" dirty="0">
                <a:latin typeface="Times New Roman" panose="02020603050405020304" pitchFamily="18" charset="0"/>
                <a:sym typeface="+mn-ea"/>
              </a:rPr>
              <a:t>d) Phục vụ quốc phòng, an ninh, bảo đảm trật tự, an toàn xã hội, phòng, chống tội phạm.</a:t>
            </a:r>
          </a:p>
          <a:p>
            <a:pPr marL="457200" lvl="1" indent="0" algn="just" eaLnBrk="1" hangingPunct="1">
              <a:lnSpc>
                <a:spcPct val="80000"/>
              </a:lnSpc>
              <a:buNone/>
            </a:pPr>
            <a:endParaRPr altLang="en-US" dirty="0">
              <a:latin typeface="Times New Roman" panose="02020603050405020304" pitchFamily="18"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sym typeface="+mn-ea"/>
              </a:rPr>
              <a:t> Điều 15. Quản lý và sử dụng thông tin số</a:t>
            </a:r>
            <a:endParaRPr lang="en-US" sz="2400"/>
          </a:p>
        </p:txBody>
      </p:sp>
      <p:sp>
        <p:nvSpPr>
          <p:cNvPr id="3" name="Content Placeholder 2"/>
          <p:cNvSpPr>
            <a:spLocks noGrp="1"/>
          </p:cNvSpPr>
          <p:nvPr>
            <p:ph idx="1"/>
          </p:nvPr>
        </p:nvSpPr>
        <p:spPr/>
        <p:txBody>
          <a:bodyPr/>
          <a:lstStyle/>
          <a:p>
            <a:r>
              <a:rPr lang="en-US" sz="1800"/>
              <a:t>1. Tổ chức, cá nhân có quyền tự do sử dụng thông tin số vào mục đích chính đáng, phù hợp với quy định của pháp luật. </a:t>
            </a:r>
          </a:p>
          <a:p>
            <a:r>
              <a:rPr lang="en-US" sz="1800"/>
              <a:t>2. Cơ quan nhà nước có thẩm quyền chịu trách nhiệm thực hiện các biện pháp bảo đảm việc truy nhập và sử dụng thuận lợi thông tin số.</a:t>
            </a:r>
          </a:p>
          <a:p>
            <a:r>
              <a:rPr lang="en-US" sz="1800"/>
              <a:t>3. Việc cung cấp, trao đổi, truyền đưa, lưu trữ, sử dụng thông tin số phải bảo đảm không vi phạm quy định tại khoản 2 Điều 12 của Luật này và các quy định khác của pháp luật có liên quan.</a:t>
            </a:r>
          </a:p>
          <a:p>
            <a:r>
              <a:rPr lang="en-US" sz="1800"/>
              <a:t>4. Tổ chức, cá nhân không được trích dẫn nội dung thông tin số của tổ chức, cá nhân khác trong trường hợp chủ sở hữu thông tin số đã có cảnh báo hoặc pháp luật quy định việc trích dẫn thông tin là không được phép.</a:t>
            </a:r>
          </a:p>
          <a:p>
            <a:r>
              <a:rPr lang="en-US" sz="1800"/>
              <a:t>5. Trường hợp được phép trích dẫn thông tin số, tổ chức, cá nhân có trách nhiệm nêu rõ nguồn của thông tin đó.</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1600"/>
              <a:t>Điều 16. Truyền đưa thông tin số</a:t>
            </a:r>
          </a:p>
          <a:p>
            <a:r>
              <a:rPr lang="en-US" sz="1600"/>
              <a:t>1. Tổ chức, cá nhân có quyền truyền đưa thông tin số của tổ chức, cá nhân khác phù hợp với quy định của Luật này.</a:t>
            </a:r>
          </a:p>
          <a:p>
            <a:r>
              <a:rPr lang="en-US" sz="1600"/>
              <a:t>2. Tổ chức, cá nhân truyền đưa thông tin số của tổ chức, cá nhân khác không phải chịu trách nhiệm về nội dung thông tin được lưu trữ tự động, trung gian, tạm thời do yêu cầu kỹ thuật nếu hoạt động lưu trữ tạm thời nhằm mục đích phục vụ cho việc truyền đưa thông tin và thông tin được lưu trữ trong khoảng thời gian đủ để thực hiện việc truyền đưa.</a:t>
            </a:r>
          </a:p>
          <a:p>
            <a:r>
              <a:rPr lang="en-US" sz="1600"/>
              <a:t>3. Tổ chức, cá nhân truyền đưa thông tin số có trách nhiệm tiến hành kịp thời các biện pháp cần thiết để ngăn chặn việc truy nhập thông tin hoặc loại bỏ thông tin trái pháp luật theo yêu cầu của cơ quan nhà nước có thẩm quyền.</a:t>
            </a:r>
          </a:p>
          <a:p>
            <a:r>
              <a:rPr lang="en-US" sz="1600"/>
              <a:t>4. Tổ chức, cá nhân truyền đưa thông tin số của tổ chức, cá nhân khác không phải chịu trách nhiệm về nội dung thông tin đó, trừ trường hợp thực hiện một trong các hành vi sau đây:</a:t>
            </a:r>
          </a:p>
          <a:p>
            <a:r>
              <a:rPr lang="en-US" sz="1600"/>
              <a:t>a) Chính mình bắt đầu việc truyền đưa thông tin;</a:t>
            </a:r>
          </a:p>
          <a:p>
            <a:r>
              <a:rPr lang="en-US" sz="1600"/>
              <a:t>b) Lựa chọn người nhận thông tin được truyền đưa;</a:t>
            </a:r>
          </a:p>
          <a:p>
            <a:r>
              <a:rPr lang="en-US" sz="1600"/>
              <a:t>c) Lựa chọn và sửa đổi nội dung thông tin được truyền đưa.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1032510"/>
          </a:xfrm>
        </p:spPr>
        <p:txBody>
          <a:bodyPr/>
          <a:lstStyle/>
          <a:p>
            <a:r>
              <a:rPr lang="en-US" sz="2000">
                <a:sym typeface="+mn-ea"/>
              </a:rPr>
              <a:t>Điều 21. Thu thập, xử lý và sử dụng thông tin cá nhân trên môi trường mạng </a:t>
            </a:r>
            <a:br>
              <a:rPr lang="en-US" sz="2000"/>
            </a:br>
            <a:endParaRPr lang="en-US" sz="2000"/>
          </a:p>
        </p:txBody>
      </p:sp>
      <p:sp>
        <p:nvSpPr>
          <p:cNvPr id="3" name="Content Placeholder 2"/>
          <p:cNvSpPr>
            <a:spLocks noGrp="1"/>
          </p:cNvSpPr>
          <p:nvPr>
            <p:ph idx="1"/>
          </p:nvPr>
        </p:nvSpPr>
        <p:spPr/>
        <p:txBody>
          <a:bodyPr/>
          <a:lstStyle/>
          <a:p>
            <a:r>
              <a:rPr lang="en-US"/>
              <a:t>1. Tổ chức, cá nhân thu thập, xử lý và sử dụng thông tin cá nhân của người khác trên môi trường mạng </a:t>
            </a:r>
            <a:r>
              <a:rPr lang="en-US">
                <a:solidFill>
                  <a:srgbClr val="FF0000"/>
                </a:solidFill>
              </a:rPr>
              <a:t>phải được người đó đồng ý, trừ trường hợp pháp luật có quy định khác.</a:t>
            </a:r>
          </a:p>
          <a:p>
            <a:endParaRPr lang="en-US">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1800">
                <a:sym typeface="+mn-ea"/>
              </a:rPr>
              <a:t>2. Tổ chức, cá nhân thu thập, xử lý và sử dụng thông tin cá nhân của người khác có trách nhiệm sau đây:</a:t>
            </a:r>
            <a:endParaRPr lang="en-US" sz="1800"/>
          </a:p>
          <a:p>
            <a:r>
              <a:rPr lang="en-US" sz="1800">
                <a:sym typeface="+mn-ea"/>
              </a:rPr>
              <a:t>a) Thông báo cho người đó biết về hình thức, phạm vi, địa điểm và mục đích của việc thu thập, xử lý và sử dụng thông tin cá nhân của người đó;</a:t>
            </a:r>
            <a:endParaRPr lang="en-US" sz="1800"/>
          </a:p>
          <a:p>
            <a:r>
              <a:rPr lang="en-US" sz="1800">
                <a:sym typeface="+mn-ea"/>
              </a:rPr>
              <a:t>b) Sử dụng đúng mục đích thông tin cá nhân thu thập được và chỉ lưu trữ những thông tin đó trong một khoảng thời gian nhất định theo quy định của pháp luật hoặc theo thoả thuận giữa hai bên;</a:t>
            </a:r>
            <a:endParaRPr lang="en-US" sz="1800"/>
          </a:p>
          <a:p>
            <a:r>
              <a:rPr lang="en-US" sz="1800">
                <a:sym typeface="+mn-ea"/>
              </a:rPr>
              <a:t>c) Tiến hành các biện pháp quản lý, kỹ thuật cần thiết để bảo đảm thông tin cá nhân không bị mất, đánh cắp, tiết lộ, thay đổi hoặc phá huỷ;</a:t>
            </a:r>
            <a:endParaRPr lang="en-US" sz="1800"/>
          </a:p>
          <a:p>
            <a:r>
              <a:rPr lang="en-US" sz="1800">
                <a:sym typeface="+mn-ea"/>
              </a:rPr>
              <a:t>d) Tiến hành ngay các biện pháp cần thiết khi nhận được yêu cầu kiểm tra lại, đính chính hoặc hủy bỏ theo quy định tại khoản 1 Điều 22 của Luật này; không được cung cấp hoặc sử dụng thông tin cá nhân liên quan cho đến khi thông tin đó được đính chính lại. </a:t>
            </a:r>
            <a:endParaRPr lang="en-US" sz="1800"/>
          </a:p>
          <a:p>
            <a:endParaRPr lang="en-US" sz="18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a:sym typeface="+mn-ea"/>
              </a:rPr>
              <a:t>3. Tổ chức, cá nhân có quyền thu thập, xử lý và sử dụng thông tin cá nhân của người khác mà không cần sự đồng ý của người đó trong trường hợp thông tin cá nhân đó được sử dụng cho mục đích sau đây:</a:t>
            </a:r>
            <a:endParaRPr lang="en-US" sz="2400"/>
          </a:p>
          <a:p>
            <a:r>
              <a:rPr lang="en-US" sz="2400">
                <a:sym typeface="+mn-ea"/>
              </a:rPr>
              <a:t>a) Ký kết, sửa đổi hoặc thực hiện hợp đồng sử dụng thông tin, sản phẩm, dịch vụ trên môi trường mạng; </a:t>
            </a:r>
            <a:endParaRPr lang="en-US" sz="2400"/>
          </a:p>
          <a:p>
            <a:r>
              <a:rPr lang="en-US" sz="2400">
                <a:sym typeface="+mn-ea"/>
              </a:rPr>
              <a:t>b) Tính giá, cước sử dụng thông tin, sản phẩm, dịch vụ trên môi trường mạng;</a:t>
            </a:r>
            <a:endParaRPr lang="en-US" sz="2400"/>
          </a:p>
          <a:p>
            <a:r>
              <a:rPr lang="en-US" sz="2400">
                <a:sym typeface="+mn-ea"/>
              </a:rPr>
              <a:t>c) Thực hiện nghĩa vụ khác theo quy định của pháp luật.</a:t>
            </a:r>
            <a:endParaRPr lang="en-US" sz="2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a:sym typeface="+mn-ea"/>
              </a:rPr>
              <a:t> Điều 22. Lưu trữ, cung cấp thông tin cá nhân trên môi trường mạng </a:t>
            </a:r>
          </a:p>
        </p:txBody>
      </p:sp>
      <p:sp>
        <p:nvSpPr>
          <p:cNvPr id="3" name="Content Placeholder 2"/>
          <p:cNvSpPr>
            <a:spLocks noGrp="1"/>
          </p:cNvSpPr>
          <p:nvPr>
            <p:ph idx="1"/>
          </p:nvPr>
        </p:nvSpPr>
        <p:spPr/>
        <p:txBody>
          <a:bodyPr/>
          <a:lstStyle/>
          <a:p>
            <a:r>
              <a:rPr lang="en-US" sz="2000"/>
              <a:t>1. Cá nhân có quyền yêu cầu tổ chức, cá nhân lưu trữ thông tin cá nhân của mình trên môi trường mạng thực hiện việc kiểm tra, đính chính hoặc hủy bỏ thông tin đó. </a:t>
            </a:r>
          </a:p>
          <a:p>
            <a:r>
              <a:rPr lang="en-US" sz="2000"/>
              <a:t>2. Tổ chức, cá nhân không được cung cấp thông tin cá nhân của người khác cho bên thứ ba, trừ trường hợp pháp luật có quy định khác hoặc có sự đồng ý của người đó.</a:t>
            </a:r>
          </a:p>
          <a:p>
            <a:r>
              <a:rPr lang="en-US" sz="2000"/>
              <a:t>3. Cá nhân có quyền yêu cầu bồi thường thiệt hại do hành vi vi phạm trong việc cung cấp thông tin cá nhân. </a:t>
            </a:r>
          </a:p>
          <a:p>
            <a:endParaRPr lang="en-US" sz="2000"/>
          </a:p>
          <a:p>
            <a:pPr marL="0" indent="0">
              <a:buNone/>
            </a:pPr>
            <a:r>
              <a:rPr lang="vi-VN" altLang="en-US" sz="2000"/>
              <a:t>Zalo</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Điều 23. Thiết lập trang thông tin điện tử </a:t>
            </a:r>
          </a:p>
          <a:p>
            <a:r>
              <a:rPr lang="en-US">
                <a:solidFill>
                  <a:srgbClr val="FF0000"/>
                </a:solidFill>
              </a:rPr>
              <a:t>1. Tổ chức, cá nhân có quyền thiết lập trang thông tin điện tử theo quy định của pháp luật và chịu trách nhiệm quản lý nội dung và hoạt động trang thông tin điện tử của mình.</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type="title"/>
          </p:nvPr>
        </p:nvSpPr>
        <p:spPr/>
        <p:txBody>
          <a:bodyPr vert="horz" wrap="square" lIns="91440" tIns="45720" rIns="91440" bIns="45720" anchor="ctr" anchorCtr="0"/>
          <a:lstStyle/>
          <a:p>
            <a:pPr eaLnBrk="1" hangingPunct="1"/>
            <a:r>
              <a:rPr lang="en-US" altLang="en-US" dirty="0"/>
              <a:t>Chương 2</a:t>
            </a:r>
          </a:p>
        </p:txBody>
      </p:sp>
      <p:sp>
        <p:nvSpPr>
          <p:cNvPr id="12290" name="Rectangle 3"/>
          <p:cNvSpPr>
            <a:spLocks noGrp="1"/>
          </p:cNvSpPr>
          <p:nvPr>
            <p:ph idx="1"/>
          </p:nvPr>
        </p:nvSpPr>
        <p:spPr>
          <a:xfrm>
            <a:off x="619125" y="1392238"/>
            <a:ext cx="7985125" cy="4852987"/>
          </a:xfrm>
        </p:spPr>
        <p:txBody>
          <a:bodyPr vert="horz" wrap="square" lIns="91440" tIns="45720" rIns="91440" bIns="45720" anchor="t" anchorCtr="0"/>
          <a:lstStyle/>
          <a:p>
            <a:pPr eaLnBrk="1" hangingPunct="1">
              <a:lnSpc>
                <a:spcPct val="80000"/>
              </a:lnSpc>
            </a:pPr>
            <a:r>
              <a:rPr lang="vi-VN" altLang="en-US" b="0" dirty="0">
                <a:latin typeface="Times New Roman" panose="02020603050405020304" pitchFamily="18" charset="0"/>
              </a:rPr>
              <a:t>Mục 2. Ứng dụng công nghệ thông tin trong hoạt động của cơ quan nh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nước- tạo ra khung pháp lý quan trọng đẩy mạnh “chính phủ điện tử” ở Việt Nam. Luật quy định về nguyên tắc, điều kiện, nội dung ứng dụng công nghệ thông tin trong hoạt động của cơ quan nh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nước; hoạt động của cơ quan nh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nước trên môi trường mạng; trang thông tin điện tử của cơ quan nh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nước</a:t>
            </a:r>
            <a:r>
              <a:rPr lang="en-US" altLang="en-US" dirty="0">
                <a:latin typeface="Times New Roman" panose="02020603050405020304" pitchFamily="18" charset="0"/>
              </a:rPr>
              <a:t>. </a:t>
            </a:r>
            <a:br>
              <a:rPr lang="en-US" altLang="en-US" dirty="0">
                <a:latin typeface="Times New Roman" panose="02020603050405020304" pitchFamily="18" charset="0"/>
              </a:rPr>
            </a:br>
            <a:endParaRPr lang="en-US" altLang="en-US" dirty="0">
              <a:latin typeface="Times New Roman" panose="02020603050405020304" pitchFamily="18" charset="0"/>
            </a:endParaRPr>
          </a:p>
          <a:p>
            <a:pPr lvl="1" algn="just" eaLnBrk="1" hangingPunct="1">
              <a:lnSpc>
                <a:spcPct val="80000"/>
              </a:lnSpc>
            </a:pP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p:txBody>
          <a:bodyPr vert="horz" wrap="square" lIns="91440" tIns="45720" rIns="91440" bIns="45720" anchor="ctr" anchorCtr="0"/>
          <a:lstStyle/>
          <a:p>
            <a:pPr eaLnBrk="1" hangingPunct="1"/>
            <a:r>
              <a:rPr lang="en-US" altLang="en-US" dirty="0"/>
              <a:t>Chương 2</a:t>
            </a:r>
          </a:p>
        </p:txBody>
      </p:sp>
      <p:sp>
        <p:nvSpPr>
          <p:cNvPr id="13314" name="Rectangle 3"/>
          <p:cNvSpPr>
            <a:spLocks noGrp="1"/>
          </p:cNvSpPr>
          <p:nvPr>
            <p:ph idx="1"/>
          </p:nvPr>
        </p:nvSpPr>
        <p:spPr>
          <a:xfrm>
            <a:off x="619125" y="1392238"/>
            <a:ext cx="8056563" cy="4852987"/>
          </a:xfrm>
        </p:spPr>
        <p:txBody>
          <a:bodyPr vert="horz" wrap="square" lIns="91440" tIns="45720" rIns="91440" bIns="45720" anchor="t" anchorCtr="0"/>
          <a:lstStyle/>
          <a:p>
            <a:pPr eaLnBrk="1" hangingPunct="1">
              <a:lnSpc>
                <a:spcPct val="80000"/>
              </a:lnSpc>
            </a:pPr>
            <a:r>
              <a:rPr lang="vi-VN" altLang="en-US" b="0" dirty="0">
                <a:latin typeface="Times New Roman" panose="02020603050405020304" pitchFamily="18" charset="0"/>
              </a:rPr>
              <a:t>Mục 3. Ứng dụng công nghệ thông tin trong thương mại nhằm khẳng định mọi tổ chức, cá nhân có quyền tham gia hoạt động thương mại trên môi trường mạng. </a:t>
            </a:r>
            <a:endParaRPr lang="en-US" altLang="en-US" b="0" dirty="0">
              <a:latin typeface="Times New Roman" panose="02020603050405020304" pitchFamily="18" charset="0"/>
            </a:endParaRPr>
          </a:p>
          <a:p>
            <a:pPr eaLnBrk="1" hangingPunct="1">
              <a:lnSpc>
                <a:spcPct val="80000"/>
              </a:lnSpc>
              <a:buNone/>
            </a:pPr>
            <a:r>
              <a:rPr lang="vi-VN" altLang="en-US" b="0" dirty="0">
                <a:latin typeface="Times New Roman" panose="02020603050405020304" pitchFamily="18" charset="0"/>
              </a:rPr>
              <a:t>Mục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y quy định về đối tượng, nguyên tắc ứng dụng công nghệ thông tin trong thương mại; trang thông tin điện tử bán 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ng, cung cấp thông tin cho việc giao kết hợp đồng trên môi trường mạng; giải quyết hậu quả do lỗi nhập sai thông tin thương mại trên môi trường mạng; thanh toán trên môi trường mạng</a:t>
            </a:r>
            <a:r>
              <a:rPr lang="en-US" altLang="en-US" dirty="0">
                <a:latin typeface="Times New Roman" panose="02020603050405020304" pitchFamily="18" charset="0"/>
              </a:rPr>
              <a:t>. </a:t>
            </a:r>
            <a:br>
              <a:rPr lang="en-US" altLang="en-US" dirty="0">
                <a:latin typeface="Times New Roman" panose="02020603050405020304" pitchFamily="18" charset="0"/>
              </a:rPr>
            </a:br>
            <a:endParaRPr lang="en-US" altLang="en-US" dirty="0">
              <a:latin typeface="Times New Roman" panose="02020603050405020304" pitchFamily="18" charset="0"/>
            </a:endParaRPr>
          </a:p>
          <a:p>
            <a:pPr lvl="1" eaLnBrk="1" hangingPunct="1">
              <a:lnSpc>
                <a:spcPct val="80000"/>
              </a:lnSpc>
            </a:pP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p:cNvSpPr>
          <p:nvPr>
            <p:ph type="title"/>
          </p:nvPr>
        </p:nvSpPr>
        <p:spPr/>
        <p:txBody>
          <a:bodyPr vert="horz" wrap="square" lIns="91440" tIns="45720" rIns="91440" bIns="45720" anchor="ctr" anchorCtr="0"/>
          <a:lstStyle/>
          <a:p>
            <a:pPr eaLnBrk="1" hangingPunct="1"/>
            <a:r>
              <a:rPr lang="en-US" altLang="en-US" dirty="0"/>
              <a:t>Chương 2</a:t>
            </a:r>
          </a:p>
        </p:txBody>
      </p:sp>
      <p:sp>
        <p:nvSpPr>
          <p:cNvPr id="14338" name="Rectangle 3"/>
          <p:cNvSpPr>
            <a:spLocks noGrp="1"/>
          </p:cNvSpPr>
          <p:nvPr>
            <p:ph idx="1"/>
          </p:nvPr>
        </p:nvSpPr>
        <p:spPr>
          <a:xfrm>
            <a:off x="619125" y="1392238"/>
            <a:ext cx="7985125" cy="4852987"/>
          </a:xfrm>
        </p:spPr>
        <p:txBody>
          <a:bodyPr vert="horz" wrap="square" lIns="91440" tIns="45720" rIns="91440" bIns="45720" anchor="t" anchorCtr="0"/>
          <a:lstStyle/>
          <a:p>
            <a:pPr eaLnBrk="1" hangingPunct="1">
              <a:lnSpc>
                <a:spcPct val="80000"/>
              </a:lnSpc>
            </a:pPr>
            <a:r>
              <a:rPr lang="vi-VN" altLang="en-US" b="0" dirty="0">
                <a:latin typeface="Times New Roman" panose="02020603050405020304" pitchFamily="18" charset="0"/>
              </a:rPr>
              <a:t>Mục 4. Ứng dụng công nghệ thông tin trong một số lĩnh vực như giáo dục, y tế, văn hóa, quốc phòng, an ninh, .... </a:t>
            </a:r>
            <a:endParaRPr lang="en-US" altLang="en-US" b="0" dirty="0">
              <a:latin typeface="Times New Roman" panose="02020603050405020304" pitchFamily="18" charset="0"/>
            </a:endParaRPr>
          </a:p>
          <a:p>
            <a:pPr eaLnBrk="1" hangingPunct="1">
              <a:lnSpc>
                <a:spcPct val="80000"/>
              </a:lnSpc>
              <a:buNone/>
            </a:pPr>
            <a:r>
              <a:rPr lang="vi-VN" altLang="en-US" b="0" dirty="0">
                <a:latin typeface="Times New Roman" panose="02020603050405020304" pitchFamily="18" charset="0"/>
              </a:rPr>
              <a:t>Ứng dụng công nghệ thông tin trong những lĩnh vực chuyên ng</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nh ngo</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i việc tuân thủ quy định của Luật Công nghệ thông tin, còn phải tuân thủ pháp luật chuyên ng</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nh có liên quan</a:t>
            </a:r>
            <a:r>
              <a:rPr lang="en-US" altLang="en-US" dirty="0">
                <a:latin typeface="Times New Roman" panose="02020603050405020304" pitchFamily="18" charset="0"/>
              </a:rPr>
              <a:t>. </a:t>
            </a:r>
            <a:br>
              <a:rPr lang="en-US" altLang="en-US" dirty="0">
                <a:latin typeface="Times New Roman" panose="02020603050405020304" pitchFamily="18" charset="0"/>
              </a:rPr>
            </a:br>
            <a:endParaRPr lang="en-US" altLang="en-US" dirty="0">
              <a:latin typeface="Times New Roman" panose="02020603050405020304" pitchFamily="18" charset="0"/>
            </a:endParaRPr>
          </a:p>
          <a:p>
            <a:pPr lvl="1" eaLnBrk="1" hangingPunct="1">
              <a:lnSpc>
                <a:spcPct val="80000"/>
              </a:lnSpc>
            </a:pP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p:cNvSpPr>
          <p:nvPr>
            <p:ph type="title"/>
          </p:nvPr>
        </p:nvSpPr>
        <p:spPr/>
        <p:txBody>
          <a:bodyPr vert="horz" wrap="square" lIns="91440" tIns="45720" rIns="91440" bIns="45720" anchor="ctr" anchorCtr="0"/>
          <a:lstStyle/>
          <a:p>
            <a:pPr eaLnBrk="1" hangingPunct="1"/>
            <a:r>
              <a:rPr lang="en-US" altLang="en-US" dirty="0"/>
              <a:t>Chương 3</a:t>
            </a:r>
          </a:p>
        </p:txBody>
      </p:sp>
      <p:sp>
        <p:nvSpPr>
          <p:cNvPr id="15362" name="Rectangle 3"/>
          <p:cNvSpPr>
            <a:spLocks noGrp="1"/>
          </p:cNvSpPr>
          <p:nvPr>
            <p:ph idx="1"/>
          </p:nvPr>
        </p:nvSpPr>
        <p:spPr>
          <a:xfrm>
            <a:off x="619125" y="1392238"/>
            <a:ext cx="7697788" cy="4852987"/>
          </a:xfrm>
        </p:spPr>
        <p:txBody>
          <a:bodyPr vert="horz" wrap="square" lIns="91440" tIns="45720" rIns="91440" bIns="45720" anchor="t" anchorCtr="0"/>
          <a:lstStyle/>
          <a:p>
            <a:pPr eaLnBrk="1" hangingPunct="1">
              <a:lnSpc>
                <a:spcPct val="80000"/>
              </a:lnSpc>
            </a:pPr>
            <a:r>
              <a:rPr lang="vi-VN" altLang="en-US" dirty="0">
                <a:latin typeface="Times New Roman" panose="02020603050405020304" pitchFamily="18" charset="0"/>
              </a:rPr>
              <a:t>Chương III. Phát triển công nghệ thông tin</a:t>
            </a:r>
            <a:r>
              <a:rPr lang="vi-VN" altLang="en-US" b="0" dirty="0">
                <a:latin typeface="Times New Roman" panose="02020603050405020304" pitchFamily="18" charset="0"/>
              </a:rPr>
              <a:t> với 16 điều được chia th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nh 4 mục</a:t>
            </a:r>
            <a:endParaRPr lang="en-US" altLang="en-US" b="0" dirty="0">
              <a:latin typeface="Times New Roman" panose="02020603050405020304" pitchFamily="18" charset="0"/>
            </a:endParaRPr>
          </a:p>
          <a:p>
            <a:pPr marL="457200" lvl="1" indent="0" eaLnBrk="1" hangingPunct="1">
              <a:lnSpc>
                <a:spcPct val="80000"/>
              </a:lnSpc>
              <a:buNone/>
            </a:pPr>
            <a:r>
              <a:rPr lang="vi-VN" altLang="en-US" dirty="0">
                <a:latin typeface="Times New Roman" panose="02020603050405020304" pitchFamily="18" charset="0"/>
              </a:rPr>
              <a:t>Mục 1. Quy định về nghiên cứu- phát triển công nghệ thông tin; cơ sở vật chất, kỹ thuật phụ</a:t>
            </a:r>
            <a:r>
              <a:rPr lang="en-US" altLang="en-US" dirty="0">
                <a:latin typeface="Times New Roman" panose="02020603050405020304" pitchFamily="18" charset="0"/>
              </a:rPr>
              <a:t>c</a:t>
            </a:r>
            <a:r>
              <a:rPr lang="vi-VN" altLang="en-US" dirty="0">
                <a:latin typeface="Times New Roman" panose="02020603050405020304" pitchFamily="18" charset="0"/>
              </a:rPr>
              <a:t> vụ cho hoạt động nghiên cứu- phát triển công nghệ thông tin; tiêu chuẩn, chất lượng trong hoạt động ứng dụng v</a:t>
            </a:r>
            <a:r>
              <a:rPr lang="vi-VN" altLang="en-US" dirty="0">
                <a:latin typeface="Times New Roman" panose="02020603050405020304" pitchFamily="18" charset="0"/>
                <a:ea typeface="Times New Roman" panose="02020603050405020304" pitchFamily="18" charset="0"/>
              </a:rPr>
              <a:t>à</a:t>
            </a:r>
            <a:r>
              <a:rPr lang="vi-VN" altLang="en-US" dirty="0">
                <a:latin typeface="Times New Roman" panose="02020603050405020304" pitchFamily="18" charset="0"/>
              </a:rPr>
              <a:t> phát triển công nghệ thông tin.</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vert="horz" wrap="square" lIns="91440" tIns="45720" rIns="91440" bIns="45720" anchor="ctr" anchorCtr="0"/>
          <a:lstStyle/>
          <a:p>
            <a:pPr eaLnBrk="1" hangingPunct="1"/>
            <a:r>
              <a:rPr lang="en-US" altLang="en-US" dirty="0"/>
              <a:t>Chương 3</a:t>
            </a:r>
          </a:p>
        </p:txBody>
      </p:sp>
      <p:sp>
        <p:nvSpPr>
          <p:cNvPr id="16386" name="Rectangle 3"/>
          <p:cNvSpPr>
            <a:spLocks noGrp="1"/>
          </p:cNvSpPr>
          <p:nvPr>
            <p:ph idx="1"/>
          </p:nvPr>
        </p:nvSpPr>
        <p:spPr>
          <a:xfrm>
            <a:off x="619125" y="1392238"/>
            <a:ext cx="7229475" cy="4852987"/>
          </a:xfrm>
        </p:spPr>
        <p:txBody>
          <a:bodyPr vert="horz" wrap="square" lIns="91440" tIns="45720" rIns="91440" bIns="45720" anchor="t" anchorCtr="0"/>
          <a:lstStyle/>
          <a:p>
            <a:pPr eaLnBrk="1" hangingPunct="1">
              <a:lnSpc>
                <a:spcPct val="80000"/>
              </a:lnSpc>
            </a:pPr>
            <a:r>
              <a:rPr lang="en-US" altLang="en-US" b="0" dirty="0">
                <a:latin typeface="Times New Roman" panose="02020603050405020304" pitchFamily="18" charset="0"/>
              </a:rPr>
              <a:t>Mục 2. Quy định về phát triển nguồn nhân lực công nghệ thông tin bao gồm chính sách phát triển; chứng chỉ công nghệ thông tin; sử dụng nhân lực v</a:t>
            </a:r>
            <a:r>
              <a:rPr lang="en-US" altLang="en-US" b="0" dirty="0">
                <a:latin typeface="Times New Roman" panose="02020603050405020304" pitchFamily="18" charset="0"/>
                <a:ea typeface="Times New Roman" panose="02020603050405020304" pitchFamily="18" charset="0"/>
              </a:rPr>
              <a:t>à</a:t>
            </a:r>
            <a:r>
              <a:rPr lang="en-US" altLang="en-US" b="0" dirty="0">
                <a:latin typeface="Times New Roman" panose="02020603050405020304" pitchFamily="18" charset="0"/>
              </a:rPr>
              <a:t> phổ cập kiến thức công nghệ thông tin</a:t>
            </a:r>
            <a:r>
              <a:rPr lang="vi-VN" altLang="en-US" dirty="0">
                <a:latin typeface="Times New Roman" panose="02020603050405020304" pitchFamily="18" charset="0"/>
              </a:rPr>
              <a:t>.</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type="title"/>
          </p:nvPr>
        </p:nvSpPr>
        <p:spPr/>
        <p:txBody>
          <a:bodyPr vert="horz" wrap="square" lIns="91440" tIns="45720" rIns="91440" bIns="45720" anchor="ctr" anchorCtr="0"/>
          <a:lstStyle/>
          <a:p>
            <a:pPr eaLnBrk="1" hangingPunct="1"/>
            <a:r>
              <a:rPr lang="en-US" altLang="en-US" dirty="0"/>
              <a:t>Chương 3</a:t>
            </a:r>
          </a:p>
        </p:txBody>
      </p:sp>
      <p:sp>
        <p:nvSpPr>
          <p:cNvPr id="17410" name="Rectangle 3"/>
          <p:cNvSpPr>
            <a:spLocks noGrp="1"/>
          </p:cNvSpPr>
          <p:nvPr>
            <p:ph idx="1"/>
          </p:nvPr>
        </p:nvSpPr>
        <p:spPr>
          <a:xfrm>
            <a:off x="619125" y="1392238"/>
            <a:ext cx="7624763" cy="4852987"/>
          </a:xfrm>
        </p:spPr>
        <p:txBody>
          <a:bodyPr vert="horz" wrap="square" lIns="91440" tIns="45720" rIns="91440" bIns="45720" anchor="t" anchorCtr="0"/>
          <a:lstStyle/>
          <a:p>
            <a:pPr eaLnBrk="1" hangingPunct="1">
              <a:lnSpc>
                <a:spcPct val="80000"/>
              </a:lnSpc>
            </a:pPr>
            <a:r>
              <a:rPr lang="vi-VN" altLang="en-US" b="0" dirty="0">
                <a:latin typeface="Times New Roman" panose="02020603050405020304" pitchFamily="18" charset="0"/>
              </a:rPr>
              <a:t>Mục 3. Quy định về phát triển công nghiệp công nghệ thông tin  trong đó xác định rõ loại hình hoạt động công nghiệp công nghệ thông tin; chính sách phát triển công nghiệp công nghệ thông tin; phát triển thị trường công nghiệp công nghệ thông tin; sản phẩm công nghệ thông tin trọng điểm; khu công nghệ thông tin tập trung</a:t>
            </a:r>
            <a:r>
              <a:rPr lang="vi-VN" altLang="en-US" dirty="0">
                <a:latin typeface="Times New Roman" panose="02020603050405020304" pitchFamily="18" charset="0"/>
              </a:rPr>
              <a:t>.</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p:txBody>
          <a:bodyPr vert="horz" wrap="square" lIns="91440" tIns="45720" rIns="91440" bIns="45720" anchor="ctr" anchorCtr="0"/>
          <a:lstStyle/>
          <a:p>
            <a:pPr eaLnBrk="1" hangingPunct="1"/>
            <a:r>
              <a:rPr lang="en-US" altLang="en-US" dirty="0"/>
              <a:t>Chương 3</a:t>
            </a:r>
          </a:p>
        </p:txBody>
      </p:sp>
      <p:sp>
        <p:nvSpPr>
          <p:cNvPr id="18434" name="Rectangle 3"/>
          <p:cNvSpPr>
            <a:spLocks noGrp="1"/>
          </p:cNvSpPr>
          <p:nvPr>
            <p:ph idx="1"/>
          </p:nvPr>
        </p:nvSpPr>
        <p:spPr>
          <a:xfrm>
            <a:off x="619125" y="1392238"/>
            <a:ext cx="7229475" cy="4852987"/>
          </a:xfrm>
        </p:spPr>
        <p:txBody>
          <a:bodyPr vert="horz" wrap="square" lIns="91440" tIns="45720" rIns="91440" bIns="45720" anchor="t" anchorCtr="0"/>
          <a:lstStyle/>
          <a:p>
            <a:pPr eaLnBrk="1" hangingPunct="1">
              <a:lnSpc>
                <a:spcPct val="80000"/>
              </a:lnSpc>
            </a:pPr>
            <a:r>
              <a:rPr lang="en-US" altLang="en-US" b="0" dirty="0">
                <a:latin typeface="Times New Roman" panose="02020603050405020304" pitchFamily="18" charset="0"/>
              </a:rPr>
              <a:t>Mục 4. Quy định phát triển dịch vụ công nghệ thông tin bao gồm loại hình v</a:t>
            </a:r>
            <a:r>
              <a:rPr lang="en-US" altLang="en-US" b="0" dirty="0">
                <a:latin typeface="Times New Roman" panose="02020603050405020304" pitchFamily="18" charset="0"/>
                <a:ea typeface="Times New Roman" panose="02020603050405020304" pitchFamily="18" charset="0"/>
              </a:rPr>
              <a:t>à</a:t>
            </a:r>
            <a:r>
              <a:rPr lang="en-US" altLang="en-US" b="0" dirty="0">
                <a:latin typeface="Times New Roman" panose="02020603050405020304" pitchFamily="18" charset="0"/>
              </a:rPr>
              <a:t> chính sách phát triển dịch vụ công nghệ thông tin</a:t>
            </a:r>
            <a:r>
              <a:rPr lang="vi-VN" altLang="en-US" dirty="0">
                <a:latin typeface="Times New Roman" panose="02020603050405020304" pitchFamily="18" charset="0"/>
              </a:rPr>
              <a:t>.</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title"/>
          </p:nvPr>
        </p:nvSpPr>
        <p:spPr/>
        <p:txBody>
          <a:bodyPr vert="horz" wrap="square" lIns="91440" tIns="45720" rIns="91440" bIns="45720" anchor="ctr" anchorCtr="0"/>
          <a:lstStyle/>
          <a:p>
            <a:pPr eaLnBrk="1" hangingPunct="1"/>
            <a:r>
              <a:rPr lang="en-US" altLang="en-US" dirty="0"/>
              <a:t>Chương 4</a:t>
            </a:r>
          </a:p>
        </p:txBody>
      </p:sp>
      <p:sp>
        <p:nvSpPr>
          <p:cNvPr id="19458" name="Rectangle 3"/>
          <p:cNvSpPr>
            <a:spLocks noGrp="1"/>
          </p:cNvSpPr>
          <p:nvPr>
            <p:ph idx="1"/>
          </p:nvPr>
        </p:nvSpPr>
        <p:spPr>
          <a:xfrm>
            <a:off x="619125" y="1392238"/>
            <a:ext cx="7769225" cy="4852987"/>
          </a:xfrm>
        </p:spPr>
        <p:txBody>
          <a:bodyPr vert="horz" wrap="square" lIns="91440" tIns="45720" rIns="91440" bIns="45720" anchor="t" anchorCtr="0"/>
          <a:lstStyle/>
          <a:p>
            <a:r>
              <a:rPr lang="vi-VN" altLang="en-US" dirty="0">
                <a:latin typeface="Times New Roman" panose="02020603050405020304" pitchFamily="18" charset="0"/>
              </a:rPr>
              <a:t>Chương IV. Các biện pháp bảo đảm ứng dụng v</a:t>
            </a:r>
            <a:r>
              <a:rPr lang="vi-VN" altLang="en-US" dirty="0">
                <a:latin typeface="Times New Roman" panose="02020603050405020304" pitchFamily="18" charset="0"/>
                <a:ea typeface="Times New Roman" panose="02020603050405020304" pitchFamily="18" charset="0"/>
              </a:rPr>
              <a:t>à</a:t>
            </a:r>
            <a:r>
              <a:rPr lang="vi-VN" altLang="en-US" dirty="0">
                <a:latin typeface="Times New Roman" panose="02020603050405020304" pitchFamily="18" charset="0"/>
              </a:rPr>
              <a:t> phát triển công nghệ thông tin </a:t>
            </a:r>
            <a:r>
              <a:rPr lang="vi-VN" altLang="en-US" b="0" dirty="0">
                <a:latin typeface="Times New Roman" panose="02020603050405020304" pitchFamily="18" charset="0"/>
              </a:rPr>
              <a:t>gồm 21 điều được chia th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nh 4 mục.</a:t>
            </a:r>
          </a:p>
          <a:p>
            <a:r>
              <a:rPr lang="vi-VN" altLang="en-US" b="0" dirty="0">
                <a:latin typeface="Times New Roman" panose="02020603050405020304" pitchFamily="18" charset="0"/>
              </a:rPr>
              <a:t>Mục 1. Cơ sở hạ tầng thông tin cho ứng dụng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phát triển công nghệ thông tin - quy định về nguyên tắc phát triển cơ sở hạ tầng thông tin; bảo đảm cơ sở hạ tầng thông tin phục vụ ứng dụng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phát triển công nghệ thông tin; cơ sở hạ tầng thông tin phục vụ các cơ quan nh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nước; cơ sở hạ tầng thông tin phục vụ công ích; cơ sở dữ liệu của bộ, ng</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nh, địa phương; bảo vệ cơ sở hạ tầng thông tin</a:t>
            </a:r>
          </a:p>
          <a:p>
            <a:pPr eaLnBrk="1" hangingPunct="1">
              <a:lnSpc>
                <a:spcPct val="80000"/>
              </a:lnSpc>
            </a:pP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blinds(horizontal)">
                                      <p:cBhvr>
                                        <p:cTn id="7" dur="500"/>
                                        <p:tgtEl>
                                          <p:spTgt spid="194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p:txBody>
          <a:bodyPr vert="horz" wrap="square" lIns="91440" tIns="45720" rIns="91440" bIns="45720" anchor="ctr" anchorCtr="0"/>
          <a:lstStyle/>
          <a:p>
            <a:pPr eaLnBrk="1" hangingPunct="1"/>
            <a:r>
              <a:rPr lang="en-US" altLang="en-US" dirty="0"/>
              <a:t>Chương 4</a:t>
            </a:r>
          </a:p>
        </p:txBody>
      </p:sp>
      <p:sp>
        <p:nvSpPr>
          <p:cNvPr id="20482" name="Rectangle 3"/>
          <p:cNvSpPr>
            <a:spLocks noGrp="1"/>
          </p:cNvSpPr>
          <p:nvPr>
            <p:ph idx="1"/>
          </p:nvPr>
        </p:nvSpPr>
        <p:spPr>
          <a:xfrm>
            <a:off x="619125" y="1392238"/>
            <a:ext cx="7697788" cy="4852987"/>
          </a:xfrm>
        </p:spPr>
        <p:txBody>
          <a:bodyPr vert="horz" wrap="square" lIns="91440" tIns="45720" rIns="91440" bIns="45720" anchor="t" anchorCtr="0"/>
          <a:lstStyle/>
          <a:p>
            <a:pPr eaLnBrk="1" hangingPunct="1">
              <a:lnSpc>
                <a:spcPct val="80000"/>
              </a:lnSpc>
            </a:pPr>
            <a:r>
              <a:rPr lang="vi-VN" altLang="en-US" b="0" dirty="0">
                <a:latin typeface="Times New Roman" panose="02020603050405020304" pitchFamily="18" charset="0"/>
              </a:rPr>
              <a:t>Mục 2. Đầu tư cho công nghệ thông tin. </a:t>
            </a:r>
            <a:endParaRPr lang="en-US" altLang="en-US" b="0" dirty="0">
              <a:latin typeface="Times New Roman" panose="02020603050405020304" pitchFamily="18" charset="0"/>
            </a:endParaRPr>
          </a:p>
          <a:p>
            <a:pPr eaLnBrk="1" hangingPunct="1">
              <a:lnSpc>
                <a:spcPct val="80000"/>
              </a:lnSpc>
              <a:buNone/>
            </a:pPr>
            <a:r>
              <a:rPr lang="vi-VN" altLang="en-US" b="0" dirty="0">
                <a:latin typeface="Times New Roman" panose="02020603050405020304" pitchFamily="18" charset="0"/>
              </a:rPr>
              <a:t>Đây l</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nội dung quan trọng nhằm thúc đẩy phát triển công nghệ thông tin. Mục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y quy định cụ thể về Đầu tư của tổ chức, cá nhân cho công nghệ thông tin; đầu tư của nh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nước cho công nghệ thông tin; đầu tư cho sự nghiệp ứng dụng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phát triển công nghệ thông tin; đầu tư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phát triển công nghệ thông tin phục vụ nông nghiệp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nông thôn</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vert="horz" wrap="square" lIns="91440" tIns="45720" rIns="91440" bIns="45720" anchor="ctr" anchorCtr="0"/>
          <a:lstStyle/>
          <a:p>
            <a:pPr eaLnBrk="1" hangingPunct="1"/>
            <a:r>
              <a:rPr lang="en-US" altLang="en-US" dirty="0"/>
              <a:t>Chương 4</a:t>
            </a:r>
          </a:p>
        </p:txBody>
      </p:sp>
      <p:sp>
        <p:nvSpPr>
          <p:cNvPr id="21506" name="Rectangle 3"/>
          <p:cNvSpPr>
            <a:spLocks noGrp="1"/>
          </p:cNvSpPr>
          <p:nvPr>
            <p:ph idx="1"/>
          </p:nvPr>
        </p:nvSpPr>
        <p:spPr>
          <a:xfrm>
            <a:off x="619125" y="1392238"/>
            <a:ext cx="7697788" cy="4852987"/>
          </a:xfrm>
        </p:spPr>
        <p:txBody>
          <a:bodyPr vert="horz" wrap="square" lIns="91440" tIns="45720" rIns="91440" bIns="45720" anchor="t" anchorCtr="0"/>
          <a:lstStyle/>
          <a:p>
            <a:pPr eaLnBrk="1" hangingPunct="1">
              <a:lnSpc>
                <a:spcPct val="80000"/>
              </a:lnSpc>
            </a:pPr>
            <a:r>
              <a:rPr lang="vi-VN" altLang="en-US" b="0" dirty="0">
                <a:latin typeface="Times New Roman" panose="02020603050405020304" pitchFamily="18" charset="0"/>
              </a:rPr>
              <a:t>Mục 3. Hợp tác quốc tế về công nghệ thông tin - quy định nguyên tắc, nội dung hợp tác quốc tế về công nghệ thông tin nhằm tạo điều kiện cho các th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nh phần kinh tế mở rộng hợp tác về công nghệ thông tin với tổ chức, cá nhân nước ngo</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i, thúc đẩy sự phát triển công nghệ thông tin Việt Nam đáp ứng yêu cầu công nghiệp hoá, hiện đại hoá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hội nhập kinh tế quốc tế.</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type="title"/>
          </p:nvPr>
        </p:nvSpPr>
        <p:spPr/>
        <p:txBody>
          <a:bodyPr vert="horz" wrap="square" lIns="91440" tIns="45720" rIns="91440" bIns="45720" anchor="ctr" anchorCtr="0"/>
          <a:lstStyle/>
          <a:p>
            <a:pPr eaLnBrk="1" hangingPunct="1"/>
            <a:r>
              <a:rPr lang="en-US" altLang="en-US" dirty="0"/>
              <a:t>Chương 4</a:t>
            </a:r>
          </a:p>
        </p:txBody>
      </p:sp>
      <p:sp>
        <p:nvSpPr>
          <p:cNvPr id="22530" name="Rectangle 3"/>
          <p:cNvSpPr>
            <a:spLocks noGrp="1"/>
          </p:cNvSpPr>
          <p:nvPr>
            <p:ph idx="1"/>
          </p:nvPr>
        </p:nvSpPr>
        <p:spPr>
          <a:xfrm>
            <a:off x="619125" y="1392238"/>
            <a:ext cx="7985125" cy="4852987"/>
          </a:xfrm>
        </p:spPr>
        <p:txBody>
          <a:bodyPr vert="horz" wrap="square" lIns="91440" tIns="45720" rIns="91440" bIns="45720" anchor="t" anchorCtr="0"/>
          <a:lstStyle/>
          <a:p>
            <a:pPr eaLnBrk="1" hangingPunct="1">
              <a:lnSpc>
                <a:spcPct val="80000"/>
              </a:lnSpc>
            </a:pPr>
            <a:r>
              <a:rPr lang="vi-VN" altLang="en-US" b="0" dirty="0">
                <a:latin typeface="Times New Roman" panose="02020603050405020304" pitchFamily="18" charset="0"/>
              </a:rPr>
              <a:t>Mục 4. Bảo vệ quyền, lợi ích hợp pháp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hỗ trợ người sử dụng sản phẩm, dịch vụ công nghệ thông tin. </a:t>
            </a:r>
            <a:endParaRPr lang="en-US" altLang="en-US" b="0" dirty="0">
              <a:latin typeface="Times New Roman" panose="02020603050405020304" pitchFamily="18" charset="0"/>
            </a:endParaRPr>
          </a:p>
          <a:p>
            <a:pPr eaLnBrk="1" hangingPunct="1">
              <a:lnSpc>
                <a:spcPct val="80000"/>
              </a:lnSpc>
              <a:buNone/>
            </a:pPr>
            <a:r>
              <a:rPr lang="vi-VN" altLang="en-US" b="0" dirty="0">
                <a:latin typeface="Times New Roman" panose="02020603050405020304" pitchFamily="18" charset="0"/>
              </a:rPr>
              <a:t>Mục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y quy định về trách nhiệm của nh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nước, xã hội trong việc bảo vệ quyền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lợi ích hợp pháp của người sử dụng; bảo vệ tên miền quốc gia; bảo vệ quyền sở hữu trí tuệ trong lĩnh vực công nghệ thông tin; chống thư rác, vi rút máy tính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phần mềm gây hại; bảo vệ trẻ em tránh những thông tin tiêu cực; bảo đảm an to</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 bí mật thông tin; hỗ trợ người t</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 tật trong ứng dụng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phát triển công nghệ thông tin.</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p:txBody>
          <a:bodyPr vert="horz" wrap="square" lIns="91440" tIns="45720" rIns="91440" bIns="45720" anchor="ctr" anchorCtr="0"/>
          <a:lstStyle/>
          <a:p>
            <a:pPr eaLnBrk="1" hangingPunct="1"/>
            <a:r>
              <a:rPr lang="en-US" altLang="en-US" dirty="0"/>
              <a:t>Chương 5</a:t>
            </a:r>
          </a:p>
        </p:txBody>
      </p:sp>
      <p:sp>
        <p:nvSpPr>
          <p:cNvPr id="23554" name="Rectangle 3"/>
          <p:cNvSpPr>
            <a:spLocks noGrp="1"/>
          </p:cNvSpPr>
          <p:nvPr>
            <p:ph idx="1"/>
          </p:nvPr>
        </p:nvSpPr>
        <p:spPr>
          <a:xfrm>
            <a:off x="619125" y="1392238"/>
            <a:ext cx="7913688" cy="4852987"/>
          </a:xfrm>
        </p:spPr>
        <p:txBody>
          <a:bodyPr vert="horz" wrap="square" lIns="91440" tIns="45720" rIns="91440" bIns="45720" anchor="t" anchorCtr="0"/>
          <a:lstStyle/>
          <a:p>
            <a:pPr eaLnBrk="1" hangingPunct="1">
              <a:lnSpc>
                <a:spcPct val="80000"/>
              </a:lnSpc>
            </a:pPr>
            <a:r>
              <a:rPr lang="vi-VN" altLang="en-US" dirty="0">
                <a:latin typeface="Times New Roman" panose="02020603050405020304" pitchFamily="18" charset="0"/>
              </a:rPr>
              <a:t>Chương V. Giải quyết tranh chấp v</a:t>
            </a:r>
            <a:r>
              <a:rPr lang="vi-VN" altLang="en-US" dirty="0">
                <a:latin typeface="Times New Roman" panose="02020603050405020304" pitchFamily="18" charset="0"/>
                <a:ea typeface="Times New Roman" panose="02020603050405020304" pitchFamily="18" charset="0"/>
              </a:rPr>
              <a:t>à</a:t>
            </a:r>
            <a:r>
              <a:rPr lang="vi-VN" altLang="en-US" dirty="0">
                <a:latin typeface="Times New Roman" panose="02020603050405020304" pitchFamily="18" charset="0"/>
              </a:rPr>
              <a:t> xử lý vi phạm</a:t>
            </a:r>
            <a:r>
              <a:rPr lang="vi-VN" altLang="en-US" b="0" dirty="0">
                <a:latin typeface="Times New Roman" panose="02020603050405020304" pitchFamily="18" charset="0"/>
              </a:rPr>
              <a:t> </a:t>
            </a:r>
            <a:endParaRPr lang="en-US" altLang="en-US" b="0" dirty="0">
              <a:latin typeface="Times New Roman" panose="02020603050405020304" pitchFamily="18" charset="0"/>
            </a:endParaRPr>
          </a:p>
          <a:p>
            <a:pPr eaLnBrk="1" hangingPunct="1">
              <a:lnSpc>
                <a:spcPct val="80000"/>
              </a:lnSpc>
              <a:buNone/>
            </a:pPr>
            <a:r>
              <a:rPr lang="vi-VN" altLang="en-US" b="0" dirty="0">
                <a:latin typeface="Times New Roman" panose="02020603050405020304" pitchFamily="18" charset="0"/>
              </a:rPr>
              <a:t>gồm 3 điều quy định mang tính nguyên tắc hình thức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thẩm quyền giải quyết tranh chấp công nghệ thông tin nói chung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tranh chấp về đăng ký, sử dụng tên miền quốc gia Việt Nam “.vn”; xử lý vi phạm pháp luật về công nghệ thông tin</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p:txBody>
          <a:bodyPr vert="horz" wrap="square" lIns="91440" tIns="45720" rIns="91440" bIns="45720" anchor="ctr" anchorCtr="0"/>
          <a:lstStyle/>
          <a:p>
            <a:pPr eaLnBrk="1" hangingPunct="1"/>
            <a:r>
              <a:rPr lang="en-US" altLang="en-US" dirty="0"/>
              <a:t>Chương 6</a:t>
            </a:r>
          </a:p>
        </p:txBody>
      </p:sp>
      <p:sp>
        <p:nvSpPr>
          <p:cNvPr id="24578" name="Rectangle 3"/>
          <p:cNvSpPr>
            <a:spLocks noGrp="1"/>
          </p:cNvSpPr>
          <p:nvPr>
            <p:ph idx="1"/>
          </p:nvPr>
        </p:nvSpPr>
        <p:spPr>
          <a:xfrm>
            <a:off x="619125" y="1392238"/>
            <a:ext cx="7229475" cy="4852987"/>
          </a:xfrm>
        </p:spPr>
        <p:txBody>
          <a:bodyPr vert="horz" wrap="square" lIns="91440" tIns="45720" rIns="91440" bIns="45720" anchor="t" anchorCtr="0"/>
          <a:lstStyle/>
          <a:p>
            <a:pPr eaLnBrk="1" hangingPunct="1">
              <a:lnSpc>
                <a:spcPct val="80000"/>
              </a:lnSpc>
            </a:pPr>
            <a:r>
              <a:rPr lang="vi-VN" altLang="en-US" dirty="0">
                <a:latin typeface="Times New Roman" panose="02020603050405020304" pitchFamily="18" charset="0"/>
              </a:rPr>
              <a:t>Chương VI. Điều khoản thi h</a:t>
            </a:r>
            <a:r>
              <a:rPr lang="vi-VN" altLang="en-US" dirty="0">
                <a:latin typeface="Times New Roman" panose="02020603050405020304" pitchFamily="18" charset="0"/>
                <a:ea typeface="Times New Roman" panose="02020603050405020304" pitchFamily="18" charset="0"/>
              </a:rPr>
              <a:t>à</a:t>
            </a:r>
            <a:r>
              <a:rPr lang="vi-VN" altLang="en-US" dirty="0">
                <a:latin typeface="Times New Roman" panose="02020603050405020304" pitchFamily="18" charset="0"/>
              </a:rPr>
              <a:t>nh</a:t>
            </a:r>
            <a:r>
              <a:rPr lang="vi-VN" altLang="en-US" b="0" dirty="0">
                <a:latin typeface="Times New Roman" panose="02020603050405020304" pitchFamily="18" charset="0"/>
              </a:rPr>
              <a:t> gồm 2 điều quy định về hiệu lực thi 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nh, trách nhiệm của Chính phủ qui định chi tiết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 hướng dẫn thi 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rPr>
              <a:t>nh Luật Công nghệ thông tin</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sample">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ample 1">
        <a:dk1>
          <a:srgbClr val="48806B"/>
        </a:dk1>
        <a:lt1>
          <a:srgbClr val="FFFFFF"/>
        </a:lt1>
        <a:dk2>
          <a:srgbClr val="77956D"/>
        </a:dk2>
        <a:lt2>
          <a:srgbClr val="C0C0C0"/>
        </a:lt2>
        <a:accent1>
          <a:srgbClr val="6BB9C3"/>
        </a:accent1>
        <a:accent2>
          <a:srgbClr val="E7BA15"/>
        </a:accent2>
        <a:accent3>
          <a:srgbClr val="FFFFFF"/>
        </a:accent3>
        <a:accent4>
          <a:srgbClr val="3C6C5A"/>
        </a:accent4>
        <a:accent5>
          <a:srgbClr val="BAD9DE"/>
        </a:accent5>
        <a:accent6>
          <a:srgbClr val="D1A812"/>
        </a:accent6>
        <a:hlink>
          <a:srgbClr val="76C14D"/>
        </a:hlink>
        <a:folHlink>
          <a:srgbClr val="B0C29C"/>
        </a:folHlink>
      </a:clrScheme>
      <a:clrMap bg1="lt1" tx1="dk1" bg2="lt2" tx2="dk2" accent1="accent1" accent2="accent2" accent3="accent3" accent4="accent4" accent5="accent5" accent6="accent6" hlink="hlink" folHlink="folHlink"/>
    </a:extraClrScheme>
    <a:extraClrScheme>
      <a:clrScheme name="sample 2">
        <a:dk1>
          <a:srgbClr val="5F5F5F"/>
        </a:dk1>
        <a:lt1>
          <a:srgbClr val="FFFFFF"/>
        </a:lt1>
        <a:dk2>
          <a:srgbClr val="8D8D8D"/>
        </a:dk2>
        <a:lt2>
          <a:srgbClr val="C0C0C0"/>
        </a:lt2>
        <a:accent1>
          <a:srgbClr val="8EC072"/>
        </a:accent1>
        <a:accent2>
          <a:srgbClr val="5DB8CD"/>
        </a:accent2>
        <a:accent3>
          <a:srgbClr val="FFFFFF"/>
        </a:accent3>
        <a:accent4>
          <a:srgbClr val="505050"/>
        </a:accent4>
        <a:accent5>
          <a:srgbClr val="C6DCBC"/>
        </a:accent5>
        <a:accent6>
          <a:srgbClr val="53A6BA"/>
        </a:accent6>
        <a:hlink>
          <a:srgbClr val="D68B40"/>
        </a:hlink>
        <a:folHlink>
          <a:srgbClr val="D5D179"/>
        </a:folHlink>
      </a:clrScheme>
      <a:clrMap bg1="lt1" tx1="dk1" bg2="lt2" tx2="dk2" accent1="accent1" accent2="accent2" accent3="accent3" accent4="accent4" accent5="accent5" accent6="accent6" hlink="hlink" folHlink="folHlink"/>
    </a:extraClrScheme>
    <a:extraClrScheme>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cdb2004146l</Template>
  <TotalTime>52</TotalTime>
  <Words>7568</Words>
  <Application>Microsoft Office PowerPoint</Application>
  <PresentationFormat>On-screen Show (4:3)</PresentationFormat>
  <Paragraphs>294</Paragraphs>
  <Slides>74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Times New Roman</vt:lpstr>
      <vt:lpstr>Verdana</vt:lpstr>
      <vt:lpstr>Wingdings</vt:lpstr>
      <vt:lpstr>sample</vt:lpstr>
      <vt:lpstr> </vt:lpstr>
      <vt:lpstr>Luật CNTT số 67/2006/QH11</vt:lpstr>
      <vt:lpstr>Luật CNTT số 67/2006/QH11</vt:lpstr>
      <vt:lpstr>Luật CNTT số 67/2006/QH11</vt:lpstr>
      <vt:lpstr>Luật CNTT số 67/2006/QH11</vt:lpstr>
      <vt:lpstr>Luật CNTT số 67/2006/QH11</vt:lpstr>
      <vt:lpstr>Chương I</vt:lpstr>
      <vt:lpstr>Điều 1. Phạm vi điều chỉnh</vt:lpstr>
      <vt:lpstr>Điều 2. Đối tượng áp dụng </vt:lpstr>
      <vt:lpstr>Điều 3. Áp dụng Luật cntt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Điều 12. Các hành vi bị nghiêm cấm </vt:lpstr>
      <vt:lpstr>PowerPoint Presentation</vt:lpstr>
      <vt:lpstr>Điều 12. Các hành vi bị nghiêm cấm </vt:lpstr>
      <vt:lpstr>PowerPoint Presentation</vt:lpstr>
      <vt:lpstr>Điều 12. Các hành vi bị nghiêm cấm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Tấn công từ chối dịch vụ</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Chương 2</vt:lpstr>
      <vt:lpstr>PowerPoint Presentation</vt:lpstr>
      <vt:lpstr>Mục 1  QUY ĐỊNH CHUNG VỀ ỨNG DỤNG CÔNG NGHỆ THÔNG TIN</vt:lpstr>
      <vt:lpstr>Chương 2</vt:lpstr>
      <vt:lpstr>Mục 1. Quy định chung về ứng dụng công nghệ thông tin </vt:lpstr>
      <vt:lpstr>Mục 1. Quy định chung về ứng dụng công nghệ thông tin </vt:lpstr>
      <vt:lpstr> Điều 15. Quản lý và sử dụng thông tin số</vt:lpstr>
      <vt:lpstr>PowerPoint Presentation</vt:lpstr>
      <vt:lpstr>Điều 21. Thu thập, xử lý và sử dụng thông tin cá nhân trên môi trường mạng  </vt:lpstr>
      <vt:lpstr>PowerPoint Presentation</vt:lpstr>
      <vt:lpstr>PowerPoint Presentation</vt:lpstr>
      <vt:lpstr> Điều 22. Lưu trữ, cung cấp thông tin cá nhân trên môi trường mạng </vt:lpstr>
      <vt:lpstr>PowerPoint Presentation</vt:lpstr>
      <vt:lpstr>Chương 2</vt:lpstr>
      <vt:lpstr>Chương 2</vt:lpstr>
      <vt:lpstr>Chương 2</vt:lpstr>
      <vt:lpstr>Chương 3</vt:lpstr>
      <vt:lpstr>Chương 3</vt:lpstr>
      <vt:lpstr>Chương 3</vt:lpstr>
      <vt:lpstr>Chương 3</vt:lpstr>
      <vt:lpstr>Chương 4</vt:lpstr>
      <vt:lpstr>Chương 4</vt:lpstr>
      <vt:lpstr>Chương 4</vt:lpstr>
      <vt:lpstr>Chương 4</vt:lpstr>
      <vt:lpstr>Chương 5</vt:lpstr>
      <vt:lpstr>Chương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Admin</dc:creator>
  <cp:lastModifiedBy>Huỳnh Nguyễn Quốc Bảo-CN22CLCA</cp:lastModifiedBy>
  <cp:revision>150</cp:revision>
  <dcterms:created xsi:type="dcterms:W3CDTF">2015-11-29T04:26:00Z</dcterms:created>
  <dcterms:modified xsi:type="dcterms:W3CDTF">2025-12-18T12:27:40Z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AEFE9253FDF94ADEAC8E0A1EBAE10286_13</vt:lpwstr>
  </property>
  <property fmtid="{D5CDD505-2E9C-101B-9397-08002B2CF9AE}" pid="3" name="KSOProductBuildVer">
    <vt:lpwstr>1033-12.2.0.21546</vt:lpwstr>
  </property>
</Properties>
</file>