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0" r:id="rId2"/>
    <p:sldId id="259" r:id="rId3"/>
    <p:sldId id="260" r:id="rId4"/>
    <p:sldId id="311" r:id="rId5"/>
    <p:sldId id="314" r:id="rId6"/>
    <p:sldId id="315" r:id="rId7"/>
    <p:sldId id="316" r:id="rId8"/>
    <p:sldId id="341" r:id="rId9"/>
    <p:sldId id="317" r:id="rId10"/>
    <p:sldId id="342" r:id="rId11"/>
    <p:sldId id="318" r:id="rId12"/>
    <p:sldId id="319" r:id="rId13"/>
    <p:sldId id="320" r:id="rId14"/>
    <p:sldId id="321" r:id="rId15"/>
    <p:sldId id="322" r:id="rId16"/>
    <p:sldId id="323" r:id="rId17"/>
    <p:sldId id="343" r:id="rId18"/>
    <p:sldId id="344" r:id="rId19"/>
    <p:sldId id="324" r:id="rId20"/>
    <p:sldId id="325" r:id="rId21"/>
    <p:sldId id="326" r:id="rId22"/>
    <p:sldId id="261" r:id="rId23"/>
    <p:sldId id="262" r:id="rId24"/>
    <p:sldId id="263" r:id="rId25"/>
    <p:sldId id="330" r:id="rId26"/>
    <p:sldId id="331" r:id="rId27"/>
    <p:sldId id="332" r:id="rId28"/>
    <p:sldId id="336" r:id="rId29"/>
    <p:sldId id="337" r:id="rId30"/>
    <p:sldId id="265" r:id="rId31"/>
    <p:sldId id="266" r:id="rId32"/>
    <p:sldId id="267" r:id="rId33"/>
    <p:sldId id="268" r:id="rId34"/>
    <p:sldId id="269" r:id="rId3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5868"/>
    <a:srgbClr val="5F5F5F"/>
    <a:srgbClr val="808080"/>
    <a:srgbClr val="6699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p:restoredTop sz="94660"/>
  </p:normalViewPr>
  <p:slideViewPr>
    <p:cSldViewPr>
      <p:cViewPr varScale="1">
        <p:scale>
          <a:sx n="79" d="100"/>
          <a:sy n="79" d="100"/>
        </p:scale>
        <p:origin x="8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8004175" y="0"/>
            <a:ext cx="1139825"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9" name="Rectangle 18"/>
          <p:cNvSpPr>
            <a:spLocks noChangeArrowheads="1"/>
          </p:cNvSpPr>
          <p:nvPr/>
        </p:nvSpPr>
        <p:spPr bwMode="white">
          <a:xfrm>
            <a:off x="0" y="4638675"/>
            <a:ext cx="9144000" cy="2219325"/>
          </a:xfrm>
          <a:prstGeom prst="rect">
            <a:avLst/>
          </a:prstGeom>
          <a:solidFill>
            <a:schemeClr val="folHlink">
              <a:alpha val="3098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 name="Rectangle 19"/>
          <p:cNvSpPr>
            <a:spLocks noChangeArrowheads="1"/>
          </p:cNvSpPr>
          <p:nvPr/>
        </p:nvSpPr>
        <p:spPr bwMode="gray">
          <a:xfrm>
            <a:off x="0" y="2149475"/>
            <a:ext cx="9144000" cy="24987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3" name="Freeform 20"/>
          <p:cNvSpPr/>
          <p:nvPr/>
        </p:nvSpPr>
        <p:spPr>
          <a:xfrm>
            <a:off x="-9525" y="2138363"/>
            <a:ext cx="8015288" cy="22717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folHlink">
              <a:alpha val="72940"/>
            </a:schemeClr>
          </a:solidFill>
          <a:ln w="9525">
            <a:noFill/>
          </a:ln>
        </p:spPr>
        <p:txBody>
          <a:bodyPr/>
          <a:lstStyle/>
          <a:p>
            <a:endParaRPr lang="en-US"/>
          </a:p>
        </p:txBody>
      </p:sp>
      <p:sp>
        <p:nvSpPr>
          <p:cNvPr id="22"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3"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4"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304800" y="22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a:ln>
                  <a:noFill/>
                </a:ln>
                <a:solidFill>
                  <a:schemeClr val="tx2"/>
                </a:solidFill>
                <a:effectLst/>
                <a:uLnTx/>
                <a:uFillTx/>
                <a:latin typeface="Verdana" panose="020B0604030504040204" pitchFamily="34" charset="0"/>
                <a:ea typeface="+mn-ea"/>
                <a:cs typeface="+mn-cs"/>
              </a:rPr>
              <a:t>LOGO</a:t>
            </a:r>
          </a:p>
        </p:txBody>
      </p:sp>
      <p:grpSp>
        <p:nvGrpSpPr>
          <p:cNvPr id="2058" name="Group 116"/>
          <p:cNvGrpSpPr/>
          <p:nvPr/>
        </p:nvGrpSpPr>
        <p:grpSpPr>
          <a:xfrm>
            <a:off x="190500" y="2324100"/>
            <a:ext cx="3276600" cy="3314700"/>
            <a:chOff x="120" y="1464"/>
            <a:chExt cx="2064" cy="2088"/>
          </a:xfrm>
        </p:grpSpPr>
        <p:sp>
          <p:nvSpPr>
            <p:cNvPr id="27" name="AutoShape 113" descr="gdd01"/>
            <p:cNvSpPr>
              <a:spLocks noChangeArrowheads="1"/>
            </p:cNvSpPr>
            <p:nvPr/>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ln>
            <a:effectLst>
              <a:outerShdw dist="125080" dir="1437749" algn="ctr" rotWithShape="0">
                <a:schemeClr val="bg2">
                  <a:alpha val="32001"/>
                </a:schemeClr>
              </a:outerShdw>
            </a:effectLst>
          </p:spPr>
          <p:txBody>
            <a:bodyPr wrap="none" anchor="ctr"/>
            <a:lstStyle/>
            <a:p>
              <a:pPr lvl="0" algn="ctr"/>
              <a:endParaRPr lang="ko-KR" altLang="en-US" dirty="0">
                <a:latin typeface="Times New Roman" panose="02020603050405020304" pitchFamily="18" charset="0"/>
                <a:ea typeface="Gulim" pitchFamily="34" charset="-127"/>
              </a:endParaRPr>
            </a:p>
          </p:txBody>
        </p:sp>
        <p:sp>
          <p:nvSpPr>
            <p:cNvPr id="28" name="AutoShape 114" descr="gdd04"/>
            <p:cNvSpPr>
              <a:spLocks noChangeArrowheads="1"/>
            </p:cNvSpPr>
            <p:nvPr/>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ln>
            <a:effectLst>
              <a:outerShdw dist="125080" dir="1437749" algn="ctr" rotWithShape="0">
                <a:schemeClr val="bg2">
                  <a:alpha val="32001"/>
                </a:schemeClr>
              </a:outerShdw>
            </a:effectLst>
          </p:spPr>
          <p:txBody>
            <a:bodyPr wrap="none" anchor="ctr"/>
            <a:lstStyle/>
            <a:p>
              <a:pPr lvl="0" algn="ctr"/>
              <a:endParaRPr lang="ko-KR" altLang="en-US" dirty="0">
                <a:latin typeface="Times New Roman" panose="02020603050405020304" pitchFamily="18" charset="0"/>
                <a:ea typeface="Gulim" pitchFamily="34" charset="-127"/>
              </a:endParaRPr>
            </a:p>
          </p:txBody>
        </p:sp>
        <p:sp>
          <p:nvSpPr>
            <p:cNvPr id="29" name="AutoShape 115" descr="gdd03"/>
            <p:cNvSpPr>
              <a:spLocks noChangeArrowheads="1"/>
            </p:cNvSpPr>
            <p:nvPr/>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ln>
            <a:effectLst>
              <a:outerShdw dist="125080" dir="1437749" algn="ctr" rotWithShape="0">
                <a:schemeClr val="bg2">
                  <a:alpha val="32001"/>
                </a:schemeClr>
              </a:outerShdw>
            </a:effectLst>
          </p:spPr>
          <p:txBody>
            <a:bodyPr wrap="none" anchor="ctr"/>
            <a:lstStyle/>
            <a:p>
              <a:pPr lvl="0" algn="ctr"/>
              <a:endParaRPr lang="ko-KR" altLang="en-US" dirty="0">
                <a:latin typeface="Times New Roman" panose="02020603050405020304"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pPr lvl="0"/>
            <a:r>
              <a:rPr lang="en-US" noProof="0"/>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anose="05000000000000000000" pitchFamily="2" charset="2"/>
              <a:buNone/>
              <a:defRPr sz="1600">
                <a:solidFill>
                  <a:schemeClr val="bg1"/>
                </a:solidFill>
              </a:defRPr>
            </a:lvl1pPr>
          </a:lstStyle>
          <a:p>
            <a:pPr lvl="0"/>
            <a:r>
              <a:rPr lang="en-US" noProof="0"/>
              <a:t>Click to edit Master subtitle style</a:t>
            </a:r>
          </a:p>
        </p:txBody>
      </p:sp>
      <p:sp>
        <p:nvSpPr>
          <p:cNvPr id="30" name="Rectangle 4"/>
          <p:cNvSpPr>
            <a:spLocks noGrp="1" noChangeArrowheads="1"/>
          </p:cNvSpPr>
          <p:nvPr>
            <p:ph type="dt" sz="half" idx="2"/>
          </p:nvPr>
        </p:nvSpPr>
        <p:spPr bwMode="auto">
          <a:xfrm>
            <a:off x="3352800" y="6553200"/>
            <a:ext cx="2133600" cy="152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chemeClr val="tx2"/>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2"/>
              </a:solidFill>
              <a:effectLst/>
              <a:uLnTx/>
              <a:uFillTx/>
              <a:latin typeface="+mn-lt"/>
              <a:ea typeface="+mn-ea"/>
              <a:cs typeface="+mn-cs"/>
            </a:endParaRPr>
          </a:p>
        </p:txBody>
      </p:sp>
      <p:sp>
        <p:nvSpPr>
          <p:cNvPr id="31" name="Rectangle 5"/>
          <p:cNvSpPr>
            <a:spLocks noGrp="1" noChangeArrowheads="1"/>
          </p:cNvSpPr>
          <p:nvPr>
            <p:ph type="ftr" sz="quarter" idx="3"/>
          </p:nvPr>
        </p:nvSpPr>
        <p:spPr bwMode="auto">
          <a:xfrm>
            <a:off x="304800" y="6477000"/>
            <a:ext cx="2590800" cy="228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solidFill>
                  <a:schemeClr val="tx2"/>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mn-cs"/>
            </a:endParaRPr>
          </a:p>
        </p:txBody>
      </p:sp>
      <p:sp>
        <p:nvSpPr>
          <p:cNvPr id="32" name="Rectangle 6"/>
          <p:cNvSpPr>
            <a:spLocks noGrp="1" noChangeArrowheads="1"/>
          </p:cNvSpPr>
          <p:nvPr>
            <p:ph type="sldNum" sz="quarter" idx="4"/>
          </p:nvPr>
        </p:nvSpPr>
        <p:spPr bwMode="auto">
          <a:xfrm>
            <a:off x="8210550" y="6467475"/>
            <a:ext cx="533400" cy="2444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F4F94F-D4F7-47A6-BBDD-2646906EA646}"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rPr>
              <a:t>‹#›</a:t>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sz="3200" b="1" i="0" u="none" strike="noStrike" kern="1200" cap="none" spc="0" normalizeH="0" baseline="0" noProof="0">
                <a:ln>
                  <a:noFill/>
                </a:ln>
                <a:solidFill>
                  <a:schemeClr val="tx1"/>
                </a:solidFill>
                <a:effectLst/>
                <a:uLnTx/>
                <a:uFillTx/>
                <a:latin typeface="+mn-lt"/>
                <a:ea typeface="+mn-ea"/>
                <a:cs typeface="+mn-cs"/>
              </a:rPr>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r>
              <a:rPr lang="en-US"/>
              <a:t>Click to edit Master title style</a:t>
            </a:r>
          </a:p>
        </p:txBody>
      </p:sp>
      <p:sp>
        <p:nvSpPr>
          <p:cNvPr id="3" name="Table Placeholder 2"/>
          <p:cNvSpPr>
            <a:spLocks noGrp="1"/>
          </p:cNvSpPr>
          <p:nvPr>
            <p:ph type="tbl"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table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r>
              <a:rPr lang="en-US"/>
              <a:t>Click to edit Master title style</a:t>
            </a:r>
          </a:p>
        </p:txBody>
      </p:sp>
      <p:sp>
        <p:nvSpPr>
          <p:cNvPr id="3" name="Chart Placeholder 2"/>
          <p:cNvSpPr>
            <a:spLocks noGrp="1"/>
          </p:cNvSpPr>
          <p:nvPr>
            <p:ph type="chart"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chart</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5"/>
          <p:cNvSpPr/>
          <p:nvPr/>
        </p:nvSpPr>
        <p:spPr>
          <a:xfrm>
            <a:off x="-9525" y="344488"/>
            <a:ext cx="8194675" cy="6334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tx2">
              <a:alpha val="100000"/>
            </a:schemeClr>
          </a:solidFill>
          <a:ln w="9525">
            <a:noFill/>
          </a:ln>
        </p:spPr>
        <p:txBody>
          <a:bodyPr/>
          <a:lstStyle/>
          <a:p>
            <a:endParaRPr lang="en-US"/>
          </a:p>
        </p:txBody>
      </p:sp>
      <p:grpSp>
        <p:nvGrpSpPr>
          <p:cNvPr id="1027" name="Group 16"/>
          <p:cNvGrpSpPr/>
          <p:nvPr/>
        </p:nvGrpSpPr>
        <p:grpSpPr>
          <a:xfrm>
            <a:off x="8153400" y="0"/>
            <a:ext cx="990600" cy="6858000"/>
            <a:chOff x="5040" y="0"/>
            <a:chExt cx="720" cy="4320"/>
          </a:xfrm>
        </p:grpSpPr>
        <p:sp>
          <p:nvSpPr>
            <p:cNvPr id="1040" name="Rectangle 17"/>
            <p:cNvSpPr>
              <a:spLocks noChangeArrowheads="1"/>
            </p:cNvSpPr>
            <p:nvPr/>
          </p:nvSpPr>
          <p:spPr bwMode="gray">
            <a:xfrm>
              <a:off x="5042" y="0"/>
              <a:ext cx="718" cy="4320"/>
            </a:xfrm>
            <a:prstGeom prst="rect">
              <a:avLst/>
            </a:prstGeom>
            <a:solidFill>
              <a:schemeClr val="folHlink">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41" name="Rectangle 18"/>
            <p:cNvSpPr>
              <a:spLocks noChangeArrowheads="1"/>
            </p:cNvSpPr>
            <p:nvPr/>
          </p:nvSpPr>
          <p:spPr bwMode="gray">
            <a:xfrm>
              <a:off x="5040" y="219"/>
              <a:ext cx="720" cy="39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028"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1" name="Rectangle 3"/>
          <p:cNvSpPr>
            <a:spLocks noGrp="1"/>
          </p:cNvSpPr>
          <p:nvPr>
            <p:ph type="body" idx="1"/>
          </p:nvPr>
        </p:nvSpPr>
        <p:spPr>
          <a:xfrm>
            <a:off x="457200" y="1076325"/>
            <a:ext cx="8229600" cy="5248275"/>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Rectangle 4"/>
          <p:cNvSpPr>
            <a:spLocks noGrp="1" noChangeArrowheads="1"/>
          </p:cNvSpPr>
          <p:nvPr>
            <p:ph type="dt" sz="half" idx="2"/>
          </p:nvPr>
        </p:nvSpPr>
        <p:spPr bwMode="auto">
          <a:xfrm>
            <a:off x="457200" y="6519863"/>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Rectangle 5"/>
          <p:cNvSpPr>
            <a:spLocks noGrp="1" noChangeArrowheads="1"/>
          </p:cNvSpPr>
          <p:nvPr>
            <p:ph type="ftr" sz="quarter" idx="3"/>
          </p:nvPr>
        </p:nvSpPr>
        <p:spPr bwMode="auto">
          <a:xfrm>
            <a:off x="5181600" y="6477000"/>
            <a:ext cx="2895600" cy="23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Rectangle 6"/>
          <p:cNvSpPr>
            <a:spLocks noGrp="1" noChangeArrowheads="1"/>
          </p:cNvSpPr>
          <p:nvPr>
            <p:ph type="sldNum" sz="quarter" idx="4"/>
          </p:nvPr>
        </p:nvSpPr>
        <p:spPr bwMode="auto">
          <a:xfrm>
            <a:off x="8286750" y="6386513"/>
            <a:ext cx="457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solidFill>
                  <a:schemeClr val="bg1"/>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BFE10F7-5673-408D-8B23-5451945FC131}"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grpSp>
        <p:nvGrpSpPr>
          <p:cNvPr id="1035" name="Group 22"/>
          <p:cNvGrpSpPr/>
          <p:nvPr/>
        </p:nvGrpSpPr>
        <p:grpSpPr>
          <a:xfrm>
            <a:off x="152400" y="228600"/>
            <a:ext cx="838200" cy="838200"/>
            <a:chOff x="18" y="144"/>
            <a:chExt cx="510" cy="480"/>
          </a:xfrm>
        </p:grpSpPr>
        <p:sp>
          <p:nvSpPr>
            <p:cNvPr id="1037" name="AutoShape 23"/>
            <p:cNvSpPr>
              <a:spLocks noChangeArrowheads="1"/>
            </p:cNvSpPr>
            <p:nvPr/>
          </p:nvSpPr>
          <p:spPr bwMode="gray">
            <a:xfrm>
              <a:off x="18" y="258"/>
              <a:ext cx="288" cy="240"/>
            </a:xfrm>
            <a:prstGeom prst="hexagon">
              <a:avLst>
                <a:gd name="adj" fmla="val 30000"/>
                <a:gd name="vf" fmla="val 115470"/>
              </a:avLst>
            </a:prstGeom>
            <a:solidFill>
              <a:schemeClr val="hlink"/>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8" name="AutoShape 24"/>
            <p:cNvSpPr>
              <a:spLocks noChangeArrowheads="1"/>
            </p:cNvSpPr>
            <p:nvPr/>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9" name="AutoShape 25"/>
            <p:cNvSpPr>
              <a:spLocks noChangeArrowheads="1"/>
            </p:cNvSpPr>
            <p:nvPr/>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036" name="Rectangle 2"/>
          <p:cNvSpPr>
            <a:spLocks noGrp="1"/>
          </p:cNvSpPr>
          <p:nvPr>
            <p:ph type="title"/>
          </p:nvPr>
        </p:nvSpPr>
        <p:spPr>
          <a:xfrm>
            <a:off x="1143000" y="381000"/>
            <a:ext cx="6705600" cy="563563"/>
          </a:xfrm>
          <a:prstGeom prst="rect">
            <a:avLst/>
          </a:prstGeom>
          <a:noFill/>
          <a:ln w="9525">
            <a:noFill/>
          </a:ln>
        </p:spPr>
        <p:txBody>
          <a:bodyPr anchor="ctr" anchorCtr="0"/>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anose="020B0604030504040204" pitchFamily="34" charset="0"/>
        </a:defRPr>
      </a:lvl2pPr>
      <a:lvl3pPr algn="l" rtl="0" eaLnBrk="0" fontAlgn="base" hangingPunct="0">
        <a:spcBef>
          <a:spcPct val="0"/>
        </a:spcBef>
        <a:spcAft>
          <a:spcPct val="0"/>
        </a:spcAft>
        <a:defRPr sz="3200">
          <a:solidFill>
            <a:schemeClr val="bg1"/>
          </a:solidFill>
          <a:latin typeface="Verdana" panose="020B0604030504040204" pitchFamily="34" charset="0"/>
        </a:defRPr>
      </a:lvl3pPr>
      <a:lvl4pPr algn="l" rtl="0" eaLnBrk="0" fontAlgn="base" hangingPunct="0">
        <a:spcBef>
          <a:spcPct val="0"/>
        </a:spcBef>
        <a:spcAft>
          <a:spcPct val="0"/>
        </a:spcAft>
        <a:defRPr sz="3200">
          <a:solidFill>
            <a:schemeClr val="bg1"/>
          </a:solidFill>
          <a:latin typeface="Verdana" panose="020B0604030504040204" pitchFamily="34" charset="0"/>
        </a:defRPr>
      </a:lvl4pPr>
      <a:lvl5pPr algn="l" rtl="0" eaLnBrk="0" fontAlgn="base" hangingPunct="0">
        <a:spcBef>
          <a:spcPct val="0"/>
        </a:spcBef>
        <a:spcAft>
          <a:spcPct val="0"/>
        </a:spcAft>
        <a:defRPr sz="3200">
          <a:solidFill>
            <a:schemeClr val="bg1"/>
          </a:solidFill>
          <a:latin typeface="Verdana" panose="020B0604030504040204" pitchFamily="34" charset="0"/>
        </a:defRPr>
      </a:lvl5pPr>
      <a:lvl6pPr marL="457200" algn="l" rtl="0" eaLnBrk="1" fontAlgn="base" hangingPunct="1">
        <a:spcBef>
          <a:spcPct val="0"/>
        </a:spcBef>
        <a:spcAft>
          <a:spcPct val="0"/>
        </a:spcAft>
        <a:defRPr sz="3200">
          <a:solidFill>
            <a:schemeClr val="bg1"/>
          </a:solidFill>
          <a:latin typeface="Verdana" panose="020B0604030504040204" pitchFamily="34" charset="0"/>
        </a:defRPr>
      </a:lvl6pPr>
      <a:lvl7pPr marL="914400" algn="l" rtl="0" eaLnBrk="1" fontAlgn="base" hangingPunct="1">
        <a:spcBef>
          <a:spcPct val="0"/>
        </a:spcBef>
        <a:spcAft>
          <a:spcPct val="0"/>
        </a:spcAft>
        <a:defRPr sz="3200">
          <a:solidFill>
            <a:schemeClr val="bg1"/>
          </a:solidFill>
          <a:latin typeface="Verdana" panose="020B0604030504040204" pitchFamily="34" charset="0"/>
        </a:defRPr>
      </a:lvl7pPr>
      <a:lvl8pPr marL="1371600" algn="l" rtl="0" eaLnBrk="1" fontAlgn="base" hangingPunct="1">
        <a:spcBef>
          <a:spcPct val="0"/>
        </a:spcBef>
        <a:spcAft>
          <a:spcPct val="0"/>
        </a:spcAft>
        <a:defRPr sz="3200">
          <a:solidFill>
            <a:schemeClr val="bg1"/>
          </a:solidFill>
          <a:latin typeface="Verdana" panose="020B0604030504040204" pitchFamily="34" charset="0"/>
        </a:defRPr>
      </a:lvl8pPr>
      <a:lvl9pPr marL="1828800" algn="l" rtl="0" eaLnBrk="1" fontAlgn="base" hangingPunct="1">
        <a:spcBef>
          <a:spcPct val="0"/>
        </a:spcBef>
        <a:spcAft>
          <a:spcPct val="0"/>
        </a:spcAft>
        <a:defRPr sz="3200">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Lu&#7853;t%20vi&#7877;n%20th&#244;ng%20s&#7917;a%20&#273;&#7893;i%20c&#243;%20hi&#7879;u%20l&#7921;c%20t&#7915;%20ng&#224;y%201.7.2024.mp4"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B&#224;n%20giao%20T&#7893;ng%20C&#244;ng%20ty%20Vi&#7877;n%20th&#244;ng%20MobiFone%20v&#7873;%20B&#7897;%20C&#244;ng%20an%20-%20Tin%20t&#7913;c.mp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Quang%20Linh%20Vlogs,%20H&#7857;ng%20Du%20m&#7909;c%20b&#7883;%20kh&#7903;i%20t&#7889;%20li&#234;n%20quan%20v&#7909;%20&#225;n%20k&#7865;o%20rau%20c&#7911;%20Kera%20-%20VTV24.mp4" TargetMode="External"/><Relationship Id="rId2" Type="http://schemas.openxmlformats.org/officeDocument/2006/relationships/hyperlink" Target="Ph&#243;ng%20S&#7921;%20Vi&#7879;t%20Nam-%20Tr&#225;ch%20nhi&#7879;m%20c&#225;%20nh&#226;n%20khi%20tham%20gia%20m&#7841;ng%20x&#227;%20h&#7897;i.mp4"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QU&#7842;NG%20B&#204;NH%20&#272;&#431;A%20INTERNET%20V&#7872;%20B&#7842;N%20V&#217;NG%20BI&#202;N%20GI&#7898;I%20-%20VTV5.mp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Tr&#7843;i%20Nghi&#7879;m%20Xe%20T&#7921;%20L&#225;i%20Waymo%20&#7902;%20M&#7929;%20(Ng&#224;y).mp4" TargetMode="External"/><Relationship Id="rId2" Type="http://schemas.openxmlformats.org/officeDocument/2006/relationships/hyperlink" Target="TP%20HCM-%20Th&#234;m%20m&#7897;t%20b&#7879;nh%20vi&#7879;n%20&#7913;ng%20d&#7909;ng%20robot%20v&#224;o%20m&#7893;%20n&#227;o%20-%20B&#225;o%20Ng&#432;&#7901;i%20Lao%20&#272;&#7897;ng.mp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T&#259;ng%20c&#432;&#7901;ng%20h&#7907;p%20t&#225;c%20qu&#7889;c%20t&#7871;%20trong%20&#273;&#7845;u%20tranh%20v&#7899;i%20t&#7897;i%20ph&#7841;m%20ma%20t&#250;y.mp4" TargetMode="External"/><Relationship Id="rId2" Type="http://schemas.openxmlformats.org/officeDocument/2006/relationships/hyperlink" Target="Tr&#237;ch%20xu&#7845;t%20camera%20v&#7909;%20c&#432;&#7899;p%20ng&#226;n%20h&#224;ng%20&#7903;%20&#272;&#224;%20N&#7861;ng,%20hai%20k&#7867;%20c&#432;&#7899;p%20c&#7921;c%20k&#7923;%20hung%20h&#227;n.mp4" TargetMode="External"/><Relationship Id="rId1" Type="http://schemas.openxmlformats.org/officeDocument/2006/relationships/slideLayout" Target="../slideLayouts/slideLayout2.xml"/><Relationship Id="rId4" Type="http://schemas.openxmlformats.org/officeDocument/2006/relationships/hyperlink" Target="T&#259;ng%20c&#432;&#7901;ng%20h&#7907;p%20t&#225;c%20vi&#7877;n%20th&#244;ng%20Vi&#7879;t%20Nam%20v&#224;%20L&#224;o.mp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C&#7847;n%20L&#224;m%20G&#236;%20Khi%20B&#7883;%20L&#7897;%20Th&#244;ng%20Tin%20C&#259;n%20C&#432;&#7899;c%20C&#244;ng%20D&#226;n%20-%20TH&#431;%20VI&#7878;N%20PH&#193;P%20LU&#7852;T.mp4" TargetMode="External"/><Relationship Id="rId2" Type="http://schemas.openxmlformats.org/officeDocument/2006/relationships/hyperlink" Target="Ph&#7841;t%20ti&#7873;n%20nh&#224;%20m&#7841;ng%20&#273;&#7875;%20l&#7897;%20th&#244;ng%20tin%20c&#7911;a%20kh&#225;ch%20h&#224;ng.mp4"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CHƯƠNG 3</a:t>
            </a:r>
          </a:p>
        </p:txBody>
      </p:sp>
      <p:sp>
        <p:nvSpPr>
          <p:cNvPr id="3" name="Content Placeholder 2"/>
          <p:cNvSpPr>
            <a:spLocks noGrp="1"/>
          </p:cNvSpPr>
          <p:nvPr>
            <p:ph idx="1"/>
          </p:nvPr>
        </p:nvSpPr>
        <p:spPr/>
        <p:txBody>
          <a:bodyPr/>
          <a:lstStyle/>
          <a:p>
            <a:pPr marL="0" indent="0" algn="ctr">
              <a:buNone/>
            </a:pPr>
            <a:endParaRPr lang="en-US" sz="4400"/>
          </a:p>
          <a:p>
            <a:pPr marL="0" indent="0" algn="ctr">
              <a:buNone/>
            </a:pPr>
            <a:r>
              <a:rPr lang="en-US" sz="6000"/>
              <a:t>PHÁP LUẬT VỀ </a:t>
            </a:r>
          </a:p>
          <a:p>
            <a:pPr marL="0" indent="0" algn="ctr">
              <a:buNone/>
            </a:pPr>
            <a:r>
              <a:rPr lang="en-US" sz="4800"/>
              <a:t>HẠ TẦNG VIỄN THÔNG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p:txBody>
          <a:bodyPr vert="horz" wrap="square" lIns="91440" tIns="45720" rIns="91440" bIns="45720" anchor="ctr" anchorCtr="0"/>
          <a:lstStyle/>
          <a:p>
            <a:pPr eaLnBrk="1" hangingPunct="1"/>
            <a:r>
              <a:rPr lang="en-US" altLang="en-US" dirty="0">
                <a:highlight>
                  <a:srgbClr val="FFFF00"/>
                </a:highlight>
                <a:latin typeface="Times New Roman" panose="02020603050405020304" pitchFamily="18" charset="0"/>
                <a:cs typeface="Times New Roman" panose="02020603050405020304" pitchFamily="18" charset="0"/>
                <a:hlinkClick r:id="rId2" action="ppaction://hlinkfile"/>
              </a:rPr>
              <a:t>Luật </a:t>
            </a:r>
            <a:r>
              <a:rPr lang="en-US" altLang="en-US" dirty="0">
                <a:solidFill>
                  <a:srgbClr val="FF0000"/>
                </a:solidFill>
                <a:highlight>
                  <a:srgbClr val="FFFF00"/>
                </a:highlight>
                <a:latin typeface="Times New Roman" panose="02020603050405020304" pitchFamily="18" charset="0"/>
                <a:cs typeface="Times New Roman" panose="02020603050405020304" pitchFamily="18" charset="0"/>
                <a:hlinkClick r:id="rId2" action="ppaction://hlinkfile"/>
              </a:rPr>
              <a:t>Viễn </a:t>
            </a:r>
            <a:r>
              <a:rPr lang="en-US" altLang="en-US" dirty="0">
                <a:highlight>
                  <a:srgbClr val="FFFF00"/>
                </a:highlight>
                <a:latin typeface="Times New Roman" panose="02020603050405020304" pitchFamily="18" charset="0"/>
                <a:cs typeface="Times New Roman" panose="02020603050405020304" pitchFamily="18" charset="0"/>
                <a:hlinkClick r:id="rId2" action="ppaction://hlinkfile"/>
              </a:rPr>
              <a:t>thông số: 24/2023/QH15</a:t>
            </a:r>
          </a:p>
        </p:txBody>
      </p:sp>
      <p:sp>
        <p:nvSpPr>
          <p:cNvPr id="3075" name="Rectangle 3"/>
          <p:cNvSpPr>
            <a:spLocks noGrp="1"/>
          </p:cNvSpPr>
          <p:nvPr>
            <p:ph idx="1"/>
          </p:nvPr>
        </p:nvSpPr>
        <p:spPr>
          <a:xfrm>
            <a:off x="250825" y="1392238"/>
            <a:ext cx="8713788" cy="4852987"/>
          </a:xfrm>
        </p:spPr>
        <p:txBody>
          <a:bodyPr vert="horz" wrap="square" lIns="91440" tIns="45720" rIns="91440" bIns="45720" anchor="t" anchorCtr="0"/>
          <a:lstStyle/>
          <a:p>
            <a:pPr algn="just" eaLnBrk="1" hangingPunct="1"/>
            <a:r>
              <a:rPr lang="en-US" altLang="en-US" b="0" dirty="0">
                <a:latin typeface="Times New Roman" panose="02020603050405020304" pitchFamily="18" charset="0"/>
                <a:cs typeface="Times New Roman" panose="02020603050405020304" pitchFamily="18" charset="0"/>
              </a:rPr>
              <a:t> </a:t>
            </a:r>
            <a:r>
              <a:rPr altLang="en-US" b="0" dirty="0">
                <a:latin typeface="Times New Roman" panose="02020603050405020304" pitchFamily="18" charset="0"/>
              </a:rPr>
              <a:t>Luật này được Quốc hội nước Cộng hòa xã hội chủ nghĩa Việt Nam khóa XV, kỳ họp thứ 6 thông qua ngày 24 tháng 11 năm 2023.</a:t>
            </a:r>
          </a:p>
          <a:p>
            <a:pPr algn="just" eaLnBrk="1" hangingPunct="1"/>
            <a:r>
              <a:rPr lang="en-US" altLang="en-US" b="0" dirty="0">
                <a:latin typeface="Times New Roman" panose="02020603050405020304" pitchFamily="18" charset="0"/>
              </a:rPr>
              <a:t>Luật này có hiệu lực thi hành từ ngày 01 tháng 7 năm 2024</a:t>
            </a:r>
          </a:p>
          <a:p>
            <a:pPr algn="just" eaLnBrk="1" hangingPunct="1"/>
            <a:r>
              <a:rPr lang="en-US" altLang="en-US" b="0" dirty="0">
                <a:latin typeface="Times New Roman" panose="02020603050405020304" pitchFamily="18" charset="0"/>
                <a:cs typeface="Times New Roman" panose="02020603050405020304" pitchFamily="18" charset="0"/>
              </a:rPr>
              <a:t> </a:t>
            </a:r>
            <a:r>
              <a:rPr lang="vi-VN" altLang="en-US" b="0" dirty="0">
                <a:latin typeface="Times New Roman" panose="02020603050405020304" pitchFamily="18" charset="0"/>
                <a:cs typeface="Times New Roman" panose="02020603050405020304" pitchFamily="18" charset="0"/>
              </a:rPr>
              <a:t>Luật gồm </a:t>
            </a:r>
            <a:r>
              <a:rPr lang="en-US" altLang="en-US" b="0" u="sng" dirty="0">
                <a:latin typeface="Times New Roman" panose="02020603050405020304" pitchFamily="18" charset="0"/>
                <a:cs typeface="Times New Roman" panose="02020603050405020304" pitchFamily="18" charset="0"/>
              </a:rPr>
              <a:t>10</a:t>
            </a:r>
            <a:r>
              <a:rPr lang="vi-VN" altLang="en-US" b="0" u="sng" dirty="0">
                <a:latin typeface="Times New Roman" panose="02020603050405020304" pitchFamily="18" charset="0"/>
                <a:cs typeface="Times New Roman" panose="02020603050405020304" pitchFamily="18" charset="0"/>
              </a:rPr>
              <a:t> chương, </a:t>
            </a:r>
            <a:r>
              <a:rPr lang="en-US" altLang="en-US" b="0" u="sng" dirty="0">
                <a:latin typeface="Times New Roman" panose="02020603050405020304" pitchFamily="18" charset="0"/>
                <a:cs typeface="Times New Roman" panose="02020603050405020304" pitchFamily="18" charset="0"/>
              </a:rPr>
              <a:t>73</a:t>
            </a:r>
            <a:r>
              <a:rPr lang="vi-VN" altLang="en-US" b="0" u="sng" dirty="0">
                <a:latin typeface="Times New Roman" panose="02020603050405020304" pitchFamily="18" charset="0"/>
                <a:cs typeface="Times New Roman" panose="02020603050405020304" pitchFamily="18" charset="0"/>
              </a:rPr>
              <a:t> điều</a:t>
            </a:r>
            <a:endParaRPr lang="en-US" altLang="en-US" b="0" u="sng" dirty="0">
              <a:latin typeface="Times New Roman" panose="02020603050405020304" pitchFamily="18" charset="0"/>
              <a:cs typeface="Times New Roman" panose="02020603050405020304" pitchFamily="18" charset="0"/>
            </a:endParaRPr>
          </a:p>
          <a:p>
            <a:pPr lvl="1" algn="just" eaLnBrk="1" hangingPunct="1"/>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gồm </a:t>
            </a:r>
            <a:r>
              <a:rPr lang="en-US" altLang="vi-VN" b="0" dirty="0">
                <a:latin typeface="Times New Roman" panose="02020603050405020304" pitchFamily="18" charset="0"/>
                <a:cs typeface="Times New Roman" panose="02020603050405020304" pitchFamily="18" charset="0"/>
              </a:rPr>
              <a:t>9</a:t>
            </a:r>
            <a:r>
              <a:rPr lang="vi-VN" altLang="en-US" b="0" dirty="0">
                <a:latin typeface="Times New Roman" panose="02020603050405020304" pitchFamily="18" charset="0"/>
                <a:cs typeface="Times New Roman" panose="02020603050405020304" pitchFamily="18" charset="0"/>
              </a:rPr>
              <a:t> điều (từ điều 1 đến điều </a:t>
            </a:r>
            <a:r>
              <a:rPr lang="en-US" altLang="vi-VN" b="0" dirty="0">
                <a:latin typeface="Times New Roman" panose="02020603050405020304" pitchFamily="18" charset="0"/>
                <a:cs typeface="Times New Roman" panose="02020603050405020304" pitchFamily="18" charset="0"/>
              </a:rPr>
              <a:t>9</a:t>
            </a:r>
            <a:r>
              <a:rPr lang="vi-VN" altLang="en-US" b="0" dirty="0">
                <a:latin typeface="Times New Roman" panose="02020603050405020304" pitchFamily="18" charset="0"/>
                <a:cs typeface="Times New Roman" panose="02020603050405020304" pitchFamily="18" charset="0"/>
              </a:rPr>
              <a:t>), quy định về </a:t>
            </a:r>
          </a:p>
          <a:p>
            <a:pPr marL="0" indent="0" algn="just">
              <a:buNone/>
            </a:pPr>
            <a:r>
              <a:rPr lang="en-US" altLang="vi-VN" b="0" dirty="0">
                <a:latin typeface="Times New Roman" panose="02020603050405020304" pitchFamily="18" charset="0"/>
                <a:cs typeface="Times New Roman" panose="02020603050405020304" pitchFamily="18" charset="0"/>
              </a:rPr>
              <a:t>	</a:t>
            </a:r>
            <a:r>
              <a:rPr lang="en-US" altLang="vi-VN" b="0" dirty="0">
                <a:solidFill>
                  <a:srgbClr val="FF0000"/>
                </a:solidFill>
                <a:latin typeface="Times New Roman" panose="02020603050405020304" pitchFamily="18" charset="0"/>
                <a:cs typeface="Times New Roman" panose="02020603050405020304" pitchFamily="18" charset="0"/>
              </a:rPr>
              <a:t>P</a:t>
            </a:r>
            <a:r>
              <a:rPr lang="vi-VN" altLang="en-US" b="0" dirty="0">
                <a:solidFill>
                  <a:srgbClr val="FF0000"/>
                </a:solidFill>
                <a:latin typeface="Times New Roman" panose="02020603050405020304" pitchFamily="18" charset="0"/>
                <a:cs typeface="Times New Roman" panose="02020603050405020304" pitchFamily="18" charset="0"/>
              </a:rPr>
              <a:t>hạm vi điều chỉnh; </a:t>
            </a:r>
          </a:p>
          <a:p>
            <a:pPr marL="0" indent="0" algn="just">
              <a:buNone/>
            </a:pPr>
            <a:r>
              <a:rPr lang="en-US" altLang="vi-VN" b="0" dirty="0">
                <a:solidFill>
                  <a:srgbClr val="FF0000"/>
                </a:solidFill>
                <a:latin typeface="Times New Roman" panose="02020603050405020304" pitchFamily="18" charset="0"/>
                <a:cs typeface="Times New Roman" panose="02020603050405020304" pitchFamily="18" charset="0"/>
              </a:rPr>
              <a:t>	Đ</a:t>
            </a:r>
            <a:r>
              <a:rPr lang="vi-VN" altLang="en-US" b="0" dirty="0">
                <a:solidFill>
                  <a:srgbClr val="FF0000"/>
                </a:solidFill>
                <a:latin typeface="Times New Roman" panose="02020603050405020304" pitchFamily="18" charset="0"/>
                <a:cs typeface="Times New Roman" panose="02020603050405020304" pitchFamily="18" charset="0"/>
              </a:rPr>
              <a:t>ối tượng áp dụng; </a:t>
            </a:r>
          </a:p>
          <a:p>
            <a:pPr marL="0" indent="0" algn="just">
              <a:buNone/>
            </a:pPr>
            <a:r>
              <a:rPr lang="en-US" altLang="vi-VN" b="0" dirty="0">
                <a:solidFill>
                  <a:srgbClr val="FF0000"/>
                </a:solidFill>
                <a:latin typeface="Times New Roman" panose="02020603050405020304" pitchFamily="18" charset="0"/>
                <a:cs typeface="Times New Roman" panose="02020603050405020304" pitchFamily="18" charset="0"/>
              </a:rPr>
              <a:t>	G</a:t>
            </a:r>
            <a:r>
              <a:rPr lang="vi-VN" altLang="en-US" b="0" dirty="0">
                <a:solidFill>
                  <a:srgbClr val="FF0000"/>
                </a:solidFill>
                <a:latin typeface="Times New Roman" panose="02020603050405020304" pitchFamily="18" charset="0"/>
                <a:cs typeface="Times New Roman" panose="02020603050405020304" pitchFamily="18" charset="0"/>
              </a:rPr>
              <a:t>iải thích từ ngữ; </a:t>
            </a:r>
            <a:r>
              <a:rPr lang="en-US" altLang="vi-VN" b="0" dirty="0">
                <a:solidFill>
                  <a:srgbClr val="FF0000"/>
                </a:solidFill>
                <a:latin typeface="Times New Roman" panose="02020603050405020304" pitchFamily="18" charset="0"/>
                <a:cs typeface="Times New Roman" panose="02020603050405020304" pitchFamily="18" charset="0"/>
              </a:rPr>
              <a:t>...</a:t>
            </a:r>
            <a:endParaRPr lang="vi-VN" altLang="en-US" b="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altLang="vi-VN" b="0" dirty="0">
                <a:latin typeface="Times New Roman" panose="02020603050405020304" pitchFamily="18" charset="0"/>
                <a:cs typeface="Times New Roman" panose="02020603050405020304" pitchFamily="18" charset="0"/>
              </a:rPr>
              <a:t>	C</a:t>
            </a:r>
            <a:r>
              <a:rPr lang="vi-VN" altLang="en-US" b="0" dirty="0">
                <a:latin typeface="Times New Roman" panose="02020603050405020304" pitchFamily="18" charset="0"/>
                <a:cs typeface="Times New Roman" panose="02020603050405020304" pitchFamily="18" charset="0"/>
              </a:rPr>
              <a:t>hính sách nh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 nước về viễn thông;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latin typeface="Times New Roman" panose="02020603050405020304" pitchFamily="18" charset="0"/>
                <a:ea typeface="Times New Roman" panose="02020603050405020304" pitchFamily="18" charset="0"/>
              </a:rPr>
              <a:t>Điều 1. Phạm vi điều chỉnh</a:t>
            </a:r>
          </a:p>
          <a:p>
            <a:pPr marL="0" indent="457200" algn="just">
              <a:buNone/>
            </a:pPr>
            <a:r>
              <a:rPr lang="en-US" altLang="en-US" dirty="0">
                <a:latin typeface="Times New Roman" panose="02020603050405020304" pitchFamily="18" charset="0"/>
                <a:ea typeface="Times New Roman" panose="02020603050405020304" pitchFamily="18" charset="0"/>
              </a:rPr>
              <a:t>Luật này quy định về </a:t>
            </a:r>
          </a:p>
          <a:p>
            <a:pPr marL="0" indent="457200" algn="just">
              <a:buNone/>
            </a:pPr>
            <a:r>
              <a:rPr lang="en-US" altLang="en-US" dirty="0">
                <a:highlight>
                  <a:srgbClr val="FFFF00"/>
                </a:highlight>
                <a:latin typeface="Times New Roman" panose="02020603050405020304" pitchFamily="18" charset="0"/>
                <a:ea typeface="Times New Roman" panose="02020603050405020304" pitchFamily="18" charset="0"/>
              </a:rPr>
              <a:t>- </a:t>
            </a:r>
            <a:r>
              <a:rPr lang="en-US" altLang="en-US" dirty="0">
                <a:solidFill>
                  <a:srgbClr val="FF0000"/>
                </a:solidFill>
                <a:highlight>
                  <a:srgbClr val="FFFF00"/>
                </a:highlight>
                <a:latin typeface="Times New Roman" panose="02020603050405020304" pitchFamily="18" charset="0"/>
                <a:ea typeface="Times New Roman" panose="02020603050405020304" pitchFamily="18" charset="0"/>
              </a:rPr>
              <a:t>Hoạt động viễn thông</a:t>
            </a:r>
            <a:r>
              <a:rPr lang="en-US" altLang="en-US" dirty="0">
                <a:highlight>
                  <a:srgbClr val="FFFF00"/>
                </a:highlight>
                <a:latin typeface="Times New Roman" panose="02020603050405020304" pitchFamily="18" charset="0"/>
                <a:ea typeface="Times New Roman" panose="02020603050405020304" pitchFamily="18" charset="0"/>
              </a:rPr>
              <a:t>; </a:t>
            </a:r>
          </a:p>
          <a:p>
            <a:pPr marL="0" indent="457200" algn="just">
              <a:buNone/>
            </a:pPr>
            <a:r>
              <a:rPr lang="en-US" altLang="en-US" dirty="0">
                <a:solidFill>
                  <a:srgbClr val="FF0000"/>
                </a:solidFill>
                <a:latin typeface="Times New Roman" panose="02020603050405020304" pitchFamily="18" charset="0"/>
                <a:ea typeface="Times New Roman" panose="02020603050405020304" pitchFamily="18" charset="0"/>
              </a:rPr>
              <a:t>- Quyền và nghĩa vụ của tổ chức, cá nhân</a:t>
            </a:r>
            <a:r>
              <a:rPr lang="en-US" altLang="en-US" dirty="0">
                <a:latin typeface="Times New Roman" panose="02020603050405020304" pitchFamily="18" charset="0"/>
                <a:ea typeface="Times New Roman" panose="02020603050405020304" pitchFamily="18" charset="0"/>
              </a:rPr>
              <a:t> tham gia hoạt động viễn thông; </a:t>
            </a:r>
          </a:p>
          <a:p>
            <a:pPr marL="0" indent="457200" algn="just">
              <a:buNone/>
            </a:pPr>
            <a:r>
              <a:rPr lang="en-US" altLang="en-US" dirty="0">
                <a:latin typeface="Times New Roman" panose="02020603050405020304" pitchFamily="18" charset="0"/>
                <a:ea typeface="Times New Roman" panose="02020603050405020304" pitchFamily="18" charset="0"/>
              </a:rPr>
              <a:t>- </a:t>
            </a:r>
            <a:r>
              <a:rPr lang="en-US" altLang="en-US" dirty="0">
                <a:solidFill>
                  <a:srgbClr val="FF0000"/>
                </a:solidFill>
                <a:latin typeface="Times New Roman" panose="02020603050405020304" pitchFamily="18" charset="0"/>
                <a:ea typeface="Times New Roman" panose="02020603050405020304" pitchFamily="18" charset="0"/>
              </a:rPr>
              <a:t>Quản lý nhà nước về viễn thông.</a:t>
            </a:r>
          </a:p>
          <a:p>
            <a:pPr marL="0" indent="457200" algn="just">
              <a:buNone/>
            </a:pPr>
            <a:r>
              <a:rPr lang="en-US" altLang="en-US" dirty="0">
                <a:solidFill>
                  <a:srgbClr val="FF0000"/>
                </a:solidFill>
                <a:latin typeface="Times New Roman" panose="02020603050405020304" pitchFamily="18" charset="0"/>
                <a:ea typeface="Times New Roman" panose="02020603050405020304" pitchFamily="18" charset="0"/>
                <a:hlinkClick r:id="rId2" action="ppaction://hlinkfile"/>
              </a:rPr>
              <a:t>VD</a:t>
            </a:r>
            <a:endParaRPr lang="en-US" altLang="en-US"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sz="3600" dirty="0">
                <a:latin typeface="Times New Roman" panose="02020603050405020304" pitchFamily="18" charset="0"/>
                <a:ea typeface="Times New Roman" panose="02020603050405020304" pitchFamily="18" charset="0"/>
              </a:rPr>
              <a:t>Điều 2. Đối tượng áp dụng</a:t>
            </a:r>
          </a:p>
          <a:p>
            <a:pPr algn="just"/>
            <a:r>
              <a:rPr lang="en-US" altLang="en-US" sz="3600" dirty="0">
                <a:latin typeface="Times New Roman" panose="02020603050405020304" pitchFamily="18" charset="0"/>
                <a:ea typeface="Times New Roman" panose="02020603050405020304" pitchFamily="18" charset="0"/>
              </a:rPr>
              <a:t>Luật này áp dụng đối với </a:t>
            </a:r>
            <a:r>
              <a:rPr lang="en-US" altLang="en-US" sz="3600" dirty="0">
                <a:highlight>
                  <a:srgbClr val="FFFF00"/>
                </a:highlight>
                <a:latin typeface="Times New Roman" panose="02020603050405020304" pitchFamily="18" charset="0"/>
                <a:ea typeface="Times New Roman" panose="02020603050405020304" pitchFamily="18" charset="0"/>
              </a:rPr>
              <a:t>tổ chức, cá nhân Việt Nam, tổ chức, cá nhân nước ngoài </a:t>
            </a:r>
            <a:r>
              <a:rPr lang="en-US" altLang="en-US" sz="3600" dirty="0">
                <a:solidFill>
                  <a:srgbClr val="FF0000"/>
                </a:solidFill>
                <a:highlight>
                  <a:srgbClr val="FFFF00"/>
                </a:highlight>
                <a:latin typeface="Times New Roman" panose="02020603050405020304" pitchFamily="18" charset="0"/>
                <a:ea typeface="Times New Roman" panose="02020603050405020304" pitchFamily="18" charset="0"/>
              </a:rPr>
              <a:t>trực tiếp tham gia hoặc có liên quan</a:t>
            </a:r>
            <a:r>
              <a:rPr lang="en-US" altLang="en-US" sz="3600" dirty="0">
                <a:highlight>
                  <a:srgbClr val="FFFF00"/>
                </a:highlight>
                <a:latin typeface="Times New Roman" panose="02020603050405020304" pitchFamily="18" charset="0"/>
                <a:ea typeface="Times New Roman" panose="02020603050405020304" pitchFamily="18" charset="0"/>
              </a:rPr>
              <a:t> đến hoạt động viễn thông </a:t>
            </a:r>
            <a:r>
              <a:rPr lang="en-US" altLang="en-US" sz="3600" u="sng" dirty="0">
                <a:highlight>
                  <a:srgbClr val="00FF00"/>
                </a:highlight>
                <a:latin typeface="Times New Roman" panose="02020603050405020304" pitchFamily="18" charset="0"/>
                <a:ea typeface="Times New Roman" panose="02020603050405020304" pitchFamily="18" charset="0"/>
              </a:rPr>
              <a:t>tại</a:t>
            </a:r>
            <a:r>
              <a:rPr lang="en-US" altLang="en-US" sz="3600" dirty="0">
                <a:highlight>
                  <a:srgbClr val="FFFF00"/>
                </a:highlight>
                <a:latin typeface="Times New Roman" panose="02020603050405020304" pitchFamily="18" charset="0"/>
                <a:ea typeface="Times New Roman" panose="02020603050405020304" pitchFamily="18" charset="0"/>
              </a:rPr>
              <a:t> Việt Nam.</a:t>
            </a:r>
            <a:r>
              <a:rPr lang="en-US" altLang="en-US" sz="3600" dirty="0">
                <a:latin typeface="Times New Roman" panose="02020603050405020304" pitchFamily="18" charset="0"/>
                <a:ea typeface="Times New Roman" panose="02020603050405020304" pitchFamily="18" charset="0"/>
              </a:rPr>
              <a:t> </a:t>
            </a:r>
          </a:p>
          <a:p>
            <a:pPr lvl="1" algn="just"/>
            <a:r>
              <a:rPr lang="en-US" altLang="en-US" sz="3600" dirty="0">
                <a:latin typeface="Times New Roman" panose="02020603050405020304" pitchFamily="18" charset="0"/>
                <a:ea typeface="Times New Roman" panose="02020603050405020304" pitchFamily="18" charset="0"/>
              </a:rPr>
              <a:t>Lưu ý “</a:t>
            </a:r>
            <a:r>
              <a:rPr lang="en-US" altLang="en-US" sz="3600" dirty="0" err="1">
                <a:latin typeface="Times New Roman" panose="02020603050405020304" pitchFamily="18" charset="0"/>
                <a:ea typeface="Times New Roman" panose="02020603050405020304" pitchFamily="18" charset="0"/>
              </a:rPr>
              <a:t>tại</a:t>
            </a:r>
            <a:r>
              <a:rPr lang="en-US" altLang="en-US" sz="3600" dirty="0">
                <a:latin typeface="Times New Roman" panose="02020603050405020304" pitchFamily="18" charset="0"/>
                <a:ea typeface="Times New Roman" panose="02020603050405020304" pitchFamily="18" charset="0"/>
              </a:rPr>
              <a:t>”</a:t>
            </a:r>
          </a:p>
          <a:p>
            <a:pPr algn="just"/>
            <a:endParaRPr lang="en-US" altLang="en-US" sz="3600" dirty="0">
              <a:latin typeface="Times New Roman" panose="02020603050405020304" pitchFamily="18" charset="0"/>
              <a:ea typeface="Times New Roman" panose="02020603050405020304" pitchFamily="18" charset="0"/>
            </a:endParaRPr>
          </a:p>
          <a:p>
            <a:pPr algn="just"/>
            <a:r>
              <a:rPr lang="en-US" altLang="en-US" sz="3600" dirty="0">
                <a:latin typeface="Times New Roman" panose="02020603050405020304" pitchFamily="18" charset="0"/>
                <a:ea typeface="Times New Roman" panose="02020603050405020304" pitchFamily="18" charset="0"/>
                <a:hlinkClick r:id="rId2" action="ppaction://hlinkfile"/>
              </a:rPr>
              <a:t>VD. </a:t>
            </a:r>
            <a:r>
              <a:rPr lang="en-US" altLang="en-US" sz="3600" dirty="0">
                <a:latin typeface="Times New Roman" panose="02020603050405020304" pitchFamily="18" charset="0"/>
                <a:ea typeface="Times New Roman" panose="02020603050405020304" pitchFamily="18" charset="0"/>
              </a:rPr>
              <a:t>, </a:t>
            </a:r>
            <a:r>
              <a:rPr lang="en-US" altLang="en-US" sz="3600" dirty="0">
                <a:latin typeface="Times New Roman" panose="02020603050405020304" pitchFamily="18" charset="0"/>
                <a:ea typeface="Times New Roman" panose="02020603050405020304" pitchFamily="18" charset="0"/>
                <a:hlinkClick r:id="rId3" action="ppaction://hlinkfile"/>
              </a:rPr>
              <a:t>vd</a:t>
            </a:r>
            <a:endParaRPr lang="en-US" altLang="en-US" sz="3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sz="3200" dirty="0">
                <a:solidFill>
                  <a:srgbClr val="FF0000"/>
                </a:solidFill>
                <a:latin typeface="Times New Roman" panose="02020603050405020304" pitchFamily="18" charset="0"/>
                <a:ea typeface="Times New Roman" panose="02020603050405020304" pitchFamily="18" charset="0"/>
              </a:rPr>
              <a:t>Viễn thông </a:t>
            </a:r>
            <a:r>
              <a:rPr lang="en-US" altLang="en-US" sz="3200" dirty="0">
                <a:highlight>
                  <a:srgbClr val="FFFF00"/>
                </a:highlight>
                <a:latin typeface="Times New Roman" panose="02020603050405020304" pitchFamily="18" charset="0"/>
                <a:ea typeface="Times New Roman" panose="02020603050405020304" pitchFamily="18" charset="0"/>
              </a:rPr>
              <a:t>là việc </a:t>
            </a:r>
            <a:r>
              <a:rPr lang="en-US" altLang="en-US" sz="3200" u="sng" dirty="0">
                <a:highlight>
                  <a:srgbClr val="FFFF00"/>
                </a:highlight>
                <a:latin typeface="Times New Roman" panose="02020603050405020304" pitchFamily="18" charset="0"/>
                <a:ea typeface="Times New Roman" panose="02020603050405020304" pitchFamily="18" charset="0"/>
              </a:rPr>
              <a:t>gửi, truyền, nhận và xử lý ký hiệu, tín hiệu, số liệu, chữ viết, hình ảnh, âm thanh</a:t>
            </a:r>
            <a:r>
              <a:rPr lang="en-US" altLang="en-US" sz="3200" dirty="0">
                <a:latin typeface="Times New Roman" panose="02020603050405020304" pitchFamily="18" charset="0"/>
                <a:ea typeface="Times New Roman" panose="02020603050405020304" pitchFamily="18" charset="0"/>
              </a:rPr>
              <a:t> hoặc dạng thông tin khác </a:t>
            </a:r>
            <a:r>
              <a:rPr lang="en-US" altLang="en-US" sz="3200" dirty="0">
                <a:highlight>
                  <a:srgbClr val="00FF00"/>
                </a:highlight>
                <a:latin typeface="Times New Roman" panose="02020603050405020304" pitchFamily="18" charset="0"/>
                <a:ea typeface="Times New Roman" panose="02020603050405020304" pitchFamily="18" charset="0"/>
              </a:rPr>
              <a:t>bằng đường cáp, sóng vô tuyến điện, phương tiện quang học và phương tiện điện từ </a:t>
            </a:r>
            <a:r>
              <a:rPr lang="en-US" altLang="en-US" sz="3200" u="sng" dirty="0">
                <a:latin typeface="Times New Roman" panose="02020603050405020304" pitchFamily="18" charset="0"/>
                <a:ea typeface="Times New Roman" panose="02020603050405020304" pitchFamily="18" charset="0"/>
              </a:rPr>
              <a:t>khác</a:t>
            </a:r>
            <a:r>
              <a:rPr lang="en-US" altLang="en-US" sz="3200" dirty="0">
                <a:latin typeface="Times New Roman" panose="02020603050405020304" pitchFamily="18" charset="0"/>
                <a:ea typeface="Times New Roman" panose="02020603050405020304"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solidFill>
                  <a:srgbClr val="FF0000"/>
                </a:solidFill>
                <a:highlight>
                  <a:srgbClr val="FFFF00"/>
                </a:highlight>
                <a:latin typeface="Times New Roman" panose="02020603050405020304" pitchFamily="18" charset="0"/>
                <a:ea typeface="Times New Roman" panose="02020603050405020304" pitchFamily="18" charset="0"/>
              </a:rPr>
              <a:t>Điều 4. Chính sách của Nhà nước về viễn thông</a:t>
            </a:r>
          </a:p>
          <a:p>
            <a:pPr algn="just"/>
            <a:r>
              <a:rPr lang="en-US" altLang="en-US" dirty="0">
                <a:latin typeface="Times New Roman" panose="02020603050405020304" pitchFamily="18" charset="0"/>
                <a:ea typeface="Times New Roman" panose="02020603050405020304" pitchFamily="18" charset="0"/>
              </a:rPr>
              <a:t>1. </a:t>
            </a:r>
            <a:r>
              <a:rPr lang="en-US" altLang="en-US" dirty="0">
                <a:highlight>
                  <a:srgbClr val="FFFF00"/>
                </a:highlight>
                <a:latin typeface="Times New Roman" panose="02020603050405020304" pitchFamily="18" charset="0"/>
                <a:ea typeface="Times New Roman" panose="02020603050405020304" pitchFamily="18" charset="0"/>
              </a:rPr>
              <a:t>Tạo điều kiện cho tổ chức, cá nhân thuộc </a:t>
            </a:r>
            <a:r>
              <a:rPr lang="en-US" altLang="en-US" dirty="0">
                <a:highlight>
                  <a:srgbClr val="00FF00"/>
                </a:highlight>
                <a:latin typeface="Times New Roman" panose="02020603050405020304" pitchFamily="18" charset="0"/>
                <a:ea typeface="Times New Roman" panose="02020603050405020304" pitchFamily="18" charset="0"/>
              </a:rPr>
              <a:t>các thành phần kinh tế</a:t>
            </a:r>
            <a:r>
              <a:rPr lang="en-US" altLang="en-US" dirty="0">
                <a:highlight>
                  <a:srgbClr val="FFFF00"/>
                </a:highlight>
                <a:latin typeface="Times New Roman" panose="02020603050405020304" pitchFamily="18" charset="0"/>
                <a:ea typeface="Times New Roman" panose="02020603050405020304" pitchFamily="18" charset="0"/>
              </a:rPr>
              <a:t> tham gia đầu tư, kinh doanh viễn thông</a:t>
            </a:r>
            <a:r>
              <a:rPr lang="en-US" altLang="en-US" dirty="0">
                <a:latin typeface="Times New Roman" panose="02020603050405020304" pitchFamily="18" charset="0"/>
                <a:ea typeface="Times New Roman" panose="02020603050405020304" pitchFamily="18" charset="0"/>
              </a:rPr>
              <a:t> để phát triển cơ sở hạ tầng viễn thông băng rộng phổ cập, trung tâm dữ liệu, điện toán đám mây theo hướng bền vững, hiện đại; hình thành hạ tầng số đáp ứng yêu cầu phát triển kinh tế số, xã hội số, góp phần bảo đảm quốc phòng, an ninh và nâng cao chất lượng cuộc sống của Nhân dân.</a:t>
            </a: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9690" y="1124744"/>
            <a:ext cx="9024620" cy="50380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highlight>
                  <a:srgbClr val="FFFF00"/>
                </a:highlight>
                <a:latin typeface="Times New Roman" panose="02020603050405020304" pitchFamily="18" charset="0"/>
                <a:ea typeface="Times New Roman" panose="02020603050405020304" pitchFamily="18" charset="0"/>
                <a:sym typeface="+mn-ea"/>
              </a:rPr>
              <a:t>2. Bảo đảm môi trường cạnh tranh lành mạnh </a:t>
            </a:r>
            <a:r>
              <a:rPr lang="en-US" altLang="en-US" dirty="0">
                <a:latin typeface="Times New Roman" panose="02020603050405020304" pitchFamily="18" charset="0"/>
                <a:ea typeface="Times New Roman" panose="02020603050405020304" pitchFamily="18" charset="0"/>
                <a:sym typeface="+mn-ea"/>
              </a:rPr>
              <a:t>trong hoạt động viễn </a:t>
            </a:r>
            <a:r>
              <a:rPr lang="en-US" altLang="en-US" dirty="0" err="1">
                <a:latin typeface="Times New Roman" panose="02020603050405020304" pitchFamily="18" charset="0"/>
                <a:ea typeface="Times New Roman" panose="02020603050405020304" pitchFamily="18" charset="0"/>
                <a:sym typeface="+mn-ea"/>
              </a:rPr>
              <a:t>thông</a:t>
            </a:r>
            <a:r>
              <a:rPr lang="en-US" altLang="en-US" dirty="0">
                <a:latin typeface="Times New Roman" panose="02020603050405020304" pitchFamily="18" charset="0"/>
                <a:ea typeface="Times New Roman" panose="02020603050405020304" pitchFamily="18" charset="0"/>
                <a:sym typeface="+mn-ea"/>
              </a:rPr>
              <a:t>.</a:t>
            </a:r>
          </a:p>
          <a:p>
            <a:pPr lvl="1" algn="just"/>
            <a:r>
              <a:rPr lang="en-US" altLang="en-US" dirty="0" err="1">
                <a:latin typeface="Times New Roman" panose="02020603050405020304" pitchFamily="18" charset="0"/>
                <a:ea typeface="Times New Roman" panose="02020603050405020304" pitchFamily="18" charset="0"/>
                <a:sym typeface="+mn-ea"/>
              </a:rPr>
              <a:t>Không</a:t>
            </a:r>
            <a:r>
              <a:rPr lang="en-US" altLang="en-US" dirty="0">
                <a:latin typeface="Times New Roman" panose="02020603050405020304" pitchFamily="18" charset="0"/>
                <a:ea typeface="Times New Roman" panose="02020603050405020304" pitchFamily="18" charset="0"/>
                <a:sym typeface="+mn-ea"/>
              </a:rPr>
              <a:t> </a:t>
            </a:r>
            <a:r>
              <a:rPr lang="en-US" altLang="en-US" dirty="0" err="1">
                <a:latin typeface="Times New Roman" panose="02020603050405020304" pitchFamily="18" charset="0"/>
                <a:ea typeface="Times New Roman" panose="02020603050405020304" pitchFamily="18" charset="0"/>
                <a:sym typeface="+mn-ea"/>
              </a:rPr>
              <a:t>ưu</a:t>
            </a:r>
            <a:r>
              <a:rPr lang="en-US" altLang="en-US" dirty="0">
                <a:latin typeface="Times New Roman" panose="02020603050405020304" pitchFamily="18" charset="0"/>
                <a:ea typeface="Times New Roman" panose="02020603050405020304" pitchFamily="18" charset="0"/>
                <a:sym typeface="+mn-ea"/>
              </a:rPr>
              <a:t> </a:t>
            </a:r>
            <a:r>
              <a:rPr lang="en-US" altLang="en-US" dirty="0" err="1">
                <a:latin typeface="Times New Roman" panose="02020603050405020304" pitchFamily="18" charset="0"/>
                <a:ea typeface="Times New Roman" panose="02020603050405020304" pitchFamily="18" charset="0"/>
                <a:sym typeface="+mn-ea"/>
              </a:rPr>
              <a:t>ái</a:t>
            </a:r>
            <a:r>
              <a:rPr lang="en-US" altLang="en-US" dirty="0">
                <a:latin typeface="Times New Roman" panose="02020603050405020304" pitchFamily="18" charset="0"/>
                <a:ea typeface="Times New Roman" panose="02020603050405020304" pitchFamily="18" charset="0"/>
                <a:sym typeface="+mn-ea"/>
              </a:rPr>
              <a:t> </a:t>
            </a:r>
            <a:r>
              <a:rPr lang="en-US" altLang="en-US" dirty="0" err="1">
                <a:latin typeface="Times New Roman" panose="02020603050405020304" pitchFamily="18" charset="0"/>
                <a:ea typeface="Times New Roman" panose="02020603050405020304" pitchFamily="18" charset="0"/>
                <a:sym typeface="+mn-ea"/>
              </a:rPr>
              <a:t>cho</a:t>
            </a:r>
            <a:r>
              <a:rPr lang="en-US" altLang="en-US" dirty="0">
                <a:latin typeface="Times New Roman" panose="02020603050405020304" pitchFamily="18" charset="0"/>
                <a:ea typeface="Times New Roman" panose="02020603050405020304" pitchFamily="18" charset="0"/>
                <a:sym typeface="+mn-ea"/>
              </a:rPr>
              <a:t> </a:t>
            </a:r>
            <a:r>
              <a:rPr lang="en-US" altLang="en-US" dirty="0" err="1">
                <a:latin typeface="Times New Roman" panose="02020603050405020304" pitchFamily="18" charset="0"/>
                <a:ea typeface="Times New Roman" panose="02020603050405020304" pitchFamily="18" charset="0"/>
                <a:sym typeface="+mn-ea"/>
              </a:rPr>
              <a:t>bất</a:t>
            </a:r>
            <a:r>
              <a:rPr lang="en-US" altLang="en-US" dirty="0">
                <a:latin typeface="Times New Roman" panose="02020603050405020304" pitchFamily="18" charset="0"/>
                <a:ea typeface="Times New Roman" panose="02020603050405020304" pitchFamily="18" charset="0"/>
                <a:sym typeface="+mn-ea"/>
              </a:rPr>
              <a:t> </a:t>
            </a:r>
            <a:r>
              <a:rPr lang="en-US" altLang="en-US" dirty="0" err="1">
                <a:latin typeface="Times New Roman" panose="02020603050405020304" pitchFamily="18" charset="0"/>
                <a:ea typeface="Times New Roman" panose="02020603050405020304" pitchFamily="18" charset="0"/>
                <a:sym typeface="+mn-ea"/>
              </a:rPr>
              <a:t>kỳ</a:t>
            </a:r>
            <a:r>
              <a:rPr lang="en-US" altLang="en-US" dirty="0">
                <a:latin typeface="Times New Roman" panose="02020603050405020304" pitchFamily="18" charset="0"/>
                <a:ea typeface="Times New Roman" panose="02020603050405020304" pitchFamily="18" charset="0"/>
                <a:sym typeface="+mn-ea"/>
              </a:rPr>
              <a:t> ai, </a:t>
            </a:r>
            <a:r>
              <a:rPr lang="en-US" altLang="en-US" dirty="0" err="1">
                <a:latin typeface="Times New Roman" panose="02020603050405020304" pitchFamily="18" charset="0"/>
                <a:ea typeface="Times New Roman" panose="02020603050405020304" pitchFamily="18" charset="0"/>
                <a:sym typeface="+mn-ea"/>
              </a:rPr>
              <a:t>công</a:t>
            </a:r>
            <a:r>
              <a:rPr lang="en-US" altLang="en-US" dirty="0">
                <a:latin typeface="Times New Roman" panose="02020603050405020304" pitchFamily="18" charset="0"/>
                <a:ea typeface="Times New Roman" panose="02020603050405020304" pitchFamily="18" charset="0"/>
                <a:sym typeface="+mn-ea"/>
              </a:rPr>
              <a:t> </a:t>
            </a:r>
            <a:r>
              <a:rPr lang="en-US" altLang="en-US" dirty="0" err="1">
                <a:latin typeface="Times New Roman" panose="02020603050405020304" pitchFamily="18" charset="0"/>
                <a:ea typeface="Times New Roman" panose="02020603050405020304" pitchFamily="18" charset="0"/>
                <a:sym typeface="+mn-ea"/>
              </a:rPr>
              <a:t>bằng</a:t>
            </a:r>
            <a:endParaRPr lang="en-US" altLang="en-US" dirty="0">
              <a:latin typeface="Times New Roman" panose="02020603050405020304" pitchFamily="18" charset="0"/>
              <a:ea typeface="Times New Roman" panose="02020603050405020304" pitchFamily="18" charset="0"/>
            </a:endParaRPr>
          </a:p>
          <a:p>
            <a:pPr algn="just"/>
            <a:r>
              <a:rPr lang="en-US" altLang="en-US" dirty="0">
                <a:highlight>
                  <a:srgbClr val="FFFF00"/>
                </a:highlight>
                <a:latin typeface="Times New Roman" panose="02020603050405020304" pitchFamily="18" charset="0"/>
                <a:ea typeface="Times New Roman" panose="02020603050405020304" pitchFamily="18" charset="0"/>
                <a:sym typeface="+mn-ea"/>
              </a:rPr>
              <a:t>3. Tạo điều kiện thuận lợi để phát triển cơ sở hạ tầng </a:t>
            </a:r>
            <a:r>
              <a:rPr lang="en-US" altLang="en-US" dirty="0">
                <a:latin typeface="Times New Roman" panose="02020603050405020304" pitchFamily="18" charset="0"/>
                <a:ea typeface="Times New Roman" panose="02020603050405020304" pitchFamily="18" charset="0"/>
                <a:sym typeface="+mn-ea"/>
              </a:rPr>
              <a:t>và cung cấp dịch vụ viễn thông tại khu vực biên giới, miền núi, vùng cao, vùng bãi ngang, ven biển và hải đảo, vùng đồng bào dân tộc thiểu số, </a:t>
            </a:r>
            <a:r>
              <a:rPr lang="en-US" altLang="en-US" dirty="0">
                <a:highlight>
                  <a:srgbClr val="00FF00"/>
                </a:highlight>
                <a:latin typeface="Times New Roman" panose="02020603050405020304" pitchFamily="18" charset="0"/>
                <a:ea typeface="Times New Roman" panose="02020603050405020304" pitchFamily="18" charset="0"/>
                <a:sym typeface="+mn-ea"/>
                <a:hlinkClick r:id="rId2" action="ppaction://hlinkfile"/>
              </a:rPr>
              <a:t>vùng có điều kiện kinh tế - xã hội đặc biệt khó khăn</a:t>
            </a:r>
            <a:r>
              <a:rPr lang="en-US" altLang="en-US" dirty="0">
                <a:latin typeface="Times New Roman" panose="02020603050405020304" pitchFamily="18" charset="0"/>
                <a:ea typeface="Times New Roman" panose="02020603050405020304" pitchFamily="18" charset="0"/>
                <a:sym typeface="+mn-ea"/>
              </a:rPr>
              <a:t>; phân định rõ </a:t>
            </a:r>
            <a:r>
              <a:rPr lang="en-US" altLang="en-US" dirty="0">
                <a:highlight>
                  <a:srgbClr val="00FF00"/>
                </a:highlight>
                <a:latin typeface="Times New Roman" panose="02020603050405020304" pitchFamily="18" charset="0"/>
                <a:ea typeface="Times New Roman" panose="02020603050405020304" pitchFamily="18" charset="0"/>
                <a:sym typeface="+mn-ea"/>
              </a:rPr>
              <a:t>hoạt động viễn thông công ích</a:t>
            </a:r>
            <a:r>
              <a:rPr lang="en-US" altLang="en-US" dirty="0">
                <a:latin typeface="Times New Roman" panose="02020603050405020304" pitchFamily="18" charset="0"/>
                <a:ea typeface="Times New Roman" panose="02020603050405020304" pitchFamily="18" charset="0"/>
                <a:sym typeface="+mn-ea"/>
              </a:rPr>
              <a:t> và kinh doanh viễn thông. </a:t>
            </a:r>
            <a:endParaRPr lang="en-US" altLang="en-US" dirty="0">
              <a:latin typeface="Times New Roman" panose="02020603050405020304" pitchFamily="18" charset="0"/>
              <a:ea typeface="Times New Roman" panose="02020603050405020304" pitchFamily="18" charset="0"/>
            </a:endParaRP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024255" y="1433195"/>
            <a:ext cx="7094220" cy="4533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latin typeface="Times New Roman" panose="02020603050405020304" pitchFamily="18" charset="0"/>
                <a:ea typeface="Times New Roman" panose="02020603050405020304" pitchFamily="18" charset="0"/>
                <a:sym typeface="+mn-ea"/>
              </a:rPr>
              <a:t>4. </a:t>
            </a:r>
            <a:r>
              <a:rPr lang="en-US" altLang="en-US" dirty="0">
                <a:highlight>
                  <a:srgbClr val="FFFF00"/>
                </a:highlight>
                <a:latin typeface="Times New Roman" panose="02020603050405020304" pitchFamily="18" charset="0"/>
                <a:ea typeface="Times New Roman" panose="02020603050405020304" pitchFamily="18" charset="0"/>
                <a:sym typeface="+mn-ea"/>
                <a:hlinkClick r:id="rId2" action="ppaction://hlinkfile"/>
              </a:rPr>
              <a:t>Thúc đẩy việc ứng dụng Internet trong lĩnh vực </a:t>
            </a:r>
            <a:r>
              <a:rPr lang="en-US" altLang="en-US" dirty="0">
                <a:highlight>
                  <a:srgbClr val="00FF00"/>
                </a:highlight>
                <a:latin typeface="Times New Roman" panose="02020603050405020304" pitchFamily="18" charset="0"/>
                <a:ea typeface="Times New Roman" panose="02020603050405020304" pitchFamily="18" charset="0"/>
                <a:sym typeface="+mn-ea"/>
                <a:hlinkClick r:id="rId2" action="ppaction://hlinkfile"/>
              </a:rPr>
              <a:t>hành chính, giáo dục, đào tạo, y tế, nghiên cứu khoa học và lĩnh vực khác. </a:t>
            </a:r>
            <a:endParaRPr lang="en-US" altLang="en-US" dirty="0">
              <a:highlight>
                <a:srgbClr val="FFFF00"/>
              </a:highlight>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5. Nghiên cứu, phát triển các công nghệ, tiêu chuẩn, </a:t>
            </a:r>
            <a:r>
              <a:rPr lang="en-US" altLang="en-US" dirty="0">
                <a:highlight>
                  <a:srgbClr val="FFFF00"/>
                </a:highlight>
                <a:latin typeface="Times New Roman" panose="02020603050405020304" pitchFamily="18" charset="0"/>
                <a:ea typeface="Times New Roman" panose="02020603050405020304" pitchFamily="18" charset="0"/>
                <a:sym typeface="+mn-ea"/>
                <a:hlinkClick r:id="rId3" action="ppaction://hlinkfile"/>
              </a:rPr>
              <a:t>ứng dụng về Internet thế hệ mới</a:t>
            </a:r>
            <a:r>
              <a:rPr lang="en-US" altLang="en-US" dirty="0">
                <a:highlight>
                  <a:srgbClr val="FFFF00"/>
                </a:highlight>
                <a:latin typeface="Times New Roman" panose="02020603050405020304" pitchFamily="18" charset="0"/>
                <a:ea typeface="Times New Roman" panose="02020603050405020304" pitchFamily="18" charset="0"/>
                <a:sym typeface="+mn-ea"/>
              </a:rPr>
              <a:t>,</a:t>
            </a:r>
            <a:r>
              <a:rPr lang="en-US" altLang="en-US" dirty="0">
                <a:latin typeface="Times New Roman" panose="02020603050405020304" pitchFamily="18" charset="0"/>
                <a:ea typeface="Times New Roman" panose="02020603050405020304" pitchFamily="18" charset="0"/>
                <a:sym typeface="+mn-ea"/>
              </a:rPr>
              <a:t> công nghệ vệ tinh tầm thấp, công nghệ mạng viễn thông thế hệ tiếp theo.</a:t>
            </a:r>
            <a:endParaRPr lang="en-US" altLang="en-US" dirty="0">
              <a:latin typeface="Times New Roman" panose="02020603050405020304" pitchFamily="18" charset="0"/>
              <a:ea typeface="Times New Roman" panose="02020603050405020304" pitchFamily="18" charset="0"/>
            </a:endParaRP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latin typeface="Times New Roman" panose="02020603050405020304" pitchFamily="18" charset="0"/>
                <a:ea typeface="Times New Roman" panose="02020603050405020304" pitchFamily="18" charset="0"/>
                <a:sym typeface="+mn-ea"/>
              </a:rPr>
              <a:t>6. Đầu tư xây dựng, hiện đại hóa mạng </a:t>
            </a:r>
            <a:r>
              <a:rPr lang="en-US" altLang="en-US" dirty="0">
                <a:highlight>
                  <a:srgbClr val="00FF00"/>
                </a:highlight>
                <a:latin typeface="Times New Roman" panose="02020603050405020304" pitchFamily="18" charset="0"/>
                <a:ea typeface="Times New Roman" panose="02020603050405020304" pitchFamily="18" charset="0"/>
                <a:sym typeface="+mn-ea"/>
              </a:rPr>
              <a:t>viễn thông dùng riêng phục vụ hoạt động quốc phòng, an ninh, hoạt động của các cơ quan Đảng, Nhà nước. , </a:t>
            </a:r>
            <a:r>
              <a:rPr lang="en-US" altLang="en-US" dirty="0">
                <a:highlight>
                  <a:srgbClr val="00FF00"/>
                </a:highlight>
                <a:latin typeface="Times New Roman" panose="02020603050405020304" pitchFamily="18" charset="0"/>
                <a:ea typeface="Times New Roman" panose="02020603050405020304" pitchFamily="18" charset="0"/>
                <a:sym typeface="+mn-ea"/>
                <a:hlinkClick r:id="rId2" action="ppaction://hlinkfile"/>
              </a:rPr>
              <a:t>VD</a:t>
            </a:r>
            <a:endParaRPr lang="en-US" altLang="en-US" dirty="0">
              <a:highlight>
                <a:srgbClr val="00FF00"/>
              </a:highlight>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7. Khuyến khích phát triển nguồn nhân lực viễn thông đáp ứng yêu cầu quản lý, khai thác, kinh doanh hiệu quả cơ sở hạ tầng viễn thông.</a:t>
            </a:r>
            <a:endParaRPr lang="en-US" altLang="en-US"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8.</a:t>
            </a:r>
            <a:r>
              <a:rPr lang="en-US" altLang="en-US" dirty="0">
                <a:highlight>
                  <a:srgbClr val="00FF00"/>
                </a:highlight>
                <a:latin typeface="Times New Roman" panose="02020603050405020304" pitchFamily="18" charset="0"/>
                <a:ea typeface="Times New Roman" panose="02020603050405020304" pitchFamily="18" charset="0"/>
                <a:sym typeface="+mn-ea"/>
                <a:hlinkClick r:id="rId3" action="ppaction://hlinkfile"/>
              </a:rPr>
              <a:t> Tăng cường hợp tác quốc tế </a:t>
            </a:r>
            <a:r>
              <a:rPr lang="en-US" altLang="en-US" dirty="0">
                <a:latin typeface="Times New Roman" panose="02020603050405020304" pitchFamily="18" charset="0"/>
                <a:ea typeface="Times New Roman" panose="02020603050405020304" pitchFamily="18" charset="0"/>
                <a:sym typeface="+mn-ea"/>
                <a:hlinkClick r:id="rId3" action="ppaction://hlinkfile"/>
              </a:rPr>
              <a:t>về viễn thông</a:t>
            </a:r>
            <a:r>
              <a:rPr lang="en-US" altLang="en-US" dirty="0">
                <a:latin typeface="Times New Roman" panose="02020603050405020304" pitchFamily="18" charset="0"/>
                <a:ea typeface="Times New Roman" panose="02020603050405020304" pitchFamily="18" charset="0"/>
                <a:sym typeface="+mn-ea"/>
              </a:rPr>
              <a:t> trên cơ sở tôn trọng độc lập, chủ quyền và toàn vẹn lãnh thổ, bình đẳng, các bên cùng có lợi, phù hợp với pháp luật Việt Nam và điều ước quốc tế mà nước Cộng hòa xã hội chủ nghĩa Việt Nam là thành viên., </a:t>
            </a:r>
            <a:r>
              <a:rPr lang="en-US" altLang="en-US" dirty="0">
                <a:latin typeface="Times New Roman" panose="02020603050405020304" pitchFamily="18" charset="0"/>
                <a:ea typeface="Times New Roman" panose="02020603050405020304" pitchFamily="18" charset="0"/>
                <a:sym typeface="+mn-ea"/>
                <a:hlinkClick r:id="rId4" action="ppaction://hlinkfile"/>
              </a:rPr>
              <a:t>VD</a:t>
            </a:r>
            <a:endParaRPr lang="en-US" altLang="en-US" dirty="0">
              <a:latin typeface="Times New Roman" panose="02020603050405020304" pitchFamily="18" charset="0"/>
              <a:ea typeface="Times New Roman" panose="02020603050405020304" pitchFamily="18" charset="0"/>
            </a:endParaRPr>
          </a:p>
          <a:p>
            <a:pPr algn="just"/>
            <a:endParaRPr lang="en-US" altLang="en-US" dirty="0">
              <a:latin typeface="Times New Roman" panose="02020603050405020304" pitchFamily="18" charset="0"/>
              <a:ea typeface="Times New Roman" panose="02020603050405020304" pitchFamily="18" charset="0"/>
            </a:endParaRP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sz="3600" dirty="0">
                <a:latin typeface="Times New Roman" panose="02020603050405020304" pitchFamily="18" charset="0"/>
                <a:ea typeface="Times New Roman" panose="02020603050405020304" pitchFamily="18" charset="0"/>
              </a:rPr>
              <a:t>Điều 5. Bảo đảm an toàn cơ sở hạ tầng viễn thông, an toàn thông tin mạng và an ninh thông tin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solidFill>
                  <a:srgbClr val="FF0000"/>
                </a:solidFill>
                <a:latin typeface="Times New Roman" panose="02020603050405020304" pitchFamily="18" charset="0"/>
                <a:ea typeface="Times New Roman" panose="02020603050405020304" pitchFamily="18" charset="0"/>
              </a:rPr>
              <a:t>Điều 6. Bảo đảm bí mật thông tin</a:t>
            </a:r>
          </a:p>
          <a:p>
            <a:pPr algn="just"/>
            <a:r>
              <a:rPr lang="en-US" altLang="en-US" dirty="0">
                <a:latin typeface="Times New Roman" panose="02020603050405020304" pitchFamily="18" charset="0"/>
                <a:ea typeface="Times New Roman" panose="02020603050405020304" pitchFamily="18" charset="0"/>
              </a:rPr>
              <a:t>1. </a:t>
            </a:r>
            <a:r>
              <a:rPr lang="en-US" altLang="en-US" dirty="0">
                <a:highlight>
                  <a:srgbClr val="00FF00"/>
                </a:highlight>
                <a:latin typeface="Times New Roman" panose="02020603050405020304" pitchFamily="18" charset="0"/>
                <a:ea typeface="Times New Roman" panose="02020603050405020304" pitchFamily="18" charset="0"/>
              </a:rPr>
              <a:t>Tổ chức, cá nhân</a:t>
            </a:r>
            <a:r>
              <a:rPr lang="en-US" altLang="en-US" dirty="0">
                <a:latin typeface="Times New Roman" panose="02020603050405020304" pitchFamily="18" charset="0"/>
                <a:ea typeface="Times New Roman" panose="02020603050405020304" pitchFamily="18" charset="0"/>
              </a:rPr>
              <a:t> </a:t>
            </a:r>
            <a:r>
              <a:rPr lang="en-US" altLang="en-US" dirty="0">
                <a:highlight>
                  <a:srgbClr val="FFFF00"/>
                </a:highlight>
                <a:latin typeface="Times New Roman" panose="02020603050405020304" pitchFamily="18" charset="0"/>
                <a:ea typeface="Times New Roman" panose="02020603050405020304" pitchFamily="18" charset="0"/>
              </a:rPr>
              <a:t>tham gia hoạt động viễn thông có trách nhiệm bảo vệ bí mật nhà nước</a:t>
            </a:r>
            <a:r>
              <a:rPr lang="en-US" altLang="en-US" dirty="0">
                <a:latin typeface="Times New Roman" panose="02020603050405020304" pitchFamily="18" charset="0"/>
                <a:ea typeface="Times New Roman" panose="02020603050405020304" pitchFamily="18" charset="0"/>
              </a:rPr>
              <a:t> theo quy định của pháp luật về bảo vệ bí mật nhà nước.</a:t>
            </a:r>
          </a:p>
          <a:p>
            <a:pPr algn="just"/>
            <a:r>
              <a:rPr lang="en-US" altLang="en-US" dirty="0">
                <a:latin typeface="Times New Roman" panose="02020603050405020304" pitchFamily="18" charset="0"/>
                <a:ea typeface="Times New Roman" panose="02020603050405020304" pitchFamily="18" charset="0"/>
              </a:rPr>
              <a:t>2. Tổ chức, cá nhân khi gửi, truyền hoặc lưu giữ thông tin thuộc danh mục bí mật nhà nước trên mạng viễn thông có trách nhiệm </a:t>
            </a:r>
            <a:r>
              <a:rPr lang="en-US" altLang="en-US" dirty="0">
                <a:highlight>
                  <a:srgbClr val="FFFF00"/>
                </a:highlight>
                <a:latin typeface="Times New Roman" panose="02020603050405020304" pitchFamily="18" charset="0"/>
                <a:ea typeface="Times New Roman" panose="02020603050405020304" pitchFamily="18" charset="0"/>
              </a:rPr>
              <a:t>mã hóa thông tin theo quy định của pháp luật</a:t>
            </a:r>
            <a:r>
              <a:rPr lang="en-US" altLang="en-US" dirty="0">
                <a:latin typeface="Times New Roman" panose="02020603050405020304" pitchFamily="18" charset="0"/>
                <a:ea typeface="Times New Roman" panose="02020603050405020304" pitchFamily="18" charset="0"/>
              </a:rPr>
              <a:t> về cơ yếu. </a:t>
            </a: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latin typeface="Times New Roman" panose="02020603050405020304" pitchFamily="18" charset="0"/>
                <a:ea typeface="Times New Roman" panose="02020603050405020304" pitchFamily="18" charset="0"/>
                <a:sym typeface="+mn-ea"/>
              </a:rPr>
              <a:t>3. </a:t>
            </a:r>
            <a:r>
              <a:rPr lang="en-US" altLang="en-US" dirty="0">
                <a:highlight>
                  <a:srgbClr val="00FF00"/>
                </a:highlight>
                <a:latin typeface="Times New Roman" panose="02020603050405020304" pitchFamily="18" charset="0"/>
                <a:ea typeface="Times New Roman" panose="02020603050405020304" pitchFamily="18" charset="0"/>
                <a:sym typeface="+mn-ea"/>
              </a:rPr>
              <a:t>Thông tin riêng của mọi tổ chức, cá nhân</a:t>
            </a:r>
            <a:r>
              <a:rPr lang="en-US" altLang="en-US" dirty="0">
                <a:latin typeface="Times New Roman" panose="02020603050405020304" pitchFamily="18" charset="0"/>
                <a:ea typeface="Times New Roman" panose="02020603050405020304" pitchFamily="18" charset="0"/>
                <a:sym typeface="+mn-ea"/>
              </a:rPr>
              <a:t> chuyển qua mạng viễn thông công cộng được bảo đảm bí mật. Việc kiểm soát thông tin trên mạng viễn thông do cơ quan nhà nước có thẩm quyền thực hiện theo quy định của pháp luật.</a:t>
            </a:r>
            <a:endParaRPr lang="en-US" altLang="en-US" dirty="0">
              <a:latin typeface="Times New Roman" panose="02020603050405020304" pitchFamily="18" charset="0"/>
              <a:ea typeface="Times New Roman" panose="02020603050405020304" pitchFamily="18" charset="0"/>
            </a:endParaRP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latin typeface="Times New Roman" panose="02020603050405020304" pitchFamily="18" charset="0"/>
                <a:ea typeface="Times New Roman" panose="02020603050405020304" pitchFamily="18" charset="0"/>
                <a:sym typeface="+mn-ea"/>
              </a:rPr>
              <a:t>4. </a:t>
            </a:r>
            <a:r>
              <a:rPr lang="en-US" altLang="en-US" dirty="0">
                <a:highlight>
                  <a:srgbClr val="00FF00"/>
                </a:highlight>
                <a:latin typeface="Times New Roman" panose="02020603050405020304" pitchFamily="18" charset="0"/>
                <a:ea typeface="Times New Roman" panose="02020603050405020304" pitchFamily="18" charset="0"/>
                <a:sym typeface="+mn-ea"/>
              </a:rPr>
              <a:t>Doanh nghiệp viễn thông không được tiết lộ thông tin riêng liên quan đến người sử dụng dịch vụ viễn thông</a:t>
            </a:r>
            <a:r>
              <a:rPr lang="en-US" altLang="en-US" dirty="0">
                <a:latin typeface="Times New Roman" panose="02020603050405020304" pitchFamily="18" charset="0"/>
                <a:ea typeface="Times New Roman" panose="02020603050405020304" pitchFamily="18" charset="0"/>
                <a:sym typeface="+mn-ea"/>
              </a:rPr>
              <a:t>, bao gồm thông tin thuê bao viễn thông (tên, địa chỉ, số thuê bao viễn thông và thông tin riêng khác mà người sử dụng cung cấp khi giao kết hợp đồng với doanh nghiệp) và thông tin về việc sử dụng dịch vụ viễn thông (số thuê bao viễn thông gửi, số thuê bao viễn thông nhận, vị trí thiết bị đầu cuối gửi, vị trí thiết bị đầu cuối nhận, thời điểm gửi, nhận, thời lượng liên lạc, địa chỉ Internet), </a:t>
            </a:r>
          </a:p>
          <a:p>
            <a:pPr algn="just"/>
            <a:r>
              <a:rPr lang="en-US" altLang="en-US" dirty="0">
                <a:latin typeface="Times New Roman" panose="02020603050405020304" pitchFamily="18" charset="0"/>
                <a:ea typeface="Times New Roman" panose="02020603050405020304" pitchFamily="18" charset="0"/>
                <a:hlinkClick r:id="rId2" action="ppaction://hlinkfile"/>
              </a:rPr>
              <a:t>vd</a:t>
            </a:r>
            <a:r>
              <a:rPr lang="en-US" altLang="en-US" dirty="0">
                <a:latin typeface="Times New Roman" panose="02020603050405020304" pitchFamily="18" charset="0"/>
                <a:ea typeface="Times New Roman" panose="02020603050405020304" pitchFamily="18" charset="0"/>
              </a:rPr>
              <a:t>, </a:t>
            </a:r>
            <a:r>
              <a:rPr lang="en-US" altLang="en-US" dirty="0">
                <a:latin typeface="Times New Roman" panose="02020603050405020304" pitchFamily="18" charset="0"/>
                <a:ea typeface="Times New Roman" panose="02020603050405020304" pitchFamily="18" charset="0"/>
                <a:hlinkClick r:id="rId3" action="ppaction://hlinkfile"/>
              </a:rPr>
              <a:t>vd</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altLang="en-US" i="1" u="sng" dirty="0">
                <a:latin typeface="Times New Roman" panose="02020603050405020304" pitchFamily="18" charset="0"/>
                <a:ea typeface="Times New Roman" panose="02020603050405020304" pitchFamily="18" charset="0"/>
                <a:sym typeface="+mn-ea"/>
              </a:rPr>
              <a:t>trừ các trường hợp sau đây:</a:t>
            </a:r>
            <a:endParaRPr lang="en-US" altLang="en-US" i="1" u="sng"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a) Người sử dụng dịch vụ viễn thông </a:t>
            </a:r>
            <a:r>
              <a:rPr lang="en-US" altLang="en-US" u="sng" dirty="0">
                <a:latin typeface="Times New Roman" panose="02020603050405020304" pitchFamily="18" charset="0"/>
                <a:ea typeface="Times New Roman" panose="02020603050405020304" pitchFamily="18" charset="0"/>
                <a:sym typeface="+mn-ea"/>
              </a:rPr>
              <a:t>đồng ý cung cấp thông tin </a:t>
            </a:r>
            <a:r>
              <a:rPr lang="en-US" altLang="en-US" dirty="0">
                <a:latin typeface="Times New Roman" panose="02020603050405020304" pitchFamily="18" charset="0"/>
                <a:ea typeface="Times New Roman" panose="02020603050405020304" pitchFamily="18" charset="0"/>
                <a:sym typeface="+mn-ea"/>
              </a:rPr>
              <a:t>theo quy định của pháp luật về bảo vệ dữ liệu cá nhân;</a:t>
            </a:r>
            <a:endParaRPr lang="en-US" altLang="en-US"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b) </a:t>
            </a:r>
            <a:r>
              <a:rPr lang="en-US" altLang="en-US" u="sng" dirty="0">
                <a:latin typeface="Times New Roman" panose="02020603050405020304" pitchFamily="18" charset="0"/>
                <a:ea typeface="Times New Roman" panose="02020603050405020304" pitchFamily="18" charset="0"/>
                <a:sym typeface="+mn-ea"/>
              </a:rPr>
              <a:t>Các doanh nghiệp viễn thông có thỏa thuận </a:t>
            </a:r>
            <a:r>
              <a:rPr lang="en-US" altLang="en-US" dirty="0">
                <a:latin typeface="Times New Roman" panose="02020603050405020304" pitchFamily="18" charset="0"/>
                <a:ea typeface="Times New Roman" panose="02020603050405020304" pitchFamily="18" charset="0"/>
                <a:sym typeface="+mn-ea"/>
              </a:rPr>
              <a:t>bằng văn bản về việc trao đổi, cung cấp thông tin thuê bao viễn thông, thông tin về việc sử dụng dịch vụ viễn thông của người sử dụng dịch vụ để phục vụ cho việc tính giá, lập hóa đơn;</a:t>
            </a:r>
            <a:endParaRPr lang="en-US" altLang="en-US" dirty="0">
              <a:latin typeface="Times New Roman" panose="02020603050405020304" pitchFamily="18" charset="0"/>
              <a:ea typeface="Times New Roman" panose="02020603050405020304" pitchFamily="18" charset="0"/>
            </a:endParaRPr>
          </a:p>
          <a:p>
            <a:pPr algn="just"/>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altLang="en-US" dirty="0">
                <a:latin typeface="Times New Roman" panose="02020603050405020304" pitchFamily="18" charset="0"/>
                <a:ea typeface="Times New Roman" panose="02020603050405020304" pitchFamily="18" charset="0"/>
                <a:sym typeface="+mn-ea"/>
              </a:rPr>
              <a:t>c) Doanh nghiệp viễn thông cung cấp thông tin thuê bao viễn thông có hành vi trốn tránh thực hiện nghĩa vụ thanh toán tiền sử dụng dịch vụ viễn thông theo quy định của Bộ trưởng Bộ Thông tin và Truyền thông;</a:t>
            </a:r>
            <a:endParaRPr lang="en-US" altLang="en-US"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d) Khi có yêu cầu của cơ quan nhà nước có thẩm quyền theo quy định của pháp luật.</a:t>
            </a:r>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highlight>
                  <a:srgbClr val="00FF00"/>
                </a:highlight>
                <a:latin typeface="Times New Roman" panose="02020603050405020304" pitchFamily="18" charset="0"/>
                <a:ea typeface="Times New Roman" panose="02020603050405020304" pitchFamily="18" charset="0"/>
              </a:rPr>
              <a:t>Điều 7. Thông tin ưu tiên truyền qua mạng viễn thông</a:t>
            </a:r>
          </a:p>
          <a:p>
            <a:pPr algn="just"/>
            <a:r>
              <a:rPr lang="en-US" altLang="en-US" dirty="0">
                <a:latin typeface="Times New Roman" panose="02020603050405020304" pitchFamily="18" charset="0"/>
                <a:ea typeface="Times New Roman" panose="02020603050405020304" pitchFamily="18" charset="0"/>
              </a:rPr>
              <a:t>1. Thông tin khẩn cấp phục vụ </a:t>
            </a:r>
            <a:r>
              <a:rPr lang="en-US" altLang="en-US" dirty="0">
                <a:highlight>
                  <a:srgbClr val="FFFF00"/>
                </a:highlight>
                <a:latin typeface="Times New Roman" panose="02020603050405020304" pitchFamily="18" charset="0"/>
                <a:ea typeface="Times New Roman" panose="02020603050405020304" pitchFamily="18" charset="0"/>
              </a:rPr>
              <a:t>quốc phòng, an ninh, cơ yếu.</a:t>
            </a:r>
          </a:p>
          <a:p>
            <a:pPr algn="just"/>
            <a:r>
              <a:rPr lang="en-US" altLang="en-US" dirty="0">
                <a:latin typeface="Times New Roman" panose="02020603050405020304" pitchFamily="18" charset="0"/>
                <a:ea typeface="Times New Roman" panose="02020603050405020304" pitchFamily="18" charset="0"/>
              </a:rPr>
              <a:t>2. Thông tin khẩn cấp phục vụ </a:t>
            </a:r>
            <a:r>
              <a:rPr lang="en-US" altLang="en-US" dirty="0">
                <a:highlight>
                  <a:srgbClr val="FFFF00"/>
                </a:highlight>
                <a:latin typeface="Times New Roman" panose="02020603050405020304" pitchFamily="18" charset="0"/>
                <a:ea typeface="Times New Roman" panose="02020603050405020304" pitchFamily="18" charset="0"/>
              </a:rPr>
              <a:t>tìm kiếm, cứu hộ, cứu nạn, phòng, chống thiên tai, hỏa hoạn, thảm họa khác.</a:t>
            </a:r>
          </a:p>
          <a:p>
            <a:pPr algn="just"/>
            <a:r>
              <a:rPr lang="en-US" altLang="en-US" dirty="0">
                <a:latin typeface="Times New Roman" panose="02020603050405020304" pitchFamily="18" charset="0"/>
                <a:ea typeface="Times New Roman" panose="02020603050405020304" pitchFamily="18" charset="0"/>
              </a:rPr>
              <a:t>3. Thông tin khẩn cấp phục vụ </a:t>
            </a:r>
            <a:r>
              <a:rPr lang="en-US" altLang="en-US" dirty="0">
                <a:highlight>
                  <a:srgbClr val="FFFF00"/>
                </a:highlight>
                <a:latin typeface="Times New Roman" panose="02020603050405020304" pitchFamily="18" charset="0"/>
                <a:ea typeface="Times New Roman" panose="02020603050405020304" pitchFamily="18" charset="0"/>
              </a:rPr>
              <a:t>phòng, chống dịch bệnh.</a:t>
            </a:r>
          </a:p>
          <a:p>
            <a:pPr algn="just"/>
            <a:r>
              <a:rPr lang="en-US" altLang="en-US" dirty="0">
                <a:latin typeface="Times New Roman" panose="02020603050405020304" pitchFamily="18" charset="0"/>
                <a:ea typeface="Times New Roman" panose="02020603050405020304" pitchFamily="18" charset="0"/>
              </a:rPr>
              <a:t>4. Trường hợp khác theo quy định của pháp luật về tình trạng khẩn cấp.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highlight>
                  <a:srgbClr val="00FF00"/>
                </a:highlight>
                <a:latin typeface="Times New Roman" panose="02020603050405020304" pitchFamily="18" charset="0"/>
                <a:ea typeface="Times New Roman" panose="02020603050405020304" pitchFamily="18" charset="0"/>
              </a:rPr>
              <a:t>Điều 9. Các hành vi bị nghiêm cấm trong hoạt động viễn thông</a:t>
            </a:r>
            <a:endParaRPr lang="en-US" altLang="en-US"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rPr>
              <a:t>1. </a:t>
            </a:r>
            <a:r>
              <a:rPr lang="en-US" altLang="en-US" dirty="0">
                <a:highlight>
                  <a:srgbClr val="FFFF00"/>
                </a:highlight>
                <a:latin typeface="Times New Roman" panose="02020603050405020304" pitchFamily="18" charset="0"/>
                <a:ea typeface="Times New Roman" panose="02020603050405020304" pitchFamily="18" charset="0"/>
              </a:rPr>
              <a:t>Lợi dụng hoạt động viễn thông nhằm chống lại Nhà nước </a:t>
            </a:r>
            <a:r>
              <a:rPr lang="en-US" altLang="en-US" dirty="0">
                <a:latin typeface="Times New Roman" panose="02020603050405020304" pitchFamily="18" charset="0"/>
                <a:ea typeface="Times New Roman" panose="02020603050405020304" pitchFamily="18" charset="0"/>
              </a:rPr>
              <a:t>Cộng hòa xã hội chủ nghĩa Việt Nam; xâm phạm an ninh quốc gia, trật tự, an toàn xã hội gây thiệt hại đến lợi ích của Nhà nước, quyền và lợi ích hợp pháp của tổ chức, cá nhân.</a:t>
            </a:r>
          </a:p>
          <a:p>
            <a:pPr algn="just"/>
            <a:r>
              <a:rPr lang="en-US" altLang="en-US" dirty="0">
                <a:latin typeface="Times New Roman" panose="02020603050405020304" pitchFamily="18" charset="0"/>
                <a:ea typeface="Times New Roman" panose="02020603050405020304" pitchFamily="18" charset="0"/>
              </a:rPr>
              <a:t>2. </a:t>
            </a:r>
            <a:r>
              <a:rPr lang="en-US" altLang="en-US" dirty="0">
                <a:highlight>
                  <a:srgbClr val="FFFF00"/>
                </a:highlight>
                <a:latin typeface="Times New Roman" panose="02020603050405020304" pitchFamily="18" charset="0"/>
                <a:ea typeface="Times New Roman" panose="02020603050405020304" pitchFamily="18" charset="0"/>
              </a:rPr>
              <a:t>Thu trộm, nghe trộm, xem trộm thông tin</a:t>
            </a:r>
            <a:r>
              <a:rPr lang="en-US" altLang="en-US" dirty="0">
                <a:latin typeface="Times New Roman" panose="02020603050405020304" pitchFamily="18" charset="0"/>
                <a:ea typeface="Times New Roman" panose="02020603050405020304" pitchFamily="18" charset="0"/>
              </a:rPr>
              <a:t> trên mạng viễn thông; trộm cắp, sử dụng trái phép tài nguyên viễn thông, mật khẩu, khóa mật mã và thông tin riêng của tổ chức, cá nhân khác.</a:t>
            </a: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vi-VN" altLang="en-US" i="1" dirty="0">
                <a:highlight>
                  <a:srgbClr val="FF0000"/>
                </a:highlight>
                <a:latin typeface="Times New Roman" panose="02020603050405020304" pitchFamily="18" charset="0"/>
                <a:cs typeface="Times New Roman" panose="02020603050405020304" pitchFamily="18" charset="0"/>
                <a:sym typeface="+mn-ea"/>
              </a:rPr>
              <a:t>Chương I: Những qui định chung.</a:t>
            </a:r>
            <a:endParaRPr lang="vi-VN" altLang="en-US" i="1" dirty="0">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409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dirty="0">
                <a:latin typeface="Times New Roman" panose="02020603050405020304" pitchFamily="18" charset="0"/>
                <a:ea typeface="Times New Roman" panose="02020603050405020304" pitchFamily="18" charset="0"/>
                <a:sym typeface="+mn-ea"/>
              </a:rPr>
              <a:t>3. Cản trở trái pháp luật việc thiết lập cơ sở hạ tầng viễn thông, gây rối, phá hoại việc thiết lập cơ sở hạ tầng viễn thông, việc cung cấp và sử dụng hợp pháp các dịch vụ viễn thông.</a:t>
            </a:r>
            <a:endParaRPr lang="en-US" altLang="en-US"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4. Thiết lập cơ sở hạ tầng viễn thông, cung cấp dịch vụ viễn thông khi chưa được phép thực hiện theo quy định của Luật này.</a:t>
            </a:r>
            <a:endParaRPr lang="en-US" altLang="en-US" dirty="0">
              <a:latin typeface="Times New Roman" panose="02020603050405020304" pitchFamily="18" charset="0"/>
              <a:ea typeface="Times New Roman" panose="02020603050405020304" pitchFamily="18" charset="0"/>
            </a:endParaRPr>
          </a:p>
          <a:p>
            <a:pPr algn="just"/>
            <a:r>
              <a:rPr lang="en-US" altLang="en-US" dirty="0">
                <a:latin typeface="Times New Roman" panose="02020603050405020304" pitchFamily="18" charset="0"/>
                <a:ea typeface="Times New Roman" panose="02020603050405020304" pitchFamily="18" charset="0"/>
                <a:sym typeface="+mn-ea"/>
              </a:rPr>
              <a:t>5. Sử dụng thiết bị, phần mềm gửi, truyền, nhận thông tin qua mạng viễn thông để thực hiện hành vi vi phạm pháp luật.</a:t>
            </a:r>
            <a:endParaRPr lang="en-US" altLang="en-US" dirty="0">
              <a:latin typeface="Times New Roman" panose="02020603050405020304" pitchFamily="18" charset="0"/>
              <a:ea typeface="Times New Roman" panose="02020603050405020304" pitchFamily="18" charset="0"/>
            </a:endParaRPr>
          </a:p>
          <a:p>
            <a:pPr algn="just"/>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p:txBody>
          <a:bodyPr vert="horz" wrap="square" lIns="91440" tIns="45720" rIns="91440" bIns="45720" anchor="ctr" anchorCtr="0"/>
          <a:lstStyle/>
          <a:p>
            <a:pPr eaLnBrk="1" hangingPunct="1"/>
            <a:r>
              <a:rPr lang="vi-VN" altLang="en-US" i="1" dirty="0">
                <a:solidFill>
                  <a:srgbClr val="FF0000"/>
                </a:solidFill>
                <a:highlight>
                  <a:srgbClr val="FFFF00"/>
                </a:highlight>
                <a:latin typeface="Times New Roman" panose="02020603050405020304" pitchFamily="18" charset="0"/>
                <a:cs typeface="Times New Roman" panose="02020603050405020304" pitchFamily="18" charset="0"/>
                <a:sym typeface="+mn-ea"/>
              </a:rPr>
              <a:t>Chương II: Kinh doanh viễn thông.</a:t>
            </a:r>
            <a:endParaRPr lang="vi-VN" altLang="en-US" i="1" dirty="0">
              <a:solidFill>
                <a:srgbClr val="FF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5123"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gồm </a:t>
            </a:r>
            <a:r>
              <a:rPr lang="en-US" altLang="vi-VN" b="0" dirty="0">
                <a:latin typeface="Times New Roman" panose="02020603050405020304" pitchFamily="18" charset="0"/>
                <a:cs typeface="Times New Roman" panose="02020603050405020304" pitchFamily="18" charset="0"/>
              </a:rPr>
              <a:t>20</a:t>
            </a:r>
            <a:r>
              <a:rPr lang="vi-VN" altLang="en-US" b="0" dirty="0">
                <a:latin typeface="Times New Roman" panose="02020603050405020304" pitchFamily="18" charset="0"/>
                <a:cs typeface="Times New Roman" panose="02020603050405020304" pitchFamily="18" charset="0"/>
              </a:rPr>
              <a:t> điều (từ điều 1</a:t>
            </a:r>
            <a:r>
              <a:rPr lang="en-US" altLang="vi-VN" b="0" dirty="0">
                <a:latin typeface="Times New Roman" panose="02020603050405020304" pitchFamily="18" charset="0"/>
                <a:cs typeface="Times New Roman" panose="02020603050405020304" pitchFamily="18" charset="0"/>
              </a:rPr>
              <a:t>0</a:t>
            </a:r>
            <a:r>
              <a:rPr lang="vi-VN" altLang="en-US" b="0" dirty="0">
                <a:latin typeface="Times New Roman" panose="02020603050405020304" pitchFamily="18" charset="0"/>
                <a:cs typeface="Times New Roman" panose="02020603050405020304" pitchFamily="18" charset="0"/>
              </a:rPr>
              <a:t> đến điều </a:t>
            </a:r>
            <a:r>
              <a:rPr lang="en-US" altLang="vi-VN" b="0" dirty="0">
                <a:latin typeface="Times New Roman" panose="02020603050405020304" pitchFamily="18" charset="0"/>
                <a:cs typeface="Times New Roman" panose="02020603050405020304" pitchFamily="18" charset="0"/>
              </a:rPr>
              <a:t>2</a:t>
            </a:r>
            <a:r>
              <a:rPr lang="vi-VN" altLang="en-US" b="0" dirty="0">
                <a:latin typeface="Times New Roman" panose="02020603050405020304" pitchFamily="18" charset="0"/>
                <a:cs typeface="Times New Roman" panose="02020603050405020304" pitchFamily="18" charset="0"/>
              </a:rPr>
              <a:t>9), quy định về </a:t>
            </a:r>
          </a:p>
          <a:p>
            <a:pPr marL="0" indent="0" algn="just">
              <a:buNone/>
            </a:pPr>
            <a:r>
              <a:rPr lang="en-US" altLang="vi-VN" b="0" dirty="0">
                <a:latin typeface="Times New Roman" panose="02020603050405020304" pitchFamily="18" charset="0"/>
                <a:cs typeface="Times New Roman" panose="02020603050405020304" pitchFamily="18" charset="0"/>
              </a:rPr>
              <a:t>Mục 1: </a:t>
            </a:r>
            <a:r>
              <a:rPr b="0" dirty="0">
                <a:latin typeface="Times New Roman" panose="02020603050405020304" pitchFamily="18" charset="0"/>
                <a:cs typeface="Times New Roman" panose="02020603050405020304" pitchFamily="18" charset="0"/>
              </a:rPr>
              <a:t>ĐẦU TƯ, KINH DOANH VIỄN THÔNG</a:t>
            </a:r>
          </a:p>
          <a:p>
            <a:pPr marL="0" indent="0" algn="just">
              <a:buNone/>
            </a:pPr>
            <a:r>
              <a:rPr b="0" dirty="0">
                <a:latin typeface="Times New Roman" panose="02020603050405020304" pitchFamily="18" charset="0"/>
                <a:cs typeface="Times New Roman" panose="02020603050405020304" pitchFamily="18" charset="0"/>
              </a:rPr>
              <a:t>Mục 2</a:t>
            </a:r>
            <a:r>
              <a:rPr lang="en-US" b="0" dirty="0">
                <a:latin typeface="Times New Roman" panose="02020603050405020304" pitchFamily="18" charset="0"/>
                <a:cs typeface="Times New Roman" panose="02020603050405020304" pitchFamily="18" charset="0"/>
              </a:rPr>
              <a:t>: </a:t>
            </a:r>
            <a:r>
              <a:rPr b="0" dirty="0">
                <a:latin typeface="Times New Roman" panose="02020603050405020304" pitchFamily="18" charset="0"/>
                <a:cs typeface="Times New Roman" panose="02020603050405020304" pitchFamily="18" charset="0"/>
              </a:rPr>
              <a:t>THIẾT LẬP MẠNG VIỄN THÔNG </a:t>
            </a:r>
          </a:p>
          <a:p>
            <a:pPr marL="0" indent="0" algn="just">
              <a:buNone/>
            </a:pPr>
            <a:r>
              <a:rPr b="0" dirty="0">
                <a:latin typeface="Times New Roman" panose="02020603050405020304" pitchFamily="18" charset="0"/>
                <a:cs typeface="Times New Roman" panose="02020603050405020304" pitchFamily="18" charset="0"/>
              </a:rPr>
              <a:t>VÀ CUNG CẤP DỊCH VỤ VIỄN THÔNG</a:t>
            </a:r>
          </a:p>
          <a:p>
            <a:pPr marL="0" indent="0" algn="just">
              <a:buNone/>
            </a:pPr>
            <a:r>
              <a:rPr b="0" dirty="0">
                <a:latin typeface="Times New Roman" panose="02020603050405020304" pitchFamily="18" charset="0"/>
                <a:cs typeface="Times New Roman" panose="02020603050405020304" pitchFamily="18" charset="0"/>
              </a:rPr>
              <a:t>Mục 3</a:t>
            </a:r>
            <a:r>
              <a:rPr lang="en-US" b="0" dirty="0">
                <a:latin typeface="Times New Roman" panose="02020603050405020304" pitchFamily="18" charset="0"/>
                <a:cs typeface="Times New Roman" panose="02020603050405020304" pitchFamily="18" charset="0"/>
              </a:rPr>
              <a:t>: </a:t>
            </a:r>
            <a:r>
              <a:rPr b="0" dirty="0">
                <a:latin typeface="Times New Roman" panose="02020603050405020304" pitchFamily="18" charset="0"/>
                <a:cs typeface="Times New Roman" panose="02020603050405020304" pitchFamily="18" charset="0"/>
              </a:rPr>
              <a:t> CUNG CẤP DỊCH VỤ VIỄN THÔNG CƠ BẢN TRÊN INTERNET VÀ DỊCH VỤ TRUNG TÂM DỮ LIỆU, DỊCH VỤ ĐIỆN TOÁN ĐÁM MÂY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p:txBody>
          <a:bodyPr vert="horz" wrap="square" lIns="91440" tIns="45720" rIns="91440" bIns="45720" anchor="ctr" anchorCtr="0"/>
          <a:lstStyle/>
          <a:p>
            <a:pPr eaLnBrk="1" hangingPunct="1"/>
            <a:r>
              <a:rPr lang="vi-VN" altLang="en-US" i="1" dirty="0">
                <a:solidFill>
                  <a:srgbClr val="FFFF00"/>
                </a:solidFill>
                <a:highlight>
                  <a:srgbClr val="FF0000"/>
                </a:highlight>
                <a:latin typeface="Times New Roman" panose="02020603050405020304" pitchFamily="18" charset="0"/>
                <a:cs typeface="Times New Roman" panose="02020603050405020304" pitchFamily="18" charset="0"/>
                <a:sym typeface="+mn-ea"/>
              </a:rPr>
              <a:t>Chương III: Viễn thông công ích.</a:t>
            </a:r>
            <a:endParaRPr lang="vi-VN" altLang="en-US" i="1" dirty="0">
              <a:solidFill>
                <a:srgbClr val="FFFF00"/>
              </a:solidFill>
              <a:highlight>
                <a:srgbClr val="FF0000"/>
              </a:highligh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6147" name="Rectangle 3"/>
          <p:cNvSpPr>
            <a:spLocks noGrp="1"/>
          </p:cNvSpPr>
          <p:nvPr>
            <p:ph idx="1"/>
          </p:nvPr>
        </p:nvSpPr>
        <p:spPr>
          <a:xfrm>
            <a:off x="250825" y="1392238"/>
            <a:ext cx="8713788" cy="4852987"/>
          </a:xfrm>
        </p:spPr>
        <p:txBody>
          <a:bodyPr vert="horz" wrap="square" lIns="91440" tIns="45720" rIns="91440" bIns="45720" anchor="t" anchorCtr="0"/>
          <a:lstStyle/>
          <a:p>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3 điều ( từ điều </a:t>
            </a:r>
            <a:r>
              <a:rPr lang="en-US" altLang="vi-VN" b="0" dirty="0">
                <a:latin typeface="Times New Roman" panose="02020603050405020304" pitchFamily="18" charset="0"/>
                <a:cs typeface="Times New Roman" panose="02020603050405020304" pitchFamily="18" charset="0"/>
              </a:rPr>
              <a:t>3</a:t>
            </a:r>
            <a:r>
              <a:rPr lang="vi-VN" altLang="en-US" b="0" dirty="0">
                <a:latin typeface="Times New Roman" panose="02020603050405020304" pitchFamily="18" charset="0"/>
                <a:cs typeface="Times New Roman" panose="02020603050405020304" pitchFamily="18" charset="0"/>
              </a:rPr>
              <a:t>0 đến điều </a:t>
            </a:r>
            <a:r>
              <a:rPr lang="en-US" altLang="vi-VN" b="0" dirty="0">
                <a:latin typeface="Times New Roman" panose="02020603050405020304" pitchFamily="18" charset="0"/>
                <a:cs typeface="Times New Roman" panose="02020603050405020304" pitchFamily="18" charset="0"/>
              </a:rPr>
              <a:t>3</a:t>
            </a:r>
            <a:r>
              <a:rPr lang="vi-VN" altLang="en-US" b="0" dirty="0">
                <a:latin typeface="Times New Roman" panose="02020603050405020304" pitchFamily="18" charset="0"/>
                <a:cs typeface="Times New Roman" panose="02020603050405020304" pitchFamily="18" charset="0"/>
              </a:rPr>
              <a:t>2), quy định về </a:t>
            </a:r>
          </a:p>
          <a:p>
            <a:pPr lvl="1"/>
            <a:r>
              <a:rPr b="0" dirty="0">
                <a:latin typeface="Times New Roman" panose="02020603050405020304" pitchFamily="18" charset="0"/>
                <a:cs typeface="Times New Roman" panose="02020603050405020304" pitchFamily="18" charset="0"/>
              </a:rPr>
              <a:t>Điều 30. Hoạt động viễn thông công ích </a:t>
            </a:r>
          </a:p>
          <a:p>
            <a:pPr lvl="1"/>
            <a:r>
              <a:rPr b="0" dirty="0">
                <a:latin typeface="Times New Roman" panose="02020603050405020304" pitchFamily="18" charset="0"/>
                <a:cs typeface="Times New Roman" panose="02020603050405020304" pitchFamily="18" charset="0"/>
              </a:rPr>
              <a:t>Điều 31. Quỹ Dịch vụ viễn thông công ích Việt Nam </a:t>
            </a:r>
          </a:p>
          <a:p>
            <a:pPr lvl="1"/>
            <a:r>
              <a:rPr b="0" dirty="0">
                <a:latin typeface="Times New Roman" panose="02020603050405020304" pitchFamily="18" charset="0"/>
                <a:cs typeface="Times New Roman" panose="02020603050405020304" pitchFamily="18" charset="0"/>
              </a:rPr>
              <a:t>Điều 32. Quản lý hoạt động viễn thông công ích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p:txBody>
          <a:bodyPr vert="horz" wrap="square" lIns="91440" tIns="45720" rIns="91440" bIns="45720" anchor="ctr" anchorCtr="0"/>
          <a:lstStyle/>
          <a:p>
            <a:pPr eaLnBrk="1" hangingPunct="1"/>
            <a:r>
              <a:rPr lang="vi-VN" altLang="en-US" sz="2400" i="1" dirty="0">
                <a:solidFill>
                  <a:srgbClr val="FFC000"/>
                </a:solidFill>
                <a:highlight>
                  <a:srgbClr val="00FF00"/>
                </a:highlight>
                <a:latin typeface="Times New Roman" panose="02020603050405020304" pitchFamily="18" charset="0"/>
                <a:sym typeface="+mn-ea"/>
              </a:rPr>
              <a:t>Chương IV</a:t>
            </a:r>
            <a:r>
              <a:rPr lang="en-US" altLang="vi-VN" sz="2400" i="1" dirty="0">
                <a:solidFill>
                  <a:srgbClr val="FFC000"/>
                </a:solidFill>
                <a:highlight>
                  <a:srgbClr val="00FF00"/>
                </a:highlight>
                <a:latin typeface="Times New Roman" panose="02020603050405020304" pitchFamily="18" charset="0"/>
                <a:sym typeface="+mn-ea"/>
              </a:rPr>
              <a:t>: </a:t>
            </a:r>
            <a:r>
              <a:rPr lang="vi-VN" altLang="en-US" sz="2400" i="1" dirty="0">
                <a:solidFill>
                  <a:srgbClr val="FFC000"/>
                </a:solidFill>
                <a:highlight>
                  <a:srgbClr val="00FF00"/>
                </a:highlight>
                <a:latin typeface="Times New Roman" panose="02020603050405020304" pitchFamily="18" charset="0"/>
                <a:sym typeface="+mn-ea"/>
              </a:rPr>
              <a:t>GIẤY PHÉP VIỄN THÔNG</a:t>
            </a:r>
          </a:p>
        </p:txBody>
      </p:sp>
      <p:sp>
        <p:nvSpPr>
          <p:cNvPr id="7171"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11 điều (từ điều </a:t>
            </a:r>
            <a:r>
              <a:rPr lang="en-US" altLang="vi-VN" b="0" dirty="0">
                <a:latin typeface="Times New Roman" panose="02020603050405020304" pitchFamily="18" charset="0"/>
                <a:cs typeface="Times New Roman" panose="02020603050405020304" pitchFamily="18" charset="0"/>
              </a:rPr>
              <a:t>3</a:t>
            </a:r>
            <a:r>
              <a:rPr lang="vi-VN" altLang="en-US" b="0" dirty="0">
                <a:latin typeface="Times New Roman" panose="02020603050405020304" pitchFamily="18" charset="0"/>
                <a:cs typeface="Times New Roman" panose="02020603050405020304" pitchFamily="18" charset="0"/>
              </a:rPr>
              <a:t>3 đến điều </a:t>
            </a:r>
            <a:r>
              <a:rPr lang="en-US" altLang="vi-VN" b="0" dirty="0">
                <a:latin typeface="Times New Roman" panose="02020603050405020304" pitchFamily="18" charset="0"/>
                <a:cs typeface="Times New Roman" panose="02020603050405020304" pitchFamily="18" charset="0"/>
              </a:rPr>
              <a:t>4</a:t>
            </a:r>
            <a:r>
              <a:rPr lang="vi-VN" altLang="en-US" b="0" dirty="0">
                <a:latin typeface="Times New Roman" panose="02020603050405020304" pitchFamily="18" charset="0"/>
                <a:cs typeface="Times New Roman" panose="02020603050405020304" pitchFamily="18" charset="0"/>
              </a:rPr>
              <a:t>3), </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p:txBody>
          <a:bodyPr vert="horz" wrap="square" lIns="91440" tIns="45720" rIns="91440" bIns="45720" anchor="ctr" anchorCtr="0"/>
          <a:lstStyle/>
          <a:p>
            <a:pPr eaLnBrk="1" hangingPunct="1"/>
            <a:r>
              <a:rPr lang="vi-VN" altLang="en-US" sz="2400" i="1" dirty="0">
                <a:solidFill>
                  <a:srgbClr val="FFC000"/>
                </a:solidFill>
                <a:highlight>
                  <a:srgbClr val="00FF00"/>
                </a:highlight>
                <a:latin typeface="Times New Roman" panose="02020603050405020304" pitchFamily="18" charset="0"/>
                <a:sym typeface="+mn-ea"/>
              </a:rPr>
              <a:t>Chương IV</a:t>
            </a:r>
            <a:r>
              <a:rPr lang="en-US" altLang="vi-VN" sz="2400" i="1" dirty="0">
                <a:solidFill>
                  <a:srgbClr val="FFC000"/>
                </a:solidFill>
                <a:highlight>
                  <a:srgbClr val="00FF00"/>
                </a:highlight>
                <a:latin typeface="Times New Roman" panose="02020603050405020304" pitchFamily="18" charset="0"/>
                <a:sym typeface="+mn-ea"/>
              </a:rPr>
              <a:t>: </a:t>
            </a:r>
            <a:r>
              <a:rPr lang="vi-VN" altLang="en-US" sz="2400" i="1" dirty="0">
                <a:solidFill>
                  <a:srgbClr val="FFC000"/>
                </a:solidFill>
                <a:highlight>
                  <a:srgbClr val="00FF00"/>
                </a:highlight>
                <a:latin typeface="Times New Roman" panose="02020603050405020304" pitchFamily="18" charset="0"/>
                <a:sym typeface="+mn-ea"/>
              </a:rPr>
              <a:t>GIẤY PHÉP VIỄN THÔNG</a:t>
            </a:r>
          </a:p>
        </p:txBody>
      </p:sp>
      <p:sp>
        <p:nvSpPr>
          <p:cNvPr id="7171" name="Rectangle 3"/>
          <p:cNvSpPr>
            <a:spLocks noGrp="1"/>
          </p:cNvSpPr>
          <p:nvPr>
            <p:ph idx="1"/>
          </p:nvPr>
        </p:nvSpPr>
        <p:spPr>
          <a:xfrm>
            <a:off x="250825" y="1392238"/>
            <a:ext cx="8713788" cy="4852987"/>
          </a:xfrm>
        </p:spPr>
        <p:txBody>
          <a:bodyPr vert="horz" wrap="square" lIns="91440" tIns="45720" rIns="91440" bIns="45720" anchor="t" anchorCtr="0"/>
          <a:lstStyle/>
          <a:p>
            <a:pPr lvl="1" algn="just" eaLnBrk="1" hangingPunct="1"/>
            <a:r>
              <a:rPr lang="en-US" altLang="en-US" dirty="0">
                <a:latin typeface="Times New Roman" panose="02020603050405020304" pitchFamily="18" charset="0"/>
                <a:ea typeface="Times New Roman" panose="02020603050405020304" pitchFamily="18" charset="0"/>
              </a:rPr>
              <a:t>Điều 33. Giấy phép viễn thông</a:t>
            </a:r>
          </a:p>
          <a:p>
            <a:pPr lvl="1" algn="just" eaLnBrk="1" hangingPunct="1"/>
            <a:r>
              <a:rPr lang="en-US" altLang="en-US" dirty="0">
                <a:latin typeface="Times New Roman" panose="02020603050405020304" pitchFamily="18" charset="0"/>
                <a:ea typeface="Times New Roman" panose="02020603050405020304" pitchFamily="18" charset="0"/>
              </a:rPr>
              <a:t>Giấy phép viễn thông bao gồm giấy phép kinh doanh dịch vụ viễn thông và giấy phép nghiệp vụ viễn thông.</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p:txBody>
          <a:bodyPr vert="horz" wrap="square" lIns="91440" tIns="45720" rIns="91440" bIns="45720" anchor="ctr" anchorCtr="0"/>
          <a:lstStyle/>
          <a:p>
            <a:pPr eaLnBrk="1" hangingPunct="1"/>
            <a:r>
              <a:rPr lang="vi-VN" altLang="en-US" sz="2400" i="1" dirty="0">
                <a:solidFill>
                  <a:srgbClr val="FFC000"/>
                </a:solidFill>
                <a:highlight>
                  <a:srgbClr val="00FF00"/>
                </a:highlight>
                <a:latin typeface="Times New Roman" panose="02020603050405020304" pitchFamily="18" charset="0"/>
                <a:sym typeface="+mn-ea"/>
              </a:rPr>
              <a:t>Chương IV</a:t>
            </a:r>
            <a:r>
              <a:rPr lang="en-US" altLang="vi-VN" sz="2400" i="1" dirty="0">
                <a:solidFill>
                  <a:srgbClr val="FFC000"/>
                </a:solidFill>
                <a:highlight>
                  <a:srgbClr val="00FF00"/>
                </a:highlight>
                <a:latin typeface="Times New Roman" panose="02020603050405020304" pitchFamily="18" charset="0"/>
                <a:sym typeface="+mn-ea"/>
              </a:rPr>
              <a:t>: </a:t>
            </a:r>
            <a:r>
              <a:rPr lang="vi-VN" altLang="en-US" sz="2400" i="1" dirty="0">
                <a:solidFill>
                  <a:srgbClr val="FFC000"/>
                </a:solidFill>
                <a:highlight>
                  <a:srgbClr val="00FF00"/>
                </a:highlight>
                <a:latin typeface="Times New Roman" panose="02020603050405020304" pitchFamily="18" charset="0"/>
                <a:sym typeface="+mn-ea"/>
              </a:rPr>
              <a:t>GIẤY PHÉP VIỄN THÔNG</a:t>
            </a:r>
          </a:p>
        </p:txBody>
      </p:sp>
      <p:sp>
        <p:nvSpPr>
          <p:cNvPr id="7171"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dirty="0">
                <a:latin typeface="Times New Roman" panose="02020603050405020304" pitchFamily="18" charset="0"/>
                <a:cs typeface="Times New Roman" panose="02020603050405020304" pitchFamily="18" charset="0"/>
                <a:sym typeface="+mn-ea"/>
              </a:rPr>
              <a:t>Nguyên tắc cấp giấy phép viễn thông ; </a:t>
            </a:r>
            <a:endParaRPr lang="vi-VN" altLang="en-US" b="0" dirty="0">
              <a:latin typeface="Times New Roman" panose="02020603050405020304" pitchFamily="18" charset="0"/>
              <a:cs typeface="Times New Roman" panose="02020603050405020304" pitchFamily="18" charset="0"/>
            </a:endParaRPr>
          </a:p>
          <a:p>
            <a:pPr algn="just"/>
            <a:r>
              <a:rPr lang="vi-VN" altLang="en-US" dirty="0">
                <a:latin typeface="Times New Roman" panose="02020603050405020304" pitchFamily="18" charset="0"/>
                <a:cs typeface="Times New Roman" panose="02020603050405020304" pitchFamily="18" charset="0"/>
                <a:sym typeface="+mn-ea"/>
              </a:rPr>
              <a:t>Điều kiện cấp giấy phép kinh doanh dịch vụ viễn thông; </a:t>
            </a:r>
            <a:endParaRPr lang="vi-VN" altLang="en-US" b="0" dirty="0">
              <a:latin typeface="Times New Roman" panose="02020603050405020304" pitchFamily="18" charset="0"/>
              <a:cs typeface="Times New Roman" panose="02020603050405020304" pitchFamily="18" charset="0"/>
            </a:endParaRPr>
          </a:p>
          <a:p>
            <a:pPr algn="just"/>
            <a:r>
              <a:rPr lang="vi-VN" altLang="en-US" dirty="0">
                <a:latin typeface="Times New Roman" panose="02020603050405020304" pitchFamily="18" charset="0"/>
                <a:cs typeface="Times New Roman" panose="02020603050405020304" pitchFamily="18" charset="0"/>
                <a:sym typeface="+mn-ea"/>
              </a:rPr>
              <a:t>Điều kiện cấp giấy phép nghiệp vụ viễn thông; </a:t>
            </a:r>
            <a:endParaRPr lang="vi-VN" altLang="en-US" b="0" dirty="0">
              <a:latin typeface="Times New Roman" panose="02020603050405020304" pitchFamily="18" charset="0"/>
              <a:cs typeface="Times New Roman" panose="02020603050405020304" pitchFamily="18" charset="0"/>
            </a:endParaRPr>
          </a:p>
          <a:p>
            <a:pPr algn="just"/>
            <a:r>
              <a:rPr lang="vi-VN" altLang="en-US" dirty="0">
                <a:latin typeface="Times New Roman" panose="02020603050405020304" pitchFamily="18" charset="0"/>
                <a:cs typeface="Times New Roman" panose="02020603050405020304" pitchFamily="18" charset="0"/>
                <a:sym typeface="+mn-ea"/>
              </a:rPr>
              <a:t>Điều kiện gia hạn, sửa đổi, bổ sung, cấp mới giấy phép viễn thông; </a:t>
            </a:r>
            <a:endParaRPr lang="vi-VN" altLang="en-US" b="0" dirty="0">
              <a:latin typeface="Times New Roman" panose="02020603050405020304" pitchFamily="18" charset="0"/>
              <a:cs typeface="Times New Roman" panose="02020603050405020304" pitchFamily="18" charset="0"/>
            </a:endParaRPr>
          </a:p>
          <a:p>
            <a:pPr algn="just"/>
            <a:r>
              <a:rPr lang="vi-VN" altLang="en-US" dirty="0">
                <a:latin typeface="Times New Roman" panose="02020603050405020304" pitchFamily="18" charset="0"/>
                <a:cs typeface="Times New Roman" panose="02020603050405020304" pitchFamily="18" charset="0"/>
                <a:sym typeface="+mn-ea"/>
              </a:rPr>
              <a:t>Thu hồi giấy phép viễn thông; </a:t>
            </a:r>
            <a:endParaRPr lang="vi-VN" altLang="en-US" b="0" dirty="0">
              <a:latin typeface="Times New Roman" panose="02020603050405020304" pitchFamily="18" charset="0"/>
              <a:cs typeface="Times New Roman" panose="02020603050405020304" pitchFamily="18" charset="0"/>
            </a:endParaRPr>
          </a:p>
          <a:p>
            <a:pPr algn="just"/>
            <a:r>
              <a:rPr lang="vi-VN" altLang="en-US" dirty="0">
                <a:latin typeface="Times New Roman" panose="02020603050405020304" pitchFamily="18" charset="0"/>
                <a:cs typeface="Times New Roman" panose="02020603050405020304" pitchFamily="18" charset="0"/>
                <a:sym typeface="+mn-ea"/>
              </a:rPr>
              <a:t>Miễn giấy phép viễn thông; Phí quyền hoạt động viễn thông</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40335" y="381000"/>
            <a:ext cx="8916035" cy="563880"/>
          </a:xfrm>
        </p:spPr>
        <p:txBody>
          <a:bodyPr vert="horz" wrap="square" lIns="91440" tIns="45720" rIns="91440" bIns="45720" anchor="ctr" anchorCtr="0"/>
          <a:lstStyle/>
          <a:p>
            <a:pPr eaLnBrk="1" hangingPunct="1"/>
            <a:r>
              <a:rPr sz="2400" i="1" dirty="0">
                <a:solidFill>
                  <a:srgbClr val="00B0F0"/>
                </a:solidFill>
                <a:highlight>
                  <a:srgbClr val="FFFF00"/>
                </a:highlight>
                <a:latin typeface="Times New Roman" panose="02020603050405020304" pitchFamily="18" charset="0"/>
                <a:sym typeface="+mn-ea"/>
              </a:rPr>
              <a:t>Chương V</a:t>
            </a:r>
            <a:br>
              <a:rPr sz="2400" i="1" dirty="0">
                <a:solidFill>
                  <a:srgbClr val="00B0F0"/>
                </a:solidFill>
                <a:highlight>
                  <a:srgbClr val="FFFF00"/>
                </a:highlight>
                <a:latin typeface="Times New Roman" panose="02020603050405020304" pitchFamily="18" charset="0"/>
                <a:sym typeface="+mn-ea"/>
              </a:rPr>
            </a:br>
            <a:r>
              <a:rPr sz="2400" i="1" dirty="0">
                <a:solidFill>
                  <a:srgbClr val="00B0F0"/>
                </a:solidFill>
                <a:highlight>
                  <a:srgbClr val="FFFF00"/>
                </a:highlight>
                <a:latin typeface="Times New Roman" panose="02020603050405020304" pitchFamily="18" charset="0"/>
                <a:sym typeface="+mn-ea"/>
              </a:rPr>
              <a:t>KẾT NỐI VÀ CHIA SẺ CƠ SỞ HẠ TẦNG VIỄN THÔNG</a:t>
            </a:r>
          </a:p>
        </p:txBody>
      </p:sp>
      <p:sp>
        <p:nvSpPr>
          <p:cNvPr id="7171" name="Rectangle 3"/>
          <p:cNvSpPr>
            <a:spLocks noGrp="1"/>
          </p:cNvSpPr>
          <p:nvPr>
            <p:ph idx="1"/>
          </p:nvPr>
        </p:nvSpPr>
        <p:spPr>
          <a:xfrm>
            <a:off x="250825" y="1392238"/>
            <a:ext cx="8713788" cy="4852987"/>
          </a:xfrm>
        </p:spPr>
        <p:txBody>
          <a:bodyPr vert="horz" wrap="square" lIns="91440" tIns="45720" rIns="91440" bIns="45720" anchor="t" anchorCtr="0"/>
          <a:lstStyle/>
          <a:p>
            <a:pPr lvl="1" algn="just" eaLnBrk="1" hangingPunct="1"/>
            <a:r>
              <a:rPr lang="en-US" altLang="en-US" dirty="0">
                <a:latin typeface="Times New Roman" panose="02020603050405020304" pitchFamily="18" charset="0"/>
                <a:ea typeface="Times New Roman" panose="02020603050405020304" pitchFamily="18" charset="0"/>
              </a:rPr>
              <a:t>Điều 44. Nguyên tắc kết nối viễn thông</a:t>
            </a:r>
          </a:p>
          <a:p>
            <a:pPr lvl="1" algn="just" eaLnBrk="1" hangingPunct="1"/>
            <a:r>
              <a:rPr lang="en-US" altLang="en-US" dirty="0">
                <a:latin typeface="Times New Roman" panose="02020603050405020304" pitchFamily="18" charset="0"/>
                <a:ea typeface="Times New Roman" panose="02020603050405020304" pitchFamily="18" charset="0"/>
              </a:rPr>
              <a:t>1. Doanh nghiệp viễn thông có quyền kết nối mạng viễn thông của mình với mạng, dịch vụ viễn thông của doanh nghiệp viễn thông khác; có nghĩa vụ cho doanh nghiệp viễn thông khác kết nối với mạng, dịch vụ viễn thông của mình.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40335" y="381000"/>
            <a:ext cx="8916035" cy="563880"/>
          </a:xfrm>
        </p:spPr>
        <p:txBody>
          <a:bodyPr vert="horz" wrap="square" lIns="91440" tIns="45720" rIns="91440" bIns="45720" anchor="ctr" anchorCtr="0"/>
          <a:lstStyle/>
          <a:p>
            <a:pPr eaLnBrk="1" hangingPunct="1"/>
            <a:r>
              <a:rPr sz="2400" i="1" dirty="0">
                <a:solidFill>
                  <a:srgbClr val="00B0F0"/>
                </a:solidFill>
                <a:highlight>
                  <a:srgbClr val="FFFF00"/>
                </a:highlight>
                <a:latin typeface="Times New Roman" panose="02020603050405020304" pitchFamily="18" charset="0"/>
                <a:sym typeface="+mn-ea"/>
              </a:rPr>
              <a:t>Chương V</a:t>
            </a:r>
            <a:br>
              <a:rPr sz="2400" i="1" dirty="0">
                <a:solidFill>
                  <a:srgbClr val="00B0F0"/>
                </a:solidFill>
                <a:highlight>
                  <a:srgbClr val="FFFF00"/>
                </a:highlight>
                <a:latin typeface="Times New Roman" panose="02020603050405020304" pitchFamily="18" charset="0"/>
                <a:sym typeface="+mn-ea"/>
              </a:rPr>
            </a:br>
            <a:r>
              <a:rPr sz="2400" i="1" dirty="0">
                <a:solidFill>
                  <a:srgbClr val="00B0F0"/>
                </a:solidFill>
                <a:highlight>
                  <a:srgbClr val="FFFF00"/>
                </a:highlight>
                <a:latin typeface="Times New Roman" panose="02020603050405020304" pitchFamily="18" charset="0"/>
                <a:sym typeface="+mn-ea"/>
              </a:rPr>
              <a:t>KẾT NỐI VÀ CHIA SẺ CƠ SỞ HẠ TẦNG VIỄN THÔNG</a:t>
            </a:r>
          </a:p>
        </p:txBody>
      </p:sp>
      <p:sp>
        <p:nvSpPr>
          <p:cNvPr id="7171" name="Rectangle 3"/>
          <p:cNvSpPr>
            <a:spLocks noGrp="1"/>
          </p:cNvSpPr>
          <p:nvPr>
            <p:ph idx="1"/>
          </p:nvPr>
        </p:nvSpPr>
        <p:spPr>
          <a:xfrm>
            <a:off x="250825" y="1392238"/>
            <a:ext cx="8713788" cy="4852987"/>
          </a:xfrm>
        </p:spPr>
        <p:txBody>
          <a:bodyPr vert="horz" wrap="square" lIns="91440" tIns="45720" rIns="91440" bIns="45720" anchor="t" anchorCtr="0"/>
          <a:lstStyle/>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140335" y="381000"/>
            <a:ext cx="8916035" cy="563880"/>
          </a:xfrm>
        </p:spPr>
        <p:txBody>
          <a:bodyPr vert="horz" wrap="square" lIns="91440" tIns="45720" rIns="91440" bIns="45720" anchor="ctr" anchorCtr="0"/>
          <a:lstStyle/>
          <a:p>
            <a:pPr eaLnBrk="1" hangingPunct="1"/>
            <a:r>
              <a:rPr sz="2400" i="1" dirty="0">
                <a:solidFill>
                  <a:srgbClr val="00B0F0"/>
                </a:solidFill>
                <a:highlight>
                  <a:srgbClr val="FFFF00"/>
                </a:highlight>
                <a:latin typeface="Times New Roman" panose="02020603050405020304" pitchFamily="18" charset="0"/>
                <a:sym typeface="+mn-ea"/>
              </a:rPr>
              <a:t>Chương V</a:t>
            </a:r>
            <a:br>
              <a:rPr sz="2400" i="1" dirty="0">
                <a:solidFill>
                  <a:srgbClr val="00B0F0"/>
                </a:solidFill>
                <a:highlight>
                  <a:srgbClr val="FFFF00"/>
                </a:highlight>
                <a:latin typeface="Times New Roman" panose="02020603050405020304" pitchFamily="18" charset="0"/>
                <a:sym typeface="+mn-ea"/>
              </a:rPr>
            </a:br>
            <a:r>
              <a:rPr sz="2400" i="1" dirty="0">
                <a:solidFill>
                  <a:srgbClr val="00B0F0"/>
                </a:solidFill>
                <a:highlight>
                  <a:srgbClr val="FFFF00"/>
                </a:highlight>
                <a:latin typeface="Times New Roman" panose="02020603050405020304" pitchFamily="18" charset="0"/>
                <a:sym typeface="+mn-ea"/>
              </a:rPr>
              <a:t>KẾT NỐI VÀ CHIA SẺ CƠ SỞ HẠ TẦNG VIỄN THÔNG</a:t>
            </a:r>
          </a:p>
        </p:txBody>
      </p:sp>
      <p:sp>
        <p:nvSpPr>
          <p:cNvPr id="7171" name="Rectangle 3"/>
          <p:cNvSpPr>
            <a:spLocks noGrp="1"/>
          </p:cNvSpPr>
          <p:nvPr>
            <p:ph idx="1"/>
          </p:nvPr>
        </p:nvSpPr>
        <p:spPr>
          <a:xfrm>
            <a:off x="250825" y="1392238"/>
            <a:ext cx="8713788" cy="4852987"/>
          </a:xfrm>
        </p:spPr>
        <p:txBody>
          <a:bodyPr vert="horz" wrap="square" lIns="91440" tIns="45720" rIns="91440" bIns="45720" anchor="t" anchorCtr="0"/>
          <a:lstStyle/>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p:txBody>
          <a:bodyPr vert="horz" wrap="square" lIns="91440" tIns="45720" rIns="91440" bIns="45720" anchor="ctr" anchorCtr="0"/>
          <a:lstStyle/>
          <a:p>
            <a:pPr eaLnBrk="1" hangingPunct="1"/>
            <a:r>
              <a:rPr lang="en-US" altLang="en-US" dirty="0">
                <a:latin typeface="Times New Roman" panose="02020603050405020304" pitchFamily="18" charset="0"/>
                <a:cs typeface="Times New Roman" panose="02020603050405020304" pitchFamily="18" charset="0"/>
              </a:rPr>
              <a:t>Chương 6</a:t>
            </a:r>
            <a:endParaRPr lang="en-US" altLang="en-US" dirty="0">
              <a:latin typeface="Times New Roman" panose="02020603050405020304" pitchFamily="18" charset="0"/>
              <a:ea typeface="Times New Roman" panose="02020603050405020304" pitchFamily="18" charset="0"/>
            </a:endParaRPr>
          </a:p>
        </p:txBody>
      </p:sp>
      <p:sp>
        <p:nvSpPr>
          <p:cNvPr id="9219"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i="1" dirty="0">
                <a:latin typeface="Times New Roman" panose="02020603050405020304" pitchFamily="18" charset="0"/>
                <a:cs typeface="Times New Roman" panose="02020603050405020304" pitchFamily="18" charset="0"/>
              </a:rPr>
              <a:t>Chương VI: Kết nối v</a:t>
            </a:r>
            <a:r>
              <a:rPr lang="vi-VN" altLang="en-US" b="0" i="1" dirty="0">
                <a:latin typeface="Times New Roman" panose="02020603050405020304" pitchFamily="18" charset="0"/>
                <a:ea typeface="Times New Roman" panose="02020603050405020304" pitchFamily="18" charset="0"/>
              </a:rPr>
              <a:t>à</a:t>
            </a:r>
            <a:r>
              <a:rPr lang="vi-VN" altLang="en-US" b="0" i="1" dirty="0">
                <a:latin typeface="Times New Roman" panose="02020603050405020304" pitchFamily="18" charset="0"/>
                <a:cs typeface="Times New Roman" panose="02020603050405020304" pitchFamily="18" charset="0"/>
              </a:rPr>
              <a:t> chia sẻ cơ sở hạ tầng viễn thông.</a:t>
            </a:r>
            <a:endParaRPr lang="vi-VN" altLang="en-US" b="0" dirty="0">
              <a:latin typeface="Times New Roman" panose="02020603050405020304" pitchFamily="18" charset="0"/>
              <a:cs typeface="Times New Roman" panose="02020603050405020304" pitchFamily="18" charset="0"/>
            </a:endParaRPr>
          </a:p>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4 điều ( từ điều 42 đến điều 45), quy định về nguyên tắc kết nối viễn thông; Kết nối mạng viễn thông công cộng; Kết nối mạng viễn thông dùng riêng; Chia sẻ cơ sở hạ tầng viễn thông</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ctr" anchorCtr="0"/>
          <a:lstStyle/>
          <a:p>
            <a:pPr eaLnBrk="1" hangingPunct="1"/>
            <a:r>
              <a:rPr lang="en-US" altLang="en-US" dirty="0">
                <a:latin typeface="Times New Roman" panose="02020603050405020304" pitchFamily="18" charset="0"/>
                <a:cs typeface="Times New Roman" panose="02020603050405020304" pitchFamily="18" charset="0"/>
              </a:rPr>
              <a:t>Chương 7</a:t>
            </a:r>
            <a:endParaRPr lang="en-US" altLang="en-US" dirty="0">
              <a:latin typeface="Times New Roman" panose="02020603050405020304" pitchFamily="18" charset="0"/>
              <a:ea typeface="Times New Roman" panose="02020603050405020304" pitchFamily="18" charset="0"/>
            </a:endParaRPr>
          </a:p>
        </p:txBody>
      </p:sp>
      <p:sp>
        <p:nvSpPr>
          <p:cNvPr id="10243"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i="1" dirty="0">
                <a:latin typeface="Times New Roman" panose="02020603050405020304" pitchFamily="18" charset="0"/>
                <a:cs typeface="Times New Roman" panose="02020603050405020304" pitchFamily="18" charset="0"/>
              </a:rPr>
              <a:t>Chương VII: T</a:t>
            </a:r>
            <a:r>
              <a:rPr lang="vi-VN" altLang="en-US" b="0" i="1" dirty="0">
                <a:latin typeface="Times New Roman" panose="02020603050405020304" pitchFamily="18" charset="0"/>
                <a:ea typeface="Times New Roman" panose="02020603050405020304" pitchFamily="18" charset="0"/>
              </a:rPr>
              <a:t>à</a:t>
            </a:r>
            <a:r>
              <a:rPr lang="vi-VN" altLang="en-US" b="0" i="1" dirty="0">
                <a:latin typeface="Times New Roman" panose="02020603050405020304" pitchFamily="18" charset="0"/>
                <a:cs typeface="Times New Roman" panose="02020603050405020304" pitchFamily="18" charset="0"/>
              </a:rPr>
              <a:t>i nguyên viễn thông.</a:t>
            </a:r>
            <a:endParaRPr lang="vi-VN" altLang="en-US" b="0" dirty="0">
              <a:latin typeface="Times New Roman" panose="02020603050405020304" pitchFamily="18" charset="0"/>
              <a:cs typeface="Times New Roman" panose="02020603050405020304" pitchFamily="18" charset="0"/>
            </a:endParaRPr>
          </a:p>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5 điều ( từ điều 46 đến điều 50), quy định về Quản lý t</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i nguyên viễn thông; Quy hoạch kho số viễn thông, t</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i nguyên Internet; Phân bổ, sử dụng, ho</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n trả kho số viễn thông, t</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i nguyên Internet; Chuyển nhượng kho số viễn thông, t</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i nguyên Internet; Thu hồi kho số viễn thông, t</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i nguyên Internet.</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vert="horz" wrap="square" lIns="91440" tIns="45720" rIns="91440" bIns="45720" anchor="ctr" anchorCtr="0"/>
          <a:lstStyle/>
          <a:p>
            <a:pPr eaLnBrk="1" hangingPunct="1"/>
            <a:r>
              <a:rPr lang="en-US" altLang="en-US" dirty="0">
                <a:latin typeface="Times New Roman" panose="02020603050405020304" pitchFamily="18" charset="0"/>
                <a:cs typeface="Times New Roman" panose="02020603050405020304" pitchFamily="18" charset="0"/>
              </a:rPr>
              <a:t>Chương 8</a:t>
            </a:r>
            <a:endParaRPr lang="en-US" altLang="en-US" dirty="0">
              <a:latin typeface="Times New Roman" panose="02020603050405020304" pitchFamily="18" charset="0"/>
              <a:ea typeface="Times New Roman" panose="02020603050405020304" pitchFamily="18" charset="0"/>
            </a:endParaRPr>
          </a:p>
        </p:txBody>
      </p:sp>
      <p:sp>
        <p:nvSpPr>
          <p:cNvPr id="11267"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i="1" dirty="0">
                <a:latin typeface="Times New Roman" panose="02020603050405020304" pitchFamily="18" charset="0"/>
                <a:cs typeface="Times New Roman" panose="02020603050405020304" pitchFamily="18" charset="0"/>
              </a:rPr>
              <a:t>Chương VIII: Quản lý tiêu chuẩn, quy chuẩn kỹ thuật, chất lượng v</a:t>
            </a:r>
            <a:r>
              <a:rPr lang="vi-VN" altLang="en-US" b="0" i="1" dirty="0">
                <a:latin typeface="Times New Roman" panose="02020603050405020304" pitchFamily="18" charset="0"/>
                <a:ea typeface="Times New Roman" panose="02020603050405020304" pitchFamily="18" charset="0"/>
              </a:rPr>
              <a:t>à</a:t>
            </a:r>
            <a:r>
              <a:rPr lang="vi-VN" altLang="en-US" b="0" i="1" dirty="0">
                <a:latin typeface="Times New Roman" panose="02020603050405020304" pitchFamily="18" charset="0"/>
                <a:cs typeface="Times New Roman" panose="02020603050405020304" pitchFamily="18" charset="0"/>
              </a:rPr>
              <a:t> giá cước viễn thông.</a:t>
            </a:r>
            <a:endParaRPr lang="vi-VN" altLang="en-US" b="0" dirty="0">
              <a:latin typeface="Times New Roman" panose="02020603050405020304" pitchFamily="18" charset="0"/>
              <a:cs typeface="Times New Roman" panose="02020603050405020304" pitchFamily="18" charset="0"/>
            </a:endParaRPr>
          </a:p>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6 điều ( từ điều 51 đến điều 56), quy định về tiêu chuẩn, quy chuẩn kỹ thuật viễn thông; Quản lý tiêu chuẩn, quy chuẩn kỹ thuật viễn thông, chất lượng mạng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 dịch vụ viễn thông; Giá cước viễn thông; Nguyên tắc xác định giá cước viễn thông; Căn cứ xác định giá cước viễn thông; Quản lý giá cước viễn thông</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vert="horz" wrap="square" lIns="91440" tIns="45720" rIns="91440" bIns="45720" anchor="ctr" anchorCtr="0"/>
          <a:lstStyle/>
          <a:p>
            <a:pPr eaLnBrk="1" hangingPunct="1"/>
            <a:r>
              <a:rPr lang="en-US" altLang="en-US" dirty="0">
                <a:latin typeface="Times New Roman" panose="02020603050405020304" pitchFamily="18" charset="0"/>
                <a:cs typeface="Times New Roman" panose="02020603050405020304" pitchFamily="18" charset="0"/>
              </a:rPr>
              <a:t>Chương 9</a:t>
            </a:r>
            <a:endParaRPr lang="en-US" altLang="en-US" dirty="0">
              <a:latin typeface="Times New Roman" panose="02020603050405020304" pitchFamily="18" charset="0"/>
              <a:ea typeface="Times New Roman" panose="02020603050405020304" pitchFamily="18" charset="0"/>
            </a:endParaRPr>
          </a:p>
        </p:txBody>
      </p:sp>
      <p:sp>
        <p:nvSpPr>
          <p:cNvPr id="12291"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i="1" dirty="0">
                <a:latin typeface="Times New Roman" panose="02020603050405020304" pitchFamily="18" charset="0"/>
                <a:cs typeface="Times New Roman" panose="02020603050405020304" pitchFamily="18" charset="0"/>
              </a:rPr>
              <a:t>Chương IX: Công trình viễn thông.</a:t>
            </a:r>
            <a:endParaRPr lang="vi-VN" altLang="en-US" b="0" dirty="0">
              <a:latin typeface="Times New Roman" panose="02020603050405020304" pitchFamily="18" charset="0"/>
              <a:cs typeface="Times New Roman" panose="02020603050405020304" pitchFamily="18" charset="0"/>
            </a:endParaRPr>
          </a:p>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5 điều ( từ điều 57 đến điều 61), quy định về Quy hoạch công trình viễn thông; Đất sử dụng cho công trình viễn thông; Thiết kế, xây dựng công trình viễn thông; Sử dụng chung cơ sở hạ tầng kỹ thuật; Quản lý công trình viễn thông</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vert="horz" wrap="square" lIns="91440" tIns="45720" rIns="91440" bIns="45720" anchor="ctr" anchorCtr="0"/>
          <a:lstStyle/>
          <a:p>
            <a:pPr eaLnBrk="1" hangingPunct="1"/>
            <a:r>
              <a:rPr lang="en-US" altLang="en-US" dirty="0">
                <a:latin typeface="Times New Roman" panose="02020603050405020304" pitchFamily="18" charset="0"/>
                <a:cs typeface="Times New Roman" panose="02020603050405020304" pitchFamily="18" charset="0"/>
              </a:rPr>
              <a:t>Chương 10</a:t>
            </a:r>
            <a:endParaRPr lang="en-US" altLang="en-US" dirty="0">
              <a:latin typeface="Times New Roman" panose="02020603050405020304" pitchFamily="18" charset="0"/>
              <a:ea typeface="Times New Roman" panose="02020603050405020304" pitchFamily="18" charset="0"/>
            </a:endParaRPr>
          </a:p>
        </p:txBody>
      </p:sp>
      <p:sp>
        <p:nvSpPr>
          <p:cNvPr id="13315"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b="0" i="1" dirty="0">
                <a:latin typeface="Times New Roman" panose="02020603050405020304" pitchFamily="18" charset="0"/>
                <a:cs typeface="Times New Roman" panose="02020603050405020304" pitchFamily="18" charset="0"/>
              </a:rPr>
              <a:t>Chương X: Điều khoản thi h</a:t>
            </a:r>
            <a:r>
              <a:rPr lang="vi-VN" altLang="en-US" b="0" i="1" dirty="0">
                <a:latin typeface="Times New Roman" panose="02020603050405020304" pitchFamily="18" charset="0"/>
                <a:ea typeface="Times New Roman" panose="02020603050405020304" pitchFamily="18" charset="0"/>
              </a:rPr>
              <a:t>à</a:t>
            </a:r>
            <a:r>
              <a:rPr lang="vi-VN" altLang="en-US" b="0" i="1" dirty="0">
                <a:latin typeface="Times New Roman" panose="02020603050405020304" pitchFamily="18" charset="0"/>
                <a:cs typeface="Times New Roman" panose="02020603050405020304" pitchFamily="18" charset="0"/>
              </a:rPr>
              <a:t>nh.</a:t>
            </a:r>
            <a:endParaRPr lang="vi-VN" altLang="en-US" b="0" dirty="0">
              <a:latin typeface="Times New Roman" panose="02020603050405020304" pitchFamily="18" charset="0"/>
              <a:cs typeface="Times New Roman" panose="02020603050405020304" pitchFamily="18" charset="0"/>
            </a:endParaRPr>
          </a:p>
          <a:p>
            <a:pPr algn="just"/>
            <a:r>
              <a:rPr lang="vi-VN" altLang="en-US" b="0" dirty="0">
                <a:latin typeface="Times New Roman" panose="02020603050405020304" pitchFamily="18" charset="0"/>
                <a:cs typeface="Times New Roman" panose="02020603050405020304" pitchFamily="18" charset="0"/>
              </a:rPr>
              <a:t>Chương n</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y có 2 điều ( từ điều 62 đến điều 63), quy định về hiệu lực thi 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nh; Quy định chi tiết v</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 hướng dẫn thi h</a:t>
            </a:r>
            <a:r>
              <a:rPr lang="vi-VN" altLang="en-US" b="0" dirty="0">
                <a:latin typeface="Times New Roman" panose="02020603050405020304" pitchFamily="18" charset="0"/>
                <a:ea typeface="Times New Roman" panose="02020603050405020304" pitchFamily="18" charset="0"/>
              </a:rPr>
              <a:t>à</a:t>
            </a:r>
            <a:r>
              <a:rPr lang="vi-VN" altLang="en-US" b="0" dirty="0">
                <a:latin typeface="Times New Roman" panose="02020603050405020304" pitchFamily="18" charset="0"/>
                <a:cs typeface="Times New Roman" panose="02020603050405020304" pitchFamily="18" charset="0"/>
              </a:rPr>
              <a:t>nh.</a:t>
            </a:r>
          </a:p>
          <a:p>
            <a:pPr lvl="1" algn="just" eaLnBrk="1" hangingPunct="1"/>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ample">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ample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sample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cdb2004146l</Template>
  <TotalTime>143</TotalTime>
  <Words>2294</Words>
  <Application>Microsoft Office PowerPoint</Application>
  <PresentationFormat>On-screen Show (4:3)</PresentationFormat>
  <Paragraphs>117</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Times New Roman</vt:lpstr>
      <vt:lpstr>Verdana</vt:lpstr>
      <vt:lpstr>Wingdings</vt:lpstr>
      <vt:lpstr>sample</vt:lpstr>
      <vt:lpstr>CHƯƠNG 3</vt:lpstr>
      <vt:lpstr>Luật Viễn thông số: 24/2023/QH15</vt:lpstr>
      <vt:lpstr>Chương I: Những qui định chung.</vt:lpstr>
      <vt:lpstr>Chương I: Những qui định chung.</vt:lpstr>
      <vt:lpstr>Chương I: Những qui định chung.</vt:lpstr>
      <vt:lpstr>Chương I: Những qui định chung.</vt:lpstr>
      <vt:lpstr>Chương I: Những qui định chung.</vt:lpstr>
      <vt:lpstr>PowerPoint Presentation</vt:lpstr>
      <vt:lpstr>Chương I: Những qui định chung.</vt:lpstr>
      <vt:lpstr>PowerPoint Presentation</vt:lpstr>
      <vt:lpstr>Chương I: Những qui định chung.</vt:lpstr>
      <vt:lpstr>Chương I: Những qui định chung.</vt:lpstr>
      <vt:lpstr>Chương I: Những qui định chung.</vt:lpstr>
      <vt:lpstr>Chương I: Những qui định chung.</vt:lpstr>
      <vt:lpstr>Chương I: Những qui định chung.</vt:lpstr>
      <vt:lpstr>Chương I: Những qui định chung.</vt:lpstr>
      <vt:lpstr>PowerPoint Presentation</vt:lpstr>
      <vt:lpstr>PowerPoint Presentation</vt:lpstr>
      <vt:lpstr>Chương I: Những qui định chung.</vt:lpstr>
      <vt:lpstr>Chương I: Những qui định chung.</vt:lpstr>
      <vt:lpstr>Chương I: Những qui định chung.</vt:lpstr>
      <vt:lpstr>Chương II: Kinh doanh viễn thông.</vt:lpstr>
      <vt:lpstr>Chương III: Viễn thông công ích.</vt:lpstr>
      <vt:lpstr>Chương IV: GIẤY PHÉP VIỄN THÔNG</vt:lpstr>
      <vt:lpstr>Chương IV: GIẤY PHÉP VIỄN THÔNG</vt:lpstr>
      <vt:lpstr>Chương IV: GIẤY PHÉP VIỄN THÔNG</vt:lpstr>
      <vt:lpstr>Chương V KẾT NỐI VÀ CHIA SẺ CƠ SỞ HẠ TẦNG VIỄN THÔNG</vt:lpstr>
      <vt:lpstr>Chương V KẾT NỐI VÀ CHIA SẺ CƠ SỞ HẠ TẦNG VIỄN THÔNG</vt:lpstr>
      <vt:lpstr>Chương V KẾT NỐI VÀ CHIA SẺ CƠ SỞ HẠ TẦNG VIỄN THÔNG</vt:lpstr>
      <vt:lpstr>Chương 6</vt:lpstr>
      <vt:lpstr>Chương 7</vt:lpstr>
      <vt:lpstr>Chương 8</vt:lpstr>
      <vt:lpstr>Chương 9</vt:lpstr>
      <vt:lpstr>Chương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Admin</dc:creator>
  <cp:lastModifiedBy>Bảo Trần</cp:lastModifiedBy>
  <cp:revision>88</cp:revision>
  <dcterms:created xsi:type="dcterms:W3CDTF">2015-11-29T04:26:00Z</dcterms:created>
  <dcterms:modified xsi:type="dcterms:W3CDTF">2026-01-08T12:25:20Z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AFB00645C60E458D9575BD027DB0BD23</vt:lpwstr>
  </property>
  <property fmtid="{D5CDD505-2E9C-101B-9397-08002B2CF9AE}" pid="3" name="KSOProductBuildVer">
    <vt:lpwstr>1033-12.2.0.21546</vt:lpwstr>
  </property>
</Properties>
</file>