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29" r:id="rId3"/>
    <p:sldId id="385" r:id="rId4"/>
    <p:sldId id="259" r:id="rId5"/>
    <p:sldId id="276" r:id="rId6"/>
    <p:sldId id="295" r:id="rId7"/>
    <p:sldId id="391" r:id="rId8"/>
    <p:sldId id="392" r:id="rId9"/>
    <p:sldId id="393" r:id="rId10"/>
    <p:sldId id="394" r:id="rId11"/>
    <p:sldId id="38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50875"/>
            <a:ext cx="10515600" cy="5526405"/>
          </a:xfrm>
        </p:spPr>
        <p:txBody>
          <a:bodyPr>
            <a:normAutofit fontScale="90000"/>
          </a:bodyPr>
          <a:p>
            <a:pPr marL="0" indent="0" algn="ctr">
              <a:buNone/>
            </a:pPr>
            <a:r>
              <a:rPr lang="en-US" sz="6000">
                <a:solidFill>
                  <a:srgbClr val="FF0000"/>
                </a:solidFill>
                <a:highlight>
                  <a:srgbClr val="FFFF00"/>
                </a:highlight>
              </a:rPr>
              <a:t>HƯỚNG DẪN THỰC HIỆN</a:t>
            </a:r>
            <a:endParaRPr lang="en-US" sz="6000">
              <a:solidFill>
                <a:srgbClr val="FF0000"/>
              </a:solidFill>
              <a:highlight>
                <a:srgbClr val="FFFF00"/>
              </a:highlight>
            </a:endParaRPr>
          </a:p>
          <a:p>
            <a:pPr marL="0" indent="0" algn="ctr">
              <a:buNone/>
            </a:pPr>
            <a:r>
              <a:rPr lang="en-US" sz="9600">
                <a:solidFill>
                  <a:srgbClr val="FF0000"/>
                </a:solidFill>
                <a:highlight>
                  <a:srgbClr val="00FFFF"/>
                </a:highlight>
              </a:rPr>
              <a:t>BÀI THUYẾT TRÌNH </a:t>
            </a:r>
            <a:endParaRPr lang="en-US" sz="9600">
              <a:solidFill>
                <a:srgbClr val="FF0000"/>
              </a:solidFill>
              <a:highlight>
                <a:srgbClr val="00FFFF"/>
              </a:highlight>
            </a:endParaRPr>
          </a:p>
          <a:p>
            <a:pPr marL="0" indent="0" algn="ctr">
              <a:buNone/>
            </a:pPr>
            <a:r>
              <a:rPr lang="en-US" sz="6000">
                <a:solidFill>
                  <a:srgbClr val="FF0000"/>
                </a:solidFill>
                <a:highlight>
                  <a:srgbClr val="FFFF00"/>
                </a:highlight>
              </a:rPr>
              <a:t>THEO TỔ HỌC TẬP</a:t>
            </a:r>
            <a:endParaRPr lang="en-US" sz="6000">
              <a:solidFill>
                <a:srgbClr val="FF0000"/>
              </a:solidFill>
              <a:highlight>
                <a:srgbClr val="FFFF00"/>
              </a:highlight>
            </a:endParaRPr>
          </a:p>
          <a:p>
            <a:pPr marL="0" indent="0" algn="ctr">
              <a:buNone/>
            </a:pPr>
            <a:r>
              <a:rPr lang="en-US" sz="6000">
                <a:solidFill>
                  <a:srgbClr val="FF0000"/>
                </a:solidFill>
                <a:highlight>
                  <a:srgbClr val="FFFF00"/>
                </a:highlight>
              </a:rPr>
              <a:t>ĐÁNH GIÁ CUỐI KỲ</a:t>
            </a:r>
            <a:endParaRPr lang="en-US" sz="6000">
              <a:solidFill>
                <a:srgbClr val="FF0000"/>
              </a:solidFill>
              <a:highlight>
                <a:srgbClr val="FFFF00"/>
              </a:highlight>
            </a:endParaRPr>
          </a:p>
          <a:p>
            <a:pPr marL="0" indent="0" algn="ctr">
              <a:buNone/>
            </a:pPr>
            <a:r>
              <a:rPr lang="en-US" sz="4900">
                <a:solidFill>
                  <a:srgbClr val="FF0000"/>
                </a:solidFill>
                <a:highlight>
                  <a:srgbClr val="FFFF00"/>
                </a:highlight>
              </a:rPr>
              <a:t>Tổ là nơi trao đổi, thảo luận, hợp tác. </a:t>
            </a:r>
            <a:endParaRPr lang="en-US" sz="4900">
              <a:solidFill>
                <a:srgbClr val="FF0000"/>
              </a:solidFill>
              <a:highlight>
                <a:srgbClr val="FFFF00"/>
              </a:highlight>
            </a:endParaRPr>
          </a:p>
          <a:p>
            <a:pPr marL="0" indent="0" algn="ctr">
              <a:buNone/>
            </a:pPr>
            <a:r>
              <a:rPr lang="en-US" sz="4400">
                <a:solidFill>
                  <a:srgbClr val="FF0000"/>
                </a:solidFill>
                <a:highlight>
                  <a:srgbClr val="FFFF00"/>
                </a:highlight>
              </a:rPr>
              <a:t>Các cá nhân phải thực hiện công việc của mình</a:t>
            </a:r>
            <a:endParaRPr lang="en-US" sz="5300">
              <a:solidFill>
                <a:srgbClr val="FF0000"/>
              </a:solidFill>
              <a:highlight>
                <a:srgbClr val="FFFF00"/>
              </a:highlight>
            </a:endParaRPr>
          </a:p>
          <a:p>
            <a:pPr marL="0" indent="0" algn="ctr">
              <a:buNone/>
            </a:pPr>
            <a:endParaRPr lang="en-US" sz="5300">
              <a:solidFill>
                <a:srgbClr val="FF0000"/>
              </a:solidFill>
              <a:highlight>
                <a:srgbClr val="FFFF0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Autofit/>
          </a:bodyPr>
          <a:p>
            <a:pPr marL="0" indent="0" algn="l">
              <a:buNone/>
            </a:pPr>
            <a:r>
              <a:rPr lang="en-US" sz="3900">
                <a:solidFill>
                  <a:srgbClr val="FF0000"/>
                </a:solidFill>
                <a:highlight>
                  <a:srgbClr val="00FF00"/>
                </a:highlight>
                <a:sym typeface="+mn-ea"/>
              </a:rPr>
              <a:t>Đây là điểm ĐÁNH GIÁ CUỐI KỲ</a:t>
            </a:r>
            <a:endParaRPr lang="en-US" sz="3900">
              <a:solidFill>
                <a:srgbClr val="FF0000"/>
              </a:solidFill>
              <a:highlight>
                <a:srgbClr val="00FF00"/>
              </a:highlight>
              <a:sym typeface="+mn-ea"/>
            </a:endParaRPr>
          </a:p>
          <a:p>
            <a:pPr marL="0" indent="0" algn="l">
              <a:buNone/>
            </a:pPr>
            <a:r>
              <a:rPr lang="en-US" sz="3900">
                <a:solidFill>
                  <a:srgbClr val="FF0000"/>
                </a:solidFill>
                <a:highlight>
                  <a:srgbClr val="00FF00"/>
                </a:highlight>
                <a:sym typeface="+mn-ea"/>
              </a:rPr>
              <a:t>Điểm tính theo Tổ học tập,  có tính đến yếu tố cá nhân thực hiện thuyết trình</a:t>
            </a:r>
            <a:endParaRPr lang="en-US" sz="3900">
              <a:solidFill>
                <a:srgbClr val="FF0000"/>
              </a:solidFill>
              <a:highlight>
                <a:srgbClr val="FFFF00"/>
              </a:highlight>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Yêu cầu</a:t>
            </a:r>
            <a:endParaRPr lang="en-US" b="1"/>
          </a:p>
        </p:txBody>
      </p:sp>
      <p:sp>
        <p:nvSpPr>
          <p:cNvPr id="3" name="Content Placeholder 2"/>
          <p:cNvSpPr>
            <a:spLocks noGrp="1"/>
          </p:cNvSpPr>
          <p:nvPr>
            <p:ph idx="1"/>
          </p:nvPr>
        </p:nvSpPr>
        <p:spPr/>
        <p:txBody>
          <a:bodyPr>
            <a:noAutofit/>
          </a:bodyPr>
          <a:p>
            <a:r>
              <a:rPr lang="en-US" sz="4000">
                <a:highlight>
                  <a:srgbClr val="FFFF00"/>
                </a:highlight>
                <a:sym typeface="+mn-ea"/>
              </a:rPr>
              <a:t>Thời gian khoảng 5 phút một cá nhân.</a:t>
            </a:r>
            <a:endParaRPr lang="en-US" sz="4000">
              <a:highlight>
                <a:srgbClr val="FFFF00"/>
              </a:highlight>
              <a:sym typeface="+mn-ea"/>
            </a:endParaRPr>
          </a:p>
          <a:p>
            <a:endParaRPr lang="en-US" sz="4000"/>
          </a:p>
          <a:p>
            <a:endParaRPr lang="en-US" sz="4000"/>
          </a:p>
          <a:p>
            <a:endParaRPr lang="en-US" sz="4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olidFill>
                  <a:srgbClr val="FF0000"/>
                </a:solidFill>
                <a:highlight>
                  <a:srgbClr val="FFFF00"/>
                </a:highlight>
                <a:sym typeface="+mn-ea"/>
              </a:rPr>
              <a:t>Điểm thuyết trình tính cho cả tổ học tập, </a:t>
            </a:r>
            <a:r>
              <a:rPr lang="en-US">
                <a:solidFill>
                  <a:srgbClr val="FF0000"/>
                </a:solidFill>
                <a:highlight>
                  <a:srgbClr val="FFFF00"/>
                </a:highlight>
                <a:sym typeface="+mn-ea"/>
              </a:rPr>
              <a:t>có tính đến yếu tố cá nhân thực hiện thuyết trình</a:t>
            </a:r>
            <a:br>
              <a:rPr lang="en-US">
                <a:solidFill>
                  <a:srgbClr val="FF0000"/>
                </a:solidFill>
                <a:highlight>
                  <a:srgbClr val="FFFF00"/>
                </a:highlight>
                <a:sym typeface="+mn-ea"/>
              </a:rPr>
            </a:br>
            <a:endParaRPr lang="en-US">
              <a:solidFill>
                <a:srgbClr val="FF0000"/>
              </a:solidFill>
              <a:highlight>
                <a:srgbClr val="FFFF00"/>
              </a:highlight>
              <a:sym typeface="+mn-ea"/>
            </a:endParaRPr>
          </a:p>
        </p:txBody>
      </p:sp>
      <p:sp>
        <p:nvSpPr>
          <p:cNvPr id="3" name="Content Placeholder 2"/>
          <p:cNvSpPr>
            <a:spLocks noGrp="1"/>
          </p:cNvSpPr>
          <p:nvPr>
            <p:ph idx="1"/>
          </p:nvPr>
        </p:nvSpPr>
        <p:spPr/>
        <p:txBody>
          <a:bodyPr>
            <a:noAutofit/>
          </a:bodyPr>
          <a:p>
            <a:pPr marL="0" indent="0">
              <a:buNone/>
            </a:pPr>
            <a:r>
              <a:rPr lang="en-US" sz="4400">
                <a:highlight>
                  <a:srgbClr val="FFFF00"/>
                </a:highlight>
              </a:rPr>
              <a:t>SV không tham gia sẽ không có điểm, phải học lại</a:t>
            </a:r>
            <a:endParaRPr lang="en-US" sz="4400"/>
          </a:p>
          <a:p>
            <a:endParaRPr lang="en-US" sz="4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solidFill>
                  <a:srgbClr val="FF0000"/>
                </a:solidFill>
                <a:highlight>
                  <a:srgbClr val="FFFF00"/>
                </a:highlight>
              </a:rPr>
              <a:t>NỘI DUNG</a:t>
            </a:r>
            <a:endParaRPr lang="en-US" b="1">
              <a:solidFill>
                <a:srgbClr val="FF0000"/>
              </a:solidFill>
              <a:highlight>
                <a:srgbClr val="FFFF00"/>
              </a:highlight>
            </a:endParaRPr>
          </a:p>
        </p:txBody>
      </p:sp>
      <p:sp>
        <p:nvSpPr>
          <p:cNvPr id="3" name="Content Placeholder 2"/>
          <p:cNvSpPr>
            <a:spLocks noGrp="1"/>
          </p:cNvSpPr>
          <p:nvPr>
            <p:ph idx="1"/>
          </p:nvPr>
        </p:nvSpPr>
        <p:spPr>
          <a:xfrm>
            <a:off x="838200" y="1825625"/>
            <a:ext cx="10515600" cy="5248275"/>
          </a:xfrm>
        </p:spPr>
        <p:txBody>
          <a:bodyPr>
            <a:normAutofit/>
          </a:bodyPr>
          <a:p>
            <a:pPr marL="0" indent="0">
              <a:buNone/>
            </a:pPr>
            <a:r>
              <a:rPr lang="en-US" altLang="en-US" sz="3600">
                <a:solidFill>
                  <a:srgbClr val="FF0000"/>
                </a:solidFill>
                <a:highlight>
                  <a:srgbClr val="00FF00"/>
                </a:highlight>
              </a:rPr>
              <a:t>Phần 1:- Trình bày nội dung bài học</a:t>
            </a:r>
            <a:endParaRPr lang="en-US" altLang="en-US" sz="3600">
              <a:solidFill>
                <a:srgbClr val="FF0000"/>
              </a:solidFill>
              <a:highlight>
                <a:srgbClr val="00FF00"/>
              </a:highlight>
            </a:endParaRPr>
          </a:p>
          <a:p>
            <a:pPr marL="0" indent="0">
              <a:buNone/>
            </a:pPr>
            <a:r>
              <a:rPr lang="en-US" altLang="en-US" sz="3600">
                <a:solidFill>
                  <a:srgbClr val="FF0000"/>
                </a:solidFill>
                <a:highlight>
                  <a:srgbClr val="00FF00"/>
                </a:highlight>
              </a:rPr>
              <a:t>Phần 2: - Đối chiếu với thực tế</a:t>
            </a:r>
            <a:endParaRPr lang="en-US" altLang="en-US" sz="3600">
              <a:solidFill>
                <a:srgbClr val="FF0000"/>
              </a:solidFill>
              <a:highlight>
                <a:srgbClr val="00FF00"/>
              </a:highlight>
            </a:endParaRPr>
          </a:p>
          <a:p>
            <a:pPr marL="0" indent="0">
              <a:buNone/>
            </a:pPr>
            <a:r>
              <a:rPr lang="en-US" altLang="en-US" sz="3600">
                <a:solidFill>
                  <a:srgbClr val="FF0000"/>
                </a:solidFill>
                <a:highlight>
                  <a:srgbClr val="00FF00"/>
                </a:highlight>
              </a:rPr>
              <a:t>Phần 1 và phần 2 có thể lồng ghép vào chung 1 mục</a:t>
            </a:r>
            <a:endParaRPr lang="en-US" altLang="en-US" sz="3600">
              <a:solidFill>
                <a:srgbClr val="FF0000"/>
              </a:solidFill>
              <a:highlight>
                <a:srgbClr val="00FF00"/>
              </a:highlight>
            </a:endParaRPr>
          </a:p>
          <a:p>
            <a:pPr marL="0" indent="0">
              <a:buNone/>
            </a:pPr>
            <a:endParaRPr lang="en-US" altLang="en-US" sz="3600">
              <a:solidFill>
                <a:srgbClr val="FF0000"/>
              </a:solidFill>
              <a:highlight>
                <a:srgbClr val="00FF00"/>
              </a:highlight>
            </a:endParaRPr>
          </a:p>
          <a:p>
            <a:pPr marL="0" indent="0">
              <a:buNone/>
            </a:pPr>
            <a:endParaRPr lang="en-US" altLang="en-US" sz="3600">
              <a:solidFill>
                <a:srgbClr val="FF0000"/>
              </a:solidFill>
              <a:highlight>
                <a:srgbClr val="00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Autofit/>
          </a:bodyPr>
          <a:p>
            <a:pPr marL="0" indent="0">
              <a:buNone/>
            </a:pPr>
            <a:r>
              <a:rPr lang="en-US" altLang="en-US" sz="3200">
                <a:solidFill>
                  <a:srgbClr val="FF0000"/>
                </a:solidFill>
                <a:highlight>
                  <a:srgbClr val="FFFF00"/>
                </a:highlight>
                <a:sym typeface="+mn-ea"/>
              </a:rPr>
              <a:t>Chung cả tổ: </a:t>
            </a:r>
            <a:r>
              <a:rPr lang="en-US" altLang="en-US" sz="3200">
                <a:solidFill>
                  <a:srgbClr val="FF0000"/>
                </a:solidFill>
                <a:highlight>
                  <a:srgbClr val="00FF00"/>
                </a:highlight>
                <a:sym typeface="+mn-ea"/>
              </a:rPr>
              <a:t>Phần 3: Tổ chuẩn bị câu hỏi dưới dạng mini game dành cho các bạn trong lớp, cũng cố kiến thức bài học. Những bạn trả lời tốt sẽ có điểm khuyến khích 0.2 (tối đa 1 điểm)</a:t>
            </a:r>
            <a:endParaRPr lang="en-US" altLang="en-US" sz="3200">
              <a:solidFill>
                <a:srgbClr val="FF0000"/>
              </a:solidFill>
              <a:highlight>
                <a:srgbClr val="00FF00"/>
              </a:highlight>
            </a:endParaRPr>
          </a:p>
          <a:p>
            <a:pPr marL="0" indent="0">
              <a:buNone/>
            </a:pPr>
            <a:r>
              <a:rPr lang="en-US" altLang="en-US" sz="3200">
                <a:solidFill>
                  <a:srgbClr val="FF0000"/>
                </a:solidFill>
                <a:highlight>
                  <a:srgbClr val="00FF00"/>
                </a:highlight>
                <a:sym typeface="+mn-ea"/>
              </a:rPr>
              <a:t>Gợi ý: https://goldquest.blooket.com/play/register  </a:t>
            </a:r>
            <a:endParaRPr lang="en-US" altLang="en-US" sz="3200">
              <a:solidFill>
                <a:srgbClr val="FF0000"/>
              </a:solidFill>
              <a:highlight>
                <a:srgbClr val="00FF00"/>
              </a:highlight>
              <a:sym typeface="+mn-ea"/>
            </a:endParaRPr>
          </a:p>
          <a:p>
            <a:pPr marL="0" indent="0">
              <a:buNone/>
            </a:pPr>
            <a:r>
              <a:rPr lang="en-US" altLang="en-US" sz="3200">
                <a:solidFill>
                  <a:srgbClr val="FF0000"/>
                </a:solidFill>
                <a:highlight>
                  <a:srgbClr val="00FF00"/>
                </a:highlight>
                <a:sym typeface="+mn-ea"/>
              </a:rPr>
              <a:t>Tổ có thể chọn các game khác. Lưu ý khi tạo game, các em chọn những game không có tính may rủi, Ví dụ như: Ăn cắp, lấy điểm người khác....</a:t>
            </a:r>
            <a:endParaRPr lang="en-US" altLang="en-US" sz="3200">
              <a:solidFill>
                <a:srgbClr val="FF0000"/>
              </a:solidFill>
              <a:highlight>
                <a:srgbClr val="00FF00"/>
              </a:highlight>
            </a:endParaRPr>
          </a:p>
          <a:p>
            <a:pPr marL="0" indent="0">
              <a:buNone/>
            </a:pPr>
            <a:r>
              <a:rPr lang="en-US" altLang="en-US" sz="3200">
                <a:solidFill>
                  <a:srgbClr val="FF0000"/>
                </a:solidFill>
                <a:highlight>
                  <a:srgbClr val="FFFF00"/>
                </a:highlight>
                <a:sym typeface="+mn-ea"/>
              </a:rPr>
              <a:t>Chung cả tổ: </a:t>
            </a:r>
            <a:r>
              <a:rPr lang="en-US" altLang="en-US" sz="3200">
                <a:solidFill>
                  <a:srgbClr val="FF0000"/>
                </a:solidFill>
                <a:highlight>
                  <a:srgbClr val="00FF00"/>
                </a:highlight>
                <a:sym typeface="+mn-ea"/>
              </a:rPr>
              <a:t>Phần 4:  Trả lời một số câu hỏi có liên quan đến bài thuyết trình của GV - các bạn trong lớp</a:t>
            </a:r>
            <a:endParaRPr lang="en-US" altLang="en-US" sz="3200">
              <a:solidFill>
                <a:srgbClr val="FF0000"/>
              </a:solidFill>
              <a:highlight>
                <a:srgbClr val="00FF00"/>
              </a:highlight>
            </a:endParaRPr>
          </a:p>
          <a:p>
            <a:endParaRPr lang="en-US" altLang="en-US" sz="3200">
              <a:solidFill>
                <a:srgbClr val="FF0000"/>
              </a:solidFill>
              <a:highlight>
                <a:srgbClr val="00FF00"/>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3369310" y="365125"/>
            <a:ext cx="4358005" cy="58121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rgbClr val="FF0000"/>
                </a:solidFill>
                <a:highlight>
                  <a:srgbClr val="FFFF00"/>
                </a:highlight>
              </a:rPr>
              <a:t>Lưu ý: </a:t>
            </a:r>
            <a:endParaRPr lang="en-US">
              <a:solidFill>
                <a:srgbClr val="FF0000"/>
              </a:solidFill>
              <a:highlight>
                <a:srgbClr val="FFFF00"/>
              </a:highlight>
            </a:endParaRPr>
          </a:p>
        </p:txBody>
      </p:sp>
      <p:sp>
        <p:nvSpPr>
          <p:cNvPr id="3" name="Content Placeholder 2"/>
          <p:cNvSpPr>
            <a:spLocks noGrp="1"/>
          </p:cNvSpPr>
          <p:nvPr>
            <p:ph idx="1"/>
          </p:nvPr>
        </p:nvSpPr>
        <p:spPr/>
        <p:txBody>
          <a:bodyPr>
            <a:noAutofit/>
          </a:bodyPr>
          <a:p>
            <a:pPr marL="514350" indent="-514350">
              <a:buAutoNum type="arabicPeriod"/>
            </a:pPr>
            <a:r>
              <a:rPr lang="en-US" sz="3200"/>
              <a:t>Cả tổ sử dụng 1 file duy nhất để thuyết trình và nộp lại làm minh chứng</a:t>
            </a:r>
            <a:endParaRPr lang="en-US" sz="3200"/>
          </a:p>
          <a:p>
            <a:pPr marL="514350" indent="-514350">
              <a:buAutoNum type="arabicPeriod"/>
            </a:pPr>
            <a:r>
              <a:rPr lang="en-US" sz="3200"/>
              <a:t>Từng thành viên trong tổ đảm nhận phần việc nội dung thuyết trình của mình (kèm theo tình huống thực tế minh họa) - </a:t>
            </a:r>
            <a:r>
              <a:rPr lang="en-US" sz="3200">
                <a:highlight>
                  <a:srgbClr val="FFFF00"/>
                </a:highlight>
              </a:rPr>
              <a:t>GHI HỌ VÀ TÊN SV VÀO SLIDE THUYẾT TRÌNH</a:t>
            </a:r>
            <a:endParaRPr lang="en-US" sz="3200"/>
          </a:p>
          <a:p>
            <a:pPr marL="514350" indent="-514350">
              <a:buAutoNum type="arabicPeriod"/>
            </a:pPr>
            <a:r>
              <a:rPr lang="en-US" sz="3200"/>
              <a:t>Trong phần SV thuyết trình, cần ghi tên SV để vào điểm cho chính xác.</a:t>
            </a:r>
            <a:endParaRPr lang="en-US" sz="3200"/>
          </a:p>
          <a:p>
            <a:pPr marL="514350" indent="-514350">
              <a:buAutoNum type="arabicPeriod"/>
            </a:pPr>
            <a:r>
              <a:rPr lang="en-US" sz="3200"/>
              <a:t>SV có thể chủ động </a:t>
            </a:r>
            <a:r>
              <a:rPr lang="en-US" sz="3200">
                <a:highlight>
                  <a:srgbClr val="FFFF00"/>
                </a:highlight>
              </a:rPr>
              <a:t>tập thử </a:t>
            </a:r>
            <a:r>
              <a:rPr lang="en-US" sz="3200"/>
              <a:t>thuyết trình tại nhà, đảm bảo chất lượng bài thuyết trình, trình bày mạch lạc và đúng thời gian.</a:t>
            </a:r>
            <a:endParaRPr lang="en-US" sz="3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highlight>
                  <a:srgbClr val="00FF00"/>
                </a:highlight>
              </a:rPr>
              <a:t>Lưu trữ bài thuyết trình</a:t>
            </a:r>
            <a:br>
              <a:rPr lang="en-US">
                <a:highlight>
                  <a:srgbClr val="00FF00"/>
                </a:highlight>
              </a:rPr>
            </a:br>
            <a:endParaRPr lang="en-US">
              <a:highlight>
                <a:srgbClr val="00FF00"/>
              </a:highlight>
            </a:endParaRPr>
          </a:p>
        </p:txBody>
      </p:sp>
      <p:sp>
        <p:nvSpPr>
          <p:cNvPr id="3" name="Content Placeholder 2"/>
          <p:cNvSpPr>
            <a:spLocks noGrp="1"/>
          </p:cNvSpPr>
          <p:nvPr>
            <p:ph idx="1"/>
          </p:nvPr>
        </p:nvSpPr>
        <p:spPr>
          <a:xfrm>
            <a:off x="838200" y="1127760"/>
            <a:ext cx="10515600" cy="5049520"/>
          </a:xfrm>
        </p:spPr>
        <p:txBody>
          <a:bodyPr>
            <a:noAutofit/>
          </a:bodyPr>
          <a:p>
            <a:r>
              <a:rPr lang="en-US" altLang="en-US">
                <a:solidFill>
                  <a:srgbClr val="FF0000"/>
                </a:solidFill>
                <a:highlight>
                  <a:srgbClr val="FFFF00"/>
                </a:highlight>
              </a:rPr>
              <a:t>https://courses.ut.edu.vn</a:t>
            </a:r>
            <a:endParaRPr lang="en-US" altLang="en-US">
              <a:solidFill>
                <a:srgbClr val="FF0000"/>
              </a:solidFill>
              <a:highlight>
                <a:srgbClr val="FFFF00"/>
              </a:highlight>
            </a:endParaRPr>
          </a:p>
          <a:p>
            <a:r>
              <a:rPr lang="en-US" altLang="en-US">
                <a:solidFill>
                  <a:srgbClr val="FF0000"/>
                </a:solidFill>
                <a:highlight>
                  <a:srgbClr val="FFFF00"/>
                </a:highlight>
              </a:rPr>
              <a:t>Hình ảnh sinh viên thuyết trình thực tế tại lớp, có có xác đinh thời gian.</a:t>
            </a:r>
            <a:endParaRPr lang="en-US" altLang="en-US">
              <a:solidFill>
                <a:srgbClr val="FF0000"/>
              </a:solidFill>
              <a:highlight>
                <a:srgbClr val="FFFF00"/>
              </a:highlight>
            </a:endParaRPr>
          </a:p>
          <a:p>
            <a:r>
              <a:rPr lang="en-US" altLang="en-US">
                <a:solidFill>
                  <a:srgbClr val="FF0000"/>
                </a:solidFill>
                <a:highlight>
                  <a:srgbClr val="FFFF00"/>
                </a:highlight>
              </a:rPr>
              <a:t>Nội dung bạn đã thuyết trình ...........................</a:t>
            </a:r>
            <a:endParaRPr lang="en-US" altLang="en-US">
              <a:solidFill>
                <a:srgbClr val="FF0000"/>
              </a:solidFill>
              <a:highlight>
                <a:srgbClr val="FFFF00"/>
              </a:highlight>
            </a:endParaRPr>
          </a:p>
          <a:p>
            <a:r>
              <a:rPr lang="en-US" altLang="en-US">
                <a:solidFill>
                  <a:srgbClr val="FF0000"/>
                </a:solidFill>
                <a:highlight>
                  <a:srgbClr val="FFFF00"/>
                </a:highlight>
              </a:rPr>
              <a:t>Những nội dung bạn đối chiếu với thực tế.</a:t>
            </a:r>
            <a:endParaRPr lang="en-US" altLang="en-US">
              <a:solidFill>
                <a:srgbClr val="FF0000"/>
              </a:solidFill>
              <a:highlight>
                <a:srgbClr val="FFFF00"/>
              </a:highlight>
            </a:endParaRPr>
          </a:p>
          <a:p>
            <a:r>
              <a:rPr lang="en-US" altLang="en-US">
                <a:solidFill>
                  <a:srgbClr val="FF0000"/>
                </a:solidFill>
                <a:highlight>
                  <a:srgbClr val="FFFF00"/>
                </a:highlight>
              </a:rPr>
              <a:t>Thời gian trình bày Ca .............., ngày................. tại Phòng ......- Cơ sở .......</a:t>
            </a:r>
            <a:endParaRPr lang="en-US" altLang="en-US">
              <a:solidFill>
                <a:srgbClr val="FF0000"/>
              </a:solidFill>
              <a:highlight>
                <a:srgbClr val="FFFF00"/>
              </a:highlight>
            </a:endParaRPr>
          </a:p>
          <a:p>
            <a:r>
              <a:rPr lang="en-US" altLang="en-US">
                <a:solidFill>
                  <a:srgbClr val="FF0000"/>
                </a:solidFill>
                <a:highlight>
                  <a:srgbClr val="FFFF00"/>
                </a:highlight>
              </a:rPr>
              <a:t>Tải lên 2 hình ảnh bạn thuyết trình thực tế (1 Hình chung của cả tổ và 1 hình cá nhân đang thuyết trình)</a:t>
            </a:r>
            <a:endParaRPr lang="en-US" altLang="en-US">
              <a:solidFill>
                <a:srgbClr val="FF0000"/>
              </a:solidFill>
              <a:highlight>
                <a:srgbClr val="FFFF00"/>
              </a:highlight>
            </a:endParaRPr>
          </a:p>
          <a:p>
            <a:r>
              <a:rPr lang="en-US" altLang="en-US">
                <a:solidFill>
                  <a:srgbClr val="FF0000"/>
                </a:solidFill>
                <a:highlight>
                  <a:srgbClr val="FFFF00"/>
                </a:highlight>
              </a:rPr>
              <a:t>Gửi kèm file bài thuyết trình (Tập tin dính kèm)</a:t>
            </a:r>
            <a:endParaRPr lang="en-US" altLang="en-US">
              <a:solidFill>
                <a:srgbClr val="FF0000"/>
              </a:solidFill>
              <a:highlight>
                <a:srgbClr val="FFFF00"/>
              </a:highlight>
            </a:endParaRPr>
          </a:p>
          <a:p>
            <a:r>
              <a:rPr lang="en-US" altLang="en-US">
                <a:solidFill>
                  <a:srgbClr val="FF0000"/>
                </a:solidFill>
                <a:highlight>
                  <a:srgbClr val="FFFF00"/>
                </a:highlight>
              </a:rPr>
              <a:t>Sau khi hoàn thành các mục trên, sinh viên ký</a:t>
            </a:r>
            <a:r>
              <a:rPr lang="en-US" altLang="en-US">
                <a:solidFill>
                  <a:srgbClr val="FF0000"/>
                </a:solidFill>
                <a:highlight>
                  <a:srgbClr val="FFFF00"/>
                </a:highlight>
              </a:rPr>
              <a:t> xác nhận vào danh sách dự thi kết thúc môn.</a:t>
            </a:r>
            <a:endParaRPr lang="en-US" altLang="en-US">
              <a:solidFill>
                <a:srgbClr val="FF0000"/>
              </a:solidFill>
              <a:highlight>
                <a:srgbClr val="FF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Title 104449"/>
          <p:cNvSpPr>
            <a:spLocks noGrp="1"/>
          </p:cNvSpPr>
          <p:nvPr>
            <p:ph type="title"/>
          </p:nvPr>
        </p:nvSpPr>
        <p:spPr/>
        <p:txBody>
          <a:bodyPr anchor="ctr"/>
          <a:p>
            <a:r>
              <a:rPr lang="en-US" altLang="en-US" sz="3400" u="sng" err="1">
                <a:highlight>
                  <a:srgbClr val="00FFFF"/>
                </a:highlight>
              </a:rPr>
              <a:t>Đánh giá kết quả học tập</a:t>
            </a:r>
            <a:r>
              <a:rPr lang="en-US" altLang="en-US" sz="3400" u="sng">
                <a:highlight>
                  <a:srgbClr val="00FFFF"/>
                </a:highlight>
              </a:rPr>
              <a:t>:</a:t>
            </a:r>
            <a:br>
              <a:rPr lang="en-US" altLang="en-US" sz="3400">
                <a:highlight>
                  <a:srgbClr val="00FFFF"/>
                </a:highlight>
              </a:rPr>
            </a:br>
            <a:endParaRPr lang="en-US" altLang="en-US" sz="3400">
              <a:highlight>
                <a:srgbClr val="00FFFF"/>
              </a:highlight>
            </a:endParaRPr>
          </a:p>
        </p:txBody>
      </p:sp>
      <p:sp>
        <p:nvSpPr>
          <p:cNvPr id="18434" name="Text Placeholder 104450"/>
          <p:cNvSpPr>
            <a:spLocks noGrp="1"/>
          </p:cNvSpPr>
          <p:nvPr>
            <p:ph idx="1"/>
          </p:nvPr>
        </p:nvSpPr>
        <p:spPr>
          <a:xfrm>
            <a:off x="1981200" y="1127760"/>
            <a:ext cx="8578850" cy="5003165"/>
          </a:xfrm>
        </p:spPr>
        <p:txBody>
          <a:bodyPr anchor="t"/>
          <a:p>
            <a:pPr marL="0" indent="0">
              <a:buNone/>
            </a:pPr>
            <a:r>
              <a:rPr lang="en-US" altLang="en-US" b="1" err="1">
                <a:solidFill>
                  <a:srgbClr val="FF0000"/>
                </a:solidFill>
                <a:highlight>
                  <a:srgbClr val="FFFF00"/>
                </a:highlight>
              </a:rPr>
              <a:t>Điểm quá trình:</a:t>
            </a:r>
            <a:r>
              <a:rPr lang="en-US" altLang="en-US" b="1" err="1">
                <a:solidFill>
                  <a:schemeClr val="tx1"/>
                </a:solidFill>
                <a:highlight>
                  <a:srgbClr val="FFFF00"/>
                </a:highlight>
              </a:rPr>
              <a:t> (Tên gọi khác: Điểm giữa kỳ) </a:t>
            </a:r>
            <a:r>
              <a:rPr lang="en-US" altLang="vi-VN" b="1" err="1">
                <a:solidFill>
                  <a:srgbClr val="FF0000"/>
                </a:solidFill>
                <a:highlight>
                  <a:srgbClr val="FFFF00"/>
                </a:highlight>
              </a:rPr>
              <a:t>5</a:t>
            </a:r>
            <a:r>
              <a:rPr lang="en-US" altLang="en-US" b="1">
                <a:solidFill>
                  <a:srgbClr val="FF0000"/>
                </a:solidFill>
                <a:highlight>
                  <a:srgbClr val="FFFF00"/>
                </a:highlight>
              </a:rPr>
              <a:t>0%</a:t>
            </a:r>
            <a:endParaRPr lang="en-US" altLang="en-US" b="1">
              <a:solidFill>
                <a:srgbClr val="FF0000"/>
              </a:solidFill>
              <a:highlight>
                <a:srgbClr val="FFFF00"/>
              </a:highlight>
            </a:endParaRPr>
          </a:p>
          <a:p>
            <a:pPr marL="0" indent="0">
              <a:buNone/>
            </a:pPr>
            <a:r>
              <a:rPr lang="en-US" b="1" err="1">
                <a:solidFill>
                  <a:srgbClr val="FF0000"/>
                </a:solidFill>
                <a:highlight>
                  <a:srgbClr val="FFFF00"/>
                </a:highlight>
                <a:sym typeface="+mn-ea"/>
              </a:rPr>
              <a:t> </a:t>
            </a:r>
            <a:endParaRPr lang="en-US" b="1" err="1">
              <a:solidFill>
                <a:srgbClr val="FF0000"/>
              </a:solidFill>
              <a:highlight>
                <a:srgbClr val="FFFF00"/>
              </a:highlight>
              <a:sym typeface="+mn-ea"/>
            </a:endParaRPr>
          </a:p>
          <a:p>
            <a:pPr marL="0" indent="0">
              <a:buNone/>
            </a:pPr>
            <a:r>
              <a:rPr lang="en-US" altLang="en-US" b="1" err="1">
                <a:solidFill>
                  <a:srgbClr val="FF0000"/>
                </a:solidFill>
                <a:highlight>
                  <a:srgbClr val="FFFF00"/>
                </a:highlight>
                <a:sym typeface="+mn-ea"/>
              </a:rPr>
              <a:t>Điểm ĐÁNH GIÁ KẾT THÚC MÔN HỌC: </a:t>
            </a:r>
            <a:r>
              <a:rPr lang="en-US" altLang="vi-VN" b="1" err="1">
                <a:solidFill>
                  <a:srgbClr val="FF0000"/>
                </a:solidFill>
                <a:highlight>
                  <a:srgbClr val="FFFF00"/>
                </a:highlight>
                <a:sym typeface="+mn-ea"/>
              </a:rPr>
              <a:t>5</a:t>
            </a:r>
            <a:r>
              <a:rPr lang="en-US" altLang="en-US" b="1">
                <a:solidFill>
                  <a:srgbClr val="FF0000"/>
                </a:solidFill>
                <a:highlight>
                  <a:srgbClr val="FFFF00"/>
                </a:highlight>
                <a:sym typeface="+mn-ea"/>
              </a:rPr>
              <a:t>0%</a:t>
            </a:r>
            <a:endParaRPr lang="en-US" altLang="en-US" b="1">
              <a:solidFill>
                <a:srgbClr val="FF0000"/>
              </a:solidFill>
              <a:highlight>
                <a:srgbClr val="FFFF00"/>
              </a:highlight>
              <a:sym typeface="+mn-ea"/>
            </a:endParaRPr>
          </a:p>
          <a:p>
            <a:pPr marL="0" indent="0">
              <a:buNone/>
            </a:pPr>
            <a:r>
              <a:rPr lang="en-US" altLang="en-US" b="1">
                <a:solidFill>
                  <a:srgbClr val="FF0000"/>
                </a:solidFill>
                <a:highlight>
                  <a:srgbClr val="FFFF00"/>
                </a:highlight>
                <a:sym typeface="+mn-ea"/>
              </a:rPr>
              <a:t>Thuyết trình theo Tổ học tập, tất cả các sinh viên đều phải tham gia</a:t>
            </a:r>
            <a:endParaRPr lang="en-US" altLang="en-US" b="1">
              <a:solidFill>
                <a:srgbClr val="FF0000"/>
              </a:solidFill>
              <a:highlight>
                <a:srgbClr val="FFFF00"/>
              </a:highlight>
              <a:sym typeface="+mn-ea"/>
            </a:endParaRPr>
          </a:p>
          <a:p>
            <a:pPr marL="0" indent="0">
              <a:buNone/>
            </a:pPr>
            <a:r>
              <a:rPr lang="en-US" altLang="en-US" b="1">
                <a:solidFill>
                  <a:srgbClr val="FF0000"/>
                </a:solidFill>
                <a:highlight>
                  <a:srgbClr val="FFFF00"/>
                </a:highlight>
                <a:sym typeface="+mn-ea"/>
              </a:rPr>
              <a:t>Điểm theo Tổ học tập, có tính đến đóng góp của cá nhân</a:t>
            </a:r>
            <a:endParaRPr lang="en-US" altLang="en-US" b="1">
              <a:solidFill>
                <a:srgbClr val="FF0000"/>
              </a:solidFill>
              <a:highlight>
                <a:srgbClr val="FFFF00"/>
              </a:highlight>
            </a:endParaRPr>
          </a:p>
          <a:p>
            <a:pPr marL="0" indent="0">
              <a:buNone/>
            </a:pPr>
            <a:endParaRPr lang="en-US" b="1" err="1">
              <a:solidFill>
                <a:srgbClr val="FF0000"/>
              </a:solidFill>
              <a:highlight>
                <a:srgbClr val="FFFF00"/>
              </a:highlight>
              <a:sym typeface="+mn-ea"/>
            </a:endParaRPr>
          </a:p>
          <a:p>
            <a:pPr marL="0" indent="0">
              <a:buNone/>
            </a:pPr>
            <a:endParaRPr lang="en-US" altLang="en-US" b="1" err="1">
              <a:solidFill>
                <a:srgbClr val="FF0000"/>
              </a:solidFill>
              <a:highlight>
                <a:srgbClr val="FFFF00"/>
              </a:highlight>
              <a:sym typeface="+mn-ea"/>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2250</Words>
  <Application>WPS Presentation</Application>
  <PresentationFormat>Widescreen</PresentationFormat>
  <Paragraphs>65</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SimSun</vt:lpstr>
      <vt:lpstr>Wingdings</vt:lpstr>
      <vt:lpstr>Calibri</vt:lpstr>
      <vt:lpstr>Microsoft YaHei</vt:lpstr>
      <vt:lpstr>Arial Unicode MS</vt:lpstr>
      <vt:lpstr>Calibri Light</vt:lpstr>
      <vt:lpstr>Office Theme</vt:lpstr>
      <vt:lpstr>PowerPoint 演示文稿</vt:lpstr>
      <vt:lpstr>PowerPoint 演示文稿</vt:lpstr>
      <vt:lpstr>Yêu cầu</vt:lpstr>
      <vt:lpstr>Điểm thuyết trình tính cho cả tổ học tập, có tính đến yếu tố cá nhân thực hiện thuyết trình </vt:lpstr>
      <vt:lpstr>NỘI DUNG</vt:lpstr>
      <vt:lpstr>PowerPoint 演示文稿</vt:lpstr>
      <vt:lpstr>PowerPoint 演示文稿</vt:lpstr>
      <vt:lpstr>Lưu ý: </vt:lpstr>
      <vt:lpstr>Lưu trữ bài thuyết trình </vt:lpstr>
      <vt:lpstr>Đánh giá kết quả học tập: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ADMIN</dc:creator>
  <cp:lastModifiedBy>google1513646047</cp:lastModifiedBy>
  <cp:revision>130</cp:revision>
  <dcterms:created xsi:type="dcterms:W3CDTF">2022-11-14T01:02:00Z</dcterms:created>
  <dcterms:modified xsi:type="dcterms:W3CDTF">2026-01-08T12:11:01Z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99CB067D2A514E8BBF7FDD47F80B884E_13</vt:lpwstr>
  </property>
  <property fmtid="{D5CDD505-2E9C-101B-9397-08002B2CF9AE}" pid="3" name="KSOProductBuildVer">
    <vt:lpwstr>1033-12.2.0.23196</vt:lpwstr>
  </property>
</Properties>
</file>