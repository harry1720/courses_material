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8288000" cy="10287000"/>
  <p:notesSz cx="6858000" cy="9144000"/>
  <p:embeddedFontLst>
    <p:embeddedFont>
      <p:font typeface="Arial Bold" panose="020B0704020202020204" pitchFamily="34" charset="0"/>
      <p:regular r:id="rId52"/>
      <p:bold r:id="rId53"/>
    </p:embeddedFont>
    <p:embeddedFont>
      <p:font typeface="Inter" panose="020B0604020202020204" charset="0"/>
      <p:regular r:id="rId54"/>
    </p:embeddedFont>
    <p:embeddedFont>
      <p:font typeface="Inter Bold" panose="020B0604020202020204" charset="0"/>
      <p:regular r:id="rId55"/>
    </p:embeddedFont>
    <p:embeddedFont>
      <p:font typeface="Inter Bold Italics" panose="020B0604020202020204" charset="0"/>
      <p:regular r:id="rId56"/>
    </p:embeddedFont>
    <p:embeddedFont>
      <p:font typeface="Inter Italics" panose="020B0604020202020204" charset="0"/>
      <p:regular r:id="rId57"/>
    </p:embeddedFont>
    <p:embeddedFont>
      <p:font typeface="Noto Sans" panose="020B0502040504020204" pitchFamily="34" charset="0"/>
      <p:regular r:id="rId58"/>
    </p:embeddedFont>
    <p:embeddedFont>
      <p:font typeface="Noto Sans Bold" panose="020B0604020202020204" charset="0"/>
      <p:regular r:id="rId59"/>
    </p:embeddedFont>
    <p:embeddedFont>
      <p:font typeface="Paytone One" panose="020B0604020202020204" charset="0"/>
      <p:regular r:id="rId60"/>
    </p:embeddedFont>
    <p:embeddedFont>
      <p:font typeface="Poppins Bold" panose="00000800000000000000" charset="0"/>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25" d="100"/>
          <a:sy n="25" d="100"/>
        </p:scale>
        <p:origin x="2314" y="8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Đây chính là ứng dụng CNTT để cứu người và giảm thiểu thiệt hại thiên tai.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Nhiều người nghĩ mạng xã hội là nơi muốn đăng gì thì đăng. Nhưng không, các nền tảng như Facebook, Google, Tiktok phải tuân thủ pháp luật Việt Nam.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Luật CNTT 2006 (Điều 21, 22): Cấm thu thập, sử dụng, cung cấp thông tin cá nhân khi chưa có sự đồng ý.</a:t>
            </a:r>
          </a:p>
          <a:p>
            <a:r>
              <a:rPr lang="en-US"/>
              <a:t>Cập nhật mới: Nghị định 13/2023/NĐ-CP (Có hiệu lực từ 1/7/2023) quy định mức phạt rất nặng (lên tới 5% tổng doanh thu) đối với doanh nghiệp để lộ lọt dữ liệu.</a:t>
            </a:r>
          </a:p>
          <a:p>
            <a:endParaRPr lang="en-US"/>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Mục tiêu là hiện đại hóa nền hành chính</a:t>
            </a:r>
          </a:p>
          <a:p>
            <a:r>
              <a:rPr lang="en-US"/>
              <a:t> Đây chính là minh chứng cho việc nhà nước chuyển đổi số mạnh mẽ để phục vụ người dân.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Luật yêu cầu nhà nước phải số hóa. Minh chứng rõ nhất là sự kiện 'khai tử' Sổ hộ khẩu giấy. Nhờ áp dụng Luật CNTT để xây dựng cơ sở dữ liệu quốc gia, giờ đây chúng ta đi làm thủ tục hành chính chỉ cần thẻ CCCD gắn chip hoặc ứng dụng VNeID, không cần cuốn sổ giấy như xưa.</a:t>
            </a:r>
          </a:p>
          <a:p>
            <a:r>
              <a:rPr lang="en-US"/>
              <a:t>Giờ đi máy bay nội địa, các bạn có thể dùng VNeID mức 2 thay cho CCCD cứng.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Chương 2 Luật CNTT là hành lang pháp lý quan trọng đưa công nghệ vào mọi ngóc ngách đời sống: từ việc bảo vệ chúng ta trước thiên tai, lừa đảo, đến việc giúp đi lại, học tập và mua sắm thuận tiện hơn.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30</a:t>
            </a:fld>
            <a:endParaRPr lang="cs-CZ"/>
          </a:p>
        </p:txBody>
      </p:sp>
    </p:spTree>
    <p:extLst>
      <p:ext uri="{BB962C8B-B14F-4D97-AF65-F5344CB8AC3E}">
        <p14:creationId xmlns:p14="http://schemas.microsoft.com/office/powerpoint/2010/main" val="3934758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24/01/2026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24/01/2026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 Id="rId30" Type="http://schemas.openxmlformats.org/officeDocument/2006/relationships/image" Target="../media/image29.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4.pn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3.svg"/><Relationship Id="rId2" Type="http://schemas.openxmlformats.org/officeDocument/2006/relationships/image" Target="../media/image32.png"/><Relationship Id="rId16" Type="http://schemas.openxmlformats.org/officeDocument/2006/relationships/image" Target="../media/image29.png"/><Relationship Id="rId20"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2.svg"/><Relationship Id="rId10" Type="http://schemas.openxmlformats.org/officeDocument/2006/relationships/image" Target="../media/image39.png"/><Relationship Id="rId19"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7.png"/></Relationships>
</file>

<file path=ppt/slides/_rels/slide3.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4.svg"/><Relationship Id="rId18" Type="http://schemas.openxmlformats.org/officeDocument/2006/relationships/image" Target="../media/image23.png"/><Relationship Id="rId26" Type="http://schemas.openxmlformats.org/officeDocument/2006/relationships/image" Target="../media/image44.png"/><Relationship Id="rId3" Type="http://schemas.openxmlformats.org/officeDocument/2006/relationships/image" Target="../media/image48.svg"/><Relationship Id="rId21" Type="http://schemas.openxmlformats.org/officeDocument/2006/relationships/image" Target="../media/image59.sv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58.svg"/><Relationship Id="rId25" Type="http://schemas.openxmlformats.org/officeDocument/2006/relationships/image" Target="../media/image43.svg"/><Relationship Id="rId2" Type="http://schemas.openxmlformats.org/officeDocument/2006/relationships/image" Target="../media/image47.png"/><Relationship Id="rId16" Type="http://schemas.openxmlformats.org/officeDocument/2006/relationships/image" Target="../media/image57.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24" Type="http://schemas.openxmlformats.org/officeDocument/2006/relationships/image" Target="../media/image29.png"/><Relationship Id="rId5" Type="http://schemas.openxmlformats.org/officeDocument/2006/relationships/image" Target="../media/image49.svg"/><Relationship Id="rId15" Type="http://schemas.openxmlformats.org/officeDocument/2006/relationships/image" Target="../media/image56.svg"/><Relationship Id="rId23" Type="http://schemas.openxmlformats.org/officeDocument/2006/relationships/image" Target="../media/image42.svg"/><Relationship Id="rId10" Type="http://schemas.openxmlformats.org/officeDocument/2006/relationships/image" Target="../media/image36.png"/><Relationship Id="rId19" Type="http://schemas.openxmlformats.org/officeDocument/2006/relationships/image" Target="../media/image41.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55.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7.png"/><Relationship Id="rId18" Type="http://schemas.openxmlformats.org/officeDocument/2006/relationships/image" Target="../media/image26.svg"/><Relationship Id="rId3" Type="http://schemas.openxmlformats.org/officeDocument/2006/relationships/image" Target="../media/image60.svg"/><Relationship Id="rId21" Type="http://schemas.openxmlformats.org/officeDocument/2006/relationships/image" Target="../media/image29.png"/><Relationship Id="rId7" Type="http://schemas.openxmlformats.org/officeDocument/2006/relationships/image" Target="../media/image4.svg"/><Relationship Id="rId12" Type="http://schemas.openxmlformats.org/officeDocument/2006/relationships/image" Target="../media/image62.jpeg"/><Relationship Id="rId17" Type="http://schemas.openxmlformats.org/officeDocument/2006/relationships/image" Target="../media/image25.png"/><Relationship Id="rId2" Type="http://schemas.openxmlformats.org/officeDocument/2006/relationships/image" Target="../media/image47.png"/><Relationship Id="rId16" Type="http://schemas.openxmlformats.org/officeDocument/2006/relationships/image" Target="../media/image24.svg"/><Relationship Id="rId20"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22.svg"/><Relationship Id="rId5" Type="http://schemas.openxmlformats.org/officeDocument/2006/relationships/image" Target="../media/image2.svg"/><Relationship Id="rId15" Type="http://schemas.openxmlformats.org/officeDocument/2006/relationships/image" Target="../media/image23.png"/><Relationship Id="rId23" Type="http://schemas.openxmlformats.org/officeDocument/2006/relationships/image" Target="../media/image44.png"/><Relationship Id="rId10" Type="http://schemas.openxmlformats.org/officeDocument/2006/relationships/image" Target="../media/image21.png"/><Relationship Id="rId19" Type="http://schemas.openxmlformats.org/officeDocument/2006/relationships/image" Target="../media/image27.png"/><Relationship Id="rId4" Type="http://schemas.openxmlformats.org/officeDocument/2006/relationships/image" Target="../media/image1.png"/><Relationship Id="rId9" Type="http://schemas.openxmlformats.org/officeDocument/2006/relationships/image" Target="../media/image61.svg"/><Relationship Id="rId14" Type="http://schemas.openxmlformats.org/officeDocument/2006/relationships/image" Target="../media/image63.svg"/><Relationship Id="rId22" Type="http://schemas.openxmlformats.org/officeDocument/2006/relationships/image" Target="../media/image30.svg"/></Relationships>
</file>

<file path=ppt/slides/_rels/slide5.xml.rels><?xml version="1.0" encoding="UTF-8" standalone="yes"?>
<Relationships xmlns="http://schemas.openxmlformats.org/package/2006/relationships"><Relationship Id="rId8" Type="http://schemas.openxmlformats.org/officeDocument/2006/relationships/image" Target="../media/image70.jpeg"/><Relationship Id="rId13" Type="http://schemas.openxmlformats.org/officeDocument/2006/relationships/image" Target="../media/image75.svg"/><Relationship Id="rId18" Type="http://schemas.openxmlformats.org/officeDocument/2006/relationships/image" Target="../media/image27.png"/><Relationship Id="rId3" Type="http://schemas.openxmlformats.org/officeDocument/2006/relationships/image" Target="../media/image65.svg"/><Relationship Id="rId21" Type="http://schemas.openxmlformats.org/officeDocument/2006/relationships/image" Target="../media/image30.svg"/><Relationship Id="rId7" Type="http://schemas.openxmlformats.org/officeDocument/2006/relationships/image" Target="../media/image69.svg"/><Relationship Id="rId12" Type="http://schemas.openxmlformats.org/officeDocument/2006/relationships/image" Target="../media/image74.png"/><Relationship Id="rId17" Type="http://schemas.openxmlformats.org/officeDocument/2006/relationships/image" Target="../media/image24.svg"/><Relationship Id="rId2" Type="http://schemas.openxmlformats.org/officeDocument/2006/relationships/image" Target="../media/image64.png"/><Relationship Id="rId16" Type="http://schemas.openxmlformats.org/officeDocument/2006/relationships/image" Target="../media/image23.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68.png"/><Relationship Id="rId11" Type="http://schemas.openxmlformats.org/officeDocument/2006/relationships/image" Target="../media/image73.svg"/><Relationship Id="rId5" Type="http://schemas.openxmlformats.org/officeDocument/2006/relationships/image" Target="../media/image67.svg"/><Relationship Id="rId15" Type="http://schemas.openxmlformats.org/officeDocument/2006/relationships/image" Target="../media/image77.svg"/><Relationship Id="rId10" Type="http://schemas.openxmlformats.org/officeDocument/2006/relationships/image" Target="../media/image72.png"/><Relationship Id="rId19" Type="http://schemas.openxmlformats.org/officeDocument/2006/relationships/image" Target="../media/image28.svg"/><Relationship Id="rId4" Type="http://schemas.openxmlformats.org/officeDocument/2006/relationships/image" Target="../media/image66.png"/><Relationship Id="rId9" Type="http://schemas.openxmlformats.org/officeDocument/2006/relationships/image" Target="../media/image71.jpeg"/><Relationship Id="rId14" Type="http://schemas.openxmlformats.org/officeDocument/2006/relationships/image" Target="../media/image76.png"/><Relationship Id="rId22" Type="http://schemas.openxmlformats.org/officeDocument/2006/relationships/image" Target="../media/image44.png"/></Relationships>
</file>

<file path=ppt/slides/_rels/slide6.xml.rels><?xml version="1.0" encoding="UTF-8" standalone="yes"?>
<Relationships xmlns="http://schemas.openxmlformats.org/package/2006/relationships"><Relationship Id="rId8" Type="http://schemas.openxmlformats.org/officeDocument/2006/relationships/image" Target="../media/image80.jpeg"/><Relationship Id="rId13" Type="http://schemas.openxmlformats.org/officeDocument/2006/relationships/image" Target="../media/image27.png"/><Relationship Id="rId3" Type="http://schemas.openxmlformats.org/officeDocument/2006/relationships/image" Target="../media/image78.svg"/><Relationship Id="rId7" Type="http://schemas.openxmlformats.org/officeDocument/2006/relationships/image" Target="../media/image22.svg"/><Relationship Id="rId12" Type="http://schemas.openxmlformats.org/officeDocument/2006/relationships/image" Target="../media/image26.svg"/><Relationship Id="rId17" Type="http://schemas.openxmlformats.org/officeDocument/2006/relationships/image" Target="../media/image44.png"/><Relationship Id="rId2" Type="http://schemas.openxmlformats.org/officeDocument/2006/relationships/image" Target="../media/image32.png"/><Relationship Id="rId16" Type="http://schemas.openxmlformats.org/officeDocument/2006/relationships/image" Target="../media/image30.sv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79.svg"/><Relationship Id="rId15" Type="http://schemas.openxmlformats.org/officeDocument/2006/relationships/image" Target="../media/image29.png"/><Relationship Id="rId10" Type="http://schemas.openxmlformats.org/officeDocument/2006/relationships/image" Target="../media/image10.svg"/><Relationship Id="rId4" Type="http://schemas.openxmlformats.org/officeDocument/2006/relationships/image" Target="../media/image34.png"/><Relationship Id="rId9" Type="http://schemas.openxmlformats.org/officeDocument/2006/relationships/image" Target="../media/image9.png"/><Relationship Id="rId14" Type="http://schemas.openxmlformats.org/officeDocument/2006/relationships/image" Target="../media/image28.svg"/></Relationships>
</file>

<file path=ppt/slides/_rels/slide7.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41.svg"/><Relationship Id="rId18" Type="http://schemas.openxmlformats.org/officeDocument/2006/relationships/image" Target="../media/image29.png"/><Relationship Id="rId3" Type="http://schemas.openxmlformats.org/officeDocument/2006/relationships/image" Target="../media/image48.svg"/><Relationship Id="rId7" Type="http://schemas.openxmlformats.org/officeDocument/2006/relationships/image" Target="../media/image50.svg"/><Relationship Id="rId12" Type="http://schemas.openxmlformats.org/officeDocument/2006/relationships/image" Target="../media/image23.png"/><Relationship Id="rId17" Type="http://schemas.openxmlformats.org/officeDocument/2006/relationships/image" Target="../media/image42.svg"/><Relationship Id="rId2" Type="http://schemas.openxmlformats.org/officeDocument/2006/relationships/image" Target="../media/image47.png"/><Relationship Id="rId16" Type="http://schemas.openxmlformats.org/officeDocument/2006/relationships/image" Target="../media/image27.png"/><Relationship Id="rId20"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36.png"/><Relationship Id="rId19" Type="http://schemas.openxmlformats.org/officeDocument/2006/relationships/image" Target="../media/image43.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svg"/><Relationship Id="rId18" Type="http://schemas.openxmlformats.org/officeDocument/2006/relationships/image" Target="../media/image27.png"/><Relationship Id="rId3" Type="http://schemas.openxmlformats.org/officeDocument/2006/relationships/image" Target="../media/image48.svg"/><Relationship Id="rId21" Type="http://schemas.openxmlformats.org/officeDocument/2006/relationships/image" Target="../media/image43.svg"/><Relationship Id="rId7" Type="http://schemas.openxmlformats.org/officeDocument/2006/relationships/image" Target="../media/image50.svg"/><Relationship Id="rId12" Type="http://schemas.openxmlformats.org/officeDocument/2006/relationships/image" Target="../media/image55.png"/><Relationship Id="rId17" Type="http://schemas.openxmlformats.org/officeDocument/2006/relationships/image" Target="../media/image59.svg"/><Relationship Id="rId2" Type="http://schemas.openxmlformats.org/officeDocument/2006/relationships/image" Target="../media/image47.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5" Type="http://schemas.openxmlformats.org/officeDocument/2006/relationships/image" Target="../media/image49.svg"/><Relationship Id="rId15" Type="http://schemas.openxmlformats.org/officeDocument/2006/relationships/image" Target="../media/image41.svg"/><Relationship Id="rId10" Type="http://schemas.openxmlformats.org/officeDocument/2006/relationships/image" Target="../media/image36.png"/><Relationship Id="rId19" Type="http://schemas.openxmlformats.org/officeDocument/2006/relationships/image" Target="../media/image42.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23.png"/><Relationship Id="rId22" Type="http://schemas.openxmlformats.org/officeDocument/2006/relationships/image" Target="../media/image44.png"/></Relationships>
</file>

<file path=ppt/slides/_rels/slide9.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41.svg"/><Relationship Id="rId18" Type="http://schemas.openxmlformats.org/officeDocument/2006/relationships/image" Target="../media/image29.png"/><Relationship Id="rId3" Type="http://schemas.openxmlformats.org/officeDocument/2006/relationships/image" Target="../media/image48.svg"/><Relationship Id="rId7" Type="http://schemas.openxmlformats.org/officeDocument/2006/relationships/image" Target="../media/image50.svg"/><Relationship Id="rId12" Type="http://schemas.openxmlformats.org/officeDocument/2006/relationships/image" Target="../media/image23.png"/><Relationship Id="rId17" Type="http://schemas.openxmlformats.org/officeDocument/2006/relationships/image" Target="../media/image42.svg"/><Relationship Id="rId2" Type="http://schemas.openxmlformats.org/officeDocument/2006/relationships/image" Target="../media/image47.png"/><Relationship Id="rId16" Type="http://schemas.openxmlformats.org/officeDocument/2006/relationships/image" Target="../media/image27.png"/><Relationship Id="rId20"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36.png"/><Relationship Id="rId19" Type="http://schemas.openxmlformats.org/officeDocument/2006/relationships/image" Target="../media/image43.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41.svg"/><Relationship Id="rId18" Type="http://schemas.openxmlformats.org/officeDocument/2006/relationships/image" Target="../media/image29.png"/><Relationship Id="rId3" Type="http://schemas.openxmlformats.org/officeDocument/2006/relationships/image" Target="../media/image48.svg"/><Relationship Id="rId7" Type="http://schemas.openxmlformats.org/officeDocument/2006/relationships/image" Target="../media/image50.svg"/><Relationship Id="rId12" Type="http://schemas.openxmlformats.org/officeDocument/2006/relationships/image" Target="../media/image23.png"/><Relationship Id="rId17" Type="http://schemas.openxmlformats.org/officeDocument/2006/relationships/image" Target="../media/image42.svg"/><Relationship Id="rId2" Type="http://schemas.openxmlformats.org/officeDocument/2006/relationships/image" Target="../media/image47.png"/><Relationship Id="rId16" Type="http://schemas.openxmlformats.org/officeDocument/2006/relationships/image" Target="../media/image27.png"/><Relationship Id="rId20"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36.png"/><Relationship Id="rId19" Type="http://schemas.openxmlformats.org/officeDocument/2006/relationships/image" Target="../media/image43.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41.svg"/><Relationship Id="rId18" Type="http://schemas.openxmlformats.org/officeDocument/2006/relationships/image" Target="../media/image29.png"/><Relationship Id="rId3" Type="http://schemas.openxmlformats.org/officeDocument/2006/relationships/image" Target="../media/image48.svg"/><Relationship Id="rId7" Type="http://schemas.openxmlformats.org/officeDocument/2006/relationships/image" Target="../media/image50.svg"/><Relationship Id="rId12" Type="http://schemas.openxmlformats.org/officeDocument/2006/relationships/image" Target="../media/image23.png"/><Relationship Id="rId17" Type="http://schemas.openxmlformats.org/officeDocument/2006/relationships/image" Target="../media/image42.svg"/><Relationship Id="rId2" Type="http://schemas.openxmlformats.org/officeDocument/2006/relationships/image" Target="../media/image47.png"/><Relationship Id="rId16" Type="http://schemas.openxmlformats.org/officeDocument/2006/relationships/image" Target="../media/image27.png"/><Relationship Id="rId20"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36.png"/><Relationship Id="rId19" Type="http://schemas.openxmlformats.org/officeDocument/2006/relationships/image" Target="../media/image43.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4.svg"/><Relationship Id="rId18" Type="http://schemas.openxmlformats.org/officeDocument/2006/relationships/image" Target="../media/image23.png"/><Relationship Id="rId26" Type="http://schemas.openxmlformats.org/officeDocument/2006/relationships/image" Target="../media/image44.png"/><Relationship Id="rId3" Type="http://schemas.openxmlformats.org/officeDocument/2006/relationships/image" Target="../media/image48.svg"/><Relationship Id="rId21" Type="http://schemas.openxmlformats.org/officeDocument/2006/relationships/image" Target="../media/image59.sv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58.svg"/><Relationship Id="rId25" Type="http://schemas.openxmlformats.org/officeDocument/2006/relationships/image" Target="../media/image43.svg"/><Relationship Id="rId2" Type="http://schemas.openxmlformats.org/officeDocument/2006/relationships/image" Target="../media/image47.png"/><Relationship Id="rId16" Type="http://schemas.openxmlformats.org/officeDocument/2006/relationships/image" Target="../media/image57.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24" Type="http://schemas.openxmlformats.org/officeDocument/2006/relationships/image" Target="../media/image29.png"/><Relationship Id="rId5" Type="http://schemas.openxmlformats.org/officeDocument/2006/relationships/image" Target="../media/image49.svg"/><Relationship Id="rId15" Type="http://schemas.openxmlformats.org/officeDocument/2006/relationships/image" Target="../media/image56.svg"/><Relationship Id="rId23" Type="http://schemas.openxmlformats.org/officeDocument/2006/relationships/image" Target="../media/image42.svg"/><Relationship Id="rId10" Type="http://schemas.openxmlformats.org/officeDocument/2006/relationships/image" Target="../media/image36.png"/><Relationship Id="rId19" Type="http://schemas.openxmlformats.org/officeDocument/2006/relationships/image" Target="../media/image41.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55.png"/><Relationship Id="rId22"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4.pn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3.svg"/><Relationship Id="rId2" Type="http://schemas.openxmlformats.org/officeDocument/2006/relationships/image" Target="../media/image32.png"/><Relationship Id="rId16" Type="http://schemas.openxmlformats.org/officeDocument/2006/relationships/image" Target="../media/image29.png"/><Relationship Id="rId20"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2.svg"/><Relationship Id="rId10" Type="http://schemas.openxmlformats.org/officeDocument/2006/relationships/image" Target="../media/image39.png"/><Relationship Id="rId19"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23.png"/><Relationship Id="rId18" Type="http://schemas.openxmlformats.org/officeDocument/2006/relationships/image" Target="../media/image45.png"/><Relationship Id="rId3" Type="http://schemas.openxmlformats.org/officeDocument/2006/relationships/image" Target="../media/image32.png"/><Relationship Id="rId21" Type="http://schemas.openxmlformats.org/officeDocument/2006/relationships/image" Target="../media/image81.png"/><Relationship Id="rId7" Type="http://schemas.openxmlformats.org/officeDocument/2006/relationships/image" Target="../media/image36.png"/><Relationship Id="rId12" Type="http://schemas.openxmlformats.org/officeDocument/2006/relationships/image" Target="../media/image40.svg"/><Relationship Id="rId17" Type="http://schemas.openxmlformats.org/officeDocument/2006/relationships/image" Target="../media/image44.png"/><Relationship Id="rId2" Type="http://schemas.openxmlformats.org/officeDocument/2006/relationships/notesSlide" Target="../notesSlides/notesSlide1.xml"/><Relationship Id="rId16" Type="http://schemas.openxmlformats.org/officeDocument/2006/relationships/image" Target="../media/image43.svg"/><Relationship Id="rId20" Type="http://schemas.openxmlformats.org/officeDocument/2006/relationships/hyperlink" Target="https://nhandan.vn/93-trieu-nguoi-nhan-tin-nhan-phong-chong-sieu-bao-yagi-qua-zalo-post828724.html" TargetMode="External"/><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39.png"/><Relationship Id="rId5" Type="http://schemas.openxmlformats.org/officeDocument/2006/relationships/image" Target="../media/image34.png"/><Relationship Id="rId15" Type="http://schemas.openxmlformats.org/officeDocument/2006/relationships/image" Target="../media/image29.png"/><Relationship Id="rId10" Type="http://schemas.openxmlformats.org/officeDocument/2006/relationships/image" Target="../media/image38.svg"/><Relationship Id="rId19" Type="http://schemas.openxmlformats.org/officeDocument/2006/relationships/image" Target="../media/image46.svg"/><Relationship Id="rId4" Type="http://schemas.openxmlformats.org/officeDocument/2006/relationships/image" Target="../media/image33.svg"/><Relationship Id="rId9" Type="http://schemas.openxmlformats.org/officeDocument/2006/relationships/image" Target="../media/image17.png"/><Relationship Id="rId14" Type="http://schemas.openxmlformats.org/officeDocument/2006/relationships/image" Target="../media/image41.svg"/></Relationships>
</file>

<file path=ppt/slides/_rels/slide15.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23.png"/><Relationship Id="rId18" Type="http://schemas.openxmlformats.org/officeDocument/2006/relationships/image" Target="../media/image45.png"/><Relationship Id="rId3" Type="http://schemas.openxmlformats.org/officeDocument/2006/relationships/image" Target="../media/image32.png"/><Relationship Id="rId21" Type="http://schemas.openxmlformats.org/officeDocument/2006/relationships/image" Target="../media/image82.png"/><Relationship Id="rId7" Type="http://schemas.openxmlformats.org/officeDocument/2006/relationships/image" Target="../media/image36.png"/><Relationship Id="rId12" Type="http://schemas.openxmlformats.org/officeDocument/2006/relationships/image" Target="../media/image40.svg"/><Relationship Id="rId17" Type="http://schemas.openxmlformats.org/officeDocument/2006/relationships/image" Target="../media/image44.png"/><Relationship Id="rId2" Type="http://schemas.openxmlformats.org/officeDocument/2006/relationships/notesSlide" Target="../notesSlides/notesSlide2.xml"/><Relationship Id="rId16" Type="http://schemas.openxmlformats.org/officeDocument/2006/relationships/image" Target="../media/image43.svg"/><Relationship Id="rId20" Type="http://schemas.openxmlformats.org/officeDocument/2006/relationships/hyperlink" Target="https://vneconomy.vn/facebook-google-tiktok-da-go-bo-hon-15-000-noi-dung-vi-pham-phap-luat-viet-nam.htm" TargetMode="External"/><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39.png"/><Relationship Id="rId5" Type="http://schemas.openxmlformats.org/officeDocument/2006/relationships/image" Target="../media/image34.png"/><Relationship Id="rId15" Type="http://schemas.openxmlformats.org/officeDocument/2006/relationships/image" Target="../media/image29.png"/><Relationship Id="rId10" Type="http://schemas.openxmlformats.org/officeDocument/2006/relationships/image" Target="../media/image38.svg"/><Relationship Id="rId19" Type="http://schemas.openxmlformats.org/officeDocument/2006/relationships/image" Target="../media/image46.svg"/><Relationship Id="rId4" Type="http://schemas.openxmlformats.org/officeDocument/2006/relationships/image" Target="../media/image33.svg"/><Relationship Id="rId9" Type="http://schemas.openxmlformats.org/officeDocument/2006/relationships/image" Target="../media/image17.png"/><Relationship Id="rId14" Type="http://schemas.openxmlformats.org/officeDocument/2006/relationships/image" Target="../media/image41.svg"/></Relationships>
</file>

<file path=ppt/slides/_rels/slide16.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23.png"/><Relationship Id="rId18" Type="http://schemas.openxmlformats.org/officeDocument/2006/relationships/image" Target="../media/image45.png"/><Relationship Id="rId3" Type="http://schemas.openxmlformats.org/officeDocument/2006/relationships/image" Target="../media/image32.png"/><Relationship Id="rId21" Type="http://schemas.openxmlformats.org/officeDocument/2006/relationships/image" Target="../media/image83.jpeg"/><Relationship Id="rId7" Type="http://schemas.openxmlformats.org/officeDocument/2006/relationships/image" Target="../media/image36.png"/><Relationship Id="rId12" Type="http://schemas.openxmlformats.org/officeDocument/2006/relationships/image" Target="../media/image40.svg"/><Relationship Id="rId17" Type="http://schemas.openxmlformats.org/officeDocument/2006/relationships/image" Target="../media/image44.png"/><Relationship Id="rId2" Type="http://schemas.openxmlformats.org/officeDocument/2006/relationships/notesSlide" Target="../notesSlides/notesSlide3.xml"/><Relationship Id="rId16" Type="http://schemas.openxmlformats.org/officeDocument/2006/relationships/image" Target="../media/image43.svg"/><Relationship Id="rId20" Type="http://schemas.openxmlformats.org/officeDocument/2006/relationships/hyperlink" Target="https://vtv.vn/kinh-te/mao-danh-ngan-hang-ho-tro-cap-nhat-sinh-trac-hoc-de-lua-dao-20240702092739988.htm" TargetMode="External"/><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39.png"/><Relationship Id="rId5" Type="http://schemas.openxmlformats.org/officeDocument/2006/relationships/image" Target="../media/image34.png"/><Relationship Id="rId15" Type="http://schemas.openxmlformats.org/officeDocument/2006/relationships/image" Target="../media/image29.png"/><Relationship Id="rId10" Type="http://schemas.openxmlformats.org/officeDocument/2006/relationships/image" Target="../media/image38.svg"/><Relationship Id="rId19" Type="http://schemas.openxmlformats.org/officeDocument/2006/relationships/image" Target="../media/image46.svg"/><Relationship Id="rId4" Type="http://schemas.openxmlformats.org/officeDocument/2006/relationships/image" Target="../media/image33.svg"/><Relationship Id="rId9" Type="http://schemas.openxmlformats.org/officeDocument/2006/relationships/image" Target="../media/image17.png"/><Relationship Id="rId14" Type="http://schemas.openxmlformats.org/officeDocument/2006/relationships/image" Target="../media/image41.svg"/></Relationships>
</file>

<file path=ppt/slides/_rels/slide17.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23.png"/><Relationship Id="rId18" Type="http://schemas.openxmlformats.org/officeDocument/2006/relationships/image" Target="../media/image43.svg"/><Relationship Id="rId3" Type="http://schemas.openxmlformats.org/officeDocument/2006/relationships/image" Target="../media/image32.png"/><Relationship Id="rId21" Type="http://schemas.openxmlformats.org/officeDocument/2006/relationships/image" Target="../media/image46.svg"/><Relationship Id="rId7" Type="http://schemas.openxmlformats.org/officeDocument/2006/relationships/image" Target="../media/image36.png"/><Relationship Id="rId12" Type="http://schemas.openxmlformats.org/officeDocument/2006/relationships/image" Target="../media/image40.svg"/><Relationship Id="rId17" Type="http://schemas.openxmlformats.org/officeDocument/2006/relationships/image" Target="../media/image29.png"/><Relationship Id="rId2" Type="http://schemas.openxmlformats.org/officeDocument/2006/relationships/notesSlide" Target="../notesSlides/notesSlide4.xml"/><Relationship Id="rId16" Type="http://schemas.openxmlformats.org/officeDocument/2006/relationships/image" Target="../media/image42.svg"/><Relationship Id="rId20"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39.png"/><Relationship Id="rId5" Type="http://schemas.openxmlformats.org/officeDocument/2006/relationships/image" Target="../media/image34.png"/><Relationship Id="rId15" Type="http://schemas.openxmlformats.org/officeDocument/2006/relationships/image" Target="../media/image27.png"/><Relationship Id="rId10" Type="http://schemas.openxmlformats.org/officeDocument/2006/relationships/image" Target="../media/image38.svg"/><Relationship Id="rId19" Type="http://schemas.openxmlformats.org/officeDocument/2006/relationships/image" Target="../media/image44.png"/><Relationship Id="rId4" Type="http://schemas.openxmlformats.org/officeDocument/2006/relationships/image" Target="../media/image33.svg"/><Relationship Id="rId9" Type="http://schemas.openxmlformats.org/officeDocument/2006/relationships/image" Target="../media/image17.png"/><Relationship Id="rId14" Type="http://schemas.openxmlformats.org/officeDocument/2006/relationships/image" Target="../media/image41.svg"/></Relationships>
</file>

<file path=ppt/slides/_rels/slide18.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23.png"/><Relationship Id="rId18" Type="http://schemas.openxmlformats.org/officeDocument/2006/relationships/image" Target="../media/image43.svg"/><Relationship Id="rId3" Type="http://schemas.openxmlformats.org/officeDocument/2006/relationships/image" Target="../media/image32.png"/><Relationship Id="rId21" Type="http://schemas.openxmlformats.org/officeDocument/2006/relationships/image" Target="../media/image84.jpeg"/><Relationship Id="rId7" Type="http://schemas.openxmlformats.org/officeDocument/2006/relationships/image" Target="../media/image36.png"/><Relationship Id="rId12" Type="http://schemas.openxmlformats.org/officeDocument/2006/relationships/image" Target="../media/image40.svg"/><Relationship Id="rId17" Type="http://schemas.openxmlformats.org/officeDocument/2006/relationships/image" Target="../media/image29.png"/><Relationship Id="rId2" Type="http://schemas.openxmlformats.org/officeDocument/2006/relationships/notesSlide" Target="../notesSlides/notesSlide5.xml"/><Relationship Id="rId16" Type="http://schemas.openxmlformats.org/officeDocument/2006/relationships/image" Target="../media/image42.svg"/><Relationship Id="rId20" Type="http://schemas.openxmlformats.org/officeDocument/2006/relationships/hyperlink" Target="https://nhandan.vn/viet-nam-chinh-thuc-tro-thanh-nuoc-co-dinh-danh-dien-tu-quoc-gia-post710849.html" TargetMode="External"/><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39.png"/><Relationship Id="rId5" Type="http://schemas.openxmlformats.org/officeDocument/2006/relationships/image" Target="../media/image34.png"/><Relationship Id="rId15" Type="http://schemas.openxmlformats.org/officeDocument/2006/relationships/image" Target="../media/image27.png"/><Relationship Id="rId10" Type="http://schemas.openxmlformats.org/officeDocument/2006/relationships/image" Target="../media/image38.svg"/><Relationship Id="rId19" Type="http://schemas.openxmlformats.org/officeDocument/2006/relationships/image" Target="../media/image44.png"/><Relationship Id="rId4" Type="http://schemas.openxmlformats.org/officeDocument/2006/relationships/image" Target="../media/image33.svg"/><Relationship Id="rId9" Type="http://schemas.openxmlformats.org/officeDocument/2006/relationships/image" Target="../media/image17.png"/><Relationship Id="rId14" Type="http://schemas.openxmlformats.org/officeDocument/2006/relationships/image" Target="../media/image41.svg"/></Relationships>
</file>

<file path=ppt/slides/_rels/slide1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4.pn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3.svg"/><Relationship Id="rId2" Type="http://schemas.openxmlformats.org/officeDocument/2006/relationships/image" Target="../media/image32.png"/><Relationship Id="rId16" Type="http://schemas.openxmlformats.org/officeDocument/2006/relationships/image" Target="../media/image29.png"/><Relationship Id="rId20"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2.svg"/><Relationship Id="rId10" Type="http://schemas.openxmlformats.org/officeDocument/2006/relationships/image" Target="../media/image39.png"/><Relationship Id="rId19"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4.png"/><Relationship Id="rId3" Type="http://schemas.openxmlformats.org/officeDocument/2006/relationships/image" Target="../media/image33.svg"/><Relationship Id="rId21" Type="http://schemas.openxmlformats.org/officeDocument/2006/relationships/hyperlink" Target="https://tuoitre.vn/mua-iphone-nhan-cuc-gach-nhung-khong-cho-kiem-hang-vay-hoai-sao-chiu-noi-20201220204723082.htm" TargetMode="External"/><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3.svg"/><Relationship Id="rId2" Type="http://schemas.openxmlformats.org/officeDocument/2006/relationships/image" Target="../media/image32.png"/><Relationship Id="rId16" Type="http://schemas.openxmlformats.org/officeDocument/2006/relationships/image" Target="../media/image29.png"/><Relationship Id="rId20"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2.svg"/><Relationship Id="rId23" Type="http://schemas.openxmlformats.org/officeDocument/2006/relationships/image" Target="../media/image85.jpeg"/><Relationship Id="rId10" Type="http://schemas.openxmlformats.org/officeDocument/2006/relationships/image" Target="../media/image39.png"/><Relationship Id="rId19"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7.png"/><Relationship Id="rId22" Type="http://schemas.openxmlformats.org/officeDocument/2006/relationships/hyperlink" Target="https://cdn2.tuoitre.vn/2020/12/20/mua-hang-online-16084719975101456021251.jpg"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4.pn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3.svg"/><Relationship Id="rId2" Type="http://schemas.openxmlformats.org/officeDocument/2006/relationships/image" Target="../media/image32.png"/><Relationship Id="rId16" Type="http://schemas.openxmlformats.org/officeDocument/2006/relationships/image" Target="../media/image29.png"/><Relationship Id="rId20"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2.svg"/><Relationship Id="rId10" Type="http://schemas.openxmlformats.org/officeDocument/2006/relationships/image" Target="../media/image39.png"/><Relationship Id="rId19"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7.png"/></Relationships>
</file>

<file path=ppt/slides/_rels/slide22.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29.png"/><Relationship Id="rId18" Type="http://schemas.openxmlformats.org/officeDocument/2006/relationships/hyperlink" Target="https://tuoitre.vn/benh-vien-tai-tp-hcm-chay-dua-nuoc-rut-xoa-so-benh-an-giay-20250917104711256.htm" TargetMode="External"/><Relationship Id="rId3" Type="http://schemas.openxmlformats.org/officeDocument/2006/relationships/image" Target="../media/image32.png"/><Relationship Id="rId21" Type="http://schemas.openxmlformats.org/officeDocument/2006/relationships/hyperlink" Target="https://tranhsonmai.baotangso.com/" TargetMode="External"/><Relationship Id="rId7" Type="http://schemas.openxmlformats.org/officeDocument/2006/relationships/image" Target="../media/image36.png"/><Relationship Id="rId12" Type="http://schemas.openxmlformats.org/officeDocument/2006/relationships/image" Target="../media/image42.svg"/><Relationship Id="rId17" Type="http://schemas.openxmlformats.org/officeDocument/2006/relationships/image" Target="../media/image87.png"/><Relationship Id="rId2" Type="http://schemas.openxmlformats.org/officeDocument/2006/relationships/notesSlide" Target="../notesSlides/notesSlide6.xml"/><Relationship Id="rId16" Type="http://schemas.openxmlformats.org/officeDocument/2006/relationships/image" Target="../media/image86.png"/><Relationship Id="rId20"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27.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89.jpeg"/><Relationship Id="rId10" Type="http://schemas.openxmlformats.org/officeDocument/2006/relationships/image" Target="../media/image41.svg"/><Relationship Id="rId19" Type="http://schemas.openxmlformats.org/officeDocument/2006/relationships/hyperlink" Target="https://courses.ut.edu.vn/" TargetMode="External"/><Relationship Id="rId4" Type="http://schemas.openxmlformats.org/officeDocument/2006/relationships/image" Target="../media/image33.svg"/><Relationship Id="rId9" Type="http://schemas.openxmlformats.org/officeDocument/2006/relationships/image" Target="../media/image23.png"/><Relationship Id="rId14" Type="http://schemas.openxmlformats.org/officeDocument/2006/relationships/image" Target="../media/image43.svg"/><Relationship Id="rId22" Type="http://schemas.openxmlformats.org/officeDocument/2006/relationships/hyperlink" Target="https://www.qdnd.vn/quoc-phong-an-ninh/tin-tuc/bo-tu-lenh-86-thuc-hien-tot-nhiem-vu-quan-ly-bao-ve-vung-chac-chu-quyen-quoc-gia-tren-khong-gian-mang-1019139"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4.svg"/><Relationship Id="rId18" Type="http://schemas.openxmlformats.org/officeDocument/2006/relationships/image" Target="../media/image23.png"/><Relationship Id="rId26" Type="http://schemas.openxmlformats.org/officeDocument/2006/relationships/image" Target="../media/image44.png"/><Relationship Id="rId3" Type="http://schemas.openxmlformats.org/officeDocument/2006/relationships/image" Target="../media/image48.svg"/><Relationship Id="rId21" Type="http://schemas.openxmlformats.org/officeDocument/2006/relationships/image" Target="../media/image59.sv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58.svg"/><Relationship Id="rId25" Type="http://schemas.openxmlformats.org/officeDocument/2006/relationships/image" Target="../media/image43.svg"/><Relationship Id="rId2" Type="http://schemas.openxmlformats.org/officeDocument/2006/relationships/image" Target="../media/image47.png"/><Relationship Id="rId16" Type="http://schemas.openxmlformats.org/officeDocument/2006/relationships/image" Target="../media/image57.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24" Type="http://schemas.openxmlformats.org/officeDocument/2006/relationships/image" Target="../media/image29.png"/><Relationship Id="rId5" Type="http://schemas.openxmlformats.org/officeDocument/2006/relationships/image" Target="../media/image49.svg"/><Relationship Id="rId15" Type="http://schemas.openxmlformats.org/officeDocument/2006/relationships/image" Target="../media/image56.svg"/><Relationship Id="rId23" Type="http://schemas.openxmlformats.org/officeDocument/2006/relationships/image" Target="../media/image42.svg"/><Relationship Id="rId10" Type="http://schemas.openxmlformats.org/officeDocument/2006/relationships/image" Target="../media/image36.png"/><Relationship Id="rId19" Type="http://schemas.openxmlformats.org/officeDocument/2006/relationships/image" Target="../media/image41.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55.png"/><Relationship Id="rId22" Type="http://schemas.openxmlformats.org/officeDocument/2006/relationships/image" Target="../media/image27.pn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4.pn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3.svg"/><Relationship Id="rId2" Type="http://schemas.openxmlformats.org/officeDocument/2006/relationships/image" Target="../media/image32.png"/><Relationship Id="rId16" Type="http://schemas.openxmlformats.org/officeDocument/2006/relationships/image" Target="../media/image29.png"/><Relationship Id="rId20"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2.svg"/><Relationship Id="rId10" Type="http://schemas.openxmlformats.org/officeDocument/2006/relationships/image" Target="../media/image39.png"/><Relationship Id="rId19"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7.png"/></Relationships>
</file>

<file path=ppt/slides/_rels/slide2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19" Type="http://schemas.openxmlformats.org/officeDocument/2006/relationships/image" Target="../media/image90.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4.pn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3.svg"/><Relationship Id="rId2" Type="http://schemas.openxmlformats.org/officeDocument/2006/relationships/image" Target="../media/image32.png"/><Relationship Id="rId16" Type="http://schemas.openxmlformats.org/officeDocument/2006/relationships/image" Target="../media/image29.png"/><Relationship Id="rId20"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2.svg"/><Relationship Id="rId10" Type="http://schemas.openxmlformats.org/officeDocument/2006/relationships/image" Target="../media/image39.png"/><Relationship Id="rId19"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7.png"/></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19" Type="http://schemas.openxmlformats.org/officeDocument/2006/relationships/image" Target="../media/image91.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2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4.pn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3.svg"/><Relationship Id="rId2" Type="http://schemas.openxmlformats.org/officeDocument/2006/relationships/image" Target="../media/image32.png"/><Relationship Id="rId16" Type="http://schemas.openxmlformats.org/officeDocument/2006/relationships/image" Target="../media/image29.png"/><Relationship Id="rId20" Type="http://schemas.openxmlformats.org/officeDocument/2006/relationships/image" Target="../media/image4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2.svg"/><Relationship Id="rId10" Type="http://schemas.openxmlformats.org/officeDocument/2006/relationships/image" Target="../media/image39.png"/><Relationship Id="rId19"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7.png"/></Relationships>
</file>

<file path=ppt/slides/_rels/slide2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30.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23.png"/><Relationship Id="rId18" Type="http://schemas.openxmlformats.org/officeDocument/2006/relationships/image" Target="../media/image43.svg"/><Relationship Id="rId3" Type="http://schemas.openxmlformats.org/officeDocument/2006/relationships/image" Target="../media/image32.png"/><Relationship Id="rId21" Type="http://schemas.openxmlformats.org/officeDocument/2006/relationships/image" Target="../media/image46.svg"/><Relationship Id="rId7" Type="http://schemas.openxmlformats.org/officeDocument/2006/relationships/image" Target="../media/image36.png"/><Relationship Id="rId12" Type="http://schemas.openxmlformats.org/officeDocument/2006/relationships/image" Target="../media/image40.svg"/><Relationship Id="rId17"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42.svg"/><Relationship Id="rId20"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39.png"/><Relationship Id="rId5" Type="http://schemas.openxmlformats.org/officeDocument/2006/relationships/image" Target="../media/image34.png"/><Relationship Id="rId15" Type="http://schemas.openxmlformats.org/officeDocument/2006/relationships/image" Target="../media/image27.png"/><Relationship Id="rId10" Type="http://schemas.openxmlformats.org/officeDocument/2006/relationships/image" Target="../media/image38.svg"/><Relationship Id="rId19" Type="http://schemas.openxmlformats.org/officeDocument/2006/relationships/image" Target="../media/image44.png"/><Relationship Id="rId4" Type="http://schemas.openxmlformats.org/officeDocument/2006/relationships/image" Target="../media/image33.svg"/><Relationship Id="rId9" Type="http://schemas.openxmlformats.org/officeDocument/2006/relationships/image" Target="../media/image17.png"/><Relationship Id="rId14" Type="http://schemas.openxmlformats.org/officeDocument/2006/relationships/image" Target="../media/image41.svg"/></Relationships>
</file>

<file path=ppt/slides/_rels/slide3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19" Type="http://schemas.openxmlformats.org/officeDocument/2006/relationships/image" Target="../media/image92.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3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20" Type="http://schemas.openxmlformats.org/officeDocument/2006/relationships/image" Target="../media/image9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19" Type="http://schemas.openxmlformats.org/officeDocument/2006/relationships/image" Target="../media/image93.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33.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4.svg"/><Relationship Id="rId18" Type="http://schemas.openxmlformats.org/officeDocument/2006/relationships/image" Target="../media/image23.png"/><Relationship Id="rId26" Type="http://schemas.openxmlformats.org/officeDocument/2006/relationships/image" Target="../media/image44.png"/><Relationship Id="rId3" Type="http://schemas.openxmlformats.org/officeDocument/2006/relationships/image" Target="../media/image48.svg"/><Relationship Id="rId21" Type="http://schemas.openxmlformats.org/officeDocument/2006/relationships/image" Target="../media/image59.sv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58.svg"/><Relationship Id="rId25" Type="http://schemas.openxmlformats.org/officeDocument/2006/relationships/image" Target="../media/image43.svg"/><Relationship Id="rId2" Type="http://schemas.openxmlformats.org/officeDocument/2006/relationships/image" Target="../media/image47.png"/><Relationship Id="rId16" Type="http://schemas.openxmlformats.org/officeDocument/2006/relationships/image" Target="../media/image57.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24" Type="http://schemas.openxmlformats.org/officeDocument/2006/relationships/image" Target="../media/image29.png"/><Relationship Id="rId5" Type="http://schemas.openxmlformats.org/officeDocument/2006/relationships/image" Target="../media/image49.svg"/><Relationship Id="rId15" Type="http://schemas.openxmlformats.org/officeDocument/2006/relationships/image" Target="../media/image56.svg"/><Relationship Id="rId23" Type="http://schemas.openxmlformats.org/officeDocument/2006/relationships/image" Target="../media/image42.svg"/><Relationship Id="rId10" Type="http://schemas.openxmlformats.org/officeDocument/2006/relationships/image" Target="../media/image36.png"/><Relationship Id="rId19" Type="http://schemas.openxmlformats.org/officeDocument/2006/relationships/image" Target="../media/image41.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55.png"/><Relationship Id="rId22" Type="http://schemas.openxmlformats.org/officeDocument/2006/relationships/image" Target="../media/image27.png"/></Relationships>
</file>

<file path=ppt/slides/_rels/slide3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3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3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3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3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svg"/><Relationship Id="rId18" Type="http://schemas.openxmlformats.org/officeDocument/2006/relationships/image" Target="../media/image27.png"/><Relationship Id="rId3" Type="http://schemas.openxmlformats.org/officeDocument/2006/relationships/image" Target="../media/image48.svg"/><Relationship Id="rId21" Type="http://schemas.openxmlformats.org/officeDocument/2006/relationships/image" Target="../media/image43.svg"/><Relationship Id="rId7" Type="http://schemas.openxmlformats.org/officeDocument/2006/relationships/image" Target="../media/image50.svg"/><Relationship Id="rId12" Type="http://schemas.openxmlformats.org/officeDocument/2006/relationships/image" Target="../media/image55.png"/><Relationship Id="rId17" Type="http://schemas.openxmlformats.org/officeDocument/2006/relationships/image" Target="../media/image59.svg"/><Relationship Id="rId2" Type="http://schemas.openxmlformats.org/officeDocument/2006/relationships/image" Target="../media/image47.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5" Type="http://schemas.openxmlformats.org/officeDocument/2006/relationships/image" Target="../media/image49.svg"/><Relationship Id="rId15" Type="http://schemas.openxmlformats.org/officeDocument/2006/relationships/image" Target="../media/image41.svg"/><Relationship Id="rId10" Type="http://schemas.openxmlformats.org/officeDocument/2006/relationships/image" Target="../media/image36.png"/><Relationship Id="rId19" Type="http://schemas.openxmlformats.org/officeDocument/2006/relationships/image" Target="../media/image42.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23.png"/><Relationship Id="rId22" Type="http://schemas.openxmlformats.org/officeDocument/2006/relationships/image" Target="../media/image44.png"/></Relationships>
</file>

<file path=ppt/slides/_rels/slide3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20" Type="http://schemas.openxmlformats.org/officeDocument/2006/relationships/image" Target="../media/image96.sv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19" Type="http://schemas.openxmlformats.org/officeDocument/2006/relationships/image" Target="../media/image95.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19" Type="http://schemas.openxmlformats.org/officeDocument/2006/relationships/image" Target="../media/image97.jpe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6.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4.svg"/><Relationship Id="rId18" Type="http://schemas.openxmlformats.org/officeDocument/2006/relationships/image" Target="../media/image23.png"/><Relationship Id="rId26" Type="http://schemas.openxmlformats.org/officeDocument/2006/relationships/image" Target="../media/image44.png"/><Relationship Id="rId3" Type="http://schemas.openxmlformats.org/officeDocument/2006/relationships/image" Target="../media/image48.svg"/><Relationship Id="rId21" Type="http://schemas.openxmlformats.org/officeDocument/2006/relationships/image" Target="../media/image59.sv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58.svg"/><Relationship Id="rId25" Type="http://schemas.openxmlformats.org/officeDocument/2006/relationships/image" Target="../media/image43.svg"/><Relationship Id="rId2" Type="http://schemas.openxmlformats.org/officeDocument/2006/relationships/image" Target="../media/image47.png"/><Relationship Id="rId16" Type="http://schemas.openxmlformats.org/officeDocument/2006/relationships/image" Target="../media/image57.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7.svg"/><Relationship Id="rId24" Type="http://schemas.openxmlformats.org/officeDocument/2006/relationships/image" Target="../media/image29.png"/><Relationship Id="rId5" Type="http://schemas.openxmlformats.org/officeDocument/2006/relationships/image" Target="../media/image49.svg"/><Relationship Id="rId15" Type="http://schemas.openxmlformats.org/officeDocument/2006/relationships/image" Target="../media/image56.svg"/><Relationship Id="rId23" Type="http://schemas.openxmlformats.org/officeDocument/2006/relationships/image" Target="../media/image42.svg"/><Relationship Id="rId10" Type="http://schemas.openxmlformats.org/officeDocument/2006/relationships/image" Target="../media/image36.png"/><Relationship Id="rId19" Type="http://schemas.openxmlformats.org/officeDocument/2006/relationships/image" Target="../media/image41.svg"/><Relationship Id="rId4" Type="http://schemas.openxmlformats.org/officeDocument/2006/relationships/image" Target="../media/image1.png"/><Relationship Id="rId9" Type="http://schemas.openxmlformats.org/officeDocument/2006/relationships/image" Target="../media/image52.svg"/><Relationship Id="rId14" Type="http://schemas.openxmlformats.org/officeDocument/2006/relationships/image" Target="../media/image55.png"/><Relationship Id="rId22" Type="http://schemas.openxmlformats.org/officeDocument/2006/relationships/image" Target="../media/image27.png"/></Relationships>
</file>

<file path=ppt/slides/_rels/slide4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3.svg"/><Relationship Id="rId7" Type="http://schemas.openxmlformats.org/officeDocument/2006/relationships/image" Target="../media/image37.svg"/><Relationship Id="rId12" Type="http://schemas.openxmlformats.org/officeDocument/2006/relationships/image" Target="../media/image23.png"/><Relationship Id="rId17" Type="http://schemas.openxmlformats.org/officeDocument/2006/relationships/image" Target="../media/image45.png"/><Relationship Id="rId2" Type="http://schemas.openxmlformats.org/officeDocument/2006/relationships/image" Target="../media/image32.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0.svg"/><Relationship Id="rId5" Type="http://schemas.openxmlformats.org/officeDocument/2006/relationships/image" Target="../media/image35.svg"/><Relationship Id="rId15" Type="http://schemas.openxmlformats.org/officeDocument/2006/relationships/image" Target="../media/image43.sv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svg"/><Relationship Id="rId14" Type="http://schemas.openxmlformats.org/officeDocument/2006/relationships/image" Target="../media/image29.png"/></Relationships>
</file>

<file path=ppt/slides/_rels/slide4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svg"/><Relationship Id="rId18" Type="http://schemas.openxmlformats.org/officeDocument/2006/relationships/image" Target="../media/image102.svg"/><Relationship Id="rId26" Type="http://schemas.openxmlformats.org/officeDocument/2006/relationships/image" Target="../media/image30.svg"/><Relationship Id="rId3" Type="http://schemas.openxmlformats.org/officeDocument/2006/relationships/image" Target="../media/image2.svg"/><Relationship Id="rId21" Type="http://schemas.openxmlformats.org/officeDocument/2006/relationships/image" Target="../media/image23.png"/><Relationship Id="rId7" Type="http://schemas.openxmlformats.org/officeDocument/2006/relationships/image" Target="../media/image22.svg"/><Relationship Id="rId12" Type="http://schemas.openxmlformats.org/officeDocument/2006/relationships/image" Target="../media/image9.png"/><Relationship Id="rId17" Type="http://schemas.openxmlformats.org/officeDocument/2006/relationships/image" Target="../media/image101.png"/><Relationship Id="rId25" Type="http://schemas.openxmlformats.org/officeDocument/2006/relationships/image" Target="../media/image29.png"/><Relationship Id="rId2" Type="http://schemas.openxmlformats.org/officeDocument/2006/relationships/image" Target="../media/image1.png"/><Relationship Id="rId16" Type="http://schemas.openxmlformats.org/officeDocument/2006/relationships/image" Target="../media/image100.svg"/><Relationship Id="rId20" Type="http://schemas.openxmlformats.org/officeDocument/2006/relationships/image" Target="../media/image104.sv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8.svg"/><Relationship Id="rId24" Type="http://schemas.openxmlformats.org/officeDocument/2006/relationships/image" Target="../media/image28.svg"/><Relationship Id="rId5" Type="http://schemas.openxmlformats.org/officeDocument/2006/relationships/image" Target="../media/image4.svg"/><Relationship Id="rId15" Type="http://schemas.openxmlformats.org/officeDocument/2006/relationships/image" Target="../media/image99.png"/><Relationship Id="rId23" Type="http://schemas.openxmlformats.org/officeDocument/2006/relationships/image" Target="../media/image27.png"/><Relationship Id="rId10" Type="http://schemas.openxmlformats.org/officeDocument/2006/relationships/image" Target="../media/image7.png"/><Relationship Id="rId19" Type="http://schemas.openxmlformats.org/officeDocument/2006/relationships/image" Target="../media/image103.png"/><Relationship Id="rId4" Type="http://schemas.openxmlformats.org/officeDocument/2006/relationships/image" Target="../media/image3.png"/><Relationship Id="rId9" Type="http://schemas.openxmlformats.org/officeDocument/2006/relationships/image" Target="../media/image6.svg"/><Relationship Id="rId14" Type="http://schemas.openxmlformats.org/officeDocument/2006/relationships/image" Target="../media/image98.jpeg"/><Relationship Id="rId22" Type="http://schemas.openxmlformats.org/officeDocument/2006/relationships/image" Target="../media/image24.svg"/><Relationship Id="rId27"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a:off x="-555629" y="6252845"/>
            <a:ext cx="11100708" cy="4240529"/>
          </a:xfrm>
          <a:custGeom>
            <a:avLst/>
            <a:gdLst/>
            <a:ahLst/>
            <a:cxnLst/>
            <a:rect l="l" t="t" r="r" b="b"/>
            <a:pathLst>
              <a:path w="11100708" h="4240529">
                <a:moveTo>
                  <a:pt x="0" y="0"/>
                </a:moveTo>
                <a:lnTo>
                  <a:pt x="11100708" y="0"/>
                </a:lnTo>
                <a:lnTo>
                  <a:pt x="11100708" y="4240529"/>
                </a:lnTo>
                <a:lnTo>
                  <a:pt x="0" y="4240529"/>
                </a:lnTo>
                <a:lnTo>
                  <a:pt x="0" y="0"/>
                </a:lnTo>
                <a:close/>
              </a:path>
            </a:pathLst>
          </a:custGeom>
          <a:blipFill>
            <a:blip r:embed="rId2">
              <a:extLst>
                <a:ext uri="{96DAC541-7B7A-43D3-8B79-37D633B846F1}">
                  <asvg:svgBlip xmlns:asvg="http://schemas.microsoft.com/office/drawing/2016/SVG/main" r:embed="rId3"/>
                </a:ext>
              </a:extLst>
            </a:blip>
            <a:stretch>
              <a:fillRect l="-38801" b="-62516"/>
            </a:stretch>
          </a:blipFill>
        </p:spPr>
        <p:txBody>
          <a:bodyPr/>
          <a:lstStyle/>
          <a:p>
            <a:endParaRPr lang="en-US">
              <a:latin typeface="Arial" panose="020B0604020202020204" pitchFamily="34" charset="0"/>
              <a:cs typeface="Arial" panose="020B0604020202020204" pitchFamily="34" charset="0"/>
            </a:endParaRPr>
          </a:p>
        </p:txBody>
      </p:sp>
      <p:sp>
        <p:nvSpPr>
          <p:cNvPr id="3" name="Freeform 3"/>
          <p:cNvSpPr/>
          <p:nvPr/>
        </p:nvSpPr>
        <p:spPr>
          <a:xfrm>
            <a:off x="-183407" y="7034533"/>
            <a:ext cx="10356263" cy="3956148"/>
          </a:xfrm>
          <a:custGeom>
            <a:avLst/>
            <a:gdLst/>
            <a:ahLst/>
            <a:cxnLst/>
            <a:rect l="l" t="t" r="r" b="b"/>
            <a:pathLst>
              <a:path w="10356263" h="3956148">
                <a:moveTo>
                  <a:pt x="0" y="0"/>
                </a:moveTo>
                <a:lnTo>
                  <a:pt x="10356264" y="0"/>
                </a:lnTo>
                <a:lnTo>
                  <a:pt x="10356264" y="3956147"/>
                </a:lnTo>
                <a:lnTo>
                  <a:pt x="0" y="3956147"/>
                </a:lnTo>
                <a:lnTo>
                  <a:pt x="0" y="0"/>
                </a:lnTo>
                <a:close/>
              </a:path>
            </a:pathLst>
          </a:custGeom>
          <a:blipFill>
            <a:blip r:embed="rId4">
              <a:extLst>
                <a:ext uri="{96DAC541-7B7A-43D3-8B79-37D633B846F1}">
                  <asvg:svgBlip xmlns:asvg="http://schemas.microsoft.com/office/drawing/2016/SVG/main" r:embed="rId5"/>
                </a:ext>
              </a:extLst>
            </a:blip>
            <a:stretch>
              <a:fillRect l="-38801" b="-62516"/>
            </a:stretch>
          </a:blipFill>
        </p:spPr>
        <p:txBody>
          <a:bodyPr/>
          <a:lstStyle/>
          <a:p>
            <a:endParaRPr lang="en-US">
              <a:latin typeface="Arial" panose="020B0604020202020204" pitchFamily="34" charset="0"/>
              <a:cs typeface="Arial" panose="020B0604020202020204" pitchFamily="34" charset="0"/>
            </a:endParaRPr>
          </a:p>
        </p:txBody>
      </p:sp>
      <p:grpSp>
        <p:nvGrpSpPr>
          <p:cNvPr id="4" name="Group 4"/>
          <p:cNvGrpSpPr/>
          <p:nvPr/>
        </p:nvGrpSpPr>
        <p:grpSpPr>
          <a:xfrm>
            <a:off x="10574291" y="3170679"/>
            <a:ext cx="5279327" cy="5873018"/>
            <a:chOff x="0" y="0"/>
            <a:chExt cx="1116434" cy="1241983"/>
          </a:xfrm>
        </p:grpSpPr>
        <p:sp>
          <p:nvSpPr>
            <p:cNvPr id="5" name="Freeform 5"/>
            <p:cNvSpPr/>
            <p:nvPr/>
          </p:nvSpPr>
          <p:spPr>
            <a:xfrm>
              <a:off x="0" y="0"/>
              <a:ext cx="1116434" cy="1241983"/>
            </a:xfrm>
            <a:custGeom>
              <a:avLst/>
              <a:gdLst/>
              <a:ahLst/>
              <a:cxnLst/>
              <a:rect l="l" t="t" r="r" b="b"/>
              <a:pathLst>
                <a:path w="1116434" h="1241983">
                  <a:moveTo>
                    <a:pt x="58658" y="0"/>
                  </a:moveTo>
                  <a:lnTo>
                    <a:pt x="1057775" y="0"/>
                  </a:lnTo>
                  <a:cubicBezTo>
                    <a:pt x="1090171" y="0"/>
                    <a:pt x="1116434" y="26262"/>
                    <a:pt x="1116434" y="58658"/>
                  </a:cubicBezTo>
                  <a:lnTo>
                    <a:pt x="1116434" y="1183325"/>
                  </a:lnTo>
                  <a:cubicBezTo>
                    <a:pt x="1116434" y="1215721"/>
                    <a:pt x="1090171" y="1241983"/>
                    <a:pt x="1057775" y="1241983"/>
                  </a:cubicBezTo>
                  <a:lnTo>
                    <a:pt x="58658" y="1241983"/>
                  </a:lnTo>
                  <a:cubicBezTo>
                    <a:pt x="26262" y="1241983"/>
                    <a:pt x="0" y="1215721"/>
                    <a:pt x="0" y="1183325"/>
                  </a:cubicBezTo>
                  <a:lnTo>
                    <a:pt x="0" y="58658"/>
                  </a:lnTo>
                  <a:cubicBezTo>
                    <a:pt x="0" y="26262"/>
                    <a:pt x="26262" y="0"/>
                    <a:pt x="58658" y="0"/>
                  </a:cubicBezTo>
                  <a:close/>
                </a:path>
              </a:pathLst>
            </a:custGeom>
            <a:solidFill>
              <a:srgbClr val="F8E4CB"/>
            </a:solidFill>
            <a:ln w="12700">
              <a:solidFill>
                <a:srgbClr val="000000"/>
              </a:solidFill>
            </a:ln>
          </p:spPr>
          <p:txBody>
            <a:bodyPr/>
            <a:lstStyle/>
            <a:p>
              <a:endParaRPr lang="en-US">
                <a:latin typeface="Arial" panose="020B0604020202020204" pitchFamily="34" charset="0"/>
                <a:cs typeface="Arial" panose="020B0604020202020204" pitchFamily="34" charset="0"/>
              </a:endParaRPr>
            </a:p>
          </p:txBody>
        </p:sp>
      </p:grpSp>
      <p:sp>
        <p:nvSpPr>
          <p:cNvPr id="6" name="Freeform 6"/>
          <p:cNvSpPr/>
          <p:nvPr/>
        </p:nvSpPr>
        <p:spPr>
          <a:xfrm rot="-10800000">
            <a:off x="6504620" y="-4586655"/>
            <a:ext cx="12393335" cy="14658783"/>
          </a:xfrm>
          <a:custGeom>
            <a:avLst/>
            <a:gdLst/>
            <a:ahLst/>
            <a:cxnLst/>
            <a:rect l="l" t="t" r="r" b="b"/>
            <a:pathLst>
              <a:path w="12393335" h="14658783">
                <a:moveTo>
                  <a:pt x="0" y="0"/>
                </a:moveTo>
                <a:lnTo>
                  <a:pt x="12393335" y="0"/>
                </a:lnTo>
                <a:lnTo>
                  <a:pt x="12393335" y="14658783"/>
                </a:lnTo>
                <a:lnTo>
                  <a:pt x="0" y="146587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7" name="AutoShape 7"/>
          <p:cNvSpPr/>
          <p:nvPr/>
        </p:nvSpPr>
        <p:spPr>
          <a:xfrm>
            <a:off x="1647891" y="6825841"/>
            <a:ext cx="5072616" cy="0"/>
          </a:xfrm>
          <a:prstGeom prst="line">
            <a:avLst/>
          </a:prstGeom>
          <a:ln w="66675" cap="rnd">
            <a:solidFill>
              <a:srgbClr val="171814"/>
            </a:solidFill>
            <a:prstDash val="solid"/>
            <a:headEnd type="none" w="sm" len="sm"/>
            <a:tailEnd type="none" w="sm" len="sm"/>
          </a:ln>
        </p:spPr>
        <p:txBody>
          <a:bodyPr/>
          <a:lstStyle/>
          <a:p>
            <a:endParaRPr lang="en-US">
              <a:latin typeface="Arial" panose="020B0604020202020204" pitchFamily="34" charset="0"/>
              <a:cs typeface="Arial" panose="020B0604020202020204" pitchFamily="34" charset="0"/>
            </a:endParaRPr>
          </a:p>
        </p:txBody>
      </p:sp>
      <p:grpSp>
        <p:nvGrpSpPr>
          <p:cNvPr id="8" name="Group 8"/>
          <p:cNvGrpSpPr/>
          <p:nvPr/>
        </p:nvGrpSpPr>
        <p:grpSpPr>
          <a:xfrm>
            <a:off x="9979863" y="8833536"/>
            <a:ext cx="8094023" cy="477912"/>
            <a:chOff x="0" y="0"/>
            <a:chExt cx="880164" cy="51969"/>
          </a:xfrm>
        </p:grpSpPr>
        <p:sp>
          <p:nvSpPr>
            <p:cNvPr id="9" name="Freeform 9"/>
            <p:cNvSpPr/>
            <p:nvPr/>
          </p:nvSpPr>
          <p:spPr>
            <a:xfrm>
              <a:off x="0" y="0"/>
              <a:ext cx="880164" cy="51969"/>
            </a:xfrm>
            <a:custGeom>
              <a:avLst/>
              <a:gdLst/>
              <a:ahLst/>
              <a:cxnLst/>
              <a:rect l="l" t="t" r="r" b="b"/>
              <a:pathLst>
                <a:path w="880164" h="51969">
                  <a:moveTo>
                    <a:pt x="440082" y="0"/>
                  </a:moveTo>
                  <a:cubicBezTo>
                    <a:pt x="197031" y="0"/>
                    <a:pt x="0" y="11634"/>
                    <a:pt x="0" y="25985"/>
                  </a:cubicBezTo>
                  <a:cubicBezTo>
                    <a:pt x="0" y="40336"/>
                    <a:pt x="197031" y="51969"/>
                    <a:pt x="440082" y="51969"/>
                  </a:cubicBezTo>
                  <a:cubicBezTo>
                    <a:pt x="683132" y="51969"/>
                    <a:pt x="880164" y="40336"/>
                    <a:pt x="880164" y="25985"/>
                  </a:cubicBezTo>
                  <a:cubicBezTo>
                    <a:pt x="880164" y="11634"/>
                    <a:pt x="683132" y="0"/>
                    <a:pt x="440082" y="0"/>
                  </a:cubicBezTo>
                  <a:close/>
                </a:path>
              </a:pathLst>
            </a:custGeom>
            <a:solidFill>
              <a:srgbClr val="EBCDB3"/>
            </a:solidFill>
          </p:spPr>
          <p:txBody>
            <a:bodyPr/>
            <a:lstStyle/>
            <a:p>
              <a:endParaRPr lang="en-US">
                <a:latin typeface="Arial" panose="020B0604020202020204" pitchFamily="34" charset="0"/>
                <a:cs typeface="Arial" panose="020B0604020202020204" pitchFamily="34" charset="0"/>
              </a:endParaRPr>
            </a:p>
          </p:txBody>
        </p:sp>
        <p:sp>
          <p:nvSpPr>
            <p:cNvPr id="10" name="TextBox 10"/>
            <p:cNvSpPr txBox="1"/>
            <p:nvPr/>
          </p:nvSpPr>
          <p:spPr>
            <a:xfrm>
              <a:off x="82515" y="-61803"/>
              <a:ext cx="715133" cy="108900"/>
            </a:xfrm>
            <a:prstGeom prst="rect">
              <a:avLst/>
            </a:prstGeom>
          </p:spPr>
          <p:txBody>
            <a:bodyPr lIns="50800" tIns="50800" rIns="50800" bIns="50800" rtlCol="0" anchor="ctr"/>
            <a:lstStyle/>
            <a:p>
              <a:pPr algn="ctr">
                <a:lnSpc>
                  <a:spcPts val="2800"/>
                </a:lnSpc>
              </a:pPr>
              <a:endParaRPr>
                <a:latin typeface="Arial" panose="020B0604020202020204" pitchFamily="34" charset="0"/>
                <a:cs typeface="Arial" panose="020B0604020202020204" pitchFamily="34" charset="0"/>
              </a:endParaRPr>
            </a:p>
          </p:txBody>
        </p:sp>
      </p:grpSp>
      <p:sp>
        <p:nvSpPr>
          <p:cNvPr id="11" name="Freeform 11"/>
          <p:cNvSpPr/>
          <p:nvPr/>
        </p:nvSpPr>
        <p:spPr>
          <a:xfrm rot="-10800000">
            <a:off x="8601899" y="-3978960"/>
            <a:ext cx="10296056" cy="12178131"/>
          </a:xfrm>
          <a:custGeom>
            <a:avLst/>
            <a:gdLst/>
            <a:ahLst/>
            <a:cxnLst/>
            <a:rect l="l" t="t" r="r" b="b"/>
            <a:pathLst>
              <a:path w="10296056" h="12178131">
                <a:moveTo>
                  <a:pt x="0" y="0"/>
                </a:moveTo>
                <a:lnTo>
                  <a:pt x="10296056" y="0"/>
                </a:lnTo>
                <a:lnTo>
                  <a:pt x="10296056" y="12178131"/>
                </a:lnTo>
                <a:lnTo>
                  <a:pt x="0" y="121781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2" name="Freeform 12"/>
          <p:cNvSpPr/>
          <p:nvPr/>
        </p:nvSpPr>
        <p:spPr>
          <a:xfrm>
            <a:off x="9979863" y="-4371248"/>
            <a:ext cx="9907794" cy="8736873"/>
          </a:xfrm>
          <a:custGeom>
            <a:avLst/>
            <a:gdLst/>
            <a:ahLst/>
            <a:cxnLst/>
            <a:rect l="l" t="t" r="r" b="b"/>
            <a:pathLst>
              <a:path w="9907794" h="8736873">
                <a:moveTo>
                  <a:pt x="0" y="0"/>
                </a:moveTo>
                <a:lnTo>
                  <a:pt x="9907794" y="0"/>
                </a:lnTo>
                <a:lnTo>
                  <a:pt x="9907794" y="8736873"/>
                </a:lnTo>
                <a:lnTo>
                  <a:pt x="0" y="8736873"/>
                </a:lnTo>
                <a:lnTo>
                  <a:pt x="0" y="0"/>
                </a:lnTo>
                <a:close/>
              </a:path>
            </a:pathLst>
          </a:custGeom>
          <a:blipFill>
            <a:blip r:embed="rId10">
              <a:alphaModFix amt="50000"/>
              <a:extLst>
                <a:ext uri="{96DAC541-7B7A-43D3-8B79-37D633B846F1}">
                  <asvg:svgBlip xmlns:asvg="http://schemas.microsoft.com/office/drawing/2016/SVG/main" r:embed="rId11"/>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3" name="Freeform 13"/>
          <p:cNvSpPr/>
          <p:nvPr/>
        </p:nvSpPr>
        <p:spPr>
          <a:xfrm>
            <a:off x="10728204" y="2454380"/>
            <a:ext cx="6857461" cy="6558226"/>
          </a:xfrm>
          <a:custGeom>
            <a:avLst/>
            <a:gdLst/>
            <a:ahLst/>
            <a:cxnLst/>
            <a:rect l="l" t="t" r="r" b="b"/>
            <a:pathLst>
              <a:path w="6857461" h="6558226">
                <a:moveTo>
                  <a:pt x="0" y="0"/>
                </a:moveTo>
                <a:lnTo>
                  <a:pt x="6857460" y="0"/>
                </a:lnTo>
                <a:lnTo>
                  <a:pt x="6857460" y="6558226"/>
                </a:lnTo>
                <a:lnTo>
                  <a:pt x="0" y="655822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4" name="Freeform 14"/>
          <p:cNvSpPr/>
          <p:nvPr/>
        </p:nvSpPr>
        <p:spPr>
          <a:xfrm>
            <a:off x="14796308" y="6825841"/>
            <a:ext cx="2583689" cy="2217857"/>
          </a:xfrm>
          <a:custGeom>
            <a:avLst/>
            <a:gdLst/>
            <a:ahLst/>
            <a:cxnLst/>
            <a:rect l="l" t="t" r="r" b="b"/>
            <a:pathLst>
              <a:path w="2583689" h="2217857">
                <a:moveTo>
                  <a:pt x="0" y="0"/>
                </a:moveTo>
                <a:lnTo>
                  <a:pt x="2583689" y="0"/>
                </a:lnTo>
                <a:lnTo>
                  <a:pt x="2583689" y="2217856"/>
                </a:lnTo>
                <a:lnTo>
                  <a:pt x="0" y="221785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5" name="Freeform 15"/>
          <p:cNvSpPr/>
          <p:nvPr/>
        </p:nvSpPr>
        <p:spPr>
          <a:xfrm>
            <a:off x="10728204" y="5906954"/>
            <a:ext cx="2120871" cy="3094109"/>
          </a:xfrm>
          <a:custGeom>
            <a:avLst/>
            <a:gdLst/>
            <a:ahLst/>
            <a:cxnLst/>
            <a:rect l="l" t="t" r="r" b="b"/>
            <a:pathLst>
              <a:path w="2120871" h="3094109">
                <a:moveTo>
                  <a:pt x="0" y="0"/>
                </a:moveTo>
                <a:lnTo>
                  <a:pt x="2120871" y="0"/>
                </a:lnTo>
                <a:lnTo>
                  <a:pt x="2120871" y="3094109"/>
                </a:lnTo>
                <a:lnTo>
                  <a:pt x="0" y="309410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6" name="Freeform 16"/>
          <p:cNvSpPr/>
          <p:nvPr/>
        </p:nvSpPr>
        <p:spPr>
          <a:xfrm>
            <a:off x="10875855" y="4193653"/>
            <a:ext cx="6291331" cy="4850044"/>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7" name="Freeform 17"/>
          <p:cNvSpPr/>
          <p:nvPr/>
        </p:nvSpPr>
        <p:spPr>
          <a:xfrm>
            <a:off x="14505173" y="6959548"/>
            <a:ext cx="2298752" cy="2298752"/>
          </a:xfrm>
          <a:custGeom>
            <a:avLst/>
            <a:gdLst/>
            <a:ahLst/>
            <a:cxnLst/>
            <a:rect l="l" t="t" r="r" b="b"/>
            <a:pathLst>
              <a:path w="2298752" h="2298752">
                <a:moveTo>
                  <a:pt x="0" y="0"/>
                </a:moveTo>
                <a:lnTo>
                  <a:pt x="2298751" y="0"/>
                </a:lnTo>
                <a:lnTo>
                  <a:pt x="2298751" y="2298752"/>
                </a:lnTo>
                <a:lnTo>
                  <a:pt x="0" y="22987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8" name="Freeform 18"/>
          <p:cNvSpPr/>
          <p:nvPr/>
        </p:nvSpPr>
        <p:spPr>
          <a:xfrm rot="6524213">
            <a:off x="24749" y="6304089"/>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22">
              <a:alphaModFix amt="50000"/>
              <a:extLst>
                <a:ext uri="{96DAC541-7B7A-43D3-8B79-37D633B846F1}">
                  <asvg:svgBlip xmlns:asvg="http://schemas.microsoft.com/office/drawing/2016/SVG/main" r:embed="rId23"/>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19" name="Freeform 19"/>
          <p:cNvSpPr/>
          <p:nvPr/>
        </p:nvSpPr>
        <p:spPr>
          <a:xfrm>
            <a:off x="10172857" y="2785700"/>
            <a:ext cx="820691" cy="769957"/>
          </a:xfrm>
          <a:custGeom>
            <a:avLst/>
            <a:gdLst/>
            <a:ahLst/>
            <a:cxnLst/>
            <a:rect l="l" t="t" r="r" b="b"/>
            <a:pathLst>
              <a:path w="820691" h="769957">
                <a:moveTo>
                  <a:pt x="0" y="0"/>
                </a:moveTo>
                <a:lnTo>
                  <a:pt x="820691" y="0"/>
                </a:lnTo>
                <a:lnTo>
                  <a:pt x="820691" y="769958"/>
                </a:lnTo>
                <a:lnTo>
                  <a:pt x="0" y="769958"/>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20" name="Freeform 20"/>
          <p:cNvSpPr/>
          <p:nvPr/>
        </p:nvSpPr>
        <p:spPr>
          <a:xfrm>
            <a:off x="1028700" y="2429018"/>
            <a:ext cx="1020982" cy="1039889"/>
          </a:xfrm>
          <a:custGeom>
            <a:avLst/>
            <a:gdLst/>
            <a:ahLst/>
            <a:cxnLst/>
            <a:rect l="l" t="t" r="r" b="b"/>
            <a:pathLst>
              <a:path w="1020982" h="1039889">
                <a:moveTo>
                  <a:pt x="0" y="0"/>
                </a:moveTo>
                <a:lnTo>
                  <a:pt x="1020982" y="0"/>
                </a:lnTo>
                <a:lnTo>
                  <a:pt x="1020982" y="1039889"/>
                </a:lnTo>
                <a:lnTo>
                  <a:pt x="0" y="1039889"/>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21" name="Freeform 21"/>
          <p:cNvSpPr/>
          <p:nvPr/>
        </p:nvSpPr>
        <p:spPr>
          <a:xfrm>
            <a:off x="8601899" y="6764562"/>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22" name="Freeform 22"/>
          <p:cNvSpPr/>
          <p:nvPr/>
        </p:nvSpPr>
        <p:spPr>
          <a:xfrm>
            <a:off x="16734626" y="5103725"/>
            <a:ext cx="1049348" cy="803228"/>
          </a:xfrm>
          <a:custGeom>
            <a:avLst/>
            <a:gdLst/>
            <a:ahLst/>
            <a:cxnLst/>
            <a:rect l="l" t="t" r="r" b="b"/>
            <a:pathLst>
              <a:path w="1049348" h="803228">
                <a:moveTo>
                  <a:pt x="0" y="0"/>
                </a:moveTo>
                <a:lnTo>
                  <a:pt x="1049348" y="0"/>
                </a:lnTo>
                <a:lnTo>
                  <a:pt x="1049348" y="803229"/>
                </a:lnTo>
                <a:lnTo>
                  <a:pt x="0" y="803229"/>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23" name="Freeform 23"/>
          <p:cNvSpPr/>
          <p:nvPr/>
        </p:nvSpPr>
        <p:spPr>
          <a:xfrm>
            <a:off x="11357675" y="1024669"/>
            <a:ext cx="5598518" cy="1063718"/>
          </a:xfrm>
          <a:custGeom>
            <a:avLst/>
            <a:gdLst/>
            <a:ahLst/>
            <a:cxnLst/>
            <a:rect l="l" t="t" r="r" b="b"/>
            <a:pathLst>
              <a:path w="5598518" h="1063718">
                <a:moveTo>
                  <a:pt x="0" y="0"/>
                </a:moveTo>
                <a:lnTo>
                  <a:pt x="5598518" y="0"/>
                </a:lnTo>
                <a:lnTo>
                  <a:pt x="5598518" y="1063718"/>
                </a:lnTo>
                <a:lnTo>
                  <a:pt x="0" y="1063718"/>
                </a:lnTo>
                <a:lnTo>
                  <a:pt x="0" y="0"/>
                </a:lnTo>
                <a:close/>
              </a:path>
            </a:pathLst>
          </a:custGeom>
          <a:blipFill>
            <a:blip r:embed="rId32"/>
            <a:stretch>
              <a:fillRect/>
            </a:stretch>
          </a:blipFill>
        </p:spPr>
        <p:txBody>
          <a:bodyPr/>
          <a:lstStyle/>
          <a:p>
            <a:endParaRPr lang="en-US">
              <a:latin typeface="Arial" panose="020B0604020202020204" pitchFamily="34" charset="0"/>
              <a:cs typeface="Arial" panose="020B0604020202020204" pitchFamily="34" charset="0"/>
            </a:endParaRPr>
          </a:p>
        </p:txBody>
      </p:sp>
      <p:sp>
        <p:nvSpPr>
          <p:cNvPr id="24" name="TextBox 24"/>
          <p:cNvSpPr txBox="1"/>
          <p:nvPr/>
        </p:nvSpPr>
        <p:spPr>
          <a:xfrm>
            <a:off x="1691964" y="3545107"/>
            <a:ext cx="7348357" cy="2973446"/>
          </a:xfrm>
          <a:prstGeom prst="rect">
            <a:avLst/>
          </a:prstGeom>
        </p:spPr>
        <p:txBody>
          <a:bodyPr lIns="0" tIns="0" rIns="0" bIns="0" rtlCol="0" anchor="t">
            <a:spAutoFit/>
          </a:bodyPr>
          <a:lstStyle/>
          <a:p>
            <a:pPr algn="l">
              <a:lnSpc>
                <a:spcPts val="7564"/>
              </a:lnSpc>
            </a:pPr>
            <a:r>
              <a:rPr lang="en-US" sz="7564" b="1" dirty="0">
                <a:solidFill>
                  <a:srgbClr val="171814"/>
                </a:solidFill>
                <a:latin typeface="Arial" panose="020B0604020202020204" pitchFamily="34" charset="0"/>
                <a:ea typeface="Poppins Bold"/>
                <a:cs typeface="Arial" panose="020B0604020202020204" pitchFamily="34" charset="0"/>
                <a:sym typeface="Poppins Bold"/>
              </a:rPr>
              <a:t>PHÁP LUẬT VỀ  CÔNG NGHỆ THÔNG TIN</a:t>
            </a:r>
          </a:p>
        </p:txBody>
      </p:sp>
      <p:sp>
        <p:nvSpPr>
          <p:cNvPr id="25" name="TextBox 25"/>
          <p:cNvSpPr txBox="1"/>
          <p:nvPr/>
        </p:nvSpPr>
        <p:spPr>
          <a:xfrm>
            <a:off x="1647891" y="7197541"/>
            <a:ext cx="6006720" cy="456792"/>
          </a:xfrm>
          <a:prstGeom prst="rect">
            <a:avLst/>
          </a:prstGeom>
        </p:spPr>
        <p:txBody>
          <a:bodyPr lIns="0" tIns="0" rIns="0" bIns="0" rtlCol="0" anchor="t">
            <a:spAutoFit/>
          </a:bodyPr>
          <a:lstStyle/>
          <a:p>
            <a:pPr algn="l">
              <a:lnSpc>
                <a:spcPts val="3919"/>
              </a:lnSpc>
            </a:pPr>
            <a:r>
              <a:rPr lang="en-US" sz="2799" b="1">
                <a:solidFill>
                  <a:srgbClr val="171814"/>
                </a:solidFill>
                <a:latin typeface="Arial" panose="020B0604020202020204" pitchFamily="34" charset="0"/>
                <a:ea typeface="Poppins Bold"/>
                <a:cs typeface="Arial" panose="020B0604020202020204" pitchFamily="34" charset="0"/>
                <a:sym typeface="Poppins Bold"/>
              </a:rPr>
              <a:t>Giảng viên:</a:t>
            </a:r>
            <a:r>
              <a:rPr lang="en-US" sz="2799">
                <a:solidFill>
                  <a:srgbClr val="171814"/>
                </a:solidFill>
                <a:latin typeface="Arial" panose="020B0604020202020204" pitchFamily="34" charset="0"/>
                <a:ea typeface="Poppins"/>
                <a:cs typeface="Arial" panose="020B0604020202020204" pitchFamily="34" charset="0"/>
                <a:sym typeface="Poppins"/>
              </a:rPr>
              <a:t> ThS. Đoàn Công Thức</a:t>
            </a:r>
          </a:p>
        </p:txBody>
      </p:sp>
      <p:sp>
        <p:nvSpPr>
          <p:cNvPr id="26" name="TextBox 26"/>
          <p:cNvSpPr txBox="1"/>
          <p:nvPr/>
        </p:nvSpPr>
        <p:spPr>
          <a:xfrm>
            <a:off x="1691964" y="1489853"/>
            <a:ext cx="6751236" cy="409599"/>
          </a:xfrm>
          <a:prstGeom prst="rect">
            <a:avLst/>
          </a:prstGeom>
        </p:spPr>
        <p:txBody>
          <a:bodyPr lIns="0" tIns="0" rIns="0" bIns="0" rtlCol="0" anchor="t">
            <a:spAutoFit/>
          </a:bodyPr>
          <a:lstStyle/>
          <a:p>
            <a:pPr algn="l">
              <a:lnSpc>
                <a:spcPts val="3499"/>
              </a:lnSpc>
            </a:pPr>
            <a:r>
              <a:rPr lang="en-US" sz="2499">
                <a:solidFill>
                  <a:srgbClr val="171814"/>
                </a:solidFill>
                <a:latin typeface="Arial" panose="020B0604020202020204" pitchFamily="34" charset="0"/>
                <a:ea typeface="Poppins"/>
                <a:cs typeface="Arial" panose="020B0604020202020204" pitchFamily="34" charset="0"/>
                <a:sym typeface="Poppins"/>
              </a:rPr>
              <a:t>Trường Đại học Giao thông vận tải TP.HCM</a:t>
            </a:r>
          </a:p>
        </p:txBody>
      </p:sp>
      <p:sp>
        <p:nvSpPr>
          <p:cNvPr id="27" name="TextBox 27"/>
          <p:cNvSpPr txBox="1"/>
          <p:nvPr/>
        </p:nvSpPr>
        <p:spPr>
          <a:xfrm>
            <a:off x="6504620" y="8137259"/>
            <a:ext cx="2639380" cy="444289"/>
          </a:xfrm>
          <a:prstGeom prst="rect">
            <a:avLst/>
          </a:prstGeom>
        </p:spPr>
        <p:txBody>
          <a:bodyPr lIns="0" tIns="0" rIns="0" bIns="0" rtlCol="0" anchor="t">
            <a:spAutoFit/>
          </a:bodyPr>
          <a:lstStyle/>
          <a:p>
            <a:pPr algn="r">
              <a:lnSpc>
                <a:spcPts val="3779"/>
              </a:lnSpc>
            </a:pPr>
            <a:r>
              <a:rPr lang="en-US" sz="2699">
                <a:solidFill>
                  <a:srgbClr val="171814"/>
                </a:solidFill>
                <a:latin typeface="Arial" panose="020B0604020202020204" pitchFamily="34" charset="0"/>
                <a:ea typeface="Poppins"/>
                <a:cs typeface="Arial" panose="020B0604020202020204" pitchFamily="34" charset="0"/>
                <a:sym typeface="Poppins"/>
              </a:rPr>
              <a:t>Thực hiện</a:t>
            </a:r>
          </a:p>
        </p:txBody>
      </p:sp>
      <p:sp>
        <p:nvSpPr>
          <p:cNvPr id="28" name="TextBox 28"/>
          <p:cNvSpPr txBox="1"/>
          <p:nvPr/>
        </p:nvSpPr>
        <p:spPr>
          <a:xfrm>
            <a:off x="6504620" y="8578266"/>
            <a:ext cx="2639380" cy="960120"/>
          </a:xfrm>
          <a:prstGeom prst="rect">
            <a:avLst/>
          </a:prstGeom>
        </p:spPr>
        <p:txBody>
          <a:bodyPr lIns="0" tIns="0" rIns="0" bIns="0" rtlCol="0" anchor="t">
            <a:spAutoFit/>
          </a:bodyPr>
          <a:lstStyle/>
          <a:p>
            <a:pPr algn="r">
              <a:lnSpc>
                <a:spcPts val="3779"/>
              </a:lnSpc>
            </a:pPr>
            <a:r>
              <a:rPr lang="en-US" sz="2699" b="1">
                <a:solidFill>
                  <a:srgbClr val="171814"/>
                </a:solidFill>
                <a:latin typeface="Arial" panose="020B0604020202020204" pitchFamily="34" charset="0"/>
                <a:ea typeface="Poppins Bold"/>
                <a:cs typeface="Arial" panose="020B0604020202020204" pitchFamily="34" charset="0"/>
                <a:sym typeface="Poppins Bold"/>
              </a:rPr>
              <a:t>Nhóm 1</a:t>
            </a:r>
          </a:p>
          <a:p>
            <a:pPr algn="r">
              <a:lnSpc>
                <a:spcPts val="3779"/>
              </a:lnSpc>
            </a:pPr>
            <a:endParaRPr lang="en-US" sz="2699" b="1">
              <a:solidFill>
                <a:srgbClr val="171814"/>
              </a:solidFill>
              <a:latin typeface="Arial" panose="020B0604020202020204" pitchFamily="34" charset="0"/>
              <a:ea typeface="Poppins Bold"/>
              <a:cs typeface="Arial" panose="020B0604020202020204" pitchFamily="34" charset="0"/>
              <a:sym typeface="Poppins Bold"/>
            </a:endParaRPr>
          </a:p>
        </p:txBody>
      </p:sp>
      <p:sp>
        <p:nvSpPr>
          <p:cNvPr id="29" name="TextBox 29"/>
          <p:cNvSpPr txBox="1"/>
          <p:nvPr/>
        </p:nvSpPr>
        <p:spPr>
          <a:xfrm>
            <a:off x="17264166" y="9210675"/>
            <a:ext cx="142667" cy="327718"/>
          </a:xfrm>
          <a:prstGeom prst="rect">
            <a:avLst/>
          </a:prstGeom>
        </p:spPr>
        <p:txBody>
          <a:bodyPr wrap="none" lIns="0" tIns="0" rIns="0" bIns="0" rtlCol="0" anchor="t">
            <a:spAutoFit/>
          </a:bodyPr>
          <a:lstStyle/>
          <a:p>
            <a:pPr algn="ctr">
              <a:lnSpc>
                <a:spcPts val="2800"/>
              </a:lnSpc>
              <a:spcBef>
                <a:spcPct val="0"/>
              </a:spcBef>
            </a:pPr>
            <a:r>
              <a:rPr lang="en-US" sz="2000">
                <a:solidFill>
                  <a:srgbClr val="171814"/>
                </a:solidFill>
                <a:latin typeface="Arial" panose="020B0604020202020204" pitchFamily="34" charset="0"/>
                <a:ea typeface="Noto Sans"/>
                <a:cs typeface="Arial" panose="020B0604020202020204" pitchFamily="34" charset="0"/>
                <a:sym typeface="Noto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Freeform 6"/>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7" name="Freeform 7"/>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9" name="Freeform 9"/>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0" name="Freeform 10"/>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1" name="Freeform 11"/>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6">
              <a:extLst>
                <a:ext uri="{96DAC541-7B7A-43D3-8B79-37D633B846F1}">
                  <asvg:svgBlip xmlns:asvg="http://schemas.microsoft.com/office/drawing/2016/SVG/main" r:embed="rId17"/>
                </a:ext>
              </a:extLst>
            </a:blip>
            <a:stretch>
              <a:fillRect t="-20" b="-21"/>
            </a:stretch>
          </a:blipFill>
        </p:spPr>
        <p:txBody>
          <a:bodyPr/>
          <a:lstStyle/>
          <a:p>
            <a:endParaRPr lang="en-US"/>
          </a:p>
        </p:txBody>
      </p:sp>
      <p:sp>
        <p:nvSpPr>
          <p:cNvPr id="13" name="Freeform 13"/>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8"/>
            <a:stretch>
              <a:fillRect/>
            </a:stretch>
          </a:blipFill>
        </p:spPr>
        <p:txBody>
          <a:bodyPr/>
          <a:lstStyle/>
          <a:p>
            <a:endParaRPr lang="en-US"/>
          </a:p>
        </p:txBody>
      </p:sp>
      <p:sp>
        <p:nvSpPr>
          <p:cNvPr id="14" name="TextBox 14"/>
          <p:cNvSpPr txBox="1"/>
          <p:nvPr/>
        </p:nvSpPr>
        <p:spPr>
          <a:xfrm>
            <a:off x="1954425" y="1284019"/>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THÀNH VIÊN NHÓM 1</a:t>
            </a:r>
          </a:p>
        </p:txBody>
      </p:sp>
      <p:sp>
        <p:nvSpPr>
          <p:cNvPr id="15" name="Freeform 15"/>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9">
              <a:extLst>
                <a:ext uri="{96DAC541-7B7A-43D3-8B79-37D633B846F1}">
                  <asvg:svgBlip xmlns:asvg="http://schemas.microsoft.com/office/drawing/2016/SVG/main" r:embed="rId20"/>
                </a:ext>
              </a:extLst>
            </a:blip>
            <a:stretch>
              <a:fillRect t="-147" b="-147"/>
            </a:stretch>
          </a:blipFill>
        </p:spPr>
        <p:txBody>
          <a:bodyPr/>
          <a:lstStyle/>
          <a:p>
            <a:endParaRPr lang="en-US"/>
          </a:p>
        </p:txBody>
      </p:sp>
      <p:graphicFrame>
        <p:nvGraphicFramePr>
          <p:cNvPr id="16" name="Table 16"/>
          <p:cNvGraphicFramePr>
            <a:graphicFrameLocks noGrp="1"/>
          </p:cNvGraphicFramePr>
          <p:nvPr/>
        </p:nvGraphicFramePr>
        <p:xfrm>
          <a:off x="1954425" y="2838050"/>
          <a:ext cx="13947353" cy="6042030"/>
        </p:xfrm>
        <a:graphic>
          <a:graphicData uri="http://schemas.openxmlformats.org/drawingml/2006/table">
            <a:tbl>
              <a:tblPr/>
              <a:tblGrid>
                <a:gridCol w="1618861">
                  <a:extLst>
                    <a:ext uri="{9D8B030D-6E8A-4147-A177-3AD203B41FA5}">
                      <a16:colId xmlns:a16="http://schemas.microsoft.com/office/drawing/2014/main" val="20000"/>
                    </a:ext>
                  </a:extLst>
                </a:gridCol>
                <a:gridCol w="5513258">
                  <a:extLst>
                    <a:ext uri="{9D8B030D-6E8A-4147-A177-3AD203B41FA5}">
                      <a16:colId xmlns:a16="http://schemas.microsoft.com/office/drawing/2014/main" val="20001"/>
                    </a:ext>
                  </a:extLst>
                </a:gridCol>
                <a:gridCol w="6815234">
                  <a:extLst>
                    <a:ext uri="{9D8B030D-6E8A-4147-A177-3AD203B41FA5}">
                      <a16:colId xmlns:a16="http://schemas.microsoft.com/office/drawing/2014/main" val="20002"/>
                    </a:ext>
                  </a:extLst>
                </a:gridCol>
              </a:tblGrid>
              <a:tr h="1007005">
                <a:tc>
                  <a:txBody>
                    <a:bodyPr/>
                    <a:lstStyle/>
                    <a:p>
                      <a:pPr algn="ctr">
                        <a:lnSpc>
                          <a:spcPts val="4479"/>
                        </a:lnSpc>
                        <a:defRPr/>
                      </a:pPr>
                      <a:r>
                        <a:rPr lang="en-US" sz="3199" b="1">
                          <a:solidFill>
                            <a:srgbClr val="002060"/>
                          </a:solidFill>
                          <a:latin typeface="Inter Bold"/>
                          <a:ea typeface="Inter Bold"/>
                          <a:cs typeface="Inter Bold"/>
                          <a:sym typeface="Inter Bold"/>
                        </a:rPr>
                        <a:t>STT</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a:solidFill>
                            <a:srgbClr val="002060"/>
                          </a:solidFill>
                          <a:latin typeface="Inter Bold"/>
                          <a:ea typeface="Inter Bold"/>
                          <a:cs typeface="Inter Bold"/>
                          <a:sym typeface="Inter Bold"/>
                        </a:rPr>
                        <a:t>MSSV</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a:solidFill>
                            <a:srgbClr val="002060"/>
                          </a:solidFill>
                          <a:latin typeface="Inter Bold"/>
                          <a:ea typeface="Inter Bold"/>
                          <a:cs typeface="Inter Bold"/>
                          <a:sym typeface="Inter Bold"/>
                        </a:rPr>
                        <a:t>HỌ VÀ TÊN</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1007005">
                <a:tc>
                  <a:txBody>
                    <a:bodyPr/>
                    <a:lstStyle/>
                    <a:p>
                      <a:pPr algn="ctr">
                        <a:lnSpc>
                          <a:spcPts val="4479"/>
                        </a:lnSpc>
                        <a:defRPr/>
                      </a:pPr>
                      <a:r>
                        <a:rPr lang="en-US" sz="3199" b="1">
                          <a:solidFill>
                            <a:srgbClr val="000000"/>
                          </a:solidFill>
                          <a:latin typeface="Inter Bold"/>
                          <a:ea typeface="Inter Bold"/>
                          <a:cs typeface="Inter Bold"/>
                          <a:sym typeface="Inter Bold"/>
                        </a:rPr>
                        <a:t>1</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a:solidFill>
                            <a:srgbClr val="000000"/>
                          </a:solidFill>
                          <a:latin typeface="Inter Bold"/>
                          <a:ea typeface="Inter Bold"/>
                          <a:cs typeface="Inter Bold"/>
                          <a:sym typeface="Inter Bold"/>
                        </a:rPr>
                        <a:t>2251120057</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i="1">
                          <a:solidFill>
                            <a:srgbClr val="000000"/>
                          </a:solidFill>
                          <a:latin typeface="Inter Bold Italics"/>
                          <a:ea typeface="Inter Bold Italics"/>
                          <a:cs typeface="Inter Bold Italics"/>
                          <a:sym typeface="Inter Bold Italics"/>
                        </a:rPr>
                        <a:t>Nguyễn Thị Thùy Trang</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r h="1007005">
                <a:tc>
                  <a:txBody>
                    <a:bodyPr/>
                    <a:lstStyle/>
                    <a:p>
                      <a:pPr algn="ctr">
                        <a:lnSpc>
                          <a:spcPts val="4479"/>
                        </a:lnSpc>
                        <a:defRPr/>
                      </a:pPr>
                      <a:r>
                        <a:rPr lang="en-US" sz="3199" b="1">
                          <a:solidFill>
                            <a:srgbClr val="000000"/>
                          </a:solidFill>
                          <a:latin typeface="Inter Bold"/>
                          <a:ea typeface="Inter Bold"/>
                          <a:cs typeface="Inter Bold"/>
                          <a:sym typeface="Inter Bold"/>
                        </a:rPr>
                        <a:t>2</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a:solidFill>
                            <a:srgbClr val="000000"/>
                          </a:solidFill>
                          <a:latin typeface="Inter Bold"/>
                          <a:ea typeface="Inter Bold"/>
                          <a:cs typeface="Inter Bold"/>
                          <a:sym typeface="Inter Bold"/>
                        </a:rPr>
                        <a:t>2251120308</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i="1">
                          <a:solidFill>
                            <a:srgbClr val="000000"/>
                          </a:solidFill>
                          <a:latin typeface="Inter Bold Italics"/>
                          <a:ea typeface="Inter Bold Italics"/>
                          <a:cs typeface="Inter Bold Italics"/>
                          <a:sym typeface="Inter Bold Italics"/>
                        </a:rPr>
                        <a:t>Lê Quận Hoàng Nam</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2"/>
                  </a:ext>
                </a:extLst>
              </a:tr>
              <a:tr h="1007005">
                <a:tc>
                  <a:txBody>
                    <a:bodyPr/>
                    <a:lstStyle/>
                    <a:p>
                      <a:pPr algn="ctr">
                        <a:lnSpc>
                          <a:spcPts val="4479"/>
                        </a:lnSpc>
                        <a:defRPr/>
                      </a:pPr>
                      <a:r>
                        <a:rPr lang="en-US" sz="3199" b="1">
                          <a:solidFill>
                            <a:srgbClr val="000000"/>
                          </a:solidFill>
                          <a:latin typeface="Inter Bold"/>
                          <a:ea typeface="Inter Bold"/>
                          <a:cs typeface="Inter Bold"/>
                          <a:sym typeface="Inter Bold"/>
                        </a:rPr>
                        <a:t>3</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a:solidFill>
                            <a:srgbClr val="000000"/>
                          </a:solidFill>
                          <a:latin typeface="Inter Bold"/>
                          <a:ea typeface="Inter Bold"/>
                          <a:cs typeface="Inter Bold"/>
                          <a:sym typeface="Inter Bold"/>
                        </a:rPr>
                        <a:t>22H1120002</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i="1">
                          <a:solidFill>
                            <a:srgbClr val="000000"/>
                          </a:solidFill>
                          <a:latin typeface="Inter Bold Italics"/>
                          <a:ea typeface="Inter Bold Italics"/>
                          <a:cs typeface="Inter Bold Italics"/>
                          <a:sym typeface="Inter Bold Italics"/>
                        </a:rPr>
                        <a:t>Huỳnh Nguyễn Quốc Bảo</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3"/>
                  </a:ext>
                </a:extLst>
              </a:tr>
              <a:tr h="1007005">
                <a:tc>
                  <a:txBody>
                    <a:bodyPr/>
                    <a:lstStyle/>
                    <a:p>
                      <a:pPr algn="ctr">
                        <a:lnSpc>
                          <a:spcPts val="4479"/>
                        </a:lnSpc>
                        <a:defRPr/>
                      </a:pPr>
                      <a:r>
                        <a:rPr lang="en-US" sz="3199" b="1">
                          <a:solidFill>
                            <a:srgbClr val="000000"/>
                          </a:solidFill>
                          <a:latin typeface="Inter Bold"/>
                          <a:ea typeface="Inter Bold"/>
                          <a:cs typeface="Inter Bold"/>
                          <a:sym typeface="Inter Bold"/>
                        </a:rPr>
                        <a:t>4</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a:solidFill>
                            <a:srgbClr val="000000"/>
                          </a:solidFill>
                          <a:latin typeface="Inter Bold"/>
                          <a:ea typeface="Inter Bold"/>
                          <a:cs typeface="Inter Bold"/>
                          <a:sym typeface="Inter Bold"/>
                        </a:rPr>
                        <a:t>2251120074</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i="1">
                          <a:solidFill>
                            <a:srgbClr val="000000"/>
                          </a:solidFill>
                          <a:latin typeface="Inter Bold Italics"/>
                          <a:ea typeface="Inter Bold Italics"/>
                          <a:cs typeface="Inter Bold Italics"/>
                          <a:sym typeface="Inter Bold Italics"/>
                        </a:rPr>
                        <a:t>Nguyễn Xuân Dự</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4"/>
                  </a:ext>
                </a:extLst>
              </a:tr>
              <a:tr h="1007005">
                <a:tc>
                  <a:txBody>
                    <a:bodyPr/>
                    <a:lstStyle/>
                    <a:p>
                      <a:pPr algn="ctr">
                        <a:lnSpc>
                          <a:spcPts val="4479"/>
                        </a:lnSpc>
                        <a:defRPr/>
                      </a:pPr>
                      <a:r>
                        <a:rPr lang="en-US" sz="3199" b="1">
                          <a:solidFill>
                            <a:srgbClr val="000000"/>
                          </a:solidFill>
                          <a:latin typeface="Inter Bold"/>
                          <a:ea typeface="Inter Bold"/>
                          <a:cs typeface="Inter Bold"/>
                          <a:sym typeface="Inter Bold"/>
                        </a:rPr>
                        <a:t>5</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a:solidFill>
                            <a:srgbClr val="000000"/>
                          </a:solidFill>
                          <a:latin typeface="Inter Bold"/>
                          <a:ea typeface="Inter Bold"/>
                          <a:cs typeface="Inter Bold"/>
                          <a:sym typeface="Inter Bold"/>
                        </a:rPr>
                        <a:t>2251150012</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ctr">
                        <a:lnSpc>
                          <a:spcPts val="4479"/>
                        </a:lnSpc>
                        <a:defRPr/>
                      </a:pPr>
                      <a:r>
                        <a:rPr lang="en-US" sz="3199" b="1" i="1">
                          <a:solidFill>
                            <a:srgbClr val="000000"/>
                          </a:solidFill>
                          <a:latin typeface="Inter Bold Italics"/>
                          <a:ea typeface="Inter Bold Italics"/>
                          <a:cs typeface="Inter Bold Italics"/>
                          <a:sym typeface="Inter Bold Italics"/>
                        </a:rPr>
                        <a:t>Võ Trần Hoàng </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5"/>
                  </a:ext>
                </a:extLst>
              </a:tr>
            </a:tbl>
          </a:graphicData>
        </a:graphic>
      </p:graphicFrame>
      <p:sp>
        <p:nvSpPr>
          <p:cNvPr id="17" name="TextBox 1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a:off x="1374400" y="3889677"/>
            <a:ext cx="644881" cy="644881"/>
          </a:xfrm>
          <a:custGeom>
            <a:avLst/>
            <a:gdLst/>
            <a:ahLst/>
            <a:cxnLst/>
            <a:rect l="l" t="t" r="r" b="b"/>
            <a:pathLst>
              <a:path w="644881" h="644881">
                <a:moveTo>
                  <a:pt x="0" y="0"/>
                </a:moveTo>
                <a:lnTo>
                  <a:pt x="644881" y="0"/>
                </a:lnTo>
                <a:lnTo>
                  <a:pt x="644881" y="644880"/>
                </a:lnTo>
                <a:lnTo>
                  <a:pt x="0" y="6448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8" name="Freeform 8"/>
          <p:cNvSpPr/>
          <p:nvPr/>
        </p:nvSpPr>
        <p:spPr>
          <a:xfrm>
            <a:off x="14433433" y="1860794"/>
            <a:ext cx="3471443" cy="2095490"/>
          </a:xfrm>
          <a:custGeom>
            <a:avLst/>
            <a:gdLst/>
            <a:ahLst/>
            <a:cxnLst/>
            <a:rect l="l" t="t" r="r" b="b"/>
            <a:pathLst>
              <a:path w="3471443" h="2095490">
                <a:moveTo>
                  <a:pt x="0" y="0"/>
                </a:moveTo>
                <a:lnTo>
                  <a:pt x="3471443" y="0"/>
                </a:lnTo>
                <a:lnTo>
                  <a:pt x="3471443" y="2095491"/>
                </a:lnTo>
                <a:lnTo>
                  <a:pt x="0" y="2095491"/>
                </a:lnTo>
                <a:lnTo>
                  <a:pt x="0" y="0"/>
                </a:lnTo>
                <a:close/>
              </a:path>
            </a:pathLst>
          </a:custGeom>
          <a:blipFill>
            <a:blip r:embed="rId14">
              <a:extLst>
                <a:ext uri="{96DAC541-7B7A-43D3-8B79-37D633B846F1}">
                  <asvg:svgBlip xmlns:asvg="http://schemas.microsoft.com/office/drawing/2016/SVG/main" r:embed="rId15"/>
                </a:ext>
              </a:extLst>
            </a:blip>
            <a:stretch>
              <a:fillRect t="-152" b="-152"/>
            </a:stretch>
          </a:blipFill>
        </p:spPr>
        <p:txBody>
          <a:bodyPr/>
          <a:lstStyle/>
          <a:p>
            <a:endParaRPr lang="en-US"/>
          </a:p>
        </p:txBody>
      </p:sp>
      <p:sp>
        <p:nvSpPr>
          <p:cNvPr id="9" name="Freeform 9"/>
          <p:cNvSpPr/>
          <p:nvPr/>
        </p:nvSpPr>
        <p:spPr>
          <a:xfrm flipH="1">
            <a:off x="1621727" y="4089530"/>
            <a:ext cx="150219" cy="245174"/>
          </a:xfrm>
          <a:custGeom>
            <a:avLst/>
            <a:gdLst/>
            <a:ahLst/>
            <a:cxnLst/>
            <a:rect l="l" t="t" r="r" b="b"/>
            <a:pathLst>
              <a:path w="150219" h="245174">
                <a:moveTo>
                  <a:pt x="150218" y="0"/>
                </a:moveTo>
                <a:lnTo>
                  <a:pt x="0" y="0"/>
                </a:lnTo>
                <a:lnTo>
                  <a:pt x="0" y="245174"/>
                </a:lnTo>
                <a:lnTo>
                  <a:pt x="150218" y="245174"/>
                </a:lnTo>
                <a:lnTo>
                  <a:pt x="150218"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0" name="Freeform 10"/>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11" name="TextBox 11"/>
          <p:cNvSpPr txBox="1"/>
          <p:nvPr/>
        </p:nvSpPr>
        <p:spPr>
          <a:xfrm>
            <a:off x="2206152" y="4043543"/>
            <a:ext cx="8309729" cy="432562"/>
          </a:xfrm>
          <a:prstGeom prst="rect">
            <a:avLst/>
          </a:prstGeom>
        </p:spPr>
        <p:txBody>
          <a:bodyPr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1. Giới thiệu Luật CNTT 67/2006/QH11</a:t>
            </a:r>
          </a:p>
        </p:txBody>
      </p:sp>
      <p:sp>
        <p:nvSpPr>
          <p:cNvPr id="12" name="TextBox 12"/>
          <p:cNvSpPr txBox="1"/>
          <p:nvPr/>
        </p:nvSpPr>
        <p:spPr>
          <a:xfrm>
            <a:off x="1371600" y="1483538"/>
            <a:ext cx="14752520" cy="1692999"/>
          </a:xfrm>
          <a:prstGeom prst="rect">
            <a:avLst/>
          </a:prstGeom>
        </p:spPr>
        <p:txBody>
          <a:bodyPr lIns="0" tIns="0" rIns="0" bIns="0" rtlCol="0" anchor="t">
            <a:spAutoFit/>
          </a:bodyPr>
          <a:lstStyle/>
          <a:p>
            <a:pPr algn="l">
              <a:lnSpc>
                <a:spcPts val="6798"/>
              </a:lnSpc>
            </a:pPr>
            <a:r>
              <a:rPr lang="en-US" sz="5400">
                <a:solidFill>
                  <a:srgbClr val="005AB0"/>
                </a:solidFill>
                <a:latin typeface="Paytone One"/>
                <a:ea typeface="Paytone One"/>
                <a:cs typeface="Paytone One"/>
                <a:sym typeface="Paytone One"/>
              </a:rPr>
              <a:t>Chương I</a:t>
            </a:r>
          </a:p>
          <a:p>
            <a:pPr algn="l">
              <a:lnSpc>
                <a:spcPts val="6799"/>
              </a:lnSpc>
            </a:pPr>
            <a:r>
              <a:rPr lang="en-US" sz="5400">
                <a:solidFill>
                  <a:srgbClr val="005AB0"/>
                </a:solidFill>
                <a:latin typeface="Paytone One"/>
                <a:ea typeface="Paytone One"/>
                <a:cs typeface="Paytone One"/>
                <a:sym typeface="Paytone One"/>
              </a:rPr>
              <a:t>NHỮNG QUY ĐỊNH CHUNG</a:t>
            </a:r>
          </a:p>
        </p:txBody>
      </p:sp>
      <p:sp>
        <p:nvSpPr>
          <p:cNvPr id="13" name="Freeform 13"/>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8">
              <a:extLst>
                <a:ext uri="{96DAC541-7B7A-43D3-8B79-37D633B846F1}">
                  <asvg:svgBlip xmlns:asvg="http://schemas.microsoft.com/office/drawing/2016/SVG/main" r:embed="rId19"/>
                </a:ext>
              </a:extLst>
            </a:blip>
            <a:stretch>
              <a:fillRect l="-384" r="-382"/>
            </a:stretch>
          </a:blipFill>
        </p:spPr>
        <p:txBody>
          <a:bodyPr/>
          <a:lstStyle/>
          <a:p>
            <a:endParaRPr lang="en-US"/>
          </a:p>
        </p:txBody>
      </p:sp>
      <p:sp>
        <p:nvSpPr>
          <p:cNvPr id="14" name="Freeform 14"/>
          <p:cNvSpPr/>
          <p:nvPr/>
        </p:nvSpPr>
        <p:spPr>
          <a:xfrm>
            <a:off x="518208" y="8503501"/>
            <a:ext cx="1020985" cy="1039892"/>
          </a:xfrm>
          <a:custGeom>
            <a:avLst/>
            <a:gdLst/>
            <a:ahLst/>
            <a:cxnLst/>
            <a:rect l="l" t="t" r="r" b="b"/>
            <a:pathLst>
              <a:path w="1020985" h="1039892">
                <a:moveTo>
                  <a:pt x="0" y="0"/>
                </a:moveTo>
                <a:lnTo>
                  <a:pt x="1020984" y="0"/>
                </a:lnTo>
                <a:lnTo>
                  <a:pt x="1020984" y="1039892"/>
                </a:lnTo>
                <a:lnTo>
                  <a:pt x="0" y="1039892"/>
                </a:lnTo>
                <a:lnTo>
                  <a:pt x="0" y="0"/>
                </a:lnTo>
                <a:close/>
              </a:path>
            </a:pathLst>
          </a:custGeom>
          <a:blipFill>
            <a:blip r:embed="rId20">
              <a:extLst>
                <a:ext uri="{96DAC541-7B7A-43D3-8B79-37D633B846F1}">
                  <asvg:svgBlip xmlns:asvg="http://schemas.microsoft.com/office/drawing/2016/SVG/main" r:embed="rId21"/>
                </a:ext>
              </a:extLst>
            </a:blip>
            <a:stretch>
              <a:fillRect l="-462" r="-462"/>
            </a:stretch>
          </a:blipFill>
        </p:spPr>
        <p:txBody>
          <a:bodyPr/>
          <a:lstStyle/>
          <a:p>
            <a:endParaRPr lang="en-US"/>
          </a:p>
        </p:txBody>
      </p:sp>
      <p:sp>
        <p:nvSpPr>
          <p:cNvPr id="15" name="Freeform 15"/>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6" name="Freeform 16"/>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24">
              <a:extLst>
                <a:ext uri="{96DAC541-7B7A-43D3-8B79-37D633B846F1}">
                  <asvg:svgBlip xmlns:asvg="http://schemas.microsoft.com/office/drawing/2016/SVG/main" r:embed="rId25"/>
                </a:ext>
              </a:extLst>
            </a:blip>
            <a:stretch>
              <a:fillRect t="-20" b="-21"/>
            </a:stretch>
          </a:blipFill>
        </p:spPr>
        <p:txBody>
          <a:bodyPr/>
          <a:lstStyle/>
          <a:p>
            <a:endParaRPr lang="en-US"/>
          </a:p>
        </p:txBody>
      </p:sp>
      <p:sp>
        <p:nvSpPr>
          <p:cNvPr id="17" name="Freeform 17"/>
          <p:cNvSpPr/>
          <p:nvPr/>
        </p:nvSpPr>
        <p:spPr>
          <a:xfrm>
            <a:off x="1391317" y="5011864"/>
            <a:ext cx="644881" cy="644881"/>
          </a:xfrm>
          <a:custGeom>
            <a:avLst/>
            <a:gdLst/>
            <a:ahLst/>
            <a:cxnLst/>
            <a:rect l="l" t="t" r="r" b="b"/>
            <a:pathLst>
              <a:path w="644881" h="644881">
                <a:moveTo>
                  <a:pt x="0" y="0"/>
                </a:moveTo>
                <a:lnTo>
                  <a:pt x="644880" y="0"/>
                </a:lnTo>
                <a:lnTo>
                  <a:pt x="644880"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8" name="Freeform 18"/>
          <p:cNvSpPr/>
          <p:nvPr/>
        </p:nvSpPr>
        <p:spPr>
          <a:xfrm flipH="1">
            <a:off x="1638652" y="5211718"/>
            <a:ext cx="150219" cy="245174"/>
          </a:xfrm>
          <a:custGeom>
            <a:avLst/>
            <a:gdLst/>
            <a:ahLst/>
            <a:cxnLst/>
            <a:rect l="l" t="t" r="r" b="b"/>
            <a:pathLst>
              <a:path w="150219" h="245174">
                <a:moveTo>
                  <a:pt x="150219" y="0"/>
                </a:moveTo>
                <a:lnTo>
                  <a:pt x="0" y="0"/>
                </a:lnTo>
                <a:lnTo>
                  <a:pt x="0" y="245174"/>
                </a:lnTo>
                <a:lnTo>
                  <a:pt x="150219" y="245174"/>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9" name="TextBox 19"/>
          <p:cNvSpPr txBox="1"/>
          <p:nvPr/>
        </p:nvSpPr>
        <p:spPr>
          <a:xfrm>
            <a:off x="2223068" y="5191125"/>
            <a:ext cx="8885158" cy="432562"/>
          </a:xfrm>
          <a:prstGeom prst="rect">
            <a:avLst/>
          </a:prstGeom>
        </p:spPr>
        <p:txBody>
          <a:bodyPr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2. Phạm vi điều chỉnh, đối tượng áp dụng</a:t>
            </a:r>
          </a:p>
        </p:txBody>
      </p:sp>
      <p:sp>
        <p:nvSpPr>
          <p:cNvPr id="20" name="Freeform 20"/>
          <p:cNvSpPr/>
          <p:nvPr/>
        </p:nvSpPr>
        <p:spPr>
          <a:xfrm>
            <a:off x="1391317" y="6098819"/>
            <a:ext cx="644881" cy="644881"/>
          </a:xfrm>
          <a:custGeom>
            <a:avLst/>
            <a:gdLst/>
            <a:ahLst/>
            <a:cxnLst/>
            <a:rect l="l" t="t" r="r" b="b"/>
            <a:pathLst>
              <a:path w="644881" h="644881">
                <a:moveTo>
                  <a:pt x="0" y="0"/>
                </a:moveTo>
                <a:lnTo>
                  <a:pt x="644880" y="0"/>
                </a:lnTo>
                <a:lnTo>
                  <a:pt x="644880"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1" name="Freeform 21"/>
          <p:cNvSpPr/>
          <p:nvPr/>
        </p:nvSpPr>
        <p:spPr>
          <a:xfrm flipH="1">
            <a:off x="1638652" y="6298673"/>
            <a:ext cx="150219" cy="245174"/>
          </a:xfrm>
          <a:custGeom>
            <a:avLst/>
            <a:gdLst/>
            <a:ahLst/>
            <a:cxnLst/>
            <a:rect l="l" t="t" r="r" b="b"/>
            <a:pathLst>
              <a:path w="150219" h="245174">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2" name="TextBox 22"/>
          <p:cNvSpPr txBox="1"/>
          <p:nvPr/>
        </p:nvSpPr>
        <p:spPr>
          <a:xfrm>
            <a:off x="2223068" y="6252686"/>
            <a:ext cx="7452956" cy="432562"/>
          </a:xfrm>
          <a:prstGeom prst="rect">
            <a:avLst/>
          </a:prstGeom>
        </p:spPr>
        <p:txBody>
          <a:bodyPr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3. Quyền và nghĩa vụ của tổ chức</a:t>
            </a:r>
          </a:p>
        </p:txBody>
      </p:sp>
      <p:sp>
        <p:nvSpPr>
          <p:cNvPr id="23" name="Freeform 23"/>
          <p:cNvSpPr/>
          <p:nvPr/>
        </p:nvSpPr>
        <p:spPr>
          <a:xfrm>
            <a:off x="1371600" y="7165619"/>
            <a:ext cx="644881" cy="644881"/>
          </a:xfrm>
          <a:custGeom>
            <a:avLst/>
            <a:gdLst/>
            <a:ahLst/>
            <a:cxnLst/>
            <a:rect l="l" t="t" r="r" b="b"/>
            <a:pathLst>
              <a:path w="644881" h="644881">
                <a:moveTo>
                  <a:pt x="0" y="0"/>
                </a:moveTo>
                <a:lnTo>
                  <a:pt x="644881" y="0"/>
                </a:lnTo>
                <a:lnTo>
                  <a:pt x="644881"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4" name="Freeform 24"/>
          <p:cNvSpPr/>
          <p:nvPr/>
        </p:nvSpPr>
        <p:spPr>
          <a:xfrm flipH="1">
            <a:off x="1618926" y="7365473"/>
            <a:ext cx="150219" cy="245173"/>
          </a:xfrm>
          <a:custGeom>
            <a:avLst/>
            <a:gdLst/>
            <a:ahLst/>
            <a:cxnLst/>
            <a:rect l="l" t="t" r="r" b="b"/>
            <a:pathLst>
              <a:path w="150219" h="245173">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5" name="TextBox 25"/>
          <p:cNvSpPr txBox="1"/>
          <p:nvPr/>
        </p:nvSpPr>
        <p:spPr>
          <a:xfrm>
            <a:off x="2203352" y="7319486"/>
            <a:ext cx="8149233" cy="432562"/>
          </a:xfrm>
          <a:prstGeom prst="rect">
            <a:avLst/>
          </a:prstGeom>
        </p:spPr>
        <p:txBody>
          <a:bodyPr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4. Cá nhân tham gia hoạt động CNTT</a:t>
            </a:r>
          </a:p>
        </p:txBody>
      </p:sp>
      <p:sp>
        <p:nvSpPr>
          <p:cNvPr id="26" name="Freeform 2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6"/>
            <a:stretch>
              <a:fillRect/>
            </a:stretch>
          </a:blipFill>
        </p:spPr>
        <p:txBody>
          <a:bodyPr/>
          <a:lstStyle/>
          <a:p>
            <a:endParaRPr lang="en-US"/>
          </a:p>
        </p:txBody>
      </p:sp>
      <p:sp>
        <p:nvSpPr>
          <p:cNvPr id="27" name="TextBox 2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a:t>
            </a:r>
          </a:p>
        </p:txBody>
      </p:sp>
      <p:grpSp>
        <p:nvGrpSpPr>
          <p:cNvPr id="28" name="Group 28"/>
          <p:cNvGrpSpPr/>
          <p:nvPr/>
        </p:nvGrpSpPr>
        <p:grpSpPr>
          <a:xfrm>
            <a:off x="12281183" y="9435414"/>
            <a:ext cx="6070235" cy="596313"/>
            <a:chOff x="0" y="0"/>
            <a:chExt cx="8093646" cy="795084"/>
          </a:xfrm>
        </p:grpSpPr>
        <p:sp>
          <p:nvSpPr>
            <p:cNvPr id="29" name="Freeform 29"/>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30" name="TextBox 30"/>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2251120057 - Nguyễn Thị Thùy Trang</a:t>
              </a: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flipV="1">
            <a:off x="-924482" y="-279199"/>
            <a:ext cx="14752519" cy="7086616"/>
          </a:xfrm>
          <a:custGeom>
            <a:avLst/>
            <a:gdLst/>
            <a:ahLst/>
            <a:cxnLst/>
            <a:rect l="l" t="t" r="r" b="b"/>
            <a:pathLst>
              <a:path w="14752519" h="7086616">
                <a:moveTo>
                  <a:pt x="0" y="7086616"/>
                </a:moveTo>
                <a:lnTo>
                  <a:pt x="14752518" y="7086616"/>
                </a:lnTo>
                <a:lnTo>
                  <a:pt x="14752518" y="0"/>
                </a:lnTo>
                <a:lnTo>
                  <a:pt x="0" y="0"/>
                </a:lnTo>
                <a:lnTo>
                  <a:pt x="0" y="7086616"/>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8277682" y="6252845"/>
            <a:ext cx="11100708" cy="4240529"/>
          </a:xfrm>
          <a:custGeom>
            <a:avLst/>
            <a:gdLst/>
            <a:ahLst/>
            <a:cxnLst/>
            <a:rect l="l" t="t" r="r" b="b"/>
            <a:pathLst>
              <a:path w="11100708" h="4240529">
                <a:moveTo>
                  <a:pt x="11100708" y="0"/>
                </a:moveTo>
                <a:lnTo>
                  <a:pt x="0" y="0"/>
                </a:lnTo>
                <a:lnTo>
                  <a:pt x="0" y="4240529"/>
                </a:lnTo>
                <a:lnTo>
                  <a:pt x="11100708" y="4240529"/>
                </a:lnTo>
                <a:lnTo>
                  <a:pt x="11100708" y="0"/>
                </a:lnTo>
                <a:close/>
              </a:path>
            </a:pathLst>
          </a:custGeom>
          <a:blipFill>
            <a:blip r:embed="rId4">
              <a:extLst>
                <a:ext uri="{96DAC541-7B7A-43D3-8B79-37D633B846F1}">
                  <asvg:svgBlip xmlns:asvg="http://schemas.microsoft.com/office/drawing/2016/SVG/main" r:embed="rId5"/>
                </a:ext>
              </a:extLst>
            </a:blip>
            <a:stretch>
              <a:fillRect l="-38801" b="-62516"/>
            </a:stretch>
          </a:blipFill>
        </p:spPr>
        <p:txBody>
          <a:bodyPr/>
          <a:lstStyle/>
          <a:p>
            <a:endParaRPr lang="en-US"/>
          </a:p>
        </p:txBody>
      </p:sp>
      <p:sp>
        <p:nvSpPr>
          <p:cNvPr id="4" name="Freeform 4"/>
          <p:cNvSpPr/>
          <p:nvPr/>
        </p:nvSpPr>
        <p:spPr>
          <a:xfrm flipH="1">
            <a:off x="8649905" y="7034533"/>
            <a:ext cx="10356263" cy="3956148"/>
          </a:xfrm>
          <a:custGeom>
            <a:avLst/>
            <a:gdLst/>
            <a:ahLst/>
            <a:cxnLst/>
            <a:rect l="l" t="t" r="r" b="b"/>
            <a:pathLst>
              <a:path w="10356263" h="3956148">
                <a:moveTo>
                  <a:pt x="10356263" y="0"/>
                </a:moveTo>
                <a:lnTo>
                  <a:pt x="0" y="0"/>
                </a:lnTo>
                <a:lnTo>
                  <a:pt x="0" y="3956147"/>
                </a:lnTo>
                <a:lnTo>
                  <a:pt x="10356263" y="3956147"/>
                </a:lnTo>
                <a:lnTo>
                  <a:pt x="10356263" y="0"/>
                </a:lnTo>
                <a:close/>
              </a:path>
            </a:pathLst>
          </a:custGeom>
          <a:blipFill>
            <a:blip r:embed="rId6">
              <a:extLst>
                <a:ext uri="{96DAC541-7B7A-43D3-8B79-37D633B846F1}">
                  <asvg:svgBlip xmlns:asvg="http://schemas.microsoft.com/office/drawing/2016/SVG/main" r:embed="rId7"/>
                </a:ext>
              </a:extLst>
            </a:blip>
            <a:stretch>
              <a:fillRect l="-38801" b="-62516"/>
            </a:stretch>
          </a:blipFill>
        </p:spPr>
        <p:txBody>
          <a:bodyPr/>
          <a:lstStyle/>
          <a:p>
            <a:endParaRPr lang="en-US"/>
          </a:p>
        </p:txBody>
      </p:sp>
      <p:sp>
        <p:nvSpPr>
          <p:cNvPr id="5" name="Freeform 5"/>
          <p:cNvSpPr/>
          <p:nvPr/>
        </p:nvSpPr>
        <p:spPr>
          <a:xfrm flipV="1">
            <a:off x="-672800" y="-262422"/>
            <a:ext cx="12953983" cy="6222659"/>
          </a:xfrm>
          <a:custGeom>
            <a:avLst/>
            <a:gdLst/>
            <a:ahLst/>
            <a:cxnLst/>
            <a:rect l="l" t="t" r="r" b="b"/>
            <a:pathLst>
              <a:path w="12953983" h="6222659">
                <a:moveTo>
                  <a:pt x="0" y="6222660"/>
                </a:moveTo>
                <a:lnTo>
                  <a:pt x="12953983" y="6222660"/>
                </a:lnTo>
                <a:lnTo>
                  <a:pt x="12953983" y="0"/>
                </a:lnTo>
                <a:lnTo>
                  <a:pt x="0" y="0"/>
                </a:lnTo>
                <a:lnTo>
                  <a:pt x="0" y="622266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p:cNvSpPr/>
          <p:nvPr/>
        </p:nvSpPr>
        <p:spPr>
          <a:xfrm rot="3723370" flipH="1">
            <a:off x="1291570" y="-4431444"/>
            <a:ext cx="6111526" cy="10063890"/>
          </a:xfrm>
          <a:custGeom>
            <a:avLst/>
            <a:gdLst/>
            <a:ahLst/>
            <a:cxnLst/>
            <a:rect l="l" t="t" r="r" b="b"/>
            <a:pathLst>
              <a:path w="6111526" h="10063890">
                <a:moveTo>
                  <a:pt x="6111526" y="0"/>
                </a:moveTo>
                <a:lnTo>
                  <a:pt x="0" y="0"/>
                </a:lnTo>
                <a:lnTo>
                  <a:pt x="0" y="10063890"/>
                </a:lnTo>
                <a:lnTo>
                  <a:pt x="6111526" y="10063890"/>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7" name="Group 7"/>
          <p:cNvGrpSpPr/>
          <p:nvPr/>
        </p:nvGrpSpPr>
        <p:grpSpPr>
          <a:xfrm>
            <a:off x="193761" y="2592194"/>
            <a:ext cx="6015611" cy="6629520"/>
            <a:chOff x="0" y="0"/>
            <a:chExt cx="1069836" cy="1179016"/>
          </a:xfrm>
        </p:grpSpPr>
        <p:sp>
          <p:nvSpPr>
            <p:cNvPr id="8" name="Freeform 8"/>
            <p:cNvSpPr/>
            <p:nvPr/>
          </p:nvSpPr>
          <p:spPr>
            <a:xfrm>
              <a:off x="0" y="0"/>
              <a:ext cx="1069836" cy="1179016"/>
            </a:xfrm>
            <a:custGeom>
              <a:avLst/>
              <a:gdLst/>
              <a:ahLst/>
              <a:cxnLst/>
              <a:rect l="l" t="t" r="r" b="b"/>
              <a:pathLst>
                <a:path w="1069836" h="1179016">
                  <a:moveTo>
                    <a:pt x="66923" y="0"/>
                  </a:moveTo>
                  <a:lnTo>
                    <a:pt x="1002914" y="0"/>
                  </a:lnTo>
                  <a:cubicBezTo>
                    <a:pt x="1020663" y="0"/>
                    <a:pt x="1037685" y="7051"/>
                    <a:pt x="1050235" y="19601"/>
                  </a:cubicBezTo>
                  <a:cubicBezTo>
                    <a:pt x="1062786" y="32152"/>
                    <a:pt x="1069836" y="49174"/>
                    <a:pt x="1069836" y="66923"/>
                  </a:cubicBezTo>
                  <a:lnTo>
                    <a:pt x="1069836" y="1112093"/>
                  </a:lnTo>
                  <a:cubicBezTo>
                    <a:pt x="1069836" y="1129842"/>
                    <a:pt x="1062786" y="1146864"/>
                    <a:pt x="1050235" y="1159415"/>
                  </a:cubicBezTo>
                  <a:cubicBezTo>
                    <a:pt x="1037685" y="1171965"/>
                    <a:pt x="1020663" y="1179016"/>
                    <a:pt x="1002914" y="1179016"/>
                  </a:cubicBezTo>
                  <a:lnTo>
                    <a:pt x="66923" y="1179016"/>
                  </a:lnTo>
                  <a:cubicBezTo>
                    <a:pt x="49174" y="1179016"/>
                    <a:pt x="32152" y="1171965"/>
                    <a:pt x="19601" y="1159415"/>
                  </a:cubicBezTo>
                  <a:cubicBezTo>
                    <a:pt x="7051" y="1146864"/>
                    <a:pt x="0" y="1129842"/>
                    <a:pt x="0" y="1112093"/>
                  </a:cubicBezTo>
                  <a:lnTo>
                    <a:pt x="0" y="66923"/>
                  </a:lnTo>
                  <a:cubicBezTo>
                    <a:pt x="0" y="49174"/>
                    <a:pt x="7051" y="32152"/>
                    <a:pt x="19601" y="19601"/>
                  </a:cubicBezTo>
                  <a:cubicBezTo>
                    <a:pt x="32152" y="7051"/>
                    <a:pt x="49174" y="0"/>
                    <a:pt x="66923" y="0"/>
                  </a:cubicBezTo>
                  <a:close/>
                </a:path>
              </a:pathLst>
            </a:custGeom>
            <a:blipFill>
              <a:blip r:embed="rId12"/>
              <a:stretch>
                <a:fillRect l="-63917" r="-1240"/>
              </a:stretch>
            </a:blipFill>
          </p:spPr>
          <p:txBody>
            <a:bodyPr/>
            <a:lstStyle/>
            <a:p>
              <a:endParaRPr lang="en-US"/>
            </a:p>
          </p:txBody>
        </p:sp>
      </p:grpSp>
      <p:grpSp>
        <p:nvGrpSpPr>
          <p:cNvPr id="9" name="Group 9"/>
          <p:cNvGrpSpPr/>
          <p:nvPr/>
        </p:nvGrpSpPr>
        <p:grpSpPr>
          <a:xfrm>
            <a:off x="6495500" y="3798423"/>
            <a:ext cx="644881" cy="64488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8A65"/>
            </a:solidFill>
          </p:spPr>
          <p:txBody>
            <a:bodyPr/>
            <a:lstStyle/>
            <a:p>
              <a:endParaRPr lang="en-US"/>
            </a:p>
          </p:txBody>
        </p:sp>
        <p:sp>
          <p:nvSpPr>
            <p:cNvPr id="11" name="TextBox 11"/>
            <p:cNvSpPr txBox="1"/>
            <p:nvPr/>
          </p:nvSpPr>
          <p:spPr>
            <a:xfrm>
              <a:off x="76200" y="9525"/>
              <a:ext cx="660400" cy="727075"/>
            </a:xfrm>
            <a:prstGeom prst="rect">
              <a:avLst/>
            </a:prstGeom>
          </p:spPr>
          <p:txBody>
            <a:bodyPr lIns="32732" tIns="32732" rIns="32732" bIns="32732" rtlCol="0" anchor="ctr"/>
            <a:lstStyle/>
            <a:p>
              <a:pPr algn="ctr">
                <a:lnSpc>
                  <a:spcPts val="2240"/>
                </a:lnSpc>
              </a:pPr>
              <a:endParaRPr/>
            </a:p>
          </p:txBody>
        </p:sp>
      </p:grpSp>
      <p:sp>
        <p:nvSpPr>
          <p:cNvPr id="12" name="Freeform 12"/>
          <p:cNvSpPr/>
          <p:nvPr/>
        </p:nvSpPr>
        <p:spPr>
          <a:xfrm flipH="1">
            <a:off x="6727713" y="3973915"/>
            <a:ext cx="180079" cy="293897"/>
          </a:xfrm>
          <a:custGeom>
            <a:avLst/>
            <a:gdLst/>
            <a:ahLst/>
            <a:cxnLst/>
            <a:rect l="l" t="t" r="r" b="b"/>
            <a:pathLst>
              <a:path w="180079" h="293897">
                <a:moveTo>
                  <a:pt x="180078" y="0"/>
                </a:moveTo>
                <a:lnTo>
                  <a:pt x="0" y="0"/>
                </a:lnTo>
                <a:lnTo>
                  <a:pt x="0" y="293898"/>
                </a:lnTo>
                <a:lnTo>
                  <a:pt x="180078" y="293898"/>
                </a:lnTo>
                <a:lnTo>
                  <a:pt x="180078"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3" name="Freeform 13"/>
          <p:cNvSpPr/>
          <p:nvPr/>
        </p:nvSpPr>
        <p:spPr>
          <a:xfrm rot="-6240773" flipH="1">
            <a:off x="11604135" y="5958735"/>
            <a:ext cx="6111526" cy="10063890"/>
          </a:xfrm>
          <a:custGeom>
            <a:avLst/>
            <a:gdLst/>
            <a:ahLst/>
            <a:cxnLst/>
            <a:rect l="l" t="t" r="r" b="b"/>
            <a:pathLst>
              <a:path w="6111526" h="10063890">
                <a:moveTo>
                  <a:pt x="6111526" y="0"/>
                </a:moveTo>
                <a:lnTo>
                  <a:pt x="0" y="0"/>
                </a:lnTo>
                <a:lnTo>
                  <a:pt x="0" y="10063890"/>
                </a:lnTo>
                <a:lnTo>
                  <a:pt x="6111526" y="10063890"/>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4" name="TextBox 14"/>
          <p:cNvSpPr txBox="1"/>
          <p:nvPr/>
        </p:nvSpPr>
        <p:spPr>
          <a:xfrm>
            <a:off x="7426132" y="3665073"/>
            <a:ext cx="9594244" cy="5603393"/>
          </a:xfrm>
          <a:prstGeom prst="rect">
            <a:avLst/>
          </a:prstGeom>
        </p:spPr>
        <p:txBody>
          <a:bodyPr lIns="0" tIns="0" rIns="0" bIns="0" rtlCol="0" anchor="t">
            <a:spAutoFit/>
          </a:bodyPr>
          <a:lstStyle/>
          <a:p>
            <a:pPr marL="0" lvl="0" indent="0" algn="just">
              <a:lnSpc>
                <a:spcPts val="4922"/>
              </a:lnSpc>
            </a:pPr>
            <a:r>
              <a:rPr lang="en-US" sz="3600" dirty="0" err="1">
                <a:solidFill>
                  <a:srgbClr val="171814"/>
                </a:solidFill>
                <a:latin typeface="Arial" panose="020B0604020202020204" pitchFamily="34" charset="0"/>
                <a:ea typeface="Poppins"/>
                <a:cs typeface="Arial" panose="020B0604020202020204" pitchFamily="34" charset="0"/>
                <a:sym typeface="Poppins"/>
              </a:rPr>
              <a:t>Căn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cứ</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vào</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Hiến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pháp</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nước</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Cộng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hoà</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xã</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hội</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chủ</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nghĩa</a:t>
            </a:r>
            <a:r>
              <a:rPr lang="en-US" sz="3600" dirty="0">
                <a:solidFill>
                  <a:srgbClr val="171814"/>
                </a:solidFill>
                <a:latin typeface="Arial" panose="020B0604020202020204" pitchFamily="34" charset="0"/>
                <a:ea typeface="Poppins"/>
                <a:cs typeface="Arial" panose="020B0604020202020204" pitchFamily="34" charset="0"/>
                <a:sym typeface="Poppins"/>
              </a:rPr>
              <a:t> Việt Nam </a:t>
            </a:r>
            <a:r>
              <a:rPr lang="en-US" sz="3600" dirty="0" err="1">
                <a:solidFill>
                  <a:srgbClr val="171814"/>
                </a:solidFill>
                <a:latin typeface="Arial" panose="020B0604020202020204" pitchFamily="34" charset="0"/>
                <a:ea typeface="Poppins"/>
                <a:cs typeface="Arial" panose="020B0604020202020204" pitchFamily="34" charset="0"/>
                <a:sym typeface="Poppins"/>
              </a:rPr>
              <a:t>năm</a:t>
            </a:r>
            <a:r>
              <a:rPr lang="en-US" sz="3600" dirty="0">
                <a:solidFill>
                  <a:srgbClr val="171814"/>
                </a:solidFill>
                <a:latin typeface="Arial" panose="020B0604020202020204" pitchFamily="34" charset="0"/>
                <a:ea typeface="Poppins"/>
                <a:cs typeface="Arial" panose="020B0604020202020204" pitchFamily="34" charset="0"/>
                <a:sym typeface="Poppins"/>
              </a:rPr>
              <a:t> 1992 </a:t>
            </a:r>
            <a:r>
              <a:rPr lang="en-US" sz="3600" dirty="0" err="1">
                <a:solidFill>
                  <a:srgbClr val="171814"/>
                </a:solidFill>
                <a:latin typeface="Arial" panose="020B0604020202020204" pitchFamily="34" charset="0"/>
                <a:ea typeface="Poppins"/>
                <a:cs typeface="Arial" panose="020B0604020202020204" pitchFamily="34" charset="0"/>
                <a:sym typeface="Poppins"/>
              </a:rPr>
              <a:t>đã</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được</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sửa</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đổi</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bổ</a:t>
            </a:r>
            <a:r>
              <a:rPr lang="en-US" sz="3600" dirty="0">
                <a:solidFill>
                  <a:srgbClr val="171814"/>
                </a:solidFill>
                <a:latin typeface="Arial" panose="020B0604020202020204" pitchFamily="34" charset="0"/>
                <a:ea typeface="Poppins"/>
                <a:cs typeface="Arial" panose="020B0604020202020204" pitchFamily="34" charset="0"/>
                <a:sym typeface="Poppins"/>
              </a:rPr>
              <a:t> sung </a:t>
            </a:r>
            <a:r>
              <a:rPr lang="en-US" sz="3600" dirty="0" err="1">
                <a:solidFill>
                  <a:srgbClr val="171814"/>
                </a:solidFill>
                <a:latin typeface="Arial" panose="020B0604020202020204" pitchFamily="34" charset="0"/>
                <a:ea typeface="Poppins"/>
                <a:cs typeface="Arial" panose="020B0604020202020204" pitchFamily="34" charset="0"/>
                <a:sym typeface="Poppins"/>
              </a:rPr>
              <a:t>theo</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Nghị</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quyết</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số</a:t>
            </a:r>
            <a:r>
              <a:rPr lang="en-US" sz="3600" dirty="0">
                <a:solidFill>
                  <a:srgbClr val="171814"/>
                </a:solidFill>
                <a:latin typeface="Arial" panose="020B0604020202020204" pitchFamily="34" charset="0"/>
                <a:ea typeface="Poppins"/>
                <a:cs typeface="Arial" panose="020B0604020202020204" pitchFamily="34" charset="0"/>
                <a:sym typeface="Poppins"/>
              </a:rPr>
              <a:t> 51/2001/QH10 </a:t>
            </a:r>
            <a:r>
              <a:rPr lang="en-US" sz="3600" dirty="0" err="1">
                <a:solidFill>
                  <a:srgbClr val="171814"/>
                </a:solidFill>
                <a:latin typeface="Arial" panose="020B0604020202020204" pitchFamily="34" charset="0"/>
                <a:ea typeface="Poppins"/>
                <a:cs typeface="Arial" panose="020B0604020202020204" pitchFamily="34" charset="0"/>
                <a:sym typeface="Poppins"/>
              </a:rPr>
              <a:t>ngày</a:t>
            </a:r>
            <a:r>
              <a:rPr lang="en-US" sz="3600" dirty="0">
                <a:solidFill>
                  <a:srgbClr val="171814"/>
                </a:solidFill>
                <a:latin typeface="Arial" panose="020B0604020202020204" pitchFamily="34" charset="0"/>
                <a:ea typeface="Poppins"/>
                <a:cs typeface="Arial" panose="020B0604020202020204" pitchFamily="34" charset="0"/>
                <a:sym typeface="Poppins"/>
              </a:rPr>
              <a:t> 25 </a:t>
            </a:r>
            <a:r>
              <a:rPr lang="en-US" sz="3600" dirty="0" err="1">
                <a:solidFill>
                  <a:srgbClr val="171814"/>
                </a:solidFill>
                <a:latin typeface="Arial" panose="020B0604020202020204" pitchFamily="34" charset="0"/>
                <a:ea typeface="Poppins"/>
                <a:cs typeface="Arial" panose="020B0604020202020204" pitchFamily="34" charset="0"/>
                <a:sym typeface="Poppins"/>
              </a:rPr>
              <a:t>tháng</a:t>
            </a:r>
            <a:r>
              <a:rPr lang="en-US" sz="3600" dirty="0">
                <a:solidFill>
                  <a:srgbClr val="171814"/>
                </a:solidFill>
                <a:latin typeface="Arial" panose="020B0604020202020204" pitchFamily="34" charset="0"/>
                <a:ea typeface="Poppins"/>
                <a:cs typeface="Arial" panose="020B0604020202020204" pitchFamily="34" charset="0"/>
                <a:sym typeface="Poppins"/>
              </a:rPr>
              <a:t> 12 </a:t>
            </a:r>
            <a:r>
              <a:rPr lang="en-US" sz="3600" dirty="0" err="1">
                <a:solidFill>
                  <a:srgbClr val="171814"/>
                </a:solidFill>
                <a:latin typeface="Arial" panose="020B0604020202020204" pitchFamily="34" charset="0"/>
                <a:ea typeface="Poppins"/>
                <a:cs typeface="Arial" panose="020B0604020202020204" pitchFamily="34" charset="0"/>
                <a:sym typeface="Poppins"/>
              </a:rPr>
              <a:t>năm</a:t>
            </a:r>
            <a:r>
              <a:rPr lang="en-US" sz="3600" dirty="0">
                <a:solidFill>
                  <a:srgbClr val="171814"/>
                </a:solidFill>
                <a:latin typeface="Arial" panose="020B0604020202020204" pitchFamily="34" charset="0"/>
                <a:ea typeface="Poppins"/>
                <a:cs typeface="Arial" panose="020B0604020202020204" pitchFamily="34" charset="0"/>
                <a:sym typeface="Poppins"/>
              </a:rPr>
              <a:t> 2001 </a:t>
            </a:r>
            <a:r>
              <a:rPr lang="en-US" sz="3600" dirty="0" err="1">
                <a:solidFill>
                  <a:srgbClr val="171814"/>
                </a:solidFill>
                <a:latin typeface="Arial" panose="020B0604020202020204" pitchFamily="34" charset="0"/>
                <a:ea typeface="Poppins"/>
                <a:cs typeface="Arial" panose="020B0604020202020204" pitchFamily="34" charset="0"/>
                <a:sym typeface="Poppins"/>
              </a:rPr>
              <a:t>của</a:t>
            </a:r>
            <a:r>
              <a:rPr lang="en-US" sz="3600" dirty="0">
                <a:solidFill>
                  <a:srgbClr val="171814"/>
                </a:solidFill>
                <a:latin typeface="Arial" panose="020B0604020202020204" pitchFamily="34" charset="0"/>
                <a:ea typeface="Poppins"/>
                <a:cs typeface="Arial" panose="020B0604020202020204" pitchFamily="34" charset="0"/>
                <a:sym typeface="Poppins"/>
              </a:rPr>
              <a:t> Quốc </a:t>
            </a:r>
            <a:r>
              <a:rPr lang="en-US" sz="3600" dirty="0" err="1">
                <a:solidFill>
                  <a:srgbClr val="171814"/>
                </a:solidFill>
                <a:latin typeface="Arial" panose="020B0604020202020204" pitchFamily="34" charset="0"/>
                <a:ea typeface="Poppins"/>
                <a:cs typeface="Arial" panose="020B0604020202020204" pitchFamily="34" charset="0"/>
                <a:sym typeface="Poppins"/>
              </a:rPr>
              <a:t>hội</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khoá</a:t>
            </a:r>
            <a:r>
              <a:rPr lang="en-US" sz="3600" dirty="0">
                <a:solidFill>
                  <a:srgbClr val="171814"/>
                </a:solidFill>
                <a:latin typeface="Arial" panose="020B0604020202020204" pitchFamily="34" charset="0"/>
                <a:ea typeface="Poppins"/>
                <a:cs typeface="Arial" panose="020B0604020202020204" pitchFamily="34" charset="0"/>
                <a:sym typeface="Poppins"/>
              </a:rPr>
              <a:t> X, </a:t>
            </a:r>
            <a:r>
              <a:rPr lang="en-US" sz="3600" dirty="0" err="1">
                <a:solidFill>
                  <a:srgbClr val="171814"/>
                </a:solidFill>
                <a:latin typeface="Arial" panose="020B0604020202020204" pitchFamily="34" charset="0"/>
                <a:ea typeface="Poppins"/>
                <a:cs typeface="Arial" panose="020B0604020202020204" pitchFamily="34" charset="0"/>
                <a:sym typeface="Poppins"/>
              </a:rPr>
              <a:t>kỳ</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họp</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thứ</a:t>
            </a:r>
            <a:r>
              <a:rPr lang="en-US" sz="3600" dirty="0">
                <a:solidFill>
                  <a:srgbClr val="171814"/>
                </a:solidFill>
                <a:latin typeface="Arial" panose="020B0604020202020204" pitchFamily="34" charset="0"/>
                <a:ea typeface="Poppins"/>
                <a:cs typeface="Arial" panose="020B0604020202020204" pitchFamily="34" charset="0"/>
                <a:sym typeface="Poppins"/>
              </a:rPr>
              <a:t> 10;</a:t>
            </a:r>
          </a:p>
          <a:p>
            <a:pPr marL="0" lvl="0" indent="0" algn="just">
              <a:lnSpc>
                <a:spcPts val="4922"/>
              </a:lnSpc>
            </a:pPr>
            <a:endParaRPr lang="en-US" sz="3600" dirty="0">
              <a:solidFill>
                <a:srgbClr val="171814"/>
              </a:solidFill>
              <a:latin typeface="Arial" panose="020B0604020202020204" pitchFamily="34" charset="0"/>
              <a:ea typeface="Poppins"/>
              <a:cs typeface="Arial" panose="020B0604020202020204" pitchFamily="34" charset="0"/>
              <a:sym typeface="Poppins"/>
            </a:endParaRPr>
          </a:p>
          <a:p>
            <a:pPr marL="0" lvl="0" indent="0" algn="just">
              <a:lnSpc>
                <a:spcPts val="4922"/>
              </a:lnSpc>
            </a:pPr>
            <a:r>
              <a:rPr lang="en-US" sz="3600" dirty="0" err="1">
                <a:solidFill>
                  <a:srgbClr val="171814"/>
                </a:solidFill>
                <a:latin typeface="Arial" panose="020B0604020202020204" pitchFamily="34" charset="0"/>
                <a:ea typeface="Poppins"/>
                <a:cs typeface="Arial" panose="020B0604020202020204" pitchFamily="34" charset="0"/>
                <a:sym typeface="Poppins"/>
              </a:rPr>
              <a:t>Luật</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này</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quy</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định</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về</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công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nghệ</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thông</a:t>
            </a:r>
            <a:r>
              <a:rPr lang="en-US" sz="3600" dirty="0">
                <a:solidFill>
                  <a:srgbClr val="171814"/>
                </a:solidFill>
                <a:latin typeface="Arial" panose="020B0604020202020204" pitchFamily="34" charset="0"/>
                <a:ea typeface="Poppins"/>
                <a:cs typeface="Arial" panose="020B0604020202020204" pitchFamily="34" charset="0"/>
                <a:sym typeface="Poppins"/>
              </a:rPr>
              <a:t> tin.</a:t>
            </a:r>
          </a:p>
          <a:p>
            <a:pPr marL="0" lvl="0" indent="0" algn="just">
              <a:lnSpc>
                <a:spcPts val="4922"/>
              </a:lnSpc>
            </a:pPr>
            <a:r>
              <a:rPr lang="en-US" sz="3600" dirty="0">
                <a:solidFill>
                  <a:srgbClr val="171814"/>
                </a:solidFill>
                <a:latin typeface="Arial" panose="020B0604020202020204" pitchFamily="34" charset="0"/>
                <a:ea typeface="Poppins"/>
                <a:cs typeface="Arial" panose="020B0604020202020204" pitchFamily="34" charset="0"/>
                <a:sym typeface="Poppins"/>
              </a:rPr>
              <a:t> </a:t>
            </a:r>
          </a:p>
          <a:p>
            <a:pPr algn="just">
              <a:lnSpc>
                <a:spcPts val="4922"/>
              </a:lnSpc>
            </a:pPr>
            <a:endParaRPr lang="en-US" sz="3600" dirty="0">
              <a:solidFill>
                <a:srgbClr val="171814"/>
              </a:solidFill>
              <a:latin typeface="Arial" panose="020B0604020202020204" pitchFamily="34" charset="0"/>
              <a:ea typeface="Poppins"/>
              <a:cs typeface="Arial" panose="020B0604020202020204" pitchFamily="34" charset="0"/>
              <a:sym typeface="Poppins"/>
            </a:endParaRPr>
          </a:p>
        </p:txBody>
      </p:sp>
      <p:sp>
        <p:nvSpPr>
          <p:cNvPr id="15" name="TextBox 15"/>
          <p:cNvSpPr txBox="1"/>
          <p:nvPr/>
        </p:nvSpPr>
        <p:spPr>
          <a:xfrm>
            <a:off x="827943" y="501308"/>
            <a:ext cx="16345105" cy="3054350"/>
          </a:xfrm>
          <a:prstGeom prst="rect">
            <a:avLst/>
          </a:prstGeom>
        </p:spPr>
        <p:txBody>
          <a:bodyPr lIns="0" tIns="0" rIns="0" bIns="0" rtlCol="0" anchor="t">
            <a:spAutoFit/>
          </a:bodyPr>
          <a:lstStyle/>
          <a:p>
            <a:pPr algn="ctr">
              <a:lnSpc>
                <a:spcPts val="3999"/>
              </a:lnSpc>
            </a:pPr>
            <a:r>
              <a:rPr lang="en-US" sz="3999" b="1" dirty="0">
                <a:solidFill>
                  <a:srgbClr val="000000"/>
                </a:solidFill>
                <a:latin typeface="Noto Sans Bold"/>
                <a:ea typeface="Noto Sans Bold"/>
                <a:cs typeface="Noto Sans Bold"/>
                <a:sym typeface="Noto Sans Bold"/>
              </a:rPr>
              <a:t>LUẬT</a:t>
            </a:r>
          </a:p>
          <a:p>
            <a:pPr algn="ctr">
              <a:lnSpc>
                <a:spcPts val="3999"/>
              </a:lnSpc>
            </a:pPr>
            <a:r>
              <a:rPr lang="en-US" sz="3999" b="1" dirty="0">
                <a:solidFill>
                  <a:srgbClr val="000000"/>
                </a:solidFill>
                <a:latin typeface="Noto Sans Bold"/>
                <a:ea typeface="Noto Sans Bold"/>
                <a:cs typeface="Noto Sans Bold"/>
                <a:sym typeface="Noto Sans Bold"/>
              </a:rPr>
              <a:t>CÔNG NGHỆ THÔNG TIN</a:t>
            </a:r>
          </a:p>
          <a:p>
            <a:pPr algn="ctr">
              <a:lnSpc>
                <a:spcPts val="3999"/>
              </a:lnSpc>
            </a:pPr>
            <a:r>
              <a:rPr lang="en-US" sz="3999" b="1" dirty="0">
                <a:solidFill>
                  <a:srgbClr val="000000"/>
                </a:solidFill>
                <a:latin typeface="Noto Sans Bold"/>
                <a:ea typeface="Noto Sans Bold"/>
                <a:cs typeface="Noto Sans Bold"/>
                <a:sym typeface="Noto Sans Bold"/>
              </a:rPr>
              <a:t>CỦA QUỐC HỘI NƯỚC CỘNG HÒA XÃ HỘI CHỦ NGHĨA VIỆT NAM</a:t>
            </a:r>
          </a:p>
          <a:p>
            <a:pPr algn="ctr">
              <a:lnSpc>
                <a:spcPts val="3999"/>
              </a:lnSpc>
            </a:pPr>
            <a:r>
              <a:rPr lang="en-US" sz="3999" b="1" dirty="0">
                <a:solidFill>
                  <a:srgbClr val="000000"/>
                </a:solidFill>
                <a:latin typeface="Noto Sans Bold"/>
                <a:ea typeface="Noto Sans Bold"/>
                <a:cs typeface="Noto Sans Bold"/>
                <a:sym typeface="Noto Sans Bold"/>
              </a:rPr>
              <a:t>SỐ 67/2006/QH11 NGÀY 29 THÁNG 6 NĂM 2006</a:t>
            </a:r>
          </a:p>
          <a:p>
            <a:pPr algn="ctr">
              <a:lnSpc>
                <a:spcPts val="3999"/>
              </a:lnSpc>
            </a:pPr>
            <a:r>
              <a:rPr lang="en-US" sz="3999" b="1" dirty="0">
                <a:solidFill>
                  <a:srgbClr val="000000"/>
                </a:solidFill>
                <a:latin typeface="Noto Sans Bold"/>
                <a:ea typeface="Noto Sans Bold"/>
                <a:cs typeface="Noto Sans Bold"/>
                <a:sym typeface="Noto Sans Bold"/>
              </a:rPr>
              <a:t> </a:t>
            </a:r>
          </a:p>
          <a:p>
            <a:pPr algn="ctr">
              <a:lnSpc>
                <a:spcPts val="3999"/>
              </a:lnSpc>
            </a:pPr>
            <a:endParaRPr lang="en-US" sz="3999" b="1" dirty="0">
              <a:solidFill>
                <a:srgbClr val="000000"/>
              </a:solidFill>
              <a:latin typeface="Noto Sans Bold"/>
              <a:ea typeface="Noto Sans Bold"/>
              <a:cs typeface="Noto Sans Bold"/>
              <a:sym typeface="Noto Sans Bold"/>
            </a:endParaRPr>
          </a:p>
        </p:txBody>
      </p:sp>
      <p:sp>
        <p:nvSpPr>
          <p:cNvPr id="16" name="Freeform 16"/>
          <p:cNvSpPr/>
          <p:nvPr/>
        </p:nvSpPr>
        <p:spPr>
          <a:xfrm>
            <a:off x="10172857" y="2785700"/>
            <a:ext cx="820691" cy="769957"/>
          </a:xfrm>
          <a:custGeom>
            <a:avLst/>
            <a:gdLst/>
            <a:ahLst/>
            <a:cxnLst/>
            <a:rect l="l" t="t" r="r" b="b"/>
            <a:pathLst>
              <a:path w="820691" h="769957">
                <a:moveTo>
                  <a:pt x="0" y="0"/>
                </a:moveTo>
                <a:lnTo>
                  <a:pt x="820691" y="0"/>
                </a:lnTo>
                <a:lnTo>
                  <a:pt x="820691" y="769958"/>
                </a:lnTo>
                <a:lnTo>
                  <a:pt x="0" y="76995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7" name="Freeform 17"/>
          <p:cNvSpPr/>
          <p:nvPr/>
        </p:nvSpPr>
        <p:spPr>
          <a:xfrm>
            <a:off x="518209" y="8503498"/>
            <a:ext cx="1020982" cy="1039889"/>
          </a:xfrm>
          <a:custGeom>
            <a:avLst/>
            <a:gdLst/>
            <a:ahLst/>
            <a:cxnLst/>
            <a:rect l="l" t="t" r="r" b="b"/>
            <a:pathLst>
              <a:path w="1020982" h="1039889">
                <a:moveTo>
                  <a:pt x="0" y="0"/>
                </a:moveTo>
                <a:lnTo>
                  <a:pt x="1020982" y="0"/>
                </a:lnTo>
                <a:lnTo>
                  <a:pt x="1020982" y="1039889"/>
                </a:lnTo>
                <a:lnTo>
                  <a:pt x="0" y="103988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18" name="Freeform 18"/>
          <p:cNvSpPr/>
          <p:nvPr/>
        </p:nvSpPr>
        <p:spPr>
          <a:xfrm>
            <a:off x="16296204" y="1028700"/>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19" name="Freeform 19"/>
          <p:cNvSpPr/>
          <p:nvPr/>
        </p:nvSpPr>
        <p:spPr>
          <a:xfrm>
            <a:off x="16734626" y="5103725"/>
            <a:ext cx="1049348" cy="803228"/>
          </a:xfrm>
          <a:custGeom>
            <a:avLst/>
            <a:gdLst/>
            <a:ahLst/>
            <a:cxnLst/>
            <a:rect l="l" t="t" r="r" b="b"/>
            <a:pathLst>
              <a:path w="1049348" h="803228">
                <a:moveTo>
                  <a:pt x="0" y="0"/>
                </a:moveTo>
                <a:lnTo>
                  <a:pt x="1049348" y="0"/>
                </a:lnTo>
                <a:lnTo>
                  <a:pt x="1049348" y="803229"/>
                </a:lnTo>
                <a:lnTo>
                  <a:pt x="0" y="80322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grpSp>
        <p:nvGrpSpPr>
          <p:cNvPr id="20" name="Group 20"/>
          <p:cNvGrpSpPr/>
          <p:nvPr/>
        </p:nvGrpSpPr>
        <p:grpSpPr>
          <a:xfrm>
            <a:off x="12281183" y="9435414"/>
            <a:ext cx="6070235" cy="596313"/>
            <a:chOff x="0" y="0"/>
            <a:chExt cx="8093646" cy="795084"/>
          </a:xfrm>
        </p:grpSpPr>
        <p:sp>
          <p:nvSpPr>
            <p:cNvPr id="21" name="Freeform 21"/>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22" name="TextBox 22"/>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2251120057 - Nguyễn Thị Thùy Trang</a:t>
              </a:r>
            </a:p>
          </p:txBody>
        </p:sp>
      </p:grpSp>
      <p:sp>
        <p:nvSpPr>
          <p:cNvPr id="23" name="Freeform 23"/>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3"/>
            <a:stretch>
              <a:fillRect/>
            </a:stretch>
          </a:blipFill>
        </p:spPr>
        <p:txBody>
          <a:bodyPr/>
          <a:lstStyle/>
          <a:p>
            <a:endParaRPr 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2617314" flipH="1" flipV="1">
            <a:off x="-3256749" y="-2330272"/>
            <a:ext cx="11298331" cy="8442935"/>
          </a:xfrm>
          <a:custGeom>
            <a:avLst/>
            <a:gdLst/>
            <a:ahLst/>
            <a:cxnLst/>
            <a:rect l="l" t="t" r="r" b="b"/>
            <a:pathLst>
              <a:path w="11298331" h="8442935">
                <a:moveTo>
                  <a:pt x="11298332" y="8442935"/>
                </a:moveTo>
                <a:lnTo>
                  <a:pt x="0" y="8442935"/>
                </a:lnTo>
                <a:lnTo>
                  <a:pt x="0" y="0"/>
                </a:lnTo>
                <a:lnTo>
                  <a:pt x="11298332" y="0"/>
                </a:lnTo>
                <a:lnTo>
                  <a:pt x="11298332" y="844293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2617314" flipH="1" flipV="1">
            <a:off x="-2619300" y="-2080040"/>
            <a:ext cx="10093372" cy="7542502"/>
          </a:xfrm>
          <a:custGeom>
            <a:avLst/>
            <a:gdLst/>
            <a:ahLst/>
            <a:cxnLst/>
            <a:rect l="l" t="t" r="r" b="b"/>
            <a:pathLst>
              <a:path w="10093372" h="7542502">
                <a:moveTo>
                  <a:pt x="10093372" y="7542502"/>
                </a:moveTo>
                <a:lnTo>
                  <a:pt x="0" y="7542502"/>
                </a:lnTo>
                <a:lnTo>
                  <a:pt x="0" y="0"/>
                </a:lnTo>
                <a:lnTo>
                  <a:pt x="10093372" y="0"/>
                </a:lnTo>
                <a:lnTo>
                  <a:pt x="10093372" y="7542502"/>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2783339">
            <a:off x="-1305034" y="-2451355"/>
            <a:ext cx="6934800" cy="6960109"/>
          </a:xfrm>
          <a:custGeom>
            <a:avLst/>
            <a:gdLst/>
            <a:ahLst/>
            <a:cxnLst/>
            <a:rect l="l" t="t" r="r" b="b"/>
            <a:pathLst>
              <a:path w="6934800" h="6960109">
                <a:moveTo>
                  <a:pt x="0" y="0"/>
                </a:moveTo>
                <a:lnTo>
                  <a:pt x="6934799" y="0"/>
                </a:lnTo>
                <a:lnTo>
                  <a:pt x="6934799" y="6960110"/>
                </a:lnTo>
                <a:lnTo>
                  <a:pt x="0" y="69601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5" name="Group 5"/>
          <p:cNvGrpSpPr/>
          <p:nvPr/>
        </p:nvGrpSpPr>
        <p:grpSpPr>
          <a:xfrm>
            <a:off x="355742" y="2178190"/>
            <a:ext cx="6717990" cy="5014448"/>
            <a:chOff x="0" y="0"/>
            <a:chExt cx="1040792" cy="776869"/>
          </a:xfrm>
        </p:grpSpPr>
        <p:sp>
          <p:nvSpPr>
            <p:cNvPr id="6" name="Freeform 6"/>
            <p:cNvSpPr/>
            <p:nvPr/>
          </p:nvSpPr>
          <p:spPr>
            <a:xfrm>
              <a:off x="0" y="0"/>
              <a:ext cx="1040792" cy="776869"/>
            </a:xfrm>
            <a:custGeom>
              <a:avLst/>
              <a:gdLst/>
              <a:ahLst/>
              <a:cxnLst/>
              <a:rect l="l" t="t" r="r" b="b"/>
              <a:pathLst>
                <a:path w="1040792" h="776869">
                  <a:moveTo>
                    <a:pt x="34572" y="0"/>
                  </a:moveTo>
                  <a:lnTo>
                    <a:pt x="1006220" y="0"/>
                  </a:lnTo>
                  <a:cubicBezTo>
                    <a:pt x="1015389" y="0"/>
                    <a:pt x="1024183" y="3642"/>
                    <a:pt x="1030666" y="10126"/>
                  </a:cubicBezTo>
                  <a:cubicBezTo>
                    <a:pt x="1037150" y="16610"/>
                    <a:pt x="1040792" y="25403"/>
                    <a:pt x="1040792" y="34572"/>
                  </a:cubicBezTo>
                  <a:lnTo>
                    <a:pt x="1040792" y="742297"/>
                  </a:lnTo>
                  <a:cubicBezTo>
                    <a:pt x="1040792" y="761391"/>
                    <a:pt x="1025314" y="776869"/>
                    <a:pt x="1006220" y="776869"/>
                  </a:cubicBezTo>
                  <a:lnTo>
                    <a:pt x="34572" y="776869"/>
                  </a:lnTo>
                  <a:cubicBezTo>
                    <a:pt x="15479" y="776869"/>
                    <a:pt x="0" y="761391"/>
                    <a:pt x="0" y="742297"/>
                  </a:cubicBezTo>
                  <a:lnTo>
                    <a:pt x="0" y="34572"/>
                  </a:lnTo>
                  <a:cubicBezTo>
                    <a:pt x="0" y="15479"/>
                    <a:pt x="15479" y="0"/>
                    <a:pt x="34572" y="0"/>
                  </a:cubicBezTo>
                  <a:close/>
                </a:path>
              </a:pathLst>
            </a:custGeom>
            <a:blipFill>
              <a:blip r:embed="rId8"/>
              <a:stretch>
                <a:fillRect l="-6016" r="-6016"/>
              </a:stretch>
            </a:blipFill>
          </p:spPr>
          <p:txBody>
            <a:bodyPr/>
            <a:lstStyle/>
            <a:p>
              <a:endParaRPr lang="en-US"/>
            </a:p>
          </p:txBody>
        </p:sp>
      </p:grpSp>
      <p:grpSp>
        <p:nvGrpSpPr>
          <p:cNvPr id="7" name="Group 7"/>
          <p:cNvGrpSpPr/>
          <p:nvPr/>
        </p:nvGrpSpPr>
        <p:grpSpPr>
          <a:xfrm>
            <a:off x="2162366" y="5486084"/>
            <a:ext cx="5988713" cy="4510912"/>
            <a:chOff x="0" y="0"/>
            <a:chExt cx="1224121" cy="922052"/>
          </a:xfrm>
        </p:grpSpPr>
        <p:sp>
          <p:nvSpPr>
            <p:cNvPr id="8" name="Freeform 8"/>
            <p:cNvSpPr/>
            <p:nvPr/>
          </p:nvSpPr>
          <p:spPr>
            <a:xfrm>
              <a:off x="0" y="0"/>
              <a:ext cx="1224121" cy="922052"/>
            </a:xfrm>
            <a:custGeom>
              <a:avLst/>
              <a:gdLst/>
              <a:ahLst/>
              <a:cxnLst/>
              <a:rect l="l" t="t" r="r" b="b"/>
              <a:pathLst>
                <a:path w="1224121" h="922052">
                  <a:moveTo>
                    <a:pt x="71101" y="0"/>
                  </a:moveTo>
                  <a:lnTo>
                    <a:pt x="1153020" y="0"/>
                  </a:lnTo>
                  <a:cubicBezTo>
                    <a:pt x="1171877" y="0"/>
                    <a:pt x="1189962" y="7491"/>
                    <a:pt x="1203296" y="20825"/>
                  </a:cubicBezTo>
                  <a:cubicBezTo>
                    <a:pt x="1216630" y="34159"/>
                    <a:pt x="1224121" y="52244"/>
                    <a:pt x="1224121" y="71101"/>
                  </a:cubicBezTo>
                  <a:lnTo>
                    <a:pt x="1224121" y="850950"/>
                  </a:lnTo>
                  <a:cubicBezTo>
                    <a:pt x="1224121" y="869808"/>
                    <a:pt x="1216630" y="887893"/>
                    <a:pt x="1203296" y="901227"/>
                  </a:cubicBezTo>
                  <a:cubicBezTo>
                    <a:pt x="1189962" y="914561"/>
                    <a:pt x="1171877" y="922052"/>
                    <a:pt x="1153020" y="922052"/>
                  </a:cubicBezTo>
                  <a:lnTo>
                    <a:pt x="71101" y="922052"/>
                  </a:lnTo>
                  <a:cubicBezTo>
                    <a:pt x="31833" y="922052"/>
                    <a:pt x="0" y="890219"/>
                    <a:pt x="0" y="850950"/>
                  </a:cubicBezTo>
                  <a:lnTo>
                    <a:pt x="0" y="71101"/>
                  </a:lnTo>
                  <a:cubicBezTo>
                    <a:pt x="0" y="31833"/>
                    <a:pt x="31833" y="0"/>
                    <a:pt x="71101" y="0"/>
                  </a:cubicBezTo>
                  <a:close/>
                </a:path>
              </a:pathLst>
            </a:custGeom>
            <a:blipFill>
              <a:blip r:embed="rId9"/>
              <a:stretch>
                <a:fillRect l="-13501"/>
              </a:stretch>
            </a:blipFill>
            <a:ln w="142875" cap="rnd">
              <a:solidFill>
                <a:srgbClr val="F8E4CB"/>
              </a:solidFill>
              <a:prstDash val="solid"/>
              <a:round/>
            </a:ln>
          </p:spPr>
          <p:txBody>
            <a:bodyPr/>
            <a:lstStyle/>
            <a:p>
              <a:endParaRPr lang="en-US"/>
            </a:p>
          </p:txBody>
        </p:sp>
      </p:grpSp>
      <p:sp>
        <p:nvSpPr>
          <p:cNvPr id="9" name="Freeform 9"/>
          <p:cNvSpPr/>
          <p:nvPr/>
        </p:nvSpPr>
        <p:spPr>
          <a:xfrm flipH="1">
            <a:off x="11727413" y="4377499"/>
            <a:ext cx="6569262" cy="5963694"/>
          </a:xfrm>
          <a:custGeom>
            <a:avLst/>
            <a:gdLst/>
            <a:ahLst/>
            <a:cxnLst/>
            <a:rect l="l" t="t" r="r" b="b"/>
            <a:pathLst>
              <a:path w="6569262" h="5963694">
                <a:moveTo>
                  <a:pt x="6569262" y="0"/>
                </a:moveTo>
                <a:lnTo>
                  <a:pt x="0" y="0"/>
                </a:lnTo>
                <a:lnTo>
                  <a:pt x="0" y="5963694"/>
                </a:lnTo>
                <a:lnTo>
                  <a:pt x="6569262" y="5963694"/>
                </a:lnTo>
                <a:lnTo>
                  <a:pt x="6569262"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flipH="1">
            <a:off x="13067025" y="5486084"/>
            <a:ext cx="5220975" cy="4739694"/>
          </a:xfrm>
          <a:custGeom>
            <a:avLst/>
            <a:gdLst/>
            <a:ahLst/>
            <a:cxnLst/>
            <a:rect l="l" t="t" r="r" b="b"/>
            <a:pathLst>
              <a:path w="5220975" h="4739694">
                <a:moveTo>
                  <a:pt x="5220975" y="0"/>
                </a:moveTo>
                <a:lnTo>
                  <a:pt x="0" y="0"/>
                </a:lnTo>
                <a:lnTo>
                  <a:pt x="0" y="4739695"/>
                </a:lnTo>
                <a:lnTo>
                  <a:pt x="5220975" y="4739695"/>
                </a:lnTo>
                <a:lnTo>
                  <a:pt x="5220975"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1" name="Freeform 11"/>
          <p:cNvSpPr/>
          <p:nvPr/>
        </p:nvSpPr>
        <p:spPr>
          <a:xfrm rot="3220324">
            <a:off x="14909977" y="7188070"/>
            <a:ext cx="4597096" cy="5170558"/>
          </a:xfrm>
          <a:custGeom>
            <a:avLst/>
            <a:gdLst/>
            <a:ahLst/>
            <a:cxnLst/>
            <a:rect l="l" t="t" r="r" b="b"/>
            <a:pathLst>
              <a:path w="4597096" h="5170558">
                <a:moveTo>
                  <a:pt x="0" y="0"/>
                </a:moveTo>
                <a:lnTo>
                  <a:pt x="4597096" y="0"/>
                </a:lnTo>
                <a:lnTo>
                  <a:pt x="4597096" y="5170558"/>
                </a:lnTo>
                <a:lnTo>
                  <a:pt x="0" y="517055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TextBox 12"/>
          <p:cNvSpPr txBox="1"/>
          <p:nvPr/>
        </p:nvSpPr>
        <p:spPr>
          <a:xfrm>
            <a:off x="683263" y="977405"/>
            <a:ext cx="12383762" cy="880306"/>
          </a:xfrm>
          <a:prstGeom prst="rect">
            <a:avLst/>
          </a:prstGeom>
        </p:spPr>
        <p:txBody>
          <a:bodyPr lIns="0" tIns="0" rIns="0" bIns="0" rtlCol="0" anchor="t">
            <a:spAutoFit/>
          </a:bodyPr>
          <a:lstStyle/>
          <a:p>
            <a:pPr algn="l">
              <a:lnSpc>
                <a:spcPts val="7480"/>
              </a:lnSpc>
            </a:pPr>
            <a:r>
              <a:rPr lang="en-US" sz="4800" b="1" dirty="0" err="1">
                <a:solidFill>
                  <a:srgbClr val="005AB0"/>
                </a:solidFill>
                <a:latin typeface="Arial" panose="020B0604020202020204" pitchFamily="34" charset="0"/>
                <a:ea typeface="Noto Sans Bold"/>
                <a:cs typeface="Arial" panose="020B0604020202020204" pitchFamily="34" charset="0"/>
                <a:sym typeface="Noto Sans Bold"/>
              </a:rPr>
              <a:t>Điều</a:t>
            </a:r>
            <a:r>
              <a:rPr lang="en-US" sz="4800" b="1" dirty="0">
                <a:solidFill>
                  <a:srgbClr val="005AB0"/>
                </a:solidFill>
                <a:latin typeface="Arial" panose="020B0604020202020204" pitchFamily="34" charset="0"/>
                <a:ea typeface="Noto Sans Bold"/>
                <a:cs typeface="Arial" panose="020B0604020202020204" pitchFamily="34" charset="0"/>
                <a:sym typeface="Noto Sans Bold"/>
              </a:rPr>
              <a:t> 1. Phạm vi </a:t>
            </a:r>
            <a:r>
              <a:rPr lang="en-US" sz="4800" b="1" dirty="0" err="1">
                <a:solidFill>
                  <a:srgbClr val="005AB0"/>
                </a:solidFill>
                <a:latin typeface="Arial" panose="020B0604020202020204" pitchFamily="34" charset="0"/>
                <a:ea typeface="Noto Sans Bold"/>
                <a:cs typeface="Arial" panose="020B0604020202020204" pitchFamily="34" charset="0"/>
                <a:sym typeface="Noto Sans Bold"/>
              </a:rPr>
              <a:t>điều</a:t>
            </a:r>
            <a:r>
              <a:rPr lang="en-US" sz="4800" b="1" dirty="0">
                <a:solidFill>
                  <a:srgbClr val="005AB0"/>
                </a:solidFill>
                <a:latin typeface="Arial" panose="020B0604020202020204" pitchFamily="34" charset="0"/>
                <a:ea typeface="Noto Sans Bold"/>
                <a:cs typeface="Arial" panose="020B0604020202020204" pitchFamily="34" charset="0"/>
                <a:sym typeface="Noto Sans Bold"/>
              </a:rPr>
              <a:t> </a:t>
            </a:r>
            <a:r>
              <a:rPr lang="en-US" sz="4800" b="1" dirty="0" err="1">
                <a:solidFill>
                  <a:srgbClr val="005AB0"/>
                </a:solidFill>
                <a:latin typeface="Arial" panose="020B0604020202020204" pitchFamily="34" charset="0"/>
                <a:ea typeface="Noto Sans Bold"/>
                <a:cs typeface="Arial" panose="020B0604020202020204" pitchFamily="34" charset="0"/>
                <a:sym typeface="Noto Sans Bold"/>
              </a:rPr>
              <a:t>chỉnh</a:t>
            </a:r>
            <a:endParaRPr lang="en-US" sz="4800" b="1" dirty="0">
              <a:solidFill>
                <a:srgbClr val="005AB0"/>
              </a:solidFill>
              <a:latin typeface="Arial" panose="020B0604020202020204" pitchFamily="34" charset="0"/>
              <a:ea typeface="Noto Sans Bold"/>
              <a:cs typeface="Arial" panose="020B0604020202020204" pitchFamily="34" charset="0"/>
              <a:sym typeface="Noto Sans Bold"/>
            </a:endParaRPr>
          </a:p>
        </p:txBody>
      </p:sp>
      <p:sp>
        <p:nvSpPr>
          <p:cNvPr id="13" name="TextBox 13"/>
          <p:cNvSpPr txBox="1"/>
          <p:nvPr/>
        </p:nvSpPr>
        <p:spPr>
          <a:xfrm>
            <a:off x="8295306" y="2381195"/>
            <a:ext cx="9625229" cy="5714321"/>
          </a:xfrm>
          <a:prstGeom prst="rect">
            <a:avLst/>
          </a:prstGeom>
        </p:spPr>
        <p:txBody>
          <a:bodyPr lIns="0" tIns="0" rIns="0" bIns="0" rtlCol="0" anchor="t">
            <a:spAutoFit/>
          </a:bodyPr>
          <a:lstStyle/>
          <a:p>
            <a:pPr algn="just">
              <a:lnSpc>
                <a:spcPct val="150000"/>
              </a:lnSpc>
              <a:spcBef>
                <a:spcPct val="0"/>
              </a:spcBef>
            </a:pPr>
            <a:r>
              <a:rPr lang="en-US" sz="3600" dirty="0" err="1">
                <a:solidFill>
                  <a:srgbClr val="171814"/>
                </a:solidFill>
                <a:latin typeface="Arial" panose="020B0604020202020204" pitchFamily="34" charset="0"/>
                <a:ea typeface="Poppins"/>
                <a:cs typeface="Arial" panose="020B0604020202020204" pitchFamily="34" charset="0"/>
                <a:sym typeface="Poppins"/>
              </a:rPr>
              <a:t>Luật</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này</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quy</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định</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về</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hoạt</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động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ứng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dụng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và</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phát</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triển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công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nghệ</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thông</a:t>
            </a:r>
            <a:r>
              <a:rPr lang="en-US" sz="3600" dirty="0">
                <a:solidFill>
                  <a:srgbClr val="171814"/>
                </a:solidFill>
                <a:latin typeface="Arial" panose="020B0604020202020204" pitchFamily="34" charset="0"/>
                <a:ea typeface="Poppins"/>
                <a:cs typeface="Arial" panose="020B0604020202020204" pitchFamily="34" charset="0"/>
                <a:sym typeface="Poppins"/>
              </a:rPr>
              <a:t> tin, </a:t>
            </a:r>
            <a:r>
              <a:rPr lang="en-US" sz="3600" dirty="0" err="1">
                <a:solidFill>
                  <a:srgbClr val="171814"/>
                </a:solidFill>
                <a:latin typeface="Arial" panose="020B0604020202020204" pitchFamily="34" charset="0"/>
                <a:ea typeface="Poppins"/>
                <a:cs typeface="Arial" panose="020B0604020202020204" pitchFamily="34" charset="0"/>
                <a:sym typeface="Poppins"/>
              </a:rPr>
              <a:t>các</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biện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pháp</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bảo</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đảm</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ứng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dụng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và</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phát</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triển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công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nghệ</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thông</a:t>
            </a:r>
            <a:r>
              <a:rPr lang="en-US" sz="3600" dirty="0">
                <a:solidFill>
                  <a:srgbClr val="171814"/>
                </a:solidFill>
                <a:latin typeface="Arial" panose="020B0604020202020204" pitchFamily="34" charset="0"/>
                <a:ea typeface="Poppins"/>
                <a:cs typeface="Arial" panose="020B0604020202020204" pitchFamily="34" charset="0"/>
                <a:sym typeface="Poppins"/>
              </a:rPr>
              <a:t> tin, </a:t>
            </a:r>
            <a:r>
              <a:rPr lang="en-US" sz="3600" dirty="0" err="1">
                <a:solidFill>
                  <a:srgbClr val="171814"/>
                </a:solidFill>
                <a:latin typeface="Arial" panose="020B0604020202020204" pitchFamily="34" charset="0"/>
                <a:ea typeface="Poppins"/>
                <a:cs typeface="Arial" panose="020B0604020202020204" pitchFamily="34" charset="0"/>
                <a:sym typeface="Poppins"/>
              </a:rPr>
              <a:t>quyền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và</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nghĩa</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vụ</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của</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cơ</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quan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tổ</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chức</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cá</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nhân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sau</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đây</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gọi</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chung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là</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tổ</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chức</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cá</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nhân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tham</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gia</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hoạt</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động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ứng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dụng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và</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phát</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triển</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công</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nghệ</a:t>
            </a:r>
            <a:r>
              <a:rPr lang="en-US" sz="3600" dirty="0">
                <a:solidFill>
                  <a:srgbClr val="171814"/>
                </a:solidFill>
                <a:latin typeface="Arial" panose="020B0604020202020204" pitchFamily="34" charset="0"/>
                <a:ea typeface="Poppins"/>
                <a:cs typeface="Arial" panose="020B0604020202020204" pitchFamily="34" charset="0"/>
                <a:sym typeface="Poppins"/>
              </a:rPr>
              <a:t> </a:t>
            </a:r>
            <a:r>
              <a:rPr lang="en-US" sz="3600" dirty="0" err="1">
                <a:solidFill>
                  <a:srgbClr val="171814"/>
                </a:solidFill>
                <a:latin typeface="Arial" panose="020B0604020202020204" pitchFamily="34" charset="0"/>
                <a:ea typeface="Poppins"/>
                <a:cs typeface="Arial" panose="020B0604020202020204" pitchFamily="34" charset="0"/>
                <a:sym typeface="Poppins"/>
              </a:rPr>
              <a:t>thông</a:t>
            </a:r>
            <a:r>
              <a:rPr lang="en-US" sz="3600" dirty="0">
                <a:solidFill>
                  <a:srgbClr val="171814"/>
                </a:solidFill>
                <a:latin typeface="Arial" panose="020B0604020202020204" pitchFamily="34" charset="0"/>
                <a:ea typeface="Poppins"/>
                <a:cs typeface="Arial" panose="020B0604020202020204" pitchFamily="34" charset="0"/>
                <a:sym typeface="Poppins"/>
              </a:rPr>
              <a:t> tin.</a:t>
            </a:r>
          </a:p>
        </p:txBody>
      </p:sp>
      <p:sp>
        <p:nvSpPr>
          <p:cNvPr id="14" name="Freeform 14"/>
          <p:cNvSpPr/>
          <p:nvPr/>
        </p:nvSpPr>
        <p:spPr>
          <a:xfrm>
            <a:off x="15267167" y="643721"/>
            <a:ext cx="820691" cy="769957"/>
          </a:xfrm>
          <a:custGeom>
            <a:avLst/>
            <a:gdLst/>
            <a:ahLst/>
            <a:cxnLst/>
            <a:rect l="l" t="t" r="r" b="b"/>
            <a:pathLst>
              <a:path w="820691" h="769957">
                <a:moveTo>
                  <a:pt x="0" y="0"/>
                </a:moveTo>
                <a:lnTo>
                  <a:pt x="820691" y="0"/>
                </a:lnTo>
                <a:lnTo>
                  <a:pt x="820691" y="769958"/>
                </a:lnTo>
                <a:lnTo>
                  <a:pt x="0" y="76995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5" name="Freeform 15"/>
          <p:cNvSpPr/>
          <p:nvPr/>
        </p:nvSpPr>
        <p:spPr>
          <a:xfrm>
            <a:off x="8233024" y="7967645"/>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6" name="Freeform 16"/>
          <p:cNvSpPr/>
          <p:nvPr/>
        </p:nvSpPr>
        <p:spPr>
          <a:xfrm>
            <a:off x="504026" y="897012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grpSp>
        <p:nvGrpSpPr>
          <p:cNvPr id="17" name="Group 17"/>
          <p:cNvGrpSpPr/>
          <p:nvPr/>
        </p:nvGrpSpPr>
        <p:grpSpPr>
          <a:xfrm>
            <a:off x="12281183" y="9435414"/>
            <a:ext cx="6070235" cy="596313"/>
            <a:chOff x="0" y="0"/>
            <a:chExt cx="8093646" cy="795084"/>
          </a:xfrm>
        </p:grpSpPr>
        <p:sp>
          <p:nvSpPr>
            <p:cNvPr id="18" name="Freeform 18"/>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2251120057 - Nguyễn Thị Thùy Trang</a:t>
              </a:r>
            </a:p>
          </p:txBody>
        </p:sp>
      </p:grpSp>
      <p:sp>
        <p:nvSpPr>
          <p:cNvPr id="20" name="Freeform 20"/>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2"/>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128013" y="66124"/>
            <a:ext cx="11366448" cy="7894515"/>
          </a:xfrm>
          <a:custGeom>
            <a:avLst/>
            <a:gdLst/>
            <a:ahLst/>
            <a:cxnLst/>
            <a:rect l="l" t="t" r="r" b="b"/>
            <a:pathLst>
              <a:path w="11366448" h="7894515">
                <a:moveTo>
                  <a:pt x="0" y="0"/>
                </a:moveTo>
                <a:lnTo>
                  <a:pt x="11366447" y="0"/>
                </a:lnTo>
                <a:lnTo>
                  <a:pt x="11366447" y="7894515"/>
                </a:lnTo>
                <a:lnTo>
                  <a:pt x="0" y="78945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0800000">
            <a:off x="8402076" y="66124"/>
            <a:ext cx="10092384" cy="7009619"/>
          </a:xfrm>
          <a:custGeom>
            <a:avLst/>
            <a:gdLst/>
            <a:ahLst/>
            <a:cxnLst/>
            <a:rect l="l" t="t" r="r" b="b"/>
            <a:pathLst>
              <a:path w="10092384" h="7009619">
                <a:moveTo>
                  <a:pt x="0" y="0"/>
                </a:moveTo>
                <a:lnTo>
                  <a:pt x="10092384" y="0"/>
                </a:lnTo>
                <a:lnTo>
                  <a:pt x="10092384" y="7009620"/>
                </a:lnTo>
                <a:lnTo>
                  <a:pt x="0" y="70096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62923" y="2442007"/>
            <a:ext cx="11366448" cy="7894515"/>
          </a:xfrm>
          <a:custGeom>
            <a:avLst/>
            <a:gdLst/>
            <a:ahLst/>
            <a:cxnLst/>
            <a:rect l="l" t="t" r="r" b="b"/>
            <a:pathLst>
              <a:path w="11366448" h="7894515">
                <a:moveTo>
                  <a:pt x="0" y="0"/>
                </a:moveTo>
                <a:lnTo>
                  <a:pt x="11366448" y="0"/>
                </a:lnTo>
                <a:lnTo>
                  <a:pt x="11366448" y="7894515"/>
                </a:lnTo>
                <a:lnTo>
                  <a:pt x="0" y="78945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2835798" flipH="1">
            <a:off x="-1440866" y="4098624"/>
            <a:ext cx="6111526" cy="10063890"/>
          </a:xfrm>
          <a:custGeom>
            <a:avLst/>
            <a:gdLst/>
            <a:ahLst/>
            <a:cxnLst/>
            <a:rect l="l" t="t" r="r" b="b"/>
            <a:pathLst>
              <a:path w="6111526" h="10063890">
                <a:moveTo>
                  <a:pt x="6111526" y="0"/>
                </a:moveTo>
                <a:lnTo>
                  <a:pt x="0" y="0"/>
                </a:lnTo>
                <a:lnTo>
                  <a:pt x="0" y="10063890"/>
                </a:lnTo>
                <a:lnTo>
                  <a:pt x="6111526" y="10063890"/>
                </a:lnTo>
                <a:lnTo>
                  <a:pt x="6111526"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6" name="Group 6"/>
          <p:cNvGrpSpPr/>
          <p:nvPr/>
        </p:nvGrpSpPr>
        <p:grpSpPr>
          <a:xfrm>
            <a:off x="1950931" y="1515034"/>
            <a:ext cx="6655096" cy="7256931"/>
            <a:chOff x="0" y="0"/>
            <a:chExt cx="901327" cy="982836"/>
          </a:xfrm>
        </p:grpSpPr>
        <p:sp>
          <p:nvSpPr>
            <p:cNvPr id="7" name="Freeform 7"/>
            <p:cNvSpPr/>
            <p:nvPr/>
          </p:nvSpPr>
          <p:spPr>
            <a:xfrm>
              <a:off x="0" y="0"/>
              <a:ext cx="901327" cy="982836"/>
            </a:xfrm>
            <a:custGeom>
              <a:avLst/>
              <a:gdLst/>
              <a:ahLst/>
              <a:cxnLst/>
              <a:rect l="l" t="t" r="r" b="b"/>
              <a:pathLst>
                <a:path w="901327" h="982836">
                  <a:moveTo>
                    <a:pt x="29083" y="0"/>
                  </a:moveTo>
                  <a:lnTo>
                    <a:pt x="872245" y="0"/>
                  </a:lnTo>
                  <a:cubicBezTo>
                    <a:pt x="888307" y="0"/>
                    <a:pt x="901327" y="13021"/>
                    <a:pt x="901327" y="29083"/>
                  </a:cubicBezTo>
                  <a:lnTo>
                    <a:pt x="901327" y="953754"/>
                  </a:lnTo>
                  <a:cubicBezTo>
                    <a:pt x="901327" y="969816"/>
                    <a:pt x="888307" y="982836"/>
                    <a:pt x="872245" y="982836"/>
                  </a:cubicBezTo>
                  <a:lnTo>
                    <a:pt x="29083" y="982836"/>
                  </a:lnTo>
                  <a:cubicBezTo>
                    <a:pt x="13021" y="982836"/>
                    <a:pt x="0" y="969816"/>
                    <a:pt x="0" y="953754"/>
                  </a:cubicBezTo>
                  <a:lnTo>
                    <a:pt x="0" y="29083"/>
                  </a:lnTo>
                  <a:cubicBezTo>
                    <a:pt x="0" y="13021"/>
                    <a:pt x="13021" y="0"/>
                    <a:pt x="29083" y="0"/>
                  </a:cubicBezTo>
                  <a:close/>
                </a:path>
              </a:pathLst>
            </a:custGeom>
            <a:blipFill>
              <a:blip r:embed="rId8"/>
              <a:stretch>
                <a:fillRect l="-31833" r="-31833"/>
              </a:stretch>
            </a:blipFill>
            <a:ln cap="rnd">
              <a:noFill/>
              <a:prstDash val="solid"/>
              <a:round/>
            </a:ln>
          </p:spPr>
          <p:txBody>
            <a:bodyPr/>
            <a:lstStyle/>
            <a:p>
              <a:endParaRPr lang="en-US"/>
            </a:p>
          </p:txBody>
        </p:sp>
      </p:grpSp>
      <p:sp>
        <p:nvSpPr>
          <p:cNvPr id="8" name="Freeform 8"/>
          <p:cNvSpPr/>
          <p:nvPr/>
        </p:nvSpPr>
        <p:spPr>
          <a:xfrm>
            <a:off x="11307161" y="-4368436"/>
            <a:ext cx="9907794" cy="8736873"/>
          </a:xfrm>
          <a:custGeom>
            <a:avLst/>
            <a:gdLst/>
            <a:ahLst/>
            <a:cxnLst/>
            <a:rect l="l" t="t" r="r" b="b"/>
            <a:pathLst>
              <a:path w="9907794" h="8736873">
                <a:moveTo>
                  <a:pt x="0" y="0"/>
                </a:moveTo>
                <a:lnTo>
                  <a:pt x="9907794" y="0"/>
                </a:lnTo>
                <a:lnTo>
                  <a:pt x="9907794" y="8736872"/>
                </a:lnTo>
                <a:lnTo>
                  <a:pt x="0" y="873687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9" name="TextBox 9"/>
          <p:cNvSpPr txBox="1"/>
          <p:nvPr/>
        </p:nvSpPr>
        <p:spPr>
          <a:xfrm>
            <a:off x="9006059" y="3485209"/>
            <a:ext cx="8519942" cy="5094793"/>
          </a:xfrm>
          <a:prstGeom prst="rect">
            <a:avLst/>
          </a:prstGeom>
        </p:spPr>
        <p:txBody>
          <a:bodyPr wrap="square" lIns="0" tIns="0" rIns="0" bIns="0" rtlCol="0" anchor="t">
            <a:spAutoFit/>
          </a:bodyPr>
          <a:lstStyle/>
          <a:p>
            <a:pPr algn="just">
              <a:lnSpc>
                <a:spcPts val="3957"/>
              </a:lnSpc>
            </a:pPr>
            <a:r>
              <a:rPr lang="en-US" sz="3200" b="1" dirty="0" err="1">
                <a:solidFill>
                  <a:srgbClr val="171814"/>
                </a:solidFill>
                <a:latin typeface="Arial" panose="020B0604020202020204" pitchFamily="34" charset="0"/>
                <a:ea typeface="Poppins"/>
                <a:cs typeface="Arial" panose="020B0604020202020204" pitchFamily="34" charset="0"/>
                <a:sym typeface="Poppins"/>
              </a:rPr>
              <a:t>Luật</a:t>
            </a:r>
            <a:r>
              <a:rPr lang="en-US" sz="3200" b="1" dirty="0">
                <a:solidFill>
                  <a:srgbClr val="171814"/>
                </a:solidFill>
                <a:latin typeface="Arial" panose="020B0604020202020204" pitchFamily="34" charset="0"/>
                <a:ea typeface="Poppins"/>
                <a:cs typeface="Arial" panose="020B0604020202020204" pitchFamily="34" charset="0"/>
                <a:sym typeface="Poppins"/>
              </a:rPr>
              <a:t> </a:t>
            </a:r>
            <a:r>
              <a:rPr lang="en-US" sz="3200" b="1" dirty="0" err="1">
                <a:solidFill>
                  <a:srgbClr val="171814"/>
                </a:solidFill>
                <a:latin typeface="Arial" panose="020B0604020202020204" pitchFamily="34" charset="0"/>
                <a:ea typeface="Poppins"/>
                <a:cs typeface="Arial" panose="020B0604020202020204" pitchFamily="34" charset="0"/>
                <a:sym typeface="Poppins"/>
              </a:rPr>
              <a:t>này</a:t>
            </a:r>
            <a:r>
              <a:rPr lang="en-US" sz="3200" b="1" dirty="0">
                <a:solidFill>
                  <a:srgbClr val="171814"/>
                </a:solidFill>
                <a:latin typeface="Arial" panose="020B0604020202020204" pitchFamily="34" charset="0"/>
                <a:ea typeface="Poppins"/>
                <a:cs typeface="Arial" panose="020B0604020202020204" pitchFamily="34" charset="0"/>
                <a:sym typeface="Poppins"/>
              </a:rPr>
              <a:t> </a:t>
            </a:r>
            <a:r>
              <a:rPr lang="en-US" sz="3200" b="1" dirty="0" err="1">
                <a:solidFill>
                  <a:srgbClr val="171814"/>
                </a:solidFill>
                <a:latin typeface="Arial" panose="020B0604020202020204" pitchFamily="34" charset="0"/>
                <a:ea typeface="Poppins"/>
                <a:cs typeface="Arial" panose="020B0604020202020204" pitchFamily="34" charset="0"/>
                <a:sym typeface="Poppins"/>
              </a:rPr>
              <a:t>áp</a:t>
            </a:r>
            <a:r>
              <a:rPr lang="en-US" sz="3200" b="1" dirty="0">
                <a:solidFill>
                  <a:srgbClr val="171814"/>
                </a:solidFill>
                <a:latin typeface="Arial" panose="020B0604020202020204" pitchFamily="34" charset="0"/>
                <a:ea typeface="Poppins"/>
                <a:cs typeface="Arial" panose="020B0604020202020204" pitchFamily="34" charset="0"/>
                <a:sym typeface="Poppins"/>
              </a:rPr>
              <a:t> </a:t>
            </a:r>
            <a:r>
              <a:rPr lang="en-US" sz="3200" b="1" dirty="0" err="1">
                <a:solidFill>
                  <a:srgbClr val="171814"/>
                </a:solidFill>
                <a:latin typeface="Arial" panose="020B0604020202020204" pitchFamily="34" charset="0"/>
                <a:ea typeface="Poppins"/>
                <a:cs typeface="Arial" panose="020B0604020202020204" pitchFamily="34" charset="0"/>
                <a:sym typeface="Poppins"/>
              </a:rPr>
              <a:t>dụng</a:t>
            </a:r>
            <a:r>
              <a:rPr lang="en-US" sz="3200" b="1" dirty="0">
                <a:solidFill>
                  <a:srgbClr val="171814"/>
                </a:solidFill>
                <a:latin typeface="Arial" panose="020B0604020202020204" pitchFamily="34" charset="0"/>
                <a:ea typeface="Poppins"/>
                <a:cs typeface="Arial" panose="020B0604020202020204" pitchFamily="34" charset="0"/>
                <a:sym typeface="Poppins"/>
              </a:rPr>
              <a:t> </a:t>
            </a:r>
            <a:r>
              <a:rPr lang="en-US" sz="3200" b="1" dirty="0" err="1">
                <a:solidFill>
                  <a:srgbClr val="171814"/>
                </a:solidFill>
                <a:latin typeface="Arial" panose="020B0604020202020204" pitchFamily="34" charset="0"/>
                <a:ea typeface="Poppins"/>
                <a:cs typeface="Arial" panose="020B0604020202020204" pitchFamily="34" charset="0"/>
                <a:sym typeface="Poppins"/>
              </a:rPr>
              <a:t>cho</a:t>
            </a:r>
            <a:r>
              <a:rPr lang="en-US" sz="3200" b="1" dirty="0">
                <a:solidFill>
                  <a:srgbClr val="171814"/>
                </a:solidFill>
                <a:latin typeface="Arial" panose="020B0604020202020204" pitchFamily="34" charset="0"/>
                <a:ea typeface="Poppins"/>
                <a:cs typeface="Arial" panose="020B0604020202020204" pitchFamily="34" charset="0"/>
                <a:sym typeface="Poppins"/>
              </a:rPr>
              <a:t>:</a:t>
            </a:r>
          </a:p>
          <a:p>
            <a:pPr marL="610305" lvl="1" indent="-305153" algn="just">
              <a:lnSpc>
                <a:spcPts val="3957"/>
              </a:lnSpc>
              <a:buFont typeface="Arial"/>
              <a:buChar char="•"/>
            </a:pPr>
            <a:r>
              <a:rPr lang="en-US" sz="3200" dirty="0" err="1">
                <a:solidFill>
                  <a:srgbClr val="171814"/>
                </a:solidFill>
                <a:latin typeface="Arial" panose="020B0604020202020204" pitchFamily="34" charset="0"/>
                <a:ea typeface="Poppins"/>
                <a:cs typeface="Arial" panose="020B0604020202020204" pitchFamily="34" charset="0"/>
                <a:sym typeface="Poppins"/>
              </a:rPr>
              <a:t>Tổ</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chức</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cá</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nhân</a:t>
            </a:r>
            <a:r>
              <a:rPr lang="en-US" sz="3200" dirty="0">
                <a:solidFill>
                  <a:srgbClr val="171814"/>
                </a:solidFill>
                <a:latin typeface="Arial" panose="020B0604020202020204" pitchFamily="34" charset="0"/>
                <a:ea typeface="Poppins"/>
                <a:cs typeface="Arial" panose="020B0604020202020204" pitchFamily="34" charset="0"/>
                <a:sym typeface="Poppins"/>
              </a:rPr>
              <a:t> Việt Nam;</a:t>
            </a:r>
          </a:p>
          <a:p>
            <a:pPr marL="610305" lvl="1" indent="-305153" algn="just">
              <a:lnSpc>
                <a:spcPts val="3957"/>
              </a:lnSpc>
              <a:buFont typeface="Arial"/>
              <a:buChar char="•"/>
            </a:pPr>
            <a:r>
              <a:rPr lang="en-US" sz="3200" dirty="0" err="1">
                <a:solidFill>
                  <a:srgbClr val="171814"/>
                </a:solidFill>
                <a:latin typeface="Arial" panose="020B0604020202020204" pitchFamily="34" charset="0"/>
                <a:ea typeface="Poppins"/>
                <a:cs typeface="Arial" panose="020B0604020202020204" pitchFamily="34" charset="0"/>
                <a:sym typeface="Poppins"/>
              </a:rPr>
              <a:t>Tổ</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chức</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cá</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nhân</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nước</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ngoài</a:t>
            </a:r>
            <a:endParaRPr lang="en-US" sz="3200" dirty="0">
              <a:solidFill>
                <a:srgbClr val="171814"/>
              </a:solidFill>
              <a:latin typeface="Arial" panose="020B0604020202020204" pitchFamily="34" charset="0"/>
              <a:ea typeface="Poppins"/>
              <a:cs typeface="Arial" panose="020B0604020202020204" pitchFamily="34" charset="0"/>
              <a:sym typeface="Poppins"/>
            </a:endParaRPr>
          </a:p>
          <a:p>
            <a:pPr algn="just">
              <a:lnSpc>
                <a:spcPts val="3957"/>
              </a:lnSpc>
            </a:pPr>
            <a:r>
              <a:rPr lang="en-US" sz="3200" dirty="0" err="1">
                <a:solidFill>
                  <a:srgbClr val="171814"/>
                </a:solidFill>
                <a:latin typeface="Arial" panose="020B0604020202020204" pitchFamily="34" charset="0"/>
                <a:ea typeface="Poppins"/>
                <a:cs typeface="Arial" panose="020B0604020202020204" pitchFamily="34" charset="0"/>
                <a:sym typeface="Poppins"/>
              </a:rPr>
              <a:t>miễn</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là</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họ</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tham</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gia</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hoạt</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động</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ứng</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dụng</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và</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phát</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triển</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công</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nghệ</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thông</a:t>
            </a:r>
            <a:r>
              <a:rPr lang="en-US" sz="3200" dirty="0">
                <a:solidFill>
                  <a:srgbClr val="171814"/>
                </a:solidFill>
                <a:latin typeface="Arial" panose="020B0604020202020204" pitchFamily="34" charset="0"/>
                <a:ea typeface="Poppins"/>
                <a:cs typeface="Arial" panose="020B0604020202020204" pitchFamily="34" charset="0"/>
                <a:sym typeface="Poppins"/>
              </a:rPr>
              <a:t> tin </a:t>
            </a:r>
            <a:r>
              <a:rPr lang="en-US" sz="3200" dirty="0" err="1">
                <a:solidFill>
                  <a:srgbClr val="171814"/>
                </a:solidFill>
                <a:latin typeface="Arial" panose="020B0604020202020204" pitchFamily="34" charset="0"/>
                <a:ea typeface="Poppins"/>
                <a:cs typeface="Arial" panose="020B0604020202020204" pitchFamily="34" charset="0"/>
                <a:sym typeface="Poppins"/>
              </a:rPr>
              <a:t>tại</a:t>
            </a:r>
            <a:r>
              <a:rPr lang="en-US" sz="3200" dirty="0">
                <a:solidFill>
                  <a:srgbClr val="171814"/>
                </a:solidFill>
                <a:latin typeface="Arial" panose="020B0604020202020204" pitchFamily="34" charset="0"/>
                <a:ea typeface="Poppins"/>
                <a:cs typeface="Arial" panose="020B0604020202020204" pitchFamily="34" charset="0"/>
                <a:sym typeface="Poppins"/>
              </a:rPr>
              <a:t> Việt Nam. </a:t>
            </a:r>
          </a:p>
          <a:p>
            <a:pPr algn="just">
              <a:lnSpc>
                <a:spcPts val="3957"/>
              </a:lnSpc>
            </a:pPr>
            <a:endParaRPr lang="en-US" sz="3200" dirty="0">
              <a:solidFill>
                <a:srgbClr val="171814"/>
              </a:solidFill>
              <a:latin typeface="Arial" panose="020B0604020202020204" pitchFamily="34" charset="0"/>
              <a:ea typeface="Poppins"/>
              <a:cs typeface="Arial" panose="020B0604020202020204" pitchFamily="34" charset="0"/>
              <a:sym typeface="Poppins"/>
            </a:endParaRPr>
          </a:p>
          <a:p>
            <a:pPr algn="just">
              <a:lnSpc>
                <a:spcPts val="3957"/>
              </a:lnSpc>
            </a:pPr>
            <a:r>
              <a:rPr lang="en-US" sz="3200" dirty="0">
                <a:solidFill>
                  <a:srgbClr val="171814"/>
                </a:solidFill>
                <a:latin typeface="Arial" panose="020B0604020202020204" pitchFamily="34" charset="0"/>
                <a:ea typeface="Poppins"/>
                <a:cs typeface="Arial" panose="020B0604020202020204" pitchFamily="34" charset="0"/>
                <a:sym typeface="Poppins"/>
              </a:rPr>
              <a:t>👉 Như </a:t>
            </a:r>
            <a:r>
              <a:rPr lang="en-US" sz="3200" dirty="0" err="1">
                <a:solidFill>
                  <a:srgbClr val="171814"/>
                </a:solidFill>
                <a:latin typeface="Arial" panose="020B0604020202020204" pitchFamily="34" charset="0"/>
                <a:ea typeface="Poppins"/>
                <a:cs typeface="Arial" panose="020B0604020202020204" pitchFamily="34" charset="0"/>
                <a:sym typeface="Poppins"/>
              </a:rPr>
              <a:t>vậy</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cả</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chủ</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thể</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trong</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nước</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và</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quốc</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tế</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đều</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phải</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tuân</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thủ</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Luật</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nếu</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thực</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hiện</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hoạt</a:t>
            </a:r>
            <a:r>
              <a:rPr lang="en-US" sz="3200" dirty="0">
                <a:solidFill>
                  <a:srgbClr val="171814"/>
                </a:solidFill>
                <a:latin typeface="Arial" panose="020B0604020202020204" pitchFamily="34" charset="0"/>
                <a:ea typeface="Poppins"/>
                <a:cs typeface="Arial" panose="020B0604020202020204" pitchFamily="34" charset="0"/>
                <a:sym typeface="Poppins"/>
              </a:rPr>
              <a:t> </a:t>
            </a:r>
            <a:r>
              <a:rPr lang="en-US" sz="3200" dirty="0" err="1">
                <a:solidFill>
                  <a:srgbClr val="171814"/>
                </a:solidFill>
                <a:latin typeface="Arial" panose="020B0604020202020204" pitchFamily="34" charset="0"/>
                <a:ea typeface="Poppins"/>
                <a:cs typeface="Arial" panose="020B0604020202020204" pitchFamily="34" charset="0"/>
                <a:sym typeface="Poppins"/>
              </a:rPr>
              <a:t>động</a:t>
            </a:r>
            <a:r>
              <a:rPr lang="en-US" sz="3200" dirty="0">
                <a:solidFill>
                  <a:srgbClr val="171814"/>
                </a:solidFill>
                <a:latin typeface="Arial" panose="020B0604020202020204" pitchFamily="34" charset="0"/>
                <a:ea typeface="Poppins"/>
                <a:cs typeface="Arial" panose="020B0604020202020204" pitchFamily="34" charset="0"/>
                <a:sym typeface="Poppins"/>
              </a:rPr>
              <a:t> CNTT </a:t>
            </a:r>
            <a:r>
              <a:rPr lang="en-US" sz="3200" dirty="0" err="1">
                <a:solidFill>
                  <a:srgbClr val="171814"/>
                </a:solidFill>
                <a:latin typeface="Arial" panose="020B0604020202020204" pitchFamily="34" charset="0"/>
                <a:ea typeface="Poppins"/>
                <a:cs typeface="Arial" panose="020B0604020202020204" pitchFamily="34" charset="0"/>
                <a:sym typeface="Poppins"/>
              </a:rPr>
              <a:t>tại</a:t>
            </a:r>
            <a:r>
              <a:rPr lang="en-US" sz="3200" dirty="0">
                <a:solidFill>
                  <a:srgbClr val="171814"/>
                </a:solidFill>
                <a:latin typeface="Arial" panose="020B0604020202020204" pitchFamily="34" charset="0"/>
                <a:ea typeface="Poppins"/>
                <a:cs typeface="Arial" panose="020B0604020202020204" pitchFamily="34" charset="0"/>
                <a:sym typeface="Poppins"/>
              </a:rPr>
              <a:t> Việt Nam.</a:t>
            </a:r>
          </a:p>
          <a:p>
            <a:pPr algn="just">
              <a:lnSpc>
                <a:spcPts val="3957"/>
              </a:lnSpc>
            </a:pPr>
            <a:endParaRPr lang="en-US" sz="3200" dirty="0">
              <a:solidFill>
                <a:srgbClr val="171814"/>
              </a:solidFill>
              <a:latin typeface="Arial" panose="020B0604020202020204" pitchFamily="34" charset="0"/>
              <a:ea typeface="Poppins"/>
              <a:cs typeface="Arial" panose="020B0604020202020204" pitchFamily="34" charset="0"/>
              <a:sym typeface="Poppins"/>
            </a:endParaRPr>
          </a:p>
        </p:txBody>
      </p:sp>
      <p:sp>
        <p:nvSpPr>
          <p:cNvPr id="10" name="TextBox 10"/>
          <p:cNvSpPr txBox="1"/>
          <p:nvPr/>
        </p:nvSpPr>
        <p:spPr>
          <a:xfrm>
            <a:off x="9006059" y="2315646"/>
            <a:ext cx="9030602" cy="899926"/>
          </a:xfrm>
          <a:prstGeom prst="rect">
            <a:avLst/>
          </a:prstGeom>
        </p:spPr>
        <p:txBody>
          <a:bodyPr wrap="square" lIns="0" tIns="0" rIns="0" bIns="0" rtlCol="0" anchor="t">
            <a:spAutoFit/>
          </a:bodyPr>
          <a:lstStyle/>
          <a:p>
            <a:pPr algn="just">
              <a:lnSpc>
                <a:spcPts val="7932"/>
              </a:lnSpc>
            </a:pPr>
            <a:r>
              <a:rPr lang="en-US" sz="4800" b="1" dirty="0" err="1">
                <a:solidFill>
                  <a:srgbClr val="005AB0"/>
                </a:solidFill>
                <a:latin typeface="Arial" panose="020B0604020202020204" pitchFamily="34" charset="0"/>
                <a:ea typeface="Agrandir Bold"/>
                <a:cs typeface="Arial" panose="020B0604020202020204" pitchFamily="34" charset="0"/>
                <a:sym typeface="Agrandir Bold"/>
              </a:rPr>
              <a:t>Điều</a:t>
            </a:r>
            <a:r>
              <a:rPr lang="en-US" sz="4800" b="1" dirty="0">
                <a:solidFill>
                  <a:srgbClr val="005AB0"/>
                </a:solidFill>
                <a:latin typeface="Arial" panose="020B0604020202020204" pitchFamily="34" charset="0"/>
                <a:ea typeface="Agrandir Bold"/>
                <a:cs typeface="Arial" panose="020B0604020202020204" pitchFamily="34" charset="0"/>
                <a:sym typeface="Agrandir Bold"/>
              </a:rPr>
              <a:t> 2. </a:t>
            </a:r>
            <a:r>
              <a:rPr lang="en-US" sz="4800" b="1" dirty="0" err="1">
                <a:solidFill>
                  <a:srgbClr val="005AB0"/>
                </a:solidFill>
                <a:latin typeface="Arial" panose="020B0604020202020204" pitchFamily="34" charset="0"/>
                <a:ea typeface="Agrandir Bold"/>
                <a:cs typeface="Arial" panose="020B0604020202020204" pitchFamily="34" charset="0"/>
                <a:sym typeface="Agrandir Bold"/>
              </a:rPr>
              <a:t>Đối</a:t>
            </a:r>
            <a:r>
              <a:rPr lang="en-US" sz="4800" b="1" dirty="0">
                <a:solidFill>
                  <a:srgbClr val="005AB0"/>
                </a:solidFill>
                <a:latin typeface="Arial" panose="020B0604020202020204" pitchFamily="34" charset="0"/>
                <a:ea typeface="Agrandir Bold"/>
                <a:cs typeface="Arial" panose="020B0604020202020204" pitchFamily="34" charset="0"/>
                <a:sym typeface="Agrandir Bold"/>
              </a:rPr>
              <a:t> </a:t>
            </a:r>
            <a:r>
              <a:rPr lang="en-US" sz="4800" b="1" dirty="0" err="1">
                <a:solidFill>
                  <a:srgbClr val="005AB0"/>
                </a:solidFill>
                <a:latin typeface="Arial" panose="020B0604020202020204" pitchFamily="34" charset="0"/>
                <a:ea typeface="Agrandir Bold"/>
                <a:cs typeface="Arial" panose="020B0604020202020204" pitchFamily="34" charset="0"/>
                <a:sym typeface="Agrandir Bold"/>
              </a:rPr>
              <a:t>tượng</a:t>
            </a:r>
            <a:r>
              <a:rPr lang="en-US" sz="4800" b="1" dirty="0">
                <a:solidFill>
                  <a:srgbClr val="005AB0"/>
                </a:solidFill>
                <a:latin typeface="Arial" panose="020B0604020202020204" pitchFamily="34" charset="0"/>
                <a:ea typeface="Agrandir Bold"/>
                <a:cs typeface="Arial" panose="020B0604020202020204" pitchFamily="34" charset="0"/>
                <a:sym typeface="Agrandir Bold"/>
              </a:rPr>
              <a:t> </a:t>
            </a:r>
            <a:r>
              <a:rPr lang="en-US" sz="4800" b="1" dirty="0" err="1">
                <a:solidFill>
                  <a:srgbClr val="005AB0"/>
                </a:solidFill>
                <a:latin typeface="Arial" panose="020B0604020202020204" pitchFamily="34" charset="0"/>
                <a:ea typeface="Agrandir Bold"/>
                <a:cs typeface="Arial" panose="020B0604020202020204" pitchFamily="34" charset="0"/>
                <a:sym typeface="Agrandir Bold"/>
              </a:rPr>
              <a:t>áp</a:t>
            </a:r>
            <a:r>
              <a:rPr lang="en-US" sz="4800" b="1" dirty="0">
                <a:solidFill>
                  <a:srgbClr val="005AB0"/>
                </a:solidFill>
                <a:latin typeface="Arial" panose="020B0604020202020204" pitchFamily="34" charset="0"/>
                <a:ea typeface="Agrandir Bold"/>
                <a:cs typeface="Arial" panose="020B0604020202020204" pitchFamily="34" charset="0"/>
                <a:sym typeface="Agrandir Bold"/>
              </a:rPr>
              <a:t> </a:t>
            </a:r>
            <a:r>
              <a:rPr lang="en-US" sz="4800" b="1" dirty="0" err="1">
                <a:solidFill>
                  <a:srgbClr val="005AB0"/>
                </a:solidFill>
                <a:latin typeface="Arial" panose="020B0604020202020204" pitchFamily="34" charset="0"/>
                <a:ea typeface="Agrandir Bold"/>
                <a:cs typeface="Arial" panose="020B0604020202020204" pitchFamily="34" charset="0"/>
                <a:sym typeface="Agrandir Bold"/>
              </a:rPr>
              <a:t>dụng</a:t>
            </a:r>
            <a:r>
              <a:rPr lang="en-US" sz="4800" b="1" dirty="0">
                <a:solidFill>
                  <a:srgbClr val="005AB0"/>
                </a:solidFill>
                <a:latin typeface="Arial" panose="020B0604020202020204" pitchFamily="34" charset="0"/>
                <a:ea typeface="Agrandir Bold"/>
                <a:cs typeface="Arial" panose="020B0604020202020204" pitchFamily="34" charset="0"/>
                <a:sym typeface="Agrandir Bold"/>
              </a:rPr>
              <a:t>  </a:t>
            </a:r>
          </a:p>
        </p:txBody>
      </p:sp>
      <p:sp>
        <p:nvSpPr>
          <p:cNvPr id="11" name="Freeform 11"/>
          <p:cNvSpPr/>
          <p:nvPr/>
        </p:nvSpPr>
        <p:spPr>
          <a:xfrm>
            <a:off x="593915" y="772124"/>
            <a:ext cx="1020982" cy="1039889"/>
          </a:xfrm>
          <a:custGeom>
            <a:avLst/>
            <a:gdLst/>
            <a:ahLst/>
            <a:cxnLst/>
            <a:rect l="l" t="t" r="r" b="b"/>
            <a:pathLst>
              <a:path w="1020982" h="1039889">
                <a:moveTo>
                  <a:pt x="0" y="0"/>
                </a:moveTo>
                <a:lnTo>
                  <a:pt x="1020982" y="0"/>
                </a:lnTo>
                <a:lnTo>
                  <a:pt x="1020982" y="1039889"/>
                </a:lnTo>
                <a:lnTo>
                  <a:pt x="0" y="103988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2" name="Freeform 12"/>
          <p:cNvSpPr/>
          <p:nvPr/>
        </p:nvSpPr>
        <p:spPr>
          <a:xfrm>
            <a:off x="12099749" y="8849639"/>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3" name="Freeform 13"/>
          <p:cNvSpPr/>
          <p:nvPr/>
        </p:nvSpPr>
        <p:spPr>
          <a:xfrm>
            <a:off x="16261058" y="7886050"/>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grpSp>
        <p:nvGrpSpPr>
          <p:cNvPr id="14" name="Group 14"/>
          <p:cNvGrpSpPr/>
          <p:nvPr/>
        </p:nvGrpSpPr>
        <p:grpSpPr>
          <a:xfrm>
            <a:off x="12281183" y="9435414"/>
            <a:ext cx="6070235" cy="596313"/>
            <a:chOff x="0" y="0"/>
            <a:chExt cx="8093646" cy="795084"/>
          </a:xfrm>
        </p:grpSpPr>
        <p:sp>
          <p:nvSpPr>
            <p:cNvPr id="15" name="Freeform 15"/>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2251120057 - Nguyễn Thị Thùy Trang</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7"/>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8" name="TextBox 8"/>
          <p:cNvSpPr txBox="1"/>
          <p:nvPr/>
        </p:nvSpPr>
        <p:spPr>
          <a:xfrm>
            <a:off x="708691" y="1119952"/>
            <a:ext cx="13435022" cy="855259"/>
          </a:xfrm>
          <a:prstGeom prst="rect">
            <a:avLst/>
          </a:prstGeom>
        </p:spPr>
        <p:txBody>
          <a:bodyPr lIns="0" tIns="0" rIns="0" bIns="0" rtlCol="0" anchor="t">
            <a:spAutoFit/>
          </a:bodyPr>
          <a:lstStyle/>
          <a:p>
            <a:pPr algn="l">
              <a:lnSpc>
                <a:spcPts val="6880"/>
              </a:lnSpc>
            </a:pPr>
            <a:r>
              <a:rPr lang="en-US" sz="5465" dirty="0" err="1">
                <a:solidFill>
                  <a:srgbClr val="005AB0"/>
                </a:solidFill>
                <a:latin typeface="Paytone One"/>
                <a:ea typeface="Paytone One"/>
                <a:cs typeface="Paytone One"/>
                <a:sym typeface="Paytone One"/>
              </a:rPr>
              <a:t>Mục</a:t>
            </a:r>
            <a:r>
              <a:rPr lang="en-US" sz="5465" dirty="0">
                <a:solidFill>
                  <a:srgbClr val="005AB0"/>
                </a:solidFill>
                <a:latin typeface="Paytone One"/>
                <a:ea typeface="Paytone One"/>
                <a:cs typeface="Paytone One"/>
                <a:sym typeface="Paytone One"/>
              </a:rPr>
              <a:t> 3. Quyền </a:t>
            </a:r>
            <a:r>
              <a:rPr lang="en-US" sz="5465" dirty="0" err="1">
                <a:solidFill>
                  <a:srgbClr val="005AB0"/>
                </a:solidFill>
                <a:latin typeface="Paytone One"/>
                <a:ea typeface="Paytone One"/>
                <a:cs typeface="Paytone One"/>
                <a:sym typeface="Paytone One"/>
              </a:rPr>
              <a:t>và</a:t>
            </a:r>
            <a:r>
              <a:rPr lang="en-US" sz="5465" dirty="0">
                <a:solidFill>
                  <a:srgbClr val="005AB0"/>
                </a:solidFill>
                <a:latin typeface="Paytone One"/>
                <a:ea typeface="Paytone One"/>
                <a:cs typeface="Paytone One"/>
                <a:sym typeface="Paytone One"/>
              </a:rPr>
              <a:t> </a:t>
            </a:r>
            <a:r>
              <a:rPr lang="en-US" sz="5465" dirty="0" err="1">
                <a:solidFill>
                  <a:srgbClr val="005AB0"/>
                </a:solidFill>
                <a:latin typeface="Paytone One"/>
                <a:ea typeface="Paytone One"/>
                <a:cs typeface="Paytone One"/>
                <a:sym typeface="Paytone One"/>
              </a:rPr>
              <a:t>nghĩa</a:t>
            </a:r>
            <a:r>
              <a:rPr lang="en-US" sz="5465" dirty="0">
                <a:solidFill>
                  <a:srgbClr val="005AB0"/>
                </a:solidFill>
                <a:latin typeface="Paytone One"/>
                <a:ea typeface="Paytone One"/>
                <a:cs typeface="Paytone One"/>
                <a:sym typeface="Paytone One"/>
              </a:rPr>
              <a:t> </a:t>
            </a:r>
            <a:r>
              <a:rPr lang="en-US" sz="5465" dirty="0" err="1">
                <a:solidFill>
                  <a:srgbClr val="005AB0"/>
                </a:solidFill>
                <a:latin typeface="Paytone One"/>
                <a:ea typeface="Paytone One"/>
                <a:cs typeface="Paytone One"/>
                <a:sym typeface="Paytone One"/>
              </a:rPr>
              <a:t>vụ</a:t>
            </a:r>
            <a:r>
              <a:rPr lang="en-US" sz="5465" dirty="0">
                <a:solidFill>
                  <a:srgbClr val="005AB0"/>
                </a:solidFill>
                <a:latin typeface="Paytone One"/>
                <a:ea typeface="Paytone One"/>
                <a:cs typeface="Paytone One"/>
                <a:sym typeface="Paytone One"/>
              </a:rPr>
              <a:t> </a:t>
            </a:r>
            <a:r>
              <a:rPr lang="en-US" sz="5465" dirty="0" err="1">
                <a:solidFill>
                  <a:srgbClr val="005AB0"/>
                </a:solidFill>
                <a:latin typeface="Paytone One"/>
                <a:ea typeface="Paytone One"/>
                <a:cs typeface="Paytone One"/>
                <a:sym typeface="Paytone One"/>
              </a:rPr>
              <a:t>của</a:t>
            </a:r>
            <a:r>
              <a:rPr lang="en-US" sz="5465" dirty="0">
                <a:solidFill>
                  <a:srgbClr val="005AB0"/>
                </a:solidFill>
                <a:latin typeface="Paytone One"/>
                <a:ea typeface="Paytone One"/>
                <a:cs typeface="Paytone One"/>
                <a:sym typeface="Paytone One"/>
              </a:rPr>
              <a:t> </a:t>
            </a:r>
            <a:r>
              <a:rPr lang="en-US" sz="5465" dirty="0" err="1">
                <a:solidFill>
                  <a:srgbClr val="005AB0"/>
                </a:solidFill>
                <a:latin typeface="Paytone One"/>
                <a:ea typeface="Paytone One"/>
                <a:cs typeface="Paytone One"/>
                <a:sym typeface="Paytone One"/>
              </a:rPr>
              <a:t>tổ</a:t>
            </a:r>
            <a:r>
              <a:rPr lang="en-US" sz="5465" dirty="0">
                <a:solidFill>
                  <a:srgbClr val="005AB0"/>
                </a:solidFill>
                <a:latin typeface="Paytone One"/>
                <a:ea typeface="Paytone One"/>
                <a:cs typeface="Paytone One"/>
                <a:sym typeface="Paytone One"/>
              </a:rPr>
              <a:t> </a:t>
            </a:r>
            <a:r>
              <a:rPr lang="en-US" sz="5465" dirty="0" err="1">
                <a:solidFill>
                  <a:srgbClr val="005AB0"/>
                </a:solidFill>
                <a:latin typeface="Paytone One"/>
                <a:ea typeface="Paytone One"/>
                <a:cs typeface="Paytone One"/>
                <a:sym typeface="Paytone One"/>
              </a:rPr>
              <a:t>chức</a:t>
            </a:r>
            <a:endParaRPr lang="en-US" sz="5465" dirty="0">
              <a:solidFill>
                <a:srgbClr val="005AB0"/>
              </a:solidFill>
              <a:latin typeface="Paytone One"/>
              <a:ea typeface="Paytone One"/>
              <a:cs typeface="Paytone One"/>
              <a:sym typeface="Paytone One"/>
            </a:endParaRPr>
          </a:p>
        </p:txBody>
      </p:sp>
      <p:sp>
        <p:nvSpPr>
          <p:cNvPr id="9" name="Freeform 9"/>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0" name="Freeform 10"/>
          <p:cNvSpPr/>
          <p:nvPr/>
        </p:nvSpPr>
        <p:spPr>
          <a:xfrm>
            <a:off x="518208" y="8503501"/>
            <a:ext cx="1020985" cy="1039892"/>
          </a:xfrm>
          <a:custGeom>
            <a:avLst/>
            <a:gdLst/>
            <a:ahLst/>
            <a:cxnLst/>
            <a:rect l="l" t="t" r="r" b="b"/>
            <a:pathLst>
              <a:path w="1020985" h="1039892">
                <a:moveTo>
                  <a:pt x="0" y="0"/>
                </a:moveTo>
                <a:lnTo>
                  <a:pt x="1020984" y="0"/>
                </a:lnTo>
                <a:lnTo>
                  <a:pt x="1020984" y="1039892"/>
                </a:lnTo>
                <a:lnTo>
                  <a:pt x="0" y="1039892"/>
                </a:lnTo>
                <a:lnTo>
                  <a:pt x="0" y="0"/>
                </a:lnTo>
                <a:close/>
              </a:path>
            </a:pathLst>
          </a:custGeom>
          <a:blipFill>
            <a:blip r:embed="rId14">
              <a:extLst>
                <a:ext uri="{96DAC541-7B7A-43D3-8B79-37D633B846F1}">
                  <asvg:svgBlip xmlns:asvg="http://schemas.microsoft.com/office/drawing/2016/SVG/main" r:embed="rId15"/>
                </a:ext>
              </a:extLst>
            </a:blip>
            <a:stretch>
              <a:fillRect l="-462" r="-462"/>
            </a:stretch>
          </a:blipFill>
        </p:spPr>
        <p:txBody>
          <a:bodyPr/>
          <a:lstStyle/>
          <a:p>
            <a:endParaRPr lang="en-US"/>
          </a:p>
        </p:txBody>
      </p:sp>
      <p:sp>
        <p:nvSpPr>
          <p:cNvPr id="11" name="Freeform 11"/>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2" name="Freeform 12"/>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8">
              <a:extLst>
                <a:ext uri="{96DAC541-7B7A-43D3-8B79-37D633B846F1}">
                  <asvg:svgBlip xmlns:asvg="http://schemas.microsoft.com/office/drawing/2016/SVG/main" r:embed="rId19"/>
                </a:ext>
              </a:extLst>
            </a:blip>
            <a:stretch>
              <a:fillRect t="-20" b="-21"/>
            </a:stretch>
          </a:blipFill>
        </p:spPr>
        <p:txBody>
          <a:bodyPr/>
          <a:lstStyle/>
          <a:p>
            <a:endParaRPr lang="en-US"/>
          </a:p>
        </p:txBody>
      </p:sp>
      <p:sp>
        <p:nvSpPr>
          <p:cNvPr id="13" name="TextBox 13"/>
          <p:cNvSpPr txBox="1"/>
          <p:nvPr/>
        </p:nvSpPr>
        <p:spPr>
          <a:xfrm>
            <a:off x="723931" y="2257210"/>
            <a:ext cx="16216417" cy="1107996"/>
          </a:xfrm>
          <a:prstGeom prst="rect">
            <a:avLst/>
          </a:prstGeom>
        </p:spPr>
        <p:txBody>
          <a:bodyPr wrap="square" lIns="0" tIns="0" rIns="0" bIns="0" rtlCol="0" anchor="t">
            <a:spAutoFit/>
          </a:bodyPr>
          <a:lstStyle/>
          <a:p>
            <a:pPr algn="just"/>
            <a:r>
              <a:rPr lang="en-US" sz="3600" b="1" dirty="0" err="1">
                <a:solidFill>
                  <a:srgbClr val="171814"/>
                </a:solidFill>
                <a:latin typeface="Inter Bold"/>
                <a:ea typeface="Inter Bold"/>
                <a:cs typeface="Inter Bold"/>
                <a:sym typeface="Inter Bold"/>
              </a:rPr>
              <a:t>Điều</a:t>
            </a:r>
            <a:r>
              <a:rPr lang="en-US" sz="3600" b="1" dirty="0">
                <a:solidFill>
                  <a:srgbClr val="171814"/>
                </a:solidFill>
                <a:latin typeface="Inter Bold"/>
                <a:ea typeface="Inter Bold"/>
                <a:cs typeface="Inter Bold"/>
                <a:sym typeface="Inter Bold"/>
              </a:rPr>
              <a:t> 8. Quyền </a:t>
            </a:r>
            <a:r>
              <a:rPr lang="en-US" sz="3600" b="1" dirty="0" err="1">
                <a:solidFill>
                  <a:srgbClr val="171814"/>
                </a:solidFill>
                <a:latin typeface="Inter Bold"/>
                <a:ea typeface="Inter Bold"/>
                <a:cs typeface="Inter Bold"/>
                <a:sym typeface="Inter Bold"/>
              </a:rPr>
              <a:t>của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tổ</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chức</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cá</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nhân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tham</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gia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hoạt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động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ứng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dụng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và</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phát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triển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công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nghệ</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thông</a:t>
            </a:r>
            <a:r>
              <a:rPr lang="en-US" sz="3600" b="1" dirty="0">
                <a:solidFill>
                  <a:srgbClr val="171814"/>
                </a:solidFill>
                <a:latin typeface="Inter Bold"/>
                <a:ea typeface="Inter Bold"/>
                <a:cs typeface="Inter Bold"/>
                <a:sym typeface="Inter Bold"/>
              </a:rPr>
              <a:t> tin</a:t>
            </a:r>
          </a:p>
        </p:txBody>
      </p:sp>
      <p:sp>
        <p:nvSpPr>
          <p:cNvPr id="14" name="TextBox 14"/>
          <p:cNvSpPr txBox="1"/>
          <p:nvPr/>
        </p:nvSpPr>
        <p:spPr>
          <a:xfrm>
            <a:off x="1310489" y="3603279"/>
            <a:ext cx="15454569" cy="5668218"/>
          </a:xfrm>
          <a:prstGeom prst="rect">
            <a:avLst/>
          </a:prstGeom>
        </p:spPr>
        <p:txBody>
          <a:bodyPr lIns="0" tIns="0" rIns="0" bIns="0" rtlCol="0" anchor="t">
            <a:spAutoFit/>
          </a:bodyPr>
          <a:lstStyle/>
          <a:p>
            <a:pPr algn="just">
              <a:lnSpc>
                <a:spcPts val="3356"/>
              </a:lnSpc>
            </a:pP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Tìm</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kiếm</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trao</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đổi</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sử</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dụng</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thông</a:t>
            </a:r>
            <a:r>
              <a:rPr lang="en-US" sz="3200" dirty="0">
                <a:solidFill>
                  <a:srgbClr val="000000"/>
                </a:solidFill>
                <a:latin typeface="Inter"/>
                <a:ea typeface="Inter"/>
                <a:cs typeface="Inter"/>
                <a:sym typeface="Inter"/>
              </a:rPr>
              <a:t> tin </a:t>
            </a:r>
            <a:r>
              <a:rPr lang="en-US" sz="3200" dirty="0" err="1">
                <a:solidFill>
                  <a:srgbClr val="000000"/>
                </a:solidFill>
                <a:latin typeface="Inter"/>
                <a:ea typeface="Inter"/>
                <a:cs typeface="Inter"/>
                <a:sym typeface="Inter"/>
              </a:rPr>
              <a:t>trên</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môi</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trường</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mạng</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trừ</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thông</a:t>
            </a:r>
            <a:r>
              <a:rPr lang="en-US" sz="3200" dirty="0">
                <a:solidFill>
                  <a:srgbClr val="000000"/>
                </a:solidFill>
                <a:latin typeface="Inter"/>
                <a:ea typeface="Inter"/>
                <a:cs typeface="Inter"/>
                <a:sym typeface="Inter"/>
              </a:rPr>
              <a:t> tin </a:t>
            </a:r>
            <a:r>
              <a:rPr lang="en-US" sz="3200" dirty="0" err="1">
                <a:solidFill>
                  <a:srgbClr val="000000"/>
                </a:solidFill>
                <a:latin typeface="Inter"/>
                <a:ea typeface="Inter"/>
                <a:cs typeface="Inter"/>
                <a:sym typeface="Inter"/>
              </a:rPr>
              <a:t>có</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nội</a:t>
            </a:r>
            <a:r>
              <a:rPr lang="en-US" sz="3200" dirty="0">
                <a:solidFill>
                  <a:srgbClr val="000000"/>
                </a:solidFill>
                <a:latin typeface="Inter"/>
                <a:ea typeface="Inter"/>
                <a:cs typeface="Inter"/>
                <a:sym typeface="Inter"/>
              </a:rPr>
              <a:t> dung </a:t>
            </a:r>
            <a:r>
              <a:rPr lang="en-US" sz="3200" dirty="0" err="1">
                <a:solidFill>
                  <a:srgbClr val="000000"/>
                </a:solidFill>
                <a:latin typeface="Inter"/>
                <a:ea typeface="Inter"/>
                <a:cs typeface="Inter"/>
                <a:sym typeface="Inter"/>
              </a:rPr>
              <a:t>quy</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định</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tại</a:t>
            </a:r>
            <a:r>
              <a:rPr lang="en-US" sz="3200" dirty="0">
                <a:solidFill>
                  <a:srgbClr val="000000"/>
                </a:solidFill>
                <a:latin typeface="Inter"/>
                <a:ea typeface="Inter"/>
                <a:cs typeface="Inter"/>
                <a:sym typeface="Inter"/>
              </a:rPr>
              <a:t> khoản2 </a:t>
            </a:r>
            <a:r>
              <a:rPr lang="en-US" sz="3200" dirty="0" err="1">
                <a:solidFill>
                  <a:srgbClr val="000000"/>
                </a:solidFill>
                <a:latin typeface="Inter"/>
                <a:ea typeface="Inter"/>
                <a:cs typeface="Inter"/>
                <a:sym typeface="Inter"/>
              </a:rPr>
              <a:t>Điều</a:t>
            </a:r>
            <a:r>
              <a:rPr lang="en-US" sz="3200" dirty="0">
                <a:solidFill>
                  <a:srgbClr val="000000"/>
                </a:solidFill>
                <a:latin typeface="Inter"/>
                <a:ea typeface="Inter"/>
                <a:cs typeface="Inter"/>
                <a:sym typeface="Inter"/>
              </a:rPr>
              <a:t> 12 </a:t>
            </a:r>
            <a:r>
              <a:rPr lang="en-US" sz="3200" dirty="0" err="1">
                <a:solidFill>
                  <a:srgbClr val="000000"/>
                </a:solidFill>
                <a:latin typeface="Inter"/>
                <a:ea typeface="Inter"/>
                <a:cs typeface="Inter"/>
                <a:sym typeface="Inter"/>
              </a:rPr>
              <a:t>của</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Luật</a:t>
            </a:r>
            <a:r>
              <a:rPr lang="en-US" sz="3200" dirty="0">
                <a:solidFill>
                  <a:srgbClr val="000000"/>
                </a:solidFill>
                <a:latin typeface="Inter"/>
                <a:ea typeface="Inter"/>
                <a:cs typeface="Inter"/>
                <a:sym typeface="Inter"/>
              </a:rPr>
              <a:t> </a:t>
            </a:r>
            <a:r>
              <a:rPr lang="en-US" sz="3200" dirty="0" err="1">
                <a:solidFill>
                  <a:srgbClr val="000000"/>
                </a:solidFill>
                <a:latin typeface="Inter"/>
                <a:ea typeface="Inter"/>
                <a:cs typeface="Inter"/>
                <a:sym typeface="Inter"/>
              </a:rPr>
              <a:t>này</a:t>
            </a:r>
            <a:r>
              <a:rPr lang="en-US" sz="3200" dirty="0">
                <a:solidFill>
                  <a:srgbClr val="000000"/>
                </a:solidFill>
                <a:latin typeface="Inter"/>
                <a:ea typeface="Inter"/>
                <a:cs typeface="Inter"/>
                <a:sym typeface="Inter"/>
              </a:rPr>
              <a:t>;</a:t>
            </a:r>
          </a:p>
          <a:p>
            <a:pPr algn="just">
              <a:lnSpc>
                <a:spcPts val="3356"/>
              </a:lnSpc>
            </a:pPr>
            <a:r>
              <a:rPr lang="en-US" sz="3200" dirty="0">
                <a:solidFill>
                  <a:srgbClr val="FF0000"/>
                </a:solidFill>
                <a:latin typeface="Inter"/>
                <a:ea typeface="Inter"/>
                <a:cs typeface="Inter"/>
                <a:sym typeface="Inter"/>
              </a:rPr>
              <a:t>👉</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Ví</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dụ</a:t>
            </a:r>
            <a:r>
              <a:rPr lang="en-US" sz="3200" dirty="0">
                <a:solidFill>
                  <a:srgbClr val="091933"/>
                </a:solidFill>
                <a:latin typeface="Inter"/>
                <a:ea typeface="Inter"/>
                <a:cs typeface="Inter"/>
                <a:sym typeface="Inter"/>
              </a:rPr>
              <a:t>: Sinh </a:t>
            </a:r>
            <a:r>
              <a:rPr lang="en-US" sz="3200" dirty="0" err="1">
                <a:solidFill>
                  <a:srgbClr val="091933"/>
                </a:solidFill>
                <a:latin typeface="Inter"/>
                <a:ea typeface="Inter"/>
                <a:cs typeface="Inter"/>
                <a:sym typeface="Inter"/>
              </a:rPr>
              <a:t>viên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có</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thể</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tìm</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tài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liệu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học</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tập</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trên</a:t>
            </a:r>
            <a:r>
              <a:rPr lang="en-US" sz="3200" dirty="0">
                <a:solidFill>
                  <a:srgbClr val="091933"/>
                </a:solidFill>
                <a:latin typeface="Inter"/>
                <a:ea typeface="Inter"/>
                <a:cs typeface="Inter"/>
                <a:sym typeface="Inter"/>
              </a:rPr>
              <a:t> Internet, </a:t>
            </a:r>
            <a:r>
              <a:rPr lang="en-US" sz="3200" dirty="0" err="1">
                <a:solidFill>
                  <a:srgbClr val="091933"/>
                </a:solidFill>
                <a:latin typeface="Inter"/>
                <a:ea typeface="Inter"/>
                <a:cs typeface="Inter"/>
                <a:sym typeface="Inter"/>
              </a:rPr>
              <a:t>doanh</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nghiệp</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có</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thể</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quảng</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bá</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sản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phẩm</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trên</a:t>
            </a:r>
            <a:r>
              <a:rPr lang="en-US" sz="3200" dirty="0">
                <a:solidFill>
                  <a:srgbClr val="091933"/>
                </a:solidFill>
                <a:latin typeface="Inter"/>
                <a:ea typeface="Inter"/>
                <a:cs typeface="Inter"/>
                <a:sym typeface="Inter"/>
              </a:rPr>
              <a:t> website </a:t>
            </a:r>
            <a:r>
              <a:rPr lang="en-US" sz="3200" dirty="0" err="1">
                <a:solidFill>
                  <a:srgbClr val="091933"/>
                </a:solidFill>
                <a:latin typeface="Inter"/>
                <a:ea typeface="Inter"/>
                <a:cs typeface="Inter"/>
                <a:sym typeface="Inter"/>
              </a:rPr>
              <a:t>hợp</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pháp</a:t>
            </a:r>
            <a:r>
              <a:rPr lang="en-US" sz="3200" dirty="0">
                <a:solidFill>
                  <a:srgbClr val="091933"/>
                </a:solidFill>
                <a:latin typeface="Inter"/>
                <a:ea typeface="Inter"/>
                <a:cs typeface="Inter"/>
                <a:sym typeface="Inter"/>
              </a:rPr>
              <a:t>.</a:t>
            </a:r>
          </a:p>
          <a:p>
            <a:pPr algn="just">
              <a:lnSpc>
                <a:spcPts val="3356"/>
              </a:lnSpc>
            </a:pPr>
            <a:endParaRPr lang="en-US" sz="3200" dirty="0">
              <a:solidFill>
                <a:srgbClr val="091933"/>
              </a:solidFill>
              <a:latin typeface="Inter"/>
              <a:ea typeface="Inter"/>
              <a:cs typeface="Inter"/>
              <a:sym typeface="Inter"/>
            </a:endParaRPr>
          </a:p>
          <a:p>
            <a:pPr algn="just">
              <a:lnSpc>
                <a:spcPts val="3356"/>
              </a:lnSpc>
            </a:pPr>
            <a:r>
              <a:rPr lang="en-US" sz="3200" dirty="0" err="1">
                <a:solidFill>
                  <a:srgbClr val="091933"/>
                </a:solidFill>
                <a:latin typeface="Inter"/>
                <a:ea typeface="Inter"/>
                <a:cs typeface="Inter"/>
                <a:sym typeface="Inter"/>
              </a:rPr>
              <a:t>Thứ</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hai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quyền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yêu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cầu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khôi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phục</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thông</a:t>
            </a:r>
            <a:r>
              <a:rPr lang="en-US" sz="3200" dirty="0">
                <a:solidFill>
                  <a:srgbClr val="091933"/>
                </a:solidFill>
                <a:latin typeface="Inter"/>
                <a:ea typeface="Inter"/>
                <a:cs typeface="Inter"/>
                <a:sym typeface="Inter"/>
              </a:rPr>
              <a:t> tin </a:t>
            </a:r>
            <a:r>
              <a:rPr lang="en-US" sz="3200" dirty="0" err="1">
                <a:solidFill>
                  <a:srgbClr val="091933"/>
                </a:solidFill>
                <a:latin typeface="Inter"/>
                <a:ea typeface="Inter"/>
                <a:cs typeface="Inter"/>
                <a:sym typeface="Inter"/>
              </a:rPr>
              <a:t>hoặc</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quyền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truy</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nhập</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hợp</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pháp</a:t>
            </a:r>
            <a:r>
              <a:rPr lang="en-US" sz="3200" dirty="0">
                <a:solidFill>
                  <a:srgbClr val="091933"/>
                </a:solidFill>
                <a:latin typeface="Inter"/>
                <a:ea typeface="Inter"/>
                <a:cs typeface="Inter"/>
                <a:sym typeface="Inter"/>
              </a:rPr>
              <a:t>.</a:t>
            </a:r>
          </a:p>
          <a:p>
            <a:pPr algn="just">
              <a:lnSpc>
                <a:spcPts val="3356"/>
              </a:lnSpc>
            </a:pPr>
            <a:r>
              <a:rPr lang="en-US" sz="3200" dirty="0">
                <a:solidFill>
                  <a:srgbClr val="091933"/>
                </a:solidFill>
                <a:latin typeface="Inter"/>
                <a:ea typeface="Inter"/>
                <a:cs typeface="Inter"/>
                <a:sym typeface="Inter"/>
              </a:rPr>
              <a:t> 👉 </a:t>
            </a:r>
            <a:r>
              <a:rPr lang="en-US" sz="3200" dirty="0" err="1">
                <a:solidFill>
                  <a:srgbClr val="091933"/>
                </a:solidFill>
                <a:latin typeface="Inter"/>
                <a:ea typeface="Inter"/>
                <a:cs typeface="Inter"/>
                <a:sym typeface="Inter"/>
              </a:rPr>
              <a:t>Ví</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dụ</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Một</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cửa</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hàng</a:t>
            </a:r>
            <a:r>
              <a:rPr lang="en-US" sz="3200" dirty="0">
                <a:solidFill>
                  <a:srgbClr val="091933"/>
                </a:solidFill>
                <a:latin typeface="Inter"/>
                <a:ea typeface="Inter"/>
                <a:cs typeface="Inter"/>
                <a:sym typeface="Inter"/>
              </a:rPr>
              <a:t> online </a:t>
            </a:r>
            <a:r>
              <a:rPr lang="en-US" sz="3200" dirty="0" err="1">
                <a:solidFill>
                  <a:srgbClr val="091933"/>
                </a:solidFill>
                <a:latin typeface="Inter"/>
                <a:ea typeface="Inter"/>
                <a:cs typeface="Inter"/>
                <a:sym typeface="Inter"/>
              </a:rPr>
              <a:t>bị</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nền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tảng</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mạng</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xã</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hội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khóa</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nhầm</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trang</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bán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hàng</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dù</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không</a:t>
            </a:r>
            <a:r>
              <a:rPr lang="en-US" sz="3200" dirty="0">
                <a:solidFill>
                  <a:srgbClr val="091933"/>
                </a:solidFill>
                <a:latin typeface="Inter"/>
                <a:ea typeface="Inter"/>
                <a:cs typeface="Inter"/>
                <a:sym typeface="Inter"/>
              </a:rPr>
              <a:t> vi </a:t>
            </a:r>
            <a:r>
              <a:rPr lang="en-US" sz="3200" dirty="0" err="1">
                <a:solidFill>
                  <a:srgbClr val="091933"/>
                </a:solidFill>
                <a:latin typeface="Inter"/>
                <a:ea typeface="Inter"/>
                <a:cs typeface="Inter"/>
                <a:sym typeface="Inter"/>
              </a:rPr>
              <a:t>phạm</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pháp</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luật</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thì</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có</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quyền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yêu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cầu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khôi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phục</a:t>
            </a:r>
            <a:r>
              <a:rPr lang="en-US" sz="3200" dirty="0">
                <a:solidFill>
                  <a:srgbClr val="091933"/>
                </a:solidFill>
                <a:latin typeface="Inter"/>
                <a:ea typeface="Inter"/>
                <a:cs typeface="Inter"/>
                <a:sym typeface="Inter"/>
              </a:rPr>
              <a:t>.</a:t>
            </a:r>
          </a:p>
          <a:p>
            <a:pPr algn="just">
              <a:lnSpc>
                <a:spcPts val="3356"/>
              </a:lnSpc>
            </a:pPr>
            <a:endParaRPr lang="en-US" sz="3200" dirty="0">
              <a:solidFill>
                <a:srgbClr val="091933"/>
              </a:solidFill>
              <a:latin typeface="Inter"/>
              <a:ea typeface="Inter"/>
              <a:cs typeface="Inter"/>
              <a:sym typeface="Inter"/>
            </a:endParaRPr>
          </a:p>
          <a:p>
            <a:pPr algn="just">
              <a:lnSpc>
                <a:spcPts val="3356"/>
              </a:lnSpc>
            </a:pPr>
            <a:r>
              <a:rPr lang="en-US" sz="3200" dirty="0" err="1">
                <a:solidFill>
                  <a:srgbClr val="091933"/>
                </a:solidFill>
                <a:latin typeface="Inter"/>
                <a:ea typeface="Inter"/>
                <a:cs typeface="Inter"/>
                <a:sym typeface="Inter"/>
              </a:rPr>
              <a:t>Thứ</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ba</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quyền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yêu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cầu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cơ</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quan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nhà</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nước</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có</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thẩm</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quyền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giải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quyết</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nếu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bị</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từ</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chối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khôi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phục</a:t>
            </a:r>
            <a:r>
              <a:rPr lang="en-US" sz="3200" dirty="0">
                <a:solidFill>
                  <a:srgbClr val="091933"/>
                </a:solidFill>
                <a:latin typeface="Inter"/>
                <a:ea typeface="Inter"/>
                <a:cs typeface="Inter"/>
                <a:sym typeface="Inter"/>
              </a:rPr>
              <a:t>.</a:t>
            </a:r>
          </a:p>
          <a:p>
            <a:pPr algn="just">
              <a:lnSpc>
                <a:spcPts val="3356"/>
              </a:lnSpc>
            </a:pPr>
            <a:r>
              <a:rPr lang="en-US" sz="3200" dirty="0">
                <a:solidFill>
                  <a:srgbClr val="091933"/>
                </a:solidFill>
                <a:latin typeface="Inter"/>
                <a:ea typeface="Inter"/>
                <a:cs typeface="Inter"/>
                <a:sym typeface="Inter"/>
              </a:rPr>
              <a:t> 👉 </a:t>
            </a:r>
            <a:r>
              <a:rPr lang="en-US" sz="3200" dirty="0" err="1">
                <a:solidFill>
                  <a:srgbClr val="091933"/>
                </a:solidFill>
                <a:latin typeface="Inter"/>
                <a:ea typeface="Inter"/>
                <a:cs typeface="Inter"/>
                <a:sym typeface="Inter"/>
              </a:rPr>
              <a:t>Ví</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dụ</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Chủ</a:t>
            </a:r>
            <a:r>
              <a:rPr lang="en-US" sz="3200" dirty="0">
                <a:solidFill>
                  <a:srgbClr val="091933"/>
                </a:solidFill>
                <a:latin typeface="Inter"/>
                <a:ea typeface="Inter"/>
                <a:cs typeface="Inter"/>
                <a:sym typeface="Inter"/>
              </a:rPr>
              <a:t> website </a:t>
            </a:r>
            <a:r>
              <a:rPr lang="en-US" sz="3200" dirty="0" err="1">
                <a:solidFill>
                  <a:srgbClr val="091933"/>
                </a:solidFill>
                <a:latin typeface="Inter"/>
                <a:ea typeface="Inter"/>
                <a:cs typeface="Inter"/>
                <a:sym typeface="Inter"/>
              </a:rPr>
              <a:t>có</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thể</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khiếu</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nại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lên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cơ</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quan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quản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lý</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khi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bị</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chặn</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truy</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cập</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trái</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pháp</a:t>
            </a:r>
            <a:r>
              <a:rPr lang="en-US" sz="3200" dirty="0">
                <a:solidFill>
                  <a:srgbClr val="091933"/>
                </a:solidFill>
                <a:latin typeface="Inter"/>
                <a:ea typeface="Inter"/>
                <a:cs typeface="Inter"/>
                <a:sym typeface="Inter"/>
              </a:rPr>
              <a:t> </a:t>
            </a:r>
            <a:r>
              <a:rPr lang="en-US" sz="3200" dirty="0" err="1">
                <a:solidFill>
                  <a:srgbClr val="091933"/>
                </a:solidFill>
                <a:latin typeface="Inter"/>
                <a:ea typeface="Inter"/>
                <a:cs typeface="Inter"/>
                <a:sym typeface="Inter"/>
              </a:rPr>
              <a:t>luật</a:t>
            </a:r>
            <a:r>
              <a:rPr lang="en-US" sz="3200" dirty="0">
                <a:solidFill>
                  <a:srgbClr val="091933"/>
                </a:solidFill>
                <a:latin typeface="Inter"/>
                <a:ea typeface="Inter"/>
                <a:cs typeface="Inter"/>
                <a:sym typeface="Inter"/>
              </a:rPr>
              <a:t>.</a:t>
            </a:r>
          </a:p>
        </p:txBody>
      </p:sp>
      <p:sp>
        <p:nvSpPr>
          <p:cNvPr id="15" name="Freeform 15"/>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0"/>
            <a:stretch>
              <a:fillRect/>
            </a:stretch>
          </a:blipFill>
        </p:spPr>
        <p:txBody>
          <a:bodyPr/>
          <a:lstStyle/>
          <a:p>
            <a:endParaRPr lang="en-US"/>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7</a:t>
            </a:r>
          </a:p>
        </p:txBody>
      </p:sp>
      <p:grpSp>
        <p:nvGrpSpPr>
          <p:cNvPr id="17" name="Group 17"/>
          <p:cNvGrpSpPr/>
          <p:nvPr/>
        </p:nvGrpSpPr>
        <p:grpSpPr>
          <a:xfrm>
            <a:off x="12281183" y="9435414"/>
            <a:ext cx="6070235" cy="596313"/>
            <a:chOff x="0" y="0"/>
            <a:chExt cx="8093646" cy="795084"/>
          </a:xfrm>
        </p:grpSpPr>
        <p:sp>
          <p:nvSpPr>
            <p:cNvPr id="18" name="Freeform 18"/>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2251120057 - Nguyễn Thị Thùy Trang</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a:off x="14433433" y="1860794"/>
            <a:ext cx="3471443" cy="2095490"/>
          </a:xfrm>
          <a:custGeom>
            <a:avLst/>
            <a:gdLst/>
            <a:ahLst/>
            <a:cxnLst/>
            <a:rect l="l" t="t" r="r" b="b"/>
            <a:pathLst>
              <a:path w="3471443" h="2095490">
                <a:moveTo>
                  <a:pt x="0" y="0"/>
                </a:moveTo>
                <a:lnTo>
                  <a:pt x="3471443" y="0"/>
                </a:lnTo>
                <a:lnTo>
                  <a:pt x="3471443" y="2095491"/>
                </a:lnTo>
                <a:lnTo>
                  <a:pt x="0" y="2095491"/>
                </a:lnTo>
                <a:lnTo>
                  <a:pt x="0" y="0"/>
                </a:lnTo>
                <a:close/>
              </a:path>
            </a:pathLst>
          </a:custGeom>
          <a:blipFill>
            <a:blip r:embed="rId12">
              <a:extLst>
                <a:ext uri="{96DAC541-7B7A-43D3-8B79-37D633B846F1}">
                  <asvg:svgBlip xmlns:asvg="http://schemas.microsoft.com/office/drawing/2016/SVG/main" r:embed="rId13"/>
                </a:ext>
              </a:extLst>
            </a:blip>
            <a:stretch>
              <a:fillRect t="-152" b="-152"/>
            </a:stretch>
          </a:blipFill>
        </p:spPr>
        <p:txBody>
          <a:bodyPr/>
          <a:lstStyle/>
          <a:p>
            <a:endParaRPr lang="en-US"/>
          </a:p>
        </p:txBody>
      </p:sp>
      <p:sp>
        <p:nvSpPr>
          <p:cNvPr id="8" name="Freeform 8"/>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9" name="TextBox 9"/>
          <p:cNvSpPr txBox="1"/>
          <p:nvPr/>
        </p:nvSpPr>
        <p:spPr>
          <a:xfrm>
            <a:off x="899174" y="999954"/>
            <a:ext cx="13435022" cy="855259"/>
          </a:xfrm>
          <a:prstGeom prst="rect">
            <a:avLst/>
          </a:prstGeom>
        </p:spPr>
        <p:txBody>
          <a:bodyPr lIns="0" tIns="0" rIns="0" bIns="0" rtlCol="0" anchor="t">
            <a:spAutoFit/>
          </a:bodyPr>
          <a:lstStyle/>
          <a:p>
            <a:pPr algn="l">
              <a:lnSpc>
                <a:spcPts val="6880"/>
              </a:lnSpc>
            </a:pPr>
            <a:r>
              <a:rPr lang="en-US" sz="5465">
                <a:solidFill>
                  <a:srgbClr val="005AB0"/>
                </a:solidFill>
                <a:latin typeface="Paytone One"/>
                <a:ea typeface="Paytone One"/>
                <a:cs typeface="Paytone One"/>
                <a:sym typeface="Paytone One"/>
              </a:rPr>
              <a:t>Mục 3. Quyền và nghĩa vụ của tổ chức</a:t>
            </a:r>
          </a:p>
        </p:txBody>
      </p:sp>
      <p:sp>
        <p:nvSpPr>
          <p:cNvPr id="10" name="Freeform 10"/>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4">
              <a:extLst>
                <a:ext uri="{96DAC541-7B7A-43D3-8B79-37D633B846F1}">
                  <asvg:svgBlip xmlns:asvg="http://schemas.microsoft.com/office/drawing/2016/SVG/main" r:embed="rId15"/>
                </a:ext>
              </a:extLst>
            </a:blip>
            <a:stretch>
              <a:fillRect l="-384" r="-382"/>
            </a:stretch>
          </a:blipFill>
        </p:spPr>
        <p:txBody>
          <a:bodyPr/>
          <a:lstStyle/>
          <a:p>
            <a:endParaRPr lang="en-US"/>
          </a:p>
        </p:txBody>
      </p:sp>
      <p:sp>
        <p:nvSpPr>
          <p:cNvPr id="11" name="Freeform 11"/>
          <p:cNvSpPr/>
          <p:nvPr/>
        </p:nvSpPr>
        <p:spPr>
          <a:xfrm>
            <a:off x="518208" y="8503501"/>
            <a:ext cx="1020985" cy="1039892"/>
          </a:xfrm>
          <a:custGeom>
            <a:avLst/>
            <a:gdLst/>
            <a:ahLst/>
            <a:cxnLst/>
            <a:rect l="l" t="t" r="r" b="b"/>
            <a:pathLst>
              <a:path w="1020985" h="1039892">
                <a:moveTo>
                  <a:pt x="0" y="0"/>
                </a:moveTo>
                <a:lnTo>
                  <a:pt x="1020984" y="0"/>
                </a:lnTo>
                <a:lnTo>
                  <a:pt x="1020984" y="1039892"/>
                </a:lnTo>
                <a:lnTo>
                  <a:pt x="0" y="1039892"/>
                </a:lnTo>
                <a:lnTo>
                  <a:pt x="0" y="0"/>
                </a:lnTo>
                <a:close/>
              </a:path>
            </a:pathLst>
          </a:custGeom>
          <a:blipFill>
            <a:blip r:embed="rId16">
              <a:extLst>
                <a:ext uri="{96DAC541-7B7A-43D3-8B79-37D633B846F1}">
                  <asvg:svgBlip xmlns:asvg="http://schemas.microsoft.com/office/drawing/2016/SVG/main" r:embed="rId17"/>
                </a:ext>
              </a:extLst>
            </a:blip>
            <a:stretch>
              <a:fillRect l="-462" r="-462"/>
            </a:stretch>
          </a:blipFill>
        </p:spPr>
        <p:txBody>
          <a:bodyPr/>
          <a:lstStyle/>
          <a:p>
            <a:endParaRPr lang="en-US"/>
          </a:p>
        </p:txBody>
      </p:sp>
      <p:sp>
        <p:nvSpPr>
          <p:cNvPr id="12" name="Freeform 12"/>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3" name="Freeform 13"/>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20">
              <a:extLst>
                <a:ext uri="{96DAC541-7B7A-43D3-8B79-37D633B846F1}">
                  <asvg:svgBlip xmlns:asvg="http://schemas.microsoft.com/office/drawing/2016/SVG/main" r:embed="rId21"/>
                </a:ext>
              </a:extLst>
            </a:blip>
            <a:stretch>
              <a:fillRect t="-20" b="-21"/>
            </a:stretch>
          </a:blipFill>
        </p:spPr>
        <p:txBody>
          <a:bodyPr/>
          <a:lstStyle/>
          <a:p>
            <a:endParaRPr lang="en-US"/>
          </a:p>
        </p:txBody>
      </p:sp>
      <p:sp>
        <p:nvSpPr>
          <p:cNvPr id="14" name="TextBox 14"/>
          <p:cNvSpPr txBox="1"/>
          <p:nvPr/>
        </p:nvSpPr>
        <p:spPr>
          <a:xfrm>
            <a:off x="899174" y="2180059"/>
            <a:ext cx="13815989" cy="1107996"/>
          </a:xfrm>
          <a:prstGeom prst="rect">
            <a:avLst/>
          </a:prstGeom>
        </p:spPr>
        <p:txBody>
          <a:bodyPr lIns="0" tIns="0" rIns="0" bIns="0" rtlCol="0" anchor="t">
            <a:spAutoFit/>
          </a:bodyPr>
          <a:lstStyle/>
          <a:p>
            <a:pPr algn="just"/>
            <a:r>
              <a:rPr lang="en-US" sz="3600" b="1" dirty="0" err="1">
                <a:solidFill>
                  <a:srgbClr val="171814"/>
                </a:solidFill>
                <a:latin typeface="Inter Bold"/>
                <a:ea typeface="Inter Bold"/>
                <a:cs typeface="Inter Bold"/>
                <a:sym typeface="Inter Bold"/>
              </a:rPr>
              <a:t>Điều</a:t>
            </a:r>
            <a:r>
              <a:rPr lang="en-US" sz="3600" b="1" dirty="0">
                <a:solidFill>
                  <a:srgbClr val="171814"/>
                </a:solidFill>
                <a:latin typeface="Inter Bold"/>
                <a:ea typeface="Inter Bold"/>
                <a:cs typeface="Inter Bold"/>
                <a:sym typeface="Inter Bold"/>
              </a:rPr>
              <a:t> 8. Quyền </a:t>
            </a:r>
            <a:r>
              <a:rPr lang="en-US" sz="3600" b="1" dirty="0" err="1">
                <a:solidFill>
                  <a:srgbClr val="171814"/>
                </a:solidFill>
                <a:latin typeface="Inter Bold"/>
                <a:ea typeface="Inter Bold"/>
                <a:cs typeface="Inter Bold"/>
                <a:sym typeface="Inter Bold"/>
              </a:rPr>
              <a:t>của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tổ</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chức</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cá</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nhân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tham</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gia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hoạt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động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ứng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dụng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và</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phát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triển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công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nghệ</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thông</a:t>
            </a:r>
            <a:r>
              <a:rPr lang="en-US" sz="3600" b="1" dirty="0">
                <a:solidFill>
                  <a:srgbClr val="171814"/>
                </a:solidFill>
                <a:latin typeface="Inter Bold"/>
                <a:ea typeface="Inter Bold"/>
                <a:cs typeface="Inter Bold"/>
                <a:sym typeface="Inter Bold"/>
              </a:rPr>
              <a:t> tin</a:t>
            </a:r>
          </a:p>
        </p:txBody>
      </p:sp>
      <p:sp>
        <p:nvSpPr>
          <p:cNvPr id="15" name="TextBox 15"/>
          <p:cNvSpPr txBox="1"/>
          <p:nvPr/>
        </p:nvSpPr>
        <p:spPr>
          <a:xfrm>
            <a:off x="1539192" y="3603279"/>
            <a:ext cx="12676714" cy="4985980"/>
          </a:xfrm>
          <a:prstGeom prst="rect">
            <a:avLst/>
          </a:prstGeom>
        </p:spPr>
        <p:txBody>
          <a:bodyPr wrap="square" lIns="0" tIns="0" rIns="0" bIns="0" rtlCol="0" anchor="t">
            <a:spAutoFit/>
          </a:bodyPr>
          <a:lstStyle/>
          <a:p>
            <a:pPr algn="just"/>
            <a:r>
              <a:rPr lang="en-US" sz="3600" dirty="0" err="1">
                <a:solidFill>
                  <a:srgbClr val="091933"/>
                </a:solidFill>
                <a:latin typeface="Arial" panose="020B0604020202020204" pitchFamily="34" charset="0"/>
                <a:ea typeface="Inter Italics"/>
                <a:cs typeface="Arial" panose="020B0604020202020204" pitchFamily="34" charset="0"/>
                <a:sym typeface="Inter Italics"/>
              </a:rPr>
              <a:t>Thứ</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tư</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quyền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phân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phát</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địa</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chỉ</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liên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lạc</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khi</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có</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sự</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đồng</a:t>
            </a:r>
            <a:r>
              <a:rPr lang="en-US" sz="3600" dirty="0">
                <a:solidFill>
                  <a:srgbClr val="091933"/>
                </a:solidFill>
                <a:latin typeface="Arial" panose="020B0604020202020204" pitchFamily="34" charset="0"/>
                <a:ea typeface="Inter Italics"/>
                <a:cs typeface="Arial" panose="020B0604020202020204" pitchFamily="34" charset="0"/>
                <a:sym typeface="Inter Italics"/>
              </a:rPr>
              <a:t> ý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của</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chủ</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sở</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hữu</a:t>
            </a:r>
            <a:r>
              <a:rPr lang="en-US" sz="3600" dirty="0">
                <a:solidFill>
                  <a:srgbClr val="091933"/>
                </a:solidFill>
                <a:latin typeface="Arial" panose="020B0604020202020204" pitchFamily="34" charset="0"/>
                <a:ea typeface="Inter Italics"/>
                <a:cs typeface="Arial" panose="020B0604020202020204" pitchFamily="34" charset="0"/>
                <a:sym typeface="Inter Italics"/>
              </a:rPr>
              <a:t>.</a:t>
            </a:r>
          </a:p>
          <a:p>
            <a:pPr algn="just"/>
            <a:r>
              <a:rPr lang="en-US" sz="3600" dirty="0">
                <a:solidFill>
                  <a:srgbClr val="091933"/>
                </a:solidFill>
                <a:latin typeface="Arial" panose="020B0604020202020204" pitchFamily="34" charset="0"/>
                <a:ea typeface="Inter Italics"/>
                <a:cs typeface="Arial" panose="020B0604020202020204" pitchFamily="34" charset="0"/>
                <a:sym typeface="Inter Italics"/>
              </a:rPr>
              <a:t> 👉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Ví</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dụ</a:t>
            </a:r>
            <a:r>
              <a:rPr lang="en-US" sz="3600" dirty="0">
                <a:solidFill>
                  <a:srgbClr val="091933"/>
                </a:solidFill>
                <a:latin typeface="Arial" panose="020B0604020202020204" pitchFamily="34" charset="0"/>
                <a:ea typeface="Inter Italics"/>
                <a:cs typeface="Arial" panose="020B0604020202020204" pitchFamily="34" charset="0"/>
                <a:sym typeface="Inter Italics"/>
              </a:rPr>
              <a:t>: Doanh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nghiệp</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chỉ</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được</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gửi</a:t>
            </a:r>
            <a:r>
              <a:rPr lang="en-US" sz="3600" dirty="0">
                <a:solidFill>
                  <a:srgbClr val="091933"/>
                </a:solidFill>
                <a:latin typeface="Arial" panose="020B0604020202020204" pitchFamily="34" charset="0"/>
                <a:ea typeface="Inter Italics"/>
                <a:cs typeface="Arial" panose="020B0604020202020204" pitchFamily="34" charset="0"/>
                <a:sym typeface="Inter Italics"/>
              </a:rPr>
              <a:t> email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quảng</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cáo</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khi</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khách</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hàng</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đã</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đồng</a:t>
            </a:r>
            <a:r>
              <a:rPr lang="en-US" sz="3600" dirty="0">
                <a:solidFill>
                  <a:srgbClr val="091933"/>
                </a:solidFill>
                <a:latin typeface="Arial" panose="020B0604020202020204" pitchFamily="34" charset="0"/>
                <a:ea typeface="Inter Italics"/>
                <a:cs typeface="Arial" panose="020B0604020202020204" pitchFamily="34" charset="0"/>
                <a:sym typeface="Inter Italics"/>
              </a:rPr>
              <a:t> ý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nhận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thông</a:t>
            </a:r>
            <a:r>
              <a:rPr lang="en-US" sz="3600" dirty="0">
                <a:solidFill>
                  <a:srgbClr val="091933"/>
                </a:solidFill>
                <a:latin typeface="Arial" panose="020B0604020202020204" pitchFamily="34" charset="0"/>
                <a:ea typeface="Inter Italics"/>
                <a:cs typeface="Arial" panose="020B0604020202020204" pitchFamily="34" charset="0"/>
                <a:sym typeface="Inter Italics"/>
              </a:rPr>
              <a:t> tin.</a:t>
            </a:r>
          </a:p>
          <a:p>
            <a:pPr algn="just"/>
            <a:endParaRPr lang="en-US" sz="3600" dirty="0">
              <a:solidFill>
                <a:srgbClr val="091933"/>
              </a:solidFill>
              <a:latin typeface="Arial" panose="020B0604020202020204" pitchFamily="34" charset="0"/>
              <a:ea typeface="Inter Italics"/>
              <a:cs typeface="Arial" panose="020B0604020202020204" pitchFamily="34" charset="0"/>
              <a:sym typeface="Inter Italics"/>
            </a:endParaRPr>
          </a:p>
          <a:p>
            <a:pPr algn="just"/>
            <a:r>
              <a:rPr lang="en-US" sz="3600" dirty="0" err="1">
                <a:solidFill>
                  <a:srgbClr val="091933"/>
                </a:solidFill>
                <a:latin typeface="Arial" panose="020B0604020202020204" pitchFamily="34" charset="0"/>
                <a:ea typeface="Inter Italics"/>
                <a:cs typeface="Arial" panose="020B0604020202020204" pitchFamily="34" charset="0"/>
                <a:sym typeface="Inter Italics"/>
              </a:rPr>
              <a:t>Thứ</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năm</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quyền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từ</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chối</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cung</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cấp</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hoặc</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sử</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dụng</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sản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phẩm</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dịch</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vụ</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trái</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pháp</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luật</a:t>
            </a:r>
            <a:r>
              <a:rPr lang="en-US" sz="3600" dirty="0">
                <a:solidFill>
                  <a:srgbClr val="091933"/>
                </a:solidFill>
                <a:latin typeface="Arial" panose="020B0604020202020204" pitchFamily="34" charset="0"/>
                <a:ea typeface="Inter Italics"/>
                <a:cs typeface="Arial" panose="020B0604020202020204" pitchFamily="34" charset="0"/>
                <a:sym typeface="Inter Italics"/>
              </a:rPr>
              <a:t>.</a:t>
            </a:r>
          </a:p>
          <a:p>
            <a:pPr algn="just"/>
            <a:r>
              <a:rPr lang="en-US" sz="3600" dirty="0">
                <a:solidFill>
                  <a:srgbClr val="091933"/>
                </a:solidFill>
                <a:latin typeface="Arial" panose="020B0604020202020204" pitchFamily="34" charset="0"/>
                <a:ea typeface="Inter Italics"/>
                <a:cs typeface="Arial" panose="020B0604020202020204" pitchFamily="34" charset="0"/>
                <a:sym typeface="Inter Italics"/>
              </a:rPr>
              <a:t> 👉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Ví</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dụ</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Cá</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nhân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có</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quyền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từ</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chối</a:t>
            </a:r>
            <a:r>
              <a:rPr lang="en-US" sz="3600" dirty="0">
                <a:solidFill>
                  <a:srgbClr val="091933"/>
                </a:solidFill>
                <a:latin typeface="Arial" panose="020B0604020202020204" pitchFamily="34" charset="0"/>
                <a:ea typeface="Inter Italics"/>
                <a:cs typeface="Arial" panose="020B0604020202020204" pitchFamily="34" charset="0"/>
                <a:sym typeface="Inter Italics"/>
              </a:rPr>
              <a:t> chia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sẻ</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phần</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mềm</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lậu</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hoặc</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nội</a:t>
            </a:r>
            <a:r>
              <a:rPr lang="en-US" sz="3600" dirty="0">
                <a:solidFill>
                  <a:srgbClr val="091933"/>
                </a:solidFill>
                <a:latin typeface="Arial" panose="020B0604020202020204" pitchFamily="34" charset="0"/>
                <a:ea typeface="Inter Italics"/>
                <a:cs typeface="Arial" panose="020B0604020202020204" pitchFamily="34" charset="0"/>
                <a:sym typeface="Inter Italics"/>
              </a:rPr>
              <a:t> dung vi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phạm</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pháp</a:t>
            </a:r>
            <a:r>
              <a:rPr lang="en-US" sz="3600" dirty="0">
                <a:solidFill>
                  <a:srgbClr val="091933"/>
                </a:solidFill>
                <a:latin typeface="Arial" panose="020B0604020202020204" pitchFamily="34" charset="0"/>
                <a:ea typeface="Inter Italics"/>
                <a:cs typeface="Arial" panose="020B0604020202020204" pitchFamily="34" charset="0"/>
                <a:sym typeface="Inter Italics"/>
              </a:rPr>
              <a:t> </a:t>
            </a:r>
            <a:r>
              <a:rPr lang="en-US" sz="3600" dirty="0" err="1">
                <a:solidFill>
                  <a:srgbClr val="091933"/>
                </a:solidFill>
                <a:latin typeface="Arial" panose="020B0604020202020204" pitchFamily="34" charset="0"/>
                <a:ea typeface="Inter Italics"/>
                <a:cs typeface="Arial" panose="020B0604020202020204" pitchFamily="34" charset="0"/>
                <a:sym typeface="Inter Italics"/>
              </a:rPr>
              <a:t>luật</a:t>
            </a:r>
            <a:r>
              <a:rPr lang="en-US" sz="3600" dirty="0">
                <a:solidFill>
                  <a:srgbClr val="091933"/>
                </a:solidFill>
                <a:latin typeface="Arial" panose="020B0604020202020204" pitchFamily="34" charset="0"/>
                <a:ea typeface="Inter Italics"/>
                <a:cs typeface="Arial" panose="020B0604020202020204" pitchFamily="34" charset="0"/>
                <a:sym typeface="Inter Italics"/>
              </a:rPr>
              <a:t>.</a:t>
            </a:r>
          </a:p>
        </p:txBody>
      </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2"/>
            <a:stretch>
              <a:fillRect/>
            </a:stretch>
          </a:blipFill>
        </p:spPr>
        <p:txBody>
          <a:bodyPr/>
          <a:lstStyle/>
          <a:p>
            <a:endParaRPr lang="en-US"/>
          </a:p>
        </p:txBody>
      </p:sp>
      <p:sp>
        <p:nvSpPr>
          <p:cNvPr id="17" name="TextBox 1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8</a:t>
            </a:r>
          </a:p>
        </p:txBody>
      </p:sp>
      <p:grpSp>
        <p:nvGrpSpPr>
          <p:cNvPr id="18" name="Group 18"/>
          <p:cNvGrpSpPr/>
          <p:nvPr/>
        </p:nvGrpSpPr>
        <p:grpSpPr>
          <a:xfrm>
            <a:off x="12281183" y="9435414"/>
            <a:ext cx="6070235" cy="596313"/>
            <a:chOff x="0" y="0"/>
            <a:chExt cx="8093646" cy="795084"/>
          </a:xfrm>
        </p:grpSpPr>
        <p:sp>
          <p:nvSpPr>
            <p:cNvPr id="19" name="Freeform 19"/>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20" name="TextBox 20"/>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2251120057 - Nguyễn Thị Thùy Trang</a:t>
              </a:r>
            </a:p>
          </p:txBody>
        </p: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8" name="TextBox 8"/>
          <p:cNvSpPr txBox="1"/>
          <p:nvPr/>
        </p:nvSpPr>
        <p:spPr>
          <a:xfrm>
            <a:off x="899174" y="999954"/>
            <a:ext cx="13435022" cy="855259"/>
          </a:xfrm>
          <a:prstGeom prst="rect">
            <a:avLst/>
          </a:prstGeom>
        </p:spPr>
        <p:txBody>
          <a:bodyPr lIns="0" tIns="0" rIns="0" bIns="0" rtlCol="0" anchor="t">
            <a:spAutoFit/>
          </a:bodyPr>
          <a:lstStyle/>
          <a:p>
            <a:pPr algn="l">
              <a:lnSpc>
                <a:spcPts val="6880"/>
              </a:lnSpc>
            </a:pPr>
            <a:r>
              <a:rPr lang="en-US" sz="5465">
                <a:solidFill>
                  <a:srgbClr val="005AB0"/>
                </a:solidFill>
                <a:latin typeface="Paytone One"/>
                <a:ea typeface="Paytone One"/>
                <a:cs typeface="Paytone One"/>
                <a:sym typeface="Paytone One"/>
              </a:rPr>
              <a:t>Mục 3. Quyền và nghĩa vụ của tổ chức</a:t>
            </a:r>
          </a:p>
        </p:txBody>
      </p:sp>
      <p:sp>
        <p:nvSpPr>
          <p:cNvPr id="9" name="Freeform 9"/>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0" name="Freeform 10"/>
          <p:cNvSpPr/>
          <p:nvPr/>
        </p:nvSpPr>
        <p:spPr>
          <a:xfrm>
            <a:off x="225577" y="9213624"/>
            <a:ext cx="1020985" cy="1039892"/>
          </a:xfrm>
          <a:custGeom>
            <a:avLst/>
            <a:gdLst/>
            <a:ahLst/>
            <a:cxnLst/>
            <a:rect l="l" t="t" r="r" b="b"/>
            <a:pathLst>
              <a:path w="1020985" h="1039892">
                <a:moveTo>
                  <a:pt x="0" y="0"/>
                </a:moveTo>
                <a:lnTo>
                  <a:pt x="1020985" y="0"/>
                </a:lnTo>
                <a:lnTo>
                  <a:pt x="1020985" y="1039892"/>
                </a:lnTo>
                <a:lnTo>
                  <a:pt x="0" y="1039892"/>
                </a:lnTo>
                <a:lnTo>
                  <a:pt x="0" y="0"/>
                </a:lnTo>
                <a:close/>
              </a:path>
            </a:pathLst>
          </a:custGeom>
          <a:blipFill>
            <a:blip r:embed="rId14">
              <a:extLst>
                <a:ext uri="{96DAC541-7B7A-43D3-8B79-37D633B846F1}">
                  <asvg:svgBlip xmlns:asvg="http://schemas.microsoft.com/office/drawing/2016/SVG/main" r:embed="rId15"/>
                </a:ext>
              </a:extLst>
            </a:blip>
            <a:stretch>
              <a:fillRect l="-462" r="-462"/>
            </a:stretch>
          </a:blipFill>
        </p:spPr>
        <p:txBody>
          <a:bodyPr/>
          <a:lstStyle/>
          <a:p>
            <a:endParaRPr lang="en-US"/>
          </a:p>
        </p:txBody>
      </p:sp>
      <p:sp>
        <p:nvSpPr>
          <p:cNvPr id="11" name="Freeform 11"/>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2" name="Freeform 12"/>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8">
              <a:extLst>
                <a:ext uri="{96DAC541-7B7A-43D3-8B79-37D633B846F1}">
                  <asvg:svgBlip xmlns:asvg="http://schemas.microsoft.com/office/drawing/2016/SVG/main" r:embed="rId19"/>
                </a:ext>
              </a:extLst>
            </a:blip>
            <a:stretch>
              <a:fillRect t="-20" b="-21"/>
            </a:stretch>
          </a:blipFill>
        </p:spPr>
        <p:txBody>
          <a:bodyPr/>
          <a:lstStyle/>
          <a:p>
            <a:endParaRPr lang="en-US"/>
          </a:p>
        </p:txBody>
      </p:sp>
      <p:sp>
        <p:nvSpPr>
          <p:cNvPr id="13" name="TextBox 13"/>
          <p:cNvSpPr txBox="1"/>
          <p:nvPr/>
        </p:nvSpPr>
        <p:spPr>
          <a:xfrm>
            <a:off x="899174" y="2227938"/>
            <a:ext cx="13815989" cy="1107996"/>
          </a:xfrm>
          <a:prstGeom prst="rect">
            <a:avLst/>
          </a:prstGeom>
        </p:spPr>
        <p:txBody>
          <a:bodyPr lIns="0" tIns="0" rIns="0" bIns="0" rtlCol="0" anchor="t">
            <a:spAutoFit/>
          </a:bodyPr>
          <a:lstStyle/>
          <a:p>
            <a:pPr algn="just"/>
            <a:r>
              <a:rPr lang="en-US" sz="3600" b="1" dirty="0" err="1">
                <a:solidFill>
                  <a:srgbClr val="171814"/>
                </a:solidFill>
                <a:latin typeface="Inter Bold"/>
                <a:ea typeface="Inter Bold"/>
                <a:cs typeface="Inter Bold"/>
                <a:sym typeface="Inter Bold"/>
              </a:rPr>
              <a:t>Điều</a:t>
            </a:r>
            <a:r>
              <a:rPr lang="en-US" sz="3600" b="1" dirty="0">
                <a:solidFill>
                  <a:srgbClr val="171814"/>
                </a:solidFill>
                <a:latin typeface="Inter Bold"/>
                <a:ea typeface="Inter Bold"/>
                <a:cs typeface="Inter Bold"/>
                <a:sym typeface="Inter Bold"/>
              </a:rPr>
              <a:t> 8. Quyền </a:t>
            </a:r>
            <a:r>
              <a:rPr lang="en-US" sz="3600" b="1" dirty="0" err="1">
                <a:solidFill>
                  <a:srgbClr val="171814"/>
                </a:solidFill>
                <a:latin typeface="Inter Bold"/>
                <a:ea typeface="Inter Bold"/>
                <a:cs typeface="Inter Bold"/>
                <a:sym typeface="Inter Bold"/>
              </a:rPr>
              <a:t>của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tổ</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chức</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cá</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nhân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tham</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gia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hoạt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động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ứng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dụng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và</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phát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triển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công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nghệ</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thông</a:t>
            </a:r>
            <a:r>
              <a:rPr lang="en-US" sz="3600" b="1" dirty="0">
                <a:solidFill>
                  <a:srgbClr val="171814"/>
                </a:solidFill>
                <a:latin typeface="Inter Bold"/>
                <a:ea typeface="Inter Bold"/>
                <a:cs typeface="Inter Bold"/>
                <a:sym typeface="Inter Bold"/>
              </a:rPr>
              <a:t> tin</a:t>
            </a:r>
          </a:p>
        </p:txBody>
      </p:sp>
      <p:sp>
        <p:nvSpPr>
          <p:cNvPr id="14" name="TextBox 14"/>
          <p:cNvSpPr txBox="1"/>
          <p:nvPr/>
        </p:nvSpPr>
        <p:spPr>
          <a:xfrm>
            <a:off x="954474" y="3740305"/>
            <a:ext cx="16457226" cy="4431983"/>
          </a:xfrm>
          <a:prstGeom prst="rect">
            <a:avLst/>
          </a:prstGeom>
        </p:spPr>
        <p:txBody>
          <a:bodyPr wrap="square" lIns="0" tIns="0" rIns="0" bIns="0" rtlCol="0" anchor="t">
            <a:spAutoFit/>
          </a:bodyPr>
          <a:lstStyle/>
          <a:p>
            <a:pPr algn="just"/>
            <a:r>
              <a:rPr lang="en-US" sz="3200" dirty="0" err="1">
                <a:solidFill>
                  <a:srgbClr val="091933"/>
                </a:solidFill>
                <a:latin typeface="Arial" panose="020B0604020202020204" pitchFamily="34" charset="0"/>
                <a:ea typeface="Inter Italics"/>
                <a:cs typeface="Arial" panose="020B0604020202020204" pitchFamily="34" charset="0"/>
                <a:sym typeface="Inter Italics"/>
              </a:rPr>
              <a:t>Ngoài</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ra</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trong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hoạt</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động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phát</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triển</a:t>
            </a:r>
            <a:r>
              <a:rPr lang="en-US" sz="3200" dirty="0">
                <a:solidFill>
                  <a:srgbClr val="091933"/>
                </a:solidFill>
                <a:latin typeface="Arial" panose="020B0604020202020204" pitchFamily="34" charset="0"/>
                <a:ea typeface="Inter Italics"/>
                <a:cs typeface="Arial" panose="020B0604020202020204" pitchFamily="34" charset="0"/>
                <a:sym typeface="Inter Italics"/>
              </a:rPr>
              <a:t> CNTT,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tổ</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chức</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và</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cá</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nhân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có</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quyền</a:t>
            </a:r>
            <a:r>
              <a:rPr lang="en-US" sz="3200" dirty="0">
                <a:solidFill>
                  <a:srgbClr val="091933"/>
                </a:solidFill>
                <a:latin typeface="Arial" panose="020B0604020202020204" pitchFamily="34" charset="0"/>
                <a:ea typeface="Inter Italics"/>
                <a:cs typeface="Arial" panose="020B0604020202020204" pitchFamily="34" charset="0"/>
                <a:sym typeface="Inter Italics"/>
              </a:rPr>
              <a:t>:</a:t>
            </a:r>
          </a:p>
          <a:p>
            <a:pPr algn="just"/>
            <a:endParaRPr lang="en-US" sz="3200" dirty="0">
              <a:solidFill>
                <a:srgbClr val="091933"/>
              </a:solidFill>
              <a:latin typeface="Arial" panose="020B0604020202020204" pitchFamily="34" charset="0"/>
              <a:ea typeface="Inter Italics"/>
              <a:cs typeface="Arial" panose="020B0604020202020204" pitchFamily="34" charset="0"/>
              <a:sym typeface="Inter Italics"/>
            </a:endParaRPr>
          </a:p>
          <a:p>
            <a:pPr marL="769562" lvl="1" indent="-384781" algn="just">
              <a:buFont typeface="Arial"/>
              <a:buChar char="•"/>
            </a:pPr>
            <a:r>
              <a:rPr lang="en-US" sz="3200" dirty="0" err="1">
                <a:solidFill>
                  <a:srgbClr val="091933"/>
                </a:solidFill>
                <a:latin typeface="Arial" panose="020B0604020202020204" pitchFamily="34" charset="0"/>
                <a:ea typeface="Inter Italics"/>
                <a:cs typeface="Arial" panose="020B0604020202020204" pitchFamily="34" charset="0"/>
                <a:sym typeface="Inter Italics"/>
              </a:rPr>
              <a:t>Nghiên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cứu</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sản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xuất</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phần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mềm</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ứng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dụng</a:t>
            </a:r>
            <a:r>
              <a:rPr lang="en-US" sz="3200" dirty="0">
                <a:solidFill>
                  <a:srgbClr val="091933"/>
                </a:solidFill>
                <a:latin typeface="Arial" panose="020B0604020202020204" pitchFamily="34" charset="0"/>
                <a:ea typeface="Inter Italics"/>
                <a:cs typeface="Arial" panose="020B0604020202020204" pitchFamily="34" charset="0"/>
                <a:sym typeface="Inter Italics"/>
              </a:rPr>
              <a:t>;</a:t>
            </a:r>
          </a:p>
          <a:p>
            <a:pPr marL="769562" lvl="1" indent="-384781" algn="just">
              <a:buFont typeface="Arial"/>
              <a:buChar char="•"/>
            </a:pPr>
            <a:r>
              <a:rPr lang="en-US" sz="3200" dirty="0" err="1">
                <a:solidFill>
                  <a:srgbClr val="091933"/>
                </a:solidFill>
                <a:latin typeface="Arial" panose="020B0604020202020204" pitchFamily="34" charset="0"/>
                <a:ea typeface="Inter Italics"/>
                <a:cs typeface="Arial" panose="020B0604020202020204" pitchFamily="34" charset="0"/>
                <a:sym typeface="Inter Italics"/>
              </a:rPr>
              <a:t>Số</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hóa</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và</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khai</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thác</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dữ</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liệu</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để</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tăng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giá</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trị</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thông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tin.</a:t>
            </a:r>
          </a:p>
          <a:p>
            <a:pPr algn="just"/>
            <a:r>
              <a:rPr lang="en-US" sz="3200" dirty="0">
                <a:solidFill>
                  <a:srgbClr val="091933"/>
                </a:solidFill>
                <a:latin typeface="Arial" panose="020B0604020202020204" pitchFamily="34" charset="0"/>
                <a:ea typeface="Inter Italics"/>
                <a:cs typeface="Arial" panose="020B0604020202020204" pitchFamily="34" charset="0"/>
                <a:sym typeface="Inter Italics"/>
              </a:rPr>
              <a:t> 👉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Ví</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dụ</a:t>
            </a:r>
            <a:r>
              <a:rPr lang="en-US" sz="3200" dirty="0">
                <a:solidFill>
                  <a:srgbClr val="091933"/>
                </a:solidFill>
                <a:latin typeface="Arial" panose="020B0604020202020204" pitchFamily="34" charset="0"/>
                <a:ea typeface="Inter Italics"/>
                <a:cs typeface="Arial" panose="020B0604020202020204" pitchFamily="34" charset="0"/>
                <a:sym typeface="Inter Italics"/>
              </a:rPr>
              <a:t>: Doanh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nghiệp</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phát</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triển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phần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mềm</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quản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lý</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hoặc</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số</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hóa</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hồ</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sơ</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giấy</a:t>
            </a:r>
            <a:r>
              <a:rPr lang="en-US" sz="3200" dirty="0">
                <a:solidFill>
                  <a:srgbClr val="091933"/>
                </a:solidFill>
                <a:latin typeface="Arial" panose="020B0604020202020204" pitchFamily="34" charset="0"/>
                <a:ea typeface="Inter Italics"/>
                <a:cs typeface="Arial" panose="020B0604020202020204" pitchFamily="34" charset="0"/>
                <a:sym typeface="Inter Italics"/>
              </a:rPr>
              <a:t> sang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dữ</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liệu</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điện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tử</a:t>
            </a:r>
            <a:r>
              <a:rPr lang="en-US" sz="3200" dirty="0">
                <a:solidFill>
                  <a:srgbClr val="091933"/>
                </a:solidFill>
                <a:latin typeface="Arial" panose="020B0604020202020204" pitchFamily="34" charset="0"/>
                <a:ea typeface="Inter Italics"/>
                <a:cs typeface="Arial" panose="020B0604020202020204" pitchFamily="34" charset="0"/>
                <a:sym typeface="Inter Italics"/>
              </a:rPr>
              <a:t>.</a:t>
            </a:r>
          </a:p>
          <a:p>
            <a:pPr algn="just"/>
            <a:endParaRPr lang="en-US" sz="3200" dirty="0">
              <a:solidFill>
                <a:srgbClr val="091933"/>
              </a:solidFill>
              <a:latin typeface="Arial" panose="020B0604020202020204" pitchFamily="34" charset="0"/>
              <a:ea typeface="Inter Italics"/>
              <a:cs typeface="Arial" panose="020B0604020202020204" pitchFamily="34" charset="0"/>
              <a:sym typeface="Inter Italics"/>
            </a:endParaRPr>
          </a:p>
          <a:p>
            <a:pPr marL="769562" lvl="1" indent="-384781" algn="just">
              <a:buFont typeface="Arial"/>
              <a:buChar char="•"/>
            </a:pPr>
            <a:r>
              <a:rPr lang="en-US" sz="3200" dirty="0" err="1">
                <a:solidFill>
                  <a:srgbClr val="091933"/>
                </a:solidFill>
                <a:latin typeface="Arial" panose="020B0604020202020204" pitchFamily="34" charset="0"/>
                <a:ea typeface="Inter Italics"/>
                <a:cs typeface="Arial" panose="020B0604020202020204" pitchFamily="34" charset="0"/>
                <a:sym typeface="Inter Italics"/>
              </a:rPr>
              <a:t>Cơ</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quan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nhà</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nước</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có</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quyền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từ</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chối</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nhận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thông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tin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không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bảo</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đảm</a:t>
            </a:r>
            <a:r>
              <a:rPr lang="en-US" sz="3200" dirty="0">
                <a:solidFill>
                  <a:srgbClr val="091933"/>
                </a:solidFill>
                <a:latin typeface="Arial" panose="020B0604020202020204" pitchFamily="34" charset="0"/>
                <a:ea typeface="Inter Italics"/>
                <a:cs typeface="Arial" panose="020B0604020202020204" pitchFamily="34" charset="0"/>
                <a:sym typeface="Inter Italics"/>
              </a:rPr>
              <a:t> an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toàn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bảo</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mật</a:t>
            </a:r>
            <a:r>
              <a:rPr lang="en-US" sz="3200" dirty="0">
                <a:solidFill>
                  <a:srgbClr val="091933"/>
                </a:solidFill>
                <a:latin typeface="Arial" panose="020B0604020202020204" pitchFamily="34" charset="0"/>
                <a:ea typeface="Inter Italics"/>
                <a:cs typeface="Arial" panose="020B0604020202020204" pitchFamily="34" charset="0"/>
                <a:sym typeface="Inter Italics"/>
              </a:rPr>
              <a:t>.</a:t>
            </a:r>
          </a:p>
          <a:p>
            <a:pPr algn="just"/>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Ví</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dụ</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Không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tiếp</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nhận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hồ</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sơ</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điện</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tử</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gửi</a:t>
            </a:r>
            <a:r>
              <a:rPr lang="en-US" sz="3200" dirty="0">
                <a:solidFill>
                  <a:srgbClr val="091933"/>
                </a:solidFill>
                <a:latin typeface="Arial" panose="020B0604020202020204" pitchFamily="34" charset="0"/>
                <a:ea typeface="Inter Italics"/>
                <a:cs typeface="Arial" panose="020B0604020202020204" pitchFamily="34" charset="0"/>
                <a:sym typeface="Inter Italics"/>
              </a:rPr>
              <a:t> qua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hệ</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thống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không</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bảo</a:t>
            </a:r>
            <a:r>
              <a:rPr lang="en-US" sz="3200" dirty="0">
                <a:solidFill>
                  <a:srgbClr val="091933"/>
                </a:solidFill>
                <a:latin typeface="Arial" panose="020B0604020202020204" pitchFamily="34" charset="0"/>
                <a:ea typeface="Inter Italics"/>
                <a:cs typeface="Arial" panose="020B0604020202020204" pitchFamily="34" charset="0"/>
                <a:sym typeface="Inter Italics"/>
              </a:rPr>
              <a:t> </a:t>
            </a:r>
            <a:r>
              <a:rPr lang="en-US" sz="3200" dirty="0" err="1">
                <a:solidFill>
                  <a:srgbClr val="091933"/>
                </a:solidFill>
                <a:latin typeface="Arial" panose="020B0604020202020204" pitchFamily="34" charset="0"/>
                <a:ea typeface="Inter Italics"/>
                <a:cs typeface="Arial" panose="020B0604020202020204" pitchFamily="34" charset="0"/>
                <a:sym typeface="Inter Italics"/>
              </a:rPr>
              <a:t>mật</a:t>
            </a:r>
            <a:r>
              <a:rPr lang="en-US" sz="3200" dirty="0">
                <a:solidFill>
                  <a:srgbClr val="091933"/>
                </a:solidFill>
                <a:latin typeface="Arial" panose="020B0604020202020204" pitchFamily="34" charset="0"/>
                <a:ea typeface="Inter Italics"/>
                <a:cs typeface="Arial" panose="020B0604020202020204" pitchFamily="34" charset="0"/>
                <a:sym typeface="Inter Italics"/>
              </a:rPr>
              <a:t>.</a:t>
            </a:r>
          </a:p>
        </p:txBody>
      </p:sp>
      <p:sp>
        <p:nvSpPr>
          <p:cNvPr id="15" name="Freeform 15"/>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0"/>
            <a:stretch>
              <a:fillRect/>
            </a:stretch>
          </a:blipFill>
        </p:spPr>
        <p:txBody>
          <a:bodyPr/>
          <a:lstStyle/>
          <a:p>
            <a:endParaRPr lang="en-US"/>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9</a:t>
            </a:r>
          </a:p>
        </p:txBody>
      </p:sp>
      <p:grpSp>
        <p:nvGrpSpPr>
          <p:cNvPr id="17" name="Group 17"/>
          <p:cNvGrpSpPr/>
          <p:nvPr/>
        </p:nvGrpSpPr>
        <p:grpSpPr>
          <a:xfrm>
            <a:off x="12281183" y="9435414"/>
            <a:ext cx="6070235" cy="596313"/>
            <a:chOff x="0" y="0"/>
            <a:chExt cx="8093646" cy="795084"/>
          </a:xfrm>
        </p:grpSpPr>
        <p:sp>
          <p:nvSpPr>
            <p:cNvPr id="18" name="Freeform 18"/>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2251120057 - Nguyễn Thị Thùy Trang</a:t>
              </a:r>
            </a:p>
          </p:txBody>
        </p:sp>
      </p:gr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8" name="TextBox 8"/>
          <p:cNvSpPr txBox="1"/>
          <p:nvPr/>
        </p:nvSpPr>
        <p:spPr>
          <a:xfrm>
            <a:off x="899174" y="999954"/>
            <a:ext cx="14695584" cy="855259"/>
          </a:xfrm>
          <a:prstGeom prst="rect">
            <a:avLst/>
          </a:prstGeom>
        </p:spPr>
        <p:txBody>
          <a:bodyPr lIns="0" tIns="0" rIns="0" bIns="0" rtlCol="0" anchor="t">
            <a:spAutoFit/>
          </a:bodyPr>
          <a:lstStyle/>
          <a:p>
            <a:pPr algn="l">
              <a:lnSpc>
                <a:spcPts val="6880"/>
              </a:lnSpc>
            </a:pPr>
            <a:r>
              <a:rPr lang="en-US" sz="5465">
                <a:solidFill>
                  <a:srgbClr val="005AB0"/>
                </a:solidFill>
                <a:latin typeface="Paytone One"/>
                <a:ea typeface="Paytone One"/>
                <a:cs typeface="Paytone One"/>
                <a:sym typeface="Paytone One"/>
              </a:rPr>
              <a:t>Mục 4. Cá nhân tham gia hoạt động CNTT</a:t>
            </a:r>
          </a:p>
        </p:txBody>
      </p:sp>
      <p:sp>
        <p:nvSpPr>
          <p:cNvPr id="9" name="Freeform 9"/>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0" name="Freeform 10"/>
          <p:cNvSpPr/>
          <p:nvPr/>
        </p:nvSpPr>
        <p:spPr>
          <a:xfrm>
            <a:off x="225577" y="9213624"/>
            <a:ext cx="1020985" cy="1039892"/>
          </a:xfrm>
          <a:custGeom>
            <a:avLst/>
            <a:gdLst/>
            <a:ahLst/>
            <a:cxnLst/>
            <a:rect l="l" t="t" r="r" b="b"/>
            <a:pathLst>
              <a:path w="1020985" h="1039892">
                <a:moveTo>
                  <a:pt x="0" y="0"/>
                </a:moveTo>
                <a:lnTo>
                  <a:pt x="1020985" y="0"/>
                </a:lnTo>
                <a:lnTo>
                  <a:pt x="1020985" y="1039892"/>
                </a:lnTo>
                <a:lnTo>
                  <a:pt x="0" y="1039892"/>
                </a:lnTo>
                <a:lnTo>
                  <a:pt x="0" y="0"/>
                </a:lnTo>
                <a:close/>
              </a:path>
            </a:pathLst>
          </a:custGeom>
          <a:blipFill>
            <a:blip r:embed="rId14">
              <a:extLst>
                <a:ext uri="{96DAC541-7B7A-43D3-8B79-37D633B846F1}">
                  <asvg:svgBlip xmlns:asvg="http://schemas.microsoft.com/office/drawing/2016/SVG/main" r:embed="rId15"/>
                </a:ext>
              </a:extLst>
            </a:blip>
            <a:stretch>
              <a:fillRect l="-462" r="-462"/>
            </a:stretch>
          </a:blipFill>
        </p:spPr>
        <p:txBody>
          <a:bodyPr/>
          <a:lstStyle/>
          <a:p>
            <a:endParaRPr lang="en-US"/>
          </a:p>
        </p:txBody>
      </p:sp>
      <p:sp>
        <p:nvSpPr>
          <p:cNvPr id="11" name="Freeform 11"/>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2" name="Freeform 12"/>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8">
              <a:extLst>
                <a:ext uri="{96DAC541-7B7A-43D3-8B79-37D633B846F1}">
                  <asvg:svgBlip xmlns:asvg="http://schemas.microsoft.com/office/drawing/2016/SVG/main" r:embed="rId19"/>
                </a:ext>
              </a:extLst>
            </a:blip>
            <a:stretch>
              <a:fillRect t="-20" b="-21"/>
            </a:stretch>
          </a:blipFill>
        </p:spPr>
        <p:txBody>
          <a:bodyPr/>
          <a:lstStyle/>
          <a:p>
            <a:endParaRPr lang="en-US"/>
          </a:p>
        </p:txBody>
      </p:sp>
      <p:sp>
        <p:nvSpPr>
          <p:cNvPr id="13" name="TextBox 13"/>
          <p:cNvSpPr txBox="1"/>
          <p:nvPr/>
        </p:nvSpPr>
        <p:spPr>
          <a:xfrm>
            <a:off x="1338971" y="2270195"/>
            <a:ext cx="13815989" cy="1107996"/>
          </a:xfrm>
          <a:prstGeom prst="rect">
            <a:avLst/>
          </a:prstGeom>
        </p:spPr>
        <p:txBody>
          <a:bodyPr lIns="0" tIns="0" rIns="0" bIns="0" rtlCol="0" anchor="t">
            <a:spAutoFit/>
          </a:bodyPr>
          <a:lstStyle/>
          <a:p>
            <a:pPr algn="just"/>
            <a:r>
              <a:rPr lang="en-US" sz="3600" b="1" dirty="0" err="1">
                <a:solidFill>
                  <a:srgbClr val="171814"/>
                </a:solidFill>
                <a:latin typeface="Inter Bold"/>
                <a:ea typeface="Inter Bold"/>
                <a:cs typeface="Inter Bold"/>
                <a:sym typeface="Inter Bold"/>
              </a:rPr>
              <a:t>Điều</a:t>
            </a:r>
            <a:r>
              <a:rPr lang="en-US" sz="3600" b="1" dirty="0">
                <a:solidFill>
                  <a:srgbClr val="171814"/>
                </a:solidFill>
                <a:latin typeface="Inter Bold"/>
                <a:ea typeface="Inter Bold"/>
                <a:cs typeface="Inter Bold"/>
                <a:sym typeface="Inter Bold"/>
              </a:rPr>
              <a:t> 9. </a:t>
            </a:r>
            <a:r>
              <a:rPr lang="en-US" sz="3600" b="1" dirty="0" err="1">
                <a:solidFill>
                  <a:srgbClr val="171814"/>
                </a:solidFill>
                <a:latin typeface="Inter Bold"/>
                <a:ea typeface="Inter Bold"/>
                <a:cs typeface="Inter Bold"/>
                <a:sym typeface="Inter Bold"/>
              </a:rPr>
              <a:t>Trách</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nhiệm</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của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tổ</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chức</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cá</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nhân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tham</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gia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hoạt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động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ứng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dụng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và</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phát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triển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công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nghệ</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thông</a:t>
            </a:r>
            <a:r>
              <a:rPr lang="en-US" sz="3600" b="1" dirty="0">
                <a:solidFill>
                  <a:srgbClr val="171814"/>
                </a:solidFill>
                <a:latin typeface="Inter Bold"/>
                <a:ea typeface="Inter Bold"/>
                <a:cs typeface="Inter Bold"/>
                <a:sym typeface="Inter Bold"/>
              </a:rPr>
              <a:t> tin</a:t>
            </a:r>
          </a:p>
        </p:txBody>
      </p:sp>
      <p:sp>
        <p:nvSpPr>
          <p:cNvPr id="14" name="TextBox 14"/>
          <p:cNvSpPr txBox="1"/>
          <p:nvPr/>
        </p:nvSpPr>
        <p:spPr>
          <a:xfrm>
            <a:off x="1554450" y="3767198"/>
            <a:ext cx="15180175" cy="4431983"/>
          </a:xfrm>
          <a:prstGeom prst="rect">
            <a:avLst/>
          </a:prstGeom>
        </p:spPr>
        <p:txBody>
          <a:bodyPr wrap="square" lIns="0" tIns="0" rIns="0" bIns="0" rtlCol="0" anchor="t">
            <a:spAutoFit/>
          </a:bodyPr>
          <a:lstStyle/>
          <a:p>
            <a:pPr algn="l"/>
            <a:r>
              <a:rPr lang="en-US" sz="3200" dirty="0" err="1">
                <a:solidFill>
                  <a:srgbClr val="000000"/>
                </a:solidFill>
                <a:latin typeface="Arial" panose="020B0604020202020204" pitchFamily="34" charset="0"/>
                <a:ea typeface="Inter Italics"/>
                <a:cs typeface="Arial" panose="020B0604020202020204" pitchFamily="34" charset="0"/>
                <a:sym typeface="Inter Italics"/>
              </a:rPr>
              <a:t>Tổ</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chức</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cá</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nhân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phải</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chịu</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trách</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nhiệm</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về</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nội</a:t>
            </a:r>
            <a:r>
              <a:rPr lang="en-US" sz="3200" dirty="0">
                <a:solidFill>
                  <a:srgbClr val="000000"/>
                </a:solidFill>
                <a:latin typeface="Arial" panose="020B0604020202020204" pitchFamily="34" charset="0"/>
                <a:ea typeface="Inter Italics"/>
                <a:cs typeface="Arial" panose="020B0604020202020204" pitchFamily="34" charset="0"/>
                <a:sym typeface="Inter Italics"/>
              </a:rPr>
              <a:t> dung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thông</a:t>
            </a:r>
            <a:r>
              <a:rPr lang="en-US" sz="3200" dirty="0">
                <a:solidFill>
                  <a:srgbClr val="000000"/>
                </a:solidFill>
                <a:latin typeface="Arial" panose="020B0604020202020204" pitchFamily="34" charset="0"/>
                <a:ea typeface="Inter Italics"/>
                <a:cs typeface="Arial" panose="020B0604020202020204" pitchFamily="34" charset="0"/>
                <a:sym typeface="Inter Italics"/>
              </a:rPr>
              <a:t> tin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số</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của</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mình</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trên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môi</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trường</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mạng</a:t>
            </a:r>
            <a:r>
              <a:rPr lang="en-US" sz="3200" dirty="0">
                <a:solidFill>
                  <a:srgbClr val="000000"/>
                </a:solidFill>
                <a:latin typeface="Arial" panose="020B0604020202020204" pitchFamily="34" charset="0"/>
                <a:ea typeface="Inter Italics"/>
                <a:cs typeface="Arial" panose="020B0604020202020204" pitchFamily="34" charset="0"/>
                <a:sym typeface="Inter Italics"/>
              </a:rPr>
              <a:t>.</a:t>
            </a:r>
          </a:p>
          <a:p>
            <a:pPr algn="l"/>
            <a:r>
              <a:rPr lang="en-US" sz="3200" dirty="0">
                <a:solidFill>
                  <a:srgbClr val="000000"/>
                </a:solidFill>
                <a:latin typeface="Arial" panose="020B0604020202020204" pitchFamily="34" charset="0"/>
                <a:ea typeface="Inter Italics"/>
                <a:cs typeface="Arial" panose="020B0604020202020204" pitchFamily="34" charset="0"/>
                <a:sym typeface="Inter Italics"/>
              </a:rPr>
              <a:t> 👉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Ví</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dụ</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Đăng</a:t>
            </a:r>
            <a:r>
              <a:rPr lang="en-US" sz="3200" dirty="0">
                <a:solidFill>
                  <a:srgbClr val="000000"/>
                </a:solidFill>
                <a:latin typeface="Arial" panose="020B0604020202020204" pitchFamily="34" charset="0"/>
                <a:ea typeface="Inter Italics"/>
                <a:cs typeface="Arial" panose="020B0604020202020204" pitchFamily="34" charset="0"/>
                <a:sym typeface="Inter Italics"/>
              </a:rPr>
              <a:t> tin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sai</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sự</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thật</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thì</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phải</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chịu</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trách</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nhiệm</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pháp</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luật</a:t>
            </a:r>
            <a:r>
              <a:rPr lang="en-US" sz="3200" dirty="0">
                <a:solidFill>
                  <a:srgbClr val="000000"/>
                </a:solidFill>
                <a:latin typeface="Arial" panose="020B0604020202020204" pitchFamily="34" charset="0"/>
                <a:ea typeface="Inter Italics"/>
                <a:cs typeface="Arial" panose="020B0604020202020204" pitchFamily="34" charset="0"/>
                <a:sym typeface="Inter Italics"/>
              </a:rPr>
              <a:t>.</a:t>
            </a:r>
          </a:p>
          <a:p>
            <a:pPr algn="l"/>
            <a:endParaRPr lang="en-US" sz="3200" dirty="0">
              <a:solidFill>
                <a:srgbClr val="000000"/>
              </a:solidFill>
              <a:latin typeface="Arial" panose="020B0604020202020204" pitchFamily="34" charset="0"/>
              <a:ea typeface="Inter Italics"/>
              <a:cs typeface="Arial" panose="020B0604020202020204" pitchFamily="34" charset="0"/>
              <a:sym typeface="Inter Italics"/>
            </a:endParaRPr>
          </a:p>
          <a:p>
            <a:pPr algn="l"/>
            <a:r>
              <a:rPr lang="en-US" sz="3200" dirty="0">
                <a:solidFill>
                  <a:srgbClr val="000000"/>
                </a:solidFill>
                <a:latin typeface="Arial" panose="020B0604020202020204" pitchFamily="34" charset="0"/>
                <a:ea typeface="Inter Italics"/>
                <a:cs typeface="Arial" panose="020B0604020202020204" pitchFamily="34" charset="0"/>
                <a:sym typeface="Inter Italics"/>
              </a:rPr>
              <a:t>Khi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kinh</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doanh</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trên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môi</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trường</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mạng</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phải</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công</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khai</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thông</a:t>
            </a:r>
            <a:r>
              <a:rPr lang="en-US" sz="3200" dirty="0">
                <a:solidFill>
                  <a:srgbClr val="000000"/>
                </a:solidFill>
                <a:latin typeface="Arial" panose="020B0604020202020204" pitchFamily="34" charset="0"/>
                <a:ea typeface="Inter Italics"/>
                <a:cs typeface="Arial" panose="020B0604020202020204" pitchFamily="34" charset="0"/>
                <a:sym typeface="Inter Italics"/>
              </a:rPr>
              <a:t> tin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liên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quan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gồm</a:t>
            </a:r>
            <a:r>
              <a:rPr lang="en-US" sz="3200" dirty="0">
                <a:solidFill>
                  <a:srgbClr val="000000"/>
                </a:solidFill>
                <a:latin typeface="Arial" panose="020B0604020202020204" pitchFamily="34" charset="0"/>
                <a:ea typeface="Inter Italics"/>
                <a:cs typeface="Arial" panose="020B0604020202020204" pitchFamily="34" charset="0"/>
                <a:sym typeface="Inter Italics"/>
              </a:rPr>
              <a:t>:</a:t>
            </a:r>
          </a:p>
          <a:p>
            <a:pPr marL="757466" lvl="1" indent="-378733" algn="l">
              <a:buFont typeface="Arial"/>
              <a:buChar char="•"/>
            </a:pPr>
            <a:r>
              <a:rPr lang="en-US" sz="3200" dirty="0" err="1">
                <a:solidFill>
                  <a:srgbClr val="000000"/>
                </a:solidFill>
                <a:latin typeface="Arial" panose="020B0604020202020204" pitchFamily="34" charset="0"/>
                <a:ea typeface="Inter Italics"/>
                <a:cs typeface="Arial" panose="020B0604020202020204" pitchFamily="34" charset="0"/>
                <a:sym typeface="Inter Italics"/>
              </a:rPr>
              <a:t>Tên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địa</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chỉ</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điện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thoại</a:t>
            </a:r>
            <a:r>
              <a:rPr lang="en-US" sz="3200" dirty="0">
                <a:solidFill>
                  <a:srgbClr val="000000"/>
                </a:solidFill>
                <a:latin typeface="Arial" panose="020B0604020202020204" pitchFamily="34" charset="0"/>
                <a:ea typeface="Inter Italics"/>
                <a:cs typeface="Arial" panose="020B0604020202020204" pitchFamily="34" charset="0"/>
                <a:sym typeface="Inter Italics"/>
              </a:rPr>
              <a:t>, email</a:t>
            </a:r>
          </a:p>
          <a:p>
            <a:pPr marL="757466" lvl="1" indent="-378733" algn="l">
              <a:buFont typeface="Arial"/>
              <a:buChar char="•"/>
            </a:pPr>
            <a:r>
              <a:rPr lang="en-US" sz="3200" dirty="0" err="1">
                <a:solidFill>
                  <a:srgbClr val="000000"/>
                </a:solidFill>
                <a:latin typeface="Arial" panose="020B0604020202020204" pitchFamily="34" charset="0"/>
                <a:ea typeface="Inter Italics"/>
                <a:cs typeface="Arial" panose="020B0604020202020204" pitchFamily="34" charset="0"/>
                <a:sym typeface="Inter Italics"/>
              </a:rPr>
              <a:t>Giấy</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phép</a:t>
            </a:r>
            <a:r>
              <a:rPr lang="en-US" sz="3200" dirty="0">
                <a:solidFill>
                  <a:srgbClr val="000000"/>
                </a:solidFill>
                <a:latin typeface="Arial" panose="020B0604020202020204" pitchFamily="34" charset="0"/>
                <a:ea typeface="Inter Italics"/>
                <a:cs typeface="Arial" panose="020B0604020202020204" pitchFamily="34" charset="0"/>
                <a:sym typeface="Inter Italics"/>
              </a:rPr>
              <a:t>/</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đăng</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ký</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kinh</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doanh</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nếu</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có</a:t>
            </a:r>
            <a:r>
              <a:rPr lang="en-US" sz="3200" dirty="0">
                <a:solidFill>
                  <a:srgbClr val="000000"/>
                </a:solidFill>
                <a:latin typeface="Arial" panose="020B0604020202020204" pitchFamily="34" charset="0"/>
                <a:ea typeface="Inter Italics"/>
                <a:cs typeface="Arial" panose="020B0604020202020204" pitchFamily="34" charset="0"/>
                <a:sym typeface="Inter Italics"/>
              </a:rPr>
              <a:t>)</a:t>
            </a:r>
          </a:p>
          <a:p>
            <a:pPr marL="757466" lvl="1" indent="-378733" algn="l">
              <a:buFont typeface="Arial"/>
              <a:buChar char="•"/>
            </a:pPr>
            <a:r>
              <a:rPr lang="en-US" sz="3200" dirty="0" err="1">
                <a:solidFill>
                  <a:srgbClr val="000000"/>
                </a:solidFill>
                <a:latin typeface="Arial" panose="020B0604020202020204" pitchFamily="34" charset="0"/>
                <a:ea typeface="Inter Italics"/>
                <a:cs typeface="Arial" panose="020B0604020202020204" pitchFamily="34" charset="0"/>
                <a:sym typeface="Inter Italics"/>
              </a:rPr>
              <a:t>Cơ</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quan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quản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lý</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nếu</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có</a:t>
            </a:r>
            <a:r>
              <a:rPr lang="en-US" sz="3200" dirty="0">
                <a:solidFill>
                  <a:srgbClr val="000000"/>
                </a:solidFill>
                <a:latin typeface="Arial" panose="020B0604020202020204" pitchFamily="34" charset="0"/>
                <a:ea typeface="Inter Italics"/>
                <a:cs typeface="Arial" panose="020B0604020202020204" pitchFamily="34" charset="0"/>
                <a:sym typeface="Inter Italics"/>
              </a:rPr>
              <a:t>)</a:t>
            </a:r>
          </a:p>
          <a:p>
            <a:pPr marL="757466" lvl="1" indent="-378733" algn="l">
              <a:buFont typeface="Arial"/>
              <a:buChar char="•"/>
            </a:pPr>
            <a:r>
              <a:rPr lang="en-US" sz="3200" dirty="0" err="1">
                <a:solidFill>
                  <a:srgbClr val="000000"/>
                </a:solidFill>
                <a:latin typeface="Arial" panose="020B0604020202020204" pitchFamily="34" charset="0"/>
                <a:ea typeface="Inter Italics"/>
                <a:cs typeface="Arial" panose="020B0604020202020204" pitchFamily="34" charset="0"/>
                <a:sym typeface="Inter Italics"/>
              </a:rPr>
              <a:t>Giá</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thuế</a:t>
            </a:r>
            <a:r>
              <a:rPr lang="en-US" sz="3200" dirty="0">
                <a:solidFill>
                  <a:srgbClr val="000000"/>
                </a:solidFill>
                <a:latin typeface="Arial" panose="020B0604020202020204" pitchFamily="34" charset="0"/>
                <a:ea typeface="Inter Italics"/>
                <a:cs typeface="Arial" panose="020B0604020202020204" pitchFamily="34" charset="0"/>
                <a:sym typeface="Inter Italics"/>
              </a:rPr>
              <a:t>, chi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phí</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vận</a:t>
            </a:r>
            <a:r>
              <a:rPr lang="en-US" sz="3200" dirty="0">
                <a:solidFill>
                  <a:srgbClr val="000000"/>
                </a:solidFill>
                <a:latin typeface="Arial" panose="020B0604020202020204" pitchFamily="34" charset="0"/>
                <a:ea typeface="Inter Italics"/>
                <a:cs typeface="Arial" panose="020B0604020202020204" pitchFamily="34" charset="0"/>
                <a:sym typeface="Inter Italics"/>
              </a:rPr>
              <a:t> </a:t>
            </a:r>
            <a:r>
              <a:rPr lang="en-US" sz="3200" dirty="0" err="1">
                <a:solidFill>
                  <a:srgbClr val="000000"/>
                </a:solidFill>
                <a:latin typeface="Arial" panose="020B0604020202020204" pitchFamily="34" charset="0"/>
                <a:ea typeface="Inter Italics"/>
                <a:cs typeface="Arial" panose="020B0604020202020204" pitchFamily="34" charset="0"/>
                <a:sym typeface="Inter Italics"/>
              </a:rPr>
              <a:t>chuyển</a:t>
            </a:r>
            <a:endParaRPr lang="en-US" sz="3200" dirty="0">
              <a:solidFill>
                <a:srgbClr val="000000"/>
              </a:solidFill>
              <a:latin typeface="Arial" panose="020B0604020202020204" pitchFamily="34" charset="0"/>
              <a:ea typeface="Inter Italics"/>
              <a:cs typeface="Arial" panose="020B0604020202020204" pitchFamily="34" charset="0"/>
              <a:sym typeface="Inter Italics"/>
            </a:endParaRPr>
          </a:p>
        </p:txBody>
      </p:sp>
      <p:sp>
        <p:nvSpPr>
          <p:cNvPr id="15" name="Freeform 15"/>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0"/>
            <a:stretch>
              <a:fillRect/>
            </a:stretch>
          </a:blipFill>
        </p:spPr>
        <p:txBody>
          <a:bodyPr/>
          <a:lstStyle/>
          <a:p>
            <a:endParaRPr lang="en-US"/>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10</a:t>
            </a:r>
          </a:p>
        </p:txBody>
      </p:sp>
      <p:grpSp>
        <p:nvGrpSpPr>
          <p:cNvPr id="17" name="Group 17"/>
          <p:cNvGrpSpPr/>
          <p:nvPr/>
        </p:nvGrpSpPr>
        <p:grpSpPr>
          <a:xfrm>
            <a:off x="12281183" y="9435414"/>
            <a:ext cx="6070235" cy="596313"/>
            <a:chOff x="0" y="0"/>
            <a:chExt cx="8093646" cy="795084"/>
          </a:xfrm>
        </p:grpSpPr>
        <p:sp>
          <p:nvSpPr>
            <p:cNvPr id="18" name="Freeform 18"/>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795084"/>
            </a:xfrm>
            <a:prstGeom prst="rect">
              <a:avLst/>
            </a:prstGeom>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2251120057 - Nguyễn Thị Thùy Trang</a:t>
              </a:r>
            </a:p>
          </p:txBody>
        </p:sp>
      </p:gr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8" name="TextBox 8"/>
          <p:cNvSpPr txBox="1"/>
          <p:nvPr/>
        </p:nvSpPr>
        <p:spPr>
          <a:xfrm>
            <a:off x="899174" y="999954"/>
            <a:ext cx="14695584" cy="855259"/>
          </a:xfrm>
          <a:prstGeom prst="rect">
            <a:avLst/>
          </a:prstGeom>
        </p:spPr>
        <p:txBody>
          <a:bodyPr lIns="0" tIns="0" rIns="0" bIns="0" rtlCol="0" anchor="t">
            <a:spAutoFit/>
          </a:bodyPr>
          <a:lstStyle/>
          <a:p>
            <a:pPr algn="l">
              <a:lnSpc>
                <a:spcPts val="6880"/>
              </a:lnSpc>
            </a:pPr>
            <a:r>
              <a:rPr lang="en-US" sz="5465">
                <a:solidFill>
                  <a:srgbClr val="005AB0"/>
                </a:solidFill>
                <a:latin typeface="Paytone One"/>
                <a:ea typeface="Paytone One"/>
                <a:cs typeface="Paytone One"/>
                <a:sym typeface="Paytone One"/>
              </a:rPr>
              <a:t>Mục 4. Cá nhân tham gia hoạt động CNTT</a:t>
            </a:r>
          </a:p>
        </p:txBody>
      </p:sp>
      <p:sp>
        <p:nvSpPr>
          <p:cNvPr id="9" name="Freeform 9"/>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0" name="Freeform 10"/>
          <p:cNvSpPr/>
          <p:nvPr/>
        </p:nvSpPr>
        <p:spPr>
          <a:xfrm>
            <a:off x="225577" y="9213624"/>
            <a:ext cx="1020985" cy="1039892"/>
          </a:xfrm>
          <a:custGeom>
            <a:avLst/>
            <a:gdLst/>
            <a:ahLst/>
            <a:cxnLst/>
            <a:rect l="l" t="t" r="r" b="b"/>
            <a:pathLst>
              <a:path w="1020985" h="1039892">
                <a:moveTo>
                  <a:pt x="0" y="0"/>
                </a:moveTo>
                <a:lnTo>
                  <a:pt x="1020985" y="0"/>
                </a:lnTo>
                <a:lnTo>
                  <a:pt x="1020985" y="1039892"/>
                </a:lnTo>
                <a:lnTo>
                  <a:pt x="0" y="1039892"/>
                </a:lnTo>
                <a:lnTo>
                  <a:pt x="0" y="0"/>
                </a:lnTo>
                <a:close/>
              </a:path>
            </a:pathLst>
          </a:custGeom>
          <a:blipFill>
            <a:blip r:embed="rId14">
              <a:extLst>
                <a:ext uri="{96DAC541-7B7A-43D3-8B79-37D633B846F1}">
                  <asvg:svgBlip xmlns:asvg="http://schemas.microsoft.com/office/drawing/2016/SVG/main" r:embed="rId15"/>
                </a:ext>
              </a:extLst>
            </a:blip>
            <a:stretch>
              <a:fillRect l="-462" r="-462"/>
            </a:stretch>
          </a:blipFill>
        </p:spPr>
        <p:txBody>
          <a:bodyPr/>
          <a:lstStyle/>
          <a:p>
            <a:endParaRPr lang="en-US"/>
          </a:p>
        </p:txBody>
      </p:sp>
      <p:sp>
        <p:nvSpPr>
          <p:cNvPr id="11" name="Freeform 11"/>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2" name="Freeform 12"/>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8">
              <a:extLst>
                <a:ext uri="{96DAC541-7B7A-43D3-8B79-37D633B846F1}">
                  <asvg:svgBlip xmlns:asvg="http://schemas.microsoft.com/office/drawing/2016/SVG/main" r:embed="rId19"/>
                </a:ext>
              </a:extLst>
            </a:blip>
            <a:stretch>
              <a:fillRect t="-20" b="-21"/>
            </a:stretch>
          </a:blipFill>
        </p:spPr>
        <p:txBody>
          <a:bodyPr/>
          <a:lstStyle/>
          <a:p>
            <a:endParaRPr lang="en-US"/>
          </a:p>
        </p:txBody>
      </p:sp>
      <p:sp>
        <p:nvSpPr>
          <p:cNvPr id="13" name="TextBox 13"/>
          <p:cNvSpPr txBox="1"/>
          <p:nvPr/>
        </p:nvSpPr>
        <p:spPr>
          <a:xfrm>
            <a:off x="916759" y="2245523"/>
            <a:ext cx="13815989" cy="1107996"/>
          </a:xfrm>
          <a:prstGeom prst="rect">
            <a:avLst/>
          </a:prstGeom>
        </p:spPr>
        <p:txBody>
          <a:bodyPr lIns="0" tIns="0" rIns="0" bIns="0" rtlCol="0" anchor="t">
            <a:spAutoFit/>
          </a:bodyPr>
          <a:lstStyle/>
          <a:p>
            <a:pPr algn="just"/>
            <a:r>
              <a:rPr lang="en-US" sz="3600" b="1" dirty="0" err="1">
                <a:solidFill>
                  <a:srgbClr val="171814"/>
                </a:solidFill>
                <a:latin typeface="Inter Bold"/>
                <a:ea typeface="Inter Bold"/>
                <a:cs typeface="Inter Bold"/>
                <a:sym typeface="Inter Bold"/>
              </a:rPr>
              <a:t>Điều</a:t>
            </a:r>
            <a:r>
              <a:rPr lang="en-US" sz="3600" b="1" dirty="0">
                <a:solidFill>
                  <a:srgbClr val="171814"/>
                </a:solidFill>
                <a:latin typeface="Inter Bold"/>
                <a:ea typeface="Inter Bold"/>
                <a:cs typeface="Inter Bold"/>
                <a:sym typeface="Inter Bold"/>
              </a:rPr>
              <a:t> 9. </a:t>
            </a:r>
            <a:r>
              <a:rPr lang="en-US" sz="3600" b="1" dirty="0" err="1">
                <a:solidFill>
                  <a:srgbClr val="171814"/>
                </a:solidFill>
                <a:latin typeface="Inter Bold"/>
                <a:ea typeface="Inter Bold"/>
                <a:cs typeface="Inter Bold"/>
                <a:sym typeface="Inter Bold"/>
              </a:rPr>
              <a:t>Trách</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nhiệm</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của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tổ</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chức</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cá</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nhân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tham</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gia</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hoạt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động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ứng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dụng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và</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phát</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triển</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công</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nghệ</a:t>
            </a:r>
            <a:r>
              <a:rPr lang="en-US" sz="3600" b="1" dirty="0">
                <a:solidFill>
                  <a:srgbClr val="171814"/>
                </a:solidFill>
                <a:latin typeface="Inter Bold"/>
                <a:ea typeface="Inter Bold"/>
                <a:cs typeface="Inter Bold"/>
                <a:sym typeface="Inter Bold"/>
              </a:rPr>
              <a:t> </a:t>
            </a:r>
            <a:r>
              <a:rPr lang="en-US" sz="3600" b="1" dirty="0" err="1">
                <a:solidFill>
                  <a:srgbClr val="171814"/>
                </a:solidFill>
                <a:latin typeface="Inter Bold"/>
                <a:ea typeface="Inter Bold"/>
                <a:cs typeface="Inter Bold"/>
                <a:sym typeface="Inter Bold"/>
              </a:rPr>
              <a:t>thông</a:t>
            </a:r>
            <a:r>
              <a:rPr lang="en-US" sz="3600" b="1" dirty="0">
                <a:solidFill>
                  <a:srgbClr val="171814"/>
                </a:solidFill>
                <a:latin typeface="Inter Bold"/>
                <a:ea typeface="Inter Bold"/>
                <a:cs typeface="Inter Bold"/>
                <a:sym typeface="Inter Bold"/>
              </a:rPr>
              <a:t> tin</a:t>
            </a:r>
          </a:p>
        </p:txBody>
      </p:sp>
      <p:sp>
        <p:nvSpPr>
          <p:cNvPr id="14" name="TextBox 14"/>
          <p:cNvSpPr txBox="1"/>
          <p:nvPr/>
        </p:nvSpPr>
        <p:spPr>
          <a:xfrm>
            <a:off x="916759" y="3548992"/>
            <a:ext cx="16650638" cy="5693866"/>
          </a:xfrm>
          <a:prstGeom prst="rect">
            <a:avLst/>
          </a:prstGeom>
        </p:spPr>
        <p:txBody>
          <a:bodyPr lIns="0" tIns="0" rIns="0" bIns="0" rtlCol="0" anchor="t">
            <a:spAutoFit/>
          </a:bodyPr>
          <a:lstStyle/>
          <a:p>
            <a:pPr algn="just">
              <a:lnSpc>
                <a:spcPts val="3680"/>
              </a:lnSpc>
            </a:pPr>
            <a:r>
              <a:rPr lang="en-US" sz="3508" dirty="0" err="1">
                <a:solidFill>
                  <a:srgbClr val="000000"/>
                </a:solidFill>
                <a:latin typeface="Arial" panose="020B0604020202020204" pitchFamily="34" charset="0"/>
                <a:ea typeface="Inter Italics"/>
                <a:cs typeface="Arial" panose="020B0604020202020204" pitchFamily="34" charset="0"/>
                <a:sym typeface="Inter Italics"/>
              </a:rPr>
              <a:t>Tổ</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chức</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cá</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nhân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tham</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gia</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phát</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triển</a:t>
            </a:r>
            <a:r>
              <a:rPr lang="en-US" sz="3508" dirty="0">
                <a:solidFill>
                  <a:srgbClr val="000000"/>
                </a:solidFill>
                <a:latin typeface="Arial" panose="020B0604020202020204" pitchFamily="34" charset="0"/>
                <a:ea typeface="Inter Italics"/>
                <a:cs typeface="Arial" panose="020B0604020202020204" pitchFamily="34" charset="0"/>
                <a:sym typeface="Inter Italics"/>
              </a:rPr>
              <a:t> CNTT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có</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trách</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nhiệm</a:t>
            </a:r>
            <a:r>
              <a:rPr lang="en-US" sz="3508" dirty="0">
                <a:solidFill>
                  <a:srgbClr val="000000"/>
                </a:solidFill>
                <a:latin typeface="Arial" panose="020B0604020202020204" pitchFamily="34" charset="0"/>
                <a:ea typeface="Inter Italics"/>
                <a:cs typeface="Arial" panose="020B0604020202020204" pitchFamily="34" charset="0"/>
                <a:sym typeface="Inter Italics"/>
              </a:rPr>
              <a:t>:</a:t>
            </a:r>
          </a:p>
          <a:p>
            <a:pPr marL="757466" lvl="1" indent="-378733" algn="just">
              <a:lnSpc>
                <a:spcPts val="3680"/>
              </a:lnSpc>
              <a:buFont typeface="Arial"/>
              <a:buChar char="•"/>
            </a:pPr>
            <a:r>
              <a:rPr lang="en-US" sz="3508" dirty="0">
                <a:solidFill>
                  <a:srgbClr val="000000"/>
                </a:solidFill>
                <a:latin typeface="Arial" panose="020B0604020202020204" pitchFamily="34" charset="0"/>
                <a:ea typeface="Inter Italics"/>
                <a:cs typeface="Arial" panose="020B0604020202020204" pitchFamily="34" charset="0"/>
                <a:sym typeface="Inter Italics"/>
              </a:rPr>
              <a:t>Bảo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đảm</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trung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thực</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trong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nghiên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cứu</a:t>
            </a:r>
            <a:r>
              <a:rPr lang="en-US" sz="3508" dirty="0">
                <a:solidFill>
                  <a:srgbClr val="000000"/>
                </a:solidFill>
                <a:latin typeface="Arial" panose="020B0604020202020204" pitchFamily="34" charset="0"/>
                <a:ea typeface="Inter Italics"/>
                <a:cs typeface="Arial" panose="020B0604020202020204" pitchFamily="34" charset="0"/>
                <a:sym typeface="Inter Italics"/>
              </a:rPr>
              <a:t> –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phát</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triển</a:t>
            </a:r>
            <a:endParaRPr lang="en-US" sz="3508" dirty="0">
              <a:solidFill>
                <a:srgbClr val="000000"/>
              </a:solidFill>
              <a:latin typeface="Arial" panose="020B0604020202020204" pitchFamily="34" charset="0"/>
              <a:ea typeface="Inter Italics"/>
              <a:cs typeface="Arial" panose="020B0604020202020204" pitchFamily="34" charset="0"/>
              <a:sym typeface="Inter Italics"/>
            </a:endParaRPr>
          </a:p>
          <a:p>
            <a:pPr marL="757466" lvl="1" indent="-378733" algn="just">
              <a:lnSpc>
                <a:spcPts val="3680"/>
              </a:lnSpc>
              <a:buFont typeface="Arial"/>
              <a:buChar char="•"/>
            </a:pPr>
            <a:r>
              <a:rPr lang="en-US" sz="3508" dirty="0">
                <a:solidFill>
                  <a:srgbClr val="000000"/>
                </a:solidFill>
                <a:latin typeface="Arial" panose="020B0604020202020204" pitchFamily="34" charset="0"/>
                <a:ea typeface="Inter Italics"/>
                <a:cs typeface="Arial" panose="020B0604020202020204" pitchFamily="34" charset="0"/>
                <a:sym typeface="Inter Italics"/>
              </a:rPr>
              <a:t>Tôn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trọng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quyền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lợi</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ích</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hợp</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pháp</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của</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chủ</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sở</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hữu</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cơ</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sở</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dữ</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liệu</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không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cản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trở</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việc</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sử</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dụng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hợp</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pháp</a:t>
            </a:r>
            <a:endParaRPr lang="en-US" sz="3508" dirty="0">
              <a:solidFill>
                <a:srgbClr val="000000"/>
              </a:solidFill>
              <a:latin typeface="Arial" panose="020B0604020202020204" pitchFamily="34" charset="0"/>
              <a:ea typeface="Inter Italics"/>
              <a:cs typeface="Arial" panose="020B0604020202020204" pitchFamily="34" charset="0"/>
              <a:sym typeface="Inter Italics"/>
            </a:endParaRPr>
          </a:p>
          <a:p>
            <a:pPr algn="just">
              <a:lnSpc>
                <a:spcPts val="3680"/>
              </a:lnSpc>
            </a:pP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Ví</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dụ</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Không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sao</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chép</a:t>
            </a:r>
            <a:r>
              <a:rPr lang="en-US" sz="3508" dirty="0">
                <a:solidFill>
                  <a:srgbClr val="000000"/>
                </a:solidFill>
                <a:latin typeface="Arial" panose="020B0604020202020204" pitchFamily="34" charset="0"/>
                <a:ea typeface="Inter Italics"/>
                <a:cs typeface="Arial" panose="020B0604020202020204" pitchFamily="34" charset="0"/>
                <a:sym typeface="Inter Italics"/>
              </a:rPr>
              <a:t> hay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bán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dữ</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liệu</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khách</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hàng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trái</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phép</a:t>
            </a:r>
            <a:r>
              <a:rPr lang="en-US" sz="3508" dirty="0">
                <a:solidFill>
                  <a:srgbClr val="000000"/>
                </a:solidFill>
                <a:latin typeface="Arial" panose="020B0604020202020204" pitchFamily="34" charset="0"/>
                <a:ea typeface="Inter Italics"/>
                <a:cs typeface="Arial" panose="020B0604020202020204" pitchFamily="34" charset="0"/>
                <a:sym typeface="Inter Italics"/>
              </a:rPr>
              <a:t>.</a:t>
            </a:r>
          </a:p>
          <a:p>
            <a:pPr algn="just">
              <a:lnSpc>
                <a:spcPts val="3680"/>
              </a:lnSpc>
            </a:pPr>
            <a:endParaRPr lang="en-US" sz="3508" dirty="0">
              <a:solidFill>
                <a:srgbClr val="000000"/>
              </a:solidFill>
              <a:latin typeface="Arial" panose="020B0604020202020204" pitchFamily="34" charset="0"/>
              <a:ea typeface="Inter Italics"/>
              <a:cs typeface="Arial" panose="020B0604020202020204" pitchFamily="34" charset="0"/>
              <a:sym typeface="Inter Italics"/>
            </a:endParaRPr>
          </a:p>
          <a:p>
            <a:pPr algn="just">
              <a:lnSpc>
                <a:spcPts val="3680"/>
              </a:lnSpc>
            </a:pPr>
            <a:r>
              <a:rPr lang="en-US" sz="3508" dirty="0" err="1">
                <a:solidFill>
                  <a:srgbClr val="000000"/>
                </a:solidFill>
                <a:latin typeface="Arial" panose="020B0604020202020204" pitchFamily="34" charset="0"/>
                <a:ea typeface="Inter Italics"/>
                <a:cs typeface="Arial" panose="020B0604020202020204" pitchFamily="34" charset="0"/>
                <a:sym typeface="Inter Italics"/>
              </a:rPr>
              <a:t>Cơ</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quan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nhà</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nước</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khi</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hoạt</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động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trên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môi</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trường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mạng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phải</a:t>
            </a:r>
            <a:r>
              <a:rPr lang="en-US" sz="3508" dirty="0">
                <a:solidFill>
                  <a:srgbClr val="000000"/>
                </a:solidFill>
                <a:latin typeface="Arial" panose="020B0604020202020204" pitchFamily="34" charset="0"/>
                <a:ea typeface="Inter Italics"/>
                <a:cs typeface="Arial" panose="020B0604020202020204" pitchFamily="34" charset="0"/>
                <a:sym typeface="Inter Italics"/>
              </a:rPr>
              <a:t>:</a:t>
            </a:r>
          </a:p>
          <a:p>
            <a:pPr marL="757466" lvl="1" indent="-378733" algn="just">
              <a:lnSpc>
                <a:spcPts val="3680"/>
              </a:lnSpc>
              <a:buFont typeface="Arial"/>
              <a:buChar char="•"/>
            </a:pPr>
            <a:r>
              <a:rPr lang="en-US" sz="3508" dirty="0">
                <a:solidFill>
                  <a:srgbClr val="000000"/>
                </a:solidFill>
                <a:latin typeface="Arial" panose="020B0604020202020204" pitchFamily="34" charset="0"/>
                <a:ea typeface="Inter Italics"/>
                <a:cs typeface="Arial" panose="020B0604020202020204" pitchFamily="34" charset="0"/>
                <a:sym typeface="Inter Italics"/>
              </a:rPr>
              <a:t>Công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khai</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hoạt</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động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cung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cấp</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thông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tin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công</a:t>
            </a:r>
            <a:endParaRPr lang="en-US" sz="3508" dirty="0">
              <a:solidFill>
                <a:srgbClr val="000000"/>
              </a:solidFill>
              <a:latin typeface="Arial" panose="020B0604020202020204" pitchFamily="34" charset="0"/>
              <a:ea typeface="Inter Italics"/>
              <a:cs typeface="Arial" panose="020B0604020202020204" pitchFamily="34" charset="0"/>
              <a:sym typeface="Inter Italics"/>
            </a:endParaRPr>
          </a:p>
          <a:p>
            <a:pPr marL="757466" lvl="1" indent="-378733" algn="just">
              <a:lnSpc>
                <a:spcPts val="3680"/>
              </a:lnSpc>
              <a:buFont typeface="Arial"/>
              <a:buChar char="•"/>
            </a:pPr>
            <a:r>
              <a:rPr lang="en-US" sz="3508" dirty="0" err="1">
                <a:solidFill>
                  <a:srgbClr val="000000"/>
                </a:solidFill>
                <a:latin typeface="Arial" panose="020B0604020202020204" pitchFamily="34" charset="0"/>
                <a:ea typeface="Inter Italics"/>
                <a:cs typeface="Arial" panose="020B0604020202020204" pitchFamily="34" charset="0"/>
                <a:sym typeface="Inter Italics"/>
              </a:rPr>
              <a:t>Trả</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lời</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văn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bản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điện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tử</a:t>
            </a:r>
            <a:endParaRPr lang="en-US" sz="3508" dirty="0">
              <a:solidFill>
                <a:srgbClr val="000000"/>
              </a:solidFill>
              <a:latin typeface="Arial" panose="020B0604020202020204" pitchFamily="34" charset="0"/>
              <a:ea typeface="Inter Italics"/>
              <a:cs typeface="Arial" panose="020B0604020202020204" pitchFamily="34" charset="0"/>
              <a:sym typeface="Inter Italics"/>
            </a:endParaRPr>
          </a:p>
          <a:p>
            <a:pPr marL="757466" lvl="1" indent="-378733" algn="just">
              <a:lnSpc>
                <a:spcPts val="3680"/>
              </a:lnSpc>
              <a:buFont typeface="Arial"/>
              <a:buChar char="•"/>
            </a:pPr>
            <a:r>
              <a:rPr lang="en-US" sz="3508" dirty="0" err="1">
                <a:solidFill>
                  <a:srgbClr val="000000"/>
                </a:solidFill>
                <a:latin typeface="Arial" panose="020B0604020202020204" pitchFamily="34" charset="0"/>
                <a:ea typeface="Inter Italics"/>
                <a:cs typeface="Arial" panose="020B0604020202020204" pitchFamily="34" charset="0"/>
                <a:sym typeface="Inter Italics"/>
              </a:rPr>
              <a:t>Sử</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dụng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chữ</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ký</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điện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tử</a:t>
            </a:r>
            <a:endParaRPr lang="en-US" sz="3508" dirty="0">
              <a:solidFill>
                <a:srgbClr val="000000"/>
              </a:solidFill>
              <a:latin typeface="Arial" panose="020B0604020202020204" pitchFamily="34" charset="0"/>
              <a:ea typeface="Inter Italics"/>
              <a:cs typeface="Arial" panose="020B0604020202020204" pitchFamily="34" charset="0"/>
              <a:sym typeface="Inter Italics"/>
            </a:endParaRPr>
          </a:p>
          <a:p>
            <a:pPr marL="757466" lvl="1" indent="-378733" algn="just">
              <a:lnSpc>
                <a:spcPts val="3680"/>
              </a:lnSpc>
              <a:buFont typeface="Arial"/>
              <a:buChar char="•"/>
            </a:pPr>
            <a:r>
              <a:rPr lang="en-US" sz="3508" dirty="0">
                <a:solidFill>
                  <a:srgbClr val="000000"/>
                </a:solidFill>
                <a:latin typeface="Arial" panose="020B0604020202020204" pitchFamily="34" charset="0"/>
                <a:ea typeface="Inter Italics"/>
                <a:cs typeface="Arial" panose="020B0604020202020204" pitchFamily="34" charset="0"/>
                <a:sym typeface="Inter Italics"/>
              </a:rPr>
              <a:t>Bảo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đảm</a:t>
            </a:r>
            <a:r>
              <a:rPr lang="en-US" sz="3508" dirty="0">
                <a:solidFill>
                  <a:srgbClr val="000000"/>
                </a:solidFill>
                <a:latin typeface="Arial" panose="020B0604020202020204" pitchFamily="34" charset="0"/>
                <a:ea typeface="Inter Italics"/>
                <a:cs typeface="Arial" panose="020B0604020202020204" pitchFamily="34" charset="0"/>
                <a:sym typeface="Inter Italics"/>
              </a:rPr>
              <a:t> an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toàn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bảo</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mật</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chính</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xác</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và</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liên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tục</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của</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hệ</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thống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thông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tin</a:t>
            </a:r>
          </a:p>
          <a:p>
            <a:pPr algn="just">
              <a:lnSpc>
                <a:spcPts val="3680"/>
              </a:lnSpc>
            </a:pP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Ví</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dụ</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Cổng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dịch</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vụ</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công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phải</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hoạt</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động</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ổn</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định</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bảo</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mật</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dữ</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liệu</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người</a:t>
            </a:r>
            <a:r>
              <a:rPr lang="en-US" sz="3508" dirty="0">
                <a:solidFill>
                  <a:srgbClr val="000000"/>
                </a:solidFill>
                <a:latin typeface="Arial" panose="020B0604020202020204" pitchFamily="34" charset="0"/>
                <a:ea typeface="Inter Italics"/>
                <a:cs typeface="Arial" panose="020B0604020202020204" pitchFamily="34" charset="0"/>
                <a:sym typeface="Inter Italics"/>
              </a:rPr>
              <a:t> </a:t>
            </a:r>
            <a:r>
              <a:rPr lang="en-US" sz="3508" dirty="0" err="1">
                <a:solidFill>
                  <a:srgbClr val="000000"/>
                </a:solidFill>
                <a:latin typeface="Arial" panose="020B0604020202020204" pitchFamily="34" charset="0"/>
                <a:ea typeface="Inter Italics"/>
                <a:cs typeface="Arial" panose="020B0604020202020204" pitchFamily="34" charset="0"/>
                <a:sym typeface="Inter Italics"/>
              </a:rPr>
              <a:t>dân</a:t>
            </a:r>
            <a:r>
              <a:rPr lang="en-US" sz="3508" dirty="0">
                <a:solidFill>
                  <a:srgbClr val="000000"/>
                </a:solidFill>
                <a:latin typeface="Arial" panose="020B0604020202020204" pitchFamily="34" charset="0"/>
                <a:ea typeface="Inter Italics"/>
                <a:cs typeface="Arial" panose="020B0604020202020204" pitchFamily="34" charset="0"/>
                <a:sym typeface="Inter Italics"/>
              </a:rPr>
              <a:t>.</a:t>
            </a:r>
          </a:p>
        </p:txBody>
      </p:sp>
      <p:sp>
        <p:nvSpPr>
          <p:cNvPr id="15" name="Freeform 15"/>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0"/>
            <a:stretch>
              <a:fillRect/>
            </a:stretch>
          </a:blipFill>
        </p:spPr>
        <p:txBody>
          <a:bodyPr/>
          <a:lstStyle/>
          <a:p>
            <a:endParaRPr lang="en-US"/>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11</a:t>
            </a:r>
          </a:p>
        </p:txBody>
      </p:sp>
      <p:grpSp>
        <p:nvGrpSpPr>
          <p:cNvPr id="17" name="Group 17"/>
          <p:cNvGrpSpPr/>
          <p:nvPr/>
        </p:nvGrpSpPr>
        <p:grpSpPr>
          <a:xfrm>
            <a:off x="12281183" y="9435414"/>
            <a:ext cx="6070235" cy="596313"/>
            <a:chOff x="0" y="0"/>
            <a:chExt cx="8093646" cy="795084"/>
          </a:xfrm>
        </p:grpSpPr>
        <p:sp>
          <p:nvSpPr>
            <p:cNvPr id="18" name="Freeform 18"/>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2251120057 - Nguyễn Thị Thùy Trang</a:t>
              </a:r>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a:off x="1374400" y="3889677"/>
            <a:ext cx="644881" cy="644881"/>
          </a:xfrm>
          <a:custGeom>
            <a:avLst/>
            <a:gdLst/>
            <a:ahLst/>
            <a:cxnLst/>
            <a:rect l="l" t="t" r="r" b="b"/>
            <a:pathLst>
              <a:path w="644881" h="644881">
                <a:moveTo>
                  <a:pt x="0" y="0"/>
                </a:moveTo>
                <a:lnTo>
                  <a:pt x="644881" y="0"/>
                </a:lnTo>
                <a:lnTo>
                  <a:pt x="644881" y="644880"/>
                </a:lnTo>
                <a:lnTo>
                  <a:pt x="0" y="6448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8" name="Freeform 8"/>
          <p:cNvSpPr/>
          <p:nvPr/>
        </p:nvSpPr>
        <p:spPr>
          <a:xfrm>
            <a:off x="14433433" y="1860794"/>
            <a:ext cx="3471443" cy="2095490"/>
          </a:xfrm>
          <a:custGeom>
            <a:avLst/>
            <a:gdLst/>
            <a:ahLst/>
            <a:cxnLst/>
            <a:rect l="l" t="t" r="r" b="b"/>
            <a:pathLst>
              <a:path w="3471443" h="2095490">
                <a:moveTo>
                  <a:pt x="0" y="0"/>
                </a:moveTo>
                <a:lnTo>
                  <a:pt x="3471443" y="0"/>
                </a:lnTo>
                <a:lnTo>
                  <a:pt x="3471443" y="2095491"/>
                </a:lnTo>
                <a:lnTo>
                  <a:pt x="0" y="2095491"/>
                </a:lnTo>
                <a:lnTo>
                  <a:pt x="0" y="0"/>
                </a:lnTo>
                <a:close/>
              </a:path>
            </a:pathLst>
          </a:custGeom>
          <a:blipFill>
            <a:blip r:embed="rId14">
              <a:extLst>
                <a:ext uri="{96DAC541-7B7A-43D3-8B79-37D633B846F1}">
                  <asvg:svgBlip xmlns:asvg="http://schemas.microsoft.com/office/drawing/2016/SVG/main" r:embed="rId15"/>
                </a:ext>
              </a:extLst>
            </a:blip>
            <a:stretch>
              <a:fillRect t="-152" b="-152"/>
            </a:stretch>
          </a:blipFill>
        </p:spPr>
        <p:txBody>
          <a:bodyPr/>
          <a:lstStyle/>
          <a:p>
            <a:endParaRPr lang="en-US"/>
          </a:p>
        </p:txBody>
      </p:sp>
      <p:sp>
        <p:nvSpPr>
          <p:cNvPr id="9" name="Freeform 9"/>
          <p:cNvSpPr/>
          <p:nvPr/>
        </p:nvSpPr>
        <p:spPr>
          <a:xfrm flipH="1">
            <a:off x="1621727" y="4089530"/>
            <a:ext cx="150219" cy="245174"/>
          </a:xfrm>
          <a:custGeom>
            <a:avLst/>
            <a:gdLst/>
            <a:ahLst/>
            <a:cxnLst/>
            <a:rect l="l" t="t" r="r" b="b"/>
            <a:pathLst>
              <a:path w="150219" h="245174">
                <a:moveTo>
                  <a:pt x="150218" y="0"/>
                </a:moveTo>
                <a:lnTo>
                  <a:pt x="0" y="0"/>
                </a:lnTo>
                <a:lnTo>
                  <a:pt x="0" y="245174"/>
                </a:lnTo>
                <a:lnTo>
                  <a:pt x="150218" y="245174"/>
                </a:lnTo>
                <a:lnTo>
                  <a:pt x="150218"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0" name="Freeform 10"/>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11" name="TextBox 11"/>
          <p:cNvSpPr txBox="1"/>
          <p:nvPr/>
        </p:nvSpPr>
        <p:spPr>
          <a:xfrm>
            <a:off x="2206152" y="4043543"/>
            <a:ext cx="10984945" cy="432562"/>
          </a:xfrm>
          <a:prstGeom prst="rect">
            <a:avLst/>
          </a:prstGeom>
        </p:spPr>
        <p:txBody>
          <a:bodyPr lIns="0" tIns="0" rIns="0" bIns="0" rtlCol="0" anchor="t">
            <a:spAutoFit/>
          </a:bodyPr>
          <a:lstStyle/>
          <a:p>
            <a:pPr algn="l">
              <a:lnSpc>
                <a:spcPts val="3359"/>
              </a:lnSpc>
            </a:pPr>
            <a:r>
              <a:rPr lang="en-US" sz="3200" b="1">
                <a:solidFill>
                  <a:srgbClr val="000000"/>
                </a:solidFill>
                <a:latin typeface="Inter Bold"/>
                <a:ea typeface="Inter Bold"/>
                <a:cs typeface="Inter Bold"/>
                <a:sym typeface="Inter Bold"/>
              </a:rPr>
              <a:t>Mục 1. Quy định chung về ứng dụng công nghệ thông tin</a:t>
            </a:r>
          </a:p>
        </p:txBody>
      </p:sp>
      <p:sp>
        <p:nvSpPr>
          <p:cNvPr id="12" name="TextBox 12"/>
          <p:cNvSpPr txBox="1"/>
          <p:nvPr/>
        </p:nvSpPr>
        <p:spPr>
          <a:xfrm>
            <a:off x="1371600" y="1483538"/>
            <a:ext cx="14752520" cy="1692910"/>
          </a:xfrm>
          <a:prstGeom prst="rect">
            <a:avLst/>
          </a:prstGeom>
        </p:spPr>
        <p:txBody>
          <a:bodyPr lIns="0" tIns="0" rIns="0" bIns="0" rtlCol="0" anchor="t">
            <a:spAutoFit/>
          </a:bodyPr>
          <a:lstStyle/>
          <a:p>
            <a:pPr algn="l">
              <a:lnSpc>
                <a:spcPts val="6799"/>
              </a:lnSpc>
            </a:pPr>
            <a:r>
              <a:rPr lang="en-US" sz="5400">
                <a:solidFill>
                  <a:srgbClr val="A75B4B"/>
                </a:solidFill>
                <a:latin typeface="Paytone One"/>
                <a:ea typeface="Paytone One"/>
                <a:cs typeface="Paytone One"/>
                <a:sym typeface="Paytone One"/>
              </a:rPr>
              <a:t>Chương 2. </a:t>
            </a:r>
          </a:p>
          <a:p>
            <a:pPr algn="l">
              <a:lnSpc>
                <a:spcPts val="6799"/>
              </a:lnSpc>
            </a:pPr>
            <a:r>
              <a:rPr lang="en-US" sz="5400">
                <a:solidFill>
                  <a:srgbClr val="A75B4B"/>
                </a:solidFill>
                <a:latin typeface="Paytone One"/>
                <a:ea typeface="Paytone One"/>
                <a:cs typeface="Paytone One"/>
                <a:sym typeface="Paytone One"/>
              </a:rPr>
              <a:t>ỨNG DỤNG CÔNG NGHỆ THÔNG TIN</a:t>
            </a:r>
          </a:p>
        </p:txBody>
      </p:sp>
      <p:sp>
        <p:nvSpPr>
          <p:cNvPr id="13" name="Freeform 13"/>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8">
              <a:extLst>
                <a:ext uri="{96DAC541-7B7A-43D3-8B79-37D633B846F1}">
                  <asvg:svgBlip xmlns:asvg="http://schemas.microsoft.com/office/drawing/2016/SVG/main" r:embed="rId19"/>
                </a:ext>
              </a:extLst>
            </a:blip>
            <a:stretch>
              <a:fillRect l="-384" r="-382"/>
            </a:stretch>
          </a:blipFill>
        </p:spPr>
        <p:txBody>
          <a:bodyPr/>
          <a:lstStyle/>
          <a:p>
            <a:endParaRPr lang="en-US"/>
          </a:p>
        </p:txBody>
      </p:sp>
      <p:sp>
        <p:nvSpPr>
          <p:cNvPr id="14" name="Freeform 14"/>
          <p:cNvSpPr/>
          <p:nvPr/>
        </p:nvSpPr>
        <p:spPr>
          <a:xfrm>
            <a:off x="518208" y="8503501"/>
            <a:ext cx="1020985" cy="1039892"/>
          </a:xfrm>
          <a:custGeom>
            <a:avLst/>
            <a:gdLst/>
            <a:ahLst/>
            <a:cxnLst/>
            <a:rect l="l" t="t" r="r" b="b"/>
            <a:pathLst>
              <a:path w="1020985" h="1039892">
                <a:moveTo>
                  <a:pt x="0" y="0"/>
                </a:moveTo>
                <a:lnTo>
                  <a:pt x="1020984" y="0"/>
                </a:lnTo>
                <a:lnTo>
                  <a:pt x="1020984" y="1039892"/>
                </a:lnTo>
                <a:lnTo>
                  <a:pt x="0" y="1039892"/>
                </a:lnTo>
                <a:lnTo>
                  <a:pt x="0" y="0"/>
                </a:lnTo>
                <a:close/>
              </a:path>
            </a:pathLst>
          </a:custGeom>
          <a:blipFill>
            <a:blip r:embed="rId20">
              <a:extLst>
                <a:ext uri="{96DAC541-7B7A-43D3-8B79-37D633B846F1}">
                  <asvg:svgBlip xmlns:asvg="http://schemas.microsoft.com/office/drawing/2016/SVG/main" r:embed="rId21"/>
                </a:ext>
              </a:extLst>
            </a:blip>
            <a:stretch>
              <a:fillRect l="-462" r="-462"/>
            </a:stretch>
          </a:blipFill>
        </p:spPr>
        <p:txBody>
          <a:bodyPr/>
          <a:lstStyle/>
          <a:p>
            <a:endParaRPr lang="en-US"/>
          </a:p>
        </p:txBody>
      </p:sp>
      <p:sp>
        <p:nvSpPr>
          <p:cNvPr id="15" name="Freeform 15"/>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6" name="Freeform 16"/>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24">
              <a:extLst>
                <a:ext uri="{96DAC541-7B7A-43D3-8B79-37D633B846F1}">
                  <asvg:svgBlip xmlns:asvg="http://schemas.microsoft.com/office/drawing/2016/SVG/main" r:embed="rId25"/>
                </a:ext>
              </a:extLst>
            </a:blip>
            <a:stretch>
              <a:fillRect t="-20" b="-21"/>
            </a:stretch>
          </a:blipFill>
        </p:spPr>
        <p:txBody>
          <a:bodyPr/>
          <a:lstStyle/>
          <a:p>
            <a:endParaRPr lang="en-US"/>
          </a:p>
        </p:txBody>
      </p:sp>
      <p:sp>
        <p:nvSpPr>
          <p:cNvPr id="17" name="Freeform 17"/>
          <p:cNvSpPr/>
          <p:nvPr/>
        </p:nvSpPr>
        <p:spPr>
          <a:xfrm>
            <a:off x="1391317" y="5011864"/>
            <a:ext cx="644881" cy="644881"/>
          </a:xfrm>
          <a:custGeom>
            <a:avLst/>
            <a:gdLst/>
            <a:ahLst/>
            <a:cxnLst/>
            <a:rect l="l" t="t" r="r" b="b"/>
            <a:pathLst>
              <a:path w="644881" h="644881">
                <a:moveTo>
                  <a:pt x="0" y="0"/>
                </a:moveTo>
                <a:lnTo>
                  <a:pt x="644880" y="0"/>
                </a:lnTo>
                <a:lnTo>
                  <a:pt x="644880"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8" name="Freeform 18"/>
          <p:cNvSpPr/>
          <p:nvPr/>
        </p:nvSpPr>
        <p:spPr>
          <a:xfrm flipH="1">
            <a:off x="1638652" y="5211718"/>
            <a:ext cx="150219" cy="245174"/>
          </a:xfrm>
          <a:custGeom>
            <a:avLst/>
            <a:gdLst/>
            <a:ahLst/>
            <a:cxnLst/>
            <a:rect l="l" t="t" r="r" b="b"/>
            <a:pathLst>
              <a:path w="150219" h="245174">
                <a:moveTo>
                  <a:pt x="150219" y="0"/>
                </a:moveTo>
                <a:lnTo>
                  <a:pt x="0" y="0"/>
                </a:lnTo>
                <a:lnTo>
                  <a:pt x="0" y="245174"/>
                </a:lnTo>
                <a:lnTo>
                  <a:pt x="150219" y="245174"/>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9" name="TextBox 19"/>
          <p:cNvSpPr txBox="1"/>
          <p:nvPr/>
        </p:nvSpPr>
        <p:spPr>
          <a:xfrm>
            <a:off x="2223068" y="5151349"/>
            <a:ext cx="14950678" cy="432562"/>
          </a:xfrm>
          <a:prstGeom prst="rect">
            <a:avLst/>
          </a:prstGeom>
        </p:spPr>
        <p:txBody>
          <a:bodyPr lIns="0" tIns="0" rIns="0" bIns="0" rtlCol="0" anchor="t">
            <a:spAutoFit/>
          </a:bodyPr>
          <a:lstStyle/>
          <a:p>
            <a:pPr algn="l">
              <a:lnSpc>
                <a:spcPts val="3359"/>
              </a:lnSpc>
            </a:pPr>
            <a:r>
              <a:rPr lang="en-US" sz="3200" b="1">
                <a:solidFill>
                  <a:srgbClr val="000000"/>
                </a:solidFill>
                <a:latin typeface="Inter Bold"/>
                <a:ea typeface="Inter Bold"/>
                <a:cs typeface="Inter Bold"/>
                <a:sym typeface="Inter Bold"/>
              </a:rPr>
              <a:t>Mục 2. Ứng dụng công nghệ thông tin trong hoạt động của cơ quan nhà nước</a:t>
            </a:r>
          </a:p>
        </p:txBody>
      </p:sp>
      <p:sp>
        <p:nvSpPr>
          <p:cNvPr id="20" name="Freeform 20"/>
          <p:cNvSpPr/>
          <p:nvPr/>
        </p:nvSpPr>
        <p:spPr>
          <a:xfrm>
            <a:off x="1391317" y="6098819"/>
            <a:ext cx="644881" cy="644881"/>
          </a:xfrm>
          <a:custGeom>
            <a:avLst/>
            <a:gdLst/>
            <a:ahLst/>
            <a:cxnLst/>
            <a:rect l="l" t="t" r="r" b="b"/>
            <a:pathLst>
              <a:path w="644881" h="644881">
                <a:moveTo>
                  <a:pt x="0" y="0"/>
                </a:moveTo>
                <a:lnTo>
                  <a:pt x="644880" y="0"/>
                </a:lnTo>
                <a:lnTo>
                  <a:pt x="644880"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1" name="Freeform 21"/>
          <p:cNvSpPr/>
          <p:nvPr/>
        </p:nvSpPr>
        <p:spPr>
          <a:xfrm flipH="1">
            <a:off x="1638652" y="6298673"/>
            <a:ext cx="150219" cy="245174"/>
          </a:xfrm>
          <a:custGeom>
            <a:avLst/>
            <a:gdLst/>
            <a:ahLst/>
            <a:cxnLst/>
            <a:rect l="l" t="t" r="r" b="b"/>
            <a:pathLst>
              <a:path w="150219" h="245174">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2" name="TextBox 22"/>
          <p:cNvSpPr txBox="1"/>
          <p:nvPr/>
        </p:nvSpPr>
        <p:spPr>
          <a:xfrm>
            <a:off x="2223068" y="6252686"/>
            <a:ext cx="10811470" cy="432562"/>
          </a:xfrm>
          <a:prstGeom prst="rect">
            <a:avLst/>
          </a:prstGeom>
        </p:spPr>
        <p:txBody>
          <a:bodyPr lIns="0" tIns="0" rIns="0" bIns="0" rtlCol="0" anchor="t">
            <a:spAutoFit/>
          </a:bodyPr>
          <a:lstStyle/>
          <a:p>
            <a:pPr algn="l">
              <a:lnSpc>
                <a:spcPts val="3359"/>
              </a:lnSpc>
            </a:pPr>
            <a:r>
              <a:rPr lang="en-US" sz="3200" b="1">
                <a:solidFill>
                  <a:srgbClr val="000000"/>
                </a:solidFill>
                <a:latin typeface="Inter Bold"/>
                <a:ea typeface="Inter Bold"/>
                <a:cs typeface="Inter Bold"/>
                <a:sym typeface="Inter Bold"/>
              </a:rPr>
              <a:t>Mục 3. Ứng dụng công nghệ thông tin trong thương mại</a:t>
            </a:r>
          </a:p>
        </p:txBody>
      </p:sp>
      <p:sp>
        <p:nvSpPr>
          <p:cNvPr id="23" name="Freeform 23"/>
          <p:cNvSpPr/>
          <p:nvPr/>
        </p:nvSpPr>
        <p:spPr>
          <a:xfrm>
            <a:off x="1371600" y="7165619"/>
            <a:ext cx="644881" cy="644881"/>
          </a:xfrm>
          <a:custGeom>
            <a:avLst/>
            <a:gdLst/>
            <a:ahLst/>
            <a:cxnLst/>
            <a:rect l="l" t="t" r="r" b="b"/>
            <a:pathLst>
              <a:path w="644881" h="644881">
                <a:moveTo>
                  <a:pt x="0" y="0"/>
                </a:moveTo>
                <a:lnTo>
                  <a:pt x="644881" y="0"/>
                </a:lnTo>
                <a:lnTo>
                  <a:pt x="644881"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4" name="Freeform 24"/>
          <p:cNvSpPr/>
          <p:nvPr/>
        </p:nvSpPr>
        <p:spPr>
          <a:xfrm flipH="1">
            <a:off x="1618926" y="7365473"/>
            <a:ext cx="150219" cy="245173"/>
          </a:xfrm>
          <a:custGeom>
            <a:avLst/>
            <a:gdLst/>
            <a:ahLst/>
            <a:cxnLst/>
            <a:rect l="l" t="t" r="r" b="b"/>
            <a:pathLst>
              <a:path w="150219" h="245173">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5" name="TextBox 25"/>
          <p:cNvSpPr txBox="1"/>
          <p:nvPr/>
        </p:nvSpPr>
        <p:spPr>
          <a:xfrm>
            <a:off x="2203352" y="7319486"/>
            <a:ext cx="11580376" cy="432562"/>
          </a:xfrm>
          <a:prstGeom prst="rect">
            <a:avLst/>
          </a:prstGeom>
        </p:spPr>
        <p:txBody>
          <a:bodyPr lIns="0" tIns="0" rIns="0" bIns="0" rtlCol="0" anchor="t">
            <a:spAutoFit/>
          </a:bodyPr>
          <a:lstStyle/>
          <a:p>
            <a:pPr algn="l">
              <a:lnSpc>
                <a:spcPts val="3359"/>
              </a:lnSpc>
            </a:pPr>
            <a:r>
              <a:rPr lang="en-US" sz="3200" b="1">
                <a:solidFill>
                  <a:srgbClr val="000000"/>
                </a:solidFill>
                <a:latin typeface="Inter Bold"/>
                <a:ea typeface="Inter Bold"/>
                <a:cs typeface="Inter Bold"/>
                <a:sym typeface="Inter Bold"/>
              </a:rPr>
              <a:t>Mục 4. Ứng dụng công nghệ thông tin trong một số lĩnh vực</a:t>
            </a:r>
          </a:p>
        </p:txBody>
      </p:sp>
      <p:sp>
        <p:nvSpPr>
          <p:cNvPr id="26" name="Freeform 2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6"/>
            <a:stretch>
              <a:fillRect/>
            </a:stretch>
          </a:blipFill>
        </p:spPr>
        <p:txBody>
          <a:bodyPr/>
          <a:lstStyle/>
          <a:p>
            <a:endParaRPr lang="en-US"/>
          </a:p>
        </p:txBody>
      </p:sp>
      <p:grpSp>
        <p:nvGrpSpPr>
          <p:cNvPr id="27" name="Group 27"/>
          <p:cNvGrpSpPr/>
          <p:nvPr/>
        </p:nvGrpSpPr>
        <p:grpSpPr>
          <a:xfrm>
            <a:off x="12217765" y="9690687"/>
            <a:ext cx="6070235" cy="473329"/>
            <a:chOff x="0" y="0"/>
            <a:chExt cx="8093646" cy="631105"/>
          </a:xfrm>
        </p:grpSpPr>
        <p:sp>
          <p:nvSpPr>
            <p:cNvPr id="28" name="Freeform 28"/>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29" name="TextBox 29"/>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30" name="TextBox 3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12</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0769004"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1. Quy </a:t>
            </a:r>
            <a:r>
              <a:rPr lang="en-US" sz="4000" dirty="0" err="1">
                <a:solidFill>
                  <a:srgbClr val="1F497D"/>
                </a:solidFill>
                <a:latin typeface="Paytone One"/>
                <a:ea typeface="Paytone One"/>
                <a:cs typeface="Paytone One"/>
                <a:sym typeface="Paytone One"/>
              </a:rPr>
              <a:t>định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chung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về</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6">
              <a:extLst>
                <a:ext uri="{96DAC541-7B7A-43D3-8B79-37D633B846F1}">
                  <asvg:svgBlip xmlns:asvg="http://schemas.microsoft.com/office/drawing/2016/SVG/main" r:embed="rId17"/>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8"/>
            <a:stretch>
              <a:fillRect/>
            </a:stretch>
          </a:blipFill>
        </p:spPr>
        <p:txBody>
          <a:bodyPr/>
          <a:lstStyle/>
          <a:p>
            <a:endParaRPr lang="en-US"/>
          </a:p>
        </p:txBody>
      </p:sp>
      <p:sp>
        <p:nvSpPr>
          <p:cNvPr id="18" name="TextBox 18"/>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19" name="Freeform 19"/>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9">
              <a:extLst>
                <a:ext uri="{96DAC541-7B7A-43D3-8B79-37D633B846F1}">
                  <asvg:svgBlip xmlns:asvg="http://schemas.microsoft.com/office/drawing/2016/SVG/main" r:embed="rId20"/>
                </a:ext>
              </a:extLst>
            </a:blip>
            <a:stretch>
              <a:fillRect t="-147" b="-147"/>
            </a:stretch>
          </a:blipFill>
        </p:spPr>
        <p:txBody>
          <a:bodyPr/>
          <a:lstStyle/>
          <a:p>
            <a:endParaRPr lang="en-US"/>
          </a:p>
        </p:txBody>
      </p:sp>
      <p:graphicFrame>
        <p:nvGraphicFramePr>
          <p:cNvPr id="20" name="Table 20"/>
          <p:cNvGraphicFramePr>
            <a:graphicFrameLocks noGrp="1"/>
          </p:cNvGraphicFramePr>
          <p:nvPr/>
        </p:nvGraphicFramePr>
        <p:xfrm>
          <a:off x="1028700" y="2589262"/>
          <a:ext cx="16207828" cy="6800850"/>
        </p:xfrm>
        <a:graphic>
          <a:graphicData uri="http://schemas.openxmlformats.org/drawingml/2006/table">
            <a:tbl>
              <a:tblPr/>
              <a:tblGrid>
                <a:gridCol w="1504216">
                  <a:extLst>
                    <a:ext uri="{9D8B030D-6E8A-4147-A177-3AD203B41FA5}">
                      <a16:colId xmlns:a16="http://schemas.microsoft.com/office/drawing/2014/main" val="20000"/>
                    </a:ext>
                  </a:extLst>
                </a:gridCol>
                <a:gridCol w="6173598">
                  <a:extLst>
                    <a:ext uri="{9D8B030D-6E8A-4147-A177-3AD203B41FA5}">
                      <a16:colId xmlns:a16="http://schemas.microsoft.com/office/drawing/2014/main" val="20001"/>
                    </a:ext>
                  </a:extLst>
                </a:gridCol>
                <a:gridCol w="1632987">
                  <a:extLst>
                    <a:ext uri="{9D8B030D-6E8A-4147-A177-3AD203B41FA5}">
                      <a16:colId xmlns:a16="http://schemas.microsoft.com/office/drawing/2014/main" val="20002"/>
                    </a:ext>
                  </a:extLst>
                </a:gridCol>
                <a:gridCol w="6897027">
                  <a:extLst>
                    <a:ext uri="{9D8B030D-6E8A-4147-A177-3AD203B41FA5}">
                      <a16:colId xmlns:a16="http://schemas.microsoft.com/office/drawing/2014/main" val="20003"/>
                    </a:ext>
                  </a:extLst>
                </a:gridCol>
              </a:tblGrid>
              <a:tr h="1299039">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13</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FF0000"/>
                          </a:solidFill>
                          <a:latin typeface="Inter"/>
                          <a:ea typeface="Inter"/>
                          <a:cs typeface="Inter"/>
                          <a:sym typeface="Inter"/>
                        </a:rPr>
                        <a:t>Nguyên tắc chung </a:t>
                      </a:r>
                      <a:r>
                        <a:rPr lang="en-US" sz="2800">
                          <a:solidFill>
                            <a:srgbClr val="000000"/>
                          </a:solidFill>
                          <a:latin typeface="Inter"/>
                          <a:ea typeface="Inter"/>
                          <a:cs typeface="Inter"/>
                          <a:sym typeface="Inter"/>
                        </a:rPr>
                        <a:t>về hoạt động ứng dụng công nghệ thông tin</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19</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dirty="0">
                          <a:solidFill>
                            <a:srgbClr val="000000"/>
                          </a:solidFill>
                          <a:latin typeface="Inter"/>
                          <a:ea typeface="Inter"/>
                          <a:cs typeface="Inter"/>
                          <a:sym typeface="Inter"/>
                        </a:rPr>
                        <a:t>Công </a:t>
                      </a:r>
                      <a:r>
                        <a:rPr lang="en-US" sz="2800" dirty="0" err="1">
                          <a:solidFill>
                            <a:srgbClr val="000000"/>
                          </a:solidFill>
                          <a:latin typeface="Inter"/>
                          <a:ea typeface="Inter"/>
                          <a:cs typeface="Inter"/>
                          <a:sym typeface="Inter"/>
                        </a:rPr>
                        <a:t>cụ</a:t>
                      </a:r>
                      <a:r>
                        <a:rPr lang="en-US" sz="2800" dirty="0">
                          <a:solidFill>
                            <a:srgbClr val="000000"/>
                          </a:solidFill>
                          <a:latin typeface="Inter"/>
                          <a:ea typeface="Inter"/>
                          <a:cs typeface="Inter"/>
                          <a:sym typeface="Inter"/>
                        </a:rPr>
                        <a:t> </a:t>
                      </a:r>
                      <a:r>
                        <a:rPr lang="en-US" sz="2800" dirty="0" err="1">
                          <a:solidFill>
                            <a:srgbClr val="000000"/>
                          </a:solidFill>
                          <a:latin typeface="Inter"/>
                          <a:ea typeface="Inter"/>
                          <a:cs typeface="Inter"/>
                          <a:sym typeface="Inter"/>
                        </a:rPr>
                        <a:t>tìm</a:t>
                      </a:r>
                      <a:r>
                        <a:rPr lang="en-US" sz="2800" dirty="0">
                          <a:solidFill>
                            <a:srgbClr val="000000"/>
                          </a:solidFill>
                          <a:latin typeface="Inter"/>
                          <a:ea typeface="Inter"/>
                          <a:cs typeface="Inter"/>
                          <a:sym typeface="Inter"/>
                        </a:rPr>
                        <a:t> </a:t>
                      </a:r>
                      <a:r>
                        <a:rPr lang="en-US" sz="2800" dirty="0" err="1">
                          <a:solidFill>
                            <a:srgbClr val="000000"/>
                          </a:solidFill>
                          <a:latin typeface="Inter"/>
                          <a:ea typeface="Inter"/>
                          <a:cs typeface="Inter"/>
                          <a:sym typeface="Inter"/>
                        </a:rPr>
                        <a:t>kiếm</a:t>
                      </a:r>
                      <a:r>
                        <a:rPr lang="en-US" sz="2800" dirty="0">
                          <a:solidFill>
                            <a:srgbClr val="000000"/>
                          </a:solidFill>
                          <a:latin typeface="Inter"/>
                          <a:ea typeface="Inter"/>
                          <a:cs typeface="Inter"/>
                          <a:sym typeface="Inter"/>
                        </a:rPr>
                        <a:t> </a:t>
                      </a:r>
                      <a:r>
                        <a:rPr lang="en-US" sz="2800" dirty="0" err="1">
                          <a:solidFill>
                            <a:srgbClr val="000000"/>
                          </a:solidFill>
                          <a:latin typeface="Inter"/>
                          <a:ea typeface="Inter"/>
                          <a:cs typeface="Inter"/>
                          <a:sym typeface="Inter"/>
                        </a:rPr>
                        <a:t>thông</a:t>
                      </a:r>
                      <a:r>
                        <a:rPr lang="en-US" sz="2800" dirty="0">
                          <a:solidFill>
                            <a:srgbClr val="000000"/>
                          </a:solidFill>
                          <a:latin typeface="Inter"/>
                          <a:ea typeface="Inter"/>
                          <a:cs typeface="Inter"/>
                          <a:sym typeface="Inter"/>
                        </a:rPr>
                        <a:t> tin </a:t>
                      </a:r>
                      <a:r>
                        <a:rPr lang="en-US" sz="2800" dirty="0" err="1">
                          <a:solidFill>
                            <a:srgbClr val="000000"/>
                          </a:solidFill>
                          <a:latin typeface="Inter"/>
                          <a:ea typeface="Inter"/>
                          <a:cs typeface="Inter"/>
                          <a:sym typeface="Inter"/>
                        </a:rPr>
                        <a:t>số</a:t>
                      </a:r>
                      <a:endParaRPr lang="en-US" sz="1100" dirty="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1299039">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14</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000000"/>
                          </a:solidFill>
                          <a:latin typeface="Inter"/>
                          <a:ea typeface="Inter"/>
                          <a:cs typeface="Inter"/>
                          <a:sym typeface="Inter"/>
                        </a:rPr>
                        <a:t>Ưu tiên ứng dụng công nghệ thông tin trong </a:t>
                      </a:r>
                      <a:r>
                        <a:rPr lang="en-US" sz="2800">
                          <a:solidFill>
                            <a:srgbClr val="FF0000"/>
                          </a:solidFill>
                          <a:latin typeface="Inter"/>
                          <a:ea typeface="Inter"/>
                          <a:cs typeface="Inter"/>
                          <a:sym typeface="Inter"/>
                        </a:rPr>
                        <a:t>trường hợp khẩn cấp</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20</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000000"/>
                          </a:solidFill>
                          <a:latin typeface="Inter"/>
                          <a:ea typeface="Inter"/>
                          <a:cs typeface="Inter"/>
                          <a:sym typeface="Inter"/>
                        </a:rPr>
                        <a:t>Theo dõi, giám sát nội dung thông tin số</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r h="1299039">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15</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000000"/>
                          </a:solidFill>
                          <a:latin typeface="Inter"/>
                          <a:ea typeface="Inter"/>
                          <a:cs typeface="Inter"/>
                          <a:sym typeface="Inter"/>
                        </a:rPr>
                        <a:t>Quản lý và sử dụng </a:t>
                      </a:r>
                      <a:r>
                        <a:rPr lang="en-US" sz="2800">
                          <a:solidFill>
                            <a:srgbClr val="FF0000"/>
                          </a:solidFill>
                          <a:latin typeface="Inter"/>
                          <a:ea typeface="Inter"/>
                          <a:cs typeface="Inter"/>
                          <a:sym typeface="Inter"/>
                        </a:rPr>
                        <a:t>thông tin số</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21</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000000"/>
                          </a:solidFill>
                          <a:latin typeface="Inter"/>
                          <a:ea typeface="Inter"/>
                          <a:cs typeface="Inter"/>
                          <a:sym typeface="Inter"/>
                        </a:rPr>
                        <a:t>Thu thập, xử lý và sử dụng thông tin cá nhân trên </a:t>
                      </a:r>
                      <a:r>
                        <a:rPr lang="en-US" sz="2800">
                          <a:solidFill>
                            <a:srgbClr val="FF0000"/>
                          </a:solidFill>
                          <a:latin typeface="Inter"/>
                          <a:ea typeface="Inter"/>
                          <a:cs typeface="Inter"/>
                          <a:sym typeface="Inter"/>
                        </a:rPr>
                        <a:t>môi trường mạng </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2"/>
                  </a:ext>
                </a:extLst>
              </a:tr>
              <a:tr h="1299039">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16</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000000"/>
                          </a:solidFill>
                          <a:latin typeface="Inter"/>
                          <a:ea typeface="Inter"/>
                          <a:cs typeface="Inter"/>
                          <a:sym typeface="Inter"/>
                        </a:rPr>
                        <a:t>Truyền đưa thông tin số </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22</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000000"/>
                          </a:solidFill>
                          <a:latin typeface="Inter"/>
                          <a:ea typeface="Inter"/>
                          <a:cs typeface="Inter"/>
                          <a:sym typeface="Inter"/>
                        </a:rPr>
                        <a:t>Lưu trữ, cung cấp thông tin cá nhân trên môi trường mạng</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3"/>
                  </a:ext>
                </a:extLst>
              </a:tr>
              <a:tr h="802347">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17</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000000"/>
                          </a:solidFill>
                          <a:latin typeface="Inter"/>
                          <a:ea typeface="Inter"/>
                          <a:cs typeface="Inter"/>
                          <a:sym typeface="Inter"/>
                        </a:rPr>
                        <a:t>Lưu trữ tạm thời thông tin số</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23</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FF0000"/>
                          </a:solidFill>
                          <a:latin typeface="Inter"/>
                          <a:ea typeface="Inter"/>
                          <a:cs typeface="Inter"/>
                          <a:sym typeface="Inter"/>
                        </a:rPr>
                        <a:t>Thiết lập trang thông tin điện tử</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4"/>
                  </a:ext>
                </a:extLst>
              </a:tr>
              <a:tr h="802347">
                <a:tc>
                  <a:txBody>
                    <a:bodyPr/>
                    <a:lstStyle/>
                    <a:p>
                      <a:pPr algn="l">
                        <a:lnSpc>
                          <a:spcPts val="3920"/>
                        </a:lnSpc>
                        <a:defRPr/>
                      </a:pPr>
                      <a:r>
                        <a:rPr lang="en-US" sz="2800" b="1" i="1">
                          <a:solidFill>
                            <a:srgbClr val="000000"/>
                          </a:solidFill>
                          <a:latin typeface="Inter Bold Italics"/>
                          <a:ea typeface="Inter Bold Italics"/>
                          <a:cs typeface="Inter Bold Italics"/>
                          <a:sym typeface="Inter Bold Italics"/>
                        </a:rPr>
                        <a:t>Điều 18</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r>
                        <a:rPr lang="en-US" sz="2800">
                          <a:solidFill>
                            <a:srgbClr val="000000"/>
                          </a:solidFill>
                          <a:latin typeface="Inter"/>
                          <a:ea typeface="Inter"/>
                          <a:cs typeface="Inter"/>
                          <a:sym typeface="Inter"/>
                        </a:rPr>
                        <a:t>Cho thuê chỗ lưu trữ thông tin số </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l">
                        <a:lnSpc>
                          <a:spcPts val="3920"/>
                        </a:lnSpc>
                        <a:defRPr/>
                      </a:pPr>
                      <a:endParaRPr lang="en-US" sz="1100" dirty="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5"/>
                  </a:ext>
                </a:extLst>
              </a:tr>
            </a:tbl>
          </a:graphicData>
        </a:graphic>
      </p:graphicFrame>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13</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3">
              <a:extLst>
                <a:ext uri="{96DAC541-7B7A-43D3-8B79-37D633B846F1}">
                  <asvg:svgBlip xmlns:asvg="http://schemas.microsoft.com/office/drawing/2016/SVG/main" r:embed="rId4"/>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3">
              <a:extLst>
                <a:ext uri="{96DAC541-7B7A-43D3-8B79-37D633B846F1}">
                  <asvg:svgBlip xmlns:asvg="http://schemas.microsoft.com/office/drawing/2016/SVG/main" r:embed="rId4"/>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5">
              <a:extLst>
                <a:ext uri="{96DAC541-7B7A-43D3-8B79-37D633B846F1}">
                  <asvg:svgBlip xmlns:asvg="http://schemas.microsoft.com/office/drawing/2016/SVG/main" r:embed="rId6"/>
                </a:ext>
              </a:extLst>
            </a:blip>
            <a:stretch>
              <a:fillRect t="-236" b="-236"/>
            </a:stretch>
          </a:blipFill>
        </p:spPr>
        <p:txBody>
          <a:bodyPr/>
          <a:lstStyle/>
          <a:p>
            <a:endParaRPr lang="en-US"/>
          </a:p>
        </p:txBody>
      </p:sp>
      <p:sp>
        <p:nvSpPr>
          <p:cNvPr id="6" name="TextBox 6"/>
          <p:cNvSpPr txBox="1"/>
          <p:nvPr/>
        </p:nvSpPr>
        <p:spPr>
          <a:xfrm>
            <a:off x="1564300" y="1515713"/>
            <a:ext cx="10653465"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1. Quy </a:t>
            </a:r>
            <a:r>
              <a:rPr lang="en-US" sz="4000" dirty="0" err="1">
                <a:solidFill>
                  <a:srgbClr val="1F497D"/>
                </a:solidFill>
                <a:latin typeface="Paytone One"/>
                <a:ea typeface="Paytone One"/>
                <a:cs typeface="Paytone One"/>
                <a:sym typeface="Paytone One"/>
              </a:rPr>
              <a:t>định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chung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về</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9">
              <a:extLst>
                <a:ext uri="{96DAC541-7B7A-43D3-8B79-37D633B846F1}">
                  <asvg:svgBlip xmlns:asvg="http://schemas.microsoft.com/office/drawing/2016/SVG/main" r:embed="rId10"/>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1">
              <a:extLst>
                <a:ext uri="{96DAC541-7B7A-43D3-8B79-37D633B846F1}">
                  <asvg:svgBlip xmlns:asvg="http://schemas.microsoft.com/office/drawing/2016/SVG/main" r:embed="rId12"/>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3">
              <a:extLst>
                <a:ext uri="{96DAC541-7B7A-43D3-8B79-37D633B846F1}">
                  <asvg:svgBlip xmlns:asvg="http://schemas.microsoft.com/office/drawing/2016/SVG/main" r:embed="rId14"/>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5">
              <a:extLst>
                <a:ext uri="{96DAC541-7B7A-43D3-8B79-37D633B846F1}">
                  <asvg:svgBlip xmlns:asvg="http://schemas.microsoft.com/office/drawing/2016/SVG/main" r:embed="rId16"/>
                </a:ext>
              </a:extLst>
            </a:blip>
            <a:stretch>
              <a:fillRect t="-20" b="-21"/>
            </a:stretch>
          </a:blipFill>
        </p:spPr>
        <p:txBody>
          <a:bodyPr/>
          <a:lstStyle/>
          <a:p>
            <a:endParaRPr lang="en-US"/>
          </a:p>
        </p:txBody>
      </p:sp>
      <p:grpSp>
        <p:nvGrpSpPr>
          <p:cNvPr id="13" name="Group 13"/>
          <p:cNvGrpSpPr/>
          <p:nvPr/>
        </p:nvGrpSpPr>
        <p:grpSpPr>
          <a:xfrm>
            <a:off x="12217765" y="9690687"/>
            <a:ext cx="6070235" cy="473329"/>
            <a:chOff x="0" y="0"/>
            <a:chExt cx="8093646" cy="631105"/>
          </a:xfrm>
        </p:grpSpPr>
        <p:sp>
          <p:nvSpPr>
            <p:cNvPr id="14" name="Freeform 14"/>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7"/>
            <a:stretch>
              <a:fillRect/>
            </a:stretch>
          </a:blipFill>
        </p:spPr>
        <p:txBody>
          <a:bodyPr/>
          <a:lstStyle/>
          <a:p>
            <a:endParaRPr lang="en-US"/>
          </a:p>
        </p:txBody>
      </p:sp>
      <p:sp>
        <p:nvSpPr>
          <p:cNvPr id="17" name="TextBox 17"/>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18" name="Freeform 18"/>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8">
              <a:extLst>
                <a:ext uri="{96DAC541-7B7A-43D3-8B79-37D633B846F1}">
                  <asvg:svgBlip xmlns:asvg="http://schemas.microsoft.com/office/drawing/2016/SVG/main" r:embed="rId19"/>
                </a:ext>
              </a:extLst>
            </a:blip>
            <a:stretch>
              <a:fillRect t="-147" b="-147"/>
            </a:stretch>
          </a:blipFill>
        </p:spPr>
        <p:txBody>
          <a:bodyPr/>
          <a:lstStyle/>
          <a:p>
            <a:endParaRPr lang="en-US"/>
          </a:p>
        </p:txBody>
      </p:sp>
      <p:sp>
        <p:nvSpPr>
          <p:cNvPr id="19" name="TextBox 19"/>
          <p:cNvSpPr txBox="1"/>
          <p:nvPr/>
        </p:nvSpPr>
        <p:spPr>
          <a:xfrm>
            <a:off x="1553385" y="2602059"/>
            <a:ext cx="7066493" cy="5143500"/>
          </a:xfrm>
          <a:prstGeom prst="rect">
            <a:avLst/>
          </a:prstGeom>
        </p:spPr>
        <p:txBody>
          <a:bodyPr lIns="0" tIns="0" rIns="0" bIns="0" rtlCol="0" anchor="t">
            <a:spAutoFit/>
          </a:bodyPr>
          <a:lstStyle/>
          <a:p>
            <a:pPr algn="just">
              <a:lnSpc>
                <a:spcPts val="3840"/>
              </a:lnSpc>
            </a:pPr>
            <a:r>
              <a:rPr lang="en-US" sz="3200" b="1">
                <a:solidFill>
                  <a:srgbClr val="1A1C1E"/>
                </a:solidFill>
                <a:latin typeface="Inter Bold"/>
                <a:ea typeface="Inter Bold"/>
                <a:cs typeface="Inter Bold"/>
                <a:sym typeface="Inter Bold"/>
              </a:rPr>
              <a:t>Điều 14: Ưu tiên dùng CNTT trong tình huống khẩn cấp.</a:t>
            </a:r>
          </a:p>
          <a:p>
            <a:pPr algn="just">
              <a:lnSpc>
                <a:spcPts val="3840"/>
              </a:lnSpc>
            </a:pPr>
            <a:r>
              <a:rPr lang="en-US" sz="3200" i="1">
                <a:solidFill>
                  <a:srgbClr val="1A1C1E"/>
                </a:solidFill>
                <a:latin typeface="Inter Italics"/>
                <a:ea typeface="Inter Italics"/>
                <a:cs typeface="Inter Italics"/>
                <a:sym typeface="Inter Italics"/>
              </a:rPr>
              <a:t>Ví dụ:</a:t>
            </a:r>
            <a:r>
              <a:rPr lang="en-US" sz="3200">
                <a:solidFill>
                  <a:srgbClr val="1A1C1E"/>
                </a:solidFill>
                <a:latin typeface="Inter"/>
                <a:ea typeface="Inter"/>
                <a:cs typeface="Inter"/>
                <a:sym typeface="Inter"/>
              </a:rPr>
              <a:t> 5/9/2024, Ban Chỉ đạo quốc gia Phòng chống thiên tai đã gửi tin nhắn hướng dẫn neo đậu thuyền an toàn trú bão Yagi tới hơn 9,3 triệu người dân các tỉnh ven biển.</a:t>
            </a:r>
          </a:p>
          <a:p>
            <a:pPr algn="just">
              <a:lnSpc>
                <a:spcPts val="3840"/>
              </a:lnSpc>
            </a:pPr>
            <a:endParaRPr lang="en-US" sz="3200">
              <a:solidFill>
                <a:srgbClr val="1A1C1E"/>
              </a:solidFill>
              <a:latin typeface="Inter"/>
              <a:ea typeface="Inter"/>
              <a:cs typeface="Inter"/>
              <a:sym typeface="Inter"/>
            </a:endParaRPr>
          </a:p>
          <a:p>
            <a:pPr algn="just">
              <a:lnSpc>
                <a:spcPts val="3360"/>
              </a:lnSpc>
            </a:pPr>
            <a:r>
              <a:rPr lang="en-US" sz="2800" u="sng">
                <a:solidFill>
                  <a:srgbClr val="0000FF"/>
                </a:solidFill>
                <a:latin typeface="Inter"/>
                <a:ea typeface="Inter"/>
                <a:cs typeface="Inter"/>
                <a:sym typeface="Inter"/>
                <a:hlinkClick r:id="rId20" tooltip="https://nhandan.vn/93-trieu-nguoi-nhan-tin-nhan-phong-chong-sieu-bao-yagi-qua-zalo-post828724.html"/>
              </a:rPr>
              <a:t>https://nhandan.vn/93-trieu-nguoi-nhan-tin-nhan-phong-chong-sieu-bao-yagi-qua-zalo-post828724.html</a:t>
            </a:r>
            <a:r>
              <a:rPr lang="en-US" sz="2800">
                <a:solidFill>
                  <a:srgbClr val="1A1C1E"/>
                </a:solidFill>
                <a:latin typeface="Inter"/>
                <a:ea typeface="Inter"/>
                <a:cs typeface="Inter"/>
                <a:sym typeface="Inter"/>
              </a:rPr>
              <a:t> </a:t>
            </a:r>
          </a:p>
        </p:txBody>
      </p:sp>
      <p:sp>
        <p:nvSpPr>
          <p:cNvPr id="20" name="Freeform 20" descr="Thông báo hướng dẫn neo đậu thuyền tránh bão được gửi qua Zalo Mini App."/>
          <p:cNvSpPr/>
          <p:nvPr/>
        </p:nvSpPr>
        <p:spPr>
          <a:xfrm>
            <a:off x="9595761" y="2310041"/>
            <a:ext cx="7230304" cy="7280862"/>
          </a:xfrm>
          <a:custGeom>
            <a:avLst/>
            <a:gdLst/>
            <a:ahLst/>
            <a:cxnLst/>
            <a:rect l="l" t="t" r="r" b="b"/>
            <a:pathLst>
              <a:path w="7230304" h="7280862">
                <a:moveTo>
                  <a:pt x="0" y="0"/>
                </a:moveTo>
                <a:lnTo>
                  <a:pt x="7230304" y="0"/>
                </a:lnTo>
                <a:lnTo>
                  <a:pt x="7230304" y="7280862"/>
                </a:lnTo>
                <a:lnTo>
                  <a:pt x="0" y="7280862"/>
                </a:lnTo>
                <a:lnTo>
                  <a:pt x="0" y="0"/>
                </a:lnTo>
                <a:close/>
              </a:path>
            </a:pathLst>
          </a:custGeom>
          <a:blipFill>
            <a:blip r:embed="rId21"/>
            <a:stretch>
              <a:fillRect/>
            </a:stretch>
          </a:blipFill>
        </p:spPr>
        <p:txBody>
          <a:bodyPr/>
          <a:lstStyle/>
          <a:p>
            <a:endParaRPr lang="en-US"/>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14</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3">
              <a:extLst>
                <a:ext uri="{96DAC541-7B7A-43D3-8B79-37D633B846F1}">
                  <asvg:svgBlip xmlns:asvg="http://schemas.microsoft.com/office/drawing/2016/SVG/main" r:embed="rId4"/>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3">
              <a:extLst>
                <a:ext uri="{96DAC541-7B7A-43D3-8B79-37D633B846F1}">
                  <asvg:svgBlip xmlns:asvg="http://schemas.microsoft.com/office/drawing/2016/SVG/main" r:embed="rId4"/>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5">
              <a:extLst>
                <a:ext uri="{96DAC541-7B7A-43D3-8B79-37D633B846F1}">
                  <asvg:svgBlip xmlns:asvg="http://schemas.microsoft.com/office/drawing/2016/SVG/main" r:embed="rId6"/>
                </a:ext>
              </a:extLst>
            </a:blip>
            <a:stretch>
              <a:fillRect t="-236" b="-236"/>
            </a:stretch>
          </a:blipFill>
        </p:spPr>
        <p:txBody>
          <a:bodyPr/>
          <a:lstStyle/>
          <a:p>
            <a:endParaRPr lang="en-US"/>
          </a:p>
        </p:txBody>
      </p:sp>
      <p:sp>
        <p:nvSpPr>
          <p:cNvPr id="6" name="TextBox 6"/>
          <p:cNvSpPr txBox="1"/>
          <p:nvPr/>
        </p:nvSpPr>
        <p:spPr>
          <a:xfrm>
            <a:off x="1564300" y="1515713"/>
            <a:ext cx="10769004"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1. Quy </a:t>
            </a:r>
            <a:r>
              <a:rPr lang="en-US" sz="4000" dirty="0" err="1">
                <a:solidFill>
                  <a:srgbClr val="1F497D"/>
                </a:solidFill>
                <a:latin typeface="Paytone One"/>
                <a:ea typeface="Paytone One"/>
                <a:cs typeface="Paytone One"/>
                <a:sym typeface="Paytone One"/>
              </a:rPr>
              <a:t>định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chung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về</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9">
              <a:extLst>
                <a:ext uri="{96DAC541-7B7A-43D3-8B79-37D633B846F1}">
                  <asvg:svgBlip xmlns:asvg="http://schemas.microsoft.com/office/drawing/2016/SVG/main" r:embed="rId10"/>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1">
              <a:extLst>
                <a:ext uri="{96DAC541-7B7A-43D3-8B79-37D633B846F1}">
                  <asvg:svgBlip xmlns:asvg="http://schemas.microsoft.com/office/drawing/2016/SVG/main" r:embed="rId12"/>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3">
              <a:extLst>
                <a:ext uri="{96DAC541-7B7A-43D3-8B79-37D633B846F1}">
                  <asvg:svgBlip xmlns:asvg="http://schemas.microsoft.com/office/drawing/2016/SVG/main" r:embed="rId14"/>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5">
              <a:extLst>
                <a:ext uri="{96DAC541-7B7A-43D3-8B79-37D633B846F1}">
                  <asvg:svgBlip xmlns:asvg="http://schemas.microsoft.com/office/drawing/2016/SVG/main" r:embed="rId16"/>
                </a:ext>
              </a:extLst>
            </a:blip>
            <a:stretch>
              <a:fillRect t="-20" b="-21"/>
            </a:stretch>
          </a:blipFill>
        </p:spPr>
        <p:txBody>
          <a:bodyPr/>
          <a:lstStyle/>
          <a:p>
            <a:endParaRPr lang="en-US"/>
          </a:p>
        </p:txBody>
      </p:sp>
      <p:grpSp>
        <p:nvGrpSpPr>
          <p:cNvPr id="13" name="Group 13"/>
          <p:cNvGrpSpPr/>
          <p:nvPr/>
        </p:nvGrpSpPr>
        <p:grpSpPr>
          <a:xfrm>
            <a:off x="12217765" y="9690687"/>
            <a:ext cx="6070235" cy="473329"/>
            <a:chOff x="0" y="0"/>
            <a:chExt cx="8093646" cy="631105"/>
          </a:xfrm>
        </p:grpSpPr>
        <p:sp>
          <p:nvSpPr>
            <p:cNvPr id="14" name="Freeform 14"/>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7"/>
            <a:stretch>
              <a:fillRect/>
            </a:stretch>
          </a:blipFill>
        </p:spPr>
        <p:txBody>
          <a:bodyPr/>
          <a:lstStyle/>
          <a:p>
            <a:endParaRPr lang="en-US"/>
          </a:p>
        </p:txBody>
      </p:sp>
      <p:sp>
        <p:nvSpPr>
          <p:cNvPr id="17" name="TextBox 17"/>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18" name="Freeform 18"/>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8">
              <a:extLst>
                <a:ext uri="{96DAC541-7B7A-43D3-8B79-37D633B846F1}">
                  <asvg:svgBlip xmlns:asvg="http://schemas.microsoft.com/office/drawing/2016/SVG/main" r:embed="rId19"/>
                </a:ext>
              </a:extLst>
            </a:blip>
            <a:stretch>
              <a:fillRect t="-147" b="-147"/>
            </a:stretch>
          </a:blipFill>
        </p:spPr>
        <p:txBody>
          <a:bodyPr/>
          <a:lstStyle/>
          <a:p>
            <a:endParaRPr lang="en-US"/>
          </a:p>
        </p:txBody>
      </p:sp>
      <p:sp>
        <p:nvSpPr>
          <p:cNvPr id="19" name="TextBox 19"/>
          <p:cNvSpPr txBox="1"/>
          <p:nvPr/>
        </p:nvSpPr>
        <p:spPr>
          <a:xfrm>
            <a:off x="1522705" y="2451745"/>
            <a:ext cx="9968255" cy="6600825"/>
          </a:xfrm>
          <a:prstGeom prst="rect">
            <a:avLst/>
          </a:prstGeom>
        </p:spPr>
        <p:txBody>
          <a:bodyPr lIns="0" tIns="0" rIns="0" bIns="0" rtlCol="0" anchor="t">
            <a:spAutoFit/>
          </a:bodyPr>
          <a:lstStyle/>
          <a:p>
            <a:pPr algn="just">
              <a:lnSpc>
                <a:spcPts val="3840"/>
              </a:lnSpc>
            </a:pPr>
            <a:r>
              <a:rPr lang="en-US" sz="3200" b="1">
                <a:solidFill>
                  <a:srgbClr val="1A1C1E"/>
                </a:solidFill>
                <a:latin typeface="Inter Bold"/>
                <a:ea typeface="Inter Bold"/>
                <a:cs typeface="Inter Bold"/>
                <a:sym typeface="Inter Bold"/>
              </a:rPr>
              <a:t>Điều 18: Cho thuê chỗ lưu trữ thông tin số.</a:t>
            </a:r>
          </a:p>
          <a:p>
            <a:pPr algn="just">
              <a:lnSpc>
                <a:spcPts val="3840"/>
              </a:lnSpc>
            </a:pPr>
            <a:r>
              <a:rPr lang="en-US" sz="3200" i="1">
                <a:solidFill>
                  <a:srgbClr val="1A1C1E"/>
                </a:solidFill>
                <a:latin typeface="Inter Italics"/>
                <a:ea typeface="Inter Italics"/>
                <a:cs typeface="Inter Italics"/>
                <a:sym typeface="Inter Italics"/>
              </a:rPr>
              <a:t>Ví dụ:</a:t>
            </a:r>
            <a:r>
              <a:rPr lang="en-US" sz="3200">
                <a:solidFill>
                  <a:srgbClr val="1A1C1E"/>
                </a:solidFill>
                <a:latin typeface="Inter"/>
                <a:ea typeface="Inter"/>
                <a:cs typeface="Inter"/>
                <a:sym typeface="Inter"/>
              </a:rPr>
              <a:t> Facebook, Google, Tiktok đã gỡ bỏ hơn 15.000 nội dung vi phạm pháp luật Việt Nam</a:t>
            </a:r>
          </a:p>
          <a:p>
            <a:pPr algn="just">
              <a:lnSpc>
                <a:spcPts val="3840"/>
              </a:lnSpc>
            </a:pPr>
            <a:endParaRPr lang="en-US" sz="3200">
              <a:solidFill>
                <a:srgbClr val="1A1C1E"/>
              </a:solidFill>
              <a:latin typeface="Inter"/>
              <a:ea typeface="Inter"/>
              <a:cs typeface="Inter"/>
              <a:sym typeface="Inter"/>
            </a:endParaRPr>
          </a:p>
          <a:p>
            <a:pPr algn="just">
              <a:lnSpc>
                <a:spcPts val="2879"/>
              </a:lnSpc>
            </a:pPr>
            <a:r>
              <a:rPr lang="en-US" sz="2400" i="1">
                <a:solidFill>
                  <a:srgbClr val="000000"/>
                </a:solidFill>
                <a:latin typeface="Inter Italics"/>
                <a:ea typeface="Inter Italics"/>
                <a:cs typeface="Inter Italics"/>
                <a:sym typeface="Inter Italics"/>
              </a:rPr>
              <a:t>”Năm 2024, Bộ Thông tin và Truyền thông tiếp tục duy trì việc đấu tranh, yêu cầu các nền tảng phải ngăn chặn, gỡ bỏ thông tin vi phạm pháp luật Việt Nam,…”</a:t>
            </a:r>
          </a:p>
          <a:p>
            <a:pPr algn="just">
              <a:lnSpc>
                <a:spcPts val="2879"/>
              </a:lnSpc>
            </a:pPr>
            <a:endParaRPr lang="en-US" sz="2400" i="1">
              <a:solidFill>
                <a:srgbClr val="000000"/>
              </a:solidFill>
              <a:latin typeface="Inter Italics"/>
              <a:ea typeface="Inter Italics"/>
              <a:cs typeface="Inter Italics"/>
              <a:sym typeface="Inter Italics"/>
            </a:endParaRPr>
          </a:p>
          <a:p>
            <a:pPr algn="just">
              <a:lnSpc>
                <a:spcPts val="3120"/>
              </a:lnSpc>
            </a:pPr>
            <a:r>
              <a:rPr lang="en-US" sz="2600" u="sng">
                <a:solidFill>
                  <a:srgbClr val="0000FF"/>
                </a:solidFill>
                <a:latin typeface="Inter"/>
                <a:ea typeface="Inter"/>
                <a:cs typeface="Inter"/>
                <a:sym typeface="Inter"/>
                <a:hlinkClick r:id="rId20" tooltip="https://vneconomy.vn/facebook-google-tiktok-da-go-bo-hon-15-000-noi-dung-vi-pham-phap-luat-viet-nam.htm"/>
              </a:rPr>
              <a:t>https://vneconomy.vn/facebook-google-tiktok-da-go-bo-hon-15-000-noi-dung-vi-pham-phap-luat-viet-nam.htm</a:t>
            </a:r>
            <a:r>
              <a:rPr lang="en-US" sz="2600">
                <a:solidFill>
                  <a:srgbClr val="1A1C1E"/>
                </a:solidFill>
                <a:latin typeface="Inter"/>
                <a:ea typeface="Inter"/>
                <a:cs typeface="Inter"/>
                <a:sym typeface="Inter"/>
              </a:rPr>
              <a:t> </a:t>
            </a:r>
          </a:p>
          <a:p>
            <a:pPr algn="just">
              <a:lnSpc>
                <a:spcPts val="3840"/>
              </a:lnSpc>
            </a:pPr>
            <a:endParaRPr lang="en-US" sz="2600">
              <a:solidFill>
                <a:srgbClr val="1A1C1E"/>
              </a:solidFill>
              <a:latin typeface="Inter"/>
              <a:ea typeface="Inter"/>
              <a:cs typeface="Inter"/>
              <a:sym typeface="Inter"/>
            </a:endParaRPr>
          </a:p>
          <a:p>
            <a:pPr algn="just">
              <a:lnSpc>
                <a:spcPts val="3840"/>
              </a:lnSpc>
            </a:pPr>
            <a:r>
              <a:rPr lang="en-US" sz="3200">
                <a:solidFill>
                  <a:srgbClr val="984807"/>
                </a:solidFill>
                <a:latin typeface="Inter"/>
                <a:ea typeface="Inter"/>
                <a:cs typeface="Inter"/>
                <a:sym typeface="Inter"/>
              </a:rPr>
              <a:t>⟶ </a:t>
            </a:r>
            <a:r>
              <a:rPr lang="en-US" sz="3200" b="1">
                <a:solidFill>
                  <a:srgbClr val="984807"/>
                </a:solidFill>
                <a:latin typeface="Inter Bold"/>
                <a:ea typeface="Inter Bold"/>
                <a:cs typeface="Inter Bold"/>
                <a:sym typeface="Inter Bold"/>
              </a:rPr>
              <a:t>3b) </a:t>
            </a:r>
            <a:r>
              <a:rPr lang="en-US" sz="3200">
                <a:solidFill>
                  <a:srgbClr val="984807"/>
                </a:solidFill>
                <a:latin typeface="Inter"/>
                <a:ea typeface="Inter"/>
                <a:cs typeface="Inter"/>
                <a:sym typeface="Inter"/>
              </a:rPr>
              <a:t>Tiến hành kịp thời các biện pháp cần thiết để </a:t>
            </a:r>
            <a:r>
              <a:rPr lang="en-US" sz="3200" b="1">
                <a:solidFill>
                  <a:srgbClr val="984807"/>
                </a:solidFill>
                <a:latin typeface="Inter Bold"/>
                <a:ea typeface="Inter Bold"/>
                <a:cs typeface="Inter Bold"/>
                <a:sym typeface="Inter Bold"/>
              </a:rPr>
              <a:t>ngăn chặn</a:t>
            </a:r>
            <a:r>
              <a:rPr lang="en-US" sz="3200">
                <a:solidFill>
                  <a:srgbClr val="984807"/>
                </a:solidFill>
                <a:latin typeface="Inter"/>
                <a:ea typeface="Inter"/>
                <a:cs typeface="Inter"/>
                <a:sym typeface="Inter"/>
              </a:rPr>
              <a:t> việc truy nhập thông tin số hoặc loại bỏ thông tin số </a:t>
            </a:r>
            <a:r>
              <a:rPr lang="en-US" sz="3200" b="1">
                <a:solidFill>
                  <a:srgbClr val="984807"/>
                </a:solidFill>
                <a:latin typeface="Inter Bold"/>
                <a:ea typeface="Inter Bold"/>
                <a:cs typeface="Inter Bold"/>
                <a:sym typeface="Inter Bold"/>
              </a:rPr>
              <a:t>trái pháp luật </a:t>
            </a:r>
            <a:r>
              <a:rPr lang="en-US" sz="3200">
                <a:solidFill>
                  <a:srgbClr val="984807"/>
                </a:solidFill>
                <a:latin typeface="Inter"/>
                <a:ea typeface="Inter"/>
                <a:cs typeface="Inter"/>
                <a:sym typeface="Inter"/>
              </a:rPr>
              <a:t>theo </a:t>
            </a:r>
            <a:r>
              <a:rPr lang="en-US" sz="3200" b="1">
                <a:solidFill>
                  <a:srgbClr val="984807"/>
                </a:solidFill>
                <a:latin typeface="Inter Bold"/>
                <a:ea typeface="Inter Bold"/>
                <a:cs typeface="Inter Bold"/>
                <a:sym typeface="Inter Bold"/>
              </a:rPr>
              <a:t>yêu cầu của cơ quan nhà nước có thẩm quyền;</a:t>
            </a:r>
          </a:p>
        </p:txBody>
      </p:sp>
      <p:sp>
        <p:nvSpPr>
          <p:cNvPr id="20" name="Freeform 20" descr="Năm 2024, Facebook đã chặn, gỡ 8.981 nội dung chống phá Đảng, Nhà nước, vi phạm pháp luật Việt Nam (tỷ lệ 94%)."/>
          <p:cNvSpPr/>
          <p:nvPr/>
        </p:nvSpPr>
        <p:spPr>
          <a:xfrm>
            <a:off x="11782730" y="3760051"/>
            <a:ext cx="5857027" cy="3804047"/>
          </a:xfrm>
          <a:custGeom>
            <a:avLst/>
            <a:gdLst/>
            <a:ahLst/>
            <a:cxnLst/>
            <a:rect l="l" t="t" r="r" b="b"/>
            <a:pathLst>
              <a:path w="5857027" h="3804047">
                <a:moveTo>
                  <a:pt x="0" y="0"/>
                </a:moveTo>
                <a:lnTo>
                  <a:pt x="5857027" y="0"/>
                </a:lnTo>
                <a:lnTo>
                  <a:pt x="5857027" y="3804047"/>
                </a:lnTo>
                <a:lnTo>
                  <a:pt x="0" y="3804047"/>
                </a:lnTo>
                <a:lnTo>
                  <a:pt x="0" y="0"/>
                </a:lnTo>
                <a:close/>
              </a:path>
            </a:pathLst>
          </a:custGeom>
          <a:blipFill>
            <a:blip r:embed="rId21"/>
            <a:stretch>
              <a:fillRect/>
            </a:stretch>
          </a:blipFill>
        </p:spPr>
        <p:txBody>
          <a:bodyPr/>
          <a:lstStyle/>
          <a:p>
            <a:endParaRPr lang="en-US"/>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15</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3">
              <a:extLst>
                <a:ext uri="{96DAC541-7B7A-43D3-8B79-37D633B846F1}">
                  <asvg:svgBlip xmlns:asvg="http://schemas.microsoft.com/office/drawing/2016/SVG/main" r:embed="rId4"/>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3">
              <a:extLst>
                <a:ext uri="{96DAC541-7B7A-43D3-8B79-37D633B846F1}">
                  <asvg:svgBlip xmlns:asvg="http://schemas.microsoft.com/office/drawing/2016/SVG/main" r:embed="rId4"/>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5">
              <a:extLst>
                <a:ext uri="{96DAC541-7B7A-43D3-8B79-37D633B846F1}">
                  <asvg:svgBlip xmlns:asvg="http://schemas.microsoft.com/office/drawing/2016/SVG/main" r:embed="rId6"/>
                </a:ext>
              </a:extLst>
            </a:blip>
            <a:stretch>
              <a:fillRect t="-236" b="-236"/>
            </a:stretch>
          </a:blipFill>
        </p:spPr>
        <p:txBody>
          <a:bodyPr/>
          <a:lstStyle/>
          <a:p>
            <a:endParaRPr lang="en-US"/>
          </a:p>
        </p:txBody>
      </p:sp>
      <p:sp>
        <p:nvSpPr>
          <p:cNvPr id="6" name="TextBox 6"/>
          <p:cNvSpPr txBox="1"/>
          <p:nvPr/>
        </p:nvSpPr>
        <p:spPr>
          <a:xfrm>
            <a:off x="1564300" y="1515713"/>
            <a:ext cx="110087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1. Quy </a:t>
            </a:r>
            <a:r>
              <a:rPr lang="en-US" sz="4000" dirty="0" err="1">
                <a:solidFill>
                  <a:srgbClr val="1F497D"/>
                </a:solidFill>
                <a:latin typeface="Paytone One"/>
                <a:ea typeface="Paytone One"/>
                <a:cs typeface="Paytone One"/>
                <a:sym typeface="Paytone One"/>
              </a:rPr>
              <a:t>định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chung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về</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9">
              <a:extLst>
                <a:ext uri="{96DAC541-7B7A-43D3-8B79-37D633B846F1}">
                  <asvg:svgBlip xmlns:asvg="http://schemas.microsoft.com/office/drawing/2016/SVG/main" r:embed="rId10"/>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1">
              <a:extLst>
                <a:ext uri="{96DAC541-7B7A-43D3-8B79-37D633B846F1}">
                  <asvg:svgBlip xmlns:asvg="http://schemas.microsoft.com/office/drawing/2016/SVG/main" r:embed="rId12"/>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3">
              <a:extLst>
                <a:ext uri="{96DAC541-7B7A-43D3-8B79-37D633B846F1}">
                  <asvg:svgBlip xmlns:asvg="http://schemas.microsoft.com/office/drawing/2016/SVG/main" r:embed="rId14"/>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5">
              <a:extLst>
                <a:ext uri="{96DAC541-7B7A-43D3-8B79-37D633B846F1}">
                  <asvg:svgBlip xmlns:asvg="http://schemas.microsoft.com/office/drawing/2016/SVG/main" r:embed="rId16"/>
                </a:ext>
              </a:extLst>
            </a:blip>
            <a:stretch>
              <a:fillRect t="-20" b="-21"/>
            </a:stretch>
          </a:blipFill>
        </p:spPr>
        <p:txBody>
          <a:bodyPr/>
          <a:lstStyle/>
          <a:p>
            <a:endParaRPr lang="en-US"/>
          </a:p>
        </p:txBody>
      </p:sp>
      <p:grpSp>
        <p:nvGrpSpPr>
          <p:cNvPr id="13" name="Group 13"/>
          <p:cNvGrpSpPr/>
          <p:nvPr/>
        </p:nvGrpSpPr>
        <p:grpSpPr>
          <a:xfrm>
            <a:off x="12217765" y="9690687"/>
            <a:ext cx="6070235" cy="473329"/>
            <a:chOff x="0" y="0"/>
            <a:chExt cx="8093646" cy="631105"/>
          </a:xfrm>
        </p:grpSpPr>
        <p:sp>
          <p:nvSpPr>
            <p:cNvPr id="14" name="Freeform 14"/>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22H1120002 - Huỳnh Nguyễn Quốc Bảo</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7"/>
            <a:stretch>
              <a:fillRect/>
            </a:stretch>
          </a:blipFill>
        </p:spPr>
        <p:txBody>
          <a:bodyPr/>
          <a:lstStyle/>
          <a:p>
            <a:endParaRPr lang="en-US"/>
          </a:p>
        </p:txBody>
      </p:sp>
      <p:sp>
        <p:nvSpPr>
          <p:cNvPr id="17" name="TextBox 17"/>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18" name="Freeform 18"/>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8">
              <a:extLst>
                <a:ext uri="{96DAC541-7B7A-43D3-8B79-37D633B846F1}">
                  <asvg:svgBlip xmlns:asvg="http://schemas.microsoft.com/office/drawing/2016/SVG/main" r:embed="rId19"/>
                </a:ext>
              </a:extLst>
            </a:blip>
            <a:stretch>
              <a:fillRect t="-147" b="-147"/>
            </a:stretch>
          </a:blipFill>
        </p:spPr>
        <p:txBody>
          <a:bodyPr/>
          <a:lstStyle/>
          <a:p>
            <a:endParaRPr lang="en-US"/>
          </a:p>
        </p:txBody>
      </p:sp>
      <p:sp>
        <p:nvSpPr>
          <p:cNvPr id="19" name="TextBox 19"/>
          <p:cNvSpPr txBox="1"/>
          <p:nvPr/>
        </p:nvSpPr>
        <p:spPr>
          <a:xfrm>
            <a:off x="6556848" y="2710834"/>
            <a:ext cx="9606686" cy="6591300"/>
          </a:xfrm>
          <a:prstGeom prst="rect">
            <a:avLst/>
          </a:prstGeom>
        </p:spPr>
        <p:txBody>
          <a:bodyPr lIns="0" tIns="0" rIns="0" bIns="0" rtlCol="0" anchor="t">
            <a:spAutoFit/>
          </a:bodyPr>
          <a:lstStyle/>
          <a:p>
            <a:pPr algn="just">
              <a:lnSpc>
                <a:spcPts val="3840"/>
              </a:lnSpc>
            </a:pPr>
            <a:r>
              <a:rPr lang="en-US" sz="3200" b="1">
                <a:solidFill>
                  <a:srgbClr val="1A1C1E"/>
                </a:solidFill>
                <a:latin typeface="Inter Bold"/>
                <a:ea typeface="Inter Bold"/>
                <a:cs typeface="Inter Bold"/>
                <a:sym typeface="Inter Bold"/>
              </a:rPr>
              <a:t>Điều 21 &amp; 22: </a:t>
            </a:r>
            <a:r>
              <a:rPr lang="en-US" sz="3200" b="1">
                <a:solidFill>
                  <a:srgbClr val="000000"/>
                </a:solidFill>
                <a:latin typeface="Inter Bold"/>
                <a:ea typeface="Inter Bold"/>
                <a:cs typeface="Inter Bold"/>
                <a:sym typeface="Inter Bold"/>
              </a:rPr>
              <a:t>Thu thập, xử lý, sử dụng; lưu trữ, cung cấp thông tin cá nhân </a:t>
            </a:r>
          </a:p>
          <a:p>
            <a:pPr algn="just">
              <a:lnSpc>
                <a:spcPts val="3840"/>
              </a:lnSpc>
            </a:pPr>
            <a:r>
              <a:rPr lang="en-US" sz="3200" i="1">
                <a:solidFill>
                  <a:srgbClr val="1A1C1E"/>
                </a:solidFill>
                <a:latin typeface="Inter Italics"/>
                <a:ea typeface="Inter Italics"/>
                <a:cs typeface="Inter Italics"/>
                <a:sym typeface="Inter Italics"/>
              </a:rPr>
              <a:t>Ví dụ:</a:t>
            </a:r>
            <a:r>
              <a:rPr lang="en-US" sz="3200">
                <a:solidFill>
                  <a:srgbClr val="1A1C1E"/>
                </a:solidFill>
                <a:latin typeface="Inter"/>
                <a:ea typeface="Inter"/>
                <a:cs typeface="Inter"/>
                <a:sym typeface="Inter"/>
              </a:rPr>
              <a:t> Mạo danh ngân hàng hỗ trợ cập nhật sinh trắc học để lừa đảo</a:t>
            </a:r>
          </a:p>
          <a:p>
            <a:pPr algn="just">
              <a:lnSpc>
                <a:spcPts val="3840"/>
              </a:lnSpc>
            </a:pPr>
            <a:endParaRPr lang="en-US" sz="3200">
              <a:solidFill>
                <a:srgbClr val="1A1C1E"/>
              </a:solidFill>
              <a:latin typeface="Inter"/>
              <a:ea typeface="Inter"/>
              <a:cs typeface="Inter"/>
              <a:sym typeface="Inter"/>
            </a:endParaRPr>
          </a:p>
          <a:p>
            <a:pPr algn="just">
              <a:lnSpc>
                <a:spcPts val="2640"/>
              </a:lnSpc>
            </a:pPr>
            <a:r>
              <a:rPr lang="en-US" sz="2200" i="1">
                <a:solidFill>
                  <a:srgbClr val="1A1C1E"/>
                </a:solidFill>
                <a:latin typeface="Inter Italics"/>
                <a:ea typeface="Inter Italics"/>
                <a:cs typeface="Inter Italics"/>
                <a:sym typeface="Inter Italics"/>
              </a:rPr>
              <a:t>“…</a:t>
            </a:r>
            <a:r>
              <a:rPr lang="en-US" sz="2200" i="1">
                <a:solidFill>
                  <a:srgbClr val="000000"/>
                </a:solidFill>
                <a:latin typeface="Inter Italics"/>
                <a:ea typeface="Inter Italics"/>
                <a:cs typeface="Inter Italics"/>
                <a:sym typeface="Inter Italics"/>
              </a:rPr>
              <a:t> các đối tượng lừa đảo đã giả danh nhân viên ngân hàng liên hệ khách hàng đề nghị "hỗ trợ" cài đặt nhằm chiếm đoạt tài sản, thông tin của khách hàng…”</a:t>
            </a:r>
          </a:p>
          <a:p>
            <a:pPr algn="just">
              <a:lnSpc>
                <a:spcPts val="2640"/>
              </a:lnSpc>
            </a:pPr>
            <a:endParaRPr lang="en-US" sz="2200" i="1">
              <a:solidFill>
                <a:srgbClr val="000000"/>
              </a:solidFill>
              <a:latin typeface="Inter Italics"/>
              <a:ea typeface="Inter Italics"/>
              <a:cs typeface="Inter Italics"/>
              <a:sym typeface="Inter Italics"/>
            </a:endParaRPr>
          </a:p>
          <a:p>
            <a:pPr algn="just">
              <a:lnSpc>
                <a:spcPts val="2640"/>
              </a:lnSpc>
            </a:pPr>
            <a:r>
              <a:rPr lang="en-US" sz="2200" u="sng">
                <a:solidFill>
                  <a:srgbClr val="0000FF"/>
                </a:solidFill>
                <a:latin typeface="Inter"/>
                <a:ea typeface="Inter"/>
                <a:cs typeface="Inter"/>
                <a:sym typeface="Inter"/>
                <a:hlinkClick r:id="rId20" tooltip="https://vtv.vn/kinh-te/mao-danh-ngan-hang-ho-tro-cap-nhat-sinh-trac-hoc-de-lua-dao-20240702092739988.htm"/>
              </a:rPr>
              <a:t>https://vtv.vn/kinh-te/mao-danh-ngan-hang-ho-tro-cap-nhat-sinh-trac-hoc-de-lua-dao-20240702092739988.htm</a:t>
            </a:r>
            <a:r>
              <a:rPr lang="en-US" sz="2200">
                <a:solidFill>
                  <a:srgbClr val="1A1C1E"/>
                </a:solidFill>
                <a:latin typeface="Inter"/>
                <a:ea typeface="Inter"/>
                <a:cs typeface="Inter"/>
                <a:sym typeface="Inter"/>
              </a:rPr>
              <a:t> </a:t>
            </a:r>
          </a:p>
          <a:p>
            <a:pPr algn="just">
              <a:lnSpc>
                <a:spcPts val="3840"/>
              </a:lnSpc>
            </a:pPr>
            <a:endParaRPr lang="en-US" sz="2200">
              <a:solidFill>
                <a:srgbClr val="1A1C1E"/>
              </a:solidFill>
              <a:latin typeface="Inter"/>
              <a:ea typeface="Inter"/>
              <a:cs typeface="Inter"/>
              <a:sym typeface="Inter"/>
            </a:endParaRPr>
          </a:p>
          <a:p>
            <a:pPr algn="just">
              <a:lnSpc>
                <a:spcPts val="3359"/>
              </a:lnSpc>
            </a:pPr>
            <a:r>
              <a:rPr lang="en-US" sz="2799">
                <a:solidFill>
                  <a:srgbClr val="984807"/>
                </a:solidFill>
                <a:latin typeface="Inter"/>
                <a:ea typeface="Inter"/>
                <a:cs typeface="Inter"/>
                <a:sym typeface="Inter"/>
              </a:rPr>
              <a:t>⟶</a:t>
            </a:r>
            <a:r>
              <a:rPr lang="en-US" sz="2799" b="1">
                <a:solidFill>
                  <a:srgbClr val="984807"/>
                </a:solidFill>
                <a:latin typeface="Inter Bold"/>
                <a:ea typeface="Inter Bold"/>
                <a:cs typeface="Inter Bold"/>
                <a:sym typeface="Inter Bold"/>
              </a:rPr>
              <a:t> Vi phạm 2b) Điều 21:</a:t>
            </a:r>
            <a:r>
              <a:rPr lang="en-US" sz="2799">
                <a:solidFill>
                  <a:srgbClr val="984807"/>
                </a:solidFill>
                <a:latin typeface="Inter"/>
                <a:ea typeface="Inter"/>
                <a:cs typeface="Inter"/>
                <a:sym typeface="Inter"/>
              </a:rPr>
              <a:t> Sử dụng đúng mục đích thông tin cá nhân thu thập được và chỉ lưu trữ những thông tin đó trong một khoảng thời gian nhất định theo quy định của pháp luật hoặc theo thoả thuận giữa hai bên;</a:t>
            </a:r>
          </a:p>
        </p:txBody>
      </p:sp>
      <p:sp>
        <p:nvSpPr>
          <p:cNvPr id="20" name="Freeform 20" descr="Cảnh báo thủ đoạn mạo danh ngân hàng hỗ trợ cập nhật sinh trắc học để"/>
          <p:cNvSpPr/>
          <p:nvPr/>
        </p:nvSpPr>
        <p:spPr>
          <a:xfrm>
            <a:off x="1028700" y="3885467"/>
            <a:ext cx="5244789" cy="3496523"/>
          </a:xfrm>
          <a:custGeom>
            <a:avLst/>
            <a:gdLst/>
            <a:ahLst/>
            <a:cxnLst/>
            <a:rect l="l" t="t" r="r" b="b"/>
            <a:pathLst>
              <a:path w="5244789" h="3496523">
                <a:moveTo>
                  <a:pt x="0" y="0"/>
                </a:moveTo>
                <a:lnTo>
                  <a:pt x="5244789" y="0"/>
                </a:lnTo>
                <a:lnTo>
                  <a:pt x="5244789" y="3496522"/>
                </a:lnTo>
                <a:lnTo>
                  <a:pt x="0" y="3496522"/>
                </a:lnTo>
                <a:lnTo>
                  <a:pt x="0" y="0"/>
                </a:lnTo>
                <a:close/>
              </a:path>
            </a:pathLst>
          </a:custGeom>
          <a:blipFill>
            <a:blip r:embed="rId21"/>
            <a:stretch>
              <a:fillRect/>
            </a:stretch>
          </a:blipFill>
        </p:spPr>
        <p:txBody>
          <a:bodyPr/>
          <a:lstStyle/>
          <a:p>
            <a:endParaRPr lang="en-US"/>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16</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3">
              <a:extLst>
                <a:ext uri="{96DAC541-7B7A-43D3-8B79-37D633B846F1}">
                  <asvg:svgBlip xmlns:asvg="http://schemas.microsoft.com/office/drawing/2016/SVG/main" r:embed="rId4"/>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3">
              <a:extLst>
                <a:ext uri="{96DAC541-7B7A-43D3-8B79-37D633B846F1}">
                  <asvg:svgBlip xmlns:asvg="http://schemas.microsoft.com/office/drawing/2016/SVG/main" r:embed="rId4"/>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5">
              <a:extLst>
                <a:ext uri="{96DAC541-7B7A-43D3-8B79-37D633B846F1}">
                  <asvg:svgBlip xmlns:asvg="http://schemas.microsoft.com/office/drawing/2016/SVG/main" r:embed="rId6"/>
                </a:ext>
              </a:extLst>
            </a:blip>
            <a:stretch>
              <a:fillRect t="-236" b="-236"/>
            </a:stretch>
          </a:blipFill>
        </p:spPr>
        <p:txBody>
          <a:bodyPr/>
          <a:lstStyle/>
          <a:p>
            <a:endParaRPr lang="en-US"/>
          </a:p>
        </p:txBody>
      </p:sp>
      <p:sp>
        <p:nvSpPr>
          <p:cNvPr id="6" name="TextBox 6"/>
          <p:cNvSpPr txBox="1"/>
          <p:nvPr/>
        </p:nvSpPr>
        <p:spPr>
          <a:xfrm>
            <a:off x="1564300" y="1525238"/>
            <a:ext cx="11047452" cy="1190625"/>
          </a:xfrm>
          <a:prstGeom prst="rect">
            <a:avLst/>
          </a:prstGeom>
        </p:spPr>
        <p:txBody>
          <a:bodyPr lIns="0" tIns="0" rIns="0" bIns="0" rtlCol="0" anchor="t">
            <a:spAutoFit/>
          </a:bodyPr>
          <a:lstStyle/>
          <a:p>
            <a:pPr algn="l">
              <a:lnSpc>
                <a:spcPts val="4799"/>
              </a:lnSpc>
            </a:pPr>
            <a:r>
              <a:rPr lang="en-US" sz="3999">
                <a:solidFill>
                  <a:srgbClr val="1F497D"/>
                </a:solidFill>
                <a:latin typeface="Paytone One"/>
                <a:ea typeface="Paytone One"/>
                <a:cs typeface="Paytone One"/>
                <a:sym typeface="Paytone One"/>
              </a:rPr>
              <a:t>Mục 2. Ứng dụng CNTT trong hoạt động của </a:t>
            </a:r>
          </a:p>
          <a:p>
            <a:pPr algn="l">
              <a:lnSpc>
                <a:spcPts val="4800"/>
              </a:lnSpc>
            </a:pPr>
            <a:r>
              <a:rPr lang="en-US" sz="4000">
                <a:solidFill>
                  <a:srgbClr val="1F497D"/>
                </a:solidFill>
                <a:latin typeface="Paytone One"/>
                <a:ea typeface="Paytone One"/>
                <a:cs typeface="Paytone One"/>
                <a:sym typeface="Paytone One"/>
              </a:rPr>
              <a:t>                 cơ quan nhà nước</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9">
              <a:extLst>
                <a:ext uri="{96DAC541-7B7A-43D3-8B79-37D633B846F1}">
                  <asvg:svgBlip xmlns:asvg="http://schemas.microsoft.com/office/drawing/2016/SVG/main" r:embed="rId10"/>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1">
              <a:extLst>
                <a:ext uri="{96DAC541-7B7A-43D3-8B79-37D633B846F1}">
                  <asvg:svgBlip xmlns:asvg="http://schemas.microsoft.com/office/drawing/2016/SVG/main" r:embed="rId12"/>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3">
              <a:extLst>
                <a:ext uri="{96DAC541-7B7A-43D3-8B79-37D633B846F1}">
                  <asvg:svgBlip xmlns:asvg="http://schemas.microsoft.com/office/drawing/2016/SVG/main" r:embed="rId14"/>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7">
              <a:extLst>
                <a:ext uri="{96DAC541-7B7A-43D3-8B79-37D633B846F1}">
                  <asvg:svgBlip xmlns:asvg="http://schemas.microsoft.com/office/drawing/2016/SVG/main" r:embed="rId18"/>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9"/>
            <a:stretch>
              <a:fillRect/>
            </a:stretch>
          </a:blipFill>
        </p:spPr>
        <p:txBody>
          <a:bodyPr/>
          <a:lstStyle/>
          <a:p>
            <a:endParaRPr lang="en-US"/>
          </a:p>
        </p:txBody>
      </p:sp>
      <p:graphicFrame>
        <p:nvGraphicFramePr>
          <p:cNvPr id="18" name="Table 18"/>
          <p:cNvGraphicFramePr>
            <a:graphicFrameLocks noGrp="1"/>
          </p:cNvGraphicFramePr>
          <p:nvPr/>
        </p:nvGraphicFramePr>
        <p:xfrm>
          <a:off x="2385498" y="3130829"/>
          <a:ext cx="13716000" cy="5715000"/>
        </p:xfrm>
        <a:graphic>
          <a:graphicData uri="http://schemas.openxmlformats.org/drawingml/2006/table">
            <a:tbl>
              <a:tblPr/>
              <a:tblGrid>
                <a:gridCol w="1728073">
                  <a:extLst>
                    <a:ext uri="{9D8B030D-6E8A-4147-A177-3AD203B41FA5}">
                      <a16:colId xmlns:a16="http://schemas.microsoft.com/office/drawing/2014/main" val="20000"/>
                    </a:ext>
                  </a:extLst>
                </a:gridCol>
                <a:gridCol w="11987927">
                  <a:extLst>
                    <a:ext uri="{9D8B030D-6E8A-4147-A177-3AD203B41FA5}">
                      <a16:colId xmlns:a16="http://schemas.microsoft.com/office/drawing/2014/main" val="20001"/>
                    </a:ext>
                  </a:extLst>
                </a:gridCol>
              </a:tblGrid>
              <a:tr h="1318846">
                <a:tc>
                  <a:txBody>
                    <a:bodyPr/>
                    <a:lstStyle/>
                    <a:p>
                      <a:pPr algn="l">
                        <a:lnSpc>
                          <a:spcPts val="3520"/>
                        </a:lnSpc>
                        <a:defRPr/>
                      </a:pPr>
                      <a:r>
                        <a:rPr lang="en-US" sz="3200" b="1" i="1">
                          <a:solidFill>
                            <a:srgbClr val="000000"/>
                          </a:solidFill>
                          <a:latin typeface="Inter Bold Italics"/>
                          <a:ea typeface="Inter Bold Italics"/>
                          <a:cs typeface="Inter Bold Italics"/>
                          <a:sym typeface="Inter Bold Italics"/>
                        </a:rPr>
                        <a:t>Điều 24</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520"/>
                        </a:lnSpc>
                        <a:defRPr/>
                      </a:pPr>
                      <a:r>
                        <a:rPr lang="en-US" sz="3200">
                          <a:solidFill>
                            <a:srgbClr val="FF0000"/>
                          </a:solidFill>
                          <a:latin typeface="Inter"/>
                          <a:ea typeface="Inter"/>
                          <a:cs typeface="Inter"/>
                          <a:sym typeface="Inter"/>
                        </a:rPr>
                        <a:t>Nguyên tắc </a:t>
                      </a:r>
                      <a:r>
                        <a:rPr lang="en-US" sz="3200">
                          <a:solidFill>
                            <a:srgbClr val="000000"/>
                          </a:solidFill>
                          <a:latin typeface="Inter"/>
                          <a:ea typeface="Inter"/>
                          <a:cs typeface="Inter"/>
                          <a:sym typeface="Inter"/>
                        </a:rPr>
                        <a:t>ứng dụng công nghệ thông tin trong hoạt động của cơ quan nhà nước</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1318846">
                <a:tc>
                  <a:txBody>
                    <a:bodyPr/>
                    <a:lstStyle/>
                    <a:p>
                      <a:pPr algn="l">
                        <a:lnSpc>
                          <a:spcPts val="3520"/>
                        </a:lnSpc>
                        <a:defRPr/>
                      </a:pPr>
                      <a:r>
                        <a:rPr lang="en-US" sz="3200" b="1" i="1">
                          <a:solidFill>
                            <a:srgbClr val="000000"/>
                          </a:solidFill>
                          <a:latin typeface="Inter Bold Italics"/>
                          <a:ea typeface="Inter Bold Italics"/>
                          <a:cs typeface="Inter Bold Italics"/>
                          <a:sym typeface="Inter Bold Italics"/>
                        </a:rPr>
                        <a:t>Điều 25</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520"/>
                        </a:lnSpc>
                        <a:defRPr/>
                      </a:pPr>
                      <a:r>
                        <a:rPr lang="en-US" sz="3200">
                          <a:solidFill>
                            <a:srgbClr val="FF0000"/>
                          </a:solidFill>
                          <a:latin typeface="Inter"/>
                          <a:ea typeface="Inter"/>
                          <a:cs typeface="Inter"/>
                          <a:sym typeface="Inter"/>
                        </a:rPr>
                        <a:t>Điều kiện để triển khai </a:t>
                      </a:r>
                      <a:r>
                        <a:rPr lang="en-US" sz="3200">
                          <a:solidFill>
                            <a:srgbClr val="000000"/>
                          </a:solidFill>
                          <a:latin typeface="Inter"/>
                          <a:ea typeface="Inter"/>
                          <a:cs typeface="Inter"/>
                          <a:sym typeface="Inter"/>
                        </a:rPr>
                        <a:t>ứng dụng công nghệ thông tin trong hoạt động của cơ quan nhà nước</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r h="1318846">
                <a:tc>
                  <a:txBody>
                    <a:bodyPr/>
                    <a:lstStyle/>
                    <a:p>
                      <a:pPr algn="l">
                        <a:lnSpc>
                          <a:spcPts val="3520"/>
                        </a:lnSpc>
                        <a:defRPr/>
                      </a:pPr>
                      <a:r>
                        <a:rPr lang="en-US" sz="3200" b="1" i="1">
                          <a:solidFill>
                            <a:srgbClr val="000000"/>
                          </a:solidFill>
                          <a:latin typeface="Inter Bold Italics"/>
                          <a:ea typeface="Inter Bold Italics"/>
                          <a:cs typeface="Inter Bold Italics"/>
                          <a:sym typeface="Inter Bold Italics"/>
                        </a:rPr>
                        <a:t>Điều 26</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520"/>
                        </a:lnSpc>
                        <a:defRPr/>
                      </a:pPr>
                      <a:r>
                        <a:rPr lang="en-US" sz="3200">
                          <a:solidFill>
                            <a:srgbClr val="FF0000"/>
                          </a:solidFill>
                          <a:latin typeface="Inter"/>
                          <a:ea typeface="Inter"/>
                          <a:cs typeface="Inter"/>
                          <a:sym typeface="Inter"/>
                        </a:rPr>
                        <a:t>Nội dung </a:t>
                      </a:r>
                      <a:r>
                        <a:rPr lang="en-US" sz="3200">
                          <a:solidFill>
                            <a:srgbClr val="000000"/>
                          </a:solidFill>
                          <a:latin typeface="Inter"/>
                          <a:ea typeface="Inter"/>
                          <a:cs typeface="Inter"/>
                          <a:sym typeface="Inter"/>
                        </a:rPr>
                        <a:t>ứng dụng công nghệ thông tin trong hoạt động của cơ quan nhà nước</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2"/>
                  </a:ext>
                </a:extLst>
              </a:tr>
              <a:tr h="879231">
                <a:tc>
                  <a:txBody>
                    <a:bodyPr/>
                    <a:lstStyle/>
                    <a:p>
                      <a:pPr algn="l">
                        <a:lnSpc>
                          <a:spcPts val="3520"/>
                        </a:lnSpc>
                        <a:defRPr/>
                      </a:pPr>
                      <a:r>
                        <a:rPr lang="en-US" sz="3200" b="1" i="1">
                          <a:solidFill>
                            <a:srgbClr val="000000"/>
                          </a:solidFill>
                          <a:latin typeface="Inter Bold Italics"/>
                          <a:ea typeface="Inter Bold Italics"/>
                          <a:cs typeface="Inter Bold Italics"/>
                          <a:sym typeface="Inter Bold Italics"/>
                        </a:rPr>
                        <a:t>Điều 27</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520"/>
                        </a:lnSpc>
                        <a:defRPr/>
                      </a:pPr>
                      <a:r>
                        <a:rPr lang="en-US" sz="3200">
                          <a:solidFill>
                            <a:srgbClr val="FF0000"/>
                          </a:solidFill>
                          <a:latin typeface="Inter"/>
                          <a:ea typeface="Inter"/>
                          <a:cs typeface="Inter"/>
                          <a:sym typeface="Inter"/>
                        </a:rPr>
                        <a:t>Hoạt động </a:t>
                      </a:r>
                      <a:r>
                        <a:rPr lang="en-US" sz="3200">
                          <a:solidFill>
                            <a:srgbClr val="000000"/>
                          </a:solidFill>
                          <a:latin typeface="Inter"/>
                          <a:ea typeface="Inter"/>
                          <a:cs typeface="Inter"/>
                          <a:sym typeface="Inter"/>
                        </a:rPr>
                        <a:t>của cơ quan nhà nước trên môi trường mạng</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3"/>
                  </a:ext>
                </a:extLst>
              </a:tr>
              <a:tr h="879231">
                <a:tc>
                  <a:txBody>
                    <a:bodyPr/>
                    <a:lstStyle/>
                    <a:p>
                      <a:pPr algn="l">
                        <a:lnSpc>
                          <a:spcPts val="3520"/>
                        </a:lnSpc>
                        <a:defRPr/>
                      </a:pPr>
                      <a:r>
                        <a:rPr lang="en-US" sz="3200" b="1" i="1">
                          <a:solidFill>
                            <a:srgbClr val="000000"/>
                          </a:solidFill>
                          <a:latin typeface="Inter Bold Italics"/>
                          <a:ea typeface="Inter Bold Italics"/>
                          <a:cs typeface="Inter Bold Italics"/>
                          <a:sym typeface="Inter Bold Italics"/>
                        </a:rPr>
                        <a:t>Điều 28</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520"/>
                        </a:lnSpc>
                        <a:defRPr/>
                      </a:pPr>
                      <a:r>
                        <a:rPr lang="en-US" sz="3200">
                          <a:solidFill>
                            <a:srgbClr val="FF0000"/>
                          </a:solidFill>
                          <a:latin typeface="Inter"/>
                          <a:ea typeface="Inter"/>
                          <a:cs typeface="Inter"/>
                          <a:sym typeface="Inter"/>
                        </a:rPr>
                        <a:t>Trang thông tin điện tử </a:t>
                      </a:r>
                      <a:r>
                        <a:rPr lang="en-US" sz="3200">
                          <a:solidFill>
                            <a:srgbClr val="000000"/>
                          </a:solidFill>
                          <a:latin typeface="Inter"/>
                          <a:ea typeface="Inter"/>
                          <a:cs typeface="Inter"/>
                          <a:sym typeface="Inter"/>
                        </a:rPr>
                        <a:t>của cơ quan nhà nước</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4"/>
                  </a:ext>
                </a:extLst>
              </a:tr>
            </a:tbl>
          </a:graphicData>
        </a:graphic>
      </p:graphicFrame>
      <p:sp>
        <p:nvSpPr>
          <p:cNvPr id="19" name="TextBox 19"/>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20" name="Freeform 20"/>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20">
              <a:extLst>
                <a:ext uri="{96DAC541-7B7A-43D3-8B79-37D633B846F1}">
                  <asvg:svgBlip xmlns:asvg="http://schemas.microsoft.com/office/drawing/2016/SVG/main" r:embed="rId21"/>
                </a:ext>
              </a:extLst>
            </a:blip>
            <a:stretch>
              <a:fillRect t="-147" b="-147"/>
            </a:stretch>
          </a:blipFill>
        </p:spPr>
        <p:txBody>
          <a:bodyPr/>
          <a:lstStyle/>
          <a:p>
            <a:endParaRPr lang="en-US"/>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17</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24800" y="-2429"/>
            <a:ext cx="10533316" cy="7315867"/>
          </a:xfrm>
          <a:custGeom>
            <a:avLst/>
            <a:gdLst/>
            <a:ahLst/>
            <a:cxnLst/>
            <a:rect l="l" t="t" r="r" b="b"/>
            <a:pathLst>
              <a:path w="10533316" h="7315867">
                <a:moveTo>
                  <a:pt x="0" y="0"/>
                </a:moveTo>
                <a:lnTo>
                  <a:pt x="10533316" y="0"/>
                </a:lnTo>
                <a:lnTo>
                  <a:pt x="10533316" y="7315867"/>
                </a:lnTo>
                <a:lnTo>
                  <a:pt x="0" y="7315867"/>
                </a:lnTo>
                <a:lnTo>
                  <a:pt x="0" y="0"/>
                </a:lnTo>
                <a:close/>
              </a:path>
            </a:pathLst>
          </a:custGeom>
          <a:blipFill>
            <a:blip r:embed="rId3">
              <a:extLst>
                <a:ext uri="{96DAC541-7B7A-43D3-8B79-37D633B846F1}">
                  <asvg:svgBlip xmlns:asvg="http://schemas.microsoft.com/office/drawing/2016/SVG/main" r:embed="rId4"/>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3">
              <a:extLst>
                <a:ext uri="{96DAC541-7B7A-43D3-8B79-37D633B846F1}">
                  <asvg:svgBlip xmlns:asvg="http://schemas.microsoft.com/office/drawing/2016/SVG/main" r:embed="rId4"/>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5">
              <a:extLst>
                <a:ext uri="{96DAC541-7B7A-43D3-8B79-37D633B846F1}">
                  <asvg:svgBlip xmlns:asvg="http://schemas.microsoft.com/office/drawing/2016/SVG/main" r:embed="rId6"/>
                </a:ext>
              </a:extLst>
            </a:blip>
            <a:stretch>
              <a:fillRect t="-236" b="-236"/>
            </a:stretch>
          </a:blipFill>
        </p:spPr>
        <p:txBody>
          <a:bodyPr/>
          <a:lstStyle/>
          <a:p>
            <a:endParaRPr lang="en-US"/>
          </a:p>
        </p:txBody>
      </p:sp>
      <p:sp>
        <p:nvSpPr>
          <p:cNvPr id="6" name="TextBox 6"/>
          <p:cNvSpPr txBox="1"/>
          <p:nvPr/>
        </p:nvSpPr>
        <p:spPr>
          <a:xfrm>
            <a:off x="1564300" y="1515713"/>
            <a:ext cx="129137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2.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hoạt</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động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của</a:t>
            </a:r>
            <a:r>
              <a:rPr lang="en-US" sz="4000" dirty="0">
                <a:solidFill>
                  <a:srgbClr val="1F497D"/>
                </a:solidFill>
                <a:latin typeface="Paytone One"/>
                <a:ea typeface="Paytone One"/>
                <a:cs typeface="Paytone One"/>
                <a:sym typeface="Paytone One"/>
              </a:rPr>
              <a:t> CQNN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9">
              <a:extLst>
                <a:ext uri="{96DAC541-7B7A-43D3-8B79-37D633B846F1}">
                  <asvg:svgBlip xmlns:asvg="http://schemas.microsoft.com/office/drawing/2016/SVG/main" r:embed="rId10"/>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1">
              <a:extLst>
                <a:ext uri="{96DAC541-7B7A-43D3-8B79-37D633B846F1}">
                  <asvg:svgBlip xmlns:asvg="http://schemas.microsoft.com/office/drawing/2016/SVG/main" r:embed="rId12"/>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3">
              <a:extLst>
                <a:ext uri="{96DAC541-7B7A-43D3-8B79-37D633B846F1}">
                  <asvg:svgBlip xmlns:asvg="http://schemas.microsoft.com/office/drawing/2016/SVG/main" r:embed="rId14"/>
                </a:ext>
              </a:extLst>
            </a:blip>
            <a:stretch>
              <a:fillRect l="-384" r="-382"/>
            </a:stretch>
          </a:blipFill>
        </p:spPr>
        <p:txBody>
          <a:bodyPr/>
          <a:lstStyle/>
          <a:p>
            <a:endParaRPr lang="en-US"/>
          </a:p>
        </p:txBody>
      </p:sp>
      <p:sp>
        <p:nvSpPr>
          <p:cNvPr id="12" name="Freeform 12"/>
          <p:cNvSpPr/>
          <p:nvPr/>
        </p:nvSpPr>
        <p:spPr>
          <a:xfrm>
            <a:off x="4907128"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7">
              <a:extLst>
                <a:ext uri="{96DAC541-7B7A-43D3-8B79-37D633B846F1}">
                  <asvg:svgBlip xmlns:asvg="http://schemas.microsoft.com/office/drawing/2016/SVG/main" r:embed="rId18"/>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9"/>
            <a:stretch>
              <a:fillRect/>
            </a:stretch>
          </a:blipFill>
        </p:spPr>
        <p:txBody>
          <a:bodyPr/>
          <a:lstStyle/>
          <a:p>
            <a:endParaRPr lang="en-US"/>
          </a:p>
        </p:txBody>
      </p:sp>
      <p:sp>
        <p:nvSpPr>
          <p:cNvPr id="18" name="TextBox 18"/>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19" name="TextBox 19"/>
          <p:cNvSpPr txBox="1"/>
          <p:nvPr/>
        </p:nvSpPr>
        <p:spPr>
          <a:xfrm>
            <a:off x="7924800" y="2423470"/>
            <a:ext cx="8475974" cy="4524375"/>
          </a:xfrm>
          <a:prstGeom prst="rect">
            <a:avLst/>
          </a:prstGeom>
        </p:spPr>
        <p:txBody>
          <a:bodyPr lIns="0" tIns="0" rIns="0" bIns="0" rtlCol="0" anchor="t">
            <a:spAutoFit/>
          </a:bodyPr>
          <a:lstStyle/>
          <a:p>
            <a:pPr algn="just">
              <a:lnSpc>
                <a:spcPts val="3840"/>
              </a:lnSpc>
            </a:pPr>
            <a:r>
              <a:rPr lang="en-US" sz="3200" i="1">
                <a:solidFill>
                  <a:srgbClr val="000000"/>
                </a:solidFill>
                <a:latin typeface="Inter Italics"/>
                <a:ea typeface="Inter Italics"/>
                <a:cs typeface="Inter Italics"/>
                <a:sym typeface="Inter Italics"/>
              </a:rPr>
              <a:t>Ví dụ:</a:t>
            </a:r>
          </a:p>
          <a:p>
            <a:pPr algn="just">
              <a:lnSpc>
                <a:spcPts val="3840"/>
              </a:lnSpc>
            </a:pPr>
            <a:r>
              <a:rPr lang="en-US" sz="3200" b="1">
                <a:solidFill>
                  <a:srgbClr val="000000"/>
                </a:solidFill>
                <a:latin typeface="Inter Bold"/>
                <a:ea typeface="Inter Bold"/>
                <a:cs typeface="Inter Bold"/>
                <a:sym typeface="Inter Bold"/>
              </a:rPr>
              <a:t>Ứng dụng VNeID:</a:t>
            </a:r>
            <a:r>
              <a:rPr lang="en-US" sz="3200">
                <a:solidFill>
                  <a:srgbClr val="000000"/>
                </a:solidFill>
                <a:latin typeface="Inter"/>
                <a:ea typeface="Inter"/>
                <a:cs typeface="Inter"/>
                <a:sym typeface="Inter"/>
              </a:rPr>
              <a:t> Tích hợp giấy tờ (CCCD, thẻ BHYT, Giấy phép lái xe…) vào điện thoại, thay thế giấy tờ vật lý.</a:t>
            </a:r>
          </a:p>
          <a:p>
            <a:pPr algn="just">
              <a:lnSpc>
                <a:spcPts val="3840"/>
              </a:lnSpc>
            </a:pPr>
            <a:endParaRPr lang="en-US" sz="3200">
              <a:solidFill>
                <a:srgbClr val="000000"/>
              </a:solidFill>
              <a:latin typeface="Inter"/>
              <a:ea typeface="Inter"/>
              <a:cs typeface="Inter"/>
              <a:sym typeface="Inter"/>
            </a:endParaRPr>
          </a:p>
          <a:p>
            <a:pPr algn="just">
              <a:lnSpc>
                <a:spcPts val="3360"/>
              </a:lnSpc>
            </a:pPr>
            <a:r>
              <a:rPr lang="en-US" sz="2800">
                <a:solidFill>
                  <a:srgbClr val="000000"/>
                </a:solidFill>
                <a:latin typeface="Inter"/>
                <a:ea typeface="Inter"/>
                <a:cs typeface="Inter"/>
                <a:sym typeface="Inter"/>
              </a:rPr>
              <a:t>Việt Nam Chính thức trở thành nước có định danh điện tử quốc gia (18/7/2022)</a:t>
            </a:r>
          </a:p>
          <a:p>
            <a:pPr algn="just">
              <a:lnSpc>
                <a:spcPts val="3360"/>
              </a:lnSpc>
            </a:pPr>
            <a:r>
              <a:rPr lang="en-US" sz="2800" u="sng">
                <a:solidFill>
                  <a:srgbClr val="0000FF"/>
                </a:solidFill>
                <a:latin typeface="Inter"/>
                <a:ea typeface="Inter"/>
                <a:cs typeface="Inter"/>
                <a:sym typeface="Inter"/>
                <a:hlinkClick r:id="rId20" tooltip="https://nhandan.vn/viet-nam-chinh-thuc-tro-thanh-nuoc-co-dinh-danh-dien-tu-quoc-gia-post710849.html"/>
              </a:rPr>
              <a:t>https://nhandan.vn/viet-nam-chinh-thuc-tro-thanh-nuoc-co-dinh-danh-dien-tu-quoc-gia-post710849.html</a:t>
            </a:r>
            <a:r>
              <a:rPr lang="en-US" sz="2800">
                <a:solidFill>
                  <a:srgbClr val="000000"/>
                </a:solidFill>
                <a:latin typeface="Inter"/>
                <a:ea typeface="Inter"/>
                <a:cs typeface="Inter"/>
                <a:sym typeface="Inter"/>
              </a:rPr>
              <a:t> </a:t>
            </a:r>
          </a:p>
        </p:txBody>
      </p:sp>
      <p:sp>
        <p:nvSpPr>
          <p:cNvPr id="20" name="Freeform 20"/>
          <p:cNvSpPr/>
          <p:nvPr/>
        </p:nvSpPr>
        <p:spPr>
          <a:xfrm>
            <a:off x="1545126" y="2204171"/>
            <a:ext cx="5421544" cy="8128549"/>
          </a:xfrm>
          <a:custGeom>
            <a:avLst/>
            <a:gdLst/>
            <a:ahLst/>
            <a:cxnLst/>
            <a:rect l="l" t="t" r="r" b="b"/>
            <a:pathLst>
              <a:path w="5421544" h="8128549">
                <a:moveTo>
                  <a:pt x="0" y="0"/>
                </a:moveTo>
                <a:lnTo>
                  <a:pt x="5421545" y="0"/>
                </a:lnTo>
                <a:lnTo>
                  <a:pt x="5421545" y="8128549"/>
                </a:lnTo>
                <a:lnTo>
                  <a:pt x="0" y="8128549"/>
                </a:lnTo>
                <a:lnTo>
                  <a:pt x="0" y="0"/>
                </a:lnTo>
                <a:close/>
              </a:path>
            </a:pathLst>
          </a:custGeom>
          <a:blipFill>
            <a:blip r:embed="rId21"/>
            <a:stretch>
              <a:fillRect r="-2"/>
            </a:stretch>
          </a:blipFill>
        </p:spPr>
        <p:txBody>
          <a:bodyPr/>
          <a:lstStyle/>
          <a:p>
            <a:endParaRPr lang="en-US"/>
          </a:p>
        </p:txBody>
      </p:sp>
      <p:sp>
        <p:nvSpPr>
          <p:cNvPr id="21" name="TextBox 21"/>
          <p:cNvSpPr txBox="1"/>
          <p:nvPr/>
        </p:nvSpPr>
        <p:spPr>
          <a:xfrm>
            <a:off x="7941412" y="7663863"/>
            <a:ext cx="8737959" cy="1676400"/>
          </a:xfrm>
          <a:prstGeom prst="rect">
            <a:avLst/>
          </a:prstGeom>
        </p:spPr>
        <p:txBody>
          <a:bodyPr lIns="0" tIns="0" rIns="0" bIns="0" rtlCol="0" anchor="t">
            <a:spAutoFit/>
          </a:bodyPr>
          <a:lstStyle/>
          <a:p>
            <a:pPr algn="just">
              <a:lnSpc>
                <a:spcPts val="3359"/>
              </a:lnSpc>
            </a:pPr>
            <a:r>
              <a:rPr lang="en-US" sz="2799" b="1" i="1">
                <a:solidFill>
                  <a:srgbClr val="000000"/>
                </a:solidFill>
                <a:latin typeface="Inter Bold Italics"/>
                <a:ea typeface="Inter Bold Italics"/>
                <a:cs typeface="Inter Bold Italics"/>
                <a:sym typeface="Inter Bold Italics"/>
              </a:rPr>
              <a:t>Một số ví dụ khác:</a:t>
            </a:r>
          </a:p>
          <a:p>
            <a:pPr marL="337820" lvl="1" indent="-168910" algn="just">
              <a:lnSpc>
                <a:spcPts val="3359"/>
              </a:lnSpc>
              <a:buFont typeface="Arial"/>
              <a:buChar char="•"/>
            </a:pPr>
            <a:r>
              <a:rPr lang="en-US" sz="2799">
                <a:solidFill>
                  <a:srgbClr val="000000"/>
                </a:solidFill>
                <a:latin typeface="Inter"/>
                <a:ea typeface="Inter"/>
                <a:cs typeface="Inter"/>
                <a:sym typeface="Inter"/>
              </a:rPr>
              <a:t>Cổng Dịch vụ công Quốc gia (dichvucong.gov.vn)</a:t>
            </a:r>
          </a:p>
          <a:p>
            <a:pPr marL="337820" lvl="1" indent="-168910" algn="just">
              <a:lnSpc>
                <a:spcPts val="3359"/>
              </a:lnSpc>
              <a:buFont typeface="Arial"/>
              <a:buChar char="•"/>
            </a:pPr>
            <a:r>
              <a:rPr lang="en-US" sz="2799">
                <a:solidFill>
                  <a:srgbClr val="000000"/>
                </a:solidFill>
                <a:latin typeface="Inter"/>
                <a:ea typeface="Inter"/>
                <a:cs typeface="Inter"/>
                <a:sym typeface="Inter"/>
              </a:rPr>
              <a:t>Hệ thống Thuế điện tử (eTax Mobile)</a:t>
            </a:r>
          </a:p>
          <a:p>
            <a:pPr marL="337820" lvl="1" indent="-168910" algn="just">
              <a:lnSpc>
                <a:spcPts val="3359"/>
              </a:lnSpc>
              <a:buFont typeface="Arial"/>
              <a:buChar char="•"/>
            </a:pPr>
            <a:r>
              <a:rPr lang="en-US" sz="2799">
                <a:solidFill>
                  <a:srgbClr val="000000"/>
                </a:solidFill>
                <a:latin typeface="Inter"/>
                <a:ea typeface="Inter"/>
                <a:cs typeface="Inter"/>
                <a:sym typeface="Inter"/>
              </a:rPr>
              <a:t>Hộ chiếu gắn chip…</a:t>
            </a:r>
          </a:p>
        </p:txBody>
      </p:sp>
      <p:sp>
        <p:nvSpPr>
          <p:cNvPr id="22" name="TextBox 2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18</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0769004"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3.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thương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mại</a:t>
            </a:r>
            <a:endParaRPr lang="en-US" sz="4000" dirty="0">
              <a:solidFill>
                <a:srgbClr val="1F497D"/>
              </a:solidFill>
              <a:latin typeface="Paytone One"/>
              <a:ea typeface="Paytone One"/>
              <a:cs typeface="Paytone One"/>
              <a:sym typeface="Paytone One"/>
            </a:endParaRP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6">
              <a:extLst>
                <a:ext uri="{96DAC541-7B7A-43D3-8B79-37D633B846F1}">
                  <asvg:svgBlip xmlns:asvg="http://schemas.microsoft.com/office/drawing/2016/SVG/main" r:embed="rId17"/>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22H1120002 - Huỳnh Nguyễn Quốc Bảo</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8"/>
            <a:stretch>
              <a:fillRect/>
            </a:stretch>
          </a:blipFill>
        </p:spPr>
        <p:txBody>
          <a:bodyPr/>
          <a:lstStyle/>
          <a:p>
            <a:endParaRPr lang="en-US"/>
          </a:p>
        </p:txBody>
      </p:sp>
      <p:graphicFrame>
        <p:nvGraphicFramePr>
          <p:cNvPr id="18" name="Table 18"/>
          <p:cNvGraphicFramePr>
            <a:graphicFrameLocks noGrp="1"/>
          </p:cNvGraphicFramePr>
          <p:nvPr/>
        </p:nvGraphicFramePr>
        <p:xfrm>
          <a:off x="881648" y="3438887"/>
          <a:ext cx="16723701" cy="4400550"/>
        </p:xfrm>
        <a:graphic>
          <a:graphicData uri="http://schemas.openxmlformats.org/drawingml/2006/table">
            <a:tbl>
              <a:tblPr/>
              <a:tblGrid>
                <a:gridCol w="1845875">
                  <a:extLst>
                    <a:ext uri="{9D8B030D-6E8A-4147-A177-3AD203B41FA5}">
                      <a16:colId xmlns:a16="http://schemas.microsoft.com/office/drawing/2014/main" val="20000"/>
                    </a:ext>
                  </a:extLst>
                </a:gridCol>
                <a:gridCol w="14877826">
                  <a:extLst>
                    <a:ext uri="{9D8B030D-6E8A-4147-A177-3AD203B41FA5}">
                      <a16:colId xmlns:a16="http://schemas.microsoft.com/office/drawing/2014/main" val="20001"/>
                    </a:ext>
                  </a:extLst>
                </a:gridCol>
              </a:tblGrid>
              <a:tr h="880110">
                <a:tc>
                  <a:txBody>
                    <a:bodyPr/>
                    <a:lstStyle/>
                    <a:p>
                      <a:pPr algn="l">
                        <a:lnSpc>
                          <a:spcPts val="3776"/>
                        </a:lnSpc>
                        <a:defRPr/>
                      </a:pPr>
                      <a:r>
                        <a:rPr lang="en-US" sz="3200" b="1" i="1">
                          <a:solidFill>
                            <a:srgbClr val="000000"/>
                          </a:solidFill>
                          <a:latin typeface="Inter Bold Italics"/>
                          <a:ea typeface="Inter Bold Italics"/>
                          <a:cs typeface="Inter Bold Italics"/>
                          <a:sym typeface="Inter Bold Italics"/>
                        </a:rPr>
                        <a:t>Điều 29</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776"/>
                        </a:lnSpc>
                        <a:defRPr/>
                      </a:pPr>
                      <a:r>
                        <a:rPr lang="en-US" sz="3200">
                          <a:solidFill>
                            <a:srgbClr val="FF0000"/>
                          </a:solidFill>
                          <a:latin typeface="Inter"/>
                          <a:ea typeface="Inter"/>
                          <a:cs typeface="Inter"/>
                          <a:sym typeface="Inter"/>
                        </a:rPr>
                        <a:t>Nguyên tắc</a:t>
                      </a:r>
                      <a:r>
                        <a:rPr lang="en-US" sz="3200">
                          <a:solidFill>
                            <a:srgbClr val="000000"/>
                          </a:solidFill>
                          <a:latin typeface="Inter"/>
                          <a:ea typeface="Inter"/>
                          <a:cs typeface="Inter"/>
                          <a:sym typeface="Inter"/>
                        </a:rPr>
                        <a:t> ứng dụng công nghệ thông tin trong thương mại</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880110">
                <a:tc>
                  <a:txBody>
                    <a:bodyPr/>
                    <a:lstStyle/>
                    <a:p>
                      <a:pPr algn="l">
                        <a:lnSpc>
                          <a:spcPts val="3776"/>
                        </a:lnSpc>
                        <a:defRPr/>
                      </a:pPr>
                      <a:r>
                        <a:rPr lang="en-US" sz="3200" b="1" i="1">
                          <a:solidFill>
                            <a:srgbClr val="000000"/>
                          </a:solidFill>
                          <a:latin typeface="Inter Bold Italics"/>
                          <a:ea typeface="Inter Bold Italics"/>
                          <a:cs typeface="Inter Bold Italics"/>
                          <a:sym typeface="Inter Bold Italics"/>
                        </a:rPr>
                        <a:t>Điều 30</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776"/>
                        </a:lnSpc>
                        <a:defRPr/>
                      </a:pPr>
                      <a:r>
                        <a:rPr lang="en-US" sz="3200">
                          <a:solidFill>
                            <a:srgbClr val="000000"/>
                          </a:solidFill>
                          <a:latin typeface="Inter"/>
                          <a:ea typeface="Inter"/>
                          <a:cs typeface="Inter"/>
                          <a:sym typeface="Inter"/>
                        </a:rPr>
                        <a:t>Trang thông tin điện tử </a:t>
                      </a:r>
                      <a:r>
                        <a:rPr lang="en-US" sz="3200">
                          <a:solidFill>
                            <a:srgbClr val="FF0000"/>
                          </a:solidFill>
                          <a:latin typeface="Inter"/>
                          <a:ea typeface="Inter"/>
                          <a:cs typeface="Inter"/>
                          <a:sym typeface="Inter"/>
                        </a:rPr>
                        <a:t>bán hàng</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r h="880110">
                <a:tc>
                  <a:txBody>
                    <a:bodyPr/>
                    <a:lstStyle/>
                    <a:p>
                      <a:pPr algn="l">
                        <a:lnSpc>
                          <a:spcPts val="3776"/>
                        </a:lnSpc>
                        <a:defRPr/>
                      </a:pPr>
                      <a:r>
                        <a:rPr lang="en-US" sz="3200" b="1" i="1">
                          <a:solidFill>
                            <a:srgbClr val="000000"/>
                          </a:solidFill>
                          <a:latin typeface="Inter Bold Italics"/>
                          <a:ea typeface="Inter Bold Italics"/>
                          <a:cs typeface="Inter Bold Italics"/>
                          <a:sym typeface="Inter Bold Italics"/>
                        </a:rPr>
                        <a:t>Điều 31</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776"/>
                        </a:lnSpc>
                        <a:defRPr/>
                      </a:pPr>
                      <a:r>
                        <a:rPr lang="en-US" sz="3200">
                          <a:solidFill>
                            <a:srgbClr val="000000"/>
                          </a:solidFill>
                          <a:latin typeface="Inter"/>
                          <a:ea typeface="Inter"/>
                          <a:cs typeface="Inter"/>
                          <a:sym typeface="Inter"/>
                        </a:rPr>
                        <a:t>Cung cấp thông tin cho việc </a:t>
                      </a:r>
                      <a:r>
                        <a:rPr lang="en-US" sz="3200">
                          <a:solidFill>
                            <a:srgbClr val="FF0000"/>
                          </a:solidFill>
                          <a:latin typeface="Inter"/>
                          <a:ea typeface="Inter"/>
                          <a:cs typeface="Inter"/>
                          <a:sym typeface="Inter"/>
                        </a:rPr>
                        <a:t>giao kết hợp đồng</a:t>
                      </a:r>
                      <a:r>
                        <a:rPr lang="en-US" sz="3200">
                          <a:solidFill>
                            <a:srgbClr val="000000"/>
                          </a:solidFill>
                          <a:latin typeface="Inter"/>
                          <a:ea typeface="Inter"/>
                          <a:cs typeface="Inter"/>
                          <a:sym typeface="Inter"/>
                        </a:rPr>
                        <a:t> trên môi trường mạng</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2"/>
                  </a:ext>
                </a:extLst>
              </a:tr>
              <a:tr h="880110">
                <a:tc>
                  <a:txBody>
                    <a:bodyPr/>
                    <a:lstStyle/>
                    <a:p>
                      <a:pPr algn="l">
                        <a:lnSpc>
                          <a:spcPts val="3776"/>
                        </a:lnSpc>
                        <a:defRPr/>
                      </a:pPr>
                      <a:r>
                        <a:rPr lang="en-US" sz="3200" b="1" i="1">
                          <a:solidFill>
                            <a:srgbClr val="000000"/>
                          </a:solidFill>
                          <a:latin typeface="Inter Bold Italics"/>
                          <a:ea typeface="Inter Bold Italics"/>
                          <a:cs typeface="Inter Bold Italics"/>
                          <a:sym typeface="Inter Bold Italics"/>
                        </a:rPr>
                        <a:t>Điều 32</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776"/>
                        </a:lnSpc>
                        <a:defRPr/>
                      </a:pPr>
                      <a:r>
                        <a:rPr lang="en-US" sz="3200">
                          <a:solidFill>
                            <a:srgbClr val="FF0000"/>
                          </a:solidFill>
                          <a:latin typeface="Inter"/>
                          <a:ea typeface="Inter"/>
                          <a:cs typeface="Inter"/>
                          <a:sym typeface="Inter"/>
                        </a:rPr>
                        <a:t>Giải quyết hậu quả do lỗi nhập sai thông tin</a:t>
                      </a:r>
                      <a:r>
                        <a:rPr lang="en-US" sz="3200">
                          <a:solidFill>
                            <a:srgbClr val="000000"/>
                          </a:solidFill>
                          <a:latin typeface="Inter"/>
                          <a:ea typeface="Inter"/>
                          <a:cs typeface="Inter"/>
                          <a:sym typeface="Inter"/>
                        </a:rPr>
                        <a:t> thương mại trên môi trường mạng</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3"/>
                  </a:ext>
                </a:extLst>
              </a:tr>
              <a:tr h="880110">
                <a:tc>
                  <a:txBody>
                    <a:bodyPr/>
                    <a:lstStyle/>
                    <a:p>
                      <a:pPr algn="l">
                        <a:lnSpc>
                          <a:spcPts val="3776"/>
                        </a:lnSpc>
                        <a:defRPr/>
                      </a:pPr>
                      <a:r>
                        <a:rPr lang="en-US" sz="3200" b="1" i="1">
                          <a:solidFill>
                            <a:srgbClr val="000000"/>
                          </a:solidFill>
                          <a:latin typeface="Inter Bold Italics"/>
                          <a:ea typeface="Inter Bold Italics"/>
                          <a:cs typeface="Inter Bold Italics"/>
                          <a:sym typeface="Inter Bold Italics"/>
                        </a:rPr>
                        <a:t>Điều 33</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3776"/>
                        </a:lnSpc>
                        <a:defRPr/>
                      </a:pPr>
                      <a:r>
                        <a:rPr lang="en-US" sz="3200">
                          <a:solidFill>
                            <a:srgbClr val="FF0000"/>
                          </a:solidFill>
                          <a:latin typeface="Inter"/>
                          <a:ea typeface="Inter"/>
                          <a:cs typeface="Inter"/>
                          <a:sym typeface="Inter"/>
                        </a:rPr>
                        <a:t>Thanh toán </a:t>
                      </a:r>
                      <a:r>
                        <a:rPr lang="en-US" sz="3200">
                          <a:solidFill>
                            <a:srgbClr val="000000"/>
                          </a:solidFill>
                          <a:latin typeface="Inter"/>
                          <a:ea typeface="Inter"/>
                          <a:cs typeface="Inter"/>
                          <a:sym typeface="Inter"/>
                        </a:rPr>
                        <a:t>trên môi trường mạng</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4"/>
                  </a:ext>
                </a:extLst>
              </a:tr>
            </a:tbl>
          </a:graphicData>
        </a:graphic>
      </p:graphicFrame>
      <p:sp>
        <p:nvSpPr>
          <p:cNvPr id="19" name="TextBox 19"/>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20" name="Freeform 20"/>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9">
              <a:extLst>
                <a:ext uri="{96DAC541-7B7A-43D3-8B79-37D633B846F1}">
                  <asvg:svgBlip xmlns:asvg="http://schemas.microsoft.com/office/drawing/2016/SVG/main" r:embed="rId20"/>
                </a:ext>
              </a:extLst>
            </a:blip>
            <a:stretch>
              <a:fillRect t="-147" b="-147"/>
            </a:stretch>
          </a:blipFill>
        </p:spPr>
        <p:txBody>
          <a:bodyPr/>
          <a:lstStyle/>
          <a:p>
            <a:endParaRPr lang="en-US"/>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19</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13897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3.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thương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mại</a:t>
            </a:r>
            <a:endParaRPr lang="en-US" sz="4000" dirty="0">
              <a:solidFill>
                <a:srgbClr val="1F497D"/>
              </a:solidFill>
              <a:latin typeface="Paytone One"/>
              <a:ea typeface="Paytone One"/>
              <a:cs typeface="Paytone One"/>
              <a:sym typeface="Paytone One"/>
            </a:endParaRP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6">
              <a:extLst>
                <a:ext uri="{96DAC541-7B7A-43D3-8B79-37D633B846F1}">
                  <asvg:svgBlip xmlns:asvg="http://schemas.microsoft.com/office/drawing/2016/SVG/main" r:embed="rId17"/>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8"/>
            <a:stretch>
              <a:fillRect/>
            </a:stretch>
          </a:blipFill>
        </p:spPr>
        <p:txBody>
          <a:bodyPr/>
          <a:lstStyle/>
          <a:p>
            <a:endParaRPr lang="en-US"/>
          </a:p>
        </p:txBody>
      </p:sp>
      <p:sp>
        <p:nvSpPr>
          <p:cNvPr id="18" name="TextBox 18"/>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19" name="Freeform 19"/>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9">
              <a:extLst>
                <a:ext uri="{96DAC541-7B7A-43D3-8B79-37D633B846F1}">
                  <asvg:svgBlip xmlns:asvg="http://schemas.microsoft.com/office/drawing/2016/SVG/main" r:embed="rId20"/>
                </a:ext>
              </a:extLst>
            </a:blip>
            <a:stretch>
              <a:fillRect t="-147" b="-147"/>
            </a:stretch>
          </a:blipFill>
        </p:spPr>
        <p:txBody>
          <a:bodyPr/>
          <a:lstStyle/>
          <a:p>
            <a:endParaRPr lang="en-US"/>
          </a:p>
        </p:txBody>
      </p:sp>
      <p:sp>
        <p:nvSpPr>
          <p:cNvPr id="20" name="TextBox 20"/>
          <p:cNvSpPr txBox="1"/>
          <p:nvPr/>
        </p:nvSpPr>
        <p:spPr>
          <a:xfrm>
            <a:off x="1564300" y="2375845"/>
            <a:ext cx="10580365" cy="5871464"/>
          </a:xfrm>
          <a:prstGeom prst="rect">
            <a:avLst/>
          </a:prstGeom>
        </p:spPr>
        <p:txBody>
          <a:bodyPr lIns="0" tIns="0" rIns="0" bIns="0" rtlCol="0" anchor="t">
            <a:spAutoFit/>
          </a:bodyPr>
          <a:lstStyle/>
          <a:p>
            <a:pPr algn="just">
              <a:lnSpc>
                <a:spcPts val="4109"/>
              </a:lnSpc>
            </a:pPr>
            <a:r>
              <a:rPr lang="en-US" sz="2999" b="1">
                <a:solidFill>
                  <a:srgbClr val="1A1C1E"/>
                </a:solidFill>
                <a:latin typeface="Inter Bold"/>
                <a:ea typeface="Inter Bold"/>
                <a:cs typeface="Inter Bold"/>
                <a:sym typeface="Inter Bold"/>
              </a:rPr>
              <a:t>Điều 30: </a:t>
            </a:r>
            <a:r>
              <a:rPr lang="en-US" sz="2999" b="1">
                <a:solidFill>
                  <a:srgbClr val="000000"/>
                </a:solidFill>
                <a:latin typeface="Inter Bold"/>
                <a:ea typeface="Inter Bold"/>
                <a:cs typeface="Inter Bold"/>
                <a:sym typeface="Inter Bold"/>
              </a:rPr>
              <a:t>Trang thông tin điện tử bán hàng</a:t>
            </a:r>
          </a:p>
          <a:p>
            <a:pPr algn="just">
              <a:lnSpc>
                <a:spcPts val="3835"/>
              </a:lnSpc>
            </a:pPr>
            <a:r>
              <a:rPr lang="en-US" sz="2799" i="1">
                <a:solidFill>
                  <a:srgbClr val="000000"/>
                </a:solidFill>
                <a:latin typeface="Inter Italics"/>
                <a:ea typeface="Inter Italics"/>
                <a:cs typeface="Inter Italics"/>
                <a:sym typeface="Inter Italics"/>
              </a:rPr>
              <a:t>Ví dụ:</a:t>
            </a:r>
            <a:r>
              <a:rPr lang="en-US" sz="2799">
                <a:solidFill>
                  <a:srgbClr val="000000"/>
                </a:solidFill>
                <a:latin typeface="Inter"/>
                <a:ea typeface="Inter"/>
                <a:cs typeface="Inter"/>
                <a:sym typeface="Inter"/>
              </a:rPr>
              <a:t> Mua iPhone nhận cục gạch nhưng không cho kiểm hàng: Vậy hoài sao chịu nổi? (21/12/2020)</a:t>
            </a:r>
          </a:p>
          <a:p>
            <a:pPr algn="just">
              <a:lnSpc>
                <a:spcPts val="3288"/>
              </a:lnSpc>
            </a:pPr>
            <a:r>
              <a:rPr lang="en-US" sz="2400" u="sng">
                <a:solidFill>
                  <a:srgbClr val="0000FF"/>
                </a:solidFill>
                <a:latin typeface="Inter"/>
                <a:ea typeface="Inter"/>
                <a:cs typeface="Inter"/>
                <a:sym typeface="Inter"/>
                <a:hlinkClick r:id="rId21" tooltip="https://tuoitre.vn/mua-iphone-nhan-cuc-gach-nhung-khong-cho-kiem-hang-vay-hoai-sao-chiu-noi-20201220204723082.htm"/>
              </a:rPr>
              <a:t>https://tuoitre.vn/mua-iphone-nhan-cuc-gach-nhung-khong-cho-kiem-hang-vay-hoai-sao-chiu-noi-20201220204723082.htm</a:t>
            </a:r>
            <a:r>
              <a:rPr lang="en-US" sz="2400">
                <a:solidFill>
                  <a:srgbClr val="000000"/>
                </a:solidFill>
                <a:latin typeface="Inter"/>
                <a:ea typeface="Inter"/>
                <a:cs typeface="Inter"/>
                <a:sym typeface="Inter"/>
              </a:rPr>
              <a:t> </a:t>
            </a:r>
          </a:p>
          <a:p>
            <a:pPr marL="947318" lvl="2" indent="-315773" algn="just">
              <a:lnSpc>
                <a:spcPts val="3835"/>
              </a:lnSpc>
              <a:buFont typeface="Arial"/>
              <a:buChar char="⚬"/>
            </a:pPr>
            <a:r>
              <a:rPr lang="en-US" sz="2799" b="1">
                <a:solidFill>
                  <a:srgbClr val="000000"/>
                </a:solidFill>
                <a:latin typeface="Inter Bold"/>
                <a:ea typeface="Inter Bold"/>
                <a:cs typeface="Inter Bold"/>
                <a:sym typeface="Inter Bold"/>
              </a:rPr>
              <a:t>Vi phạm Khoản 2, Điểm a:</a:t>
            </a:r>
            <a:r>
              <a:rPr lang="en-US" sz="2799">
                <a:solidFill>
                  <a:srgbClr val="000000"/>
                </a:solidFill>
                <a:latin typeface="Inter"/>
                <a:ea typeface="Inter"/>
                <a:cs typeface="Inter"/>
                <a:sym typeface="Inter"/>
              </a:rPr>
              <a:t> </a:t>
            </a:r>
            <a:r>
              <a:rPr lang="en-US" sz="2799" i="1">
                <a:solidFill>
                  <a:srgbClr val="000000"/>
                </a:solidFill>
                <a:latin typeface="Inter Italics"/>
                <a:ea typeface="Inter Italics"/>
                <a:cs typeface="Inter Italics"/>
                <a:sym typeface="Inter Italics"/>
              </a:rPr>
              <a:t>Cung cấp đầy đủ, chính xác thông tin về hàng hóa, dịch vụ, điều kiện giao dịch, thủ tục giải quyết tranh chấp và bồi thường thiệt hại;</a:t>
            </a:r>
          </a:p>
          <a:p>
            <a:pPr marL="1554485" lvl="3" indent="-388621" algn="just">
              <a:lnSpc>
                <a:spcPts val="3288"/>
              </a:lnSpc>
              <a:buFont typeface="Arial"/>
              <a:buChar char="￭"/>
            </a:pPr>
            <a:r>
              <a:rPr lang="en-US" sz="2400" i="1">
                <a:solidFill>
                  <a:srgbClr val="984807"/>
                </a:solidFill>
                <a:latin typeface="Inter Italics"/>
                <a:ea typeface="Inter Italics"/>
                <a:cs typeface="Inter Italics"/>
                <a:sym typeface="Inter Italics"/>
              </a:rPr>
              <a:t>Thông tin bán iPhone nhưng giao hàng không đúng.</a:t>
            </a:r>
          </a:p>
          <a:p>
            <a:pPr marL="1554485" lvl="3" indent="-388621" algn="just">
              <a:lnSpc>
                <a:spcPts val="3288"/>
              </a:lnSpc>
              <a:buFont typeface="Arial"/>
              <a:buChar char="￭"/>
            </a:pPr>
            <a:r>
              <a:rPr lang="en-US" sz="2400" i="1">
                <a:solidFill>
                  <a:srgbClr val="984807"/>
                </a:solidFill>
                <a:latin typeface="Inter Italics"/>
                <a:ea typeface="Inter Italics"/>
                <a:cs typeface="Inter Italics"/>
                <a:sym typeface="Inter Italics"/>
              </a:rPr>
              <a:t>Không minh bạch ĐK giao dịch (không cho kiểm hàng).</a:t>
            </a:r>
          </a:p>
          <a:p>
            <a:pPr marL="1554485" lvl="3" indent="-388621" algn="just">
              <a:lnSpc>
                <a:spcPts val="3288"/>
              </a:lnSpc>
              <a:buFont typeface="Arial"/>
              <a:buChar char="￭"/>
            </a:pPr>
            <a:r>
              <a:rPr lang="en-US" sz="2400" i="1">
                <a:solidFill>
                  <a:srgbClr val="984807"/>
                </a:solidFill>
                <a:latin typeface="Inter Italics"/>
                <a:ea typeface="Inter Italics"/>
                <a:cs typeface="Inter Italics"/>
                <a:sym typeface="Inter Italics"/>
              </a:rPr>
              <a:t>Khi phát sinh tranh chấp, từ chối hỗ trợ ⟶ Thủ tục giải quyết tranh chấp và bồi thường không được bảo đảm.</a:t>
            </a:r>
          </a:p>
          <a:p>
            <a:pPr algn="just">
              <a:lnSpc>
                <a:spcPts val="3835"/>
              </a:lnSpc>
            </a:pPr>
            <a:endParaRPr lang="en-US" sz="2400" i="1">
              <a:solidFill>
                <a:srgbClr val="984807"/>
              </a:solidFill>
              <a:latin typeface="Inter Italics"/>
              <a:ea typeface="Inter Italics"/>
              <a:cs typeface="Inter Italics"/>
              <a:sym typeface="Inter Italics"/>
            </a:endParaRPr>
          </a:p>
        </p:txBody>
      </p:sp>
      <p:sp>
        <p:nvSpPr>
          <p:cNvPr id="21" name="Freeform 21" descr="Mua iPhone nhận cục gạch nhưng không cho kiểm hàng: Vậy hoài sao chịu nổi?  - Ảnh 1.">
            <a:hlinkClick r:id="rId22" tooltip="https://cdn2.tuoitre.vn/2020/12/20/mua-hang-online-16084719975101456021251.jpg"/>
          </p:cNvPr>
          <p:cNvSpPr/>
          <p:nvPr/>
        </p:nvSpPr>
        <p:spPr>
          <a:xfrm>
            <a:off x="12450001" y="3724056"/>
            <a:ext cx="5099811" cy="3185203"/>
          </a:xfrm>
          <a:custGeom>
            <a:avLst/>
            <a:gdLst/>
            <a:ahLst/>
            <a:cxnLst/>
            <a:rect l="l" t="t" r="r" b="b"/>
            <a:pathLst>
              <a:path w="5099811" h="3185203">
                <a:moveTo>
                  <a:pt x="0" y="0"/>
                </a:moveTo>
                <a:lnTo>
                  <a:pt x="5099811" y="0"/>
                </a:lnTo>
                <a:lnTo>
                  <a:pt x="5099811" y="3185203"/>
                </a:lnTo>
                <a:lnTo>
                  <a:pt x="0" y="3185203"/>
                </a:lnTo>
                <a:lnTo>
                  <a:pt x="0" y="0"/>
                </a:lnTo>
                <a:close/>
              </a:path>
            </a:pathLst>
          </a:custGeom>
          <a:blipFill>
            <a:blip r:embed="rId23"/>
            <a:stretch>
              <a:fillRect b="-13"/>
            </a:stretch>
          </a:blipFill>
        </p:spPr>
        <p:txBody>
          <a:bodyPr/>
          <a:lstStyle/>
          <a:p>
            <a:endParaRPr lang="en-US"/>
          </a:p>
        </p:txBody>
      </p:sp>
      <p:sp>
        <p:nvSpPr>
          <p:cNvPr id="22" name="TextBox 22"/>
          <p:cNvSpPr txBox="1"/>
          <p:nvPr/>
        </p:nvSpPr>
        <p:spPr>
          <a:xfrm>
            <a:off x="1564300" y="7915389"/>
            <a:ext cx="16054197" cy="1819910"/>
          </a:xfrm>
          <a:prstGeom prst="rect">
            <a:avLst/>
          </a:prstGeom>
        </p:spPr>
        <p:txBody>
          <a:bodyPr lIns="0" tIns="0" rIns="0" bIns="0" rtlCol="0" anchor="t">
            <a:spAutoFit/>
          </a:bodyPr>
          <a:lstStyle/>
          <a:p>
            <a:pPr marL="947312" lvl="2" indent="-315771" algn="just">
              <a:lnSpc>
                <a:spcPts val="3919"/>
              </a:lnSpc>
              <a:buFont typeface="Arial"/>
              <a:buChar char="⚬"/>
            </a:pPr>
            <a:r>
              <a:rPr lang="en-US" sz="2799" b="1">
                <a:solidFill>
                  <a:srgbClr val="000000"/>
                </a:solidFill>
                <a:latin typeface="Inter Bold"/>
                <a:ea typeface="Inter Bold"/>
                <a:cs typeface="Inter Bold"/>
                <a:sym typeface="Inter Bold"/>
              </a:rPr>
              <a:t>Vi phạm Khoản 3: </a:t>
            </a:r>
            <a:r>
              <a:rPr lang="en-US" sz="2799" i="1">
                <a:solidFill>
                  <a:srgbClr val="000000"/>
                </a:solidFill>
                <a:latin typeface="Inter Italics"/>
                <a:ea typeface="Inter Italics"/>
                <a:cs typeface="Inter Italics"/>
                <a:sym typeface="Inter Italics"/>
              </a:rPr>
              <a:t>Tổ chức, cá nhân sở hữu trang thông tin điện tử bán hàng chịu trách nhiệm về nội dung thông tin cung cấp trên trang thông tin điện tử, ...</a:t>
            </a:r>
          </a:p>
          <a:p>
            <a:pPr marL="1554480" lvl="3" indent="-388620" algn="just">
              <a:lnSpc>
                <a:spcPts val="3359"/>
              </a:lnSpc>
              <a:buFont typeface="Arial"/>
              <a:buChar char="￭"/>
            </a:pPr>
            <a:r>
              <a:rPr lang="en-US" sz="2400" i="1">
                <a:solidFill>
                  <a:srgbClr val="AE422C"/>
                </a:solidFill>
                <a:latin typeface="Inter Italics"/>
                <a:ea typeface="Inter Italics"/>
                <a:cs typeface="Inter Italics"/>
                <a:sym typeface="Inter Italics"/>
              </a:rPr>
              <a:t>Trang/sàn để tồn tại nội dung bán hàng sai sự thật.</a:t>
            </a:r>
          </a:p>
          <a:p>
            <a:pPr marL="1554480" lvl="3" indent="-388620" algn="just">
              <a:lnSpc>
                <a:spcPts val="3359"/>
              </a:lnSpc>
              <a:buFont typeface="Arial"/>
              <a:buChar char="￭"/>
            </a:pPr>
            <a:r>
              <a:rPr lang="en-US" sz="2400" i="1">
                <a:solidFill>
                  <a:srgbClr val="AE422C"/>
                </a:solidFill>
                <a:latin typeface="Inter Italics"/>
                <a:ea typeface="Inter Italics"/>
                <a:cs typeface="Inter Italics"/>
                <a:sym typeface="Inter Italics"/>
              </a:rPr>
              <a:t>Khi phát sinh hậu quả, từ chối trách nhiệm hỗ trợ người tiêu dùng.</a:t>
            </a:r>
          </a:p>
        </p:txBody>
      </p:sp>
      <p:sp>
        <p:nvSpPr>
          <p:cNvPr id="23" name="TextBox 2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20</a:t>
            </a:r>
          </a:p>
        </p:txBody>
      </p:sp>
      <p:sp>
        <p:nvSpPr>
          <p:cNvPr id="24" name="TextBox 24"/>
          <p:cNvSpPr txBox="1"/>
          <p:nvPr/>
        </p:nvSpPr>
        <p:spPr>
          <a:xfrm>
            <a:off x="12144666" y="3363047"/>
            <a:ext cx="6018233" cy="266779"/>
          </a:xfrm>
          <a:prstGeom prst="rect">
            <a:avLst/>
          </a:prstGeom>
        </p:spPr>
        <p:txBody>
          <a:bodyPr lIns="0" tIns="0" rIns="0" bIns="0" rtlCol="0" anchor="t">
            <a:spAutoFit/>
          </a:bodyPr>
          <a:lstStyle/>
          <a:p>
            <a:pPr algn="ctr">
              <a:lnSpc>
                <a:spcPts val="2099"/>
              </a:lnSpc>
              <a:spcBef>
                <a:spcPct val="0"/>
              </a:spcBef>
            </a:pPr>
            <a:r>
              <a:rPr lang="en-US" sz="2000" b="1">
                <a:solidFill>
                  <a:srgbClr val="FF0000"/>
                </a:solidFill>
                <a:latin typeface="Inter Bold"/>
                <a:ea typeface="Inter Bold"/>
                <a:cs typeface="Inter Bold"/>
                <a:sym typeface="Inter Bold"/>
              </a:rPr>
              <a:t>“Rất tiếc, trường hợp này S. không thể hỗ trợ”…</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299" y="1515713"/>
            <a:ext cx="11832251"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4.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một</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số</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lĩnh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vực</a:t>
            </a:r>
            <a:endParaRPr lang="en-US" sz="4000" dirty="0">
              <a:solidFill>
                <a:srgbClr val="1F497D"/>
              </a:solidFill>
              <a:latin typeface="Paytone One"/>
              <a:ea typeface="Paytone One"/>
              <a:cs typeface="Paytone One"/>
              <a:sym typeface="Paytone One"/>
            </a:endParaRP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6">
              <a:extLst>
                <a:ext uri="{96DAC541-7B7A-43D3-8B79-37D633B846F1}">
                  <asvg:svgBlip xmlns:asvg="http://schemas.microsoft.com/office/drawing/2016/SVG/main" r:embed="rId17"/>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8"/>
            <a:stretch>
              <a:fillRect/>
            </a:stretch>
          </a:blipFill>
        </p:spPr>
        <p:txBody>
          <a:bodyPr/>
          <a:lstStyle/>
          <a:p>
            <a:endParaRPr lang="en-US"/>
          </a:p>
        </p:txBody>
      </p:sp>
      <p:graphicFrame>
        <p:nvGraphicFramePr>
          <p:cNvPr id="18" name="Table 18"/>
          <p:cNvGraphicFramePr>
            <a:graphicFrameLocks noGrp="1"/>
          </p:cNvGraphicFramePr>
          <p:nvPr/>
        </p:nvGraphicFramePr>
        <p:xfrm>
          <a:off x="1564300" y="3240243"/>
          <a:ext cx="14926334" cy="4114800"/>
        </p:xfrm>
        <a:graphic>
          <a:graphicData uri="http://schemas.openxmlformats.org/drawingml/2006/table">
            <a:tbl>
              <a:tblPr/>
              <a:tblGrid>
                <a:gridCol w="1739227">
                  <a:extLst>
                    <a:ext uri="{9D8B030D-6E8A-4147-A177-3AD203B41FA5}">
                      <a16:colId xmlns:a16="http://schemas.microsoft.com/office/drawing/2014/main" val="20000"/>
                    </a:ext>
                  </a:extLst>
                </a:gridCol>
                <a:gridCol w="13187107">
                  <a:extLst>
                    <a:ext uri="{9D8B030D-6E8A-4147-A177-3AD203B41FA5}">
                      <a16:colId xmlns:a16="http://schemas.microsoft.com/office/drawing/2014/main" val="20001"/>
                    </a:ext>
                  </a:extLst>
                </a:gridCol>
              </a:tblGrid>
              <a:tr h="889945">
                <a:tc>
                  <a:txBody>
                    <a:bodyPr/>
                    <a:lstStyle/>
                    <a:p>
                      <a:pPr algn="ctr">
                        <a:lnSpc>
                          <a:spcPts val="4352"/>
                        </a:lnSpc>
                        <a:defRPr/>
                      </a:pPr>
                      <a:r>
                        <a:rPr lang="en-US" sz="3200" b="1" i="1">
                          <a:solidFill>
                            <a:srgbClr val="000000"/>
                          </a:solidFill>
                          <a:latin typeface="Inter Bold Italics"/>
                          <a:ea typeface="Inter Bold Italics"/>
                          <a:cs typeface="Inter Bold Italics"/>
                          <a:sym typeface="Inter Bold Italics"/>
                        </a:rPr>
                        <a:t>Điều 34</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4352"/>
                        </a:lnSpc>
                        <a:defRPr/>
                      </a:pPr>
                      <a:r>
                        <a:rPr lang="en-US" sz="3200">
                          <a:solidFill>
                            <a:srgbClr val="000000"/>
                          </a:solidFill>
                          <a:latin typeface="Inter"/>
                          <a:ea typeface="Inter"/>
                          <a:cs typeface="Inter"/>
                          <a:sym typeface="Inter"/>
                        </a:rPr>
                        <a:t>Ứng dụng công nghệ thông tin trong lĩnh vực </a:t>
                      </a:r>
                      <a:r>
                        <a:rPr lang="en-US" sz="3200">
                          <a:solidFill>
                            <a:srgbClr val="FF0000"/>
                          </a:solidFill>
                          <a:latin typeface="Inter"/>
                          <a:ea typeface="Inter"/>
                          <a:cs typeface="Inter"/>
                          <a:sym typeface="Inter"/>
                        </a:rPr>
                        <a:t>giáo dục và đào tạo</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889945">
                <a:tc>
                  <a:txBody>
                    <a:bodyPr/>
                    <a:lstStyle/>
                    <a:p>
                      <a:pPr algn="ctr">
                        <a:lnSpc>
                          <a:spcPts val="4352"/>
                        </a:lnSpc>
                        <a:defRPr/>
                      </a:pPr>
                      <a:r>
                        <a:rPr lang="en-US" sz="3200" b="1" i="1">
                          <a:solidFill>
                            <a:srgbClr val="000000"/>
                          </a:solidFill>
                          <a:latin typeface="Inter Bold Italics"/>
                          <a:ea typeface="Inter Bold Italics"/>
                          <a:cs typeface="Inter Bold Italics"/>
                          <a:sym typeface="Inter Bold Italics"/>
                        </a:rPr>
                        <a:t>Điều 35</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4352"/>
                        </a:lnSpc>
                        <a:defRPr/>
                      </a:pPr>
                      <a:r>
                        <a:rPr lang="en-US" sz="3200">
                          <a:solidFill>
                            <a:srgbClr val="000000"/>
                          </a:solidFill>
                          <a:latin typeface="Inter"/>
                          <a:ea typeface="Inter"/>
                          <a:cs typeface="Inter"/>
                          <a:sym typeface="Inter"/>
                        </a:rPr>
                        <a:t>Ứng dụng công nghệ thông tin trong lĩnh vực </a:t>
                      </a:r>
                      <a:r>
                        <a:rPr lang="en-US" sz="3200">
                          <a:solidFill>
                            <a:srgbClr val="FF0000"/>
                          </a:solidFill>
                          <a:latin typeface="Inter"/>
                          <a:ea typeface="Inter"/>
                          <a:cs typeface="Inter"/>
                          <a:sym typeface="Inter"/>
                        </a:rPr>
                        <a:t>y tế</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r h="889945">
                <a:tc>
                  <a:txBody>
                    <a:bodyPr/>
                    <a:lstStyle/>
                    <a:p>
                      <a:pPr algn="ctr">
                        <a:lnSpc>
                          <a:spcPts val="4352"/>
                        </a:lnSpc>
                        <a:defRPr/>
                      </a:pPr>
                      <a:r>
                        <a:rPr lang="en-US" sz="3200" b="1" i="1">
                          <a:solidFill>
                            <a:srgbClr val="000000"/>
                          </a:solidFill>
                          <a:latin typeface="Inter Bold Italics"/>
                          <a:ea typeface="Inter Bold Italics"/>
                          <a:cs typeface="Inter Bold Italics"/>
                          <a:sym typeface="Inter Bold Italics"/>
                        </a:rPr>
                        <a:t>Điều 36</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4352"/>
                        </a:lnSpc>
                        <a:defRPr/>
                      </a:pPr>
                      <a:r>
                        <a:rPr lang="en-US" sz="3200">
                          <a:solidFill>
                            <a:srgbClr val="000000"/>
                          </a:solidFill>
                          <a:latin typeface="Inter"/>
                          <a:ea typeface="Inter"/>
                          <a:cs typeface="Inter"/>
                          <a:sym typeface="Inter"/>
                        </a:rPr>
                        <a:t>Ứng dụng công nghệ thông tin trong lĩnh vực </a:t>
                      </a:r>
                      <a:r>
                        <a:rPr lang="en-US" sz="3200">
                          <a:solidFill>
                            <a:srgbClr val="FF0000"/>
                          </a:solidFill>
                          <a:latin typeface="Inter"/>
                          <a:ea typeface="Inter"/>
                          <a:cs typeface="Inter"/>
                          <a:sym typeface="Inter"/>
                        </a:rPr>
                        <a:t>văn hóa-thông tin</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2"/>
                  </a:ext>
                </a:extLst>
              </a:tr>
              <a:tr h="1444965">
                <a:tc>
                  <a:txBody>
                    <a:bodyPr/>
                    <a:lstStyle/>
                    <a:p>
                      <a:pPr algn="ctr">
                        <a:lnSpc>
                          <a:spcPts val="4352"/>
                        </a:lnSpc>
                        <a:defRPr/>
                      </a:pPr>
                      <a:r>
                        <a:rPr lang="en-US" sz="3200" b="1" i="1">
                          <a:solidFill>
                            <a:srgbClr val="000000"/>
                          </a:solidFill>
                          <a:latin typeface="Inter Bold Italics"/>
                          <a:ea typeface="Inter Bold Italics"/>
                          <a:cs typeface="Inter Bold Italics"/>
                          <a:sym typeface="Inter Bold Italics"/>
                        </a:rPr>
                        <a:t>Điều 37</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4352"/>
                        </a:lnSpc>
                        <a:defRPr/>
                      </a:pPr>
                      <a:r>
                        <a:rPr lang="en-US" sz="3200">
                          <a:solidFill>
                            <a:srgbClr val="000000"/>
                          </a:solidFill>
                          <a:latin typeface="Inter"/>
                          <a:ea typeface="Inter"/>
                          <a:cs typeface="Inter"/>
                          <a:sym typeface="Inter"/>
                        </a:rPr>
                        <a:t>Ứng dụng công nghệ thông tin trong quốc phòng, an ninh và một số lĩnh vực khác</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3"/>
                  </a:ext>
                </a:extLst>
              </a:tr>
            </a:tbl>
          </a:graphicData>
        </a:graphic>
      </p:graphicFrame>
      <p:sp>
        <p:nvSpPr>
          <p:cNvPr id="19" name="TextBox 19"/>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20" name="Freeform 20"/>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9">
              <a:extLst>
                <a:ext uri="{96DAC541-7B7A-43D3-8B79-37D633B846F1}">
                  <asvg:svgBlip xmlns:asvg="http://schemas.microsoft.com/office/drawing/2016/SVG/main" r:embed="rId20"/>
                </a:ext>
              </a:extLst>
            </a:blip>
            <a:stretch>
              <a:fillRect t="-147" b="-147"/>
            </a:stretch>
          </a:blipFill>
        </p:spPr>
        <p:txBody>
          <a:bodyPr/>
          <a:lstStyle/>
          <a:p>
            <a:endParaRPr lang="en-US"/>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21</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3">
              <a:extLst>
                <a:ext uri="{96DAC541-7B7A-43D3-8B79-37D633B846F1}">
                  <asvg:svgBlip xmlns:asvg="http://schemas.microsoft.com/office/drawing/2016/SVG/main" r:embed="rId4"/>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3">
              <a:extLst>
                <a:ext uri="{96DAC541-7B7A-43D3-8B79-37D633B846F1}">
                  <asvg:svgBlip xmlns:asvg="http://schemas.microsoft.com/office/drawing/2016/SVG/main" r:embed="rId4"/>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5">
              <a:extLst>
                <a:ext uri="{96DAC541-7B7A-43D3-8B79-37D633B846F1}">
                  <asvg:svgBlip xmlns:asvg="http://schemas.microsoft.com/office/drawing/2016/SVG/main" r:embed="rId6"/>
                </a:ext>
              </a:extLst>
            </a:blip>
            <a:stretch>
              <a:fillRect t="-236" b="-236"/>
            </a:stretch>
          </a:blipFill>
        </p:spPr>
        <p:txBody>
          <a:bodyPr/>
          <a:lstStyle/>
          <a:p>
            <a:endParaRPr lang="en-US"/>
          </a:p>
        </p:txBody>
      </p:sp>
      <p:sp>
        <p:nvSpPr>
          <p:cNvPr id="6" name="TextBox 6"/>
          <p:cNvSpPr txBox="1"/>
          <p:nvPr/>
        </p:nvSpPr>
        <p:spPr>
          <a:xfrm>
            <a:off x="1564300" y="1515713"/>
            <a:ext cx="113897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4. </a:t>
            </a:r>
            <a:r>
              <a:rPr lang="en-US" sz="4000" dirty="0" err="1">
                <a:solidFill>
                  <a:srgbClr val="1F497D"/>
                </a:solidFill>
                <a:latin typeface="Paytone One"/>
                <a:ea typeface="Paytone One"/>
                <a:cs typeface="Paytone One"/>
                <a:sym typeface="Paytone One"/>
              </a:rPr>
              <a:t>Ứng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dụng</a:t>
            </a:r>
            <a:r>
              <a:rPr lang="en-US" sz="4000" dirty="0">
                <a:solidFill>
                  <a:srgbClr val="1F497D"/>
                </a:solidFill>
                <a:latin typeface="Paytone One"/>
                <a:ea typeface="Paytone One"/>
                <a:cs typeface="Paytone One"/>
                <a:sym typeface="Paytone One"/>
              </a:rPr>
              <a:t> CNTT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một</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số</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lĩnh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vực</a:t>
            </a:r>
            <a:endParaRPr lang="en-US" sz="4000" dirty="0">
              <a:solidFill>
                <a:srgbClr val="1F497D"/>
              </a:solidFill>
              <a:latin typeface="Paytone One"/>
              <a:ea typeface="Paytone One"/>
              <a:cs typeface="Paytone One"/>
              <a:sym typeface="Paytone One"/>
            </a:endParaRP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9" name="Freeform 9"/>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9">
              <a:extLst>
                <a:ext uri="{96DAC541-7B7A-43D3-8B79-37D633B846F1}">
                  <asvg:svgBlip xmlns:asvg="http://schemas.microsoft.com/office/drawing/2016/SVG/main" r:embed="rId10"/>
                </a:ext>
              </a:extLst>
            </a:blip>
            <a:stretch>
              <a:fillRect l="-384" r="-382"/>
            </a:stretch>
          </a:blipFill>
        </p:spPr>
        <p:txBody>
          <a:bodyPr/>
          <a:lstStyle/>
          <a:p>
            <a:endParaRPr lang="en-US"/>
          </a:p>
        </p:txBody>
      </p:sp>
      <p:sp>
        <p:nvSpPr>
          <p:cNvPr id="10" name="Freeform 10"/>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1" name="Freeform 11"/>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3">
              <a:extLst>
                <a:ext uri="{96DAC541-7B7A-43D3-8B79-37D633B846F1}">
                  <asvg:svgBlip xmlns:asvg="http://schemas.microsoft.com/office/drawing/2016/SVG/main" r:embed="rId14"/>
                </a:ext>
              </a:extLst>
            </a:blip>
            <a:stretch>
              <a:fillRect t="-20" b="-21"/>
            </a:stretch>
          </a:blipFill>
        </p:spPr>
        <p:txBody>
          <a:bodyPr/>
          <a:lstStyle/>
          <a:p>
            <a:endParaRPr lang="en-US"/>
          </a:p>
        </p:txBody>
      </p:sp>
      <p:grpSp>
        <p:nvGrpSpPr>
          <p:cNvPr id="12" name="Group 12"/>
          <p:cNvGrpSpPr/>
          <p:nvPr/>
        </p:nvGrpSpPr>
        <p:grpSpPr>
          <a:xfrm>
            <a:off x="12217765" y="9690687"/>
            <a:ext cx="6070235" cy="473329"/>
            <a:chOff x="0" y="0"/>
            <a:chExt cx="8093646" cy="631105"/>
          </a:xfrm>
        </p:grpSpPr>
        <p:sp>
          <p:nvSpPr>
            <p:cNvPr id="13" name="Freeform 13"/>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4" name="TextBox 14"/>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22H1120002 - Huỳnh Nguyễn Quốc Bảo</a:t>
              </a:r>
            </a:p>
          </p:txBody>
        </p:sp>
      </p:grpSp>
      <p:sp>
        <p:nvSpPr>
          <p:cNvPr id="15" name="Freeform 15"/>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5"/>
            <a:stretch>
              <a:fillRect/>
            </a:stretch>
          </a:blipFill>
        </p:spPr>
        <p:txBody>
          <a:bodyPr/>
          <a:lstStyle/>
          <a:p>
            <a:endParaRPr lang="en-US"/>
          </a:p>
        </p:txBody>
      </p:sp>
      <p:sp>
        <p:nvSpPr>
          <p:cNvPr id="16" name="TextBox 16"/>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2. ỨNG DỤNG CNTT</a:t>
            </a:r>
          </a:p>
        </p:txBody>
      </p:sp>
      <p:sp>
        <p:nvSpPr>
          <p:cNvPr id="17" name="Freeform 17"/>
          <p:cNvSpPr/>
          <p:nvPr/>
        </p:nvSpPr>
        <p:spPr>
          <a:xfrm>
            <a:off x="3099511" y="2226535"/>
            <a:ext cx="5833948" cy="2841547"/>
          </a:xfrm>
          <a:custGeom>
            <a:avLst/>
            <a:gdLst/>
            <a:ahLst/>
            <a:cxnLst/>
            <a:rect l="l" t="t" r="r" b="b"/>
            <a:pathLst>
              <a:path w="5833948" h="2841547">
                <a:moveTo>
                  <a:pt x="0" y="0"/>
                </a:moveTo>
                <a:lnTo>
                  <a:pt x="5833948" y="0"/>
                </a:lnTo>
                <a:lnTo>
                  <a:pt x="5833948" y="2841547"/>
                </a:lnTo>
                <a:lnTo>
                  <a:pt x="0" y="2841547"/>
                </a:lnTo>
                <a:lnTo>
                  <a:pt x="0" y="0"/>
                </a:lnTo>
                <a:close/>
              </a:path>
            </a:pathLst>
          </a:custGeom>
          <a:blipFill>
            <a:blip r:embed="rId16"/>
            <a:stretch>
              <a:fillRect/>
            </a:stretch>
          </a:blipFill>
        </p:spPr>
        <p:txBody>
          <a:bodyPr/>
          <a:lstStyle/>
          <a:p>
            <a:endParaRPr lang="en-US"/>
          </a:p>
        </p:txBody>
      </p:sp>
      <p:sp>
        <p:nvSpPr>
          <p:cNvPr id="18" name="Freeform 18" descr="Bệnh án điện tử là gì? Các loại hồ sơ bệnh án điện tử"/>
          <p:cNvSpPr/>
          <p:nvPr/>
        </p:nvSpPr>
        <p:spPr>
          <a:xfrm>
            <a:off x="10916936" y="2226535"/>
            <a:ext cx="4984842" cy="2597029"/>
          </a:xfrm>
          <a:custGeom>
            <a:avLst/>
            <a:gdLst/>
            <a:ahLst/>
            <a:cxnLst/>
            <a:rect l="l" t="t" r="r" b="b"/>
            <a:pathLst>
              <a:path w="4984842" h="2597029">
                <a:moveTo>
                  <a:pt x="0" y="0"/>
                </a:moveTo>
                <a:lnTo>
                  <a:pt x="4984842" y="0"/>
                </a:lnTo>
                <a:lnTo>
                  <a:pt x="4984842" y="2597030"/>
                </a:lnTo>
                <a:lnTo>
                  <a:pt x="0" y="2597030"/>
                </a:lnTo>
                <a:lnTo>
                  <a:pt x="0" y="0"/>
                </a:lnTo>
                <a:close/>
              </a:path>
            </a:pathLst>
          </a:custGeom>
          <a:blipFill>
            <a:blip r:embed="rId17"/>
            <a:stretch>
              <a:fillRect t="-13941" b="-13941"/>
            </a:stretch>
          </a:blipFill>
        </p:spPr>
        <p:txBody>
          <a:bodyPr/>
          <a:lstStyle/>
          <a:p>
            <a:endParaRPr lang="en-US"/>
          </a:p>
        </p:txBody>
      </p:sp>
      <p:sp>
        <p:nvSpPr>
          <p:cNvPr id="19" name="TextBox 19"/>
          <p:cNvSpPr txBox="1"/>
          <p:nvPr/>
        </p:nvSpPr>
        <p:spPr>
          <a:xfrm>
            <a:off x="899808" y="2970371"/>
            <a:ext cx="1990153" cy="1312602"/>
          </a:xfrm>
          <a:prstGeom prst="rect">
            <a:avLst/>
          </a:prstGeom>
        </p:spPr>
        <p:txBody>
          <a:bodyPr lIns="0" tIns="0" rIns="0" bIns="0" rtlCol="0" anchor="t">
            <a:spAutoFit/>
          </a:bodyPr>
          <a:lstStyle/>
          <a:p>
            <a:pPr algn="l">
              <a:lnSpc>
                <a:spcPts val="3359"/>
              </a:lnSpc>
            </a:pPr>
            <a:r>
              <a:rPr lang="en-US" sz="2799" b="1">
                <a:solidFill>
                  <a:srgbClr val="000000"/>
                </a:solidFill>
                <a:latin typeface="Arial Bold"/>
                <a:ea typeface="Arial Bold"/>
                <a:cs typeface="Arial Bold"/>
                <a:sym typeface="Arial Bold"/>
              </a:rPr>
              <a:t>Giáo dục: </a:t>
            </a:r>
            <a:r>
              <a:rPr lang="en-US" sz="2799">
                <a:solidFill>
                  <a:srgbClr val="000000"/>
                </a:solidFill>
                <a:latin typeface="Arial"/>
                <a:ea typeface="Arial"/>
                <a:cs typeface="Arial"/>
                <a:sym typeface="Arial"/>
              </a:rPr>
              <a:t>Trang học trực tuyến</a:t>
            </a:r>
          </a:p>
        </p:txBody>
      </p:sp>
      <p:sp>
        <p:nvSpPr>
          <p:cNvPr id="20" name="TextBox 20"/>
          <p:cNvSpPr txBox="1"/>
          <p:nvPr/>
        </p:nvSpPr>
        <p:spPr>
          <a:xfrm>
            <a:off x="16388305" y="2925975"/>
            <a:ext cx="1547936" cy="1312602"/>
          </a:xfrm>
          <a:prstGeom prst="rect">
            <a:avLst/>
          </a:prstGeom>
        </p:spPr>
        <p:txBody>
          <a:bodyPr lIns="0" tIns="0" rIns="0" bIns="0" rtlCol="0" anchor="t">
            <a:spAutoFit/>
          </a:bodyPr>
          <a:lstStyle/>
          <a:p>
            <a:pPr algn="l">
              <a:lnSpc>
                <a:spcPts val="3359"/>
              </a:lnSpc>
            </a:pPr>
            <a:r>
              <a:rPr lang="en-US" sz="2799" b="1">
                <a:solidFill>
                  <a:srgbClr val="000000"/>
                </a:solidFill>
                <a:latin typeface="Arial Bold"/>
                <a:ea typeface="Arial Bold"/>
                <a:cs typeface="Arial Bold"/>
                <a:sym typeface="Arial Bold"/>
              </a:rPr>
              <a:t>Y tế: </a:t>
            </a:r>
            <a:r>
              <a:rPr lang="en-US" sz="2799">
                <a:solidFill>
                  <a:srgbClr val="000000"/>
                </a:solidFill>
                <a:latin typeface="Arial"/>
                <a:ea typeface="Arial"/>
                <a:cs typeface="Arial"/>
                <a:sym typeface="Arial"/>
              </a:rPr>
              <a:t>Bệnh án điện tử</a:t>
            </a:r>
          </a:p>
        </p:txBody>
      </p:sp>
      <p:sp>
        <p:nvSpPr>
          <p:cNvPr id="21" name="TextBox 21"/>
          <p:cNvSpPr txBox="1"/>
          <p:nvPr/>
        </p:nvSpPr>
        <p:spPr>
          <a:xfrm>
            <a:off x="9592828" y="4848225"/>
            <a:ext cx="7757874" cy="590550"/>
          </a:xfrm>
          <a:prstGeom prst="rect">
            <a:avLst/>
          </a:prstGeom>
        </p:spPr>
        <p:txBody>
          <a:bodyPr lIns="0" tIns="0" rIns="0" bIns="0" rtlCol="0" anchor="t">
            <a:spAutoFit/>
          </a:bodyPr>
          <a:lstStyle/>
          <a:p>
            <a:pPr algn="l">
              <a:lnSpc>
                <a:spcPts val="2399"/>
              </a:lnSpc>
            </a:pPr>
            <a:r>
              <a:rPr lang="en-US" sz="1999" u="sng">
                <a:solidFill>
                  <a:srgbClr val="0000FF"/>
                </a:solidFill>
                <a:latin typeface="Inter"/>
                <a:ea typeface="Inter"/>
                <a:cs typeface="Inter"/>
                <a:sym typeface="Inter"/>
                <a:hlinkClick r:id="rId18" tooltip="https://tuoitre.vn/benh-vien-tai-tp-hcm-chay-dua-nuoc-rut-xoa-so-benh-an-giay-20250917104711256.htm"/>
              </a:rPr>
              <a:t>https://tuoitre.vn/benh-vien-tai-tp-hcm-chay-dua-nuoc-rut-xoa-so-benh-an-giay-20250917104711256.htm</a:t>
            </a:r>
            <a:r>
              <a:rPr lang="en-US" sz="1999">
                <a:solidFill>
                  <a:srgbClr val="1A1C1E"/>
                </a:solidFill>
                <a:latin typeface="Inter"/>
                <a:ea typeface="Inter"/>
                <a:cs typeface="Inter"/>
                <a:sym typeface="Inter"/>
              </a:rPr>
              <a:t> </a:t>
            </a:r>
          </a:p>
        </p:txBody>
      </p:sp>
      <p:sp>
        <p:nvSpPr>
          <p:cNvPr id="22" name="TextBox 22"/>
          <p:cNvSpPr txBox="1"/>
          <p:nvPr/>
        </p:nvSpPr>
        <p:spPr>
          <a:xfrm>
            <a:off x="4261085" y="5266134"/>
            <a:ext cx="3114913" cy="295275"/>
          </a:xfrm>
          <a:prstGeom prst="rect">
            <a:avLst/>
          </a:prstGeom>
        </p:spPr>
        <p:txBody>
          <a:bodyPr lIns="0" tIns="0" rIns="0" bIns="0" rtlCol="0" anchor="t">
            <a:spAutoFit/>
          </a:bodyPr>
          <a:lstStyle/>
          <a:p>
            <a:pPr algn="l">
              <a:lnSpc>
                <a:spcPts val="2399"/>
              </a:lnSpc>
            </a:pPr>
            <a:r>
              <a:rPr lang="en-US" sz="1999" u="sng">
                <a:solidFill>
                  <a:srgbClr val="0000FF"/>
                </a:solidFill>
                <a:latin typeface="Inter"/>
                <a:ea typeface="Inter"/>
                <a:cs typeface="Inter"/>
                <a:sym typeface="Inter"/>
                <a:hlinkClick r:id="rId19" tooltip="https://courses.ut.edu.vn/"/>
              </a:rPr>
              <a:t>https://courses.ut.edu.vn/</a:t>
            </a:r>
            <a:r>
              <a:rPr lang="en-US" sz="1999">
                <a:solidFill>
                  <a:srgbClr val="000000"/>
                </a:solidFill>
                <a:latin typeface="Inter"/>
                <a:ea typeface="Inter"/>
                <a:cs typeface="Inter"/>
                <a:sym typeface="Inter"/>
              </a:rPr>
              <a:t> </a:t>
            </a:r>
          </a:p>
        </p:txBody>
      </p:sp>
      <p:sp>
        <p:nvSpPr>
          <p:cNvPr id="23" name="Freeform 23"/>
          <p:cNvSpPr/>
          <p:nvPr/>
        </p:nvSpPr>
        <p:spPr>
          <a:xfrm>
            <a:off x="3099511" y="5840108"/>
            <a:ext cx="5833948" cy="3097863"/>
          </a:xfrm>
          <a:custGeom>
            <a:avLst/>
            <a:gdLst/>
            <a:ahLst/>
            <a:cxnLst/>
            <a:rect l="l" t="t" r="r" b="b"/>
            <a:pathLst>
              <a:path w="5833948" h="3097863">
                <a:moveTo>
                  <a:pt x="0" y="0"/>
                </a:moveTo>
                <a:lnTo>
                  <a:pt x="5833948" y="0"/>
                </a:lnTo>
                <a:lnTo>
                  <a:pt x="5833948" y="3097864"/>
                </a:lnTo>
                <a:lnTo>
                  <a:pt x="0" y="3097864"/>
                </a:lnTo>
                <a:lnTo>
                  <a:pt x="0" y="0"/>
                </a:lnTo>
                <a:close/>
              </a:path>
            </a:pathLst>
          </a:custGeom>
          <a:blipFill>
            <a:blip r:embed="rId20"/>
            <a:stretch>
              <a:fillRect/>
            </a:stretch>
          </a:blipFill>
        </p:spPr>
        <p:txBody>
          <a:bodyPr/>
          <a:lstStyle/>
          <a:p>
            <a:endParaRPr lang="en-US"/>
          </a:p>
        </p:txBody>
      </p:sp>
      <p:sp>
        <p:nvSpPr>
          <p:cNvPr id="24" name="TextBox 24"/>
          <p:cNvSpPr txBox="1"/>
          <p:nvPr/>
        </p:nvSpPr>
        <p:spPr>
          <a:xfrm>
            <a:off x="899808" y="5821058"/>
            <a:ext cx="1895304" cy="2605268"/>
          </a:xfrm>
          <a:prstGeom prst="rect">
            <a:avLst/>
          </a:prstGeom>
        </p:spPr>
        <p:txBody>
          <a:bodyPr lIns="0" tIns="0" rIns="0" bIns="0" rtlCol="0" anchor="t">
            <a:spAutoFit/>
          </a:bodyPr>
          <a:lstStyle/>
          <a:p>
            <a:pPr algn="l">
              <a:lnSpc>
                <a:spcPts val="3359"/>
              </a:lnSpc>
            </a:pPr>
            <a:r>
              <a:rPr lang="en-US" sz="2799" b="1">
                <a:solidFill>
                  <a:srgbClr val="000000"/>
                </a:solidFill>
                <a:latin typeface="Arial Bold"/>
                <a:ea typeface="Arial Bold"/>
                <a:cs typeface="Arial Bold"/>
                <a:sym typeface="Arial Bold"/>
              </a:rPr>
              <a:t>Văn hóa: </a:t>
            </a:r>
          </a:p>
          <a:p>
            <a:pPr algn="l">
              <a:lnSpc>
                <a:spcPts val="3359"/>
              </a:lnSpc>
            </a:pPr>
            <a:r>
              <a:rPr lang="en-US" sz="2799">
                <a:solidFill>
                  <a:srgbClr val="1A1C1E"/>
                </a:solidFill>
                <a:latin typeface="Arial"/>
                <a:ea typeface="Arial"/>
                <a:cs typeface="Arial"/>
                <a:sym typeface="Arial"/>
              </a:rPr>
              <a:t>Bảo tàng Mỹ thuật Việt Nam, tour thực tế ảo 3D</a:t>
            </a:r>
          </a:p>
        </p:txBody>
      </p:sp>
      <p:sp>
        <p:nvSpPr>
          <p:cNvPr id="25" name="TextBox 25"/>
          <p:cNvSpPr txBox="1"/>
          <p:nvPr/>
        </p:nvSpPr>
        <p:spPr>
          <a:xfrm>
            <a:off x="3639102" y="9216671"/>
            <a:ext cx="4358878" cy="295275"/>
          </a:xfrm>
          <a:prstGeom prst="rect">
            <a:avLst/>
          </a:prstGeom>
        </p:spPr>
        <p:txBody>
          <a:bodyPr lIns="0" tIns="0" rIns="0" bIns="0" rtlCol="0" anchor="t">
            <a:spAutoFit/>
          </a:bodyPr>
          <a:lstStyle/>
          <a:p>
            <a:pPr algn="l">
              <a:lnSpc>
                <a:spcPts val="2399"/>
              </a:lnSpc>
            </a:pPr>
            <a:r>
              <a:rPr lang="en-US" sz="1999" u="sng">
                <a:solidFill>
                  <a:srgbClr val="0000FF"/>
                </a:solidFill>
                <a:latin typeface="Inter"/>
                <a:ea typeface="Inter"/>
                <a:cs typeface="Inter"/>
                <a:sym typeface="Inter"/>
                <a:hlinkClick r:id="rId21" tooltip="https://tranhsonmai.baotangso.com/"/>
              </a:rPr>
              <a:t>https://tranhsonmai.baotangso.com/</a:t>
            </a:r>
            <a:r>
              <a:rPr lang="en-US" sz="1999">
                <a:solidFill>
                  <a:srgbClr val="000000"/>
                </a:solidFill>
                <a:latin typeface="Inter"/>
                <a:ea typeface="Inter"/>
                <a:cs typeface="Inter"/>
                <a:sym typeface="Inter"/>
              </a:rPr>
              <a:t> </a:t>
            </a:r>
          </a:p>
        </p:txBody>
      </p:sp>
      <p:sp>
        <p:nvSpPr>
          <p:cNvPr id="26" name="TextBox 26"/>
          <p:cNvSpPr txBox="1"/>
          <p:nvPr/>
        </p:nvSpPr>
        <p:spPr>
          <a:xfrm>
            <a:off x="9592828" y="8836657"/>
            <a:ext cx="7970323" cy="885825"/>
          </a:xfrm>
          <a:prstGeom prst="rect">
            <a:avLst/>
          </a:prstGeom>
        </p:spPr>
        <p:txBody>
          <a:bodyPr lIns="0" tIns="0" rIns="0" bIns="0" rtlCol="0" anchor="t">
            <a:spAutoFit/>
          </a:bodyPr>
          <a:lstStyle/>
          <a:p>
            <a:pPr algn="l">
              <a:lnSpc>
                <a:spcPts val="2399"/>
              </a:lnSpc>
            </a:pPr>
            <a:r>
              <a:rPr lang="en-US" sz="1999" u="sng">
                <a:solidFill>
                  <a:srgbClr val="0000FF"/>
                </a:solidFill>
                <a:latin typeface="Inter"/>
                <a:ea typeface="Inter"/>
                <a:cs typeface="Inter"/>
                <a:sym typeface="Inter"/>
                <a:hlinkClick r:id="rId22" tooltip="https://www.qdnd.vn/quoc-phong-an-ninh/tin-tuc/bo-tu-lenh-86-thuc-hien-tot-nhiem-vu-quan-ly-bao-ve-vung-chac-chu-quyen-quoc-gia-tren-khong-gian-mang-1019139"/>
              </a:rPr>
              <a:t>https://www.qdnd.vn/quoc-phong-an-ninh/tin-tuc/bo-tu-lenh-86-thuc-hien-tot-nhiem-vu-quan-ly-bao-ve-vung-chac-chu-quyen-quoc-gia-tren-khong-gian-mang-1019139</a:t>
            </a:r>
            <a:r>
              <a:rPr lang="en-US" sz="1999">
                <a:solidFill>
                  <a:srgbClr val="000000"/>
                </a:solidFill>
                <a:latin typeface="Inter"/>
                <a:ea typeface="Inter"/>
                <a:cs typeface="Inter"/>
                <a:sym typeface="Inter"/>
              </a:rPr>
              <a:t> </a:t>
            </a:r>
          </a:p>
        </p:txBody>
      </p:sp>
      <p:sp>
        <p:nvSpPr>
          <p:cNvPr id="27" name="Freeform 27" descr="Bộ tư lệnh 86: Thực hiện tốt nhiệm vụ quản lý, bảo vệ vững chắc chủ quyền quốc gia trên không gian mạng"/>
          <p:cNvSpPr/>
          <p:nvPr/>
        </p:nvSpPr>
        <p:spPr>
          <a:xfrm>
            <a:off x="10916936" y="5840108"/>
            <a:ext cx="4984842" cy="2817619"/>
          </a:xfrm>
          <a:custGeom>
            <a:avLst/>
            <a:gdLst/>
            <a:ahLst/>
            <a:cxnLst/>
            <a:rect l="l" t="t" r="r" b="b"/>
            <a:pathLst>
              <a:path w="4984842" h="2817619">
                <a:moveTo>
                  <a:pt x="0" y="0"/>
                </a:moveTo>
                <a:lnTo>
                  <a:pt x="4984842" y="0"/>
                </a:lnTo>
                <a:lnTo>
                  <a:pt x="4984842" y="2817619"/>
                </a:lnTo>
                <a:lnTo>
                  <a:pt x="0" y="2817619"/>
                </a:lnTo>
                <a:lnTo>
                  <a:pt x="0" y="0"/>
                </a:lnTo>
                <a:close/>
              </a:path>
            </a:pathLst>
          </a:custGeom>
          <a:blipFill>
            <a:blip r:embed="rId23"/>
            <a:stretch>
              <a:fillRect t="-899" b="-17858"/>
            </a:stretch>
          </a:blipFill>
        </p:spPr>
        <p:txBody>
          <a:bodyPr/>
          <a:lstStyle/>
          <a:p>
            <a:endParaRPr lang="en-US"/>
          </a:p>
        </p:txBody>
      </p:sp>
      <p:sp>
        <p:nvSpPr>
          <p:cNvPr id="28" name="TextBox 28"/>
          <p:cNvSpPr txBox="1"/>
          <p:nvPr/>
        </p:nvSpPr>
        <p:spPr>
          <a:xfrm>
            <a:off x="16388305" y="6134471"/>
            <a:ext cx="1808255" cy="1695450"/>
          </a:xfrm>
          <a:prstGeom prst="rect">
            <a:avLst/>
          </a:prstGeom>
        </p:spPr>
        <p:txBody>
          <a:bodyPr lIns="0" tIns="0" rIns="0" bIns="0" rtlCol="0" anchor="t">
            <a:spAutoFit/>
          </a:bodyPr>
          <a:lstStyle/>
          <a:p>
            <a:pPr algn="l">
              <a:lnSpc>
                <a:spcPts val="3359"/>
              </a:lnSpc>
            </a:pPr>
            <a:r>
              <a:rPr lang="en-US" sz="2799" b="1">
                <a:solidFill>
                  <a:srgbClr val="000000"/>
                </a:solidFill>
                <a:latin typeface="Arial Bold"/>
                <a:ea typeface="Arial Bold"/>
                <a:cs typeface="Arial Bold"/>
                <a:sym typeface="Arial Bold"/>
              </a:rPr>
              <a:t>QP-AN:</a:t>
            </a:r>
            <a:r>
              <a:rPr lang="en-US" sz="2799">
                <a:solidFill>
                  <a:srgbClr val="000000"/>
                </a:solidFill>
                <a:latin typeface="Arial"/>
                <a:ea typeface="Arial"/>
                <a:cs typeface="Arial"/>
                <a:sym typeface="Arial"/>
              </a:rPr>
              <a:t> </a:t>
            </a:r>
          </a:p>
          <a:p>
            <a:pPr algn="l">
              <a:lnSpc>
                <a:spcPts val="3359"/>
              </a:lnSpc>
            </a:pPr>
            <a:r>
              <a:rPr lang="en-US" sz="2799">
                <a:solidFill>
                  <a:srgbClr val="000000"/>
                </a:solidFill>
                <a:latin typeface="Arial"/>
                <a:ea typeface="Arial"/>
                <a:cs typeface="Arial"/>
                <a:sym typeface="Arial"/>
              </a:rPr>
              <a:t>Tác chiến không gian mạng</a:t>
            </a:r>
          </a:p>
        </p:txBody>
      </p:sp>
      <p:sp>
        <p:nvSpPr>
          <p:cNvPr id="29" name="TextBox 2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22</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a:off x="1374400" y="3889677"/>
            <a:ext cx="644881" cy="644881"/>
          </a:xfrm>
          <a:custGeom>
            <a:avLst/>
            <a:gdLst/>
            <a:ahLst/>
            <a:cxnLst/>
            <a:rect l="l" t="t" r="r" b="b"/>
            <a:pathLst>
              <a:path w="644881" h="644881">
                <a:moveTo>
                  <a:pt x="0" y="0"/>
                </a:moveTo>
                <a:lnTo>
                  <a:pt x="644881" y="0"/>
                </a:lnTo>
                <a:lnTo>
                  <a:pt x="644881" y="644880"/>
                </a:lnTo>
                <a:lnTo>
                  <a:pt x="0" y="6448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8" name="Freeform 8"/>
          <p:cNvSpPr/>
          <p:nvPr/>
        </p:nvSpPr>
        <p:spPr>
          <a:xfrm>
            <a:off x="14433433" y="1860794"/>
            <a:ext cx="3471443" cy="2095490"/>
          </a:xfrm>
          <a:custGeom>
            <a:avLst/>
            <a:gdLst/>
            <a:ahLst/>
            <a:cxnLst/>
            <a:rect l="l" t="t" r="r" b="b"/>
            <a:pathLst>
              <a:path w="3471443" h="2095490">
                <a:moveTo>
                  <a:pt x="0" y="0"/>
                </a:moveTo>
                <a:lnTo>
                  <a:pt x="3471443" y="0"/>
                </a:lnTo>
                <a:lnTo>
                  <a:pt x="3471443" y="2095491"/>
                </a:lnTo>
                <a:lnTo>
                  <a:pt x="0" y="2095491"/>
                </a:lnTo>
                <a:lnTo>
                  <a:pt x="0" y="0"/>
                </a:lnTo>
                <a:close/>
              </a:path>
            </a:pathLst>
          </a:custGeom>
          <a:blipFill>
            <a:blip r:embed="rId14">
              <a:extLst>
                <a:ext uri="{96DAC541-7B7A-43D3-8B79-37D633B846F1}">
                  <asvg:svgBlip xmlns:asvg="http://schemas.microsoft.com/office/drawing/2016/SVG/main" r:embed="rId15"/>
                </a:ext>
              </a:extLst>
            </a:blip>
            <a:stretch>
              <a:fillRect t="-152" b="-152"/>
            </a:stretch>
          </a:blipFill>
        </p:spPr>
        <p:txBody>
          <a:bodyPr/>
          <a:lstStyle/>
          <a:p>
            <a:endParaRPr lang="en-US"/>
          </a:p>
        </p:txBody>
      </p:sp>
      <p:sp>
        <p:nvSpPr>
          <p:cNvPr id="9" name="Freeform 9"/>
          <p:cNvSpPr/>
          <p:nvPr/>
        </p:nvSpPr>
        <p:spPr>
          <a:xfrm flipH="1">
            <a:off x="1621727" y="4089530"/>
            <a:ext cx="150219" cy="245174"/>
          </a:xfrm>
          <a:custGeom>
            <a:avLst/>
            <a:gdLst/>
            <a:ahLst/>
            <a:cxnLst/>
            <a:rect l="l" t="t" r="r" b="b"/>
            <a:pathLst>
              <a:path w="150219" h="245174">
                <a:moveTo>
                  <a:pt x="150218" y="0"/>
                </a:moveTo>
                <a:lnTo>
                  <a:pt x="0" y="0"/>
                </a:lnTo>
                <a:lnTo>
                  <a:pt x="0" y="245174"/>
                </a:lnTo>
                <a:lnTo>
                  <a:pt x="150218" y="245174"/>
                </a:lnTo>
                <a:lnTo>
                  <a:pt x="150218"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0" name="Freeform 10"/>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11" name="TextBox 11"/>
          <p:cNvSpPr txBox="1"/>
          <p:nvPr/>
        </p:nvSpPr>
        <p:spPr>
          <a:xfrm>
            <a:off x="2206152" y="4043543"/>
            <a:ext cx="12122229" cy="436017"/>
          </a:xfrm>
          <a:prstGeom prst="rect">
            <a:avLst/>
          </a:prstGeom>
        </p:spPr>
        <p:txBody>
          <a:bodyPr wrap="square"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1. NGHIÊN CỨU - PHÁT TRIỂN CÔNG NGHỆ THÔNG TIN</a:t>
            </a:r>
          </a:p>
        </p:txBody>
      </p:sp>
      <p:sp>
        <p:nvSpPr>
          <p:cNvPr id="12" name="TextBox 12"/>
          <p:cNvSpPr txBox="1"/>
          <p:nvPr/>
        </p:nvSpPr>
        <p:spPr>
          <a:xfrm>
            <a:off x="1371600" y="1483538"/>
            <a:ext cx="14752520" cy="1692910"/>
          </a:xfrm>
          <a:prstGeom prst="rect">
            <a:avLst/>
          </a:prstGeom>
        </p:spPr>
        <p:txBody>
          <a:bodyPr lIns="0" tIns="0" rIns="0" bIns="0" rtlCol="0" anchor="t">
            <a:spAutoFit/>
          </a:bodyPr>
          <a:lstStyle/>
          <a:p>
            <a:pPr algn="l">
              <a:lnSpc>
                <a:spcPts val="6799"/>
              </a:lnSpc>
            </a:pPr>
            <a:r>
              <a:rPr lang="en-US" sz="5400">
                <a:solidFill>
                  <a:srgbClr val="A75B4B"/>
                </a:solidFill>
                <a:latin typeface="Paytone One"/>
                <a:ea typeface="Paytone One"/>
                <a:cs typeface="Paytone One"/>
                <a:sym typeface="Paytone One"/>
              </a:rPr>
              <a:t>Chương 3. </a:t>
            </a:r>
          </a:p>
          <a:p>
            <a:pPr algn="l">
              <a:lnSpc>
                <a:spcPts val="6799"/>
              </a:lnSpc>
            </a:pPr>
            <a:r>
              <a:rPr lang="en-US" sz="5400">
                <a:solidFill>
                  <a:srgbClr val="A75B4B"/>
                </a:solidFill>
                <a:latin typeface="Paytone One"/>
                <a:ea typeface="Paytone One"/>
                <a:cs typeface="Paytone One"/>
                <a:sym typeface="Paytone One"/>
              </a:rPr>
              <a:t>PHÁT TRIỂN CÔNG NGHỆ THÔNG TIN</a:t>
            </a:r>
          </a:p>
        </p:txBody>
      </p:sp>
      <p:sp>
        <p:nvSpPr>
          <p:cNvPr id="13" name="Freeform 13"/>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8">
              <a:extLst>
                <a:ext uri="{96DAC541-7B7A-43D3-8B79-37D633B846F1}">
                  <asvg:svgBlip xmlns:asvg="http://schemas.microsoft.com/office/drawing/2016/SVG/main" r:embed="rId19"/>
                </a:ext>
              </a:extLst>
            </a:blip>
            <a:stretch>
              <a:fillRect l="-384" r="-382"/>
            </a:stretch>
          </a:blipFill>
        </p:spPr>
        <p:txBody>
          <a:bodyPr/>
          <a:lstStyle/>
          <a:p>
            <a:endParaRPr lang="en-US"/>
          </a:p>
        </p:txBody>
      </p:sp>
      <p:sp>
        <p:nvSpPr>
          <p:cNvPr id="14" name="Freeform 14"/>
          <p:cNvSpPr/>
          <p:nvPr/>
        </p:nvSpPr>
        <p:spPr>
          <a:xfrm>
            <a:off x="518208" y="8503501"/>
            <a:ext cx="1020985" cy="1039892"/>
          </a:xfrm>
          <a:custGeom>
            <a:avLst/>
            <a:gdLst/>
            <a:ahLst/>
            <a:cxnLst/>
            <a:rect l="l" t="t" r="r" b="b"/>
            <a:pathLst>
              <a:path w="1020985" h="1039892">
                <a:moveTo>
                  <a:pt x="0" y="0"/>
                </a:moveTo>
                <a:lnTo>
                  <a:pt x="1020984" y="0"/>
                </a:lnTo>
                <a:lnTo>
                  <a:pt x="1020984" y="1039892"/>
                </a:lnTo>
                <a:lnTo>
                  <a:pt x="0" y="1039892"/>
                </a:lnTo>
                <a:lnTo>
                  <a:pt x="0" y="0"/>
                </a:lnTo>
                <a:close/>
              </a:path>
            </a:pathLst>
          </a:custGeom>
          <a:blipFill>
            <a:blip r:embed="rId20">
              <a:extLst>
                <a:ext uri="{96DAC541-7B7A-43D3-8B79-37D633B846F1}">
                  <asvg:svgBlip xmlns:asvg="http://schemas.microsoft.com/office/drawing/2016/SVG/main" r:embed="rId21"/>
                </a:ext>
              </a:extLst>
            </a:blip>
            <a:stretch>
              <a:fillRect l="-462" r="-462"/>
            </a:stretch>
          </a:blipFill>
        </p:spPr>
        <p:txBody>
          <a:bodyPr/>
          <a:lstStyle/>
          <a:p>
            <a:endParaRPr lang="en-US"/>
          </a:p>
        </p:txBody>
      </p:sp>
      <p:sp>
        <p:nvSpPr>
          <p:cNvPr id="15" name="Freeform 15"/>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6" name="Freeform 16"/>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24">
              <a:extLst>
                <a:ext uri="{96DAC541-7B7A-43D3-8B79-37D633B846F1}">
                  <asvg:svgBlip xmlns:asvg="http://schemas.microsoft.com/office/drawing/2016/SVG/main" r:embed="rId25"/>
                </a:ext>
              </a:extLst>
            </a:blip>
            <a:stretch>
              <a:fillRect t="-20" b="-21"/>
            </a:stretch>
          </a:blipFill>
        </p:spPr>
        <p:txBody>
          <a:bodyPr/>
          <a:lstStyle/>
          <a:p>
            <a:endParaRPr lang="en-US"/>
          </a:p>
        </p:txBody>
      </p:sp>
      <p:sp>
        <p:nvSpPr>
          <p:cNvPr id="17" name="Freeform 17"/>
          <p:cNvSpPr/>
          <p:nvPr/>
        </p:nvSpPr>
        <p:spPr>
          <a:xfrm>
            <a:off x="1391317" y="5011864"/>
            <a:ext cx="644881" cy="644881"/>
          </a:xfrm>
          <a:custGeom>
            <a:avLst/>
            <a:gdLst/>
            <a:ahLst/>
            <a:cxnLst/>
            <a:rect l="l" t="t" r="r" b="b"/>
            <a:pathLst>
              <a:path w="644881" h="644881">
                <a:moveTo>
                  <a:pt x="0" y="0"/>
                </a:moveTo>
                <a:lnTo>
                  <a:pt x="644880" y="0"/>
                </a:lnTo>
                <a:lnTo>
                  <a:pt x="644880"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8" name="Freeform 18"/>
          <p:cNvSpPr/>
          <p:nvPr/>
        </p:nvSpPr>
        <p:spPr>
          <a:xfrm flipH="1">
            <a:off x="1638652" y="5211718"/>
            <a:ext cx="150219" cy="245174"/>
          </a:xfrm>
          <a:custGeom>
            <a:avLst/>
            <a:gdLst/>
            <a:ahLst/>
            <a:cxnLst/>
            <a:rect l="l" t="t" r="r" b="b"/>
            <a:pathLst>
              <a:path w="150219" h="245174">
                <a:moveTo>
                  <a:pt x="150219" y="0"/>
                </a:moveTo>
                <a:lnTo>
                  <a:pt x="0" y="0"/>
                </a:lnTo>
                <a:lnTo>
                  <a:pt x="0" y="245174"/>
                </a:lnTo>
                <a:lnTo>
                  <a:pt x="150219" y="245174"/>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9" name="TextBox 19"/>
          <p:cNvSpPr txBox="1"/>
          <p:nvPr/>
        </p:nvSpPr>
        <p:spPr>
          <a:xfrm>
            <a:off x="2223068" y="5162899"/>
            <a:ext cx="12628662" cy="432562"/>
          </a:xfrm>
          <a:prstGeom prst="rect">
            <a:avLst/>
          </a:prstGeom>
        </p:spPr>
        <p:txBody>
          <a:bodyPr lIns="0" tIns="0" rIns="0" bIns="0" rtlCol="0" anchor="t">
            <a:spAutoFit/>
          </a:bodyPr>
          <a:lstStyle/>
          <a:p>
            <a:pPr algn="l">
              <a:lnSpc>
                <a:spcPts val="3359"/>
              </a:lnSpc>
            </a:pPr>
            <a:r>
              <a:rPr lang="en-US" sz="3200" b="1" dirty="0" err="1">
                <a:solidFill>
                  <a:srgbClr val="171814"/>
                </a:solidFill>
                <a:latin typeface="Inter Bold"/>
                <a:ea typeface="Inter Bold"/>
                <a:cs typeface="Inter Bold"/>
                <a:sym typeface="Inter Bold"/>
              </a:rPr>
              <a:t>Mục</a:t>
            </a:r>
            <a:r>
              <a:rPr lang="en-US" sz="3200" b="1" dirty="0">
                <a:solidFill>
                  <a:srgbClr val="171814"/>
                </a:solidFill>
                <a:latin typeface="Inter Bold"/>
                <a:ea typeface="Inter Bold"/>
                <a:cs typeface="Inter Bold"/>
                <a:sym typeface="Inter Bold"/>
              </a:rPr>
              <a:t> 2. PHÁT TRIỂN NGUỒN NHÂN LỰC CÔNG NGHỆ THÔNG TIN</a:t>
            </a:r>
          </a:p>
        </p:txBody>
      </p:sp>
      <p:sp>
        <p:nvSpPr>
          <p:cNvPr id="20" name="Freeform 20"/>
          <p:cNvSpPr/>
          <p:nvPr/>
        </p:nvSpPr>
        <p:spPr>
          <a:xfrm>
            <a:off x="1391317" y="6098819"/>
            <a:ext cx="644881" cy="644881"/>
          </a:xfrm>
          <a:custGeom>
            <a:avLst/>
            <a:gdLst/>
            <a:ahLst/>
            <a:cxnLst/>
            <a:rect l="l" t="t" r="r" b="b"/>
            <a:pathLst>
              <a:path w="644881" h="644881">
                <a:moveTo>
                  <a:pt x="0" y="0"/>
                </a:moveTo>
                <a:lnTo>
                  <a:pt x="644880" y="0"/>
                </a:lnTo>
                <a:lnTo>
                  <a:pt x="644880"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1" name="Freeform 21"/>
          <p:cNvSpPr/>
          <p:nvPr/>
        </p:nvSpPr>
        <p:spPr>
          <a:xfrm flipH="1">
            <a:off x="1638652" y="6298673"/>
            <a:ext cx="150219" cy="245174"/>
          </a:xfrm>
          <a:custGeom>
            <a:avLst/>
            <a:gdLst/>
            <a:ahLst/>
            <a:cxnLst/>
            <a:rect l="l" t="t" r="r" b="b"/>
            <a:pathLst>
              <a:path w="150219" h="245174">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2" name="TextBox 22"/>
          <p:cNvSpPr txBox="1"/>
          <p:nvPr/>
        </p:nvSpPr>
        <p:spPr>
          <a:xfrm>
            <a:off x="2223067" y="6252686"/>
            <a:ext cx="12105313" cy="452488"/>
          </a:xfrm>
          <a:prstGeom prst="rect">
            <a:avLst/>
          </a:prstGeom>
        </p:spPr>
        <p:txBody>
          <a:bodyPr wrap="square" lIns="0" tIns="0" rIns="0" bIns="0" rtlCol="0" anchor="t">
            <a:spAutoFit/>
          </a:bodyPr>
          <a:lstStyle/>
          <a:p>
            <a:pPr algn="l">
              <a:lnSpc>
                <a:spcPts val="3359"/>
              </a:lnSpc>
            </a:pPr>
            <a:r>
              <a:rPr lang="en-US" sz="3200" b="1" dirty="0" err="1">
                <a:solidFill>
                  <a:srgbClr val="171814"/>
                </a:solidFill>
                <a:latin typeface="Inter Bold"/>
                <a:ea typeface="Inter Bold"/>
                <a:cs typeface="Inter Bold"/>
                <a:sym typeface="Inter Bold"/>
              </a:rPr>
              <a:t>Mục</a:t>
            </a:r>
            <a:r>
              <a:rPr lang="en-US" sz="3200" b="1" dirty="0">
                <a:solidFill>
                  <a:srgbClr val="171814"/>
                </a:solidFill>
                <a:latin typeface="Inter Bold"/>
                <a:ea typeface="Inter Bold"/>
                <a:cs typeface="Inter Bold"/>
                <a:sym typeface="Inter Bold"/>
              </a:rPr>
              <a:t> 3. PHÁT TRIỂN CÔNG NGHIỆP CÔNG NGHỆ THÔNG TIN</a:t>
            </a:r>
          </a:p>
        </p:txBody>
      </p:sp>
      <p:sp>
        <p:nvSpPr>
          <p:cNvPr id="23" name="Freeform 23"/>
          <p:cNvSpPr/>
          <p:nvPr/>
        </p:nvSpPr>
        <p:spPr>
          <a:xfrm>
            <a:off x="1371600" y="7165619"/>
            <a:ext cx="644881" cy="644881"/>
          </a:xfrm>
          <a:custGeom>
            <a:avLst/>
            <a:gdLst/>
            <a:ahLst/>
            <a:cxnLst/>
            <a:rect l="l" t="t" r="r" b="b"/>
            <a:pathLst>
              <a:path w="644881" h="644881">
                <a:moveTo>
                  <a:pt x="0" y="0"/>
                </a:moveTo>
                <a:lnTo>
                  <a:pt x="644881" y="0"/>
                </a:lnTo>
                <a:lnTo>
                  <a:pt x="644881"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4" name="Freeform 24"/>
          <p:cNvSpPr/>
          <p:nvPr/>
        </p:nvSpPr>
        <p:spPr>
          <a:xfrm flipH="1">
            <a:off x="1618926" y="7365473"/>
            <a:ext cx="150219" cy="245173"/>
          </a:xfrm>
          <a:custGeom>
            <a:avLst/>
            <a:gdLst/>
            <a:ahLst/>
            <a:cxnLst/>
            <a:rect l="l" t="t" r="r" b="b"/>
            <a:pathLst>
              <a:path w="150219" h="245173">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5" name="TextBox 25"/>
          <p:cNvSpPr txBox="1"/>
          <p:nvPr/>
        </p:nvSpPr>
        <p:spPr>
          <a:xfrm>
            <a:off x="2203351" y="7319485"/>
            <a:ext cx="11100711" cy="436017"/>
          </a:xfrm>
          <a:prstGeom prst="rect">
            <a:avLst/>
          </a:prstGeom>
        </p:spPr>
        <p:txBody>
          <a:bodyPr wrap="square" lIns="0" tIns="0" rIns="0" bIns="0" rtlCol="0" anchor="t">
            <a:spAutoFit/>
          </a:bodyPr>
          <a:lstStyle/>
          <a:p>
            <a:pPr algn="l">
              <a:lnSpc>
                <a:spcPts val="3359"/>
              </a:lnSpc>
            </a:pPr>
            <a:r>
              <a:rPr lang="en-US" sz="3200" b="1" dirty="0" err="1">
                <a:solidFill>
                  <a:srgbClr val="171814"/>
                </a:solidFill>
                <a:latin typeface="Inter Bold"/>
                <a:ea typeface="Inter Bold"/>
                <a:cs typeface="Inter Bold"/>
                <a:sym typeface="Inter Bold"/>
              </a:rPr>
              <a:t>Mục</a:t>
            </a:r>
            <a:r>
              <a:rPr lang="en-US" sz="3200" b="1" dirty="0">
                <a:solidFill>
                  <a:srgbClr val="171814"/>
                </a:solidFill>
                <a:latin typeface="Inter Bold"/>
                <a:ea typeface="Inter Bold"/>
                <a:cs typeface="Inter Bold"/>
                <a:sym typeface="Inter Bold"/>
              </a:rPr>
              <a:t> 4. PHÁT TRIỂN DỊCH VỤ CÔNG NGHỆ THÔNG TIN</a:t>
            </a:r>
          </a:p>
        </p:txBody>
      </p:sp>
      <p:sp>
        <p:nvSpPr>
          <p:cNvPr id="26" name="Freeform 2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6"/>
            <a:stretch>
              <a:fillRect/>
            </a:stretch>
          </a:blipFill>
        </p:spPr>
        <p:txBody>
          <a:bodyPr/>
          <a:lstStyle/>
          <a:p>
            <a:endParaRPr lang="en-US"/>
          </a:p>
        </p:txBody>
      </p:sp>
      <p:grpSp>
        <p:nvGrpSpPr>
          <p:cNvPr id="27" name="Group 27"/>
          <p:cNvGrpSpPr/>
          <p:nvPr/>
        </p:nvGrpSpPr>
        <p:grpSpPr>
          <a:xfrm>
            <a:off x="12217765" y="9690687"/>
            <a:ext cx="6070235" cy="473329"/>
            <a:chOff x="0" y="0"/>
            <a:chExt cx="8093646" cy="631105"/>
          </a:xfrm>
        </p:grpSpPr>
        <p:sp>
          <p:nvSpPr>
            <p:cNvPr id="28" name="Freeform 28"/>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29" name="TextBox 29"/>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30" name="TextBox 3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4450435"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1. NGHIÊN CỨU - PHÁT TRIỂN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6">
              <a:extLst>
                <a:ext uri="{96DAC541-7B7A-43D3-8B79-37D633B846F1}">
                  <asvg:svgBlip xmlns:asvg="http://schemas.microsoft.com/office/drawing/2016/SVG/main" r:embed="rId17"/>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8"/>
            <a:stretch>
              <a:fillRect/>
            </a:stretch>
          </a:blipFill>
        </p:spPr>
        <p:txBody>
          <a:bodyPr/>
          <a:lstStyle/>
          <a:p>
            <a:endParaRPr lang="en-US"/>
          </a:p>
        </p:txBody>
      </p:sp>
      <p:graphicFrame>
        <p:nvGraphicFramePr>
          <p:cNvPr id="18" name="Table 18"/>
          <p:cNvGraphicFramePr>
            <a:graphicFrameLocks noGrp="1"/>
          </p:cNvGraphicFramePr>
          <p:nvPr/>
        </p:nvGraphicFramePr>
        <p:xfrm>
          <a:off x="1439047" y="3240243"/>
          <a:ext cx="15051587" cy="4667250"/>
        </p:xfrm>
        <a:graphic>
          <a:graphicData uri="http://schemas.openxmlformats.org/drawingml/2006/table">
            <a:tbl>
              <a:tblPr/>
              <a:tblGrid>
                <a:gridCol w="1864621">
                  <a:extLst>
                    <a:ext uri="{9D8B030D-6E8A-4147-A177-3AD203B41FA5}">
                      <a16:colId xmlns:a16="http://schemas.microsoft.com/office/drawing/2014/main" val="20000"/>
                    </a:ext>
                  </a:extLst>
                </a:gridCol>
                <a:gridCol w="13186966">
                  <a:extLst>
                    <a:ext uri="{9D8B030D-6E8A-4147-A177-3AD203B41FA5}">
                      <a16:colId xmlns:a16="http://schemas.microsoft.com/office/drawing/2014/main" val="20001"/>
                    </a:ext>
                  </a:extLst>
                </a:gridCol>
              </a:tblGrid>
              <a:tr h="889455">
                <a:tc>
                  <a:txBody>
                    <a:bodyPr/>
                    <a:lstStyle/>
                    <a:p>
                      <a:pPr algn="ctr">
                        <a:lnSpc>
                          <a:spcPts val="4352"/>
                        </a:lnSpc>
                        <a:defRPr/>
                      </a:pPr>
                      <a:r>
                        <a:rPr lang="en-US" sz="3200" b="1" i="1">
                          <a:solidFill>
                            <a:srgbClr val="000000"/>
                          </a:solidFill>
                          <a:latin typeface="Inter Bold Italics"/>
                          <a:ea typeface="Inter Bold Italics"/>
                          <a:cs typeface="Inter Bold Italics"/>
                          <a:sym typeface="Inter Bold Italics"/>
                        </a:rPr>
                        <a:t>Điều 38</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4352"/>
                        </a:lnSpc>
                        <a:defRPr/>
                      </a:pPr>
                      <a:r>
                        <a:rPr lang="en-US" sz="3200">
                          <a:solidFill>
                            <a:srgbClr val="000000"/>
                          </a:solidFill>
                          <a:latin typeface="Inter"/>
                          <a:ea typeface="Inter"/>
                          <a:cs typeface="Inter"/>
                          <a:sym typeface="Inter"/>
                        </a:rPr>
                        <a:t>Khuyến khích nghiên cứu - phát triển công nghệ thông tin</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1444170">
                <a:tc>
                  <a:txBody>
                    <a:bodyPr/>
                    <a:lstStyle/>
                    <a:p>
                      <a:pPr algn="ctr">
                        <a:lnSpc>
                          <a:spcPts val="4352"/>
                        </a:lnSpc>
                        <a:defRPr/>
                      </a:pPr>
                      <a:r>
                        <a:rPr lang="en-US" sz="3200" b="1" i="1">
                          <a:solidFill>
                            <a:srgbClr val="000000"/>
                          </a:solidFill>
                          <a:latin typeface="Inter Bold Italics"/>
                          <a:ea typeface="Inter Bold Italics"/>
                          <a:cs typeface="Inter Bold Italics"/>
                          <a:sym typeface="Inter Bold Italics"/>
                        </a:rPr>
                        <a:t>Điều 39</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4352"/>
                        </a:lnSpc>
                        <a:defRPr/>
                      </a:pPr>
                      <a:r>
                        <a:rPr lang="en-US" sz="3200">
                          <a:solidFill>
                            <a:srgbClr val="000000"/>
                          </a:solidFill>
                          <a:latin typeface="Inter"/>
                          <a:ea typeface="Inter"/>
                          <a:cs typeface="Inter"/>
                          <a:sym typeface="Inter"/>
                        </a:rPr>
                        <a:t>Cơ sở vật chất, kỹ thuật phục vụ cho hoạt động nghiên cứu - phát triển công nghệ thông tin</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r h="889455">
                <a:tc>
                  <a:txBody>
                    <a:bodyPr/>
                    <a:lstStyle/>
                    <a:p>
                      <a:pPr algn="ctr">
                        <a:lnSpc>
                          <a:spcPts val="4352"/>
                        </a:lnSpc>
                        <a:defRPr/>
                      </a:pPr>
                      <a:r>
                        <a:rPr lang="en-US" sz="3200" b="1" i="1">
                          <a:solidFill>
                            <a:srgbClr val="000000"/>
                          </a:solidFill>
                          <a:latin typeface="Inter Bold Italics"/>
                          <a:ea typeface="Inter Bold Italics"/>
                          <a:cs typeface="Inter Bold Italics"/>
                          <a:sym typeface="Inter Bold Italics"/>
                        </a:rPr>
                        <a:t>Điều 40</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4352"/>
                        </a:lnSpc>
                        <a:defRPr/>
                      </a:pPr>
                      <a:r>
                        <a:rPr lang="en-US" sz="3200">
                          <a:solidFill>
                            <a:srgbClr val="000000"/>
                          </a:solidFill>
                          <a:latin typeface="Inter"/>
                          <a:ea typeface="Inter"/>
                          <a:cs typeface="Inter"/>
                          <a:sym typeface="Inter"/>
                        </a:rPr>
                        <a:t>Nghiên cứu - phát triển công nghệ, sản phẩm công nghệ thông tin</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2"/>
                  </a:ext>
                </a:extLst>
              </a:tr>
              <a:tr h="1444170">
                <a:tc>
                  <a:txBody>
                    <a:bodyPr/>
                    <a:lstStyle/>
                    <a:p>
                      <a:pPr algn="ctr">
                        <a:lnSpc>
                          <a:spcPts val="4352"/>
                        </a:lnSpc>
                        <a:defRPr/>
                      </a:pPr>
                      <a:r>
                        <a:rPr lang="en-US" sz="3200" b="1" i="1">
                          <a:solidFill>
                            <a:srgbClr val="000000"/>
                          </a:solidFill>
                          <a:latin typeface="Inter Bold Italics"/>
                          <a:ea typeface="Inter Bold Italics"/>
                          <a:cs typeface="Inter Bold Italics"/>
                          <a:sym typeface="Inter Bold Italics"/>
                        </a:rPr>
                        <a:t>Điều 41</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tc>
                  <a:txBody>
                    <a:bodyPr/>
                    <a:lstStyle/>
                    <a:p>
                      <a:pPr algn="just">
                        <a:lnSpc>
                          <a:spcPts val="4352"/>
                        </a:lnSpc>
                        <a:defRPr/>
                      </a:pPr>
                      <a:r>
                        <a:rPr lang="en-US" sz="3200">
                          <a:solidFill>
                            <a:srgbClr val="000000"/>
                          </a:solidFill>
                          <a:latin typeface="Inter"/>
                          <a:ea typeface="Inter"/>
                          <a:cs typeface="Inter"/>
                          <a:sym typeface="Inter"/>
                        </a:rPr>
                        <a:t>Tiêu chuẩn, chất lượng trong hoạt động ứng dụng và phát triển công nghệ thông tin</a:t>
                      </a:r>
                      <a:endParaRPr lang="en-US" sz="1100"/>
                    </a:p>
                  </a:txBody>
                  <a:tcPr marT="91440" marB="9144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3"/>
                  </a:ext>
                </a:extLst>
              </a:tr>
            </a:tbl>
          </a:graphicData>
        </a:graphic>
      </p:graphicFrame>
      <p:sp>
        <p:nvSpPr>
          <p:cNvPr id="19" name="TextBox 19"/>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20" name="Freeform 20"/>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9">
              <a:extLst>
                <a:ext uri="{96DAC541-7B7A-43D3-8B79-37D633B846F1}">
                  <asvg:svgBlip xmlns:asvg="http://schemas.microsoft.com/office/drawing/2016/SVG/main" r:embed="rId20"/>
                </a:ext>
              </a:extLst>
            </a:blip>
            <a:stretch>
              <a:fillRect t="-147" b="-147"/>
            </a:stretch>
          </a:blipFill>
        </p:spPr>
        <p:txBody>
          <a:bodyPr/>
          <a:lstStyle/>
          <a:p>
            <a:endParaRPr lang="en-US"/>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24</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45139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1. NGHIÊN CỨU - PHÁT TRIỂN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690687"/>
            <a:ext cx="6070235" cy="473329"/>
            <a:chOff x="0" y="0"/>
            <a:chExt cx="8093646" cy="631105"/>
          </a:xfrm>
        </p:grpSpPr>
        <p:sp>
          <p:nvSpPr>
            <p:cNvPr id="14" name="Freeform 14"/>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Freeform 18"/>
          <p:cNvSpPr/>
          <p:nvPr/>
        </p:nvSpPr>
        <p:spPr>
          <a:xfrm>
            <a:off x="9947880" y="2690107"/>
            <a:ext cx="7667552" cy="5424793"/>
          </a:xfrm>
          <a:custGeom>
            <a:avLst/>
            <a:gdLst/>
            <a:ahLst/>
            <a:cxnLst/>
            <a:rect l="l" t="t" r="r" b="b"/>
            <a:pathLst>
              <a:path w="7667552" h="5424793">
                <a:moveTo>
                  <a:pt x="0" y="0"/>
                </a:moveTo>
                <a:lnTo>
                  <a:pt x="7667552" y="0"/>
                </a:lnTo>
                <a:lnTo>
                  <a:pt x="7667552" y="5424793"/>
                </a:lnTo>
                <a:lnTo>
                  <a:pt x="0" y="5424793"/>
                </a:lnTo>
                <a:lnTo>
                  <a:pt x="0" y="0"/>
                </a:lnTo>
                <a:close/>
              </a:path>
            </a:pathLst>
          </a:custGeom>
          <a:blipFill>
            <a:blip r:embed="rId19"/>
            <a:stretch>
              <a:fillRect/>
            </a:stretch>
          </a:blipFill>
        </p:spPr>
        <p:txBody>
          <a:bodyPr/>
          <a:lstStyle/>
          <a:p>
            <a:endParaRPr lang="en-US"/>
          </a:p>
        </p:txBody>
      </p:sp>
      <p:sp>
        <p:nvSpPr>
          <p:cNvPr id="19" name="TextBox 19"/>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20" name="TextBox 20"/>
          <p:cNvSpPr txBox="1"/>
          <p:nvPr/>
        </p:nvSpPr>
        <p:spPr>
          <a:xfrm>
            <a:off x="1553385" y="2583009"/>
            <a:ext cx="7066493" cy="5446395"/>
          </a:xfrm>
          <a:prstGeom prst="rect">
            <a:avLst/>
          </a:prstGeom>
        </p:spPr>
        <p:txBody>
          <a:bodyPr lIns="0" tIns="0" rIns="0" bIns="0" rtlCol="0" anchor="t">
            <a:spAutoFit/>
          </a:bodyPr>
          <a:lstStyle/>
          <a:p>
            <a:pPr algn="just">
              <a:lnSpc>
                <a:spcPts val="4096"/>
              </a:lnSpc>
            </a:pPr>
            <a:r>
              <a:rPr lang="en-US" sz="3200" b="1">
                <a:solidFill>
                  <a:srgbClr val="1A1C1E"/>
                </a:solidFill>
                <a:latin typeface="Inter Bold"/>
                <a:ea typeface="Inter Bold"/>
                <a:cs typeface="Inter Bold"/>
                <a:sym typeface="Inter Bold"/>
              </a:rPr>
              <a:t>Điều 38 &amp; 40: Nhà nước khuyến khích nghiên cứu CNTT; ưu tiên ngân sách cho phần mềm, thúc đẩy mô hình nghiên cứu – đào tạo – sản xuất.</a:t>
            </a:r>
          </a:p>
          <a:p>
            <a:pPr algn="just">
              <a:lnSpc>
                <a:spcPts val="4096"/>
              </a:lnSpc>
            </a:pPr>
            <a:r>
              <a:rPr lang="en-US" sz="3200">
                <a:solidFill>
                  <a:srgbClr val="1A1C1E"/>
                </a:solidFill>
                <a:latin typeface="Inter"/>
                <a:ea typeface="Inter"/>
                <a:cs typeface="Inter"/>
                <a:sym typeface="Inter"/>
              </a:rPr>
              <a:t>Ví dụ: Ứng dụng cảnh báo thiên tai gửi hướng dẫn neo đậu tàu thuyền (Zalo/SMS/app).</a:t>
            </a:r>
          </a:p>
          <a:p>
            <a:pPr algn="just">
              <a:lnSpc>
                <a:spcPts val="3584"/>
              </a:lnSpc>
            </a:pPr>
            <a:r>
              <a:rPr lang="en-US" sz="2800" b="1">
                <a:solidFill>
                  <a:srgbClr val="1A1C1E"/>
                </a:solidFill>
                <a:latin typeface="Inter Bold"/>
                <a:ea typeface="Inter Bold"/>
                <a:cs typeface="Inter Bold"/>
                <a:sym typeface="Inter Bold"/>
              </a:rPr>
              <a:t>Nghiên cứu phải đi kèm phát triển sản phẩm, mang lại lợi ích cho đời sống, xã hội.</a:t>
            </a:r>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25</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56950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2. PHÁT TRIỂN NGUỒN NHÂN LỰC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6">
              <a:extLst>
                <a:ext uri="{96DAC541-7B7A-43D3-8B79-37D633B846F1}">
                  <asvg:svgBlip xmlns:asvg="http://schemas.microsoft.com/office/drawing/2016/SVG/main" r:embed="rId17"/>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2251150012 - Võ Trần Hoàng</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8"/>
            <a:stretch>
              <a:fillRect/>
            </a:stretch>
          </a:blipFill>
        </p:spPr>
        <p:txBody>
          <a:bodyPr/>
          <a:lstStyle/>
          <a:p>
            <a:endParaRPr lang="en-US"/>
          </a:p>
        </p:txBody>
      </p:sp>
      <p:sp>
        <p:nvSpPr>
          <p:cNvPr id="18" name="Freeform 18"/>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9">
              <a:extLst>
                <a:ext uri="{96DAC541-7B7A-43D3-8B79-37D633B846F1}">
                  <asvg:svgBlip xmlns:asvg="http://schemas.microsoft.com/office/drawing/2016/SVG/main" r:embed="rId20"/>
                </a:ext>
              </a:extLst>
            </a:blip>
            <a:stretch>
              <a:fillRect t="-147" b="-147"/>
            </a:stretch>
          </a:blipFill>
        </p:spPr>
        <p:txBody>
          <a:bodyPr/>
          <a:lstStyle/>
          <a:p>
            <a:endParaRPr lang="en-US"/>
          </a:p>
        </p:txBody>
      </p:sp>
      <p:graphicFrame>
        <p:nvGraphicFramePr>
          <p:cNvPr id="19" name="Table 19"/>
          <p:cNvGraphicFramePr>
            <a:graphicFrameLocks noGrp="1"/>
          </p:cNvGraphicFramePr>
          <p:nvPr/>
        </p:nvGraphicFramePr>
        <p:xfrm>
          <a:off x="2395433" y="2857482"/>
          <a:ext cx="13698285" cy="5514975"/>
        </p:xfrm>
        <a:graphic>
          <a:graphicData uri="http://schemas.openxmlformats.org/drawingml/2006/table">
            <a:tbl>
              <a:tblPr/>
              <a:tblGrid>
                <a:gridCol w="2168359">
                  <a:extLst>
                    <a:ext uri="{9D8B030D-6E8A-4147-A177-3AD203B41FA5}">
                      <a16:colId xmlns:a16="http://schemas.microsoft.com/office/drawing/2014/main" val="20000"/>
                    </a:ext>
                  </a:extLst>
                </a:gridCol>
                <a:gridCol w="11529926">
                  <a:extLst>
                    <a:ext uri="{9D8B030D-6E8A-4147-A177-3AD203B41FA5}">
                      <a16:colId xmlns:a16="http://schemas.microsoft.com/office/drawing/2014/main" val="20001"/>
                    </a:ext>
                  </a:extLst>
                </a:gridCol>
              </a:tblGrid>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42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031739"/>
                          </a:solidFill>
                          <a:latin typeface="Inter"/>
                          <a:ea typeface="Inter"/>
                          <a:cs typeface="Inter"/>
                          <a:sym typeface="Inter"/>
                        </a:rPr>
                        <a:t>Chính sách phát triển nguồn nhân lực công nghệ thông tin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43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222222"/>
                          </a:solidFill>
                          <a:latin typeface="Inter"/>
                          <a:ea typeface="Inter"/>
                          <a:cs typeface="Inter"/>
                          <a:sym typeface="Inter"/>
                        </a:rPr>
                        <a:t> Chứng chỉ công nghệ thông tin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44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222222"/>
                          </a:solidFill>
                          <a:latin typeface="Inter"/>
                          <a:ea typeface="Inter"/>
                          <a:cs typeface="Inter"/>
                          <a:sym typeface="Inter"/>
                        </a:rPr>
                        <a:t>Sử dụng nhân lực công nghệ thông tin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2"/>
                  </a:ext>
                </a:extLst>
              </a:tr>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45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000000"/>
                          </a:solidFill>
                          <a:latin typeface="Inter"/>
                          <a:ea typeface="Inter"/>
                          <a:cs typeface="Inter"/>
                          <a:sym typeface="Inter"/>
                        </a:rPr>
                        <a:t>Người Việt Nam làm việc tại nước ngoài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3"/>
                  </a:ext>
                </a:extLst>
              </a:tr>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46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dirty="0" err="1">
                          <a:solidFill>
                            <a:srgbClr val="222222"/>
                          </a:solidFill>
                          <a:latin typeface="Inter"/>
                          <a:ea typeface="Inter"/>
                          <a:cs typeface="Inter"/>
                          <a:sym typeface="Inter"/>
                        </a:rPr>
                        <a:t>Phổ</a:t>
                      </a:r>
                      <a:r>
                        <a:rPr lang="en-US" sz="3200" dirty="0">
                          <a:solidFill>
                            <a:srgbClr val="222222"/>
                          </a:solidFill>
                          <a:latin typeface="Inter"/>
                          <a:ea typeface="Inter"/>
                          <a:cs typeface="Inter"/>
                          <a:sym typeface="Inter"/>
                        </a:rPr>
                        <a:t> </a:t>
                      </a:r>
                      <a:r>
                        <a:rPr lang="en-US" sz="3200" dirty="0" err="1">
                          <a:solidFill>
                            <a:srgbClr val="222222"/>
                          </a:solidFill>
                          <a:latin typeface="Inter"/>
                          <a:ea typeface="Inter"/>
                          <a:cs typeface="Inter"/>
                          <a:sym typeface="Inter"/>
                        </a:rPr>
                        <a:t>cập</a:t>
                      </a:r>
                      <a:r>
                        <a:rPr lang="en-US" sz="3200" dirty="0">
                          <a:solidFill>
                            <a:srgbClr val="222222"/>
                          </a:solidFill>
                          <a:latin typeface="Inter"/>
                          <a:ea typeface="Inter"/>
                          <a:cs typeface="Inter"/>
                          <a:sym typeface="Inter"/>
                        </a:rPr>
                        <a:t> </a:t>
                      </a:r>
                      <a:r>
                        <a:rPr lang="en-US" sz="3200" dirty="0" err="1">
                          <a:solidFill>
                            <a:srgbClr val="222222"/>
                          </a:solidFill>
                          <a:latin typeface="Inter"/>
                          <a:ea typeface="Inter"/>
                          <a:cs typeface="Inter"/>
                          <a:sym typeface="Inter"/>
                        </a:rPr>
                        <a:t>kiến</a:t>
                      </a:r>
                      <a:r>
                        <a:rPr lang="en-US" sz="3200" dirty="0">
                          <a:solidFill>
                            <a:srgbClr val="222222"/>
                          </a:solidFill>
                          <a:latin typeface="Inter"/>
                          <a:ea typeface="Inter"/>
                          <a:cs typeface="Inter"/>
                          <a:sym typeface="Inter"/>
                        </a:rPr>
                        <a:t> </a:t>
                      </a:r>
                      <a:r>
                        <a:rPr lang="en-US" sz="3200" dirty="0" err="1">
                          <a:solidFill>
                            <a:srgbClr val="222222"/>
                          </a:solidFill>
                          <a:latin typeface="Inter"/>
                          <a:ea typeface="Inter"/>
                          <a:cs typeface="Inter"/>
                          <a:sym typeface="Inter"/>
                        </a:rPr>
                        <a:t>thức</a:t>
                      </a:r>
                      <a:r>
                        <a:rPr lang="en-US" sz="3200" dirty="0">
                          <a:solidFill>
                            <a:srgbClr val="222222"/>
                          </a:solidFill>
                          <a:latin typeface="Inter"/>
                          <a:ea typeface="Inter"/>
                          <a:cs typeface="Inter"/>
                          <a:sym typeface="Inter"/>
                        </a:rPr>
                        <a:t> </a:t>
                      </a:r>
                      <a:r>
                        <a:rPr lang="en-US" sz="3200" dirty="0" err="1">
                          <a:solidFill>
                            <a:srgbClr val="222222"/>
                          </a:solidFill>
                          <a:latin typeface="Inter"/>
                          <a:ea typeface="Inter"/>
                          <a:cs typeface="Inter"/>
                          <a:sym typeface="Inter"/>
                        </a:rPr>
                        <a:t>công</a:t>
                      </a:r>
                      <a:r>
                        <a:rPr lang="en-US" sz="3200" dirty="0">
                          <a:solidFill>
                            <a:srgbClr val="222222"/>
                          </a:solidFill>
                          <a:latin typeface="Inter"/>
                          <a:ea typeface="Inter"/>
                          <a:cs typeface="Inter"/>
                          <a:sym typeface="Inter"/>
                        </a:rPr>
                        <a:t> </a:t>
                      </a:r>
                      <a:r>
                        <a:rPr lang="en-US" sz="3200" dirty="0" err="1">
                          <a:solidFill>
                            <a:srgbClr val="222222"/>
                          </a:solidFill>
                          <a:latin typeface="Inter"/>
                          <a:ea typeface="Inter"/>
                          <a:cs typeface="Inter"/>
                          <a:sym typeface="Inter"/>
                        </a:rPr>
                        <a:t>nghệ</a:t>
                      </a:r>
                      <a:r>
                        <a:rPr lang="en-US" sz="3200" dirty="0">
                          <a:solidFill>
                            <a:srgbClr val="222222"/>
                          </a:solidFill>
                          <a:latin typeface="Inter"/>
                          <a:ea typeface="Inter"/>
                          <a:cs typeface="Inter"/>
                          <a:sym typeface="Inter"/>
                        </a:rPr>
                        <a:t> </a:t>
                      </a:r>
                      <a:r>
                        <a:rPr lang="en-US" sz="3200" dirty="0" err="1">
                          <a:solidFill>
                            <a:srgbClr val="222222"/>
                          </a:solidFill>
                          <a:latin typeface="Inter"/>
                          <a:ea typeface="Inter"/>
                          <a:cs typeface="Inter"/>
                          <a:sym typeface="Inter"/>
                        </a:rPr>
                        <a:t>thông</a:t>
                      </a:r>
                      <a:r>
                        <a:rPr lang="en-US" sz="3200" dirty="0">
                          <a:solidFill>
                            <a:srgbClr val="222222"/>
                          </a:solidFill>
                          <a:latin typeface="Inter"/>
                          <a:ea typeface="Inter"/>
                          <a:cs typeface="Inter"/>
                          <a:sym typeface="Inter"/>
                        </a:rPr>
                        <a:t> tin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4"/>
                  </a:ext>
                </a:extLst>
              </a:tr>
            </a:tbl>
          </a:graphicData>
        </a:graphic>
      </p:graphicFrame>
      <p:sp>
        <p:nvSpPr>
          <p:cNvPr id="20" name="TextBox 20"/>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26</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56950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2. PHÁT TRIỂN NGUỒN NHÂN LỰC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690687"/>
            <a:ext cx="6070235" cy="473329"/>
            <a:chOff x="0" y="0"/>
            <a:chExt cx="8093646" cy="631105"/>
          </a:xfrm>
        </p:grpSpPr>
        <p:sp>
          <p:nvSpPr>
            <p:cNvPr id="14" name="Freeform 14"/>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Freeform 18"/>
          <p:cNvSpPr/>
          <p:nvPr/>
        </p:nvSpPr>
        <p:spPr>
          <a:xfrm>
            <a:off x="10236125" y="2629634"/>
            <a:ext cx="7313688" cy="5485266"/>
          </a:xfrm>
          <a:custGeom>
            <a:avLst/>
            <a:gdLst/>
            <a:ahLst/>
            <a:cxnLst/>
            <a:rect l="l" t="t" r="r" b="b"/>
            <a:pathLst>
              <a:path w="7313688" h="5485266">
                <a:moveTo>
                  <a:pt x="0" y="0"/>
                </a:moveTo>
                <a:lnTo>
                  <a:pt x="7313687" y="0"/>
                </a:lnTo>
                <a:lnTo>
                  <a:pt x="7313687" y="5485266"/>
                </a:lnTo>
                <a:lnTo>
                  <a:pt x="0" y="5485266"/>
                </a:lnTo>
                <a:lnTo>
                  <a:pt x="0" y="0"/>
                </a:lnTo>
                <a:close/>
              </a:path>
            </a:pathLst>
          </a:custGeom>
          <a:blipFill>
            <a:blip r:embed="rId19"/>
            <a:stretch>
              <a:fillRect/>
            </a:stretch>
          </a:blipFill>
        </p:spPr>
        <p:txBody>
          <a:bodyPr/>
          <a:lstStyle/>
          <a:p>
            <a:endParaRPr lang="en-US"/>
          </a:p>
        </p:txBody>
      </p:sp>
      <p:sp>
        <p:nvSpPr>
          <p:cNvPr id="19" name="TextBox 19"/>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20" name="TextBox 20"/>
          <p:cNvSpPr txBox="1"/>
          <p:nvPr/>
        </p:nvSpPr>
        <p:spPr>
          <a:xfrm>
            <a:off x="1553385" y="2602059"/>
            <a:ext cx="7994533" cy="5762625"/>
          </a:xfrm>
          <a:prstGeom prst="rect">
            <a:avLst/>
          </a:prstGeom>
        </p:spPr>
        <p:txBody>
          <a:bodyPr lIns="0" tIns="0" rIns="0" bIns="0" rtlCol="0" anchor="t">
            <a:spAutoFit/>
          </a:bodyPr>
          <a:lstStyle/>
          <a:p>
            <a:pPr algn="just">
              <a:lnSpc>
                <a:spcPts val="3840"/>
              </a:lnSpc>
            </a:pPr>
            <a:r>
              <a:rPr lang="en-US" sz="3200" b="1">
                <a:solidFill>
                  <a:srgbClr val="1A1C1E"/>
                </a:solidFill>
                <a:latin typeface="Inter Bold"/>
                <a:ea typeface="Inter Bold"/>
                <a:cs typeface="Inter Bold"/>
                <a:sym typeface="Inter Bold"/>
              </a:rPr>
              <a:t>Nội dung: </a:t>
            </a:r>
            <a:r>
              <a:rPr lang="en-US" sz="3200">
                <a:solidFill>
                  <a:srgbClr val="1A1C1E"/>
                </a:solidFill>
                <a:latin typeface="Inter"/>
                <a:ea typeface="Inter"/>
                <a:cs typeface="Inter"/>
                <a:sym typeface="Inter"/>
              </a:rPr>
              <a:t>Phát triển nguồn nhân lực CNTT về quy mô và chất lượng; gắn đào tạo với nhu cầu thực tế và phổ cập kỹ năng số.</a:t>
            </a:r>
          </a:p>
          <a:p>
            <a:pPr algn="just">
              <a:lnSpc>
                <a:spcPts val="3840"/>
              </a:lnSpc>
            </a:pPr>
            <a:r>
              <a:rPr lang="en-US" sz="3200" b="1">
                <a:solidFill>
                  <a:srgbClr val="1A1C1E"/>
                </a:solidFill>
                <a:latin typeface="Inter Bold"/>
                <a:ea typeface="Inter Bold"/>
                <a:cs typeface="Inter Bold"/>
                <a:sym typeface="Inter Bold"/>
              </a:rPr>
              <a:t>Ví dụ:</a:t>
            </a:r>
            <a:r>
              <a:rPr lang="en-US" sz="3200">
                <a:solidFill>
                  <a:srgbClr val="1A1C1E"/>
                </a:solidFill>
                <a:latin typeface="Inter"/>
                <a:ea typeface="Inter"/>
                <a:cs typeface="Inter"/>
                <a:sym typeface="Inter"/>
              </a:rPr>
              <a:t> Sinh viên học chứng chỉ (Cisco/AWS/Google), thực tập tại doanh nghiệp; các trường mở ngành AI/ATTT/KHDL.</a:t>
            </a:r>
          </a:p>
          <a:p>
            <a:pPr algn="just">
              <a:lnSpc>
                <a:spcPts val="3840"/>
              </a:lnSpc>
            </a:pPr>
            <a:r>
              <a:rPr lang="en-US" sz="3200" b="1">
                <a:solidFill>
                  <a:srgbClr val="1A1C1E"/>
                </a:solidFill>
                <a:latin typeface="Inter Bold"/>
                <a:ea typeface="Inter Bold"/>
                <a:cs typeface="Inter Bold"/>
                <a:sym typeface="Inter Bold"/>
              </a:rPr>
              <a:t>Ý nghĩa:</a:t>
            </a:r>
            <a:r>
              <a:rPr lang="en-US" sz="3200">
                <a:solidFill>
                  <a:srgbClr val="1A1C1E"/>
                </a:solidFill>
                <a:latin typeface="Inter"/>
                <a:ea typeface="Inter"/>
                <a:cs typeface="Inter"/>
                <a:sym typeface="Inter"/>
              </a:rPr>
              <a:t> Tăng chất lượng + số lượng nhân lực → vận hành chuyển đổi số hiệu quả.</a:t>
            </a:r>
          </a:p>
          <a:p>
            <a:pPr algn="just">
              <a:lnSpc>
                <a:spcPts val="3840"/>
              </a:lnSpc>
            </a:pPr>
            <a:endParaRPr lang="en-US" sz="3200">
              <a:solidFill>
                <a:srgbClr val="1A1C1E"/>
              </a:solidFill>
              <a:latin typeface="Inter"/>
              <a:ea typeface="Inter"/>
              <a:cs typeface="Inter"/>
              <a:sym typeface="Inter"/>
            </a:endParaRPr>
          </a:p>
          <a:p>
            <a:pPr algn="just">
              <a:lnSpc>
                <a:spcPts val="3360"/>
              </a:lnSpc>
            </a:pPr>
            <a:endParaRPr lang="en-US" sz="3200">
              <a:solidFill>
                <a:srgbClr val="1A1C1E"/>
              </a:solidFill>
              <a:latin typeface="Inter"/>
              <a:ea typeface="Inter"/>
              <a:cs typeface="Inter"/>
              <a:sym typeface="Inter"/>
            </a:endParaRPr>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27</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299" y="1515713"/>
            <a:ext cx="14450435"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3. PHÁT TRIỂN CÔNG NGHIỆP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6">
              <a:extLst>
                <a:ext uri="{96DAC541-7B7A-43D3-8B79-37D633B846F1}">
                  <asvg:svgBlip xmlns:asvg="http://schemas.microsoft.com/office/drawing/2016/SVG/main" r:embed="rId17"/>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8"/>
            <a:stretch>
              <a:fillRect/>
            </a:stretch>
          </a:blipFill>
        </p:spPr>
        <p:txBody>
          <a:bodyPr/>
          <a:lstStyle/>
          <a:p>
            <a:endParaRPr lang="en-US"/>
          </a:p>
        </p:txBody>
      </p:sp>
      <p:sp>
        <p:nvSpPr>
          <p:cNvPr id="18" name="Freeform 18"/>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9">
              <a:extLst>
                <a:ext uri="{96DAC541-7B7A-43D3-8B79-37D633B846F1}">
                  <asvg:svgBlip xmlns:asvg="http://schemas.microsoft.com/office/drawing/2016/SVG/main" r:embed="rId20"/>
                </a:ext>
              </a:extLst>
            </a:blip>
            <a:stretch>
              <a:fillRect t="-147" b="-147"/>
            </a:stretch>
          </a:blipFill>
        </p:spPr>
        <p:txBody>
          <a:bodyPr/>
          <a:lstStyle/>
          <a:p>
            <a:endParaRPr lang="en-US"/>
          </a:p>
        </p:txBody>
      </p:sp>
      <p:graphicFrame>
        <p:nvGraphicFramePr>
          <p:cNvPr id="19" name="Table 19"/>
          <p:cNvGraphicFramePr>
            <a:graphicFrameLocks noGrp="1"/>
          </p:cNvGraphicFramePr>
          <p:nvPr/>
        </p:nvGraphicFramePr>
        <p:xfrm>
          <a:off x="2395433" y="2857482"/>
          <a:ext cx="13698285" cy="5514975"/>
        </p:xfrm>
        <a:graphic>
          <a:graphicData uri="http://schemas.openxmlformats.org/drawingml/2006/table">
            <a:tbl>
              <a:tblPr/>
              <a:tblGrid>
                <a:gridCol w="2168359">
                  <a:extLst>
                    <a:ext uri="{9D8B030D-6E8A-4147-A177-3AD203B41FA5}">
                      <a16:colId xmlns:a16="http://schemas.microsoft.com/office/drawing/2014/main" val="20000"/>
                    </a:ext>
                  </a:extLst>
                </a:gridCol>
                <a:gridCol w="11529926">
                  <a:extLst>
                    <a:ext uri="{9D8B030D-6E8A-4147-A177-3AD203B41FA5}">
                      <a16:colId xmlns:a16="http://schemas.microsoft.com/office/drawing/2014/main" val="20001"/>
                    </a:ext>
                  </a:extLst>
                </a:gridCol>
              </a:tblGrid>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47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031739"/>
                          </a:solidFill>
                          <a:latin typeface="Inter"/>
                          <a:ea typeface="Inter"/>
                          <a:cs typeface="Inter"/>
                          <a:sym typeface="Inter"/>
                        </a:rPr>
                        <a:t>Loại hình công nghiệp công nghệ thông tin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48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222222"/>
                          </a:solidFill>
                          <a:latin typeface="Inter"/>
                          <a:ea typeface="Inter"/>
                          <a:cs typeface="Inter"/>
                          <a:sym typeface="Inter"/>
                        </a:rPr>
                        <a:t>Chính sách phát triển công nghiệp công nghệ thông tin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49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222222"/>
                          </a:solidFill>
                          <a:latin typeface="Inter"/>
                          <a:ea typeface="Inter"/>
                          <a:cs typeface="Inter"/>
                          <a:sym typeface="Inter"/>
                        </a:rPr>
                        <a:t>Phát triển thị trường công nghiệp công nghệ thông tin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2"/>
                  </a:ext>
                </a:extLst>
              </a:tr>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50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000000"/>
                          </a:solidFill>
                          <a:latin typeface="Inter"/>
                          <a:ea typeface="Inter"/>
                          <a:cs typeface="Inter"/>
                          <a:sym typeface="Inter"/>
                        </a:rPr>
                        <a:t>Sản phẩm công nghệ thông tin trọng điểm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3"/>
                  </a:ext>
                </a:extLst>
              </a:tr>
              <a:tr h="110299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51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222222"/>
                          </a:solidFill>
                          <a:latin typeface="Inter"/>
                          <a:ea typeface="Inter"/>
                          <a:cs typeface="Inter"/>
                          <a:sym typeface="Inter"/>
                        </a:rPr>
                        <a:t> Khu công nghệ thông tin tập trung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4"/>
                  </a:ext>
                </a:extLst>
              </a:tr>
            </a:tbl>
          </a:graphicData>
        </a:graphic>
      </p:graphicFrame>
      <p:sp>
        <p:nvSpPr>
          <p:cNvPr id="20" name="TextBox 20"/>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28</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47425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3. PHÁT TRIỂN CÔNG NGHIỆP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690687"/>
            <a:ext cx="6070235" cy="473329"/>
            <a:chOff x="0" y="0"/>
            <a:chExt cx="8093646" cy="631105"/>
          </a:xfrm>
        </p:grpSpPr>
        <p:sp>
          <p:nvSpPr>
            <p:cNvPr id="14" name="Freeform 14"/>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TextBox 18"/>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19" name="TextBox 19"/>
          <p:cNvSpPr txBox="1"/>
          <p:nvPr/>
        </p:nvSpPr>
        <p:spPr>
          <a:xfrm>
            <a:off x="1553385" y="2602059"/>
            <a:ext cx="15851172" cy="4305300"/>
          </a:xfrm>
          <a:prstGeom prst="rect">
            <a:avLst/>
          </a:prstGeom>
        </p:spPr>
        <p:txBody>
          <a:bodyPr lIns="0" tIns="0" rIns="0" bIns="0" rtlCol="0" anchor="t">
            <a:spAutoFit/>
          </a:bodyPr>
          <a:lstStyle/>
          <a:p>
            <a:pPr algn="just">
              <a:lnSpc>
                <a:spcPts val="3840"/>
              </a:lnSpc>
            </a:pPr>
            <a:r>
              <a:rPr lang="en-US" sz="3200" b="1">
                <a:solidFill>
                  <a:srgbClr val="1A1C1E"/>
                </a:solidFill>
                <a:latin typeface="Inter Bold"/>
                <a:ea typeface="Inter Bold"/>
                <a:cs typeface="Inter Bold"/>
                <a:sym typeface="Inter Bold"/>
              </a:rPr>
              <a:t>Nội dung:</a:t>
            </a:r>
          </a:p>
          <a:p>
            <a:pPr marL="690881" lvl="1" indent="-345440" algn="just">
              <a:lnSpc>
                <a:spcPts val="3840"/>
              </a:lnSpc>
              <a:buFont typeface="Arial"/>
              <a:buChar char="•"/>
            </a:pPr>
            <a:r>
              <a:rPr lang="en-US" sz="3200">
                <a:solidFill>
                  <a:srgbClr val="1A1C1E"/>
                </a:solidFill>
                <a:latin typeface="Inter"/>
                <a:ea typeface="Inter"/>
                <a:cs typeface="Inter"/>
                <a:sym typeface="Inter"/>
              </a:rPr>
              <a:t>Công nghiệp CNTT gồm công nghiệp phần cứng, công nghiệp phần mềm và công nghiệp nội dung số.</a:t>
            </a:r>
          </a:p>
          <a:p>
            <a:pPr marL="690881" lvl="1" indent="-345440" algn="just">
              <a:lnSpc>
                <a:spcPts val="3840"/>
              </a:lnSpc>
              <a:buFont typeface="Arial"/>
              <a:buChar char="•"/>
            </a:pPr>
            <a:r>
              <a:rPr lang="en-US" sz="3200">
                <a:solidFill>
                  <a:srgbClr val="1A1C1E"/>
                </a:solidFill>
                <a:latin typeface="Inter"/>
                <a:ea typeface="Inter"/>
                <a:cs typeface="Inter"/>
                <a:sym typeface="Inter"/>
              </a:rPr>
              <a:t>Nhà nước ưu đãi, ưu tiên đầu tư phát triển công nghiệp CNTT, đặc biệt chú trọng phần mềm và nội dung số để trở thành ngành kinh tế trọng điểm.</a:t>
            </a:r>
          </a:p>
          <a:p>
            <a:pPr marL="690881" lvl="1" indent="-345440" algn="just">
              <a:lnSpc>
                <a:spcPts val="3840"/>
              </a:lnSpc>
              <a:buFont typeface="Arial"/>
              <a:buChar char="•"/>
            </a:pPr>
            <a:r>
              <a:rPr lang="en-US" sz="3200">
                <a:solidFill>
                  <a:srgbClr val="1A1C1E"/>
                </a:solidFill>
                <a:latin typeface="Inter"/>
                <a:ea typeface="Inter"/>
                <a:cs typeface="Inter"/>
                <a:sym typeface="Inter"/>
              </a:rPr>
              <a:t>Thúc đẩy thị trường và sản phẩm: ưu tiên mua sắm sản phẩm trong nước; phát triển sản phẩm CNTT trọng điểm và khu CNTT tập trung.</a:t>
            </a:r>
          </a:p>
          <a:p>
            <a:pPr algn="just">
              <a:lnSpc>
                <a:spcPts val="3840"/>
              </a:lnSpc>
            </a:pPr>
            <a:endParaRPr lang="en-US" sz="3200">
              <a:solidFill>
                <a:srgbClr val="1A1C1E"/>
              </a:solidFill>
              <a:latin typeface="Inter"/>
              <a:ea typeface="Inter"/>
              <a:cs typeface="Inter"/>
              <a:sym typeface="Inter"/>
            </a:endParaRPr>
          </a:p>
          <a:p>
            <a:pPr algn="just">
              <a:lnSpc>
                <a:spcPts val="3360"/>
              </a:lnSpc>
            </a:pPr>
            <a:endParaRPr lang="en-US" sz="3200">
              <a:solidFill>
                <a:srgbClr val="1A1C1E"/>
              </a:solidFill>
              <a:latin typeface="Inter"/>
              <a:ea typeface="Inter"/>
              <a:cs typeface="Inter"/>
              <a:sym typeface="Inter"/>
            </a:endParaRPr>
          </a:p>
        </p:txBody>
      </p:sp>
      <p:sp>
        <p:nvSpPr>
          <p:cNvPr id="20" name="TextBox 2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29</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3">
              <a:extLst>
                <a:ext uri="{96DAC541-7B7A-43D3-8B79-37D633B846F1}">
                  <asvg:svgBlip xmlns:asvg="http://schemas.microsoft.com/office/drawing/2016/SVG/main" r:embed="rId4"/>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3">
              <a:extLst>
                <a:ext uri="{96DAC541-7B7A-43D3-8B79-37D633B846F1}">
                  <asvg:svgBlip xmlns:asvg="http://schemas.microsoft.com/office/drawing/2016/SVG/main" r:embed="rId4"/>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5">
              <a:extLst>
                <a:ext uri="{96DAC541-7B7A-43D3-8B79-37D633B846F1}">
                  <asvg:svgBlip xmlns:asvg="http://schemas.microsoft.com/office/drawing/2016/SVG/main" r:embed="rId6"/>
                </a:ext>
              </a:extLst>
            </a:blip>
            <a:stretch>
              <a:fillRect t="-236" b="-236"/>
            </a:stretch>
          </a:blipFill>
        </p:spPr>
        <p:txBody>
          <a:bodyPr/>
          <a:lstStyle/>
          <a:p>
            <a:endParaRPr lang="en-US"/>
          </a:p>
        </p:txBody>
      </p:sp>
      <p:sp>
        <p:nvSpPr>
          <p:cNvPr id="6" name="TextBox 6"/>
          <p:cNvSpPr txBox="1"/>
          <p:nvPr/>
        </p:nvSpPr>
        <p:spPr>
          <a:xfrm>
            <a:off x="1564300" y="1515713"/>
            <a:ext cx="13627436"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4. PHÁT TRIỂN DỊCH VỤ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7">
              <a:alphaModFix amt="50000"/>
              <a:extLst>
                <a:ext uri="{96DAC541-7B7A-43D3-8B79-37D633B846F1}">
                  <asvg:svgBlip xmlns:asvg="http://schemas.microsoft.com/office/drawing/2016/SVG/main" r:embed="rId8"/>
                </a:ext>
              </a:extLst>
            </a:blip>
            <a:stretch>
              <a:fillRect t="-133" b="-133"/>
            </a:stretch>
          </a:blipFill>
        </p:spPr>
        <p:txBody>
          <a:bodyPr/>
          <a:lstStyle/>
          <a:p>
            <a:endParaRPr lang="en-US"/>
          </a:p>
        </p:txBody>
      </p:sp>
      <p:sp>
        <p:nvSpPr>
          <p:cNvPr id="9" name="Freeform 9"/>
          <p:cNvSpPr/>
          <p:nvPr/>
        </p:nvSpPr>
        <p:spPr>
          <a:xfrm>
            <a:off x="15616123" y="1097099"/>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9">
              <a:extLst>
                <a:ext uri="{96DAC541-7B7A-43D3-8B79-37D633B846F1}">
                  <asvg:svgBlip xmlns:asvg="http://schemas.microsoft.com/office/drawing/2016/SVG/main" r:embed="rId10"/>
                </a:ext>
              </a:extLst>
            </a:blip>
            <a:stretch>
              <a:fillRect t="-107" b="-107"/>
            </a:stretch>
          </a:blipFill>
        </p:spPr>
        <p:txBody>
          <a:bodyPr/>
          <a:lstStyle/>
          <a:p>
            <a:endParaRPr lang="en-US"/>
          </a:p>
        </p:txBody>
      </p:sp>
      <p:sp>
        <p:nvSpPr>
          <p:cNvPr id="10" name="Freeform 10"/>
          <p:cNvSpPr/>
          <p:nvPr/>
        </p:nvSpPr>
        <p:spPr>
          <a:xfrm>
            <a:off x="16679370" y="1938280"/>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1">
              <a:extLst>
                <a:ext uri="{96DAC541-7B7A-43D3-8B79-37D633B846F1}">
                  <asvg:svgBlip xmlns:asvg="http://schemas.microsoft.com/office/drawing/2016/SVG/main" r:embed="rId12"/>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3">
              <a:extLst>
                <a:ext uri="{96DAC541-7B7A-43D3-8B79-37D633B846F1}">
                  <asvg:svgBlip xmlns:asvg="http://schemas.microsoft.com/office/drawing/2016/SVG/main" r:embed="rId14"/>
                </a:ext>
              </a:extLst>
            </a:blip>
            <a:stretch>
              <a:fillRect l="-384" r="-382"/>
            </a:stretch>
          </a:blipFill>
        </p:spPr>
        <p:txBody>
          <a:bodyPr/>
          <a:lstStyle/>
          <a:p>
            <a:endParaRPr lang="en-US"/>
          </a:p>
        </p:txBody>
      </p:sp>
      <p:sp>
        <p:nvSpPr>
          <p:cNvPr id="12" name="Freeform 12"/>
          <p:cNvSpPr/>
          <p:nvPr/>
        </p:nvSpPr>
        <p:spPr>
          <a:xfrm>
            <a:off x="10181663" y="7777524"/>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3" name="Freeform 13"/>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7">
              <a:extLst>
                <a:ext uri="{96DAC541-7B7A-43D3-8B79-37D633B846F1}">
                  <asvg:svgBlip xmlns:asvg="http://schemas.microsoft.com/office/drawing/2016/SVG/main" r:embed="rId18"/>
                </a:ext>
              </a:extLst>
            </a:blip>
            <a:stretch>
              <a:fillRect t="-20" b="-21"/>
            </a:stretch>
          </a:blipFill>
        </p:spPr>
        <p:txBody>
          <a:bodyPr/>
          <a:lstStyle/>
          <a:p>
            <a:endParaRPr lang="en-US"/>
          </a:p>
        </p:txBody>
      </p:sp>
      <p:grpSp>
        <p:nvGrpSpPr>
          <p:cNvPr id="14" name="Group 14"/>
          <p:cNvGrpSpPr/>
          <p:nvPr/>
        </p:nvGrpSpPr>
        <p:grpSpPr>
          <a:xfrm>
            <a:off x="12217765" y="9690687"/>
            <a:ext cx="6070235" cy="473329"/>
            <a:chOff x="0" y="0"/>
            <a:chExt cx="8093646" cy="631105"/>
          </a:xfrm>
        </p:grpSpPr>
        <p:sp>
          <p:nvSpPr>
            <p:cNvPr id="15" name="Freeform 15"/>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6" name="TextBox 16"/>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17" name="Freeform 17"/>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9"/>
            <a:stretch>
              <a:fillRect/>
            </a:stretch>
          </a:blipFill>
        </p:spPr>
        <p:txBody>
          <a:bodyPr/>
          <a:lstStyle/>
          <a:p>
            <a:endParaRPr lang="en-US"/>
          </a:p>
        </p:txBody>
      </p:sp>
      <p:sp>
        <p:nvSpPr>
          <p:cNvPr id="18" name="Freeform 18"/>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20">
              <a:extLst>
                <a:ext uri="{96DAC541-7B7A-43D3-8B79-37D633B846F1}">
                  <asvg:svgBlip xmlns:asvg="http://schemas.microsoft.com/office/drawing/2016/SVG/main" r:embed="rId21"/>
                </a:ext>
              </a:extLst>
            </a:blip>
            <a:stretch>
              <a:fillRect t="-147" b="-147"/>
            </a:stretch>
          </a:blipFill>
        </p:spPr>
        <p:txBody>
          <a:bodyPr/>
          <a:lstStyle/>
          <a:p>
            <a:endParaRPr lang="en-US"/>
          </a:p>
        </p:txBody>
      </p:sp>
      <p:graphicFrame>
        <p:nvGraphicFramePr>
          <p:cNvPr id="19" name="Table 19"/>
          <p:cNvGraphicFramePr>
            <a:graphicFrameLocks noGrp="1"/>
          </p:cNvGraphicFramePr>
          <p:nvPr/>
        </p:nvGraphicFramePr>
        <p:xfrm>
          <a:off x="2394356" y="4500545"/>
          <a:ext cx="13698285" cy="2228850"/>
        </p:xfrm>
        <a:graphic>
          <a:graphicData uri="http://schemas.openxmlformats.org/drawingml/2006/table">
            <a:tbl>
              <a:tblPr/>
              <a:tblGrid>
                <a:gridCol w="2168359">
                  <a:extLst>
                    <a:ext uri="{9D8B030D-6E8A-4147-A177-3AD203B41FA5}">
                      <a16:colId xmlns:a16="http://schemas.microsoft.com/office/drawing/2014/main" val="20000"/>
                    </a:ext>
                  </a:extLst>
                </a:gridCol>
                <a:gridCol w="11529926">
                  <a:extLst>
                    <a:ext uri="{9D8B030D-6E8A-4147-A177-3AD203B41FA5}">
                      <a16:colId xmlns:a16="http://schemas.microsoft.com/office/drawing/2014/main" val="20001"/>
                    </a:ext>
                  </a:extLst>
                </a:gridCol>
              </a:tblGrid>
              <a:tr h="111442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52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031739"/>
                          </a:solidFill>
                          <a:latin typeface="Inter"/>
                          <a:ea typeface="Inter"/>
                          <a:cs typeface="Inter"/>
                          <a:sym typeface="Inter"/>
                        </a:rPr>
                        <a:t>Chính sách phát triển nguồn nhân lực công nghệ thông tin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0"/>
                  </a:ext>
                </a:extLst>
              </a:tr>
              <a:tr h="1114425">
                <a:tc>
                  <a:txBody>
                    <a:bodyPr/>
                    <a:lstStyle/>
                    <a:p>
                      <a:pPr algn="just">
                        <a:lnSpc>
                          <a:spcPts val="4480"/>
                        </a:lnSpc>
                        <a:defRPr/>
                      </a:pPr>
                      <a:r>
                        <a:rPr lang="en-US" sz="3200" b="1" i="1">
                          <a:solidFill>
                            <a:srgbClr val="000000"/>
                          </a:solidFill>
                          <a:latin typeface="Inter Bold Italics"/>
                          <a:ea typeface="Inter Bold Italics"/>
                          <a:cs typeface="Inter Bold Italics"/>
                          <a:sym typeface="Inter Bold Italics"/>
                        </a:rPr>
                        <a:t>Điều 53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tc>
                  <a:txBody>
                    <a:bodyPr/>
                    <a:lstStyle/>
                    <a:p>
                      <a:pPr algn="just">
                        <a:lnSpc>
                          <a:spcPts val="4480"/>
                        </a:lnSpc>
                        <a:defRPr/>
                      </a:pPr>
                      <a:r>
                        <a:rPr lang="en-US" sz="3200">
                          <a:solidFill>
                            <a:srgbClr val="222222"/>
                          </a:solidFill>
                          <a:latin typeface="Inter"/>
                          <a:ea typeface="Inter"/>
                          <a:cs typeface="Inter"/>
                          <a:sym typeface="Inter"/>
                        </a:rPr>
                        <a:t> Chứng chỉ công nghệ thông tin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EEEDF"/>
                    </a:solidFill>
                  </a:tcPr>
                </a:tc>
                <a:extLst>
                  <a:ext uri="{0D108BD9-81ED-4DB2-BD59-A6C34878D82A}">
                    <a16:rowId xmlns:a16="http://schemas.microsoft.com/office/drawing/2014/main" val="10001"/>
                  </a:ext>
                </a:extLst>
              </a:tr>
            </a:tbl>
          </a:graphicData>
        </a:graphic>
      </p:graphicFrame>
      <p:sp>
        <p:nvSpPr>
          <p:cNvPr id="20" name="TextBox 20"/>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30</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35233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4. PHÁT TRIỂN DỊCH VỤ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690687"/>
            <a:ext cx="6070235" cy="473329"/>
            <a:chOff x="0" y="0"/>
            <a:chExt cx="8093646" cy="631105"/>
          </a:xfrm>
        </p:grpSpPr>
        <p:sp>
          <p:nvSpPr>
            <p:cNvPr id="14" name="Freeform 14"/>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Freeform 18"/>
          <p:cNvSpPr/>
          <p:nvPr/>
        </p:nvSpPr>
        <p:spPr>
          <a:xfrm>
            <a:off x="9877245" y="2794280"/>
            <a:ext cx="7078629" cy="4698440"/>
          </a:xfrm>
          <a:custGeom>
            <a:avLst/>
            <a:gdLst/>
            <a:ahLst/>
            <a:cxnLst/>
            <a:rect l="l" t="t" r="r" b="b"/>
            <a:pathLst>
              <a:path w="7078629" h="4698440">
                <a:moveTo>
                  <a:pt x="0" y="0"/>
                </a:moveTo>
                <a:lnTo>
                  <a:pt x="7078629" y="0"/>
                </a:lnTo>
                <a:lnTo>
                  <a:pt x="7078629" y="4698440"/>
                </a:lnTo>
                <a:lnTo>
                  <a:pt x="0" y="4698440"/>
                </a:lnTo>
                <a:lnTo>
                  <a:pt x="0" y="0"/>
                </a:lnTo>
                <a:close/>
              </a:path>
            </a:pathLst>
          </a:custGeom>
          <a:blipFill>
            <a:blip r:embed="rId19"/>
            <a:stretch>
              <a:fillRect/>
            </a:stretch>
          </a:blipFill>
        </p:spPr>
        <p:txBody>
          <a:bodyPr/>
          <a:lstStyle/>
          <a:p>
            <a:endParaRPr lang="en-US"/>
          </a:p>
        </p:txBody>
      </p:sp>
      <p:sp>
        <p:nvSpPr>
          <p:cNvPr id="19" name="TextBox 19"/>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20" name="TextBox 20"/>
          <p:cNvSpPr txBox="1"/>
          <p:nvPr/>
        </p:nvSpPr>
        <p:spPr>
          <a:xfrm>
            <a:off x="1553385" y="2535384"/>
            <a:ext cx="7989773" cy="5120767"/>
          </a:xfrm>
          <a:prstGeom prst="rect">
            <a:avLst/>
          </a:prstGeom>
        </p:spPr>
        <p:txBody>
          <a:bodyPr lIns="0" tIns="0" rIns="0" bIns="0" rtlCol="0" anchor="t">
            <a:spAutoFit/>
          </a:bodyPr>
          <a:lstStyle/>
          <a:p>
            <a:pPr marL="690881" lvl="1" indent="-345440" algn="just">
              <a:lnSpc>
                <a:spcPts val="4544"/>
              </a:lnSpc>
              <a:buFont typeface="Arial"/>
              <a:buChar char="•"/>
            </a:pPr>
            <a:r>
              <a:rPr lang="en-US" sz="3200">
                <a:solidFill>
                  <a:srgbClr val="1A1C1E"/>
                </a:solidFill>
                <a:latin typeface="Inter"/>
                <a:ea typeface="Inter"/>
                <a:cs typeface="Inter"/>
                <a:sym typeface="Inter"/>
              </a:rPr>
              <a:t>Tư vấn – thiết kế – tích hợp hệ thống</a:t>
            </a:r>
          </a:p>
          <a:p>
            <a:pPr marL="690881" lvl="1" indent="-345440" algn="just">
              <a:lnSpc>
                <a:spcPts val="4544"/>
              </a:lnSpc>
              <a:buFont typeface="Arial"/>
              <a:buChar char="•"/>
            </a:pPr>
            <a:r>
              <a:rPr lang="en-US" sz="3200">
                <a:solidFill>
                  <a:srgbClr val="1A1C1E"/>
                </a:solidFill>
                <a:latin typeface="Inter"/>
                <a:ea typeface="Inter"/>
                <a:cs typeface="Inter"/>
                <a:sym typeface="Inter"/>
              </a:rPr>
              <a:t>Vận hành – bảo trì – an toàn/bảo mật</a:t>
            </a:r>
          </a:p>
          <a:p>
            <a:pPr marL="690881" lvl="1" indent="-345440" algn="just">
              <a:lnSpc>
                <a:spcPts val="4544"/>
              </a:lnSpc>
              <a:buFont typeface="Arial"/>
              <a:buChar char="•"/>
            </a:pPr>
            <a:r>
              <a:rPr lang="en-US" sz="3200">
                <a:solidFill>
                  <a:srgbClr val="1A1C1E"/>
                </a:solidFill>
                <a:latin typeface="Inter"/>
                <a:ea typeface="Inter"/>
                <a:cs typeface="Inter"/>
                <a:sym typeface="Inter"/>
              </a:rPr>
              <a:t>Dữ liệu &amp; nền tảng: lưu trữ, xử lý, khai thác CSDL</a:t>
            </a:r>
          </a:p>
          <a:p>
            <a:pPr marL="690881" lvl="1" indent="-345440" algn="just">
              <a:lnSpc>
                <a:spcPts val="4544"/>
              </a:lnSpc>
              <a:buFont typeface="Arial"/>
              <a:buChar char="•"/>
            </a:pPr>
            <a:r>
              <a:rPr lang="en-US" sz="3200">
                <a:solidFill>
                  <a:srgbClr val="1A1C1E"/>
                </a:solidFill>
                <a:latin typeface="Inter"/>
                <a:ea typeface="Inter"/>
                <a:cs typeface="Inter"/>
                <a:sym typeface="Inter"/>
              </a:rPr>
              <a:t>Web/nội dung số: thiết kế, duy trì trang thông tin điện tử</a:t>
            </a:r>
          </a:p>
          <a:p>
            <a:pPr marL="690881" lvl="1" indent="-345440" algn="just">
              <a:lnSpc>
                <a:spcPts val="4544"/>
              </a:lnSpc>
              <a:buFont typeface="Arial"/>
              <a:buChar char="•"/>
            </a:pPr>
            <a:r>
              <a:rPr lang="en-US" sz="3200">
                <a:solidFill>
                  <a:srgbClr val="1A1C1E"/>
                </a:solidFill>
                <a:latin typeface="Inter"/>
                <a:ea typeface="Inter"/>
                <a:cs typeface="Inter"/>
                <a:sym typeface="Inter"/>
              </a:rPr>
              <a:t>Dịch vụ khác: đào tạo CNTT, phân phối sản phẩm, chứng thực chữ ký điện tử…</a:t>
            </a:r>
          </a:p>
        </p:txBody>
      </p:sp>
      <p:sp>
        <p:nvSpPr>
          <p:cNvPr id="21" name="TextBox 2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31</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564300" y="1515713"/>
            <a:ext cx="135233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Mục</a:t>
            </a:r>
            <a:r>
              <a:rPr lang="en-US" sz="4000" dirty="0">
                <a:solidFill>
                  <a:srgbClr val="1F497D"/>
                </a:solidFill>
                <a:latin typeface="Paytone One"/>
                <a:ea typeface="Paytone One"/>
                <a:cs typeface="Paytone One"/>
                <a:sym typeface="Paytone One"/>
              </a:rPr>
              <a:t> 4. PHÁT TRIỂN DỊCH VỤ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690687"/>
            <a:ext cx="6070235" cy="473329"/>
            <a:chOff x="0" y="0"/>
            <a:chExt cx="8093646" cy="631105"/>
          </a:xfrm>
        </p:grpSpPr>
        <p:sp>
          <p:nvSpPr>
            <p:cNvPr id="14" name="Freeform 14"/>
            <p:cNvSpPr/>
            <p:nvPr/>
          </p:nvSpPr>
          <p:spPr>
            <a:xfrm>
              <a:off x="0" y="0"/>
              <a:ext cx="8093649" cy="631105"/>
            </a:xfrm>
            <a:custGeom>
              <a:avLst/>
              <a:gdLst/>
              <a:ahLst/>
              <a:cxnLst/>
              <a:rect l="l" t="t" r="r" b="b"/>
              <a:pathLst>
                <a:path w="8093649" h="631105">
                  <a:moveTo>
                    <a:pt x="0" y="0"/>
                  </a:moveTo>
                  <a:lnTo>
                    <a:pt x="8093649" y="0"/>
                  </a:lnTo>
                  <a:lnTo>
                    <a:pt x="8093649" y="631105"/>
                  </a:lnTo>
                  <a:lnTo>
                    <a:pt x="0" y="631105"/>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631105"/>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2251150012 - Võ Trần Hoàng</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Freeform 18"/>
          <p:cNvSpPr/>
          <p:nvPr/>
        </p:nvSpPr>
        <p:spPr>
          <a:xfrm>
            <a:off x="2129190" y="3634481"/>
            <a:ext cx="5831957" cy="3018038"/>
          </a:xfrm>
          <a:custGeom>
            <a:avLst/>
            <a:gdLst/>
            <a:ahLst/>
            <a:cxnLst/>
            <a:rect l="l" t="t" r="r" b="b"/>
            <a:pathLst>
              <a:path w="5831957" h="3018038">
                <a:moveTo>
                  <a:pt x="0" y="0"/>
                </a:moveTo>
                <a:lnTo>
                  <a:pt x="5831957" y="0"/>
                </a:lnTo>
                <a:lnTo>
                  <a:pt x="5831957" y="3018038"/>
                </a:lnTo>
                <a:lnTo>
                  <a:pt x="0" y="3018038"/>
                </a:lnTo>
                <a:lnTo>
                  <a:pt x="0" y="0"/>
                </a:lnTo>
                <a:close/>
              </a:path>
            </a:pathLst>
          </a:custGeom>
          <a:blipFill>
            <a:blip r:embed="rId19"/>
            <a:stretch>
              <a:fillRect/>
            </a:stretch>
          </a:blipFill>
        </p:spPr>
        <p:txBody>
          <a:bodyPr/>
          <a:lstStyle/>
          <a:p>
            <a:endParaRPr lang="en-US"/>
          </a:p>
        </p:txBody>
      </p:sp>
      <p:sp>
        <p:nvSpPr>
          <p:cNvPr id="19" name="Freeform 19"/>
          <p:cNvSpPr/>
          <p:nvPr/>
        </p:nvSpPr>
        <p:spPr>
          <a:xfrm>
            <a:off x="11078355" y="3663385"/>
            <a:ext cx="4668522" cy="3110403"/>
          </a:xfrm>
          <a:custGeom>
            <a:avLst/>
            <a:gdLst/>
            <a:ahLst/>
            <a:cxnLst/>
            <a:rect l="l" t="t" r="r" b="b"/>
            <a:pathLst>
              <a:path w="4668522" h="3110403">
                <a:moveTo>
                  <a:pt x="0" y="0"/>
                </a:moveTo>
                <a:lnTo>
                  <a:pt x="4668521" y="0"/>
                </a:lnTo>
                <a:lnTo>
                  <a:pt x="4668521" y="3110403"/>
                </a:lnTo>
                <a:lnTo>
                  <a:pt x="0" y="3110403"/>
                </a:lnTo>
                <a:lnTo>
                  <a:pt x="0" y="0"/>
                </a:lnTo>
                <a:close/>
              </a:path>
            </a:pathLst>
          </a:custGeom>
          <a:blipFill>
            <a:blip r:embed="rId20"/>
            <a:stretch>
              <a:fillRect/>
            </a:stretch>
          </a:blipFill>
        </p:spPr>
        <p:txBody>
          <a:bodyPr/>
          <a:lstStyle/>
          <a:p>
            <a:endParaRPr lang="en-US"/>
          </a:p>
        </p:txBody>
      </p:sp>
      <p:sp>
        <p:nvSpPr>
          <p:cNvPr id="20" name="TextBox 20"/>
          <p:cNvSpPr txBox="1"/>
          <p:nvPr/>
        </p:nvSpPr>
        <p:spPr>
          <a:xfrm>
            <a:off x="1564300" y="420462"/>
            <a:ext cx="9352636" cy="829945"/>
          </a:xfrm>
          <a:prstGeom prst="rect">
            <a:avLst/>
          </a:prstGeom>
        </p:spPr>
        <p:txBody>
          <a:bodyPr lIns="0" tIns="0" rIns="0" bIns="0" rtlCol="0" anchor="t">
            <a:spAutoFit/>
          </a:bodyPr>
          <a:lstStyle/>
          <a:p>
            <a:pPr algn="l">
              <a:lnSpc>
                <a:spcPts val="6800"/>
              </a:lnSpc>
            </a:pPr>
            <a:r>
              <a:rPr lang="en-US" sz="4800">
                <a:solidFill>
                  <a:srgbClr val="984807"/>
                </a:solidFill>
                <a:latin typeface="Paytone One"/>
                <a:ea typeface="Paytone One"/>
                <a:cs typeface="Paytone One"/>
                <a:sym typeface="Paytone One"/>
              </a:rPr>
              <a:t>Chương 3. PHÁT TRIỂN CNTT</a:t>
            </a:r>
          </a:p>
        </p:txBody>
      </p:sp>
      <p:sp>
        <p:nvSpPr>
          <p:cNvPr id="21" name="TextBox 21"/>
          <p:cNvSpPr txBox="1"/>
          <p:nvPr/>
        </p:nvSpPr>
        <p:spPr>
          <a:xfrm>
            <a:off x="1553385" y="2602059"/>
            <a:ext cx="7066493" cy="485775"/>
          </a:xfrm>
          <a:prstGeom prst="rect">
            <a:avLst/>
          </a:prstGeom>
        </p:spPr>
        <p:txBody>
          <a:bodyPr lIns="0" tIns="0" rIns="0" bIns="0" rtlCol="0" anchor="t">
            <a:spAutoFit/>
          </a:bodyPr>
          <a:lstStyle/>
          <a:p>
            <a:pPr algn="just">
              <a:lnSpc>
                <a:spcPts val="3840"/>
              </a:lnSpc>
            </a:pPr>
            <a:r>
              <a:rPr lang="en-US" sz="3200" b="1">
                <a:solidFill>
                  <a:srgbClr val="1A1C1E"/>
                </a:solidFill>
                <a:latin typeface="Inter Bold"/>
                <a:ea typeface="Inter Bold"/>
                <a:cs typeface="Inter Bold"/>
                <a:sym typeface="Inter Bold"/>
              </a:rPr>
              <a:t>Dịch vụ CNTT trong thực tế:</a:t>
            </a:r>
          </a:p>
        </p:txBody>
      </p:sp>
      <p:sp>
        <p:nvSpPr>
          <p:cNvPr id="22" name="TextBox 2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32</a:t>
            </a:r>
          </a:p>
        </p:txBody>
      </p:sp>
      <p:sp>
        <p:nvSpPr>
          <p:cNvPr id="23" name="TextBox 23"/>
          <p:cNvSpPr txBox="1"/>
          <p:nvPr/>
        </p:nvSpPr>
        <p:spPr>
          <a:xfrm>
            <a:off x="2263121" y="6950302"/>
            <a:ext cx="5698026" cy="485775"/>
          </a:xfrm>
          <a:prstGeom prst="rect">
            <a:avLst/>
          </a:prstGeom>
        </p:spPr>
        <p:txBody>
          <a:bodyPr lIns="0" tIns="0" rIns="0" bIns="0" rtlCol="0" anchor="t">
            <a:spAutoFit/>
          </a:bodyPr>
          <a:lstStyle/>
          <a:p>
            <a:pPr algn="just">
              <a:lnSpc>
                <a:spcPts val="3840"/>
              </a:lnSpc>
            </a:pPr>
            <a:r>
              <a:rPr lang="en-US" sz="3200" b="1">
                <a:solidFill>
                  <a:srgbClr val="1A1C1E"/>
                </a:solidFill>
                <a:latin typeface="Inter Bold"/>
                <a:ea typeface="Inter Bold"/>
                <a:cs typeface="Inter Bold"/>
                <a:sym typeface="Inter Bold"/>
              </a:rPr>
              <a:t>Cổng Dịch vụ công quốc gia</a:t>
            </a:r>
          </a:p>
        </p:txBody>
      </p:sp>
      <p:sp>
        <p:nvSpPr>
          <p:cNvPr id="24" name="TextBox 24"/>
          <p:cNvSpPr txBox="1"/>
          <p:nvPr/>
        </p:nvSpPr>
        <p:spPr>
          <a:xfrm>
            <a:off x="10916936" y="7040488"/>
            <a:ext cx="5698026" cy="485775"/>
          </a:xfrm>
          <a:prstGeom prst="rect">
            <a:avLst/>
          </a:prstGeom>
        </p:spPr>
        <p:txBody>
          <a:bodyPr lIns="0" tIns="0" rIns="0" bIns="0" rtlCol="0" anchor="t">
            <a:spAutoFit/>
          </a:bodyPr>
          <a:lstStyle/>
          <a:p>
            <a:pPr algn="just">
              <a:lnSpc>
                <a:spcPts val="3840"/>
              </a:lnSpc>
            </a:pPr>
            <a:r>
              <a:rPr lang="en-US" sz="3200" b="1">
                <a:solidFill>
                  <a:srgbClr val="1A1C1E"/>
                </a:solidFill>
                <a:latin typeface="Inter Bold"/>
                <a:ea typeface="Inter Bold"/>
                <a:cs typeface="Inter Bold"/>
                <a:sym typeface="Inter Bold"/>
              </a:rPr>
              <a:t>Các sàn mua sắm điện tử</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a:off x="1374400" y="3889677"/>
            <a:ext cx="644881" cy="644881"/>
          </a:xfrm>
          <a:custGeom>
            <a:avLst/>
            <a:gdLst/>
            <a:ahLst/>
            <a:cxnLst/>
            <a:rect l="l" t="t" r="r" b="b"/>
            <a:pathLst>
              <a:path w="644881" h="644881">
                <a:moveTo>
                  <a:pt x="0" y="0"/>
                </a:moveTo>
                <a:lnTo>
                  <a:pt x="644881" y="0"/>
                </a:lnTo>
                <a:lnTo>
                  <a:pt x="644881" y="644880"/>
                </a:lnTo>
                <a:lnTo>
                  <a:pt x="0" y="6448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8" name="Freeform 8"/>
          <p:cNvSpPr/>
          <p:nvPr/>
        </p:nvSpPr>
        <p:spPr>
          <a:xfrm>
            <a:off x="14433433" y="1860794"/>
            <a:ext cx="3471443" cy="2095490"/>
          </a:xfrm>
          <a:custGeom>
            <a:avLst/>
            <a:gdLst/>
            <a:ahLst/>
            <a:cxnLst/>
            <a:rect l="l" t="t" r="r" b="b"/>
            <a:pathLst>
              <a:path w="3471443" h="2095490">
                <a:moveTo>
                  <a:pt x="0" y="0"/>
                </a:moveTo>
                <a:lnTo>
                  <a:pt x="3471443" y="0"/>
                </a:lnTo>
                <a:lnTo>
                  <a:pt x="3471443" y="2095491"/>
                </a:lnTo>
                <a:lnTo>
                  <a:pt x="0" y="2095491"/>
                </a:lnTo>
                <a:lnTo>
                  <a:pt x="0" y="0"/>
                </a:lnTo>
                <a:close/>
              </a:path>
            </a:pathLst>
          </a:custGeom>
          <a:blipFill>
            <a:blip r:embed="rId14">
              <a:extLst>
                <a:ext uri="{96DAC541-7B7A-43D3-8B79-37D633B846F1}">
                  <asvg:svgBlip xmlns:asvg="http://schemas.microsoft.com/office/drawing/2016/SVG/main" r:embed="rId15"/>
                </a:ext>
              </a:extLst>
            </a:blip>
            <a:stretch>
              <a:fillRect t="-152" b="-152"/>
            </a:stretch>
          </a:blipFill>
        </p:spPr>
        <p:txBody>
          <a:bodyPr/>
          <a:lstStyle/>
          <a:p>
            <a:endParaRPr lang="en-US"/>
          </a:p>
        </p:txBody>
      </p:sp>
      <p:sp>
        <p:nvSpPr>
          <p:cNvPr id="9" name="Freeform 9"/>
          <p:cNvSpPr/>
          <p:nvPr/>
        </p:nvSpPr>
        <p:spPr>
          <a:xfrm flipH="1">
            <a:off x="1621727" y="4089530"/>
            <a:ext cx="150219" cy="245174"/>
          </a:xfrm>
          <a:custGeom>
            <a:avLst/>
            <a:gdLst/>
            <a:ahLst/>
            <a:cxnLst/>
            <a:rect l="l" t="t" r="r" b="b"/>
            <a:pathLst>
              <a:path w="150219" h="245174">
                <a:moveTo>
                  <a:pt x="150218" y="0"/>
                </a:moveTo>
                <a:lnTo>
                  <a:pt x="0" y="0"/>
                </a:lnTo>
                <a:lnTo>
                  <a:pt x="0" y="245174"/>
                </a:lnTo>
                <a:lnTo>
                  <a:pt x="150218" y="245174"/>
                </a:lnTo>
                <a:lnTo>
                  <a:pt x="150218"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0" name="Freeform 10"/>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11" name="TextBox 11"/>
          <p:cNvSpPr txBox="1"/>
          <p:nvPr/>
        </p:nvSpPr>
        <p:spPr>
          <a:xfrm>
            <a:off x="2206152" y="4043543"/>
            <a:ext cx="7079060" cy="432562"/>
          </a:xfrm>
          <a:prstGeom prst="rect">
            <a:avLst/>
          </a:prstGeom>
        </p:spPr>
        <p:txBody>
          <a:bodyPr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1: CƠ SỞ HẠ TẦNG THÔNG TIN</a:t>
            </a:r>
          </a:p>
        </p:txBody>
      </p:sp>
      <p:sp>
        <p:nvSpPr>
          <p:cNvPr id="12" name="TextBox 12"/>
          <p:cNvSpPr txBox="1"/>
          <p:nvPr/>
        </p:nvSpPr>
        <p:spPr>
          <a:xfrm>
            <a:off x="617279" y="987003"/>
            <a:ext cx="14752520" cy="1451356"/>
          </a:xfrm>
          <a:prstGeom prst="rect">
            <a:avLst/>
          </a:prstGeom>
        </p:spPr>
        <p:txBody>
          <a:bodyPr lIns="0" tIns="0" rIns="0" bIns="0" rtlCol="0" anchor="t">
            <a:spAutoFit/>
          </a:bodyPr>
          <a:lstStyle/>
          <a:p>
            <a:pPr algn="l">
              <a:lnSpc>
                <a:spcPts val="5791"/>
              </a:lnSpc>
            </a:pPr>
            <a:r>
              <a:rPr lang="en-US" sz="4600">
                <a:solidFill>
                  <a:srgbClr val="A75B4B"/>
                </a:solidFill>
                <a:latin typeface="Paytone One"/>
                <a:ea typeface="Paytone One"/>
                <a:cs typeface="Paytone One"/>
                <a:sym typeface="Paytone One"/>
              </a:rPr>
              <a:t>CHƯƠNG 4 – CÁC BIỆN PHÁP BẢO ĐẢM ỨNG DỤNG</a:t>
            </a:r>
          </a:p>
          <a:p>
            <a:pPr algn="l">
              <a:lnSpc>
                <a:spcPts val="5792"/>
              </a:lnSpc>
            </a:pPr>
            <a:r>
              <a:rPr lang="en-US" sz="4600">
                <a:solidFill>
                  <a:srgbClr val="A75B4B"/>
                </a:solidFill>
                <a:latin typeface="Paytone One"/>
                <a:ea typeface="Paytone One"/>
                <a:cs typeface="Paytone One"/>
                <a:sym typeface="Paytone One"/>
              </a:rPr>
              <a:t> VÀ PHÁT TRIỂN CÔNG NGHỆ THÔNG TIN</a:t>
            </a:r>
          </a:p>
        </p:txBody>
      </p:sp>
      <p:sp>
        <p:nvSpPr>
          <p:cNvPr id="13" name="Freeform 13"/>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8">
              <a:extLst>
                <a:ext uri="{96DAC541-7B7A-43D3-8B79-37D633B846F1}">
                  <asvg:svgBlip xmlns:asvg="http://schemas.microsoft.com/office/drawing/2016/SVG/main" r:embed="rId19"/>
                </a:ext>
              </a:extLst>
            </a:blip>
            <a:stretch>
              <a:fillRect l="-384" r="-382"/>
            </a:stretch>
          </a:blipFill>
        </p:spPr>
        <p:txBody>
          <a:bodyPr/>
          <a:lstStyle/>
          <a:p>
            <a:endParaRPr lang="en-US"/>
          </a:p>
        </p:txBody>
      </p:sp>
      <p:sp>
        <p:nvSpPr>
          <p:cNvPr id="14" name="Freeform 14"/>
          <p:cNvSpPr/>
          <p:nvPr/>
        </p:nvSpPr>
        <p:spPr>
          <a:xfrm>
            <a:off x="518208" y="8503501"/>
            <a:ext cx="1020985" cy="1039892"/>
          </a:xfrm>
          <a:custGeom>
            <a:avLst/>
            <a:gdLst/>
            <a:ahLst/>
            <a:cxnLst/>
            <a:rect l="l" t="t" r="r" b="b"/>
            <a:pathLst>
              <a:path w="1020985" h="1039892">
                <a:moveTo>
                  <a:pt x="0" y="0"/>
                </a:moveTo>
                <a:lnTo>
                  <a:pt x="1020984" y="0"/>
                </a:lnTo>
                <a:lnTo>
                  <a:pt x="1020984" y="1039892"/>
                </a:lnTo>
                <a:lnTo>
                  <a:pt x="0" y="1039892"/>
                </a:lnTo>
                <a:lnTo>
                  <a:pt x="0" y="0"/>
                </a:lnTo>
                <a:close/>
              </a:path>
            </a:pathLst>
          </a:custGeom>
          <a:blipFill>
            <a:blip r:embed="rId20">
              <a:extLst>
                <a:ext uri="{96DAC541-7B7A-43D3-8B79-37D633B846F1}">
                  <asvg:svgBlip xmlns:asvg="http://schemas.microsoft.com/office/drawing/2016/SVG/main" r:embed="rId21"/>
                </a:ext>
              </a:extLst>
            </a:blip>
            <a:stretch>
              <a:fillRect l="-462" r="-462"/>
            </a:stretch>
          </a:blipFill>
        </p:spPr>
        <p:txBody>
          <a:bodyPr/>
          <a:lstStyle/>
          <a:p>
            <a:endParaRPr lang="en-US"/>
          </a:p>
        </p:txBody>
      </p:sp>
      <p:sp>
        <p:nvSpPr>
          <p:cNvPr id="15" name="Freeform 15"/>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6" name="Freeform 16"/>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24">
              <a:extLst>
                <a:ext uri="{96DAC541-7B7A-43D3-8B79-37D633B846F1}">
                  <asvg:svgBlip xmlns:asvg="http://schemas.microsoft.com/office/drawing/2016/SVG/main" r:embed="rId25"/>
                </a:ext>
              </a:extLst>
            </a:blip>
            <a:stretch>
              <a:fillRect t="-20" b="-21"/>
            </a:stretch>
          </a:blipFill>
        </p:spPr>
        <p:txBody>
          <a:bodyPr/>
          <a:lstStyle/>
          <a:p>
            <a:endParaRPr lang="en-US"/>
          </a:p>
        </p:txBody>
      </p:sp>
      <p:sp>
        <p:nvSpPr>
          <p:cNvPr id="17" name="Freeform 17"/>
          <p:cNvSpPr/>
          <p:nvPr/>
        </p:nvSpPr>
        <p:spPr>
          <a:xfrm>
            <a:off x="1391317" y="5011864"/>
            <a:ext cx="644881" cy="644881"/>
          </a:xfrm>
          <a:custGeom>
            <a:avLst/>
            <a:gdLst/>
            <a:ahLst/>
            <a:cxnLst/>
            <a:rect l="l" t="t" r="r" b="b"/>
            <a:pathLst>
              <a:path w="644881" h="644881">
                <a:moveTo>
                  <a:pt x="0" y="0"/>
                </a:moveTo>
                <a:lnTo>
                  <a:pt x="644880" y="0"/>
                </a:lnTo>
                <a:lnTo>
                  <a:pt x="644880"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8" name="Freeform 18"/>
          <p:cNvSpPr/>
          <p:nvPr/>
        </p:nvSpPr>
        <p:spPr>
          <a:xfrm flipH="1">
            <a:off x="1638652" y="5211718"/>
            <a:ext cx="150219" cy="245174"/>
          </a:xfrm>
          <a:custGeom>
            <a:avLst/>
            <a:gdLst/>
            <a:ahLst/>
            <a:cxnLst/>
            <a:rect l="l" t="t" r="r" b="b"/>
            <a:pathLst>
              <a:path w="150219" h="245174">
                <a:moveTo>
                  <a:pt x="150219" y="0"/>
                </a:moveTo>
                <a:lnTo>
                  <a:pt x="0" y="0"/>
                </a:lnTo>
                <a:lnTo>
                  <a:pt x="0" y="245174"/>
                </a:lnTo>
                <a:lnTo>
                  <a:pt x="150219" y="245174"/>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9" name="TextBox 19"/>
          <p:cNvSpPr txBox="1"/>
          <p:nvPr/>
        </p:nvSpPr>
        <p:spPr>
          <a:xfrm>
            <a:off x="2223068" y="5191125"/>
            <a:ext cx="9036844" cy="432562"/>
          </a:xfrm>
          <a:prstGeom prst="rect">
            <a:avLst/>
          </a:prstGeom>
        </p:spPr>
        <p:txBody>
          <a:bodyPr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2: ĐẦU TƯ CHO CÔNG NGHỆ THÔNG TIN</a:t>
            </a:r>
          </a:p>
        </p:txBody>
      </p:sp>
      <p:sp>
        <p:nvSpPr>
          <p:cNvPr id="20" name="Freeform 20"/>
          <p:cNvSpPr/>
          <p:nvPr/>
        </p:nvSpPr>
        <p:spPr>
          <a:xfrm>
            <a:off x="1391317" y="6098819"/>
            <a:ext cx="644881" cy="644881"/>
          </a:xfrm>
          <a:custGeom>
            <a:avLst/>
            <a:gdLst/>
            <a:ahLst/>
            <a:cxnLst/>
            <a:rect l="l" t="t" r="r" b="b"/>
            <a:pathLst>
              <a:path w="644881" h="644881">
                <a:moveTo>
                  <a:pt x="0" y="0"/>
                </a:moveTo>
                <a:lnTo>
                  <a:pt x="644880" y="0"/>
                </a:lnTo>
                <a:lnTo>
                  <a:pt x="644880"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1" name="Freeform 21"/>
          <p:cNvSpPr/>
          <p:nvPr/>
        </p:nvSpPr>
        <p:spPr>
          <a:xfrm flipH="1">
            <a:off x="1638652" y="6298673"/>
            <a:ext cx="150219" cy="245174"/>
          </a:xfrm>
          <a:custGeom>
            <a:avLst/>
            <a:gdLst/>
            <a:ahLst/>
            <a:cxnLst/>
            <a:rect l="l" t="t" r="r" b="b"/>
            <a:pathLst>
              <a:path w="150219" h="245174">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2" name="TextBox 22"/>
          <p:cNvSpPr txBox="1"/>
          <p:nvPr/>
        </p:nvSpPr>
        <p:spPr>
          <a:xfrm>
            <a:off x="2223068" y="6252686"/>
            <a:ext cx="10880130" cy="432562"/>
          </a:xfrm>
          <a:prstGeom prst="rect">
            <a:avLst/>
          </a:prstGeom>
        </p:spPr>
        <p:txBody>
          <a:bodyPr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3: HỢP TÁC QUỐC TẾ VỀ CÔNG NGHỆ THÔNG TIN</a:t>
            </a:r>
          </a:p>
        </p:txBody>
      </p:sp>
      <p:sp>
        <p:nvSpPr>
          <p:cNvPr id="23" name="Freeform 23"/>
          <p:cNvSpPr/>
          <p:nvPr/>
        </p:nvSpPr>
        <p:spPr>
          <a:xfrm>
            <a:off x="1371600" y="7165619"/>
            <a:ext cx="644881" cy="644881"/>
          </a:xfrm>
          <a:custGeom>
            <a:avLst/>
            <a:gdLst/>
            <a:ahLst/>
            <a:cxnLst/>
            <a:rect l="l" t="t" r="r" b="b"/>
            <a:pathLst>
              <a:path w="644881" h="644881">
                <a:moveTo>
                  <a:pt x="0" y="0"/>
                </a:moveTo>
                <a:lnTo>
                  <a:pt x="644881" y="0"/>
                </a:lnTo>
                <a:lnTo>
                  <a:pt x="644881"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4" name="Freeform 24"/>
          <p:cNvSpPr/>
          <p:nvPr/>
        </p:nvSpPr>
        <p:spPr>
          <a:xfrm flipH="1">
            <a:off x="1618926" y="7365473"/>
            <a:ext cx="150219" cy="245173"/>
          </a:xfrm>
          <a:custGeom>
            <a:avLst/>
            <a:gdLst/>
            <a:ahLst/>
            <a:cxnLst/>
            <a:rect l="l" t="t" r="r" b="b"/>
            <a:pathLst>
              <a:path w="150219" h="245173">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5" name="TextBox 25"/>
          <p:cNvSpPr txBox="1"/>
          <p:nvPr/>
        </p:nvSpPr>
        <p:spPr>
          <a:xfrm>
            <a:off x="2203352" y="7319486"/>
            <a:ext cx="10247114" cy="432562"/>
          </a:xfrm>
          <a:prstGeom prst="rect">
            <a:avLst/>
          </a:prstGeom>
        </p:spPr>
        <p:txBody>
          <a:bodyPr lIns="0" tIns="0" rIns="0" bIns="0" rtlCol="0" anchor="t">
            <a:spAutoFit/>
          </a:bodyPr>
          <a:lstStyle/>
          <a:p>
            <a:pPr algn="l">
              <a:lnSpc>
                <a:spcPts val="3359"/>
              </a:lnSpc>
            </a:pPr>
            <a:r>
              <a:rPr lang="en-US" sz="3200" b="1">
                <a:solidFill>
                  <a:srgbClr val="171814"/>
                </a:solidFill>
                <a:latin typeface="Inter Bold"/>
                <a:ea typeface="Inter Bold"/>
                <a:cs typeface="Inter Bold"/>
                <a:sym typeface="Inter Bold"/>
              </a:rPr>
              <a:t>MỤC 4: BẢO VỆ QUYỀN VÀ LỢI ÍCH NGƯỜI SỬ DỤNG</a:t>
            </a:r>
          </a:p>
        </p:txBody>
      </p:sp>
      <p:sp>
        <p:nvSpPr>
          <p:cNvPr id="26" name="Freeform 2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6"/>
            <a:stretch>
              <a:fillRect/>
            </a:stretch>
          </a:blipFill>
        </p:spPr>
        <p:txBody>
          <a:bodyPr/>
          <a:lstStyle/>
          <a:p>
            <a:endParaRPr lang="en-US"/>
          </a:p>
        </p:txBody>
      </p:sp>
      <p:grpSp>
        <p:nvGrpSpPr>
          <p:cNvPr id="27" name="Group 27"/>
          <p:cNvGrpSpPr/>
          <p:nvPr/>
        </p:nvGrpSpPr>
        <p:grpSpPr>
          <a:xfrm>
            <a:off x="12217765" y="9690687"/>
            <a:ext cx="6070235" cy="596313"/>
            <a:chOff x="0" y="0"/>
            <a:chExt cx="8093646" cy="795084"/>
          </a:xfrm>
        </p:grpSpPr>
        <p:sp>
          <p:nvSpPr>
            <p:cNvPr id="28" name="Freeform 28"/>
            <p:cNvSpPr/>
            <p:nvPr/>
          </p:nvSpPr>
          <p:spPr>
            <a:xfrm>
              <a:off x="0" y="0"/>
              <a:ext cx="8093649" cy="795082"/>
            </a:xfrm>
            <a:custGeom>
              <a:avLst/>
              <a:gdLst/>
              <a:ahLst/>
              <a:cxnLst/>
              <a:rect l="l" t="t" r="r" b="b"/>
              <a:pathLst>
                <a:path w="8093649" h="795082">
                  <a:moveTo>
                    <a:pt x="0" y="0"/>
                  </a:moveTo>
                  <a:lnTo>
                    <a:pt x="8093649" y="0"/>
                  </a:lnTo>
                  <a:lnTo>
                    <a:pt x="8093649" y="795082"/>
                  </a:lnTo>
                  <a:lnTo>
                    <a:pt x="0" y="795082"/>
                  </a:lnTo>
                  <a:close/>
                </a:path>
              </a:pathLst>
            </a:custGeom>
            <a:solidFill>
              <a:srgbClr val="000000">
                <a:alpha val="0"/>
              </a:srgbClr>
            </a:solidFill>
            <a:ln w="12700">
              <a:noFill/>
            </a:ln>
          </p:spPr>
          <p:txBody>
            <a:bodyPr/>
            <a:lstStyle/>
            <a:p>
              <a:endParaRPr lang="en-US"/>
            </a:p>
          </p:txBody>
        </p:sp>
        <p:sp>
          <p:nvSpPr>
            <p:cNvPr id="29" name="TextBox 29"/>
            <p:cNvSpPr txBox="1"/>
            <p:nvPr/>
          </p:nvSpPr>
          <p:spPr>
            <a:xfrm>
              <a:off x="0" y="0"/>
              <a:ext cx="8093646" cy="795084"/>
            </a:xfrm>
            <a:prstGeom prst="rect">
              <a:avLst/>
            </a:prstGeom>
            <a:ln>
              <a:noFill/>
            </a:ln>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2251120308-Lê </a:t>
              </a:r>
              <a:r>
                <a:rPr lang="en-US" sz="2000" dirty="0" err="1">
                  <a:solidFill>
                    <a:srgbClr val="002060"/>
                  </a:solidFill>
                  <a:latin typeface="Paytone One"/>
                  <a:ea typeface="Paytone One"/>
                  <a:cs typeface="Paytone One"/>
                  <a:sym typeface="Paytone One"/>
                </a:rPr>
                <a:t>Quận</a:t>
              </a:r>
              <a:r>
                <a:rPr lang="en-US" sz="2000" dirty="0">
                  <a:solidFill>
                    <a:srgbClr val="002060"/>
                  </a:solidFill>
                  <a:latin typeface="Paytone One"/>
                  <a:ea typeface="Paytone One"/>
                  <a:cs typeface="Paytone One"/>
                  <a:sym typeface="Paytone One"/>
                </a:rPr>
                <a:t> </a:t>
              </a:r>
              <a:r>
                <a:rPr lang="en-US" sz="2000" dirty="0" err="1">
                  <a:solidFill>
                    <a:srgbClr val="002060"/>
                  </a:solidFill>
                  <a:latin typeface="Paytone One"/>
                  <a:ea typeface="Paytone One"/>
                  <a:cs typeface="Paytone One"/>
                  <a:sym typeface="Paytone One"/>
                </a:rPr>
                <a:t>Hoàng</a:t>
              </a:r>
              <a:r>
                <a:rPr lang="en-US" sz="2000" dirty="0">
                  <a:solidFill>
                    <a:srgbClr val="002060"/>
                  </a:solidFill>
                  <a:latin typeface="Paytone One"/>
                  <a:ea typeface="Paytone One"/>
                  <a:cs typeface="Paytone One"/>
                  <a:sym typeface="Paytone One"/>
                </a:rPr>
                <a:t> Nam</a:t>
              </a:r>
            </a:p>
          </p:txBody>
        </p:sp>
      </p:grpSp>
      <p:sp>
        <p:nvSpPr>
          <p:cNvPr id="30" name="TextBox 3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33</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1" y="571948"/>
            <a:ext cx="9494495" cy="615553"/>
          </a:xfrm>
          <a:prstGeom prst="rect">
            <a:avLst/>
          </a:prstGeom>
        </p:spPr>
        <p:txBody>
          <a:bodyPr wrap="square" lIns="0" tIns="0" rIns="0" bIns="0" rtlCol="0" anchor="t">
            <a:spAutoFit/>
          </a:bodyPr>
          <a:lstStyle/>
          <a:p>
            <a:pPr algn="l">
              <a:lnSpc>
                <a:spcPts val="4800"/>
              </a:lnSpc>
            </a:pPr>
            <a:r>
              <a:rPr lang="en-US" sz="4000">
                <a:solidFill>
                  <a:srgbClr val="1F497D"/>
                </a:solidFill>
                <a:latin typeface="Paytone One"/>
                <a:ea typeface="Paytone One"/>
                <a:cs typeface="Paytone One"/>
                <a:sym typeface="Paytone One"/>
              </a:rPr>
              <a:t>MỤC 1: CƠ SỞ HẠ TẦNG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522366"/>
            <a:ext cx="6070235" cy="641650"/>
            <a:chOff x="0" y="0"/>
            <a:chExt cx="8093646" cy="855533"/>
          </a:xfrm>
        </p:grpSpPr>
        <p:sp>
          <p:nvSpPr>
            <p:cNvPr id="14" name="Freeform 14"/>
            <p:cNvSpPr/>
            <p:nvPr/>
          </p:nvSpPr>
          <p:spPr>
            <a:xfrm>
              <a:off x="0" y="0"/>
              <a:ext cx="8093649" cy="855532"/>
            </a:xfrm>
            <a:custGeom>
              <a:avLst/>
              <a:gdLst/>
              <a:ahLst/>
              <a:cxnLst/>
              <a:rect l="l" t="t" r="r" b="b"/>
              <a:pathLst>
                <a:path w="8093649" h="855532">
                  <a:moveTo>
                    <a:pt x="0" y="0"/>
                  </a:moveTo>
                  <a:lnTo>
                    <a:pt x="8093649" y="0"/>
                  </a:lnTo>
                  <a:lnTo>
                    <a:pt x="8093649" y="855532"/>
                  </a:lnTo>
                  <a:lnTo>
                    <a:pt x="0" y="855532"/>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855533"/>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2251120308-Lê Quận Hoàng Nam</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TextBox 18"/>
          <p:cNvSpPr txBox="1"/>
          <p:nvPr/>
        </p:nvSpPr>
        <p:spPr>
          <a:xfrm>
            <a:off x="1028700" y="1667504"/>
            <a:ext cx="16209950" cy="7399401"/>
          </a:xfrm>
          <a:prstGeom prst="rect">
            <a:avLst/>
          </a:prstGeom>
        </p:spPr>
        <p:txBody>
          <a:bodyPr lIns="0" tIns="0" rIns="0" bIns="0" rtlCol="0" anchor="t">
            <a:spAutoFit/>
          </a:bodyPr>
          <a:lstStyle/>
          <a:p>
            <a:pPr algn="just">
              <a:lnSpc>
                <a:spcPts val="4556"/>
              </a:lnSpc>
            </a:pPr>
            <a:r>
              <a:rPr lang="en-US" sz="3099" b="1">
                <a:solidFill>
                  <a:srgbClr val="1A1C1E"/>
                </a:solidFill>
                <a:latin typeface="Inter Bold"/>
                <a:ea typeface="Inter Bold"/>
                <a:cs typeface="Inter Bold"/>
                <a:sym typeface="Inter Bold"/>
              </a:rPr>
              <a:t>Nội dung:</a:t>
            </a:r>
          </a:p>
          <a:p>
            <a:pPr marL="669289" lvl="1" indent="-334645" algn="just">
              <a:lnSpc>
                <a:spcPts val="4556"/>
              </a:lnSpc>
              <a:buFont typeface="Arial"/>
              <a:buChar char="•"/>
            </a:pPr>
            <a:r>
              <a:rPr lang="en-US" sz="3099">
                <a:solidFill>
                  <a:srgbClr val="1A1C1E"/>
                </a:solidFill>
                <a:latin typeface="Inter"/>
                <a:ea typeface="Inter"/>
                <a:cs typeface="Inter"/>
                <a:sym typeface="Inter"/>
              </a:rPr>
              <a:t>Nhà nước có trách nhiệm xây dựng và phát triển cơ sở hạ tầng thông tin nhằm phục vụ cho việc ứng dụng và phát triển công nghệ thông tin trên phạm vi cả nước.</a:t>
            </a:r>
          </a:p>
          <a:p>
            <a:pPr marL="669289" lvl="1" indent="-334645" algn="just">
              <a:lnSpc>
                <a:spcPts val="4556"/>
              </a:lnSpc>
              <a:buFont typeface="Arial"/>
              <a:buChar char="•"/>
            </a:pPr>
            <a:r>
              <a:rPr lang="en-US" sz="3099">
                <a:solidFill>
                  <a:srgbClr val="1A1C1E"/>
                </a:solidFill>
                <a:latin typeface="Inter"/>
                <a:ea typeface="Inter"/>
                <a:cs typeface="Inter"/>
                <a:sym typeface="Inter"/>
              </a:rPr>
              <a:t>Cơ sở hạ tầng thông tin bao gồm mạng Internet, hệ thống truyền dẫn, trung tâm dữ liệu và các cơ sở dữ liệu phục vụ quản lý nhà nước và lợi ích công cộng.</a:t>
            </a:r>
          </a:p>
          <a:p>
            <a:pPr marL="669289" lvl="1" indent="-334645" algn="just">
              <a:lnSpc>
                <a:spcPts val="4556"/>
              </a:lnSpc>
              <a:buFont typeface="Arial"/>
              <a:buChar char="•"/>
            </a:pPr>
            <a:r>
              <a:rPr lang="en-US" sz="3099">
                <a:solidFill>
                  <a:srgbClr val="1A1C1E"/>
                </a:solidFill>
                <a:latin typeface="Inter"/>
                <a:ea typeface="Inter"/>
                <a:cs typeface="Inter"/>
                <a:sym typeface="Inter"/>
              </a:rPr>
              <a:t>Đồng thời, Nhà nước thực hiện các biện pháp bảo đảm an toàn, an ninh và bảo vệ cơ sở hạ tầng thông tin quan trọng.</a:t>
            </a:r>
          </a:p>
          <a:p>
            <a:pPr algn="just">
              <a:lnSpc>
                <a:spcPts val="4556"/>
              </a:lnSpc>
            </a:pPr>
            <a:endParaRPr lang="en-US" sz="3099">
              <a:solidFill>
                <a:srgbClr val="1A1C1E"/>
              </a:solidFill>
              <a:latin typeface="Inter"/>
              <a:ea typeface="Inter"/>
              <a:cs typeface="Inter"/>
              <a:sym typeface="Inter"/>
            </a:endParaRPr>
          </a:p>
          <a:p>
            <a:pPr algn="just">
              <a:lnSpc>
                <a:spcPts val="4556"/>
              </a:lnSpc>
            </a:pPr>
            <a:r>
              <a:rPr lang="en-US" sz="3099" b="1">
                <a:solidFill>
                  <a:srgbClr val="1A1C1E"/>
                </a:solidFill>
                <a:latin typeface="Inter Bold"/>
                <a:ea typeface="Inter Bold"/>
                <a:cs typeface="Inter Bold"/>
                <a:sym typeface="Inter Bold"/>
              </a:rPr>
              <a:t>Liên hệ thực tế:</a:t>
            </a:r>
          </a:p>
          <a:p>
            <a:pPr algn="just">
              <a:lnSpc>
                <a:spcPts val="4556"/>
              </a:lnSpc>
            </a:pPr>
            <a:r>
              <a:rPr lang="en-US" sz="3099" b="1">
                <a:solidFill>
                  <a:srgbClr val="1A1C1E"/>
                </a:solidFill>
                <a:latin typeface="Inter Bold"/>
                <a:ea typeface="Inter Bold"/>
                <a:cs typeface="Inter Bold"/>
                <a:sym typeface="Inter Bold"/>
              </a:rPr>
              <a:t> </a:t>
            </a:r>
            <a:r>
              <a:rPr lang="en-US" sz="3099">
                <a:solidFill>
                  <a:srgbClr val="1A1C1E"/>
                </a:solidFill>
                <a:latin typeface="Inter"/>
                <a:ea typeface="Inter"/>
                <a:cs typeface="Inter"/>
                <a:sym typeface="Inter"/>
              </a:rPr>
              <a:t>Hệ thống Internet quốc gia, mạng 4G – 5G, cơ sở dữ liệu quốc gia về dân cư, căn cước công dân gắn chip.</a:t>
            </a:r>
          </a:p>
          <a:p>
            <a:pPr algn="just">
              <a:lnSpc>
                <a:spcPts val="4556"/>
              </a:lnSpc>
            </a:pPr>
            <a:endParaRPr lang="en-US" sz="3099">
              <a:solidFill>
                <a:srgbClr val="1A1C1E"/>
              </a:solidFill>
              <a:latin typeface="Inter"/>
              <a:ea typeface="Inter"/>
              <a:cs typeface="Inter"/>
              <a:sym typeface="Inter"/>
            </a:endParaRPr>
          </a:p>
          <a:p>
            <a:pPr algn="just">
              <a:lnSpc>
                <a:spcPts val="4556"/>
              </a:lnSpc>
            </a:pPr>
            <a:endParaRPr lang="en-US" sz="3099">
              <a:solidFill>
                <a:srgbClr val="1A1C1E"/>
              </a:solidFill>
              <a:latin typeface="Inter"/>
              <a:ea typeface="Inter"/>
              <a:cs typeface="Inter"/>
              <a:sym typeface="Inter"/>
            </a:endParaRPr>
          </a:p>
        </p:txBody>
      </p:sp>
      <p:sp>
        <p:nvSpPr>
          <p:cNvPr id="19" name="TextBox 1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2" y="571948"/>
            <a:ext cx="10905332" cy="600075"/>
          </a:xfrm>
          <a:prstGeom prst="rect">
            <a:avLst/>
          </a:prstGeom>
        </p:spPr>
        <p:txBody>
          <a:bodyPr lIns="0" tIns="0" rIns="0" bIns="0" rtlCol="0" anchor="t">
            <a:spAutoFit/>
          </a:bodyPr>
          <a:lstStyle/>
          <a:p>
            <a:pPr algn="l">
              <a:lnSpc>
                <a:spcPts val="4800"/>
              </a:lnSpc>
            </a:pPr>
            <a:r>
              <a:rPr lang="en-US" sz="4000">
                <a:solidFill>
                  <a:srgbClr val="1F497D"/>
                </a:solidFill>
                <a:latin typeface="Paytone One"/>
                <a:ea typeface="Paytone One"/>
                <a:cs typeface="Paytone One"/>
                <a:sym typeface="Paytone One"/>
              </a:rPr>
              <a:t>MỤC 2: ĐẦU TƯ CHO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522366"/>
            <a:ext cx="6070235" cy="641650"/>
            <a:chOff x="0" y="0"/>
            <a:chExt cx="8093646" cy="855533"/>
          </a:xfrm>
        </p:grpSpPr>
        <p:sp>
          <p:nvSpPr>
            <p:cNvPr id="14" name="Freeform 14"/>
            <p:cNvSpPr/>
            <p:nvPr/>
          </p:nvSpPr>
          <p:spPr>
            <a:xfrm>
              <a:off x="0" y="0"/>
              <a:ext cx="8093649" cy="855532"/>
            </a:xfrm>
            <a:custGeom>
              <a:avLst/>
              <a:gdLst/>
              <a:ahLst/>
              <a:cxnLst/>
              <a:rect l="l" t="t" r="r" b="b"/>
              <a:pathLst>
                <a:path w="8093649" h="855532">
                  <a:moveTo>
                    <a:pt x="0" y="0"/>
                  </a:moveTo>
                  <a:lnTo>
                    <a:pt x="8093649" y="0"/>
                  </a:lnTo>
                  <a:lnTo>
                    <a:pt x="8093649" y="855532"/>
                  </a:lnTo>
                  <a:lnTo>
                    <a:pt x="0" y="855532"/>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855533"/>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2251120308-Lê Quận Hoàng Nam</a:t>
              </a:r>
            </a:p>
          </p:txBody>
        </p:sp>
      </p:grpSp>
      <p:sp>
        <p:nvSpPr>
          <p:cNvPr id="16" name="Freeform 16"/>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TextBox 18"/>
          <p:cNvSpPr txBox="1"/>
          <p:nvPr/>
        </p:nvSpPr>
        <p:spPr>
          <a:xfrm>
            <a:off x="1028700" y="1686554"/>
            <a:ext cx="16375856" cy="7036435"/>
          </a:xfrm>
          <a:prstGeom prst="rect">
            <a:avLst/>
          </a:prstGeom>
        </p:spPr>
        <p:txBody>
          <a:bodyPr lIns="0" tIns="0" rIns="0" bIns="0" rtlCol="0" anchor="t">
            <a:spAutoFit/>
          </a:bodyPr>
          <a:lstStyle/>
          <a:p>
            <a:pPr algn="just">
              <a:lnSpc>
                <a:spcPts val="4339"/>
              </a:lnSpc>
            </a:pPr>
            <a:r>
              <a:rPr lang="en-US" sz="3099" b="1">
                <a:solidFill>
                  <a:srgbClr val="1A1C1E"/>
                </a:solidFill>
                <a:latin typeface="Inter Bold"/>
                <a:ea typeface="Inter Bold"/>
                <a:cs typeface="Inter Bold"/>
                <a:sym typeface="Inter Bold"/>
              </a:rPr>
              <a:t>Nội dung:</a:t>
            </a:r>
          </a:p>
          <a:p>
            <a:pPr marL="669289" lvl="1" indent="-334645" algn="just">
              <a:lnSpc>
                <a:spcPts val="4339"/>
              </a:lnSpc>
              <a:buFont typeface="Arial"/>
              <a:buChar char="•"/>
            </a:pPr>
            <a:r>
              <a:rPr lang="en-US" sz="3099">
                <a:solidFill>
                  <a:srgbClr val="1A1C1E"/>
                </a:solidFill>
                <a:latin typeface="Inter"/>
                <a:ea typeface="Inter"/>
                <a:cs typeface="Inter"/>
                <a:sym typeface="Inter"/>
              </a:rPr>
              <a:t>Luật Công nghệ thông tin khuyến khích tổ chức, cá nhân đầu tư cho công nghệ thông tin nhằm nâng cao hiệu quả hoạt động kinh tế – xã hội.</a:t>
            </a:r>
          </a:p>
          <a:p>
            <a:pPr marL="669289" lvl="1" indent="-334645" algn="just">
              <a:lnSpc>
                <a:spcPts val="4339"/>
              </a:lnSpc>
              <a:buFont typeface="Arial"/>
              <a:buChar char="•"/>
            </a:pPr>
            <a:r>
              <a:rPr lang="en-US" sz="3099">
                <a:solidFill>
                  <a:srgbClr val="1A1C1E"/>
                </a:solidFill>
                <a:latin typeface="Inter"/>
                <a:ea typeface="Inter"/>
                <a:cs typeface="Inter"/>
                <a:sym typeface="Inter"/>
              </a:rPr>
              <a:t>Nhà nước ưu tiên bố trí ngân sách cho các hoạt động ứng dụng và phát triển công nghệ thông tin, đặc biệt trong các lĩnh vực hành chính nhà nước, giáo dục, y tế và nông nghiệp.</a:t>
            </a:r>
          </a:p>
          <a:p>
            <a:pPr marL="669289" lvl="1" indent="-334645" algn="just">
              <a:lnSpc>
                <a:spcPts val="4339"/>
              </a:lnSpc>
              <a:buFont typeface="Arial"/>
              <a:buChar char="•"/>
            </a:pPr>
            <a:r>
              <a:rPr lang="en-US" sz="3099">
                <a:solidFill>
                  <a:srgbClr val="1A1C1E"/>
                </a:solidFill>
                <a:latin typeface="Inter"/>
                <a:ea typeface="Inter"/>
                <a:cs typeface="Inter"/>
                <a:sym typeface="Inter"/>
              </a:rPr>
              <a:t>Việc đầu tư này nhằm thúc đẩy quá trình chuyển đổi số quốc gia.</a:t>
            </a:r>
          </a:p>
          <a:p>
            <a:pPr algn="just">
              <a:lnSpc>
                <a:spcPts val="4339"/>
              </a:lnSpc>
            </a:pPr>
            <a:endParaRPr lang="en-US" sz="3099">
              <a:solidFill>
                <a:srgbClr val="1A1C1E"/>
              </a:solidFill>
              <a:latin typeface="Inter"/>
              <a:ea typeface="Inter"/>
              <a:cs typeface="Inter"/>
              <a:sym typeface="Inter"/>
            </a:endParaRPr>
          </a:p>
          <a:p>
            <a:pPr algn="just">
              <a:lnSpc>
                <a:spcPts val="4339"/>
              </a:lnSpc>
            </a:pPr>
            <a:r>
              <a:rPr lang="en-US" sz="3099" b="1">
                <a:solidFill>
                  <a:srgbClr val="1A1C1E"/>
                </a:solidFill>
                <a:latin typeface="Inter Bold"/>
                <a:ea typeface="Inter Bold"/>
                <a:cs typeface="Inter Bold"/>
                <a:sym typeface="Inter Bold"/>
              </a:rPr>
              <a:t>Liên hệ thực tế:</a:t>
            </a:r>
          </a:p>
          <a:p>
            <a:pPr algn="just">
              <a:lnSpc>
                <a:spcPts val="4339"/>
              </a:lnSpc>
            </a:pPr>
            <a:r>
              <a:rPr lang="en-US" sz="3099" b="1">
                <a:solidFill>
                  <a:srgbClr val="1A1C1E"/>
                </a:solidFill>
                <a:latin typeface="Inter Bold"/>
                <a:ea typeface="Inter Bold"/>
                <a:cs typeface="Inter Bold"/>
                <a:sym typeface="Inter Bold"/>
              </a:rPr>
              <a:t> </a:t>
            </a:r>
            <a:r>
              <a:rPr lang="en-US" sz="3099">
                <a:solidFill>
                  <a:srgbClr val="1A1C1E"/>
                </a:solidFill>
                <a:latin typeface="Inter"/>
                <a:ea typeface="Inter"/>
                <a:cs typeface="Inter"/>
                <a:sym typeface="Inter"/>
              </a:rPr>
              <a:t>Chính phủ điện tử, học trực tuyến, bệnh án điện tử, ứng dụng công nghệ thông tin trong sản xuất nông nghiệp thông minh.</a:t>
            </a:r>
          </a:p>
          <a:p>
            <a:pPr algn="just">
              <a:lnSpc>
                <a:spcPts val="4339"/>
              </a:lnSpc>
            </a:pPr>
            <a:endParaRPr lang="en-US" sz="3099">
              <a:solidFill>
                <a:srgbClr val="1A1C1E"/>
              </a:solidFill>
              <a:latin typeface="Inter"/>
              <a:ea typeface="Inter"/>
              <a:cs typeface="Inter"/>
              <a:sym typeface="Inter"/>
            </a:endParaRPr>
          </a:p>
          <a:p>
            <a:pPr algn="just">
              <a:lnSpc>
                <a:spcPts val="4339"/>
              </a:lnSpc>
            </a:pPr>
            <a:endParaRPr lang="en-US" sz="3099">
              <a:solidFill>
                <a:srgbClr val="1A1C1E"/>
              </a:solidFill>
              <a:latin typeface="Inter"/>
              <a:ea typeface="Inter"/>
              <a:cs typeface="Inter"/>
              <a:sym typeface="Inter"/>
            </a:endParaRPr>
          </a:p>
        </p:txBody>
      </p:sp>
      <p:sp>
        <p:nvSpPr>
          <p:cNvPr id="19" name="TextBox 1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2" y="571948"/>
            <a:ext cx="12977416" cy="600075"/>
          </a:xfrm>
          <a:prstGeom prst="rect">
            <a:avLst/>
          </a:prstGeom>
        </p:spPr>
        <p:txBody>
          <a:bodyPr lIns="0" tIns="0" rIns="0" bIns="0" rtlCol="0" anchor="t">
            <a:spAutoFit/>
          </a:bodyPr>
          <a:lstStyle/>
          <a:p>
            <a:pPr algn="l">
              <a:lnSpc>
                <a:spcPts val="4800"/>
              </a:lnSpc>
            </a:pPr>
            <a:r>
              <a:rPr lang="en-US" sz="4000">
                <a:solidFill>
                  <a:srgbClr val="1F497D"/>
                </a:solidFill>
                <a:latin typeface="Paytone One"/>
                <a:ea typeface="Paytone One"/>
                <a:cs typeface="Paytone One"/>
                <a:sym typeface="Paytone One"/>
              </a:rPr>
              <a:t>MỤC 3: HỢP TÁC QUỐC TẾ VỀ CÔNG NGHỆ THÔNG TIN</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522366"/>
            <a:ext cx="6070235" cy="641650"/>
            <a:chOff x="0" y="0"/>
            <a:chExt cx="8093646" cy="855533"/>
          </a:xfrm>
        </p:grpSpPr>
        <p:sp>
          <p:nvSpPr>
            <p:cNvPr id="14" name="Freeform 14"/>
            <p:cNvSpPr/>
            <p:nvPr/>
          </p:nvSpPr>
          <p:spPr>
            <a:xfrm>
              <a:off x="0" y="0"/>
              <a:ext cx="8093649" cy="855532"/>
            </a:xfrm>
            <a:custGeom>
              <a:avLst/>
              <a:gdLst/>
              <a:ahLst/>
              <a:cxnLst/>
              <a:rect l="l" t="t" r="r" b="b"/>
              <a:pathLst>
                <a:path w="8093649" h="855532">
                  <a:moveTo>
                    <a:pt x="0" y="0"/>
                  </a:moveTo>
                  <a:lnTo>
                    <a:pt x="8093649" y="0"/>
                  </a:lnTo>
                  <a:lnTo>
                    <a:pt x="8093649" y="855532"/>
                  </a:lnTo>
                  <a:lnTo>
                    <a:pt x="0" y="855532"/>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855533"/>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2251120308-Lê Quận Hoàng Nam</a:t>
              </a:r>
            </a:p>
          </p:txBody>
        </p:sp>
      </p:grpSp>
      <p:sp>
        <p:nvSpPr>
          <p:cNvPr id="16" name="Freeform 16"/>
          <p:cNvSpPr/>
          <p:nvPr/>
        </p:nvSpPr>
        <p:spPr>
          <a:xfrm>
            <a:off x="13981759" y="155729"/>
            <a:ext cx="4381243" cy="832437"/>
          </a:xfrm>
          <a:custGeom>
            <a:avLst/>
            <a:gdLst/>
            <a:ahLst/>
            <a:cxnLst/>
            <a:rect l="l" t="t" r="r" b="b"/>
            <a:pathLst>
              <a:path w="4381243" h="832437">
                <a:moveTo>
                  <a:pt x="0" y="0"/>
                </a:moveTo>
                <a:lnTo>
                  <a:pt x="4381242" y="0"/>
                </a:lnTo>
                <a:lnTo>
                  <a:pt x="4381242" y="832437"/>
                </a:lnTo>
                <a:lnTo>
                  <a:pt x="0" y="832437"/>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TextBox 18"/>
          <p:cNvSpPr txBox="1"/>
          <p:nvPr/>
        </p:nvSpPr>
        <p:spPr>
          <a:xfrm>
            <a:off x="1028700" y="1638929"/>
            <a:ext cx="16230600" cy="7278243"/>
          </a:xfrm>
          <a:prstGeom prst="rect">
            <a:avLst/>
          </a:prstGeom>
        </p:spPr>
        <p:txBody>
          <a:bodyPr lIns="0" tIns="0" rIns="0" bIns="0" rtlCol="0" anchor="t">
            <a:spAutoFit/>
          </a:bodyPr>
          <a:lstStyle/>
          <a:p>
            <a:pPr algn="just">
              <a:lnSpc>
                <a:spcPts val="4835"/>
              </a:lnSpc>
            </a:pPr>
            <a:r>
              <a:rPr lang="en-US" sz="3099" b="1">
                <a:solidFill>
                  <a:srgbClr val="1A1C1E"/>
                </a:solidFill>
                <a:latin typeface="Inter Bold"/>
                <a:ea typeface="Inter Bold"/>
                <a:cs typeface="Inter Bold"/>
                <a:sym typeface="Inter Bold"/>
              </a:rPr>
              <a:t>Nội dung:</a:t>
            </a:r>
          </a:p>
          <a:p>
            <a:pPr marL="669289" lvl="1" indent="-334645" algn="just">
              <a:lnSpc>
                <a:spcPts val="4835"/>
              </a:lnSpc>
              <a:buFont typeface="Arial"/>
              <a:buChar char="•"/>
            </a:pPr>
            <a:r>
              <a:rPr lang="en-US" sz="3099">
                <a:solidFill>
                  <a:srgbClr val="1A1C1E"/>
                </a:solidFill>
                <a:latin typeface="Inter"/>
                <a:ea typeface="Inter"/>
                <a:cs typeface="Inter"/>
                <a:sym typeface="Inter"/>
              </a:rPr>
              <a:t>Nhà nước tạo điều kiện cho các tổ chức, cá nhân mở rộng hợp tác quốc tế trong lĩnh vực công nghệ thông tin trên cơ sở tuân thủ pháp luật Việt Nam và điều ước quốc tế.</a:t>
            </a:r>
          </a:p>
          <a:p>
            <a:pPr marL="669289" lvl="1" indent="-334645" algn="just">
              <a:lnSpc>
                <a:spcPts val="4835"/>
              </a:lnSpc>
              <a:buFont typeface="Arial"/>
              <a:buChar char="•"/>
            </a:pPr>
            <a:r>
              <a:rPr lang="en-US" sz="3099">
                <a:solidFill>
                  <a:srgbClr val="1A1C1E"/>
                </a:solidFill>
                <a:latin typeface="Inter"/>
                <a:ea typeface="Inter"/>
                <a:cs typeface="Inter"/>
                <a:sym typeface="Inter"/>
              </a:rPr>
              <a:t>Hoạt động hợp tác nhằm tiếp thu công nghệ tiên tiến, nâng cao trình độ khoa học – kỹ thuật và phát triển nguồn nhân lực công nghệ thông tin.</a:t>
            </a:r>
          </a:p>
          <a:p>
            <a:pPr marL="669289" lvl="1" indent="-334645" algn="just">
              <a:lnSpc>
                <a:spcPts val="4835"/>
              </a:lnSpc>
              <a:buFont typeface="Arial"/>
              <a:buChar char="•"/>
            </a:pPr>
            <a:r>
              <a:rPr lang="en-US" sz="3099">
                <a:solidFill>
                  <a:srgbClr val="1A1C1E"/>
                </a:solidFill>
                <a:latin typeface="Inter"/>
                <a:ea typeface="Inter"/>
                <a:cs typeface="Inter"/>
                <a:sym typeface="Inter"/>
              </a:rPr>
              <a:t>Qua đó, góp phần thúc đẩy hội nhập kinh tế quốc tế.</a:t>
            </a:r>
          </a:p>
          <a:p>
            <a:pPr algn="just">
              <a:lnSpc>
                <a:spcPts val="4835"/>
              </a:lnSpc>
            </a:pPr>
            <a:endParaRPr lang="en-US" sz="3099">
              <a:solidFill>
                <a:srgbClr val="1A1C1E"/>
              </a:solidFill>
              <a:latin typeface="Inter"/>
              <a:ea typeface="Inter"/>
              <a:cs typeface="Inter"/>
              <a:sym typeface="Inter"/>
            </a:endParaRPr>
          </a:p>
          <a:p>
            <a:pPr algn="just">
              <a:lnSpc>
                <a:spcPts val="4835"/>
              </a:lnSpc>
            </a:pPr>
            <a:r>
              <a:rPr lang="en-US" sz="3099" b="1">
                <a:solidFill>
                  <a:srgbClr val="1A1C1E"/>
                </a:solidFill>
                <a:latin typeface="Inter Bold"/>
                <a:ea typeface="Inter Bold"/>
                <a:cs typeface="Inter Bold"/>
                <a:sym typeface="Inter Bold"/>
              </a:rPr>
              <a:t>Liên hệ thực tế:</a:t>
            </a:r>
          </a:p>
          <a:p>
            <a:pPr algn="just">
              <a:lnSpc>
                <a:spcPts val="4835"/>
              </a:lnSpc>
            </a:pPr>
            <a:r>
              <a:rPr lang="en-US" sz="3099">
                <a:solidFill>
                  <a:srgbClr val="1A1C1E"/>
                </a:solidFill>
                <a:latin typeface="Inter"/>
                <a:ea typeface="Inter"/>
                <a:cs typeface="Inter"/>
                <a:sym typeface="Inter"/>
              </a:rPr>
              <a:t> Hợp tác với các tập đoàn công nghệ lớn như Google, Microsoft; đào tạo nhân lực CNTT theo tiêu chuẩn quốc tế.</a:t>
            </a:r>
          </a:p>
          <a:p>
            <a:pPr algn="just">
              <a:lnSpc>
                <a:spcPts val="4835"/>
              </a:lnSpc>
            </a:pPr>
            <a:endParaRPr lang="en-US" sz="3099">
              <a:solidFill>
                <a:srgbClr val="1A1C1E"/>
              </a:solidFill>
              <a:latin typeface="Inter"/>
              <a:ea typeface="Inter"/>
              <a:cs typeface="Inter"/>
              <a:sym typeface="Inter"/>
            </a:endParaRPr>
          </a:p>
          <a:p>
            <a:pPr algn="just">
              <a:lnSpc>
                <a:spcPts val="4835"/>
              </a:lnSpc>
            </a:pPr>
            <a:endParaRPr lang="en-US" sz="3099">
              <a:solidFill>
                <a:srgbClr val="1A1C1E"/>
              </a:solidFill>
              <a:latin typeface="Inter"/>
              <a:ea typeface="Inter"/>
              <a:cs typeface="Inter"/>
              <a:sym typeface="Inter"/>
            </a:endParaRPr>
          </a:p>
        </p:txBody>
      </p:sp>
      <p:sp>
        <p:nvSpPr>
          <p:cNvPr id="19" name="TextBox 1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2" y="571948"/>
            <a:ext cx="12589769" cy="600075"/>
          </a:xfrm>
          <a:prstGeom prst="rect">
            <a:avLst/>
          </a:prstGeom>
        </p:spPr>
        <p:txBody>
          <a:bodyPr lIns="0" tIns="0" rIns="0" bIns="0" rtlCol="0" anchor="t">
            <a:spAutoFit/>
          </a:bodyPr>
          <a:lstStyle/>
          <a:p>
            <a:pPr algn="l">
              <a:lnSpc>
                <a:spcPts val="4800"/>
              </a:lnSpc>
            </a:pPr>
            <a:r>
              <a:rPr lang="en-US" sz="4000">
                <a:solidFill>
                  <a:srgbClr val="1F497D"/>
                </a:solidFill>
                <a:latin typeface="Paytone One"/>
                <a:ea typeface="Paytone One"/>
                <a:cs typeface="Paytone One"/>
                <a:sym typeface="Paytone One"/>
              </a:rPr>
              <a:t>MỤC 4: BẢO VỆ QUYỀN VÀ LỢI ÍCH NGƯỜI SỬ DỤNG</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grpSp>
        <p:nvGrpSpPr>
          <p:cNvPr id="13" name="Group 13"/>
          <p:cNvGrpSpPr/>
          <p:nvPr/>
        </p:nvGrpSpPr>
        <p:grpSpPr>
          <a:xfrm>
            <a:off x="12217765" y="9522366"/>
            <a:ext cx="6070235" cy="641650"/>
            <a:chOff x="0" y="0"/>
            <a:chExt cx="8093646" cy="855533"/>
          </a:xfrm>
        </p:grpSpPr>
        <p:sp>
          <p:nvSpPr>
            <p:cNvPr id="14" name="Freeform 14"/>
            <p:cNvSpPr/>
            <p:nvPr/>
          </p:nvSpPr>
          <p:spPr>
            <a:xfrm>
              <a:off x="0" y="0"/>
              <a:ext cx="8093649" cy="855532"/>
            </a:xfrm>
            <a:custGeom>
              <a:avLst/>
              <a:gdLst/>
              <a:ahLst/>
              <a:cxnLst/>
              <a:rect l="l" t="t" r="r" b="b"/>
              <a:pathLst>
                <a:path w="8093649" h="855532">
                  <a:moveTo>
                    <a:pt x="0" y="0"/>
                  </a:moveTo>
                  <a:lnTo>
                    <a:pt x="8093649" y="0"/>
                  </a:lnTo>
                  <a:lnTo>
                    <a:pt x="8093649" y="855532"/>
                  </a:lnTo>
                  <a:lnTo>
                    <a:pt x="0" y="855532"/>
                  </a:lnTo>
                  <a:close/>
                </a:path>
              </a:pathLst>
            </a:custGeom>
            <a:solidFill>
              <a:srgbClr val="000000">
                <a:alpha val="0"/>
              </a:srgbClr>
            </a:solidFill>
            <a:ln w="12700">
              <a:noFill/>
            </a:ln>
          </p:spPr>
          <p:txBody>
            <a:bodyPr/>
            <a:lstStyle/>
            <a:p>
              <a:endParaRPr lang="en-US"/>
            </a:p>
          </p:txBody>
        </p:sp>
        <p:sp>
          <p:nvSpPr>
            <p:cNvPr id="15" name="TextBox 15"/>
            <p:cNvSpPr txBox="1"/>
            <p:nvPr/>
          </p:nvSpPr>
          <p:spPr>
            <a:xfrm>
              <a:off x="0" y="0"/>
              <a:ext cx="8093646" cy="855533"/>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2251120308-Lê Quận Hoàng Nam</a:t>
              </a:r>
            </a:p>
          </p:txBody>
        </p:sp>
      </p:grpSp>
      <p:sp>
        <p:nvSpPr>
          <p:cNvPr id="16" name="Freeform 16"/>
          <p:cNvSpPr/>
          <p:nvPr/>
        </p:nvSpPr>
        <p:spPr>
          <a:xfrm>
            <a:off x="13981759" y="155729"/>
            <a:ext cx="4381243" cy="832437"/>
          </a:xfrm>
          <a:custGeom>
            <a:avLst/>
            <a:gdLst/>
            <a:ahLst/>
            <a:cxnLst/>
            <a:rect l="l" t="t" r="r" b="b"/>
            <a:pathLst>
              <a:path w="4381243" h="832437">
                <a:moveTo>
                  <a:pt x="0" y="0"/>
                </a:moveTo>
                <a:lnTo>
                  <a:pt x="4381242" y="0"/>
                </a:lnTo>
                <a:lnTo>
                  <a:pt x="4381242" y="832437"/>
                </a:lnTo>
                <a:lnTo>
                  <a:pt x="0" y="832437"/>
                </a:lnTo>
                <a:lnTo>
                  <a:pt x="0" y="0"/>
                </a:lnTo>
                <a:close/>
              </a:path>
            </a:pathLst>
          </a:custGeom>
          <a:blipFill>
            <a:blip r:embed="rId16"/>
            <a:stretch>
              <a:fillRect/>
            </a:stretch>
          </a:blipFill>
        </p:spPr>
        <p:txBody>
          <a:bodyPr/>
          <a:lstStyle/>
          <a:p>
            <a:endParaRPr lang="en-US"/>
          </a:p>
        </p:txBody>
      </p:sp>
      <p:sp>
        <p:nvSpPr>
          <p:cNvPr id="17" name="Freeform 17"/>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8" name="TextBox 18"/>
          <p:cNvSpPr txBox="1"/>
          <p:nvPr/>
        </p:nvSpPr>
        <p:spPr>
          <a:xfrm>
            <a:off x="1028700" y="1667504"/>
            <a:ext cx="16230600" cy="6827901"/>
          </a:xfrm>
          <a:prstGeom prst="rect">
            <a:avLst/>
          </a:prstGeom>
        </p:spPr>
        <p:txBody>
          <a:bodyPr lIns="0" tIns="0" rIns="0" bIns="0" rtlCol="0" anchor="t">
            <a:spAutoFit/>
          </a:bodyPr>
          <a:lstStyle/>
          <a:p>
            <a:pPr algn="just">
              <a:lnSpc>
                <a:spcPts val="4556"/>
              </a:lnSpc>
            </a:pPr>
            <a:r>
              <a:rPr lang="en-US" sz="3099" b="1">
                <a:solidFill>
                  <a:srgbClr val="1A1C1E"/>
                </a:solidFill>
                <a:latin typeface="Inter Bold"/>
                <a:ea typeface="Inter Bold"/>
                <a:cs typeface="Inter Bold"/>
                <a:sym typeface="Inter Bold"/>
              </a:rPr>
              <a:t>Nội dung:</a:t>
            </a:r>
          </a:p>
          <a:p>
            <a:pPr marL="669289" lvl="1" indent="-334645" algn="just">
              <a:lnSpc>
                <a:spcPts val="4556"/>
              </a:lnSpc>
              <a:buFont typeface="Arial"/>
              <a:buChar char="•"/>
            </a:pPr>
            <a:r>
              <a:rPr lang="en-US" sz="3099">
                <a:solidFill>
                  <a:srgbClr val="1A1C1E"/>
                </a:solidFill>
                <a:latin typeface="Inter"/>
                <a:ea typeface="Inter"/>
                <a:cs typeface="Inter"/>
                <a:sym typeface="Inter"/>
              </a:rPr>
              <a:t>Luật quy định rõ trách nhiệm của Nhà nước và xã hội trong việc bảo vệ quyền và lợi ích hợp pháp của người sử dụng sản phẩm, dịch vụ công nghệ thông tin.</a:t>
            </a:r>
          </a:p>
          <a:p>
            <a:pPr marL="669289" lvl="1" indent="-334645" algn="just">
              <a:lnSpc>
                <a:spcPts val="4556"/>
              </a:lnSpc>
              <a:buFont typeface="Arial"/>
              <a:buChar char="•"/>
            </a:pPr>
            <a:r>
              <a:rPr lang="en-US" sz="3099">
                <a:solidFill>
                  <a:srgbClr val="1A1C1E"/>
                </a:solidFill>
                <a:latin typeface="Inter"/>
                <a:ea typeface="Inter"/>
                <a:cs typeface="Inter"/>
                <a:sym typeface="Inter"/>
              </a:rPr>
              <a:t>Nội dung này bao gồm bảo vệ tên miền quốc gia, quyền sở hữu trí tuệ, an toàn thông tin và quyền riêng tư của người dùng.</a:t>
            </a:r>
          </a:p>
          <a:p>
            <a:pPr marL="669289" lvl="1" indent="-334645" algn="just">
              <a:lnSpc>
                <a:spcPts val="4556"/>
              </a:lnSpc>
              <a:buFont typeface="Arial"/>
              <a:buChar char="•"/>
            </a:pPr>
            <a:r>
              <a:rPr lang="en-US" sz="3099">
                <a:solidFill>
                  <a:srgbClr val="1A1C1E"/>
                </a:solidFill>
                <a:latin typeface="Inter"/>
                <a:ea typeface="Inter"/>
                <a:cs typeface="Inter"/>
                <a:sym typeface="Inter"/>
              </a:rPr>
              <a:t>Đồng thời, Luật đưa ra các biện pháp phòng, chống thư rác, vi rút máy tính và phần mềm gây hại.</a:t>
            </a:r>
          </a:p>
          <a:p>
            <a:pPr algn="just">
              <a:lnSpc>
                <a:spcPts val="4556"/>
              </a:lnSpc>
            </a:pPr>
            <a:endParaRPr lang="en-US" sz="3099">
              <a:solidFill>
                <a:srgbClr val="1A1C1E"/>
              </a:solidFill>
              <a:latin typeface="Inter"/>
              <a:ea typeface="Inter"/>
              <a:cs typeface="Inter"/>
              <a:sym typeface="Inter"/>
            </a:endParaRPr>
          </a:p>
          <a:p>
            <a:pPr algn="just">
              <a:lnSpc>
                <a:spcPts val="4556"/>
              </a:lnSpc>
            </a:pPr>
            <a:r>
              <a:rPr lang="en-US" sz="3099" b="1">
                <a:solidFill>
                  <a:srgbClr val="1A1C1E"/>
                </a:solidFill>
                <a:latin typeface="Inter Bold"/>
                <a:ea typeface="Inter Bold"/>
                <a:cs typeface="Inter Bold"/>
                <a:sym typeface="Inter Bold"/>
              </a:rPr>
              <a:t>Liên hệ thực tế:</a:t>
            </a:r>
          </a:p>
          <a:p>
            <a:pPr algn="just">
              <a:lnSpc>
                <a:spcPts val="4556"/>
              </a:lnSpc>
            </a:pPr>
            <a:r>
              <a:rPr lang="en-US" sz="3099" b="1">
                <a:solidFill>
                  <a:srgbClr val="1A1C1E"/>
                </a:solidFill>
                <a:latin typeface="Inter Bold"/>
                <a:ea typeface="Inter Bold"/>
                <a:cs typeface="Inter Bold"/>
                <a:sym typeface="Inter Bold"/>
              </a:rPr>
              <a:t> </a:t>
            </a:r>
            <a:r>
              <a:rPr lang="en-US" sz="3099">
                <a:solidFill>
                  <a:srgbClr val="1A1C1E"/>
                </a:solidFill>
                <a:latin typeface="Inter"/>
                <a:ea typeface="Inter"/>
                <a:cs typeface="Inter"/>
                <a:sym typeface="Inter"/>
              </a:rPr>
              <a:t>Chống lừa đảo qua mạng, bảo vệ dữ liệu cá nhân, xử lý spam tin nhắn và email rác.</a:t>
            </a:r>
          </a:p>
          <a:p>
            <a:pPr algn="just">
              <a:lnSpc>
                <a:spcPts val="4556"/>
              </a:lnSpc>
            </a:pPr>
            <a:endParaRPr lang="en-US" sz="3099">
              <a:solidFill>
                <a:srgbClr val="1A1C1E"/>
              </a:solidFill>
              <a:latin typeface="Inter"/>
              <a:ea typeface="Inter"/>
              <a:cs typeface="Inter"/>
              <a:sym typeface="Inter"/>
            </a:endParaRPr>
          </a:p>
          <a:p>
            <a:pPr algn="just">
              <a:lnSpc>
                <a:spcPts val="4556"/>
              </a:lnSpc>
            </a:pPr>
            <a:endParaRPr lang="en-US" sz="3099">
              <a:solidFill>
                <a:srgbClr val="1A1C1E"/>
              </a:solidFill>
              <a:latin typeface="Inter"/>
              <a:ea typeface="Inter"/>
              <a:cs typeface="Inter"/>
              <a:sym typeface="Inter"/>
            </a:endParaRPr>
          </a:p>
        </p:txBody>
      </p:sp>
      <p:sp>
        <p:nvSpPr>
          <p:cNvPr id="19" name="TextBox 1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672798" y="-262423"/>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a:off x="14691455" y="2874883"/>
            <a:ext cx="3471443" cy="2095490"/>
          </a:xfrm>
          <a:custGeom>
            <a:avLst/>
            <a:gdLst/>
            <a:ahLst/>
            <a:cxnLst/>
            <a:rect l="l" t="t" r="r" b="b"/>
            <a:pathLst>
              <a:path w="3471443" h="2095490">
                <a:moveTo>
                  <a:pt x="0" y="0"/>
                </a:moveTo>
                <a:lnTo>
                  <a:pt x="3471444" y="0"/>
                </a:lnTo>
                <a:lnTo>
                  <a:pt x="3471444" y="2095491"/>
                </a:lnTo>
                <a:lnTo>
                  <a:pt x="0" y="2095491"/>
                </a:lnTo>
                <a:lnTo>
                  <a:pt x="0" y="0"/>
                </a:lnTo>
                <a:close/>
              </a:path>
            </a:pathLst>
          </a:custGeom>
          <a:blipFill>
            <a:blip r:embed="rId12">
              <a:extLst>
                <a:ext uri="{96DAC541-7B7A-43D3-8B79-37D633B846F1}">
                  <asvg:svgBlip xmlns:asvg="http://schemas.microsoft.com/office/drawing/2016/SVG/main" r:embed="rId13"/>
                </a:ext>
              </a:extLst>
            </a:blip>
            <a:stretch>
              <a:fillRect t="-152" b="-152"/>
            </a:stretch>
          </a:blipFill>
        </p:spPr>
        <p:txBody>
          <a:bodyPr/>
          <a:lstStyle/>
          <a:p>
            <a:endParaRPr lang="en-US"/>
          </a:p>
        </p:txBody>
      </p:sp>
      <p:sp>
        <p:nvSpPr>
          <p:cNvPr id="8" name="Freeform 8"/>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9" name="TextBox 9"/>
          <p:cNvSpPr txBox="1"/>
          <p:nvPr/>
        </p:nvSpPr>
        <p:spPr>
          <a:xfrm>
            <a:off x="1371600" y="1483538"/>
            <a:ext cx="14752520" cy="1692910"/>
          </a:xfrm>
          <a:prstGeom prst="rect">
            <a:avLst/>
          </a:prstGeom>
        </p:spPr>
        <p:txBody>
          <a:bodyPr lIns="0" tIns="0" rIns="0" bIns="0" rtlCol="0" anchor="t">
            <a:spAutoFit/>
          </a:bodyPr>
          <a:lstStyle/>
          <a:p>
            <a:pPr algn="l">
              <a:lnSpc>
                <a:spcPts val="6799"/>
              </a:lnSpc>
            </a:pPr>
            <a:r>
              <a:rPr lang="en-US" sz="5400">
                <a:solidFill>
                  <a:srgbClr val="A75B4B"/>
                </a:solidFill>
                <a:latin typeface="Paytone One"/>
                <a:ea typeface="Paytone One"/>
                <a:cs typeface="Paytone One"/>
                <a:sym typeface="Paytone One"/>
              </a:rPr>
              <a:t>Chương 5. </a:t>
            </a:r>
          </a:p>
          <a:p>
            <a:pPr algn="l">
              <a:lnSpc>
                <a:spcPts val="6799"/>
              </a:lnSpc>
            </a:pPr>
            <a:r>
              <a:rPr lang="en-US" sz="5400">
                <a:solidFill>
                  <a:srgbClr val="A75B4B"/>
                </a:solidFill>
                <a:latin typeface="Paytone One"/>
                <a:ea typeface="Paytone One"/>
                <a:cs typeface="Paytone One"/>
                <a:sym typeface="Paytone One"/>
              </a:rPr>
              <a:t>GIẢI QUYẾT TRANH CHẤP VÀ XỬ LÝ PHẠM VI</a:t>
            </a:r>
          </a:p>
        </p:txBody>
      </p:sp>
      <p:sp>
        <p:nvSpPr>
          <p:cNvPr id="10" name="Freeform 10"/>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4">
              <a:extLst>
                <a:ext uri="{96DAC541-7B7A-43D3-8B79-37D633B846F1}">
                  <asvg:svgBlip xmlns:asvg="http://schemas.microsoft.com/office/drawing/2016/SVG/main" r:embed="rId15"/>
                </a:ext>
              </a:extLst>
            </a:blip>
            <a:stretch>
              <a:fillRect l="-384" r="-382"/>
            </a:stretch>
          </a:blipFill>
        </p:spPr>
        <p:txBody>
          <a:bodyPr/>
          <a:lstStyle/>
          <a:p>
            <a:endParaRPr lang="en-US"/>
          </a:p>
        </p:txBody>
      </p:sp>
      <p:sp>
        <p:nvSpPr>
          <p:cNvPr id="11" name="Freeform 11"/>
          <p:cNvSpPr/>
          <p:nvPr/>
        </p:nvSpPr>
        <p:spPr>
          <a:xfrm>
            <a:off x="518208" y="8503501"/>
            <a:ext cx="1020985" cy="1039892"/>
          </a:xfrm>
          <a:custGeom>
            <a:avLst/>
            <a:gdLst/>
            <a:ahLst/>
            <a:cxnLst/>
            <a:rect l="l" t="t" r="r" b="b"/>
            <a:pathLst>
              <a:path w="1020985" h="1039892">
                <a:moveTo>
                  <a:pt x="0" y="0"/>
                </a:moveTo>
                <a:lnTo>
                  <a:pt x="1020984" y="0"/>
                </a:lnTo>
                <a:lnTo>
                  <a:pt x="1020984" y="1039892"/>
                </a:lnTo>
                <a:lnTo>
                  <a:pt x="0" y="1039892"/>
                </a:lnTo>
                <a:lnTo>
                  <a:pt x="0" y="0"/>
                </a:lnTo>
                <a:close/>
              </a:path>
            </a:pathLst>
          </a:custGeom>
          <a:blipFill>
            <a:blip r:embed="rId16">
              <a:extLst>
                <a:ext uri="{96DAC541-7B7A-43D3-8B79-37D633B846F1}">
                  <asvg:svgBlip xmlns:asvg="http://schemas.microsoft.com/office/drawing/2016/SVG/main" r:embed="rId17"/>
                </a:ext>
              </a:extLst>
            </a:blip>
            <a:stretch>
              <a:fillRect l="-462" r="-462"/>
            </a:stretch>
          </a:blipFill>
        </p:spPr>
        <p:txBody>
          <a:bodyPr/>
          <a:lstStyle/>
          <a:p>
            <a:endParaRPr lang="en-US"/>
          </a:p>
        </p:txBody>
      </p:sp>
      <p:sp>
        <p:nvSpPr>
          <p:cNvPr id="12" name="Freeform 12"/>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3" name="Freeform 13"/>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20">
              <a:extLst>
                <a:ext uri="{96DAC541-7B7A-43D3-8B79-37D633B846F1}">
                  <asvg:svgBlip xmlns:asvg="http://schemas.microsoft.com/office/drawing/2016/SVG/main" r:embed="rId21"/>
                </a:ext>
              </a:extLst>
            </a:blip>
            <a:stretch>
              <a:fillRect t="-20" b="-21"/>
            </a:stretch>
          </a:blipFill>
        </p:spPr>
        <p:txBody>
          <a:bodyPr/>
          <a:lstStyle/>
          <a:p>
            <a:endParaRPr lang="en-US"/>
          </a:p>
        </p:txBody>
      </p:sp>
      <p:sp>
        <p:nvSpPr>
          <p:cNvPr id="14" name="TextBox 14"/>
          <p:cNvSpPr txBox="1"/>
          <p:nvPr/>
        </p:nvSpPr>
        <p:spPr>
          <a:xfrm>
            <a:off x="2087932" y="3709620"/>
            <a:ext cx="13319855" cy="5481193"/>
          </a:xfrm>
          <a:prstGeom prst="rect">
            <a:avLst/>
          </a:prstGeom>
        </p:spPr>
        <p:txBody>
          <a:bodyPr lIns="0" tIns="0" rIns="0" bIns="0" rtlCol="0" anchor="t">
            <a:spAutoFit/>
          </a:bodyPr>
          <a:lstStyle/>
          <a:p>
            <a:pPr algn="l">
              <a:lnSpc>
                <a:spcPts val="4825"/>
              </a:lnSpc>
            </a:pPr>
            <a:r>
              <a:rPr lang="en-US" sz="3799">
                <a:solidFill>
                  <a:srgbClr val="000000"/>
                </a:solidFill>
                <a:latin typeface="Inter"/>
                <a:ea typeface="Inter"/>
                <a:cs typeface="Inter"/>
                <a:sym typeface="Inter"/>
              </a:rPr>
              <a:t>Gồm 03 điều</a:t>
            </a:r>
          </a:p>
          <a:p>
            <a:pPr algn="l">
              <a:lnSpc>
                <a:spcPts val="4825"/>
              </a:lnSpc>
            </a:pPr>
            <a:r>
              <a:rPr lang="en-US" sz="3799">
                <a:solidFill>
                  <a:srgbClr val="000000"/>
                </a:solidFill>
                <a:latin typeface="Inter"/>
                <a:ea typeface="Inter"/>
                <a:cs typeface="Inter"/>
                <a:sym typeface="Inter"/>
              </a:rPr>
              <a:t>Quy định mang tính nguyên tắc chung</a:t>
            </a:r>
          </a:p>
          <a:p>
            <a:pPr algn="l">
              <a:lnSpc>
                <a:spcPts val="4825"/>
              </a:lnSpc>
            </a:pPr>
            <a:r>
              <a:rPr lang="en-US" sz="3799">
                <a:solidFill>
                  <a:srgbClr val="000000"/>
                </a:solidFill>
                <a:latin typeface="Inter"/>
                <a:ea typeface="Inter"/>
                <a:cs typeface="Inter"/>
                <a:sym typeface="Inter"/>
              </a:rPr>
              <a:t>Áp dụng cho:</a:t>
            </a:r>
          </a:p>
          <a:p>
            <a:pPr marL="820417" lvl="1" indent="-410209" algn="l">
              <a:lnSpc>
                <a:spcPts val="4825"/>
              </a:lnSpc>
              <a:buFont typeface="Arial"/>
              <a:buChar char="•"/>
            </a:pPr>
            <a:r>
              <a:rPr lang="en-US" sz="3799">
                <a:solidFill>
                  <a:srgbClr val="000000"/>
                </a:solidFill>
                <a:latin typeface="Inter"/>
                <a:ea typeface="Inter"/>
                <a:cs typeface="Inter"/>
                <a:sym typeface="Inter"/>
              </a:rPr>
              <a:t>Hoạt động công nghệ thông tin</a:t>
            </a:r>
          </a:p>
          <a:p>
            <a:pPr marL="820417" lvl="1" indent="-410209" algn="l">
              <a:lnSpc>
                <a:spcPts val="4825"/>
              </a:lnSpc>
              <a:buFont typeface="Arial"/>
              <a:buChar char="•"/>
            </a:pPr>
            <a:r>
              <a:rPr lang="en-US" sz="3799">
                <a:solidFill>
                  <a:srgbClr val="000000"/>
                </a:solidFill>
                <a:latin typeface="Inter"/>
                <a:ea typeface="Inter"/>
                <a:cs typeface="Inter"/>
                <a:sym typeface="Inter"/>
              </a:rPr>
              <a:t>Tranh chấp phát sinh trong môi trường mạng</a:t>
            </a:r>
          </a:p>
          <a:p>
            <a:pPr algn="l">
              <a:lnSpc>
                <a:spcPts val="4825"/>
              </a:lnSpc>
            </a:pPr>
            <a:r>
              <a:rPr lang="en-US" sz="3799">
                <a:solidFill>
                  <a:srgbClr val="000000"/>
                </a:solidFill>
                <a:latin typeface="Inter"/>
                <a:ea typeface="Inter"/>
                <a:cs typeface="Inter"/>
                <a:sym typeface="Inter"/>
              </a:rPr>
              <a:t>Nội dung chính:</a:t>
            </a:r>
          </a:p>
          <a:p>
            <a:pPr marL="820417" lvl="1" indent="-410209" algn="l">
              <a:lnSpc>
                <a:spcPts val="4825"/>
              </a:lnSpc>
              <a:buFont typeface="Arial"/>
              <a:buChar char="•"/>
            </a:pPr>
            <a:r>
              <a:rPr lang="en-US" sz="3799">
                <a:solidFill>
                  <a:srgbClr val="000000"/>
                </a:solidFill>
                <a:latin typeface="Inter"/>
                <a:ea typeface="Inter"/>
                <a:cs typeface="Inter"/>
                <a:sym typeface="Inter"/>
              </a:rPr>
              <a:t>Thẩm quyền giải quyết tranh chấp CNTT</a:t>
            </a:r>
          </a:p>
          <a:p>
            <a:pPr marL="820417" lvl="1" indent="-410209" algn="l">
              <a:lnSpc>
                <a:spcPts val="4825"/>
              </a:lnSpc>
              <a:buFont typeface="Arial"/>
              <a:buChar char="•"/>
            </a:pPr>
            <a:r>
              <a:rPr lang="en-US" sz="3799">
                <a:solidFill>
                  <a:srgbClr val="000000"/>
                </a:solidFill>
                <a:latin typeface="Inter"/>
                <a:ea typeface="Inter"/>
                <a:cs typeface="Inter"/>
                <a:sym typeface="Inter"/>
              </a:rPr>
              <a:t>Tranh chấp về tên miền quốc gia “.vn”</a:t>
            </a:r>
          </a:p>
          <a:p>
            <a:pPr marL="820417" lvl="1" indent="-410209" algn="l">
              <a:lnSpc>
                <a:spcPts val="4825"/>
              </a:lnSpc>
              <a:buFont typeface="Arial"/>
              <a:buChar char="•"/>
            </a:pPr>
            <a:r>
              <a:rPr lang="en-US" sz="3799">
                <a:solidFill>
                  <a:srgbClr val="000000"/>
                </a:solidFill>
                <a:latin typeface="Inter"/>
                <a:ea typeface="Inter"/>
                <a:cs typeface="Inter"/>
                <a:sym typeface="Inter"/>
              </a:rPr>
              <a:t>Xử lý các hành vi vi phạm pháp luật về CNTT</a:t>
            </a:r>
          </a:p>
        </p:txBody>
      </p:sp>
      <p:sp>
        <p:nvSpPr>
          <p:cNvPr id="15" name="Freeform 15"/>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2"/>
            <a:stretch>
              <a:fillRect/>
            </a:stretch>
          </a:blipFill>
        </p:spPr>
        <p:txBody>
          <a:bodyPr/>
          <a:lstStyle/>
          <a:p>
            <a:endParaRPr lang="en-US"/>
          </a:p>
        </p:txBody>
      </p:sp>
      <p:grpSp>
        <p:nvGrpSpPr>
          <p:cNvPr id="16" name="Group 16"/>
          <p:cNvGrpSpPr/>
          <p:nvPr/>
        </p:nvGrpSpPr>
        <p:grpSpPr>
          <a:xfrm>
            <a:off x="12217765" y="9258300"/>
            <a:ext cx="6070235" cy="905716"/>
            <a:chOff x="0" y="0"/>
            <a:chExt cx="8093646" cy="1207622"/>
          </a:xfrm>
        </p:grpSpPr>
        <p:sp>
          <p:nvSpPr>
            <p:cNvPr id="17" name="Freeform 17"/>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18" name="TextBox 18"/>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2251120074 - Nguyễn Xuân Dự</a:t>
              </a:r>
            </a:p>
          </p:txBody>
        </p:sp>
      </p:grpSp>
      <p:sp>
        <p:nvSpPr>
          <p:cNvPr id="19" name="TextBox 1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1" y="571948"/>
            <a:ext cx="11213423"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Giải</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quyết</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tranh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chấp</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lĩnh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vực</a:t>
            </a:r>
            <a:r>
              <a:rPr lang="en-US" sz="4000" dirty="0">
                <a:solidFill>
                  <a:srgbClr val="1F497D"/>
                </a:solidFill>
                <a:latin typeface="Paytone One"/>
                <a:ea typeface="Paytone One"/>
                <a:cs typeface="Paytone One"/>
                <a:sym typeface="Paytone One"/>
              </a:rPr>
              <a:t> CNTT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3" name="Freeform 13"/>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4" name="Freeform 14"/>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5" name="TextBox 15"/>
          <p:cNvSpPr txBox="1"/>
          <p:nvPr/>
        </p:nvSpPr>
        <p:spPr>
          <a:xfrm>
            <a:off x="1439047" y="1885288"/>
            <a:ext cx="15155589" cy="2857500"/>
          </a:xfrm>
          <a:prstGeom prst="rect">
            <a:avLst/>
          </a:prstGeom>
        </p:spPr>
        <p:txBody>
          <a:bodyPr lIns="0" tIns="0" rIns="0" bIns="0" rtlCol="0" anchor="t">
            <a:spAutoFit/>
          </a:bodyPr>
          <a:lstStyle/>
          <a:p>
            <a:pPr algn="l">
              <a:lnSpc>
                <a:spcPts val="4556"/>
              </a:lnSpc>
            </a:pPr>
            <a:r>
              <a:rPr lang="en-US" sz="3797" b="1">
                <a:solidFill>
                  <a:srgbClr val="1A1C1E"/>
                </a:solidFill>
                <a:latin typeface="Inter Bold"/>
                <a:ea typeface="Inter Bold"/>
                <a:cs typeface="Inter Bold"/>
                <a:sym typeface="Inter Bold"/>
              </a:rPr>
              <a:t>Tranh chấp phát sinh từ:</a:t>
            </a:r>
          </a:p>
          <a:p>
            <a:pPr marL="819828" lvl="1" indent="-409914" algn="l">
              <a:lnSpc>
                <a:spcPts val="4556"/>
              </a:lnSpc>
              <a:buFont typeface="Arial"/>
              <a:buChar char="•"/>
            </a:pPr>
            <a:r>
              <a:rPr lang="en-US" sz="3797">
                <a:solidFill>
                  <a:srgbClr val="1A1C1E"/>
                </a:solidFill>
                <a:latin typeface="Inter"/>
                <a:ea typeface="Inter"/>
                <a:cs typeface="Inter"/>
                <a:sym typeface="Inter"/>
              </a:rPr>
              <a:t>Hoạt động ứng dụng công nghệ thông tin</a:t>
            </a:r>
          </a:p>
          <a:p>
            <a:pPr marL="819828" lvl="1" indent="-409914" algn="l">
              <a:lnSpc>
                <a:spcPts val="4556"/>
              </a:lnSpc>
              <a:buFont typeface="Arial"/>
              <a:buChar char="•"/>
            </a:pPr>
            <a:r>
              <a:rPr lang="en-US" sz="3797">
                <a:solidFill>
                  <a:srgbClr val="1A1C1E"/>
                </a:solidFill>
                <a:latin typeface="Inter"/>
                <a:ea typeface="Inter"/>
                <a:cs typeface="Inter"/>
                <a:sym typeface="Inter"/>
              </a:rPr>
              <a:t>Giao dịch điện tử</a:t>
            </a:r>
          </a:p>
          <a:p>
            <a:pPr marL="819828" lvl="1" indent="-409914" algn="l">
              <a:lnSpc>
                <a:spcPts val="4556"/>
              </a:lnSpc>
              <a:buFont typeface="Arial"/>
              <a:buChar char="•"/>
            </a:pPr>
            <a:r>
              <a:rPr lang="en-US" sz="3797">
                <a:solidFill>
                  <a:srgbClr val="1A1C1E"/>
                </a:solidFill>
                <a:latin typeface="Inter"/>
                <a:ea typeface="Inter"/>
                <a:cs typeface="Inter"/>
                <a:sym typeface="Inter"/>
              </a:rPr>
              <a:t>Khai thác, sử dụng thông tin trên mạng</a:t>
            </a:r>
          </a:p>
          <a:p>
            <a:pPr algn="l">
              <a:lnSpc>
                <a:spcPts val="4556"/>
              </a:lnSpc>
            </a:pPr>
            <a:endParaRPr lang="en-US" sz="3797">
              <a:solidFill>
                <a:srgbClr val="1A1C1E"/>
              </a:solidFill>
              <a:latin typeface="Inter"/>
              <a:ea typeface="Inter"/>
              <a:cs typeface="Inter"/>
              <a:sym typeface="Inter"/>
            </a:endParaRPr>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39</a:t>
            </a:r>
          </a:p>
        </p:txBody>
      </p:sp>
      <p:sp>
        <p:nvSpPr>
          <p:cNvPr id="17" name="TextBox 17"/>
          <p:cNvSpPr txBox="1"/>
          <p:nvPr/>
        </p:nvSpPr>
        <p:spPr>
          <a:xfrm>
            <a:off x="1439047" y="5124450"/>
            <a:ext cx="15155589" cy="3429000"/>
          </a:xfrm>
          <a:prstGeom prst="rect">
            <a:avLst/>
          </a:prstGeom>
        </p:spPr>
        <p:txBody>
          <a:bodyPr lIns="0" tIns="0" rIns="0" bIns="0" rtlCol="0" anchor="t">
            <a:spAutoFit/>
          </a:bodyPr>
          <a:lstStyle/>
          <a:p>
            <a:pPr algn="l">
              <a:lnSpc>
                <a:spcPts val="4560"/>
              </a:lnSpc>
            </a:pPr>
            <a:r>
              <a:rPr lang="en-US" sz="3800" b="1">
                <a:solidFill>
                  <a:srgbClr val="1A1C1E"/>
                </a:solidFill>
                <a:latin typeface="Inter Bold"/>
                <a:ea typeface="Inter Bold"/>
                <a:cs typeface="Inter Bold"/>
                <a:sym typeface="Inter Bold"/>
              </a:rPr>
              <a:t>Các hình thức giải quyết tranh chấp:</a:t>
            </a:r>
          </a:p>
          <a:p>
            <a:pPr marL="820421" lvl="1" indent="-410210" algn="l">
              <a:lnSpc>
                <a:spcPts val="4560"/>
              </a:lnSpc>
              <a:buFont typeface="Arial"/>
              <a:buChar char="•"/>
            </a:pPr>
            <a:r>
              <a:rPr lang="en-US" sz="3800">
                <a:solidFill>
                  <a:srgbClr val="1A1C1E"/>
                </a:solidFill>
                <a:latin typeface="Inter"/>
                <a:ea typeface="Inter"/>
                <a:cs typeface="Inter"/>
                <a:sym typeface="Inter"/>
              </a:rPr>
              <a:t>Thương lượng giữa các bên</a:t>
            </a:r>
          </a:p>
          <a:p>
            <a:pPr marL="820421" lvl="1" indent="-410210" algn="l">
              <a:lnSpc>
                <a:spcPts val="4560"/>
              </a:lnSpc>
              <a:buFont typeface="Arial"/>
              <a:buChar char="•"/>
            </a:pPr>
            <a:r>
              <a:rPr lang="en-US" sz="3800">
                <a:solidFill>
                  <a:srgbClr val="1A1C1E"/>
                </a:solidFill>
                <a:latin typeface="Inter"/>
                <a:ea typeface="Inter"/>
                <a:cs typeface="Inter"/>
                <a:sym typeface="Inter"/>
              </a:rPr>
              <a:t>Hòa giải</a:t>
            </a:r>
          </a:p>
          <a:p>
            <a:pPr marL="820421" lvl="1" indent="-410210" algn="l">
              <a:lnSpc>
                <a:spcPts val="4560"/>
              </a:lnSpc>
              <a:buFont typeface="Arial"/>
              <a:buChar char="•"/>
            </a:pPr>
            <a:r>
              <a:rPr lang="en-US" sz="3800">
                <a:solidFill>
                  <a:srgbClr val="1A1C1E"/>
                </a:solidFill>
                <a:latin typeface="Inter"/>
                <a:ea typeface="Inter"/>
                <a:cs typeface="Inter"/>
                <a:sym typeface="Inter"/>
              </a:rPr>
              <a:t>Giải quyết bằng trọng tài</a:t>
            </a:r>
          </a:p>
          <a:p>
            <a:pPr marL="820421" lvl="1" indent="-410210" algn="l">
              <a:lnSpc>
                <a:spcPts val="4560"/>
              </a:lnSpc>
              <a:buFont typeface="Arial"/>
              <a:buChar char="•"/>
            </a:pPr>
            <a:r>
              <a:rPr lang="en-US" sz="3800">
                <a:solidFill>
                  <a:srgbClr val="1A1C1E"/>
                </a:solidFill>
                <a:latin typeface="Inter"/>
                <a:ea typeface="Inter"/>
                <a:cs typeface="Inter"/>
                <a:sym typeface="Inter"/>
              </a:rPr>
              <a:t>Giải quyết tại Tòa án theo quy định pháp luật</a:t>
            </a:r>
          </a:p>
          <a:p>
            <a:pPr algn="l">
              <a:lnSpc>
                <a:spcPts val="4560"/>
              </a:lnSpc>
            </a:pPr>
            <a:endParaRPr lang="en-US" sz="3800">
              <a:solidFill>
                <a:srgbClr val="1A1C1E"/>
              </a:solidFill>
              <a:latin typeface="Inter"/>
              <a:ea typeface="Inter"/>
              <a:cs typeface="Inter"/>
              <a:sym typeface="Inter"/>
            </a:endParaRPr>
          </a:p>
        </p:txBody>
      </p:sp>
      <p:grpSp>
        <p:nvGrpSpPr>
          <p:cNvPr id="18" name="Group 18"/>
          <p:cNvGrpSpPr/>
          <p:nvPr/>
        </p:nvGrpSpPr>
        <p:grpSpPr>
          <a:xfrm>
            <a:off x="12217765" y="9258300"/>
            <a:ext cx="6070235" cy="905716"/>
            <a:chOff x="0" y="0"/>
            <a:chExt cx="8093646" cy="1207622"/>
          </a:xfrm>
        </p:grpSpPr>
        <p:sp>
          <p:nvSpPr>
            <p:cNvPr id="19" name="Freeform 19"/>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20" name="TextBox 20"/>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2251120074 - Nguyễn Xuân Dự</a:t>
              </a:r>
            </a:p>
          </p:txBody>
        </p:sp>
      </p:gr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2" y="571948"/>
            <a:ext cx="11873458"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Giải</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quyết</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tranh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chấp</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lĩnh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vực</a:t>
            </a:r>
            <a:r>
              <a:rPr lang="en-US" sz="4000" dirty="0">
                <a:solidFill>
                  <a:srgbClr val="1F497D"/>
                </a:solidFill>
                <a:latin typeface="Paytone One"/>
                <a:ea typeface="Paytone One"/>
                <a:cs typeface="Paytone One"/>
                <a:sym typeface="Paytone One"/>
              </a:rPr>
              <a:t> CNTT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3" name="Freeform 13"/>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16"/>
            <a:stretch>
              <a:fillRect/>
            </a:stretch>
          </a:blipFill>
        </p:spPr>
        <p:txBody>
          <a:bodyPr/>
          <a:lstStyle/>
          <a:p>
            <a:endParaRPr lang="en-US"/>
          </a:p>
        </p:txBody>
      </p:sp>
      <p:sp>
        <p:nvSpPr>
          <p:cNvPr id="14" name="Freeform 14"/>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5" name="TextBox 1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40</a:t>
            </a:r>
          </a:p>
        </p:txBody>
      </p:sp>
      <p:sp>
        <p:nvSpPr>
          <p:cNvPr id="16" name="TextBox 16"/>
          <p:cNvSpPr txBox="1"/>
          <p:nvPr/>
        </p:nvSpPr>
        <p:spPr>
          <a:xfrm>
            <a:off x="1439047" y="1390650"/>
            <a:ext cx="15540290" cy="6805041"/>
          </a:xfrm>
          <a:prstGeom prst="rect">
            <a:avLst/>
          </a:prstGeom>
        </p:spPr>
        <p:txBody>
          <a:bodyPr lIns="0" tIns="0" rIns="0" bIns="0" rtlCol="0" anchor="t">
            <a:spAutoFit/>
          </a:bodyPr>
          <a:lstStyle/>
          <a:p>
            <a:pPr algn="just">
              <a:lnSpc>
                <a:spcPts val="4902"/>
              </a:lnSpc>
            </a:pPr>
            <a:r>
              <a:rPr lang="en-US" sz="3800" b="1">
                <a:solidFill>
                  <a:srgbClr val="1A1C1E"/>
                </a:solidFill>
                <a:latin typeface="Inter Bold"/>
                <a:ea typeface="Inter Bold"/>
                <a:cs typeface="Inter Bold"/>
                <a:sym typeface="Inter Bold"/>
              </a:rPr>
              <a:t>Tranh chấp hợp đồng phần mềm:</a:t>
            </a:r>
          </a:p>
          <a:p>
            <a:pPr marL="820421" lvl="1" indent="-410210" algn="just">
              <a:lnSpc>
                <a:spcPts val="4902"/>
              </a:lnSpc>
              <a:buFont typeface="Arial"/>
              <a:buChar char="•"/>
            </a:pPr>
            <a:r>
              <a:rPr lang="en-US" sz="3800">
                <a:solidFill>
                  <a:srgbClr val="1A1C1E"/>
                </a:solidFill>
                <a:latin typeface="Inter"/>
                <a:ea typeface="Inter"/>
                <a:cs typeface="Inter"/>
                <a:sym typeface="Inter"/>
              </a:rPr>
              <a:t> Doanh nghiệp thuê công ty CNTT viết phần mềm quản lý, nhưng sản phẩm bàn giao không đúng chức năng đã cam kết trong hợp đồng → hai bên phát sinh tranh chấp về chất lượng và chi phí.</a:t>
            </a:r>
          </a:p>
          <a:p>
            <a:pPr algn="just">
              <a:lnSpc>
                <a:spcPts val="4902"/>
              </a:lnSpc>
            </a:pPr>
            <a:r>
              <a:rPr lang="en-US" sz="3800" b="1">
                <a:solidFill>
                  <a:srgbClr val="1A1C1E"/>
                </a:solidFill>
                <a:latin typeface="Inter Bold"/>
                <a:ea typeface="Inter Bold"/>
                <a:cs typeface="Inter Bold"/>
                <a:sym typeface="Inter Bold"/>
              </a:rPr>
              <a:t>Tranh chấp mua bán hàng online:</a:t>
            </a:r>
          </a:p>
          <a:p>
            <a:pPr marL="820421" lvl="1" indent="-410210" algn="just">
              <a:lnSpc>
                <a:spcPts val="4902"/>
              </a:lnSpc>
              <a:buFont typeface="Arial"/>
              <a:buChar char="•"/>
            </a:pPr>
            <a:r>
              <a:rPr lang="en-US" sz="3800">
                <a:solidFill>
                  <a:srgbClr val="1A1C1E"/>
                </a:solidFill>
                <a:latin typeface="Inter"/>
                <a:ea typeface="Inter"/>
                <a:cs typeface="Inter"/>
                <a:sym typeface="Inter"/>
              </a:rPr>
              <a:t> Người tiêu dùng đặt mua sản phẩm qua sàn thương mại điện tử, nhưng hàng nhận được không đúng mô tả hoặc không thể sử dụng → phát sinh tranh chấp giữa người mua và người bán.</a:t>
            </a:r>
          </a:p>
          <a:p>
            <a:pPr algn="just">
              <a:lnSpc>
                <a:spcPts val="4902"/>
              </a:lnSpc>
            </a:pPr>
            <a:r>
              <a:rPr lang="en-US" sz="3800" b="1">
                <a:solidFill>
                  <a:srgbClr val="1A1C1E"/>
                </a:solidFill>
                <a:latin typeface="Inter Bold"/>
                <a:ea typeface="Inter Bold"/>
                <a:cs typeface="Inter Bold"/>
                <a:sym typeface="Inter Bold"/>
              </a:rPr>
              <a:t>Thực tế giải quyết:</a:t>
            </a:r>
          </a:p>
          <a:p>
            <a:pPr marL="820421" lvl="1" indent="-410210" algn="just">
              <a:lnSpc>
                <a:spcPts val="4902"/>
              </a:lnSpc>
              <a:buFont typeface="Arial"/>
              <a:buChar char="•"/>
            </a:pPr>
            <a:r>
              <a:rPr lang="en-US" sz="3800">
                <a:solidFill>
                  <a:srgbClr val="1A1C1E"/>
                </a:solidFill>
                <a:latin typeface="Inter"/>
                <a:ea typeface="Inter"/>
                <a:cs typeface="Inter"/>
                <a:sym typeface="Inter"/>
              </a:rPr>
              <a:t> Các bên thường ưu tiên thương lượng hoặc hòa giải để tiết kiệm thời gian và chi phí, chỉ khởi kiện khi không đạt được thỏa thuận.</a:t>
            </a:r>
          </a:p>
        </p:txBody>
      </p:sp>
      <p:grpSp>
        <p:nvGrpSpPr>
          <p:cNvPr id="17" name="Group 17"/>
          <p:cNvGrpSpPr/>
          <p:nvPr/>
        </p:nvGrpSpPr>
        <p:grpSpPr>
          <a:xfrm>
            <a:off x="12217765" y="9258300"/>
            <a:ext cx="6070235" cy="905716"/>
            <a:chOff x="0" y="0"/>
            <a:chExt cx="8093646" cy="1207622"/>
          </a:xfrm>
        </p:grpSpPr>
        <p:sp>
          <p:nvSpPr>
            <p:cNvPr id="18" name="Freeform 18"/>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2251120074 - Nguyễn Xuân Dự</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28700" y="939442"/>
            <a:ext cx="14873078"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Giải</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quyết</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tranh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chấp</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tên</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miền</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quốc</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gia</a:t>
            </a:r>
            <a:r>
              <a:rPr lang="en-US" sz="4000" dirty="0">
                <a:solidFill>
                  <a:srgbClr val="1F497D"/>
                </a:solidFill>
                <a:latin typeface="Paytone One"/>
                <a:ea typeface="Paytone One"/>
                <a:cs typeface="Paytone One"/>
                <a:sym typeface="Paytone One"/>
              </a:rPr>
              <a:t> Việt Nam “.</a:t>
            </a:r>
            <a:r>
              <a:rPr lang="en-US" sz="4000" dirty="0" err="1">
                <a:solidFill>
                  <a:srgbClr val="1F497D"/>
                </a:solidFill>
                <a:latin typeface="Paytone One"/>
                <a:ea typeface="Paytone One"/>
                <a:cs typeface="Paytone One"/>
                <a:sym typeface="Paytone One"/>
              </a:rPr>
              <a:t>vn</a:t>
            </a:r>
            <a:r>
              <a:rPr lang="en-US" sz="4000" dirty="0">
                <a:solidFill>
                  <a:srgbClr val="1F497D"/>
                </a:solidFill>
                <a:latin typeface="Paytone One"/>
                <a:ea typeface="Paytone One"/>
                <a:cs typeface="Paytone One"/>
                <a:sym typeface="Paytone One"/>
              </a:rPr>
              <a: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3" name="Freeform 13"/>
          <p:cNvSpPr/>
          <p:nvPr/>
        </p:nvSpPr>
        <p:spPr>
          <a:xfrm>
            <a:off x="13906757" y="81301"/>
            <a:ext cx="4381243" cy="832437"/>
          </a:xfrm>
          <a:custGeom>
            <a:avLst/>
            <a:gdLst/>
            <a:ahLst/>
            <a:cxnLst/>
            <a:rect l="l" t="t" r="r" b="b"/>
            <a:pathLst>
              <a:path w="4381243" h="832437">
                <a:moveTo>
                  <a:pt x="0" y="0"/>
                </a:moveTo>
                <a:lnTo>
                  <a:pt x="4381243" y="0"/>
                </a:lnTo>
                <a:lnTo>
                  <a:pt x="4381243" y="832437"/>
                </a:lnTo>
                <a:lnTo>
                  <a:pt x="0" y="832437"/>
                </a:lnTo>
                <a:lnTo>
                  <a:pt x="0" y="0"/>
                </a:lnTo>
                <a:close/>
              </a:path>
            </a:pathLst>
          </a:custGeom>
          <a:blipFill>
            <a:blip r:embed="rId16"/>
            <a:stretch>
              <a:fillRect/>
            </a:stretch>
          </a:blipFill>
        </p:spPr>
        <p:txBody>
          <a:bodyPr/>
          <a:lstStyle/>
          <a:p>
            <a:endParaRPr lang="en-US"/>
          </a:p>
        </p:txBody>
      </p:sp>
      <p:sp>
        <p:nvSpPr>
          <p:cNvPr id="14" name="Freeform 14"/>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5" name="TextBox 15"/>
          <p:cNvSpPr txBox="1"/>
          <p:nvPr/>
        </p:nvSpPr>
        <p:spPr>
          <a:xfrm>
            <a:off x="1439047" y="2038493"/>
            <a:ext cx="15155589" cy="1714500"/>
          </a:xfrm>
          <a:prstGeom prst="rect">
            <a:avLst/>
          </a:prstGeom>
        </p:spPr>
        <p:txBody>
          <a:bodyPr lIns="0" tIns="0" rIns="0" bIns="0" rtlCol="0" anchor="t">
            <a:spAutoFit/>
          </a:bodyPr>
          <a:lstStyle/>
          <a:p>
            <a:pPr algn="l">
              <a:lnSpc>
                <a:spcPts val="4556"/>
              </a:lnSpc>
            </a:pPr>
            <a:r>
              <a:rPr lang="en-US" sz="3797" b="1">
                <a:solidFill>
                  <a:srgbClr val="1A1C1E"/>
                </a:solidFill>
                <a:latin typeface="Inter Bold"/>
                <a:ea typeface="Inter Bold"/>
                <a:cs typeface="Inter Bold"/>
                <a:sym typeface="Inter Bold"/>
              </a:rPr>
              <a:t>Tranh chấp tên miền xảy ra khi:</a:t>
            </a:r>
          </a:p>
          <a:p>
            <a:pPr marL="819828" lvl="1" indent="-409914" algn="l">
              <a:lnSpc>
                <a:spcPts val="4556"/>
              </a:lnSpc>
              <a:buFont typeface="Arial"/>
              <a:buChar char="•"/>
            </a:pPr>
            <a:r>
              <a:rPr lang="en-US" sz="3797">
                <a:solidFill>
                  <a:srgbClr val="1A1C1E"/>
                </a:solidFill>
                <a:latin typeface="Inter"/>
                <a:ea typeface="Inter"/>
                <a:cs typeface="Inter"/>
                <a:sym typeface="Inter"/>
              </a:rPr>
              <a:t>Trùng hoặc gây nhầm lẫn với tên, nhãn hiệu</a:t>
            </a:r>
          </a:p>
          <a:p>
            <a:pPr marL="819828" lvl="1" indent="-409914" algn="l">
              <a:lnSpc>
                <a:spcPts val="4556"/>
              </a:lnSpc>
              <a:buFont typeface="Arial"/>
              <a:buChar char="•"/>
            </a:pPr>
            <a:r>
              <a:rPr lang="en-US" sz="3797">
                <a:solidFill>
                  <a:srgbClr val="1A1C1E"/>
                </a:solidFill>
                <a:latin typeface="Inter"/>
                <a:ea typeface="Inter"/>
                <a:cs typeface="Inter"/>
                <a:sym typeface="Inter"/>
              </a:rPr>
              <a:t>Xâm phạm quyền và lợi ích hợp pháp của tổ chức, cá nhân</a:t>
            </a:r>
          </a:p>
        </p:txBody>
      </p:sp>
      <p:sp>
        <p:nvSpPr>
          <p:cNvPr id="16" name="TextBox 16"/>
          <p:cNvSpPr txBox="1"/>
          <p:nvPr/>
        </p:nvSpPr>
        <p:spPr>
          <a:xfrm>
            <a:off x="1439047" y="4314511"/>
            <a:ext cx="15514643" cy="1714500"/>
          </a:xfrm>
          <a:prstGeom prst="rect">
            <a:avLst/>
          </a:prstGeom>
        </p:spPr>
        <p:txBody>
          <a:bodyPr lIns="0" tIns="0" rIns="0" bIns="0" rtlCol="0" anchor="t">
            <a:spAutoFit/>
          </a:bodyPr>
          <a:lstStyle/>
          <a:p>
            <a:pPr algn="l">
              <a:lnSpc>
                <a:spcPts val="4560"/>
              </a:lnSpc>
            </a:pPr>
            <a:r>
              <a:rPr lang="en-US" sz="3800" b="1">
                <a:solidFill>
                  <a:srgbClr val="1A1C1E"/>
                </a:solidFill>
                <a:latin typeface="Inter Bold"/>
                <a:ea typeface="Inter Bold"/>
                <a:cs typeface="Inter Bold"/>
                <a:sym typeface="Inter Bold"/>
              </a:rPr>
              <a:t>Việc giải quyết tranh chấp:</a:t>
            </a:r>
          </a:p>
          <a:p>
            <a:pPr marL="820421" lvl="1" indent="-410210" algn="l">
              <a:lnSpc>
                <a:spcPts val="4560"/>
              </a:lnSpc>
              <a:buFont typeface="Arial"/>
              <a:buChar char="•"/>
            </a:pPr>
            <a:r>
              <a:rPr lang="en-US" sz="3800">
                <a:solidFill>
                  <a:srgbClr val="1A1C1E"/>
                </a:solidFill>
                <a:latin typeface="Inter"/>
                <a:ea typeface="Inter"/>
                <a:cs typeface="Inter"/>
                <a:sym typeface="Inter"/>
              </a:rPr>
              <a:t>Tuân theo pháp luật Việt Nam</a:t>
            </a:r>
          </a:p>
          <a:p>
            <a:pPr marL="820421" lvl="1" indent="-410210" algn="l">
              <a:lnSpc>
                <a:spcPts val="4560"/>
              </a:lnSpc>
              <a:buFont typeface="Arial"/>
              <a:buChar char="•"/>
            </a:pPr>
            <a:r>
              <a:rPr lang="en-US" sz="3800">
                <a:solidFill>
                  <a:srgbClr val="1A1C1E"/>
                </a:solidFill>
                <a:latin typeface="Inter"/>
                <a:ea typeface="Inter"/>
                <a:cs typeface="Inter"/>
                <a:sym typeface="Inter"/>
              </a:rPr>
              <a:t>Thực hiện theo quy định về quản lý và sử dụng tên miền quốc gia</a:t>
            </a:r>
          </a:p>
        </p:txBody>
      </p:sp>
      <p:sp>
        <p:nvSpPr>
          <p:cNvPr id="17" name="Freeform 17"/>
          <p:cNvSpPr/>
          <p:nvPr/>
        </p:nvSpPr>
        <p:spPr>
          <a:xfrm>
            <a:off x="1954425" y="6745069"/>
            <a:ext cx="1456304" cy="324857"/>
          </a:xfrm>
          <a:custGeom>
            <a:avLst/>
            <a:gdLst/>
            <a:ahLst/>
            <a:cxnLst/>
            <a:rect l="l" t="t" r="r" b="b"/>
            <a:pathLst>
              <a:path w="1456304" h="324857">
                <a:moveTo>
                  <a:pt x="0" y="0"/>
                </a:moveTo>
                <a:lnTo>
                  <a:pt x="1456304" y="0"/>
                </a:lnTo>
                <a:lnTo>
                  <a:pt x="1456304" y="324857"/>
                </a:lnTo>
                <a:lnTo>
                  <a:pt x="0" y="324857"/>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18" name="TextBox 1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41</a:t>
            </a:r>
          </a:p>
        </p:txBody>
      </p:sp>
      <p:sp>
        <p:nvSpPr>
          <p:cNvPr id="19" name="TextBox 19"/>
          <p:cNvSpPr txBox="1"/>
          <p:nvPr/>
        </p:nvSpPr>
        <p:spPr>
          <a:xfrm>
            <a:off x="3922781" y="6590528"/>
            <a:ext cx="11978997" cy="571500"/>
          </a:xfrm>
          <a:prstGeom prst="rect">
            <a:avLst/>
          </a:prstGeom>
        </p:spPr>
        <p:txBody>
          <a:bodyPr lIns="0" tIns="0" rIns="0" bIns="0" rtlCol="0" anchor="t">
            <a:spAutoFit/>
          </a:bodyPr>
          <a:lstStyle/>
          <a:p>
            <a:pPr algn="l">
              <a:lnSpc>
                <a:spcPts val="4560"/>
              </a:lnSpc>
            </a:pPr>
            <a:r>
              <a:rPr lang="en-US" sz="3800">
                <a:solidFill>
                  <a:srgbClr val="1A1C1E"/>
                </a:solidFill>
                <a:latin typeface="Inter"/>
                <a:ea typeface="Inter"/>
                <a:cs typeface="Inter"/>
                <a:sym typeface="Inter"/>
              </a:rPr>
              <a:t>Đảm bảo: công bằng, minh bạch, đúng thẩm quyền</a:t>
            </a:r>
          </a:p>
        </p:txBody>
      </p:sp>
      <p:grpSp>
        <p:nvGrpSpPr>
          <p:cNvPr id="20" name="Group 20"/>
          <p:cNvGrpSpPr/>
          <p:nvPr/>
        </p:nvGrpSpPr>
        <p:grpSpPr>
          <a:xfrm>
            <a:off x="12217765" y="9258300"/>
            <a:ext cx="6070235" cy="905716"/>
            <a:chOff x="0" y="0"/>
            <a:chExt cx="8093646" cy="1207622"/>
          </a:xfrm>
        </p:grpSpPr>
        <p:sp>
          <p:nvSpPr>
            <p:cNvPr id="21" name="Freeform 21"/>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22" name="TextBox 22"/>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2251120074 - Nguyễn Xuân Dự</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28700" y="939441"/>
            <a:ext cx="1482090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Giải</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quyết</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tranh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chấp</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tên</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miền</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quốc</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gia</a:t>
            </a:r>
            <a:r>
              <a:rPr lang="en-US" sz="4000" dirty="0">
                <a:solidFill>
                  <a:srgbClr val="1F497D"/>
                </a:solidFill>
                <a:latin typeface="Paytone One"/>
                <a:ea typeface="Paytone One"/>
                <a:cs typeface="Paytone One"/>
                <a:sym typeface="Paytone One"/>
              </a:rPr>
              <a:t> Việt Nam “.</a:t>
            </a:r>
            <a:r>
              <a:rPr lang="en-US" sz="4000" dirty="0" err="1">
                <a:solidFill>
                  <a:srgbClr val="1F497D"/>
                </a:solidFill>
                <a:latin typeface="Paytone One"/>
                <a:ea typeface="Paytone One"/>
                <a:cs typeface="Paytone One"/>
                <a:sym typeface="Paytone One"/>
              </a:rPr>
              <a:t>vn</a:t>
            </a:r>
            <a:r>
              <a:rPr lang="en-US" sz="4000" dirty="0">
                <a:solidFill>
                  <a:srgbClr val="1F497D"/>
                </a:solidFill>
                <a:latin typeface="Paytone One"/>
                <a:ea typeface="Paytone One"/>
                <a:cs typeface="Paytone One"/>
                <a:sym typeface="Paytone One"/>
              </a:rPr>
              <a: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3" name="Freeform 13"/>
          <p:cNvSpPr/>
          <p:nvPr/>
        </p:nvSpPr>
        <p:spPr>
          <a:xfrm>
            <a:off x="13906757" y="81301"/>
            <a:ext cx="4381243" cy="832437"/>
          </a:xfrm>
          <a:custGeom>
            <a:avLst/>
            <a:gdLst/>
            <a:ahLst/>
            <a:cxnLst/>
            <a:rect l="l" t="t" r="r" b="b"/>
            <a:pathLst>
              <a:path w="4381243" h="832437">
                <a:moveTo>
                  <a:pt x="0" y="0"/>
                </a:moveTo>
                <a:lnTo>
                  <a:pt x="4381243" y="0"/>
                </a:lnTo>
                <a:lnTo>
                  <a:pt x="4381243" y="832437"/>
                </a:lnTo>
                <a:lnTo>
                  <a:pt x="0" y="832437"/>
                </a:lnTo>
                <a:lnTo>
                  <a:pt x="0" y="0"/>
                </a:lnTo>
                <a:close/>
              </a:path>
            </a:pathLst>
          </a:custGeom>
          <a:blipFill>
            <a:blip r:embed="rId16"/>
            <a:stretch>
              <a:fillRect/>
            </a:stretch>
          </a:blipFill>
        </p:spPr>
        <p:txBody>
          <a:bodyPr/>
          <a:lstStyle/>
          <a:p>
            <a:endParaRPr lang="en-US"/>
          </a:p>
        </p:txBody>
      </p:sp>
      <p:sp>
        <p:nvSpPr>
          <p:cNvPr id="14" name="Freeform 14"/>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5" name="TextBox 15"/>
          <p:cNvSpPr txBox="1"/>
          <p:nvPr/>
        </p:nvSpPr>
        <p:spPr>
          <a:xfrm>
            <a:off x="1439047" y="1981343"/>
            <a:ext cx="15155589" cy="6456990"/>
          </a:xfrm>
          <a:prstGeom prst="rect">
            <a:avLst/>
          </a:prstGeom>
        </p:spPr>
        <p:txBody>
          <a:bodyPr lIns="0" tIns="0" rIns="0" bIns="0" rtlCol="0" anchor="t">
            <a:spAutoFit/>
          </a:bodyPr>
          <a:lstStyle/>
          <a:p>
            <a:pPr marL="819828" lvl="1" indent="-409914" algn="l">
              <a:lnSpc>
                <a:spcPts val="5164"/>
              </a:lnSpc>
              <a:buFont typeface="Arial"/>
              <a:buChar char="•"/>
            </a:pPr>
            <a:r>
              <a:rPr lang="en-US" sz="3797" b="1">
                <a:solidFill>
                  <a:srgbClr val="1A1C1E"/>
                </a:solidFill>
                <a:latin typeface="Inter Bold"/>
                <a:ea typeface="Inter Bold"/>
                <a:cs typeface="Inter Bold"/>
                <a:sym typeface="Inter Bold"/>
              </a:rPr>
              <a:t>Nhiều doanh nghiệp bị:</a:t>
            </a:r>
          </a:p>
          <a:p>
            <a:pPr marL="1639656" lvl="2" indent="-546552" algn="l">
              <a:lnSpc>
                <a:spcPts val="5164"/>
              </a:lnSpc>
              <a:buFont typeface="Arial"/>
              <a:buChar char="⚬"/>
            </a:pPr>
            <a:r>
              <a:rPr lang="en-US" sz="3797">
                <a:solidFill>
                  <a:srgbClr val="1A1C1E"/>
                </a:solidFill>
                <a:latin typeface="Inter"/>
                <a:ea typeface="Inter"/>
                <a:cs typeface="Inter"/>
                <a:sym typeface="Inter"/>
              </a:rPr>
              <a:t>Cá nhân đăng ký trước tên miền trùng thương hiệu</a:t>
            </a:r>
          </a:p>
          <a:p>
            <a:pPr marL="1639656" lvl="2" indent="-546552" algn="l">
              <a:lnSpc>
                <a:spcPts val="5164"/>
              </a:lnSpc>
              <a:buFont typeface="Arial"/>
              <a:buChar char="⚬"/>
            </a:pPr>
            <a:r>
              <a:rPr lang="en-US" sz="3797">
                <a:solidFill>
                  <a:srgbClr val="1A1C1E"/>
                </a:solidFill>
                <a:latin typeface="Inter"/>
                <a:ea typeface="Inter"/>
                <a:cs typeface="Inter"/>
                <a:sym typeface="Inter"/>
              </a:rPr>
              <a:t>Gây nhầm lẫn cho người tiêu dùng</a:t>
            </a:r>
          </a:p>
          <a:p>
            <a:pPr marL="819828" lvl="1" indent="-409914" algn="l">
              <a:lnSpc>
                <a:spcPts val="5164"/>
              </a:lnSpc>
              <a:buFont typeface="Arial"/>
              <a:buChar char="•"/>
            </a:pPr>
            <a:r>
              <a:rPr lang="en-US" sz="3797" b="1">
                <a:solidFill>
                  <a:srgbClr val="1A1C1E"/>
                </a:solidFill>
                <a:latin typeface="Inter Bold"/>
                <a:ea typeface="Inter Bold"/>
                <a:cs typeface="Inter Bold"/>
                <a:sym typeface="Inter Bold"/>
              </a:rPr>
              <a:t>Ví dụ:</a:t>
            </a:r>
          </a:p>
          <a:p>
            <a:pPr marL="1639656" lvl="2" indent="-546552" algn="l">
              <a:lnSpc>
                <a:spcPts val="5164"/>
              </a:lnSpc>
              <a:buFont typeface="Arial"/>
              <a:buChar char="⚬"/>
            </a:pPr>
            <a:r>
              <a:rPr lang="en-US" sz="3797">
                <a:solidFill>
                  <a:srgbClr val="1A1C1E"/>
                </a:solidFill>
                <a:latin typeface="Inter"/>
                <a:ea typeface="Inter"/>
                <a:cs typeface="Inter"/>
                <a:sym typeface="Inter"/>
              </a:rPr>
              <a:t>Tên miền giống tên công ty nhưng dùng để bán hàng giả</a:t>
            </a:r>
          </a:p>
          <a:p>
            <a:pPr marL="819828" lvl="1" indent="-409914" algn="l">
              <a:lnSpc>
                <a:spcPts val="5164"/>
              </a:lnSpc>
              <a:buFont typeface="Arial"/>
              <a:buChar char="•"/>
            </a:pPr>
            <a:r>
              <a:rPr lang="en-US" sz="3797" b="1">
                <a:solidFill>
                  <a:srgbClr val="1A1C1E"/>
                </a:solidFill>
                <a:latin typeface="Inter Bold"/>
                <a:ea typeface="Inter Bold"/>
                <a:cs typeface="Inter Bold"/>
                <a:sym typeface="Inter Bold"/>
              </a:rPr>
              <a:t>Thực tế áp dụng:</a:t>
            </a:r>
          </a:p>
          <a:p>
            <a:pPr marL="1639656" lvl="2" indent="-546552" algn="l">
              <a:lnSpc>
                <a:spcPts val="5164"/>
              </a:lnSpc>
              <a:buFont typeface="Arial"/>
              <a:buChar char="⚬"/>
            </a:pPr>
            <a:r>
              <a:rPr lang="en-US" sz="3797">
                <a:solidFill>
                  <a:srgbClr val="1A1C1E"/>
                </a:solidFill>
                <a:latin typeface="Inter"/>
                <a:ea typeface="Inter"/>
                <a:cs typeface="Inter"/>
                <a:sym typeface="Inter"/>
              </a:rPr>
              <a:t>Chủ sở hữu hợp pháp có thể yêu cầu thu hồi tên miền</a:t>
            </a:r>
          </a:p>
          <a:p>
            <a:pPr marL="1639656" lvl="2" indent="-546552" algn="l">
              <a:lnSpc>
                <a:spcPts val="5164"/>
              </a:lnSpc>
              <a:buFont typeface="Arial"/>
              <a:buChar char="⚬"/>
            </a:pPr>
            <a:r>
              <a:rPr lang="en-US" sz="3797">
                <a:solidFill>
                  <a:srgbClr val="1A1C1E"/>
                </a:solidFill>
                <a:latin typeface="Inter"/>
                <a:ea typeface="Inter"/>
                <a:cs typeface="Inter"/>
                <a:sym typeface="Inter"/>
              </a:rPr>
              <a:t>Căn cứ vào quy định quản lý tên miền quốc gia “.vn”</a:t>
            </a:r>
          </a:p>
          <a:p>
            <a:pPr algn="l">
              <a:lnSpc>
                <a:spcPts val="5164"/>
              </a:lnSpc>
            </a:pPr>
            <a:r>
              <a:rPr lang="en-US" sz="3797">
                <a:solidFill>
                  <a:srgbClr val="1A1C1E"/>
                </a:solidFill>
                <a:latin typeface="Inter"/>
                <a:ea typeface="Inter"/>
                <a:cs typeface="Inter"/>
                <a:sym typeface="Inter"/>
              </a:rPr>
              <a:t>👉 </a:t>
            </a:r>
            <a:r>
              <a:rPr lang="en-US" sz="3797" b="1">
                <a:solidFill>
                  <a:srgbClr val="1A1C1E"/>
                </a:solidFill>
                <a:latin typeface="Inter Bold"/>
                <a:ea typeface="Inter Bold"/>
                <a:cs typeface="Inter Bold"/>
                <a:sym typeface="Inter Bold"/>
              </a:rPr>
              <a:t>Ý nghĩa: </a:t>
            </a:r>
            <a:r>
              <a:rPr lang="en-US" sz="3797">
                <a:solidFill>
                  <a:srgbClr val="1A1C1E"/>
                </a:solidFill>
                <a:latin typeface="Inter"/>
                <a:ea typeface="Inter"/>
                <a:cs typeface="Inter"/>
                <a:sym typeface="Inter"/>
              </a:rPr>
              <a:t>bảo vệ thương hiệu trên môi trường Internet.</a:t>
            </a:r>
          </a:p>
          <a:p>
            <a:pPr algn="l">
              <a:lnSpc>
                <a:spcPts val="5164"/>
              </a:lnSpc>
            </a:pPr>
            <a:endParaRPr lang="en-US" sz="3797">
              <a:solidFill>
                <a:srgbClr val="1A1C1E"/>
              </a:solidFill>
              <a:latin typeface="Inter"/>
              <a:ea typeface="Inter"/>
              <a:cs typeface="Inter"/>
              <a:sym typeface="Inter"/>
            </a:endParaRPr>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42</a:t>
            </a:r>
          </a:p>
        </p:txBody>
      </p:sp>
      <p:grpSp>
        <p:nvGrpSpPr>
          <p:cNvPr id="17" name="Group 17"/>
          <p:cNvGrpSpPr/>
          <p:nvPr/>
        </p:nvGrpSpPr>
        <p:grpSpPr>
          <a:xfrm>
            <a:off x="12217765" y="9258300"/>
            <a:ext cx="6070235" cy="905716"/>
            <a:chOff x="0" y="0"/>
            <a:chExt cx="8093646" cy="1207622"/>
          </a:xfrm>
        </p:grpSpPr>
        <p:sp>
          <p:nvSpPr>
            <p:cNvPr id="18" name="Freeform 18"/>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2251120074 - Nguyễn Xuân Dự</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2" y="571948"/>
            <a:ext cx="9406423"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Xử</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lý</a:t>
            </a:r>
            <a:r>
              <a:rPr lang="en-US" sz="4000" dirty="0">
                <a:solidFill>
                  <a:srgbClr val="1F497D"/>
                </a:solidFill>
                <a:latin typeface="Paytone One"/>
                <a:ea typeface="Paytone One"/>
                <a:cs typeface="Paytone One"/>
                <a:sym typeface="Paytone One"/>
              </a:rPr>
              <a:t> vi </a:t>
            </a:r>
            <a:r>
              <a:rPr lang="en-US" sz="4000" dirty="0" err="1">
                <a:solidFill>
                  <a:srgbClr val="1F497D"/>
                </a:solidFill>
                <a:latin typeface="Paytone One"/>
                <a:ea typeface="Paytone One"/>
                <a:cs typeface="Paytone One"/>
                <a:sym typeface="Paytone One"/>
              </a:rPr>
              <a:t>phạm</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lĩnh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vực</a:t>
            </a:r>
            <a:r>
              <a:rPr lang="en-US" sz="4000" dirty="0">
                <a:solidFill>
                  <a:srgbClr val="1F497D"/>
                </a:solidFill>
                <a:latin typeface="Paytone One"/>
                <a:ea typeface="Paytone One"/>
                <a:cs typeface="Paytone One"/>
                <a:sym typeface="Paytone One"/>
              </a:rPr>
              <a:t> CNTT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3" name="Freeform 13"/>
          <p:cNvSpPr/>
          <p:nvPr/>
        </p:nvSpPr>
        <p:spPr>
          <a:xfrm>
            <a:off x="13981759" y="155729"/>
            <a:ext cx="4381243" cy="832437"/>
          </a:xfrm>
          <a:custGeom>
            <a:avLst/>
            <a:gdLst/>
            <a:ahLst/>
            <a:cxnLst/>
            <a:rect l="l" t="t" r="r" b="b"/>
            <a:pathLst>
              <a:path w="4381243" h="832437">
                <a:moveTo>
                  <a:pt x="0" y="0"/>
                </a:moveTo>
                <a:lnTo>
                  <a:pt x="4381242" y="0"/>
                </a:lnTo>
                <a:lnTo>
                  <a:pt x="4381242" y="832437"/>
                </a:lnTo>
                <a:lnTo>
                  <a:pt x="0" y="832437"/>
                </a:lnTo>
                <a:lnTo>
                  <a:pt x="0" y="0"/>
                </a:lnTo>
                <a:close/>
              </a:path>
            </a:pathLst>
          </a:custGeom>
          <a:blipFill>
            <a:blip r:embed="rId16"/>
            <a:stretch>
              <a:fillRect/>
            </a:stretch>
          </a:blipFill>
        </p:spPr>
        <p:txBody>
          <a:bodyPr/>
          <a:lstStyle/>
          <a:p>
            <a:endParaRPr lang="en-US"/>
          </a:p>
        </p:txBody>
      </p:sp>
      <p:sp>
        <p:nvSpPr>
          <p:cNvPr id="14" name="Freeform 14"/>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5" name="TextBox 15"/>
          <p:cNvSpPr txBox="1"/>
          <p:nvPr/>
        </p:nvSpPr>
        <p:spPr>
          <a:xfrm>
            <a:off x="1823987" y="1592704"/>
            <a:ext cx="14348393" cy="6858000"/>
          </a:xfrm>
          <a:prstGeom prst="rect">
            <a:avLst/>
          </a:prstGeom>
        </p:spPr>
        <p:txBody>
          <a:bodyPr lIns="0" tIns="0" rIns="0" bIns="0" rtlCol="0" anchor="t">
            <a:spAutoFit/>
          </a:bodyPr>
          <a:lstStyle/>
          <a:p>
            <a:pPr algn="l">
              <a:lnSpc>
                <a:spcPts val="4560"/>
              </a:lnSpc>
            </a:pPr>
            <a:r>
              <a:rPr lang="en-US" sz="3800" b="1">
                <a:solidFill>
                  <a:srgbClr val="1A1C1E"/>
                </a:solidFill>
                <a:latin typeface="Inter Bold"/>
                <a:ea typeface="Inter Bold"/>
                <a:cs typeface="Inter Bold"/>
                <a:sym typeface="Inter Bold"/>
              </a:rPr>
              <a:t>Đối tượng áp dụng:</a:t>
            </a:r>
          </a:p>
          <a:p>
            <a:pPr marL="820421" lvl="1" indent="-410210" algn="l">
              <a:lnSpc>
                <a:spcPts val="4560"/>
              </a:lnSpc>
              <a:buFont typeface="Arial"/>
              <a:buChar char="•"/>
            </a:pPr>
            <a:r>
              <a:rPr lang="en-US" sz="3800">
                <a:solidFill>
                  <a:srgbClr val="1A1C1E"/>
                </a:solidFill>
                <a:latin typeface="Inter"/>
                <a:ea typeface="Inter"/>
                <a:cs typeface="Inter"/>
                <a:sym typeface="Inter"/>
              </a:rPr>
              <a:t>Cá nhân</a:t>
            </a:r>
          </a:p>
          <a:p>
            <a:pPr marL="820421" lvl="1" indent="-410210" algn="l">
              <a:lnSpc>
                <a:spcPts val="4560"/>
              </a:lnSpc>
              <a:buFont typeface="Arial"/>
              <a:buChar char="•"/>
            </a:pPr>
            <a:r>
              <a:rPr lang="en-US" sz="3800">
                <a:solidFill>
                  <a:srgbClr val="1A1C1E"/>
                </a:solidFill>
                <a:latin typeface="Inter"/>
                <a:ea typeface="Inter"/>
                <a:cs typeface="Inter"/>
                <a:sym typeface="Inter"/>
              </a:rPr>
              <a:t>Tổ chức vi phạm pháp luật về công nghệ thông tin</a:t>
            </a:r>
          </a:p>
          <a:p>
            <a:pPr algn="l">
              <a:lnSpc>
                <a:spcPts val="4560"/>
              </a:lnSpc>
            </a:pPr>
            <a:r>
              <a:rPr lang="en-US" sz="3800" b="1">
                <a:solidFill>
                  <a:srgbClr val="1A1C1E"/>
                </a:solidFill>
                <a:latin typeface="Inter Bold"/>
                <a:ea typeface="Inter Bold"/>
                <a:cs typeface="Inter Bold"/>
                <a:sym typeface="Inter Bold"/>
              </a:rPr>
              <a:t>Hình thức xử lý:</a:t>
            </a:r>
          </a:p>
          <a:p>
            <a:pPr marL="820421" lvl="1" indent="-410210" algn="l">
              <a:lnSpc>
                <a:spcPts val="4560"/>
              </a:lnSpc>
              <a:buFont typeface="Arial"/>
              <a:buChar char="•"/>
            </a:pPr>
            <a:r>
              <a:rPr lang="en-US" sz="3800">
                <a:solidFill>
                  <a:srgbClr val="1A1C1E"/>
                </a:solidFill>
                <a:latin typeface="Inter"/>
                <a:ea typeface="Inter"/>
                <a:cs typeface="Inter"/>
                <a:sym typeface="Inter"/>
              </a:rPr>
              <a:t>Xử phạt vi phạm hành chính</a:t>
            </a:r>
          </a:p>
          <a:p>
            <a:pPr marL="820421" lvl="1" indent="-410210" algn="l">
              <a:lnSpc>
                <a:spcPts val="4560"/>
              </a:lnSpc>
              <a:buFont typeface="Arial"/>
              <a:buChar char="•"/>
            </a:pPr>
            <a:r>
              <a:rPr lang="en-US" sz="3800">
                <a:solidFill>
                  <a:srgbClr val="1A1C1E"/>
                </a:solidFill>
                <a:latin typeface="Inter"/>
                <a:ea typeface="Inter"/>
                <a:cs typeface="Inter"/>
                <a:sym typeface="Inter"/>
              </a:rPr>
              <a:t>Bồi thường thiệt hại theo quy định</a:t>
            </a:r>
          </a:p>
          <a:p>
            <a:pPr marL="820421" lvl="1" indent="-410210" algn="l">
              <a:lnSpc>
                <a:spcPts val="4560"/>
              </a:lnSpc>
              <a:buFont typeface="Arial"/>
              <a:buChar char="•"/>
            </a:pPr>
            <a:r>
              <a:rPr lang="en-US" sz="3800">
                <a:solidFill>
                  <a:srgbClr val="1A1C1E"/>
                </a:solidFill>
                <a:latin typeface="Inter"/>
                <a:ea typeface="Inter"/>
                <a:cs typeface="Inter"/>
                <a:sym typeface="Inter"/>
              </a:rPr>
              <a:t>Truy cứu trách nhiệm hình sự (nếu vi phạm nghiêm trọng)</a:t>
            </a:r>
          </a:p>
          <a:p>
            <a:pPr algn="l">
              <a:lnSpc>
                <a:spcPts val="4560"/>
              </a:lnSpc>
            </a:pPr>
            <a:r>
              <a:rPr lang="en-US" sz="3800" b="1">
                <a:solidFill>
                  <a:srgbClr val="1A1C1E"/>
                </a:solidFill>
                <a:latin typeface="Inter Bold"/>
                <a:ea typeface="Inter Bold"/>
                <a:cs typeface="Inter Bold"/>
                <a:sym typeface="Inter Bold"/>
              </a:rPr>
              <a:t>Việc xử lý căn cứ vào:</a:t>
            </a:r>
          </a:p>
          <a:p>
            <a:pPr marL="820421" lvl="1" indent="-410210" algn="l">
              <a:lnSpc>
                <a:spcPts val="4560"/>
              </a:lnSpc>
              <a:buFont typeface="Arial"/>
              <a:buChar char="•"/>
            </a:pPr>
            <a:r>
              <a:rPr lang="en-US" sz="3800">
                <a:solidFill>
                  <a:srgbClr val="1A1C1E"/>
                </a:solidFill>
                <a:latin typeface="Inter"/>
                <a:ea typeface="Inter"/>
                <a:cs typeface="Inter"/>
                <a:sym typeface="Inter"/>
              </a:rPr>
              <a:t>Tính chất vi phạm</a:t>
            </a:r>
          </a:p>
          <a:p>
            <a:pPr marL="820421" lvl="1" indent="-410210" algn="l">
              <a:lnSpc>
                <a:spcPts val="4560"/>
              </a:lnSpc>
              <a:buFont typeface="Arial"/>
              <a:buChar char="•"/>
            </a:pPr>
            <a:r>
              <a:rPr lang="en-US" sz="3800">
                <a:solidFill>
                  <a:srgbClr val="1A1C1E"/>
                </a:solidFill>
                <a:latin typeface="Inter"/>
                <a:ea typeface="Inter"/>
                <a:cs typeface="Inter"/>
                <a:sym typeface="Inter"/>
              </a:rPr>
              <a:t>Mức độ vi phạm</a:t>
            </a:r>
          </a:p>
          <a:p>
            <a:pPr marL="820421" lvl="1" indent="-410210" algn="l">
              <a:lnSpc>
                <a:spcPts val="4560"/>
              </a:lnSpc>
              <a:buFont typeface="Arial"/>
              <a:buChar char="•"/>
            </a:pPr>
            <a:r>
              <a:rPr lang="en-US" sz="3800">
                <a:solidFill>
                  <a:srgbClr val="1A1C1E"/>
                </a:solidFill>
                <a:latin typeface="Inter"/>
                <a:ea typeface="Inter"/>
                <a:cs typeface="Inter"/>
                <a:sym typeface="Inter"/>
              </a:rPr>
              <a:t>Hậu quả gây ra</a:t>
            </a:r>
          </a:p>
          <a:p>
            <a:pPr algn="l">
              <a:lnSpc>
                <a:spcPts val="4560"/>
              </a:lnSpc>
            </a:pPr>
            <a:endParaRPr lang="en-US" sz="3800">
              <a:solidFill>
                <a:srgbClr val="1A1C1E"/>
              </a:solidFill>
              <a:latin typeface="Inter"/>
              <a:ea typeface="Inter"/>
              <a:cs typeface="Inter"/>
              <a:sym typeface="Inter"/>
            </a:endParaRPr>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43</a:t>
            </a:r>
          </a:p>
        </p:txBody>
      </p:sp>
      <p:grpSp>
        <p:nvGrpSpPr>
          <p:cNvPr id="17" name="Group 17"/>
          <p:cNvGrpSpPr/>
          <p:nvPr/>
        </p:nvGrpSpPr>
        <p:grpSpPr>
          <a:xfrm>
            <a:off x="12217765" y="9258300"/>
            <a:ext cx="6070235" cy="905716"/>
            <a:chOff x="0" y="0"/>
            <a:chExt cx="8093646" cy="1207622"/>
          </a:xfrm>
        </p:grpSpPr>
        <p:sp>
          <p:nvSpPr>
            <p:cNvPr id="18" name="Freeform 18"/>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1207622"/>
            </a:xfrm>
            <a:prstGeom prst="rect">
              <a:avLst/>
            </a:prstGeom>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2251120074 - Nguyễn Xuân </a:t>
              </a:r>
              <a:r>
                <a:rPr lang="en-US" sz="2000" dirty="0" err="1">
                  <a:solidFill>
                    <a:srgbClr val="002060"/>
                  </a:solidFill>
                  <a:latin typeface="Paytone One"/>
                  <a:ea typeface="Paytone One"/>
                  <a:cs typeface="Paytone One"/>
                  <a:sym typeface="Paytone One"/>
                </a:rPr>
                <a:t>Dự</a:t>
              </a:r>
              <a:endParaRPr lang="en-US" sz="2000" dirty="0">
                <a:solidFill>
                  <a:srgbClr val="002060"/>
                </a:solidFill>
                <a:latin typeface="Paytone One"/>
                <a:ea typeface="Paytone One"/>
                <a:cs typeface="Paytone One"/>
                <a:sym typeface="Paytone One"/>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2" y="571948"/>
            <a:ext cx="902193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Xử</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lý</a:t>
            </a:r>
            <a:r>
              <a:rPr lang="en-US" sz="4000" dirty="0">
                <a:solidFill>
                  <a:srgbClr val="1F497D"/>
                </a:solidFill>
                <a:latin typeface="Paytone One"/>
                <a:ea typeface="Paytone One"/>
                <a:cs typeface="Paytone One"/>
                <a:sym typeface="Paytone One"/>
              </a:rPr>
              <a:t> vi </a:t>
            </a:r>
            <a:r>
              <a:rPr lang="en-US" sz="4000" dirty="0" err="1">
                <a:solidFill>
                  <a:srgbClr val="1F497D"/>
                </a:solidFill>
                <a:latin typeface="Paytone One"/>
                <a:ea typeface="Paytone One"/>
                <a:cs typeface="Paytone One"/>
                <a:sym typeface="Paytone One"/>
              </a:rPr>
              <a:t>phạm</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lĩnh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vực</a:t>
            </a:r>
            <a:r>
              <a:rPr lang="en-US" sz="4000" dirty="0">
                <a:solidFill>
                  <a:srgbClr val="1F497D"/>
                </a:solidFill>
                <a:latin typeface="Paytone One"/>
                <a:ea typeface="Paytone One"/>
                <a:cs typeface="Paytone One"/>
                <a:sym typeface="Paytone One"/>
              </a:rPr>
              <a:t> CNTT</a:t>
            </a: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3" name="Freeform 13"/>
          <p:cNvSpPr/>
          <p:nvPr/>
        </p:nvSpPr>
        <p:spPr>
          <a:xfrm>
            <a:off x="13981759" y="155729"/>
            <a:ext cx="4381243" cy="832437"/>
          </a:xfrm>
          <a:custGeom>
            <a:avLst/>
            <a:gdLst/>
            <a:ahLst/>
            <a:cxnLst/>
            <a:rect l="l" t="t" r="r" b="b"/>
            <a:pathLst>
              <a:path w="4381243" h="832437">
                <a:moveTo>
                  <a:pt x="0" y="0"/>
                </a:moveTo>
                <a:lnTo>
                  <a:pt x="4381242" y="0"/>
                </a:lnTo>
                <a:lnTo>
                  <a:pt x="4381242" y="832437"/>
                </a:lnTo>
                <a:lnTo>
                  <a:pt x="0" y="832437"/>
                </a:lnTo>
                <a:lnTo>
                  <a:pt x="0" y="0"/>
                </a:lnTo>
                <a:close/>
              </a:path>
            </a:pathLst>
          </a:custGeom>
          <a:blipFill>
            <a:blip r:embed="rId16"/>
            <a:stretch>
              <a:fillRect/>
            </a:stretch>
          </a:blipFill>
        </p:spPr>
        <p:txBody>
          <a:bodyPr/>
          <a:lstStyle/>
          <a:p>
            <a:endParaRPr lang="en-US"/>
          </a:p>
        </p:txBody>
      </p:sp>
      <p:sp>
        <p:nvSpPr>
          <p:cNvPr id="14" name="Freeform 14"/>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5" name="TextBox 15"/>
          <p:cNvSpPr txBox="1"/>
          <p:nvPr/>
        </p:nvSpPr>
        <p:spPr>
          <a:xfrm>
            <a:off x="1285167" y="1663567"/>
            <a:ext cx="15143680" cy="6366637"/>
          </a:xfrm>
          <a:prstGeom prst="rect">
            <a:avLst/>
          </a:prstGeom>
        </p:spPr>
        <p:txBody>
          <a:bodyPr lIns="0" tIns="0" rIns="0" bIns="0" rtlCol="0" anchor="t">
            <a:spAutoFit/>
          </a:bodyPr>
          <a:lstStyle/>
          <a:p>
            <a:pPr marL="820421" lvl="1" indent="-410210" algn="l">
              <a:lnSpc>
                <a:spcPts val="5054"/>
              </a:lnSpc>
              <a:buFont typeface="Arial"/>
              <a:buChar char="•"/>
            </a:pPr>
            <a:r>
              <a:rPr lang="en-US" sz="3800" b="1">
                <a:solidFill>
                  <a:srgbClr val="1A1C1E"/>
                </a:solidFill>
                <a:latin typeface="Inter Bold"/>
                <a:ea typeface="Inter Bold"/>
                <a:cs typeface="Inter Bold"/>
                <a:sym typeface="Inter Bold"/>
              </a:rPr>
              <a:t>Các hành vi vi phạm phổ biến:</a:t>
            </a:r>
          </a:p>
          <a:p>
            <a:pPr marL="1640841" lvl="2" indent="-546947" algn="l">
              <a:lnSpc>
                <a:spcPts val="5054"/>
              </a:lnSpc>
              <a:buFont typeface="Arial"/>
              <a:buChar char="⚬"/>
            </a:pPr>
            <a:r>
              <a:rPr lang="en-US" sz="3800">
                <a:solidFill>
                  <a:srgbClr val="1A1C1E"/>
                </a:solidFill>
                <a:latin typeface="Inter"/>
                <a:ea typeface="Inter"/>
                <a:cs typeface="Inter"/>
                <a:sym typeface="Inter"/>
              </a:rPr>
              <a:t>Đánh cắp dữ liệu cá nhân người dùng</a:t>
            </a:r>
          </a:p>
          <a:p>
            <a:pPr marL="1640841" lvl="2" indent="-546947" algn="l">
              <a:lnSpc>
                <a:spcPts val="5054"/>
              </a:lnSpc>
              <a:buFont typeface="Arial"/>
              <a:buChar char="⚬"/>
            </a:pPr>
            <a:r>
              <a:rPr lang="en-US" sz="3800">
                <a:solidFill>
                  <a:srgbClr val="1A1C1E"/>
                </a:solidFill>
                <a:latin typeface="Inter"/>
                <a:ea typeface="Inter"/>
                <a:cs typeface="Inter"/>
                <a:sym typeface="Inter"/>
              </a:rPr>
              <a:t>Phát tán mã độc, virus</a:t>
            </a:r>
          </a:p>
          <a:p>
            <a:pPr marL="1640841" lvl="2" indent="-546947" algn="l">
              <a:lnSpc>
                <a:spcPts val="5054"/>
              </a:lnSpc>
              <a:buFont typeface="Arial"/>
              <a:buChar char="⚬"/>
            </a:pPr>
            <a:r>
              <a:rPr lang="en-US" sz="3800">
                <a:solidFill>
                  <a:srgbClr val="1A1C1E"/>
                </a:solidFill>
                <a:latin typeface="Inter"/>
                <a:ea typeface="Inter"/>
                <a:cs typeface="Inter"/>
                <a:sym typeface="Inter"/>
              </a:rPr>
              <a:t>Sử dụng phần mềm lậu, vi phạm bản quyền</a:t>
            </a:r>
          </a:p>
          <a:p>
            <a:pPr marL="820421" lvl="1" indent="-410210" algn="l">
              <a:lnSpc>
                <a:spcPts val="5054"/>
              </a:lnSpc>
              <a:buFont typeface="Arial"/>
              <a:buChar char="•"/>
            </a:pPr>
            <a:r>
              <a:rPr lang="en-US" sz="3800" b="1">
                <a:solidFill>
                  <a:srgbClr val="1A1C1E"/>
                </a:solidFill>
                <a:latin typeface="Inter Bold"/>
                <a:ea typeface="Inter Bold"/>
                <a:cs typeface="Inter Bold"/>
                <a:sym typeface="Inter Bold"/>
              </a:rPr>
              <a:t>Thực tế xử lý:</a:t>
            </a:r>
          </a:p>
          <a:p>
            <a:pPr marL="1640841" lvl="2" indent="-546947" algn="l">
              <a:lnSpc>
                <a:spcPts val="5054"/>
              </a:lnSpc>
              <a:buFont typeface="Arial"/>
              <a:buChar char="⚬"/>
            </a:pPr>
            <a:r>
              <a:rPr lang="en-US" sz="3800">
                <a:solidFill>
                  <a:srgbClr val="1A1C1E"/>
                </a:solidFill>
                <a:latin typeface="Inter"/>
                <a:ea typeface="Inter"/>
                <a:cs typeface="Inter"/>
                <a:sym typeface="Inter"/>
              </a:rPr>
              <a:t>Phạt tiền hành chính</a:t>
            </a:r>
          </a:p>
          <a:p>
            <a:pPr marL="1640841" lvl="2" indent="-546947" algn="l">
              <a:lnSpc>
                <a:spcPts val="5054"/>
              </a:lnSpc>
              <a:buFont typeface="Arial"/>
              <a:buChar char="⚬"/>
            </a:pPr>
            <a:r>
              <a:rPr lang="en-US" sz="3800">
                <a:solidFill>
                  <a:srgbClr val="1A1C1E"/>
                </a:solidFill>
                <a:latin typeface="Inter"/>
                <a:ea typeface="Inter"/>
                <a:cs typeface="Inter"/>
                <a:sym typeface="Inter"/>
              </a:rPr>
              <a:t>Buộc bồi thường thiệt hại</a:t>
            </a:r>
          </a:p>
          <a:p>
            <a:pPr marL="1640841" lvl="2" indent="-546947" algn="l">
              <a:lnSpc>
                <a:spcPts val="5054"/>
              </a:lnSpc>
              <a:buFont typeface="Arial"/>
              <a:buChar char="⚬"/>
            </a:pPr>
            <a:r>
              <a:rPr lang="en-US" sz="3800">
                <a:solidFill>
                  <a:srgbClr val="1A1C1E"/>
                </a:solidFill>
                <a:latin typeface="Inter"/>
                <a:ea typeface="Inter"/>
                <a:cs typeface="Inter"/>
                <a:sym typeface="Inter"/>
              </a:rPr>
              <a:t>Truy cứu trách nhiệm hình sự với vi phạm nghiêm trọng</a:t>
            </a:r>
          </a:p>
          <a:p>
            <a:pPr algn="l">
              <a:lnSpc>
                <a:spcPts val="5054"/>
              </a:lnSpc>
            </a:pPr>
            <a:r>
              <a:rPr lang="en-US" sz="3800">
                <a:solidFill>
                  <a:srgbClr val="1A1C1E"/>
                </a:solidFill>
                <a:latin typeface="Inter"/>
                <a:ea typeface="Inter"/>
                <a:cs typeface="Inter"/>
                <a:sym typeface="Inter"/>
              </a:rPr>
              <a:t>👉</a:t>
            </a:r>
            <a:r>
              <a:rPr lang="en-US" sz="3800" b="1">
                <a:solidFill>
                  <a:srgbClr val="1A1C1E"/>
                </a:solidFill>
                <a:latin typeface="Inter Bold"/>
                <a:ea typeface="Inter Bold"/>
                <a:cs typeface="Inter Bold"/>
                <a:sym typeface="Inter Bold"/>
              </a:rPr>
              <a:t> Tác dụng: </a:t>
            </a:r>
            <a:r>
              <a:rPr lang="en-US" sz="3800">
                <a:solidFill>
                  <a:srgbClr val="1A1C1E"/>
                </a:solidFill>
                <a:latin typeface="Inter"/>
                <a:ea typeface="Inter"/>
                <a:cs typeface="Inter"/>
                <a:sym typeface="Inter"/>
              </a:rPr>
              <a:t>nâng cao ý thức tuân thủ pháp luật trong xã hội số.</a:t>
            </a:r>
          </a:p>
          <a:p>
            <a:pPr algn="l">
              <a:lnSpc>
                <a:spcPts val="5054"/>
              </a:lnSpc>
            </a:pPr>
            <a:endParaRPr lang="en-US" sz="3800">
              <a:solidFill>
                <a:srgbClr val="1A1C1E"/>
              </a:solidFill>
              <a:latin typeface="Inter"/>
              <a:ea typeface="Inter"/>
              <a:cs typeface="Inter"/>
              <a:sym typeface="Inter"/>
            </a:endParaRPr>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44</a:t>
            </a:r>
          </a:p>
        </p:txBody>
      </p:sp>
      <p:grpSp>
        <p:nvGrpSpPr>
          <p:cNvPr id="17" name="Group 17"/>
          <p:cNvGrpSpPr/>
          <p:nvPr/>
        </p:nvGrpSpPr>
        <p:grpSpPr>
          <a:xfrm>
            <a:off x="12217765" y="9258300"/>
            <a:ext cx="6070235" cy="905716"/>
            <a:chOff x="0" y="0"/>
            <a:chExt cx="8093646" cy="1207622"/>
          </a:xfrm>
        </p:grpSpPr>
        <p:sp>
          <p:nvSpPr>
            <p:cNvPr id="18" name="Freeform 18"/>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2251120074 - Nguyễn Xuân </a:t>
              </a:r>
              <a:r>
                <a:rPr lang="en-US" sz="2000" dirty="0" err="1">
                  <a:solidFill>
                    <a:srgbClr val="002060"/>
                  </a:solidFill>
                  <a:latin typeface="Paytone One"/>
                  <a:ea typeface="Paytone One"/>
                  <a:cs typeface="Paytone One"/>
                  <a:sym typeface="Paytone One"/>
                </a:rPr>
                <a:t>Dự</a:t>
              </a:r>
              <a:endParaRPr lang="en-US" sz="2000" dirty="0">
                <a:solidFill>
                  <a:srgbClr val="002060"/>
                </a:solidFill>
                <a:latin typeface="Paytone One"/>
                <a:ea typeface="Paytone One"/>
                <a:cs typeface="Paytone One"/>
                <a:sym typeface="Paytone One"/>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Freeform 6"/>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7" name="Freeform 7"/>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9" name="Freeform 9"/>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0" name="Freeform 10"/>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1" name="Freeform 11"/>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2" name="Freeform 12"/>
          <p:cNvSpPr/>
          <p:nvPr/>
        </p:nvSpPr>
        <p:spPr>
          <a:xfrm>
            <a:off x="13981759" y="155729"/>
            <a:ext cx="4381243" cy="832437"/>
          </a:xfrm>
          <a:custGeom>
            <a:avLst/>
            <a:gdLst/>
            <a:ahLst/>
            <a:cxnLst/>
            <a:rect l="l" t="t" r="r" b="b"/>
            <a:pathLst>
              <a:path w="4381243" h="832437">
                <a:moveTo>
                  <a:pt x="0" y="0"/>
                </a:moveTo>
                <a:lnTo>
                  <a:pt x="4381242" y="0"/>
                </a:lnTo>
                <a:lnTo>
                  <a:pt x="4381242" y="832437"/>
                </a:lnTo>
                <a:lnTo>
                  <a:pt x="0" y="832437"/>
                </a:lnTo>
                <a:lnTo>
                  <a:pt x="0" y="0"/>
                </a:lnTo>
                <a:close/>
              </a:path>
            </a:pathLst>
          </a:custGeom>
          <a:blipFill>
            <a:blip r:embed="rId16"/>
            <a:stretch>
              <a:fillRect/>
            </a:stretch>
          </a:blipFill>
        </p:spPr>
        <p:txBody>
          <a:bodyPr/>
          <a:lstStyle/>
          <a:p>
            <a:endParaRPr lang="en-US"/>
          </a:p>
        </p:txBody>
      </p:sp>
      <p:sp>
        <p:nvSpPr>
          <p:cNvPr id="13" name="Freeform 13"/>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45</a:t>
            </a:r>
          </a:p>
        </p:txBody>
      </p:sp>
      <p:grpSp>
        <p:nvGrpSpPr>
          <p:cNvPr id="15" name="Group 15"/>
          <p:cNvGrpSpPr/>
          <p:nvPr/>
        </p:nvGrpSpPr>
        <p:grpSpPr>
          <a:xfrm>
            <a:off x="12217765" y="9258300"/>
            <a:ext cx="6070235" cy="905716"/>
            <a:chOff x="0" y="0"/>
            <a:chExt cx="8093646" cy="1207622"/>
          </a:xfrm>
        </p:grpSpPr>
        <p:sp>
          <p:nvSpPr>
            <p:cNvPr id="16" name="Freeform 16"/>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17" name="TextBox 17"/>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dirty="0">
                  <a:solidFill>
                    <a:srgbClr val="002060"/>
                  </a:solidFill>
                  <a:latin typeface="Paytone One"/>
                  <a:ea typeface="Paytone One"/>
                  <a:cs typeface="Paytone One"/>
                  <a:sym typeface="Paytone One"/>
                </a:rPr>
                <a:t>2251120074 - Nguyễn Xuân </a:t>
              </a:r>
              <a:r>
                <a:rPr lang="en-US" sz="2000" dirty="0" err="1">
                  <a:solidFill>
                    <a:srgbClr val="002060"/>
                  </a:solidFill>
                  <a:latin typeface="Paytone One"/>
                  <a:ea typeface="Paytone One"/>
                  <a:cs typeface="Paytone One"/>
                  <a:sym typeface="Paytone One"/>
                </a:rPr>
                <a:t>Dự</a:t>
              </a:r>
              <a:endParaRPr lang="en-US" sz="2000" dirty="0">
                <a:solidFill>
                  <a:srgbClr val="002060"/>
                </a:solidFill>
                <a:latin typeface="Paytone One"/>
                <a:ea typeface="Paytone One"/>
                <a:cs typeface="Paytone One"/>
                <a:sym typeface="Paytone One"/>
              </a:endParaRPr>
            </a:p>
          </p:txBody>
        </p:sp>
      </p:grpSp>
      <p:sp>
        <p:nvSpPr>
          <p:cNvPr id="18" name="Freeform 18"/>
          <p:cNvSpPr/>
          <p:nvPr/>
        </p:nvSpPr>
        <p:spPr>
          <a:xfrm>
            <a:off x="11836087" y="3033390"/>
            <a:ext cx="5927237" cy="3319253"/>
          </a:xfrm>
          <a:custGeom>
            <a:avLst/>
            <a:gdLst/>
            <a:ahLst/>
            <a:cxnLst/>
            <a:rect l="l" t="t" r="r" b="b"/>
            <a:pathLst>
              <a:path w="5927237" h="3319253">
                <a:moveTo>
                  <a:pt x="0" y="0"/>
                </a:moveTo>
                <a:lnTo>
                  <a:pt x="5927238" y="0"/>
                </a:lnTo>
                <a:lnTo>
                  <a:pt x="5927238" y="3319253"/>
                </a:lnTo>
                <a:lnTo>
                  <a:pt x="0" y="3319253"/>
                </a:lnTo>
                <a:lnTo>
                  <a:pt x="0" y="0"/>
                </a:lnTo>
                <a:close/>
              </a:path>
            </a:pathLst>
          </a:custGeom>
          <a:blipFill>
            <a:blip r:embed="rId19"/>
            <a:stretch>
              <a:fillRect/>
            </a:stretch>
          </a:blipFill>
        </p:spPr>
        <p:txBody>
          <a:bodyPr/>
          <a:lstStyle/>
          <a:p>
            <a:endParaRPr lang="en-US"/>
          </a:p>
        </p:txBody>
      </p:sp>
      <p:sp>
        <p:nvSpPr>
          <p:cNvPr id="19" name="TextBox 19"/>
          <p:cNvSpPr txBox="1"/>
          <p:nvPr/>
        </p:nvSpPr>
        <p:spPr>
          <a:xfrm>
            <a:off x="1004342" y="571948"/>
            <a:ext cx="9021930" cy="615553"/>
          </a:xfrm>
          <a:prstGeom prst="rect">
            <a:avLst/>
          </a:prstGeom>
        </p:spPr>
        <p:txBody>
          <a:bodyPr wrap="square" lIns="0" tIns="0" rIns="0" bIns="0" rtlCol="0" anchor="t">
            <a:spAutoFit/>
          </a:bodyPr>
          <a:lstStyle/>
          <a:p>
            <a:pPr algn="l">
              <a:lnSpc>
                <a:spcPts val="4800"/>
              </a:lnSpc>
            </a:pPr>
            <a:r>
              <a:rPr lang="en-US" sz="4000" dirty="0" err="1">
                <a:solidFill>
                  <a:srgbClr val="1F497D"/>
                </a:solidFill>
                <a:latin typeface="Paytone One"/>
                <a:ea typeface="Paytone One"/>
                <a:cs typeface="Paytone One"/>
                <a:sym typeface="Paytone One"/>
              </a:rPr>
              <a:t>Xử</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lý</a:t>
            </a:r>
            <a:r>
              <a:rPr lang="en-US" sz="4000" dirty="0">
                <a:solidFill>
                  <a:srgbClr val="1F497D"/>
                </a:solidFill>
                <a:latin typeface="Paytone One"/>
                <a:ea typeface="Paytone One"/>
                <a:cs typeface="Paytone One"/>
                <a:sym typeface="Paytone One"/>
              </a:rPr>
              <a:t> vi </a:t>
            </a:r>
            <a:r>
              <a:rPr lang="en-US" sz="4000" dirty="0" err="1">
                <a:solidFill>
                  <a:srgbClr val="1F497D"/>
                </a:solidFill>
                <a:latin typeface="Paytone One"/>
                <a:ea typeface="Paytone One"/>
                <a:cs typeface="Paytone One"/>
                <a:sym typeface="Paytone One"/>
              </a:rPr>
              <a:t>phạm</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trong</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lĩnh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vực</a:t>
            </a:r>
            <a:r>
              <a:rPr lang="en-US" sz="4000" dirty="0">
                <a:solidFill>
                  <a:srgbClr val="1F497D"/>
                </a:solidFill>
                <a:latin typeface="Paytone One"/>
                <a:ea typeface="Paytone One"/>
                <a:cs typeface="Paytone One"/>
                <a:sym typeface="Paytone One"/>
              </a:rPr>
              <a:t> CNTT</a:t>
            </a:r>
          </a:p>
        </p:txBody>
      </p:sp>
      <p:sp>
        <p:nvSpPr>
          <p:cNvPr id="20" name="TextBox 20"/>
          <p:cNvSpPr txBox="1"/>
          <p:nvPr/>
        </p:nvSpPr>
        <p:spPr>
          <a:xfrm>
            <a:off x="1094008" y="1533760"/>
            <a:ext cx="10780221" cy="6995160"/>
          </a:xfrm>
          <a:prstGeom prst="rect">
            <a:avLst/>
          </a:prstGeom>
        </p:spPr>
        <p:txBody>
          <a:bodyPr lIns="0" tIns="0" rIns="0" bIns="0" rtlCol="0" anchor="t">
            <a:spAutoFit/>
          </a:bodyPr>
          <a:lstStyle/>
          <a:p>
            <a:pPr algn="l">
              <a:lnSpc>
                <a:spcPts val="5039"/>
              </a:lnSpc>
            </a:pPr>
            <a:r>
              <a:rPr lang="en-US" sz="3599" b="1">
                <a:solidFill>
                  <a:srgbClr val="000000"/>
                </a:solidFill>
                <a:latin typeface="Noto Sans Bold"/>
                <a:ea typeface="Noto Sans Bold"/>
                <a:cs typeface="Noto Sans Bold"/>
                <a:sym typeface="Noto Sans Bold"/>
              </a:rPr>
              <a:t>Từng tham gia:</a:t>
            </a:r>
          </a:p>
          <a:p>
            <a:pPr marL="777238" lvl="1" indent="-388619" algn="l">
              <a:lnSpc>
                <a:spcPts val="5039"/>
              </a:lnSpc>
              <a:buFont typeface="Arial"/>
              <a:buChar char="•"/>
            </a:pPr>
            <a:r>
              <a:rPr lang="en-US" sz="3599">
                <a:solidFill>
                  <a:srgbClr val="000000"/>
                </a:solidFill>
                <a:latin typeface="Noto Sans"/>
                <a:ea typeface="Noto Sans"/>
                <a:cs typeface="Noto Sans"/>
                <a:sym typeface="Noto Sans"/>
              </a:rPr>
              <a:t>Thu thập, mua bán dữ liệu cá nhân trái phép</a:t>
            </a:r>
          </a:p>
          <a:p>
            <a:pPr marL="777238" lvl="1" indent="-388619" algn="l">
              <a:lnSpc>
                <a:spcPts val="5039"/>
              </a:lnSpc>
              <a:buFont typeface="Arial"/>
              <a:buChar char="•"/>
            </a:pPr>
            <a:r>
              <a:rPr lang="en-US" sz="3599">
                <a:solidFill>
                  <a:srgbClr val="000000"/>
                </a:solidFill>
                <a:latin typeface="Noto Sans"/>
                <a:ea typeface="Noto Sans"/>
                <a:cs typeface="Noto Sans"/>
                <a:sym typeface="Noto Sans"/>
              </a:rPr>
              <a:t>Khai thác dữ liệu người dùng trên Internet</a:t>
            </a:r>
          </a:p>
          <a:p>
            <a:pPr algn="l">
              <a:lnSpc>
                <a:spcPts val="5039"/>
              </a:lnSpc>
            </a:pPr>
            <a:r>
              <a:rPr lang="en-US" sz="3599" b="1">
                <a:solidFill>
                  <a:srgbClr val="000000"/>
                </a:solidFill>
                <a:latin typeface="Noto Sans Bold"/>
                <a:ea typeface="Noto Sans Bold"/>
                <a:cs typeface="Noto Sans Bold"/>
                <a:sym typeface="Noto Sans Bold"/>
              </a:rPr>
              <a:t>Dữ liệu bị xâm phạm:</a:t>
            </a:r>
          </a:p>
          <a:p>
            <a:pPr marL="777238" lvl="1" indent="-388619" algn="l">
              <a:lnSpc>
                <a:spcPts val="5039"/>
              </a:lnSpc>
              <a:buFont typeface="Arial"/>
              <a:buChar char="•"/>
            </a:pPr>
            <a:r>
              <a:rPr lang="en-US" sz="3599">
                <a:solidFill>
                  <a:srgbClr val="000000"/>
                </a:solidFill>
                <a:latin typeface="Noto Sans"/>
                <a:ea typeface="Noto Sans"/>
                <a:cs typeface="Noto Sans"/>
                <a:sym typeface="Noto Sans"/>
              </a:rPr>
              <a:t>Thông tin cá nhân, số điện thoại, email</a:t>
            </a:r>
          </a:p>
          <a:p>
            <a:pPr algn="l">
              <a:lnSpc>
                <a:spcPts val="5039"/>
              </a:lnSpc>
            </a:pPr>
            <a:r>
              <a:rPr lang="en-US" sz="3599" b="1">
                <a:solidFill>
                  <a:srgbClr val="000000"/>
                </a:solidFill>
                <a:latin typeface="Noto Sans Bold"/>
                <a:ea typeface="Noto Sans Bold"/>
                <a:cs typeface="Noto Sans Bold"/>
                <a:sym typeface="Noto Sans Bold"/>
              </a:rPr>
              <a:t>Sau đó:</a:t>
            </a:r>
          </a:p>
          <a:p>
            <a:pPr marL="777238" lvl="1" indent="-388619" algn="l">
              <a:lnSpc>
                <a:spcPts val="5039"/>
              </a:lnSpc>
              <a:buFont typeface="Arial"/>
              <a:buChar char="•"/>
            </a:pPr>
            <a:r>
              <a:rPr lang="en-US" sz="3599">
                <a:solidFill>
                  <a:srgbClr val="000000"/>
                </a:solidFill>
                <a:latin typeface="Noto Sans"/>
                <a:ea typeface="Noto Sans"/>
                <a:cs typeface="Noto Sans"/>
                <a:sym typeface="Noto Sans"/>
              </a:rPr>
              <a:t>Hợp tác với cơ quan chức năng</a:t>
            </a:r>
          </a:p>
          <a:p>
            <a:pPr marL="777238" lvl="1" indent="-388619" algn="l">
              <a:lnSpc>
                <a:spcPts val="5039"/>
              </a:lnSpc>
              <a:buFont typeface="Arial"/>
              <a:buChar char="•"/>
            </a:pPr>
            <a:r>
              <a:rPr lang="en-US" sz="3599">
                <a:solidFill>
                  <a:srgbClr val="000000"/>
                </a:solidFill>
                <a:latin typeface="Noto Sans"/>
                <a:ea typeface="Noto Sans"/>
                <a:cs typeface="Noto Sans"/>
                <a:sym typeface="Noto Sans"/>
              </a:rPr>
              <a:t>Chuyển sang hoạt động bảo vệ an ninh mạng</a:t>
            </a:r>
          </a:p>
          <a:p>
            <a:pPr algn="l">
              <a:lnSpc>
                <a:spcPts val="5039"/>
              </a:lnSpc>
            </a:pPr>
            <a:r>
              <a:rPr lang="en-US" sz="3599">
                <a:solidFill>
                  <a:srgbClr val="000000"/>
                </a:solidFill>
                <a:latin typeface="Noto Sans"/>
                <a:ea typeface="Noto Sans"/>
                <a:cs typeface="Noto Sans"/>
                <a:sym typeface="Noto Sans"/>
              </a:rPr>
              <a:t>👉 Xâm phạm dữ liệu cá nhân là hành vi nguy hiểm và bị xử lý nghiêm theo pháp luật.</a:t>
            </a:r>
          </a:p>
          <a:p>
            <a:pPr algn="l">
              <a:lnSpc>
                <a:spcPts val="5039"/>
              </a:lnSpc>
            </a:pPr>
            <a:endParaRPr lang="en-US" sz="3599">
              <a:solidFill>
                <a:srgbClr val="000000"/>
              </a:solidFill>
              <a:latin typeface="Noto Sans"/>
              <a:ea typeface="Noto Sans"/>
              <a:cs typeface="Noto Sans"/>
              <a:sym typeface="Noto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24477" y="-279197"/>
            <a:ext cx="14752520" cy="7086619"/>
          </a:xfrm>
          <a:custGeom>
            <a:avLst/>
            <a:gdLst/>
            <a:ahLst/>
            <a:cxnLst/>
            <a:rect l="l" t="t" r="r" b="b"/>
            <a:pathLst>
              <a:path w="14752520" h="7086619">
                <a:moveTo>
                  <a:pt x="0" y="7086619"/>
                </a:moveTo>
                <a:lnTo>
                  <a:pt x="14752520" y="7086619"/>
                </a:lnTo>
                <a:lnTo>
                  <a:pt x="14752520" y="0"/>
                </a:lnTo>
                <a:lnTo>
                  <a:pt x="0" y="0"/>
                </a:lnTo>
                <a:lnTo>
                  <a:pt x="0" y="7086619"/>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US"/>
          </a:p>
        </p:txBody>
      </p:sp>
      <p:sp>
        <p:nvSpPr>
          <p:cNvPr id="3" name="Freeform 3"/>
          <p:cNvSpPr/>
          <p:nvPr/>
        </p:nvSpPr>
        <p:spPr>
          <a:xfrm flipH="1">
            <a:off x="8277682" y="6252848"/>
            <a:ext cx="11100711" cy="4240530"/>
          </a:xfrm>
          <a:custGeom>
            <a:avLst/>
            <a:gdLst/>
            <a:ahLst/>
            <a:cxnLst/>
            <a:rect l="l" t="t" r="r" b="b"/>
            <a:pathLst>
              <a:path w="11100711" h="4240530">
                <a:moveTo>
                  <a:pt x="11100711" y="0"/>
                </a:moveTo>
                <a:lnTo>
                  <a:pt x="0" y="0"/>
                </a:lnTo>
                <a:lnTo>
                  <a:pt x="0" y="4240530"/>
                </a:lnTo>
                <a:lnTo>
                  <a:pt x="11100711" y="4240530"/>
                </a:lnTo>
                <a:lnTo>
                  <a:pt x="11100711" y="0"/>
                </a:lnTo>
                <a:close/>
              </a:path>
            </a:pathLst>
          </a:custGeom>
          <a:blipFill>
            <a:blip r:embed="rId4">
              <a:extLst>
                <a:ext uri="{96DAC541-7B7A-43D3-8B79-37D633B846F1}">
                  <asvg:svgBlip xmlns:asvg="http://schemas.microsoft.com/office/drawing/2016/SVG/main" r:embed="rId5"/>
                </a:ext>
              </a:extLst>
            </a:blip>
            <a:stretch>
              <a:fillRect t="-8821" b="-8820"/>
            </a:stretch>
          </a:blipFill>
        </p:spPr>
        <p:txBody>
          <a:bodyPr/>
          <a:lstStyle/>
          <a:p>
            <a:endParaRPr lang="en-US"/>
          </a:p>
        </p:txBody>
      </p:sp>
      <p:sp>
        <p:nvSpPr>
          <p:cNvPr id="4" name="Freeform 4"/>
          <p:cNvSpPr/>
          <p:nvPr/>
        </p:nvSpPr>
        <p:spPr>
          <a:xfrm flipH="1">
            <a:off x="8649910" y="7034536"/>
            <a:ext cx="10356266" cy="3956152"/>
          </a:xfrm>
          <a:custGeom>
            <a:avLst/>
            <a:gdLst/>
            <a:ahLst/>
            <a:cxnLst/>
            <a:rect l="l" t="t" r="r" b="b"/>
            <a:pathLst>
              <a:path w="10356266" h="3956152">
                <a:moveTo>
                  <a:pt x="10356265" y="0"/>
                </a:moveTo>
                <a:lnTo>
                  <a:pt x="0" y="0"/>
                </a:lnTo>
                <a:lnTo>
                  <a:pt x="0" y="3956152"/>
                </a:lnTo>
                <a:lnTo>
                  <a:pt x="10356265" y="3956152"/>
                </a:lnTo>
                <a:lnTo>
                  <a:pt x="10356265" y="0"/>
                </a:lnTo>
                <a:close/>
              </a:path>
            </a:pathLst>
          </a:custGeom>
          <a:blipFill>
            <a:blip r:embed="rId6">
              <a:extLst>
                <a:ext uri="{96DAC541-7B7A-43D3-8B79-37D633B846F1}">
                  <asvg:svgBlip xmlns:asvg="http://schemas.microsoft.com/office/drawing/2016/SVG/main" r:embed="rId7"/>
                </a:ext>
              </a:extLst>
            </a:blip>
            <a:stretch>
              <a:fillRect t="-8827" b="-8827"/>
            </a:stretch>
          </a:blipFill>
        </p:spPr>
        <p:txBody>
          <a:bodyPr/>
          <a:lstStyle/>
          <a:p>
            <a:endParaRPr lang="en-US"/>
          </a:p>
        </p:txBody>
      </p:sp>
      <p:sp>
        <p:nvSpPr>
          <p:cNvPr id="5" name="Freeform 5"/>
          <p:cNvSpPr/>
          <p:nvPr/>
        </p:nvSpPr>
        <p:spPr>
          <a:xfrm flipV="1">
            <a:off x="-736216" y="-370027"/>
            <a:ext cx="12953981" cy="6222663"/>
          </a:xfrm>
          <a:custGeom>
            <a:avLst/>
            <a:gdLst/>
            <a:ahLst/>
            <a:cxnLst/>
            <a:rect l="l" t="t" r="r" b="b"/>
            <a:pathLst>
              <a:path w="12953981" h="6222663">
                <a:moveTo>
                  <a:pt x="0" y="6222663"/>
                </a:moveTo>
                <a:lnTo>
                  <a:pt x="12953981" y="6222663"/>
                </a:lnTo>
                <a:lnTo>
                  <a:pt x="12953981" y="0"/>
                </a:lnTo>
                <a:lnTo>
                  <a:pt x="0" y="0"/>
                </a:lnTo>
                <a:lnTo>
                  <a:pt x="0" y="6222663"/>
                </a:lnTo>
                <a:close/>
              </a:path>
            </a:pathLst>
          </a:custGeom>
          <a:blipFill>
            <a:blip r:embed="rId8">
              <a:extLst>
                <a:ext uri="{96DAC541-7B7A-43D3-8B79-37D633B846F1}">
                  <asvg:svgBlip xmlns:asvg="http://schemas.microsoft.com/office/drawing/2016/SVG/main" r:embed="rId9"/>
                </a:ext>
              </a:extLst>
            </a:blip>
            <a:stretch>
              <a:fillRect l="-19" r="-19"/>
            </a:stretch>
          </a:blipFill>
        </p:spPr>
        <p:txBody>
          <a:bodyPr/>
          <a:lstStyle/>
          <a:p>
            <a:endParaRPr lang="en-US"/>
          </a:p>
        </p:txBody>
      </p:sp>
      <p:sp>
        <p:nvSpPr>
          <p:cNvPr id="6" name="Freeform 6"/>
          <p:cNvSpPr/>
          <p:nvPr/>
        </p:nvSpPr>
        <p:spPr>
          <a:xfrm rot="3723360" flipH="1">
            <a:off x="1291571" y="-4431440"/>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7" name="Freeform 7"/>
          <p:cNvSpPr/>
          <p:nvPr/>
        </p:nvSpPr>
        <p:spPr>
          <a:xfrm>
            <a:off x="1374400" y="3889677"/>
            <a:ext cx="644881" cy="644881"/>
          </a:xfrm>
          <a:custGeom>
            <a:avLst/>
            <a:gdLst/>
            <a:ahLst/>
            <a:cxnLst/>
            <a:rect l="l" t="t" r="r" b="b"/>
            <a:pathLst>
              <a:path w="644881" h="644881">
                <a:moveTo>
                  <a:pt x="0" y="0"/>
                </a:moveTo>
                <a:lnTo>
                  <a:pt x="644881" y="0"/>
                </a:lnTo>
                <a:lnTo>
                  <a:pt x="644881" y="644880"/>
                </a:lnTo>
                <a:lnTo>
                  <a:pt x="0" y="6448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8" name="Freeform 8"/>
          <p:cNvSpPr/>
          <p:nvPr/>
        </p:nvSpPr>
        <p:spPr>
          <a:xfrm>
            <a:off x="14433433" y="1860794"/>
            <a:ext cx="3471443" cy="2095490"/>
          </a:xfrm>
          <a:custGeom>
            <a:avLst/>
            <a:gdLst/>
            <a:ahLst/>
            <a:cxnLst/>
            <a:rect l="l" t="t" r="r" b="b"/>
            <a:pathLst>
              <a:path w="3471443" h="2095490">
                <a:moveTo>
                  <a:pt x="0" y="0"/>
                </a:moveTo>
                <a:lnTo>
                  <a:pt x="3471443" y="0"/>
                </a:lnTo>
                <a:lnTo>
                  <a:pt x="3471443" y="2095491"/>
                </a:lnTo>
                <a:lnTo>
                  <a:pt x="0" y="2095491"/>
                </a:lnTo>
                <a:lnTo>
                  <a:pt x="0" y="0"/>
                </a:lnTo>
                <a:close/>
              </a:path>
            </a:pathLst>
          </a:custGeom>
          <a:blipFill>
            <a:blip r:embed="rId14">
              <a:extLst>
                <a:ext uri="{96DAC541-7B7A-43D3-8B79-37D633B846F1}">
                  <asvg:svgBlip xmlns:asvg="http://schemas.microsoft.com/office/drawing/2016/SVG/main" r:embed="rId15"/>
                </a:ext>
              </a:extLst>
            </a:blip>
            <a:stretch>
              <a:fillRect t="-152" b="-152"/>
            </a:stretch>
          </a:blipFill>
        </p:spPr>
        <p:txBody>
          <a:bodyPr/>
          <a:lstStyle/>
          <a:p>
            <a:endParaRPr lang="en-US"/>
          </a:p>
        </p:txBody>
      </p:sp>
      <p:sp>
        <p:nvSpPr>
          <p:cNvPr id="9" name="Freeform 9"/>
          <p:cNvSpPr/>
          <p:nvPr/>
        </p:nvSpPr>
        <p:spPr>
          <a:xfrm flipH="1">
            <a:off x="1621727" y="4089530"/>
            <a:ext cx="150219" cy="245174"/>
          </a:xfrm>
          <a:custGeom>
            <a:avLst/>
            <a:gdLst/>
            <a:ahLst/>
            <a:cxnLst/>
            <a:rect l="l" t="t" r="r" b="b"/>
            <a:pathLst>
              <a:path w="150219" h="245174">
                <a:moveTo>
                  <a:pt x="150218" y="0"/>
                </a:moveTo>
                <a:lnTo>
                  <a:pt x="0" y="0"/>
                </a:lnTo>
                <a:lnTo>
                  <a:pt x="0" y="245174"/>
                </a:lnTo>
                <a:lnTo>
                  <a:pt x="150218" y="245174"/>
                </a:lnTo>
                <a:lnTo>
                  <a:pt x="150218"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0" name="Freeform 10"/>
          <p:cNvSpPr/>
          <p:nvPr/>
        </p:nvSpPr>
        <p:spPr>
          <a:xfrm rot="-6240780" flipH="1">
            <a:off x="11604136" y="5958735"/>
            <a:ext cx="6111526" cy="10063886"/>
          </a:xfrm>
          <a:custGeom>
            <a:avLst/>
            <a:gdLst/>
            <a:ahLst/>
            <a:cxnLst/>
            <a:rect l="l" t="t" r="r" b="b"/>
            <a:pathLst>
              <a:path w="6111526" h="10063886">
                <a:moveTo>
                  <a:pt x="6111526" y="0"/>
                </a:moveTo>
                <a:lnTo>
                  <a:pt x="0" y="0"/>
                </a:lnTo>
                <a:lnTo>
                  <a:pt x="0" y="10063887"/>
                </a:lnTo>
                <a:lnTo>
                  <a:pt x="6111526" y="10063887"/>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t="-133" b="-133"/>
            </a:stretch>
          </a:blipFill>
        </p:spPr>
        <p:txBody>
          <a:bodyPr/>
          <a:lstStyle/>
          <a:p>
            <a:endParaRPr lang="en-US"/>
          </a:p>
        </p:txBody>
      </p:sp>
      <p:sp>
        <p:nvSpPr>
          <p:cNvPr id="11" name="TextBox 11"/>
          <p:cNvSpPr txBox="1"/>
          <p:nvPr/>
        </p:nvSpPr>
        <p:spPr>
          <a:xfrm>
            <a:off x="2206152" y="3946827"/>
            <a:ext cx="14364534" cy="1530032"/>
          </a:xfrm>
          <a:prstGeom prst="rect">
            <a:avLst/>
          </a:prstGeom>
        </p:spPr>
        <p:txBody>
          <a:bodyPr lIns="0" tIns="0" rIns="0" bIns="0" rtlCol="0" anchor="t">
            <a:spAutoFit/>
          </a:bodyPr>
          <a:lstStyle/>
          <a:p>
            <a:pPr algn="l">
              <a:lnSpc>
                <a:spcPts val="3986"/>
              </a:lnSpc>
            </a:pPr>
            <a:r>
              <a:rPr lang="en-US" sz="3800" b="1">
                <a:solidFill>
                  <a:srgbClr val="171814"/>
                </a:solidFill>
                <a:latin typeface="Inter Bold"/>
                <a:ea typeface="Inter Bold"/>
                <a:cs typeface="Inter Bold"/>
                <a:sym typeface="Inter Bold"/>
              </a:rPr>
              <a:t>Quy định các nội dung:</a:t>
            </a:r>
          </a:p>
          <a:p>
            <a:pPr marL="820421" lvl="1" indent="-410210" algn="l">
              <a:lnSpc>
                <a:spcPts val="3986"/>
              </a:lnSpc>
              <a:buFont typeface="Arial"/>
              <a:buChar char="•"/>
            </a:pPr>
            <a:r>
              <a:rPr lang="en-US" sz="3800">
                <a:solidFill>
                  <a:srgbClr val="171814"/>
                </a:solidFill>
                <a:latin typeface="Inter"/>
                <a:ea typeface="Inter"/>
                <a:cs typeface="Inter"/>
                <a:sym typeface="Inter"/>
              </a:rPr>
              <a:t>Hiệu lực thi hành của Luật Công nghệ thông tin</a:t>
            </a:r>
          </a:p>
          <a:p>
            <a:pPr marL="820421" lvl="1" indent="-410210" algn="l">
              <a:lnSpc>
                <a:spcPts val="3988"/>
              </a:lnSpc>
              <a:buFont typeface="Arial"/>
              <a:buChar char="•"/>
            </a:pPr>
            <a:r>
              <a:rPr lang="en-US" sz="3800">
                <a:solidFill>
                  <a:srgbClr val="171814"/>
                </a:solidFill>
                <a:latin typeface="Inter"/>
                <a:ea typeface="Inter"/>
                <a:cs typeface="Inter"/>
                <a:sym typeface="Inter"/>
              </a:rPr>
              <a:t>Trách nhiệm của Chính phủ trong việc tổ chức thực hiện luật</a:t>
            </a:r>
          </a:p>
        </p:txBody>
      </p:sp>
      <p:sp>
        <p:nvSpPr>
          <p:cNvPr id="12" name="TextBox 12"/>
          <p:cNvSpPr txBox="1"/>
          <p:nvPr/>
        </p:nvSpPr>
        <p:spPr>
          <a:xfrm>
            <a:off x="1371600" y="1483538"/>
            <a:ext cx="14752520" cy="1692910"/>
          </a:xfrm>
          <a:prstGeom prst="rect">
            <a:avLst/>
          </a:prstGeom>
        </p:spPr>
        <p:txBody>
          <a:bodyPr lIns="0" tIns="0" rIns="0" bIns="0" rtlCol="0" anchor="t">
            <a:spAutoFit/>
          </a:bodyPr>
          <a:lstStyle/>
          <a:p>
            <a:pPr algn="l">
              <a:lnSpc>
                <a:spcPts val="6799"/>
              </a:lnSpc>
            </a:pPr>
            <a:r>
              <a:rPr lang="en-US" sz="5400">
                <a:solidFill>
                  <a:srgbClr val="A75B4B"/>
                </a:solidFill>
                <a:latin typeface="Paytone One"/>
                <a:ea typeface="Paytone One"/>
                <a:cs typeface="Paytone One"/>
                <a:sym typeface="Paytone One"/>
              </a:rPr>
              <a:t>Chương 6. </a:t>
            </a:r>
          </a:p>
          <a:p>
            <a:pPr algn="l">
              <a:lnSpc>
                <a:spcPts val="6799"/>
              </a:lnSpc>
            </a:pPr>
            <a:r>
              <a:rPr lang="en-US" sz="5400">
                <a:solidFill>
                  <a:srgbClr val="A75B4B"/>
                </a:solidFill>
                <a:latin typeface="Paytone One"/>
                <a:ea typeface="Paytone One"/>
                <a:cs typeface="Paytone One"/>
                <a:sym typeface="Paytone One"/>
              </a:rPr>
              <a:t>ĐIỀU KHOẢN THỰC THI</a:t>
            </a:r>
          </a:p>
        </p:txBody>
      </p:sp>
      <p:sp>
        <p:nvSpPr>
          <p:cNvPr id="13" name="Freeform 13"/>
          <p:cNvSpPr/>
          <p:nvPr/>
        </p:nvSpPr>
        <p:spPr>
          <a:xfrm>
            <a:off x="10172852" y="2785701"/>
            <a:ext cx="820693" cy="769953"/>
          </a:xfrm>
          <a:custGeom>
            <a:avLst/>
            <a:gdLst/>
            <a:ahLst/>
            <a:cxnLst/>
            <a:rect l="l" t="t" r="r" b="b"/>
            <a:pathLst>
              <a:path w="820693" h="769953">
                <a:moveTo>
                  <a:pt x="0" y="0"/>
                </a:moveTo>
                <a:lnTo>
                  <a:pt x="820693" y="0"/>
                </a:lnTo>
                <a:lnTo>
                  <a:pt x="820693" y="769953"/>
                </a:lnTo>
                <a:lnTo>
                  <a:pt x="0" y="769953"/>
                </a:lnTo>
                <a:lnTo>
                  <a:pt x="0" y="0"/>
                </a:lnTo>
                <a:close/>
              </a:path>
            </a:pathLst>
          </a:custGeom>
          <a:blipFill>
            <a:blip r:embed="rId18">
              <a:extLst>
                <a:ext uri="{96DAC541-7B7A-43D3-8B79-37D633B846F1}">
                  <asvg:svgBlip xmlns:asvg="http://schemas.microsoft.com/office/drawing/2016/SVG/main" r:embed="rId19"/>
                </a:ext>
              </a:extLst>
            </a:blip>
            <a:stretch>
              <a:fillRect l="-384" r="-382"/>
            </a:stretch>
          </a:blipFill>
        </p:spPr>
        <p:txBody>
          <a:bodyPr/>
          <a:lstStyle/>
          <a:p>
            <a:endParaRPr lang="en-US"/>
          </a:p>
        </p:txBody>
      </p:sp>
      <p:sp>
        <p:nvSpPr>
          <p:cNvPr id="14" name="Freeform 14"/>
          <p:cNvSpPr/>
          <p:nvPr/>
        </p:nvSpPr>
        <p:spPr>
          <a:xfrm>
            <a:off x="518208" y="8503501"/>
            <a:ext cx="1020985" cy="1039892"/>
          </a:xfrm>
          <a:custGeom>
            <a:avLst/>
            <a:gdLst/>
            <a:ahLst/>
            <a:cxnLst/>
            <a:rect l="l" t="t" r="r" b="b"/>
            <a:pathLst>
              <a:path w="1020985" h="1039892">
                <a:moveTo>
                  <a:pt x="0" y="0"/>
                </a:moveTo>
                <a:lnTo>
                  <a:pt x="1020984" y="0"/>
                </a:lnTo>
                <a:lnTo>
                  <a:pt x="1020984" y="1039892"/>
                </a:lnTo>
                <a:lnTo>
                  <a:pt x="0" y="1039892"/>
                </a:lnTo>
                <a:lnTo>
                  <a:pt x="0" y="0"/>
                </a:lnTo>
                <a:close/>
              </a:path>
            </a:pathLst>
          </a:custGeom>
          <a:blipFill>
            <a:blip r:embed="rId20">
              <a:extLst>
                <a:ext uri="{96DAC541-7B7A-43D3-8B79-37D633B846F1}">
                  <asvg:svgBlip xmlns:asvg="http://schemas.microsoft.com/office/drawing/2016/SVG/main" r:embed="rId21"/>
                </a:ext>
              </a:extLst>
            </a:blip>
            <a:stretch>
              <a:fillRect l="-462" r="-462"/>
            </a:stretch>
          </a:blipFill>
        </p:spPr>
        <p:txBody>
          <a:bodyPr/>
          <a:lstStyle/>
          <a:p>
            <a:endParaRPr lang="en-US"/>
          </a:p>
        </p:txBody>
      </p:sp>
      <p:sp>
        <p:nvSpPr>
          <p:cNvPr id="15" name="Freeform 15"/>
          <p:cNvSpPr/>
          <p:nvPr/>
        </p:nvSpPr>
        <p:spPr>
          <a:xfrm>
            <a:off x="16296208" y="1028700"/>
            <a:ext cx="876843" cy="876843"/>
          </a:xfrm>
          <a:custGeom>
            <a:avLst/>
            <a:gdLst/>
            <a:ahLst/>
            <a:cxnLst/>
            <a:rect l="l" t="t" r="r" b="b"/>
            <a:pathLst>
              <a:path w="876843" h="876843">
                <a:moveTo>
                  <a:pt x="0" y="0"/>
                </a:moveTo>
                <a:lnTo>
                  <a:pt x="876843" y="0"/>
                </a:lnTo>
                <a:lnTo>
                  <a:pt x="876843" y="876843"/>
                </a:lnTo>
                <a:lnTo>
                  <a:pt x="0" y="876843"/>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6" name="Freeform 16"/>
          <p:cNvSpPr/>
          <p:nvPr/>
        </p:nvSpPr>
        <p:spPr>
          <a:xfrm>
            <a:off x="16734625" y="5103724"/>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24">
              <a:extLst>
                <a:ext uri="{96DAC541-7B7A-43D3-8B79-37D633B846F1}">
                  <asvg:svgBlip xmlns:asvg="http://schemas.microsoft.com/office/drawing/2016/SVG/main" r:embed="rId25"/>
                </a:ext>
              </a:extLst>
            </a:blip>
            <a:stretch>
              <a:fillRect t="-20" b="-21"/>
            </a:stretch>
          </a:blipFill>
        </p:spPr>
        <p:txBody>
          <a:bodyPr/>
          <a:lstStyle/>
          <a:p>
            <a:endParaRPr lang="en-US"/>
          </a:p>
        </p:txBody>
      </p:sp>
      <p:sp>
        <p:nvSpPr>
          <p:cNvPr id="17" name="Freeform 17"/>
          <p:cNvSpPr/>
          <p:nvPr/>
        </p:nvSpPr>
        <p:spPr>
          <a:xfrm flipH="1">
            <a:off x="1638652" y="6298673"/>
            <a:ext cx="150219" cy="245174"/>
          </a:xfrm>
          <a:custGeom>
            <a:avLst/>
            <a:gdLst/>
            <a:ahLst/>
            <a:cxnLst/>
            <a:rect l="l" t="t" r="r" b="b"/>
            <a:pathLst>
              <a:path w="150219" h="245174">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18" name="Freeform 18"/>
          <p:cNvSpPr/>
          <p:nvPr/>
        </p:nvSpPr>
        <p:spPr>
          <a:xfrm>
            <a:off x="1371600" y="6109811"/>
            <a:ext cx="644881" cy="644881"/>
          </a:xfrm>
          <a:custGeom>
            <a:avLst/>
            <a:gdLst/>
            <a:ahLst/>
            <a:cxnLst/>
            <a:rect l="l" t="t" r="r" b="b"/>
            <a:pathLst>
              <a:path w="644881" h="644881">
                <a:moveTo>
                  <a:pt x="0" y="0"/>
                </a:moveTo>
                <a:lnTo>
                  <a:pt x="644881" y="0"/>
                </a:lnTo>
                <a:lnTo>
                  <a:pt x="644881" y="644881"/>
                </a:lnTo>
                <a:lnTo>
                  <a:pt x="0" y="6448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9" name="Freeform 19"/>
          <p:cNvSpPr/>
          <p:nvPr/>
        </p:nvSpPr>
        <p:spPr>
          <a:xfrm flipH="1">
            <a:off x="1618926" y="6326010"/>
            <a:ext cx="150219" cy="245173"/>
          </a:xfrm>
          <a:custGeom>
            <a:avLst/>
            <a:gdLst/>
            <a:ahLst/>
            <a:cxnLst/>
            <a:rect l="l" t="t" r="r" b="b"/>
            <a:pathLst>
              <a:path w="150219" h="245173">
                <a:moveTo>
                  <a:pt x="150219" y="0"/>
                </a:moveTo>
                <a:lnTo>
                  <a:pt x="0" y="0"/>
                </a:lnTo>
                <a:lnTo>
                  <a:pt x="0" y="245173"/>
                </a:lnTo>
                <a:lnTo>
                  <a:pt x="150219" y="245173"/>
                </a:lnTo>
                <a:lnTo>
                  <a:pt x="150219" y="0"/>
                </a:lnTo>
                <a:close/>
              </a:path>
            </a:pathLst>
          </a:custGeom>
          <a:blipFill>
            <a:blip r:embed="rId16">
              <a:extLst>
                <a:ext uri="{96DAC541-7B7A-43D3-8B79-37D633B846F1}">
                  <asvg:svgBlip xmlns:asvg="http://schemas.microsoft.com/office/drawing/2016/SVG/main" r:embed="rId17"/>
                </a:ext>
              </a:extLst>
            </a:blip>
            <a:stretch>
              <a:fillRect l="-215" r="-221"/>
            </a:stretch>
          </a:blipFill>
        </p:spPr>
        <p:txBody>
          <a:bodyPr/>
          <a:lstStyle/>
          <a:p>
            <a:endParaRPr lang="en-US"/>
          </a:p>
        </p:txBody>
      </p:sp>
      <p:sp>
        <p:nvSpPr>
          <p:cNvPr id="20" name="TextBox 20"/>
          <p:cNvSpPr txBox="1"/>
          <p:nvPr/>
        </p:nvSpPr>
        <p:spPr>
          <a:xfrm>
            <a:off x="2206152" y="6166961"/>
            <a:ext cx="9557623" cy="1530032"/>
          </a:xfrm>
          <a:prstGeom prst="rect">
            <a:avLst/>
          </a:prstGeom>
        </p:spPr>
        <p:txBody>
          <a:bodyPr lIns="0" tIns="0" rIns="0" bIns="0" rtlCol="0" anchor="t">
            <a:spAutoFit/>
          </a:bodyPr>
          <a:lstStyle/>
          <a:p>
            <a:pPr algn="l">
              <a:lnSpc>
                <a:spcPts val="3986"/>
              </a:lnSpc>
            </a:pPr>
            <a:r>
              <a:rPr lang="en-US" sz="3800" b="1">
                <a:solidFill>
                  <a:srgbClr val="000000"/>
                </a:solidFill>
                <a:latin typeface="Inter Bold"/>
                <a:ea typeface="Inter Bold"/>
                <a:cs typeface="Inter Bold"/>
                <a:sym typeface="Inter Bold"/>
              </a:rPr>
              <a:t>Là chương kết thúc, </a:t>
            </a:r>
            <a:r>
              <a:rPr lang="en-US" sz="3800">
                <a:solidFill>
                  <a:srgbClr val="000000"/>
                </a:solidFill>
                <a:latin typeface="Inter"/>
                <a:ea typeface="Inter"/>
                <a:cs typeface="Inter"/>
                <a:sym typeface="Inter"/>
              </a:rPr>
              <a:t>có vai trò:</a:t>
            </a:r>
          </a:p>
          <a:p>
            <a:pPr marL="820421" lvl="1" indent="-410210" algn="l">
              <a:lnSpc>
                <a:spcPts val="3986"/>
              </a:lnSpc>
              <a:buFont typeface="Arial"/>
              <a:buChar char="•"/>
            </a:pPr>
            <a:r>
              <a:rPr lang="en-US" sz="3800">
                <a:solidFill>
                  <a:srgbClr val="000000"/>
                </a:solidFill>
                <a:latin typeface="Inter"/>
                <a:ea typeface="Inter"/>
                <a:cs typeface="Inter"/>
                <a:sym typeface="Inter"/>
              </a:rPr>
              <a:t>Đảm bảo luật được áp dụng thống nhất</a:t>
            </a:r>
          </a:p>
          <a:p>
            <a:pPr marL="820421" lvl="1" indent="-410210" algn="l">
              <a:lnSpc>
                <a:spcPts val="3988"/>
              </a:lnSpc>
              <a:buFont typeface="Arial"/>
              <a:buChar char="•"/>
            </a:pPr>
            <a:r>
              <a:rPr lang="en-US" sz="3800">
                <a:solidFill>
                  <a:srgbClr val="000000"/>
                </a:solidFill>
                <a:latin typeface="Inter"/>
                <a:ea typeface="Inter"/>
                <a:cs typeface="Inter"/>
                <a:sym typeface="Inter"/>
              </a:rPr>
              <a:t>Là cơ sở để triển khai trong thực tế</a:t>
            </a:r>
          </a:p>
        </p:txBody>
      </p:sp>
      <p:sp>
        <p:nvSpPr>
          <p:cNvPr id="21" name="Freeform 21"/>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6"/>
            <a:stretch>
              <a:fillRect/>
            </a:stretch>
          </a:blipFill>
        </p:spPr>
        <p:txBody>
          <a:bodyPr/>
          <a:lstStyle/>
          <a:p>
            <a:endParaRPr lang="en-US"/>
          </a:p>
        </p:txBody>
      </p:sp>
      <p:sp>
        <p:nvSpPr>
          <p:cNvPr id="22" name="TextBox 2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46</a:t>
            </a:r>
          </a:p>
        </p:txBody>
      </p:sp>
      <p:grpSp>
        <p:nvGrpSpPr>
          <p:cNvPr id="23" name="Group 23"/>
          <p:cNvGrpSpPr/>
          <p:nvPr/>
        </p:nvGrpSpPr>
        <p:grpSpPr>
          <a:xfrm>
            <a:off x="12217765" y="9258300"/>
            <a:ext cx="6070235" cy="905716"/>
            <a:chOff x="0" y="0"/>
            <a:chExt cx="8093646" cy="1207622"/>
          </a:xfrm>
        </p:grpSpPr>
        <p:sp>
          <p:nvSpPr>
            <p:cNvPr id="24" name="Freeform 24"/>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25" name="TextBox 25"/>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2251120074 - Nguyễn Xuân Dự</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2" y="571948"/>
            <a:ext cx="6463258" cy="615553"/>
          </a:xfrm>
          <a:prstGeom prst="rect">
            <a:avLst/>
          </a:prstGeom>
        </p:spPr>
        <p:txBody>
          <a:bodyPr wrap="square" lIns="0" tIns="0" rIns="0" bIns="0" rtlCol="0" anchor="t">
            <a:spAutoFit/>
          </a:bodyPr>
          <a:lstStyle/>
          <a:p>
            <a:pPr algn="l">
              <a:lnSpc>
                <a:spcPts val="4800"/>
              </a:lnSpc>
            </a:pPr>
            <a:r>
              <a:rPr lang="en-US" sz="4000" dirty="0">
                <a:solidFill>
                  <a:srgbClr val="1F497D"/>
                </a:solidFill>
                <a:latin typeface="Paytone One"/>
                <a:ea typeface="Paytone One"/>
                <a:cs typeface="Paytone One"/>
                <a:sym typeface="Paytone One"/>
              </a:rPr>
              <a:t>Hiệu </a:t>
            </a:r>
            <a:r>
              <a:rPr lang="en-US" sz="4000" dirty="0" err="1">
                <a:solidFill>
                  <a:srgbClr val="1F497D"/>
                </a:solidFill>
                <a:latin typeface="Paytone One"/>
                <a:ea typeface="Paytone One"/>
                <a:cs typeface="Paytone One"/>
                <a:sym typeface="Paytone One"/>
              </a:rPr>
              <a:t>lực</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và</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trách</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nhiệm</a:t>
            </a:r>
            <a:endParaRPr lang="en-US" sz="4000" dirty="0">
              <a:solidFill>
                <a:srgbClr val="1F497D"/>
              </a:solidFill>
              <a:latin typeface="Paytone One"/>
              <a:ea typeface="Paytone One"/>
              <a:cs typeface="Paytone One"/>
              <a:sym typeface="Paytone One"/>
            </a:endParaRP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3" name="Freeform 13"/>
          <p:cNvSpPr/>
          <p:nvPr/>
        </p:nvSpPr>
        <p:spPr>
          <a:xfrm>
            <a:off x="13981759" y="155729"/>
            <a:ext cx="4381243" cy="832437"/>
          </a:xfrm>
          <a:custGeom>
            <a:avLst/>
            <a:gdLst/>
            <a:ahLst/>
            <a:cxnLst/>
            <a:rect l="l" t="t" r="r" b="b"/>
            <a:pathLst>
              <a:path w="4381243" h="832437">
                <a:moveTo>
                  <a:pt x="0" y="0"/>
                </a:moveTo>
                <a:lnTo>
                  <a:pt x="4381242" y="0"/>
                </a:lnTo>
                <a:lnTo>
                  <a:pt x="4381242" y="832437"/>
                </a:lnTo>
                <a:lnTo>
                  <a:pt x="0" y="832437"/>
                </a:lnTo>
                <a:lnTo>
                  <a:pt x="0" y="0"/>
                </a:lnTo>
                <a:close/>
              </a:path>
            </a:pathLst>
          </a:custGeom>
          <a:blipFill>
            <a:blip r:embed="rId16"/>
            <a:stretch>
              <a:fillRect/>
            </a:stretch>
          </a:blipFill>
        </p:spPr>
        <p:txBody>
          <a:bodyPr/>
          <a:lstStyle/>
          <a:p>
            <a:endParaRPr lang="en-US"/>
          </a:p>
        </p:txBody>
      </p:sp>
      <p:sp>
        <p:nvSpPr>
          <p:cNvPr id="14" name="Freeform 14"/>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5" name="TextBox 15"/>
          <p:cNvSpPr txBox="1"/>
          <p:nvPr/>
        </p:nvSpPr>
        <p:spPr>
          <a:xfrm>
            <a:off x="1439047" y="1660014"/>
            <a:ext cx="14348393" cy="6647180"/>
          </a:xfrm>
          <a:prstGeom prst="rect">
            <a:avLst/>
          </a:prstGeom>
        </p:spPr>
        <p:txBody>
          <a:bodyPr lIns="0" tIns="0" rIns="0" bIns="0" rtlCol="0" anchor="t">
            <a:spAutoFit/>
          </a:bodyPr>
          <a:lstStyle/>
          <a:p>
            <a:pPr algn="l">
              <a:lnSpc>
                <a:spcPts val="5320"/>
              </a:lnSpc>
            </a:pPr>
            <a:r>
              <a:rPr lang="en-US" sz="3800" b="1">
                <a:solidFill>
                  <a:srgbClr val="1A1C1E"/>
                </a:solidFill>
                <a:latin typeface="Inter Bold"/>
                <a:ea typeface="Inter Bold"/>
                <a:cs typeface="Inter Bold"/>
                <a:sym typeface="Inter Bold"/>
              </a:rPr>
              <a:t>Hiệu lực thi hành Luật CNTT</a:t>
            </a:r>
          </a:p>
          <a:p>
            <a:pPr marL="820421" lvl="1" indent="-410210" algn="l">
              <a:lnSpc>
                <a:spcPts val="5320"/>
              </a:lnSpc>
              <a:buFont typeface="Arial"/>
              <a:buChar char="•"/>
            </a:pPr>
            <a:r>
              <a:rPr lang="en-US" sz="3800">
                <a:solidFill>
                  <a:srgbClr val="1A1C1E"/>
                </a:solidFill>
                <a:latin typeface="Inter"/>
                <a:ea typeface="Inter"/>
                <a:cs typeface="Inter"/>
                <a:sym typeface="Inter"/>
              </a:rPr>
              <a:t>Luật Công nghệ thông tin có hiệu lực theo thời điểm được Nhà nước quy định</a:t>
            </a:r>
          </a:p>
          <a:p>
            <a:pPr marL="820421" lvl="1" indent="-410210" algn="l">
              <a:lnSpc>
                <a:spcPts val="5320"/>
              </a:lnSpc>
              <a:buFont typeface="Arial"/>
              <a:buChar char="•"/>
            </a:pPr>
            <a:r>
              <a:rPr lang="en-US" sz="3800">
                <a:solidFill>
                  <a:srgbClr val="1A1C1E"/>
                </a:solidFill>
                <a:latin typeface="Inter"/>
                <a:ea typeface="Inter"/>
                <a:cs typeface="Inter"/>
                <a:sym typeface="Inter"/>
              </a:rPr>
              <a:t>Là căn cứ pháp lý để điều chỉnh các hoạt động CNTT</a:t>
            </a:r>
          </a:p>
          <a:p>
            <a:pPr algn="l">
              <a:lnSpc>
                <a:spcPts val="5320"/>
              </a:lnSpc>
            </a:pPr>
            <a:endParaRPr lang="en-US" sz="3800">
              <a:solidFill>
                <a:srgbClr val="1A1C1E"/>
              </a:solidFill>
              <a:latin typeface="Inter"/>
              <a:ea typeface="Inter"/>
              <a:cs typeface="Inter"/>
              <a:sym typeface="Inter"/>
            </a:endParaRPr>
          </a:p>
          <a:p>
            <a:pPr algn="l">
              <a:lnSpc>
                <a:spcPts val="5320"/>
              </a:lnSpc>
            </a:pPr>
            <a:r>
              <a:rPr lang="en-US" sz="3800" b="1">
                <a:solidFill>
                  <a:srgbClr val="1A1C1E"/>
                </a:solidFill>
                <a:latin typeface="Inter Bold"/>
                <a:ea typeface="Inter Bold"/>
                <a:cs typeface="Inter Bold"/>
                <a:sym typeface="Inter Bold"/>
              </a:rPr>
              <a:t>Trách nhiệm của Chính phủ</a:t>
            </a:r>
          </a:p>
          <a:p>
            <a:pPr marL="820421" lvl="1" indent="-410210" algn="l">
              <a:lnSpc>
                <a:spcPts val="5320"/>
              </a:lnSpc>
              <a:buFont typeface="Arial"/>
              <a:buChar char="•"/>
            </a:pPr>
            <a:r>
              <a:rPr lang="en-US" sz="3800">
                <a:solidFill>
                  <a:srgbClr val="1A1C1E"/>
                </a:solidFill>
                <a:latin typeface="Inter"/>
                <a:ea typeface="Inter"/>
                <a:cs typeface="Inter"/>
                <a:sym typeface="Inter"/>
              </a:rPr>
              <a:t>Quy định chi tiết các nội dung của Luật</a:t>
            </a:r>
          </a:p>
          <a:p>
            <a:pPr marL="820421" lvl="1" indent="-410210" algn="l">
              <a:lnSpc>
                <a:spcPts val="5320"/>
              </a:lnSpc>
              <a:buFont typeface="Arial"/>
              <a:buChar char="•"/>
            </a:pPr>
            <a:r>
              <a:rPr lang="en-US" sz="3800">
                <a:solidFill>
                  <a:srgbClr val="1A1C1E"/>
                </a:solidFill>
                <a:latin typeface="Inter"/>
                <a:ea typeface="Inter"/>
                <a:cs typeface="Inter"/>
                <a:sym typeface="Inter"/>
              </a:rPr>
              <a:t>Ban hành văn bản hướng dẫn thi hành</a:t>
            </a:r>
          </a:p>
          <a:p>
            <a:pPr marL="820421" lvl="1" indent="-410210" algn="l">
              <a:lnSpc>
                <a:spcPts val="5320"/>
              </a:lnSpc>
              <a:buFont typeface="Arial"/>
              <a:buChar char="•"/>
            </a:pPr>
            <a:r>
              <a:rPr lang="en-US" sz="3800">
                <a:solidFill>
                  <a:srgbClr val="1A1C1E"/>
                </a:solidFill>
                <a:latin typeface="Inter"/>
                <a:ea typeface="Inter"/>
                <a:cs typeface="Inter"/>
                <a:sym typeface="Inter"/>
              </a:rPr>
              <a:t>Đảm bảo Luật được triển khai hiệu quả trên toàn quốc</a:t>
            </a:r>
          </a:p>
          <a:p>
            <a:pPr algn="l">
              <a:lnSpc>
                <a:spcPts val="5320"/>
              </a:lnSpc>
            </a:pPr>
            <a:endParaRPr lang="en-US" sz="3800">
              <a:solidFill>
                <a:srgbClr val="1A1C1E"/>
              </a:solidFill>
              <a:latin typeface="Inter"/>
              <a:ea typeface="Inter"/>
              <a:cs typeface="Inter"/>
              <a:sym typeface="Inter"/>
            </a:endParaRPr>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47</a:t>
            </a:r>
          </a:p>
        </p:txBody>
      </p:sp>
      <p:grpSp>
        <p:nvGrpSpPr>
          <p:cNvPr id="17" name="Group 17"/>
          <p:cNvGrpSpPr/>
          <p:nvPr/>
        </p:nvGrpSpPr>
        <p:grpSpPr>
          <a:xfrm>
            <a:off x="12217765" y="9258300"/>
            <a:ext cx="6070235" cy="905716"/>
            <a:chOff x="0" y="0"/>
            <a:chExt cx="8093646" cy="1207622"/>
          </a:xfrm>
        </p:grpSpPr>
        <p:sp>
          <p:nvSpPr>
            <p:cNvPr id="18" name="Freeform 18"/>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2251120074 - Nguyễn Xuân Dự</a:t>
              </a:r>
            </a:p>
          </p:txBody>
        </p:sp>
      </p:gr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rot="-10800000">
            <a:off x="7961147" y="66123"/>
            <a:ext cx="10533316" cy="7315867"/>
          </a:xfrm>
          <a:custGeom>
            <a:avLst/>
            <a:gdLst/>
            <a:ahLst/>
            <a:cxnLst/>
            <a:rect l="l" t="t" r="r" b="b"/>
            <a:pathLst>
              <a:path w="10533316" h="7315867">
                <a:moveTo>
                  <a:pt x="0" y="0"/>
                </a:moveTo>
                <a:lnTo>
                  <a:pt x="10533317" y="0"/>
                </a:lnTo>
                <a:lnTo>
                  <a:pt x="10533317" y="7315866"/>
                </a:lnTo>
                <a:lnTo>
                  <a:pt x="0" y="7315866"/>
                </a:lnTo>
                <a:lnTo>
                  <a:pt x="0" y="0"/>
                </a:lnTo>
                <a:close/>
              </a:path>
            </a:pathLst>
          </a:custGeom>
          <a:blipFill>
            <a:blip r:embed="rId2">
              <a:extLst>
                <a:ext uri="{96DAC541-7B7A-43D3-8B79-37D633B846F1}">
                  <asvg:svgBlip xmlns:asvg="http://schemas.microsoft.com/office/drawing/2016/SVG/main" r:embed="rId3"/>
                </a:ext>
              </a:extLst>
            </a:blip>
            <a:stretch>
              <a:fillRect t="-184" b="-184"/>
            </a:stretch>
          </a:blipFill>
        </p:spPr>
        <p:txBody>
          <a:bodyPr/>
          <a:lstStyle/>
          <a:p>
            <a:endParaRPr lang="en-US"/>
          </a:p>
        </p:txBody>
      </p:sp>
      <p:sp>
        <p:nvSpPr>
          <p:cNvPr id="3" name="Freeform 3"/>
          <p:cNvSpPr/>
          <p:nvPr/>
        </p:nvSpPr>
        <p:spPr>
          <a:xfrm rot="-10800000">
            <a:off x="9141828" y="66123"/>
            <a:ext cx="9352636" cy="6495831"/>
          </a:xfrm>
          <a:custGeom>
            <a:avLst/>
            <a:gdLst/>
            <a:ahLst/>
            <a:cxnLst/>
            <a:rect l="l" t="t" r="r" b="b"/>
            <a:pathLst>
              <a:path w="9352636" h="6495831">
                <a:moveTo>
                  <a:pt x="0" y="0"/>
                </a:moveTo>
                <a:lnTo>
                  <a:pt x="9352636" y="0"/>
                </a:lnTo>
                <a:lnTo>
                  <a:pt x="9352636"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t="-216" b="-216"/>
            </a:stretch>
          </a:blipFill>
        </p:spPr>
        <p:txBody>
          <a:bodyPr/>
          <a:lstStyle/>
          <a:p>
            <a:endParaRPr lang="en-US"/>
          </a:p>
        </p:txBody>
      </p:sp>
      <p:sp>
        <p:nvSpPr>
          <p:cNvPr id="4" name="Freeform 4"/>
          <p:cNvSpPr/>
          <p:nvPr/>
        </p:nvSpPr>
        <p:spPr>
          <a:xfrm>
            <a:off x="-162925" y="3803333"/>
            <a:ext cx="9406423" cy="6533188"/>
          </a:xfrm>
          <a:custGeom>
            <a:avLst/>
            <a:gdLst/>
            <a:ahLst/>
            <a:cxnLst/>
            <a:rect l="l" t="t" r="r" b="b"/>
            <a:pathLst>
              <a:path w="9406423" h="6533188">
                <a:moveTo>
                  <a:pt x="0" y="0"/>
                </a:moveTo>
                <a:lnTo>
                  <a:pt x="9406423" y="0"/>
                </a:lnTo>
                <a:lnTo>
                  <a:pt x="9406423" y="6533187"/>
                </a:lnTo>
                <a:lnTo>
                  <a:pt x="0" y="6533187"/>
                </a:lnTo>
                <a:lnTo>
                  <a:pt x="0" y="0"/>
                </a:lnTo>
                <a:close/>
              </a:path>
            </a:pathLst>
          </a:custGeom>
          <a:blipFill>
            <a:blip r:embed="rId2">
              <a:extLst>
                <a:ext uri="{96DAC541-7B7A-43D3-8B79-37D633B846F1}">
                  <asvg:svgBlip xmlns:asvg="http://schemas.microsoft.com/office/drawing/2016/SVG/main" r:embed="rId3"/>
                </a:ext>
              </a:extLst>
            </a:blip>
            <a:stretch>
              <a:fillRect t="-203" b="-203"/>
            </a:stretch>
          </a:blipFill>
        </p:spPr>
        <p:txBody>
          <a:bodyPr/>
          <a:lstStyle/>
          <a:p>
            <a:endParaRPr lang="en-US"/>
          </a:p>
        </p:txBody>
      </p:sp>
      <p:sp>
        <p:nvSpPr>
          <p:cNvPr id="5" name="Freeform 5"/>
          <p:cNvSpPr/>
          <p:nvPr/>
        </p:nvSpPr>
        <p:spPr>
          <a:xfrm>
            <a:off x="-162925" y="4535634"/>
            <a:ext cx="8352063" cy="5800887"/>
          </a:xfrm>
          <a:custGeom>
            <a:avLst/>
            <a:gdLst/>
            <a:ahLst/>
            <a:cxnLst/>
            <a:rect l="l" t="t" r="r" b="b"/>
            <a:pathLst>
              <a:path w="8352063" h="5800887">
                <a:moveTo>
                  <a:pt x="0" y="0"/>
                </a:moveTo>
                <a:lnTo>
                  <a:pt x="8352063" y="0"/>
                </a:lnTo>
                <a:lnTo>
                  <a:pt x="8352063" y="5800886"/>
                </a:lnTo>
                <a:lnTo>
                  <a:pt x="0" y="5800886"/>
                </a:lnTo>
                <a:lnTo>
                  <a:pt x="0" y="0"/>
                </a:lnTo>
                <a:close/>
              </a:path>
            </a:pathLst>
          </a:custGeom>
          <a:blipFill>
            <a:blip r:embed="rId4">
              <a:extLst>
                <a:ext uri="{96DAC541-7B7A-43D3-8B79-37D633B846F1}">
                  <asvg:svgBlip xmlns:asvg="http://schemas.microsoft.com/office/drawing/2016/SVG/main" r:embed="rId5"/>
                </a:ext>
              </a:extLst>
            </a:blip>
            <a:stretch>
              <a:fillRect t="-236" b="-236"/>
            </a:stretch>
          </a:blipFill>
        </p:spPr>
        <p:txBody>
          <a:bodyPr/>
          <a:lstStyle/>
          <a:p>
            <a:endParaRPr lang="en-US"/>
          </a:p>
        </p:txBody>
      </p:sp>
      <p:sp>
        <p:nvSpPr>
          <p:cNvPr id="6" name="TextBox 6"/>
          <p:cNvSpPr txBox="1"/>
          <p:nvPr/>
        </p:nvSpPr>
        <p:spPr>
          <a:xfrm>
            <a:off x="1004342" y="571948"/>
            <a:ext cx="7453858" cy="615553"/>
          </a:xfrm>
          <a:prstGeom prst="rect">
            <a:avLst/>
          </a:prstGeom>
        </p:spPr>
        <p:txBody>
          <a:bodyPr wrap="square" lIns="0" tIns="0" rIns="0" bIns="0" rtlCol="0" anchor="t">
            <a:spAutoFit/>
          </a:bodyPr>
          <a:lstStyle/>
          <a:p>
            <a:pPr algn="l">
              <a:lnSpc>
                <a:spcPts val="4800"/>
              </a:lnSpc>
            </a:pPr>
            <a:r>
              <a:rPr lang="en-US" sz="4000" dirty="0">
                <a:solidFill>
                  <a:srgbClr val="1F497D"/>
                </a:solidFill>
                <a:latin typeface="Paytone One"/>
                <a:ea typeface="Paytone One"/>
                <a:cs typeface="Paytone One"/>
                <a:sym typeface="Paytone One"/>
              </a:rPr>
              <a:t>Vai </a:t>
            </a:r>
            <a:r>
              <a:rPr lang="en-US" sz="4000" dirty="0" err="1">
                <a:solidFill>
                  <a:srgbClr val="1F497D"/>
                </a:solidFill>
                <a:latin typeface="Paytone One"/>
                <a:ea typeface="Paytone One"/>
                <a:cs typeface="Paytone One"/>
                <a:sym typeface="Paytone One"/>
              </a:rPr>
              <a:t>trò</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và</a:t>
            </a:r>
            <a:r>
              <a:rPr lang="en-US" sz="4000" dirty="0">
                <a:solidFill>
                  <a:srgbClr val="1F497D"/>
                </a:solidFill>
                <a:latin typeface="Paytone One"/>
                <a:ea typeface="Paytone One"/>
                <a:cs typeface="Paytone One"/>
                <a:sym typeface="Paytone One"/>
              </a:rPr>
              <a:t> ý </a:t>
            </a:r>
            <a:r>
              <a:rPr lang="en-US" sz="4000" dirty="0" err="1">
                <a:solidFill>
                  <a:srgbClr val="1F497D"/>
                </a:solidFill>
                <a:latin typeface="Paytone One"/>
                <a:ea typeface="Paytone One"/>
                <a:cs typeface="Paytone One"/>
                <a:sym typeface="Paytone One"/>
              </a:rPr>
              <a:t>nghĩa</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thực</a:t>
            </a:r>
            <a:r>
              <a:rPr lang="en-US" sz="4000" dirty="0">
                <a:solidFill>
                  <a:srgbClr val="1F497D"/>
                </a:solidFill>
                <a:latin typeface="Paytone One"/>
                <a:ea typeface="Paytone One"/>
                <a:cs typeface="Paytone One"/>
                <a:sym typeface="Paytone One"/>
              </a:rPr>
              <a:t> </a:t>
            </a:r>
            <a:r>
              <a:rPr lang="en-US" sz="4000" dirty="0" err="1">
                <a:solidFill>
                  <a:srgbClr val="1F497D"/>
                </a:solidFill>
                <a:latin typeface="Paytone One"/>
                <a:ea typeface="Paytone One"/>
                <a:cs typeface="Paytone One"/>
                <a:sym typeface="Paytone One"/>
              </a:rPr>
              <a:t>tiễn</a:t>
            </a:r>
            <a:endParaRPr lang="en-US" sz="4000" dirty="0">
              <a:solidFill>
                <a:srgbClr val="1F497D"/>
              </a:solidFill>
              <a:latin typeface="Paytone One"/>
              <a:ea typeface="Paytone One"/>
              <a:cs typeface="Paytone One"/>
              <a:sym typeface="Paytone One"/>
            </a:endParaRPr>
          </a:p>
        </p:txBody>
      </p:sp>
      <p:sp>
        <p:nvSpPr>
          <p:cNvPr id="7" name="Freeform 7"/>
          <p:cNvSpPr/>
          <p:nvPr/>
        </p:nvSpPr>
        <p:spPr>
          <a:xfrm rot="-3739800">
            <a:off x="12846015" y="-4459996"/>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8" name="Freeform 8"/>
          <p:cNvSpPr/>
          <p:nvPr/>
        </p:nvSpPr>
        <p:spPr>
          <a:xfrm rot="6524220">
            <a:off x="-1101338" y="5830900"/>
            <a:ext cx="6111526" cy="10063886"/>
          </a:xfrm>
          <a:custGeom>
            <a:avLst/>
            <a:gdLst/>
            <a:ahLst/>
            <a:cxnLst/>
            <a:rect l="l" t="t" r="r" b="b"/>
            <a:pathLst>
              <a:path w="6111526" h="10063886">
                <a:moveTo>
                  <a:pt x="0" y="0"/>
                </a:moveTo>
                <a:lnTo>
                  <a:pt x="6111526" y="0"/>
                </a:lnTo>
                <a:lnTo>
                  <a:pt x="6111526" y="10063887"/>
                </a:lnTo>
                <a:lnTo>
                  <a:pt x="0" y="10063887"/>
                </a:lnTo>
                <a:lnTo>
                  <a:pt x="0" y="0"/>
                </a:lnTo>
                <a:close/>
              </a:path>
            </a:pathLst>
          </a:custGeom>
          <a:blipFill>
            <a:blip r:embed="rId6">
              <a:alphaModFix amt="50000"/>
              <a:extLst>
                <a:ext uri="{96DAC541-7B7A-43D3-8B79-37D633B846F1}">
                  <asvg:svgBlip xmlns:asvg="http://schemas.microsoft.com/office/drawing/2016/SVG/main" r:embed="rId7"/>
                </a:ext>
              </a:extLst>
            </a:blip>
            <a:stretch>
              <a:fillRect t="-133" b="-133"/>
            </a:stretch>
          </a:blipFill>
        </p:spPr>
        <p:txBody>
          <a:bodyPr/>
          <a:lstStyle/>
          <a:p>
            <a:endParaRPr lang="en-US"/>
          </a:p>
        </p:txBody>
      </p:sp>
      <p:sp>
        <p:nvSpPr>
          <p:cNvPr id="9" name="Freeform 9"/>
          <p:cNvSpPr/>
          <p:nvPr/>
        </p:nvSpPr>
        <p:spPr>
          <a:xfrm>
            <a:off x="2603735" y="8030204"/>
            <a:ext cx="2638092" cy="2033730"/>
          </a:xfrm>
          <a:custGeom>
            <a:avLst/>
            <a:gdLst/>
            <a:ahLst/>
            <a:cxnLst/>
            <a:rect l="l" t="t" r="r" b="b"/>
            <a:pathLst>
              <a:path w="2638092" h="2033730">
                <a:moveTo>
                  <a:pt x="0" y="0"/>
                </a:moveTo>
                <a:lnTo>
                  <a:pt x="2638092" y="0"/>
                </a:lnTo>
                <a:lnTo>
                  <a:pt x="2638092" y="2033730"/>
                </a:lnTo>
                <a:lnTo>
                  <a:pt x="0" y="2033730"/>
                </a:lnTo>
                <a:lnTo>
                  <a:pt x="0" y="0"/>
                </a:lnTo>
                <a:close/>
              </a:path>
            </a:pathLst>
          </a:custGeom>
          <a:blipFill>
            <a:blip r:embed="rId8">
              <a:extLst>
                <a:ext uri="{96DAC541-7B7A-43D3-8B79-37D633B846F1}">
                  <asvg:svgBlip xmlns:asvg="http://schemas.microsoft.com/office/drawing/2016/SVG/main" r:embed="rId9"/>
                </a:ext>
              </a:extLst>
            </a:blip>
            <a:stretch>
              <a:fillRect t="-107" b="-107"/>
            </a:stretch>
          </a:blipFill>
        </p:spPr>
        <p:txBody>
          <a:bodyPr/>
          <a:lstStyle/>
          <a:p>
            <a:endParaRPr lang="en-US"/>
          </a:p>
        </p:txBody>
      </p:sp>
      <p:sp>
        <p:nvSpPr>
          <p:cNvPr id="10" name="Freeform 10"/>
          <p:cNvSpPr/>
          <p:nvPr/>
        </p:nvSpPr>
        <p:spPr>
          <a:xfrm>
            <a:off x="3666973" y="8871385"/>
            <a:ext cx="1150458" cy="1301963"/>
          </a:xfrm>
          <a:custGeom>
            <a:avLst/>
            <a:gdLst/>
            <a:ahLst/>
            <a:cxnLst/>
            <a:rect l="l" t="t" r="r" b="b"/>
            <a:pathLst>
              <a:path w="1150458" h="1301963">
                <a:moveTo>
                  <a:pt x="0" y="0"/>
                </a:moveTo>
                <a:lnTo>
                  <a:pt x="1150458" y="0"/>
                </a:lnTo>
                <a:lnTo>
                  <a:pt x="1150458" y="1301963"/>
                </a:lnTo>
                <a:lnTo>
                  <a:pt x="0" y="1301963"/>
                </a:lnTo>
                <a:lnTo>
                  <a:pt x="0" y="0"/>
                </a:lnTo>
                <a:close/>
              </a:path>
            </a:pathLst>
          </a:custGeom>
          <a:blipFill>
            <a:blip r:embed="rId10">
              <a:extLst>
                <a:ext uri="{96DAC541-7B7A-43D3-8B79-37D633B846F1}">
                  <asvg:svgBlip xmlns:asvg="http://schemas.microsoft.com/office/drawing/2016/SVG/main" r:embed="rId11"/>
                </a:ext>
              </a:extLst>
            </a:blip>
            <a:stretch>
              <a:fillRect t="-389" b="-389"/>
            </a:stretch>
          </a:blipFill>
        </p:spPr>
        <p:txBody>
          <a:bodyPr/>
          <a:lstStyle/>
          <a:p>
            <a:endParaRPr lang="en-US"/>
          </a:p>
        </p:txBody>
      </p:sp>
      <p:sp>
        <p:nvSpPr>
          <p:cNvPr id="11" name="Freeform 11"/>
          <p:cNvSpPr/>
          <p:nvPr/>
        </p:nvSpPr>
        <p:spPr>
          <a:xfrm>
            <a:off x="618353" y="2038493"/>
            <a:ext cx="820693" cy="769953"/>
          </a:xfrm>
          <a:custGeom>
            <a:avLst/>
            <a:gdLst/>
            <a:ahLst/>
            <a:cxnLst/>
            <a:rect l="l" t="t" r="r" b="b"/>
            <a:pathLst>
              <a:path w="820693" h="769953">
                <a:moveTo>
                  <a:pt x="0" y="0"/>
                </a:moveTo>
                <a:lnTo>
                  <a:pt x="820694" y="0"/>
                </a:lnTo>
                <a:lnTo>
                  <a:pt x="820694" y="769953"/>
                </a:lnTo>
                <a:lnTo>
                  <a:pt x="0" y="769953"/>
                </a:lnTo>
                <a:lnTo>
                  <a:pt x="0" y="0"/>
                </a:lnTo>
                <a:close/>
              </a:path>
            </a:pathLst>
          </a:custGeom>
          <a:blipFill>
            <a:blip r:embed="rId12">
              <a:extLst>
                <a:ext uri="{96DAC541-7B7A-43D3-8B79-37D633B846F1}">
                  <asvg:svgBlip xmlns:asvg="http://schemas.microsoft.com/office/drawing/2016/SVG/main" r:embed="rId13"/>
                </a:ext>
              </a:extLst>
            </a:blip>
            <a:stretch>
              <a:fillRect l="-384" r="-382"/>
            </a:stretch>
          </a:blipFill>
        </p:spPr>
        <p:txBody>
          <a:bodyPr/>
          <a:lstStyle/>
          <a:p>
            <a:endParaRPr lang="en-US"/>
          </a:p>
        </p:txBody>
      </p:sp>
      <p:sp>
        <p:nvSpPr>
          <p:cNvPr id="12" name="Freeform 12"/>
          <p:cNvSpPr/>
          <p:nvPr/>
        </p:nvSpPr>
        <p:spPr>
          <a:xfrm>
            <a:off x="17238650" y="436255"/>
            <a:ext cx="1049350" cy="803224"/>
          </a:xfrm>
          <a:custGeom>
            <a:avLst/>
            <a:gdLst/>
            <a:ahLst/>
            <a:cxnLst/>
            <a:rect l="l" t="t" r="r" b="b"/>
            <a:pathLst>
              <a:path w="1049350" h="803224">
                <a:moveTo>
                  <a:pt x="0" y="0"/>
                </a:moveTo>
                <a:lnTo>
                  <a:pt x="1049350" y="0"/>
                </a:lnTo>
                <a:lnTo>
                  <a:pt x="1049350" y="803224"/>
                </a:lnTo>
                <a:lnTo>
                  <a:pt x="0" y="803224"/>
                </a:lnTo>
                <a:lnTo>
                  <a:pt x="0" y="0"/>
                </a:lnTo>
                <a:close/>
              </a:path>
            </a:pathLst>
          </a:custGeom>
          <a:blipFill>
            <a:blip r:embed="rId14">
              <a:extLst>
                <a:ext uri="{96DAC541-7B7A-43D3-8B79-37D633B846F1}">
                  <asvg:svgBlip xmlns:asvg="http://schemas.microsoft.com/office/drawing/2016/SVG/main" r:embed="rId15"/>
                </a:ext>
              </a:extLst>
            </a:blip>
            <a:stretch>
              <a:fillRect t="-20" b="-21"/>
            </a:stretch>
          </a:blipFill>
        </p:spPr>
        <p:txBody>
          <a:bodyPr/>
          <a:lstStyle/>
          <a:p>
            <a:endParaRPr lang="en-US"/>
          </a:p>
        </p:txBody>
      </p:sp>
      <p:sp>
        <p:nvSpPr>
          <p:cNvPr id="13" name="Freeform 13"/>
          <p:cNvSpPr/>
          <p:nvPr/>
        </p:nvSpPr>
        <p:spPr>
          <a:xfrm>
            <a:off x="13981759" y="155729"/>
            <a:ext cx="4381243" cy="832437"/>
          </a:xfrm>
          <a:custGeom>
            <a:avLst/>
            <a:gdLst/>
            <a:ahLst/>
            <a:cxnLst/>
            <a:rect l="l" t="t" r="r" b="b"/>
            <a:pathLst>
              <a:path w="4381243" h="832437">
                <a:moveTo>
                  <a:pt x="0" y="0"/>
                </a:moveTo>
                <a:lnTo>
                  <a:pt x="4381242" y="0"/>
                </a:lnTo>
                <a:lnTo>
                  <a:pt x="4381242" y="832437"/>
                </a:lnTo>
                <a:lnTo>
                  <a:pt x="0" y="832437"/>
                </a:lnTo>
                <a:lnTo>
                  <a:pt x="0" y="0"/>
                </a:lnTo>
                <a:close/>
              </a:path>
            </a:pathLst>
          </a:custGeom>
          <a:blipFill>
            <a:blip r:embed="rId16"/>
            <a:stretch>
              <a:fillRect/>
            </a:stretch>
          </a:blipFill>
        </p:spPr>
        <p:txBody>
          <a:bodyPr/>
          <a:lstStyle/>
          <a:p>
            <a:endParaRPr lang="en-US"/>
          </a:p>
        </p:txBody>
      </p:sp>
      <p:sp>
        <p:nvSpPr>
          <p:cNvPr id="14" name="Freeform 14"/>
          <p:cNvSpPr/>
          <p:nvPr/>
        </p:nvSpPr>
        <p:spPr>
          <a:xfrm>
            <a:off x="0" y="8114900"/>
            <a:ext cx="2188016" cy="2172100"/>
          </a:xfrm>
          <a:custGeom>
            <a:avLst/>
            <a:gdLst/>
            <a:ahLst/>
            <a:cxnLst/>
            <a:rect l="l" t="t" r="r" b="b"/>
            <a:pathLst>
              <a:path w="2188016" h="2172100">
                <a:moveTo>
                  <a:pt x="0" y="0"/>
                </a:moveTo>
                <a:lnTo>
                  <a:pt x="2188016" y="0"/>
                </a:lnTo>
                <a:lnTo>
                  <a:pt x="2188016" y="2172100"/>
                </a:lnTo>
                <a:lnTo>
                  <a:pt x="0" y="2172100"/>
                </a:lnTo>
                <a:lnTo>
                  <a:pt x="0" y="0"/>
                </a:lnTo>
                <a:close/>
              </a:path>
            </a:pathLst>
          </a:custGeom>
          <a:blipFill>
            <a:blip r:embed="rId17">
              <a:extLst>
                <a:ext uri="{96DAC541-7B7A-43D3-8B79-37D633B846F1}">
                  <asvg:svgBlip xmlns:asvg="http://schemas.microsoft.com/office/drawing/2016/SVG/main" r:embed="rId18"/>
                </a:ext>
              </a:extLst>
            </a:blip>
            <a:stretch>
              <a:fillRect t="-147" b="-147"/>
            </a:stretch>
          </a:blipFill>
        </p:spPr>
        <p:txBody>
          <a:bodyPr/>
          <a:lstStyle/>
          <a:p>
            <a:endParaRPr lang="en-US"/>
          </a:p>
        </p:txBody>
      </p:sp>
      <p:sp>
        <p:nvSpPr>
          <p:cNvPr id="15" name="TextBox 15"/>
          <p:cNvSpPr txBox="1"/>
          <p:nvPr/>
        </p:nvSpPr>
        <p:spPr>
          <a:xfrm>
            <a:off x="1517898" y="1962293"/>
            <a:ext cx="15451200" cy="3980180"/>
          </a:xfrm>
          <a:prstGeom prst="rect">
            <a:avLst/>
          </a:prstGeom>
        </p:spPr>
        <p:txBody>
          <a:bodyPr lIns="0" tIns="0" rIns="0" bIns="0" rtlCol="0" anchor="t">
            <a:spAutoFit/>
          </a:bodyPr>
          <a:lstStyle/>
          <a:p>
            <a:pPr algn="l">
              <a:lnSpc>
                <a:spcPts val="5320"/>
              </a:lnSpc>
            </a:pPr>
            <a:r>
              <a:rPr lang="en-US" sz="3800" b="1">
                <a:solidFill>
                  <a:srgbClr val="1A1C1E"/>
                </a:solidFill>
                <a:latin typeface="Inter Bold"/>
                <a:ea typeface="Inter Bold"/>
                <a:cs typeface="Inter Bold"/>
                <a:sym typeface="Inter Bold"/>
              </a:rPr>
              <a:t>Giữ vai trò:</a:t>
            </a:r>
          </a:p>
          <a:p>
            <a:pPr marL="820421" lvl="1" indent="-410210" algn="l">
              <a:lnSpc>
                <a:spcPts val="5320"/>
              </a:lnSpc>
              <a:buFont typeface="Arial"/>
              <a:buChar char="•"/>
            </a:pPr>
            <a:r>
              <a:rPr lang="en-US" sz="3800">
                <a:solidFill>
                  <a:srgbClr val="1A1C1E"/>
                </a:solidFill>
                <a:latin typeface="Inter"/>
                <a:ea typeface="Inter"/>
                <a:cs typeface="Inter"/>
                <a:sym typeface="Inter"/>
              </a:rPr>
              <a:t>Đảm bảo Luật được triển khai hiệu quả</a:t>
            </a:r>
          </a:p>
          <a:p>
            <a:pPr marL="820421" lvl="1" indent="-410210" algn="l">
              <a:lnSpc>
                <a:spcPts val="5320"/>
              </a:lnSpc>
              <a:buFont typeface="Arial"/>
              <a:buChar char="•"/>
            </a:pPr>
            <a:r>
              <a:rPr lang="en-US" sz="3800">
                <a:solidFill>
                  <a:srgbClr val="1A1C1E"/>
                </a:solidFill>
                <a:latin typeface="Inter"/>
                <a:ea typeface="Inter"/>
                <a:cs typeface="Inter"/>
                <a:sym typeface="Inter"/>
              </a:rPr>
              <a:t>Tạo cơ sở pháp lý cho các cơ quan, tổ chức và cá nhân thực hiện</a:t>
            </a:r>
          </a:p>
          <a:p>
            <a:pPr algn="l">
              <a:lnSpc>
                <a:spcPts val="5320"/>
              </a:lnSpc>
            </a:pPr>
            <a:r>
              <a:rPr lang="en-US" sz="3800" b="1">
                <a:solidFill>
                  <a:srgbClr val="1A1C1E"/>
                </a:solidFill>
                <a:latin typeface="Inter Bold"/>
                <a:ea typeface="Inter Bold"/>
                <a:cs typeface="Inter Bold"/>
                <a:sym typeface="Inter Bold"/>
              </a:rPr>
              <a:t>Góp phần:</a:t>
            </a:r>
          </a:p>
          <a:p>
            <a:pPr marL="820421" lvl="1" indent="-410210" algn="l">
              <a:lnSpc>
                <a:spcPts val="5320"/>
              </a:lnSpc>
              <a:buFont typeface="Arial"/>
              <a:buChar char="•"/>
            </a:pPr>
            <a:r>
              <a:rPr lang="en-US" sz="3800">
                <a:solidFill>
                  <a:srgbClr val="1A1C1E"/>
                </a:solidFill>
                <a:latin typeface="Inter"/>
                <a:ea typeface="Inter"/>
                <a:cs typeface="Inter"/>
                <a:sym typeface="Inter"/>
              </a:rPr>
              <a:t>Xây dựng môi trường CNTT an toàn</a:t>
            </a:r>
          </a:p>
          <a:p>
            <a:pPr marL="820421" lvl="1" indent="-410210" algn="l">
              <a:lnSpc>
                <a:spcPts val="5320"/>
              </a:lnSpc>
              <a:buFont typeface="Arial"/>
              <a:buChar char="•"/>
            </a:pPr>
            <a:r>
              <a:rPr lang="en-US" sz="3800">
                <a:solidFill>
                  <a:srgbClr val="1A1C1E"/>
                </a:solidFill>
                <a:latin typeface="Inter"/>
                <a:ea typeface="Inter"/>
                <a:cs typeface="Inter"/>
                <a:sym typeface="Inter"/>
              </a:rPr>
              <a:t>Thúc đẩy phát triển xã hội số</a:t>
            </a:r>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Noto Sans"/>
                <a:ea typeface="Noto Sans"/>
                <a:cs typeface="Noto Sans"/>
                <a:sym typeface="Noto Sans"/>
              </a:rPr>
              <a:t>48</a:t>
            </a:r>
          </a:p>
        </p:txBody>
      </p:sp>
      <p:grpSp>
        <p:nvGrpSpPr>
          <p:cNvPr id="17" name="Group 17"/>
          <p:cNvGrpSpPr/>
          <p:nvPr/>
        </p:nvGrpSpPr>
        <p:grpSpPr>
          <a:xfrm>
            <a:off x="12217765" y="9258300"/>
            <a:ext cx="6070235" cy="905716"/>
            <a:chOff x="0" y="0"/>
            <a:chExt cx="8093646" cy="1207622"/>
          </a:xfrm>
        </p:grpSpPr>
        <p:sp>
          <p:nvSpPr>
            <p:cNvPr id="18" name="Freeform 18"/>
            <p:cNvSpPr/>
            <p:nvPr/>
          </p:nvSpPr>
          <p:spPr>
            <a:xfrm>
              <a:off x="0" y="0"/>
              <a:ext cx="8093649" cy="1207620"/>
            </a:xfrm>
            <a:custGeom>
              <a:avLst/>
              <a:gdLst/>
              <a:ahLst/>
              <a:cxnLst/>
              <a:rect l="l" t="t" r="r" b="b"/>
              <a:pathLst>
                <a:path w="8093649" h="1207620">
                  <a:moveTo>
                    <a:pt x="0" y="0"/>
                  </a:moveTo>
                  <a:lnTo>
                    <a:pt x="8093649" y="0"/>
                  </a:lnTo>
                  <a:lnTo>
                    <a:pt x="8093649" y="1207620"/>
                  </a:lnTo>
                  <a:lnTo>
                    <a:pt x="0" y="1207620"/>
                  </a:lnTo>
                  <a:close/>
                </a:path>
              </a:pathLst>
            </a:custGeom>
            <a:solidFill>
              <a:srgbClr val="000000">
                <a:alpha val="0"/>
              </a:srgbClr>
            </a:solidFill>
            <a:ln w="12700">
              <a:noFill/>
            </a:ln>
          </p:spPr>
          <p:txBody>
            <a:bodyPr/>
            <a:lstStyle/>
            <a:p>
              <a:endParaRPr lang="en-US"/>
            </a:p>
          </p:txBody>
        </p:sp>
        <p:sp>
          <p:nvSpPr>
            <p:cNvPr id="19" name="TextBox 19"/>
            <p:cNvSpPr txBox="1"/>
            <p:nvPr/>
          </p:nvSpPr>
          <p:spPr>
            <a:xfrm>
              <a:off x="0" y="0"/>
              <a:ext cx="8093646" cy="1207622"/>
            </a:xfrm>
            <a:prstGeom prst="rect">
              <a:avLst/>
            </a:prstGeom>
            <a:ln>
              <a:noFill/>
            </a:ln>
          </p:spPr>
          <p:txBody>
            <a:bodyPr lIns="0" tIns="0" rIns="0" bIns="0" rtlCol="0" anchor="ctr"/>
            <a:lstStyle/>
            <a:p>
              <a:pPr algn="ctr">
                <a:lnSpc>
                  <a:spcPts val="2400"/>
                </a:lnSpc>
              </a:pPr>
              <a:r>
                <a:rPr lang="en-US" sz="2000">
                  <a:solidFill>
                    <a:srgbClr val="002060"/>
                  </a:solidFill>
                  <a:latin typeface="Paytone One"/>
                  <a:ea typeface="Paytone One"/>
                  <a:cs typeface="Paytone One"/>
                  <a:sym typeface="Paytone One"/>
                </a:rPr>
                <a:t>2251120074 - Nguyễn Xuân Dự</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p:cNvGrpSpPr/>
        <p:nvPr/>
      </p:nvGrpSpPr>
      <p:grpSpPr>
        <a:xfrm>
          <a:off x="0" y="0"/>
          <a:ext cx="0" cy="0"/>
          <a:chOff x="0" y="0"/>
          <a:chExt cx="0" cy="0"/>
        </a:xfrm>
      </p:grpSpPr>
      <p:sp>
        <p:nvSpPr>
          <p:cNvPr id="2" name="Freeform 2"/>
          <p:cNvSpPr/>
          <p:nvPr/>
        </p:nvSpPr>
        <p:spPr>
          <a:xfrm>
            <a:off x="-555629" y="6252845"/>
            <a:ext cx="11100708" cy="4240529"/>
          </a:xfrm>
          <a:custGeom>
            <a:avLst/>
            <a:gdLst/>
            <a:ahLst/>
            <a:cxnLst/>
            <a:rect l="l" t="t" r="r" b="b"/>
            <a:pathLst>
              <a:path w="11100708" h="4240529">
                <a:moveTo>
                  <a:pt x="0" y="0"/>
                </a:moveTo>
                <a:lnTo>
                  <a:pt x="11100708" y="0"/>
                </a:lnTo>
                <a:lnTo>
                  <a:pt x="11100708" y="4240529"/>
                </a:lnTo>
                <a:lnTo>
                  <a:pt x="0" y="4240529"/>
                </a:lnTo>
                <a:lnTo>
                  <a:pt x="0" y="0"/>
                </a:lnTo>
                <a:close/>
              </a:path>
            </a:pathLst>
          </a:custGeom>
          <a:blipFill>
            <a:blip r:embed="rId2">
              <a:extLst>
                <a:ext uri="{96DAC541-7B7A-43D3-8B79-37D633B846F1}">
                  <asvg:svgBlip xmlns:asvg="http://schemas.microsoft.com/office/drawing/2016/SVG/main" r:embed="rId3"/>
                </a:ext>
              </a:extLst>
            </a:blip>
            <a:stretch>
              <a:fillRect l="-38801" b="-62516"/>
            </a:stretch>
          </a:blipFill>
        </p:spPr>
        <p:txBody>
          <a:bodyPr/>
          <a:lstStyle/>
          <a:p>
            <a:endParaRPr lang="en-US"/>
          </a:p>
        </p:txBody>
      </p:sp>
      <p:sp>
        <p:nvSpPr>
          <p:cNvPr id="3" name="Freeform 3"/>
          <p:cNvSpPr/>
          <p:nvPr/>
        </p:nvSpPr>
        <p:spPr>
          <a:xfrm>
            <a:off x="-183407" y="7034533"/>
            <a:ext cx="10356263" cy="3956148"/>
          </a:xfrm>
          <a:custGeom>
            <a:avLst/>
            <a:gdLst/>
            <a:ahLst/>
            <a:cxnLst/>
            <a:rect l="l" t="t" r="r" b="b"/>
            <a:pathLst>
              <a:path w="10356263" h="3956148">
                <a:moveTo>
                  <a:pt x="0" y="0"/>
                </a:moveTo>
                <a:lnTo>
                  <a:pt x="10356264" y="0"/>
                </a:lnTo>
                <a:lnTo>
                  <a:pt x="10356264" y="3956147"/>
                </a:lnTo>
                <a:lnTo>
                  <a:pt x="0" y="3956147"/>
                </a:lnTo>
                <a:lnTo>
                  <a:pt x="0" y="0"/>
                </a:lnTo>
                <a:close/>
              </a:path>
            </a:pathLst>
          </a:custGeom>
          <a:blipFill>
            <a:blip r:embed="rId4">
              <a:extLst>
                <a:ext uri="{96DAC541-7B7A-43D3-8B79-37D633B846F1}">
                  <asvg:svgBlip xmlns:asvg="http://schemas.microsoft.com/office/drawing/2016/SVG/main" r:embed="rId5"/>
                </a:ext>
              </a:extLst>
            </a:blip>
            <a:stretch>
              <a:fillRect l="-38801" b="-62516"/>
            </a:stretch>
          </a:blipFill>
        </p:spPr>
        <p:txBody>
          <a:bodyPr/>
          <a:lstStyle/>
          <a:p>
            <a:endParaRPr lang="en-US"/>
          </a:p>
        </p:txBody>
      </p:sp>
      <p:sp>
        <p:nvSpPr>
          <p:cNvPr id="4" name="Freeform 4"/>
          <p:cNvSpPr/>
          <p:nvPr/>
        </p:nvSpPr>
        <p:spPr>
          <a:xfrm rot="6524213">
            <a:off x="24749" y="6304089"/>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10800000">
            <a:off x="6504620" y="-4586655"/>
            <a:ext cx="12393335" cy="14658783"/>
          </a:xfrm>
          <a:custGeom>
            <a:avLst/>
            <a:gdLst/>
            <a:ahLst/>
            <a:cxnLst/>
            <a:rect l="l" t="t" r="r" b="b"/>
            <a:pathLst>
              <a:path w="12393335" h="14658783">
                <a:moveTo>
                  <a:pt x="0" y="0"/>
                </a:moveTo>
                <a:lnTo>
                  <a:pt x="12393335" y="0"/>
                </a:lnTo>
                <a:lnTo>
                  <a:pt x="12393335" y="14658783"/>
                </a:lnTo>
                <a:lnTo>
                  <a:pt x="0" y="146587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p:cNvSpPr/>
          <p:nvPr/>
        </p:nvSpPr>
        <p:spPr>
          <a:xfrm rot="-10800000">
            <a:off x="8601899" y="-3978960"/>
            <a:ext cx="10296056" cy="12178131"/>
          </a:xfrm>
          <a:custGeom>
            <a:avLst/>
            <a:gdLst/>
            <a:ahLst/>
            <a:cxnLst/>
            <a:rect l="l" t="t" r="r" b="b"/>
            <a:pathLst>
              <a:path w="10296056" h="12178131">
                <a:moveTo>
                  <a:pt x="0" y="0"/>
                </a:moveTo>
                <a:lnTo>
                  <a:pt x="10296056" y="0"/>
                </a:lnTo>
                <a:lnTo>
                  <a:pt x="10296056" y="12178131"/>
                </a:lnTo>
                <a:lnTo>
                  <a:pt x="0" y="121781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7" name="Freeform 7"/>
          <p:cNvSpPr/>
          <p:nvPr/>
        </p:nvSpPr>
        <p:spPr>
          <a:xfrm>
            <a:off x="9979863" y="-4371248"/>
            <a:ext cx="9907794" cy="8736873"/>
          </a:xfrm>
          <a:custGeom>
            <a:avLst/>
            <a:gdLst/>
            <a:ahLst/>
            <a:cxnLst/>
            <a:rect l="l" t="t" r="r" b="b"/>
            <a:pathLst>
              <a:path w="9907794" h="8736873">
                <a:moveTo>
                  <a:pt x="0" y="0"/>
                </a:moveTo>
                <a:lnTo>
                  <a:pt x="9907794" y="0"/>
                </a:lnTo>
                <a:lnTo>
                  <a:pt x="9907794" y="8736873"/>
                </a:lnTo>
                <a:lnTo>
                  <a:pt x="0" y="8736873"/>
                </a:lnTo>
                <a:lnTo>
                  <a:pt x="0" y="0"/>
                </a:lnTo>
                <a:close/>
              </a:path>
            </a:pathLst>
          </a:custGeom>
          <a:blipFill>
            <a:blip r:embed="rId12">
              <a:alphaModFix amt="50000"/>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8" name="Group 8"/>
          <p:cNvGrpSpPr/>
          <p:nvPr/>
        </p:nvGrpSpPr>
        <p:grpSpPr>
          <a:xfrm>
            <a:off x="9514516" y="2635252"/>
            <a:ext cx="6745177" cy="5830049"/>
            <a:chOff x="0" y="0"/>
            <a:chExt cx="913527" cy="789588"/>
          </a:xfrm>
        </p:grpSpPr>
        <p:sp>
          <p:nvSpPr>
            <p:cNvPr id="9" name="Freeform 9"/>
            <p:cNvSpPr/>
            <p:nvPr/>
          </p:nvSpPr>
          <p:spPr>
            <a:xfrm>
              <a:off x="0" y="0"/>
              <a:ext cx="913527" cy="789588"/>
            </a:xfrm>
            <a:custGeom>
              <a:avLst/>
              <a:gdLst/>
              <a:ahLst/>
              <a:cxnLst/>
              <a:rect l="l" t="t" r="r" b="b"/>
              <a:pathLst>
                <a:path w="913527" h="789588">
                  <a:moveTo>
                    <a:pt x="28694" y="0"/>
                  </a:moveTo>
                  <a:lnTo>
                    <a:pt x="884833" y="0"/>
                  </a:lnTo>
                  <a:cubicBezTo>
                    <a:pt x="892443" y="0"/>
                    <a:pt x="899742" y="3023"/>
                    <a:pt x="905123" y="8404"/>
                  </a:cubicBezTo>
                  <a:cubicBezTo>
                    <a:pt x="910504" y="13786"/>
                    <a:pt x="913527" y="21084"/>
                    <a:pt x="913527" y="28694"/>
                  </a:cubicBezTo>
                  <a:lnTo>
                    <a:pt x="913527" y="760893"/>
                  </a:lnTo>
                  <a:cubicBezTo>
                    <a:pt x="913527" y="768504"/>
                    <a:pt x="910504" y="775802"/>
                    <a:pt x="905123" y="781183"/>
                  </a:cubicBezTo>
                  <a:cubicBezTo>
                    <a:pt x="899742" y="786565"/>
                    <a:pt x="892443" y="789588"/>
                    <a:pt x="884833" y="789588"/>
                  </a:cubicBezTo>
                  <a:lnTo>
                    <a:pt x="28694" y="789588"/>
                  </a:lnTo>
                  <a:cubicBezTo>
                    <a:pt x="21084" y="789588"/>
                    <a:pt x="13786" y="786565"/>
                    <a:pt x="8404" y="781183"/>
                  </a:cubicBezTo>
                  <a:cubicBezTo>
                    <a:pt x="3023" y="775802"/>
                    <a:pt x="0" y="768504"/>
                    <a:pt x="0" y="760893"/>
                  </a:cubicBezTo>
                  <a:lnTo>
                    <a:pt x="0" y="28694"/>
                  </a:lnTo>
                  <a:cubicBezTo>
                    <a:pt x="0" y="21084"/>
                    <a:pt x="3023" y="13786"/>
                    <a:pt x="8404" y="8404"/>
                  </a:cubicBezTo>
                  <a:cubicBezTo>
                    <a:pt x="13786" y="3023"/>
                    <a:pt x="21084" y="0"/>
                    <a:pt x="28694" y="0"/>
                  </a:cubicBezTo>
                  <a:close/>
                </a:path>
              </a:pathLst>
            </a:custGeom>
            <a:blipFill>
              <a:blip r:embed="rId14"/>
              <a:stretch>
                <a:fillRect l="-14865" r="-14865"/>
              </a:stretch>
            </a:blipFill>
            <a:ln cap="rnd">
              <a:noFill/>
              <a:prstDash val="solid"/>
              <a:round/>
            </a:ln>
          </p:spPr>
          <p:txBody>
            <a:bodyPr/>
            <a:lstStyle/>
            <a:p>
              <a:endParaRPr lang="en-US"/>
            </a:p>
          </p:txBody>
        </p:sp>
      </p:grpSp>
      <p:sp>
        <p:nvSpPr>
          <p:cNvPr id="10" name="AutoShape 10"/>
          <p:cNvSpPr/>
          <p:nvPr/>
        </p:nvSpPr>
        <p:spPr>
          <a:xfrm flipV="1">
            <a:off x="1811549" y="2179729"/>
            <a:ext cx="14815182" cy="0"/>
          </a:xfrm>
          <a:prstGeom prst="line">
            <a:avLst/>
          </a:prstGeom>
          <a:ln w="38100" cap="rnd">
            <a:solidFill>
              <a:srgbClr val="BD8A65">
                <a:alpha val="40000"/>
              </a:srgbClr>
            </a:solidFill>
            <a:prstDash val="solid"/>
            <a:headEnd type="none" w="sm" len="sm"/>
            <a:tailEnd type="none" w="sm" len="sm"/>
          </a:ln>
        </p:spPr>
        <p:txBody>
          <a:bodyPr/>
          <a:lstStyle/>
          <a:p>
            <a:endParaRPr lang="en-US"/>
          </a:p>
        </p:txBody>
      </p:sp>
      <p:sp>
        <p:nvSpPr>
          <p:cNvPr id="11" name="Freeform 11"/>
          <p:cNvSpPr/>
          <p:nvPr/>
        </p:nvSpPr>
        <p:spPr>
          <a:xfrm>
            <a:off x="2382221" y="7892666"/>
            <a:ext cx="248071" cy="310089"/>
          </a:xfrm>
          <a:custGeom>
            <a:avLst/>
            <a:gdLst/>
            <a:ahLst/>
            <a:cxnLst/>
            <a:rect l="l" t="t" r="r" b="b"/>
            <a:pathLst>
              <a:path w="248071" h="310089">
                <a:moveTo>
                  <a:pt x="0" y="0"/>
                </a:moveTo>
                <a:lnTo>
                  <a:pt x="248071" y="0"/>
                </a:lnTo>
                <a:lnTo>
                  <a:pt x="248071" y="310089"/>
                </a:lnTo>
                <a:lnTo>
                  <a:pt x="0" y="31008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2" name="Freeform 12"/>
          <p:cNvSpPr/>
          <p:nvPr/>
        </p:nvSpPr>
        <p:spPr>
          <a:xfrm>
            <a:off x="2339370" y="7130144"/>
            <a:ext cx="327176" cy="327176"/>
          </a:xfrm>
          <a:custGeom>
            <a:avLst/>
            <a:gdLst/>
            <a:ahLst/>
            <a:cxnLst/>
            <a:rect l="l" t="t" r="r" b="b"/>
            <a:pathLst>
              <a:path w="327176" h="327176">
                <a:moveTo>
                  <a:pt x="0" y="0"/>
                </a:moveTo>
                <a:lnTo>
                  <a:pt x="327177" y="0"/>
                </a:lnTo>
                <a:lnTo>
                  <a:pt x="327177" y="327177"/>
                </a:lnTo>
                <a:lnTo>
                  <a:pt x="0" y="327177"/>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13" name="Freeform 13"/>
          <p:cNvSpPr/>
          <p:nvPr/>
        </p:nvSpPr>
        <p:spPr>
          <a:xfrm>
            <a:off x="12887105" y="5151107"/>
            <a:ext cx="6018542" cy="6096129"/>
          </a:xfrm>
          <a:custGeom>
            <a:avLst/>
            <a:gdLst/>
            <a:ahLst/>
            <a:cxnLst/>
            <a:rect l="l" t="t" r="r" b="b"/>
            <a:pathLst>
              <a:path w="6018542" h="6096129">
                <a:moveTo>
                  <a:pt x="0" y="0"/>
                </a:moveTo>
                <a:lnTo>
                  <a:pt x="6018541" y="0"/>
                </a:lnTo>
                <a:lnTo>
                  <a:pt x="6018541" y="6096129"/>
                </a:lnTo>
                <a:lnTo>
                  <a:pt x="0" y="60961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14" name="TextBox 14"/>
          <p:cNvSpPr txBox="1"/>
          <p:nvPr/>
        </p:nvSpPr>
        <p:spPr>
          <a:xfrm>
            <a:off x="1559240" y="3183372"/>
            <a:ext cx="7487198" cy="3241913"/>
          </a:xfrm>
          <a:prstGeom prst="rect">
            <a:avLst/>
          </a:prstGeom>
        </p:spPr>
        <p:txBody>
          <a:bodyPr lIns="0" tIns="0" rIns="0" bIns="0" rtlCol="0" anchor="t">
            <a:spAutoFit/>
          </a:bodyPr>
          <a:lstStyle/>
          <a:p>
            <a:pPr algn="ctr">
              <a:lnSpc>
                <a:spcPts val="8593"/>
              </a:lnSpc>
            </a:pPr>
            <a:r>
              <a:rPr lang="en-US" sz="7161" b="1" dirty="0">
                <a:solidFill>
                  <a:srgbClr val="171814"/>
                </a:solidFill>
                <a:latin typeface="Arial" panose="020B0604020202020204" pitchFamily="34" charset="0"/>
                <a:ea typeface="Agrandir Bold"/>
                <a:cs typeface="Arial" panose="020B0604020202020204" pitchFamily="34" charset="0"/>
                <a:sym typeface="Agrandir Bold"/>
              </a:rPr>
              <a:t>CẢM ƠN THẦY &amp; CÁC BẠN </a:t>
            </a:r>
          </a:p>
          <a:p>
            <a:pPr algn="ctr">
              <a:lnSpc>
                <a:spcPts val="8593"/>
              </a:lnSpc>
            </a:pPr>
            <a:r>
              <a:rPr lang="en-US" sz="7161" b="1" dirty="0">
                <a:solidFill>
                  <a:srgbClr val="171814"/>
                </a:solidFill>
                <a:latin typeface="Arial" panose="020B0604020202020204" pitchFamily="34" charset="0"/>
                <a:ea typeface="Agrandir Bold"/>
                <a:cs typeface="Arial" panose="020B0604020202020204" pitchFamily="34" charset="0"/>
                <a:sym typeface="Agrandir Bold"/>
              </a:rPr>
              <a:t>ĐÃ LẮNG NGHE</a:t>
            </a:r>
          </a:p>
        </p:txBody>
      </p:sp>
      <p:sp>
        <p:nvSpPr>
          <p:cNvPr id="15" name="TextBox 15"/>
          <p:cNvSpPr txBox="1"/>
          <p:nvPr/>
        </p:nvSpPr>
        <p:spPr>
          <a:xfrm>
            <a:off x="1811549" y="1464754"/>
            <a:ext cx="4894051" cy="396968"/>
          </a:xfrm>
          <a:prstGeom prst="rect">
            <a:avLst/>
          </a:prstGeom>
        </p:spPr>
        <p:txBody>
          <a:bodyPr wrap="square" lIns="0" tIns="0" rIns="0" bIns="0" rtlCol="0" anchor="t">
            <a:spAutoFit/>
          </a:bodyPr>
          <a:lstStyle/>
          <a:p>
            <a:pPr marL="0" lvl="0" indent="0" algn="l">
              <a:lnSpc>
                <a:spcPts val="3357"/>
              </a:lnSpc>
              <a:spcBef>
                <a:spcPct val="0"/>
              </a:spcBef>
            </a:pPr>
            <a:r>
              <a:rPr lang="en-US" sz="2398" spc="-47" dirty="0">
                <a:solidFill>
                  <a:srgbClr val="171814"/>
                </a:solidFill>
                <a:latin typeface="Arial" panose="020B0604020202020204" pitchFamily="34" charset="0"/>
                <a:ea typeface="Poppins"/>
                <a:cs typeface="Arial" panose="020B0604020202020204" pitchFamily="34" charset="0"/>
                <a:sym typeface="Poppins"/>
              </a:rPr>
              <a:t>LUẬT CÔNG NGHỆ THÔNG TIN</a:t>
            </a:r>
          </a:p>
        </p:txBody>
      </p:sp>
      <p:sp>
        <p:nvSpPr>
          <p:cNvPr id="16" name="TextBox 16"/>
          <p:cNvSpPr txBox="1"/>
          <p:nvPr/>
        </p:nvSpPr>
        <p:spPr>
          <a:xfrm>
            <a:off x="2862034" y="7047987"/>
            <a:ext cx="3538566" cy="397032"/>
          </a:xfrm>
          <a:prstGeom prst="rect">
            <a:avLst/>
          </a:prstGeom>
        </p:spPr>
        <p:txBody>
          <a:bodyPr lIns="0" tIns="0" rIns="0" bIns="0" rtlCol="0" anchor="t">
            <a:spAutoFit/>
          </a:bodyPr>
          <a:lstStyle/>
          <a:p>
            <a:pPr marL="0" lvl="1" indent="0" algn="l">
              <a:lnSpc>
                <a:spcPts val="3359"/>
              </a:lnSpc>
              <a:spcBef>
                <a:spcPct val="0"/>
              </a:spcBef>
            </a:pPr>
            <a:r>
              <a:rPr lang="en-US" sz="2400" b="1" dirty="0" err="1">
                <a:solidFill>
                  <a:srgbClr val="171814"/>
                </a:solidFill>
                <a:latin typeface="Arial" panose="020B0604020202020204" pitchFamily="34" charset="0"/>
                <a:ea typeface="Poppins Bold"/>
                <a:cs typeface="Arial" panose="020B0604020202020204" pitchFamily="34" charset="0"/>
                <a:sym typeface="Poppins Bold"/>
              </a:rPr>
              <a:t>Thực</a:t>
            </a:r>
            <a:r>
              <a:rPr lang="en-US" sz="2400" b="1" dirty="0">
                <a:solidFill>
                  <a:srgbClr val="171814"/>
                </a:solidFill>
                <a:latin typeface="Arial" panose="020B0604020202020204" pitchFamily="34" charset="0"/>
                <a:ea typeface="Poppins Bold"/>
                <a:cs typeface="Arial" panose="020B0604020202020204" pitchFamily="34" charset="0"/>
                <a:sym typeface="Poppins Bold"/>
              </a:rPr>
              <a:t> </a:t>
            </a:r>
            <a:r>
              <a:rPr lang="en-US" sz="2400" b="1" dirty="0" err="1">
                <a:solidFill>
                  <a:srgbClr val="171814"/>
                </a:solidFill>
                <a:latin typeface="Arial" panose="020B0604020202020204" pitchFamily="34" charset="0"/>
                <a:ea typeface="Poppins Bold"/>
                <a:cs typeface="Arial" panose="020B0604020202020204" pitchFamily="34" charset="0"/>
                <a:sym typeface="Poppins Bold"/>
              </a:rPr>
              <a:t>hiện</a:t>
            </a:r>
            <a:r>
              <a:rPr lang="en-US" sz="2400" b="1" dirty="0">
                <a:solidFill>
                  <a:srgbClr val="171814"/>
                </a:solidFill>
                <a:latin typeface="Arial" panose="020B0604020202020204" pitchFamily="34" charset="0"/>
                <a:ea typeface="Poppins Bold"/>
                <a:cs typeface="Arial" panose="020B0604020202020204" pitchFamily="34" charset="0"/>
                <a:sym typeface="Poppins Bold"/>
              </a:rPr>
              <a:t> </a:t>
            </a:r>
            <a:r>
              <a:rPr lang="en-US" sz="2400" b="1" dirty="0" err="1">
                <a:solidFill>
                  <a:srgbClr val="171814"/>
                </a:solidFill>
                <a:latin typeface="Arial" panose="020B0604020202020204" pitchFamily="34" charset="0"/>
                <a:ea typeface="Poppins Bold"/>
                <a:cs typeface="Arial" panose="020B0604020202020204" pitchFamily="34" charset="0"/>
                <a:sym typeface="Poppins Bold"/>
              </a:rPr>
              <a:t>bởi</a:t>
            </a:r>
            <a:r>
              <a:rPr lang="en-US" sz="2400" b="1" dirty="0">
                <a:solidFill>
                  <a:srgbClr val="171814"/>
                </a:solidFill>
                <a:latin typeface="Arial" panose="020B0604020202020204" pitchFamily="34" charset="0"/>
                <a:ea typeface="Poppins Bold"/>
                <a:cs typeface="Arial" panose="020B0604020202020204" pitchFamily="34" charset="0"/>
                <a:sym typeface="Poppins Bold"/>
              </a:rPr>
              <a:t> </a:t>
            </a:r>
            <a:r>
              <a:rPr lang="en-US" sz="2400" b="1" dirty="0" err="1">
                <a:solidFill>
                  <a:srgbClr val="171814"/>
                </a:solidFill>
                <a:latin typeface="Arial" panose="020B0604020202020204" pitchFamily="34" charset="0"/>
                <a:ea typeface="Poppins Bold"/>
                <a:cs typeface="Arial" panose="020B0604020202020204" pitchFamily="34" charset="0"/>
                <a:sym typeface="Poppins Bold"/>
              </a:rPr>
              <a:t>Nhóm</a:t>
            </a:r>
            <a:r>
              <a:rPr lang="en-US" sz="2400" b="1" dirty="0">
                <a:solidFill>
                  <a:srgbClr val="171814"/>
                </a:solidFill>
                <a:latin typeface="Arial" panose="020B0604020202020204" pitchFamily="34" charset="0"/>
                <a:ea typeface="Poppins Bold"/>
                <a:cs typeface="Arial" panose="020B0604020202020204" pitchFamily="34" charset="0"/>
                <a:sym typeface="Poppins Bold"/>
              </a:rPr>
              <a:t> 1</a:t>
            </a:r>
          </a:p>
        </p:txBody>
      </p:sp>
      <p:sp>
        <p:nvSpPr>
          <p:cNvPr id="17" name="TextBox 17"/>
          <p:cNvSpPr txBox="1"/>
          <p:nvPr/>
        </p:nvSpPr>
        <p:spPr>
          <a:xfrm>
            <a:off x="2844679" y="7777940"/>
            <a:ext cx="4631593" cy="424815"/>
          </a:xfrm>
          <a:prstGeom prst="rect">
            <a:avLst/>
          </a:prstGeom>
        </p:spPr>
        <p:txBody>
          <a:bodyPr lIns="0" tIns="0" rIns="0" bIns="0" rtlCol="0" anchor="t">
            <a:spAutoFit/>
          </a:bodyPr>
          <a:lstStyle/>
          <a:p>
            <a:pPr marL="0" lvl="1" indent="0" algn="l">
              <a:lnSpc>
                <a:spcPts val="3359"/>
              </a:lnSpc>
              <a:spcBef>
                <a:spcPct val="0"/>
              </a:spcBef>
            </a:pPr>
            <a:r>
              <a:rPr lang="en-US" sz="2400" b="1">
                <a:solidFill>
                  <a:srgbClr val="171814"/>
                </a:solidFill>
                <a:latin typeface="Poppins Bold"/>
                <a:ea typeface="Poppins Bold"/>
                <a:cs typeface="Poppins Bold"/>
                <a:sym typeface="Poppins Bold"/>
              </a:rPr>
              <a:t>24 - 01 - 2026</a:t>
            </a:r>
          </a:p>
        </p:txBody>
      </p:sp>
      <p:sp>
        <p:nvSpPr>
          <p:cNvPr id="18" name="TextBox 18"/>
          <p:cNvSpPr txBox="1"/>
          <p:nvPr/>
        </p:nvSpPr>
        <p:spPr>
          <a:xfrm>
            <a:off x="8084908" y="1464754"/>
            <a:ext cx="8541823" cy="396968"/>
          </a:xfrm>
          <a:prstGeom prst="rect">
            <a:avLst/>
          </a:prstGeom>
        </p:spPr>
        <p:txBody>
          <a:bodyPr lIns="0" tIns="0" rIns="0" bIns="0" rtlCol="0" anchor="t">
            <a:spAutoFit/>
          </a:bodyPr>
          <a:lstStyle/>
          <a:p>
            <a:pPr algn="r">
              <a:lnSpc>
                <a:spcPts val="3357"/>
              </a:lnSpc>
              <a:spcBef>
                <a:spcPct val="0"/>
              </a:spcBef>
            </a:pPr>
            <a:r>
              <a:rPr lang="en-US" sz="2398" spc="-47" dirty="0">
                <a:solidFill>
                  <a:srgbClr val="171814"/>
                </a:solidFill>
                <a:latin typeface="Arial" panose="020B0604020202020204" pitchFamily="34" charset="0"/>
                <a:ea typeface="Poppins"/>
                <a:cs typeface="Arial" panose="020B0604020202020204" pitchFamily="34" charset="0"/>
                <a:sym typeface="Poppins"/>
              </a:rPr>
              <a:t>TRƯỜNG ĐẠI HỌC GIAO THÔNG VẬN TẢI TP.HCM</a:t>
            </a:r>
          </a:p>
        </p:txBody>
      </p:sp>
      <p:sp>
        <p:nvSpPr>
          <p:cNvPr id="19" name="Freeform 19"/>
          <p:cNvSpPr/>
          <p:nvPr/>
        </p:nvSpPr>
        <p:spPr>
          <a:xfrm>
            <a:off x="618354" y="745077"/>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sp>
        <p:nvSpPr>
          <p:cNvPr id="20" name="Freeform 20"/>
          <p:cNvSpPr/>
          <p:nvPr/>
        </p:nvSpPr>
        <p:spPr>
          <a:xfrm>
            <a:off x="7725055" y="3020688"/>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a:p>
        </p:txBody>
      </p:sp>
      <p:sp>
        <p:nvSpPr>
          <p:cNvPr id="21" name="Freeform 21"/>
          <p:cNvSpPr/>
          <p:nvPr/>
        </p:nvSpPr>
        <p:spPr>
          <a:xfrm>
            <a:off x="9046438" y="7971495"/>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22" name="Freeform 22"/>
          <p:cNvSpPr/>
          <p:nvPr/>
        </p:nvSpPr>
        <p:spPr>
          <a:xfrm>
            <a:off x="13781656" y="196091"/>
            <a:ext cx="4381243" cy="832437"/>
          </a:xfrm>
          <a:custGeom>
            <a:avLst/>
            <a:gdLst/>
            <a:ahLst/>
            <a:cxnLst/>
            <a:rect l="l" t="t" r="r" b="b"/>
            <a:pathLst>
              <a:path w="4381243" h="832437">
                <a:moveTo>
                  <a:pt x="0" y="0"/>
                </a:moveTo>
                <a:lnTo>
                  <a:pt x="4381243" y="0"/>
                </a:lnTo>
                <a:lnTo>
                  <a:pt x="4381243" y="832438"/>
                </a:lnTo>
                <a:lnTo>
                  <a:pt x="0" y="832438"/>
                </a:lnTo>
                <a:lnTo>
                  <a:pt x="0" y="0"/>
                </a:lnTo>
                <a:close/>
              </a:path>
            </a:pathLst>
          </a:custGeom>
          <a:blipFill>
            <a:blip r:embed="rId27"/>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5246</Words>
  <Application>Microsoft Office PowerPoint</Application>
  <PresentationFormat>Custom</PresentationFormat>
  <Paragraphs>560</Paragraphs>
  <Slides>49</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Noto Sans Bold</vt:lpstr>
      <vt:lpstr>Inter Italics</vt:lpstr>
      <vt:lpstr>Paytone One</vt:lpstr>
      <vt:lpstr>Calibri</vt:lpstr>
      <vt:lpstr>Poppins Bold</vt:lpstr>
      <vt:lpstr>Arial</vt:lpstr>
      <vt:lpstr>Inter</vt:lpstr>
      <vt:lpstr>Inter Bold Italics</vt:lpstr>
      <vt:lpstr>Inter Bold</vt:lpstr>
      <vt:lpstr>Noto Sans</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Luật CNTT - Nhóm 01</dc:title>
  <cp:lastModifiedBy>Bảo Trần</cp:lastModifiedBy>
  <cp:revision>5</cp:revision>
  <dcterms:created xsi:type="dcterms:W3CDTF">2006-08-16T00:00:00Z</dcterms:created>
  <dcterms:modified xsi:type="dcterms:W3CDTF">2026-01-24T12:16:04Z</dcterms:modified>
  <dc:identifier>DAG-q_SMD4Y</dc:identifier>
</cp:coreProperties>
</file>