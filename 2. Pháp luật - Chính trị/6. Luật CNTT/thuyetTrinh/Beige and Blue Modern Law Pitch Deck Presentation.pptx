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66" r:id="rId2"/>
    <p:sldId id="267" r:id="rId3"/>
    <p:sldId id="271" r:id="rId4"/>
    <p:sldId id="276" r:id="rId5"/>
    <p:sldId id="277" r:id="rId6"/>
    <p:sldId id="268" r:id="rId7"/>
    <p:sldId id="272" r:id="rId8"/>
    <p:sldId id="269" r:id="rId9"/>
    <p:sldId id="273" r:id="rId10"/>
    <p:sldId id="270" r:id="rId11"/>
    <p:sldId id="274" r:id="rId12"/>
  </p:sldIdLst>
  <p:sldSz cx="18288000" cy="10287000"/>
  <p:notesSz cx="6858000" cy="9144000"/>
  <p:embeddedFontLst>
    <p:embeddedFont>
      <p:font typeface="Agrandir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1671" autoAdjust="0"/>
  </p:normalViewPr>
  <p:slideViewPr>
    <p:cSldViewPr>
      <p:cViewPr varScale="1">
        <p:scale>
          <a:sx n="40" d="100"/>
          <a:sy n="40" d="100"/>
        </p:scale>
        <p:origin x="1450"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96D7CD-0BB5-4461-8AE8-F9E92BC1D97D}" type="datetimeFigureOut">
              <a:rPr lang="en-US" smtClean="0"/>
              <a:t>21/01/2026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3D3033-F073-4B9C-8A94-A3188B4F45B3}" type="slidenum">
              <a:rPr lang="en-US" smtClean="0"/>
              <a:t>‹#›</a:t>
            </a:fld>
            <a:endParaRPr lang="en-US"/>
          </a:p>
        </p:txBody>
      </p:sp>
    </p:spTree>
    <p:extLst>
      <p:ext uri="{BB962C8B-B14F-4D97-AF65-F5344CB8AC3E}">
        <p14:creationId xmlns:p14="http://schemas.microsoft.com/office/powerpoint/2010/main" val="1812089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Luật CNTT 2006 (Điều 21, 22):</a:t>
            </a:r>
            <a:r>
              <a:rPr lang="vi-VN" dirty="0"/>
              <a:t> Cấm thu thập, sử dụng, cung cấp thông tin cá nhân khi chưa có sự đồng ý.</a:t>
            </a:r>
          </a:p>
          <a:p>
            <a:r>
              <a:rPr lang="vi-VN" b="1" dirty="0"/>
              <a:t>Cập nhật mới:</a:t>
            </a:r>
            <a:r>
              <a:rPr lang="vi-VN" dirty="0"/>
              <a:t> </a:t>
            </a:r>
            <a:r>
              <a:rPr lang="vi-VN" b="1" dirty="0"/>
              <a:t>Nghị định 13/2023/NĐ-CP</a:t>
            </a:r>
            <a:r>
              <a:rPr lang="vi-VN" dirty="0"/>
              <a:t> (Có hiệu lực từ 1/7/2023) quy định mức phạt rất nặng (lên tới 5% tổng doanh thu) đối với doanh nghiệp để lộ lọt dữ liệu.</a:t>
            </a:r>
          </a:p>
          <a:p>
            <a:endParaRPr lang="en-US" dirty="0"/>
          </a:p>
        </p:txBody>
      </p:sp>
      <p:sp>
        <p:nvSpPr>
          <p:cNvPr id="4" name="Slide Number Placeholder 3"/>
          <p:cNvSpPr>
            <a:spLocks noGrp="1"/>
          </p:cNvSpPr>
          <p:nvPr>
            <p:ph type="sldNum" sz="quarter" idx="5"/>
          </p:nvPr>
        </p:nvSpPr>
        <p:spPr/>
        <p:txBody>
          <a:bodyPr/>
          <a:lstStyle/>
          <a:p>
            <a:fld id="{213D3033-F073-4B9C-8A94-A3188B4F45B3}" type="slidenum">
              <a:rPr lang="en-US" smtClean="0"/>
              <a:t>5</a:t>
            </a:fld>
            <a:endParaRPr lang="en-US"/>
          </a:p>
        </p:txBody>
      </p:sp>
    </p:spTree>
    <p:extLst>
      <p:ext uri="{BB962C8B-B14F-4D97-AF65-F5344CB8AC3E}">
        <p14:creationId xmlns:p14="http://schemas.microsoft.com/office/powerpoint/2010/main" val="1094168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Luật yêu cầu nhà nước phải số hóa. Minh chứng rõ nhất là sự kiện 'khai tử' Sổ hộ khẩu giấy. Nhờ áp dụng Luật CNTT để xây dựng cơ sở dữ liệu quốc gia, giờ đây chúng ta đi làm thủ tục hành chính chỉ cần thẻ CCCD gắn chip hoặc ứng dụng VNeID, không cần cuốn sổ giấy như </a:t>
            </a:r>
            <a:r>
              <a:rPr lang="vi-VN" sz="1200" b="0" i="0" kern="1200">
                <a:solidFill>
                  <a:schemeClr val="tx1"/>
                </a:solidFill>
                <a:effectLst/>
                <a:latin typeface="+mn-lt"/>
                <a:ea typeface="+mn-ea"/>
                <a:cs typeface="+mn-cs"/>
              </a:rPr>
              <a:t>xưa.</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Giờ đi máy bay nội địa, các bạn có thể dùng VNeID mức 2 thay cho CCCD cứng. </a:t>
            </a:r>
            <a:endParaRPr lang="en-US" dirty="0"/>
          </a:p>
        </p:txBody>
      </p:sp>
      <p:sp>
        <p:nvSpPr>
          <p:cNvPr id="4" name="Slide Number Placeholder 3"/>
          <p:cNvSpPr>
            <a:spLocks noGrp="1"/>
          </p:cNvSpPr>
          <p:nvPr>
            <p:ph type="sldNum" sz="quarter" idx="5"/>
          </p:nvPr>
        </p:nvSpPr>
        <p:spPr/>
        <p:txBody>
          <a:bodyPr/>
          <a:lstStyle/>
          <a:p>
            <a:fld id="{213D3033-F073-4B9C-8A94-A3188B4F45B3}" type="slidenum">
              <a:rPr lang="en-US" smtClean="0"/>
              <a:t>7</a:t>
            </a:fld>
            <a:endParaRPr lang="en-US"/>
          </a:p>
        </p:txBody>
      </p:sp>
    </p:spTree>
    <p:extLst>
      <p:ext uri="{BB962C8B-B14F-4D97-AF65-F5344CB8AC3E}">
        <p14:creationId xmlns:p14="http://schemas.microsoft.com/office/powerpoint/2010/main" val="2726550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3D3033-F073-4B9C-8A94-A3188B4F45B3}" type="slidenum">
              <a:rPr lang="en-US" smtClean="0"/>
              <a:t>11</a:t>
            </a:fld>
            <a:endParaRPr lang="en-US"/>
          </a:p>
        </p:txBody>
      </p:sp>
    </p:spTree>
    <p:extLst>
      <p:ext uri="{BB962C8B-B14F-4D97-AF65-F5344CB8AC3E}">
        <p14:creationId xmlns:p14="http://schemas.microsoft.com/office/powerpoint/2010/main" val="760750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21" Type="http://schemas.openxmlformats.org/officeDocument/2006/relationships/image" Target="../media/image20.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 Id="rId22" Type="http://schemas.openxmlformats.org/officeDocument/2006/relationships/image" Target="../media/image21.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23.pn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2.svg"/><Relationship Id="rId2" Type="http://schemas.openxmlformats.org/officeDocument/2006/relationships/image" Target="../media/image24.png"/><Relationship Id="rId16" Type="http://schemas.openxmlformats.org/officeDocument/2006/relationships/image" Target="../media/image21.pn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0.svg"/><Relationship Id="rId10" Type="http://schemas.openxmlformats.org/officeDocument/2006/relationships/image" Target="../media/image30.png"/><Relationship Id="rId19"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33.sv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32.png"/><Relationship Id="rId2" Type="http://schemas.openxmlformats.org/officeDocument/2006/relationships/image" Target="../media/image24.png"/><Relationship Id="rId16" Type="http://schemas.openxmlformats.org/officeDocument/2006/relationships/image" Target="../media/image23.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2.svg"/><Relationship Id="rId10" Type="http://schemas.openxmlformats.org/officeDocument/2006/relationships/image" Target="../media/image30.png"/><Relationship Id="rId19" Type="http://schemas.openxmlformats.org/officeDocument/2006/relationships/hyperlink" Target="https://nhandan.vn/93-trieu-nguoi-nhan-tin-nhan-phong-chong-sieu-bao-yagi-qua-zalo-post828724.html" TargetMode="External"/><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33.sv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32.png"/><Relationship Id="rId2" Type="http://schemas.openxmlformats.org/officeDocument/2006/relationships/image" Target="../media/image24.png"/><Relationship Id="rId16" Type="http://schemas.openxmlformats.org/officeDocument/2006/relationships/image" Target="../media/image23.png"/><Relationship Id="rId20"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2.svg"/><Relationship Id="rId10" Type="http://schemas.openxmlformats.org/officeDocument/2006/relationships/image" Target="../media/image30.png"/><Relationship Id="rId19" Type="http://schemas.openxmlformats.org/officeDocument/2006/relationships/hyperlink" Target="https://vneconomy.vn/facebook-google-tiktok-da-go-bo-hon-15-000-noi-dung-vi-pham-phap-luat-viet-nam.htm" TargetMode="External"/><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32.png"/><Relationship Id="rId3" Type="http://schemas.openxmlformats.org/officeDocument/2006/relationships/image" Target="../media/image24.png"/><Relationship Id="rId21" Type="http://schemas.openxmlformats.org/officeDocument/2006/relationships/image" Target="../media/image36.jpeg"/><Relationship Id="rId7" Type="http://schemas.openxmlformats.org/officeDocument/2006/relationships/image" Target="../media/image9.png"/><Relationship Id="rId12" Type="http://schemas.openxmlformats.org/officeDocument/2006/relationships/image" Target="../media/image31.svg"/><Relationship Id="rId17"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22.svg"/><Relationship Id="rId20" Type="http://schemas.openxmlformats.org/officeDocument/2006/relationships/hyperlink" Target="https://vtv.vn/kinh-te/mao-danh-ngan-hang-ho-tro-cap-nhat-sinh-trac-hoc-de-lua-dao-20240702092739988.htm" TargetMode="External"/><Relationship Id="rId1" Type="http://schemas.openxmlformats.org/officeDocument/2006/relationships/slideLayout" Target="../slideLayouts/slideLayout7.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21.png"/><Relationship Id="rId10" Type="http://schemas.openxmlformats.org/officeDocument/2006/relationships/image" Target="../media/image29.svg"/><Relationship Id="rId19" Type="http://schemas.openxmlformats.org/officeDocument/2006/relationships/image" Target="../media/image33.svg"/><Relationship Id="rId4" Type="http://schemas.openxmlformats.org/officeDocument/2006/relationships/image" Target="../media/image25.svg"/><Relationship Id="rId9" Type="http://schemas.openxmlformats.org/officeDocument/2006/relationships/image" Target="../media/image28.png"/><Relationship Id="rId14" Type="http://schemas.openxmlformats.org/officeDocument/2006/relationships/image" Target="../media/image16.sv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23.pn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2.svg"/><Relationship Id="rId2" Type="http://schemas.openxmlformats.org/officeDocument/2006/relationships/image" Target="../media/image24.png"/><Relationship Id="rId16" Type="http://schemas.openxmlformats.org/officeDocument/2006/relationships/image" Target="../media/image21.pn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0.svg"/><Relationship Id="rId10" Type="http://schemas.openxmlformats.org/officeDocument/2006/relationships/image" Target="../media/image30.png"/><Relationship Id="rId19"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2.svg"/><Relationship Id="rId3" Type="http://schemas.openxmlformats.org/officeDocument/2006/relationships/image" Target="../media/image24.png"/><Relationship Id="rId21" Type="http://schemas.openxmlformats.org/officeDocument/2006/relationships/image" Target="../media/image37.jpeg"/><Relationship Id="rId7" Type="http://schemas.openxmlformats.org/officeDocument/2006/relationships/image" Target="../media/image9.png"/><Relationship Id="rId12" Type="http://schemas.openxmlformats.org/officeDocument/2006/relationships/image" Target="../media/image31.svg"/><Relationship Id="rId17"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0.svg"/><Relationship Id="rId20" Type="http://schemas.openxmlformats.org/officeDocument/2006/relationships/hyperlink" Target="https://nhandan.vn/viet-nam-chinh-thuc-tro-thanh-nuoc-co-dinh-danh-dien-tu-quoc-gia-post710849.html" TargetMode="External"/><Relationship Id="rId1" Type="http://schemas.openxmlformats.org/officeDocument/2006/relationships/slideLayout" Target="../slideLayouts/slideLayout7.xml"/><Relationship Id="rId6" Type="http://schemas.openxmlformats.org/officeDocument/2006/relationships/image" Target="../media/image27.svg"/><Relationship Id="rId11" Type="http://schemas.openxmlformats.org/officeDocument/2006/relationships/image" Target="../media/image30.png"/><Relationship Id="rId5" Type="http://schemas.openxmlformats.org/officeDocument/2006/relationships/image" Target="../media/image26.png"/><Relationship Id="rId15" Type="http://schemas.openxmlformats.org/officeDocument/2006/relationships/image" Target="../media/image19.png"/><Relationship Id="rId10" Type="http://schemas.openxmlformats.org/officeDocument/2006/relationships/image" Target="../media/image29.svg"/><Relationship Id="rId19" Type="http://schemas.openxmlformats.org/officeDocument/2006/relationships/image" Target="../media/image23.png"/><Relationship Id="rId4" Type="http://schemas.openxmlformats.org/officeDocument/2006/relationships/image" Target="../media/image25.svg"/><Relationship Id="rId9" Type="http://schemas.openxmlformats.org/officeDocument/2006/relationships/image" Target="../media/image28.png"/><Relationship Id="rId14" Type="http://schemas.openxmlformats.org/officeDocument/2006/relationships/image" Target="../media/image16.sv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23.pn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2.svg"/><Relationship Id="rId2" Type="http://schemas.openxmlformats.org/officeDocument/2006/relationships/image" Target="../media/image24.png"/><Relationship Id="rId16" Type="http://schemas.openxmlformats.org/officeDocument/2006/relationships/image" Target="../media/image21.pn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0.svg"/><Relationship Id="rId10" Type="http://schemas.openxmlformats.org/officeDocument/2006/relationships/image" Target="../media/image30.png"/><Relationship Id="rId19"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23.png"/><Relationship Id="rId3" Type="http://schemas.openxmlformats.org/officeDocument/2006/relationships/image" Target="../media/image25.svg"/><Relationship Id="rId21" Type="http://schemas.openxmlformats.org/officeDocument/2006/relationships/hyperlink" Target="https://tuoitre.vn/mua-iphone-nhan-cuc-gach-nhung-khong-cho-kiem-hang-vay-hoai-sao-chiu-noi-20201220204723082.htm" TargetMode="External"/><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2.svg"/><Relationship Id="rId2" Type="http://schemas.openxmlformats.org/officeDocument/2006/relationships/image" Target="../media/image24.png"/><Relationship Id="rId16" Type="http://schemas.openxmlformats.org/officeDocument/2006/relationships/image" Target="../media/image21.pn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0.svg"/><Relationship Id="rId23" Type="http://schemas.openxmlformats.org/officeDocument/2006/relationships/image" Target="../media/image38.jpeg"/><Relationship Id="rId10" Type="http://schemas.openxmlformats.org/officeDocument/2006/relationships/image" Target="../media/image30.png"/><Relationship Id="rId19"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19.png"/><Relationship Id="rId22" Type="http://schemas.openxmlformats.org/officeDocument/2006/relationships/hyperlink" Target="https://cdn2.tuoitre.vn/2020/12/20/mua-hang-online-16084719975101456021251.jpg"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6.svg"/><Relationship Id="rId18" Type="http://schemas.openxmlformats.org/officeDocument/2006/relationships/image" Target="../media/image23.png"/><Relationship Id="rId3" Type="http://schemas.openxmlformats.org/officeDocument/2006/relationships/image" Target="../media/image25.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2.svg"/><Relationship Id="rId2" Type="http://schemas.openxmlformats.org/officeDocument/2006/relationships/image" Target="../media/image24.png"/><Relationship Id="rId16" Type="http://schemas.openxmlformats.org/officeDocument/2006/relationships/image" Target="../media/image21.png"/><Relationship Id="rId20"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31.svg"/><Relationship Id="rId5" Type="http://schemas.openxmlformats.org/officeDocument/2006/relationships/image" Target="../media/image27.svg"/><Relationship Id="rId15" Type="http://schemas.openxmlformats.org/officeDocument/2006/relationships/image" Target="../media/image20.svg"/><Relationship Id="rId10" Type="http://schemas.openxmlformats.org/officeDocument/2006/relationships/image" Target="../media/image30.png"/><Relationship Id="rId19"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svg"/><Relationship Id="rId1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21.png"/><Relationship Id="rId18" Type="http://schemas.openxmlformats.org/officeDocument/2006/relationships/hyperlink" Target="https://tuoitre.vn/benh-vien-tai-tp-hcm-chay-dua-nuoc-rut-xoa-so-benh-an-giay-20250917104711256.htm" TargetMode="External"/><Relationship Id="rId3" Type="http://schemas.openxmlformats.org/officeDocument/2006/relationships/image" Target="../media/image24.png"/><Relationship Id="rId21" Type="http://schemas.openxmlformats.org/officeDocument/2006/relationships/hyperlink" Target="https://tranhsonmai.baotangso.com/" TargetMode="External"/><Relationship Id="rId7" Type="http://schemas.openxmlformats.org/officeDocument/2006/relationships/image" Target="../media/image9.png"/><Relationship Id="rId12" Type="http://schemas.openxmlformats.org/officeDocument/2006/relationships/image" Target="../media/image20.svg"/><Relationship Id="rId17" Type="http://schemas.openxmlformats.org/officeDocument/2006/relationships/image" Target="../media/image40.png"/><Relationship Id="rId2" Type="http://schemas.openxmlformats.org/officeDocument/2006/relationships/notesSlide" Target="../notesSlides/notesSlide3.xml"/><Relationship Id="rId16" Type="http://schemas.openxmlformats.org/officeDocument/2006/relationships/image" Target="../media/image39.png"/><Relationship Id="rId20"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27.svg"/><Relationship Id="rId11" Type="http://schemas.openxmlformats.org/officeDocument/2006/relationships/image" Target="../media/image19.png"/><Relationship Id="rId5" Type="http://schemas.openxmlformats.org/officeDocument/2006/relationships/image" Target="../media/image26.png"/><Relationship Id="rId15" Type="http://schemas.openxmlformats.org/officeDocument/2006/relationships/image" Target="../media/image23.png"/><Relationship Id="rId23" Type="http://schemas.openxmlformats.org/officeDocument/2006/relationships/image" Target="../media/image42.jpeg"/><Relationship Id="rId10" Type="http://schemas.openxmlformats.org/officeDocument/2006/relationships/image" Target="../media/image16.svg"/><Relationship Id="rId19" Type="http://schemas.openxmlformats.org/officeDocument/2006/relationships/hyperlink" Target="https://courses.ut.edu.vn/" TargetMode="External"/><Relationship Id="rId4" Type="http://schemas.openxmlformats.org/officeDocument/2006/relationships/image" Target="../media/image25.svg"/><Relationship Id="rId9" Type="http://schemas.openxmlformats.org/officeDocument/2006/relationships/image" Target="../media/image15.png"/><Relationship Id="rId14" Type="http://schemas.openxmlformats.org/officeDocument/2006/relationships/image" Target="../media/image22.svg"/><Relationship Id="rId22" Type="http://schemas.openxmlformats.org/officeDocument/2006/relationships/hyperlink" Target="https://www.qdnd.vn/quoc-phong-an-ninh/tin-tuc/bo-tu-lenh-86-thuc-hien-tot-nhiem-vu-quan-ly-bao-ve-vung-chac-chu-quyen-quoc-gia-tren-khong-gian-mang-10191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5410A-A6F5-EBBE-2067-BABAF63E89A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6FD5AE7-9D95-F501-B11B-A7490C1D3D29}"/>
              </a:ext>
            </a:extLst>
          </p:cNvPr>
          <p:cNvSpPr/>
          <p:nvPr/>
        </p:nvSpPr>
        <p:spPr>
          <a:xfrm flipV="1">
            <a:off x="-924482" y="-279199"/>
            <a:ext cx="14752519" cy="7086616"/>
          </a:xfrm>
          <a:custGeom>
            <a:avLst/>
            <a:gdLst/>
            <a:ahLst/>
            <a:cxnLst/>
            <a:rect l="l" t="t" r="r" b="b"/>
            <a:pathLst>
              <a:path w="14752519" h="7086616">
                <a:moveTo>
                  <a:pt x="0" y="7086616"/>
                </a:moveTo>
                <a:lnTo>
                  <a:pt x="14752518" y="7086616"/>
                </a:lnTo>
                <a:lnTo>
                  <a:pt x="14752518" y="0"/>
                </a:lnTo>
                <a:lnTo>
                  <a:pt x="0" y="0"/>
                </a:lnTo>
                <a:lnTo>
                  <a:pt x="0" y="7086616"/>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3B2D982F-05A9-4FAE-1E58-56410FC772D7}"/>
              </a:ext>
            </a:extLst>
          </p:cNvPr>
          <p:cNvSpPr/>
          <p:nvPr/>
        </p:nvSpPr>
        <p:spPr>
          <a:xfrm flipH="1">
            <a:off x="8277682" y="6252845"/>
            <a:ext cx="11100708" cy="4240529"/>
          </a:xfrm>
          <a:custGeom>
            <a:avLst/>
            <a:gdLst/>
            <a:ahLst/>
            <a:cxnLst/>
            <a:rect l="l" t="t" r="r" b="b"/>
            <a:pathLst>
              <a:path w="11100708" h="4240529">
                <a:moveTo>
                  <a:pt x="11100708" y="0"/>
                </a:moveTo>
                <a:lnTo>
                  <a:pt x="0" y="0"/>
                </a:lnTo>
                <a:lnTo>
                  <a:pt x="0" y="4240529"/>
                </a:lnTo>
                <a:lnTo>
                  <a:pt x="11100708" y="4240529"/>
                </a:lnTo>
                <a:lnTo>
                  <a:pt x="11100708" y="0"/>
                </a:lnTo>
                <a:close/>
              </a:path>
            </a:pathLst>
          </a:custGeom>
          <a:blipFill>
            <a:blip r:embed="rId4">
              <a:extLst>
                <a:ext uri="{96DAC541-7B7A-43D3-8B79-37D633B846F1}">
                  <asvg:svgBlip xmlns:asvg="http://schemas.microsoft.com/office/drawing/2016/SVG/main" r:embed="rId5"/>
                </a:ext>
              </a:extLst>
            </a:blip>
            <a:stretch>
              <a:fillRect l="-38801" b="-62516"/>
            </a:stretch>
          </a:blipFill>
        </p:spPr>
        <p:txBody>
          <a:bodyPr/>
          <a:lstStyle/>
          <a:p>
            <a:endParaRPr lang="en-US"/>
          </a:p>
        </p:txBody>
      </p:sp>
      <p:sp>
        <p:nvSpPr>
          <p:cNvPr id="4" name="Freeform 4">
            <a:extLst>
              <a:ext uri="{FF2B5EF4-FFF2-40B4-BE49-F238E27FC236}">
                <a16:creationId xmlns:a16="http://schemas.microsoft.com/office/drawing/2014/main" id="{B4E62F51-BFAE-7D43-D4C7-FE237F841DBC}"/>
              </a:ext>
            </a:extLst>
          </p:cNvPr>
          <p:cNvSpPr/>
          <p:nvPr/>
        </p:nvSpPr>
        <p:spPr>
          <a:xfrm flipH="1">
            <a:off x="8649905" y="7034533"/>
            <a:ext cx="10356263" cy="3956148"/>
          </a:xfrm>
          <a:custGeom>
            <a:avLst/>
            <a:gdLst/>
            <a:ahLst/>
            <a:cxnLst/>
            <a:rect l="l" t="t" r="r" b="b"/>
            <a:pathLst>
              <a:path w="10356263" h="3956148">
                <a:moveTo>
                  <a:pt x="10356263" y="0"/>
                </a:moveTo>
                <a:lnTo>
                  <a:pt x="0" y="0"/>
                </a:lnTo>
                <a:lnTo>
                  <a:pt x="0" y="3956147"/>
                </a:lnTo>
                <a:lnTo>
                  <a:pt x="10356263" y="3956147"/>
                </a:lnTo>
                <a:lnTo>
                  <a:pt x="10356263" y="0"/>
                </a:lnTo>
                <a:close/>
              </a:path>
            </a:pathLst>
          </a:custGeom>
          <a:blipFill>
            <a:blip r:embed="rId6">
              <a:extLst>
                <a:ext uri="{96DAC541-7B7A-43D3-8B79-37D633B846F1}">
                  <asvg:svgBlip xmlns:asvg="http://schemas.microsoft.com/office/drawing/2016/SVG/main" r:embed="rId7"/>
                </a:ext>
              </a:extLst>
            </a:blip>
            <a:stretch>
              <a:fillRect l="-38801" b="-62516"/>
            </a:stretch>
          </a:blipFill>
        </p:spPr>
        <p:txBody>
          <a:bodyPr/>
          <a:lstStyle/>
          <a:p>
            <a:endParaRPr lang="en-US"/>
          </a:p>
        </p:txBody>
      </p:sp>
      <p:sp>
        <p:nvSpPr>
          <p:cNvPr id="5" name="Freeform 5">
            <a:extLst>
              <a:ext uri="{FF2B5EF4-FFF2-40B4-BE49-F238E27FC236}">
                <a16:creationId xmlns:a16="http://schemas.microsoft.com/office/drawing/2014/main" id="{73DBFBB6-0C47-8C54-5C91-5F0C508DF06E}"/>
              </a:ext>
            </a:extLst>
          </p:cNvPr>
          <p:cNvSpPr/>
          <p:nvPr/>
        </p:nvSpPr>
        <p:spPr>
          <a:xfrm flipV="1">
            <a:off x="-672800" y="-262422"/>
            <a:ext cx="12953983" cy="6222659"/>
          </a:xfrm>
          <a:custGeom>
            <a:avLst/>
            <a:gdLst/>
            <a:ahLst/>
            <a:cxnLst/>
            <a:rect l="l" t="t" r="r" b="b"/>
            <a:pathLst>
              <a:path w="12953983" h="6222659">
                <a:moveTo>
                  <a:pt x="0" y="6222660"/>
                </a:moveTo>
                <a:lnTo>
                  <a:pt x="12953983" y="6222660"/>
                </a:lnTo>
                <a:lnTo>
                  <a:pt x="12953983" y="0"/>
                </a:lnTo>
                <a:lnTo>
                  <a:pt x="0" y="0"/>
                </a:lnTo>
                <a:lnTo>
                  <a:pt x="0" y="622266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7FE74FF1-525F-28C5-44A9-315DF4179B0B}"/>
              </a:ext>
            </a:extLst>
          </p:cNvPr>
          <p:cNvSpPr/>
          <p:nvPr/>
        </p:nvSpPr>
        <p:spPr>
          <a:xfrm rot="3723370" flipH="1">
            <a:off x="1291570" y="-4431444"/>
            <a:ext cx="6111526" cy="10063890"/>
          </a:xfrm>
          <a:custGeom>
            <a:avLst/>
            <a:gdLst/>
            <a:ahLst/>
            <a:cxnLst/>
            <a:rect l="l" t="t" r="r" b="b"/>
            <a:pathLst>
              <a:path w="6111526" h="10063890">
                <a:moveTo>
                  <a:pt x="6111526" y="0"/>
                </a:moveTo>
                <a:lnTo>
                  <a:pt x="0" y="0"/>
                </a:lnTo>
                <a:lnTo>
                  <a:pt x="0" y="10063890"/>
                </a:lnTo>
                <a:lnTo>
                  <a:pt x="6111526" y="10063890"/>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9" name="Group 9">
            <a:extLst>
              <a:ext uri="{FF2B5EF4-FFF2-40B4-BE49-F238E27FC236}">
                <a16:creationId xmlns:a16="http://schemas.microsoft.com/office/drawing/2014/main" id="{F5D4C59C-73F3-B005-5932-AB8308DF4330}"/>
              </a:ext>
            </a:extLst>
          </p:cNvPr>
          <p:cNvGrpSpPr/>
          <p:nvPr/>
        </p:nvGrpSpPr>
        <p:grpSpPr>
          <a:xfrm>
            <a:off x="1374398" y="3889677"/>
            <a:ext cx="644881" cy="644881"/>
            <a:chOff x="0" y="0"/>
            <a:chExt cx="812800" cy="812800"/>
          </a:xfrm>
        </p:grpSpPr>
        <p:sp>
          <p:nvSpPr>
            <p:cNvPr id="10" name="Freeform 10">
              <a:extLst>
                <a:ext uri="{FF2B5EF4-FFF2-40B4-BE49-F238E27FC236}">
                  <a16:creationId xmlns:a16="http://schemas.microsoft.com/office/drawing/2014/main" id="{0F8D2955-680F-7631-A93C-B2711A4191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8A65"/>
            </a:solidFill>
          </p:spPr>
          <p:txBody>
            <a:bodyPr/>
            <a:lstStyle/>
            <a:p>
              <a:endParaRPr lang="en-US"/>
            </a:p>
          </p:txBody>
        </p:sp>
        <p:sp>
          <p:nvSpPr>
            <p:cNvPr id="11" name="TextBox 11">
              <a:extLst>
                <a:ext uri="{FF2B5EF4-FFF2-40B4-BE49-F238E27FC236}">
                  <a16:creationId xmlns:a16="http://schemas.microsoft.com/office/drawing/2014/main" id="{1C1D352E-F185-E6C8-65F5-62C610CFC93F}"/>
                </a:ext>
              </a:extLst>
            </p:cNvPr>
            <p:cNvSpPr txBox="1"/>
            <p:nvPr/>
          </p:nvSpPr>
          <p:spPr>
            <a:xfrm>
              <a:off x="76200" y="9525"/>
              <a:ext cx="660400" cy="727075"/>
            </a:xfrm>
            <a:prstGeom prst="rect">
              <a:avLst/>
            </a:prstGeom>
          </p:spPr>
          <p:txBody>
            <a:bodyPr lIns="32732" tIns="32732" rIns="32732" bIns="32732" rtlCol="0" anchor="ctr"/>
            <a:lstStyle/>
            <a:p>
              <a:pPr algn="ctr">
                <a:lnSpc>
                  <a:spcPts val="2240"/>
                </a:lnSpc>
              </a:pPr>
              <a:endParaRPr/>
            </a:p>
          </p:txBody>
        </p:sp>
      </p:grpSp>
      <p:sp>
        <p:nvSpPr>
          <p:cNvPr id="12" name="Freeform 12">
            <a:extLst>
              <a:ext uri="{FF2B5EF4-FFF2-40B4-BE49-F238E27FC236}">
                <a16:creationId xmlns:a16="http://schemas.microsoft.com/office/drawing/2014/main" id="{197B9A17-A43E-B47E-8513-88196C8BB0F2}"/>
              </a:ext>
            </a:extLst>
          </p:cNvPr>
          <p:cNvSpPr/>
          <p:nvPr/>
        </p:nvSpPr>
        <p:spPr>
          <a:xfrm>
            <a:off x="14433428" y="1860792"/>
            <a:ext cx="3471441" cy="2095488"/>
          </a:xfrm>
          <a:custGeom>
            <a:avLst/>
            <a:gdLst/>
            <a:ahLst/>
            <a:cxnLst/>
            <a:rect l="l" t="t" r="r" b="b"/>
            <a:pathLst>
              <a:path w="4531505" h="2735381">
                <a:moveTo>
                  <a:pt x="0" y="0"/>
                </a:moveTo>
                <a:lnTo>
                  <a:pt x="4531505" y="0"/>
                </a:lnTo>
                <a:lnTo>
                  <a:pt x="4531505" y="2735381"/>
                </a:lnTo>
                <a:lnTo>
                  <a:pt x="0" y="27353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3" name="Freeform 13">
            <a:extLst>
              <a:ext uri="{FF2B5EF4-FFF2-40B4-BE49-F238E27FC236}">
                <a16:creationId xmlns:a16="http://schemas.microsoft.com/office/drawing/2014/main" id="{40BE01C7-4806-33CE-33DC-F6C77B302F84}"/>
              </a:ext>
            </a:extLst>
          </p:cNvPr>
          <p:cNvSpPr/>
          <p:nvPr/>
        </p:nvSpPr>
        <p:spPr>
          <a:xfrm flipH="1">
            <a:off x="1621728" y="4089532"/>
            <a:ext cx="150222" cy="245170"/>
          </a:xfrm>
          <a:custGeom>
            <a:avLst/>
            <a:gdLst/>
            <a:ahLst/>
            <a:cxnLst/>
            <a:rect l="l" t="t" r="r" b="b"/>
            <a:pathLst>
              <a:path w="150222" h="245170">
                <a:moveTo>
                  <a:pt x="150222" y="0"/>
                </a:moveTo>
                <a:lnTo>
                  <a:pt x="0" y="0"/>
                </a:lnTo>
                <a:lnTo>
                  <a:pt x="0" y="245170"/>
                </a:lnTo>
                <a:lnTo>
                  <a:pt x="150222" y="245170"/>
                </a:lnTo>
                <a:lnTo>
                  <a:pt x="150222"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5" name="Freeform 15">
            <a:extLst>
              <a:ext uri="{FF2B5EF4-FFF2-40B4-BE49-F238E27FC236}">
                <a16:creationId xmlns:a16="http://schemas.microsoft.com/office/drawing/2014/main" id="{C8FA4D4D-6485-1AD3-91C7-FFD1874B6EC6}"/>
              </a:ext>
            </a:extLst>
          </p:cNvPr>
          <p:cNvSpPr/>
          <p:nvPr/>
        </p:nvSpPr>
        <p:spPr>
          <a:xfrm rot="-6240773" flipH="1">
            <a:off x="11604135" y="5958735"/>
            <a:ext cx="6111526" cy="10063890"/>
          </a:xfrm>
          <a:custGeom>
            <a:avLst/>
            <a:gdLst/>
            <a:ahLst/>
            <a:cxnLst/>
            <a:rect l="l" t="t" r="r" b="b"/>
            <a:pathLst>
              <a:path w="6111526" h="10063890">
                <a:moveTo>
                  <a:pt x="6111526" y="0"/>
                </a:moveTo>
                <a:lnTo>
                  <a:pt x="0" y="0"/>
                </a:lnTo>
                <a:lnTo>
                  <a:pt x="0" y="10063890"/>
                </a:lnTo>
                <a:lnTo>
                  <a:pt x="6111526" y="10063890"/>
                </a:lnTo>
                <a:lnTo>
                  <a:pt x="6111526" y="0"/>
                </a:lnTo>
                <a:close/>
              </a:path>
            </a:pathLst>
          </a:custGeom>
          <a:blipFill>
            <a:blip r:embed="rId10">
              <a:alphaModFix amt="5000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6" name="TextBox 16">
            <a:extLst>
              <a:ext uri="{FF2B5EF4-FFF2-40B4-BE49-F238E27FC236}">
                <a16:creationId xmlns:a16="http://schemas.microsoft.com/office/drawing/2014/main" id="{923B3CE1-A43E-7B50-88F7-0D11FB0B90AF}"/>
              </a:ext>
            </a:extLst>
          </p:cNvPr>
          <p:cNvSpPr txBox="1"/>
          <p:nvPr/>
        </p:nvSpPr>
        <p:spPr>
          <a:xfrm>
            <a:off x="2206151" y="3995922"/>
            <a:ext cx="13799459" cy="436017"/>
          </a:xfrm>
          <a:prstGeom prst="rect">
            <a:avLst/>
          </a:prstGeom>
        </p:spPr>
        <p:txBody>
          <a:bodyPr wrap="square" lIns="0" tIns="0" rIns="0" bIns="0" rtlCol="0" anchor="t">
            <a:spAutoFit/>
          </a:bodyPr>
          <a:lstStyle/>
          <a:p>
            <a:pPr>
              <a:lnSpc>
                <a:spcPts val="3359"/>
              </a:lnSpc>
            </a:pPr>
            <a:r>
              <a:rPr lang="en-US" sz="3200" b="1" dirty="0" err="1">
                <a:solidFill>
                  <a:srgbClr val="171814"/>
                </a:solidFill>
                <a:latin typeface="Arial" panose="020B0604020202020204" pitchFamily="34" charset="0"/>
                <a:ea typeface="Poppins Bold"/>
                <a:cs typeface="Arial" panose="020B0604020202020204" pitchFamily="34" charset="0"/>
                <a:sym typeface="Poppins Bold"/>
              </a:rPr>
              <a:t>Mục</a:t>
            </a:r>
            <a:r>
              <a:rPr lang="en-US" sz="3200" b="1" dirty="0">
                <a:solidFill>
                  <a:srgbClr val="171814"/>
                </a:solidFill>
                <a:latin typeface="Arial" panose="020B0604020202020204" pitchFamily="34" charset="0"/>
                <a:ea typeface="Poppins Bold"/>
                <a:cs typeface="Arial" panose="020B0604020202020204" pitchFamily="34" charset="0"/>
                <a:sym typeface="Poppins Bold"/>
              </a:rPr>
              <a:t> 1. </a:t>
            </a:r>
            <a:r>
              <a:rPr lang="en-US" sz="3200" b="1" dirty="0">
                <a:solidFill>
                  <a:srgbClr val="FF0000"/>
                </a:solidFill>
                <a:latin typeface="Arial" panose="020B0604020202020204" pitchFamily="34" charset="0"/>
                <a:ea typeface="Poppins Bold"/>
                <a:cs typeface="Arial" panose="020B0604020202020204" pitchFamily="34" charset="0"/>
                <a:sym typeface="Poppins Bold"/>
              </a:rPr>
              <a:t>Quy </a:t>
            </a:r>
            <a:r>
              <a:rPr lang="en-US" sz="3200" b="1" dirty="0" err="1">
                <a:solidFill>
                  <a:srgbClr val="FF0000"/>
                </a:solidFill>
                <a:latin typeface="Arial" panose="020B0604020202020204" pitchFamily="34" charset="0"/>
                <a:ea typeface="Poppins Bold"/>
                <a:cs typeface="Arial" panose="020B0604020202020204" pitchFamily="34" charset="0"/>
                <a:sym typeface="Poppins Bold"/>
              </a:rPr>
              <a:t>định</a:t>
            </a:r>
            <a:r>
              <a:rPr lang="en-US" sz="3200" b="1" dirty="0">
                <a:solidFill>
                  <a:srgbClr val="FF0000"/>
                </a:solidFill>
                <a:latin typeface="Arial" panose="020B0604020202020204" pitchFamily="34" charset="0"/>
                <a:ea typeface="Poppins Bold"/>
                <a:cs typeface="Arial" panose="020B0604020202020204" pitchFamily="34" charset="0"/>
                <a:sym typeface="Poppins Bold"/>
              </a:rPr>
              <a:t> </a:t>
            </a:r>
            <a:r>
              <a:rPr lang="en-US" sz="3200" b="1" dirty="0" err="1">
                <a:solidFill>
                  <a:srgbClr val="FF0000"/>
                </a:solidFill>
                <a:latin typeface="Arial" panose="020B0604020202020204" pitchFamily="34" charset="0"/>
                <a:ea typeface="Poppins Bold"/>
                <a:cs typeface="Arial" panose="020B0604020202020204" pitchFamily="34" charset="0"/>
                <a:sym typeface="Poppins Bold"/>
              </a:rPr>
              <a:t>chung</a:t>
            </a:r>
            <a:r>
              <a:rPr lang="en-US" sz="3200" b="1" dirty="0">
                <a:solidFill>
                  <a:srgbClr val="FF0000"/>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về</a:t>
            </a:r>
            <a:r>
              <a:rPr lang="en-US" sz="3200" b="1" dirty="0">
                <a:solidFill>
                  <a:srgbClr val="171814"/>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ứng</a:t>
            </a:r>
            <a:r>
              <a:rPr lang="en-US" sz="3200" b="1" dirty="0">
                <a:solidFill>
                  <a:srgbClr val="171814"/>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dụng</a:t>
            </a:r>
            <a:r>
              <a:rPr lang="en-US" sz="3200" b="1" dirty="0">
                <a:solidFill>
                  <a:srgbClr val="171814"/>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công</a:t>
            </a:r>
            <a:r>
              <a:rPr lang="en-US" sz="3200" b="1" dirty="0">
                <a:solidFill>
                  <a:srgbClr val="171814"/>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nghệ</a:t>
            </a:r>
            <a:r>
              <a:rPr lang="en-US" sz="3200" b="1" dirty="0">
                <a:solidFill>
                  <a:srgbClr val="171814"/>
                </a:solidFill>
                <a:latin typeface="Arial" panose="020B0604020202020204" pitchFamily="34" charset="0"/>
                <a:ea typeface="Poppins Bold"/>
                <a:cs typeface="Arial" panose="020B0604020202020204" pitchFamily="34" charset="0"/>
                <a:sym typeface="Poppins Bold"/>
              </a:rPr>
              <a:t> </a:t>
            </a:r>
            <a:r>
              <a:rPr lang="en-US" sz="3200" b="1" dirty="0" err="1">
                <a:solidFill>
                  <a:srgbClr val="171814"/>
                </a:solidFill>
                <a:latin typeface="Arial" panose="020B0604020202020204" pitchFamily="34" charset="0"/>
                <a:ea typeface="Poppins Bold"/>
                <a:cs typeface="Arial" panose="020B0604020202020204" pitchFamily="34" charset="0"/>
                <a:sym typeface="Poppins Bold"/>
              </a:rPr>
              <a:t>thông</a:t>
            </a:r>
            <a:r>
              <a:rPr lang="en-US" sz="3200" b="1" dirty="0">
                <a:solidFill>
                  <a:srgbClr val="171814"/>
                </a:solidFill>
                <a:latin typeface="Arial" panose="020B0604020202020204" pitchFamily="34" charset="0"/>
                <a:ea typeface="Poppins Bold"/>
                <a:cs typeface="Arial" panose="020B0604020202020204" pitchFamily="34" charset="0"/>
                <a:sym typeface="Poppins Bold"/>
              </a:rPr>
              <a:t> tin</a:t>
            </a:r>
          </a:p>
        </p:txBody>
      </p:sp>
      <p:sp>
        <p:nvSpPr>
          <p:cNvPr id="17" name="TextBox 17">
            <a:extLst>
              <a:ext uri="{FF2B5EF4-FFF2-40B4-BE49-F238E27FC236}">
                <a16:creationId xmlns:a16="http://schemas.microsoft.com/office/drawing/2014/main" id="{8BDD505C-8EEB-80A5-62B5-D27E0F620F55}"/>
              </a:ext>
            </a:extLst>
          </p:cNvPr>
          <p:cNvSpPr txBox="1"/>
          <p:nvPr/>
        </p:nvSpPr>
        <p:spPr>
          <a:xfrm>
            <a:off x="1371600" y="1502590"/>
            <a:ext cx="14752519" cy="1683731"/>
          </a:xfrm>
          <a:prstGeom prst="rect">
            <a:avLst/>
          </a:prstGeom>
        </p:spPr>
        <p:txBody>
          <a:bodyPr wrap="square" lIns="0" tIns="0" rIns="0" bIns="0" rtlCol="0" anchor="t">
            <a:spAutoFit/>
          </a:bodyPr>
          <a:lstStyle/>
          <a:p>
            <a:pPr algn="l">
              <a:lnSpc>
                <a:spcPts val="6800"/>
              </a:lnSpc>
            </a:pPr>
            <a:r>
              <a:rPr lang="vi-VN" sz="5400" b="1" dirty="0">
                <a:solidFill>
                  <a:schemeClr val="accent6">
                    <a:lumMod val="50000"/>
                  </a:schemeClr>
                </a:solidFill>
                <a:ea typeface="Agrandir Bold"/>
                <a:cs typeface="Agrandir Bold"/>
                <a:sym typeface="Agrandir Bold"/>
              </a:rPr>
              <a:t>Chương 2. </a:t>
            </a:r>
            <a:endParaRPr lang="en-US" sz="5400" b="1" dirty="0">
              <a:solidFill>
                <a:schemeClr val="accent6">
                  <a:lumMod val="50000"/>
                </a:schemeClr>
              </a:solidFill>
              <a:ea typeface="Agrandir Bold"/>
              <a:cs typeface="Agrandir Bold"/>
              <a:sym typeface="Agrandir Bold"/>
            </a:endParaRPr>
          </a:p>
          <a:p>
            <a:pPr algn="l">
              <a:lnSpc>
                <a:spcPts val="6800"/>
              </a:lnSpc>
            </a:pPr>
            <a:r>
              <a:rPr lang="vi-VN" sz="5400" b="1" dirty="0">
                <a:solidFill>
                  <a:schemeClr val="accent6">
                    <a:lumMod val="50000"/>
                  </a:schemeClr>
                </a:solidFill>
                <a:ea typeface="Agrandir Bold"/>
                <a:cs typeface="Agrandir Bold"/>
                <a:sym typeface="Agrandir Bold"/>
              </a:rPr>
              <a:t>ỨNG DỤNG CÔNG NGHỆ THÔNG TIN</a:t>
            </a:r>
          </a:p>
        </p:txBody>
      </p:sp>
      <p:sp>
        <p:nvSpPr>
          <p:cNvPr id="18" name="Freeform 18">
            <a:extLst>
              <a:ext uri="{FF2B5EF4-FFF2-40B4-BE49-F238E27FC236}">
                <a16:creationId xmlns:a16="http://schemas.microsoft.com/office/drawing/2014/main" id="{1EF2A549-5651-B59E-A1CD-26D7B669EEE0}"/>
              </a:ext>
            </a:extLst>
          </p:cNvPr>
          <p:cNvSpPr/>
          <p:nvPr/>
        </p:nvSpPr>
        <p:spPr>
          <a:xfrm>
            <a:off x="10172857" y="2785700"/>
            <a:ext cx="820691" cy="769957"/>
          </a:xfrm>
          <a:custGeom>
            <a:avLst/>
            <a:gdLst/>
            <a:ahLst/>
            <a:cxnLst/>
            <a:rect l="l" t="t" r="r" b="b"/>
            <a:pathLst>
              <a:path w="820691" h="769957">
                <a:moveTo>
                  <a:pt x="0" y="0"/>
                </a:moveTo>
                <a:lnTo>
                  <a:pt x="820691" y="0"/>
                </a:lnTo>
                <a:lnTo>
                  <a:pt x="820691" y="769958"/>
                </a:lnTo>
                <a:lnTo>
                  <a:pt x="0" y="76995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9795E5C8-ECC3-2505-E7B1-43E172C59035}"/>
              </a:ext>
            </a:extLst>
          </p:cNvPr>
          <p:cNvSpPr/>
          <p:nvPr/>
        </p:nvSpPr>
        <p:spPr>
          <a:xfrm>
            <a:off x="518209" y="8503498"/>
            <a:ext cx="1020982" cy="1039889"/>
          </a:xfrm>
          <a:custGeom>
            <a:avLst/>
            <a:gdLst/>
            <a:ahLst/>
            <a:cxnLst/>
            <a:rect l="l" t="t" r="r" b="b"/>
            <a:pathLst>
              <a:path w="1020982" h="1039889">
                <a:moveTo>
                  <a:pt x="0" y="0"/>
                </a:moveTo>
                <a:lnTo>
                  <a:pt x="1020982" y="0"/>
                </a:lnTo>
                <a:lnTo>
                  <a:pt x="1020982" y="1039889"/>
                </a:lnTo>
                <a:lnTo>
                  <a:pt x="0" y="1039889"/>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20" name="Freeform 20">
            <a:extLst>
              <a:ext uri="{FF2B5EF4-FFF2-40B4-BE49-F238E27FC236}">
                <a16:creationId xmlns:a16="http://schemas.microsoft.com/office/drawing/2014/main" id="{EAD72DB9-57D9-2516-C54F-3D5F64B51C95}"/>
              </a:ext>
            </a:extLst>
          </p:cNvPr>
          <p:cNvSpPr/>
          <p:nvPr/>
        </p:nvSpPr>
        <p:spPr>
          <a:xfrm>
            <a:off x="16296204" y="1028700"/>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21" name="Freeform 21">
            <a:extLst>
              <a:ext uri="{FF2B5EF4-FFF2-40B4-BE49-F238E27FC236}">
                <a16:creationId xmlns:a16="http://schemas.microsoft.com/office/drawing/2014/main" id="{B2F32934-E7E5-A126-91EC-8FED55DDEA81}"/>
              </a:ext>
            </a:extLst>
          </p:cNvPr>
          <p:cNvSpPr/>
          <p:nvPr/>
        </p:nvSpPr>
        <p:spPr>
          <a:xfrm>
            <a:off x="16734626" y="5103725"/>
            <a:ext cx="1049348" cy="803228"/>
          </a:xfrm>
          <a:custGeom>
            <a:avLst/>
            <a:gdLst/>
            <a:ahLst/>
            <a:cxnLst/>
            <a:rect l="l" t="t" r="r" b="b"/>
            <a:pathLst>
              <a:path w="1049348" h="803228">
                <a:moveTo>
                  <a:pt x="0" y="0"/>
                </a:moveTo>
                <a:lnTo>
                  <a:pt x="1049348" y="0"/>
                </a:lnTo>
                <a:lnTo>
                  <a:pt x="1049348" y="803229"/>
                </a:lnTo>
                <a:lnTo>
                  <a:pt x="0" y="803229"/>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grpSp>
        <p:nvGrpSpPr>
          <p:cNvPr id="26" name="Group 9">
            <a:extLst>
              <a:ext uri="{FF2B5EF4-FFF2-40B4-BE49-F238E27FC236}">
                <a16:creationId xmlns:a16="http://schemas.microsoft.com/office/drawing/2014/main" id="{E52D709B-0A40-179D-9E78-96B5ECB469E1}"/>
              </a:ext>
            </a:extLst>
          </p:cNvPr>
          <p:cNvGrpSpPr/>
          <p:nvPr/>
        </p:nvGrpSpPr>
        <p:grpSpPr>
          <a:xfrm>
            <a:off x="1391319" y="5011862"/>
            <a:ext cx="644881" cy="644881"/>
            <a:chOff x="0" y="0"/>
            <a:chExt cx="812800" cy="812800"/>
          </a:xfrm>
        </p:grpSpPr>
        <p:sp>
          <p:nvSpPr>
            <p:cNvPr id="27" name="Freeform 10">
              <a:extLst>
                <a:ext uri="{FF2B5EF4-FFF2-40B4-BE49-F238E27FC236}">
                  <a16:creationId xmlns:a16="http://schemas.microsoft.com/office/drawing/2014/main" id="{70AFDB4F-0D75-F6B9-8662-3BC17E4DF8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8A65"/>
            </a:solidFill>
          </p:spPr>
          <p:txBody>
            <a:bodyPr/>
            <a:lstStyle/>
            <a:p>
              <a:endParaRPr lang="en-US"/>
            </a:p>
          </p:txBody>
        </p:sp>
        <p:sp>
          <p:nvSpPr>
            <p:cNvPr id="28" name="TextBox 11">
              <a:extLst>
                <a:ext uri="{FF2B5EF4-FFF2-40B4-BE49-F238E27FC236}">
                  <a16:creationId xmlns:a16="http://schemas.microsoft.com/office/drawing/2014/main" id="{9D003C38-7D64-1570-D819-B7D8EB89004B}"/>
                </a:ext>
              </a:extLst>
            </p:cNvPr>
            <p:cNvSpPr txBox="1"/>
            <p:nvPr/>
          </p:nvSpPr>
          <p:spPr>
            <a:xfrm>
              <a:off x="76200" y="9525"/>
              <a:ext cx="660400" cy="727075"/>
            </a:xfrm>
            <a:prstGeom prst="rect">
              <a:avLst/>
            </a:prstGeom>
          </p:spPr>
          <p:txBody>
            <a:bodyPr lIns="32732" tIns="32732" rIns="32732" bIns="32732" rtlCol="0" anchor="ctr"/>
            <a:lstStyle/>
            <a:p>
              <a:pPr algn="ctr">
                <a:lnSpc>
                  <a:spcPts val="2240"/>
                </a:lnSpc>
              </a:pPr>
              <a:endParaRPr/>
            </a:p>
          </p:txBody>
        </p:sp>
      </p:grpSp>
      <p:sp>
        <p:nvSpPr>
          <p:cNvPr id="29" name="Freeform 13">
            <a:extLst>
              <a:ext uri="{FF2B5EF4-FFF2-40B4-BE49-F238E27FC236}">
                <a16:creationId xmlns:a16="http://schemas.microsoft.com/office/drawing/2014/main" id="{933D684D-F364-6054-05DA-2C43B235FCFC}"/>
              </a:ext>
            </a:extLst>
          </p:cNvPr>
          <p:cNvSpPr/>
          <p:nvPr/>
        </p:nvSpPr>
        <p:spPr>
          <a:xfrm flipH="1">
            <a:off x="1638649" y="5211717"/>
            <a:ext cx="150222" cy="245170"/>
          </a:xfrm>
          <a:custGeom>
            <a:avLst/>
            <a:gdLst/>
            <a:ahLst/>
            <a:cxnLst/>
            <a:rect l="l" t="t" r="r" b="b"/>
            <a:pathLst>
              <a:path w="150222" h="245170">
                <a:moveTo>
                  <a:pt x="150222" y="0"/>
                </a:moveTo>
                <a:lnTo>
                  <a:pt x="0" y="0"/>
                </a:lnTo>
                <a:lnTo>
                  <a:pt x="0" y="245170"/>
                </a:lnTo>
                <a:lnTo>
                  <a:pt x="150222" y="245170"/>
                </a:lnTo>
                <a:lnTo>
                  <a:pt x="150222"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0" name="TextBox 16">
            <a:extLst>
              <a:ext uri="{FF2B5EF4-FFF2-40B4-BE49-F238E27FC236}">
                <a16:creationId xmlns:a16="http://schemas.microsoft.com/office/drawing/2014/main" id="{E693E472-15D9-78D3-2BF3-D50A284FDC84}"/>
              </a:ext>
            </a:extLst>
          </p:cNvPr>
          <p:cNvSpPr txBox="1"/>
          <p:nvPr/>
        </p:nvSpPr>
        <p:spPr>
          <a:xfrm>
            <a:off x="2223072" y="5143500"/>
            <a:ext cx="15258030" cy="436017"/>
          </a:xfrm>
          <a:prstGeom prst="rect">
            <a:avLst/>
          </a:prstGeom>
        </p:spPr>
        <p:txBody>
          <a:bodyPr wrap="square" lIns="0" tIns="0" rIns="0" bIns="0" rtlCol="0" anchor="t">
            <a:spAutoFit/>
          </a:bodyPr>
          <a:lstStyle/>
          <a:p>
            <a:pPr algn="l">
              <a:lnSpc>
                <a:spcPts val="3359"/>
              </a:lnSpc>
            </a:pPr>
            <a:r>
              <a:rPr lang="vi-VN" sz="3200" b="1" dirty="0">
                <a:solidFill>
                  <a:srgbClr val="171814"/>
                </a:solidFill>
                <a:latin typeface="Arial" panose="020B0604020202020204" pitchFamily="34" charset="0"/>
                <a:ea typeface="Poppins Bold"/>
                <a:cs typeface="Arial" panose="020B0604020202020204" pitchFamily="34" charset="0"/>
                <a:sym typeface="Poppins Bold"/>
              </a:rPr>
              <a:t>Mục 2. Ứng dụng công nghệ thông tin trong </a:t>
            </a:r>
            <a:r>
              <a:rPr lang="vi-VN" sz="3200" b="1" dirty="0">
                <a:solidFill>
                  <a:srgbClr val="FF0000"/>
                </a:solidFill>
                <a:latin typeface="Arial" panose="020B0604020202020204" pitchFamily="34" charset="0"/>
                <a:ea typeface="Poppins Bold"/>
                <a:cs typeface="Arial" panose="020B0604020202020204" pitchFamily="34" charset="0"/>
                <a:sym typeface="Poppins Bold"/>
              </a:rPr>
              <a:t>hoạt động của cơ quan nhà nước</a:t>
            </a:r>
            <a:endParaRPr lang="en-US" sz="3200" b="1" dirty="0">
              <a:solidFill>
                <a:srgbClr val="FF0000"/>
              </a:solidFill>
              <a:latin typeface="Arial" panose="020B0604020202020204" pitchFamily="34" charset="0"/>
              <a:ea typeface="Poppins Bold"/>
              <a:cs typeface="Arial" panose="020B0604020202020204" pitchFamily="34" charset="0"/>
              <a:sym typeface="Poppins Bold"/>
            </a:endParaRPr>
          </a:p>
        </p:txBody>
      </p:sp>
      <p:grpSp>
        <p:nvGrpSpPr>
          <p:cNvPr id="31" name="Group 9">
            <a:extLst>
              <a:ext uri="{FF2B5EF4-FFF2-40B4-BE49-F238E27FC236}">
                <a16:creationId xmlns:a16="http://schemas.microsoft.com/office/drawing/2014/main" id="{4FBAF6DF-2553-757E-26FA-FF01FC0DBBA2}"/>
              </a:ext>
            </a:extLst>
          </p:cNvPr>
          <p:cNvGrpSpPr/>
          <p:nvPr/>
        </p:nvGrpSpPr>
        <p:grpSpPr>
          <a:xfrm>
            <a:off x="1391319" y="6098819"/>
            <a:ext cx="644881" cy="644881"/>
            <a:chOff x="0" y="0"/>
            <a:chExt cx="812800" cy="812800"/>
          </a:xfrm>
        </p:grpSpPr>
        <p:sp>
          <p:nvSpPr>
            <p:cNvPr id="32" name="Freeform 10">
              <a:extLst>
                <a:ext uri="{FF2B5EF4-FFF2-40B4-BE49-F238E27FC236}">
                  <a16:creationId xmlns:a16="http://schemas.microsoft.com/office/drawing/2014/main" id="{97FE5A9A-3691-D8F8-1089-059B1C18EE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8A65"/>
            </a:solidFill>
          </p:spPr>
          <p:txBody>
            <a:bodyPr/>
            <a:lstStyle/>
            <a:p>
              <a:endParaRPr lang="en-US"/>
            </a:p>
          </p:txBody>
        </p:sp>
        <p:sp>
          <p:nvSpPr>
            <p:cNvPr id="33" name="TextBox 11">
              <a:extLst>
                <a:ext uri="{FF2B5EF4-FFF2-40B4-BE49-F238E27FC236}">
                  <a16:creationId xmlns:a16="http://schemas.microsoft.com/office/drawing/2014/main" id="{F9BE3C09-B04D-0D70-B8DB-FBA51773EE32}"/>
                </a:ext>
              </a:extLst>
            </p:cNvPr>
            <p:cNvSpPr txBox="1"/>
            <p:nvPr/>
          </p:nvSpPr>
          <p:spPr>
            <a:xfrm>
              <a:off x="76200" y="9525"/>
              <a:ext cx="660400" cy="727075"/>
            </a:xfrm>
            <a:prstGeom prst="rect">
              <a:avLst/>
            </a:prstGeom>
          </p:spPr>
          <p:txBody>
            <a:bodyPr lIns="32732" tIns="32732" rIns="32732" bIns="32732" rtlCol="0" anchor="ctr"/>
            <a:lstStyle/>
            <a:p>
              <a:pPr algn="ctr">
                <a:lnSpc>
                  <a:spcPts val="2240"/>
                </a:lnSpc>
              </a:pPr>
              <a:endParaRPr/>
            </a:p>
          </p:txBody>
        </p:sp>
      </p:grpSp>
      <p:sp>
        <p:nvSpPr>
          <p:cNvPr id="34" name="Freeform 13">
            <a:extLst>
              <a:ext uri="{FF2B5EF4-FFF2-40B4-BE49-F238E27FC236}">
                <a16:creationId xmlns:a16="http://schemas.microsoft.com/office/drawing/2014/main" id="{BBC4084C-4E69-E0E2-8730-33CDB7E25B8F}"/>
              </a:ext>
            </a:extLst>
          </p:cNvPr>
          <p:cNvSpPr/>
          <p:nvPr/>
        </p:nvSpPr>
        <p:spPr>
          <a:xfrm flipH="1">
            <a:off x="1638649" y="6298674"/>
            <a:ext cx="150222" cy="245170"/>
          </a:xfrm>
          <a:custGeom>
            <a:avLst/>
            <a:gdLst/>
            <a:ahLst/>
            <a:cxnLst/>
            <a:rect l="l" t="t" r="r" b="b"/>
            <a:pathLst>
              <a:path w="150222" h="245170">
                <a:moveTo>
                  <a:pt x="150222" y="0"/>
                </a:moveTo>
                <a:lnTo>
                  <a:pt x="0" y="0"/>
                </a:lnTo>
                <a:lnTo>
                  <a:pt x="0" y="245170"/>
                </a:lnTo>
                <a:lnTo>
                  <a:pt x="150222" y="245170"/>
                </a:lnTo>
                <a:lnTo>
                  <a:pt x="150222"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TextBox 16">
            <a:extLst>
              <a:ext uri="{FF2B5EF4-FFF2-40B4-BE49-F238E27FC236}">
                <a16:creationId xmlns:a16="http://schemas.microsoft.com/office/drawing/2014/main" id="{87F242BB-9DBB-BA1A-3EE0-27F613B36A28}"/>
              </a:ext>
            </a:extLst>
          </p:cNvPr>
          <p:cNvSpPr txBox="1"/>
          <p:nvPr/>
        </p:nvSpPr>
        <p:spPr>
          <a:xfrm>
            <a:off x="2223072" y="6205064"/>
            <a:ext cx="13669084" cy="436017"/>
          </a:xfrm>
          <a:prstGeom prst="rect">
            <a:avLst/>
          </a:prstGeom>
        </p:spPr>
        <p:txBody>
          <a:bodyPr wrap="square" lIns="0" tIns="0" rIns="0" bIns="0" rtlCol="0" anchor="t">
            <a:spAutoFit/>
          </a:bodyPr>
          <a:lstStyle/>
          <a:p>
            <a:pPr algn="l">
              <a:lnSpc>
                <a:spcPts val="3359"/>
              </a:lnSpc>
            </a:pPr>
            <a:r>
              <a:rPr lang="vi-VN" sz="3200" b="1" dirty="0">
                <a:solidFill>
                  <a:srgbClr val="171814"/>
                </a:solidFill>
                <a:latin typeface="Arial" panose="020B0604020202020204" pitchFamily="34" charset="0"/>
                <a:ea typeface="Poppins Bold"/>
                <a:cs typeface="Arial" panose="020B0604020202020204" pitchFamily="34" charset="0"/>
                <a:sym typeface="Poppins Bold"/>
              </a:rPr>
              <a:t>Mục 3. Ứng dụng công nghệ thông tin trong </a:t>
            </a:r>
            <a:r>
              <a:rPr lang="vi-VN" sz="3200" b="1" dirty="0">
                <a:solidFill>
                  <a:srgbClr val="FF0000"/>
                </a:solidFill>
                <a:latin typeface="Arial" panose="020B0604020202020204" pitchFamily="34" charset="0"/>
                <a:ea typeface="Poppins Bold"/>
                <a:cs typeface="Arial" panose="020B0604020202020204" pitchFamily="34" charset="0"/>
                <a:sym typeface="Poppins Bold"/>
              </a:rPr>
              <a:t>thương mại</a:t>
            </a:r>
          </a:p>
        </p:txBody>
      </p:sp>
      <p:grpSp>
        <p:nvGrpSpPr>
          <p:cNvPr id="36" name="Group 9">
            <a:extLst>
              <a:ext uri="{FF2B5EF4-FFF2-40B4-BE49-F238E27FC236}">
                <a16:creationId xmlns:a16="http://schemas.microsoft.com/office/drawing/2014/main" id="{16C8969D-38C4-1094-467C-AEFDA370574A}"/>
              </a:ext>
            </a:extLst>
          </p:cNvPr>
          <p:cNvGrpSpPr/>
          <p:nvPr/>
        </p:nvGrpSpPr>
        <p:grpSpPr>
          <a:xfrm>
            <a:off x="1371600" y="7165619"/>
            <a:ext cx="644881" cy="644881"/>
            <a:chOff x="0" y="0"/>
            <a:chExt cx="812800" cy="812800"/>
          </a:xfrm>
        </p:grpSpPr>
        <p:sp>
          <p:nvSpPr>
            <p:cNvPr id="37" name="Freeform 10">
              <a:extLst>
                <a:ext uri="{FF2B5EF4-FFF2-40B4-BE49-F238E27FC236}">
                  <a16:creationId xmlns:a16="http://schemas.microsoft.com/office/drawing/2014/main" id="{4ADC0F4A-19D6-1C3F-F6C8-47059006EE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8A65"/>
            </a:solidFill>
          </p:spPr>
          <p:txBody>
            <a:bodyPr/>
            <a:lstStyle/>
            <a:p>
              <a:endParaRPr lang="en-US"/>
            </a:p>
          </p:txBody>
        </p:sp>
        <p:sp>
          <p:nvSpPr>
            <p:cNvPr id="38" name="TextBox 11">
              <a:extLst>
                <a:ext uri="{FF2B5EF4-FFF2-40B4-BE49-F238E27FC236}">
                  <a16:creationId xmlns:a16="http://schemas.microsoft.com/office/drawing/2014/main" id="{3DC728DA-715E-344B-B047-B761578CCBCB}"/>
                </a:ext>
              </a:extLst>
            </p:cNvPr>
            <p:cNvSpPr txBox="1"/>
            <p:nvPr/>
          </p:nvSpPr>
          <p:spPr>
            <a:xfrm>
              <a:off x="76200" y="9525"/>
              <a:ext cx="660400" cy="727075"/>
            </a:xfrm>
            <a:prstGeom prst="rect">
              <a:avLst/>
            </a:prstGeom>
          </p:spPr>
          <p:txBody>
            <a:bodyPr lIns="32732" tIns="32732" rIns="32732" bIns="32732" rtlCol="0" anchor="ctr"/>
            <a:lstStyle/>
            <a:p>
              <a:pPr algn="ctr">
                <a:lnSpc>
                  <a:spcPts val="2240"/>
                </a:lnSpc>
              </a:pPr>
              <a:endParaRPr/>
            </a:p>
          </p:txBody>
        </p:sp>
      </p:grpSp>
      <p:sp>
        <p:nvSpPr>
          <p:cNvPr id="39" name="Freeform 13">
            <a:extLst>
              <a:ext uri="{FF2B5EF4-FFF2-40B4-BE49-F238E27FC236}">
                <a16:creationId xmlns:a16="http://schemas.microsoft.com/office/drawing/2014/main" id="{05B726FB-DD7F-D981-B682-F0450E2B5506}"/>
              </a:ext>
            </a:extLst>
          </p:cNvPr>
          <p:cNvSpPr/>
          <p:nvPr/>
        </p:nvSpPr>
        <p:spPr>
          <a:xfrm flipH="1">
            <a:off x="1618930" y="7365474"/>
            <a:ext cx="150222" cy="245170"/>
          </a:xfrm>
          <a:custGeom>
            <a:avLst/>
            <a:gdLst/>
            <a:ahLst/>
            <a:cxnLst/>
            <a:rect l="l" t="t" r="r" b="b"/>
            <a:pathLst>
              <a:path w="150222" h="245170">
                <a:moveTo>
                  <a:pt x="150222" y="0"/>
                </a:moveTo>
                <a:lnTo>
                  <a:pt x="0" y="0"/>
                </a:lnTo>
                <a:lnTo>
                  <a:pt x="0" y="245170"/>
                </a:lnTo>
                <a:lnTo>
                  <a:pt x="150222" y="245170"/>
                </a:lnTo>
                <a:lnTo>
                  <a:pt x="150222"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40" name="TextBox 16">
            <a:extLst>
              <a:ext uri="{FF2B5EF4-FFF2-40B4-BE49-F238E27FC236}">
                <a16:creationId xmlns:a16="http://schemas.microsoft.com/office/drawing/2014/main" id="{4E783F45-9A6D-0ED2-83EB-595EA589771F}"/>
              </a:ext>
            </a:extLst>
          </p:cNvPr>
          <p:cNvSpPr txBox="1"/>
          <p:nvPr/>
        </p:nvSpPr>
        <p:spPr>
          <a:xfrm>
            <a:off x="2203353" y="7271864"/>
            <a:ext cx="13669084" cy="436017"/>
          </a:xfrm>
          <a:prstGeom prst="rect">
            <a:avLst/>
          </a:prstGeom>
        </p:spPr>
        <p:txBody>
          <a:bodyPr wrap="square" lIns="0" tIns="0" rIns="0" bIns="0" rtlCol="0" anchor="t">
            <a:spAutoFit/>
          </a:bodyPr>
          <a:lstStyle/>
          <a:p>
            <a:pPr algn="l">
              <a:lnSpc>
                <a:spcPts val="3359"/>
              </a:lnSpc>
            </a:pPr>
            <a:r>
              <a:rPr lang="vi-VN" sz="3200" b="1" dirty="0">
                <a:solidFill>
                  <a:srgbClr val="171814"/>
                </a:solidFill>
                <a:latin typeface="Arial" panose="020B0604020202020204" pitchFamily="34" charset="0"/>
                <a:ea typeface="Poppins Bold"/>
                <a:cs typeface="Arial" panose="020B0604020202020204" pitchFamily="34" charset="0"/>
                <a:sym typeface="Poppins Bold"/>
              </a:rPr>
              <a:t>Mục 4. Ứng dụng công nghệ thông tin trong </a:t>
            </a:r>
            <a:r>
              <a:rPr lang="vi-VN" sz="3200" b="1" dirty="0">
                <a:solidFill>
                  <a:srgbClr val="FF0000"/>
                </a:solidFill>
                <a:latin typeface="Arial" panose="020B0604020202020204" pitchFamily="34" charset="0"/>
                <a:ea typeface="Poppins Bold"/>
                <a:cs typeface="Arial" panose="020B0604020202020204" pitchFamily="34" charset="0"/>
                <a:sym typeface="Poppins Bold"/>
              </a:rPr>
              <a:t>một số lĩnh vực</a:t>
            </a:r>
          </a:p>
        </p:txBody>
      </p:sp>
      <p:pic>
        <p:nvPicPr>
          <p:cNvPr id="42" name="Picture 41">
            <a:extLst>
              <a:ext uri="{FF2B5EF4-FFF2-40B4-BE49-F238E27FC236}">
                <a16:creationId xmlns:a16="http://schemas.microsoft.com/office/drawing/2014/main" id="{FA60F294-FB9F-10DA-0835-8C846A2F2CC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3" name="Footer Placeholder 42">
            <a:extLst>
              <a:ext uri="{FF2B5EF4-FFF2-40B4-BE49-F238E27FC236}">
                <a16:creationId xmlns:a16="http://schemas.microsoft.com/office/drawing/2014/main" id="{53A98136-35ED-BA1E-03F5-8F5F3C14E3D0}"/>
              </a:ext>
            </a:extLst>
          </p:cNvPr>
          <p:cNvSpPr>
            <a:spLocks noGrp="1"/>
          </p:cNvSpPr>
          <p:nvPr>
            <p:ph type="ftr" sz="quarter" idx="11"/>
          </p:nvPr>
        </p:nvSpPr>
        <p:spPr>
          <a:xfrm>
            <a:off x="12217763" y="9690685"/>
            <a:ext cx="6070237" cy="467134"/>
          </a:xfrm>
        </p:spPr>
        <p:txBody>
          <a:bodyPr/>
          <a:lstStyle/>
          <a:p>
            <a:r>
              <a:rPr lang="en-US" sz="2000" b="1" dirty="0">
                <a:solidFill>
                  <a:srgbClr val="002060"/>
                </a:solidFill>
                <a:latin typeface="Arial" panose="020B0604020202020204" pitchFamily="34" charset="0"/>
                <a:cs typeface="Arial" panose="020B0604020202020204" pitchFamily="34" charset="0"/>
              </a:rPr>
              <a:t>22H1120002 - Huỳnh Nguyễn Quốc Bảo</a:t>
            </a:r>
          </a:p>
        </p:txBody>
      </p:sp>
    </p:spTree>
    <p:extLst>
      <p:ext uri="{BB962C8B-B14F-4D97-AF65-F5344CB8AC3E}">
        <p14:creationId xmlns:p14="http://schemas.microsoft.com/office/powerpoint/2010/main" val="123241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C9B0C1B6-6251-3055-218A-6ECEF23292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014811-4024-1DCB-F2DA-A8ED9F37F4FA}"/>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8922B2E4-5803-9DE9-CCBA-63978768C6F4}"/>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1BEBA58E-DAE0-DF83-1B55-BA5C801F85AA}"/>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70DCC789-D1CF-F0B8-F136-5D62B5250A04}"/>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2780B486-755B-8573-34FE-71F1E6563BB6}"/>
              </a:ext>
            </a:extLst>
          </p:cNvPr>
          <p:cNvSpPr txBox="1"/>
          <p:nvPr/>
        </p:nvSpPr>
        <p:spPr>
          <a:xfrm>
            <a:off x="1564299" y="1515711"/>
            <a:ext cx="12752956" cy="615553"/>
          </a:xfrm>
          <a:prstGeom prst="rect">
            <a:avLst/>
          </a:prstGeom>
        </p:spPr>
        <p:txBody>
          <a:bodyPr wrap="square" lIns="0" tIns="0" rIns="0" bIns="0" rtlCol="0" anchor="t">
            <a:spAutoFit/>
          </a:bodyPr>
          <a:lstStyle/>
          <a:p>
            <a:pPr algn="l"/>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1. Quy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định</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chung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về</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ứng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dụng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CNTT</a:t>
            </a:r>
          </a:p>
        </p:txBody>
      </p:sp>
      <p:sp>
        <p:nvSpPr>
          <p:cNvPr id="7" name="Freeform 7">
            <a:extLst>
              <a:ext uri="{FF2B5EF4-FFF2-40B4-BE49-F238E27FC236}">
                <a16:creationId xmlns:a16="http://schemas.microsoft.com/office/drawing/2014/main" id="{E1742B81-CE7F-5E83-1F28-84B526846140}"/>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82282248-8E13-1CB1-61FD-E7DDB97F1B0B}"/>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BD3A06E0-DF5A-F463-546D-421BBE0D1DCC}"/>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83F05E52-8B03-06F5-CA15-8640CAA4E110}"/>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DD17FACE-FE29-EF4F-1030-EF7763AB1824}"/>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1394B381-5DBF-508B-9655-DC692B5DEB13}"/>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D9D1F6E7-4F66-0EBE-ACA7-FC1A26C29ED6}"/>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833B5C49-6D81-F40B-F21F-868E35C65C77}"/>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61EB5D2B-F82F-BF3A-6D6F-87BA3976FB6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graphicFrame>
        <p:nvGraphicFramePr>
          <p:cNvPr id="42" name="Table 41">
            <a:extLst>
              <a:ext uri="{FF2B5EF4-FFF2-40B4-BE49-F238E27FC236}">
                <a16:creationId xmlns:a16="http://schemas.microsoft.com/office/drawing/2014/main" id="{9A31B655-F0F5-7679-DED8-295B6294A382}"/>
              </a:ext>
            </a:extLst>
          </p:cNvPr>
          <p:cNvGraphicFramePr>
            <a:graphicFrameLocks noGrp="1"/>
          </p:cNvGraphicFramePr>
          <p:nvPr>
            <p:extLst>
              <p:ext uri="{D42A27DB-BD31-4B8C-83A1-F6EECF244321}">
                <p14:modId xmlns:p14="http://schemas.microsoft.com/office/powerpoint/2010/main" val="2814416972"/>
              </p:ext>
            </p:extLst>
          </p:nvPr>
        </p:nvGraphicFramePr>
        <p:xfrm>
          <a:off x="1666255" y="2400969"/>
          <a:ext cx="14235158" cy="6370320"/>
        </p:xfrm>
        <a:graphic>
          <a:graphicData uri="http://schemas.openxmlformats.org/drawingml/2006/table">
            <a:tbl>
              <a:tblPr firstRow="1" bandRow="1">
                <a:tableStyleId>{5940675A-B579-460E-94D1-54222C63F5DA}</a:tableStyleId>
              </a:tblPr>
              <a:tblGrid>
                <a:gridCol w="1793481">
                  <a:extLst>
                    <a:ext uri="{9D8B030D-6E8A-4147-A177-3AD203B41FA5}">
                      <a16:colId xmlns:a16="http://schemas.microsoft.com/office/drawing/2014/main" val="254914123"/>
                    </a:ext>
                  </a:extLst>
                </a:gridCol>
                <a:gridCol w="12441677">
                  <a:extLst>
                    <a:ext uri="{9D8B030D-6E8A-4147-A177-3AD203B41FA5}">
                      <a16:colId xmlns:a16="http://schemas.microsoft.com/office/drawing/2014/main" val="1989779494"/>
                    </a:ext>
                  </a:extLst>
                </a:gridCol>
              </a:tblGrid>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13</a:t>
                      </a:r>
                    </a:p>
                  </a:txBody>
                  <a:tcPr/>
                </a:tc>
                <a:tc>
                  <a:txBody>
                    <a:bodyPr/>
                    <a:lstStyle/>
                    <a:p>
                      <a:r>
                        <a:rPr lang="en-US" sz="3200" dirty="0">
                          <a:solidFill>
                            <a:srgbClr val="FF0000"/>
                          </a:solidFill>
                          <a:latin typeface="Arial" panose="020B0604020202020204" pitchFamily="34" charset="0"/>
                          <a:cs typeface="Arial" panose="020B0604020202020204" pitchFamily="34" charset="0"/>
                        </a:rPr>
                        <a:t>Nguyên </a:t>
                      </a:r>
                      <a:r>
                        <a:rPr lang="en-US" sz="3200" dirty="0" err="1">
                          <a:solidFill>
                            <a:srgbClr val="FF0000"/>
                          </a:solidFill>
                          <a:latin typeface="Arial" panose="020B0604020202020204" pitchFamily="34" charset="0"/>
                          <a:cs typeface="Arial" panose="020B0604020202020204" pitchFamily="34" charset="0"/>
                        </a:rPr>
                        <a:t>tắc</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chung</a:t>
                      </a:r>
                      <a:r>
                        <a:rPr lang="en-US" sz="3200" dirty="0">
                          <a:solidFill>
                            <a:srgbClr val="FF0000"/>
                          </a:solidFill>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về</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hoạt</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động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ứng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dụng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công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nghệ</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a:t>
                      </a:r>
                    </a:p>
                  </a:txBody>
                  <a:tcPr/>
                </a:tc>
                <a:extLst>
                  <a:ext uri="{0D108BD9-81ED-4DB2-BD59-A6C34878D82A}">
                    <a16:rowId xmlns:a16="http://schemas.microsoft.com/office/drawing/2014/main" val="2681803379"/>
                  </a:ext>
                </a:extLst>
              </a:tr>
              <a:tr h="370840">
                <a:tc>
                  <a:txBody>
                    <a:bodyPr/>
                    <a:lstStyle/>
                    <a:p>
                      <a:r>
                        <a:rPr lang="en-US" sz="3200" b="1" i="1" dirty="0" err="1">
                          <a:solidFill>
                            <a:schemeClr val="tx1"/>
                          </a:solidFill>
                          <a:latin typeface="Arial" panose="020B0604020202020204" pitchFamily="34" charset="0"/>
                          <a:cs typeface="Arial" panose="020B0604020202020204" pitchFamily="34" charset="0"/>
                        </a:rPr>
                        <a:t>Điều</a:t>
                      </a:r>
                      <a:r>
                        <a:rPr lang="en-US" sz="3200" b="1" i="1" dirty="0">
                          <a:solidFill>
                            <a:schemeClr val="tx1"/>
                          </a:solidFill>
                          <a:latin typeface="Arial" panose="020B0604020202020204" pitchFamily="34" charset="0"/>
                          <a:cs typeface="Arial" panose="020B0604020202020204" pitchFamily="34" charset="0"/>
                        </a:rPr>
                        <a:t> 14</a:t>
                      </a:r>
                    </a:p>
                  </a:txBody>
                  <a:tcPr/>
                </a:tc>
                <a:tc>
                  <a:txBody>
                    <a:bodyPr/>
                    <a:lstStyle/>
                    <a:p>
                      <a:r>
                        <a:rPr lang="en-US" sz="3200" dirty="0" err="1">
                          <a:solidFill>
                            <a:schemeClr val="tx1"/>
                          </a:solidFill>
                          <a:latin typeface="Arial" panose="020B0604020202020204" pitchFamily="34" charset="0"/>
                          <a:cs typeface="Arial" panose="020B0604020202020204" pitchFamily="34" charset="0"/>
                        </a:rPr>
                        <a:t>Ưu</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tiên</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ứng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dụng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công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nghệ</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thông</a:t>
                      </a:r>
                      <a:r>
                        <a:rPr lang="en-US" sz="3200" dirty="0">
                          <a:solidFill>
                            <a:schemeClr val="tx1"/>
                          </a:solidFill>
                          <a:latin typeface="Arial" panose="020B0604020202020204" pitchFamily="34" charset="0"/>
                          <a:cs typeface="Arial" panose="020B0604020202020204" pitchFamily="34" charset="0"/>
                        </a:rPr>
                        <a:t> tin </a:t>
                      </a:r>
                      <a:r>
                        <a:rPr lang="en-US" sz="3200" dirty="0" err="1">
                          <a:solidFill>
                            <a:schemeClr val="tx1"/>
                          </a:solidFill>
                          <a:latin typeface="Arial" panose="020B0604020202020204" pitchFamily="34" charset="0"/>
                          <a:cs typeface="Arial" panose="020B0604020202020204" pitchFamily="34" charset="0"/>
                        </a:rPr>
                        <a:t>trong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trường</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hợp</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khẩn</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cấp</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4156667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15</a:t>
                      </a:r>
                    </a:p>
                  </a:txBody>
                  <a:tcPr/>
                </a:tc>
                <a:tc>
                  <a:txBody>
                    <a:bodyPr/>
                    <a:lstStyle/>
                    <a:p>
                      <a:r>
                        <a:rPr lang="en-US" sz="3200" dirty="0">
                          <a:latin typeface="Arial" panose="020B0604020202020204" pitchFamily="34" charset="0"/>
                          <a:cs typeface="Arial" panose="020B0604020202020204" pitchFamily="34" charset="0"/>
                        </a:rPr>
                        <a:t>Quản </a:t>
                      </a:r>
                      <a:r>
                        <a:rPr lang="en-US" sz="3200" dirty="0" err="1">
                          <a:latin typeface="Arial" panose="020B0604020202020204" pitchFamily="34" charset="0"/>
                          <a:cs typeface="Arial" panose="020B0604020202020204" pitchFamily="34" charset="0"/>
                        </a:rPr>
                        <a:t>lý</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và</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sử</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dụng</a:t>
                      </a:r>
                      <a:r>
                        <a:rPr lang="en-US" sz="3200" dirty="0">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thông</a:t>
                      </a:r>
                      <a:r>
                        <a:rPr lang="en-US" sz="3200" dirty="0">
                          <a:solidFill>
                            <a:srgbClr val="FF0000"/>
                          </a:solidFill>
                          <a:latin typeface="Arial" panose="020B0604020202020204" pitchFamily="34" charset="0"/>
                          <a:cs typeface="Arial" panose="020B0604020202020204" pitchFamily="34" charset="0"/>
                        </a:rPr>
                        <a:t> tin </a:t>
                      </a:r>
                      <a:r>
                        <a:rPr lang="en-US" sz="3200" dirty="0" err="1">
                          <a:solidFill>
                            <a:srgbClr val="FF0000"/>
                          </a:solidFill>
                          <a:latin typeface="Arial" panose="020B0604020202020204" pitchFamily="34" charset="0"/>
                          <a:cs typeface="Arial" panose="020B0604020202020204" pitchFamily="34" charset="0"/>
                        </a:rPr>
                        <a:t>số</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7045032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16</a:t>
                      </a:r>
                    </a:p>
                  </a:txBody>
                  <a:tcPr/>
                </a:tc>
                <a:tc>
                  <a:txBody>
                    <a:bodyPr/>
                    <a:lstStyle/>
                    <a:p>
                      <a:r>
                        <a:rPr lang="en-US" sz="3200" dirty="0" err="1">
                          <a:latin typeface="Arial" panose="020B0604020202020204" pitchFamily="34" charset="0"/>
                          <a:cs typeface="Arial" panose="020B0604020202020204" pitchFamily="34" charset="0"/>
                        </a:rPr>
                        <a:t>Truyền</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đưa</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số</a:t>
                      </a:r>
                      <a:r>
                        <a:rPr lang="en-US" sz="3200" dirty="0">
                          <a:latin typeface="Arial" panose="020B0604020202020204" pitchFamily="34" charset="0"/>
                          <a:cs typeface="Arial" panose="020B0604020202020204" pitchFamily="34" charset="0"/>
                        </a:rPr>
                        <a:t> </a:t>
                      </a:r>
                    </a:p>
                  </a:txBody>
                  <a:tcPr/>
                </a:tc>
                <a:extLst>
                  <a:ext uri="{0D108BD9-81ED-4DB2-BD59-A6C34878D82A}">
                    <a16:rowId xmlns:a16="http://schemas.microsoft.com/office/drawing/2014/main" val="264394491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17</a:t>
                      </a:r>
                    </a:p>
                  </a:txBody>
                  <a:tcPr/>
                </a:tc>
                <a:tc>
                  <a:txBody>
                    <a:bodyPr/>
                    <a:lstStyle/>
                    <a:p>
                      <a:r>
                        <a:rPr lang="en-US" sz="3200" dirty="0">
                          <a:latin typeface="Arial" panose="020B0604020202020204" pitchFamily="34" charset="0"/>
                          <a:cs typeface="Arial" panose="020B0604020202020204" pitchFamily="34" charset="0"/>
                        </a:rPr>
                        <a:t>Lưu </a:t>
                      </a:r>
                      <a:r>
                        <a:rPr lang="en-US" sz="3200" dirty="0" err="1">
                          <a:latin typeface="Arial" panose="020B0604020202020204" pitchFamily="34" charset="0"/>
                          <a:cs typeface="Arial" panose="020B0604020202020204" pitchFamily="34" charset="0"/>
                        </a:rPr>
                        <a:t>trữ</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tạm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thời</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số</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74851803"/>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18</a:t>
                      </a:r>
                    </a:p>
                  </a:txBody>
                  <a:tcPr/>
                </a:tc>
                <a:tc>
                  <a:txBody>
                    <a:bodyPr/>
                    <a:lstStyle/>
                    <a:p>
                      <a:r>
                        <a:rPr lang="en-US" sz="3200" dirty="0">
                          <a:latin typeface="Arial" panose="020B0604020202020204" pitchFamily="34" charset="0"/>
                          <a:cs typeface="Arial" panose="020B0604020202020204" pitchFamily="34" charset="0"/>
                        </a:rPr>
                        <a:t>Cho </a:t>
                      </a:r>
                      <a:r>
                        <a:rPr lang="en-US" sz="3200" dirty="0" err="1">
                          <a:latin typeface="Arial" panose="020B0604020202020204" pitchFamily="34" charset="0"/>
                          <a:cs typeface="Arial" panose="020B0604020202020204" pitchFamily="34" charset="0"/>
                        </a:rPr>
                        <a:t>thuê</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chỗ</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lưu</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trữ</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số</a:t>
                      </a:r>
                      <a:r>
                        <a:rPr lang="vi-VN" altLang="en-US" sz="3200" dirty="0">
                          <a:latin typeface="Arial" panose="020B0604020202020204" pitchFamily="34" charset="0"/>
                          <a:cs typeface="Arial" panose="020B0604020202020204" pitchFamily="34" charset="0"/>
                        </a:rPr>
                        <a:t> </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94173480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19</a:t>
                      </a:r>
                    </a:p>
                  </a:txBody>
                  <a:tcPr/>
                </a:tc>
                <a:tc>
                  <a:txBody>
                    <a:bodyPr/>
                    <a:lstStyle/>
                    <a:p>
                      <a:r>
                        <a:rPr lang="en-US" sz="3200" dirty="0">
                          <a:latin typeface="Arial" panose="020B0604020202020204" pitchFamily="34" charset="0"/>
                          <a:cs typeface="Arial" panose="020B0604020202020204" pitchFamily="34" charset="0"/>
                        </a:rPr>
                        <a:t>Công </a:t>
                      </a:r>
                      <a:r>
                        <a:rPr lang="en-US" sz="3200" dirty="0" err="1">
                          <a:latin typeface="Arial" panose="020B0604020202020204" pitchFamily="34" charset="0"/>
                          <a:cs typeface="Arial" panose="020B0604020202020204" pitchFamily="34" charset="0"/>
                        </a:rPr>
                        <a:t>cụ</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tìm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kiếm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số</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8496030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20</a:t>
                      </a:r>
                    </a:p>
                  </a:txBody>
                  <a:tcPr/>
                </a:tc>
                <a:tc>
                  <a:txBody>
                    <a:bodyPr/>
                    <a:lstStyle/>
                    <a:p>
                      <a:r>
                        <a:rPr lang="en-US" sz="3200" dirty="0">
                          <a:latin typeface="Arial" panose="020B0604020202020204" pitchFamily="34" charset="0"/>
                          <a:cs typeface="Arial" panose="020B0604020202020204" pitchFamily="34" charset="0"/>
                        </a:rPr>
                        <a:t>Theo </a:t>
                      </a:r>
                      <a:r>
                        <a:rPr lang="en-US" sz="3200" dirty="0" err="1">
                          <a:latin typeface="Arial" panose="020B0604020202020204" pitchFamily="34" charset="0"/>
                          <a:cs typeface="Arial" panose="020B0604020202020204" pitchFamily="34" charset="0"/>
                        </a:rPr>
                        <a:t>dõi</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giám</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sát</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nội</a:t>
                      </a:r>
                      <a:r>
                        <a:rPr lang="en-US" sz="3200" dirty="0">
                          <a:latin typeface="Arial" panose="020B0604020202020204" pitchFamily="34" charset="0"/>
                          <a:cs typeface="Arial" panose="020B0604020202020204" pitchFamily="34" charset="0"/>
                        </a:rPr>
                        <a:t> dung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số</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7227215"/>
                  </a:ext>
                </a:extLst>
              </a:tr>
              <a:tr h="370840">
                <a:tc>
                  <a:txBody>
                    <a:bodyPr/>
                    <a:lstStyle/>
                    <a:p>
                      <a:r>
                        <a:rPr lang="en-US" sz="3200" b="1" i="1" dirty="0" err="1">
                          <a:solidFill>
                            <a:schemeClr val="tx1"/>
                          </a:solidFill>
                          <a:latin typeface="Arial" panose="020B0604020202020204" pitchFamily="34" charset="0"/>
                          <a:cs typeface="Arial" panose="020B0604020202020204" pitchFamily="34" charset="0"/>
                        </a:rPr>
                        <a:t>Điều</a:t>
                      </a:r>
                      <a:r>
                        <a:rPr lang="en-US" sz="3200" b="1" i="1" dirty="0">
                          <a:solidFill>
                            <a:schemeClr val="tx1"/>
                          </a:solidFill>
                          <a:latin typeface="Arial" panose="020B0604020202020204" pitchFamily="34" charset="0"/>
                          <a:cs typeface="Arial" panose="020B0604020202020204" pitchFamily="34" charset="0"/>
                        </a:rPr>
                        <a:t> 21</a:t>
                      </a:r>
                    </a:p>
                  </a:txBody>
                  <a:tcPr/>
                </a:tc>
                <a:tc>
                  <a:txBody>
                    <a:bodyPr/>
                    <a:lstStyle/>
                    <a:p>
                      <a:r>
                        <a:rPr lang="en-US" sz="3200" dirty="0">
                          <a:solidFill>
                            <a:schemeClr val="tx1"/>
                          </a:solidFill>
                          <a:latin typeface="Arial" panose="020B0604020202020204" pitchFamily="34" charset="0"/>
                          <a:cs typeface="Arial" panose="020B0604020202020204" pitchFamily="34" charset="0"/>
                        </a:rPr>
                        <a:t>Thu </a:t>
                      </a:r>
                      <a:r>
                        <a:rPr lang="en-US" sz="3200" dirty="0" err="1">
                          <a:solidFill>
                            <a:schemeClr val="tx1"/>
                          </a:solidFill>
                          <a:latin typeface="Arial" panose="020B0604020202020204" pitchFamily="34" charset="0"/>
                          <a:cs typeface="Arial" panose="020B0604020202020204" pitchFamily="34" charset="0"/>
                        </a:rPr>
                        <a:t>thập</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xử</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lý</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và</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sử</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dụng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thông</a:t>
                      </a:r>
                      <a:r>
                        <a:rPr lang="en-US" sz="3200" dirty="0">
                          <a:solidFill>
                            <a:schemeClr val="tx1"/>
                          </a:solidFill>
                          <a:latin typeface="Arial" panose="020B0604020202020204" pitchFamily="34" charset="0"/>
                          <a:cs typeface="Arial" panose="020B0604020202020204" pitchFamily="34" charset="0"/>
                        </a:rPr>
                        <a:t> tin </a:t>
                      </a:r>
                      <a:r>
                        <a:rPr lang="en-US" sz="3200" dirty="0" err="1">
                          <a:solidFill>
                            <a:schemeClr val="tx1"/>
                          </a:solidFill>
                          <a:latin typeface="Arial" panose="020B0604020202020204" pitchFamily="34" charset="0"/>
                          <a:cs typeface="Arial" panose="020B0604020202020204" pitchFamily="34" charset="0"/>
                        </a:rPr>
                        <a:t>cá</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nhân</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trên</a:t>
                      </a:r>
                      <a:r>
                        <a:rPr lang="en-US" sz="3200" dirty="0">
                          <a:solidFill>
                            <a:schemeClr val="tx1"/>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môi</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trường</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mạng</a:t>
                      </a:r>
                      <a:r>
                        <a:rPr lang="vi-VN" altLang="en-US" sz="3200" dirty="0">
                          <a:solidFill>
                            <a:srgbClr val="FF0000"/>
                          </a:solidFill>
                          <a:latin typeface="Arial" panose="020B0604020202020204" pitchFamily="34" charset="0"/>
                          <a:cs typeface="Arial" panose="020B0604020202020204" pitchFamily="34" charset="0"/>
                        </a:rPr>
                        <a:t> </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755435752"/>
                  </a:ext>
                </a:extLst>
              </a:tr>
              <a:tr h="370840">
                <a:tc>
                  <a:txBody>
                    <a:bodyPr/>
                    <a:lstStyle/>
                    <a:p>
                      <a:r>
                        <a:rPr lang="en-US" sz="3200" b="1" i="1" dirty="0" err="1">
                          <a:solidFill>
                            <a:schemeClr val="tx1"/>
                          </a:solidFill>
                          <a:latin typeface="Arial" panose="020B0604020202020204" pitchFamily="34" charset="0"/>
                          <a:cs typeface="Arial" panose="020B0604020202020204" pitchFamily="34" charset="0"/>
                        </a:rPr>
                        <a:t>Điều</a:t>
                      </a:r>
                      <a:r>
                        <a:rPr lang="en-US" sz="3200" b="1" i="1" dirty="0">
                          <a:solidFill>
                            <a:schemeClr val="tx1"/>
                          </a:solidFill>
                          <a:latin typeface="Arial" panose="020B0604020202020204" pitchFamily="34" charset="0"/>
                          <a:cs typeface="Arial" panose="020B0604020202020204" pitchFamily="34" charset="0"/>
                        </a:rPr>
                        <a:t> 22</a:t>
                      </a:r>
                    </a:p>
                  </a:txBody>
                  <a:tcPr/>
                </a:tc>
                <a:tc>
                  <a:txBody>
                    <a:bodyPr/>
                    <a:lstStyle/>
                    <a:p>
                      <a:r>
                        <a:rPr lang="en-US" sz="3200" dirty="0">
                          <a:solidFill>
                            <a:schemeClr val="tx1"/>
                          </a:solidFill>
                          <a:latin typeface="Arial" panose="020B0604020202020204" pitchFamily="34" charset="0"/>
                          <a:cs typeface="Arial" panose="020B0604020202020204" pitchFamily="34" charset="0"/>
                        </a:rPr>
                        <a:t>Lưu </a:t>
                      </a:r>
                      <a:r>
                        <a:rPr lang="en-US" sz="3200" dirty="0" err="1">
                          <a:solidFill>
                            <a:schemeClr val="tx1"/>
                          </a:solidFill>
                          <a:latin typeface="Arial" panose="020B0604020202020204" pitchFamily="34" charset="0"/>
                          <a:cs typeface="Arial" panose="020B0604020202020204" pitchFamily="34" charset="0"/>
                        </a:rPr>
                        <a:t>trữ</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cung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cấp</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thông</a:t>
                      </a:r>
                      <a:r>
                        <a:rPr lang="en-US" sz="3200" dirty="0">
                          <a:solidFill>
                            <a:schemeClr val="tx1"/>
                          </a:solidFill>
                          <a:latin typeface="Arial" panose="020B0604020202020204" pitchFamily="34" charset="0"/>
                          <a:cs typeface="Arial" panose="020B0604020202020204" pitchFamily="34" charset="0"/>
                        </a:rPr>
                        <a:t> tin </a:t>
                      </a:r>
                      <a:r>
                        <a:rPr lang="en-US" sz="3200" dirty="0" err="1">
                          <a:solidFill>
                            <a:schemeClr val="tx1"/>
                          </a:solidFill>
                          <a:latin typeface="Arial" panose="020B0604020202020204" pitchFamily="34" charset="0"/>
                          <a:cs typeface="Arial" panose="020B0604020202020204" pitchFamily="34" charset="0"/>
                        </a:rPr>
                        <a:t>cá</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nhân</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trên</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môi</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trường</a:t>
                      </a:r>
                      <a:r>
                        <a:rPr lang="en-US" sz="3200" dirty="0">
                          <a:solidFill>
                            <a:schemeClr val="tx1"/>
                          </a:solidFill>
                          <a:latin typeface="Arial" panose="020B0604020202020204" pitchFamily="34" charset="0"/>
                          <a:cs typeface="Arial" panose="020B0604020202020204" pitchFamily="34" charset="0"/>
                        </a:rPr>
                        <a:t> </a:t>
                      </a:r>
                      <a:r>
                        <a:rPr lang="en-US" sz="3200" dirty="0" err="1">
                          <a:solidFill>
                            <a:schemeClr val="tx1"/>
                          </a:solidFill>
                          <a:latin typeface="Arial" panose="020B0604020202020204" pitchFamily="34" charset="0"/>
                          <a:cs typeface="Arial" panose="020B0604020202020204" pitchFamily="34" charset="0"/>
                        </a:rPr>
                        <a:t>mạng</a:t>
                      </a:r>
                      <a:endParaRPr lang="en-US" sz="320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4035503"/>
                  </a:ext>
                </a:extLst>
              </a:tr>
              <a:tr h="370840">
                <a:tc>
                  <a:txBody>
                    <a:bodyPr/>
                    <a:lstStyle/>
                    <a:p>
                      <a:r>
                        <a:rPr lang="en-US" sz="3200" b="1" i="1" dirty="0" err="1">
                          <a:solidFill>
                            <a:schemeClr val="tx1"/>
                          </a:solidFill>
                          <a:latin typeface="Arial" panose="020B0604020202020204" pitchFamily="34" charset="0"/>
                          <a:cs typeface="Arial" panose="020B0604020202020204" pitchFamily="34" charset="0"/>
                        </a:rPr>
                        <a:t>Điều</a:t>
                      </a:r>
                      <a:r>
                        <a:rPr lang="en-US" sz="3200" b="1" i="1" dirty="0">
                          <a:solidFill>
                            <a:schemeClr val="tx1"/>
                          </a:solidFill>
                          <a:latin typeface="Arial" panose="020B0604020202020204" pitchFamily="34" charset="0"/>
                          <a:cs typeface="Arial" panose="020B0604020202020204" pitchFamily="34" charset="0"/>
                        </a:rPr>
                        <a:t> 23</a:t>
                      </a:r>
                    </a:p>
                  </a:txBody>
                  <a:tcPr/>
                </a:tc>
                <a:tc>
                  <a:txBody>
                    <a:bodyPr/>
                    <a:lstStyle/>
                    <a:p>
                      <a:r>
                        <a:rPr lang="en-US" sz="3200" dirty="0" err="1">
                          <a:solidFill>
                            <a:srgbClr val="FF0000"/>
                          </a:solidFill>
                          <a:latin typeface="Arial" panose="020B0604020202020204" pitchFamily="34" charset="0"/>
                          <a:cs typeface="Arial" panose="020B0604020202020204" pitchFamily="34" charset="0"/>
                        </a:rPr>
                        <a:t>Thiết</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lập</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trang</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thông</a:t>
                      </a:r>
                      <a:r>
                        <a:rPr lang="en-US" sz="3200" dirty="0">
                          <a:solidFill>
                            <a:srgbClr val="FF0000"/>
                          </a:solidFill>
                          <a:latin typeface="Arial" panose="020B0604020202020204" pitchFamily="34" charset="0"/>
                          <a:cs typeface="Arial" panose="020B0604020202020204" pitchFamily="34" charset="0"/>
                        </a:rPr>
                        <a:t> tin </a:t>
                      </a:r>
                      <a:r>
                        <a:rPr lang="en-US" sz="3200" dirty="0" err="1">
                          <a:solidFill>
                            <a:srgbClr val="FF0000"/>
                          </a:solidFill>
                          <a:latin typeface="Arial" panose="020B0604020202020204" pitchFamily="34" charset="0"/>
                          <a:cs typeface="Arial" panose="020B0604020202020204" pitchFamily="34" charset="0"/>
                        </a:rPr>
                        <a:t>điện</a:t>
                      </a:r>
                      <a:r>
                        <a:rPr lang="en-US" sz="3200" dirty="0">
                          <a:solidFill>
                            <a:srgbClr val="FF0000"/>
                          </a:solidFill>
                          <a:latin typeface="Arial" panose="020B0604020202020204" pitchFamily="34" charset="0"/>
                          <a:cs typeface="Arial" panose="020B0604020202020204" pitchFamily="34" charset="0"/>
                        </a:rPr>
                        <a:t> </a:t>
                      </a:r>
                      <a:r>
                        <a:rPr lang="en-US" sz="3200" dirty="0" err="1">
                          <a:solidFill>
                            <a:srgbClr val="FF0000"/>
                          </a:solidFill>
                          <a:latin typeface="Arial" panose="020B0604020202020204" pitchFamily="34" charset="0"/>
                          <a:cs typeface="Arial" panose="020B0604020202020204" pitchFamily="34" charset="0"/>
                        </a:rPr>
                        <a:t>tử</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50348478"/>
                  </a:ext>
                </a:extLst>
              </a:tr>
            </a:tbl>
          </a:graphicData>
        </a:graphic>
      </p:graphicFrame>
      <p:sp>
        <p:nvSpPr>
          <p:cNvPr id="45" name="TextBox 17">
            <a:extLst>
              <a:ext uri="{FF2B5EF4-FFF2-40B4-BE49-F238E27FC236}">
                <a16:creationId xmlns:a16="http://schemas.microsoft.com/office/drawing/2014/main" id="{958F5A3B-EBFF-3336-74CB-266918D5173D}"/>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F192CDC6-55CF-5042-FB2F-A3EB0C301D44}"/>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Tree>
    <p:extLst>
      <p:ext uri="{BB962C8B-B14F-4D97-AF65-F5344CB8AC3E}">
        <p14:creationId xmlns:p14="http://schemas.microsoft.com/office/powerpoint/2010/main" val="421268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6FB261D6-A96C-C5C9-1BDF-9E1EDB68C5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435E05E-9FEB-1085-190A-77D9C865AE51}"/>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0C2AE7F7-CF2D-CB85-1A3A-A1E3497313FA}"/>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4D84BB5D-7234-2A72-CDC4-1AC014B77E7A}"/>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2CDAE572-3D74-B95F-32C5-6A28437A3EE3}"/>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0DEC32CC-0813-D6EC-1E68-0F9FB0FFA9B1}"/>
              </a:ext>
            </a:extLst>
          </p:cNvPr>
          <p:cNvSpPr txBox="1"/>
          <p:nvPr/>
        </p:nvSpPr>
        <p:spPr>
          <a:xfrm>
            <a:off x="1564299" y="1515711"/>
            <a:ext cx="12752956" cy="615553"/>
          </a:xfrm>
          <a:prstGeom prst="rect">
            <a:avLst/>
          </a:prstGeom>
        </p:spPr>
        <p:txBody>
          <a:bodyPr wrap="square" lIns="0" tIns="0" rIns="0" bIns="0" rtlCol="0" anchor="t">
            <a:spAutoFit/>
          </a:bodyPr>
          <a:lstStyle/>
          <a:p>
            <a:pPr algn="l"/>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1. Quy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định</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chung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về</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ứng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dụng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CNTT</a:t>
            </a:r>
          </a:p>
        </p:txBody>
      </p:sp>
      <p:sp>
        <p:nvSpPr>
          <p:cNvPr id="7" name="Freeform 7">
            <a:extLst>
              <a:ext uri="{FF2B5EF4-FFF2-40B4-BE49-F238E27FC236}">
                <a16:creationId xmlns:a16="http://schemas.microsoft.com/office/drawing/2014/main" id="{A30970ED-33E5-C765-2F6B-F06663DB9064}"/>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AE5741EF-DD4D-3543-7DF7-032758402427}"/>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4AB8F5A1-1904-1902-C614-10E0FFA8E168}"/>
              </a:ext>
            </a:extLst>
          </p:cNvPr>
          <p:cNvSpPr/>
          <p:nvPr/>
        </p:nvSpPr>
        <p:spPr>
          <a:xfrm>
            <a:off x="2603734" y="8030206"/>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2730496F-F964-CA1A-9F66-5044505C6667}"/>
              </a:ext>
            </a:extLst>
          </p:cNvPr>
          <p:cNvSpPr/>
          <p:nvPr/>
        </p:nvSpPr>
        <p:spPr>
          <a:xfrm>
            <a:off x="3666977" y="8871385"/>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FD528061-091C-A974-ABA2-C7A3CFFC54DD}"/>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D57185F0-C5F9-B392-040B-19085069C299}"/>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D48DE528-4F4E-E422-0FBC-015D940178D9}"/>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562ED8FD-1132-F5D6-9423-294873DE595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DBE5BDBA-64DB-CAAB-4BC5-BA8DAC2BD8A3}"/>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28CC9EDD-B0A2-4012-5A36-EED0CF910DDF}"/>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E3217DD7-332D-64C1-9036-00B5A4A63E9D}"/>
              </a:ext>
            </a:extLst>
          </p:cNvPr>
          <p:cNvSpPr txBox="1"/>
          <p:nvPr/>
        </p:nvSpPr>
        <p:spPr>
          <a:xfrm>
            <a:off x="1461942" y="2556337"/>
            <a:ext cx="7249371" cy="5068054"/>
          </a:xfrm>
          <a:prstGeom prst="rect">
            <a:avLst/>
          </a:prstGeom>
          <a:noFill/>
        </p:spPr>
        <p:txBody>
          <a:bodyPr wrap="square">
            <a:spAutoFit/>
          </a:bodyPr>
          <a:lstStyle/>
          <a:p>
            <a:pPr algn="just">
              <a:spcAft>
                <a:spcPts val="225"/>
              </a:spcAft>
            </a:pPr>
            <a:r>
              <a:rPr lang="vi-VN" sz="3200" b="1" i="0" dirty="0">
                <a:solidFill>
                  <a:srgbClr val="1A1C1E"/>
                </a:solidFill>
                <a:effectLst/>
                <a:latin typeface="Arial" panose="020B0604020202020204" pitchFamily="34" charset="0"/>
                <a:cs typeface="Arial" panose="020B0604020202020204" pitchFamily="34" charset="0"/>
              </a:rPr>
              <a:t>Điều 14: Ưu tiên dùng CNTT trong tình huống khẩn cấp.</a:t>
            </a:r>
            <a:endParaRPr lang="en-US" sz="3200" b="1" i="0" dirty="0">
              <a:solidFill>
                <a:srgbClr val="1A1C1E"/>
              </a:solidFill>
              <a:effectLst/>
              <a:latin typeface="Arial" panose="020B0604020202020204" pitchFamily="34" charset="0"/>
              <a:cs typeface="Arial" panose="020B0604020202020204" pitchFamily="34" charset="0"/>
            </a:endParaRPr>
          </a:p>
          <a:p>
            <a:pPr algn="just">
              <a:spcAft>
                <a:spcPts val="225"/>
              </a:spcAft>
            </a:pPr>
            <a:r>
              <a:rPr lang="vi-VN" sz="3200" b="0" i="1" dirty="0">
                <a:solidFill>
                  <a:srgbClr val="1A1C1E"/>
                </a:solidFill>
                <a:effectLst/>
                <a:latin typeface="Arial" panose="020B0604020202020204" pitchFamily="34" charset="0"/>
                <a:cs typeface="Arial" panose="020B0604020202020204" pitchFamily="34" charset="0"/>
              </a:rPr>
              <a:t>Ví dụ:</a:t>
            </a:r>
            <a:r>
              <a:rPr lang="vi-VN" sz="3200" b="0" i="0" dirty="0">
                <a:solidFill>
                  <a:srgbClr val="1A1C1E"/>
                </a:solidFill>
                <a:effectLst/>
                <a:latin typeface="Arial" panose="020B0604020202020204" pitchFamily="34" charset="0"/>
                <a:cs typeface="Arial" panose="020B0604020202020204" pitchFamily="34" charset="0"/>
              </a:rPr>
              <a:t> 5/9</a:t>
            </a:r>
            <a:r>
              <a:rPr lang="en-US" sz="3200" b="0" i="0" dirty="0">
                <a:solidFill>
                  <a:srgbClr val="1A1C1E"/>
                </a:solidFill>
                <a:effectLst/>
                <a:latin typeface="Arial" panose="020B0604020202020204" pitchFamily="34" charset="0"/>
                <a:cs typeface="Arial" panose="020B0604020202020204" pitchFamily="34" charset="0"/>
              </a:rPr>
              <a:t>/2024</a:t>
            </a:r>
            <a:r>
              <a:rPr lang="vi-VN" sz="3200" b="0" i="0" dirty="0">
                <a:solidFill>
                  <a:srgbClr val="1A1C1E"/>
                </a:solidFill>
                <a:effectLst/>
                <a:latin typeface="Arial" panose="020B0604020202020204" pitchFamily="34" charset="0"/>
                <a:cs typeface="Arial" panose="020B0604020202020204" pitchFamily="34" charset="0"/>
              </a:rPr>
              <a:t>, Ban Chỉ đạo quốc gia Phòng chống thiên tai đã gửi tin nhắn hướng dẫn neo đậu thuyền an toàn trú bão Yagi tới hơn 9,3 triệu người dân các tỉnh ven biển.</a:t>
            </a:r>
            <a:endParaRPr lang="en-US" sz="3200" dirty="0">
              <a:solidFill>
                <a:srgbClr val="1A1C1E"/>
              </a:solidFill>
              <a:latin typeface="Arial" panose="020B0604020202020204" pitchFamily="34" charset="0"/>
              <a:cs typeface="Arial" panose="020B0604020202020204" pitchFamily="34" charset="0"/>
            </a:endParaRPr>
          </a:p>
          <a:p>
            <a:pPr algn="just">
              <a:spcAft>
                <a:spcPts val="225"/>
              </a:spcAft>
            </a:pPr>
            <a:r>
              <a:rPr lang="vi-VN" sz="3200" dirty="0">
                <a:solidFill>
                  <a:srgbClr val="1A1C1E"/>
                </a:solidFill>
                <a:latin typeface="Arial" panose="020B0604020202020204" pitchFamily="34" charset="0"/>
                <a:cs typeface="Arial" panose="020B0604020202020204" pitchFamily="34" charset="0"/>
                <a:hlinkClick r:id="rId19"/>
              </a:rPr>
              <a:t>https://nhandan.vn/93-trieu-nguoi-nhan-tin-nhan-phong-chong-sieu-bao-yagi-qua-zalo-post828724.html</a:t>
            </a:r>
            <a:r>
              <a:rPr lang="en-US" sz="3200" dirty="0">
                <a:solidFill>
                  <a:srgbClr val="1A1C1E"/>
                </a:solidFill>
                <a:latin typeface="Arial" panose="020B0604020202020204" pitchFamily="34" charset="0"/>
                <a:cs typeface="Arial" panose="020B0604020202020204" pitchFamily="34" charset="0"/>
              </a:rPr>
              <a:t> </a:t>
            </a:r>
            <a:endParaRPr lang="vi-VN" sz="3200" b="0" i="0" dirty="0">
              <a:solidFill>
                <a:srgbClr val="1A1C1E"/>
              </a:solidFill>
              <a:effectLst/>
              <a:latin typeface="Arial" panose="020B0604020202020204" pitchFamily="34" charset="0"/>
              <a:cs typeface="Arial" panose="020B0604020202020204" pitchFamily="34" charset="0"/>
            </a:endParaRPr>
          </a:p>
        </p:txBody>
      </p:sp>
      <p:pic>
        <p:nvPicPr>
          <p:cNvPr id="1026" name="Picture 2" descr="Thông báo hướng dẫn neo đậu thuyền tránh bão được gửi qua Zalo Mini App.">
            <a:extLst>
              <a:ext uri="{FF2B5EF4-FFF2-40B4-BE49-F238E27FC236}">
                <a16:creationId xmlns:a16="http://schemas.microsoft.com/office/drawing/2014/main" id="{191DAFC6-2E4E-9C42-7C98-ECF200F2B88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595757" y="2310042"/>
            <a:ext cx="7230302" cy="7280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102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148C20DC-A3BD-E291-7319-3AEDFF41FB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1D20BC-C048-4758-DD15-F9C42CD07129}"/>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95ADC5FE-A5F7-FA3F-F337-6F204C9A95E3}"/>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79312E80-DBD2-11D1-447A-7711D5CC6CDE}"/>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86B4851F-A6A5-1FC4-E1EF-8833C1A272AB}"/>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7EAA3801-8641-39F7-88EE-4F5072873E16}"/>
              </a:ext>
            </a:extLst>
          </p:cNvPr>
          <p:cNvSpPr txBox="1"/>
          <p:nvPr/>
        </p:nvSpPr>
        <p:spPr>
          <a:xfrm>
            <a:off x="1564299" y="1515711"/>
            <a:ext cx="12752956" cy="615553"/>
          </a:xfrm>
          <a:prstGeom prst="rect">
            <a:avLst/>
          </a:prstGeom>
        </p:spPr>
        <p:txBody>
          <a:bodyPr wrap="square" lIns="0" tIns="0" rIns="0" bIns="0" rtlCol="0" anchor="t">
            <a:spAutoFit/>
          </a:bodyPr>
          <a:lstStyle/>
          <a:p>
            <a:pPr algn="l"/>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1. Quy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định</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chung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về</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ứng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dụng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CNTT</a:t>
            </a:r>
          </a:p>
        </p:txBody>
      </p:sp>
      <p:sp>
        <p:nvSpPr>
          <p:cNvPr id="7" name="Freeform 7">
            <a:extLst>
              <a:ext uri="{FF2B5EF4-FFF2-40B4-BE49-F238E27FC236}">
                <a16:creationId xmlns:a16="http://schemas.microsoft.com/office/drawing/2014/main" id="{4952D6D2-EEC6-E409-AA5A-ADF3591BB5DE}"/>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C35753E9-C51C-96C4-D481-2BC71222EBE6}"/>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C2375074-69F4-D04D-E284-C36CE4780F13}"/>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E697D621-E36C-ABCD-1D41-59E44E98B3DC}"/>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B5E4DB98-6472-8D41-19CA-81FAF22BBF54}"/>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25062BA2-DE48-6BB5-4C89-B0819E70D5F8}"/>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82D73133-7700-995A-A454-F286DF176B40}"/>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9ED4BE7C-45C2-B6B7-F4A9-DD0EEC9ECA2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AFC929FC-7FE1-8251-F3A0-90D6C3D21FF8}"/>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7233B047-65DC-1344-F9A4-B9E287F306D9}"/>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C97BE647-F71E-FED2-6D9A-E3C9B49DAF3E}"/>
              </a:ext>
            </a:extLst>
          </p:cNvPr>
          <p:cNvSpPr txBox="1"/>
          <p:nvPr/>
        </p:nvSpPr>
        <p:spPr>
          <a:xfrm>
            <a:off x="1431261" y="2406026"/>
            <a:ext cx="10151140" cy="5734903"/>
          </a:xfrm>
          <a:prstGeom prst="rect">
            <a:avLst/>
          </a:prstGeom>
          <a:noFill/>
        </p:spPr>
        <p:txBody>
          <a:bodyPr wrap="square">
            <a:spAutoFit/>
          </a:bodyPr>
          <a:lstStyle/>
          <a:p>
            <a:pPr algn="just">
              <a:spcAft>
                <a:spcPts val="225"/>
              </a:spcAft>
            </a:pPr>
            <a:r>
              <a:rPr lang="vi-VN" sz="3200" b="1" i="0" dirty="0">
                <a:solidFill>
                  <a:srgbClr val="1A1C1E"/>
                </a:solidFill>
                <a:effectLst/>
                <a:latin typeface="Arial" panose="020B0604020202020204" pitchFamily="34" charset="0"/>
                <a:cs typeface="Arial" panose="020B0604020202020204" pitchFamily="34" charset="0"/>
              </a:rPr>
              <a:t>Điều 1</a:t>
            </a:r>
            <a:r>
              <a:rPr lang="en-US" sz="3200" b="1" i="0" dirty="0">
                <a:solidFill>
                  <a:srgbClr val="1A1C1E"/>
                </a:solidFill>
                <a:effectLst/>
                <a:latin typeface="Arial" panose="020B0604020202020204" pitchFamily="34" charset="0"/>
                <a:cs typeface="Arial" panose="020B0604020202020204" pitchFamily="34" charset="0"/>
              </a:rPr>
              <a:t>8</a:t>
            </a:r>
            <a:r>
              <a:rPr lang="vi-VN" sz="3200" b="1" i="0" dirty="0">
                <a:solidFill>
                  <a:srgbClr val="1A1C1E"/>
                </a:solidFill>
                <a:effectLst/>
                <a:latin typeface="Arial" panose="020B0604020202020204" pitchFamily="34" charset="0"/>
                <a:cs typeface="Arial" panose="020B0604020202020204" pitchFamily="34" charset="0"/>
              </a:rPr>
              <a:t>: Cho thuê chỗ lưu trữ thông tin số.</a:t>
            </a:r>
            <a:endParaRPr lang="en-US" sz="3200" b="1" i="0" dirty="0">
              <a:solidFill>
                <a:srgbClr val="1A1C1E"/>
              </a:solidFill>
              <a:effectLst/>
              <a:latin typeface="Arial" panose="020B0604020202020204" pitchFamily="34" charset="0"/>
              <a:cs typeface="Arial" panose="020B0604020202020204" pitchFamily="34" charset="0"/>
            </a:endParaRPr>
          </a:p>
          <a:p>
            <a:pPr algn="just">
              <a:spcAft>
                <a:spcPts val="225"/>
              </a:spcAft>
            </a:pPr>
            <a:r>
              <a:rPr lang="vi-VN" sz="3200" b="0" i="1" dirty="0">
                <a:solidFill>
                  <a:srgbClr val="1A1C1E"/>
                </a:solidFill>
                <a:effectLst/>
                <a:latin typeface="Arial" panose="020B0604020202020204" pitchFamily="34" charset="0"/>
                <a:cs typeface="Arial" panose="020B0604020202020204" pitchFamily="34" charset="0"/>
              </a:rPr>
              <a:t>Ví dụ:</a:t>
            </a:r>
            <a:r>
              <a:rPr lang="vi-VN" sz="3200" b="0" i="0" dirty="0">
                <a:solidFill>
                  <a:srgbClr val="1A1C1E"/>
                </a:solidFill>
                <a:effectLst/>
                <a:latin typeface="Arial" panose="020B0604020202020204" pitchFamily="34" charset="0"/>
                <a:cs typeface="Arial" panose="020B0604020202020204" pitchFamily="34" charset="0"/>
              </a:rPr>
              <a:t> Facebook, Google, Tiktok đã gỡ bỏ hơn 15.000 nội dung vi phạm pháp luật Việt Nam</a:t>
            </a:r>
            <a:endParaRPr lang="en-US" sz="3200" b="0" i="0" dirty="0">
              <a:solidFill>
                <a:srgbClr val="1A1C1E"/>
              </a:solidFill>
              <a:effectLst/>
              <a:latin typeface="Arial" panose="020B0604020202020204" pitchFamily="34" charset="0"/>
              <a:cs typeface="Arial" panose="020B0604020202020204" pitchFamily="34" charset="0"/>
            </a:endParaRPr>
          </a:p>
          <a:p>
            <a:pPr algn="just">
              <a:spcAft>
                <a:spcPts val="225"/>
              </a:spcAft>
            </a:pPr>
            <a:r>
              <a:rPr lang="en-US" sz="2400" b="1" i="1" dirty="0"/>
              <a:t>”</a:t>
            </a:r>
            <a:r>
              <a:rPr lang="vi-VN" sz="2400" b="1" i="1" dirty="0"/>
              <a:t>Năm 2024, Bộ Thông tin và Truyền thông tiếp tục duy trì việc đấu tranh, yêu cầu các nền tảng phải ngăn chặn, gỡ bỏ thông tin vi phạm pháp luật Việt Nam,…</a:t>
            </a:r>
            <a:r>
              <a:rPr lang="en-US" sz="2400" b="1" i="1" dirty="0"/>
              <a:t>”</a:t>
            </a:r>
            <a:endParaRPr lang="en-US" sz="2400" b="0" i="1" dirty="0">
              <a:solidFill>
                <a:srgbClr val="1A1C1E"/>
              </a:solidFill>
              <a:effectLst/>
              <a:latin typeface="Arial" panose="020B0604020202020204" pitchFamily="34" charset="0"/>
              <a:cs typeface="Arial" panose="020B0604020202020204" pitchFamily="34" charset="0"/>
            </a:endParaRPr>
          </a:p>
          <a:p>
            <a:pPr algn="just">
              <a:spcAft>
                <a:spcPts val="225"/>
              </a:spcAft>
            </a:pPr>
            <a:r>
              <a:rPr lang="en-US" sz="3200" dirty="0">
                <a:solidFill>
                  <a:srgbClr val="1A1C1E"/>
                </a:solidFill>
                <a:latin typeface="Arial" panose="020B0604020202020204" pitchFamily="34" charset="0"/>
                <a:cs typeface="Arial" panose="020B0604020202020204" pitchFamily="34" charset="0"/>
                <a:hlinkClick r:id="rId19"/>
              </a:rPr>
              <a:t>https://vneconomy.vn/facebook-google-tiktok-da-go-bo-hon-15-000-noi-dung-vi-pham-phap-luat-viet-nam.htm</a:t>
            </a:r>
            <a:r>
              <a:rPr lang="en-US" sz="3200" dirty="0">
                <a:solidFill>
                  <a:srgbClr val="1A1C1E"/>
                </a:solidFill>
                <a:latin typeface="Arial" panose="020B0604020202020204" pitchFamily="34" charset="0"/>
                <a:cs typeface="Arial" panose="020B0604020202020204" pitchFamily="34" charset="0"/>
              </a:rPr>
              <a:t> </a:t>
            </a:r>
          </a:p>
          <a:p>
            <a:pPr algn="just">
              <a:spcAft>
                <a:spcPts val="225"/>
              </a:spcAft>
            </a:pPr>
            <a:r>
              <a:rPr lang="en-US" sz="3200" dirty="0">
                <a:solidFill>
                  <a:schemeClr val="accent6">
                    <a:lumMod val="50000"/>
                  </a:schemeClr>
                </a:solidFill>
                <a:latin typeface="Arial" panose="020B0604020202020204" pitchFamily="34" charset="0"/>
                <a:cs typeface="Arial" panose="020B0604020202020204" pitchFamily="34" charset="0"/>
                <a:sym typeface="Wingdings" panose="05000000000000000000" pitchFamily="2" charset="2"/>
              </a:rPr>
              <a:t> 3b</a:t>
            </a:r>
            <a:r>
              <a:rPr lang="vi-VN" sz="3200" dirty="0">
                <a:solidFill>
                  <a:schemeClr val="accent6">
                    <a:lumMod val="50000"/>
                  </a:schemeClr>
                </a:solidFill>
                <a:cs typeface="Arial" panose="020B0604020202020204" pitchFamily="34" charset="0"/>
                <a:sym typeface="Wingdings" panose="05000000000000000000" pitchFamily="2" charset="2"/>
              </a:rPr>
              <a:t>) Tiến hành kịp thời các biện pháp cần thiết để </a:t>
            </a:r>
            <a:r>
              <a:rPr lang="vi-VN" sz="3200" b="1" dirty="0">
                <a:solidFill>
                  <a:schemeClr val="accent6">
                    <a:lumMod val="50000"/>
                  </a:schemeClr>
                </a:solidFill>
                <a:cs typeface="Arial" panose="020B0604020202020204" pitchFamily="34" charset="0"/>
                <a:sym typeface="Wingdings" panose="05000000000000000000" pitchFamily="2" charset="2"/>
              </a:rPr>
              <a:t>ngăn chặn</a:t>
            </a:r>
            <a:r>
              <a:rPr lang="vi-VN" sz="3200" dirty="0">
                <a:solidFill>
                  <a:schemeClr val="accent6">
                    <a:lumMod val="50000"/>
                  </a:schemeClr>
                </a:solidFill>
                <a:cs typeface="Arial" panose="020B0604020202020204" pitchFamily="34" charset="0"/>
                <a:sym typeface="Wingdings" panose="05000000000000000000" pitchFamily="2" charset="2"/>
              </a:rPr>
              <a:t> việc truy nhập thông tin số hoặc loại bỏ thông tin số </a:t>
            </a:r>
            <a:r>
              <a:rPr lang="vi-VN" sz="3200" b="1" dirty="0">
                <a:solidFill>
                  <a:schemeClr val="accent6">
                    <a:lumMod val="50000"/>
                  </a:schemeClr>
                </a:solidFill>
                <a:cs typeface="Arial" panose="020B0604020202020204" pitchFamily="34" charset="0"/>
                <a:sym typeface="Wingdings" panose="05000000000000000000" pitchFamily="2" charset="2"/>
              </a:rPr>
              <a:t>trái pháp luật </a:t>
            </a:r>
            <a:r>
              <a:rPr lang="vi-VN" sz="3200" dirty="0">
                <a:solidFill>
                  <a:schemeClr val="accent6">
                    <a:lumMod val="50000"/>
                  </a:schemeClr>
                </a:solidFill>
                <a:cs typeface="Arial" panose="020B0604020202020204" pitchFamily="34" charset="0"/>
                <a:sym typeface="Wingdings" panose="05000000000000000000" pitchFamily="2" charset="2"/>
              </a:rPr>
              <a:t>theo </a:t>
            </a:r>
            <a:r>
              <a:rPr lang="vi-VN" sz="3200" b="1" dirty="0">
                <a:solidFill>
                  <a:schemeClr val="accent6">
                    <a:lumMod val="50000"/>
                  </a:schemeClr>
                </a:solidFill>
                <a:cs typeface="Arial" panose="020B0604020202020204" pitchFamily="34" charset="0"/>
                <a:sym typeface="Wingdings" panose="05000000000000000000" pitchFamily="2" charset="2"/>
              </a:rPr>
              <a:t>yêu cầu của cơ quan nhà nước có thẩm quyền;</a:t>
            </a:r>
            <a:endParaRPr lang="en-US" sz="3200" b="1" dirty="0">
              <a:solidFill>
                <a:schemeClr val="accent6">
                  <a:lumMod val="50000"/>
                </a:schemeClr>
              </a:solidFill>
              <a:latin typeface="Arial" panose="020B0604020202020204" pitchFamily="34" charset="0"/>
              <a:cs typeface="Arial" panose="020B0604020202020204" pitchFamily="34" charset="0"/>
            </a:endParaRPr>
          </a:p>
        </p:txBody>
      </p:sp>
      <p:pic>
        <p:nvPicPr>
          <p:cNvPr id="3074" name="Picture 2" descr="Năm 2024, Facebook đã chặn, gỡ 8.981 nội dung chống phá Đảng, Nhà nước, vi phạm pháp luật Việt Nam (tỷ lệ 94%).">
            <a:extLst>
              <a:ext uri="{FF2B5EF4-FFF2-40B4-BE49-F238E27FC236}">
                <a16:creationId xmlns:a16="http://schemas.microsoft.com/office/drawing/2014/main" id="{6587688C-EDCD-1C76-E341-A3A6E4BA142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782727" y="3760049"/>
            <a:ext cx="5857029" cy="380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059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AF2AEBDB-E93C-D3C7-A894-2D9A61389F9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F165C5-054E-DE1F-EEC3-4D324DECA7B3}"/>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96827B7A-CFD1-FEDC-2C3A-428840F5F459}"/>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594AB2A5-3D45-9C8C-0BF1-C83B2B5E79EE}"/>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3F23263A-3789-B342-944B-A5BB558016D7}"/>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D613BA6F-7A23-5071-59D5-9B86B8E49C31}"/>
              </a:ext>
            </a:extLst>
          </p:cNvPr>
          <p:cNvSpPr txBox="1"/>
          <p:nvPr/>
        </p:nvSpPr>
        <p:spPr>
          <a:xfrm>
            <a:off x="1564299" y="1515711"/>
            <a:ext cx="12752956" cy="615553"/>
          </a:xfrm>
          <a:prstGeom prst="rect">
            <a:avLst/>
          </a:prstGeom>
        </p:spPr>
        <p:txBody>
          <a:bodyPr wrap="square" lIns="0" tIns="0" rIns="0" bIns="0" rtlCol="0" anchor="t">
            <a:spAutoFit/>
          </a:bodyPr>
          <a:lstStyle/>
          <a:p>
            <a:pPr algn="l"/>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1. Quy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định</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chung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về</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ứng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a:t>
            </a:r>
            <a:r>
              <a:rPr lang="en-US" sz="4000" b="1" dirty="0" err="1">
                <a:solidFill>
                  <a:schemeClr val="tx2"/>
                </a:solidFill>
                <a:latin typeface="Arial" panose="020B0604020202020204" pitchFamily="34" charset="0"/>
                <a:ea typeface="Agrandir Bold"/>
                <a:cs typeface="Arial" panose="020B0604020202020204" pitchFamily="34" charset="0"/>
                <a:sym typeface="Agrandir Bold"/>
              </a:rPr>
              <a:t>dụng</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CNTT</a:t>
            </a:r>
          </a:p>
        </p:txBody>
      </p:sp>
      <p:sp>
        <p:nvSpPr>
          <p:cNvPr id="7" name="Freeform 7">
            <a:extLst>
              <a:ext uri="{FF2B5EF4-FFF2-40B4-BE49-F238E27FC236}">
                <a16:creationId xmlns:a16="http://schemas.microsoft.com/office/drawing/2014/main" id="{AE2DF37B-45D6-D8F5-EC7D-DFE39FB7FAC6}"/>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AB00C51C-BD36-85B7-5A23-17CC1DFB6FB8}"/>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C5046CD4-44F6-F08D-F5B5-9B0B7479B5F1}"/>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62C45EE7-E429-8FDF-070E-A666ABF6D81C}"/>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CD7B8EC8-013C-AF64-8042-3E2E322AD7AE}"/>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D75002A9-3A6F-9B1E-6D7D-E539A743DA4B}"/>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F10FC302-3C5D-1849-8DD6-4076DEFB74B8}"/>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35C2EDFE-0502-F2C1-394E-57F07671A49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423226D1-77C9-6FDF-EA0B-5AD93AD59234}"/>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C364E2CB-79E8-3F29-953C-F05B54807DAF}"/>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1" name="TextBox 10">
            <a:extLst>
              <a:ext uri="{FF2B5EF4-FFF2-40B4-BE49-F238E27FC236}">
                <a16:creationId xmlns:a16="http://schemas.microsoft.com/office/drawing/2014/main" id="{2AF37957-4AC9-71A2-4DA3-D3BC357C8A6B}"/>
              </a:ext>
            </a:extLst>
          </p:cNvPr>
          <p:cNvSpPr txBox="1"/>
          <p:nvPr/>
        </p:nvSpPr>
        <p:spPr>
          <a:xfrm>
            <a:off x="6465411" y="2665111"/>
            <a:ext cx="9789569" cy="6719788"/>
          </a:xfrm>
          <a:prstGeom prst="rect">
            <a:avLst/>
          </a:prstGeom>
          <a:noFill/>
        </p:spPr>
        <p:txBody>
          <a:bodyPr wrap="square">
            <a:spAutoFit/>
          </a:bodyPr>
          <a:lstStyle/>
          <a:p>
            <a:pPr algn="just">
              <a:spcAft>
                <a:spcPts val="225"/>
              </a:spcAft>
            </a:pPr>
            <a:r>
              <a:rPr lang="vi-VN" sz="3200" b="1" i="0" dirty="0">
                <a:solidFill>
                  <a:srgbClr val="1A1C1E"/>
                </a:solidFill>
                <a:effectLst/>
                <a:latin typeface="Arial" panose="020B0604020202020204" pitchFamily="34" charset="0"/>
                <a:cs typeface="Arial" panose="020B0604020202020204" pitchFamily="34" charset="0"/>
              </a:rPr>
              <a:t>Điều 21 &amp; 22: </a:t>
            </a:r>
            <a:r>
              <a:rPr lang="en-US" sz="3200" b="1" dirty="0">
                <a:latin typeface="Arial" panose="020B0604020202020204" pitchFamily="34" charset="0"/>
                <a:cs typeface="Arial" panose="020B0604020202020204" pitchFamily="34" charset="0"/>
              </a:rPr>
              <a:t>Thu </a:t>
            </a:r>
            <a:r>
              <a:rPr lang="en-US" sz="3200" b="1" dirty="0" err="1">
                <a:latin typeface="Arial" panose="020B0604020202020204" pitchFamily="34" charset="0"/>
                <a:cs typeface="Arial" panose="020B0604020202020204" pitchFamily="34" charset="0"/>
              </a:rPr>
              <a:t>thập</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xử</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lý</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sử</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dụng</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lưu</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trữ</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cung</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cấp</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thông</a:t>
            </a:r>
            <a:r>
              <a:rPr lang="en-US" sz="3200" b="1" dirty="0">
                <a:latin typeface="Arial" panose="020B0604020202020204" pitchFamily="34" charset="0"/>
                <a:cs typeface="Arial" panose="020B0604020202020204" pitchFamily="34" charset="0"/>
              </a:rPr>
              <a:t> tin </a:t>
            </a:r>
            <a:r>
              <a:rPr lang="en-US" sz="3200" b="1" dirty="0" err="1">
                <a:latin typeface="Arial" panose="020B0604020202020204" pitchFamily="34" charset="0"/>
                <a:cs typeface="Arial" panose="020B0604020202020204" pitchFamily="34" charset="0"/>
              </a:rPr>
              <a:t>cá</a:t>
            </a:r>
            <a:r>
              <a:rPr lang="en-US" sz="3200" b="1" dirty="0">
                <a:latin typeface="Arial" panose="020B0604020202020204" pitchFamily="34" charset="0"/>
                <a:cs typeface="Arial" panose="020B0604020202020204" pitchFamily="34" charset="0"/>
              </a:rPr>
              <a:t> </a:t>
            </a:r>
            <a:r>
              <a:rPr lang="en-US" sz="3200" b="1" dirty="0" err="1">
                <a:latin typeface="Arial" panose="020B0604020202020204" pitchFamily="34" charset="0"/>
                <a:cs typeface="Arial" panose="020B0604020202020204" pitchFamily="34" charset="0"/>
              </a:rPr>
              <a:t>nhân</a:t>
            </a:r>
            <a:r>
              <a:rPr lang="en-US" sz="3200" b="1" dirty="0">
                <a:latin typeface="Arial" panose="020B0604020202020204" pitchFamily="34" charset="0"/>
                <a:cs typeface="Arial" panose="020B0604020202020204" pitchFamily="34" charset="0"/>
              </a:rPr>
              <a:t> </a:t>
            </a:r>
            <a:endParaRPr lang="en-US" sz="3200" b="1" i="0" dirty="0">
              <a:solidFill>
                <a:srgbClr val="1A1C1E"/>
              </a:solidFill>
              <a:effectLst/>
              <a:latin typeface="Arial" panose="020B0604020202020204" pitchFamily="34" charset="0"/>
              <a:cs typeface="Arial" panose="020B0604020202020204" pitchFamily="34" charset="0"/>
            </a:endParaRPr>
          </a:p>
          <a:p>
            <a:pPr algn="just">
              <a:spcAft>
                <a:spcPts val="225"/>
              </a:spcAft>
            </a:pPr>
            <a:r>
              <a:rPr lang="vi-VN" sz="3200" b="0" i="1" dirty="0">
                <a:solidFill>
                  <a:srgbClr val="1A1C1E"/>
                </a:solidFill>
                <a:effectLst/>
                <a:latin typeface="Arial" panose="020B0604020202020204" pitchFamily="34" charset="0"/>
                <a:cs typeface="Arial" panose="020B0604020202020204" pitchFamily="34" charset="0"/>
              </a:rPr>
              <a:t>Ví dụ</a:t>
            </a:r>
            <a:r>
              <a:rPr lang="en-US" sz="3200" b="0" i="1" dirty="0">
                <a:solidFill>
                  <a:srgbClr val="1A1C1E"/>
                </a:solidFill>
                <a:effectLst/>
                <a:latin typeface="Arial" panose="020B0604020202020204" pitchFamily="34" charset="0"/>
                <a:cs typeface="Arial" panose="020B0604020202020204" pitchFamily="34" charset="0"/>
              </a:rPr>
              <a:t>:</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Mạo</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danh</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ngân</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hàng</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hỗ</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trợ</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cập</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nhật</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sinh</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trắc</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học</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để</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lừa</a:t>
            </a:r>
            <a:r>
              <a:rPr lang="en-US" sz="3200" b="0" dirty="0">
                <a:solidFill>
                  <a:srgbClr val="1A1C1E"/>
                </a:solidFill>
                <a:effectLst/>
                <a:latin typeface="Arial" panose="020B0604020202020204" pitchFamily="34" charset="0"/>
                <a:cs typeface="Arial" panose="020B0604020202020204" pitchFamily="34" charset="0"/>
              </a:rPr>
              <a:t> </a:t>
            </a:r>
            <a:r>
              <a:rPr lang="en-US" sz="3200" b="0" dirty="0" err="1">
                <a:solidFill>
                  <a:srgbClr val="1A1C1E"/>
                </a:solidFill>
                <a:effectLst/>
                <a:latin typeface="Arial" panose="020B0604020202020204" pitchFamily="34" charset="0"/>
                <a:cs typeface="Arial" panose="020B0604020202020204" pitchFamily="34" charset="0"/>
              </a:rPr>
              <a:t>đảo</a:t>
            </a:r>
            <a:endParaRPr lang="en-US" sz="3200" b="0" dirty="0">
              <a:solidFill>
                <a:srgbClr val="1A1C1E"/>
              </a:solidFill>
              <a:effectLst/>
              <a:latin typeface="Arial" panose="020B0604020202020204" pitchFamily="34" charset="0"/>
              <a:cs typeface="Arial" panose="020B0604020202020204" pitchFamily="34" charset="0"/>
            </a:endParaRPr>
          </a:p>
          <a:p>
            <a:pPr algn="just">
              <a:spcAft>
                <a:spcPts val="225"/>
              </a:spcAft>
            </a:pPr>
            <a:r>
              <a:rPr lang="en-US" sz="2400" i="1" dirty="0">
                <a:solidFill>
                  <a:srgbClr val="1A1C1E"/>
                </a:solidFill>
                <a:latin typeface="Arial" panose="020B0604020202020204" pitchFamily="34" charset="0"/>
                <a:cs typeface="Arial" panose="020B0604020202020204" pitchFamily="34" charset="0"/>
              </a:rPr>
              <a:t>“…</a:t>
            </a:r>
            <a:r>
              <a:rPr lang="vi-VN" sz="2400" i="1" dirty="0">
                <a:latin typeface="Arial" panose="020B0604020202020204" pitchFamily="34" charset="0"/>
                <a:cs typeface="Arial" panose="020B0604020202020204" pitchFamily="34" charset="0"/>
              </a:rPr>
              <a:t> các đối tượng lừa đảo đã giả danh nhân viên ngân hàng liên hệ khách hàng đề nghị "hỗ trợ" cài đặt nhằm chiếm đoạt tài sản, thông tin của khách hàng…</a:t>
            </a:r>
            <a:r>
              <a:rPr lang="en-US" sz="2400" i="1" dirty="0">
                <a:latin typeface="Arial" panose="020B0604020202020204" pitchFamily="34" charset="0"/>
                <a:cs typeface="Arial" panose="020B0604020202020204" pitchFamily="34" charset="0"/>
              </a:rPr>
              <a:t>”</a:t>
            </a:r>
            <a:endParaRPr lang="en-US" sz="2400" b="0" i="1" dirty="0">
              <a:solidFill>
                <a:srgbClr val="1A1C1E"/>
              </a:solidFill>
              <a:effectLst/>
              <a:latin typeface="Arial" panose="020B0604020202020204" pitchFamily="34" charset="0"/>
              <a:cs typeface="Arial" panose="020B0604020202020204" pitchFamily="34" charset="0"/>
            </a:endParaRPr>
          </a:p>
          <a:p>
            <a:pPr algn="just">
              <a:spcAft>
                <a:spcPts val="225"/>
              </a:spcAft>
            </a:pPr>
            <a:r>
              <a:rPr lang="vi-VN" sz="3200" dirty="0">
                <a:solidFill>
                  <a:srgbClr val="1A1C1E"/>
                </a:solidFill>
                <a:cs typeface="Arial" panose="020B0604020202020204" pitchFamily="34" charset="0"/>
                <a:hlinkClick r:id="rId20"/>
              </a:rPr>
              <a:t>https://vtv.vn/kinh-te/mao-danh-ngan-hang-ho-tro-cap-nhat-sinh-trac-hoc-de-lua-dao-20240702092739988.htm</a:t>
            </a:r>
            <a:r>
              <a:rPr lang="en-US" sz="3200" dirty="0">
                <a:solidFill>
                  <a:srgbClr val="1A1C1E"/>
                </a:solidFill>
                <a:cs typeface="Arial" panose="020B0604020202020204" pitchFamily="34" charset="0"/>
              </a:rPr>
              <a:t> </a:t>
            </a:r>
          </a:p>
          <a:p>
            <a:pPr algn="just">
              <a:spcAft>
                <a:spcPts val="225"/>
              </a:spcAft>
            </a:pPr>
            <a:r>
              <a:rPr lang="en-US" sz="2800" b="0"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 Vi </a:t>
            </a:r>
            <a:r>
              <a:rPr lang="en-US" sz="2800" b="0" dirty="0" err="1">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phạm</a:t>
            </a:r>
            <a:r>
              <a:rPr lang="en-US" sz="2800" b="0"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 2b) </a:t>
            </a:r>
            <a:r>
              <a:rPr lang="en-US" sz="2800" b="0" dirty="0" err="1">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Điều</a:t>
            </a:r>
            <a:r>
              <a:rPr lang="en-US" sz="2800" b="0"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 21: </a:t>
            </a:r>
            <a:r>
              <a:rPr lang="vi-VN" sz="2800" b="0"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Sử dụng </a:t>
            </a:r>
            <a:r>
              <a:rPr lang="vi-VN" sz="2800" b="1"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đúng mục đích</a:t>
            </a:r>
            <a:r>
              <a:rPr lang="vi-VN" sz="2800" b="0" dirty="0">
                <a:solidFill>
                  <a:schemeClr val="accent6">
                    <a:lumMod val="50000"/>
                  </a:schemeClr>
                </a:solidFill>
                <a:effectLst/>
                <a:latin typeface="Arial" panose="020B0604020202020204" pitchFamily="34" charset="0"/>
                <a:cs typeface="Arial" panose="020B0604020202020204" pitchFamily="34" charset="0"/>
                <a:sym typeface="Wingdings" panose="05000000000000000000" pitchFamily="2" charset="2"/>
              </a:rPr>
              <a:t> thông tin cá nhân thu thập được và chỉ lưu trữ những thông tin đó trong một khoảng thời gian nhất định theo quy định của pháp luật hoặc theo thoả thuận giữa hai bên;</a:t>
            </a:r>
            <a:endParaRPr lang="vi-VN" sz="2800" b="0" dirty="0">
              <a:solidFill>
                <a:schemeClr val="accent6">
                  <a:lumMod val="50000"/>
                </a:schemeClr>
              </a:solidFill>
              <a:effectLst/>
              <a:latin typeface="Arial" panose="020B0604020202020204" pitchFamily="34" charset="0"/>
              <a:cs typeface="Arial" panose="020B0604020202020204" pitchFamily="34" charset="0"/>
            </a:endParaRPr>
          </a:p>
        </p:txBody>
      </p:sp>
      <p:pic>
        <p:nvPicPr>
          <p:cNvPr id="2050" name="Picture 2" descr="Cảnh báo thủ đoạn mạo danh ngân hàng hỗ trợ cập nhật sinh trắc học để">
            <a:extLst>
              <a:ext uri="{FF2B5EF4-FFF2-40B4-BE49-F238E27FC236}">
                <a16:creationId xmlns:a16="http://schemas.microsoft.com/office/drawing/2014/main" id="{EAE06D26-E6B8-F6EB-C5E1-FB720B51EBC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60254" y="3343713"/>
            <a:ext cx="5244787" cy="3496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64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B8D6BEC7-3778-1ACB-FE91-56D9A58477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17F9EF-E265-84E6-2D0A-554ACF323583}"/>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BF88BC7D-26B3-7262-5789-6A3546C1F82E}"/>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7E7BB6AE-9840-C5DB-283F-E8B2FBA6024C}"/>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26AE6471-6D4E-42BD-45AD-E28DBCB42AF7}"/>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09C534A9-B565-658D-E0C2-6CB9F9009AD5}"/>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2.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hoạt động của cơ quan nhà nước</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48965E77-1374-EFA2-843E-0B977657D64A}"/>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4A524916-9764-3FF0-36EA-8B82E17A6304}"/>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289EADFE-D61B-A0F2-65A5-D58E5491E0E7}"/>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980B28D6-013C-4316-BACA-284B5FEF045E}"/>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340F1057-B567-AE74-595A-7CB6EACEED26}"/>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F91B34D7-3FE4-AB89-A26B-292108B8F616}"/>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66BD3429-7938-92D5-F193-9264950CCF34}"/>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19C44625-46DE-58DC-58FD-570325002BA4}"/>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27F2BBF3-1A67-BE30-08D7-E91931C6DCE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graphicFrame>
        <p:nvGraphicFramePr>
          <p:cNvPr id="42" name="Table 41">
            <a:extLst>
              <a:ext uri="{FF2B5EF4-FFF2-40B4-BE49-F238E27FC236}">
                <a16:creationId xmlns:a16="http://schemas.microsoft.com/office/drawing/2014/main" id="{B2E42030-4A09-77F0-1814-92826DEC6F90}"/>
              </a:ext>
            </a:extLst>
          </p:cNvPr>
          <p:cNvGraphicFramePr>
            <a:graphicFrameLocks noGrp="1"/>
          </p:cNvGraphicFramePr>
          <p:nvPr>
            <p:extLst>
              <p:ext uri="{D42A27DB-BD31-4B8C-83A1-F6EECF244321}">
                <p14:modId xmlns:p14="http://schemas.microsoft.com/office/powerpoint/2010/main" val="957714353"/>
              </p:ext>
            </p:extLst>
          </p:nvPr>
        </p:nvGraphicFramePr>
        <p:xfrm>
          <a:off x="1542528" y="2470203"/>
          <a:ext cx="13725780" cy="4358640"/>
        </p:xfrm>
        <a:graphic>
          <a:graphicData uri="http://schemas.openxmlformats.org/drawingml/2006/table">
            <a:tbl>
              <a:tblPr firstRow="1" bandRow="1">
                <a:tableStyleId>{5940675A-B579-460E-94D1-54222C63F5DA}</a:tableStyleId>
              </a:tblPr>
              <a:tblGrid>
                <a:gridCol w="1729305">
                  <a:extLst>
                    <a:ext uri="{9D8B030D-6E8A-4147-A177-3AD203B41FA5}">
                      <a16:colId xmlns:a16="http://schemas.microsoft.com/office/drawing/2014/main" val="254914123"/>
                    </a:ext>
                  </a:extLst>
                </a:gridCol>
                <a:gridCol w="11996475">
                  <a:extLst>
                    <a:ext uri="{9D8B030D-6E8A-4147-A177-3AD203B41FA5}">
                      <a16:colId xmlns:a16="http://schemas.microsoft.com/office/drawing/2014/main" val="1989779494"/>
                    </a:ext>
                  </a:extLst>
                </a:gridCol>
              </a:tblGrid>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24</a:t>
                      </a:r>
                    </a:p>
                  </a:txBody>
                  <a:tcPr anchor="ctr"/>
                </a:tc>
                <a:tc>
                  <a:txBody>
                    <a:bodyPr/>
                    <a:lstStyle/>
                    <a:p>
                      <a:pPr algn="just"/>
                      <a:r>
                        <a:rPr lang="vi-VN" sz="3200" dirty="0">
                          <a:solidFill>
                            <a:srgbClr val="FF0000"/>
                          </a:solidFill>
                          <a:latin typeface="+mn-lt"/>
                          <a:cs typeface="Arial" panose="020B0604020202020204" pitchFamily="34" charset="0"/>
                        </a:rPr>
                        <a:t>Nguyên tắc </a:t>
                      </a:r>
                      <a:r>
                        <a:rPr lang="vi-VN" sz="3200" dirty="0">
                          <a:latin typeface="+mn-lt"/>
                          <a:cs typeface="Arial" panose="020B0604020202020204" pitchFamily="34" charset="0"/>
                        </a:rPr>
                        <a:t>ứng dụng công nghệ thông tin trong hoạt động của cơ quan nhà nước</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8180337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25</a:t>
                      </a:r>
                    </a:p>
                  </a:txBody>
                  <a:tcPr anchor="ctr"/>
                </a:tc>
                <a:tc>
                  <a:txBody>
                    <a:bodyPr/>
                    <a:lstStyle/>
                    <a:p>
                      <a:pPr algn="just"/>
                      <a:r>
                        <a:rPr lang="vi-VN" sz="3200" dirty="0">
                          <a:solidFill>
                            <a:srgbClr val="FF0000"/>
                          </a:solidFill>
                          <a:latin typeface="+mn-lt"/>
                          <a:cs typeface="Arial" panose="020B0604020202020204" pitchFamily="34" charset="0"/>
                        </a:rPr>
                        <a:t>Điều kiện để triển khai </a:t>
                      </a:r>
                      <a:r>
                        <a:rPr lang="vi-VN" sz="3200" dirty="0">
                          <a:latin typeface="+mn-lt"/>
                          <a:cs typeface="Arial" panose="020B0604020202020204" pitchFamily="34" charset="0"/>
                        </a:rPr>
                        <a:t>ứng dụng công nghệ thông tin trong hoạt động của cơ quan nhà nước</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4156667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26</a:t>
                      </a:r>
                    </a:p>
                  </a:txBody>
                  <a:tcPr anchor="ctr"/>
                </a:tc>
                <a:tc>
                  <a:txBody>
                    <a:bodyPr/>
                    <a:lstStyle/>
                    <a:p>
                      <a:pPr algn="just"/>
                      <a:r>
                        <a:rPr lang="vi-VN" sz="3200" dirty="0">
                          <a:solidFill>
                            <a:srgbClr val="FF0000"/>
                          </a:solidFill>
                          <a:latin typeface="+mn-lt"/>
                          <a:cs typeface="Arial" panose="020B0604020202020204" pitchFamily="34" charset="0"/>
                        </a:rPr>
                        <a:t>Nội dung </a:t>
                      </a:r>
                      <a:r>
                        <a:rPr lang="vi-VN" sz="3200" dirty="0">
                          <a:latin typeface="+mn-lt"/>
                          <a:cs typeface="Arial" panose="020B0604020202020204" pitchFamily="34" charset="0"/>
                        </a:rPr>
                        <a:t>ứng dụng công nghệ thông tin trong hoạt động của cơ quan nhà nước</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7045032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27</a:t>
                      </a:r>
                    </a:p>
                  </a:txBody>
                  <a:tcPr anchor="ctr"/>
                </a:tc>
                <a:tc>
                  <a:txBody>
                    <a:bodyPr/>
                    <a:lstStyle/>
                    <a:p>
                      <a:pPr algn="just"/>
                      <a:r>
                        <a:rPr lang="vi-VN" sz="3200" dirty="0">
                          <a:solidFill>
                            <a:srgbClr val="FF0000"/>
                          </a:solidFill>
                          <a:latin typeface="+mn-lt"/>
                          <a:cs typeface="Arial" panose="020B0604020202020204" pitchFamily="34" charset="0"/>
                        </a:rPr>
                        <a:t>Hoạt động </a:t>
                      </a:r>
                      <a:r>
                        <a:rPr lang="vi-VN" sz="3200" dirty="0">
                          <a:latin typeface="+mn-lt"/>
                          <a:cs typeface="Arial" panose="020B0604020202020204" pitchFamily="34" charset="0"/>
                        </a:rPr>
                        <a:t>của cơ quan nhà nước trên môi trường mạng</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4394491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28</a:t>
                      </a:r>
                    </a:p>
                  </a:txBody>
                  <a:tcPr anchor="ctr"/>
                </a:tc>
                <a:tc>
                  <a:txBody>
                    <a:bodyPr/>
                    <a:lstStyle/>
                    <a:p>
                      <a:pPr algn="just"/>
                      <a:r>
                        <a:rPr lang="vi-VN" sz="3200" dirty="0">
                          <a:solidFill>
                            <a:srgbClr val="FF0000"/>
                          </a:solidFill>
                          <a:latin typeface="+mn-lt"/>
                          <a:cs typeface="Arial" panose="020B0604020202020204" pitchFamily="34" charset="0"/>
                        </a:rPr>
                        <a:t>Trang thông tin điện tử </a:t>
                      </a:r>
                      <a:r>
                        <a:rPr lang="vi-VN" sz="3200" dirty="0">
                          <a:latin typeface="+mn-lt"/>
                          <a:cs typeface="Arial" panose="020B0604020202020204" pitchFamily="34" charset="0"/>
                        </a:rPr>
                        <a:t>của cơ quan nhà nước</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74851803"/>
                  </a:ext>
                </a:extLst>
              </a:tr>
            </a:tbl>
          </a:graphicData>
        </a:graphic>
      </p:graphicFrame>
      <p:sp>
        <p:nvSpPr>
          <p:cNvPr id="45" name="TextBox 17">
            <a:extLst>
              <a:ext uri="{FF2B5EF4-FFF2-40B4-BE49-F238E27FC236}">
                <a16:creationId xmlns:a16="http://schemas.microsoft.com/office/drawing/2014/main" id="{AA707E29-ED82-56EE-62F3-602D8AB81C2A}"/>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A4C56760-92FF-2C37-DA5A-681CA81485D7}"/>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Tree>
    <p:extLst>
      <p:ext uri="{BB962C8B-B14F-4D97-AF65-F5344CB8AC3E}">
        <p14:creationId xmlns:p14="http://schemas.microsoft.com/office/powerpoint/2010/main" val="2274725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C9830CB5-4277-7425-9F46-02925B5C97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CC49F7-2352-09A0-5F7D-A75FAF46BF58}"/>
              </a:ext>
            </a:extLst>
          </p:cNvPr>
          <p:cNvSpPr/>
          <p:nvPr/>
        </p:nvSpPr>
        <p:spPr>
          <a:xfrm rot="-10800000">
            <a:off x="7924800" y="-2432"/>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ED99CEB1-FBBC-E0E5-0EDD-B3822F29FD53}"/>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7313EA10-9815-3D6E-82AF-FB49B3003E9E}"/>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BE0FEC7B-BD1F-887B-5D2E-BFBEC39E3012}"/>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DE10ECBE-5D15-4DA3-28FF-BE8DA583C674}"/>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2.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hoạt động của cơ quan nhà nước</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372D0162-637F-A88C-33E9-E10734A96729}"/>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9E51F0EB-A4E3-C46C-46AA-082A764D8CAA}"/>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6332089B-3790-7559-1C9B-3B4916BF452C}"/>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2B14FFF4-3369-D3F8-892F-062BA1B1D03F}"/>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593E400A-7231-CE01-1A64-10212EB07A75}"/>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38504988-2727-0D97-434F-52125BA12AC2}"/>
              </a:ext>
            </a:extLst>
          </p:cNvPr>
          <p:cNvSpPr/>
          <p:nvPr/>
        </p:nvSpPr>
        <p:spPr>
          <a:xfrm>
            <a:off x="4907123"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46EBCA0B-D9CB-CE53-DDD4-2EFA03B18E43}"/>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B17D6227-4FAC-E07B-8392-80654D03AF3B}"/>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FED36293-AF64-676C-A374-5B42FE73F12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722C0A02-20EB-D5C4-16C5-25D7D08FEAAD}"/>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9" name="TextBox 8">
            <a:extLst>
              <a:ext uri="{FF2B5EF4-FFF2-40B4-BE49-F238E27FC236}">
                <a16:creationId xmlns:a16="http://schemas.microsoft.com/office/drawing/2014/main" id="{B6A55987-BC59-D5D1-8A4A-026FB68EBA8F}"/>
              </a:ext>
            </a:extLst>
          </p:cNvPr>
          <p:cNvSpPr txBox="1"/>
          <p:nvPr/>
        </p:nvSpPr>
        <p:spPr>
          <a:xfrm>
            <a:off x="7799546" y="2700595"/>
            <a:ext cx="8658852" cy="4083169"/>
          </a:xfrm>
          <a:prstGeom prst="rect">
            <a:avLst/>
          </a:prstGeom>
          <a:noFill/>
        </p:spPr>
        <p:txBody>
          <a:bodyPr wrap="square">
            <a:spAutoFit/>
          </a:bodyPr>
          <a:lstStyle/>
          <a:p>
            <a:pPr algn="just">
              <a:spcAft>
                <a:spcPts val="225"/>
              </a:spcAft>
            </a:pPr>
            <a:r>
              <a:rPr lang="vi-VN" sz="3200" b="1" dirty="0">
                <a:latin typeface="Arial" panose="020B0604020202020204" pitchFamily="34" charset="0"/>
                <a:cs typeface="Arial" panose="020B0604020202020204" pitchFamily="34" charset="0"/>
              </a:rPr>
              <a:t>Ứng dụng VNeID</a:t>
            </a:r>
            <a:r>
              <a:rPr lang="en-US" sz="3200" b="1" dirty="0">
                <a:latin typeface="Arial" panose="020B0604020202020204" pitchFamily="34" charset="0"/>
                <a:cs typeface="Arial" panose="020B0604020202020204" pitchFamily="34" charset="0"/>
              </a:rPr>
              <a:t>: </a:t>
            </a:r>
            <a:r>
              <a:rPr lang="vi-VN" sz="3200" dirty="0">
                <a:latin typeface="Arial" panose="020B0604020202020204" pitchFamily="34" charset="0"/>
                <a:cs typeface="Arial" panose="020B0604020202020204" pitchFamily="34" charset="0"/>
              </a:rPr>
              <a:t>Tích hợp giấy tờ </a:t>
            </a:r>
            <a:r>
              <a:rPr lang="en-US" sz="3200" dirty="0">
                <a:latin typeface="Arial" panose="020B0604020202020204" pitchFamily="34" charset="0"/>
                <a:cs typeface="Arial" panose="020B0604020202020204" pitchFamily="34" charset="0"/>
              </a:rPr>
              <a:t>(</a:t>
            </a:r>
            <a:r>
              <a:rPr lang="vi-VN" sz="3200" dirty="0">
                <a:latin typeface="Arial" panose="020B0604020202020204" pitchFamily="34" charset="0"/>
                <a:cs typeface="Arial" panose="020B0604020202020204" pitchFamily="34" charset="0"/>
              </a:rPr>
              <a:t>CCCD, thẻ BHYT, Giấy phép lái xe</a:t>
            </a:r>
            <a:r>
              <a:rPr lang="en-US" sz="3200" dirty="0">
                <a:latin typeface="Arial" panose="020B0604020202020204" pitchFamily="34" charset="0"/>
                <a:cs typeface="Arial" panose="020B0604020202020204" pitchFamily="34" charset="0"/>
              </a:rPr>
              <a:t>…)</a:t>
            </a:r>
            <a:r>
              <a:rPr lang="vi-VN" sz="3200" dirty="0">
                <a:latin typeface="Arial" panose="020B0604020202020204" pitchFamily="34" charset="0"/>
                <a:cs typeface="Arial" panose="020B0604020202020204" pitchFamily="34" charset="0"/>
              </a:rPr>
              <a:t> vào điện thoại, thay thế giấy tờ vật lý.</a:t>
            </a:r>
            <a:endParaRPr lang="en-US" sz="3200" dirty="0">
              <a:latin typeface="Arial" panose="020B0604020202020204" pitchFamily="34" charset="0"/>
              <a:cs typeface="Arial" panose="020B0604020202020204" pitchFamily="34" charset="0"/>
            </a:endParaRPr>
          </a:p>
          <a:p>
            <a:pPr algn="just">
              <a:spcAft>
                <a:spcPts val="225"/>
              </a:spcAft>
            </a:pPr>
            <a:r>
              <a:rPr lang="en-US" sz="3200" i="1" dirty="0" err="1">
                <a:latin typeface="Arial" panose="020B0604020202020204" pitchFamily="34" charset="0"/>
                <a:cs typeface="Arial" panose="020B0604020202020204" pitchFamily="34" charset="0"/>
              </a:rPr>
              <a:t>Ví</a:t>
            </a:r>
            <a:r>
              <a:rPr lang="en-US" sz="3200" i="1" dirty="0">
                <a:latin typeface="Arial" panose="020B0604020202020204" pitchFamily="34" charset="0"/>
                <a:cs typeface="Arial" panose="020B0604020202020204" pitchFamily="34" charset="0"/>
              </a:rPr>
              <a:t> </a:t>
            </a:r>
            <a:r>
              <a:rPr lang="en-US" sz="3200" i="1" dirty="0" err="1">
                <a:latin typeface="Arial" panose="020B0604020202020204" pitchFamily="34" charset="0"/>
                <a:cs typeface="Arial" panose="020B0604020202020204" pitchFamily="34" charset="0"/>
              </a:rPr>
              <a:t>dụ</a:t>
            </a:r>
            <a:r>
              <a:rPr lang="en-US" sz="3200" i="1" dirty="0">
                <a:latin typeface="Arial" panose="020B0604020202020204" pitchFamily="34" charset="0"/>
                <a:cs typeface="Arial" panose="020B0604020202020204" pitchFamily="34" charset="0"/>
              </a:rPr>
              <a:t>: </a:t>
            </a:r>
            <a:r>
              <a:rPr lang="vi-VN" sz="3200" dirty="0">
                <a:latin typeface="Arial" panose="020B0604020202020204" pitchFamily="34" charset="0"/>
                <a:cs typeface="Arial" panose="020B0604020202020204" pitchFamily="34" charset="0"/>
              </a:rPr>
              <a:t>Việt Nam Chính thức trở thành nước có định danh điện tử quốc gia</a:t>
            </a:r>
            <a:r>
              <a:rPr lang="en-US" sz="3200" dirty="0">
                <a:latin typeface="Arial" panose="020B0604020202020204" pitchFamily="34" charset="0"/>
                <a:cs typeface="Arial" panose="020B0604020202020204" pitchFamily="34" charset="0"/>
              </a:rPr>
              <a:t> (18/7/2022)</a:t>
            </a:r>
          </a:p>
          <a:p>
            <a:pPr algn="just">
              <a:spcAft>
                <a:spcPts val="225"/>
              </a:spcAft>
            </a:pPr>
            <a:r>
              <a:rPr lang="en-US" sz="3200" dirty="0">
                <a:latin typeface="Arial" panose="020B0604020202020204" pitchFamily="34" charset="0"/>
                <a:cs typeface="Arial" panose="020B0604020202020204" pitchFamily="34" charset="0"/>
                <a:hlinkClick r:id="rId20"/>
              </a:rPr>
              <a:t>https://nhandan.vn/viet-nam-chinh-thuc-tro-thanh-nuoc-co-dinh-danh-dien-tu-quoc-gia-post710849.html</a:t>
            </a:r>
            <a:r>
              <a:rPr lang="en-US" sz="3200" dirty="0">
                <a:latin typeface="Arial" panose="020B0604020202020204" pitchFamily="34" charset="0"/>
                <a:cs typeface="Arial" panose="020B0604020202020204" pitchFamily="34" charset="0"/>
              </a:rPr>
              <a:t> </a:t>
            </a:r>
          </a:p>
        </p:txBody>
      </p:sp>
      <p:pic>
        <p:nvPicPr>
          <p:cNvPr id="4101" name="Picture 5">
            <a:extLst>
              <a:ext uri="{FF2B5EF4-FFF2-40B4-BE49-F238E27FC236}">
                <a16:creationId xmlns:a16="http://schemas.microsoft.com/office/drawing/2014/main" id="{28B3D1DE-7006-7D72-98A0-FB4CD3BF4527}"/>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545130" y="2204166"/>
            <a:ext cx="5421540" cy="812854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DBA0D1B-D54D-4CAE-525D-9E4A88D7AD95}"/>
              </a:ext>
            </a:extLst>
          </p:cNvPr>
          <p:cNvSpPr txBox="1"/>
          <p:nvPr/>
        </p:nvSpPr>
        <p:spPr>
          <a:xfrm>
            <a:off x="7779177" y="7186834"/>
            <a:ext cx="8920843" cy="1892826"/>
          </a:xfrm>
          <a:prstGeom prst="rect">
            <a:avLst/>
          </a:prstGeom>
          <a:noFill/>
        </p:spPr>
        <p:txBody>
          <a:bodyPr wrap="square">
            <a:spAutoFit/>
          </a:bodyPr>
          <a:lstStyle/>
          <a:p>
            <a:pPr algn="just">
              <a:spcAft>
                <a:spcPts val="225"/>
              </a:spcAft>
            </a:pPr>
            <a:r>
              <a:rPr lang="en-US" sz="2800" b="1" i="1" dirty="0" err="1">
                <a:latin typeface="Arial" panose="020B0604020202020204" pitchFamily="34" charset="0"/>
                <a:cs typeface="Arial" panose="020B0604020202020204" pitchFamily="34" charset="0"/>
              </a:rPr>
              <a:t>Một</a:t>
            </a:r>
            <a:r>
              <a:rPr lang="en-US" sz="2800" b="1" i="1" dirty="0">
                <a:latin typeface="Arial" panose="020B0604020202020204" pitchFamily="34" charset="0"/>
                <a:cs typeface="Arial" panose="020B0604020202020204" pitchFamily="34" charset="0"/>
              </a:rPr>
              <a:t> </a:t>
            </a:r>
            <a:r>
              <a:rPr lang="en-US" sz="2800" b="1" i="1" dirty="0" err="1">
                <a:latin typeface="Arial" panose="020B0604020202020204" pitchFamily="34" charset="0"/>
                <a:cs typeface="Arial" panose="020B0604020202020204" pitchFamily="34" charset="0"/>
              </a:rPr>
              <a:t>số</a:t>
            </a:r>
            <a:r>
              <a:rPr lang="en-US" sz="2800" b="1" i="1" dirty="0">
                <a:latin typeface="Arial" panose="020B0604020202020204" pitchFamily="34" charset="0"/>
                <a:cs typeface="Arial" panose="020B0604020202020204" pitchFamily="34" charset="0"/>
              </a:rPr>
              <a:t> </a:t>
            </a:r>
            <a:r>
              <a:rPr lang="en-US" sz="2800" b="1" i="1" dirty="0" err="1">
                <a:latin typeface="Arial" panose="020B0604020202020204" pitchFamily="34" charset="0"/>
                <a:cs typeface="Arial" panose="020B0604020202020204" pitchFamily="34" charset="0"/>
              </a:rPr>
              <a:t>ví</a:t>
            </a:r>
            <a:r>
              <a:rPr lang="en-US" sz="2800" b="1" i="1" dirty="0">
                <a:latin typeface="Arial" panose="020B0604020202020204" pitchFamily="34" charset="0"/>
                <a:cs typeface="Arial" panose="020B0604020202020204" pitchFamily="34" charset="0"/>
              </a:rPr>
              <a:t> </a:t>
            </a:r>
            <a:r>
              <a:rPr lang="en-US" sz="2800" b="1" i="1" dirty="0" err="1">
                <a:latin typeface="Arial" panose="020B0604020202020204" pitchFamily="34" charset="0"/>
                <a:cs typeface="Arial" panose="020B0604020202020204" pitchFamily="34" charset="0"/>
              </a:rPr>
              <a:t>dụ</a:t>
            </a:r>
            <a:r>
              <a:rPr lang="en-US" sz="2800" b="1" i="1" dirty="0">
                <a:latin typeface="Arial" panose="020B0604020202020204" pitchFamily="34" charset="0"/>
                <a:cs typeface="Arial" panose="020B0604020202020204" pitchFamily="34" charset="0"/>
              </a:rPr>
              <a:t> </a:t>
            </a:r>
            <a:r>
              <a:rPr lang="en-US" sz="2800" b="1" i="1" dirty="0" err="1">
                <a:latin typeface="Arial" panose="020B0604020202020204" pitchFamily="34" charset="0"/>
                <a:cs typeface="Arial" panose="020B0604020202020204" pitchFamily="34" charset="0"/>
              </a:rPr>
              <a:t>khác</a:t>
            </a:r>
            <a:r>
              <a:rPr lang="en-US" sz="2800" b="1" i="1" dirty="0">
                <a:latin typeface="Arial" panose="020B0604020202020204" pitchFamily="34" charset="0"/>
                <a:cs typeface="Arial" panose="020B0604020202020204" pitchFamily="34" charset="0"/>
              </a:rPr>
              <a:t>:</a:t>
            </a:r>
          </a:p>
          <a:p>
            <a:pPr marL="457200" indent="-457200" algn="just">
              <a:spcAft>
                <a:spcPts val="225"/>
              </a:spcAft>
              <a:buFont typeface="Arial" panose="020B0604020202020204" pitchFamily="34" charset="0"/>
              <a:buChar char="•"/>
            </a:pPr>
            <a:r>
              <a:rPr lang="en-US" sz="2800" dirty="0" err="1">
                <a:latin typeface="Arial" panose="020B0604020202020204" pitchFamily="34" charset="0"/>
                <a:cs typeface="Arial" panose="020B0604020202020204" pitchFamily="34" charset="0"/>
              </a:rPr>
              <a:t>Cổng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Dịch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vụ</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công</a:t>
            </a:r>
            <a:r>
              <a:rPr lang="en-US" sz="2800" dirty="0">
                <a:latin typeface="Arial" panose="020B0604020202020204" pitchFamily="34" charset="0"/>
                <a:cs typeface="Arial" panose="020B0604020202020204" pitchFamily="34" charset="0"/>
              </a:rPr>
              <a:t> Quốc </a:t>
            </a:r>
            <a:r>
              <a:rPr lang="en-US" sz="2800" dirty="0" err="1">
                <a:latin typeface="Arial" panose="020B0604020202020204" pitchFamily="34" charset="0"/>
                <a:cs typeface="Arial" panose="020B0604020202020204" pitchFamily="34" charset="0"/>
              </a:rPr>
              <a:t>gia</a:t>
            </a:r>
            <a:r>
              <a:rPr lang="en-US" sz="2800" dirty="0">
                <a:latin typeface="Arial" panose="020B0604020202020204" pitchFamily="34" charset="0"/>
                <a:cs typeface="Arial" panose="020B0604020202020204" pitchFamily="34" charset="0"/>
              </a:rPr>
              <a:t> (dichvucong.gov.vn)</a:t>
            </a:r>
          </a:p>
          <a:p>
            <a:pPr marL="457200" indent="-457200" algn="just">
              <a:spcAft>
                <a:spcPts val="225"/>
              </a:spcAft>
              <a:buFont typeface="Arial" panose="020B0604020202020204" pitchFamily="34" charset="0"/>
              <a:buChar char="•"/>
            </a:pPr>
            <a:r>
              <a:rPr lang="en-US" sz="2800" dirty="0" err="1">
                <a:latin typeface="Arial" panose="020B0604020202020204" pitchFamily="34" charset="0"/>
                <a:cs typeface="Arial" panose="020B0604020202020204" pitchFamily="34" charset="0"/>
              </a:rPr>
              <a:t>Hệ</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thống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Thuế</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điện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tử</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eTax</a:t>
            </a:r>
            <a:r>
              <a:rPr lang="en-US" sz="2800" dirty="0">
                <a:latin typeface="Arial" panose="020B0604020202020204" pitchFamily="34" charset="0"/>
                <a:cs typeface="Arial" panose="020B0604020202020204" pitchFamily="34" charset="0"/>
              </a:rPr>
              <a:t> Mobile)</a:t>
            </a:r>
          </a:p>
          <a:p>
            <a:pPr marL="457200" indent="-457200" algn="just">
              <a:spcAft>
                <a:spcPts val="225"/>
              </a:spcAft>
              <a:buFont typeface="Arial" panose="020B0604020202020204" pitchFamily="34" charset="0"/>
              <a:buChar char="•"/>
            </a:pPr>
            <a:r>
              <a:rPr lang="en-US" sz="2800" dirty="0" err="1">
                <a:latin typeface="Arial" panose="020B0604020202020204" pitchFamily="34" charset="0"/>
                <a:cs typeface="Arial" panose="020B0604020202020204" pitchFamily="34" charset="0"/>
              </a:rPr>
              <a:t>Hộ</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chiếu</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gắn</a:t>
            </a:r>
            <a:r>
              <a:rPr lang="en-US" sz="2800" dirty="0">
                <a:latin typeface="Arial" panose="020B0604020202020204" pitchFamily="34" charset="0"/>
                <a:cs typeface="Arial" panose="020B0604020202020204" pitchFamily="34" charset="0"/>
              </a:rPr>
              <a:t> chip…</a:t>
            </a:r>
          </a:p>
        </p:txBody>
      </p:sp>
    </p:spTree>
    <p:extLst>
      <p:ext uri="{BB962C8B-B14F-4D97-AF65-F5344CB8AC3E}">
        <p14:creationId xmlns:p14="http://schemas.microsoft.com/office/powerpoint/2010/main" val="4204230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8EA5645D-C0E5-62C8-E354-829D5CE24A0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FEA779-C627-37E0-E7B8-AB4D90FD82F2}"/>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33ADA5B3-E391-5492-14B1-43F21EA142DC}"/>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C9517285-D67D-056B-81A3-7613CF0762A1}"/>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386F5DEC-C325-E292-EF70-57FCB7485ACD}"/>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F24AAC94-30D1-9205-EA17-B5FCE96D7B9C}"/>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3.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trong thương mại</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49C1DE8D-BD0F-95CB-89DB-CB6EDAC8C13B}"/>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24268908-6385-8F6F-0169-975A9843C71D}"/>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5E625084-F449-A36C-9A57-51F2A08D4878}"/>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9F251E7A-595E-1ECE-E6B4-59B76C48AB38}"/>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A411804A-DD50-5F02-176B-4CBD9EF2320C}"/>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415A5A70-4046-C6AD-A579-63A0A3D9171F}"/>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D2D246A7-AF71-E2E3-6068-03043C13AF35}"/>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C85271CE-44E8-005F-EDB0-5E6E64FB2781}"/>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9A85C64E-F38A-AC5F-8E44-790AFD4A552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graphicFrame>
        <p:nvGraphicFramePr>
          <p:cNvPr id="42" name="Table 41">
            <a:extLst>
              <a:ext uri="{FF2B5EF4-FFF2-40B4-BE49-F238E27FC236}">
                <a16:creationId xmlns:a16="http://schemas.microsoft.com/office/drawing/2014/main" id="{646CC1F4-F5AD-ABA4-351B-A464119196CE}"/>
              </a:ext>
            </a:extLst>
          </p:cNvPr>
          <p:cNvGraphicFramePr>
            <a:graphicFrameLocks noGrp="1"/>
          </p:cNvGraphicFramePr>
          <p:nvPr>
            <p:extLst>
              <p:ext uri="{D42A27DB-BD31-4B8C-83A1-F6EECF244321}">
                <p14:modId xmlns:p14="http://schemas.microsoft.com/office/powerpoint/2010/main" val="1940969077"/>
              </p:ext>
            </p:extLst>
          </p:nvPr>
        </p:nvGraphicFramePr>
        <p:xfrm>
          <a:off x="1564299" y="2504839"/>
          <a:ext cx="13387189" cy="3870960"/>
        </p:xfrm>
        <a:graphic>
          <a:graphicData uri="http://schemas.openxmlformats.org/drawingml/2006/table">
            <a:tbl>
              <a:tblPr firstRow="1" bandRow="1">
                <a:tableStyleId>{5940675A-B579-460E-94D1-54222C63F5DA}</a:tableStyleId>
              </a:tblPr>
              <a:tblGrid>
                <a:gridCol w="1686645">
                  <a:extLst>
                    <a:ext uri="{9D8B030D-6E8A-4147-A177-3AD203B41FA5}">
                      <a16:colId xmlns:a16="http://schemas.microsoft.com/office/drawing/2014/main" val="254914123"/>
                    </a:ext>
                  </a:extLst>
                </a:gridCol>
                <a:gridCol w="11700544">
                  <a:extLst>
                    <a:ext uri="{9D8B030D-6E8A-4147-A177-3AD203B41FA5}">
                      <a16:colId xmlns:a16="http://schemas.microsoft.com/office/drawing/2014/main" val="1989779494"/>
                    </a:ext>
                  </a:extLst>
                </a:gridCol>
              </a:tblGrid>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29</a:t>
                      </a:r>
                    </a:p>
                  </a:txBody>
                  <a:tcPr anchor="ctr"/>
                </a:tc>
                <a:tc>
                  <a:txBody>
                    <a:bodyPr/>
                    <a:lstStyle/>
                    <a:p>
                      <a:pPr algn="just"/>
                      <a:r>
                        <a:rPr lang="vi-VN" sz="3200" dirty="0">
                          <a:latin typeface="+mn-lt"/>
                          <a:cs typeface="Arial" panose="020B0604020202020204" pitchFamily="34" charset="0"/>
                        </a:rPr>
                        <a:t>Nguyên tắc ứng dụng công nghệ thông tin trong thương mại</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8180337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30</a:t>
                      </a:r>
                    </a:p>
                  </a:txBody>
                  <a:tcPr anchor="ctr"/>
                </a:tc>
                <a:tc>
                  <a:txBody>
                    <a:bodyPr/>
                    <a:lstStyle/>
                    <a:p>
                      <a:pPr algn="just"/>
                      <a:r>
                        <a:rPr lang="vi-VN" sz="3200" dirty="0">
                          <a:latin typeface="+mn-lt"/>
                          <a:cs typeface="Arial" panose="020B0604020202020204" pitchFamily="34" charset="0"/>
                        </a:rPr>
                        <a:t>Trang thông tin điện tử bán hàng</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4156667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31</a:t>
                      </a:r>
                    </a:p>
                  </a:txBody>
                  <a:tcPr anchor="ctr"/>
                </a:tc>
                <a:tc>
                  <a:txBody>
                    <a:bodyPr/>
                    <a:lstStyle/>
                    <a:p>
                      <a:pPr algn="just"/>
                      <a:r>
                        <a:rPr lang="vi-VN" sz="3200" dirty="0">
                          <a:latin typeface="+mn-lt"/>
                          <a:cs typeface="Arial" panose="020B0604020202020204" pitchFamily="34" charset="0"/>
                        </a:rPr>
                        <a:t>Cung cấp thông tin cho việc giao kết hợp đồng trên môi trường mạng</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70450329"/>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32</a:t>
                      </a:r>
                    </a:p>
                  </a:txBody>
                  <a:tcPr anchor="ctr"/>
                </a:tc>
                <a:tc>
                  <a:txBody>
                    <a:bodyPr/>
                    <a:lstStyle/>
                    <a:p>
                      <a:pPr algn="just"/>
                      <a:r>
                        <a:rPr lang="vi-VN" sz="3200" dirty="0">
                          <a:latin typeface="+mn-lt"/>
                          <a:cs typeface="Arial" panose="020B0604020202020204" pitchFamily="34" charset="0"/>
                        </a:rPr>
                        <a:t>Giải quyết hậu quả do lỗi nhập sai thông tin thương mại trên </a:t>
                      </a:r>
                      <a:br>
                        <a:rPr lang="en-US" sz="3200" dirty="0">
                          <a:latin typeface="+mn-lt"/>
                          <a:cs typeface="Arial" panose="020B0604020202020204" pitchFamily="34" charset="0"/>
                        </a:rPr>
                      </a:br>
                      <a:r>
                        <a:rPr lang="vi-VN" sz="3200" dirty="0">
                          <a:latin typeface="+mn-lt"/>
                          <a:cs typeface="Arial" panose="020B0604020202020204" pitchFamily="34" charset="0"/>
                        </a:rPr>
                        <a:t>môi trường mạng</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43944917"/>
                  </a:ext>
                </a:extLst>
              </a:tr>
              <a:tr h="370840">
                <a:tc>
                  <a:txBody>
                    <a:bodyPr/>
                    <a:lstStyle/>
                    <a:p>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33</a:t>
                      </a:r>
                    </a:p>
                  </a:txBody>
                  <a:tcPr anchor="ctr"/>
                </a:tc>
                <a:tc>
                  <a:txBody>
                    <a:bodyPr/>
                    <a:lstStyle/>
                    <a:p>
                      <a:pPr algn="just"/>
                      <a:r>
                        <a:rPr lang="vi-VN" sz="3200" dirty="0">
                          <a:latin typeface="+mn-lt"/>
                          <a:cs typeface="Arial" panose="020B0604020202020204" pitchFamily="34" charset="0"/>
                        </a:rPr>
                        <a:t>Thanh toán trên môi trường mạng</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874851803"/>
                  </a:ext>
                </a:extLst>
              </a:tr>
            </a:tbl>
          </a:graphicData>
        </a:graphic>
      </p:graphicFrame>
      <p:sp>
        <p:nvSpPr>
          <p:cNvPr id="45" name="TextBox 17">
            <a:extLst>
              <a:ext uri="{FF2B5EF4-FFF2-40B4-BE49-F238E27FC236}">
                <a16:creationId xmlns:a16="http://schemas.microsoft.com/office/drawing/2014/main" id="{23CB51E7-EDD6-CF69-E450-7339726EB58B}"/>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91B6939C-BA9E-4269-7E96-27DB2464C7DD}"/>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Tree>
    <p:extLst>
      <p:ext uri="{BB962C8B-B14F-4D97-AF65-F5344CB8AC3E}">
        <p14:creationId xmlns:p14="http://schemas.microsoft.com/office/powerpoint/2010/main" val="687436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8DC3A143-69F6-6E0D-223A-A6E50B66FC6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2376963-FB7C-F189-9C5C-7D1BA42FE07F}"/>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F8E952B0-CD3A-3B98-0621-63F57973F2C1}"/>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BE306FE3-944E-ED91-B01A-030C944A298B}"/>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0F3598CD-452D-0F65-9BF9-4293787DED2B}"/>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6E34BAF7-E588-A04B-1835-A7802132FCB6}"/>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3.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trong thương mại</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766D1699-A5D4-F7A0-ECEF-8B70A9313A02}"/>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447CC43D-5BF2-EF9C-C71B-6A2FCF09FBE1}"/>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3A8C39A3-8C03-8201-D25D-DE87E20C2A47}"/>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00266F35-7529-4BA8-DAE2-ABFDFC2EE391}"/>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0F2334F0-8319-5AE1-79E0-1E42A5516A22}"/>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4CC834CD-B6A8-5B78-5D6C-FEF75B761A07}"/>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645444AB-EEE3-71C1-58EA-D637B6D73FE4}"/>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33745AF6-EDDA-4E20-130D-8DE0A11B9A75}"/>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8EAC5651-84B3-44FA-8161-EB9D6AC220B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52BA8420-6E64-6EAC-F1D1-2FE0B1F275CF}"/>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FD27DFE8-1E73-8580-200A-B7327B3D2D90}"/>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9" name="TextBox 8">
            <a:extLst>
              <a:ext uri="{FF2B5EF4-FFF2-40B4-BE49-F238E27FC236}">
                <a16:creationId xmlns:a16="http://schemas.microsoft.com/office/drawing/2014/main" id="{14C43EEF-198E-4AF3-B8AE-16F716162DE5}"/>
              </a:ext>
            </a:extLst>
          </p:cNvPr>
          <p:cNvSpPr txBox="1"/>
          <p:nvPr/>
        </p:nvSpPr>
        <p:spPr>
          <a:xfrm>
            <a:off x="628440" y="2613886"/>
            <a:ext cx="11364314" cy="6483826"/>
          </a:xfrm>
          <a:prstGeom prst="rect">
            <a:avLst/>
          </a:prstGeom>
          <a:noFill/>
        </p:spPr>
        <p:txBody>
          <a:bodyPr wrap="square">
            <a:spAutoFit/>
          </a:bodyPr>
          <a:lstStyle/>
          <a:p>
            <a:pPr lvl="1" algn="just">
              <a:spcAft>
                <a:spcPts val="225"/>
              </a:spcAft>
            </a:pPr>
            <a:r>
              <a:rPr lang="en-US" sz="2800" b="1" dirty="0" err="1">
                <a:solidFill>
                  <a:srgbClr val="1A1C1E"/>
                </a:solidFill>
                <a:latin typeface="Arial" panose="020B0604020202020204" pitchFamily="34" charset="0"/>
                <a:cs typeface="Arial" panose="020B0604020202020204" pitchFamily="34" charset="0"/>
              </a:rPr>
              <a:t>Điều</a:t>
            </a:r>
            <a:r>
              <a:rPr lang="en-US" sz="2800" b="1" dirty="0">
                <a:solidFill>
                  <a:srgbClr val="1A1C1E"/>
                </a:solidFill>
                <a:latin typeface="Arial" panose="020B0604020202020204" pitchFamily="34" charset="0"/>
                <a:cs typeface="Arial" panose="020B0604020202020204" pitchFamily="34" charset="0"/>
              </a:rPr>
              <a:t> 30: </a:t>
            </a:r>
            <a:r>
              <a:rPr lang="vi-VN" sz="2800" b="1" dirty="0">
                <a:latin typeface="Arial" panose="020B0604020202020204" pitchFamily="34" charset="0"/>
                <a:cs typeface="Arial" panose="020B0604020202020204" pitchFamily="34" charset="0"/>
              </a:rPr>
              <a:t>Trang thông tin điện tử bán hàng</a:t>
            </a:r>
            <a:endParaRPr lang="en-US" sz="2800" b="1" dirty="0">
              <a:latin typeface="Arial" panose="020B0604020202020204" pitchFamily="34" charset="0"/>
              <a:cs typeface="Arial" panose="020B0604020202020204" pitchFamily="34" charset="0"/>
            </a:endParaRPr>
          </a:p>
          <a:p>
            <a:pPr lvl="1" algn="just">
              <a:spcAft>
                <a:spcPts val="225"/>
              </a:spcAft>
            </a:pPr>
            <a:r>
              <a:rPr lang="en-US" sz="2400" i="1" dirty="0" err="1">
                <a:latin typeface="Arial" panose="020B0604020202020204" pitchFamily="34" charset="0"/>
                <a:cs typeface="Arial" panose="020B0604020202020204" pitchFamily="34" charset="0"/>
              </a:rPr>
              <a:t>Ví</a:t>
            </a:r>
            <a:r>
              <a:rPr lang="en-US" sz="2400" i="1"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dụ</a:t>
            </a:r>
            <a:r>
              <a:rPr lang="en-US" sz="2400" i="1" dirty="0">
                <a:latin typeface="Arial" panose="020B0604020202020204" pitchFamily="34" charset="0"/>
                <a:cs typeface="Arial" panose="020B0604020202020204" pitchFamily="34" charset="0"/>
              </a:rPr>
              <a:t>: </a:t>
            </a:r>
            <a:r>
              <a:rPr lang="vi-VN" sz="2400" dirty="0">
                <a:latin typeface="Arial" panose="020B0604020202020204" pitchFamily="34" charset="0"/>
                <a:cs typeface="Arial" panose="020B0604020202020204" pitchFamily="34" charset="0"/>
              </a:rPr>
              <a:t>Mua iPhone nhận cục gạch nhưng không cho kiểm hàng: Vậy hoài sao chịu nổi?</a:t>
            </a:r>
            <a:r>
              <a:rPr lang="en-US" sz="2400" dirty="0">
                <a:latin typeface="Arial" panose="020B0604020202020204" pitchFamily="34" charset="0"/>
                <a:cs typeface="Arial" panose="020B0604020202020204" pitchFamily="34" charset="0"/>
              </a:rPr>
              <a:t> (21/12/2020)</a:t>
            </a:r>
          </a:p>
          <a:p>
            <a:pPr lvl="1" algn="just">
              <a:spcAft>
                <a:spcPts val="225"/>
              </a:spcAft>
            </a:pPr>
            <a:r>
              <a:rPr lang="en-US" sz="2000" dirty="0">
                <a:latin typeface="Arial" panose="020B0604020202020204" pitchFamily="34" charset="0"/>
                <a:cs typeface="Arial" panose="020B0604020202020204" pitchFamily="34" charset="0"/>
                <a:hlinkClick r:id="rId21"/>
              </a:rPr>
              <a:t>https://tuoitre.vn/mua-iphone-nhan-cuc-gach-nhung-khong-cho-kiem-hang-vay-hoai-sao-chiu-noi-20201220204723082.htm</a:t>
            </a:r>
            <a:r>
              <a:rPr lang="en-US" sz="2000" dirty="0">
                <a:latin typeface="Arial" panose="020B0604020202020204" pitchFamily="34" charset="0"/>
                <a:cs typeface="Arial" panose="020B0604020202020204" pitchFamily="34" charset="0"/>
              </a:rPr>
              <a:t> </a:t>
            </a:r>
          </a:p>
          <a:p>
            <a:pPr marL="742950" lvl="1" indent="-285750" algn="just">
              <a:spcAft>
                <a:spcPts val="225"/>
              </a:spcAft>
              <a:buFont typeface="Arial" panose="020B0604020202020204" pitchFamily="34" charset="0"/>
              <a:buChar char="•"/>
            </a:pPr>
            <a:r>
              <a:rPr lang="vi-VN" sz="2100" b="1" i="0" dirty="0">
                <a:solidFill>
                  <a:schemeClr val="accent6">
                    <a:lumMod val="50000"/>
                  </a:schemeClr>
                </a:solidFill>
                <a:effectLst/>
                <a:latin typeface="Arial" panose="020B0604020202020204" pitchFamily="34" charset="0"/>
                <a:cs typeface="Arial" panose="020B0604020202020204" pitchFamily="34" charset="0"/>
              </a:rPr>
              <a:t>Vi phạm Khoản 2, Điểm a</a:t>
            </a:r>
            <a:r>
              <a:rPr lang="en-US" sz="2100" b="1" i="0" dirty="0">
                <a:solidFill>
                  <a:schemeClr val="accent6">
                    <a:lumMod val="50000"/>
                  </a:schemeClr>
                </a:solidFill>
                <a:effectLst/>
                <a:latin typeface="Arial" panose="020B0604020202020204" pitchFamily="34" charset="0"/>
                <a:cs typeface="Arial" panose="020B0604020202020204" pitchFamily="34" charset="0"/>
              </a:rPr>
              <a:t>: </a:t>
            </a:r>
            <a:r>
              <a:rPr lang="vi-VN" sz="2100" dirty="0">
                <a:latin typeface="Arial" panose="020B0604020202020204" pitchFamily="34" charset="0"/>
                <a:cs typeface="Arial" panose="020B0604020202020204" pitchFamily="34" charset="0"/>
              </a:rPr>
              <a:t>Cung cấp đầy đủ, chính xác thông tin về hàng hóa, dịch vụ, điều kiện giao dịch, thủ tục giải quyết tranh chấp và bồi thường thiệt hại;</a:t>
            </a:r>
            <a:endParaRPr lang="en-US" sz="2100" b="1" i="0" dirty="0">
              <a:solidFill>
                <a:schemeClr val="accent6">
                  <a:lumMod val="50000"/>
                </a:schemeClr>
              </a:solidFill>
              <a:effectLst/>
              <a:latin typeface="Arial" panose="020B0604020202020204" pitchFamily="34" charset="0"/>
              <a:cs typeface="Arial" panose="020B0604020202020204" pitchFamily="34" charset="0"/>
            </a:endParaRPr>
          </a:p>
          <a:p>
            <a:pPr marL="1200150" lvl="2" indent="-285750" algn="just">
              <a:spcAft>
                <a:spcPts val="225"/>
              </a:spcAft>
              <a:buFont typeface="Arial" panose="020B0604020202020204" pitchFamily="34" charset="0"/>
              <a:buChar char="•"/>
            </a:pPr>
            <a:r>
              <a:rPr lang="vi-VN" sz="2000" i="0" dirty="0">
                <a:solidFill>
                  <a:schemeClr val="accent6">
                    <a:lumMod val="50000"/>
                  </a:schemeClr>
                </a:solidFill>
                <a:effectLst/>
                <a:latin typeface="Arial" panose="020B0604020202020204" pitchFamily="34" charset="0"/>
                <a:cs typeface="Arial" panose="020B0604020202020204" pitchFamily="34" charset="0"/>
              </a:rPr>
              <a:t>Cung cấp thông tin sai lệch và lừa dối </a:t>
            </a:r>
            <a:r>
              <a:rPr lang="en-US" sz="2000" i="0" dirty="0">
                <a:solidFill>
                  <a:schemeClr val="accent6">
                    <a:lumMod val="50000"/>
                  </a:schemeClr>
                </a:solidFill>
                <a:effectLst/>
                <a:latin typeface="Arial" panose="020B0604020202020204" pitchFamily="34" charset="0"/>
                <a:cs typeface="Arial" panose="020B0604020202020204" pitchFamily="34" charset="0"/>
              </a:rPr>
              <a:t>NTD </a:t>
            </a:r>
            <a:r>
              <a:rPr lang="vi-VN" sz="2000" i="0" dirty="0">
                <a:solidFill>
                  <a:schemeClr val="accent6">
                    <a:lumMod val="50000"/>
                  </a:schemeClr>
                </a:solidFill>
                <a:effectLst/>
                <a:latin typeface="Arial" panose="020B0604020202020204" pitchFamily="34" charset="0"/>
                <a:cs typeface="Arial" panose="020B0604020202020204" pitchFamily="34" charset="0"/>
              </a:rPr>
              <a:t>khi mô tả trên web là </a:t>
            </a:r>
            <a:r>
              <a:rPr lang="en-US" sz="2000" dirty="0">
                <a:solidFill>
                  <a:schemeClr val="accent6">
                    <a:lumMod val="50000"/>
                  </a:schemeClr>
                </a:solidFill>
                <a:latin typeface="Arial" panose="020B0604020202020204" pitchFamily="34" charset="0"/>
                <a:cs typeface="Arial" panose="020B0604020202020204" pitchFamily="34" charset="0"/>
              </a:rPr>
              <a:t>ĐT </a:t>
            </a:r>
            <a:r>
              <a:rPr lang="vi-VN" sz="2000" i="0" dirty="0">
                <a:solidFill>
                  <a:schemeClr val="accent6">
                    <a:lumMod val="50000"/>
                  </a:schemeClr>
                </a:solidFill>
                <a:effectLst/>
                <a:latin typeface="Arial" panose="020B0604020202020204" pitchFamily="34" charset="0"/>
                <a:cs typeface="Arial" panose="020B0604020202020204" pitchFamily="34" charset="0"/>
              </a:rPr>
              <a:t>nhưng thực tế giao hàng là vật khác.</a:t>
            </a:r>
            <a:endParaRPr lang="en-US" sz="2000" i="0" dirty="0">
              <a:solidFill>
                <a:schemeClr val="accent6">
                  <a:lumMod val="50000"/>
                </a:schemeClr>
              </a:solidFill>
              <a:effectLst/>
              <a:latin typeface="Arial" panose="020B0604020202020204" pitchFamily="34" charset="0"/>
              <a:cs typeface="Arial" panose="020B0604020202020204" pitchFamily="34" charset="0"/>
            </a:endParaRPr>
          </a:p>
          <a:p>
            <a:pPr marL="1200150" lvl="2" indent="-285750" algn="just">
              <a:spcAft>
                <a:spcPts val="225"/>
              </a:spcAft>
              <a:buFont typeface="Arial" panose="020B0604020202020204" pitchFamily="34" charset="0"/>
              <a:buChar char="•"/>
            </a:pPr>
            <a:r>
              <a:rPr lang="en-US" sz="2000" i="0" dirty="0">
                <a:solidFill>
                  <a:schemeClr val="accent6">
                    <a:lumMod val="50000"/>
                  </a:schemeClr>
                </a:solidFill>
                <a:effectLst/>
                <a:latin typeface="Arial" panose="020B0604020202020204" pitchFamily="34" charset="0"/>
                <a:cs typeface="Arial" panose="020B0604020202020204" pitchFamily="34" charset="0"/>
              </a:rPr>
              <a:t>C</a:t>
            </a:r>
            <a:r>
              <a:rPr lang="vi-VN" sz="2000" i="0" dirty="0">
                <a:solidFill>
                  <a:schemeClr val="accent6">
                    <a:lumMod val="50000"/>
                  </a:schemeClr>
                </a:solidFill>
                <a:effectLst/>
                <a:latin typeface="Arial" panose="020B0604020202020204" pitchFamily="34" charset="0"/>
                <a:cs typeface="Arial" panose="020B0604020202020204" pitchFamily="34" charset="0"/>
              </a:rPr>
              <a:t>ố tình gây khó khăn trong thủ tục giải quyết tranh chấp và bồi thường thiệt hại cho người mua.</a:t>
            </a:r>
            <a:endParaRPr lang="en-US" sz="2000" i="0" dirty="0">
              <a:solidFill>
                <a:schemeClr val="accent6">
                  <a:lumMod val="50000"/>
                </a:schemeClr>
              </a:solidFill>
              <a:effectLst/>
              <a:latin typeface="Arial" panose="020B0604020202020204" pitchFamily="34" charset="0"/>
              <a:cs typeface="Arial" panose="020B0604020202020204" pitchFamily="34" charset="0"/>
            </a:endParaRPr>
          </a:p>
          <a:p>
            <a:pPr marL="1657350" lvl="3" indent="-285750" algn="just">
              <a:spcAft>
                <a:spcPts val="225"/>
              </a:spcAft>
              <a:buFont typeface="Arial" panose="020B0604020202020204" pitchFamily="34" charset="0"/>
              <a:buChar char="•"/>
            </a:pPr>
            <a:r>
              <a:rPr lang="en-US" sz="2000" i="1" dirty="0">
                <a:latin typeface="Arial" panose="020B0604020202020204" pitchFamily="34" charset="0"/>
                <a:cs typeface="Arial" panose="020B0604020202020204" pitchFamily="34" charset="0"/>
              </a:rPr>
              <a:t>“…</a:t>
            </a:r>
            <a:r>
              <a:rPr lang="vi-VN" sz="2000" i="1" dirty="0">
                <a:latin typeface="Arial" panose="020B0604020202020204" pitchFamily="34" charset="0"/>
                <a:cs typeface="Arial" panose="020B0604020202020204" pitchFamily="34" charset="0"/>
              </a:rPr>
              <a:t>Thế nhưng cái kết chị nhận được là email trả lời đầy thất vọng: “Rất tiếc, trường hợp này S. không thể hỗ trợ”…</a:t>
            </a:r>
            <a:endParaRPr lang="en-US" sz="2000" i="1" dirty="0">
              <a:solidFill>
                <a:schemeClr val="accent6">
                  <a:lumMod val="50000"/>
                </a:schemeClr>
              </a:solidFill>
              <a:effectLst/>
              <a:latin typeface="Arial" panose="020B0604020202020204" pitchFamily="34" charset="0"/>
              <a:cs typeface="Arial" panose="020B0604020202020204" pitchFamily="34" charset="0"/>
            </a:endParaRPr>
          </a:p>
          <a:p>
            <a:pPr marL="742950" lvl="1" indent="-285750" algn="just">
              <a:spcAft>
                <a:spcPts val="225"/>
              </a:spcAft>
              <a:buFont typeface="Arial" panose="020B0604020202020204" pitchFamily="34" charset="0"/>
              <a:buChar char="•"/>
            </a:pPr>
            <a:r>
              <a:rPr lang="vi-VN" sz="2100" b="1" i="0" dirty="0">
                <a:solidFill>
                  <a:schemeClr val="accent6">
                    <a:lumMod val="50000"/>
                  </a:schemeClr>
                </a:solidFill>
                <a:effectLst/>
                <a:latin typeface="Arial" panose="020B0604020202020204" pitchFamily="34" charset="0"/>
                <a:cs typeface="Arial" panose="020B0604020202020204" pitchFamily="34" charset="0"/>
              </a:rPr>
              <a:t>Vi phạm Khoản 3: </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Tổ</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chức</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cá</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nhân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sở</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hữu</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trang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thông</a:t>
            </a:r>
            <a:r>
              <a:rPr lang="en-US" sz="2100" dirty="0">
                <a:latin typeface="Arial" panose="020B0604020202020204" pitchFamily="34" charset="0"/>
                <a:cs typeface="Arial" panose="020B0604020202020204" pitchFamily="34" charset="0"/>
              </a:rPr>
              <a:t> tin </a:t>
            </a:r>
            <a:r>
              <a:rPr lang="en-US" sz="2100" dirty="0" err="1">
                <a:latin typeface="Arial" panose="020B0604020202020204" pitchFamily="34" charset="0"/>
                <a:cs typeface="Arial" panose="020B0604020202020204" pitchFamily="34" charset="0"/>
              </a:rPr>
              <a:t>điện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tử</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bán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hàng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chịu</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trách</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nhiệm</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về</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nội</a:t>
            </a:r>
            <a:r>
              <a:rPr lang="en-US" sz="2100" dirty="0">
                <a:latin typeface="Arial" panose="020B0604020202020204" pitchFamily="34" charset="0"/>
                <a:cs typeface="Arial" panose="020B0604020202020204" pitchFamily="34" charset="0"/>
              </a:rPr>
              <a:t> dung </a:t>
            </a:r>
            <a:r>
              <a:rPr lang="en-US" sz="2100" dirty="0" err="1">
                <a:latin typeface="Arial" panose="020B0604020202020204" pitchFamily="34" charset="0"/>
                <a:cs typeface="Arial" panose="020B0604020202020204" pitchFamily="34" charset="0"/>
              </a:rPr>
              <a:t>thông</a:t>
            </a:r>
            <a:r>
              <a:rPr lang="en-US" sz="2100" dirty="0">
                <a:latin typeface="Arial" panose="020B0604020202020204" pitchFamily="34" charset="0"/>
                <a:cs typeface="Arial" panose="020B0604020202020204" pitchFamily="34" charset="0"/>
              </a:rPr>
              <a:t> tin </a:t>
            </a:r>
            <a:r>
              <a:rPr lang="en-US" sz="2100" dirty="0" err="1">
                <a:latin typeface="Arial" panose="020B0604020202020204" pitchFamily="34" charset="0"/>
                <a:cs typeface="Arial" panose="020B0604020202020204" pitchFamily="34" charset="0"/>
              </a:rPr>
              <a:t>cung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cấp</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trên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trang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thông</a:t>
            </a:r>
            <a:r>
              <a:rPr lang="en-US" sz="2100" dirty="0">
                <a:latin typeface="Arial" panose="020B0604020202020204" pitchFamily="34" charset="0"/>
                <a:cs typeface="Arial" panose="020B0604020202020204" pitchFamily="34" charset="0"/>
              </a:rPr>
              <a:t> tin </a:t>
            </a:r>
            <a:r>
              <a:rPr lang="en-US" sz="2100" dirty="0" err="1">
                <a:latin typeface="Arial" panose="020B0604020202020204" pitchFamily="34" charset="0"/>
                <a:cs typeface="Arial" panose="020B0604020202020204" pitchFamily="34" charset="0"/>
              </a:rPr>
              <a:t>điện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tử</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thực</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hiện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quy</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định</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của</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Luật</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này</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và</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các</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quy</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định</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khác</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của</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pháp</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luật</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có</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liên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quan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về</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giao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kết</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hợp</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đồng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đặt</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hàng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thanh</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toán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quảng</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cáo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khuyến</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mại</a:t>
            </a:r>
            <a:r>
              <a:rPr lang="en-US" sz="2100" dirty="0">
                <a:latin typeface="Arial" panose="020B0604020202020204" pitchFamily="34" charset="0"/>
                <a:cs typeface="Arial" panose="020B0604020202020204" pitchFamily="34" charset="0"/>
              </a:rPr>
              <a:t>.</a:t>
            </a:r>
            <a:endParaRPr lang="en-US" sz="2100" b="1" i="0" dirty="0">
              <a:solidFill>
                <a:schemeClr val="accent6">
                  <a:lumMod val="50000"/>
                </a:schemeClr>
              </a:solidFill>
              <a:effectLst/>
              <a:latin typeface="Arial" panose="020B0604020202020204" pitchFamily="34" charset="0"/>
              <a:cs typeface="Arial" panose="020B0604020202020204" pitchFamily="34" charset="0"/>
            </a:endParaRPr>
          </a:p>
          <a:p>
            <a:pPr marL="1200150" lvl="2" indent="-285750" algn="just">
              <a:spcAft>
                <a:spcPts val="225"/>
              </a:spcAft>
              <a:buFont typeface="Arial" panose="020B0604020202020204" pitchFamily="34" charset="0"/>
              <a:buChar char="•"/>
            </a:pPr>
            <a:r>
              <a:rPr lang="vi-VN" sz="2000" i="0" dirty="0">
                <a:solidFill>
                  <a:schemeClr val="accent6">
                    <a:lumMod val="50000"/>
                  </a:schemeClr>
                </a:solidFill>
                <a:effectLst/>
                <a:latin typeface="Arial" panose="020B0604020202020204" pitchFamily="34" charset="0"/>
                <a:cs typeface="Arial" panose="020B0604020202020204" pitchFamily="34" charset="0"/>
              </a:rPr>
              <a:t>Chủ sở hữu website buông lỏng kiểm duyệt và chối bỏ trách nhiệm pháp lý đối với nội dung gian lận được đăng tải trên hệ thống của mình.</a:t>
            </a:r>
            <a:endParaRPr lang="en-US" sz="2000" dirty="0">
              <a:solidFill>
                <a:schemeClr val="accent6">
                  <a:lumMod val="50000"/>
                </a:schemeClr>
              </a:solidFill>
              <a:latin typeface="Arial" panose="020B0604020202020204" pitchFamily="34" charset="0"/>
              <a:cs typeface="Arial" panose="020B0604020202020204" pitchFamily="34" charset="0"/>
            </a:endParaRPr>
          </a:p>
        </p:txBody>
      </p:sp>
      <p:pic>
        <p:nvPicPr>
          <p:cNvPr id="5124" name="Picture 4" descr="Mua iPhone nhận cục gạch nhưng không cho kiểm hàng: Vậy hoài sao chịu nổi?  - Ảnh 1.">
            <a:hlinkClick r:id="rId22"/>
            <a:extLst>
              <a:ext uri="{FF2B5EF4-FFF2-40B4-BE49-F238E27FC236}">
                <a16:creationId xmlns:a16="http://schemas.microsoft.com/office/drawing/2014/main" id="{8A10AB11-5C6D-EE73-AA93-FB1FA696F04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233003" y="3660038"/>
            <a:ext cx="5832048" cy="3642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8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570F9AEC-7D9F-A57F-BB41-F27278F18F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C4CF21-9B5F-8224-FA7A-B071406F3367}"/>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AE95C58E-5DA0-F84A-4CCE-E5EBFA4A2D83}"/>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25DF1CDA-09BB-68C5-EB41-21B9A5306CAE}"/>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1FCF7283-18DD-D7F9-1B01-1A417DE65883}"/>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6BD3361C-7FC6-AB56-8F7F-D79DE0282244}"/>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4.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trong một số lĩnh vực</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3FA01E30-B7E8-254E-C2EE-BC3DD32BFDC9}"/>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2B030C2E-ED0D-DD56-083E-A3B83BA58C57}"/>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3" name="Freeform 23">
            <a:extLst>
              <a:ext uri="{FF2B5EF4-FFF2-40B4-BE49-F238E27FC236}">
                <a16:creationId xmlns:a16="http://schemas.microsoft.com/office/drawing/2014/main" id="{E0F026C5-935E-B37E-EFF7-CAA817CB7E80}"/>
              </a:ext>
            </a:extLst>
          </p:cNvPr>
          <p:cNvSpPr/>
          <p:nvPr/>
        </p:nvSpPr>
        <p:spPr>
          <a:xfrm>
            <a:off x="15616124" y="1097098"/>
            <a:ext cx="2638088" cy="2033726"/>
          </a:xfrm>
          <a:custGeom>
            <a:avLst/>
            <a:gdLst/>
            <a:ahLst/>
            <a:cxnLst/>
            <a:rect l="l" t="t" r="r" b="b"/>
            <a:pathLst>
              <a:path w="6291331" h="4850044">
                <a:moveTo>
                  <a:pt x="0" y="0"/>
                </a:moveTo>
                <a:lnTo>
                  <a:pt x="6291331" y="0"/>
                </a:lnTo>
                <a:lnTo>
                  <a:pt x="6291331" y="4850044"/>
                </a:lnTo>
                <a:lnTo>
                  <a:pt x="0" y="48500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4" name="Freeform 24">
            <a:extLst>
              <a:ext uri="{FF2B5EF4-FFF2-40B4-BE49-F238E27FC236}">
                <a16:creationId xmlns:a16="http://schemas.microsoft.com/office/drawing/2014/main" id="{947940BB-D50B-0E57-A3C0-5AE2C663470A}"/>
              </a:ext>
            </a:extLst>
          </p:cNvPr>
          <p:cNvSpPr/>
          <p:nvPr/>
        </p:nvSpPr>
        <p:spPr>
          <a:xfrm>
            <a:off x="16679367" y="1938277"/>
            <a:ext cx="1150458" cy="1301959"/>
          </a:xfrm>
          <a:custGeom>
            <a:avLst/>
            <a:gdLst/>
            <a:ahLst/>
            <a:cxnLst/>
            <a:rect l="l" t="t" r="r" b="b"/>
            <a:pathLst>
              <a:path w="2265556" h="2563901">
                <a:moveTo>
                  <a:pt x="0" y="0"/>
                </a:moveTo>
                <a:lnTo>
                  <a:pt x="2265556" y="0"/>
                </a:lnTo>
                <a:lnTo>
                  <a:pt x="2265556" y="2563901"/>
                </a:lnTo>
                <a:lnTo>
                  <a:pt x="0" y="256390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99EC0206-C06F-1CFC-7793-98BAF6B6ABAD}"/>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73A2997C-4AFB-1C97-1203-E591B77CC3BA}"/>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9117588A-88A9-4768-49CD-AE86C2784FBD}"/>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576FC95D-D8FF-C75E-7DC3-D52B7323F759}"/>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89D41AC3-0F75-9AA0-C9A4-43D56557B3D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graphicFrame>
        <p:nvGraphicFramePr>
          <p:cNvPr id="42" name="Table 41">
            <a:extLst>
              <a:ext uri="{FF2B5EF4-FFF2-40B4-BE49-F238E27FC236}">
                <a16:creationId xmlns:a16="http://schemas.microsoft.com/office/drawing/2014/main" id="{DD5CD735-1D55-54BF-5825-25BA5745869F}"/>
              </a:ext>
            </a:extLst>
          </p:cNvPr>
          <p:cNvGraphicFramePr>
            <a:graphicFrameLocks noGrp="1"/>
          </p:cNvGraphicFramePr>
          <p:nvPr>
            <p:extLst>
              <p:ext uri="{D42A27DB-BD31-4B8C-83A1-F6EECF244321}">
                <p14:modId xmlns:p14="http://schemas.microsoft.com/office/powerpoint/2010/main" val="3208447680"/>
              </p:ext>
            </p:extLst>
          </p:nvPr>
        </p:nvGraphicFramePr>
        <p:xfrm>
          <a:off x="1564299" y="2563096"/>
          <a:ext cx="13811857" cy="2804160"/>
        </p:xfrm>
        <a:graphic>
          <a:graphicData uri="http://schemas.openxmlformats.org/drawingml/2006/table">
            <a:tbl>
              <a:tblPr firstRow="1" bandRow="1">
                <a:tableStyleId>{5940675A-B579-460E-94D1-54222C63F5DA}</a:tableStyleId>
              </a:tblPr>
              <a:tblGrid>
                <a:gridCol w="1740149">
                  <a:extLst>
                    <a:ext uri="{9D8B030D-6E8A-4147-A177-3AD203B41FA5}">
                      <a16:colId xmlns:a16="http://schemas.microsoft.com/office/drawing/2014/main" val="254914123"/>
                    </a:ext>
                  </a:extLst>
                </a:gridCol>
                <a:gridCol w="12071708">
                  <a:extLst>
                    <a:ext uri="{9D8B030D-6E8A-4147-A177-3AD203B41FA5}">
                      <a16:colId xmlns:a16="http://schemas.microsoft.com/office/drawing/2014/main" val="1989779494"/>
                    </a:ext>
                  </a:extLst>
                </a:gridCol>
              </a:tblGrid>
              <a:tr h="370840">
                <a:tc>
                  <a:txBody>
                    <a:bodyPr/>
                    <a:lstStyle/>
                    <a:p>
                      <a:pPr algn="ctr"/>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34</a:t>
                      </a:r>
                    </a:p>
                  </a:txBody>
                  <a:tcPr anchor="ctr"/>
                </a:tc>
                <a:tc>
                  <a:txBody>
                    <a:bodyPr/>
                    <a:lstStyle/>
                    <a:p>
                      <a:pPr algn="just"/>
                      <a:r>
                        <a:rPr lang="vi-VN" sz="3200" dirty="0">
                          <a:latin typeface="+mn-lt"/>
                          <a:cs typeface="Arial" panose="020B0604020202020204" pitchFamily="34" charset="0"/>
                        </a:rPr>
                        <a:t>Ứng dụng công nghệ thông tin trong lĩnh vực </a:t>
                      </a:r>
                      <a:r>
                        <a:rPr lang="vi-VN" sz="3200" dirty="0">
                          <a:solidFill>
                            <a:srgbClr val="FF0000"/>
                          </a:solidFill>
                          <a:latin typeface="+mn-lt"/>
                          <a:cs typeface="Arial" panose="020B0604020202020204" pitchFamily="34" charset="0"/>
                        </a:rPr>
                        <a:t>giáo dục và đào tạo</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8180337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35</a:t>
                      </a:r>
                    </a:p>
                  </a:txBody>
                  <a:tcPr anchor="ctr"/>
                </a:tc>
                <a:tc>
                  <a:txBody>
                    <a:bodyPr/>
                    <a:lstStyle/>
                    <a:p>
                      <a:pPr algn="just"/>
                      <a:r>
                        <a:rPr lang="en-US" sz="3200" dirty="0" err="1">
                          <a:latin typeface="Arial" panose="020B0604020202020204" pitchFamily="34" charset="0"/>
                          <a:cs typeface="Arial" panose="020B0604020202020204" pitchFamily="34" charset="0"/>
                        </a:rPr>
                        <a:t>Ứng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dụng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công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nghệ</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thông</a:t>
                      </a:r>
                      <a:r>
                        <a:rPr lang="en-US" sz="3200" dirty="0">
                          <a:latin typeface="Arial" panose="020B0604020202020204" pitchFamily="34" charset="0"/>
                          <a:cs typeface="Arial" panose="020B0604020202020204" pitchFamily="34" charset="0"/>
                        </a:rPr>
                        <a:t> tin </a:t>
                      </a:r>
                      <a:r>
                        <a:rPr lang="en-US" sz="3200" dirty="0" err="1">
                          <a:latin typeface="Arial" panose="020B0604020202020204" pitchFamily="34" charset="0"/>
                          <a:cs typeface="Arial" panose="020B0604020202020204" pitchFamily="34" charset="0"/>
                        </a:rPr>
                        <a:t>trong</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lĩnh</a:t>
                      </a:r>
                      <a:r>
                        <a:rPr lang="en-US" sz="3200" dirty="0">
                          <a:latin typeface="Arial" panose="020B0604020202020204" pitchFamily="34" charset="0"/>
                          <a:cs typeface="Arial" panose="020B0604020202020204" pitchFamily="34" charset="0"/>
                        </a:rPr>
                        <a:t> </a:t>
                      </a:r>
                      <a:r>
                        <a:rPr lang="en-US" sz="3200" dirty="0" err="1">
                          <a:latin typeface="Arial" panose="020B0604020202020204" pitchFamily="34" charset="0"/>
                          <a:cs typeface="Arial" panose="020B0604020202020204" pitchFamily="34" charset="0"/>
                        </a:rPr>
                        <a:t>vực</a:t>
                      </a:r>
                      <a:r>
                        <a:rPr lang="en-US" sz="3200" dirty="0">
                          <a:latin typeface="Arial" panose="020B0604020202020204" pitchFamily="34" charset="0"/>
                          <a:cs typeface="Arial" panose="020B0604020202020204" pitchFamily="34" charset="0"/>
                        </a:rPr>
                        <a:t> </a:t>
                      </a:r>
                      <a:r>
                        <a:rPr lang="en-US" sz="3200" dirty="0">
                          <a:solidFill>
                            <a:srgbClr val="FF0000"/>
                          </a:solidFill>
                          <a:latin typeface="Arial" panose="020B0604020202020204" pitchFamily="34" charset="0"/>
                          <a:cs typeface="Arial" panose="020B0604020202020204" pitchFamily="34" charset="0"/>
                        </a:rPr>
                        <a:t>y </a:t>
                      </a:r>
                      <a:r>
                        <a:rPr lang="en-US" sz="3200" dirty="0" err="1">
                          <a:solidFill>
                            <a:srgbClr val="FF0000"/>
                          </a:solidFill>
                          <a:latin typeface="Arial" panose="020B0604020202020204" pitchFamily="34" charset="0"/>
                          <a:cs typeface="Arial" panose="020B0604020202020204" pitchFamily="34" charset="0"/>
                        </a:rPr>
                        <a:t>tế</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800981651"/>
                  </a:ext>
                </a:extLst>
              </a:tr>
              <a:tr h="370840">
                <a:tc>
                  <a:txBody>
                    <a:bodyPr/>
                    <a:lstStyle/>
                    <a:p>
                      <a:pPr algn="ctr"/>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36</a:t>
                      </a:r>
                    </a:p>
                  </a:txBody>
                  <a:tcPr anchor="ctr"/>
                </a:tc>
                <a:tc>
                  <a:txBody>
                    <a:bodyPr/>
                    <a:lstStyle/>
                    <a:p>
                      <a:pPr algn="just"/>
                      <a:r>
                        <a:rPr lang="vi-VN" sz="3200" dirty="0">
                          <a:latin typeface="+mn-lt"/>
                          <a:cs typeface="Arial" panose="020B0604020202020204" pitchFamily="34" charset="0"/>
                        </a:rPr>
                        <a:t>Ứng dụng công nghệ thông tin trong lĩnh vực </a:t>
                      </a:r>
                      <a:r>
                        <a:rPr lang="vi-VN" sz="3200" dirty="0">
                          <a:solidFill>
                            <a:srgbClr val="FF0000"/>
                          </a:solidFill>
                          <a:latin typeface="+mn-lt"/>
                          <a:cs typeface="Arial" panose="020B0604020202020204" pitchFamily="34" charset="0"/>
                        </a:rPr>
                        <a:t>văn hóa-thông tin</a:t>
                      </a:r>
                      <a:endParaRPr lang="en-US" sz="3200" dirty="0">
                        <a:solidFill>
                          <a:srgbClr val="FF0000"/>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541566677"/>
                  </a:ext>
                </a:extLst>
              </a:tr>
              <a:tr h="370840">
                <a:tc>
                  <a:txBody>
                    <a:bodyPr/>
                    <a:lstStyle/>
                    <a:p>
                      <a:pPr algn="ctr"/>
                      <a:r>
                        <a:rPr lang="en-US" sz="3200" b="1" i="1" dirty="0" err="1">
                          <a:latin typeface="Arial" panose="020B0604020202020204" pitchFamily="34" charset="0"/>
                          <a:cs typeface="Arial" panose="020B0604020202020204" pitchFamily="34" charset="0"/>
                        </a:rPr>
                        <a:t>Điều</a:t>
                      </a:r>
                      <a:r>
                        <a:rPr lang="en-US" sz="3200" b="1" i="1" dirty="0">
                          <a:latin typeface="Arial" panose="020B0604020202020204" pitchFamily="34" charset="0"/>
                          <a:cs typeface="Arial" panose="020B0604020202020204" pitchFamily="34" charset="0"/>
                        </a:rPr>
                        <a:t> 37</a:t>
                      </a:r>
                    </a:p>
                  </a:txBody>
                  <a:tcPr anchor="ctr"/>
                </a:tc>
                <a:tc>
                  <a:txBody>
                    <a:bodyPr/>
                    <a:lstStyle/>
                    <a:p>
                      <a:pPr algn="just"/>
                      <a:r>
                        <a:rPr lang="vi-VN" sz="3200" dirty="0">
                          <a:latin typeface="+mn-lt"/>
                          <a:cs typeface="Arial" panose="020B0604020202020204" pitchFamily="34" charset="0"/>
                        </a:rPr>
                        <a:t>Ứng dụng công nghệ thông tin trong quốc phòng, an ninh và </a:t>
                      </a:r>
                      <a:br>
                        <a:rPr lang="en-US" sz="3200" dirty="0">
                          <a:latin typeface="+mn-lt"/>
                          <a:cs typeface="Arial" panose="020B0604020202020204" pitchFamily="34" charset="0"/>
                        </a:rPr>
                      </a:br>
                      <a:r>
                        <a:rPr lang="vi-VN" sz="3200" dirty="0">
                          <a:latin typeface="+mn-lt"/>
                          <a:cs typeface="Arial" panose="020B0604020202020204" pitchFamily="34" charset="0"/>
                        </a:rPr>
                        <a:t>một số lĩnh vực khác</a:t>
                      </a:r>
                      <a:endParaRPr lang="en-US" sz="3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70450329"/>
                  </a:ext>
                </a:extLst>
              </a:tr>
            </a:tbl>
          </a:graphicData>
        </a:graphic>
      </p:graphicFrame>
      <p:sp>
        <p:nvSpPr>
          <p:cNvPr id="45" name="TextBox 17">
            <a:extLst>
              <a:ext uri="{FF2B5EF4-FFF2-40B4-BE49-F238E27FC236}">
                <a16:creationId xmlns:a16="http://schemas.microsoft.com/office/drawing/2014/main" id="{99C7E2F8-2299-D29F-CCE1-1238C4EA789F}"/>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sp>
        <p:nvSpPr>
          <p:cNvPr id="46" name="Freeform 10">
            <a:extLst>
              <a:ext uri="{FF2B5EF4-FFF2-40B4-BE49-F238E27FC236}">
                <a16:creationId xmlns:a16="http://schemas.microsoft.com/office/drawing/2014/main" id="{21BE6222-A9D5-416B-E7D6-26C21390E0B6}"/>
              </a:ext>
            </a:extLst>
          </p:cNvPr>
          <p:cNvSpPr/>
          <p:nvPr/>
        </p:nvSpPr>
        <p:spPr>
          <a:xfrm>
            <a:off x="0" y="8114898"/>
            <a:ext cx="2188015" cy="2172102"/>
          </a:xfrm>
          <a:custGeom>
            <a:avLst/>
            <a:gdLst/>
            <a:ahLst/>
            <a:cxnLst/>
            <a:rect l="l" t="t" r="r" b="b"/>
            <a:pathLst>
              <a:path w="3558347" h="3532468">
                <a:moveTo>
                  <a:pt x="0" y="0"/>
                </a:moveTo>
                <a:lnTo>
                  <a:pt x="3558346" y="0"/>
                </a:lnTo>
                <a:lnTo>
                  <a:pt x="3558346" y="3532468"/>
                </a:lnTo>
                <a:lnTo>
                  <a:pt x="0" y="3532468"/>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Tree>
    <p:extLst>
      <p:ext uri="{BB962C8B-B14F-4D97-AF65-F5344CB8AC3E}">
        <p14:creationId xmlns:p14="http://schemas.microsoft.com/office/powerpoint/2010/main" val="232524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E4CB"/>
        </a:solidFill>
        <a:effectLst/>
      </p:bgPr>
    </p:bg>
    <p:spTree>
      <p:nvGrpSpPr>
        <p:cNvPr id="1" name="">
          <a:extLst>
            <a:ext uri="{FF2B5EF4-FFF2-40B4-BE49-F238E27FC236}">
              <a16:creationId xmlns:a16="http://schemas.microsoft.com/office/drawing/2014/main" id="{90781654-6FB6-9BF1-3C09-76BD248AAD1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0C4E31-FC3E-0A9B-0F3A-F6957EED4AAA}"/>
              </a:ext>
            </a:extLst>
          </p:cNvPr>
          <p:cNvSpPr/>
          <p:nvPr/>
        </p:nvSpPr>
        <p:spPr>
          <a:xfrm rot="-10800000">
            <a:off x="7961148" y="66124"/>
            <a:ext cx="10533313" cy="7315864"/>
          </a:xfrm>
          <a:custGeom>
            <a:avLst/>
            <a:gdLst/>
            <a:ahLst/>
            <a:cxnLst/>
            <a:rect l="l" t="t" r="r" b="b"/>
            <a:pathLst>
              <a:path w="10533313" h="7315864">
                <a:moveTo>
                  <a:pt x="0" y="0"/>
                </a:moveTo>
                <a:lnTo>
                  <a:pt x="10533312" y="0"/>
                </a:lnTo>
                <a:lnTo>
                  <a:pt x="10533312" y="7315865"/>
                </a:lnTo>
                <a:lnTo>
                  <a:pt x="0" y="73158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7BD08A46-2A8E-7A82-5C5C-918B7147ADA3}"/>
              </a:ext>
            </a:extLst>
          </p:cNvPr>
          <p:cNvSpPr/>
          <p:nvPr/>
        </p:nvSpPr>
        <p:spPr>
          <a:xfrm rot="-10800000">
            <a:off x="9141826" y="66124"/>
            <a:ext cx="9352635" cy="6495830"/>
          </a:xfrm>
          <a:custGeom>
            <a:avLst/>
            <a:gdLst/>
            <a:ahLst/>
            <a:cxnLst/>
            <a:rect l="l" t="t" r="r" b="b"/>
            <a:pathLst>
              <a:path w="9352635" h="6495830">
                <a:moveTo>
                  <a:pt x="0" y="0"/>
                </a:moveTo>
                <a:lnTo>
                  <a:pt x="9352634" y="0"/>
                </a:lnTo>
                <a:lnTo>
                  <a:pt x="9352634" y="6495830"/>
                </a:lnTo>
                <a:lnTo>
                  <a:pt x="0" y="64958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E121EE26-B2E6-EDEC-F782-CA6C11AF1EFC}"/>
              </a:ext>
            </a:extLst>
          </p:cNvPr>
          <p:cNvSpPr/>
          <p:nvPr/>
        </p:nvSpPr>
        <p:spPr>
          <a:xfrm>
            <a:off x="-162923" y="3803331"/>
            <a:ext cx="9406427" cy="6533191"/>
          </a:xfrm>
          <a:custGeom>
            <a:avLst/>
            <a:gdLst/>
            <a:ahLst/>
            <a:cxnLst/>
            <a:rect l="l" t="t" r="r" b="b"/>
            <a:pathLst>
              <a:path w="9406427" h="6533191">
                <a:moveTo>
                  <a:pt x="0" y="0"/>
                </a:moveTo>
                <a:lnTo>
                  <a:pt x="9406427" y="0"/>
                </a:lnTo>
                <a:lnTo>
                  <a:pt x="9406427" y="6533191"/>
                </a:lnTo>
                <a:lnTo>
                  <a:pt x="0" y="65331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8C570B3C-3402-331F-EE9A-B09B216C4569}"/>
              </a:ext>
            </a:extLst>
          </p:cNvPr>
          <p:cNvSpPr/>
          <p:nvPr/>
        </p:nvSpPr>
        <p:spPr>
          <a:xfrm>
            <a:off x="-162923" y="4535635"/>
            <a:ext cx="8352062" cy="5800886"/>
          </a:xfrm>
          <a:custGeom>
            <a:avLst/>
            <a:gdLst/>
            <a:ahLst/>
            <a:cxnLst/>
            <a:rect l="l" t="t" r="r" b="b"/>
            <a:pathLst>
              <a:path w="8352062" h="5800886">
                <a:moveTo>
                  <a:pt x="0" y="0"/>
                </a:moveTo>
                <a:lnTo>
                  <a:pt x="8352061" y="0"/>
                </a:lnTo>
                <a:lnTo>
                  <a:pt x="8352061" y="5800887"/>
                </a:lnTo>
                <a:lnTo>
                  <a:pt x="0" y="580088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2210675C-CD5A-3361-F25E-EC91C11D8464}"/>
              </a:ext>
            </a:extLst>
          </p:cNvPr>
          <p:cNvSpPr txBox="1"/>
          <p:nvPr/>
        </p:nvSpPr>
        <p:spPr>
          <a:xfrm>
            <a:off x="1564299" y="1515711"/>
            <a:ext cx="14450432" cy="615553"/>
          </a:xfrm>
          <a:prstGeom prst="rect">
            <a:avLst/>
          </a:prstGeom>
        </p:spPr>
        <p:txBody>
          <a:bodyPr wrap="square" lIns="0" tIns="0" rIns="0" bIns="0" rtlCol="0" anchor="t">
            <a:spAutoFit/>
          </a:bodyPr>
          <a:lstStyle/>
          <a:p>
            <a:r>
              <a:rPr lang="en-US" sz="4000" b="1" dirty="0" err="1">
                <a:solidFill>
                  <a:schemeClr val="tx2"/>
                </a:solidFill>
                <a:latin typeface="Arial" panose="020B0604020202020204" pitchFamily="34" charset="0"/>
                <a:ea typeface="Agrandir Bold"/>
                <a:cs typeface="Arial" panose="020B0604020202020204" pitchFamily="34" charset="0"/>
                <a:sym typeface="Agrandir Bold"/>
              </a:rPr>
              <a:t>Mục</a:t>
            </a:r>
            <a:r>
              <a:rPr lang="en-US" sz="4000" b="1" dirty="0">
                <a:solidFill>
                  <a:schemeClr val="tx2"/>
                </a:solidFill>
                <a:latin typeface="Arial" panose="020B0604020202020204" pitchFamily="34" charset="0"/>
                <a:ea typeface="Agrandir Bold"/>
                <a:cs typeface="Arial" panose="020B0604020202020204" pitchFamily="34" charset="0"/>
                <a:sym typeface="Agrandir Bold"/>
              </a:rPr>
              <a:t> 4. </a:t>
            </a:r>
            <a:r>
              <a:rPr lang="vi-VN" sz="4000" b="1" dirty="0">
                <a:solidFill>
                  <a:schemeClr val="tx2"/>
                </a:solidFill>
                <a:latin typeface="Arial" panose="020B0604020202020204" pitchFamily="34" charset="0"/>
                <a:ea typeface="Poppins Bold"/>
                <a:cs typeface="Arial" panose="020B0604020202020204" pitchFamily="34" charset="0"/>
                <a:sym typeface="Poppins Bold"/>
              </a:rPr>
              <a:t>Ứng dụng </a:t>
            </a:r>
            <a:r>
              <a:rPr lang="en-US" sz="4000" b="1" dirty="0">
                <a:solidFill>
                  <a:schemeClr val="tx2"/>
                </a:solidFill>
                <a:latin typeface="Arial" panose="020B0604020202020204" pitchFamily="34" charset="0"/>
                <a:ea typeface="Poppins Bold"/>
                <a:cs typeface="Arial" panose="020B0604020202020204" pitchFamily="34" charset="0"/>
                <a:sym typeface="Poppins Bold"/>
              </a:rPr>
              <a:t>CNTT </a:t>
            </a:r>
            <a:r>
              <a:rPr lang="vi-VN" sz="4000" b="1" dirty="0">
                <a:solidFill>
                  <a:schemeClr val="tx2"/>
                </a:solidFill>
                <a:latin typeface="Arial" panose="020B0604020202020204" pitchFamily="34" charset="0"/>
                <a:ea typeface="Poppins Bold"/>
                <a:cs typeface="Arial" panose="020B0604020202020204" pitchFamily="34" charset="0"/>
                <a:sym typeface="Poppins Bold"/>
              </a:rPr>
              <a:t>trong một số lĩnh vực</a:t>
            </a:r>
            <a:endParaRPr lang="en-US" sz="4000" b="1" dirty="0">
              <a:solidFill>
                <a:schemeClr val="tx2"/>
              </a:solidFill>
              <a:latin typeface="Arial" panose="020B0604020202020204" pitchFamily="34" charset="0"/>
              <a:ea typeface="Agrandir Bold"/>
              <a:cs typeface="Arial" panose="020B0604020202020204" pitchFamily="34" charset="0"/>
              <a:sym typeface="Agrandir Bold"/>
            </a:endParaRPr>
          </a:p>
        </p:txBody>
      </p:sp>
      <p:sp>
        <p:nvSpPr>
          <p:cNvPr id="7" name="Freeform 7">
            <a:extLst>
              <a:ext uri="{FF2B5EF4-FFF2-40B4-BE49-F238E27FC236}">
                <a16:creationId xmlns:a16="http://schemas.microsoft.com/office/drawing/2014/main" id="{BFEDFD4A-B427-6815-610D-6CBC485DA0D2}"/>
              </a:ext>
            </a:extLst>
          </p:cNvPr>
          <p:cNvSpPr/>
          <p:nvPr/>
        </p:nvSpPr>
        <p:spPr>
          <a:xfrm rot="-3739781">
            <a:off x="12846015" y="-4459997"/>
            <a:ext cx="6111526" cy="10063890"/>
          </a:xfrm>
          <a:custGeom>
            <a:avLst/>
            <a:gdLst/>
            <a:ahLst/>
            <a:cxnLst/>
            <a:rect l="l" t="t" r="r" b="b"/>
            <a:pathLst>
              <a:path w="6111526" h="10063890">
                <a:moveTo>
                  <a:pt x="0" y="0"/>
                </a:moveTo>
                <a:lnTo>
                  <a:pt x="6111526" y="0"/>
                </a:lnTo>
                <a:lnTo>
                  <a:pt x="6111526" y="10063890"/>
                </a:lnTo>
                <a:lnTo>
                  <a:pt x="0" y="10063890"/>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Freeform 19">
            <a:extLst>
              <a:ext uri="{FF2B5EF4-FFF2-40B4-BE49-F238E27FC236}">
                <a16:creationId xmlns:a16="http://schemas.microsoft.com/office/drawing/2014/main" id="{93C02622-5A8A-DD25-A00E-B6DFCC053F38}"/>
              </a:ext>
            </a:extLst>
          </p:cNvPr>
          <p:cNvSpPr/>
          <p:nvPr/>
        </p:nvSpPr>
        <p:spPr>
          <a:xfrm rot="6524213">
            <a:off x="-1101333" y="5830902"/>
            <a:ext cx="6111526" cy="10063890"/>
          </a:xfrm>
          <a:custGeom>
            <a:avLst/>
            <a:gdLst/>
            <a:ahLst/>
            <a:cxnLst/>
            <a:rect l="l" t="t" r="r" b="b"/>
            <a:pathLst>
              <a:path w="6111526" h="10063890">
                <a:moveTo>
                  <a:pt x="0" y="0"/>
                </a:moveTo>
                <a:lnTo>
                  <a:pt x="6111526" y="0"/>
                </a:lnTo>
                <a:lnTo>
                  <a:pt x="6111526" y="10063891"/>
                </a:lnTo>
                <a:lnTo>
                  <a:pt x="0" y="10063891"/>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33" name="Freeform 33">
            <a:extLst>
              <a:ext uri="{FF2B5EF4-FFF2-40B4-BE49-F238E27FC236}">
                <a16:creationId xmlns:a16="http://schemas.microsoft.com/office/drawing/2014/main" id="{A119A8FE-ACAD-0A2B-66A8-29F75CE44783}"/>
              </a:ext>
            </a:extLst>
          </p:cNvPr>
          <p:cNvSpPr/>
          <p:nvPr/>
        </p:nvSpPr>
        <p:spPr>
          <a:xfrm>
            <a:off x="618354" y="2038495"/>
            <a:ext cx="820691" cy="769957"/>
          </a:xfrm>
          <a:custGeom>
            <a:avLst/>
            <a:gdLst/>
            <a:ahLst/>
            <a:cxnLst/>
            <a:rect l="l" t="t" r="r" b="b"/>
            <a:pathLst>
              <a:path w="820691" h="769957">
                <a:moveTo>
                  <a:pt x="0" y="0"/>
                </a:moveTo>
                <a:lnTo>
                  <a:pt x="820692" y="0"/>
                </a:lnTo>
                <a:lnTo>
                  <a:pt x="820692" y="769957"/>
                </a:lnTo>
                <a:lnTo>
                  <a:pt x="0" y="76995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34" name="Freeform 34">
            <a:extLst>
              <a:ext uri="{FF2B5EF4-FFF2-40B4-BE49-F238E27FC236}">
                <a16:creationId xmlns:a16="http://schemas.microsoft.com/office/drawing/2014/main" id="{867440DE-32D2-EBC4-14E5-E32D036F53D3}"/>
              </a:ext>
            </a:extLst>
          </p:cNvPr>
          <p:cNvSpPr/>
          <p:nvPr/>
        </p:nvSpPr>
        <p:spPr>
          <a:xfrm>
            <a:off x="10181665" y="7777529"/>
            <a:ext cx="876844" cy="876844"/>
          </a:xfrm>
          <a:custGeom>
            <a:avLst/>
            <a:gdLst/>
            <a:ahLst/>
            <a:cxnLst/>
            <a:rect l="l" t="t" r="r" b="b"/>
            <a:pathLst>
              <a:path w="876844" h="876844">
                <a:moveTo>
                  <a:pt x="0" y="0"/>
                </a:moveTo>
                <a:lnTo>
                  <a:pt x="876844" y="0"/>
                </a:lnTo>
                <a:lnTo>
                  <a:pt x="876844" y="876844"/>
                </a:lnTo>
                <a:lnTo>
                  <a:pt x="0" y="87684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5" name="Freeform 35">
            <a:extLst>
              <a:ext uri="{FF2B5EF4-FFF2-40B4-BE49-F238E27FC236}">
                <a16:creationId xmlns:a16="http://schemas.microsoft.com/office/drawing/2014/main" id="{7AB64E6E-5424-6C32-3CA8-0AEB7456B5FA}"/>
              </a:ext>
            </a:extLst>
          </p:cNvPr>
          <p:cNvSpPr/>
          <p:nvPr/>
        </p:nvSpPr>
        <p:spPr>
          <a:xfrm>
            <a:off x="17238652" y="436251"/>
            <a:ext cx="1049348" cy="803228"/>
          </a:xfrm>
          <a:custGeom>
            <a:avLst/>
            <a:gdLst/>
            <a:ahLst/>
            <a:cxnLst/>
            <a:rect l="l" t="t" r="r" b="b"/>
            <a:pathLst>
              <a:path w="1049348" h="803228">
                <a:moveTo>
                  <a:pt x="0" y="0"/>
                </a:moveTo>
                <a:lnTo>
                  <a:pt x="1049348" y="0"/>
                </a:lnTo>
                <a:lnTo>
                  <a:pt x="1049348" y="803228"/>
                </a:lnTo>
                <a:lnTo>
                  <a:pt x="0" y="80322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6" name="Footer Placeholder 42">
            <a:extLst>
              <a:ext uri="{FF2B5EF4-FFF2-40B4-BE49-F238E27FC236}">
                <a16:creationId xmlns:a16="http://schemas.microsoft.com/office/drawing/2014/main" id="{5F14F82F-26C1-9567-D31C-FDF4D69DE8EE}"/>
              </a:ext>
            </a:extLst>
          </p:cNvPr>
          <p:cNvSpPr>
            <a:spLocks noGrp="1"/>
          </p:cNvSpPr>
          <p:nvPr>
            <p:ph type="ftr" sz="quarter" idx="11"/>
          </p:nvPr>
        </p:nvSpPr>
        <p:spPr>
          <a:xfrm>
            <a:off x="12217763" y="9690685"/>
            <a:ext cx="6070237" cy="467134"/>
          </a:xfrm>
        </p:spPr>
        <p:txBody>
          <a:bodyPr/>
          <a:lstStyle/>
          <a:p>
            <a:r>
              <a:rPr lang="en-US" sz="2000" b="1">
                <a:solidFill>
                  <a:srgbClr val="002060"/>
                </a:solidFill>
                <a:latin typeface="Arial" panose="020B0604020202020204" pitchFamily="34" charset="0"/>
                <a:cs typeface="Arial" panose="020B0604020202020204" pitchFamily="34" charset="0"/>
              </a:rPr>
              <a:t>22H1120002 - Huỳnh Nguyễn Quốc Bảo</a:t>
            </a:r>
            <a:endParaRPr lang="en-US" sz="2000" b="1" dirty="0">
              <a:solidFill>
                <a:srgbClr val="002060"/>
              </a:solidFill>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61E54E84-9406-C908-7537-BA6CFAD6E92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81655" y="196091"/>
            <a:ext cx="4381247" cy="832437"/>
          </a:xfrm>
          <a:prstGeom prst="rect">
            <a:avLst/>
          </a:prstGeom>
        </p:spPr>
      </p:pic>
      <p:sp>
        <p:nvSpPr>
          <p:cNvPr id="45" name="TextBox 17">
            <a:extLst>
              <a:ext uri="{FF2B5EF4-FFF2-40B4-BE49-F238E27FC236}">
                <a16:creationId xmlns:a16="http://schemas.microsoft.com/office/drawing/2014/main" id="{D2B5758A-BDC9-E6A5-31C3-CA82BEF8835A}"/>
              </a:ext>
            </a:extLst>
          </p:cNvPr>
          <p:cNvSpPr txBox="1"/>
          <p:nvPr/>
        </p:nvSpPr>
        <p:spPr>
          <a:xfrm>
            <a:off x="1564299" y="525237"/>
            <a:ext cx="9352635" cy="811697"/>
          </a:xfrm>
          <a:prstGeom prst="rect">
            <a:avLst/>
          </a:prstGeom>
        </p:spPr>
        <p:txBody>
          <a:bodyPr wrap="square" lIns="0" tIns="0" rIns="0" bIns="0" rtlCol="0" anchor="t">
            <a:spAutoFit/>
          </a:bodyPr>
          <a:lstStyle/>
          <a:p>
            <a:pPr algn="l">
              <a:lnSpc>
                <a:spcPts val="6800"/>
              </a:lnSpc>
            </a:pPr>
            <a:r>
              <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Chương 2. ỨNG DỤNG </a:t>
            </a:r>
            <a:r>
              <a:rPr lang="en-US"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rPr>
              <a:t>CNTT</a:t>
            </a:r>
            <a:endParaRPr lang="vi-VN" sz="4800" b="1" dirty="0">
              <a:solidFill>
                <a:schemeClr val="accent6">
                  <a:lumMod val="50000"/>
                </a:schemeClr>
              </a:solidFill>
              <a:latin typeface="Arial" panose="020B0604020202020204" pitchFamily="34" charset="0"/>
              <a:ea typeface="Agrandir Bold"/>
              <a:cs typeface="Arial" panose="020B0604020202020204" pitchFamily="34" charset="0"/>
              <a:sym typeface="Agrandir Bold"/>
            </a:endParaRPr>
          </a:p>
        </p:txBody>
      </p:sp>
      <p:pic>
        <p:nvPicPr>
          <p:cNvPr id="10" name="Picture 9">
            <a:extLst>
              <a:ext uri="{FF2B5EF4-FFF2-40B4-BE49-F238E27FC236}">
                <a16:creationId xmlns:a16="http://schemas.microsoft.com/office/drawing/2014/main" id="{1098E086-7E7C-19A2-A13D-CB915F35CD15}"/>
              </a:ext>
            </a:extLst>
          </p:cNvPr>
          <p:cNvPicPr>
            <a:picLocks noChangeAspect="1"/>
          </p:cNvPicPr>
          <p:nvPr/>
        </p:nvPicPr>
        <p:blipFill>
          <a:blip r:embed="rId16"/>
          <a:stretch>
            <a:fillRect/>
          </a:stretch>
        </p:blipFill>
        <p:spPr>
          <a:xfrm>
            <a:off x="3149972" y="2226537"/>
            <a:ext cx="5337134" cy="2599564"/>
          </a:xfrm>
          <a:prstGeom prst="rect">
            <a:avLst/>
          </a:prstGeom>
        </p:spPr>
      </p:pic>
      <p:pic>
        <p:nvPicPr>
          <p:cNvPr id="6146" name="Picture 2" descr="Bệnh án điện tử là gì? Các loại hồ sơ bệnh án điện tử">
            <a:extLst>
              <a:ext uri="{FF2B5EF4-FFF2-40B4-BE49-F238E27FC236}">
                <a16:creationId xmlns:a16="http://schemas.microsoft.com/office/drawing/2014/main" id="{1FCD1DB5-A791-47F8-E245-EFD15C71B50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005025" y="2229072"/>
            <a:ext cx="3897979" cy="259702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0D313DF-BA2E-28CA-8109-491D241085B4}"/>
              </a:ext>
            </a:extLst>
          </p:cNvPr>
          <p:cNvSpPr txBox="1"/>
          <p:nvPr/>
        </p:nvSpPr>
        <p:spPr>
          <a:xfrm>
            <a:off x="407006" y="2961614"/>
            <a:ext cx="2173037" cy="1384995"/>
          </a:xfrm>
          <a:prstGeom prst="rect">
            <a:avLst/>
          </a:prstGeom>
          <a:noFill/>
        </p:spPr>
        <p:txBody>
          <a:bodyPr wrap="square" rtlCol="0">
            <a:spAutoFit/>
          </a:bodyPr>
          <a:lstStyle/>
          <a:p>
            <a:r>
              <a:rPr lang="en-US" sz="2800" b="1" dirty="0" err="1">
                <a:latin typeface="Arial" panose="020B0604020202020204" pitchFamily="34" charset="0"/>
                <a:cs typeface="Arial" panose="020B0604020202020204" pitchFamily="34" charset="0"/>
              </a:rPr>
              <a:t>Giáo</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dục</a:t>
            </a:r>
            <a:r>
              <a:rPr lang="en-US" sz="2800" b="1"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Trang </a:t>
            </a:r>
            <a:r>
              <a:rPr lang="en-US" sz="2800" dirty="0" err="1">
                <a:latin typeface="Arial" panose="020B0604020202020204" pitchFamily="34" charset="0"/>
                <a:cs typeface="Arial" panose="020B0604020202020204" pitchFamily="34" charset="0"/>
              </a:rPr>
              <a:t>học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trực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tuyến</a:t>
            </a:r>
            <a:endParaRPr lang="en-US" sz="28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BF352B2-B64E-D152-E58B-2D3AE3F60BCA}"/>
              </a:ext>
            </a:extLst>
          </p:cNvPr>
          <p:cNvSpPr txBox="1"/>
          <p:nvPr/>
        </p:nvSpPr>
        <p:spPr>
          <a:xfrm>
            <a:off x="16296867" y="2899305"/>
            <a:ext cx="1730815" cy="1384995"/>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Y </a:t>
            </a:r>
            <a:r>
              <a:rPr lang="en-US" sz="2800" b="1" dirty="0" err="1">
                <a:latin typeface="Arial" panose="020B0604020202020204" pitchFamily="34" charset="0"/>
                <a:cs typeface="Arial" panose="020B0604020202020204" pitchFamily="34" charset="0"/>
              </a:rPr>
              <a:t>tế</a:t>
            </a:r>
            <a:r>
              <a:rPr lang="en-US" sz="2800" b="1"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Bệnh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án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điện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tử</a:t>
            </a:r>
            <a:endParaRPr lang="en-US" sz="28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938E75A-C73E-3F8D-A0FB-B9FB3FADFE81}"/>
              </a:ext>
            </a:extLst>
          </p:cNvPr>
          <p:cNvSpPr txBox="1"/>
          <p:nvPr/>
        </p:nvSpPr>
        <p:spPr>
          <a:xfrm>
            <a:off x="10764352" y="4843310"/>
            <a:ext cx="5608892" cy="646331"/>
          </a:xfrm>
          <a:prstGeom prst="rect">
            <a:avLst/>
          </a:prstGeom>
          <a:noFill/>
        </p:spPr>
        <p:txBody>
          <a:bodyPr wrap="square">
            <a:spAutoFit/>
          </a:bodyPr>
          <a:lstStyle/>
          <a:p>
            <a:pPr>
              <a:spcAft>
                <a:spcPts val="225"/>
              </a:spcAft>
            </a:pPr>
            <a:r>
              <a:rPr lang="vi-VN" sz="1800" dirty="0">
                <a:solidFill>
                  <a:srgbClr val="1A1C1E"/>
                </a:solidFill>
                <a:latin typeface="Inter"/>
                <a:hlinkClick r:id="rId18"/>
              </a:rPr>
              <a:t>https://tuoitre.vn/benh-vien-tai-tp-hcm-chay-dua-nuoc-rut-xoa-so-benh-an-giay-20250917104711256.htm</a:t>
            </a:r>
            <a:r>
              <a:rPr lang="en-US" sz="1800" dirty="0">
                <a:solidFill>
                  <a:srgbClr val="1A1C1E"/>
                </a:solidFill>
                <a:latin typeface="Inter"/>
              </a:rPr>
              <a:t> </a:t>
            </a:r>
            <a:endParaRPr lang="vi-VN" sz="1800" b="0" i="0" dirty="0">
              <a:solidFill>
                <a:srgbClr val="1A1C1E"/>
              </a:solidFill>
              <a:effectLst/>
              <a:latin typeface="Inter"/>
            </a:endParaRPr>
          </a:p>
        </p:txBody>
      </p:sp>
      <p:sp>
        <p:nvSpPr>
          <p:cNvPr id="15" name="TextBox 14">
            <a:extLst>
              <a:ext uri="{FF2B5EF4-FFF2-40B4-BE49-F238E27FC236}">
                <a16:creationId xmlns:a16="http://schemas.microsoft.com/office/drawing/2014/main" id="{2473EF9C-6543-1D16-6506-3361200C5472}"/>
              </a:ext>
            </a:extLst>
          </p:cNvPr>
          <p:cNvSpPr txBox="1"/>
          <p:nvPr/>
        </p:nvSpPr>
        <p:spPr>
          <a:xfrm>
            <a:off x="4442448" y="4915602"/>
            <a:ext cx="2735936" cy="380298"/>
          </a:xfrm>
          <a:prstGeom prst="rect">
            <a:avLst/>
          </a:prstGeom>
          <a:noFill/>
        </p:spPr>
        <p:txBody>
          <a:bodyPr wrap="square">
            <a:spAutoFit/>
          </a:bodyPr>
          <a:lstStyle/>
          <a:p>
            <a:r>
              <a:rPr lang="en-US" dirty="0">
                <a:hlinkClick r:id="rId19"/>
              </a:rPr>
              <a:t>https://courses.ut.edu.vn/</a:t>
            </a:r>
            <a:r>
              <a:rPr lang="en-US" dirty="0"/>
              <a:t> </a:t>
            </a:r>
          </a:p>
        </p:txBody>
      </p:sp>
      <p:pic>
        <p:nvPicPr>
          <p:cNvPr id="16" name="Picture 15">
            <a:extLst>
              <a:ext uri="{FF2B5EF4-FFF2-40B4-BE49-F238E27FC236}">
                <a16:creationId xmlns:a16="http://schemas.microsoft.com/office/drawing/2014/main" id="{194E83D5-AF20-526C-A61A-5F0921DC7866}"/>
              </a:ext>
            </a:extLst>
          </p:cNvPr>
          <p:cNvPicPr>
            <a:picLocks noChangeAspect="1"/>
          </p:cNvPicPr>
          <p:nvPr/>
        </p:nvPicPr>
        <p:blipFill>
          <a:blip r:embed="rId20"/>
          <a:stretch>
            <a:fillRect/>
          </a:stretch>
        </p:blipFill>
        <p:spPr>
          <a:xfrm>
            <a:off x="3099515" y="5493283"/>
            <a:ext cx="5833947" cy="3097859"/>
          </a:xfrm>
          <a:prstGeom prst="rect">
            <a:avLst/>
          </a:prstGeom>
        </p:spPr>
      </p:pic>
      <p:sp>
        <p:nvSpPr>
          <p:cNvPr id="17" name="TextBox 16">
            <a:extLst>
              <a:ext uri="{FF2B5EF4-FFF2-40B4-BE49-F238E27FC236}">
                <a16:creationId xmlns:a16="http://schemas.microsoft.com/office/drawing/2014/main" id="{1FFF6C18-DBF7-246A-0D33-0BDE8110908F}"/>
              </a:ext>
            </a:extLst>
          </p:cNvPr>
          <p:cNvSpPr txBox="1"/>
          <p:nvPr/>
        </p:nvSpPr>
        <p:spPr>
          <a:xfrm>
            <a:off x="436412" y="5731098"/>
            <a:ext cx="2078188" cy="2677656"/>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Văn </a:t>
            </a:r>
            <a:r>
              <a:rPr lang="en-US" sz="2800" b="1" dirty="0" err="1">
                <a:latin typeface="Arial" panose="020B0604020202020204" pitchFamily="34" charset="0"/>
                <a:cs typeface="Arial" panose="020B0604020202020204" pitchFamily="34" charset="0"/>
              </a:rPr>
              <a:t>hóa</a:t>
            </a:r>
            <a:r>
              <a:rPr lang="en-US" sz="2800" b="1" dirty="0">
                <a:latin typeface="Arial" panose="020B0604020202020204" pitchFamily="34" charset="0"/>
                <a:cs typeface="Arial" panose="020B0604020202020204" pitchFamily="34" charset="0"/>
              </a:rPr>
              <a:t>: </a:t>
            </a:r>
          </a:p>
          <a:p>
            <a:r>
              <a:rPr lang="vi-VN" sz="2800" dirty="0">
                <a:solidFill>
                  <a:srgbClr val="1A1C1E"/>
                </a:solidFill>
                <a:latin typeface="Arial" panose="020B0604020202020204" pitchFamily="34" charset="0"/>
                <a:cs typeface="Arial" panose="020B0604020202020204" pitchFamily="34" charset="0"/>
              </a:rPr>
              <a:t>Bảo tàng Mỹ thuật Việt Nam</a:t>
            </a:r>
            <a:r>
              <a:rPr lang="en-US" sz="2800" dirty="0">
                <a:solidFill>
                  <a:srgbClr val="1A1C1E"/>
                </a:solidFill>
                <a:latin typeface="Arial" panose="020B0604020202020204" pitchFamily="34" charset="0"/>
                <a:cs typeface="Arial" panose="020B0604020202020204" pitchFamily="34" charset="0"/>
              </a:rPr>
              <a:t>,</a:t>
            </a:r>
            <a:r>
              <a:rPr lang="vi-VN" sz="2800" dirty="0">
                <a:solidFill>
                  <a:srgbClr val="1A1C1E"/>
                </a:solidFill>
                <a:latin typeface="Arial" panose="020B0604020202020204" pitchFamily="34" charset="0"/>
                <a:cs typeface="Arial" panose="020B0604020202020204" pitchFamily="34" charset="0"/>
              </a:rPr>
              <a:t> tour thực tế ảo 3D</a:t>
            </a:r>
            <a:endParaRPr lang="en-US" sz="28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B0D3E575-03EC-FC3A-5B6E-2A2CC0429E1B}"/>
              </a:ext>
            </a:extLst>
          </p:cNvPr>
          <p:cNvSpPr txBox="1"/>
          <p:nvPr/>
        </p:nvSpPr>
        <p:spPr>
          <a:xfrm>
            <a:off x="3940528" y="8935901"/>
            <a:ext cx="3849227" cy="369332"/>
          </a:xfrm>
          <a:prstGeom prst="rect">
            <a:avLst/>
          </a:prstGeom>
          <a:noFill/>
        </p:spPr>
        <p:txBody>
          <a:bodyPr wrap="square">
            <a:spAutoFit/>
          </a:bodyPr>
          <a:lstStyle/>
          <a:p>
            <a:r>
              <a:rPr lang="en-US" dirty="0">
                <a:hlinkClick r:id="rId21"/>
              </a:rPr>
              <a:t>https://tranhsonmai.baotangso.com/</a:t>
            </a:r>
            <a:r>
              <a:rPr lang="en-US" dirty="0"/>
              <a:t> </a:t>
            </a:r>
          </a:p>
        </p:txBody>
      </p:sp>
      <p:sp>
        <p:nvSpPr>
          <p:cNvPr id="22" name="TextBox 21">
            <a:extLst>
              <a:ext uri="{FF2B5EF4-FFF2-40B4-BE49-F238E27FC236}">
                <a16:creationId xmlns:a16="http://schemas.microsoft.com/office/drawing/2014/main" id="{B545663C-0CD0-C154-375D-E744D637F256}"/>
              </a:ext>
            </a:extLst>
          </p:cNvPr>
          <p:cNvSpPr txBox="1"/>
          <p:nvPr/>
        </p:nvSpPr>
        <p:spPr>
          <a:xfrm>
            <a:off x="10702902" y="8790937"/>
            <a:ext cx="6535749" cy="923330"/>
          </a:xfrm>
          <a:prstGeom prst="rect">
            <a:avLst/>
          </a:prstGeom>
          <a:noFill/>
        </p:spPr>
        <p:txBody>
          <a:bodyPr wrap="square">
            <a:spAutoFit/>
          </a:bodyPr>
          <a:lstStyle/>
          <a:p>
            <a:r>
              <a:rPr lang="en-US" dirty="0">
                <a:hlinkClick r:id="rId22"/>
              </a:rPr>
              <a:t>https://www.qdnd.vn/quoc-phong-an-ninh/tin-tuc/bo-tu-lenh-86-thuc-hien-tot-nhiem-vu-quan-ly-bao-ve-vung-chac-chu-quyen-quoc-gia-tren-khong-gian-mang-1019139</a:t>
            </a:r>
            <a:r>
              <a:rPr lang="en-US" dirty="0"/>
              <a:t> </a:t>
            </a:r>
          </a:p>
        </p:txBody>
      </p:sp>
      <p:pic>
        <p:nvPicPr>
          <p:cNvPr id="1026" name="Picture 2" descr="Bộ tư lệnh 86: Thực hiện tốt nhiệm vụ quản lý, bảo vệ vững chắc chủ quyền quốc gia trên không gian mạng">
            <a:extLst>
              <a:ext uri="{FF2B5EF4-FFF2-40B4-BE49-F238E27FC236}">
                <a16:creationId xmlns:a16="http://schemas.microsoft.com/office/drawing/2014/main" id="{20D060F5-8528-0B8D-A449-5726FC3C0DAB}"/>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023389" y="5527503"/>
            <a:ext cx="4896753" cy="3287015"/>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EB0DBCD-76BB-1F1F-B2BE-9B739BC37C81}"/>
              </a:ext>
            </a:extLst>
          </p:cNvPr>
          <p:cNvSpPr txBox="1"/>
          <p:nvPr/>
        </p:nvSpPr>
        <p:spPr>
          <a:xfrm>
            <a:off x="16296867" y="6107802"/>
            <a:ext cx="1991133" cy="1815882"/>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QP-AN:</a:t>
            </a:r>
            <a:r>
              <a:rPr lang="en-US" sz="2800" dirty="0">
                <a:latin typeface="Arial" panose="020B0604020202020204" pitchFamily="34" charset="0"/>
                <a:cs typeface="Arial" panose="020B0604020202020204" pitchFamily="34" charset="0"/>
              </a:rPr>
              <a:t> </a:t>
            </a:r>
          </a:p>
          <a:p>
            <a:r>
              <a:rPr lang="en-US" sz="2800" dirty="0" err="1">
                <a:latin typeface="Arial" panose="020B0604020202020204" pitchFamily="34" charset="0"/>
                <a:cs typeface="Arial" panose="020B0604020202020204" pitchFamily="34" charset="0"/>
              </a:rPr>
              <a:t>tác</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chiến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không</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gian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mạng</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672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845</TotalTime>
  <Words>1552</Words>
  <Application>Microsoft Office PowerPoint</Application>
  <PresentationFormat>Custom</PresentationFormat>
  <Paragraphs>133</Paragraphs>
  <Slides>11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Arial</vt:lpstr>
      <vt:lpstr>Aptos</vt:lpstr>
      <vt:lpstr>Agrandir 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Blue Modern Law Pitch Deck Presentation</dc:title>
  <cp:lastModifiedBy>Bảo Trần</cp:lastModifiedBy>
  <cp:revision>20</cp:revision>
  <dcterms:created xsi:type="dcterms:W3CDTF">2006-08-16T00:00:00Z</dcterms:created>
  <dcterms:modified xsi:type="dcterms:W3CDTF">2026-01-21T00:46:42Z</dcterms:modified>
  <dc:identifier>DAG-q_SMD4Y</dc:identifier>
</cp:coreProperties>
</file>