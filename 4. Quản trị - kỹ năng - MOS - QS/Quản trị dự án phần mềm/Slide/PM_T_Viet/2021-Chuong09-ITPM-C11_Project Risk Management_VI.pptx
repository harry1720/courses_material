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895" r:id="rId2"/>
  </p:sldMasterIdLst>
  <p:notesMasterIdLst>
    <p:notesMasterId r:id="rId76"/>
  </p:notesMasterIdLst>
  <p:handoutMasterIdLst>
    <p:handoutMasterId r:id="rId77"/>
  </p:handoutMasterIdLst>
  <p:sldIdLst>
    <p:sldId id="257" r:id="rId3"/>
    <p:sldId id="401" r:id="rId4"/>
    <p:sldId id="397" r:id="rId5"/>
    <p:sldId id="398" r:id="rId6"/>
    <p:sldId id="399" r:id="rId7"/>
    <p:sldId id="402" r:id="rId8"/>
    <p:sldId id="338" r:id="rId9"/>
    <p:sldId id="339" r:id="rId10"/>
    <p:sldId id="340" r:id="rId11"/>
    <p:sldId id="341" r:id="rId12"/>
    <p:sldId id="395" r:id="rId13"/>
    <p:sldId id="342" r:id="rId14"/>
    <p:sldId id="343" r:id="rId15"/>
    <p:sldId id="344" r:id="rId16"/>
    <p:sldId id="345" r:id="rId17"/>
    <p:sldId id="403" r:id="rId18"/>
    <p:sldId id="404" r:id="rId19"/>
    <p:sldId id="346" r:id="rId20"/>
    <p:sldId id="347" r:id="rId21"/>
    <p:sldId id="393" r:id="rId22"/>
    <p:sldId id="405" r:id="rId23"/>
    <p:sldId id="348" r:id="rId24"/>
    <p:sldId id="350" r:id="rId25"/>
    <p:sldId id="351" r:id="rId26"/>
    <p:sldId id="352" r:id="rId27"/>
    <p:sldId id="353" r:id="rId28"/>
    <p:sldId id="418" r:id="rId29"/>
    <p:sldId id="354" r:id="rId30"/>
    <p:sldId id="355" r:id="rId31"/>
    <p:sldId id="356" r:id="rId32"/>
    <p:sldId id="406" r:id="rId33"/>
    <p:sldId id="357" r:id="rId34"/>
    <p:sldId id="358" r:id="rId35"/>
    <p:sldId id="360" r:id="rId36"/>
    <p:sldId id="359" r:id="rId37"/>
    <p:sldId id="361" r:id="rId38"/>
    <p:sldId id="362" r:id="rId39"/>
    <p:sldId id="363" r:id="rId40"/>
    <p:sldId id="419" r:id="rId41"/>
    <p:sldId id="413" r:id="rId42"/>
    <p:sldId id="366" r:id="rId43"/>
    <p:sldId id="367" r:id="rId44"/>
    <p:sldId id="368" r:id="rId45"/>
    <p:sldId id="370" r:id="rId46"/>
    <p:sldId id="371" r:id="rId47"/>
    <p:sldId id="372" r:id="rId48"/>
    <p:sldId id="396" r:id="rId49"/>
    <p:sldId id="414" r:id="rId50"/>
    <p:sldId id="420" r:id="rId51"/>
    <p:sldId id="374" r:id="rId52"/>
    <p:sldId id="375" r:id="rId53"/>
    <p:sldId id="376" r:id="rId54"/>
    <p:sldId id="377" r:id="rId55"/>
    <p:sldId id="379" r:id="rId56"/>
    <p:sldId id="380" r:id="rId57"/>
    <p:sldId id="381" r:id="rId58"/>
    <p:sldId id="382" r:id="rId59"/>
    <p:sldId id="415" r:id="rId60"/>
    <p:sldId id="383" r:id="rId61"/>
    <p:sldId id="384" r:id="rId62"/>
    <p:sldId id="385" r:id="rId63"/>
    <p:sldId id="386" r:id="rId64"/>
    <p:sldId id="416" r:id="rId65"/>
    <p:sldId id="388" r:id="rId66"/>
    <p:sldId id="417" r:id="rId67"/>
    <p:sldId id="390" r:id="rId68"/>
    <p:sldId id="389" r:id="rId69"/>
    <p:sldId id="407" r:id="rId70"/>
    <p:sldId id="408" r:id="rId71"/>
    <p:sldId id="409" r:id="rId72"/>
    <p:sldId id="410" r:id="rId73"/>
    <p:sldId id="411" r:id="rId74"/>
    <p:sldId id="412" r:id="rId75"/>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s" lastIdx="1" clrIdx="0"/>
  <p:cmAuthor id="1" name="schwalbe" initials="k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11" autoAdjust="0"/>
    <p:restoredTop sz="84105" autoAdjust="0"/>
  </p:normalViewPr>
  <p:slideViewPr>
    <p:cSldViewPr>
      <p:cViewPr varScale="1">
        <p:scale>
          <a:sx n="82" d="100"/>
          <a:sy n="82" d="100"/>
        </p:scale>
        <p:origin x="108" y="11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74B09B4B-2CA1-476B-AD00-5AEEE8EEA368}" type="slidenum">
              <a:rPr lang="en-US"/>
              <a:pPr>
                <a:defRPr/>
              </a:pPr>
              <a:t>‹#›</a:t>
            </a:fld>
            <a:endParaRPr lang="en-US" dirty="0"/>
          </a:p>
        </p:txBody>
      </p:sp>
    </p:spTree>
    <p:extLst>
      <p:ext uri="{BB962C8B-B14F-4D97-AF65-F5344CB8AC3E}">
        <p14:creationId xmlns:p14="http://schemas.microsoft.com/office/powerpoint/2010/main" val="9077009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716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75643CF3-3CBA-4666-8D1B-A3F17C5F892C}" type="slidenum">
              <a:rPr lang="en-US"/>
              <a:pPr>
                <a:defRPr/>
              </a:pPr>
              <a:t>‹#›</a:t>
            </a:fld>
            <a:endParaRPr lang="en-US" dirty="0"/>
          </a:p>
        </p:txBody>
      </p:sp>
    </p:spTree>
    <p:extLst>
      <p:ext uri="{BB962C8B-B14F-4D97-AF65-F5344CB8AC3E}">
        <p14:creationId xmlns:p14="http://schemas.microsoft.com/office/powerpoint/2010/main" val="9841344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p:spPr>
        <p:txBody>
          <a:bodyPr/>
          <a:lstStyle/>
          <a:p>
            <a:pPr eaLnBrk="1" hangingPunct="1"/>
            <a:endParaRPr lang="en-US" dirty="0"/>
          </a:p>
        </p:txBody>
      </p:sp>
      <p:sp>
        <p:nvSpPr>
          <p:cNvPr id="72708" name="Slide Number Placeholder 3"/>
          <p:cNvSpPr>
            <a:spLocks noGrp="1"/>
          </p:cNvSpPr>
          <p:nvPr>
            <p:ph type="sldNum" sz="quarter" idx="5"/>
          </p:nvPr>
        </p:nvSpPr>
        <p:spPr>
          <a:noFill/>
        </p:spPr>
        <p:txBody>
          <a:bodyPr/>
          <a:lstStyle/>
          <a:p>
            <a:fld id="{6C7781DC-CA90-4928-8051-8CF0D059367C}" type="slidenum">
              <a:rPr lang="en-US" smtClean="0"/>
              <a:pPr/>
              <a:t>1</a:t>
            </a:fld>
            <a:endParaRPr lang="en-US" dirty="0"/>
          </a:p>
        </p:txBody>
      </p:sp>
    </p:spTree>
    <p:extLst>
      <p:ext uri="{BB962C8B-B14F-4D97-AF65-F5344CB8AC3E}">
        <p14:creationId xmlns:p14="http://schemas.microsoft.com/office/powerpoint/2010/main" val="541453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FB628D5B-A7C7-42E0-BFEE-8A6E6DE4D620}" type="slidenum">
              <a:rPr lang="en-US" smtClean="0"/>
              <a:pPr>
                <a:defRPr/>
              </a:pPr>
              <a:t>2</a:t>
            </a:fld>
            <a:endParaRPr lang="en-US" dirty="0"/>
          </a:p>
        </p:txBody>
      </p:sp>
    </p:spTree>
    <p:extLst>
      <p:ext uri="{BB962C8B-B14F-4D97-AF65-F5344CB8AC3E}">
        <p14:creationId xmlns:p14="http://schemas.microsoft.com/office/powerpoint/2010/main" val="27499840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4</a:t>
            </a:fld>
            <a:endParaRPr lang="en-US" dirty="0"/>
          </a:p>
        </p:txBody>
      </p:sp>
    </p:spTree>
    <p:extLst>
      <p:ext uri="{BB962C8B-B14F-4D97-AF65-F5344CB8AC3E}">
        <p14:creationId xmlns:p14="http://schemas.microsoft.com/office/powerpoint/2010/main" val="26370614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12</a:t>
            </a:fld>
            <a:endParaRPr lang="en-US" dirty="0"/>
          </a:p>
        </p:txBody>
      </p:sp>
    </p:spTree>
    <p:extLst>
      <p:ext uri="{BB962C8B-B14F-4D97-AF65-F5344CB8AC3E}">
        <p14:creationId xmlns:p14="http://schemas.microsoft.com/office/powerpoint/2010/main" val="1615103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vi-VN" sz="1200" i="0" kern="1200" dirty="0">
                <a:solidFill>
                  <a:schemeClr val="tx1"/>
                </a:solidFill>
                <a:effectLst/>
                <a:latin typeface="Times New Roman" pitchFamily="18" charset="0"/>
                <a:ea typeface="+mn-ea"/>
                <a:cs typeface="+mn-cs"/>
              </a:rPr>
            </a:br>
            <a:br>
              <a:rPr lang="vi-VN" sz="1200" i="0" kern="1200" dirty="0">
                <a:solidFill>
                  <a:schemeClr val="tx1"/>
                </a:solidFill>
                <a:effectLst/>
                <a:latin typeface="Times New Roman" pitchFamily="18" charset="0"/>
                <a:ea typeface="+mn-ea"/>
                <a:cs typeface="+mn-cs"/>
              </a:rPr>
            </a:br>
            <a:endParaRPr lang="vi-VN"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13</a:t>
            </a:fld>
            <a:endParaRPr lang="en-US" dirty="0"/>
          </a:p>
        </p:txBody>
      </p:sp>
    </p:spTree>
    <p:extLst>
      <p:ext uri="{BB962C8B-B14F-4D97-AF65-F5344CB8AC3E}">
        <p14:creationId xmlns:p14="http://schemas.microsoft.com/office/powerpoint/2010/main" val="35471810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14</a:t>
            </a:fld>
            <a:endParaRPr lang="en-US" dirty="0"/>
          </a:p>
        </p:txBody>
      </p:sp>
    </p:spTree>
    <p:extLst>
      <p:ext uri="{BB962C8B-B14F-4D97-AF65-F5344CB8AC3E}">
        <p14:creationId xmlns:p14="http://schemas.microsoft.com/office/powerpoint/2010/main" val="4165181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16</a:t>
            </a:fld>
            <a:endParaRPr lang="en-US" dirty="0"/>
          </a:p>
        </p:txBody>
      </p:sp>
    </p:spTree>
    <p:extLst>
      <p:ext uri="{BB962C8B-B14F-4D97-AF65-F5344CB8AC3E}">
        <p14:creationId xmlns:p14="http://schemas.microsoft.com/office/powerpoint/2010/main" val="1072544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23</a:t>
            </a:fld>
            <a:endParaRPr lang="en-US" dirty="0"/>
          </a:p>
        </p:txBody>
      </p:sp>
    </p:spTree>
    <p:extLst>
      <p:ext uri="{BB962C8B-B14F-4D97-AF65-F5344CB8AC3E}">
        <p14:creationId xmlns:p14="http://schemas.microsoft.com/office/powerpoint/2010/main" val="679123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a:t>
            </a:r>
            <a:r>
              <a:rPr lang="vi-VN"/>
              <a:t>ow </a:t>
            </a:r>
            <a:r>
              <a:rPr lang="en-US"/>
              <a:t>Helpdesk</a:t>
            </a:r>
            <a:r>
              <a:rPr lang="vi-VN"/>
              <a:t> was supported</a:t>
            </a:r>
            <a:r>
              <a:rPr lang="en-US"/>
              <a:t>?</a:t>
            </a:r>
            <a:endParaRPr lang="vi-VN"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27</a:t>
            </a:fld>
            <a:endParaRPr lang="en-US" dirty="0"/>
          </a:p>
        </p:txBody>
      </p:sp>
    </p:spTree>
    <p:extLst>
      <p:ext uri="{BB962C8B-B14F-4D97-AF65-F5344CB8AC3E}">
        <p14:creationId xmlns:p14="http://schemas.microsoft.com/office/powerpoint/2010/main" val="2667642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30</a:t>
            </a:fld>
            <a:endParaRPr lang="en-US" dirty="0"/>
          </a:p>
        </p:txBody>
      </p:sp>
    </p:spTree>
    <p:extLst>
      <p:ext uri="{BB962C8B-B14F-4D97-AF65-F5344CB8AC3E}">
        <p14:creationId xmlns:p14="http://schemas.microsoft.com/office/powerpoint/2010/main" val="5223342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36</a:t>
            </a:fld>
            <a:endParaRPr lang="en-US" dirty="0"/>
          </a:p>
        </p:txBody>
      </p:sp>
    </p:spTree>
    <p:extLst>
      <p:ext uri="{BB962C8B-B14F-4D97-AF65-F5344CB8AC3E}">
        <p14:creationId xmlns:p14="http://schemas.microsoft.com/office/powerpoint/2010/main" val="1091368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52</a:t>
            </a:fld>
            <a:endParaRPr lang="en-US" dirty="0"/>
          </a:p>
        </p:txBody>
      </p:sp>
    </p:spTree>
    <p:extLst>
      <p:ext uri="{BB962C8B-B14F-4D97-AF65-F5344CB8AC3E}">
        <p14:creationId xmlns:p14="http://schemas.microsoft.com/office/powerpoint/2010/main" val="26065686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pPr>
                <a:defRPr/>
              </a:pPr>
              <a:t>68</a:t>
            </a:fld>
            <a:endParaRPr lang="en-US" dirty="0"/>
          </a:p>
        </p:txBody>
      </p:sp>
    </p:spTree>
    <p:extLst>
      <p:ext uri="{BB962C8B-B14F-4D97-AF65-F5344CB8AC3E}">
        <p14:creationId xmlns:p14="http://schemas.microsoft.com/office/powerpoint/2010/main" val="24239605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a:p>
        </p:txBody>
      </p:sp>
      <p:sp>
        <p:nvSpPr>
          <p:cNvPr id="59396" name="Slide Number Placeholder 3"/>
          <p:cNvSpPr>
            <a:spLocks noGrp="1"/>
          </p:cNvSpPr>
          <p:nvPr>
            <p:ph type="sldNum" sz="quarter" idx="5"/>
          </p:nvPr>
        </p:nvSpPr>
        <p:spPr>
          <a:noFill/>
        </p:spPr>
        <p:txBody>
          <a:bodyPr/>
          <a:lstStyle/>
          <a:p>
            <a:fld id="{7DE47B17-5236-40BE-93D3-1F5307651A8C}" type="slidenum">
              <a:rPr lang="en-US" smtClean="0"/>
              <a:pPr/>
              <a:t>72</a:t>
            </a:fld>
            <a:endParaRPr lang="en-US"/>
          </a:p>
        </p:txBody>
      </p:sp>
    </p:spTree>
    <p:extLst>
      <p:ext uri="{BB962C8B-B14F-4D97-AF65-F5344CB8AC3E}">
        <p14:creationId xmlns:p14="http://schemas.microsoft.com/office/powerpoint/2010/main" val="41468318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a:p>
        </p:txBody>
      </p:sp>
      <p:sp>
        <p:nvSpPr>
          <p:cNvPr id="59396" name="Slide Number Placeholder 3"/>
          <p:cNvSpPr>
            <a:spLocks noGrp="1"/>
          </p:cNvSpPr>
          <p:nvPr>
            <p:ph type="sldNum" sz="quarter" idx="5"/>
          </p:nvPr>
        </p:nvSpPr>
        <p:spPr>
          <a:noFill/>
        </p:spPr>
        <p:txBody>
          <a:bodyPr/>
          <a:lstStyle/>
          <a:p>
            <a:fld id="{7DE47B17-5236-40BE-93D3-1F5307651A8C}" type="slidenum">
              <a:rPr lang="en-US" smtClean="0"/>
              <a:pPr/>
              <a:t>73</a:t>
            </a:fld>
            <a:endParaRPr lang="en-US"/>
          </a:p>
        </p:txBody>
      </p:sp>
    </p:spTree>
    <p:extLst>
      <p:ext uri="{BB962C8B-B14F-4D97-AF65-F5344CB8AC3E}">
        <p14:creationId xmlns:p14="http://schemas.microsoft.com/office/powerpoint/2010/main" val="4265111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2"/>
          </p:nvPr>
        </p:nvSpPr>
        <p:spPr/>
        <p:txBody>
          <a:bodyPr/>
          <a:lstStyle>
            <a:lvl1pPr>
              <a:defRPr/>
            </a:lvl1pPr>
          </a:lstStyle>
          <a:p>
            <a:pPr>
              <a:defRPr/>
            </a:pPr>
            <a:fld id="{41417D67-679A-4B7F-A0C4-D902A8B1132C}"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2"/>
          </p:nvPr>
        </p:nvSpPr>
        <p:spPr/>
        <p:txBody>
          <a:bodyPr/>
          <a:lstStyle>
            <a:lvl1pPr>
              <a:defRPr/>
            </a:lvl1pPr>
          </a:lstStyle>
          <a:p>
            <a:pPr>
              <a:defRPr/>
            </a:pPr>
            <a:fld id="{9215A4AE-A8C7-49BB-BF58-DAE72774D4D6}"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2"/>
          </p:nvPr>
        </p:nvSpPr>
        <p:spPr/>
        <p:txBody>
          <a:bodyPr/>
          <a:lstStyle>
            <a:lvl1pPr>
              <a:defRPr/>
            </a:lvl1pPr>
          </a:lstStyle>
          <a:p>
            <a:pPr>
              <a:defRPr/>
            </a:pPr>
            <a:fld id="{35411E35-7199-481F-8182-C68E98585930}"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7" name="Slide Number Placeholder 5"/>
          <p:cNvSpPr>
            <a:spLocks noGrp="1"/>
          </p:cNvSpPr>
          <p:nvPr>
            <p:ph type="sldNum" sz="quarter" idx="12"/>
          </p:nvPr>
        </p:nvSpPr>
        <p:spPr/>
        <p:txBody>
          <a:bodyPr/>
          <a:lstStyle>
            <a:lvl1pPr>
              <a:defRPr/>
            </a:lvl1pPr>
          </a:lstStyle>
          <a:p>
            <a:pPr>
              <a:defRPr/>
            </a:pPr>
            <a:fld id="{BE19E86B-86AD-4BA0-980C-FFB20E562E8A}"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9" name="Slide Number Placeholder 5"/>
          <p:cNvSpPr>
            <a:spLocks noGrp="1"/>
          </p:cNvSpPr>
          <p:nvPr>
            <p:ph type="sldNum" sz="quarter" idx="12"/>
          </p:nvPr>
        </p:nvSpPr>
        <p:spPr/>
        <p:txBody>
          <a:bodyPr/>
          <a:lstStyle>
            <a:lvl1pPr>
              <a:defRPr/>
            </a:lvl1pPr>
          </a:lstStyle>
          <a:p>
            <a:pPr>
              <a:defRPr/>
            </a:pPr>
            <a:fld id="{E3EBE388-700A-45D2-8947-598D94FF97F2}"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5" name="Slide Number Placeholder 5"/>
          <p:cNvSpPr>
            <a:spLocks noGrp="1"/>
          </p:cNvSpPr>
          <p:nvPr>
            <p:ph type="sldNum" sz="quarter" idx="12"/>
          </p:nvPr>
        </p:nvSpPr>
        <p:spPr/>
        <p:txBody>
          <a:bodyPr/>
          <a:lstStyle>
            <a:lvl1pPr>
              <a:defRPr/>
            </a:lvl1pPr>
          </a:lstStyle>
          <a:p>
            <a:pPr>
              <a:defRPr/>
            </a:pPr>
            <a:fld id="{896B6BDA-43EE-4C8F-B5AC-7FD800A0B8B9}"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4" name="Slide Number Placeholder 5"/>
          <p:cNvSpPr>
            <a:spLocks noGrp="1"/>
          </p:cNvSpPr>
          <p:nvPr>
            <p:ph type="sldNum" sz="quarter" idx="12"/>
          </p:nvPr>
        </p:nvSpPr>
        <p:spPr/>
        <p:txBody>
          <a:bodyPr/>
          <a:lstStyle>
            <a:lvl1pPr>
              <a:defRPr/>
            </a:lvl1pPr>
          </a:lstStyle>
          <a:p>
            <a:pPr>
              <a:defRPr/>
            </a:pPr>
            <a:fld id="{FA15FE25-6F37-4238-83DA-738D335F0AFC}"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7" name="Slide Number Placeholder 5"/>
          <p:cNvSpPr>
            <a:spLocks noGrp="1"/>
          </p:cNvSpPr>
          <p:nvPr>
            <p:ph type="sldNum" sz="quarter" idx="12"/>
          </p:nvPr>
        </p:nvSpPr>
        <p:spPr/>
        <p:txBody>
          <a:bodyPr/>
          <a:lstStyle>
            <a:lvl1pPr>
              <a:defRPr/>
            </a:lvl1pPr>
          </a:lstStyle>
          <a:p>
            <a:pPr>
              <a:defRPr/>
            </a:pPr>
            <a:fld id="{A3905405-BF70-43D6-ACC7-45DF4F7F6C34}"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7" name="Slide Number Placeholder 5"/>
          <p:cNvSpPr>
            <a:spLocks noGrp="1"/>
          </p:cNvSpPr>
          <p:nvPr>
            <p:ph type="sldNum" sz="quarter" idx="12"/>
          </p:nvPr>
        </p:nvSpPr>
        <p:spPr/>
        <p:txBody>
          <a:bodyPr/>
          <a:lstStyle>
            <a:lvl1pPr>
              <a:defRPr/>
            </a:lvl1pPr>
          </a:lstStyle>
          <a:p>
            <a:pPr>
              <a:defRPr/>
            </a:pPr>
            <a:fld id="{1D4C0B0C-B2CD-4453-B23B-D9DDFFD2D041}"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2"/>
          </p:nvPr>
        </p:nvSpPr>
        <p:spPr/>
        <p:txBody>
          <a:bodyPr/>
          <a:lstStyle>
            <a:lvl1pPr>
              <a:defRPr/>
            </a:lvl1pPr>
          </a:lstStyle>
          <a:p>
            <a:pPr>
              <a:defRPr/>
            </a:pPr>
            <a:fld id="{E4FEA8A7-A2CD-43B2-8FD7-F7A39D4C0568}"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2"/>
          </p:nvPr>
        </p:nvSpPr>
        <p:spPr/>
        <p:txBody>
          <a:bodyPr/>
          <a:lstStyle>
            <a:lvl1pPr>
              <a:defRPr/>
            </a:lvl1pPr>
          </a:lstStyle>
          <a:p>
            <a:pPr>
              <a:defRPr/>
            </a:pPr>
            <a:fld id="{E286A31B-FA9F-46CE-A021-98CB08B0CF7D}"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grpSp>
        <p:nvGrpSpPr>
          <p:cNvPr id="2"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endParaRPr lang="en-US" dirty="0"/>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13044269-7D1E-4D69-9E62-A7C331067282}"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ooter Placeholder 21"/>
          <p:cNvSpPr txBox="1">
            <a:spLocks/>
          </p:cNvSpPr>
          <p:nvPr/>
        </p:nvSpPr>
        <p:spPr>
          <a:xfrm>
            <a:off x="5486400" y="6492875"/>
            <a:ext cx="1600200" cy="365125"/>
          </a:xfrm>
          <a:prstGeom prst="rect">
            <a:avLst/>
          </a:prstGeom>
        </p:spPr>
        <p:txBody>
          <a:bodyPr anchor="b"/>
          <a:lstStyle>
            <a:lvl1pPr algn="l">
              <a:buFontTx/>
              <a:buNone/>
              <a:defRPr smtClean="0"/>
            </a:lvl1pPr>
          </a:lstStyle>
          <a:p>
            <a:pPr>
              <a:defRPr/>
            </a:pPr>
            <a:r>
              <a:rPr lang="en-US" sz="1200">
                <a:latin typeface="+mn-lt"/>
              </a:rPr>
              <a:t>Copyright 2021</a:t>
            </a:r>
            <a:endParaRPr lang="en-US" sz="1200" dirty="0">
              <a:latin typeface="+mn-lt"/>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p>
            <a:r>
              <a:rPr lang="en-US" dirty="0"/>
              <a:t>Click to edit Master title style</a:t>
            </a:r>
          </a:p>
        </p:txBody>
      </p:sp>
      <p:sp>
        <p:nvSpPr>
          <p:cNvPr id="5" name="Footer Placeholder 21"/>
          <p:cNvSpPr>
            <a:spLocks noGrp="1"/>
          </p:cNvSpPr>
          <p:nvPr>
            <p:ph type="ftr" sz="quarter" idx="10"/>
          </p:nvPr>
        </p:nvSpPr>
        <p:spPr>
          <a:xfrm>
            <a:off x="0" y="6492875"/>
            <a:ext cx="2590800" cy="365125"/>
          </a:xfrm>
        </p:spPr>
        <p:txBody>
          <a:bodyPr/>
          <a:lstStyle>
            <a:lvl1pPr algn="l">
              <a:buFontTx/>
              <a:buNone/>
              <a:defRPr sz="1200">
                <a:latin typeface="+mn-lt"/>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17"/>
          <p:cNvSpPr>
            <a:spLocks noGrp="1"/>
          </p:cNvSpPr>
          <p:nvPr>
            <p:ph type="sldNum" sz="quarter" idx="11"/>
          </p:nvPr>
        </p:nvSpPr>
        <p:spPr>
          <a:xfrm>
            <a:off x="8588375" y="6492875"/>
            <a:ext cx="555625" cy="365125"/>
          </a:xfrm>
        </p:spPr>
        <p:txBody>
          <a:bodyPr/>
          <a:lstStyle>
            <a:lvl1pPr>
              <a:buFontTx/>
              <a:buNone/>
              <a:defRPr sz="1200">
                <a:latin typeface="+mn-lt"/>
              </a:defRPr>
            </a:lvl1pPr>
          </a:lstStyle>
          <a:p>
            <a:pPr>
              <a:defRPr/>
            </a:pPr>
            <a:fld id="{073FC353-7A19-4BA9-B4BA-8F87B33A8D50}" type="slidenum">
              <a:rPr lang="en-US" smtClean="0"/>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dirty="0"/>
          </a:p>
        </p:txBody>
      </p:sp>
      <p:sp>
        <p:nvSpPr>
          <p:cNvPr id="7" name="Footer Placeholder 4"/>
          <p:cNvSpPr>
            <a:spLocks noGrp="1"/>
          </p:cNvSpPr>
          <p:nvPr>
            <p:ph type="ftr" sz="quarter" idx="11"/>
          </p:nvPr>
        </p:nvSpPr>
        <p:spPr/>
        <p:txBody>
          <a:bodyPr/>
          <a:lstStyle>
            <a:lvl1pPr>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8" name="Slide Number Placeholder 5"/>
          <p:cNvSpPr>
            <a:spLocks noGrp="1"/>
          </p:cNvSpPr>
          <p:nvPr>
            <p:ph type="sldNum" sz="quarter" idx="12"/>
          </p:nvPr>
        </p:nvSpPr>
        <p:spPr/>
        <p:txBody>
          <a:bodyPr/>
          <a:lstStyle>
            <a:lvl1pPr>
              <a:defRPr/>
            </a:lvl1pPr>
            <a:extLst/>
          </a:lstStyle>
          <a:p>
            <a:pPr>
              <a:defRPr/>
            </a:pPr>
            <a:fld id="{F8DA9134-713E-4C21-85BE-4EB495810661}"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7" name="Slide Number Placeholder 6"/>
          <p:cNvSpPr>
            <a:spLocks noGrp="1"/>
          </p:cNvSpPr>
          <p:nvPr>
            <p:ph type="sldNum" sz="quarter" idx="12"/>
          </p:nvPr>
        </p:nvSpPr>
        <p:spPr/>
        <p:txBody>
          <a:bodyPr/>
          <a:lstStyle>
            <a:lvl1pPr>
              <a:defRPr/>
            </a:lvl1pPr>
            <a:extLst/>
          </a:lstStyle>
          <a:p>
            <a:pPr>
              <a:defRPr/>
            </a:pPr>
            <a:fld id="{3FB2CF74-2E86-4CDF-8935-1BC6C6D4490F}"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endParaRPr lang="en-US" dirty="0"/>
          </a:p>
        </p:txBody>
      </p:sp>
      <p:sp>
        <p:nvSpPr>
          <p:cNvPr id="8" name="Footer Placeholder 7"/>
          <p:cNvSpPr>
            <a:spLocks noGrp="1"/>
          </p:cNvSpPr>
          <p:nvPr>
            <p:ph type="ftr" sz="quarter" idx="11"/>
          </p:nvPr>
        </p:nvSpPr>
        <p:spPr/>
        <p:txBody>
          <a:bodyPr/>
          <a:lstStyle>
            <a:lvl1pPr>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9" name="Slide Number Placeholder 8"/>
          <p:cNvSpPr>
            <a:spLocks noGrp="1"/>
          </p:cNvSpPr>
          <p:nvPr>
            <p:ph type="sldNum" sz="quarter" idx="12"/>
          </p:nvPr>
        </p:nvSpPr>
        <p:spPr/>
        <p:txBody>
          <a:bodyPr/>
          <a:lstStyle>
            <a:lvl1pPr>
              <a:defRPr/>
            </a:lvl1pPr>
            <a:extLst/>
          </a:lstStyle>
          <a:p>
            <a:pPr>
              <a:defRPr/>
            </a:pPr>
            <a:fld id="{5727E435-05B3-4637-A3E8-3E0D395D4B49}"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a:lvl1pPr>
            <a:extLst/>
          </a:lstStyle>
          <a:p>
            <a:pPr>
              <a:defRPr/>
            </a:pPr>
            <a:endParaRPr lang="en-US" dirty="0"/>
          </a:p>
        </p:txBody>
      </p:sp>
      <p:sp>
        <p:nvSpPr>
          <p:cNvPr id="4" name="Footer Placeholder 3"/>
          <p:cNvSpPr>
            <a:spLocks noGrp="1"/>
          </p:cNvSpPr>
          <p:nvPr>
            <p:ph type="ftr" sz="quarter" idx="11"/>
          </p:nvPr>
        </p:nvSpPr>
        <p:spPr/>
        <p:txBody>
          <a:bodyPr/>
          <a:lstStyle>
            <a:lvl1pPr>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5" name="Slide Number Placeholder 4"/>
          <p:cNvSpPr>
            <a:spLocks noGrp="1"/>
          </p:cNvSpPr>
          <p:nvPr>
            <p:ph type="sldNum" sz="quarter" idx="12"/>
          </p:nvPr>
        </p:nvSpPr>
        <p:spPr/>
        <p:txBody>
          <a:bodyPr/>
          <a:lstStyle>
            <a:lvl1pPr>
              <a:defRPr/>
            </a:lvl1pPr>
            <a:extLst/>
          </a:lstStyle>
          <a:p>
            <a:pPr>
              <a:defRPr/>
            </a:pPr>
            <a:fld id="{33836496-E8AD-458C-90B9-02F45E51A03E}"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dirty="0"/>
          </a:p>
        </p:txBody>
      </p:sp>
      <p:sp>
        <p:nvSpPr>
          <p:cNvPr id="3" name="Footer Placeholder 21"/>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4" name="Slide Number Placeholder 17"/>
          <p:cNvSpPr>
            <a:spLocks noGrp="1"/>
          </p:cNvSpPr>
          <p:nvPr>
            <p:ph type="sldNum" sz="quarter" idx="12"/>
          </p:nvPr>
        </p:nvSpPr>
        <p:spPr/>
        <p:txBody>
          <a:bodyPr/>
          <a:lstStyle>
            <a:lvl1pPr>
              <a:defRPr/>
            </a:lvl1pPr>
          </a:lstStyle>
          <a:p>
            <a:pPr>
              <a:defRPr/>
            </a:pPr>
            <a:fld id="{73D0DA30-BA11-4614-BDC9-ABCAAEEA4071}"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7" name="Slide Number Placeholder 6"/>
          <p:cNvSpPr>
            <a:spLocks noGrp="1"/>
          </p:cNvSpPr>
          <p:nvPr>
            <p:ph type="sldNum" sz="quarter" idx="12"/>
          </p:nvPr>
        </p:nvSpPr>
        <p:spPr/>
        <p:txBody>
          <a:bodyPr/>
          <a:lstStyle>
            <a:lvl1pPr>
              <a:defRPr/>
            </a:lvl1pPr>
            <a:extLst/>
          </a:lstStyle>
          <a:p>
            <a:pPr>
              <a:defRPr/>
            </a:pPr>
            <a:fld id="{3455308F-A6F3-4B83-B55B-45F56F993349}"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6" name="Freeform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Right Triangle 6"/>
          <p:cNvSpPr>
            <a:spLocks/>
          </p:cNvSpPr>
          <p:nvPr/>
        </p:nvSpPr>
        <p:spPr bwMode="auto">
          <a:xfrm>
            <a:off x="-6042" y="5791253"/>
            <a:ext cx="3402314"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dirty="0"/>
              <a:t>Click icon to add picture</a:t>
            </a: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dirty="0"/>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21573F85-917C-4181-A55D-DACE5EEBDEA2}"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17"/>
          <p:cNvSpPr>
            <a:spLocks noGrp="1"/>
          </p:cNvSpPr>
          <p:nvPr>
            <p:ph type="sldNum" sz="quarter" idx="12"/>
          </p:nvPr>
        </p:nvSpPr>
        <p:spPr/>
        <p:txBody>
          <a:bodyPr/>
          <a:lstStyle>
            <a:lvl1pPr>
              <a:defRPr/>
            </a:lvl1pPr>
          </a:lstStyle>
          <a:p>
            <a:pPr>
              <a:defRPr/>
            </a:pPr>
            <a:fld id="{9984397A-60D2-47E4-847A-2C77351D4D9A}"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17"/>
          <p:cNvSpPr>
            <a:spLocks noGrp="1"/>
          </p:cNvSpPr>
          <p:nvPr>
            <p:ph type="sldNum" sz="quarter" idx="12"/>
          </p:nvPr>
        </p:nvSpPr>
        <p:spPr/>
        <p:txBody>
          <a:bodyPr/>
          <a:lstStyle>
            <a:lvl1pPr>
              <a:defRPr/>
            </a:lvl1pPr>
          </a:lstStyle>
          <a:p>
            <a:pPr>
              <a:defRPr/>
            </a:pPr>
            <a:fld id="{E7D99B0D-0503-4EC5-9A0B-11696043BECA}" type="slidenum">
              <a:rPr lang="en-US" smtClean="0"/>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82000" cy="914400"/>
          </a:xfrm>
        </p:spPr>
        <p:txBody>
          <a:bodyPr/>
          <a:lstStyle/>
          <a:p>
            <a:r>
              <a:rPr lang="en-US"/>
              <a:t>Click to edit Master title style</a:t>
            </a:r>
          </a:p>
        </p:txBody>
      </p:sp>
      <p:sp>
        <p:nvSpPr>
          <p:cNvPr id="3" name="SmartArt Placeholder 2"/>
          <p:cNvSpPr>
            <a:spLocks noGrp="1"/>
          </p:cNvSpPr>
          <p:nvPr>
            <p:ph type="dgm" idx="1"/>
          </p:nvPr>
        </p:nvSpPr>
        <p:spPr>
          <a:xfrm>
            <a:off x="381000" y="1371600"/>
            <a:ext cx="8458200" cy="4724400"/>
          </a:xfrm>
        </p:spPr>
        <p:txBody>
          <a:bodyPr/>
          <a:lstStyle/>
          <a:p>
            <a:pPr lvl="0"/>
            <a:endParaRPr lang="en-US" noProof="0" dirty="0"/>
          </a:p>
        </p:txBody>
      </p:sp>
      <p:sp>
        <p:nvSpPr>
          <p:cNvPr id="4" name="Slide Number Placeholder 3"/>
          <p:cNvSpPr>
            <a:spLocks noGrp="1"/>
          </p:cNvSpPr>
          <p:nvPr>
            <p:ph type="sldNum" sz="quarter" idx="10"/>
          </p:nvPr>
        </p:nvSpPr>
        <p:spPr>
          <a:xfrm>
            <a:off x="8153400" y="6553200"/>
            <a:ext cx="990600" cy="304800"/>
          </a:xfrm>
        </p:spPr>
        <p:txBody>
          <a:bodyPr/>
          <a:lstStyle>
            <a:lvl1pPr>
              <a:defRPr/>
            </a:lvl1pPr>
          </a:lstStyle>
          <a:p>
            <a:pPr>
              <a:defRPr/>
            </a:pPr>
            <a:fld id="{618F4844-60E1-4AFE-9C5A-F50A2EA34C5F}" type="slidenum">
              <a:rPr lang="en-US"/>
              <a:pPr>
                <a:defRPr/>
              </a:pPr>
              <a:t>‹#›</a:t>
            </a:fld>
            <a:endParaRPr lang="en-US" dirty="0"/>
          </a:p>
        </p:txBody>
      </p:sp>
      <p:sp>
        <p:nvSpPr>
          <p:cNvPr id="5" name="Footer Placeholder 4"/>
          <p:cNvSpPr>
            <a:spLocks noGrp="1"/>
          </p:cNvSpPr>
          <p:nvPr>
            <p:ph type="ftr" sz="quarter" idx="11"/>
          </p:nvPr>
        </p:nvSpPr>
        <p:spPr>
          <a:xfrm>
            <a:off x="0" y="6553200"/>
            <a:ext cx="5486400" cy="304800"/>
          </a:xfrm>
        </p:spPr>
        <p:txBody>
          <a:bodyPr/>
          <a:lstStyle>
            <a:lvl1pPr>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lnSpc>
                <a:spcPct val="90000"/>
              </a:lnSpc>
              <a:spcBef>
                <a:spcPct val="20000"/>
              </a:spcBef>
              <a:buFontTx/>
              <a:buChar char="•"/>
              <a:defRPr sz="1200">
                <a:solidFill>
                  <a:srgbClr val="898989"/>
                </a:solidFill>
                <a:latin typeface="Times New Roman" pitchFamily="18" charset="0"/>
              </a:defRPr>
            </a:lvl1p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itchFamily="18" charset="0"/>
              </a:defRPr>
            </a:lvl1pPr>
          </a:lstStyle>
          <a:p>
            <a:pPr>
              <a:defRPr/>
            </a:pPr>
            <a:fld id="{84F16418-8E52-47D1-8005-6165535EBAD1}"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71" r:id="rId1"/>
    <p:sldLayoutId id="2147483872" r:id="rId2"/>
    <p:sldLayoutId id="2147483873" r:id="rId3"/>
    <p:sldLayoutId id="2147483874" r:id="rId4"/>
    <p:sldLayoutId id="2147483875" r:id="rId5"/>
    <p:sldLayoutId id="2147483876" r:id="rId6"/>
    <p:sldLayoutId id="2147483877" r:id="rId7"/>
    <p:sldLayoutId id="2147483878" r:id="rId8"/>
    <p:sldLayoutId id="2147483879" r:id="rId9"/>
    <p:sldLayoutId id="2147483880" r:id="rId10"/>
    <p:sldLayoutId id="2147483881"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12" name="Freeform 11"/>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14" name="Right Triangle 13"/>
          <p:cNvSpPr>
            <a:spLocks/>
          </p:cNvSpPr>
          <p:nvPr/>
        </p:nvSpPr>
        <p:spPr bwMode="auto">
          <a:xfrm>
            <a:off x="-6042" y="5791253"/>
            <a:ext cx="3402314" cy="1080868"/>
          </a:xfrm>
          <a:prstGeom prst="rtTriangle">
            <a:avLst/>
          </a:prstGeom>
          <a:blipFill>
            <a:blip r:embed="rId14">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84F16418-8E52-47D1-8005-6165535EBAD1}"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896" r:id="rId1"/>
    <p:sldLayoutId id="2147483897" r:id="rId2"/>
    <p:sldLayoutId id="2147483898" r:id="rId3"/>
    <p:sldLayoutId id="2147483899" r:id="rId4"/>
    <p:sldLayoutId id="2147483900" r:id="rId5"/>
    <p:sldLayoutId id="2147483901" r:id="rId6"/>
    <p:sldLayoutId id="2147483902" r:id="rId7"/>
    <p:sldLayoutId id="2147483903" r:id="rId8"/>
    <p:sldLayoutId id="2147483904" r:id="rId9"/>
    <p:sldLayoutId id="2147483905" r:id="rId10"/>
    <p:sldLayoutId id="2147483906" r:id="rId11"/>
    <p:sldLayoutId id="2147483907" r:id="rId12"/>
  </p:sldLayoutIdLst>
  <p:hf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hyperlink" Target="../Chuong%2000/2021-Chuong00-ITPM_VI-ITS344-211_D02.pptx"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 Id="rId4" Type="http://schemas.openxmlformats.org/officeDocument/2006/relationships/image" Target="../media/image10.gif"/></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hyperlink" Target="../../47Ps-PMP.pptx" TargetMode="External"/><Relationship Id="rId2" Type="http://schemas.openxmlformats.org/officeDocument/2006/relationships/hyperlink" Target="../../../Docs/47Ps-PMP.pptx" TargetMode="Externa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40.gif"/><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9" Type="http://schemas.openxmlformats.org/officeDocument/2006/relationships/image" Target="../media/image59.png"/></Relationships>
</file>

<file path=ppt/slides/_rels/slide5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3.xml"/><Relationship Id="rId4" Type="http://schemas.openxmlformats.org/officeDocument/2006/relationships/image" Target="../media/image6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pn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3.xml"/><Relationship Id="rId4" Type="http://schemas.openxmlformats.org/officeDocument/2006/relationships/image" Target="../media/image7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0" y="1600200"/>
            <a:ext cx="9144000" cy="1349375"/>
          </a:xfrm>
        </p:spPr>
        <p:txBody>
          <a:bodyPr>
            <a:noAutofit/>
          </a:bodyPr>
          <a:lstStyle/>
          <a:p>
            <a:pPr algn="ctr" eaLnBrk="1" fontAlgn="auto" hangingPunct="1">
              <a:spcAft>
                <a:spcPts val="0"/>
              </a:spcAft>
              <a:defRPr/>
            </a:pPr>
            <a:r>
              <a:rPr lang="vi-VN" sz="4000" dirty="0">
                <a:solidFill>
                  <a:srgbClr val="0070C0"/>
                </a:solidFill>
                <a:effectLst>
                  <a:outerShdw blurRad="38100" dist="38100" dir="2700000" algn="tl">
                    <a:srgbClr val="FFFFFF"/>
                  </a:outerShdw>
                </a:effectLst>
              </a:rPr>
              <a:t>Chương 9</a:t>
            </a:r>
            <a:br>
              <a:rPr lang="vi-VN" dirty="0">
                <a:solidFill>
                  <a:srgbClr val="0070C0"/>
                </a:solidFill>
                <a:effectLst>
                  <a:outerShdw blurRad="38100" dist="38100" dir="2700000" algn="tl">
                    <a:srgbClr val="FFFFFF"/>
                  </a:outerShdw>
                </a:effectLst>
              </a:rPr>
            </a:br>
            <a:r>
              <a:rPr lang="vi-VN" dirty="0">
                <a:solidFill>
                  <a:srgbClr val="0070C0"/>
                </a:solidFill>
                <a:effectLst>
                  <a:outerShdw blurRad="38100" dist="38100" dir="2700000" algn="tl">
                    <a:srgbClr val="FFFFFF"/>
                  </a:outerShdw>
                </a:effectLst>
              </a:rPr>
              <a:t>QUẢN LÝ RỦI RO DỰ ÁN</a:t>
            </a:r>
            <a:endParaRPr dirty="0">
              <a:solidFill>
                <a:srgbClr val="0070C0"/>
              </a:solidFill>
              <a:effectLst>
                <a:outerShdw blurRad="38100" dist="38100" dir="2700000" algn="tl">
                  <a:srgbClr val="FFFFFF"/>
                </a:outerShdw>
              </a:effectLst>
            </a:endParaRPr>
          </a:p>
        </p:txBody>
      </p:sp>
      <p:sp>
        <p:nvSpPr>
          <p:cNvPr id="9" name="Rectangle 3"/>
          <p:cNvSpPr>
            <a:spLocks noChangeArrowheads="1"/>
          </p:cNvSpPr>
          <p:nvPr/>
        </p:nvSpPr>
        <p:spPr bwMode="auto">
          <a:xfrm>
            <a:off x="0" y="3048000"/>
            <a:ext cx="9144000" cy="914400"/>
          </a:xfrm>
          <a:prstGeom prst="rect">
            <a:avLst/>
          </a:prstGeom>
          <a:noFill/>
          <a:ln w="9525">
            <a:noFill/>
            <a:miter lim="800000"/>
            <a:headEnd/>
            <a:tailEnd/>
          </a:ln>
          <a:effectLst/>
        </p:spPr>
        <p:txBody>
          <a:bodyPr/>
          <a:lstStyle/>
          <a:p>
            <a:pPr algn="ctr">
              <a:defRPr/>
            </a:pPr>
            <a:r>
              <a:rPr lang="vi-VN" sz="2800" spc="1000" dirty="0">
                <a:latin typeface="Arial Rounded MT Bold" pitchFamily="34" charset="0"/>
              </a:rPr>
              <a:t>Project Risk Management</a:t>
            </a:r>
            <a:endParaRPr lang="en-US" sz="2800" b="1" spc="1000" dirty="0">
              <a:solidFill>
                <a:schemeClr val="tx2"/>
              </a:solidFill>
              <a:latin typeface="Arial Rounded MT Bold" pitchFamily="34" charset="0"/>
              <a:ea typeface="+mj-ea"/>
              <a:cs typeface="+mj-cs"/>
            </a:endParaRPr>
          </a:p>
        </p:txBody>
      </p:sp>
      <p:pic>
        <p:nvPicPr>
          <p:cNvPr id="3" name="Picture 2"/>
          <p:cNvPicPr>
            <a:picLocks noChangeAspect="1"/>
          </p:cNvPicPr>
          <p:nvPr/>
        </p:nvPicPr>
        <p:blipFill>
          <a:blip r:embed="rId3"/>
          <a:stretch>
            <a:fillRect/>
          </a:stretch>
        </p:blipFill>
        <p:spPr>
          <a:xfrm>
            <a:off x="6324600" y="4114800"/>
            <a:ext cx="1895475" cy="2309786"/>
          </a:xfrm>
          <a:prstGeom prst="rect">
            <a:avLst/>
          </a:prstGeom>
        </p:spPr>
      </p:pic>
      <p:sp>
        <p:nvSpPr>
          <p:cNvPr id="10" name="Rectangle 2">
            <a:extLst>
              <a:ext uri="{FF2B5EF4-FFF2-40B4-BE49-F238E27FC236}">
                <a16:creationId xmlns:a16="http://schemas.microsoft.com/office/drawing/2014/main" id="{F93DAD79-3495-49AD-8162-30BFEC8076B7}"/>
              </a:ext>
            </a:extLst>
          </p:cNvPr>
          <p:cNvSpPr txBox="1">
            <a:spLocks noChangeArrowheads="1"/>
          </p:cNvSpPr>
          <p:nvPr/>
        </p:nvSpPr>
        <p:spPr>
          <a:xfrm>
            <a:off x="381000" y="327025"/>
            <a:ext cx="8382000" cy="663575"/>
          </a:xfrm>
          <a:prstGeom prst="rect">
            <a:avLst/>
          </a:prstGeom>
        </p:spPr>
        <p:txBody>
          <a:bodyPr vert="horz" anchor="b">
            <a:noAutofit/>
            <a:scene3d>
              <a:camera prst="orthographicFront"/>
              <a:lightRig rig="soft" dir="t"/>
            </a:scene3d>
            <a:sp3d prstMaterial="softEdge">
              <a:bevelT w="25400" h="25400"/>
            </a:sp3d>
          </a:bodyPr>
          <a:lstStyle>
            <a:lvl1pPr algn="r" rtl="0" eaLnBrk="1" fontAlgn="base" hangingPunct="1">
              <a:spcBef>
                <a:spcPct val="0"/>
              </a:spcBef>
              <a:spcAft>
                <a:spcPct val="0"/>
              </a:spcAft>
              <a:defRPr sz="48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a:lstStyle>
          <a:p>
            <a:pPr algn="ctr" fontAlgn="auto">
              <a:spcAft>
                <a:spcPts val="0"/>
              </a:spcAft>
              <a:defRPr/>
            </a:pPr>
            <a:r>
              <a:rPr lang="vi-VN" sz="3200" dirty="0">
                <a:effectLst>
                  <a:outerShdw blurRad="38100" dist="38100" dir="2700000" algn="tl">
                    <a:srgbClr val="FFFFFF"/>
                  </a:outerShdw>
                </a:effectLst>
                <a:hlinkClick r:id="rId4" action="ppaction://hlinkpres?slideindex=1&amp;slidetitle="/>
              </a:rPr>
              <a:t>QUẢN TRỊ DỰ </a:t>
            </a:r>
            <a:r>
              <a:rPr lang="vi-VN" sz="3200">
                <a:effectLst>
                  <a:outerShdw blurRad="38100" dist="38100" dir="2700000" algn="tl">
                    <a:srgbClr val="FFFFFF"/>
                  </a:outerShdw>
                </a:effectLst>
                <a:hlinkClick r:id="rId4" action="ppaction://hlinkpres?slideindex=1&amp;slidetitle="/>
              </a:rPr>
              <a:t>ÁN </a:t>
            </a:r>
            <a:r>
              <a:rPr lang="en-US" sz="3200">
                <a:effectLst>
                  <a:outerShdw blurRad="38100" dist="38100" dir="2700000" algn="tl">
                    <a:srgbClr val="FFFFFF"/>
                  </a:outerShdw>
                </a:effectLst>
                <a:hlinkClick r:id="rId4" action="ppaction://hlinkpres?slideindex=1&amp;slidetitle="/>
              </a:rPr>
              <a:t>HTTT</a:t>
            </a:r>
            <a:endParaRPr lang="vi-VN" sz="3200" dirty="0">
              <a:effectLst>
                <a:outerShdw blurRad="38100" dist="38100" dir="2700000" algn="tl">
                  <a:srgbClr val="FFFFFF"/>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idx="1"/>
          </p:nvPr>
        </p:nvSpPr>
        <p:spPr>
          <a:xfrm>
            <a:off x="228600" y="1676400"/>
            <a:ext cx="8686800" cy="3886200"/>
          </a:xfrm>
        </p:spPr>
        <p:txBody>
          <a:bodyPr/>
          <a:lstStyle/>
          <a:p>
            <a:pPr algn="just">
              <a:spcBef>
                <a:spcPts val="1200"/>
              </a:spcBef>
              <a:spcAft>
                <a:spcPts val="1200"/>
              </a:spcAft>
            </a:pPr>
            <a:r>
              <a:rPr lang="vi-VN" sz="2500" dirty="0">
                <a:solidFill>
                  <a:srgbClr val="002060"/>
                </a:solidFill>
              </a:rPr>
              <a:t>Hiểu được tầm quan trọng của quản lý rủi ro dự án.</a:t>
            </a:r>
          </a:p>
          <a:p>
            <a:pPr algn="just">
              <a:spcBef>
                <a:spcPts val="1200"/>
              </a:spcBef>
              <a:spcAft>
                <a:spcPts val="1200"/>
              </a:spcAft>
            </a:pPr>
            <a:r>
              <a:rPr lang="vi-VN" sz="2500" dirty="0">
                <a:solidFill>
                  <a:srgbClr val="002060"/>
                </a:solidFill>
              </a:rPr>
              <a:t>Giải thích được quy trình quản lý rủi ro dự án.</a:t>
            </a:r>
          </a:p>
          <a:p>
            <a:pPr algn="just">
              <a:spcBef>
                <a:spcPts val="1200"/>
              </a:spcBef>
              <a:spcAft>
                <a:spcPts val="1200"/>
              </a:spcAft>
            </a:pPr>
            <a:r>
              <a:rPr lang="vi-VN" sz="2500" dirty="0">
                <a:solidFill>
                  <a:srgbClr val="002060"/>
                </a:solidFill>
              </a:rPr>
              <a:t>Biết được </a:t>
            </a:r>
            <a:r>
              <a:rPr lang="en-US" sz="2500" dirty="0" err="1">
                <a:solidFill>
                  <a:srgbClr val="002060"/>
                </a:solidFill>
              </a:rPr>
              <a:t>các</a:t>
            </a:r>
            <a:r>
              <a:rPr lang="en-US" sz="2500" dirty="0">
                <a:solidFill>
                  <a:srgbClr val="002060"/>
                </a:solidFill>
              </a:rPr>
              <a:t> </a:t>
            </a:r>
            <a:r>
              <a:rPr lang="en-US" sz="2500" dirty="0" err="1">
                <a:solidFill>
                  <a:srgbClr val="002060"/>
                </a:solidFill>
              </a:rPr>
              <a:t>rủi</a:t>
            </a:r>
            <a:r>
              <a:rPr lang="en-US" sz="2500" dirty="0">
                <a:solidFill>
                  <a:srgbClr val="002060"/>
                </a:solidFill>
              </a:rPr>
              <a:t> </a:t>
            </a:r>
            <a:r>
              <a:rPr lang="en-US" sz="2500" dirty="0" err="1">
                <a:solidFill>
                  <a:srgbClr val="002060"/>
                </a:solidFill>
              </a:rPr>
              <a:t>ro</a:t>
            </a:r>
            <a:r>
              <a:rPr lang="en-US" sz="2500" dirty="0">
                <a:solidFill>
                  <a:srgbClr val="002060"/>
                </a:solidFill>
              </a:rPr>
              <a:t> </a:t>
            </a:r>
            <a:r>
              <a:rPr lang="en-US" sz="2500" dirty="0" err="1">
                <a:solidFill>
                  <a:srgbClr val="002060"/>
                </a:solidFill>
              </a:rPr>
              <a:t>phổ</a:t>
            </a:r>
            <a:r>
              <a:rPr lang="en-US" sz="2500" dirty="0">
                <a:solidFill>
                  <a:srgbClr val="002060"/>
                </a:solidFill>
              </a:rPr>
              <a:t> </a:t>
            </a:r>
            <a:r>
              <a:rPr lang="en-US" sz="2500" dirty="0" err="1">
                <a:solidFill>
                  <a:srgbClr val="002060"/>
                </a:solidFill>
              </a:rPr>
              <a:t>biến</a:t>
            </a:r>
            <a:r>
              <a:rPr lang="en-US" sz="2500" dirty="0">
                <a:solidFill>
                  <a:srgbClr val="002060"/>
                </a:solidFill>
              </a:rPr>
              <a:t> </a:t>
            </a:r>
            <a:r>
              <a:rPr lang="en-US" sz="2500" dirty="0" err="1">
                <a:solidFill>
                  <a:srgbClr val="002060"/>
                </a:solidFill>
              </a:rPr>
              <a:t>trong</a:t>
            </a:r>
            <a:r>
              <a:rPr lang="en-US" sz="2500" dirty="0">
                <a:solidFill>
                  <a:srgbClr val="002060"/>
                </a:solidFill>
              </a:rPr>
              <a:t> </a:t>
            </a:r>
            <a:r>
              <a:rPr lang="vi-VN" sz="2500" dirty="0">
                <a:solidFill>
                  <a:srgbClr val="002060"/>
                </a:solidFill>
              </a:rPr>
              <a:t>dự án HTTT.</a:t>
            </a:r>
          </a:p>
          <a:p>
            <a:pPr algn="just">
              <a:spcBef>
                <a:spcPts val="1200"/>
              </a:spcBef>
              <a:spcAft>
                <a:spcPts val="1200"/>
              </a:spcAft>
            </a:pPr>
            <a:r>
              <a:rPr lang="vi-VN" sz="2500" dirty="0">
                <a:solidFill>
                  <a:srgbClr val="002060"/>
                </a:solidFill>
              </a:rPr>
              <a:t>Biết được các công cụ và phần mềm hỗ trợ quản lý rủi ro.</a:t>
            </a:r>
          </a:p>
          <a:p>
            <a:pPr algn="just">
              <a:spcBef>
                <a:spcPts val="1200"/>
              </a:spcBef>
              <a:spcAft>
                <a:spcPts val="1200"/>
              </a:spcAft>
            </a:pPr>
            <a:r>
              <a:rPr lang="vi-VN" sz="2500" dirty="0">
                <a:solidFill>
                  <a:srgbClr val="002060"/>
                </a:solidFill>
              </a:rPr>
              <a:t>Hiểu được các vấn đề liên quan đến rủi ro dự án HTTT.</a:t>
            </a:r>
          </a:p>
        </p:txBody>
      </p:sp>
      <p:sp>
        <p:nvSpPr>
          <p:cNvPr id="9218" name="Rectangle 2"/>
          <p:cNvSpPr>
            <a:spLocks noGrp="1" noChangeArrowheads="1"/>
          </p:cNvSpPr>
          <p:nvPr>
            <p:ph type="title"/>
          </p:nvPr>
        </p:nvSpPr>
        <p:spPr>
          <a:xfrm>
            <a:off x="304800" y="457200"/>
            <a:ext cx="8534400" cy="715962"/>
          </a:xfrm>
        </p:spPr>
        <p:txBody>
          <a:bodyPr>
            <a:noAutofit/>
          </a:bodyPr>
          <a:lstStyle/>
          <a:p>
            <a:pPr algn="ctr"/>
            <a:r>
              <a:rPr lang="en-US" sz="4400" dirty="0" err="1">
                <a:solidFill>
                  <a:srgbClr val="0070C0"/>
                </a:solidFill>
              </a:rPr>
              <a:t>Mục</a:t>
            </a:r>
            <a:r>
              <a:rPr lang="en-US" sz="4400" dirty="0">
                <a:solidFill>
                  <a:srgbClr val="0070C0"/>
                </a:solidFill>
              </a:rPr>
              <a:t> </a:t>
            </a:r>
            <a:r>
              <a:rPr lang="en-US" sz="4400" dirty="0" err="1">
                <a:solidFill>
                  <a:srgbClr val="0070C0"/>
                </a:solidFill>
              </a:rPr>
              <a:t>tiêu</a:t>
            </a:r>
            <a:r>
              <a:rPr lang="en-US" sz="4400" dirty="0">
                <a:solidFill>
                  <a:srgbClr val="0070C0"/>
                </a:solidFill>
              </a:rPr>
              <a:t> </a:t>
            </a:r>
            <a:r>
              <a:rPr lang="en-US" sz="4400" dirty="0" err="1">
                <a:solidFill>
                  <a:srgbClr val="0070C0"/>
                </a:solidFill>
              </a:rPr>
              <a:t>chương</a:t>
            </a:r>
            <a:r>
              <a:rPr lang="en-US" sz="4400" dirty="0">
                <a:solidFill>
                  <a:srgbClr val="0070C0"/>
                </a:solidFill>
              </a:rPr>
              <a:t> 9</a:t>
            </a:r>
          </a:p>
        </p:txBody>
      </p:sp>
      <p:sp>
        <p:nvSpPr>
          <p:cNvPr id="9220"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8" name="Slide Number Placeholder 7"/>
          <p:cNvSpPr>
            <a:spLocks noGrp="1"/>
          </p:cNvSpPr>
          <p:nvPr>
            <p:ph type="sldNum" sz="quarter" idx="11"/>
          </p:nvPr>
        </p:nvSpPr>
        <p:spPr/>
        <p:txBody>
          <a:bodyPr/>
          <a:lstStyle/>
          <a:p>
            <a:pPr>
              <a:defRPr/>
            </a:pPr>
            <a:fld id="{630E6A95-094A-4E8D-8575-B7EA854693B8}" type="slidenum">
              <a:rPr lang="en-US" smtClean="0"/>
              <a:pPr>
                <a:defRPr/>
              </a:pPr>
              <a:t>2</a:t>
            </a:fld>
            <a:endParaRPr lang="en-US" dirty="0"/>
          </a:p>
        </p:txBody>
      </p:sp>
    </p:spTree>
    <p:extLst>
      <p:ext uri="{BB962C8B-B14F-4D97-AF65-F5344CB8AC3E}">
        <p14:creationId xmlns:p14="http://schemas.microsoft.com/office/powerpoint/2010/main" val="1449092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219">
                                            <p:txEl>
                                              <p:pRg st="1" end="1"/>
                                            </p:txEl>
                                          </p:spTgt>
                                        </p:tgtEl>
                                        <p:attrNameLst>
                                          <p:attrName>style.visibility</p:attrName>
                                        </p:attrNameLst>
                                      </p:cBhvr>
                                      <p:to>
                                        <p:strVal val="visible"/>
                                      </p:to>
                                    </p:set>
                                    <p:animEffect transition="in" filter="blinds(horizontal)">
                                      <p:cBhvr>
                                        <p:cTn id="10" dur="500"/>
                                        <p:tgtEl>
                                          <p:spTgt spid="9219">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219">
                                            <p:txEl>
                                              <p:pRg st="2" end="2"/>
                                            </p:txEl>
                                          </p:spTgt>
                                        </p:tgtEl>
                                        <p:attrNameLst>
                                          <p:attrName>style.visibility</p:attrName>
                                        </p:attrNameLst>
                                      </p:cBhvr>
                                      <p:to>
                                        <p:strVal val="visible"/>
                                      </p:to>
                                    </p:set>
                                    <p:animEffect transition="in" filter="blinds(horizontal)">
                                      <p:cBhvr>
                                        <p:cTn id="13" dur="500"/>
                                        <p:tgtEl>
                                          <p:spTgt spid="9219">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9219">
                                            <p:txEl>
                                              <p:pRg st="3" end="3"/>
                                            </p:txEl>
                                          </p:spTgt>
                                        </p:tgtEl>
                                        <p:attrNameLst>
                                          <p:attrName>style.visibility</p:attrName>
                                        </p:attrNameLst>
                                      </p:cBhvr>
                                      <p:to>
                                        <p:strVal val="visible"/>
                                      </p:to>
                                    </p:set>
                                    <p:animEffect transition="in" filter="blinds(horizontal)">
                                      <p:cBhvr>
                                        <p:cTn id="16" dur="500"/>
                                        <p:tgtEl>
                                          <p:spTgt spid="9219">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9219">
                                            <p:txEl>
                                              <p:pRg st="4" end="4"/>
                                            </p:txEl>
                                          </p:spTgt>
                                        </p:tgtEl>
                                        <p:attrNameLst>
                                          <p:attrName>style.visibility</p:attrName>
                                        </p:attrNameLst>
                                      </p:cBhvr>
                                      <p:to>
                                        <p:strVal val="visible"/>
                                      </p:to>
                                    </p:set>
                                    <p:animEffect transition="in" filter="blinds(horizontal)">
                                      <p:cBhvr>
                                        <p:cTn id="19" dur="500"/>
                                        <p:tgtEl>
                                          <p:spTgt spid="92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8588375" y="6492875"/>
            <a:ext cx="555625" cy="365125"/>
          </a:xfrm>
          <a:prstGeom prst="rect">
            <a:avLst/>
          </a:prstGeom>
        </p:spPr>
        <p:txBody>
          <a:bodyPr/>
          <a:lstStyle/>
          <a:p>
            <a:pPr>
              <a:defRPr/>
            </a:pPr>
            <a:fld id="{E5A7A581-379D-4ED7-B5BC-E1CE1865ED13}" type="slidenum">
              <a:rPr lang="en-US" sz="1200" smtClean="0"/>
              <a:pPr>
                <a:defRPr/>
              </a:pPr>
              <a:t>3</a:t>
            </a:fld>
            <a:endParaRPr lang="en-US" sz="1200" dirty="0"/>
          </a:p>
        </p:txBody>
      </p:sp>
      <p:sp>
        <p:nvSpPr>
          <p:cNvPr id="6" name="Rectangle 2"/>
          <p:cNvSpPr>
            <a:spLocks noGrp="1" noChangeArrowheads="1"/>
          </p:cNvSpPr>
          <p:nvPr>
            <p:ph type="title"/>
          </p:nvPr>
        </p:nvSpPr>
        <p:spPr>
          <a:xfrm>
            <a:off x="0" y="304800"/>
            <a:ext cx="9144000" cy="685800"/>
          </a:xfrm>
        </p:spPr>
        <p:txBody>
          <a:bodyPr>
            <a:noAutofit/>
          </a:bodyPr>
          <a:lstStyle/>
          <a:p>
            <a:pPr algn="ctr"/>
            <a:r>
              <a:rPr lang="en-US" sz="4400" dirty="0" err="1"/>
              <a:t>Nhắc</a:t>
            </a:r>
            <a:r>
              <a:rPr lang="en-US" sz="4400" dirty="0"/>
              <a:t> </a:t>
            </a:r>
            <a:r>
              <a:rPr lang="en-US" sz="4400" dirty="0" err="1"/>
              <a:t>lại</a:t>
            </a:r>
            <a:r>
              <a:rPr lang="en-US" sz="4400" dirty="0"/>
              <a:t> </a:t>
            </a:r>
            <a:r>
              <a:rPr lang="en-US" sz="4400" dirty="0" err="1"/>
              <a:t>kiến</a:t>
            </a:r>
            <a:r>
              <a:rPr lang="en-US" sz="4400" dirty="0"/>
              <a:t> </a:t>
            </a:r>
            <a:r>
              <a:rPr lang="en-US" sz="4400" dirty="0" err="1"/>
              <a:t>thức</a:t>
            </a:r>
            <a:endParaRPr lang="en-US" sz="4400" dirty="0"/>
          </a:p>
        </p:txBody>
      </p:sp>
      <p:sp>
        <p:nvSpPr>
          <p:cNvPr id="9"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pic>
        <p:nvPicPr>
          <p:cNvPr id="17" name="Picture 16"/>
          <p:cNvPicPr>
            <a:picLocks noChangeAspect="1"/>
          </p:cNvPicPr>
          <p:nvPr/>
        </p:nvPicPr>
        <p:blipFill>
          <a:blip r:embed="rId2"/>
          <a:stretch>
            <a:fillRect/>
          </a:stretch>
        </p:blipFill>
        <p:spPr>
          <a:xfrm>
            <a:off x="457200" y="1219200"/>
            <a:ext cx="6553199" cy="2604654"/>
          </a:xfrm>
          <a:prstGeom prst="rect">
            <a:avLst/>
          </a:prstGeom>
        </p:spPr>
      </p:pic>
      <p:sp>
        <p:nvSpPr>
          <p:cNvPr id="7" name="Freeform 6"/>
          <p:cNvSpPr/>
          <p:nvPr/>
        </p:nvSpPr>
        <p:spPr>
          <a:xfrm>
            <a:off x="3962400" y="3581400"/>
            <a:ext cx="4419600" cy="2667000"/>
          </a:xfrm>
          <a:custGeom>
            <a:avLst/>
            <a:gdLst>
              <a:gd name="connsiteX0" fmla="*/ 0 w 6018663"/>
              <a:gd name="connsiteY0" fmla="*/ 2197289 h 2197289"/>
              <a:gd name="connsiteX1" fmla="*/ 1637732 w 6018663"/>
              <a:gd name="connsiteY1" fmla="*/ 464024 h 2197289"/>
              <a:gd name="connsiteX2" fmla="*/ 4790365 w 6018663"/>
              <a:gd name="connsiteY2" fmla="*/ 245660 h 2197289"/>
              <a:gd name="connsiteX3" fmla="*/ 6018663 w 6018663"/>
              <a:gd name="connsiteY3" fmla="*/ 0 h 2197289"/>
            </a:gdLst>
            <a:ahLst/>
            <a:cxnLst>
              <a:cxn ang="0">
                <a:pos x="connsiteX0" y="connsiteY0"/>
              </a:cxn>
              <a:cxn ang="0">
                <a:pos x="connsiteX1" y="connsiteY1"/>
              </a:cxn>
              <a:cxn ang="0">
                <a:pos x="connsiteX2" y="connsiteY2"/>
              </a:cxn>
              <a:cxn ang="0">
                <a:pos x="connsiteX3" y="connsiteY3"/>
              </a:cxn>
            </a:cxnLst>
            <a:rect l="l" t="t" r="r" b="b"/>
            <a:pathLst>
              <a:path w="6018663" h="2197289">
                <a:moveTo>
                  <a:pt x="0" y="2197289"/>
                </a:moveTo>
                <a:cubicBezTo>
                  <a:pt x="419669" y="1493292"/>
                  <a:pt x="839338" y="789295"/>
                  <a:pt x="1637732" y="464024"/>
                </a:cubicBezTo>
                <a:cubicBezTo>
                  <a:pt x="2436126" y="138752"/>
                  <a:pt x="4060210" y="322997"/>
                  <a:pt x="4790365" y="245660"/>
                </a:cubicBezTo>
                <a:cubicBezTo>
                  <a:pt x="5520520" y="168323"/>
                  <a:pt x="5823045" y="29570"/>
                  <a:pt x="6018663" y="0"/>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3" name="Picture 2"/>
          <p:cNvPicPr>
            <a:picLocks noChangeAspect="1"/>
          </p:cNvPicPr>
          <p:nvPr/>
        </p:nvPicPr>
        <p:blipFill>
          <a:blip r:embed="rId3"/>
          <a:stretch>
            <a:fillRect/>
          </a:stretch>
        </p:blipFill>
        <p:spPr>
          <a:xfrm>
            <a:off x="5334000" y="4191000"/>
            <a:ext cx="3057525" cy="2057400"/>
          </a:xfrm>
          <a:prstGeom prst="rect">
            <a:avLst/>
          </a:prstGeom>
        </p:spPr>
      </p:pic>
    </p:spTree>
    <p:extLst>
      <p:ext uri="{BB962C8B-B14F-4D97-AF65-F5344CB8AC3E}">
        <p14:creationId xmlns:p14="http://schemas.microsoft.com/office/powerpoint/2010/main" val="1085409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par>
                          <p:cTn id="12" fill="hold">
                            <p:stCondLst>
                              <p:cond delay="0"/>
                            </p:stCondLst>
                            <p:childTnLst>
                              <p:par>
                                <p:cTn id="13" presetID="10" presetClass="entr" presetSubtype="0"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8E8456E-A572-40E3-A059-3868B6855A12}"/>
              </a:ext>
            </a:extLst>
          </p:cNvPr>
          <p:cNvPicPr>
            <a:picLocks noChangeAspect="1"/>
          </p:cNvPicPr>
          <p:nvPr/>
        </p:nvPicPr>
        <p:blipFill>
          <a:blip r:embed="rId3">
            <a:lum contrast="20000"/>
          </a:blip>
          <a:stretch>
            <a:fillRect/>
          </a:stretch>
        </p:blipFill>
        <p:spPr>
          <a:xfrm>
            <a:off x="0" y="1295400"/>
            <a:ext cx="9159240" cy="4242882"/>
          </a:xfrm>
          <a:prstGeom prst="rect">
            <a:avLst/>
          </a:prstGeom>
        </p:spPr>
      </p:pic>
      <p:sp>
        <p:nvSpPr>
          <p:cNvPr id="4" name="Slide Number Placeholder 3"/>
          <p:cNvSpPr>
            <a:spLocks noGrp="1"/>
          </p:cNvSpPr>
          <p:nvPr>
            <p:ph type="sldNum" sz="quarter" idx="4294967295"/>
          </p:nvPr>
        </p:nvSpPr>
        <p:spPr>
          <a:xfrm>
            <a:off x="8588375" y="6492875"/>
            <a:ext cx="555625" cy="365125"/>
          </a:xfrm>
          <a:prstGeom prst="rect">
            <a:avLst/>
          </a:prstGeom>
        </p:spPr>
        <p:txBody>
          <a:bodyPr/>
          <a:lstStyle/>
          <a:p>
            <a:pPr>
              <a:defRPr/>
            </a:pPr>
            <a:fld id="{E5A7A581-379D-4ED7-B5BC-E1CE1865ED13}" type="slidenum">
              <a:rPr lang="en-US" smtClean="0"/>
              <a:pPr>
                <a:defRPr/>
              </a:pPr>
              <a:t>4</a:t>
            </a:fld>
            <a:endParaRPr lang="en-US" dirty="0"/>
          </a:p>
        </p:txBody>
      </p:sp>
      <p:sp>
        <p:nvSpPr>
          <p:cNvPr id="6" name="Rectangle 2"/>
          <p:cNvSpPr>
            <a:spLocks noGrp="1" noChangeArrowheads="1"/>
          </p:cNvSpPr>
          <p:nvPr>
            <p:ph type="title"/>
          </p:nvPr>
        </p:nvSpPr>
        <p:spPr>
          <a:xfrm>
            <a:off x="457200" y="228600"/>
            <a:ext cx="8077200" cy="685800"/>
          </a:xfrm>
        </p:spPr>
        <p:txBody>
          <a:bodyPr>
            <a:noAutofit/>
          </a:bodyPr>
          <a:lstStyle/>
          <a:p>
            <a:pPr algn="ctr"/>
            <a:r>
              <a:rPr lang="en-US" sz="3600" dirty="0" err="1">
                <a:solidFill>
                  <a:schemeClr val="bg1">
                    <a:lumMod val="65000"/>
                  </a:schemeClr>
                </a:solidFill>
              </a:rPr>
              <a:t>Khung</a:t>
            </a:r>
            <a:r>
              <a:rPr lang="en-US" sz="3600" dirty="0">
                <a:solidFill>
                  <a:schemeClr val="bg1">
                    <a:lumMod val="65000"/>
                  </a:schemeClr>
                </a:solidFill>
              </a:rPr>
              <a:t> quản lý </a:t>
            </a:r>
            <a:r>
              <a:rPr lang="en-US" sz="3600" dirty="0" err="1">
                <a:solidFill>
                  <a:schemeClr val="bg1">
                    <a:lumMod val="65000"/>
                  </a:schemeClr>
                </a:solidFill>
              </a:rPr>
              <a:t>dự</a:t>
            </a:r>
            <a:r>
              <a:rPr lang="en-US" sz="3600" dirty="0">
                <a:solidFill>
                  <a:schemeClr val="bg1">
                    <a:lumMod val="65000"/>
                  </a:schemeClr>
                </a:solidFill>
              </a:rPr>
              <a:t> </a:t>
            </a:r>
            <a:r>
              <a:rPr lang="en-US" sz="3600" dirty="0" err="1">
                <a:solidFill>
                  <a:schemeClr val="bg1">
                    <a:lumMod val="65000"/>
                  </a:schemeClr>
                </a:solidFill>
              </a:rPr>
              <a:t>án</a:t>
            </a:r>
            <a:endParaRPr lang="en-US" sz="3600" dirty="0">
              <a:solidFill>
                <a:schemeClr val="bg1">
                  <a:lumMod val="65000"/>
                </a:schemeClr>
              </a:solidFill>
            </a:endParaRPr>
          </a:p>
        </p:txBody>
      </p:sp>
      <p:sp>
        <p:nvSpPr>
          <p:cNvPr id="2" name="Rectangle 1"/>
          <p:cNvSpPr/>
          <p:nvPr/>
        </p:nvSpPr>
        <p:spPr>
          <a:xfrm>
            <a:off x="4951308" y="6214646"/>
            <a:ext cx="2440092" cy="338554"/>
          </a:xfrm>
          <a:prstGeom prst="rect">
            <a:avLst/>
          </a:prstGeom>
        </p:spPr>
        <p:txBody>
          <a:bodyPr wrap="none">
            <a:spAutoFit/>
          </a:bodyPr>
          <a:lstStyle/>
          <a:p>
            <a:r>
              <a:rPr lang="vi-VN" sz="1600" dirty="0"/>
              <a:t>Nguồn: </a:t>
            </a:r>
            <a:r>
              <a:rPr lang="vi-VN" sz="1600"/>
              <a:t>Schwalbe (20</a:t>
            </a:r>
            <a:r>
              <a:rPr lang="en-US" sz="1600"/>
              <a:t>19</a:t>
            </a:r>
            <a:r>
              <a:rPr lang="vi-VN" sz="1600"/>
              <a:t>)</a:t>
            </a:r>
            <a:endParaRPr lang="vi-VN" sz="1600" dirty="0"/>
          </a:p>
        </p:txBody>
      </p:sp>
      <p:sp>
        <p:nvSpPr>
          <p:cNvPr id="8" name="Rounded Rectangle 7"/>
          <p:cNvSpPr/>
          <p:nvPr/>
        </p:nvSpPr>
        <p:spPr>
          <a:xfrm>
            <a:off x="3008376" y="4346447"/>
            <a:ext cx="990600" cy="670561"/>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887533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p:cNvSpPr txBox="1">
            <a:spLocks/>
          </p:cNvSpPr>
          <p:nvPr/>
        </p:nvSpPr>
        <p:spPr>
          <a:xfrm>
            <a:off x="0" y="6492875"/>
            <a:ext cx="2362200"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a:lstStyle>
          <a:p>
            <a:pPr algn="l"/>
            <a:r>
              <a:rPr lang="en-US" sz="1200" dirty="0"/>
              <a:t>Quản </a:t>
            </a:r>
            <a:r>
              <a:rPr lang="en-US" sz="1200" dirty="0" err="1"/>
              <a:t>trị</a:t>
            </a:r>
            <a:r>
              <a:rPr lang="en-US" sz="1200" dirty="0"/>
              <a:t> </a:t>
            </a:r>
            <a:r>
              <a:rPr lang="en-US" sz="1200" dirty="0" err="1"/>
              <a:t>dự</a:t>
            </a:r>
            <a:r>
              <a:rPr lang="en-US" sz="1200" dirty="0"/>
              <a:t> </a:t>
            </a:r>
            <a:r>
              <a:rPr lang="en-US" sz="1200" dirty="0" err="1"/>
              <a:t>án</a:t>
            </a:r>
            <a:r>
              <a:rPr lang="en-US" sz="1200" dirty="0"/>
              <a:t> HTTT</a:t>
            </a:r>
          </a:p>
        </p:txBody>
      </p:sp>
      <p:sp>
        <p:nvSpPr>
          <p:cNvPr id="9" name="Rectangle 2"/>
          <p:cNvSpPr>
            <a:spLocks noGrp="1" noChangeArrowheads="1"/>
          </p:cNvSpPr>
          <p:nvPr>
            <p:ph type="ctrTitle"/>
          </p:nvPr>
        </p:nvSpPr>
        <p:spPr>
          <a:xfrm>
            <a:off x="0" y="1600200"/>
            <a:ext cx="9144000" cy="1349375"/>
          </a:xfrm>
        </p:spPr>
        <p:txBody>
          <a:bodyPr>
            <a:noAutofit/>
          </a:bodyPr>
          <a:lstStyle/>
          <a:p>
            <a:pPr algn="ctr" eaLnBrk="1" fontAlgn="auto" hangingPunct="1">
              <a:spcAft>
                <a:spcPts val="0"/>
              </a:spcAft>
              <a:defRPr/>
            </a:pPr>
            <a:br>
              <a:rPr lang="vi-VN" sz="4400" dirty="0">
                <a:solidFill>
                  <a:srgbClr val="0070C0"/>
                </a:solidFill>
                <a:effectLst>
                  <a:outerShdw blurRad="38100" dist="38100" dir="2700000" algn="tl">
                    <a:srgbClr val="FFFFFF"/>
                  </a:outerShdw>
                </a:effectLst>
              </a:rPr>
            </a:br>
            <a:r>
              <a:rPr lang="vi-VN" sz="4400" dirty="0">
                <a:solidFill>
                  <a:srgbClr val="0070C0"/>
                </a:solidFill>
                <a:effectLst>
                  <a:outerShdw blurRad="38100" dist="38100" dir="2700000" algn="tl">
                    <a:srgbClr val="FFFFFF"/>
                  </a:outerShdw>
                </a:effectLst>
              </a:rPr>
              <a:t>QUẢN LÝ RỦI RO DỰ ÁN</a:t>
            </a:r>
            <a:endParaRPr sz="4400" dirty="0">
              <a:solidFill>
                <a:srgbClr val="0070C0"/>
              </a:solidFill>
              <a:effectLst>
                <a:outerShdw blurRad="38100" dist="38100" dir="2700000" algn="tl">
                  <a:srgbClr val="FFFFFF"/>
                </a:outerShdw>
              </a:effectLst>
            </a:endParaRPr>
          </a:p>
        </p:txBody>
      </p:sp>
      <p:sp>
        <p:nvSpPr>
          <p:cNvPr id="11" name="Rectangle 3"/>
          <p:cNvSpPr>
            <a:spLocks noChangeArrowheads="1"/>
          </p:cNvSpPr>
          <p:nvPr/>
        </p:nvSpPr>
        <p:spPr bwMode="auto">
          <a:xfrm>
            <a:off x="0" y="3048000"/>
            <a:ext cx="9144000" cy="914400"/>
          </a:xfrm>
          <a:prstGeom prst="rect">
            <a:avLst/>
          </a:prstGeom>
          <a:noFill/>
          <a:ln w="9525">
            <a:noFill/>
            <a:miter lim="800000"/>
            <a:headEnd/>
            <a:tailEnd/>
          </a:ln>
          <a:effectLst/>
        </p:spPr>
        <p:txBody>
          <a:bodyPr/>
          <a:lstStyle/>
          <a:p>
            <a:pPr algn="ctr">
              <a:defRPr/>
            </a:pPr>
            <a:r>
              <a:rPr lang="vi-VN" sz="2400" spc="1000" dirty="0">
                <a:latin typeface="Arial Rounded MT Bold" pitchFamily="34" charset="0"/>
              </a:rPr>
              <a:t>Project Risk Management</a:t>
            </a:r>
            <a:endParaRPr lang="en-US" sz="2400" b="1" spc="1000" dirty="0">
              <a:solidFill>
                <a:schemeClr val="tx2"/>
              </a:solidFill>
              <a:latin typeface="Arial Rounded MT Bold" pitchFamily="34" charset="0"/>
              <a:ea typeface="+mj-ea"/>
              <a:cs typeface="+mj-cs"/>
            </a:endParaRPr>
          </a:p>
        </p:txBody>
      </p:sp>
      <p:pic>
        <p:nvPicPr>
          <p:cNvPr id="12" name="Picture 11"/>
          <p:cNvPicPr>
            <a:picLocks noChangeAspect="1"/>
          </p:cNvPicPr>
          <p:nvPr/>
        </p:nvPicPr>
        <p:blipFill>
          <a:blip r:embed="rId2"/>
          <a:stretch>
            <a:fillRect/>
          </a:stretch>
        </p:blipFill>
        <p:spPr>
          <a:xfrm>
            <a:off x="6324600" y="4114800"/>
            <a:ext cx="1895475" cy="2309786"/>
          </a:xfrm>
          <a:prstGeom prst="rect">
            <a:avLst/>
          </a:prstGeom>
        </p:spPr>
      </p:pic>
    </p:spTree>
    <p:extLst>
      <p:ext uri="{BB962C8B-B14F-4D97-AF65-F5344CB8AC3E}">
        <p14:creationId xmlns:p14="http://schemas.microsoft.com/office/powerpoint/2010/main" val="1367254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a:spLocks noGrp="1" noChangeArrowheads="1"/>
          </p:cNvSpPr>
          <p:nvPr>
            <p:ph type="title"/>
          </p:nvPr>
        </p:nvSpPr>
        <p:spPr>
          <a:xfrm>
            <a:off x="685800" y="76200"/>
            <a:ext cx="7772400" cy="900113"/>
          </a:xfrm>
        </p:spPr>
        <p:txBody>
          <a:bodyPr>
            <a:normAutofit/>
          </a:bodyPr>
          <a:lstStyle/>
          <a:p>
            <a:pPr algn="ctr">
              <a:defRPr/>
            </a:pPr>
            <a:r>
              <a:rPr lang="en-US" sz="3600" spc="400" dirty="0">
                <a:effectLst>
                  <a:outerShdw blurRad="38100" dist="38100" dir="2700000" algn="tl">
                    <a:srgbClr val="000000">
                      <a:alpha val="43137"/>
                    </a:srgbClr>
                  </a:outerShdw>
                </a:effectLst>
              </a:rPr>
              <a:t>QUẢN LÝ RỦI RO DỰ ÁN</a:t>
            </a:r>
          </a:p>
        </p:txBody>
      </p:sp>
      <p:grpSp>
        <p:nvGrpSpPr>
          <p:cNvPr id="36" name="Group 42"/>
          <p:cNvGrpSpPr>
            <a:grpSpLocks/>
          </p:cNvGrpSpPr>
          <p:nvPr/>
        </p:nvGrpSpPr>
        <p:grpSpPr bwMode="auto">
          <a:xfrm>
            <a:off x="1142999" y="990600"/>
            <a:ext cx="6952029" cy="762000"/>
            <a:chOff x="1296" y="1824"/>
            <a:chExt cx="2976" cy="432"/>
          </a:xfrm>
        </p:grpSpPr>
        <p:sp>
          <p:nvSpPr>
            <p:cNvPr id="41" name="AutoShape 43"/>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42" name="AutoShape 44"/>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43" name="Text Box 45"/>
            <p:cNvSpPr txBox="1">
              <a:spLocks noChangeArrowheads="1"/>
            </p:cNvSpPr>
            <p:nvPr/>
          </p:nvSpPr>
          <p:spPr bwMode="gray">
            <a:xfrm>
              <a:off x="1776" y="1934"/>
              <a:ext cx="2431" cy="218"/>
            </a:xfrm>
            <a:prstGeom prst="rect">
              <a:avLst/>
            </a:prstGeom>
            <a:noFill/>
            <a:ln w="9525" algn="ctr">
              <a:noFill/>
              <a:miter lim="800000"/>
              <a:headEnd/>
              <a:tailEnd/>
            </a:ln>
            <a:effectLst/>
          </p:spPr>
          <p:txBody>
            <a:bodyPr wrap="square">
              <a:spAutoFit/>
            </a:bodyPr>
            <a:lstStyle/>
            <a:p>
              <a:pPr>
                <a:defRPr/>
              </a:pPr>
              <a:r>
                <a:rPr lang="vi-VN" sz="2400" b="1" dirty="0">
                  <a:solidFill>
                    <a:schemeClr val="bg1"/>
                  </a:solidFill>
                  <a:effectLst>
                    <a:outerShdw blurRad="38100" dist="38100" dir="2700000" algn="tl">
                      <a:srgbClr val="000000">
                        <a:alpha val="43137"/>
                      </a:srgbClr>
                    </a:outerShdw>
                  </a:effectLst>
                  <a:latin typeface="Arial" charset="0"/>
                  <a:cs typeface="+mn-cs"/>
                </a:rPr>
                <a:t>TỔNG QUAN</a:t>
              </a:r>
              <a:endParaRPr lang="en-US" sz="2400" b="1" dirty="0">
                <a:solidFill>
                  <a:schemeClr val="bg1"/>
                </a:solidFill>
                <a:effectLst>
                  <a:outerShdw blurRad="38100" dist="38100" dir="2700000" algn="tl">
                    <a:srgbClr val="000000">
                      <a:alpha val="43137"/>
                    </a:srgbClr>
                  </a:outerShdw>
                </a:effectLst>
                <a:latin typeface="Arial" charset="0"/>
                <a:cs typeface="+mn-cs"/>
              </a:endParaRPr>
            </a:p>
          </p:txBody>
        </p:sp>
        <p:sp>
          <p:nvSpPr>
            <p:cNvPr id="44" name="Text Box 46"/>
            <p:cNvSpPr txBox="1">
              <a:spLocks noChangeArrowheads="1"/>
            </p:cNvSpPr>
            <p:nvPr/>
          </p:nvSpPr>
          <p:spPr bwMode="gray">
            <a:xfrm>
              <a:off x="1421" y="1886"/>
              <a:ext cx="165" cy="297"/>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0</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grpSp>
        <p:nvGrpSpPr>
          <p:cNvPr id="45" name="Group 52"/>
          <p:cNvGrpSpPr>
            <a:grpSpLocks/>
          </p:cNvGrpSpPr>
          <p:nvPr/>
        </p:nvGrpSpPr>
        <p:grpSpPr bwMode="auto">
          <a:xfrm>
            <a:off x="1143000" y="1779587"/>
            <a:ext cx="7848600" cy="762000"/>
            <a:chOff x="1296" y="1824"/>
            <a:chExt cx="3360" cy="432"/>
          </a:xfrm>
        </p:grpSpPr>
        <p:sp>
          <p:nvSpPr>
            <p:cNvPr id="46" name="AutoShape 53"/>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47" name="AutoShape 54"/>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48" name="Text Box 55"/>
            <p:cNvSpPr txBox="1">
              <a:spLocks noChangeArrowheads="1"/>
            </p:cNvSpPr>
            <p:nvPr/>
          </p:nvSpPr>
          <p:spPr bwMode="gray">
            <a:xfrm>
              <a:off x="1776" y="1934"/>
              <a:ext cx="2880" cy="262"/>
            </a:xfrm>
            <a:prstGeom prst="rect">
              <a:avLst/>
            </a:prstGeom>
            <a:noFill/>
            <a:ln w="9525" algn="ctr">
              <a:noFill/>
              <a:miter lim="800000"/>
              <a:headEnd/>
              <a:tailEnd/>
            </a:ln>
            <a:effectLst/>
          </p:spPr>
          <p:txBody>
            <a:bodyPr>
              <a:spAutoFit/>
            </a:bodyPr>
            <a:lstStyle/>
            <a:p>
              <a:pPr>
                <a:defRPr/>
              </a:pPr>
              <a:r>
                <a:rPr lang="en-US" sz="2400" b="1" dirty="0">
                  <a:solidFill>
                    <a:schemeClr val="bg1"/>
                  </a:solidFill>
                  <a:effectLst>
                    <a:outerShdw blurRad="38100" dist="38100" dir="2700000" algn="tl">
                      <a:srgbClr val="000000">
                        <a:alpha val="43137"/>
                      </a:srgbClr>
                    </a:outerShdw>
                  </a:effectLst>
                  <a:cs typeface="Arial" charset="0"/>
                </a:rPr>
                <a:t>KẾ HOẠCH QUẢN LÝ RỦI RO</a:t>
              </a:r>
            </a:p>
          </p:txBody>
        </p:sp>
        <p:sp>
          <p:nvSpPr>
            <p:cNvPr id="49" name="Text Box 56"/>
            <p:cNvSpPr txBox="1">
              <a:spLocks noChangeArrowheads="1"/>
            </p:cNvSpPr>
            <p:nvPr/>
          </p:nvSpPr>
          <p:spPr bwMode="gray">
            <a:xfrm>
              <a:off x="1421" y="1886"/>
              <a:ext cx="165" cy="297"/>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1</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grpSp>
        <p:nvGrpSpPr>
          <p:cNvPr id="50" name="Group 57"/>
          <p:cNvGrpSpPr>
            <a:grpSpLocks/>
          </p:cNvGrpSpPr>
          <p:nvPr/>
        </p:nvGrpSpPr>
        <p:grpSpPr bwMode="auto">
          <a:xfrm>
            <a:off x="1173162" y="2541587"/>
            <a:ext cx="7281407" cy="762000"/>
            <a:chOff x="1296" y="1824"/>
            <a:chExt cx="3117" cy="432"/>
          </a:xfrm>
        </p:grpSpPr>
        <p:sp>
          <p:nvSpPr>
            <p:cNvPr id="51" name="AutoShape 58"/>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52" name="AutoShape 59"/>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53" name="Text Box 60"/>
            <p:cNvSpPr txBox="1">
              <a:spLocks noChangeArrowheads="1"/>
            </p:cNvSpPr>
            <p:nvPr/>
          </p:nvSpPr>
          <p:spPr bwMode="gray">
            <a:xfrm>
              <a:off x="1776" y="1920"/>
              <a:ext cx="2637" cy="262"/>
            </a:xfrm>
            <a:prstGeom prst="rect">
              <a:avLst/>
            </a:prstGeom>
            <a:noFill/>
            <a:ln w="9525" algn="ctr">
              <a:noFill/>
              <a:miter lim="800000"/>
              <a:headEnd/>
              <a:tailEnd/>
            </a:ln>
            <a:effectLst/>
          </p:spPr>
          <p:txBody>
            <a:bodyPr wrap="square">
              <a:spAutoFit/>
            </a:bodyPr>
            <a:lstStyle/>
            <a:p>
              <a:pPr>
                <a:defRPr/>
              </a:pPr>
              <a:r>
                <a:rPr lang="en-US" sz="2400" b="1" dirty="0">
                  <a:solidFill>
                    <a:schemeClr val="bg1"/>
                  </a:solidFill>
                  <a:effectLst>
                    <a:outerShdw blurRad="38100" dist="38100" dir="2700000" algn="tl">
                      <a:srgbClr val="000000">
                        <a:alpha val="43137"/>
                      </a:srgbClr>
                    </a:outerShdw>
                  </a:effectLst>
                  <a:latin typeface="Arial" charset="0"/>
                  <a:cs typeface="Arial" charset="0"/>
                </a:rPr>
                <a:t>XÁC ĐỊNH </a:t>
              </a:r>
              <a:r>
                <a:rPr lang="en-US" sz="2400" b="1" dirty="0">
                  <a:solidFill>
                    <a:schemeClr val="bg1"/>
                  </a:solidFill>
                  <a:effectLst>
                    <a:outerShdw blurRad="38100" dist="38100" dir="2700000" algn="tl">
                      <a:srgbClr val="000000">
                        <a:alpha val="43137"/>
                      </a:srgbClr>
                    </a:outerShdw>
                  </a:effectLst>
                  <a:cs typeface="Arial" charset="0"/>
                </a:rPr>
                <a:t>RỦI RO</a:t>
              </a:r>
            </a:p>
          </p:txBody>
        </p:sp>
        <p:sp>
          <p:nvSpPr>
            <p:cNvPr id="54" name="Text Box 61"/>
            <p:cNvSpPr txBox="1">
              <a:spLocks noChangeArrowheads="1"/>
            </p:cNvSpPr>
            <p:nvPr/>
          </p:nvSpPr>
          <p:spPr bwMode="gray">
            <a:xfrm>
              <a:off x="1421" y="1886"/>
              <a:ext cx="165" cy="297"/>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2</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grpSp>
        <p:nvGrpSpPr>
          <p:cNvPr id="23" name="Group 42"/>
          <p:cNvGrpSpPr>
            <a:grpSpLocks/>
          </p:cNvGrpSpPr>
          <p:nvPr/>
        </p:nvGrpSpPr>
        <p:grpSpPr bwMode="auto">
          <a:xfrm>
            <a:off x="1143000" y="3276600"/>
            <a:ext cx="7620134" cy="762000"/>
            <a:chOff x="1296" y="1824"/>
            <a:chExt cx="3262" cy="432"/>
          </a:xfrm>
        </p:grpSpPr>
        <p:sp>
          <p:nvSpPr>
            <p:cNvPr id="24" name="AutoShape 43"/>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25" name="AutoShape 44"/>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26" name="Text Box 45"/>
            <p:cNvSpPr txBox="1">
              <a:spLocks noChangeArrowheads="1"/>
            </p:cNvSpPr>
            <p:nvPr/>
          </p:nvSpPr>
          <p:spPr bwMode="gray">
            <a:xfrm>
              <a:off x="1776" y="1934"/>
              <a:ext cx="2782" cy="262"/>
            </a:xfrm>
            <a:prstGeom prst="rect">
              <a:avLst/>
            </a:prstGeom>
            <a:noFill/>
            <a:ln w="9525" algn="ctr">
              <a:noFill/>
              <a:miter lim="800000"/>
              <a:headEnd/>
              <a:tailEnd/>
            </a:ln>
            <a:effectLst/>
          </p:spPr>
          <p:txBody>
            <a:bodyPr wrap="square">
              <a:spAutoFit/>
            </a:bodyPr>
            <a:lstStyle/>
            <a:p>
              <a:pPr>
                <a:defRPr/>
              </a:pPr>
              <a:r>
                <a:rPr lang="en-US" sz="2400" b="1" dirty="0">
                  <a:solidFill>
                    <a:schemeClr val="bg1"/>
                  </a:solidFill>
                  <a:effectLst>
                    <a:outerShdw blurRad="38100" dist="38100" dir="2700000" algn="tl">
                      <a:srgbClr val="000000">
                        <a:alpha val="43137"/>
                      </a:srgbClr>
                    </a:outerShdw>
                  </a:effectLst>
                  <a:cs typeface="Arial" charset="0"/>
                </a:rPr>
                <a:t>PHÂN TÍCH RỦI RO (ĐỊNH TÍNH)</a:t>
              </a:r>
            </a:p>
          </p:txBody>
        </p:sp>
        <p:sp>
          <p:nvSpPr>
            <p:cNvPr id="27" name="Text Box 46"/>
            <p:cNvSpPr txBox="1">
              <a:spLocks noChangeArrowheads="1"/>
            </p:cNvSpPr>
            <p:nvPr/>
          </p:nvSpPr>
          <p:spPr bwMode="gray">
            <a:xfrm>
              <a:off x="1421" y="1886"/>
              <a:ext cx="165" cy="297"/>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3</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grpSp>
        <p:nvGrpSpPr>
          <p:cNvPr id="28" name="Group 52"/>
          <p:cNvGrpSpPr>
            <a:grpSpLocks/>
          </p:cNvGrpSpPr>
          <p:nvPr/>
        </p:nvGrpSpPr>
        <p:grpSpPr bwMode="auto">
          <a:xfrm>
            <a:off x="1143001" y="4065587"/>
            <a:ext cx="7848600" cy="762000"/>
            <a:chOff x="1296" y="1824"/>
            <a:chExt cx="3360" cy="432"/>
          </a:xfrm>
        </p:grpSpPr>
        <p:sp>
          <p:nvSpPr>
            <p:cNvPr id="29" name="AutoShape 53"/>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30" name="AutoShape 54"/>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31" name="Text Box 55"/>
            <p:cNvSpPr txBox="1">
              <a:spLocks noChangeArrowheads="1"/>
            </p:cNvSpPr>
            <p:nvPr/>
          </p:nvSpPr>
          <p:spPr bwMode="gray">
            <a:xfrm>
              <a:off x="1776" y="1934"/>
              <a:ext cx="2880" cy="262"/>
            </a:xfrm>
            <a:prstGeom prst="rect">
              <a:avLst/>
            </a:prstGeom>
            <a:noFill/>
            <a:ln w="9525" algn="ctr">
              <a:noFill/>
              <a:miter lim="800000"/>
              <a:headEnd/>
              <a:tailEnd/>
            </a:ln>
            <a:effectLst/>
          </p:spPr>
          <p:txBody>
            <a:bodyPr>
              <a:spAutoFit/>
            </a:bodyPr>
            <a:lstStyle/>
            <a:p>
              <a:pPr>
                <a:defRPr/>
              </a:pPr>
              <a:r>
                <a:rPr lang="en-US" sz="2400" b="1" dirty="0">
                  <a:solidFill>
                    <a:schemeClr val="bg1"/>
                  </a:solidFill>
                  <a:effectLst>
                    <a:outerShdw blurRad="38100" dist="38100" dir="2700000" algn="tl">
                      <a:srgbClr val="000000">
                        <a:alpha val="43137"/>
                      </a:srgbClr>
                    </a:outerShdw>
                  </a:effectLst>
                  <a:cs typeface="Arial" charset="0"/>
                </a:rPr>
                <a:t>PHÂN TÍCH RỦI RO (ĐỊNH LƯỢNG)</a:t>
              </a:r>
            </a:p>
          </p:txBody>
        </p:sp>
        <p:sp>
          <p:nvSpPr>
            <p:cNvPr id="32" name="Text Box 56"/>
            <p:cNvSpPr txBox="1">
              <a:spLocks noChangeArrowheads="1"/>
            </p:cNvSpPr>
            <p:nvPr/>
          </p:nvSpPr>
          <p:spPr bwMode="gray">
            <a:xfrm>
              <a:off x="1421" y="1886"/>
              <a:ext cx="165" cy="297"/>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4</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grpSp>
        <p:nvGrpSpPr>
          <p:cNvPr id="33" name="Group 57"/>
          <p:cNvGrpSpPr>
            <a:grpSpLocks/>
          </p:cNvGrpSpPr>
          <p:nvPr/>
        </p:nvGrpSpPr>
        <p:grpSpPr bwMode="auto">
          <a:xfrm>
            <a:off x="1173163" y="4827587"/>
            <a:ext cx="7281407" cy="762000"/>
            <a:chOff x="1296" y="1824"/>
            <a:chExt cx="3117" cy="432"/>
          </a:xfrm>
        </p:grpSpPr>
        <p:sp>
          <p:nvSpPr>
            <p:cNvPr id="34" name="AutoShape 58"/>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37" name="AutoShape 59"/>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38" name="Text Box 60"/>
            <p:cNvSpPr txBox="1">
              <a:spLocks noChangeArrowheads="1"/>
            </p:cNvSpPr>
            <p:nvPr/>
          </p:nvSpPr>
          <p:spPr bwMode="gray">
            <a:xfrm>
              <a:off x="1776" y="1920"/>
              <a:ext cx="2637" cy="262"/>
            </a:xfrm>
            <a:prstGeom prst="rect">
              <a:avLst/>
            </a:prstGeom>
            <a:noFill/>
            <a:ln w="9525" algn="ctr">
              <a:noFill/>
              <a:miter lim="800000"/>
              <a:headEnd/>
              <a:tailEnd/>
            </a:ln>
            <a:effectLst/>
          </p:spPr>
          <p:txBody>
            <a:bodyPr wrap="square">
              <a:spAutoFit/>
            </a:bodyPr>
            <a:lstStyle/>
            <a:p>
              <a:pPr>
                <a:defRPr/>
              </a:pPr>
              <a:r>
                <a:rPr lang="en-US" sz="2400" b="1" dirty="0">
                  <a:solidFill>
                    <a:schemeClr val="bg1"/>
                  </a:solidFill>
                  <a:effectLst>
                    <a:outerShdw blurRad="38100" dist="38100" dir="2700000" algn="tl">
                      <a:srgbClr val="000000">
                        <a:alpha val="43137"/>
                      </a:srgbClr>
                    </a:outerShdw>
                  </a:effectLst>
                  <a:latin typeface="Arial" charset="0"/>
                  <a:cs typeface="Arial" charset="0"/>
                </a:rPr>
                <a:t>KẾ HOẠCH ĐỐI PHÓ RỦI RO</a:t>
              </a:r>
            </a:p>
          </p:txBody>
        </p:sp>
        <p:sp>
          <p:nvSpPr>
            <p:cNvPr id="39" name="Text Box 61"/>
            <p:cNvSpPr txBox="1">
              <a:spLocks noChangeArrowheads="1"/>
            </p:cNvSpPr>
            <p:nvPr/>
          </p:nvSpPr>
          <p:spPr bwMode="gray">
            <a:xfrm>
              <a:off x="1421" y="1886"/>
              <a:ext cx="165" cy="297"/>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5</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grpSp>
        <p:nvGrpSpPr>
          <p:cNvPr id="55" name="Group 57"/>
          <p:cNvGrpSpPr>
            <a:grpSpLocks/>
          </p:cNvGrpSpPr>
          <p:nvPr/>
        </p:nvGrpSpPr>
        <p:grpSpPr bwMode="auto">
          <a:xfrm>
            <a:off x="1176793" y="5562600"/>
            <a:ext cx="7281407" cy="762000"/>
            <a:chOff x="1296" y="1824"/>
            <a:chExt cx="3117" cy="432"/>
          </a:xfrm>
        </p:grpSpPr>
        <p:sp>
          <p:nvSpPr>
            <p:cNvPr id="56" name="AutoShape 58"/>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57" name="AutoShape 59"/>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58" name="Text Box 60"/>
            <p:cNvSpPr txBox="1">
              <a:spLocks noChangeArrowheads="1"/>
            </p:cNvSpPr>
            <p:nvPr/>
          </p:nvSpPr>
          <p:spPr bwMode="gray">
            <a:xfrm>
              <a:off x="1776" y="1920"/>
              <a:ext cx="2637" cy="262"/>
            </a:xfrm>
            <a:prstGeom prst="rect">
              <a:avLst/>
            </a:prstGeom>
            <a:noFill/>
            <a:ln w="9525" algn="ctr">
              <a:noFill/>
              <a:miter lim="800000"/>
              <a:headEnd/>
              <a:tailEnd/>
            </a:ln>
            <a:effectLst/>
          </p:spPr>
          <p:txBody>
            <a:bodyPr wrap="square">
              <a:spAutoFit/>
            </a:bodyPr>
            <a:lstStyle/>
            <a:p>
              <a:pPr>
                <a:defRPr/>
              </a:pPr>
              <a:r>
                <a:rPr lang="en-US" sz="2400" b="1" dirty="0">
                  <a:solidFill>
                    <a:schemeClr val="bg1"/>
                  </a:solidFill>
                  <a:effectLst>
                    <a:outerShdw blurRad="38100" dist="38100" dir="2700000" algn="tl">
                      <a:srgbClr val="000000">
                        <a:alpha val="43137"/>
                      </a:srgbClr>
                    </a:outerShdw>
                  </a:effectLst>
                  <a:latin typeface="Arial" charset="0"/>
                  <a:cs typeface="Arial" charset="0"/>
                </a:rPr>
                <a:t>KIỂM SOÁT RỦI RO</a:t>
              </a:r>
            </a:p>
          </p:txBody>
        </p:sp>
        <p:sp>
          <p:nvSpPr>
            <p:cNvPr id="59" name="Text Box 61"/>
            <p:cNvSpPr txBox="1">
              <a:spLocks noChangeArrowheads="1"/>
            </p:cNvSpPr>
            <p:nvPr/>
          </p:nvSpPr>
          <p:spPr bwMode="gray">
            <a:xfrm>
              <a:off x="1421" y="1886"/>
              <a:ext cx="165" cy="297"/>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6</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sp>
        <p:nvSpPr>
          <p:cNvPr id="60" name="Footer Placeholder 1"/>
          <p:cNvSpPr txBox="1">
            <a:spLocks/>
          </p:cNvSpPr>
          <p:nvPr/>
        </p:nvSpPr>
        <p:spPr>
          <a:xfrm>
            <a:off x="0" y="6492875"/>
            <a:ext cx="2362200"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a:lstStyle>
          <a:p>
            <a:pPr algn="l"/>
            <a:r>
              <a:rPr lang="en-US" sz="1200" dirty="0"/>
              <a:t>Quản </a:t>
            </a:r>
            <a:r>
              <a:rPr lang="en-US" sz="1200" dirty="0" err="1"/>
              <a:t>trị</a:t>
            </a:r>
            <a:r>
              <a:rPr lang="en-US" sz="1200" dirty="0"/>
              <a:t> </a:t>
            </a:r>
            <a:r>
              <a:rPr lang="en-US" sz="1200" dirty="0" err="1"/>
              <a:t>dự</a:t>
            </a:r>
            <a:r>
              <a:rPr lang="en-US" sz="1200" dirty="0"/>
              <a:t> </a:t>
            </a:r>
            <a:r>
              <a:rPr lang="en-US" sz="1200" dirty="0" err="1"/>
              <a:t>án</a:t>
            </a:r>
            <a:r>
              <a:rPr lang="en-US" sz="1200" dirty="0"/>
              <a:t> HTTT</a:t>
            </a:r>
          </a:p>
        </p:txBody>
      </p:sp>
    </p:spTree>
    <p:extLst>
      <p:ext uri="{BB962C8B-B14F-4D97-AF65-F5344CB8AC3E}">
        <p14:creationId xmlns:p14="http://schemas.microsoft.com/office/powerpoint/2010/main" val="1741507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250"/>
                                        <p:tgtEl>
                                          <p:spTgt spid="36"/>
                                        </p:tgtEl>
                                      </p:cBhvr>
                                    </p:animEffect>
                                    <p:anim calcmode="lin" valueType="num">
                                      <p:cBhvr>
                                        <p:cTn id="8" dur="250" fill="hold"/>
                                        <p:tgtEl>
                                          <p:spTgt spid="36"/>
                                        </p:tgtEl>
                                        <p:attrNameLst>
                                          <p:attrName>ppt_x</p:attrName>
                                        </p:attrNameLst>
                                      </p:cBhvr>
                                      <p:tavLst>
                                        <p:tav tm="0">
                                          <p:val>
                                            <p:strVal val="#ppt_x"/>
                                          </p:val>
                                        </p:tav>
                                        <p:tav tm="100000">
                                          <p:val>
                                            <p:strVal val="#ppt_x"/>
                                          </p:val>
                                        </p:tav>
                                      </p:tavLst>
                                    </p:anim>
                                    <p:anim calcmode="lin" valueType="num">
                                      <p:cBhvr>
                                        <p:cTn id="9" dur="250" fill="hold"/>
                                        <p:tgtEl>
                                          <p:spTgt spid="36"/>
                                        </p:tgtEl>
                                        <p:attrNameLst>
                                          <p:attrName>ppt_y</p:attrName>
                                        </p:attrNameLst>
                                      </p:cBhvr>
                                      <p:tavLst>
                                        <p:tav tm="0">
                                          <p:val>
                                            <p:strVal val="#ppt_y+.1"/>
                                          </p:val>
                                        </p:tav>
                                        <p:tav tm="100000">
                                          <p:val>
                                            <p:strVal val="#ppt_y"/>
                                          </p:val>
                                        </p:tav>
                                      </p:tavLst>
                                    </p:anim>
                                  </p:childTnLst>
                                </p:cTn>
                              </p:par>
                            </p:childTnLst>
                          </p:cTn>
                        </p:par>
                        <p:par>
                          <p:cTn id="10" fill="hold">
                            <p:stCondLst>
                              <p:cond delay="250"/>
                            </p:stCondLst>
                            <p:childTnLst>
                              <p:par>
                                <p:cTn id="11" presetID="42" presetClass="entr" presetSubtype="0" fill="hold" nodeType="after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anim calcmode="lin" valueType="num">
                                      <p:cBhvr>
                                        <p:cTn id="14" dur="500" fill="hold"/>
                                        <p:tgtEl>
                                          <p:spTgt spid="45"/>
                                        </p:tgtEl>
                                        <p:attrNameLst>
                                          <p:attrName>ppt_x</p:attrName>
                                        </p:attrNameLst>
                                      </p:cBhvr>
                                      <p:tavLst>
                                        <p:tav tm="0">
                                          <p:val>
                                            <p:strVal val="#ppt_x"/>
                                          </p:val>
                                        </p:tav>
                                        <p:tav tm="100000">
                                          <p:val>
                                            <p:strVal val="#ppt_x"/>
                                          </p:val>
                                        </p:tav>
                                      </p:tavLst>
                                    </p:anim>
                                    <p:anim calcmode="lin" valueType="num">
                                      <p:cBhvr>
                                        <p:cTn id="15" dur="500" fill="hold"/>
                                        <p:tgtEl>
                                          <p:spTgt spid="45"/>
                                        </p:tgtEl>
                                        <p:attrNameLst>
                                          <p:attrName>ppt_y</p:attrName>
                                        </p:attrNameLst>
                                      </p:cBhvr>
                                      <p:tavLst>
                                        <p:tav tm="0">
                                          <p:val>
                                            <p:strVal val="#ppt_y+.1"/>
                                          </p:val>
                                        </p:tav>
                                        <p:tav tm="100000">
                                          <p:val>
                                            <p:strVal val="#ppt_y"/>
                                          </p:val>
                                        </p:tav>
                                      </p:tavLst>
                                    </p:anim>
                                  </p:childTnLst>
                                </p:cTn>
                              </p:par>
                            </p:childTnLst>
                          </p:cTn>
                        </p:par>
                        <p:par>
                          <p:cTn id="16" fill="hold">
                            <p:stCondLst>
                              <p:cond delay="750"/>
                            </p:stCondLst>
                            <p:childTnLst>
                              <p:par>
                                <p:cTn id="17" presetID="42" presetClass="entr" presetSubtype="0" fill="hold" nodeType="after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250"/>
                                        <p:tgtEl>
                                          <p:spTgt spid="50"/>
                                        </p:tgtEl>
                                      </p:cBhvr>
                                    </p:animEffect>
                                    <p:anim calcmode="lin" valueType="num">
                                      <p:cBhvr>
                                        <p:cTn id="20" dur="250" fill="hold"/>
                                        <p:tgtEl>
                                          <p:spTgt spid="50"/>
                                        </p:tgtEl>
                                        <p:attrNameLst>
                                          <p:attrName>ppt_x</p:attrName>
                                        </p:attrNameLst>
                                      </p:cBhvr>
                                      <p:tavLst>
                                        <p:tav tm="0">
                                          <p:val>
                                            <p:strVal val="#ppt_x"/>
                                          </p:val>
                                        </p:tav>
                                        <p:tav tm="100000">
                                          <p:val>
                                            <p:strVal val="#ppt_x"/>
                                          </p:val>
                                        </p:tav>
                                      </p:tavLst>
                                    </p:anim>
                                    <p:anim calcmode="lin" valueType="num">
                                      <p:cBhvr>
                                        <p:cTn id="21" dur="250" fill="hold"/>
                                        <p:tgtEl>
                                          <p:spTgt spid="50"/>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42" presetClass="entr" presetSubtype="0" fill="hold" nodeType="after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250"/>
                                        <p:tgtEl>
                                          <p:spTgt spid="23"/>
                                        </p:tgtEl>
                                      </p:cBhvr>
                                    </p:animEffect>
                                    <p:anim calcmode="lin" valueType="num">
                                      <p:cBhvr>
                                        <p:cTn id="26" dur="250" fill="hold"/>
                                        <p:tgtEl>
                                          <p:spTgt spid="23"/>
                                        </p:tgtEl>
                                        <p:attrNameLst>
                                          <p:attrName>ppt_x</p:attrName>
                                        </p:attrNameLst>
                                      </p:cBhvr>
                                      <p:tavLst>
                                        <p:tav tm="0">
                                          <p:val>
                                            <p:strVal val="#ppt_x"/>
                                          </p:val>
                                        </p:tav>
                                        <p:tav tm="100000">
                                          <p:val>
                                            <p:strVal val="#ppt_x"/>
                                          </p:val>
                                        </p:tav>
                                      </p:tavLst>
                                    </p:anim>
                                    <p:anim calcmode="lin" valueType="num">
                                      <p:cBhvr>
                                        <p:cTn id="27" dur="250" fill="hold"/>
                                        <p:tgtEl>
                                          <p:spTgt spid="23"/>
                                        </p:tgtEl>
                                        <p:attrNameLst>
                                          <p:attrName>ppt_y</p:attrName>
                                        </p:attrNameLst>
                                      </p:cBhvr>
                                      <p:tavLst>
                                        <p:tav tm="0">
                                          <p:val>
                                            <p:strVal val="#ppt_y+.1"/>
                                          </p:val>
                                        </p:tav>
                                        <p:tav tm="100000">
                                          <p:val>
                                            <p:strVal val="#ppt_y"/>
                                          </p:val>
                                        </p:tav>
                                      </p:tavLst>
                                    </p:anim>
                                  </p:childTnLst>
                                </p:cTn>
                              </p:par>
                            </p:childTnLst>
                          </p:cTn>
                        </p:par>
                        <p:par>
                          <p:cTn id="28" fill="hold">
                            <p:stCondLst>
                              <p:cond delay="1250"/>
                            </p:stCondLst>
                            <p:childTnLst>
                              <p:par>
                                <p:cTn id="29" presetID="42" presetClass="entr" presetSubtype="0" fill="hold"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00"/>
                                        <p:tgtEl>
                                          <p:spTgt spid="28"/>
                                        </p:tgtEl>
                                      </p:cBhvr>
                                    </p:animEffect>
                                    <p:anim calcmode="lin" valueType="num">
                                      <p:cBhvr>
                                        <p:cTn id="32" dur="500" fill="hold"/>
                                        <p:tgtEl>
                                          <p:spTgt spid="28"/>
                                        </p:tgtEl>
                                        <p:attrNameLst>
                                          <p:attrName>ppt_x</p:attrName>
                                        </p:attrNameLst>
                                      </p:cBhvr>
                                      <p:tavLst>
                                        <p:tav tm="0">
                                          <p:val>
                                            <p:strVal val="#ppt_x"/>
                                          </p:val>
                                        </p:tav>
                                        <p:tav tm="100000">
                                          <p:val>
                                            <p:strVal val="#ppt_x"/>
                                          </p:val>
                                        </p:tav>
                                      </p:tavLst>
                                    </p:anim>
                                    <p:anim calcmode="lin" valueType="num">
                                      <p:cBhvr>
                                        <p:cTn id="33" dur="500" fill="hold"/>
                                        <p:tgtEl>
                                          <p:spTgt spid="28"/>
                                        </p:tgtEl>
                                        <p:attrNameLst>
                                          <p:attrName>ppt_y</p:attrName>
                                        </p:attrNameLst>
                                      </p:cBhvr>
                                      <p:tavLst>
                                        <p:tav tm="0">
                                          <p:val>
                                            <p:strVal val="#ppt_y+.1"/>
                                          </p:val>
                                        </p:tav>
                                        <p:tav tm="100000">
                                          <p:val>
                                            <p:strVal val="#ppt_y"/>
                                          </p:val>
                                        </p:tav>
                                      </p:tavLst>
                                    </p:anim>
                                  </p:childTnLst>
                                </p:cTn>
                              </p:par>
                            </p:childTnLst>
                          </p:cTn>
                        </p:par>
                        <p:par>
                          <p:cTn id="34" fill="hold">
                            <p:stCondLst>
                              <p:cond delay="1750"/>
                            </p:stCondLst>
                            <p:childTnLst>
                              <p:par>
                                <p:cTn id="35" presetID="42" presetClass="entr" presetSubtype="0" fill="hold" nodeType="after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250"/>
                                        <p:tgtEl>
                                          <p:spTgt spid="33"/>
                                        </p:tgtEl>
                                      </p:cBhvr>
                                    </p:animEffect>
                                    <p:anim calcmode="lin" valueType="num">
                                      <p:cBhvr>
                                        <p:cTn id="38" dur="250" fill="hold"/>
                                        <p:tgtEl>
                                          <p:spTgt spid="33"/>
                                        </p:tgtEl>
                                        <p:attrNameLst>
                                          <p:attrName>ppt_x</p:attrName>
                                        </p:attrNameLst>
                                      </p:cBhvr>
                                      <p:tavLst>
                                        <p:tav tm="0">
                                          <p:val>
                                            <p:strVal val="#ppt_x"/>
                                          </p:val>
                                        </p:tav>
                                        <p:tav tm="100000">
                                          <p:val>
                                            <p:strVal val="#ppt_x"/>
                                          </p:val>
                                        </p:tav>
                                      </p:tavLst>
                                    </p:anim>
                                    <p:anim calcmode="lin" valueType="num">
                                      <p:cBhvr>
                                        <p:cTn id="39" dur="250" fill="hold"/>
                                        <p:tgtEl>
                                          <p:spTgt spid="33"/>
                                        </p:tgtEl>
                                        <p:attrNameLst>
                                          <p:attrName>ppt_y</p:attrName>
                                        </p:attrNameLst>
                                      </p:cBhvr>
                                      <p:tavLst>
                                        <p:tav tm="0">
                                          <p:val>
                                            <p:strVal val="#ppt_y+.1"/>
                                          </p:val>
                                        </p:tav>
                                        <p:tav tm="100000">
                                          <p:val>
                                            <p:strVal val="#ppt_y"/>
                                          </p:val>
                                        </p:tav>
                                      </p:tavLst>
                                    </p:anim>
                                  </p:childTnLst>
                                </p:cTn>
                              </p:par>
                            </p:childTnLst>
                          </p:cTn>
                        </p:par>
                        <p:par>
                          <p:cTn id="40" fill="hold">
                            <p:stCondLst>
                              <p:cond delay="2000"/>
                            </p:stCondLst>
                            <p:childTnLst>
                              <p:par>
                                <p:cTn id="41" presetID="42" presetClass="entr" presetSubtype="0" fill="hold" nodeType="after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fade">
                                      <p:cBhvr>
                                        <p:cTn id="43" dur="250"/>
                                        <p:tgtEl>
                                          <p:spTgt spid="55"/>
                                        </p:tgtEl>
                                      </p:cBhvr>
                                    </p:animEffect>
                                    <p:anim calcmode="lin" valueType="num">
                                      <p:cBhvr>
                                        <p:cTn id="44" dur="250" fill="hold"/>
                                        <p:tgtEl>
                                          <p:spTgt spid="55"/>
                                        </p:tgtEl>
                                        <p:attrNameLst>
                                          <p:attrName>ppt_x</p:attrName>
                                        </p:attrNameLst>
                                      </p:cBhvr>
                                      <p:tavLst>
                                        <p:tav tm="0">
                                          <p:val>
                                            <p:strVal val="#ppt_x"/>
                                          </p:val>
                                        </p:tav>
                                        <p:tav tm="100000">
                                          <p:val>
                                            <p:strVal val="#ppt_x"/>
                                          </p:val>
                                        </p:tav>
                                      </p:tavLst>
                                    </p:anim>
                                    <p:anim calcmode="lin" valueType="num">
                                      <p:cBhvr>
                                        <p:cTn id="45" dur="250" fill="hold"/>
                                        <p:tgtEl>
                                          <p:spTgt spid="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a:xfrm>
            <a:off x="304800" y="1828800"/>
            <a:ext cx="8305800" cy="3429000"/>
          </a:xfrm>
        </p:spPr>
        <p:txBody>
          <a:bodyPr/>
          <a:lstStyle/>
          <a:p>
            <a:pPr algn="just">
              <a:spcBef>
                <a:spcPts val="2400"/>
              </a:spcBef>
            </a:pPr>
            <a:r>
              <a:rPr lang="en-US" dirty="0"/>
              <a:t>Quản lý </a:t>
            </a:r>
            <a:r>
              <a:rPr lang="en-US" dirty="0" err="1"/>
              <a:t>rủi</a:t>
            </a:r>
            <a:r>
              <a:rPr lang="en-US" dirty="0"/>
              <a:t> </a:t>
            </a:r>
            <a:r>
              <a:rPr lang="en-US" dirty="0" err="1"/>
              <a:t>ro</a:t>
            </a:r>
            <a:r>
              <a:rPr lang="en-US" dirty="0"/>
              <a:t> </a:t>
            </a:r>
            <a:r>
              <a:rPr lang="en-US" dirty="0" err="1"/>
              <a:t>dự</a:t>
            </a:r>
            <a:r>
              <a:rPr lang="en-US" dirty="0"/>
              <a:t> </a:t>
            </a:r>
            <a:r>
              <a:rPr lang="en-US" dirty="0" err="1"/>
              <a:t>án</a:t>
            </a:r>
            <a:r>
              <a:rPr lang="en-US" dirty="0"/>
              <a:t> </a:t>
            </a:r>
            <a:r>
              <a:rPr lang="en-US" dirty="0" err="1"/>
              <a:t>là</a:t>
            </a:r>
            <a:r>
              <a:rPr lang="en-US" dirty="0"/>
              <a:t> </a:t>
            </a:r>
            <a:r>
              <a:rPr lang="en-US" dirty="0" err="1"/>
              <a:t>nghệ</a:t>
            </a:r>
            <a:r>
              <a:rPr lang="en-US" dirty="0"/>
              <a:t> </a:t>
            </a:r>
            <a:r>
              <a:rPr lang="en-US" dirty="0" err="1"/>
              <a:t>thuật</a:t>
            </a:r>
            <a:r>
              <a:rPr lang="en-US" dirty="0"/>
              <a:t> và </a:t>
            </a:r>
            <a:r>
              <a:rPr lang="en-US" dirty="0" err="1"/>
              <a:t>khoa</a:t>
            </a:r>
            <a:r>
              <a:rPr lang="en-US" dirty="0"/>
              <a:t> học…</a:t>
            </a:r>
          </a:p>
          <a:p>
            <a:pPr lvl="1" algn="just">
              <a:spcBef>
                <a:spcPts val="600"/>
              </a:spcBef>
              <a:buFont typeface="Arial" panose="020B0604020202020204" pitchFamily="34" charset="0"/>
              <a:buChar char="•"/>
            </a:pPr>
            <a:r>
              <a:rPr lang="en-US" sz="2400" dirty="0" err="1"/>
              <a:t>Xác</a:t>
            </a:r>
            <a:r>
              <a:rPr lang="en-US" sz="2400" dirty="0"/>
              <a:t> </a:t>
            </a:r>
            <a:r>
              <a:rPr lang="en-US" sz="2400" dirty="0" err="1"/>
              <a:t>định</a:t>
            </a:r>
            <a:r>
              <a:rPr lang="en-US" sz="2400" dirty="0"/>
              <a:t>, </a:t>
            </a:r>
            <a:r>
              <a:rPr lang="en-US" sz="2400" dirty="0" err="1"/>
              <a:t>phân</a:t>
            </a:r>
            <a:r>
              <a:rPr lang="en-US" sz="2400" dirty="0"/>
              <a:t> </a:t>
            </a:r>
            <a:r>
              <a:rPr lang="en-US" sz="2400" dirty="0" err="1"/>
              <a:t>tích</a:t>
            </a:r>
            <a:r>
              <a:rPr lang="en-US" sz="2400" dirty="0"/>
              <a:t>, và </a:t>
            </a:r>
            <a:r>
              <a:rPr lang="en-US" sz="2400" dirty="0" err="1"/>
              <a:t>đối</a:t>
            </a:r>
            <a:r>
              <a:rPr lang="en-US" sz="2400" dirty="0"/>
              <a:t> </a:t>
            </a:r>
            <a:r>
              <a:rPr lang="en-US" sz="2400" dirty="0" err="1"/>
              <a:t>phó</a:t>
            </a:r>
            <a:r>
              <a:rPr lang="en-US" sz="2400" dirty="0"/>
              <a:t> </a:t>
            </a:r>
            <a:r>
              <a:rPr lang="en-US" sz="2400" dirty="0" err="1"/>
              <a:t>rủi</a:t>
            </a:r>
            <a:r>
              <a:rPr lang="en-US" sz="2400" dirty="0"/>
              <a:t> </a:t>
            </a:r>
            <a:r>
              <a:rPr lang="en-US" sz="2400" dirty="0" err="1"/>
              <a:t>ro</a:t>
            </a:r>
            <a:r>
              <a:rPr lang="en-US" sz="2400" dirty="0"/>
              <a:t> </a:t>
            </a:r>
            <a:r>
              <a:rPr lang="en-US" sz="2400" dirty="0" err="1"/>
              <a:t>trong</a:t>
            </a:r>
            <a:r>
              <a:rPr lang="en-US" sz="2400" dirty="0"/>
              <a:t> </a:t>
            </a:r>
            <a:r>
              <a:rPr lang="en-US" sz="2400" dirty="0" err="1"/>
              <a:t>suốt</a:t>
            </a:r>
            <a:r>
              <a:rPr lang="en-US" sz="2400" dirty="0"/>
              <a:t> </a:t>
            </a:r>
            <a:r>
              <a:rPr lang="en-US" sz="2400" dirty="0" err="1"/>
              <a:t>vòng</a:t>
            </a:r>
            <a:r>
              <a:rPr lang="en-US" sz="2400" dirty="0"/>
              <a:t> </a:t>
            </a:r>
            <a:r>
              <a:rPr lang="en-US" sz="2400" dirty="0" err="1"/>
              <a:t>đời</a:t>
            </a:r>
            <a:r>
              <a:rPr lang="en-US" sz="2400" dirty="0"/>
              <a:t> </a:t>
            </a:r>
            <a:r>
              <a:rPr lang="en-US" sz="2400" dirty="0" err="1"/>
              <a:t>dự</a:t>
            </a:r>
            <a:r>
              <a:rPr lang="en-US" sz="2400" dirty="0"/>
              <a:t> </a:t>
            </a:r>
            <a:r>
              <a:rPr lang="en-US" sz="2400" dirty="0" err="1"/>
              <a:t>án</a:t>
            </a:r>
            <a:r>
              <a:rPr lang="en-US" sz="2400" dirty="0"/>
              <a:t> </a:t>
            </a:r>
            <a:r>
              <a:rPr lang="en-US" sz="2400" dirty="0" err="1"/>
              <a:t>để</a:t>
            </a:r>
            <a:r>
              <a:rPr lang="en-US" sz="2400" dirty="0"/>
              <a:t> </a:t>
            </a:r>
            <a:r>
              <a:rPr lang="en-US" sz="2400" dirty="0" err="1"/>
              <a:t>đạt</a:t>
            </a:r>
            <a:r>
              <a:rPr lang="en-US" sz="2400" dirty="0"/>
              <a:t> </a:t>
            </a:r>
            <a:r>
              <a:rPr lang="en-US" sz="2400" dirty="0" err="1"/>
              <a:t>mục</a:t>
            </a:r>
            <a:r>
              <a:rPr lang="en-US" sz="2400" dirty="0"/>
              <a:t> </a:t>
            </a:r>
            <a:r>
              <a:rPr lang="en-US" sz="2400" dirty="0" err="1"/>
              <a:t>tiêu</a:t>
            </a:r>
            <a:r>
              <a:rPr lang="en-US" sz="2400" dirty="0"/>
              <a:t> </a:t>
            </a:r>
            <a:r>
              <a:rPr lang="en-US" sz="2400" dirty="0" err="1"/>
              <a:t>dự</a:t>
            </a:r>
            <a:r>
              <a:rPr lang="en-US" sz="2400" dirty="0"/>
              <a:t> </a:t>
            </a:r>
            <a:r>
              <a:rPr lang="en-US" sz="2400" dirty="0" err="1"/>
              <a:t>án</a:t>
            </a:r>
            <a:r>
              <a:rPr lang="en-US" sz="2400" dirty="0"/>
              <a:t>.</a:t>
            </a:r>
          </a:p>
          <a:p>
            <a:pPr algn="just">
              <a:spcBef>
                <a:spcPts val="2400"/>
              </a:spcBef>
            </a:pPr>
            <a:r>
              <a:rPr lang="en-US" dirty="0"/>
              <a:t>Quản lý </a:t>
            </a:r>
            <a:r>
              <a:rPr lang="en-US" dirty="0" err="1"/>
              <a:t>rủi</a:t>
            </a:r>
            <a:r>
              <a:rPr lang="en-US" dirty="0"/>
              <a:t> </a:t>
            </a:r>
            <a:r>
              <a:rPr lang="en-US" dirty="0" err="1"/>
              <a:t>ro</a:t>
            </a:r>
            <a:r>
              <a:rPr lang="en-US" dirty="0"/>
              <a:t> </a:t>
            </a:r>
            <a:r>
              <a:rPr lang="en-US" dirty="0" err="1"/>
              <a:t>ít</a:t>
            </a:r>
            <a:r>
              <a:rPr lang="en-US" dirty="0"/>
              <a:t> </a:t>
            </a:r>
            <a:r>
              <a:rPr lang="en-US" dirty="0" err="1"/>
              <a:t>được</a:t>
            </a:r>
            <a:r>
              <a:rPr lang="en-US" dirty="0"/>
              <a:t> </a:t>
            </a:r>
            <a:r>
              <a:rPr lang="en-US" dirty="0" err="1"/>
              <a:t>chú</a:t>
            </a:r>
            <a:r>
              <a:rPr lang="en-US" dirty="0"/>
              <a:t> ý </a:t>
            </a:r>
            <a:r>
              <a:rPr lang="en-US" dirty="0" err="1"/>
              <a:t>trong</a:t>
            </a:r>
            <a:r>
              <a:rPr lang="en-US" dirty="0"/>
              <a:t> </a:t>
            </a:r>
            <a:r>
              <a:rPr lang="en-US" dirty="0" err="1"/>
              <a:t>dự</a:t>
            </a:r>
            <a:r>
              <a:rPr lang="en-US" dirty="0"/>
              <a:t> </a:t>
            </a:r>
            <a:r>
              <a:rPr lang="en-US" dirty="0" err="1"/>
              <a:t>án</a:t>
            </a:r>
            <a:r>
              <a:rPr lang="en-US" dirty="0"/>
              <a:t>, </a:t>
            </a:r>
            <a:r>
              <a:rPr lang="en-US" dirty="0" err="1"/>
              <a:t>nhưng</a:t>
            </a:r>
            <a:r>
              <a:rPr lang="en-US" dirty="0"/>
              <a:t> </a:t>
            </a:r>
            <a:r>
              <a:rPr lang="en-US" dirty="0" err="1"/>
              <a:t>nó</a:t>
            </a:r>
            <a:r>
              <a:rPr lang="en-US" dirty="0"/>
              <a:t> </a:t>
            </a:r>
            <a:r>
              <a:rPr lang="en-US" dirty="0" err="1"/>
              <a:t>giúp</a:t>
            </a:r>
            <a:r>
              <a:rPr lang="en-US" dirty="0"/>
              <a:t> </a:t>
            </a:r>
            <a:r>
              <a:rPr lang="en-US" dirty="0" err="1"/>
              <a:t>tăng</a:t>
            </a:r>
            <a:r>
              <a:rPr lang="en-US" dirty="0"/>
              <a:t> </a:t>
            </a:r>
            <a:r>
              <a:rPr lang="en-US" dirty="0" err="1"/>
              <a:t>sự</a:t>
            </a:r>
            <a:r>
              <a:rPr lang="en-US" dirty="0"/>
              <a:t> </a:t>
            </a:r>
            <a:r>
              <a:rPr lang="en-US" dirty="0" err="1"/>
              <a:t>thành</a:t>
            </a:r>
            <a:r>
              <a:rPr lang="en-US" dirty="0"/>
              <a:t> </a:t>
            </a:r>
            <a:r>
              <a:rPr lang="en-US" dirty="0" err="1"/>
              <a:t>công</a:t>
            </a:r>
            <a:r>
              <a:rPr lang="en-US" dirty="0"/>
              <a:t> </a:t>
            </a:r>
            <a:r>
              <a:rPr lang="en-US" dirty="0" err="1"/>
              <a:t>dự</a:t>
            </a:r>
            <a:r>
              <a:rPr lang="en-US" dirty="0"/>
              <a:t> </a:t>
            </a:r>
            <a:r>
              <a:rPr lang="en-US" dirty="0" err="1"/>
              <a:t>án</a:t>
            </a:r>
            <a:r>
              <a:rPr lang="en-US" dirty="0"/>
              <a:t>… </a:t>
            </a:r>
          </a:p>
          <a:p>
            <a:pPr lvl="1" algn="just">
              <a:spcBef>
                <a:spcPts val="600"/>
              </a:spcBef>
              <a:buFont typeface="Arial" panose="020B0604020202020204" pitchFamily="34" charset="0"/>
              <a:buChar char="•"/>
            </a:pPr>
            <a:r>
              <a:rPr lang="en-US" sz="2400" dirty="0" err="1"/>
              <a:t>Hỗ</a:t>
            </a:r>
            <a:r>
              <a:rPr lang="en-US" sz="2400" dirty="0"/>
              <a:t> </a:t>
            </a:r>
            <a:r>
              <a:rPr lang="en-US" sz="2400" dirty="0" err="1"/>
              <a:t>trợ</a:t>
            </a:r>
            <a:r>
              <a:rPr lang="en-US" sz="2400" dirty="0"/>
              <a:t> </a:t>
            </a:r>
            <a:r>
              <a:rPr lang="en-US" sz="2400" dirty="0" err="1"/>
              <a:t>chọn</a:t>
            </a:r>
            <a:r>
              <a:rPr lang="en-US" sz="2400" dirty="0"/>
              <a:t> </a:t>
            </a:r>
            <a:r>
              <a:rPr lang="en-US" sz="2400" dirty="0" err="1"/>
              <a:t>lựa</a:t>
            </a:r>
            <a:r>
              <a:rPr lang="en-US" sz="2400" dirty="0"/>
              <a:t> </a:t>
            </a:r>
            <a:r>
              <a:rPr lang="en-US" sz="2400" dirty="0" err="1"/>
              <a:t>dự</a:t>
            </a:r>
            <a:r>
              <a:rPr lang="en-US" sz="2400" dirty="0"/>
              <a:t> </a:t>
            </a:r>
            <a:r>
              <a:rPr lang="en-US" sz="2400" dirty="0" err="1"/>
              <a:t>án</a:t>
            </a:r>
            <a:r>
              <a:rPr lang="en-US" sz="2400" dirty="0"/>
              <a:t> </a:t>
            </a:r>
            <a:r>
              <a:rPr lang="en-US" sz="2400" dirty="0" err="1"/>
              <a:t>tốt</a:t>
            </a:r>
            <a:r>
              <a:rPr lang="en-US" sz="2400" dirty="0"/>
              <a:t>, </a:t>
            </a:r>
            <a:r>
              <a:rPr lang="en-US" sz="2400" dirty="0" err="1"/>
              <a:t>quyết</a:t>
            </a:r>
            <a:r>
              <a:rPr lang="en-US" sz="2400" dirty="0"/>
              <a:t> </a:t>
            </a:r>
            <a:r>
              <a:rPr lang="en-US" sz="2400" dirty="0" err="1"/>
              <a:t>định</a:t>
            </a:r>
            <a:r>
              <a:rPr lang="en-US" sz="2400" dirty="0"/>
              <a:t> </a:t>
            </a:r>
            <a:r>
              <a:rPr lang="en-US" sz="2400" dirty="0" err="1"/>
              <a:t>phạm</a:t>
            </a:r>
            <a:r>
              <a:rPr lang="en-US" sz="2400" dirty="0"/>
              <a:t> vi, </a:t>
            </a:r>
            <a:r>
              <a:rPr lang="en-US" sz="2400" dirty="0" err="1"/>
              <a:t>gia</a:t>
            </a:r>
            <a:r>
              <a:rPr lang="en-US" sz="2400" dirty="0"/>
              <a:t> </a:t>
            </a:r>
            <a:r>
              <a:rPr lang="en-US" sz="2400" dirty="0" err="1"/>
              <a:t>tăng</a:t>
            </a:r>
            <a:r>
              <a:rPr lang="en-US" sz="2400" dirty="0"/>
              <a:t> </a:t>
            </a:r>
            <a:r>
              <a:rPr lang="en-US" sz="2400" dirty="0" err="1"/>
              <a:t>các</a:t>
            </a:r>
            <a:r>
              <a:rPr lang="en-US" sz="2400" dirty="0"/>
              <a:t> </a:t>
            </a:r>
            <a:r>
              <a:rPr lang="en-US" sz="2400" dirty="0" err="1"/>
              <a:t>ước</a:t>
            </a:r>
            <a:r>
              <a:rPr lang="en-US" sz="2400" dirty="0"/>
              <a:t> </a:t>
            </a:r>
            <a:r>
              <a:rPr lang="en-US" sz="2400" dirty="0" err="1"/>
              <a:t>lượng</a:t>
            </a:r>
            <a:r>
              <a:rPr lang="en-US" sz="2400" dirty="0"/>
              <a:t> </a:t>
            </a:r>
            <a:r>
              <a:rPr lang="en-US" sz="2400" dirty="0" err="1"/>
              <a:t>theo</a:t>
            </a:r>
            <a:r>
              <a:rPr lang="en-US" sz="2400" dirty="0"/>
              <a:t> </a:t>
            </a:r>
            <a:r>
              <a:rPr lang="en-US" sz="2400" dirty="0" err="1"/>
              <a:t>thực</a:t>
            </a:r>
            <a:r>
              <a:rPr lang="en-US" sz="2400" dirty="0"/>
              <a:t> tế.</a:t>
            </a:r>
          </a:p>
        </p:txBody>
      </p:sp>
      <p:sp>
        <p:nvSpPr>
          <p:cNvPr id="15362" name="Rectangle 2"/>
          <p:cNvSpPr>
            <a:spLocks noGrp="1" noChangeArrowheads="1"/>
          </p:cNvSpPr>
          <p:nvPr>
            <p:ph type="title"/>
          </p:nvPr>
        </p:nvSpPr>
        <p:spPr>
          <a:xfrm>
            <a:off x="0" y="457200"/>
            <a:ext cx="9144000" cy="914400"/>
          </a:xfrm>
        </p:spPr>
        <p:txBody>
          <a:bodyPr>
            <a:noAutofit/>
          </a:bodyPr>
          <a:lstStyle/>
          <a:p>
            <a:pPr algn="ctr"/>
            <a:r>
              <a:rPr lang="en-US" sz="4000" dirty="0" err="1">
                <a:solidFill>
                  <a:srgbClr val="0070C0"/>
                </a:solidFill>
              </a:rPr>
              <a:t>Tầm</a:t>
            </a:r>
            <a:r>
              <a:rPr lang="en-US" sz="4000" dirty="0">
                <a:solidFill>
                  <a:srgbClr val="0070C0"/>
                </a:solidFill>
              </a:rPr>
              <a:t> </a:t>
            </a:r>
            <a:r>
              <a:rPr lang="en-US" sz="4000" dirty="0" err="1">
                <a:solidFill>
                  <a:srgbClr val="0070C0"/>
                </a:solidFill>
              </a:rPr>
              <a:t>quan</a:t>
            </a:r>
            <a:r>
              <a:rPr lang="en-US" sz="4000" dirty="0">
                <a:solidFill>
                  <a:srgbClr val="0070C0"/>
                </a:solidFill>
              </a:rPr>
              <a:t> </a:t>
            </a:r>
            <a:r>
              <a:rPr lang="en-US" sz="4000" dirty="0" err="1">
                <a:solidFill>
                  <a:srgbClr val="0070C0"/>
                </a:solidFill>
              </a:rPr>
              <a:t>trọng</a:t>
            </a:r>
            <a:r>
              <a:rPr lang="en-US" sz="4000" dirty="0">
                <a:solidFill>
                  <a:srgbClr val="0070C0"/>
                </a:solidFill>
              </a:rPr>
              <a:t> </a:t>
            </a:r>
            <a:r>
              <a:rPr lang="en-US" sz="4000" dirty="0" err="1">
                <a:solidFill>
                  <a:srgbClr val="0070C0"/>
                </a:solidFill>
              </a:rPr>
              <a:t>của</a:t>
            </a:r>
            <a:r>
              <a:rPr lang="en-US" sz="4000" dirty="0">
                <a:solidFill>
                  <a:srgbClr val="0070C0"/>
                </a:solidFill>
              </a:rPr>
              <a:t> quản lý </a:t>
            </a:r>
            <a:r>
              <a:rPr lang="en-US" sz="4000" dirty="0" err="1">
                <a:solidFill>
                  <a:srgbClr val="0070C0"/>
                </a:solidFill>
              </a:rPr>
              <a:t>rủi</a:t>
            </a:r>
            <a:r>
              <a:rPr lang="en-US" sz="4000" dirty="0">
                <a:solidFill>
                  <a:srgbClr val="0070C0"/>
                </a:solidFill>
              </a:rPr>
              <a:t> </a:t>
            </a:r>
            <a:r>
              <a:rPr lang="en-US" sz="4000" dirty="0" err="1">
                <a:solidFill>
                  <a:srgbClr val="0070C0"/>
                </a:solidFill>
              </a:rPr>
              <a:t>ro</a:t>
            </a:r>
            <a:endParaRPr lang="en-US" sz="4000" dirty="0">
              <a:solidFill>
                <a:srgbClr val="0070C0"/>
              </a:solidFill>
            </a:endParaRPr>
          </a:p>
        </p:txBody>
      </p:sp>
      <p:sp>
        <p:nvSpPr>
          <p:cNvPr id="15365"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07D6F11-3470-4152-8EB3-431930F8FE40}" type="slidenum">
              <a:rPr lang="en-US" smtClean="0"/>
              <a:pPr>
                <a:defRPr/>
              </a:pPr>
              <a:t>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609600" y="1981200"/>
            <a:ext cx="8001000" cy="2819400"/>
          </a:xfrm>
          <a:solidFill>
            <a:schemeClr val="bg2"/>
          </a:solidFill>
        </p:spPr>
        <p:txBody>
          <a:bodyPr/>
          <a:lstStyle/>
          <a:p>
            <a:pPr algn="just">
              <a:spcBef>
                <a:spcPts val="1200"/>
              </a:spcBef>
              <a:spcAft>
                <a:spcPts val="600"/>
              </a:spcAft>
            </a:pPr>
            <a:r>
              <a:rPr lang="vi-VN" sz="2400" dirty="0"/>
              <a:t>Rủi ro là giai đoạn có tỷ lệ thấp nhất trong các lĩnh vực kiến thức QLDA</a:t>
            </a:r>
            <a:r>
              <a:rPr lang="en-US" sz="2400" dirty="0"/>
              <a:t> (</a:t>
            </a:r>
            <a:r>
              <a:rPr lang="vi-VN" sz="2400" dirty="0"/>
              <a:t>Ibbs &amp; Kwak</a:t>
            </a:r>
            <a:r>
              <a:rPr lang="en-US" sz="2400" dirty="0"/>
              <a:t>, 2000). </a:t>
            </a:r>
          </a:p>
          <a:p>
            <a:pPr algn="just">
              <a:spcBef>
                <a:spcPts val="1200"/>
              </a:spcBef>
              <a:spcAft>
                <a:spcPts val="600"/>
              </a:spcAft>
            </a:pPr>
            <a:r>
              <a:rPr lang="en-US" sz="2400" dirty="0"/>
              <a:t>Quản lý </a:t>
            </a:r>
            <a:r>
              <a:rPr lang="en-US" sz="2400" dirty="0" err="1"/>
              <a:t>rủi</a:t>
            </a:r>
            <a:r>
              <a:rPr lang="en-US" sz="2400" dirty="0"/>
              <a:t> </a:t>
            </a:r>
            <a:r>
              <a:rPr lang="en-US" sz="2400" dirty="0" err="1"/>
              <a:t>ro</a:t>
            </a:r>
            <a:r>
              <a:rPr lang="en-US" sz="2400" dirty="0"/>
              <a:t> </a:t>
            </a:r>
            <a:r>
              <a:rPr lang="en-US" sz="2400" dirty="0" err="1"/>
              <a:t>vẫn</a:t>
            </a:r>
            <a:r>
              <a:rPr lang="en-US" sz="2400" dirty="0"/>
              <a:t> </a:t>
            </a:r>
            <a:r>
              <a:rPr lang="en-US" sz="2400" dirty="0" err="1"/>
              <a:t>có</a:t>
            </a:r>
            <a:r>
              <a:rPr lang="en-US" sz="2400" dirty="0"/>
              <a:t> </a:t>
            </a:r>
            <a:r>
              <a:rPr lang="en-US" sz="2400" dirty="0" err="1"/>
              <a:t>sự</a:t>
            </a:r>
            <a:r>
              <a:rPr lang="en-US" sz="2400" dirty="0"/>
              <a:t> </a:t>
            </a:r>
            <a:r>
              <a:rPr lang="en-US" sz="2400" dirty="0" err="1"/>
              <a:t>phát</a:t>
            </a:r>
            <a:r>
              <a:rPr lang="en-US" sz="2400" dirty="0"/>
              <a:t> triển </a:t>
            </a:r>
            <a:r>
              <a:rPr lang="en-US" sz="2400" dirty="0" err="1"/>
              <a:t>thấp</a:t>
            </a:r>
            <a:r>
              <a:rPr lang="en-US" sz="2400" dirty="0"/>
              <a:t> </a:t>
            </a:r>
            <a:r>
              <a:rPr lang="en-US" sz="2400" dirty="0" err="1"/>
              <a:t>nhất</a:t>
            </a:r>
            <a:r>
              <a:rPr lang="en-US" sz="2400" dirty="0"/>
              <a:t> (</a:t>
            </a:r>
            <a:r>
              <a:rPr lang="vi-VN" sz="2400" dirty="0"/>
              <a:t>Sukhoo &amp; ctg.</a:t>
            </a:r>
            <a:r>
              <a:rPr lang="en-US" sz="2400" dirty="0"/>
              <a:t>, 2003).</a:t>
            </a:r>
          </a:p>
          <a:p>
            <a:pPr algn="just">
              <a:spcBef>
                <a:spcPts val="1200"/>
              </a:spcBef>
              <a:spcAft>
                <a:spcPts val="600"/>
              </a:spcAft>
            </a:pPr>
            <a:r>
              <a:rPr lang="en-US" sz="2400" dirty="0" err="1"/>
              <a:t>Lợi</a:t>
            </a:r>
            <a:r>
              <a:rPr lang="en-US" sz="2400" dirty="0"/>
              <a:t> </a:t>
            </a:r>
            <a:r>
              <a:rPr lang="en-US" sz="2400" dirty="0" err="1"/>
              <a:t>ích</a:t>
            </a:r>
            <a:r>
              <a:rPr lang="en-US" sz="2400" dirty="0"/>
              <a:t> </a:t>
            </a:r>
            <a:r>
              <a:rPr lang="en-US" sz="2400" dirty="0" err="1"/>
              <a:t>từ</a:t>
            </a:r>
            <a:r>
              <a:rPr lang="en-US" sz="2400" dirty="0"/>
              <a:t> </a:t>
            </a:r>
            <a:r>
              <a:rPr lang="en-US" sz="2400" dirty="0" err="1"/>
              <a:t>việc</a:t>
            </a:r>
            <a:r>
              <a:rPr lang="en-US" sz="2400" dirty="0"/>
              <a:t> </a:t>
            </a:r>
            <a:r>
              <a:rPr lang="en-US" sz="2400" dirty="0" err="1"/>
              <a:t>thực</a:t>
            </a:r>
            <a:r>
              <a:rPr lang="en-US" sz="2400" dirty="0"/>
              <a:t> </a:t>
            </a:r>
            <a:r>
              <a:rPr lang="en-US" sz="2400" dirty="0" err="1"/>
              <a:t>hiện</a:t>
            </a:r>
            <a:r>
              <a:rPr lang="en-US" sz="2400" dirty="0"/>
              <a:t> </a:t>
            </a:r>
            <a:r>
              <a:rPr lang="en-US" sz="2400" dirty="0" err="1"/>
              <a:t>theo</a:t>
            </a:r>
            <a:r>
              <a:rPr lang="en-US" sz="2400" dirty="0"/>
              <a:t> </a:t>
            </a:r>
            <a:r>
              <a:rPr lang="en-US" sz="2400" dirty="0" err="1"/>
              <a:t>các</a:t>
            </a:r>
            <a:r>
              <a:rPr lang="en-US" sz="2400" dirty="0"/>
              <a:t> </a:t>
            </a:r>
            <a:r>
              <a:rPr lang="en-US" sz="2400" dirty="0" err="1"/>
              <a:t>phần</a:t>
            </a:r>
            <a:r>
              <a:rPr lang="en-US" sz="2400" dirty="0"/>
              <a:t> </a:t>
            </a:r>
            <a:r>
              <a:rPr lang="en-US" sz="2400" dirty="0" err="1"/>
              <a:t>mềm</a:t>
            </a:r>
            <a:r>
              <a:rPr lang="en-US" sz="2400" dirty="0"/>
              <a:t> quản lý </a:t>
            </a:r>
            <a:r>
              <a:rPr lang="en-US" sz="2400" dirty="0" err="1"/>
              <a:t>rủi</a:t>
            </a:r>
            <a:r>
              <a:rPr lang="en-US" sz="2400" dirty="0"/>
              <a:t> </a:t>
            </a:r>
            <a:r>
              <a:rPr lang="en-US" sz="2400" dirty="0" err="1"/>
              <a:t>ro</a:t>
            </a:r>
            <a:r>
              <a:rPr lang="en-US" sz="2400" dirty="0"/>
              <a:t> (</a:t>
            </a:r>
            <a:r>
              <a:rPr lang="en-US" sz="2400" dirty="0" err="1"/>
              <a:t>Kulik</a:t>
            </a:r>
            <a:r>
              <a:rPr lang="en-US" sz="2400" dirty="0"/>
              <a:t> &amp; Weber, 2001).</a:t>
            </a:r>
          </a:p>
        </p:txBody>
      </p:sp>
      <p:sp>
        <p:nvSpPr>
          <p:cNvPr id="16386" name="Rectangle 2"/>
          <p:cNvSpPr>
            <a:spLocks noGrp="1" noChangeArrowheads="1"/>
          </p:cNvSpPr>
          <p:nvPr>
            <p:ph type="title"/>
          </p:nvPr>
        </p:nvSpPr>
        <p:spPr/>
        <p:txBody>
          <a:bodyPr>
            <a:normAutofit/>
          </a:bodyPr>
          <a:lstStyle/>
          <a:p>
            <a:pPr algn="ctr"/>
            <a:r>
              <a:rPr lang="en-US" sz="4000" dirty="0" err="1"/>
              <a:t>Tăng</a:t>
            </a:r>
            <a:r>
              <a:rPr lang="en-US" sz="4000" dirty="0"/>
              <a:t> </a:t>
            </a:r>
            <a:r>
              <a:rPr lang="en-US" sz="4000" dirty="0" err="1"/>
              <a:t>cường</a:t>
            </a:r>
            <a:r>
              <a:rPr lang="en-US" sz="4000" dirty="0"/>
              <a:t> quản lý </a:t>
            </a:r>
            <a:r>
              <a:rPr lang="en-US" sz="4000" dirty="0" err="1"/>
              <a:t>rủi</a:t>
            </a:r>
            <a:r>
              <a:rPr lang="en-US" sz="4000" dirty="0"/>
              <a:t> </a:t>
            </a:r>
            <a:r>
              <a:rPr lang="en-US" sz="4000" dirty="0" err="1"/>
              <a:t>ro</a:t>
            </a:r>
            <a:endParaRPr lang="en-US" sz="4000" dirty="0"/>
          </a:p>
        </p:txBody>
      </p:sp>
      <p:sp>
        <p:nvSpPr>
          <p:cNvPr id="16389" name="Footer Placeholder 7"/>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7" name="Slide Number Placeholder 6"/>
          <p:cNvSpPr>
            <a:spLocks noGrp="1"/>
          </p:cNvSpPr>
          <p:nvPr>
            <p:ph type="sldNum" sz="quarter" idx="11"/>
          </p:nvPr>
        </p:nvSpPr>
        <p:spPr/>
        <p:txBody>
          <a:bodyPr/>
          <a:lstStyle/>
          <a:p>
            <a:pPr>
              <a:defRPr/>
            </a:pPr>
            <a:fld id="{F549B147-A696-4691-B52A-47CC6EBA67DC}" type="slidenum">
              <a:rPr lang="en-US" smtClean="0"/>
              <a:pPr>
                <a:defRPr/>
              </a:pPr>
              <a:t>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152400"/>
            <a:ext cx="9144000" cy="1143000"/>
          </a:xfrm>
        </p:spPr>
        <p:txBody>
          <a:bodyPr>
            <a:noAutofit/>
          </a:bodyPr>
          <a:lstStyle/>
          <a:p>
            <a:pPr algn="ctr"/>
            <a:r>
              <a:rPr lang="en-US" sz="3600" dirty="0"/>
              <a:t>Quản lý </a:t>
            </a:r>
            <a:r>
              <a:rPr lang="en-US" sz="3600" dirty="0" err="1"/>
              <a:t>dự</a:t>
            </a:r>
            <a:r>
              <a:rPr lang="en-US" sz="3600" dirty="0"/>
              <a:t> </a:t>
            </a:r>
            <a:r>
              <a:rPr lang="en-US" sz="3600" dirty="0" err="1"/>
              <a:t>án</a:t>
            </a:r>
            <a:r>
              <a:rPr lang="en-US" sz="3600" dirty="0"/>
              <a:t> </a:t>
            </a:r>
            <a:r>
              <a:rPr lang="en-US" sz="3600" dirty="0" err="1"/>
              <a:t>theo</a:t>
            </a:r>
            <a:r>
              <a:rPr lang="en-US" sz="3600" dirty="0"/>
              <a:t> </a:t>
            </a:r>
            <a:r>
              <a:rPr lang="en-US" sz="3600" dirty="0" err="1"/>
              <a:t>lĩnh</a:t>
            </a:r>
            <a:r>
              <a:rPr lang="en-US" sz="3600" dirty="0"/>
              <a:t> </a:t>
            </a:r>
            <a:r>
              <a:rPr lang="en-US" sz="3600" dirty="0" err="1"/>
              <a:t>vực</a:t>
            </a:r>
            <a:r>
              <a:rPr lang="en-US" sz="3600" dirty="0"/>
              <a:t> </a:t>
            </a:r>
            <a:r>
              <a:rPr lang="en-US" sz="3600" dirty="0" err="1"/>
              <a:t>kiến</a:t>
            </a:r>
            <a:r>
              <a:rPr lang="en-US" sz="3600" dirty="0"/>
              <a:t> </a:t>
            </a:r>
            <a:r>
              <a:rPr lang="en-US" sz="3600" dirty="0" err="1"/>
              <a:t>thức</a:t>
            </a:r>
            <a:endParaRPr lang="en-US" sz="3600" dirty="0"/>
          </a:p>
        </p:txBody>
      </p:sp>
      <p:sp>
        <p:nvSpPr>
          <p:cNvPr id="17476" name="Footer Placeholder 8"/>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8" name="Slide Number Placeholder 7"/>
          <p:cNvSpPr>
            <a:spLocks noGrp="1"/>
          </p:cNvSpPr>
          <p:nvPr>
            <p:ph type="sldNum" sz="quarter" idx="11"/>
          </p:nvPr>
        </p:nvSpPr>
        <p:spPr/>
        <p:txBody>
          <a:bodyPr/>
          <a:lstStyle/>
          <a:p>
            <a:pPr>
              <a:buFontTx/>
              <a:buNone/>
              <a:defRPr/>
            </a:pPr>
            <a:fld id="{B09B4120-5935-4557-9199-2132025C05DA}" type="slidenum">
              <a:rPr lang="en-US" smtClean="0"/>
              <a:pPr>
                <a:buFontTx/>
                <a:buNone/>
                <a:defRPr/>
              </a:pPr>
              <a:t>9</a:t>
            </a:fld>
            <a:endParaRPr lang="en-US" dirty="0"/>
          </a:p>
        </p:txBody>
      </p:sp>
      <p:sp>
        <p:nvSpPr>
          <p:cNvPr id="17474" name="Rectangle 299"/>
          <p:cNvSpPr>
            <a:spLocks noChangeArrowheads="1"/>
          </p:cNvSpPr>
          <p:nvPr/>
        </p:nvSpPr>
        <p:spPr bwMode="auto">
          <a:xfrm>
            <a:off x="2819400" y="5943600"/>
            <a:ext cx="5851923" cy="338554"/>
          </a:xfrm>
          <a:prstGeom prst="rect">
            <a:avLst/>
          </a:prstGeom>
          <a:noFill/>
          <a:ln w="9525">
            <a:noFill/>
            <a:miter lim="800000"/>
            <a:headEnd/>
            <a:tailEnd/>
          </a:ln>
        </p:spPr>
        <p:txBody>
          <a:bodyPr wrap="none" anchor="ctr">
            <a:spAutoFit/>
          </a:bodyPr>
          <a:lstStyle/>
          <a:p>
            <a:r>
              <a:rPr lang="en-US" sz="1600" dirty="0">
                <a:cs typeface="Times New Roman" pitchFamily="18" charset="0"/>
              </a:rPr>
              <a:t>* </a:t>
            </a:r>
            <a:r>
              <a:rPr lang="en-US" sz="1600" dirty="0" err="1">
                <a:cs typeface="Times New Roman" pitchFamily="18" charset="0"/>
              </a:rPr>
              <a:t>Ibbs</a:t>
            </a:r>
            <a:r>
              <a:rPr lang="en-US" sz="1600" dirty="0">
                <a:cs typeface="Times New Roman" pitchFamily="18" charset="0"/>
              </a:rPr>
              <a:t> &amp; </a:t>
            </a:r>
            <a:r>
              <a:rPr lang="en-US" sz="1600" dirty="0" err="1">
                <a:cs typeface="Times New Roman" pitchFamily="18" charset="0"/>
              </a:rPr>
              <a:t>Kwak</a:t>
            </a:r>
            <a:r>
              <a:rPr lang="en-US" sz="1600" dirty="0">
                <a:cs typeface="Times New Roman" pitchFamily="18" charset="0"/>
              </a:rPr>
              <a:t>, Assessing Project Management Maturity, 2000.</a:t>
            </a:r>
            <a:endParaRPr lang="en-US" sz="1600" dirty="0"/>
          </a:p>
        </p:txBody>
      </p:sp>
      <p:pic>
        <p:nvPicPr>
          <p:cNvPr id="2" name="Picture 1"/>
          <p:cNvPicPr>
            <a:picLocks noChangeAspect="1"/>
          </p:cNvPicPr>
          <p:nvPr/>
        </p:nvPicPr>
        <p:blipFill>
          <a:blip r:embed="rId2"/>
          <a:stretch>
            <a:fillRect/>
          </a:stretch>
        </p:blipFill>
        <p:spPr>
          <a:xfrm>
            <a:off x="0" y="1514475"/>
            <a:ext cx="9144000" cy="3895725"/>
          </a:xfrm>
          <a:prstGeom prst="rect">
            <a:avLst/>
          </a:prstGeom>
        </p:spPr>
      </p:pic>
      <p:sp>
        <p:nvSpPr>
          <p:cNvPr id="9" name="Rounded Rectangle 8"/>
          <p:cNvSpPr/>
          <p:nvPr/>
        </p:nvSpPr>
        <p:spPr>
          <a:xfrm>
            <a:off x="0" y="4653914"/>
            <a:ext cx="9144000" cy="365761"/>
          </a:xfrm>
          <a:prstGeom prst="round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0"/>
            <a:ext cx="8229600" cy="1143000"/>
          </a:xfrm>
        </p:spPr>
        <p:txBody>
          <a:bodyPr>
            <a:normAutofit/>
          </a:bodyPr>
          <a:lstStyle/>
          <a:p>
            <a:pPr algn="ctr"/>
            <a:r>
              <a:rPr lang="en-US" sz="3600" dirty="0" err="1"/>
              <a:t>Lợi</a:t>
            </a:r>
            <a:r>
              <a:rPr lang="en-US" sz="3600" dirty="0"/>
              <a:t> </a:t>
            </a:r>
            <a:r>
              <a:rPr lang="en-US" sz="3600" dirty="0" err="1"/>
              <a:t>ích</a:t>
            </a:r>
            <a:r>
              <a:rPr lang="en-US" sz="3600" dirty="0"/>
              <a:t> </a:t>
            </a:r>
            <a:r>
              <a:rPr lang="en-US" sz="3600" dirty="0" err="1"/>
              <a:t>từ</a:t>
            </a:r>
            <a:r>
              <a:rPr lang="en-US" sz="3600" dirty="0"/>
              <a:t> </a:t>
            </a:r>
            <a:r>
              <a:rPr lang="en-US" sz="3600" dirty="0" err="1"/>
              <a:t>phần</a:t>
            </a:r>
            <a:r>
              <a:rPr lang="en-US" sz="3600" dirty="0"/>
              <a:t> </a:t>
            </a:r>
            <a:r>
              <a:rPr lang="en-US" sz="3600" dirty="0" err="1"/>
              <a:t>mềm</a:t>
            </a:r>
            <a:r>
              <a:rPr lang="en-US" sz="3600" dirty="0"/>
              <a:t> quản lý </a:t>
            </a:r>
            <a:r>
              <a:rPr lang="en-US" sz="3600" dirty="0" err="1"/>
              <a:t>rủi</a:t>
            </a:r>
            <a:r>
              <a:rPr lang="en-US" sz="3600" dirty="0"/>
              <a:t> </a:t>
            </a:r>
            <a:r>
              <a:rPr lang="en-US" sz="3600" dirty="0" err="1"/>
              <a:t>ro</a:t>
            </a:r>
            <a:endParaRPr lang="en-US" sz="3600" dirty="0"/>
          </a:p>
        </p:txBody>
      </p:sp>
      <p:sp>
        <p:nvSpPr>
          <p:cNvPr id="18437" name="Footer Placeholder 7"/>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7" name="Slide Number Placeholder 6"/>
          <p:cNvSpPr>
            <a:spLocks noGrp="1"/>
          </p:cNvSpPr>
          <p:nvPr>
            <p:ph type="sldNum" sz="quarter" idx="11"/>
          </p:nvPr>
        </p:nvSpPr>
        <p:spPr/>
        <p:txBody>
          <a:bodyPr/>
          <a:lstStyle/>
          <a:p>
            <a:pPr>
              <a:defRPr/>
            </a:pPr>
            <a:fld id="{C9C7EE1C-8D68-46E6-9AB4-662241EB92E9}" type="slidenum">
              <a:rPr lang="en-US" smtClean="0"/>
              <a:pPr>
                <a:defRPr/>
              </a:pPr>
              <a:t>10</a:t>
            </a:fld>
            <a:endParaRPr lang="en-US" dirty="0"/>
          </a:p>
        </p:txBody>
      </p:sp>
      <p:sp>
        <p:nvSpPr>
          <p:cNvPr id="18435" name="Text Box 6"/>
          <p:cNvSpPr txBox="1">
            <a:spLocks noChangeArrowheads="1"/>
          </p:cNvSpPr>
          <p:nvPr/>
        </p:nvSpPr>
        <p:spPr bwMode="auto">
          <a:xfrm>
            <a:off x="2895600" y="6214646"/>
            <a:ext cx="5715000" cy="338554"/>
          </a:xfrm>
          <a:prstGeom prst="rect">
            <a:avLst/>
          </a:prstGeom>
          <a:noFill/>
          <a:ln w="9525">
            <a:noFill/>
            <a:miter lim="800000"/>
            <a:headEnd/>
            <a:tailEnd/>
          </a:ln>
        </p:spPr>
        <p:txBody>
          <a:bodyPr wrap="square">
            <a:spAutoFit/>
          </a:bodyPr>
          <a:lstStyle/>
          <a:p>
            <a:pPr algn="ctr"/>
            <a:r>
              <a:rPr lang="en-US" sz="1600" dirty="0"/>
              <a:t>* </a:t>
            </a:r>
            <a:r>
              <a:rPr lang="en-US" sz="1600" dirty="0" err="1"/>
              <a:t>Kulik</a:t>
            </a:r>
            <a:r>
              <a:rPr lang="en-US" sz="1600" dirty="0"/>
              <a:t> &amp; Weber, KLCI Research Group, 2001</a:t>
            </a:r>
          </a:p>
        </p:txBody>
      </p:sp>
      <p:pic>
        <p:nvPicPr>
          <p:cNvPr id="2" name="Picture 1"/>
          <p:cNvPicPr>
            <a:picLocks noChangeAspect="1"/>
          </p:cNvPicPr>
          <p:nvPr/>
        </p:nvPicPr>
        <p:blipFill>
          <a:blip r:embed="rId2"/>
          <a:stretch>
            <a:fillRect/>
          </a:stretch>
        </p:blipFill>
        <p:spPr>
          <a:xfrm>
            <a:off x="1447800" y="1219200"/>
            <a:ext cx="6341810" cy="49053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676400"/>
            <a:ext cx="8305800" cy="3200400"/>
          </a:xfrm>
          <a:solidFill>
            <a:schemeClr val="bg2">
              <a:lumMod val="90000"/>
            </a:schemeClr>
          </a:solidFill>
        </p:spPr>
        <p:txBody>
          <a:bodyPr/>
          <a:lstStyle/>
          <a:p>
            <a:pPr algn="just"/>
            <a:r>
              <a:rPr lang="en-US" sz="2400" dirty="0"/>
              <a:t>2008: </a:t>
            </a:r>
            <a:r>
              <a:rPr lang="en-US" sz="2400" dirty="0" err="1"/>
              <a:t>nhiều</a:t>
            </a:r>
            <a:r>
              <a:rPr lang="en-US" sz="2400" dirty="0"/>
              <a:t> </a:t>
            </a:r>
            <a:r>
              <a:rPr lang="en-US" sz="2400" dirty="0" err="1"/>
              <a:t>người</a:t>
            </a:r>
            <a:r>
              <a:rPr lang="en-US" sz="2400" dirty="0"/>
              <a:t> </a:t>
            </a:r>
            <a:r>
              <a:rPr lang="en-US" sz="2400" dirty="0" err="1"/>
              <a:t>thiệt</a:t>
            </a:r>
            <a:r>
              <a:rPr lang="en-US" sz="2400" dirty="0"/>
              <a:t> </a:t>
            </a:r>
            <a:r>
              <a:rPr lang="en-US" sz="2400" dirty="0" err="1"/>
              <a:t>hại</a:t>
            </a:r>
            <a:r>
              <a:rPr lang="en-US" sz="2400" dirty="0"/>
              <a:t> </a:t>
            </a:r>
            <a:r>
              <a:rPr lang="en-US" sz="2400" dirty="0" err="1"/>
              <a:t>từ</a:t>
            </a:r>
            <a:r>
              <a:rPr lang="en-US" sz="2400" dirty="0"/>
              <a:t> </a:t>
            </a:r>
            <a:r>
              <a:rPr lang="en-US" sz="2400" dirty="0" err="1"/>
              <a:t>khủng</a:t>
            </a:r>
            <a:r>
              <a:rPr lang="en-US" sz="2400" dirty="0"/>
              <a:t> </a:t>
            </a:r>
            <a:r>
              <a:rPr lang="en-US" sz="2400" dirty="0" err="1"/>
              <a:t>hoảng</a:t>
            </a:r>
            <a:r>
              <a:rPr lang="en-US" sz="2400" dirty="0"/>
              <a:t> </a:t>
            </a:r>
            <a:r>
              <a:rPr lang="en-US" sz="2400" dirty="0" err="1"/>
              <a:t>tài</a:t>
            </a:r>
            <a:r>
              <a:rPr lang="en-US" sz="2400" dirty="0"/>
              <a:t> </a:t>
            </a:r>
            <a:r>
              <a:rPr lang="en-US" sz="2400" dirty="0" err="1"/>
              <a:t>chính</a:t>
            </a:r>
            <a:r>
              <a:rPr lang="en-US" sz="2400" dirty="0"/>
              <a:t>, </a:t>
            </a:r>
            <a:r>
              <a:rPr lang="en-US" sz="2400" dirty="0" err="1"/>
              <a:t>dù</a:t>
            </a:r>
            <a:r>
              <a:rPr lang="en-US" sz="2400" dirty="0"/>
              <a:t> </a:t>
            </a:r>
            <a:r>
              <a:rPr lang="en-US" sz="2400" dirty="0" err="1"/>
              <a:t>đã</a:t>
            </a:r>
            <a:r>
              <a:rPr lang="en-US" sz="2400" dirty="0"/>
              <a:t> </a:t>
            </a:r>
            <a:r>
              <a:rPr lang="en-US" sz="2400" dirty="0" err="1"/>
              <a:t>được</a:t>
            </a:r>
            <a:r>
              <a:rPr lang="en-US" sz="2400" dirty="0"/>
              <a:t> </a:t>
            </a:r>
            <a:r>
              <a:rPr lang="en-US" sz="2400" dirty="0" err="1"/>
              <a:t>gói</a:t>
            </a:r>
            <a:r>
              <a:rPr lang="en-US" sz="2400" dirty="0"/>
              <a:t> </a:t>
            </a:r>
            <a:r>
              <a:rPr lang="en-US" sz="2400" dirty="0" err="1"/>
              <a:t>cứu</a:t>
            </a:r>
            <a:r>
              <a:rPr lang="en-US" sz="2400" dirty="0"/>
              <a:t> </a:t>
            </a:r>
            <a:r>
              <a:rPr lang="en-US" sz="2400" dirty="0" err="1"/>
              <a:t>trợ</a:t>
            </a:r>
            <a:r>
              <a:rPr lang="en-US" sz="2400" dirty="0"/>
              <a:t> </a:t>
            </a:r>
            <a:r>
              <a:rPr lang="en-US" sz="2400" b="1" dirty="0">
                <a:solidFill>
                  <a:srgbClr val="FF0000"/>
                </a:solidFill>
              </a:rPr>
              <a:t>700</a:t>
            </a:r>
            <a:r>
              <a:rPr lang="en-US" sz="2400" dirty="0">
                <a:solidFill>
                  <a:srgbClr val="FF0000"/>
                </a:solidFill>
              </a:rPr>
              <a:t> </a:t>
            </a:r>
            <a:r>
              <a:rPr lang="en-US" sz="2400" dirty="0" err="1">
                <a:solidFill>
                  <a:srgbClr val="FF0000"/>
                </a:solidFill>
              </a:rPr>
              <a:t>tỷ</a:t>
            </a:r>
            <a:r>
              <a:rPr lang="en-US" sz="2400" dirty="0"/>
              <a:t> USD </a:t>
            </a:r>
            <a:r>
              <a:rPr lang="en-US" sz="2400" dirty="0" err="1"/>
              <a:t>từ</a:t>
            </a:r>
            <a:r>
              <a:rPr lang="en-US" sz="2400" dirty="0"/>
              <a:t> </a:t>
            </a:r>
            <a:r>
              <a:rPr lang="en-US" sz="2400" dirty="0" err="1"/>
              <a:t>chính</a:t>
            </a:r>
            <a:r>
              <a:rPr lang="en-US" sz="2400" dirty="0"/>
              <a:t> </a:t>
            </a:r>
            <a:r>
              <a:rPr lang="en-US" sz="2400" dirty="0" err="1"/>
              <a:t>phủ</a:t>
            </a:r>
            <a:r>
              <a:rPr lang="en-US" sz="2400" dirty="0"/>
              <a:t> Hoa </a:t>
            </a:r>
            <a:r>
              <a:rPr lang="en-US" sz="2400" dirty="0" err="1"/>
              <a:t>Kỳ</a:t>
            </a:r>
            <a:r>
              <a:rPr lang="en-US" sz="2400" dirty="0"/>
              <a:t>.</a:t>
            </a:r>
          </a:p>
          <a:p>
            <a:pPr lvl="1" algn="just">
              <a:spcBef>
                <a:spcPts val="0"/>
              </a:spcBef>
              <a:spcAft>
                <a:spcPts val="1200"/>
              </a:spcAft>
              <a:buFont typeface="Arial" panose="020B0604020202020204" pitchFamily="34" charset="0"/>
              <a:buChar char="•"/>
            </a:pPr>
            <a:r>
              <a:rPr lang="en-US" sz="2400" b="1" dirty="0">
                <a:solidFill>
                  <a:srgbClr val="FF0000"/>
                </a:solidFill>
              </a:rPr>
              <a:t>70</a:t>
            </a:r>
            <a:r>
              <a:rPr lang="en-US" sz="2400" dirty="0">
                <a:solidFill>
                  <a:srgbClr val="FF0000"/>
                </a:solidFill>
              </a:rPr>
              <a:t>% </a:t>
            </a:r>
            <a:r>
              <a:rPr lang="en-US" sz="2400" dirty="0"/>
              <a:t>do </a:t>
            </a:r>
            <a:r>
              <a:rPr lang="en-US" sz="2400" dirty="0" err="1"/>
              <a:t>thất</a:t>
            </a:r>
            <a:r>
              <a:rPr lang="en-US" sz="2400" dirty="0"/>
              <a:t> </a:t>
            </a:r>
            <a:r>
              <a:rPr lang="en-US" sz="2400" dirty="0" err="1"/>
              <a:t>bại</a:t>
            </a:r>
            <a:r>
              <a:rPr lang="en-US" sz="2400" dirty="0"/>
              <a:t> </a:t>
            </a:r>
            <a:r>
              <a:rPr lang="en-US" sz="2400" dirty="0" err="1"/>
              <a:t>trong</a:t>
            </a:r>
            <a:r>
              <a:rPr lang="en-US" sz="2400" dirty="0"/>
              <a:t> quản lý </a:t>
            </a:r>
            <a:r>
              <a:rPr lang="en-US" sz="2400" dirty="0" err="1"/>
              <a:t>rủi</a:t>
            </a:r>
            <a:r>
              <a:rPr lang="en-US" sz="2400" dirty="0"/>
              <a:t> </a:t>
            </a:r>
            <a:r>
              <a:rPr lang="en-US" sz="2400" dirty="0" err="1"/>
              <a:t>ro</a:t>
            </a:r>
            <a:r>
              <a:rPr lang="en-US" sz="2400" dirty="0"/>
              <a:t> </a:t>
            </a:r>
            <a:r>
              <a:rPr lang="en-US" sz="2400" dirty="0" err="1"/>
              <a:t>tín</a:t>
            </a:r>
            <a:r>
              <a:rPr lang="en-US" sz="2400" dirty="0"/>
              <a:t> </a:t>
            </a:r>
            <a:r>
              <a:rPr lang="en-US" sz="2400" dirty="0" err="1"/>
              <a:t>dụng</a:t>
            </a:r>
            <a:r>
              <a:rPr lang="en-US" sz="2400" dirty="0"/>
              <a:t>. </a:t>
            </a:r>
          </a:p>
          <a:p>
            <a:pPr algn="just"/>
            <a:r>
              <a:rPr lang="en-US" sz="2400"/>
              <a:t>2017: </a:t>
            </a:r>
            <a:r>
              <a:rPr lang="en-US" sz="2400" dirty="0" err="1"/>
              <a:t>ngành</a:t>
            </a:r>
            <a:r>
              <a:rPr lang="en-US" sz="2400" dirty="0"/>
              <a:t> </a:t>
            </a:r>
            <a:r>
              <a:rPr lang="en-US" sz="2400" dirty="0" err="1"/>
              <a:t>ngân</a:t>
            </a:r>
            <a:r>
              <a:rPr lang="en-US" sz="2400" dirty="0"/>
              <a:t> </a:t>
            </a:r>
            <a:r>
              <a:rPr lang="en-US" sz="2400" dirty="0" err="1"/>
              <a:t>hàng</a:t>
            </a:r>
            <a:r>
              <a:rPr lang="en-US" sz="2400" dirty="0"/>
              <a:t> và </a:t>
            </a:r>
            <a:r>
              <a:rPr lang="en-US" sz="2400" dirty="0" err="1"/>
              <a:t>bảo</a:t>
            </a:r>
            <a:r>
              <a:rPr lang="en-US" sz="2400" dirty="0"/>
              <a:t> </a:t>
            </a:r>
            <a:r>
              <a:rPr lang="en-US" sz="2400" dirty="0" err="1"/>
              <a:t>hiểm</a:t>
            </a:r>
            <a:r>
              <a:rPr lang="en-US" sz="2400" dirty="0"/>
              <a:t> </a:t>
            </a:r>
            <a:r>
              <a:rPr lang="en-US" sz="2400" dirty="0" err="1"/>
              <a:t>thế</a:t>
            </a:r>
            <a:r>
              <a:rPr lang="en-US" sz="2400" dirty="0"/>
              <a:t> </a:t>
            </a:r>
            <a:r>
              <a:rPr lang="en-US" sz="2400" dirty="0" err="1"/>
              <a:t>giới</a:t>
            </a:r>
            <a:r>
              <a:rPr lang="en-US" sz="2400" dirty="0"/>
              <a:t> </a:t>
            </a:r>
            <a:r>
              <a:rPr lang="en-US" sz="2400"/>
              <a:t>chi </a:t>
            </a:r>
            <a:r>
              <a:rPr lang="en-US" sz="2400" b="1" dirty="0">
                <a:solidFill>
                  <a:srgbClr val="FF0000"/>
                </a:solidFill>
              </a:rPr>
              <a:t>8</a:t>
            </a:r>
            <a:r>
              <a:rPr lang="en-US" sz="2400" b="1">
                <a:solidFill>
                  <a:srgbClr val="FF0000"/>
                </a:solidFill>
              </a:rPr>
              <a:t>8,6</a:t>
            </a:r>
            <a:r>
              <a:rPr lang="en-US" sz="2400">
                <a:solidFill>
                  <a:srgbClr val="FF0000"/>
                </a:solidFill>
              </a:rPr>
              <a:t> </a:t>
            </a:r>
            <a:r>
              <a:rPr lang="en-US" sz="2400" dirty="0" err="1">
                <a:solidFill>
                  <a:srgbClr val="FF0000"/>
                </a:solidFill>
              </a:rPr>
              <a:t>tỷ</a:t>
            </a:r>
            <a:r>
              <a:rPr lang="en-US" sz="2400" dirty="0">
                <a:solidFill>
                  <a:srgbClr val="FF0000"/>
                </a:solidFill>
              </a:rPr>
              <a:t> </a:t>
            </a:r>
            <a:r>
              <a:rPr lang="en-US" sz="2400" dirty="0"/>
              <a:t>USD </a:t>
            </a:r>
            <a:r>
              <a:rPr lang="en-US" sz="2400" dirty="0" err="1"/>
              <a:t>cho</a:t>
            </a:r>
            <a:r>
              <a:rPr lang="en-US" sz="2400" dirty="0"/>
              <a:t> </a:t>
            </a:r>
            <a:r>
              <a:rPr lang="en-US" sz="2400" dirty="0" err="1"/>
              <a:t>rủi</a:t>
            </a:r>
            <a:r>
              <a:rPr lang="en-US" sz="2400" dirty="0"/>
              <a:t> </a:t>
            </a:r>
            <a:r>
              <a:rPr lang="en-US" sz="2400" dirty="0" err="1"/>
              <a:t>ro</a:t>
            </a:r>
            <a:r>
              <a:rPr lang="en-US" sz="2400" dirty="0"/>
              <a:t> </a:t>
            </a:r>
            <a:r>
              <a:rPr lang="en-US" sz="2400" dirty="0" err="1"/>
              <a:t>trong</a:t>
            </a:r>
            <a:r>
              <a:rPr lang="en-US" sz="2400" dirty="0"/>
              <a:t> CNTT và </a:t>
            </a:r>
            <a:r>
              <a:rPr lang="en-US" sz="2400" dirty="0" err="1"/>
              <a:t>dịch</a:t>
            </a:r>
            <a:r>
              <a:rPr lang="en-US" sz="2400" dirty="0"/>
              <a:t> </a:t>
            </a:r>
            <a:r>
              <a:rPr lang="en-US" sz="2400" dirty="0" err="1"/>
              <a:t>vụ</a:t>
            </a:r>
            <a:r>
              <a:rPr lang="en-US" sz="2400" dirty="0"/>
              <a:t>, </a:t>
            </a:r>
          </a:p>
          <a:p>
            <a:pPr lvl="1" algn="just">
              <a:buFont typeface="Arial" panose="020B0604020202020204" pitchFamily="34" charset="0"/>
              <a:buChar char="•"/>
            </a:pPr>
            <a:r>
              <a:rPr lang="en-US" sz="2400" dirty="0" err="1"/>
              <a:t>Dự</a:t>
            </a:r>
            <a:r>
              <a:rPr lang="en-US" sz="2400" dirty="0"/>
              <a:t> </a:t>
            </a:r>
            <a:r>
              <a:rPr lang="en-US" sz="2400" dirty="0" err="1"/>
              <a:t>kiến</a:t>
            </a:r>
            <a:r>
              <a:rPr lang="en-US" sz="2400" dirty="0"/>
              <a:t> </a:t>
            </a:r>
            <a:r>
              <a:rPr lang="en-US" sz="2400" err="1"/>
              <a:t>khoảng</a:t>
            </a:r>
            <a:r>
              <a:rPr lang="en-US" sz="2400"/>
              <a:t> </a:t>
            </a:r>
            <a:r>
              <a:rPr lang="en-US" sz="2400" b="1">
                <a:solidFill>
                  <a:srgbClr val="FF0000"/>
                </a:solidFill>
              </a:rPr>
              <a:t>106,5</a:t>
            </a:r>
            <a:r>
              <a:rPr lang="en-US" sz="2400">
                <a:solidFill>
                  <a:srgbClr val="FF0000"/>
                </a:solidFill>
              </a:rPr>
              <a:t> </a:t>
            </a:r>
            <a:r>
              <a:rPr lang="en-US" sz="2400" dirty="0" err="1">
                <a:solidFill>
                  <a:srgbClr val="FF0000"/>
                </a:solidFill>
              </a:rPr>
              <a:t>tỷ</a:t>
            </a:r>
            <a:r>
              <a:rPr lang="en-US" sz="2400" dirty="0">
                <a:solidFill>
                  <a:srgbClr val="FF0000"/>
                </a:solidFill>
              </a:rPr>
              <a:t> </a:t>
            </a:r>
            <a:r>
              <a:rPr lang="en-US" sz="2400" dirty="0"/>
              <a:t>USD </a:t>
            </a:r>
            <a:r>
              <a:rPr lang="en-US" sz="2400" err="1"/>
              <a:t>năm</a:t>
            </a:r>
            <a:r>
              <a:rPr lang="en-US" sz="2400"/>
              <a:t> 2021.</a:t>
            </a:r>
            <a:endParaRPr lang="en-US" sz="2400" dirty="0"/>
          </a:p>
        </p:txBody>
      </p:sp>
      <p:sp>
        <p:nvSpPr>
          <p:cNvPr id="4" name="Footer Placeholder 3"/>
          <p:cNvSpPr>
            <a:spLocks noGrp="1"/>
          </p:cNvSpPr>
          <p:nvPr>
            <p:ph type="ftr" sz="quarter" idx="10"/>
          </p:nvPr>
        </p:nvSpPr>
        <p:spPr/>
        <p:txBody>
          <a:body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5" name="Slide Number Placeholder 4"/>
          <p:cNvSpPr>
            <a:spLocks noGrp="1"/>
          </p:cNvSpPr>
          <p:nvPr>
            <p:ph type="sldNum" sz="quarter" idx="11"/>
          </p:nvPr>
        </p:nvSpPr>
        <p:spPr/>
        <p:txBody>
          <a:bodyPr/>
          <a:lstStyle/>
          <a:p>
            <a:pPr>
              <a:defRPr/>
            </a:pPr>
            <a:fld id="{073FC353-7A19-4BA9-B4BA-8F87B33A8D50}" type="slidenum">
              <a:rPr lang="en-US" smtClean="0"/>
              <a:pPr>
                <a:defRPr/>
              </a:pPr>
              <a:t>11</a:t>
            </a:fld>
            <a:endParaRPr lang="en-US" dirty="0"/>
          </a:p>
        </p:txBody>
      </p:sp>
      <p:pic>
        <p:nvPicPr>
          <p:cNvPr id="7" name="Picture 6"/>
          <p:cNvPicPr>
            <a:picLocks noChangeAspect="1"/>
          </p:cNvPicPr>
          <p:nvPr/>
        </p:nvPicPr>
        <p:blipFill>
          <a:blip r:embed="rId2"/>
          <a:stretch>
            <a:fillRect/>
          </a:stretch>
        </p:blipFill>
        <p:spPr>
          <a:xfrm>
            <a:off x="381000" y="533400"/>
            <a:ext cx="4562475" cy="638175"/>
          </a:xfrm>
          <a:prstGeom prst="rect">
            <a:avLst/>
          </a:prstGeom>
        </p:spPr>
      </p:pic>
      <p:pic>
        <p:nvPicPr>
          <p:cNvPr id="3" name="Picture 2"/>
          <p:cNvPicPr>
            <a:picLocks noChangeAspect="1"/>
          </p:cNvPicPr>
          <p:nvPr/>
        </p:nvPicPr>
        <p:blipFill>
          <a:blip r:embed="rId3"/>
          <a:stretch>
            <a:fillRect/>
          </a:stretch>
        </p:blipFill>
        <p:spPr>
          <a:xfrm>
            <a:off x="4495800" y="4495800"/>
            <a:ext cx="3124200" cy="1617264"/>
          </a:xfrm>
          <a:prstGeom prst="rect">
            <a:avLst/>
          </a:prstGeom>
          <a:ln>
            <a:solidFill>
              <a:schemeClr val="tx1"/>
            </a:solidFill>
          </a:ln>
        </p:spPr>
      </p:pic>
      <p:pic>
        <p:nvPicPr>
          <p:cNvPr id="8" name="Picture 7" descr="transparent fail red word failure"/>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460742" y="685800"/>
            <a:ext cx="1530858" cy="1036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par>
                          <p:cTn id="9" fill="hold">
                            <p:stCondLst>
                              <p:cond delay="0"/>
                            </p:stCondLst>
                            <p:childTnLst>
                              <p:par>
                                <p:cTn id="10" presetID="10" presetClass="entr" presetSubtype="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a:xfrm>
            <a:off x="304800" y="1524000"/>
            <a:ext cx="8610600" cy="2743200"/>
          </a:xfrm>
        </p:spPr>
        <p:txBody>
          <a:bodyPr/>
          <a:lstStyle/>
          <a:p>
            <a:pPr algn="just">
              <a:spcBef>
                <a:spcPts val="1200"/>
              </a:spcBef>
              <a:spcAft>
                <a:spcPts val="1200"/>
              </a:spcAft>
            </a:pPr>
            <a:r>
              <a:rPr lang="en-US" dirty="0" err="1">
                <a:effectLst>
                  <a:outerShdw blurRad="38100" dist="38100" dir="2700000" algn="tl">
                    <a:srgbClr val="000000">
                      <a:alpha val="43137"/>
                    </a:srgbClr>
                  </a:outerShdw>
                </a:effectLst>
              </a:rPr>
              <a:t>Rủi</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ro</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tiêu</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cực</a:t>
            </a:r>
            <a:r>
              <a:rPr lang="en-US" dirty="0">
                <a:effectLst>
                  <a:outerShdw blurRad="38100" dist="38100" dir="2700000" algn="tl">
                    <a:srgbClr val="000000">
                      <a:alpha val="43137"/>
                    </a:srgbClr>
                  </a:outerShdw>
                </a:effectLst>
              </a:rPr>
              <a:t> </a:t>
            </a:r>
            <a:r>
              <a:rPr lang="en-US" dirty="0"/>
              <a:t>(</a:t>
            </a:r>
            <a:r>
              <a:rPr lang="en-US" dirty="0">
                <a:solidFill>
                  <a:srgbClr val="0070C0"/>
                </a:solidFill>
              </a:rPr>
              <a:t>negative risk</a:t>
            </a:r>
            <a:r>
              <a:rPr lang="en-US" dirty="0"/>
              <a:t>): </a:t>
            </a:r>
            <a:r>
              <a:rPr lang="en-US" dirty="0" err="1"/>
              <a:t>các</a:t>
            </a:r>
            <a:r>
              <a:rPr lang="en-US" dirty="0"/>
              <a:t> </a:t>
            </a:r>
            <a:r>
              <a:rPr lang="en-US" dirty="0" err="1"/>
              <a:t>vấn</a:t>
            </a:r>
            <a:r>
              <a:rPr lang="en-US" dirty="0"/>
              <a:t> </a:t>
            </a:r>
            <a:r>
              <a:rPr lang="en-US" dirty="0" err="1"/>
              <a:t>đề</a:t>
            </a:r>
            <a:r>
              <a:rPr lang="en-US" dirty="0"/>
              <a:t> </a:t>
            </a:r>
            <a:r>
              <a:rPr lang="en-US" dirty="0" err="1"/>
              <a:t>tiềm</a:t>
            </a:r>
            <a:r>
              <a:rPr lang="en-US" dirty="0"/>
              <a:t> </a:t>
            </a:r>
            <a:r>
              <a:rPr lang="en-US" dirty="0" err="1"/>
              <a:t>ẩn</a:t>
            </a:r>
            <a:r>
              <a:rPr lang="en-US" dirty="0"/>
              <a:t> </a:t>
            </a:r>
            <a:r>
              <a:rPr lang="en-US" dirty="0" err="1"/>
              <a:t>xảy</a:t>
            </a:r>
            <a:r>
              <a:rPr lang="en-US" dirty="0"/>
              <a:t> </a:t>
            </a:r>
            <a:r>
              <a:rPr lang="en-US" dirty="0" err="1"/>
              <a:t>ra</a:t>
            </a:r>
            <a:r>
              <a:rPr lang="en-US" dirty="0"/>
              <a:t> </a:t>
            </a:r>
            <a:r>
              <a:rPr lang="en-US" dirty="0" err="1"/>
              <a:t>bất</a:t>
            </a:r>
            <a:r>
              <a:rPr lang="en-US" dirty="0"/>
              <a:t> </a:t>
            </a:r>
            <a:r>
              <a:rPr lang="en-US" dirty="0" err="1"/>
              <a:t>ngờ</a:t>
            </a:r>
            <a:r>
              <a:rPr lang="en-US" dirty="0"/>
              <a:t>, </a:t>
            </a:r>
            <a:r>
              <a:rPr lang="en-US" dirty="0" err="1"/>
              <a:t>ngăn</a:t>
            </a:r>
            <a:r>
              <a:rPr lang="en-US" dirty="0"/>
              <a:t> </a:t>
            </a:r>
            <a:r>
              <a:rPr lang="en-US" dirty="0" err="1"/>
              <a:t>cản</a:t>
            </a:r>
            <a:r>
              <a:rPr lang="en-US" dirty="0"/>
              <a:t> </a:t>
            </a:r>
            <a:r>
              <a:rPr lang="en-US" dirty="0" err="1"/>
              <a:t>sự</a:t>
            </a:r>
            <a:r>
              <a:rPr lang="en-US" dirty="0"/>
              <a:t> </a:t>
            </a:r>
            <a:r>
              <a:rPr lang="en-US" dirty="0" err="1"/>
              <a:t>thành</a:t>
            </a:r>
            <a:r>
              <a:rPr lang="en-US" dirty="0"/>
              <a:t> </a:t>
            </a:r>
            <a:r>
              <a:rPr lang="en-US" dirty="0" err="1"/>
              <a:t>công</a:t>
            </a:r>
            <a:r>
              <a:rPr lang="en-US" dirty="0"/>
              <a:t> </a:t>
            </a:r>
            <a:r>
              <a:rPr lang="en-US" dirty="0" err="1"/>
              <a:t>của</a:t>
            </a:r>
            <a:r>
              <a:rPr lang="en-US" dirty="0"/>
              <a:t> </a:t>
            </a:r>
            <a:r>
              <a:rPr lang="en-US" dirty="0" err="1"/>
              <a:t>dự</a:t>
            </a:r>
            <a:r>
              <a:rPr lang="en-US" dirty="0"/>
              <a:t> </a:t>
            </a:r>
            <a:r>
              <a:rPr lang="en-US" dirty="0" err="1"/>
              <a:t>án</a:t>
            </a:r>
            <a:r>
              <a:rPr lang="en-US" dirty="0"/>
              <a:t>.</a:t>
            </a:r>
          </a:p>
          <a:p>
            <a:pPr algn="just">
              <a:spcBef>
                <a:spcPts val="1200"/>
              </a:spcBef>
              <a:spcAft>
                <a:spcPts val="1200"/>
              </a:spcAft>
            </a:pPr>
            <a:r>
              <a:rPr lang="en-US" dirty="0" err="1"/>
              <a:t>Rủi</a:t>
            </a:r>
            <a:r>
              <a:rPr lang="en-US" dirty="0"/>
              <a:t> </a:t>
            </a:r>
            <a:r>
              <a:rPr lang="en-US" dirty="0" err="1"/>
              <a:t>ro</a:t>
            </a:r>
            <a:r>
              <a:rPr lang="en-US" dirty="0"/>
              <a:t>: “</a:t>
            </a:r>
            <a:r>
              <a:rPr lang="en-US" i="1" dirty="0" err="1"/>
              <a:t>khả</a:t>
            </a:r>
            <a:r>
              <a:rPr lang="en-US" i="1" dirty="0"/>
              <a:t> </a:t>
            </a:r>
            <a:r>
              <a:rPr lang="en-US" i="1" dirty="0" err="1"/>
              <a:t>năng</a:t>
            </a:r>
            <a:r>
              <a:rPr lang="en-US" i="1" dirty="0"/>
              <a:t> </a:t>
            </a:r>
            <a:r>
              <a:rPr lang="en-US" i="1" dirty="0" err="1"/>
              <a:t>mất</a:t>
            </a:r>
            <a:r>
              <a:rPr lang="en-US" i="1" dirty="0"/>
              <a:t> </a:t>
            </a:r>
            <a:r>
              <a:rPr lang="en-US" i="1" dirty="0" err="1"/>
              <a:t>mát</a:t>
            </a:r>
            <a:r>
              <a:rPr lang="en-US" i="1" dirty="0"/>
              <a:t> </a:t>
            </a:r>
            <a:r>
              <a:rPr lang="en-US" i="1" dirty="0" err="1"/>
              <a:t>hoặc</a:t>
            </a:r>
            <a:r>
              <a:rPr lang="en-US" i="1" dirty="0"/>
              <a:t> </a:t>
            </a:r>
            <a:r>
              <a:rPr lang="en-US" i="1" dirty="0" err="1"/>
              <a:t>tổn</a:t>
            </a:r>
            <a:r>
              <a:rPr lang="en-US" i="1" dirty="0"/>
              <a:t> </a:t>
            </a:r>
            <a:r>
              <a:rPr lang="en-US" i="1" dirty="0" err="1"/>
              <a:t>thất</a:t>
            </a:r>
            <a:r>
              <a:rPr lang="en-US" dirty="0"/>
              <a:t>”.</a:t>
            </a:r>
          </a:p>
          <a:p>
            <a:pPr algn="just">
              <a:spcBef>
                <a:spcPts val="1200"/>
              </a:spcBef>
              <a:spcAft>
                <a:spcPts val="1200"/>
              </a:spcAft>
            </a:pPr>
            <a:r>
              <a:rPr lang="en-US" dirty="0"/>
              <a:t>Quản lý </a:t>
            </a:r>
            <a:r>
              <a:rPr lang="en-US" dirty="0" err="1"/>
              <a:t>rủi</a:t>
            </a:r>
            <a:r>
              <a:rPr lang="en-US" dirty="0"/>
              <a:t> </a:t>
            </a:r>
            <a:r>
              <a:rPr lang="en-US" dirty="0" err="1"/>
              <a:t>ro</a:t>
            </a:r>
            <a:r>
              <a:rPr lang="en-US" dirty="0"/>
              <a:t> </a:t>
            </a:r>
            <a:r>
              <a:rPr lang="en-US" dirty="0" err="1"/>
              <a:t>tiêu</a:t>
            </a:r>
            <a:r>
              <a:rPr lang="en-US" dirty="0"/>
              <a:t> </a:t>
            </a:r>
            <a:r>
              <a:rPr lang="en-US" dirty="0" err="1"/>
              <a:t>cực</a:t>
            </a:r>
            <a:r>
              <a:rPr lang="en-US" dirty="0"/>
              <a:t> </a:t>
            </a:r>
            <a:r>
              <a:rPr lang="en-US" dirty="0" err="1"/>
              <a:t>tương</a:t>
            </a:r>
            <a:r>
              <a:rPr lang="en-US" dirty="0"/>
              <a:t> </a:t>
            </a:r>
            <a:r>
              <a:rPr lang="en-US" dirty="0" err="1"/>
              <a:t>tự</a:t>
            </a:r>
            <a:r>
              <a:rPr lang="en-US" dirty="0"/>
              <a:t> </a:t>
            </a:r>
            <a:r>
              <a:rPr lang="en-US" dirty="0" err="1"/>
              <a:t>như</a:t>
            </a:r>
            <a:r>
              <a:rPr lang="en-US" dirty="0"/>
              <a:t> </a:t>
            </a:r>
            <a:r>
              <a:rPr lang="en-US" dirty="0" err="1"/>
              <a:t>bảo</a:t>
            </a:r>
            <a:r>
              <a:rPr lang="en-US" dirty="0"/>
              <a:t> </a:t>
            </a:r>
            <a:r>
              <a:rPr lang="en-US" dirty="0" err="1"/>
              <a:t>hiểm</a:t>
            </a:r>
            <a:r>
              <a:rPr lang="en-US" dirty="0"/>
              <a:t>...</a:t>
            </a:r>
          </a:p>
          <a:p>
            <a:pPr marL="109537" indent="0" algn="just">
              <a:spcBef>
                <a:spcPts val="1200"/>
              </a:spcBef>
              <a:spcAft>
                <a:spcPts val="600"/>
              </a:spcAft>
              <a:buNone/>
            </a:pPr>
            <a:br>
              <a:rPr lang="en-US" sz="3200" dirty="0"/>
            </a:br>
            <a:endParaRPr lang="en-US" sz="3200" dirty="0"/>
          </a:p>
        </p:txBody>
      </p:sp>
      <p:sp>
        <p:nvSpPr>
          <p:cNvPr id="19458" name="Rectangle 2"/>
          <p:cNvSpPr>
            <a:spLocks noGrp="1" noChangeArrowheads="1"/>
          </p:cNvSpPr>
          <p:nvPr>
            <p:ph type="title"/>
          </p:nvPr>
        </p:nvSpPr>
        <p:spPr>
          <a:xfrm>
            <a:off x="381000" y="427038"/>
            <a:ext cx="8305800" cy="715962"/>
          </a:xfrm>
        </p:spPr>
        <p:txBody>
          <a:bodyPr>
            <a:normAutofit/>
          </a:bodyPr>
          <a:lstStyle/>
          <a:p>
            <a:pPr algn="ctr"/>
            <a:r>
              <a:rPr lang="en-US" sz="4000" dirty="0" err="1"/>
              <a:t>Rủi</a:t>
            </a:r>
            <a:r>
              <a:rPr lang="en-US" sz="4000" dirty="0"/>
              <a:t> </a:t>
            </a:r>
            <a:r>
              <a:rPr lang="en-US" sz="4000" dirty="0" err="1"/>
              <a:t>ro</a:t>
            </a:r>
            <a:r>
              <a:rPr lang="en-US" sz="4000" dirty="0"/>
              <a:t> </a:t>
            </a:r>
            <a:r>
              <a:rPr lang="en-US" sz="4000" dirty="0" err="1"/>
              <a:t>tiêu</a:t>
            </a:r>
            <a:r>
              <a:rPr lang="en-US" sz="4000" dirty="0"/>
              <a:t> </a:t>
            </a:r>
            <a:r>
              <a:rPr lang="en-US" sz="4000" dirty="0" err="1"/>
              <a:t>cực</a:t>
            </a:r>
            <a:endParaRPr lang="en-US" sz="4000" dirty="0"/>
          </a:p>
        </p:txBody>
      </p:sp>
      <p:sp>
        <p:nvSpPr>
          <p:cNvPr id="1946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029358A-A68A-4B39-848F-F2A98A0B2E8B}" type="slidenum">
              <a:rPr lang="en-US" smtClean="0"/>
              <a:pPr>
                <a:defRPr/>
              </a:pPr>
              <a:t>12</a:t>
            </a:fld>
            <a:endParaRPr lang="en-US" dirty="0"/>
          </a:p>
        </p:txBody>
      </p:sp>
      <p:pic>
        <p:nvPicPr>
          <p:cNvPr id="2" name="Picture 1"/>
          <p:cNvPicPr>
            <a:picLocks noChangeAspect="1"/>
          </p:cNvPicPr>
          <p:nvPr/>
        </p:nvPicPr>
        <p:blipFill>
          <a:blip r:embed="rId3"/>
          <a:stretch>
            <a:fillRect/>
          </a:stretch>
        </p:blipFill>
        <p:spPr>
          <a:xfrm>
            <a:off x="4800600" y="4038600"/>
            <a:ext cx="3590925" cy="26143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228600" y="1447800"/>
            <a:ext cx="8610600" cy="3733800"/>
          </a:xfrm>
        </p:spPr>
        <p:txBody>
          <a:bodyPr/>
          <a:lstStyle/>
          <a:p>
            <a:pPr algn="just">
              <a:spcBef>
                <a:spcPts val="1200"/>
              </a:spcBef>
              <a:spcAft>
                <a:spcPts val="600"/>
              </a:spcAft>
            </a:pPr>
            <a:r>
              <a:rPr lang="en-US" dirty="0" err="1">
                <a:effectLst>
                  <a:outerShdw blurRad="38100" dist="38100" dir="2700000" algn="tl">
                    <a:srgbClr val="000000">
                      <a:alpha val="43137"/>
                    </a:srgbClr>
                  </a:outerShdw>
                </a:effectLst>
              </a:rPr>
              <a:t>Rủi</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ro</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tích</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cực</a:t>
            </a:r>
            <a:r>
              <a:rPr lang="en-US" dirty="0">
                <a:effectLst>
                  <a:outerShdw blurRad="38100" dist="38100" dir="2700000" algn="tl">
                    <a:srgbClr val="000000">
                      <a:alpha val="43137"/>
                    </a:srgbClr>
                  </a:outerShdw>
                </a:effectLst>
              </a:rPr>
              <a:t> </a:t>
            </a:r>
            <a:r>
              <a:rPr lang="en-US" dirty="0"/>
              <a:t>(</a:t>
            </a:r>
            <a:r>
              <a:rPr lang="en-US" dirty="0">
                <a:solidFill>
                  <a:srgbClr val="0070C0"/>
                </a:solidFill>
              </a:rPr>
              <a:t>positive risk</a:t>
            </a:r>
            <a:r>
              <a:rPr lang="en-US" dirty="0"/>
              <a:t>): </a:t>
            </a:r>
            <a:r>
              <a:rPr lang="en-US" dirty="0" err="1"/>
              <a:t>rủi</a:t>
            </a:r>
            <a:r>
              <a:rPr lang="en-US" dirty="0"/>
              <a:t> </a:t>
            </a:r>
            <a:r>
              <a:rPr lang="en-US" dirty="0" err="1"/>
              <a:t>ro</a:t>
            </a:r>
            <a:r>
              <a:rPr lang="en-US" dirty="0"/>
              <a:t> </a:t>
            </a:r>
            <a:r>
              <a:rPr lang="en-US" dirty="0" err="1"/>
              <a:t>dẫn</a:t>
            </a:r>
            <a:r>
              <a:rPr lang="en-US" dirty="0"/>
              <a:t> </a:t>
            </a:r>
            <a:r>
              <a:rPr lang="en-US" dirty="0" err="1"/>
              <a:t>đến</a:t>
            </a:r>
            <a:r>
              <a:rPr lang="en-US" dirty="0"/>
              <a:t> </a:t>
            </a:r>
            <a:r>
              <a:rPr lang="en-US" dirty="0" err="1"/>
              <a:t>những</a:t>
            </a:r>
            <a:r>
              <a:rPr lang="en-US" dirty="0"/>
              <a:t> </a:t>
            </a:r>
            <a:r>
              <a:rPr lang="en-US" dirty="0" err="1"/>
              <a:t>điều</a:t>
            </a:r>
            <a:r>
              <a:rPr lang="en-US" dirty="0"/>
              <a:t> </a:t>
            </a:r>
            <a:r>
              <a:rPr lang="en-US" dirty="0" err="1"/>
              <a:t>tốt</a:t>
            </a:r>
            <a:r>
              <a:rPr lang="en-US" dirty="0"/>
              <a:t> </a:t>
            </a:r>
            <a:r>
              <a:rPr lang="en-US" dirty="0" err="1"/>
              <a:t>đẹp</a:t>
            </a:r>
            <a:r>
              <a:rPr lang="en-US" dirty="0"/>
              <a:t> - </a:t>
            </a:r>
            <a:r>
              <a:rPr lang="en-US" dirty="0" err="1"/>
              <a:t>cơ</a:t>
            </a:r>
            <a:r>
              <a:rPr lang="en-US" dirty="0"/>
              <a:t> </a:t>
            </a:r>
            <a:r>
              <a:rPr lang="en-US" dirty="0" err="1"/>
              <a:t>hội</a:t>
            </a:r>
            <a:r>
              <a:rPr lang="en-US" dirty="0"/>
              <a:t>.</a:t>
            </a:r>
          </a:p>
          <a:p>
            <a:pPr algn="just">
              <a:spcBef>
                <a:spcPts val="1200"/>
              </a:spcBef>
              <a:spcAft>
                <a:spcPts val="600"/>
              </a:spcAft>
            </a:pPr>
            <a:r>
              <a:rPr lang="en-US" dirty="0" err="1"/>
              <a:t>Rủi</a:t>
            </a:r>
            <a:r>
              <a:rPr lang="en-US" dirty="0"/>
              <a:t> </a:t>
            </a:r>
            <a:r>
              <a:rPr lang="en-US" dirty="0" err="1"/>
              <a:t>ro</a:t>
            </a:r>
            <a:r>
              <a:rPr lang="en-US" dirty="0"/>
              <a:t> </a:t>
            </a:r>
            <a:r>
              <a:rPr lang="en-US" dirty="0" err="1"/>
              <a:t>là</a:t>
            </a:r>
            <a:r>
              <a:rPr lang="en-US" dirty="0"/>
              <a:t> </a:t>
            </a:r>
            <a:r>
              <a:rPr lang="vi-VN" dirty="0"/>
              <a:t>sự không chắc chắn có tác động tiêu cực hay tích cực tới mục tiêu dự án.</a:t>
            </a:r>
          </a:p>
          <a:p>
            <a:pPr algn="just">
              <a:spcBef>
                <a:spcPts val="1200"/>
              </a:spcBef>
              <a:spcAft>
                <a:spcPts val="600"/>
              </a:spcAft>
            </a:pPr>
            <a:r>
              <a:rPr lang="en-US" dirty="0"/>
              <a:t>Quản lý </a:t>
            </a:r>
            <a:r>
              <a:rPr lang="en-US" dirty="0" err="1"/>
              <a:t>rủi</a:t>
            </a:r>
            <a:r>
              <a:rPr lang="en-US" dirty="0"/>
              <a:t> </a:t>
            </a:r>
            <a:r>
              <a:rPr lang="en-US" dirty="0" err="1"/>
              <a:t>ro</a:t>
            </a:r>
            <a:r>
              <a:rPr lang="en-US" dirty="0"/>
              <a:t>: </a:t>
            </a:r>
            <a:r>
              <a:rPr lang="en-US" dirty="0" err="1"/>
              <a:t>giảm</a:t>
            </a:r>
            <a:r>
              <a:rPr lang="en-US" dirty="0"/>
              <a:t> </a:t>
            </a:r>
            <a:r>
              <a:rPr lang="en-US" dirty="0" err="1"/>
              <a:t>thiểu</a:t>
            </a:r>
            <a:r>
              <a:rPr lang="en-US" dirty="0"/>
              <a:t> </a:t>
            </a:r>
            <a:r>
              <a:rPr lang="en-US" dirty="0" err="1"/>
              <a:t>rủi</a:t>
            </a:r>
            <a:r>
              <a:rPr lang="en-US" dirty="0"/>
              <a:t> </a:t>
            </a:r>
            <a:r>
              <a:rPr lang="en-US" dirty="0" err="1"/>
              <a:t>ro</a:t>
            </a:r>
            <a:r>
              <a:rPr lang="en-US" dirty="0"/>
              <a:t> </a:t>
            </a:r>
            <a:r>
              <a:rPr lang="en-US" dirty="0" err="1"/>
              <a:t>tiêu</a:t>
            </a:r>
            <a:r>
              <a:rPr lang="en-US" dirty="0"/>
              <a:t> </a:t>
            </a:r>
            <a:r>
              <a:rPr lang="en-US" dirty="0" err="1"/>
              <a:t>cực</a:t>
            </a:r>
            <a:r>
              <a:rPr lang="en-US" dirty="0"/>
              <a:t>, </a:t>
            </a:r>
            <a:r>
              <a:rPr lang="en-US" dirty="0" err="1"/>
              <a:t>tăng</a:t>
            </a:r>
            <a:r>
              <a:rPr lang="en-US" dirty="0"/>
              <a:t> </a:t>
            </a:r>
            <a:r>
              <a:rPr lang="en-US" dirty="0" err="1"/>
              <a:t>cường</a:t>
            </a:r>
            <a:r>
              <a:rPr lang="en-US" dirty="0"/>
              <a:t> </a:t>
            </a:r>
            <a:r>
              <a:rPr lang="en-US" dirty="0" err="1"/>
              <a:t>rủi</a:t>
            </a:r>
            <a:r>
              <a:rPr lang="en-US" dirty="0"/>
              <a:t> </a:t>
            </a:r>
            <a:r>
              <a:rPr lang="en-US" dirty="0" err="1"/>
              <a:t>ro</a:t>
            </a:r>
            <a:r>
              <a:rPr lang="en-US" dirty="0"/>
              <a:t> </a:t>
            </a:r>
            <a:r>
              <a:rPr lang="en-US" dirty="0" err="1"/>
              <a:t>tích</a:t>
            </a:r>
            <a:r>
              <a:rPr lang="en-US" dirty="0"/>
              <a:t> </a:t>
            </a:r>
            <a:r>
              <a:rPr lang="en-US" dirty="0" err="1"/>
              <a:t>cực</a:t>
            </a:r>
            <a:r>
              <a:rPr lang="en-US" dirty="0"/>
              <a:t>.</a:t>
            </a:r>
          </a:p>
        </p:txBody>
      </p:sp>
      <p:sp>
        <p:nvSpPr>
          <p:cNvPr id="20482" name="Rectangle 2"/>
          <p:cNvSpPr>
            <a:spLocks noGrp="1" noChangeArrowheads="1"/>
          </p:cNvSpPr>
          <p:nvPr>
            <p:ph type="title"/>
          </p:nvPr>
        </p:nvSpPr>
        <p:spPr>
          <a:xfrm>
            <a:off x="381000" y="228600"/>
            <a:ext cx="8305800" cy="868362"/>
          </a:xfrm>
        </p:spPr>
        <p:txBody>
          <a:bodyPr>
            <a:normAutofit/>
          </a:bodyPr>
          <a:lstStyle/>
          <a:p>
            <a:pPr algn="ctr"/>
            <a:r>
              <a:rPr lang="en-US" sz="4000" dirty="0" err="1"/>
              <a:t>Rủi</a:t>
            </a:r>
            <a:r>
              <a:rPr lang="en-US" sz="4000" dirty="0"/>
              <a:t> </a:t>
            </a:r>
            <a:r>
              <a:rPr lang="en-US" sz="4000" dirty="0" err="1"/>
              <a:t>ro</a:t>
            </a:r>
            <a:r>
              <a:rPr lang="en-US" sz="4000" dirty="0"/>
              <a:t> </a:t>
            </a:r>
            <a:r>
              <a:rPr lang="en-US" sz="4000" dirty="0" err="1"/>
              <a:t>tích</a:t>
            </a:r>
            <a:r>
              <a:rPr lang="en-US" sz="4000" dirty="0"/>
              <a:t> </a:t>
            </a:r>
            <a:r>
              <a:rPr lang="en-US" sz="4000" dirty="0" err="1"/>
              <a:t>cực</a:t>
            </a:r>
            <a:endParaRPr lang="en-US" sz="4000" dirty="0"/>
          </a:p>
        </p:txBody>
      </p:sp>
      <p:sp>
        <p:nvSpPr>
          <p:cNvPr id="20485"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558848C3-6CA1-4DD7-8398-A9BCB5F1C19A}" type="slidenum">
              <a:rPr lang="en-US" smtClean="0"/>
              <a:pPr>
                <a:defRPr/>
              </a:pPr>
              <a:t>13</a:t>
            </a:fld>
            <a:endParaRPr lang="en-US" dirty="0"/>
          </a:p>
        </p:txBody>
      </p:sp>
      <p:pic>
        <p:nvPicPr>
          <p:cNvPr id="7" name="Picture 4" descr="http://static.new.tuoitre.vn/tto/i/s626/2015/04/17/v7EB0f4p.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4725955"/>
            <a:ext cx="2514600" cy="1674845"/>
          </a:xfrm>
          <a:prstGeom prst="rect">
            <a:avLst/>
          </a:prstGeom>
          <a:noFill/>
          <a:ln>
            <a:noFill/>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childTnLst>
                          </p:cTn>
                        </p:par>
                        <p:par>
                          <p:cTn id="11" fill="hold">
                            <p:stCondLst>
                              <p:cond delay="0"/>
                            </p:stCondLst>
                            <p:childTnLst>
                              <p:par>
                                <p:cTn id="12" presetID="10" presetClass="entr" presetSubtype="0"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381000" y="1447800"/>
            <a:ext cx="8186738" cy="3200400"/>
          </a:xfrm>
        </p:spPr>
        <p:txBody>
          <a:bodyPr/>
          <a:lstStyle/>
          <a:p>
            <a:pPr algn="just">
              <a:spcBef>
                <a:spcPct val="50000"/>
              </a:spcBef>
              <a:spcAft>
                <a:spcPts val="600"/>
              </a:spcAft>
            </a:pPr>
            <a:r>
              <a:rPr lang="en-US" dirty="0" err="1">
                <a:effectLst>
                  <a:outerShdw blurRad="38100" dist="38100" dir="2700000" algn="tl">
                    <a:srgbClr val="000000">
                      <a:alpha val="43137"/>
                    </a:srgbClr>
                  </a:outerShdw>
                </a:effectLst>
              </a:rPr>
              <a:t>Lợi</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ích</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rủi</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ro</a:t>
            </a:r>
            <a:r>
              <a:rPr lang="en-US" dirty="0"/>
              <a:t> (</a:t>
            </a:r>
            <a:r>
              <a:rPr lang="en-US" dirty="0">
                <a:solidFill>
                  <a:srgbClr val="0070C0"/>
                </a:solidFill>
              </a:rPr>
              <a:t>risk utility</a:t>
            </a:r>
            <a:r>
              <a:rPr lang="en-US" dirty="0"/>
              <a:t>) </a:t>
            </a:r>
            <a:r>
              <a:rPr lang="en-US" dirty="0" err="1"/>
              <a:t>hoặc</a:t>
            </a:r>
            <a:r>
              <a:rPr lang="en-US" dirty="0"/>
              <a:t> </a:t>
            </a:r>
            <a:r>
              <a:rPr lang="en-US" dirty="0" err="1">
                <a:effectLst>
                  <a:outerShdw blurRad="38100" dist="38100" dir="2700000" algn="tl">
                    <a:srgbClr val="000000">
                      <a:alpha val="43137"/>
                    </a:srgbClr>
                  </a:outerShdw>
                </a:effectLst>
              </a:rPr>
              <a:t>mức</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độ</a:t>
            </a:r>
            <a:r>
              <a:rPr lang="en-US" dirty="0"/>
              <a:t> </a:t>
            </a:r>
            <a:r>
              <a:rPr lang="en-US" dirty="0" err="1">
                <a:effectLst>
                  <a:outerShdw blurRad="38100" dist="38100" dir="2700000" algn="tl">
                    <a:srgbClr val="000000">
                      <a:alpha val="43137"/>
                    </a:srgbClr>
                  </a:outerShdw>
                </a:effectLst>
              </a:rPr>
              <a:t>chấp</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nhận</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rủi</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ro</a:t>
            </a:r>
            <a:r>
              <a:rPr lang="en-US" dirty="0"/>
              <a:t> (</a:t>
            </a:r>
            <a:r>
              <a:rPr lang="en-US" dirty="0">
                <a:solidFill>
                  <a:srgbClr val="0070C0"/>
                </a:solidFill>
              </a:rPr>
              <a:t>risk tolerance</a:t>
            </a:r>
            <a:r>
              <a:rPr lang="en-US" dirty="0"/>
              <a:t>): </a:t>
            </a:r>
            <a:r>
              <a:rPr lang="vi-VN" dirty="0"/>
              <a:t>giá trị của sự hài lòng nhận được từ gi</a:t>
            </a:r>
            <a:r>
              <a:rPr lang="en-US" dirty="0"/>
              <a:t>á </a:t>
            </a:r>
            <a:r>
              <a:rPr lang="en-US" dirty="0" err="1"/>
              <a:t>trị</a:t>
            </a:r>
            <a:r>
              <a:rPr lang="en-US" dirty="0"/>
              <a:t> </a:t>
            </a:r>
            <a:r>
              <a:rPr lang="en-US" dirty="0" err="1"/>
              <a:t>tiềm</a:t>
            </a:r>
            <a:r>
              <a:rPr lang="en-US" dirty="0"/>
              <a:t> </a:t>
            </a:r>
            <a:r>
              <a:rPr lang="en-US" dirty="0" err="1"/>
              <a:t>ẩn</a:t>
            </a:r>
            <a:r>
              <a:rPr lang="en-US" dirty="0"/>
              <a:t>. </a:t>
            </a:r>
          </a:p>
          <a:p>
            <a:pPr lvl="1" algn="just">
              <a:spcBef>
                <a:spcPts val="300"/>
              </a:spcBef>
              <a:spcAft>
                <a:spcPts val="300"/>
              </a:spcAft>
              <a:buFont typeface="Arial" panose="020B0604020202020204" pitchFamily="34" charset="0"/>
              <a:buChar char="•"/>
            </a:pPr>
            <a:r>
              <a:rPr lang="en-US" sz="2400" dirty="0" err="1"/>
              <a:t>Lợi</a:t>
            </a:r>
            <a:r>
              <a:rPr lang="en-US" sz="2400" dirty="0"/>
              <a:t> </a:t>
            </a:r>
            <a:r>
              <a:rPr lang="en-US" sz="2400" dirty="0" err="1"/>
              <a:t>ích</a:t>
            </a:r>
            <a:r>
              <a:rPr lang="en-US" sz="2400" dirty="0"/>
              <a:t> </a:t>
            </a:r>
            <a:r>
              <a:rPr lang="en-US" sz="2400" dirty="0" err="1"/>
              <a:t>tăng</a:t>
            </a:r>
            <a:r>
              <a:rPr lang="en-US" sz="2400" dirty="0"/>
              <a:t> </a:t>
            </a:r>
            <a:r>
              <a:rPr lang="en-US" sz="2400" dirty="0" err="1"/>
              <a:t>với</a:t>
            </a:r>
            <a:r>
              <a:rPr lang="en-US" sz="2400" dirty="0"/>
              <a:t> </a:t>
            </a:r>
            <a:r>
              <a:rPr lang="en-US" sz="2400" dirty="0" err="1"/>
              <a:t>tốc</a:t>
            </a:r>
            <a:r>
              <a:rPr lang="en-US" sz="2400" dirty="0"/>
              <a:t> </a:t>
            </a:r>
            <a:r>
              <a:rPr lang="en-US" sz="2400" dirty="0" err="1"/>
              <a:t>độ</a:t>
            </a:r>
            <a:r>
              <a:rPr lang="en-US" sz="2400" dirty="0"/>
              <a:t> </a:t>
            </a:r>
            <a:r>
              <a:rPr lang="en-US" sz="2400" dirty="0" err="1"/>
              <a:t>giảm</a:t>
            </a:r>
            <a:r>
              <a:rPr lang="en-US" sz="2400" dirty="0"/>
              <a:t> - </a:t>
            </a:r>
            <a:r>
              <a:rPr lang="en-US" sz="2400" u="sng" dirty="0" err="1"/>
              <a:t>người</a:t>
            </a:r>
            <a:r>
              <a:rPr lang="en-US" sz="2400" u="sng" dirty="0"/>
              <a:t> </a:t>
            </a:r>
            <a:r>
              <a:rPr lang="en-US" sz="2400" u="sng" dirty="0" err="1"/>
              <a:t>ngại</a:t>
            </a:r>
            <a:r>
              <a:rPr lang="en-US" sz="2400" u="sng" dirty="0"/>
              <a:t> </a:t>
            </a:r>
            <a:r>
              <a:rPr lang="en-US" sz="2400" u="sng" dirty="0" err="1"/>
              <a:t>rủi</a:t>
            </a:r>
            <a:r>
              <a:rPr lang="en-US" sz="2400" u="sng" dirty="0"/>
              <a:t> ro</a:t>
            </a:r>
            <a:r>
              <a:rPr lang="en-US" sz="2400" dirty="0"/>
              <a:t>.</a:t>
            </a:r>
          </a:p>
          <a:p>
            <a:pPr lvl="1" algn="just">
              <a:spcBef>
                <a:spcPts val="300"/>
              </a:spcBef>
              <a:spcAft>
                <a:spcPts val="300"/>
              </a:spcAft>
              <a:buFont typeface="Arial" panose="020B0604020202020204" pitchFamily="34" charset="0"/>
              <a:buChar char="•"/>
            </a:pPr>
            <a:r>
              <a:rPr lang="en-US" sz="2400" dirty="0" err="1"/>
              <a:t>Lợi</a:t>
            </a:r>
            <a:r>
              <a:rPr lang="en-US" sz="2400" dirty="0"/>
              <a:t> </a:t>
            </a:r>
            <a:r>
              <a:rPr lang="en-US" sz="2400" dirty="0" err="1"/>
              <a:t>ích</a:t>
            </a:r>
            <a:r>
              <a:rPr lang="en-US" sz="2400" dirty="0"/>
              <a:t> </a:t>
            </a:r>
            <a:r>
              <a:rPr lang="en-US" sz="2400" dirty="0" err="1"/>
              <a:t>tăng</a:t>
            </a:r>
            <a:r>
              <a:rPr lang="en-US" sz="2400" dirty="0"/>
              <a:t> </a:t>
            </a:r>
            <a:r>
              <a:rPr lang="en-US" sz="2400" dirty="0" err="1"/>
              <a:t>với</a:t>
            </a:r>
            <a:r>
              <a:rPr lang="en-US" sz="2400" dirty="0"/>
              <a:t> </a:t>
            </a:r>
            <a:r>
              <a:rPr lang="en-US" sz="2400" dirty="0" err="1"/>
              <a:t>tốc</a:t>
            </a:r>
            <a:r>
              <a:rPr lang="en-US" sz="2400" dirty="0"/>
              <a:t> </a:t>
            </a:r>
            <a:r>
              <a:rPr lang="en-US" sz="2400" dirty="0" err="1"/>
              <a:t>độ</a:t>
            </a:r>
            <a:r>
              <a:rPr lang="en-US" sz="2400" dirty="0"/>
              <a:t> </a:t>
            </a:r>
            <a:r>
              <a:rPr lang="en-US" sz="2400" dirty="0" err="1"/>
              <a:t>tăng</a:t>
            </a:r>
            <a:r>
              <a:rPr lang="en-US" sz="2400" dirty="0"/>
              <a:t> - </a:t>
            </a:r>
            <a:r>
              <a:rPr lang="en-US" sz="2400" u="sng" dirty="0" err="1"/>
              <a:t>chấp</a:t>
            </a:r>
            <a:r>
              <a:rPr lang="en-US" sz="2400" u="sng" dirty="0"/>
              <a:t> </a:t>
            </a:r>
            <a:r>
              <a:rPr lang="en-US" sz="2400" u="sng" dirty="0" err="1"/>
              <a:t>nhận</a:t>
            </a:r>
            <a:r>
              <a:rPr lang="en-US" sz="2400" u="sng" dirty="0"/>
              <a:t> </a:t>
            </a:r>
            <a:r>
              <a:rPr lang="en-US" sz="2400" u="sng" dirty="0" err="1"/>
              <a:t>rủi</a:t>
            </a:r>
            <a:r>
              <a:rPr lang="en-US" sz="2400" u="sng" dirty="0"/>
              <a:t> ro</a:t>
            </a:r>
            <a:r>
              <a:rPr lang="en-US" sz="2400" dirty="0"/>
              <a:t>.</a:t>
            </a:r>
          </a:p>
          <a:p>
            <a:pPr lvl="1" algn="just">
              <a:spcBef>
                <a:spcPts val="300"/>
              </a:spcBef>
              <a:spcAft>
                <a:spcPts val="300"/>
              </a:spcAft>
              <a:buFont typeface="Arial" panose="020B0604020202020204" pitchFamily="34" charset="0"/>
              <a:buChar char="•"/>
            </a:pPr>
            <a:r>
              <a:rPr lang="en-US" sz="2400" dirty="0" err="1"/>
              <a:t>Cân</a:t>
            </a:r>
            <a:r>
              <a:rPr lang="en-US" sz="2400" dirty="0"/>
              <a:t> </a:t>
            </a:r>
            <a:r>
              <a:rPr lang="en-US" sz="2400" dirty="0" err="1"/>
              <a:t>bằng</a:t>
            </a:r>
            <a:r>
              <a:rPr lang="en-US" sz="2400" dirty="0"/>
              <a:t> </a:t>
            </a:r>
            <a:r>
              <a:rPr lang="en-US" sz="2400" dirty="0" err="1"/>
              <a:t>giữa</a:t>
            </a:r>
            <a:r>
              <a:rPr lang="en-US" sz="2400" dirty="0"/>
              <a:t> </a:t>
            </a:r>
            <a:r>
              <a:rPr lang="en-US" sz="2400" dirty="0" err="1"/>
              <a:t>rủi</a:t>
            </a:r>
            <a:r>
              <a:rPr lang="en-US" sz="2400" dirty="0"/>
              <a:t> </a:t>
            </a:r>
            <a:r>
              <a:rPr lang="en-US" sz="2400" dirty="0" err="1"/>
              <a:t>ro</a:t>
            </a:r>
            <a:r>
              <a:rPr lang="en-US" sz="2400" dirty="0"/>
              <a:t> và </a:t>
            </a:r>
            <a:r>
              <a:rPr lang="en-US" sz="2400" dirty="0" err="1"/>
              <a:t>giá</a:t>
            </a:r>
            <a:r>
              <a:rPr lang="en-US" sz="2400" dirty="0"/>
              <a:t> </a:t>
            </a:r>
            <a:r>
              <a:rPr lang="en-US" sz="2400" dirty="0" err="1"/>
              <a:t>trị</a:t>
            </a:r>
            <a:r>
              <a:rPr lang="en-US" sz="2400" dirty="0"/>
              <a:t> - </a:t>
            </a:r>
            <a:r>
              <a:rPr lang="en-US" sz="2400" u="sng" dirty="0" err="1"/>
              <a:t>người</a:t>
            </a:r>
            <a:r>
              <a:rPr lang="en-US" sz="2400" u="sng" dirty="0"/>
              <a:t> </a:t>
            </a:r>
            <a:r>
              <a:rPr lang="en-US" sz="2400" u="sng" dirty="0" err="1"/>
              <a:t>trung</a:t>
            </a:r>
            <a:r>
              <a:rPr lang="en-US" sz="2400" u="sng" dirty="0"/>
              <a:t> </a:t>
            </a:r>
            <a:r>
              <a:rPr lang="en-US" sz="2400" u="sng" dirty="0" err="1"/>
              <a:t>tính</a:t>
            </a:r>
            <a:r>
              <a:rPr lang="en-US" sz="2400" dirty="0"/>
              <a:t>. </a:t>
            </a:r>
          </a:p>
        </p:txBody>
      </p:sp>
      <p:sp>
        <p:nvSpPr>
          <p:cNvPr id="22530" name="Rectangle 2"/>
          <p:cNvSpPr>
            <a:spLocks noGrp="1" noChangeArrowheads="1"/>
          </p:cNvSpPr>
          <p:nvPr>
            <p:ph type="title"/>
          </p:nvPr>
        </p:nvSpPr>
        <p:spPr>
          <a:xfrm>
            <a:off x="381000" y="533400"/>
            <a:ext cx="8382000" cy="392113"/>
          </a:xfrm>
        </p:spPr>
        <p:txBody>
          <a:bodyPr>
            <a:noAutofit/>
          </a:bodyPr>
          <a:lstStyle/>
          <a:p>
            <a:pPr algn="ctr"/>
            <a:r>
              <a:rPr lang="en-US" sz="4000" dirty="0" err="1"/>
              <a:t>Lợi</a:t>
            </a:r>
            <a:r>
              <a:rPr lang="en-US" sz="4000" dirty="0"/>
              <a:t> </a:t>
            </a:r>
            <a:r>
              <a:rPr lang="en-US" sz="4000" dirty="0" err="1"/>
              <a:t>ích</a:t>
            </a:r>
            <a:r>
              <a:rPr lang="en-US" sz="4000" dirty="0"/>
              <a:t> </a:t>
            </a:r>
            <a:r>
              <a:rPr lang="en-US" sz="4000" dirty="0" err="1"/>
              <a:t>rủi</a:t>
            </a:r>
            <a:r>
              <a:rPr lang="en-US" sz="4000" dirty="0"/>
              <a:t> </a:t>
            </a:r>
            <a:r>
              <a:rPr lang="en-US" sz="4000" dirty="0" err="1"/>
              <a:t>ro</a:t>
            </a:r>
            <a:endParaRPr lang="en-US" sz="4000" dirty="0"/>
          </a:p>
        </p:txBody>
      </p:sp>
      <p:sp>
        <p:nvSpPr>
          <p:cNvPr id="22533"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58ABAB08-9948-4967-A148-ED63955E7C80}" type="slidenum">
              <a:rPr lang="en-US" smtClean="0"/>
              <a:pPr>
                <a:defRPr/>
              </a:pPr>
              <a:t>14</a:t>
            </a:fld>
            <a:endParaRPr lang="en-US" dirty="0"/>
          </a:p>
        </p:txBody>
      </p:sp>
      <p:pic>
        <p:nvPicPr>
          <p:cNvPr id="5" name="Picture 4"/>
          <p:cNvPicPr>
            <a:picLocks noChangeAspect="1"/>
          </p:cNvPicPr>
          <p:nvPr/>
        </p:nvPicPr>
        <p:blipFill>
          <a:blip r:embed="rId3"/>
          <a:stretch>
            <a:fillRect/>
          </a:stretch>
        </p:blipFill>
        <p:spPr>
          <a:xfrm>
            <a:off x="4038600" y="4419600"/>
            <a:ext cx="4267200" cy="19701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animEffect transition="in" filter="blinds(horizontal)">
                                      <p:cBhvr>
                                        <p:cTn id="7" dur="500"/>
                                        <p:tgtEl>
                                          <p:spTgt spid="22531">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2531">
                                            <p:txEl>
                                              <p:pRg st="2" end="2"/>
                                            </p:txEl>
                                          </p:spTgt>
                                        </p:tgtEl>
                                        <p:attrNameLst>
                                          <p:attrName>style.visibility</p:attrName>
                                        </p:attrNameLst>
                                      </p:cBhvr>
                                      <p:to>
                                        <p:strVal val="visible"/>
                                      </p:to>
                                    </p:set>
                                    <p:animEffect transition="in" filter="blinds(horizontal)">
                                      <p:cBhvr>
                                        <p:cTn id="10" dur="500"/>
                                        <p:tgtEl>
                                          <p:spTgt spid="22531">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2531">
                                            <p:txEl>
                                              <p:pRg st="3" end="3"/>
                                            </p:txEl>
                                          </p:spTgt>
                                        </p:tgtEl>
                                        <p:attrNameLst>
                                          <p:attrName>style.visibility</p:attrName>
                                        </p:attrNameLst>
                                      </p:cBhvr>
                                      <p:to>
                                        <p:strVal val="visible"/>
                                      </p:to>
                                    </p:set>
                                    <p:animEffect transition="in" filter="blinds(horizontal)">
                                      <p:cBhvr>
                                        <p:cTn id="13" dur="500"/>
                                        <p:tgtEl>
                                          <p:spTgt spid="22531">
                                            <p:txEl>
                                              <p:pRg st="3" end="3"/>
                                            </p:txEl>
                                          </p:spTgt>
                                        </p:tgtEl>
                                      </p:cBhvr>
                                    </p:animEffect>
                                  </p:childTnLst>
                                </p:cTn>
                              </p:par>
                            </p:childTnLst>
                          </p:cTn>
                        </p:par>
                        <p:par>
                          <p:cTn id="14" fill="hold">
                            <p:stCondLst>
                              <p:cond delay="500"/>
                            </p:stCondLst>
                            <p:childTnLst>
                              <p:par>
                                <p:cTn id="15" presetID="16" presetClass="entr" presetSubtype="37"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outVertical)">
                                      <p:cBhvr>
                                        <p:cTn id="17" dur="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52400"/>
            <a:ext cx="8229600" cy="1143000"/>
          </a:xfrm>
        </p:spPr>
        <p:txBody>
          <a:bodyPr>
            <a:normAutofit/>
          </a:bodyPr>
          <a:lstStyle/>
          <a:p>
            <a:pPr algn="ctr"/>
            <a:r>
              <a:rPr lang="en-US" sz="3600" dirty="0" err="1"/>
              <a:t>Mức</a:t>
            </a:r>
            <a:r>
              <a:rPr lang="en-US" sz="3600" dirty="0"/>
              <a:t> </a:t>
            </a:r>
            <a:r>
              <a:rPr lang="en-US" sz="3600" dirty="0" err="1"/>
              <a:t>độ</a:t>
            </a:r>
            <a:r>
              <a:rPr lang="en-US" sz="3600" dirty="0"/>
              <a:t> </a:t>
            </a:r>
            <a:r>
              <a:rPr lang="en-US" sz="3600" dirty="0" err="1"/>
              <a:t>chấp</a:t>
            </a:r>
            <a:r>
              <a:rPr lang="en-US" sz="3600" dirty="0"/>
              <a:t> </a:t>
            </a:r>
            <a:r>
              <a:rPr lang="en-US" sz="3600" dirty="0" err="1"/>
              <a:t>nhận</a:t>
            </a:r>
            <a:r>
              <a:rPr lang="en-US" sz="3600" dirty="0"/>
              <a:t> </a:t>
            </a:r>
            <a:r>
              <a:rPr lang="en-US" sz="3600" dirty="0" err="1"/>
              <a:t>rủi</a:t>
            </a:r>
            <a:r>
              <a:rPr lang="en-US" sz="3600" dirty="0"/>
              <a:t> </a:t>
            </a:r>
            <a:r>
              <a:rPr lang="en-US" sz="3600" dirty="0" err="1"/>
              <a:t>ro</a:t>
            </a:r>
            <a:endParaRPr lang="en-US" sz="3600" dirty="0"/>
          </a:p>
        </p:txBody>
      </p:sp>
      <p:sp>
        <p:nvSpPr>
          <p:cNvPr id="23557" name="Footer Placeholder 6"/>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buFontTx/>
              <a:buNone/>
              <a:defRPr/>
            </a:pPr>
            <a:fld id="{4CC1C4D1-D8E4-41AF-9AF6-FAEF5ED11A16}" type="slidenum">
              <a:rPr lang="en-US" smtClean="0"/>
              <a:pPr>
                <a:buFontTx/>
                <a:buNone/>
                <a:defRPr/>
              </a:pPr>
              <a:t>15</a:t>
            </a:fld>
            <a:endParaRPr lang="en-US" dirty="0"/>
          </a:p>
        </p:txBody>
      </p:sp>
      <p:pic>
        <p:nvPicPr>
          <p:cNvPr id="2" name="Picture 1"/>
          <p:cNvPicPr>
            <a:picLocks noChangeAspect="1"/>
          </p:cNvPicPr>
          <p:nvPr/>
        </p:nvPicPr>
        <p:blipFill>
          <a:blip r:embed="rId2"/>
          <a:stretch>
            <a:fillRect/>
          </a:stretch>
        </p:blipFill>
        <p:spPr>
          <a:xfrm>
            <a:off x="-14288" y="1438275"/>
            <a:ext cx="9172575" cy="42005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28599" y="1143000"/>
            <a:ext cx="8737665" cy="4648200"/>
          </a:xfrm>
          <a:prstGeom prst="rect">
            <a:avLst/>
          </a:prstGeom>
        </p:spPr>
      </p:pic>
      <p:sp>
        <p:nvSpPr>
          <p:cNvPr id="4" name="Slide Number Placeholder 3"/>
          <p:cNvSpPr>
            <a:spLocks noGrp="1"/>
          </p:cNvSpPr>
          <p:nvPr>
            <p:ph type="sldNum" sz="quarter" idx="4294967295"/>
          </p:nvPr>
        </p:nvSpPr>
        <p:spPr>
          <a:xfrm>
            <a:off x="8588375" y="6492875"/>
            <a:ext cx="555625" cy="365125"/>
          </a:xfrm>
          <a:prstGeom prst="rect">
            <a:avLst/>
          </a:prstGeom>
        </p:spPr>
        <p:txBody>
          <a:bodyPr/>
          <a:lstStyle/>
          <a:p>
            <a:pPr>
              <a:defRPr/>
            </a:pPr>
            <a:fld id="{E5A7A581-379D-4ED7-B5BC-E1CE1865ED13}" type="slidenum">
              <a:rPr lang="en-US" smtClean="0"/>
              <a:pPr>
                <a:defRPr/>
              </a:pPr>
              <a:t>16</a:t>
            </a:fld>
            <a:endParaRPr lang="en-US" dirty="0"/>
          </a:p>
        </p:txBody>
      </p:sp>
      <p:sp>
        <p:nvSpPr>
          <p:cNvPr id="6" name="Rectangle 2"/>
          <p:cNvSpPr>
            <a:spLocks noGrp="1" noChangeArrowheads="1"/>
          </p:cNvSpPr>
          <p:nvPr>
            <p:ph type="title"/>
          </p:nvPr>
        </p:nvSpPr>
        <p:spPr>
          <a:xfrm>
            <a:off x="304800" y="228600"/>
            <a:ext cx="8534400" cy="685800"/>
          </a:xfrm>
        </p:spPr>
        <p:txBody>
          <a:bodyPr>
            <a:noAutofit/>
          </a:bodyPr>
          <a:lstStyle/>
          <a:p>
            <a:pPr algn="ctr"/>
            <a:r>
              <a:rPr lang="vi-VN" sz="3400" dirty="0">
                <a:solidFill>
                  <a:schemeClr val="bg1">
                    <a:lumMod val="65000"/>
                  </a:schemeClr>
                </a:solidFill>
              </a:rPr>
              <a:t>Tương tác trong dự án [rủi ro]</a:t>
            </a:r>
            <a:endParaRPr lang="en-US" sz="3400" dirty="0">
              <a:solidFill>
                <a:schemeClr val="bg1">
                  <a:lumMod val="65000"/>
                </a:schemeClr>
              </a:solidFill>
            </a:endParaRPr>
          </a:p>
        </p:txBody>
      </p:sp>
      <p:sp>
        <p:nvSpPr>
          <p:cNvPr id="7" name="Rounded Rectangle 6"/>
          <p:cNvSpPr/>
          <p:nvPr/>
        </p:nvSpPr>
        <p:spPr>
          <a:xfrm>
            <a:off x="2258290" y="1627496"/>
            <a:ext cx="1295400" cy="685801"/>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Rectangle 1"/>
          <p:cNvSpPr/>
          <p:nvPr/>
        </p:nvSpPr>
        <p:spPr>
          <a:xfrm>
            <a:off x="5091285" y="6107668"/>
            <a:ext cx="1919115" cy="338554"/>
          </a:xfrm>
          <a:prstGeom prst="rect">
            <a:avLst/>
          </a:prstGeom>
        </p:spPr>
        <p:txBody>
          <a:bodyPr wrap="none">
            <a:spAutoFit/>
          </a:bodyPr>
          <a:lstStyle/>
          <a:p>
            <a:r>
              <a:rPr lang="vi-VN" sz="1600" dirty="0"/>
              <a:t>Nguồn: PMI</a:t>
            </a:r>
            <a:r>
              <a:rPr lang="vi-VN" sz="1600" dirty="0">
                <a:effectLst>
                  <a:outerShdw blurRad="38100" dist="38100" dir="2700000" algn="tl">
                    <a:srgbClr val="000000">
                      <a:alpha val="43137"/>
                    </a:srgbClr>
                  </a:outerShdw>
                </a:effectLst>
              </a:rPr>
              <a:t> </a:t>
            </a:r>
            <a:r>
              <a:rPr lang="vi-VN" sz="1600" dirty="0"/>
              <a:t>(2013)</a:t>
            </a:r>
          </a:p>
        </p:txBody>
      </p:sp>
      <p:sp>
        <p:nvSpPr>
          <p:cNvPr id="9"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10" name="Rounded Rectangle 9"/>
          <p:cNvSpPr/>
          <p:nvPr/>
        </p:nvSpPr>
        <p:spPr>
          <a:xfrm>
            <a:off x="5832765" y="1600200"/>
            <a:ext cx="1295400" cy="685801"/>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4049237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17</a:t>
            </a:fld>
            <a:endParaRPr lang="en-US" dirty="0"/>
          </a:p>
        </p:txBody>
      </p:sp>
      <p:sp>
        <p:nvSpPr>
          <p:cNvPr id="9" name="Title 1"/>
          <p:cNvSpPr>
            <a:spLocks noGrp="1"/>
          </p:cNvSpPr>
          <p:nvPr>
            <p:ph type="title"/>
          </p:nvPr>
        </p:nvSpPr>
        <p:spPr>
          <a:xfrm>
            <a:off x="381000" y="228600"/>
            <a:ext cx="8305800" cy="1143000"/>
          </a:xfrm>
        </p:spPr>
        <p:txBody>
          <a:bodyPr>
            <a:noAutofit/>
          </a:bodyPr>
          <a:lstStyle/>
          <a:p>
            <a:pPr algn="ctr" eaLnBrk="1" hangingPunct="1">
              <a:defRPr/>
            </a:pPr>
            <a:r>
              <a:rPr lang="en-US" sz="4000" dirty="0">
                <a:solidFill>
                  <a:srgbClr val="0070C0"/>
                </a:solidFill>
              </a:rPr>
              <a:t>Quản lý </a:t>
            </a:r>
            <a:r>
              <a:rPr lang="en-US" sz="4000" dirty="0" err="1">
                <a:solidFill>
                  <a:srgbClr val="0070C0"/>
                </a:solidFill>
              </a:rPr>
              <a:t>rủi</a:t>
            </a:r>
            <a:r>
              <a:rPr lang="en-US" sz="4000" dirty="0">
                <a:solidFill>
                  <a:srgbClr val="0070C0"/>
                </a:solidFill>
              </a:rPr>
              <a:t> </a:t>
            </a:r>
            <a:r>
              <a:rPr lang="en-US" sz="4000" dirty="0" err="1">
                <a:solidFill>
                  <a:srgbClr val="0070C0"/>
                </a:solidFill>
              </a:rPr>
              <a:t>ro</a:t>
            </a:r>
            <a:r>
              <a:rPr lang="en-US" sz="4000" dirty="0">
                <a:solidFill>
                  <a:srgbClr val="0070C0"/>
                </a:solidFill>
              </a:rPr>
              <a:t> </a:t>
            </a:r>
            <a:r>
              <a:rPr lang="en-US" sz="4000" dirty="0" err="1">
                <a:solidFill>
                  <a:srgbClr val="0070C0"/>
                </a:solidFill>
              </a:rPr>
              <a:t>dự</a:t>
            </a:r>
            <a:r>
              <a:rPr lang="en-US" sz="4000" dirty="0">
                <a:solidFill>
                  <a:srgbClr val="0070C0"/>
                </a:solidFill>
              </a:rPr>
              <a:t> </a:t>
            </a:r>
            <a:r>
              <a:rPr lang="en-US" sz="4000" dirty="0" err="1">
                <a:solidFill>
                  <a:srgbClr val="0070C0"/>
                </a:solidFill>
              </a:rPr>
              <a:t>án</a:t>
            </a:r>
            <a:r>
              <a:rPr lang="en-US" sz="4000" dirty="0">
                <a:solidFill>
                  <a:srgbClr val="0070C0"/>
                </a:solidFill>
              </a:rPr>
              <a:t> [6]</a:t>
            </a:r>
          </a:p>
        </p:txBody>
      </p:sp>
      <p:pic>
        <p:nvPicPr>
          <p:cNvPr id="2" name="Picture 1"/>
          <p:cNvPicPr>
            <a:picLocks noChangeAspect="1"/>
          </p:cNvPicPr>
          <p:nvPr/>
        </p:nvPicPr>
        <p:blipFill>
          <a:blip r:embed="rId2"/>
          <a:stretch>
            <a:fillRect/>
          </a:stretch>
        </p:blipFill>
        <p:spPr>
          <a:xfrm>
            <a:off x="76200" y="1600200"/>
            <a:ext cx="8991600" cy="4162425"/>
          </a:xfrm>
          <a:prstGeom prst="rect">
            <a:avLst/>
          </a:prstGeom>
        </p:spPr>
      </p:pic>
    </p:spTree>
    <p:extLst>
      <p:ext uri="{BB962C8B-B14F-4D97-AF65-F5344CB8AC3E}">
        <p14:creationId xmlns:p14="http://schemas.microsoft.com/office/powerpoint/2010/main" val="4146517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228600" y="1447800"/>
            <a:ext cx="8534400" cy="4495800"/>
          </a:xfrm>
        </p:spPr>
        <p:txBody>
          <a:bodyPr/>
          <a:lstStyle/>
          <a:p>
            <a:pPr algn="just">
              <a:spcBef>
                <a:spcPts val="1200"/>
              </a:spcBef>
              <a:spcAft>
                <a:spcPts val="1200"/>
              </a:spcAft>
            </a:pPr>
            <a:r>
              <a:rPr lang="en-US" b="1" dirty="0" err="1"/>
              <a:t>Kế</a:t>
            </a:r>
            <a:r>
              <a:rPr lang="en-US" b="1" dirty="0"/>
              <a:t> </a:t>
            </a:r>
            <a:r>
              <a:rPr lang="en-US" b="1" dirty="0" err="1"/>
              <a:t>hoạch</a:t>
            </a:r>
            <a:r>
              <a:rPr lang="en-US" b="1" dirty="0"/>
              <a:t> quản lý </a:t>
            </a:r>
            <a:r>
              <a:rPr lang="en-US" b="1" dirty="0" err="1"/>
              <a:t>rủi</a:t>
            </a:r>
            <a:r>
              <a:rPr lang="en-US" b="1" dirty="0"/>
              <a:t> </a:t>
            </a:r>
            <a:r>
              <a:rPr lang="en-US" b="1" dirty="0" err="1"/>
              <a:t>ro</a:t>
            </a:r>
            <a:r>
              <a:rPr lang="en-US" b="1" dirty="0"/>
              <a:t> </a:t>
            </a:r>
            <a:r>
              <a:rPr lang="en-US" dirty="0"/>
              <a:t>(</a:t>
            </a:r>
            <a:r>
              <a:rPr lang="en-US" dirty="0">
                <a:solidFill>
                  <a:srgbClr val="0070C0"/>
                </a:solidFill>
              </a:rPr>
              <a:t>plan risk management</a:t>
            </a:r>
            <a:r>
              <a:rPr lang="en-US" dirty="0"/>
              <a:t>): </a:t>
            </a:r>
            <a:r>
              <a:rPr lang="en-US" dirty="0" err="1"/>
              <a:t>chọn</a:t>
            </a:r>
            <a:r>
              <a:rPr lang="en-US" dirty="0"/>
              <a:t> </a:t>
            </a:r>
            <a:r>
              <a:rPr lang="en-US" dirty="0" err="1"/>
              <a:t>cách</a:t>
            </a:r>
            <a:r>
              <a:rPr lang="en-US" dirty="0"/>
              <a:t> </a:t>
            </a:r>
            <a:r>
              <a:rPr lang="en-US" dirty="0" err="1"/>
              <a:t>tiếp</a:t>
            </a:r>
            <a:r>
              <a:rPr lang="en-US" dirty="0"/>
              <a:t> </a:t>
            </a:r>
            <a:r>
              <a:rPr lang="en-US" dirty="0" err="1"/>
              <a:t>cận</a:t>
            </a:r>
            <a:r>
              <a:rPr lang="en-US" dirty="0"/>
              <a:t>, và </a:t>
            </a:r>
            <a:r>
              <a:rPr lang="en-US" dirty="0" err="1"/>
              <a:t>lên</a:t>
            </a:r>
            <a:r>
              <a:rPr lang="en-US" dirty="0"/>
              <a:t> </a:t>
            </a:r>
            <a:r>
              <a:rPr lang="en-US" dirty="0" err="1"/>
              <a:t>kế</a:t>
            </a:r>
            <a:r>
              <a:rPr lang="en-US" dirty="0"/>
              <a:t> </a:t>
            </a:r>
            <a:r>
              <a:rPr lang="en-US" dirty="0" err="1"/>
              <a:t>hoạch</a:t>
            </a:r>
            <a:r>
              <a:rPr lang="en-US" dirty="0"/>
              <a:t> quản lý </a:t>
            </a:r>
            <a:r>
              <a:rPr lang="en-US" dirty="0" err="1"/>
              <a:t>các</a:t>
            </a:r>
            <a:r>
              <a:rPr lang="en-US" dirty="0"/>
              <a:t> </a:t>
            </a:r>
            <a:r>
              <a:rPr lang="en-US" dirty="0" err="1"/>
              <a:t>hoạt</a:t>
            </a:r>
            <a:r>
              <a:rPr lang="en-US" dirty="0"/>
              <a:t> </a:t>
            </a:r>
            <a:r>
              <a:rPr lang="en-US" dirty="0" err="1"/>
              <a:t>động</a:t>
            </a:r>
            <a:r>
              <a:rPr lang="en-US" dirty="0"/>
              <a:t> </a:t>
            </a:r>
            <a:r>
              <a:rPr lang="en-US" dirty="0" err="1"/>
              <a:t>rủi</a:t>
            </a:r>
            <a:r>
              <a:rPr lang="en-US" dirty="0"/>
              <a:t> ro. </a:t>
            </a:r>
          </a:p>
          <a:p>
            <a:pPr algn="just">
              <a:spcBef>
                <a:spcPts val="1200"/>
              </a:spcBef>
              <a:spcAft>
                <a:spcPts val="1200"/>
              </a:spcAft>
            </a:pPr>
            <a:r>
              <a:rPr lang="en-US" b="1" dirty="0" err="1"/>
              <a:t>Xác</a:t>
            </a:r>
            <a:r>
              <a:rPr lang="en-US" b="1" dirty="0"/>
              <a:t> </a:t>
            </a:r>
            <a:r>
              <a:rPr lang="en-US" b="1" dirty="0" err="1"/>
              <a:t>định</a:t>
            </a:r>
            <a:r>
              <a:rPr lang="en-US" b="1" dirty="0"/>
              <a:t> </a:t>
            </a:r>
            <a:r>
              <a:rPr lang="en-US" b="1" dirty="0" err="1"/>
              <a:t>rủi</a:t>
            </a:r>
            <a:r>
              <a:rPr lang="en-US" b="1" dirty="0"/>
              <a:t> </a:t>
            </a:r>
            <a:r>
              <a:rPr lang="en-US" b="1" dirty="0" err="1"/>
              <a:t>ro</a:t>
            </a:r>
            <a:r>
              <a:rPr lang="en-US" dirty="0"/>
              <a:t> (</a:t>
            </a:r>
            <a:r>
              <a:rPr lang="en-US" dirty="0">
                <a:solidFill>
                  <a:srgbClr val="0070C0"/>
                </a:solidFill>
              </a:rPr>
              <a:t>identify risks</a:t>
            </a:r>
            <a:r>
              <a:rPr lang="en-US" dirty="0"/>
              <a:t>): </a:t>
            </a:r>
            <a:r>
              <a:rPr lang="en-US" dirty="0" err="1"/>
              <a:t>nhận</a:t>
            </a:r>
            <a:r>
              <a:rPr lang="en-US" dirty="0"/>
              <a:t> </a:t>
            </a:r>
            <a:r>
              <a:rPr lang="en-US" dirty="0" err="1"/>
              <a:t>dạng</a:t>
            </a:r>
            <a:r>
              <a:rPr lang="en-US" dirty="0"/>
              <a:t> </a:t>
            </a:r>
            <a:r>
              <a:rPr lang="en-US" dirty="0" err="1"/>
              <a:t>các</a:t>
            </a:r>
            <a:r>
              <a:rPr lang="en-US" dirty="0"/>
              <a:t> </a:t>
            </a:r>
            <a:r>
              <a:rPr lang="en-US" dirty="0" err="1"/>
              <a:t>rủi</a:t>
            </a:r>
            <a:r>
              <a:rPr lang="en-US" dirty="0"/>
              <a:t> </a:t>
            </a:r>
            <a:r>
              <a:rPr lang="en-US" dirty="0" err="1"/>
              <a:t>ro</a:t>
            </a:r>
            <a:r>
              <a:rPr lang="en-US" dirty="0"/>
              <a:t> </a:t>
            </a:r>
            <a:r>
              <a:rPr lang="en-US" dirty="0" err="1"/>
              <a:t>ảnh</a:t>
            </a:r>
            <a:r>
              <a:rPr lang="en-US" dirty="0"/>
              <a:t> </a:t>
            </a:r>
            <a:r>
              <a:rPr lang="en-US" dirty="0" err="1"/>
              <a:t>hưởng</a:t>
            </a:r>
            <a:r>
              <a:rPr lang="en-US" dirty="0"/>
              <a:t> </a:t>
            </a:r>
            <a:r>
              <a:rPr lang="en-US" dirty="0" err="1"/>
              <a:t>đến</a:t>
            </a:r>
            <a:r>
              <a:rPr lang="en-US" dirty="0"/>
              <a:t> </a:t>
            </a:r>
            <a:r>
              <a:rPr lang="en-US" dirty="0" err="1"/>
              <a:t>dự</a:t>
            </a:r>
            <a:r>
              <a:rPr lang="en-US" dirty="0"/>
              <a:t> </a:t>
            </a:r>
            <a:r>
              <a:rPr lang="en-US" dirty="0" err="1"/>
              <a:t>án</a:t>
            </a:r>
            <a:r>
              <a:rPr lang="en-US" dirty="0"/>
              <a:t>, và </a:t>
            </a:r>
            <a:r>
              <a:rPr lang="en-US" dirty="0" err="1"/>
              <a:t>đặc</a:t>
            </a:r>
            <a:r>
              <a:rPr lang="en-US" dirty="0"/>
              <a:t> </a:t>
            </a:r>
            <a:r>
              <a:rPr lang="en-US" dirty="0" err="1"/>
              <a:t>tính</a:t>
            </a:r>
            <a:r>
              <a:rPr lang="en-US" dirty="0"/>
              <a:t> </a:t>
            </a:r>
            <a:r>
              <a:rPr lang="en-US" dirty="0" err="1"/>
              <a:t>của</a:t>
            </a:r>
            <a:r>
              <a:rPr lang="en-US" dirty="0"/>
              <a:t> </a:t>
            </a:r>
            <a:r>
              <a:rPr lang="en-US" dirty="0" err="1"/>
              <a:t>từng</a:t>
            </a:r>
            <a:r>
              <a:rPr lang="en-US" dirty="0"/>
              <a:t> </a:t>
            </a:r>
            <a:r>
              <a:rPr lang="en-US" dirty="0" err="1"/>
              <a:t>rủi</a:t>
            </a:r>
            <a:r>
              <a:rPr lang="en-US" dirty="0"/>
              <a:t> ro. </a:t>
            </a:r>
          </a:p>
          <a:p>
            <a:pPr algn="just">
              <a:spcBef>
                <a:spcPts val="1200"/>
              </a:spcBef>
              <a:spcAft>
                <a:spcPts val="1200"/>
              </a:spcAft>
            </a:pPr>
            <a:r>
              <a:rPr lang="en-US" b="1" dirty="0" err="1"/>
              <a:t>Phân</a:t>
            </a:r>
            <a:r>
              <a:rPr lang="en-US" b="1" dirty="0"/>
              <a:t> </a:t>
            </a:r>
            <a:r>
              <a:rPr lang="en-US" b="1" dirty="0" err="1"/>
              <a:t>tích</a:t>
            </a:r>
            <a:r>
              <a:rPr lang="en-US" b="1" dirty="0"/>
              <a:t> </a:t>
            </a:r>
            <a:r>
              <a:rPr lang="en-US" b="1" dirty="0" err="1"/>
              <a:t>rủi</a:t>
            </a:r>
            <a:r>
              <a:rPr lang="en-US" b="1" dirty="0"/>
              <a:t> </a:t>
            </a:r>
            <a:r>
              <a:rPr lang="en-US" b="1" dirty="0" err="1"/>
              <a:t>ro</a:t>
            </a:r>
            <a:r>
              <a:rPr lang="en-US" b="1" dirty="0"/>
              <a:t> </a:t>
            </a:r>
            <a:r>
              <a:rPr lang="en-US" b="1" dirty="0" err="1"/>
              <a:t>định</a:t>
            </a:r>
            <a:r>
              <a:rPr lang="en-US" b="1" dirty="0"/>
              <a:t> </a:t>
            </a:r>
            <a:r>
              <a:rPr lang="en-US" b="1" dirty="0" err="1"/>
              <a:t>tính</a:t>
            </a:r>
            <a:r>
              <a:rPr lang="en-US" b="1" dirty="0"/>
              <a:t> </a:t>
            </a:r>
            <a:r>
              <a:rPr lang="en-US" dirty="0"/>
              <a:t>(</a:t>
            </a:r>
            <a:r>
              <a:rPr lang="en-US" dirty="0">
                <a:solidFill>
                  <a:srgbClr val="0070C0"/>
                </a:solidFill>
              </a:rPr>
              <a:t>perform qualitative risk analysis</a:t>
            </a:r>
            <a:r>
              <a:rPr lang="en-US" dirty="0"/>
              <a:t>): </a:t>
            </a:r>
            <a:r>
              <a:rPr lang="en-US" dirty="0" err="1"/>
              <a:t>ưu</a:t>
            </a:r>
            <a:r>
              <a:rPr lang="en-US" dirty="0"/>
              <a:t> </a:t>
            </a:r>
            <a:r>
              <a:rPr lang="en-US" dirty="0" err="1"/>
              <a:t>tiên</a:t>
            </a:r>
            <a:r>
              <a:rPr lang="en-US" dirty="0"/>
              <a:t> </a:t>
            </a:r>
            <a:r>
              <a:rPr lang="en-US" dirty="0" err="1"/>
              <a:t>các</a:t>
            </a:r>
            <a:r>
              <a:rPr lang="en-US" dirty="0"/>
              <a:t> </a:t>
            </a:r>
            <a:r>
              <a:rPr lang="en-US" dirty="0" err="1"/>
              <a:t>rủi</a:t>
            </a:r>
            <a:r>
              <a:rPr lang="en-US" dirty="0"/>
              <a:t> </a:t>
            </a:r>
            <a:r>
              <a:rPr lang="en-US" dirty="0" err="1"/>
              <a:t>ro</a:t>
            </a:r>
            <a:r>
              <a:rPr lang="en-US" dirty="0"/>
              <a:t> </a:t>
            </a:r>
            <a:r>
              <a:rPr lang="en-US" dirty="0" err="1"/>
              <a:t>dựa</a:t>
            </a:r>
            <a:r>
              <a:rPr lang="en-US" dirty="0"/>
              <a:t> </a:t>
            </a:r>
            <a:r>
              <a:rPr lang="en-US" dirty="0" err="1"/>
              <a:t>trên</a:t>
            </a:r>
            <a:r>
              <a:rPr lang="en-US" dirty="0"/>
              <a:t> </a:t>
            </a:r>
            <a:r>
              <a:rPr lang="en-US" dirty="0" err="1"/>
              <a:t>xác</a:t>
            </a:r>
            <a:r>
              <a:rPr lang="en-US" dirty="0"/>
              <a:t> </a:t>
            </a:r>
            <a:r>
              <a:rPr lang="en-US" dirty="0" err="1"/>
              <a:t>suất</a:t>
            </a:r>
            <a:r>
              <a:rPr lang="en-US" dirty="0"/>
              <a:t> và </a:t>
            </a:r>
            <a:r>
              <a:rPr lang="en-US" dirty="0" err="1"/>
              <a:t>sự</a:t>
            </a:r>
            <a:r>
              <a:rPr lang="en-US" dirty="0"/>
              <a:t> </a:t>
            </a:r>
            <a:r>
              <a:rPr lang="en-US" dirty="0" err="1"/>
              <a:t>ảnh</a:t>
            </a:r>
            <a:r>
              <a:rPr lang="en-US" dirty="0"/>
              <a:t> </a:t>
            </a:r>
            <a:r>
              <a:rPr lang="en-US" dirty="0" err="1"/>
              <a:t>hưởng</a:t>
            </a:r>
            <a:r>
              <a:rPr lang="en-US" dirty="0"/>
              <a:t> </a:t>
            </a:r>
            <a:r>
              <a:rPr lang="en-US" dirty="0" err="1"/>
              <a:t>của</a:t>
            </a:r>
            <a:r>
              <a:rPr lang="en-US" dirty="0"/>
              <a:t> </a:t>
            </a:r>
            <a:r>
              <a:rPr lang="en-US" dirty="0" err="1"/>
              <a:t>nó</a:t>
            </a:r>
            <a:r>
              <a:rPr lang="en-US" dirty="0"/>
              <a:t>. </a:t>
            </a:r>
          </a:p>
        </p:txBody>
      </p:sp>
      <p:sp>
        <p:nvSpPr>
          <p:cNvPr id="24578" name="Rectangle 2"/>
          <p:cNvSpPr>
            <a:spLocks noGrp="1" noChangeArrowheads="1"/>
          </p:cNvSpPr>
          <p:nvPr>
            <p:ph type="title"/>
          </p:nvPr>
        </p:nvSpPr>
        <p:spPr>
          <a:xfrm>
            <a:off x="304800" y="457200"/>
            <a:ext cx="8382000" cy="587375"/>
          </a:xfrm>
        </p:spPr>
        <p:txBody>
          <a:bodyPr>
            <a:noAutofit/>
          </a:bodyPr>
          <a:lstStyle/>
          <a:p>
            <a:pPr algn="ctr"/>
            <a:r>
              <a:rPr lang="en-US" sz="4000" dirty="0" err="1">
                <a:solidFill>
                  <a:srgbClr val="0070C0"/>
                </a:solidFill>
              </a:rPr>
              <a:t>Quy</a:t>
            </a:r>
            <a:r>
              <a:rPr lang="en-US" sz="4000" dirty="0">
                <a:solidFill>
                  <a:srgbClr val="0070C0"/>
                </a:solidFill>
              </a:rPr>
              <a:t> </a:t>
            </a:r>
            <a:r>
              <a:rPr lang="en-US" sz="4000" dirty="0" err="1">
                <a:solidFill>
                  <a:srgbClr val="0070C0"/>
                </a:solidFill>
              </a:rPr>
              <a:t>trình</a:t>
            </a:r>
            <a:r>
              <a:rPr lang="en-US" sz="4000" dirty="0">
                <a:solidFill>
                  <a:srgbClr val="0070C0"/>
                </a:solidFill>
              </a:rPr>
              <a:t> quản lý </a:t>
            </a:r>
            <a:r>
              <a:rPr lang="en-US" sz="4000" dirty="0" err="1">
                <a:solidFill>
                  <a:srgbClr val="0070C0"/>
                </a:solidFill>
              </a:rPr>
              <a:t>rủi</a:t>
            </a:r>
            <a:r>
              <a:rPr lang="en-US" sz="4000" dirty="0">
                <a:solidFill>
                  <a:srgbClr val="0070C0"/>
                </a:solidFill>
              </a:rPr>
              <a:t> </a:t>
            </a:r>
            <a:r>
              <a:rPr lang="en-US" sz="4000" dirty="0" err="1">
                <a:solidFill>
                  <a:srgbClr val="0070C0"/>
                </a:solidFill>
              </a:rPr>
              <a:t>ro</a:t>
            </a:r>
            <a:endParaRPr lang="en-US" sz="4400" dirty="0">
              <a:solidFill>
                <a:srgbClr val="0070C0"/>
              </a:solidFill>
            </a:endParaRPr>
          </a:p>
        </p:txBody>
      </p:sp>
      <p:sp>
        <p:nvSpPr>
          <p:cNvPr id="2458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C51B7C3D-9A58-4760-8CBB-87268D473D4A}" type="slidenum">
              <a:rPr lang="en-US" smtClean="0"/>
              <a:pPr>
                <a:defRPr/>
              </a:pPr>
              <a:t>18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228600" y="1371600"/>
            <a:ext cx="8458200" cy="4648200"/>
          </a:xfrm>
        </p:spPr>
        <p:txBody>
          <a:bodyPr/>
          <a:lstStyle/>
          <a:p>
            <a:pPr algn="just">
              <a:spcBef>
                <a:spcPts val="1200"/>
              </a:spcBef>
              <a:spcAft>
                <a:spcPts val="1200"/>
              </a:spcAft>
            </a:pPr>
            <a:r>
              <a:rPr lang="en-US" b="1" dirty="0" err="1"/>
              <a:t>Phân</a:t>
            </a:r>
            <a:r>
              <a:rPr lang="en-US" b="1" dirty="0"/>
              <a:t> </a:t>
            </a:r>
            <a:r>
              <a:rPr lang="en-US" b="1" dirty="0" err="1"/>
              <a:t>tích</a:t>
            </a:r>
            <a:r>
              <a:rPr lang="en-US" b="1" dirty="0"/>
              <a:t> </a:t>
            </a:r>
            <a:r>
              <a:rPr lang="en-US" b="1" dirty="0" err="1"/>
              <a:t>rủi</a:t>
            </a:r>
            <a:r>
              <a:rPr lang="en-US" b="1" dirty="0"/>
              <a:t> </a:t>
            </a:r>
            <a:r>
              <a:rPr lang="en-US" b="1" dirty="0" err="1"/>
              <a:t>ro</a:t>
            </a:r>
            <a:r>
              <a:rPr lang="en-US" b="1" dirty="0"/>
              <a:t> </a:t>
            </a:r>
            <a:r>
              <a:rPr lang="en-US" b="1" dirty="0" err="1"/>
              <a:t>định</a:t>
            </a:r>
            <a:r>
              <a:rPr lang="en-US" b="1" dirty="0"/>
              <a:t> </a:t>
            </a:r>
            <a:r>
              <a:rPr lang="en-US" b="1" dirty="0" err="1"/>
              <a:t>lượng</a:t>
            </a:r>
            <a:r>
              <a:rPr lang="en-US" b="1" dirty="0"/>
              <a:t> </a:t>
            </a:r>
            <a:r>
              <a:rPr lang="en-US" dirty="0"/>
              <a:t>(</a:t>
            </a:r>
            <a:r>
              <a:rPr lang="en-US" dirty="0">
                <a:solidFill>
                  <a:srgbClr val="0070C0"/>
                </a:solidFill>
              </a:rPr>
              <a:t>perform quantitative risk analysis</a:t>
            </a:r>
            <a:r>
              <a:rPr lang="en-US" dirty="0"/>
              <a:t>):</a:t>
            </a:r>
            <a:r>
              <a:rPr lang="en-US" b="1" dirty="0"/>
              <a:t> </a:t>
            </a:r>
            <a:r>
              <a:rPr lang="en-US" dirty="0" err="1"/>
              <a:t>ước</a:t>
            </a:r>
            <a:r>
              <a:rPr lang="en-US" dirty="0"/>
              <a:t> </a:t>
            </a:r>
            <a:r>
              <a:rPr lang="en-US" dirty="0" err="1"/>
              <a:t>lượng</a:t>
            </a:r>
            <a:r>
              <a:rPr lang="en-US" dirty="0"/>
              <a:t> </a:t>
            </a:r>
            <a:r>
              <a:rPr lang="en-US" dirty="0" err="1"/>
              <a:t>bằng</a:t>
            </a:r>
            <a:r>
              <a:rPr lang="en-US" dirty="0"/>
              <a:t> con </a:t>
            </a:r>
            <a:r>
              <a:rPr lang="en-US" dirty="0" err="1"/>
              <a:t>số</a:t>
            </a:r>
            <a:r>
              <a:rPr lang="en-US" dirty="0"/>
              <a:t> </a:t>
            </a:r>
            <a:r>
              <a:rPr lang="en-US" dirty="0" err="1"/>
              <a:t>sự</a:t>
            </a:r>
            <a:r>
              <a:rPr lang="en-US" dirty="0"/>
              <a:t> </a:t>
            </a:r>
            <a:r>
              <a:rPr lang="en-US" dirty="0" err="1"/>
              <a:t>ảnh</a:t>
            </a:r>
            <a:r>
              <a:rPr lang="en-US" dirty="0"/>
              <a:t> </a:t>
            </a:r>
            <a:r>
              <a:rPr lang="en-US" dirty="0" err="1"/>
              <a:t>hưởng</a:t>
            </a:r>
            <a:r>
              <a:rPr lang="en-US" dirty="0"/>
              <a:t> </a:t>
            </a:r>
            <a:r>
              <a:rPr lang="en-US" dirty="0" err="1"/>
              <a:t>của</a:t>
            </a:r>
            <a:r>
              <a:rPr lang="en-US" dirty="0"/>
              <a:t> </a:t>
            </a:r>
            <a:r>
              <a:rPr lang="en-US" dirty="0" err="1"/>
              <a:t>rủi</a:t>
            </a:r>
            <a:r>
              <a:rPr lang="en-US" dirty="0"/>
              <a:t> </a:t>
            </a:r>
            <a:r>
              <a:rPr lang="en-US" dirty="0" err="1"/>
              <a:t>ro</a:t>
            </a:r>
            <a:r>
              <a:rPr lang="en-US" dirty="0"/>
              <a:t> </a:t>
            </a:r>
            <a:r>
              <a:rPr lang="en-US" dirty="0" err="1"/>
              <a:t>đối</a:t>
            </a:r>
            <a:r>
              <a:rPr lang="en-US" dirty="0"/>
              <a:t> </a:t>
            </a:r>
            <a:r>
              <a:rPr lang="en-US" dirty="0" err="1"/>
              <a:t>với</a:t>
            </a:r>
            <a:r>
              <a:rPr lang="en-US" dirty="0"/>
              <a:t> </a:t>
            </a:r>
            <a:r>
              <a:rPr lang="en-US" dirty="0" err="1"/>
              <a:t>mục</a:t>
            </a:r>
            <a:r>
              <a:rPr lang="en-US" dirty="0"/>
              <a:t> </a:t>
            </a:r>
            <a:r>
              <a:rPr lang="en-US" dirty="0" err="1"/>
              <a:t>tiêu</a:t>
            </a:r>
            <a:r>
              <a:rPr lang="en-US" dirty="0"/>
              <a:t> </a:t>
            </a:r>
            <a:r>
              <a:rPr lang="en-US" dirty="0" err="1"/>
              <a:t>dự</a:t>
            </a:r>
            <a:r>
              <a:rPr lang="en-US" dirty="0"/>
              <a:t> </a:t>
            </a:r>
            <a:r>
              <a:rPr lang="en-US" dirty="0" err="1"/>
              <a:t>án</a:t>
            </a:r>
            <a:r>
              <a:rPr lang="en-US" dirty="0"/>
              <a:t>.</a:t>
            </a:r>
          </a:p>
          <a:p>
            <a:pPr algn="just">
              <a:spcBef>
                <a:spcPts val="1200"/>
              </a:spcBef>
              <a:spcAft>
                <a:spcPts val="1200"/>
              </a:spcAft>
            </a:pPr>
            <a:r>
              <a:rPr lang="en-US" b="1" dirty="0" err="1"/>
              <a:t>Kế</a:t>
            </a:r>
            <a:r>
              <a:rPr lang="en-US" b="1" dirty="0"/>
              <a:t> </a:t>
            </a:r>
            <a:r>
              <a:rPr lang="en-US" b="1" dirty="0" err="1"/>
              <a:t>hoạch</a:t>
            </a:r>
            <a:r>
              <a:rPr lang="en-US" b="1" dirty="0"/>
              <a:t> </a:t>
            </a:r>
            <a:r>
              <a:rPr lang="en-US" b="1" dirty="0" err="1"/>
              <a:t>đối</a:t>
            </a:r>
            <a:r>
              <a:rPr lang="en-US" b="1" dirty="0"/>
              <a:t> </a:t>
            </a:r>
            <a:r>
              <a:rPr lang="en-US" b="1" dirty="0" err="1"/>
              <a:t>phó</a:t>
            </a:r>
            <a:r>
              <a:rPr lang="en-US" b="1" dirty="0"/>
              <a:t> </a:t>
            </a:r>
            <a:r>
              <a:rPr lang="en-US" b="1" dirty="0" err="1"/>
              <a:t>rủi</a:t>
            </a:r>
            <a:r>
              <a:rPr lang="en-US" b="1" dirty="0"/>
              <a:t> </a:t>
            </a:r>
            <a:r>
              <a:rPr lang="en-US" b="1" dirty="0" err="1"/>
              <a:t>ro</a:t>
            </a:r>
            <a:r>
              <a:rPr lang="en-US" b="1" dirty="0"/>
              <a:t> </a:t>
            </a:r>
            <a:r>
              <a:rPr lang="en-US" dirty="0"/>
              <a:t>(</a:t>
            </a:r>
            <a:r>
              <a:rPr lang="en-US" dirty="0">
                <a:solidFill>
                  <a:srgbClr val="0070C0"/>
                </a:solidFill>
              </a:rPr>
              <a:t>plan risk responses</a:t>
            </a:r>
            <a:r>
              <a:rPr lang="en-US" dirty="0"/>
              <a:t>): </a:t>
            </a:r>
            <a:r>
              <a:rPr lang="en-US" dirty="0" err="1"/>
              <a:t>tăng</a:t>
            </a:r>
            <a:r>
              <a:rPr lang="en-US" dirty="0"/>
              <a:t> </a:t>
            </a:r>
            <a:r>
              <a:rPr lang="en-US" dirty="0" err="1"/>
              <a:t>cơ</a:t>
            </a:r>
            <a:r>
              <a:rPr lang="en-US" dirty="0"/>
              <a:t> </a:t>
            </a:r>
            <a:r>
              <a:rPr lang="en-US" dirty="0" err="1"/>
              <a:t>hội</a:t>
            </a:r>
            <a:r>
              <a:rPr lang="en-US" dirty="0"/>
              <a:t> và </a:t>
            </a:r>
            <a:r>
              <a:rPr lang="en-US" dirty="0" err="1"/>
              <a:t>giảm</a:t>
            </a:r>
            <a:r>
              <a:rPr lang="en-US" dirty="0"/>
              <a:t> </a:t>
            </a:r>
            <a:r>
              <a:rPr lang="en-US" dirty="0" err="1"/>
              <a:t>nguy</a:t>
            </a:r>
            <a:r>
              <a:rPr lang="en-US" dirty="0"/>
              <a:t> </a:t>
            </a:r>
            <a:r>
              <a:rPr lang="en-US" dirty="0" err="1"/>
              <a:t>cơ</a:t>
            </a:r>
            <a:r>
              <a:rPr lang="en-US" dirty="0"/>
              <a:t> </a:t>
            </a:r>
            <a:r>
              <a:rPr lang="en-US" dirty="0" err="1"/>
              <a:t>để</a:t>
            </a:r>
            <a:r>
              <a:rPr lang="en-US" dirty="0"/>
              <a:t> </a:t>
            </a:r>
            <a:r>
              <a:rPr lang="en-US" dirty="0" err="1"/>
              <a:t>đạt</a:t>
            </a:r>
            <a:r>
              <a:rPr lang="en-US" dirty="0"/>
              <a:t> </a:t>
            </a:r>
            <a:r>
              <a:rPr lang="en-US" dirty="0" err="1"/>
              <a:t>mục</a:t>
            </a:r>
            <a:r>
              <a:rPr lang="en-US" dirty="0"/>
              <a:t> </a:t>
            </a:r>
            <a:r>
              <a:rPr lang="en-US" dirty="0" err="1"/>
              <a:t>tiêu</a:t>
            </a:r>
            <a:r>
              <a:rPr lang="en-US" dirty="0"/>
              <a:t> </a:t>
            </a:r>
            <a:r>
              <a:rPr lang="en-US" dirty="0" err="1"/>
              <a:t>dự</a:t>
            </a:r>
            <a:r>
              <a:rPr lang="en-US" dirty="0"/>
              <a:t> </a:t>
            </a:r>
            <a:r>
              <a:rPr lang="en-US" dirty="0" err="1"/>
              <a:t>án</a:t>
            </a:r>
            <a:r>
              <a:rPr lang="en-US" dirty="0"/>
              <a:t>.</a:t>
            </a:r>
          </a:p>
          <a:p>
            <a:pPr algn="just">
              <a:spcBef>
                <a:spcPts val="1200"/>
              </a:spcBef>
              <a:spcAft>
                <a:spcPts val="600"/>
              </a:spcAft>
            </a:pPr>
            <a:r>
              <a:rPr lang="en-US" b="1" dirty="0" err="1"/>
              <a:t>Kiểm</a:t>
            </a:r>
            <a:r>
              <a:rPr lang="en-US" b="1" dirty="0"/>
              <a:t> </a:t>
            </a:r>
            <a:r>
              <a:rPr lang="en-US" b="1" dirty="0" err="1"/>
              <a:t>soát</a:t>
            </a:r>
            <a:r>
              <a:rPr lang="en-US" b="1" dirty="0"/>
              <a:t> </a:t>
            </a:r>
            <a:r>
              <a:rPr lang="en-US" b="1" dirty="0" err="1"/>
              <a:t>rủi</a:t>
            </a:r>
            <a:r>
              <a:rPr lang="en-US" b="1" dirty="0"/>
              <a:t> </a:t>
            </a:r>
            <a:r>
              <a:rPr lang="en-US" b="1" dirty="0" err="1"/>
              <a:t>ro</a:t>
            </a:r>
            <a:r>
              <a:rPr lang="en-US" dirty="0"/>
              <a:t> (</a:t>
            </a:r>
            <a:r>
              <a:rPr lang="en-US" dirty="0">
                <a:solidFill>
                  <a:srgbClr val="0070C0"/>
                </a:solidFill>
              </a:rPr>
              <a:t>control risks</a:t>
            </a:r>
            <a:r>
              <a:rPr lang="en-US" dirty="0"/>
              <a:t>): </a:t>
            </a:r>
            <a:r>
              <a:rPr lang="en-US" dirty="0" err="1"/>
              <a:t>giám</a:t>
            </a:r>
            <a:r>
              <a:rPr lang="en-US" dirty="0"/>
              <a:t> </a:t>
            </a:r>
            <a:r>
              <a:rPr lang="en-US" dirty="0" err="1"/>
              <a:t>sát</a:t>
            </a:r>
            <a:r>
              <a:rPr lang="en-US" dirty="0"/>
              <a:t> </a:t>
            </a:r>
            <a:r>
              <a:rPr lang="en-US" dirty="0" err="1"/>
              <a:t>rủi</a:t>
            </a:r>
            <a:r>
              <a:rPr lang="en-US" dirty="0"/>
              <a:t> </a:t>
            </a:r>
            <a:r>
              <a:rPr lang="en-US" dirty="0" err="1"/>
              <a:t>ro</a:t>
            </a:r>
            <a:r>
              <a:rPr lang="en-US" dirty="0"/>
              <a:t> </a:t>
            </a:r>
            <a:r>
              <a:rPr lang="en-US" dirty="0" err="1"/>
              <a:t>đã</a:t>
            </a:r>
            <a:r>
              <a:rPr lang="en-US" dirty="0"/>
              <a:t> </a:t>
            </a:r>
            <a:r>
              <a:rPr lang="en-US" dirty="0" err="1"/>
              <a:t>xác</a:t>
            </a:r>
            <a:r>
              <a:rPr lang="en-US" dirty="0"/>
              <a:t> </a:t>
            </a:r>
            <a:r>
              <a:rPr lang="en-US" dirty="0" err="1"/>
              <a:t>định</a:t>
            </a:r>
            <a:r>
              <a:rPr lang="en-US" dirty="0"/>
              <a:t> và </a:t>
            </a:r>
            <a:r>
              <a:rPr lang="en-US" dirty="0" err="1"/>
              <a:t>rủi</a:t>
            </a:r>
            <a:r>
              <a:rPr lang="en-US" dirty="0"/>
              <a:t> </a:t>
            </a:r>
            <a:r>
              <a:rPr lang="en-US" dirty="0" err="1"/>
              <a:t>ro</a:t>
            </a:r>
            <a:r>
              <a:rPr lang="en-US" dirty="0"/>
              <a:t> </a:t>
            </a:r>
            <a:r>
              <a:rPr lang="en-US" dirty="0" err="1"/>
              <a:t>còn</a:t>
            </a:r>
            <a:r>
              <a:rPr lang="en-US" dirty="0"/>
              <a:t> </a:t>
            </a:r>
            <a:r>
              <a:rPr lang="en-US" dirty="0" err="1"/>
              <a:t>lại</a:t>
            </a:r>
            <a:r>
              <a:rPr lang="en-US" dirty="0"/>
              <a:t>, </a:t>
            </a:r>
            <a:r>
              <a:rPr lang="en-US" dirty="0" err="1"/>
              <a:t>nhận</a:t>
            </a:r>
            <a:r>
              <a:rPr lang="en-US" dirty="0"/>
              <a:t> </a:t>
            </a:r>
            <a:r>
              <a:rPr lang="en-US" dirty="0" err="1"/>
              <a:t>dạng</a:t>
            </a:r>
            <a:r>
              <a:rPr lang="en-US" dirty="0"/>
              <a:t> </a:t>
            </a:r>
            <a:r>
              <a:rPr lang="en-US" dirty="0" err="1"/>
              <a:t>rủi</a:t>
            </a:r>
            <a:r>
              <a:rPr lang="en-US" dirty="0"/>
              <a:t> </a:t>
            </a:r>
            <a:r>
              <a:rPr lang="en-US" dirty="0" err="1"/>
              <a:t>ro</a:t>
            </a:r>
            <a:r>
              <a:rPr lang="en-US" dirty="0"/>
              <a:t> </a:t>
            </a:r>
            <a:r>
              <a:rPr lang="en-US" dirty="0" err="1"/>
              <a:t>mới</a:t>
            </a:r>
            <a:r>
              <a:rPr lang="en-US" dirty="0"/>
              <a:t>, </a:t>
            </a:r>
            <a:r>
              <a:rPr lang="en-US" dirty="0" err="1"/>
              <a:t>thực</a:t>
            </a:r>
            <a:r>
              <a:rPr lang="en-US" dirty="0"/>
              <a:t> </a:t>
            </a:r>
            <a:r>
              <a:rPr lang="en-US" dirty="0" err="1"/>
              <a:t>hiện</a:t>
            </a:r>
            <a:r>
              <a:rPr lang="en-US" dirty="0"/>
              <a:t> </a:t>
            </a:r>
            <a:r>
              <a:rPr lang="en-US" dirty="0" err="1"/>
              <a:t>đối</a:t>
            </a:r>
            <a:r>
              <a:rPr lang="en-US" dirty="0"/>
              <a:t> </a:t>
            </a:r>
            <a:r>
              <a:rPr lang="en-US" dirty="0" err="1"/>
              <a:t>phó</a:t>
            </a:r>
            <a:r>
              <a:rPr lang="en-US" dirty="0"/>
              <a:t> </a:t>
            </a:r>
            <a:r>
              <a:rPr lang="en-US" dirty="0" err="1"/>
              <a:t>rủi</a:t>
            </a:r>
            <a:r>
              <a:rPr lang="en-US" dirty="0"/>
              <a:t> </a:t>
            </a:r>
            <a:r>
              <a:rPr lang="en-US" dirty="0" err="1"/>
              <a:t>ro</a:t>
            </a:r>
            <a:r>
              <a:rPr lang="en-US" dirty="0"/>
              <a:t>, và </a:t>
            </a:r>
            <a:r>
              <a:rPr lang="vi-VN" dirty="0"/>
              <a:t>đánh giá hiệu quả chiến lược rủi ro trong suốt vòng đời dự án.</a:t>
            </a:r>
            <a:endParaRPr lang="en-US" dirty="0"/>
          </a:p>
        </p:txBody>
      </p:sp>
      <p:sp>
        <p:nvSpPr>
          <p:cNvPr id="25605"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B841AD95-1B73-4A38-9A8D-361269A6550B}" type="slidenum">
              <a:rPr lang="en-US" smtClean="0"/>
              <a:pPr>
                <a:defRPr/>
              </a:pPr>
              <a:t>19</a:t>
            </a:fld>
            <a:endParaRPr lang="en-US" dirty="0"/>
          </a:p>
        </p:txBody>
      </p:sp>
      <p:sp>
        <p:nvSpPr>
          <p:cNvPr id="7" name="Rectangle 2"/>
          <p:cNvSpPr>
            <a:spLocks noGrp="1" noChangeArrowheads="1"/>
          </p:cNvSpPr>
          <p:nvPr>
            <p:ph type="title"/>
          </p:nvPr>
        </p:nvSpPr>
        <p:spPr>
          <a:xfrm>
            <a:off x="381000" y="403225"/>
            <a:ext cx="8382000" cy="587375"/>
          </a:xfrm>
        </p:spPr>
        <p:txBody>
          <a:bodyPr>
            <a:noAutofit/>
          </a:bodyPr>
          <a:lstStyle/>
          <a:p>
            <a:pPr algn="ctr"/>
            <a:r>
              <a:rPr lang="en-US" sz="4000" dirty="0" err="1">
                <a:solidFill>
                  <a:srgbClr val="0070C0"/>
                </a:solidFill>
              </a:rPr>
              <a:t>Quy</a:t>
            </a:r>
            <a:r>
              <a:rPr lang="en-US" sz="4000" dirty="0">
                <a:solidFill>
                  <a:srgbClr val="0070C0"/>
                </a:solidFill>
              </a:rPr>
              <a:t> </a:t>
            </a:r>
            <a:r>
              <a:rPr lang="en-US" sz="4000" dirty="0" err="1">
                <a:solidFill>
                  <a:srgbClr val="0070C0"/>
                </a:solidFill>
              </a:rPr>
              <a:t>trình</a:t>
            </a:r>
            <a:r>
              <a:rPr lang="en-US" sz="4000" dirty="0">
                <a:solidFill>
                  <a:srgbClr val="0070C0"/>
                </a:solidFill>
              </a:rPr>
              <a:t> quản lý </a:t>
            </a:r>
            <a:r>
              <a:rPr lang="en-US" sz="4000" dirty="0" err="1">
                <a:solidFill>
                  <a:srgbClr val="0070C0"/>
                </a:solidFill>
              </a:rPr>
              <a:t>rủi</a:t>
            </a:r>
            <a:r>
              <a:rPr lang="en-US" sz="4000" dirty="0">
                <a:solidFill>
                  <a:srgbClr val="0070C0"/>
                </a:solidFill>
              </a:rPr>
              <a:t> </a:t>
            </a:r>
            <a:r>
              <a:rPr lang="en-US" sz="4000" dirty="0" err="1">
                <a:solidFill>
                  <a:srgbClr val="0070C0"/>
                </a:solidFill>
              </a:rPr>
              <a:t>ro</a:t>
            </a:r>
            <a:r>
              <a:rPr lang="en-US" sz="4000" dirty="0">
                <a:solidFill>
                  <a:srgbClr val="0070C0"/>
                </a:solidFill>
              </a:rPr>
              <a:t> (</a:t>
            </a:r>
            <a:r>
              <a:rPr lang="en-US" sz="4000" dirty="0" err="1">
                <a:solidFill>
                  <a:srgbClr val="0070C0"/>
                </a:solidFill>
              </a:rPr>
              <a:t>tt</a:t>
            </a:r>
            <a:r>
              <a:rPr lang="en-US" sz="4000" dirty="0">
                <a:solidFill>
                  <a:srgbClr val="0070C0"/>
                </a:solidFill>
              </a:rPr>
              <a:t>)</a:t>
            </a:r>
            <a:endParaRPr lang="en-US" sz="4400"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Footer Placeholder 3"/>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5" name="Slide Number Placeholder 4"/>
          <p:cNvSpPr>
            <a:spLocks noGrp="1"/>
          </p:cNvSpPr>
          <p:nvPr>
            <p:ph type="sldNum" sz="quarter" idx="11"/>
          </p:nvPr>
        </p:nvSpPr>
        <p:spPr/>
        <p:txBody>
          <a:bodyPr/>
          <a:lstStyle/>
          <a:p>
            <a:pPr>
              <a:defRPr/>
            </a:pPr>
            <a:fld id="{3C81FB6E-9A35-4BDF-BD69-3FAEEF5BD6CA}" type="slidenum">
              <a:rPr lang="en-US" smtClean="0"/>
              <a:pPr>
                <a:defRPr/>
              </a:pPr>
              <a:t>20</a:t>
            </a:fld>
            <a:endParaRPr lang="en-US" dirty="0"/>
          </a:p>
        </p:txBody>
      </p:sp>
      <p:sp>
        <p:nvSpPr>
          <p:cNvPr id="7" name="Title 1"/>
          <p:cNvSpPr>
            <a:spLocks noGrp="1"/>
          </p:cNvSpPr>
          <p:nvPr>
            <p:ph type="title"/>
          </p:nvPr>
        </p:nvSpPr>
        <p:spPr>
          <a:xfrm>
            <a:off x="381000" y="14287"/>
            <a:ext cx="8382000" cy="976313"/>
          </a:xfrm>
        </p:spPr>
        <p:txBody>
          <a:bodyPr>
            <a:noAutofit/>
          </a:bodyPr>
          <a:lstStyle/>
          <a:p>
            <a:pPr algn="ctr"/>
            <a:r>
              <a:rPr lang="en-US" sz="4000" dirty="0" err="1">
                <a:hlinkClick r:id="rId2" action="ppaction://hlinkpres?slideindex=1&amp;slidetitle="/>
              </a:rPr>
              <a:t>Tóm</a:t>
            </a:r>
            <a:r>
              <a:rPr lang="en-US" sz="4000" dirty="0">
                <a:hlinkClick r:id="rId2" action="ppaction://hlinkpres?slideindex=1&amp;slidetitle="/>
              </a:rPr>
              <a:t> </a:t>
            </a:r>
            <a:r>
              <a:rPr lang="en-US" sz="4000" dirty="0" err="1">
                <a:hlinkClick r:id="rId2" action="ppaction://hlinkpres?slideindex=1&amp;slidetitle="/>
              </a:rPr>
              <a:t>tắt</a:t>
            </a:r>
            <a:r>
              <a:rPr lang="en-US" sz="4000" dirty="0"/>
              <a:t> </a:t>
            </a:r>
            <a:r>
              <a:rPr lang="en-US" sz="4000" dirty="0">
                <a:hlinkClick r:id="rId3" action="ppaction://hlinkpres?slideindex=1&amp;slidetitle="/>
              </a:rPr>
              <a:t>quản lý </a:t>
            </a:r>
            <a:r>
              <a:rPr lang="en-US" sz="4000" dirty="0" err="1">
                <a:hlinkClick r:id="rId3" action="ppaction://hlinkpres?slideindex=1&amp;slidetitle="/>
              </a:rPr>
              <a:t>rủi</a:t>
            </a:r>
            <a:r>
              <a:rPr lang="en-US" sz="4000" dirty="0">
                <a:hlinkClick r:id="rId3" action="ppaction://hlinkpres?slideindex=1&amp;slidetitle="/>
              </a:rPr>
              <a:t> </a:t>
            </a:r>
            <a:r>
              <a:rPr lang="en-US" sz="4000" dirty="0" err="1">
                <a:hlinkClick r:id="rId3" action="ppaction://hlinkpres?slideindex=1&amp;slidetitle="/>
              </a:rPr>
              <a:t>ro</a:t>
            </a:r>
            <a:r>
              <a:rPr lang="en-US" sz="4000" dirty="0">
                <a:hlinkClick r:id="rId3" action="ppaction://hlinkpres?slideindex=1&amp;slidetitle="/>
              </a:rPr>
              <a:t> </a:t>
            </a:r>
            <a:r>
              <a:rPr lang="en-US" sz="4000" dirty="0" err="1">
                <a:hlinkClick r:id="rId3" action="ppaction://hlinkpres?slideindex=1&amp;slidetitle="/>
              </a:rPr>
              <a:t>dự</a:t>
            </a:r>
            <a:r>
              <a:rPr lang="en-US" sz="4000" dirty="0">
                <a:hlinkClick r:id="rId3" action="ppaction://hlinkpres?slideindex=1&amp;slidetitle="/>
              </a:rPr>
              <a:t> </a:t>
            </a:r>
            <a:r>
              <a:rPr lang="en-US" sz="4000" dirty="0" err="1">
                <a:hlinkClick r:id="rId3" action="ppaction://hlinkpres?slideindex=1&amp;slidetitle="/>
              </a:rPr>
              <a:t>án</a:t>
            </a:r>
            <a:endParaRPr lang="en-US" sz="4000" dirty="0"/>
          </a:p>
        </p:txBody>
      </p:sp>
      <p:pic>
        <p:nvPicPr>
          <p:cNvPr id="6" name="Picture 5"/>
          <p:cNvPicPr>
            <a:picLocks noChangeAspect="1"/>
          </p:cNvPicPr>
          <p:nvPr/>
        </p:nvPicPr>
        <p:blipFill>
          <a:blip r:embed="rId4"/>
          <a:stretch>
            <a:fillRect/>
          </a:stretch>
        </p:blipFill>
        <p:spPr>
          <a:xfrm>
            <a:off x="0" y="1066800"/>
            <a:ext cx="9163050" cy="5791200"/>
          </a:xfrm>
          <a:prstGeom prst="rect">
            <a:avLst/>
          </a:prstGeom>
        </p:spPr>
      </p:pic>
      <p:cxnSp>
        <p:nvCxnSpPr>
          <p:cNvPr id="8" name="Straight Connector 7"/>
          <p:cNvCxnSpPr/>
          <p:nvPr/>
        </p:nvCxnSpPr>
        <p:spPr>
          <a:xfrm>
            <a:off x="1600200" y="1905000"/>
            <a:ext cx="25146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590723" y="2438400"/>
            <a:ext cx="1457277"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566438" y="2971800"/>
            <a:ext cx="3234162"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593064" y="3492843"/>
            <a:ext cx="3359936"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600200" y="4038600"/>
            <a:ext cx="1927022"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133600" y="5053914"/>
            <a:ext cx="14478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500"/>
                                  </p:stCondLst>
                                  <p:childTnLst>
                                    <p:set>
                                      <p:cBhvr>
                                        <p:cTn id="9" dur="1" fill="hold">
                                          <p:stCondLst>
                                            <p:cond delay="0"/>
                                          </p:stCondLst>
                                        </p:cTn>
                                        <p:tgtEl>
                                          <p:spTgt spid="9"/>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nodeType="afterEffect">
                                  <p:stCondLst>
                                    <p:cond delay="500"/>
                                  </p:stCondLst>
                                  <p:childTnLst>
                                    <p:set>
                                      <p:cBhvr>
                                        <p:cTn id="12" dur="1" fill="hold">
                                          <p:stCondLst>
                                            <p:cond delay="0"/>
                                          </p:stCondLst>
                                        </p:cTn>
                                        <p:tgtEl>
                                          <p:spTgt spid="10"/>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nodeType="afterEffect">
                                  <p:stCondLst>
                                    <p:cond delay="500"/>
                                  </p:stCondLst>
                                  <p:childTnLst>
                                    <p:set>
                                      <p:cBhvr>
                                        <p:cTn id="15" dur="1" fill="hold">
                                          <p:stCondLst>
                                            <p:cond delay="0"/>
                                          </p:stCondLst>
                                        </p:cTn>
                                        <p:tgtEl>
                                          <p:spTgt spid="11"/>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nodeType="afterEffect">
                                  <p:stCondLst>
                                    <p:cond delay="500"/>
                                  </p:stCondLst>
                                  <p:childTnLst>
                                    <p:set>
                                      <p:cBhvr>
                                        <p:cTn id="18" dur="1" fill="hold">
                                          <p:stCondLst>
                                            <p:cond delay="0"/>
                                          </p:stCondLst>
                                        </p:cTn>
                                        <p:tgtEl>
                                          <p:spTgt spid="12"/>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nodeType="afterEffect">
                                  <p:stCondLst>
                                    <p:cond delay="500"/>
                                  </p:stCondLst>
                                  <p:childTnLst>
                                    <p:set>
                                      <p:cBhvr>
                                        <p:cTn id="21"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76200" y="1171575"/>
            <a:ext cx="8991600" cy="4162425"/>
          </a:xfrm>
          <a:prstGeom prst="rect">
            <a:avLst/>
          </a:prstGeom>
        </p:spPr>
      </p:pic>
      <p:sp>
        <p:nvSpPr>
          <p:cNvPr id="2458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21</a:t>
            </a:fld>
            <a:endParaRPr lang="en-US" dirty="0"/>
          </a:p>
        </p:txBody>
      </p:sp>
      <p:sp>
        <p:nvSpPr>
          <p:cNvPr id="7" name="Rounded Rectangle 6"/>
          <p:cNvSpPr/>
          <p:nvPr/>
        </p:nvSpPr>
        <p:spPr>
          <a:xfrm>
            <a:off x="1393208" y="3886200"/>
            <a:ext cx="2188192" cy="273393"/>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Title 1"/>
          <p:cNvSpPr>
            <a:spLocks noGrp="1"/>
          </p:cNvSpPr>
          <p:nvPr>
            <p:ph type="title"/>
          </p:nvPr>
        </p:nvSpPr>
        <p:spPr>
          <a:xfrm>
            <a:off x="381000" y="0"/>
            <a:ext cx="8305800" cy="1143000"/>
          </a:xfrm>
        </p:spPr>
        <p:txBody>
          <a:bodyPr>
            <a:noAutofit/>
          </a:bodyPr>
          <a:lstStyle/>
          <a:p>
            <a:pPr algn="ctr" eaLnBrk="1" hangingPunct="1">
              <a:defRPr/>
            </a:pPr>
            <a:r>
              <a:rPr lang="en-US" sz="4000" dirty="0">
                <a:solidFill>
                  <a:schemeClr val="bg1">
                    <a:lumMod val="65000"/>
                  </a:schemeClr>
                </a:solidFill>
              </a:rPr>
              <a:t>Quản lý </a:t>
            </a:r>
            <a:r>
              <a:rPr lang="en-US" sz="4000" dirty="0" err="1">
                <a:solidFill>
                  <a:schemeClr val="bg1">
                    <a:lumMod val="65000"/>
                  </a:schemeClr>
                </a:solidFill>
              </a:rPr>
              <a:t>rủi</a:t>
            </a:r>
            <a:r>
              <a:rPr lang="en-US" sz="4000" dirty="0">
                <a:solidFill>
                  <a:schemeClr val="bg1">
                    <a:lumMod val="65000"/>
                  </a:schemeClr>
                </a:solidFill>
              </a:rPr>
              <a:t> </a:t>
            </a:r>
            <a:r>
              <a:rPr lang="en-US" sz="4000" dirty="0" err="1">
                <a:solidFill>
                  <a:schemeClr val="bg1">
                    <a:lumMod val="65000"/>
                  </a:schemeClr>
                </a:solidFill>
              </a:rPr>
              <a:t>ro</a:t>
            </a:r>
            <a:r>
              <a:rPr lang="en-US" sz="4000" dirty="0">
                <a:solidFill>
                  <a:schemeClr val="bg1">
                    <a:lumMod val="65000"/>
                  </a:schemeClr>
                </a:solidFill>
              </a:rPr>
              <a:t> </a:t>
            </a:r>
            <a:r>
              <a:rPr lang="en-US" sz="4000" dirty="0" err="1">
                <a:solidFill>
                  <a:schemeClr val="bg1">
                    <a:lumMod val="65000"/>
                  </a:schemeClr>
                </a:solidFill>
              </a:rPr>
              <a:t>dự</a:t>
            </a:r>
            <a:r>
              <a:rPr lang="en-US" sz="4000" dirty="0">
                <a:solidFill>
                  <a:schemeClr val="bg1">
                    <a:lumMod val="65000"/>
                  </a:schemeClr>
                </a:solidFill>
              </a:rPr>
              <a:t> </a:t>
            </a:r>
            <a:r>
              <a:rPr lang="en-US" sz="4000" dirty="0" err="1">
                <a:solidFill>
                  <a:schemeClr val="bg1">
                    <a:lumMod val="65000"/>
                  </a:schemeClr>
                </a:solidFill>
              </a:rPr>
              <a:t>án</a:t>
            </a:r>
            <a:r>
              <a:rPr lang="en-US" sz="4000" dirty="0">
                <a:solidFill>
                  <a:schemeClr val="bg1">
                    <a:lumMod val="65000"/>
                  </a:schemeClr>
                </a:solidFill>
              </a:rPr>
              <a:t> [1/6]</a:t>
            </a:r>
          </a:p>
        </p:txBody>
      </p:sp>
      <p:pic>
        <p:nvPicPr>
          <p:cNvPr id="2" name="Picture 1"/>
          <p:cNvPicPr>
            <a:picLocks noChangeAspect="1"/>
          </p:cNvPicPr>
          <p:nvPr/>
        </p:nvPicPr>
        <p:blipFill>
          <a:blip r:embed="rId3"/>
          <a:stretch>
            <a:fillRect/>
          </a:stretch>
        </p:blipFill>
        <p:spPr>
          <a:xfrm>
            <a:off x="5336058" y="5410200"/>
            <a:ext cx="1850096" cy="1402492"/>
          </a:xfrm>
          <a:prstGeom prst="rect">
            <a:avLst/>
          </a:prstGeom>
        </p:spPr>
      </p:pic>
    </p:spTree>
    <p:extLst>
      <p:ext uri="{BB962C8B-B14F-4D97-AF65-F5344CB8AC3E}">
        <p14:creationId xmlns:p14="http://schemas.microsoft.com/office/powerpoint/2010/main" val="824489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533400" y="1295400"/>
            <a:ext cx="8229600" cy="4525962"/>
          </a:xfrm>
        </p:spPr>
        <p:txBody>
          <a:bodyPr/>
          <a:lstStyle/>
          <a:p>
            <a:pPr algn="just">
              <a:spcBef>
                <a:spcPts val="1200"/>
              </a:spcBef>
              <a:spcAft>
                <a:spcPts val="600"/>
              </a:spcAft>
            </a:pPr>
            <a:r>
              <a:rPr lang="en-US" b="1" dirty="0" err="1"/>
              <a:t>Kế</a:t>
            </a:r>
            <a:r>
              <a:rPr lang="en-US" b="1" dirty="0"/>
              <a:t> </a:t>
            </a:r>
            <a:r>
              <a:rPr lang="en-US" b="1" dirty="0" err="1"/>
              <a:t>hoạch</a:t>
            </a:r>
            <a:r>
              <a:rPr lang="en-US" b="1" dirty="0"/>
              <a:t> quản lý </a:t>
            </a:r>
            <a:r>
              <a:rPr lang="en-US" b="1" dirty="0" err="1"/>
              <a:t>rủi</a:t>
            </a:r>
            <a:r>
              <a:rPr lang="en-US" b="1" dirty="0"/>
              <a:t> </a:t>
            </a:r>
            <a:r>
              <a:rPr lang="en-US" b="1" dirty="0" err="1"/>
              <a:t>ro</a:t>
            </a:r>
            <a:r>
              <a:rPr lang="en-US" b="1" dirty="0"/>
              <a:t> </a:t>
            </a:r>
            <a:r>
              <a:rPr lang="en-US" dirty="0"/>
              <a:t>(</a:t>
            </a:r>
            <a:r>
              <a:rPr lang="en-US" dirty="0">
                <a:solidFill>
                  <a:srgbClr val="0070C0"/>
                </a:solidFill>
              </a:rPr>
              <a:t>plan risk management</a:t>
            </a:r>
            <a:r>
              <a:rPr lang="en-US" dirty="0"/>
              <a:t>):</a:t>
            </a:r>
            <a:r>
              <a:rPr lang="en-US" b="1" dirty="0"/>
              <a:t> </a:t>
            </a:r>
            <a:r>
              <a:rPr lang="en-US" dirty="0"/>
              <a:t> </a:t>
            </a:r>
            <a:r>
              <a:rPr lang="en-US" dirty="0" err="1"/>
              <a:t>các</a:t>
            </a:r>
            <a:r>
              <a:rPr lang="en-US" dirty="0"/>
              <a:t> </a:t>
            </a:r>
            <a:r>
              <a:rPr lang="en-US" dirty="0" err="1"/>
              <a:t>tài</a:t>
            </a:r>
            <a:r>
              <a:rPr lang="en-US" dirty="0"/>
              <a:t> </a:t>
            </a:r>
            <a:r>
              <a:rPr lang="en-US" dirty="0" err="1"/>
              <a:t>liệu</a:t>
            </a:r>
            <a:r>
              <a:rPr lang="en-US" dirty="0"/>
              <a:t> và </a:t>
            </a:r>
            <a:r>
              <a:rPr lang="en-US" dirty="0" err="1"/>
              <a:t>quy</a:t>
            </a:r>
            <a:r>
              <a:rPr lang="en-US" dirty="0"/>
              <a:t> </a:t>
            </a:r>
            <a:r>
              <a:rPr lang="en-US" dirty="0" err="1"/>
              <a:t>trình</a:t>
            </a:r>
            <a:r>
              <a:rPr lang="en-US" dirty="0"/>
              <a:t> </a:t>
            </a:r>
            <a:r>
              <a:rPr lang="en-US" dirty="0" err="1"/>
              <a:t>để</a:t>
            </a:r>
            <a:r>
              <a:rPr lang="en-US" dirty="0"/>
              <a:t> quản lý </a:t>
            </a:r>
            <a:r>
              <a:rPr lang="en-US" dirty="0" err="1"/>
              <a:t>rủi</a:t>
            </a:r>
            <a:r>
              <a:rPr lang="en-US" dirty="0"/>
              <a:t> </a:t>
            </a:r>
            <a:r>
              <a:rPr lang="en-US" dirty="0" err="1"/>
              <a:t>ro</a:t>
            </a:r>
            <a:r>
              <a:rPr lang="en-US" dirty="0"/>
              <a:t> </a:t>
            </a:r>
            <a:r>
              <a:rPr lang="en-US" dirty="0" err="1"/>
              <a:t>dự</a:t>
            </a:r>
            <a:r>
              <a:rPr lang="en-US" dirty="0"/>
              <a:t> </a:t>
            </a:r>
            <a:r>
              <a:rPr lang="en-US" dirty="0" err="1"/>
              <a:t>án</a:t>
            </a:r>
            <a:endParaRPr lang="en-US" b="1" dirty="0"/>
          </a:p>
          <a:p>
            <a:pPr algn="just">
              <a:spcBef>
                <a:spcPts val="600"/>
              </a:spcBef>
              <a:spcAft>
                <a:spcPts val="600"/>
              </a:spcAft>
            </a:pPr>
            <a:r>
              <a:rPr lang="en-US" dirty="0" err="1"/>
              <a:t>Mức</a:t>
            </a:r>
            <a:r>
              <a:rPr lang="en-US" dirty="0"/>
              <a:t> </a:t>
            </a:r>
            <a:r>
              <a:rPr lang="en-US" dirty="0" err="1"/>
              <a:t>độ</a:t>
            </a:r>
            <a:r>
              <a:rPr lang="en-US" dirty="0"/>
              <a:t> chi </a:t>
            </a:r>
            <a:r>
              <a:rPr lang="en-US" dirty="0" err="1"/>
              <a:t>tiết</a:t>
            </a:r>
            <a:r>
              <a:rPr lang="en-US" dirty="0"/>
              <a:t> </a:t>
            </a:r>
            <a:r>
              <a:rPr lang="en-US" dirty="0" err="1"/>
              <a:t>thay</a:t>
            </a:r>
            <a:r>
              <a:rPr lang="en-US" dirty="0"/>
              <a:t> </a:t>
            </a:r>
            <a:r>
              <a:rPr lang="en-US" dirty="0" err="1"/>
              <a:t>đổi</a:t>
            </a:r>
            <a:r>
              <a:rPr lang="en-US" dirty="0"/>
              <a:t> </a:t>
            </a:r>
            <a:r>
              <a:rPr lang="en-US" dirty="0" err="1"/>
              <a:t>theo</a:t>
            </a:r>
            <a:r>
              <a:rPr lang="en-US" dirty="0"/>
              <a:t> </a:t>
            </a:r>
            <a:r>
              <a:rPr lang="en-US" dirty="0" err="1"/>
              <a:t>nhu</a:t>
            </a:r>
            <a:r>
              <a:rPr lang="en-US" dirty="0"/>
              <a:t> </a:t>
            </a:r>
            <a:r>
              <a:rPr lang="en-US" dirty="0" err="1"/>
              <a:t>cầu</a:t>
            </a:r>
            <a:r>
              <a:rPr lang="en-US" dirty="0"/>
              <a:t> </a:t>
            </a:r>
            <a:r>
              <a:rPr lang="en-US" dirty="0" err="1"/>
              <a:t>của</a:t>
            </a:r>
            <a:r>
              <a:rPr lang="en-US" dirty="0"/>
              <a:t> </a:t>
            </a:r>
            <a:r>
              <a:rPr lang="en-US" dirty="0" err="1"/>
              <a:t>dự</a:t>
            </a:r>
            <a:r>
              <a:rPr lang="en-US" dirty="0"/>
              <a:t> </a:t>
            </a:r>
            <a:r>
              <a:rPr lang="en-US" dirty="0" err="1"/>
              <a:t>án</a:t>
            </a:r>
            <a:r>
              <a:rPr lang="en-US" dirty="0"/>
              <a:t>.</a:t>
            </a:r>
          </a:p>
          <a:p>
            <a:pPr algn="just">
              <a:spcBef>
                <a:spcPts val="600"/>
              </a:spcBef>
              <a:spcAft>
                <a:spcPts val="600"/>
              </a:spcAft>
            </a:pPr>
            <a:r>
              <a:rPr lang="en-US" dirty="0" err="1"/>
              <a:t>Kế</a:t>
            </a:r>
            <a:r>
              <a:rPr lang="en-US" dirty="0"/>
              <a:t> </a:t>
            </a:r>
            <a:r>
              <a:rPr lang="en-US" dirty="0" err="1"/>
              <a:t>hoạch</a:t>
            </a:r>
            <a:r>
              <a:rPr lang="en-US" dirty="0"/>
              <a:t> quản lý </a:t>
            </a:r>
            <a:r>
              <a:rPr lang="en-US" dirty="0" err="1"/>
              <a:t>rủi</a:t>
            </a:r>
            <a:r>
              <a:rPr lang="en-US" dirty="0"/>
              <a:t> </a:t>
            </a:r>
            <a:r>
              <a:rPr lang="en-US" dirty="0" err="1"/>
              <a:t>ro</a:t>
            </a:r>
            <a:r>
              <a:rPr lang="en-US" dirty="0"/>
              <a:t> </a:t>
            </a:r>
            <a:r>
              <a:rPr lang="en-US" dirty="0" err="1"/>
              <a:t>gồm</a:t>
            </a:r>
            <a:r>
              <a:rPr lang="en-US" dirty="0"/>
              <a:t>:</a:t>
            </a:r>
          </a:p>
          <a:p>
            <a:pPr lvl="1">
              <a:spcBef>
                <a:spcPts val="0"/>
              </a:spcBef>
              <a:buFont typeface="Arial" panose="020B0604020202020204" pitchFamily="34" charset="0"/>
              <a:buChar char="•"/>
            </a:pPr>
            <a:r>
              <a:rPr lang="en-US" sz="2400" dirty="0"/>
              <a:t>Phương </a:t>
            </a:r>
            <a:r>
              <a:rPr lang="en-US" sz="2400" dirty="0" err="1"/>
              <a:t>pháp</a:t>
            </a:r>
            <a:r>
              <a:rPr lang="en-US" sz="2400" dirty="0"/>
              <a:t>… </a:t>
            </a:r>
          </a:p>
          <a:p>
            <a:pPr lvl="1">
              <a:spcBef>
                <a:spcPts val="0"/>
              </a:spcBef>
              <a:buFont typeface="Arial" panose="020B0604020202020204" pitchFamily="34" charset="0"/>
              <a:buChar char="•"/>
            </a:pPr>
            <a:r>
              <a:rPr lang="en-US" sz="2400" dirty="0" err="1"/>
              <a:t>Vai</a:t>
            </a:r>
            <a:r>
              <a:rPr lang="en-US" sz="2400" dirty="0"/>
              <a:t> </a:t>
            </a:r>
            <a:r>
              <a:rPr lang="en-US" sz="2400" dirty="0" err="1"/>
              <a:t>trò</a:t>
            </a:r>
            <a:r>
              <a:rPr lang="en-US" sz="2400" dirty="0"/>
              <a:t> và </a:t>
            </a:r>
            <a:r>
              <a:rPr lang="en-US" sz="2400" dirty="0" err="1"/>
              <a:t>trách</a:t>
            </a:r>
            <a:r>
              <a:rPr lang="en-US" sz="2400" dirty="0"/>
              <a:t> </a:t>
            </a:r>
            <a:r>
              <a:rPr lang="en-US" sz="2400" dirty="0" err="1"/>
              <a:t>nhiệm</a:t>
            </a:r>
            <a:r>
              <a:rPr lang="en-US" sz="2400" dirty="0"/>
              <a:t> </a:t>
            </a:r>
          </a:p>
          <a:p>
            <a:pPr lvl="1">
              <a:spcBef>
                <a:spcPts val="0"/>
              </a:spcBef>
              <a:buFont typeface="Arial" panose="020B0604020202020204" pitchFamily="34" charset="0"/>
              <a:buChar char="•"/>
            </a:pPr>
            <a:r>
              <a:rPr lang="en-US" sz="2400" dirty="0"/>
              <a:t>Ngân </a:t>
            </a:r>
            <a:r>
              <a:rPr lang="en-US" sz="2400" dirty="0" err="1"/>
              <a:t>sách</a:t>
            </a:r>
            <a:r>
              <a:rPr lang="en-US" sz="2400" dirty="0"/>
              <a:t> và </a:t>
            </a:r>
            <a:r>
              <a:rPr lang="en-US" sz="2400" dirty="0" err="1"/>
              <a:t>lịch</a:t>
            </a:r>
            <a:r>
              <a:rPr lang="en-US" sz="2400" dirty="0"/>
              <a:t> </a:t>
            </a:r>
            <a:r>
              <a:rPr lang="en-US" sz="2400" dirty="0" err="1"/>
              <a:t>biểu</a:t>
            </a:r>
            <a:endParaRPr lang="en-US" sz="2400" dirty="0"/>
          </a:p>
          <a:p>
            <a:pPr lvl="1">
              <a:spcBef>
                <a:spcPts val="0"/>
              </a:spcBef>
              <a:buFont typeface="Arial" panose="020B0604020202020204" pitchFamily="34" charset="0"/>
              <a:buChar char="•"/>
            </a:pPr>
            <a:r>
              <a:rPr lang="en-US" sz="2400" dirty="0" err="1"/>
              <a:t>Phân</a:t>
            </a:r>
            <a:r>
              <a:rPr lang="en-US" sz="2400" dirty="0"/>
              <a:t> </a:t>
            </a:r>
            <a:r>
              <a:rPr lang="en-US" sz="2400" dirty="0" err="1"/>
              <a:t>loại</a:t>
            </a:r>
            <a:r>
              <a:rPr lang="en-US" sz="2400" dirty="0"/>
              <a:t> </a:t>
            </a:r>
            <a:r>
              <a:rPr lang="en-US" sz="2400" dirty="0" err="1"/>
              <a:t>rủi</a:t>
            </a:r>
            <a:r>
              <a:rPr lang="en-US" sz="2400" dirty="0"/>
              <a:t> </a:t>
            </a:r>
            <a:r>
              <a:rPr lang="en-US" sz="2400" dirty="0" err="1"/>
              <a:t>ro</a:t>
            </a:r>
            <a:endParaRPr lang="en-US" sz="2400" dirty="0"/>
          </a:p>
          <a:p>
            <a:pPr lvl="1">
              <a:spcBef>
                <a:spcPts val="0"/>
              </a:spcBef>
              <a:buFont typeface="Arial" panose="020B0604020202020204" pitchFamily="34" charset="0"/>
              <a:buChar char="•"/>
            </a:pPr>
            <a:r>
              <a:rPr lang="en-US" sz="2400" dirty="0" err="1"/>
              <a:t>Khả</a:t>
            </a:r>
            <a:r>
              <a:rPr lang="en-US" sz="2400" dirty="0"/>
              <a:t> </a:t>
            </a:r>
            <a:r>
              <a:rPr lang="en-US" sz="2400" dirty="0" err="1"/>
              <a:t>năng</a:t>
            </a:r>
            <a:r>
              <a:rPr lang="en-US" sz="2400" dirty="0"/>
              <a:t> và </a:t>
            </a:r>
            <a:r>
              <a:rPr lang="en-US" sz="2400" dirty="0" err="1"/>
              <a:t>ảnh</a:t>
            </a:r>
            <a:r>
              <a:rPr lang="en-US" sz="2400" dirty="0"/>
              <a:t> </a:t>
            </a:r>
            <a:r>
              <a:rPr lang="en-US" sz="2400" dirty="0" err="1"/>
              <a:t>hưởng</a:t>
            </a:r>
            <a:endParaRPr lang="en-US" sz="2400" dirty="0"/>
          </a:p>
          <a:p>
            <a:pPr lvl="1">
              <a:spcBef>
                <a:spcPts val="0"/>
              </a:spcBef>
              <a:buFont typeface="Arial" panose="020B0604020202020204" pitchFamily="34" charset="0"/>
              <a:buChar char="•"/>
            </a:pPr>
            <a:r>
              <a:rPr lang="en-US" sz="2400" dirty="0" err="1"/>
              <a:t>Chấp</a:t>
            </a:r>
            <a:r>
              <a:rPr lang="en-US" sz="2400" dirty="0"/>
              <a:t> </a:t>
            </a:r>
            <a:r>
              <a:rPr lang="en-US" sz="2400" dirty="0" err="1"/>
              <a:t>nhận</a:t>
            </a:r>
            <a:r>
              <a:rPr lang="en-US" sz="2400" dirty="0"/>
              <a:t> </a:t>
            </a:r>
            <a:r>
              <a:rPr lang="en-US" sz="2400" dirty="0" err="1"/>
              <a:t>của</a:t>
            </a:r>
            <a:r>
              <a:rPr lang="en-US" sz="2400" dirty="0"/>
              <a:t> </a:t>
            </a:r>
            <a:r>
              <a:rPr lang="en-US" sz="2400" dirty="0" err="1"/>
              <a:t>các</a:t>
            </a:r>
            <a:r>
              <a:rPr lang="en-US" sz="2400" dirty="0"/>
              <a:t> </a:t>
            </a:r>
            <a:r>
              <a:rPr lang="en-US" sz="2400" dirty="0" err="1"/>
              <a:t>bên</a:t>
            </a:r>
            <a:endParaRPr lang="en-US" sz="2400" dirty="0"/>
          </a:p>
          <a:p>
            <a:pPr lvl="1">
              <a:spcBef>
                <a:spcPts val="0"/>
              </a:spcBef>
              <a:buFont typeface="Arial" panose="020B0604020202020204" pitchFamily="34" charset="0"/>
              <a:buChar char="•"/>
            </a:pPr>
            <a:r>
              <a:rPr lang="en-US" sz="2400" dirty="0"/>
              <a:t>Theo </a:t>
            </a:r>
            <a:r>
              <a:rPr lang="en-US" sz="2400" dirty="0" err="1"/>
              <a:t>dõi</a:t>
            </a:r>
            <a:r>
              <a:rPr lang="en-US" sz="2400" dirty="0"/>
              <a:t>.</a:t>
            </a:r>
          </a:p>
          <a:p>
            <a:pPr algn="just">
              <a:spcBef>
                <a:spcPts val="1200"/>
              </a:spcBef>
              <a:spcAft>
                <a:spcPts val="600"/>
              </a:spcAft>
            </a:pPr>
            <a:endParaRPr lang="en-US" dirty="0"/>
          </a:p>
        </p:txBody>
      </p:sp>
      <p:sp>
        <p:nvSpPr>
          <p:cNvPr id="27650" name="Rectangle 2"/>
          <p:cNvSpPr>
            <a:spLocks noGrp="1" noChangeArrowheads="1"/>
          </p:cNvSpPr>
          <p:nvPr>
            <p:ph type="title"/>
          </p:nvPr>
        </p:nvSpPr>
        <p:spPr>
          <a:xfrm>
            <a:off x="457200" y="76200"/>
            <a:ext cx="8229600" cy="1143000"/>
          </a:xfrm>
        </p:spPr>
        <p:txBody>
          <a:bodyPr>
            <a:normAutofit/>
          </a:bodyPr>
          <a:lstStyle/>
          <a:p>
            <a:pPr algn="ctr"/>
            <a:r>
              <a:rPr lang="en-US" sz="4400" dirty="0">
                <a:solidFill>
                  <a:srgbClr val="FF0000"/>
                </a:solidFill>
              </a:rPr>
              <a:t>1. </a:t>
            </a:r>
            <a:r>
              <a:rPr lang="en-US" sz="4400" dirty="0" err="1">
                <a:solidFill>
                  <a:srgbClr val="FF0000"/>
                </a:solidFill>
              </a:rPr>
              <a:t>Kế</a:t>
            </a:r>
            <a:r>
              <a:rPr lang="en-US" sz="4400" dirty="0">
                <a:solidFill>
                  <a:srgbClr val="FF0000"/>
                </a:solidFill>
              </a:rPr>
              <a:t> </a:t>
            </a:r>
            <a:r>
              <a:rPr lang="en-US" sz="4400" dirty="0" err="1">
                <a:solidFill>
                  <a:srgbClr val="FF0000"/>
                </a:solidFill>
              </a:rPr>
              <a:t>hoạch</a:t>
            </a:r>
            <a:r>
              <a:rPr lang="en-US" sz="4400" dirty="0">
                <a:solidFill>
                  <a:srgbClr val="FF0000"/>
                </a:solidFill>
              </a:rPr>
              <a:t> quản lý </a:t>
            </a:r>
            <a:r>
              <a:rPr lang="en-US" sz="4400" dirty="0" err="1">
                <a:solidFill>
                  <a:srgbClr val="FF0000"/>
                </a:solidFill>
              </a:rPr>
              <a:t>rủi</a:t>
            </a:r>
            <a:r>
              <a:rPr lang="en-US" sz="4400" dirty="0">
                <a:solidFill>
                  <a:srgbClr val="FF0000"/>
                </a:solidFill>
              </a:rPr>
              <a:t> </a:t>
            </a:r>
            <a:r>
              <a:rPr lang="en-US" sz="4400" dirty="0" err="1">
                <a:solidFill>
                  <a:srgbClr val="FF0000"/>
                </a:solidFill>
              </a:rPr>
              <a:t>ro</a:t>
            </a:r>
            <a:endParaRPr lang="en-US" sz="4400" dirty="0">
              <a:solidFill>
                <a:srgbClr val="FF0000"/>
              </a:solidFill>
            </a:endParaRPr>
          </a:p>
        </p:txBody>
      </p:sp>
      <p:sp>
        <p:nvSpPr>
          <p:cNvPr id="27653"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99CF7EFE-9DF7-4CAD-AE6E-0FF8145A12C8}" type="slidenum">
              <a:rPr lang="en-US" smtClean="0"/>
              <a:pPr>
                <a:defRPr/>
              </a:pPr>
              <a:t>22</a:t>
            </a:fld>
            <a:endParaRPr lang="en-US" dirty="0"/>
          </a:p>
        </p:txBody>
      </p:sp>
      <p:pic>
        <p:nvPicPr>
          <p:cNvPr id="7" name="Picture 6"/>
          <p:cNvPicPr>
            <a:picLocks noChangeAspect="1"/>
          </p:cNvPicPr>
          <p:nvPr/>
        </p:nvPicPr>
        <p:blipFill>
          <a:blip r:embed="rId2"/>
          <a:stretch>
            <a:fillRect/>
          </a:stretch>
        </p:blipFill>
        <p:spPr>
          <a:xfrm>
            <a:off x="6172200" y="4572000"/>
            <a:ext cx="2209800" cy="150464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7651">
                                            <p:txEl>
                                              <p:pRg st="1" end="1"/>
                                            </p:txEl>
                                          </p:spTgt>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27651">
                                            <p:txEl>
                                              <p:pRg st="2" end="2"/>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7651">
                                            <p:txEl>
                                              <p:pRg st="3" end="3"/>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7651">
                                            <p:txEl>
                                              <p:pRg st="4" end="4"/>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27651">
                                            <p:txEl>
                                              <p:pRg st="5" end="5"/>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7651">
                                            <p:txEl>
                                              <p:pRg st="6" end="6"/>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27651">
                                            <p:txEl>
                                              <p:pRg st="7" end="7"/>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27651">
                                            <p:txEl>
                                              <p:pRg st="8" end="8"/>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2765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971800" y="3276600"/>
            <a:ext cx="5534025" cy="3108932"/>
          </a:xfrm>
          <a:prstGeom prst="rect">
            <a:avLst/>
          </a:prstGeom>
        </p:spPr>
      </p:pic>
      <p:sp>
        <p:nvSpPr>
          <p:cNvPr id="29699" name="Rectangle 3"/>
          <p:cNvSpPr>
            <a:spLocks noGrp="1" noChangeArrowheads="1"/>
          </p:cNvSpPr>
          <p:nvPr>
            <p:ph idx="1"/>
          </p:nvPr>
        </p:nvSpPr>
        <p:spPr>
          <a:xfrm>
            <a:off x="152400" y="1295400"/>
            <a:ext cx="8458200" cy="3276600"/>
          </a:xfrm>
        </p:spPr>
        <p:txBody>
          <a:bodyPr/>
          <a:lstStyle/>
          <a:p>
            <a:pPr algn="just">
              <a:spcBef>
                <a:spcPct val="60000"/>
              </a:spcBef>
              <a:spcAft>
                <a:spcPts val="600"/>
              </a:spcAft>
            </a:pPr>
            <a:r>
              <a:rPr lang="en-US" dirty="0" err="1">
                <a:effectLst>
                  <a:outerShdw blurRad="38100" dist="38100" dir="2700000" algn="tl">
                    <a:srgbClr val="000000">
                      <a:alpha val="43137"/>
                    </a:srgbClr>
                  </a:outerShdw>
                </a:effectLst>
              </a:rPr>
              <a:t>Kế</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hoạch</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dự</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phòng</a:t>
            </a:r>
            <a:r>
              <a:rPr lang="en-US" dirty="0"/>
              <a:t> (</a:t>
            </a:r>
            <a:r>
              <a:rPr lang="en-US" dirty="0">
                <a:solidFill>
                  <a:srgbClr val="0070C0"/>
                </a:solidFill>
              </a:rPr>
              <a:t>contingency plan</a:t>
            </a:r>
            <a:r>
              <a:rPr lang="en-US" dirty="0"/>
              <a:t>):</a:t>
            </a:r>
            <a:r>
              <a:rPr lang="vi-VN" dirty="0"/>
              <a:t> hành động sẽ thực hiện nếu </a:t>
            </a:r>
            <a:r>
              <a:rPr lang="vi-VN"/>
              <a:t>một sự kiện </a:t>
            </a:r>
            <a:r>
              <a:rPr lang="vi-VN" dirty="0"/>
              <a:t>rủi ro xảy ra.</a:t>
            </a:r>
            <a:endParaRPr lang="en-US" dirty="0"/>
          </a:p>
          <a:p>
            <a:pPr lvl="1" algn="just">
              <a:spcBef>
                <a:spcPts val="300"/>
              </a:spcBef>
              <a:spcAft>
                <a:spcPts val="300"/>
              </a:spcAft>
              <a:buFont typeface="Arial" panose="020B0604020202020204" pitchFamily="34" charset="0"/>
              <a:buChar char="•"/>
            </a:pPr>
            <a:r>
              <a:rPr lang="en-US" sz="2400" dirty="0" err="1">
                <a:effectLst>
                  <a:outerShdw blurRad="38100" dist="38100" dir="2700000" algn="tl">
                    <a:srgbClr val="000000">
                      <a:alpha val="43137"/>
                    </a:srgbClr>
                  </a:outerShdw>
                </a:effectLst>
              </a:rPr>
              <a:t>Dự</a:t>
            </a:r>
            <a:r>
              <a:rPr lang="en-US" sz="2400" dirty="0">
                <a:effectLst>
                  <a:outerShdw blurRad="38100" dist="38100" dir="2700000" algn="tl">
                    <a:srgbClr val="000000">
                      <a:alpha val="43137"/>
                    </a:srgbClr>
                  </a:outerShdw>
                </a:effectLst>
              </a:rPr>
              <a:t> </a:t>
            </a:r>
            <a:r>
              <a:rPr lang="en-US" sz="2400" dirty="0" err="1">
                <a:effectLst>
                  <a:outerShdw blurRad="38100" dist="38100" dir="2700000" algn="tl">
                    <a:srgbClr val="000000">
                      <a:alpha val="43137"/>
                    </a:srgbClr>
                  </a:outerShdw>
                </a:effectLst>
              </a:rPr>
              <a:t>trữ</a:t>
            </a:r>
            <a:r>
              <a:rPr lang="en-US" sz="2400" dirty="0">
                <a:effectLst>
                  <a:outerShdw blurRad="38100" dist="38100" dir="2700000" algn="tl">
                    <a:srgbClr val="000000">
                      <a:alpha val="43137"/>
                    </a:srgbClr>
                  </a:outerShdw>
                </a:effectLst>
              </a:rPr>
              <a:t> quản lý </a:t>
            </a:r>
            <a:r>
              <a:rPr lang="en-US" sz="2400" dirty="0">
                <a:solidFill>
                  <a:srgbClr val="0070C0"/>
                </a:solidFill>
              </a:rPr>
              <a:t>(management reserve</a:t>
            </a:r>
            <a:r>
              <a:rPr lang="en-US" sz="2400" dirty="0"/>
              <a:t>)</a:t>
            </a:r>
          </a:p>
          <a:p>
            <a:pPr lvl="1" algn="just">
              <a:spcBef>
                <a:spcPts val="300"/>
              </a:spcBef>
              <a:spcAft>
                <a:spcPts val="300"/>
              </a:spcAft>
              <a:buFont typeface="Arial" panose="020B0604020202020204" pitchFamily="34" charset="0"/>
              <a:buChar char="•"/>
            </a:pPr>
            <a:r>
              <a:rPr lang="en-US" sz="2400" dirty="0" err="1">
                <a:effectLst>
                  <a:outerShdw blurRad="38100" dist="38100" dir="2700000" algn="tl">
                    <a:srgbClr val="000000">
                      <a:alpha val="43137"/>
                    </a:srgbClr>
                  </a:outerShdw>
                </a:effectLst>
              </a:rPr>
              <a:t>Dự</a:t>
            </a:r>
            <a:r>
              <a:rPr lang="en-US" sz="2400" dirty="0">
                <a:effectLst>
                  <a:outerShdw blurRad="38100" dist="38100" dir="2700000" algn="tl">
                    <a:srgbClr val="000000">
                      <a:alpha val="43137"/>
                    </a:srgbClr>
                  </a:outerShdw>
                </a:effectLst>
              </a:rPr>
              <a:t> </a:t>
            </a:r>
            <a:r>
              <a:rPr lang="en-US" sz="2400" dirty="0" err="1">
                <a:effectLst>
                  <a:outerShdw blurRad="38100" dist="38100" dir="2700000" algn="tl">
                    <a:srgbClr val="000000">
                      <a:alpha val="43137"/>
                    </a:srgbClr>
                  </a:outerShdw>
                </a:effectLst>
              </a:rPr>
              <a:t>trữ</a:t>
            </a:r>
            <a:r>
              <a:rPr lang="en-US" sz="2400" dirty="0">
                <a:effectLst>
                  <a:outerShdw blurRad="38100" dist="38100" dir="2700000" algn="tl">
                    <a:srgbClr val="000000">
                      <a:alpha val="43137"/>
                    </a:srgbClr>
                  </a:outerShdw>
                </a:effectLst>
              </a:rPr>
              <a:t> </a:t>
            </a:r>
            <a:r>
              <a:rPr lang="en-US" sz="2400" dirty="0" err="1">
                <a:effectLst>
                  <a:outerShdw blurRad="38100" dist="38100" dir="2700000" algn="tl">
                    <a:srgbClr val="000000">
                      <a:alpha val="43137"/>
                    </a:srgbClr>
                  </a:outerShdw>
                </a:effectLst>
              </a:rPr>
              <a:t>dự</a:t>
            </a:r>
            <a:r>
              <a:rPr lang="en-US" sz="2400" dirty="0">
                <a:effectLst>
                  <a:outerShdw blurRad="38100" dist="38100" dir="2700000" algn="tl">
                    <a:srgbClr val="000000">
                      <a:alpha val="43137"/>
                    </a:srgbClr>
                  </a:outerShdw>
                </a:effectLst>
              </a:rPr>
              <a:t> </a:t>
            </a:r>
            <a:r>
              <a:rPr lang="en-US" sz="2400" dirty="0" err="1">
                <a:effectLst>
                  <a:outerShdw blurRad="38100" dist="38100" dir="2700000" algn="tl">
                    <a:srgbClr val="000000">
                      <a:alpha val="43137"/>
                    </a:srgbClr>
                  </a:outerShdw>
                </a:effectLst>
              </a:rPr>
              <a:t>phòng</a:t>
            </a:r>
            <a:r>
              <a:rPr lang="en-US" sz="2400" dirty="0">
                <a:effectLst>
                  <a:outerShdw blurRad="38100" dist="38100" dir="2700000" algn="tl">
                    <a:srgbClr val="000000">
                      <a:alpha val="43137"/>
                    </a:srgbClr>
                  </a:outerShdw>
                </a:effectLst>
              </a:rPr>
              <a:t> </a:t>
            </a:r>
            <a:r>
              <a:rPr lang="en-US" sz="2400" dirty="0"/>
              <a:t>(</a:t>
            </a:r>
            <a:r>
              <a:rPr lang="en-US" sz="2400" dirty="0">
                <a:solidFill>
                  <a:srgbClr val="0070C0"/>
                </a:solidFill>
              </a:rPr>
              <a:t>contingency reserve</a:t>
            </a:r>
            <a:r>
              <a:rPr lang="en-US" sz="2400" dirty="0"/>
              <a:t>)… </a:t>
            </a:r>
          </a:p>
        </p:txBody>
      </p:sp>
      <p:sp>
        <p:nvSpPr>
          <p:cNvPr id="29698" name="Rectangle 2"/>
          <p:cNvSpPr>
            <a:spLocks noGrp="1" noChangeArrowheads="1"/>
          </p:cNvSpPr>
          <p:nvPr>
            <p:ph type="title"/>
          </p:nvPr>
        </p:nvSpPr>
        <p:spPr>
          <a:xfrm>
            <a:off x="381000" y="76200"/>
            <a:ext cx="8305800" cy="1143000"/>
          </a:xfrm>
        </p:spPr>
        <p:txBody>
          <a:bodyPr>
            <a:normAutofit/>
          </a:bodyPr>
          <a:lstStyle/>
          <a:p>
            <a:pPr algn="ctr"/>
            <a:r>
              <a:rPr lang="en-US" sz="4000" dirty="0" err="1"/>
              <a:t>Kế</a:t>
            </a:r>
            <a:r>
              <a:rPr lang="en-US" sz="4000" dirty="0"/>
              <a:t> </a:t>
            </a:r>
            <a:r>
              <a:rPr lang="en-US" sz="4000" dirty="0" err="1"/>
              <a:t>hoạch</a:t>
            </a:r>
            <a:r>
              <a:rPr lang="en-US" sz="4000" dirty="0"/>
              <a:t> </a:t>
            </a:r>
            <a:r>
              <a:rPr lang="en-US" sz="4000" dirty="0" err="1"/>
              <a:t>dự</a:t>
            </a:r>
            <a:r>
              <a:rPr lang="en-US" sz="4000" dirty="0"/>
              <a:t> </a:t>
            </a:r>
            <a:r>
              <a:rPr lang="en-US" sz="4000" dirty="0" err="1"/>
              <a:t>phòng</a:t>
            </a:r>
            <a:endParaRPr lang="en-US" sz="4000" dirty="0"/>
          </a:p>
        </p:txBody>
      </p:sp>
      <p:sp>
        <p:nvSpPr>
          <p:cNvPr id="2970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F0168EBD-A927-405F-8B2A-DE7F1F6E9C5D}" type="slidenum">
              <a:rPr lang="en-US" smtClean="0"/>
              <a:pPr>
                <a:defRPr/>
              </a:pPr>
              <a:t>23</a:t>
            </a:fld>
            <a:endParaRPr lang="en-US" dirty="0"/>
          </a:p>
        </p:txBody>
      </p:sp>
      <p:sp>
        <p:nvSpPr>
          <p:cNvPr id="8" name="Rectangle 7"/>
          <p:cNvSpPr/>
          <p:nvPr/>
        </p:nvSpPr>
        <p:spPr>
          <a:xfrm>
            <a:off x="4343400" y="3365500"/>
            <a:ext cx="1358900" cy="457200"/>
          </a:xfrm>
          <a:prstGeom prst="rect">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1" name="Rectangle 10"/>
          <p:cNvSpPr/>
          <p:nvPr/>
        </p:nvSpPr>
        <p:spPr>
          <a:xfrm>
            <a:off x="5702300" y="3822700"/>
            <a:ext cx="1371600" cy="457200"/>
          </a:xfrm>
          <a:prstGeom prst="rect">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nodeType="clickEffect">
                                  <p:stCondLst>
                                    <p:cond delay="0"/>
                                  </p:stCondLst>
                                  <p:childTnLst>
                                    <p:set>
                                      <p:cBhvr>
                                        <p:cTn id="11" dur="1" fill="hold">
                                          <p:stCondLst>
                                            <p:cond delay="0"/>
                                          </p:stCondLst>
                                        </p:cTn>
                                        <p:tgtEl>
                                          <p:spTgt spid="29699">
                                            <p:txEl>
                                              <p:pRg st="1" end="1"/>
                                            </p:txEl>
                                          </p:spTgt>
                                        </p:tgtEl>
                                        <p:attrNameLst>
                                          <p:attrName>style.visibility</p:attrName>
                                        </p:attrNameLst>
                                      </p:cBhvr>
                                      <p:to>
                                        <p:strVal val="visible"/>
                                      </p:to>
                                    </p:set>
                                    <p:animEffect transition="in" filter="fade">
                                      <p:cBhvr>
                                        <p:cTn id="12" dur="500"/>
                                        <p:tgtEl>
                                          <p:spTgt spid="29699">
                                            <p:txEl>
                                              <p:pRg st="1" end="1"/>
                                            </p:txEl>
                                          </p:spTgt>
                                        </p:tgtEl>
                                      </p:cBhvr>
                                    </p:animEffect>
                                    <p:anim calcmode="lin" valueType="num">
                                      <p:cBhvr>
                                        <p:cTn id="13" dur="500" fill="hold"/>
                                        <p:tgtEl>
                                          <p:spTgt spid="29699">
                                            <p:txEl>
                                              <p:pRg st="1" end="1"/>
                                            </p:txEl>
                                          </p:spTgt>
                                        </p:tgtEl>
                                        <p:attrNameLst>
                                          <p:attrName>ppt_x</p:attrName>
                                        </p:attrNameLst>
                                      </p:cBhvr>
                                      <p:tavLst>
                                        <p:tav tm="0">
                                          <p:val>
                                            <p:strVal val="#ppt_x"/>
                                          </p:val>
                                        </p:tav>
                                        <p:tav tm="100000">
                                          <p:val>
                                            <p:strVal val="#ppt_x"/>
                                          </p:val>
                                        </p:tav>
                                      </p:tavLst>
                                    </p:anim>
                                    <p:anim calcmode="lin" valueType="num">
                                      <p:cBhvr>
                                        <p:cTn id="14" dur="500" fill="hold"/>
                                        <p:tgtEl>
                                          <p:spTgt spid="29699">
                                            <p:txEl>
                                              <p:pRg st="1" end="1"/>
                                            </p:txEl>
                                          </p:spTgt>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16" presetClass="entr" presetSubtype="21"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arn(inVertic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47" presetClass="entr" presetSubtype="0" fill="hold" nodeType="clickEffect">
                                  <p:stCondLst>
                                    <p:cond delay="0"/>
                                  </p:stCondLst>
                                  <p:childTnLst>
                                    <p:set>
                                      <p:cBhvr>
                                        <p:cTn id="22" dur="1" fill="hold">
                                          <p:stCondLst>
                                            <p:cond delay="0"/>
                                          </p:stCondLst>
                                        </p:cTn>
                                        <p:tgtEl>
                                          <p:spTgt spid="29699">
                                            <p:txEl>
                                              <p:pRg st="2" end="2"/>
                                            </p:txEl>
                                          </p:spTgt>
                                        </p:tgtEl>
                                        <p:attrNameLst>
                                          <p:attrName>style.visibility</p:attrName>
                                        </p:attrNameLst>
                                      </p:cBhvr>
                                      <p:to>
                                        <p:strVal val="visible"/>
                                      </p:to>
                                    </p:set>
                                    <p:animEffect transition="in" filter="fade">
                                      <p:cBhvr>
                                        <p:cTn id="23" dur="500"/>
                                        <p:tgtEl>
                                          <p:spTgt spid="29699">
                                            <p:txEl>
                                              <p:pRg st="2" end="2"/>
                                            </p:txEl>
                                          </p:spTgt>
                                        </p:tgtEl>
                                      </p:cBhvr>
                                    </p:animEffect>
                                    <p:anim calcmode="lin" valueType="num">
                                      <p:cBhvr>
                                        <p:cTn id="24" dur="500" fill="hold"/>
                                        <p:tgtEl>
                                          <p:spTgt spid="29699">
                                            <p:txEl>
                                              <p:pRg st="2" end="2"/>
                                            </p:txEl>
                                          </p:spTgt>
                                        </p:tgtEl>
                                        <p:attrNameLst>
                                          <p:attrName>ppt_x</p:attrName>
                                        </p:attrNameLst>
                                      </p:cBhvr>
                                      <p:tavLst>
                                        <p:tav tm="0">
                                          <p:val>
                                            <p:strVal val="#ppt_x"/>
                                          </p:val>
                                        </p:tav>
                                        <p:tav tm="100000">
                                          <p:val>
                                            <p:strVal val="#ppt_x"/>
                                          </p:val>
                                        </p:tav>
                                      </p:tavLst>
                                    </p:anim>
                                    <p:anim calcmode="lin" valueType="num">
                                      <p:cBhvr>
                                        <p:cTn id="25" dur="500" fill="hold"/>
                                        <p:tgtEl>
                                          <p:spTgt spid="29699">
                                            <p:txEl>
                                              <p:pRg st="2" end="2"/>
                                            </p:txEl>
                                          </p:spTgt>
                                        </p:tgtEl>
                                        <p:attrNameLst>
                                          <p:attrName>ppt_y</p:attrName>
                                        </p:attrNameLst>
                                      </p:cBhvr>
                                      <p:tavLst>
                                        <p:tav tm="0">
                                          <p:val>
                                            <p:strVal val="#ppt_y-.1"/>
                                          </p:val>
                                        </p:tav>
                                        <p:tav tm="100000">
                                          <p:val>
                                            <p:strVal val="#ppt_y"/>
                                          </p:val>
                                        </p:tav>
                                      </p:tavLst>
                                    </p:anim>
                                  </p:childTnLst>
                                </p:cTn>
                              </p:par>
                            </p:childTnLst>
                          </p:cTn>
                        </p:par>
                        <p:par>
                          <p:cTn id="26" fill="hold">
                            <p:stCondLst>
                              <p:cond delay="500"/>
                            </p:stCondLst>
                            <p:childTnLst>
                              <p:par>
                                <p:cTn id="27" presetID="16" presetClass="entr" presetSubtype="21"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arn(inVertical)">
                                      <p:cBhvr>
                                        <p:cTn id="2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381000" y="1981200"/>
            <a:ext cx="8229600" cy="2895600"/>
          </a:xfrm>
        </p:spPr>
        <p:txBody>
          <a:bodyPr/>
          <a:lstStyle/>
          <a:p>
            <a:pPr algn="just">
              <a:spcBef>
                <a:spcPct val="100000"/>
              </a:spcBef>
            </a:pPr>
            <a:r>
              <a:rPr lang="en-US" dirty="0" err="1"/>
              <a:t>Dự</a:t>
            </a:r>
            <a:r>
              <a:rPr lang="en-US" dirty="0"/>
              <a:t> </a:t>
            </a:r>
            <a:r>
              <a:rPr lang="en-US" dirty="0" err="1"/>
              <a:t>án</a:t>
            </a:r>
            <a:r>
              <a:rPr lang="en-US" dirty="0"/>
              <a:t> CNTT/HTTT </a:t>
            </a:r>
            <a:r>
              <a:rPr lang="en-US" dirty="0" err="1"/>
              <a:t>luôn</a:t>
            </a:r>
            <a:r>
              <a:rPr lang="en-US" dirty="0"/>
              <a:t> </a:t>
            </a:r>
            <a:r>
              <a:rPr lang="en-US" dirty="0" err="1"/>
              <a:t>có</a:t>
            </a:r>
            <a:r>
              <a:rPr lang="en-US" dirty="0"/>
              <a:t> </a:t>
            </a:r>
            <a:r>
              <a:rPr lang="en-US" dirty="0" err="1"/>
              <a:t>các</a:t>
            </a:r>
            <a:r>
              <a:rPr lang="en-US" dirty="0"/>
              <a:t> </a:t>
            </a:r>
            <a:r>
              <a:rPr lang="en-US" dirty="0" err="1"/>
              <a:t>rủi</a:t>
            </a:r>
            <a:r>
              <a:rPr lang="en-US" dirty="0"/>
              <a:t> </a:t>
            </a:r>
            <a:r>
              <a:rPr lang="en-US" dirty="0" err="1"/>
              <a:t>ro</a:t>
            </a:r>
            <a:r>
              <a:rPr lang="en-US" dirty="0"/>
              <a:t> </a:t>
            </a:r>
            <a:r>
              <a:rPr lang="en-US" dirty="0" err="1"/>
              <a:t>phổ</a:t>
            </a:r>
            <a:r>
              <a:rPr lang="en-US" dirty="0"/>
              <a:t> </a:t>
            </a:r>
            <a:r>
              <a:rPr lang="en-US" dirty="0" err="1"/>
              <a:t>biến</a:t>
            </a:r>
            <a:r>
              <a:rPr lang="en-US" dirty="0"/>
              <a:t>.</a:t>
            </a:r>
          </a:p>
          <a:p>
            <a:pPr algn="just">
              <a:spcBef>
                <a:spcPct val="100000"/>
              </a:spcBef>
            </a:pPr>
            <a:r>
              <a:rPr lang="en-US" dirty="0" err="1"/>
              <a:t>Các</a:t>
            </a:r>
            <a:r>
              <a:rPr lang="en-US" dirty="0"/>
              <a:t> </a:t>
            </a:r>
            <a:r>
              <a:rPr lang="en-US" dirty="0" err="1"/>
              <a:t>rủi</a:t>
            </a:r>
            <a:r>
              <a:rPr lang="en-US" dirty="0"/>
              <a:t> </a:t>
            </a:r>
            <a:r>
              <a:rPr lang="en-US" dirty="0" err="1"/>
              <a:t>ro</a:t>
            </a:r>
            <a:r>
              <a:rPr lang="en-US" dirty="0"/>
              <a:t> </a:t>
            </a:r>
            <a:r>
              <a:rPr lang="en-US" dirty="0" err="1"/>
              <a:t>khác</a:t>
            </a:r>
            <a:r>
              <a:rPr lang="en-US" dirty="0"/>
              <a:t> </a:t>
            </a:r>
            <a:r>
              <a:rPr lang="en-US" dirty="0" err="1"/>
              <a:t>nhau</a:t>
            </a:r>
            <a:r>
              <a:rPr lang="en-US" dirty="0"/>
              <a:t> </a:t>
            </a:r>
            <a:r>
              <a:rPr lang="en-US" dirty="0" err="1"/>
              <a:t>giúp</a:t>
            </a:r>
            <a:r>
              <a:rPr lang="en-US" dirty="0"/>
              <a:t> </a:t>
            </a:r>
            <a:r>
              <a:rPr lang="en-US" dirty="0" err="1"/>
              <a:t>xác</a:t>
            </a:r>
            <a:r>
              <a:rPr lang="en-US" dirty="0"/>
              <a:t> </a:t>
            </a:r>
            <a:r>
              <a:rPr lang="en-US" dirty="0" err="1"/>
              <a:t>định</a:t>
            </a:r>
            <a:r>
              <a:rPr lang="en-US" dirty="0"/>
              <a:t> </a:t>
            </a:r>
            <a:r>
              <a:rPr lang="en-US" dirty="0" err="1"/>
              <a:t>rủi</a:t>
            </a:r>
            <a:r>
              <a:rPr lang="en-US" dirty="0"/>
              <a:t> </a:t>
            </a:r>
            <a:r>
              <a:rPr lang="en-US" dirty="0" err="1"/>
              <a:t>ro</a:t>
            </a:r>
            <a:r>
              <a:rPr lang="en-US" dirty="0"/>
              <a:t> </a:t>
            </a:r>
            <a:r>
              <a:rPr lang="en-US" dirty="0" err="1"/>
              <a:t>tiềm</a:t>
            </a:r>
            <a:r>
              <a:rPr lang="en-US" dirty="0"/>
              <a:t> </a:t>
            </a:r>
            <a:r>
              <a:rPr lang="en-US" dirty="0" err="1"/>
              <a:t>ẩn</a:t>
            </a:r>
            <a:r>
              <a:rPr lang="en-US" dirty="0"/>
              <a:t>.</a:t>
            </a:r>
          </a:p>
          <a:p>
            <a:pPr algn="just">
              <a:spcBef>
                <a:spcPct val="100000"/>
              </a:spcBef>
            </a:pPr>
            <a:r>
              <a:rPr lang="en-US" dirty="0" err="1"/>
              <a:t>Các</a:t>
            </a:r>
            <a:r>
              <a:rPr lang="en-US" dirty="0"/>
              <a:t> </a:t>
            </a:r>
            <a:r>
              <a:rPr lang="en-US" dirty="0" err="1"/>
              <a:t>tiêu</a:t>
            </a:r>
            <a:r>
              <a:rPr lang="en-US" dirty="0"/>
              <a:t> chí </a:t>
            </a:r>
            <a:r>
              <a:rPr lang="en-US" dirty="0" err="1"/>
              <a:t>cho</a:t>
            </a:r>
            <a:r>
              <a:rPr lang="en-US" dirty="0"/>
              <a:t> </a:t>
            </a:r>
            <a:r>
              <a:rPr lang="en-US" dirty="0" err="1"/>
              <a:t>sự</a:t>
            </a:r>
            <a:r>
              <a:rPr lang="en-US" dirty="0"/>
              <a:t> </a:t>
            </a:r>
            <a:r>
              <a:rPr lang="en-US" dirty="0" err="1"/>
              <a:t>thành</a:t>
            </a:r>
            <a:r>
              <a:rPr lang="en-US" dirty="0"/>
              <a:t> </a:t>
            </a:r>
            <a:r>
              <a:rPr lang="en-US" dirty="0" err="1"/>
              <a:t>công</a:t>
            </a:r>
            <a:r>
              <a:rPr lang="en-US" dirty="0"/>
              <a:t> </a:t>
            </a:r>
            <a:r>
              <a:rPr lang="en-US" dirty="0" err="1"/>
              <a:t>của</a:t>
            </a:r>
            <a:r>
              <a:rPr lang="en-US" dirty="0"/>
              <a:t> HTTT </a:t>
            </a:r>
            <a:r>
              <a:rPr lang="en-US" dirty="0" err="1"/>
              <a:t>dựa</a:t>
            </a:r>
            <a:r>
              <a:rPr lang="en-US" dirty="0"/>
              <a:t> </a:t>
            </a:r>
            <a:r>
              <a:rPr lang="en-US" dirty="0" err="1"/>
              <a:t>trên</a:t>
            </a:r>
            <a:r>
              <a:rPr lang="en-US" dirty="0"/>
              <a:t> </a:t>
            </a:r>
            <a:r>
              <a:rPr lang="en-US" dirty="0" err="1"/>
              <a:t>rủi</a:t>
            </a:r>
            <a:r>
              <a:rPr lang="en-US" dirty="0"/>
              <a:t> </a:t>
            </a:r>
            <a:r>
              <a:rPr lang="en-US" dirty="0" err="1"/>
              <a:t>ro</a:t>
            </a:r>
            <a:r>
              <a:rPr lang="en-US" dirty="0"/>
              <a:t> </a:t>
            </a:r>
            <a:r>
              <a:rPr lang="en-US" dirty="0" err="1"/>
              <a:t>tiềm</a:t>
            </a:r>
            <a:r>
              <a:rPr lang="en-US" dirty="0"/>
              <a:t> </a:t>
            </a:r>
            <a:r>
              <a:rPr lang="en-US" dirty="0" err="1"/>
              <a:t>ẩn</a:t>
            </a:r>
            <a:r>
              <a:rPr lang="en-US" dirty="0"/>
              <a:t> (Standish Group, 1996).</a:t>
            </a:r>
          </a:p>
          <a:p>
            <a:pPr algn="just">
              <a:spcBef>
                <a:spcPct val="100000"/>
              </a:spcBef>
            </a:pPr>
            <a:endParaRPr lang="en-US" dirty="0"/>
          </a:p>
        </p:txBody>
      </p:sp>
      <p:sp>
        <p:nvSpPr>
          <p:cNvPr id="30722" name="Rectangle 2"/>
          <p:cNvSpPr>
            <a:spLocks noGrp="1" noChangeArrowheads="1"/>
          </p:cNvSpPr>
          <p:nvPr>
            <p:ph type="title"/>
          </p:nvPr>
        </p:nvSpPr>
        <p:spPr/>
        <p:txBody>
          <a:bodyPr>
            <a:normAutofit/>
          </a:bodyPr>
          <a:lstStyle/>
          <a:p>
            <a:pPr algn="ctr"/>
            <a:r>
              <a:rPr lang="en-US" sz="4000" dirty="0" err="1"/>
              <a:t>Rủi</a:t>
            </a:r>
            <a:r>
              <a:rPr lang="en-US" sz="4000" dirty="0"/>
              <a:t> </a:t>
            </a:r>
            <a:r>
              <a:rPr lang="en-US" sz="4000" dirty="0" err="1"/>
              <a:t>ro</a:t>
            </a:r>
            <a:r>
              <a:rPr lang="en-US" sz="4000" dirty="0"/>
              <a:t> </a:t>
            </a:r>
            <a:r>
              <a:rPr lang="en-US" sz="4000" dirty="0" err="1"/>
              <a:t>trong</a:t>
            </a:r>
            <a:r>
              <a:rPr lang="en-US" sz="4000" dirty="0"/>
              <a:t> </a:t>
            </a:r>
            <a:r>
              <a:rPr lang="en-US" sz="4000" dirty="0" err="1"/>
              <a:t>dự</a:t>
            </a:r>
            <a:r>
              <a:rPr lang="en-US" sz="4000" dirty="0"/>
              <a:t> </a:t>
            </a:r>
            <a:r>
              <a:rPr lang="en-US" sz="4000" dirty="0" err="1"/>
              <a:t>án</a:t>
            </a:r>
            <a:r>
              <a:rPr lang="en-US" sz="4000" dirty="0"/>
              <a:t> HTTT</a:t>
            </a:r>
          </a:p>
        </p:txBody>
      </p:sp>
      <p:sp>
        <p:nvSpPr>
          <p:cNvPr id="30725"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96506652-F25D-4BDC-916B-8FFAC3EB4E82}" type="slidenum">
              <a:rPr lang="en-US" smtClean="0"/>
              <a:pPr>
                <a:defRPr/>
              </a:pPr>
              <a:t>24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457200" y="0"/>
            <a:ext cx="8229600" cy="1066800"/>
          </a:xfrm>
        </p:spPr>
        <p:txBody>
          <a:bodyPr>
            <a:normAutofit/>
          </a:bodyPr>
          <a:lstStyle/>
          <a:p>
            <a:pPr algn="ctr"/>
            <a:r>
              <a:rPr lang="en-US" sz="3600" dirty="0"/>
              <a:t>10 </a:t>
            </a:r>
            <a:r>
              <a:rPr lang="en-US" sz="3600" dirty="0" err="1"/>
              <a:t>tiêu</a:t>
            </a:r>
            <a:r>
              <a:rPr lang="en-US" sz="3600" dirty="0"/>
              <a:t> chí </a:t>
            </a:r>
            <a:r>
              <a:rPr lang="en-US" sz="3600" dirty="0" err="1"/>
              <a:t>thành</a:t>
            </a:r>
            <a:r>
              <a:rPr lang="en-US" sz="3600" dirty="0"/>
              <a:t> </a:t>
            </a:r>
            <a:r>
              <a:rPr lang="en-US" sz="3600" dirty="0" err="1"/>
              <a:t>công</a:t>
            </a:r>
            <a:r>
              <a:rPr lang="en-US" sz="3600" dirty="0"/>
              <a:t> </a:t>
            </a:r>
            <a:r>
              <a:rPr lang="en-US" sz="3600" dirty="0" err="1"/>
              <a:t>của</a:t>
            </a:r>
            <a:r>
              <a:rPr lang="en-US" sz="3600" dirty="0"/>
              <a:t> HTTT</a:t>
            </a:r>
          </a:p>
        </p:txBody>
      </p:sp>
      <p:sp>
        <p:nvSpPr>
          <p:cNvPr id="1029" name="Footer Placeholder 6"/>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buFontTx/>
              <a:buNone/>
              <a:defRPr/>
            </a:pPr>
            <a:fld id="{BE1EAD1B-8479-4050-99D5-9826708F3E50}" type="slidenum">
              <a:rPr lang="en-US" smtClean="0"/>
              <a:pPr>
                <a:buFontTx/>
                <a:buNone/>
                <a:defRPr/>
              </a:pPr>
              <a:t>25</a:t>
            </a:fld>
            <a:endParaRPr lang="en-US" dirty="0"/>
          </a:p>
        </p:txBody>
      </p:sp>
      <p:pic>
        <p:nvPicPr>
          <p:cNvPr id="2" name="Picture 1"/>
          <p:cNvPicPr>
            <a:picLocks noChangeAspect="1"/>
          </p:cNvPicPr>
          <p:nvPr/>
        </p:nvPicPr>
        <p:blipFill>
          <a:blip r:embed="rId2"/>
          <a:stretch>
            <a:fillRect/>
          </a:stretch>
        </p:blipFill>
        <p:spPr>
          <a:xfrm>
            <a:off x="990600" y="1066800"/>
            <a:ext cx="7162800" cy="5010258"/>
          </a:xfrm>
          <a:prstGeom prst="rect">
            <a:avLst/>
          </a:prstGeom>
        </p:spPr>
      </p:pic>
      <p:sp>
        <p:nvSpPr>
          <p:cNvPr id="3" name="Rectangle 2"/>
          <p:cNvSpPr/>
          <p:nvPr/>
        </p:nvSpPr>
        <p:spPr>
          <a:xfrm>
            <a:off x="4524395" y="6210300"/>
            <a:ext cx="3248005" cy="353943"/>
          </a:xfrm>
          <a:prstGeom prst="rect">
            <a:avLst/>
          </a:prstGeom>
        </p:spPr>
        <p:txBody>
          <a:bodyPr wrap="none">
            <a:spAutoFit/>
          </a:bodyPr>
          <a:lstStyle/>
          <a:p>
            <a:r>
              <a:rPr lang="vi-VN" sz="1700" dirty="0"/>
              <a:t>* Soure: Standish Group (1996)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1033462" y="1752600"/>
            <a:ext cx="6891338" cy="3581400"/>
          </a:xfrm>
        </p:spPr>
        <p:txBody>
          <a:bodyPr/>
          <a:lstStyle/>
          <a:p>
            <a:pPr>
              <a:spcBef>
                <a:spcPts val="1800"/>
              </a:spcBef>
              <a:spcAft>
                <a:spcPts val="1200"/>
              </a:spcAft>
            </a:pPr>
            <a:r>
              <a:rPr lang="en-US" dirty="0" err="1"/>
              <a:t>Rủi</a:t>
            </a:r>
            <a:r>
              <a:rPr lang="en-US" dirty="0"/>
              <a:t> </a:t>
            </a:r>
            <a:r>
              <a:rPr lang="en-US" dirty="0" err="1"/>
              <a:t>ro</a:t>
            </a:r>
            <a:r>
              <a:rPr lang="en-US" dirty="0"/>
              <a:t> thị </a:t>
            </a:r>
            <a:r>
              <a:rPr lang="en-US" dirty="0" err="1"/>
              <a:t>trường</a:t>
            </a:r>
            <a:endParaRPr lang="en-US" dirty="0"/>
          </a:p>
          <a:p>
            <a:pPr>
              <a:spcBef>
                <a:spcPts val="1800"/>
              </a:spcBef>
              <a:spcAft>
                <a:spcPts val="1200"/>
              </a:spcAft>
            </a:pPr>
            <a:r>
              <a:rPr lang="en-US" dirty="0" err="1"/>
              <a:t>Rủi</a:t>
            </a:r>
            <a:r>
              <a:rPr lang="en-US" dirty="0"/>
              <a:t> </a:t>
            </a:r>
            <a:r>
              <a:rPr lang="en-US" dirty="0" err="1"/>
              <a:t>ro</a:t>
            </a:r>
            <a:r>
              <a:rPr lang="en-US" dirty="0"/>
              <a:t> </a:t>
            </a:r>
            <a:r>
              <a:rPr lang="en-US" dirty="0" err="1"/>
              <a:t>tài</a:t>
            </a:r>
            <a:r>
              <a:rPr lang="en-US" dirty="0"/>
              <a:t> </a:t>
            </a:r>
            <a:r>
              <a:rPr lang="en-US" dirty="0" err="1"/>
              <a:t>chính</a:t>
            </a:r>
            <a:endParaRPr lang="en-US" dirty="0"/>
          </a:p>
          <a:p>
            <a:pPr>
              <a:spcBef>
                <a:spcPts val="1800"/>
              </a:spcBef>
              <a:spcAft>
                <a:spcPts val="1200"/>
              </a:spcAft>
            </a:pPr>
            <a:r>
              <a:rPr lang="en-US" dirty="0" err="1"/>
              <a:t>Rủi</a:t>
            </a:r>
            <a:r>
              <a:rPr lang="en-US" dirty="0"/>
              <a:t> </a:t>
            </a:r>
            <a:r>
              <a:rPr lang="en-US" dirty="0" err="1"/>
              <a:t>ro</a:t>
            </a:r>
            <a:r>
              <a:rPr lang="en-US" dirty="0"/>
              <a:t> </a:t>
            </a:r>
            <a:r>
              <a:rPr lang="en-US" dirty="0" err="1"/>
              <a:t>công</a:t>
            </a:r>
            <a:r>
              <a:rPr lang="en-US" dirty="0"/>
              <a:t> </a:t>
            </a:r>
            <a:r>
              <a:rPr lang="en-US" dirty="0" err="1"/>
              <a:t>nghệ</a:t>
            </a:r>
            <a:endParaRPr lang="en-US" dirty="0"/>
          </a:p>
          <a:p>
            <a:pPr>
              <a:spcBef>
                <a:spcPts val="1800"/>
              </a:spcBef>
              <a:spcAft>
                <a:spcPts val="1200"/>
              </a:spcAft>
            </a:pPr>
            <a:r>
              <a:rPr lang="en-US" dirty="0" err="1"/>
              <a:t>Rủi</a:t>
            </a:r>
            <a:r>
              <a:rPr lang="en-US" dirty="0"/>
              <a:t> </a:t>
            </a:r>
            <a:r>
              <a:rPr lang="en-US" dirty="0" err="1"/>
              <a:t>ro</a:t>
            </a:r>
            <a:r>
              <a:rPr lang="en-US" dirty="0"/>
              <a:t> con </a:t>
            </a:r>
            <a:r>
              <a:rPr lang="en-US" dirty="0" err="1"/>
              <a:t>người</a:t>
            </a:r>
            <a:endParaRPr lang="en-US" dirty="0"/>
          </a:p>
          <a:p>
            <a:pPr>
              <a:spcBef>
                <a:spcPts val="1800"/>
              </a:spcBef>
              <a:spcAft>
                <a:spcPts val="1200"/>
              </a:spcAft>
            </a:pPr>
            <a:r>
              <a:rPr lang="en-US" dirty="0" err="1"/>
              <a:t>Rủi</a:t>
            </a:r>
            <a:r>
              <a:rPr lang="en-US" dirty="0"/>
              <a:t> </a:t>
            </a:r>
            <a:r>
              <a:rPr lang="en-US" dirty="0" err="1"/>
              <a:t>ro</a:t>
            </a:r>
            <a:r>
              <a:rPr lang="en-US" dirty="0"/>
              <a:t> </a:t>
            </a:r>
            <a:r>
              <a:rPr lang="en-US" dirty="0" err="1"/>
              <a:t>quy</a:t>
            </a:r>
            <a:r>
              <a:rPr lang="en-US" dirty="0"/>
              <a:t> </a:t>
            </a:r>
            <a:r>
              <a:rPr lang="en-US" dirty="0" err="1"/>
              <a:t>trình</a:t>
            </a:r>
            <a:r>
              <a:rPr lang="en-US" dirty="0"/>
              <a:t>.</a:t>
            </a:r>
          </a:p>
        </p:txBody>
      </p:sp>
      <p:sp>
        <p:nvSpPr>
          <p:cNvPr id="31746" name="Rectangle 2"/>
          <p:cNvSpPr>
            <a:spLocks noGrp="1" noChangeArrowheads="1"/>
          </p:cNvSpPr>
          <p:nvPr>
            <p:ph type="title"/>
          </p:nvPr>
        </p:nvSpPr>
        <p:spPr>
          <a:xfrm>
            <a:off x="762000" y="288925"/>
            <a:ext cx="7543800" cy="854075"/>
          </a:xfrm>
        </p:spPr>
        <p:txBody>
          <a:bodyPr>
            <a:normAutofit/>
          </a:bodyPr>
          <a:lstStyle/>
          <a:p>
            <a:pPr algn="ctr"/>
            <a:r>
              <a:rPr lang="en-US" sz="4000" dirty="0" err="1"/>
              <a:t>Phân</a:t>
            </a:r>
            <a:r>
              <a:rPr lang="en-US" sz="4000" dirty="0"/>
              <a:t> </a:t>
            </a:r>
            <a:r>
              <a:rPr lang="en-US" sz="4000" dirty="0" err="1"/>
              <a:t>loại</a:t>
            </a:r>
            <a:r>
              <a:rPr lang="en-US" sz="4000" dirty="0"/>
              <a:t> </a:t>
            </a:r>
            <a:r>
              <a:rPr lang="en-US" sz="4000" dirty="0" err="1"/>
              <a:t>rủi</a:t>
            </a:r>
            <a:r>
              <a:rPr lang="en-US" sz="4000" dirty="0"/>
              <a:t> </a:t>
            </a:r>
            <a:r>
              <a:rPr lang="en-US" sz="4000" dirty="0" err="1"/>
              <a:t>ro</a:t>
            </a:r>
            <a:endParaRPr lang="en-US" sz="4000" dirty="0"/>
          </a:p>
        </p:txBody>
      </p:sp>
      <p:sp>
        <p:nvSpPr>
          <p:cNvPr id="31749"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43931E29-6F43-458C-997D-B0FA91E6B38A}" type="slidenum">
              <a:rPr lang="en-US" smtClean="0"/>
              <a:pPr>
                <a:defRPr/>
              </a:pPr>
              <a:t>26</a:t>
            </a:fld>
            <a:endParaRPr lang="en-US" dirty="0"/>
          </a:p>
        </p:txBody>
      </p:sp>
      <p:pic>
        <p:nvPicPr>
          <p:cNvPr id="2" name="Picture 1"/>
          <p:cNvPicPr>
            <a:picLocks noChangeAspect="1"/>
          </p:cNvPicPr>
          <p:nvPr/>
        </p:nvPicPr>
        <p:blipFill>
          <a:blip r:embed="rId2"/>
          <a:stretch>
            <a:fillRect/>
          </a:stretch>
        </p:blipFill>
        <p:spPr>
          <a:xfrm>
            <a:off x="5486400" y="1862191"/>
            <a:ext cx="2133600" cy="35480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5410200" y="3385236"/>
            <a:ext cx="1857375" cy="3448050"/>
          </a:xfrm>
          <a:prstGeom prst="rect">
            <a:avLst/>
          </a:prstGeom>
        </p:spPr>
      </p:pic>
      <p:sp>
        <p:nvSpPr>
          <p:cNvPr id="31746" name="Rectangle 2"/>
          <p:cNvSpPr>
            <a:spLocks noGrp="1" noChangeArrowheads="1"/>
          </p:cNvSpPr>
          <p:nvPr>
            <p:ph type="title"/>
          </p:nvPr>
        </p:nvSpPr>
        <p:spPr>
          <a:xfrm>
            <a:off x="685800" y="228600"/>
            <a:ext cx="7696200" cy="854075"/>
          </a:xfrm>
        </p:spPr>
        <p:txBody>
          <a:bodyPr>
            <a:normAutofit/>
          </a:bodyPr>
          <a:lstStyle/>
          <a:p>
            <a:pPr algn="ctr"/>
            <a:r>
              <a:rPr lang="en-US" sz="4000" dirty="0" err="1"/>
              <a:t>Rủi</a:t>
            </a:r>
            <a:r>
              <a:rPr lang="en-US" sz="4000" dirty="0"/>
              <a:t> </a:t>
            </a:r>
            <a:r>
              <a:rPr lang="en-US" sz="4000" dirty="0" err="1"/>
              <a:t>ro</a:t>
            </a:r>
            <a:r>
              <a:rPr lang="en-US" sz="4000" dirty="0"/>
              <a:t> </a:t>
            </a:r>
            <a:r>
              <a:rPr lang="en-US" sz="4000" dirty="0" err="1"/>
              <a:t>dự</a:t>
            </a:r>
            <a:r>
              <a:rPr lang="en-US" sz="4000" dirty="0"/>
              <a:t> </a:t>
            </a:r>
            <a:r>
              <a:rPr lang="en-US" sz="4000" dirty="0" err="1"/>
              <a:t>án</a:t>
            </a:r>
            <a:r>
              <a:rPr lang="en-US" sz="4000" dirty="0"/>
              <a:t> HTTT…</a:t>
            </a:r>
          </a:p>
        </p:txBody>
      </p:sp>
      <p:sp>
        <p:nvSpPr>
          <p:cNvPr id="31749"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43931E29-6F43-458C-997D-B0FA91E6B38A}" type="slidenum">
              <a:rPr lang="en-US" smtClean="0"/>
              <a:pPr>
                <a:defRPr/>
              </a:pPr>
              <a:t>27</a:t>
            </a:fld>
            <a:endParaRPr lang="en-US" dirty="0"/>
          </a:p>
        </p:txBody>
      </p:sp>
      <p:pic>
        <p:nvPicPr>
          <p:cNvPr id="4" name="Picture 3"/>
          <p:cNvPicPr>
            <a:picLocks noChangeAspect="1"/>
          </p:cNvPicPr>
          <p:nvPr/>
        </p:nvPicPr>
        <p:blipFill>
          <a:blip r:embed="rId4"/>
          <a:stretch>
            <a:fillRect/>
          </a:stretch>
        </p:blipFill>
        <p:spPr>
          <a:xfrm>
            <a:off x="7296150" y="3411623"/>
            <a:ext cx="1847850" cy="3372087"/>
          </a:xfrm>
          <a:prstGeom prst="rect">
            <a:avLst/>
          </a:prstGeom>
        </p:spPr>
      </p:pic>
      <p:pic>
        <p:nvPicPr>
          <p:cNvPr id="11" name="Picture 10"/>
          <p:cNvPicPr>
            <a:picLocks noChangeAspect="1"/>
          </p:cNvPicPr>
          <p:nvPr/>
        </p:nvPicPr>
        <p:blipFill>
          <a:blip r:embed="rId5"/>
          <a:stretch>
            <a:fillRect/>
          </a:stretch>
        </p:blipFill>
        <p:spPr>
          <a:xfrm>
            <a:off x="0" y="37643"/>
            <a:ext cx="1866900" cy="3391357"/>
          </a:xfrm>
          <a:prstGeom prst="rect">
            <a:avLst/>
          </a:prstGeom>
        </p:spPr>
      </p:pic>
      <p:pic>
        <p:nvPicPr>
          <p:cNvPr id="12" name="Picture 11"/>
          <p:cNvPicPr>
            <a:picLocks noChangeAspect="1"/>
          </p:cNvPicPr>
          <p:nvPr/>
        </p:nvPicPr>
        <p:blipFill>
          <a:blip r:embed="rId6"/>
          <a:stretch>
            <a:fillRect/>
          </a:stretch>
        </p:blipFill>
        <p:spPr>
          <a:xfrm>
            <a:off x="1841500" y="28008"/>
            <a:ext cx="1819275" cy="3400992"/>
          </a:xfrm>
          <a:prstGeom prst="rect">
            <a:avLst/>
          </a:prstGeom>
        </p:spPr>
      </p:pic>
      <p:pic>
        <p:nvPicPr>
          <p:cNvPr id="14" name="Picture 13"/>
          <p:cNvPicPr>
            <a:picLocks noChangeAspect="1"/>
          </p:cNvPicPr>
          <p:nvPr/>
        </p:nvPicPr>
        <p:blipFill>
          <a:blip r:embed="rId7"/>
          <a:stretch>
            <a:fillRect/>
          </a:stretch>
        </p:blipFill>
        <p:spPr>
          <a:xfrm>
            <a:off x="7289800" y="28008"/>
            <a:ext cx="1828800" cy="3400992"/>
          </a:xfrm>
          <a:prstGeom prst="rect">
            <a:avLst/>
          </a:prstGeom>
        </p:spPr>
      </p:pic>
      <p:pic>
        <p:nvPicPr>
          <p:cNvPr id="17" name="Picture 16"/>
          <p:cNvPicPr>
            <a:picLocks noChangeAspect="1"/>
          </p:cNvPicPr>
          <p:nvPr/>
        </p:nvPicPr>
        <p:blipFill>
          <a:blip r:embed="rId8"/>
          <a:stretch>
            <a:fillRect/>
          </a:stretch>
        </p:blipFill>
        <p:spPr>
          <a:xfrm>
            <a:off x="1828800" y="3399201"/>
            <a:ext cx="1857375" cy="3458799"/>
          </a:xfrm>
          <a:prstGeom prst="rect">
            <a:avLst/>
          </a:prstGeom>
        </p:spPr>
      </p:pic>
      <p:pic>
        <p:nvPicPr>
          <p:cNvPr id="18" name="Picture 17"/>
          <p:cNvPicPr>
            <a:picLocks noChangeAspect="1"/>
          </p:cNvPicPr>
          <p:nvPr/>
        </p:nvPicPr>
        <p:blipFill>
          <a:blip r:embed="rId9"/>
          <a:stretch>
            <a:fillRect/>
          </a:stretch>
        </p:blipFill>
        <p:spPr>
          <a:xfrm>
            <a:off x="3657600" y="3399201"/>
            <a:ext cx="1809750" cy="3458799"/>
          </a:xfrm>
          <a:prstGeom prst="rect">
            <a:avLst/>
          </a:prstGeom>
        </p:spPr>
      </p:pic>
      <p:pic>
        <p:nvPicPr>
          <p:cNvPr id="19" name="Picture 18"/>
          <p:cNvPicPr>
            <a:picLocks noChangeAspect="1"/>
          </p:cNvPicPr>
          <p:nvPr/>
        </p:nvPicPr>
        <p:blipFill>
          <a:blip r:embed="rId10"/>
          <a:stretch>
            <a:fillRect/>
          </a:stretch>
        </p:blipFill>
        <p:spPr>
          <a:xfrm>
            <a:off x="-28575" y="3379508"/>
            <a:ext cx="1857375" cy="3478068"/>
          </a:xfrm>
          <a:prstGeom prst="rect">
            <a:avLst/>
          </a:prstGeom>
        </p:spPr>
      </p:pic>
      <p:pic>
        <p:nvPicPr>
          <p:cNvPr id="15" name="Picture 14"/>
          <p:cNvPicPr>
            <a:picLocks noChangeAspect="1"/>
          </p:cNvPicPr>
          <p:nvPr/>
        </p:nvPicPr>
        <p:blipFill>
          <a:blip r:embed="rId11"/>
          <a:stretch>
            <a:fillRect/>
          </a:stretch>
        </p:blipFill>
        <p:spPr>
          <a:xfrm>
            <a:off x="5467350" y="28008"/>
            <a:ext cx="1847850" cy="3400992"/>
          </a:xfrm>
          <a:prstGeom prst="rect">
            <a:avLst/>
          </a:prstGeom>
        </p:spPr>
      </p:pic>
      <p:pic>
        <p:nvPicPr>
          <p:cNvPr id="3" name="Picture 2"/>
          <p:cNvPicPr>
            <a:picLocks noChangeAspect="1"/>
          </p:cNvPicPr>
          <p:nvPr/>
        </p:nvPicPr>
        <p:blipFill>
          <a:blip r:embed="rId12"/>
          <a:stretch>
            <a:fillRect/>
          </a:stretch>
        </p:blipFill>
        <p:spPr>
          <a:xfrm>
            <a:off x="6019800" y="6361671"/>
            <a:ext cx="676275" cy="314325"/>
          </a:xfrm>
          <a:prstGeom prst="rect">
            <a:avLst/>
          </a:prstGeom>
        </p:spPr>
      </p:pic>
      <p:pic>
        <p:nvPicPr>
          <p:cNvPr id="13" name="Picture 12"/>
          <p:cNvPicPr>
            <a:picLocks noChangeAspect="1"/>
          </p:cNvPicPr>
          <p:nvPr/>
        </p:nvPicPr>
        <p:blipFill>
          <a:blip r:embed="rId13"/>
          <a:stretch>
            <a:fillRect/>
          </a:stretch>
        </p:blipFill>
        <p:spPr>
          <a:xfrm>
            <a:off x="3667125" y="37643"/>
            <a:ext cx="1819275" cy="3391357"/>
          </a:xfrm>
          <a:prstGeom prst="rect">
            <a:avLst/>
          </a:prstGeom>
        </p:spPr>
      </p:pic>
    </p:spTree>
    <p:extLst>
      <p:ext uri="{BB962C8B-B14F-4D97-AF65-F5344CB8AC3E}">
        <p14:creationId xmlns:p14="http://schemas.microsoft.com/office/powerpoint/2010/main" val="3595050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grpId="0" nodeType="clickEffect">
                                  <p:stCondLst>
                                    <p:cond delay="0"/>
                                  </p:stCondLst>
                                  <p:childTnLst>
                                    <p:animEffect transition="out" filter="barn(inVertical)">
                                      <p:cBhvr>
                                        <p:cTn id="6" dur="1000"/>
                                        <p:tgtEl>
                                          <p:spTgt spid="31746"/>
                                        </p:tgtEl>
                                      </p:cBhvr>
                                    </p:animEffect>
                                    <p:set>
                                      <p:cBhvr>
                                        <p:cTn id="7" dur="1" fill="hold">
                                          <p:stCondLst>
                                            <p:cond delay="999"/>
                                          </p:stCondLst>
                                        </p:cTn>
                                        <p:tgtEl>
                                          <p:spTgt spid="31746"/>
                                        </p:tgtEl>
                                        <p:attrNameLst>
                                          <p:attrName>style.visibility</p:attrName>
                                        </p:attrNameLst>
                                      </p:cBhvr>
                                      <p:to>
                                        <p:strVal val="hidden"/>
                                      </p:to>
                                    </p:set>
                                  </p:childTnLst>
                                </p:cTn>
                              </p:par>
                            </p:childTnLst>
                          </p:cTn>
                        </p:par>
                        <p:par>
                          <p:cTn id="8" fill="hold">
                            <p:stCondLst>
                              <p:cond delay="1000"/>
                            </p:stCondLst>
                            <p:childTnLst>
                              <p:par>
                                <p:cTn id="9" presetID="10" presetClass="entr" presetSubtype="0" fill="hold" nodeType="afterEffect">
                                  <p:stCondLst>
                                    <p:cond delay="10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fade">
                                      <p:cBhvr>
                                        <p:cTn id="51" dur="500"/>
                                        <p:tgtEl>
                                          <p:spTgt spid="5"/>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nodeType="clickEffect">
                                  <p:stCondLst>
                                    <p:cond delay="0"/>
                                  </p:stCondLst>
                                  <p:childTnLst>
                                    <p:set>
                                      <p:cBhvr>
                                        <p:cTn id="55" dur="1" fill="hold">
                                          <p:stCondLst>
                                            <p:cond delay="0"/>
                                          </p:stCondLst>
                                        </p:cTn>
                                        <p:tgtEl>
                                          <p:spTgt spid="3"/>
                                        </p:tgtEl>
                                        <p:attrNameLst>
                                          <p:attrName>style.visibility</p:attrName>
                                        </p:attrNameLst>
                                      </p:cBhvr>
                                      <p:to>
                                        <p:strVal val="visible"/>
                                      </p:to>
                                    </p:set>
                                    <p:animEffect transition="in" filter="barn(inVertical)">
                                      <p:cBhvr>
                                        <p:cTn id="56" dur="500"/>
                                        <p:tgtEl>
                                          <p:spTgt spid="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fade">
                                      <p:cBhvr>
                                        <p:cTn id="6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1"/>
          </p:nvPr>
        </p:nvSpPr>
        <p:spPr>
          <a:xfrm>
            <a:off x="457200" y="1600200"/>
            <a:ext cx="8229600" cy="3014662"/>
          </a:xfrm>
        </p:spPr>
        <p:txBody>
          <a:bodyPr/>
          <a:lstStyle/>
          <a:p>
            <a:pPr algn="just">
              <a:spcBef>
                <a:spcPct val="100000"/>
              </a:spcBef>
            </a:pPr>
            <a:r>
              <a:rPr lang="en-US" dirty="0" err="1">
                <a:effectLst>
                  <a:outerShdw blurRad="38100" dist="38100" dir="2700000" algn="tl">
                    <a:srgbClr val="000000">
                      <a:alpha val="43137"/>
                    </a:srgbClr>
                  </a:outerShdw>
                </a:effectLst>
              </a:rPr>
              <a:t>Phân</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rã</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rủi</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ro</a:t>
            </a:r>
            <a:r>
              <a:rPr lang="en-US" dirty="0">
                <a:effectLst>
                  <a:outerShdw blurRad="38100" dist="38100" dir="2700000" algn="tl">
                    <a:srgbClr val="000000">
                      <a:alpha val="43137"/>
                    </a:srgbClr>
                  </a:outerShdw>
                </a:effectLst>
              </a:rPr>
              <a:t> - </a:t>
            </a:r>
            <a:r>
              <a:rPr lang="en-US" dirty="0">
                <a:solidFill>
                  <a:srgbClr val="0070C0"/>
                </a:solidFill>
                <a:effectLst>
                  <a:outerShdw blurRad="38100" dist="38100" dir="2700000" algn="tl">
                    <a:srgbClr val="000000">
                      <a:alpha val="43137"/>
                    </a:srgbClr>
                  </a:outerShdw>
                </a:effectLst>
              </a:rPr>
              <a:t>RBS</a:t>
            </a:r>
            <a:r>
              <a:rPr lang="en-US" dirty="0">
                <a:effectLst>
                  <a:outerShdw blurRad="38100" dist="38100" dir="2700000" algn="tl">
                    <a:srgbClr val="000000">
                      <a:alpha val="43137"/>
                    </a:srgbClr>
                  </a:outerShdw>
                </a:effectLst>
              </a:rPr>
              <a:t> </a:t>
            </a:r>
            <a:r>
              <a:rPr lang="en-US" dirty="0"/>
              <a:t>(</a:t>
            </a:r>
            <a:r>
              <a:rPr lang="en-US" dirty="0">
                <a:solidFill>
                  <a:srgbClr val="0070C0"/>
                </a:solidFill>
              </a:rPr>
              <a:t>Risk Breakdown Structure</a:t>
            </a:r>
            <a:r>
              <a:rPr lang="en-US" dirty="0"/>
              <a:t>): </a:t>
            </a:r>
            <a:r>
              <a:rPr lang="en-US" dirty="0" err="1"/>
              <a:t>phân</a:t>
            </a:r>
            <a:r>
              <a:rPr lang="en-US" dirty="0"/>
              <a:t> </a:t>
            </a:r>
            <a:r>
              <a:rPr lang="en-US" dirty="0" err="1"/>
              <a:t>cấp</a:t>
            </a:r>
            <a:r>
              <a:rPr lang="en-US" dirty="0"/>
              <a:t> </a:t>
            </a:r>
            <a:r>
              <a:rPr lang="en-US" dirty="0" err="1"/>
              <a:t>các</a:t>
            </a:r>
            <a:r>
              <a:rPr lang="en-US" dirty="0"/>
              <a:t> </a:t>
            </a:r>
            <a:r>
              <a:rPr lang="en-US" dirty="0" err="1"/>
              <a:t>loại</a:t>
            </a:r>
            <a:r>
              <a:rPr lang="en-US" dirty="0"/>
              <a:t> </a:t>
            </a:r>
            <a:r>
              <a:rPr lang="en-US" dirty="0" err="1"/>
              <a:t>rủi</a:t>
            </a:r>
            <a:r>
              <a:rPr lang="en-US" dirty="0"/>
              <a:t> </a:t>
            </a:r>
            <a:r>
              <a:rPr lang="en-US" dirty="0" err="1"/>
              <a:t>ro</a:t>
            </a:r>
            <a:r>
              <a:rPr lang="en-US" dirty="0"/>
              <a:t> </a:t>
            </a:r>
            <a:r>
              <a:rPr lang="en-US" dirty="0" err="1"/>
              <a:t>tiềm</a:t>
            </a:r>
            <a:r>
              <a:rPr lang="en-US" dirty="0"/>
              <a:t> </a:t>
            </a:r>
            <a:r>
              <a:rPr lang="en-US" dirty="0" err="1"/>
              <a:t>ẩn</a:t>
            </a:r>
            <a:r>
              <a:rPr lang="en-US" dirty="0"/>
              <a:t>.</a:t>
            </a:r>
          </a:p>
          <a:p>
            <a:pPr algn="just">
              <a:spcBef>
                <a:spcPct val="100000"/>
              </a:spcBef>
            </a:pPr>
            <a:r>
              <a:rPr lang="en-US" dirty="0" err="1"/>
              <a:t>Tương</a:t>
            </a:r>
            <a:r>
              <a:rPr lang="en-US" dirty="0"/>
              <a:t> </a:t>
            </a:r>
            <a:r>
              <a:rPr lang="en-US" dirty="0" err="1"/>
              <a:t>tự</a:t>
            </a:r>
            <a:r>
              <a:rPr lang="en-US" dirty="0"/>
              <a:t> WBS, </a:t>
            </a:r>
            <a:r>
              <a:rPr lang="en-US" dirty="0" err="1"/>
              <a:t>nhưng</a:t>
            </a:r>
            <a:r>
              <a:rPr lang="en-US" dirty="0"/>
              <a:t> </a:t>
            </a:r>
            <a:r>
              <a:rPr lang="en-US" dirty="0" err="1"/>
              <a:t>được</a:t>
            </a:r>
            <a:r>
              <a:rPr lang="en-US" dirty="0"/>
              <a:t> </a:t>
            </a:r>
            <a:r>
              <a:rPr lang="en-US" dirty="0" err="1"/>
              <a:t>sử</a:t>
            </a:r>
            <a:r>
              <a:rPr lang="en-US" dirty="0"/>
              <a:t> </a:t>
            </a:r>
            <a:r>
              <a:rPr lang="en-US" dirty="0" err="1"/>
              <a:t>dụng</a:t>
            </a:r>
            <a:r>
              <a:rPr lang="en-US" dirty="0"/>
              <a:t> </a:t>
            </a:r>
            <a:r>
              <a:rPr lang="en-US" dirty="0" err="1"/>
              <a:t>để</a:t>
            </a:r>
            <a:r>
              <a:rPr lang="en-US" dirty="0"/>
              <a:t> </a:t>
            </a:r>
            <a:r>
              <a:rPr lang="en-US" dirty="0" err="1"/>
              <a:t>xác</a:t>
            </a:r>
            <a:r>
              <a:rPr lang="en-US" dirty="0"/>
              <a:t> </a:t>
            </a:r>
            <a:r>
              <a:rPr lang="en-US" dirty="0" err="1"/>
              <a:t>định</a:t>
            </a:r>
            <a:r>
              <a:rPr lang="en-US" dirty="0"/>
              <a:t> và </a:t>
            </a:r>
            <a:r>
              <a:rPr lang="en-US" dirty="0" err="1"/>
              <a:t>phân</a:t>
            </a:r>
            <a:r>
              <a:rPr lang="en-US" dirty="0"/>
              <a:t> </a:t>
            </a:r>
            <a:r>
              <a:rPr lang="en-US" dirty="0" err="1"/>
              <a:t>loại</a:t>
            </a:r>
            <a:r>
              <a:rPr lang="en-US" dirty="0"/>
              <a:t> </a:t>
            </a:r>
            <a:r>
              <a:rPr lang="en-US" dirty="0" err="1"/>
              <a:t>rủi</a:t>
            </a:r>
            <a:r>
              <a:rPr lang="en-US" dirty="0"/>
              <a:t> ro.</a:t>
            </a:r>
          </a:p>
        </p:txBody>
      </p:sp>
      <p:sp>
        <p:nvSpPr>
          <p:cNvPr id="33794" name="Rectangle 2"/>
          <p:cNvSpPr>
            <a:spLocks noGrp="1" noChangeArrowheads="1"/>
          </p:cNvSpPr>
          <p:nvPr>
            <p:ph type="title"/>
          </p:nvPr>
        </p:nvSpPr>
        <p:spPr/>
        <p:txBody>
          <a:bodyPr>
            <a:normAutofit/>
          </a:bodyPr>
          <a:lstStyle/>
          <a:p>
            <a:pPr algn="ctr"/>
            <a:r>
              <a:rPr lang="en-US" sz="4000" dirty="0" err="1"/>
              <a:t>Phân</a:t>
            </a:r>
            <a:r>
              <a:rPr lang="en-US" sz="4000" dirty="0"/>
              <a:t> </a:t>
            </a:r>
            <a:r>
              <a:rPr lang="en-US" sz="4000" dirty="0" err="1"/>
              <a:t>rã</a:t>
            </a:r>
            <a:r>
              <a:rPr lang="en-US" sz="4000" dirty="0"/>
              <a:t> </a:t>
            </a:r>
            <a:r>
              <a:rPr lang="en-US" sz="4000" dirty="0" err="1"/>
              <a:t>rủi</a:t>
            </a:r>
            <a:r>
              <a:rPr lang="en-US" sz="4000" dirty="0"/>
              <a:t> </a:t>
            </a:r>
            <a:r>
              <a:rPr lang="en-US" sz="4000" dirty="0" err="1"/>
              <a:t>ro</a:t>
            </a:r>
            <a:endParaRPr lang="en-US" sz="4000" dirty="0"/>
          </a:p>
        </p:txBody>
      </p:sp>
      <p:sp>
        <p:nvSpPr>
          <p:cNvPr id="33797"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663AB3CF-6A5C-4D66-9205-61B2701E2F43}" type="slidenum">
              <a:rPr lang="en-US" smtClean="0"/>
              <a:pPr>
                <a:defRPr/>
              </a:pPr>
              <a:t>28</a:t>
            </a:fld>
            <a:endParaRPr lang="en-US" dirty="0"/>
          </a:p>
        </p:txBody>
      </p:sp>
      <p:pic>
        <p:nvPicPr>
          <p:cNvPr id="3" name="Picture 2"/>
          <p:cNvPicPr>
            <a:picLocks noChangeAspect="1"/>
          </p:cNvPicPr>
          <p:nvPr/>
        </p:nvPicPr>
        <p:blipFill>
          <a:blip r:embed="rId2"/>
          <a:stretch>
            <a:fillRect/>
          </a:stretch>
        </p:blipFill>
        <p:spPr>
          <a:xfrm>
            <a:off x="4800600" y="4191000"/>
            <a:ext cx="2433108" cy="197390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p:cNvSpPr>
            <a:spLocks noGrp="1" noChangeArrowheads="1"/>
          </p:cNvSpPr>
          <p:nvPr>
            <p:ph type="title"/>
          </p:nvPr>
        </p:nvSpPr>
        <p:spPr>
          <a:xfrm>
            <a:off x="381000" y="304800"/>
            <a:ext cx="8382000" cy="914400"/>
          </a:xfrm>
        </p:spPr>
        <p:txBody>
          <a:bodyPr>
            <a:normAutofit/>
          </a:bodyPr>
          <a:lstStyle/>
          <a:p>
            <a:pPr algn="ctr"/>
            <a:r>
              <a:rPr lang="en-US" sz="3600" dirty="0" err="1"/>
              <a:t>Ví</a:t>
            </a:r>
            <a:r>
              <a:rPr lang="en-US" sz="3600" dirty="0"/>
              <a:t> </a:t>
            </a:r>
            <a:r>
              <a:rPr lang="en-US" sz="3600" dirty="0" err="1"/>
              <a:t>dụ</a:t>
            </a:r>
            <a:r>
              <a:rPr lang="en-US" sz="3600" dirty="0"/>
              <a:t>, </a:t>
            </a:r>
            <a:r>
              <a:rPr lang="en-US" sz="3600" dirty="0" err="1"/>
              <a:t>phân</a:t>
            </a:r>
            <a:r>
              <a:rPr lang="en-US" sz="3600" dirty="0"/>
              <a:t> </a:t>
            </a:r>
            <a:r>
              <a:rPr lang="en-US" sz="3600" dirty="0" err="1"/>
              <a:t>rã</a:t>
            </a:r>
            <a:r>
              <a:rPr lang="en-US" sz="3600" dirty="0"/>
              <a:t> </a:t>
            </a:r>
            <a:r>
              <a:rPr lang="en-US" sz="3600" dirty="0" err="1"/>
              <a:t>rủi</a:t>
            </a:r>
            <a:r>
              <a:rPr lang="en-US" sz="3600" dirty="0"/>
              <a:t> </a:t>
            </a:r>
            <a:r>
              <a:rPr lang="en-US" sz="3600" dirty="0" err="1"/>
              <a:t>ro</a:t>
            </a:r>
            <a:endParaRPr lang="en-US" sz="36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40" y="1295400"/>
            <a:ext cx="9177740" cy="5029542"/>
          </a:xfrm>
          <a:prstGeom prst="rect">
            <a:avLst/>
          </a:prstGeom>
        </p:spPr>
      </p:pic>
      <p:sp>
        <p:nvSpPr>
          <p:cNvPr id="7" name="Footer Placeholder 6"/>
          <p:cNvSpPr>
            <a:spLocks noGrp="1"/>
          </p:cNvSpPr>
          <p:nvPr>
            <p:ph type="ftr" sz="quarter" idx="10"/>
          </p:nvPr>
        </p:nvSpPr>
        <p:spPr bwMode="auto">
          <a:xfrm>
            <a:off x="0" y="6492875"/>
            <a:ext cx="2590800" cy="365125"/>
          </a:xfrm>
          <a:noFill/>
          <a:ln>
            <a:miter lim="800000"/>
            <a:headEnd/>
            <a:tailEnd/>
          </a:ln>
        </p:spPr>
        <p:txBody>
          <a:bodyPr/>
          <a:lstStyle/>
          <a:p>
            <a:pPr algn="l"/>
            <a:r>
              <a:rPr lang="en-US" sz="1200" dirty="0"/>
              <a:t>Quản </a:t>
            </a:r>
            <a:r>
              <a:rPr lang="en-US" sz="1200" dirty="0" err="1"/>
              <a:t>trị</a:t>
            </a:r>
            <a:r>
              <a:rPr lang="en-US" sz="1200" dirty="0"/>
              <a:t> </a:t>
            </a:r>
            <a:r>
              <a:rPr lang="en-US" sz="1200" dirty="0" err="1"/>
              <a:t>dự</a:t>
            </a:r>
            <a:r>
              <a:rPr lang="en-US" sz="1200" dirty="0"/>
              <a:t> </a:t>
            </a:r>
            <a:r>
              <a:rPr lang="en-US" sz="1200" dirty="0" err="1"/>
              <a:t>án</a:t>
            </a:r>
            <a:r>
              <a:rPr lang="en-US" sz="1200" dirty="0"/>
              <a:t> HTTT</a:t>
            </a:r>
          </a:p>
        </p:txBody>
      </p:sp>
      <p:sp>
        <p:nvSpPr>
          <p:cNvPr id="8" name="Slide Number Placeholder 5"/>
          <p:cNvSpPr txBox="1">
            <a:spLocks/>
          </p:cNvSpPr>
          <p:nvPr/>
        </p:nvSpPr>
        <p:spPr>
          <a:xfrm>
            <a:off x="8588375" y="6492875"/>
            <a:ext cx="555625"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a:lstStyle>
          <a:p>
            <a:pPr>
              <a:defRPr/>
            </a:pPr>
            <a:fld id="{8A4FB8A0-D8A7-49BC-9495-433B792AAC3C}" type="slidenum">
              <a:rPr lang="en-US" sz="1200" smtClean="0"/>
              <a:pPr>
                <a:defRPr/>
              </a:pPr>
              <a:t>29</a:t>
            </a:fld>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0" y="0"/>
            <a:ext cx="9144000" cy="1143000"/>
          </a:xfrm>
        </p:spPr>
        <p:txBody>
          <a:bodyPr>
            <a:normAutofit/>
          </a:bodyPr>
          <a:lstStyle/>
          <a:p>
            <a:pPr algn="ctr"/>
            <a:r>
              <a:rPr lang="en-US" sz="3600" dirty="0" err="1"/>
              <a:t>Lĩnh</a:t>
            </a:r>
            <a:r>
              <a:rPr lang="en-US" sz="3600" dirty="0"/>
              <a:t> </a:t>
            </a:r>
            <a:r>
              <a:rPr lang="en-US" sz="3600" dirty="0" err="1"/>
              <a:t>vực</a:t>
            </a:r>
            <a:r>
              <a:rPr lang="en-US" sz="3600" dirty="0"/>
              <a:t> </a:t>
            </a:r>
            <a:r>
              <a:rPr lang="en-US" sz="3600" dirty="0" err="1"/>
              <a:t>kiến</a:t>
            </a:r>
            <a:r>
              <a:rPr lang="en-US" sz="3600" dirty="0"/>
              <a:t> </a:t>
            </a:r>
            <a:r>
              <a:rPr lang="en-US" sz="3600" dirty="0" err="1"/>
              <a:t>thức</a:t>
            </a:r>
            <a:r>
              <a:rPr lang="en-US" sz="3600" dirty="0"/>
              <a:t> và </a:t>
            </a:r>
            <a:r>
              <a:rPr lang="en-US" sz="3600" dirty="0" err="1"/>
              <a:t>rủi</a:t>
            </a:r>
            <a:r>
              <a:rPr lang="en-US" sz="3600" dirty="0"/>
              <a:t> </a:t>
            </a:r>
            <a:r>
              <a:rPr lang="en-US" sz="3600" dirty="0" err="1"/>
              <a:t>ro</a:t>
            </a:r>
            <a:r>
              <a:rPr lang="en-US" sz="3600" dirty="0"/>
              <a:t> </a:t>
            </a:r>
            <a:r>
              <a:rPr lang="en-US" sz="3600" dirty="0" err="1"/>
              <a:t>tiêu</a:t>
            </a:r>
            <a:r>
              <a:rPr lang="en-US" sz="3600" dirty="0"/>
              <a:t> </a:t>
            </a:r>
            <a:r>
              <a:rPr lang="en-US" sz="3600" dirty="0" err="1"/>
              <a:t>cực</a:t>
            </a:r>
            <a:endParaRPr lang="en-US" sz="3600" dirty="0"/>
          </a:p>
        </p:txBody>
      </p:sp>
      <p:sp>
        <p:nvSpPr>
          <p:cNvPr id="35844" name="Footer Placeholder 6"/>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buFontTx/>
              <a:buNone/>
              <a:defRPr/>
            </a:pPr>
            <a:fld id="{4D1252FD-2CC6-495F-9384-CE9717794234}" type="slidenum">
              <a:rPr lang="en-US" smtClean="0"/>
              <a:pPr>
                <a:buFontTx/>
                <a:buNone/>
                <a:defRPr/>
              </a:pPr>
              <a:t>30</a:t>
            </a:fld>
            <a:endParaRPr lang="en-US" dirty="0"/>
          </a:p>
        </p:txBody>
      </p:sp>
      <p:pic>
        <p:nvPicPr>
          <p:cNvPr id="5" name="Picture 4"/>
          <p:cNvPicPr>
            <a:picLocks noChangeAspect="1"/>
          </p:cNvPicPr>
          <p:nvPr/>
        </p:nvPicPr>
        <p:blipFill>
          <a:blip r:embed="rId3"/>
          <a:stretch>
            <a:fillRect/>
          </a:stretch>
        </p:blipFill>
        <p:spPr>
          <a:xfrm>
            <a:off x="0" y="1219200"/>
            <a:ext cx="9067800" cy="511430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amond(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76200" y="1171575"/>
            <a:ext cx="8991600" cy="4162425"/>
          </a:xfrm>
          <a:prstGeom prst="rect">
            <a:avLst/>
          </a:prstGeom>
        </p:spPr>
      </p:pic>
      <p:sp>
        <p:nvSpPr>
          <p:cNvPr id="2458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31</a:t>
            </a:fld>
            <a:endParaRPr lang="en-US" dirty="0"/>
          </a:p>
        </p:txBody>
      </p:sp>
      <p:sp>
        <p:nvSpPr>
          <p:cNvPr id="7" name="Rounded Rectangle 6"/>
          <p:cNvSpPr/>
          <p:nvPr/>
        </p:nvSpPr>
        <p:spPr>
          <a:xfrm>
            <a:off x="1393208" y="4114800"/>
            <a:ext cx="2188192" cy="273393"/>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Title 1"/>
          <p:cNvSpPr>
            <a:spLocks noGrp="1"/>
          </p:cNvSpPr>
          <p:nvPr>
            <p:ph type="title"/>
          </p:nvPr>
        </p:nvSpPr>
        <p:spPr>
          <a:xfrm>
            <a:off x="381000" y="0"/>
            <a:ext cx="8305800" cy="1143000"/>
          </a:xfrm>
        </p:spPr>
        <p:txBody>
          <a:bodyPr>
            <a:noAutofit/>
          </a:bodyPr>
          <a:lstStyle/>
          <a:p>
            <a:pPr algn="ctr" eaLnBrk="1" hangingPunct="1">
              <a:defRPr/>
            </a:pPr>
            <a:r>
              <a:rPr lang="en-US" sz="4000" dirty="0">
                <a:solidFill>
                  <a:schemeClr val="bg1">
                    <a:lumMod val="65000"/>
                  </a:schemeClr>
                </a:solidFill>
              </a:rPr>
              <a:t>Quản lý </a:t>
            </a:r>
            <a:r>
              <a:rPr lang="en-US" sz="4000" dirty="0" err="1">
                <a:solidFill>
                  <a:schemeClr val="bg1">
                    <a:lumMod val="65000"/>
                  </a:schemeClr>
                </a:solidFill>
              </a:rPr>
              <a:t>rủi</a:t>
            </a:r>
            <a:r>
              <a:rPr lang="en-US" sz="4000" dirty="0">
                <a:solidFill>
                  <a:schemeClr val="bg1">
                    <a:lumMod val="65000"/>
                  </a:schemeClr>
                </a:solidFill>
              </a:rPr>
              <a:t> </a:t>
            </a:r>
            <a:r>
              <a:rPr lang="en-US" sz="4000" dirty="0" err="1">
                <a:solidFill>
                  <a:schemeClr val="bg1">
                    <a:lumMod val="65000"/>
                  </a:schemeClr>
                </a:solidFill>
              </a:rPr>
              <a:t>ro</a:t>
            </a:r>
            <a:r>
              <a:rPr lang="en-US" sz="4000" dirty="0">
                <a:solidFill>
                  <a:schemeClr val="bg1">
                    <a:lumMod val="65000"/>
                  </a:schemeClr>
                </a:solidFill>
              </a:rPr>
              <a:t> </a:t>
            </a:r>
            <a:r>
              <a:rPr lang="en-US" sz="4000" dirty="0" err="1">
                <a:solidFill>
                  <a:schemeClr val="bg1">
                    <a:lumMod val="65000"/>
                  </a:schemeClr>
                </a:solidFill>
              </a:rPr>
              <a:t>dự</a:t>
            </a:r>
            <a:r>
              <a:rPr lang="en-US" sz="4000" dirty="0">
                <a:solidFill>
                  <a:schemeClr val="bg1">
                    <a:lumMod val="65000"/>
                  </a:schemeClr>
                </a:solidFill>
              </a:rPr>
              <a:t> </a:t>
            </a:r>
            <a:r>
              <a:rPr lang="en-US" sz="4000" dirty="0" err="1">
                <a:solidFill>
                  <a:schemeClr val="bg1">
                    <a:lumMod val="65000"/>
                  </a:schemeClr>
                </a:solidFill>
              </a:rPr>
              <a:t>án</a:t>
            </a:r>
            <a:r>
              <a:rPr lang="en-US" sz="4000" dirty="0">
                <a:solidFill>
                  <a:schemeClr val="bg1">
                    <a:lumMod val="65000"/>
                  </a:schemeClr>
                </a:solidFill>
              </a:rPr>
              <a:t> [2/6]</a:t>
            </a:r>
          </a:p>
        </p:txBody>
      </p:sp>
      <p:pic>
        <p:nvPicPr>
          <p:cNvPr id="2" name="Picture 1"/>
          <p:cNvPicPr>
            <a:picLocks noChangeAspect="1"/>
          </p:cNvPicPr>
          <p:nvPr/>
        </p:nvPicPr>
        <p:blipFill>
          <a:blip r:embed="rId3"/>
          <a:stretch>
            <a:fillRect/>
          </a:stretch>
        </p:blipFill>
        <p:spPr>
          <a:xfrm>
            <a:off x="5257800" y="5322571"/>
            <a:ext cx="1981200" cy="1535430"/>
          </a:xfrm>
          <a:prstGeom prst="rect">
            <a:avLst/>
          </a:prstGeom>
        </p:spPr>
      </p:pic>
    </p:spTree>
    <p:extLst>
      <p:ext uri="{BB962C8B-B14F-4D97-AF65-F5344CB8AC3E}">
        <p14:creationId xmlns:p14="http://schemas.microsoft.com/office/powerpoint/2010/main" val="1599132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a:xfrm>
            <a:off x="457200" y="1524000"/>
            <a:ext cx="8229600" cy="4038600"/>
          </a:xfrm>
        </p:spPr>
        <p:txBody>
          <a:bodyPr/>
          <a:lstStyle/>
          <a:p>
            <a:pPr algn="just">
              <a:spcBef>
                <a:spcPct val="55000"/>
              </a:spcBef>
            </a:pPr>
            <a:r>
              <a:rPr lang="en-US" b="1" dirty="0" err="1"/>
              <a:t>Xác</a:t>
            </a:r>
            <a:r>
              <a:rPr lang="en-US" b="1" dirty="0"/>
              <a:t> </a:t>
            </a:r>
            <a:r>
              <a:rPr lang="en-US" b="1" dirty="0" err="1"/>
              <a:t>định</a:t>
            </a:r>
            <a:r>
              <a:rPr lang="en-US" b="1" dirty="0"/>
              <a:t> </a:t>
            </a:r>
            <a:r>
              <a:rPr lang="en-US" b="1" dirty="0" err="1"/>
              <a:t>rủi</a:t>
            </a:r>
            <a:r>
              <a:rPr lang="en-US" b="1" dirty="0"/>
              <a:t> </a:t>
            </a:r>
            <a:r>
              <a:rPr lang="en-US" b="1" dirty="0" err="1"/>
              <a:t>ro</a:t>
            </a:r>
            <a:r>
              <a:rPr lang="en-US" dirty="0"/>
              <a:t> (</a:t>
            </a:r>
            <a:r>
              <a:rPr lang="en-US" dirty="0">
                <a:solidFill>
                  <a:srgbClr val="0070C0"/>
                </a:solidFill>
              </a:rPr>
              <a:t>identify risks</a:t>
            </a:r>
            <a:r>
              <a:rPr lang="en-US" dirty="0"/>
              <a:t>) </a:t>
            </a:r>
            <a:r>
              <a:rPr lang="en-US" dirty="0" err="1"/>
              <a:t>để</a:t>
            </a:r>
            <a:r>
              <a:rPr lang="en-US" dirty="0"/>
              <a:t> </a:t>
            </a:r>
            <a:r>
              <a:rPr lang="en-US" dirty="0" err="1"/>
              <a:t>hiểu</a:t>
            </a:r>
            <a:r>
              <a:rPr lang="en-US" dirty="0"/>
              <a:t> </a:t>
            </a:r>
            <a:r>
              <a:rPr lang="en-US" dirty="0" err="1"/>
              <a:t>được</a:t>
            </a:r>
            <a:r>
              <a:rPr lang="en-US" dirty="0"/>
              <a:t> </a:t>
            </a:r>
            <a:r>
              <a:rPr lang="en-US" err="1"/>
              <a:t>những</a:t>
            </a:r>
            <a:r>
              <a:rPr lang="en-US"/>
              <a:t> sự kiện </a:t>
            </a:r>
            <a:r>
              <a:rPr lang="en-US" dirty="0" err="1"/>
              <a:t>tiềm</a:t>
            </a:r>
            <a:r>
              <a:rPr lang="en-US" dirty="0"/>
              <a:t> </a:t>
            </a:r>
            <a:r>
              <a:rPr lang="en-US" dirty="0" err="1"/>
              <a:t>ẩn</a:t>
            </a:r>
            <a:r>
              <a:rPr lang="en-US" dirty="0"/>
              <a:t> </a:t>
            </a:r>
            <a:r>
              <a:rPr lang="en-US" dirty="0" err="1"/>
              <a:t>có</a:t>
            </a:r>
            <a:r>
              <a:rPr lang="en-US" dirty="0"/>
              <a:t> </a:t>
            </a:r>
            <a:r>
              <a:rPr lang="en-US" dirty="0" err="1"/>
              <a:t>khả</a:t>
            </a:r>
            <a:r>
              <a:rPr lang="en-US" dirty="0"/>
              <a:t> </a:t>
            </a:r>
            <a:r>
              <a:rPr lang="en-US" dirty="0" err="1"/>
              <a:t>năng</a:t>
            </a:r>
            <a:r>
              <a:rPr lang="en-US" dirty="0"/>
              <a:t> </a:t>
            </a:r>
            <a:r>
              <a:rPr lang="en-US" dirty="0" err="1"/>
              <a:t>gây</a:t>
            </a:r>
            <a:r>
              <a:rPr lang="en-US" dirty="0"/>
              <a:t> </a:t>
            </a:r>
            <a:r>
              <a:rPr lang="en-US" dirty="0" err="1"/>
              <a:t>tổn</a:t>
            </a:r>
            <a:r>
              <a:rPr lang="en-US" dirty="0"/>
              <a:t> </a:t>
            </a:r>
            <a:r>
              <a:rPr lang="en-US" dirty="0" err="1"/>
              <a:t>hại</a:t>
            </a:r>
            <a:r>
              <a:rPr lang="en-US" dirty="0"/>
              <a:t> </a:t>
            </a:r>
            <a:r>
              <a:rPr lang="en-US" dirty="0" err="1"/>
              <a:t>hoặc</a:t>
            </a:r>
            <a:r>
              <a:rPr lang="en-US" dirty="0"/>
              <a:t> </a:t>
            </a:r>
            <a:r>
              <a:rPr lang="en-US" dirty="0" err="1"/>
              <a:t>ảnh</a:t>
            </a:r>
            <a:r>
              <a:rPr lang="en-US" dirty="0"/>
              <a:t> </a:t>
            </a:r>
            <a:r>
              <a:rPr lang="en-US" dirty="0" err="1"/>
              <a:t>hưởng</a:t>
            </a:r>
            <a:r>
              <a:rPr lang="en-US" dirty="0"/>
              <a:t> </a:t>
            </a:r>
            <a:r>
              <a:rPr lang="en-US" dirty="0" err="1"/>
              <a:t>đến</a:t>
            </a:r>
            <a:r>
              <a:rPr lang="en-US" dirty="0"/>
              <a:t> </a:t>
            </a:r>
            <a:r>
              <a:rPr lang="en-US" dirty="0" err="1"/>
              <a:t>dự</a:t>
            </a:r>
            <a:r>
              <a:rPr lang="en-US" dirty="0"/>
              <a:t> </a:t>
            </a:r>
            <a:r>
              <a:rPr lang="en-US" dirty="0" err="1"/>
              <a:t>án</a:t>
            </a:r>
            <a:r>
              <a:rPr lang="en-US" dirty="0"/>
              <a:t>. </a:t>
            </a:r>
          </a:p>
          <a:p>
            <a:pPr algn="just">
              <a:spcBef>
                <a:spcPct val="55000"/>
              </a:spcBef>
            </a:pPr>
            <a:r>
              <a:rPr lang="en-US" dirty="0" err="1"/>
              <a:t>Các</a:t>
            </a:r>
            <a:r>
              <a:rPr lang="en-US" dirty="0"/>
              <a:t> </a:t>
            </a:r>
            <a:r>
              <a:rPr lang="en-US" dirty="0" err="1"/>
              <a:t>công</a:t>
            </a:r>
            <a:r>
              <a:rPr lang="en-US" dirty="0"/>
              <a:t> </a:t>
            </a:r>
            <a:r>
              <a:rPr lang="en-US" dirty="0" err="1"/>
              <a:t>cụ</a:t>
            </a:r>
            <a:r>
              <a:rPr lang="en-US" dirty="0"/>
              <a:t> và </a:t>
            </a:r>
            <a:r>
              <a:rPr lang="en-US" dirty="0" err="1"/>
              <a:t>kỹ</a:t>
            </a:r>
            <a:r>
              <a:rPr lang="en-US" dirty="0"/>
              <a:t> </a:t>
            </a:r>
            <a:r>
              <a:rPr lang="en-US" dirty="0" err="1"/>
              <a:t>thuật</a:t>
            </a:r>
            <a:r>
              <a:rPr lang="en-US" dirty="0"/>
              <a:t>:</a:t>
            </a:r>
          </a:p>
          <a:p>
            <a:pPr lvl="1" algn="just">
              <a:spcBef>
                <a:spcPts val="600"/>
              </a:spcBef>
              <a:buFont typeface="Arial" panose="020B0604020202020204" pitchFamily="34" charset="0"/>
              <a:buChar char="•"/>
            </a:pPr>
            <a:r>
              <a:rPr lang="en-US" sz="2400" dirty="0" err="1"/>
              <a:t>Động</a:t>
            </a:r>
            <a:r>
              <a:rPr lang="en-US" sz="2400" dirty="0"/>
              <a:t> </a:t>
            </a:r>
            <a:r>
              <a:rPr lang="en-US" sz="2400" dirty="0" err="1"/>
              <a:t>não</a:t>
            </a:r>
            <a:endParaRPr lang="en-US" sz="2400" dirty="0"/>
          </a:p>
          <a:p>
            <a:pPr lvl="1" algn="just">
              <a:spcBef>
                <a:spcPts val="600"/>
              </a:spcBef>
              <a:buFont typeface="Arial" panose="020B0604020202020204" pitchFamily="34" charset="0"/>
              <a:buChar char="•"/>
            </a:pPr>
            <a:r>
              <a:rPr lang="en-US" sz="2400" dirty="0" err="1"/>
              <a:t>Kỹ</a:t>
            </a:r>
            <a:r>
              <a:rPr lang="en-US" sz="2400" dirty="0"/>
              <a:t> </a:t>
            </a:r>
            <a:r>
              <a:rPr lang="en-US" sz="2400" dirty="0" err="1"/>
              <a:t>thuật</a:t>
            </a:r>
            <a:r>
              <a:rPr lang="en-US" sz="2400" dirty="0"/>
              <a:t> Delphi</a:t>
            </a:r>
          </a:p>
          <a:p>
            <a:pPr lvl="1" algn="just">
              <a:spcBef>
                <a:spcPts val="600"/>
              </a:spcBef>
              <a:buFont typeface="Arial" panose="020B0604020202020204" pitchFamily="34" charset="0"/>
              <a:buChar char="•"/>
            </a:pPr>
            <a:r>
              <a:rPr lang="en-US" sz="2400" dirty="0" err="1"/>
              <a:t>Phỏng</a:t>
            </a:r>
            <a:r>
              <a:rPr lang="en-US" sz="2400" dirty="0"/>
              <a:t> </a:t>
            </a:r>
            <a:r>
              <a:rPr lang="en-US" sz="2400" dirty="0" err="1"/>
              <a:t>vấn</a:t>
            </a:r>
            <a:r>
              <a:rPr lang="en-US" sz="2400" dirty="0"/>
              <a:t> </a:t>
            </a:r>
            <a:r>
              <a:rPr lang="en-US" sz="2400" dirty="0" err="1"/>
              <a:t>chuyên</a:t>
            </a:r>
            <a:r>
              <a:rPr lang="en-US" sz="2400" dirty="0"/>
              <a:t> </a:t>
            </a:r>
            <a:r>
              <a:rPr lang="en-US" sz="2400" dirty="0" err="1"/>
              <a:t>gia</a:t>
            </a:r>
            <a:endParaRPr lang="en-US" sz="2400" dirty="0"/>
          </a:p>
          <a:p>
            <a:pPr lvl="1" algn="just">
              <a:spcBef>
                <a:spcPts val="600"/>
              </a:spcBef>
              <a:buFont typeface="Arial" panose="020B0604020202020204" pitchFamily="34" charset="0"/>
              <a:buChar char="•"/>
            </a:pPr>
            <a:r>
              <a:rPr lang="en-US" sz="2400" dirty="0" err="1"/>
              <a:t>Phân</a:t>
            </a:r>
            <a:r>
              <a:rPr lang="en-US" sz="2400" dirty="0"/>
              <a:t> </a:t>
            </a:r>
            <a:r>
              <a:rPr lang="en-US" sz="2400" dirty="0" err="1"/>
              <a:t>tích</a:t>
            </a:r>
            <a:r>
              <a:rPr lang="en-US" sz="2400" dirty="0"/>
              <a:t> SWOT.</a:t>
            </a:r>
          </a:p>
          <a:p>
            <a:pPr algn="just">
              <a:spcBef>
                <a:spcPct val="55000"/>
              </a:spcBef>
            </a:pPr>
            <a:endParaRPr lang="en-US" dirty="0"/>
          </a:p>
          <a:p>
            <a:pPr algn="just">
              <a:spcBef>
                <a:spcPct val="55000"/>
              </a:spcBef>
            </a:pPr>
            <a:endParaRPr lang="en-US" dirty="0"/>
          </a:p>
        </p:txBody>
      </p:sp>
      <p:sp>
        <p:nvSpPr>
          <p:cNvPr id="36866" name="Rectangle 2"/>
          <p:cNvSpPr>
            <a:spLocks noGrp="1" noChangeArrowheads="1"/>
          </p:cNvSpPr>
          <p:nvPr>
            <p:ph type="title"/>
          </p:nvPr>
        </p:nvSpPr>
        <p:spPr>
          <a:xfrm>
            <a:off x="457200" y="76200"/>
            <a:ext cx="8229600" cy="1143000"/>
          </a:xfrm>
        </p:spPr>
        <p:txBody>
          <a:bodyPr>
            <a:normAutofit/>
          </a:bodyPr>
          <a:lstStyle/>
          <a:p>
            <a:pPr algn="ctr"/>
            <a:r>
              <a:rPr lang="en-US" sz="4400" dirty="0">
                <a:solidFill>
                  <a:srgbClr val="FF0000"/>
                </a:solidFill>
              </a:rPr>
              <a:t>2. </a:t>
            </a:r>
            <a:r>
              <a:rPr lang="en-US" sz="4400" dirty="0" err="1">
                <a:solidFill>
                  <a:srgbClr val="FF0000"/>
                </a:solidFill>
              </a:rPr>
              <a:t>Xác</a:t>
            </a:r>
            <a:r>
              <a:rPr lang="en-US" sz="4400" dirty="0">
                <a:solidFill>
                  <a:srgbClr val="FF0000"/>
                </a:solidFill>
              </a:rPr>
              <a:t> </a:t>
            </a:r>
            <a:r>
              <a:rPr lang="en-US" sz="4400" dirty="0" err="1">
                <a:solidFill>
                  <a:srgbClr val="FF0000"/>
                </a:solidFill>
              </a:rPr>
              <a:t>định</a:t>
            </a:r>
            <a:r>
              <a:rPr lang="en-US" sz="4400" dirty="0">
                <a:solidFill>
                  <a:srgbClr val="FF0000"/>
                </a:solidFill>
              </a:rPr>
              <a:t> </a:t>
            </a:r>
            <a:r>
              <a:rPr lang="en-US" sz="4400" dirty="0" err="1">
                <a:solidFill>
                  <a:srgbClr val="FF0000"/>
                </a:solidFill>
              </a:rPr>
              <a:t>rủi</a:t>
            </a:r>
            <a:r>
              <a:rPr lang="en-US" sz="4400" dirty="0">
                <a:solidFill>
                  <a:srgbClr val="FF0000"/>
                </a:solidFill>
              </a:rPr>
              <a:t> </a:t>
            </a:r>
            <a:r>
              <a:rPr lang="en-US" sz="4400" dirty="0" err="1">
                <a:solidFill>
                  <a:srgbClr val="FF0000"/>
                </a:solidFill>
              </a:rPr>
              <a:t>ro</a:t>
            </a:r>
            <a:endParaRPr lang="en-US" sz="4400" dirty="0">
              <a:solidFill>
                <a:srgbClr val="FF0000"/>
              </a:solidFill>
            </a:endParaRPr>
          </a:p>
        </p:txBody>
      </p:sp>
      <p:sp>
        <p:nvSpPr>
          <p:cNvPr id="36869"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E76D94AB-283F-4DB4-953C-B7C642775F48}" type="slidenum">
              <a:rPr lang="en-US" smtClean="0"/>
              <a:pPr>
                <a:defRPr/>
              </a:pPr>
              <a:t>32</a:t>
            </a:fld>
            <a:endParaRPr lang="en-US" dirty="0"/>
          </a:p>
        </p:txBody>
      </p:sp>
      <p:pic>
        <p:nvPicPr>
          <p:cNvPr id="4" name="Picture 3"/>
          <p:cNvPicPr>
            <a:picLocks noChangeAspect="1"/>
          </p:cNvPicPr>
          <p:nvPr/>
        </p:nvPicPr>
        <p:blipFill>
          <a:blip r:embed="rId2"/>
          <a:stretch>
            <a:fillRect/>
          </a:stretch>
        </p:blipFill>
        <p:spPr>
          <a:xfrm>
            <a:off x="6019800" y="3581400"/>
            <a:ext cx="2362200" cy="227306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6867">
                                            <p:txEl>
                                              <p:pRg st="1" end="1"/>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6867">
                                            <p:txEl>
                                              <p:pRg st="2" end="2"/>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6867">
                                            <p:txEl>
                                              <p:pRg st="3" end="3"/>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6867">
                                            <p:txEl>
                                              <p:pRg st="4" end="4"/>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368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152400" y="1828800"/>
            <a:ext cx="5486400" cy="1600200"/>
          </a:xfrm>
        </p:spPr>
        <p:txBody>
          <a:bodyPr/>
          <a:lstStyle/>
          <a:p>
            <a:pPr algn="just"/>
            <a:r>
              <a:rPr lang="en-US" dirty="0" err="1">
                <a:effectLst>
                  <a:outerShdw blurRad="38100" dist="38100" dir="2700000" algn="tl">
                    <a:srgbClr val="000000">
                      <a:alpha val="43137"/>
                    </a:srgbClr>
                  </a:outerShdw>
                </a:effectLst>
              </a:rPr>
              <a:t>Động</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não</a:t>
            </a:r>
            <a:r>
              <a:rPr lang="en-US" dirty="0">
                <a:effectLst>
                  <a:outerShdw blurRad="38100" dist="38100" dir="2700000" algn="tl">
                    <a:srgbClr val="000000">
                      <a:alpha val="43137"/>
                    </a:srgbClr>
                  </a:outerShdw>
                </a:effectLst>
              </a:rPr>
              <a:t> </a:t>
            </a:r>
            <a:r>
              <a:rPr lang="en-US" dirty="0"/>
              <a:t>(</a:t>
            </a:r>
            <a:r>
              <a:rPr lang="en-US" dirty="0">
                <a:solidFill>
                  <a:srgbClr val="0070C0"/>
                </a:solidFill>
              </a:rPr>
              <a:t>brainstorming</a:t>
            </a:r>
            <a:r>
              <a:rPr lang="en-US" dirty="0"/>
              <a:t>): </a:t>
            </a:r>
            <a:r>
              <a:rPr lang="en-US" dirty="0" err="1"/>
              <a:t>nhóm</a:t>
            </a:r>
            <a:r>
              <a:rPr lang="en-US" dirty="0"/>
              <a:t> </a:t>
            </a:r>
            <a:r>
              <a:rPr lang="en-US" dirty="0" err="1"/>
              <a:t>nỗ</a:t>
            </a:r>
            <a:r>
              <a:rPr lang="en-US" dirty="0"/>
              <a:t> </a:t>
            </a:r>
            <a:r>
              <a:rPr lang="en-US" dirty="0" err="1"/>
              <a:t>lực</a:t>
            </a:r>
            <a:r>
              <a:rPr lang="en-US" dirty="0"/>
              <a:t> </a:t>
            </a:r>
            <a:r>
              <a:rPr lang="en-US" dirty="0" err="1"/>
              <a:t>tạo</a:t>
            </a:r>
            <a:r>
              <a:rPr lang="en-US" dirty="0"/>
              <a:t> </a:t>
            </a:r>
            <a:r>
              <a:rPr lang="en-US" dirty="0" err="1"/>
              <a:t>các</a:t>
            </a:r>
            <a:r>
              <a:rPr lang="en-US" dirty="0"/>
              <a:t> ý </a:t>
            </a:r>
            <a:r>
              <a:rPr lang="en-US" dirty="0" err="1"/>
              <a:t>tưởng</a:t>
            </a:r>
            <a:r>
              <a:rPr lang="en-US" dirty="0"/>
              <a:t> </a:t>
            </a:r>
            <a:r>
              <a:rPr lang="en-US" dirty="0" err="1"/>
              <a:t>mới</a:t>
            </a:r>
            <a:r>
              <a:rPr lang="en-US" dirty="0"/>
              <a:t>, phương </a:t>
            </a:r>
            <a:r>
              <a:rPr lang="en-US" dirty="0" err="1"/>
              <a:t>án</a:t>
            </a:r>
            <a:r>
              <a:rPr lang="en-US" dirty="0"/>
              <a:t> </a:t>
            </a:r>
            <a:r>
              <a:rPr lang="en-US" dirty="0" err="1"/>
              <a:t>giải</a:t>
            </a:r>
            <a:r>
              <a:rPr lang="en-US" dirty="0"/>
              <a:t> </a:t>
            </a:r>
            <a:r>
              <a:rPr lang="en-US" dirty="0" err="1"/>
              <a:t>quyết</a:t>
            </a:r>
            <a:r>
              <a:rPr lang="en-US" dirty="0"/>
              <a:t> </a:t>
            </a:r>
            <a:r>
              <a:rPr lang="en-US" dirty="0" err="1"/>
              <a:t>vấn</a:t>
            </a:r>
            <a:r>
              <a:rPr lang="en-US" dirty="0"/>
              <a:t> </a:t>
            </a:r>
            <a:r>
              <a:rPr lang="en-US" dirty="0" err="1"/>
              <a:t>đề</a:t>
            </a:r>
            <a:r>
              <a:rPr lang="en-US" dirty="0"/>
              <a:t>…</a:t>
            </a:r>
          </a:p>
        </p:txBody>
      </p:sp>
      <p:sp>
        <p:nvSpPr>
          <p:cNvPr id="37890" name="Rectangle 2"/>
          <p:cNvSpPr>
            <a:spLocks noGrp="1" noChangeArrowheads="1"/>
          </p:cNvSpPr>
          <p:nvPr>
            <p:ph type="title"/>
          </p:nvPr>
        </p:nvSpPr>
        <p:spPr/>
        <p:txBody>
          <a:bodyPr>
            <a:normAutofit/>
          </a:bodyPr>
          <a:lstStyle/>
          <a:p>
            <a:pPr algn="ctr"/>
            <a:r>
              <a:rPr lang="en-US" sz="4000" dirty="0" err="1"/>
              <a:t>Kỹ</a:t>
            </a:r>
            <a:r>
              <a:rPr lang="en-US" sz="4000" dirty="0"/>
              <a:t> </a:t>
            </a:r>
            <a:r>
              <a:rPr lang="en-US" sz="4000" dirty="0" err="1"/>
              <a:t>thuật</a:t>
            </a:r>
            <a:r>
              <a:rPr lang="en-US" sz="4000" dirty="0"/>
              <a:t> </a:t>
            </a:r>
            <a:r>
              <a:rPr lang="en-US" sz="4000" dirty="0" err="1"/>
              <a:t>động</a:t>
            </a:r>
            <a:r>
              <a:rPr lang="en-US" sz="4000" dirty="0"/>
              <a:t> </a:t>
            </a:r>
            <a:r>
              <a:rPr lang="en-US" sz="4000" dirty="0" err="1"/>
              <a:t>não</a:t>
            </a:r>
            <a:endParaRPr lang="en-US" sz="4000" dirty="0"/>
          </a:p>
        </p:txBody>
      </p:sp>
      <p:sp>
        <p:nvSpPr>
          <p:cNvPr id="37893"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7208EE35-A128-4D08-B16A-7F18F3102B9E}" type="slidenum">
              <a:rPr lang="en-US" smtClean="0"/>
              <a:pPr>
                <a:defRPr/>
              </a:pPr>
              <a:t>33</a:t>
            </a:fld>
            <a:endParaRPr lang="en-US" dirty="0"/>
          </a:p>
        </p:txBody>
      </p:sp>
      <p:sp>
        <p:nvSpPr>
          <p:cNvPr id="7" name="Rectangle 3"/>
          <p:cNvSpPr txBox="1">
            <a:spLocks noChangeArrowheads="1"/>
          </p:cNvSpPr>
          <p:nvPr/>
        </p:nvSpPr>
        <p:spPr bwMode="auto">
          <a:xfrm>
            <a:off x="152400" y="3429000"/>
            <a:ext cx="8763000" cy="1828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lgn="just">
              <a:spcBef>
                <a:spcPts val="1200"/>
              </a:spcBef>
              <a:spcAft>
                <a:spcPts val="1200"/>
              </a:spcAft>
            </a:pPr>
            <a:r>
              <a:rPr lang="en-US" dirty="0" err="1"/>
              <a:t>Người</a:t>
            </a:r>
            <a:r>
              <a:rPr lang="en-US" dirty="0"/>
              <a:t> </a:t>
            </a:r>
            <a:r>
              <a:rPr lang="en-US" dirty="0" err="1"/>
              <a:t>có</a:t>
            </a:r>
            <a:r>
              <a:rPr lang="en-US" dirty="0"/>
              <a:t> </a:t>
            </a:r>
            <a:r>
              <a:rPr lang="en-US" dirty="0" err="1"/>
              <a:t>kinh</a:t>
            </a:r>
            <a:r>
              <a:rPr lang="en-US" dirty="0"/>
              <a:t> </a:t>
            </a:r>
            <a:r>
              <a:rPr lang="en-US" dirty="0" err="1"/>
              <a:t>nghiệm</a:t>
            </a:r>
            <a:r>
              <a:rPr lang="en-US" dirty="0"/>
              <a:t> </a:t>
            </a:r>
            <a:r>
              <a:rPr lang="en-US" dirty="0" err="1"/>
              <a:t>điều</a:t>
            </a:r>
            <a:r>
              <a:rPr lang="en-US" dirty="0"/>
              <a:t> </a:t>
            </a:r>
            <a:r>
              <a:rPr lang="en-US" dirty="0" err="1"/>
              <a:t>hành</a:t>
            </a:r>
            <a:r>
              <a:rPr lang="en-US" dirty="0"/>
              <a:t> </a:t>
            </a:r>
            <a:r>
              <a:rPr lang="en-US" dirty="0" err="1"/>
              <a:t>phiên</a:t>
            </a:r>
            <a:r>
              <a:rPr lang="en-US" dirty="0"/>
              <a:t> </a:t>
            </a:r>
            <a:r>
              <a:rPr lang="en-US" dirty="0" err="1"/>
              <a:t>động</a:t>
            </a:r>
            <a:r>
              <a:rPr lang="en-US" dirty="0"/>
              <a:t> </a:t>
            </a:r>
            <a:r>
              <a:rPr lang="en-US" dirty="0" err="1"/>
              <a:t>não</a:t>
            </a:r>
            <a:r>
              <a:rPr lang="en-US" dirty="0"/>
              <a:t>. </a:t>
            </a:r>
          </a:p>
          <a:p>
            <a:pPr algn="just"/>
            <a:r>
              <a:rPr lang="en-US" dirty="0" err="1"/>
              <a:t>Lưu</a:t>
            </a:r>
            <a:r>
              <a:rPr lang="en-US" dirty="0"/>
              <a:t> ý: </a:t>
            </a:r>
            <a:r>
              <a:rPr lang="en-US" dirty="0" err="1"/>
              <a:t>cá</a:t>
            </a:r>
            <a:r>
              <a:rPr lang="en-US" dirty="0"/>
              <a:t> </a:t>
            </a:r>
            <a:r>
              <a:rPr lang="en-US" dirty="0" err="1"/>
              <a:t>nhân</a:t>
            </a:r>
            <a:r>
              <a:rPr lang="en-US" dirty="0"/>
              <a:t> </a:t>
            </a:r>
            <a:r>
              <a:rPr lang="en-US" dirty="0" err="1"/>
              <a:t>có</a:t>
            </a:r>
            <a:r>
              <a:rPr lang="en-US" dirty="0"/>
              <a:t> </a:t>
            </a:r>
            <a:r>
              <a:rPr lang="en-US" dirty="0" err="1"/>
              <a:t>nhiều</a:t>
            </a:r>
            <a:r>
              <a:rPr lang="en-US" dirty="0"/>
              <a:t> ý </a:t>
            </a:r>
            <a:r>
              <a:rPr lang="en-US" dirty="0" err="1"/>
              <a:t>tưởng</a:t>
            </a:r>
            <a:r>
              <a:rPr lang="en-US" dirty="0"/>
              <a:t> </a:t>
            </a:r>
            <a:r>
              <a:rPr lang="en-US" dirty="0" err="1"/>
              <a:t>hơn</a:t>
            </a:r>
            <a:r>
              <a:rPr lang="en-US" dirty="0"/>
              <a:t> </a:t>
            </a:r>
            <a:r>
              <a:rPr lang="en-US" dirty="0" err="1"/>
              <a:t>khi</a:t>
            </a:r>
            <a:r>
              <a:rPr lang="en-US" dirty="0"/>
              <a:t> </a:t>
            </a:r>
            <a:r>
              <a:rPr lang="en-US" dirty="0" err="1"/>
              <a:t>làm</a:t>
            </a:r>
            <a:r>
              <a:rPr lang="en-US" dirty="0"/>
              <a:t> </a:t>
            </a:r>
            <a:r>
              <a:rPr lang="en-US" dirty="0" err="1"/>
              <a:t>việc</a:t>
            </a:r>
            <a:r>
              <a:rPr lang="en-US" dirty="0"/>
              <a:t> </a:t>
            </a:r>
            <a:r>
              <a:rPr lang="en-US" dirty="0" err="1"/>
              <a:t>một</a:t>
            </a:r>
            <a:r>
              <a:rPr lang="en-US" dirty="0"/>
              <a:t> </a:t>
            </a:r>
            <a:r>
              <a:rPr lang="en-US" dirty="0" err="1"/>
              <a:t>mình</a:t>
            </a:r>
            <a:r>
              <a:rPr lang="en-US" dirty="0"/>
              <a:t> so </a:t>
            </a:r>
            <a:r>
              <a:rPr lang="en-US" dirty="0" err="1"/>
              <a:t>với</a:t>
            </a:r>
            <a:r>
              <a:rPr lang="en-US" dirty="0"/>
              <a:t> </a:t>
            </a:r>
            <a:r>
              <a:rPr lang="en-US" dirty="0" err="1"/>
              <a:t>họp</a:t>
            </a:r>
            <a:r>
              <a:rPr lang="en-US" dirty="0"/>
              <a:t> </a:t>
            </a:r>
            <a:r>
              <a:rPr lang="en-US" dirty="0" err="1"/>
              <a:t>động</a:t>
            </a:r>
            <a:r>
              <a:rPr lang="en-US" dirty="0"/>
              <a:t> </a:t>
            </a:r>
            <a:r>
              <a:rPr lang="en-US" dirty="0" err="1"/>
              <a:t>não</a:t>
            </a:r>
            <a:r>
              <a:rPr lang="en-US" dirty="0"/>
              <a:t> và </a:t>
            </a:r>
            <a:r>
              <a:rPr lang="en-US" dirty="0" err="1"/>
              <a:t>mặt</a:t>
            </a:r>
            <a:r>
              <a:rPr lang="en-US" dirty="0"/>
              <a:t> </a:t>
            </a:r>
            <a:r>
              <a:rPr lang="en-US" dirty="0" err="1"/>
              <a:t>đối</a:t>
            </a:r>
            <a:r>
              <a:rPr lang="en-US" dirty="0"/>
              <a:t> </a:t>
            </a:r>
            <a:r>
              <a:rPr lang="en-US" dirty="0" err="1"/>
              <a:t>mặt</a:t>
            </a:r>
            <a:r>
              <a:rPr lang="en-US" dirty="0"/>
              <a:t>.</a:t>
            </a:r>
          </a:p>
          <a:p>
            <a:pPr lvl="1" algn="just"/>
            <a:endParaRPr lang="en-US" dirty="0"/>
          </a:p>
        </p:txBody>
      </p:sp>
      <p:pic>
        <p:nvPicPr>
          <p:cNvPr id="2" name="Picture 1"/>
          <p:cNvPicPr>
            <a:picLocks noChangeAspect="1"/>
          </p:cNvPicPr>
          <p:nvPr/>
        </p:nvPicPr>
        <p:blipFill>
          <a:blip r:embed="rId2"/>
          <a:stretch>
            <a:fillRect/>
          </a:stretch>
        </p:blipFill>
        <p:spPr>
          <a:xfrm>
            <a:off x="5867400" y="1752600"/>
            <a:ext cx="2994392" cy="1295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fter The Interview Clipart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0" y="1600200"/>
            <a:ext cx="2819400" cy="2043354"/>
          </a:xfrm>
          <a:prstGeom prst="rect">
            <a:avLst/>
          </a:prstGeom>
          <a:noFill/>
          <a:extLst>
            <a:ext uri="{909E8E84-426E-40DD-AFC4-6F175D3DCCD1}">
              <a14:hiddenFill xmlns:a14="http://schemas.microsoft.com/office/drawing/2010/main">
                <a:solidFill>
                  <a:srgbClr val="FFFFFF"/>
                </a:solidFill>
              </a14:hiddenFill>
            </a:ext>
          </a:extLst>
        </p:spPr>
      </p:pic>
      <p:sp>
        <p:nvSpPr>
          <p:cNvPr id="39939" name="Rectangle 3"/>
          <p:cNvSpPr>
            <a:spLocks noGrp="1" noChangeArrowheads="1"/>
          </p:cNvSpPr>
          <p:nvPr>
            <p:ph idx="1"/>
          </p:nvPr>
        </p:nvSpPr>
        <p:spPr>
          <a:xfrm>
            <a:off x="228600" y="1905000"/>
            <a:ext cx="5867400" cy="1905000"/>
          </a:xfrm>
        </p:spPr>
        <p:txBody>
          <a:bodyPr/>
          <a:lstStyle/>
          <a:p>
            <a:pPr algn="just">
              <a:spcBef>
                <a:spcPct val="100000"/>
              </a:spcBef>
              <a:spcAft>
                <a:spcPts val="600"/>
              </a:spcAft>
            </a:pPr>
            <a:r>
              <a:rPr lang="en-US" dirty="0" err="1">
                <a:effectLst>
                  <a:outerShdw blurRad="38100" dist="38100" dir="2700000" algn="tl">
                    <a:srgbClr val="000000">
                      <a:alpha val="43137"/>
                    </a:srgbClr>
                  </a:outerShdw>
                </a:effectLst>
              </a:rPr>
              <a:t>Phỏng</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vấn</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chuyên</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gia</a:t>
            </a:r>
            <a:r>
              <a:rPr lang="en-US" dirty="0">
                <a:effectLst>
                  <a:outerShdw blurRad="38100" dist="38100" dir="2700000" algn="tl">
                    <a:srgbClr val="000000">
                      <a:alpha val="43137"/>
                    </a:srgbClr>
                  </a:outerShdw>
                </a:effectLst>
              </a:rPr>
              <a:t> </a:t>
            </a:r>
            <a:r>
              <a:rPr lang="en-US" dirty="0"/>
              <a:t>(</a:t>
            </a:r>
            <a:r>
              <a:rPr lang="en-US" dirty="0">
                <a:solidFill>
                  <a:srgbClr val="0070C0"/>
                </a:solidFill>
              </a:rPr>
              <a:t>expert</a:t>
            </a:r>
            <a:r>
              <a:rPr lang="en-US" dirty="0"/>
              <a:t> </a:t>
            </a:r>
            <a:r>
              <a:rPr lang="en-US" dirty="0">
                <a:solidFill>
                  <a:srgbClr val="0070C0"/>
                </a:solidFill>
              </a:rPr>
              <a:t>Interviewing</a:t>
            </a:r>
            <a:r>
              <a:rPr lang="en-US" dirty="0"/>
              <a:t>): </a:t>
            </a:r>
            <a:r>
              <a:rPr lang="en-US" dirty="0" err="1"/>
              <a:t>thu</a:t>
            </a:r>
            <a:r>
              <a:rPr lang="en-US" dirty="0"/>
              <a:t> </a:t>
            </a:r>
            <a:r>
              <a:rPr lang="en-US" dirty="0" err="1"/>
              <a:t>thập</a:t>
            </a:r>
            <a:r>
              <a:rPr lang="en-US" dirty="0"/>
              <a:t> thông tin qua </a:t>
            </a:r>
            <a:r>
              <a:rPr lang="en-US" dirty="0" err="1"/>
              <a:t>tìm</a:t>
            </a:r>
            <a:r>
              <a:rPr lang="en-US" dirty="0"/>
              <a:t> </a:t>
            </a:r>
            <a:r>
              <a:rPr lang="en-US" dirty="0" err="1"/>
              <a:t>kiếm</a:t>
            </a:r>
            <a:r>
              <a:rPr lang="en-US" dirty="0"/>
              <a:t> </a:t>
            </a:r>
            <a:r>
              <a:rPr lang="en-US" dirty="0" err="1"/>
              <a:t>sự</a:t>
            </a:r>
            <a:r>
              <a:rPr lang="en-US" dirty="0"/>
              <a:t> </a:t>
            </a:r>
            <a:r>
              <a:rPr lang="en-US" dirty="0" err="1"/>
              <a:t>thật</a:t>
            </a:r>
            <a:r>
              <a:rPr lang="en-US" dirty="0"/>
              <a:t>.</a:t>
            </a:r>
          </a:p>
          <a:p>
            <a:pPr lvl="1" algn="just">
              <a:spcBef>
                <a:spcPts val="300"/>
              </a:spcBef>
              <a:buFont typeface="Arial" panose="020B0604020202020204" pitchFamily="34" charset="0"/>
              <a:buChar char="•"/>
            </a:pPr>
            <a:r>
              <a:rPr lang="en-US" sz="2400" dirty="0" err="1"/>
              <a:t>Mặt</a:t>
            </a:r>
            <a:r>
              <a:rPr lang="en-US" sz="2400" dirty="0"/>
              <a:t> </a:t>
            </a:r>
            <a:r>
              <a:rPr lang="en-US" sz="2400" dirty="0" err="1"/>
              <a:t>đối</a:t>
            </a:r>
            <a:r>
              <a:rPr lang="en-US" sz="2400" dirty="0"/>
              <a:t> </a:t>
            </a:r>
            <a:r>
              <a:rPr lang="en-US" sz="2400" dirty="0" err="1"/>
              <a:t>mặt</a:t>
            </a:r>
            <a:r>
              <a:rPr lang="en-US" sz="2400" dirty="0"/>
              <a:t>, </a:t>
            </a:r>
            <a:r>
              <a:rPr lang="en-US" sz="2400" dirty="0" err="1"/>
              <a:t>điện</a:t>
            </a:r>
            <a:r>
              <a:rPr lang="en-US" sz="2400" dirty="0"/>
              <a:t> </a:t>
            </a:r>
            <a:r>
              <a:rPr lang="en-US" sz="2400" dirty="0" err="1"/>
              <a:t>thoại</a:t>
            </a:r>
            <a:r>
              <a:rPr lang="en-US" sz="2400" dirty="0"/>
              <a:t>, e-mail…</a:t>
            </a:r>
          </a:p>
        </p:txBody>
      </p:sp>
      <p:sp>
        <p:nvSpPr>
          <p:cNvPr id="39938" name="Rectangle 2"/>
          <p:cNvSpPr>
            <a:spLocks noGrp="1" noChangeArrowheads="1"/>
          </p:cNvSpPr>
          <p:nvPr>
            <p:ph type="title"/>
          </p:nvPr>
        </p:nvSpPr>
        <p:spPr/>
        <p:txBody>
          <a:bodyPr>
            <a:normAutofit/>
          </a:bodyPr>
          <a:lstStyle/>
          <a:p>
            <a:pPr algn="ctr"/>
            <a:r>
              <a:rPr lang="en-US" sz="4000" dirty="0" err="1"/>
              <a:t>Phỏng</a:t>
            </a:r>
            <a:r>
              <a:rPr lang="en-US" sz="4000" dirty="0"/>
              <a:t> </a:t>
            </a:r>
            <a:r>
              <a:rPr lang="en-US" sz="4000" dirty="0" err="1"/>
              <a:t>vấn</a:t>
            </a:r>
            <a:endParaRPr lang="en-US" sz="4000" dirty="0"/>
          </a:p>
        </p:txBody>
      </p:sp>
      <p:sp>
        <p:nvSpPr>
          <p:cNvPr id="3994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9E252DC2-606F-467A-9154-9742EEEB11B9}" type="slidenum">
              <a:rPr lang="en-US" smtClean="0"/>
              <a:pPr>
                <a:defRPr/>
              </a:pPr>
              <a:t>34</a:t>
            </a:fld>
            <a:endParaRPr lang="en-US" dirty="0"/>
          </a:p>
        </p:txBody>
      </p:sp>
      <p:sp>
        <p:nvSpPr>
          <p:cNvPr id="7" name="Rectangle 3"/>
          <p:cNvSpPr txBox="1">
            <a:spLocks noChangeArrowheads="1"/>
          </p:cNvSpPr>
          <p:nvPr/>
        </p:nvSpPr>
        <p:spPr bwMode="auto">
          <a:xfrm>
            <a:off x="152400" y="3886200"/>
            <a:ext cx="8534400" cy="1447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lgn="just">
              <a:spcBef>
                <a:spcPct val="100000"/>
              </a:spcBef>
            </a:pPr>
            <a:r>
              <a:rPr lang="en-US" dirty="0" err="1"/>
              <a:t>Phỏng</a:t>
            </a:r>
            <a:r>
              <a:rPr lang="en-US" dirty="0"/>
              <a:t> </a:t>
            </a:r>
            <a:r>
              <a:rPr lang="en-US" dirty="0" err="1"/>
              <a:t>vấn</a:t>
            </a:r>
            <a:r>
              <a:rPr lang="en-US" dirty="0"/>
              <a:t> </a:t>
            </a:r>
            <a:r>
              <a:rPr lang="en-US" dirty="0" err="1"/>
              <a:t>những</a:t>
            </a:r>
            <a:r>
              <a:rPr lang="en-US" dirty="0"/>
              <a:t> </a:t>
            </a:r>
            <a:r>
              <a:rPr lang="en-US" dirty="0" err="1"/>
              <a:t>người</a:t>
            </a:r>
            <a:r>
              <a:rPr lang="en-US" dirty="0"/>
              <a:t> </a:t>
            </a:r>
            <a:r>
              <a:rPr lang="en-US" dirty="0" err="1"/>
              <a:t>có</a:t>
            </a:r>
            <a:r>
              <a:rPr lang="en-US" dirty="0"/>
              <a:t> </a:t>
            </a:r>
            <a:r>
              <a:rPr lang="en-US" dirty="0" err="1"/>
              <a:t>kinh</a:t>
            </a:r>
            <a:r>
              <a:rPr lang="en-US" dirty="0"/>
              <a:t> </a:t>
            </a:r>
            <a:r>
              <a:rPr lang="en-US" dirty="0" err="1"/>
              <a:t>nghiệm</a:t>
            </a:r>
            <a:r>
              <a:rPr lang="en-US" dirty="0"/>
              <a:t> </a:t>
            </a:r>
            <a:r>
              <a:rPr lang="en-US" dirty="0" err="1"/>
              <a:t>trong</a:t>
            </a:r>
            <a:r>
              <a:rPr lang="en-US" dirty="0"/>
              <a:t> </a:t>
            </a:r>
            <a:r>
              <a:rPr lang="en-US" dirty="0" err="1"/>
              <a:t>các</a:t>
            </a:r>
            <a:r>
              <a:rPr lang="en-US" dirty="0"/>
              <a:t> </a:t>
            </a:r>
            <a:r>
              <a:rPr lang="en-US" dirty="0" err="1"/>
              <a:t>dự</a:t>
            </a:r>
            <a:r>
              <a:rPr lang="en-US" dirty="0"/>
              <a:t> </a:t>
            </a:r>
            <a:r>
              <a:rPr lang="en-US" dirty="0" err="1"/>
              <a:t>án</a:t>
            </a:r>
            <a:r>
              <a:rPr lang="en-US" dirty="0"/>
              <a:t> </a:t>
            </a:r>
            <a:r>
              <a:rPr lang="en-US" dirty="0" err="1"/>
              <a:t>tương</a:t>
            </a:r>
            <a:r>
              <a:rPr lang="en-US" dirty="0"/>
              <a:t> </a:t>
            </a:r>
            <a:r>
              <a:rPr lang="en-US" dirty="0" err="1"/>
              <a:t>tự</a:t>
            </a:r>
            <a:r>
              <a:rPr lang="en-US" dirty="0"/>
              <a:t> </a:t>
            </a:r>
            <a:r>
              <a:rPr lang="en-US" dirty="0" err="1"/>
              <a:t>để</a:t>
            </a:r>
            <a:r>
              <a:rPr lang="en-US" dirty="0"/>
              <a:t> </a:t>
            </a:r>
            <a:r>
              <a:rPr lang="en-US" dirty="0" err="1"/>
              <a:t>xác</a:t>
            </a:r>
            <a:r>
              <a:rPr lang="en-US" dirty="0"/>
              <a:t> </a:t>
            </a:r>
            <a:r>
              <a:rPr lang="en-US" dirty="0" err="1"/>
              <a:t>định</a:t>
            </a:r>
            <a:r>
              <a:rPr lang="en-US" dirty="0"/>
              <a:t> </a:t>
            </a:r>
            <a:r>
              <a:rPr lang="en-US" dirty="0" err="1"/>
              <a:t>rủi</a:t>
            </a:r>
            <a:r>
              <a:rPr lang="en-US" dirty="0"/>
              <a:t> </a:t>
            </a:r>
            <a:r>
              <a:rPr lang="en-US" dirty="0" err="1"/>
              <a:t>ro</a:t>
            </a:r>
            <a:r>
              <a:rPr lang="en-US" dirty="0"/>
              <a:t> </a:t>
            </a:r>
            <a:r>
              <a:rPr lang="en-US" dirty="0" err="1"/>
              <a:t>tiềm</a:t>
            </a:r>
            <a:r>
              <a:rPr lang="en-US" dirty="0"/>
              <a:t> </a:t>
            </a:r>
            <a:r>
              <a:rPr lang="en-US" dirty="0" err="1"/>
              <a:t>ẩn</a:t>
            </a:r>
            <a:r>
              <a:rPr 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arn(inVertical)">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9939">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idx="1"/>
          </p:nvPr>
        </p:nvSpPr>
        <p:spPr>
          <a:xfrm>
            <a:off x="304800" y="1600200"/>
            <a:ext cx="5562600" cy="1524000"/>
          </a:xfrm>
        </p:spPr>
        <p:txBody>
          <a:bodyPr/>
          <a:lstStyle/>
          <a:p>
            <a:pPr algn="just">
              <a:spcBef>
                <a:spcPct val="100000"/>
              </a:spcBef>
            </a:pPr>
            <a:r>
              <a:rPr lang="en-US" dirty="0" err="1">
                <a:effectLst>
                  <a:outerShdw blurRad="38100" dist="38100" dir="2700000" algn="tl">
                    <a:srgbClr val="000000">
                      <a:alpha val="43137"/>
                    </a:srgbClr>
                  </a:outerShdw>
                </a:effectLst>
              </a:rPr>
              <a:t>Kỹ</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thuật</a:t>
            </a:r>
            <a:r>
              <a:rPr lang="en-US" dirty="0">
                <a:effectLst>
                  <a:outerShdw blurRad="38100" dist="38100" dir="2700000" algn="tl">
                    <a:srgbClr val="000000">
                      <a:alpha val="43137"/>
                    </a:srgbClr>
                  </a:outerShdw>
                </a:effectLst>
              </a:rPr>
              <a:t> </a:t>
            </a:r>
            <a:r>
              <a:rPr lang="en-US" dirty="0">
                <a:solidFill>
                  <a:srgbClr val="0070C0"/>
                </a:solidFill>
                <a:effectLst>
                  <a:outerShdw blurRad="38100" dist="38100" dir="2700000" algn="tl">
                    <a:srgbClr val="000000">
                      <a:alpha val="43137"/>
                    </a:srgbClr>
                  </a:outerShdw>
                </a:effectLst>
              </a:rPr>
              <a:t>Delphi</a:t>
            </a:r>
            <a:r>
              <a:rPr lang="en-US" dirty="0"/>
              <a:t>: </a:t>
            </a:r>
            <a:r>
              <a:rPr lang="en-US" dirty="0" err="1"/>
              <a:t>tạo</a:t>
            </a:r>
            <a:r>
              <a:rPr lang="en-US" dirty="0"/>
              <a:t> </a:t>
            </a:r>
            <a:r>
              <a:rPr lang="en-US" dirty="0" err="1"/>
              <a:t>sự</a:t>
            </a:r>
            <a:r>
              <a:rPr lang="en-US" dirty="0"/>
              <a:t> </a:t>
            </a:r>
            <a:r>
              <a:rPr lang="en-US" dirty="0" err="1"/>
              <a:t>đồng</a:t>
            </a:r>
            <a:r>
              <a:rPr lang="en-US" dirty="0"/>
              <a:t> </a:t>
            </a:r>
            <a:r>
              <a:rPr lang="en-US" dirty="0" err="1"/>
              <a:t>thuận</a:t>
            </a:r>
            <a:r>
              <a:rPr lang="en-US" dirty="0"/>
              <a:t> </a:t>
            </a:r>
            <a:r>
              <a:rPr lang="en-US" dirty="0" err="1"/>
              <a:t>giữa</a:t>
            </a:r>
            <a:r>
              <a:rPr lang="en-US" dirty="0"/>
              <a:t> </a:t>
            </a:r>
            <a:r>
              <a:rPr lang="en-US" dirty="0" err="1"/>
              <a:t>nhóm</a:t>
            </a:r>
            <a:r>
              <a:rPr lang="en-US" dirty="0"/>
              <a:t> </a:t>
            </a:r>
            <a:r>
              <a:rPr lang="en-US" dirty="0" err="1"/>
              <a:t>chuyên</a:t>
            </a:r>
            <a:r>
              <a:rPr lang="en-US" dirty="0"/>
              <a:t> </a:t>
            </a:r>
            <a:r>
              <a:rPr lang="en-US" dirty="0" err="1"/>
              <a:t>gia</a:t>
            </a:r>
            <a:r>
              <a:rPr lang="en-US" dirty="0"/>
              <a:t> </a:t>
            </a:r>
            <a:r>
              <a:rPr lang="en-US" dirty="0" err="1"/>
              <a:t>để</a:t>
            </a:r>
            <a:r>
              <a:rPr lang="en-US" dirty="0"/>
              <a:t> </a:t>
            </a:r>
            <a:r>
              <a:rPr lang="en-US" dirty="0" err="1"/>
              <a:t>dự</a:t>
            </a:r>
            <a:r>
              <a:rPr lang="en-US" dirty="0"/>
              <a:t> </a:t>
            </a:r>
            <a:r>
              <a:rPr lang="en-US" dirty="0" err="1"/>
              <a:t>đoán</a:t>
            </a:r>
            <a:r>
              <a:rPr lang="en-US" dirty="0"/>
              <a:t> </a:t>
            </a:r>
            <a:r>
              <a:rPr lang="en-US" dirty="0" err="1"/>
              <a:t>sự</a:t>
            </a:r>
            <a:r>
              <a:rPr lang="en-US" dirty="0"/>
              <a:t> </a:t>
            </a:r>
            <a:r>
              <a:rPr lang="en-US" dirty="0" err="1"/>
              <a:t>phát</a:t>
            </a:r>
            <a:r>
              <a:rPr lang="en-US" dirty="0"/>
              <a:t> triển </a:t>
            </a:r>
            <a:r>
              <a:rPr lang="en-US" dirty="0" err="1"/>
              <a:t>tương</a:t>
            </a:r>
            <a:r>
              <a:rPr lang="en-US" dirty="0"/>
              <a:t> </a:t>
            </a:r>
            <a:r>
              <a:rPr lang="en-US" dirty="0" err="1"/>
              <a:t>lai</a:t>
            </a:r>
            <a:r>
              <a:rPr lang="en-US" dirty="0"/>
              <a:t>.</a:t>
            </a:r>
            <a:endParaRPr lang="en-US" b="1" dirty="0"/>
          </a:p>
        </p:txBody>
      </p:sp>
      <p:sp>
        <p:nvSpPr>
          <p:cNvPr id="38914" name="Rectangle 2"/>
          <p:cNvSpPr>
            <a:spLocks noGrp="1" noChangeArrowheads="1"/>
          </p:cNvSpPr>
          <p:nvPr>
            <p:ph type="title"/>
          </p:nvPr>
        </p:nvSpPr>
        <p:spPr/>
        <p:txBody>
          <a:bodyPr>
            <a:normAutofit/>
          </a:bodyPr>
          <a:lstStyle/>
          <a:p>
            <a:pPr algn="ctr"/>
            <a:r>
              <a:rPr lang="en-US" sz="4000" dirty="0" err="1"/>
              <a:t>Kỹ</a:t>
            </a:r>
            <a:r>
              <a:rPr lang="en-US" sz="4000" dirty="0"/>
              <a:t> </a:t>
            </a:r>
            <a:r>
              <a:rPr lang="en-US" sz="4000" dirty="0" err="1"/>
              <a:t>thuật</a:t>
            </a:r>
            <a:r>
              <a:rPr lang="en-US" sz="4000" dirty="0"/>
              <a:t> Delphi</a:t>
            </a:r>
          </a:p>
        </p:txBody>
      </p:sp>
      <p:sp>
        <p:nvSpPr>
          <p:cNvPr id="38917"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B67E35EF-C2EF-4EF0-BA88-2A154ACA3F78}" type="slidenum">
              <a:rPr lang="en-US" smtClean="0"/>
              <a:pPr>
                <a:defRPr/>
              </a:pPr>
              <a:t>35</a:t>
            </a:fld>
            <a:endParaRPr lang="en-US" dirty="0"/>
          </a:p>
        </p:txBody>
      </p:sp>
      <p:pic>
        <p:nvPicPr>
          <p:cNvPr id="2" name="Picture 1"/>
          <p:cNvPicPr>
            <a:picLocks noChangeAspect="1"/>
          </p:cNvPicPr>
          <p:nvPr/>
        </p:nvPicPr>
        <p:blipFill>
          <a:blip r:embed="rId2"/>
          <a:stretch>
            <a:fillRect/>
          </a:stretch>
        </p:blipFill>
        <p:spPr>
          <a:xfrm>
            <a:off x="6096000" y="1371600"/>
            <a:ext cx="2590800" cy="1620577"/>
          </a:xfrm>
          <a:prstGeom prst="rect">
            <a:avLst/>
          </a:prstGeom>
        </p:spPr>
      </p:pic>
      <p:sp>
        <p:nvSpPr>
          <p:cNvPr id="7" name="Rectangle 3"/>
          <p:cNvSpPr txBox="1">
            <a:spLocks noChangeArrowheads="1"/>
          </p:cNvSpPr>
          <p:nvPr/>
        </p:nvSpPr>
        <p:spPr bwMode="auto">
          <a:xfrm>
            <a:off x="304800" y="3200400"/>
            <a:ext cx="8153400" cy="2362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lgn="just">
              <a:spcBef>
                <a:spcPct val="100000"/>
              </a:spcBef>
            </a:pPr>
            <a:r>
              <a:rPr lang="en-US" dirty="0" err="1"/>
              <a:t>Cung</a:t>
            </a:r>
            <a:r>
              <a:rPr lang="en-US" dirty="0"/>
              <a:t> </a:t>
            </a:r>
            <a:r>
              <a:rPr lang="en-US" dirty="0" err="1"/>
              <a:t>cấp</a:t>
            </a:r>
            <a:r>
              <a:rPr lang="en-US" dirty="0"/>
              <a:t> </a:t>
            </a:r>
            <a:r>
              <a:rPr lang="en-US" dirty="0" err="1"/>
              <a:t>đầu</a:t>
            </a:r>
            <a:r>
              <a:rPr lang="en-US" dirty="0"/>
              <a:t> </a:t>
            </a:r>
            <a:r>
              <a:rPr lang="en-US" dirty="0" err="1"/>
              <a:t>vào</a:t>
            </a:r>
            <a:r>
              <a:rPr lang="en-US" dirty="0"/>
              <a:t> </a:t>
            </a:r>
            <a:r>
              <a:rPr lang="en-US" dirty="0" err="1"/>
              <a:t>độc</a:t>
            </a:r>
            <a:r>
              <a:rPr lang="en-US" dirty="0"/>
              <a:t> </a:t>
            </a:r>
            <a:r>
              <a:rPr lang="en-US" dirty="0" err="1"/>
              <a:t>lập</a:t>
            </a:r>
            <a:r>
              <a:rPr lang="en-US" dirty="0"/>
              <a:t> </a:t>
            </a:r>
            <a:r>
              <a:rPr lang="en-US" dirty="0" err="1"/>
              <a:t>liên</a:t>
            </a:r>
            <a:r>
              <a:rPr lang="en-US" dirty="0"/>
              <a:t> </a:t>
            </a:r>
            <a:r>
              <a:rPr lang="en-US" dirty="0" err="1"/>
              <a:t>quan</a:t>
            </a:r>
            <a:r>
              <a:rPr lang="en-US" dirty="0"/>
              <a:t> </a:t>
            </a:r>
            <a:r>
              <a:rPr lang="en-US" dirty="0" err="1"/>
              <a:t>đến</a:t>
            </a:r>
            <a:r>
              <a:rPr lang="en-US" dirty="0"/>
              <a:t> </a:t>
            </a:r>
            <a:r>
              <a:rPr lang="en-US" err="1"/>
              <a:t>các</a:t>
            </a:r>
            <a:r>
              <a:rPr lang="en-US"/>
              <a:t> sự kiện </a:t>
            </a:r>
            <a:r>
              <a:rPr lang="en-US" dirty="0" err="1"/>
              <a:t>tương</a:t>
            </a:r>
            <a:r>
              <a:rPr lang="en-US" dirty="0"/>
              <a:t> </a:t>
            </a:r>
            <a:r>
              <a:rPr lang="en-US" dirty="0" err="1"/>
              <a:t>lai</a:t>
            </a:r>
            <a:r>
              <a:rPr lang="en-US" dirty="0"/>
              <a:t>.</a:t>
            </a:r>
          </a:p>
          <a:p>
            <a:pPr algn="just">
              <a:spcBef>
                <a:spcPts val="2400"/>
              </a:spcBef>
            </a:pPr>
            <a:r>
              <a:rPr lang="en-US" dirty="0" err="1"/>
              <a:t>Sử</a:t>
            </a:r>
            <a:r>
              <a:rPr lang="en-US" dirty="0"/>
              <a:t> </a:t>
            </a:r>
            <a:r>
              <a:rPr lang="en-US" dirty="0" err="1"/>
              <a:t>dụng</a:t>
            </a:r>
            <a:r>
              <a:rPr lang="en-US" dirty="0"/>
              <a:t> </a:t>
            </a:r>
            <a:r>
              <a:rPr lang="en-US" dirty="0" err="1"/>
              <a:t>các</a:t>
            </a:r>
            <a:r>
              <a:rPr lang="en-US" dirty="0"/>
              <a:t> </a:t>
            </a:r>
            <a:r>
              <a:rPr lang="en-US" dirty="0" err="1"/>
              <a:t>câu</a:t>
            </a:r>
            <a:r>
              <a:rPr lang="en-US" dirty="0"/>
              <a:t> </a:t>
            </a:r>
            <a:r>
              <a:rPr lang="en-US" dirty="0" err="1"/>
              <a:t>hỏi</a:t>
            </a:r>
            <a:r>
              <a:rPr lang="en-US" dirty="0"/>
              <a:t> </a:t>
            </a:r>
            <a:r>
              <a:rPr lang="en-US" dirty="0" err="1"/>
              <a:t>lập</a:t>
            </a:r>
            <a:r>
              <a:rPr lang="en-US" dirty="0"/>
              <a:t> </a:t>
            </a:r>
            <a:r>
              <a:rPr lang="en-US" dirty="0" err="1"/>
              <a:t>lại</a:t>
            </a:r>
            <a:r>
              <a:rPr lang="en-US" dirty="0"/>
              <a:t> và </a:t>
            </a:r>
            <a:r>
              <a:rPr lang="en-US" dirty="0" err="1"/>
              <a:t>ghi</a:t>
            </a:r>
            <a:r>
              <a:rPr lang="en-US" dirty="0"/>
              <a:t> </a:t>
            </a:r>
            <a:r>
              <a:rPr lang="en-US" dirty="0" err="1"/>
              <a:t>phản</a:t>
            </a:r>
            <a:r>
              <a:rPr lang="en-US" dirty="0"/>
              <a:t> </a:t>
            </a:r>
            <a:r>
              <a:rPr lang="en-US" dirty="0" err="1"/>
              <a:t>hồi</a:t>
            </a:r>
            <a:r>
              <a:rPr lang="en-US" dirty="0"/>
              <a:t>, </a:t>
            </a:r>
            <a:r>
              <a:rPr lang="en-US" dirty="0" err="1"/>
              <a:t>tránh</a:t>
            </a:r>
            <a:r>
              <a:rPr lang="en-US" dirty="0"/>
              <a:t> </a:t>
            </a:r>
            <a:r>
              <a:rPr lang="en-US" dirty="0" err="1"/>
              <a:t>ảnh</a:t>
            </a:r>
            <a:r>
              <a:rPr lang="en-US" dirty="0"/>
              <a:t> </a:t>
            </a:r>
            <a:r>
              <a:rPr lang="en-US" dirty="0" err="1"/>
              <a:t>hưởng</a:t>
            </a:r>
            <a:r>
              <a:rPr lang="en-US" dirty="0"/>
              <a:t> </a:t>
            </a:r>
            <a:r>
              <a:rPr lang="en-US" dirty="0" err="1"/>
              <a:t>của</a:t>
            </a:r>
            <a:r>
              <a:rPr lang="en-US" dirty="0"/>
              <a:t> </a:t>
            </a:r>
            <a:r>
              <a:rPr lang="en-US" dirty="0" err="1"/>
              <a:t>sai</a:t>
            </a:r>
            <a:r>
              <a:rPr lang="en-US" dirty="0"/>
              <a:t> </a:t>
            </a:r>
            <a:r>
              <a:rPr lang="en-US" dirty="0" err="1"/>
              <a:t>lệch</a:t>
            </a:r>
            <a:r>
              <a:rPr lang="en-US" dirty="0"/>
              <a:t> </a:t>
            </a:r>
            <a:r>
              <a:rPr lang="en-US" dirty="0" err="1"/>
              <a:t>trong</a:t>
            </a:r>
            <a:r>
              <a:rPr lang="en-US" dirty="0"/>
              <a:t> </a:t>
            </a:r>
            <a:r>
              <a:rPr lang="en-US" dirty="0" err="1"/>
              <a:t>cách</a:t>
            </a:r>
            <a:r>
              <a:rPr lang="en-US" dirty="0"/>
              <a:t> </a:t>
            </a:r>
            <a:r>
              <a:rPr lang="en-US" dirty="0" err="1"/>
              <a:t>nói</a:t>
            </a:r>
            <a:r>
              <a:rPr lang="en-US" dirty="0"/>
              <a:t>.</a:t>
            </a:r>
          </a:p>
          <a:p>
            <a:pPr algn="just">
              <a:spcBef>
                <a:spcPct val="100000"/>
              </a:spcBef>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1"/>
          </p:nvPr>
        </p:nvSpPr>
        <p:spPr>
          <a:xfrm>
            <a:off x="533400" y="1828800"/>
            <a:ext cx="3276600" cy="3733800"/>
          </a:xfrm>
        </p:spPr>
        <p:txBody>
          <a:bodyPr/>
          <a:lstStyle/>
          <a:p>
            <a:pPr algn="just">
              <a:spcBef>
                <a:spcPct val="100000"/>
              </a:spcBef>
            </a:pPr>
            <a:r>
              <a:rPr lang="en-US" dirty="0">
                <a:solidFill>
                  <a:srgbClr val="0070C0"/>
                </a:solidFill>
                <a:effectLst>
                  <a:outerShdw blurRad="38100" dist="38100" dir="2700000" algn="tl">
                    <a:srgbClr val="000000">
                      <a:alpha val="43137"/>
                    </a:srgbClr>
                  </a:outerShdw>
                </a:effectLst>
              </a:rPr>
              <a:t>SWOT</a:t>
            </a:r>
            <a:r>
              <a:rPr lang="en-US" dirty="0"/>
              <a:t>…</a:t>
            </a:r>
            <a:r>
              <a:rPr lang="en-US" dirty="0">
                <a:solidFill>
                  <a:srgbClr val="0070C0"/>
                </a:solidFill>
                <a:effectLst>
                  <a:outerShdw blurRad="38100" dist="38100" dir="2700000" algn="tl">
                    <a:srgbClr val="000000">
                      <a:alpha val="43137"/>
                    </a:srgbClr>
                  </a:outerShdw>
                </a:effectLst>
              </a:rPr>
              <a:t> </a:t>
            </a:r>
          </a:p>
          <a:p>
            <a:pPr algn="just">
              <a:spcBef>
                <a:spcPct val="100000"/>
              </a:spcBef>
            </a:pPr>
            <a:r>
              <a:rPr lang="en-US" dirty="0" err="1"/>
              <a:t>Giúp</a:t>
            </a:r>
            <a:r>
              <a:rPr lang="en-US" dirty="0"/>
              <a:t> </a:t>
            </a:r>
            <a:r>
              <a:rPr lang="en-US" dirty="0" err="1"/>
              <a:t>xác</a:t>
            </a:r>
            <a:r>
              <a:rPr lang="en-US" dirty="0"/>
              <a:t> </a:t>
            </a:r>
            <a:r>
              <a:rPr lang="en-US" dirty="0" err="1"/>
              <a:t>định</a:t>
            </a:r>
            <a:r>
              <a:rPr lang="en-US" dirty="0"/>
              <a:t> </a:t>
            </a:r>
            <a:r>
              <a:rPr lang="en-US" dirty="0" err="1"/>
              <a:t>rủi</a:t>
            </a:r>
            <a:r>
              <a:rPr lang="en-US" dirty="0"/>
              <a:t> </a:t>
            </a:r>
            <a:r>
              <a:rPr lang="en-US" dirty="0" err="1"/>
              <a:t>ro</a:t>
            </a:r>
            <a:r>
              <a:rPr lang="en-US" dirty="0"/>
              <a:t> </a:t>
            </a:r>
            <a:r>
              <a:rPr lang="en-US" dirty="0" err="1"/>
              <a:t>tích</a:t>
            </a:r>
            <a:r>
              <a:rPr lang="en-US" dirty="0"/>
              <a:t> </a:t>
            </a:r>
            <a:r>
              <a:rPr lang="en-US" dirty="0" err="1"/>
              <a:t>cực</a:t>
            </a:r>
            <a:r>
              <a:rPr lang="en-US" dirty="0"/>
              <a:t> và </a:t>
            </a:r>
            <a:r>
              <a:rPr lang="en-US" dirty="0" err="1"/>
              <a:t>tiêu</a:t>
            </a:r>
            <a:r>
              <a:rPr lang="en-US" dirty="0"/>
              <a:t> </a:t>
            </a:r>
            <a:r>
              <a:rPr lang="en-US" dirty="0" err="1"/>
              <a:t>cực</a:t>
            </a:r>
            <a:r>
              <a:rPr lang="en-US" dirty="0"/>
              <a:t> </a:t>
            </a:r>
            <a:r>
              <a:rPr lang="en-US" dirty="0" err="1"/>
              <a:t>để</a:t>
            </a:r>
            <a:r>
              <a:rPr lang="en-US" dirty="0"/>
              <a:t> </a:t>
            </a:r>
            <a:r>
              <a:rPr lang="en-US" dirty="0" err="1"/>
              <a:t>áp</a:t>
            </a:r>
            <a:r>
              <a:rPr lang="en-US" dirty="0"/>
              <a:t> </a:t>
            </a:r>
            <a:r>
              <a:rPr lang="en-US" dirty="0" err="1"/>
              <a:t>dụng</a:t>
            </a:r>
            <a:r>
              <a:rPr lang="en-US" dirty="0"/>
              <a:t> </a:t>
            </a:r>
            <a:r>
              <a:rPr lang="en-US" dirty="0" err="1"/>
              <a:t>vào</a:t>
            </a:r>
            <a:r>
              <a:rPr lang="en-US" dirty="0"/>
              <a:t> </a:t>
            </a:r>
            <a:r>
              <a:rPr lang="en-US" dirty="0" err="1"/>
              <a:t>dự</a:t>
            </a:r>
            <a:r>
              <a:rPr lang="en-US" dirty="0"/>
              <a:t> </a:t>
            </a:r>
            <a:r>
              <a:rPr lang="en-US" dirty="0" err="1"/>
              <a:t>án</a:t>
            </a:r>
            <a:r>
              <a:rPr lang="en-US" dirty="0"/>
              <a:t>.</a:t>
            </a:r>
          </a:p>
        </p:txBody>
      </p:sp>
      <p:sp>
        <p:nvSpPr>
          <p:cNvPr id="40962" name="Rectangle 2"/>
          <p:cNvSpPr>
            <a:spLocks noGrp="1" noChangeArrowheads="1"/>
          </p:cNvSpPr>
          <p:nvPr>
            <p:ph type="title"/>
          </p:nvPr>
        </p:nvSpPr>
        <p:spPr/>
        <p:txBody>
          <a:bodyPr>
            <a:normAutofit/>
          </a:bodyPr>
          <a:lstStyle/>
          <a:p>
            <a:pPr algn="ctr"/>
            <a:r>
              <a:rPr lang="en-US" sz="4000" dirty="0" err="1"/>
              <a:t>Phân</a:t>
            </a:r>
            <a:r>
              <a:rPr lang="en-US" sz="4000" dirty="0"/>
              <a:t> </a:t>
            </a:r>
            <a:r>
              <a:rPr lang="en-US" sz="4000" dirty="0" err="1"/>
              <a:t>tích</a:t>
            </a:r>
            <a:r>
              <a:rPr lang="en-US" sz="4000" dirty="0"/>
              <a:t> SWOT</a:t>
            </a:r>
          </a:p>
        </p:txBody>
      </p:sp>
      <p:sp>
        <p:nvSpPr>
          <p:cNvPr id="40965"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027F6CBC-DFF7-4D05-AA3C-642E2AF79AA2}" type="slidenum">
              <a:rPr lang="en-US" smtClean="0"/>
              <a:pPr>
                <a:defRPr/>
              </a:pPr>
              <a:t>36</a:t>
            </a:fld>
            <a:endParaRPr lang="en-US" dirty="0"/>
          </a:p>
        </p:txBody>
      </p:sp>
      <p:pic>
        <p:nvPicPr>
          <p:cNvPr id="2" name="Picture 1"/>
          <p:cNvPicPr>
            <a:picLocks noChangeAspect="1"/>
          </p:cNvPicPr>
          <p:nvPr/>
        </p:nvPicPr>
        <p:blipFill>
          <a:blip r:embed="rId3"/>
          <a:stretch>
            <a:fillRect/>
          </a:stretch>
        </p:blipFill>
        <p:spPr>
          <a:xfrm>
            <a:off x="4343400" y="1676400"/>
            <a:ext cx="4038600" cy="38946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09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a:xfrm>
            <a:off x="457200" y="1447800"/>
            <a:ext cx="8153400" cy="3505200"/>
          </a:xfrm>
        </p:spPr>
        <p:txBody>
          <a:bodyPr/>
          <a:lstStyle/>
          <a:p>
            <a:pPr algn="just"/>
            <a:r>
              <a:rPr lang="en-US" dirty="0" err="1">
                <a:effectLst>
                  <a:outerShdw blurRad="38100" dist="38100" dir="2700000" algn="tl">
                    <a:srgbClr val="000000">
                      <a:alpha val="43137"/>
                    </a:srgbClr>
                  </a:outerShdw>
                </a:effectLst>
              </a:rPr>
              <a:t>Bảng</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ghi</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rủi</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ro</a:t>
            </a:r>
            <a:r>
              <a:rPr lang="en-US" dirty="0"/>
              <a:t> (</a:t>
            </a:r>
            <a:r>
              <a:rPr lang="en-US" dirty="0">
                <a:solidFill>
                  <a:srgbClr val="0070C0"/>
                </a:solidFill>
              </a:rPr>
              <a:t>risk register</a:t>
            </a:r>
            <a:r>
              <a:rPr lang="en-US" dirty="0"/>
              <a:t>): </a:t>
            </a:r>
            <a:r>
              <a:rPr lang="en-US" dirty="0" err="1"/>
              <a:t>tài</a:t>
            </a:r>
            <a:r>
              <a:rPr lang="en-US" dirty="0"/>
              <a:t> </a:t>
            </a:r>
            <a:r>
              <a:rPr lang="en-US" dirty="0" err="1"/>
              <a:t>liệu</a:t>
            </a:r>
            <a:r>
              <a:rPr lang="en-US" dirty="0"/>
              <a:t> </a:t>
            </a:r>
            <a:r>
              <a:rPr lang="en-US" dirty="0" err="1"/>
              <a:t>chứa</a:t>
            </a:r>
            <a:r>
              <a:rPr lang="en-US" dirty="0"/>
              <a:t> </a:t>
            </a:r>
            <a:r>
              <a:rPr lang="en-US" dirty="0" err="1"/>
              <a:t>kết</a:t>
            </a:r>
            <a:r>
              <a:rPr lang="en-US" dirty="0"/>
              <a:t> </a:t>
            </a:r>
            <a:r>
              <a:rPr lang="en-US" dirty="0" err="1"/>
              <a:t>quả</a:t>
            </a:r>
            <a:r>
              <a:rPr lang="en-US" dirty="0"/>
              <a:t> </a:t>
            </a:r>
            <a:r>
              <a:rPr lang="en-US" dirty="0" err="1"/>
              <a:t>những</a:t>
            </a:r>
            <a:r>
              <a:rPr lang="en-US" dirty="0"/>
              <a:t> </a:t>
            </a:r>
            <a:r>
              <a:rPr lang="en-US" dirty="0" err="1"/>
              <a:t>quá</a:t>
            </a:r>
            <a:r>
              <a:rPr lang="en-US" dirty="0"/>
              <a:t> </a:t>
            </a:r>
            <a:r>
              <a:rPr lang="en-US" dirty="0" err="1"/>
              <a:t>trình</a:t>
            </a:r>
            <a:r>
              <a:rPr lang="en-US" dirty="0"/>
              <a:t> quản lý </a:t>
            </a:r>
            <a:r>
              <a:rPr lang="en-US" dirty="0" err="1"/>
              <a:t>rủi</a:t>
            </a:r>
            <a:r>
              <a:rPr lang="en-US" dirty="0"/>
              <a:t> </a:t>
            </a:r>
            <a:r>
              <a:rPr lang="en-US" dirty="0" err="1"/>
              <a:t>ro</a:t>
            </a:r>
            <a:r>
              <a:rPr lang="en-US" dirty="0"/>
              <a:t> </a:t>
            </a:r>
            <a:r>
              <a:rPr lang="en-US" dirty="0" err="1"/>
              <a:t>khác</a:t>
            </a:r>
            <a:r>
              <a:rPr lang="en-US" dirty="0"/>
              <a:t> </a:t>
            </a:r>
            <a:r>
              <a:rPr lang="en-US" dirty="0" err="1"/>
              <a:t>nhau</a:t>
            </a:r>
            <a:r>
              <a:rPr lang="en-US" dirty="0"/>
              <a:t> - </a:t>
            </a:r>
            <a:r>
              <a:rPr lang="en-US" dirty="0" err="1"/>
              <a:t>dạng</a:t>
            </a:r>
            <a:r>
              <a:rPr lang="en-US" dirty="0"/>
              <a:t> </a:t>
            </a:r>
            <a:r>
              <a:rPr lang="en-US" dirty="0" err="1"/>
              <a:t>bảng</a:t>
            </a:r>
            <a:r>
              <a:rPr lang="en-US" dirty="0"/>
              <a:t> </a:t>
            </a:r>
            <a:r>
              <a:rPr lang="en-US" dirty="0" err="1"/>
              <a:t>hoặc</a:t>
            </a:r>
            <a:r>
              <a:rPr lang="en-US" dirty="0"/>
              <a:t> </a:t>
            </a:r>
            <a:r>
              <a:rPr lang="en-US" dirty="0" err="1"/>
              <a:t>bảng</a:t>
            </a:r>
            <a:r>
              <a:rPr lang="en-US" dirty="0"/>
              <a:t> </a:t>
            </a:r>
            <a:r>
              <a:rPr lang="en-US" dirty="0" err="1"/>
              <a:t>tính</a:t>
            </a:r>
            <a:r>
              <a:rPr lang="en-US" dirty="0"/>
              <a:t>. </a:t>
            </a:r>
          </a:p>
          <a:p>
            <a:pPr lvl="1" algn="just">
              <a:buFont typeface="Arial" panose="020B0604020202020204" pitchFamily="34" charset="0"/>
              <a:buChar char="•"/>
            </a:pPr>
            <a:r>
              <a:rPr lang="en-US" sz="2400" dirty="0" err="1"/>
              <a:t>Tài</a:t>
            </a:r>
            <a:r>
              <a:rPr lang="en-US" sz="2400" dirty="0"/>
              <a:t> </a:t>
            </a:r>
            <a:r>
              <a:rPr lang="en-US" sz="2400" dirty="0" err="1"/>
              <a:t>liệu</a:t>
            </a:r>
            <a:r>
              <a:rPr lang="en-US" sz="2400" dirty="0"/>
              <a:t> </a:t>
            </a:r>
            <a:r>
              <a:rPr lang="en-US" sz="2400" err="1"/>
              <a:t>các</a:t>
            </a:r>
            <a:r>
              <a:rPr lang="en-US" sz="2400"/>
              <a:t> sự kiện </a:t>
            </a:r>
            <a:r>
              <a:rPr lang="en-US" sz="2400" dirty="0" err="1"/>
              <a:t>rủi</a:t>
            </a:r>
            <a:r>
              <a:rPr lang="en-US" sz="2400" dirty="0"/>
              <a:t> </a:t>
            </a:r>
            <a:r>
              <a:rPr lang="en-US" sz="2400" dirty="0" err="1"/>
              <a:t>ro</a:t>
            </a:r>
            <a:r>
              <a:rPr lang="en-US" sz="2400" dirty="0"/>
              <a:t> </a:t>
            </a:r>
            <a:r>
              <a:rPr lang="en-US" sz="2400" dirty="0" err="1"/>
              <a:t>tiềm</a:t>
            </a:r>
            <a:r>
              <a:rPr lang="en-US" sz="2400" dirty="0"/>
              <a:t> </a:t>
            </a:r>
            <a:r>
              <a:rPr lang="en-US" sz="2400" dirty="0" err="1"/>
              <a:t>ẩn</a:t>
            </a:r>
            <a:r>
              <a:rPr lang="en-US" sz="2400" dirty="0"/>
              <a:t> và thông tin.</a:t>
            </a:r>
          </a:p>
          <a:p>
            <a:pPr algn="just">
              <a:spcBef>
                <a:spcPts val="2400"/>
              </a:spcBef>
            </a:pPr>
            <a:r>
              <a:rPr lang="en-US">
                <a:effectLst>
                  <a:outerShdw blurRad="38100" dist="38100" dir="2700000" algn="tl">
                    <a:srgbClr val="000000">
                      <a:alpha val="43137"/>
                    </a:srgbClr>
                  </a:outerShdw>
                </a:effectLst>
              </a:rPr>
              <a:t>sự kiện </a:t>
            </a:r>
            <a:r>
              <a:rPr lang="en-US" dirty="0" err="1">
                <a:effectLst>
                  <a:outerShdw blurRad="38100" dist="38100" dir="2700000" algn="tl">
                    <a:srgbClr val="000000">
                      <a:alpha val="43137"/>
                    </a:srgbClr>
                  </a:outerShdw>
                </a:effectLst>
              </a:rPr>
              <a:t>rủi</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ro</a:t>
            </a:r>
            <a:r>
              <a:rPr lang="en-US" dirty="0"/>
              <a:t> (</a:t>
            </a:r>
            <a:r>
              <a:rPr lang="en-US" dirty="0">
                <a:solidFill>
                  <a:srgbClr val="0070C0"/>
                </a:solidFill>
              </a:rPr>
              <a:t>risk event</a:t>
            </a:r>
            <a:r>
              <a:rPr lang="en-US" dirty="0"/>
              <a:t>): </a:t>
            </a:r>
            <a:r>
              <a:rPr lang="en-US" dirty="0" err="1"/>
              <a:t>sự</a:t>
            </a:r>
            <a:r>
              <a:rPr lang="en-US" dirty="0"/>
              <a:t> </a:t>
            </a:r>
            <a:r>
              <a:rPr lang="en-US" dirty="0" err="1"/>
              <a:t>kiện</a:t>
            </a:r>
            <a:r>
              <a:rPr lang="en-US" dirty="0"/>
              <a:t> </a:t>
            </a:r>
            <a:r>
              <a:rPr lang="en-US" dirty="0" err="1"/>
              <a:t>không</a:t>
            </a:r>
            <a:r>
              <a:rPr lang="en-US" dirty="0"/>
              <a:t> </a:t>
            </a:r>
            <a:r>
              <a:rPr lang="en-US" dirty="0" err="1"/>
              <a:t>chắc</a:t>
            </a:r>
            <a:r>
              <a:rPr lang="en-US" dirty="0"/>
              <a:t> </a:t>
            </a:r>
            <a:r>
              <a:rPr lang="en-US" dirty="0" err="1"/>
              <a:t>chắn</a:t>
            </a:r>
            <a:r>
              <a:rPr lang="en-US" dirty="0"/>
              <a:t> </a:t>
            </a:r>
            <a:r>
              <a:rPr lang="en-US" dirty="0" err="1"/>
              <a:t>gây</a:t>
            </a:r>
            <a:r>
              <a:rPr lang="en-US" dirty="0"/>
              <a:t> </a:t>
            </a:r>
            <a:r>
              <a:rPr lang="en-US" dirty="0" err="1"/>
              <a:t>thiệt</a:t>
            </a:r>
            <a:r>
              <a:rPr lang="en-US" dirty="0"/>
              <a:t> </a:t>
            </a:r>
            <a:r>
              <a:rPr lang="en-US" dirty="0" err="1"/>
              <a:t>hại</a:t>
            </a:r>
            <a:r>
              <a:rPr lang="en-US" dirty="0"/>
              <a:t> </a:t>
            </a:r>
            <a:r>
              <a:rPr lang="en-US" dirty="0" err="1"/>
              <a:t>hoặc</a:t>
            </a:r>
            <a:r>
              <a:rPr lang="en-US" dirty="0"/>
              <a:t> </a:t>
            </a:r>
            <a:r>
              <a:rPr lang="en-US" dirty="0" err="1"/>
              <a:t>ảnh</a:t>
            </a:r>
            <a:r>
              <a:rPr lang="en-US" dirty="0"/>
              <a:t> </a:t>
            </a:r>
            <a:r>
              <a:rPr lang="en-US" dirty="0" err="1"/>
              <a:t>hưởng</a:t>
            </a:r>
            <a:r>
              <a:rPr lang="en-US" dirty="0"/>
              <a:t> </a:t>
            </a:r>
            <a:r>
              <a:rPr lang="en-US" dirty="0" err="1"/>
              <a:t>đến</a:t>
            </a:r>
            <a:r>
              <a:rPr lang="en-US" dirty="0"/>
              <a:t> </a:t>
            </a:r>
            <a:r>
              <a:rPr lang="en-US" dirty="0" err="1"/>
              <a:t>dự</a:t>
            </a:r>
            <a:r>
              <a:rPr lang="en-US" dirty="0"/>
              <a:t> </a:t>
            </a:r>
            <a:r>
              <a:rPr lang="en-US" dirty="0" err="1"/>
              <a:t>án</a:t>
            </a:r>
            <a:r>
              <a:rPr lang="en-US" dirty="0"/>
              <a:t>. </a:t>
            </a:r>
          </a:p>
        </p:txBody>
      </p:sp>
      <p:sp>
        <p:nvSpPr>
          <p:cNvPr id="41986" name="Rectangle 2"/>
          <p:cNvSpPr>
            <a:spLocks noGrp="1" noChangeArrowheads="1"/>
          </p:cNvSpPr>
          <p:nvPr>
            <p:ph type="title"/>
          </p:nvPr>
        </p:nvSpPr>
        <p:spPr>
          <a:xfrm>
            <a:off x="457200" y="152400"/>
            <a:ext cx="8229600" cy="1143000"/>
          </a:xfrm>
        </p:spPr>
        <p:txBody>
          <a:bodyPr>
            <a:normAutofit/>
          </a:bodyPr>
          <a:lstStyle/>
          <a:p>
            <a:pPr algn="ctr"/>
            <a:r>
              <a:rPr lang="en-US" sz="4400" dirty="0" err="1">
                <a:solidFill>
                  <a:srgbClr val="0070C0"/>
                </a:solidFill>
              </a:rPr>
              <a:t>Bảng</a:t>
            </a:r>
            <a:r>
              <a:rPr lang="en-US" sz="4400" dirty="0">
                <a:solidFill>
                  <a:srgbClr val="0070C0"/>
                </a:solidFill>
              </a:rPr>
              <a:t> </a:t>
            </a:r>
            <a:r>
              <a:rPr lang="en-US" sz="4400" dirty="0" err="1">
                <a:solidFill>
                  <a:srgbClr val="0070C0"/>
                </a:solidFill>
              </a:rPr>
              <a:t>ghi</a:t>
            </a:r>
            <a:r>
              <a:rPr lang="en-US" sz="4400" dirty="0">
                <a:solidFill>
                  <a:srgbClr val="0070C0"/>
                </a:solidFill>
              </a:rPr>
              <a:t> </a:t>
            </a:r>
            <a:r>
              <a:rPr lang="en-US" sz="4400" dirty="0" err="1">
                <a:solidFill>
                  <a:srgbClr val="0070C0"/>
                </a:solidFill>
              </a:rPr>
              <a:t>rủi</a:t>
            </a:r>
            <a:r>
              <a:rPr lang="en-US" sz="4400" dirty="0">
                <a:solidFill>
                  <a:srgbClr val="0070C0"/>
                </a:solidFill>
              </a:rPr>
              <a:t> </a:t>
            </a:r>
            <a:r>
              <a:rPr lang="en-US" sz="4400" dirty="0" err="1">
                <a:solidFill>
                  <a:srgbClr val="0070C0"/>
                </a:solidFill>
              </a:rPr>
              <a:t>ro</a:t>
            </a:r>
            <a:endParaRPr lang="en-US" sz="4400" dirty="0">
              <a:solidFill>
                <a:srgbClr val="0070C0"/>
              </a:solidFill>
            </a:endParaRPr>
          </a:p>
        </p:txBody>
      </p:sp>
      <p:sp>
        <p:nvSpPr>
          <p:cNvPr id="41989"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E8A48635-0E67-4D9F-9B26-786207B35030}" type="slidenum">
              <a:rPr lang="en-US" smtClean="0"/>
              <a:pPr>
                <a:defRPr/>
              </a:pPr>
              <a:t>37</a:t>
            </a:fld>
            <a:endParaRPr lang="en-US" dirty="0"/>
          </a:p>
        </p:txBody>
      </p:sp>
      <p:pic>
        <p:nvPicPr>
          <p:cNvPr id="3" name="Picture 2"/>
          <p:cNvPicPr>
            <a:picLocks noChangeAspect="1"/>
          </p:cNvPicPr>
          <p:nvPr/>
        </p:nvPicPr>
        <p:blipFill>
          <a:blip r:embed="rId2"/>
          <a:stretch>
            <a:fillRect/>
          </a:stretch>
        </p:blipFill>
        <p:spPr>
          <a:xfrm>
            <a:off x="676275" y="4800600"/>
            <a:ext cx="7934325" cy="1066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a:xfrm>
            <a:off x="609600" y="1265238"/>
            <a:ext cx="8229600" cy="4525962"/>
          </a:xfrm>
        </p:spPr>
        <p:txBody>
          <a:bodyPr/>
          <a:lstStyle/>
          <a:p>
            <a:pPr>
              <a:spcBef>
                <a:spcPts val="600"/>
              </a:spcBef>
              <a:spcAft>
                <a:spcPts val="0"/>
              </a:spcAft>
            </a:pPr>
            <a:r>
              <a:rPr lang="en-US" sz="2400" dirty="0"/>
              <a:t>Thông tin </a:t>
            </a:r>
            <a:r>
              <a:rPr lang="en-US" sz="2400" dirty="0" err="1"/>
              <a:t>dự</a:t>
            </a:r>
            <a:r>
              <a:rPr lang="en-US" sz="2400" dirty="0"/>
              <a:t> </a:t>
            </a:r>
            <a:r>
              <a:rPr lang="en-US" sz="2400" dirty="0" err="1"/>
              <a:t>án</a:t>
            </a:r>
            <a:r>
              <a:rPr lang="en-US" sz="2400" dirty="0"/>
              <a:t>…</a:t>
            </a:r>
          </a:p>
          <a:p>
            <a:pPr>
              <a:spcBef>
                <a:spcPts val="600"/>
              </a:spcBef>
              <a:spcAft>
                <a:spcPts val="0"/>
              </a:spcAft>
            </a:pPr>
            <a:r>
              <a:rPr lang="en-US" sz="2400" dirty="0" err="1"/>
              <a:t>Thứ</a:t>
            </a:r>
            <a:r>
              <a:rPr lang="en-US" sz="2400" dirty="0"/>
              <a:t> </a:t>
            </a:r>
            <a:r>
              <a:rPr lang="en-US" sz="2400" dirty="0" err="1"/>
              <a:t>tự</a:t>
            </a:r>
            <a:r>
              <a:rPr lang="en-US" sz="2400" dirty="0"/>
              <a:t> </a:t>
            </a:r>
            <a:r>
              <a:rPr lang="en-US" sz="2400" dirty="0" err="1"/>
              <a:t>ưu</a:t>
            </a:r>
            <a:r>
              <a:rPr lang="en-US" sz="2400" dirty="0"/>
              <a:t> </a:t>
            </a:r>
            <a:r>
              <a:rPr lang="en-US" sz="2400" dirty="0" err="1"/>
              <a:t>tiên</a:t>
            </a:r>
            <a:r>
              <a:rPr lang="en-US" sz="2400" dirty="0"/>
              <a:t> </a:t>
            </a:r>
            <a:r>
              <a:rPr lang="en-US" sz="2400" dirty="0" err="1"/>
              <a:t>cho</a:t>
            </a:r>
            <a:r>
              <a:rPr lang="en-US" sz="2400" dirty="0"/>
              <a:t> </a:t>
            </a:r>
            <a:r>
              <a:rPr lang="en-US" sz="2400" err="1"/>
              <a:t>từng</a:t>
            </a:r>
            <a:r>
              <a:rPr lang="en-US" sz="2400"/>
              <a:t> sự kiện</a:t>
            </a:r>
            <a:endParaRPr lang="en-US" sz="2400" dirty="0"/>
          </a:p>
          <a:p>
            <a:pPr>
              <a:spcBef>
                <a:spcPts val="600"/>
              </a:spcBef>
              <a:spcAft>
                <a:spcPts val="0"/>
              </a:spcAft>
            </a:pPr>
            <a:r>
              <a:rPr lang="en-US" sz="2400" dirty="0" err="1"/>
              <a:t>Mô</a:t>
            </a:r>
            <a:r>
              <a:rPr lang="en-US" sz="2400" dirty="0"/>
              <a:t> </a:t>
            </a:r>
            <a:r>
              <a:rPr lang="en-US" sz="2400" dirty="0" err="1"/>
              <a:t>tả</a:t>
            </a:r>
            <a:r>
              <a:rPr lang="en-US" sz="2400" dirty="0"/>
              <a:t> </a:t>
            </a:r>
            <a:r>
              <a:rPr lang="en-US" sz="2400" err="1"/>
              <a:t>từng</a:t>
            </a:r>
            <a:r>
              <a:rPr lang="en-US" sz="2400"/>
              <a:t> sự kiện </a:t>
            </a:r>
            <a:r>
              <a:rPr lang="en-US" sz="2400" dirty="0" err="1"/>
              <a:t>rủi</a:t>
            </a:r>
            <a:r>
              <a:rPr lang="en-US" sz="2400" dirty="0"/>
              <a:t> </a:t>
            </a:r>
            <a:r>
              <a:rPr lang="en-US" sz="2400" dirty="0" err="1"/>
              <a:t>ro</a:t>
            </a:r>
            <a:endParaRPr lang="en-US" sz="2400" dirty="0"/>
          </a:p>
          <a:p>
            <a:pPr>
              <a:spcBef>
                <a:spcPts val="600"/>
              </a:spcBef>
              <a:spcAft>
                <a:spcPts val="0"/>
              </a:spcAft>
            </a:pPr>
            <a:r>
              <a:rPr lang="en-US" sz="2400" dirty="0" err="1"/>
              <a:t>Xác</a:t>
            </a:r>
            <a:r>
              <a:rPr lang="en-US" sz="2400" dirty="0"/>
              <a:t> </a:t>
            </a:r>
            <a:r>
              <a:rPr lang="en-US" sz="2400" dirty="0" err="1"/>
              <a:t>suất</a:t>
            </a:r>
            <a:r>
              <a:rPr lang="en-US" sz="2400" dirty="0"/>
              <a:t>, </a:t>
            </a:r>
            <a:r>
              <a:rPr lang="en-US" sz="2400" dirty="0" err="1"/>
              <a:t>ảnh</a:t>
            </a:r>
            <a:r>
              <a:rPr lang="en-US" sz="2400" dirty="0"/>
              <a:t> </a:t>
            </a:r>
            <a:r>
              <a:rPr lang="en-US" sz="2400" dirty="0" err="1"/>
              <a:t>hưởng</a:t>
            </a:r>
            <a:r>
              <a:rPr lang="en-US" sz="2400" dirty="0"/>
              <a:t>, và </a:t>
            </a:r>
            <a:r>
              <a:rPr lang="en-US" sz="2400" dirty="0" err="1"/>
              <a:t>kết</a:t>
            </a:r>
            <a:r>
              <a:rPr lang="en-US" sz="2400" dirty="0"/>
              <a:t> </a:t>
            </a:r>
            <a:r>
              <a:rPr lang="en-US" sz="2400" dirty="0" err="1"/>
              <a:t>quả</a:t>
            </a:r>
            <a:endParaRPr lang="en-US" sz="2400" dirty="0"/>
          </a:p>
          <a:p>
            <a:pPr>
              <a:spcBef>
                <a:spcPts val="600"/>
              </a:spcBef>
              <a:spcAft>
                <a:spcPts val="0"/>
              </a:spcAft>
            </a:pPr>
            <a:r>
              <a:rPr lang="vi-VN" sz="2400" dirty="0"/>
              <a:t>Phân loại </a:t>
            </a:r>
            <a:r>
              <a:rPr lang="vi-VN" sz="2400"/>
              <a:t>các sự kiện </a:t>
            </a:r>
            <a:r>
              <a:rPr lang="vi-VN" sz="2400" dirty="0"/>
              <a:t>rủi ro</a:t>
            </a:r>
          </a:p>
          <a:p>
            <a:pPr algn="just">
              <a:spcBef>
                <a:spcPts val="600"/>
              </a:spcBef>
              <a:spcAft>
                <a:spcPts val="0"/>
              </a:spcAft>
            </a:pPr>
            <a:r>
              <a:rPr lang="en-US" sz="2400" dirty="0" err="1"/>
              <a:t>Kích</a:t>
            </a:r>
            <a:r>
              <a:rPr lang="en-US" sz="2400" dirty="0"/>
              <a:t> </a:t>
            </a:r>
            <a:r>
              <a:rPr lang="en-US" sz="2400" dirty="0" err="1"/>
              <a:t>hoạt</a:t>
            </a:r>
            <a:r>
              <a:rPr lang="en-US" sz="2400" dirty="0"/>
              <a:t> (</a:t>
            </a:r>
            <a:r>
              <a:rPr lang="en-US" sz="2400" dirty="0">
                <a:solidFill>
                  <a:srgbClr val="0070C0"/>
                </a:solidFill>
              </a:rPr>
              <a:t>trigger</a:t>
            </a:r>
            <a:r>
              <a:rPr lang="en-US" sz="2400" dirty="0"/>
              <a:t>): </a:t>
            </a:r>
            <a:r>
              <a:rPr lang="en-US" sz="2400" dirty="0" err="1"/>
              <a:t>chỉ</a:t>
            </a:r>
            <a:r>
              <a:rPr lang="en-US" sz="2400" dirty="0"/>
              <a:t> </a:t>
            </a:r>
            <a:r>
              <a:rPr lang="en-US" sz="2400" dirty="0" err="1"/>
              <a:t>số</a:t>
            </a:r>
            <a:r>
              <a:rPr lang="en-US" sz="2400" dirty="0"/>
              <a:t> </a:t>
            </a:r>
            <a:r>
              <a:rPr lang="en-US" sz="2400" err="1"/>
              <a:t>về</a:t>
            </a:r>
            <a:r>
              <a:rPr lang="en-US" sz="2400"/>
              <a:t> sự kiện </a:t>
            </a:r>
            <a:r>
              <a:rPr lang="en-US" sz="2400" dirty="0" err="1"/>
              <a:t>rủi</a:t>
            </a:r>
            <a:r>
              <a:rPr lang="en-US" sz="2400" dirty="0"/>
              <a:t> </a:t>
            </a:r>
            <a:r>
              <a:rPr lang="en-US" sz="2400" dirty="0" err="1"/>
              <a:t>ro</a:t>
            </a:r>
            <a:r>
              <a:rPr lang="en-US" sz="2400" dirty="0"/>
              <a:t> </a:t>
            </a:r>
            <a:r>
              <a:rPr lang="en-US" sz="2400" dirty="0" err="1"/>
              <a:t>thật</a:t>
            </a:r>
            <a:r>
              <a:rPr lang="en-US" sz="2400" dirty="0"/>
              <a:t> </a:t>
            </a:r>
            <a:r>
              <a:rPr lang="en-US" sz="2400" dirty="0" err="1"/>
              <a:t>sự</a:t>
            </a:r>
            <a:r>
              <a:rPr lang="en-US" sz="2400" dirty="0"/>
              <a:t>…</a:t>
            </a:r>
          </a:p>
          <a:p>
            <a:pPr algn="just">
              <a:spcBef>
                <a:spcPts val="600"/>
              </a:spcBef>
              <a:spcAft>
                <a:spcPts val="0"/>
              </a:spcAft>
            </a:pPr>
            <a:r>
              <a:rPr lang="en-US" sz="2400" dirty="0" err="1"/>
              <a:t>Khả</a:t>
            </a:r>
            <a:r>
              <a:rPr lang="en-US" sz="2400" dirty="0"/>
              <a:t> </a:t>
            </a:r>
            <a:r>
              <a:rPr lang="en-US" sz="2400" dirty="0" err="1"/>
              <a:t>năng</a:t>
            </a:r>
            <a:r>
              <a:rPr lang="en-US" sz="2400" dirty="0"/>
              <a:t> </a:t>
            </a:r>
            <a:r>
              <a:rPr lang="en-US" sz="2400" dirty="0" err="1"/>
              <a:t>đối</a:t>
            </a:r>
            <a:r>
              <a:rPr lang="en-US" sz="2400" dirty="0"/>
              <a:t> </a:t>
            </a:r>
            <a:r>
              <a:rPr lang="en-US" sz="2400" dirty="0" err="1"/>
              <a:t>phó</a:t>
            </a:r>
            <a:r>
              <a:rPr lang="en-US" sz="2400" dirty="0"/>
              <a:t> </a:t>
            </a:r>
            <a:r>
              <a:rPr lang="en-US" sz="2400" dirty="0" err="1"/>
              <a:t>của</a:t>
            </a:r>
            <a:r>
              <a:rPr lang="en-US" sz="2400" dirty="0"/>
              <a:t> </a:t>
            </a:r>
            <a:r>
              <a:rPr lang="en-US" sz="2400" dirty="0" err="1"/>
              <a:t>mỗi</a:t>
            </a:r>
            <a:r>
              <a:rPr lang="en-US" sz="2400" dirty="0"/>
              <a:t> </a:t>
            </a:r>
            <a:r>
              <a:rPr lang="en-US" sz="2400" dirty="0" err="1"/>
              <a:t>rủi</a:t>
            </a:r>
            <a:r>
              <a:rPr lang="en-US" sz="2400" dirty="0"/>
              <a:t> ro.</a:t>
            </a:r>
            <a:endParaRPr lang="en-US" sz="2400" dirty="0">
              <a:effectLst>
                <a:outerShdw blurRad="38100" dist="38100" dir="2700000" algn="tl">
                  <a:srgbClr val="000000">
                    <a:alpha val="43137"/>
                  </a:srgbClr>
                </a:outerShdw>
              </a:effectLst>
            </a:endParaRPr>
          </a:p>
          <a:p>
            <a:pPr algn="just">
              <a:spcBef>
                <a:spcPts val="600"/>
              </a:spcBef>
              <a:spcAft>
                <a:spcPts val="0"/>
              </a:spcAft>
            </a:pPr>
            <a:r>
              <a:rPr lang="en-US" sz="2400" dirty="0" err="1"/>
              <a:t>Người</a:t>
            </a:r>
            <a:r>
              <a:rPr lang="en-US" sz="2400" dirty="0"/>
              <a:t> </a:t>
            </a:r>
            <a:r>
              <a:rPr lang="en-US" sz="2400" dirty="0" err="1"/>
              <a:t>chịu</a:t>
            </a:r>
            <a:r>
              <a:rPr lang="en-US" sz="2400" dirty="0"/>
              <a:t> </a:t>
            </a:r>
            <a:r>
              <a:rPr lang="en-US" sz="2400" dirty="0" err="1"/>
              <a:t>trách</a:t>
            </a:r>
            <a:r>
              <a:rPr lang="en-US" sz="2400" dirty="0"/>
              <a:t> </a:t>
            </a:r>
            <a:r>
              <a:rPr lang="en-US" sz="2400" dirty="0" err="1"/>
              <a:t>nhiệm</a:t>
            </a:r>
            <a:r>
              <a:rPr lang="en-US" sz="2400" dirty="0"/>
              <a:t> </a:t>
            </a:r>
            <a:r>
              <a:rPr lang="en-US" sz="2400" dirty="0" err="1"/>
              <a:t>cho</a:t>
            </a:r>
            <a:r>
              <a:rPr lang="en-US" sz="2400" dirty="0"/>
              <a:t> </a:t>
            </a:r>
            <a:r>
              <a:rPr lang="en-US" sz="2400" dirty="0" err="1"/>
              <a:t>rủi</a:t>
            </a:r>
            <a:r>
              <a:rPr lang="en-US" sz="2400" dirty="0"/>
              <a:t> ro.</a:t>
            </a:r>
          </a:p>
          <a:p>
            <a:pPr>
              <a:spcBef>
                <a:spcPts val="600"/>
              </a:spcBef>
              <a:spcAft>
                <a:spcPts val="0"/>
              </a:spcAft>
            </a:pPr>
            <a:r>
              <a:rPr lang="en-US" sz="2400" dirty="0" err="1"/>
              <a:t>Nguyên</a:t>
            </a:r>
            <a:r>
              <a:rPr lang="en-US" sz="2400" dirty="0"/>
              <a:t> </a:t>
            </a:r>
            <a:r>
              <a:rPr lang="en-US" sz="2400" dirty="0" err="1"/>
              <a:t>nhân</a:t>
            </a:r>
            <a:r>
              <a:rPr lang="en-US" sz="2400" dirty="0"/>
              <a:t> </a:t>
            </a:r>
            <a:r>
              <a:rPr lang="en-US" sz="2400" dirty="0" err="1"/>
              <a:t>gốc</a:t>
            </a:r>
            <a:r>
              <a:rPr lang="en-US" sz="2400" dirty="0"/>
              <a:t> </a:t>
            </a:r>
            <a:r>
              <a:rPr lang="en-US" sz="2400" dirty="0" err="1"/>
              <a:t>gây</a:t>
            </a:r>
            <a:r>
              <a:rPr lang="en-US" sz="2400" dirty="0"/>
              <a:t> </a:t>
            </a:r>
            <a:r>
              <a:rPr lang="en-US" sz="2400" dirty="0" err="1"/>
              <a:t>ra</a:t>
            </a:r>
            <a:r>
              <a:rPr lang="en-US" sz="2400" dirty="0"/>
              <a:t> </a:t>
            </a:r>
            <a:r>
              <a:rPr lang="en-US" sz="2400" dirty="0" err="1"/>
              <a:t>rủi</a:t>
            </a:r>
            <a:r>
              <a:rPr lang="en-US" sz="2400" dirty="0"/>
              <a:t> ro.</a:t>
            </a:r>
          </a:p>
          <a:p>
            <a:pPr>
              <a:spcBef>
                <a:spcPts val="600"/>
              </a:spcBef>
              <a:spcAft>
                <a:spcPts val="0"/>
              </a:spcAft>
            </a:pPr>
            <a:r>
              <a:rPr lang="en-US" sz="2400" dirty="0" err="1"/>
              <a:t>Ngày</a:t>
            </a:r>
            <a:r>
              <a:rPr lang="en-US" sz="2400" dirty="0"/>
              <a:t>...</a:t>
            </a:r>
          </a:p>
          <a:p>
            <a:pPr>
              <a:spcBef>
                <a:spcPts val="600"/>
              </a:spcBef>
              <a:spcAft>
                <a:spcPts val="0"/>
              </a:spcAft>
            </a:pPr>
            <a:endParaRPr lang="en-US" sz="2400" dirty="0"/>
          </a:p>
        </p:txBody>
      </p:sp>
      <p:sp>
        <p:nvSpPr>
          <p:cNvPr id="43010" name="Rectangle 2"/>
          <p:cNvSpPr>
            <a:spLocks noGrp="1" noChangeArrowheads="1"/>
          </p:cNvSpPr>
          <p:nvPr>
            <p:ph type="title"/>
          </p:nvPr>
        </p:nvSpPr>
        <p:spPr>
          <a:xfrm>
            <a:off x="457200" y="76200"/>
            <a:ext cx="8229600" cy="1143000"/>
          </a:xfrm>
        </p:spPr>
        <p:txBody>
          <a:bodyPr>
            <a:normAutofit/>
          </a:bodyPr>
          <a:lstStyle/>
          <a:p>
            <a:pPr algn="ctr"/>
            <a:r>
              <a:rPr lang="en-US" sz="4000" dirty="0" err="1"/>
              <a:t>Nội</a:t>
            </a:r>
            <a:r>
              <a:rPr lang="en-US" sz="4000" dirty="0"/>
              <a:t> dung </a:t>
            </a:r>
            <a:r>
              <a:rPr lang="en-US" sz="4000" dirty="0" err="1"/>
              <a:t>bảng</a:t>
            </a:r>
            <a:r>
              <a:rPr lang="en-US" sz="4000" dirty="0"/>
              <a:t> </a:t>
            </a:r>
            <a:r>
              <a:rPr lang="en-US" sz="4000" dirty="0" err="1"/>
              <a:t>ghi</a:t>
            </a:r>
            <a:r>
              <a:rPr lang="en-US" sz="4000" dirty="0"/>
              <a:t> </a:t>
            </a:r>
            <a:r>
              <a:rPr lang="en-US" sz="4000" dirty="0" err="1"/>
              <a:t>rủi</a:t>
            </a:r>
            <a:r>
              <a:rPr lang="en-US" sz="4000" dirty="0"/>
              <a:t> </a:t>
            </a:r>
            <a:r>
              <a:rPr lang="en-US" sz="4000" dirty="0" err="1"/>
              <a:t>ro</a:t>
            </a:r>
            <a:endParaRPr lang="en-US" sz="4000" dirty="0"/>
          </a:p>
        </p:txBody>
      </p:sp>
      <p:sp>
        <p:nvSpPr>
          <p:cNvPr id="43013"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3C1D926C-0CB4-4DF4-AD6F-3A2D74348BDB}" type="slidenum">
              <a:rPr lang="en-US" smtClean="0"/>
              <a:pPr>
                <a:defRPr/>
              </a:pPr>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39</a:t>
            </a:fld>
            <a:endParaRPr lang="en-US" dirty="0"/>
          </a:p>
        </p:txBody>
      </p:sp>
      <p:sp>
        <p:nvSpPr>
          <p:cNvPr id="10" name="Rectangle 2"/>
          <p:cNvSpPr>
            <a:spLocks noGrp="1" noChangeArrowheads="1"/>
          </p:cNvSpPr>
          <p:nvPr>
            <p:ph type="title"/>
          </p:nvPr>
        </p:nvSpPr>
        <p:spPr>
          <a:xfrm>
            <a:off x="381000" y="381000"/>
            <a:ext cx="8382000" cy="914400"/>
          </a:xfrm>
        </p:spPr>
        <p:txBody>
          <a:bodyPr>
            <a:normAutofit/>
          </a:bodyPr>
          <a:lstStyle/>
          <a:p>
            <a:pPr algn="ctr"/>
            <a:r>
              <a:rPr lang="en-US" sz="3600" dirty="0" err="1"/>
              <a:t>Ví</a:t>
            </a:r>
            <a:r>
              <a:rPr lang="en-US" sz="3600" dirty="0"/>
              <a:t> </a:t>
            </a:r>
            <a:r>
              <a:rPr lang="en-US" sz="3600" dirty="0" err="1"/>
              <a:t>dụ</a:t>
            </a:r>
            <a:r>
              <a:rPr lang="en-US" sz="3600" dirty="0"/>
              <a:t>, </a:t>
            </a:r>
            <a:r>
              <a:rPr lang="en-US" sz="3600" dirty="0" err="1"/>
              <a:t>bảng</a:t>
            </a:r>
            <a:r>
              <a:rPr lang="en-US" sz="3600" dirty="0"/>
              <a:t> </a:t>
            </a:r>
            <a:r>
              <a:rPr lang="en-US" sz="3600" dirty="0" err="1"/>
              <a:t>ghi</a:t>
            </a:r>
            <a:r>
              <a:rPr lang="en-US" sz="3600" dirty="0"/>
              <a:t> </a:t>
            </a:r>
            <a:r>
              <a:rPr lang="en-US" sz="3600" dirty="0" err="1"/>
              <a:t>rủi</a:t>
            </a:r>
            <a:r>
              <a:rPr lang="en-US" sz="3600" dirty="0"/>
              <a:t> </a:t>
            </a:r>
            <a:r>
              <a:rPr lang="en-US" sz="3600" dirty="0" err="1"/>
              <a:t>ro</a:t>
            </a:r>
            <a:r>
              <a:rPr lang="en-US" sz="3600" dirty="0"/>
              <a:t> - </a:t>
            </a:r>
            <a:r>
              <a:rPr lang="en-US" sz="3600"/>
              <a:t>SMART D01 </a:t>
            </a:r>
            <a:endParaRPr lang="en-US" sz="3600" dirty="0"/>
          </a:p>
        </p:txBody>
      </p:sp>
      <p:sp>
        <p:nvSpPr>
          <p:cNvPr id="12" name="Rectangle 11"/>
          <p:cNvSpPr/>
          <p:nvPr/>
        </p:nvSpPr>
        <p:spPr>
          <a:xfrm>
            <a:off x="4267200" y="6172200"/>
            <a:ext cx="3618298" cy="338554"/>
          </a:xfrm>
          <a:prstGeom prst="rect">
            <a:avLst/>
          </a:prstGeom>
        </p:spPr>
        <p:txBody>
          <a:bodyPr wrap="none">
            <a:spAutoFit/>
          </a:bodyPr>
          <a:lstStyle/>
          <a:p>
            <a:r>
              <a:rPr lang="vi-VN" sz="1600" dirty="0"/>
              <a:t>Nguồn: tham chiếu theo Perrin (2013)</a:t>
            </a:r>
          </a:p>
        </p:txBody>
      </p:sp>
      <p:pic>
        <p:nvPicPr>
          <p:cNvPr id="3" name="Picture 2">
            <a:extLst>
              <a:ext uri="{FF2B5EF4-FFF2-40B4-BE49-F238E27FC236}">
                <a16:creationId xmlns:a16="http://schemas.microsoft.com/office/drawing/2014/main" id="{DE189460-A5F2-4DCD-8E51-324F1F289A5F}"/>
              </a:ext>
            </a:extLst>
          </p:cNvPr>
          <p:cNvPicPr>
            <a:picLocks noChangeAspect="1"/>
          </p:cNvPicPr>
          <p:nvPr/>
        </p:nvPicPr>
        <p:blipFill>
          <a:blip r:embed="rId2"/>
          <a:stretch>
            <a:fillRect/>
          </a:stretch>
        </p:blipFill>
        <p:spPr>
          <a:xfrm>
            <a:off x="0" y="1681162"/>
            <a:ext cx="9144000" cy="3495675"/>
          </a:xfrm>
          <a:prstGeom prst="rect">
            <a:avLst/>
          </a:prstGeom>
        </p:spPr>
      </p:pic>
    </p:spTree>
    <p:extLst>
      <p:ext uri="{BB962C8B-B14F-4D97-AF65-F5344CB8AC3E}">
        <p14:creationId xmlns:p14="http://schemas.microsoft.com/office/powerpoint/2010/main" val="39914453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76200" y="1171575"/>
            <a:ext cx="8991600" cy="4162425"/>
          </a:xfrm>
          <a:prstGeom prst="rect">
            <a:avLst/>
          </a:prstGeom>
        </p:spPr>
      </p:pic>
      <p:sp>
        <p:nvSpPr>
          <p:cNvPr id="2458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40</a:t>
            </a:fld>
            <a:endParaRPr lang="en-US" dirty="0"/>
          </a:p>
        </p:txBody>
      </p:sp>
      <p:sp>
        <p:nvSpPr>
          <p:cNvPr id="7" name="Rounded Rectangle 6"/>
          <p:cNvSpPr/>
          <p:nvPr/>
        </p:nvSpPr>
        <p:spPr>
          <a:xfrm>
            <a:off x="1371600" y="4343400"/>
            <a:ext cx="3203731" cy="273393"/>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Title 1"/>
          <p:cNvSpPr>
            <a:spLocks noGrp="1"/>
          </p:cNvSpPr>
          <p:nvPr>
            <p:ph type="title"/>
          </p:nvPr>
        </p:nvSpPr>
        <p:spPr>
          <a:xfrm>
            <a:off x="381000" y="0"/>
            <a:ext cx="8305800" cy="1143000"/>
          </a:xfrm>
        </p:spPr>
        <p:txBody>
          <a:bodyPr>
            <a:noAutofit/>
          </a:bodyPr>
          <a:lstStyle/>
          <a:p>
            <a:pPr algn="ctr" eaLnBrk="1" hangingPunct="1">
              <a:defRPr/>
            </a:pPr>
            <a:r>
              <a:rPr lang="en-US" sz="4000" dirty="0">
                <a:solidFill>
                  <a:schemeClr val="bg1">
                    <a:lumMod val="65000"/>
                  </a:schemeClr>
                </a:solidFill>
              </a:rPr>
              <a:t>Quản lý </a:t>
            </a:r>
            <a:r>
              <a:rPr lang="en-US" sz="4000" dirty="0" err="1">
                <a:solidFill>
                  <a:schemeClr val="bg1">
                    <a:lumMod val="65000"/>
                  </a:schemeClr>
                </a:solidFill>
              </a:rPr>
              <a:t>rủi</a:t>
            </a:r>
            <a:r>
              <a:rPr lang="en-US" sz="4000" dirty="0">
                <a:solidFill>
                  <a:schemeClr val="bg1">
                    <a:lumMod val="65000"/>
                  </a:schemeClr>
                </a:solidFill>
              </a:rPr>
              <a:t> </a:t>
            </a:r>
            <a:r>
              <a:rPr lang="en-US" sz="4000" dirty="0" err="1">
                <a:solidFill>
                  <a:schemeClr val="bg1">
                    <a:lumMod val="65000"/>
                  </a:schemeClr>
                </a:solidFill>
              </a:rPr>
              <a:t>ro</a:t>
            </a:r>
            <a:r>
              <a:rPr lang="en-US" sz="4000" dirty="0">
                <a:solidFill>
                  <a:schemeClr val="bg1">
                    <a:lumMod val="65000"/>
                  </a:schemeClr>
                </a:solidFill>
              </a:rPr>
              <a:t> </a:t>
            </a:r>
            <a:r>
              <a:rPr lang="en-US" sz="4000" dirty="0" err="1">
                <a:solidFill>
                  <a:schemeClr val="bg1">
                    <a:lumMod val="65000"/>
                  </a:schemeClr>
                </a:solidFill>
              </a:rPr>
              <a:t>dự</a:t>
            </a:r>
            <a:r>
              <a:rPr lang="en-US" sz="4000" dirty="0">
                <a:solidFill>
                  <a:schemeClr val="bg1">
                    <a:lumMod val="65000"/>
                  </a:schemeClr>
                </a:solidFill>
              </a:rPr>
              <a:t> </a:t>
            </a:r>
            <a:r>
              <a:rPr lang="en-US" sz="4000" dirty="0" err="1">
                <a:solidFill>
                  <a:schemeClr val="bg1">
                    <a:lumMod val="65000"/>
                  </a:schemeClr>
                </a:solidFill>
              </a:rPr>
              <a:t>án</a:t>
            </a:r>
            <a:r>
              <a:rPr lang="en-US" sz="4000" dirty="0">
                <a:solidFill>
                  <a:schemeClr val="bg1">
                    <a:lumMod val="65000"/>
                  </a:schemeClr>
                </a:solidFill>
              </a:rPr>
              <a:t> [3/6]</a:t>
            </a:r>
          </a:p>
        </p:txBody>
      </p:sp>
      <p:pic>
        <p:nvPicPr>
          <p:cNvPr id="2" name="Picture 1"/>
          <p:cNvPicPr>
            <a:picLocks noChangeAspect="1"/>
          </p:cNvPicPr>
          <p:nvPr/>
        </p:nvPicPr>
        <p:blipFill>
          <a:blip r:embed="rId3"/>
          <a:stretch>
            <a:fillRect/>
          </a:stretch>
        </p:blipFill>
        <p:spPr>
          <a:xfrm>
            <a:off x="5562600" y="5253075"/>
            <a:ext cx="1447800" cy="1604926"/>
          </a:xfrm>
          <a:prstGeom prst="rect">
            <a:avLst/>
          </a:prstGeom>
        </p:spPr>
      </p:pic>
    </p:spTree>
    <p:extLst>
      <p:ext uri="{BB962C8B-B14F-4D97-AF65-F5344CB8AC3E}">
        <p14:creationId xmlns:p14="http://schemas.microsoft.com/office/powerpoint/2010/main" val="295059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idx="1"/>
          </p:nvPr>
        </p:nvSpPr>
        <p:spPr>
          <a:xfrm>
            <a:off x="533400" y="1752600"/>
            <a:ext cx="8077200" cy="3276600"/>
          </a:xfrm>
        </p:spPr>
        <p:txBody>
          <a:bodyPr/>
          <a:lstStyle/>
          <a:p>
            <a:pPr algn="just"/>
            <a:r>
              <a:rPr lang="en-US" b="1" dirty="0" err="1"/>
              <a:t>Phân</a:t>
            </a:r>
            <a:r>
              <a:rPr lang="en-US" b="1" dirty="0"/>
              <a:t> </a:t>
            </a:r>
            <a:r>
              <a:rPr lang="en-US" b="1" dirty="0" err="1"/>
              <a:t>tích</a:t>
            </a:r>
            <a:r>
              <a:rPr lang="en-US" b="1" dirty="0"/>
              <a:t> </a:t>
            </a:r>
            <a:r>
              <a:rPr lang="en-US" b="1" dirty="0" err="1"/>
              <a:t>rủi</a:t>
            </a:r>
            <a:r>
              <a:rPr lang="en-US" b="1" dirty="0"/>
              <a:t> </a:t>
            </a:r>
            <a:r>
              <a:rPr lang="en-US" b="1" dirty="0" err="1"/>
              <a:t>ro</a:t>
            </a:r>
            <a:r>
              <a:rPr lang="en-US" b="1" dirty="0"/>
              <a:t> </a:t>
            </a:r>
            <a:r>
              <a:rPr lang="en-US" b="1" dirty="0" err="1"/>
              <a:t>định</a:t>
            </a:r>
            <a:r>
              <a:rPr lang="en-US" b="1" dirty="0"/>
              <a:t> </a:t>
            </a:r>
            <a:r>
              <a:rPr lang="en-US" b="1" err="1"/>
              <a:t>tính</a:t>
            </a:r>
            <a:r>
              <a:rPr lang="en-US" b="1"/>
              <a:t> </a:t>
            </a:r>
            <a:r>
              <a:rPr lang="en-US"/>
              <a:t>(</a:t>
            </a:r>
            <a:r>
              <a:rPr lang="en-US">
                <a:solidFill>
                  <a:srgbClr val="0070C0"/>
                </a:solidFill>
              </a:rPr>
              <a:t>perform qualitative </a:t>
            </a:r>
            <a:r>
              <a:rPr lang="en-US" dirty="0">
                <a:solidFill>
                  <a:srgbClr val="0070C0"/>
                </a:solidFill>
              </a:rPr>
              <a:t>risk analysis</a:t>
            </a:r>
            <a:r>
              <a:rPr lang="en-US" dirty="0"/>
              <a:t>): </a:t>
            </a:r>
            <a:r>
              <a:rPr lang="en-US" dirty="0" err="1"/>
              <a:t>ước</a:t>
            </a:r>
            <a:r>
              <a:rPr lang="en-US" dirty="0"/>
              <a:t> </a:t>
            </a:r>
            <a:r>
              <a:rPr lang="en-US" dirty="0" err="1"/>
              <a:t>tính</a:t>
            </a:r>
            <a:r>
              <a:rPr lang="en-US" dirty="0"/>
              <a:t> </a:t>
            </a:r>
            <a:r>
              <a:rPr lang="en-US" dirty="0" err="1"/>
              <a:t>khả</a:t>
            </a:r>
            <a:r>
              <a:rPr lang="en-US" dirty="0"/>
              <a:t> </a:t>
            </a:r>
            <a:r>
              <a:rPr lang="en-US" dirty="0" err="1"/>
              <a:t>năng</a:t>
            </a:r>
            <a:r>
              <a:rPr lang="en-US" dirty="0"/>
              <a:t> và </a:t>
            </a:r>
            <a:r>
              <a:rPr lang="en-US" dirty="0" err="1"/>
              <a:t>ảnh</a:t>
            </a:r>
            <a:r>
              <a:rPr lang="en-US" dirty="0"/>
              <a:t> </a:t>
            </a:r>
            <a:r>
              <a:rPr lang="en-US" dirty="0" err="1"/>
              <a:t>hưởng</a:t>
            </a:r>
            <a:r>
              <a:rPr lang="en-US" dirty="0"/>
              <a:t> </a:t>
            </a:r>
            <a:r>
              <a:rPr lang="en-US" dirty="0" err="1"/>
              <a:t>của</a:t>
            </a:r>
            <a:r>
              <a:rPr lang="en-US" dirty="0"/>
              <a:t>  </a:t>
            </a:r>
            <a:r>
              <a:rPr lang="en-US" dirty="0" err="1"/>
              <a:t>rủi</a:t>
            </a:r>
            <a:r>
              <a:rPr lang="en-US" dirty="0"/>
              <a:t> </a:t>
            </a:r>
            <a:r>
              <a:rPr lang="en-US" dirty="0" err="1"/>
              <a:t>ro</a:t>
            </a:r>
            <a:r>
              <a:rPr lang="en-US" dirty="0"/>
              <a:t> </a:t>
            </a:r>
            <a:r>
              <a:rPr lang="en-US" dirty="0" err="1"/>
              <a:t>để</a:t>
            </a:r>
            <a:r>
              <a:rPr lang="en-US" dirty="0"/>
              <a:t> </a:t>
            </a:r>
            <a:r>
              <a:rPr lang="en-US" dirty="0" err="1"/>
              <a:t>xác</a:t>
            </a:r>
            <a:r>
              <a:rPr lang="en-US" dirty="0"/>
              <a:t> </a:t>
            </a:r>
            <a:r>
              <a:rPr lang="en-US" dirty="0" err="1"/>
              <a:t>định</a:t>
            </a:r>
            <a:r>
              <a:rPr lang="en-US" dirty="0"/>
              <a:t> </a:t>
            </a:r>
            <a:r>
              <a:rPr lang="en-US" dirty="0" err="1"/>
              <a:t>tầm</a:t>
            </a:r>
            <a:r>
              <a:rPr lang="en-US" dirty="0"/>
              <a:t> </a:t>
            </a:r>
            <a:r>
              <a:rPr lang="en-US" dirty="0" err="1"/>
              <a:t>quan</a:t>
            </a:r>
            <a:r>
              <a:rPr lang="en-US" dirty="0"/>
              <a:t> </a:t>
            </a:r>
            <a:r>
              <a:rPr lang="en-US" dirty="0" err="1"/>
              <a:t>trọng</a:t>
            </a:r>
            <a:r>
              <a:rPr lang="en-US" dirty="0"/>
              <a:t> và </a:t>
            </a:r>
            <a:r>
              <a:rPr lang="en-US" dirty="0" err="1"/>
              <a:t>ưu</a:t>
            </a:r>
            <a:r>
              <a:rPr lang="en-US" dirty="0"/>
              <a:t> </a:t>
            </a:r>
            <a:r>
              <a:rPr lang="en-US" dirty="0" err="1"/>
              <a:t>tiên</a:t>
            </a:r>
            <a:r>
              <a:rPr lang="en-US" dirty="0"/>
              <a:t>.</a:t>
            </a:r>
          </a:p>
          <a:p>
            <a:pPr algn="just">
              <a:spcBef>
                <a:spcPts val="2400"/>
              </a:spcBef>
            </a:pPr>
            <a:r>
              <a:rPr lang="en-US" dirty="0" err="1"/>
              <a:t>Các</a:t>
            </a:r>
            <a:r>
              <a:rPr lang="en-US" dirty="0"/>
              <a:t> </a:t>
            </a:r>
            <a:r>
              <a:rPr lang="en-US" dirty="0" err="1"/>
              <a:t>công</a:t>
            </a:r>
            <a:r>
              <a:rPr lang="en-US" dirty="0"/>
              <a:t> </a:t>
            </a:r>
            <a:r>
              <a:rPr lang="en-US" dirty="0" err="1"/>
              <a:t>cụ</a:t>
            </a:r>
            <a:r>
              <a:rPr lang="en-US" dirty="0"/>
              <a:t> và </a:t>
            </a:r>
            <a:r>
              <a:rPr lang="en-US" dirty="0" err="1"/>
              <a:t>kỹ</a:t>
            </a:r>
            <a:r>
              <a:rPr lang="en-US" dirty="0"/>
              <a:t> </a:t>
            </a:r>
            <a:r>
              <a:rPr lang="en-US" dirty="0" err="1"/>
              <a:t>thuật</a:t>
            </a:r>
            <a:r>
              <a:rPr lang="en-US" dirty="0"/>
              <a:t>:</a:t>
            </a:r>
          </a:p>
          <a:p>
            <a:pPr lvl="1" algn="just">
              <a:buFont typeface="Arial" panose="020B0604020202020204" pitchFamily="34" charset="0"/>
              <a:buChar char="•"/>
            </a:pPr>
            <a:r>
              <a:rPr lang="en-US" sz="2400" dirty="0"/>
              <a:t>Ma </a:t>
            </a:r>
            <a:r>
              <a:rPr lang="en-US" sz="2400" dirty="0" err="1"/>
              <a:t>trận</a:t>
            </a:r>
            <a:r>
              <a:rPr lang="en-US" sz="2400" dirty="0"/>
              <a:t> </a:t>
            </a:r>
            <a:r>
              <a:rPr lang="en-US" sz="2400" dirty="0" err="1"/>
              <a:t>ảnh</a:t>
            </a:r>
            <a:r>
              <a:rPr lang="en-US" sz="2400" dirty="0"/>
              <a:t> </a:t>
            </a:r>
            <a:r>
              <a:rPr lang="en-US" sz="2400" dirty="0" err="1"/>
              <a:t>hưởng</a:t>
            </a:r>
            <a:endParaRPr lang="en-US" sz="2400" dirty="0"/>
          </a:p>
          <a:p>
            <a:pPr lvl="1" algn="just">
              <a:buFont typeface="Arial" panose="020B0604020202020204" pitchFamily="34" charset="0"/>
              <a:buChar char="•"/>
            </a:pPr>
            <a:r>
              <a:rPr lang="en-US" sz="2400" dirty="0"/>
              <a:t>Theo </a:t>
            </a:r>
            <a:r>
              <a:rPr lang="en-US" sz="2400" dirty="0" err="1"/>
              <a:t>dõi</a:t>
            </a:r>
            <a:r>
              <a:rPr lang="en-US" sz="2400" dirty="0"/>
              <a:t> 10 </a:t>
            </a:r>
            <a:r>
              <a:rPr lang="en-US" sz="2400" dirty="0" err="1"/>
              <a:t>rủi</a:t>
            </a:r>
            <a:r>
              <a:rPr lang="en-US" sz="2400" dirty="0"/>
              <a:t> </a:t>
            </a:r>
            <a:r>
              <a:rPr lang="en-US" sz="2400" dirty="0" err="1"/>
              <a:t>ro</a:t>
            </a:r>
            <a:r>
              <a:rPr lang="en-US" sz="2400" dirty="0"/>
              <a:t> </a:t>
            </a:r>
            <a:r>
              <a:rPr lang="en-US" sz="2400" dirty="0" err="1"/>
              <a:t>hàng</a:t>
            </a:r>
            <a:r>
              <a:rPr lang="en-US" sz="2400" dirty="0"/>
              <a:t> </a:t>
            </a:r>
            <a:r>
              <a:rPr lang="en-US" sz="2400" dirty="0" err="1"/>
              <a:t>đầu</a:t>
            </a:r>
            <a:endParaRPr lang="en-US" sz="2400" dirty="0"/>
          </a:p>
          <a:p>
            <a:pPr lvl="1" algn="just">
              <a:buFont typeface="Arial" panose="020B0604020202020204" pitchFamily="34" charset="0"/>
              <a:buChar char="•"/>
            </a:pPr>
            <a:r>
              <a:rPr lang="en-US" sz="2400" dirty="0" err="1"/>
              <a:t>Phán</a:t>
            </a:r>
            <a:r>
              <a:rPr lang="en-US" sz="2400" dirty="0"/>
              <a:t> </a:t>
            </a:r>
            <a:r>
              <a:rPr lang="en-US" sz="2400" dirty="0" err="1"/>
              <a:t>đoán</a:t>
            </a:r>
            <a:r>
              <a:rPr lang="en-US" sz="2400" dirty="0"/>
              <a:t> </a:t>
            </a:r>
            <a:r>
              <a:rPr lang="en-US" sz="2400" dirty="0" err="1"/>
              <a:t>chuyên</a:t>
            </a:r>
            <a:r>
              <a:rPr lang="en-US" sz="2400" dirty="0"/>
              <a:t> </a:t>
            </a:r>
            <a:r>
              <a:rPr lang="en-US" sz="2400" dirty="0" err="1"/>
              <a:t>gia</a:t>
            </a:r>
            <a:r>
              <a:rPr lang="en-US" sz="2400" dirty="0"/>
              <a:t>.</a:t>
            </a:r>
          </a:p>
        </p:txBody>
      </p:sp>
      <p:sp>
        <p:nvSpPr>
          <p:cNvPr id="46082" name="Rectangle 2"/>
          <p:cNvSpPr>
            <a:spLocks noGrp="1" noChangeArrowheads="1"/>
          </p:cNvSpPr>
          <p:nvPr>
            <p:ph type="title"/>
          </p:nvPr>
        </p:nvSpPr>
        <p:spPr/>
        <p:txBody>
          <a:bodyPr>
            <a:normAutofit/>
          </a:bodyPr>
          <a:lstStyle/>
          <a:p>
            <a:pPr algn="ctr"/>
            <a:r>
              <a:rPr lang="en-US" sz="4400" dirty="0">
                <a:solidFill>
                  <a:srgbClr val="FF0000"/>
                </a:solidFill>
              </a:rPr>
              <a:t>3. </a:t>
            </a:r>
            <a:r>
              <a:rPr lang="en-US" sz="4400" dirty="0" err="1">
                <a:solidFill>
                  <a:srgbClr val="FF0000"/>
                </a:solidFill>
              </a:rPr>
              <a:t>Phân</a:t>
            </a:r>
            <a:r>
              <a:rPr lang="en-US" sz="4400" dirty="0">
                <a:solidFill>
                  <a:srgbClr val="FF0000"/>
                </a:solidFill>
              </a:rPr>
              <a:t> </a:t>
            </a:r>
            <a:r>
              <a:rPr lang="en-US" sz="4400" dirty="0" err="1">
                <a:solidFill>
                  <a:srgbClr val="FF0000"/>
                </a:solidFill>
              </a:rPr>
              <a:t>tích</a:t>
            </a:r>
            <a:r>
              <a:rPr lang="en-US" sz="4400" dirty="0">
                <a:solidFill>
                  <a:srgbClr val="FF0000"/>
                </a:solidFill>
              </a:rPr>
              <a:t> </a:t>
            </a:r>
            <a:r>
              <a:rPr lang="en-US" sz="4400" dirty="0" err="1">
                <a:solidFill>
                  <a:srgbClr val="FF0000"/>
                </a:solidFill>
              </a:rPr>
              <a:t>rủi</a:t>
            </a:r>
            <a:r>
              <a:rPr lang="en-US" sz="4400" dirty="0">
                <a:solidFill>
                  <a:srgbClr val="FF0000"/>
                </a:solidFill>
              </a:rPr>
              <a:t> </a:t>
            </a:r>
            <a:r>
              <a:rPr lang="en-US" sz="4400" dirty="0" err="1">
                <a:solidFill>
                  <a:srgbClr val="FF0000"/>
                </a:solidFill>
              </a:rPr>
              <a:t>ro</a:t>
            </a:r>
            <a:r>
              <a:rPr lang="en-US" sz="4400" dirty="0">
                <a:solidFill>
                  <a:srgbClr val="FF0000"/>
                </a:solidFill>
              </a:rPr>
              <a:t> (</a:t>
            </a:r>
            <a:r>
              <a:rPr lang="en-US" sz="4400" dirty="0" err="1">
                <a:solidFill>
                  <a:srgbClr val="FF0000"/>
                </a:solidFill>
              </a:rPr>
              <a:t>định</a:t>
            </a:r>
            <a:r>
              <a:rPr lang="en-US" sz="4400" dirty="0">
                <a:solidFill>
                  <a:srgbClr val="FF0000"/>
                </a:solidFill>
              </a:rPr>
              <a:t> </a:t>
            </a:r>
            <a:r>
              <a:rPr lang="en-US" sz="4400" dirty="0" err="1">
                <a:solidFill>
                  <a:srgbClr val="FF0000"/>
                </a:solidFill>
              </a:rPr>
              <a:t>tính</a:t>
            </a:r>
            <a:r>
              <a:rPr lang="en-US" sz="4400" dirty="0">
                <a:solidFill>
                  <a:srgbClr val="FF0000"/>
                </a:solidFill>
              </a:rPr>
              <a:t>)</a:t>
            </a:r>
          </a:p>
        </p:txBody>
      </p:sp>
      <p:sp>
        <p:nvSpPr>
          <p:cNvPr id="46085"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F61167FE-60E6-4207-8A49-8520B00B1D31}" type="slidenum">
              <a:rPr lang="en-US" smtClean="0"/>
              <a:pPr>
                <a:defRPr/>
              </a:pPr>
              <a:t>41</a:t>
            </a:fld>
            <a:endParaRPr lang="en-US" dirty="0"/>
          </a:p>
        </p:txBody>
      </p:sp>
      <p:pic>
        <p:nvPicPr>
          <p:cNvPr id="2" name="Picture 1"/>
          <p:cNvPicPr>
            <a:picLocks noChangeAspect="1"/>
          </p:cNvPicPr>
          <p:nvPr/>
        </p:nvPicPr>
        <p:blipFill>
          <a:blip r:embed="rId2"/>
          <a:stretch>
            <a:fillRect/>
          </a:stretch>
        </p:blipFill>
        <p:spPr>
          <a:xfrm>
            <a:off x="6096000" y="3505200"/>
            <a:ext cx="2124075" cy="245009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6083">
                                            <p:txEl>
                                              <p:pRg st="1" end="1"/>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46083">
                                            <p:txEl>
                                              <p:pRg st="2" end="2"/>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46083">
                                            <p:txEl>
                                              <p:pRg st="3" end="3"/>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460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457200" y="1752600"/>
            <a:ext cx="8229600" cy="3505200"/>
          </a:xfrm>
        </p:spPr>
        <p:txBody>
          <a:bodyPr/>
          <a:lstStyle/>
          <a:p>
            <a:pPr algn="just">
              <a:spcBef>
                <a:spcPts val="1800"/>
              </a:spcBef>
            </a:pPr>
            <a:r>
              <a:rPr lang="en-US" dirty="0">
                <a:effectLst>
                  <a:outerShdw blurRad="38100" dist="38100" dir="2700000" algn="tl">
                    <a:srgbClr val="000000">
                      <a:alpha val="43137"/>
                    </a:srgbClr>
                  </a:outerShdw>
                </a:effectLst>
              </a:rPr>
              <a:t>Ma </a:t>
            </a:r>
            <a:r>
              <a:rPr lang="en-US" dirty="0" err="1">
                <a:effectLst>
                  <a:outerShdw blurRad="38100" dist="38100" dir="2700000" algn="tl">
                    <a:srgbClr val="000000">
                      <a:alpha val="43137"/>
                    </a:srgbClr>
                  </a:outerShdw>
                </a:effectLst>
              </a:rPr>
              <a:t>trận</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ảnh</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hưởng</a:t>
            </a:r>
            <a:r>
              <a:rPr lang="en-US" dirty="0">
                <a:effectLst>
                  <a:outerShdw blurRad="38100" dist="38100" dir="2700000" algn="tl">
                    <a:srgbClr val="000000">
                      <a:alpha val="43137"/>
                    </a:srgbClr>
                  </a:outerShdw>
                </a:effectLst>
              </a:rPr>
              <a:t> </a:t>
            </a:r>
            <a:r>
              <a:rPr lang="en-US" dirty="0"/>
              <a:t>(</a:t>
            </a:r>
            <a:r>
              <a:rPr lang="en-US" dirty="0">
                <a:solidFill>
                  <a:srgbClr val="0070C0"/>
                </a:solidFill>
              </a:rPr>
              <a:t>impact matrix</a:t>
            </a:r>
            <a:r>
              <a:rPr lang="en-US" dirty="0"/>
              <a:t>): </a:t>
            </a:r>
            <a:r>
              <a:rPr lang="en-US" dirty="0" err="1"/>
              <a:t>liệt</a:t>
            </a:r>
            <a:r>
              <a:rPr lang="en-US" dirty="0"/>
              <a:t> </a:t>
            </a:r>
            <a:r>
              <a:rPr lang="en-US" dirty="0" err="1"/>
              <a:t>kê</a:t>
            </a:r>
            <a:r>
              <a:rPr lang="en-US" dirty="0"/>
              <a:t> </a:t>
            </a:r>
            <a:r>
              <a:rPr lang="en-US" dirty="0" err="1"/>
              <a:t>xác</a:t>
            </a:r>
            <a:r>
              <a:rPr lang="en-US" dirty="0"/>
              <a:t> </a:t>
            </a:r>
            <a:r>
              <a:rPr lang="en-US" dirty="0" err="1"/>
              <a:t>suất</a:t>
            </a:r>
            <a:r>
              <a:rPr lang="en-US" dirty="0"/>
              <a:t> </a:t>
            </a:r>
            <a:r>
              <a:rPr lang="en-US" dirty="0" err="1"/>
              <a:t>rủi</a:t>
            </a:r>
            <a:r>
              <a:rPr lang="en-US" dirty="0"/>
              <a:t> </a:t>
            </a:r>
            <a:r>
              <a:rPr lang="en-US" dirty="0" err="1"/>
              <a:t>ro</a:t>
            </a:r>
            <a:r>
              <a:rPr lang="en-US" dirty="0"/>
              <a:t> </a:t>
            </a:r>
            <a:r>
              <a:rPr lang="en-US" dirty="0" err="1"/>
              <a:t>xảy</a:t>
            </a:r>
            <a:r>
              <a:rPr lang="en-US" dirty="0"/>
              <a:t> </a:t>
            </a:r>
            <a:r>
              <a:rPr lang="en-US" dirty="0" err="1"/>
              <a:t>ra</a:t>
            </a:r>
            <a:r>
              <a:rPr lang="en-US" dirty="0"/>
              <a:t> </a:t>
            </a:r>
            <a:r>
              <a:rPr lang="en-US" dirty="0" err="1"/>
              <a:t>trên</a:t>
            </a:r>
            <a:r>
              <a:rPr lang="en-US" dirty="0"/>
              <a:t> ma </a:t>
            </a:r>
            <a:r>
              <a:rPr lang="en-US" dirty="0" err="1"/>
              <a:t>trận</a:t>
            </a:r>
            <a:r>
              <a:rPr lang="en-US" dirty="0"/>
              <a:t>, và </a:t>
            </a:r>
            <a:r>
              <a:rPr lang="en-US" dirty="0" err="1"/>
              <a:t>các</a:t>
            </a:r>
            <a:r>
              <a:rPr lang="en-US" dirty="0"/>
              <a:t> </a:t>
            </a:r>
            <a:r>
              <a:rPr lang="en-US" dirty="0" err="1"/>
              <a:t>ảnh</a:t>
            </a:r>
            <a:r>
              <a:rPr lang="en-US" dirty="0"/>
              <a:t> </a:t>
            </a:r>
            <a:r>
              <a:rPr lang="en-US" dirty="0" err="1"/>
              <a:t>hưởng</a:t>
            </a:r>
            <a:r>
              <a:rPr lang="en-US" dirty="0"/>
              <a:t> </a:t>
            </a:r>
            <a:r>
              <a:rPr lang="en-US" dirty="0" err="1"/>
              <a:t>liên</a:t>
            </a:r>
            <a:r>
              <a:rPr lang="en-US" dirty="0"/>
              <a:t> </a:t>
            </a:r>
            <a:r>
              <a:rPr lang="en-US" dirty="0" err="1"/>
              <a:t>quan</a:t>
            </a:r>
            <a:r>
              <a:rPr lang="en-US" dirty="0"/>
              <a:t> </a:t>
            </a:r>
            <a:r>
              <a:rPr lang="en-US" dirty="0" err="1"/>
              <a:t>của</a:t>
            </a:r>
            <a:r>
              <a:rPr lang="en-US" dirty="0"/>
              <a:t> </a:t>
            </a:r>
            <a:r>
              <a:rPr lang="en-US" dirty="0" err="1"/>
              <a:t>dự</a:t>
            </a:r>
            <a:r>
              <a:rPr lang="en-US" dirty="0"/>
              <a:t> </a:t>
            </a:r>
            <a:r>
              <a:rPr lang="en-US" dirty="0" err="1"/>
              <a:t>án</a:t>
            </a:r>
            <a:r>
              <a:rPr lang="en-US" dirty="0"/>
              <a:t> (cao - </a:t>
            </a:r>
            <a:r>
              <a:rPr lang="en-US" dirty="0" err="1"/>
              <a:t>trung</a:t>
            </a:r>
            <a:r>
              <a:rPr lang="en-US" dirty="0"/>
              <a:t> </a:t>
            </a:r>
            <a:r>
              <a:rPr lang="en-US" dirty="0" err="1"/>
              <a:t>bình</a:t>
            </a:r>
            <a:r>
              <a:rPr lang="en-US" dirty="0"/>
              <a:t> - </a:t>
            </a:r>
            <a:r>
              <a:rPr lang="en-US" dirty="0" err="1"/>
              <a:t>thấp</a:t>
            </a:r>
            <a:r>
              <a:rPr lang="en-US" dirty="0"/>
              <a:t>).</a:t>
            </a:r>
          </a:p>
          <a:p>
            <a:pPr algn="just">
              <a:spcBef>
                <a:spcPts val="2400"/>
              </a:spcBef>
            </a:pPr>
            <a:r>
              <a:rPr lang="en-US" dirty="0" err="1"/>
              <a:t>Tính</a:t>
            </a:r>
            <a:r>
              <a:rPr lang="en-US" dirty="0"/>
              <a:t> </a:t>
            </a:r>
            <a:r>
              <a:rPr lang="en-US" dirty="0" err="1"/>
              <a:t>toán</a:t>
            </a:r>
            <a:r>
              <a:rPr lang="en-US" dirty="0"/>
              <a:t> </a:t>
            </a:r>
            <a:r>
              <a:rPr lang="en-US" dirty="0" err="1">
                <a:effectLst>
                  <a:outerShdw blurRad="38100" dist="38100" dir="2700000" algn="tl">
                    <a:srgbClr val="000000">
                      <a:alpha val="43137"/>
                    </a:srgbClr>
                  </a:outerShdw>
                </a:effectLst>
              </a:rPr>
              <a:t>các</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yếu</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tố</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rủi</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ro</a:t>
            </a:r>
            <a:r>
              <a:rPr lang="en-US" dirty="0">
                <a:effectLst>
                  <a:outerShdw blurRad="38100" dist="38100" dir="2700000" algn="tl">
                    <a:srgbClr val="000000">
                      <a:alpha val="43137"/>
                    </a:srgbClr>
                  </a:outerShdw>
                </a:effectLst>
              </a:rPr>
              <a:t> </a:t>
            </a:r>
            <a:r>
              <a:rPr lang="en-US" dirty="0"/>
              <a:t>(</a:t>
            </a:r>
            <a:r>
              <a:rPr lang="en-US" dirty="0">
                <a:solidFill>
                  <a:srgbClr val="0070C0"/>
                </a:solidFill>
              </a:rPr>
              <a:t>risk factors</a:t>
            </a:r>
            <a:r>
              <a:rPr lang="en-US" dirty="0"/>
              <a:t>): </a:t>
            </a:r>
            <a:r>
              <a:rPr lang="en-US" dirty="0" err="1"/>
              <a:t>đ</a:t>
            </a:r>
            <a:r>
              <a:rPr lang="en-US" sz="2700" dirty="0" err="1"/>
              <a:t>ại</a:t>
            </a:r>
            <a:r>
              <a:rPr lang="en-US" sz="2700" dirty="0"/>
              <a:t> </a:t>
            </a:r>
            <a:r>
              <a:rPr lang="en-US" sz="2700" dirty="0" err="1"/>
              <a:t>diện</a:t>
            </a:r>
            <a:r>
              <a:rPr lang="en-US" sz="2700" dirty="0"/>
              <a:t> </a:t>
            </a:r>
            <a:r>
              <a:rPr lang="en-US" sz="2700" dirty="0" err="1"/>
              <a:t>của</a:t>
            </a:r>
            <a:r>
              <a:rPr lang="en-US" sz="2700" dirty="0"/>
              <a:t> </a:t>
            </a:r>
            <a:r>
              <a:rPr lang="en-US" sz="2700" err="1"/>
              <a:t>các</a:t>
            </a:r>
            <a:r>
              <a:rPr lang="en-US" sz="2700"/>
              <a:t> sự kiện </a:t>
            </a:r>
            <a:r>
              <a:rPr lang="en-US" sz="2700" dirty="0" err="1"/>
              <a:t>cụ</a:t>
            </a:r>
            <a:r>
              <a:rPr lang="en-US" sz="2700" dirty="0"/>
              <a:t> </a:t>
            </a:r>
            <a:r>
              <a:rPr lang="en-US" sz="2700" dirty="0" err="1"/>
              <a:t>thể</a:t>
            </a:r>
            <a:r>
              <a:rPr lang="en-US" sz="2700" dirty="0"/>
              <a:t> </a:t>
            </a:r>
            <a:r>
              <a:rPr lang="en-US" sz="2700" dirty="0" err="1"/>
              <a:t>dựa</a:t>
            </a:r>
            <a:r>
              <a:rPr lang="en-US" sz="2700" dirty="0"/>
              <a:t> </a:t>
            </a:r>
            <a:r>
              <a:rPr lang="en-US" sz="2700" dirty="0" err="1"/>
              <a:t>trên</a:t>
            </a:r>
            <a:r>
              <a:rPr lang="en-US" sz="2700" dirty="0"/>
              <a:t> </a:t>
            </a:r>
            <a:r>
              <a:rPr lang="en-US" sz="2700" dirty="0" err="1"/>
              <a:t>xác</a:t>
            </a:r>
            <a:r>
              <a:rPr lang="en-US" sz="2700" dirty="0"/>
              <a:t> </a:t>
            </a:r>
            <a:r>
              <a:rPr lang="en-US" sz="2700" dirty="0" err="1"/>
              <a:t>suất</a:t>
            </a:r>
            <a:r>
              <a:rPr lang="en-US" sz="2700" dirty="0"/>
              <a:t> </a:t>
            </a:r>
            <a:r>
              <a:rPr lang="en-US" sz="2700" dirty="0" err="1"/>
              <a:t>xảy</a:t>
            </a:r>
            <a:r>
              <a:rPr lang="en-US" sz="2700" dirty="0"/>
              <a:t> </a:t>
            </a:r>
            <a:r>
              <a:rPr lang="en-US" sz="2700" dirty="0" err="1"/>
              <a:t>ra</a:t>
            </a:r>
            <a:r>
              <a:rPr lang="en-US" sz="2700" dirty="0"/>
              <a:t>, và </a:t>
            </a:r>
            <a:r>
              <a:rPr lang="en-US" sz="2700" dirty="0" err="1"/>
              <a:t>kết</a:t>
            </a:r>
            <a:r>
              <a:rPr lang="en-US" sz="2700" dirty="0"/>
              <a:t> </a:t>
            </a:r>
            <a:r>
              <a:rPr lang="en-US" sz="2700" dirty="0" err="1"/>
              <a:t>quả</a:t>
            </a:r>
            <a:r>
              <a:rPr lang="en-US" sz="2700" dirty="0"/>
              <a:t> </a:t>
            </a:r>
            <a:r>
              <a:rPr lang="en-US" sz="2700" dirty="0" err="1"/>
              <a:t>nếu</a:t>
            </a:r>
            <a:r>
              <a:rPr lang="en-US" sz="2700" dirty="0"/>
              <a:t> </a:t>
            </a:r>
            <a:r>
              <a:rPr lang="en-US" sz="2700" dirty="0" err="1"/>
              <a:t>xảy</a:t>
            </a:r>
            <a:r>
              <a:rPr lang="en-US" sz="2700" dirty="0"/>
              <a:t> </a:t>
            </a:r>
            <a:r>
              <a:rPr lang="en-US" sz="2700" dirty="0" err="1"/>
              <a:t>ra</a:t>
            </a:r>
            <a:r>
              <a:rPr lang="en-US" sz="2700" dirty="0"/>
              <a:t>… </a:t>
            </a:r>
          </a:p>
        </p:txBody>
      </p:sp>
      <p:sp>
        <p:nvSpPr>
          <p:cNvPr id="47106" name="Rectangle 2"/>
          <p:cNvSpPr>
            <a:spLocks noGrp="1" noChangeArrowheads="1"/>
          </p:cNvSpPr>
          <p:nvPr>
            <p:ph type="title"/>
          </p:nvPr>
        </p:nvSpPr>
        <p:spPr>
          <a:xfrm>
            <a:off x="381000" y="427038"/>
            <a:ext cx="8305800" cy="868362"/>
          </a:xfrm>
        </p:spPr>
        <p:txBody>
          <a:bodyPr>
            <a:normAutofit/>
          </a:bodyPr>
          <a:lstStyle/>
          <a:p>
            <a:pPr algn="ctr"/>
            <a:r>
              <a:rPr lang="en-US" sz="4000" dirty="0"/>
              <a:t>Ma </a:t>
            </a:r>
            <a:r>
              <a:rPr lang="en-US" sz="4000" dirty="0" err="1"/>
              <a:t>trận</a:t>
            </a:r>
            <a:r>
              <a:rPr lang="en-US" sz="4000" dirty="0"/>
              <a:t> </a:t>
            </a:r>
            <a:r>
              <a:rPr lang="en-US" sz="4000" dirty="0" err="1"/>
              <a:t>ảnh</a:t>
            </a:r>
            <a:r>
              <a:rPr lang="en-US" sz="4000" dirty="0"/>
              <a:t> </a:t>
            </a:r>
            <a:r>
              <a:rPr lang="en-US" sz="4000" dirty="0" err="1"/>
              <a:t>hưởng</a:t>
            </a:r>
            <a:endParaRPr lang="en-US" sz="4000" dirty="0"/>
          </a:p>
        </p:txBody>
      </p:sp>
      <p:sp>
        <p:nvSpPr>
          <p:cNvPr id="47109"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F1B52981-2898-45CA-B15A-84D5B0A9E4AC}" type="slidenum">
              <a:rPr lang="en-US" smtClean="0"/>
              <a:pPr>
                <a:defRPr/>
              </a:pPr>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457200" y="0"/>
            <a:ext cx="8229600" cy="1143000"/>
          </a:xfrm>
        </p:spPr>
        <p:txBody>
          <a:bodyPr>
            <a:normAutofit/>
          </a:bodyPr>
          <a:lstStyle/>
          <a:p>
            <a:pPr algn="ctr"/>
            <a:r>
              <a:rPr lang="en-US" sz="3600" dirty="0" err="1"/>
              <a:t>Ví</a:t>
            </a:r>
            <a:r>
              <a:rPr lang="en-US" sz="3600" dirty="0"/>
              <a:t> </a:t>
            </a:r>
            <a:r>
              <a:rPr lang="en-US" sz="3600" dirty="0" err="1"/>
              <a:t>dụ</a:t>
            </a:r>
            <a:r>
              <a:rPr lang="en-US" sz="3600" dirty="0"/>
              <a:t>, ma </a:t>
            </a:r>
            <a:r>
              <a:rPr lang="en-US" sz="3600" dirty="0" err="1"/>
              <a:t>trận</a:t>
            </a:r>
            <a:r>
              <a:rPr lang="en-US" sz="3600" dirty="0"/>
              <a:t> </a:t>
            </a:r>
            <a:r>
              <a:rPr lang="en-US" sz="3600" dirty="0" err="1"/>
              <a:t>ảnh</a:t>
            </a:r>
            <a:r>
              <a:rPr lang="en-US" sz="3600" dirty="0"/>
              <a:t> </a:t>
            </a:r>
            <a:r>
              <a:rPr lang="en-US" sz="3600" dirty="0" err="1"/>
              <a:t>hưởng</a:t>
            </a:r>
            <a:endParaRPr lang="en-US" sz="3600" dirty="0"/>
          </a:p>
        </p:txBody>
      </p:sp>
      <p:sp>
        <p:nvSpPr>
          <p:cNvPr id="48133" name="Footer Placeholder 6"/>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buFontTx/>
              <a:buNone/>
              <a:defRPr/>
            </a:pPr>
            <a:fld id="{27900CE3-246C-4FFA-9784-4EC532A7D1F5}" type="slidenum">
              <a:rPr lang="en-US" smtClean="0"/>
              <a:pPr>
                <a:buFontTx/>
                <a:buNone/>
                <a:defRPr/>
              </a:pPr>
              <a:t>43</a:t>
            </a:fld>
            <a:endParaRPr lang="en-US" dirty="0"/>
          </a:p>
        </p:txBody>
      </p:sp>
      <p:pic>
        <p:nvPicPr>
          <p:cNvPr id="3" name="Picture 2"/>
          <p:cNvPicPr>
            <a:picLocks noChangeAspect="1"/>
          </p:cNvPicPr>
          <p:nvPr/>
        </p:nvPicPr>
        <p:blipFill>
          <a:blip r:embed="rId2"/>
          <a:stretch>
            <a:fillRect/>
          </a:stretch>
        </p:blipFill>
        <p:spPr>
          <a:xfrm>
            <a:off x="838200" y="1143000"/>
            <a:ext cx="7467600" cy="51990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457200" y="0"/>
            <a:ext cx="8229600" cy="1143000"/>
          </a:xfrm>
        </p:spPr>
        <p:txBody>
          <a:bodyPr>
            <a:normAutofit/>
          </a:bodyPr>
          <a:lstStyle/>
          <a:p>
            <a:pPr algn="ctr"/>
            <a:r>
              <a:rPr lang="en-US" sz="3600" dirty="0" err="1"/>
              <a:t>Ví</a:t>
            </a:r>
            <a:r>
              <a:rPr lang="en-US" sz="3600" dirty="0"/>
              <a:t> </a:t>
            </a:r>
            <a:r>
              <a:rPr lang="en-US" sz="3600" dirty="0" err="1"/>
              <a:t>dụ</a:t>
            </a:r>
            <a:r>
              <a:rPr lang="en-US" sz="3600" dirty="0"/>
              <a:t>, </a:t>
            </a:r>
            <a:r>
              <a:rPr lang="en-US" sz="3600" dirty="0" err="1"/>
              <a:t>sơ</a:t>
            </a:r>
            <a:r>
              <a:rPr lang="en-US" sz="3600" dirty="0"/>
              <a:t> </a:t>
            </a:r>
            <a:r>
              <a:rPr lang="en-US" sz="3600" dirty="0" err="1"/>
              <a:t>đồ</a:t>
            </a:r>
            <a:r>
              <a:rPr lang="en-US" sz="3600" dirty="0"/>
              <a:t> </a:t>
            </a:r>
            <a:r>
              <a:rPr lang="en-US" sz="3600" dirty="0" err="1"/>
              <a:t>cấp</a:t>
            </a:r>
            <a:r>
              <a:rPr lang="en-US" sz="3600" dirty="0"/>
              <a:t> </a:t>
            </a:r>
            <a:r>
              <a:rPr lang="en-US" sz="3600" dirty="0" err="1"/>
              <a:t>độ</a:t>
            </a:r>
            <a:r>
              <a:rPr lang="en-US" sz="3600" dirty="0"/>
              <a:t> </a:t>
            </a:r>
            <a:r>
              <a:rPr lang="en-US" sz="3600" dirty="0" err="1"/>
              <a:t>rủi</a:t>
            </a:r>
            <a:r>
              <a:rPr lang="en-US" sz="3600" dirty="0"/>
              <a:t> </a:t>
            </a:r>
            <a:r>
              <a:rPr lang="en-US" sz="3600" dirty="0" err="1"/>
              <a:t>ro</a:t>
            </a:r>
            <a:endParaRPr lang="en-US" sz="3600" dirty="0"/>
          </a:p>
        </p:txBody>
      </p:sp>
      <p:sp>
        <p:nvSpPr>
          <p:cNvPr id="49157" name="Footer Placeholder 6"/>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buFontTx/>
              <a:buNone/>
              <a:defRPr/>
            </a:pPr>
            <a:fld id="{B79A39ED-92B0-40AB-ABB3-0923F5D3EDE6}" type="slidenum">
              <a:rPr lang="en-US" smtClean="0"/>
              <a:pPr>
                <a:buFontTx/>
                <a:buNone/>
                <a:defRPr/>
              </a:pPr>
              <a:t>44</a:t>
            </a:fld>
            <a:endParaRPr lang="en-US" dirty="0"/>
          </a:p>
        </p:txBody>
      </p:sp>
      <p:pic>
        <p:nvPicPr>
          <p:cNvPr id="4" name="Picture 3"/>
          <p:cNvPicPr>
            <a:picLocks noChangeAspect="1"/>
          </p:cNvPicPr>
          <p:nvPr/>
        </p:nvPicPr>
        <p:blipFill>
          <a:blip r:embed="rId2"/>
          <a:stretch>
            <a:fillRect/>
          </a:stretch>
        </p:blipFill>
        <p:spPr>
          <a:xfrm>
            <a:off x="1066800" y="1143000"/>
            <a:ext cx="7086600" cy="528273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amond(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idx="1"/>
          </p:nvPr>
        </p:nvSpPr>
        <p:spPr>
          <a:xfrm>
            <a:off x="609600" y="1676400"/>
            <a:ext cx="7848600" cy="3962400"/>
          </a:xfrm>
        </p:spPr>
        <p:txBody>
          <a:bodyPr/>
          <a:lstStyle/>
          <a:p>
            <a:pPr algn="just">
              <a:spcAft>
                <a:spcPts val="2400"/>
              </a:spcAft>
            </a:pPr>
            <a:r>
              <a:rPr lang="en-US" dirty="0">
                <a:effectLst>
                  <a:outerShdw blurRad="38100" dist="38100" dir="2700000" algn="tl">
                    <a:srgbClr val="000000">
                      <a:alpha val="43137"/>
                    </a:srgbClr>
                  </a:outerShdw>
                </a:effectLst>
              </a:rPr>
              <a:t>Theo </a:t>
            </a:r>
            <a:r>
              <a:rPr lang="en-US" dirty="0" err="1">
                <a:effectLst>
                  <a:outerShdw blurRad="38100" dist="38100" dir="2700000" algn="tl">
                    <a:srgbClr val="000000">
                      <a:alpha val="43137"/>
                    </a:srgbClr>
                  </a:outerShdw>
                </a:effectLst>
              </a:rPr>
              <a:t>dõi</a:t>
            </a:r>
            <a:r>
              <a:rPr lang="en-US" dirty="0">
                <a:effectLst>
                  <a:outerShdw blurRad="38100" dist="38100" dir="2700000" algn="tl">
                    <a:srgbClr val="000000">
                      <a:alpha val="43137"/>
                    </a:srgbClr>
                  </a:outerShdw>
                </a:effectLst>
              </a:rPr>
              <a:t> 10 </a:t>
            </a:r>
            <a:r>
              <a:rPr lang="en-US" dirty="0" err="1">
                <a:effectLst>
                  <a:outerShdw blurRad="38100" dist="38100" dir="2700000" algn="tl">
                    <a:srgbClr val="000000">
                      <a:alpha val="43137"/>
                    </a:srgbClr>
                  </a:outerShdw>
                </a:effectLst>
              </a:rPr>
              <a:t>rủi</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ro</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hàng</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đầu</a:t>
            </a:r>
            <a:r>
              <a:rPr lang="en-US" dirty="0"/>
              <a:t> (</a:t>
            </a:r>
            <a:r>
              <a:rPr lang="en-US" dirty="0">
                <a:solidFill>
                  <a:srgbClr val="0070C0"/>
                </a:solidFill>
              </a:rPr>
              <a:t>top 10 risk item tracking</a:t>
            </a:r>
            <a:r>
              <a:rPr lang="en-US" dirty="0"/>
              <a:t>): </a:t>
            </a:r>
            <a:r>
              <a:rPr lang="en-US" dirty="0" err="1"/>
              <a:t>giúp</a:t>
            </a:r>
            <a:r>
              <a:rPr lang="en-US" dirty="0"/>
              <a:t> </a:t>
            </a:r>
            <a:r>
              <a:rPr lang="en-US" dirty="0" err="1"/>
              <a:t>xác</a:t>
            </a:r>
            <a:r>
              <a:rPr lang="en-US" dirty="0"/>
              <a:t> </a:t>
            </a:r>
            <a:r>
              <a:rPr lang="en-US" dirty="0" err="1"/>
              <a:t>định</a:t>
            </a:r>
            <a:r>
              <a:rPr lang="en-US" dirty="0"/>
              <a:t> </a:t>
            </a:r>
            <a:r>
              <a:rPr lang="en-US" dirty="0" err="1"/>
              <a:t>các</a:t>
            </a:r>
            <a:r>
              <a:rPr lang="en-US" dirty="0"/>
              <a:t> </a:t>
            </a:r>
            <a:r>
              <a:rPr lang="en-US" dirty="0" err="1"/>
              <a:t>rủi</a:t>
            </a:r>
            <a:r>
              <a:rPr lang="en-US" dirty="0"/>
              <a:t> </a:t>
            </a:r>
            <a:r>
              <a:rPr lang="en-US" dirty="0" err="1"/>
              <a:t>ro</a:t>
            </a:r>
            <a:r>
              <a:rPr lang="en-US" dirty="0"/>
              <a:t> và </a:t>
            </a:r>
            <a:r>
              <a:rPr lang="en-US" dirty="0" err="1"/>
              <a:t>duy</a:t>
            </a:r>
            <a:r>
              <a:rPr lang="en-US" dirty="0"/>
              <a:t> </a:t>
            </a:r>
            <a:r>
              <a:rPr lang="en-US" dirty="0" err="1"/>
              <a:t>trì</a:t>
            </a:r>
            <a:r>
              <a:rPr lang="en-US" dirty="0"/>
              <a:t> </a:t>
            </a:r>
            <a:r>
              <a:rPr lang="en-US" dirty="0" err="1"/>
              <a:t>nhận</a:t>
            </a:r>
            <a:r>
              <a:rPr lang="en-US" dirty="0"/>
              <a:t> </a:t>
            </a:r>
            <a:r>
              <a:rPr lang="en-US" dirty="0" err="1"/>
              <a:t>thức</a:t>
            </a:r>
            <a:r>
              <a:rPr lang="en-US" dirty="0"/>
              <a:t> </a:t>
            </a:r>
            <a:r>
              <a:rPr lang="en-US" dirty="0" err="1"/>
              <a:t>về</a:t>
            </a:r>
            <a:r>
              <a:rPr lang="en-US" dirty="0"/>
              <a:t> </a:t>
            </a:r>
            <a:r>
              <a:rPr lang="en-US" dirty="0" err="1"/>
              <a:t>rủi</a:t>
            </a:r>
            <a:r>
              <a:rPr lang="en-US" dirty="0"/>
              <a:t> </a:t>
            </a:r>
            <a:r>
              <a:rPr lang="en-US" dirty="0" err="1"/>
              <a:t>ro</a:t>
            </a:r>
            <a:r>
              <a:rPr lang="en-US" dirty="0"/>
              <a:t> </a:t>
            </a:r>
            <a:r>
              <a:rPr lang="en-US" dirty="0" err="1"/>
              <a:t>suốt</a:t>
            </a:r>
            <a:r>
              <a:rPr lang="en-US" dirty="0"/>
              <a:t> </a:t>
            </a:r>
            <a:r>
              <a:rPr lang="en-US" dirty="0" err="1"/>
              <a:t>vòng</a:t>
            </a:r>
            <a:r>
              <a:rPr lang="en-US" dirty="0"/>
              <a:t> </a:t>
            </a:r>
            <a:r>
              <a:rPr lang="en-US" dirty="0" err="1"/>
              <a:t>đời</a:t>
            </a:r>
            <a:r>
              <a:rPr lang="en-US" dirty="0"/>
              <a:t> </a:t>
            </a:r>
            <a:r>
              <a:rPr lang="en-US" dirty="0" err="1"/>
              <a:t>dự</a:t>
            </a:r>
            <a:r>
              <a:rPr lang="en-US" dirty="0"/>
              <a:t> </a:t>
            </a:r>
            <a:r>
              <a:rPr lang="en-US" dirty="0" err="1"/>
              <a:t>án</a:t>
            </a:r>
            <a:r>
              <a:rPr lang="en-US" dirty="0"/>
              <a:t>.</a:t>
            </a:r>
            <a:endParaRPr lang="en-US" b="1" dirty="0"/>
          </a:p>
          <a:p>
            <a:pPr algn="just"/>
            <a:r>
              <a:rPr lang="en-US" dirty="0" err="1"/>
              <a:t>Các</a:t>
            </a:r>
            <a:r>
              <a:rPr lang="en-US" dirty="0"/>
              <a:t> </a:t>
            </a:r>
            <a:r>
              <a:rPr lang="en-US" dirty="0" err="1"/>
              <a:t>bước</a:t>
            </a:r>
            <a:r>
              <a:rPr lang="en-US" dirty="0"/>
              <a:t> </a:t>
            </a:r>
            <a:r>
              <a:rPr lang="en-US" dirty="0" err="1"/>
              <a:t>thực</a:t>
            </a:r>
            <a:r>
              <a:rPr lang="en-US" dirty="0"/>
              <a:t> </a:t>
            </a:r>
            <a:r>
              <a:rPr lang="en-US" dirty="0" err="1"/>
              <a:t>hiện</a:t>
            </a:r>
            <a:r>
              <a:rPr lang="en-US" dirty="0"/>
              <a:t>:</a:t>
            </a:r>
          </a:p>
          <a:p>
            <a:pPr lvl="1" algn="just">
              <a:buFont typeface="Arial" panose="020B0604020202020204" pitchFamily="34" charset="0"/>
              <a:buChar char="•"/>
            </a:pPr>
            <a:r>
              <a:rPr lang="en-US" sz="2400" dirty="0" err="1"/>
              <a:t>Thiết</a:t>
            </a:r>
            <a:r>
              <a:rPr lang="en-US" sz="2400" dirty="0"/>
              <a:t> </a:t>
            </a:r>
            <a:r>
              <a:rPr lang="en-US" sz="2400" dirty="0" err="1"/>
              <a:t>lập</a:t>
            </a:r>
            <a:r>
              <a:rPr lang="en-US" sz="2400" dirty="0"/>
              <a:t> </a:t>
            </a:r>
            <a:r>
              <a:rPr lang="en-US" sz="2400"/>
              <a:t>10 sự kiện </a:t>
            </a:r>
            <a:r>
              <a:rPr lang="en-US" sz="2400" dirty="0" err="1"/>
              <a:t>rủi</a:t>
            </a:r>
            <a:r>
              <a:rPr lang="en-US" sz="2400" dirty="0"/>
              <a:t> </a:t>
            </a:r>
            <a:r>
              <a:rPr lang="en-US" sz="2400" dirty="0" err="1"/>
              <a:t>ro</a:t>
            </a:r>
            <a:r>
              <a:rPr lang="en-US" sz="2400" dirty="0"/>
              <a:t> </a:t>
            </a:r>
            <a:r>
              <a:rPr lang="en-US" sz="2400" dirty="0" err="1"/>
              <a:t>hàng</a:t>
            </a:r>
            <a:r>
              <a:rPr lang="en-US" sz="2400" dirty="0"/>
              <a:t> </a:t>
            </a:r>
            <a:r>
              <a:rPr lang="en-US" sz="2400" dirty="0" err="1"/>
              <a:t>đầu</a:t>
            </a:r>
            <a:r>
              <a:rPr lang="en-US" sz="2400" dirty="0"/>
              <a:t> </a:t>
            </a:r>
          </a:p>
          <a:p>
            <a:pPr lvl="1" algn="just">
              <a:buFont typeface="Arial" panose="020B0604020202020204" pitchFamily="34" charset="0"/>
              <a:buChar char="•"/>
            </a:pPr>
            <a:r>
              <a:rPr lang="en-US" sz="2400" dirty="0" err="1"/>
              <a:t>Liệt</a:t>
            </a:r>
            <a:r>
              <a:rPr lang="en-US" sz="2400" dirty="0"/>
              <a:t> </a:t>
            </a:r>
            <a:r>
              <a:rPr lang="en-US" sz="2400" dirty="0" err="1"/>
              <a:t>kê</a:t>
            </a:r>
            <a:r>
              <a:rPr lang="en-US" sz="2400" dirty="0"/>
              <a:t> </a:t>
            </a:r>
            <a:r>
              <a:rPr lang="en-US" sz="2400" dirty="0" err="1"/>
              <a:t>cấp</a:t>
            </a:r>
            <a:r>
              <a:rPr lang="en-US" sz="2400" dirty="0"/>
              <a:t> </a:t>
            </a:r>
            <a:r>
              <a:rPr lang="en-US" sz="2400" dirty="0" err="1"/>
              <a:t>độ</a:t>
            </a:r>
            <a:r>
              <a:rPr lang="en-US" sz="2400" dirty="0"/>
              <a:t> </a:t>
            </a:r>
            <a:r>
              <a:rPr lang="en-US" sz="2400" dirty="0" err="1"/>
              <a:t>hiện</a:t>
            </a:r>
            <a:r>
              <a:rPr lang="en-US" sz="2400" dirty="0"/>
              <a:t> </a:t>
            </a:r>
            <a:r>
              <a:rPr lang="en-US" sz="2400" dirty="0" err="1"/>
              <a:t>tại</a:t>
            </a:r>
            <a:r>
              <a:rPr lang="en-US" sz="2400" dirty="0"/>
              <a:t>, </a:t>
            </a:r>
            <a:r>
              <a:rPr lang="en-US" sz="2400" dirty="0" err="1"/>
              <a:t>quá</a:t>
            </a:r>
            <a:r>
              <a:rPr lang="en-US" sz="2400" dirty="0"/>
              <a:t> </a:t>
            </a:r>
            <a:r>
              <a:rPr lang="en-US" sz="2400" dirty="0" err="1"/>
              <a:t>khứ</a:t>
            </a:r>
            <a:r>
              <a:rPr lang="en-US" sz="2400" dirty="0"/>
              <a:t>, </a:t>
            </a:r>
            <a:r>
              <a:rPr lang="en-US" sz="2400" dirty="0" err="1"/>
              <a:t>số</a:t>
            </a:r>
            <a:r>
              <a:rPr lang="en-US" sz="2400" dirty="0"/>
              <a:t> </a:t>
            </a:r>
            <a:r>
              <a:rPr lang="en-US" sz="2400" dirty="0" err="1"/>
              <a:t>lần</a:t>
            </a:r>
            <a:r>
              <a:rPr lang="en-US" sz="2400" dirty="0"/>
              <a:t> </a:t>
            </a:r>
            <a:r>
              <a:rPr lang="en-US" sz="2400" dirty="0" err="1"/>
              <a:t>diễn</a:t>
            </a:r>
            <a:r>
              <a:rPr lang="en-US" sz="2400" dirty="0"/>
              <a:t> </a:t>
            </a:r>
            <a:r>
              <a:rPr lang="en-US" sz="2400" dirty="0" err="1"/>
              <a:t>ra</a:t>
            </a:r>
            <a:endParaRPr lang="en-US" sz="2400" dirty="0"/>
          </a:p>
          <a:p>
            <a:pPr lvl="1" algn="just">
              <a:buFont typeface="Arial" panose="020B0604020202020204" pitchFamily="34" charset="0"/>
              <a:buChar char="•"/>
            </a:pPr>
            <a:r>
              <a:rPr lang="en-US" sz="2400" dirty="0" err="1"/>
              <a:t>Tóm</a:t>
            </a:r>
            <a:r>
              <a:rPr lang="en-US" sz="2400" dirty="0"/>
              <a:t> </a:t>
            </a:r>
            <a:r>
              <a:rPr lang="en-US" sz="2400" dirty="0" err="1"/>
              <a:t>tắt</a:t>
            </a:r>
            <a:r>
              <a:rPr lang="en-US" sz="2400" dirty="0"/>
              <a:t> </a:t>
            </a:r>
            <a:r>
              <a:rPr lang="en-US" sz="2400" dirty="0" err="1"/>
              <a:t>quá</a:t>
            </a:r>
            <a:r>
              <a:rPr lang="en-US" sz="2400" dirty="0"/>
              <a:t> </a:t>
            </a:r>
            <a:r>
              <a:rPr lang="en-US" sz="2400" dirty="0" err="1"/>
              <a:t>trình</a:t>
            </a:r>
            <a:r>
              <a:rPr lang="en-US" sz="2400" dirty="0"/>
              <a:t> </a:t>
            </a:r>
            <a:r>
              <a:rPr lang="en-US" sz="2400" dirty="0" err="1"/>
              <a:t>giải</a:t>
            </a:r>
            <a:r>
              <a:rPr lang="en-US" sz="2400" dirty="0"/>
              <a:t> </a:t>
            </a:r>
            <a:r>
              <a:rPr lang="en-US" sz="2400" dirty="0" err="1"/>
              <a:t>quyết</a:t>
            </a:r>
            <a:r>
              <a:rPr lang="en-US" sz="2400" dirty="0"/>
              <a:t> </a:t>
            </a:r>
            <a:r>
              <a:rPr lang="en-US" sz="2400" dirty="0" err="1"/>
              <a:t>rủi</a:t>
            </a:r>
            <a:r>
              <a:rPr lang="en-US" sz="2400" dirty="0"/>
              <a:t> </a:t>
            </a:r>
            <a:r>
              <a:rPr lang="en-US" sz="2400" dirty="0" err="1"/>
              <a:t>ro</a:t>
            </a:r>
            <a:r>
              <a:rPr lang="en-US" sz="2400" dirty="0"/>
              <a:t>…</a:t>
            </a:r>
          </a:p>
          <a:p>
            <a:pPr marL="109537" indent="0" algn="just">
              <a:buNone/>
            </a:pPr>
            <a:endParaRPr lang="en-US" dirty="0"/>
          </a:p>
        </p:txBody>
      </p:sp>
      <p:sp>
        <p:nvSpPr>
          <p:cNvPr id="50178" name="Rectangle 2"/>
          <p:cNvSpPr>
            <a:spLocks noGrp="1" noChangeArrowheads="1"/>
          </p:cNvSpPr>
          <p:nvPr>
            <p:ph type="title"/>
          </p:nvPr>
        </p:nvSpPr>
        <p:spPr>
          <a:xfrm>
            <a:off x="381000" y="427038"/>
            <a:ext cx="8305800" cy="792162"/>
          </a:xfrm>
        </p:spPr>
        <p:txBody>
          <a:bodyPr>
            <a:normAutofit/>
          </a:bodyPr>
          <a:lstStyle/>
          <a:p>
            <a:pPr algn="ctr"/>
            <a:r>
              <a:rPr lang="en-US" sz="4000" dirty="0"/>
              <a:t>Theo </a:t>
            </a:r>
            <a:r>
              <a:rPr lang="en-US" sz="4000" dirty="0" err="1"/>
              <a:t>dõi</a:t>
            </a:r>
            <a:r>
              <a:rPr lang="en-US" sz="4000" dirty="0"/>
              <a:t> 10 </a:t>
            </a:r>
            <a:r>
              <a:rPr lang="en-US" sz="4000" dirty="0" err="1"/>
              <a:t>rủi</a:t>
            </a:r>
            <a:r>
              <a:rPr lang="en-US" sz="4000" dirty="0"/>
              <a:t> </a:t>
            </a:r>
            <a:r>
              <a:rPr lang="en-US" sz="4000" dirty="0" err="1"/>
              <a:t>ro</a:t>
            </a:r>
            <a:r>
              <a:rPr lang="en-US" sz="4000" dirty="0"/>
              <a:t> </a:t>
            </a:r>
            <a:r>
              <a:rPr lang="en-US" sz="4000" dirty="0" err="1"/>
              <a:t>hàng</a:t>
            </a:r>
            <a:r>
              <a:rPr lang="en-US" sz="4000" dirty="0"/>
              <a:t> </a:t>
            </a:r>
            <a:r>
              <a:rPr lang="en-US" sz="4000" dirty="0" err="1"/>
              <a:t>đầu</a:t>
            </a:r>
            <a:endParaRPr lang="en-US" sz="4000" dirty="0"/>
          </a:p>
        </p:txBody>
      </p:sp>
      <p:sp>
        <p:nvSpPr>
          <p:cNvPr id="5018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DFBD6705-183D-446B-BB8C-F0D6B1236EAD}" type="slidenum">
              <a:rPr lang="en-US" smtClean="0"/>
              <a:pPr>
                <a:defRPr/>
              </a:pPr>
              <a:t>45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7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17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179">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17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0" y="152400"/>
            <a:ext cx="9144000" cy="1143000"/>
          </a:xfrm>
        </p:spPr>
        <p:txBody>
          <a:bodyPr>
            <a:normAutofit/>
          </a:bodyPr>
          <a:lstStyle/>
          <a:p>
            <a:pPr algn="ctr"/>
            <a:r>
              <a:rPr lang="en-US" sz="3600" dirty="0" err="1"/>
              <a:t>Ví</a:t>
            </a:r>
            <a:r>
              <a:rPr lang="en-US" sz="3600" dirty="0"/>
              <a:t> </a:t>
            </a:r>
            <a:r>
              <a:rPr lang="en-US" sz="3600" dirty="0" err="1"/>
              <a:t>dụ</a:t>
            </a:r>
            <a:r>
              <a:rPr lang="en-US" sz="3600" dirty="0"/>
              <a:t>, </a:t>
            </a:r>
            <a:r>
              <a:rPr lang="en-US" sz="3600" dirty="0" err="1"/>
              <a:t>bảng</a:t>
            </a:r>
            <a:r>
              <a:rPr lang="en-US" sz="3600" dirty="0"/>
              <a:t> </a:t>
            </a:r>
            <a:r>
              <a:rPr lang="en-US" sz="3600" dirty="0" err="1"/>
              <a:t>theo</a:t>
            </a:r>
            <a:r>
              <a:rPr lang="en-US" sz="3600" dirty="0"/>
              <a:t> </a:t>
            </a:r>
            <a:r>
              <a:rPr lang="en-US" sz="3600" dirty="0" err="1"/>
              <a:t>dõi</a:t>
            </a:r>
            <a:r>
              <a:rPr lang="en-US" sz="3600" dirty="0"/>
              <a:t> 10 </a:t>
            </a:r>
            <a:r>
              <a:rPr lang="en-US" sz="3600" dirty="0" err="1"/>
              <a:t>rủi</a:t>
            </a:r>
            <a:r>
              <a:rPr lang="en-US" sz="3600" dirty="0"/>
              <a:t> </a:t>
            </a:r>
            <a:r>
              <a:rPr lang="en-US" sz="3600" dirty="0" err="1"/>
              <a:t>ro</a:t>
            </a:r>
            <a:r>
              <a:rPr lang="en-US" sz="3600" dirty="0"/>
              <a:t> </a:t>
            </a:r>
            <a:r>
              <a:rPr lang="en-US" sz="3600" dirty="0" err="1"/>
              <a:t>hàng</a:t>
            </a:r>
            <a:r>
              <a:rPr lang="en-US" sz="3600" dirty="0"/>
              <a:t> </a:t>
            </a:r>
            <a:r>
              <a:rPr lang="en-US" sz="3600" dirty="0" err="1"/>
              <a:t>đầu</a:t>
            </a:r>
            <a:endParaRPr lang="en-US" sz="3600" dirty="0"/>
          </a:p>
        </p:txBody>
      </p:sp>
      <p:sp>
        <p:nvSpPr>
          <p:cNvPr id="51204" name="Footer Placeholder 6"/>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buFontTx/>
              <a:buNone/>
              <a:defRPr/>
            </a:pPr>
            <a:fld id="{F263C860-02BA-4501-907E-6130C518FBDC}" type="slidenum">
              <a:rPr lang="en-US" smtClean="0"/>
              <a:pPr>
                <a:buFontTx/>
                <a:buNone/>
                <a:defRPr/>
              </a:pPr>
              <a:t>46</a:t>
            </a:fld>
            <a:endParaRPr lang="en-US" dirty="0"/>
          </a:p>
        </p:txBody>
      </p:sp>
      <p:pic>
        <p:nvPicPr>
          <p:cNvPr id="2" name="Picture 1"/>
          <p:cNvPicPr>
            <a:picLocks noChangeAspect="1"/>
          </p:cNvPicPr>
          <p:nvPr/>
        </p:nvPicPr>
        <p:blipFill>
          <a:blip r:embed="rId2"/>
          <a:stretch>
            <a:fillRect/>
          </a:stretch>
        </p:blipFill>
        <p:spPr>
          <a:xfrm>
            <a:off x="50799" y="1447800"/>
            <a:ext cx="9017001" cy="4267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24000"/>
            <a:ext cx="8229600" cy="2743200"/>
          </a:xfrm>
          <a:solidFill>
            <a:schemeClr val="bg2"/>
          </a:solidFill>
        </p:spPr>
        <p:txBody>
          <a:bodyPr/>
          <a:lstStyle/>
          <a:p>
            <a:pPr algn="just">
              <a:spcBef>
                <a:spcPts val="600"/>
              </a:spcBef>
              <a:spcAft>
                <a:spcPts val="1200"/>
              </a:spcAft>
            </a:pPr>
            <a:r>
              <a:rPr lang="en-US" sz="2400" dirty="0"/>
              <a:t>2012: 100 </a:t>
            </a:r>
            <a:r>
              <a:rPr lang="en-US" sz="2400" dirty="0" err="1"/>
              <a:t>năm</a:t>
            </a:r>
            <a:r>
              <a:rPr lang="en-US" sz="2400" dirty="0"/>
              <a:t> </a:t>
            </a:r>
            <a:r>
              <a:rPr lang="en-US" sz="2400" dirty="0" err="1"/>
              <a:t>tàu</a:t>
            </a:r>
            <a:r>
              <a:rPr lang="en-US" sz="2400" dirty="0"/>
              <a:t> </a:t>
            </a:r>
            <a:r>
              <a:rPr lang="en-US" sz="2400" dirty="0" err="1"/>
              <a:t>Tinatic</a:t>
            </a:r>
            <a:r>
              <a:rPr lang="en-US" sz="2400" dirty="0"/>
              <a:t> </a:t>
            </a:r>
            <a:r>
              <a:rPr lang="en-US" sz="2400" dirty="0" err="1"/>
              <a:t>bị</a:t>
            </a:r>
            <a:r>
              <a:rPr lang="en-US" sz="2400" dirty="0"/>
              <a:t> </a:t>
            </a:r>
            <a:r>
              <a:rPr lang="en-US" sz="2400" dirty="0" err="1"/>
              <a:t>chìm</a:t>
            </a:r>
            <a:r>
              <a:rPr lang="en-US" sz="2400" dirty="0"/>
              <a:t>.</a:t>
            </a:r>
          </a:p>
          <a:p>
            <a:pPr algn="just"/>
            <a:r>
              <a:rPr lang="en-US" sz="2400"/>
              <a:t>2017: </a:t>
            </a:r>
            <a:r>
              <a:rPr lang="en-US" sz="2400" dirty="0"/>
              <a:t>PMI </a:t>
            </a:r>
            <a:r>
              <a:rPr lang="en-US" sz="2400" dirty="0" err="1"/>
              <a:t>giải</a:t>
            </a:r>
            <a:r>
              <a:rPr lang="en-US" sz="2400" dirty="0"/>
              <a:t> </a:t>
            </a:r>
            <a:r>
              <a:rPr lang="en-US" sz="2400" dirty="0" err="1"/>
              <a:t>thích</a:t>
            </a:r>
            <a:r>
              <a:rPr lang="en-US" sz="2400" dirty="0"/>
              <a:t> </a:t>
            </a:r>
            <a:r>
              <a:rPr lang="en-US" sz="2400" dirty="0" err="1"/>
              <a:t>cách</a:t>
            </a:r>
            <a:r>
              <a:rPr lang="en-US" sz="2400" dirty="0"/>
              <a:t> </a:t>
            </a:r>
            <a:r>
              <a:rPr lang="en-US" sz="2400" dirty="0" err="1"/>
              <a:t>để</a:t>
            </a:r>
            <a:r>
              <a:rPr lang="en-US" sz="2400" dirty="0"/>
              <a:t> </a:t>
            </a:r>
            <a:r>
              <a:rPr lang="en-US" sz="2400" dirty="0" err="1"/>
              <a:t>tránh</a:t>
            </a:r>
            <a:r>
              <a:rPr lang="en-US" sz="2400" dirty="0"/>
              <a:t> “</a:t>
            </a:r>
            <a:r>
              <a:rPr lang="en-US" sz="2400" i="1" dirty="0" err="1"/>
              <a:t>nhân</a:t>
            </a:r>
            <a:r>
              <a:rPr lang="en-US" sz="2400" i="1" dirty="0"/>
              <a:t> </a:t>
            </a:r>
            <a:r>
              <a:rPr lang="en-US" sz="2400" i="1" dirty="0" err="1"/>
              <a:t>tố</a:t>
            </a:r>
            <a:r>
              <a:rPr lang="en-US" sz="2400" i="1" dirty="0"/>
              <a:t> Titanic</a:t>
            </a:r>
            <a:r>
              <a:rPr lang="en-US" sz="2400" dirty="0"/>
              <a:t>” </a:t>
            </a:r>
            <a:r>
              <a:rPr lang="en-US" sz="2400" dirty="0" err="1"/>
              <a:t>trong</a:t>
            </a:r>
            <a:r>
              <a:rPr lang="en-US" sz="2400" dirty="0"/>
              <a:t> </a:t>
            </a:r>
            <a:r>
              <a:rPr lang="en-US" sz="2400" dirty="0" err="1"/>
              <a:t>dự</a:t>
            </a:r>
            <a:r>
              <a:rPr lang="en-US" sz="2400" dirty="0"/>
              <a:t> </a:t>
            </a:r>
            <a:r>
              <a:rPr lang="en-US" sz="2400" dirty="0" err="1"/>
              <a:t>án</a:t>
            </a:r>
            <a:r>
              <a:rPr lang="en-US" sz="2400" dirty="0"/>
              <a:t> - </a:t>
            </a:r>
            <a:r>
              <a:rPr lang="en-US" sz="2400" dirty="0" err="1"/>
              <a:t>phân</a:t>
            </a:r>
            <a:r>
              <a:rPr lang="en-US" sz="2400" dirty="0"/>
              <a:t> </a:t>
            </a:r>
            <a:r>
              <a:rPr lang="en-US" sz="2400" dirty="0" err="1"/>
              <a:t>tích</a:t>
            </a:r>
            <a:r>
              <a:rPr lang="en-US" sz="2400" dirty="0"/>
              <a:t> </a:t>
            </a:r>
            <a:r>
              <a:rPr lang="en-US" sz="2400" dirty="0" err="1"/>
              <a:t>sự</a:t>
            </a:r>
            <a:r>
              <a:rPr lang="en-US" sz="2400" dirty="0"/>
              <a:t> </a:t>
            </a:r>
            <a:r>
              <a:rPr lang="en-US" sz="2400" dirty="0" err="1"/>
              <a:t>phụ</a:t>
            </a:r>
            <a:r>
              <a:rPr lang="en-US" sz="2400" dirty="0"/>
              <a:t> </a:t>
            </a:r>
            <a:r>
              <a:rPr lang="en-US" sz="2400" dirty="0" err="1"/>
              <a:t>thuộc</a:t>
            </a:r>
            <a:r>
              <a:rPr lang="en-US" sz="2400" dirty="0"/>
              <a:t> </a:t>
            </a:r>
            <a:r>
              <a:rPr lang="en-US" sz="2400" dirty="0" err="1"/>
              <a:t>của</a:t>
            </a:r>
            <a:r>
              <a:rPr lang="en-US" sz="2400" dirty="0"/>
              <a:t> </a:t>
            </a:r>
            <a:r>
              <a:rPr lang="en-US" sz="2400" dirty="0" err="1"/>
              <a:t>các</a:t>
            </a:r>
            <a:r>
              <a:rPr lang="en-US" sz="2400" dirty="0"/>
              <a:t> </a:t>
            </a:r>
            <a:r>
              <a:rPr lang="en-US" sz="2400" dirty="0" err="1"/>
              <a:t>rủi</a:t>
            </a:r>
            <a:r>
              <a:rPr lang="en-US" sz="2400" dirty="0"/>
              <a:t> ro.</a:t>
            </a:r>
          </a:p>
          <a:p>
            <a:pPr lvl="1" algn="just">
              <a:buFont typeface="Arial" panose="020B0604020202020204" pitchFamily="34" charset="0"/>
              <a:buChar char="•"/>
            </a:pPr>
            <a:r>
              <a:rPr lang="en-US" sz="2200" dirty="0" err="1"/>
              <a:t>V.d</a:t>
            </a:r>
            <a:r>
              <a:rPr lang="en-US" sz="2200" dirty="0"/>
              <a:t>., </a:t>
            </a:r>
            <a:r>
              <a:rPr lang="en-US" sz="2200" dirty="0" err="1"/>
              <a:t>khả</a:t>
            </a:r>
            <a:r>
              <a:rPr lang="en-US" sz="2200" dirty="0"/>
              <a:t> </a:t>
            </a:r>
            <a:r>
              <a:rPr lang="en-US" sz="2200" dirty="0" err="1"/>
              <a:t>năng</a:t>
            </a:r>
            <a:r>
              <a:rPr lang="en-US" sz="2200" dirty="0"/>
              <a:t> </a:t>
            </a:r>
            <a:r>
              <a:rPr lang="en-US" sz="2200" dirty="0" err="1"/>
              <a:t>xảy</a:t>
            </a:r>
            <a:r>
              <a:rPr lang="en-US" sz="2200" dirty="0"/>
              <a:t> </a:t>
            </a:r>
            <a:r>
              <a:rPr lang="en-US" sz="2200" dirty="0" err="1"/>
              <a:t>ra</a:t>
            </a:r>
            <a:r>
              <a:rPr lang="en-US" sz="2200" dirty="0"/>
              <a:t> </a:t>
            </a:r>
            <a:r>
              <a:rPr lang="en-US" sz="2200" dirty="0" err="1"/>
              <a:t>rủi</a:t>
            </a:r>
            <a:r>
              <a:rPr lang="en-US" sz="2200" dirty="0"/>
              <a:t> </a:t>
            </a:r>
            <a:r>
              <a:rPr lang="en-US" sz="2200" dirty="0" err="1"/>
              <a:t>ro</a:t>
            </a:r>
            <a:r>
              <a:rPr lang="en-US" sz="2200" dirty="0"/>
              <a:t> </a:t>
            </a:r>
            <a:r>
              <a:rPr lang="en-US" sz="2200" dirty="0" err="1"/>
              <a:t>thay</a:t>
            </a:r>
            <a:r>
              <a:rPr lang="en-US" sz="2200" dirty="0"/>
              <a:t> </a:t>
            </a:r>
            <a:r>
              <a:rPr lang="en-US" sz="2200" dirty="0" err="1"/>
              <a:t>đổi</a:t>
            </a:r>
            <a:r>
              <a:rPr lang="en-US" sz="2200" dirty="0"/>
              <a:t>, </a:t>
            </a:r>
            <a:r>
              <a:rPr lang="en-US" sz="2200" dirty="0" err="1"/>
              <a:t>nếu</a:t>
            </a:r>
            <a:r>
              <a:rPr lang="en-US" sz="2200" dirty="0"/>
              <a:t> </a:t>
            </a:r>
            <a:r>
              <a:rPr lang="en-US" sz="2200" dirty="0" err="1"/>
              <a:t>khả</a:t>
            </a:r>
            <a:r>
              <a:rPr lang="en-US" sz="2200" dirty="0"/>
              <a:t> </a:t>
            </a:r>
            <a:r>
              <a:rPr lang="en-US" sz="2200" dirty="0" err="1"/>
              <a:t>năng</a:t>
            </a:r>
            <a:r>
              <a:rPr lang="en-US" sz="2200" dirty="0"/>
              <a:t> </a:t>
            </a:r>
            <a:r>
              <a:rPr lang="en-US" sz="2200" dirty="0" err="1"/>
              <a:t>khác</a:t>
            </a:r>
            <a:r>
              <a:rPr lang="en-US" sz="2200" dirty="0"/>
              <a:t> </a:t>
            </a:r>
            <a:r>
              <a:rPr lang="en-US" sz="2200" dirty="0" err="1"/>
              <a:t>thành</a:t>
            </a:r>
            <a:r>
              <a:rPr lang="en-US" sz="2200" dirty="0"/>
              <a:t> </a:t>
            </a:r>
            <a:r>
              <a:rPr lang="en-US" sz="2200" dirty="0" err="1"/>
              <a:t>hiện</a:t>
            </a:r>
            <a:r>
              <a:rPr lang="en-US" sz="2200" dirty="0"/>
              <a:t> </a:t>
            </a:r>
            <a:r>
              <a:rPr lang="en-US" sz="2200" dirty="0" err="1"/>
              <a:t>thực</a:t>
            </a:r>
            <a:r>
              <a:rPr lang="en-US" sz="2200" dirty="0"/>
              <a:t> - </a:t>
            </a:r>
            <a:r>
              <a:rPr lang="en-US" sz="2200" dirty="0" err="1"/>
              <a:t>rủi</a:t>
            </a:r>
            <a:r>
              <a:rPr lang="en-US" sz="2200" dirty="0"/>
              <a:t> </a:t>
            </a:r>
            <a:r>
              <a:rPr lang="en-US" sz="2200" dirty="0" err="1"/>
              <a:t>ro</a:t>
            </a:r>
            <a:r>
              <a:rPr lang="en-US" sz="2200" dirty="0"/>
              <a:t> </a:t>
            </a:r>
            <a:r>
              <a:rPr lang="en-US" sz="2200" dirty="0" err="1"/>
              <a:t>có</a:t>
            </a:r>
            <a:r>
              <a:rPr lang="en-US" sz="2200" dirty="0"/>
              <a:t> </a:t>
            </a:r>
            <a:r>
              <a:rPr lang="en-US" sz="2200" dirty="0" err="1"/>
              <a:t>ảnh</a:t>
            </a:r>
            <a:r>
              <a:rPr lang="en-US" sz="2200" dirty="0"/>
              <a:t> </a:t>
            </a:r>
            <a:r>
              <a:rPr lang="en-US" sz="2200" dirty="0" err="1"/>
              <a:t>hưởng</a:t>
            </a:r>
            <a:r>
              <a:rPr lang="en-US" sz="2200" dirty="0"/>
              <a:t> </a:t>
            </a:r>
            <a:r>
              <a:rPr lang="en-US" sz="2200" err="1"/>
              <a:t>đến</a:t>
            </a:r>
            <a:r>
              <a:rPr lang="en-US" sz="2200"/>
              <a:t> sự kiện </a:t>
            </a:r>
            <a:r>
              <a:rPr lang="en-US" sz="2200" dirty="0" err="1"/>
              <a:t>khác</a:t>
            </a:r>
            <a:r>
              <a:rPr lang="en-US" sz="2200" dirty="0"/>
              <a:t>.</a:t>
            </a:r>
          </a:p>
          <a:p>
            <a:pPr marL="109537" indent="0" algn="just">
              <a:buNone/>
            </a:pPr>
            <a:endParaRPr lang="en-US" dirty="0"/>
          </a:p>
        </p:txBody>
      </p:sp>
      <p:sp>
        <p:nvSpPr>
          <p:cNvPr id="3" name="Title 2"/>
          <p:cNvSpPr>
            <a:spLocks noGrp="1"/>
          </p:cNvSpPr>
          <p:nvPr>
            <p:ph type="title"/>
          </p:nvPr>
        </p:nvSpPr>
        <p:spPr>
          <a:xfrm>
            <a:off x="457200" y="228600"/>
            <a:ext cx="8229600" cy="1143000"/>
          </a:xfrm>
        </p:spPr>
        <p:txBody>
          <a:bodyPr>
            <a:normAutofit/>
          </a:bodyPr>
          <a:lstStyle/>
          <a:p>
            <a:pPr algn="ctr"/>
            <a:r>
              <a:rPr lang="en-US" sz="3600" dirty="0" err="1"/>
              <a:t>Nhân</a:t>
            </a:r>
            <a:r>
              <a:rPr lang="en-US" sz="3600" dirty="0"/>
              <a:t> </a:t>
            </a:r>
            <a:r>
              <a:rPr lang="en-US" sz="3600" dirty="0" err="1"/>
              <a:t>tố</a:t>
            </a:r>
            <a:r>
              <a:rPr lang="en-US" sz="3600" dirty="0"/>
              <a:t> Titanic</a:t>
            </a:r>
          </a:p>
        </p:txBody>
      </p:sp>
      <p:sp>
        <p:nvSpPr>
          <p:cNvPr id="4" name="Footer Placeholder 3"/>
          <p:cNvSpPr>
            <a:spLocks noGrp="1"/>
          </p:cNvSpPr>
          <p:nvPr>
            <p:ph type="ftr" sz="quarter" idx="10"/>
          </p:nvPr>
        </p:nvSpPr>
        <p:spPr/>
        <p:txBody>
          <a:body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5" name="Slide Number Placeholder 4"/>
          <p:cNvSpPr>
            <a:spLocks noGrp="1"/>
          </p:cNvSpPr>
          <p:nvPr>
            <p:ph type="sldNum" sz="quarter" idx="11"/>
          </p:nvPr>
        </p:nvSpPr>
        <p:spPr/>
        <p:txBody>
          <a:bodyPr/>
          <a:lstStyle/>
          <a:p>
            <a:pPr>
              <a:defRPr/>
            </a:pPr>
            <a:fld id="{073FC353-7A19-4BA9-B4BA-8F87B33A8D50}" type="slidenum">
              <a:rPr lang="en-US" smtClean="0"/>
              <a:pPr>
                <a:defRPr/>
              </a:pPr>
              <a:t>47</a:t>
            </a:fld>
            <a:endParaRPr lang="en-US" dirty="0"/>
          </a:p>
        </p:txBody>
      </p:sp>
      <p:pic>
        <p:nvPicPr>
          <p:cNvPr id="6" name="Picture 5"/>
          <p:cNvPicPr>
            <a:picLocks noChangeAspect="1"/>
          </p:cNvPicPr>
          <p:nvPr/>
        </p:nvPicPr>
        <p:blipFill>
          <a:blip r:embed="rId2"/>
          <a:stretch>
            <a:fillRect/>
          </a:stretch>
        </p:blipFill>
        <p:spPr>
          <a:xfrm>
            <a:off x="4191000" y="3886200"/>
            <a:ext cx="3835571" cy="2286000"/>
          </a:xfrm>
          <a:prstGeom prst="rect">
            <a:avLst/>
          </a:prstGeom>
          <a:ln>
            <a:solidFill>
              <a:schemeClr val="tx1"/>
            </a:solidFill>
          </a:ln>
        </p:spPr>
      </p:pic>
    </p:spTree>
    <p:extLst>
      <p:ext uri="{BB962C8B-B14F-4D97-AF65-F5344CB8AC3E}">
        <p14:creationId xmlns:p14="http://schemas.microsoft.com/office/powerpoint/2010/main" val="1645852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76200" y="1171575"/>
            <a:ext cx="8991600" cy="4162425"/>
          </a:xfrm>
          <a:prstGeom prst="rect">
            <a:avLst/>
          </a:prstGeom>
        </p:spPr>
      </p:pic>
      <p:sp>
        <p:nvSpPr>
          <p:cNvPr id="2458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48</a:t>
            </a:fld>
            <a:endParaRPr lang="en-US" dirty="0"/>
          </a:p>
        </p:txBody>
      </p:sp>
      <p:sp>
        <p:nvSpPr>
          <p:cNvPr id="7" name="Rounded Rectangle 6"/>
          <p:cNvSpPr/>
          <p:nvPr/>
        </p:nvSpPr>
        <p:spPr>
          <a:xfrm>
            <a:off x="1371600" y="4572000"/>
            <a:ext cx="3203731" cy="273393"/>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Title 1"/>
          <p:cNvSpPr>
            <a:spLocks noGrp="1"/>
          </p:cNvSpPr>
          <p:nvPr>
            <p:ph type="title"/>
          </p:nvPr>
        </p:nvSpPr>
        <p:spPr>
          <a:xfrm>
            <a:off x="381000" y="0"/>
            <a:ext cx="8305800" cy="1143000"/>
          </a:xfrm>
        </p:spPr>
        <p:txBody>
          <a:bodyPr>
            <a:noAutofit/>
          </a:bodyPr>
          <a:lstStyle/>
          <a:p>
            <a:pPr algn="ctr" eaLnBrk="1" hangingPunct="1">
              <a:defRPr/>
            </a:pPr>
            <a:r>
              <a:rPr lang="en-US" sz="4000" dirty="0">
                <a:solidFill>
                  <a:schemeClr val="bg1">
                    <a:lumMod val="65000"/>
                  </a:schemeClr>
                </a:solidFill>
              </a:rPr>
              <a:t>Quản lý </a:t>
            </a:r>
            <a:r>
              <a:rPr lang="en-US" sz="4000" dirty="0" err="1">
                <a:solidFill>
                  <a:schemeClr val="bg1">
                    <a:lumMod val="65000"/>
                  </a:schemeClr>
                </a:solidFill>
              </a:rPr>
              <a:t>rủi</a:t>
            </a:r>
            <a:r>
              <a:rPr lang="en-US" sz="4000" dirty="0">
                <a:solidFill>
                  <a:schemeClr val="bg1">
                    <a:lumMod val="65000"/>
                  </a:schemeClr>
                </a:solidFill>
              </a:rPr>
              <a:t> </a:t>
            </a:r>
            <a:r>
              <a:rPr lang="en-US" sz="4000" dirty="0" err="1">
                <a:solidFill>
                  <a:schemeClr val="bg1">
                    <a:lumMod val="65000"/>
                  </a:schemeClr>
                </a:solidFill>
              </a:rPr>
              <a:t>ro</a:t>
            </a:r>
            <a:r>
              <a:rPr lang="en-US" sz="4000" dirty="0">
                <a:solidFill>
                  <a:schemeClr val="bg1">
                    <a:lumMod val="65000"/>
                  </a:schemeClr>
                </a:solidFill>
              </a:rPr>
              <a:t> </a:t>
            </a:r>
            <a:r>
              <a:rPr lang="en-US" sz="4000" dirty="0" err="1">
                <a:solidFill>
                  <a:schemeClr val="bg1">
                    <a:lumMod val="65000"/>
                  </a:schemeClr>
                </a:solidFill>
              </a:rPr>
              <a:t>dự</a:t>
            </a:r>
            <a:r>
              <a:rPr lang="en-US" sz="4000" dirty="0">
                <a:solidFill>
                  <a:schemeClr val="bg1">
                    <a:lumMod val="65000"/>
                  </a:schemeClr>
                </a:solidFill>
              </a:rPr>
              <a:t> </a:t>
            </a:r>
            <a:r>
              <a:rPr lang="en-US" sz="4000" dirty="0" err="1">
                <a:solidFill>
                  <a:schemeClr val="bg1">
                    <a:lumMod val="65000"/>
                  </a:schemeClr>
                </a:solidFill>
              </a:rPr>
              <a:t>án</a:t>
            </a:r>
            <a:r>
              <a:rPr lang="en-US" sz="4000" dirty="0">
                <a:solidFill>
                  <a:schemeClr val="bg1">
                    <a:lumMod val="65000"/>
                  </a:schemeClr>
                </a:solidFill>
              </a:rPr>
              <a:t> [4/6]</a:t>
            </a:r>
          </a:p>
        </p:txBody>
      </p:sp>
      <p:pic>
        <p:nvPicPr>
          <p:cNvPr id="10" name="Picture 9"/>
          <p:cNvPicPr>
            <a:picLocks noChangeAspect="1"/>
          </p:cNvPicPr>
          <p:nvPr/>
        </p:nvPicPr>
        <p:blipFill>
          <a:blip r:embed="rId3"/>
          <a:stretch>
            <a:fillRect/>
          </a:stretch>
        </p:blipFill>
        <p:spPr>
          <a:xfrm>
            <a:off x="5562600" y="5253075"/>
            <a:ext cx="1447800" cy="1604926"/>
          </a:xfrm>
          <a:prstGeom prst="rect">
            <a:avLst/>
          </a:prstGeom>
        </p:spPr>
      </p:pic>
    </p:spTree>
    <p:extLst>
      <p:ext uri="{BB962C8B-B14F-4D97-AF65-F5344CB8AC3E}">
        <p14:creationId xmlns:p14="http://schemas.microsoft.com/office/powerpoint/2010/main" val="991727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4"/>
          <p:cNvSpPr>
            <a:spLocks noGrp="1" noChangeArrowheads="1"/>
          </p:cNvSpPr>
          <p:nvPr>
            <p:ph type="title"/>
          </p:nvPr>
        </p:nvSpPr>
        <p:spPr>
          <a:xfrm>
            <a:off x="457200" y="228600"/>
            <a:ext cx="8229600" cy="1143000"/>
          </a:xfrm>
        </p:spPr>
        <p:txBody>
          <a:bodyPr>
            <a:normAutofit/>
          </a:bodyPr>
          <a:lstStyle/>
          <a:p>
            <a:pPr algn="ctr"/>
            <a:r>
              <a:rPr lang="en-US" sz="3600" dirty="0" err="1"/>
              <a:t>Chạy</a:t>
            </a:r>
            <a:r>
              <a:rPr lang="en-US" sz="3600" dirty="0"/>
              <a:t> </a:t>
            </a:r>
            <a:r>
              <a:rPr lang="en-US" sz="3600" dirty="0" err="1"/>
              <a:t>đường</a:t>
            </a:r>
            <a:r>
              <a:rPr lang="en-US" sz="3600" dirty="0"/>
              <a:t> </a:t>
            </a:r>
            <a:r>
              <a:rPr lang="en-US" sz="3600" dirty="0" err="1"/>
              <a:t>dài</a:t>
            </a:r>
            <a:r>
              <a:rPr lang="en-US" sz="3600" dirty="0"/>
              <a:t> vs. Leo </a:t>
            </a:r>
            <a:r>
              <a:rPr lang="en-US" sz="3600" dirty="0" err="1"/>
              <a:t>núi</a:t>
            </a:r>
            <a:r>
              <a:rPr lang="en-US" sz="3600" dirty="0"/>
              <a:t> Everest</a:t>
            </a:r>
          </a:p>
        </p:txBody>
      </p:sp>
      <p:sp>
        <p:nvSpPr>
          <p:cNvPr id="61445" name="Footer Placeholder 6"/>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buFontTx/>
              <a:buNone/>
              <a:defRPr/>
            </a:pPr>
            <a:fld id="{CA76FFD2-C467-4A89-9811-E04C892563FA}" type="slidenum">
              <a:rPr lang="en-US" smtClean="0"/>
              <a:pPr>
                <a:buFontTx/>
                <a:buNone/>
                <a:defRPr/>
              </a:pPr>
              <a:t>49</a:t>
            </a:fld>
            <a:endParaRPr lang="en-US" dirty="0"/>
          </a:p>
        </p:txBody>
      </p:sp>
      <p:pic>
        <p:nvPicPr>
          <p:cNvPr id="7" name="Picture 6"/>
          <p:cNvPicPr>
            <a:picLocks noChangeAspect="1"/>
          </p:cNvPicPr>
          <p:nvPr/>
        </p:nvPicPr>
        <p:blipFill>
          <a:blip r:embed="rId2"/>
          <a:stretch>
            <a:fillRect/>
          </a:stretch>
        </p:blipFill>
        <p:spPr>
          <a:xfrm>
            <a:off x="533400" y="1447800"/>
            <a:ext cx="8077200" cy="4378960"/>
          </a:xfrm>
          <a:prstGeom prst="rect">
            <a:avLst/>
          </a:prstGeom>
        </p:spPr>
      </p:pic>
    </p:spTree>
    <p:extLst>
      <p:ext uri="{BB962C8B-B14F-4D97-AF65-F5344CB8AC3E}">
        <p14:creationId xmlns:p14="http://schemas.microsoft.com/office/powerpoint/2010/main" val="3867548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a:xfrm>
            <a:off x="533400" y="1524000"/>
            <a:ext cx="8077200" cy="4525962"/>
          </a:xfrm>
        </p:spPr>
        <p:txBody>
          <a:bodyPr/>
          <a:lstStyle/>
          <a:p>
            <a:pPr algn="just"/>
            <a:r>
              <a:rPr lang="en-US" b="1" dirty="0" err="1"/>
              <a:t>Phân</a:t>
            </a:r>
            <a:r>
              <a:rPr lang="en-US" b="1" dirty="0"/>
              <a:t> </a:t>
            </a:r>
            <a:r>
              <a:rPr lang="en-US" b="1" dirty="0" err="1"/>
              <a:t>tích</a:t>
            </a:r>
            <a:r>
              <a:rPr lang="en-US" b="1" dirty="0"/>
              <a:t> </a:t>
            </a:r>
            <a:r>
              <a:rPr lang="en-US" b="1" dirty="0" err="1"/>
              <a:t>rủi</a:t>
            </a:r>
            <a:r>
              <a:rPr lang="en-US" b="1" dirty="0"/>
              <a:t> </a:t>
            </a:r>
            <a:r>
              <a:rPr lang="en-US" b="1" dirty="0" err="1"/>
              <a:t>ro</a:t>
            </a:r>
            <a:r>
              <a:rPr lang="en-US" b="1" dirty="0"/>
              <a:t> </a:t>
            </a:r>
            <a:r>
              <a:rPr lang="en-US" b="1" dirty="0" err="1"/>
              <a:t>định</a:t>
            </a:r>
            <a:r>
              <a:rPr lang="en-US" b="1" dirty="0"/>
              <a:t> </a:t>
            </a:r>
            <a:r>
              <a:rPr lang="en-US" b="1" err="1"/>
              <a:t>lượng</a:t>
            </a:r>
            <a:r>
              <a:rPr lang="en-US"/>
              <a:t> (</a:t>
            </a:r>
            <a:r>
              <a:rPr lang="en-US">
                <a:solidFill>
                  <a:srgbClr val="0070C0"/>
                </a:solidFill>
              </a:rPr>
              <a:t>perform quantitative</a:t>
            </a:r>
            <a:r>
              <a:rPr lang="en-US"/>
              <a:t> </a:t>
            </a:r>
            <a:r>
              <a:rPr lang="en-US" dirty="0">
                <a:solidFill>
                  <a:srgbClr val="0070C0"/>
                </a:solidFill>
              </a:rPr>
              <a:t>risk analysis</a:t>
            </a:r>
            <a:r>
              <a:rPr lang="en-US" dirty="0"/>
              <a:t>) </a:t>
            </a:r>
            <a:r>
              <a:rPr lang="en-US" dirty="0" err="1"/>
              <a:t>thường</a:t>
            </a:r>
            <a:r>
              <a:rPr lang="en-US" dirty="0"/>
              <a:t> </a:t>
            </a:r>
            <a:r>
              <a:rPr lang="en-US" dirty="0" err="1"/>
              <a:t>được</a:t>
            </a:r>
            <a:r>
              <a:rPr lang="en-US" dirty="0"/>
              <a:t> </a:t>
            </a:r>
            <a:r>
              <a:rPr lang="en-US" dirty="0" err="1"/>
              <a:t>thực</a:t>
            </a:r>
            <a:r>
              <a:rPr lang="en-US" dirty="0"/>
              <a:t> </a:t>
            </a:r>
            <a:r>
              <a:rPr lang="en-US" dirty="0" err="1"/>
              <a:t>hiện</a:t>
            </a:r>
            <a:r>
              <a:rPr lang="en-US" dirty="0"/>
              <a:t> </a:t>
            </a:r>
            <a:r>
              <a:rPr lang="en-US" dirty="0" err="1"/>
              <a:t>sau</a:t>
            </a:r>
            <a:r>
              <a:rPr lang="en-US" dirty="0"/>
              <a:t> </a:t>
            </a:r>
            <a:r>
              <a:rPr lang="en-US" dirty="0" err="1"/>
              <a:t>định</a:t>
            </a:r>
            <a:r>
              <a:rPr lang="en-US" dirty="0"/>
              <a:t> </a:t>
            </a:r>
            <a:r>
              <a:rPr lang="en-US" dirty="0" err="1"/>
              <a:t>tính</a:t>
            </a:r>
            <a:r>
              <a:rPr lang="en-US" dirty="0"/>
              <a:t>.</a:t>
            </a:r>
          </a:p>
          <a:p>
            <a:pPr algn="just">
              <a:spcBef>
                <a:spcPts val="1800"/>
              </a:spcBef>
              <a:spcAft>
                <a:spcPts val="1800"/>
              </a:spcAft>
            </a:pPr>
            <a:r>
              <a:rPr lang="en-US" dirty="0" err="1"/>
              <a:t>Các</a:t>
            </a:r>
            <a:r>
              <a:rPr lang="en-US" dirty="0"/>
              <a:t> </a:t>
            </a:r>
            <a:r>
              <a:rPr lang="en-US" dirty="0" err="1"/>
              <a:t>dự</a:t>
            </a:r>
            <a:r>
              <a:rPr lang="en-US" dirty="0"/>
              <a:t> </a:t>
            </a:r>
            <a:r>
              <a:rPr lang="en-US" dirty="0" err="1"/>
              <a:t>án</a:t>
            </a:r>
            <a:r>
              <a:rPr lang="en-US" dirty="0"/>
              <a:t> </a:t>
            </a:r>
            <a:r>
              <a:rPr lang="en-US" dirty="0" err="1"/>
              <a:t>lớn</a:t>
            </a:r>
            <a:r>
              <a:rPr lang="en-US" dirty="0"/>
              <a:t> </a:t>
            </a:r>
            <a:r>
              <a:rPr lang="en-US" dirty="0" err="1"/>
              <a:t>liên</a:t>
            </a:r>
            <a:r>
              <a:rPr lang="en-US" dirty="0"/>
              <a:t> </a:t>
            </a:r>
            <a:r>
              <a:rPr lang="en-US" dirty="0" err="1"/>
              <a:t>quan</a:t>
            </a:r>
            <a:r>
              <a:rPr lang="en-US" dirty="0"/>
              <a:t> </a:t>
            </a:r>
            <a:r>
              <a:rPr lang="en-US" dirty="0" err="1"/>
              <a:t>đến</a:t>
            </a:r>
            <a:r>
              <a:rPr lang="en-US" dirty="0"/>
              <a:t> </a:t>
            </a:r>
            <a:r>
              <a:rPr lang="en-US" dirty="0" err="1"/>
              <a:t>kỹ</a:t>
            </a:r>
            <a:r>
              <a:rPr lang="en-US" dirty="0"/>
              <a:t> </a:t>
            </a:r>
            <a:r>
              <a:rPr lang="en-US" dirty="0" err="1"/>
              <a:t>thuật</a:t>
            </a:r>
            <a:r>
              <a:rPr lang="en-US" dirty="0"/>
              <a:t> </a:t>
            </a:r>
            <a:r>
              <a:rPr lang="en-US" dirty="0" err="1"/>
              <a:t>mới</a:t>
            </a:r>
            <a:r>
              <a:rPr lang="en-US" dirty="0"/>
              <a:t> </a:t>
            </a:r>
            <a:r>
              <a:rPr lang="en-US" dirty="0" err="1"/>
              <a:t>cần</a:t>
            </a:r>
            <a:r>
              <a:rPr lang="en-US" dirty="0"/>
              <a:t> </a:t>
            </a:r>
            <a:r>
              <a:rPr lang="en-US" dirty="0" err="1"/>
              <a:t>phải</a:t>
            </a:r>
            <a:r>
              <a:rPr lang="en-US" dirty="0"/>
              <a:t> </a:t>
            </a:r>
            <a:r>
              <a:rPr lang="en-US" dirty="0" err="1"/>
              <a:t>phân</a:t>
            </a:r>
            <a:r>
              <a:rPr lang="en-US" dirty="0"/>
              <a:t> </a:t>
            </a:r>
            <a:r>
              <a:rPr lang="en-US" dirty="0" err="1"/>
              <a:t>tích</a:t>
            </a:r>
            <a:r>
              <a:rPr lang="en-US" dirty="0"/>
              <a:t> </a:t>
            </a:r>
            <a:r>
              <a:rPr lang="en-US" dirty="0" err="1"/>
              <a:t>rủi</a:t>
            </a:r>
            <a:r>
              <a:rPr lang="en-US" dirty="0"/>
              <a:t> </a:t>
            </a:r>
            <a:r>
              <a:rPr lang="en-US" dirty="0" err="1"/>
              <a:t>ro</a:t>
            </a:r>
            <a:r>
              <a:rPr lang="en-US" dirty="0"/>
              <a:t> </a:t>
            </a:r>
            <a:r>
              <a:rPr lang="en-US" dirty="0" err="1"/>
              <a:t>định</a:t>
            </a:r>
            <a:r>
              <a:rPr lang="en-US" dirty="0"/>
              <a:t> </a:t>
            </a:r>
            <a:r>
              <a:rPr lang="en-US" dirty="0" err="1"/>
              <a:t>lượng</a:t>
            </a:r>
            <a:r>
              <a:rPr lang="en-US" dirty="0"/>
              <a:t>.</a:t>
            </a:r>
          </a:p>
          <a:p>
            <a:pPr algn="just">
              <a:spcBef>
                <a:spcPts val="1200"/>
              </a:spcBef>
            </a:pPr>
            <a:r>
              <a:rPr lang="en-US" dirty="0" err="1"/>
              <a:t>Các</a:t>
            </a:r>
            <a:r>
              <a:rPr lang="en-US" dirty="0"/>
              <a:t> </a:t>
            </a:r>
            <a:r>
              <a:rPr lang="en-US" dirty="0" err="1"/>
              <a:t>công</a:t>
            </a:r>
            <a:r>
              <a:rPr lang="en-US" dirty="0"/>
              <a:t> </a:t>
            </a:r>
            <a:r>
              <a:rPr lang="en-US" dirty="0" err="1"/>
              <a:t>cụ</a:t>
            </a:r>
            <a:r>
              <a:rPr lang="en-US" dirty="0"/>
              <a:t> và </a:t>
            </a:r>
            <a:r>
              <a:rPr lang="en-US" dirty="0" err="1"/>
              <a:t>kỹ</a:t>
            </a:r>
            <a:r>
              <a:rPr lang="en-US" dirty="0"/>
              <a:t> </a:t>
            </a:r>
            <a:r>
              <a:rPr lang="en-US" dirty="0" err="1"/>
              <a:t>thuật</a:t>
            </a:r>
            <a:r>
              <a:rPr lang="en-US" dirty="0"/>
              <a:t>:</a:t>
            </a:r>
          </a:p>
          <a:p>
            <a:pPr lvl="1" algn="just">
              <a:buFont typeface="Arial" panose="020B0604020202020204" pitchFamily="34" charset="0"/>
              <a:buChar char="•"/>
            </a:pPr>
            <a:r>
              <a:rPr lang="en-US" dirty="0" err="1"/>
              <a:t>Cây</a:t>
            </a:r>
            <a:r>
              <a:rPr lang="en-US" dirty="0"/>
              <a:t> </a:t>
            </a:r>
            <a:r>
              <a:rPr lang="en-US" dirty="0" err="1"/>
              <a:t>quyết</a:t>
            </a:r>
            <a:r>
              <a:rPr lang="en-US" dirty="0"/>
              <a:t> </a:t>
            </a:r>
            <a:r>
              <a:rPr lang="en-US" dirty="0" err="1"/>
              <a:t>định</a:t>
            </a:r>
            <a:r>
              <a:rPr lang="en-US" dirty="0"/>
              <a:t> </a:t>
            </a:r>
          </a:p>
          <a:p>
            <a:pPr lvl="1" algn="just">
              <a:buFont typeface="Arial" panose="020B0604020202020204" pitchFamily="34" charset="0"/>
              <a:buChar char="•"/>
            </a:pPr>
            <a:r>
              <a:rPr lang="en-US" dirty="0" err="1"/>
              <a:t>Mô</a:t>
            </a:r>
            <a:r>
              <a:rPr lang="en-US" dirty="0"/>
              <a:t> </a:t>
            </a:r>
            <a:r>
              <a:rPr lang="en-US" dirty="0" err="1"/>
              <a:t>phỏng</a:t>
            </a:r>
            <a:endParaRPr lang="en-US" dirty="0"/>
          </a:p>
          <a:p>
            <a:pPr lvl="1" algn="just">
              <a:buFont typeface="Arial" panose="020B0604020202020204" pitchFamily="34" charset="0"/>
              <a:buChar char="•"/>
            </a:pPr>
            <a:r>
              <a:rPr lang="en-US" dirty="0" err="1"/>
              <a:t>Phân</a:t>
            </a:r>
            <a:r>
              <a:rPr lang="en-US" dirty="0"/>
              <a:t> </a:t>
            </a:r>
            <a:r>
              <a:rPr lang="en-US" dirty="0" err="1"/>
              <a:t>tích</a:t>
            </a:r>
            <a:r>
              <a:rPr lang="en-US" dirty="0"/>
              <a:t> </a:t>
            </a:r>
            <a:r>
              <a:rPr lang="en-US" dirty="0" err="1"/>
              <a:t>độ</a:t>
            </a:r>
            <a:r>
              <a:rPr lang="en-US" dirty="0"/>
              <a:t> </a:t>
            </a:r>
            <a:r>
              <a:rPr lang="en-US" dirty="0" err="1"/>
              <a:t>nhạy</a:t>
            </a:r>
            <a:r>
              <a:rPr lang="en-US" dirty="0"/>
              <a:t>.</a:t>
            </a:r>
          </a:p>
        </p:txBody>
      </p:sp>
      <p:sp>
        <p:nvSpPr>
          <p:cNvPr id="53250" name="Rectangle 2"/>
          <p:cNvSpPr>
            <a:spLocks noGrp="1" noChangeArrowheads="1"/>
          </p:cNvSpPr>
          <p:nvPr>
            <p:ph type="title"/>
          </p:nvPr>
        </p:nvSpPr>
        <p:spPr>
          <a:xfrm>
            <a:off x="35010" y="350838"/>
            <a:ext cx="9108989" cy="868362"/>
          </a:xfrm>
        </p:spPr>
        <p:txBody>
          <a:bodyPr>
            <a:noAutofit/>
          </a:bodyPr>
          <a:lstStyle/>
          <a:p>
            <a:pPr algn="ctr"/>
            <a:r>
              <a:rPr lang="en-US" sz="4400" dirty="0">
                <a:solidFill>
                  <a:srgbClr val="FF0000"/>
                </a:solidFill>
              </a:rPr>
              <a:t>4. </a:t>
            </a:r>
            <a:r>
              <a:rPr lang="en-US" sz="4400" dirty="0" err="1">
                <a:solidFill>
                  <a:srgbClr val="FF0000"/>
                </a:solidFill>
              </a:rPr>
              <a:t>Phân</a:t>
            </a:r>
            <a:r>
              <a:rPr lang="en-US" sz="4400" dirty="0">
                <a:solidFill>
                  <a:srgbClr val="FF0000"/>
                </a:solidFill>
              </a:rPr>
              <a:t> </a:t>
            </a:r>
            <a:r>
              <a:rPr lang="en-US" sz="4400" dirty="0" err="1">
                <a:solidFill>
                  <a:srgbClr val="FF0000"/>
                </a:solidFill>
              </a:rPr>
              <a:t>tích</a:t>
            </a:r>
            <a:r>
              <a:rPr lang="en-US" sz="4400" dirty="0">
                <a:solidFill>
                  <a:srgbClr val="FF0000"/>
                </a:solidFill>
              </a:rPr>
              <a:t> </a:t>
            </a:r>
            <a:r>
              <a:rPr lang="en-US" sz="4400" dirty="0" err="1">
                <a:solidFill>
                  <a:srgbClr val="FF0000"/>
                </a:solidFill>
              </a:rPr>
              <a:t>rủi</a:t>
            </a:r>
            <a:r>
              <a:rPr lang="en-US" sz="4400" dirty="0">
                <a:solidFill>
                  <a:srgbClr val="FF0000"/>
                </a:solidFill>
              </a:rPr>
              <a:t> </a:t>
            </a:r>
            <a:r>
              <a:rPr lang="en-US" sz="4400" dirty="0" err="1">
                <a:solidFill>
                  <a:srgbClr val="FF0000"/>
                </a:solidFill>
              </a:rPr>
              <a:t>ro</a:t>
            </a:r>
            <a:r>
              <a:rPr lang="en-US" sz="4400" dirty="0">
                <a:solidFill>
                  <a:srgbClr val="FF0000"/>
                </a:solidFill>
              </a:rPr>
              <a:t> (</a:t>
            </a:r>
            <a:r>
              <a:rPr lang="en-US" sz="4400" dirty="0" err="1">
                <a:solidFill>
                  <a:srgbClr val="FF0000"/>
                </a:solidFill>
              </a:rPr>
              <a:t>định</a:t>
            </a:r>
            <a:r>
              <a:rPr lang="en-US" sz="4400" dirty="0">
                <a:solidFill>
                  <a:srgbClr val="FF0000"/>
                </a:solidFill>
              </a:rPr>
              <a:t> </a:t>
            </a:r>
            <a:r>
              <a:rPr lang="en-US" sz="4400" dirty="0" err="1">
                <a:solidFill>
                  <a:srgbClr val="FF0000"/>
                </a:solidFill>
              </a:rPr>
              <a:t>lượng</a:t>
            </a:r>
            <a:r>
              <a:rPr lang="en-US" sz="4400" dirty="0">
                <a:solidFill>
                  <a:srgbClr val="FF0000"/>
                </a:solidFill>
              </a:rPr>
              <a:t>)</a:t>
            </a:r>
          </a:p>
        </p:txBody>
      </p:sp>
      <p:sp>
        <p:nvSpPr>
          <p:cNvPr id="53253"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0A87E509-0C85-4F80-9BE3-1C764C551C93}" type="slidenum">
              <a:rPr lang="en-US" smtClean="0"/>
              <a:pPr>
                <a:defRPr/>
              </a:pPr>
              <a:t>50</a:t>
            </a:fld>
            <a:endParaRPr lang="en-US" dirty="0"/>
          </a:p>
        </p:txBody>
      </p:sp>
      <p:pic>
        <p:nvPicPr>
          <p:cNvPr id="3" name="Picture 2"/>
          <p:cNvPicPr>
            <a:picLocks noChangeAspect="1"/>
          </p:cNvPicPr>
          <p:nvPr/>
        </p:nvPicPr>
        <p:blipFill>
          <a:blip r:embed="rId2"/>
          <a:stretch>
            <a:fillRect/>
          </a:stretch>
        </p:blipFill>
        <p:spPr>
          <a:xfrm>
            <a:off x="6629400" y="3657600"/>
            <a:ext cx="1679394" cy="2514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1">
                                            <p:txEl>
                                              <p:pRg st="1" end="1"/>
                                            </p:txEl>
                                          </p:spTgt>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251">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3251">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3251">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32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idx="1"/>
          </p:nvPr>
        </p:nvSpPr>
        <p:spPr>
          <a:xfrm>
            <a:off x="533400" y="1752600"/>
            <a:ext cx="8001000" cy="3886200"/>
          </a:xfrm>
        </p:spPr>
        <p:txBody>
          <a:bodyPr/>
          <a:lstStyle/>
          <a:p>
            <a:pPr algn="just">
              <a:spcAft>
                <a:spcPts val="1800"/>
              </a:spcAft>
            </a:pPr>
            <a:r>
              <a:rPr lang="en-US" dirty="0" err="1">
                <a:effectLst>
                  <a:outerShdw blurRad="38100" dist="38100" dir="2700000" algn="tl">
                    <a:srgbClr val="000000">
                      <a:alpha val="43137"/>
                    </a:srgbClr>
                  </a:outerShdw>
                </a:effectLst>
              </a:rPr>
              <a:t>Cây</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quyết</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định</a:t>
            </a:r>
            <a:r>
              <a:rPr lang="en-US" dirty="0"/>
              <a:t> (</a:t>
            </a:r>
            <a:r>
              <a:rPr lang="en-US" dirty="0">
                <a:solidFill>
                  <a:srgbClr val="0070C0"/>
                </a:solidFill>
              </a:rPr>
              <a:t>decision tree</a:t>
            </a:r>
            <a:r>
              <a:rPr lang="en-US" dirty="0"/>
              <a:t>): </a:t>
            </a:r>
            <a:r>
              <a:rPr lang="en-US" dirty="0" err="1"/>
              <a:t>công</a:t>
            </a:r>
            <a:r>
              <a:rPr lang="en-US" dirty="0"/>
              <a:t> </a:t>
            </a:r>
            <a:r>
              <a:rPr lang="en-US" dirty="0" err="1"/>
              <a:t>cụ</a:t>
            </a:r>
            <a:r>
              <a:rPr lang="en-US" dirty="0"/>
              <a:t> </a:t>
            </a:r>
            <a:r>
              <a:rPr lang="en-US" dirty="0" err="1"/>
              <a:t>phân</a:t>
            </a:r>
            <a:r>
              <a:rPr lang="en-US" dirty="0"/>
              <a:t> </a:t>
            </a:r>
            <a:r>
              <a:rPr lang="en-US" dirty="0" err="1"/>
              <a:t>tích</a:t>
            </a:r>
            <a:r>
              <a:rPr lang="en-US" dirty="0"/>
              <a:t> </a:t>
            </a:r>
            <a:r>
              <a:rPr lang="en-US" dirty="0" err="1"/>
              <a:t>sơ</a:t>
            </a:r>
            <a:r>
              <a:rPr lang="en-US" dirty="0"/>
              <a:t> </a:t>
            </a:r>
            <a:r>
              <a:rPr lang="en-US" dirty="0" err="1"/>
              <a:t>đồ</a:t>
            </a:r>
            <a:r>
              <a:rPr lang="en-US" dirty="0"/>
              <a:t>, </a:t>
            </a:r>
            <a:r>
              <a:rPr lang="en-US" dirty="0" err="1"/>
              <a:t>giúp</a:t>
            </a:r>
            <a:r>
              <a:rPr lang="en-US" dirty="0"/>
              <a:t> </a:t>
            </a:r>
            <a:r>
              <a:rPr lang="en-US" dirty="0" err="1"/>
              <a:t>chọn</a:t>
            </a:r>
            <a:r>
              <a:rPr lang="en-US" dirty="0"/>
              <a:t> </a:t>
            </a:r>
            <a:r>
              <a:rPr lang="en-US" dirty="0" err="1"/>
              <a:t>tình</a:t>
            </a:r>
            <a:r>
              <a:rPr lang="en-US" dirty="0"/>
              <a:t> </a:t>
            </a:r>
            <a:r>
              <a:rPr lang="en-US" dirty="0" err="1"/>
              <a:t>huống</a:t>
            </a:r>
            <a:r>
              <a:rPr lang="en-US" dirty="0"/>
              <a:t> </a:t>
            </a:r>
            <a:r>
              <a:rPr lang="en-US" dirty="0" err="1"/>
              <a:t>tốt</a:t>
            </a:r>
            <a:r>
              <a:rPr lang="en-US" dirty="0"/>
              <a:t> </a:t>
            </a:r>
            <a:r>
              <a:rPr lang="en-US" dirty="0" err="1"/>
              <a:t>nhất</a:t>
            </a:r>
            <a:r>
              <a:rPr lang="en-US" dirty="0"/>
              <a:t>, </a:t>
            </a:r>
            <a:r>
              <a:rPr lang="en-US" dirty="0" err="1"/>
              <a:t>với</a:t>
            </a:r>
            <a:r>
              <a:rPr lang="en-US" dirty="0"/>
              <a:t> </a:t>
            </a:r>
            <a:r>
              <a:rPr lang="en-US" dirty="0" err="1"/>
              <a:t>tương</a:t>
            </a:r>
            <a:r>
              <a:rPr lang="en-US" dirty="0"/>
              <a:t> </a:t>
            </a:r>
            <a:r>
              <a:rPr lang="en-US" dirty="0" err="1"/>
              <a:t>lai</a:t>
            </a:r>
            <a:r>
              <a:rPr lang="en-US" dirty="0"/>
              <a:t> </a:t>
            </a:r>
            <a:r>
              <a:rPr lang="en-US" dirty="0" err="1"/>
              <a:t>không</a:t>
            </a:r>
            <a:r>
              <a:rPr lang="en-US" dirty="0"/>
              <a:t> </a:t>
            </a:r>
            <a:r>
              <a:rPr lang="en-US" dirty="0" err="1"/>
              <a:t>chắc</a:t>
            </a:r>
            <a:r>
              <a:rPr lang="en-US" dirty="0"/>
              <a:t> </a:t>
            </a:r>
            <a:r>
              <a:rPr lang="en-US" dirty="0" err="1"/>
              <a:t>chắn</a:t>
            </a:r>
            <a:r>
              <a:rPr lang="en-US" dirty="0"/>
              <a:t>.</a:t>
            </a:r>
          </a:p>
          <a:p>
            <a:pPr algn="just">
              <a:spcAft>
                <a:spcPts val="600"/>
              </a:spcAft>
            </a:pPr>
            <a:r>
              <a:rPr lang="en-US" dirty="0" err="1">
                <a:effectLst>
                  <a:outerShdw blurRad="38100" dist="38100" dir="2700000" algn="tl">
                    <a:srgbClr val="000000">
                      <a:alpha val="43137"/>
                    </a:srgbClr>
                  </a:outerShdw>
                </a:effectLst>
              </a:rPr>
              <a:t>Giá</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trị</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tiền</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tệ</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mong</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đợi</a:t>
            </a:r>
            <a:r>
              <a:rPr lang="en-US" dirty="0">
                <a:effectLst>
                  <a:outerShdw blurRad="38100" dist="38100" dir="2700000" algn="tl">
                    <a:srgbClr val="000000">
                      <a:alpha val="43137"/>
                    </a:srgbClr>
                  </a:outerShdw>
                </a:effectLst>
              </a:rPr>
              <a:t> </a:t>
            </a:r>
            <a:r>
              <a:rPr lang="en-US" dirty="0"/>
              <a:t>- </a:t>
            </a:r>
            <a:r>
              <a:rPr lang="en-US" dirty="0">
                <a:solidFill>
                  <a:srgbClr val="0070C0"/>
                </a:solidFill>
                <a:effectLst>
                  <a:outerShdw blurRad="38100" dist="38100" dir="2700000" algn="tl">
                    <a:srgbClr val="000000">
                      <a:alpha val="43137"/>
                    </a:srgbClr>
                  </a:outerShdw>
                </a:effectLst>
              </a:rPr>
              <a:t>EMV</a:t>
            </a:r>
            <a:r>
              <a:rPr lang="en-US" dirty="0">
                <a:solidFill>
                  <a:srgbClr val="0070C0"/>
                </a:solidFill>
              </a:rPr>
              <a:t> </a:t>
            </a:r>
            <a:r>
              <a:rPr lang="en-US" dirty="0"/>
              <a:t>(</a:t>
            </a:r>
            <a:r>
              <a:rPr lang="en-US" dirty="0">
                <a:solidFill>
                  <a:srgbClr val="0070C0"/>
                </a:solidFill>
              </a:rPr>
              <a:t>Expected Monetary Value</a:t>
            </a:r>
            <a:r>
              <a:rPr lang="en-US" dirty="0"/>
              <a:t>): </a:t>
            </a:r>
            <a:r>
              <a:rPr lang="en-US" dirty="0" err="1"/>
              <a:t>tích</a:t>
            </a:r>
            <a:r>
              <a:rPr lang="en-US" dirty="0"/>
              <a:t> </a:t>
            </a:r>
            <a:r>
              <a:rPr lang="en-US" dirty="0" err="1"/>
              <a:t>của</a:t>
            </a:r>
            <a:r>
              <a:rPr lang="en-US" dirty="0"/>
              <a:t> </a:t>
            </a:r>
            <a:r>
              <a:rPr lang="en-US" dirty="0" err="1"/>
              <a:t>xác</a:t>
            </a:r>
            <a:r>
              <a:rPr lang="en-US" dirty="0"/>
              <a:t> </a:t>
            </a:r>
            <a:r>
              <a:rPr lang="en-US" dirty="0" err="1"/>
              <a:t>suất</a:t>
            </a:r>
            <a:r>
              <a:rPr lang="en-US" dirty="0"/>
              <a:t> </a:t>
            </a:r>
            <a:r>
              <a:rPr lang="en-US" err="1"/>
              <a:t>của</a:t>
            </a:r>
            <a:r>
              <a:rPr lang="en-US"/>
              <a:t> sự kiện </a:t>
            </a:r>
            <a:r>
              <a:rPr lang="en-US" dirty="0" err="1"/>
              <a:t>rủi</a:t>
            </a:r>
            <a:r>
              <a:rPr lang="en-US" dirty="0"/>
              <a:t> </a:t>
            </a:r>
            <a:r>
              <a:rPr lang="en-US" dirty="0" err="1"/>
              <a:t>ro</a:t>
            </a:r>
            <a:r>
              <a:rPr lang="en-US" dirty="0"/>
              <a:t> và </a:t>
            </a:r>
            <a:r>
              <a:rPr lang="en-US" dirty="0" err="1"/>
              <a:t>giá</a:t>
            </a:r>
            <a:r>
              <a:rPr lang="en-US" dirty="0"/>
              <a:t> </a:t>
            </a:r>
            <a:r>
              <a:rPr lang="en-US" dirty="0" err="1"/>
              <a:t>trị</a:t>
            </a:r>
            <a:r>
              <a:rPr lang="en-US" dirty="0"/>
              <a:t> </a:t>
            </a:r>
            <a:r>
              <a:rPr lang="en-US" dirty="0" err="1"/>
              <a:t>tiền</a:t>
            </a:r>
            <a:r>
              <a:rPr lang="en-US" dirty="0"/>
              <a:t> </a:t>
            </a:r>
            <a:r>
              <a:rPr lang="en-US" dirty="0" err="1"/>
              <a:t>tệ</a:t>
            </a:r>
            <a:r>
              <a:rPr lang="en-US" dirty="0"/>
              <a:t> </a:t>
            </a:r>
            <a:r>
              <a:rPr lang="en-US" err="1"/>
              <a:t>của</a:t>
            </a:r>
            <a:r>
              <a:rPr lang="en-US"/>
              <a:t> sự kiện </a:t>
            </a:r>
            <a:r>
              <a:rPr lang="en-US" dirty="0" err="1"/>
              <a:t>rủi</a:t>
            </a:r>
            <a:r>
              <a:rPr lang="en-US" dirty="0"/>
              <a:t> ro.</a:t>
            </a:r>
          </a:p>
          <a:p>
            <a:pPr lvl="1" algn="just">
              <a:buFont typeface="Arial" panose="020B0604020202020204" pitchFamily="34" charset="0"/>
              <a:buChar char="•"/>
            </a:pPr>
            <a:r>
              <a:rPr lang="en-US" sz="2400" dirty="0" err="1"/>
              <a:t>Vẽ</a:t>
            </a:r>
            <a:r>
              <a:rPr lang="en-US" sz="2400" dirty="0"/>
              <a:t> </a:t>
            </a:r>
            <a:r>
              <a:rPr lang="en-US" sz="2400" dirty="0" err="1"/>
              <a:t>cây</a:t>
            </a:r>
            <a:r>
              <a:rPr lang="en-US" sz="2400" dirty="0"/>
              <a:t> </a:t>
            </a:r>
            <a:r>
              <a:rPr lang="en-US" sz="2400" dirty="0" err="1"/>
              <a:t>quyết</a:t>
            </a:r>
            <a:r>
              <a:rPr lang="en-US" sz="2400" dirty="0"/>
              <a:t> </a:t>
            </a:r>
            <a:r>
              <a:rPr lang="en-US" sz="2400" dirty="0" err="1"/>
              <a:t>định</a:t>
            </a:r>
            <a:r>
              <a:rPr lang="en-US" sz="2400" dirty="0"/>
              <a:t> </a:t>
            </a:r>
            <a:r>
              <a:rPr lang="en-US" sz="2400" dirty="0" err="1"/>
              <a:t>để</a:t>
            </a:r>
            <a:r>
              <a:rPr lang="en-US" sz="2400" dirty="0"/>
              <a:t> </a:t>
            </a:r>
            <a:r>
              <a:rPr lang="en-US" sz="2400" dirty="0" err="1"/>
              <a:t>tìm</a:t>
            </a:r>
            <a:r>
              <a:rPr lang="en-US" sz="2400" dirty="0"/>
              <a:t> EMV…</a:t>
            </a:r>
          </a:p>
        </p:txBody>
      </p:sp>
      <p:sp>
        <p:nvSpPr>
          <p:cNvPr id="54274" name="Rectangle 2"/>
          <p:cNvSpPr>
            <a:spLocks noGrp="1" noChangeArrowheads="1"/>
          </p:cNvSpPr>
          <p:nvPr>
            <p:ph type="title"/>
          </p:nvPr>
        </p:nvSpPr>
        <p:spPr/>
        <p:txBody>
          <a:bodyPr>
            <a:normAutofit/>
          </a:bodyPr>
          <a:lstStyle/>
          <a:p>
            <a:pPr algn="ctr"/>
            <a:r>
              <a:rPr lang="en-US" sz="4000" dirty="0" err="1"/>
              <a:t>Cây</a:t>
            </a:r>
            <a:r>
              <a:rPr lang="en-US" sz="4000" dirty="0"/>
              <a:t> </a:t>
            </a:r>
            <a:r>
              <a:rPr lang="en-US" sz="4000" dirty="0" err="1"/>
              <a:t>quyết</a:t>
            </a:r>
            <a:r>
              <a:rPr lang="en-US" sz="4000" dirty="0"/>
              <a:t> </a:t>
            </a:r>
            <a:r>
              <a:rPr lang="en-US" sz="4000" dirty="0" err="1"/>
              <a:t>định</a:t>
            </a:r>
            <a:r>
              <a:rPr lang="en-US" sz="4000" dirty="0"/>
              <a:t> và EMV</a:t>
            </a:r>
          </a:p>
        </p:txBody>
      </p:sp>
      <p:sp>
        <p:nvSpPr>
          <p:cNvPr id="54277"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4ED559AF-2D32-4CFC-AED8-B3F6CCEF848A}" type="slidenum">
              <a:rPr lang="en-US" smtClean="0"/>
              <a:pPr>
                <a:defRPr/>
              </a:pPr>
              <a:t>51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2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1"/>
          </p:nvPr>
        </p:nvSpPr>
        <p:spPr/>
        <p:txBody>
          <a:bodyPr/>
          <a:lstStyle/>
          <a:p>
            <a:pPr>
              <a:buFontTx/>
              <a:buNone/>
              <a:defRPr/>
            </a:pPr>
            <a:fld id="{12B04A7B-2E8C-4528-B1BA-5741556EC6CB}" type="slidenum">
              <a:rPr lang="en-US" smtClean="0"/>
              <a:pPr>
                <a:buFontTx/>
                <a:buNone/>
                <a:defRPr/>
              </a:pPr>
              <a:t>52</a:t>
            </a:fld>
            <a:endParaRPr lang="en-US" dirty="0"/>
          </a:p>
        </p:txBody>
      </p:sp>
      <p:sp>
        <p:nvSpPr>
          <p:cNvPr id="55301" name="Footer Placeholder 6"/>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pic>
        <p:nvPicPr>
          <p:cNvPr id="2" name="Picture 1"/>
          <p:cNvPicPr>
            <a:picLocks noChangeAspect="1"/>
          </p:cNvPicPr>
          <p:nvPr/>
        </p:nvPicPr>
        <p:blipFill>
          <a:blip r:embed="rId3"/>
          <a:stretch>
            <a:fillRect/>
          </a:stretch>
        </p:blipFill>
        <p:spPr>
          <a:xfrm>
            <a:off x="0" y="1143000"/>
            <a:ext cx="9144000" cy="5715000"/>
          </a:xfrm>
          <a:prstGeom prst="rect">
            <a:avLst/>
          </a:prstGeom>
        </p:spPr>
      </p:pic>
      <p:sp>
        <p:nvSpPr>
          <p:cNvPr id="55298" name="Rectangle 2"/>
          <p:cNvSpPr>
            <a:spLocks noGrp="1" noChangeArrowheads="1"/>
          </p:cNvSpPr>
          <p:nvPr>
            <p:ph type="title"/>
          </p:nvPr>
        </p:nvSpPr>
        <p:spPr>
          <a:xfrm>
            <a:off x="457200" y="0"/>
            <a:ext cx="8229600" cy="1143000"/>
          </a:xfrm>
        </p:spPr>
        <p:txBody>
          <a:bodyPr>
            <a:normAutofit/>
          </a:bodyPr>
          <a:lstStyle/>
          <a:p>
            <a:pPr algn="ctr"/>
            <a:r>
              <a:rPr lang="en-US" sz="3600" dirty="0" err="1"/>
              <a:t>Ví</a:t>
            </a:r>
            <a:r>
              <a:rPr lang="en-US" sz="3600" dirty="0"/>
              <a:t> </a:t>
            </a:r>
            <a:r>
              <a:rPr lang="en-US" sz="3600" dirty="0" err="1"/>
              <a:t>dụ</a:t>
            </a:r>
            <a:r>
              <a:rPr lang="en-US" sz="3600" dirty="0"/>
              <a:t>, </a:t>
            </a:r>
            <a:r>
              <a:rPr lang="en-US" sz="3600" dirty="0" err="1"/>
              <a:t>tính</a:t>
            </a:r>
            <a:r>
              <a:rPr lang="en-US" sz="3600" dirty="0"/>
              <a:t> EMV</a:t>
            </a:r>
          </a:p>
        </p:txBody>
      </p:sp>
      <p:pic>
        <p:nvPicPr>
          <p:cNvPr id="4" name="Picture 3"/>
          <p:cNvPicPr>
            <a:picLocks noChangeAspect="1"/>
          </p:cNvPicPr>
          <p:nvPr/>
        </p:nvPicPr>
        <p:blipFill>
          <a:blip r:embed="rId4"/>
          <a:stretch>
            <a:fillRect/>
          </a:stretch>
        </p:blipFill>
        <p:spPr>
          <a:xfrm>
            <a:off x="4724400" y="1400175"/>
            <a:ext cx="828675" cy="352425"/>
          </a:xfrm>
          <a:prstGeom prst="rect">
            <a:avLst/>
          </a:prstGeom>
        </p:spPr>
      </p:pic>
      <p:pic>
        <p:nvPicPr>
          <p:cNvPr id="5" name="Picture 4"/>
          <p:cNvPicPr>
            <a:picLocks noChangeAspect="1"/>
          </p:cNvPicPr>
          <p:nvPr/>
        </p:nvPicPr>
        <p:blipFill>
          <a:blip r:embed="rId5"/>
          <a:stretch>
            <a:fillRect/>
          </a:stretch>
        </p:blipFill>
        <p:spPr>
          <a:xfrm>
            <a:off x="7543800" y="1371600"/>
            <a:ext cx="990600" cy="371475"/>
          </a:xfrm>
          <a:prstGeom prst="rect">
            <a:avLst/>
          </a:prstGeom>
        </p:spPr>
      </p:pic>
      <p:pic>
        <p:nvPicPr>
          <p:cNvPr id="7" name="Picture 6"/>
          <p:cNvPicPr>
            <a:picLocks noChangeAspect="1"/>
          </p:cNvPicPr>
          <p:nvPr/>
        </p:nvPicPr>
        <p:blipFill>
          <a:blip r:embed="rId6"/>
          <a:stretch>
            <a:fillRect/>
          </a:stretch>
        </p:blipFill>
        <p:spPr>
          <a:xfrm>
            <a:off x="6934200" y="1828800"/>
            <a:ext cx="1847850" cy="3752850"/>
          </a:xfrm>
          <a:prstGeom prst="rect">
            <a:avLst/>
          </a:prstGeom>
        </p:spPr>
      </p:pic>
      <p:pic>
        <p:nvPicPr>
          <p:cNvPr id="11" name="Picture 10"/>
          <p:cNvPicPr>
            <a:picLocks noChangeAspect="1"/>
          </p:cNvPicPr>
          <p:nvPr/>
        </p:nvPicPr>
        <p:blipFill>
          <a:blip r:embed="rId7"/>
          <a:stretch>
            <a:fillRect/>
          </a:stretch>
        </p:blipFill>
        <p:spPr>
          <a:xfrm>
            <a:off x="4972050" y="1905000"/>
            <a:ext cx="361950" cy="3609975"/>
          </a:xfrm>
          <a:prstGeom prst="rect">
            <a:avLst/>
          </a:prstGeom>
        </p:spPr>
      </p:pic>
      <p:pic>
        <p:nvPicPr>
          <p:cNvPr id="3" name="Picture 2"/>
          <p:cNvPicPr>
            <a:picLocks noChangeAspect="1"/>
          </p:cNvPicPr>
          <p:nvPr/>
        </p:nvPicPr>
        <p:blipFill>
          <a:blip r:embed="rId8"/>
          <a:stretch>
            <a:fillRect/>
          </a:stretch>
        </p:blipFill>
        <p:spPr>
          <a:xfrm>
            <a:off x="595185" y="5704446"/>
            <a:ext cx="6953250" cy="581025"/>
          </a:xfrm>
          <a:prstGeom prst="rect">
            <a:avLst/>
          </a:prstGeom>
        </p:spPr>
      </p:pic>
      <p:pic>
        <p:nvPicPr>
          <p:cNvPr id="13" name="Picture 12"/>
          <p:cNvPicPr>
            <a:picLocks noChangeAspect="1"/>
          </p:cNvPicPr>
          <p:nvPr/>
        </p:nvPicPr>
        <p:blipFill>
          <a:blip r:embed="rId9"/>
          <a:stretch>
            <a:fillRect/>
          </a:stretch>
        </p:blipFill>
        <p:spPr>
          <a:xfrm>
            <a:off x="641007" y="6214161"/>
            <a:ext cx="6915150" cy="3905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ChangeArrowheads="1"/>
          </p:cNvSpPr>
          <p:nvPr>
            <p:ph idx="1"/>
          </p:nvPr>
        </p:nvSpPr>
        <p:spPr>
          <a:xfrm>
            <a:off x="228600" y="1524000"/>
            <a:ext cx="8610600" cy="3810000"/>
          </a:xfrm>
        </p:spPr>
        <p:txBody>
          <a:bodyPr/>
          <a:lstStyle/>
          <a:p>
            <a:pPr algn="just">
              <a:spcBef>
                <a:spcPts val="1200"/>
              </a:spcBef>
              <a:spcAft>
                <a:spcPts val="1800"/>
              </a:spcAft>
            </a:pPr>
            <a:r>
              <a:rPr lang="en-US" dirty="0" err="1">
                <a:effectLst>
                  <a:outerShdw blurRad="38100" dist="38100" dir="2700000" algn="tl">
                    <a:srgbClr val="000000">
                      <a:alpha val="43137"/>
                    </a:srgbClr>
                  </a:outerShdw>
                </a:effectLst>
              </a:rPr>
              <a:t>Mô</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phỏng</a:t>
            </a:r>
            <a:r>
              <a:rPr lang="en-US" dirty="0"/>
              <a:t> (</a:t>
            </a:r>
            <a:r>
              <a:rPr lang="en-US" dirty="0">
                <a:solidFill>
                  <a:srgbClr val="0070C0"/>
                </a:solidFill>
              </a:rPr>
              <a:t>simulation</a:t>
            </a:r>
            <a:r>
              <a:rPr lang="en-US" dirty="0"/>
              <a:t>): </a:t>
            </a:r>
            <a:r>
              <a:rPr lang="en-US" dirty="0" err="1"/>
              <a:t>mô</a:t>
            </a:r>
            <a:r>
              <a:rPr lang="en-US" dirty="0"/>
              <a:t> </a:t>
            </a:r>
            <a:r>
              <a:rPr lang="en-US" dirty="0" err="1"/>
              <a:t>hình</a:t>
            </a:r>
            <a:r>
              <a:rPr lang="en-US" dirty="0"/>
              <a:t> </a:t>
            </a:r>
            <a:r>
              <a:rPr lang="en-US" dirty="0" err="1"/>
              <a:t>hóa</a:t>
            </a:r>
            <a:r>
              <a:rPr lang="en-US" dirty="0"/>
              <a:t> </a:t>
            </a:r>
            <a:r>
              <a:rPr lang="en-US" dirty="0" err="1"/>
              <a:t>hệ</a:t>
            </a:r>
            <a:r>
              <a:rPr lang="en-US" dirty="0"/>
              <a:t> thống </a:t>
            </a:r>
            <a:r>
              <a:rPr lang="en-US" dirty="0" err="1"/>
              <a:t>để</a:t>
            </a:r>
            <a:r>
              <a:rPr lang="en-US" dirty="0"/>
              <a:t> </a:t>
            </a:r>
            <a:r>
              <a:rPr lang="en-US" dirty="0" err="1"/>
              <a:t>phân</a:t>
            </a:r>
            <a:r>
              <a:rPr lang="en-US" dirty="0"/>
              <a:t> </a:t>
            </a:r>
            <a:r>
              <a:rPr lang="en-US" dirty="0" err="1"/>
              <a:t>tích</a:t>
            </a:r>
            <a:r>
              <a:rPr lang="en-US" dirty="0"/>
              <a:t> </a:t>
            </a:r>
            <a:r>
              <a:rPr lang="en-US" dirty="0" err="1"/>
              <a:t>hành</a:t>
            </a:r>
            <a:r>
              <a:rPr lang="en-US" dirty="0"/>
              <a:t> vi </a:t>
            </a:r>
            <a:r>
              <a:rPr lang="en-US" dirty="0" err="1"/>
              <a:t>mong</a:t>
            </a:r>
            <a:r>
              <a:rPr lang="en-US" dirty="0"/>
              <a:t> </a:t>
            </a:r>
            <a:r>
              <a:rPr lang="en-US" dirty="0" err="1"/>
              <a:t>đợi</a:t>
            </a:r>
            <a:r>
              <a:rPr lang="en-US" dirty="0"/>
              <a:t> hay </a:t>
            </a:r>
            <a:r>
              <a:rPr lang="en-US" dirty="0" err="1"/>
              <a:t>hiệu</a:t>
            </a:r>
            <a:r>
              <a:rPr lang="en-US" dirty="0"/>
              <a:t> </a:t>
            </a:r>
            <a:r>
              <a:rPr lang="en-US" dirty="0" err="1"/>
              <a:t>suất</a:t>
            </a:r>
            <a:r>
              <a:rPr lang="en-US" dirty="0"/>
              <a:t> </a:t>
            </a:r>
            <a:r>
              <a:rPr lang="en-US" dirty="0" err="1"/>
              <a:t>hệ</a:t>
            </a:r>
            <a:r>
              <a:rPr lang="en-US" dirty="0"/>
              <a:t> thống. </a:t>
            </a:r>
          </a:p>
          <a:p>
            <a:pPr algn="just">
              <a:spcAft>
                <a:spcPts val="600"/>
              </a:spcAft>
            </a:pPr>
            <a:r>
              <a:rPr lang="en-US" dirty="0" err="1">
                <a:effectLst>
                  <a:outerShdw blurRad="38100" dist="38100" dir="2700000" algn="tl">
                    <a:srgbClr val="000000">
                      <a:alpha val="43137"/>
                    </a:srgbClr>
                  </a:outerShdw>
                </a:effectLst>
              </a:rPr>
              <a:t>Phân</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tích</a:t>
            </a:r>
            <a:r>
              <a:rPr lang="en-US" dirty="0">
                <a:effectLst>
                  <a:outerShdw blurRad="38100" dist="38100" dir="2700000" algn="tl">
                    <a:srgbClr val="000000">
                      <a:alpha val="43137"/>
                    </a:srgbClr>
                  </a:outerShdw>
                </a:effectLst>
              </a:rPr>
              <a:t> Monte Carlo:</a:t>
            </a:r>
            <a:r>
              <a:rPr lang="en-US" b="1" dirty="0"/>
              <a:t> </a:t>
            </a:r>
            <a:r>
              <a:rPr lang="en-US" dirty="0" err="1"/>
              <a:t>mô</a:t>
            </a:r>
            <a:r>
              <a:rPr lang="en-US" dirty="0"/>
              <a:t> </a:t>
            </a:r>
            <a:r>
              <a:rPr lang="en-US" dirty="0" err="1"/>
              <a:t>phỏng</a:t>
            </a:r>
            <a:r>
              <a:rPr lang="en-US" dirty="0"/>
              <a:t> </a:t>
            </a:r>
            <a:r>
              <a:rPr lang="en-US" dirty="0" err="1"/>
              <a:t>kết</a:t>
            </a:r>
            <a:r>
              <a:rPr lang="en-US" dirty="0"/>
              <a:t> </a:t>
            </a:r>
            <a:r>
              <a:rPr lang="en-US" dirty="0" err="1"/>
              <a:t>quả</a:t>
            </a:r>
            <a:r>
              <a:rPr lang="en-US" dirty="0"/>
              <a:t> </a:t>
            </a:r>
            <a:r>
              <a:rPr lang="en-US" dirty="0" err="1"/>
              <a:t>mô</a:t>
            </a:r>
            <a:r>
              <a:rPr lang="en-US" dirty="0"/>
              <a:t> </a:t>
            </a:r>
            <a:r>
              <a:rPr lang="en-US" dirty="0" err="1"/>
              <a:t>hình</a:t>
            </a:r>
            <a:r>
              <a:rPr lang="en-US" dirty="0"/>
              <a:t> </a:t>
            </a:r>
            <a:r>
              <a:rPr lang="en-US" dirty="0" err="1"/>
              <a:t>nhiều</a:t>
            </a:r>
            <a:r>
              <a:rPr lang="en-US" dirty="0"/>
              <a:t> </a:t>
            </a:r>
            <a:r>
              <a:rPr lang="en-US" dirty="0" err="1"/>
              <a:t>lần</a:t>
            </a:r>
            <a:r>
              <a:rPr lang="en-US" dirty="0"/>
              <a:t> </a:t>
            </a:r>
            <a:r>
              <a:rPr lang="en-US" dirty="0" err="1"/>
              <a:t>để</a:t>
            </a:r>
            <a:r>
              <a:rPr lang="en-US" dirty="0"/>
              <a:t> </a:t>
            </a:r>
            <a:r>
              <a:rPr lang="en-US" dirty="0" err="1"/>
              <a:t>cung</a:t>
            </a:r>
            <a:r>
              <a:rPr lang="en-US" dirty="0"/>
              <a:t> </a:t>
            </a:r>
            <a:r>
              <a:rPr lang="en-US" dirty="0" err="1"/>
              <a:t>cấp</a:t>
            </a:r>
            <a:r>
              <a:rPr lang="en-US" dirty="0"/>
              <a:t> </a:t>
            </a:r>
            <a:r>
              <a:rPr lang="en-US" dirty="0" err="1"/>
              <a:t>các</a:t>
            </a:r>
            <a:r>
              <a:rPr lang="en-US" dirty="0"/>
              <a:t> </a:t>
            </a:r>
            <a:r>
              <a:rPr lang="en-US" dirty="0" err="1"/>
              <a:t>kết</a:t>
            </a:r>
            <a:r>
              <a:rPr lang="en-US" dirty="0"/>
              <a:t> </a:t>
            </a:r>
            <a:r>
              <a:rPr lang="en-US" dirty="0" err="1"/>
              <a:t>quả</a:t>
            </a:r>
            <a:r>
              <a:rPr lang="en-US" dirty="0"/>
              <a:t> </a:t>
            </a:r>
            <a:r>
              <a:rPr lang="en-US" dirty="0" err="1"/>
              <a:t>tính</a:t>
            </a:r>
            <a:r>
              <a:rPr lang="en-US" dirty="0"/>
              <a:t> </a:t>
            </a:r>
            <a:r>
              <a:rPr lang="en-US" dirty="0" err="1"/>
              <a:t>toán</a:t>
            </a:r>
            <a:r>
              <a:rPr lang="en-US" dirty="0"/>
              <a:t>:</a:t>
            </a:r>
            <a:endParaRPr lang="en-US" b="1" dirty="0"/>
          </a:p>
          <a:p>
            <a:pPr lvl="1" algn="just">
              <a:buFont typeface="Arial" panose="020B0604020202020204" pitchFamily="34" charset="0"/>
              <a:buChar char="•"/>
            </a:pPr>
            <a:r>
              <a:rPr lang="en-US" sz="2400" dirty="0" err="1"/>
              <a:t>Cần</a:t>
            </a:r>
            <a:r>
              <a:rPr lang="en-US" sz="2400" dirty="0"/>
              <a:t> 3 </a:t>
            </a:r>
            <a:r>
              <a:rPr lang="en-US" sz="2400" dirty="0" err="1"/>
              <a:t>ước</a:t>
            </a:r>
            <a:r>
              <a:rPr lang="en-US" sz="2400" dirty="0"/>
              <a:t> </a:t>
            </a:r>
            <a:r>
              <a:rPr lang="en-US" sz="2400" dirty="0" err="1"/>
              <a:t>lượng</a:t>
            </a:r>
            <a:r>
              <a:rPr lang="en-US" sz="2400" dirty="0"/>
              <a:t> (</a:t>
            </a:r>
            <a:r>
              <a:rPr lang="en-US" sz="2400" dirty="0" err="1"/>
              <a:t>dễ</a:t>
            </a:r>
            <a:r>
              <a:rPr lang="en-US" sz="2400" dirty="0"/>
              <a:t> </a:t>
            </a:r>
            <a:r>
              <a:rPr lang="en-US" sz="2400" dirty="0" err="1"/>
              <a:t>xảy</a:t>
            </a:r>
            <a:r>
              <a:rPr lang="en-US" sz="2400" dirty="0"/>
              <a:t> </a:t>
            </a:r>
            <a:r>
              <a:rPr lang="en-US" sz="2400" dirty="0" err="1"/>
              <a:t>ra</a:t>
            </a:r>
            <a:r>
              <a:rPr lang="en-US" sz="2400" dirty="0"/>
              <a:t>, bi </a:t>
            </a:r>
            <a:r>
              <a:rPr lang="en-US" sz="2400" dirty="0" err="1"/>
              <a:t>quan</a:t>
            </a:r>
            <a:r>
              <a:rPr lang="en-US" sz="2400" dirty="0"/>
              <a:t>, </a:t>
            </a:r>
            <a:r>
              <a:rPr lang="en-US" sz="2400" dirty="0" err="1"/>
              <a:t>lạc</a:t>
            </a:r>
            <a:r>
              <a:rPr lang="en-US" sz="2400" dirty="0"/>
              <a:t> </a:t>
            </a:r>
            <a:r>
              <a:rPr lang="en-US" sz="2400" dirty="0" err="1"/>
              <a:t>quan</a:t>
            </a:r>
            <a:r>
              <a:rPr lang="en-US" sz="2400" dirty="0"/>
              <a:t>) </a:t>
            </a:r>
            <a:r>
              <a:rPr lang="en-US" sz="2400" dirty="0" err="1"/>
              <a:t>cộng</a:t>
            </a:r>
            <a:r>
              <a:rPr lang="en-US" sz="2400" dirty="0"/>
              <a:t> </a:t>
            </a:r>
            <a:r>
              <a:rPr lang="en-US" sz="2400" dirty="0" err="1"/>
              <a:t>với</a:t>
            </a:r>
            <a:r>
              <a:rPr lang="en-US" sz="2400" dirty="0"/>
              <a:t> </a:t>
            </a:r>
            <a:r>
              <a:rPr lang="en-US" sz="2400" dirty="0" err="1"/>
              <a:t>các</a:t>
            </a:r>
            <a:r>
              <a:rPr lang="en-US" sz="2400" dirty="0"/>
              <a:t> </a:t>
            </a:r>
            <a:r>
              <a:rPr lang="en-US" sz="2400" dirty="0" err="1"/>
              <a:t>giá</a:t>
            </a:r>
            <a:r>
              <a:rPr lang="en-US" sz="2400" dirty="0"/>
              <a:t> </a:t>
            </a:r>
            <a:r>
              <a:rPr lang="en-US" sz="2400" dirty="0" err="1"/>
              <a:t>trị</a:t>
            </a:r>
            <a:r>
              <a:rPr lang="en-US" sz="2400" dirty="0"/>
              <a:t> </a:t>
            </a:r>
            <a:r>
              <a:rPr lang="en-US" sz="2400" dirty="0" err="1"/>
              <a:t>dễ</a:t>
            </a:r>
            <a:r>
              <a:rPr lang="en-US" sz="2400" dirty="0"/>
              <a:t> </a:t>
            </a:r>
            <a:r>
              <a:rPr lang="en-US" sz="2400" dirty="0" err="1"/>
              <a:t>xảy</a:t>
            </a:r>
            <a:r>
              <a:rPr lang="en-US" sz="2400" dirty="0"/>
              <a:t> </a:t>
            </a:r>
            <a:r>
              <a:rPr lang="en-US" sz="2400" dirty="0" err="1"/>
              <a:t>ra</a:t>
            </a:r>
            <a:r>
              <a:rPr lang="en-US" sz="2400" dirty="0"/>
              <a:t> và </a:t>
            </a:r>
            <a:r>
              <a:rPr lang="en-US" sz="2400" dirty="0" err="1"/>
              <a:t>lạc</a:t>
            </a:r>
            <a:r>
              <a:rPr lang="en-US" sz="2400" dirty="0"/>
              <a:t> </a:t>
            </a:r>
            <a:r>
              <a:rPr lang="en-US" sz="2400" dirty="0" err="1"/>
              <a:t>quan</a:t>
            </a:r>
            <a:r>
              <a:rPr lang="en-US" sz="2400" dirty="0"/>
              <a:t>.</a:t>
            </a:r>
          </a:p>
          <a:p>
            <a:pPr lvl="1" algn="just">
              <a:buFont typeface="Arial" panose="020B0604020202020204" pitchFamily="34" charset="0"/>
              <a:buChar char="•"/>
            </a:pPr>
            <a:r>
              <a:rPr lang="en-US" sz="2400" dirty="0" err="1"/>
              <a:t>Mô</a:t>
            </a:r>
            <a:r>
              <a:rPr lang="en-US" sz="2400" dirty="0"/>
              <a:t> </a:t>
            </a:r>
            <a:r>
              <a:rPr lang="en-US" sz="2400" dirty="0" err="1"/>
              <a:t>phỏng</a:t>
            </a:r>
            <a:r>
              <a:rPr lang="en-US" sz="2400" dirty="0"/>
              <a:t> </a:t>
            </a:r>
            <a:r>
              <a:rPr lang="en-US" sz="2400" dirty="0" err="1"/>
              <a:t>bằng</a:t>
            </a:r>
            <a:r>
              <a:rPr lang="en-US" sz="2400" dirty="0"/>
              <a:t> </a:t>
            </a:r>
            <a:r>
              <a:rPr lang="en-US" sz="2400" dirty="0" err="1"/>
              <a:t>phần</a:t>
            </a:r>
            <a:r>
              <a:rPr lang="en-US" sz="2400" dirty="0"/>
              <a:t> </a:t>
            </a:r>
            <a:r>
              <a:rPr lang="en-US" sz="2400" dirty="0" err="1"/>
              <a:t>mềm</a:t>
            </a:r>
            <a:r>
              <a:rPr lang="en-US" sz="2400" dirty="0"/>
              <a:t> Excel/Crystal ball…  </a:t>
            </a:r>
          </a:p>
        </p:txBody>
      </p:sp>
      <p:sp>
        <p:nvSpPr>
          <p:cNvPr id="56322" name="Rectangle 2"/>
          <p:cNvSpPr>
            <a:spLocks noGrp="1" noChangeArrowheads="1"/>
          </p:cNvSpPr>
          <p:nvPr>
            <p:ph type="title"/>
          </p:nvPr>
        </p:nvSpPr>
        <p:spPr>
          <a:xfrm>
            <a:off x="381000" y="350838"/>
            <a:ext cx="8305800" cy="944562"/>
          </a:xfrm>
        </p:spPr>
        <p:txBody>
          <a:bodyPr/>
          <a:lstStyle/>
          <a:p>
            <a:pPr algn="ctr"/>
            <a:r>
              <a:rPr lang="en-US" dirty="0" err="1"/>
              <a:t>Mô</a:t>
            </a:r>
            <a:r>
              <a:rPr lang="en-US" dirty="0"/>
              <a:t> </a:t>
            </a:r>
            <a:r>
              <a:rPr lang="en-US" dirty="0" err="1"/>
              <a:t>phỏng	</a:t>
            </a:r>
            <a:endParaRPr lang="en-US" dirty="0"/>
          </a:p>
        </p:txBody>
      </p:sp>
      <p:sp>
        <p:nvSpPr>
          <p:cNvPr id="56325"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A4A2D5EF-924D-4EDB-877A-B6F5551FBF42}" type="slidenum">
              <a:rPr lang="en-US" smtClean="0"/>
              <a:pPr>
                <a:defRPr/>
              </a:pPr>
              <a:t>53</a:t>
            </a:fld>
            <a:endParaRPr lang="en-US" dirty="0"/>
          </a:p>
        </p:txBody>
      </p:sp>
      <p:pic>
        <p:nvPicPr>
          <p:cNvPr id="3074" name="Picture 2" descr="http://www.ambitec.es/wp/wp-content/uploads/2015/06/OracleCrystalBal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10200" y="5105400"/>
            <a:ext cx="2889471" cy="1066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32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6323">
                                            <p:txEl>
                                              <p:pRg st="3" end="3"/>
                                            </p:txEl>
                                          </p:spTgt>
                                        </p:tgtEl>
                                        <p:attrNameLst>
                                          <p:attrName>style.visibility</p:attrName>
                                        </p:attrNameLst>
                                      </p:cBhvr>
                                      <p:to>
                                        <p:strVal val="visible"/>
                                      </p:to>
                                    </p:set>
                                  </p:childTnLst>
                                </p:cTn>
                              </p:par>
                            </p:childTnLst>
                          </p:cTn>
                        </p:par>
                        <p:par>
                          <p:cTn id="11" fill="hold">
                            <p:stCondLst>
                              <p:cond delay="0"/>
                            </p:stCondLst>
                            <p:childTnLst>
                              <p:par>
                                <p:cTn id="12" presetID="16" presetClass="entr" presetSubtype="21" fill="hold" nodeType="afterEffect">
                                  <p:stCondLst>
                                    <p:cond delay="0"/>
                                  </p:stCondLst>
                                  <p:childTnLst>
                                    <p:set>
                                      <p:cBhvr>
                                        <p:cTn id="13" dur="1" fill="hold">
                                          <p:stCondLst>
                                            <p:cond delay="0"/>
                                          </p:stCondLst>
                                        </p:cTn>
                                        <p:tgtEl>
                                          <p:spTgt spid="3074"/>
                                        </p:tgtEl>
                                        <p:attrNameLst>
                                          <p:attrName>style.visibility</p:attrName>
                                        </p:attrNameLst>
                                      </p:cBhvr>
                                      <p:to>
                                        <p:strVal val="visible"/>
                                      </p:to>
                                    </p:set>
                                    <p:animEffect transition="in" filter="barn(inVertical)">
                                      <p:cBhvr>
                                        <p:cTn id="14"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0" y="76200"/>
            <a:ext cx="9144000" cy="1143000"/>
          </a:xfrm>
        </p:spPr>
        <p:txBody>
          <a:bodyPr>
            <a:noAutofit/>
          </a:bodyPr>
          <a:lstStyle/>
          <a:p>
            <a:pPr algn="ctr"/>
            <a:r>
              <a:rPr lang="en-US" sz="3600" dirty="0" err="1"/>
              <a:t>Ví</a:t>
            </a:r>
            <a:r>
              <a:rPr lang="en-US" sz="3600" dirty="0"/>
              <a:t> </a:t>
            </a:r>
            <a:r>
              <a:rPr lang="en-US" sz="3600" dirty="0" err="1"/>
              <a:t>dụ</a:t>
            </a:r>
            <a:r>
              <a:rPr lang="en-US" sz="3600" dirty="0"/>
              <a:t>, </a:t>
            </a:r>
            <a:r>
              <a:rPr lang="en-US" sz="3600" dirty="0" err="1"/>
              <a:t>mô</a:t>
            </a:r>
            <a:r>
              <a:rPr lang="en-US" sz="3600" dirty="0"/>
              <a:t> </a:t>
            </a:r>
            <a:r>
              <a:rPr lang="en-US" sz="3600" dirty="0" err="1"/>
              <a:t>phỏng</a:t>
            </a:r>
            <a:r>
              <a:rPr lang="en-US" sz="3600" dirty="0"/>
              <a:t> Monte Carlo - NPV</a:t>
            </a:r>
            <a:endParaRPr lang="en-US" sz="4400" dirty="0"/>
          </a:p>
        </p:txBody>
      </p:sp>
      <p:sp>
        <p:nvSpPr>
          <p:cNvPr id="58372" name="Footer Placeholder 6"/>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buFontTx/>
              <a:buNone/>
              <a:defRPr/>
            </a:pPr>
            <a:fld id="{3CE1F776-1DF8-4409-888F-80CE26E79414}" type="slidenum">
              <a:rPr lang="en-US" smtClean="0"/>
              <a:pPr>
                <a:buFontTx/>
                <a:buNone/>
                <a:defRPr/>
              </a:pPr>
              <a:t>54</a:t>
            </a:fld>
            <a:endParaRPr lang="en-US" dirty="0"/>
          </a:p>
        </p:txBody>
      </p:sp>
      <p:pic>
        <p:nvPicPr>
          <p:cNvPr id="4" name="Picture 3"/>
          <p:cNvPicPr>
            <a:picLocks noChangeAspect="1"/>
          </p:cNvPicPr>
          <p:nvPr/>
        </p:nvPicPr>
        <p:blipFill>
          <a:blip r:embed="rId2"/>
          <a:stretch>
            <a:fillRect/>
          </a:stretch>
        </p:blipFill>
        <p:spPr>
          <a:xfrm>
            <a:off x="0" y="1371600"/>
            <a:ext cx="9144000" cy="3962400"/>
          </a:xfrm>
          <a:prstGeom prst="rect">
            <a:avLst/>
          </a:prstGeom>
        </p:spPr>
      </p:pic>
      <p:cxnSp>
        <p:nvCxnSpPr>
          <p:cNvPr id="8" name="Straight Connector 7"/>
          <p:cNvCxnSpPr/>
          <p:nvPr/>
        </p:nvCxnSpPr>
        <p:spPr>
          <a:xfrm>
            <a:off x="8294914" y="2362200"/>
            <a:ext cx="72838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3429000" y="5924490"/>
            <a:ext cx="5181600" cy="400110"/>
          </a:xfrm>
          <a:prstGeom prst="rect">
            <a:avLst/>
          </a:prstGeom>
        </p:spPr>
        <p:txBody>
          <a:bodyPr wrap="square">
            <a:spAutoFit/>
          </a:bodyPr>
          <a:lstStyle/>
          <a:p>
            <a:pPr algn="ctr"/>
            <a:r>
              <a:rPr lang="vi-VN" sz="2000" dirty="0"/>
              <a:t>* Mô phỏng Monte Carlo 100.000 lần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4"/>
          <p:cNvSpPr>
            <a:spLocks noGrp="1" noChangeArrowheads="1"/>
          </p:cNvSpPr>
          <p:nvPr>
            <p:ph idx="1"/>
          </p:nvPr>
        </p:nvSpPr>
        <p:spPr>
          <a:xfrm>
            <a:off x="381000" y="1905000"/>
            <a:ext cx="8077200" cy="2209800"/>
          </a:xfrm>
          <a:solidFill>
            <a:schemeClr val="bg2"/>
          </a:solidFill>
        </p:spPr>
        <p:txBody>
          <a:bodyPr/>
          <a:lstStyle/>
          <a:p>
            <a:pPr algn="just">
              <a:spcBef>
                <a:spcPts val="600"/>
              </a:spcBef>
              <a:spcAft>
                <a:spcPts val="600"/>
              </a:spcAft>
            </a:pPr>
            <a:r>
              <a:rPr lang="en-US" sz="2400" dirty="0"/>
              <a:t>Excel, Crystal Ball: </a:t>
            </a:r>
            <a:r>
              <a:rPr lang="en-US" sz="2400" dirty="0" err="1"/>
              <a:t>công</a:t>
            </a:r>
            <a:r>
              <a:rPr lang="en-US" sz="2400" dirty="0"/>
              <a:t> </a:t>
            </a:r>
            <a:r>
              <a:rPr lang="en-US" sz="2400" dirty="0" err="1"/>
              <a:t>cụ</a:t>
            </a:r>
            <a:r>
              <a:rPr lang="en-US" sz="2400" dirty="0"/>
              <a:t> </a:t>
            </a:r>
            <a:r>
              <a:rPr lang="en-US" sz="2400" dirty="0" err="1"/>
              <a:t>phân</a:t>
            </a:r>
            <a:r>
              <a:rPr lang="en-US" sz="2400" dirty="0"/>
              <a:t> </a:t>
            </a:r>
            <a:r>
              <a:rPr lang="en-US" sz="2400" dirty="0" err="1"/>
              <a:t>tích</a:t>
            </a:r>
            <a:r>
              <a:rPr lang="en-US" sz="2400" dirty="0"/>
              <a:t> </a:t>
            </a:r>
            <a:r>
              <a:rPr lang="en-US" sz="2400" dirty="0" err="1"/>
              <a:t>rủi</a:t>
            </a:r>
            <a:r>
              <a:rPr lang="en-US" sz="2400" dirty="0"/>
              <a:t> </a:t>
            </a:r>
            <a:r>
              <a:rPr lang="en-US" sz="2400" dirty="0" err="1"/>
              <a:t>ro</a:t>
            </a:r>
            <a:r>
              <a:rPr lang="en-US" sz="2400" dirty="0"/>
              <a:t> </a:t>
            </a:r>
            <a:r>
              <a:rPr lang="en-US" sz="2400" dirty="0" err="1"/>
              <a:t>định</a:t>
            </a:r>
            <a:r>
              <a:rPr lang="en-US" sz="2400" dirty="0"/>
              <a:t> </a:t>
            </a:r>
            <a:r>
              <a:rPr lang="en-US" sz="2400" dirty="0" err="1"/>
              <a:t>lượng</a:t>
            </a:r>
            <a:r>
              <a:rPr lang="en-US" sz="2400" dirty="0"/>
              <a:t>. </a:t>
            </a:r>
          </a:p>
          <a:p>
            <a:pPr algn="just">
              <a:spcBef>
                <a:spcPts val="600"/>
              </a:spcBef>
              <a:spcAft>
                <a:spcPts val="600"/>
              </a:spcAft>
            </a:pPr>
            <a:r>
              <a:rPr lang="en-US" sz="2400" dirty="0"/>
              <a:t>General Motors: </a:t>
            </a:r>
            <a:r>
              <a:rPr lang="en-US" sz="2400" dirty="0" err="1"/>
              <a:t>dự</a:t>
            </a:r>
            <a:r>
              <a:rPr lang="en-US" sz="2400" dirty="0"/>
              <a:t> </a:t>
            </a:r>
            <a:r>
              <a:rPr lang="en-US" sz="2400" dirty="0" err="1"/>
              <a:t>báo</a:t>
            </a:r>
            <a:r>
              <a:rPr lang="en-US" sz="2400" dirty="0"/>
              <a:t> </a:t>
            </a:r>
            <a:r>
              <a:rPr lang="en-US" sz="2400" dirty="0" err="1"/>
              <a:t>thu</a:t>
            </a:r>
            <a:r>
              <a:rPr lang="en-US" sz="2400" dirty="0"/>
              <a:t> </a:t>
            </a:r>
            <a:r>
              <a:rPr lang="en-US" sz="2400" dirty="0" err="1"/>
              <a:t>nhập</a:t>
            </a:r>
            <a:r>
              <a:rPr lang="en-US" sz="2400" dirty="0"/>
              <a:t>, </a:t>
            </a:r>
            <a:r>
              <a:rPr lang="en-US" sz="2400" dirty="0" err="1"/>
              <a:t>độ</a:t>
            </a:r>
            <a:r>
              <a:rPr lang="en-US" sz="2400" dirty="0"/>
              <a:t> </a:t>
            </a:r>
            <a:r>
              <a:rPr lang="en-US" sz="2400" dirty="0" err="1"/>
              <a:t>nhạy</a:t>
            </a:r>
            <a:r>
              <a:rPr lang="en-US" sz="2400" dirty="0"/>
              <a:t> </a:t>
            </a:r>
            <a:r>
              <a:rPr lang="en-US" sz="2400" dirty="0" err="1"/>
              <a:t>rủi</a:t>
            </a:r>
            <a:r>
              <a:rPr lang="en-US" sz="2400" dirty="0"/>
              <a:t> </a:t>
            </a:r>
            <a:r>
              <a:rPr lang="en-US" sz="2400" dirty="0" err="1"/>
              <a:t>ro</a:t>
            </a:r>
            <a:r>
              <a:rPr lang="en-US" sz="2400" dirty="0"/>
              <a:t>…</a:t>
            </a:r>
          </a:p>
          <a:p>
            <a:pPr algn="just">
              <a:spcBef>
                <a:spcPts val="600"/>
              </a:spcBef>
              <a:spcAft>
                <a:spcPts val="600"/>
              </a:spcAft>
            </a:pPr>
            <a:r>
              <a:rPr lang="en-US" sz="2400" dirty="0"/>
              <a:t>Procter &amp; Gamble: </a:t>
            </a:r>
            <a:r>
              <a:rPr lang="en-US" sz="2400" dirty="0" err="1"/>
              <a:t>làm</a:t>
            </a:r>
            <a:r>
              <a:rPr lang="en-US" sz="2400" dirty="0"/>
              <a:t> </a:t>
            </a:r>
            <a:r>
              <a:rPr lang="en-US" sz="2400" dirty="0" err="1"/>
              <a:t>mô</a:t>
            </a:r>
            <a:r>
              <a:rPr lang="en-US" sz="2400" dirty="0"/>
              <a:t> </a:t>
            </a:r>
            <a:r>
              <a:rPr lang="en-US" sz="2400" dirty="0" err="1"/>
              <a:t>hình</a:t>
            </a:r>
            <a:r>
              <a:rPr lang="en-US" sz="2400" dirty="0"/>
              <a:t> </a:t>
            </a:r>
            <a:r>
              <a:rPr lang="en-US" sz="2400" dirty="0" err="1"/>
              <a:t>cho</a:t>
            </a:r>
            <a:r>
              <a:rPr lang="en-US" sz="2400" dirty="0"/>
              <a:t> </a:t>
            </a:r>
            <a:r>
              <a:rPr lang="en-US" sz="2400" dirty="0" err="1"/>
              <a:t>rủi</a:t>
            </a:r>
            <a:r>
              <a:rPr lang="en-US" sz="2400" dirty="0"/>
              <a:t> </a:t>
            </a:r>
            <a:r>
              <a:rPr lang="en-US" sz="2400" dirty="0" err="1"/>
              <a:t>ro</a:t>
            </a:r>
            <a:r>
              <a:rPr lang="en-US" sz="2400" dirty="0"/>
              <a:t> </a:t>
            </a:r>
            <a:r>
              <a:rPr lang="en-US" sz="2400" dirty="0" err="1"/>
              <a:t>ngoại</a:t>
            </a:r>
            <a:r>
              <a:rPr lang="en-US" sz="2400" dirty="0"/>
              <a:t> </a:t>
            </a:r>
            <a:r>
              <a:rPr lang="en-US" sz="2400" dirty="0" err="1"/>
              <a:t>hối</a:t>
            </a:r>
            <a:r>
              <a:rPr lang="en-US" sz="2400" dirty="0"/>
              <a:t>...</a:t>
            </a:r>
          </a:p>
        </p:txBody>
      </p:sp>
      <p:sp>
        <p:nvSpPr>
          <p:cNvPr id="59394" name="Rectangle 2"/>
          <p:cNvSpPr>
            <a:spLocks noGrp="1" noChangeArrowheads="1"/>
          </p:cNvSpPr>
          <p:nvPr>
            <p:ph type="title"/>
          </p:nvPr>
        </p:nvSpPr>
        <p:spPr>
          <a:xfrm>
            <a:off x="381000" y="427038"/>
            <a:ext cx="8305800" cy="868362"/>
          </a:xfrm>
        </p:spPr>
        <p:txBody>
          <a:bodyPr>
            <a:normAutofit/>
          </a:bodyPr>
          <a:lstStyle/>
          <a:p>
            <a:pPr algn="ctr"/>
            <a:r>
              <a:rPr lang="en-US" sz="3600" dirty="0" err="1"/>
              <a:t>Họ</a:t>
            </a:r>
            <a:r>
              <a:rPr lang="en-US" sz="3600" dirty="0"/>
              <a:t> </a:t>
            </a:r>
            <a:r>
              <a:rPr lang="en-US" sz="3600" dirty="0" err="1"/>
              <a:t>đã</a:t>
            </a:r>
            <a:r>
              <a:rPr lang="en-US" sz="3600" dirty="0"/>
              <a:t> </a:t>
            </a:r>
            <a:r>
              <a:rPr lang="en-US" sz="3600" dirty="0" err="1"/>
              <a:t>thành</a:t>
            </a:r>
            <a:r>
              <a:rPr lang="en-US" sz="3600" dirty="0"/>
              <a:t> </a:t>
            </a:r>
            <a:r>
              <a:rPr lang="en-US" sz="3600" dirty="0" err="1"/>
              <a:t>công</a:t>
            </a:r>
            <a:r>
              <a:rPr lang="en-US" sz="3600" dirty="0"/>
              <a:t>?</a:t>
            </a:r>
          </a:p>
        </p:txBody>
      </p:sp>
      <p:sp>
        <p:nvSpPr>
          <p:cNvPr id="59397"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43BB9E5A-41F7-42B9-8069-85FCBB6EB649}" type="slidenum">
              <a:rPr lang="en-US" smtClean="0"/>
              <a:pPr>
                <a:defRPr/>
              </a:pPr>
              <a:t>55</a:t>
            </a:fld>
            <a:endParaRPr lang="en-US" dirty="0"/>
          </a:p>
        </p:txBody>
      </p:sp>
      <p:pic>
        <p:nvPicPr>
          <p:cNvPr id="8" name="Picture 7"/>
          <p:cNvPicPr>
            <a:picLocks noChangeAspect="1"/>
          </p:cNvPicPr>
          <p:nvPr/>
        </p:nvPicPr>
        <p:blipFill>
          <a:blip r:embed="rId2"/>
          <a:stretch>
            <a:fillRect/>
          </a:stretch>
        </p:blipFill>
        <p:spPr>
          <a:xfrm rot="20184826">
            <a:off x="7135497" y="938682"/>
            <a:ext cx="1773205" cy="614630"/>
          </a:xfrm>
          <a:prstGeom prst="rect">
            <a:avLst/>
          </a:prstGeom>
        </p:spPr>
      </p:pic>
      <p:pic>
        <p:nvPicPr>
          <p:cNvPr id="1026" name="Picture 2" descr="General Motors – Wikipedia tiếng Việt">
            <a:extLst>
              <a:ext uri="{FF2B5EF4-FFF2-40B4-BE49-F238E27FC236}">
                <a16:creationId xmlns:a16="http://schemas.microsoft.com/office/drawing/2014/main" id="{AB9A7A82-6E39-48C4-BA42-3D95663DC2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8208" y="3846131"/>
            <a:ext cx="1585183" cy="158518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8CD8273-E5BE-4E8E-9159-00364319E6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599" y="3873563"/>
            <a:ext cx="2917889" cy="12644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39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395">
                                            <p:txEl>
                                              <p:pRg st="2" end="2"/>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02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idx="1"/>
          </p:nvPr>
        </p:nvSpPr>
        <p:spPr>
          <a:xfrm>
            <a:off x="381000" y="1905000"/>
            <a:ext cx="8305800" cy="3124200"/>
          </a:xfrm>
        </p:spPr>
        <p:txBody>
          <a:bodyPr/>
          <a:lstStyle/>
          <a:p>
            <a:pPr algn="just"/>
            <a:r>
              <a:rPr lang="en-US" dirty="0" err="1">
                <a:effectLst>
                  <a:outerShdw blurRad="38100" dist="38100" dir="2700000" algn="tl">
                    <a:srgbClr val="000000">
                      <a:alpha val="43137"/>
                    </a:srgbClr>
                  </a:outerShdw>
                </a:effectLst>
              </a:rPr>
              <a:t>Phân</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tích</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độ</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nhạy</a:t>
            </a:r>
            <a:r>
              <a:rPr lang="en-US" dirty="0">
                <a:effectLst>
                  <a:outerShdw blurRad="38100" dist="38100" dir="2700000" algn="tl">
                    <a:srgbClr val="000000">
                      <a:alpha val="43137"/>
                    </a:srgbClr>
                  </a:outerShdw>
                </a:effectLst>
              </a:rPr>
              <a:t> </a:t>
            </a:r>
            <a:r>
              <a:rPr lang="en-US" dirty="0"/>
              <a:t>(</a:t>
            </a:r>
            <a:r>
              <a:rPr lang="en-US" dirty="0">
                <a:solidFill>
                  <a:srgbClr val="0070C0"/>
                </a:solidFill>
              </a:rPr>
              <a:t>sensitivity analysis</a:t>
            </a:r>
            <a:r>
              <a:rPr lang="en-US" dirty="0"/>
              <a:t>): </a:t>
            </a:r>
            <a:r>
              <a:rPr lang="en-US" dirty="0" err="1"/>
              <a:t>để</a:t>
            </a:r>
            <a:r>
              <a:rPr lang="en-US" dirty="0"/>
              <a:t> </a:t>
            </a:r>
            <a:r>
              <a:rPr lang="en-US" dirty="0" err="1"/>
              <a:t>chỉ</a:t>
            </a:r>
            <a:r>
              <a:rPr lang="en-US" dirty="0"/>
              <a:t> </a:t>
            </a:r>
            <a:r>
              <a:rPr lang="en-US" dirty="0" err="1"/>
              <a:t>ra</a:t>
            </a:r>
            <a:r>
              <a:rPr lang="en-US" dirty="0"/>
              <a:t> </a:t>
            </a:r>
            <a:r>
              <a:rPr lang="en-US" dirty="0" err="1"/>
              <a:t>các</a:t>
            </a:r>
            <a:r>
              <a:rPr lang="en-US" dirty="0"/>
              <a:t> </a:t>
            </a:r>
            <a:r>
              <a:rPr lang="en-US" dirty="0" err="1"/>
              <a:t>ảnh</a:t>
            </a:r>
            <a:r>
              <a:rPr lang="en-US" dirty="0"/>
              <a:t> </a:t>
            </a:r>
            <a:r>
              <a:rPr lang="en-US" dirty="0" err="1"/>
              <a:t>hưởng</a:t>
            </a:r>
            <a:r>
              <a:rPr lang="en-US" dirty="0"/>
              <a:t> </a:t>
            </a:r>
            <a:r>
              <a:rPr lang="en-US" dirty="0" err="1"/>
              <a:t>của</a:t>
            </a:r>
            <a:r>
              <a:rPr lang="en-US" dirty="0"/>
              <a:t> </a:t>
            </a:r>
            <a:r>
              <a:rPr lang="en-US" dirty="0" err="1"/>
              <a:t>việc</a:t>
            </a:r>
            <a:r>
              <a:rPr lang="en-US" dirty="0"/>
              <a:t> </a:t>
            </a:r>
            <a:r>
              <a:rPr lang="en-US" dirty="0" err="1"/>
              <a:t>thay</a:t>
            </a:r>
            <a:r>
              <a:rPr lang="en-US" dirty="0"/>
              <a:t> </a:t>
            </a:r>
            <a:r>
              <a:rPr lang="en-US" dirty="0" err="1"/>
              <a:t>đổi</a:t>
            </a:r>
            <a:r>
              <a:rPr lang="en-US" dirty="0"/>
              <a:t> </a:t>
            </a:r>
            <a:r>
              <a:rPr lang="en-US" dirty="0" err="1"/>
              <a:t>của</a:t>
            </a:r>
            <a:r>
              <a:rPr lang="en-US" dirty="0"/>
              <a:t> </a:t>
            </a:r>
            <a:r>
              <a:rPr lang="en-US" dirty="0" err="1"/>
              <a:t>một</a:t>
            </a:r>
            <a:r>
              <a:rPr lang="en-US" dirty="0"/>
              <a:t> hay </a:t>
            </a:r>
            <a:r>
              <a:rPr lang="en-US" dirty="0" err="1"/>
              <a:t>nhiều</a:t>
            </a:r>
            <a:r>
              <a:rPr lang="en-US" dirty="0"/>
              <a:t> </a:t>
            </a:r>
            <a:r>
              <a:rPr lang="en-US" dirty="0" err="1"/>
              <a:t>biến</a:t>
            </a:r>
            <a:r>
              <a:rPr lang="en-US" dirty="0"/>
              <a:t> </a:t>
            </a:r>
            <a:r>
              <a:rPr lang="en-US" dirty="0" err="1"/>
              <a:t>trên</a:t>
            </a:r>
            <a:r>
              <a:rPr lang="en-US" dirty="0"/>
              <a:t> </a:t>
            </a:r>
            <a:r>
              <a:rPr lang="en-US" dirty="0" err="1"/>
              <a:t>kết</a:t>
            </a:r>
            <a:r>
              <a:rPr lang="en-US" dirty="0"/>
              <a:t> </a:t>
            </a:r>
            <a:r>
              <a:rPr lang="en-US" dirty="0" err="1"/>
              <a:t>quả</a:t>
            </a:r>
            <a:r>
              <a:rPr lang="en-US" dirty="0"/>
              <a:t>.</a:t>
            </a:r>
          </a:p>
          <a:p>
            <a:pPr algn="just">
              <a:spcBef>
                <a:spcPts val="1800"/>
              </a:spcBef>
              <a:spcAft>
                <a:spcPts val="600"/>
              </a:spcAft>
            </a:pPr>
            <a:r>
              <a:rPr lang="vi-VN" dirty="0"/>
              <a:t>Bảng tính</a:t>
            </a:r>
            <a:r>
              <a:rPr lang="en-US" dirty="0"/>
              <a:t>: </a:t>
            </a:r>
            <a:r>
              <a:rPr lang="vi-VN" dirty="0"/>
              <a:t>công cụ phổ biến để phân tích độ nhạy.</a:t>
            </a:r>
            <a:endParaRPr lang="en-US" dirty="0"/>
          </a:p>
          <a:p>
            <a:pPr lvl="1" algn="just">
              <a:spcBef>
                <a:spcPts val="0"/>
              </a:spcBef>
              <a:buFont typeface="Arial" panose="020B0604020202020204" pitchFamily="34" charset="0"/>
              <a:buChar char="•"/>
            </a:pPr>
            <a:r>
              <a:rPr lang="en-US" sz="2400" dirty="0" err="1"/>
              <a:t>V.d</a:t>
            </a:r>
            <a:r>
              <a:rPr lang="en-US" sz="2400" dirty="0"/>
              <a:t>., </a:t>
            </a:r>
            <a:r>
              <a:rPr lang="en-US" sz="2400" dirty="0" err="1"/>
              <a:t>phân</a:t>
            </a:r>
            <a:r>
              <a:rPr lang="en-US" sz="2400" dirty="0"/>
              <a:t> </a:t>
            </a:r>
            <a:r>
              <a:rPr lang="en-US" sz="2400" dirty="0" err="1"/>
              <a:t>tích</a:t>
            </a:r>
            <a:r>
              <a:rPr lang="en-US" sz="2400" dirty="0"/>
              <a:t> </a:t>
            </a:r>
            <a:r>
              <a:rPr lang="en-US" sz="2400" dirty="0" err="1"/>
              <a:t>độ</a:t>
            </a:r>
            <a:r>
              <a:rPr lang="en-US" sz="2400" dirty="0"/>
              <a:t> </a:t>
            </a:r>
            <a:r>
              <a:rPr lang="en-US" sz="2400" dirty="0" err="1"/>
              <a:t>nhạy</a:t>
            </a:r>
            <a:r>
              <a:rPr lang="en-US" sz="2400" dirty="0"/>
              <a:t> </a:t>
            </a:r>
            <a:r>
              <a:rPr lang="en-US" sz="2400" dirty="0" err="1"/>
              <a:t>để</a:t>
            </a:r>
            <a:r>
              <a:rPr lang="en-US" sz="2400" dirty="0"/>
              <a:t> </a:t>
            </a:r>
            <a:r>
              <a:rPr lang="vi-VN" sz="2400" dirty="0"/>
              <a:t>xác định</a:t>
            </a:r>
            <a:r>
              <a:rPr lang="en-US" sz="2400" dirty="0"/>
              <a:t> </a:t>
            </a:r>
            <a:r>
              <a:rPr lang="vi-VN" sz="2400" dirty="0"/>
              <a:t>điểm</a:t>
            </a:r>
            <a:r>
              <a:rPr lang="en-US" sz="2400" dirty="0"/>
              <a:t> </a:t>
            </a:r>
            <a:r>
              <a:rPr lang="en-US" sz="2400" dirty="0" err="1"/>
              <a:t>hòa</a:t>
            </a:r>
            <a:r>
              <a:rPr lang="en-US" sz="2400" dirty="0"/>
              <a:t> </a:t>
            </a:r>
            <a:r>
              <a:rPr lang="en-US" sz="2400" dirty="0" err="1"/>
              <a:t>vốn</a:t>
            </a:r>
            <a:r>
              <a:rPr lang="vi-VN" sz="2400" dirty="0"/>
              <a:t> dựa trên</a:t>
            </a:r>
            <a:r>
              <a:rPr lang="en-US" sz="2400" dirty="0"/>
              <a:t> </a:t>
            </a:r>
            <a:r>
              <a:rPr lang="en-US" sz="2400" dirty="0" err="1"/>
              <a:t>số</a:t>
            </a:r>
            <a:r>
              <a:rPr lang="en-US" sz="2400" dirty="0"/>
              <a:t> </a:t>
            </a:r>
            <a:r>
              <a:rPr lang="en-US" sz="2400" dirty="0" err="1"/>
              <a:t>lượng</a:t>
            </a:r>
            <a:r>
              <a:rPr lang="en-US" sz="2400" dirty="0"/>
              <a:t> </a:t>
            </a:r>
            <a:r>
              <a:rPr lang="en-US" sz="2400" dirty="0" err="1"/>
              <a:t>sản</a:t>
            </a:r>
            <a:r>
              <a:rPr lang="en-US" sz="2400" dirty="0"/>
              <a:t> </a:t>
            </a:r>
            <a:r>
              <a:rPr lang="en-US" sz="2400" dirty="0" err="1"/>
              <a:t>xuất</a:t>
            </a:r>
            <a:r>
              <a:rPr lang="en-US" sz="2400" dirty="0"/>
              <a:t> và </a:t>
            </a:r>
            <a:r>
              <a:rPr lang="en-US" sz="2400" dirty="0" err="1"/>
              <a:t>doanh</a:t>
            </a:r>
            <a:r>
              <a:rPr lang="en-US" sz="2400" dirty="0"/>
              <a:t> </a:t>
            </a:r>
            <a:r>
              <a:rPr lang="en-US" sz="2400" dirty="0" err="1"/>
              <a:t>số</a:t>
            </a:r>
            <a:r>
              <a:rPr lang="en-US" sz="2400" dirty="0"/>
              <a:t> </a:t>
            </a:r>
            <a:r>
              <a:rPr lang="en-US" sz="2400" dirty="0" err="1"/>
              <a:t>bán</a:t>
            </a:r>
            <a:r>
              <a:rPr lang="en-US" sz="2400" dirty="0"/>
              <a:t>…</a:t>
            </a:r>
            <a:endParaRPr lang="vi-VN" sz="2400" dirty="0"/>
          </a:p>
          <a:p>
            <a:endParaRPr lang="en-US" dirty="0"/>
          </a:p>
        </p:txBody>
      </p:sp>
      <p:sp>
        <p:nvSpPr>
          <p:cNvPr id="60418" name="Rectangle 2"/>
          <p:cNvSpPr>
            <a:spLocks noGrp="1" noChangeArrowheads="1"/>
          </p:cNvSpPr>
          <p:nvPr>
            <p:ph type="title"/>
          </p:nvPr>
        </p:nvSpPr>
        <p:spPr>
          <a:xfrm>
            <a:off x="381000" y="381000"/>
            <a:ext cx="8305800" cy="1143000"/>
          </a:xfrm>
        </p:spPr>
        <p:txBody>
          <a:bodyPr>
            <a:normAutofit/>
          </a:bodyPr>
          <a:lstStyle/>
          <a:p>
            <a:pPr algn="ctr"/>
            <a:r>
              <a:rPr lang="en-US" sz="4000" dirty="0" err="1"/>
              <a:t>Phân</a:t>
            </a:r>
            <a:r>
              <a:rPr lang="en-US" sz="4000" dirty="0"/>
              <a:t> </a:t>
            </a:r>
            <a:r>
              <a:rPr lang="en-US" sz="4000" dirty="0" err="1"/>
              <a:t>tích</a:t>
            </a:r>
            <a:r>
              <a:rPr lang="en-US" sz="4000" dirty="0"/>
              <a:t> </a:t>
            </a:r>
            <a:r>
              <a:rPr lang="en-US" sz="4000" dirty="0" err="1"/>
              <a:t>độ</a:t>
            </a:r>
            <a:r>
              <a:rPr lang="en-US" sz="4000" dirty="0"/>
              <a:t> </a:t>
            </a:r>
            <a:r>
              <a:rPr lang="en-US" sz="4000" dirty="0" err="1"/>
              <a:t>nhạy</a:t>
            </a:r>
            <a:endParaRPr lang="en-US" sz="4000" dirty="0"/>
          </a:p>
        </p:txBody>
      </p:sp>
      <p:sp>
        <p:nvSpPr>
          <p:cNvPr id="6042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A72562D3-DFD7-41DF-940D-CEDDD088B099}" type="slidenum">
              <a:rPr lang="en-US" smtClean="0"/>
              <a:pPr>
                <a:defRPr/>
              </a:pPr>
              <a:t>56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4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4"/>
          <p:cNvSpPr>
            <a:spLocks noGrp="1" noChangeArrowheads="1"/>
          </p:cNvSpPr>
          <p:nvPr>
            <p:ph type="title"/>
          </p:nvPr>
        </p:nvSpPr>
        <p:spPr>
          <a:xfrm>
            <a:off x="0" y="0"/>
            <a:ext cx="9144000" cy="1143000"/>
          </a:xfrm>
        </p:spPr>
        <p:txBody>
          <a:bodyPr>
            <a:normAutofit/>
          </a:bodyPr>
          <a:lstStyle/>
          <a:p>
            <a:pPr algn="ctr"/>
            <a:r>
              <a:rPr lang="en-US" sz="3600" dirty="0" err="1"/>
              <a:t>Ví</a:t>
            </a:r>
            <a:r>
              <a:rPr lang="en-US" sz="3600" dirty="0"/>
              <a:t> </a:t>
            </a:r>
            <a:r>
              <a:rPr lang="en-US" sz="3600" dirty="0" err="1"/>
              <a:t>dụ</a:t>
            </a:r>
            <a:r>
              <a:rPr lang="en-US" sz="3600" dirty="0"/>
              <a:t>, </a:t>
            </a:r>
            <a:r>
              <a:rPr lang="en-US" sz="3600" dirty="0" err="1"/>
              <a:t>phân</a:t>
            </a:r>
            <a:r>
              <a:rPr lang="en-US" sz="3600" dirty="0"/>
              <a:t> </a:t>
            </a:r>
            <a:r>
              <a:rPr lang="en-US" sz="3600" dirty="0" err="1"/>
              <a:t>tích</a:t>
            </a:r>
            <a:r>
              <a:rPr lang="en-US" sz="3600" dirty="0"/>
              <a:t> </a:t>
            </a:r>
            <a:r>
              <a:rPr lang="en-US" sz="3600" dirty="0" err="1"/>
              <a:t>độ</a:t>
            </a:r>
            <a:r>
              <a:rPr lang="en-US" sz="3600" dirty="0"/>
              <a:t> </a:t>
            </a:r>
            <a:r>
              <a:rPr lang="en-US" sz="3600" dirty="0" err="1"/>
              <a:t>nhạy</a:t>
            </a:r>
            <a:r>
              <a:rPr lang="en-US" sz="3600" dirty="0"/>
              <a:t> - </a:t>
            </a:r>
            <a:r>
              <a:rPr lang="en-US" sz="3600" dirty="0" err="1"/>
              <a:t>điểm</a:t>
            </a:r>
            <a:r>
              <a:rPr lang="en-US" sz="3600" dirty="0"/>
              <a:t> </a:t>
            </a:r>
            <a:r>
              <a:rPr lang="en-US" sz="3600" dirty="0" err="1"/>
              <a:t>hòa</a:t>
            </a:r>
            <a:r>
              <a:rPr lang="en-US" sz="3600" dirty="0"/>
              <a:t> </a:t>
            </a:r>
            <a:r>
              <a:rPr lang="en-US" sz="3600" dirty="0" err="1"/>
              <a:t>vốn</a:t>
            </a:r>
            <a:endParaRPr lang="en-US" sz="3600" dirty="0"/>
          </a:p>
        </p:txBody>
      </p:sp>
      <p:sp>
        <p:nvSpPr>
          <p:cNvPr id="61445" name="Footer Placeholder 6"/>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buFontTx/>
              <a:buNone/>
              <a:defRPr/>
            </a:pPr>
            <a:fld id="{CA76FFD2-C467-4A89-9811-E04C892563FA}" type="slidenum">
              <a:rPr lang="en-US" smtClean="0"/>
              <a:pPr>
                <a:buFontTx/>
                <a:buNone/>
                <a:defRPr/>
              </a:pPr>
              <a:t>57</a:t>
            </a:fld>
            <a:endParaRPr lang="en-US" dirty="0"/>
          </a:p>
        </p:txBody>
      </p:sp>
      <p:pic>
        <p:nvPicPr>
          <p:cNvPr id="61443" name="Picture 5"/>
          <p:cNvPicPr>
            <a:picLocks noChangeAspect="1" noChangeArrowheads="1"/>
          </p:cNvPicPr>
          <p:nvPr/>
        </p:nvPicPr>
        <p:blipFill>
          <a:blip r:embed="rId2"/>
          <a:srcRect/>
          <a:stretch>
            <a:fillRect/>
          </a:stretch>
        </p:blipFill>
        <p:spPr bwMode="auto">
          <a:xfrm>
            <a:off x="762000" y="1143000"/>
            <a:ext cx="7696200" cy="5335870"/>
          </a:xfrm>
          <a:prstGeom prst="rect">
            <a:avLst/>
          </a:prstGeom>
          <a:noFill/>
          <a:ln w="9525">
            <a:noFill/>
            <a:miter lim="800000"/>
            <a:headEnd/>
            <a:tailEnd/>
          </a:ln>
        </p:spPr>
      </p:pic>
      <p:sp>
        <p:nvSpPr>
          <p:cNvPr id="7" name="Rectangle 6"/>
          <p:cNvSpPr/>
          <p:nvPr/>
        </p:nvSpPr>
        <p:spPr>
          <a:xfrm>
            <a:off x="6126480" y="3733800"/>
            <a:ext cx="2179320" cy="304800"/>
          </a:xfrm>
          <a:prstGeom prst="rect">
            <a:avLst/>
          </a:prstGeom>
          <a:noFill/>
          <a:ln w="28575"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76200" y="1171575"/>
            <a:ext cx="8991600" cy="4162425"/>
          </a:xfrm>
          <a:prstGeom prst="rect">
            <a:avLst/>
          </a:prstGeom>
        </p:spPr>
      </p:pic>
      <p:sp>
        <p:nvSpPr>
          <p:cNvPr id="2458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58</a:t>
            </a:fld>
            <a:endParaRPr lang="en-US" dirty="0"/>
          </a:p>
        </p:txBody>
      </p:sp>
      <p:sp>
        <p:nvSpPr>
          <p:cNvPr id="7" name="Rounded Rectangle 6"/>
          <p:cNvSpPr/>
          <p:nvPr/>
        </p:nvSpPr>
        <p:spPr>
          <a:xfrm>
            <a:off x="1371600" y="4800600"/>
            <a:ext cx="3203731" cy="273393"/>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Title 1"/>
          <p:cNvSpPr>
            <a:spLocks noGrp="1"/>
          </p:cNvSpPr>
          <p:nvPr>
            <p:ph type="title"/>
          </p:nvPr>
        </p:nvSpPr>
        <p:spPr>
          <a:xfrm>
            <a:off x="381000" y="0"/>
            <a:ext cx="8305800" cy="1143000"/>
          </a:xfrm>
        </p:spPr>
        <p:txBody>
          <a:bodyPr>
            <a:noAutofit/>
          </a:bodyPr>
          <a:lstStyle/>
          <a:p>
            <a:pPr algn="ctr" eaLnBrk="1" hangingPunct="1">
              <a:defRPr/>
            </a:pPr>
            <a:r>
              <a:rPr lang="en-US" sz="4000" dirty="0">
                <a:solidFill>
                  <a:schemeClr val="bg1">
                    <a:lumMod val="65000"/>
                  </a:schemeClr>
                </a:solidFill>
              </a:rPr>
              <a:t>Quản lý </a:t>
            </a:r>
            <a:r>
              <a:rPr lang="en-US" sz="4000" dirty="0" err="1">
                <a:solidFill>
                  <a:schemeClr val="bg1">
                    <a:lumMod val="65000"/>
                  </a:schemeClr>
                </a:solidFill>
              </a:rPr>
              <a:t>rủi</a:t>
            </a:r>
            <a:r>
              <a:rPr lang="en-US" sz="4000" dirty="0">
                <a:solidFill>
                  <a:schemeClr val="bg1">
                    <a:lumMod val="65000"/>
                  </a:schemeClr>
                </a:solidFill>
              </a:rPr>
              <a:t> </a:t>
            </a:r>
            <a:r>
              <a:rPr lang="en-US" sz="4000" dirty="0" err="1">
                <a:solidFill>
                  <a:schemeClr val="bg1">
                    <a:lumMod val="65000"/>
                  </a:schemeClr>
                </a:solidFill>
              </a:rPr>
              <a:t>ro</a:t>
            </a:r>
            <a:r>
              <a:rPr lang="en-US" sz="4000" dirty="0">
                <a:solidFill>
                  <a:schemeClr val="bg1">
                    <a:lumMod val="65000"/>
                  </a:schemeClr>
                </a:solidFill>
              </a:rPr>
              <a:t> </a:t>
            </a:r>
            <a:r>
              <a:rPr lang="en-US" sz="4000" dirty="0" err="1">
                <a:solidFill>
                  <a:schemeClr val="bg1">
                    <a:lumMod val="65000"/>
                  </a:schemeClr>
                </a:solidFill>
              </a:rPr>
              <a:t>dự</a:t>
            </a:r>
            <a:r>
              <a:rPr lang="en-US" sz="4000" dirty="0">
                <a:solidFill>
                  <a:schemeClr val="bg1">
                    <a:lumMod val="65000"/>
                  </a:schemeClr>
                </a:solidFill>
              </a:rPr>
              <a:t> </a:t>
            </a:r>
            <a:r>
              <a:rPr lang="en-US" sz="4000" dirty="0" err="1">
                <a:solidFill>
                  <a:schemeClr val="bg1">
                    <a:lumMod val="65000"/>
                  </a:schemeClr>
                </a:solidFill>
              </a:rPr>
              <a:t>án</a:t>
            </a:r>
            <a:r>
              <a:rPr lang="en-US" sz="4000" dirty="0">
                <a:solidFill>
                  <a:schemeClr val="bg1">
                    <a:lumMod val="65000"/>
                  </a:schemeClr>
                </a:solidFill>
              </a:rPr>
              <a:t> [5/6]</a:t>
            </a:r>
          </a:p>
        </p:txBody>
      </p:sp>
      <p:pic>
        <p:nvPicPr>
          <p:cNvPr id="2" name="Picture 1"/>
          <p:cNvPicPr>
            <a:picLocks noChangeAspect="1"/>
          </p:cNvPicPr>
          <p:nvPr/>
        </p:nvPicPr>
        <p:blipFill>
          <a:blip r:embed="rId3"/>
          <a:stretch>
            <a:fillRect/>
          </a:stretch>
        </p:blipFill>
        <p:spPr>
          <a:xfrm>
            <a:off x="5486400" y="5410199"/>
            <a:ext cx="2150617" cy="1447801"/>
          </a:xfrm>
          <a:prstGeom prst="rect">
            <a:avLst/>
          </a:prstGeom>
        </p:spPr>
      </p:pic>
    </p:spTree>
    <p:extLst>
      <p:ext uri="{BB962C8B-B14F-4D97-AF65-F5344CB8AC3E}">
        <p14:creationId xmlns:p14="http://schemas.microsoft.com/office/powerpoint/2010/main" val="1672832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idx="1"/>
          </p:nvPr>
        </p:nvSpPr>
        <p:spPr>
          <a:xfrm>
            <a:off x="381000" y="1676400"/>
            <a:ext cx="8458200" cy="3352800"/>
          </a:xfrm>
        </p:spPr>
        <p:txBody>
          <a:bodyPr/>
          <a:lstStyle/>
          <a:p>
            <a:pPr algn="just">
              <a:spcAft>
                <a:spcPts val="2400"/>
              </a:spcAft>
            </a:pPr>
            <a:r>
              <a:rPr lang="en-US" b="1" dirty="0" err="1"/>
              <a:t>Kế</a:t>
            </a:r>
            <a:r>
              <a:rPr lang="en-US" b="1" dirty="0"/>
              <a:t> </a:t>
            </a:r>
            <a:r>
              <a:rPr lang="en-US" b="1" dirty="0" err="1"/>
              <a:t>hoạch</a:t>
            </a:r>
            <a:r>
              <a:rPr lang="en-US" b="1" dirty="0"/>
              <a:t> </a:t>
            </a:r>
            <a:r>
              <a:rPr lang="en-US" b="1" dirty="0" err="1"/>
              <a:t>đối</a:t>
            </a:r>
            <a:r>
              <a:rPr lang="en-US" b="1" dirty="0"/>
              <a:t> </a:t>
            </a:r>
            <a:r>
              <a:rPr lang="en-US" b="1" dirty="0" err="1"/>
              <a:t>phó</a:t>
            </a:r>
            <a:r>
              <a:rPr lang="en-US" b="1" dirty="0"/>
              <a:t> </a:t>
            </a:r>
            <a:r>
              <a:rPr lang="en-US" b="1" dirty="0" err="1"/>
              <a:t>rủi</a:t>
            </a:r>
            <a:r>
              <a:rPr lang="en-US" b="1" dirty="0"/>
              <a:t> </a:t>
            </a:r>
            <a:r>
              <a:rPr lang="en-US" b="1" dirty="0" err="1"/>
              <a:t>ro</a:t>
            </a:r>
            <a:r>
              <a:rPr lang="en-US" dirty="0"/>
              <a:t> (</a:t>
            </a:r>
            <a:r>
              <a:rPr lang="en-US" dirty="0">
                <a:solidFill>
                  <a:srgbClr val="0070C0"/>
                </a:solidFill>
              </a:rPr>
              <a:t>plan risk responses</a:t>
            </a:r>
            <a:r>
              <a:rPr lang="en-US" dirty="0"/>
              <a:t>): </a:t>
            </a:r>
            <a:r>
              <a:rPr lang="en-US" dirty="0" err="1"/>
              <a:t>sau</a:t>
            </a:r>
            <a:r>
              <a:rPr lang="en-US" dirty="0"/>
              <a:t> </a:t>
            </a:r>
            <a:r>
              <a:rPr lang="en-US" dirty="0" err="1"/>
              <a:t>khi</a:t>
            </a:r>
            <a:r>
              <a:rPr lang="en-US" dirty="0"/>
              <a:t> </a:t>
            </a:r>
            <a:r>
              <a:rPr lang="en-US" dirty="0" err="1"/>
              <a:t>xác</a:t>
            </a:r>
            <a:r>
              <a:rPr lang="en-US" dirty="0"/>
              <a:t> </a:t>
            </a:r>
            <a:r>
              <a:rPr lang="en-US" dirty="0" err="1"/>
              <a:t>định</a:t>
            </a:r>
            <a:r>
              <a:rPr lang="en-US" dirty="0"/>
              <a:t> và </a:t>
            </a:r>
            <a:r>
              <a:rPr lang="en-US" dirty="0" err="1"/>
              <a:t>phân</a:t>
            </a:r>
            <a:r>
              <a:rPr lang="en-US" dirty="0"/>
              <a:t> </a:t>
            </a:r>
            <a:r>
              <a:rPr lang="en-US" dirty="0" err="1"/>
              <a:t>tích</a:t>
            </a:r>
            <a:r>
              <a:rPr lang="en-US" dirty="0"/>
              <a:t>, </a:t>
            </a:r>
            <a:r>
              <a:rPr lang="en-US" dirty="0" err="1"/>
              <a:t>cần</a:t>
            </a:r>
            <a:r>
              <a:rPr lang="en-US" dirty="0"/>
              <a:t> </a:t>
            </a:r>
            <a:r>
              <a:rPr lang="en-US" dirty="0" err="1"/>
              <a:t>phải</a:t>
            </a:r>
            <a:r>
              <a:rPr lang="en-US" dirty="0"/>
              <a:t> </a:t>
            </a:r>
            <a:r>
              <a:rPr lang="en-US" dirty="0" err="1"/>
              <a:t>đối</a:t>
            </a:r>
            <a:r>
              <a:rPr lang="en-US" dirty="0"/>
              <a:t> </a:t>
            </a:r>
            <a:r>
              <a:rPr lang="en-US" dirty="0" err="1"/>
              <a:t>phó</a:t>
            </a:r>
            <a:r>
              <a:rPr lang="en-US" dirty="0"/>
              <a:t> </a:t>
            </a:r>
            <a:r>
              <a:rPr lang="en-US" dirty="0" err="1"/>
              <a:t>rủi</a:t>
            </a:r>
            <a:r>
              <a:rPr lang="en-US" dirty="0"/>
              <a:t> ro. </a:t>
            </a:r>
          </a:p>
          <a:p>
            <a:pPr algn="just"/>
            <a:r>
              <a:rPr lang="en-US" dirty="0" err="1"/>
              <a:t>Chiến</a:t>
            </a:r>
            <a:r>
              <a:rPr lang="en-US" dirty="0"/>
              <a:t> </a:t>
            </a:r>
            <a:r>
              <a:rPr lang="en-US" dirty="0" err="1"/>
              <a:t>lược</a:t>
            </a:r>
            <a:r>
              <a:rPr lang="en-US" dirty="0"/>
              <a:t> </a:t>
            </a:r>
            <a:r>
              <a:rPr lang="en-US" dirty="0" err="1"/>
              <a:t>đối</a:t>
            </a:r>
            <a:r>
              <a:rPr lang="en-US" dirty="0"/>
              <a:t> </a:t>
            </a:r>
            <a:r>
              <a:rPr lang="en-US" dirty="0" err="1"/>
              <a:t>phó</a:t>
            </a:r>
            <a:r>
              <a:rPr lang="en-US" dirty="0"/>
              <a:t> </a:t>
            </a:r>
            <a:r>
              <a:rPr lang="en-US" dirty="0" err="1"/>
              <a:t>rủi</a:t>
            </a:r>
            <a:r>
              <a:rPr lang="en-US" dirty="0"/>
              <a:t> </a:t>
            </a:r>
            <a:r>
              <a:rPr lang="en-US" dirty="0" err="1"/>
              <a:t>ro</a:t>
            </a:r>
            <a:r>
              <a:rPr lang="en-US" dirty="0"/>
              <a:t> </a:t>
            </a:r>
            <a:r>
              <a:rPr lang="en-US" dirty="0" err="1"/>
              <a:t>tiêu</a:t>
            </a:r>
            <a:r>
              <a:rPr lang="en-US" dirty="0"/>
              <a:t> </a:t>
            </a:r>
            <a:r>
              <a:rPr lang="en-US" dirty="0" err="1"/>
              <a:t>cực</a:t>
            </a:r>
            <a:r>
              <a:rPr lang="en-US" dirty="0"/>
              <a:t>: </a:t>
            </a:r>
          </a:p>
          <a:p>
            <a:pPr marL="849313" lvl="1" indent="-457200" algn="just">
              <a:buFont typeface="+mj-lt"/>
              <a:buAutoNum type="arabicPeriod"/>
            </a:pPr>
            <a:r>
              <a:rPr lang="en-US" sz="2400" dirty="0"/>
              <a:t>Né </a:t>
            </a:r>
            <a:r>
              <a:rPr lang="en-US" sz="2400" dirty="0" err="1"/>
              <a:t>tránh</a:t>
            </a:r>
            <a:r>
              <a:rPr lang="en-US" sz="2400" dirty="0"/>
              <a:t> </a:t>
            </a:r>
            <a:r>
              <a:rPr lang="en-US" sz="2400" dirty="0" err="1"/>
              <a:t>rủi</a:t>
            </a:r>
            <a:r>
              <a:rPr lang="en-US" sz="2400" dirty="0"/>
              <a:t> </a:t>
            </a:r>
            <a:r>
              <a:rPr lang="en-US" sz="2400" dirty="0" err="1"/>
              <a:t>ro</a:t>
            </a:r>
            <a:endParaRPr lang="en-US" sz="2400" dirty="0"/>
          </a:p>
          <a:p>
            <a:pPr marL="849313" lvl="1" indent="-457200" algn="just">
              <a:buFont typeface="+mj-lt"/>
              <a:buAutoNum type="arabicPeriod"/>
            </a:pPr>
            <a:r>
              <a:rPr lang="en-US" sz="2400" dirty="0" err="1"/>
              <a:t>Chấp</a:t>
            </a:r>
            <a:r>
              <a:rPr lang="en-US" sz="2400" dirty="0"/>
              <a:t> </a:t>
            </a:r>
            <a:r>
              <a:rPr lang="en-US" sz="2400" dirty="0" err="1"/>
              <a:t>nhận</a:t>
            </a:r>
            <a:r>
              <a:rPr lang="en-US" sz="2400" dirty="0"/>
              <a:t> </a:t>
            </a:r>
            <a:r>
              <a:rPr lang="en-US" sz="2400" dirty="0" err="1"/>
              <a:t>rủi</a:t>
            </a:r>
            <a:r>
              <a:rPr lang="en-US" sz="2400" dirty="0"/>
              <a:t> </a:t>
            </a:r>
            <a:r>
              <a:rPr lang="en-US" sz="2400" dirty="0" err="1"/>
              <a:t>ro</a:t>
            </a:r>
            <a:endParaRPr lang="en-US" sz="2400" dirty="0"/>
          </a:p>
          <a:p>
            <a:pPr marL="849313" lvl="1" indent="-457200" algn="just">
              <a:buFont typeface="+mj-lt"/>
              <a:buAutoNum type="arabicPeriod"/>
            </a:pPr>
            <a:r>
              <a:rPr lang="en-US" sz="2400" dirty="0" err="1"/>
              <a:t>Chuyển</a:t>
            </a:r>
            <a:r>
              <a:rPr lang="en-US" sz="2400" dirty="0"/>
              <a:t> </a:t>
            </a:r>
            <a:r>
              <a:rPr lang="en-US" sz="2400" dirty="0" err="1"/>
              <a:t>giao</a:t>
            </a:r>
            <a:r>
              <a:rPr lang="en-US" sz="2400" dirty="0"/>
              <a:t> </a:t>
            </a:r>
            <a:r>
              <a:rPr lang="en-US" sz="2400" dirty="0" err="1"/>
              <a:t>rủi</a:t>
            </a:r>
            <a:r>
              <a:rPr lang="en-US" sz="2400" dirty="0"/>
              <a:t> </a:t>
            </a:r>
            <a:r>
              <a:rPr lang="en-US" sz="2400" dirty="0" err="1"/>
              <a:t>ro</a:t>
            </a:r>
            <a:endParaRPr lang="en-US" sz="2400" dirty="0"/>
          </a:p>
          <a:p>
            <a:pPr marL="849313" lvl="1" indent="-457200" algn="just">
              <a:buFont typeface="+mj-lt"/>
              <a:buAutoNum type="arabicPeriod"/>
            </a:pPr>
            <a:r>
              <a:rPr lang="en-US" sz="2400" dirty="0" err="1"/>
              <a:t>Giảm</a:t>
            </a:r>
            <a:r>
              <a:rPr lang="en-US" sz="2400" dirty="0"/>
              <a:t> </a:t>
            </a:r>
            <a:r>
              <a:rPr lang="en-US" sz="2400" dirty="0" err="1"/>
              <a:t>nhẹ</a:t>
            </a:r>
            <a:r>
              <a:rPr lang="en-US" sz="2400" dirty="0"/>
              <a:t> </a:t>
            </a:r>
            <a:r>
              <a:rPr lang="en-US" sz="2400" dirty="0" err="1"/>
              <a:t>rủi</a:t>
            </a:r>
            <a:r>
              <a:rPr lang="en-US" sz="2400" dirty="0"/>
              <a:t> </a:t>
            </a:r>
            <a:r>
              <a:rPr lang="en-US" sz="2400" dirty="0" err="1"/>
              <a:t>ro</a:t>
            </a:r>
            <a:endParaRPr lang="en-US" sz="2400" dirty="0"/>
          </a:p>
        </p:txBody>
      </p:sp>
      <p:sp>
        <p:nvSpPr>
          <p:cNvPr id="62466" name="Rectangle 2"/>
          <p:cNvSpPr>
            <a:spLocks noGrp="1" noChangeArrowheads="1"/>
          </p:cNvSpPr>
          <p:nvPr>
            <p:ph type="title"/>
          </p:nvPr>
        </p:nvSpPr>
        <p:spPr>
          <a:xfrm>
            <a:off x="381000" y="274638"/>
            <a:ext cx="8305800" cy="792162"/>
          </a:xfrm>
        </p:spPr>
        <p:txBody>
          <a:bodyPr>
            <a:normAutofit/>
          </a:bodyPr>
          <a:lstStyle/>
          <a:p>
            <a:pPr algn="ctr"/>
            <a:r>
              <a:rPr lang="en-US" sz="4400" dirty="0">
                <a:solidFill>
                  <a:srgbClr val="FF0000"/>
                </a:solidFill>
              </a:rPr>
              <a:t>5. </a:t>
            </a:r>
            <a:r>
              <a:rPr lang="en-US" sz="4400" dirty="0" err="1">
                <a:solidFill>
                  <a:srgbClr val="FF0000"/>
                </a:solidFill>
              </a:rPr>
              <a:t>Kế</a:t>
            </a:r>
            <a:r>
              <a:rPr lang="en-US" sz="4400" dirty="0">
                <a:solidFill>
                  <a:srgbClr val="FF0000"/>
                </a:solidFill>
              </a:rPr>
              <a:t> </a:t>
            </a:r>
            <a:r>
              <a:rPr lang="en-US" sz="4400" dirty="0" err="1">
                <a:solidFill>
                  <a:srgbClr val="FF0000"/>
                </a:solidFill>
              </a:rPr>
              <a:t>hoạch</a:t>
            </a:r>
            <a:r>
              <a:rPr lang="en-US" sz="4400" dirty="0">
                <a:solidFill>
                  <a:srgbClr val="FF0000"/>
                </a:solidFill>
              </a:rPr>
              <a:t> </a:t>
            </a:r>
            <a:r>
              <a:rPr lang="en-US" sz="4400" dirty="0" err="1">
                <a:solidFill>
                  <a:srgbClr val="FF0000"/>
                </a:solidFill>
              </a:rPr>
              <a:t>đối</a:t>
            </a:r>
            <a:r>
              <a:rPr lang="en-US" sz="4400" dirty="0">
                <a:solidFill>
                  <a:srgbClr val="FF0000"/>
                </a:solidFill>
              </a:rPr>
              <a:t> </a:t>
            </a:r>
            <a:r>
              <a:rPr lang="en-US" sz="4400" dirty="0" err="1">
                <a:solidFill>
                  <a:srgbClr val="FF0000"/>
                </a:solidFill>
              </a:rPr>
              <a:t>phó</a:t>
            </a:r>
            <a:r>
              <a:rPr lang="en-US" sz="4400" dirty="0">
                <a:solidFill>
                  <a:srgbClr val="FF0000"/>
                </a:solidFill>
              </a:rPr>
              <a:t> </a:t>
            </a:r>
            <a:r>
              <a:rPr lang="en-US" sz="4400" dirty="0" err="1">
                <a:solidFill>
                  <a:srgbClr val="FF0000"/>
                </a:solidFill>
              </a:rPr>
              <a:t>rủi</a:t>
            </a:r>
            <a:r>
              <a:rPr lang="en-US" sz="4400" dirty="0">
                <a:solidFill>
                  <a:srgbClr val="FF0000"/>
                </a:solidFill>
              </a:rPr>
              <a:t> </a:t>
            </a:r>
            <a:r>
              <a:rPr lang="en-US" sz="4400" dirty="0" err="1">
                <a:solidFill>
                  <a:srgbClr val="FF0000"/>
                </a:solidFill>
              </a:rPr>
              <a:t>ro</a:t>
            </a:r>
            <a:endParaRPr lang="en-US" sz="4400" dirty="0">
              <a:solidFill>
                <a:srgbClr val="FF0000"/>
              </a:solidFill>
            </a:endParaRPr>
          </a:p>
        </p:txBody>
      </p:sp>
      <p:sp>
        <p:nvSpPr>
          <p:cNvPr id="62469"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AF9B80BF-4B15-47CC-B710-DAF212700692}" type="slidenum">
              <a:rPr lang="en-US" smtClean="0"/>
              <a:pPr>
                <a:defRPr/>
              </a:pPr>
              <a:t>59</a:t>
            </a:fld>
            <a:endParaRPr lang="en-US" dirty="0"/>
          </a:p>
        </p:txBody>
      </p:sp>
      <p:pic>
        <p:nvPicPr>
          <p:cNvPr id="2" name="Picture 1"/>
          <p:cNvPicPr>
            <a:picLocks noChangeAspect="1"/>
          </p:cNvPicPr>
          <p:nvPr/>
        </p:nvPicPr>
        <p:blipFill>
          <a:blip r:embed="rId2"/>
          <a:stretch>
            <a:fillRect/>
          </a:stretch>
        </p:blipFill>
        <p:spPr>
          <a:xfrm>
            <a:off x="5257800" y="4038600"/>
            <a:ext cx="3019425" cy="170411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2467">
                                            <p:txEl>
                                              <p:pRg st="1" end="1"/>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62467">
                                            <p:txEl>
                                              <p:pRg st="2" end="2"/>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62467">
                                            <p:txEl>
                                              <p:pRg st="3" end="3"/>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62467">
                                            <p:txEl>
                                              <p:pRg st="4" end="4"/>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624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457200" y="381000"/>
            <a:ext cx="8229600" cy="1143000"/>
          </a:xfrm>
        </p:spPr>
        <p:txBody>
          <a:bodyPr>
            <a:normAutofit/>
          </a:bodyPr>
          <a:lstStyle/>
          <a:p>
            <a:pPr algn="ctr"/>
            <a:r>
              <a:rPr lang="en-US" sz="3600" dirty="0" err="1"/>
              <a:t>Ví</a:t>
            </a:r>
            <a:r>
              <a:rPr lang="en-US" sz="3600" dirty="0"/>
              <a:t> </a:t>
            </a:r>
            <a:r>
              <a:rPr lang="en-US" sz="3600" dirty="0" err="1"/>
              <a:t>dụ</a:t>
            </a:r>
            <a:r>
              <a:rPr lang="en-US" sz="3600" dirty="0"/>
              <a:t>, </a:t>
            </a:r>
            <a:r>
              <a:rPr lang="en-US" sz="3600" dirty="0" err="1"/>
              <a:t>chiến</a:t>
            </a:r>
            <a:r>
              <a:rPr lang="en-US" sz="3600" dirty="0"/>
              <a:t> </a:t>
            </a:r>
            <a:r>
              <a:rPr lang="en-US" sz="3600" dirty="0" err="1"/>
              <a:t>lược</a:t>
            </a:r>
            <a:r>
              <a:rPr lang="en-US" sz="3600" dirty="0"/>
              <a:t> </a:t>
            </a:r>
            <a:r>
              <a:rPr lang="en-US" sz="3600" dirty="0" err="1"/>
              <a:t>giảm</a:t>
            </a:r>
            <a:r>
              <a:rPr lang="en-US" sz="3600" dirty="0"/>
              <a:t> </a:t>
            </a:r>
            <a:r>
              <a:rPr lang="en-US" sz="3600" dirty="0" err="1"/>
              <a:t>nhẹ</a:t>
            </a:r>
            <a:r>
              <a:rPr lang="en-US" sz="3600" dirty="0"/>
              <a:t> </a:t>
            </a:r>
            <a:r>
              <a:rPr lang="en-US" sz="3600" dirty="0" err="1"/>
              <a:t>rủi</a:t>
            </a:r>
            <a:r>
              <a:rPr lang="en-US" sz="3600" dirty="0"/>
              <a:t> </a:t>
            </a:r>
            <a:r>
              <a:rPr lang="en-US" sz="3600" dirty="0" err="1"/>
              <a:t>ro</a:t>
            </a:r>
            <a:endParaRPr lang="en-US" sz="3600" dirty="0"/>
          </a:p>
        </p:txBody>
      </p:sp>
      <p:sp>
        <p:nvSpPr>
          <p:cNvPr id="63493" name="Footer Placeholder 6"/>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buFontTx/>
              <a:buNone/>
              <a:defRPr/>
            </a:pPr>
            <a:fld id="{2382DC7E-47F0-4F29-BF92-387ECEECEA20}" type="slidenum">
              <a:rPr lang="en-US" smtClean="0"/>
              <a:pPr>
                <a:buFontTx/>
                <a:buNone/>
                <a:defRPr/>
              </a:pPr>
              <a:t>60</a:t>
            </a:fld>
            <a:endParaRPr lang="en-US" dirty="0"/>
          </a:p>
        </p:txBody>
      </p:sp>
      <p:pic>
        <p:nvPicPr>
          <p:cNvPr id="3" name="Picture 2"/>
          <p:cNvPicPr>
            <a:picLocks noChangeAspect="1"/>
          </p:cNvPicPr>
          <p:nvPr/>
        </p:nvPicPr>
        <p:blipFill>
          <a:blip r:embed="rId2"/>
          <a:stretch>
            <a:fillRect/>
          </a:stretch>
        </p:blipFill>
        <p:spPr>
          <a:xfrm>
            <a:off x="76200" y="1993557"/>
            <a:ext cx="8915401" cy="32004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idx="1"/>
          </p:nvPr>
        </p:nvSpPr>
        <p:spPr>
          <a:xfrm>
            <a:off x="533400" y="2209800"/>
            <a:ext cx="7086600" cy="2819400"/>
          </a:xfrm>
        </p:spPr>
        <p:txBody>
          <a:bodyPr/>
          <a:lstStyle/>
          <a:p>
            <a:pPr marL="622300" indent="-449263">
              <a:spcBef>
                <a:spcPts val="1200"/>
              </a:spcBef>
              <a:buSzPct val="90000"/>
              <a:buFont typeface="+mj-lt"/>
              <a:buAutoNum type="arabicPeriod"/>
            </a:pPr>
            <a:r>
              <a:rPr lang="en-US" dirty="0" err="1"/>
              <a:t>Khai</a:t>
            </a:r>
            <a:r>
              <a:rPr lang="en-US" dirty="0"/>
              <a:t> </a:t>
            </a:r>
            <a:r>
              <a:rPr lang="en-US" dirty="0" err="1"/>
              <a:t>thác</a:t>
            </a:r>
            <a:r>
              <a:rPr lang="en-US" dirty="0"/>
              <a:t> </a:t>
            </a:r>
            <a:r>
              <a:rPr lang="en-US" dirty="0" err="1"/>
              <a:t>rủi</a:t>
            </a:r>
            <a:r>
              <a:rPr lang="en-US" dirty="0"/>
              <a:t> </a:t>
            </a:r>
            <a:r>
              <a:rPr lang="en-US" dirty="0" err="1"/>
              <a:t>ro</a:t>
            </a:r>
            <a:endParaRPr lang="en-US" dirty="0"/>
          </a:p>
          <a:p>
            <a:pPr marL="622300" indent="-449263">
              <a:spcBef>
                <a:spcPts val="1200"/>
              </a:spcBef>
              <a:buSzPct val="90000"/>
              <a:buFont typeface="+mj-lt"/>
              <a:buAutoNum type="arabicPeriod"/>
            </a:pPr>
            <a:r>
              <a:rPr lang="en-US" dirty="0"/>
              <a:t>Chia </a:t>
            </a:r>
            <a:r>
              <a:rPr lang="en-US" dirty="0" err="1"/>
              <a:t>sẻ</a:t>
            </a:r>
            <a:r>
              <a:rPr lang="en-US" dirty="0"/>
              <a:t> </a:t>
            </a:r>
            <a:r>
              <a:rPr lang="en-US" dirty="0" err="1"/>
              <a:t>rủi</a:t>
            </a:r>
            <a:r>
              <a:rPr lang="en-US" dirty="0"/>
              <a:t> </a:t>
            </a:r>
            <a:r>
              <a:rPr lang="en-US" dirty="0" err="1"/>
              <a:t>ro</a:t>
            </a:r>
            <a:endParaRPr lang="en-US" dirty="0"/>
          </a:p>
          <a:p>
            <a:pPr marL="622300" indent="-449263">
              <a:spcBef>
                <a:spcPts val="1200"/>
              </a:spcBef>
              <a:buSzPct val="90000"/>
              <a:buFont typeface="+mj-lt"/>
              <a:buAutoNum type="arabicPeriod"/>
            </a:pPr>
            <a:r>
              <a:rPr lang="en-US" dirty="0" err="1"/>
              <a:t>Nâng</a:t>
            </a:r>
            <a:r>
              <a:rPr lang="en-US" dirty="0"/>
              <a:t> cao </a:t>
            </a:r>
            <a:r>
              <a:rPr lang="en-US" dirty="0" err="1"/>
              <a:t>rủi</a:t>
            </a:r>
            <a:r>
              <a:rPr lang="en-US" dirty="0"/>
              <a:t> </a:t>
            </a:r>
            <a:r>
              <a:rPr lang="en-US" dirty="0" err="1"/>
              <a:t>ro</a:t>
            </a:r>
            <a:endParaRPr lang="en-US" dirty="0"/>
          </a:p>
          <a:p>
            <a:pPr marL="622300" indent="-449263">
              <a:spcBef>
                <a:spcPts val="1200"/>
              </a:spcBef>
              <a:buSzPct val="90000"/>
              <a:buFont typeface="+mj-lt"/>
              <a:buAutoNum type="arabicPeriod"/>
            </a:pPr>
            <a:r>
              <a:rPr lang="en-US" dirty="0" err="1"/>
              <a:t>Chấp</a:t>
            </a:r>
            <a:r>
              <a:rPr lang="en-US" dirty="0"/>
              <a:t> </a:t>
            </a:r>
            <a:r>
              <a:rPr lang="en-US" dirty="0" err="1"/>
              <a:t>nhận</a:t>
            </a:r>
            <a:r>
              <a:rPr lang="en-US" dirty="0"/>
              <a:t> </a:t>
            </a:r>
            <a:r>
              <a:rPr lang="en-US" dirty="0" err="1"/>
              <a:t>rủi</a:t>
            </a:r>
            <a:r>
              <a:rPr lang="en-US" dirty="0"/>
              <a:t> ro.</a:t>
            </a:r>
          </a:p>
        </p:txBody>
      </p:sp>
      <p:sp>
        <p:nvSpPr>
          <p:cNvPr id="64514" name="Rectangle 2"/>
          <p:cNvSpPr>
            <a:spLocks noGrp="1" noChangeArrowheads="1"/>
          </p:cNvSpPr>
          <p:nvPr>
            <p:ph type="title"/>
          </p:nvPr>
        </p:nvSpPr>
        <p:spPr>
          <a:xfrm>
            <a:off x="0" y="457200"/>
            <a:ext cx="9144000" cy="914400"/>
          </a:xfrm>
        </p:spPr>
        <p:txBody>
          <a:bodyPr>
            <a:normAutofit/>
          </a:bodyPr>
          <a:lstStyle/>
          <a:p>
            <a:pPr algn="ctr"/>
            <a:r>
              <a:rPr lang="en-US" sz="4000" dirty="0" err="1"/>
              <a:t>Chiến</a:t>
            </a:r>
            <a:r>
              <a:rPr lang="en-US" sz="4000" dirty="0"/>
              <a:t> </a:t>
            </a:r>
            <a:r>
              <a:rPr lang="en-US" sz="4000" dirty="0" err="1"/>
              <a:t>lược</a:t>
            </a:r>
            <a:r>
              <a:rPr lang="en-US" sz="4000" dirty="0"/>
              <a:t> </a:t>
            </a:r>
            <a:r>
              <a:rPr lang="en-US" sz="4000" dirty="0" err="1"/>
              <a:t>đối</a:t>
            </a:r>
            <a:r>
              <a:rPr lang="en-US" sz="4000" dirty="0"/>
              <a:t> </a:t>
            </a:r>
            <a:r>
              <a:rPr lang="en-US" sz="4000" dirty="0" err="1"/>
              <a:t>phó</a:t>
            </a:r>
            <a:r>
              <a:rPr lang="en-US" sz="4000" dirty="0"/>
              <a:t> </a:t>
            </a:r>
            <a:r>
              <a:rPr lang="en-US" sz="4000" dirty="0" err="1"/>
              <a:t>rủi</a:t>
            </a:r>
            <a:r>
              <a:rPr lang="en-US" sz="4000" dirty="0"/>
              <a:t> </a:t>
            </a:r>
            <a:r>
              <a:rPr lang="en-US" sz="4000" dirty="0" err="1"/>
              <a:t>ro</a:t>
            </a:r>
            <a:r>
              <a:rPr lang="en-US" sz="4000" dirty="0"/>
              <a:t> </a:t>
            </a:r>
            <a:r>
              <a:rPr lang="en-US" sz="4000" dirty="0" err="1"/>
              <a:t>tích</a:t>
            </a:r>
            <a:r>
              <a:rPr lang="en-US" sz="4000" dirty="0"/>
              <a:t> </a:t>
            </a:r>
            <a:r>
              <a:rPr lang="en-US" sz="4000" dirty="0" err="1"/>
              <a:t>cực</a:t>
            </a:r>
            <a:endParaRPr lang="en-US" sz="4000" dirty="0"/>
          </a:p>
        </p:txBody>
      </p:sp>
      <p:sp>
        <p:nvSpPr>
          <p:cNvPr id="64517"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FE7571D-7F21-4BEA-AB98-A86F11288594}" type="slidenum">
              <a:rPr lang="en-US" smtClean="0"/>
              <a:pPr>
                <a:defRPr/>
              </a:pPr>
              <a:t>61</a:t>
            </a:fld>
            <a:endParaRPr lang="en-US" dirty="0"/>
          </a:p>
        </p:txBody>
      </p:sp>
      <p:sp>
        <p:nvSpPr>
          <p:cNvPr id="7" name="Rectangle 3"/>
          <p:cNvSpPr txBox="1">
            <a:spLocks noChangeArrowheads="1"/>
          </p:cNvSpPr>
          <p:nvPr/>
        </p:nvSpPr>
        <p:spPr bwMode="auto">
          <a:xfrm>
            <a:off x="4419600" y="2286000"/>
            <a:ext cx="4345459" cy="2209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537" indent="0">
              <a:buClr>
                <a:schemeClr val="bg1">
                  <a:lumMod val="65000"/>
                </a:schemeClr>
              </a:buClr>
              <a:buSzPct val="150000"/>
              <a:buNone/>
            </a:pPr>
            <a:r>
              <a:rPr lang="en-US" sz="3200" spc="400" dirty="0">
                <a:solidFill>
                  <a:schemeClr val="bg1">
                    <a:lumMod val="85000"/>
                  </a:schemeClr>
                </a:solidFill>
                <a:latin typeface="Arial Black" panose="020B0A04020102020204" pitchFamily="34" charset="0"/>
              </a:rPr>
              <a:t>exploitation</a:t>
            </a:r>
          </a:p>
          <a:p>
            <a:pPr marL="109537" indent="0">
              <a:buClr>
                <a:schemeClr val="bg1">
                  <a:lumMod val="65000"/>
                </a:schemeClr>
              </a:buClr>
              <a:buSzPct val="150000"/>
              <a:buNone/>
            </a:pPr>
            <a:r>
              <a:rPr lang="en-US" sz="3200" spc="400" dirty="0">
                <a:solidFill>
                  <a:schemeClr val="bg1">
                    <a:lumMod val="85000"/>
                  </a:schemeClr>
                </a:solidFill>
                <a:latin typeface="Arial Black" panose="020B0A04020102020204" pitchFamily="34" charset="0"/>
              </a:rPr>
              <a:t>sharing</a:t>
            </a:r>
          </a:p>
          <a:p>
            <a:pPr marL="109537" indent="0">
              <a:buClr>
                <a:schemeClr val="bg1">
                  <a:lumMod val="65000"/>
                </a:schemeClr>
              </a:buClr>
              <a:buSzPct val="150000"/>
              <a:buNone/>
            </a:pPr>
            <a:r>
              <a:rPr lang="en-US" sz="3200" spc="400" dirty="0">
                <a:solidFill>
                  <a:schemeClr val="bg1">
                    <a:lumMod val="85000"/>
                  </a:schemeClr>
                </a:solidFill>
                <a:latin typeface="Arial Black" panose="020B0A04020102020204" pitchFamily="34" charset="0"/>
              </a:rPr>
              <a:t>enhancement</a:t>
            </a:r>
          </a:p>
          <a:p>
            <a:pPr marL="109537" indent="0">
              <a:buClr>
                <a:schemeClr val="bg1">
                  <a:lumMod val="65000"/>
                </a:schemeClr>
              </a:buClr>
              <a:buSzPct val="150000"/>
              <a:buNone/>
            </a:pPr>
            <a:r>
              <a:rPr lang="en-US" sz="3200" spc="400" dirty="0">
                <a:solidFill>
                  <a:schemeClr val="bg1">
                    <a:lumMod val="85000"/>
                  </a:schemeClr>
                </a:solidFill>
                <a:latin typeface="Arial Black" panose="020B0A04020102020204" pitchFamily="34" charset="0"/>
              </a:rPr>
              <a:t>acceptance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idx="1"/>
          </p:nvPr>
        </p:nvSpPr>
        <p:spPr>
          <a:xfrm>
            <a:off x="381000" y="1600200"/>
            <a:ext cx="8229600" cy="3014662"/>
          </a:xfrm>
        </p:spPr>
        <p:txBody>
          <a:bodyPr/>
          <a:lstStyle/>
          <a:p>
            <a:pPr algn="just">
              <a:spcBef>
                <a:spcPts val="1200"/>
              </a:spcBef>
              <a:spcAft>
                <a:spcPts val="1800"/>
              </a:spcAft>
            </a:pPr>
            <a:r>
              <a:rPr lang="en-US" dirty="0" err="1">
                <a:effectLst>
                  <a:outerShdw blurRad="38100" dist="38100" dir="2700000" algn="tl">
                    <a:srgbClr val="000000">
                      <a:alpha val="43137"/>
                    </a:srgbClr>
                  </a:outerShdw>
                </a:effectLst>
              </a:rPr>
              <a:t>Rủi</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ro</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còn</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lại</a:t>
            </a:r>
            <a:r>
              <a:rPr lang="en-US" dirty="0">
                <a:effectLst>
                  <a:outerShdw blurRad="38100" dist="38100" dir="2700000" algn="tl">
                    <a:srgbClr val="000000">
                      <a:alpha val="43137"/>
                    </a:srgbClr>
                  </a:outerShdw>
                </a:effectLst>
              </a:rPr>
              <a:t> </a:t>
            </a:r>
            <a:r>
              <a:rPr lang="en-US" dirty="0"/>
              <a:t>(</a:t>
            </a:r>
            <a:r>
              <a:rPr lang="en-US" dirty="0">
                <a:solidFill>
                  <a:srgbClr val="0070C0"/>
                </a:solidFill>
              </a:rPr>
              <a:t>residual risks</a:t>
            </a:r>
            <a:r>
              <a:rPr lang="en-US" dirty="0"/>
              <a:t>): </a:t>
            </a:r>
            <a:r>
              <a:rPr lang="en-US" dirty="0" err="1"/>
              <a:t>rủi</a:t>
            </a:r>
            <a:r>
              <a:rPr lang="en-US" dirty="0"/>
              <a:t> </a:t>
            </a:r>
            <a:r>
              <a:rPr lang="en-US" dirty="0" err="1"/>
              <a:t>ro</a:t>
            </a:r>
            <a:r>
              <a:rPr lang="en-US" dirty="0"/>
              <a:t> </a:t>
            </a:r>
            <a:r>
              <a:rPr lang="en-US" dirty="0" err="1"/>
              <a:t>còn</a:t>
            </a:r>
            <a:r>
              <a:rPr lang="en-US" dirty="0"/>
              <a:t> </a:t>
            </a:r>
            <a:r>
              <a:rPr lang="en-US" dirty="0" err="1"/>
              <a:t>sót</a:t>
            </a:r>
            <a:r>
              <a:rPr lang="en-US" dirty="0"/>
              <a:t> </a:t>
            </a:r>
            <a:r>
              <a:rPr lang="en-US" dirty="0" err="1"/>
              <a:t>khi</a:t>
            </a:r>
            <a:r>
              <a:rPr lang="en-US" dirty="0"/>
              <a:t> </a:t>
            </a:r>
            <a:r>
              <a:rPr lang="en-US" dirty="0" err="1"/>
              <a:t>tất</a:t>
            </a:r>
            <a:r>
              <a:rPr lang="en-US" dirty="0"/>
              <a:t> </a:t>
            </a:r>
            <a:r>
              <a:rPr lang="en-US" dirty="0" err="1"/>
              <a:t>cả</a:t>
            </a:r>
            <a:r>
              <a:rPr lang="en-US" dirty="0"/>
              <a:t> </a:t>
            </a:r>
            <a:r>
              <a:rPr lang="en-US" dirty="0" err="1"/>
              <a:t>chiến</a:t>
            </a:r>
            <a:r>
              <a:rPr lang="en-US" dirty="0"/>
              <a:t> </a:t>
            </a:r>
            <a:r>
              <a:rPr lang="en-US" dirty="0" err="1"/>
              <a:t>lược</a:t>
            </a:r>
            <a:r>
              <a:rPr lang="en-US" dirty="0"/>
              <a:t> </a:t>
            </a:r>
            <a:r>
              <a:rPr lang="en-US" dirty="0" err="1"/>
              <a:t>đối</a:t>
            </a:r>
            <a:r>
              <a:rPr lang="en-US" dirty="0"/>
              <a:t> </a:t>
            </a:r>
            <a:r>
              <a:rPr lang="en-US" dirty="0" err="1"/>
              <a:t>phó</a:t>
            </a:r>
            <a:r>
              <a:rPr lang="en-US" dirty="0"/>
              <a:t> </a:t>
            </a:r>
            <a:r>
              <a:rPr lang="en-US" dirty="0" err="1"/>
              <a:t>rủi</a:t>
            </a:r>
            <a:r>
              <a:rPr lang="en-US" dirty="0"/>
              <a:t> </a:t>
            </a:r>
            <a:r>
              <a:rPr lang="en-US" dirty="0" err="1"/>
              <a:t>ro</a:t>
            </a:r>
            <a:r>
              <a:rPr lang="en-US" dirty="0"/>
              <a:t> </a:t>
            </a:r>
            <a:r>
              <a:rPr lang="en-US" dirty="0" err="1"/>
              <a:t>đã</a:t>
            </a:r>
            <a:r>
              <a:rPr lang="en-US" dirty="0"/>
              <a:t> </a:t>
            </a:r>
            <a:r>
              <a:rPr lang="en-US" dirty="0" err="1"/>
              <a:t>được</a:t>
            </a:r>
            <a:r>
              <a:rPr lang="en-US" dirty="0"/>
              <a:t> </a:t>
            </a:r>
            <a:r>
              <a:rPr lang="en-US" dirty="0" err="1"/>
              <a:t>thực</a:t>
            </a:r>
            <a:r>
              <a:rPr lang="en-US" dirty="0"/>
              <a:t> </a:t>
            </a:r>
            <a:r>
              <a:rPr lang="en-US" dirty="0" err="1"/>
              <a:t>hiện</a:t>
            </a:r>
            <a:r>
              <a:rPr lang="en-US" dirty="0"/>
              <a:t>. </a:t>
            </a:r>
          </a:p>
          <a:p>
            <a:pPr algn="just">
              <a:spcBef>
                <a:spcPts val="1200"/>
              </a:spcBef>
              <a:spcAft>
                <a:spcPts val="1800"/>
              </a:spcAft>
            </a:pPr>
            <a:r>
              <a:rPr lang="en-US" dirty="0" err="1">
                <a:effectLst>
                  <a:outerShdw blurRad="38100" dist="38100" dir="2700000" algn="tl">
                    <a:srgbClr val="000000">
                      <a:alpha val="43137"/>
                    </a:srgbClr>
                  </a:outerShdw>
                </a:effectLst>
              </a:rPr>
              <a:t>Rủi</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ro</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thứ</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cấp</a:t>
            </a:r>
            <a:r>
              <a:rPr lang="en-US" dirty="0"/>
              <a:t> (</a:t>
            </a:r>
            <a:r>
              <a:rPr lang="en-US" dirty="0">
                <a:solidFill>
                  <a:srgbClr val="0070C0"/>
                </a:solidFill>
              </a:rPr>
              <a:t>secondary risks</a:t>
            </a:r>
            <a:r>
              <a:rPr lang="en-US" dirty="0"/>
              <a:t>): </a:t>
            </a:r>
            <a:r>
              <a:rPr lang="en-US" dirty="0" err="1"/>
              <a:t>kết</a:t>
            </a:r>
            <a:r>
              <a:rPr lang="en-US" dirty="0"/>
              <a:t> </a:t>
            </a:r>
            <a:r>
              <a:rPr lang="en-US" dirty="0" err="1"/>
              <a:t>quả</a:t>
            </a:r>
            <a:r>
              <a:rPr lang="en-US" dirty="0"/>
              <a:t> </a:t>
            </a:r>
            <a:r>
              <a:rPr lang="en-US" dirty="0" err="1"/>
              <a:t>trực</a:t>
            </a:r>
            <a:r>
              <a:rPr lang="en-US" dirty="0"/>
              <a:t> </a:t>
            </a:r>
            <a:r>
              <a:rPr lang="en-US" dirty="0" err="1"/>
              <a:t>tiếp</a:t>
            </a:r>
            <a:r>
              <a:rPr lang="en-US" dirty="0"/>
              <a:t> </a:t>
            </a:r>
            <a:r>
              <a:rPr lang="en-US" dirty="0" err="1"/>
              <a:t>của</a:t>
            </a:r>
            <a:r>
              <a:rPr lang="en-US" dirty="0"/>
              <a:t> </a:t>
            </a:r>
            <a:r>
              <a:rPr lang="en-US" dirty="0" err="1"/>
              <a:t>việc</a:t>
            </a:r>
            <a:r>
              <a:rPr lang="en-US" dirty="0"/>
              <a:t> </a:t>
            </a:r>
            <a:r>
              <a:rPr lang="en-US" dirty="0" err="1"/>
              <a:t>thực</a:t>
            </a:r>
            <a:r>
              <a:rPr lang="en-US" dirty="0"/>
              <a:t> </a:t>
            </a:r>
            <a:r>
              <a:rPr lang="en-US" dirty="0" err="1"/>
              <a:t>hiện</a:t>
            </a:r>
            <a:r>
              <a:rPr lang="en-US" dirty="0"/>
              <a:t> </a:t>
            </a:r>
            <a:r>
              <a:rPr lang="en-US" dirty="0" err="1"/>
              <a:t>đối</a:t>
            </a:r>
            <a:r>
              <a:rPr lang="en-US" dirty="0"/>
              <a:t> </a:t>
            </a:r>
            <a:r>
              <a:rPr lang="en-US" dirty="0" err="1"/>
              <a:t>phó</a:t>
            </a:r>
            <a:r>
              <a:rPr lang="en-US" dirty="0"/>
              <a:t> </a:t>
            </a:r>
            <a:r>
              <a:rPr lang="en-US" dirty="0" err="1"/>
              <a:t>rủi</a:t>
            </a:r>
            <a:r>
              <a:rPr lang="en-US" dirty="0"/>
              <a:t> ro. </a:t>
            </a:r>
          </a:p>
        </p:txBody>
      </p:sp>
      <p:sp>
        <p:nvSpPr>
          <p:cNvPr id="65538" name="Rectangle 2"/>
          <p:cNvSpPr>
            <a:spLocks noGrp="1" noChangeArrowheads="1"/>
          </p:cNvSpPr>
          <p:nvPr>
            <p:ph type="title"/>
          </p:nvPr>
        </p:nvSpPr>
        <p:spPr>
          <a:xfrm>
            <a:off x="381000" y="350838"/>
            <a:ext cx="8305800" cy="868362"/>
          </a:xfrm>
        </p:spPr>
        <p:txBody>
          <a:bodyPr>
            <a:normAutofit/>
          </a:bodyPr>
          <a:lstStyle/>
          <a:p>
            <a:pPr algn="ctr"/>
            <a:r>
              <a:rPr lang="en-US" sz="4000" dirty="0" err="1"/>
              <a:t>Rủi</a:t>
            </a:r>
            <a:r>
              <a:rPr lang="en-US" sz="4000" dirty="0"/>
              <a:t> </a:t>
            </a:r>
            <a:r>
              <a:rPr lang="en-US" sz="4000" dirty="0" err="1"/>
              <a:t>ro</a:t>
            </a:r>
            <a:r>
              <a:rPr lang="en-US" sz="4000" dirty="0"/>
              <a:t> </a:t>
            </a:r>
            <a:r>
              <a:rPr lang="en-US" sz="4000" dirty="0" err="1"/>
              <a:t>còn</a:t>
            </a:r>
            <a:r>
              <a:rPr lang="en-US" sz="4000" dirty="0"/>
              <a:t> </a:t>
            </a:r>
            <a:r>
              <a:rPr lang="en-US" sz="4000" dirty="0" err="1"/>
              <a:t>lại</a:t>
            </a:r>
            <a:r>
              <a:rPr lang="en-US" sz="4000" dirty="0"/>
              <a:t> và </a:t>
            </a:r>
            <a:r>
              <a:rPr lang="en-US" sz="4000" dirty="0" err="1"/>
              <a:t>rủi</a:t>
            </a:r>
            <a:r>
              <a:rPr lang="en-US" sz="4000" dirty="0"/>
              <a:t> </a:t>
            </a:r>
            <a:r>
              <a:rPr lang="en-US" sz="4000" dirty="0" err="1"/>
              <a:t>ro</a:t>
            </a:r>
            <a:r>
              <a:rPr lang="en-US" sz="4000" dirty="0"/>
              <a:t> </a:t>
            </a:r>
            <a:r>
              <a:rPr lang="en-US" sz="4000" dirty="0" err="1"/>
              <a:t>thứ</a:t>
            </a:r>
            <a:r>
              <a:rPr lang="en-US" sz="4000" dirty="0"/>
              <a:t> </a:t>
            </a:r>
            <a:r>
              <a:rPr lang="en-US" sz="4000" dirty="0" err="1"/>
              <a:t>cấp</a:t>
            </a:r>
            <a:endParaRPr lang="en-US" sz="4000" dirty="0"/>
          </a:p>
        </p:txBody>
      </p:sp>
      <p:sp>
        <p:nvSpPr>
          <p:cNvPr id="6554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CBE5EE92-422E-487F-9C87-A317F0017355}" type="slidenum">
              <a:rPr lang="en-US" smtClean="0"/>
              <a:pPr>
                <a:defRPr/>
              </a:pPr>
              <a:t>62</a:t>
            </a:fld>
            <a:endParaRPr lang="en-US" dirty="0"/>
          </a:p>
        </p:txBody>
      </p:sp>
      <p:pic>
        <p:nvPicPr>
          <p:cNvPr id="2" name="Picture 1"/>
          <p:cNvPicPr>
            <a:picLocks noChangeAspect="1"/>
          </p:cNvPicPr>
          <p:nvPr/>
        </p:nvPicPr>
        <p:blipFill>
          <a:blip r:embed="rId2"/>
          <a:stretch>
            <a:fillRect/>
          </a:stretch>
        </p:blipFill>
        <p:spPr>
          <a:xfrm>
            <a:off x="3886200" y="4191000"/>
            <a:ext cx="4180819" cy="2133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39">
                                            <p:txEl>
                                              <p:pRg st="1" end="1"/>
                                            </p:txEl>
                                          </p:spTgt>
                                        </p:tgtEl>
                                        <p:attrNameLst>
                                          <p:attrName>style.visibility</p:attrName>
                                        </p:attrNameLst>
                                      </p:cBhvr>
                                      <p:to>
                                        <p:strVal val="visible"/>
                                      </p:to>
                                    </p:set>
                                  </p:childTnLst>
                                </p:cTn>
                              </p:par>
                            </p:childTnLst>
                          </p:cTn>
                        </p:par>
                        <p:par>
                          <p:cTn id="7" fill="hold">
                            <p:stCondLst>
                              <p:cond delay="0"/>
                            </p:stCondLst>
                            <p:childTnLst>
                              <p:par>
                                <p:cTn id="8" presetID="16" presetClass="entr" presetSubtype="21" fill="hold"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arn(inVertical)">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76200" y="1171575"/>
            <a:ext cx="8991600" cy="4162425"/>
          </a:xfrm>
          <a:prstGeom prst="rect">
            <a:avLst/>
          </a:prstGeom>
        </p:spPr>
      </p:pic>
      <p:sp>
        <p:nvSpPr>
          <p:cNvPr id="2458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63</a:t>
            </a:fld>
            <a:endParaRPr lang="en-US" dirty="0"/>
          </a:p>
        </p:txBody>
      </p:sp>
      <p:sp>
        <p:nvSpPr>
          <p:cNvPr id="7" name="Rounded Rectangle 6"/>
          <p:cNvSpPr/>
          <p:nvPr/>
        </p:nvSpPr>
        <p:spPr>
          <a:xfrm>
            <a:off x="5289189" y="3857494"/>
            <a:ext cx="2407011" cy="330805"/>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Title 1"/>
          <p:cNvSpPr>
            <a:spLocks noGrp="1"/>
          </p:cNvSpPr>
          <p:nvPr>
            <p:ph type="title"/>
          </p:nvPr>
        </p:nvSpPr>
        <p:spPr>
          <a:xfrm>
            <a:off x="381000" y="0"/>
            <a:ext cx="8305800" cy="1143000"/>
          </a:xfrm>
        </p:spPr>
        <p:txBody>
          <a:bodyPr>
            <a:noAutofit/>
          </a:bodyPr>
          <a:lstStyle/>
          <a:p>
            <a:pPr algn="ctr" eaLnBrk="1" hangingPunct="1">
              <a:defRPr/>
            </a:pPr>
            <a:r>
              <a:rPr lang="en-US" sz="4000" dirty="0">
                <a:solidFill>
                  <a:schemeClr val="bg1">
                    <a:lumMod val="65000"/>
                  </a:schemeClr>
                </a:solidFill>
              </a:rPr>
              <a:t>Quản lý </a:t>
            </a:r>
            <a:r>
              <a:rPr lang="en-US" sz="4000" dirty="0" err="1">
                <a:solidFill>
                  <a:schemeClr val="bg1">
                    <a:lumMod val="65000"/>
                  </a:schemeClr>
                </a:solidFill>
              </a:rPr>
              <a:t>rủi</a:t>
            </a:r>
            <a:r>
              <a:rPr lang="en-US" sz="4000" dirty="0">
                <a:solidFill>
                  <a:schemeClr val="bg1">
                    <a:lumMod val="65000"/>
                  </a:schemeClr>
                </a:solidFill>
              </a:rPr>
              <a:t> </a:t>
            </a:r>
            <a:r>
              <a:rPr lang="en-US" sz="4000" dirty="0" err="1">
                <a:solidFill>
                  <a:schemeClr val="bg1">
                    <a:lumMod val="65000"/>
                  </a:schemeClr>
                </a:solidFill>
              </a:rPr>
              <a:t>ro</a:t>
            </a:r>
            <a:r>
              <a:rPr lang="en-US" sz="4000" dirty="0">
                <a:solidFill>
                  <a:schemeClr val="bg1">
                    <a:lumMod val="65000"/>
                  </a:schemeClr>
                </a:solidFill>
              </a:rPr>
              <a:t> </a:t>
            </a:r>
            <a:r>
              <a:rPr lang="en-US" sz="4000" dirty="0" err="1">
                <a:solidFill>
                  <a:schemeClr val="bg1">
                    <a:lumMod val="65000"/>
                  </a:schemeClr>
                </a:solidFill>
              </a:rPr>
              <a:t>dự</a:t>
            </a:r>
            <a:r>
              <a:rPr lang="en-US" sz="4000" dirty="0">
                <a:solidFill>
                  <a:schemeClr val="bg1">
                    <a:lumMod val="65000"/>
                  </a:schemeClr>
                </a:solidFill>
              </a:rPr>
              <a:t> </a:t>
            </a:r>
            <a:r>
              <a:rPr lang="en-US" sz="4000" dirty="0" err="1">
                <a:solidFill>
                  <a:schemeClr val="bg1">
                    <a:lumMod val="65000"/>
                  </a:schemeClr>
                </a:solidFill>
              </a:rPr>
              <a:t>án</a:t>
            </a:r>
            <a:r>
              <a:rPr lang="en-US" sz="4000" dirty="0">
                <a:solidFill>
                  <a:schemeClr val="bg1">
                    <a:lumMod val="65000"/>
                  </a:schemeClr>
                </a:solidFill>
              </a:rPr>
              <a:t> [6/6]</a:t>
            </a:r>
          </a:p>
        </p:txBody>
      </p:sp>
      <p:pic>
        <p:nvPicPr>
          <p:cNvPr id="2" name="Picture 1"/>
          <p:cNvPicPr>
            <a:picLocks noChangeAspect="1"/>
          </p:cNvPicPr>
          <p:nvPr/>
        </p:nvPicPr>
        <p:blipFill>
          <a:blip r:embed="rId3"/>
          <a:stretch>
            <a:fillRect/>
          </a:stretch>
        </p:blipFill>
        <p:spPr>
          <a:xfrm>
            <a:off x="5410200" y="5098212"/>
            <a:ext cx="1219200" cy="1759788"/>
          </a:xfrm>
          <a:prstGeom prst="rect">
            <a:avLst/>
          </a:prstGeom>
        </p:spPr>
      </p:pic>
    </p:spTree>
    <p:extLst>
      <p:ext uri="{BB962C8B-B14F-4D97-AF65-F5344CB8AC3E}">
        <p14:creationId xmlns:p14="http://schemas.microsoft.com/office/powerpoint/2010/main" val="2006733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3"/>
          <p:cNvSpPr>
            <a:spLocks noGrp="1" noChangeArrowheads="1"/>
          </p:cNvSpPr>
          <p:nvPr>
            <p:ph idx="1"/>
          </p:nvPr>
        </p:nvSpPr>
        <p:spPr>
          <a:xfrm>
            <a:off x="457200" y="1676400"/>
            <a:ext cx="8153400" cy="3733800"/>
          </a:xfrm>
        </p:spPr>
        <p:txBody>
          <a:bodyPr/>
          <a:lstStyle/>
          <a:p>
            <a:pPr algn="just">
              <a:spcBef>
                <a:spcPts val="1200"/>
              </a:spcBef>
              <a:spcAft>
                <a:spcPts val="2400"/>
              </a:spcAft>
            </a:pPr>
            <a:r>
              <a:rPr lang="en-US" b="1" dirty="0" err="1"/>
              <a:t>Kiểm</a:t>
            </a:r>
            <a:r>
              <a:rPr lang="en-US" b="1" dirty="0"/>
              <a:t> </a:t>
            </a:r>
            <a:r>
              <a:rPr lang="en-US" b="1" dirty="0" err="1"/>
              <a:t>soát</a:t>
            </a:r>
            <a:r>
              <a:rPr lang="en-US" b="1" dirty="0"/>
              <a:t> </a:t>
            </a:r>
            <a:r>
              <a:rPr lang="en-US" b="1" dirty="0" err="1"/>
              <a:t>rủi</a:t>
            </a:r>
            <a:r>
              <a:rPr lang="en-US" b="1" dirty="0"/>
              <a:t> </a:t>
            </a:r>
            <a:r>
              <a:rPr lang="en-US" b="1" dirty="0" err="1"/>
              <a:t>ro</a:t>
            </a:r>
            <a:r>
              <a:rPr lang="en-US" b="1" dirty="0"/>
              <a:t> </a:t>
            </a:r>
            <a:r>
              <a:rPr lang="en-US" dirty="0"/>
              <a:t>(</a:t>
            </a:r>
            <a:r>
              <a:rPr lang="en-US" dirty="0">
                <a:solidFill>
                  <a:srgbClr val="0070C0"/>
                </a:solidFill>
              </a:rPr>
              <a:t>control risks</a:t>
            </a:r>
            <a:r>
              <a:rPr lang="en-US" dirty="0"/>
              <a:t>): </a:t>
            </a:r>
            <a:r>
              <a:rPr lang="en-US" dirty="0" err="1"/>
              <a:t>theo</a:t>
            </a:r>
            <a:r>
              <a:rPr lang="en-US" dirty="0"/>
              <a:t> </a:t>
            </a:r>
            <a:r>
              <a:rPr lang="en-US" dirty="0" err="1"/>
              <a:t>quy</a:t>
            </a:r>
            <a:r>
              <a:rPr lang="en-US" dirty="0"/>
              <a:t> </a:t>
            </a:r>
            <a:r>
              <a:rPr lang="en-US" dirty="0" err="1"/>
              <a:t>trình</a:t>
            </a:r>
            <a:r>
              <a:rPr lang="en-US" dirty="0"/>
              <a:t> </a:t>
            </a:r>
            <a:r>
              <a:rPr lang="en-US" dirty="0" err="1"/>
              <a:t>để</a:t>
            </a:r>
            <a:r>
              <a:rPr lang="en-US" dirty="0"/>
              <a:t> </a:t>
            </a:r>
            <a:r>
              <a:rPr lang="en-US" dirty="0" err="1"/>
              <a:t>đối</a:t>
            </a:r>
            <a:r>
              <a:rPr lang="en-US" dirty="0"/>
              <a:t> </a:t>
            </a:r>
            <a:r>
              <a:rPr lang="en-US" dirty="0" err="1"/>
              <a:t>phó</a:t>
            </a:r>
            <a:r>
              <a:rPr lang="en-US" dirty="0"/>
              <a:t> </a:t>
            </a:r>
            <a:r>
              <a:rPr lang="en-US" err="1"/>
              <a:t>các</a:t>
            </a:r>
            <a:r>
              <a:rPr lang="en-US"/>
              <a:t> sự kiện </a:t>
            </a:r>
            <a:r>
              <a:rPr lang="en-US" dirty="0" err="1"/>
              <a:t>rủi</a:t>
            </a:r>
            <a:r>
              <a:rPr lang="en-US" dirty="0"/>
              <a:t> </a:t>
            </a:r>
            <a:r>
              <a:rPr lang="en-US" dirty="0" err="1"/>
              <a:t>ro</a:t>
            </a:r>
            <a:r>
              <a:rPr lang="en-US" dirty="0"/>
              <a:t>, và </a:t>
            </a:r>
            <a:r>
              <a:rPr lang="en-US" dirty="0" err="1"/>
              <a:t>đảm</a:t>
            </a:r>
            <a:r>
              <a:rPr lang="en-US" dirty="0"/>
              <a:t> </a:t>
            </a:r>
            <a:r>
              <a:rPr lang="en-US" dirty="0" err="1"/>
              <a:t>bảo</a:t>
            </a:r>
            <a:r>
              <a:rPr lang="en-US" dirty="0"/>
              <a:t> </a:t>
            </a:r>
            <a:r>
              <a:rPr lang="en-US" dirty="0" err="1"/>
              <a:t>nhận</a:t>
            </a:r>
            <a:r>
              <a:rPr lang="en-US" dirty="0"/>
              <a:t> </a:t>
            </a:r>
            <a:r>
              <a:rPr lang="en-US" dirty="0" err="1"/>
              <a:t>thức</a:t>
            </a:r>
            <a:r>
              <a:rPr lang="en-US" dirty="0"/>
              <a:t> </a:t>
            </a:r>
            <a:r>
              <a:rPr lang="en-US" dirty="0" err="1"/>
              <a:t>rủi</a:t>
            </a:r>
            <a:r>
              <a:rPr lang="en-US" dirty="0"/>
              <a:t> </a:t>
            </a:r>
            <a:r>
              <a:rPr lang="en-US" dirty="0" err="1"/>
              <a:t>ro</a:t>
            </a:r>
            <a:r>
              <a:rPr lang="en-US" dirty="0"/>
              <a:t> </a:t>
            </a:r>
            <a:r>
              <a:rPr lang="en-US" dirty="0" err="1"/>
              <a:t>thực</a:t>
            </a:r>
            <a:r>
              <a:rPr lang="en-US" dirty="0"/>
              <a:t> </a:t>
            </a:r>
            <a:r>
              <a:rPr lang="en-US" dirty="0" err="1"/>
              <a:t>hiện</a:t>
            </a:r>
            <a:r>
              <a:rPr lang="en-US" dirty="0"/>
              <a:t> </a:t>
            </a:r>
            <a:r>
              <a:rPr lang="en-US" dirty="0" err="1"/>
              <a:t>bởi</a:t>
            </a:r>
            <a:r>
              <a:rPr lang="en-US" dirty="0"/>
              <a:t> </a:t>
            </a:r>
            <a:r>
              <a:rPr lang="en-US" dirty="0" err="1"/>
              <a:t>đội</a:t>
            </a:r>
            <a:r>
              <a:rPr lang="en-US" dirty="0"/>
              <a:t> </a:t>
            </a:r>
            <a:r>
              <a:rPr lang="en-US" dirty="0" err="1"/>
              <a:t>dự</a:t>
            </a:r>
            <a:r>
              <a:rPr lang="en-US" dirty="0"/>
              <a:t> </a:t>
            </a:r>
            <a:r>
              <a:rPr lang="en-US" dirty="0" err="1"/>
              <a:t>án</a:t>
            </a:r>
            <a:r>
              <a:rPr lang="en-US" dirty="0"/>
              <a:t>.</a:t>
            </a:r>
          </a:p>
          <a:p>
            <a:pPr algn="just"/>
            <a:r>
              <a:rPr lang="en-US" dirty="0" err="1">
                <a:effectLst>
                  <a:outerShdw blurRad="38100" dist="38100" dir="2700000" algn="tl">
                    <a:srgbClr val="000000">
                      <a:alpha val="43137"/>
                    </a:srgbClr>
                  </a:outerShdw>
                </a:effectLst>
              </a:rPr>
              <a:t>Làm</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vòng</a:t>
            </a:r>
            <a:r>
              <a:rPr lang="en-US" dirty="0">
                <a:effectLst>
                  <a:outerShdw blurRad="38100" dist="38100" dir="2700000" algn="tl">
                    <a:srgbClr val="000000">
                      <a:alpha val="43137"/>
                    </a:srgbClr>
                  </a:outerShdw>
                </a:effectLst>
              </a:rPr>
              <a:t> </a:t>
            </a:r>
            <a:r>
              <a:rPr lang="en-US" dirty="0" err="1">
                <a:effectLst>
                  <a:outerShdw blurRad="38100" dist="38100" dir="2700000" algn="tl">
                    <a:srgbClr val="000000">
                      <a:alpha val="43137"/>
                    </a:srgbClr>
                  </a:outerShdw>
                </a:effectLst>
              </a:rPr>
              <a:t>quanh</a:t>
            </a:r>
            <a:r>
              <a:rPr lang="en-US" dirty="0">
                <a:effectLst>
                  <a:outerShdw blurRad="38100" dist="38100" dir="2700000" algn="tl">
                    <a:srgbClr val="000000">
                      <a:alpha val="43137"/>
                    </a:srgbClr>
                  </a:outerShdw>
                </a:effectLst>
              </a:rPr>
              <a:t> </a:t>
            </a:r>
            <a:r>
              <a:rPr lang="en-US" dirty="0"/>
              <a:t>(</a:t>
            </a:r>
            <a:r>
              <a:rPr lang="en-US" dirty="0">
                <a:solidFill>
                  <a:srgbClr val="0070C0"/>
                </a:solidFill>
              </a:rPr>
              <a:t>workarounds</a:t>
            </a:r>
            <a:r>
              <a:rPr lang="en-US" dirty="0"/>
              <a:t>)</a:t>
            </a:r>
            <a:r>
              <a:rPr lang="vi-VN" dirty="0"/>
              <a:t>: đối phó không theo kế hoạch, khi không có kế hoạch dự phòng...</a:t>
            </a:r>
            <a:endParaRPr lang="en-US" sz="2800" dirty="0"/>
          </a:p>
        </p:txBody>
      </p:sp>
      <p:sp>
        <p:nvSpPr>
          <p:cNvPr id="67586" name="Rectangle 2"/>
          <p:cNvSpPr>
            <a:spLocks noGrp="1" noChangeArrowheads="1"/>
          </p:cNvSpPr>
          <p:nvPr>
            <p:ph type="title"/>
          </p:nvPr>
        </p:nvSpPr>
        <p:spPr>
          <a:xfrm>
            <a:off x="381000" y="350838"/>
            <a:ext cx="8305800" cy="868362"/>
          </a:xfrm>
        </p:spPr>
        <p:txBody>
          <a:bodyPr>
            <a:normAutofit/>
          </a:bodyPr>
          <a:lstStyle/>
          <a:p>
            <a:pPr algn="ctr"/>
            <a:r>
              <a:rPr lang="en-US" sz="4400" dirty="0">
                <a:solidFill>
                  <a:srgbClr val="FF0000"/>
                </a:solidFill>
              </a:rPr>
              <a:t>6. </a:t>
            </a:r>
            <a:r>
              <a:rPr lang="en-US" sz="4400" dirty="0" err="1">
                <a:solidFill>
                  <a:srgbClr val="FF0000"/>
                </a:solidFill>
              </a:rPr>
              <a:t>Kiểm</a:t>
            </a:r>
            <a:r>
              <a:rPr lang="en-US" sz="4400" dirty="0">
                <a:solidFill>
                  <a:srgbClr val="FF0000"/>
                </a:solidFill>
              </a:rPr>
              <a:t> </a:t>
            </a:r>
            <a:r>
              <a:rPr lang="en-US" sz="4400" dirty="0" err="1">
                <a:solidFill>
                  <a:srgbClr val="FF0000"/>
                </a:solidFill>
              </a:rPr>
              <a:t>soát</a:t>
            </a:r>
            <a:r>
              <a:rPr lang="en-US" sz="4400" dirty="0">
                <a:solidFill>
                  <a:srgbClr val="FF0000"/>
                </a:solidFill>
              </a:rPr>
              <a:t> </a:t>
            </a:r>
            <a:r>
              <a:rPr lang="en-US" sz="4400" dirty="0" err="1">
                <a:solidFill>
                  <a:srgbClr val="FF0000"/>
                </a:solidFill>
              </a:rPr>
              <a:t>rủi</a:t>
            </a:r>
            <a:r>
              <a:rPr lang="en-US" sz="4400" dirty="0">
                <a:solidFill>
                  <a:srgbClr val="FF0000"/>
                </a:solidFill>
              </a:rPr>
              <a:t> </a:t>
            </a:r>
            <a:r>
              <a:rPr lang="en-US" sz="4400" dirty="0" err="1">
                <a:solidFill>
                  <a:srgbClr val="FF0000"/>
                </a:solidFill>
              </a:rPr>
              <a:t>ro</a:t>
            </a:r>
            <a:endParaRPr lang="en-US" sz="6000" dirty="0">
              <a:solidFill>
                <a:srgbClr val="FF0000"/>
              </a:solidFill>
            </a:endParaRPr>
          </a:p>
        </p:txBody>
      </p:sp>
      <p:sp>
        <p:nvSpPr>
          <p:cNvPr id="67589"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281533BC-9945-4415-AE44-7B9AF21B05E1}" type="slidenum">
              <a:rPr lang="en-US" smtClean="0"/>
              <a:pPr>
                <a:defRPr/>
              </a:pPr>
              <a:t>64</a:t>
            </a:fld>
            <a:endParaRPr lang="en-US" dirty="0"/>
          </a:p>
        </p:txBody>
      </p:sp>
      <p:pic>
        <p:nvPicPr>
          <p:cNvPr id="2" name="Picture 1"/>
          <p:cNvPicPr>
            <a:picLocks noChangeAspect="1"/>
          </p:cNvPicPr>
          <p:nvPr/>
        </p:nvPicPr>
        <p:blipFill>
          <a:blip r:embed="rId2"/>
          <a:stretch>
            <a:fillRect/>
          </a:stretch>
        </p:blipFill>
        <p:spPr>
          <a:xfrm>
            <a:off x="4267200" y="4648200"/>
            <a:ext cx="2133600" cy="1581074"/>
          </a:xfrm>
          <a:prstGeom prst="rect">
            <a:avLst/>
          </a:prstGeom>
        </p:spPr>
      </p:pic>
      <p:pic>
        <p:nvPicPr>
          <p:cNvPr id="2050" name="Picture 2" descr="Workaround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4572000"/>
            <a:ext cx="1752600" cy="1524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587">
                                            <p:txEl>
                                              <p:pRg st="1" end="1"/>
                                            </p:txEl>
                                          </p:spTgt>
                                        </p:tgtEl>
                                        <p:attrNameLst>
                                          <p:attrName>style.visibility</p:attrName>
                                        </p:attrNameLst>
                                      </p:cBhvr>
                                      <p:to>
                                        <p:strVal val="visible"/>
                                      </p:to>
                                    </p:set>
                                  </p:childTnLst>
                                </p:cTn>
                              </p:par>
                            </p:childTnLst>
                          </p:cTn>
                        </p:par>
                        <p:par>
                          <p:cTn id="15" fill="hold">
                            <p:stCondLst>
                              <p:cond delay="0"/>
                            </p:stCondLst>
                            <p:childTnLst>
                              <p:par>
                                <p:cTn id="16" presetID="10" presetClass="entr" presetSubtype="0" fill="hold" nodeType="afterEffect">
                                  <p:stCondLst>
                                    <p:cond delay="0"/>
                                  </p:stCondLst>
                                  <p:childTnLst>
                                    <p:set>
                                      <p:cBhvr>
                                        <p:cTn id="17" dur="1" fill="hold">
                                          <p:stCondLst>
                                            <p:cond delay="0"/>
                                          </p:stCondLst>
                                        </p:cTn>
                                        <p:tgtEl>
                                          <p:spTgt spid="2050"/>
                                        </p:tgtEl>
                                        <p:attrNameLst>
                                          <p:attrName>style.visibility</p:attrName>
                                        </p:attrNameLst>
                                      </p:cBhvr>
                                      <p:to>
                                        <p:strVal val="visible"/>
                                      </p:to>
                                    </p:set>
                                    <p:animEffect transition="in" filter="fade">
                                      <p:cBhvr>
                                        <p:cTn id="18"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Quản trị dự án HTTT</a:t>
            </a:r>
            <a:endParaRPr lang="en-US" dirty="0"/>
          </a:p>
        </p:txBody>
      </p:sp>
      <p:sp>
        <p:nvSpPr>
          <p:cNvPr id="5" name="Slide Number Placeholder 4"/>
          <p:cNvSpPr>
            <a:spLocks noGrp="1"/>
          </p:cNvSpPr>
          <p:nvPr>
            <p:ph type="sldNum" sz="quarter" idx="11"/>
          </p:nvPr>
        </p:nvSpPr>
        <p:spPr/>
        <p:txBody>
          <a:bodyPr/>
          <a:lstStyle/>
          <a:p>
            <a:pPr>
              <a:defRPr/>
            </a:pPr>
            <a:fld id="{073FC353-7A19-4BA9-B4BA-8F87B33A8D50}" type="slidenum">
              <a:rPr lang="en-US" smtClean="0"/>
              <a:pPr>
                <a:defRPr/>
              </a:pPr>
              <a:t>65</a:t>
            </a:fld>
            <a:endParaRPr lang="en-US" dirty="0"/>
          </a:p>
        </p:txBody>
      </p:sp>
      <p:sp>
        <p:nvSpPr>
          <p:cNvPr id="6" name="Rectangle 2"/>
          <p:cNvSpPr>
            <a:spLocks noGrp="1" noChangeArrowheads="1"/>
          </p:cNvSpPr>
          <p:nvPr>
            <p:ph type="title"/>
          </p:nvPr>
        </p:nvSpPr>
        <p:spPr>
          <a:xfrm>
            <a:off x="457200" y="0"/>
            <a:ext cx="8229600" cy="1143000"/>
          </a:xfrm>
        </p:spPr>
        <p:txBody>
          <a:bodyPr>
            <a:normAutofit/>
          </a:bodyPr>
          <a:lstStyle/>
          <a:p>
            <a:pPr algn="ctr"/>
            <a:r>
              <a:rPr lang="en-US" sz="3600" dirty="0" err="1"/>
              <a:t>Cập</a:t>
            </a:r>
            <a:r>
              <a:rPr lang="en-US" sz="3600" dirty="0"/>
              <a:t> </a:t>
            </a:r>
            <a:r>
              <a:rPr lang="en-US" sz="3600" dirty="0" err="1"/>
              <a:t>nhật</a:t>
            </a:r>
            <a:r>
              <a:rPr lang="en-US" sz="3600" dirty="0"/>
              <a:t> </a:t>
            </a:r>
            <a:r>
              <a:rPr lang="en-US" sz="3600" dirty="0" err="1"/>
              <a:t>rủi</a:t>
            </a:r>
            <a:r>
              <a:rPr lang="en-US" sz="3600" dirty="0"/>
              <a:t> </a:t>
            </a:r>
            <a:r>
              <a:rPr lang="en-US" sz="3600" dirty="0" err="1"/>
              <a:t>ro</a:t>
            </a:r>
            <a:endParaRPr lang="en-US" sz="3600" dirty="0"/>
          </a:p>
        </p:txBody>
      </p:sp>
      <p:pic>
        <p:nvPicPr>
          <p:cNvPr id="8" name="Picture 7"/>
          <p:cNvPicPr>
            <a:picLocks noChangeAspect="1"/>
          </p:cNvPicPr>
          <p:nvPr/>
        </p:nvPicPr>
        <p:blipFill>
          <a:blip r:embed="rId2"/>
          <a:stretch>
            <a:fillRect/>
          </a:stretch>
        </p:blipFill>
        <p:spPr>
          <a:xfrm>
            <a:off x="12700" y="1371600"/>
            <a:ext cx="9114162" cy="4191000"/>
          </a:xfrm>
          <a:prstGeom prst="rect">
            <a:avLst/>
          </a:prstGeom>
        </p:spPr>
      </p:pic>
      <p:pic>
        <p:nvPicPr>
          <p:cNvPr id="9" name="Picture 8"/>
          <p:cNvPicPr>
            <a:picLocks noChangeAspect="1"/>
          </p:cNvPicPr>
          <p:nvPr/>
        </p:nvPicPr>
        <p:blipFill>
          <a:blip r:embed="rId3"/>
          <a:stretch>
            <a:fillRect/>
          </a:stretch>
        </p:blipFill>
        <p:spPr>
          <a:xfrm>
            <a:off x="2743200" y="1600200"/>
            <a:ext cx="2488126" cy="608395"/>
          </a:xfrm>
          <a:prstGeom prst="rect">
            <a:avLst/>
          </a:prstGeom>
        </p:spPr>
      </p:pic>
      <p:pic>
        <p:nvPicPr>
          <p:cNvPr id="3" name="Picture 2"/>
          <p:cNvPicPr>
            <a:picLocks noChangeAspect="1"/>
          </p:cNvPicPr>
          <p:nvPr/>
        </p:nvPicPr>
        <p:blipFill>
          <a:blip r:embed="rId4"/>
          <a:stretch>
            <a:fillRect/>
          </a:stretch>
        </p:blipFill>
        <p:spPr>
          <a:xfrm>
            <a:off x="7600950" y="2076450"/>
            <a:ext cx="1314450" cy="971550"/>
          </a:xfrm>
          <a:prstGeom prst="rect">
            <a:avLst/>
          </a:prstGeom>
        </p:spPr>
      </p:pic>
    </p:spTree>
    <p:extLst>
      <p:ext uri="{BB962C8B-B14F-4D97-AF65-F5344CB8AC3E}">
        <p14:creationId xmlns:p14="http://schemas.microsoft.com/office/powerpoint/2010/main" val="4190455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out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idx="1"/>
          </p:nvPr>
        </p:nvSpPr>
        <p:spPr>
          <a:xfrm>
            <a:off x="381000" y="1905000"/>
            <a:ext cx="8458200" cy="3657600"/>
          </a:xfrm>
        </p:spPr>
        <p:txBody>
          <a:bodyPr/>
          <a:lstStyle/>
          <a:p>
            <a:pPr algn="just">
              <a:spcBef>
                <a:spcPts val="1200"/>
              </a:spcBef>
              <a:spcAft>
                <a:spcPts val="1200"/>
              </a:spcAft>
            </a:pPr>
            <a:r>
              <a:rPr lang="en-US" dirty="0"/>
              <a:t>Quản lý </a:t>
            </a:r>
            <a:r>
              <a:rPr lang="en-US" dirty="0" err="1"/>
              <a:t>tốt</a:t>
            </a:r>
            <a:r>
              <a:rPr lang="en-US" dirty="0"/>
              <a:t> </a:t>
            </a:r>
            <a:r>
              <a:rPr lang="en-US" dirty="0" err="1"/>
              <a:t>rủi</a:t>
            </a:r>
            <a:r>
              <a:rPr lang="en-US" dirty="0"/>
              <a:t> </a:t>
            </a:r>
            <a:r>
              <a:rPr lang="en-US" dirty="0" err="1"/>
              <a:t>ro</a:t>
            </a:r>
            <a:r>
              <a:rPr lang="en-US" dirty="0"/>
              <a:t> </a:t>
            </a:r>
            <a:r>
              <a:rPr lang="en-US" dirty="0" err="1"/>
              <a:t>dự</a:t>
            </a:r>
            <a:r>
              <a:rPr lang="en-US" dirty="0"/>
              <a:t> </a:t>
            </a:r>
            <a:r>
              <a:rPr lang="en-US" dirty="0" err="1"/>
              <a:t>án</a:t>
            </a:r>
            <a:r>
              <a:rPr lang="en-US" dirty="0"/>
              <a:t> </a:t>
            </a:r>
            <a:r>
              <a:rPr lang="en-US" dirty="0" err="1"/>
              <a:t>thường</a:t>
            </a:r>
            <a:r>
              <a:rPr lang="en-US" dirty="0"/>
              <a:t> </a:t>
            </a:r>
            <a:r>
              <a:rPr lang="en-US" dirty="0" err="1"/>
              <a:t>ít</a:t>
            </a:r>
            <a:r>
              <a:rPr lang="en-US" dirty="0"/>
              <a:t> </a:t>
            </a:r>
            <a:r>
              <a:rPr lang="en-US" dirty="0" err="1"/>
              <a:t>được</a:t>
            </a:r>
            <a:r>
              <a:rPr lang="en-US" dirty="0"/>
              <a:t> </a:t>
            </a:r>
            <a:r>
              <a:rPr lang="en-US" dirty="0" err="1"/>
              <a:t>đề</a:t>
            </a:r>
            <a:r>
              <a:rPr lang="en-US" dirty="0"/>
              <a:t> </a:t>
            </a:r>
            <a:r>
              <a:rPr lang="en-US" dirty="0" err="1"/>
              <a:t>cập</a:t>
            </a:r>
            <a:r>
              <a:rPr lang="en-US" dirty="0"/>
              <a:t>.</a:t>
            </a:r>
          </a:p>
          <a:p>
            <a:pPr algn="just">
              <a:spcBef>
                <a:spcPts val="1200"/>
              </a:spcBef>
              <a:spcAft>
                <a:spcPts val="1200"/>
              </a:spcAft>
            </a:pPr>
            <a:r>
              <a:rPr lang="en-US" dirty="0" err="1"/>
              <a:t>Dự</a:t>
            </a:r>
            <a:r>
              <a:rPr lang="en-US" dirty="0"/>
              <a:t> </a:t>
            </a:r>
            <a:r>
              <a:rPr lang="en-US" dirty="0" err="1"/>
              <a:t>án</a:t>
            </a:r>
            <a:r>
              <a:rPr lang="en-US" dirty="0"/>
              <a:t> </a:t>
            </a:r>
            <a:r>
              <a:rPr lang="en-US" dirty="0" err="1"/>
              <a:t>chạy</a:t>
            </a:r>
            <a:r>
              <a:rPr lang="en-US" dirty="0"/>
              <a:t> </a:t>
            </a:r>
            <a:r>
              <a:rPr lang="en-US" dirty="0" err="1"/>
              <a:t>tốt</a:t>
            </a:r>
            <a:r>
              <a:rPr lang="en-US" dirty="0"/>
              <a:t> </a:t>
            </a:r>
            <a:r>
              <a:rPr lang="en-US" dirty="0" err="1"/>
              <a:t>chủ</a:t>
            </a:r>
            <a:r>
              <a:rPr lang="en-US" dirty="0"/>
              <a:t> </a:t>
            </a:r>
            <a:r>
              <a:rPr lang="en-US" dirty="0" err="1"/>
              <a:t>yếu</a:t>
            </a:r>
            <a:r>
              <a:rPr lang="en-US" dirty="0"/>
              <a:t> </a:t>
            </a:r>
            <a:r>
              <a:rPr lang="en-US" dirty="0" err="1"/>
              <a:t>là</a:t>
            </a:r>
            <a:r>
              <a:rPr lang="en-US" dirty="0"/>
              <a:t> do </a:t>
            </a:r>
            <a:r>
              <a:rPr lang="en-US" dirty="0" err="1"/>
              <a:t>nỗ</a:t>
            </a:r>
            <a:r>
              <a:rPr lang="en-US" dirty="0"/>
              <a:t> </a:t>
            </a:r>
            <a:r>
              <a:rPr lang="en-US" dirty="0" err="1"/>
              <a:t>lực</a:t>
            </a:r>
            <a:r>
              <a:rPr lang="en-US" dirty="0"/>
              <a:t> </a:t>
            </a:r>
            <a:r>
              <a:rPr lang="en-US" dirty="0" err="1"/>
              <a:t>của</a:t>
            </a:r>
            <a:r>
              <a:rPr lang="en-US" dirty="0"/>
              <a:t> </a:t>
            </a:r>
            <a:r>
              <a:rPr lang="en-US" dirty="0" err="1"/>
              <a:t>đội</a:t>
            </a:r>
            <a:r>
              <a:rPr lang="en-US" dirty="0"/>
              <a:t> </a:t>
            </a:r>
            <a:r>
              <a:rPr lang="en-US" dirty="0" err="1"/>
              <a:t>dự</a:t>
            </a:r>
            <a:r>
              <a:rPr lang="en-US" dirty="0"/>
              <a:t> </a:t>
            </a:r>
            <a:r>
              <a:rPr lang="en-US" dirty="0" err="1"/>
              <a:t>án</a:t>
            </a:r>
            <a:r>
              <a:rPr lang="en-US" dirty="0"/>
              <a:t>, </a:t>
            </a:r>
            <a:r>
              <a:rPr lang="en-US" dirty="0" err="1"/>
              <a:t>rất</a:t>
            </a:r>
            <a:r>
              <a:rPr lang="en-US" dirty="0"/>
              <a:t> </a:t>
            </a:r>
            <a:r>
              <a:rPr lang="en-US" dirty="0" err="1"/>
              <a:t>nhiều</a:t>
            </a:r>
            <a:r>
              <a:rPr lang="en-US" dirty="0"/>
              <a:t> </a:t>
            </a:r>
            <a:r>
              <a:rPr lang="en-US" dirty="0" err="1"/>
              <a:t>công</a:t>
            </a:r>
            <a:r>
              <a:rPr lang="en-US" dirty="0"/>
              <a:t> </a:t>
            </a:r>
            <a:r>
              <a:rPr lang="en-US" dirty="0" err="1"/>
              <a:t>việc</a:t>
            </a:r>
            <a:r>
              <a:rPr lang="en-US" dirty="0"/>
              <a:t> </a:t>
            </a:r>
            <a:r>
              <a:rPr lang="en-US" dirty="0" err="1"/>
              <a:t>thực</a:t>
            </a:r>
            <a:r>
              <a:rPr lang="en-US" dirty="0"/>
              <a:t> </a:t>
            </a:r>
            <a:r>
              <a:rPr lang="en-US" dirty="0" err="1"/>
              <a:t>hiện</a:t>
            </a:r>
            <a:r>
              <a:rPr lang="en-US" dirty="0"/>
              <a:t> </a:t>
            </a:r>
            <a:r>
              <a:rPr lang="en-US" dirty="0" err="1"/>
              <a:t>để</a:t>
            </a:r>
            <a:r>
              <a:rPr lang="en-US" dirty="0"/>
              <a:t> </a:t>
            </a:r>
            <a:r>
              <a:rPr lang="en-US" dirty="0" err="1"/>
              <a:t>dự</a:t>
            </a:r>
            <a:r>
              <a:rPr lang="en-US" dirty="0"/>
              <a:t> </a:t>
            </a:r>
            <a:r>
              <a:rPr lang="en-US" dirty="0" err="1"/>
              <a:t>án</a:t>
            </a:r>
            <a:r>
              <a:rPr lang="en-US" dirty="0"/>
              <a:t> </a:t>
            </a:r>
            <a:r>
              <a:rPr lang="en-US" dirty="0" err="1"/>
              <a:t>tốt</a:t>
            </a:r>
            <a:r>
              <a:rPr lang="en-US" dirty="0"/>
              <a:t>…</a:t>
            </a:r>
          </a:p>
          <a:p>
            <a:pPr algn="just">
              <a:spcBef>
                <a:spcPts val="1200"/>
              </a:spcBef>
              <a:spcAft>
                <a:spcPts val="1200"/>
              </a:spcAft>
            </a:pPr>
            <a:r>
              <a:rPr lang="en-US" dirty="0" err="1"/>
              <a:t>Giám</a:t>
            </a:r>
            <a:r>
              <a:rPr lang="en-US" dirty="0"/>
              <a:t> </a:t>
            </a:r>
            <a:r>
              <a:rPr lang="en-US" dirty="0" err="1"/>
              <a:t>đốc</a:t>
            </a:r>
            <a:r>
              <a:rPr lang="en-US" dirty="0"/>
              <a:t> </a:t>
            </a:r>
            <a:r>
              <a:rPr lang="en-US" dirty="0" err="1"/>
              <a:t>dự</a:t>
            </a:r>
            <a:r>
              <a:rPr lang="en-US" dirty="0"/>
              <a:t> </a:t>
            </a:r>
            <a:r>
              <a:rPr lang="en-US" dirty="0" err="1"/>
              <a:t>án</a:t>
            </a:r>
            <a:r>
              <a:rPr lang="en-US" dirty="0"/>
              <a:t> </a:t>
            </a:r>
            <a:r>
              <a:rPr lang="en-US" dirty="0" err="1"/>
              <a:t>phấn</a:t>
            </a:r>
            <a:r>
              <a:rPr lang="en-US" dirty="0"/>
              <a:t> </a:t>
            </a:r>
            <a:r>
              <a:rPr lang="en-US" dirty="0" err="1"/>
              <a:t>đấu</a:t>
            </a:r>
            <a:r>
              <a:rPr lang="en-US" dirty="0"/>
              <a:t> </a:t>
            </a:r>
            <a:r>
              <a:rPr lang="en-US" dirty="0" err="1"/>
              <a:t>sao</a:t>
            </a:r>
            <a:r>
              <a:rPr lang="en-US" dirty="0"/>
              <a:t> </a:t>
            </a:r>
            <a:r>
              <a:rPr lang="en-US" dirty="0" err="1"/>
              <a:t>cho</a:t>
            </a:r>
            <a:r>
              <a:rPr lang="en-US" dirty="0"/>
              <a:t> </a:t>
            </a:r>
            <a:r>
              <a:rPr lang="en-US" dirty="0" err="1"/>
              <a:t>các</a:t>
            </a:r>
            <a:r>
              <a:rPr lang="en-US" dirty="0"/>
              <a:t> </a:t>
            </a:r>
            <a:r>
              <a:rPr lang="en-US" dirty="0" err="1"/>
              <a:t>công</a:t>
            </a:r>
            <a:r>
              <a:rPr lang="en-US" dirty="0"/>
              <a:t> </a:t>
            </a:r>
            <a:r>
              <a:rPr lang="en-US" dirty="0" err="1"/>
              <a:t>việc</a:t>
            </a:r>
            <a:r>
              <a:rPr lang="en-US" dirty="0"/>
              <a:t> </a:t>
            </a:r>
            <a:r>
              <a:rPr lang="en-US" dirty="0" err="1"/>
              <a:t>trở</a:t>
            </a:r>
            <a:r>
              <a:rPr lang="en-US" dirty="0"/>
              <a:t> </a:t>
            </a:r>
            <a:r>
              <a:rPr lang="en-US" dirty="0" err="1"/>
              <a:t>nên</a:t>
            </a:r>
            <a:r>
              <a:rPr lang="en-US" dirty="0"/>
              <a:t> </a:t>
            </a:r>
            <a:r>
              <a:rPr lang="en-US" dirty="0" err="1"/>
              <a:t>dễ</a:t>
            </a:r>
            <a:r>
              <a:rPr lang="en-US" dirty="0"/>
              <a:t> </a:t>
            </a:r>
            <a:r>
              <a:rPr lang="en-US" dirty="0" err="1"/>
              <a:t>dàng</a:t>
            </a:r>
            <a:r>
              <a:rPr lang="en-US" dirty="0"/>
              <a:t> </a:t>
            </a:r>
            <a:r>
              <a:rPr lang="en-US" dirty="0" err="1"/>
              <a:t>hơn</a:t>
            </a:r>
            <a:r>
              <a:rPr lang="en-US" dirty="0"/>
              <a:t> </a:t>
            </a:r>
            <a:r>
              <a:rPr lang="en-US" dirty="0" err="1"/>
              <a:t>để</a:t>
            </a:r>
            <a:r>
              <a:rPr lang="en-US" dirty="0"/>
              <a:t> </a:t>
            </a:r>
            <a:r>
              <a:rPr lang="en-US" dirty="0" err="1"/>
              <a:t>tạo</a:t>
            </a:r>
            <a:r>
              <a:rPr lang="en-US" dirty="0"/>
              <a:t> </a:t>
            </a:r>
            <a:r>
              <a:rPr lang="en-US" dirty="0" err="1"/>
              <a:t>kết</a:t>
            </a:r>
            <a:r>
              <a:rPr lang="en-US" dirty="0"/>
              <a:t> </a:t>
            </a:r>
            <a:r>
              <a:rPr lang="en-US" dirty="0" err="1"/>
              <a:t>quả</a:t>
            </a:r>
            <a:r>
              <a:rPr lang="en-US" dirty="0"/>
              <a:t> </a:t>
            </a:r>
            <a:r>
              <a:rPr lang="en-US" dirty="0" err="1"/>
              <a:t>tốt</a:t>
            </a:r>
            <a:r>
              <a:rPr lang="en-US" dirty="0"/>
              <a:t> </a:t>
            </a:r>
            <a:r>
              <a:rPr lang="en-US" dirty="0" err="1"/>
              <a:t>cho</a:t>
            </a:r>
            <a:r>
              <a:rPr lang="en-US" dirty="0"/>
              <a:t> </a:t>
            </a:r>
            <a:r>
              <a:rPr lang="en-US" dirty="0" err="1"/>
              <a:t>dự</a:t>
            </a:r>
            <a:r>
              <a:rPr lang="en-US" dirty="0"/>
              <a:t> </a:t>
            </a:r>
            <a:r>
              <a:rPr lang="en-US" dirty="0" err="1"/>
              <a:t>án</a:t>
            </a:r>
            <a:r>
              <a:rPr lang="en-US" dirty="0"/>
              <a:t>.</a:t>
            </a:r>
          </a:p>
        </p:txBody>
      </p:sp>
      <p:sp>
        <p:nvSpPr>
          <p:cNvPr id="69634" name="Rectangle 2"/>
          <p:cNvSpPr>
            <a:spLocks noGrp="1" noChangeArrowheads="1"/>
          </p:cNvSpPr>
          <p:nvPr>
            <p:ph type="title"/>
          </p:nvPr>
        </p:nvSpPr>
        <p:spPr>
          <a:xfrm>
            <a:off x="0" y="381000"/>
            <a:ext cx="9144000" cy="1143000"/>
          </a:xfrm>
        </p:spPr>
        <p:txBody>
          <a:bodyPr>
            <a:normAutofit/>
          </a:bodyPr>
          <a:lstStyle/>
          <a:p>
            <a:pPr algn="ctr"/>
            <a:r>
              <a:rPr lang="vi-VN" sz="4000" dirty="0"/>
              <a:t>Kết quả của quản lý rủi ro tốt</a:t>
            </a:r>
            <a:endParaRPr lang="en-US" sz="4000" dirty="0"/>
          </a:p>
        </p:txBody>
      </p:sp>
      <p:sp>
        <p:nvSpPr>
          <p:cNvPr id="69637"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C022DA2C-E156-4E5C-B119-0689D3C0A598}" type="slidenum">
              <a:rPr lang="en-US" smtClean="0"/>
              <a:pPr>
                <a:defRPr/>
              </a:pPr>
              <a:t>66</a:t>
            </a:fld>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Grp="1" noChangeArrowheads="1"/>
          </p:cNvSpPr>
          <p:nvPr>
            <p:ph idx="1"/>
          </p:nvPr>
        </p:nvSpPr>
        <p:spPr>
          <a:xfrm>
            <a:off x="304800" y="1676400"/>
            <a:ext cx="8610600" cy="2057400"/>
          </a:xfrm>
        </p:spPr>
        <p:txBody>
          <a:bodyPr/>
          <a:lstStyle/>
          <a:p>
            <a:pPr>
              <a:spcBef>
                <a:spcPts val="600"/>
              </a:spcBef>
              <a:spcAft>
                <a:spcPts val="1200"/>
              </a:spcAft>
            </a:pPr>
            <a:r>
              <a:rPr lang="en-US" dirty="0" err="1"/>
              <a:t>Bảng</a:t>
            </a:r>
            <a:r>
              <a:rPr lang="en-US" dirty="0"/>
              <a:t> </a:t>
            </a:r>
            <a:r>
              <a:rPr lang="en-US" dirty="0" err="1"/>
              <a:t>ghi</a:t>
            </a:r>
            <a:r>
              <a:rPr lang="en-US" dirty="0"/>
              <a:t> </a:t>
            </a:r>
            <a:r>
              <a:rPr lang="vi-VN" dirty="0"/>
              <a:t>rủi ro </a:t>
            </a:r>
            <a:r>
              <a:rPr lang="en-US" dirty="0" err="1"/>
              <a:t>từ</a:t>
            </a:r>
            <a:r>
              <a:rPr lang="en-US" dirty="0"/>
              <a:t> Word</a:t>
            </a:r>
            <a:r>
              <a:rPr lang="vi-VN" dirty="0"/>
              <a:t>/Excel</a:t>
            </a:r>
            <a:r>
              <a:rPr lang="en-US" dirty="0"/>
              <a:t>,</a:t>
            </a:r>
            <a:r>
              <a:rPr lang="vi-VN" dirty="0"/>
              <a:t> cơ sở dữ liệu...</a:t>
            </a:r>
            <a:endParaRPr lang="en-US" dirty="0"/>
          </a:p>
          <a:p>
            <a:pPr>
              <a:spcBef>
                <a:spcPts val="600"/>
              </a:spcBef>
              <a:spcAft>
                <a:spcPts val="1200"/>
              </a:spcAft>
            </a:pPr>
            <a:r>
              <a:rPr lang="en-US" dirty="0" err="1"/>
              <a:t>Mô</a:t>
            </a:r>
            <a:r>
              <a:rPr lang="en-US" dirty="0"/>
              <a:t> </a:t>
            </a:r>
            <a:r>
              <a:rPr lang="en-US" dirty="0" err="1"/>
              <a:t>phỏng</a:t>
            </a:r>
            <a:r>
              <a:rPr lang="en-US" dirty="0"/>
              <a:t> Monte Carlo </a:t>
            </a:r>
            <a:r>
              <a:rPr lang="en-US" dirty="0" err="1"/>
              <a:t>từ</a:t>
            </a:r>
            <a:r>
              <a:rPr lang="en-US" dirty="0"/>
              <a:t> Excel/Crystal ball.</a:t>
            </a:r>
          </a:p>
          <a:p>
            <a:pPr>
              <a:spcBef>
                <a:spcPts val="600"/>
              </a:spcBef>
              <a:spcAft>
                <a:spcPts val="1200"/>
              </a:spcAft>
            </a:pPr>
            <a:r>
              <a:rPr lang="en-US" dirty="0" err="1"/>
              <a:t>Mô</a:t>
            </a:r>
            <a:r>
              <a:rPr lang="en-US" dirty="0"/>
              <a:t> </a:t>
            </a:r>
            <a:r>
              <a:rPr lang="en-US" dirty="0" err="1"/>
              <a:t>phỏng</a:t>
            </a:r>
            <a:r>
              <a:rPr lang="en-US" dirty="0"/>
              <a:t> </a:t>
            </a:r>
            <a:r>
              <a:rPr lang="en-US" dirty="0" err="1"/>
              <a:t>từ</a:t>
            </a:r>
            <a:r>
              <a:rPr lang="en-US" dirty="0"/>
              <a:t> </a:t>
            </a:r>
            <a:r>
              <a:rPr lang="en-US" dirty="0" err="1"/>
              <a:t>các</a:t>
            </a:r>
            <a:r>
              <a:rPr lang="en-US" dirty="0"/>
              <a:t> </a:t>
            </a:r>
            <a:r>
              <a:rPr lang="en-US" dirty="0" err="1"/>
              <a:t>phần</a:t>
            </a:r>
            <a:r>
              <a:rPr lang="en-US" dirty="0"/>
              <a:t> </a:t>
            </a:r>
            <a:r>
              <a:rPr lang="en-US" dirty="0" err="1"/>
              <a:t>thêm</a:t>
            </a:r>
            <a:r>
              <a:rPr lang="en-US" dirty="0"/>
              <a:t> </a:t>
            </a:r>
            <a:r>
              <a:rPr lang="en-US" dirty="0" err="1"/>
              <a:t>vào</a:t>
            </a:r>
            <a:r>
              <a:rPr lang="en-US" dirty="0"/>
              <a:t> </a:t>
            </a:r>
            <a:r>
              <a:rPr lang="en-US" dirty="0" err="1"/>
              <a:t>của</a:t>
            </a:r>
            <a:r>
              <a:rPr lang="en-US" dirty="0"/>
              <a:t> Excel/Project...</a:t>
            </a:r>
          </a:p>
        </p:txBody>
      </p:sp>
      <p:sp>
        <p:nvSpPr>
          <p:cNvPr id="68610" name="Rectangle 2"/>
          <p:cNvSpPr>
            <a:spLocks noGrp="1" noChangeArrowheads="1"/>
          </p:cNvSpPr>
          <p:nvPr>
            <p:ph type="title"/>
          </p:nvPr>
        </p:nvSpPr>
        <p:spPr/>
        <p:txBody>
          <a:bodyPr>
            <a:normAutofit/>
          </a:bodyPr>
          <a:lstStyle/>
          <a:p>
            <a:pPr algn="ctr"/>
            <a:r>
              <a:rPr lang="en-US" sz="4000" dirty="0" err="1">
                <a:solidFill>
                  <a:srgbClr val="0070C0"/>
                </a:solidFill>
              </a:rPr>
              <a:t>Phần</a:t>
            </a:r>
            <a:r>
              <a:rPr lang="en-US" sz="4000" dirty="0">
                <a:solidFill>
                  <a:srgbClr val="0070C0"/>
                </a:solidFill>
              </a:rPr>
              <a:t> </a:t>
            </a:r>
            <a:r>
              <a:rPr lang="en-US" sz="4000" dirty="0" err="1">
                <a:solidFill>
                  <a:srgbClr val="0070C0"/>
                </a:solidFill>
              </a:rPr>
              <a:t>mềm</a:t>
            </a:r>
            <a:r>
              <a:rPr lang="en-US" sz="4000" dirty="0">
                <a:solidFill>
                  <a:srgbClr val="0070C0"/>
                </a:solidFill>
              </a:rPr>
              <a:t> </a:t>
            </a:r>
            <a:r>
              <a:rPr lang="en-US" sz="4000" dirty="0" err="1">
                <a:solidFill>
                  <a:srgbClr val="0070C0"/>
                </a:solidFill>
              </a:rPr>
              <a:t>hỗ</a:t>
            </a:r>
            <a:r>
              <a:rPr lang="en-US" sz="4000" dirty="0">
                <a:solidFill>
                  <a:srgbClr val="0070C0"/>
                </a:solidFill>
              </a:rPr>
              <a:t> </a:t>
            </a:r>
            <a:r>
              <a:rPr lang="en-US" sz="4000" dirty="0" err="1">
                <a:solidFill>
                  <a:srgbClr val="0070C0"/>
                </a:solidFill>
              </a:rPr>
              <a:t>trợ</a:t>
            </a:r>
            <a:r>
              <a:rPr lang="en-US" sz="4000" dirty="0">
                <a:solidFill>
                  <a:srgbClr val="0070C0"/>
                </a:solidFill>
              </a:rPr>
              <a:t> quản lý </a:t>
            </a:r>
            <a:r>
              <a:rPr lang="en-US" sz="4000" dirty="0" err="1">
                <a:solidFill>
                  <a:srgbClr val="0070C0"/>
                </a:solidFill>
              </a:rPr>
              <a:t>rủi</a:t>
            </a:r>
            <a:r>
              <a:rPr lang="en-US" sz="4000" dirty="0">
                <a:solidFill>
                  <a:srgbClr val="0070C0"/>
                </a:solidFill>
              </a:rPr>
              <a:t> </a:t>
            </a:r>
            <a:r>
              <a:rPr lang="en-US" sz="4000" dirty="0" err="1">
                <a:solidFill>
                  <a:srgbClr val="0070C0"/>
                </a:solidFill>
              </a:rPr>
              <a:t>ro</a:t>
            </a:r>
            <a:endParaRPr lang="en-US" sz="4000" dirty="0">
              <a:solidFill>
                <a:srgbClr val="0070C0"/>
              </a:solidFill>
            </a:endParaRPr>
          </a:p>
        </p:txBody>
      </p:sp>
      <p:sp>
        <p:nvSpPr>
          <p:cNvPr id="68613"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2590BD93-5AB7-4314-B9F0-93E32C9C9506}" type="slidenum">
              <a:rPr lang="en-US" smtClean="0"/>
              <a:pPr>
                <a:defRPr/>
              </a:pPr>
              <a:t>67</a:t>
            </a:fld>
            <a:endParaRPr lang="en-US" dirty="0"/>
          </a:p>
        </p:txBody>
      </p:sp>
      <p:pic>
        <p:nvPicPr>
          <p:cNvPr id="7" name="Picture 2" descr="http://www.ambitec.es/wp/wp-content/uploads/2015/06/OracleCrystalBal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43400" y="4267200"/>
            <a:ext cx="3971899" cy="13292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457200" y="32951"/>
            <a:ext cx="8229600" cy="1143000"/>
          </a:xfrm>
        </p:spPr>
        <p:txBody>
          <a:bodyPr>
            <a:normAutofit/>
          </a:bodyPr>
          <a:lstStyle/>
          <a:p>
            <a:pPr algn="ctr"/>
            <a:r>
              <a:rPr lang="en-US" dirty="0"/>
              <a:t>Quiz – Game…</a:t>
            </a:r>
          </a:p>
        </p:txBody>
      </p:sp>
      <p:sp>
        <p:nvSpPr>
          <p:cNvPr id="6" name="Slide Number Placeholder 5"/>
          <p:cNvSpPr>
            <a:spLocks noGrp="1"/>
          </p:cNvSpPr>
          <p:nvPr>
            <p:ph type="sldNum" sz="quarter" idx="11"/>
          </p:nvPr>
        </p:nvSpPr>
        <p:spPr/>
        <p:txBody>
          <a:bodyPr/>
          <a:lstStyle/>
          <a:p>
            <a:pPr>
              <a:defRPr/>
            </a:pPr>
            <a:fld id="{F9CDE221-7D09-4E72-84A7-688BE7B60DEB}" type="slidenum">
              <a:rPr lang="en-US" smtClean="0"/>
              <a:pPr>
                <a:defRPr/>
              </a:pPr>
              <a:t>68</a:t>
            </a:fld>
            <a:endParaRPr lang="en-US" dirty="0"/>
          </a:p>
        </p:txBody>
      </p:sp>
      <p:sp>
        <p:nvSpPr>
          <p:cNvPr id="15" name="Footer Placeholder 1"/>
          <p:cNvSpPr txBox="1">
            <a:spLocks/>
          </p:cNvSpPr>
          <p:nvPr/>
        </p:nvSpPr>
        <p:spPr>
          <a:xfrm>
            <a:off x="0" y="6492875"/>
            <a:ext cx="2362200"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a:lstStyle>
          <a:p>
            <a:pPr algn="l"/>
            <a:r>
              <a:rPr lang="en-US" sz="1200" dirty="0"/>
              <a:t>Quản </a:t>
            </a:r>
            <a:r>
              <a:rPr lang="en-US" sz="1200" dirty="0" err="1"/>
              <a:t>trị</a:t>
            </a:r>
            <a:r>
              <a:rPr lang="en-US" sz="1200" dirty="0"/>
              <a:t> </a:t>
            </a:r>
            <a:r>
              <a:rPr lang="en-US" sz="1200" dirty="0" err="1"/>
              <a:t>dự</a:t>
            </a:r>
            <a:r>
              <a:rPr lang="en-US" sz="1200" dirty="0"/>
              <a:t> </a:t>
            </a:r>
            <a:r>
              <a:rPr lang="en-US" sz="1200" dirty="0" err="1"/>
              <a:t>án</a:t>
            </a:r>
            <a:r>
              <a:rPr lang="en-US" sz="1200" dirty="0"/>
              <a:t> HTTT</a:t>
            </a:r>
          </a:p>
        </p:txBody>
      </p:sp>
      <p:pic>
        <p:nvPicPr>
          <p:cNvPr id="2" name="Picture 1"/>
          <p:cNvPicPr>
            <a:picLocks noChangeAspect="1"/>
          </p:cNvPicPr>
          <p:nvPr/>
        </p:nvPicPr>
        <p:blipFill>
          <a:blip r:embed="rId3"/>
          <a:stretch>
            <a:fillRect/>
          </a:stretch>
        </p:blipFill>
        <p:spPr>
          <a:xfrm>
            <a:off x="762000" y="1514423"/>
            <a:ext cx="5715000" cy="3570573"/>
          </a:xfrm>
          <a:prstGeom prst="rect">
            <a:avLst/>
          </a:prstGeom>
          <a:ln>
            <a:solidFill>
              <a:schemeClr val="tx1"/>
            </a:solidFill>
          </a:ln>
        </p:spPr>
      </p:pic>
      <p:pic>
        <p:nvPicPr>
          <p:cNvPr id="14" name="Picture 13"/>
          <p:cNvPicPr>
            <a:picLocks noChangeAspect="1"/>
          </p:cNvPicPr>
          <p:nvPr/>
        </p:nvPicPr>
        <p:blipFill>
          <a:blip r:embed="rId3"/>
          <a:stretch>
            <a:fillRect/>
          </a:stretch>
        </p:blipFill>
        <p:spPr>
          <a:xfrm>
            <a:off x="1219200" y="1819223"/>
            <a:ext cx="5715000" cy="3570573"/>
          </a:xfrm>
          <a:prstGeom prst="rect">
            <a:avLst/>
          </a:prstGeom>
          <a:ln>
            <a:solidFill>
              <a:schemeClr val="tx1"/>
            </a:solidFill>
          </a:ln>
        </p:spPr>
      </p:pic>
      <p:pic>
        <p:nvPicPr>
          <p:cNvPr id="16" name="Picture 15"/>
          <p:cNvPicPr>
            <a:picLocks noChangeAspect="1"/>
          </p:cNvPicPr>
          <p:nvPr/>
        </p:nvPicPr>
        <p:blipFill>
          <a:blip r:embed="rId3"/>
          <a:stretch>
            <a:fillRect/>
          </a:stretch>
        </p:blipFill>
        <p:spPr>
          <a:xfrm>
            <a:off x="1676400" y="2200223"/>
            <a:ext cx="5715000" cy="3570573"/>
          </a:xfrm>
          <a:prstGeom prst="rect">
            <a:avLst/>
          </a:prstGeom>
          <a:ln>
            <a:solidFill>
              <a:schemeClr val="tx1"/>
            </a:solidFill>
          </a:ln>
        </p:spPr>
      </p:pic>
      <p:pic>
        <p:nvPicPr>
          <p:cNvPr id="17" name="Picture 16"/>
          <p:cNvPicPr>
            <a:picLocks noChangeAspect="1"/>
          </p:cNvPicPr>
          <p:nvPr/>
        </p:nvPicPr>
        <p:blipFill>
          <a:blip r:embed="rId3"/>
          <a:stretch>
            <a:fillRect/>
          </a:stretch>
        </p:blipFill>
        <p:spPr>
          <a:xfrm>
            <a:off x="2133600" y="2601627"/>
            <a:ext cx="5715000" cy="3570573"/>
          </a:xfrm>
          <a:prstGeom prst="rect">
            <a:avLst/>
          </a:prstGeom>
          <a:ln>
            <a:solidFill>
              <a:schemeClr val="tx1"/>
            </a:solidFill>
          </a:ln>
        </p:spPr>
      </p:pic>
      <p:pic>
        <p:nvPicPr>
          <p:cNvPr id="18" name="Picture 17"/>
          <p:cNvPicPr>
            <a:picLocks noChangeAspect="1"/>
          </p:cNvPicPr>
          <p:nvPr/>
        </p:nvPicPr>
        <p:blipFill>
          <a:blip r:embed="rId3"/>
          <a:stretch>
            <a:fillRect/>
          </a:stretch>
        </p:blipFill>
        <p:spPr>
          <a:xfrm>
            <a:off x="2895600" y="1219200"/>
            <a:ext cx="5715000" cy="3570573"/>
          </a:xfrm>
          <a:prstGeom prst="rect">
            <a:avLst/>
          </a:prstGeom>
          <a:ln>
            <a:solidFill>
              <a:schemeClr val="tx1"/>
            </a:solidFill>
          </a:ln>
        </p:spPr>
      </p:pic>
    </p:spTree>
    <p:extLst>
      <p:ext uri="{BB962C8B-B14F-4D97-AF65-F5344CB8AC3E}">
        <p14:creationId xmlns:p14="http://schemas.microsoft.com/office/powerpoint/2010/main" val="3368732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90"/>
                                          </p:val>
                                        </p:tav>
                                        <p:tav tm="100000">
                                          <p:val>
                                            <p:fltVal val="0"/>
                                          </p:val>
                                        </p:tav>
                                      </p:tavLst>
                                    </p:anim>
                                    <p:animEffect transition="in" filter="fade">
                                      <p:cBhvr>
                                        <p:cTn id="10" dur="500"/>
                                        <p:tgtEl>
                                          <p:spTgt spid="2"/>
                                        </p:tgtEl>
                                      </p:cBhvr>
                                    </p:animEffect>
                                  </p:childTnLst>
                                </p:cTn>
                              </p:par>
                            </p:childTnLst>
                          </p:cTn>
                        </p:par>
                        <p:par>
                          <p:cTn id="11" fill="hold">
                            <p:stCondLst>
                              <p:cond delay="500"/>
                            </p:stCondLst>
                            <p:childTnLst>
                              <p:par>
                                <p:cTn id="12" presetID="53" presetClass="entr" presetSubtype="16" fill="hold" nodeType="after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p:cTn id="14" dur="500" fill="hold"/>
                                        <p:tgtEl>
                                          <p:spTgt spid="14"/>
                                        </p:tgtEl>
                                        <p:attrNameLst>
                                          <p:attrName>ppt_w</p:attrName>
                                        </p:attrNameLst>
                                      </p:cBhvr>
                                      <p:tavLst>
                                        <p:tav tm="0">
                                          <p:val>
                                            <p:fltVal val="0"/>
                                          </p:val>
                                        </p:tav>
                                        <p:tav tm="100000">
                                          <p:val>
                                            <p:strVal val="#ppt_w"/>
                                          </p:val>
                                        </p:tav>
                                      </p:tavLst>
                                    </p:anim>
                                    <p:anim calcmode="lin" valueType="num">
                                      <p:cBhvr>
                                        <p:cTn id="15" dur="500" fill="hold"/>
                                        <p:tgtEl>
                                          <p:spTgt spid="14"/>
                                        </p:tgtEl>
                                        <p:attrNameLst>
                                          <p:attrName>ppt_h</p:attrName>
                                        </p:attrNameLst>
                                      </p:cBhvr>
                                      <p:tavLst>
                                        <p:tav tm="0">
                                          <p:val>
                                            <p:fltVal val="0"/>
                                          </p:val>
                                        </p:tav>
                                        <p:tav tm="100000">
                                          <p:val>
                                            <p:strVal val="#ppt_h"/>
                                          </p:val>
                                        </p:tav>
                                      </p:tavLst>
                                    </p:anim>
                                    <p:animEffect transition="in" filter="fade">
                                      <p:cBhvr>
                                        <p:cTn id="16" dur="500"/>
                                        <p:tgtEl>
                                          <p:spTgt spid="14"/>
                                        </p:tgtEl>
                                      </p:cBhvr>
                                    </p:animEffect>
                                  </p:childTnLst>
                                </p:cTn>
                              </p:par>
                            </p:childTnLst>
                          </p:cTn>
                        </p:par>
                        <p:par>
                          <p:cTn id="17" fill="hold">
                            <p:stCondLst>
                              <p:cond delay="1000"/>
                            </p:stCondLst>
                            <p:childTnLst>
                              <p:par>
                                <p:cTn id="18" presetID="45" presetClass="entr" presetSubtype="0" fill="hold"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anim calcmode="lin" valueType="num">
                                      <p:cBhvr>
                                        <p:cTn id="21" dur="500" fill="hold"/>
                                        <p:tgtEl>
                                          <p:spTgt spid="16"/>
                                        </p:tgtEl>
                                        <p:attrNameLst>
                                          <p:attrName>ppt_w</p:attrName>
                                        </p:attrNameLst>
                                      </p:cBhvr>
                                      <p:tavLst>
                                        <p:tav tm="0" fmla="#ppt_w*sin(2.5*pi*$)">
                                          <p:val>
                                            <p:fltVal val="0"/>
                                          </p:val>
                                        </p:tav>
                                        <p:tav tm="100000">
                                          <p:val>
                                            <p:fltVal val="1"/>
                                          </p:val>
                                        </p:tav>
                                      </p:tavLst>
                                    </p:anim>
                                    <p:anim calcmode="lin" valueType="num">
                                      <p:cBhvr>
                                        <p:cTn id="22" dur="500" fill="hold"/>
                                        <p:tgtEl>
                                          <p:spTgt spid="16"/>
                                        </p:tgtEl>
                                        <p:attrNameLst>
                                          <p:attrName>ppt_h</p:attrName>
                                        </p:attrNameLst>
                                      </p:cBhvr>
                                      <p:tavLst>
                                        <p:tav tm="0">
                                          <p:val>
                                            <p:strVal val="#ppt_h"/>
                                          </p:val>
                                        </p:tav>
                                        <p:tav tm="100000">
                                          <p:val>
                                            <p:strVal val="#ppt_h"/>
                                          </p:val>
                                        </p:tav>
                                      </p:tavLst>
                                    </p:anim>
                                  </p:childTnLst>
                                </p:cTn>
                              </p:par>
                            </p:childTnLst>
                          </p:cTn>
                        </p:par>
                        <p:par>
                          <p:cTn id="23" fill="hold">
                            <p:stCondLst>
                              <p:cond delay="1500"/>
                            </p:stCondLst>
                            <p:childTnLst>
                              <p:par>
                                <p:cTn id="24" presetID="26" presetClass="entr" presetSubtype="0" fill="hold" nodeType="after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down)">
                                      <p:cBhvr>
                                        <p:cTn id="26" dur="143">
                                          <p:stCondLst>
                                            <p:cond delay="0"/>
                                          </p:stCondLst>
                                        </p:cTn>
                                        <p:tgtEl>
                                          <p:spTgt spid="17"/>
                                        </p:tgtEl>
                                      </p:cBhvr>
                                    </p:animEffect>
                                    <p:anim calcmode="lin" valueType="num">
                                      <p:cBhvr>
                                        <p:cTn id="27" dur="448"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28" dur="163"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29" dur="163" tmFilter="0, 0; 0.125,0.2665; 0.25,0.4; 0.375,0.465; 0.5,0.5;  0.625,0.535; 0.75,0.6; 0.875,0.7335; 1,1">
                                          <p:stCondLst>
                                            <p:cond delay="163"/>
                                          </p:stCondLst>
                                        </p:cTn>
                                        <p:tgtEl>
                                          <p:spTgt spid="17"/>
                                        </p:tgtEl>
                                        <p:attrNameLst>
                                          <p:attrName>ppt_y</p:attrName>
                                        </p:attrNameLst>
                                      </p:cBhvr>
                                      <p:tavLst>
                                        <p:tav tm="0" fmla="#ppt_y-sin(pi*$)/9">
                                          <p:val>
                                            <p:fltVal val="0"/>
                                          </p:val>
                                        </p:tav>
                                        <p:tav tm="100000">
                                          <p:val>
                                            <p:fltVal val="1"/>
                                          </p:val>
                                        </p:tav>
                                      </p:tavLst>
                                    </p:anim>
                                    <p:anim calcmode="lin" valueType="num">
                                      <p:cBhvr>
                                        <p:cTn id="30" dur="2" tmFilter="0, 0; 0.125,0.2665; 0.25,0.4; 0.375,0.465; 0.5,0.5;  0.625,0.535; 0.75,0.6; 0.875,0.7335; 1,1">
                                          <p:stCondLst>
                                            <p:cond delay="325"/>
                                          </p:stCondLst>
                                        </p:cTn>
                                        <p:tgtEl>
                                          <p:spTgt spid="17"/>
                                        </p:tgtEl>
                                        <p:attrNameLst>
                                          <p:attrName>ppt_y</p:attrName>
                                        </p:attrNameLst>
                                      </p:cBhvr>
                                      <p:tavLst>
                                        <p:tav tm="0" fmla="#ppt_y-sin(pi*$)/27">
                                          <p:val>
                                            <p:fltVal val="0"/>
                                          </p:val>
                                        </p:tav>
                                        <p:tav tm="100000">
                                          <p:val>
                                            <p:fltVal val="1"/>
                                          </p:val>
                                        </p:tav>
                                      </p:tavLst>
                                    </p:anim>
                                    <p:anim calcmode="lin" valueType="num">
                                      <p:cBhvr>
                                        <p:cTn id="31" dur="1" tmFilter="0, 0; 0.125,0.2665; 0.25,0.4; 0.375,0.465; 0.5,0.5;  0.625,0.535; 0.75,0.6; 0.875,0.7335; 1,1">
                                          <p:stCondLst>
                                            <p:cond delay="499"/>
                                          </p:stCondLst>
                                        </p:cTn>
                                        <p:tgtEl>
                                          <p:spTgt spid="17"/>
                                        </p:tgtEl>
                                        <p:attrNameLst>
                                          <p:attrName>ppt_y</p:attrName>
                                        </p:attrNameLst>
                                      </p:cBhvr>
                                      <p:tavLst>
                                        <p:tav tm="0" fmla="#ppt_y-sin(pi*$)/81">
                                          <p:val>
                                            <p:fltVal val="0"/>
                                          </p:val>
                                        </p:tav>
                                        <p:tav tm="100000">
                                          <p:val>
                                            <p:fltVal val="1"/>
                                          </p:val>
                                        </p:tav>
                                      </p:tavLst>
                                    </p:anim>
                                    <p:animScale>
                                      <p:cBhvr>
                                        <p:cTn id="32" dur="1">
                                          <p:stCondLst>
                                            <p:cond delay="160"/>
                                          </p:stCondLst>
                                        </p:cTn>
                                        <p:tgtEl>
                                          <p:spTgt spid="17"/>
                                        </p:tgtEl>
                                      </p:cBhvr>
                                      <p:to x="100000" y="60000"/>
                                    </p:animScale>
                                    <p:animScale>
                                      <p:cBhvr>
                                        <p:cTn id="33" dur="1" decel="50000">
                                          <p:stCondLst>
                                            <p:cond delay="166"/>
                                          </p:stCondLst>
                                        </p:cTn>
                                        <p:tgtEl>
                                          <p:spTgt spid="17"/>
                                        </p:tgtEl>
                                      </p:cBhvr>
                                      <p:to x="100000" y="100000"/>
                                    </p:animScale>
                                    <p:animScale>
                                      <p:cBhvr>
                                        <p:cTn id="34" dur="1">
                                          <p:stCondLst>
                                            <p:cond delay="323"/>
                                          </p:stCondLst>
                                        </p:cTn>
                                        <p:tgtEl>
                                          <p:spTgt spid="17"/>
                                        </p:tgtEl>
                                      </p:cBhvr>
                                      <p:to x="100000" y="80000"/>
                                    </p:animScale>
                                    <p:animScale>
                                      <p:cBhvr>
                                        <p:cTn id="35" dur="1" decel="50000">
                                          <p:stCondLst>
                                            <p:cond delay="329"/>
                                          </p:stCondLst>
                                        </p:cTn>
                                        <p:tgtEl>
                                          <p:spTgt spid="17"/>
                                        </p:tgtEl>
                                      </p:cBhvr>
                                      <p:to x="100000" y="100000"/>
                                    </p:animScale>
                                    <p:animScale>
                                      <p:cBhvr>
                                        <p:cTn id="36" dur="1">
                                          <p:stCondLst>
                                            <p:cond delay="499"/>
                                          </p:stCondLst>
                                        </p:cTn>
                                        <p:tgtEl>
                                          <p:spTgt spid="17"/>
                                        </p:tgtEl>
                                      </p:cBhvr>
                                      <p:to x="100000" y="90000"/>
                                    </p:animScale>
                                    <p:animScale>
                                      <p:cBhvr>
                                        <p:cTn id="37" dur="1" decel="50000">
                                          <p:stCondLst>
                                            <p:cond delay="499"/>
                                          </p:stCondLst>
                                        </p:cTn>
                                        <p:tgtEl>
                                          <p:spTgt spid="17"/>
                                        </p:tgtEl>
                                      </p:cBhvr>
                                      <p:to x="100000" y="100000"/>
                                    </p:animScale>
                                    <p:animScale>
                                      <p:cBhvr>
                                        <p:cTn id="38" dur="1">
                                          <p:stCondLst>
                                            <p:cond delay="499"/>
                                          </p:stCondLst>
                                        </p:cTn>
                                        <p:tgtEl>
                                          <p:spTgt spid="17"/>
                                        </p:tgtEl>
                                      </p:cBhvr>
                                      <p:to x="100000" y="95000"/>
                                    </p:animScale>
                                    <p:animScale>
                                      <p:cBhvr>
                                        <p:cTn id="39" dur="1" decel="50000">
                                          <p:stCondLst>
                                            <p:cond delay="499"/>
                                          </p:stCondLst>
                                        </p:cTn>
                                        <p:tgtEl>
                                          <p:spTgt spid="17"/>
                                        </p:tgtEl>
                                      </p:cBhvr>
                                      <p:to x="100000" y="100000"/>
                                    </p:animScale>
                                  </p:childTnLst>
                                </p:cTn>
                              </p:par>
                            </p:childTnLst>
                          </p:cTn>
                        </p:par>
                        <p:par>
                          <p:cTn id="40" fill="hold">
                            <p:stCondLst>
                              <p:cond delay="2000"/>
                            </p:stCondLst>
                            <p:childTnLst>
                              <p:par>
                                <p:cTn id="41" presetID="10" presetClass="entr" presetSubtype="0" fill="hold"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35010" y="1905000"/>
            <a:ext cx="9108989" cy="1829761"/>
          </a:xfrm>
        </p:spPr>
        <p:txBody>
          <a:bodyPr>
            <a:noAutofit/>
          </a:bodyPr>
          <a:lstStyle/>
          <a:p>
            <a:pPr algn="ctr" fontAlgn="auto">
              <a:spcAft>
                <a:spcPts val="0"/>
              </a:spcAft>
              <a:defRPr/>
            </a:pPr>
            <a:br>
              <a:rPr dirty="0">
                <a:solidFill>
                  <a:srgbClr val="0070C0"/>
                </a:solidFill>
                <a:effectLst/>
              </a:rPr>
            </a:br>
            <a:r>
              <a:rPr lang="vi-VN" sz="4400" dirty="0">
                <a:solidFill>
                  <a:srgbClr val="0070C0"/>
                </a:solidFill>
                <a:effectLst/>
              </a:rPr>
              <a:t>TÓM TẮT &amp; TỪ KHÓA</a:t>
            </a:r>
            <a:br>
              <a:rPr lang="vi-VN" sz="4400" dirty="0">
                <a:solidFill>
                  <a:srgbClr val="0070C0"/>
                </a:solidFill>
                <a:effectLst/>
              </a:rPr>
            </a:br>
            <a:endParaRPr lang="vi-VN" sz="4400" dirty="0">
              <a:solidFill>
                <a:srgbClr val="0070C0"/>
              </a:solidFill>
              <a:effectLst/>
            </a:endParaRPr>
          </a:p>
        </p:txBody>
      </p:sp>
      <p:sp>
        <p:nvSpPr>
          <p:cNvPr id="10" name="TextBox 9"/>
          <p:cNvSpPr txBox="1">
            <a:spLocks noChangeArrowheads="1"/>
          </p:cNvSpPr>
          <p:nvPr/>
        </p:nvSpPr>
        <p:spPr>
          <a:xfrm>
            <a:off x="723900" y="317956"/>
            <a:ext cx="7848600" cy="663575"/>
          </a:xfrm>
          <a:prstGeom prst="rect">
            <a:avLst/>
          </a:prstGeom>
        </p:spPr>
        <p:txBody>
          <a:bodyPr vert="horz" anchor="b">
            <a:noAutofit/>
            <a:scene3d>
              <a:camera prst="orthographicFront"/>
              <a:lightRig rig="soft" dir="t"/>
            </a:scene3d>
            <a:sp3d prstMaterial="softEdge">
              <a:bevelT w="25400" h="25400"/>
            </a:sp3d>
          </a:bodyPr>
          <a:ls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lgn="ctr" fontAlgn="auto">
              <a:spcAft>
                <a:spcPts val="0"/>
              </a:spcAft>
              <a:defRPr/>
            </a:pPr>
            <a:endParaRPr lang="vi-VN" sz="3000" b="1" u="sng" dirty="0">
              <a:effectLst>
                <a:outerShdw blurRad="38100" dist="38100" dir="2700000" algn="tl">
                  <a:srgbClr val="FFFFFF"/>
                </a:outerShdw>
              </a:effectLst>
              <a:latin typeface="+mj-lt"/>
            </a:endParaRPr>
          </a:p>
        </p:txBody>
      </p:sp>
      <p:sp>
        <p:nvSpPr>
          <p:cNvPr id="4" name="Footer Placeholder 1"/>
          <p:cNvSpPr txBox="1">
            <a:spLocks/>
          </p:cNvSpPr>
          <p:nvPr/>
        </p:nvSpPr>
        <p:spPr>
          <a:xfrm>
            <a:off x="0" y="6492875"/>
            <a:ext cx="2362200"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a:lstStyle>
          <a:p>
            <a:pPr algn="l"/>
            <a:r>
              <a:rPr lang="en-US" sz="1200" dirty="0"/>
              <a:t>Quản </a:t>
            </a:r>
            <a:r>
              <a:rPr lang="en-US" sz="1200" dirty="0" err="1"/>
              <a:t>trị</a:t>
            </a:r>
            <a:r>
              <a:rPr lang="en-US" sz="1200" dirty="0"/>
              <a:t> </a:t>
            </a:r>
            <a:r>
              <a:rPr lang="en-US" sz="1200" dirty="0" err="1"/>
              <a:t>dự</a:t>
            </a:r>
            <a:r>
              <a:rPr lang="en-US" sz="1200" dirty="0"/>
              <a:t> </a:t>
            </a:r>
            <a:r>
              <a:rPr lang="en-US" sz="1200" dirty="0" err="1"/>
              <a:t>án</a:t>
            </a:r>
            <a:r>
              <a:rPr lang="en-US" sz="1200" dirty="0"/>
              <a:t> HTTT</a:t>
            </a:r>
          </a:p>
        </p:txBody>
      </p:sp>
      <p:pic>
        <p:nvPicPr>
          <p:cNvPr id="6" name="Picture 5"/>
          <p:cNvPicPr>
            <a:picLocks noChangeAspect="1"/>
          </p:cNvPicPr>
          <p:nvPr/>
        </p:nvPicPr>
        <p:blipFill>
          <a:blip r:embed="rId2"/>
          <a:stretch>
            <a:fillRect/>
          </a:stretch>
        </p:blipFill>
        <p:spPr>
          <a:xfrm>
            <a:off x="6324600" y="4114800"/>
            <a:ext cx="1895475" cy="2309786"/>
          </a:xfrm>
          <a:prstGeom prst="rect">
            <a:avLst/>
          </a:prstGeom>
        </p:spPr>
      </p:pic>
      <p:sp>
        <p:nvSpPr>
          <p:cNvPr id="7" name="Slide Number Placeholder 5"/>
          <p:cNvSpPr>
            <a:spLocks noGrp="1"/>
          </p:cNvSpPr>
          <p:nvPr>
            <p:ph type="sldNum" sz="quarter" idx="11"/>
          </p:nvPr>
        </p:nvSpPr>
        <p:spPr>
          <a:xfrm>
            <a:off x="8588375" y="6492875"/>
            <a:ext cx="555625" cy="365125"/>
          </a:xfrm>
        </p:spPr>
        <p:txBody>
          <a:bodyPr/>
          <a:lstStyle/>
          <a:p>
            <a:pPr>
              <a:defRPr/>
            </a:pPr>
            <a:fld id="{F9CDE221-7D09-4E72-84A7-688BE7B60DEB}" type="slidenum">
              <a:rPr lang="en-US" smtClean="0"/>
              <a:pPr>
                <a:defRPr/>
              </a:pPr>
              <a:t>69</a:t>
            </a:fld>
            <a:endParaRPr lang="en-US" dirty="0"/>
          </a:p>
        </p:txBody>
      </p:sp>
    </p:spTree>
    <p:extLst>
      <p:ext uri="{BB962C8B-B14F-4D97-AF65-F5344CB8AC3E}">
        <p14:creationId xmlns:p14="http://schemas.microsoft.com/office/powerpoint/2010/main" val="37771909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p:txBody>
          <a:bodyPr/>
          <a:lstStyle/>
          <a:p>
            <a:pPr algn="just"/>
            <a:r>
              <a:rPr lang="vi-VN" dirty="0">
                <a:solidFill>
                  <a:srgbClr val="002060"/>
                </a:solidFill>
              </a:rPr>
              <a:t>Quản lý rủi ro dự án là nghệ thuật và khoa học để xác định, phân tích và đối phó rủi ro trong suốt dự án, và lợi ích tốt nhất để đạt mục tiêu dự án.</a:t>
            </a:r>
          </a:p>
          <a:p>
            <a:pPr algn="just"/>
            <a:endParaRPr lang="vi-VN" sz="1200" dirty="0">
              <a:solidFill>
                <a:srgbClr val="002060"/>
              </a:solidFill>
            </a:endParaRPr>
          </a:p>
          <a:p>
            <a:pPr algn="just"/>
            <a:r>
              <a:rPr lang="vi-VN" dirty="0">
                <a:solidFill>
                  <a:srgbClr val="002060"/>
                </a:solidFill>
              </a:rPr>
              <a:t>Quy trình chính của quản lý rủi ro...</a:t>
            </a:r>
            <a:endParaRPr lang="en-US" dirty="0">
              <a:solidFill>
                <a:srgbClr val="002060"/>
              </a:solidFill>
            </a:endParaRPr>
          </a:p>
        </p:txBody>
      </p:sp>
      <p:sp>
        <p:nvSpPr>
          <p:cNvPr id="57346" name="Rectangle 2"/>
          <p:cNvSpPr>
            <a:spLocks noGrp="1" noChangeArrowheads="1"/>
          </p:cNvSpPr>
          <p:nvPr>
            <p:ph type="title"/>
          </p:nvPr>
        </p:nvSpPr>
        <p:spPr>
          <a:xfrm>
            <a:off x="457200" y="228600"/>
            <a:ext cx="8229600" cy="1143000"/>
          </a:xfrm>
        </p:spPr>
        <p:txBody>
          <a:bodyPr>
            <a:normAutofit/>
          </a:bodyPr>
          <a:lstStyle/>
          <a:p>
            <a:pPr algn="ctr"/>
            <a:r>
              <a:rPr lang="en-US" sz="4400" dirty="0" err="1">
                <a:solidFill>
                  <a:srgbClr val="0070C0"/>
                </a:solidFill>
              </a:rPr>
              <a:t>Tóm</a:t>
            </a:r>
            <a:r>
              <a:rPr lang="en-US" sz="4400" dirty="0">
                <a:solidFill>
                  <a:srgbClr val="0070C0"/>
                </a:solidFill>
              </a:rPr>
              <a:t> </a:t>
            </a:r>
            <a:r>
              <a:rPr lang="en-US" sz="4400" dirty="0" err="1">
                <a:solidFill>
                  <a:srgbClr val="0070C0"/>
                </a:solidFill>
              </a:rPr>
              <a:t>tắt</a:t>
            </a:r>
            <a:r>
              <a:rPr lang="en-US" sz="4400" dirty="0">
                <a:solidFill>
                  <a:srgbClr val="0070C0"/>
                </a:solidFill>
              </a:rPr>
              <a:t> </a:t>
            </a:r>
            <a:r>
              <a:rPr lang="en-US" sz="4400" dirty="0" err="1">
                <a:solidFill>
                  <a:srgbClr val="0070C0"/>
                </a:solidFill>
              </a:rPr>
              <a:t>chương</a:t>
            </a:r>
            <a:r>
              <a:rPr lang="en-US" sz="4400" dirty="0">
                <a:solidFill>
                  <a:srgbClr val="0070C0"/>
                </a:solidFill>
              </a:rPr>
              <a:t> 9</a:t>
            </a:r>
          </a:p>
        </p:txBody>
      </p:sp>
      <p:sp>
        <p:nvSpPr>
          <p:cNvPr id="57349"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59A07A5-AED4-4C39-9781-B4BD2FA607DD}" type="slidenum">
              <a:rPr lang="en-US" smtClean="0"/>
              <a:pPr>
                <a:defRPr/>
              </a:pPr>
              <a:t>70</a:t>
            </a:fld>
            <a:endParaRPr lang="en-US" dirty="0"/>
          </a:p>
        </p:txBody>
      </p:sp>
      <p:pic>
        <p:nvPicPr>
          <p:cNvPr id="7" name="Picture 6"/>
          <p:cNvPicPr>
            <a:picLocks noChangeAspect="1"/>
          </p:cNvPicPr>
          <p:nvPr/>
        </p:nvPicPr>
        <p:blipFill>
          <a:blip r:embed="rId2"/>
          <a:stretch>
            <a:fillRect/>
          </a:stretch>
        </p:blipFill>
        <p:spPr>
          <a:xfrm>
            <a:off x="2895600" y="3810000"/>
            <a:ext cx="5596603" cy="2590800"/>
          </a:xfrm>
          <a:prstGeom prst="rect">
            <a:avLst/>
          </a:prstGeom>
        </p:spPr>
      </p:pic>
    </p:spTree>
    <p:extLst>
      <p:ext uri="{BB962C8B-B14F-4D97-AF65-F5344CB8AC3E}">
        <p14:creationId xmlns:p14="http://schemas.microsoft.com/office/powerpoint/2010/main" val="3591379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47">
                                            <p:txEl>
                                              <p:pRg st="2" end="2"/>
                                            </p:txEl>
                                          </p:spTgt>
                                        </p:tgtEl>
                                        <p:attrNameLst>
                                          <p:attrName>style.visibility</p:attrName>
                                        </p:attrNameLst>
                                      </p:cBhvr>
                                      <p:to>
                                        <p:strVal val="visible"/>
                                      </p:to>
                                    </p:set>
                                  </p:childTnLst>
                                </p:cTn>
                              </p:par>
                            </p:childTnLst>
                          </p:cTn>
                        </p:par>
                        <p:par>
                          <p:cTn id="11" fill="hold">
                            <p:stCondLst>
                              <p:cond delay="0"/>
                            </p:stCondLst>
                            <p:childTnLst>
                              <p:par>
                                <p:cTn id="12" presetID="10" presetClass="entr" presetSubtype="0"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a:xfrm>
            <a:off x="228600" y="1219200"/>
            <a:ext cx="6705600" cy="4005262"/>
          </a:xfrm>
        </p:spPr>
        <p:txBody>
          <a:bodyPr/>
          <a:lstStyle/>
          <a:p>
            <a:pPr marL="406400" lvl="1" indent="-292100">
              <a:buSzPct val="80000"/>
              <a:buFont typeface="Wingdings 3" panose="05040102010807070707" pitchFamily="18" charset="2"/>
              <a:buChar char="}"/>
            </a:pPr>
            <a:r>
              <a:rPr lang="en-US" sz="2700" dirty="0" err="1"/>
              <a:t>Từ</a:t>
            </a:r>
            <a:r>
              <a:rPr lang="en-US" sz="2700" dirty="0"/>
              <a:t> </a:t>
            </a:r>
            <a:r>
              <a:rPr lang="en-US" sz="2700" dirty="0" err="1"/>
              <a:t>khóa</a:t>
            </a:r>
            <a:r>
              <a:rPr lang="en-US" sz="2700" dirty="0"/>
              <a:t> </a:t>
            </a:r>
            <a:r>
              <a:rPr lang="en-US" sz="2700" dirty="0" err="1"/>
              <a:t>chính</a:t>
            </a:r>
            <a:r>
              <a:rPr lang="en-US" sz="2700" dirty="0"/>
              <a:t>:</a:t>
            </a:r>
          </a:p>
          <a:p>
            <a:pPr marL="690562" lvl="3" indent="-292100">
              <a:buClr>
                <a:srgbClr val="0070C0"/>
              </a:buClr>
              <a:buSzPct val="80000"/>
              <a:buFont typeface="Arial" panose="020B0604020202020204" pitchFamily="34" charset="0"/>
              <a:buChar char="•"/>
            </a:pPr>
            <a:r>
              <a:rPr lang="en-US" sz="2200" dirty="0">
                <a:solidFill>
                  <a:srgbClr val="0070C0"/>
                </a:solidFill>
              </a:rPr>
              <a:t>Plan risk management</a:t>
            </a:r>
          </a:p>
          <a:p>
            <a:pPr marL="690562" lvl="3" indent="-292100">
              <a:buClr>
                <a:srgbClr val="0070C0"/>
              </a:buClr>
              <a:buSzPct val="80000"/>
              <a:buFont typeface="Arial" panose="020B0604020202020204" pitchFamily="34" charset="0"/>
              <a:buChar char="•"/>
            </a:pPr>
            <a:r>
              <a:rPr lang="en-US" sz="2200" dirty="0">
                <a:solidFill>
                  <a:srgbClr val="0070C0"/>
                </a:solidFill>
              </a:rPr>
              <a:t>Identify risks</a:t>
            </a:r>
          </a:p>
          <a:p>
            <a:pPr marL="690562" lvl="3" indent="-292100">
              <a:buClr>
                <a:srgbClr val="0070C0"/>
              </a:buClr>
              <a:buSzPct val="80000"/>
              <a:buFont typeface="Arial" panose="020B0604020202020204" pitchFamily="34" charset="0"/>
              <a:buChar char="•"/>
            </a:pPr>
            <a:r>
              <a:rPr lang="en-US" sz="2200" dirty="0">
                <a:solidFill>
                  <a:srgbClr val="0070C0"/>
                </a:solidFill>
              </a:rPr>
              <a:t>Qualitative risk analysis</a:t>
            </a:r>
          </a:p>
          <a:p>
            <a:pPr marL="690562" lvl="3" indent="-292100">
              <a:buClr>
                <a:srgbClr val="0070C0"/>
              </a:buClr>
              <a:buSzPct val="80000"/>
              <a:buFont typeface="Arial" panose="020B0604020202020204" pitchFamily="34" charset="0"/>
              <a:buChar char="•"/>
            </a:pPr>
            <a:r>
              <a:rPr lang="en-US" sz="2200" dirty="0">
                <a:solidFill>
                  <a:srgbClr val="0070C0"/>
                </a:solidFill>
              </a:rPr>
              <a:t>Quantitative risk analysis</a:t>
            </a:r>
          </a:p>
          <a:p>
            <a:pPr marL="690562" lvl="3" indent="-292100">
              <a:buClr>
                <a:srgbClr val="0070C0"/>
              </a:buClr>
              <a:buSzPct val="80000"/>
              <a:buFont typeface="Arial" panose="020B0604020202020204" pitchFamily="34" charset="0"/>
              <a:buChar char="•"/>
            </a:pPr>
            <a:r>
              <a:rPr lang="en-US" sz="2200" dirty="0">
                <a:solidFill>
                  <a:srgbClr val="0070C0"/>
                </a:solidFill>
              </a:rPr>
              <a:t>Plan risk responses</a:t>
            </a:r>
          </a:p>
          <a:p>
            <a:pPr marL="690562" lvl="3" indent="-292100">
              <a:buClr>
                <a:srgbClr val="0070C0"/>
              </a:buClr>
              <a:buSzPct val="80000"/>
              <a:buFont typeface="Arial" panose="020B0604020202020204" pitchFamily="34" charset="0"/>
              <a:buChar char="•"/>
            </a:pPr>
            <a:r>
              <a:rPr lang="en-US" sz="2200" dirty="0">
                <a:solidFill>
                  <a:srgbClr val="0070C0"/>
                </a:solidFill>
              </a:rPr>
              <a:t>Control risks.</a:t>
            </a:r>
          </a:p>
          <a:p>
            <a:pPr marL="630238" lvl="2" indent="0">
              <a:buSzPct val="80000"/>
              <a:buNone/>
            </a:pPr>
            <a:endParaRPr lang="en-US" sz="1200" dirty="0"/>
          </a:p>
        </p:txBody>
      </p:sp>
      <p:sp>
        <p:nvSpPr>
          <p:cNvPr id="57346" name="Rectangle 2"/>
          <p:cNvSpPr>
            <a:spLocks noGrp="1" noChangeArrowheads="1"/>
          </p:cNvSpPr>
          <p:nvPr>
            <p:ph type="title"/>
          </p:nvPr>
        </p:nvSpPr>
        <p:spPr>
          <a:xfrm>
            <a:off x="457200" y="152400"/>
            <a:ext cx="8458200" cy="1143000"/>
          </a:xfrm>
        </p:spPr>
        <p:txBody>
          <a:bodyPr>
            <a:normAutofit/>
          </a:bodyPr>
          <a:lstStyle/>
          <a:p>
            <a:pPr algn="ctr"/>
            <a:r>
              <a:rPr lang="en-US" sz="4400" dirty="0" err="1">
                <a:solidFill>
                  <a:srgbClr val="0070C0"/>
                </a:solidFill>
              </a:rPr>
              <a:t>Từ</a:t>
            </a:r>
            <a:r>
              <a:rPr lang="en-US" sz="4400" dirty="0">
                <a:solidFill>
                  <a:srgbClr val="0070C0"/>
                </a:solidFill>
              </a:rPr>
              <a:t> </a:t>
            </a:r>
            <a:r>
              <a:rPr lang="en-US" sz="4400" dirty="0" err="1">
                <a:solidFill>
                  <a:srgbClr val="0070C0"/>
                </a:solidFill>
              </a:rPr>
              <a:t>khóa</a:t>
            </a:r>
            <a:endParaRPr lang="en-US" sz="4400" dirty="0">
              <a:solidFill>
                <a:srgbClr val="0070C0"/>
              </a:solidFill>
            </a:endParaRPr>
          </a:p>
        </p:txBody>
      </p:sp>
      <p:sp>
        <p:nvSpPr>
          <p:cNvPr id="57349"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59A07A5-AED4-4C39-9781-B4BD2FA607DD}" type="slidenum">
              <a:rPr lang="en-US" smtClean="0"/>
              <a:pPr>
                <a:defRPr/>
              </a:pPr>
              <a:t>71</a:t>
            </a:fld>
            <a:endParaRPr lang="en-US" dirty="0"/>
          </a:p>
        </p:txBody>
      </p:sp>
      <p:sp>
        <p:nvSpPr>
          <p:cNvPr id="7" name="Rectangle 3"/>
          <p:cNvSpPr txBox="1">
            <a:spLocks noChangeArrowheads="1"/>
          </p:cNvSpPr>
          <p:nvPr/>
        </p:nvSpPr>
        <p:spPr bwMode="auto">
          <a:xfrm>
            <a:off x="3352800" y="4038600"/>
            <a:ext cx="5486400" cy="2667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lvl="2">
              <a:buSzPct val="80000"/>
              <a:buFont typeface="Wingdings 3" panose="05040102010807070707" pitchFamily="18" charset="2"/>
              <a:buChar char="}"/>
            </a:pPr>
            <a:endParaRPr lang="en-US" sz="1200" dirty="0"/>
          </a:p>
          <a:p>
            <a:pPr lvl="1">
              <a:buSzPct val="80000"/>
              <a:buFont typeface="Wingdings 3" panose="05040102010807070707" pitchFamily="18" charset="2"/>
              <a:buChar char="}"/>
            </a:pPr>
            <a:r>
              <a:rPr lang="en-US" sz="2700" dirty="0" err="1"/>
              <a:t>Từ</a:t>
            </a:r>
            <a:r>
              <a:rPr lang="en-US" sz="2700" dirty="0"/>
              <a:t> </a:t>
            </a:r>
            <a:r>
              <a:rPr lang="en-US" sz="2700" dirty="0" err="1"/>
              <a:t>khóa</a:t>
            </a:r>
            <a:r>
              <a:rPr lang="en-US" sz="2700" dirty="0"/>
              <a:t> </a:t>
            </a:r>
            <a:r>
              <a:rPr lang="en-US" sz="2700" dirty="0" err="1"/>
              <a:t>liên</a:t>
            </a:r>
            <a:r>
              <a:rPr lang="en-US" sz="2700" dirty="0"/>
              <a:t> </a:t>
            </a:r>
            <a:r>
              <a:rPr lang="en-US" sz="2700" dirty="0" err="1"/>
              <a:t>quan</a:t>
            </a:r>
            <a:r>
              <a:rPr lang="en-US" sz="2700" dirty="0"/>
              <a:t>:</a:t>
            </a:r>
          </a:p>
          <a:p>
            <a:pPr lvl="2">
              <a:buClr>
                <a:srgbClr val="0070C0"/>
              </a:buClr>
              <a:buSzPct val="80000"/>
              <a:buFont typeface="Arial" panose="020B0604020202020204" pitchFamily="34" charset="0"/>
              <a:buChar char="•"/>
            </a:pPr>
            <a:r>
              <a:rPr lang="en-US" sz="2200" dirty="0">
                <a:solidFill>
                  <a:srgbClr val="0070C0"/>
                </a:solidFill>
              </a:rPr>
              <a:t>Risk register</a:t>
            </a:r>
          </a:p>
          <a:p>
            <a:pPr lvl="2">
              <a:buClr>
                <a:srgbClr val="0070C0"/>
              </a:buClr>
              <a:buSzPct val="80000"/>
              <a:buFont typeface="Arial" panose="020B0604020202020204" pitchFamily="34" charset="0"/>
              <a:buChar char="•"/>
            </a:pPr>
            <a:r>
              <a:rPr lang="en-US" sz="2200" dirty="0">
                <a:solidFill>
                  <a:srgbClr val="0070C0"/>
                </a:solidFill>
              </a:rPr>
              <a:t>Risk event</a:t>
            </a:r>
          </a:p>
          <a:p>
            <a:pPr lvl="2">
              <a:buClr>
                <a:srgbClr val="0070C0"/>
              </a:buClr>
              <a:buSzPct val="80000"/>
              <a:buFont typeface="Arial" panose="020B0604020202020204" pitchFamily="34" charset="0"/>
              <a:buChar char="•"/>
            </a:pPr>
            <a:r>
              <a:rPr lang="en-US" sz="2200" dirty="0">
                <a:solidFill>
                  <a:srgbClr val="0070C0"/>
                </a:solidFill>
              </a:rPr>
              <a:t>Decision tree</a:t>
            </a:r>
          </a:p>
          <a:p>
            <a:pPr lvl="2">
              <a:buClr>
                <a:srgbClr val="0070C0"/>
              </a:buClr>
              <a:buSzPct val="80000"/>
              <a:buFont typeface="Arial" panose="020B0604020202020204" pitchFamily="34" charset="0"/>
              <a:buChar char="•"/>
            </a:pPr>
            <a:r>
              <a:rPr lang="en-US" sz="2200" dirty="0">
                <a:solidFill>
                  <a:srgbClr val="0070C0"/>
                </a:solidFill>
                <a:effectLst>
                  <a:outerShdw blurRad="38100" dist="38100" dir="2700000" algn="tl">
                    <a:srgbClr val="000000">
                      <a:alpha val="43137"/>
                    </a:srgbClr>
                  </a:outerShdw>
                </a:effectLst>
              </a:rPr>
              <a:t>EMV</a:t>
            </a:r>
            <a:r>
              <a:rPr lang="en-US" sz="2200" dirty="0">
                <a:solidFill>
                  <a:srgbClr val="0070C0"/>
                </a:solidFill>
              </a:rPr>
              <a:t> (Expected Monetary Value)…</a:t>
            </a:r>
          </a:p>
        </p:txBody>
      </p:sp>
      <p:pic>
        <p:nvPicPr>
          <p:cNvPr id="10" name="Picture 9"/>
          <p:cNvPicPr>
            <a:picLocks noChangeAspect="1"/>
          </p:cNvPicPr>
          <p:nvPr/>
        </p:nvPicPr>
        <p:blipFill>
          <a:blip r:embed="rId2"/>
          <a:stretch>
            <a:fillRect/>
          </a:stretch>
        </p:blipFill>
        <p:spPr>
          <a:xfrm>
            <a:off x="4923503" y="2362200"/>
            <a:ext cx="2467897" cy="1828800"/>
          </a:xfrm>
          <a:prstGeom prst="rect">
            <a:avLst/>
          </a:prstGeom>
        </p:spPr>
      </p:pic>
    </p:spTree>
    <p:extLst>
      <p:ext uri="{BB962C8B-B14F-4D97-AF65-F5344CB8AC3E}">
        <p14:creationId xmlns:p14="http://schemas.microsoft.com/office/powerpoint/2010/main" val="2408418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34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734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734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734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734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734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childTnLst>
                                </p:cTn>
                              </p:par>
                            </p:childTnLst>
                          </p:cTn>
                        </p:par>
                        <p:par>
                          <p:cTn id="31" fill="hold">
                            <p:stCondLst>
                              <p:cond delay="0"/>
                            </p:stCondLst>
                            <p:childTnLst>
                              <p:par>
                                <p:cTn id="32" presetID="10" presetClass="entr" presetSubtype="0"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81000" y="1219200"/>
            <a:ext cx="8229600" cy="2133600"/>
          </a:xfrm>
        </p:spPr>
        <p:txBody>
          <a:bodyPr>
            <a:noAutofit/>
          </a:bodyPr>
          <a:lstStyle/>
          <a:p>
            <a:pPr algn="ctr" eaLnBrk="1" fontAlgn="auto" hangingPunct="1">
              <a:spcAft>
                <a:spcPts val="0"/>
              </a:spcAft>
              <a:defRPr/>
            </a:pPr>
            <a:r>
              <a:rPr lang="vi-VN" sz="7200" dirty="0">
                <a:effectLst>
                  <a:outerShdw blurRad="38100" dist="38100" dir="2700000" algn="tl">
                    <a:srgbClr val="FFFFFF"/>
                  </a:outerShdw>
                </a:effectLst>
                <a:latin typeface="Arial Rounded MT Bold" pitchFamily="34" charset="0"/>
              </a:rPr>
              <a:t>Q&amp;A</a:t>
            </a:r>
            <a:endParaRPr sz="7200" dirty="0">
              <a:effectLst>
                <a:outerShdw blurRad="38100" dist="38100" dir="2700000" algn="tl">
                  <a:srgbClr val="FFFFFF"/>
                </a:outerShdw>
              </a:effectLst>
              <a:latin typeface="Arial Rounded MT Bold" pitchFamily="34" charset="0"/>
            </a:endParaRPr>
          </a:p>
        </p:txBody>
      </p:sp>
    </p:spTree>
    <p:extLst>
      <p:ext uri="{BB962C8B-B14F-4D97-AF65-F5344CB8AC3E}">
        <p14:creationId xmlns:p14="http://schemas.microsoft.com/office/powerpoint/2010/main" val="38223853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76200" y="2209800"/>
            <a:ext cx="8610600" cy="1349375"/>
          </a:xfrm>
        </p:spPr>
        <p:txBody>
          <a:bodyPr>
            <a:noAutofit/>
          </a:bodyPr>
          <a:lstStyle/>
          <a:p>
            <a:pPr eaLnBrk="1" fontAlgn="auto" hangingPunct="1">
              <a:spcAft>
                <a:spcPts val="0"/>
              </a:spcAft>
              <a:defRPr/>
            </a:pPr>
            <a:r>
              <a:rPr lang="vi-VN" sz="4400" b="0">
                <a:effectLst/>
              </a:rPr>
              <a:t>Chương </a:t>
            </a:r>
            <a:r>
              <a:rPr lang="en-US" sz="4400" b="0">
                <a:effectLst/>
              </a:rPr>
              <a:t>kế tiếp</a:t>
            </a:r>
            <a:br>
              <a:rPr sz="4400" b="0" dirty="0">
                <a:effectLst/>
              </a:rPr>
            </a:br>
            <a:r>
              <a:rPr lang="vi-VN" sz="4400" b="0" dirty="0">
                <a:effectLst/>
              </a:rPr>
              <a:t>QUẢN LÝ </a:t>
            </a:r>
            <a:r>
              <a:rPr lang="vi-VN" sz="4400" b="0">
                <a:effectLst/>
              </a:rPr>
              <a:t>MUA HÀNG</a:t>
            </a:r>
            <a:r>
              <a:rPr lang="en-US" sz="4400" b="0">
                <a:effectLst/>
              </a:rPr>
              <a:t> DỰ ÁN</a:t>
            </a:r>
            <a:endParaRPr sz="4400" b="0" dirty="0">
              <a:effectLst/>
            </a:endParaRPr>
          </a:p>
        </p:txBody>
      </p:sp>
    </p:spTree>
    <p:extLst>
      <p:ext uri="{BB962C8B-B14F-4D97-AF65-F5344CB8AC3E}">
        <p14:creationId xmlns:p14="http://schemas.microsoft.com/office/powerpoint/2010/main" val="160646961"/>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5205</TotalTime>
  <Words>3214</Words>
  <Application>Microsoft Office PowerPoint</Application>
  <PresentationFormat>On-screen Show (4:3)</PresentationFormat>
  <Paragraphs>411</Paragraphs>
  <Slides>73</Slides>
  <Notes>15</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73</vt:i4>
      </vt:variant>
    </vt:vector>
  </HeadingPairs>
  <TitlesOfParts>
    <vt:vector size="84" baseType="lpstr">
      <vt:lpstr>Arial</vt:lpstr>
      <vt:lpstr>Arial Black</vt:lpstr>
      <vt:lpstr>Arial Rounded MT Bold</vt:lpstr>
      <vt:lpstr>Calibri</vt:lpstr>
      <vt:lpstr>Lucida Sans Unicode</vt:lpstr>
      <vt:lpstr>Times New Roman</vt:lpstr>
      <vt:lpstr>Verdana</vt:lpstr>
      <vt:lpstr>Wingdings 2</vt:lpstr>
      <vt:lpstr>Wingdings 3</vt:lpstr>
      <vt:lpstr>Custom Design</vt:lpstr>
      <vt:lpstr>Theme1</vt:lpstr>
      <vt:lpstr>Chương 9 QUẢN LÝ RỦI RO DỰ ÁN</vt:lpstr>
      <vt:lpstr>Mục tiêu chương 9</vt:lpstr>
      <vt:lpstr>Nhắc lại kiến thức</vt:lpstr>
      <vt:lpstr>Khung quản lý dự án</vt:lpstr>
      <vt:lpstr> QUẢN LÝ RỦI RO DỰ ÁN</vt:lpstr>
      <vt:lpstr>QUẢN LÝ RỦI RO DỰ ÁN</vt:lpstr>
      <vt:lpstr>Tầm quan trọng của quản lý rủi ro</vt:lpstr>
      <vt:lpstr>Tăng cường quản lý rủi ro</vt:lpstr>
      <vt:lpstr>Quản lý dự án theo lĩnh vực kiến thức</vt:lpstr>
      <vt:lpstr>Lợi ích từ phần mềm quản lý rủi ro</vt:lpstr>
      <vt:lpstr>PowerPoint Presentation</vt:lpstr>
      <vt:lpstr>Rủi ro tiêu cực</vt:lpstr>
      <vt:lpstr>Rủi ro tích cực</vt:lpstr>
      <vt:lpstr>Lợi ích rủi ro</vt:lpstr>
      <vt:lpstr>Mức độ chấp nhận rủi ro</vt:lpstr>
      <vt:lpstr>Tương tác trong dự án [rủi ro]</vt:lpstr>
      <vt:lpstr>Quản lý rủi ro dự án [6]</vt:lpstr>
      <vt:lpstr>Quy trình quản lý rủi ro</vt:lpstr>
      <vt:lpstr>Quy trình quản lý rủi ro (tt)</vt:lpstr>
      <vt:lpstr>Tóm tắt quản lý rủi ro dự án</vt:lpstr>
      <vt:lpstr>Quản lý rủi ro dự án [1/6]</vt:lpstr>
      <vt:lpstr>1. Kế hoạch quản lý rủi ro</vt:lpstr>
      <vt:lpstr>Kế hoạch dự phòng</vt:lpstr>
      <vt:lpstr>Rủi ro trong dự án HTTT</vt:lpstr>
      <vt:lpstr>10 tiêu chí thành công của HTTT</vt:lpstr>
      <vt:lpstr>Phân loại rủi ro</vt:lpstr>
      <vt:lpstr>Rủi ro dự án HTTT…</vt:lpstr>
      <vt:lpstr>Phân rã rủi ro</vt:lpstr>
      <vt:lpstr>Ví dụ, phân rã rủi ro</vt:lpstr>
      <vt:lpstr>Lĩnh vực kiến thức và rủi ro tiêu cực</vt:lpstr>
      <vt:lpstr>Quản lý rủi ro dự án [2/6]</vt:lpstr>
      <vt:lpstr>2. Xác định rủi ro</vt:lpstr>
      <vt:lpstr>Kỹ thuật động não</vt:lpstr>
      <vt:lpstr>Phỏng vấn</vt:lpstr>
      <vt:lpstr>Kỹ thuật Delphi</vt:lpstr>
      <vt:lpstr>Phân tích SWOT</vt:lpstr>
      <vt:lpstr>Bảng ghi rủi ro</vt:lpstr>
      <vt:lpstr>Nội dung bảng ghi rủi ro</vt:lpstr>
      <vt:lpstr>Ví dụ, bảng ghi rủi ro - SMART D01 </vt:lpstr>
      <vt:lpstr>Quản lý rủi ro dự án [3/6]</vt:lpstr>
      <vt:lpstr>3. Phân tích rủi ro (định tính)</vt:lpstr>
      <vt:lpstr>Ma trận ảnh hưởng</vt:lpstr>
      <vt:lpstr>Ví dụ, ma trận ảnh hưởng</vt:lpstr>
      <vt:lpstr>Ví dụ, sơ đồ cấp độ rủi ro</vt:lpstr>
      <vt:lpstr>Theo dõi 10 rủi ro hàng đầu</vt:lpstr>
      <vt:lpstr>Ví dụ, bảng theo dõi 10 rủi ro hàng đầu</vt:lpstr>
      <vt:lpstr>Nhân tố Titanic</vt:lpstr>
      <vt:lpstr>Quản lý rủi ro dự án [4/6]</vt:lpstr>
      <vt:lpstr>Chạy đường dài vs. Leo núi Everest</vt:lpstr>
      <vt:lpstr>4. Phân tích rủi ro (định lượng)</vt:lpstr>
      <vt:lpstr>Cây quyết định và EMV</vt:lpstr>
      <vt:lpstr>Ví dụ, tính EMV</vt:lpstr>
      <vt:lpstr>Mô phỏng </vt:lpstr>
      <vt:lpstr>Ví dụ, mô phỏng Monte Carlo - NPV</vt:lpstr>
      <vt:lpstr>Họ đã thành công?</vt:lpstr>
      <vt:lpstr>Phân tích độ nhạy</vt:lpstr>
      <vt:lpstr>Ví dụ, phân tích độ nhạy - điểm hòa vốn</vt:lpstr>
      <vt:lpstr>Quản lý rủi ro dự án [5/6]</vt:lpstr>
      <vt:lpstr>5. Kế hoạch đối phó rủi ro</vt:lpstr>
      <vt:lpstr>Ví dụ, chiến lược giảm nhẹ rủi ro</vt:lpstr>
      <vt:lpstr>Chiến lược đối phó rủi ro tích cực</vt:lpstr>
      <vt:lpstr>Rủi ro còn lại và rủi ro thứ cấp</vt:lpstr>
      <vt:lpstr>Quản lý rủi ro dự án [6/6]</vt:lpstr>
      <vt:lpstr>6. Kiểm soát rủi ro</vt:lpstr>
      <vt:lpstr>Cập nhật rủi ro</vt:lpstr>
      <vt:lpstr>Kết quả của quản lý rủi ro tốt</vt:lpstr>
      <vt:lpstr>Phần mềm hỗ trợ quản lý rủi ro</vt:lpstr>
      <vt:lpstr>Quiz – Game…</vt:lpstr>
      <vt:lpstr> TÓM TẮT &amp; TỪ KHÓA </vt:lpstr>
      <vt:lpstr>Tóm tắt chương 9</vt:lpstr>
      <vt:lpstr>Từ khóa</vt:lpstr>
      <vt:lpstr>Q&amp;A</vt:lpstr>
      <vt:lpstr>Chương kế tiếp QUẢN LÝ MUA HÀNG DỰ ÁN</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Tung Le</cp:lastModifiedBy>
  <cp:revision>537</cp:revision>
  <dcterms:created xsi:type="dcterms:W3CDTF">2001-07-05T23:10:12Z</dcterms:created>
  <dcterms:modified xsi:type="dcterms:W3CDTF">2024-02-27T13:19:49Z</dcterms:modified>
</cp:coreProperties>
</file>