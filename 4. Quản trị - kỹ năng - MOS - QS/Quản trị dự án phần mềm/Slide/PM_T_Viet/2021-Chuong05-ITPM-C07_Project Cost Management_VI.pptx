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3" r:id="rId2"/>
  </p:sldMasterIdLst>
  <p:notesMasterIdLst>
    <p:notesMasterId r:id="rId62"/>
  </p:notesMasterIdLst>
  <p:handoutMasterIdLst>
    <p:handoutMasterId r:id="rId63"/>
  </p:handoutMasterIdLst>
  <p:sldIdLst>
    <p:sldId id="257" r:id="rId3"/>
    <p:sldId id="335" r:id="rId4"/>
    <p:sldId id="381" r:id="rId5"/>
    <p:sldId id="399" r:id="rId6"/>
    <p:sldId id="400" r:id="rId7"/>
    <p:sldId id="401" r:id="rId8"/>
    <p:sldId id="336" r:id="rId9"/>
    <p:sldId id="337" r:id="rId10"/>
    <p:sldId id="338" r:id="rId11"/>
    <p:sldId id="398" r:id="rId12"/>
    <p:sldId id="382" r:id="rId13"/>
    <p:sldId id="339" r:id="rId14"/>
    <p:sldId id="371" r:id="rId15"/>
    <p:sldId id="340" r:id="rId16"/>
    <p:sldId id="404" r:id="rId17"/>
    <p:sldId id="405" r:id="rId18"/>
    <p:sldId id="372" r:id="rId19"/>
    <p:sldId id="342" r:id="rId20"/>
    <p:sldId id="385" r:id="rId21"/>
    <p:sldId id="375" r:id="rId22"/>
    <p:sldId id="386" r:id="rId23"/>
    <p:sldId id="344" r:id="rId24"/>
    <p:sldId id="345" r:id="rId25"/>
    <p:sldId id="346" r:id="rId26"/>
    <p:sldId id="347" r:id="rId27"/>
    <p:sldId id="348" r:id="rId28"/>
    <p:sldId id="350" r:id="rId29"/>
    <p:sldId id="351" r:id="rId30"/>
    <p:sldId id="352" r:id="rId31"/>
    <p:sldId id="353" r:id="rId32"/>
    <p:sldId id="388" r:id="rId33"/>
    <p:sldId id="354" r:id="rId34"/>
    <p:sldId id="403" r:id="rId35"/>
    <p:sldId id="355" r:id="rId36"/>
    <p:sldId id="406" r:id="rId37"/>
    <p:sldId id="389" r:id="rId38"/>
    <p:sldId id="356" r:id="rId39"/>
    <p:sldId id="358" r:id="rId40"/>
    <p:sldId id="359" r:id="rId41"/>
    <p:sldId id="360" r:id="rId42"/>
    <p:sldId id="362" r:id="rId43"/>
    <p:sldId id="393" r:id="rId44"/>
    <p:sldId id="363" r:id="rId45"/>
    <p:sldId id="397" r:id="rId46"/>
    <p:sldId id="361" r:id="rId47"/>
    <p:sldId id="376" r:id="rId48"/>
    <p:sldId id="377" r:id="rId49"/>
    <p:sldId id="366" r:id="rId50"/>
    <p:sldId id="367" r:id="rId51"/>
    <p:sldId id="411" r:id="rId52"/>
    <p:sldId id="368" r:id="rId53"/>
    <p:sldId id="380" r:id="rId54"/>
    <p:sldId id="402" r:id="rId55"/>
    <p:sldId id="370" r:id="rId56"/>
    <p:sldId id="390" r:id="rId57"/>
    <p:sldId id="396" r:id="rId58"/>
    <p:sldId id="410" r:id="rId59"/>
    <p:sldId id="391" r:id="rId60"/>
    <p:sldId id="392" r:id="rId61"/>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DF32D"/>
    <a:srgbClr val="B9FCAE"/>
    <a:srgbClr val="666699"/>
    <a:srgbClr val="5B5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2" autoAdjust="0"/>
    <p:restoredTop sz="85043" autoAdjust="0"/>
  </p:normalViewPr>
  <p:slideViewPr>
    <p:cSldViewPr>
      <p:cViewPr varScale="1">
        <p:scale>
          <a:sx n="83" d="100"/>
          <a:sy n="83" d="100"/>
        </p:scale>
        <p:origin x="84" y="6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 Nguyen" userId="29920a29033dd298" providerId="LiveId" clId="{DD6AF94B-77C3-44F4-B3FA-FCBDB7AF74F8}"/>
    <pc:docChg chg="modSld">
      <pc:chgData name="Vi Nguyen" userId="29920a29033dd298" providerId="LiveId" clId="{DD6AF94B-77C3-44F4-B3FA-FCBDB7AF74F8}" dt="2023-04-17T02:10:09.327" v="13" actId="255"/>
      <pc:docMkLst>
        <pc:docMk/>
      </pc:docMkLst>
      <pc:sldChg chg="modSp mod">
        <pc:chgData name="Vi Nguyen" userId="29920a29033dd298" providerId="LiveId" clId="{DD6AF94B-77C3-44F4-B3FA-FCBDB7AF74F8}" dt="2023-04-17T02:10:09.327" v="13" actId="255"/>
        <pc:sldMkLst>
          <pc:docMk/>
          <pc:sldMk cId="2523801158" sldId="406"/>
        </pc:sldMkLst>
        <pc:spChg chg="mod">
          <ac:chgData name="Vi Nguyen" userId="29920a29033dd298" providerId="LiveId" clId="{DD6AF94B-77C3-44F4-B3FA-FCBDB7AF74F8}" dt="2023-04-17T02:10:09.327" v="13" actId="255"/>
          <ac:spMkLst>
            <pc:docMk/>
            <pc:sldMk cId="2523801158" sldId="406"/>
            <ac:spMk id="3174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16ACC03-8B63-4662-AA1B-AE60329EE76C}" type="slidenum">
              <a:rPr lang="en-US"/>
              <a:pPr>
                <a:defRPr/>
              </a:pPr>
              <a:t>‹#›</a:t>
            </a:fld>
            <a:endParaRPr lang="en-US" dirty="0"/>
          </a:p>
        </p:txBody>
      </p:sp>
    </p:spTree>
    <p:extLst>
      <p:ext uri="{BB962C8B-B14F-4D97-AF65-F5344CB8AC3E}">
        <p14:creationId xmlns:p14="http://schemas.microsoft.com/office/powerpoint/2010/main" val="25653822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94DE4318-E4BE-49A8-80E2-9AEFB83AE894}" type="slidenum">
              <a:rPr lang="en-US"/>
              <a:pPr>
                <a:defRPr/>
              </a:pPr>
              <a:t>‹#›</a:t>
            </a:fld>
            <a:endParaRPr lang="en-US" dirty="0"/>
          </a:p>
        </p:txBody>
      </p:sp>
    </p:spTree>
    <p:extLst>
      <p:ext uri="{BB962C8B-B14F-4D97-AF65-F5344CB8AC3E}">
        <p14:creationId xmlns:p14="http://schemas.microsoft.com/office/powerpoint/2010/main" val="294340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1</a:t>
            </a:fld>
            <a:endParaRPr lang="en-US"/>
          </a:p>
        </p:txBody>
      </p:sp>
    </p:spTree>
    <p:extLst>
      <p:ext uri="{BB962C8B-B14F-4D97-AF65-F5344CB8AC3E}">
        <p14:creationId xmlns:p14="http://schemas.microsoft.com/office/powerpoint/2010/main" val="3170982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2</a:t>
            </a:fld>
            <a:endParaRPr lang="en-US" dirty="0"/>
          </a:p>
        </p:txBody>
      </p:sp>
    </p:spTree>
    <p:extLst>
      <p:ext uri="{BB962C8B-B14F-4D97-AF65-F5344CB8AC3E}">
        <p14:creationId xmlns:p14="http://schemas.microsoft.com/office/powerpoint/2010/main" val="3166123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a:t>
            </a:fld>
            <a:endParaRPr lang="en-US" dirty="0"/>
          </a:p>
        </p:txBody>
      </p:sp>
    </p:spTree>
    <p:extLst>
      <p:ext uri="{BB962C8B-B14F-4D97-AF65-F5344CB8AC3E}">
        <p14:creationId xmlns:p14="http://schemas.microsoft.com/office/powerpoint/2010/main" val="2868229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“Thiên nga đen” của Nassim Taleb xuất bản 2007</a:t>
            </a:r>
            <a:r>
              <a:rPr lang="vi-VN" baseline="0" dirty="0"/>
              <a:t> - </a:t>
            </a:r>
            <a:r>
              <a:rPr lang="vi-VN" dirty="0"/>
              <a:t>Harvard Business Review</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7</a:t>
            </a:fld>
            <a:endParaRPr lang="en-US" dirty="0"/>
          </a:p>
        </p:txBody>
      </p:sp>
    </p:spTree>
    <p:extLst>
      <p:ext uri="{BB962C8B-B14F-4D97-AF65-F5344CB8AC3E}">
        <p14:creationId xmlns:p14="http://schemas.microsoft.com/office/powerpoint/2010/main" val="1758780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NHS: National Health Service IT </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8</a:t>
            </a:fld>
            <a:endParaRPr lang="en-US" dirty="0"/>
          </a:p>
        </p:txBody>
      </p:sp>
    </p:spTree>
    <p:extLst>
      <p:ext uri="{BB962C8B-B14F-4D97-AF65-F5344CB8AC3E}">
        <p14:creationId xmlns:p14="http://schemas.microsoft.com/office/powerpoint/2010/main" val="3170228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Webster’s dictionary: “something given up in exchange”…</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9</a:t>
            </a:fld>
            <a:endParaRPr lang="en-US" dirty="0"/>
          </a:p>
        </p:txBody>
      </p:sp>
    </p:spTree>
    <p:extLst>
      <p:ext uri="{BB962C8B-B14F-4D97-AF65-F5344CB8AC3E}">
        <p14:creationId xmlns:p14="http://schemas.microsoft.com/office/powerpoint/2010/main" val="278766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10</a:t>
            </a:fld>
            <a:endParaRPr lang="en-US" dirty="0"/>
          </a:p>
        </p:txBody>
      </p:sp>
    </p:spTree>
    <p:extLst>
      <p:ext uri="{BB962C8B-B14F-4D97-AF65-F5344CB8AC3E}">
        <p14:creationId xmlns:p14="http://schemas.microsoft.com/office/powerpoint/2010/main" val="3650361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b="1" dirty="0"/>
              <a:t>Xác định ngân sách</a:t>
            </a:r>
            <a:r>
              <a:rPr lang="vi-VN" dirty="0"/>
              <a:t> (</a:t>
            </a:r>
            <a:r>
              <a:rPr lang="en-US" dirty="0">
                <a:solidFill>
                  <a:srgbClr val="0070C0"/>
                </a:solidFill>
              </a:rPr>
              <a:t>determinate budget</a:t>
            </a:r>
            <a:r>
              <a:rPr lang="vi-VN" dirty="0"/>
              <a:t>): phân bổ chi phí cho các hạng mục công việc, để thiết lập đường cơ sở cho việc đo thành quả dự án.</a:t>
            </a:r>
          </a:p>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12</a:t>
            </a:fld>
            <a:endParaRPr lang="en-US" dirty="0"/>
          </a:p>
        </p:txBody>
      </p:sp>
    </p:spTree>
    <p:extLst>
      <p:ext uri="{BB962C8B-B14F-4D97-AF65-F5344CB8AC3E}">
        <p14:creationId xmlns:p14="http://schemas.microsoft.com/office/powerpoint/2010/main" val="3071870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Lợi nhuận </a:t>
            </a:r>
            <a:r>
              <a:rPr lang="vi-VN" sz="2400" dirty="0"/>
              <a:t>(</a:t>
            </a:r>
            <a:r>
              <a:rPr lang="en-US" sz="2400" dirty="0">
                <a:solidFill>
                  <a:srgbClr val="0070C0"/>
                </a:solidFill>
              </a:rPr>
              <a:t>profits</a:t>
            </a:r>
            <a:r>
              <a:rPr lang="vi-VN" sz="2400" dirty="0"/>
              <a:t>): doanh thu – chi phí.</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Lợi nhuận biên </a:t>
            </a:r>
            <a:r>
              <a:rPr lang="vi-VN" sz="2400" dirty="0"/>
              <a:t>(</a:t>
            </a:r>
            <a:r>
              <a:rPr lang="en-US" sz="2400" dirty="0">
                <a:solidFill>
                  <a:srgbClr val="0070C0"/>
                </a:solidFill>
              </a:rPr>
              <a:t>profit margin</a:t>
            </a:r>
            <a:r>
              <a:rPr lang="vi-VN" sz="2400" dirty="0"/>
              <a:t>): lợi nhuận/doanh thu.</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Vòng đời chi phí </a:t>
            </a:r>
            <a:r>
              <a:rPr lang="vi-VN" sz="2400" dirty="0"/>
              <a:t>(</a:t>
            </a:r>
            <a:r>
              <a:rPr lang="en-US" sz="2400" dirty="0">
                <a:solidFill>
                  <a:srgbClr val="0070C0"/>
                </a:solidFill>
              </a:rPr>
              <a:t>life cycle cost</a:t>
            </a:r>
            <a:r>
              <a:rPr lang="vi-VN" sz="2400" dirty="0"/>
              <a:t>): chi phí sở hữu + hỗ trợ.</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Phân tích dòng tiền </a:t>
            </a:r>
            <a:r>
              <a:rPr lang="vi-VN" sz="2400" dirty="0"/>
              <a:t>(</a:t>
            </a:r>
            <a:r>
              <a:rPr lang="en-US" sz="2400" dirty="0">
                <a:solidFill>
                  <a:srgbClr val="0070C0"/>
                </a:solidFill>
              </a:rPr>
              <a:t>cash flow analysis</a:t>
            </a:r>
            <a:r>
              <a:rPr lang="vi-VN" sz="2400" dirty="0"/>
              <a:t>): chi phí và lợi ích hàng năm của dự án, và dòng tiền hàng năm...</a:t>
            </a:r>
          </a:p>
          <a:p>
            <a:pPr lvl="1" algn="just">
              <a:spcBef>
                <a:spcPts val="600"/>
              </a:spcBef>
              <a:spcAft>
                <a:spcPts val="600"/>
              </a:spcAft>
              <a:buFont typeface="Arial" panose="020B0604020202020204" pitchFamily="34" charset="0"/>
              <a:buChar char="•"/>
            </a:pPr>
            <a:endParaRPr lang="vi-VN" sz="2400" dirty="0"/>
          </a:p>
          <a:p>
            <a:pPr lvl="1" algn="just">
              <a:spcBef>
                <a:spcPts val="600"/>
              </a:spcBef>
              <a:spcAft>
                <a:spcPts val="600"/>
              </a:spcAft>
              <a:buFont typeface="Arial" panose="020B0604020202020204" pitchFamily="34" charset="0"/>
              <a:buChar char="•"/>
            </a:pPr>
            <a:r>
              <a:rPr lang="vi-VN" dirty="0"/>
              <a:t>D</a:t>
            </a:r>
            <a:r>
              <a:rPr lang="vi-VN" baseline="0" dirty="0"/>
              <a:t>ự trữ dự phòng...</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14</a:t>
            </a:fld>
            <a:endParaRPr lang="en-US" dirty="0"/>
          </a:p>
        </p:txBody>
      </p:sp>
    </p:spTree>
    <p:extLst>
      <p:ext uri="{BB962C8B-B14F-4D97-AF65-F5344CB8AC3E}">
        <p14:creationId xmlns:p14="http://schemas.microsoft.com/office/powerpoint/2010/main" val="3874632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carbon neutral</a:t>
            </a:r>
            <a:r>
              <a:rPr lang="vi-VN" baseline="0" dirty="0"/>
              <a:t>: </a:t>
            </a:r>
            <a:r>
              <a:rPr lang="vi-VN" dirty="0"/>
              <a:t>cac-bon trung tính</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17</a:t>
            </a:fld>
            <a:endParaRPr lang="en-US" dirty="0"/>
          </a:p>
        </p:txBody>
      </p:sp>
    </p:spTree>
    <p:extLst>
      <p:ext uri="{BB962C8B-B14F-4D97-AF65-F5344CB8AC3E}">
        <p14:creationId xmlns:p14="http://schemas.microsoft.com/office/powerpoint/2010/main" val="2035519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70C0"/>
                </a:solidFill>
              </a:rPr>
              <a:t>Intangible cost: traffic jam, training....</a:t>
            </a:r>
          </a:p>
          <a:p>
            <a:r>
              <a:rPr lang="en-US" sz="1200" dirty="0">
                <a:solidFill>
                  <a:srgbClr val="0070C0"/>
                </a:solidFill>
              </a:rPr>
              <a:t>Indirect cost: management, maintenance, marketing…</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18</a:t>
            </a:fld>
            <a:endParaRPr lang="en-US" dirty="0"/>
          </a:p>
        </p:txBody>
      </p:sp>
    </p:spTree>
    <p:extLst>
      <p:ext uri="{BB962C8B-B14F-4D97-AF65-F5344CB8AC3E}">
        <p14:creationId xmlns:p14="http://schemas.microsoft.com/office/powerpoint/2010/main" val="2912750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Ví</a:t>
            </a:r>
            <a:r>
              <a:rPr lang="en-US" baseline="0" dirty="0"/>
              <a:t> </a:t>
            </a:r>
            <a:r>
              <a:rPr lang="en-US" baseline="0" dirty="0" err="1"/>
              <a:t>dụ</a:t>
            </a:r>
            <a:r>
              <a:rPr lang="en-US" baseline="0" dirty="0"/>
              <a:t>, </a:t>
            </a:r>
            <a:r>
              <a:rPr lang="en-US" baseline="0" dirty="0" err="1"/>
              <a:t>Dự</a:t>
            </a:r>
            <a:r>
              <a:rPr lang="en-US" baseline="0" dirty="0"/>
              <a:t> </a:t>
            </a:r>
            <a:r>
              <a:rPr lang="en-US" baseline="0" dirty="0" err="1"/>
              <a:t>án</a:t>
            </a:r>
            <a:r>
              <a:rPr lang="en-US" baseline="0" dirty="0"/>
              <a:t> </a:t>
            </a:r>
            <a:r>
              <a:rPr lang="en-US" baseline="0" dirty="0" err="1"/>
              <a:t>sân</a:t>
            </a:r>
            <a:r>
              <a:rPr lang="en-US" baseline="0" dirty="0"/>
              <a:t> </a:t>
            </a:r>
            <a:r>
              <a:rPr lang="en-US" baseline="0" dirty="0" err="1"/>
              <a:t>bây</a:t>
            </a:r>
            <a:r>
              <a:rPr lang="en-US" baseline="0" dirty="0"/>
              <a:t> Long </a:t>
            </a:r>
            <a:r>
              <a:rPr lang="en-US" baseline="0" dirty="0" err="1"/>
              <a:t>Thành</a:t>
            </a:r>
            <a:r>
              <a:rPr lang="en-US" baseline="0" dirty="0"/>
              <a:t>, Metro </a:t>
            </a:r>
            <a:r>
              <a:rPr lang="en-US" baseline="0" dirty="0" err="1"/>
              <a:t>Bến</a:t>
            </a:r>
            <a:r>
              <a:rPr lang="en-US" baseline="0" dirty="0"/>
              <a:t> </a:t>
            </a:r>
            <a:r>
              <a:rPr lang="en-US" baseline="0" dirty="0" err="1"/>
              <a:t>Thành</a:t>
            </a:r>
            <a:r>
              <a:rPr lang="en-US" baseline="0" dirty="0"/>
              <a:t> – </a:t>
            </a:r>
            <a:r>
              <a:rPr lang="en-US" baseline="0" dirty="0" err="1"/>
              <a:t>Suối</a:t>
            </a:r>
            <a:r>
              <a:rPr lang="en-US" baseline="0" dirty="0"/>
              <a:t> </a:t>
            </a:r>
            <a:r>
              <a:rPr lang="en-US" baseline="0" dirty="0" err="1"/>
              <a:t>Tiên</a:t>
            </a:r>
            <a:r>
              <a:rPr lang="en-US" baseline="0" dirty="0"/>
              <a:t>…</a:t>
            </a:r>
            <a:br>
              <a:rPr lang="en-US" baseline="0" dirty="0"/>
            </a:br>
            <a:r>
              <a:rPr lang="en-US" baseline="0" dirty="0" err="1"/>
              <a:t>Nhớ</a:t>
            </a:r>
            <a:r>
              <a:rPr lang="en-US" baseline="0" dirty="0"/>
              <a:t>: 5 – </a:t>
            </a:r>
            <a:r>
              <a:rPr lang="en-US" b="1" baseline="0" dirty="0"/>
              <a:t>10 – 10 </a:t>
            </a:r>
            <a:r>
              <a:rPr lang="en-US" baseline="0" dirty="0"/>
              <a:t>– 25 – 50 – 100 </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23</a:t>
            </a:fld>
            <a:endParaRPr lang="en-US" dirty="0"/>
          </a:p>
        </p:txBody>
      </p:sp>
    </p:spTree>
    <p:extLst>
      <p:ext uri="{BB962C8B-B14F-4D97-AF65-F5344CB8AC3E}">
        <p14:creationId xmlns:p14="http://schemas.microsoft.com/office/powerpoint/2010/main" val="1102704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dirty="0"/>
              <a:t>FTE: Tương đương toàn thời gian...</a:t>
            </a:r>
          </a:p>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24</a:t>
            </a:fld>
            <a:endParaRPr lang="en-US" dirty="0"/>
          </a:p>
        </p:txBody>
      </p:sp>
    </p:spTree>
    <p:extLst>
      <p:ext uri="{BB962C8B-B14F-4D97-AF65-F5344CB8AC3E}">
        <p14:creationId xmlns:p14="http://schemas.microsoft.com/office/powerpoint/2010/main" val="1285240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1 FTE ~ 1 người làm toàn thời gian:</a:t>
            </a:r>
          </a:p>
          <a:p>
            <a:endParaRPr lang="vi-VN" dirty="0"/>
          </a:p>
          <a:p>
            <a:r>
              <a:rPr lang="vi-VN" dirty="0"/>
              <a:t>8 giờ/ngày</a:t>
            </a:r>
            <a:r>
              <a:rPr lang="vi-VN" baseline="0" dirty="0"/>
              <a:t> </a:t>
            </a:r>
            <a:br>
              <a:rPr lang="vi-VN" baseline="0" dirty="0"/>
            </a:br>
            <a:r>
              <a:rPr lang="vi-VN" dirty="0"/>
              <a:t>X 5 ngày/tuần</a:t>
            </a:r>
          </a:p>
          <a:p>
            <a:r>
              <a:rPr lang="vi-VN" dirty="0"/>
              <a:t>X 52 tuần/năm</a:t>
            </a:r>
          </a:p>
          <a:p>
            <a:r>
              <a:rPr lang="vi-VN" dirty="0"/>
              <a:t>= </a:t>
            </a:r>
            <a:r>
              <a:rPr lang="vi-VN" b="1" dirty="0">
                <a:solidFill>
                  <a:srgbClr val="FF0000"/>
                </a:solidFill>
              </a:rPr>
              <a:t>2080</a:t>
            </a:r>
            <a:r>
              <a:rPr lang="vi-VN" dirty="0">
                <a:solidFill>
                  <a:srgbClr val="FF0000"/>
                </a:solidFill>
              </a:rPr>
              <a:t> </a:t>
            </a:r>
            <a:r>
              <a:rPr lang="vi-VN" dirty="0"/>
              <a:t>giờ/năm</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25</a:t>
            </a:fld>
            <a:endParaRPr lang="en-US" dirty="0"/>
          </a:p>
        </p:txBody>
      </p:sp>
    </p:spTree>
    <p:extLst>
      <p:ext uri="{BB962C8B-B14F-4D97-AF65-F5344CB8AC3E}">
        <p14:creationId xmlns:p14="http://schemas.microsoft.com/office/powerpoint/2010/main" val="3978113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just"/>
            <a:r>
              <a:rPr lang="vi-VN" dirty="0">
                <a:effectLst>
                  <a:outerShdw blurRad="38100" dist="38100" dir="2700000" algn="tl">
                    <a:srgbClr val="000000">
                      <a:alpha val="43137"/>
                    </a:srgbClr>
                  </a:outerShdw>
                </a:effectLst>
              </a:rPr>
              <a:t>Dự trữ quản lý</a:t>
            </a:r>
            <a:r>
              <a:rPr lang="vi-VN" dirty="0"/>
              <a:t> (</a:t>
            </a:r>
            <a:r>
              <a:rPr lang="en-US" dirty="0">
                <a:solidFill>
                  <a:srgbClr val="0070C0"/>
                </a:solidFill>
              </a:rPr>
              <a:t>management reserves</a:t>
            </a:r>
            <a:r>
              <a:rPr lang="vi-VN" dirty="0">
                <a:solidFill>
                  <a:srgbClr val="0070C0"/>
                </a:solidFill>
              </a:rPr>
              <a:t>)</a:t>
            </a:r>
            <a:r>
              <a:rPr lang="vi-VN" baseline="0" dirty="0">
                <a:solidFill>
                  <a:schemeClr val="tx1"/>
                </a:solidFill>
              </a:rPr>
              <a:t> </a:t>
            </a:r>
            <a:r>
              <a:rPr lang="vi-VN" dirty="0"/>
              <a:t>- </a:t>
            </a:r>
            <a:r>
              <a:rPr lang="en-US" dirty="0">
                <a:solidFill>
                  <a:srgbClr val="0070C0"/>
                </a:solidFill>
              </a:rPr>
              <a:t>unknown unknowns</a:t>
            </a:r>
            <a:endParaRPr lang="en-US" dirty="0"/>
          </a:p>
          <a:p>
            <a:pPr lvl="1" algn="just"/>
            <a:r>
              <a:rPr lang="vi-VN" dirty="0">
                <a:effectLst>
                  <a:outerShdw blurRad="38100" dist="38100" dir="2700000" algn="tl">
                    <a:srgbClr val="000000">
                      <a:alpha val="43137"/>
                    </a:srgbClr>
                  </a:outerShdw>
                </a:effectLst>
              </a:rPr>
              <a:t>Dự trữ dự phòng</a:t>
            </a:r>
            <a:r>
              <a:rPr lang="vi-VN" dirty="0"/>
              <a:t> (</a:t>
            </a:r>
            <a:r>
              <a:rPr lang="en-US" dirty="0">
                <a:solidFill>
                  <a:srgbClr val="0070C0"/>
                </a:solidFill>
              </a:rPr>
              <a:t>contingency reserves</a:t>
            </a:r>
            <a:r>
              <a:rPr lang="vi-VN" dirty="0"/>
              <a:t>) </a:t>
            </a:r>
            <a:r>
              <a:rPr lang="en-US" dirty="0"/>
              <a:t>- </a:t>
            </a:r>
            <a:r>
              <a:rPr lang="en-US" dirty="0">
                <a:solidFill>
                  <a:srgbClr val="0070C0"/>
                </a:solidFill>
              </a:rPr>
              <a:t>known unknowns</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35</a:t>
            </a:fld>
            <a:endParaRPr lang="en-US" dirty="0"/>
          </a:p>
        </p:txBody>
      </p:sp>
    </p:spTree>
    <p:extLst>
      <p:ext uri="{BB962C8B-B14F-4D97-AF65-F5344CB8AC3E}">
        <p14:creationId xmlns:p14="http://schemas.microsoft.com/office/powerpoint/2010/main" val="668376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Brenda </a:t>
            </a:r>
            <a:r>
              <a:rPr lang="vi-VN" b="1" dirty="0"/>
              <a:t>Taylor</a:t>
            </a:r>
            <a:r>
              <a:rPr lang="vi-VN" dirty="0"/>
              <a:t>, P2 Senior Project Manager, P2 Project Management Solutions,</a:t>
            </a:r>
            <a:r>
              <a:rPr lang="vi-VN" baseline="0" dirty="0"/>
              <a:t> </a:t>
            </a:r>
            <a:r>
              <a:rPr lang="vi-VN" dirty="0"/>
              <a:t>Johannesburg, South Africa, E-mail, 2004</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40</a:t>
            </a:fld>
            <a:endParaRPr lang="en-US" dirty="0"/>
          </a:p>
        </p:txBody>
      </p:sp>
    </p:spTree>
    <p:extLst>
      <p:ext uri="{BB962C8B-B14F-4D97-AF65-F5344CB8AC3E}">
        <p14:creationId xmlns:p14="http://schemas.microsoft.com/office/powerpoint/2010/main" val="31144535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41</a:t>
            </a:fld>
            <a:endParaRPr lang="en-US" dirty="0"/>
          </a:p>
        </p:txBody>
      </p:sp>
    </p:spTree>
    <p:extLst>
      <p:ext uri="{BB962C8B-B14F-4D97-AF65-F5344CB8AC3E}">
        <p14:creationId xmlns:p14="http://schemas.microsoft.com/office/powerpoint/2010/main" val="630945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CV và SV = 0 và...</a:t>
            </a:r>
          </a:p>
          <a:p>
            <a:r>
              <a:rPr lang="vi-VN" dirty="0"/>
              <a:t>CPI và SPI = 1 đúng</a:t>
            </a:r>
            <a:r>
              <a:rPr lang="vi-VN" baseline="0" dirty="0"/>
              <a:t> tiến độ</a:t>
            </a:r>
            <a:r>
              <a:rPr lang="vi-VN" dirty="0"/>
              <a:t>...</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43</a:t>
            </a:fld>
            <a:endParaRPr lang="en-US" dirty="0"/>
          </a:p>
        </p:txBody>
      </p:sp>
    </p:spTree>
    <p:extLst>
      <p:ext uri="{BB962C8B-B14F-4D97-AF65-F5344CB8AC3E}">
        <p14:creationId xmlns:p14="http://schemas.microsoft.com/office/powerpoint/2010/main" val="3442605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45</a:t>
            </a:fld>
            <a:endParaRPr lang="en-US" dirty="0"/>
          </a:p>
        </p:txBody>
      </p:sp>
    </p:spTree>
    <p:extLst>
      <p:ext uri="{BB962C8B-B14F-4D97-AF65-F5344CB8AC3E}">
        <p14:creationId xmlns:p14="http://schemas.microsoft.com/office/powerpoint/2010/main" val="2051863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effectLst>
                  <a:outerShdw blurRad="38100" dist="38100" dir="2700000" algn="tl">
                    <a:srgbClr val="000000">
                      <a:alpha val="43137"/>
                    </a:srgbClr>
                  </a:outerShdw>
                </a:effectLst>
              </a:rPr>
              <a:t>EVM</a:t>
            </a:r>
            <a:r>
              <a:rPr lang="vi-VN" dirty="0"/>
              <a:t> được sử dụng toàn thế giới, phổ biến ở Trung Đông, Nam Á, Châu Âu...</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46</a:t>
            </a:fld>
            <a:endParaRPr lang="en-US" dirty="0"/>
          </a:p>
        </p:txBody>
      </p:sp>
    </p:spTree>
    <p:extLst>
      <p:ext uri="{BB962C8B-B14F-4D97-AF65-F5344CB8AC3E}">
        <p14:creationId xmlns:p14="http://schemas.microsoft.com/office/powerpoint/2010/main" val="2406976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Độ rủi ro</a:t>
            </a:r>
            <a:r>
              <a:rPr lang="en-US" dirty="0"/>
              <a:t>: risk-return</a:t>
            </a:r>
            <a:r>
              <a:rPr lang="vi-VN" baseline="0" dirty="0"/>
              <a:t> tools</a:t>
            </a:r>
            <a:r>
              <a:rPr lang="vi-VN" dirty="0"/>
              <a:t> </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48</a:t>
            </a:fld>
            <a:endParaRPr lang="en-US" dirty="0"/>
          </a:p>
        </p:txBody>
      </p:sp>
    </p:spTree>
    <p:extLst>
      <p:ext uri="{BB962C8B-B14F-4D97-AF65-F5344CB8AC3E}">
        <p14:creationId xmlns:p14="http://schemas.microsoft.com/office/powerpoint/2010/main" val="3410114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dirty="0"/>
              <a:t>Lợi</a:t>
            </a:r>
            <a:r>
              <a:rPr lang="vi-VN" sz="1200" baseline="0" dirty="0"/>
              <a:t> ích của q</a:t>
            </a:r>
            <a:r>
              <a:rPr lang="vi-VN" sz="1200" dirty="0"/>
              <a:t>uản lý danh mục đầu tư</a:t>
            </a: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49</a:t>
            </a:fld>
            <a:endParaRPr lang="en-US" dirty="0"/>
          </a:p>
        </p:txBody>
      </p:sp>
    </p:spTree>
    <p:extLst>
      <p:ext uri="{BB962C8B-B14F-4D97-AF65-F5344CB8AC3E}">
        <p14:creationId xmlns:p14="http://schemas.microsoft.com/office/powerpoint/2010/main" val="3159033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aseline="0" dirty="0"/>
            </a:br>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50</a:t>
            </a:fld>
            <a:endParaRPr lang="en-US" dirty="0"/>
          </a:p>
        </p:txBody>
      </p:sp>
    </p:spTree>
    <p:extLst>
      <p:ext uri="{BB962C8B-B14F-4D97-AF65-F5344CB8AC3E}">
        <p14:creationId xmlns:p14="http://schemas.microsoft.com/office/powerpoint/2010/main" val="41037177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PPM: Enterprise or project portfolio</a:t>
            </a:r>
            <a:r>
              <a:rPr lang="vi-VN" baseline="0" dirty="0"/>
              <a:t> </a:t>
            </a:r>
            <a:r>
              <a:rPr lang="vi-VN" dirty="0"/>
              <a:t>management</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51</a:t>
            </a:fld>
            <a:endParaRPr lang="en-US" dirty="0"/>
          </a:p>
        </p:txBody>
      </p:sp>
    </p:spTree>
    <p:extLst>
      <p:ext uri="{BB962C8B-B14F-4D97-AF65-F5344CB8AC3E}">
        <p14:creationId xmlns:p14="http://schemas.microsoft.com/office/powerpoint/2010/main" val="833053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ROI</a:t>
            </a:r>
            <a:r>
              <a:rPr lang="vi-VN" dirty="0"/>
              <a:t>: Return on</a:t>
            </a:r>
            <a:r>
              <a:rPr lang="vi-VN" baseline="0" dirty="0"/>
              <a:t> </a:t>
            </a:r>
            <a:r>
              <a:rPr lang="vi-VN" dirty="0"/>
              <a:t>investment - Suất sinh lợi từ hoạt động đầu tư </a:t>
            </a:r>
            <a:br>
              <a:rPr lang="vi-VN" dirty="0"/>
            </a:br>
            <a:r>
              <a:rPr lang="vi-VN" dirty="0"/>
              <a:t>(Doanh thu - Chi phí)/Chi phí</a:t>
            </a:r>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52</a:t>
            </a:fld>
            <a:endParaRPr lang="en-US" dirty="0"/>
          </a:p>
        </p:txBody>
      </p:sp>
    </p:spTree>
    <p:extLst>
      <p:ext uri="{BB962C8B-B14F-4D97-AF65-F5344CB8AC3E}">
        <p14:creationId xmlns:p14="http://schemas.microsoft.com/office/powerpoint/2010/main" val="4037306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Tree>
    <p:extLst>
      <p:ext uri="{BB962C8B-B14F-4D97-AF65-F5344CB8AC3E}">
        <p14:creationId xmlns:p14="http://schemas.microsoft.com/office/powerpoint/2010/main" val="39019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58</a:t>
            </a:fld>
            <a:endParaRPr lang="en-US"/>
          </a:p>
        </p:txBody>
      </p:sp>
    </p:spTree>
    <p:extLst>
      <p:ext uri="{BB962C8B-B14F-4D97-AF65-F5344CB8AC3E}">
        <p14:creationId xmlns:p14="http://schemas.microsoft.com/office/powerpoint/2010/main" val="3511402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59</a:t>
            </a:fld>
            <a:endParaRPr lang="en-US"/>
          </a:p>
        </p:txBody>
      </p:sp>
    </p:spTree>
    <p:extLst>
      <p:ext uri="{BB962C8B-B14F-4D97-AF65-F5344CB8AC3E}">
        <p14:creationId xmlns:p14="http://schemas.microsoft.com/office/powerpoint/2010/main" val="1252014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54C96B9-AEB0-4855-A598-DE44B5ED19B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8007A2C-411A-4B00-AAEB-86CCF2AE391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34D446C-7EFF-4BFD-AD52-D1D8839675B2}"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9093017-1DB7-4F27-A710-1ACE28A9988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D46B5A5-B7EF-4531-9773-298C75B5F46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DAD3361-36D7-44F1-B201-D9F04B15127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9D3F523-31A3-47E3-9C41-80295EB87EEB}"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CF2F7B6-AD22-46C8-B4C1-BCA82B5010F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2DF2838-0339-4453-987B-447D99B1ECA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D2E0B49-8E6C-48C0-9C9D-CC0639D27A7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B416714-5224-4BBE-BE6A-F6538172A4D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351687C-7F23-40DE-8D48-D682CBC4E6B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a:latin typeface="+mn-lt"/>
              </a:rPr>
              <a:t>Copyright 2021</a:t>
            </a:r>
            <a:endParaRPr lang="en-US" sz="1200" dirty="0">
              <a:latin typeface="+mn-lt"/>
            </a:endParaRP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A05F08-4D91-4DD3-AB44-190E2F0DE432}"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5"/>
          <p:cNvSpPr>
            <a:spLocks noGrp="1"/>
          </p:cNvSpPr>
          <p:nvPr>
            <p:ph type="sldNum" sz="quarter" idx="12"/>
          </p:nvPr>
        </p:nvSpPr>
        <p:spPr/>
        <p:txBody>
          <a:bodyPr/>
          <a:lstStyle>
            <a:lvl1pPr>
              <a:defRPr/>
            </a:lvl1pPr>
            <a:extLst/>
          </a:lstStyle>
          <a:p>
            <a:pPr>
              <a:defRPr/>
            </a:pPr>
            <a:fld id="{D580CC8A-ABB7-482E-8C2B-4DE6C9A0F6F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2F525E1F-A032-423F-903A-16FD4F37652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8"/>
          <p:cNvSpPr>
            <a:spLocks noGrp="1"/>
          </p:cNvSpPr>
          <p:nvPr>
            <p:ph type="sldNum" sz="quarter" idx="12"/>
          </p:nvPr>
        </p:nvSpPr>
        <p:spPr/>
        <p:txBody>
          <a:bodyPr/>
          <a:lstStyle>
            <a:lvl1pPr>
              <a:defRPr/>
            </a:lvl1pPr>
            <a:extLst/>
          </a:lstStyle>
          <a:p>
            <a:pPr>
              <a:defRPr/>
            </a:pPr>
            <a:fld id="{0437A066-44AD-455E-B081-1C1240CB71CD}"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2"/>
          </p:nvPr>
        </p:nvSpPr>
        <p:spPr/>
        <p:txBody>
          <a:bodyPr/>
          <a:lstStyle>
            <a:lvl1pPr>
              <a:defRPr/>
            </a:lvl1pPr>
            <a:extLst/>
          </a:lstStyle>
          <a:p>
            <a:pPr>
              <a:defRPr/>
            </a:pPr>
            <a:fld id="{38F0624A-B2D8-4066-82F2-4F9B939B167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17"/>
          <p:cNvSpPr>
            <a:spLocks noGrp="1"/>
          </p:cNvSpPr>
          <p:nvPr>
            <p:ph type="sldNum" sz="quarter" idx="12"/>
          </p:nvPr>
        </p:nvSpPr>
        <p:spPr/>
        <p:txBody>
          <a:bodyPr/>
          <a:lstStyle>
            <a:lvl1pPr>
              <a:defRPr/>
            </a:lvl1pPr>
          </a:lstStyle>
          <a:p>
            <a:pPr>
              <a:defRPr/>
            </a:pPr>
            <a:fld id="{DF70210C-D799-4DEA-B074-B161F3F07B75}"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BC11EE30-4E94-41E2-BBFA-34D8BC8494AC}"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C28D2F6-FB43-47CA-8ED3-D0D73BE959C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E3BBDA2E-8059-4A99-806C-B8590C0997C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9E8C2F3D-9BB1-46BB-9A9F-B7ED53867B7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E60384C-C024-4815-83EE-8847E6151A6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Chuong%2000/2021-Chuong00-ITPM_VI-ITS344-211_D02.pptx"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Z-10KA-5P(47).pptx" TargetMode="External"/><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hyperlink" Target="../../47Ps-PMP.pptx"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hyperlink" Target="https://en.wikipedia.org/wiki/comoco"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1698625"/>
            <a:ext cx="8382000" cy="1349375"/>
          </a:xfrm>
        </p:spPr>
        <p:txBody>
          <a:bodyPr>
            <a:noAutofit/>
          </a:bodyPr>
          <a:lstStyle/>
          <a:p>
            <a:pPr algn="ctr" eaLnBrk="1" fontAlgn="auto" hangingPunct="1">
              <a:spcAft>
                <a:spcPts val="0"/>
              </a:spcAft>
              <a:defRPr/>
            </a:pPr>
            <a:r>
              <a:rPr dirty="0" err="1">
                <a:solidFill>
                  <a:srgbClr val="0070C0"/>
                </a:solidFill>
                <a:effectLst/>
              </a:rPr>
              <a:t>Ch</a:t>
            </a:r>
            <a:r>
              <a:rPr lang="vi-VN" dirty="0">
                <a:solidFill>
                  <a:srgbClr val="0070C0"/>
                </a:solidFill>
                <a:effectLst/>
              </a:rPr>
              <a:t>ương</a:t>
            </a:r>
            <a:r>
              <a:rPr dirty="0">
                <a:solidFill>
                  <a:srgbClr val="0070C0"/>
                </a:solidFill>
                <a:effectLst/>
              </a:rPr>
              <a:t> </a:t>
            </a:r>
            <a:r>
              <a:rPr lang="vi-VN" dirty="0">
                <a:solidFill>
                  <a:srgbClr val="0070C0"/>
                </a:solidFill>
                <a:effectLst/>
              </a:rPr>
              <a:t>5</a:t>
            </a:r>
            <a:br>
              <a:rPr lang="vi-VN" dirty="0">
                <a:solidFill>
                  <a:srgbClr val="0070C0"/>
                </a:solidFill>
                <a:effectLst/>
              </a:rPr>
            </a:br>
            <a:r>
              <a:rPr lang="vi-VN" dirty="0">
                <a:solidFill>
                  <a:srgbClr val="0070C0"/>
                </a:solidFill>
                <a:effectLst/>
              </a:rPr>
              <a:t>QUẢN LÝ CHI PHÍ DỰ ÁN</a:t>
            </a:r>
            <a:endParaRPr dirty="0">
              <a:solidFill>
                <a:srgbClr val="0070C0"/>
              </a:solidFill>
              <a:effectLst/>
            </a:endParaRPr>
          </a:p>
        </p:txBody>
      </p:sp>
      <p:sp>
        <p:nvSpPr>
          <p:cNvPr id="5" name="Rectangle 3"/>
          <p:cNvSpPr>
            <a:spLocks noChangeArrowheads="1"/>
          </p:cNvSpPr>
          <p:nvPr/>
        </p:nvSpPr>
        <p:spPr bwMode="auto">
          <a:xfrm>
            <a:off x="152400" y="3048000"/>
            <a:ext cx="8991600" cy="914400"/>
          </a:xfrm>
          <a:prstGeom prst="rect">
            <a:avLst/>
          </a:prstGeom>
          <a:noFill/>
          <a:ln w="9525">
            <a:noFill/>
            <a:miter lim="800000"/>
            <a:headEnd/>
            <a:tailEnd/>
          </a:ln>
          <a:effectLst/>
        </p:spPr>
        <p:txBody>
          <a:bodyPr/>
          <a:lstStyle/>
          <a:p>
            <a:pPr algn="ctr">
              <a:defRPr/>
            </a:pPr>
            <a:r>
              <a:rPr lang="vi-VN" sz="2700" spc="1100" dirty="0">
                <a:latin typeface="Arial Rounded MT Bold" pitchFamily="34" charset="0"/>
              </a:rPr>
              <a:t>Project Cost Management</a:t>
            </a:r>
            <a:endParaRPr lang="en-US" sz="2700" b="1" spc="1100" dirty="0">
              <a:solidFill>
                <a:schemeClr val="tx2"/>
              </a:solidFill>
              <a:latin typeface="Arial Rounded MT Bold" pitchFamily="34" charset="0"/>
              <a:ea typeface="+mj-ea"/>
              <a:cs typeface="+mj-cs"/>
            </a:endParaRPr>
          </a:p>
        </p:txBody>
      </p:sp>
      <p:pic>
        <p:nvPicPr>
          <p:cNvPr id="3" name="Picture 2"/>
          <p:cNvPicPr>
            <a:picLocks noChangeAspect="1"/>
          </p:cNvPicPr>
          <p:nvPr/>
        </p:nvPicPr>
        <p:blipFill>
          <a:blip r:embed="rId3"/>
          <a:stretch>
            <a:fillRect/>
          </a:stretch>
        </p:blipFill>
        <p:spPr>
          <a:xfrm>
            <a:off x="6477000" y="4049694"/>
            <a:ext cx="1924050" cy="2274906"/>
          </a:xfrm>
          <a:prstGeom prst="rect">
            <a:avLst/>
          </a:prstGeom>
        </p:spPr>
      </p:pic>
      <p:sp>
        <p:nvSpPr>
          <p:cNvPr id="9" name="Rectangle 2">
            <a:extLst>
              <a:ext uri="{FF2B5EF4-FFF2-40B4-BE49-F238E27FC236}">
                <a16:creationId xmlns:a16="http://schemas.microsoft.com/office/drawing/2014/main" id="{00710114-EE6A-4843-B2E4-E015DFEAF04F}"/>
              </a:ext>
            </a:extLst>
          </p:cNvPr>
          <p:cNvSpPr txBox="1">
            <a:spLocks noChangeArrowheads="1"/>
          </p:cNvSpPr>
          <p:nvPr/>
        </p:nvSpPr>
        <p:spPr>
          <a:xfrm>
            <a:off x="381000" y="327025"/>
            <a:ext cx="8382000" cy="663575"/>
          </a:xfrm>
          <a:prstGeom prst="rect">
            <a:avLst/>
          </a:prstGeom>
        </p:spPr>
        <p:txBody>
          <a:bodyPr vert="horz" anchor="b">
            <a:noAutofit/>
            <a:scene3d>
              <a:camera prst="orthographicFront"/>
              <a:lightRig rig="soft" dir="t"/>
            </a:scene3d>
            <a:sp3d prstMaterial="softEdge">
              <a:bevelT w="25400" h="25400"/>
            </a:sp3d>
          </a:bodyPr>
          <a:lstStyle>
            <a:lvl1pPr algn="r" rtl="0" eaLnBrk="1" fontAlgn="base" hangingPunct="1">
              <a:spcBef>
                <a:spcPct val="0"/>
              </a:spcBef>
              <a:spcAft>
                <a:spcPct val="0"/>
              </a:spcAft>
              <a:defRPr sz="48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fontAlgn="auto">
              <a:spcAft>
                <a:spcPts val="0"/>
              </a:spcAft>
              <a:defRPr/>
            </a:pPr>
            <a:r>
              <a:rPr lang="vi-VN" sz="3200" dirty="0">
                <a:effectLst>
                  <a:outerShdw blurRad="38100" dist="38100" dir="2700000" algn="tl">
                    <a:srgbClr val="FFFFFF"/>
                  </a:outerShdw>
                </a:effectLst>
                <a:hlinkClick r:id="rId4" action="ppaction://hlinkpres?slideindex=1&amp;slidetitle="/>
              </a:rPr>
              <a:t>QUẢN TRỊ DỰ </a:t>
            </a:r>
            <a:r>
              <a:rPr lang="vi-VN" sz="3200">
                <a:effectLst>
                  <a:outerShdw blurRad="38100" dist="38100" dir="2700000" algn="tl">
                    <a:srgbClr val="FFFFFF"/>
                  </a:outerShdw>
                </a:effectLst>
                <a:hlinkClick r:id="rId4" action="ppaction://hlinkpres?slideindex=1&amp;slidetitle="/>
              </a:rPr>
              <a:t>ÁN </a:t>
            </a:r>
            <a:r>
              <a:rPr lang="en-US" sz="3200">
                <a:effectLst>
                  <a:outerShdw blurRad="38100" dist="38100" dir="2700000" algn="tl">
                    <a:srgbClr val="FFFFFF"/>
                  </a:outerShdw>
                </a:effectLst>
                <a:hlinkClick r:id="rId4" action="ppaction://hlinkpres?slideindex=1&amp;slidetitle="/>
              </a:rPr>
              <a:t>HTTT</a:t>
            </a:r>
            <a:endParaRPr lang="vi-VN" sz="3200" dirty="0">
              <a:effectLst>
                <a:outerShdw blurRad="38100" dist="38100" dir="2700000" algn="tl">
                  <a:srgbClr val="FFFFFF"/>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idx="1"/>
          </p:nvPr>
        </p:nvSpPr>
        <p:spPr>
          <a:xfrm>
            <a:off x="609600" y="1752600"/>
            <a:ext cx="8077200" cy="3962400"/>
          </a:xfrm>
        </p:spPr>
        <p:txBody>
          <a:bodyPr/>
          <a:lstStyle/>
          <a:p>
            <a:pPr algn="just">
              <a:spcBef>
                <a:spcPts val="1200"/>
              </a:spcBef>
              <a:spcAft>
                <a:spcPts val="1200"/>
              </a:spcAft>
            </a:pPr>
            <a:r>
              <a:rPr lang="vi-VN" dirty="0">
                <a:solidFill>
                  <a:srgbClr val="002060"/>
                </a:solidFill>
              </a:rPr>
              <a:t>Hiểu được tầm quan trọng của quản lý chi phí.</a:t>
            </a:r>
          </a:p>
          <a:p>
            <a:pPr algn="just">
              <a:spcBef>
                <a:spcPts val="1200"/>
              </a:spcBef>
              <a:spcAft>
                <a:spcPts val="1200"/>
              </a:spcAft>
            </a:pPr>
            <a:r>
              <a:rPr lang="vi-VN" dirty="0">
                <a:solidFill>
                  <a:srgbClr val="002060"/>
                </a:solidFill>
              </a:rPr>
              <a:t>Giải thích được quy trình quản chi phí dự án.</a:t>
            </a:r>
          </a:p>
          <a:p>
            <a:pPr algn="just">
              <a:spcBef>
                <a:spcPts val="1200"/>
              </a:spcBef>
              <a:spcAft>
                <a:spcPts val="1200"/>
              </a:spcAft>
            </a:pPr>
            <a:r>
              <a:rPr lang="vi-VN" dirty="0">
                <a:solidFill>
                  <a:srgbClr val="002060"/>
                </a:solidFill>
              </a:rPr>
              <a:t>Biết được các cách tính chi phí dự án (</a:t>
            </a:r>
            <a:r>
              <a:rPr lang="vi-VN" dirty="0">
                <a:solidFill>
                  <a:srgbClr val="002060"/>
                </a:solidFill>
                <a:effectLst>
                  <a:outerShdw blurRad="38100" dist="38100" dir="2700000" algn="tl">
                    <a:srgbClr val="000000">
                      <a:alpha val="43137"/>
                    </a:srgbClr>
                  </a:outerShdw>
                </a:effectLst>
              </a:rPr>
              <a:t>EVM</a:t>
            </a:r>
            <a:r>
              <a:rPr lang="vi-VN" dirty="0">
                <a:solidFill>
                  <a:srgbClr val="002060"/>
                </a:solidFill>
              </a:rPr>
              <a:t>).</a:t>
            </a:r>
          </a:p>
          <a:p>
            <a:pPr algn="just">
              <a:spcBef>
                <a:spcPts val="1200"/>
              </a:spcBef>
              <a:spcAft>
                <a:spcPts val="1200"/>
              </a:spcAft>
            </a:pPr>
            <a:r>
              <a:rPr lang="vi-VN" dirty="0">
                <a:solidFill>
                  <a:srgbClr val="002060"/>
                </a:solidFill>
              </a:rPr>
              <a:t>Biết được các phần mềm hỗ trợ quản lý chi phí.</a:t>
            </a:r>
          </a:p>
          <a:p>
            <a:pPr marL="365125" lvl="1" indent="-255588" algn="just">
              <a:spcBef>
                <a:spcPts val="1200"/>
              </a:spcBef>
              <a:spcAft>
                <a:spcPts val="1200"/>
              </a:spcAft>
              <a:buSzPct val="68000"/>
              <a:buFont typeface="Wingdings 3" pitchFamily="18" charset="2"/>
              <a:buChar char=""/>
            </a:pPr>
            <a:r>
              <a:rPr lang="vi-VN" sz="2700" dirty="0">
                <a:solidFill>
                  <a:srgbClr val="002060"/>
                </a:solidFill>
              </a:rPr>
              <a:t>Hiểu được các vấn đề liên quan đến quản lý chi phí dự án HTTT.</a:t>
            </a:r>
          </a:p>
          <a:p>
            <a:pPr marL="109537" indent="0" algn="just">
              <a:spcBef>
                <a:spcPts val="1200"/>
              </a:spcBef>
              <a:spcAft>
                <a:spcPts val="1200"/>
              </a:spcAft>
              <a:buNone/>
            </a:pPr>
            <a:br>
              <a:rPr lang="vi-VN" dirty="0">
                <a:solidFill>
                  <a:srgbClr val="002060"/>
                </a:solidFill>
              </a:rPr>
            </a:br>
            <a:endParaRPr lang="vi-VN" sz="1200" dirty="0">
              <a:solidFill>
                <a:srgbClr val="002060"/>
              </a:solidFill>
            </a:endParaRPr>
          </a:p>
        </p:txBody>
      </p:sp>
      <p:sp>
        <p:nvSpPr>
          <p:cNvPr id="21506" name="Rectangle 2"/>
          <p:cNvSpPr>
            <a:spLocks noGrp="1" noChangeArrowheads="1"/>
          </p:cNvSpPr>
          <p:nvPr>
            <p:ph type="title"/>
          </p:nvPr>
        </p:nvSpPr>
        <p:spPr>
          <a:xfrm>
            <a:off x="457200" y="304800"/>
            <a:ext cx="8229600" cy="1143000"/>
          </a:xfrm>
        </p:spPr>
        <p:txBody>
          <a:bodyPr/>
          <a:lstStyle/>
          <a:p>
            <a:pPr algn="ctr"/>
            <a:r>
              <a:rPr lang="en-US" sz="4400" dirty="0" err="1">
                <a:solidFill>
                  <a:srgbClr val="0070C0"/>
                </a:solidFill>
              </a:rPr>
              <a:t>Mục</a:t>
            </a:r>
            <a:r>
              <a:rPr lang="en-US" sz="4400" dirty="0">
                <a:solidFill>
                  <a:srgbClr val="0070C0"/>
                </a:solidFill>
              </a:rPr>
              <a:t> </a:t>
            </a:r>
            <a:r>
              <a:rPr lang="en-US" sz="4400" dirty="0" err="1">
                <a:solidFill>
                  <a:srgbClr val="0070C0"/>
                </a:solidFill>
              </a:rPr>
              <a:t>tiêu</a:t>
            </a:r>
            <a:r>
              <a:rPr lang="en-US" sz="4400" dirty="0">
                <a:solidFill>
                  <a:srgbClr val="0070C0"/>
                </a:solidFill>
              </a:rPr>
              <a:t> </a:t>
            </a:r>
            <a:r>
              <a:rPr lang="en-US" sz="4400" dirty="0" err="1">
                <a:solidFill>
                  <a:srgbClr val="0070C0"/>
                </a:solidFill>
              </a:rPr>
              <a:t>chương</a:t>
            </a:r>
            <a:r>
              <a:rPr lang="en-US" sz="4400" dirty="0">
                <a:solidFill>
                  <a:srgbClr val="0070C0"/>
                </a:solidFill>
              </a:rPr>
              <a:t> 5</a:t>
            </a:r>
            <a:endParaRPr lang="en-US" dirty="0">
              <a:solidFill>
                <a:srgbClr val="0070C0"/>
              </a:solidFill>
            </a:endParaRPr>
          </a:p>
        </p:txBody>
      </p:sp>
      <p:sp>
        <p:nvSpPr>
          <p:cNvPr id="2150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14FE848D-4656-45B6-9A98-5B95985B24C3}"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z="1200" smtClean="0"/>
              <a:pPr>
                <a:defRPr/>
              </a:pPr>
              <a:t>3</a:t>
            </a:fld>
            <a:endParaRPr lang="en-US" sz="1200" dirty="0"/>
          </a:p>
        </p:txBody>
      </p:sp>
      <p:sp>
        <p:nvSpPr>
          <p:cNvPr id="6" name="Rectangle 2"/>
          <p:cNvSpPr>
            <a:spLocks noGrp="1" noChangeArrowheads="1"/>
          </p:cNvSpPr>
          <p:nvPr>
            <p:ph type="title"/>
          </p:nvPr>
        </p:nvSpPr>
        <p:spPr>
          <a:xfrm>
            <a:off x="304800" y="228600"/>
            <a:ext cx="8839200" cy="685800"/>
          </a:xfrm>
        </p:spPr>
        <p:txBody>
          <a:bodyPr>
            <a:noAutofit/>
          </a:bodyPr>
          <a:lstStyle/>
          <a:p>
            <a:pPr algn="ctr"/>
            <a:r>
              <a:rPr lang="en-US" sz="4400" dirty="0" err="1"/>
              <a:t>Nhắc</a:t>
            </a:r>
            <a:r>
              <a:rPr lang="en-US" sz="4400" dirty="0"/>
              <a:t> </a:t>
            </a:r>
            <a:r>
              <a:rPr lang="en-US" sz="4400" dirty="0" err="1"/>
              <a:t>lại</a:t>
            </a:r>
            <a:r>
              <a:rPr lang="en-US" sz="4400" dirty="0"/>
              <a:t> </a:t>
            </a:r>
            <a:r>
              <a:rPr lang="en-US" sz="4400" dirty="0" err="1"/>
              <a:t>kiến</a:t>
            </a:r>
            <a:r>
              <a:rPr lang="en-US" sz="4400" dirty="0"/>
              <a:t> </a:t>
            </a:r>
            <a:r>
              <a:rPr lang="en-US" sz="4400" dirty="0" err="1"/>
              <a:t>thức</a:t>
            </a:r>
            <a:endParaRPr lang="en-US" sz="4400" dirty="0"/>
          </a:p>
        </p:txBody>
      </p:sp>
      <p:sp>
        <p:nvSpPr>
          <p:cNvPr id="7" name="Rectangle 2"/>
          <p:cNvSpPr txBox="1">
            <a:spLocks noChangeArrowheads="1"/>
          </p:cNvSpPr>
          <p:nvPr/>
        </p:nvSpPr>
        <p:spPr>
          <a:xfrm>
            <a:off x="4038600" y="5105400"/>
            <a:ext cx="4648200" cy="1143000"/>
          </a:xfrm>
          <a:prstGeom prst="rect">
            <a:avLst/>
          </a:prstGeom>
        </p:spPr>
        <p:txBody>
          <a:bodyPr vert="horz" rtlCol="0" anchor="ctr">
            <a:normAutofit fontScale="97500"/>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r"/>
            <a:r>
              <a:rPr lang="en-US" sz="4400" b="0" dirty="0">
                <a:solidFill>
                  <a:schemeClr val="tx1"/>
                </a:solidFill>
                <a:effectLst/>
              </a:rPr>
              <a:t>NPV - ROI</a:t>
            </a:r>
            <a:endParaRPr lang="en-US" sz="3600" b="0" dirty="0">
              <a:solidFill>
                <a:schemeClr val="tx1"/>
              </a:solidFill>
              <a:effectLst/>
            </a:endParaRPr>
          </a:p>
        </p:txBody>
      </p:sp>
      <p:sp>
        <p:nvSpPr>
          <p:cNvPr id="13" name="Freeform 12"/>
          <p:cNvSpPr/>
          <p:nvPr/>
        </p:nvSpPr>
        <p:spPr>
          <a:xfrm>
            <a:off x="4495800" y="4708478"/>
            <a:ext cx="4495800" cy="1844722"/>
          </a:xfrm>
          <a:custGeom>
            <a:avLst/>
            <a:gdLst>
              <a:gd name="connsiteX0" fmla="*/ 0 w 6018663"/>
              <a:gd name="connsiteY0" fmla="*/ 2197289 h 2197289"/>
              <a:gd name="connsiteX1" fmla="*/ 1637732 w 6018663"/>
              <a:gd name="connsiteY1" fmla="*/ 464024 h 2197289"/>
              <a:gd name="connsiteX2" fmla="*/ 4790365 w 6018663"/>
              <a:gd name="connsiteY2" fmla="*/ 245660 h 2197289"/>
              <a:gd name="connsiteX3" fmla="*/ 6018663 w 6018663"/>
              <a:gd name="connsiteY3" fmla="*/ 0 h 2197289"/>
            </a:gdLst>
            <a:ahLst/>
            <a:cxnLst>
              <a:cxn ang="0">
                <a:pos x="connsiteX0" y="connsiteY0"/>
              </a:cxn>
              <a:cxn ang="0">
                <a:pos x="connsiteX1" y="connsiteY1"/>
              </a:cxn>
              <a:cxn ang="0">
                <a:pos x="connsiteX2" y="connsiteY2"/>
              </a:cxn>
              <a:cxn ang="0">
                <a:pos x="connsiteX3" y="connsiteY3"/>
              </a:cxn>
            </a:cxnLst>
            <a:rect l="l" t="t" r="r" b="b"/>
            <a:pathLst>
              <a:path w="6018663" h="2197289">
                <a:moveTo>
                  <a:pt x="0" y="2197289"/>
                </a:moveTo>
                <a:cubicBezTo>
                  <a:pt x="419669" y="1493292"/>
                  <a:pt x="839338" y="789295"/>
                  <a:pt x="1637732" y="464024"/>
                </a:cubicBezTo>
                <a:cubicBezTo>
                  <a:pt x="2436126" y="138752"/>
                  <a:pt x="4060210" y="322997"/>
                  <a:pt x="4790365" y="245660"/>
                </a:cubicBezTo>
                <a:cubicBezTo>
                  <a:pt x="5520520" y="168323"/>
                  <a:pt x="5823045" y="29570"/>
                  <a:pt x="6018663"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2" name="Picture 1"/>
          <p:cNvPicPr>
            <a:picLocks noChangeAspect="1"/>
          </p:cNvPicPr>
          <p:nvPr/>
        </p:nvPicPr>
        <p:blipFill>
          <a:blip r:embed="rId2"/>
          <a:stretch>
            <a:fillRect/>
          </a:stretch>
        </p:blipFill>
        <p:spPr>
          <a:xfrm>
            <a:off x="474856" y="1066800"/>
            <a:ext cx="6332964" cy="3581400"/>
          </a:xfrm>
          <a:prstGeom prst="rect">
            <a:avLst/>
          </a:prstGeom>
        </p:spPr>
      </p:pic>
      <p:sp>
        <p:nvSpPr>
          <p:cNvPr id="8"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51875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par>
                          <p:cTn id="12" fill="hold">
                            <p:stCondLst>
                              <p:cond delay="0"/>
                            </p:stCondLst>
                            <p:childTnLst>
                              <p:par>
                                <p:cTn id="13" presetID="16" presetClass="entr" presetSubtype="2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DF7196F-DCCA-449C-8D88-4715321E5796}"/>
              </a:ext>
            </a:extLst>
          </p:cNvPr>
          <p:cNvPicPr>
            <a:picLocks noChangeAspect="1"/>
          </p:cNvPicPr>
          <p:nvPr/>
        </p:nvPicPr>
        <p:blipFill>
          <a:blip r:embed="rId3">
            <a:lum contrast="20000"/>
          </a:blip>
          <a:stretch>
            <a:fillRect/>
          </a:stretch>
        </p:blipFill>
        <p:spPr>
          <a:xfrm>
            <a:off x="0" y="1295400"/>
            <a:ext cx="9159240" cy="4242882"/>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4</a:t>
            </a:fld>
            <a:endParaRPr lang="en-US" dirty="0"/>
          </a:p>
        </p:txBody>
      </p:sp>
      <p:sp>
        <p:nvSpPr>
          <p:cNvPr id="6" name="Rectangle 2"/>
          <p:cNvSpPr>
            <a:spLocks noGrp="1" noChangeArrowheads="1"/>
          </p:cNvSpPr>
          <p:nvPr>
            <p:ph type="title"/>
          </p:nvPr>
        </p:nvSpPr>
        <p:spPr>
          <a:xfrm>
            <a:off x="457200" y="228600"/>
            <a:ext cx="8077200" cy="685800"/>
          </a:xfrm>
        </p:spPr>
        <p:txBody>
          <a:bodyPr>
            <a:noAutofit/>
          </a:bodyPr>
          <a:lstStyle/>
          <a:p>
            <a:pPr algn="ctr"/>
            <a:r>
              <a:rPr lang="en-US" sz="3600" dirty="0" err="1">
                <a:solidFill>
                  <a:schemeClr val="bg1">
                    <a:lumMod val="65000"/>
                  </a:schemeClr>
                </a:solidFill>
              </a:rPr>
              <a:t>Khung</a:t>
            </a:r>
            <a:r>
              <a:rPr lang="en-US" sz="3600" dirty="0">
                <a:solidFill>
                  <a:schemeClr val="bg1">
                    <a:lumMod val="65000"/>
                  </a:schemeClr>
                </a:solidFill>
              </a:rPr>
              <a:t> quản lý </a:t>
            </a:r>
            <a:r>
              <a:rPr lang="en-US" sz="3600" dirty="0" err="1">
                <a:solidFill>
                  <a:schemeClr val="bg1">
                    <a:lumMod val="65000"/>
                  </a:schemeClr>
                </a:solidFill>
              </a:rPr>
              <a:t>dự</a:t>
            </a:r>
            <a:r>
              <a:rPr lang="en-US" sz="3600" dirty="0">
                <a:solidFill>
                  <a:schemeClr val="bg1">
                    <a:lumMod val="65000"/>
                  </a:schemeClr>
                </a:solidFill>
              </a:rPr>
              <a:t> </a:t>
            </a:r>
            <a:r>
              <a:rPr lang="en-US" sz="3600" dirty="0" err="1">
                <a:solidFill>
                  <a:schemeClr val="bg1">
                    <a:lumMod val="65000"/>
                  </a:schemeClr>
                </a:solidFill>
              </a:rPr>
              <a:t>án</a:t>
            </a:r>
            <a:endParaRPr lang="en-US" sz="3600" dirty="0">
              <a:solidFill>
                <a:schemeClr val="bg1">
                  <a:lumMod val="65000"/>
                </a:schemeClr>
              </a:solidFill>
            </a:endParaRPr>
          </a:p>
        </p:txBody>
      </p:sp>
      <p:sp>
        <p:nvSpPr>
          <p:cNvPr id="7" name="Rounded Rectangle 6"/>
          <p:cNvSpPr/>
          <p:nvPr/>
        </p:nvSpPr>
        <p:spPr>
          <a:xfrm>
            <a:off x="3486152" y="2720416"/>
            <a:ext cx="1005840" cy="6096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4572000" y="6019800"/>
            <a:ext cx="3007555" cy="400110"/>
          </a:xfrm>
          <a:prstGeom prst="rect">
            <a:avLst/>
          </a:prstGeom>
        </p:spPr>
        <p:txBody>
          <a:bodyPr wrap="none">
            <a:spAutoFit/>
          </a:bodyPr>
          <a:lstStyle/>
          <a:p>
            <a:r>
              <a:rPr lang="vi-VN" sz="2000" dirty="0"/>
              <a:t>Nguồn: </a:t>
            </a:r>
            <a:r>
              <a:rPr lang="vi-VN" sz="2000"/>
              <a:t>Schwalbe (2021)</a:t>
            </a:r>
            <a:endParaRPr lang="vi-VN" sz="2000" dirty="0"/>
          </a:p>
        </p:txBody>
      </p:sp>
      <p:sp>
        <p:nvSpPr>
          <p:cNvPr id="8" name="Rounded Rectangle 7"/>
          <p:cNvSpPr/>
          <p:nvPr/>
        </p:nvSpPr>
        <p:spPr>
          <a:xfrm>
            <a:off x="6772272" y="1447800"/>
            <a:ext cx="1600200" cy="3810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28931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8"/>
                                        </p:tgtEl>
                                      </p:cBhvr>
                                    </p:animEffect>
                                    <p:animScale>
                                      <p:cBhvr>
                                        <p:cTn id="12"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
        <p:nvSpPr>
          <p:cNvPr id="8" name="Rectangle 2"/>
          <p:cNvSpPr>
            <a:spLocks noGrp="1" noChangeArrowheads="1"/>
          </p:cNvSpPr>
          <p:nvPr>
            <p:ph type="ctrTitle"/>
          </p:nvPr>
        </p:nvSpPr>
        <p:spPr>
          <a:xfrm>
            <a:off x="457200" y="1524000"/>
            <a:ext cx="8305800" cy="1349375"/>
          </a:xfrm>
        </p:spPr>
        <p:txBody>
          <a:bodyPr>
            <a:noAutofit/>
          </a:bodyPr>
          <a:lstStyle/>
          <a:p>
            <a:pPr algn="ctr" eaLnBrk="1" fontAlgn="auto" hangingPunct="1">
              <a:spcAft>
                <a:spcPts val="0"/>
              </a:spcAft>
              <a:defRPr/>
            </a:pPr>
            <a:br>
              <a:rPr sz="4400" dirty="0">
                <a:solidFill>
                  <a:srgbClr val="0070C0"/>
                </a:solidFill>
                <a:effectLst/>
              </a:rPr>
            </a:br>
            <a:r>
              <a:rPr lang="vi-VN" sz="4400" dirty="0">
                <a:solidFill>
                  <a:srgbClr val="0070C0"/>
                </a:solidFill>
                <a:effectLst/>
              </a:rPr>
              <a:t>QUẢN LÝ CHI PHÍ DỰ ÁN</a:t>
            </a:r>
            <a:endParaRPr sz="4400" dirty="0">
              <a:solidFill>
                <a:srgbClr val="0070C0"/>
              </a:solidFill>
              <a:effectLst/>
            </a:endParaRPr>
          </a:p>
        </p:txBody>
      </p:sp>
      <p:sp>
        <p:nvSpPr>
          <p:cNvPr id="10" name="Rectangle 3"/>
          <p:cNvSpPr>
            <a:spLocks noChangeArrowheads="1"/>
          </p:cNvSpPr>
          <p:nvPr/>
        </p:nvSpPr>
        <p:spPr bwMode="auto">
          <a:xfrm>
            <a:off x="381000" y="2667000"/>
            <a:ext cx="8686800" cy="1349375"/>
          </a:xfrm>
          <a:prstGeom prst="rect">
            <a:avLst/>
          </a:prstGeom>
          <a:noFill/>
          <a:ln w="9525">
            <a:noFill/>
            <a:miter lim="800000"/>
            <a:headEnd/>
            <a:tailEnd/>
          </a:ln>
          <a:effectLst/>
        </p:spPr>
        <p:txBody>
          <a:bodyPr/>
          <a:lstStyle/>
          <a:p>
            <a:pPr algn="ctr">
              <a:defRPr/>
            </a:pPr>
            <a:br>
              <a:rPr lang="en-US" kern="400" spc="1000" dirty="0">
                <a:solidFill>
                  <a:schemeClr val="tx2"/>
                </a:solidFill>
                <a:latin typeface="Arial Rounded MT Bold" pitchFamily="34" charset="0"/>
                <a:ea typeface="+mj-ea"/>
                <a:cs typeface="+mj-cs"/>
              </a:rPr>
            </a:br>
            <a:r>
              <a:rPr lang="en-US" spc="1100" dirty="0">
                <a:solidFill>
                  <a:schemeClr val="tx2"/>
                </a:solidFill>
                <a:latin typeface="Arial Rounded MT Bold" pitchFamily="34" charset="0"/>
                <a:ea typeface="+mj-ea"/>
                <a:cs typeface="+mj-cs"/>
              </a:rPr>
              <a:t>Project Cost Management</a:t>
            </a:r>
          </a:p>
        </p:txBody>
      </p:sp>
      <p:pic>
        <p:nvPicPr>
          <p:cNvPr id="7" name="Picture 6"/>
          <p:cNvPicPr>
            <a:picLocks noChangeAspect="1"/>
          </p:cNvPicPr>
          <p:nvPr/>
        </p:nvPicPr>
        <p:blipFill>
          <a:blip r:embed="rId2"/>
          <a:stretch>
            <a:fillRect/>
          </a:stretch>
        </p:blipFill>
        <p:spPr>
          <a:xfrm>
            <a:off x="6477000" y="4049694"/>
            <a:ext cx="1924050" cy="2274906"/>
          </a:xfrm>
          <a:prstGeom prst="rect">
            <a:avLst/>
          </a:prstGeom>
        </p:spPr>
      </p:pic>
    </p:spTree>
    <p:extLst>
      <p:ext uri="{BB962C8B-B14F-4D97-AF65-F5344CB8AC3E}">
        <p14:creationId xmlns:p14="http://schemas.microsoft.com/office/powerpoint/2010/main" val="379037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a:spLocks noGrp="1" noChangeArrowheads="1"/>
          </p:cNvSpPr>
          <p:nvPr>
            <p:ph type="title"/>
          </p:nvPr>
        </p:nvSpPr>
        <p:spPr>
          <a:xfrm>
            <a:off x="762000" y="319087"/>
            <a:ext cx="7772400" cy="900113"/>
          </a:xfrm>
        </p:spPr>
        <p:txBody>
          <a:bodyPr>
            <a:normAutofit/>
          </a:bodyPr>
          <a:lstStyle/>
          <a:p>
            <a:pPr algn="ctr">
              <a:defRPr/>
            </a:pPr>
            <a:r>
              <a:rPr lang="en-US" sz="3400" spc="500" dirty="0">
                <a:effectLst>
                  <a:outerShdw blurRad="38100" dist="38100" dir="2700000" algn="tl">
                    <a:srgbClr val="000000">
                      <a:alpha val="43137"/>
                    </a:srgbClr>
                  </a:outerShdw>
                </a:effectLst>
              </a:rPr>
              <a:t>QUẢN LÝ CHI PHÍ DỰ ÁN</a:t>
            </a:r>
          </a:p>
        </p:txBody>
      </p:sp>
      <p:grpSp>
        <p:nvGrpSpPr>
          <p:cNvPr id="36" name="Group 42"/>
          <p:cNvGrpSpPr>
            <a:grpSpLocks/>
          </p:cNvGrpSpPr>
          <p:nvPr/>
        </p:nvGrpSpPr>
        <p:grpSpPr bwMode="auto">
          <a:xfrm>
            <a:off x="1142999" y="1447800"/>
            <a:ext cx="6952029" cy="838200"/>
            <a:chOff x="1296" y="1824"/>
            <a:chExt cx="2976" cy="432"/>
          </a:xfrm>
        </p:grpSpPr>
        <p:sp>
          <p:nvSpPr>
            <p:cNvPr id="41"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2"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3" name="Text Box 45"/>
            <p:cNvSpPr txBox="1">
              <a:spLocks noChangeArrowheads="1"/>
            </p:cNvSpPr>
            <p:nvPr/>
          </p:nvSpPr>
          <p:spPr bwMode="gray">
            <a:xfrm>
              <a:off x="1776" y="1920"/>
              <a:ext cx="2431" cy="218"/>
            </a:xfrm>
            <a:prstGeom prst="rect">
              <a:avLst/>
            </a:prstGeom>
            <a:noFill/>
            <a:ln w="9525" algn="ctr">
              <a:noFill/>
              <a:miter lim="800000"/>
              <a:headEnd/>
              <a:tailEnd/>
            </a:ln>
            <a:effectLst/>
          </p:spPr>
          <p:txBody>
            <a:bodyPr wrap="square">
              <a:spAutoFit/>
            </a:bodyPr>
            <a:lstStyle/>
            <a:p>
              <a:pPr>
                <a:defRPr/>
              </a:pPr>
              <a:r>
                <a:rPr lang="vi-VN" sz="2400" b="1" dirty="0">
                  <a:solidFill>
                    <a:schemeClr val="bg1"/>
                  </a:solidFill>
                  <a:effectLst>
                    <a:outerShdw blurRad="38100" dist="38100" dir="2700000" algn="tl">
                      <a:srgbClr val="000000">
                        <a:alpha val="43137"/>
                      </a:srgbClr>
                    </a:outerShdw>
                  </a:effectLst>
                  <a:latin typeface="Arial" charset="0"/>
                  <a:cs typeface="+mn-cs"/>
                </a:rPr>
                <a:t>TỔNG QUAN</a:t>
              </a:r>
              <a:endParaRPr lang="en-US" sz="2400" b="1" dirty="0">
                <a:solidFill>
                  <a:schemeClr val="bg1"/>
                </a:solidFill>
                <a:effectLst>
                  <a:outerShdw blurRad="38100" dist="38100" dir="2700000" algn="tl">
                    <a:srgbClr val="000000">
                      <a:alpha val="43137"/>
                    </a:srgbClr>
                  </a:outerShdw>
                </a:effectLst>
                <a:latin typeface="Arial" charset="0"/>
                <a:cs typeface="+mn-cs"/>
              </a:endParaRPr>
            </a:p>
          </p:txBody>
        </p:sp>
        <p:sp>
          <p:nvSpPr>
            <p:cNvPr id="44"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0</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45" name="Group 52"/>
          <p:cNvGrpSpPr>
            <a:grpSpLocks/>
          </p:cNvGrpSpPr>
          <p:nvPr/>
        </p:nvGrpSpPr>
        <p:grpSpPr bwMode="auto">
          <a:xfrm>
            <a:off x="1143000" y="2286000"/>
            <a:ext cx="7848600" cy="838200"/>
            <a:chOff x="1296" y="1824"/>
            <a:chExt cx="3360" cy="432"/>
          </a:xfrm>
        </p:grpSpPr>
        <p:sp>
          <p:nvSpPr>
            <p:cNvPr id="46"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7"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8" name="Text Box 55"/>
            <p:cNvSpPr txBox="1">
              <a:spLocks noChangeArrowheads="1"/>
            </p:cNvSpPr>
            <p:nvPr/>
          </p:nvSpPr>
          <p:spPr bwMode="gray">
            <a:xfrm>
              <a:off x="1776" y="1920"/>
              <a:ext cx="2880" cy="238"/>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KẾ HOẠCH QUẢN LÝ CHI PHÍ</a:t>
              </a:r>
            </a:p>
          </p:txBody>
        </p:sp>
        <p:sp>
          <p:nvSpPr>
            <p:cNvPr id="49" name="Text Box 56"/>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1</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0" name="Group 57"/>
          <p:cNvGrpSpPr>
            <a:grpSpLocks/>
          </p:cNvGrpSpPr>
          <p:nvPr/>
        </p:nvGrpSpPr>
        <p:grpSpPr bwMode="auto">
          <a:xfrm>
            <a:off x="1173162" y="3124200"/>
            <a:ext cx="7281407" cy="838200"/>
            <a:chOff x="1296" y="1824"/>
            <a:chExt cx="3117" cy="432"/>
          </a:xfrm>
        </p:grpSpPr>
        <p:sp>
          <p:nvSpPr>
            <p:cNvPr id="51"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2"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3" name="Text Box 60"/>
            <p:cNvSpPr txBox="1">
              <a:spLocks noChangeArrowheads="1"/>
            </p:cNvSpPr>
            <p:nvPr/>
          </p:nvSpPr>
          <p:spPr bwMode="gray">
            <a:xfrm>
              <a:off x="1776" y="1917"/>
              <a:ext cx="2637" cy="238"/>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ƯỚC LƯỢNG CHI PHÍ</a:t>
              </a:r>
              <a:endParaRPr lang="en-US" sz="2400" b="1" dirty="0">
                <a:solidFill>
                  <a:schemeClr val="bg1"/>
                </a:solidFill>
                <a:effectLst>
                  <a:outerShdw blurRad="38100" dist="38100" dir="2700000" algn="tl">
                    <a:srgbClr val="000000">
                      <a:alpha val="43137"/>
                    </a:srgbClr>
                  </a:outerShdw>
                </a:effectLst>
                <a:latin typeface="Arial" charset="0"/>
                <a:cs typeface="Arial" charset="0"/>
              </a:endParaRPr>
            </a:p>
          </p:txBody>
        </p:sp>
        <p:sp>
          <p:nvSpPr>
            <p:cNvPr id="54" name="Text Box 61"/>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2</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3" name="Group 42"/>
          <p:cNvGrpSpPr>
            <a:grpSpLocks/>
          </p:cNvGrpSpPr>
          <p:nvPr/>
        </p:nvGrpSpPr>
        <p:grpSpPr bwMode="auto">
          <a:xfrm>
            <a:off x="1143000" y="3962400"/>
            <a:ext cx="7620134" cy="838200"/>
            <a:chOff x="1296" y="1824"/>
            <a:chExt cx="3262" cy="432"/>
          </a:xfrm>
        </p:grpSpPr>
        <p:sp>
          <p:nvSpPr>
            <p:cNvPr id="24" name="AutoShape 43"/>
            <p:cNvSpPr>
              <a:spLocks noChangeArrowheads="1"/>
            </p:cNvSpPr>
            <p:nvPr/>
          </p:nvSpPr>
          <p:spPr bwMode="gray">
            <a:xfrm>
              <a:off x="1536" y="1920"/>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5"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6" name="Text Box 45"/>
            <p:cNvSpPr txBox="1">
              <a:spLocks noChangeArrowheads="1"/>
            </p:cNvSpPr>
            <p:nvPr/>
          </p:nvSpPr>
          <p:spPr bwMode="gray">
            <a:xfrm>
              <a:off x="1776" y="1920"/>
              <a:ext cx="2782" cy="238"/>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XÁC ĐỊNH NGÂN SÁCH</a:t>
              </a:r>
            </a:p>
          </p:txBody>
        </p:sp>
        <p:sp>
          <p:nvSpPr>
            <p:cNvPr id="27" name="Text Box 46"/>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3</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8" name="Group 52"/>
          <p:cNvGrpSpPr>
            <a:grpSpLocks/>
          </p:cNvGrpSpPr>
          <p:nvPr/>
        </p:nvGrpSpPr>
        <p:grpSpPr bwMode="auto">
          <a:xfrm>
            <a:off x="1143001" y="4876800"/>
            <a:ext cx="7848600" cy="838200"/>
            <a:chOff x="1296" y="1824"/>
            <a:chExt cx="3360" cy="432"/>
          </a:xfrm>
        </p:grpSpPr>
        <p:sp>
          <p:nvSpPr>
            <p:cNvPr id="29"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0"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1" name="Text Box 55"/>
            <p:cNvSpPr txBox="1">
              <a:spLocks noChangeArrowheads="1"/>
            </p:cNvSpPr>
            <p:nvPr/>
          </p:nvSpPr>
          <p:spPr bwMode="gray">
            <a:xfrm>
              <a:off x="1776" y="1920"/>
              <a:ext cx="2880" cy="238"/>
            </a:xfrm>
            <a:prstGeom prst="rect">
              <a:avLst/>
            </a:prstGeom>
            <a:noFill/>
            <a:ln w="9525" algn="ctr">
              <a:noFill/>
              <a:miter lim="800000"/>
              <a:headEnd/>
              <a:tailEnd/>
            </a:ln>
            <a:effectLst/>
          </p:spPr>
          <p:txBody>
            <a:bodyPr>
              <a:spAutoFit/>
            </a:bodyPr>
            <a:lstStyle/>
            <a:p>
              <a:pPr>
                <a:defRPr/>
              </a:pPr>
              <a:r>
                <a:rPr lang="vi-VN" sz="2400" b="1" dirty="0">
                  <a:solidFill>
                    <a:schemeClr val="bg1"/>
                  </a:solidFill>
                  <a:effectLst>
                    <a:outerShdw blurRad="38100" dist="38100" dir="2700000" algn="tl">
                      <a:srgbClr val="000000">
                        <a:alpha val="43137"/>
                      </a:srgbClr>
                    </a:outerShdw>
                  </a:effectLst>
                  <a:cs typeface="Arial" charset="0"/>
                </a:rPr>
                <a:t>KIỂM SOÁT CHI PHÍ</a:t>
              </a:r>
              <a:endParaRPr lang="en-US" sz="2400" b="1" dirty="0">
                <a:solidFill>
                  <a:schemeClr val="bg1"/>
                </a:solidFill>
                <a:effectLst>
                  <a:outerShdw blurRad="38100" dist="38100" dir="2700000" algn="tl">
                    <a:srgbClr val="000000">
                      <a:alpha val="43137"/>
                    </a:srgbClr>
                  </a:outerShdw>
                </a:effectLst>
                <a:cs typeface="Arial" charset="0"/>
              </a:endParaRPr>
            </a:p>
          </p:txBody>
        </p:sp>
        <p:sp>
          <p:nvSpPr>
            <p:cNvPr id="32" name="Text Box 56"/>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4</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sp>
        <p:nvSpPr>
          <p:cNvPr id="33"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00069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anim calcmode="lin" valueType="num">
                                      <p:cBhvr>
                                        <p:cTn id="14" dur="500" fill="hold"/>
                                        <p:tgtEl>
                                          <p:spTgt spid="45"/>
                                        </p:tgtEl>
                                        <p:attrNameLst>
                                          <p:attrName>ppt_x</p:attrName>
                                        </p:attrNameLst>
                                      </p:cBhvr>
                                      <p:tavLst>
                                        <p:tav tm="0">
                                          <p:val>
                                            <p:strVal val="#ppt_x"/>
                                          </p:val>
                                        </p:tav>
                                        <p:tav tm="100000">
                                          <p:val>
                                            <p:strVal val="#ppt_x"/>
                                          </p:val>
                                        </p:tav>
                                      </p:tavLst>
                                    </p:anim>
                                    <p:anim calcmode="lin" valueType="num">
                                      <p:cBhvr>
                                        <p:cTn id="15" dur="5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anim calcmode="lin" valueType="num">
                                      <p:cBhvr>
                                        <p:cTn id="20" dur="500" fill="hold"/>
                                        <p:tgtEl>
                                          <p:spTgt spid="50"/>
                                        </p:tgtEl>
                                        <p:attrNameLst>
                                          <p:attrName>ppt_x</p:attrName>
                                        </p:attrNameLst>
                                      </p:cBhvr>
                                      <p:tavLst>
                                        <p:tav tm="0">
                                          <p:val>
                                            <p:strVal val="#ppt_x"/>
                                          </p:val>
                                        </p:tav>
                                        <p:tav tm="100000">
                                          <p:val>
                                            <p:strVal val="#ppt_x"/>
                                          </p:val>
                                        </p:tav>
                                      </p:tavLst>
                                    </p:anim>
                                    <p:anim calcmode="lin" valueType="num">
                                      <p:cBhvr>
                                        <p:cTn id="21" dur="50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anim calcmode="lin" valueType="num">
                                      <p:cBhvr>
                                        <p:cTn id="32" dur="500" fill="hold"/>
                                        <p:tgtEl>
                                          <p:spTgt spid="28"/>
                                        </p:tgtEl>
                                        <p:attrNameLst>
                                          <p:attrName>ppt_x</p:attrName>
                                        </p:attrNameLst>
                                      </p:cBhvr>
                                      <p:tavLst>
                                        <p:tav tm="0">
                                          <p:val>
                                            <p:strVal val="#ppt_x"/>
                                          </p:val>
                                        </p:tav>
                                        <p:tav tm="100000">
                                          <p:val>
                                            <p:strVal val="#ppt_x"/>
                                          </p:val>
                                        </p:tav>
                                      </p:tavLst>
                                    </p:anim>
                                    <p:anim calcmode="lin" valueType="num">
                                      <p:cBhvr>
                                        <p:cTn id="33"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57200" y="1752600"/>
            <a:ext cx="8077200" cy="3886200"/>
          </a:xfrm>
        </p:spPr>
        <p:txBody>
          <a:bodyPr/>
          <a:lstStyle/>
          <a:p>
            <a:pPr algn="just"/>
            <a:r>
              <a:rPr lang="vi-VN" dirty="0"/>
              <a:t>Dự án HTTT thường không đáp ứng mục tiêu về ngân sách - vượt ngân sách (</a:t>
            </a:r>
            <a:r>
              <a:rPr lang="vi-VN" dirty="0">
                <a:solidFill>
                  <a:srgbClr val="0070C0"/>
                </a:solidFill>
              </a:rPr>
              <a:t>overun</a:t>
            </a:r>
            <a:r>
              <a:rPr lang="vi-VN" dirty="0"/>
              <a:t>)...</a:t>
            </a:r>
          </a:p>
          <a:p>
            <a:pPr algn="just"/>
            <a:endParaRPr lang="vi-VN" sz="400" dirty="0"/>
          </a:p>
          <a:p>
            <a:pPr lvl="1" algn="just">
              <a:spcBef>
                <a:spcPts val="0"/>
              </a:spcBef>
              <a:spcAft>
                <a:spcPts val="600"/>
              </a:spcAft>
              <a:buFont typeface="Arial" panose="020B0604020202020204" pitchFamily="34" charset="0"/>
              <a:buChar char="•"/>
            </a:pPr>
            <a:r>
              <a:rPr lang="vi-VN" sz="2400" dirty="0"/>
              <a:t>Dự án CNTT của 400 cơ quan chính phủ Hoa Kỳ vượt ngân sách </a:t>
            </a:r>
            <a:r>
              <a:rPr lang="vi-VN" sz="2400" b="1" dirty="0">
                <a:solidFill>
                  <a:srgbClr val="FF0000"/>
                </a:solidFill>
              </a:rPr>
              <a:t>25</a:t>
            </a:r>
            <a:r>
              <a:rPr lang="vi-VN" sz="2400" dirty="0">
                <a:solidFill>
                  <a:srgbClr val="FF0000"/>
                </a:solidFill>
              </a:rPr>
              <a:t> tỷ </a:t>
            </a:r>
            <a:r>
              <a:rPr lang="vi-VN" sz="2400" dirty="0"/>
              <a:t>USD (GAO, 2008).</a:t>
            </a:r>
          </a:p>
          <a:p>
            <a:pPr lvl="1" algn="just">
              <a:spcBef>
                <a:spcPts val="0"/>
              </a:spcBef>
              <a:buFont typeface="Arial" panose="020B0604020202020204" pitchFamily="34" charset="0"/>
              <a:buChar char="•"/>
            </a:pPr>
            <a:r>
              <a:rPr lang="vi-VN" sz="2400" dirty="0"/>
              <a:t>Chính phủ điện tử ở VN (dự án 112) - một thất bại về chi phí dự án (2001-2010).</a:t>
            </a:r>
          </a:p>
          <a:p>
            <a:pPr algn="just"/>
            <a:endParaRPr lang="vi-VN" sz="800" dirty="0"/>
          </a:p>
          <a:p>
            <a:pPr algn="just"/>
            <a:r>
              <a:rPr lang="vi-VN" dirty="0"/>
              <a:t>Chi phí vượt </a:t>
            </a:r>
            <a:r>
              <a:rPr lang="vi-VN" b="1" dirty="0">
                <a:solidFill>
                  <a:srgbClr val="FF0000"/>
                </a:solidFill>
              </a:rPr>
              <a:t>27</a:t>
            </a:r>
            <a:r>
              <a:rPr lang="vi-VN" dirty="0">
                <a:solidFill>
                  <a:srgbClr val="FF0000"/>
                </a:solidFill>
              </a:rPr>
              <a:t>%</a:t>
            </a:r>
            <a:r>
              <a:rPr lang="vi-VN" dirty="0"/>
              <a:t> ngân sách (HBR, 2011):</a:t>
            </a:r>
          </a:p>
          <a:p>
            <a:pPr lvl="1" algn="just">
              <a:buFont typeface="Arial" panose="020B0604020202020204" pitchFamily="34" charset="0"/>
              <a:buChar char="•"/>
            </a:pPr>
            <a:r>
              <a:rPr lang="vi-VN" sz="2400" dirty="0"/>
              <a:t>... phát hiện số lượng lớn "</a:t>
            </a:r>
            <a:r>
              <a:rPr lang="vi-VN" sz="2400" dirty="0">
                <a:effectLst>
                  <a:outerShdw blurRad="38100" dist="38100" dir="2700000" algn="tl">
                    <a:srgbClr val="000000">
                      <a:alpha val="43137"/>
                    </a:srgbClr>
                  </a:outerShdw>
                </a:effectLst>
              </a:rPr>
              <a:t>thiên nga đen</a:t>
            </a:r>
            <a:r>
              <a:rPr lang="vi-VN" sz="2400" dirty="0"/>
              <a:t>“.</a:t>
            </a:r>
          </a:p>
          <a:p>
            <a:pPr lvl="1" algn="just">
              <a:buFont typeface="Arial" panose="020B0604020202020204" pitchFamily="34" charset="0"/>
              <a:buChar char="•"/>
            </a:pPr>
            <a:endParaRPr lang="en-US" sz="2400" dirty="0"/>
          </a:p>
        </p:txBody>
      </p:sp>
      <p:sp>
        <p:nvSpPr>
          <p:cNvPr id="22530" name="Rectangle 2"/>
          <p:cNvSpPr>
            <a:spLocks noGrp="1" noChangeArrowheads="1"/>
          </p:cNvSpPr>
          <p:nvPr>
            <p:ph type="title"/>
          </p:nvPr>
        </p:nvSpPr>
        <p:spPr>
          <a:xfrm>
            <a:off x="457200" y="228600"/>
            <a:ext cx="8305800" cy="1143000"/>
          </a:xfrm>
        </p:spPr>
        <p:txBody>
          <a:bodyPr>
            <a:noAutofit/>
          </a:bodyPr>
          <a:lstStyle/>
          <a:p>
            <a:r>
              <a:rPr lang="en-US" sz="4400" dirty="0" err="1">
                <a:solidFill>
                  <a:srgbClr val="0070C0"/>
                </a:solidFill>
              </a:rPr>
              <a:t>Tầm</a:t>
            </a:r>
            <a:r>
              <a:rPr lang="en-US" sz="4400" dirty="0">
                <a:solidFill>
                  <a:srgbClr val="0070C0"/>
                </a:solidFill>
              </a:rPr>
              <a:t> </a:t>
            </a:r>
            <a:r>
              <a:rPr lang="en-US" sz="4400" dirty="0" err="1">
                <a:solidFill>
                  <a:srgbClr val="0070C0"/>
                </a:solidFill>
              </a:rPr>
              <a:t>quan</a:t>
            </a:r>
            <a:r>
              <a:rPr lang="en-US" sz="4400" dirty="0">
                <a:solidFill>
                  <a:srgbClr val="0070C0"/>
                </a:solidFill>
              </a:rPr>
              <a:t> </a:t>
            </a:r>
            <a:r>
              <a:rPr lang="en-US" sz="4400" dirty="0" err="1">
                <a:solidFill>
                  <a:srgbClr val="0070C0"/>
                </a:solidFill>
              </a:rPr>
              <a:t>trọng</a:t>
            </a:r>
            <a:r>
              <a:rPr lang="en-US" sz="4400" dirty="0">
                <a:solidFill>
                  <a:srgbClr val="0070C0"/>
                </a:solidFill>
              </a:rPr>
              <a:t> chi </a:t>
            </a:r>
            <a:r>
              <a:rPr lang="en-US" sz="4400" dirty="0" err="1">
                <a:solidFill>
                  <a:srgbClr val="0070C0"/>
                </a:solidFill>
              </a:rPr>
              <a:t>phí</a:t>
            </a:r>
            <a:r>
              <a:rPr lang="en-US" sz="4400" dirty="0">
                <a:solidFill>
                  <a:srgbClr val="0070C0"/>
                </a:solidFill>
              </a:rPr>
              <a:t> </a:t>
            </a:r>
            <a:r>
              <a:rPr lang="en-US" sz="4400" dirty="0" err="1">
                <a:solidFill>
                  <a:srgbClr val="0070C0"/>
                </a:solidFill>
              </a:rPr>
              <a:t>dự</a:t>
            </a:r>
            <a:r>
              <a:rPr lang="en-US" sz="4400" dirty="0">
                <a:solidFill>
                  <a:srgbClr val="0070C0"/>
                </a:solidFill>
              </a:rPr>
              <a:t> </a:t>
            </a:r>
            <a:r>
              <a:rPr lang="en-US" sz="4400" dirty="0" err="1">
                <a:solidFill>
                  <a:srgbClr val="0070C0"/>
                </a:solidFill>
              </a:rPr>
              <a:t>án</a:t>
            </a:r>
            <a:endParaRPr lang="en-US" sz="4400" dirty="0">
              <a:solidFill>
                <a:srgbClr val="0070C0"/>
              </a:solidFill>
            </a:endParaRPr>
          </a:p>
        </p:txBody>
      </p:sp>
      <p:sp>
        <p:nvSpPr>
          <p:cNvPr id="2253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08916D9C-FD52-4A89-BBE6-8CD46D2D32F4}"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7"/>
          <p:cNvSpPr>
            <a:spLocks noGrp="1"/>
          </p:cNvSpPr>
          <p:nvPr>
            <p:ph idx="1"/>
          </p:nvPr>
        </p:nvSpPr>
        <p:spPr>
          <a:xfrm>
            <a:off x="457200" y="1600200"/>
            <a:ext cx="7315200" cy="3276600"/>
          </a:xfrm>
          <a:solidFill>
            <a:schemeClr val="bg2">
              <a:lumMod val="90000"/>
            </a:schemeClr>
          </a:solidFill>
        </p:spPr>
        <p:txBody>
          <a:bodyPr/>
          <a:lstStyle/>
          <a:p>
            <a:pPr algn="just"/>
            <a:r>
              <a:rPr lang="vi-VN" sz="2400" dirty="0"/>
              <a:t>Chương trình NHS* là thảm họa CNTT lớn nhất lịch sử thế giới, vượt ngân sách </a:t>
            </a:r>
            <a:r>
              <a:rPr lang="vi-VN" sz="2400" b="1" dirty="0">
                <a:solidFill>
                  <a:srgbClr val="FF0000"/>
                </a:solidFill>
              </a:rPr>
              <a:t>26</a:t>
            </a:r>
            <a:r>
              <a:rPr lang="vi-VN" sz="2400" dirty="0">
                <a:solidFill>
                  <a:srgbClr val="FF0000"/>
                </a:solidFill>
              </a:rPr>
              <a:t> tỷ </a:t>
            </a:r>
            <a:r>
              <a:rPr lang="vi-VN" sz="2400" dirty="0"/>
              <a:t>USD (~ </a:t>
            </a:r>
            <a:r>
              <a:rPr lang="vi-VN" sz="2400" b="1" dirty="0">
                <a:solidFill>
                  <a:srgbClr val="FF0000"/>
                </a:solidFill>
              </a:rPr>
              <a:t>47</a:t>
            </a:r>
            <a:r>
              <a:rPr lang="vi-VN" sz="2400" dirty="0">
                <a:solidFill>
                  <a:srgbClr val="FF0000"/>
                </a:solidFill>
              </a:rPr>
              <a:t>%</a:t>
            </a:r>
            <a:r>
              <a:rPr lang="vi-VN" sz="2400" dirty="0"/>
              <a:t> ước lượng ban đầu - </a:t>
            </a:r>
            <a:r>
              <a:rPr lang="vi-VN" sz="2400" b="1" dirty="0">
                <a:solidFill>
                  <a:srgbClr val="FF0000"/>
                </a:solidFill>
              </a:rPr>
              <a:t>55</a:t>
            </a:r>
            <a:r>
              <a:rPr lang="vi-VN" sz="2400" dirty="0">
                <a:solidFill>
                  <a:srgbClr val="FF0000"/>
                </a:solidFill>
              </a:rPr>
              <a:t> tỷ</a:t>
            </a:r>
            <a:r>
              <a:rPr lang="vi-VN" sz="2400" dirty="0"/>
              <a:t> USD).</a:t>
            </a:r>
          </a:p>
          <a:p>
            <a:pPr algn="just"/>
            <a:endParaRPr lang="vi-VN" sz="1200" dirty="0"/>
          </a:p>
          <a:p>
            <a:pPr algn="just"/>
            <a:r>
              <a:rPr lang="vi-VN" sz="2400" dirty="0"/>
              <a:t>Gặp các vấn đề: hệ thống không tương thích, phản đối từ bác sĩ, tranh luận giữa các nhà thầu...</a:t>
            </a:r>
          </a:p>
          <a:p>
            <a:pPr algn="just"/>
            <a:endParaRPr lang="vi-VN" sz="1200" dirty="0"/>
          </a:p>
          <a:p>
            <a:pPr algn="just"/>
            <a:r>
              <a:rPr lang="vi-VN" sz="2400" dirty="0"/>
              <a:t>... đã hủy bỏ vào năm 2011.</a:t>
            </a:r>
          </a:p>
        </p:txBody>
      </p:sp>
      <p:sp>
        <p:nvSpPr>
          <p:cNvPr id="23554" name="Rectangle 2"/>
          <p:cNvSpPr>
            <a:spLocks noGrp="1" noChangeArrowheads="1"/>
          </p:cNvSpPr>
          <p:nvPr>
            <p:ph type="title"/>
          </p:nvPr>
        </p:nvSpPr>
        <p:spPr>
          <a:xfrm>
            <a:off x="381000" y="457200"/>
            <a:ext cx="8305800" cy="563562"/>
          </a:xfrm>
        </p:spPr>
        <p:txBody>
          <a:bodyPr>
            <a:noAutofit/>
          </a:bodyPr>
          <a:lstStyle/>
          <a:p>
            <a:pPr algn="ctr"/>
            <a:r>
              <a:rPr lang="en-US" sz="3600" dirty="0"/>
              <a:t>Tin học </a:t>
            </a:r>
            <a:r>
              <a:rPr lang="en-US" sz="3600" dirty="0" err="1"/>
              <a:t>hóa</a:t>
            </a:r>
            <a:r>
              <a:rPr lang="en-US" sz="3600" dirty="0"/>
              <a:t> y tế ở Anh</a:t>
            </a:r>
          </a:p>
        </p:txBody>
      </p:sp>
      <p:sp>
        <p:nvSpPr>
          <p:cNvPr id="23556"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40F2F13C-0A62-464E-8548-D708B7A5039E}" type="slidenum">
              <a:rPr lang="en-US" smtClean="0"/>
              <a:pPr>
                <a:defRPr/>
              </a:pPr>
              <a:t>8</a:t>
            </a:fld>
            <a:endParaRPr lang="en-US" dirty="0"/>
          </a:p>
        </p:txBody>
      </p:sp>
      <p:pic>
        <p:nvPicPr>
          <p:cNvPr id="1026" name="Picture 2" descr="http://downtrend.com/wp-content/uploads/2014/12/NHS_cartoon_graham_syringe_help_patricia_hewit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419600"/>
            <a:ext cx="3011177" cy="1752600"/>
          </a:xfrm>
          <a:prstGeom prst="rect">
            <a:avLst/>
          </a:prstGeom>
          <a:noFill/>
          <a:effectLst>
            <a:outerShdw blurRad="50800" dist="50800" dir="5400000" algn="ctr" rotWithShape="0">
              <a:schemeClr val="tx1"/>
            </a:outerShdw>
          </a:effectLst>
          <a:extLst>
            <a:ext uri="{909E8E84-426E-40DD-AFC4-6F175D3DCCD1}">
              <a14:hiddenFill xmlns:a14="http://schemas.microsoft.com/office/drawing/2010/main">
                <a:solidFill>
                  <a:srgbClr val="FFFFFF"/>
                </a:solidFill>
              </a14:hiddenFill>
            </a:ext>
          </a:extLst>
        </p:spPr>
      </p:pic>
      <p:pic>
        <p:nvPicPr>
          <p:cNvPr id="7" name="Picture 6" descr="transparent fail red word failure"/>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13142" y="685800"/>
            <a:ext cx="1530858" cy="103611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81000" y="5334000"/>
            <a:ext cx="3672865" cy="369332"/>
          </a:xfrm>
          <a:prstGeom prst="rect">
            <a:avLst/>
          </a:prstGeom>
        </p:spPr>
        <p:txBody>
          <a:bodyPr wrap="none">
            <a:spAutoFit/>
          </a:bodyPr>
          <a:lstStyle/>
          <a:p>
            <a:r>
              <a:rPr lang="vi-VN" sz="1800" dirty="0"/>
              <a:t>* NHS: National Health Service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02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3555">
                                            <p:txEl>
                                              <p:pRg st="4" end="4"/>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85800" y="1752600"/>
            <a:ext cx="7620000" cy="3733799"/>
          </a:xfrm>
        </p:spPr>
        <p:txBody>
          <a:bodyPr/>
          <a:lstStyle/>
          <a:p>
            <a:pPr algn="just"/>
            <a:r>
              <a:rPr lang="vi-VN" b="1" dirty="0"/>
              <a:t>Chi phí </a:t>
            </a:r>
            <a:r>
              <a:rPr lang="vi-VN" dirty="0"/>
              <a:t>(</a:t>
            </a:r>
            <a:r>
              <a:rPr lang="vi-VN" dirty="0">
                <a:solidFill>
                  <a:srgbClr val="0070C0"/>
                </a:solidFill>
              </a:rPr>
              <a:t>cost</a:t>
            </a:r>
            <a:r>
              <a:rPr lang="vi-VN" dirty="0"/>
              <a:t>): tài nguyên được tính trước để đạt được mục tiêu hay để trao đổi cái gì đó.</a:t>
            </a:r>
          </a:p>
          <a:p>
            <a:pPr lvl="1" algn="just">
              <a:spcBef>
                <a:spcPts val="600"/>
              </a:spcBef>
              <a:buFont typeface="Arial" panose="020B0604020202020204" pitchFamily="34" charset="0"/>
              <a:buChar char="•"/>
            </a:pPr>
            <a:r>
              <a:rPr lang="vi-VN" sz="2400" dirty="0"/>
              <a:t>Đo bằng đơn vị tiền tệ (v.d., USD, VND...). </a:t>
            </a:r>
            <a:endParaRPr lang="vi-VN" dirty="0"/>
          </a:p>
          <a:p>
            <a:pPr lvl="1" algn="just"/>
            <a:endParaRPr lang="vi-VN" sz="1200" dirty="0"/>
          </a:p>
          <a:p>
            <a:pPr algn="just"/>
            <a:r>
              <a:rPr lang="vi-VN" b="1" dirty="0"/>
              <a:t>Quản lý chi phí dự án </a:t>
            </a:r>
            <a:r>
              <a:rPr lang="vi-VN" dirty="0"/>
              <a:t>(</a:t>
            </a:r>
            <a:r>
              <a:rPr lang="vi-VN" dirty="0">
                <a:solidFill>
                  <a:srgbClr val="0070C0"/>
                </a:solidFill>
              </a:rPr>
              <a:t>project cost management</a:t>
            </a:r>
            <a:r>
              <a:rPr lang="vi-VN" dirty="0"/>
              <a:t>): các thủ tục - quy trình để đảm bảo dự án được hoàn thành trong ngân sách được duyệt.</a:t>
            </a:r>
            <a:endParaRPr lang="en-US" dirty="0"/>
          </a:p>
        </p:txBody>
      </p:sp>
      <p:sp>
        <p:nvSpPr>
          <p:cNvPr id="24578" name="Rectangle 2"/>
          <p:cNvSpPr>
            <a:spLocks noGrp="1" noChangeArrowheads="1"/>
          </p:cNvSpPr>
          <p:nvPr>
            <p:ph type="title"/>
          </p:nvPr>
        </p:nvSpPr>
        <p:spPr>
          <a:xfrm>
            <a:off x="228600" y="304800"/>
            <a:ext cx="8763000" cy="1143000"/>
          </a:xfrm>
        </p:spPr>
        <p:txBody>
          <a:bodyPr>
            <a:normAutofit/>
          </a:bodyPr>
          <a:lstStyle/>
          <a:p>
            <a:pPr algn="ctr"/>
            <a:r>
              <a:rPr lang="en-US" sz="4000" dirty="0">
                <a:solidFill>
                  <a:srgbClr val="0070C0"/>
                </a:solidFill>
              </a:rPr>
              <a:t>Chi </a:t>
            </a:r>
            <a:r>
              <a:rPr lang="en-US" sz="4000" dirty="0" err="1">
                <a:solidFill>
                  <a:srgbClr val="0070C0"/>
                </a:solidFill>
              </a:rPr>
              <a:t>phí</a:t>
            </a:r>
            <a:r>
              <a:rPr lang="en-US" sz="4000" dirty="0">
                <a:solidFill>
                  <a:srgbClr val="0070C0"/>
                </a:solidFill>
              </a:rPr>
              <a:t> - Quản lý chi </a:t>
            </a:r>
            <a:r>
              <a:rPr lang="en-US" sz="4000" dirty="0" err="1">
                <a:solidFill>
                  <a:srgbClr val="0070C0"/>
                </a:solidFill>
              </a:rPr>
              <a:t>phí</a:t>
            </a:r>
            <a:r>
              <a:rPr lang="en-US" sz="4000" dirty="0">
                <a:solidFill>
                  <a:srgbClr val="0070C0"/>
                </a:solidFill>
              </a:rPr>
              <a:t> </a:t>
            </a:r>
            <a:r>
              <a:rPr lang="en-US" sz="4000" dirty="0" err="1">
                <a:solidFill>
                  <a:srgbClr val="0070C0"/>
                </a:solidFill>
              </a:rPr>
              <a:t>dự</a:t>
            </a:r>
            <a:r>
              <a:rPr lang="en-US" sz="4000" dirty="0">
                <a:solidFill>
                  <a:srgbClr val="0070C0"/>
                </a:solidFill>
              </a:rPr>
              <a:t> </a:t>
            </a:r>
            <a:r>
              <a:rPr lang="en-US" sz="4000" dirty="0" err="1">
                <a:solidFill>
                  <a:srgbClr val="0070C0"/>
                </a:solidFill>
              </a:rPr>
              <a:t>án</a:t>
            </a:r>
            <a:endParaRPr lang="en-US" sz="4000" dirty="0">
              <a:solidFill>
                <a:srgbClr val="0070C0"/>
              </a:solidFill>
            </a:endParaRPr>
          </a:p>
        </p:txBody>
      </p:sp>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28599" y="1143000"/>
            <a:ext cx="8737665" cy="4648200"/>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10</a:t>
            </a:fld>
            <a:endParaRPr lang="en-US" dirty="0"/>
          </a:p>
        </p:txBody>
      </p:sp>
      <p:sp>
        <p:nvSpPr>
          <p:cNvPr id="6" name="Rectangle 2"/>
          <p:cNvSpPr>
            <a:spLocks noGrp="1" noChangeArrowheads="1"/>
          </p:cNvSpPr>
          <p:nvPr>
            <p:ph type="title"/>
          </p:nvPr>
        </p:nvSpPr>
        <p:spPr>
          <a:xfrm>
            <a:off x="304800" y="228600"/>
            <a:ext cx="8534400" cy="685800"/>
          </a:xfrm>
        </p:spPr>
        <p:txBody>
          <a:bodyPr>
            <a:noAutofit/>
          </a:bodyPr>
          <a:lstStyle/>
          <a:p>
            <a:pPr algn="ctr"/>
            <a:r>
              <a:rPr lang="vi-VN" sz="3600" dirty="0">
                <a:solidFill>
                  <a:schemeClr val="bg1">
                    <a:lumMod val="65000"/>
                  </a:schemeClr>
                </a:solidFill>
              </a:rPr>
              <a:t>Tương tác trong dự án [chi phí]</a:t>
            </a:r>
            <a:endParaRPr lang="en-US" sz="3600" dirty="0">
              <a:solidFill>
                <a:schemeClr val="bg1">
                  <a:lumMod val="65000"/>
                </a:schemeClr>
              </a:solidFill>
            </a:endParaRPr>
          </a:p>
        </p:txBody>
      </p:sp>
      <p:sp>
        <p:nvSpPr>
          <p:cNvPr id="7" name="Rounded Rectangle 6"/>
          <p:cNvSpPr/>
          <p:nvPr/>
        </p:nvSpPr>
        <p:spPr>
          <a:xfrm>
            <a:off x="2362200" y="1627496"/>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4952682" y="6107668"/>
            <a:ext cx="2133918" cy="369332"/>
          </a:xfrm>
          <a:prstGeom prst="rect">
            <a:avLst/>
          </a:prstGeom>
        </p:spPr>
        <p:txBody>
          <a:bodyPr wrap="none">
            <a:spAutoFit/>
          </a:bodyPr>
          <a:lstStyle/>
          <a:p>
            <a:r>
              <a:rPr lang="vi-VN" sz="1800" dirty="0"/>
              <a:t>Nguồn: PMI</a:t>
            </a:r>
            <a:r>
              <a:rPr lang="vi-VN" sz="1800" dirty="0">
                <a:effectLst>
                  <a:outerShdw blurRad="38100" dist="38100" dir="2700000" algn="tl">
                    <a:srgbClr val="000000">
                      <a:alpha val="43137"/>
                    </a:srgbClr>
                  </a:outerShdw>
                </a:effectLst>
              </a:rPr>
              <a:t> </a:t>
            </a:r>
            <a:r>
              <a:rPr lang="vi-VN" sz="1800" dirty="0"/>
              <a:t>(2013)</a:t>
            </a:r>
          </a:p>
        </p:txBody>
      </p:sp>
      <p:sp>
        <p:nvSpPr>
          <p:cNvPr id="8" name="Rounded Rectangle 7"/>
          <p:cNvSpPr/>
          <p:nvPr/>
        </p:nvSpPr>
        <p:spPr>
          <a:xfrm>
            <a:off x="5826456" y="1592240"/>
            <a:ext cx="1295400" cy="685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1207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11</a:t>
            </a:fld>
            <a:endParaRPr lang="en-US" dirty="0"/>
          </a:p>
        </p:txBody>
      </p:sp>
      <p:sp>
        <p:nvSpPr>
          <p:cNvPr id="9" name="Title 1"/>
          <p:cNvSpPr>
            <a:spLocks noGrp="1"/>
          </p:cNvSpPr>
          <p:nvPr>
            <p:ph type="title"/>
          </p:nvPr>
        </p:nvSpPr>
        <p:spPr>
          <a:xfrm>
            <a:off x="381000" y="228600"/>
            <a:ext cx="8305800" cy="1143000"/>
          </a:xfrm>
        </p:spPr>
        <p:txBody>
          <a:bodyPr>
            <a:noAutofit/>
          </a:bodyPr>
          <a:lstStyle/>
          <a:p>
            <a:pPr algn="ctr" eaLnBrk="1" hangingPunct="1">
              <a:defRPr/>
            </a:pPr>
            <a:r>
              <a:rPr lang="en-US" sz="4000" dirty="0">
                <a:solidFill>
                  <a:srgbClr val="0070C0"/>
                </a:solidFill>
              </a:rPr>
              <a:t>Quản lý chi </a:t>
            </a:r>
            <a:r>
              <a:rPr lang="en-US" sz="4000" dirty="0" err="1">
                <a:solidFill>
                  <a:srgbClr val="0070C0"/>
                </a:solidFill>
              </a:rPr>
              <a:t>phí</a:t>
            </a:r>
            <a:r>
              <a:rPr lang="en-US" sz="4000" dirty="0">
                <a:solidFill>
                  <a:srgbClr val="0070C0"/>
                </a:solidFill>
              </a:rPr>
              <a:t> </a:t>
            </a:r>
            <a:r>
              <a:rPr lang="en-US" sz="4000" dirty="0" err="1">
                <a:solidFill>
                  <a:srgbClr val="0070C0"/>
                </a:solidFill>
              </a:rPr>
              <a:t>dự</a:t>
            </a:r>
            <a:r>
              <a:rPr lang="en-US" sz="4000" dirty="0">
                <a:solidFill>
                  <a:srgbClr val="0070C0"/>
                </a:solidFill>
              </a:rPr>
              <a:t> </a:t>
            </a:r>
            <a:r>
              <a:rPr lang="en-US" sz="4000" dirty="0" err="1">
                <a:solidFill>
                  <a:srgbClr val="0070C0"/>
                </a:solidFill>
              </a:rPr>
              <a:t>án</a:t>
            </a:r>
            <a:r>
              <a:rPr lang="en-US" sz="4000" dirty="0">
                <a:solidFill>
                  <a:srgbClr val="0070C0"/>
                </a:solidFill>
              </a:rPr>
              <a:t> [4]</a:t>
            </a:r>
          </a:p>
        </p:txBody>
      </p:sp>
      <p:pic>
        <p:nvPicPr>
          <p:cNvPr id="3" name="Picture 2"/>
          <p:cNvPicPr>
            <a:picLocks noChangeAspect="1"/>
          </p:cNvPicPr>
          <p:nvPr/>
        </p:nvPicPr>
        <p:blipFill>
          <a:blip r:embed="rId2"/>
          <a:stretch>
            <a:fillRect/>
          </a:stretch>
        </p:blipFill>
        <p:spPr>
          <a:xfrm>
            <a:off x="38100" y="1419225"/>
            <a:ext cx="9067800" cy="4019550"/>
          </a:xfrm>
          <a:prstGeom prst="rect">
            <a:avLst/>
          </a:prstGeom>
        </p:spPr>
      </p:pic>
    </p:spTree>
    <p:extLst>
      <p:ext uri="{BB962C8B-B14F-4D97-AF65-F5344CB8AC3E}">
        <p14:creationId xmlns:p14="http://schemas.microsoft.com/office/powerpoint/2010/main" val="241643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1457325"/>
            <a:ext cx="8610600" cy="4791075"/>
          </a:xfrm>
        </p:spPr>
        <p:txBody>
          <a:bodyPr/>
          <a:lstStyle/>
          <a:p>
            <a:pPr algn="just"/>
            <a:r>
              <a:rPr lang="vi-VN" b="1" dirty="0"/>
              <a:t>Kế hoạch quản lý chi phí </a:t>
            </a:r>
            <a:r>
              <a:rPr lang="vi-VN" dirty="0"/>
              <a:t>(</a:t>
            </a:r>
            <a:r>
              <a:rPr lang="en-US" dirty="0">
                <a:solidFill>
                  <a:srgbClr val="0070C0"/>
                </a:solidFill>
              </a:rPr>
              <a:t>plan cost management</a:t>
            </a:r>
            <a:r>
              <a:rPr lang="vi-VN" dirty="0"/>
              <a:t>): xác định chính sách - thủ tục liên quan đến chi phí.</a:t>
            </a:r>
          </a:p>
          <a:p>
            <a:pPr algn="just"/>
            <a:endParaRPr lang="en-US" sz="1200" dirty="0"/>
          </a:p>
          <a:p>
            <a:pPr algn="just"/>
            <a:r>
              <a:rPr lang="vi-VN" b="1" dirty="0"/>
              <a:t>Ước lượng chi phí</a:t>
            </a:r>
            <a:r>
              <a:rPr lang="vi-VN" dirty="0"/>
              <a:t> (</a:t>
            </a:r>
            <a:r>
              <a:rPr lang="en-US" dirty="0">
                <a:solidFill>
                  <a:srgbClr val="0070C0"/>
                </a:solidFill>
              </a:rPr>
              <a:t>estimate cost</a:t>
            </a:r>
            <a:r>
              <a:rPr lang="vi-VN" dirty="0"/>
              <a:t>): ước lượng chi phí của nguồn lực cần thiết để hoàn thành dự án.</a:t>
            </a:r>
          </a:p>
          <a:p>
            <a:pPr algn="just"/>
            <a:endParaRPr lang="en-US" sz="1200" dirty="0"/>
          </a:p>
          <a:p>
            <a:pPr algn="just"/>
            <a:r>
              <a:rPr lang="vi-VN" b="1" dirty="0"/>
              <a:t>Xác định ngân sách</a:t>
            </a:r>
            <a:r>
              <a:rPr lang="vi-VN" dirty="0"/>
              <a:t> (</a:t>
            </a:r>
            <a:r>
              <a:rPr lang="en-US" dirty="0">
                <a:solidFill>
                  <a:srgbClr val="0070C0"/>
                </a:solidFill>
              </a:rPr>
              <a:t>determine budget</a:t>
            </a:r>
            <a:r>
              <a:rPr lang="vi-VN" dirty="0"/>
              <a:t>): phân bổ chi phí cho các hạng mục công việc - đường cơ sở.</a:t>
            </a:r>
          </a:p>
          <a:p>
            <a:pPr algn="just"/>
            <a:endParaRPr lang="vi-VN" sz="1200" dirty="0"/>
          </a:p>
          <a:p>
            <a:pPr algn="just"/>
            <a:r>
              <a:rPr lang="vi-VN" b="1" dirty="0"/>
              <a:t>Kiểm soát chi phí </a:t>
            </a:r>
            <a:r>
              <a:rPr lang="vi-VN" dirty="0"/>
              <a:t>(</a:t>
            </a:r>
            <a:r>
              <a:rPr lang="en-US" dirty="0">
                <a:solidFill>
                  <a:srgbClr val="0070C0"/>
                </a:solidFill>
              </a:rPr>
              <a:t>control cost</a:t>
            </a:r>
            <a:r>
              <a:rPr lang="vi-VN" dirty="0"/>
              <a:t>): kiểm soát sự thay đổi ngân sách dự án.</a:t>
            </a:r>
            <a:endParaRPr lang="en-US" dirty="0"/>
          </a:p>
          <a:p>
            <a:pPr marL="109537" indent="0" algn="just">
              <a:buNone/>
            </a:pPr>
            <a:endParaRPr lang="en-US" dirty="0"/>
          </a:p>
        </p:txBody>
      </p:sp>
      <p:sp>
        <p:nvSpPr>
          <p:cNvPr id="25602" name="Rectangle 2"/>
          <p:cNvSpPr>
            <a:spLocks noGrp="1" noChangeArrowheads="1"/>
          </p:cNvSpPr>
          <p:nvPr>
            <p:ph type="title"/>
          </p:nvPr>
        </p:nvSpPr>
        <p:spPr>
          <a:xfrm>
            <a:off x="0" y="228600"/>
            <a:ext cx="9144000" cy="1066800"/>
          </a:xfrm>
        </p:spPr>
        <p:txBody>
          <a:bodyPr>
            <a:normAutofit/>
          </a:bodyPr>
          <a:lstStyle/>
          <a:p>
            <a:pPr algn="ctr"/>
            <a:r>
              <a:rPr lang="en-US" sz="4000" dirty="0" err="1"/>
              <a:t>Quy</a:t>
            </a:r>
            <a:r>
              <a:rPr lang="en-US" sz="4000" dirty="0"/>
              <a:t> </a:t>
            </a:r>
            <a:r>
              <a:rPr lang="en-US" sz="4000" dirty="0" err="1"/>
              <a:t>trình</a:t>
            </a:r>
            <a:r>
              <a:rPr lang="en-US" sz="4000" dirty="0"/>
              <a:t> quản lý chi </a:t>
            </a:r>
            <a:r>
              <a:rPr lang="en-US" sz="4000" dirty="0" err="1"/>
              <a:t>phí</a:t>
            </a:r>
            <a:endParaRPr lang="en-US" sz="4000" dirty="0"/>
          </a:p>
        </p:txBody>
      </p:sp>
      <p:sp>
        <p:nvSpPr>
          <p:cNvPr id="2560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35F33156-7E51-4046-8495-B80FBCA18804}"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1219200"/>
            <a:ext cx="9144000" cy="5638800"/>
          </a:xfrm>
          <a:prstGeom prst="rect">
            <a:avLst/>
          </a:prstGeom>
        </p:spPr>
      </p:pic>
      <p:sp>
        <p:nvSpPr>
          <p:cNvPr id="26626" name="Title 1"/>
          <p:cNvSpPr>
            <a:spLocks noGrp="1"/>
          </p:cNvSpPr>
          <p:nvPr>
            <p:ph type="title"/>
          </p:nvPr>
        </p:nvSpPr>
        <p:spPr>
          <a:xfrm>
            <a:off x="457200" y="0"/>
            <a:ext cx="8229600" cy="1143000"/>
          </a:xfrm>
        </p:spPr>
        <p:txBody>
          <a:bodyPr>
            <a:normAutofit/>
          </a:bodyPr>
          <a:lstStyle/>
          <a:p>
            <a:pPr algn="ctr"/>
            <a:r>
              <a:rPr lang="en-US" sz="3600" dirty="0" err="1">
                <a:hlinkClick r:id="rId3" action="ppaction://hlinkpres?slideindex=1&amp;slidetitle="/>
              </a:rPr>
              <a:t>Tóm</a:t>
            </a:r>
            <a:r>
              <a:rPr lang="en-US" sz="3600" dirty="0">
                <a:hlinkClick r:id="rId3" action="ppaction://hlinkpres?slideindex=1&amp;slidetitle="/>
              </a:rPr>
              <a:t> </a:t>
            </a:r>
            <a:r>
              <a:rPr lang="en-US" sz="3600" dirty="0" err="1">
                <a:hlinkClick r:id="rId3" action="ppaction://hlinkpres?slideindex=1&amp;slidetitle="/>
              </a:rPr>
              <a:t>tắt</a:t>
            </a:r>
            <a:r>
              <a:rPr lang="en-US" sz="3600" dirty="0"/>
              <a:t> </a:t>
            </a:r>
            <a:r>
              <a:rPr lang="en-US" sz="3600" dirty="0">
                <a:hlinkClick r:id="rId4" action="ppaction://hlinkpres?slideindex=1&amp;slidetitle="/>
              </a:rPr>
              <a:t>quản lý chí </a:t>
            </a:r>
            <a:r>
              <a:rPr lang="en-US" sz="3600" dirty="0" err="1">
                <a:hlinkClick r:id="rId4" action="ppaction://hlinkpres?slideindex=1&amp;slidetitle="/>
              </a:rPr>
              <a:t>phí</a:t>
            </a:r>
            <a:r>
              <a:rPr lang="en-US" sz="3600" dirty="0">
                <a:hlinkClick r:id="rId4" action="ppaction://hlinkpres?slideindex=1&amp;slidetitle="/>
              </a:rPr>
              <a:t> </a:t>
            </a:r>
            <a:r>
              <a:rPr lang="en-US" sz="3600" dirty="0" err="1">
                <a:hlinkClick r:id="rId4" action="ppaction://hlinkpres?slideindex=1&amp;slidetitle="/>
              </a:rPr>
              <a:t>dự</a:t>
            </a:r>
            <a:r>
              <a:rPr lang="en-US" sz="3600" dirty="0">
                <a:hlinkClick r:id="rId4" action="ppaction://hlinkpres?slideindex=1&amp;slidetitle="/>
              </a:rPr>
              <a:t> </a:t>
            </a:r>
            <a:r>
              <a:rPr lang="en-US" sz="3600" dirty="0" err="1">
                <a:hlinkClick r:id="rId4" action="ppaction://hlinkpres?slideindex=1&amp;slidetitle="/>
              </a:rPr>
              <a:t>án</a:t>
            </a:r>
            <a:endParaRPr lang="en-US" sz="3600" dirty="0"/>
          </a:p>
        </p:txBody>
      </p:sp>
      <p:cxnSp>
        <p:nvCxnSpPr>
          <p:cNvPr id="7" name="Straight Connector 6"/>
          <p:cNvCxnSpPr/>
          <p:nvPr/>
        </p:nvCxnSpPr>
        <p:spPr>
          <a:xfrm>
            <a:off x="1676400" y="1982491"/>
            <a:ext cx="2286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47451" y="2555544"/>
            <a:ext cx="15613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76400" y="3352800"/>
            <a:ext cx="19812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09800" y="4661848"/>
            <a:ext cx="141942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50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50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50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nodeType="afterEffect">
                                  <p:stCondLst>
                                    <p:cond delay="50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609600" y="1828800"/>
            <a:ext cx="8077200" cy="3962400"/>
          </a:xfrm>
        </p:spPr>
        <p:txBody>
          <a:bodyPr/>
          <a:lstStyle/>
          <a:p>
            <a:pPr algn="just"/>
            <a:r>
              <a:rPr lang="vi-VN" dirty="0"/>
              <a:t>Ban điều hành quan tâm đến tài chính nhiều hơn HTTT, nên người QLDA phải hiểu được:</a:t>
            </a:r>
            <a:endParaRPr lang="en-US" dirty="0"/>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Lợi nhuận </a:t>
            </a:r>
            <a:r>
              <a:rPr lang="vi-VN" sz="2400" dirty="0"/>
              <a:t>(</a:t>
            </a:r>
            <a:r>
              <a:rPr lang="en-US" sz="2400" dirty="0">
                <a:solidFill>
                  <a:srgbClr val="0070C0"/>
                </a:solidFill>
              </a:rPr>
              <a:t>profit</a:t>
            </a:r>
            <a:r>
              <a:rPr lang="vi-VN" sz="2400" dirty="0"/>
              <a:t>)</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Lợi nhuận biên </a:t>
            </a:r>
            <a:r>
              <a:rPr lang="vi-VN" sz="2400" dirty="0"/>
              <a:t>(</a:t>
            </a:r>
            <a:r>
              <a:rPr lang="en-US" sz="2400" dirty="0">
                <a:solidFill>
                  <a:srgbClr val="0070C0"/>
                </a:solidFill>
              </a:rPr>
              <a:t>profit margin</a:t>
            </a:r>
            <a:r>
              <a:rPr lang="vi-VN" sz="2400" dirty="0"/>
              <a:t>)</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Vòng đời chi phí </a:t>
            </a:r>
            <a:r>
              <a:rPr lang="vi-VN" sz="2400" dirty="0"/>
              <a:t>(</a:t>
            </a:r>
            <a:r>
              <a:rPr lang="en-US" sz="2400" dirty="0">
                <a:solidFill>
                  <a:srgbClr val="0070C0"/>
                </a:solidFill>
              </a:rPr>
              <a:t>life cycle cost</a:t>
            </a:r>
            <a:r>
              <a:rPr lang="vi-VN" sz="2400" dirty="0"/>
              <a:t>)</a:t>
            </a:r>
          </a:p>
          <a:p>
            <a:pPr lvl="1" algn="just">
              <a:spcBef>
                <a:spcPts val="600"/>
              </a:spcBef>
              <a:spcAft>
                <a:spcPts val="600"/>
              </a:spcAft>
              <a:buFont typeface="Arial" panose="020B0604020202020204" pitchFamily="34" charset="0"/>
              <a:buChar char="•"/>
            </a:pPr>
            <a:r>
              <a:rPr lang="vi-VN" sz="2400" dirty="0">
                <a:effectLst>
                  <a:outerShdw blurRad="38100" dist="38100" dir="2700000" algn="tl">
                    <a:srgbClr val="000000">
                      <a:alpha val="43137"/>
                    </a:srgbClr>
                  </a:outerShdw>
                </a:effectLst>
              </a:rPr>
              <a:t>Phân tích dòng tiền </a:t>
            </a:r>
            <a:r>
              <a:rPr lang="vi-VN" sz="2400" dirty="0"/>
              <a:t>(</a:t>
            </a:r>
            <a:r>
              <a:rPr lang="en-US" sz="2400" dirty="0">
                <a:solidFill>
                  <a:srgbClr val="0070C0"/>
                </a:solidFill>
              </a:rPr>
              <a:t>cash flow analysis</a:t>
            </a:r>
            <a:r>
              <a:rPr lang="vi-VN" sz="2400" dirty="0"/>
              <a:t>).</a:t>
            </a:r>
            <a:endParaRPr lang="en-US" sz="2400" dirty="0"/>
          </a:p>
        </p:txBody>
      </p:sp>
      <p:sp>
        <p:nvSpPr>
          <p:cNvPr id="27650" name="Rectangle 2"/>
          <p:cNvSpPr>
            <a:spLocks noGrp="1" noChangeArrowheads="1"/>
          </p:cNvSpPr>
          <p:nvPr>
            <p:ph type="title"/>
          </p:nvPr>
        </p:nvSpPr>
        <p:spPr>
          <a:xfrm>
            <a:off x="152400" y="274638"/>
            <a:ext cx="8839200" cy="1143000"/>
          </a:xfrm>
        </p:spPr>
        <p:txBody>
          <a:bodyPr>
            <a:noAutofit/>
          </a:bodyPr>
          <a:lstStyle/>
          <a:p>
            <a:pPr algn="ctr"/>
            <a:r>
              <a:rPr lang="en-US" sz="4000" dirty="0" err="1"/>
              <a:t>Nguyên</a:t>
            </a:r>
            <a:r>
              <a:rPr lang="en-US" sz="4000" dirty="0"/>
              <a:t> </a:t>
            </a:r>
            <a:r>
              <a:rPr lang="en-US" sz="4000" dirty="0" err="1"/>
              <a:t>tắc</a:t>
            </a:r>
            <a:r>
              <a:rPr lang="en-US" sz="4000" dirty="0"/>
              <a:t> quản lý chi </a:t>
            </a:r>
            <a:r>
              <a:rPr lang="en-US" sz="4000" dirty="0" err="1"/>
              <a:t>phí</a:t>
            </a:r>
            <a:endParaRPr lang="en-US" sz="4000" dirty="0"/>
          </a:p>
        </p:txBody>
      </p:sp>
      <p:sp>
        <p:nvSpPr>
          <p:cNvPr id="2765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57DC5289-8C18-4B08-95ED-9153050721CB}"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1143000"/>
          </a:xfrm>
        </p:spPr>
        <p:txBody>
          <a:bodyPr>
            <a:normAutofit/>
          </a:bodyPr>
          <a:lstStyle/>
          <a:p>
            <a:pPr algn="ctr"/>
            <a:r>
              <a:rPr lang="en-US" sz="3600" dirty="0"/>
              <a:t>Chi </a:t>
            </a:r>
            <a:r>
              <a:rPr lang="en-US" sz="3600" dirty="0" err="1"/>
              <a:t>phí</a:t>
            </a:r>
            <a:r>
              <a:rPr lang="en-US" sz="3600" dirty="0"/>
              <a:t> </a:t>
            </a:r>
            <a:r>
              <a:rPr lang="en-US" sz="3600" dirty="0" err="1"/>
              <a:t>của</a:t>
            </a:r>
            <a:r>
              <a:rPr lang="en-US" sz="3600" dirty="0"/>
              <a:t> </a:t>
            </a:r>
            <a:r>
              <a:rPr lang="en-US" sz="3600" dirty="0" err="1"/>
              <a:t>các</a:t>
            </a:r>
            <a:r>
              <a:rPr lang="en-US" sz="3600" dirty="0"/>
              <a:t> </a:t>
            </a:r>
            <a:r>
              <a:rPr lang="en-US" sz="3600" dirty="0" err="1"/>
              <a:t>ứng</a:t>
            </a:r>
            <a:r>
              <a:rPr lang="en-US" sz="3600" dirty="0"/>
              <a:t> </a:t>
            </a:r>
            <a:r>
              <a:rPr lang="en-US" sz="3600" dirty="0" err="1"/>
              <a:t>dụng</a:t>
            </a:r>
            <a:r>
              <a:rPr lang="en-US" sz="3600" dirty="0"/>
              <a:t> CNTT</a:t>
            </a:r>
          </a:p>
        </p:txBody>
      </p:sp>
      <p:sp>
        <p:nvSpPr>
          <p:cNvPr id="28676" name="Footer Placeholder 8"/>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buFontTx/>
              <a:buNone/>
              <a:defRPr/>
            </a:pPr>
            <a:fld id="{26BDD15F-29A1-423B-B1F6-11DB27389FE1}" type="slidenum">
              <a:rPr lang="en-US" smtClean="0"/>
              <a:pPr>
                <a:buFontTx/>
                <a:buNone/>
                <a:defRPr/>
              </a:pPr>
              <a:t>15</a:t>
            </a:fld>
            <a:endParaRPr lang="en-US" dirty="0"/>
          </a:p>
        </p:txBody>
      </p:sp>
      <p:sp>
        <p:nvSpPr>
          <p:cNvPr id="2" name="TextBox 1"/>
          <p:cNvSpPr txBox="1"/>
          <p:nvPr/>
        </p:nvSpPr>
        <p:spPr>
          <a:xfrm>
            <a:off x="3693626" y="6172200"/>
            <a:ext cx="4764574" cy="338554"/>
          </a:xfrm>
          <a:prstGeom prst="rect">
            <a:avLst/>
          </a:prstGeom>
          <a:noFill/>
        </p:spPr>
        <p:txBody>
          <a:bodyPr wrap="none" rtlCol="0">
            <a:spAutoFit/>
          </a:bodyPr>
          <a:lstStyle/>
          <a:p>
            <a:r>
              <a:rPr lang="en-US" sz="1600" dirty="0"/>
              <a:t>* The Standish Group, “Trends in IT Value” (2008).</a:t>
            </a:r>
          </a:p>
        </p:txBody>
      </p:sp>
      <p:pic>
        <p:nvPicPr>
          <p:cNvPr id="3" name="Picture 2"/>
          <p:cNvPicPr>
            <a:picLocks noChangeAspect="1"/>
          </p:cNvPicPr>
          <p:nvPr/>
        </p:nvPicPr>
        <p:blipFill>
          <a:blip r:embed="rId2"/>
          <a:stretch>
            <a:fillRect/>
          </a:stretch>
        </p:blipFill>
        <p:spPr>
          <a:xfrm>
            <a:off x="838200" y="1219200"/>
            <a:ext cx="7467600" cy="4800600"/>
          </a:xfrm>
          <a:prstGeom prst="rect">
            <a:avLst/>
          </a:prstGeom>
        </p:spPr>
      </p:pic>
    </p:spTree>
    <p:extLst>
      <p:ext uri="{BB962C8B-B14F-4D97-AF65-F5344CB8AC3E}">
        <p14:creationId xmlns:p14="http://schemas.microsoft.com/office/powerpoint/2010/main" val="952959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1"/>
          </p:nvPr>
        </p:nvSpPr>
        <p:spPr>
          <a:xfrm>
            <a:off x="381000" y="1904999"/>
            <a:ext cx="6172200" cy="3047999"/>
          </a:xfrm>
          <a:solidFill>
            <a:schemeClr val="accent1">
              <a:lumMod val="40000"/>
              <a:lumOff val="60000"/>
            </a:schemeClr>
          </a:solidFill>
        </p:spPr>
        <p:txBody>
          <a:bodyPr/>
          <a:lstStyle/>
          <a:p>
            <a:pPr>
              <a:spcBef>
                <a:spcPts val="600"/>
              </a:spcBef>
              <a:spcAft>
                <a:spcPts val="600"/>
              </a:spcAft>
            </a:pPr>
            <a:r>
              <a:rPr lang="vi-VN" sz="2400" dirty="0"/>
              <a:t>Công nghệ phát triển làm giảm chi phí xử lý 1 giao dịch ATM:</a:t>
            </a:r>
          </a:p>
          <a:p>
            <a:pPr lvl="1">
              <a:spcBef>
                <a:spcPts val="600"/>
              </a:spcBef>
              <a:spcAft>
                <a:spcPts val="0"/>
              </a:spcAft>
              <a:buFont typeface="Arial" panose="020B0604020202020204" pitchFamily="34" charset="0"/>
              <a:buChar char="•"/>
            </a:pPr>
            <a:r>
              <a:rPr lang="vi-VN" sz="2200" dirty="0"/>
              <a:t>1968: 5 USD</a:t>
            </a:r>
          </a:p>
          <a:p>
            <a:pPr lvl="1">
              <a:spcBef>
                <a:spcPts val="600"/>
              </a:spcBef>
              <a:spcAft>
                <a:spcPts val="0"/>
              </a:spcAft>
              <a:buFont typeface="Arial" panose="020B0604020202020204" pitchFamily="34" charset="0"/>
              <a:buChar char="•"/>
            </a:pPr>
            <a:r>
              <a:rPr lang="vi-VN" sz="2200" dirty="0"/>
              <a:t>1978: 1,50 USD</a:t>
            </a:r>
          </a:p>
          <a:p>
            <a:pPr lvl="1">
              <a:spcBef>
                <a:spcPts val="600"/>
              </a:spcBef>
              <a:spcAft>
                <a:spcPts val="0"/>
              </a:spcAft>
              <a:buFont typeface="Arial" panose="020B0604020202020204" pitchFamily="34" charset="0"/>
              <a:buChar char="•"/>
            </a:pPr>
            <a:r>
              <a:rPr lang="vi-VN" sz="2200" dirty="0"/>
              <a:t>1998: 1 xu</a:t>
            </a:r>
          </a:p>
          <a:p>
            <a:pPr lvl="1">
              <a:spcBef>
                <a:spcPts val="600"/>
              </a:spcBef>
              <a:spcAft>
                <a:spcPts val="0"/>
              </a:spcAft>
              <a:buFont typeface="Arial" panose="020B0604020202020204" pitchFamily="34" charset="0"/>
              <a:buChar char="•"/>
            </a:pPr>
            <a:r>
              <a:rPr lang="vi-VN" sz="2200" dirty="0"/>
              <a:t>2008: </a:t>
            </a:r>
            <a:r>
              <a:rPr lang="vi-VN" sz="2200"/>
              <a:t>0,5 xu</a:t>
            </a:r>
            <a:endParaRPr lang="en-US" sz="2200"/>
          </a:p>
          <a:p>
            <a:pPr lvl="1">
              <a:spcBef>
                <a:spcPts val="600"/>
              </a:spcBef>
              <a:spcAft>
                <a:spcPts val="0"/>
              </a:spcAft>
              <a:buFont typeface="Arial" panose="020B0604020202020204" pitchFamily="34" charset="0"/>
              <a:buChar char="•"/>
            </a:pPr>
            <a:r>
              <a:rPr lang="vi-VN" sz="2200"/>
              <a:t>20</a:t>
            </a:r>
            <a:r>
              <a:rPr lang="en-US" sz="2200"/>
              <a:t>1</a:t>
            </a:r>
            <a:r>
              <a:rPr lang="vi-VN" sz="2200"/>
              <a:t>8: 0,</a:t>
            </a:r>
            <a:r>
              <a:rPr lang="en-US" sz="2200"/>
              <a:t>2</a:t>
            </a:r>
            <a:r>
              <a:rPr lang="vi-VN" sz="2200"/>
              <a:t> xu...</a:t>
            </a:r>
            <a:endParaRPr lang="en-US" sz="2200" dirty="0"/>
          </a:p>
        </p:txBody>
      </p:sp>
      <p:sp>
        <p:nvSpPr>
          <p:cNvPr id="29698" name="Title 1"/>
          <p:cNvSpPr>
            <a:spLocks noGrp="1"/>
          </p:cNvSpPr>
          <p:nvPr>
            <p:ph type="title"/>
          </p:nvPr>
        </p:nvSpPr>
        <p:spPr>
          <a:xfrm>
            <a:off x="457200" y="152400"/>
            <a:ext cx="8229600" cy="1143000"/>
          </a:xfrm>
        </p:spPr>
        <p:txBody>
          <a:bodyPr>
            <a:normAutofit/>
          </a:bodyPr>
          <a:lstStyle/>
          <a:p>
            <a:pPr algn="ctr"/>
            <a:r>
              <a:rPr lang="en-US" sz="3600" dirty="0"/>
              <a:t>Chí </a:t>
            </a:r>
            <a:r>
              <a:rPr lang="en-US" sz="3600" dirty="0" err="1"/>
              <a:t>phí</a:t>
            </a:r>
            <a:r>
              <a:rPr lang="en-US" sz="3600" dirty="0"/>
              <a:t> </a:t>
            </a:r>
            <a:r>
              <a:rPr lang="en-US" sz="3600" dirty="0" err="1"/>
              <a:t>giao</a:t>
            </a:r>
            <a:r>
              <a:rPr lang="en-US" sz="3600" dirty="0"/>
              <a:t> </a:t>
            </a:r>
            <a:r>
              <a:rPr lang="en-US" sz="3600" dirty="0" err="1"/>
              <a:t>dịch</a:t>
            </a:r>
            <a:r>
              <a:rPr lang="en-US" sz="3600" dirty="0"/>
              <a:t> ATM</a:t>
            </a:r>
          </a:p>
        </p:txBody>
      </p:sp>
      <p:sp>
        <p:nvSpPr>
          <p:cNvPr id="29700" name="Footer Placeholder 2"/>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3"/>
          <p:cNvSpPr>
            <a:spLocks noGrp="1"/>
          </p:cNvSpPr>
          <p:nvPr>
            <p:ph type="sldNum" sz="quarter" idx="11"/>
          </p:nvPr>
        </p:nvSpPr>
        <p:spPr/>
        <p:txBody>
          <a:bodyPr/>
          <a:lstStyle/>
          <a:p>
            <a:pPr>
              <a:defRPr/>
            </a:pPr>
            <a:fld id="{5EE58CD8-E280-47AC-BE24-C116B1FA11E0}" type="slidenum">
              <a:rPr lang="en-US" smtClean="0"/>
              <a:pPr>
                <a:defRPr/>
              </a:pPr>
              <a:t>16</a:t>
            </a:fld>
            <a:endParaRPr lang="en-US" dirty="0"/>
          </a:p>
        </p:txBody>
      </p:sp>
      <p:pic>
        <p:nvPicPr>
          <p:cNvPr id="6" name="Picture 5"/>
          <p:cNvPicPr>
            <a:picLocks noChangeAspect="1"/>
          </p:cNvPicPr>
          <p:nvPr/>
        </p:nvPicPr>
        <p:blipFill>
          <a:blip r:embed="rId2"/>
          <a:stretch>
            <a:fillRect/>
          </a:stretch>
        </p:blipFill>
        <p:spPr>
          <a:xfrm rot="20054377">
            <a:off x="6431011" y="1196469"/>
            <a:ext cx="1773205" cy="544500"/>
          </a:xfrm>
          <a:prstGeom prst="rect">
            <a:avLst/>
          </a:prstGeom>
        </p:spPr>
      </p:pic>
      <p:pic>
        <p:nvPicPr>
          <p:cNvPr id="1026" name="Picture 2" descr="http://media2.intoday.in/btmt/images/stories/April2011/atm_1224110612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429000"/>
            <a:ext cx="3851866"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31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500"/>
                                  </p:stCondLst>
                                  <p:childTnLst>
                                    <p:set>
                                      <p:cBhvr>
                                        <p:cTn id="13" dur="1" fill="hold">
                                          <p:stCondLst>
                                            <p:cond delay="0"/>
                                          </p:stCondLst>
                                        </p:cTn>
                                        <p:tgtEl>
                                          <p:spTgt spid="29699">
                                            <p:txEl>
                                              <p:pRg st="2" end="2"/>
                                            </p:txEl>
                                          </p:spTgt>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500"/>
                                  </p:stCondLst>
                                  <p:childTnLst>
                                    <p:set>
                                      <p:cBhvr>
                                        <p:cTn id="16" dur="1" fill="hold">
                                          <p:stCondLst>
                                            <p:cond delay="0"/>
                                          </p:stCondLst>
                                        </p:cTn>
                                        <p:tgtEl>
                                          <p:spTgt spid="29699">
                                            <p:txEl>
                                              <p:pRg st="3" end="3"/>
                                            </p:txEl>
                                          </p:spTgt>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500"/>
                                  </p:stCondLst>
                                  <p:childTnLst>
                                    <p:set>
                                      <p:cBhvr>
                                        <p:cTn id="19" dur="1" fill="hold">
                                          <p:stCondLst>
                                            <p:cond delay="0"/>
                                          </p:stCondLst>
                                        </p:cTn>
                                        <p:tgtEl>
                                          <p:spTgt spid="29699">
                                            <p:txEl>
                                              <p:pRg st="4" end="4"/>
                                            </p:txEl>
                                          </p:spTgt>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nodeType="afterEffect">
                                  <p:stCondLst>
                                    <p:cond delay="500"/>
                                  </p:stCondLst>
                                  <p:childTnLst>
                                    <p:set>
                                      <p:cBhvr>
                                        <p:cTn id="22" dur="1" fill="hold">
                                          <p:stCondLst>
                                            <p:cond delay="0"/>
                                          </p:stCondLst>
                                        </p:cTn>
                                        <p:tgtEl>
                                          <p:spTgt spid="29699">
                                            <p:txEl>
                                              <p:pRg st="5" end="5"/>
                                            </p:txEl>
                                          </p:spTgt>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1"/>
          </p:nvPr>
        </p:nvSpPr>
        <p:spPr>
          <a:xfrm>
            <a:off x="457200" y="1600200"/>
            <a:ext cx="6858000" cy="3200400"/>
          </a:xfrm>
          <a:solidFill>
            <a:schemeClr val="accent1">
              <a:lumMod val="40000"/>
              <a:lumOff val="60000"/>
            </a:schemeClr>
          </a:solidFill>
        </p:spPr>
        <p:txBody>
          <a:bodyPr/>
          <a:lstStyle/>
          <a:p>
            <a:pPr algn="just"/>
            <a:r>
              <a:rPr lang="vi-VN" sz="2400" dirty="0"/>
              <a:t>Công nghệ xanh đã giúp ích cho cả môi trường và công ty.</a:t>
            </a:r>
          </a:p>
          <a:p>
            <a:pPr algn="just"/>
            <a:endParaRPr lang="vi-VN" sz="1200" dirty="0"/>
          </a:p>
          <a:p>
            <a:pPr algn="just"/>
            <a:r>
              <a:rPr lang="vi-VN" sz="2400" dirty="0"/>
              <a:t>2008: đã đạt được mục tiêu “</a:t>
            </a:r>
            <a:r>
              <a:rPr lang="vi-VN" sz="2400" dirty="0">
                <a:solidFill>
                  <a:srgbClr val="0070C0"/>
                </a:solidFill>
              </a:rPr>
              <a:t>carbon</a:t>
            </a:r>
            <a:r>
              <a:rPr lang="en-US" sz="2400" dirty="0">
                <a:solidFill>
                  <a:srgbClr val="0070C0"/>
                </a:solidFill>
              </a:rPr>
              <a:t> neutral</a:t>
            </a:r>
            <a:r>
              <a:rPr lang="vi-VN" sz="2400" dirty="0"/>
              <a:t>”.</a:t>
            </a:r>
            <a:br>
              <a:rPr lang="vi-VN" sz="2400" dirty="0"/>
            </a:br>
            <a:endParaRPr lang="vi-VN" sz="1200" dirty="0"/>
          </a:p>
          <a:p>
            <a:pPr algn="just"/>
            <a:r>
              <a:rPr lang="vi-VN" sz="2400" dirty="0"/>
              <a:t>2012: đã tiết kiệm </a:t>
            </a:r>
            <a:r>
              <a:rPr lang="vi-VN" sz="2400" b="1" dirty="0">
                <a:solidFill>
                  <a:srgbClr val="FF0000"/>
                </a:solidFill>
              </a:rPr>
              <a:t>7</a:t>
            </a:r>
            <a:r>
              <a:rPr lang="vi-VN" sz="2400" dirty="0">
                <a:solidFill>
                  <a:srgbClr val="FF0000"/>
                </a:solidFill>
              </a:rPr>
              <a:t> tỷ </a:t>
            </a:r>
            <a:r>
              <a:rPr lang="vi-VN" sz="2400" dirty="0"/>
              <a:t>USD năng lượng.</a:t>
            </a:r>
          </a:p>
          <a:p>
            <a:pPr algn="just"/>
            <a:endParaRPr lang="vi-VN" sz="1200" dirty="0"/>
          </a:p>
          <a:p>
            <a:pPr algn="just"/>
            <a:r>
              <a:rPr lang="vi-VN" sz="2400" dirty="0"/>
              <a:t>2014: sẽ thu hồi </a:t>
            </a:r>
            <a:r>
              <a:rPr lang="vi-VN" sz="2400" b="1" dirty="0">
                <a:solidFill>
                  <a:srgbClr val="FF0000"/>
                </a:solidFill>
              </a:rPr>
              <a:t>3</a:t>
            </a:r>
            <a:r>
              <a:rPr lang="vi-VN" sz="2400" dirty="0">
                <a:solidFill>
                  <a:srgbClr val="FF0000"/>
                </a:solidFill>
              </a:rPr>
              <a:t> tỷ </a:t>
            </a:r>
            <a:r>
              <a:rPr lang="vi-VN" sz="2400" dirty="0"/>
              <a:t>USD thiết bị đã qua sử dụng </a:t>
            </a:r>
            <a:r>
              <a:rPr lang="vi-VN" sz="2400"/>
              <a:t>năm 2021.</a:t>
            </a:r>
            <a:endParaRPr lang="en-US" sz="2400" dirty="0"/>
          </a:p>
        </p:txBody>
      </p:sp>
      <p:sp>
        <p:nvSpPr>
          <p:cNvPr id="29698" name="Title 1"/>
          <p:cNvSpPr>
            <a:spLocks noGrp="1"/>
          </p:cNvSpPr>
          <p:nvPr>
            <p:ph type="title"/>
          </p:nvPr>
        </p:nvSpPr>
        <p:spPr>
          <a:xfrm>
            <a:off x="457200" y="152400"/>
            <a:ext cx="8229600" cy="1143000"/>
          </a:xfrm>
        </p:spPr>
        <p:txBody>
          <a:bodyPr>
            <a:normAutofit/>
          </a:bodyPr>
          <a:lstStyle/>
          <a:p>
            <a:pPr algn="ctr"/>
            <a:r>
              <a:rPr lang="en-US" sz="3600" dirty="0" err="1"/>
              <a:t>Công</a:t>
            </a:r>
            <a:r>
              <a:rPr lang="en-US" sz="3600" dirty="0"/>
              <a:t> </a:t>
            </a:r>
            <a:r>
              <a:rPr lang="en-US" sz="3600" dirty="0" err="1"/>
              <a:t>nghệ</a:t>
            </a:r>
            <a:r>
              <a:rPr lang="en-US" sz="3600" dirty="0"/>
              <a:t> </a:t>
            </a:r>
            <a:r>
              <a:rPr lang="en-US" sz="3600" dirty="0" err="1"/>
              <a:t>xanh</a:t>
            </a:r>
            <a:r>
              <a:rPr lang="en-US" sz="3600" dirty="0"/>
              <a:t> </a:t>
            </a:r>
            <a:r>
              <a:rPr lang="en-US" sz="3600" dirty="0" err="1"/>
              <a:t>của</a:t>
            </a:r>
            <a:r>
              <a:rPr lang="en-US" sz="3600" dirty="0"/>
              <a:t> Dell</a:t>
            </a:r>
          </a:p>
        </p:txBody>
      </p:sp>
      <p:sp>
        <p:nvSpPr>
          <p:cNvPr id="29700" name="Footer Placeholder 2"/>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3"/>
          <p:cNvSpPr>
            <a:spLocks noGrp="1"/>
          </p:cNvSpPr>
          <p:nvPr>
            <p:ph type="sldNum" sz="quarter" idx="11"/>
          </p:nvPr>
        </p:nvSpPr>
        <p:spPr/>
        <p:txBody>
          <a:bodyPr/>
          <a:lstStyle/>
          <a:p>
            <a:pPr>
              <a:defRPr/>
            </a:pPr>
            <a:fld id="{5EE58CD8-E280-47AC-BE24-C116B1FA11E0}" type="slidenum">
              <a:rPr lang="en-US" smtClean="0"/>
              <a:pPr>
                <a:defRPr/>
              </a:pPr>
              <a:t>17</a:t>
            </a:fld>
            <a:endParaRPr lang="en-US" dirty="0"/>
          </a:p>
        </p:txBody>
      </p:sp>
      <p:pic>
        <p:nvPicPr>
          <p:cNvPr id="2050" name="Picture 2" descr="http://theprintmedia.in/custom-img/Del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4419600"/>
            <a:ext cx="2237914" cy="22098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rot="20054377">
            <a:off x="7188183" y="891669"/>
            <a:ext cx="1773205" cy="544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05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9699">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457200" y="1219200"/>
            <a:ext cx="8305800" cy="5410200"/>
          </a:xfrm>
        </p:spPr>
        <p:txBody>
          <a:bodyPr/>
          <a:lstStyle/>
          <a:p>
            <a:pPr algn="just">
              <a:spcBef>
                <a:spcPts val="600"/>
              </a:spcBef>
              <a:spcAft>
                <a:spcPts val="600"/>
              </a:spcAft>
            </a:pPr>
            <a:r>
              <a:rPr lang="vi-VN" sz="2600" dirty="0">
                <a:effectLst>
                  <a:outerShdw blurRad="38100" dist="38100" dir="2700000" algn="tl">
                    <a:srgbClr val="000000">
                      <a:alpha val="43137"/>
                    </a:srgbClr>
                  </a:outerShdw>
                </a:effectLst>
              </a:rPr>
              <a:t>Chi phí hữu hình</a:t>
            </a:r>
            <a:r>
              <a:rPr lang="vi-VN" sz="2600" dirty="0"/>
              <a:t> (</a:t>
            </a:r>
            <a:r>
              <a:rPr lang="en-US" sz="2600" dirty="0">
                <a:solidFill>
                  <a:srgbClr val="0070C0"/>
                </a:solidFill>
              </a:rPr>
              <a:t>tangible cost</a:t>
            </a:r>
            <a:r>
              <a:rPr lang="vi-VN" sz="2600" dirty="0"/>
              <a:t>): chi phí hoặc lợi ích có thể đo bằng tiền (v.d., USD, VND...).</a:t>
            </a:r>
          </a:p>
          <a:p>
            <a:pPr algn="just">
              <a:spcBef>
                <a:spcPts val="600"/>
              </a:spcBef>
              <a:spcAft>
                <a:spcPts val="600"/>
              </a:spcAft>
            </a:pPr>
            <a:r>
              <a:rPr lang="vi-VN" sz="2600" dirty="0">
                <a:effectLst>
                  <a:outerShdw blurRad="38100" dist="38100" dir="2700000" algn="tl">
                    <a:srgbClr val="000000">
                      <a:alpha val="43137"/>
                    </a:srgbClr>
                  </a:outerShdw>
                </a:effectLst>
              </a:rPr>
              <a:t>Chi phí vô hình</a:t>
            </a:r>
            <a:r>
              <a:rPr lang="vi-VN" sz="2600" dirty="0"/>
              <a:t> (</a:t>
            </a:r>
            <a:r>
              <a:rPr lang="en-US" sz="2600" dirty="0">
                <a:solidFill>
                  <a:srgbClr val="0070C0"/>
                </a:solidFill>
              </a:rPr>
              <a:t>intangible cost</a:t>
            </a:r>
            <a:r>
              <a:rPr lang="vi-VN" sz="2600" dirty="0"/>
              <a:t>): chi phí hoặc lợi ích khó có thể đo bằng tiền.</a:t>
            </a:r>
          </a:p>
          <a:p>
            <a:pPr algn="just">
              <a:spcBef>
                <a:spcPts val="600"/>
              </a:spcBef>
              <a:spcAft>
                <a:spcPts val="600"/>
              </a:spcAft>
            </a:pPr>
            <a:r>
              <a:rPr lang="vi-VN" sz="2600" dirty="0">
                <a:effectLst>
                  <a:outerShdw blurRad="38100" dist="38100" dir="2700000" algn="tl">
                    <a:srgbClr val="000000">
                      <a:alpha val="43137"/>
                    </a:srgbClr>
                  </a:outerShdw>
                </a:effectLst>
              </a:rPr>
              <a:t>Chi phí trực tiếp</a:t>
            </a:r>
            <a:r>
              <a:rPr lang="vi-VN" sz="2600" dirty="0"/>
              <a:t> (</a:t>
            </a:r>
            <a:r>
              <a:rPr lang="en-US" sz="2600" dirty="0">
                <a:solidFill>
                  <a:srgbClr val="0070C0"/>
                </a:solidFill>
              </a:rPr>
              <a:t>direct cost</a:t>
            </a:r>
            <a:r>
              <a:rPr lang="vi-VN" sz="2600" dirty="0"/>
              <a:t>): chi phí liên quan trực tiếp đến sản phẩm/dịch vụ của dự án.</a:t>
            </a:r>
          </a:p>
          <a:p>
            <a:pPr algn="just">
              <a:spcBef>
                <a:spcPts val="600"/>
              </a:spcBef>
              <a:spcAft>
                <a:spcPts val="600"/>
              </a:spcAft>
            </a:pPr>
            <a:r>
              <a:rPr lang="vi-VN" sz="2600" dirty="0">
                <a:effectLst>
                  <a:outerShdw blurRad="38100" dist="38100" dir="2700000" algn="tl">
                    <a:srgbClr val="000000">
                      <a:alpha val="43137"/>
                    </a:srgbClr>
                  </a:outerShdw>
                </a:effectLst>
              </a:rPr>
              <a:t>Chi phí gián tiếp</a:t>
            </a:r>
            <a:r>
              <a:rPr lang="vi-VN" sz="2600" dirty="0"/>
              <a:t> (</a:t>
            </a:r>
            <a:r>
              <a:rPr lang="en-US" sz="2600" dirty="0">
                <a:solidFill>
                  <a:srgbClr val="0070C0"/>
                </a:solidFill>
              </a:rPr>
              <a:t>indirect cost</a:t>
            </a:r>
            <a:r>
              <a:rPr lang="vi-VN" sz="2600" dirty="0"/>
              <a:t>): chi phí liên quan gián tiếp liên quan đến việc thực hiện dự án.</a:t>
            </a:r>
          </a:p>
          <a:p>
            <a:pPr algn="just">
              <a:spcBef>
                <a:spcPts val="600"/>
              </a:spcBef>
              <a:spcAft>
                <a:spcPts val="600"/>
              </a:spcAft>
            </a:pPr>
            <a:r>
              <a:rPr lang="vi-VN" sz="2600" dirty="0">
                <a:effectLst>
                  <a:outerShdw blurRad="38100" dist="38100" dir="2700000" algn="tl">
                    <a:srgbClr val="000000">
                      <a:alpha val="43137"/>
                    </a:srgbClr>
                  </a:outerShdw>
                </a:effectLst>
              </a:rPr>
              <a:t>Chi phí chìm</a:t>
            </a:r>
            <a:r>
              <a:rPr lang="vi-VN" sz="2600" dirty="0"/>
              <a:t> (</a:t>
            </a:r>
            <a:r>
              <a:rPr lang="en-US" sz="2600" dirty="0">
                <a:solidFill>
                  <a:srgbClr val="0070C0"/>
                </a:solidFill>
              </a:rPr>
              <a:t>sunk cost</a:t>
            </a:r>
            <a:r>
              <a:rPr lang="vi-VN" sz="2600" dirty="0"/>
              <a:t>): tiền được chi tiêu trong quá khứ - khi quyết định các dự án đầu tư...</a:t>
            </a:r>
            <a:endParaRPr lang="en-US" sz="2600" dirty="0"/>
          </a:p>
        </p:txBody>
      </p:sp>
      <p:sp>
        <p:nvSpPr>
          <p:cNvPr id="30722" name="Rectangle 2"/>
          <p:cNvSpPr>
            <a:spLocks noGrp="1" noChangeArrowheads="1"/>
          </p:cNvSpPr>
          <p:nvPr>
            <p:ph type="title"/>
          </p:nvPr>
        </p:nvSpPr>
        <p:spPr>
          <a:xfrm>
            <a:off x="381000" y="381000"/>
            <a:ext cx="8305800" cy="411162"/>
          </a:xfrm>
        </p:spPr>
        <p:txBody>
          <a:bodyPr>
            <a:noAutofit/>
          </a:bodyPr>
          <a:lstStyle/>
          <a:p>
            <a:pPr algn="ctr"/>
            <a:r>
              <a:rPr lang="en-US" sz="4000" dirty="0" err="1"/>
              <a:t>Các</a:t>
            </a:r>
            <a:r>
              <a:rPr lang="en-US" sz="4000" dirty="0"/>
              <a:t> </a:t>
            </a:r>
            <a:r>
              <a:rPr lang="en-US" sz="4000" dirty="0" err="1"/>
              <a:t>loại</a:t>
            </a:r>
            <a:r>
              <a:rPr lang="en-US" sz="4000" dirty="0"/>
              <a:t> chi </a:t>
            </a:r>
            <a:r>
              <a:rPr lang="en-US" sz="4000" dirty="0" err="1"/>
              <a:t>phí</a:t>
            </a:r>
            <a:r>
              <a:rPr lang="en-US" sz="4000" dirty="0"/>
              <a:t> và </a:t>
            </a:r>
            <a:r>
              <a:rPr lang="en-US" sz="4000" dirty="0" err="1"/>
              <a:t>lợi</a:t>
            </a:r>
            <a:r>
              <a:rPr lang="en-US" sz="4000" dirty="0"/>
              <a:t> </a:t>
            </a:r>
            <a:r>
              <a:rPr lang="en-US" sz="4000" dirty="0" err="1"/>
              <a:t>ích</a:t>
            </a:r>
            <a:endParaRPr lang="en-US" sz="4000" dirty="0"/>
          </a:p>
        </p:txBody>
      </p:sp>
      <p:sp>
        <p:nvSpPr>
          <p:cNvPr id="3072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1EB3F714-30BF-4029-B3DF-B4C71CA79379}" type="slidenum">
              <a:rPr lang="en-US" smtClean="0"/>
              <a:pPr>
                <a:defRPr/>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8100" y="1066800"/>
            <a:ext cx="9067800" cy="401955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19</a:t>
            </a:fld>
            <a:endParaRPr lang="en-US" dirty="0"/>
          </a:p>
        </p:txBody>
      </p:sp>
      <p:sp>
        <p:nvSpPr>
          <p:cNvPr id="7" name="Rounded Rectangle 6"/>
          <p:cNvSpPr/>
          <p:nvPr/>
        </p:nvSpPr>
        <p:spPr>
          <a:xfrm>
            <a:off x="1338616" y="4024952"/>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4" name="Picture 3"/>
          <p:cNvPicPr>
            <a:picLocks noChangeAspect="1"/>
          </p:cNvPicPr>
          <p:nvPr/>
        </p:nvPicPr>
        <p:blipFill>
          <a:blip r:embed="rId3"/>
          <a:stretch>
            <a:fillRect/>
          </a:stretch>
        </p:blipFill>
        <p:spPr>
          <a:xfrm>
            <a:off x="5410200" y="5391463"/>
            <a:ext cx="2466975" cy="1419225"/>
          </a:xfrm>
          <a:prstGeom prst="rect">
            <a:avLst/>
          </a:prstGeom>
        </p:spPr>
      </p:pic>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chi </a:t>
            </a:r>
            <a:r>
              <a:rPr lang="en-US" sz="4000" dirty="0" err="1">
                <a:solidFill>
                  <a:schemeClr val="bg1">
                    <a:lumMod val="65000"/>
                  </a:schemeClr>
                </a:solidFill>
              </a:rPr>
              <a:t>phí</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[1/4]</a:t>
            </a:r>
          </a:p>
        </p:txBody>
      </p:sp>
    </p:spTree>
    <p:extLst>
      <p:ext uri="{BB962C8B-B14F-4D97-AF65-F5344CB8AC3E}">
        <p14:creationId xmlns:p14="http://schemas.microsoft.com/office/powerpoint/2010/main" val="351937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95400"/>
            <a:ext cx="8382000" cy="4525962"/>
          </a:xfrm>
        </p:spPr>
        <p:txBody>
          <a:bodyPr/>
          <a:lstStyle/>
          <a:p>
            <a:pPr algn="just"/>
            <a:r>
              <a:rPr lang="vi-VN" b="1" dirty="0"/>
              <a:t>Kế hoạch quản lý chi phí </a:t>
            </a:r>
            <a:r>
              <a:rPr lang="vi-VN" dirty="0"/>
              <a:t>(</a:t>
            </a:r>
            <a:r>
              <a:rPr lang="vi-VN" dirty="0">
                <a:solidFill>
                  <a:srgbClr val="0070C0"/>
                </a:solidFill>
              </a:rPr>
              <a:t>plan cost management</a:t>
            </a:r>
            <a:r>
              <a:rPr lang="vi-VN" dirty="0"/>
              <a:t>) được lập bởi nhóm dự án - sử dụng kỹ thuật chuyên gia, kỹ thuật phân tích, và các cuộc họp.</a:t>
            </a:r>
          </a:p>
          <a:p>
            <a:pPr algn="just"/>
            <a:endParaRPr lang="vi-VN" sz="1200" dirty="0"/>
          </a:p>
          <a:p>
            <a:pPr algn="just"/>
            <a:r>
              <a:rPr lang="en-US" dirty="0" err="1"/>
              <a:t>Kế</a:t>
            </a:r>
            <a:r>
              <a:rPr lang="en-US" dirty="0"/>
              <a:t> </a:t>
            </a:r>
            <a:r>
              <a:rPr lang="en-US" dirty="0" err="1"/>
              <a:t>hoạch</a:t>
            </a:r>
            <a:r>
              <a:rPr lang="en-US" dirty="0"/>
              <a:t> quản lý chi </a:t>
            </a:r>
            <a:r>
              <a:rPr lang="en-US" dirty="0" err="1"/>
              <a:t>phí</a:t>
            </a:r>
            <a:r>
              <a:rPr lang="en-US" dirty="0"/>
              <a:t> </a:t>
            </a:r>
            <a:r>
              <a:rPr lang="en-US" dirty="0" err="1"/>
              <a:t>bao</a:t>
            </a:r>
            <a:r>
              <a:rPr lang="en-US" dirty="0"/>
              <a:t> </a:t>
            </a:r>
            <a:r>
              <a:rPr lang="en-US" dirty="0" err="1"/>
              <a:t>gồm</a:t>
            </a:r>
            <a:r>
              <a:rPr lang="en-US" dirty="0"/>
              <a:t>:</a:t>
            </a:r>
          </a:p>
          <a:p>
            <a:pPr lvl="1" algn="just">
              <a:buFont typeface="Arial" panose="020B0604020202020204" pitchFamily="34" charset="0"/>
              <a:buChar char="•"/>
            </a:pPr>
            <a:r>
              <a:rPr lang="vi-VN" sz="2400" dirty="0"/>
              <a:t>Mức độ chính xác và đơn vị đo lường</a:t>
            </a:r>
          </a:p>
          <a:p>
            <a:pPr lvl="1" algn="just">
              <a:buFont typeface="Arial" panose="020B0604020202020204" pitchFamily="34" charset="0"/>
              <a:buChar char="•"/>
            </a:pPr>
            <a:r>
              <a:rPr lang="vi-VN" sz="2400" dirty="0"/>
              <a:t>Liên kết với quy trình tổ chức</a:t>
            </a:r>
          </a:p>
          <a:p>
            <a:pPr lvl="1" algn="just">
              <a:buFont typeface="Arial" panose="020B0604020202020204" pitchFamily="34" charset="0"/>
              <a:buChar char="•"/>
            </a:pPr>
            <a:r>
              <a:rPr lang="vi-VN" sz="2400" dirty="0"/>
              <a:t>Ngưỡng kiểm soát</a:t>
            </a:r>
          </a:p>
          <a:p>
            <a:pPr lvl="1" algn="just">
              <a:buFont typeface="Arial" panose="020B0604020202020204" pitchFamily="34" charset="0"/>
              <a:buChar char="•"/>
            </a:pPr>
            <a:r>
              <a:rPr lang="vi-VN" sz="2400" dirty="0"/>
              <a:t>Quy định về đo lường hiệu suất</a:t>
            </a:r>
          </a:p>
          <a:p>
            <a:pPr lvl="1" algn="just">
              <a:buFont typeface="Arial" panose="020B0604020202020204" pitchFamily="34" charset="0"/>
              <a:buChar char="•"/>
            </a:pPr>
            <a:r>
              <a:rPr lang="vi-VN" sz="2400" dirty="0"/>
              <a:t>Định dạng báo cáo</a:t>
            </a:r>
          </a:p>
          <a:p>
            <a:pPr lvl="1" algn="just">
              <a:buFont typeface="Arial" panose="020B0604020202020204" pitchFamily="34" charset="0"/>
              <a:buChar char="•"/>
            </a:pPr>
            <a:r>
              <a:rPr lang="vi-VN" sz="2400" dirty="0"/>
              <a:t>Mô tả quy trình.</a:t>
            </a:r>
            <a:endParaRPr lang="en-US" sz="2400" dirty="0"/>
          </a:p>
        </p:txBody>
      </p:sp>
      <p:sp>
        <p:nvSpPr>
          <p:cNvPr id="3" name="Title 2"/>
          <p:cNvSpPr>
            <a:spLocks noGrp="1"/>
          </p:cNvSpPr>
          <p:nvPr>
            <p:ph type="title"/>
          </p:nvPr>
        </p:nvSpPr>
        <p:spPr>
          <a:xfrm>
            <a:off x="457200" y="76200"/>
            <a:ext cx="8229600" cy="1143000"/>
          </a:xfrm>
        </p:spPr>
        <p:txBody>
          <a:bodyPr>
            <a:normAutofit/>
          </a:bodyPr>
          <a:lstStyle/>
          <a:p>
            <a:pPr algn="ctr"/>
            <a:r>
              <a:rPr lang="en-US" sz="4400" dirty="0">
                <a:solidFill>
                  <a:srgbClr val="FF0000"/>
                </a:solidFill>
              </a:rPr>
              <a:t>1. </a:t>
            </a:r>
            <a:r>
              <a:rPr lang="en-US" sz="4400" dirty="0" err="1">
                <a:solidFill>
                  <a:srgbClr val="FF0000"/>
                </a:solidFill>
              </a:rPr>
              <a:t>Kế</a:t>
            </a:r>
            <a:r>
              <a:rPr lang="en-US" sz="4400" dirty="0">
                <a:solidFill>
                  <a:srgbClr val="FF0000"/>
                </a:solidFill>
              </a:rPr>
              <a:t> </a:t>
            </a:r>
            <a:r>
              <a:rPr lang="en-US" sz="4400" dirty="0" err="1">
                <a:solidFill>
                  <a:srgbClr val="FF0000"/>
                </a:solidFill>
              </a:rPr>
              <a:t>hoạch</a:t>
            </a:r>
            <a:r>
              <a:rPr lang="en-US" sz="4400" dirty="0">
                <a:solidFill>
                  <a:srgbClr val="FF0000"/>
                </a:solidFill>
              </a:rPr>
              <a:t> quản lý chi </a:t>
            </a:r>
            <a:r>
              <a:rPr lang="en-US" sz="4400" dirty="0" err="1">
                <a:solidFill>
                  <a:srgbClr val="FF0000"/>
                </a:solidFill>
              </a:rPr>
              <a:t>phí</a:t>
            </a:r>
            <a:endParaRPr lang="en-US" sz="4400" dirty="0">
              <a:solidFill>
                <a:srgbClr val="FF0000"/>
              </a:solidFill>
            </a:endParaRP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20</a:t>
            </a:fld>
            <a:endParaRPr lang="en-US" dirty="0"/>
          </a:p>
        </p:txBody>
      </p:sp>
      <p:pic>
        <p:nvPicPr>
          <p:cNvPr id="6" name="Picture 5"/>
          <p:cNvPicPr>
            <a:picLocks noChangeAspect="1"/>
          </p:cNvPicPr>
          <p:nvPr/>
        </p:nvPicPr>
        <p:blipFill>
          <a:blip r:embed="rId2"/>
          <a:stretch>
            <a:fillRect/>
          </a:stretch>
        </p:blipFill>
        <p:spPr>
          <a:xfrm>
            <a:off x="6400800" y="4876800"/>
            <a:ext cx="2209800" cy="1504642"/>
          </a:xfrm>
          <a:prstGeom prst="rect">
            <a:avLst/>
          </a:prstGeom>
        </p:spPr>
      </p:pic>
    </p:spTree>
    <p:extLst>
      <p:ext uri="{BB962C8B-B14F-4D97-AF65-F5344CB8AC3E}">
        <p14:creationId xmlns:p14="http://schemas.microsoft.com/office/powerpoint/2010/main" val="22150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38100" y="1066800"/>
            <a:ext cx="9067800" cy="401955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21</a:t>
            </a:fld>
            <a:endParaRPr lang="en-US" dirty="0"/>
          </a:p>
        </p:txBody>
      </p:sp>
      <p:sp>
        <p:nvSpPr>
          <p:cNvPr id="7" name="Rounded Rectangle 6"/>
          <p:cNvSpPr/>
          <p:nvPr/>
        </p:nvSpPr>
        <p:spPr>
          <a:xfrm>
            <a:off x="1317008" y="4317395"/>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chi </a:t>
            </a:r>
            <a:r>
              <a:rPr lang="en-US" sz="4000" dirty="0" err="1">
                <a:solidFill>
                  <a:schemeClr val="bg1">
                    <a:lumMod val="65000"/>
                  </a:schemeClr>
                </a:solidFill>
              </a:rPr>
              <a:t>phí</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[2/4]</a:t>
            </a:r>
          </a:p>
        </p:txBody>
      </p:sp>
      <p:pic>
        <p:nvPicPr>
          <p:cNvPr id="2" name="Picture 1"/>
          <p:cNvPicPr>
            <a:picLocks noChangeAspect="1"/>
          </p:cNvPicPr>
          <p:nvPr/>
        </p:nvPicPr>
        <p:blipFill>
          <a:blip r:embed="rId3"/>
          <a:stretch>
            <a:fillRect/>
          </a:stretch>
        </p:blipFill>
        <p:spPr>
          <a:xfrm>
            <a:off x="5334001" y="5196097"/>
            <a:ext cx="1295400" cy="1661903"/>
          </a:xfrm>
          <a:prstGeom prst="rect">
            <a:avLst/>
          </a:prstGeom>
        </p:spPr>
      </p:pic>
    </p:spTree>
    <p:extLst>
      <p:ext uri="{BB962C8B-B14F-4D97-AF65-F5344CB8AC3E}">
        <p14:creationId xmlns:p14="http://schemas.microsoft.com/office/powerpoint/2010/main" val="421574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381000" y="1447800"/>
            <a:ext cx="8229600" cy="3962400"/>
          </a:xfrm>
        </p:spPr>
        <p:txBody>
          <a:bodyPr/>
          <a:lstStyle/>
          <a:p>
            <a:pPr algn="just"/>
            <a:r>
              <a:rPr lang="en-US" b="1" dirty="0" err="1"/>
              <a:t>Ước</a:t>
            </a:r>
            <a:r>
              <a:rPr lang="en-US" b="1" dirty="0"/>
              <a:t> </a:t>
            </a:r>
            <a:r>
              <a:rPr lang="en-US" b="1" dirty="0" err="1"/>
              <a:t>lượng</a:t>
            </a:r>
            <a:r>
              <a:rPr lang="en-US" b="1" dirty="0"/>
              <a:t> chi </a:t>
            </a:r>
            <a:r>
              <a:rPr lang="en-US" b="1" dirty="0" err="1"/>
              <a:t>phí</a:t>
            </a:r>
            <a:r>
              <a:rPr lang="en-US" dirty="0"/>
              <a:t> (</a:t>
            </a:r>
            <a:r>
              <a:rPr lang="en-US" dirty="0">
                <a:solidFill>
                  <a:srgbClr val="0070C0"/>
                </a:solidFill>
              </a:rPr>
              <a:t>estimate cost</a:t>
            </a:r>
            <a:r>
              <a:rPr lang="en-US" dirty="0"/>
              <a:t>) </a:t>
            </a:r>
            <a:r>
              <a:rPr lang="en-US" dirty="0" err="1"/>
              <a:t>được</a:t>
            </a:r>
            <a:r>
              <a:rPr lang="en-US" dirty="0"/>
              <a:t> </a:t>
            </a:r>
            <a:r>
              <a:rPr lang="en-US" dirty="0" err="1"/>
              <a:t>giám</a:t>
            </a:r>
            <a:r>
              <a:rPr lang="en-US" dirty="0"/>
              <a:t> </a:t>
            </a:r>
            <a:r>
              <a:rPr lang="en-US" dirty="0" err="1"/>
              <a:t>đốc</a:t>
            </a:r>
            <a:r>
              <a:rPr lang="en-US" dirty="0"/>
              <a:t> </a:t>
            </a:r>
            <a:r>
              <a:rPr lang="en-US" dirty="0" err="1"/>
              <a:t>dự</a:t>
            </a:r>
            <a:r>
              <a:rPr lang="en-US" dirty="0"/>
              <a:t> </a:t>
            </a:r>
            <a:r>
              <a:rPr lang="en-US" dirty="0" err="1"/>
              <a:t>án</a:t>
            </a:r>
            <a:r>
              <a:rPr lang="en-US" dirty="0"/>
              <a:t> </a:t>
            </a:r>
            <a:r>
              <a:rPr lang="en-US" dirty="0" err="1"/>
              <a:t>thực</a:t>
            </a:r>
            <a:r>
              <a:rPr lang="en-US" dirty="0"/>
              <a:t> </a:t>
            </a:r>
            <a:r>
              <a:rPr lang="en-US" dirty="0" err="1"/>
              <a:t>hiện</a:t>
            </a:r>
            <a:r>
              <a:rPr lang="en-US" dirty="0"/>
              <a:t>, </a:t>
            </a:r>
            <a:r>
              <a:rPr lang="en-US" dirty="0" err="1"/>
              <a:t>nếu</a:t>
            </a:r>
            <a:r>
              <a:rPr lang="en-US" dirty="0"/>
              <a:t> </a:t>
            </a:r>
            <a:r>
              <a:rPr lang="en-US" dirty="0" err="1"/>
              <a:t>muốn</a:t>
            </a:r>
            <a:r>
              <a:rPr lang="en-US" dirty="0"/>
              <a:t> </a:t>
            </a:r>
            <a:r>
              <a:rPr lang="en-US" dirty="0" err="1"/>
              <a:t>hoàn</a:t>
            </a:r>
            <a:r>
              <a:rPr lang="en-US" dirty="0"/>
              <a:t> </a:t>
            </a:r>
            <a:r>
              <a:rPr lang="en-US" dirty="0" err="1"/>
              <a:t>thành</a:t>
            </a:r>
            <a:r>
              <a:rPr lang="en-US" dirty="0"/>
              <a:t> </a:t>
            </a:r>
            <a:r>
              <a:rPr lang="en-US" dirty="0" err="1"/>
              <a:t>dự</a:t>
            </a:r>
            <a:r>
              <a:rPr lang="en-US" dirty="0"/>
              <a:t> </a:t>
            </a:r>
            <a:r>
              <a:rPr lang="en-US" dirty="0" err="1"/>
              <a:t>án</a:t>
            </a:r>
            <a:r>
              <a:rPr lang="en-US" dirty="0"/>
              <a:t> </a:t>
            </a:r>
            <a:r>
              <a:rPr lang="en-US" dirty="0" err="1"/>
              <a:t>trong</a:t>
            </a:r>
            <a:r>
              <a:rPr lang="en-US" dirty="0"/>
              <a:t> </a:t>
            </a:r>
            <a:r>
              <a:rPr lang="en-US" dirty="0" err="1"/>
              <a:t>phạm</a:t>
            </a:r>
            <a:r>
              <a:rPr lang="en-US" dirty="0"/>
              <a:t> vi </a:t>
            </a:r>
            <a:r>
              <a:rPr lang="en-US" dirty="0" err="1"/>
              <a:t>ràng</a:t>
            </a:r>
            <a:r>
              <a:rPr lang="en-US" dirty="0"/>
              <a:t> </a:t>
            </a:r>
            <a:r>
              <a:rPr lang="en-US" dirty="0" err="1"/>
              <a:t>buộc</a:t>
            </a:r>
            <a:r>
              <a:rPr lang="en-US" dirty="0"/>
              <a:t> </a:t>
            </a:r>
            <a:r>
              <a:rPr lang="en-US" dirty="0" err="1"/>
              <a:t>của</a:t>
            </a:r>
            <a:r>
              <a:rPr lang="en-US" dirty="0"/>
              <a:t> </a:t>
            </a:r>
            <a:r>
              <a:rPr lang="en-US" dirty="0" err="1"/>
              <a:t>ngân</a:t>
            </a:r>
            <a:r>
              <a:rPr lang="en-US" dirty="0"/>
              <a:t> </a:t>
            </a:r>
            <a:r>
              <a:rPr lang="en-US" dirty="0" err="1"/>
              <a:t>sách</a:t>
            </a:r>
            <a:r>
              <a:rPr lang="en-US" dirty="0"/>
              <a:t>.</a:t>
            </a:r>
          </a:p>
          <a:p>
            <a:pPr algn="just"/>
            <a:endParaRPr lang="en-US" sz="1200" dirty="0"/>
          </a:p>
          <a:p>
            <a:pPr algn="just"/>
            <a:r>
              <a:rPr lang="en-US" dirty="0" err="1"/>
              <a:t>Phải</a:t>
            </a:r>
            <a:r>
              <a:rPr lang="en-US" dirty="0"/>
              <a:t> </a:t>
            </a:r>
            <a:r>
              <a:rPr lang="en-US" dirty="0" err="1"/>
              <a:t>biết</a:t>
            </a:r>
            <a:r>
              <a:rPr lang="en-US" dirty="0"/>
              <a:t> </a:t>
            </a:r>
            <a:r>
              <a:rPr lang="en-US" dirty="0" err="1"/>
              <a:t>các</a:t>
            </a:r>
            <a:r>
              <a:rPr lang="en-US" dirty="0"/>
              <a:t> </a:t>
            </a:r>
            <a:r>
              <a:rPr lang="en-US" dirty="0" err="1"/>
              <a:t>loại</a:t>
            </a:r>
            <a:r>
              <a:rPr lang="en-US" dirty="0"/>
              <a:t> </a:t>
            </a:r>
            <a:r>
              <a:rPr lang="en-US" dirty="0" err="1"/>
              <a:t>ước</a:t>
            </a:r>
            <a:r>
              <a:rPr lang="en-US" dirty="0"/>
              <a:t> </a:t>
            </a:r>
            <a:r>
              <a:rPr lang="en-US" dirty="0" err="1"/>
              <a:t>lượng</a:t>
            </a:r>
            <a:r>
              <a:rPr lang="en-US" dirty="0"/>
              <a:t> chi </a:t>
            </a:r>
            <a:r>
              <a:rPr lang="en-US" dirty="0" err="1"/>
              <a:t>phí</a:t>
            </a:r>
            <a:r>
              <a:rPr lang="en-US" dirty="0"/>
              <a:t>, </a:t>
            </a:r>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ước</a:t>
            </a:r>
            <a:r>
              <a:rPr lang="en-US" dirty="0"/>
              <a:t> </a:t>
            </a:r>
            <a:r>
              <a:rPr lang="en-US" dirty="0" err="1"/>
              <a:t>lượng</a:t>
            </a:r>
            <a:r>
              <a:rPr lang="en-US" dirty="0"/>
              <a:t>.</a:t>
            </a:r>
          </a:p>
          <a:p>
            <a:pPr algn="just"/>
            <a:endParaRPr lang="en-US" sz="1200" dirty="0"/>
          </a:p>
          <a:p>
            <a:pPr algn="just"/>
            <a:r>
              <a:rPr lang="en-US" dirty="0" err="1"/>
              <a:t>Các</a:t>
            </a:r>
            <a:r>
              <a:rPr lang="en-US" dirty="0"/>
              <a:t> </a:t>
            </a:r>
            <a:r>
              <a:rPr lang="en-US" dirty="0" err="1"/>
              <a:t>vấn</a:t>
            </a:r>
            <a:r>
              <a:rPr lang="en-US" dirty="0"/>
              <a:t> </a:t>
            </a:r>
            <a:r>
              <a:rPr lang="en-US" dirty="0" err="1"/>
              <a:t>đề</a:t>
            </a:r>
            <a:r>
              <a:rPr lang="en-US" dirty="0"/>
              <a:t> </a:t>
            </a:r>
            <a:r>
              <a:rPr lang="en-US" dirty="0" err="1"/>
              <a:t>điển</a:t>
            </a:r>
            <a:r>
              <a:rPr lang="en-US" dirty="0"/>
              <a:t> </a:t>
            </a:r>
            <a:r>
              <a:rPr lang="en-US" dirty="0" err="1"/>
              <a:t>hình</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ước</a:t>
            </a:r>
            <a:r>
              <a:rPr lang="en-US" dirty="0"/>
              <a:t> </a:t>
            </a:r>
            <a:r>
              <a:rPr lang="en-US" dirty="0" err="1"/>
              <a:t>lượng</a:t>
            </a:r>
            <a:r>
              <a:rPr lang="en-US" dirty="0"/>
              <a:t> chi </a:t>
            </a:r>
            <a:r>
              <a:rPr lang="en-US" dirty="0" err="1"/>
              <a:t>phí</a:t>
            </a:r>
            <a:r>
              <a:rPr lang="en-US" dirty="0"/>
              <a:t> CNTT/HTTT.</a:t>
            </a:r>
          </a:p>
        </p:txBody>
      </p:sp>
      <p:sp>
        <p:nvSpPr>
          <p:cNvPr id="32770" name="Rectangle 2"/>
          <p:cNvSpPr>
            <a:spLocks noGrp="1" noChangeArrowheads="1"/>
          </p:cNvSpPr>
          <p:nvPr>
            <p:ph type="title"/>
          </p:nvPr>
        </p:nvSpPr>
        <p:spPr>
          <a:xfrm>
            <a:off x="609600" y="152400"/>
            <a:ext cx="7848600" cy="1143000"/>
          </a:xfrm>
        </p:spPr>
        <p:txBody>
          <a:bodyPr>
            <a:normAutofit/>
          </a:bodyPr>
          <a:lstStyle/>
          <a:p>
            <a:pPr algn="ctr"/>
            <a:r>
              <a:rPr lang="en-US" sz="4400" dirty="0">
                <a:solidFill>
                  <a:srgbClr val="FF0000"/>
                </a:solidFill>
              </a:rPr>
              <a:t>2. </a:t>
            </a:r>
            <a:r>
              <a:rPr lang="en-US" sz="4400" dirty="0" err="1">
                <a:solidFill>
                  <a:srgbClr val="FF0000"/>
                </a:solidFill>
              </a:rPr>
              <a:t>Ước</a:t>
            </a:r>
            <a:r>
              <a:rPr lang="en-US" sz="4400" dirty="0">
                <a:solidFill>
                  <a:srgbClr val="FF0000"/>
                </a:solidFill>
              </a:rPr>
              <a:t> </a:t>
            </a:r>
            <a:r>
              <a:rPr lang="en-US" sz="4400" dirty="0" err="1">
                <a:solidFill>
                  <a:srgbClr val="FF0000"/>
                </a:solidFill>
              </a:rPr>
              <a:t>lượng</a:t>
            </a:r>
            <a:r>
              <a:rPr lang="en-US" sz="4400" dirty="0">
                <a:solidFill>
                  <a:srgbClr val="FF0000"/>
                </a:solidFill>
              </a:rPr>
              <a:t> chi </a:t>
            </a:r>
            <a:r>
              <a:rPr lang="en-US" sz="4400" dirty="0" err="1">
                <a:solidFill>
                  <a:srgbClr val="FF0000"/>
                </a:solidFill>
              </a:rPr>
              <a:t>phí</a:t>
            </a:r>
            <a:endParaRPr lang="en-US" sz="4400" dirty="0">
              <a:solidFill>
                <a:srgbClr val="FF0000"/>
              </a:solidFill>
            </a:endParaRPr>
          </a:p>
        </p:txBody>
      </p:sp>
      <p:sp>
        <p:nvSpPr>
          <p:cNvPr id="3277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3D4721FD-A3A0-4E27-912F-6F8645958C48}" type="slidenum">
              <a:rPr lang="en-US" smtClean="0"/>
              <a:pPr>
                <a:defRPr/>
              </a:pPr>
              <a:t>22</a:t>
            </a:fld>
            <a:endParaRPr lang="en-US" dirty="0"/>
          </a:p>
        </p:txBody>
      </p:sp>
      <p:pic>
        <p:nvPicPr>
          <p:cNvPr id="2" name="Picture 1"/>
          <p:cNvPicPr>
            <a:picLocks noChangeAspect="1"/>
          </p:cNvPicPr>
          <p:nvPr/>
        </p:nvPicPr>
        <p:blipFill>
          <a:blip r:embed="rId2"/>
          <a:stretch>
            <a:fillRect/>
          </a:stretch>
        </p:blipFill>
        <p:spPr>
          <a:xfrm>
            <a:off x="6705600" y="4874280"/>
            <a:ext cx="1422400" cy="1602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1">
                                            <p:txEl>
                                              <p:pRg st="4" end="4"/>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1524000"/>
            <a:ext cx="9144000" cy="4114800"/>
          </a:xfrm>
          <a:prstGeom prst="rect">
            <a:avLst/>
          </a:prstGeom>
        </p:spPr>
      </p:pic>
      <p:sp>
        <p:nvSpPr>
          <p:cNvPr id="33794" name="Rectangle 2"/>
          <p:cNvSpPr>
            <a:spLocks noGrp="1" noChangeArrowheads="1"/>
          </p:cNvSpPr>
          <p:nvPr>
            <p:ph type="title"/>
          </p:nvPr>
        </p:nvSpPr>
        <p:spPr>
          <a:xfrm>
            <a:off x="457200" y="228600"/>
            <a:ext cx="8229600" cy="1143000"/>
          </a:xfrm>
        </p:spPr>
        <p:txBody>
          <a:bodyPr>
            <a:normAutofit/>
          </a:bodyPr>
          <a:lstStyle/>
          <a:p>
            <a:pPr algn="ctr"/>
            <a:r>
              <a:rPr lang="en-US" sz="4400" dirty="0" err="1"/>
              <a:t>Các</a:t>
            </a:r>
            <a:r>
              <a:rPr lang="en-US" sz="4400" dirty="0"/>
              <a:t> </a:t>
            </a:r>
            <a:r>
              <a:rPr lang="en-US" sz="4400" dirty="0" err="1"/>
              <a:t>loại</a:t>
            </a:r>
            <a:r>
              <a:rPr lang="en-US" sz="4400" dirty="0"/>
              <a:t> </a:t>
            </a:r>
            <a:r>
              <a:rPr lang="en-US" sz="4400" dirty="0" err="1"/>
              <a:t>ước</a:t>
            </a:r>
            <a:r>
              <a:rPr lang="en-US" sz="4400" dirty="0"/>
              <a:t> </a:t>
            </a:r>
            <a:r>
              <a:rPr lang="en-US" sz="4400" dirty="0" err="1"/>
              <a:t>lượng</a:t>
            </a:r>
            <a:r>
              <a:rPr lang="en-US" sz="4400" dirty="0"/>
              <a:t> chi </a:t>
            </a:r>
            <a:r>
              <a:rPr lang="en-US" sz="4400" dirty="0" err="1"/>
              <a:t>phí</a:t>
            </a:r>
            <a:endParaRPr lang="en-US" sz="4400" dirty="0"/>
          </a:p>
        </p:txBody>
      </p:sp>
      <p:sp>
        <p:nvSpPr>
          <p:cNvPr id="33796"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B2A4FAAA-2A73-4318-BAD7-1E94D370EBD7}" type="slidenum">
              <a:rPr lang="en-US" smtClean="0"/>
              <a:pPr>
                <a:buFontTx/>
                <a:buNone/>
                <a:defRPr/>
              </a:pPr>
              <a:t>23</a:t>
            </a:fld>
            <a:endParaRPr lang="en-US" dirty="0"/>
          </a:p>
        </p:txBody>
      </p:sp>
      <p:sp>
        <p:nvSpPr>
          <p:cNvPr id="9" name="Rounded Rectangle 8"/>
          <p:cNvSpPr/>
          <p:nvPr/>
        </p:nvSpPr>
        <p:spPr>
          <a:xfrm>
            <a:off x="6781800" y="2057400"/>
            <a:ext cx="2209800" cy="45720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ounded Rectangle 9"/>
          <p:cNvSpPr/>
          <p:nvPr/>
        </p:nvSpPr>
        <p:spPr>
          <a:xfrm>
            <a:off x="6843486" y="3124200"/>
            <a:ext cx="2209800" cy="45720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Rounded Rectangle 10"/>
          <p:cNvSpPr/>
          <p:nvPr/>
        </p:nvSpPr>
        <p:spPr>
          <a:xfrm>
            <a:off x="6843486" y="4114800"/>
            <a:ext cx="2209800" cy="45720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10"/>
                                        </p:tgtEl>
                                      </p:cBhvr>
                                    </p:animEffect>
                                    <p:animScale>
                                      <p:cBhvr>
                                        <p:cTn id="12" dur="250" autoRev="1" fill="hold"/>
                                        <p:tgtEl>
                                          <p:spTgt spid="10"/>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11"/>
                                        </p:tgtEl>
                                      </p:cBhvr>
                                    </p:animEffect>
                                    <p:animScale>
                                      <p:cBhvr>
                                        <p:cTn id="17"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533400" y="1493838"/>
            <a:ext cx="8153400" cy="4525962"/>
          </a:xfrm>
        </p:spPr>
        <p:txBody>
          <a:bodyPr/>
          <a:lstStyle/>
          <a:p>
            <a:pPr algn="just"/>
            <a:r>
              <a:rPr lang="vi-VN" dirty="0"/>
              <a:t>Số lượng và phân loại ước lượng chi phí thay đổi tùy lĩnh vực ứng dụng. </a:t>
            </a:r>
          </a:p>
          <a:p>
            <a:pPr lvl="1" algn="just">
              <a:buFont typeface="Arial" panose="020B0604020202020204" pitchFamily="34" charset="0"/>
              <a:buChar char="•"/>
            </a:pPr>
            <a:r>
              <a:rPr lang="vi-VN" sz="2400" dirty="0"/>
              <a:t>V.d., 5 loại trong dự án xây dựng: độ thô, khái niệm, sơ bộ, chốt, và kiểm soát.</a:t>
            </a:r>
          </a:p>
          <a:p>
            <a:pPr lvl="1" algn="just"/>
            <a:endParaRPr lang="vi-VN" sz="1200" dirty="0"/>
          </a:p>
          <a:p>
            <a:pPr algn="just"/>
            <a:r>
              <a:rPr lang="vi-VN" dirty="0"/>
              <a:t>Ước lượng chi phí thực hiện ở các giai đoạn khác nhau, và chính xác hơn theo thời gian.</a:t>
            </a:r>
          </a:p>
          <a:p>
            <a:pPr algn="just"/>
            <a:endParaRPr lang="vi-VN" sz="1200" dirty="0"/>
          </a:p>
          <a:p>
            <a:pPr algn="just"/>
            <a:r>
              <a:rPr lang="vi-VN" dirty="0"/>
              <a:t>Tỷ lệ lớn trong tổng chi phí là chi phí lao động - được tính theo </a:t>
            </a:r>
            <a:r>
              <a:rPr lang="vi-VN" dirty="0">
                <a:solidFill>
                  <a:srgbClr val="0070C0"/>
                </a:solidFill>
                <a:effectLst>
                  <a:outerShdw blurRad="38100" dist="38100" dir="2700000" algn="tl">
                    <a:srgbClr val="000000">
                      <a:alpha val="43137"/>
                    </a:srgbClr>
                  </a:outerShdw>
                </a:effectLst>
              </a:rPr>
              <a:t>FTE</a:t>
            </a:r>
            <a:r>
              <a:rPr lang="vi-VN" dirty="0">
                <a:solidFill>
                  <a:srgbClr val="0070C0"/>
                </a:solidFill>
              </a:rPr>
              <a:t> </a:t>
            </a:r>
            <a:r>
              <a:rPr lang="vi-VN" dirty="0"/>
              <a:t>(</a:t>
            </a:r>
            <a:r>
              <a:rPr lang="vi-VN" dirty="0">
                <a:solidFill>
                  <a:srgbClr val="0070C0"/>
                </a:solidFill>
              </a:rPr>
              <a:t>Full-Time Equivalent</a:t>
            </a:r>
            <a:r>
              <a:rPr lang="vi-VN" dirty="0"/>
              <a:t>). </a:t>
            </a:r>
            <a:endParaRPr lang="en-US" dirty="0"/>
          </a:p>
        </p:txBody>
      </p:sp>
      <p:sp>
        <p:nvSpPr>
          <p:cNvPr id="34818" name="Rectangle 2"/>
          <p:cNvSpPr>
            <a:spLocks noGrp="1" noChangeArrowheads="1"/>
          </p:cNvSpPr>
          <p:nvPr>
            <p:ph type="title"/>
          </p:nvPr>
        </p:nvSpPr>
        <p:spPr>
          <a:xfrm>
            <a:off x="457200" y="228600"/>
            <a:ext cx="8229600" cy="1143000"/>
          </a:xfrm>
        </p:spPr>
        <p:txBody>
          <a:bodyPr>
            <a:normAutofit/>
          </a:bodyPr>
          <a:lstStyle/>
          <a:p>
            <a:pPr algn="ctr"/>
            <a:r>
              <a:rPr lang="vi-VN" sz="3600" dirty="0"/>
              <a:t>Thông tin thêm về ước lượng chi phí</a:t>
            </a:r>
            <a:endParaRPr lang="en-US" sz="3600" dirty="0"/>
          </a:p>
        </p:txBody>
      </p:sp>
      <p:sp>
        <p:nvSpPr>
          <p:cNvPr id="3482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0E7F84E3-0E6E-4069-8DD7-515ABC3FF36B}"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228600"/>
            <a:ext cx="8458200" cy="1143000"/>
          </a:xfrm>
        </p:spPr>
        <p:txBody>
          <a:bodyPr>
            <a:noAutofit/>
          </a:bodyPr>
          <a:lstStyle/>
          <a:p>
            <a:pPr algn="ctr"/>
            <a:r>
              <a:rPr lang="en-US" sz="3600" dirty="0" err="1"/>
              <a:t>Ví</a:t>
            </a:r>
            <a:r>
              <a:rPr lang="en-US" sz="3600" dirty="0"/>
              <a:t> </a:t>
            </a:r>
            <a:r>
              <a:rPr lang="en-US" sz="3600" dirty="0" err="1"/>
              <a:t>dụ</a:t>
            </a:r>
            <a:r>
              <a:rPr lang="en-US" sz="3600" dirty="0"/>
              <a:t>, FTE </a:t>
            </a:r>
            <a:r>
              <a:rPr lang="en-US" sz="3600" dirty="0" err="1"/>
              <a:t>của</a:t>
            </a:r>
            <a:r>
              <a:rPr lang="en-US" sz="3600" dirty="0"/>
              <a:t> </a:t>
            </a:r>
            <a:r>
              <a:rPr lang="en-US" sz="3600" dirty="0" err="1"/>
              <a:t>các</a:t>
            </a:r>
            <a:r>
              <a:rPr lang="en-US" sz="3600" dirty="0"/>
              <a:t> </a:t>
            </a:r>
            <a:r>
              <a:rPr lang="en-US" sz="3600" dirty="0" err="1"/>
              <a:t>bộ</a:t>
            </a:r>
            <a:r>
              <a:rPr lang="en-US" sz="3600" dirty="0"/>
              <a:t> </a:t>
            </a:r>
            <a:r>
              <a:rPr lang="en-US" sz="3600" dirty="0" err="1"/>
              <a:t>phận</a:t>
            </a:r>
            <a:endParaRPr lang="en-US" sz="3600" dirty="0"/>
          </a:p>
        </p:txBody>
      </p:sp>
      <p:sp>
        <p:nvSpPr>
          <p:cNvPr id="35845" name="Footer Placeholder 7"/>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1"/>
          </p:nvPr>
        </p:nvSpPr>
        <p:spPr/>
        <p:txBody>
          <a:bodyPr/>
          <a:lstStyle/>
          <a:p>
            <a:pPr>
              <a:buFontTx/>
              <a:buNone/>
              <a:defRPr/>
            </a:pPr>
            <a:fld id="{C6E4E9EB-E461-4C0D-B1E5-5BBE892EF26C}" type="slidenum">
              <a:rPr lang="en-US" smtClean="0"/>
              <a:pPr>
                <a:buFontTx/>
                <a:buNone/>
                <a:defRPr/>
              </a:pPr>
              <a:t>25</a:t>
            </a:fld>
            <a:endParaRPr lang="en-US" dirty="0"/>
          </a:p>
        </p:txBody>
      </p:sp>
      <p:pic>
        <p:nvPicPr>
          <p:cNvPr id="5" name="Picture 4"/>
          <p:cNvPicPr>
            <a:picLocks noChangeAspect="1"/>
          </p:cNvPicPr>
          <p:nvPr/>
        </p:nvPicPr>
        <p:blipFill>
          <a:blip r:embed="rId3"/>
          <a:stretch>
            <a:fillRect/>
          </a:stretch>
        </p:blipFill>
        <p:spPr>
          <a:xfrm>
            <a:off x="0" y="1752600"/>
            <a:ext cx="9144000" cy="3429000"/>
          </a:xfrm>
          <a:prstGeom prst="rect">
            <a:avLst/>
          </a:prstGeom>
        </p:spPr>
      </p:pic>
      <p:sp>
        <p:nvSpPr>
          <p:cNvPr id="8" name="Rounded Rectangle 7"/>
          <p:cNvSpPr/>
          <p:nvPr/>
        </p:nvSpPr>
        <p:spPr>
          <a:xfrm>
            <a:off x="7620000" y="4191000"/>
            <a:ext cx="1128486" cy="38100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04800" y="1676400"/>
            <a:ext cx="8534400" cy="3810000"/>
          </a:xfrm>
        </p:spPr>
        <p:txBody>
          <a:bodyPr/>
          <a:lstStyle/>
          <a:p>
            <a:pPr algn="just">
              <a:spcBef>
                <a:spcPts val="1200"/>
              </a:spcBef>
              <a:spcAft>
                <a:spcPts val="1200"/>
              </a:spcAft>
            </a:pPr>
            <a:r>
              <a:rPr lang="vi-VN" dirty="0">
                <a:effectLst>
                  <a:outerShdw blurRad="38100" dist="38100" dir="2700000" algn="tl">
                    <a:srgbClr val="000000">
                      <a:alpha val="43137"/>
                    </a:srgbClr>
                  </a:outerShdw>
                </a:effectLst>
              </a:rPr>
              <a:t>Tương tự </a:t>
            </a:r>
            <a:r>
              <a:rPr lang="vi-VN" dirty="0"/>
              <a:t>(</a:t>
            </a:r>
            <a:r>
              <a:rPr lang="en-US" dirty="0">
                <a:solidFill>
                  <a:srgbClr val="0070C0"/>
                </a:solidFill>
              </a:rPr>
              <a:t>analogous</a:t>
            </a:r>
            <a:r>
              <a:rPr lang="vi-VN" dirty="0"/>
              <a:t>) hoặc</a:t>
            </a:r>
            <a:r>
              <a:rPr lang="vi-VN" dirty="0">
                <a:effectLst>
                  <a:outerShdw blurRad="38100" dist="38100" dir="2700000" algn="tl">
                    <a:srgbClr val="000000">
                      <a:alpha val="43137"/>
                    </a:srgbClr>
                  </a:outerShdw>
                </a:effectLst>
              </a:rPr>
              <a:t> trên xuống </a:t>
            </a:r>
            <a:r>
              <a:rPr lang="vi-VN" dirty="0"/>
              <a:t>(</a:t>
            </a:r>
            <a:r>
              <a:rPr lang="en-US" dirty="0">
                <a:solidFill>
                  <a:srgbClr val="0070C0"/>
                </a:solidFill>
              </a:rPr>
              <a:t>top-down</a:t>
            </a:r>
            <a:r>
              <a:rPr lang="vi-VN" dirty="0"/>
              <a:t>): dùng chi phí thực các dự án tương tự, để ước lượng chi phí.</a:t>
            </a:r>
          </a:p>
          <a:p>
            <a:pPr algn="just">
              <a:spcBef>
                <a:spcPts val="1200"/>
              </a:spcBef>
              <a:spcAft>
                <a:spcPts val="1200"/>
              </a:spcAft>
            </a:pPr>
            <a:r>
              <a:rPr lang="vi-VN" dirty="0">
                <a:effectLst>
                  <a:outerShdw blurRad="38100" dist="38100" dir="2700000" algn="tl">
                    <a:srgbClr val="000000">
                      <a:alpha val="43137"/>
                    </a:srgbClr>
                  </a:outerShdw>
                </a:effectLst>
              </a:rPr>
              <a:t>Dưới lên</a:t>
            </a:r>
            <a:r>
              <a:rPr lang="vi-VN" dirty="0"/>
              <a:t> (</a:t>
            </a:r>
            <a:r>
              <a:rPr lang="en-US" dirty="0">
                <a:solidFill>
                  <a:srgbClr val="0070C0"/>
                </a:solidFill>
              </a:rPr>
              <a:t>bottom-up</a:t>
            </a:r>
            <a:r>
              <a:rPr lang="vi-VN" dirty="0"/>
              <a:t>): tính các hạng mục công việc liên quan, và tổng hợp tổng ước lượng.</a:t>
            </a:r>
          </a:p>
          <a:p>
            <a:pPr algn="just">
              <a:spcBef>
                <a:spcPts val="1200"/>
              </a:spcBef>
              <a:spcAft>
                <a:spcPts val="1200"/>
              </a:spcAft>
            </a:pPr>
            <a:r>
              <a:rPr lang="vi-VN" dirty="0">
                <a:effectLst>
                  <a:outerShdw blurRad="38100" dist="38100" dir="2700000" algn="tl">
                    <a:srgbClr val="000000">
                      <a:alpha val="43137"/>
                    </a:srgbClr>
                  </a:outerShdw>
                </a:effectLst>
              </a:rPr>
              <a:t>Mô hình tham số </a:t>
            </a:r>
            <a:r>
              <a:rPr lang="vi-VN" dirty="0"/>
              <a:t>(</a:t>
            </a:r>
            <a:r>
              <a:rPr lang="en-US" dirty="0">
                <a:solidFill>
                  <a:srgbClr val="0070C0"/>
                </a:solidFill>
              </a:rPr>
              <a:t>parametric model</a:t>
            </a:r>
            <a:r>
              <a:rPr lang="vi-VN" dirty="0"/>
              <a:t>): dùng các đặc điểm/tham số dự án trong mô hình toán để ước lượng chi phí.</a:t>
            </a:r>
          </a:p>
        </p:txBody>
      </p:sp>
      <p:sp>
        <p:nvSpPr>
          <p:cNvPr id="36866" name="Rectangle 2"/>
          <p:cNvSpPr>
            <a:spLocks noGrp="1" noChangeArrowheads="1"/>
          </p:cNvSpPr>
          <p:nvPr>
            <p:ph type="title"/>
          </p:nvPr>
        </p:nvSpPr>
        <p:spPr>
          <a:xfrm>
            <a:off x="0" y="381000"/>
            <a:ext cx="9144000" cy="652463"/>
          </a:xfrm>
        </p:spPr>
        <p:txBody>
          <a:bodyPr>
            <a:noAutofit/>
          </a:bodyPr>
          <a:lstStyle/>
          <a:p>
            <a:pPr algn="ctr"/>
            <a:r>
              <a:rPr lang="en-US" sz="4000" dirty="0" err="1">
                <a:solidFill>
                  <a:srgbClr val="0070C0"/>
                </a:solidFill>
              </a:rPr>
              <a:t>Công</a:t>
            </a:r>
            <a:r>
              <a:rPr lang="en-US" sz="4000" dirty="0">
                <a:solidFill>
                  <a:srgbClr val="0070C0"/>
                </a:solidFill>
              </a:rPr>
              <a:t> </a:t>
            </a:r>
            <a:r>
              <a:rPr lang="en-US" sz="4000" dirty="0" err="1">
                <a:solidFill>
                  <a:srgbClr val="0070C0"/>
                </a:solidFill>
              </a:rPr>
              <a:t>cụ</a:t>
            </a:r>
            <a:r>
              <a:rPr lang="en-US" sz="4000" dirty="0">
                <a:solidFill>
                  <a:srgbClr val="0070C0"/>
                </a:solidFill>
              </a:rPr>
              <a:t> và </a:t>
            </a:r>
            <a:r>
              <a:rPr lang="en-US" sz="4000" dirty="0" err="1">
                <a:solidFill>
                  <a:srgbClr val="0070C0"/>
                </a:solidFill>
              </a:rPr>
              <a:t>kỹ</a:t>
            </a:r>
            <a:r>
              <a:rPr lang="en-US" sz="4000" dirty="0">
                <a:solidFill>
                  <a:srgbClr val="0070C0"/>
                </a:solidFill>
              </a:rPr>
              <a:t> </a:t>
            </a:r>
            <a:r>
              <a:rPr lang="en-US" sz="4000" dirty="0" err="1">
                <a:solidFill>
                  <a:srgbClr val="0070C0"/>
                </a:solidFill>
              </a:rPr>
              <a:t>thuật</a:t>
            </a:r>
            <a:r>
              <a:rPr lang="en-US" sz="4000" dirty="0">
                <a:solidFill>
                  <a:srgbClr val="0070C0"/>
                </a:solidFill>
              </a:rPr>
              <a:t> </a:t>
            </a:r>
            <a:r>
              <a:rPr lang="en-US" sz="4000" dirty="0" err="1">
                <a:solidFill>
                  <a:srgbClr val="0070C0"/>
                </a:solidFill>
              </a:rPr>
              <a:t>ước</a:t>
            </a:r>
            <a:r>
              <a:rPr lang="en-US" sz="4000" dirty="0">
                <a:solidFill>
                  <a:srgbClr val="0070C0"/>
                </a:solidFill>
              </a:rPr>
              <a:t> </a:t>
            </a:r>
            <a:r>
              <a:rPr lang="en-US" sz="4000" dirty="0" err="1">
                <a:solidFill>
                  <a:srgbClr val="0070C0"/>
                </a:solidFill>
              </a:rPr>
              <a:t>lượng</a:t>
            </a:r>
            <a:endParaRPr lang="en-US" sz="4400" dirty="0">
              <a:solidFill>
                <a:srgbClr val="0070C0"/>
              </a:solidFill>
            </a:endParaRPr>
          </a:p>
        </p:txBody>
      </p:sp>
      <p:sp>
        <p:nvSpPr>
          <p:cNvPr id="3686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4CA1164-1E66-4728-BD22-9CEFEE3019E9}" type="slidenum">
              <a:rPr lang="en-US" smtClean="0"/>
              <a:pPr>
                <a:defRPr/>
              </a:pPr>
              <a:t>26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762000" y="1981200"/>
            <a:ext cx="7924800" cy="3124200"/>
          </a:xfrm>
        </p:spPr>
        <p:txBody>
          <a:bodyPr/>
          <a:lstStyle/>
          <a:p>
            <a:r>
              <a:rPr lang="vi-VN" dirty="0"/>
              <a:t>Các ước lượng được thực hiện quá nhanh.</a:t>
            </a:r>
          </a:p>
          <a:p>
            <a:endParaRPr lang="vi-VN" sz="1200" dirty="0"/>
          </a:p>
          <a:p>
            <a:r>
              <a:rPr lang="vi-VN" dirty="0"/>
              <a:t>Thiếu người có kinh nghiệm ước lượng chi phí.</a:t>
            </a:r>
          </a:p>
          <a:p>
            <a:endParaRPr lang="vi-VN" sz="1200" dirty="0"/>
          </a:p>
          <a:p>
            <a:r>
              <a:rPr lang="vi-VN" dirty="0"/>
              <a:t>Đánh giá thấp yếu tố nhân lực CNTT/HTTT.</a:t>
            </a:r>
          </a:p>
          <a:p>
            <a:endParaRPr lang="vi-VN" sz="1200" dirty="0"/>
          </a:p>
          <a:p>
            <a:r>
              <a:rPr lang="vi-VN" dirty="0"/>
              <a:t>Ban điều hành muốn mọi thứ luôn chính xác.</a:t>
            </a:r>
          </a:p>
          <a:p>
            <a:pPr marL="109537" indent="0">
              <a:lnSpc>
                <a:spcPct val="90000"/>
              </a:lnSpc>
              <a:buNone/>
            </a:pPr>
            <a:endParaRPr lang="en-US" dirty="0"/>
          </a:p>
        </p:txBody>
      </p:sp>
      <p:sp>
        <p:nvSpPr>
          <p:cNvPr id="37890" name="Rectangle 2"/>
          <p:cNvSpPr>
            <a:spLocks noGrp="1" noChangeArrowheads="1"/>
          </p:cNvSpPr>
          <p:nvPr>
            <p:ph type="title"/>
          </p:nvPr>
        </p:nvSpPr>
        <p:spPr>
          <a:xfrm>
            <a:off x="457200" y="381000"/>
            <a:ext cx="8458200" cy="1143000"/>
          </a:xfrm>
        </p:spPr>
        <p:txBody>
          <a:bodyPr>
            <a:noAutofit/>
          </a:bodyPr>
          <a:lstStyle/>
          <a:p>
            <a:pPr algn="ctr"/>
            <a:r>
              <a:rPr lang="en-US" sz="4400" dirty="0" err="1">
                <a:solidFill>
                  <a:srgbClr val="0070C0"/>
                </a:solidFill>
              </a:rPr>
              <a:t>Các</a:t>
            </a:r>
            <a:r>
              <a:rPr lang="en-US" sz="4400" dirty="0">
                <a:solidFill>
                  <a:srgbClr val="0070C0"/>
                </a:solidFill>
              </a:rPr>
              <a:t> </a:t>
            </a:r>
            <a:r>
              <a:rPr lang="en-US" sz="4400" dirty="0" err="1">
                <a:solidFill>
                  <a:srgbClr val="0070C0"/>
                </a:solidFill>
              </a:rPr>
              <a:t>vấn</a:t>
            </a:r>
            <a:r>
              <a:rPr lang="en-US" sz="4400" dirty="0">
                <a:solidFill>
                  <a:srgbClr val="0070C0"/>
                </a:solidFill>
              </a:rPr>
              <a:t> </a:t>
            </a:r>
            <a:r>
              <a:rPr lang="en-US" sz="4400" dirty="0" err="1">
                <a:solidFill>
                  <a:srgbClr val="0070C0"/>
                </a:solidFill>
              </a:rPr>
              <a:t>đề</a:t>
            </a:r>
            <a:r>
              <a:rPr lang="en-US" sz="4400" dirty="0">
                <a:solidFill>
                  <a:srgbClr val="0070C0"/>
                </a:solidFill>
              </a:rPr>
              <a:t> </a:t>
            </a:r>
            <a:r>
              <a:rPr lang="en-US" sz="4400" dirty="0" err="1">
                <a:solidFill>
                  <a:srgbClr val="0070C0"/>
                </a:solidFill>
              </a:rPr>
              <a:t>về</a:t>
            </a:r>
            <a:r>
              <a:rPr lang="en-US" sz="4400" dirty="0">
                <a:solidFill>
                  <a:srgbClr val="0070C0"/>
                </a:solidFill>
              </a:rPr>
              <a:t> chi </a:t>
            </a:r>
            <a:r>
              <a:rPr lang="en-US" sz="4400" dirty="0" err="1">
                <a:solidFill>
                  <a:srgbClr val="0070C0"/>
                </a:solidFill>
              </a:rPr>
              <a:t>phí</a:t>
            </a:r>
            <a:r>
              <a:rPr lang="en-US" sz="4400" dirty="0">
                <a:solidFill>
                  <a:srgbClr val="0070C0"/>
                </a:solidFill>
              </a:rPr>
              <a:t> HTTT</a:t>
            </a:r>
          </a:p>
        </p:txBody>
      </p:sp>
      <p:sp>
        <p:nvSpPr>
          <p:cNvPr id="3789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E244AFA2-5261-400E-B694-205D28302F21}"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457200" y="1905000"/>
            <a:ext cx="8153400" cy="2819400"/>
          </a:xfrm>
          <a:solidFill>
            <a:schemeClr val="bg2"/>
          </a:solidFill>
        </p:spPr>
        <p:txBody>
          <a:bodyPr/>
          <a:lstStyle/>
          <a:p>
            <a:pPr algn="just"/>
            <a:r>
              <a:rPr lang="vi-VN" dirty="0"/>
              <a:t>Ước lượng chi phí dự án </a:t>
            </a:r>
            <a:r>
              <a:rPr lang="vi-VN" dirty="0">
                <a:solidFill>
                  <a:srgbClr val="0070C0"/>
                </a:solidFill>
              </a:rPr>
              <a:t>Surveyor Pro</a:t>
            </a:r>
            <a:r>
              <a:rPr lang="vi-VN" dirty="0"/>
              <a:t>...</a:t>
            </a:r>
          </a:p>
          <a:p>
            <a:pPr lvl="1" algn="just">
              <a:buFont typeface="Arial" panose="020B0604020202020204" pitchFamily="34" charset="0"/>
              <a:buChar char="•"/>
            </a:pPr>
            <a:r>
              <a:rPr lang="vi-VN" sz="2400" dirty="0"/>
              <a:t>Thu thập càng nhiều thông tin càng tốt, để làm rõ các nguyên tắc nền và giả định về ước lượng.</a:t>
            </a:r>
          </a:p>
          <a:p>
            <a:pPr lvl="1" algn="just">
              <a:buFont typeface="Arial" panose="020B0604020202020204" pitchFamily="34" charset="0"/>
              <a:buChar char="•"/>
            </a:pPr>
            <a:endParaRPr lang="vi-VN" sz="800" dirty="0"/>
          </a:p>
          <a:p>
            <a:pPr lvl="1" algn="just">
              <a:buFont typeface="Arial" panose="020B0604020202020204" pitchFamily="34" charset="0"/>
              <a:buChar char="•"/>
            </a:pPr>
            <a:r>
              <a:rPr lang="vi-VN" sz="2400" dirty="0"/>
              <a:t>Ước lượng chi phí của các WBS chính. </a:t>
            </a:r>
          </a:p>
          <a:p>
            <a:pPr lvl="1" algn="just">
              <a:buFont typeface="Arial" panose="020B0604020202020204" pitchFamily="34" charset="0"/>
              <a:buChar char="•"/>
            </a:pPr>
            <a:endParaRPr lang="vi-VN" sz="800" dirty="0"/>
          </a:p>
          <a:p>
            <a:pPr lvl="1" algn="just">
              <a:buFont typeface="Arial" panose="020B0604020202020204" pitchFamily="34" charset="0"/>
              <a:buChar char="•"/>
            </a:pPr>
            <a:r>
              <a:rPr lang="vi-VN" sz="2400" dirty="0"/>
              <a:t>Tạo một mô hình chi phí sao cho dễ thay đổi và tài liệu hóa các ước lượng.</a:t>
            </a:r>
            <a:endParaRPr lang="en-US" sz="2400" dirty="0"/>
          </a:p>
        </p:txBody>
      </p:sp>
      <p:sp>
        <p:nvSpPr>
          <p:cNvPr id="38914" name="Rectangle 2"/>
          <p:cNvSpPr>
            <a:spLocks noGrp="1" noChangeArrowheads="1"/>
          </p:cNvSpPr>
          <p:nvPr>
            <p:ph type="title"/>
          </p:nvPr>
        </p:nvSpPr>
        <p:spPr>
          <a:xfrm>
            <a:off x="152400" y="503238"/>
            <a:ext cx="8763000" cy="868362"/>
          </a:xfrm>
        </p:spPr>
        <p:txBody>
          <a:bodyPr>
            <a:normAutofit/>
          </a:bodyPr>
          <a:lstStyle/>
          <a:p>
            <a:pPr algn="ctr"/>
            <a:r>
              <a:rPr lang="en-US" sz="3600" dirty="0" err="1">
                <a:solidFill>
                  <a:schemeClr val="tx1"/>
                </a:solidFill>
              </a:rPr>
              <a:t>Ví</a:t>
            </a:r>
            <a:r>
              <a:rPr lang="en-US" sz="3600" dirty="0">
                <a:solidFill>
                  <a:schemeClr val="tx1"/>
                </a:solidFill>
              </a:rPr>
              <a:t> </a:t>
            </a:r>
            <a:r>
              <a:rPr lang="en-US" sz="3600" dirty="0" err="1">
                <a:solidFill>
                  <a:schemeClr val="tx1"/>
                </a:solidFill>
              </a:rPr>
              <a:t>dụ</a:t>
            </a:r>
            <a:r>
              <a:rPr lang="en-US" sz="3600" dirty="0">
                <a:solidFill>
                  <a:schemeClr val="tx1"/>
                </a:solidFill>
              </a:rPr>
              <a:t>, </a:t>
            </a:r>
            <a:r>
              <a:rPr lang="en-US" sz="3600" dirty="0" err="1">
                <a:solidFill>
                  <a:schemeClr val="tx1"/>
                </a:solidFill>
              </a:rPr>
              <a:t>dự</a:t>
            </a:r>
            <a:r>
              <a:rPr lang="en-US" sz="3600" dirty="0">
                <a:solidFill>
                  <a:schemeClr val="tx1"/>
                </a:solidFill>
              </a:rPr>
              <a:t> </a:t>
            </a:r>
            <a:r>
              <a:rPr lang="en-US" sz="3600" dirty="0" err="1">
                <a:solidFill>
                  <a:schemeClr val="tx1"/>
                </a:solidFill>
              </a:rPr>
              <a:t>án</a:t>
            </a:r>
            <a:r>
              <a:rPr lang="en-US" sz="3600" dirty="0">
                <a:solidFill>
                  <a:schemeClr val="tx1"/>
                </a:solidFill>
              </a:rPr>
              <a:t> Surveyor Pro</a:t>
            </a:r>
          </a:p>
        </p:txBody>
      </p:sp>
      <p:sp>
        <p:nvSpPr>
          <p:cNvPr id="3891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6589100D-62CE-45A5-8F36-EA508C727B8F}" type="slidenum">
              <a:rPr lang="en-US" smtClean="0"/>
              <a:pPr>
                <a:defRPr/>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3629" y="152400"/>
            <a:ext cx="9144000" cy="685800"/>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ước</a:t>
            </a:r>
            <a:r>
              <a:rPr lang="en-US" sz="3600" dirty="0"/>
              <a:t> </a:t>
            </a:r>
            <a:r>
              <a:rPr lang="en-US" sz="3600" dirty="0" err="1"/>
              <a:t>lượng</a:t>
            </a:r>
            <a:r>
              <a:rPr lang="en-US" sz="3600" dirty="0"/>
              <a:t> chi </a:t>
            </a:r>
            <a:r>
              <a:rPr lang="en-US" sz="3600" dirty="0" err="1"/>
              <a:t>phí</a:t>
            </a:r>
            <a:r>
              <a:rPr lang="en-US" sz="3600" dirty="0"/>
              <a:t> </a:t>
            </a:r>
            <a:r>
              <a:rPr lang="en-US" sz="3600" dirty="0" err="1"/>
              <a:t>dự</a:t>
            </a:r>
            <a:r>
              <a:rPr lang="en-US" sz="3600" dirty="0"/>
              <a:t> </a:t>
            </a:r>
            <a:r>
              <a:rPr lang="en-US" sz="3600" dirty="0" err="1"/>
              <a:t>án</a:t>
            </a:r>
            <a:endParaRPr lang="en-US" sz="3600" dirty="0"/>
          </a:p>
        </p:txBody>
      </p:sp>
      <p:sp>
        <p:nvSpPr>
          <p:cNvPr id="39940"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C0618DA8-A2F6-4956-A9FC-B37EA1B1ABA1}" type="slidenum">
              <a:rPr lang="en-US" smtClean="0"/>
              <a:pPr>
                <a:buFontTx/>
                <a:buNone/>
                <a:defRPr/>
              </a:pPr>
              <a:t>29</a:t>
            </a:fld>
            <a:endParaRPr lang="en-US" dirty="0"/>
          </a:p>
        </p:txBody>
      </p:sp>
      <p:pic>
        <p:nvPicPr>
          <p:cNvPr id="4" name="Picture 3"/>
          <p:cNvPicPr>
            <a:picLocks noChangeAspect="1"/>
          </p:cNvPicPr>
          <p:nvPr/>
        </p:nvPicPr>
        <p:blipFill>
          <a:blip r:embed="rId2"/>
          <a:stretch>
            <a:fillRect/>
          </a:stretch>
        </p:blipFill>
        <p:spPr>
          <a:xfrm>
            <a:off x="0" y="0"/>
            <a:ext cx="9163050" cy="6858000"/>
          </a:xfrm>
          <a:prstGeom prst="rect">
            <a:avLst/>
          </a:prstGeom>
        </p:spPr>
      </p:pic>
      <p:sp>
        <p:nvSpPr>
          <p:cNvPr id="8" name="Rounded Rectangle 7"/>
          <p:cNvSpPr/>
          <p:nvPr/>
        </p:nvSpPr>
        <p:spPr>
          <a:xfrm>
            <a:off x="6934200" y="6445012"/>
            <a:ext cx="1241335" cy="346364"/>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0"/>
            <a:ext cx="9144000" cy="1020762"/>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ước</a:t>
            </a:r>
            <a:r>
              <a:rPr lang="en-US" sz="3600" dirty="0"/>
              <a:t> </a:t>
            </a:r>
            <a:r>
              <a:rPr lang="en-US" sz="3600" dirty="0" err="1"/>
              <a:t>lượng</a:t>
            </a:r>
            <a:r>
              <a:rPr lang="en-US" sz="3600" dirty="0"/>
              <a:t> </a:t>
            </a:r>
            <a:r>
              <a:rPr lang="en-US" sz="3600" dirty="0" err="1"/>
              <a:t>dự</a:t>
            </a:r>
            <a:r>
              <a:rPr lang="en-US" sz="3600" dirty="0"/>
              <a:t> </a:t>
            </a:r>
            <a:r>
              <a:rPr lang="en-US" sz="3600" dirty="0" err="1"/>
              <a:t>án</a:t>
            </a:r>
            <a:r>
              <a:rPr lang="en-US" sz="3600" dirty="0"/>
              <a:t> Surveyor Pro</a:t>
            </a:r>
          </a:p>
        </p:txBody>
      </p:sp>
      <p:sp>
        <p:nvSpPr>
          <p:cNvPr id="40964"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CDBD7AE8-2AE4-4923-88E4-A0ECF81B017B}" type="slidenum">
              <a:rPr lang="en-US" smtClean="0"/>
              <a:pPr>
                <a:defRPr/>
              </a:pPr>
              <a:t>30</a:t>
            </a:fld>
            <a:endParaRPr lang="en-US" dirty="0"/>
          </a:p>
        </p:txBody>
      </p:sp>
      <p:pic>
        <p:nvPicPr>
          <p:cNvPr id="2" name="Picture 1"/>
          <p:cNvPicPr>
            <a:picLocks noChangeAspect="1"/>
          </p:cNvPicPr>
          <p:nvPr/>
        </p:nvPicPr>
        <p:blipFill>
          <a:blip r:embed="rId2"/>
          <a:stretch>
            <a:fillRect/>
          </a:stretch>
        </p:blipFill>
        <p:spPr>
          <a:xfrm>
            <a:off x="-19050" y="1066800"/>
            <a:ext cx="9163050" cy="5486400"/>
          </a:xfrm>
          <a:prstGeom prst="rect">
            <a:avLst/>
          </a:prstGeom>
        </p:spPr>
      </p:pic>
      <p:sp>
        <p:nvSpPr>
          <p:cNvPr id="7" name="Rounded Rectangle 6"/>
          <p:cNvSpPr/>
          <p:nvPr/>
        </p:nvSpPr>
        <p:spPr>
          <a:xfrm>
            <a:off x="5755904" y="1706457"/>
            <a:ext cx="1025896" cy="286251"/>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ounded Rectangle 8"/>
          <p:cNvSpPr/>
          <p:nvPr/>
        </p:nvSpPr>
        <p:spPr>
          <a:xfrm>
            <a:off x="5746519" y="5973657"/>
            <a:ext cx="1025896" cy="286251"/>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38100" y="1066800"/>
            <a:ext cx="9067800" cy="401955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31</a:t>
            </a:fld>
            <a:endParaRPr lang="en-US" dirty="0"/>
          </a:p>
        </p:txBody>
      </p:sp>
      <p:sp>
        <p:nvSpPr>
          <p:cNvPr id="7" name="Rounded Rectangle 6"/>
          <p:cNvSpPr/>
          <p:nvPr/>
        </p:nvSpPr>
        <p:spPr>
          <a:xfrm>
            <a:off x="1371600" y="4599296"/>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2" name="Picture 1"/>
          <p:cNvPicPr>
            <a:picLocks noChangeAspect="1"/>
          </p:cNvPicPr>
          <p:nvPr/>
        </p:nvPicPr>
        <p:blipFill>
          <a:blip r:embed="rId3"/>
          <a:stretch>
            <a:fillRect/>
          </a:stretch>
        </p:blipFill>
        <p:spPr>
          <a:xfrm>
            <a:off x="5486400" y="4827396"/>
            <a:ext cx="1905000" cy="2030604"/>
          </a:xfrm>
          <a:prstGeom prst="rect">
            <a:avLst/>
          </a:prstGeom>
        </p:spPr>
      </p:pic>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chi </a:t>
            </a:r>
            <a:r>
              <a:rPr lang="en-US" sz="4000" dirty="0" err="1">
                <a:solidFill>
                  <a:schemeClr val="bg1">
                    <a:lumMod val="65000"/>
                  </a:schemeClr>
                </a:solidFill>
              </a:rPr>
              <a:t>phí</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[3/4]</a:t>
            </a:r>
          </a:p>
        </p:txBody>
      </p:sp>
    </p:spTree>
    <p:extLst>
      <p:ext uri="{BB962C8B-B14F-4D97-AF65-F5344CB8AC3E}">
        <p14:creationId xmlns:p14="http://schemas.microsoft.com/office/powerpoint/2010/main" val="140020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304800" y="1676400"/>
            <a:ext cx="8458200" cy="4191000"/>
          </a:xfrm>
        </p:spPr>
        <p:txBody>
          <a:bodyPr/>
          <a:lstStyle/>
          <a:p>
            <a:pPr algn="just"/>
            <a:r>
              <a:rPr lang="vi-VN" b="1" dirty="0"/>
              <a:t>Xác định ngân sách</a:t>
            </a:r>
            <a:r>
              <a:rPr lang="vi-VN" dirty="0"/>
              <a:t> (</a:t>
            </a:r>
            <a:r>
              <a:rPr lang="en-US" dirty="0">
                <a:solidFill>
                  <a:srgbClr val="0070C0"/>
                </a:solidFill>
              </a:rPr>
              <a:t>determine budget</a:t>
            </a:r>
            <a:r>
              <a:rPr lang="vi-VN" dirty="0"/>
              <a:t>) liên quan đến việc phân bổ chi phí cho các hạng mục công việc theo thời gian.</a:t>
            </a:r>
            <a:endParaRPr lang="vi-VN" sz="1200" dirty="0"/>
          </a:p>
          <a:p>
            <a:pPr lvl="1" algn="just">
              <a:buFont typeface="Arial" panose="020B0604020202020204" pitchFamily="34" charset="0"/>
              <a:buChar char="•"/>
            </a:pPr>
            <a:r>
              <a:rPr lang="vi-VN" sz="2400" dirty="0"/>
              <a:t>WBS là đầu vào của xác định ngân sách...</a:t>
            </a:r>
          </a:p>
          <a:p>
            <a:pPr algn="just"/>
            <a:endParaRPr lang="vi-VN" sz="1200" dirty="0"/>
          </a:p>
          <a:p>
            <a:pPr algn="just"/>
            <a:r>
              <a:rPr lang="vi-VN" dirty="0"/>
              <a:t>Mục tiêu tạo ra </a:t>
            </a:r>
            <a:r>
              <a:rPr lang="vi-VN" dirty="0">
                <a:effectLst>
                  <a:outerShdw blurRad="38100" dist="38100" dir="2700000" algn="tl">
                    <a:srgbClr val="000000">
                      <a:alpha val="43137"/>
                    </a:srgbClr>
                  </a:outerShdw>
                </a:effectLst>
              </a:rPr>
              <a:t>đường cơ sở chi phí </a:t>
            </a:r>
            <a:r>
              <a:rPr lang="vi-VN" dirty="0"/>
              <a:t>(</a:t>
            </a:r>
            <a:r>
              <a:rPr lang="vi-VN" dirty="0">
                <a:solidFill>
                  <a:srgbClr val="0070C0"/>
                </a:solidFill>
              </a:rPr>
              <a:t>cost baseline</a:t>
            </a:r>
            <a:r>
              <a:rPr lang="vi-VN" dirty="0"/>
              <a:t>)</a:t>
            </a:r>
          </a:p>
          <a:p>
            <a:pPr lvl="1" algn="just">
              <a:buFont typeface="Arial" panose="020B0604020202020204" pitchFamily="34" charset="0"/>
              <a:buChar char="•"/>
            </a:pPr>
            <a:r>
              <a:rPr lang="vi-VN" sz="2400" dirty="0"/>
              <a:t>Ngân sách theo giai đoạn thời gian để giám đốc dự án đo lường và giám sát hiệu quả chi phí.</a:t>
            </a:r>
            <a:r>
              <a:rPr lang="en-US" sz="2400" dirty="0"/>
              <a:t> </a:t>
            </a:r>
          </a:p>
        </p:txBody>
      </p:sp>
      <p:sp>
        <p:nvSpPr>
          <p:cNvPr id="41986" name="Rectangle 2"/>
          <p:cNvSpPr>
            <a:spLocks noGrp="1" noChangeArrowheads="1"/>
          </p:cNvSpPr>
          <p:nvPr>
            <p:ph type="title"/>
          </p:nvPr>
        </p:nvSpPr>
        <p:spPr>
          <a:xfrm>
            <a:off x="304800" y="228600"/>
            <a:ext cx="8458200" cy="1066800"/>
          </a:xfrm>
        </p:spPr>
        <p:txBody>
          <a:bodyPr>
            <a:normAutofit/>
          </a:bodyPr>
          <a:lstStyle/>
          <a:p>
            <a:pPr algn="ctr"/>
            <a:r>
              <a:rPr lang="en-US" sz="4400" dirty="0">
                <a:solidFill>
                  <a:srgbClr val="FF0000"/>
                </a:solidFill>
              </a:rPr>
              <a:t>3. </a:t>
            </a:r>
            <a:r>
              <a:rPr lang="en-US" sz="4400" dirty="0" err="1">
                <a:solidFill>
                  <a:srgbClr val="FF0000"/>
                </a:solidFill>
              </a:rPr>
              <a:t>Xác</a:t>
            </a:r>
            <a:r>
              <a:rPr lang="en-US" sz="4400" dirty="0">
                <a:solidFill>
                  <a:srgbClr val="FF0000"/>
                </a:solidFill>
              </a:rPr>
              <a:t> </a:t>
            </a:r>
            <a:r>
              <a:rPr lang="en-US" sz="4400" dirty="0" err="1">
                <a:solidFill>
                  <a:srgbClr val="FF0000"/>
                </a:solidFill>
              </a:rPr>
              <a:t>định</a:t>
            </a:r>
            <a:r>
              <a:rPr lang="en-US" sz="4400" dirty="0">
                <a:solidFill>
                  <a:srgbClr val="FF0000"/>
                </a:solidFill>
              </a:rPr>
              <a:t> </a:t>
            </a:r>
            <a:r>
              <a:rPr lang="en-US" sz="4400" dirty="0" err="1">
                <a:solidFill>
                  <a:srgbClr val="FF0000"/>
                </a:solidFill>
              </a:rPr>
              <a:t>ngân</a:t>
            </a:r>
            <a:r>
              <a:rPr lang="en-US" sz="4400" dirty="0">
                <a:solidFill>
                  <a:srgbClr val="FF0000"/>
                </a:solidFill>
              </a:rPr>
              <a:t> </a:t>
            </a:r>
            <a:r>
              <a:rPr lang="en-US" sz="4400" dirty="0" err="1">
                <a:solidFill>
                  <a:srgbClr val="FF0000"/>
                </a:solidFill>
              </a:rPr>
              <a:t>sách</a:t>
            </a:r>
            <a:endParaRPr lang="en-US" sz="4400" dirty="0">
              <a:solidFill>
                <a:srgbClr val="FF0000"/>
              </a:solidFill>
            </a:endParaRPr>
          </a:p>
        </p:txBody>
      </p:sp>
      <p:sp>
        <p:nvSpPr>
          <p:cNvPr id="4198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27A85C03-A3EA-4B00-B6AA-9DC4B996F943}" type="slidenum">
              <a:rPr lang="en-US" smtClean="0"/>
              <a:pPr>
                <a:defRPr/>
              </a:pPr>
              <a:t>32</a:t>
            </a:fld>
            <a:endParaRPr lang="en-US" dirty="0"/>
          </a:p>
        </p:txBody>
      </p:sp>
      <p:pic>
        <p:nvPicPr>
          <p:cNvPr id="2" name="Picture 1"/>
          <p:cNvPicPr>
            <a:picLocks noChangeAspect="1"/>
          </p:cNvPicPr>
          <p:nvPr/>
        </p:nvPicPr>
        <p:blipFill>
          <a:blip r:embed="rId2"/>
          <a:stretch>
            <a:fillRect/>
          </a:stretch>
        </p:blipFill>
        <p:spPr>
          <a:xfrm>
            <a:off x="6629400" y="5180089"/>
            <a:ext cx="1803400" cy="13731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a:xfrm>
            <a:off x="493594" y="0"/>
            <a:ext cx="8193206" cy="1143000"/>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đường</a:t>
            </a:r>
            <a:r>
              <a:rPr lang="en-US" sz="3600" dirty="0"/>
              <a:t> </a:t>
            </a:r>
            <a:r>
              <a:rPr lang="en-US" sz="3600" dirty="0" err="1"/>
              <a:t>cơ</a:t>
            </a:r>
            <a:r>
              <a:rPr lang="en-US" sz="3600" dirty="0"/>
              <a:t> </a:t>
            </a:r>
            <a:r>
              <a:rPr lang="en-US" sz="3600" dirty="0" err="1"/>
              <a:t>sở</a:t>
            </a:r>
            <a:r>
              <a:rPr lang="en-US" sz="3600" dirty="0"/>
              <a:t> chi </a:t>
            </a:r>
            <a:r>
              <a:rPr lang="en-US" sz="3600" dirty="0" err="1"/>
              <a:t>phí</a:t>
            </a:r>
            <a:endParaRPr lang="en-US" sz="3600" dirty="0"/>
          </a:p>
        </p:txBody>
      </p:sp>
      <p:sp>
        <p:nvSpPr>
          <p:cNvPr id="43012"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ED5328D6-3EB7-4C2A-8389-762E5618835F}" type="slidenum">
              <a:rPr lang="en-US" smtClean="0"/>
              <a:pPr>
                <a:buFontTx/>
                <a:buNone/>
                <a:defRPr/>
              </a:pPr>
              <a:t>33</a:t>
            </a:fld>
            <a:endParaRPr lang="en-US" dirty="0"/>
          </a:p>
        </p:txBody>
      </p:sp>
      <p:pic>
        <p:nvPicPr>
          <p:cNvPr id="3" name="Picture 2"/>
          <p:cNvPicPr>
            <a:picLocks noChangeAspect="1"/>
          </p:cNvPicPr>
          <p:nvPr/>
        </p:nvPicPr>
        <p:blipFill>
          <a:blip r:embed="rId2"/>
          <a:stretch>
            <a:fillRect/>
          </a:stretch>
        </p:blipFill>
        <p:spPr>
          <a:xfrm>
            <a:off x="0" y="1143000"/>
            <a:ext cx="9144000" cy="5334000"/>
          </a:xfrm>
          <a:prstGeom prst="rect">
            <a:avLst/>
          </a:prstGeom>
        </p:spPr>
      </p:pic>
      <p:sp>
        <p:nvSpPr>
          <p:cNvPr id="7" name="Rounded Rectangle 6"/>
          <p:cNvSpPr/>
          <p:nvPr/>
        </p:nvSpPr>
        <p:spPr>
          <a:xfrm>
            <a:off x="8115300" y="6092608"/>
            <a:ext cx="989297" cy="21929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43748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buFontTx/>
              <a:buNone/>
              <a:defRPr/>
            </a:pPr>
            <a:fld id="{ED5328D6-3EB7-4C2A-8389-762E5618835F}" type="slidenum">
              <a:rPr lang="en-US" smtClean="0"/>
              <a:pPr>
                <a:buFontTx/>
                <a:buNone/>
                <a:defRPr/>
              </a:pPr>
              <a:t>34</a:t>
            </a:fld>
            <a:endParaRPr lang="en-US" dirty="0"/>
          </a:p>
        </p:txBody>
      </p:sp>
      <p:sp>
        <p:nvSpPr>
          <p:cNvPr id="43012"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5" name="Picture 4"/>
          <p:cNvPicPr>
            <a:picLocks noChangeAspect="1"/>
          </p:cNvPicPr>
          <p:nvPr/>
        </p:nvPicPr>
        <p:blipFill>
          <a:blip r:embed="rId2"/>
          <a:stretch>
            <a:fillRect/>
          </a:stretch>
        </p:blipFill>
        <p:spPr>
          <a:xfrm>
            <a:off x="-30480" y="1171434"/>
            <a:ext cx="9174480" cy="5686566"/>
          </a:xfrm>
          <a:prstGeom prst="rect">
            <a:avLst/>
          </a:prstGeom>
        </p:spPr>
      </p:pic>
      <p:sp>
        <p:nvSpPr>
          <p:cNvPr id="43010" name="Rectangle 4"/>
          <p:cNvSpPr>
            <a:spLocks noGrp="1" noChangeArrowheads="1"/>
          </p:cNvSpPr>
          <p:nvPr>
            <p:ph type="title"/>
          </p:nvPr>
        </p:nvSpPr>
        <p:spPr>
          <a:xfrm>
            <a:off x="381000" y="152400"/>
            <a:ext cx="8498006" cy="990600"/>
          </a:xfrm>
        </p:spPr>
        <p:txBody>
          <a:bodyPr>
            <a:noAutofit/>
          </a:bodyPr>
          <a:lstStyle/>
          <a:p>
            <a:pPr algn="ctr"/>
            <a:r>
              <a:rPr lang="en-US" sz="3600" dirty="0" err="1"/>
              <a:t>Các</a:t>
            </a:r>
            <a:r>
              <a:rPr lang="en-US" sz="3600" dirty="0"/>
              <a:t> </a:t>
            </a:r>
            <a:r>
              <a:rPr lang="en-US" sz="3600" dirty="0" err="1"/>
              <a:t>thành</a:t>
            </a:r>
            <a:r>
              <a:rPr lang="en-US" sz="3600" dirty="0"/>
              <a:t> </a:t>
            </a:r>
            <a:r>
              <a:rPr lang="en-US" sz="3600" dirty="0" err="1"/>
              <a:t>phần</a:t>
            </a:r>
            <a:r>
              <a:rPr lang="en-US" sz="3600" dirty="0"/>
              <a:t> </a:t>
            </a:r>
            <a:r>
              <a:rPr lang="en-US" sz="3600" dirty="0" err="1"/>
              <a:t>ngân</a:t>
            </a:r>
            <a:r>
              <a:rPr lang="en-US" sz="3600" dirty="0"/>
              <a:t> </a:t>
            </a:r>
            <a:r>
              <a:rPr lang="en-US" sz="3600" dirty="0" err="1"/>
              <a:t>sách</a:t>
            </a:r>
            <a:r>
              <a:rPr lang="en-US" sz="3600" dirty="0"/>
              <a:t> </a:t>
            </a:r>
            <a:r>
              <a:rPr lang="en-US" sz="3600" dirty="0" err="1"/>
              <a:t>dự</a:t>
            </a:r>
            <a:r>
              <a:rPr lang="en-US" sz="3600" dirty="0"/>
              <a:t> </a:t>
            </a:r>
            <a:r>
              <a:rPr lang="en-US" sz="3600" dirty="0" err="1"/>
              <a:t>án</a:t>
            </a:r>
            <a:endParaRPr lang="en-US" sz="3600" dirty="0"/>
          </a:p>
        </p:txBody>
      </p:sp>
      <p:cxnSp>
        <p:nvCxnSpPr>
          <p:cNvPr id="7" name="Straight Connector 6"/>
          <p:cNvCxnSpPr/>
          <p:nvPr/>
        </p:nvCxnSpPr>
        <p:spPr>
          <a:xfrm>
            <a:off x="807720" y="1502228"/>
            <a:ext cx="40386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743200" y="2209800"/>
            <a:ext cx="41910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876800" y="2849880"/>
            <a:ext cx="40386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381000" y="1905000"/>
            <a:ext cx="8382000" cy="2667000"/>
          </a:xfrm>
        </p:spPr>
        <p:txBody>
          <a:bodyPr/>
          <a:lstStyle/>
          <a:p>
            <a:pPr algn="just">
              <a:spcAft>
                <a:spcPts val="600"/>
              </a:spcAft>
            </a:pPr>
            <a:r>
              <a:rPr lang="vi-VN" dirty="0">
                <a:effectLst>
                  <a:outerShdw blurRad="38100" dist="38100" dir="2700000" algn="tl">
                    <a:srgbClr val="000000">
                      <a:alpha val="43137"/>
                    </a:srgbClr>
                  </a:outerShdw>
                </a:effectLst>
              </a:rPr>
              <a:t>Dự trữ</a:t>
            </a:r>
            <a:r>
              <a:rPr lang="vi-VN" dirty="0"/>
              <a:t> (</a:t>
            </a:r>
            <a:r>
              <a:rPr lang="en-US" dirty="0">
                <a:solidFill>
                  <a:srgbClr val="0070C0"/>
                </a:solidFill>
              </a:rPr>
              <a:t>reserve</a:t>
            </a:r>
            <a:r>
              <a:rPr lang="vi-VN" dirty="0"/>
              <a:t>): lượng tiền ước lượng để giảm thiểu rủi ro chi phí, cho các tình huống khó có thể đoán trước.</a:t>
            </a:r>
          </a:p>
          <a:p>
            <a:pPr lvl="1" algn="just">
              <a:spcAft>
                <a:spcPts val="600"/>
              </a:spcAft>
            </a:pPr>
            <a:r>
              <a:rPr lang="vi-VN" sz="2400" dirty="0">
                <a:effectLst>
                  <a:outerShdw blurRad="38100" dist="38100" dir="2700000" algn="tl">
                    <a:srgbClr val="000000">
                      <a:alpha val="43137"/>
                    </a:srgbClr>
                  </a:outerShdw>
                </a:effectLst>
              </a:rPr>
              <a:t>Dự trữ quản lý</a:t>
            </a:r>
            <a:r>
              <a:rPr lang="vi-VN" sz="2400" dirty="0"/>
              <a:t> (</a:t>
            </a:r>
            <a:r>
              <a:rPr lang="en-US" sz="2400" dirty="0">
                <a:solidFill>
                  <a:srgbClr val="0070C0"/>
                </a:solidFill>
              </a:rPr>
              <a:t>management</a:t>
            </a:r>
            <a:r>
              <a:rPr lang="vi-VN" sz="2400" dirty="0"/>
              <a:t>)</a:t>
            </a:r>
            <a:r>
              <a:rPr lang="en-US" sz="2400" dirty="0"/>
              <a:t>: </a:t>
            </a:r>
            <a:r>
              <a:rPr lang="en-US" sz="2200" dirty="0"/>
              <a:t>unknown unknowns</a:t>
            </a:r>
          </a:p>
          <a:p>
            <a:pPr lvl="1" algn="just">
              <a:spcAft>
                <a:spcPts val="600"/>
              </a:spcAft>
            </a:pPr>
            <a:r>
              <a:rPr lang="vi-VN" sz="2400" dirty="0">
                <a:effectLst>
                  <a:outerShdw blurRad="38100" dist="38100" dir="2700000" algn="tl">
                    <a:srgbClr val="000000">
                      <a:alpha val="43137"/>
                    </a:srgbClr>
                  </a:outerShdw>
                </a:effectLst>
              </a:rPr>
              <a:t>Dự trữ dự phòng</a:t>
            </a:r>
            <a:r>
              <a:rPr lang="vi-VN" sz="2400" dirty="0"/>
              <a:t> (</a:t>
            </a:r>
            <a:r>
              <a:rPr lang="en-US" sz="2400" dirty="0">
                <a:solidFill>
                  <a:srgbClr val="0070C0"/>
                </a:solidFill>
              </a:rPr>
              <a:t>contingency</a:t>
            </a:r>
            <a:r>
              <a:rPr lang="vi-VN" sz="2400" dirty="0"/>
              <a:t>)</a:t>
            </a:r>
            <a:r>
              <a:rPr lang="en-US" sz="2400" dirty="0"/>
              <a:t>: </a:t>
            </a:r>
            <a:r>
              <a:rPr lang="en-US" sz="2200" dirty="0"/>
              <a:t>known unknowns</a:t>
            </a:r>
          </a:p>
          <a:p>
            <a:pPr lvl="1" algn="just"/>
            <a:endParaRPr lang="vi-VN" dirty="0"/>
          </a:p>
        </p:txBody>
      </p:sp>
      <p:sp>
        <p:nvSpPr>
          <p:cNvPr id="31746" name="Rectangle 2"/>
          <p:cNvSpPr>
            <a:spLocks noGrp="1" noChangeArrowheads="1"/>
          </p:cNvSpPr>
          <p:nvPr>
            <p:ph type="title"/>
          </p:nvPr>
        </p:nvSpPr>
        <p:spPr>
          <a:xfrm>
            <a:off x="304800" y="457200"/>
            <a:ext cx="8610600" cy="715962"/>
          </a:xfrm>
        </p:spPr>
        <p:txBody>
          <a:bodyPr>
            <a:normAutofit/>
          </a:bodyPr>
          <a:lstStyle/>
          <a:p>
            <a:pPr algn="ctr"/>
            <a:r>
              <a:rPr lang="en-US" sz="4000" dirty="0"/>
              <a:t>Chi </a:t>
            </a:r>
            <a:r>
              <a:rPr lang="en-US" sz="4000" dirty="0" err="1"/>
              <a:t>phí</a:t>
            </a:r>
            <a:r>
              <a:rPr lang="en-US" sz="4000" dirty="0"/>
              <a:t> </a:t>
            </a:r>
            <a:r>
              <a:rPr lang="en-US" sz="4000" dirty="0" err="1"/>
              <a:t>dự</a:t>
            </a:r>
            <a:r>
              <a:rPr lang="en-US" sz="4000" dirty="0"/>
              <a:t> </a:t>
            </a:r>
            <a:r>
              <a:rPr lang="en-US" sz="4000" dirty="0" err="1"/>
              <a:t>trữ</a:t>
            </a:r>
            <a:endParaRPr lang="en-US" sz="4000" dirty="0"/>
          </a:p>
        </p:txBody>
      </p:sp>
      <p:sp>
        <p:nvSpPr>
          <p:cNvPr id="317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2C29A66E-B55B-4BF5-AD2A-2A3550D95B5A}" type="slidenum">
              <a:rPr lang="en-US" smtClean="0"/>
              <a:pPr>
                <a:defRPr/>
              </a:pPr>
              <a:t>35</a:t>
            </a:fld>
            <a:endParaRPr lang="en-US" dirty="0"/>
          </a:p>
        </p:txBody>
      </p:sp>
    </p:spTree>
    <p:extLst>
      <p:ext uri="{BB962C8B-B14F-4D97-AF65-F5344CB8AC3E}">
        <p14:creationId xmlns:p14="http://schemas.microsoft.com/office/powerpoint/2010/main" val="2523801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38100" y="1066800"/>
            <a:ext cx="9067800" cy="401955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36</a:t>
            </a:fld>
            <a:endParaRPr lang="en-US" dirty="0"/>
          </a:p>
        </p:txBody>
      </p:sp>
      <p:sp>
        <p:nvSpPr>
          <p:cNvPr id="7" name="Rounded Rectangle 6"/>
          <p:cNvSpPr/>
          <p:nvPr/>
        </p:nvSpPr>
        <p:spPr>
          <a:xfrm>
            <a:off x="4953000" y="4012595"/>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chi </a:t>
            </a:r>
            <a:r>
              <a:rPr lang="en-US" sz="4000" dirty="0" err="1">
                <a:solidFill>
                  <a:schemeClr val="bg1">
                    <a:lumMod val="65000"/>
                  </a:schemeClr>
                </a:solidFill>
              </a:rPr>
              <a:t>phí</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[4/4]</a:t>
            </a:r>
          </a:p>
        </p:txBody>
      </p:sp>
      <p:pic>
        <p:nvPicPr>
          <p:cNvPr id="2" name="Picture 1"/>
          <p:cNvPicPr>
            <a:picLocks noChangeAspect="1"/>
          </p:cNvPicPr>
          <p:nvPr/>
        </p:nvPicPr>
        <p:blipFill>
          <a:blip r:embed="rId3"/>
          <a:stretch>
            <a:fillRect/>
          </a:stretch>
        </p:blipFill>
        <p:spPr>
          <a:xfrm>
            <a:off x="5562600" y="5041628"/>
            <a:ext cx="1066800" cy="1826607"/>
          </a:xfrm>
          <a:prstGeom prst="rect">
            <a:avLst/>
          </a:prstGeom>
        </p:spPr>
      </p:pic>
    </p:spTree>
    <p:extLst>
      <p:ext uri="{BB962C8B-B14F-4D97-AF65-F5344CB8AC3E}">
        <p14:creationId xmlns:p14="http://schemas.microsoft.com/office/powerpoint/2010/main" val="27901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533400" y="1295400"/>
            <a:ext cx="8153400" cy="4419600"/>
          </a:xfrm>
        </p:spPr>
        <p:txBody>
          <a:bodyPr/>
          <a:lstStyle/>
          <a:p>
            <a:pPr algn="just"/>
            <a:r>
              <a:rPr lang="en-US" b="1" dirty="0" err="1"/>
              <a:t>Kiểm</a:t>
            </a:r>
            <a:r>
              <a:rPr lang="en-US" b="1" dirty="0"/>
              <a:t> </a:t>
            </a:r>
            <a:r>
              <a:rPr lang="en-US" b="1" dirty="0" err="1"/>
              <a:t>soát</a:t>
            </a:r>
            <a:r>
              <a:rPr lang="en-US" b="1" dirty="0"/>
              <a:t> chi </a:t>
            </a:r>
            <a:r>
              <a:rPr lang="en-US" b="1" dirty="0" err="1"/>
              <a:t>phí</a:t>
            </a:r>
            <a:r>
              <a:rPr lang="en-US" b="1" dirty="0"/>
              <a:t> </a:t>
            </a:r>
            <a:r>
              <a:rPr lang="en-US" dirty="0"/>
              <a:t>(</a:t>
            </a:r>
            <a:r>
              <a:rPr lang="en-US" dirty="0">
                <a:solidFill>
                  <a:srgbClr val="0070C0"/>
                </a:solidFill>
              </a:rPr>
              <a:t>control cost</a:t>
            </a:r>
            <a:r>
              <a:rPr lang="en-US" dirty="0"/>
              <a:t>) </a:t>
            </a:r>
            <a:r>
              <a:rPr lang="en-US" dirty="0" err="1"/>
              <a:t>gồm</a:t>
            </a:r>
            <a:r>
              <a:rPr lang="en-US" dirty="0"/>
              <a:t>:</a:t>
            </a:r>
          </a:p>
          <a:p>
            <a:pPr lvl="1" algn="just">
              <a:buFont typeface="Arial" panose="020B0604020202020204" pitchFamily="34" charset="0"/>
              <a:buChar char="•"/>
            </a:pPr>
            <a:r>
              <a:rPr lang="vi-VN" sz="2400" dirty="0"/>
              <a:t>Giám sát việc thực hiện chi phí. </a:t>
            </a:r>
          </a:p>
          <a:p>
            <a:pPr lvl="1" algn="just">
              <a:buFont typeface="Arial" panose="020B0604020202020204" pitchFamily="34" charset="0"/>
              <a:buChar char="•"/>
            </a:pPr>
            <a:r>
              <a:rPr lang="vi-VN" sz="2400" dirty="0"/>
              <a:t>Chỉ thực hiện thay đổi hợp lý, bao gồm đường cơ sở chi phí sửa đổi.</a:t>
            </a:r>
          </a:p>
          <a:p>
            <a:pPr lvl="1" algn="just">
              <a:buFont typeface="Arial" panose="020B0604020202020204" pitchFamily="34" charset="0"/>
              <a:buChar char="•"/>
            </a:pPr>
            <a:r>
              <a:rPr lang="vi-VN" sz="2400" dirty="0"/>
              <a:t>Phải thông báo cho các bên liên quan những thay đổi có ảnh hưởng đến chi phí.</a:t>
            </a:r>
          </a:p>
          <a:p>
            <a:pPr lvl="1" algn="just"/>
            <a:endParaRPr lang="en-US" sz="1200" dirty="0"/>
          </a:p>
          <a:p>
            <a:pPr algn="just"/>
            <a:r>
              <a:rPr lang="vi-VN" dirty="0"/>
              <a:t>Nhiều tổ chức trên toàn thế giới luôn gặp vấn đề về kiểm soát chi phí.</a:t>
            </a:r>
            <a:endParaRPr lang="en-US" dirty="0"/>
          </a:p>
        </p:txBody>
      </p:sp>
      <p:sp>
        <p:nvSpPr>
          <p:cNvPr id="44034" name="Rectangle 2"/>
          <p:cNvSpPr>
            <a:spLocks noGrp="1" noChangeArrowheads="1"/>
          </p:cNvSpPr>
          <p:nvPr>
            <p:ph type="title"/>
          </p:nvPr>
        </p:nvSpPr>
        <p:spPr>
          <a:xfrm>
            <a:off x="609600" y="336550"/>
            <a:ext cx="8229600" cy="577850"/>
          </a:xfrm>
        </p:spPr>
        <p:txBody>
          <a:bodyPr>
            <a:noAutofit/>
          </a:bodyPr>
          <a:lstStyle/>
          <a:p>
            <a:pPr algn="ctr"/>
            <a:r>
              <a:rPr lang="en-US" sz="4400" dirty="0">
                <a:solidFill>
                  <a:srgbClr val="FF0000"/>
                </a:solidFill>
              </a:rPr>
              <a:t>4. </a:t>
            </a:r>
            <a:r>
              <a:rPr lang="en-US" sz="4400" dirty="0" err="1">
                <a:solidFill>
                  <a:srgbClr val="FF0000"/>
                </a:solidFill>
              </a:rPr>
              <a:t>Kiểm</a:t>
            </a:r>
            <a:r>
              <a:rPr lang="en-US" sz="4400" dirty="0">
                <a:solidFill>
                  <a:srgbClr val="FF0000"/>
                </a:solidFill>
              </a:rPr>
              <a:t> </a:t>
            </a:r>
            <a:r>
              <a:rPr lang="en-US" sz="4400" dirty="0" err="1">
                <a:solidFill>
                  <a:srgbClr val="FF0000"/>
                </a:solidFill>
              </a:rPr>
              <a:t>soát</a:t>
            </a:r>
            <a:r>
              <a:rPr lang="en-US" sz="4400" dirty="0">
                <a:solidFill>
                  <a:srgbClr val="FF0000"/>
                </a:solidFill>
              </a:rPr>
              <a:t> chi </a:t>
            </a:r>
            <a:r>
              <a:rPr lang="en-US" sz="4400" dirty="0" err="1">
                <a:solidFill>
                  <a:srgbClr val="FF0000"/>
                </a:solidFill>
              </a:rPr>
              <a:t>phí</a:t>
            </a:r>
            <a:endParaRPr lang="en-US" sz="4400" dirty="0">
              <a:solidFill>
                <a:srgbClr val="FF0000"/>
              </a:solidFill>
            </a:endParaRPr>
          </a:p>
        </p:txBody>
      </p:sp>
      <p:sp>
        <p:nvSpPr>
          <p:cNvPr id="4403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69CC44F1-BF8B-46B8-A195-54FF54A895E4}" type="slidenum">
              <a:rPr lang="en-US" smtClean="0"/>
              <a:pPr>
                <a:defRPr/>
              </a:pPr>
              <a:t>37</a:t>
            </a:fld>
            <a:endParaRPr lang="en-US" dirty="0"/>
          </a:p>
        </p:txBody>
      </p:sp>
      <p:pic>
        <p:nvPicPr>
          <p:cNvPr id="2" name="Picture 1"/>
          <p:cNvPicPr>
            <a:picLocks noChangeAspect="1"/>
          </p:cNvPicPr>
          <p:nvPr/>
        </p:nvPicPr>
        <p:blipFill>
          <a:blip r:embed="rId2"/>
          <a:stretch>
            <a:fillRect/>
          </a:stretch>
        </p:blipFill>
        <p:spPr>
          <a:xfrm>
            <a:off x="6096000" y="4800600"/>
            <a:ext cx="2353862" cy="15495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035">
                                            <p:txEl>
                                              <p:pRg st="5" end="5"/>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457200" y="1752600"/>
            <a:ext cx="8077200" cy="2743200"/>
          </a:xfrm>
        </p:spPr>
        <p:txBody>
          <a:bodyPr/>
          <a:lstStyle/>
          <a:p>
            <a:pPr algn="just"/>
            <a:r>
              <a:rPr lang="vi-VN" b="1" dirty="0"/>
              <a:t>Quản lý giá trị thu được</a:t>
            </a:r>
            <a:r>
              <a:rPr lang="vi-VN" dirty="0"/>
              <a:t> - </a:t>
            </a:r>
            <a:r>
              <a:rPr lang="vi-VN" dirty="0">
                <a:solidFill>
                  <a:srgbClr val="0070C0"/>
                </a:solidFill>
                <a:effectLst>
                  <a:outerShdw blurRad="38100" dist="38100" dir="2700000" algn="tl">
                    <a:srgbClr val="000000">
                      <a:alpha val="43137"/>
                    </a:srgbClr>
                  </a:outerShdw>
                </a:effectLst>
              </a:rPr>
              <a:t>EVM</a:t>
            </a:r>
            <a:r>
              <a:rPr lang="vi-VN" dirty="0">
                <a:solidFill>
                  <a:srgbClr val="0070C0"/>
                </a:solidFill>
              </a:rPr>
              <a:t> </a:t>
            </a:r>
            <a:r>
              <a:rPr lang="vi-VN" dirty="0"/>
              <a:t>(</a:t>
            </a:r>
            <a:r>
              <a:rPr lang="vi-VN" dirty="0">
                <a:solidFill>
                  <a:srgbClr val="0070C0"/>
                </a:solidFill>
              </a:rPr>
              <a:t>Earned Value Management</a:t>
            </a:r>
            <a:r>
              <a:rPr lang="vi-VN" dirty="0"/>
              <a:t>): kỹ thuật đo lường hiệu quả dự án, tích hợp với dữ liệu phạm vi - thời gian - chi phí.</a:t>
            </a:r>
          </a:p>
          <a:p>
            <a:pPr algn="just"/>
            <a:endParaRPr lang="en-US" sz="1200" dirty="0"/>
          </a:p>
          <a:p>
            <a:pPr algn="just"/>
            <a:r>
              <a:rPr lang="vi-VN" dirty="0"/>
              <a:t>Với </a:t>
            </a:r>
            <a:r>
              <a:rPr lang="vi-VN" dirty="0">
                <a:effectLst>
                  <a:outerShdw blurRad="38100" dist="38100" dir="2700000" algn="tl">
                    <a:srgbClr val="000000">
                      <a:alpha val="43137"/>
                    </a:srgbClr>
                  </a:outerShdw>
                </a:effectLst>
              </a:rPr>
              <a:t>đường cơ sở </a:t>
            </a:r>
            <a:r>
              <a:rPr lang="vi-VN" dirty="0"/>
              <a:t>(</a:t>
            </a:r>
            <a:r>
              <a:rPr lang="vi-VN" dirty="0">
                <a:solidFill>
                  <a:srgbClr val="0070C0"/>
                </a:solidFill>
              </a:rPr>
              <a:t>baseline</a:t>
            </a:r>
            <a:r>
              <a:rPr lang="vi-VN" dirty="0"/>
              <a:t>), có thể xác định làm thế nào để dự án đạt được mục tiêu ban đầu.</a:t>
            </a:r>
          </a:p>
          <a:p>
            <a:pPr algn="just"/>
            <a:endParaRPr lang="vi-VN" sz="1200" dirty="0"/>
          </a:p>
        </p:txBody>
      </p:sp>
      <p:sp>
        <p:nvSpPr>
          <p:cNvPr id="46082" name="Rectangle 2"/>
          <p:cNvSpPr>
            <a:spLocks noGrp="1" noChangeArrowheads="1"/>
          </p:cNvSpPr>
          <p:nvPr>
            <p:ph type="title"/>
          </p:nvPr>
        </p:nvSpPr>
        <p:spPr>
          <a:xfrm>
            <a:off x="468313" y="152400"/>
            <a:ext cx="8523287" cy="1066800"/>
          </a:xfrm>
        </p:spPr>
        <p:txBody>
          <a:bodyPr>
            <a:normAutofit/>
          </a:bodyPr>
          <a:lstStyle/>
          <a:p>
            <a:pPr algn="ctr"/>
            <a:r>
              <a:rPr lang="vi-VN" sz="4400" dirty="0">
                <a:solidFill>
                  <a:srgbClr val="0070C0"/>
                </a:solidFill>
              </a:rPr>
              <a:t>Quản lý giá trị thu được</a:t>
            </a:r>
            <a:endParaRPr lang="en-US" sz="4400" dirty="0">
              <a:solidFill>
                <a:srgbClr val="0070C0"/>
              </a:solidFill>
            </a:endParaRPr>
          </a:p>
        </p:txBody>
      </p:sp>
      <p:sp>
        <p:nvSpPr>
          <p:cNvPr id="4608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567946CA-C215-4819-A905-54A78399ECD3}" type="slidenum">
              <a:rPr lang="en-US" smtClean="0"/>
              <a:pPr>
                <a:defRPr/>
              </a:pPr>
              <a:t>38</a:t>
            </a:fld>
            <a:endParaRPr lang="en-US" dirty="0"/>
          </a:p>
        </p:txBody>
      </p:sp>
      <p:pic>
        <p:nvPicPr>
          <p:cNvPr id="1026" name="Picture 2" descr="http://www.rationalplan.com/projectmanagementblog/wp-content/uploads/2012/09/CostBasel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1" y="4630360"/>
            <a:ext cx="2971800" cy="1846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childTnLst>
                          </p:cTn>
                        </p:par>
                        <p:par>
                          <p:cTn id="11" fill="hold">
                            <p:stCondLst>
                              <p:cond delay="0"/>
                            </p:stCondLst>
                            <p:childTnLst>
                              <p:par>
                                <p:cTn id="12" presetID="16" presetClass="entr" presetSubtype="21" fill="hold" nodeType="after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barn(inVertical)">
                                      <p:cBhvr>
                                        <p:cTn id="14"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304800" y="1371600"/>
            <a:ext cx="8229600" cy="4791075"/>
          </a:xfrm>
        </p:spPr>
        <p:txBody>
          <a:bodyPr/>
          <a:lstStyle/>
          <a:p>
            <a:pPr algn="just">
              <a:lnSpc>
                <a:spcPct val="90000"/>
              </a:lnSpc>
            </a:pPr>
            <a:r>
              <a:rPr lang="vi-VN" dirty="0">
                <a:effectLst>
                  <a:outerShdw blurRad="38100" dist="38100" dir="2700000" algn="tl">
                    <a:srgbClr val="000000">
                      <a:alpha val="43137"/>
                    </a:srgbClr>
                  </a:outerShdw>
                </a:effectLst>
              </a:rPr>
              <a:t>Giá trị ước tính </a:t>
            </a:r>
            <a:r>
              <a:rPr lang="vi-VN" dirty="0"/>
              <a:t>- </a:t>
            </a:r>
            <a:r>
              <a:rPr lang="vi-VN" dirty="0">
                <a:solidFill>
                  <a:srgbClr val="0070C0"/>
                </a:solidFill>
                <a:effectLst>
                  <a:outerShdw blurRad="38100" dist="38100" dir="2700000" algn="tl">
                    <a:srgbClr val="000000">
                      <a:alpha val="43137"/>
                    </a:srgbClr>
                  </a:outerShdw>
                </a:effectLst>
              </a:rPr>
              <a:t>PV</a:t>
            </a:r>
            <a:r>
              <a:rPr lang="vi-VN" dirty="0">
                <a:solidFill>
                  <a:srgbClr val="0070C0"/>
                </a:solidFill>
              </a:rPr>
              <a:t> </a:t>
            </a:r>
            <a:r>
              <a:rPr lang="en-US" dirty="0"/>
              <a:t>(</a:t>
            </a:r>
            <a:r>
              <a:rPr lang="en-US" dirty="0">
                <a:solidFill>
                  <a:srgbClr val="0070C0"/>
                </a:solidFill>
              </a:rPr>
              <a:t>Planned Value</a:t>
            </a:r>
            <a:r>
              <a:rPr lang="en-US" dirty="0"/>
              <a:t>)</a:t>
            </a:r>
            <a:r>
              <a:rPr lang="vi-VN" dirty="0"/>
              <a:t> -- BCWS (chi phí ngân sách theo lịch trình): một phần của tổng dự toán được duyệt theo kế hoạch.</a:t>
            </a:r>
          </a:p>
          <a:p>
            <a:pPr algn="just">
              <a:lnSpc>
                <a:spcPct val="90000"/>
              </a:lnSpc>
            </a:pPr>
            <a:endParaRPr lang="vi-VN" sz="1200" dirty="0"/>
          </a:p>
          <a:p>
            <a:pPr algn="just">
              <a:lnSpc>
                <a:spcPct val="90000"/>
              </a:lnSpc>
            </a:pPr>
            <a:r>
              <a:rPr lang="vi-VN" dirty="0">
                <a:effectLst>
                  <a:outerShdw blurRad="38100" dist="38100" dir="2700000" algn="tl">
                    <a:srgbClr val="000000">
                      <a:alpha val="43137"/>
                    </a:srgbClr>
                  </a:outerShdw>
                </a:effectLst>
              </a:rPr>
              <a:t>Chi phí thực tế </a:t>
            </a:r>
            <a:r>
              <a:rPr lang="vi-VN" dirty="0"/>
              <a:t>- </a:t>
            </a:r>
            <a:r>
              <a:rPr lang="vi-VN" dirty="0">
                <a:solidFill>
                  <a:srgbClr val="0070C0"/>
                </a:solidFill>
                <a:effectLst>
                  <a:outerShdw blurRad="38100" dist="38100" dir="2700000" algn="tl">
                    <a:srgbClr val="000000">
                      <a:alpha val="43137"/>
                    </a:srgbClr>
                  </a:outerShdw>
                </a:effectLst>
              </a:rPr>
              <a:t>AC</a:t>
            </a:r>
            <a:r>
              <a:rPr lang="en-US" dirty="0">
                <a:solidFill>
                  <a:srgbClr val="0070C0"/>
                </a:solidFill>
              </a:rPr>
              <a:t> </a:t>
            </a:r>
            <a:r>
              <a:rPr lang="en-US" dirty="0"/>
              <a:t>(</a:t>
            </a:r>
            <a:r>
              <a:rPr lang="en-US" dirty="0">
                <a:solidFill>
                  <a:srgbClr val="0070C0"/>
                </a:solidFill>
              </a:rPr>
              <a:t>Actual Cost</a:t>
            </a:r>
            <a:r>
              <a:rPr lang="vi-VN" dirty="0"/>
              <a:t>) -- ACWP (chi phí thực tế thực hiện): tổng chi phí phát sinh trong việc hoàn thành công việc.</a:t>
            </a:r>
          </a:p>
          <a:p>
            <a:pPr algn="just">
              <a:lnSpc>
                <a:spcPct val="90000"/>
              </a:lnSpc>
            </a:pPr>
            <a:endParaRPr lang="vi-VN" sz="1200" dirty="0"/>
          </a:p>
          <a:p>
            <a:pPr algn="just">
              <a:lnSpc>
                <a:spcPct val="90000"/>
              </a:lnSpc>
            </a:pPr>
            <a:r>
              <a:rPr lang="vi-VN" dirty="0">
                <a:effectLst>
                  <a:outerShdw blurRad="38100" dist="38100" dir="2700000" algn="tl">
                    <a:srgbClr val="000000">
                      <a:alpha val="43137"/>
                    </a:srgbClr>
                  </a:outerShdw>
                </a:effectLst>
              </a:rPr>
              <a:t>Giá trị thu được </a:t>
            </a:r>
            <a:r>
              <a:rPr lang="vi-VN" dirty="0"/>
              <a:t>- </a:t>
            </a:r>
            <a:r>
              <a:rPr lang="vi-VN" dirty="0">
                <a:solidFill>
                  <a:srgbClr val="0070C0"/>
                </a:solidFill>
                <a:effectLst>
                  <a:outerShdw blurRad="38100" dist="38100" dir="2700000" algn="tl">
                    <a:srgbClr val="000000">
                      <a:alpha val="43137"/>
                    </a:srgbClr>
                  </a:outerShdw>
                </a:effectLst>
              </a:rPr>
              <a:t>EV</a:t>
            </a:r>
            <a:r>
              <a:rPr lang="vi-VN" dirty="0">
                <a:solidFill>
                  <a:srgbClr val="0070C0"/>
                </a:solidFill>
              </a:rPr>
              <a:t> </a:t>
            </a:r>
            <a:r>
              <a:rPr lang="en-US" dirty="0"/>
              <a:t>(</a:t>
            </a:r>
            <a:r>
              <a:rPr lang="en-US" dirty="0">
                <a:solidFill>
                  <a:srgbClr val="0070C0"/>
                </a:solidFill>
              </a:rPr>
              <a:t>Earned Value</a:t>
            </a:r>
            <a:r>
              <a:rPr lang="vi-VN" dirty="0"/>
              <a:t>) -- BCWP (chi phí ngân sách thực hiện): ước tính giá trị của công việc thực sự hoàn thành.</a:t>
            </a:r>
          </a:p>
        </p:txBody>
      </p:sp>
      <p:sp>
        <p:nvSpPr>
          <p:cNvPr id="47106" name="Rectangle 2"/>
          <p:cNvSpPr>
            <a:spLocks noGrp="1" noChangeArrowheads="1"/>
          </p:cNvSpPr>
          <p:nvPr>
            <p:ph type="title"/>
          </p:nvPr>
        </p:nvSpPr>
        <p:spPr>
          <a:xfrm>
            <a:off x="504825" y="152400"/>
            <a:ext cx="7877175" cy="1066800"/>
          </a:xfrm>
        </p:spPr>
        <p:txBody>
          <a:bodyPr>
            <a:normAutofit/>
          </a:bodyPr>
          <a:lstStyle/>
          <a:p>
            <a:pPr algn="ctr"/>
            <a:r>
              <a:rPr lang="en-US" sz="4000" dirty="0" err="1"/>
              <a:t>Các</a:t>
            </a:r>
            <a:r>
              <a:rPr lang="en-US" sz="4000" dirty="0"/>
              <a:t> </a:t>
            </a:r>
            <a:r>
              <a:rPr lang="en-US" sz="4000" dirty="0" err="1"/>
              <a:t>khái</a:t>
            </a:r>
            <a:r>
              <a:rPr lang="en-US" sz="4000" dirty="0"/>
              <a:t> </a:t>
            </a:r>
            <a:r>
              <a:rPr lang="en-US" sz="4000" dirty="0" err="1"/>
              <a:t>niệm</a:t>
            </a:r>
            <a:r>
              <a:rPr lang="en-US" sz="4000" dirty="0"/>
              <a:t> EVM</a:t>
            </a:r>
          </a:p>
        </p:txBody>
      </p:sp>
      <p:sp>
        <p:nvSpPr>
          <p:cNvPr id="4710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D9695B36-0208-4B95-A7C4-58E4F7CCDE9F}" type="slidenum">
              <a:rPr lang="en-US" smtClean="0"/>
              <a:pPr>
                <a:defRPr/>
              </a:pPr>
              <a:t>39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1600200"/>
            <a:ext cx="8305800" cy="3733800"/>
          </a:xfrm>
        </p:spPr>
        <p:txBody>
          <a:bodyPr/>
          <a:lstStyle/>
          <a:p>
            <a:pPr algn="just"/>
            <a:r>
              <a:rPr lang="en-US" dirty="0" err="1">
                <a:effectLst>
                  <a:outerShdw blurRad="38100" dist="38100" dir="2700000" algn="tl">
                    <a:srgbClr val="000000">
                      <a:alpha val="43137"/>
                    </a:srgbClr>
                  </a:outerShdw>
                </a:effectLst>
              </a:rPr>
              <a:t>Tỷ</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lệ</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hiệu</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quả</a:t>
            </a:r>
            <a:r>
              <a:rPr lang="en-US" dirty="0">
                <a:effectLst>
                  <a:outerShdw blurRad="38100" dist="38100" dir="2700000" algn="tl">
                    <a:srgbClr val="000000">
                      <a:alpha val="43137"/>
                    </a:srgbClr>
                  </a:outerShdw>
                </a:effectLst>
              </a:rPr>
              <a:t> </a:t>
            </a:r>
            <a:r>
              <a:rPr lang="en-US" dirty="0"/>
              <a:t>- </a:t>
            </a:r>
            <a:r>
              <a:rPr lang="en-US" dirty="0">
                <a:solidFill>
                  <a:srgbClr val="0070C0"/>
                </a:solidFill>
                <a:effectLst>
                  <a:outerShdw blurRad="38100" dist="38100" dir="2700000" algn="tl">
                    <a:srgbClr val="000000">
                      <a:alpha val="43137"/>
                    </a:srgbClr>
                  </a:outerShdw>
                </a:effectLst>
              </a:rPr>
              <a:t>RP</a:t>
            </a:r>
            <a:r>
              <a:rPr lang="en-US" dirty="0">
                <a:solidFill>
                  <a:srgbClr val="0070C0"/>
                </a:solidFill>
              </a:rPr>
              <a:t> </a:t>
            </a:r>
            <a:r>
              <a:rPr lang="en-US" dirty="0"/>
              <a:t>(</a:t>
            </a:r>
            <a:r>
              <a:rPr lang="en-US" dirty="0">
                <a:solidFill>
                  <a:srgbClr val="0070C0"/>
                </a:solidFill>
              </a:rPr>
              <a:t>Rate of Performance</a:t>
            </a:r>
            <a:r>
              <a:rPr lang="en-US" dirty="0"/>
              <a:t>): </a:t>
            </a:r>
            <a:r>
              <a:rPr lang="vi-VN" dirty="0"/>
              <a:t>tỷ số giữa công việc thực tế hoàn thành và công việc theo kế hoạch. </a:t>
            </a:r>
          </a:p>
          <a:p>
            <a:pPr algn="just"/>
            <a:endParaRPr lang="vi-VN" sz="1200" dirty="0"/>
          </a:p>
          <a:p>
            <a:pPr algn="just"/>
            <a:r>
              <a:rPr lang="vi-VN" dirty="0"/>
              <a:t>Dùng </a:t>
            </a:r>
            <a:r>
              <a:rPr lang="vi-VN" dirty="0">
                <a:effectLst>
                  <a:outerShdw blurRad="38100" dist="38100" dir="2700000" algn="tl">
                    <a:srgbClr val="000000">
                      <a:alpha val="43137"/>
                    </a:srgbClr>
                  </a:outerShdw>
                </a:effectLst>
              </a:rPr>
              <a:t>RP</a:t>
            </a:r>
            <a:r>
              <a:rPr lang="vi-VN" dirty="0"/>
              <a:t> để ước lượng giá trị thu được (</a:t>
            </a:r>
            <a:r>
              <a:rPr lang="vi-VN" dirty="0">
                <a:effectLst>
                  <a:outerShdw blurRad="38100" dist="38100" dir="2700000" algn="tl">
                    <a:srgbClr val="000000">
                      <a:alpha val="43137"/>
                    </a:srgbClr>
                  </a:outerShdw>
                </a:effectLst>
              </a:rPr>
              <a:t>EV</a:t>
            </a:r>
            <a:r>
              <a:rPr lang="vi-VN" dirty="0"/>
              <a:t>)...</a:t>
            </a:r>
          </a:p>
          <a:p>
            <a:pPr lvl="1" algn="just">
              <a:buFont typeface="Arial" panose="020B0604020202020204" pitchFamily="34" charset="0"/>
              <a:buChar char="•"/>
            </a:pPr>
            <a:r>
              <a:rPr lang="vi-VN" sz="2400" dirty="0"/>
              <a:t>V.d., cài đặt phần mềm được phân nữa vào cuối tuần 1 - </a:t>
            </a:r>
            <a:r>
              <a:rPr lang="vi-VN" sz="2400" dirty="0">
                <a:effectLst>
                  <a:outerShdw blurRad="38100" dist="38100" dir="2700000" algn="tl">
                    <a:srgbClr val="000000">
                      <a:alpha val="43137"/>
                    </a:srgbClr>
                  </a:outerShdw>
                </a:effectLst>
              </a:rPr>
              <a:t>RP</a:t>
            </a:r>
            <a:r>
              <a:rPr lang="vi-VN" sz="2400" dirty="0"/>
              <a:t> là 50%. Vì cuối tuần 1, phải hoàn thành 100% nhưng chỉ có 50% được hoàn thành...</a:t>
            </a:r>
            <a:endParaRPr lang="en-US" sz="2400" dirty="0"/>
          </a:p>
        </p:txBody>
      </p:sp>
      <p:sp>
        <p:nvSpPr>
          <p:cNvPr id="48130" name="Rectangle 2"/>
          <p:cNvSpPr>
            <a:spLocks noGrp="1" noChangeArrowheads="1"/>
          </p:cNvSpPr>
          <p:nvPr>
            <p:ph type="title"/>
          </p:nvPr>
        </p:nvSpPr>
        <p:spPr>
          <a:xfrm>
            <a:off x="533400" y="304800"/>
            <a:ext cx="7848600" cy="715962"/>
          </a:xfrm>
        </p:spPr>
        <p:txBody>
          <a:bodyPr>
            <a:normAutofit/>
          </a:bodyPr>
          <a:lstStyle/>
          <a:p>
            <a:pPr algn="ctr"/>
            <a:r>
              <a:rPr lang="en-US" sz="4000" dirty="0" err="1"/>
              <a:t>Tỷ</a:t>
            </a:r>
            <a:r>
              <a:rPr lang="en-US" sz="4000" dirty="0"/>
              <a:t> </a:t>
            </a:r>
            <a:r>
              <a:rPr lang="en-US" sz="4000" dirty="0" err="1"/>
              <a:t>lệ</a:t>
            </a:r>
            <a:r>
              <a:rPr lang="en-US" sz="4000" dirty="0"/>
              <a:t> </a:t>
            </a:r>
            <a:r>
              <a:rPr lang="en-US" sz="4000" dirty="0" err="1"/>
              <a:t>hiệu</a:t>
            </a:r>
            <a:r>
              <a:rPr lang="en-US" sz="4000" dirty="0"/>
              <a:t> </a:t>
            </a:r>
            <a:r>
              <a:rPr lang="en-US" sz="4000" dirty="0" err="1"/>
              <a:t>quả</a:t>
            </a:r>
            <a:endParaRPr lang="en-US" sz="4000" dirty="0"/>
          </a:p>
        </p:txBody>
      </p:sp>
      <p:sp>
        <p:nvSpPr>
          <p:cNvPr id="4813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C74B07C6-11A8-4378-B4E1-6924D9FD37C9}" type="slidenum">
              <a:rPr lang="en-US" smtClean="0"/>
              <a:pPr>
                <a:defRPr/>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26AB69-4E04-4C9F-8E7E-B64641B40494}"/>
              </a:ext>
            </a:extLst>
          </p:cNvPr>
          <p:cNvPicPr>
            <a:picLocks noChangeAspect="1"/>
          </p:cNvPicPr>
          <p:nvPr/>
        </p:nvPicPr>
        <p:blipFill>
          <a:blip r:embed="rId3"/>
          <a:stretch>
            <a:fillRect/>
          </a:stretch>
        </p:blipFill>
        <p:spPr>
          <a:xfrm>
            <a:off x="76200" y="1524000"/>
            <a:ext cx="8915400" cy="3962400"/>
          </a:xfrm>
          <a:prstGeom prst="rect">
            <a:avLst/>
          </a:prstGeom>
        </p:spPr>
      </p:pic>
      <p:sp>
        <p:nvSpPr>
          <p:cNvPr id="50178" name="Rectangle 2"/>
          <p:cNvSpPr>
            <a:spLocks noGrp="1" noChangeArrowheads="1"/>
          </p:cNvSpPr>
          <p:nvPr>
            <p:ph type="title"/>
          </p:nvPr>
        </p:nvSpPr>
        <p:spPr/>
        <p:txBody>
          <a:bodyPr>
            <a:normAutofit/>
          </a:bodyPr>
          <a:lstStyle/>
          <a:p>
            <a:pPr algn="ctr"/>
            <a:r>
              <a:rPr lang="en-US" sz="4000" dirty="0" err="1">
                <a:solidFill>
                  <a:srgbClr val="0070C0"/>
                </a:solidFill>
              </a:rPr>
              <a:t>Công</a:t>
            </a:r>
            <a:r>
              <a:rPr lang="en-US" sz="4000" dirty="0">
                <a:solidFill>
                  <a:srgbClr val="0070C0"/>
                </a:solidFill>
              </a:rPr>
              <a:t> </a:t>
            </a:r>
            <a:r>
              <a:rPr lang="en-US" sz="4000" dirty="0" err="1">
                <a:solidFill>
                  <a:srgbClr val="0070C0"/>
                </a:solidFill>
              </a:rPr>
              <a:t>thức</a:t>
            </a:r>
            <a:r>
              <a:rPr lang="en-US" sz="4000" dirty="0">
                <a:solidFill>
                  <a:srgbClr val="0070C0"/>
                </a:solidFill>
              </a:rPr>
              <a:t> </a:t>
            </a:r>
            <a:r>
              <a:rPr lang="en-US" sz="4000" dirty="0" err="1">
                <a:solidFill>
                  <a:srgbClr val="0070C0"/>
                </a:solidFill>
              </a:rPr>
              <a:t>tính</a:t>
            </a:r>
            <a:r>
              <a:rPr lang="en-US" sz="4000" dirty="0">
                <a:solidFill>
                  <a:srgbClr val="0070C0"/>
                </a:solidFill>
              </a:rPr>
              <a:t> </a:t>
            </a:r>
            <a:r>
              <a:rPr lang="en-US" sz="4000" dirty="0" err="1">
                <a:solidFill>
                  <a:srgbClr val="0070C0"/>
                </a:solidFill>
              </a:rPr>
              <a:t>toán</a:t>
            </a:r>
            <a:r>
              <a:rPr lang="en-US" sz="4000" dirty="0">
                <a:solidFill>
                  <a:srgbClr val="0070C0"/>
                </a:solidFill>
              </a:rPr>
              <a:t> chi </a:t>
            </a:r>
            <a:r>
              <a:rPr lang="en-US" sz="4000" dirty="0" err="1">
                <a:solidFill>
                  <a:srgbClr val="0070C0"/>
                </a:solidFill>
              </a:rPr>
              <a:t>phí</a:t>
            </a:r>
            <a:endParaRPr lang="en-US" sz="4000" dirty="0">
              <a:solidFill>
                <a:srgbClr val="0070C0"/>
              </a:solidFill>
            </a:endParaRPr>
          </a:p>
        </p:txBody>
      </p:sp>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41</a:t>
            </a:fld>
            <a:endParaRPr lang="en-US" dirty="0"/>
          </a:p>
        </p:txBody>
      </p:sp>
      <p:sp>
        <p:nvSpPr>
          <p:cNvPr id="8" name="Rectangle 7"/>
          <p:cNvSpPr/>
          <p:nvPr/>
        </p:nvSpPr>
        <p:spPr>
          <a:xfrm>
            <a:off x="6656696" y="2577153"/>
            <a:ext cx="1981200" cy="1828800"/>
          </a:xfrm>
          <a:prstGeom prst="rect">
            <a:avLst/>
          </a:prstGeom>
          <a:noFill/>
          <a:ln w="762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7" name="Straight Connector 6"/>
          <p:cNvCxnSpPr/>
          <p:nvPr/>
        </p:nvCxnSpPr>
        <p:spPr>
          <a:xfrm>
            <a:off x="244344" y="2971800"/>
            <a:ext cx="201168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28600" y="3429000"/>
            <a:ext cx="2286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8600" y="3910584"/>
            <a:ext cx="304266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43840" y="4383024"/>
            <a:ext cx="31089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42</a:t>
            </a:fld>
            <a:endParaRPr lang="en-US" dirty="0"/>
          </a:p>
        </p:txBody>
      </p:sp>
      <p:pic>
        <p:nvPicPr>
          <p:cNvPr id="5" name="Picture 4"/>
          <p:cNvPicPr>
            <a:picLocks noChangeAspect="1"/>
          </p:cNvPicPr>
          <p:nvPr/>
        </p:nvPicPr>
        <p:blipFill>
          <a:blip r:embed="rId2"/>
          <a:stretch>
            <a:fillRect/>
          </a:stretch>
        </p:blipFill>
        <p:spPr>
          <a:xfrm>
            <a:off x="0" y="533400"/>
            <a:ext cx="9144000" cy="6400801"/>
          </a:xfrm>
          <a:prstGeom prst="rect">
            <a:avLst/>
          </a:prstGeom>
        </p:spPr>
      </p:pic>
      <p:sp>
        <p:nvSpPr>
          <p:cNvPr id="8" name="Oval 7"/>
          <p:cNvSpPr/>
          <p:nvPr/>
        </p:nvSpPr>
        <p:spPr>
          <a:xfrm>
            <a:off x="6248400" y="1066800"/>
            <a:ext cx="609600" cy="6096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Oval 11"/>
          <p:cNvSpPr/>
          <p:nvPr/>
        </p:nvSpPr>
        <p:spPr>
          <a:xfrm>
            <a:off x="2971800" y="3657600"/>
            <a:ext cx="609600" cy="6096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Oval 12"/>
          <p:cNvSpPr/>
          <p:nvPr/>
        </p:nvSpPr>
        <p:spPr>
          <a:xfrm>
            <a:off x="3886200" y="4724400"/>
            <a:ext cx="609600" cy="6096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ectangle 8"/>
          <p:cNvSpPr/>
          <p:nvPr/>
        </p:nvSpPr>
        <p:spPr>
          <a:xfrm>
            <a:off x="5882640" y="4219888"/>
            <a:ext cx="1752600" cy="1600200"/>
          </a:xfrm>
          <a:prstGeom prst="rect">
            <a:avLst/>
          </a:prstGeom>
          <a:noFill/>
          <a:ln w="762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75954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381000" y="1371600"/>
            <a:ext cx="8382000" cy="4525962"/>
          </a:xfrm>
        </p:spPr>
        <p:txBody>
          <a:bodyPr/>
          <a:lstStyle/>
          <a:p>
            <a:pPr algn="just"/>
            <a:r>
              <a:rPr lang="vi-VN" dirty="0">
                <a:effectLst>
                  <a:outerShdw blurRad="38100" dist="38100" dir="2700000" algn="tl">
                    <a:srgbClr val="000000">
                      <a:alpha val="43137"/>
                    </a:srgbClr>
                  </a:outerShdw>
                </a:effectLst>
              </a:rPr>
              <a:t>CV</a:t>
            </a:r>
            <a:r>
              <a:rPr lang="vi-VN" dirty="0"/>
              <a:t>  và  </a:t>
            </a:r>
            <a:r>
              <a:rPr lang="vi-VN" dirty="0">
                <a:effectLst>
                  <a:outerShdw blurRad="38100" dist="38100" dir="2700000" algn="tl">
                    <a:srgbClr val="000000">
                      <a:alpha val="43137"/>
                    </a:srgbClr>
                  </a:outerShdw>
                </a:effectLst>
              </a:rPr>
              <a:t>SV </a:t>
            </a:r>
            <a:r>
              <a:rPr lang="vi-VN" dirty="0"/>
              <a:t>&lt; </a:t>
            </a:r>
            <a:r>
              <a:rPr lang="vi-VN" b="1" dirty="0">
                <a:solidFill>
                  <a:srgbClr val="FF0000"/>
                </a:solidFill>
              </a:rPr>
              <a:t>0</a:t>
            </a:r>
            <a:r>
              <a:rPr lang="vi-VN" dirty="0"/>
              <a:t> và...</a:t>
            </a:r>
          </a:p>
          <a:p>
            <a:pPr algn="just"/>
            <a:r>
              <a:rPr lang="vi-VN" dirty="0">
                <a:effectLst>
                  <a:outerShdw blurRad="38100" dist="38100" dir="2700000" algn="tl">
                    <a:srgbClr val="000000">
                      <a:alpha val="43137"/>
                    </a:srgbClr>
                  </a:outerShdw>
                </a:effectLst>
              </a:rPr>
              <a:t>CPI</a:t>
            </a:r>
            <a:r>
              <a:rPr lang="vi-VN" dirty="0"/>
              <a:t> và </a:t>
            </a:r>
            <a:r>
              <a:rPr lang="vi-VN" dirty="0">
                <a:effectLst>
                  <a:outerShdw blurRad="38100" dist="38100" dir="2700000" algn="tl">
                    <a:srgbClr val="000000">
                      <a:alpha val="43137"/>
                    </a:srgbClr>
                  </a:outerShdw>
                </a:effectLst>
              </a:rPr>
              <a:t>SPI</a:t>
            </a:r>
            <a:r>
              <a:rPr lang="vi-VN" dirty="0"/>
              <a:t> &lt; </a:t>
            </a:r>
            <a:r>
              <a:rPr lang="vi-VN" b="1" dirty="0">
                <a:solidFill>
                  <a:srgbClr val="FF0000"/>
                </a:solidFill>
              </a:rPr>
              <a:t>1</a:t>
            </a:r>
            <a:r>
              <a:rPr lang="vi-VN" dirty="0"/>
              <a:t> chỉ ra:</a:t>
            </a:r>
          </a:p>
          <a:p>
            <a:pPr lvl="1" algn="just">
              <a:buSzPct val="80000"/>
              <a:buFont typeface="Wingdings" panose="05000000000000000000" pitchFamily="2" charset="2"/>
              <a:buChar char="Ø"/>
            </a:pPr>
            <a:r>
              <a:rPr lang="vi-VN" sz="2400" dirty="0"/>
              <a:t>Chi phí nhiều hơn kế hoạch (vượt ngân sách) và mất nhiều thời gian hơn kế hoạch (chậm tiến độ)...</a:t>
            </a:r>
          </a:p>
          <a:p>
            <a:pPr lvl="1" algn="just"/>
            <a:endParaRPr lang="vi-VN" sz="1200" dirty="0"/>
          </a:p>
          <a:p>
            <a:pPr algn="just"/>
            <a:r>
              <a:rPr lang="vi-VN" dirty="0">
                <a:effectLst>
                  <a:outerShdw blurRad="38100" dist="38100" dir="2700000" algn="tl">
                    <a:srgbClr val="000000">
                      <a:alpha val="43137"/>
                    </a:srgbClr>
                  </a:outerShdw>
                </a:effectLst>
              </a:rPr>
              <a:t>CPI</a:t>
            </a:r>
            <a:r>
              <a:rPr lang="vi-VN" dirty="0"/>
              <a:t> có thể dùng để tính:</a:t>
            </a:r>
          </a:p>
          <a:p>
            <a:pPr lvl="1" algn="just">
              <a:buFont typeface="Arial" panose="020B0604020202020204" pitchFamily="34" charset="0"/>
              <a:buChar char="•"/>
            </a:pPr>
            <a:r>
              <a:rPr lang="vi-VN" sz="2400" dirty="0">
                <a:effectLst>
                  <a:outerShdw blurRad="38100" dist="38100" dir="2700000" algn="tl">
                    <a:srgbClr val="000000">
                      <a:alpha val="43137"/>
                    </a:srgbClr>
                  </a:outerShdw>
                </a:effectLst>
              </a:rPr>
              <a:t>Uớc lượng khi hoàn tất</a:t>
            </a:r>
            <a:r>
              <a:rPr lang="vi-VN" sz="2400" dirty="0"/>
              <a:t> - </a:t>
            </a:r>
            <a:r>
              <a:rPr lang="vi-VN" sz="2400" dirty="0">
                <a:solidFill>
                  <a:srgbClr val="0070C0"/>
                </a:solidFill>
                <a:effectLst>
                  <a:outerShdw blurRad="38100" dist="38100" dir="2700000" algn="tl">
                    <a:srgbClr val="000000">
                      <a:alpha val="43137"/>
                    </a:srgbClr>
                  </a:outerShdw>
                </a:effectLst>
              </a:rPr>
              <a:t>EAC</a:t>
            </a:r>
            <a:r>
              <a:rPr lang="vi-VN" sz="2400" dirty="0">
                <a:solidFill>
                  <a:srgbClr val="0070C0"/>
                </a:solidFill>
              </a:rPr>
              <a:t> </a:t>
            </a:r>
            <a:r>
              <a:rPr lang="vi-VN" sz="2400" dirty="0"/>
              <a:t>(</a:t>
            </a:r>
            <a:r>
              <a:rPr lang="vi-VN" sz="2400" dirty="0">
                <a:solidFill>
                  <a:srgbClr val="0070C0"/>
                </a:solidFill>
              </a:rPr>
              <a:t>Estimate At Completion</a:t>
            </a:r>
            <a:r>
              <a:rPr lang="vi-VN" sz="2400" dirty="0"/>
              <a:t>): ước tính chi phí hoàn thành dự án dựa trên hiệu suất.</a:t>
            </a:r>
          </a:p>
          <a:p>
            <a:pPr lvl="1" algn="just">
              <a:buFont typeface="Arial" panose="020B0604020202020204" pitchFamily="34" charset="0"/>
              <a:buChar char="•"/>
            </a:pPr>
            <a:r>
              <a:rPr lang="vi-VN" sz="2400" dirty="0">
                <a:effectLst>
                  <a:outerShdw blurRad="38100" dist="38100" dir="2700000" algn="tl">
                    <a:srgbClr val="000000">
                      <a:alpha val="43137"/>
                    </a:srgbClr>
                  </a:outerShdw>
                </a:effectLst>
              </a:rPr>
              <a:t>Ngân sách khi hoàn tất </a:t>
            </a:r>
            <a:r>
              <a:rPr lang="vi-VN" sz="2400" dirty="0"/>
              <a:t>- </a:t>
            </a:r>
            <a:r>
              <a:rPr lang="vi-VN" sz="2400" dirty="0">
                <a:solidFill>
                  <a:srgbClr val="0070C0"/>
                </a:solidFill>
                <a:effectLst>
                  <a:outerShdw blurRad="38100" dist="38100" dir="2700000" algn="tl">
                    <a:srgbClr val="000000">
                      <a:alpha val="43137"/>
                    </a:srgbClr>
                  </a:outerShdw>
                </a:effectLst>
              </a:rPr>
              <a:t>BAC</a:t>
            </a:r>
            <a:r>
              <a:rPr lang="vi-VN" sz="2400" dirty="0">
                <a:solidFill>
                  <a:srgbClr val="0070C0"/>
                </a:solidFill>
              </a:rPr>
              <a:t> </a:t>
            </a:r>
            <a:r>
              <a:rPr lang="vi-VN" sz="2400" dirty="0"/>
              <a:t>(</a:t>
            </a:r>
            <a:r>
              <a:rPr lang="vi-VN" sz="2400" dirty="0">
                <a:solidFill>
                  <a:srgbClr val="0070C0"/>
                </a:solidFill>
              </a:rPr>
              <a:t>Budget At Completion</a:t>
            </a:r>
            <a:r>
              <a:rPr lang="vi-VN" sz="2400" dirty="0"/>
              <a:t>): tổng ngân sách ban đầu cho dự án.</a:t>
            </a:r>
            <a:endParaRPr lang="en-US" sz="2400" dirty="0"/>
          </a:p>
        </p:txBody>
      </p:sp>
      <p:sp>
        <p:nvSpPr>
          <p:cNvPr id="51202" name="Rectangle 2"/>
          <p:cNvSpPr>
            <a:spLocks noGrp="1" noChangeArrowheads="1"/>
          </p:cNvSpPr>
          <p:nvPr>
            <p:ph type="title"/>
          </p:nvPr>
        </p:nvSpPr>
        <p:spPr>
          <a:xfrm>
            <a:off x="685800" y="76200"/>
            <a:ext cx="7620000" cy="1143000"/>
          </a:xfrm>
        </p:spPr>
        <p:txBody>
          <a:bodyPr>
            <a:normAutofit/>
          </a:bodyPr>
          <a:lstStyle/>
          <a:p>
            <a:pPr algn="ctr"/>
            <a:r>
              <a:rPr lang="en-US" sz="4000" u="sng" dirty="0" err="1"/>
              <a:t>Nhận</a:t>
            </a:r>
            <a:r>
              <a:rPr lang="en-US" sz="4000" u="sng" dirty="0"/>
              <a:t> </a:t>
            </a:r>
            <a:r>
              <a:rPr lang="en-US" sz="4000" u="sng" dirty="0" err="1"/>
              <a:t>xét</a:t>
            </a:r>
            <a:endParaRPr lang="en-US" sz="4000" u="sng" dirty="0"/>
          </a:p>
        </p:txBody>
      </p:sp>
      <p:sp>
        <p:nvSpPr>
          <p:cNvPr id="5120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8C67A2F-9BE4-4AF6-8001-1C9C4CFBD02E}" type="slidenum">
              <a:rPr lang="en-US" smtClean="0"/>
              <a:pPr>
                <a:defRPr/>
              </a:pPr>
              <a:t>43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44</a:t>
            </a:fld>
            <a:endParaRPr lang="en-US" dirty="0"/>
          </a:p>
        </p:txBody>
      </p:sp>
      <p:sp>
        <p:nvSpPr>
          <p:cNvPr id="10" name="Text Box 9"/>
          <p:cNvSpPr txBox="1">
            <a:spLocks noChangeArrowheads="1"/>
          </p:cNvSpPr>
          <p:nvPr/>
        </p:nvSpPr>
        <p:spPr bwMode="auto">
          <a:xfrm>
            <a:off x="3005889" y="3583093"/>
            <a:ext cx="1893030" cy="2512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vi-VN" sz="2400" b="1" i="1" dirty="0">
                <a:solidFill>
                  <a:srgbClr val="0070C0"/>
                </a:solidFill>
                <a:latin typeface="Times New Roman" panose="02020603050405020304" pitchFamily="18" charset="0"/>
                <a:cs typeface="Times New Roman" panose="02020603050405020304" pitchFamily="18" charset="0"/>
              </a:rPr>
              <a:t>t</a:t>
            </a:r>
          </a:p>
          <a:p>
            <a:pPr algn="ctr" eaLnBrk="0" hangingPunct="0"/>
            <a:r>
              <a:rPr lang="en-US" altLang="vi-VN" sz="2400" b="1" i="1" dirty="0">
                <a:solidFill>
                  <a:srgbClr val="FF0000"/>
                </a:solidFill>
                <a:latin typeface="VNI-Helve" pitchFamily="2" charset="0"/>
              </a:rPr>
              <a:t>EV</a:t>
            </a:r>
            <a:endParaRPr lang="en-US" altLang="vi-VN" sz="2400" b="1" dirty="0">
              <a:solidFill>
                <a:srgbClr val="FF0000"/>
              </a:solidFill>
              <a:latin typeface="VNI-Helve" pitchFamily="2" charset="0"/>
            </a:endParaRPr>
          </a:p>
          <a:p>
            <a:pPr algn="ctr" eaLnBrk="0" hangingPunct="0"/>
            <a:r>
              <a:rPr lang="en-US" altLang="vi-VN" sz="2400" b="1" dirty="0">
                <a:latin typeface="VNI-Helve" pitchFamily="2" charset="0"/>
              </a:rPr>
              <a:t>PV</a:t>
            </a:r>
          </a:p>
          <a:p>
            <a:pPr algn="ctr" eaLnBrk="0" hangingPunct="0"/>
            <a:r>
              <a:rPr lang="en-US" altLang="vi-VN" sz="2400" b="1" dirty="0">
                <a:latin typeface="VNI-Helve" pitchFamily="2" charset="0"/>
              </a:rPr>
              <a:t>AC</a:t>
            </a:r>
            <a:endParaRPr lang="en-US" altLang="vi-VN" sz="1600" b="1" dirty="0">
              <a:latin typeface="VNI-Times" pitchFamily="2" charset="0"/>
            </a:endParaRPr>
          </a:p>
        </p:txBody>
      </p:sp>
      <p:sp>
        <p:nvSpPr>
          <p:cNvPr id="14" name="Line 3"/>
          <p:cNvSpPr>
            <a:spLocks noChangeShapeType="1"/>
          </p:cNvSpPr>
          <p:nvPr/>
        </p:nvSpPr>
        <p:spPr bwMode="auto">
          <a:xfrm>
            <a:off x="1204977" y="3366206"/>
            <a:ext cx="679602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vi-VN"/>
          </a:p>
        </p:txBody>
      </p:sp>
      <p:sp>
        <p:nvSpPr>
          <p:cNvPr id="15" name="Line 4"/>
          <p:cNvSpPr>
            <a:spLocks noChangeShapeType="1"/>
          </p:cNvSpPr>
          <p:nvPr/>
        </p:nvSpPr>
        <p:spPr bwMode="auto">
          <a:xfrm>
            <a:off x="6642256" y="3134360"/>
            <a:ext cx="0" cy="4636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6" name="Rectangle 5" descr="Wide upward diagonal"/>
          <p:cNvSpPr>
            <a:spLocks noChangeArrowheads="1"/>
          </p:cNvSpPr>
          <p:nvPr/>
        </p:nvSpPr>
        <p:spPr bwMode="auto">
          <a:xfrm>
            <a:off x="1204977" y="3134360"/>
            <a:ext cx="2717488" cy="463691"/>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pattFill prst="dkUpDiag">
                  <a:fgClr>
                    <a:srgbClr val="000000"/>
                  </a:fgClr>
                  <a:bgClr>
                    <a:srgbClr val="FFFFFF"/>
                  </a:bgClr>
                </a:pattFill>
                <a:miter lim="800000"/>
                <a:headEnd/>
                <a:tailEnd/>
              </a14:hiddenLine>
            </a:ext>
          </a:extLst>
        </p:spPr>
        <p:txBody>
          <a:bodyPr/>
          <a:lstStyle/>
          <a:p>
            <a:endParaRPr lang="vi-VN"/>
          </a:p>
        </p:txBody>
      </p:sp>
      <p:sp>
        <p:nvSpPr>
          <p:cNvPr id="17" name="Line 6"/>
          <p:cNvSpPr>
            <a:spLocks noChangeShapeType="1"/>
          </p:cNvSpPr>
          <p:nvPr/>
        </p:nvSpPr>
        <p:spPr bwMode="auto">
          <a:xfrm>
            <a:off x="3922465" y="3134360"/>
            <a:ext cx="0" cy="4636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8" name="Line 7"/>
          <p:cNvSpPr>
            <a:spLocks noChangeShapeType="1"/>
          </p:cNvSpPr>
          <p:nvPr/>
        </p:nvSpPr>
        <p:spPr bwMode="auto">
          <a:xfrm>
            <a:off x="1204977" y="3134360"/>
            <a:ext cx="0" cy="4636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9" name="Text Box 8"/>
          <p:cNvSpPr txBox="1">
            <a:spLocks noChangeArrowheads="1"/>
          </p:cNvSpPr>
          <p:nvPr/>
        </p:nvSpPr>
        <p:spPr bwMode="auto">
          <a:xfrm>
            <a:off x="1066800" y="3598051"/>
            <a:ext cx="582648" cy="924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vi-VN" sz="2400" b="1" i="1" dirty="0">
                <a:latin typeface="Times New Roman" panose="02020603050405020304" pitchFamily="18" charset="0"/>
                <a:cs typeface="Times New Roman" panose="02020603050405020304" pitchFamily="18" charset="0"/>
              </a:rPr>
              <a:t>0</a:t>
            </a:r>
          </a:p>
        </p:txBody>
      </p:sp>
      <p:sp>
        <p:nvSpPr>
          <p:cNvPr id="20" name="Text Box 10"/>
          <p:cNvSpPr txBox="1">
            <a:spLocks noChangeArrowheads="1"/>
          </p:cNvSpPr>
          <p:nvPr/>
        </p:nvSpPr>
        <p:spPr bwMode="auto">
          <a:xfrm>
            <a:off x="5891493" y="3598051"/>
            <a:ext cx="1589040" cy="184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vi-VN" sz="2400" b="1" i="1" dirty="0">
                <a:latin typeface="Times New Roman" panose="02020603050405020304" pitchFamily="18" charset="0"/>
                <a:cs typeface="Times New Roman" panose="02020603050405020304" pitchFamily="18" charset="0"/>
              </a:rPr>
              <a:t>n</a:t>
            </a:r>
          </a:p>
          <a:p>
            <a:pPr algn="ctr" eaLnBrk="0" hangingPunct="0"/>
            <a:r>
              <a:rPr lang="en-US" altLang="vi-VN" sz="2400" b="1" dirty="0">
                <a:latin typeface="VNI-Helve" pitchFamily="2" charset="0"/>
              </a:rPr>
              <a:t>BAC</a:t>
            </a:r>
          </a:p>
          <a:p>
            <a:pPr algn="ctr" eaLnBrk="0" hangingPunct="0"/>
            <a:endParaRPr lang="en-US" altLang="vi-VN" b="1" dirty="0">
              <a:latin typeface="VNI-Helve" pitchFamily="2" charset="0"/>
            </a:endParaRPr>
          </a:p>
        </p:txBody>
      </p:sp>
      <p:sp>
        <p:nvSpPr>
          <p:cNvPr id="21" name="Text Box 11"/>
          <p:cNvSpPr txBox="1">
            <a:spLocks noChangeArrowheads="1"/>
          </p:cNvSpPr>
          <p:nvPr/>
        </p:nvSpPr>
        <p:spPr bwMode="auto">
          <a:xfrm>
            <a:off x="4639646" y="2134682"/>
            <a:ext cx="1989754" cy="837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vi-VN" sz="2400" b="1" dirty="0">
                <a:latin typeface="VNI-Helve" pitchFamily="2" charset="0"/>
              </a:rPr>
              <a:t>ETC</a:t>
            </a:r>
            <a:endParaRPr lang="en-US" altLang="vi-VN" b="1" dirty="0">
              <a:latin typeface="VNI-Helve" pitchFamily="2" charset="0"/>
            </a:endParaRPr>
          </a:p>
        </p:txBody>
      </p:sp>
      <p:sp>
        <p:nvSpPr>
          <p:cNvPr id="22" name="AutoShape 12"/>
          <p:cNvSpPr>
            <a:spLocks/>
          </p:cNvSpPr>
          <p:nvPr/>
        </p:nvSpPr>
        <p:spPr bwMode="auto">
          <a:xfrm rot="16200000">
            <a:off x="5439228" y="1138723"/>
            <a:ext cx="347697" cy="3404250"/>
          </a:xfrm>
          <a:prstGeom prst="rightBrace">
            <a:avLst>
              <a:gd name="adj1" fmla="val 69444"/>
              <a:gd name="adj2" fmla="val 50000"/>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23" name="Text Box 13"/>
          <p:cNvSpPr txBox="1">
            <a:spLocks noChangeArrowheads="1"/>
          </p:cNvSpPr>
          <p:nvPr/>
        </p:nvSpPr>
        <p:spPr bwMode="auto">
          <a:xfrm>
            <a:off x="6460930" y="2134682"/>
            <a:ext cx="1768670" cy="837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vi-VN" sz="2400" b="1" dirty="0">
                <a:latin typeface="VNI-Helve" pitchFamily="2" charset="0"/>
              </a:rPr>
              <a:t>EAC</a:t>
            </a:r>
            <a:endParaRPr lang="en-US" altLang="vi-VN" b="1" dirty="0">
              <a:latin typeface="VNI-Helve" pitchFamily="2" charset="0"/>
            </a:endParaRPr>
          </a:p>
        </p:txBody>
      </p:sp>
      <p:sp>
        <p:nvSpPr>
          <p:cNvPr id="24" name="Rectangle 2"/>
          <p:cNvSpPr>
            <a:spLocks noGrp="1" noChangeArrowheads="1"/>
          </p:cNvSpPr>
          <p:nvPr>
            <p:ph type="title"/>
          </p:nvPr>
        </p:nvSpPr>
        <p:spPr>
          <a:xfrm>
            <a:off x="228600" y="381000"/>
            <a:ext cx="8763000" cy="1066800"/>
          </a:xfrm>
        </p:spPr>
        <p:txBody>
          <a:bodyPr>
            <a:noAutofit/>
          </a:bodyPr>
          <a:lstStyle/>
          <a:p>
            <a:pPr algn="ctr"/>
            <a:r>
              <a:rPr lang="en-US" sz="3600" dirty="0" err="1"/>
              <a:t>Các</a:t>
            </a:r>
            <a:r>
              <a:rPr lang="en-US" sz="3600" dirty="0"/>
              <a:t> </a:t>
            </a:r>
            <a:r>
              <a:rPr lang="en-US" sz="3600" dirty="0" err="1"/>
              <a:t>giá</a:t>
            </a:r>
            <a:r>
              <a:rPr lang="en-US" sz="3600" dirty="0"/>
              <a:t> </a:t>
            </a:r>
            <a:r>
              <a:rPr lang="en-US" sz="3600" dirty="0" err="1"/>
              <a:t>trị</a:t>
            </a:r>
            <a:r>
              <a:rPr lang="en-US" sz="3600" dirty="0"/>
              <a:t> chi </a:t>
            </a:r>
            <a:r>
              <a:rPr lang="en-US" sz="3600" dirty="0" err="1"/>
              <a:t>phí</a:t>
            </a:r>
            <a:r>
              <a:rPr lang="en-US" sz="3600" dirty="0"/>
              <a:t> </a:t>
            </a:r>
            <a:r>
              <a:rPr lang="en-US" sz="3600" dirty="0" err="1"/>
              <a:t>theo</a:t>
            </a:r>
            <a:r>
              <a:rPr lang="en-US" sz="3600" dirty="0"/>
              <a:t> </a:t>
            </a:r>
            <a:r>
              <a:rPr lang="en-US" sz="3600" dirty="0" err="1"/>
              <a:t>thời</a:t>
            </a:r>
            <a:r>
              <a:rPr lang="en-US" sz="3600" dirty="0"/>
              <a:t> </a:t>
            </a:r>
            <a:r>
              <a:rPr lang="en-US" sz="3600" dirty="0" err="1"/>
              <a:t>gian</a:t>
            </a:r>
            <a:endParaRPr lang="en-US" sz="3600" dirty="0"/>
          </a:p>
        </p:txBody>
      </p:sp>
      <p:sp>
        <p:nvSpPr>
          <p:cNvPr id="25" name="Line 4"/>
          <p:cNvSpPr>
            <a:spLocks noChangeShapeType="1"/>
          </p:cNvSpPr>
          <p:nvPr/>
        </p:nvSpPr>
        <p:spPr bwMode="auto">
          <a:xfrm>
            <a:off x="7315200" y="3124200"/>
            <a:ext cx="0" cy="4636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Tree>
    <p:extLst>
      <p:ext uri="{BB962C8B-B14F-4D97-AF65-F5344CB8AC3E}">
        <p14:creationId xmlns:p14="http://schemas.microsoft.com/office/powerpoint/2010/main" val="388249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blinds(horizontal)">
                                      <p:cBhvr>
                                        <p:cTn id="11" dur="500"/>
                                        <p:tgtEl>
                                          <p:spTgt spid="10">
                                            <p:txEl>
                                              <p:pRg st="1" end="1"/>
                                            </p:txEl>
                                          </p:spTgt>
                                        </p:tgtEl>
                                      </p:cBhvr>
                                    </p:animEffect>
                                  </p:childTnLst>
                                </p:cTn>
                              </p:par>
                              <p:par>
                                <p:cTn id="12" presetID="3" presetClass="entr" presetSubtype="10" fill="hold" nodeType="with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blinds(horizontal)">
                                      <p:cBhvr>
                                        <p:cTn id="14" dur="500"/>
                                        <p:tgtEl>
                                          <p:spTgt spid="10">
                                            <p:txEl>
                                              <p:pRg st="2" end="2"/>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linds(horizontal)">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
                                            <p:txEl>
                                              <p:pRg st="0" end="0"/>
                                            </p:txEl>
                                          </p:spTgt>
                                        </p:tgtEl>
                                        <p:attrNameLst>
                                          <p:attrName>style.visibility</p:attrName>
                                        </p:attrNameLst>
                                      </p:cBhvr>
                                      <p:to>
                                        <p:strVal val="visible"/>
                                      </p:to>
                                    </p:set>
                                    <p:animEffect transition="in" filter="blinds(horizontal)">
                                      <p:cBhvr>
                                        <p:cTn id="22" dur="500"/>
                                        <p:tgtEl>
                                          <p:spTgt spid="2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inVertical)">
                                      <p:cBhvr>
                                        <p:cTn id="27" dur="500"/>
                                        <p:tgtEl>
                                          <p:spTgt spid="22"/>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barn(inVertical)">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3337" y="1590675"/>
            <a:ext cx="9077325" cy="3819525"/>
          </a:xfrm>
          <a:prstGeom prst="rect">
            <a:avLst/>
          </a:prstGeom>
        </p:spPr>
      </p:pic>
      <p:pic>
        <p:nvPicPr>
          <p:cNvPr id="8" name="Picture 7"/>
          <p:cNvPicPr>
            <a:picLocks noChangeAspect="1"/>
          </p:cNvPicPr>
          <p:nvPr/>
        </p:nvPicPr>
        <p:blipFill>
          <a:blip r:embed="rId4"/>
          <a:stretch>
            <a:fillRect/>
          </a:stretch>
        </p:blipFill>
        <p:spPr>
          <a:xfrm>
            <a:off x="7467600" y="4419600"/>
            <a:ext cx="676275" cy="342900"/>
          </a:xfrm>
          <a:prstGeom prst="rect">
            <a:avLst/>
          </a:prstGeom>
        </p:spPr>
      </p:pic>
      <p:pic>
        <p:nvPicPr>
          <p:cNvPr id="7" name="Picture 6"/>
          <p:cNvPicPr>
            <a:picLocks noChangeAspect="1"/>
          </p:cNvPicPr>
          <p:nvPr/>
        </p:nvPicPr>
        <p:blipFill>
          <a:blip r:embed="rId5"/>
          <a:stretch>
            <a:fillRect/>
          </a:stretch>
        </p:blipFill>
        <p:spPr>
          <a:xfrm>
            <a:off x="7124700" y="3975100"/>
            <a:ext cx="1162050" cy="371475"/>
          </a:xfrm>
          <a:prstGeom prst="rect">
            <a:avLst/>
          </a:prstGeom>
        </p:spPr>
      </p:pic>
      <p:pic>
        <p:nvPicPr>
          <p:cNvPr id="3" name="Picture 2"/>
          <p:cNvPicPr>
            <a:picLocks noChangeAspect="1"/>
          </p:cNvPicPr>
          <p:nvPr/>
        </p:nvPicPr>
        <p:blipFill>
          <a:blip r:embed="rId6"/>
          <a:stretch>
            <a:fillRect/>
          </a:stretch>
        </p:blipFill>
        <p:spPr>
          <a:xfrm>
            <a:off x="7048500" y="3479800"/>
            <a:ext cx="1333500" cy="466725"/>
          </a:xfrm>
          <a:prstGeom prst="rect">
            <a:avLst/>
          </a:prstGeom>
        </p:spPr>
      </p:pic>
      <p:sp>
        <p:nvSpPr>
          <p:cNvPr id="49154" name="Rectangle 2"/>
          <p:cNvSpPr>
            <a:spLocks noGrp="1" noChangeArrowheads="1"/>
          </p:cNvSpPr>
          <p:nvPr>
            <p:ph type="title"/>
          </p:nvPr>
        </p:nvSpPr>
        <p:spPr>
          <a:xfrm>
            <a:off x="0" y="152400"/>
            <a:ext cx="9144000" cy="1143000"/>
          </a:xfrm>
        </p:spPr>
        <p:txBody>
          <a:bodyPr>
            <a:normAutofit/>
          </a:bodyPr>
          <a:lstStyle/>
          <a:p>
            <a:pPr algn="ctr"/>
            <a:r>
              <a:rPr lang="en-US" sz="3600" dirty="0" err="1"/>
              <a:t>Ví</a:t>
            </a:r>
            <a:r>
              <a:rPr lang="en-US" sz="3600" dirty="0"/>
              <a:t> </a:t>
            </a:r>
            <a:r>
              <a:rPr lang="en-US" sz="3600" dirty="0" err="1"/>
              <a:t>dụ</a:t>
            </a:r>
            <a:r>
              <a:rPr lang="en-US" sz="3600" dirty="0"/>
              <a:t>, </a:t>
            </a:r>
            <a:r>
              <a:rPr lang="vi-VN" sz="3600" dirty="0"/>
              <a:t>tính chi phí dự </a:t>
            </a:r>
            <a:r>
              <a:rPr lang="vi-VN" sz="3600"/>
              <a:t>án SMART</a:t>
            </a:r>
            <a:r>
              <a:rPr lang="en-US" sz="3600"/>
              <a:t> D</a:t>
            </a:r>
            <a:r>
              <a:rPr lang="vi-VN" sz="3600"/>
              <a:t>01</a:t>
            </a:r>
            <a:endParaRPr lang="en-US" sz="3600" dirty="0"/>
          </a:p>
        </p:txBody>
      </p:sp>
      <p:sp>
        <p:nvSpPr>
          <p:cNvPr id="49156"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449D5155-323A-470F-B813-49DA0B850D04}" type="slidenum">
              <a:rPr lang="en-US" smtClean="0"/>
              <a:pPr>
                <a:buFontTx/>
                <a:buNone/>
                <a:defRPr/>
              </a:pPr>
              <a:t>45</a:t>
            </a:fld>
            <a:endParaRPr lang="en-US" dirty="0"/>
          </a:p>
        </p:txBody>
      </p:sp>
      <p:sp>
        <p:nvSpPr>
          <p:cNvPr id="5" name="Oval Callout 4"/>
          <p:cNvSpPr/>
          <p:nvPr/>
        </p:nvSpPr>
        <p:spPr>
          <a:xfrm>
            <a:off x="5651500" y="1371600"/>
            <a:ext cx="1397000" cy="838200"/>
          </a:xfrm>
          <a:prstGeom prst="wedgeEllipseCallout">
            <a:avLst>
              <a:gd name="adj1" fmla="val 50062"/>
              <a:gd name="adj2" fmla="val 69388"/>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a:t>PV*RP</a:t>
            </a:r>
          </a:p>
        </p:txBody>
      </p:sp>
      <p:sp>
        <p:nvSpPr>
          <p:cNvPr id="11" name="Oval Callout 10"/>
          <p:cNvSpPr/>
          <p:nvPr/>
        </p:nvSpPr>
        <p:spPr>
          <a:xfrm>
            <a:off x="5753100" y="2565400"/>
            <a:ext cx="1371600" cy="838200"/>
          </a:xfrm>
          <a:prstGeom prst="wedgeEllipseCallout">
            <a:avLst>
              <a:gd name="adj1" fmla="val 50062"/>
              <a:gd name="adj2" fmla="val 69388"/>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a:t>EV-AC</a:t>
            </a:r>
          </a:p>
        </p:txBody>
      </p:sp>
      <p:sp>
        <p:nvSpPr>
          <p:cNvPr id="12" name="Oval Callout 11"/>
          <p:cNvSpPr/>
          <p:nvPr/>
        </p:nvSpPr>
        <p:spPr>
          <a:xfrm>
            <a:off x="5753100" y="3073400"/>
            <a:ext cx="1371600" cy="838200"/>
          </a:xfrm>
          <a:prstGeom prst="wedgeEllipseCallout">
            <a:avLst>
              <a:gd name="adj1" fmla="val 50062"/>
              <a:gd name="adj2" fmla="val 69388"/>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a:t>EV-PV</a:t>
            </a:r>
          </a:p>
        </p:txBody>
      </p:sp>
      <p:sp>
        <p:nvSpPr>
          <p:cNvPr id="13" name="Oval Callout 12"/>
          <p:cNvSpPr/>
          <p:nvPr/>
        </p:nvSpPr>
        <p:spPr>
          <a:xfrm>
            <a:off x="5829300" y="3594100"/>
            <a:ext cx="1371600" cy="838200"/>
          </a:xfrm>
          <a:prstGeom prst="wedgeEllipseCallout">
            <a:avLst>
              <a:gd name="adj1" fmla="val 50062"/>
              <a:gd name="adj2" fmla="val 69388"/>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a:t>EV/AC</a:t>
            </a:r>
          </a:p>
        </p:txBody>
      </p:sp>
      <p:sp>
        <p:nvSpPr>
          <p:cNvPr id="14" name="Oval Callout 13"/>
          <p:cNvSpPr/>
          <p:nvPr/>
        </p:nvSpPr>
        <p:spPr>
          <a:xfrm>
            <a:off x="6096000" y="4127500"/>
            <a:ext cx="1371600" cy="838200"/>
          </a:xfrm>
          <a:prstGeom prst="wedgeEllipseCallout">
            <a:avLst>
              <a:gd name="adj1" fmla="val 50062"/>
              <a:gd name="adj2" fmla="val 69388"/>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a:t>EV/PV</a:t>
            </a:r>
          </a:p>
        </p:txBody>
      </p:sp>
      <p:pic>
        <p:nvPicPr>
          <p:cNvPr id="9" name="Picture 8"/>
          <p:cNvPicPr>
            <a:picLocks noChangeAspect="1"/>
          </p:cNvPicPr>
          <p:nvPr/>
        </p:nvPicPr>
        <p:blipFill>
          <a:blip r:embed="rId7"/>
          <a:stretch>
            <a:fillRect/>
          </a:stretch>
        </p:blipFill>
        <p:spPr>
          <a:xfrm>
            <a:off x="7534275" y="4876800"/>
            <a:ext cx="619125" cy="342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arn(inVertical)">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barn(inVertical)">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barn(inVertical)">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1" grpId="0" animBg="1"/>
      <p:bldP spid="11" grpId="1" animBg="1"/>
      <p:bldP spid="12" grpId="0" animBg="1"/>
      <p:bldP spid="12" grpId="1" animBg="1"/>
      <p:bldP spid="13" grpId="0" animBg="1"/>
      <p:bldP spid="13" grpId="1" animBg="1"/>
      <p:bldP spid="14" grpId="0" animBg="1"/>
      <p:bldP spid="14"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47800"/>
            <a:ext cx="7543800" cy="3352800"/>
          </a:xfrm>
          <a:solidFill>
            <a:schemeClr val="bg2">
              <a:lumMod val="75000"/>
            </a:schemeClr>
          </a:solidFill>
        </p:spPr>
        <p:txBody>
          <a:bodyPr/>
          <a:lstStyle/>
          <a:p>
            <a:pPr>
              <a:spcBef>
                <a:spcPts val="600"/>
              </a:spcBef>
              <a:spcAft>
                <a:spcPts val="600"/>
              </a:spcAft>
            </a:pPr>
            <a:r>
              <a:rPr lang="vi-VN" sz="2400" dirty="0">
                <a:effectLst>
                  <a:outerShdw blurRad="38100" dist="38100" dir="2700000" algn="tl">
                    <a:srgbClr val="000000">
                      <a:alpha val="43137"/>
                    </a:srgbClr>
                  </a:outerShdw>
                </a:effectLst>
              </a:rPr>
              <a:t>EVM</a:t>
            </a:r>
            <a:r>
              <a:rPr lang="vi-VN" sz="2400" dirty="0"/>
              <a:t> được sử dụng toàn thế giới...</a:t>
            </a:r>
          </a:p>
          <a:p>
            <a:pPr>
              <a:spcBef>
                <a:spcPts val="600"/>
              </a:spcBef>
              <a:spcAft>
                <a:spcPts val="0"/>
              </a:spcAft>
            </a:pPr>
            <a:r>
              <a:rPr lang="vi-VN" sz="2400" dirty="0"/>
              <a:t>Các dự án lớn của quốc gia hay chính phủ.</a:t>
            </a:r>
            <a:br>
              <a:rPr lang="vi-VN" sz="2400" dirty="0"/>
            </a:br>
            <a:r>
              <a:rPr lang="vi-VN" sz="2400" dirty="0"/>
              <a:t>Khu vực tư nhân: </a:t>
            </a:r>
          </a:p>
          <a:p>
            <a:pPr lvl="1">
              <a:spcBef>
                <a:spcPts val="600"/>
              </a:spcBef>
              <a:spcAft>
                <a:spcPts val="600"/>
              </a:spcAft>
              <a:buFont typeface="Arial" panose="020B0604020202020204" pitchFamily="34" charset="0"/>
              <a:buChar char="•"/>
            </a:pPr>
            <a:r>
              <a:rPr lang="vi-VN" sz="2200" dirty="0"/>
              <a:t>V.d., CNTT, xây dựng, sản xuất...</a:t>
            </a:r>
          </a:p>
          <a:p>
            <a:pPr>
              <a:spcBef>
                <a:spcPts val="600"/>
              </a:spcBef>
              <a:spcAft>
                <a:spcPts val="600"/>
              </a:spcAft>
            </a:pPr>
            <a:r>
              <a:rPr lang="vi-VN" sz="2400" dirty="0"/>
              <a:t>Tuy nhiên, hầu hết tư nhân không áp dụng </a:t>
            </a:r>
            <a:r>
              <a:rPr lang="vi-VN" sz="2400" dirty="0">
                <a:effectLst>
                  <a:outerShdw blurRad="38100" dist="38100" dir="2700000" algn="tl">
                    <a:srgbClr val="000000">
                      <a:alpha val="43137"/>
                    </a:srgbClr>
                  </a:outerShdw>
                </a:effectLst>
              </a:rPr>
              <a:t>EVM</a:t>
            </a:r>
            <a:r>
              <a:rPr lang="vi-VN" sz="2400" dirty="0"/>
              <a:t> vì</a:t>
            </a:r>
            <a:r>
              <a:rPr lang="vi-VN" dirty="0"/>
              <a:t>: </a:t>
            </a:r>
          </a:p>
          <a:p>
            <a:pPr lvl="1">
              <a:spcBef>
                <a:spcPts val="0"/>
              </a:spcBef>
              <a:spcAft>
                <a:spcPts val="600"/>
              </a:spcAft>
              <a:buFont typeface="Arial" panose="020B0604020202020204" pitchFamily="34" charset="0"/>
              <a:buChar char="•"/>
            </a:pPr>
            <a:r>
              <a:rPr lang="vi-VN" sz="2200" dirty="0"/>
              <a:t>Ban điều hành không yêu cầu. </a:t>
            </a:r>
          </a:p>
          <a:p>
            <a:pPr lvl="1">
              <a:spcBef>
                <a:spcPts val="0"/>
              </a:spcBef>
              <a:spcAft>
                <a:spcPts val="600"/>
              </a:spcAft>
              <a:buFont typeface="Arial" panose="020B0604020202020204" pitchFamily="34" charset="0"/>
              <a:buChar char="•"/>
            </a:pPr>
            <a:r>
              <a:rPr lang="vi-VN" sz="2200" dirty="0"/>
              <a:t>Quá phức tạp và không hiệu quả về chi phí...</a:t>
            </a:r>
            <a:endParaRPr lang="en-US" sz="2200"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46</a:t>
            </a:fld>
            <a:endParaRPr lang="en-US" dirty="0"/>
          </a:p>
        </p:txBody>
      </p:sp>
      <p:pic>
        <p:nvPicPr>
          <p:cNvPr id="7" name="Picture 6"/>
          <p:cNvPicPr>
            <a:picLocks noChangeAspect="1"/>
          </p:cNvPicPr>
          <p:nvPr/>
        </p:nvPicPr>
        <p:blipFill>
          <a:blip r:embed="rId3"/>
          <a:stretch>
            <a:fillRect/>
          </a:stretch>
        </p:blipFill>
        <p:spPr>
          <a:xfrm>
            <a:off x="466725" y="428625"/>
            <a:ext cx="4562475" cy="638175"/>
          </a:xfrm>
          <a:prstGeom prst="rect">
            <a:avLst/>
          </a:prstGeom>
        </p:spPr>
      </p:pic>
      <p:pic>
        <p:nvPicPr>
          <p:cNvPr id="2052" name="Picture 4" descr="http://www.tonex.com/wp-content/uploads/evm-icon-l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4495800"/>
            <a:ext cx="2209799"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8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2052"/>
                                        </p:tgtEl>
                                        <p:attrNameLst>
                                          <p:attrName>style.visibility</p:attrName>
                                        </p:attrNameLst>
                                      </p:cBhvr>
                                      <p:to>
                                        <p:strVal val="visible"/>
                                      </p:to>
                                    </p:set>
                                    <p:animEffect transition="in" filter="barn(inVertical)">
                                      <p:cBhvr>
                                        <p:cTn id="10" dur="500"/>
                                        <p:tgtEl>
                                          <p:spTgt spid="2052"/>
                                        </p:tgtEl>
                                      </p:cBhvr>
                                    </p:animEffec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normAutofit/>
          </a:bodyPr>
          <a:lstStyle/>
          <a:p>
            <a:pPr algn="ctr"/>
            <a:r>
              <a:rPr lang="en-US" sz="3600" dirty="0"/>
              <a:t>Thống </a:t>
            </a:r>
            <a:r>
              <a:rPr lang="en-US" sz="3600" dirty="0" err="1"/>
              <a:t>kê</a:t>
            </a:r>
            <a:r>
              <a:rPr lang="en-US" sz="3600" dirty="0"/>
              <a:t> </a:t>
            </a:r>
            <a:r>
              <a:rPr lang="en-US" sz="3600" dirty="0" err="1"/>
              <a:t>về</a:t>
            </a:r>
            <a:r>
              <a:rPr lang="en-US" sz="3600" dirty="0"/>
              <a:t> </a:t>
            </a:r>
            <a:r>
              <a:rPr lang="en-US" sz="3600" dirty="0" err="1"/>
              <a:t>sử</a:t>
            </a:r>
            <a:r>
              <a:rPr lang="en-US" sz="3600" dirty="0"/>
              <a:t> </a:t>
            </a:r>
            <a:r>
              <a:rPr lang="en-US" sz="3600" dirty="0" err="1"/>
              <a:t>dụng</a:t>
            </a:r>
            <a:r>
              <a:rPr lang="en-US" sz="3600" dirty="0"/>
              <a:t> EVM</a:t>
            </a: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47</a:t>
            </a:fld>
            <a:endParaRPr lang="en-US" dirty="0"/>
          </a:p>
        </p:txBody>
      </p:sp>
      <p:pic>
        <p:nvPicPr>
          <p:cNvPr id="2" name="Picture 1"/>
          <p:cNvPicPr>
            <a:picLocks noChangeAspect="1"/>
          </p:cNvPicPr>
          <p:nvPr/>
        </p:nvPicPr>
        <p:blipFill>
          <a:blip r:embed="rId2"/>
          <a:stretch>
            <a:fillRect/>
          </a:stretch>
        </p:blipFill>
        <p:spPr>
          <a:xfrm>
            <a:off x="0" y="0"/>
            <a:ext cx="9144000" cy="6886575"/>
          </a:xfrm>
          <a:prstGeom prst="rect">
            <a:avLst/>
          </a:prstGeom>
        </p:spPr>
      </p:pic>
    </p:spTree>
    <p:extLst>
      <p:ext uri="{BB962C8B-B14F-4D97-AF65-F5344CB8AC3E}">
        <p14:creationId xmlns:p14="http://schemas.microsoft.com/office/powerpoint/2010/main" val="218577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447800"/>
            <a:ext cx="8534400" cy="4572000"/>
          </a:xfrm>
        </p:spPr>
        <p:txBody>
          <a:bodyPr/>
          <a:lstStyle/>
          <a:p>
            <a:pPr algn="just"/>
            <a:r>
              <a:rPr lang="vi-VN" dirty="0"/>
              <a:t>Thu thập và kiểm soát toàn bộ các dự án là tập hợp các hoạt động liên quan trong danh mục đầu tư.</a:t>
            </a:r>
          </a:p>
          <a:p>
            <a:pPr algn="just"/>
            <a:endParaRPr lang="en-US" sz="1200" dirty="0"/>
          </a:p>
          <a:p>
            <a:pPr algn="just"/>
            <a:r>
              <a:rPr lang="vi-VN" dirty="0"/>
              <a:t>5 cấp độ quản lý danh mục đầu tư:</a:t>
            </a:r>
          </a:p>
          <a:p>
            <a:pPr marL="776288" lvl="1" indent="-457200" algn="just">
              <a:buFont typeface="Arial" charset="0"/>
              <a:buAutoNum type="arabicPeriod"/>
            </a:pPr>
            <a:r>
              <a:rPr lang="vi-VN" sz="2400" dirty="0"/>
              <a:t>Đưa tất cả các dự án vào một cơ sở dữ liệu.</a:t>
            </a:r>
          </a:p>
          <a:p>
            <a:pPr marL="776288" lvl="1" indent="-457200" algn="just">
              <a:buFont typeface="Arial" charset="0"/>
              <a:buAutoNum type="arabicPeriod"/>
            </a:pPr>
            <a:r>
              <a:rPr lang="vi-VN" sz="2400" dirty="0"/>
              <a:t>Ưu tiên các dự án trong cơ sở dữ liệu.</a:t>
            </a:r>
          </a:p>
          <a:p>
            <a:pPr marL="776288" lvl="1" indent="-457200" algn="just">
              <a:buFont typeface="Arial" charset="0"/>
              <a:buAutoNum type="arabicPeriod"/>
            </a:pPr>
            <a:r>
              <a:rPr lang="vi-VN" sz="2400" dirty="0"/>
              <a:t>Chia thành nhiều ngân sách theo loại hình đầu tư.</a:t>
            </a:r>
          </a:p>
          <a:p>
            <a:pPr marL="776288" lvl="1" indent="-457200" algn="just">
              <a:buFont typeface="Arial" charset="0"/>
              <a:buAutoNum type="arabicPeriod"/>
            </a:pPr>
            <a:r>
              <a:rPr lang="vi-VN" sz="2400" dirty="0"/>
              <a:t>Tự động đồng bộ kho dữ liệu.</a:t>
            </a:r>
          </a:p>
          <a:p>
            <a:pPr marL="776288" lvl="1" indent="-457200" algn="just">
              <a:buFont typeface="Arial" charset="0"/>
              <a:buAutoNum type="arabicPeriod"/>
            </a:pPr>
            <a:r>
              <a:rPr lang="vi-VN" sz="2400" dirty="0"/>
              <a:t>Dùng công cụ quản lý rủi ro đối chiếu với rủi ro dự án</a:t>
            </a:r>
            <a:r>
              <a:rPr lang="en-US" sz="2400" dirty="0"/>
              <a:t>…</a:t>
            </a:r>
          </a:p>
        </p:txBody>
      </p:sp>
      <p:sp>
        <p:nvSpPr>
          <p:cNvPr id="53250" name="Rectangle 2"/>
          <p:cNvSpPr>
            <a:spLocks noGrp="1" noChangeArrowheads="1"/>
          </p:cNvSpPr>
          <p:nvPr>
            <p:ph type="title"/>
          </p:nvPr>
        </p:nvSpPr>
        <p:spPr>
          <a:xfrm>
            <a:off x="228600" y="350838"/>
            <a:ext cx="8763000" cy="792162"/>
          </a:xfrm>
        </p:spPr>
        <p:txBody>
          <a:bodyPr>
            <a:noAutofit/>
          </a:bodyPr>
          <a:lstStyle/>
          <a:p>
            <a:pPr algn="ctr"/>
            <a:r>
              <a:rPr lang="vi-VN" sz="4000" dirty="0"/>
              <a:t>Quản lý danh mục đầu tư</a:t>
            </a:r>
            <a:endParaRPr lang="en-US" sz="4000" dirty="0"/>
          </a:p>
        </p:txBody>
      </p:sp>
      <p:sp>
        <p:nvSpPr>
          <p:cNvPr id="5325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7C21A130-C013-4760-9556-12A1046F5ADA}" type="slidenum">
              <a:rPr lang="en-US" smtClean="0"/>
              <a:pPr>
                <a:defRPr/>
              </a:pPr>
              <a:t>48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25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609600" y="1524000"/>
            <a:ext cx="8001000" cy="2819400"/>
          </a:xfrm>
          <a:solidFill>
            <a:schemeClr val="bg2"/>
          </a:solidFill>
        </p:spPr>
        <p:txBody>
          <a:bodyPr/>
          <a:lstStyle/>
          <a:p>
            <a:pPr algn="just">
              <a:spcBef>
                <a:spcPts val="600"/>
              </a:spcBef>
              <a:spcAft>
                <a:spcPts val="600"/>
              </a:spcAft>
            </a:pPr>
            <a:r>
              <a:rPr lang="vi-VN" sz="2400" dirty="0"/>
              <a:t>2001: tiết kiệm </a:t>
            </a:r>
            <a:r>
              <a:rPr lang="vi-VN" sz="2400" b="1" dirty="0">
                <a:solidFill>
                  <a:srgbClr val="FF0000"/>
                </a:solidFill>
              </a:rPr>
              <a:t>3</a:t>
            </a:r>
            <a:r>
              <a:rPr lang="vi-VN" sz="2400" dirty="0">
                <a:solidFill>
                  <a:srgbClr val="FF0000"/>
                </a:solidFill>
              </a:rPr>
              <a:t> triệu </a:t>
            </a:r>
            <a:r>
              <a:rPr lang="vi-VN" sz="2400" dirty="0"/>
              <a:t>USD/năm – do có </a:t>
            </a:r>
            <a:r>
              <a:rPr lang="vi-VN" sz="2400" b="1" dirty="0">
                <a:solidFill>
                  <a:srgbClr val="FF0000"/>
                </a:solidFill>
              </a:rPr>
              <a:t>120</a:t>
            </a:r>
            <a:r>
              <a:rPr lang="vi-VN" sz="2400" dirty="0">
                <a:solidFill>
                  <a:srgbClr val="FF0000"/>
                </a:solidFill>
              </a:rPr>
              <a:t> </a:t>
            </a:r>
            <a:r>
              <a:rPr lang="vi-VN" sz="2400" dirty="0"/>
              <a:t>dự án CNTT/HTTT trong danh mục đầu tư.</a:t>
            </a:r>
          </a:p>
          <a:p>
            <a:pPr algn="just">
              <a:spcBef>
                <a:spcPts val="600"/>
              </a:spcBef>
              <a:spcAft>
                <a:spcPts val="600"/>
              </a:spcAft>
            </a:pPr>
            <a:r>
              <a:rPr lang="vi-VN" sz="2400" dirty="0"/>
              <a:t>Giảm các dự án thừa, và phối hợp với những dự án chồng chéo nhau. </a:t>
            </a:r>
          </a:p>
          <a:p>
            <a:pPr algn="just">
              <a:spcBef>
                <a:spcPts val="600"/>
              </a:spcBef>
              <a:spcAft>
                <a:spcPts val="600"/>
              </a:spcAft>
            </a:pPr>
            <a:r>
              <a:rPr lang="vi-VN" sz="2400" dirty="0"/>
              <a:t>Giám đốc dự án được đầu tư rất nhiều tiền, xem các dự án là danh mục đầu tư, và theo dõi trong tổng thể.</a:t>
            </a:r>
            <a:endParaRPr lang="en-US" sz="2400" dirty="0"/>
          </a:p>
        </p:txBody>
      </p:sp>
      <p:sp>
        <p:nvSpPr>
          <p:cNvPr id="54274" name="Rectangle 2"/>
          <p:cNvSpPr>
            <a:spLocks noGrp="1" noChangeArrowheads="1"/>
          </p:cNvSpPr>
          <p:nvPr>
            <p:ph type="title"/>
          </p:nvPr>
        </p:nvSpPr>
        <p:spPr>
          <a:xfrm>
            <a:off x="21609" y="228600"/>
            <a:ext cx="9122391" cy="868362"/>
          </a:xfrm>
        </p:spPr>
        <p:txBody>
          <a:bodyPr>
            <a:normAutofit/>
          </a:bodyPr>
          <a:lstStyle/>
          <a:p>
            <a:pPr algn="ctr"/>
            <a:r>
              <a:rPr lang="vi-VN" sz="3600" dirty="0"/>
              <a:t>Schlumberger</a:t>
            </a:r>
            <a:endParaRPr lang="en-US" sz="3600" dirty="0"/>
          </a:p>
        </p:txBody>
      </p:sp>
      <p:sp>
        <p:nvSpPr>
          <p:cNvPr id="5427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327F7ABF-A998-4CFD-9998-CB7606B55CC4}" type="slidenum">
              <a:rPr lang="en-US" smtClean="0"/>
              <a:pPr>
                <a:defRPr/>
              </a:pPr>
              <a:t>49</a:t>
            </a:fld>
            <a:endParaRPr lang="en-US" dirty="0"/>
          </a:p>
        </p:txBody>
      </p:sp>
      <p:pic>
        <p:nvPicPr>
          <p:cNvPr id="1028" name="Picture 4" descr="http://www.dthrotarydrilling.com/News/24-September-2013/images/schlumberger_log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844356"/>
            <a:ext cx="4029222" cy="10230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2219325" cy="3352800"/>
          </a:xfrm>
          <a:prstGeom prst="rect">
            <a:avLst/>
          </a:prstGeom>
        </p:spPr>
      </p:pic>
      <p:pic>
        <p:nvPicPr>
          <p:cNvPr id="3" name="Picture 2"/>
          <p:cNvPicPr>
            <a:picLocks noChangeAspect="1"/>
          </p:cNvPicPr>
          <p:nvPr/>
        </p:nvPicPr>
        <p:blipFill>
          <a:blip r:embed="rId4"/>
          <a:stretch>
            <a:fillRect/>
          </a:stretch>
        </p:blipFill>
        <p:spPr>
          <a:xfrm>
            <a:off x="2298700" y="0"/>
            <a:ext cx="2257425" cy="3371850"/>
          </a:xfrm>
          <a:prstGeom prst="rect">
            <a:avLst/>
          </a:prstGeom>
        </p:spPr>
      </p:pic>
      <p:pic>
        <p:nvPicPr>
          <p:cNvPr id="7" name="Picture 6"/>
          <p:cNvPicPr>
            <a:picLocks noChangeAspect="1"/>
          </p:cNvPicPr>
          <p:nvPr/>
        </p:nvPicPr>
        <p:blipFill>
          <a:blip r:embed="rId5"/>
          <a:stretch>
            <a:fillRect/>
          </a:stretch>
        </p:blipFill>
        <p:spPr>
          <a:xfrm>
            <a:off x="-9525" y="3505200"/>
            <a:ext cx="2219325" cy="3362325"/>
          </a:xfrm>
          <a:prstGeom prst="rect">
            <a:avLst/>
          </a:prstGeom>
        </p:spPr>
      </p:pic>
      <p:pic>
        <p:nvPicPr>
          <p:cNvPr id="10" name="Picture 9"/>
          <p:cNvPicPr>
            <a:picLocks noChangeAspect="1"/>
          </p:cNvPicPr>
          <p:nvPr/>
        </p:nvPicPr>
        <p:blipFill>
          <a:blip r:embed="rId6"/>
          <a:stretch>
            <a:fillRect/>
          </a:stretch>
        </p:blipFill>
        <p:spPr>
          <a:xfrm>
            <a:off x="2222500" y="3498850"/>
            <a:ext cx="2390775" cy="3371850"/>
          </a:xfrm>
          <a:prstGeom prst="rect">
            <a:avLst/>
          </a:prstGeom>
        </p:spPr>
      </p:pic>
      <p:pic>
        <p:nvPicPr>
          <p:cNvPr id="12" name="Picture 11"/>
          <p:cNvPicPr>
            <a:picLocks noChangeAspect="1"/>
          </p:cNvPicPr>
          <p:nvPr/>
        </p:nvPicPr>
        <p:blipFill>
          <a:blip r:embed="rId7"/>
          <a:stretch>
            <a:fillRect/>
          </a:stretch>
        </p:blipFill>
        <p:spPr>
          <a:xfrm>
            <a:off x="6915150" y="3505200"/>
            <a:ext cx="2228850" cy="3371850"/>
          </a:xfrm>
          <a:prstGeom prst="rect">
            <a:avLst/>
          </a:prstGeom>
        </p:spPr>
      </p:pic>
      <p:pic>
        <p:nvPicPr>
          <p:cNvPr id="13" name="Picture 12"/>
          <p:cNvPicPr>
            <a:picLocks noChangeAspect="1"/>
          </p:cNvPicPr>
          <p:nvPr/>
        </p:nvPicPr>
        <p:blipFill>
          <a:blip r:embed="rId8"/>
          <a:stretch>
            <a:fillRect/>
          </a:stretch>
        </p:blipFill>
        <p:spPr>
          <a:xfrm>
            <a:off x="4610100" y="0"/>
            <a:ext cx="2247900" cy="3371850"/>
          </a:xfrm>
          <a:prstGeom prst="rect">
            <a:avLst/>
          </a:prstGeom>
        </p:spPr>
      </p:pic>
      <p:pic>
        <p:nvPicPr>
          <p:cNvPr id="14" name="Picture 13"/>
          <p:cNvPicPr>
            <a:picLocks noChangeAspect="1"/>
          </p:cNvPicPr>
          <p:nvPr/>
        </p:nvPicPr>
        <p:blipFill>
          <a:blip r:embed="rId9"/>
          <a:stretch>
            <a:fillRect/>
          </a:stretch>
        </p:blipFill>
        <p:spPr>
          <a:xfrm>
            <a:off x="6934200" y="0"/>
            <a:ext cx="2209800" cy="3362325"/>
          </a:xfrm>
          <a:prstGeom prst="rect">
            <a:avLst/>
          </a:prstGeom>
        </p:spPr>
      </p:pic>
      <p:pic>
        <p:nvPicPr>
          <p:cNvPr id="15" name="Picture 14"/>
          <p:cNvPicPr>
            <a:picLocks noChangeAspect="1"/>
          </p:cNvPicPr>
          <p:nvPr/>
        </p:nvPicPr>
        <p:blipFill>
          <a:blip r:embed="rId10"/>
          <a:stretch>
            <a:fillRect/>
          </a:stretch>
        </p:blipFill>
        <p:spPr>
          <a:xfrm>
            <a:off x="4610100" y="3505200"/>
            <a:ext cx="2247900" cy="3371850"/>
          </a:xfrm>
          <a:prstGeom prst="rect">
            <a:avLst/>
          </a:prstGeom>
        </p:spPr>
      </p:pic>
    </p:spTree>
    <p:extLst>
      <p:ext uri="{BB962C8B-B14F-4D97-AF65-F5344CB8AC3E}">
        <p14:creationId xmlns:p14="http://schemas.microsoft.com/office/powerpoint/2010/main" val="412705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arn(inVertical)">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051"/>
          <p:cNvSpPr>
            <a:spLocks noGrp="1" noChangeArrowheads="1"/>
          </p:cNvSpPr>
          <p:nvPr>
            <p:ph idx="1"/>
          </p:nvPr>
        </p:nvSpPr>
        <p:spPr>
          <a:xfrm>
            <a:off x="381000" y="1143000"/>
            <a:ext cx="6629400" cy="4648200"/>
          </a:xfrm>
        </p:spPr>
        <p:txBody>
          <a:bodyPr/>
          <a:lstStyle/>
          <a:p>
            <a:pPr algn="just">
              <a:lnSpc>
                <a:spcPct val="90000"/>
              </a:lnSpc>
            </a:pPr>
            <a:r>
              <a:rPr lang="vi-VN" dirty="0"/>
              <a:t>Bảng tính dùng ước lượng chi phí, xác định ngân sách, kiểm soát chi phí...</a:t>
            </a:r>
          </a:p>
          <a:p>
            <a:pPr algn="just">
              <a:lnSpc>
                <a:spcPct val="90000"/>
              </a:lnSpc>
            </a:pPr>
            <a:endParaRPr lang="vi-VN" sz="1200" dirty="0"/>
          </a:p>
          <a:p>
            <a:pPr algn="just">
              <a:lnSpc>
                <a:spcPct val="90000"/>
              </a:lnSpc>
            </a:pPr>
            <a:r>
              <a:rPr lang="vi-VN" dirty="0"/>
              <a:t>Phần mềm ứng dụng tài chính cho thông tin chi phí.</a:t>
            </a:r>
          </a:p>
          <a:p>
            <a:pPr algn="just">
              <a:lnSpc>
                <a:spcPct val="90000"/>
              </a:lnSpc>
            </a:pPr>
            <a:endParaRPr lang="vi-VN" sz="2000" dirty="0"/>
          </a:p>
          <a:p>
            <a:pPr algn="just">
              <a:lnSpc>
                <a:spcPct val="90000"/>
              </a:lnSpc>
            </a:pPr>
            <a:r>
              <a:rPr lang="vi-VN" dirty="0"/>
              <a:t>Phần mềm có liên quan đến chi phí: </a:t>
            </a:r>
            <a:r>
              <a:rPr lang="vi-VN" dirty="0">
                <a:solidFill>
                  <a:srgbClr val="0070C0"/>
                </a:solidFill>
                <a:effectLst>
                  <a:outerShdw blurRad="38100" dist="38100" dir="2700000" algn="tl">
                    <a:srgbClr val="000000">
                      <a:alpha val="43137"/>
                    </a:srgbClr>
                  </a:outerShdw>
                </a:effectLst>
              </a:rPr>
              <a:t>PPM</a:t>
            </a:r>
            <a:r>
              <a:rPr lang="vi-VN" dirty="0">
                <a:effectLst>
                  <a:outerShdw blurRad="38100" dist="38100" dir="2700000" algn="tl">
                    <a:srgbClr val="000000">
                      <a:alpha val="43137"/>
                    </a:srgbClr>
                  </a:outerShdw>
                </a:effectLst>
              </a:rPr>
              <a:t> </a:t>
            </a:r>
            <a:r>
              <a:rPr lang="vi-VN" dirty="0"/>
              <a:t>(</a:t>
            </a:r>
            <a:r>
              <a:rPr lang="vi-VN" dirty="0">
                <a:solidFill>
                  <a:srgbClr val="0070C0"/>
                </a:solidFill>
              </a:rPr>
              <a:t>Project Portfolio Management</a:t>
            </a:r>
            <a:r>
              <a:rPr lang="vi-VN" dirty="0"/>
              <a:t>). </a:t>
            </a:r>
          </a:p>
          <a:p>
            <a:pPr algn="just">
              <a:lnSpc>
                <a:spcPct val="90000"/>
              </a:lnSpc>
            </a:pPr>
            <a:endParaRPr lang="vi-VN" sz="1200" dirty="0"/>
          </a:p>
          <a:p>
            <a:pPr algn="just">
              <a:lnSpc>
                <a:spcPct val="90000"/>
              </a:lnSpc>
            </a:pPr>
            <a:r>
              <a:rPr lang="vi-VN" dirty="0">
                <a:effectLst>
                  <a:outerShdw blurRad="38100" dist="38100" dir="2700000" algn="tl">
                    <a:srgbClr val="000000">
                      <a:alpha val="43137"/>
                    </a:srgbClr>
                  </a:outerShdw>
                </a:effectLst>
              </a:rPr>
              <a:t>PPM</a:t>
            </a:r>
            <a:r>
              <a:rPr lang="vi-VN" dirty="0"/>
              <a:t> giúp giảm chi phí...</a:t>
            </a:r>
            <a:endParaRPr lang="en-US" dirty="0"/>
          </a:p>
        </p:txBody>
      </p:sp>
      <p:sp>
        <p:nvSpPr>
          <p:cNvPr id="56322" name="Rectangle 2050"/>
          <p:cNvSpPr>
            <a:spLocks noGrp="1" noChangeArrowheads="1"/>
          </p:cNvSpPr>
          <p:nvPr>
            <p:ph type="title"/>
          </p:nvPr>
        </p:nvSpPr>
        <p:spPr>
          <a:xfrm>
            <a:off x="533400" y="0"/>
            <a:ext cx="8229600" cy="990600"/>
          </a:xfrm>
        </p:spPr>
        <p:txBody>
          <a:bodyPr>
            <a:noAutofit/>
          </a:bodyPr>
          <a:lstStyle/>
          <a:p>
            <a:pPr algn="ctr"/>
            <a:r>
              <a:rPr lang="en-US" sz="3600" dirty="0" err="1">
                <a:solidFill>
                  <a:srgbClr val="0070C0"/>
                </a:solidFill>
              </a:rPr>
              <a:t>Phần</a:t>
            </a:r>
            <a:r>
              <a:rPr lang="en-US" sz="3600" dirty="0">
                <a:solidFill>
                  <a:srgbClr val="0070C0"/>
                </a:solidFill>
              </a:rPr>
              <a:t> </a:t>
            </a:r>
            <a:r>
              <a:rPr lang="en-US" sz="3600" dirty="0" err="1">
                <a:solidFill>
                  <a:srgbClr val="0070C0"/>
                </a:solidFill>
              </a:rPr>
              <a:t>mềm</a:t>
            </a:r>
            <a:r>
              <a:rPr lang="en-US" sz="3600" dirty="0">
                <a:solidFill>
                  <a:srgbClr val="0070C0"/>
                </a:solidFill>
              </a:rPr>
              <a:t> quản lý chi </a:t>
            </a:r>
            <a:r>
              <a:rPr lang="en-US" sz="3600" dirty="0" err="1">
                <a:solidFill>
                  <a:srgbClr val="0070C0"/>
                </a:solidFill>
              </a:rPr>
              <a:t>phí</a:t>
            </a:r>
            <a:r>
              <a:rPr lang="en-US" sz="3600" dirty="0">
                <a:solidFill>
                  <a:srgbClr val="0070C0"/>
                </a:solidFill>
              </a:rPr>
              <a:t> </a:t>
            </a:r>
            <a:r>
              <a:rPr lang="en-US" sz="3600" dirty="0" err="1">
                <a:solidFill>
                  <a:srgbClr val="0070C0"/>
                </a:solidFill>
              </a:rPr>
              <a:t>dự</a:t>
            </a:r>
            <a:r>
              <a:rPr lang="en-US" sz="3600" dirty="0">
                <a:solidFill>
                  <a:srgbClr val="0070C0"/>
                </a:solidFill>
              </a:rPr>
              <a:t> </a:t>
            </a:r>
            <a:r>
              <a:rPr lang="en-US" sz="3600" dirty="0" err="1">
                <a:solidFill>
                  <a:srgbClr val="0070C0"/>
                </a:solidFill>
              </a:rPr>
              <a:t>án</a:t>
            </a:r>
            <a:endParaRPr lang="en-US" sz="3600" dirty="0">
              <a:solidFill>
                <a:srgbClr val="0070C0"/>
              </a:solidFill>
            </a:endParaRPr>
          </a:p>
        </p:txBody>
      </p:sp>
      <p:sp>
        <p:nvSpPr>
          <p:cNvPr id="5632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3BF0DBF3-1D0E-45B6-B5E1-D9CD88B78540}" type="slidenum">
              <a:rPr lang="en-US" smtClean="0"/>
              <a:pPr>
                <a:defRPr/>
              </a:pPr>
              <a:t>51</a:t>
            </a:fld>
            <a:endParaRPr lang="en-US" dirty="0"/>
          </a:p>
        </p:txBody>
      </p:sp>
      <p:pic>
        <p:nvPicPr>
          <p:cNvPr id="2" name="Picture 1">
            <a:extLst>
              <a:ext uri="{FF2B5EF4-FFF2-40B4-BE49-F238E27FC236}">
                <a16:creationId xmlns:a16="http://schemas.microsoft.com/office/drawing/2014/main" id="{054A910A-F0F9-48BE-8764-02FC9364B9AF}"/>
              </a:ext>
            </a:extLst>
          </p:cNvPr>
          <p:cNvPicPr>
            <a:picLocks noChangeAspect="1"/>
          </p:cNvPicPr>
          <p:nvPr/>
        </p:nvPicPr>
        <p:blipFill>
          <a:blip r:embed="rId3"/>
          <a:stretch>
            <a:fillRect/>
          </a:stretch>
        </p:blipFill>
        <p:spPr>
          <a:xfrm>
            <a:off x="7316101" y="1066800"/>
            <a:ext cx="1218299" cy="5029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7086600" cy="2786062"/>
          </a:xfrm>
          <a:solidFill>
            <a:schemeClr val="bg2"/>
          </a:solidFill>
        </p:spPr>
        <p:txBody>
          <a:bodyPr/>
          <a:lstStyle/>
          <a:p>
            <a:pPr algn="just"/>
            <a:r>
              <a:rPr lang="vi-VN" sz="2400" dirty="0"/>
              <a:t>Gartner </a:t>
            </a:r>
            <a:r>
              <a:rPr lang="vi-VN" sz="2400"/>
              <a:t>(201</a:t>
            </a:r>
            <a:r>
              <a:rPr lang="en-US" sz="2400"/>
              <a:t>7</a:t>
            </a:r>
            <a:r>
              <a:rPr lang="vi-VN" sz="2400"/>
              <a:t>): </a:t>
            </a:r>
            <a:r>
              <a:rPr lang="vi-VN" sz="2400" dirty="0"/>
              <a:t>doanh thu hơn </a:t>
            </a:r>
            <a:r>
              <a:rPr lang="vi-VN" sz="2400" b="1" dirty="0">
                <a:solidFill>
                  <a:srgbClr val="FF0000"/>
                </a:solidFill>
              </a:rPr>
              <a:t>1,65</a:t>
            </a:r>
            <a:r>
              <a:rPr lang="vi-VN" sz="2400" dirty="0">
                <a:solidFill>
                  <a:srgbClr val="FF0000"/>
                </a:solidFill>
              </a:rPr>
              <a:t> tỷ </a:t>
            </a:r>
            <a:r>
              <a:rPr lang="vi-VN" sz="2400" dirty="0"/>
              <a:t>USD. Tốc độ tăng do dùng trong QLDA.</a:t>
            </a:r>
          </a:p>
          <a:p>
            <a:pPr algn="just"/>
            <a:endParaRPr lang="vi-VN" sz="800" dirty="0"/>
          </a:p>
          <a:p>
            <a:pPr algn="just"/>
            <a:r>
              <a:rPr lang="vi-VN" sz="2400" dirty="0"/>
              <a:t>Forrester </a:t>
            </a:r>
            <a:r>
              <a:rPr lang="vi-VN" sz="2400"/>
              <a:t>(201</a:t>
            </a:r>
            <a:r>
              <a:rPr lang="en-US" sz="2400"/>
              <a:t>7</a:t>
            </a:r>
            <a:r>
              <a:rPr lang="vi-VN" sz="2400"/>
              <a:t>): </a:t>
            </a:r>
            <a:r>
              <a:rPr lang="vi-VN" sz="2400" dirty="0"/>
              <a:t>ROI tăng </a:t>
            </a:r>
            <a:r>
              <a:rPr lang="vi-VN" sz="2400" b="1" dirty="0">
                <a:solidFill>
                  <a:srgbClr val="FF0000"/>
                </a:solidFill>
              </a:rPr>
              <a:t>250</a:t>
            </a:r>
            <a:r>
              <a:rPr lang="vi-VN" sz="2400" dirty="0">
                <a:solidFill>
                  <a:srgbClr val="FF0000"/>
                </a:solidFill>
              </a:rPr>
              <a:t>% </a:t>
            </a:r>
            <a:r>
              <a:rPr lang="vi-VN" sz="2400" dirty="0"/>
              <a:t>nhờ các công cụ của phần mềm.</a:t>
            </a:r>
          </a:p>
          <a:p>
            <a:pPr lvl="1" algn="just">
              <a:buFont typeface="Arial" panose="020B0604020202020204" pitchFamily="34" charset="0"/>
              <a:buChar char="•"/>
            </a:pPr>
            <a:r>
              <a:rPr lang="vi-VN" dirty="0"/>
              <a:t>Pfizer và Ford dùng phần mềm </a:t>
            </a:r>
            <a:r>
              <a:rPr lang="vi-VN" dirty="0">
                <a:effectLst>
                  <a:outerShdw blurRad="38100" dist="38100" dir="2700000" algn="tl">
                    <a:srgbClr val="000000">
                      <a:alpha val="43137"/>
                    </a:srgbClr>
                  </a:outerShdw>
                </a:effectLst>
              </a:rPr>
              <a:t>PPM</a:t>
            </a:r>
            <a:r>
              <a:rPr lang="vi-VN" dirty="0"/>
              <a:t> để cải thiện tính minh bạch của nhiều dự án...</a:t>
            </a:r>
            <a:endParaRPr lang="en-US" dirty="0"/>
          </a:p>
        </p:txBody>
      </p:sp>
      <p:sp>
        <p:nvSpPr>
          <p:cNvPr id="3" name="Title 2"/>
          <p:cNvSpPr>
            <a:spLocks noGrp="1"/>
          </p:cNvSpPr>
          <p:nvPr>
            <p:ph type="title"/>
          </p:nvPr>
        </p:nvSpPr>
        <p:spPr>
          <a:xfrm>
            <a:off x="533400" y="152400"/>
            <a:ext cx="8001000" cy="1143000"/>
          </a:xfrm>
        </p:spPr>
        <p:txBody>
          <a:bodyPr>
            <a:noAutofit/>
          </a:bodyPr>
          <a:lstStyle/>
          <a:p>
            <a:pPr algn="ctr"/>
            <a:r>
              <a:rPr lang="en-US" sz="3600" dirty="0" err="1"/>
              <a:t>Các</a:t>
            </a:r>
            <a:r>
              <a:rPr lang="en-US" sz="3600" dirty="0"/>
              <a:t> nghiên </a:t>
            </a:r>
            <a:r>
              <a:rPr lang="en-US" sz="3600" dirty="0" err="1"/>
              <a:t>cứu</a:t>
            </a:r>
            <a:r>
              <a:rPr lang="en-US" sz="3600" dirty="0"/>
              <a:t> </a:t>
            </a:r>
            <a:r>
              <a:rPr lang="en-US" sz="3600" dirty="0" err="1"/>
              <a:t>về</a:t>
            </a:r>
            <a:r>
              <a:rPr lang="en-US" sz="3600" dirty="0"/>
              <a:t> PPM</a:t>
            </a: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52</a:t>
            </a:fld>
            <a:endParaRPr lang="en-US" dirty="0"/>
          </a:p>
        </p:txBody>
      </p:sp>
      <p:pic>
        <p:nvPicPr>
          <p:cNvPr id="7" name="Picture 6"/>
          <p:cNvPicPr>
            <a:picLocks noChangeAspect="1"/>
          </p:cNvPicPr>
          <p:nvPr/>
        </p:nvPicPr>
        <p:blipFill>
          <a:blip r:embed="rId3"/>
          <a:stretch>
            <a:fillRect/>
          </a:stretch>
        </p:blipFill>
        <p:spPr>
          <a:xfrm>
            <a:off x="5105400" y="4572000"/>
            <a:ext cx="3826603" cy="2057400"/>
          </a:xfrm>
          <a:prstGeom prst="rect">
            <a:avLst/>
          </a:prstGeom>
        </p:spPr>
      </p:pic>
    </p:spTree>
    <p:extLst>
      <p:ext uri="{BB962C8B-B14F-4D97-AF65-F5344CB8AC3E}">
        <p14:creationId xmlns:p14="http://schemas.microsoft.com/office/powerpoint/2010/main" val="415392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5010" y="1905000"/>
            <a:ext cx="9108989" cy="1829761"/>
          </a:xfrm>
        </p:spPr>
        <p:txBody>
          <a:bodyPr>
            <a:noAutofit/>
          </a:bodyPr>
          <a:lstStyle/>
          <a:p>
            <a:pPr algn="ctr" fontAlgn="auto">
              <a:spcAft>
                <a:spcPts val="0"/>
              </a:spcAft>
              <a:defRPr/>
            </a:pPr>
            <a:br>
              <a:rPr dirty="0">
                <a:solidFill>
                  <a:srgbClr val="0070C0"/>
                </a:solidFill>
                <a:effectLst/>
              </a:rPr>
            </a:br>
            <a:r>
              <a:rPr lang="vi-VN" sz="4400" dirty="0">
                <a:solidFill>
                  <a:srgbClr val="0070C0"/>
                </a:solidFill>
                <a:effectLst/>
              </a:rPr>
              <a:t>TÓM TẮT &amp; TỪ KHÓA</a:t>
            </a:r>
            <a:br>
              <a:rPr lang="vi-VN" sz="4400" dirty="0">
                <a:solidFill>
                  <a:srgbClr val="0070C0"/>
                </a:solidFill>
                <a:effectLst/>
              </a:rPr>
            </a:br>
            <a:endParaRPr lang="vi-VN" sz="4400" dirty="0">
              <a:solidFill>
                <a:srgbClr val="0070C0"/>
              </a:solidFill>
              <a:effectLst/>
            </a:endParaRPr>
          </a:p>
        </p:txBody>
      </p:sp>
      <p:sp>
        <p:nvSpPr>
          <p:cNvPr id="10" name="TextBox 9"/>
          <p:cNvSpPr txBox="1">
            <a:spLocks noChangeArrowheads="1"/>
          </p:cNvSpPr>
          <p:nvPr/>
        </p:nvSpPr>
        <p:spPr>
          <a:xfrm>
            <a:off x="723900" y="317956"/>
            <a:ext cx="7848600" cy="663575"/>
          </a:xfrm>
          <a:prstGeom prst="rect">
            <a:avLst/>
          </a:prstGeom>
        </p:spPr>
        <p:txBody>
          <a:bodyPr vert="horz" anchor="b">
            <a:noAutofit/>
            <a:scene3d>
              <a:camera prst="orthographicFront"/>
              <a:lightRig rig="soft" dir="t"/>
            </a:scene3d>
            <a:sp3d prstMaterial="softEdge">
              <a:bevelT w="25400" h="25400"/>
            </a:sp3d>
          </a:bodyPr>
          <a:ls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lgn="ctr" fontAlgn="auto">
              <a:spcAft>
                <a:spcPts val="0"/>
              </a:spcAft>
              <a:defRPr/>
            </a:pPr>
            <a:endParaRPr lang="vi-VN" sz="3000" b="1" u="sng" dirty="0">
              <a:effectLst>
                <a:outerShdw blurRad="38100" dist="38100" dir="2700000" algn="tl">
                  <a:srgbClr val="FFFFFF"/>
                </a:outerShdw>
              </a:effectLst>
              <a:latin typeface="+mj-lt"/>
            </a:endParaRPr>
          </a:p>
        </p:txBody>
      </p:sp>
      <p:sp>
        <p:nvSpPr>
          <p:cNvPr id="4"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6" name="Picture 5"/>
          <p:cNvPicPr>
            <a:picLocks noChangeAspect="1"/>
          </p:cNvPicPr>
          <p:nvPr/>
        </p:nvPicPr>
        <p:blipFill>
          <a:blip r:embed="rId2"/>
          <a:stretch>
            <a:fillRect/>
          </a:stretch>
        </p:blipFill>
        <p:spPr>
          <a:xfrm>
            <a:off x="6477000" y="4049694"/>
            <a:ext cx="1924050" cy="2274906"/>
          </a:xfrm>
          <a:prstGeom prst="rect">
            <a:avLst/>
          </a:prstGeom>
        </p:spPr>
      </p:pic>
    </p:spTree>
    <p:extLst>
      <p:ext uri="{BB962C8B-B14F-4D97-AF65-F5344CB8AC3E}">
        <p14:creationId xmlns:p14="http://schemas.microsoft.com/office/powerpoint/2010/main" val="3118128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pPr algn="just"/>
            <a:r>
              <a:rPr lang="vi-VN" dirty="0">
                <a:solidFill>
                  <a:srgbClr val="002060"/>
                </a:solidFill>
              </a:rPr>
              <a:t>Quản lý chi phí là quá trình còn yếu trong các dự án HTTT, giám đốc cần phải cải thiện khả năng để chi phí dự án trong ngân sách được duyệt.</a:t>
            </a:r>
          </a:p>
          <a:p>
            <a:pPr algn="just"/>
            <a:endParaRPr lang="vi-VN" sz="1200" dirty="0">
              <a:solidFill>
                <a:srgbClr val="002060"/>
              </a:solidFill>
            </a:endParaRPr>
          </a:p>
          <a:p>
            <a:pPr algn="just"/>
            <a:r>
              <a:rPr lang="vi-VN" dirty="0">
                <a:solidFill>
                  <a:srgbClr val="002060"/>
                </a:solidFill>
              </a:rPr>
              <a:t>Quy trình chính của quản lý chi phí...</a:t>
            </a:r>
            <a:endParaRPr lang="en-US" dirty="0">
              <a:solidFill>
                <a:srgbClr val="002060"/>
              </a:solidFill>
            </a:endParaRPr>
          </a:p>
        </p:txBody>
      </p:sp>
      <p:sp>
        <p:nvSpPr>
          <p:cNvPr id="57346" name="Rectangle 2"/>
          <p:cNvSpPr>
            <a:spLocks noGrp="1" noChangeArrowheads="1"/>
          </p:cNvSpPr>
          <p:nvPr>
            <p:ph type="title"/>
          </p:nvPr>
        </p:nvSpPr>
        <p:spPr>
          <a:xfrm>
            <a:off x="457200" y="228600"/>
            <a:ext cx="8229600" cy="1143000"/>
          </a:xfrm>
        </p:spPr>
        <p:txBody>
          <a:bodyPr>
            <a:normAutofit/>
          </a:bodyPr>
          <a:lstStyle/>
          <a:p>
            <a:pPr algn="ctr"/>
            <a:r>
              <a:rPr lang="en-US" sz="4400" dirty="0" err="1">
                <a:solidFill>
                  <a:srgbClr val="0070C0"/>
                </a:solidFill>
              </a:rPr>
              <a:t>Tóm</a:t>
            </a:r>
            <a:r>
              <a:rPr lang="en-US" sz="4400" dirty="0">
                <a:solidFill>
                  <a:srgbClr val="0070C0"/>
                </a:solidFill>
              </a:rPr>
              <a:t> </a:t>
            </a:r>
            <a:r>
              <a:rPr lang="en-US" sz="4400" dirty="0" err="1">
                <a:solidFill>
                  <a:srgbClr val="0070C0"/>
                </a:solidFill>
              </a:rPr>
              <a:t>tắt</a:t>
            </a:r>
            <a:r>
              <a:rPr lang="en-US" sz="4400" dirty="0">
                <a:solidFill>
                  <a:srgbClr val="0070C0"/>
                </a:solidFill>
              </a:rPr>
              <a:t> </a:t>
            </a:r>
            <a:r>
              <a:rPr lang="en-US" sz="4400" dirty="0" err="1">
                <a:solidFill>
                  <a:srgbClr val="0070C0"/>
                </a:solidFill>
              </a:rPr>
              <a:t>chương</a:t>
            </a:r>
            <a:r>
              <a:rPr lang="en-US" sz="4400" dirty="0">
                <a:solidFill>
                  <a:srgbClr val="0070C0"/>
                </a:solidFill>
              </a:rPr>
              <a:t> 5</a:t>
            </a: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54</a:t>
            </a:fld>
            <a:endParaRPr lang="en-US" dirty="0"/>
          </a:p>
        </p:txBody>
      </p:sp>
      <p:pic>
        <p:nvPicPr>
          <p:cNvPr id="8" name="Picture 7"/>
          <p:cNvPicPr>
            <a:picLocks noChangeAspect="1"/>
          </p:cNvPicPr>
          <p:nvPr/>
        </p:nvPicPr>
        <p:blipFill>
          <a:blip r:embed="rId2"/>
          <a:stretch>
            <a:fillRect/>
          </a:stretch>
        </p:blipFill>
        <p:spPr>
          <a:xfrm>
            <a:off x="2895600" y="3733800"/>
            <a:ext cx="6016550" cy="266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childTnLst>
                          </p:cTn>
                        </p:par>
                        <p:par>
                          <p:cTn id="11" fill="hold">
                            <p:stCondLst>
                              <p:cond delay="0"/>
                            </p:stCondLst>
                            <p:childTnLst>
                              <p:par>
                                <p:cTn id="12" presetID="16" presetClass="entr" presetSubtype="21"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457200" y="1481138"/>
            <a:ext cx="8229600" cy="4005262"/>
          </a:xfrm>
        </p:spPr>
        <p:txBody>
          <a:bodyPr/>
          <a:lstStyle/>
          <a:p>
            <a:pPr lvl="1">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chính</a:t>
            </a:r>
            <a:r>
              <a:rPr lang="en-US" sz="2700" dirty="0"/>
              <a:t>:</a:t>
            </a:r>
          </a:p>
          <a:p>
            <a:pPr lvl="2">
              <a:buClr>
                <a:srgbClr val="0070C0"/>
              </a:buClr>
              <a:buSzPct val="80000"/>
              <a:buFont typeface="Arial" panose="020B0604020202020204" pitchFamily="34" charset="0"/>
              <a:buChar char="•"/>
            </a:pPr>
            <a:r>
              <a:rPr lang="en-US" sz="2400" dirty="0">
                <a:solidFill>
                  <a:srgbClr val="0070C0"/>
                </a:solidFill>
              </a:rPr>
              <a:t>Plan cost management</a:t>
            </a:r>
          </a:p>
          <a:p>
            <a:pPr lvl="2">
              <a:buClr>
                <a:srgbClr val="0070C0"/>
              </a:buClr>
              <a:buSzPct val="80000"/>
              <a:buFont typeface="Arial" panose="020B0604020202020204" pitchFamily="34" charset="0"/>
              <a:buChar char="•"/>
            </a:pPr>
            <a:r>
              <a:rPr lang="en-US" sz="2400" dirty="0">
                <a:solidFill>
                  <a:srgbClr val="0070C0"/>
                </a:solidFill>
              </a:rPr>
              <a:t>Estimate cost</a:t>
            </a:r>
          </a:p>
          <a:p>
            <a:pPr lvl="2">
              <a:buClr>
                <a:srgbClr val="0070C0"/>
              </a:buClr>
              <a:buSzPct val="80000"/>
              <a:buFont typeface="Arial" panose="020B0604020202020204" pitchFamily="34" charset="0"/>
              <a:buChar char="•"/>
            </a:pPr>
            <a:r>
              <a:rPr lang="en-US" sz="2400" dirty="0">
                <a:solidFill>
                  <a:srgbClr val="0070C0"/>
                </a:solidFill>
              </a:rPr>
              <a:t>Determine budget</a:t>
            </a:r>
          </a:p>
          <a:p>
            <a:pPr lvl="2">
              <a:buClr>
                <a:srgbClr val="0070C0"/>
              </a:buClr>
              <a:buSzPct val="80000"/>
              <a:buFont typeface="Arial" panose="020B0604020202020204" pitchFamily="34" charset="0"/>
              <a:buChar char="•"/>
            </a:pPr>
            <a:r>
              <a:rPr lang="en-US" sz="2400" dirty="0">
                <a:solidFill>
                  <a:srgbClr val="0070C0"/>
                </a:solidFill>
              </a:rPr>
              <a:t>Control cost.</a:t>
            </a:r>
          </a:p>
          <a:p>
            <a:pPr lvl="2">
              <a:buSzPct val="80000"/>
              <a:buFont typeface="Wingdings 3" panose="05040102010807070707" pitchFamily="18" charset="2"/>
              <a:buChar char="}"/>
            </a:pPr>
            <a:endParaRPr lang="en-US" sz="1200" dirty="0"/>
          </a:p>
          <a:p>
            <a:pPr lvl="1">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liên</a:t>
            </a:r>
            <a:r>
              <a:rPr lang="en-US" sz="2700" dirty="0"/>
              <a:t> </a:t>
            </a:r>
            <a:r>
              <a:rPr lang="en-US" sz="2700" dirty="0" err="1"/>
              <a:t>quan</a:t>
            </a:r>
            <a:r>
              <a:rPr lang="en-US" sz="2700" dirty="0"/>
              <a:t>:</a:t>
            </a:r>
          </a:p>
          <a:p>
            <a:pPr lvl="2">
              <a:buClr>
                <a:srgbClr val="0070C0"/>
              </a:buClr>
              <a:buSzPct val="80000"/>
              <a:buFont typeface="Arial" panose="020B0604020202020204" pitchFamily="34" charset="0"/>
              <a:buChar char="•"/>
            </a:pPr>
            <a:r>
              <a:rPr lang="en-US" sz="2500" dirty="0">
                <a:solidFill>
                  <a:srgbClr val="0070C0"/>
                </a:solidFill>
              </a:rPr>
              <a:t>Cost baseline</a:t>
            </a:r>
          </a:p>
          <a:p>
            <a:pPr lvl="2">
              <a:buClr>
                <a:srgbClr val="0070C0"/>
              </a:buClr>
              <a:buSzPct val="80000"/>
              <a:buFont typeface="Arial" panose="020B0604020202020204" pitchFamily="34" charset="0"/>
              <a:buChar char="•"/>
            </a:pPr>
            <a:r>
              <a:rPr lang="en-US" sz="2500" dirty="0">
                <a:solidFill>
                  <a:srgbClr val="0070C0"/>
                </a:solidFill>
              </a:rPr>
              <a:t>Reserve</a:t>
            </a:r>
          </a:p>
          <a:p>
            <a:pPr lvl="2">
              <a:buClr>
                <a:srgbClr val="0070C0"/>
              </a:buClr>
              <a:buSzPct val="80000"/>
              <a:buFont typeface="Arial" panose="020B0604020202020204" pitchFamily="34" charset="0"/>
              <a:buChar char="•"/>
            </a:pPr>
            <a:r>
              <a:rPr lang="vi-VN" sz="2400" dirty="0">
                <a:solidFill>
                  <a:srgbClr val="0070C0"/>
                </a:solidFill>
                <a:effectLst>
                  <a:outerShdw blurRad="38100" dist="38100" dir="2700000" algn="tl">
                    <a:srgbClr val="000000">
                      <a:alpha val="43137"/>
                    </a:srgbClr>
                  </a:outerShdw>
                </a:effectLst>
              </a:rPr>
              <a:t>EVM </a:t>
            </a:r>
            <a:r>
              <a:rPr lang="vi-VN" sz="2400" dirty="0">
                <a:solidFill>
                  <a:srgbClr val="0070C0"/>
                </a:solidFill>
              </a:rPr>
              <a:t>(Earned Value Management).</a:t>
            </a:r>
            <a:endParaRPr lang="en-US" sz="2400" dirty="0"/>
          </a:p>
        </p:txBody>
      </p:sp>
      <p:sp>
        <p:nvSpPr>
          <p:cNvPr id="57346" name="Rectangle 2"/>
          <p:cNvSpPr>
            <a:spLocks noGrp="1" noChangeArrowheads="1"/>
          </p:cNvSpPr>
          <p:nvPr>
            <p:ph type="title"/>
          </p:nvPr>
        </p:nvSpPr>
        <p:spPr>
          <a:xfrm>
            <a:off x="685800" y="274638"/>
            <a:ext cx="8229600" cy="1143000"/>
          </a:xfrm>
        </p:spPr>
        <p:txBody>
          <a:bodyPr>
            <a:normAutofit/>
          </a:bodyPr>
          <a:lstStyle/>
          <a:p>
            <a:pPr algn="ctr"/>
            <a:r>
              <a:rPr lang="en-US" sz="4400" dirty="0" err="1">
                <a:solidFill>
                  <a:srgbClr val="0070C0"/>
                </a:solidFill>
              </a:rPr>
              <a:t>Từ</a:t>
            </a:r>
            <a:r>
              <a:rPr lang="en-US" sz="4400" dirty="0">
                <a:solidFill>
                  <a:srgbClr val="0070C0"/>
                </a:solidFill>
              </a:rPr>
              <a:t> </a:t>
            </a:r>
            <a:r>
              <a:rPr lang="en-US" sz="4400" dirty="0" err="1">
                <a:solidFill>
                  <a:srgbClr val="0070C0"/>
                </a:solidFill>
              </a:rPr>
              <a:t>khóa</a:t>
            </a:r>
            <a:endParaRPr lang="en-US" sz="4400" dirty="0">
              <a:solidFill>
                <a:srgbClr val="0070C0"/>
              </a:solidFill>
            </a:endParaRP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55</a:t>
            </a:fld>
            <a:endParaRPr lang="en-US" dirty="0"/>
          </a:p>
        </p:txBody>
      </p:sp>
      <p:pic>
        <p:nvPicPr>
          <p:cNvPr id="7" name="Picture 6"/>
          <p:cNvPicPr>
            <a:picLocks noChangeAspect="1"/>
          </p:cNvPicPr>
          <p:nvPr/>
        </p:nvPicPr>
        <p:blipFill>
          <a:blip r:embed="rId2"/>
          <a:stretch>
            <a:fillRect/>
          </a:stretch>
        </p:blipFill>
        <p:spPr>
          <a:xfrm>
            <a:off x="6553200" y="3352800"/>
            <a:ext cx="1447800" cy="1543259"/>
          </a:xfrm>
          <a:prstGeom prst="rect">
            <a:avLst/>
          </a:prstGeom>
        </p:spPr>
      </p:pic>
    </p:spTree>
    <p:extLst>
      <p:ext uri="{BB962C8B-B14F-4D97-AF65-F5344CB8AC3E}">
        <p14:creationId xmlns:p14="http://schemas.microsoft.com/office/powerpoint/2010/main" val="292824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34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347">
                                            <p:txEl>
                                              <p:pRg st="6" end="6"/>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57347">
                                            <p:txEl>
                                              <p:pRg st="8" end="8"/>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57347">
                                            <p:txEl>
                                              <p:pRg st="7" end="7"/>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57347">
                                            <p:txEl>
                                              <p:pRg st="9" end="9"/>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clipartfreefor.com/cliparts/files2/boy-writing-clip-art-ZZ1.-clipart-boy-writt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2" y="4191000"/>
            <a:ext cx="3276598" cy="2621280"/>
          </a:xfrm>
          <a:prstGeom prst="rect">
            <a:avLst/>
          </a:prstGeom>
          <a:noFill/>
          <a:extLst>
            <a:ext uri="{909E8E84-426E-40DD-AFC4-6F175D3DCCD1}">
              <a14:hiddenFill xmlns:a14="http://schemas.microsoft.com/office/drawing/2010/main">
                <a:solidFill>
                  <a:srgbClr val="FFFFFF"/>
                </a:solidFill>
              </a14:hiddenFill>
            </a:ext>
          </a:extLst>
        </p:spPr>
      </p:pic>
      <p:sp>
        <p:nvSpPr>
          <p:cNvPr id="62467" name="Rectangle 3"/>
          <p:cNvSpPr>
            <a:spLocks noGrp="1" noChangeArrowheads="1"/>
          </p:cNvSpPr>
          <p:nvPr>
            <p:ph idx="1"/>
          </p:nvPr>
        </p:nvSpPr>
        <p:spPr>
          <a:xfrm>
            <a:off x="941387" y="769938"/>
            <a:ext cx="7924800" cy="3048000"/>
          </a:xfrm>
          <a:prstGeom prst="cloudCallout">
            <a:avLst>
              <a:gd name="adj1" fmla="val 18109"/>
              <a:gd name="adj2" fmla="val 74048"/>
            </a:avLst>
          </a:prstGeom>
          <a:solidFill>
            <a:schemeClr val="bg2">
              <a:lumMod val="90000"/>
            </a:schemeClr>
          </a:solidFill>
        </p:spPr>
        <p:txBody>
          <a:bodyPr/>
          <a:lstStyle/>
          <a:p>
            <a:pPr marL="0" indent="0" algn="ctr">
              <a:spcAft>
                <a:spcPts val="1200"/>
              </a:spcAft>
              <a:buSzPct val="100000"/>
              <a:buNone/>
            </a:pPr>
            <a:r>
              <a:rPr lang="en-US" sz="6000" b="1"/>
              <a:t>BUH-LMS: </a:t>
            </a:r>
            <a:br>
              <a:rPr lang="en-US" sz="6000" b="1"/>
            </a:br>
            <a:r>
              <a:rPr lang="en-US" sz="6000" b="1"/>
              <a:t>Bài tập số 3 </a:t>
            </a:r>
            <a:endParaRPr lang="vi-VN" sz="6000" b="1" dirty="0"/>
          </a:p>
        </p:txBody>
      </p:sp>
      <p:sp>
        <p:nvSpPr>
          <p:cNvPr id="6" name="Slide Number Placeholder 5"/>
          <p:cNvSpPr>
            <a:spLocks noGrp="1"/>
          </p:cNvSpPr>
          <p:nvPr>
            <p:ph type="sldNum" sz="quarter" idx="11"/>
          </p:nvPr>
        </p:nvSpPr>
        <p:spPr/>
        <p:txBody>
          <a:bodyPr/>
          <a:lstStyle/>
          <a:p>
            <a:pPr>
              <a:defRPr/>
            </a:pPr>
            <a:fld id="{F9CDE221-7D09-4E72-84A7-688BE7B60DEB}" type="slidenum">
              <a:rPr lang="en-US" smtClean="0"/>
              <a:pPr>
                <a:defRPr/>
              </a:pPr>
              <a:t>56</a:t>
            </a:fld>
            <a:endParaRPr lang="en-US" dirty="0"/>
          </a:p>
        </p:txBody>
      </p:sp>
      <p:sp>
        <p:nvSpPr>
          <p:cNvPr id="10"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53920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81000" y="381000"/>
            <a:ext cx="8382000"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4400" dirty="0" err="1"/>
              <a:t>Bài</a:t>
            </a:r>
            <a:r>
              <a:rPr lang="en-US" sz="4400" dirty="0"/>
              <a:t> </a:t>
            </a:r>
            <a:r>
              <a:rPr lang="en-US" sz="4400" dirty="0" err="1"/>
              <a:t>đọc</a:t>
            </a:r>
            <a:r>
              <a:rPr lang="en-US" sz="4400" dirty="0"/>
              <a:t> </a:t>
            </a:r>
            <a:r>
              <a:rPr lang="en-US" sz="4400" dirty="0" err="1"/>
              <a:t>thêm</a:t>
            </a:r>
            <a:r>
              <a:rPr lang="en-US" sz="4400" dirty="0"/>
              <a:t> </a:t>
            </a:r>
            <a:r>
              <a:rPr lang="en-US" sz="4400" dirty="0" err="1"/>
              <a:t>về</a:t>
            </a:r>
            <a:r>
              <a:rPr lang="en-US" sz="4400" dirty="0"/>
              <a:t> </a:t>
            </a:r>
            <a:r>
              <a:rPr lang="en-US" sz="4400" dirty="0" err="1"/>
              <a:t>nhà</a:t>
            </a:r>
            <a:endParaRPr lang="en-US" sz="4400" dirty="0"/>
          </a:p>
        </p:txBody>
      </p:sp>
      <p:sp>
        <p:nvSpPr>
          <p:cNvPr id="10" name="Rectangle 3"/>
          <p:cNvSpPr>
            <a:spLocks noGrp="1" noChangeArrowheads="1"/>
          </p:cNvSpPr>
          <p:nvPr>
            <p:ph idx="1"/>
          </p:nvPr>
        </p:nvSpPr>
        <p:spPr>
          <a:xfrm>
            <a:off x="381000" y="1981199"/>
            <a:ext cx="8421189" cy="1600201"/>
          </a:xfrm>
          <a:solidFill>
            <a:schemeClr val="bg2">
              <a:lumMod val="90000"/>
            </a:schemeClr>
          </a:solidFill>
        </p:spPr>
        <p:txBody>
          <a:bodyPr/>
          <a:lstStyle/>
          <a:p>
            <a:pPr algn="just">
              <a:spcAft>
                <a:spcPts val="600"/>
              </a:spcAft>
            </a:pPr>
            <a:endParaRPr lang="en-US" sz="1000" dirty="0">
              <a:latin typeface="Arial (body)"/>
            </a:endParaRPr>
          </a:p>
          <a:p>
            <a:pPr algn="just">
              <a:spcAft>
                <a:spcPts val="600"/>
              </a:spcAft>
            </a:pPr>
            <a:r>
              <a:rPr lang="en-US" dirty="0" err="1">
                <a:latin typeface="Arial (body)"/>
              </a:rPr>
              <a:t>Tìm</a:t>
            </a:r>
            <a:r>
              <a:rPr lang="en-US" dirty="0">
                <a:latin typeface="Arial (body)"/>
              </a:rPr>
              <a:t> </a:t>
            </a:r>
            <a:r>
              <a:rPr lang="en-US" dirty="0" err="1">
                <a:latin typeface="Arial (body)"/>
              </a:rPr>
              <a:t>hiểu</a:t>
            </a:r>
            <a:r>
              <a:rPr lang="en-US" dirty="0">
                <a:effectLst>
                  <a:outerShdw blurRad="38100" dist="38100" dir="2700000" algn="tl">
                    <a:srgbClr val="000000">
                      <a:alpha val="43137"/>
                    </a:srgbClr>
                  </a:outerShdw>
                </a:effectLst>
                <a:latin typeface="Arial (body)"/>
              </a:rPr>
              <a:t> COCOMO</a:t>
            </a:r>
            <a:r>
              <a:rPr lang="en-US" dirty="0">
                <a:latin typeface="Arial (body)"/>
              </a:rPr>
              <a:t> (Barry W. Boehm, 1981; 2000).</a:t>
            </a:r>
          </a:p>
          <a:p>
            <a:pPr lvl="1" algn="just">
              <a:spcAft>
                <a:spcPts val="600"/>
              </a:spcAft>
              <a:buFont typeface="Arial" panose="020B0604020202020204" pitchFamily="34" charset="0"/>
              <a:buChar char="•"/>
            </a:pPr>
            <a:r>
              <a:rPr lang="en-US" sz="2400" dirty="0" err="1">
                <a:latin typeface="Arial (body)"/>
              </a:rPr>
              <a:t>Tham</a:t>
            </a:r>
            <a:r>
              <a:rPr lang="en-US" sz="2400" dirty="0">
                <a:latin typeface="Arial (body)"/>
              </a:rPr>
              <a:t> </a:t>
            </a:r>
            <a:r>
              <a:rPr lang="en-US" sz="2400" dirty="0" err="1">
                <a:latin typeface="Arial (body)"/>
              </a:rPr>
              <a:t>khảo</a:t>
            </a:r>
            <a:r>
              <a:rPr lang="en-US" sz="2400" dirty="0">
                <a:latin typeface="Arial (body)"/>
              </a:rPr>
              <a:t>: </a:t>
            </a:r>
            <a:r>
              <a:rPr lang="en-US" sz="2400" dirty="0">
                <a:latin typeface="Arial (body)"/>
                <a:hlinkClick r:id="rId3"/>
              </a:rPr>
              <a:t>https://en.wikipedia.org/wiki/comoco</a:t>
            </a:r>
            <a:endParaRPr lang="en-US" sz="2400" dirty="0">
              <a:latin typeface="Arial (body)"/>
            </a:endParaRPr>
          </a:p>
          <a:p>
            <a:pPr lvl="1" algn="just">
              <a:spcAft>
                <a:spcPts val="600"/>
              </a:spcAft>
            </a:pPr>
            <a:endParaRPr lang="en-US" sz="2400" dirty="0">
              <a:latin typeface="Arial (body)"/>
            </a:endParaRPr>
          </a:p>
          <a:p>
            <a:pPr algn="just"/>
            <a:endParaRPr lang="en-US" dirty="0">
              <a:latin typeface="Arial (body)"/>
            </a:endParaRPr>
          </a:p>
        </p:txBody>
      </p:sp>
      <p:sp>
        <p:nvSpPr>
          <p:cNvPr id="3" name="Slide Number Placeholder 2"/>
          <p:cNvSpPr>
            <a:spLocks noGrp="1"/>
          </p:cNvSpPr>
          <p:nvPr>
            <p:ph type="sldNum" sz="quarter" idx="11"/>
          </p:nvPr>
        </p:nvSpPr>
        <p:spPr/>
        <p:txBody>
          <a:bodyPr/>
          <a:lstStyle/>
          <a:p>
            <a:pPr>
              <a:defRPr/>
            </a:pPr>
            <a:fld id="{AEAD0689-3C8F-4F33-9924-B2EDADDE0827}" type="slidenum">
              <a:rPr lang="en-US" smtClean="0"/>
              <a:pPr>
                <a:defRPr/>
              </a:pPr>
              <a:t>57</a:t>
            </a:fld>
            <a:endParaRPr lang="en-US" dirty="0"/>
          </a:p>
        </p:txBody>
      </p:sp>
      <p:sp>
        <p:nvSpPr>
          <p:cNvPr id="6"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Tree>
    <p:extLst>
      <p:ext uri="{BB962C8B-B14F-4D97-AF65-F5344CB8AC3E}">
        <p14:creationId xmlns:p14="http://schemas.microsoft.com/office/powerpoint/2010/main" val="3301311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1219200"/>
            <a:ext cx="8229600" cy="2133600"/>
          </a:xfrm>
        </p:spPr>
        <p:txBody>
          <a:bodyPr>
            <a:noAutofit/>
          </a:bodyPr>
          <a:lstStyle/>
          <a:p>
            <a:pPr algn="ctr" eaLnBrk="1" fontAlgn="auto" hangingPunct="1">
              <a:spcAft>
                <a:spcPts val="0"/>
              </a:spcAft>
              <a:defRPr/>
            </a:pPr>
            <a:r>
              <a:rPr lang="vi-VN" sz="7200" dirty="0">
                <a:effectLst>
                  <a:outerShdw blurRad="38100" dist="38100" dir="2700000" algn="tl">
                    <a:srgbClr val="FFFFFF"/>
                  </a:outerShdw>
                </a:effectLst>
                <a:latin typeface="Arial Rounded MT Bold" pitchFamily="34" charset="0"/>
              </a:rPr>
              <a:t>Q&amp;A</a:t>
            </a:r>
            <a:endParaRPr sz="7200" dirty="0">
              <a:effectLst>
                <a:outerShdw blurRad="38100" dist="38100" dir="2700000" algn="tl">
                  <a:srgbClr val="FFFFFF"/>
                </a:outerShdw>
              </a:effectLst>
              <a:latin typeface="Arial Rounded MT Bold" pitchFamily="34" charset="0"/>
            </a:endParaRPr>
          </a:p>
        </p:txBody>
      </p:sp>
    </p:spTree>
    <p:extLst>
      <p:ext uri="{BB962C8B-B14F-4D97-AF65-F5344CB8AC3E}">
        <p14:creationId xmlns:p14="http://schemas.microsoft.com/office/powerpoint/2010/main" val="4191605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524000"/>
            <a:ext cx="8610600" cy="1349375"/>
          </a:xfrm>
        </p:spPr>
        <p:txBody>
          <a:bodyPr>
            <a:noAutofit/>
          </a:bodyPr>
          <a:lstStyle/>
          <a:p>
            <a:pPr eaLnBrk="1" fontAlgn="auto" hangingPunct="1">
              <a:spcAft>
                <a:spcPts val="0"/>
              </a:spcAft>
              <a:defRPr/>
            </a:pPr>
            <a:r>
              <a:rPr lang="vi-VN" sz="4400" b="0" dirty="0">
                <a:effectLst/>
              </a:rPr>
              <a:t>Chương kế tiếp...</a:t>
            </a:r>
            <a:br>
              <a:rPr sz="4400" b="0" dirty="0">
                <a:effectLst/>
              </a:rPr>
            </a:br>
            <a:r>
              <a:rPr lang="vi-VN" sz="4400" b="0" dirty="0">
                <a:effectLst/>
              </a:rPr>
              <a:t>QUẢN LÝ CHẤT LƯỢNG DỰ ÁN</a:t>
            </a:r>
            <a:endParaRPr sz="4400" b="0" dirty="0">
              <a:effectLst/>
            </a:endParaRPr>
          </a:p>
        </p:txBody>
      </p:sp>
    </p:spTree>
    <p:extLst>
      <p:ext uri="{BB962C8B-B14F-4D97-AF65-F5344CB8AC3E}">
        <p14:creationId xmlns:p14="http://schemas.microsoft.com/office/powerpoint/2010/main" val="269531215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5032</TotalTime>
  <Words>3152</Words>
  <Application>Microsoft Office PowerPoint</Application>
  <PresentationFormat>On-screen Show (4:3)</PresentationFormat>
  <Paragraphs>415</Paragraphs>
  <Slides>59</Slides>
  <Notes>28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59</vt:i4>
      </vt:variant>
    </vt:vector>
  </HeadingPairs>
  <TitlesOfParts>
    <vt:vector size="73" baseType="lpstr">
      <vt:lpstr>Arial</vt:lpstr>
      <vt:lpstr>Arial (body)</vt:lpstr>
      <vt:lpstr>Arial Rounded MT Bold</vt:lpstr>
      <vt:lpstr>Calibri</vt:lpstr>
      <vt:lpstr>Lucida Sans Unicode</vt:lpstr>
      <vt:lpstr>Times New Roman</vt:lpstr>
      <vt:lpstr>Verdana</vt:lpstr>
      <vt:lpstr>VNI-Helve</vt:lpstr>
      <vt:lpstr>VNI-Times</vt:lpstr>
      <vt:lpstr>Wingdings</vt:lpstr>
      <vt:lpstr>Wingdings 2</vt:lpstr>
      <vt:lpstr>Wingdings 3</vt:lpstr>
      <vt:lpstr>Custom Design</vt:lpstr>
      <vt:lpstr>Theme1</vt:lpstr>
      <vt:lpstr>Chương 5 QUẢN LÝ CHI PHÍ DỰ ÁN</vt:lpstr>
      <vt:lpstr>Mục tiêu chương 5</vt:lpstr>
      <vt:lpstr>Nhắc lại kiến thức</vt:lpstr>
      <vt:lpstr>Khung quản lý dự án</vt:lpstr>
      <vt:lpstr> QUẢN LÝ CHI PHÍ DỰ ÁN</vt:lpstr>
      <vt:lpstr>QUẢN LÝ CHI PHÍ DỰ ÁN</vt:lpstr>
      <vt:lpstr>Tầm quan trọng chi phí dự án</vt:lpstr>
      <vt:lpstr>Tin học hóa y tế ở Anh</vt:lpstr>
      <vt:lpstr>Chi phí - Quản lý chi phí dự án</vt:lpstr>
      <vt:lpstr>Tương tác trong dự án [chi phí]</vt:lpstr>
      <vt:lpstr>Quản lý chi phí dự án [4]</vt:lpstr>
      <vt:lpstr>Quy trình quản lý chi phí</vt:lpstr>
      <vt:lpstr>Tóm tắt quản lý chí phí dự án</vt:lpstr>
      <vt:lpstr>Nguyên tắc quản lý chi phí</vt:lpstr>
      <vt:lpstr>Chi phí của các ứng dụng CNTT</vt:lpstr>
      <vt:lpstr>Chí phí giao dịch ATM</vt:lpstr>
      <vt:lpstr>Công nghệ xanh của Dell</vt:lpstr>
      <vt:lpstr>Các loại chi phí và lợi ích</vt:lpstr>
      <vt:lpstr>Quản lý chi phí dự án [1/4]</vt:lpstr>
      <vt:lpstr>1. Kế hoạch quản lý chi phí</vt:lpstr>
      <vt:lpstr>Quản lý chi phí dự án [2/4]</vt:lpstr>
      <vt:lpstr>2. Ước lượng chi phí</vt:lpstr>
      <vt:lpstr>Các loại ước lượng chi phí</vt:lpstr>
      <vt:lpstr>Thông tin thêm về ước lượng chi phí</vt:lpstr>
      <vt:lpstr>Ví dụ, FTE của các bộ phận</vt:lpstr>
      <vt:lpstr>Công cụ và kỹ thuật ước lượng</vt:lpstr>
      <vt:lpstr>Các vấn đề về chi phí HTTT</vt:lpstr>
      <vt:lpstr>Ví dụ, dự án Surveyor Pro</vt:lpstr>
      <vt:lpstr>Ví dụ, ước lượng chi phí dự án</vt:lpstr>
      <vt:lpstr>Ví dụ, ước lượng dự án Surveyor Pro</vt:lpstr>
      <vt:lpstr>Quản lý chi phí dự án [3/4]</vt:lpstr>
      <vt:lpstr>3. Xác định ngân sách</vt:lpstr>
      <vt:lpstr>Ví dụ, đường cơ sở chi phí</vt:lpstr>
      <vt:lpstr>Các thành phần ngân sách dự án</vt:lpstr>
      <vt:lpstr>Chi phí dự trữ</vt:lpstr>
      <vt:lpstr>Quản lý chi phí dự án [4/4]</vt:lpstr>
      <vt:lpstr>4. Kiểm soát chi phí</vt:lpstr>
      <vt:lpstr>Quản lý giá trị thu được</vt:lpstr>
      <vt:lpstr>Các khái niệm EVM</vt:lpstr>
      <vt:lpstr>Tỷ lệ hiệu quả</vt:lpstr>
      <vt:lpstr>Công thức tính toán chi phí</vt:lpstr>
      <vt:lpstr>PowerPoint Presentation</vt:lpstr>
      <vt:lpstr>Nhận xét</vt:lpstr>
      <vt:lpstr>Các giá trị chi phí theo thời gian</vt:lpstr>
      <vt:lpstr>Ví dụ, tính chi phí dự án SMART D01</vt:lpstr>
      <vt:lpstr>PowerPoint Presentation</vt:lpstr>
      <vt:lpstr>Thống kê về sử dụng EVM</vt:lpstr>
      <vt:lpstr>Quản lý danh mục đầu tư</vt:lpstr>
      <vt:lpstr>Schlumberger</vt:lpstr>
      <vt:lpstr>PowerPoint Presentation</vt:lpstr>
      <vt:lpstr>Phần mềm quản lý chi phí dự án</vt:lpstr>
      <vt:lpstr>Các nghiên cứu về PPM</vt:lpstr>
      <vt:lpstr> TÓM TẮT &amp; TỪ KHÓA </vt:lpstr>
      <vt:lpstr>Tóm tắt chương 5</vt:lpstr>
      <vt:lpstr>Từ khóa</vt:lpstr>
      <vt:lpstr>PowerPoint Presentation</vt:lpstr>
      <vt:lpstr>PowerPoint Presentation</vt:lpstr>
      <vt:lpstr>Q&amp;A</vt:lpstr>
      <vt:lpstr>Chương kế tiếp... QUẢN LÝ CHẤT LƯỢNG DỰ ÁN</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Tung Le</cp:lastModifiedBy>
  <cp:revision>628</cp:revision>
  <dcterms:created xsi:type="dcterms:W3CDTF">2001-07-05T23:10:12Z</dcterms:created>
  <dcterms:modified xsi:type="dcterms:W3CDTF">2024-02-27T13:11:21Z</dcterms:modified>
</cp:coreProperties>
</file>