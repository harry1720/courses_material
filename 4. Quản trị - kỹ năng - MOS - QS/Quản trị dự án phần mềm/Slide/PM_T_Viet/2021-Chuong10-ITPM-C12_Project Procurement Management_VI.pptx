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85" r:id="rId2"/>
  </p:sldMasterIdLst>
  <p:notesMasterIdLst>
    <p:notesMasterId r:id="rId46"/>
  </p:notesMasterIdLst>
  <p:handoutMasterIdLst>
    <p:handoutMasterId r:id="rId47"/>
  </p:handoutMasterIdLst>
  <p:sldIdLst>
    <p:sldId id="257" r:id="rId3"/>
    <p:sldId id="423" r:id="rId4"/>
    <p:sldId id="419" r:id="rId5"/>
    <p:sldId id="450" r:id="rId6"/>
    <p:sldId id="422" r:id="rId7"/>
    <p:sldId id="338" r:id="rId8"/>
    <p:sldId id="339" r:id="rId9"/>
    <p:sldId id="341" r:id="rId10"/>
    <p:sldId id="432" r:id="rId11"/>
    <p:sldId id="433" r:id="rId12"/>
    <p:sldId id="342" r:id="rId13"/>
    <p:sldId id="372" r:id="rId14"/>
    <p:sldId id="434" r:id="rId15"/>
    <p:sldId id="344" r:id="rId16"/>
    <p:sldId id="349" r:id="rId17"/>
    <p:sldId id="350" r:id="rId18"/>
    <p:sldId id="373" r:id="rId19"/>
    <p:sldId id="449" r:id="rId20"/>
    <p:sldId id="351" r:id="rId21"/>
    <p:sldId id="352" r:id="rId22"/>
    <p:sldId id="346" r:id="rId23"/>
    <p:sldId id="347" r:id="rId24"/>
    <p:sldId id="353" r:id="rId25"/>
    <p:sldId id="354" r:id="rId26"/>
    <p:sldId id="447" r:id="rId27"/>
    <p:sldId id="356" r:id="rId28"/>
    <p:sldId id="357" r:id="rId29"/>
    <p:sldId id="435" r:id="rId30"/>
    <p:sldId id="377" r:id="rId31"/>
    <p:sldId id="361" r:id="rId32"/>
    <p:sldId id="362" r:id="rId33"/>
    <p:sldId id="436" r:id="rId34"/>
    <p:sldId id="364" r:id="rId35"/>
    <p:sldId id="365" r:id="rId36"/>
    <p:sldId id="437" r:id="rId37"/>
    <p:sldId id="367" r:id="rId38"/>
    <p:sldId id="369" r:id="rId39"/>
    <p:sldId id="424" r:id="rId40"/>
    <p:sldId id="426" r:id="rId41"/>
    <p:sldId id="427" r:id="rId42"/>
    <p:sldId id="428" r:id="rId43"/>
    <p:sldId id="429" r:id="rId44"/>
    <p:sldId id="412" r:id="rId4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6" autoAdjust="0"/>
    <p:restoredTop sz="92284" autoAdjust="0"/>
  </p:normalViewPr>
  <p:slideViewPr>
    <p:cSldViewPr>
      <p:cViewPr varScale="1">
        <p:scale>
          <a:sx n="69" d="100"/>
          <a:sy n="69" d="100"/>
        </p:scale>
        <p:origin x="178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930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83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 Nguyen" userId="29920a29033dd298" providerId="LiveId" clId="{AF40D3E2-DE66-4595-8B6D-230299661B7D}"/>
    <pc:docChg chg="modSld">
      <pc:chgData name="Vi Nguyen" userId="29920a29033dd298" providerId="LiveId" clId="{AF40D3E2-DE66-4595-8B6D-230299661B7D}" dt="2023-01-29T10:37:30.214" v="36" actId="1036"/>
      <pc:docMkLst>
        <pc:docMk/>
      </pc:docMkLst>
      <pc:sldChg chg="modSp mod">
        <pc:chgData name="Vi Nguyen" userId="29920a29033dd298" providerId="LiveId" clId="{AF40D3E2-DE66-4595-8B6D-230299661B7D}" dt="2023-01-29T10:37:30.214" v="36" actId="1036"/>
        <pc:sldMkLst>
          <pc:docMk/>
          <pc:sldMk cId="0" sldId="257"/>
        </pc:sldMkLst>
        <pc:spChg chg="mod">
          <ac:chgData name="Vi Nguyen" userId="29920a29033dd298" providerId="LiveId" clId="{AF40D3E2-DE66-4595-8B6D-230299661B7D}" dt="2023-01-29T10:37:30.214" v="36" actId="1036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25F6DE3-67C9-49C3-ADD0-D55F8518C1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83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A9DD711-E595-47B7-9D7A-2CA423E4AA9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796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3AF232-1BEB-4A86-ACCA-EDD6AB8398E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606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45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584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3AF232-1BEB-4A86-ACCA-EDD6AB8398E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593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85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80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549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800" dirty="0" err="1"/>
              <a:t>Tiêu</a:t>
            </a:r>
            <a:r>
              <a:rPr lang="en-US" sz="2800" dirty="0"/>
              <a:t> chí </a:t>
            </a:r>
            <a:r>
              <a:rPr lang="en-US" sz="2800" dirty="0" err="1"/>
              <a:t>lựa</a:t>
            </a:r>
            <a:r>
              <a:rPr lang="en-US" sz="2800" dirty="0"/>
              <a:t> </a:t>
            </a:r>
            <a:r>
              <a:rPr lang="en-US" sz="2800" dirty="0" err="1"/>
              <a:t>chọn</a:t>
            </a:r>
            <a:r>
              <a:rPr lang="en-US" sz="2800" dirty="0"/>
              <a:t>…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chuẩn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tiêu</a:t>
            </a:r>
            <a:r>
              <a:rPr lang="en-US" sz="2800" dirty="0"/>
              <a:t> </a:t>
            </a:r>
            <a:r>
              <a:rPr lang="en-US" sz="2800" dirty="0" err="1"/>
              <a:t>chuẩn</a:t>
            </a:r>
            <a:r>
              <a:rPr lang="en-US" sz="2800" dirty="0"/>
              <a:t> </a:t>
            </a:r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, </a:t>
            </a:r>
            <a:r>
              <a:rPr lang="en-US" sz="2800" dirty="0" err="1"/>
              <a:t>trước</a:t>
            </a:r>
            <a:r>
              <a:rPr lang="en-US" sz="2800" dirty="0"/>
              <a:t> </a:t>
            </a:r>
            <a:r>
              <a:rPr lang="en-US" sz="2800" dirty="0" err="1"/>
              <a:t>khi</a:t>
            </a:r>
            <a:r>
              <a:rPr lang="en-US" sz="2800" dirty="0"/>
              <a:t> </a:t>
            </a:r>
            <a:r>
              <a:rPr lang="en-US" sz="2800" dirty="0" err="1"/>
              <a:t>đưa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RFP</a:t>
            </a:r>
            <a:r>
              <a:rPr lang="en-US" sz="2800" dirty="0"/>
              <a:t> hay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RFQ</a:t>
            </a:r>
            <a:r>
              <a:rPr lang="en-US" sz="2800" dirty="0"/>
              <a:t>… </a:t>
            </a:r>
          </a:p>
          <a:p>
            <a:pPr algn="just">
              <a:spcBef>
                <a:spcPts val="1800"/>
              </a:spcBef>
              <a:spcAft>
                <a:spcPts val="600"/>
              </a:spcAft>
            </a:pP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những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vẻ</a:t>
            </a:r>
            <a:r>
              <a:rPr lang="en-US" sz="2800" dirty="0"/>
              <a:t> </a:t>
            </a:r>
            <a:r>
              <a:rPr lang="en-US" sz="2800" dirty="0" err="1"/>
              <a:t>tốt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giấy</a:t>
            </a:r>
            <a:r>
              <a:rPr lang="en-US" sz="2800" dirty="0"/>
              <a:t> </a:t>
            </a:r>
            <a:r>
              <a:rPr lang="en-US" sz="2800" dirty="0" err="1"/>
              <a:t>tờ</a:t>
            </a:r>
            <a:r>
              <a:rPr lang="en-US" sz="2800" dirty="0"/>
              <a:t>, </a:t>
            </a:r>
            <a:r>
              <a:rPr lang="en-US" sz="2800" dirty="0" err="1"/>
              <a:t>cần</a:t>
            </a:r>
            <a:r>
              <a:rPr lang="en-US" sz="2800" dirty="0"/>
              <a:t> </a:t>
            </a:r>
            <a:r>
              <a:rPr lang="en-US" sz="2800" dirty="0" err="1"/>
              <a:t>phải</a:t>
            </a:r>
            <a:r>
              <a:rPr lang="en-US" sz="2800" dirty="0"/>
              <a:t> </a:t>
            </a:r>
            <a:r>
              <a:rPr lang="en-US" sz="2800" dirty="0" err="1"/>
              <a:t>chắc</a:t>
            </a:r>
            <a:r>
              <a:rPr lang="en-US" sz="2800" dirty="0"/>
              <a:t> </a:t>
            </a:r>
            <a:r>
              <a:rPr lang="en-US" sz="2800" dirty="0" err="1"/>
              <a:t>chắn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yếu</a:t>
            </a:r>
            <a:r>
              <a:rPr lang="en-US" sz="2800" dirty="0"/>
              <a:t> </a:t>
            </a:r>
            <a:r>
              <a:rPr lang="en-US" sz="2800" dirty="0" err="1"/>
              <a:t>tố</a:t>
            </a:r>
            <a:r>
              <a:rPr lang="en-US" sz="2800" dirty="0"/>
              <a:t> </a:t>
            </a:r>
            <a:r>
              <a:rPr lang="en-US" sz="2800" dirty="0" err="1"/>
              <a:t>đánh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V.d</a:t>
            </a:r>
            <a:r>
              <a:rPr lang="en-US" sz="2400" dirty="0"/>
              <a:t>.,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khứ</a:t>
            </a:r>
            <a:r>
              <a:rPr lang="en-US" sz="2400" dirty="0"/>
              <a:t>,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cận</a:t>
            </a:r>
            <a:r>
              <a:rPr lang="en-US" sz="2400" dirty="0"/>
              <a:t> quản lý...</a:t>
            </a:r>
          </a:p>
          <a:p>
            <a:pPr algn="just">
              <a:spcBef>
                <a:spcPts val="1800"/>
              </a:spcBef>
            </a:pPr>
            <a:r>
              <a:rPr lang="en-US" sz="2800" dirty="0" err="1"/>
              <a:t>Yêu</a:t>
            </a:r>
            <a:r>
              <a:rPr lang="en-US" sz="2800" dirty="0"/>
              <a:t> </a:t>
            </a:r>
            <a:r>
              <a:rPr lang="en-US" sz="2800" dirty="0" err="1"/>
              <a:t>cầu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kỹ</a:t>
            </a:r>
            <a:r>
              <a:rPr lang="en-US" sz="2800" dirty="0"/>
              <a:t> </a:t>
            </a:r>
            <a:r>
              <a:rPr lang="en-US" sz="2800" dirty="0" err="1"/>
              <a:t>thuật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phần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. 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887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983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Chọ</a:t>
            </a:r>
            <a:r>
              <a:rPr lang="en-US" baseline="0" dirty="0" err="1"/>
              <a:t>n</a:t>
            </a:r>
            <a:r>
              <a:rPr lang="en-US" baseline="0" dirty="0"/>
              <a:t> </a:t>
            </a:r>
            <a:r>
              <a:rPr lang="en-US" baseline="0" dirty="0" err="1"/>
              <a:t>người</a:t>
            </a:r>
            <a:r>
              <a:rPr lang="en-US" baseline="0" dirty="0"/>
              <a:t> </a:t>
            </a:r>
            <a:r>
              <a:rPr lang="en-US" baseline="0" dirty="0" err="1"/>
              <a:t>yêu</a:t>
            </a:r>
            <a:r>
              <a:rPr lang="en-US" baseline="0" dirty="0"/>
              <a:t>…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2205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BAFO: Best And Final Offer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224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 Change Control Board (CCB) </a:t>
            </a:r>
            <a:r>
              <a:rPr lang="en-US"/>
              <a:t>– 48 hours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9DD711-E595-47B7-9D7A-2CA423E4AA9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232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531828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47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11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26D95A-A59E-4C48-A34C-6ABDE94D992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721D3-B290-4A6A-BDD4-9944839210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08ACB-F819-4E08-A2D0-427EE78D1A8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7E656-BF0C-4052-AF6E-8E71A12D19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8815B8-CA05-4B23-A01F-8E2DED4B2F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519E6-D7B4-449C-AFC1-83FE0A5098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E6A70-EEAD-44FC-9F58-3A937D07CD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EAB5A-F3CB-47A0-924A-FAFF0C0A14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AF496-92D2-494A-87D8-287E07A2D7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5C395-FFC9-45A2-9374-08FC0AC861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9FC0E2-F6FD-4672-B502-7CBE027C86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5B3C7E4B-22CB-43A2-88DF-0974E796F69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2590800" cy="365125"/>
          </a:xfrm>
        </p:spPr>
        <p:txBody>
          <a:bodyPr/>
          <a:lstStyle>
            <a:lvl1pPr algn="l"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66530DB-E803-4E4A-BCDA-70CF3270BB0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627B55C-FD09-4A7F-9920-0CDE82FEB43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D9FC598-3BC1-4AFB-82F1-FDEB52578CC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0D41AC9-74EA-452B-B904-D02AFF1CE51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6E5E3-B982-49F8-9AEE-306FFDC9E42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5D9EEBD-1F34-4EE2-BD3E-1779E83B056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14B7BE92-00CB-4B33-AD14-D64D9A62E8F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CB4BD-B248-46C9-A000-E0E6B06BAEA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7AE9A-AFAC-4FD4-A839-B9E85FCF04C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62E2B921-C565-4C54-B074-0A1592EC339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  <p:sldLayoutId id="2147483865" r:id="rId3"/>
    <p:sldLayoutId id="2147483866" r:id="rId4"/>
    <p:sldLayoutId id="2147483867" r:id="rId5"/>
    <p:sldLayoutId id="2147483868" r:id="rId6"/>
    <p:sldLayoutId id="2147483869" r:id="rId7"/>
    <p:sldLayoutId id="2147483870" r:id="rId8"/>
    <p:sldLayoutId id="2147483871" r:id="rId9"/>
    <p:sldLayoutId id="2147483872" r:id="rId10"/>
    <p:sldLayoutId id="2147483873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2E2B921-C565-4C54-B074-0A1592EC339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Chuong%2000/2021-Chuong00-ITPM_VI-ITS344-211_D01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../47Ps-PMP.pptx" TargetMode="External"/><Relationship Id="rId2" Type="http://schemas.openxmlformats.org/officeDocument/2006/relationships/hyperlink" Target="../../Z-10KA-5P(47).pptx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981200"/>
            <a:ext cx="9144000" cy="1349375"/>
          </a:xfrm>
        </p:spPr>
        <p:txBody>
          <a:bodyPr>
            <a:noAutofit/>
          </a:bodyPr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vi-VN" sz="3600" dirty="0">
                <a:solidFill>
                  <a:srgbClr val="0070C0"/>
                </a:solidFill>
                <a:effectLst/>
              </a:rPr>
              <a:t>Chương 10</a:t>
            </a:r>
            <a:br>
              <a:rPr sz="4000" dirty="0">
                <a:solidFill>
                  <a:srgbClr val="0070C0"/>
                </a:solidFill>
                <a:effectLst/>
              </a:rPr>
            </a:br>
            <a:r>
              <a:rPr lang="vi-VN" sz="4400" kern="800" dirty="0">
                <a:solidFill>
                  <a:srgbClr val="0070C0"/>
                </a:solidFill>
                <a:effectLst/>
              </a:rPr>
              <a:t>QUẢN LÝ </a:t>
            </a:r>
            <a:r>
              <a:rPr lang="vi-VN" sz="4400" kern="800">
                <a:solidFill>
                  <a:srgbClr val="0070C0"/>
                </a:solidFill>
                <a:effectLst/>
              </a:rPr>
              <a:t>MUA HÀNG</a:t>
            </a:r>
            <a:r>
              <a:rPr lang="en-US" sz="4400" kern="800">
                <a:solidFill>
                  <a:srgbClr val="0070C0"/>
                </a:solidFill>
                <a:effectLst/>
              </a:rPr>
              <a:t> DỰ ÁN</a:t>
            </a:r>
            <a:r>
              <a:rPr lang="vi-VN" sz="4400" kern="800">
                <a:solidFill>
                  <a:srgbClr val="0070C0"/>
                </a:solidFill>
                <a:effectLst/>
              </a:rPr>
              <a:t> </a:t>
            </a:r>
            <a:endParaRPr sz="4000" kern="800" dirty="0">
              <a:solidFill>
                <a:srgbClr val="0070C0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327" y="35052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2400" spc="60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 Procurement Management</a:t>
            </a:r>
            <a:endParaRPr lang="en-US" sz="2400" spc="600" dirty="0">
              <a:solidFill>
                <a:schemeClr val="tx2"/>
              </a:solidFill>
              <a:latin typeface="Arial Rounded MT Bold" pitchFamily="34" charset="0"/>
              <a:ea typeface="+mj-ea"/>
              <a:cs typeface="+mj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CD5A8D5-8FEE-4A02-A015-4EC2D9C01566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  <a:hlinkClick r:id="rId3" action="ppaction://hlinkpres?slideindex=1&amp;slidetitle="/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  <a:hlinkClick r:id="rId3" action="ppaction://hlinkpres?slideindex=1&amp;slidetitle="/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  <a:hlinkClick r:id="rId3" action="ppaction://hlinkpres?slideindex=1&amp;slidetitle="/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4E1C4C-3795-45D5-B6A1-94223B51F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327" y="4570557"/>
            <a:ext cx="1617345" cy="19604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-175109" y="1891058"/>
            <a:ext cx="9067800" cy="4572000"/>
          </a:xfrm>
        </p:spPr>
        <p:txBody>
          <a:bodyPr/>
          <a:lstStyle/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500">
                <a:solidFill>
                  <a:srgbClr val="002060"/>
                </a:solidFill>
              </a:rPr>
              <a:t>Hiểu </a:t>
            </a:r>
            <a:r>
              <a:rPr lang="vi-VN" sz="2500" dirty="0">
                <a:solidFill>
                  <a:srgbClr val="002060"/>
                </a:solidFill>
              </a:rPr>
              <a:t>được hợp đồng mua hàng, thuê gia công CNTT.</a:t>
            </a:r>
            <a:endParaRPr lang="en-US" sz="2500" dirty="0">
              <a:solidFill>
                <a:srgbClr val="00206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500" dirty="0">
                <a:solidFill>
                  <a:srgbClr val="002060"/>
                </a:solidFill>
              </a:rPr>
              <a:t>Giải thích được quy trình quản lý mua hàng dự </a:t>
            </a:r>
            <a:r>
              <a:rPr lang="vi-VN" sz="2500">
                <a:solidFill>
                  <a:srgbClr val="002060"/>
                </a:solidFill>
              </a:rPr>
              <a:t>án.</a:t>
            </a:r>
            <a:endParaRPr lang="en-US" sz="2500">
              <a:solidFill>
                <a:srgbClr val="002060"/>
              </a:solidFill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500">
                <a:solidFill>
                  <a:srgbClr val="002060"/>
                </a:solidFill>
              </a:rPr>
              <a:t>Biết được công cụ và phần mềm hỗ trợ quản lý </a:t>
            </a:r>
            <a:r>
              <a:rPr lang="en-US" sz="2500">
                <a:solidFill>
                  <a:srgbClr val="002060"/>
                </a:solidFill>
              </a:rPr>
              <a:t>mua hàng</a:t>
            </a:r>
            <a:r>
              <a:rPr lang="vi-VN" sz="2500">
                <a:solidFill>
                  <a:srgbClr val="002060"/>
                </a:solidFill>
              </a:rPr>
              <a:t>.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500">
                <a:solidFill>
                  <a:srgbClr val="002060"/>
                </a:solidFill>
              </a:rPr>
              <a:t>Hiểu </a:t>
            </a:r>
            <a:r>
              <a:rPr lang="vi-VN" sz="2500" dirty="0">
                <a:solidFill>
                  <a:srgbClr val="002060"/>
                </a:solidFill>
              </a:rPr>
              <a:t>được các vấn đề liên quan đến quản lý đến mua hàng dự án HTTT.</a:t>
            </a:r>
          </a:p>
          <a:p>
            <a:pPr marL="109537" indent="0" algn="just">
              <a:lnSpc>
                <a:spcPct val="150000"/>
              </a:lnSpc>
              <a:buNone/>
            </a:pPr>
            <a:endParaRPr lang="en-US" sz="2500" dirty="0">
              <a:solidFill>
                <a:srgbClr val="002060"/>
              </a:solidFill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10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04705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Khung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51308" y="6214646"/>
            <a:ext cx="24400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600" dirty="0"/>
              <a:t>Nguồn: </a:t>
            </a:r>
            <a:r>
              <a:rPr lang="vi-VN" sz="1600"/>
              <a:t>Schwalbe (20</a:t>
            </a:r>
            <a:r>
              <a:rPr lang="en-US" sz="1600"/>
              <a:t>19</a:t>
            </a:r>
            <a:r>
              <a:rPr lang="vi-VN" sz="1600"/>
              <a:t>)</a:t>
            </a:r>
            <a:endParaRPr lang="vi-VN" sz="1600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A88418-AB65-4E88-B6C0-1C2209DDCC4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  <p:sp>
        <p:nvSpPr>
          <p:cNvPr id="10" name="Rounded Rectangle 7">
            <a:extLst>
              <a:ext uri="{FF2B5EF4-FFF2-40B4-BE49-F238E27FC236}">
                <a16:creationId xmlns:a16="http://schemas.microsoft.com/office/drawing/2014/main" id="{941A2FF8-6F99-4FDC-9C75-C2957507A3D1}"/>
              </a:ext>
            </a:extLst>
          </p:cNvPr>
          <p:cNvSpPr/>
          <p:nvPr/>
        </p:nvSpPr>
        <p:spPr>
          <a:xfrm>
            <a:off x="3962400" y="4346447"/>
            <a:ext cx="990600" cy="67056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2959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828800"/>
            <a:ext cx="9144000" cy="1349375"/>
          </a:xfrm>
        </p:spPr>
        <p:txBody>
          <a:bodyPr>
            <a:noAutofit/>
          </a:bodyPr>
          <a:lstStyle/>
          <a:p>
            <a:pPr algn="ctr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br>
              <a:rPr sz="4000" dirty="0">
                <a:solidFill>
                  <a:srgbClr val="0070C0"/>
                </a:solidFill>
                <a:effectLst/>
              </a:rPr>
            </a:br>
            <a:r>
              <a:rPr lang="vi-VN" sz="4400" kern="800" dirty="0">
                <a:solidFill>
                  <a:srgbClr val="0070C0"/>
                </a:solidFill>
                <a:effectLst/>
              </a:rPr>
              <a:t>QUẢN LÝ </a:t>
            </a:r>
            <a:r>
              <a:rPr lang="vi-VN" sz="4400" kern="800">
                <a:solidFill>
                  <a:srgbClr val="0070C0"/>
                </a:solidFill>
                <a:effectLst/>
              </a:rPr>
              <a:t>MUA HÀNG</a:t>
            </a:r>
            <a:r>
              <a:rPr lang="en-US" sz="4400" kern="800">
                <a:solidFill>
                  <a:srgbClr val="0070C0"/>
                </a:solidFill>
                <a:effectLst/>
              </a:rPr>
              <a:t> DỰ ÁN</a:t>
            </a:r>
            <a:r>
              <a:rPr lang="vi-VN" sz="4400" kern="800">
                <a:solidFill>
                  <a:srgbClr val="0070C0"/>
                </a:solidFill>
                <a:effectLst/>
              </a:rPr>
              <a:t> </a:t>
            </a:r>
            <a:endParaRPr sz="4000" kern="800" dirty="0">
              <a:solidFill>
                <a:srgbClr val="0070C0"/>
              </a:solidFill>
              <a:effectLst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327" y="3352800"/>
            <a:ext cx="9144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US" sz="2400" spc="600">
                <a:solidFill>
                  <a:schemeClr val="tx2"/>
                </a:solidFill>
                <a:latin typeface="Arial Rounded MT Bold" pitchFamily="34" charset="0"/>
                <a:ea typeface="+mj-ea"/>
                <a:cs typeface="+mj-cs"/>
              </a:rPr>
              <a:t>Project  Procurement Management</a:t>
            </a:r>
            <a:endParaRPr lang="en-US" sz="2400" spc="600" dirty="0">
              <a:solidFill>
                <a:schemeClr val="tx2"/>
              </a:solidFill>
              <a:latin typeface="Arial Rounded MT Bold" pitchFamily="34" charset="0"/>
              <a:ea typeface="+mj-ea"/>
              <a:cs typeface="+mj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4E1C4C-3795-45D5-B6A1-94223B51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67200"/>
            <a:ext cx="1951673" cy="236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07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66687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600" spc="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MUA HÀNG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1219200"/>
            <a:ext cx="6952029" cy="762000"/>
            <a:chOff x="1296" y="1824"/>
            <a:chExt cx="297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76" y="1934"/>
              <a:ext cx="2431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TỔNG QUAN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0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2133600"/>
            <a:ext cx="7848600" cy="762000"/>
            <a:chOff x="1296" y="1824"/>
            <a:chExt cx="3360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76" y="1934"/>
              <a:ext cx="2880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KẾ HOẠCH QUẢN LÝ MUA HÀNG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420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73162" y="3048000"/>
            <a:ext cx="7281407" cy="1000125"/>
            <a:chOff x="1296" y="1824"/>
            <a:chExt cx="3117" cy="567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76" y="1920"/>
              <a:ext cx="2637" cy="47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Arial" charset="0"/>
                </a:rPr>
                <a:t>TIẾN HÀNH </a:t>
              </a: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MUA HÀNG</a:t>
              </a:r>
            </a:p>
            <a:p>
              <a:pPr>
                <a:defRPr/>
              </a:pP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2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3" name="Group 42"/>
          <p:cNvGrpSpPr>
            <a:grpSpLocks/>
          </p:cNvGrpSpPr>
          <p:nvPr/>
        </p:nvGrpSpPr>
        <p:grpSpPr bwMode="auto">
          <a:xfrm>
            <a:off x="1143000" y="3962400"/>
            <a:ext cx="7620134" cy="762000"/>
            <a:chOff x="1296" y="1824"/>
            <a:chExt cx="3262" cy="432"/>
          </a:xfrm>
        </p:grpSpPr>
        <p:sp>
          <p:nvSpPr>
            <p:cNvPr id="24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gray">
            <a:xfrm>
              <a:off x="1776" y="1934"/>
              <a:ext cx="2782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KIỂM SOÁT MUA HÀNG</a:t>
              </a:r>
            </a:p>
          </p:txBody>
        </p:sp>
        <p:sp>
          <p:nvSpPr>
            <p:cNvPr id="27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8" name="Group 52"/>
          <p:cNvGrpSpPr>
            <a:grpSpLocks/>
          </p:cNvGrpSpPr>
          <p:nvPr/>
        </p:nvGrpSpPr>
        <p:grpSpPr bwMode="auto">
          <a:xfrm>
            <a:off x="1143001" y="4876800"/>
            <a:ext cx="7848600" cy="762000"/>
            <a:chOff x="1296" y="1824"/>
            <a:chExt cx="3360" cy="432"/>
          </a:xfrm>
        </p:grpSpPr>
        <p:sp>
          <p:nvSpPr>
            <p:cNvPr id="29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55"/>
            <p:cNvSpPr txBox="1">
              <a:spLocks noChangeArrowheads="1"/>
            </p:cNvSpPr>
            <p:nvPr/>
          </p:nvSpPr>
          <p:spPr bwMode="gray">
            <a:xfrm>
              <a:off x="1776" y="1934"/>
              <a:ext cx="2880" cy="26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KẾT THÚC MUA HÀNG</a:t>
              </a:r>
            </a:p>
          </p:txBody>
        </p:sp>
        <p:sp>
          <p:nvSpPr>
            <p:cNvPr id="32" name="Text Box 5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60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66748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828800"/>
            <a:ext cx="8610600" cy="3962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b="1" dirty="0" err="1"/>
              <a:t>Mua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procurement</a:t>
            </a:r>
            <a:r>
              <a:rPr lang="en-US" dirty="0"/>
              <a:t>):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/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và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.</a:t>
            </a:r>
          </a:p>
          <a:p>
            <a:pPr lvl="1" algn="just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: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...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500" dirty="0" err="1"/>
              <a:t>Giá</a:t>
            </a:r>
            <a:r>
              <a:rPr lang="en-US" sz="2500" dirty="0"/>
              <a:t> </a:t>
            </a:r>
            <a:r>
              <a:rPr lang="en-US" sz="2500" dirty="0" err="1"/>
              <a:t>trị</a:t>
            </a:r>
            <a:r>
              <a:rPr lang="en-US" sz="2500" dirty="0"/>
              <a:t> </a:t>
            </a:r>
            <a:r>
              <a:rPr lang="en-US" sz="2500" dirty="0" err="1"/>
              <a:t>ngành</a:t>
            </a:r>
            <a:r>
              <a:rPr lang="en-US" sz="2500" dirty="0"/>
              <a:t> CNTT </a:t>
            </a:r>
            <a:r>
              <a:rPr lang="en-US" sz="2500" dirty="0" err="1"/>
              <a:t>toàn</a:t>
            </a:r>
            <a:r>
              <a:rPr lang="en-US" sz="2500" dirty="0"/>
              <a:t> </a:t>
            </a:r>
            <a:r>
              <a:rPr lang="en-US" sz="2500" dirty="0" err="1"/>
              <a:t>cầu</a:t>
            </a:r>
            <a:r>
              <a:rPr lang="en-US" sz="2500"/>
              <a:t>: </a:t>
            </a:r>
            <a:r>
              <a:rPr lang="en-US" sz="2500" b="1">
                <a:solidFill>
                  <a:srgbClr val="FF0000"/>
                </a:solidFill>
              </a:rPr>
              <a:t>4,7 </a:t>
            </a:r>
            <a:r>
              <a:rPr lang="en-US" sz="2500" dirty="0" err="1">
                <a:solidFill>
                  <a:srgbClr val="FF0000"/>
                </a:solidFill>
              </a:rPr>
              <a:t>tỷ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/>
              <a:t>USD (Garner</a:t>
            </a:r>
            <a:r>
              <a:rPr lang="en-US" sz="2500"/>
              <a:t>, 2017).</a:t>
            </a:r>
            <a:endParaRPr lang="en-US" sz="2500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tranh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v/v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thuê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ích</a:t>
            </a:r>
            <a:r>
              <a:rPr lang="en-US" dirty="0"/>
              <a:t> </a:t>
            </a:r>
            <a:r>
              <a:rPr lang="en-US" dirty="0" err="1"/>
              <a:t>quốc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Tầm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quan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trọng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của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mua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hàng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1331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EF83E1-3DA8-4C4C-8C87-390A2F6F410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20528"/>
            <a:ext cx="8534400" cy="3429000"/>
          </a:xfrm>
          <a:solidFill>
            <a:schemeClr val="bg2"/>
          </a:solidFill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/>
              <a:t>2018: Walmart</a:t>
            </a:r>
            <a:r>
              <a:rPr lang="en-US" sz="2400" dirty="0"/>
              <a:t>: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, General Motor: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90% </a:t>
            </a:r>
            <a:r>
              <a:rPr lang="en-US" sz="2400" dirty="0" err="1"/>
              <a:t>xuống</a:t>
            </a:r>
            <a:r>
              <a:rPr lang="en-US" sz="2400" dirty="0"/>
              <a:t> 10%...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/>
              <a:t>Tuy</a:t>
            </a:r>
            <a:r>
              <a:rPr lang="en-US" sz="2400" dirty="0"/>
              <a:t> </a:t>
            </a:r>
            <a:r>
              <a:rPr lang="en-US" sz="2400" dirty="0" err="1"/>
              <a:t>nhiên</a:t>
            </a:r>
            <a:r>
              <a:rPr lang="en-US" sz="2400" dirty="0"/>
              <a:t>, </a:t>
            </a:r>
            <a:r>
              <a:rPr lang="en-US" sz="2400" dirty="0" err="1"/>
              <a:t>rất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áp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Gia </a:t>
            </a:r>
            <a:r>
              <a:rPr lang="en-US" sz="2400" dirty="0" err="1"/>
              <a:t>công</a:t>
            </a:r>
            <a:r>
              <a:rPr lang="en-US" sz="2400" dirty="0"/>
              <a:t> CNTT: India, China, Philippines, Latin America…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/>
              <a:t>Thiếu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(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phải</a:t>
            </a:r>
            <a:r>
              <a:rPr lang="en-US" sz="2400" dirty="0"/>
              <a:t> chi </a:t>
            </a:r>
            <a:r>
              <a:rPr lang="en-US" sz="2400" dirty="0" err="1"/>
              <a:t>phí</a:t>
            </a:r>
            <a:r>
              <a:rPr lang="en-US" sz="2400" dirty="0"/>
              <a:t>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gia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CNTT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…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Thuê</a:t>
            </a:r>
            <a:r>
              <a:rPr lang="en-US" sz="3600" dirty="0"/>
              <a:t> </a:t>
            </a:r>
            <a:r>
              <a:rPr lang="en-US" sz="3600" dirty="0" err="1"/>
              <a:t>gia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CNTT</a:t>
            </a:r>
          </a:p>
        </p:txBody>
      </p:sp>
      <p:sp>
        <p:nvSpPr>
          <p:cNvPr id="1434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DE1DE93-2249-4044-8F9E-24E47D957E8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8" name="Picture 4" descr="http://cdn.corporate.walmart.com/resource/assets-bsp3/images/corp/walmart-logo.64968e7648c4bbc87f823a1eff1d6bc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101928"/>
            <a:ext cx="3124200" cy="7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ttps://upload.wikimedia.org/wikipedia/commons/thumb/4/4e/Logo_of_General_Motors.svg/2000px-Logo_of_General_Motors.sv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568528"/>
            <a:ext cx="1382070" cy="137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382000" cy="3657600"/>
          </a:xfrm>
        </p:spPr>
        <p:txBody>
          <a:bodyPr/>
          <a:lstStyle/>
          <a:p>
            <a:pPr algn="just">
              <a:spcBef>
                <a:spcPct val="50000"/>
              </a:spcBef>
              <a:spcAft>
                <a:spcPts val="1200"/>
              </a:spcAft>
            </a:pPr>
            <a:r>
              <a:rPr lang="en-US" b="1" dirty="0" err="1"/>
              <a:t>Hợp</a:t>
            </a:r>
            <a:r>
              <a:rPr lang="en-US" b="1" dirty="0"/>
              <a:t> </a:t>
            </a:r>
            <a:r>
              <a:rPr lang="en-US" b="1" dirty="0" err="1"/>
              <a:t>đồng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contract</a:t>
            </a:r>
            <a:r>
              <a:rPr lang="en-US" dirty="0"/>
              <a:t>):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/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, và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thanh </a:t>
            </a:r>
            <a:r>
              <a:rPr lang="en-US" dirty="0" err="1"/>
              <a:t>toán</a:t>
            </a:r>
            <a:r>
              <a:rPr lang="en-US" dirty="0"/>
              <a:t>. </a:t>
            </a:r>
            <a:endParaRPr lang="en-US" b="1" dirty="0"/>
          </a:p>
          <a:p>
            <a:pPr algn="just">
              <a:spcBef>
                <a:spcPct val="50000"/>
              </a:spcBef>
            </a:pP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và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  <a:endParaRPr lang="vi-VN" dirty="0"/>
          </a:p>
          <a:p>
            <a:pPr lvl="1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vi-VN" sz="2400" dirty="0"/>
              <a:t>Trách nhiệm chuyển giao liên quan ràng buộc pháp lý.</a:t>
            </a:r>
            <a:endParaRPr lang="en-US" sz="2400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305800" cy="715962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Hợp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đồng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163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27C5BB0-5984-464F-87DA-578A2CB0E9E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143000"/>
            <a:ext cx="8737665" cy="4648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685800"/>
          </a:xfrm>
        </p:spPr>
        <p:txBody>
          <a:bodyPr>
            <a:noAutofit/>
          </a:bodyPr>
          <a:lstStyle/>
          <a:p>
            <a:pPr algn="ctr"/>
            <a:r>
              <a:rPr lang="vi-VN" sz="3400" dirty="0">
                <a:solidFill>
                  <a:schemeClr val="bg1">
                    <a:lumMod val="65000"/>
                  </a:schemeClr>
                </a:solidFill>
              </a:rPr>
              <a:t>Tương tác trong dự án [mua hàng]</a:t>
            </a:r>
            <a:endParaRPr lang="en-US" sz="3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438400" y="1627496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5091285" y="6107668"/>
            <a:ext cx="19191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600" dirty="0"/>
              <a:t>Nguồn: PMI</a:t>
            </a:r>
            <a:r>
              <a:rPr lang="vi-V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1600"/>
              <a:t>(201</a:t>
            </a:r>
            <a:r>
              <a:rPr lang="en-US" sz="1600"/>
              <a:t>7</a:t>
            </a:r>
            <a:r>
              <a:rPr lang="vi-VN" sz="1600"/>
              <a:t>)</a:t>
            </a:r>
            <a:endParaRPr lang="vi-VN" sz="1600" dirty="0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8600" y="1600200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ounded Rectangle 10"/>
          <p:cNvSpPr/>
          <p:nvPr/>
        </p:nvSpPr>
        <p:spPr>
          <a:xfrm>
            <a:off x="5791200" y="1600200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ounded Rectangle 11"/>
          <p:cNvSpPr/>
          <p:nvPr/>
        </p:nvSpPr>
        <p:spPr>
          <a:xfrm>
            <a:off x="7239000" y="1600199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578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rgbClr val="0070C0"/>
                </a:solidFill>
              </a:rPr>
              <a:t>Quản lý </a:t>
            </a:r>
            <a:r>
              <a:rPr lang="en-US" sz="4000" dirty="0" err="1">
                <a:solidFill>
                  <a:srgbClr val="0070C0"/>
                </a:solidFill>
              </a:rPr>
              <a:t>mua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hàng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dự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án</a:t>
            </a:r>
            <a:r>
              <a:rPr lang="en-US" sz="4000" dirty="0">
                <a:solidFill>
                  <a:srgbClr val="0070C0"/>
                </a:solidFill>
              </a:rPr>
              <a:t> [4]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600200"/>
            <a:ext cx="89820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82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8610600" cy="4343400"/>
          </a:xfrm>
        </p:spPr>
        <p:txBody>
          <a:bodyPr/>
          <a:lstStyle/>
          <a:p>
            <a:pPr marL="342900" lvl="1" indent="-342900" algn="just">
              <a:spcBef>
                <a:spcPts val="1200"/>
              </a:spcBef>
              <a:spcAft>
                <a:spcPts val="1200"/>
              </a:spcAft>
              <a:buSzPct val="68000"/>
              <a:buFont typeface="Wingdings 3" panose="05040102010807070707" pitchFamily="18" charset="2"/>
              <a:buChar char="}"/>
            </a:pPr>
            <a:r>
              <a:rPr lang="en-US" sz="2700" b="1" dirty="0" err="1"/>
              <a:t>Kế</a:t>
            </a:r>
            <a:r>
              <a:rPr lang="en-US" sz="2700" b="1" dirty="0"/>
              <a:t> </a:t>
            </a:r>
            <a:r>
              <a:rPr lang="en-US" sz="2700" b="1" dirty="0" err="1"/>
              <a:t>hoạch</a:t>
            </a:r>
            <a:r>
              <a:rPr lang="en-US" sz="2700" b="1" dirty="0"/>
              <a:t> quản lý </a:t>
            </a:r>
            <a:r>
              <a:rPr lang="en-US" sz="2700" b="1" dirty="0" err="1"/>
              <a:t>mua</a:t>
            </a:r>
            <a:r>
              <a:rPr lang="en-US" sz="2700" b="1" dirty="0"/>
              <a:t> </a:t>
            </a:r>
            <a:r>
              <a:rPr lang="en-US" sz="2700" b="1" dirty="0" err="1"/>
              <a:t>hàng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plan procurement management</a:t>
            </a:r>
            <a:r>
              <a:rPr lang="en-US" sz="2700" dirty="0"/>
              <a:t>): </a:t>
            </a:r>
            <a:r>
              <a:rPr lang="en-US" sz="2700" dirty="0" err="1"/>
              <a:t>mua</a:t>
            </a:r>
            <a:r>
              <a:rPr lang="en-US" sz="2700" dirty="0"/>
              <a:t> </a:t>
            </a:r>
            <a:r>
              <a:rPr lang="en-US" sz="2700" dirty="0" err="1"/>
              <a:t>cái</a:t>
            </a:r>
            <a:r>
              <a:rPr lang="en-US" sz="2700" dirty="0"/>
              <a:t> </a:t>
            </a:r>
            <a:r>
              <a:rPr lang="en-US" sz="2700" dirty="0" err="1"/>
              <a:t>gì</a:t>
            </a:r>
            <a:r>
              <a:rPr lang="en-US" sz="2700" dirty="0"/>
              <a:t>, </a:t>
            </a:r>
            <a:r>
              <a:rPr lang="en-US" sz="2700" dirty="0" err="1"/>
              <a:t>khi</a:t>
            </a:r>
            <a:r>
              <a:rPr lang="en-US" sz="2700" dirty="0"/>
              <a:t> </a:t>
            </a:r>
            <a:r>
              <a:rPr lang="en-US" sz="2700" dirty="0" err="1"/>
              <a:t>nào</a:t>
            </a:r>
            <a:r>
              <a:rPr lang="en-US" sz="2700" dirty="0"/>
              <a:t>, và </a:t>
            </a:r>
            <a:r>
              <a:rPr lang="en-US" sz="2700" dirty="0" err="1"/>
              <a:t>như</a:t>
            </a:r>
            <a:r>
              <a:rPr lang="en-US" sz="2700" dirty="0"/>
              <a:t> </a:t>
            </a:r>
            <a:r>
              <a:rPr lang="en-US" sz="2700" dirty="0" err="1"/>
              <a:t>thế</a:t>
            </a:r>
            <a:r>
              <a:rPr lang="en-US" sz="2700" dirty="0"/>
              <a:t> </a:t>
            </a:r>
            <a:r>
              <a:rPr lang="en-US" sz="2700" dirty="0" err="1"/>
              <a:t>nào</a:t>
            </a:r>
            <a:r>
              <a:rPr lang="en-US" sz="2700" dirty="0"/>
              <a:t>. </a:t>
            </a:r>
          </a:p>
          <a:p>
            <a:pPr marL="342900" lvl="1" indent="-342900" algn="just">
              <a:spcBef>
                <a:spcPts val="1200"/>
              </a:spcBef>
              <a:spcAft>
                <a:spcPts val="1200"/>
              </a:spcAft>
              <a:buSzPct val="68000"/>
              <a:buFont typeface="Wingdings 3" panose="05040102010807070707" pitchFamily="18" charset="2"/>
              <a:buChar char="}"/>
            </a:pPr>
            <a:r>
              <a:rPr lang="en-US" sz="2700" b="1" dirty="0" err="1"/>
              <a:t>Tiến</a:t>
            </a:r>
            <a:r>
              <a:rPr lang="en-US" sz="2700" b="1" dirty="0"/>
              <a:t> </a:t>
            </a:r>
            <a:r>
              <a:rPr lang="en-US" sz="2700" b="1" dirty="0" err="1"/>
              <a:t>hành</a:t>
            </a:r>
            <a:r>
              <a:rPr lang="en-US" sz="2700" b="1" dirty="0"/>
              <a:t> </a:t>
            </a:r>
            <a:r>
              <a:rPr lang="en-US" sz="2700" b="1" dirty="0" err="1"/>
              <a:t>mua</a:t>
            </a:r>
            <a:r>
              <a:rPr lang="en-US" sz="2700" b="1" dirty="0"/>
              <a:t> </a:t>
            </a:r>
            <a:r>
              <a:rPr lang="en-US" sz="2700" b="1" dirty="0" err="1"/>
              <a:t>hàng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conduct procurement</a:t>
            </a:r>
            <a:r>
              <a:rPr lang="en-US" sz="2700" dirty="0"/>
              <a:t>): </a:t>
            </a:r>
            <a:r>
              <a:rPr lang="en-US" sz="2700" dirty="0" err="1"/>
              <a:t>phản</a:t>
            </a:r>
            <a:r>
              <a:rPr lang="en-US" sz="2700" dirty="0"/>
              <a:t> </a:t>
            </a:r>
            <a:r>
              <a:rPr lang="en-US" sz="2700" dirty="0" err="1"/>
              <a:t>hồi</a:t>
            </a:r>
            <a:r>
              <a:rPr lang="en-US" sz="2700" dirty="0"/>
              <a:t> </a:t>
            </a:r>
            <a:r>
              <a:rPr lang="en-US" sz="2700" dirty="0" err="1"/>
              <a:t>bên</a:t>
            </a:r>
            <a:r>
              <a:rPr lang="en-US" sz="2700" dirty="0"/>
              <a:t> </a:t>
            </a:r>
            <a:r>
              <a:rPr lang="en-US" sz="2700" dirty="0" err="1"/>
              <a:t>bán</a:t>
            </a:r>
            <a:r>
              <a:rPr lang="en-US" sz="2700" dirty="0"/>
              <a:t>, </a:t>
            </a:r>
            <a:r>
              <a:rPr lang="en-US" sz="2700" dirty="0" err="1"/>
              <a:t>chọn</a:t>
            </a:r>
            <a:r>
              <a:rPr lang="en-US" sz="2700" dirty="0"/>
              <a:t> </a:t>
            </a:r>
            <a:r>
              <a:rPr lang="en-US" sz="2700" dirty="0" err="1"/>
              <a:t>nhà</a:t>
            </a:r>
            <a:r>
              <a:rPr lang="en-US" sz="2700" dirty="0"/>
              <a:t> </a:t>
            </a:r>
            <a:r>
              <a:rPr lang="en-US" sz="2700" dirty="0" err="1"/>
              <a:t>cung</a:t>
            </a:r>
            <a:r>
              <a:rPr lang="en-US" sz="2700" dirty="0"/>
              <a:t> </a:t>
            </a:r>
            <a:r>
              <a:rPr lang="en-US" sz="2700" dirty="0" err="1"/>
              <a:t>cấp</a:t>
            </a:r>
            <a:r>
              <a:rPr lang="en-US" sz="2700" dirty="0"/>
              <a:t>, và </a:t>
            </a:r>
            <a:r>
              <a:rPr lang="en-US" sz="2700" dirty="0" err="1"/>
              <a:t>hợp</a:t>
            </a:r>
            <a:r>
              <a:rPr lang="en-US" sz="2700" dirty="0"/>
              <a:t> </a:t>
            </a:r>
            <a:r>
              <a:rPr lang="en-US" sz="2700" dirty="0" err="1"/>
              <a:t>đồng</a:t>
            </a:r>
            <a:r>
              <a:rPr lang="en-US" sz="2700" dirty="0"/>
              <a:t>. </a:t>
            </a:r>
          </a:p>
          <a:p>
            <a:pPr marL="342900" lvl="1" indent="-342900" algn="just">
              <a:spcBef>
                <a:spcPts val="1200"/>
              </a:spcBef>
              <a:spcAft>
                <a:spcPts val="1200"/>
              </a:spcAft>
              <a:buSzPct val="68000"/>
              <a:buFont typeface="Wingdings 3" panose="05040102010807070707" pitchFamily="18" charset="2"/>
              <a:buChar char="}"/>
            </a:pPr>
            <a:r>
              <a:rPr lang="en-US" sz="2700" b="1" dirty="0" err="1"/>
              <a:t>Kiểm</a:t>
            </a:r>
            <a:r>
              <a:rPr lang="en-US" sz="2700" b="1" dirty="0"/>
              <a:t> </a:t>
            </a:r>
            <a:r>
              <a:rPr lang="en-US" sz="2700" b="1" dirty="0" err="1"/>
              <a:t>soát</a:t>
            </a:r>
            <a:r>
              <a:rPr lang="en-US" sz="2700" b="1" dirty="0"/>
              <a:t> </a:t>
            </a:r>
            <a:r>
              <a:rPr lang="en-US" sz="2700" b="1" dirty="0" err="1"/>
              <a:t>mua</a:t>
            </a:r>
            <a:r>
              <a:rPr lang="en-US" sz="2700" b="1" dirty="0"/>
              <a:t> </a:t>
            </a:r>
            <a:r>
              <a:rPr lang="en-US" sz="2700" b="1" dirty="0" err="1"/>
              <a:t>hàng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control procurement</a:t>
            </a:r>
            <a:r>
              <a:rPr lang="en-US" sz="2700" dirty="0"/>
              <a:t>): </a:t>
            </a:r>
            <a:r>
              <a:rPr lang="en-US" sz="2700" dirty="0" err="1"/>
              <a:t>quan</a:t>
            </a:r>
            <a:r>
              <a:rPr lang="en-US" sz="2700" dirty="0"/>
              <a:t> </a:t>
            </a:r>
            <a:r>
              <a:rPr lang="en-US" sz="2700" dirty="0" err="1"/>
              <a:t>hệ</a:t>
            </a:r>
            <a:r>
              <a:rPr lang="en-US" sz="2700" dirty="0"/>
              <a:t> </a:t>
            </a:r>
            <a:r>
              <a:rPr lang="en-US" sz="2700" dirty="0" err="1"/>
              <a:t>với</a:t>
            </a:r>
            <a:r>
              <a:rPr lang="en-US" sz="2700" dirty="0"/>
              <a:t> </a:t>
            </a:r>
            <a:r>
              <a:rPr lang="en-US" sz="2700" dirty="0" err="1"/>
              <a:t>bên</a:t>
            </a:r>
            <a:r>
              <a:rPr lang="en-US" sz="2700" dirty="0"/>
              <a:t> </a:t>
            </a:r>
            <a:r>
              <a:rPr lang="en-US" sz="2700" dirty="0" err="1"/>
              <a:t>bán</a:t>
            </a:r>
            <a:r>
              <a:rPr lang="en-US" sz="2700" dirty="0"/>
              <a:t>, </a:t>
            </a:r>
            <a:r>
              <a:rPr lang="en-US" sz="2700" dirty="0" err="1"/>
              <a:t>theo</a:t>
            </a:r>
            <a:r>
              <a:rPr lang="en-US" sz="2700" dirty="0"/>
              <a:t> </a:t>
            </a:r>
            <a:r>
              <a:rPr lang="en-US" sz="2700" dirty="0" err="1"/>
              <a:t>dõi</a:t>
            </a:r>
            <a:r>
              <a:rPr lang="en-US" sz="2700" dirty="0"/>
              <a:t> </a:t>
            </a:r>
            <a:r>
              <a:rPr lang="en-US" sz="2700" dirty="0" err="1"/>
              <a:t>hợp</a:t>
            </a:r>
            <a:r>
              <a:rPr lang="en-US" sz="2700" dirty="0"/>
              <a:t> </a:t>
            </a:r>
            <a:r>
              <a:rPr lang="en-US" sz="2700" dirty="0" err="1"/>
              <a:t>đồng</a:t>
            </a:r>
            <a:r>
              <a:rPr lang="en-US" sz="2700" dirty="0"/>
              <a:t>, </a:t>
            </a:r>
            <a:r>
              <a:rPr lang="en-US" sz="2700" dirty="0" err="1"/>
              <a:t>các</a:t>
            </a:r>
            <a:r>
              <a:rPr lang="en-US" sz="2700" dirty="0"/>
              <a:t> </a:t>
            </a:r>
            <a:r>
              <a:rPr lang="en-US" sz="2700" dirty="0" err="1"/>
              <a:t>thay</a:t>
            </a:r>
            <a:r>
              <a:rPr lang="en-US" sz="2700" dirty="0"/>
              <a:t> </a:t>
            </a:r>
            <a:r>
              <a:rPr lang="en-US" sz="2700" dirty="0" err="1"/>
              <a:t>đổi</a:t>
            </a:r>
            <a:r>
              <a:rPr lang="en-US" sz="2700" dirty="0"/>
              <a:t>... </a:t>
            </a:r>
          </a:p>
          <a:p>
            <a:pPr marL="342900" lvl="1" indent="-342900" algn="just">
              <a:spcBef>
                <a:spcPts val="1200"/>
              </a:spcBef>
              <a:spcAft>
                <a:spcPts val="1200"/>
              </a:spcAft>
              <a:buSzPct val="68000"/>
              <a:buFont typeface="Wingdings 3" panose="05040102010807070707" pitchFamily="18" charset="2"/>
              <a:buChar char="}"/>
            </a:pPr>
            <a:r>
              <a:rPr lang="en-US" sz="2700" b="1" dirty="0" err="1"/>
              <a:t>Kết</a:t>
            </a:r>
            <a:r>
              <a:rPr lang="en-US" sz="2700" b="1" dirty="0"/>
              <a:t> </a:t>
            </a:r>
            <a:r>
              <a:rPr lang="en-US" sz="2700" b="1" dirty="0" err="1"/>
              <a:t>thúc</a:t>
            </a:r>
            <a:r>
              <a:rPr lang="en-US" sz="2700" b="1" dirty="0"/>
              <a:t> </a:t>
            </a:r>
            <a:r>
              <a:rPr lang="en-US" sz="2700" b="1" dirty="0" err="1"/>
              <a:t>mua</a:t>
            </a:r>
            <a:r>
              <a:rPr lang="en-US" sz="2700" b="1" dirty="0"/>
              <a:t> </a:t>
            </a:r>
            <a:r>
              <a:rPr lang="en-US" sz="2700" b="1" dirty="0" err="1"/>
              <a:t>hàng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close procurement</a:t>
            </a:r>
            <a:r>
              <a:rPr lang="en-US" sz="2700" dirty="0"/>
              <a:t>): </a:t>
            </a:r>
            <a:r>
              <a:rPr lang="en-US" sz="2700" dirty="0" err="1"/>
              <a:t>hoàn</a:t>
            </a:r>
            <a:r>
              <a:rPr lang="en-US" sz="2700" dirty="0"/>
              <a:t> </a:t>
            </a:r>
            <a:r>
              <a:rPr lang="en-US" sz="2700" dirty="0" err="1"/>
              <a:t>tất</a:t>
            </a:r>
            <a:r>
              <a:rPr lang="en-US" sz="2700" dirty="0"/>
              <a:t> và thanh lý </a:t>
            </a:r>
            <a:r>
              <a:rPr lang="en-US" sz="2700" dirty="0" err="1"/>
              <a:t>hợp</a:t>
            </a:r>
            <a:r>
              <a:rPr lang="en-US" sz="2700" dirty="0"/>
              <a:t> </a:t>
            </a:r>
            <a:r>
              <a:rPr lang="en-US" sz="2700" dirty="0" err="1"/>
              <a:t>đồng</a:t>
            </a:r>
            <a:r>
              <a:rPr lang="en-US" sz="2700" dirty="0"/>
              <a:t> - </a:t>
            </a:r>
            <a:r>
              <a:rPr lang="en-US" sz="2700" dirty="0" err="1"/>
              <a:t>giải</a:t>
            </a:r>
            <a:r>
              <a:rPr lang="en-US" sz="2700" dirty="0"/>
              <a:t> </a:t>
            </a:r>
            <a:r>
              <a:rPr lang="en-US" sz="2700" dirty="0" err="1"/>
              <a:t>quyết</a:t>
            </a:r>
            <a:r>
              <a:rPr lang="en-US" sz="2700" dirty="0"/>
              <a:t> </a:t>
            </a:r>
            <a:r>
              <a:rPr lang="en-US" sz="2700" dirty="0" err="1"/>
              <a:t>các</a:t>
            </a:r>
            <a:r>
              <a:rPr lang="en-US" sz="2700" dirty="0"/>
              <a:t> </a:t>
            </a:r>
            <a:r>
              <a:rPr lang="en-US" sz="2700" dirty="0" err="1"/>
              <a:t>phát</a:t>
            </a:r>
            <a:r>
              <a:rPr lang="en-US" sz="2700" dirty="0"/>
              <a:t> </a:t>
            </a:r>
            <a:r>
              <a:rPr lang="en-US" sz="2700" dirty="0" err="1"/>
              <a:t>sinh</a:t>
            </a:r>
            <a:r>
              <a:rPr lang="en-US" sz="2700" dirty="0"/>
              <a:t>. </a:t>
            </a: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Quy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trình</a:t>
            </a:r>
            <a:r>
              <a:rPr lang="en-US" sz="4400" dirty="0">
                <a:solidFill>
                  <a:srgbClr val="0070C0"/>
                </a:solidFill>
              </a:rPr>
              <a:t> quản lý </a:t>
            </a:r>
            <a:r>
              <a:rPr lang="en-US" sz="4400" dirty="0" err="1">
                <a:solidFill>
                  <a:srgbClr val="0070C0"/>
                </a:solidFill>
              </a:rPr>
              <a:t>mua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hàng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1843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1A149B-F3CA-41E8-8298-59EC644AB5DF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hlinkClick r:id="rId2" action="ppaction://hlinkpres?slideindex=1&amp;slidetitle="/>
              </a:rPr>
              <a:t>Tóm</a:t>
            </a:r>
            <a:r>
              <a:rPr lang="en-US" sz="4000" dirty="0">
                <a:hlinkClick r:id="rId2" action="ppaction://hlinkpres?slideindex=1&amp;slidetitle="/>
              </a:rPr>
              <a:t> </a:t>
            </a:r>
            <a:r>
              <a:rPr lang="en-US" sz="4000" dirty="0" err="1">
                <a:hlinkClick r:id="rId2" action="ppaction://hlinkpres?slideindex=1&amp;slidetitle="/>
              </a:rPr>
              <a:t>tắt</a:t>
            </a:r>
            <a:r>
              <a:rPr lang="en-US" sz="4000" dirty="0"/>
              <a:t> </a:t>
            </a:r>
            <a:r>
              <a:rPr lang="en-US" sz="4000" dirty="0">
                <a:hlinkClick r:id="rId3" action="ppaction://hlinkpres?slideindex=1&amp;slidetitle="/>
              </a:rPr>
              <a:t>quản lý </a:t>
            </a:r>
            <a:r>
              <a:rPr lang="en-US" sz="4000" dirty="0" err="1">
                <a:hlinkClick r:id="rId3" action="ppaction://hlinkpres?slideindex=1&amp;slidetitle="/>
              </a:rPr>
              <a:t>mua</a:t>
            </a:r>
            <a:r>
              <a:rPr lang="en-US" sz="4000" dirty="0">
                <a:hlinkClick r:id="rId3" action="ppaction://hlinkpres?slideindex=1&amp;slidetitle="/>
              </a:rPr>
              <a:t> </a:t>
            </a:r>
            <a:r>
              <a:rPr lang="en-US" sz="4000" dirty="0" err="1">
                <a:hlinkClick r:id="rId3" action="ppaction://hlinkpres?slideindex=1&amp;slidetitle="/>
              </a:rPr>
              <a:t>hàng</a:t>
            </a:r>
            <a:r>
              <a:rPr lang="en-US" sz="4000" dirty="0">
                <a:hlinkClick r:id="rId3" action="ppaction://hlinkpres?slideindex=1&amp;slidetitle="/>
              </a:rPr>
              <a:t> </a:t>
            </a:r>
            <a:r>
              <a:rPr lang="en-US" sz="4000" dirty="0" err="1">
                <a:hlinkClick r:id="rId3" action="ppaction://hlinkpres?slideindex=1&amp;slidetitle="/>
              </a:rPr>
              <a:t>dự</a:t>
            </a:r>
            <a:r>
              <a:rPr lang="en-US" sz="4000" dirty="0">
                <a:hlinkClick r:id="rId3" action="ppaction://hlinkpres?slideindex=1&amp;slidetitle="/>
              </a:rPr>
              <a:t> </a:t>
            </a:r>
            <a:r>
              <a:rPr lang="en-US" sz="4000" dirty="0" err="1">
                <a:hlinkClick r:id="rId3" action="ppaction://hlinkpres?slideindex=1&amp;slidetitle="/>
              </a:rPr>
              <a:t>án</a:t>
            </a:r>
            <a:endParaRPr lang="en-US" sz="4000" dirty="0"/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F5C3B9-A8C3-4146-B48A-C5A6FE1AF09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6800"/>
            <a:ext cx="9144000" cy="5820616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1447800" y="1689100"/>
            <a:ext cx="3346933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684926" y="3136900"/>
            <a:ext cx="242987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277119" y="4343400"/>
            <a:ext cx="229488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757076" y="5867400"/>
            <a:ext cx="2119724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228725"/>
            <a:ext cx="8982075" cy="3419475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592135" y="4003553"/>
            <a:ext cx="1989265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mua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hàng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[1/4]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83874"/>
            <a:ext cx="1828799" cy="13741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0" y="5435600"/>
            <a:ext cx="1066800" cy="142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0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458200" cy="3733800"/>
          </a:xfrm>
        </p:spPr>
        <p:txBody>
          <a:bodyPr/>
          <a:lstStyle/>
          <a:p>
            <a:pPr marL="457200" indent="-457200" algn="just">
              <a:spcBef>
                <a:spcPct val="100000"/>
              </a:spcBef>
            </a:pP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hoạch</a:t>
            </a:r>
            <a:r>
              <a:rPr lang="en-US" b="1" dirty="0"/>
              <a:t> quản lý </a:t>
            </a:r>
            <a:r>
              <a:rPr lang="en-US" b="1" dirty="0" err="1"/>
              <a:t>mua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plan procurement management</a:t>
            </a:r>
            <a:r>
              <a:rPr lang="en-US" dirty="0"/>
              <a:t>):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qua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. </a:t>
            </a:r>
          </a:p>
          <a:p>
            <a:pPr marL="457200" indent="-457200" algn="just">
              <a:spcBef>
                <a:spcPct val="100000"/>
              </a:spcBef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quản lý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 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1 </a:t>
            </a:r>
            <a:r>
              <a:rPr lang="en-US" sz="4400" dirty="0" err="1">
                <a:solidFill>
                  <a:srgbClr val="FF0000"/>
                </a:solidFill>
              </a:rPr>
              <a:t>Kế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hoạch</a:t>
            </a:r>
            <a:r>
              <a:rPr lang="en-US" sz="4400" dirty="0">
                <a:solidFill>
                  <a:srgbClr val="FF0000"/>
                </a:solidFill>
              </a:rPr>
              <a:t> quản lý </a:t>
            </a:r>
            <a:r>
              <a:rPr lang="en-US" sz="4400" dirty="0" err="1">
                <a:solidFill>
                  <a:srgbClr val="FF0000"/>
                </a:solidFill>
              </a:rPr>
              <a:t>mua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hàng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2150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CE13C7-C293-43D6-8B4C-4097BCDB0B5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724400"/>
            <a:ext cx="2209800" cy="15046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382000" cy="4495800"/>
          </a:xfrm>
        </p:spPr>
        <p:txBody>
          <a:bodyPr/>
          <a:lstStyle/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 định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fixed-price</a:t>
            </a:r>
            <a:r>
              <a:rPr lang="vi-VN" dirty="0"/>
              <a:t>) ho</a:t>
            </a:r>
            <a:r>
              <a:rPr lang="en-US" dirty="0" err="1"/>
              <a:t>ặc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trọn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gói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lump sum</a:t>
            </a:r>
            <a:r>
              <a:rPr lang="en-US" dirty="0"/>
              <a:t>):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  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Bồi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hoàn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chi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cost reimbursable</a:t>
            </a:r>
            <a:r>
              <a:rPr lang="en-US" dirty="0"/>
              <a:t>): thanh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và </a:t>
            </a:r>
            <a:r>
              <a:rPr lang="en-US" dirty="0" err="1"/>
              <a:t>gián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Thời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gian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nguyên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vật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liệu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time &amp; material</a:t>
            </a:r>
            <a:r>
              <a:rPr lang="en-US" dirty="0"/>
              <a:t>): </a:t>
            </a:r>
            <a:r>
              <a:rPr lang="en-US" dirty="0" err="1"/>
              <a:t>lai</a:t>
            </a:r>
            <a:r>
              <a:rPr lang="en-US" dirty="0"/>
              <a:t> </a:t>
            </a:r>
            <a:r>
              <a:rPr lang="en-US" dirty="0" err="1"/>
              <a:t>ghép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: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và </a:t>
            </a:r>
            <a:r>
              <a:rPr lang="en-US" dirty="0" err="1"/>
              <a:t>bồi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. 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đơn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vị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unit price</a:t>
            </a:r>
            <a:r>
              <a:rPr lang="en-US" dirty="0"/>
              <a:t>): </a:t>
            </a:r>
            <a:r>
              <a:rPr lang="vi-VN" dirty="0"/>
              <a:t>bên mua phải trả cho bên bán số tiền định trước theo đơn vị dịch vụ..</a:t>
            </a:r>
            <a:endParaRPr lang="en-US" dirty="0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05800" cy="639762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Các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loại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hợp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đồng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2662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E26BC9-F9A8-4A6E-A138-D302D163772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57325"/>
            <a:ext cx="8382000" cy="4486275"/>
          </a:xfrm>
        </p:spPr>
        <p:txBody>
          <a:bodyPr/>
          <a:lstStyle/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- </a:t>
            </a: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FFP</a:t>
            </a:r>
            <a:r>
              <a:rPr lang="en-US" sz="2500" dirty="0"/>
              <a:t> (</a:t>
            </a:r>
            <a:r>
              <a:rPr lang="en-US" sz="2500" dirty="0">
                <a:solidFill>
                  <a:srgbClr val="0070C0"/>
                </a:solidFill>
              </a:rPr>
              <a:t>Firm-Fixed-Price</a:t>
            </a:r>
            <a:r>
              <a:rPr lang="en-US" sz="2500" dirty="0"/>
              <a:t>): </a:t>
            </a:r>
            <a:r>
              <a:rPr lang="vi-VN" sz="2500" dirty="0"/>
              <a:t>b</a:t>
            </a:r>
            <a:r>
              <a:rPr lang="en-US" sz="2500" dirty="0" err="1"/>
              <a:t>ên</a:t>
            </a:r>
            <a:r>
              <a:rPr lang="en-US" sz="2500" dirty="0"/>
              <a:t> </a:t>
            </a:r>
            <a:r>
              <a:rPr lang="en-US" sz="2500" dirty="0" err="1"/>
              <a:t>mua</a:t>
            </a:r>
            <a:r>
              <a:rPr lang="en-US" sz="2500" dirty="0"/>
              <a:t> </a:t>
            </a:r>
            <a:r>
              <a:rPr lang="en-US" sz="2500" dirty="0" err="1"/>
              <a:t>chỉ</a:t>
            </a:r>
            <a:r>
              <a:rPr lang="en-US" sz="2500" dirty="0"/>
              <a:t> </a:t>
            </a:r>
            <a:r>
              <a:rPr lang="en-US" sz="2500" dirty="0" err="1"/>
              <a:t>trả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bán</a:t>
            </a:r>
            <a:r>
              <a:rPr lang="en-US" sz="2500" dirty="0"/>
              <a:t> </a:t>
            </a:r>
            <a:r>
              <a:rPr lang="en-US" sz="2500" dirty="0" err="1"/>
              <a:t>theo</a:t>
            </a:r>
            <a:r>
              <a:rPr lang="en-US" sz="2500" dirty="0"/>
              <a:t> </a:t>
            </a:r>
            <a:r>
              <a:rPr lang="en-US" sz="2500" dirty="0" err="1"/>
              <a:t>giá</a:t>
            </a:r>
            <a:r>
              <a:rPr lang="en-US" sz="2500" dirty="0"/>
              <a:t> </a:t>
            </a:r>
            <a:r>
              <a:rPr lang="en-US" sz="2500" dirty="0" err="1"/>
              <a:t>cố</a:t>
            </a:r>
            <a:r>
              <a:rPr lang="en-US" sz="2500" dirty="0"/>
              <a:t> </a:t>
            </a:r>
            <a:r>
              <a:rPr lang="en-US" sz="2500" dirty="0" err="1"/>
              <a:t>định</a:t>
            </a:r>
            <a:r>
              <a:rPr lang="en-US" sz="2500" dirty="0"/>
              <a:t>. 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ưu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đãi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- </a:t>
            </a: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FPIF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Fixed-Price Incentive Fee</a:t>
            </a:r>
            <a:r>
              <a:rPr lang="en-US" sz="2500" dirty="0"/>
              <a:t>): </a:t>
            </a:r>
            <a:r>
              <a:rPr lang="vi-VN" sz="2500" dirty="0"/>
              <a:t>b</a:t>
            </a:r>
            <a:r>
              <a:rPr lang="en-US" sz="2500" dirty="0" err="1"/>
              <a:t>ên</a:t>
            </a:r>
            <a:r>
              <a:rPr lang="en-US" sz="2500" dirty="0"/>
              <a:t> </a:t>
            </a:r>
            <a:r>
              <a:rPr lang="en-US" sz="2500" dirty="0" err="1"/>
              <a:t>mua</a:t>
            </a:r>
            <a:r>
              <a:rPr lang="en-US" sz="2500" dirty="0"/>
              <a:t> </a:t>
            </a:r>
            <a:r>
              <a:rPr lang="en-US" sz="2500" dirty="0" err="1"/>
              <a:t>trả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bán</a:t>
            </a:r>
            <a:r>
              <a:rPr lang="en-US" sz="2500" dirty="0"/>
              <a:t> </a:t>
            </a:r>
            <a:r>
              <a:rPr lang="en-US" sz="2500" dirty="0" err="1"/>
              <a:t>giá</a:t>
            </a:r>
            <a:r>
              <a:rPr lang="en-US" sz="2500" dirty="0"/>
              <a:t> </a:t>
            </a:r>
            <a:r>
              <a:rPr lang="en-US" sz="2500" dirty="0" err="1"/>
              <a:t>cố</a:t>
            </a:r>
            <a:r>
              <a:rPr lang="en-US" sz="2500" dirty="0"/>
              <a:t> </a:t>
            </a:r>
            <a:r>
              <a:rPr lang="en-US" sz="2500" dirty="0" err="1"/>
              <a:t>định</a:t>
            </a:r>
            <a:r>
              <a:rPr lang="en-US" sz="2500" dirty="0"/>
              <a:t>, </a:t>
            </a:r>
            <a:r>
              <a:rPr lang="en-US" sz="2500" dirty="0" err="1"/>
              <a:t>cộng</a:t>
            </a:r>
            <a:r>
              <a:rPr lang="en-US" sz="2500" dirty="0"/>
              <a:t> </a:t>
            </a:r>
            <a:r>
              <a:rPr lang="en-US" sz="2500" dirty="0" err="1"/>
              <a:t>thêm</a:t>
            </a:r>
            <a:r>
              <a:rPr lang="en-US" sz="2500" dirty="0"/>
              <a:t> </a:t>
            </a:r>
            <a:r>
              <a:rPr lang="en-US" sz="2500" dirty="0" err="1"/>
              <a:t>tiền</a:t>
            </a:r>
            <a:r>
              <a:rPr lang="en-US" sz="2500" dirty="0"/>
              <a:t> </a:t>
            </a:r>
            <a:r>
              <a:rPr lang="en-US" sz="2500" dirty="0" err="1"/>
              <a:t>thưởng</a:t>
            </a:r>
            <a:r>
              <a:rPr lang="en-US" sz="2500" dirty="0"/>
              <a:t> - </a:t>
            </a:r>
            <a:r>
              <a:rPr lang="en-US" sz="2500" dirty="0" err="1"/>
              <a:t>dựa</a:t>
            </a:r>
            <a:r>
              <a:rPr lang="en-US" sz="2500" dirty="0"/>
              <a:t> </a:t>
            </a:r>
            <a:r>
              <a:rPr lang="en-US" sz="2500" dirty="0" err="1"/>
              <a:t>trên</a:t>
            </a:r>
            <a:r>
              <a:rPr lang="en-US" sz="2500" dirty="0"/>
              <a:t> </a:t>
            </a:r>
            <a:r>
              <a:rPr lang="en-US" sz="2500" dirty="0" err="1"/>
              <a:t>năng</a:t>
            </a:r>
            <a:r>
              <a:rPr lang="en-US" sz="2500" dirty="0"/>
              <a:t> </a:t>
            </a:r>
            <a:r>
              <a:rPr lang="en-US" sz="2500" dirty="0" err="1"/>
              <a:t>suất</a:t>
            </a:r>
            <a:r>
              <a:rPr lang="en-US" sz="2500" dirty="0"/>
              <a:t>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hiệu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chỉnh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theo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kinh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tế </a:t>
            </a:r>
            <a:r>
              <a:rPr lang="en-US" sz="2500" dirty="0"/>
              <a:t>- </a:t>
            </a: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FP-EPA</a:t>
            </a:r>
            <a:r>
              <a:rPr lang="en-US" sz="2500" dirty="0"/>
              <a:t> (</a:t>
            </a:r>
            <a:r>
              <a:rPr lang="en-US" sz="2500" dirty="0">
                <a:solidFill>
                  <a:srgbClr val="0070C0"/>
                </a:solidFill>
              </a:rPr>
              <a:t>Fixed-Price with Economic Price Adjustment</a:t>
            </a:r>
            <a:r>
              <a:rPr lang="en-US" sz="2500" dirty="0"/>
              <a:t>)</a:t>
            </a:r>
            <a:r>
              <a:rPr lang="vi-VN" sz="2500" dirty="0"/>
              <a:t>: b</a:t>
            </a:r>
            <a:r>
              <a:rPr lang="en-US" sz="2500" dirty="0" err="1"/>
              <a:t>ên</a:t>
            </a:r>
            <a:r>
              <a:rPr lang="en-US" sz="2500" dirty="0"/>
              <a:t> </a:t>
            </a:r>
            <a:r>
              <a:rPr lang="en-US" sz="2500" dirty="0" err="1"/>
              <a:t>mua</a:t>
            </a:r>
            <a:r>
              <a:rPr lang="en-US" sz="2500" dirty="0"/>
              <a:t> </a:t>
            </a:r>
            <a:r>
              <a:rPr lang="en-US" sz="2500" dirty="0" err="1"/>
              <a:t>trả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bán</a:t>
            </a:r>
            <a:r>
              <a:rPr lang="en-US" sz="2500" dirty="0"/>
              <a:t> </a:t>
            </a:r>
            <a:r>
              <a:rPr lang="en-US" sz="2500" dirty="0" err="1"/>
              <a:t>giá</a:t>
            </a:r>
            <a:r>
              <a:rPr lang="en-US" sz="2500" dirty="0"/>
              <a:t> </a:t>
            </a:r>
            <a:r>
              <a:rPr lang="en-US" sz="2500" dirty="0" err="1"/>
              <a:t>cố</a:t>
            </a:r>
            <a:r>
              <a:rPr lang="en-US" sz="2500" dirty="0"/>
              <a:t> </a:t>
            </a:r>
            <a:r>
              <a:rPr lang="en-US" sz="2500" dirty="0" err="1"/>
              <a:t>định</a:t>
            </a:r>
            <a:r>
              <a:rPr lang="en-US" sz="2500" dirty="0"/>
              <a:t>, </a:t>
            </a:r>
            <a:r>
              <a:rPr lang="vi-VN" sz="2500" dirty="0"/>
              <a:t>hiệu chỉnh theo giá </a:t>
            </a:r>
            <a:r>
              <a:rPr lang="en-US" sz="2500" dirty="0" err="1"/>
              <a:t>kinh</a:t>
            </a:r>
            <a:r>
              <a:rPr lang="en-US" sz="2500" dirty="0"/>
              <a:t> tế -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các</a:t>
            </a:r>
            <a:r>
              <a:rPr lang="en-US" sz="2500" dirty="0"/>
              <a:t> </a:t>
            </a:r>
            <a:r>
              <a:rPr lang="en-US" sz="2500" dirty="0" err="1"/>
              <a:t>hợp</a:t>
            </a:r>
            <a:r>
              <a:rPr lang="en-US" sz="2500" dirty="0"/>
              <a:t> </a:t>
            </a:r>
            <a:r>
              <a:rPr lang="en-US" sz="2500" dirty="0" err="1"/>
              <a:t>đồng</a:t>
            </a:r>
            <a:r>
              <a:rPr lang="en-US" sz="2500" dirty="0"/>
              <a:t> </a:t>
            </a:r>
            <a:r>
              <a:rPr lang="en-US" sz="2500" dirty="0" err="1"/>
              <a:t>dài</a:t>
            </a:r>
            <a:r>
              <a:rPr lang="en-US" sz="2500" dirty="0"/>
              <a:t> </a:t>
            </a:r>
            <a:r>
              <a:rPr lang="en-US" sz="2500" dirty="0" err="1"/>
              <a:t>hạn</a:t>
            </a:r>
            <a:r>
              <a:rPr lang="en-US" sz="2500" dirty="0"/>
              <a:t>.   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vi-VN" sz="4000" dirty="0">
                <a:solidFill>
                  <a:schemeClr val="tx1"/>
                </a:solidFill>
              </a:rPr>
              <a:t>Hợp đồng cố định giá 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67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0B06D5-2D61-4FDF-9D04-A5A3262FBFF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3581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Điểm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tổng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giả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Point Total Assumption</a:t>
            </a:r>
            <a:r>
              <a:rPr lang="en-US" dirty="0"/>
              <a:t>): </a:t>
            </a:r>
            <a:r>
              <a:rPr lang="vi-VN" dirty="0"/>
              <a:t>chi phí giả định tổng thể cho mỗi đơn vị tiền tệ thêm vào chi phí hợp đồng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chạm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PTA,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tổn</a:t>
            </a:r>
            <a:r>
              <a:rPr lang="en-US" dirty="0"/>
              <a:t> </a:t>
            </a:r>
            <a:r>
              <a:rPr lang="en-US" dirty="0" err="1"/>
              <a:t>hại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chi </a:t>
            </a:r>
            <a:r>
              <a:rPr lang="en-US" dirty="0" err="1"/>
              <a:t>phí</a:t>
            </a:r>
            <a:r>
              <a:rPr lang="en-US" dirty="0"/>
              <a:t>..</a:t>
            </a:r>
          </a:p>
        </p:txBody>
      </p:sp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algn="ctr"/>
            <a:r>
              <a:rPr lang="en-US" sz="4000" dirty="0"/>
              <a:t>PTA</a:t>
            </a:r>
            <a:endParaRPr lang="en-US" dirty="0"/>
          </a:p>
        </p:txBody>
      </p:sp>
      <p:sp>
        <p:nvSpPr>
          <p:cNvPr id="27652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54DA23-019E-41D0-B852-ED1B746DB25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914400" y="4191000"/>
            <a:ext cx="7467600" cy="1295400"/>
            <a:chOff x="609600" y="4191000"/>
            <a:chExt cx="8077200" cy="1295400"/>
          </a:xfrm>
        </p:grpSpPr>
        <p:sp>
          <p:nvSpPr>
            <p:cNvPr id="6" name="Rectangle 3"/>
            <p:cNvSpPr txBox="1">
              <a:spLocks noChangeArrowheads="1"/>
            </p:cNvSpPr>
            <p:nvPr/>
          </p:nvSpPr>
          <p:spPr bwMode="auto">
            <a:xfrm>
              <a:off x="609600" y="4191000"/>
              <a:ext cx="8077200" cy="12954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65125" indent="-255588" algn="l" rtl="0" eaLnBrk="1" fontAlgn="base" hangingPunct="1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0713" indent="-228600" algn="l" rtl="0" eaLnBrk="1" fontAlgn="base" hangingPunct="1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8838" indent="-228600" algn="l" rtl="0" eaLnBrk="1" fontAlgn="base" hangingPunct="1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1" fontAlgn="base" hangingPunct="1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fontAlgn="base" hangingPunct="1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2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574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  <a:extLst/>
            </a:lstStyle>
            <a:p>
              <a:pPr>
                <a:lnSpc>
                  <a:spcPct val="90000"/>
                </a:lnSpc>
              </a:pPr>
              <a:endPara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Courier New" panose="02070309020205020404" pitchFamily="49" charset="0"/>
              </a:endParaRPr>
            </a:p>
            <a:p>
              <a:pPr marL="109537" indent="0">
                <a:lnSpc>
                  <a:spcPct val="90000"/>
                </a:lnSpc>
                <a:buFont typeface="Wingdings 3" pitchFamily="18" charset="2"/>
                <a:buNone/>
              </a:pPr>
              <a:r>
                <a:rPr 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j-lt"/>
                  <a:cs typeface="Courier New" panose="02070309020205020404" pitchFamily="49" charset="0"/>
                </a:rPr>
                <a:t> </a:t>
              </a:r>
              <a:r>
                <a:rPr lang="en-US" b="1" dirty="0">
                  <a:latin typeface="+mj-lt"/>
                  <a:cs typeface="Courier New" panose="02070309020205020404" pitchFamily="49" charset="0"/>
                </a:rPr>
                <a:t>PTA </a:t>
              </a:r>
              <a:r>
                <a:rPr lang="en-US" dirty="0">
                  <a:latin typeface="+mj-lt"/>
                </a:rPr>
                <a:t>=                                    </a:t>
              </a:r>
              <a:r>
                <a:rPr lang="en-US" sz="2400" dirty="0">
                  <a:latin typeface="+mj-lt"/>
                </a:rPr>
                <a:t>+ Chi </a:t>
              </a:r>
              <a:r>
                <a:rPr lang="en-US" sz="2400" dirty="0" err="1">
                  <a:latin typeface="+mj-lt"/>
                </a:rPr>
                <a:t>phí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 err="1">
                  <a:latin typeface="+mj-lt"/>
                </a:rPr>
                <a:t>mục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 err="1">
                  <a:latin typeface="+mj-lt"/>
                </a:rPr>
                <a:t>tiêu</a:t>
              </a:r>
              <a:endParaRPr lang="en-US" dirty="0">
                <a:latin typeface="+mj-lt"/>
              </a:endParaRPr>
            </a:p>
          </p:txBody>
        </p:sp>
        <p:sp>
          <p:nvSpPr>
            <p:cNvPr id="7" name="Rectangle 3"/>
            <p:cNvSpPr txBox="1">
              <a:spLocks noChangeArrowheads="1"/>
            </p:cNvSpPr>
            <p:nvPr/>
          </p:nvSpPr>
          <p:spPr bwMode="auto">
            <a:xfrm>
              <a:off x="1617306" y="4495800"/>
              <a:ext cx="4267200" cy="914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65125" indent="-255588" algn="l" rtl="0" eaLnBrk="1" fontAlgn="base" hangingPunct="1">
                <a:spcBef>
                  <a:spcPts val="400"/>
                </a:spcBef>
                <a:spcAft>
                  <a:spcPct val="0"/>
                </a:spcAft>
                <a:buClr>
                  <a:schemeClr val="accent1"/>
                </a:buClr>
                <a:buSzPct val="68000"/>
                <a:buFont typeface="Wingdings 3" pitchFamily="18" charset="2"/>
                <a:buChar char=""/>
                <a:defRPr sz="2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20713" indent="-228600" algn="l" rtl="0" eaLnBrk="1" fontAlgn="base" hangingPunct="1">
                <a:spcBef>
                  <a:spcPts val="325"/>
                </a:spcBef>
                <a:spcAft>
                  <a:spcPct val="0"/>
                </a:spcAft>
                <a:buClr>
                  <a:schemeClr val="accent1"/>
                </a:buClr>
                <a:buFont typeface="Verdana" pitchFamily="34" charset="0"/>
                <a:buChar char="◦"/>
                <a:defRPr sz="2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8838" indent="-228600" algn="l" rtl="0" eaLnBrk="1" fontAlgn="base" hangingPunct="1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SzPct val="100000"/>
                <a:buFont typeface="Wingdings 2" pitchFamily="18" charset="2"/>
                <a:buChar char="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143000" indent="-228600" algn="l" rtl="0" eaLnBrk="1" fontAlgn="base" hangingPunct="1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19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-228600" algn="l" rtl="0" eaLnBrk="1" fontAlgn="base" hangingPunct="1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itchFamily="18" charset="2"/>
                <a:buChar char="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6002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8288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0574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286000" indent="-228600" algn="l" rtl="0" eaLnBrk="1" latinLnBrk="0" hangingPunct="1">
                <a:spcBef>
                  <a:spcPts val="350"/>
                </a:spcBef>
                <a:buClr>
                  <a:schemeClr val="accent3"/>
                </a:buClr>
                <a:buFont typeface="Wingdings 2"/>
                <a:buChar char=""/>
                <a:defRPr kumimoji="0" sz="16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  <a:extLst/>
            </a:lstStyle>
            <a:p>
              <a:pPr marL="109537" indent="0" algn="ctr">
                <a:lnSpc>
                  <a:spcPct val="90000"/>
                </a:lnSpc>
                <a:buNone/>
              </a:pPr>
              <a:r>
                <a:rPr lang="en-US" sz="2400" u="sng" dirty="0" err="1"/>
                <a:t>Giá</a:t>
              </a:r>
              <a:r>
                <a:rPr lang="en-US" sz="2400" u="sng" dirty="0"/>
                <a:t> </a:t>
              </a:r>
              <a:r>
                <a:rPr lang="en-US" sz="2400" u="sng" dirty="0" err="1"/>
                <a:t>trần</a:t>
              </a:r>
              <a:r>
                <a:rPr lang="en-US" sz="2400" u="sng" dirty="0"/>
                <a:t> – </a:t>
              </a:r>
              <a:r>
                <a:rPr lang="en-US" sz="2400" u="sng" dirty="0" err="1"/>
                <a:t>Giá</a:t>
              </a:r>
              <a:r>
                <a:rPr lang="en-US" sz="2400" u="sng" dirty="0"/>
                <a:t> </a:t>
              </a:r>
              <a:r>
                <a:rPr lang="en-US" sz="2400" u="sng" dirty="0" err="1"/>
                <a:t>mục</a:t>
              </a:r>
              <a:r>
                <a:rPr lang="en-US" sz="2400" u="sng" dirty="0"/>
                <a:t> </a:t>
              </a:r>
              <a:r>
                <a:rPr lang="en-US" sz="2400" u="sng" dirty="0" err="1"/>
                <a:t>tiêu</a:t>
              </a:r>
              <a:br>
                <a:rPr lang="en-US" sz="2400" u="sng" dirty="0"/>
              </a:br>
              <a:r>
                <a:rPr lang="en-US" sz="2100" dirty="0" err="1"/>
                <a:t>Tỷ</a:t>
              </a:r>
              <a:r>
                <a:rPr lang="en-US" sz="2100" dirty="0"/>
                <a:t> </a:t>
              </a:r>
              <a:r>
                <a:rPr lang="en-US" sz="2100" dirty="0" err="1"/>
                <a:t>lệ</a:t>
              </a:r>
              <a:r>
                <a:rPr lang="en-US" sz="2100" dirty="0"/>
                <a:t> chia </a:t>
              </a:r>
              <a:r>
                <a:rPr lang="en-US" sz="2100" dirty="0" err="1"/>
                <a:t>sẻ</a:t>
              </a:r>
              <a:r>
                <a:rPr lang="en-US" sz="2100" dirty="0"/>
                <a:t> </a:t>
              </a:r>
              <a:r>
                <a:rPr lang="en-US" sz="2100" dirty="0" err="1"/>
                <a:t>của</a:t>
              </a:r>
              <a:r>
                <a:rPr lang="en-US" sz="2100" dirty="0"/>
                <a:t> </a:t>
              </a:r>
              <a:r>
                <a:rPr lang="en-US" sz="2100" dirty="0" err="1"/>
                <a:t>bên</a:t>
              </a:r>
              <a:r>
                <a:rPr lang="en-US" sz="2100" dirty="0"/>
                <a:t> </a:t>
              </a:r>
              <a:r>
                <a:rPr lang="en-US" sz="2100" dirty="0" err="1"/>
                <a:t>mua</a:t>
              </a:r>
              <a:endParaRPr lang="en-US" sz="2100" dirty="0"/>
            </a:p>
            <a:p>
              <a:pPr>
                <a:lnSpc>
                  <a:spcPct val="90000"/>
                </a:lnSpc>
              </a:pP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81125"/>
            <a:ext cx="8382000" cy="4714875"/>
          </a:xfrm>
        </p:spPr>
        <p:txBody>
          <a:bodyPr/>
          <a:lstStyle/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cộng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ưu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đãi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- </a:t>
            </a: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CPIF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Cost Plus Incentive Fee</a:t>
            </a:r>
            <a:r>
              <a:rPr lang="en-US" sz="2500" dirty="0"/>
              <a:t>): </a:t>
            </a:r>
            <a:r>
              <a:rPr lang="vi-VN" sz="2500" dirty="0"/>
              <a:t>b</a:t>
            </a:r>
            <a:r>
              <a:rPr lang="en-US" sz="2500" dirty="0" err="1"/>
              <a:t>ên</a:t>
            </a:r>
            <a:r>
              <a:rPr lang="en-US" sz="2500" dirty="0"/>
              <a:t> </a:t>
            </a:r>
            <a:r>
              <a:rPr lang="en-US" sz="2500" dirty="0" err="1"/>
              <a:t>mua</a:t>
            </a:r>
            <a:r>
              <a:rPr lang="en-US" sz="2500" dirty="0"/>
              <a:t> </a:t>
            </a:r>
            <a:r>
              <a:rPr lang="en-US" sz="2500" dirty="0" err="1"/>
              <a:t>trả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bán</a:t>
            </a:r>
            <a:r>
              <a:rPr lang="en-US" sz="2500" dirty="0"/>
              <a:t> </a:t>
            </a:r>
            <a:r>
              <a:rPr lang="en-US" sz="2500" dirty="0" err="1"/>
              <a:t>phí</a:t>
            </a:r>
            <a:r>
              <a:rPr lang="en-US" sz="2500" dirty="0"/>
              <a:t> </a:t>
            </a: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, </a:t>
            </a:r>
            <a:r>
              <a:rPr lang="en-US" sz="2500" dirty="0" err="1"/>
              <a:t>cộng</a:t>
            </a:r>
            <a:r>
              <a:rPr lang="en-US" sz="2500" dirty="0"/>
              <a:t> </a:t>
            </a:r>
            <a:r>
              <a:rPr lang="en-US" sz="2500" dirty="0" err="1"/>
              <a:t>thêm</a:t>
            </a:r>
            <a:r>
              <a:rPr lang="en-US" sz="2500" dirty="0"/>
              <a:t> </a:t>
            </a:r>
            <a:r>
              <a:rPr lang="en-US" sz="2500" dirty="0" err="1"/>
              <a:t>phí</a:t>
            </a:r>
            <a:r>
              <a:rPr lang="en-US" sz="2500" dirty="0"/>
              <a:t> </a:t>
            </a:r>
            <a:r>
              <a:rPr lang="en-US" sz="2500" dirty="0" err="1"/>
              <a:t>định</a:t>
            </a:r>
            <a:r>
              <a:rPr lang="en-US" sz="2500" dirty="0"/>
              <a:t> </a:t>
            </a:r>
            <a:r>
              <a:rPr lang="en-US" sz="2500" dirty="0" err="1"/>
              <a:t>trước</a:t>
            </a:r>
            <a:r>
              <a:rPr lang="en-US" sz="2500" dirty="0"/>
              <a:t> và hoa </a:t>
            </a:r>
            <a:r>
              <a:rPr lang="en-US" sz="2500" dirty="0" err="1"/>
              <a:t>hồng</a:t>
            </a:r>
            <a:r>
              <a:rPr lang="en-US" sz="2500" dirty="0"/>
              <a:t>. 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cộng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cố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định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- </a:t>
            </a: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CPFF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Cost Plus Fixed Fee</a:t>
            </a:r>
            <a:r>
              <a:rPr lang="en-US" sz="2500" dirty="0"/>
              <a:t>):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mua</a:t>
            </a:r>
            <a:r>
              <a:rPr lang="en-US" sz="2500" dirty="0"/>
              <a:t> </a:t>
            </a:r>
            <a:r>
              <a:rPr lang="en-US" sz="2500" dirty="0" err="1"/>
              <a:t>trả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bán</a:t>
            </a:r>
            <a:r>
              <a:rPr lang="en-US" sz="2500" dirty="0"/>
              <a:t> chi </a:t>
            </a:r>
            <a:r>
              <a:rPr lang="en-US" sz="2500" dirty="0" err="1"/>
              <a:t>phí</a:t>
            </a:r>
            <a:r>
              <a:rPr lang="en-US" sz="2500" dirty="0"/>
              <a:t> </a:t>
            </a: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, </a:t>
            </a:r>
            <a:r>
              <a:rPr lang="en-US" sz="2500" dirty="0" err="1"/>
              <a:t>cộng</a:t>
            </a:r>
            <a:r>
              <a:rPr lang="en-US" sz="2500" dirty="0"/>
              <a:t> </a:t>
            </a:r>
            <a:r>
              <a:rPr lang="en-US" sz="2500" dirty="0" err="1"/>
              <a:t>thêm</a:t>
            </a:r>
            <a:r>
              <a:rPr lang="en-US" sz="2500" dirty="0"/>
              <a:t> </a:t>
            </a:r>
            <a:r>
              <a:rPr lang="en-US" sz="2500" dirty="0" err="1"/>
              <a:t>phí</a:t>
            </a:r>
            <a:r>
              <a:rPr lang="en-US" sz="2500" dirty="0"/>
              <a:t> </a:t>
            </a:r>
            <a:r>
              <a:rPr lang="en-US" sz="2500" dirty="0" err="1"/>
              <a:t>cố</a:t>
            </a:r>
            <a:r>
              <a:rPr lang="en-US" sz="2500" dirty="0"/>
              <a:t> </a:t>
            </a:r>
            <a:r>
              <a:rPr lang="en-US" sz="2500" dirty="0" err="1"/>
              <a:t>định</a:t>
            </a:r>
            <a:r>
              <a:rPr lang="en-US" sz="2500" dirty="0"/>
              <a:t> - </a:t>
            </a:r>
            <a:r>
              <a:rPr lang="en-US" sz="2500" dirty="0" err="1"/>
              <a:t>dựa</a:t>
            </a:r>
            <a:r>
              <a:rPr lang="en-US" sz="2500" dirty="0"/>
              <a:t> </a:t>
            </a:r>
            <a:r>
              <a:rPr lang="en-US" sz="2500" dirty="0" err="1"/>
              <a:t>trên</a:t>
            </a:r>
            <a:r>
              <a:rPr lang="en-US" sz="2500" dirty="0"/>
              <a:t> </a:t>
            </a:r>
            <a:r>
              <a:rPr lang="en-US" sz="2500" dirty="0" err="1"/>
              <a:t>tỷ</a:t>
            </a:r>
            <a:r>
              <a:rPr lang="en-US" sz="2500" dirty="0"/>
              <a:t> </a:t>
            </a:r>
            <a:r>
              <a:rPr lang="en-US" sz="2500" dirty="0" err="1"/>
              <a:t>lệ</a:t>
            </a:r>
            <a:r>
              <a:rPr lang="en-US" sz="2500" dirty="0"/>
              <a:t> </a:t>
            </a:r>
            <a:r>
              <a:rPr lang="en-US" sz="2500" dirty="0" err="1"/>
              <a:t>ước</a:t>
            </a:r>
            <a:r>
              <a:rPr lang="en-US" sz="2500" dirty="0"/>
              <a:t> </a:t>
            </a:r>
            <a:r>
              <a:rPr lang="en-US" sz="2500" dirty="0" err="1"/>
              <a:t>lượng</a:t>
            </a:r>
            <a:r>
              <a:rPr lang="en-US" sz="2500" dirty="0"/>
              <a:t>.</a:t>
            </a:r>
          </a:p>
          <a:p>
            <a:pPr marL="457200" indent="-457200" algn="just">
              <a:spcBef>
                <a:spcPts val="1200"/>
              </a:spcBef>
              <a:spcAft>
                <a:spcPts val="600"/>
              </a:spcAft>
            </a:pP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Chi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phí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cộng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tỷ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lệ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- </a:t>
            </a:r>
            <a:r>
              <a:rPr lang="en-US" sz="25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CPPC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500" dirty="0"/>
              <a:t>(</a:t>
            </a:r>
            <a:r>
              <a:rPr lang="en-US" sz="2500" dirty="0">
                <a:solidFill>
                  <a:srgbClr val="0070C0"/>
                </a:solidFill>
              </a:rPr>
              <a:t>Cost Plus Percentage of Costs</a:t>
            </a:r>
            <a:r>
              <a:rPr lang="en-US" sz="2500" dirty="0"/>
              <a:t>):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mua</a:t>
            </a:r>
            <a:r>
              <a:rPr lang="en-US" sz="2500" dirty="0"/>
              <a:t> </a:t>
            </a:r>
            <a:r>
              <a:rPr lang="en-US" sz="2500" dirty="0" err="1"/>
              <a:t>trả</a:t>
            </a:r>
            <a:r>
              <a:rPr lang="en-US" sz="2500" dirty="0"/>
              <a:t> </a:t>
            </a:r>
            <a:r>
              <a:rPr lang="en-US" sz="2500" dirty="0" err="1"/>
              <a:t>cho</a:t>
            </a:r>
            <a:r>
              <a:rPr lang="en-US" sz="2500" dirty="0"/>
              <a:t> </a:t>
            </a:r>
            <a:r>
              <a:rPr lang="en-US" sz="2500" dirty="0" err="1"/>
              <a:t>bên</a:t>
            </a:r>
            <a:r>
              <a:rPr lang="en-US" sz="2500" dirty="0"/>
              <a:t> </a:t>
            </a:r>
            <a:r>
              <a:rPr lang="en-US" sz="2500" dirty="0" err="1"/>
              <a:t>bán</a:t>
            </a:r>
            <a:r>
              <a:rPr lang="en-US" sz="2500" dirty="0"/>
              <a:t> chi </a:t>
            </a:r>
            <a:r>
              <a:rPr lang="en-US" sz="2500" dirty="0" err="1"/>
              <a:t>phí</a:t>
            </a:r>
            <a:r>
              <a:rPr lang="en-US" sz="2500" dirty="0"/>
              <a:t> </a:t>
            </a:r>
            <a:r>
              <a:rPr lang="en-US" sz="2500" dirty="0" err="1"/>
              <a:t>thực</a:t>
            </a:r>
            <a:r>
              <a:rPr lang="en-US" sz="2500" dirty="0"/>
              <a:t> </a:t>
            </a:r>
            <a:r>
              <a:rPr lang="en-US" sz="2500" dirty="0" err="1"/>
              <a:t>hiện</a:t>
            </a:r>
            <a:r>
              <a:rPr lang="en-US" sz="2500" dirty="0"/>
              <a:t>, </a:t>
            </a:r>
            <a:r>
              <a:rPr lang="en-US" sz="2500" dirty="0" err="1"/>
              <a:t>cộng</a:t>
            </a:r>
            <a:r>
              <a:rPr lang="en-US" sz="2500" dirty="0"/>
              <a:t> </a:t>
            </a:r>
            <a:r>
              <a:rPr lang="en-US" sz="2500" dirty="0" err="1"/>
              <a:t>tỷ</a:t>
            </a:r>
            <a:r>
              <a:rPr lang="en-US" sz="2500" dirty="0"/>
              <a:t> </a:t>
            </a:r>
            <a:r>
              <a:rPr lang="en-US" sz="2500" dirty="0" err="1"/>
              <a:t>lệ</a:t>
            </a:r>
            <a:r>
              <a:rPr lang="en-US" sz="2500" dirty="0"/>
              <a:t> </a:t>
            </a:r>
            <a:r>
              <a:rPr lang="en-US" sz="2500" dirty="0" err="1"/>
              <a:t>định</a:t>
            </a:r>
            <a:r>
              <a:rPr lang="en-US" sz="2500" dirty="0"/>
              <a:t> </a:t>
            </a:r>
            <a:r>
              <a:rPr lang="en-US" sz="2500" dirty="0" err="1"/>
              <a:t>trước</a:t>
            </a:r>
            <a:r>
              <a:rPr lang="en-US" sz="2500" dirty="0"/>
              <a:t> - </a:t>
            </a:r>
            <a:r>
              <a:rPr lang="en-US" sz="2500" dirty="0" err="1"/>
              <a:t>dựa</a:t>
            </a:r>
            <a:r>
              <a:rPr lang="en-US" sz="2500" dirty="0"/>
              <a:t> </a:t>
            </a:r>
            <a:r>
              <a:rPr lang="en-US" sz="2500" dirty="0" err="1"/>
              <a:t>trên</a:t>
            </a:r>
            <a:r>
              <a:rPr lang="en-US" sz="2500" dirty="0"/>
              <a:t> </a:t>
            </a:r>
            <a:r>
              <a:rPr lang="en-US" sz="2500" dirty="0" err="1"/>
              <a:t>tổng</a:t>
            </a:r>
            <a:r>
              <a:rPr lang="en-US" sz="2500" dirty="0"/>
              <a:t> chi </a:t>
            </a:r>
            <a:r>
              <a:rPr lang="en-US" sz="2500" dirty="0" err="1"/>
              <a:t>phí</a:t>
            </a:r>
            <a:r>
              <a:rPr lang="en-US" sz="2500" dirty="0"/>
              <a:t>.   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vi-VN" sz="4000" dirty="0">
                <a:solidFill>
                  <a:schemeClr val="tx1"/>
                </a:solidFill>
              </a:rPr>
              <a:t>Hợp đồng bồi hoàn chi phí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867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0B06D5-2D61-4FDF-9D04-A5A3262FBFF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46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1981200"/>
            <a:ext cx="9134475" cy="2752725"/>
          </a:xfrm>
          <a:prstGeom prst="rect">
            <a:avLst/>
          </a:prstGeom>
        </p:spPr>
      </p:pic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Rủi</a:t>
            </a:r>
            <a:r>
              <a:rPr lang="en-US" sz="3600" dirty="0"/>
              <a:t> </a:t>
            </a:r>
            <a:r>
              <a:rPr lang="en-US" sz="3600" dirty="0" err="1"/>
              <a:t>ro</a:t>
            </a:r>
            <a:r>
              <a:rPr lang="en-US" sz="3600" dirty="0"/>
              <a:t> và </a:t>
            </a:r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loại</a:t>
            </a:r>
            <a:r>
              <a:rPr lang="en-US" sz="3600" dirty="0"/>
              <a:t> </a:t>
            </a:r>
            <a:r>
              <a:rPr lang="en-US" sz="3600" dirty="0" err="1"/>
              <a:t>hợp</a:t>
            </a:r>
            <a:r>
              <a:rPr lang="en-US" sz="3600" dirty="0"/>
              <a:t> </a:t>
            </a:r>
            <a:r>
              <a:rPr lang="en-US" sz="3600" dirty="0" err="1"/>
              <a:t>đồng</a:t>
            </a:r>
            <a:endParaRPr lang="en-US" sz="3600" dirty="0"/>
          </a:p>
        </p:txBody>
      </p:sp>
      <p:sp>
        <p:nvSpPr>
          <p:cNvPr id="2970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413FDE19-3269-4EF4-B273-BC6D5960C9D6}" type="slidenum">
              <a:rPr lang="en-US" smtClean="0"/>
              <a:pPr>
                <a:buFontTx/>
                <a:buNone/>
                <a:defRPr/>
              </a:pPr>
              <a:t>19</a:t>
            </a:fld>
            <a:endParaRPr lang="en-US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-228600" y="2819400"/>
            <a:ext cx="1979364" cy="938937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3600" dirty="0">
                <a:solidFill>
                  <a:srgbClr val="FF0000"/>
                </a:solidFill>
              </a:rPr>
              <a:t>CPPC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295400" y="2819400"/>
            <a:ext cx="1979364" cy="938937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3600" dirty="0"/>
              <a:t>CPFF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2745036" y="2819400"/>
            <a:ext cx="1979364" cy="938937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3600" dirty="0"/>
              <a:t>CPIF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>
          <a:xfrm>
            <a:off x="4417764" y="2794863"/>
            <a:ext cx="1979364" cy="938937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3600" dirty="0"/>
              <a:t>FPIF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5906247" y="2794863"/>
            <a:ext cx="1979364" cy="938937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2800" dirty="0"/>
              <a:t>FP-EPA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7391400" y="2794863"/>
            <a:ext cx="1979364" cy="938937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3600" dirty="0">
                <a:solidFill>
                  <a:srgbClr val="FF0000"/>
                </a:solidFill>
              </a:rPr>
              <a:t>FFP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610600" cy="36576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đào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thanh </a:t>
            </a:r>
            <a:r>
              <a:rPr lang="en-US" dirty="0" err="1"/>
              <a:t>toán</a:t>
            </a:r>
            <a:r>
              <a:rPr lang="en-US" dirty="0"/>
              <a:t>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Điều khoản chấm dứt</a:t>
            </a:r>
            <a:r>
              <a:rPr lang="vi-VN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termination clause</a:t>
            </a:r>
            <a:r>
              <a:rPr lang="en-US" dirty="0"/>
              <a:t>):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chấm</a:t>
            </a:r>
            <a:r>
              <a:rPr lang="en-US" dirty="0"/>
              <a:t> </a:t>
            </a:r>
            <a:r>
              <a:rPr lang="en-US" dirty="0" err="1"/>
              <a:t>dứt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. </a:t>
            </a: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Các</a:t>
            </a:r>
            <a:r>
              <a:rPr lang="en-US" sz="4000" dirty="0"/>
              <a:t> </a:t>
            </a:r>
            <a:r>
              <a:rPr lang="en-US" sz="4000" dirty="0" err="1"/>
              <a:t>điều</a:t>
            </a:r>
            <a:r>
              <a:rPr lang="en-US" sz="4000" dirty="0"/>
              <a:t> </a:t>
            </a:r>
            <a:r>
              <a:rPr lang="en-US" sz="4000" dirty="0" err="1"/>
              <a:t>khoản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đồng</a:t>
            </a:r>
            <a:endParaRPr lang="en-US" sz="4000" dirty="0"/>
          </a:p>
        </p:txBody>
      </p:sp>
      <p:sp>
        <p:nvSpPr>
          <p:cNvPr id="3072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980B4E-E5B2-4099-B6BF-220DC4CA12BE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458200" cy="320040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Phán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gia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Nghiên </a:t>
            </a:r>
            <a:r>
              <a:rPr lang="en-US" dirty="0" err="1"/>
              <a:t>cứu</a:t>
            </a:r>
            <a:r>
              <a:rPr lang="en-US" dirty="0"/>
              <a:t> thị </a:t>
            </a:r>
            <a:r>
              <a:rPr lang="en-US" dirty="0" err="1"/>
              <a:t>trường</a:t>
            </a:r>
            <a:endParaRPr lang="en-US" dirty="0"/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hay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làm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make-or-buy</a:t>
            </a:r>
            <a:r>
              <a:rPr lang="en-US" dirty="0"/>
              <a:t>).</a:t>
            </a: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Công</a:t>
            </a:r>
            <a:r>
              <a:rPr lang="en-US" sz="4000" dirty="0"/>
              <a:t> </a:t>
            </a:r>
            <a:r>
              <a:rPr lang="en-US" sz="4000" dirty="0" err="1"/>
              <a:t>cụ</a:t>
            </a:r>
            <a:r>
              <a:rPr lang="en-US" sz="4000" dirty="0"/>
              <a:t> và </a:t>
            </a:r>
            <a:r>
              <a:rPr lang="en-US" sz="4000" dirty="0" err="1"/>
              <a:t>kỹ</a:t>
            </a:r>
            <a:r>
              <a:rPr lang="en-US" sz="4000" dirty="0"/>
              <a:t> </a:t>
            </a:r>
            <a:r>
              <a:rPr lang="en-US" sz="4000" dirty="0" err="1"/>
              <a:t>thuật</a:t>
            </a:r>
            <a:endParaRPr lang="en-US" sz="4000" dirty="0"/>
          </a:p>
        </p:txBody>
      </p:sp>
      <p:sp>
        <p:nvSpPr>
          <p:cNvPr id="2355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336A6E4-8C51-4EE5-B090-693B6DAC92D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114800"/>
            <a:ext cx="3657600" cy="1997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mua</a:t>
            </a:r>
            <a:r>
              <a:rPr lang="en-US" sz="3600" dirty="0"/>
              <a:t> hay </a:t>
            </a:r>
            <a:r>
              <a:rPr lang="en-US" sz="3600" dirty="0" err="1"/>
              <a:t>làm</a:t>
            </a:r>
            <a:r>
              <a:rPr lang="en-US" sz="3600" dirty="0"/>
              <a:t>?</a:t>
            </a:r>
          </a:p>
        </p:txBody>
      </p:sp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9110A1-6B21-448D-ADD4-36570B50C4C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33400" y="1600200"/>
            <a:ext cx="8229600" cy="373380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2600" dirty="0" err="1"/>
              <a:t>Thuê</a:t>
            </a:r>
            <a:r>
              <a:rPr lang="en-US" sz="2600" dirty="0"/>
              <a:t>: 800$/</a:t>
            </a:r>
            <a:r>
              <a:rPr lang="en-US" sz="2600" dirty="0" err="1"/>
              <a:t>ngày</a:t>
            </a:r>
            <a:r>
              <a:rPr lang="en-US" sz="2600" dirty="0"/>
              <a:t>. </a:t>
            </a:r>
            <a:r>
              <a:rPr lang="en-US" sz="2600" dirty="0" err="1"/>
              <a:t>Mua</a:t>
            </a:r>
            <a:r>
              <a:rPr lang="en-US" sz="2600" dirty="0"/>
              <a:t>: 12.000$, chi </a:t>
            </a:r>
            <a:r>
              <a:rPr lang="en-US" sz="2600" dirty="0" err="1"/>
              <a:t>phí</a:t>
            </a:r>
            <a:r>
              <a:rPr lang="en-US" sz="2600" dirty="0"/>
              <a:t> </a:t>
            </a:r>
            <a:r>
              <a:rPr lang="en-US" sz="2600" dirty="0" err="1"/>
              <a:t>hoạt</a:t>
            </a:r>
            <a:r>
              <a:rPr lang="en-US" sz="2600" dirty="0"/>
              <a:t> </a:t>
            </a:r>
            <a:r>
              <a:rPr lang="en-US" sz="2600" dirty="0" err="1"/>
              <a:t>động</a:t>
            </a:r>
            <a:r>
              <a:rPr lang="en-US" sz="2600" dirty="0"/>
              <a:t> 400$/</a:t>
            </a:r>
            <a:r>
              <a:rPr lang="en-US" sz="2600" dirty="0" err="1"/>
              <a:t>ngày</a:t>
            </a:r>
            <a:r>
              <a:rPr lang="en-US" sz="2600" dirty="0"/>
              <a:t>. </a:t>
            </a:r>
            <a:r>
              <a:rPr lang="en-US" sz="2600" dirty="0" err="1"/>
              <a:t>Cần</a:t>
            </a:r>
            <a:r>
              <a:rPr lang="en-US" sz="2600" dirty="0"/>
              <a:t> </a:t>
            </a:r>
            <a:r>
              <a:rPr lang="en-US" sz="2600" dirty="0" err="1"/>
              <a:t>bao</a:t>
            </a:r>
            <a:r>
              <a:rPr lang="en-US" sz="2600" dirty="0"/>
              <a:t> </a:t>
            </a:r>
            <a:r>
              <a:rPr lang="en-US" sz="2600" dirty="0" err="1"/>
              <a:t>lâu</a:t>
            </a:r>
            <a:r>
              <a:rPr lang="en-US" sz="2600" dirty="0"/>
              <a:t> </a:t>
            </a:r>
            <a:r>
              <a:rPr lang="en-US" sz="2600" dirty="0" err="1"/>
              <a:t>để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mua</a:t>
            </a:r>
            <a:r>
              <a:rPr lang="en-US" sz="2600" dirty="0"/>
              <a:t> </a:t>
            </a:r>
            <a:r>
              <a:rPr lang="en-US" sz="2600" dirty="0" err="1"/>
              <a:t>bằng</a:t>
            </a:r>
            <a:r>
              <a:rPr lang="en-US" sz="2600" dirty="0"/>
              <a:t> </a:t>
            </a:r>
            <a:r>
              <a:rPr lang="en-US" sz="2600" dirty="0" err="1"/>
              <a:t>giá</a:t>
            </a:r>
            <a:r>
              <a:rPr lang="en-US" sz="2600" dirty="0"/>
              <a:t> </a:t>
            </a:r>
            <a:r>
              <a:rPr lang="en-US" sz="2600" dirty="0" err="1"/>
              <a:t>thuê</a:t>
            </a:r>
            <a:r>
              <a:rPr lang="en-US" sz="2600" dirty="0"/>
              <a:t>?</a:t>
            </a:r>
          </a:p>
          <a:p>
            <a:endParaRPr lang="en-US" sz="1800" dirty="0"/>
          </a:p>
          <a:p>
            <a:r>
              <a:rPr lang="en-US" sz="2600" dirty="0" err="1"/>
              <a:t>Giả</a:t>
            </a:r>
            <a:r>
              <a:rPr lang="en-US" sz="2600" dirty="0"/>
              <a:t> </a:t>
            </a: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i="1" dirty="0">
                <a:solidFill>
                  <a:srgbClr val="0070C0"/>
                </a:solidFill>
              </a:rPr>
              <a:t>X</a:t>
            </a:r>
            <a:r>
              <a:rPr lang="en-US" sz="2600" dirty="0"/>
              <a:t> </a:t>
            </a:r>
            <a:r>
              <a:rPr lang="en-US" sz="2600" dirty="0" err="1"/>
              <a:t>là</a:t>
            </a:r>
            <a:r>
              <a:rPr lang="en-US" sz="2600" dirty="0"/>
              <a:t> </a:t>
            </a:r>
            <a:r>
              <a:rPr lang="en-US" sz="2600" dirty="0" err="1"/>
              <a:t>số</a:t>
            </a:r>
            <a:r>
              <a:rPr lang="en-US" sz="2600" dirty="0"/>
              <a:t> </a:t>
            </a:r>
            <a:r>
              <a:rPr lang="en-US" sz="2600" dirty="0" err="1"/>
              <a:t>ngày</a:t>
            </a:r>
            <a:r>
              <a:rPr lang="en-US" sz="2600" dirty="0"/>
              <a:t> </a:t>
            </a: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: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/>
              <a:t>12.000 + 400</a:t>
            </a:r>
            <a:r>
              <a:rPr lang="en-US" sz="2400" i="1" dirty="0">
                <a:solidFill>
                  <a:srgbClr val="0070C0"/>
                </a:solidFill>
              </a:rPr>
              <a:t>X</a:t>
            </a:r>
            <a:r>
              <a:rPr lang="en-US" sz="2400" dirty="0"/>
              <a:t> = 800</a:t>
            </a:r>
            <a:r>
              <a:rPr lang="en-US" sz="2400" i="1" dirty="0">
                <a:solidFill>
                  <a:srgbClr val="0070C0"/>
                </a:solidFill>
              </a:rPr>
              <a:t>X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12.000 = 400</a:t>
            </a:r>
            <a:r>
              <a:rPr lang="en-US" sz="2400" i="1" dirty="0">
                <a:solidFill>
                  <a:srgbClr val="0070C0"/>
                </a:solidFill>
              </a:rPr>
              <a:t>X</a:t>
            </a:r>
          </a:p>
          <a:p>
            <a:pPr lvl="1">
              <a:buFont typeface="Wingdings" pitchFamily="2" charset="2"/>
              <a:buNone/>
            </a:pP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i="1" dirty="0">
                <a:solidFill>
                  <a:srgbClr val="0070C0"/>
                </a:solidFill>
                <a:sym typeface="Wingdings" panose="05000000000000000000" pitchFamily="2" charset="2"/>
              </a:rPr>
              <a:t>X</a:t>
            </a:r>
            <a:r>
              <a:rPr lang="en-US" sz="2400" dirty="0"/>
              <a:t> = </a:t>
            </a:r>
            <a:r>
              <a:rPr lang="en-US" sz="2400" b="1" dirty="0">
                <a:solidFill>
                  <a:srgbClr val="FF0000"/>
                </a:solidFill>
              </a:rPr>
              <a:t>30</a:t>
            </a:r>
          </a:p>
          <a:p>
            <a:pPr lvl="1">
              <a:buFont typeface="Wingdings" pitchFamily="2" charset="2"/>
              <a:buNone/>
            </a:pPr>
            <a:endParaRPr lang="en-US" sz="1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600" dirty="0" err="1"/>
              <a:t>Nếu</a:t>
            </a:r>
            <a:r>
              <a:rPr lang="en-US" sz="2600" dirty="0"/>
              <a:t> </a:t>
            </a:r>
            <a:r>
              <a:rPr lang="en-US" sz="2600" dirty="0" err="1"/>
              <a:t>sử</a:t>
            </a:r>
            <a:r>
              <a:rPr lang="en-US" sz="2600" dirty="0"/>
              <a:t> </a:t>
            </a:r>
            <a:r>
              <a:rPr lang="en-US" sz="2600" dirty="0" err="1"/>
              <a:t>dụng</a:t>
            </a:r>
            <a:r>
              <a:rPr lang="en-US" sz="2600" dirty="0"/>
              <a:t> </a:t>
            </a:r>
            <a:r>
              <a:rPr lang="en-US" sz="2600" dirty="0" err="1"/>
              <a:t>trên</a:t>
            </a:r>
            <a:r>
              <a:rPr lang="en-US" sz="2600" dirty="0"/>
              <a:t> 30 </a:t>
            </a:r>
            <a:r>
              <a:rPr lang="en-US" sz="2600" dirty="0" err="1"/>
              <a:t>ngày</a:t>
            </a:r>
            <a:r>
              <a:rPr lang="en-US" sz="2600" dirty="0"/>
              <a:t>, </a:t>
            </a:r>
            <a:r>
              <a:rPr lang="en-US" sz="2600" dirty="0" err="1"/>
              <a:t>mua</a:t>
            </a:r>
            <a:r>
              <a:rPr lang="en-US" sz="2600" dirty="0"/>
              <a:t> </a:t>
            </a:r>
            <a:r>
              <a:rPr lang="en-US" sz="2600" dirty="0" err="1"/>
              <a:t>có</a:t>
            </a:r>
            <a:r>
              <a:rPr lang="en-US" sz="2600" dirty="0"/>
              <a:t> </a:t>
            </a:r>
            <a:r>
              <a:rPr lang="en-US" sz="2600" dirty="0" err="1"/>
              <a:t>lợi</a:t>
            </a:r>
            <a:r>
              <a:rPr lang="en-US" sz="2600" dirty="0"/>
              <a:t> </a:t>
            </a:r>
            <a:r>
              <a:rPr lang="en-US" sz="2600" dirty="0" err="1"/>
              <a:t>hơn</a:t>
            </a:r>
            <a:r>
              <a:rPr lang="en-US" sz="2600" dirty="0"/>
              <a:t>…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229600" cy="3014662"/>
          </a:xfrm>
        </p:spPr>
        <p:txBody>
          <a:bodyPr/>
          <a:lstStyle/>
          <a:p>
            <a:pPr algn="just">
              <a:spcBef>
                <a:spcPct val="100000"/>
              </a:spcBef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Kế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hoạch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quản lý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hàng</a:t>
            </a:r>
            <a:r>
              <a:rPr lang="en-US"/>
              <a:t> (</a:t>
            </a:r>
            <a:r>
              <a:rPr lang="en-US">
                <a:solidFill>
                  <a:srgbClr val="0070C0"/>
                </a:solidFill>
              </a:rPr>
              <a:t>plan procurement management</a:t>
            </a:r>
            <a:r>
              <a:rPr lang="en-US"/>
              <a:t>):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quản lý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.</a:t>
            </a:r>
          </a:p>
          <a:p>
            <a:pPr algn="just">
              <a:spcBef>
                <a:spcPct val="100000"/>
              </a:spcBef>
            </a:pP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…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Kế</a:t>
            </a:r>
            <a:r>
              <a:rPr lang="en-US" sz="4000" dirty="0"/>
              <a:t> </a:t>
            </a:r>
            <a:r>
              <a:rPr lang="en-US" sz="4000" dirty="0" err="1"/>
              <a:t>hoạch</a:t>
            </a:r>
            <a:r>
              <a:rPr lang="en-US" sz="4000" dirty="0"/>
              <a:t> quản lý </a:t>
            </a:r>
            <a:r>
              <a:rPr lang="en-US" sz="4000" dirty="0" err="1"/>
              <a:t>mua</a:t>
            </a:r>
            <a:r>
              <a:rPr lang="en-US" sz="4000" dirty="0"/>
              <a:t> </a:t>
            </a:r>
            <a:r>
              <a:rPr lang="en-US" sz="4000" dirty="0" err="1"/>
              <a:t>hàng</a:t>
            </a:r>
            <a:endParaRPr lang="en-US" sz="4000" dirty="0"/>
          </a:p>
        </p:txBody>
      </p:sp>
      <p:sp>
        <p:nvSpPr>
          <p:cNvPr id="317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4B204B-A1F8-43E5-87CE-25EB9AE68A0D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876800"/>
            <a:ext cx="2203680" cy="1655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458200" cy="4572000"/>
          </a:xfrm>
        </p:spPr>
        <p:txBody>
          <a:bodyPr/>
          <a:lstStyle/>
          <a:p>
            <a:pPr algn="just">
              <a:spcBef>
                <a:spcPct val="60000"/>
              </a:spcBef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Tuyên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bố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công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việc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SOW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Statement Of Work</a:t>
            </a:r>
            <a:r>
              <a:rPr lang="en-US" dirty="0"/>
              <a:t>):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.  </a:t>
            </a:r>
          </a:p>
          <a:p>
            <a:pPr marL="690562" lvl="2" indent="-342900" algn="just">
              <a:spcBef>
                <a:spcPts val="600"/>
              </a:spcBef>
              <a:buClr>
                <a:srgbClr val="0070C0"/>
              </a:buClr>
              <a:buSzPct val="68000"/>
              <a:buFont typeface="Arial" panose="020B0604020202020204" pitchFamily="34" charset="0"/>
              <a:buChar char="•"/>
            </a:pPr>
            <a:r>
              <a:rPr lang="en-US" sz="2400" dirty="0"/>
              <a:t>SOW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tuyên</a:t>
            </a:r>
            <a:r>
              <a:rPr lang="en-US" sz="2400" dirty="0"/>
              <a:t> </a:t>
            </a:r>
            <a:r>
              <a:rPr lang="en-US" sz="2400" dirty="0" err="1"/>
              <a:t>bố</a:t>
            </a:r>
            <a:r>
              <a:rPr lang="en-US" sz="2400" dirty="0"/>
              <a:t> </a:t>
            </a:r>
            <a:r>
              <a:rPr lang="en-US" sz="2400" dirty="0" err="1"/>
              <a:t>phạm</a:t>
            </a:r>
            <a:r>
              <a:rPr lang="en-US" sz="2400" dirty="0"/>
              <a:t> vi. </a:t>
            </a:r>
            <a:endParaRPr lang="en-US" sz="2200" dirty="0"/>
          </a:p>
          <a:p>
            <a:pPr algn="just">
              <a:spcBef>
                <a:spcPts val="1800"/>
              </a:spcBef>
              <a:spcAft>
                <a:spcPts val="1800"/>
              </a:spcAft>
            </a:pPr>
            <a:r>
              <a:rPr lang="en-US" dirty="0" err="1"/>
              <a:t>Nếu</a:t>
            </a:r>
            <a:r>
              <a:rPr lang="en-US" dirty="0"/>
              <a:t> SOW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: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hợp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SOW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contract SOW</a:t>
            </a:r>
            <a:r>
              <a:rPr lang="en-US" dirty="0"/>
              <a:t>).</a:t>
            </a:r>
          </a:p>
          <a:p>
            <a:pPr algn="just">
              <a:spcBef>
                <a:spcPts val="600"/>
              </a:spcBef>
            </a:pPr>
            <a:r>
              <a:rPr lang="en-US" dirty="0"/>
              <a:t>SOW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.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SOW</a:t>
            </a:r>
          </a:p>
        </p:txBody>
      </p:sp>
      <p:sp>
        <p:nvSpPr>
          <p:cNvPr id="3277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BF945B9-749D-47D0-A8CD-DB4BEE2BEEB9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4724400"/>
            <a:ext cx="1390650" cy="1854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Mẫu</a:t>
            </a:r>
            <a:r>
              <a:rPr lang="en-US" sz="3600" dirty="0"/>
              <a:t> </a:t>
            </a:r>
            <a:r>
              <a:rPr lang="en-US" sz="3600" dirty="0" err="1"/>
              <a:t>biểu</a:t>
            </a:r>
            <a:r>
              <a:rPr lang="en-US" sz="3600" dirty="0"/>
              <a:t> SOW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2945C7FB-3CB8-4B83-AA03-FA8D3225C0C8}" type="slidenum">
              <a:rPr lang="en-US" smtClean="0"/>
              <a:pPr>
                <a:buFontTx/>
                <a:buNone/>
                <a:defRPr/>
              </a:pPr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46589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1676400"/>
            <a:ext cx="8763000" cy="4038600"/>
          </a:xfrm>
        </p:spPr>
        <p:txBody>
          <a:bodyPr/>
          <a:lstStyle/>
          <a:p>
            <a:pPr marL="571500" indent="-342900" algn="just">
              <a:spcAft>
                <a:spcPts val="18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xuất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nhận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thầu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RFP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request for proposals</a:t>
            </a:r>
            <a:r>
              <a:rPr lang="en-US" dirty="0"/>
              <a:t>):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. </a:t>
            </a:r>
            <a:r>
              <a:rPr lang="en-US" sz="2400" dirty="0"/>
              <a:t> </a:t>
            </a:r>
            <a:r>
              <a:rPr lang="en-US" dirty="0"/>
              <a:t> </a:t>
            </a:r>
          </a:p>
          <a:p>
            <a:pPr marL="571500" indent="-342900" algn="just">
              <a:spcAft>
                <a:spcPts val="6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xuất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báo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RFQ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requests for quotes</a:t>
            </a:r>
            <a:r>
              <a:rPr lang="en-US" dirty="0"/>
              <a:t>):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. </a:t>
            </a:r>
          </a:p>
          <a:p>
            <a:pPr marL="827088" lvl="1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Gói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thầu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bid</a:t>
            </a:r>
            <a:r>
              <a:rPr lang="en-US" sz="2400" dirty="0"/>
              <a:t>) hay </a:t>
            </a:r>
            <a:r>
              <a:rPr lang="en-US" sz="2400" dirty="0" err="1"/>
              <a:t>đấu</a:t>
            </a:r>
            <a:r>
              <a:rPr lang="en-US" sz="2400" dirty="0"/>
              <a:t> </a:t>
            </a:r>
            <a:r>
              <a:rPr lang="en-US" sz="2400" dirty="0" err="1"/>
              <a:t>thầu</a:t>
            </a:r>
            <a:r>
              <a:rPr lang="en-US" sz="2400" dirty="0"/>
              <a:t>/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: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báo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hạng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bên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.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8382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Tài</a:t>
            </a:r>
            <a:r>
              <a:rPr lang="en-US" sz="4000" dirty="0"/>
              <a:t> </a:t>
            </a:r>
            <a:r>
              <a:rPr lang="en-US" sz="4000" dirty="0" err="1"/>
              <a:t>liệu</a:t>
            </a:r>
            <a:r>
              <a:rPr lang="en-US" sz="4000" dirty="0"/>
              <a:t> </a:t>
            </a:r>
            <a:r>
              <a:rPr lang="en-US" sz="4000" dirty="0" err="1"/>
              <a:t>mua</a:t>
            </a:r>
            <a:r>
              <a:rPr lang="en-US" sz="4000" dirty="0"/>
              <a:t> </a:t>
            </a:r>
            <a:r>
              <a:rPr lang="en-US" sz="4000" dirty="0" err="1"/>
              <a:t>hàng</a:t>
            </a:r>
            <a:endParaRPr lang="en-US" sz="4000" dirty="0"/>
          </a:p>
        </p:txBody>
      </p:sp>
      <p:sp>
        <p:nvSpPr>
          <p:cNvPr id="3379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F993A75-EDC4-483F-8E71-601B7B742A2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Mẫu</a:t>
            </a:r>
            <a:r>
              <a:rPr lang="en-US" sz="3600" dirty="0"/>
              <a:t> </a:t>
            </a:r>
            <a:r>
              <a:rPr lang="en-US" sz="3600" dirty="0" err="1"/>
              <a:t>biểu</a:t>
            </a:r>
            <a:r>
              <a:rPr lang="en-US" sz="3600" dirty="0"/>
              <a:t> </a:t>
            </a:r>
            <a:r>
              <a:rPr lang="en-US" sz="3600" dirty="0" err="1"/>
              <a:t>đề</a:t>
            </a:r>
            <a:r>
              <a:rPr lang="en-US" sz="3600" dirty="0"/>
              <a:t> </a:t>
            </a:r>
            <a:r>
              <a:rPr lang="en-US" sz="3600" dirty="0" err="1"/>
              <a:t>xuất</a:t>
            </a:r>
            <a:r>
              <a:rPr lang="en-US" sz="3600" dirty="0"/>
              <a:t> </a:t>
            </a:r>
            <a:r>
              <a:rPr lang="en-US" sz="3600" dirty="0" err="1"/>
              <a:t>nhận</a:t>
            </a:r>
            <a:r>
              <a:rPr lang="en-US" sz="3600" dirty="0"/>
              <a:t> </a:t>
            </a:r>
            <a:r>
              <a:rPr lang="en-US" sz="3600" dirty="0" err="1"/>
              <a:t>thầu</a:t>
            </a:r>
            <a:r>
              <a:rPr lang="en-US" sz="3600" dirty="0"/>
              <a:t>..</a:t>
            </a:r>
          </a:p>
        </p:txBody>
      </p:sp>
      <p:sp>
        <p:nvSpPr>
          <p:cNvPr id="205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9F78C362-7FEF-4EB6-BCED-C6E2CF2029C9}" type="slidenum">
              <a:rPr lang="en-US" smtClean="0"/>
              <a:pPr>
                <a:buFontTx/>
                <a:buNone/>
                <a:defRPr/>
              </a:pPr>
              <a:t>27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185" y="0"/>
            <a:ext cx="9201150" cy="6867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228725"/>
            <a:ext cx="8982075" cy="3419475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505200" y="4003553"/>
            <a:ext cx="1989265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mua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hàng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[2/4]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581" y="5351362"/>
            <a:ext cx="1092819" cy="1524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5334000"/>
            <a:ext cx="171261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4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2"/>
          </a:xfrm>
        </p:spPr>
        <p:txBody>
          <a:bodyPr/>
          <a:lstStyle/>
          <a:p>
            <a:pPr marL="365125" lvl="1" indent="-255588" algn="just">
              <a:spcBef>
                <a:spcPts val="1200"/>
              </a:spcBef>
              <a:spcAft>
                <a:spcPts val="600"/>
              </a:spcAft>
              <a:buSzPct val="68000"/>
              <a:buFont typeface="Wingdings 3" pitchFamily="18" charset="2"/>
              <a:buChar char=""/>
            </a:pPr>
            <a:r>
              <a:rPr lang="en-US" sz="2700" b="1" dirty="0" err="1"/>
              <a:t>Tiến</a:t>
            </a:r>
            <a:r>
              <a:rPr lang="en-US" sz="2700" b="1" dirty="0"/>
              <a:t> </a:t>
            </a:r>
            <a:r>
              <a:rPr lang="en-US" sz="2700" b="1" dirty="0" err="1"/>
              <a:t>hành</a:t>
            </a:r>
            <a:r>
              <a:rPr lang="en-US" sz="2700" b="1" dirty="0"/>
              <a:t> </a:t>
            </a:r>
            <a:r>
              <a:rPr lang="en-US" sz="2700" b="1" dirty="0" err="1"/>
              <a:t>mua</a:t>
            </a:r>
            <a:r>
              <a:rPr lang="en-US" sz="2700" b="1" dirty="0"/>
              <a:t> </a:t>
            </a:r>
            <a:r>
              <a:rPr lang="en-US" sz="2700" b="1" dirty="0" err="1"/>
              <a:t>hàng</a:t>
            </a:r>
            <a:r>
              <a:rPr lang="en-US" sz="2700" b="1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0070C0"/>
                </a:solidFill>
              </a:rPr>
              <a:t>conduct procurements</a:t>
            </a:r>
            <a:r>
              <a:rPr lang="en-US" sz="2700" dirty="0"/>
              <a:t>): </a:t>
            </a:r>
            <a:r>
              <a:rPr lang="en-US" sz="2700" dirty="0" err="1"/>
              <a:t>phản</a:t>
            </a:r>
            <a:r>
              <a:rPr lang="en-US" sz="2700" dirty="0"/>
              <a:t> </a:t>
            </a:r>
            <a:r>
              <a:rPr lang="en-US" sz="2700" dirty="0" err="1"/>
              <a:t>hồi</a:t>
            </a:r>
            <a:r>
              <a:rPr lang="en-US" sz="2700" dirty="0"/>
              <a:t> </a:t>
            </a:r>
            <a:r>
              <a:rPr lang="en-US" sz="2700" dirty="0" err="1"/>
              <a:t>người</a:t>
            </a:r>
            <a:r>
              <a:rPr lang="en-US" sz="2700" dirty="0"/>
              <a:t> </a:t>
            </a:r>
            <a:r>
              <a:rPr lang="en-US" sz="2700" dirty="0" err="1"/>
              <a:t>bán</a:t>
            </a:r>
            <a:r>
              <a:rPr lang="en-US" sz="2700" dirty="0"/>
              <a:t>, </a:t>
            </a:r>
            <a:r>
              <a:rPr lang="en-US" sz="2700" dirty="0" err="1"/>
              <a:t>chọn</a:t>
            </a:r>
            <a:r>
              <a:rPr lang="en-US" sz="2700" dirty="0"/>
              <a:t> </a:t>
            </a:r>
            <a:r>
              <a:rPr lang="en-US" sz="2700" dirty="0" err="1"/>
              <a:t>nhà</a:t>
            </a:r>
            <a:r>
              <a:rPr lang="en-US" sz="2700" dirty="0"/>
              <a:t> </a:t>
            </a:r>
            <a:r>
              <a:rPr lang="en-US" sz="2700" dirty="0" err="1"/>
              <a:t>cung</a:t>
            </a:r>
            <a:r>
              <a:rPr lang="en-US" sz="2700" dirty="0"/>
              <a:t> </a:t>
            </a:r>
            <a:r>
              <a:rPr lang="en-US" sz="2700" dirty="0" err="1"/>
              <a:t>cấp</a:t>
            </a:r>
            <a:r>
              <a:rPr lang="en-US" sz="2700" dirty="0"/>
              <a:t>, và </a:t>
            </a:r>
            <a:r>
              <a:rPr lang="en-US" sz="2700" dirty="0" err="1"/>
              <a:t>hợp</a:t>
            </a:r>
            <a:r>
              <a:rPr lang="en-US" sz="2700" dirty="0"/>
              <a:t> </a:t>
            </a:r>
            <a:r>
              <a:rPr lang="en-US" sz="2700" dirty="0" err="1"/>
              <a:t>đồng</a:t>
            </a:r>
            <a:r>
              <a:rPr lang="en-US" sz="2700" dirty="0"/>
              <a:t>. </a:t>
            </a:r>
          </a:p>
          <a:p>
            <a:pPr marL="365125" lvl="1" indent="-255588" algn="just">
              <a:spcBef>
                <a:spcPts val="1200"/>
              </a:spcBef>
              <a:spcAft>
                <a:spcPts val="600"/>
              </a:spcAft>
              <a:buSzPct val="68000"/>
              <a:buFont typeface="Wingdings 3" pitchFamily="18" charset="2"/>
              <a:buChar char=""/>
            </a:pPr>
            <a:r>
              <a:rPr lang="en-US" sz="2700" dirty="0" err="1"/>
              <a:t>Các</a:t>
            </a:r>
            <a:r>
              <a:rPr lang="en-US" sz="2700" dirty="0"/>
              <a:t> </a:t>
            </a:r>
            <a:r>
              <a:rPr lang="en-US" sz="2700" dirty="0" err="1"/>
              <a:t>bước</a:t>
            </a:r>
            <a:r>
              <a:rPr lang="en-US" sz="2700" dirty="0"/>
              <a:t> </a:t>
            </a:r>
            <a:r>
              <a:rPr lang="en-US" sz="2700" dirty="0" err="1"/>
              <a:t>tiến</a:t>
            </a:r>
            <a:r>
              <a:rPr lang="en-US" sz="2700" dirty="0"/>
              <a:t> </a:t>
            </a:r>
            <a:r>
              <a:rPr lang="en-US" sz="2700" dirty="0" err="1"/>
              <a:t>hành</a:t>
            </a:r>
            <a:r>
              <a:rPr lang="en-US" sz="2700" dirty="0"/>
              <a:t> </a:t>
            </a:r>
            <a:r>
              <a:rPr lang="en-US" sz="2700" dirty="0" err="1"/>
              <a:t>mua</a:t>
            </a:r>
            <a:r>
              <a:rPr lang="en-US" sz="2700" dirty="0"/>
              <a:t> </a:t>
            </a:r>
            <a:r>
              <a:rPr lang="en-US" sz="2700" dirty="0" err="1"/>
              <a:t>hàng</a:t>
            </a:r>
            <a:r>
              <a:rPr lang="en-US" sz="2700" dirty="0"/>
              <a:t>:</a:t>
            </a:r>
          </a:p>
          <a:p>
            <a:pPr lvl="1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Bố</a:t>
            </a:r>
            <a:r>
              <a:rPr lang="en-US" sz="2400" dirty="0"/>
              <a:t> </a:t>
            </a:r>
            <a:r>
              <a:rPr lang="en-US" sz="2400" dirty="0" err="1"/>
              <a:t>cáo</a:t>
            </a:r>
            <a:r>
              <a:rPr lang="en-US" sz="2400" dirty="0"/>
              <a:t>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phẩm</a:t>
            </a:r>
            <a:r>
              <a:rPr lang="en-US" sz="2400" dirty="0"/>
              <a:t>/</a:t>
            </a:r>
            <a:r>
              <a:rPr lang="en-US" sz="2400" dirty="0" err="1"/>
              <a:t>hàng</a:t>
            </a:r>
            <a:r>
              <a:rPr lang="en-US" sz="2400" dirty="0"/>
              <a:t> </a:t>
            </a:r>
            <a:r>
              <a:rPr lang="en-US" sz="2400" dirty="0" err="1"/>
              <a:t>hóa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pPr lvl="1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Gửi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tiềm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endParaRPr lang="en-US" sz="2400" dirty="0"/>
          </a:p>
          <a:p>
            <a:pPr lvl="1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gói</a:t>
            </a:r>
            <a:r>
              <a:rPr lang="en-US" sz="2400" dirty="0"/>
              <a:t> </a:t>
            </a:r>
            <a:r>
              <a:rPr lang="en-US" sz="2400" dirty="0" err="1"/>
              <a:t>thầu</a:t>
            </a:r>
            <a:endParaRPr lang="en-US" sz="2400" dirty="0"/>
          </a:p>
          <a:p>
            <a:pPr lvl="1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endParaRPr lang="en-US" sz="2400" dirty="0"/>
          </a:p>
          <a:p>
            <a:pPr lvl="1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Ký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..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2 </a:t>
            </a:r>
            <a:r>
              <a:rPr lang="en-US" sz="4400" dirty="0" err="1">
                <a:solidFill>
                  <a:srgbClr val="FF0000"/>
                </a:solidFill>
              </a:rPr>
              <a:t>Tiến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hành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mua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hàng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43CBFC-1AEC-48DD-831D-766E041FB50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2050" name="Picture 2" descr="http://annualreports.teliasonera.com/global/2015/icons/icon_sid8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4648200"/>
            <a:ext cx="21336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tờ</a:t>
            </a:r>
            <a:r>
              <a:rPr lang="en-US" sz="3600" dirty="0"/>
              <a:t> </a:t>
            </a:r>
            <a:r>
              <a:rPr lang="en-US" sz="3600" dirty="0" err="1"/>
              <a:t>đánh</a:t>
            </a:r>
            <a:r>
              <a:rPr lang="en-US" sz="3600" dirty="0"/>
              <a:t> </a:t>
            </a:r>
            <a:r>
              <a:rPr lang="en-US" sz="3600" dirty="0" err="1"/>
              <a:t>giá</a:t>
            </a:r>
            <a:r>
              <a:rPr lang="en-US" sz="3600" dirty="0"/>
              <a:t> </a:t>
            </a:r>
            <a:r>
              <a:rPr lang="en-US" sz="3600" dirty="0" err="1"/>
              <a:t>đề</a:t>
            </a:r>
            <a:r>
              <a:rPr lang="en-US" sz="3600" dirty="0"/>
              <a:t> </a:t>
            </a:r>
            <a:r>
              <a:rPr lang="en-US" sz="3600" dirty="0" err="1"/>
              <a:t>xuất</a:t>
            </a:r>
            <a:endParaRPr lang="en-US" sz="3600" dirty="0"/>
          </a:p>
        </p:txBody>
      </p:sp>
      <p:sp>
        <p:nvSpPr>
          <p:cNvPr id="3789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724356FC-FDD0-4B1A-9A13-FBE296947772}" type="slidenum">
              <a:rPr lang="en-US" smtClean="0"/>
              <a:pPr>
                <a:buFontTx/>
                <a:buNone/>
                <a:defRPr/>
              </a:pPr>
              <a:t>30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" y="1600200"/>
            <a:ext cx="9139003" cy="396893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229600" cy="32432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và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,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… 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đề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xuất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cuối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cùng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và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tốt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nhất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BAFO</a:t>
            </a:r>
            <a:r>
              <a:rPr lang="en-US" dirty="0"/>
              <a:t>).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,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và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.</a:t>
            </a: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endParaRPr lang="en-US" dirty="0"/>
          </a:p>
        </p:txBody>
      </p:sp>
      <p:sp>
        <p:nvSpPr>
          <p:cNvPr id="3891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BFAA506-4B0A-47CB-B837-0D9315B88B6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1026" name="Picture 2" descr="http://png.clipart.me/graphics/thumbs/129/best-offer-label-red_1296408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4572000"/>
            <a:ext cx="2057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228725"/>
            <a:ext cx="8982075" cy="3419475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562600" y="4003553"/>
            <a:ext cx="1905000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mua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hàng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[3/4]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5334000"/>
            <a:ext cx="1092819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41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458200" cy="36576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b="1" dirty="0" err="1"/>
              <a:t>Kiểm</a:t>
            </a:r>
            <a:r>
              <a:rPr lang="en-US" b="1" dirty="0"/>
              <a:t> </a:t>
            </a:r>
            <a:r>
              <a:rPr lang="en-US" b="1" dirty="0" err="1"/>
              <a:t>soát</a:t>
            </a:r>
            <a:r>
              <a:rPr lang="en-US" b="1" dirty="0"/>
              <a:t> </a:t>
            </a:r>
            <a:r>
              <a:rPr lang="en-US" b="1" dirty="0" err="1"/>
              <a:t>mua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control procurements</a:t>
            </a:r>
            <a:r>
              <a:rPr lang="en-US" dirty="0"/>
              <a:t>):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lý,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lý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soạn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và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…</a:t>
            </a: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82000" cy="696913"/>
          </a:xfrm>
        </p:spPr>
        <p:txBody>
          <a:bodyPr>
            <a:no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3 </a:t>
            </a:r>
            <a:r>
              <a:rPr lang="en-US" sz="4400" dirty="0" err="1">
                <a:solidFill>
                  <a:srgbClr val="FF0000"/>
                </a:solidFill>
              </a:rPr>
              <a:t>Kiểm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soát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mua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hàng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096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0A574B-4578-41CA-A94F-454DC323C4B8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72001"/>
            <a:ext cx="2209800" cy="18981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5105400" cy="20574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và </a:t>
            </a:r>
            <a:r>
              <a:rPr lang="en-US" dirty="0" err="1"/>
              <a:t>phê</a:t>
            </a:r>
            <a:r>
              <a:rPr lang="en-US" dirty="0"/>
              <a:t>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CCB </a:t>
            </a:r>
            <a:r>
              <a:rPr lang="vi-VN" dirty="0"/>
              <a:t>[</a:t>
            </a:r>
            <a:r>
              <a:rPr lang="vi-VN" dirty="0">
                <a:solidFill>
                  <a:srgbClr val="0070C0"/>
                </a:solidFill>
              </a:rPr>
              <a:t>48</a:t>
            </a:r>
            <a:r>
              <a:rPr lang="vi-VN" dirty="0"/>
              <a:t>]</a:t>
            </a:r>
            <a:r>
              <a:rPr lang="en-US" dirty="0"/>
              <a:t>...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57188"/>
            <a:ext cx="8382000" cy="785812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Kiểm</a:t>
            </a:r>
            <a:r>
              <a:rPr lang="en-US" sz="4000" dirty="0"/>
              <a:t> </a:t>
            </a:r>
            <a:r>
              <a:rPr lang="en-US" sz="4000" dirty="0" err="1"/>
              <a:t>soát</a:t>
            </a:r>
            <a:r>
              <a:rPr lang="en-US" sz="4000" dirty="0"/>
              <a:t> </a:t>
            </a:r>
            <a:r>
              <a:rPr lang="en-US" sz="4000" dirty="0" err="1"/>
              <a:t>thay</a:t>
            </a:r>
            <a:r>
              <a:rPr lang="en-US" sz="4000" dirty="0"/>
              <a:t> </a:t>
            </a:r>
            <a:r>
              <a:rPr lang="en-US" sz="4000" dirty="0" err="1"/>
              <a:t>đổi</a:t>
            </a:r>
            <a:r>
              <a:rPr lang="en-US" sz="4000" dirty="0"/>
              <a:t> </a:t>
            </a:r>
            <a:r>
              <a:rPr lang="en-US" sz="4000" dirty="0" err="1"/>
              <a:t>hợp</a:t>
            </a:r>
            <a:r>
              <a:rPr lang="en-US" sz="4000" dirty="0"/>
              <a:t> </a:t>
            </a:r>
            <a:r>
              <a:rPr lang="en-US" sz="4000" dirty="0" err="1"/>
              <a:t>đồng</a:t>
            </a:r>
            <a:endParaRPr lang="en-US" sz="5400" dirty="0"/>
          </a:p>
        </p:txBody>
      </p:sp>
      <p:sp>
        <p:nvSpPr>
          <p:cNvPr id="419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6B980F-3402-4E3C-94E2-7FE3D52DC30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24000"/>
            <a:ext cx="2743200" cy="1676400"/>
          </a:xfrm>
          <a:prstGeom prst="rect">
            <a:avLst/>
          </a:prstGeom>
        </p:spPr>
      </p:pic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304800" y="3429000"/>
            <a:ext cx="8686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spcBef>
                <a:spcPts val="600"/>
              </a:spcBef>
              <a:spcAft>
                <a:spcPts val="1800"/>
              </a:spcAft>
            </a:pP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3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và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và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: </a:t>
            </a:r>
            <a:r>
              <a:rPr lang="en-US" dirty="0" err="1"/>
              <a:t>hệ</a:t>
            </a:r>
            <a:r>
              <a:rPr lang="en-US" dirty="0"/>
              <a:t> thống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soát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,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…</a:t>
            </a:r>
          </a:p>
          <a:p>
            <a:pPr marL="109537" indent="0" algn="just">
              <a:spcBef>
                <a:spcPts val="600"/>
              </a:spcBef>
              <a:spcAft>
                <a:spcPts val="600"/>
              </a:spcAft>
              <a:buFont typeface="Wingdings 3" pitchFamily="18" charset="2"/>
              <a:buNone/>
            </a:pP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" y="1228725"/>
            <a:ext cx="8982075" cy="3419475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7315200" y="4003553"/>
            <a:ext cx="1678329" cy="64464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mua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hàng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40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4000" dirty="0">
                <a:solidFill>
                  <a:schemeClr val="bg1">
                    <a:lumMod val="65000"/>
                  </a:schemeClr>
                </a:solidFill>
              </a:rPr>
              <a:t> [4/4]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5301205"/>
            <a:ext cx="1658524" cy="155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48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505200"/>
          </a:xfrm>
        </p:spPr>
        <p:txBody>
          <a:bodyPr/>
          <a:lstStyle/>
          <a:p>
            <a:pPr algn="just">
              <a:spcAft>
                <a:spcPts val="2400"/>
              </a:spcAft>
            </a:pP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thúc</a:t>
            </a:r>
            <a:r>
              <a:rPr lang="en-US" b="1" dirty="0"/>
              <a:t> </a:t>
            </a:r>
            <a:r>
              <a:rPr lang="en-US" b="1" dirty="0" err="1"/>
              <a:t>mua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close procurements</a:t>
            </a:r>
            <a:r>
              <a:rPr lang="en-US" dirty="0"/>
              <a:t>):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và thanh lý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,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…</a:t>
            </a:r>
          </a:p>
          <a:p>
            <a:pPr marL="690562" lvl="2" indent="-342900" algn="just">
              <a:spcBef>
                <a:spcPts val="400"/>
              </a:spcBef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hoàn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r>
              <a:rPr lang="en-US" sz="2400" dirty="0"/>
              <a:t> </a:t>
            </a:r>
            <a:r>
              <a:rPr lang="en-US" sz="2400" dirty="0" err="1"/>
              <a:t>xác</a:t>
            </a:r>
            <a:endParaRPr lang="en-US" sz="2400" dirty="0"/>
          </a:p>
          <a:p>
            <a:pPr marL="690562" lvl="2" indent="-342900" algn="just">
              <a:spcBef>
                <a:spcPts val="400"/>
              </a:spcBef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cuối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endParaRPr lang="en-US" sz="2400" dirty="0"/>
          </a:p>
          <a:p>
            <a:pPr marL="690562" lvl="2" indent="-342900" algn="just">
              <a:spcBef>
                <a:spcPts val="400"/>
              </a:spcBef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 err="1"/>
              <a:t>Lưu</a:t>
            </a:r>
            <a:r>
              <a:rPr lang="en-US" sz="2400" dirty="0"/>
              <a:t> thông tin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lai</a:t>
            </a:r>
            <a:r>
              <a:rPr lang="en-US" sz="2400" dirty="0"/>
              <a:t>. 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305800" cy="868362"/>
          </a:xfrm>
        </p:spPr>
        <p:txBody>
          <a:bodyPr>
            <a:norm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</a:rPr>
              <a:t>4 </a:t>
            </a:r>
            <a:r>
              <a:rPr lang="en-US" sz="4400" dirty="0" err="1">
                <a:solidFill>
                  <a:srgbClr val="FF0000"/>
                </a:solidFill>
              </a:rPr>
              <a:t>Kết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thúc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mua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hàng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506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4242A53-61F3-489D-84B9-2DA17E6ABBE8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114800"/>
            <a:ext cx="1726417" cy="23466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610600" cy="3886200"/>
          </a:xfrm>
        </p:spPr>
        <p:txBody>
          <a:bodyPr/>
          <a:lstStyle/>
          <a:p>
            <a:pPr marL="1370013" lvl="2" algn="just">
              <a:lnSpc>
                <a:spcPct val="90000"/>
              </a:lnSpc>
              <a:buFont typeface="Wingdings" pitchFamily="2" charset="2"/>
              <a:buNone/>
            </a:pPr>
            <a:endParaRPr lang="en-US" dirty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phòng</a:t>
            </a:r>
            <a:r>
              <a:rPr lang="en-US" dirty="0"/>
              <a:t>: </a:t>
            </a:r>
          </a:p>
          <a:p>
            <a:pPr marL="712788" lvl="1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MS Word: </a:t>
            </a:r>
            <a:r>
              <a:rPr lang="en-US" sz="2400" dirty="0" err="1"/>
              <a:t>viết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 và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endParaRPr lang="en-US" sz="2400" dirty="0"/>
          </a:p>
          <a:p>
            <a:pPr marL="712788" lvl="1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MS Excel: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cấp</a:t>
            </a:r>
            <a:endParaRPr lang="en-US" sz="2400" dirty="0"/>
          </a:p>
          <a:p>
            <a:pPr marL="712788" lvl="1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Power point: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bày</a:t>
            </a:r>
            <a:r>
              <a:rPr lang="en-US" sz="2400" dirty="0"/>
              <a:t> thông tin </a:t>
            </a:r>
            <a:r>
              <a:rPr lang="en-US" sz="2400" dirty="0" err="1"/>
              <a:t>mua</a:t>
            </a:r>
            <a:r>
              <a:rPr lang="en-US" sz="2400" dirty="0"/>
              <a:t> </a:t>
            </a:r>
            <a:r>
              <a:rPr lang="en-US" sz="2400" dirty="0" err="1"/>
              <a:t>hàng</a:t>
            </a:r>
            <a:r>
              <a:rPr lang="en-US" sz="2400" dirty="0"/>
              <a:t>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: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dõi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.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Internet: </a:t>
            </a:r>
            <a:r>
              <a:rPr lang="en-US" dirty="0" err="1"/>
              <a:t>tìm</a:t>
            </a:r>
            <a:r>
              <a:rPr lang="en-US" dirty="0"/>
              <a:t> thông tin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... </a:t>
            </a:r>
          </a:p>
        </p:txBody>
      </p: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382000" cy="762000"/>
          </a:xfrm>
        </p:spPr>
        <p:txBody>
          <a:bodyPr>
            <a:normAutofit/>
          </a:bodyPr>
          <a:lstStyle/>
          <a:p>
            <a:r>
              <a:rPr lang="en-US" sz="3600" dirty="0" err="1"/>
              <a:t>Phần</a:t>
            </a:r>
            <a:r>
              <a:rPr lang="en-US" sz="3600" dirty="0"/>
              <a:t> </a:t>
            </a:r>
            <a:r>
              <a:rPr lang="en-US" sz="3600" dirty="0" err="1"/>
              <a:t>mềm</a:t>
            </a:r>
            <a:r>
              <a:rPr lang="en-US" sz="3600" dirty="0"/>
              <a:t> </a:t>
            </a:r>
            <a:r>
              <a:rPr lang="en-US" sz="3600" dirty="0" err="1"/>
              <a:t>hỗ</a:t>
            </a:r>
            <a:r>
              <a:rPr lang="en-US" sz="3600" dirty="0"/>
              <a:t> </a:t>
            </a:r>
            <a:r>
              <a:rPr lang="en-US" sz="3600" dirty="0" err="1"/>
              <a:t>trợ</a:t>
            </a:r>
            <a:r>
              <a:rPr lang="en-US" sz="3600" dirty="0"/>
              <a:t> quản lý </a:t>
            </a:r>
            <a:r>
              <a:rPr lang="en-US" sz="3600" dirty="0" err="1"/>
              <a:t>mua</a:t>
            </a:r>
            <a:r>
              <a:rPr lang="en-US" sz="3600" dirty="0"/>
              <a:t> </a:t>
            </a:r>
            <a:r>
              <a:rPr lang="en-US" sz="3600" dirty="0" err="1"/>
              <a:t>hàng</a:t>
            </a:r>
            <a:endParaRPr lang="en-US" sz="3600" dirty="0"/>
          </a:p>
        </p:txBody>
      </p:sp>
      <p:sp>
        <p:nvSpPr>
          <p:cNvPr id="4710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9E6F69-9A15-411D-859F-F2C2F66DEA6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081016"/>
            <a:ext cx="3657600" cy="1243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05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>
                <a:solidFill>
                  <a:srgbClr val="0070C0"/>
                </a:solidFill>
                <a:effectLst/>
              </a:rPr>
            </a:br>
            <a:r>
              <a:rPr lang="vi-VN" sz="4400">
                <a:solidFill>
                  <a:srgbClr val="0070C0"/>
                </a:solidFill>
                <a:effectLst/>
              </a:rPr>
              <a:t>TÓM </a:t>
            </a:r>
            <a:r>
              <a:rPr lang="vi-VN" sz="4400" dirty="0">
                <a:solidFill>
                  <a:srgbClr val="0070C0"/>
                </a:solidFill>
                <a:effectLst/>
              </a:rPr>
              <a:t>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62" y="4177844"/>
            <a:ext cx="201168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0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93838"/>
            <a:ext cx="8229600" cy="4525962"/>
          </a:xfrm>
        </p:spPr>
        <p:txBody>
          <a:bodyPr/>
          <a:lstStyle/>
          <a:p>
            <a:pPr algn="just"/>
            <a:r>
              <a:rPr lang="vi-VN" dirty="0"/>
              <a:t>Quản lý mua hàng dự án là thực hiện mua hàng hóa/sản phẩm và dịch vụ cho dự án từ bên ngoài tổ chức.</a:t>
            </a:r>
          </a:p>
          <a:p>
            <a:pPr algn="just"/>
            <a:endParaRPr lang="vi-VN" sz="1200" dirty="0"/>
          </a:p>
          <a:p>
            <a:pPr algn="just"/>
            <a:r>
              <a:rPr lang="vi-VN" dirty="0"/>
              <a:t>Quy trình chính của quản lý mua hàng dự án...</a:t>
            </a:r>
          </a:p>
          <a:p>
            <a:pPr algn="just"/>
            <a:endParaRPr lang="en-US" dirty="0"/>
          </a:p>
        </p:txBody>
      </p:sp>
      <p:sp>
        <p:nvSpPr>
          <p:cNvPr id="6144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err="1">
                <a:solidFill>
                  <a:srgbClr val="0070C0"/>
                </a:solidFill>
              </a:rPr>
              <a:t>Tóm</a:t>
            </a:r>
            <a:r>
              <a:rPr lang="en-US" sz="4000">
                <a:solidFill>
                  <a:srgbClr val="0070C0"/>
                </a:solidFill>
              </a:rPr>
              <a:t> tắt</a:t>
            </a:r>
            <a:endParaRPr lang="en-US" sz="4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224" y="3809999"/>
            <a:ext cx="5804576" cy="22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2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96957" y="1407698"/>
            <a:ext cx="7994248" cy="278330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Plan procurement management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Conduct procurements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Control procurements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70C0"/>
                </a:solidFill>
              </a:rPr>
              <a:t>Close procurements.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600" dirty="0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>
                <a:solidFill>
                  <a:srgbClr val="0070C0"/>
                </a:solidFill>
              </a:rPr>
              <a:t>Từ</a:t>
            </a:r>
            <a:r>
              <a:rPr lang="en-US" sz="4000" dirty="0">
                <a:solidFill>
                  <a:srgbClr val="0070C0"/>
                </a:solidFill>
              </a:rPr>
              <a:t> </a:t>
            </a:r>
            <a:r>
              <a:rPr lang="en-US" sz="4000" dirty="0" err="1">
                <a:solidFill>
                  <a:srgbClr val="0070C0"/>
                </a:solidFill>
              </a:rPr>
              <a:t>khóa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8849B8-F52D-4099-A420-1DE102B108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051"/>
          <a:stretch/>
        </p:blipFill>
        <p:spPr>
          <a:xfrm>
            <a:off x="5638800" y="1920184"/>
            <a:ext cx="2120800" cy="1508816"/>
          </a:xfrm>
          <a:prstGeom prst="rect">
            <a:avLst/>
          </a:prstGeom>
        </p:spPr>
      </p:pic>
      <p:sp>
        <p:nvSpPr>
          <p:cNvPr id="11" name="Rectangle 3">
            <a:extLst>
              <a:ext uri="{FF2B5EF4-FFF2-40B4-BE49-F238E27FC236}">
                <a16:creationId xmlns:a16="http://schemas.microsoft.com/office/drawing/2014/main" id="{4135CE55-B621-47CD-812F-6DABAB284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538" y="3657600"/>
            <a:ext cx="4743262" cy="2651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Font typeface="Arial" panose="020B0604020202020204" pitchFamily="34" charset="0"/>
              <a:buChar char="•"/>
            </a:pPr>
            <a:endParaRPr lang="en-US" sz="600"/>
          </a:p>
          <a:p>
            <a:pPr>
              <a:spcBef>
                <a:spcPts val="1200"/>
              </a:spcBef>
            </a:pPr>
            <a:r>
              <a:rPr lang="en-US"/>
              <a:t>Từ khóa liên quan:</a:t>
            </a:r>
            <a:endParaRPr lang="en-US" sz="2400">
              <a:solidFill>
                <a:srgbClr val="0070C0"/>
              </a:solidFill>
            </a:endParaRP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70C0"/>
                </a:solidFill>
              </a:rPr>
              <a:t>Contract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70C0"/>
                </a:solidFill>
              </a:rPr>
              <a:t>Make-or-buy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70C0"/>
                </a:solidFill>
              </a:rPr>
              <a:t>Proposal</a:t>
            </a:r>
          </a:p>
          <a:p>
            <a:pPr marL="509588" lvl="1" indent="-220663">
              <a:buFont typeface="Arial" panose="020B0604020202020204" pitchFamily="34" charset="0"/>
              <a:buChar char="•"/>
            </a:pPr>
            <a:r>
              <a:rPr lang="en-US" sz="22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PTA </a:t>
            </a:r>
            <a:r>
              <a:rPr lang="en-US" sz="2200">
                <a:solidFill>
                  <a:srgbClr val="0070C0"/>
                </a:solidFill>
              </a:rPr>
              <a:t>(Point Total Assumption)…</a:t>
            </a:r>
            <a:endParaRPr lang="en-US" sz="22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48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667000"/>
            <a:ext cx="4821382" cy="3657600"/>
          </a:xfrm>
          <a:prstGeom prst="rect">
            <a:avLst/>
          </a:prstGeom>
        </p:spPr>
      </p:pic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828800"/>
            <a:ext cx="7391400" cy="609600"/>
          </a:xfrm>
          <a:solidFill>
            <a:schemeClr val="bg2"/>
          </a:solidFill>
        </p:spPr>
        <p:txBody>
          <a:bodyPr/>
          <a:lstStyle/>
          <a:p>
            <a:pPr>
              <a:buSzPct val="100000"/>
            </a:pPr>
            <a:r>
              <a:rPr lang="vi-VN" dirty="0"/>
              <a:t>Tìm hiểu quy trình quản lý một dự án ERP...</a:t>
            </a:r>
            <a:endParaRPr lang="vi-VN" sz="2400" dirty="0"/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381000" y="228600"/>
            <a:ext cx="8382000" cy="1143000"/>
          </a:xfrm>
          <a:prstGeom prst="rect">
            <a:avLst/>
          </a:prstGeom>
          <a:noFill/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4000" dirty="0" err="1"/>
              <a:t>Bài</a:t>
            </a:r>
            <a:r>
              <a:rPr lang="en-US" sz="4000" dirty="0"/>
              <a:t> </a:t>
            </a:r>
            <a:r>
              <a:rPr lang="en-US" sz="4000" dirty="0" err="1"/>
              <a:t>đọc</a:t>
            </a:r>
            <a:r>
              <a:rPr lang="en-US" sz="4000" dirty="0"/>
              <a:t> </a:t>
            </a:r>
            <a:r>
              <a:rPr lang="en-US" sz="4000" dirty="0" err="1"/>
              <a:t>thêm</a:t>
            </a:r>
            <a:r>
              <a:rPr lang="en-US" sz="4000" dirty="0"/>
              <a:t> </a:t>
            </a:r>
            <a:r>
              <a:rPr lang="en-US" sz="4000" dirty="0" err="1"/>
              <a:t>về</a:t>
            </a:r>
            <a:r>
              <a:rPr lang="en-US" sz="4000" dirty="0"/>
              <a:t> </a:t>
            </a:r>
            <a:r>
              <a:rPr lang="en-US" sz="4000" dirty="0" err="1"/>
              <a:t>nhà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52823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993DF6-04DE-49F5-85F2-C7A451E1D89C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7601274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" y="2514600"/>
            <a:ext cx="8763000" cy="1349375"/>
          </a:xfrm>
        </p:spPr>
        <p:txBody>
          <a:bodyPr>
            <a:noAutofit/>
          </a:bodyPr>
          <a:lstStyle/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vi-VN" sz="4400" b="0">
                <a:effectLst/>
              </a:rPr>
              <a:t>Chương </a:t>
            </a:r>
            <a:r>
              <a:rPr lang="en-US" sz="4400" b="0">
                <a:effectLst/>
              </a:rPr>
              <a:t>cuối</a:t>
            </a:r>
            <a:br>
              <a:rPr sz="4400" b="0" dirty="0">
                <a:effectLst/>
              </a:rPr>
            </a:br>
            <a:r>
              <a:rPr lang="vi-VN" sz="3600" b="0" dirty="0">
                <a:effectLst/>
              </a:rPr>
              <a:t>QUẢN </a:t>
            </a:r>
            <a:r>
              <a:rPr lang="vi-VN" sz="3600" b="0">
                <a:effectLst/>
              </a:rPr>
              <a:t>LÝ </a:t>
            </a:r>
            <a:r>
              <a:rPr lang="en-US" sz="3600" b="0">
                <a:effectLst/>
              </a:rPr>
              <a:t>CÁC BÊN LIÊN QUAN DỰ ÁN</a:t>
            </a:r>
            <a:endParaRPr sz="4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0646961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4747</TotalTime>
  <Words>2208</Words>
  <Application>Microsoft Office PowerPoint</Application>
  <PresentationFormat>On-screen Show (4:3)</PresentationFormat>
  <Paragraphs>266</Paragraphs>
  <Slides>43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Arial</vt:lpstr>
      <vt:lpstr>Arial</vt:lpstr>
      <vt:lpstr>Arial Rounded MT Bold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Custom Design</vt:lpstr>
      <vt:lpstr>Theme1</vt:lpstr>
      <vt:lpstr>Chương 10 QUẢN LÝ MUA HÀNG DỰ ÁN </vt:lpstr>
      <vt:lpstr>Mục tiêu chương 10</vt:lpstr>
      <vt:lpstr>Khung quản lý dự án</vt:lpstr>
      <vt:lpstr> QUẢN LÝ MUA HÀNG DỰ ÁN </vt:lpstr>
      <vt:lpstr>QUẢN LÝ MUA HÀNG DỰ ÁN</vt:lpstr>
      <vt:lpstr>Tầm quan trọng của mua hàng</vt:lpstr>
      <vt:lpstr>Thuê gia công CNTT</vt:lpstr>
      <vt:lpstr>Hợp đồng</vt:lpstr>
      <vt:lpstr>Tương tác trong dự án [mua hàng]</vt:lpstr>
      <vt:lpstr>Quản lý mua hàng dự án [4]</vt:lpstr>
      <vt:lpstr>Quy trình quản lý mua hàng</vt:lpstr>
      <vt:lpstr>Tóm tắt quản lý mua hàng dự án</vt:lpstr>
      <vt:lpstr>Quản lý mua hàng dự án [1/4]</vt:lpstr>
      <vt:lpstr>1 Kế hoạch quản lý mua hàng</vt:lpstr>
      <vt:lpstr>Các loại hợp đồng</vt:lpstr>
      <vt:lpstr>Hợp đồng cố định giá </vt:lpstr>
      <vt:lpstr>PTA</vt:lpstr>
      <vt:lpstr>Hợp đồng bồi hoàn chi phí</vt:lpstr>
      <vt:lpstr>Rủi ro và các loại hợp đồng</vt:lpstr>
      <vt:lpstr>Các điều khoản hợp đồng</vt:lpstr>
      <vt:lpstr>Công cụ và kỹ thuật</vt:lpstr>
      <vt:lpstr>Ví dụ, mua hay làm?</vt:lpstr>
      <vt:lpstr>Kế hoạch quản lý mua hàng</vt:lpstr>
      <vt:lpstr>SOW</vt:lpstr>
      <vt:lpstr>Mẫu biểu SOW</vt:lpstr>
      <vt:lpstr>Tài liệu mua hàng</vt:lpstr>
      <vt:lpstr>Mẫu biểu đề xuất nhận thầu..</vt:lpstr>
      <vt:lpstr>Quản lý mua hàng dự án [2/4]</vt:lpstr>
      <vt:lpstr>2 Tiến hành mua hàng</vt:lpstr>
      <vt:lpstr>Ví dụ, tờ đánh giá đề xuất</vt:lpstr>
      <vt:lpstr>Lựa chọn nhà cung cấp</vt:lpstr>
      <vt:lpstr>Quản lý mua hàng dự án [3/4]</vt:lpstr>
      <vt:lpstr>3 Kiểm soát mua hàng</vt:lpstr>
      <vt:lpstr>Kiểm soát thay đổi hợp đồng</vt:lpstr>
      <vt:lpstr>Quản lý mua hàng dự án [4/4]</vt:lpstr>
      <vt:lpstr>4 Kết thúc mua hàng</vt:lpstr>
      <vt:lpstr>Phần mềm hỗ trợ quản lý mua hàng</vt:lpstr>
      <vt:lpstr> TÓM TẮT &amp; TỪ KHÓA </vt:lpstr>
      <vt:lpstr>Tóm tắt</vt:lpstr>
      <vt:lpstr>Từ khóa</vt:lpstr>
      <vt:lpstr>PowerPoint Presentation</vt:lpstr>
      <vt:lpstr>Q&amp;A</vt:lpstr>
      <vt:lpstr>Chương cuối QUẢN LÝ CÁC BÊN LIÊN QUAN DỰ ÁN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Bảo Trần</cp:lastModifiedBy>
  <cp:revision>512</cp:revision>
  <dcterms:created xsi:type="dcterms:W3CDTF">2001-07-05T23:10:12Z</dcterms:created>
  <dcterms:modified xsi:type="dcterms:W3CDTF">2025-06-09T04:25:44Z</dcterms:modified>
</cp:coreProperties>
</file>