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1" r:id="rId2"/>
  </p:sldMasterIdLst>
  <p:notesMasterIdLst>
    <p:notesMasterId r:id="rId63"/>
  </p:notesMasterIdLst>
  <p:handoutMasterIdLst>
    <p:handoutMasterId r:id="rId64"/>
  </p:handoutMasterIdLst>
  <p:sldIdLst>
    <p:sldId id="257" r:id="rId3"/>
    <p:sldId id="334" r:id="rId4"/>
    <p:sldId id="402" r:id="rId5"/>
    <p:sldId id="384" r:id="rId6"/>
    <p:sldId id="405" r:id="rId7"/>
    <p:sldId id="404" r:id="rId8"/>
    <p:sldId id="336" r:id="rId9"/>
    <p:sldId id="403" r:id="rId10"/>
    <p:sldId id="385" r:id="rId11"/>
    <p:sldId id="337" r:id="rId12"/>
    <p:sldId id="389" r:id="rId13"/>
    <p:sldId id="364" r:id="rId14"/>
    <p:sldId id="386" r:id="rId15"/>
    <p:sldId id="375" r:id="rId16"/>
    <p:sldId id="376" r:id="rId17"/>
    <p:sldId id="388" r:id="rId18"/>
    <p:sldId id="368" r:id="rId19"/>
    <p:sldId id="377" r:id="rId20"/>
    <p:sldId id="382" r:id="rId21"/>
    <p:sldId id="372" r:id="rId22"/>
    <p:sldId id="383" r:id="rId23"/>
    <p:sldId id="369" r:id="rId24"/>
    <p:sldId id="378" r:id="rId25"/>
    <p:sldId id="371" r:id="rId26"/>
    <p:sldId id="393" r:id="rId27"/>
    <p:sldId id="341" r:id="rId28"/>
    <p:sldId id="379" r:id="rId29"/>
    <p:sldId id="409" r:id="rId30"/>
    <p:sldId id="342" r:id="rId31"/>
    <p:sldId id="397" r:id="rId32"/>
    <p:sldId id="344" r:id="rId33"/>
    <p:sldId id="391" r:id="rId34"/>
    <p:sldId id="345" r:id="rId35"/>
    <p:sldId id="392" r:id="rId36"/>
    <p:sldId id="346" r:id="rId37"/>
    <p:sldId id="348" r:id="rId38"/>
    <p:sldId id="349" r:id="rId39"/>
    <p:sldId id="350" r:id="rId40"/>
    <p:sldId id="351" r:id="rId41"/>
    <p:sldId id="352" r:id="rId42"/>
    <p:sldId id="374" r:id="rId43"/>
    <p:sldId id="354" r:id="rId44"/>
    <p:sldId id="380" r:id="rId45"/>
    <p:sldId id="355" r:id="rId46"/>
    <p:sldId id="356" r:id="rId47"/>
    <p:sldId id="366" r:id="rId48"/>
    <p:sldId id="395" r:id="rId49"/>
    <p:sldId id="394" r:id="rId50"/>
    <p:sldId id="396" r:id="rId51"/>
    <p:sldId id="357" r:id="rId52"/>
    <p:sldId id="398" r:id="rId53"/>
    <p:sldId id="358" r:id="rId54"/>
    <p:sldId id="362" r:id="rId55"/>
    <p:sldId id="381" r:id="rId56"/>
    <p:sldId id="406" r:id="rId57"/>
    <p:sldId id="363" r:id="rId58"/>
    <p:sldId id="399" r:id="rId59"/>
    <p:sldId id="408" r:id="rId60"/>
    <p:sldId id="400" r:id="rId61"/>
    <p:sldId id="401" r:id="rId62"/>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92" autoAdjust="0"/>
    <p:restoredTop sz="85494" autoAdjust="0"/>
  </p:normalViewPr>
  <p:slideViewPr>
    <p:cSldViewPr>
      <p:cViewPr varScale="1">
        <p:scale>
          <a:sx n="77" d="100"/>
          <a:sy n="77" d="100"/>
        </p:scale>
        <p:origin x="96" y="12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2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 Nguyen" userId="29920a29033dd298" providerId="LiveId" clId="{5D14F476-BB22-4C63-A9F2-E1DE33F0B431}"/>
    <pc:docChg chg="undo custSel modSld">
      <pc:chgData name="Vi Nguyen" userId="29920a29033dd298" providerId="LiveId" clId="{5D14F476-BB22-4C63-A9F2-E1DE33F0B431}" dt="2023-01-29T10:19:38.109" v="33" actId="20577"/>
      <pc:docMkLst>
        <pc:docMk/>
      </pc:docMkLst>
      <pc:sldChg chg="modSp mod">
        <pc:chgData name="Vi Nguyen" userId="29920a29033dd298" providerId="LiveId" clId="{5D14F476-BB22-4C63-A9F2-E1DE33F0B431}" dt="2023-01-29T10:19:38.109" v="33" actId="20577"/>
        <pc:sldMkLst>
          <pc:docMk/>
          <pc:sldMk cId="0" sldId="257"/>
        </pc:sldMkLst>
        <pc:spChg chg="mod">
          <ac:chgData name="Vi Nguyen" userId="29920a29033dd298" providerId="LiveId" clId="{5D14F476-BB22-4C63-A9F2-E1DE33F0B431}" dt="2023-01-29T10:19:38.109" v="33" actId="20577"/>
          <ac:spMkLst>
            <pc:docMk/>
            <pc:sldMk cId="0" sldId="257"/>
            <ac:spMk id="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C65B926E-4E70-4E7C-A492-D0CDF3C7E1CF}" type="slidenum">
              <a:rPr lang="en-US"/>
              <a:pPr>
                <a:defRPr/>
              </a:pPr>
              <a:t>‹#›</a:t>
            </a:fld>
            <a:endParaRPr lang="en-US" dirty="0"/>
          </a:p>
        </p:txBody>
      </p:sp>
    </p:spTree>
    <p:extLst>
      <p:ext uri="{BB962C8B-B14F-4D97-AF65-F5344CB8AC3E}">
        <p14:creationId xmlns:p14="http://schemas.microsoft.com/office/powerpoint/2010/main" val="33218046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FB628D5B-A7C7-42E0-BFEE-8A6E6DE4D620}" type="slidenum">
              <a:rPr lang="en-US"/>
              <a:pPr>
                <a:defRPr/>
              </a:pPr>
              <a:t>‹#›</a:t>
            </a:fld>
            <a:endParaRPr lang="en-US" dirty="0"/>
          </a:p>
        </p:txBody>
      </p:sp>
    </p:spTree>
    <p:extLst>
      <p:ext uri="{BB962C8B-B14F-4D97-AF65-F5344CB8AC3E}">
        <p14:creationId xmlns:p14="http://schemas.microsoft.com/office/powerpoint/2010/main" val="21823003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pPr eaLnBrk="1" hangingPunct="1"/>
            <a:endParaRPr lang="en-US" dirty="0"/>
          </a:p>
        </p:txBody>
      </p:sp>
      <p:sp>
        <p:nvSpPr>
          <p:cNvPr id="45060" name="Slide Number Placeholder 3"/>
          <p:cNvSpPr>
            <a:spLocks noGrp="1"/>
          </p:cNvSpPr>
          <p:nvPr>
            <p:ph type="sldNum" sz="quarter" idx="5"/>
          </p:nvPr>
        </p:nvSpPr>
        <p:spPr>
          <a:noFill/>
        </p:spPr>
        <p:txBody>
          <a:bodyPr/>
          <a:lstStyle/>
          <a:p>
            <a:fld id="{135203A4-082A-4448-BDB0-5CDB74643CD1}" type="slidenum">
              <a:rPr lang="en-US" smtClean="0"/>
              <a:pPr/>
              <a:t>1</a:t>
            </a:fld>
            <a:endParaRPr lang="en-US" dirty="0"/>
          </a:p>
        </p:txBody>
      </p:sp>
    </p:spTree>
    <p:extLst>
      <p:ext uri="{BB962C8B-B14F-4D97-AF65-F5344CB8AC3E}">
        <p14:creationId xmlns:p14="http://schemas.microsoft.com/office/powerpoint/2010/main" val="621695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2</a:t>
            </a:fld>
            <a:endParaRPr lang="en-US" dirty="0"/>
          </a:p>
        </p:txBody>
      </p:sp>
    </p:spTree>
    <p:extLst>
      <p:ext uri="{BB962C8B-B14F-4D97-AF65-F5344CB8AC3E}">
        <p14:creationId xmlns:p14="http://schemas.microsoft.com/office/powerpoint/2010/main" val="344414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a:t>
            </a:fld>
            <a:endParaRPr lang="en-US" dirty="0"/>
          </a:p>
        </p:txBody>
      </p:sp>
    </p:spTree>
    <p:extLst>
      <p:ext uri="{BB962C8B-B14F-4D97-AF65-F5344CB8AC3E}">
        <p14:creationId xmlns:p14="http://schemas.microsoft.com/office/powerpoint/2010/main" val="1426074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Dự án phải có một phạm vi được viết ra rõ ràng, nếu không dự án sẽ</a:t>
            </a:r>
            <a:r>
              <a:rPr lang="vi-VN" baseline="0" dirty="0"/>
              <a:t> </a:t>
            </a:r>
            <a:r>
              <a:rPr lang="vi-VN" b="1" dirty="0"/>
              <a:t>không bao giờ kết thúc.</a:t>
            </a:r>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7</a:t>
            </a:fld>
            <a:endParaRPr lang="en-US" dirty="0"/>
          </a:p>
        </p:txBody>
      </p:sp>
    </p:spTree>
    <p:extLst>
      <p:ext uri="{BB962C8B-B14F-4D97-AF65-F5344CB8AC3E}">
        <p14:creationId xmlns:p14="http://schemas.microsoft.com/office/powerpoint/2010/main" val="2127584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8</a:t>
            </a:fld>
            <a:endParaRPr lang="en-US" dirty="0"/>
          </a:p>
        </p:txBody>
      </p:sp>
    </p:spTree>
    <p:extLst>
      <p:ext uri="{BB962C8B-B14F-4D97-AF65-F5344CB8AC3E}">
        <p14:creationId xmlns:p14="http://schemas.microsoft.com/office/powerpoint/2010/main" val="4188273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dirty="0"/>
              <a:t>Điểm chuẩn </a:t>
            </a:r>
            <a:r>
              <a:rPr lang="en-US" dirty="0"/>
              <a:t>(</a:t>
            </a:r>
            <a:r>
              <a:rPr lang="en-US" dirty="0">
                <a:solidFill>
                  <a:srgbClr val="0070C0"/>
                </a:solidFill>
              </a:rPr>
              <a:t>benchmark</a:t>
            </a:r>
            <a:r>
              <a:rPr lang="vi-VN" dirty="0">
                <a:solidFill>
                  <a:srgbClr val="0070C0"/>
                </a:solidFill>
              </a:rPr>
              <a:t>ing</a:t>
            </a:r>
            <a:r>
              <a:rPr lang="vi-VN" dirty="0"/>
              <a:t>): so sánh dự án cụ thể với đặc tính sản phẩm trong từng dự án/sản phẩm bên trong/ngoài tổ chức...</a:t>
            </a:r>
            <a:endParaRPr lang="en-US" dirty="0"/>
          </a:p>
          <a:p>
            <a:endParaRPr lang="vi-VN" dirty="0"/>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22</a:t>
            </a:fld>
            <a:endParaRPr lang="en-US" dirty="0"/>
          </a:p>
        </p:txBody>
      </p:sp>
    </p:spTree>
    <p:extLst>
      <p:ext uri="{BB962C8B-B14F-4D97-AF65-F5344CB8AC3E}">
        <p14:creationId xmlns:p14="http://schemas.microsoft.com/office/powerpoint/2010/main" val="2752969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23</a:t>
            </a:fld>
            <a:endParaRPr lang="en-US" dirty="0"/>
          </a:p>
        </p:txBody>
      </p:sp>
    </p:spTree>
    <p:extLst>
      <p:ext uri="{BB962C8B-B14F-4D97-AF65-F5344CB8AC3E}">
        <p14:creationId xmlns:p14="http://schemas.microsoft.com/office/powerpoint/2010/main" val="511539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V.d</a:t>
            </a:r>
            <a:r>
              <a:rPr lang="en-US" dirty="0"/>
              <a:t>., </a:t>
            </a:r>
            <a:r>
              <a:rPr lang="en-US" dirty="0" err="1"/>
              <a:t>Đề</a:t>
            </a:r>
            <a:r>
              <a:rPr lang="en-US" baseline="0" dirty="0"/>
              <a:t> </a:t>
            </a:r>
            <a:r>
              <a:rPr lang="en-US" baseline="0" dirty="0" err="1"/>
              <a:t>cương</a:t>
            </a:r>
            <a:r>
              <a:rPr lang="en-US" baseline="0" dirty="0"/>
              <a:t> </a:t>
            </a:r>
            <a:r>
              <a:rPr lang="en-US" baseline="0" dirty="0" err="1"/>
              <a:t>khóa</a:t>
            </a:r>
            <a:r>
              <a:rPr lang="en-US" baseline="0" dirty="0"/>
              <a:t> </a:t>
            </a:r>
            <a:r>
              <a:rPr lang="en-US" baseline="0" dirty="0" err="1"/>
              <a:t>luận</a:t>
            </a:r>
            <a:r>
              <a:rPr lang="en-US" baseline="0" dirty="0"/>
              <a:t> K28…</a:t>
            </a:r>
            <a:endParaRPr lang="vi-VN" dirty="0"/>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37</a:t>
            </a:fld>
            <a:endParaRPr lang="en-US" dirty="0"/>
          </a:p>
        </p:txBody>
      </p:sp>
    </p:spTree>
    <p:extLst>
      <p:ext uri="{BB962C8B-B14F-4D97-AF65-F5344CB8AC3E}">
        <p14:creationId xmlns:p14="http://schemas.microsoft.com/office/powerpoint/2010/main" val="1065532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organizations, like the Department of Defense (DOD), provide guidelines for preparing WBSs</a:t>
            </a:r>
          </a:p>
          <a:p>
            <a:r>
              <a:rPr lang="en-US" dirty="0" err="1"/>
              <a:t>V.d</a:t>
            </a:r>
            <a:r>
              <a:rPr lang="en-US" dirty="0"/>
              <a:t>., Level 2: </a:t>
            </a:r>
            <a:r>
              <a:rPr lang="en-US" sz="1200" i="0" kern="1200" dirty="0">
                <a:solidFill>
                  <a:schemeClr val="tx1"/>
                </a:solidFill>
                <a:effectLst/>
                <a:latin typeface="Times New Roman" pitchFamily="18" charset="0"/>
                <a:ea typeface="+mn-ea"/>
                <a:cs typeface="+mn-cs"/>
              </a:rPr>
              <a:t>hardware, software development, training, and project management…</a:t>
            </a:r>
            <a:br>
              <a:rPr lang="en-US" sz="1200" i="0" kern="1200" dirty="0">
                <a:solidFill>
                  <a:schemeClr val="tx1"/>
                </a:solidFill>
                <a:effectLst/>
                <a:latin typeface="Times New Roman" pitchFamily="18" charset="0"/>
                <a:ea typeface="+mn-ea"/>
                <a:cs typeface="+mn-cs"/>
              </a:rPr>
            </a:br>
            <a:endParaRPr lang="vi-VN" dirty="0"/>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39</a:t>
            </a:fld>
            <a:endParaRPr lang="en-US" dirty="0"/>
          </a:p>
        </p:txBody>
      </p:sp>
    </p:spTree>
    <p:extLst>
      <p:ext uri="{BB962C8B-B14F-4D97-AF65-F5344CB8AC3E}">
        <p14:creationId xmlns:p14="http://schemas.microsoft.com/office/powerpoint/2010/main" val="1528190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Dự</a:t>
            </a:r>
            <a:r>
              <a:rPr lang="vi-VN" baseline="0" dirty="0"/>
              <a:t> án đóng bè...</a:t>
            </a:r>
            <a:endParaRPr lang="vi-VN" dirty="0"/>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46</a:t>
            </a:fld>
            <a:endParaRPr lang="en-US" dirty="0"/>
          </a:p>
        </p:txBody>
      </p:sp>
    </p:spTree>
    <p:extLst>
      <p:ext uri="{BB962C8B-B14F-4D97-AF65-F5344CB8AC3E}">
        <p14:creationId xmlns:p14="http://schemas.microsoft.com/office/powerpoint/2010/main" val="317703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Bè trong</a:t>
            </a:r>
            <a:r>
              <a:rPr lang="vi-VN" baseline="0" dirty="0"/>
              <a:t> </a:t>
            </a:r>
            <a:r>
              <a:rPr lang="vi-VN" dirty="0"/>
              <a:t>phạm vi con</a:t>
            </a:r>
            <a:r>
              <a:rPr lang="vi-VN" baseline="0" dirty="0"/>
              <a:t> rạch nhỏ </a:t>
            </a:r>
            <a:r>
              <a:rPr lang="vi-VN" dirty="0"/>
              <a:t>mà không có mái chèo...</a:t>
            </a:r>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47</a:t>
            </a:fld>
            <a:endParaRPr lang="en-US" dirty="0"/>
          </a:p>
        </p:txBody>
      </p:sp>
    </p:spTree>
    <p:extLst>
      <p:ext uri="{BB962C8B-B14F-4D97-AF65-F5344CB8AC3E}">
        <p14:creationId xmlns:p14="http://schemas.microsoft.com/office/powerpoint/2010/main" val="3032329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So sánh</a:t>
            </a:r>
            <a:r>
              <a:rPr lang="vi-VN" baseline="0"/>
              <a:t> metro Bến Thành – Suối Tiên...</a:t>
            </a:r>
            <a:endParaRPr lang="vi-VN"/>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54</a:t>
            </a:fld>
            <a:endParaRPr lang="en-US" dirty="0"/>
          </a:p>
        </p:txBody>
      </p:sp>
    </p:spTree>
    <p:extLst>
      <p:ext uri="{BB962C8B-B14F-4D97-AF65-F5344CB8AC3E}">
        <p14:creationId xmlns:p14="http://schemas.microsoft.com/office/powerpoint/2010/main" val="1262164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59</a:t>
            </a:fld>
            <a:endParaRPr lang="en-US"/>
          </a:p>
        </p:txBody>
      </p:sp>
    </p:spTree>
    <p:extLst>
      <p:ext uri="{BB962C8B-B14F-4D97-AF65-F5344CB8AC3E}">
        <p14:creationId xmlns:p14="http://schemas.microsoft.com/office/powerpoint/2010/main" val="3042118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60</a:t>
            </a:fld>
            <a:endParaRPr lang="en-US"/>
          </a:p>
        </p:txBody>
      </p:sp>
    </p:spTree>
    <p:extLst>
      <p:ext uri="{BB962C8B-B14F-4D97-AF65-F5344CB8AC3E}">
        <p14:creationId xmlns:p14="http://schemas.microsoft.com/office/powerpoint/2010/main" val="418732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CBEED858-41DD-4669-ACD0-0FE909D2C42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7D0B4DA7-581C-40A3-BCB4-1307A955BB7E}"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8B8358C7-1EB0-4EEF-A9D9-DA49F859DED0}"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p:txBody>
          <a:bodyPr/>
          <a:lstStyle>
            <a:lvl1pPr>
              <a:defRPr/>
            </a:lvl1pPr>
          </a:lstStyle>
          <a:p>
            <a:pPr>
              <a:defRPr/>
            </a:pPr>
            <a:fld id="{44E9A965-858B-487F-8735-1765BCABB592}"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9" name="Slide Number Placeholder 5"/>
          <p:cNvSpPr>
            <a:spLocks noGrp="1"/>
          </p:cNvSpPr>
          <p:nvPr>
            <p:ph type="sldNum" sz="quarter" idx="12"/>
          </p:nvPr>
        </p:nvSpPr>
        <p:spPr/>
        <p:txBody>
          <a:bodyPr/>
          <a:lstStyle>
            <a:lvl1pPr>
              <a:defRPr/>
            </a:lvl1pPr>
          </a:lstStyle>
          <a:p>
            <a:pPr>
              <a:defRPr/>
            </a:pPr>
            <a:fld id="{5704951A-0E7C-4F14-91E3-D33D5B465BB5}"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5"/>
          <p:cNvSpPr>
            <a:spLocks noGrp="1"/>
          </p:cNvSpPr>
          <p:nvPr>
            <p:ph type="sldNum" sz="quarter" idx="12"/>
          </p:nvPr>
        </p:nvSpPr>
        <p:spPr/>
        <p:txBody>
          <a:bodyPr/>
          <a:lstStyle>
            <a:lvl1pPr>
              <a:defRPr/>
            </a:lvl1pPr>
          </a:lstStyle>
          <a:p>
            <a:pPr>
              <a:defRPr/>
            </a:pPr>
            <a:fld id="{0F80014F-D774-4519-B844-A2F39E4FCBD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5"/>
          <p:cNvSpPr>
            <a:spLocks noGrp="1"/>
          </p:cNvSpPr>
          <p:nvPr>
            <p:ph type="sldNum" sz="quarter" idx="12"/>
          </p:nvPr>
        </p:nvSpPr>
        <p:spPr/>
        <p:txBody>
          <a:bodyPr/>
          <a:lstStyle>
            <a:lvl1pPr>
              <a:defRPr/>
            </a:lvl1pPr>
          </a:lstStyle>
          <a:p>
            <a:pPr>
              <a:defRPr/>
            </a:pPr>
            <a:fld id="{D394E5C8-07BC-403D-807B-67B7EC921734}"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p:txBody>
          <a:bodyPr/>
          <a:lstStyle>
            <a:lvl1pPr>
              <a:defRPr/>
            </a:lvl1pPr>
          </a:lstStyle>
          <a:p>
            <a:pPr>
              <a:defRPr/>
            </a:pPr>
            <a:fld id="{BCCE72DE-727C-44FD-8C4B-6A992740AE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p:txBody>
          <a:bodyPr/>
          <a:lstStyle>
            <a:lvl1pPr>
              <a:defRPr/>
            </a:lvl1pPr>
          </a:lstStyle>
          <a:p>
            <a:pPr>
              <a:defRPr/>
            </a:pPr>
            <a:fld id="{D56261B2-E792-4CCC-9B27-651612F41BC4}"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7ED8AF82-58A6-4B0A-99BE-3E241868A7E5}"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A603D3F4-A0D0-405E-A767-F9A123F72383}"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D5381041-9C54-49A7-A924-29D217AD23D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a:latin typeface="+mn-lt"/>
              </a:rPr>
              <a:t>Copyright 2021</a:t>
            </a:r>
            <a:endParaRPr lang="en-US" sz="1200" dirty="0">
              <a:latin typeface="+mn-lt"/>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676C0B31-47C3-49FD-8211-A1EA24F16913}"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5"/>
          <p:cNvSpPr>
            <a:spLocks noGrp="1"/>
          </p:cNvSpPr>
          <p:nvPr>
            <p:ph type="sldNum" sz="quarter" idx="12"/>
          </p:nvPr>
        </p:nvSpPr>
        <p:spPr/>
        <p:txBody>
          <a:bodyPr/>
          <a:lstStyle>
            <a:lvl1pPr>
              <a:defRPr/>
            </a:lvl1pPr>
            <a:extLst/>
          </a:lstStyle>
          <a:p>
            <a:pPr>
              <a:defRPr/>
            </a:pPr>
            <a:fld id="{056DBD78-0C1C-4E39-B25C-2D86EF84190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2"/>
          </p:nvPr>
        </p:nvSpPr>
        <p:spPr/>
        <p:txBody>
          <a:bodyPr/>
          <a:lstStyle>
            <a:lvl1pPr>
              <a:defRPr/>
            </a:lvl1pPr>
            <a:extLst/>
          </a:lstStyle>
          <a:p>
            <a:pPr>
              <a:defRPr/>
            </a:pPr>
            <a:fld id="{F4B7A325-B10B-44F9-8D64-D11C845FEE90}"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9" name="Slide Number Placeholder 8"/>
          <p:cNvSpPr>
            <a:spLocks noGrp="1"/>
          </p:cNvSpPr>
          <p:nvPr>
            <p:ph type="sldNum" sz="quarter" idx="12"/>
          </p:nvPr>
        </p:nvSpPr>
        <p:spPr/>
        <p:txBody>
          <a:bodyPr/>
          <a:lstStyle>
            <a:lvl1pPr>
              <a:defRPr/>
            </a:lvl1pPr>
            <a:extLst/>
          </a:lstStyle>
          <a:p>
            <a:pPr>
              <a:defRPr/>
            </a:pPr>
            <a:fld id="{428A81CF-9A71-4B4A-A02C-DA98461234B2}"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2"/>
          </p:nvPr>
        </p:nvSpPr>
        <p:spPr/>
        <p:txBody>
          <a:bodyPr/>
          <a:lstStyle>
            <a:lvl1pPr>
              <a:defRPr/>
            </a:lvl1pPr>
            <a:extLst/>
          </a:lstStyle>
          <a:p>
            <a:pPr>
              <a:defRPr/>
            </a:pPr>
            <a:fld id="{07E326B0-0E99-4EB4-8F79-0134171EA74C}"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17"/>
          <p:cNvSpPr>
            <a:spLocks noGrp="1"/>
          </p:cNvSpPr>
          <p:nvPr>
            <p:ph type="sldNum" sz="quarter" idx="12"/>
          </p:nvPr>
        </p:nvSpPr>
        <p:spPr/>
        <p:txBody>
          <a:bodyPr/>
          <a:lstStyle>
            <a:lvl1pPr>
              <a:defRPr/>
            </a:lvl1pPr>
          </a:lstStyle>
          <a:p>
            <a:pPr>
              <a:defRPr/>
            </a:pPr>
            <a:fld id="{15E64789-22BD-4B66-9BFC-904BA6707DB0}"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2"/>
          </p:nvPr>
        </p:nvSpPr>
        <p:spPr/>
        <p:txBody>
          <a:bodyPr/>
          <a:lstStyle>
            <a:lvl1pPr>
              <a:defRPr/>
            </a:lvl1pPr>
            <a:extLst/>
          </a:lstStyle>
          <a:p>
            <a:pPr>
              <a:defRPr/>
            </a:pPr>
            <a:fld id="{420D16DA-79A3-43C0-A698-4D27A49B6CE6}"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C14E0A1E-657D-490E-9262-79448EA4878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2"/>
          </p:nvPr>
        </p:nvSpPr>
        <p:spPr/>
        <p:txBody>
          <a:bodyPr/>
          <a:lstStyle>
            <a:lvl1pPr>
              <a:defRPr/>
            </a:lvl1pPr>
          </a:lstStyle>
          <a:p>
            <a:pPr>
              <a:defRPr/>
            </a:pPr>
            <a:fld id="{C5FA4337-D482-4795-909A-B265FCB8FB7E}"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2"/>
          </p:nvPr>
        </p:nvSpPr>
        <p:spPr/>
        <p:txBody>
          <a:bodyPr/>
          <a:lstStyle>
            <a:lvl1pPr>
              <a:defRPr/>
            </a:lvl1pPr>
          </a:lstStyle>
          <a:p>
            <a:pPr>
              <a:defRPr/>
            </a:pPr>
            <a:fld id="{DC3E4BF0-CDDD-45AA-8761-673D8D9691C1}"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D3329071-3EF5-4489-AD01-960B23CCFC6D}"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3329071-3EF5-4489-AD01-960B23CCFC6D}"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Chuong%2000/2021-Chuong00-ITPM_VI-ITS344-211_D02.pptx"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Docs/47Ps-PMP.pptx"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47Ps-PMP.pptx" TargetMode="External"/><Relationship Id="rId2" Type="http://schemas.openxmlformats.org/officeDocument/2006/relationships/hyperlink" Target="../Z-10KA-5P(47).pptx" TargetMode="Externa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13.xml"/><Relationship Id="rId4" Type="http://schemas.openxmlformats.org/officeDocument/2006/relationships/image" Target="../media/image40.gif"/></Relationships>
</file>

<file path=ppt/slides/_rels/slide4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hyperlink" Target="http://www.myki.com.au/"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Solutions/05-ex5-3.mpp" TargetMode="Externa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7200" y="1524000"/>
            <a:ext cx="8305800" cy="1349375"/>
          </a:xfrm>
        </p:spPr>
        <p:txBody>
          <a:bodyPr>
            <a:noAutofit/>
          </a:bodyPr>
          <a:lstStyle/>
          <a:p>
            <a:pPr algn="ctr" eaLnBrk="1" fontAlgn="auto" hangingPunct="1">
              <a:spcAft>
                <a:spcPts val="0"/>
              </a:spcAft>
              <a:defRPr/>
            </a:pPr>
            <a:r>
              <a:rPr sz="4400" dirty="0" err="1">
                <a:solidFill>
                  <a:srgbClr val="0070C0"/>
                </a:solidFill>
                <a:effectLst/>
              </a:rPr>
              <a:t>Ch</a:t>
            </a:r>
            <a:r>
              <a:rPr lang="vi-VN" sz="4400" dirty="0">
                <a:solidFill>
                  <a:srgbClr val="0070C0"/>
                </a:solidFill>
                <a:effectLst/>
              </a:rPr>
              <a:t>ương</a:t>
            </a:r>
            <a:r>
              <a:rPr sz="4400" dirty="0">
                <a:solidFill>
                  <a:srgbClr val="0070C0"/>
                </a:solidFill>
                <a:effectLst/>
              </a:rPr>
              <a:t> </a:t>
            </a:r>
            <a:r>
              <a:rPr lang="vi-VN" sz="4400" dirty="0">
                <a:solidFill>
                  <a:srgbClr val="0070C0"/>
                </a:solidFill>
                <a:effectLst/>
              </a:rPr>
              <a:t>3</a:t>
            </a:r>
            <a:br>
              <a:rPr dirty="0">
                <a:solidFill>
                  <a:srgbClr val="0070C0"/>
                </a:solidFill>
                <a:effectLst/>
              </a:rPr>
            </a:br>
            <a:r>
              <a:rPr lang="vi-VN" dirty="0">
                <a:solidFill>
                  <a:srgbClr val="0070C0"/>
                </a:solidFill>
                <a:effectLst/>
              </a:rPr>
              <a:t>QUẢN LÝ PHẠM VI DỰ ÁN</a:t>
            </a:r>
            <a:endParaRPr dirty="0">
              <a:solidFill>
                <a:srgbClr val="0070C0"/>
              </a:solidFill>
              <a:effectLst/>
            </a:endParaRPr>
          </a:p>
        </p:txBody>
      </p:sp>
      <p:sp>
        <p:nvSpPr>
          <p:cNvPr id="5" name="Rectangle 3"/>
          <p:cNvSpPr>
            <a:spLocks noChangeArrowheads="1"/>
          </p:cNvSpPr>
          <p:nvPr/>
        </p:nvSpPr>
        <p:spPr bwMode="auto">
          <a:xfrm>
            <a:off x="457200" y="3048000"/>
            <a:ext cx="8534400" cy="609600"/>
          </a:xfrm>
          <a:prstGeom prst="rect">
            <a:avLst/>
          </a:prstGeom>
          <a:noFill/>
          <a:ln w="9525">
            <a:noFill/>
            <a:miter lim="800000"/>
            <a:headEnd/>
            <a:tailEnd/>
          </a:ln>
          <a:effectLst/>
        </p:spPr>
        <p:txBody>
          <a:bodyPr/>
          <a:lstStyle/>
          <a:p>
            <a:pPr algn="ctr">
              <a:defRPr/>
            </a:pPr>
            <a:r>
              <a:rPr lang="en-US" sz="2800" spc="1000" dirty="0">
                <a:solidFill>
                  <a:schemeClr val="tx2"/>
                </a:solidFill>
                <a:latin typeface="Arial Rounded MT Bold" pitchFamily="34" charset="0"/>
                <a:ea typeface="+mj-ea"/>
                <a:cs typeface="+mj-cs"/>
              </a:rPr>
              <a:t>Project Scope Management</a:t>
            </a:r>
          </a:p>
        </p:txBody>
      </p:sp>
      <p:pic>
        <p:nvPicPr>
          <p:cNvPr id="3" name="Picture 2"/>
          <p:cNvPicPr>
            <a:picLocks noChangeAspect="1"/>
          </p:cNvPicPr>
          <p:nvPr/>
        </p:nvPicPr>
        <p:blipFill>
          <a:blip r:embed="rId3"/>
          <a:stretch>
            <a:fillRect/>
          </a:stretch>
        </p:blipFill>
        <p:spPr>
          <a:xfrm>
            <a:off x="6477000" y="3989623"/>
            <a:ext cx="1992472" cy="2487377"/>
          </a:xfrm>
          <a:prstGeom prst="rect">
            <a:avLst/>
          </a:prstGeom>
        </p:spPr>
      </p:pic>
      <p:sp>
        <p:nvSpPr>
          <p:cNvPr id="8" name="Rectangle 2">
            <a:extLst>
              <a:ext uri="{FF2B5EF4-FFF2-40B4-BE49-F238E27FC236}">
                <a16:creationId xmlns:a16="http://schemas.microsoft.com/office/drawing/2014/main" id="{BDC29528-4AEE-4E3B-80DD-985F986A417C}"/>
              </a:ext>
            </a:extLst>
          </p:cNvPr>
          <p:cNvSpPr txBox="1">
            <a:spLocks noChangeArrowheads="1"/>
          </p:cNvSpPr>
          <p:nvPr/>
        </p:nvSpPr>
        <p:spPr>
          <a:xfrm>
            <a:off x="381000" y="327025"/>
            <a:ext cx="8382000" cy="663575"/>
          </a:xfrm>
          <a:prstGeom prst="rect">
            <a:avLst/>
          </a:prstGeom>
        </p:spPr>
        <p:txBody>
          <a:bodyPr vert="horz" anchor="b">
            <a:noAutofit/>
            <a:scene3d>
              <a:camera prst="orthographicFront"/>
              <a:lightRig rig="soft" dir="t"/>
            </a:scene3d>
            <a:sp3d prstMaterial="softEdge">
              <a:bevelT w="25400" h="25400"/>
            </a:sp3d>
          </a:bodyPr>
          <a:lstStyle>
            <a:lvl1pPr algn="r" rtl="0" eaLnBrk="1" fontAlgn="base" hangingPunct="1">
              <a:spcBef>
                <a:spcPct val="0"/>
              </a:spcBef>
              <a:spcAft>
                <a:spcPct val="0"/>
              </a:spcAft>
              <a:defRPr sz="48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fontAlgn="auto">
              <a:spcAft>
                <a:spcPts val="0"/>
              </a:spcAft>
              <a:defRPr/>
            </a:pPr>
            <a:r>
              <a:rPr lang="vi-VN" sz="3200" dirty="0">
                <a:effectLst>
                  <a:outerShdw blurRad="38100" dist="38100" dir="2700000" algn="tl">
                    <a:srgbClr val="FFFFFF"/>
                  </a:outerShdw>
                </a:effectLst>
                <a:hlinkClick r:id="rId4" action="ppaction://hlinkpres?slideindex=1&amp;slidetitle="/>
              </a:rPr>
              <a:t>QUẢN TRỊ DỰ </a:t>
            </a:r>
            <a:r>
              <a:rPr lang="vi-VN" sz="3200">
                <a:effectLst>
                  <a:outerShdw blurRad="38100" dist="38100" dir="2700000" algn="tl">
                    <a:srgbClr val="FFFFFF"/>
                  </a:outerShdw>
                </a:effectLst>
                <a:hlinkClick r:id="rId4" action="ppaction://hlinkpres?slideindex=1&amp;slidetitle="/>
              </a:rPr>
              <a:t>ÁN </a:t>
            </a:r>
            <a:r>
              <a:rPr lang="en-US" sz="3200">
                <a:effectLst>
                  <a:outerShdw blurRad="38100" dist="38100" dir="2700000" algn="tl">
                    <a:srgbClr val="FFFFFF"/>
                  </a:outerShdw>
                </a:effectLst>
                <a:hlinkClick r:id="rId4" action="ppaction://hlinkpres?slideindex=1&amp;slidetitle="/>
              </a:rPr>
              <a:t>HTTT</a:t>
            </a:r>
            <a:endParaRPr lang="vi-VN" sz="3200" dirty="0">
              <a:effectLst>
                <a:outerShdw blurRad="38100" dist="38100" dir="2700000" algn="tl">
                  <a:srgbClr val="FFFFFF"/>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609600" y="1981200"/>
            <a:ext cx="8153400" cy="3429000"/>
          </a:xfrm>
        </p:spPr>
        <p:txBody>
          <a:bodyPr/>
          <a:lstStyle/>
          <a:p>
            <a:pPr algn="just"/>
            <a:r>
              <a:rPr lang="vi-VN" dirty="0">
                <a:solidFill>
                  <a:srgbClr val="002060"/>
                </a:solidFill>
              </a:rPr>
              <a:t>Hiểu được tầm quan trọng của quản lý phạm vi.</a:t>
            </a:r>
          </a:p>
          <a:p>
            <a:pPr algn="just"/>
            <a:endParaRPr lang="vi-VN" sz="1200" dirty="0">
              <a:solidFill>
                <a:srgbClr val="002060"/>
              </a:solidFill>
            </a:endParaRPr>
          </a:p>
          <a:p>
            <a:pPr algn="just"/>
            <a:r>
              <a:rPr lang="vi-VN" dirty="0">
                <a:solidFill>
                  <a:srgbClr val="002060"/>
                </a:solidFill>
              </a:rPr>
              <a:t>Giải thích được quy trình quản lý phạm vi dự án.</a:t>
            </a:r>
          </a:p>
          <a:p>
            <a:pPr algn="just"/>
            <a:endParaRPr lang="vi-VN" sz="1200" dirty="0">
              <a:solidFill>
                <a:srgbClr val="002060"/>
              </a:solidFill>
            </a:endParaRPr>
          </a:p>
          <a:p>
            <a:pPr algn="just"/>
            <a:r>
              <a:rPr lang="vi-VN" dirty="0">
                <a:solidFill>
                  <a:srgbClr val="002060"/>
                </a:solidFill>
              </a:rPr>
              <a:t>Biết được các phần mềm hỗ trợ quản lý phạm vi.</a:t>
            </a:r>
          </a:p>
          <a:p>
            <a:pPr algn="just"/>
            <a:endParaRPr lang="vi-VN" sz="1200" dirty="0">
              <a:solidFill>
                <a:srgbClr val="002060"/>
              </a:solidFill>
            </a:endParaRPr>
          </a:p>
          <a:p>
            <a:pPr algn="just"/>
            <a:r>
              <a:rPr lang="vi-VN" dirty="0">
                <a:solidFill>
                  <a:srgbClr val="002060"/>
                </a:solidFill>
              </a:rPr>
              <a:t>Hiểu được các vấn đề liên quan đến quản lý phạm vi dự án HTTT.</a:t>
            </a:r>
          </a:p>
          <a:p>
            <a:pPr algn="just"/>
            <a:endParaRPr lang="vi-VN" sz="1200" dirty="0">
              <a:solidFill>
                <a:srgbClr val="002060"/>
              </a:solidFill>
            </a:endParaRPr>
          </a:p>
        </p:txBody>
      </p:sp>
      <p:sp>
        <p:nvSpPr>
          <p:cNvPr id="9218" name="Rectangle 2"/>
          <p:cNvSpPr>
            <a:spLocks noGrp="1" noChangeArrowheads="1"/>
          </p:cNvSpPr>
          <p:nvPr>
            <p:ph type="title"/>
          </p:nvPr>
        </p:nvSpPr>
        <p:spPr>
          <a:xfrm>
            <a:off x="304800" y="579438"/>
            <a:ext cx="8534400" cy="715962"/>
          </a:xfrm>
        </p:spPr>
        <p:txBody>
          <a:bodyPr>
            <a:noAutofit/>
          </a:bodyPr>
          <a:lstStyle/>
          <a:p>
            <a:pPr algn="ctr"/>
            <a:r>
              <a:rPr lang="en-US" sz="4400" dirty="0" err="1">
                <a:solidFill>
                  <a:srgbClr val="0070C0"/>
                </a:solidFill>
              </a:rPr>
              <a:t>Mục</a:t>
            </a:r>
            <a:r>
              <a:rPr lang="en-US" sz="4400" dirty="0">
                <a:solidFill>
                  <a:srgbClr val="0070C0"/>
                </a:solidFill>
              </a:rPr>
              <a:t> </a:t>
            </a:r>
            <a:r>
              <a:rPr lang="en-US" sz="4400" dirty="0" err="1">
                <a:solidFill>
                  <a:srgbClr val="0070C0"/>
                </a:solidFill>
              </a:rPr>
              <a:t>tiêu</a:t>
            </a:r>
            <a:r>
              <a:rPr lang="en-US" sz="4400" dirty="0">
                <a:solidFill>
                  <a:srgbClr val="0070C0"/>
                </a:solidFill>
              </a:rPr>
              <a:t> </a:t>
            </a:r>
            <a:r>
              <a:rPr lang="en-US" sz="4400" dirty="0" err="1">
                <a:solidFill>
                  <a:srgbClr val="0070C0"/>
                </a:solidFill>
              </a:rPr>
              <a:t>chương</a:t>
            </a:r>
            <a:r>
              <a:rPr lang="en-US" sz="4400" dirty="0">
                <a:solidFill>
                  <a:srgbClr val="0070C0"/>
                </a:solidFill>
              </a:rPr>
              <a:t> 3</a:t>
            </a:r>
          </a:p>
        </p:txBody>
      </p:sp>
      <p:sp>
        <p:nvSpPr>
          <p:cNvPr id="9220"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630E6A95-094A-4E8D-8575-B7EA854693B8}"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z="1200" smtClean="0"/>
              <a:pPr>
                <a:defRPr/>
              </a:pPr>
              <a:t>3</a:t>
            </a:fld>
            <a:endParaRPr lang="en-US" sz="1200" dirty="0"/>
          </a:p>
        </p:txBody>
      </p:sp>
      <p:sp>
        <p:nvSpPr>
          <p:cNvPr id="6" name="Rectangle 2"/>
          <p:cNvSpPr>
            <a:spLocks noGrp="1" noChangeArrowheads="1"/>
          </p:cNvSpPr>
          <p:nvPr>
            <p:ph type="title"/>
          </p:nvPr>
        </p:nvSpPr>
        <p:spPr>
          <a:xfrm>
            <a:off x="304800" y="381000"/>
            <a:ext cx="8839200" cy="685800"/>
          </a:xfrm>
        </p:spPr>
        <p:txBody>
          <a:bodyPr>
            <a:noAutofit/>
          </a:bodyPr>
          <a:lstStyle/>
          <a:p>
            <a:pPr algn="ctr"/>
            <a:r>
              <a:rPr lang="en-US" sz="4400" dirty="0" err="1"/>
              <a:t>Nhắc</a:t>
            </a:r>
            <a:r>
              <a:rPr lang="en-US" sz="4400" dirty="0"/>
              <a:t> </a:t>
            </a:r>
            <a:r>
              <a:rPr lang="en-US" sz="4400" dirty="0" err="1"/>
              <a:t>lại</a:t>
            </a:r>
            <a:r>
              <a:rPr lang="en-US" sz="4400" dirty="0"/>
              <a:t> </a:t>
            </a:r>
            <a:r>
              <a:rPr lang="en-US" sz="4400" dirty="0" err="1"/>
              <a:t>kiến</a:t>
            </a:r>
            <a:r>
              <a:rPr lang="en-US" sz="4400" dirty="0"/>
              <a:t> </a:t>
            </a:r>
            <a:r>
              <a:rPr lang="en-US" sz="4400" dirty="0" err="1"/>
              <a:t>thức</a:t>
            </a:r>
            <a:endParaRPr lang="en-US" sz="4400" dirty="0"/>
          </a:p>
        </p:txBody>
      </p:sp>
      <p:pic>
        <p:nvPicPr>
          <p:cNvPr id="7" name="Picture 6"/>
          <p:cNvPicPr>
            <a:picLocks noChangeAspect="1"/>
          </p:cNvPicPr>
          <p:nvPr/>
        </p:nvPicPr>
        <p:blipFill>
          <a:blip r:embed="rId2"/>
          <a:stretch>
            <a:fillRect/>
          </a:stretch>
        </p:blipFill>
        <p:spPr>
          <a:xfrm>
            <a:off x="152400" y="1414463"/>
            <a:ext cx="8951002" cy="3919538"/>
          </a:xfrm>
          <a:prstGeom prst="rect">
            <a:avLst/>
          </a:prstGeom>
        </p:spPr>
      </p:pic>
      <p:sp>
        <p:nvSpPr>
          <p:cNvPr id="8"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406975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hlinkClick r:id="rId3" action="ppaction://hlinkpres?slideindex=1&amp;slidetitle="/>
            <a:extLst>
              <a:ext uri="{FF2B5EF4-FFF2-40B4-BE49-F238E27FC236}">
                <a16:creationId xmlns:a16="http://schemas.microsoft.com/office/drawing/2014/main" id="{520C5C72-0DB1-4C25-867D-CC58843240B0}"/>
              </a:ext>
            </a:extLst>
          </p:cNvPr>
          <p:cNvPicPr>
            <a:picLocks noChangeAspect="1"/>
          </p:cNvPicPr>
          <p:nvPr/>
        </p:nvPicPr>
        <p:blipFill>
          <a:blip r:embed="rId4">
            <a:lum contrast="20000"/>
          </a:blip>
          <a:stretch>
            <a:fillRect/>
          </a:stretch>
        </p:blipFill>
        <p:spPr>
          <a:xfrm>
            <a:off x="0" y="1295400"/>
            <a:ext cx="9159240" cy="4242882"/>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4</a:t>
            </a:fld>
            <a:endParaRPr lang="en-US" dirty="0"/>
          </a:p>
        </p:txBody>
      </p:sp>
      <p:sp>
        <p:nvSpPr>
          <p:cNvPr id="6" name="Rectangle 2"/>
          <p:cNvSpPr>
            <a:spLocks noGrp="1" noChangeArrowheads="1"/>
          </p:cNvSpPr>
          <p:nvPr>
            <p:ph type="title"/>
          </p:nvPr>
        </p:nvSpPr>
        <p:spPr>
          <a:xfrm>
            <a:off x="457200" y="228600"/>
            <a:ext cx="8077200" cy="685800"/>
          </a:xfrm>
        </p:spPr>
        <p:txBody>
          <a:bodyPr>
            <a:noAutofit/>
          </a:bodyPr>
          <a:lstStyle/>
          <a:p>
            <a:pPr algn="ctr"/>
            <a:r>
              <a:rPr lang="en-US" sz="3600" dirty="0" err="1">
                <a:solidFill>
                  <a:schemeClr val="bg1">
                    <a:lumMod val="65000"/>
                  </a:schemeClr>
                </a:solidFill>
              </a:rPr>
              <a:t>Khung</a:t>
            </a:r>
            <a:r>
              <a:rPr lang="en-US" sz="3600" dirty="0">
                <a:solidFill>
                  <a:schemeClr val="bg1">
                    <a:lumMod val="65000"/>
                  </a:schemeClr>
                </a:solidFill>
              </a:rPr>
              <a:t> quản lý </a:t>
            </a:r>
            <a:r>
              <a:rPr lang="en-US" sz="3600" dirty="0" err="1">
                <a:solidFill>
                  <a:schemeClr val="bg1">
                    <a:lumMod val="65000"/>
                  </a:schemeClr>
                </a:solidFill>
              </a:rPr>
              <a:t>dự</a:t>
            </a:r>
            <a:r>
              <a:rPr lang="en-US" sz="3600" dirty="0">
                <a:solidFill>
                  <a:schemeClr val="bg1">
                    <a:lumMod val="65000"/>
                  </a:schemeClr>
                </a:solidFill>
              </a:rPr>
              <a:t> </a:t>
            </a:r>
            <a:r>
              <a:rPr lang="en-US" sz="3600" dirty="0" err="1">
                <a:solidFill>
                  <a:schemeClr val="bg1">
                    <a:lumMod val="65000"/>
                  </a:schemeClr>
                </a:solidFill>
              </a:rPr>
              <a:t>án</a:t>
            </a:r>
            <a:endParaRPr lang="en-US" sz="3600" dirty="0">
              <a:solidFill>
                <a:schemeClr val="bg1">
                  <a:lumMod val="65000"/>
                </a:schemeClr>
              </a:solidFill>
            </a:endParaRPr>
          </a:p>
        </p:txBody>
      </p:sp>
      <p:sp>
        <p:nvSpPr>
          <p:cNvPr id="7" name="Rounded Rectangle 6"/>
          <p:cNvSpPr/>
          <p:nvPr/>
        </p:nvSpPr>
        <p:spPr>
          <a:xfrm>
            <a:off x="1523048" y="2721672"/>
            <a:ext cx="1005840" cy="6096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Rectangle 1"/>
          <p:cNvSpPr/>
          <p:nvPr/>
        </p:nvSpPr>
        <p:spPr>
          <a:xfrm>
            <a:off x="4572000" y="6019800"/>
            <a:ext cx="3007555" cy="400110"/>
          </a:xfrm>
          <a:prstGeom prst="rect">
            <a:avLst/>
          </a:prstGeom>
        </p:spPr>
        <p:txBody>
          <a:bodyPr wrap="none">
            <a:spAutoFit/>
          </a:bodyPr>
          <a:lstStyle/>
          <a:p>
            <a:r>
              <a:rPr lang="vi-VN" sz="2000" dirty="0"/>
              <a:t>Nguồn: </a:t>
            </a:r>
            <a:r>
              <a:rPr lang="vi-VN" sz="2000"/>
              <a:t>Schwalbe (20</a:t>
            </a:r>
            <a:r>
              <a:rPr lang="en-US" sz="2000"/>
              <a:t>19</a:t>
            </a:r>
            <a:r>
              <a:rPr lang="vi-VN" sz="2000"/>
              <a:t>)</a:t>
            </a:r>
            <a:endParaRPr lang="vi-VN" sz="2000" dirty="0"/>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021090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pic>
        <p:nvPicPr>
          <p:cNvPr id="7" name="Picture 6"/>
          <p:cNvPicPr>
            <a:picLocks noChangeAspect="1"/>
          </p:cNvPicPr>
          <p:nvPr/>
        </p:nvPicPr>
        <p:blipFill>
          <a:blip r:embed="rId2"/>
          <a:stretch>
            <a:fillRect/>
          </a:stretch>
        </p:blipFill>
        <p:spPr>
          <a:xfrm>
            <a:off x="6477000" y="3989623"/>
            <a:ext cx="1992472" cy="2487377"/>
          </a:xfrm>
          <a:prstGeom prst="rect">
            <a:avLst/>
          </a:prstGeom>
        </p:spPr>
      </p:pic>
      <p:sp>
        <p:nvSpPr>
          <p:cNvPr id="8" name="Rectangle 2"/>
          <p:cNvSpPr>
            <a:spLocks noGrp="1" noChangeArrowheads="1"/>
          </p:cNvSpPr>
          <p:nvPr>
            <p:ph type="ctrTitle"/>
          </p:nvPr>
        </p:nvSpPr>
        <p:spPr>
          <a:xfrm>
            <a:off x="457200" y="1524000"/>
            <a:ext cx="8305800" cy="1349375"/>
          </a:xfrm>
        </p:spPr>
        <p:txBody>
          <a:bodyPr>
            <a:noAutofit/>
          </a:bodyPr>
          <a:lstStyle/>
          <a:p>
            <a:pPr algn="ctr" eaLnBrk="1" fontAlgn="auto" hangingPunct="1">
              <a:spcAft>
                <a:spcPts val="0"/>
              </a:spcAft>
              <a:defRPr/>
            </a:pPr>
            <a:br>
              <a:rPr sz="4400" dirty="0">
                <a:solidFill>
                  <a:srgbClr val="0070C0"/>
                </a:solidFill>
                <a:effectLst/>
              </a:rPr>
            </a:br>
            <a:r>
              <a:rPr lang="vi-VN" sz="4400" dirty="0">
                <a:solidFill>
                  <a:srgbClr val="0070C0"/>
                </a:solidFill>
                <a:effectLst/>
              </a:rPr>
              <a:t>QUẢN LÝ PHẠM VI DỰ ÁN</a:t>
            </a:r>
            <a:endParaRPr sz="4400" dirty="0">
              <a:solidFill>
                <a:srgbClr val="0070C0"/>
              </a:solidFill>
              <a:effectLst/>
            </a:endParaRPr>
          </a:p>
        </p:txBody>
      </p:sp>
      <p:sp>
        <p:nvSpPr>
          <p:cNvPr id="9" name="Rectangle 3"/>
          <p:cNvSpPr>
            <a:spLocks noChangeArrowheads="1"/>
          </p:cNvSpPr>
          <p:nvPr/>
        </p:nvSpPr>
        <p:spPr bwMode="auto">
          <a:xfrm>
            <a:off x="762000" y="3048000"/>
            <a:ext cx="7924800" cy="609600"/>
          </a:xfrm>
          <a:prstGeom prst="rect">
            <a:avLst/>
          </a:prstGeom>
          <a:noFill/>
          <a:ln w="9525">
            <a:noFill/>
            <a:miter lim="800000"/>
            <a:headEnd/>
            <a:tailEnd/>
          </a:ln>
          <a:effectLst/>
        </p:spPr>
        <p:txBody>
          <a:bodyPr/>
          <a:lstStyle/>
          <a:p>
            <a:pPr algn="ctr">
              <a:defRPr/>
            </a:pPr>
            <a:r>
              <a:rPr lang="en-US" sz="2350" spc="1000" dirty="0">
                <a:solidFill>
                  <a:schemeClr val="tx2"/>
                </a:solidFill>
                <a:latin typeface="Arial Rounded MT Bold" pitchFamily="34" charset="0"/>
                <a:ea typeface="+mj-ea"/>
                <a:cs typeface="+mj-cs"/>
              </a:rPr>
              <a:t>Project Scope Management</a:t>
            </a:r>
          </a:p>
        </p:txBody>
      </p:sp>
    </p:spTree>
    <p:extLst>
      <p:ext uri="{BB962C8B-B14F-4D97-AF65-F5344CB8AC3E}">
        <p14:creationId xmlns:p14="http://schemas.microsoft.com/office/powerpoint/2010/main" val="2296388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a:spLocks noGrp="1" noChangeArrowheads="1"/>
          </p:cNvSpPr>
          <p:nvPr>
            <p:ph type="title"/>
          </p:nvPr>
        </p:nvSpPr>
        <p:spPr>
          <a:xfrm>
            <a:off x="685800" y="76200"/>
            <a:ext cx="7772400" cy="900113"/>
          </a:xfrm>
        </p:spPr>
        <p:txBody>
          <a:bodyPr>
            <a:normAutofit/>
          </a:bodyPr>
          <a:lstStyle/>
          <a:p>
            <a:pPr algn="ctr">
              <a:defRPr/>
            </a:pPr>
            <a:r>
              <a:rPr lang="en-US" sz="3600" dirty="0">
                <a:effectLst>
                  <a:outerShdw blurRad="38100" dist="38100" dir="2700000" algn="tl">
                    <a:srgbClr val="000000">
                      <a:alpha val="43137"/>
                    </a:srgbClr>
                  </a:outerShdw>
                </a:effectLst>
              </a:rPr>
              <a:t>QUẢN LÝ PHẠM VI DỰ ÁN</a:t>
            </a:r>
          </a:p>
        </p:txBody>
      </p:sp>
      <p:grpSp>
        <p:nvGrpSpPr>
          <p:cNvPr id="36" name="Group 42"/>
          <p:cNvGrpSpPr>
            <a:grpSpLocks/>
          </p:cNvGrpSpPr>
          <p:nvPr/>
        </p:nvGrpSpPr>
        <p:grpSpPr bwMode="auto">
          <a:xfrm>
            <a:off x="1142999" y="990600"/>
            <a:ext cx="6952029" cy="762000"/>
            <a:chOff x="1296" y="1824"/>
            <a:chExt cx="2976" cy="432"/>
          </a:xfrm>
        </p:grpSpPr>
        <p:sp>
          <p:nvSpPr>
            <p:cNvPr id="41" name="AutoShape 4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2"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3" name="Text Box 45"/>
            <p:cNvSpPr txBox="1">
              <a:spLocks noChangeArrowheads="1"/>
            </p:cNvSpPr>
            <p:nvPr/>
          </p:nvSpPr>
          <p:spPr bwMode="gray">
            <a:xfrm>
              <a:off x="1776" y="1934"/>
              <a:ext cx="2431" cy="218"/>
            </a:xfrm>
            <a:prstGeom prst="rect">
              <a:avLst/>
            </a:prstGeom>
            <a:noFill/>
            <a:ln w="9525" algn="ctr">
              <a:noFill/>
              <a:miter lim="800000"/>
              <a:headEnd/>
              <a:tailEnd/>
            </a:ln>
            <a:effectLst/>
          </p:spPr>
          <p:txBody>
            <a:bodyPr wrap="square">
              <a:spAutoFit/>
            </a:bodyPr>
            <a:lstStyle/>
            <a:p>
              <a:pPr>
                <a:defRPr/>
              </a:pPr>
              <a:r>
                <a:rPr lang="vi-VN" sz="2400" b="1" dirty="0">
                  <a:solidFill>
                    <a:schemeClr val="bg1"/>
                  </a:solidFill>
                  <a:effectLst>
                    <a:outerShdw blurRad="38100" dist="38100" dir="2700000" algn="tl">
                      <a:srgbClr val="000000">
                        <a:alpha val="43137"/>
                      </a:srgbClr>
                    </a:outerShdw>
                  </a:effectLst>
                  <a:latin typeface="Arial" charset="0"/>
                  <a:cs typeface="+mn-cs"/>
                </a:rPr>
                <a:t>TỔNG QUAN</a:t>
              </a:r>
              <a:endParaRPr lang="en-US" sz="2400" b="1" dirty="0">
                <a:solidFill>
                  <a:schemeClr val="bg1"/>
                </a:solidFill>
                <a:effectLst>
                  <a:outerShdw blurRad="38100" dist="38100" dir="2700000" algn="tl">
                    <a:srgbClr val="000000">
                      <a:alpha val="43137"/>
                    </a:srgbClr>
                  </a:outerShdw>
                </a:effectLst>
                <a:latin typeface="Arial" charset="0"/>
                <a:cs typeface="+mn-cs"/>
              </a:endParaRPr>
            </a:p>
          </p:txBody>
        </p:sp>
        <p:sp>
          <p:nvSpPr>
            <p:cNvPr id="44" name="Text Box 4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0</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45" name="Group 52"/>
          <p:cNvGrpSpPr>
            <a:grpSpLocks/>
          </p:cNvGrpSpPr>
          <p:nvPr/>
        </p:nvGrpSpPr>
        <p:grpSpPr bwMode="auto">
          <a:xfrm>
            <a:off x="1143000" y="1779587"/>
            <a:ext cx="7848600" cy="762000"/>
            <a:chOff x="1296" y="1824"/>
            <a:chExt cx="3360" cy="432"/>
          </a:xfrm>
        </p:grpSpPr>
        <p:sp>
          <p:nvSpPr>
            <p:cNvPr id="46" name="AutoShape 5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7" name="AutoShape 5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8" name="Text Box 55"/>
            <p:cNvSpPr txBox="1">
              <a:spLocks noChangeArrowheads="1"/>
            </p:cNvSpPr>
            <p:nvPr/>
          </p:nvSpPr>
          <p:spPr bwMode="gray">
            <a:xfrm>
              <a:off x="1776" y="1934"/>
              <a:ext cx="2880" cy="262"/>
            </a:xfrm>
            <a:prstGeom prst="rect">
              <a:avLst/>
            </a:prstGeom>
            <a:noFill/>
            <a:ln w="9525" algn="ctr">
              <a:noFill/>
              <a:miter lim="800000"/>
              <a:headEnd/>
              <a:tailEnd/>
            </a:ln>
            <a:effectLst/>
          </p:spPr>
          <p:txBody>
            <a:bodyPr>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KẾ HOẠCH QUẢN LÝ PHẠM VI</a:t>
              </a:r>
            </a:p>
          </p:txBody>
        </p:sp>
        <p:sp>
          <p:nvSpPr>
            <p:cNvPr id="49" name="Text Box 5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1</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50" name="Group 57"/>
          <p:cNvGrpSpPr>
            <a:grpSpLocks/>
          </p:cNvGrpSpPr>
          <p:nvPr/>
        </p:nvGrpSpPr>
        <p:grpSpPr bwMode="auto">
          <a:xfrm>
            <a:off x="1173162" y="2541587"/>
            <a:ext cx="7281407" cy="762000"/>
            <a:chOff x="1296" y="1824"/>
            <a:chExt cx="3117" cy="432"/>
          </a:xfrm>
        </p:grpSpPr>
        <p:sp>
          <p:nvSpPr>
            <p:cNvPr id="51"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2"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3" name="Text Box 60"/>
            <p:cNvSpPr txBox="1">
              <a:spLocks noChangeArrowheads="1"/>
            </p:cNvSpPr>
            <p:nvPr/>
          </p:nvSpPr>
          <p:spPr bwMode="gray">
            <a:xfrm>
              <a:off x="1776" y="1920"/>
              <a:ext cx="2637"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latin typeface="Arial" charset="0"/>
                  <a:cs typeface="Arial" charset="0"/>
                </a:rPr>
                <a:t>THU THẬP YÊU CẦU</a:t>
              </a:r>
            </a:p>
          </p:txBody>
        </p:sp>
        <p:sp>
          <p:nvSpPr>
            <p:cNvPr id="54" name="Text Box 61"/>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2</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23" name="Group 42"/>
          <p:cNvGrpSpPr>
            <a:grpSpLocks/>
          </p:cNvGrpSpPr>
          <p:nvPr/>
        </p:nvGrpSpPr>
        <p:grpSpPr bwMode="auto">
          <a:xfrm>
            <a:off x="1143000" y="3276600"/>
            <a:ext cx="7620134" cy="762000"/>
            <a:chOff x="1296" y="1824"/>
            <a:chExt cx="3262" cy="432"/>
          </a:xfrm>
        </p:grpSpPr>
        <p:sp>
          <p:nvSpPr>
            <p:cNvPr id="24" name="AutoShape 4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5"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6" name="Text Box 45"/>
            <p:cNvSpPr txBox="1">
              <a:spLocks noChangeArrowheads="1"/>
            </p:cNvSpPr>
            <p:nvPr/>
          </p:nvSpPr>
          <p:spPr bwMode="gray">
            <a:xfrm>
              <a:off x="1776" y="1934"/>
              <a:ext cx="2782"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XÁC ĐỊNH PHẠM VI</a:t>
              </a:r>
            </a:p>
          </p:txBody>
        </p:sp>
        <p:sp>
          <p:nvSpPr>
            <p:cNvPr id="27" name="Text Box 4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3</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28" name="Group 52"/>
          <p:cNvGrpSpPr>
            <a:grpSpLocks/>
          </p:cNvGrpSpPr>
          <p:nvPr/>
        </p:nvGrpSpPr>
        <p:grpSpPr bwMode="auto">
          <a:xfrm>
            <a:off x="1143001" y="4065587"/>
            <a:ext cx="7848600" cy="762000"/>
            <a:chOff x="1296" y="1824"/>
            <a:chExt cx="3360" cy="432"/>
          </a:xfrm>
        </p:grpSpPr>
        <p:sp>
          <p:nvSpPr>
            <p:cNvPr id="29" name="AutoShape 5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0" name="AutoShape 5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1" name="Text Box 55"/>
            <p:cNvSpPr txBox="1">
              <a:spLocks noChangeArrowheads="1"/>
            </p:cNvSpPr>
            <p:nvPr/>
          </p:nvSpPr>
          <p:spPr bwMode="gray">
            <a:xfrm>
              <a:off x="1776" y="1934"/>
              <a:ext cx="2880" cy="262"/>
            </a:xfrm>
            <a:prstGeom prst="rect">
              <a:avLst/>
            </a:prstGeom>
            <a:noFill/>
            <a:ln w="9525" algn="ctr">
              <a:noFill/>
              <a:miter lim="800000"/>
              <a:headEnd/>
              <a:tailEnd/>
            </a:ln>
            <a:effectLst/>
          </p:spPr>
          <p:txBody>
            <a:bodyPr>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TẠO PHÂN RÃ CÔNG VIỆC (WBS)</a:t>
              </a:r>
            </a:p>
          </p:txBody>
        </p:sp>
        <p:sp>
          <p:nvSpPr>
            <p:cNvPr id="32" name="Text Box 5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4</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33" name="Group 57"/>
          <p:cNvGrpSpPr>
            <a:grpSpLocks/>
          </p:cNvGrpSpPr>
          <p:nvPr/>
        </p:nvGrpSpPr>
        <p:grpSpPr bwMode="auto">
          <a:xfrm>
            <a:off x="1173163" y="4827587"/>
            <a:ext cx="7281407" cy="762000"/>
            <a:chOff x="1296" y="1824"/>
            <a:chExt cx="3117" cy="432"/>
          </a:xfrm>
        </p:grpSpPr>
        <p:sp>
          <p:nvSpPr>
            <p:cNvPr id="34"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7"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8" name="Text Box 60"/>
            <p:cNvSpPr txBox="1">
              <a:spLocks noChangeArrowheads="1"/>
            </p:cNvSpPr>
            <p:nvPr/>
          </p:nvSpPr>
          <p:spPr bwMode="gray">
            <a:xfrm>
              <a:off x="1776" y="1920"/>
              <a:ext cx="2637"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latin typeface="Arial" charset="0"/>
                  <a:cs typeface="Arial" charset="0"/>
                </a:rPr>
                <a:t>XÁC NHẬN PHẠM VI</a:t>
              </a:r>
            </a:p>
          </p:txBody>
        </p:sp>
        <p:sp>
          <p:nvSpPr>
            <p:cNvPr id="39" name="Text Box 61"/>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5</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55" name="Group 57"/>
          <p:cNvGrpSpPr>
            <a:grpSpLocks/>
          </p:cNvGrpSpPr>
          <p:nvPr/>
        </p:nvGrpSpPr>
        <p:grpSpPr bwMode="auto">
          <a:xfrm>
            <a:off x="1176793" y="5562600"/>
            <a:ext cx="7281407" cy="762000"/>
            <a:chOff x="1296" y="1824"/>
            <a:chExt cx="3117" cy="432"/>
          </a:xfrm>
        </p:grpSpPr>
        <p:sp>
          <p:nvSpPr>
            <p:cNvPr id="56"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7"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8" name="Text Box 60"/>
            <p:cNvSpPr txBox="1">
              <a:spLocks noChangeArrowheads="1"/>
            </p:cNvSpPr>
            <p:nvPr/>
          </p:nvSpPr>
          <p:spPr bwMode="gray">
            <a:xfrm>
              <a:off x="1776" y="1920"/>
              <a:ext cx="2637"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latin typeface="Arial" charset="0"/>
                  <a:cs typeface="Arial" charset="0"/>
                </a:rPr>
                <a:t>KIỂM SOÁT PHẠM VI</a:t>
              </a:r>
            </a:p>
          </p:txBody>
        </p:sp>
        <p:sp>
          <p:nvSpPr>
            <p:cNvPr id="59" name="Text Box 61"/>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6</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sp>
        <p:nvSpPr>
          <p:cNvPr id="60"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spTree>
    <p:extLst>
      <p:ext uri="{BB962C8B-B14F-4D97-AF65-F5344CB8AC3E}">
        <p14:creationId xmlns:p14="http://schemas.microsoft.com/office/powerpoint/2010/main" val="406497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anim calcmode="lin" valueType="num">
                                      <p:cBhvr>
                                        <p:cTn id="8" dur="500" fill="hold"/>
                                        <p:tgtEl>
                                          <p:spTgt spid="36"/>
                                        </p:tgtEl>
                                        <p:attrNameLst>
                                          <p:attrName>ppt_x</p:attrName>
                                        </p:attrNameLst>
                                      </p:cBhvr>
                                      <p:tavLst>
                                        <p:tav tm="0">
                                          <p:val>
                                            <p:strVal val="#ppt_x"/>
                                          </p:val>
                                        </p:tav>
                                        <p:tav tm="100000">
                                          <p:val>
                                            <p:strVal val="#ppt_x"/>
                                          </p:val>
                                        </p:tav>
                                      </p:tavLst>
                                    </p:anim>
                                    <p:anim calcmode="lin" valueType="num">
                                      <p:cBhvr>
                                        <p:cTn id="9" dur="50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anim calcmode="lin" valueType="num">
                                      <p:cBhvr>
                                        <p:cTn id="14" dur="500" fill="hold"/>
                                        <p:tgtEl>
                                          <p:spTgt spid="45"/>
                                        </p:tgtEl>
                                        <p:attrNameLst>
                                          <p:attrName>ppt_x</p:attrName>
                                        </p:attrNameLst>
                                      </p:cBhvr>
                                      <p:tavLst>
                                        <p:tav tm="0">
                                          <p:val>
                                            <p:strVal val="#ppt_x"/>
                                          </p:val>
                                        </p:tav>
                                        <p:tav tm="100000">
                                          <p:val>
                                            <p:strVal val="#ppt_x"/>
                                          </p:val>
                                        </p:tav>
                                      </p:tavLst>
                                    </p:anim>
                                    <p:anim calcmode="lin" valueType="num">
                                      <p:cBhvr>
                                        <p:cTn id="15" dur="500" fill="hold"/>
                                        <p:tgtEl>
                                          <p:spTgt spid="4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anim calcmode="lin" valueType="num">
                                      <p:cBhvr>
                                        <p:cTn id="20" dur="500" fill="hold"/>
                                        <p:tgtEl>
                                          <p:spTgt spid="50"/>
                                        </p:tgtEl>
                                        <p:attrNameLst>
                                          <p:attrName>ppt_x</p:attrName>
                                        </p:attrNameLst>
                                      </p:cBhvr>
                                      <p:tavLst>
                                        <p:tav tm="0">
                                          <p:val>
                                            <p:strVal val="#ppt_x"/>
                                          </p:val>
                                        </p:tav>
                                        <p:tav tm="100000">
                                          <p:val>
                                            <p:strVal val="#ppt_x"/>
                                          </p:val>
                                        </p:tav>
                                      </p:tavLst>
                                    </p:anim>
                                    <p:anim calcmode="lin" valueType="num">
                                      <p:cBhvr>
                                        <p:cTn id="21" dur="500" fill="hold"/>
                                        <p:tgtEl>
                                          <p:spTgt spid="5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anim calcmode="lin" valueType="num">
                                      <p:cBhvr>
                                        <p:cTn id="26" dur="500" fill="hold"/>
                                        <p:tgtEl>
                                          <p:spTgt spid="23"/>
                                        </p:tgtEl>
                                        <p:attrNameLst>
                                          <p:attrName>ppt_x</p:attrName>
                                        </p:attrNameLst>
                                      </p:cBhvr>
                                      <p:tavLst>
                                        <p:tav tm="0">
                                          <p:val>
                                            <p:strVal val="#ppt_x"/>
                                          </p:val>
                                        </p:tav>
                                        <p:tav tm="100000">
                                          <p:val>
                                            <p:strVal val="#ppt_x"/>
                                          </p:val>
                                        </p:tav>
                                      </p:tavLst>
                                    </p:anim>
                                    <p:anim calcmode="lin" valueType="num">
                                      <p:cBhvr>
                                        <p:cTn id="27" dur="500" fill="hold"/>
                                        <p:tgtEl>
                                          <p:spTgt spid="23"/>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anim calcmode="lin" valueType="num">
                                      <p:cBhvr>
                                        <p:cTn id="32" dur="500" fill="hold"/>
                                        <p:tgtEl>
                                          <p:spTgt spid="28"/>
                                        </p:tgtEl>
                                        <p:attrNameLst>
                                          <p:attrName>ppt_x</p:attrName>
                                        </p:attrNameLst>
                                      </p:cBhvr>
                                      <p:tavLst>
                                        <p:tav tm="0">
                                          <p:val>
                                            <p:strVal val="#ppt_x"/>
                                          </p:val>
                                        </p:tav>
                                        <p:tav tm="100000">
                                          <p:val>
                                            <p:strVal val="#ppt_x"/>
                                          </p:val>
                                        </p:tav>
                                      </p:tavLst>
                                    </p:anim>
                                    <p:anim calcmode="lin" valueType="num">
                                      <p:cBhvr>
                                        <p:cTn id="33" dur="500" fill="hold"/>
                                        <p:tgtEl>
                                          <p:spTgt spid="28"/>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anim calcmode="lin" valueType="num">
                                      <p:cBhvr>
                                        <p:cTn id="38" dur="500" fill="hold"/>
                                        <p:tgtEl>
                                          <p:spTgt spid="33"/>
                                        </p:tgtEl>
                                        <p:attrNameLst>
                                          <p:attrName>ppt_x</p:attrName>
                                        </p:attrNameLst>
                                      </p:cBhvr>
                                      <p:tavLst>
                                        <p:tav tm="0">
                                          <p:val>
                                            <p:strVal val="#ppt_x"/>
                                          </p:val>
                                        </p:tav>
                                        <p:tav tm="100000">
                                          <p:val>
                                            <p:strVal val="#ppt_x"/>
                                          </p:val>
                                        </p:tav>
                                      </p:tavLst>
                                    </p:anim>
                                    <p:anim calcmode="lin" valueType="num">
                                      <p:cBhvr>
                                        <p:cTn id="39" dur="500" fill="hold"/>
                                        <p:tgtEl>
                                          <p:spTgt spid="33"/>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nodeType="after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anim calcmode="lin" valueType="num">
                                      <p:cBhvr>
                                        <p:cTn id="44" dur="500" fill="hold"/>
                                        <p:tgtEl>
                                          <p:spTgt spid="55"/>
                                        </p:tgtEl>
                                        <p:attrNameLst>
                                          <p:attrName>ppt_x</p:attrName>
                                        </p:attrNameLst>
                                      </p:cBhvr>
                                      <p:tavLst>
                                        <p:tav tm="0">
                                          <p:val>
                                            <p:strVal val="#ppt_x"/>
                                          </p:val>
                                        </p:tav>
                                        <p:tav tm="100000">
                                          <p:val>
                                            <p:strVal val="#ppt_x"/>
                                          </p:val>
                                        </p:tav>
                                      </p:tavLst>
                                    </p:anim>
                                    <p:anim calcmode="lin" valueType="num">
                                      <p:cBhvr>
                                        <p:cTn id="45" dur="5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81000" y="1828800"/>
            <a:ext cx="8229600" cy="3429000"/>
          </a:xfrm>
        </p:spPr>
        <p:txBody>
          <a:bodyPr/>
          <a:lstStyle/>
          <a:p>
            <a:pPr algn="just"/>
            <a:r>
              <a:rPr lang="vi-VN" b="1" dirty="0"/>
              <a:t>Phạm vi </a:t>
            </a:r>
            <a:r>
              <a:rPr lang="vi-VN" dirty="0"/>
              <a:t>(</a:t>
            </a:r>
            <a:r>
              <a:rPr lang="en-US" dirty="0">
                <a:solidFill>
                  <a:srgbClr val="0070C0"/>
                </a:solidFill>
              </a:rPr>
              <a:t>scope</a:t>
            </a:r>
            <a:r>
              <a:rPr lang="vi-VN" dirty="0"/>
              <a:t>): danh sách tất cả công việc liên quan cần (hoặc không cần) làm của dự án, và quy trình thực hiện các công việc này.</a:t>
            </a:r>
          </a:p>
          <a:p>
            <a:pPr algn="just"/>
            <a:endParaRPr lang="vi-VN" sz="1200" dirty="0"/>
          </a:p>
          <a:p>
            <a:pPr algn="just"/>
            <a:r>
              <a:rPr lang="vi-VN" dirty="0">
                <a:effectLst>
                  <a:outerShdw blurRad="38100" dist="38100" dir="2700000" algn="tl">
                    <a:srgbClr val="000000">
                      <a:alpha val="43137"/>
                    </a:srgbClr>
                  </a:outerShdw>
                </a:effectLst>
              </a:rPr>
              <a:t>Sự chuyển giao </a:t>
            </a:r>
            <a:r>
              <a:rPr lang="vi-VN" dirty="0"/>
              <a:t>(</a:t>
            </a:r>
            <a:r>
              <a:rPr lang="vi-VN" dirty="0">
                <a:solidFill>
                  <a:srgbClr val="0070C0"/>
                </a:solidFill>
              </a:rPr>
              <a:t>deliverable</a:t>
            </a:r>
            <a:r>
              <a:rPr lang="vi-VN" dirty="0"/>
              <a:t>): những kết quả sẽ được chuyển giao của dự án CNTT/HTTT...</a:t>
            </a:r>
          </a:p>
          <a:p>
            <a:pPr lvl="1" algn="just">
              <a:buFont typeface="Arial" panose="020B0604020202020204" pitchFamily="34" charset="0"/>
              <a:buChar char="•"/>
            </a:pPr>
            <a:r>
              <a:rPr lang="vi-VN" dirty="0"/>
              <a:t>V.d., phần cứng, phần mềm, tài liệu, đào tạo...</a:t>
            </a:r>
            <a:endParaRPr lang="en-US" dirty="0"/>
          </a:p>
        </p:txBody>
      </p:sp>
      <p:sp>
        <p:nvSpPr>
          <p:cNvPr id="11266" name="Rectangle 2"/>
          <p:cNvSpPr>
            <a:spLocks noGrp="1" noChangeArrowheads="1"/>
          </p:cNvSpPr>
          <p:nvPr>
            <p:ph type="title"/>
          </p:nvPr>
        </p:nvSpPr>
        <p:spPr>
          <a:xfrm>
            <a:off x="381000" y="381000"/>
            <a:ext cx="7848600" cy="914400"/>
          </a:xfrm>
        </p:spPr>
        <p:txBody>
          <a:bodyPr>
            <a:normAutofit/>
          </a:bodyPr>
          <a:lstStyle/>
          <a:p>
            <a:pPr algn="ctr"/>
            <a:r>
              <a:rPr lang="en-US" sz="4400" dirty="0">
                <a:solidFill>
                  <a:srgbClr val="FF0000"/>
                </a:solidFill>
              </a:rPr>
              <a:t>Quản lý </a:t>
            </a:r>
            <a:r>
              <a:rPr lang="en-US" sz="4400" dirty="0" err="1">
                <a:solidFill>
                  <a:srgbClr val="FF0000"/>
                </a:solidFill>
              </a:rPr>
              <a:t>phạm</a:t>
            </a:r>
            <a:r>
              <a:rPr lang="en-US" sz="4400" dirty="0">
                <a:solidFill>
                  <a:srgbClr val="FF0000"/>
                </a:solidFill>
              </a:rPr>
              <a:t> vi </a:t>
            </a:r>
            <a:r>
              <a:rPr lang="en-US" sz="4400" dirty="0" err="1">
                <a:solidFill>
                  <a:srgbClr val="FF0000"/>
                </a:solidFill>
              </a:rPr>
              <a:t>dự</a:t>
            </a:r>
            <a:r>
              <a:rPr lang="en-US" sz="4400" dirty="0">
                <a:solidFill>
                  <a:srgbClr val="FF0000"/>
                </a:solidFill>
              </a:rPr>
              <a:t> </a:t>
            </a:r>
            <a:r>
              <a:rPr lang="en-US" sz="4400" dirty="0" err="1">
                <a:solidFill>
                  <a:srgbClr val="FF0000"/>
                </a:solidFill>
              </a:rPr>
              <a:t>án</a:t>
            </a:r>
            <a:endParaRPr lang="en-US" sz="4400" dirty="0">
              <a:solidFill>
                <a:srgbClr val="FF0000"/>
              </a:solidFill>
            </a:endParaRPr>
          </a:p>
        </p:txBody>
      </p:sp>
      <p:sp>
        <p:nvSpPr>
          <p:cNvPr id="11268"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B025C1AB-8807-4B29-B4CC-E824C132B47E}" type="slidenum">
              <a:rPr lang="en-US" smtClean="0"/>
              <a:pPr>
                <a:defRPr/>
              </a:pPr>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28599" y="1143000"/>
            <a:ext cx="8737665" cy="4648200"/>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8</a:t>
            </a:fld>
            <a:endParaRPr lang="en-US" dirty="0"/>
          </a:p>
        </p:txBody>
      </p:sp>
      <p:sp>
        <p:nvSpPr>
          <p:cNvPr id="6" name="Rectangle 2"/>
          <p:cNvSpPr>
            <a:spLocks noGrp="1" noChangeArrowheads="1"/>
          </p:cNvSpPr>
          <p:nvPr>
            <p:ph type="title"/>
          </p:nvPr>
        </p:nvSpPr>
        <p:spPr>
          <a:xfrm>
            <a:off x="304800" y="228600"/>
            <a:ext cx="8458200" cy="685800"/>
          </a:xfrm>
        </p:spPr>
        <p:txBody>
          <a:bodyPr>
            <a:noAutofit/>
          </a:bodyPr>
          <a:lstStyle/>
          <a:p>
            <a:pPr algn="ctr"/>
            <a:r>
              <a:rPr lang="vi-VN" sz="3600" dirty="0">
                <a:solidFill>
                  <a:schemeClr val="bg1">
                    <a:lumMod val="65000"/>
                  </a:schemeClr>
                </a:solidFill>
              </a:rPr>
              <a:t>Tương tác trong dự án [phạm vi]</a:t>
            </a:r>
            <a:endParaRPr lang="en-US" sz="3600" dirty="0">
              <a:solidFill>
                <a:schemeClr val="bg1">
                  <a:lumMod val="65000"/>
                </a:schemeClr>
              </a:solidFill>
            </a:endParaRPr>
          </a:p>
        </p:txBody>
      </p:sp>
      <p:sp>
        <p:nvSpPr>
          <p:cNvPr id="7" name="Rounded Rectangle 6"/>
          <p:cNvSpPr/>
          <p:nvPr/>
        </p:nvSpPr>
        <p:spPr>
          <a:xfrm>
            <a:off x="2362200" y="1627496"/>
            <a:ext cx="1295400" cy="6858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Rectangle 1"/>
          <p:cNvSpPr/>
          <p:nvPr/>
        </p:nvSpPr>
        <p:spPr>
          <a:xfrm>
            <a:off x="4876800" y="6076890"/>
            <a:ext cx="2348720" cy="400110"/>
          </a:xfrm>
          <a:prstGeom prst="rect">
            <a:avLst/>
          </a:prstGeom>
        </p:spPr>
        <p:txBody>
          <a:bodyPr wrap="none">
            <a:spAutoFit/>
          </a:bodyPr>
          <a:lstStyle/>
          <a:p>
            <a:r>
              <a:rPr lang="vi-VN" sz="2000" dirty="0"/>
              <a:t>Nguồn: PMI</a:t>
            </a:r>
            <a:r>
              <a:rPr lang="vi-VN" sz="2000" dirty="0">
                <a:effectLst>
                  <a:outerShdw blurRad="38100" dist="38100" dir="2700000" algn="tl">
                    <a:srgbClr val="000000">
                      <a:alpha val="43137"/>
                    </a:srgbClr>
                  </a:outerShdw>
                </a:effectLst>
              </a:rPr>
              <a:t> </a:t>
            </a:r>
            <a:r>
              <a:rPr lang="vi-VN" sz="2000"/>
              <a:t>(201</a:t>
            </a:r>
            <a:r>
              <a:rPr lang="en-US" sz="2000"/>
              <a:t>7</a:t>
            </a:r>
            <a:r>
              <a:rPr lang="vi-VN" sz="2000"/>
              <a:t>)</a:t>
            </a:r>
            <a:endParaRPr lang="vi-VN" sz="2000" dirty="0"/>
          </a:p>
        </p:txBody>
      </p:sp>
      <p:sp>
        <p:nvSpPr>
          <p:cNvPr id="8" name="Rounded Rectangle 7"/>
          <p:cNvSpPr/>
          <p:nvPr/>
        </p:nvSpPr>
        <p:spPr>
          <a:xfrm>
            <a:off x="5826456" y="1592240"/>
            <a:ext cx="1295400" cy="6858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2779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9</a:t>
            </a:fld>
            <a:endParaRPr lang="en-US" dirty="0"/>
          </a:p>
        </p:txBody>
      </p:sp>
      <p:sp>
        <p:nvSpPr>
          <p:cNvPr id="9" name="Title 1"/>
          <p:cNvSpPr>
            <a:spLocks noGrp="1"/>
          </p:cNvSpPr>
          <p:nvPr>
            <p:ph type="title"/>
          </p:nvPr>
        </p:nvSpPr>
        <p:spPr>
          <a:xfrm>
            <a:off x="381000" y="228600"/>
            <a:ext cx="8305800" cy="1143000"/>
          </a:xfrm>
        </p:spPr>
        <p:txBody>
          <a:bodyPr>
            <a:noAutofit/>
          </a:bodyPr>
          <a:lstStyle/>
          <a:p>
            <a:pPr algn="ctr" eaLnBrk="1" hangingPunct="1">
              <a:defRPr/>
            </a:pPr>
            <a:r>
              <a:rPr lang="en-US" sz="4000" dirty="0">
                <a:solidFill>
                  <a:srgbClr val="0070C0"/>
                </a:solidFill>
              </a:rPr>
              <a:t>Quản lý </a:t>
            </a:r>
            <a:r>
              <a:rPr lang="en-US" sz="4000" dirty="0" err="1">
                <a:solidFill>
                  <a:srgbClr val="0070C0"/>
                </a:solidFill>
              </a:rPr>
              <a:t>phạm</a:t>
            </a:r>
            <a:r>
              <a:rPr lang="en-US" sz="4000" dirty="0">
                <a:solidFill>
                  <a:srgbClr val="0070C0"/>
                </a:solidFill>
              </a:rPr>
              <a:t> vi </a:t>
            </a:r>
            <a:r>
              <a:rPr lang="en-US" sz="4000" dirty="0" err="1">
                <a:solidFill>
                  <a:srgbClr val="0070C0"/>
                </a:solidFill>
              </a:rPr>
              <a:t>dự</a:t>
            </a:r>
            <a:r>
              <a:rPr lang="en-US" sz="4000" dirty="0">
                <a:solidFill>
                  <a:srgbClr val="0070C0"/>
                </a:solidFill>
              </a:rPr>
              <a:t> </a:t>
            </a:r>
            <a:r>
              <a:rPr lang="en-US" sz="4000" dirty="0" err="1">
                <a:solidFill>
                  <a:srgbClr val="0070C0"/>
                </a:solidFill>
              </a:rPr>
              <a:t>án</a:t>
            </a:r>
            <a:r>
              <a:rPr lang="en-US" sz="4000" dirty="0">
                <a:solidFill>
                  <a:srgbClr val="0070C0"/>
                </a:solidFill>
              </a:rPr>
              <a:t> [6]</a:t>
            </a:r>
          </a:p>
        </p:txBody>
      </p:sp>
      <p:sp>
        <p:nvSpPr>
          <p:cNvPr id="7"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pic>
        <p:nvPicPr>
          <p:cNvPr id="3" name="Picture 2"/>
          <p:cNvPicPr>
            <a:picLocks noChangeAspect="1"/>
          </p:cNvPicPr>
          <p:nvPr/>
        </p:nvPicPr>
        <p:blipFill>
          <a:blip r:embed="rId2"/>
          <a:stretch>
            <a:fillRect/>
          </a:stretch>
        </p:blipFill>
        <p:spPr>
          <a:xfrm>
            <a:off x="38100" y="1343025"/>
            <a:ext cx="9067800" cy="4171950"/>
          </a:xfrm>
          <a:prstGeom prst="rect">
            <a:avLst/>
          </a:prstGeom>
        </p:spPr>
      </p:pic>
    </p:spTree>
    <p:extLst>
      <p:ext uri="{BB962C8B-B14F-4D97-AF65-F5344CB8AC3E}">
        <p14:creationId xmlns:p14="http://schemas.microsoft.com/office/powerpoint/2010/main" val="1686984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381000" y="1524000"/>
            <a:ext cx="8229600" cy="4191000"/>
          </a:xfrm>
        </p:spPr>
        <p:txBody>
          <a:bodyPr/>
          <a:lstStyle/>
          <a:p>
            <a:pPr algn="just"/>
            <a:r>
              <a:rPr lang="vi-VN" b="1" dirty="0"/>
              <a:t>Kế hoạch quản lý phạm vi </a:t>
            </a:r>
            <a:r>
              <a:rPr lang="vi-VN" dirty="0"/>
              <a:t>(</a:t>
            </a:r>
            <a:r>
              <a:rPr lang="en-US" dirty="0">
                <a:solidFill>
                  <a:srgbClr val="0070C0"/>
                </a:solidFill>
              </a:rPr>
              <a:t>plan scope</a:t>
            </a:r>
            <a:r>
              <a:rPr lang="vi-VN" dirty="0">
                <a:solidFill>
                  <a:srgbClr val="0070C0"/>
                </a:solidFill>
              </a:rPr>
              <a:t> management</a:t>
            </a:r>
            <a:r>
              <a:rPr lang="vi-VN" dirty="0"/>
              <a:t>): xác định phạm vi và các yêu cầu của dự án.</a:t>
            </a:r>
          </a:p>
          <a:p>
            <a:pPr algn="just"/>
            <a:endParaRPr lang="en-US" sz="1200" dirty="0"/>
          </a:p>
          <a:p>
            <a:pPr algn="just"/>
            <a:r>
              <a:rPr lang="vi-VN" b="1" dirty="0"/>
              <a:t>Thu thập yêu cầu </a:t>
            </a:r>
            <a:r>
              <a:rPr lang="vi-VN" dirty="0"/>
              <a:t>(</a:t>
            </a:r>
            <a:r>
              <a:rPr lang="en-US" dirty="0">
                <a:solidFill>
                  <a:srgbClr val="0070C0"/>
                </a:solidFill>
              </a:rPr>
              <a:t>collect requirements</a:t>
            </a:r>
            <a:r>
              <a:rPr lang="vi-VN" dirty="0"/>
              <a:t>): xác định các tài liệu cung cấp cho việc thực hiện dự án.</a:t>
            </a:r>
          </a:p>
          <a:p>
            <a:pPr algn="just"/>
            <a:endParaRPr lang="en-US" sz="1200" dirty="0"/>
          </a:p>
          <a:p>
            <a:pPr algn="just"/>
            <a:r>
              <a:rPr lang="vi-VN" b="1" dirty="0"/>
              <a:t>Xác định phạm vi</a:t>
            </a:r>
            <a:r>
              <a:rPr lang="en-US" b="1" dirty="0"/>
              <a:t> </a:t>
            </a:r>
            <a:r>
              <a:rPr lang="en-US" dirty="0"/>
              <a:t>(</a:t>
            </a:r>
            <a:r>
              <a:rPr lang="en-US" dirty="0">
                <a:solidFill>
                  <a:srgbClr val="0070C0"/>
                </a:solidFill>
              </a:rPr>
              <a:t>define scope</a:t>
            </a:r>
            <a:r>
              <a:rPr lang="vi-VN" dirty="0"/>
              <a:t>): xem xét điều lệ dự án, tài liệu yêu cầu, tài sản quy trình tổ chức để tạo tuyên bố phạm vi.</a:t>
            </a:r>
            <a:endParaRPr lang="en-US" dirty="0"/>
          </a:p>
          <a:p>
            <a:pPr algn="just"/>
            <a:endParaRPr lang="en-US" sz="300" dirty="0"/>
          </a:p>
          <a:p>
            <a:pPr algn="just"/>
            <a:endParaRPr lang="en-US" sz="300" dirty="0"/>
          </a:p>
        </p:txBody>
      </p:sp>
      <p:sp>
        <p:nvSpPr>
          <p:cNvPr id="12290" name="Rectangle 2"/>
          <p:cNvSpPr>
            <a:spLocks noGrp="1" noChangeArrowheads="1"/>
          </p:cNvSpPr>
          <p:nvPr>
            <p:ph type="title"/>
          </p:nvPr>
        </p:nvSpPr>
        <p:spPr>
          <a:xfrm>
            <a:off x="228600" y="547687"/>
            <a:ext cx="8763000" cy="519113"/>
          </a:xfrm>
        </p:spPr>
        <p:txBody>
          <a:bodyPr>
            <a:noAutofit/>
          </a:bodyPr>
          <a:lstStyle/>
          <a:p>
            <a:pPr algn="ctr"/>
            <a:r>
              <a:rPr lang="en-US" sz="4400" dirty="0" err="1">
                <a:solidFill>
                  <a:srgbClr val="0070C0"/>
                </a:solidFill>
              </a:rPr>
              <a:t>Quy</a:t>
            </a:r>
            <a:r>
              <a:rPr lang="en-US" sz="4400" dirty="0">
                <a:solidFill>
                  <a:srgbClr val="0070C0"/>
                </a:solidFill>
              </a:rPr>
              <a:t> </a:t>
            </a:r>
            <a:r>
              <a:rPr lang="en-US" sz="4400" dirty="0" err="1">
                <a:solidFill>
                  <a:srgbClr val="0070C0"/>
                </a:solidFill>
              </a:rPr>
              <a:t>trình</a:t>
            </a:r>
            <a:r>
              <a:rPr lang="en-US" sz="4400" dirty="0">
                <a:solidFill>
                  <a:srgbClr val="0070C0"/>
                </a:solidFill>
              </a:rPr>
              <a:t> quản lý </a:t>
            </a:r>
            <a:r>
              <a:rPr lang="en-US" sz="4400" dirty="0" err="1">
                <a:solidFill>
                  <a:srgbClr val="0070C0"/>
                </a:solidFill>
              </a:rPr>
              <a:t>phạm</a:t>
            </a:r>
            <a:r>
              <a:rPr lang="en-US" sz="4400" dirty="0">
                <a:solidFill>
                  <a:srgbClr val="0070C0"/>
                </a:solidFill>
              </a:rPr>
              <a:t> vi</a:t>
            </a:r>
            <a:endParaRPr lang="en-US" sz="6000" dirty="0">
              <a:solidFill>
                <a:srgbClr val="0070C0"/>
              </a:solidFill>
            </a:endParaRPr>
          </a:p>
        </p:txBody>
      </p:sp>
      <p:sp>
        <p:nvSpPr>
          <p:cNvPr id="12292"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1180FD82-E557-4AEA-BC1F-775718A59924}"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228600" y="1752600"/>
            <a:ext cx="8382000" cy="3810000"/>
          </a:xfrm>
        </p:spPr>
        <p:txBody>
          <a:bodyPr/>
          <a:lstStyle/>
          <a:p>
            <a:pPr algn="just"/>
            <a:endParaRPr lang="en-US" sz="300" dirty="0"/>
          </a:p>
          <a:p>
            <a:pPr algn="just"/>
            <a:r>
              <a:rPr lang="vi-VN" b="1" dirty="0"/>
              <a:t>Phân rã công việc </a:t>
            </a:r>
            <a:r>
              <a:rPr lang="en-US" dirty="0"/>
              <a:t>(</a:t>
            </a:r>
            <a:r>
              <a:rPr lang="en-US" dirty="0">
                <a:solidFill>
                  <a:srgbClr val="0070C0"/>
                </a:solidFill>
              </a:rPr>
              <a:t>create WBS</a:t>
            </a:r>
            <a:r>
              <a:rPr lang="vi-VN" dirty="0"/>
              <a:t>): chia các công việc thành những phần nhỏ hơn, dễ quản lý hơn...</a:t>
            </a:r>
          </a:p>
          <a:p>
            <a:pPr algn="just"/>
            <a:endParaRPr lang="vi-VN" sz="1200" b="1" dirty="0"/>
          </a:p>
          <a:p>
            <a:pPr algn="just"/>
            <a:r>
              <a:rPr lang="vi-VN" b="1" dirty="0"/>
              <a:t>Xác nhận phạm vi </a:t>
            </a:r>
            <a:r>
              <a:rPr lang="vi-VN" dirty="0"/>
              <a:t>(</a:t>
            </a:r>
            <a:r>
              <a:rPr lang="en-US" dirty="0">
                <a:solidFill>
                  <a:srgbClr val="0070C0"/>
                </a:solidFill>
              </a:rPr>
              <a:t>validate scope</a:t>
            </a:r>
            <a:r>
              <a:rPr lang="vi-VN" dirty="0"/>
              <a:t>): sự chấp nhận chính thức của các chuyển giao dự án.</a:t>
            </a:r>
          </a:p>
          <a:p>
            <a:pPr algn="just"/>
            <a:endParaRPr lang="en-US" sz="1200" dirty="0"/>
          </a:p>
          <a:p>
            <a:pPr algn="just"/>
            <a:r>
              <a:rPr lang="en-US" b="1" dirty="0" err="1"/>
              <a:t>Kiểm</a:t>
            </a:r>
            <a:r>
              <a:rPr lang="en-US" b="1" dirty="0"/>
              <a:t> </a:t>
            </a:r>
            <a:r>
              <a:rPr lang="en-US" b="1" dirty="0" err="1"/>
              <a:t>soát</a:t>
            </a:r>
            <a:r>
              <a:rPr lang="en-US" b="1" dirty="0"/>
              <a:t> </a:t>
            </a:r>
            <a:r>
              <a:rPr lang="en-US" b="1" dirty="0" err="1"/>
              <a:t>phạm</a:t>
            </a:r>
            <a:r>
              <a:rPr lang="en-US" b="1" dirty="0"/>
              <a:t> vi</a:t>
            </a:r>
            <a:r>
              <a:rPr lang="en-US" dirty="0"/>
              <a:t> (</a:t>
            </a:r>
            <a:r>
              <a:rPr lang="en-US" dirty="0">
                <a:solidFill>
                  <a:srgbClr val="0070C0"/>
                </a:solidFill>
              </a:rPr>
              <a:t>control scope</a:t>
            </a:r>
            <a:r>
              <a:rPr lang="en-US" dirty="0"/>
              <a:t>): </a:t>
            </a:r>
            <a:r>
              <a:rPr lang="en-US" dirty="0" err="1"/>
              <a:t>điều</a:t>
            </a:r>
            <a:r>
              <a:rPr lang="en-US" dirty="0"/>
              <a:t> </a:t>
            </a:r>
            <a:r>
              <a:rPr lang="en-US" dirty="0" err="1"/>
              <a:t>khiển</a:t>
            </a:r>
            <a:r>
              <a:rPr lang="en-US" dirty="0"/>
              <a:t> </a:t>
            </a:r>
            <a:r>
              <a:rPr lang="en-US" dirty="0" err="1"/>
              <a:t>những</a:t>
            </a:r>
            <a:r>
              <a:rPr lang="en-US" dirty="0"/>
              <a:t> </a:t>
            </a:r>
            <a:r>
              <a:rPr lang="en-US" dirty="0" err="1"/>
              <a:t>thay</a:t>
            </a:r>
            <a:r>
              <a:rPr lang="en-US" dirty="0"/>
              <a:t> </a:t>
            </a:r>
            <a:r>
              <a:rPr lang="en-US" dirty="0" err="1"/>
              <a:t>đổi</a:t>
            </a:r>
            <a:r>
              <a:rPr lang="en-US" dirty="0"/>
              <a:t> </a:t>
            </a:r>
            <a:r>
              <a:rPr lang="en-US" dirty="0" err="1"/>
              <a:t>của</a:t>
            </a:r>
            <a:r>
              <a:rPr lang="en-US" dirty="0"/>
              <a:t> </a:t>
            </a:r>
            <a:r>
              <a:rPr lang="en-US" dirty="0" err="1"/>
              <a:t>phạm</a:t>
            </a:r>
            <a:r>
              <a:rPr lang="en-US" dirty="0"/>
              <a:t> vi </a:t>
            </a:r>
            <a:r>
              <a:rPr lang="en-US" dirty="0" err="1"/>
              <a:t>trong</a:t>
            </a:r>
            <a:r>
              <a:rPr lang="en-US" dirty="0"/>
              <a:t> </a:t>
            </a:r>
            <a:r>
              <a:rPr lang="en-US" dirty="0" err="1"/>
              <a:t>suốt</a:t>
            </a:r>
            <a:r>
              <a:rPr lang="en-US" dirty="0"/>
              <a:t> </a:t>
            </a:r>
            <a:r>
              <a:rPr lang="en-US" dirty="0" err="1"/>
              <a:t>dự</a:t>
            </a:r>
            <a:r>
              <a:rPr lang="en-US" dirty="0"/>
              <a:t> </a:t>
            </a:r>
            <a:r>
              <a:rPr lang="en-US" dirty="0" err="1"/>
              <a:t>án</a:t>
            </a:r>
            <a:r>
              <a:rPr lang="en-US" dirty="0"/>
              <a:t>.</a:t>
            </a:r>
          </a:p>
        </p:txBody>
      </p:sp>
      <p:sp>
        <p:nvSpPr>
          <p:cNvPr id="12290" name="Rectangle 2"/>
          <p:cNvSpPr>
            <a:spLocks noGrp="1" noChangeArrowheads="1"/>
          </p:cNvSpPr>
          <p:nvPr>
            <p:ph type="title"/>
          </p:nvPr>
        </p:nvSpPr>
        <p:spPr>
          <a:xfrm>
            <a:off x="0" y="623887"/>
            <a:ext cx="9144000" cy="519113"/>
          </a:xfrm>
        </p:spPr>
        <p:txBody>
          <a:bodyPr>
            <a:noAutofit/>
          </a:bodyPr>
          <a:lstStyle/>
          <a:p>
            <a:pPr algn="ctr"/>
            <a:r>
              <a:rPr lang="en-US" sz="4400" dirty="0" err="1">
                <a:solidFill>
                  <a:srgbClr val="0070C0"/>
                </a:solidFill>
              </a:rPr>
              <a:t>Quy</a:t>
            </a:r>
            <a:r>
              <a:rPr lang="en-US" sz="4400" dirty="0">
                <a:solidFill>
                  <a:srgbClr val="0070C0"/>
                </a:solidFill>
              </a:rPr>
              <a:t> </a:t>
            </a:r>
            <a:r>
              <a:rPr lang="en-US" sz="4400" dirty="0" err="1">
                <a:solidFill>
                  <a:srgbClr val="0070C0"/>
                </a:solidFill>
              </a:rPr>
              <a:t>trình</a:t>
            </a:r>
            <a:r>
              <a:rPr lang="en-US" sz="4400" dirty="0">
                <a:solidFill>
                  <a:srgbClr val="0070C0"/>
                </a:solidFill>
              </a:rPr>
              <a:t> quản lý </a:t>
            </a:r>
            <a:r>
              <a:rPr lang="en-US" sz="4400" dirty="0" err="1">
                <a:solidFill>
                  <a:srgbClr val="0070C0"/>
                </a:solidFill>
              </a:rPr>
              <a:t>phạm</a:t>
            </a:r>
            <a:r>
              <a:rPr lang="en-US" sz="4400" dirty="0">
                <a:solidFill>
                  <a:srgbClr val="0070C0"/>
                </a:solidFill>
              </a:rPr>
              <a:t> vi (</a:t>
            </a:r>
            <a:r>
              <a:rPr lang="en-US" sz="4400" dirty="0" err="1">
                <a:solidFill>
                  <a:srgbClr val="0070C0"/>
                </a:solidFill>
              </a:rPr>
              <a:t>tt</a:t>
            </a:r>
            <a:r>
              <a:rPr lang="en-US" sz="4400" dirty="0">
                <a:solidFill>
                  <a:srgbClr val="0070C0"/>
                </a:solidFill>
              </a:rPr>
              <a:t>)</a:t>
            </a:r>
            <a:endParaRPr lang="en-US" sz="6000" dirty="0">
              <a:solidFill>
                <a:srgbClr val="0070C0"/>
              </a:solidFill>
            </a:endParaRPr>
          </a:p>
        </p:txBody>
      </p:sp>
      <p:sp>
        <p:nvSpPr>
          <p:cNvPr id="12292"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1180FD82-E557-4AEA-BC1F-775718A59924}" type="slidenum">
              <a:rPr lang="en-US" smtClean="0"/>
              <a:pPr>
                <a:defRPr/>
              </a:pPr>
              <a:t>11</a:t>
            </a:fld>
            <a:endParaRPr lang="en-US" dirty="0"/>
          </a:p>
        </p:txBody>
      </p:sp>
    </p:spTree>
    <p:extLst>
      <p:ext uri="{BB962C8B-B14F-4D97-AF65-F5344CB8AC3E}">
        <p14:creationId xmlns:p14="http://schemas.microsoft.com/office/powerpoint/2010/main" val="1500615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81000" y="14287"/>
            <a:ext cx="8382000" cy="1143000"/>
          </a:xfrm>
        </p:spPr>
        <p:txBody>
          <a:bodyPr>
            <a:noAutofit/>
          </a:bodyPr>
          <a:lstStyle/>
          <a:p>
            <a:pPr algn="ctr"/>
            <a:r>
              <a:rPr lang="en-US" sz="4000" dirty="0" err="1">
                <a:hlinkClick r:id="rId2" action="ppaction://hlinkpres?slideindex=1&amp;slidetitle="/>
              </a:rPr>
              <a:t>Tóm</a:t>
            </a:r>
            <a:r>
              <a:rPr lang="en-US" sz="4000" dirty="0">
                <a:hlinkClick r:id="rId2" action="ppaction://hlinkpres?slideindex=1&amp;slidetitle="/>
              </a:rPr>
              <a:t> </a:t>
            </a:r>
            <a:r>
              <a:rPr lang="en-US" sz="4000" dirty="0" err="1">
                <a:hlinkClick r:id="rId2" action="ppaction://hlinkpres?slideindex=1&amp;slidetitle="/>
              </a:rPr>
              <a:t>tắt</a:t>
            </a:r>
            <a:r>
              <a:rPr lang="en-US" sz="4000" dirty="0"/>
              <a:t> </a:t>
            </a:r>
            <a:r>
              <a:rPr lang="en-US" sz="4000" dirty="0">
                <a:hlinkClick r:id="rId3" action="ppaction://hlinkpres?slideindex=1&amp;slidetitle="/>
              </a:rPr>
              <a:t>quản lý </a:t>
            </a:r>
            <a:r>
              <a:rPr lang="en-US" sz="4000" dirty="0" err="1">
                <a:hlinkClick r:id="rId3" action="ppaction://hlinkpres?slideindex=1&amp;slidetitle="/>
              </a:rPr>
              <a:t>phạm</a:t>
            </a:r>
            <a:r>
              <a:rPr lang="en-US" sz="4000" dirty="0">
                <a:hlinkClick r:id="rId3" action="ppaction://hlinkpres?slideindex=1&amp;slidetitle="/>
              </a:rPr>
              <a:t> vi </a:t>
            </a:r>
            <a:r>
              <a:rPr lang="en-US" sz="4000" dirty="0" err="1">
                <a:hlinkClick r:id="rId3" action="ppaction://hlinkpres?slideindex=1&amp;slidetitle="/>
              </a:rPr>
              <a:t>dự</a:t>
            </a:r>
            <a:r>
              <a:rPr lang="en-US" sz="4000" dirty="0">
                <a:hlinkClick r:id="rId3" action="ppaction://hlinkpres?slideindex=1&amp;slidetitle="/>
              </a:rPr>
              <a:t> </a:t>
            </a:r>
            <a:r>
              <a:rPr lang="en-US" sz="4000" dirty="0" err="1">
                <a:hlinkClick r:id="rId3" action="ppaction://hlinkpres?slideindex=1&amp;slidetitle="/>
              </a:rPr>
              <a:t>án</a:t>
            </a:r>
            <a:endParaRPr lang="en-US" sz="4000" dirty="0"/>
          </a:p>
        </p:txBody>
      </p:sp>
      <p:pic>
        <p:nvPicPr>
          <p:cNvPr id="4" name="Picture 3"/>
          <p:cNvPicPr>
            <a:picLocks noChangeAspect="1"/>
          </p:cNvPicPr>
          <p:nvPr/>
        </p:nvPicPr>
        <p:blipFill>
          <a:blip r:embed="rId4"/>
          <a:stretch>
            <a:fillRect/>
          </a:stretch>
        </p:blipFill>
        <p:spPr>
          <a:xfrm>
            <a:off x="-76200" y="0"/>
            <a:ext cx="9118948" cy="6870527"/>
          </a:xfrm>
          <a:prstGeom prst="rect">
            <a:avLst/>
          </a:prstGeom>
        </p:spPr>
      </p:pic>
      <p:cxnSp>
        <p:nvCxnSpPr>
          <p:cNvPr id="7" name="Straight Connector 6"/>
          <p:cNvCxnSpPr/>
          <p:nvPr/>
        </p:nvCxnSpPr>
        <p:spPr>
          <a:xfrm>
            <a:off x="1676400" y="914400"/>
            <a:ext cx="2514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676400" y="1472852"/>
            <a:ext cx="2133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76400" y="1981200"/>
            <a:ext cx="1371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676400" y="2475978"/>
            <a:ext cx="12954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286000" y="3695178"/>
            <a:ext cx="14478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286000" y="4572000"/>
            <a:ext cx="14478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50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50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nodeType="afterEffect">
                                  <p:stCondLst>
                                    <p:cond delay="50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nodeType="afterEffect">
                                  <p:stCondLst>
                                    <p:cond delay="500"/>
                                  </p:stCondLst>
                                  <p:childTnLst>
                                    <p:set>
                                      <p:cBhvr>
                                        <p:cTn id="22" dur="1" fill="hold">
                                          <p:stCondLst>
                                            <p:cond delay="0"/>
                                          </p:stCondLst>
                                        </p:cTn>
                                        <p:tgtEl>
                                          <p:spTgt spid="12"/>
                                        </p:tgtEl>
                                        <p:attrNameLst>
                                          <p:attrName>style.visibility</p:attrName>
                                        </p:attrNameLst>
                                      </p:cBhvr>
                                      <p:to>
                                        <p:strVal val="visible"/>
                                      </p:to>
                                    </p:set>
                                  </p:childTnLst>
                                </p:cTn>
                              </p:par>
                            </p:childTnLst>
                          </p:cTn>
                        </p:par>
                        <p:par>
                          <p:cTn id="23" fill="hold">
                            <p:stCondLst>
                              <p:cond delay="2000"/>
                            </p:stCondLst>
                            <p:childTnLst>
                              <p:par>
                                <p:cTn id="24" presetID="1" presetClass="entr" presetSubtype="0" fill="hold" nodeType="afterEffect">
                                  <p:stCondLst>
                                    <p:cond delay="50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200" y="1085850"/>
            <a:ext cx="9067800" cy="4171950"/>
          </a:xfrm>
          <a:prstGeom prst="rect">
            <a:avLst/>
          </a:prstGeom>
        </p:spPr>
      </p:pic>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13</a:t>
            </a:fld>
            <a:endParaRPr lang="en-US" dirty="0"/>
          </a:p>
        </p:txBody>
      </p:sp>
      <p:sp>
        <p:nvSpPr>
          <p:cNvPr id="7" name="Rounded Rectangle 6"/>
          <p:cNvSpPr/>
          <p:nvPr/>
        </p:nvSpPr>
        <p:spPr>
          <a:xfrm>
            <a:off x="1421704" y="3911252"/>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4" name="Picture 3"/>
          <p:cNvPicPr>
            <a:picLocks noChangeAspect="1"/>
          </p:cNvPicPr>
          <p:nvPr/>
        </p:nvPicPr>
        <p:blipFill>
          <a:blip r:embed="rId3"/>
          <a:stretch>
            <a:fillRect/>
          </a:stretch>
        </p:blipFill>
        <p:spPr>
          <a:xfrm>
            <a:off x="5458044" y="5257800"/>
            <a:ext cx="2314356" cy="1549051"/>
          </a:xfrm>
          <a:prstGeom prst="rect">
            <a:avLst/>
          </a:prstGeom>
        </p:spPr>
      </p:pic>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effectLst/>
              </a:rPr>
              <a:t>Quản lý </a:t>
            </a:r>
            <a:r>
              <a:rPr lang="en-US" sz="4000" dirty="0" err="1">
                <a:solidFill>
                  <a:schemeClr val="bg1">
                    <a:lumMod val="65000"/>
                  </a:schemeClr>
                </a:solidFill>
                <a:effectLst/>
              </a:rPr>
              <a:t>phạm</a:t>
            </a:r>
            <a:r>
              <a:rPr lang="en-US" sz="4000" dirty="0">
                <a:solidFill>
                  <a:schemeClr val="bg1">
                    <a:lumMod val="65000"/>
                  </a:schemeClr>
                </a:solidFill>
                <a:effectLst/>
              </a:rPr>
              <a:t> vi </a:t>
            </a:r>
            <a:r>
              <a:rPr lang="en-US" sz="4000" dirty="0" err="1">
                <a:solidFill>
                  <a:schemeClr val="bg1">
                    <a:lumMod val="65000"/>
                  </a:schemeClr>
                </a:solidFill>
                <a:effectLst/>
              </a:rPr>
              <a:t>dự</a:t>
            </a:r>
            <a:r>
              <a:rPr lang="en-US" sz="4000" dirty="0">
                <a:solidFill>
                  <a:schemeClr val="bg1">
                    <a:lumMod val="65000"/>
                  </a:schemeClr>
                </a:solidFill>
                <a:effectLst/>
              </a:rPr>
              <a:t> </a:t>
            </a:r>
            <a:r>
              <a:rPr lang="en-US" sz="4000" dirty="0" err="1">
                <a:solidFill>
                  <a:schemeClr val="bg1">
                    <a:lumMod val="65000"/>
                  </a:schemeClr>
                </a:solidFill>
                <a:effectLst/>
              </a:rPr>
              <a:t>án</a:t>
            </a:r>
            <a:r>
              <a:rPr lang="en-US" sz="4000" dirty="0">
                <a:solidFill>
                  <a:schemeClr val="bg1">
                    <a:lumMod val="65000"/>
                  </a:schemeClr>
                </a:solidFill>
                <a:effectLst/>
              </a:rPr>
              <a:t> [1/6]</a:t>
            </a:r>
          </a:p>
        </p:txBody>
      </p:sp>
      <p:sp>
        <p:nvSpPr>
          <p:cNvPr id="10"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82417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481138"/>
            <a:ext cx="8534400" cy="4525962"/>
          </a:xfrm>
        </p:spPr>
        <p:txBody>
          <a:bodyPr/>
          <a:lstStyle/>
          <a:p>
            <a:pPr algn="just"/>
            <a:r>
              <a:rPr lang="en-US" b="1" dirty="0" err="1"/>
              <a:t>Kế</a:t>
            </a:r>
            <a:r>
              <a:rPr lang="en-US" b="1" dirty="0"/>
              <a:t> </a:t>
            </a:r>
            <a:r>
              <a:rPr lang="en-US" b="1" dirty="0" err="1"/>
              <a:t>hoạch</a:t>
            </a:r>
            <a:r>
              <a:rPr lang="en-US" b="1" dirty="0"/>
              <a:t> quản lý </a:t>
            </a:r>
            <a:r>
              <a:rPr lang="en-US" b="1" dirty="0" err="1"/>
              <a:t>phạm</a:t>
            </a:r>
            <a:r>
              <a:rPr lang="en-US" b="1" dirty="0"/>
              <a:t> vi </a:t>
            </a:r>
            <a:r>
              <a:rPr lang="en-US" dirty="0"/>
              <a:t>(</a:t>
            </a:r>
            <a:r>
              <a:rPr lang="en-US" dirty="0">
                <a:solidFill>
                  <a:srgbClr val="0070C0"/>
                </a:solidFill>
              </a:rPr>
              <a:t>plan scope management</a:t>
            </a:r>
            <a:r>
              <a:rPr lang="en-US" dirty="0"/>
              <a:t>) </a:t>
            </a:r>
            <a:r>
              <a:rPr lang="en-US" dirty="0" err="1"/>
              <a:t>được</a:t>
            </a:r>
            <a:r>
              <a:rPr lang="en-US" dirty="0"/>
              <a:t> </a:t>
            </a:r>
            <a:r>
              <a:rPr lang="en-US" dirty="0" err="1"/>
              <a:t>lập</a:t>
            </a:r>
            <a:r>
              <a:rPr lang="en-US" dirty="0"/>
              <a:t> </a:t>
            </a:r>
            <a:r>
              <a:rPr lang="en-US" dirty="0" err="1"/>
              <a:t>bởi</a:t>
            </a:r>
            <a:r>
              <a:rPr lang="en-US" dirty="0"/>
              <a:t> </a:t>
            </a:r>
            <a:r>
              <a:rPr lang="en-US" dirty="0" err="1"/>
              <a:t>đội</a:t>
            </a:r>
            <a:r>
              <a:rPr lang="en-US" dirty="0"/>
              <a:t> </a:t>
            </a:r>
            <a:r>
              <a:rPr lang="en-US" dirty="0" err="1"/>
              <a:t>án</a:t>
            </a:r>
            <a:r>
              <a:rPr lang="en-US" dirty="0"/>
              <a:t> - </a:t>
            </a:r>
            <a:r>
              <a:rPr lang="en-US" dirty="0" err="1"/>
              <a:t>dùng</a:t>
            </a:r>
            <a:r>
              <a:rPr lang="en-US" dirty="0"/>
              <a:t> </a:t>
            </a:r>
            <a:r>
              <a:rPr lang="en-US" dirty="0" err="1"/>
              <a:t>kỹ</a:t>
            </a:r>
            <a:r>
              <a:rPr lang="en-US" dirty="0"/>
              <a:t> </a:t>
            </a:r>
            <a:r>
              <a:rPr lang="en-US" dirty="0" err="1"/>
              <a:t>thuật</a:t>
            </a:r>
            <a:r>
              <a:rPr lang="en-US" dirty="0"/>
              <a:t> </a:t>
            </a:r>
            <a:r>
              <a:rPr lang="en-US" dirty="0" err="1"/>
              <a:t>chuyên</a:t>
            </a:r>
            <a:r>
              <a:rPr lang="en-US" dirty="0"/>
              <a:t> </a:t>
            </a:r>
            <a:r>
              <a:rPr lang="en-US" dirty="0" err="1"/>
              <a:t>gia</a:t>
            </a:r>
            <a:r>
              <a:rPr lang="en-US" dirty="0"/>
              <a:t> và </a:t>
            </a:r>
            <a:r>
              <a:rPr lang="en-US" dirty="0" err="1"/>
              <a:t>các</a:t>
            </a:r>
            <a:r>
              <a:rPr lang="en-US" dirty="0"/>
              <a:t> </a:t>
            </a:r>
            <a:r>
              <a:rPr lang="en-US" dirty="0" err="1"/>
              <a:t>cuộc</a:t>
            </a:r>
            <a:r>
              <a:rPr lang="en-US" dirty="0"/>
              <a:t> </a:t>
            </a:r>
            <a:r>
              <a:rPr lang="en-US" dirty="0" err="1"/>
              <a:t>họp</a:t>
            </a:r>
            <a:r>
              <a:rPr lang="en-US" dirty="0"/>
              <a:t> </a:t>
            </a:r>
            <a:r>
              <a:rPr lang="en-US" dirty="0" err="1"/>
              <a:t>để</a:t>
            </a:r>
            <a:r>
              <a:rPr lang="en-US" dirty="0"/>
              <a:t> </a:t>
            </a:r>
            <a:r>
              <a:rPr lang="en-US" dirty="0" err="1"/>
              <a:t>tạo</a:t>
            </a:r>
            <a:r>
              <a:rPr lang="en-US" dirty="0"/>
              <a:t> </a:t>
            </a:r>
            <a:r>
              <a:rPr lang="en-US" dirty="0" err="1"/>
              <a:t>ra</a:t>
            </a:r>
            <a:r>
              <a:rPr lang="en-US" dirty="0"/>
              <a:t> 2 </a:t>
            </a:r>
            <a:r>
              <a:rPr lang="en-US" dirty="0" err="1"/>
              <a:t>kết</a:t>
            </a:r>
            <a:r>
              <a:rPr lang="en-US" dirty="0"/>
              <a:t> </a:t>
            </a:r>
            <a:r>
              <a:rPr lang="en-US" dirty="0" err="1"/>
              <a:t>quả</a:t>
            </a:r>
            <a:r>
              <a:rPr lang="en-US" dirty="0"/>
              <a:t>…</a:t>
            </a:r>
          </a:p>
          <a:p>
            <a:pPr lvl="1" algn="just">
              <a:buFont typeface="Arial" panose="020B0604020202020204" pitchFamily="34" charset="0"/>
              <a:buChar char="•"/>
            </a:pPr>
            <a:r>
              <a:rPr lang="en-US" sz="2400" dirty="0" err="1"/>
              <a:t>Kế</a:t>
            </a:r>
            <a:r>
              <a:rPr lang="en-US" sz="2400" dirty="0"/>
              <a:t> </a:t>
            </a:r>
            <a:r>
              <a:rPr lang="en-US" sz="2400" dirty="0" err="1"/>
              <a:t>hoạch</a:t>
            </a:r>
            <a:r>
              <a:rPr lang="en-US" sz="2400" dirty="0"/>
              <a:t> quản lý </a:t>
            </a:r>
            <a:r>
              <a:rPr lang="en-US" sz="2400" dirty="0" err="1"/>
              <a:t>phạm</a:t>
            </a:r>
            <a:r>
              <a:rPr lang="en-US" sz="2400" dirty="0"/>
              <a:t> vi</a:t>
            </a:r>
          </a:p>
          <a:p>
            <a:pPr lvl="1" algn="just">
              <a:buFont typeface="Arial" panose="020B0604020202020204" pitchFamily="34" charset="0"/>
              <a:buChar char="•"/>
            </a:pPr>
            <a:r>
              <a:rPr lang="en-US" sz="2400" dirty="0" err="1"/>
              <a:t>Kế</a:t>
            </a:r>
            <a:r>
              <a:rPr lang="en-US" sz="2400" dirty="0"/>
              <a:t> </a:t>
            </a:r>
            <a:r>
              <a:rPr lang="en-US" sz="2400" dirty="0" err="1"/>
              <a:t>hoạch</a:t>
            </a:r>
            <a:r>
              <a:rPr lang="en-US" sz="2400" dirty="0"/>
              <a:t> quản lý </a:t>
            </a:r>
            <a:r>
              <a:rPr lang="en-US" sz="2400" dirty="0" err="1"/>
              <a:t>yêu</a:t>
            </a:r>
            <a:r>
              <a:rPr lang="en-US" sz="2400" dirty="0"/>
              <a:t> </a:t>
            </a:r>
            <a:r>
              <a:rPr lang="en-US" sz="2400" dirty="0" err="1"/>
              <a:t>cầu</a:t>
            </a:r>
            <a:r>
              <a:rPr lang="en-US" sz="2400" dirty="0"/>
              <a:t>.</a:t>
            </a:r>
          </a:p>
          <a:p>
            <a:pPr lvl="1" algn="just"/>
            <a:endParaRPr lang="en-US" sz="1200" dirty="0"/>
          </a:p>
          <a:p>
            <a:pPr algn="just"/>
            <a:r>
              <a:rPr lang="en-US" dirty="0" err="1"/>
              <a:t>Kế</a:t>
            </a:r>
            <a:r>
              <a:rPr lang="en-US" dirty="0"/>
              <a:t> </a:t>
            </a:r>
            <a:r>
              <a:rPr lang="en-US" dirty="0" err="1"/>
              <a:t>hoạch</a:t>
            </a:r>
            <a:r>
              <a:rPr lang="en-US" dirty="0"/>
              <a:t> quản lý </a:t>
            </a:r>
            <a:r>
              <a:rPr lang="en-US" dirty="0" err="1"/>
              <a:t>phạm</a:t>
            </a:r>
            <a:r>
              <a:rPr lang="en-US" dirty="0"/>
              <a:t> vi </a:t>
            </a:r>
            <a:r>
              <a:rPr lang="en-US" dirty="0" err="1"/>
              <a:t>là</a:t>
            </a:r>
            <a:r>
              <a:rPr lang="en-US" dirty="0"/>
              <a:t> </a:t>
            </a:r>
            <a:r>
              <a:rPr lang="en-US" dirty="0" err="1"/>
              <a:t>một</a:t>
            </a:r>
            <a:r>
              <a:rPr lang="en-US" dirty="0"/>
              <a:t> </a:t>
            </a:r>
            <a:r>
              <a:rPr lang="en-US" dirty="0" err="1"/>
              <a:t>phần</a:t>
            </a:r>
            <a:r>
              <a:rPr lang="en-US" dirty="0"/>
              <a:t> </a:t>
            </a:r>
            <a:r>
              <a:rPr lang="en-US" dirty="0" err="1"/>
              <a:t>của</a:t>
            </a:r>
            <a:r>
              <a:rPr lang="en-US" dirty="0"/>
              <a:t> </a:t>
            </a:r>
            <a:r>
              <a:rPr lang="en-US" dirty="0" err="1"/>
              <a:t>kế</a:t>
            </a:r>
            <a:r>
              <a:rPr lang="en-US" dirty="0"/>
              <a:t> </a:t>
            </a:r>
            <a:r>
              <a:rPr lang="en-US" dirty="0" err="1"/>
              <a:t>hoạch</a:t>
            </a:r>
            <a:r>
              <a:rPr lang="en-US" dirty="0"/>
              <a:t> quản lý </a:t>
            </a:r>
            <a:r>
              <a:rPr lang="en-US" dirty="0" err="1"/>
              <a:t>dự</a:t>
            </a:r>
            <a:r>
              <a:rPr lang="en-US" dirty="0"/>
              <a:t> </a:t>
            </a:r>
            <a:r>
              <a:rPr lang="en-US" dirty="0" err="1"/>
              <a:t>án</a:t>
            </a:r>
            <a:r>
              <a:rPr lang="en-US" dirty="0"/>
              <a:t>.</a:t>
            </a:r>
          </a:p>
        </p:txBody>
      </p:sp>
      <p:sp>
        <p:nvSpPr>
          <p:cNvPr id="3" name="Title 2"/>
          <p:cNvSpPr>
            <a:spLocks noGrp="1"/>
          </p:cNvSpPr>
          <p:nvPr>
            <p:ph type="title"/>
          </p:nvPr>
        </p:nvSpPr>
        <p:spPr/>
        <p:txBody>
          <a:bodyPr>
            <a:normAutofit/>
          </a:bodyPr>
          <a:lstStyle/>
          <a:p>
            <a:pPr algn="ctr"/>
            <a:r>
              <a:rPr lang="en-US" sz="4400" dirty="0">
                <a:solidFill>
                  <a:srgbClr val="FF0000"/>
                </a:solidFill>
              </a:rPr>
              <a:t>1. </a:t>
            </a:r>
            <a:r>
              <a:rPr lang="en-US" sz="4400" dirty="0" err="1">
                <a:solidFill>
                  <a:srgbClr val="FF0000"/>
                </a:solidFill>
              </a:rPr>
              <a:t>Kế</a:t>
            </a:r>
            <a:r>
              <a:rPr lang="en-US" sz="4400" dirty="0">
                <a:solidFill>
                  <a:srgbClr val="FF0000"/>
                </a:solidFill>
              </a:rPr>
              <a:t> </a:t>
            </a:r>
            <a:r>
              <a:rPr lang="en-US" sz="4400" dirty="0" err="1">
                <a:solidFill>
                  <a:srgbClr val="FF0000"/>
                </a:solidFill>
              </a:rPr>
              <a:t>hoạch</a:t>
            </a:r>
            <a:r>
              <a:rPr lang="en-US" sz="4400" dirty="0">
                <a:solidFill>
                  <a:srgbClr val="FF0000"/>
                </a:solidFill>
              </a:rPr>
              <a:t> quản lý </a:t>
            </a:r>
            <a:r>
              <a:rPr lang="en-US" sz="4400" dirty="0" err="1">
                <a:solidFill>
                  <a:srgbClr val="FF0000"/>
                </a:solidFill>
              </a:rPr>
              <a:t>phạm</a:t>
            </a:r>
            <a:r>
              <a:rPr lang="en-US" sz="4400" dirty="0">
                <a:solidFill>
                  <a:srgbClr val="FF0000"/>
                </a:solidFill>
              </a:rPr>
              <a:t> vi</a:t>
            </a:r>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14</a:t>
            </a:fld>
            <a:endParaRPr lang="en-US" dirty="0"/>
          </a:p>
        </p:txBody>
      </p:sp>
      <p:pic>
        <p:nvPicPr>
          <p:cNvPr id="7" name="Picture 6"/>
          <p:cNvPicPr>
            <a:picLocks noChangeAspect="1"/>
          </p:cNvPicPr>
          <p:nvPr/>
        </p:nvPicPr>
        <p:blipFill>
          <a:blip r:embed="rId2"/>
          <a:stretch>
            <a:fillRect/>
          </a:stretch>
        </p:blipFill>
        <p:spPr>
          <a:xfrm>
            <a:off x="5715000" y="4648200"/>
            <a:ext cx="2311400" cy="1420593"/>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92344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vi-VN" dirty="0"/>
              <a:t>Chuẩn bị bản tuyên bố phạm vi chi tiết.</a:t>
            </a:r>
          </a:p>
          <a:p>
            <a:pPr algn="just"/>
            <a:endParaRPr lang="vi-VN" sz="1050" dirty="0"/>
          </a:p>
          <a:p>
            <a:pPr algn="just"/>
            <a:r>
              <a:rPr lang="vi-VN" dirty="0"/>
              <a:t>Làm thế nào để tạo ra WBS.</a:t>
            </a:r>
          </a:p>
          <a:p>
            <a:pPr algn="just"/>
            <a:endParaRPr lang="vi-VN" sz="1050" dirty="0"/>
          </a:p>
          <a:p>
            <a:pPr algn="just"/>
            <a:r>
              <a:rPr lang="vi-VN" dirty="0"/>
              <a:t>Làm thế nào để duy trì và duyệt WBS.</a:t>
            </a:r>
          </a:p>
          <a:p>
            <a:pPr algn="just"/>
            <a:endParaRPr lang="vi-VN" sz="1050" dirty="0"/>
          </a:p>
          <a:p>
            <a:pPr algn="just"/>
            <a:r>
              <a:rPr lang="vi-VN" dirty="0"/>
              <a:t>Làm thế nào để được sự chấp nhận chính thức của các chuyển giao dự án khi hoàn thành.</a:t>
            </a:r>
          </a:p>
          <a:p>
            <a:pPr algn="just"/>
            <a:endParaRPr lang="vi-VN" sz="1050" dirty="0"/>
          </a:p>
          <a:p>
            <a:pPr algn="just"/>
            <a:r>
              <a:rPr lang="vi-VN" dirty="0"/>
              <a:t>Làm thế nào để kiểm soát các yêu cầu thay đổi của phạm vi dự án.</a:t>
            </a:r>
            <a:endParaRPr lang="en-US" dirty="0"/>
          </a:p>
        </p:txBody>
      </p:sp>
      <p:sp>
        <p:nvSpPr>
          <p:cNvPr id="3" name="Title 2"/>
          <p:cNvSpPr>
            <a:spLocks noGrp="1"/>
          </p:cNvSpPr>
          <p:nvPr>
            <p:ph type="title"/>
          </p:nvPr>
        </p:nvSpPr>
        <p:spPr>
          <a:xfrm>
            <a:off x="457200" y="152400"/>
            <a:ext cx="8229600" cy="1143000"/>
          </a:xfrm>
        </p:spPr>
        <p:txBody>
          <a:bodyPr>
            <a:normAutofit/>
          </a:bodyPr>
          <a:lstStyle/>
          <a:p>
            <a:pPr algn="ctr"/>
            <a:r>
              <a:rPr lang="en-US" sz="4000" dirty="0" err="1"/>
              <a:t>Nội</a:t>
            </a:r>
            <a:r>
              <a:rPr lang="en-US" sz="4000" dirty="0"/>
              <a:t> dung </a:t>
            </a:r>
            <a:r>
              <a:rPr lang="en-US" sz="4000" dirty="0" err="1"/>
              <a:t>của</a:t>
            </a:r>
            <a:r>
              <a:rPr lang="en-US" sz="4000" dirty="0"/>
              <a:t> </a:t>
            </a:r>
            <a:r>
              <a:rPr lang="en-US" sz="4000" dirty="0" err="1"/>
              <a:t>kế</a:t>
            </a:r>
            <a:r>
              <a:rPr lang="en-US" sz="4000" dirty="0"/>
              <a:t> </a:t>
            </a:r>
            <a:r>
              <a:rPr lang="en-US" sz="4000" dirty="0" err="1"/>
              <a:t>hoạch</a:t>
            </a:r>
            <a:r>
              <a:rPr lang="en-US" sz="4000" dirty="0"/>
              <a:t> </a:t>
            </a:r>
            <a:r>
              <a:rPr lang="en-US" sz="4000" dirty="0" err="1"/>
              <a:t>phạm</a:t>
            </a:r>
            <a:r>
              <a:rPr lang="en-US" sz="4000" dirty="0"/>
              <a:t> vi</a:t>
            </a:r>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15</a:t>
            </a:fld>
            <a:endParaRPr lang="en-US" dirty="0"/>
          </a:p>
        </p:txBody>
      </p:sp>
    </p:spTree>
    <p:extLst>
      <p:ext uri="{BB962C8B-B14F-4D97-AF65-F5344CB8AC3E}">
        <p14:creationId xmlns:p14="http://schemas.microsoft.com/office/powerpoint/2010/main" val="2946303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085850"/>
            <a:ext cx="9067800" cy="4171950"/>
          </a:xfrm>
          <a:prstGeom prst="rect">
            <a:avLst/>
          </a:prstGeom>
        </p:spPr>
      </p:pic>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16</a:t>
            </a:fld>
            <a:endParaRPr lang="en-US" dirty="0"/>
          </a:p>
        </p:txBody>
      </p:sp>
      <p:sp>
        <p:nvSpPr>
          <p:cNvPr id="7" name="Rounded Rectangle 6"/>
          <p:cNvSpPr/>
          <p:nvPr/>
        </p:nvSpPr>
        <p:spPr>
          <a:xfrm>
            <a:off x="1371600" y="4217265"/>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a:defRPr/>
            </a:pPr>
            <a:r>
              <a:rPr lang="en-US" sz="4000" dirty="0">
                <a:solidFill>
                  <a:schemeClr val="bg1">
                    <a:lumMod val="65000"/>
                  </a:schemeClr>
                </a:solidFill>
                <a:effectLst/>
              </a:rPr>
              <a:t>Quản lý </a:t>
            </a:r>
            <a:r>
              <a:rPr lang="en-US" sz="4000" dirty="0" err="1">
                <a:solidFill>
                  <a:schemeClr val="bg1">
                    <a:lumMod val="65000"/>
                  </a:schemeClr>
                </a:solidFill>
                <a:effectLst/>
              </a:rPr>
              <a:t>phạm</a:t>
            </a:r>
            <a:r>
              <a:rPr lang="en-US" sz="4000" dirty="0">
                <a:solidFill>
                  <a:schemeClr val="bg1">
                    <a:lumMod val="65000"/>
                  </a:schemeClr>
                </a:solidFill>
                <a:effectLst/>
              </a:rPr>
              <a:t> vi </a:t>
            </a:r>
            <a:r>
              <a:rPr lang="en-US" sz="4000" dirty="0" err="1">
                <a:solidFill>
                  <a:schemeClr val="bg1">
                    <a:lumMod val="65000"/>
                  </a:schemeClr>
                </a:solidFill>
                <a:effectLst/>
              </a:rPr>
              <a:t>dự</a:t>
            </a:r>
            <a:r>
              <a:rPr lang="en-US" sz="4000" dirty="0">
                <a:solidFill>
                  <a:schemeClr val="bg1">
                    <a:lumMod val="65000"/>
                  </a:schemeClr>
                </a:solidFill>
                <a:effectLst/>
              </a:rPr>
              <a:t> </a:t>
            </a:r>
            <a:r>
              <a:rPr lang="en-US" sz="4000" dirty="0" err="1">
                <a:solidFill>
                  <a:schemeClr val="bg1">
                    <a:lumMod val="65000"/>
                  </a:schemeClr>
                </a:solidFill>
                <a:effectLst/>
              </a:rPr>
              <a:t>án</a:t>
            </a:r>
            <a:r>
              <a:rPr lang="en-US" sz="4000" dirty="0">
                <a:solidFill>
                  <a:schemeClr val="bg1">
                    <a:lumMod val="65000"/>
                  </a:schemeClr>
                </a:solidFill>
                <a:effectLst/>
              </a:rPr>
              <a:t> [2/6]</a:t>
            </a:r>
          </a:p>
        </p:txBody>
      </p:sp>
      <p:pic>
        <p:nvPicPr>
          <p:cNvPr id="4" name="Picture 3"/>
          <p:cNvPicPr>
            <a:picLocks noChangeAspect="1"/>
          </p:cNvPicPr>
          <p:nvPr/>
        </p:nvPicPr>
        <p:blipFill>
          <a:blip r:embed="rId3"/>
          <a:stretch>
            <a:fillRect/>
          </a:stretch>
        </p:blipFill>
        <p:spPr>
          <a:xfrm>
            <a:off x="5334000" y="5191606"/>
            <a:ext cx="1981200" cy="1640994"/>
          </a:xfrm>
          <a:prstGeom prst="rect">
            <a:avLst/>
          </a:prstGeom>
        </p:spPr>
      </p:pic>
      <p:sp>
        <p:nvSpPr>
          <p:cNvPr id="11"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36926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524000"/>
            <a:ext cx="8229600" cy="3505200"/>
          </a:xfrm>
        </p:spPr>
        <p:txBody>
          <a:bodyPr/>
          <a:lstStyle/>
          <a:p>
            <a:pPr algn="just"/>
            <a:r>
              <a:rPr lang="en-US" b="1" dirty="0"/>
              <a:t>Thu </a:t>
            </a:r>
            <a:r>
              <a:rPr lang="en-US" b="1" dirty="0" err="1"/>
              <a:t>thập</a:t>
            </a:r>
            <a:r>
              <a:rPr lang="en-US" b="1" dirty="0"/>
              <a:t> </a:t>
            </a:r>
            <a:r>
              <a:rPr lang="en-US" b="1" dirty="0" err="1"/>
              <a:t>yêu</a:t>
            </a:r>
            <a:r>
              <a:rPr lang="en-US" b="1" dirty="0"/>
              <a:t> </a:t>
            </a:r>
            <a:r>
              <a:rPr lang="en-US" b="1" dirty="0" err="1"/>
              <a:t>cầu</a:t>
            </a:r>
            <a:r>
              <a:rPr lang="en-US" b="1" dirty="0"/>
              <a:t> </a:t>
            </a:r>
            <a:r>
              <a:rPr lang="en-US" dirty="0"/>
              <a:t>(</a:t>
            </a:r>
            <a:r>
              <a:rPr lang="en-US" dirty="0">
                <a:solidFill>
                  <a:srgbClr val="0070C0"/>
                </a:solidFill>
              </a:rPr>
              <a:t>collect requirements</a:t>
            </a:r>
            <a:r>
              <a:rPr lang="en-US" dirty="0"/>
              <a:t>), </a:t>
            </a:r>
            <a:r>
              <a:rPr lang="vi-VN" dirty="0"/>
              <a:t>với dự án HTTT, để phân loại các yêu cầu: khám phá, phân tích, đặc tính, kiểm tra...</a:t>
            </a:r>
          </a:p>
          <a:p>
            <a:pPr algn="just"/>
            <a:endParaRPr lang="vi-VN" sz="1200" dirty="0"/>
          </a:p>
          <a:p>
            <a:pPr algn="just"/>
            <a:r>
              <a:rPr lang="vi-VN" dirty="0"/>
              <a:t>Điều quan trọng là sử dụng phép lặp để xác định các yêu cầu, vì nó không rõ ràng trong giai đoạn đầu của dự án.</a:t>
            </a:r>
            <a:endParaRPr lang="en-US" dirty="0"/>
          </a:p>
        </p:txBody>
      </p:sp>
      <p:sp>
        <p:nvSpPr>
          <p:cNvPr id="3" name="Title 2"/>
          <p:cNvSpPr>
            <a:spLocks noGrp="1"/>
          </p:cNvSpPr>
          <p:nvPr>
            <p:ph type="title"/>
          </p:nvPr>
        </p:nvSpPr>
        <p:spPr>
          <a:xfrm>
            <a:off x="457200" y="152400"/>
            <a:ext cx="8229600" cy="1143000"/>
          </a:xfrm>
        </p:spPr>
        <p:txBody>
          <a:bodyPr>
            <a:normAutofit/>
          </a:bodyPr>
          <a:lstStyle/>
          <a:p>
            <a:pPr algn="ctr"/>
            <a:r>
              <a:rPr lang="en-US" sz="4400" dirty="0">
                <a:solidFill>
                  <a:srgbClr val="FF0000"/>
                </a:solidFill>
              </a:rPr>
              <a:t>2. Thu </a:t>
            </a:r>
            <a:r>
              <a:rPr lang="en-US" sz="4400" dirty="0" err="1">
                <a:solidFill>
                  <a:srgbClr val="FF0000"/>
                </a:solidFill>
              </a:rPr>
              <a:t>thập</a:t>
            </a:r>
            <a:r>
              <a:rPr lang="en-US" sz="4400" dirty="0">
                <a:solidFill>
                  <a:srgbClr val="FF0000"/>
                </a:solidFill>
              </a:rPr>
              <a:t> </a:t>
            </a:r>
            <a:r>
              <a:rPr lang="en-US" sz="4400" dirty="0" err="1">
                <a:solidFill>
                  <a:srgbClr val="FF0000"/>
                </a:solidFill>
              </a:rPr>
              <a:t>yêu</a:t>
            </a:r>
            <a:r>
              <a:rPr lang="en-US" sz="4400" dirty="0">
                <a:solidFill>
                  <a:srgbClr val="FF0000"/>
                </a:solidFill>
              </a:rPr>
              <a:t> </a:t>
            </a:r>
            <a:r>
              <a:rPr lang="en-US" sz="4400" dirty="0" err="1">
                <a:solidFill>
                  <a:srgbClr val="FF0000"/>
                </a:solidFill>
              </a:rPr>
              <a:t>cầu</a:t>
            </a:r>
            <a:endParaRPr lang="en-US" sz="4400" dirty="0">
              <a:solidFill>
                <a:srgbClr val="FF0000"/>
              </a:solidFill>
            </a:endParaRPr>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17</a:t>
            </a:fld>
            <a:endParaRPr lang="en-US" dirty="0"/>
          </a:p>
        </p:txBody>
      </p:sp>
      <p:pic>
        <p:nvPicPr>
          <p:cNvPr id="8" name="Picture 7"/>
          <p:cNvPicPr>
            <a:picLocks noChangeAspect="1"/>
          </p:cNvPicPr>
          <p:nvPr/>
        </p:nvPicPr>
        <p:blipFill>
          <a:blip r:embed="rId2"/>
          <a:stretch>
            <a:fillRect/>
          </a:stretch>
        </p:blipFill>
        <p:spPr>
          <a:xfrm>
            <a:off x="6324600" y="4495800"/>
            <a:ext cx="1643332" cy="1676400"/>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a:t>
            </a:r>
            <a:r>
              <a:rPr lang="vi-VN" i="1" dirty="0">
                <a:latin typeface="Times New Roman" panose="02020603050405020304" pitchFamily="18" charset="0"/>
                <a:cs typeface="Times New Roman" panose="02020603050405020304" pitchFamily="18" charset="0"/>
              </a:rPr>
              <a:t>Những điều kiện hay khả năng phải được đáp ứng bởi dự án hoặc hiện diện trong sản phẩm/dịch vụ, hoặc kết quả để đáp ứng các thỏa thuận, hoặc các đặc điểm kỹ thuật chính thức khác</a:t>
            </a:r>
            <a:r>
              <a:rPr lang="en-US" i="1" dirty="0">
                <a:latin typeface="Times New Roman" panose="02020603050405020304" pitchFamily="18" charset="0"/>
                <a:cs typeface="Times New Roman" panose="02020603050405020304" pitchFamily="18" charset="0"/>
              </a:rPr>
              <a:t>…</a:t>
            </a:r>
            <a:r>
              <a:rPr lang="en-US" dirty="0"/>
              <a:t>”</a:t>
            </a:r>
          </a:p>
          <a:p>
            <a:pPr marL="109537" indent="0" algn="r">
              <a:buNone/>
            </a:pPr>
            <a:r>
              <a:rPr lang="en-US" dirty="0"/>
              <a:t>PMBOK </a:t>
            </a:r>
            <a:r>
              <a:rPr lang="en-US"/>
              <a:t>(2017)</a:t>
            </a:r>
            <a:endParaRPr lang="en-US" dirty="0"/>
          </a:p>
          <a:p>
            <a:endParaRPr lang="en-US" sz="1200" dirty="0"/>
          </a:p>
          <a:p>
            <a:pPr algn="just"/>
            <a:r>
              <a:rPr lang="vi-VN" dirty="0">
                <a:effectLst>
                  <a:outerShdw blurRad="38100" dist="38100" dir="2700000" algn="tl">
                    <a:srgbClr val="000000">
                      <a:alpha val="43137"/>
                    </a:srgbClr>
                  </a:outerShdw>
                </a:effectLst>
              </a:rPr>
              <a:t>Kế hoạch quản lý yêu cầu </a:t>
            </a:r>
            <a:r>
              <a:rPr lang="vi-VN" dirty="0"/>
              <a:t>(</a:t>
            </a:r>
            <a:r>
              <a:rPr lang="en-US" dirty="0">
                <a:solidFill>
                  <a:srgbClr val="0070C0"/>
                </a:solidFill>
              </a:rPr>
              <a:t>requirements management plan</a:t>
            </a:r>
            <a:r>
              <a:rPr lang="vi-VN" dirty="0"/>
              <a:t>) của dự án phải được phân tích, tài liệu hóa, quản lý...</a:t>
            </a:r>
            <a:endParaRPr lang="en-US" dirty="0"/>
          </a:p>
        </p:txBody>
      </p:sp>
      <p:sp>
        <p:nvSpPr>
          <p:cNvPr id="3" name="Title 2"/>
          <p:cNvSpPr>
            <a:spLocks noGrp="1"/>
          </p:cNvSpPr>
          <p:nvPr>
            <p:ph type="title"/>
          </p:nvPr>
        </p:nvSpPr>
        <p:spPr>
          <a:xfrm>
            <a:off x="533400" y="228600"/>
            <a:ext cx="8229600" cy="1143000"/>
          </a:xfrm>
        </p:spPr>
        <p:txBody>
          <a:bodyPr>
            <a:noAutofit/>
          </a:bodyPr>
          <a:lstStyle/>
          <a:p>
            <a:pPr algn="ctr"/>
            <a:r>
              <a:rPr lang="en-US" sz="4000" dirty="0" err="1"/>
              <a:t>Kế</a:t>
            </a:r>
            <a:r>
              <a:rPr lang="en-US" sz="4000" dirty="0"/>
              <a:t> </a:t>
            </a:r>
            <a:r>
              <a:rPr lang="en-US" sz="4000" dirty="0" err="1"/>
              <a:t>hoạch</a:t>
            </a:r>
            <a:r>
              <a:rPr lang="en-US" sz="4000" dirty="0"/>
              <a:t> quản lý </a:t>
            </a:r>
            <a:r>
              <a:rPr lang="en-US" sz="4000" dirty="0" err="1"/>
              <a:t>yêu</a:t>
            </a:r>
            <a:r>
              <a:rPr lang="en-US" sz="4000" dirty="0"/>
              <a:t> </a:t>
            </a:r>
            <a:r>
              <a:rPr lang="en-US" sz="4000" dirty="0" err="1"/>
              <a:t>cầu</a:t>
            </a:r>
            <a:endParaRPr lang="en-US" sz="4000" dirty="0"/>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18</a:t>
            </a:fld>
            <a:endParaRPr lang="en-US" dirty="0"/>
          </a:p>
        </p:txBody>
      </p:sp>
    </p:spTree>
    <p:extLst>
      <p:ext uri="{BB962C8B-B14F-4D97-AF65-F5344CB8AC3E}">
        <p14:creationId xmlns:p14="http://schemas.microsoft.com/office/powerpoint/2010/main" val="381587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33538"/>
            <a:ext cx="7010400" cy="3319462"/>
          </a:xfrm>
          <a:solidFill>
            <a:schemeClr val="bg2"/>
          </a:solidFill>
          <a:ln>
            <a:solidFill>
              <a:schemeClr val="bg2"/>
            </a:solidFill>
          </a:ln>
        </p:spPr>
        <p:txBody>
          <a:bodyPr/>
          <a:lstStyle/>
          <a:p>
            <a:pPr algn="just"/>
            <a:r>
              <a:rPr lang="vi-VN" sz="2400" dirty="0"/>
              <a:t>Dự kiến công việc phân tích kinh doanh trong QLDA tăng </a:t>
            </a:r>
            <a:r>
              <a:rPr lang="vi-VN" sz="2400" b="1" dirty="0">
                <a:solidFill>
                  <a:srgbClr val="FF0000"/>
                </a:solidFill>
              </a:rPr>
              <a:t>19</a:t>
            </a:r>
            <a:r>
              <a:rPr lang="vi-VN" sz="2400" dirty="0">
                <a:solidFill>
                  <a:srgbClr val="FF0000"/>
                </a:solidFill>
              </a:rPr>
              <a:t>%</a:t>
            </a:r>
            <a:r>
              <a:rPr lang="vi-VN" sz="2400" dirty="0"/>
              <a:t> - năm 2022.</a:t>
            </a:r>
          </a:p>
          <a:p>
            <a:pPr algn="just"/>
            <a:endParaRPr lang="vi-VN" sz="900" dirty="0"/>
          </a:p>
          <a:p>
            <a:pPr algn="just"/>
            <a:r>
              <a:rPr lang="vi-VN" sz="2400" b="1" dirty="0">
                <a:solidFill>
                  <a:srgbClr val="FF0000"/>
                </a:solidFill>
              </a:rPr>
              <a:t>49</a:t>
            </a:r>
            <a:r>
              <a:rPr lang="vi-VN" sz="2400" dirty="0">
                <a:solidFill>
                  <a:srgbClr val="FF0000"/>
                </a:solidFill>
              </a:rPr>
              <a:t>%</a:t>
            </a:r>
            <a:r>
              <a:rPr lang="vi-VN" sz="2400" dirty="0"/>
              <a:t> có nguồn lực tại chỗ để quản lý đúng cách, </a:t>
            </a:r>
            <a:r>
              <a:rPr lang="vi-VN" sz="2400" b="1" dirty="0">
                <a:solidFill>
                  <a:srgbClr val="FF0000"/>
                </a:solidFill>
              </a:rPr>
              <a:t>53</a:t>
            </a:r>
            <a:r>
              <a:rPr lang="vi-VN" sz="2400" dirty="0">
                <a:solidFill>
                  <a:srgbClr val="FF0000"/>
                </a:solidFill>
              </a:rPr>
              <a:t>%</a:t>
            </a:r>
            <a:r>
              <a:rPr lang="vi-VN" sz="2400" dirty="0"/>
              <a:t> thất bại trong việc sử dụng quy trình chính thức để kiểm tra các yêu cầu.</a:t>
            </a:r>
          </a:p>
          <a:p>
            <a:pPr algn="just"/>
            <a:endParaRPr lang="vi-VN" sz="900" dirty="0"/>
          </a:p>
          <a:p>
            <a:pPr algn="just"/>
            <a:r>
              <a:rPr lang="vi-VN" sz="2400" dirty="0"/>
              <a:t>Nhiều người có chứng chỉ sẵn sàng cho công việc phân tích kinh doanh.</a:t>
            </a:r>
            <a:endParaRPr lang="en-US" sz="2400" dirty="0"/>
          </a:p>
        </p:txBody>
      </p:sp>
      <p:sp>
        <p:nvSpPr>
          <p:cNvPr id="3" name="Title 2"/>
          <p:cNvSpPr>
            <a:spLocks noGrp="1"/>
          </p:cNvSpPr>
          <p:nvPr>
            <p:ph type="title"/>
          </p:nvPr>
        </p:nvSpPr>
        <p:spPr>
          <a:xfrm>
            <a:off x="381000" y="274638"/>
            <a:ext cx="8229600" cy="1143000"/>
          </a:xfrm>
        </p:spPr>
        <p:txBody>
          <a:bodyPr>
            <a:normAutofit/>
          </a:bodyPr>
          <a:lstStyle/>
          <a:p>
            <a:pPr algn="ctr"/>
            <a:r>
              <a:rPr lang="en-US" sz="3600" dirty="0" err="1"/>
              <a:t>Một</a:t>
            </a:r>
            <a:r>
              <a:rPr lang="en-US" sz="3600" dirty="0"/>
              <a:t> </a:t>
            </a:r>
            <a:r>
              <a:rPr lang="en-US" sz="3600" dirty="0" err="1"/>
              <a:t>khảo</a:t>
            </a:r>
            <a:r>
              <a:rPr lang="en-US" sz="3600" dirty="0"/>
              <a:t> </a:t>
            </a:r>
            <a:r>
              <a:rPr lang="en-US" sz="3600" dirty="0" err="1"/>
              <a:t>sát</a:t>
            </a:r>
            <a:r>
              <a:rPr lang="en-US" sz="3600" dirty="0"/>
              <a:t> </a:t>
            </a:r>
            <a:r>
              <a:rPr lang="en-US" sz="3600" dirty="0" err="1"/>
              <a:t>của</a:t>
            </a:r>
            <a:r>
              <a:rPr lang="en-US" sz="3600" dirty="0"/>
              <a:t> PMI </a:t>
            </a:r>
            <a:r>
              <a:rPr lang="en-US" sz="3600"/>
              <a:t>(2016)</a:t>
            </a:r>
            <a:endParaRPr lang="en-US" sz="3600"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19</a:t>
            </a:fld>
            <a:endParaRPr lang="en-US" dirty="0"/>
          </a:p>
        </p:txBody>
      </p:sp>
      <p:pic>
        <p:nvPicPr>
          <p:cNvPr id="1026" name="Picture 2" descr="http://cfile4.uf.tistory.com/image/2549BE42555CAED71228B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5078016"/>
            <a:ext cx="4495800" cy="1475184"/>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14135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par>
                          <p:cTn id="15" fill="hold">
                            <p:stCondLst>
                              <p:cond delay="0"/>
                            </p:stCondLst>
                            <p:childTnLst>
                              <p:par>
                                <p:cTn id="16" presetID="8" presetClass="entr" presetSubtype="16" fill="hold" nodeType="after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diamond(in)">
                                      <p:cBhvr>
                                        <p:cTn id="1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90600" y="228600"/>
            <a:ext cx="7467600" cy="1143000"/>
          </a:xfrm>
        </p:spPr>
        <p:txBody>
          <a:bodyPr>
            <a:noAutofit/>
          </a:bodyPr>
          <a:lstStyle/>
          <a:p>
            <a:r>
              <a:rPr lang="en-US" sz="3600" dirty="0"/>
              <a:t>Chi </a:t>
            </a:r>
            <a:r>
              <a:rPr lang="en-US" sz="3600" dirty="0" err="1"/>
              <a:t>phí</a:t>
            </a:r>
            <a:r>
              <a:rPr lang="en-US" sz="3600" dirty="0"/>
              <a:t> </a:t>
            </a:r>
            <a:r>
              <a:rPr lang="en-US" sz="3600" dirty="0" err="1"/>
              <a:t>trong</a:t>
            </a:r>
            <a:r>
              <a:rPr lang="en-US" sz="3600" dirty="0"/>
              <a:t> </a:t>
            </a:r>
            <a:r>
              <a:rPr lang="en-US" sz="3600" dirty="0" err="1"/>
              <a:t>dự</a:t>
            </a:r>
            <a:r>
              <a:rPr lang="en-US" sz="3600" dirty="0"/>
              <a:t> </a:t>
            </a:r>
            <a:r>
              <a:rPr lang="en-US" sz="3600" dirty="0" err="1"/>
              <a:t>án</a:t>
            </a:r>
            <a:r>
              <a:rPr lang="en-US" sz="3600" dirty="0"/>
              <a:t> </a:t>
            </a:r>
            <a:r>
              <a:rPr lang="en-US" sz="3600" dirty="0" err="1"/>
              <a:t>phần</a:t>
            </a:r>
            <a:r>
              <a:rPr lang="en-US" sz="3600" dirty="0"/>
              <a:t> </a:t>
            </a:r>
            <a:r>
              <a:rPr lang="en-US" sz="3600" dirty="0" err="1"/>
              <a:t>mềm</a:t>
            </a:r>
            <a:br>
              <a:rPr lang="en-US" sz="3600" dirty="0"/>
            </a:br>
            <a:endParaRPr lang="en-US" sz="3600"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20</a:t>
            </a:fld>
            <a:endParaRPr lang="en-US" dirty="0"/>
          </a:p>
        </p:txBody>
      </p:sp>
      <p:pic>
        <p:nvPicPr>
          <p:cNvPr id="2" name="Picture 1"/>
          <p:cNvPicPr>
            <a:picLocks noChangeAspect="1"/>
          </p:cNvPicPr>
          <p:nvPr/>
        </p:nvPicPr>
        <p:blipFill>
          <a:blip r:embed="rId2"/>
          <a:stretch>
            <a:fillRect/>
          </a:stretch>
        </p:blipFill>
        <p:spPr>
          <a:xfrm>
            <a:off x="-12526" y="1044"/>
            <a:ext cx="9144000" cy="68663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481138"/>
            <a:ext cx="8229600" cy="4525962"/>
          </a:xfrm>
        </p:spPr>
        <p:txBody>
          <a:bodyPr/>
          <a:lstStyle/>
          <a:p>
            <a:pPr algn="just"/>
            <a:r>
              <a:rPr lang="vi-VN" dirty="0"/>
              <a:t>Sách “</a:t>
            </a:r>
            <a:r>
              <a:rPr lang="en-US" i="1" dirty="0">
                <a:solidFill>
                  <a:srgbClr val="0070C0"/>
                </a:solidFill>
              </a:rPr>
              <a:t>How Google tests Software</a:t>
            </a:r>
            <a:r>
              <a:rPr lang="vi-VN" dirty="0"/>
              <a:t>” (James Whittaker &amp; ctg., 2012). </a:t>
            </a:r>
          </a:p>
          <a:p>
            <a:pPr algn="just"/>
            <a:endParaRPr lang="vi-VN" sz="1200" dirty="0"/>
          </a:p>
          <a:p>
            <a:pPr algn="just"/>
            <a:r>
              <a:rPr lang="vi-VN" dirty="0"/>
              <a:t>Google thay đổi văn hóa về chất lượng dựa trên vai người lập trình - không dựa vào người kiểm thử để đảm bảo chất lượng.</a:t>
            </a:r>
          </a:p>
          <a:p>
            <a:pPr algn="just"/>
            <a:endParaRPr lang="vi-VN" sz="1200" dirty="0"/>
          </a:p>
          <a:p>
            <a:pPr algn="just"/>
            <a:r>
              <a:rPr lang="vi-VN" dirty="0"/>
              <a:t>Google cũng không tin vào xu hướng mới của các thuật ngữ thông dụng (v.d., Agile/Scrum)...</a:t>
            </a:r>
            <a:endParaRPr lang="en-US" dirty="0"/>
          </a:p>
        </p:txBody>
      </p:sp>
      <p:sp>
        <p:nvSpPr>
          <p:cNvPr id="3" name="Title 2"/>
          <p:cNvSpPr>
            <a:spLocks noGrp="1"/>
          </p:cNvSpPr>
          <p:nvPr>
            <p:ph type="title"/>
          </p:nvPr>
        </p:nvSpPr>
        <p:spPr>
          <a:xfrm>
            <a:off x="457200" y="228600"/>
            <a:ext cx="8229600" cy="1143000"/>
          </a:xfrm>
        </p:spPr>
        <p:txBody>
          <a:bodyPr/>
          <a:lstStyle/>
          <a:p>
            <a:pPr algn="ctr"/>
            <a:r>
              <a:rPr lang="en-US" sz="4000" dirty="0" err="1"/>
              <a:t>Tham</a:t>
            </a:r>
            <a:r>
              <a:rPr lang="en-US" sz="4000" dirty="0"/>
              <a:t> </a:t>
            </a:r>
            <a:r>
              <a:rPr lang="en-US" sz="4000" dirty="0" err="1"/>
              <a:t>khảo</a:t>
            </a:r>
            <a:r>
              <a:rPr lang="en-US" sz="4000" dirty="0"/>
              <a:t> </a:t>
            </a:r>
            <a:r>
              <a:rPr lang="en-US" sz="4000" dirty="0" err="1"/>
              <a:t>thêm</a:t>
            </a:r>
            <a:r>
              <a:rPr lang="en-US" sz="4000" dirty="0"/>
              <a:t>…</a:t>
            </a:r>
            <a:endParaRPr lang="en-US" dirty="0"/>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21</a:t>
            </a:fld>
            <a:endParaRPr lang="en-US" dirty="0"/>
          </a:p>
        </p:txBody>
      </p:sp>
    </p:spTree>
    <p:extLst>
      <p:ext uri="{BB962C8B-B14F-4D97-AF65-F5344CB8AC3E}">
        <p14:creationId xmlns:p14="http://schemas.microsoft.com/office/powerpoint/2010/main" val="616577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0" y="1568994"/>
            <a:ext cx="7696200" cy="4298406"/>
          </a:xfrm>
        </p:spPr>
        <p:txBody>
          <a:bodyPr/>
          <a:lstStyle/>
          <a:p>
            <a:pPr algn="just">
              <a:lnSpc>
                <a:spcPct val="120000"/>
              </a:lnSpc>
            </a:pPr>
            <a:r>
              <a:rPr lang="en-US" dirty="0" err="1"/>
              <a:t>Phỏng</a:t>
            </a:r>
            <a:r>
              <a:rPr lang="en-US" dirty="0"/>
              <a:t> </a:t>
            </a:r>
            <a:r>
              <a:rPr lang="en-US" dirty="0" err="1"/>
              <a:t>vấn</a:t>
            </a:r>
            <a:endParaRPr lang="en-US" dirty="0"/>
          </a:p>
          <a:p>
            <a:pPr algn="just">
              <a:lnSpc>
                <a:spcPct val="120000"/>
              </a:lnSpc>
            </a:pPr>
            <a:r>
              <a:rPr lang="en-US" dirty="0"/>
              <a:t>Thảo </a:t>
            </a:r>
            <a:r>
              <a:rPr lang="en-US" dirty="0" err="1"/>
              <a:t>luận</a:t>
            </a:r>
            <a:r>
              <a:rPr lang="en-US" dirty="0"/>
              <a:t> </a:t>
            </a:r>
            <a:r>
              <a:rPr lang="en-US" dirty="0" err="1"/>
              <a:t>nhóm</a:t>
            </a:r>
            <a:endParaRPr lang="en-US" dirty="0"/>
          </a:p>
          <a:p>
            <a:pPr algn="just">
              <a:lnSpc>
                <a:spcPct val="120000"/>
              </a:lnSpc>
            </a:pPr>
            <a:r>
              <a:rPr lang="en-US" dirty="0" err="1"/>
              <a:t>Kỹ</a:t>
            </a:r>
            <a:r>
              <a:rPr lang="en-US" dirty="0"/>
              <a:t> </a:t>
            </a:r>
            <a:r>
              <a:rPr lang="en-US" dirty="0" err="1"/>
              <a:t>thuật</a:t>
            </a:r>
            <a:r>
              <a:rPr lang="en-US" dirty="0"/>
              <a:t> </a:t>
            </a:r>
            <a:r>
              <a:rPr lang="en-US" dirty="0" err="1"/>
              <a:t>ra</a:t>
            </a:r>
            <a:r>
              <a:rPr lang="en-US" dirty="0"/>
              <a:t> </a:t>
            </a:r>
            <a:r>
              <a:rPr lang="en-US" dirty="0" err="1"/>
              <a:t>quyết</a:t>
            </a:r>
            <a:r>
              <a:rPr lang="en-US" dirty="0"/>
              <a:t> </a:t>
            </a:r>
            <a:r>
              <a:rPr lang="en-US" dirty="0" err="1"/>
              <a:t>định</a:t>
            </a:r>
            <a:endParaRPr lang="en-US" dirty="0"/>
          </a:p>
          <a:p>
            <a:pPr algn="just">
              <a:lnSpc>
                <a:spcPct val="120000"/>
              </a:lnSpc>
            </a:pPr>
            <a:r>
              <a:rPr lang="en-US" dirty="0" err="1"/>
              <a:t>Bảng</a:t>
            </a:r>
            <a:r>
              <a:rPr lang="en-US" dirty="0"/>
              <a:t> </a:t>
            </a:r>
            <a:r>
              <a:rPr lang="en-US" dirty="0" err="1"/>
              <a:t>câu</a:t>
            </a:r>
            <a:r>
              <a:rPr lang="en-US" dirty="0"/>
              <a:t> </a:t>
            </a:r>
            <a:r>
              <a:rPr lang="en-US" dirty="0" err="1"/>
              <a:t>hỏi</a:t>
            </a:r>
            <a:r>
              <a:rPr lang="en-US" dirty="0"/>
              <a:t> - </a:t>
            </a:r>
            <a:r>
              <a:rPr lang="en-US" dirty="0" err="1"/>
              <a:t>khảo</a:t>
            </a:r>
            <a:r>
              <a:rPr lang="en-US" dirty="0"/>
              <a:t> </a:t>
            </a:r>
            <a:r>
              <a:rPr lang="en-US" dirty="0" err="1"/>
              <a:t>sát</a:t>
            </a:r>
            <a:endParaRPr lang="en-US" dirty="0"/>
          </a:p>
          <a:p>
            <a:pPr algn="just">
              <a:lnSpc>
                <a:spcPct val="120000"/>
              </a:lnSpc>
            </a:pPr>
            <a:r>
              <a:rPr lang="en-US" dirty="0" err="1"/>
              <a:t>Quan</a:t>
            </a:r>
            <a:r>
              <a:rPr lang="en-US" dirty="0"/>
              <a:t> </a:t>
            </a:r>
            <a:r>
              <a:rPr lang="en-US" dirty="0" err="1"/>
              <a:t>sát</a:t>
            </a:r>
            <a:endParaRPr lang="en-US" dirty="0"/>
          </a:p>
          <a:p>
            <a:pPr algn="just">
              <a:lnSpc>
                <a:spcPct val="120000"/>
              </a:lnSpc>
            </a:pPr>
            <a:r>
              <a:rPr lang="en-US" dirty="0" err="1"/>
              <a:t>Làm</a:t>
            </a:r>
            <a:r>
              <a:rPr lang="en-US" dirty="0"/>
              <a:t> </a:t>
            </a:r>
            <a:r>
              <a:rPr lang="en-US" dirty="0" err="1"/>
              <a:t>mẫu</a:t>
            </a:r>
            <a:r>
              <a:rPr lang="en-US" dirty="0"/>
              <a:t> (</a:t>
            </a:r>
            <a:r>
              <a:rPr lang="vi-VN" dirty="0">
                <a:solidFill>
                  <a:srgbClr val="0070C0"/>
                </a:solidFill>
              </a:rPr>
              <a:t>prototyp</a:t>
            </a:r>
            <a:r>
              <a:rPr lang="en-US" dirty="0" err="1">
                <a:solidFill>
                  <a:srgbClr val="0070C0"/>
                </a:solidFill>
              </a:rPr>
              <a:t>ing</a:t>
            </a:r>
            <a:r>
              <a:rPr lang="en-US" dirty="0"/>
              <a:t>)</a:t>
            </a:r>
          </a:p>
          <a:p>
            <a:pPr algn="just"/>
            <a:r>
              <a:rPr lang="vi-VN" dirty="0"/>
              <a:t>Điểm chuẩn </a:t>
            </a:r>
            <a:r>
              <a:rPr lang="en-US" dirty="0"/>
              <a:t>(</a:t>
            </a:r>
            <a:r>
              <a:rPr lang="en-US" dirty="0">
                <a:solidFill>
                  <a:srgbClr val="0070C0"/>
                </a:solidFill>
              </a:rPr>
              <a:t>benchmark</a:t>
            </a:r>
            <a:r>
              <a:rPr lang="vi-VN" dirty="0">
                <a:solidFill>
                  <a:srgbClr val="0070C0"/>
                </a:solidFill>
              </a:rPr>
              <a:t>ing</a:t>
            </a:r>
            <a:r>
              <a:rPr lang="vi-VN" dirty="0"/>
              <a:t>)...</a:t>
            </a:r>
            <a:endParaRPr lang="en-US" dirty="0"/>
          </a:p>
        </p:txBody>
      </p:sp>
      <p:sp>
        <p:nvSpPr>
          <p:cNvPr id="3" name="Title 2"/>
          <p:cNvSpPr>
            <a:spLocks noGrp="1"/>
          </p:cNvSpPr>
          <p:nvPr>
            <p:ph type="title"/>
          </p:nvPr>
        </p:nvSpPr>
        <p:spPr>
          <a:xfrm>
            <a:off x="381000" y="304800"/>
            <a:ext cx="8458200" cy="1143000"/>
          </a:xfrm>
        </p:spPr>
        <p:txBody>
          <a:bodyPr>
            <a:normAutofit/>
          </a:bodyPr>
          <a:lstStyle/>
          <a:p>
            <a:pPr algn="ctr"/>
            <a:r>
              <a:rPr lang="en-US" sz="4000" dirty="0"/>
              <a:t>Phương </a:t>
            </a:r>
            <a:r>
              <a:rPr lang="en-US" sz="4000" dirty="0" err="1"/>
              <a:t>pháp</a:t>
            </a:r>
            <a:r>
              <a:rPr lang="en-US" sz="4000" dirty="0"/>
              <a:t> </a:t>
            </a:r>
            <a:r>
              <a:rPr lang="en-US" sz="4000" dirty="0" err="1"/>
              <a:t>thu</a:t>
            </a:r>
            <a:r>
              <a:rPr lang="en-US" sz="4000" dirty="0"/>
              <a:t> </a:t>
            </a:r>
            <a:r>
              <a:rPr lang="en-US" sz="4000" dirty="0" err="1"/>
              <a:t>thập</a:t>
            </a:r>
            <a:r>
              <a:rPr lang="en-US" sz="4000" dirty="0"/>
              <a:t> </a:t>
            </a:r>
            <a:r>
              <a:rPr lang="en-US" sz="4000" dirty="0" err="1"/>
              <a:t>yêu</a:t>
            </a:r>
            <a:r>
              <a:rPr lang="en-US" sz="4000" dirty="0"/>
              <a:t> </a:t>
            </a:r>
            <a:r>
              <a:rPr lang="en-US" sz="4000" dirty="0" err="1"/>
              <a:t>cầu</a:t>
            </a:r>
            <a:endParaRPr lang="en-US" sz="4000" dirty="0"/>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675884"/>
            <a:ext cx="8077200" cy="3048516"/>
          </a:xfrm>
          <a:solidFill>
            <a:schemeClr val="bg2"/>
          </a:solidFill>
        </p:spPr>
        <p:txBody>
          <a:bodyPr/>
          <a:lstStyle/>
          <a:p>
            <a:pPr algn="just"/>
            <a:r>
              <a:rPr lang="vi-VN" sz="2400" b="1" dirty="0">
                <a:solidFill>
                  <a:srgbClr val="FF0000"/>
                </a:solidFill>
              </a:rPr>
              <a:t>88</a:t>
            </a:r>
            <a:r>
              <a:rPr lang="vi-VN" sz="2400" dirty="0">
                <a:solidFill>
                  <a:srgbClr val="FF0000"/>
                </a:solidFill>
              </a:rPr>
              <a:t>%</a:t>
            </a:r>
            <a:r>
              <a:rPr lang="vi-VN" sz="2400" dirty="0"/>
              <a:t> dự án phần mềm có liên quan đến cải tiến sản phẩm thay vì phát triển mới.</a:t>
            </a:r>
          </a:p>
          <a:p>
            <a:pPr algn="just"/>
            <a:endParaRPr lang="vi-VN" sz="1200" dirty="0"/>
          </a:p>
          <a:p>
            <a:pPr algn="just"/>
            <a:r>
              <a:rPr lang="vi-VN" sz="2400" b="1" dirty="0">
                <a:solidFill>
                  <a:srgbClr val="FF0000"/>
                </a:solidFill>
              </a:rPr>
              <a:t>86</a:t>
            </a:r>
            <a:r>
              <a:rPr lang="vi-VN" sz="2400" dirty="0">
                <a:solidFill>
                  <a:srgbClr val="FF0000"/>
                </a:solidFill>
              </a:rPr>
              <a:t>% </a:t>
            </a:r>
            <a:r>
              <a:rPr lang="vi-VN" sz="2400" dirty="0"/>
              <a:t>cho rằng sự hài lòng khách hàng là quan trọng nhất để đo sự thành công của dự án.</a:t>
            </a:r>
          </a:p>
          <a:p>
            <a:pPr algn="just"/>
            <a:endParaRPr lang="vi-VN" sz="1200" dirty="0"/>
          </a:p>
          <a:p>
            <a:pPr algn="just"/>
            <a:r>
              <a:rPr lang="vi-VN" sz="2400" b="1" dirty="0">
                <a:solidFill>
                  <a:srgbClr val="FF0000"/>
                </a:solidFill>
              </a:rPr>
              <a:t>84</a:t>
            </a:r>
            <a:r>
              <a:rPr lang="vi-VN" sz="2400" dirty="0">
                <a:solidFill>
                  <a:srgbClr val="FF0000"/>
                </a:solidFill>
              </a:rPr>
              <a:t>% </a:t>
            </a:r>
            <a:r>
              <a:rPr lang="vi-VN" sz="2400" dirty="0"/>
              <a:t>thành viên</a:t>
            </a:r>
            <a:r>
              <a:rPr lang="vi-VN" sz="2400" dirty="0">
                <a:solidFill>
                  <a:srgbClr val="FF0000"/>
                </a:solidFill>
              </a:rPr>
              <a:t> </a:t>
            </a:r>
            <a:r>
              <a:rPr lang="vi-VN" sz="2400" dirty="0"/>
              <a:t>đội dự án dùng MS Office (v.d., Word, Excel...) là công cụ chính để trao đổi yêu cầu.</a:t>
            </a:r>
            <a:endParaRPr lang="en-US" sz="2400" dirty="0"/>
          </a:p>
        </p:txBody>
      </p:sp>
      <p:sp>
        <p:nvSpPr>
          <p:cNvPr id="3" name="Title 2"/>
          <p:cNvSpPr>
            <a:spLocks noGrp="1"/>
          </p:cNvSpPr>
          <p:nvPr>
            <p:ph type="title"/>
          </p:nvPr>
        </p:nvSpPr>
        <p:spPr>
          <a:xfrm>
            <a:off x="457200" y="228600"/>
            <a:ext cx="8229600" cy="1143000"/>
          </a:xfrm>
        </p:spPr>
        <p:txBody>
          <a:bodyPr>
            <a:normAutofit/>
          </a:bodyPr>
          <a:lstStyle/>
          <a:p>
            <a:pPr algn="ctr"/>
            <a:r>
              <a:rPr lang="en-US" sz="3600" dirty="0"/>
              <a:t>Thống </a:t>
            </a:r>
            <a:r>
              <a:rPr lang="en-US" sz="3600" dirty="0" err="1"/>
              <a:t>kê</a:t>
            </a:r>
            <a:r>
              <a:rPr lang="en-US" sz="3600" dirty="0"/>
              <a:t> </a:t>
            </a:r>
            <a:r>
              <a:rPr lang="en-US" sz="3600" dirty="0" err="1"/>
              <a:t>về</a:t>
            </a:r>
            <a:r>
              <a:rPr lang="en-US" sz="3600" dirty="0"/>
              <a:t> </a:t>
            </a:r>
            <a:r>
              <a:rPr lang="en-US" sz="3600" dirty="0" err="1"/>
              <a:t>yêu</a:t>
            </a:r>
            <a:r>
              <a:rPr lang="en-US" sz="3600" dirty="0"/>
              <a:t> </a:t>
            </a:r>
            <a:r>
              <a:rPr lang="en-US" sz="3600" dirty="0" err="1"/>
              <a:t>cầu</a:t>
            </a:r>
            <a:endParaRPr lang="en-US" sz="3600"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23</a:t>
            </a:fld>
            <a:endParaRPr lang="en-US" dirty="0"/>
          </a:p>
        </p:txBody>
      </p:sp>
      <p:sp>
        <p:nvSpPr>
          <p:cNvPr id="6" name="TextBox 5"/>
          <p:cNvSpPr txBox="1"/>
          <p:nvPr/>
        </p:nvSpPr>
        <p:spPr>
          <a:xfrm>
            <a:off x="1752600" y="5486400"/>
            <a:ext cx="7092519" cy="369332"/>
          </a:xfrm>
          <a:prstGeom prst="rect">
            <a:avLst/>
          </a:prstGeom>
          <a:noFill/>
        </p:spPr>
        <p:txBody>
          <a:bodyPr wrap="none" rtlCol="0">
            <a:spAutoFit/>
          </a:bodyPr>
          <a:lstStyle/>
          <a:p>
            <a:r>
              <a:rPr lang="en-US" sz="1800" dirty="0"/>
              <a:t>*John Simpson, “The State of Requirements Management” (2011).</a:t>
            </a:r>
          </a:p>
        </p:txBody>
      </p:sp>
      <p:sp>
        <p:nvSpPr>
          <p:cNvPr id="7"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3327590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93838"/>
            <a:ext cx="8534400" cy="2620962"/>
          </a:xfrm>
        </p:spPr>
        <p:txBody>
          <a:bodyPr/>
          <a:lstStyle/>
          <a:p>
            <a:pPr algn="just"/>
            <a:r>
              <a:rPr lang="vi-VN" dirty="0">
                <a:effectLst>
                  <a:outerShdw blurRad="38100" dist="38100" dir="2700000" algn="tl">
                    <a:srgbClr val="000000">
                      <a:alpha val="43137"/>
                    </a:srgbClr>
                  </a:outerShdw>
                </a:effectLst>
              </a:rPr>
              <a:t>Ma trận lưu vết yêu cầu </a:t>
            </a:r>
            <a:r>
              <a:rPr lang="vi-VN" dirty="0"/>
              <a:t>- </a:t>
            </a:r>
            <a:r>
              <a:rPr lang="vi-VN" dirty="0">
                <a:solidFill>
                  <a:srgbClr val="0070C0"/>
                </a:solidFill>
                <a:effectLst>
                  <a:outerShdw blurRad="38100" dist="38100" dir="2700000" algn="tl">
                    <a:srgbClr val="000000">
                      <a:alpha val="43137"/>
                    </a:srgbClr>
                  </a:outerShdw>
                </a:effectLst>
              </a:rPr>
              <a:t>RTM</a:t>
            </a:r>
            <a:r>
              <a:rPr lang="vi-VN" dirty="0">
                <a:solidFill>
                  <a:srgbClr val="0070C0"/>
                </a:solidFill>
              </a:rPr>
              <a:t> </a:t>
            </a:r>
            <a:r>
              <a:rPr lang="vi-VN" dirty="0"/>
              <a:t>(</a:t>
            </a:r>
            <a:r>
              <a:rPr lang="en-US" dirty="0">
                <a:solidFill>
                  <a:srgbClr val="0070C0"/>
                </a:solidFill>
              </a:rPr>
              <a:t>Requirements Traceability Matrix</a:t>
            </a:r>
            <a:r>
              <a:rPr lang="vi-VN" dirty="0"/>
              <a:t>): danh sách các yêu cầu, các thuộc tính, và tình trạng của yêu cầu... để đảm bảo tất cả yêu cầu đều được giải quyết.</a:t>
            </a:r>
          </a:p>
          <a:p>
            <a:pPr algn="just"/>
            <a:endParaRPr lang="en-US" sz="1200" dirty="0"/>
          </a:p>
          <a:p>
            <a:pPr algn="just"/>
            <a:r>
              <a:rPr lang="en-US" dirty="0" err="1"/>
              <a:t>Ví</a:t>
            </a:r>
            <a:r>
              <a:rPr lang="en-US" dirty="0"/>
              <a:t> </a:t>
            </a:r>
            <a:r>
              <a:rPr lang="en-US" dirty="0" err="1"/>
              <a:t>dụ</a:t>
            </a:r>
            <a:r>
              <a:rPr lang="en-US" dirty="0"/>
              <a:t>...</a:t>
            </a:r>
            <a:endParaRPr lang="en-US" dirty="0">
              <a:effectLst>
                <a:outerShdw blurRad="38100" dist="38100" dir="2700000" algn="tl">
                  <a:srgbClr val="000000">
                    <a:alpha val="43137"/>
                  </a:srgbClr>
                </a:outerShdw>
              </a:effectLst>
            </a:endParaRPr>
          </a:p>
          <a:p>
            <a:pPr lvl="1" algn="just"/>
            <a:endParaRPr lang="en-US" dirty="0"/>
          </a:p>
          <a:p>
            <a:pPr algn="just"/>
            <a:endParaRPr lang="en-US" dirty="0"/>
          </a:p>
        </p:txBody>
      </p:sp>
      <p:sp>
        <p:nvSpPr>
          <p:cNvPr id="3" name="Title 2"/>
          <p:cNvSpPr>
            <a:spLocks noGrp="1"/>
          </p:cNvSpPr>
          <p:nvPr>
            <p:ph type="title"/>
          </p:nvPr>
        </p:nvSpPr>
        <p:spPr>
          <a:xfrm>
            <a:off x="381000" y="228600"/>
            <a:ext cx="8229600" cy="1143000"/>
          </a:xfrm>
        </p:spPr>
        <p:txBody>
          <a:bodyPr>
            <a:normAutofit/>
          </a:bodyPr>
          <a:lstStyle/>
          <a:p>
            <a:pPr algn="ctr"/>
            <a:r>
              <a:rPr lang="en-US" sz="4000" dirty="0"/>
              <a:t>Ma </a:t>
            </a:r>
            <a:r>
              <a:rPr lang="en-US" sz="4000" dirty="0" err="1"/>
              <a:t>trận</a:t>
            </a:r>
            <a:r>
              <a:rPr lang="en-US" sz="4000" dirty="0"/>
              <a:t> </a:t>
            </a:r>
            <a:r>
              <a:rPr lang="en-US" sz="4000" dirty="0" err="1"/>
              <a:t>lưu</a:t>
            </a:r>
            <a:r>
              <a:rPr lang="en-US" sz="4000" dirty="0"/>
              <a:t> </a:t>
            </a:r>
            <a:r>
              <a:rPr lang="en-US" sz="4000" dirty="0" err="1"/>
              <a:t>vết</a:t>
            </a:r>
            <a:r>
              <a:rPr lang="en-US" sz="4000" dirty="0"/>
              <a:t> </a:t>
            </a:r>
            <a:r>
              <a:rPr lang="en-US" sz="4000" dirty="0" err="1"/>
              <a:t>yêu</a:t>
            </a:r>
            <a:r>
              <a:rPr lang="en-US" sz="4000" dirty="0"/>
              <a:t> </a:t>
            </a:r>
            <a:r>
              <a:rPr lang="en-US" sz="4000" dirty="0" err="1"/>
              <a:t>cầu</a:t>
            </a:r>
            <a:endParaRPr lang="en-US" sz="4000"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24</a:t>
            </a:fld>
            <a:endParaRPr lang="en-US" dirty="0"/>
          </a:p>
        </p:txBody>
      </p:sp>
      <p:pic>
        <p:nvPicPr>
          <p:cNvPr id="7" name="Picture 6"/>
          <p:cNvPicPr>
            <a:picLocks noChangeAspect="1"/>
          </p:cNvPicPr>
          <p:nvPr/>
        </p:nvPicPr>
        <p:blipFill>
          <a:blip r:embed="rId2"/>
          <a:stretch>
            <a:fillRect/>
          </a:stretch>
        </p:blipFill>
        <p:spPr>
          <a:xfrm>
            <a:off x="0" y="4191000"/>
            <a:ext cx="9067800" cy="1600200"/>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085850"/>
            <a:ext cx="9067800" cy="4171950"/>
          </a:xfrm>
          <a:prstGeom prst="rect">
            <a:avLst/>
          </a:prstGeom>
        </p:spPr>
      </p:pic>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25</a:t>
            </a:fld>
            <a:endParaRPr lang="en-US" dirty="0"/>
          </a:p>
        </p:txBody>
      </p:sp>
      <p:sp>
        <p:nvSpPr>
          <p:cNvPr id="7" name="Rounded Rectangle 6"/>
          <p:cNvSpPr/>
          <p:nvPr/>
        </p:nvSpPr>
        <p:spPr>
          <a:xfrm>
            <a:off x="1371600" y="4518764"/>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a:defRPr/>
            </a:pPr>
            <a:r>
              <a:rPr lang="en-US" sz="4000" dirty="0">
                <a:solidFill>
                  <a:schemeClr val="bg1">
                    <a:lumMod val="65000"/>
                  </a:schemeClr>
                </a:solidFill>
                <a:effectLst/>
              </a:rPr>
              <a:t>Quản lý </a:t>
            </a:r>
            <a:r>
              <a:rPr lang="en-US" sz="4000" dirty="0" err="1">
                <a:solidFill>
                  <a:schemeClr val="bg1">
                    <a:lumMod val="65000"/>
                  </a:schemeClr>
                </a:solidFill>
                <a:effectLst/>
              </a:rPr>
              <a:t>phạm</a:t>
            </a:r>
            <a:r>
              <a:rPr lang="en-US" sz="4000" dirty="0">
                <a:solidFill>
                  <a:schemeClr val="bg1">
                    <a:lumMod val="65000"/>
                  </a:schemeClr>
                </a:solidFill>
                <a:effectLst/>
              </a:rPr>
              <a:t> vi </a:t>
            </a:r>
            <a:r>
              <a:rPr lang="en-US" sz="4000" dirty="0" err="1">
                <a:solidFill>
                  <a:schemeClr val="bg1">
                    <a:lumMod val="65000"/>
                  </a:schemeClr>
                </a:solidFill>
                <a:effectLst/>
              </a:rPr>
              <a:t>dự</a:t>
            </a:r>
            <a:r>
              <a:rPr lang="en-US" sz="4000" dirty="0">
                <a:solidFill>
                  <a:schemeClr val="bg1">
                    <a:lumMod val="65000"/>
                  </a:schemeClr>
                </a:solidFill>
                <a:effectLst/>
              </a:rPr>
              <a:t> </a:t>
            </a:r>
            <a:r>
              <a:rPr lang="en-US" sz="4000" dirty="0" err="1">
                <a:solidFill>
                  <a:schemeClr val="bg1">
                    <a:lumMod val="65000"/>
                  </a:schemeClr>
                </a:solidFill>
                <a:effectLst/>
              </a:rPr>
              <a:t>án</a:t>
            </a:r>
            <a:r>
              <a:rPr lang="en-US" sz="4000" dirty="0">
                <a:solidFill>
                  <a:schemeClr val="bg1">
                    <a:lumMod val="65000"/>
                  </a:schemeClr>
                </a:solidFill>
                <a:effectLst/>
              </a:rPr>
              <a:t> [3/6]</a:t>
            </a:r>
          </a:p>
        </p:txBody>
      </p:sp>
      <p:pic>
        <p:nvPicPr>
          <p:cNvPr id="3" name="Picture 2"/>
          <p:cNvPicPr>
            <a:picLocks noChangeAspect="1"/>
          </p:cNvPicPr>
          <p:nvPr/>
        </p:nvPicPr>
        <p:blipFill>
          <a:blip r:embed="rId3"/>
          <a:stretch>
            <a:fillRect/>
          </a:stretch>
        </p:blipFill>
        <p:spPr>
          <a:xfrm>
            <a:off x="5410199" y="5257800"/>
            <a:ext cx="2146542" cy="1549052"/>
          </a:xfrm>
          <a:prstGeom prst="rect">
            <a:avLst/>
          </a:prstGeom>
        </p:spPr>
      </p:pic>
      <p:sp>
        <p:nvSpPr>
          <p:cNvPr id="11"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09414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228600" y="1295400"/>
            <a:ext cx="8763000" cy="4343400"/>
          </a:xfrm>
        </p:spPr>
        <p:txBody>
          <a:bodyPr/>
          <a:lstStyle/>
          <a:p>
            <a:pPr algn="just"/>
            <a:r>
              <a:rPr lang="vi-VN" b="1" dirty="0"/>
              <a:t>Xác định phạm vi</a:t>
            </a:r>
            <a:r>
              <a:rPr lang="vi-VN" dirty="0"/>
              <a:t> (</a:t>
            </a:r>
            <a:r>
              <a:rPr lang="vi-VN" dirty="0">
                <a:solidFill>
                  <a:srgbClr val="0070C0"/>
                </a:solidFill>
              </a:rPr>
              <a:t>define scope</a:t>
            </a:r>
            <a:r>
              <a:rPr lang="vi-VN" dirty="0"/>
              <a:t>) để tạo ra tuyên bố phạm vi dự án với ít nhất một mô tả về phạm vi sản phẩm, các tiêu chuẩn chấp nhận sử dụng, và thông tin về các chuyển giao của dự án. </a:t>
            </a:r>
          </a:p>
          <a:p>
            <a:pPr algn="just"/>
            <a:endParaRPr lang="vi-VN" sz="1000" dirty="0"/>
          </a:p>
          <a:p>
            <a:pPr algn="just"/>
            <a:r>
              <a:rPr lang="vi-VN" dirty="0">
                <a:effectLst>
                  <a:outerShdw blurRad="38100" dist="38100" dir="2700000" algn="tl">
                    <a:srgbClr val="000000">
                      <a:alpha val="43137"/>
                    </a:srgbClr>
                  </a:outerShdw>
                </a:effectLst>
              </a:rPr>
              <a:t>Tuyên bố phạm vi </a:t>
            </a:r>
            <a:r>
              <a:rPr lang="vi-VN" dirty="0"/>
              <a:t>(</a:t>
            </a:r>
            <a:r>
              <a:rPr lang="en-US" dirty="0">
                <a:solidFill>
                  <a:srgbClr val="0070C0"/>
                </a:solidFill>
              </a:rPr>
              <a:t>scope statements</a:t>
            </a:r>
            <a:r>
              <a:rPr lang="vi-VN" dirty="0"/>
              <a:t>) cũng hữu ích để ghi lại các thông tin liên quan khác... </a:t>
            </a:r>
          </a:p>
          <a:p>
            <a:pPr lvl="1">
              <a:buFont typeface="Arial" panose="020B0604020202020204" pitchFamily="34" charset="0"/>
              <a:buChar char="•"/>
            </a:pPr>
            <a:r>
              <a:rPr lang="vi-VN" sz="2400" dirty="0"/>
              <a:t>V.d., Các hạn chế, các giả định...</a:t>
            </a:r>
            <a:r>
              <a:rPr lang="vi-VN" dirty="0"/>
              <a:t> </a:t>
            </a:r>
          </a:p>
          <a:p>
            <a:pPr lvl="1" algn="just"/>
            <a:endParaRPr lang="vi-VN" sz="1000" dirty="0"/>
          </a:p>
          <a:p>
            <a:pPr algn="just"/>
            <a:r>
              <a:rPr lang="vi-VN" dirty="0"/>
              <a:t>Theo thời gian, phạm vi dự án sẽ trở nên cụ thể hơn.</a:t>
            </a:r>
            <a:endParaRPr lang="en-US" dirty="0"/>
          </a:p>
        </p:txBody>
      </p:sp>
      <p:sp>
        <p:nvSpPr>
          <p:cNvPr id="18434" name="Rectangle 2"/>
          <p:cNvSpPr>
            <a:spLocks noGrp="1" noChangeArrowheads="1"/>
          </p:cNvSpPr>
          <p:nvPr>
            <p:ph type="title"/>
          </p:nvPr>
        </p:nvSpPr>
        <p:spPr>
          <a:xfrm>
            <a:off x="381000" y="76200"/>
            <a:ext cx="8610600" cy="1311275"/>
          </a:xfrm>
        </p:spPr>
        <p:txBody>
          <a:bodyPr>
            <a:normAutofit/>
          </a:bodyPr>
          <a:lstStyle/>
          <a:p>
            <a:pPr algn="ctr"/>
            <a:r>
              <a:rPr lang="en-US" dirty="0">
                <a:solidFill>
                  <a:srgbClr val="FF0000"/>
                </a:solidFill>
              </a:rPr>
              <a:t>3. </a:t>
            </a:r>
            <a:r>
              <a:rPr lang="en-US" dirty="0" err="1">
                <a:solidFill>
                  <a:srgbClr val="FF0000"/>
                </a:solidFill>
              </a:rPr>
              <a:t>Xác</a:t>
            </a:r>
            <a:r>
              <a:rPr lang="en-US" dirty="0">
                <a:solidFill>
                  <a:srgbClr val="FF0000"/>
                </a:solidFill>
              </a:rPr>
              <a:t> </a:t>
            </a:r>
            <a:r>
              <a:rPr lang="en-US" dirty="0" err="1">
                <a:solidFill>
                  <a:srgbClr val="FF0000"/>
                </a:solidFill>
              </a:rPr>
              <a:t>định</a:t>
            </a:r>
            <a:r>
              <a:rPr lang="en-US" dirty="0">
                <a:solidFill>
                  <a:srgbClr val="FF0000"/>
                </a:solidFill>
              </a:rPr>
              <a:t> </a:t>
            </a:r>
            <a:r>
              <a:rPr lang="en-US" dirty="0" err="1">
                <a:solidFill>
                  <a:srgbClr val="FF0000"/>
                </a:solidFill>
              </a:rPr>
              <a:t>phạm</a:t>
            </a:r>
            <a:r>
              <a:rPr lang="en-US" dirty="0">
                <a:solidFill>
                  <a:srgbClr val="FF0000"/>
                </a:solidFill>
              </a:rPr>
              <a:t> vi</a:t>
            </a:r>
          </a:p>
        </p:txBody>
      </p:sp>
      <p:sp>
        <p:nvSpPr>
          <p:cNvPr id="8" name="Slide Number Placeholder 7"/>
          <p:cNvSpPr>
            <a:spLocks noGrp="1"/>
          </p:cNvSpPr>
          <p:nvPr>
            <p:ph type="sldNum" sz="quarter" idx="11"/>
          </p:nvPr>
        </p:nvSpPr>
        <p:spPr/>
        <p:txBody>
          <a:bodyPr/>
          <a:lstStyle/>
          <a:p>
            <a:pPr>
              <a:defRPr/>
            </a:pPr>
            <a:fld id="{F1335457-D0D4-42C9-897C-5B0BA910BCFA}" type="slidenum">
              <a:rPr lang="en-US" smtClean="0"/>
              <a:pPr>
                <a:defRPr/>
              </a:pPr>
              <a:t>26</a:t>
            </a:fld>
            <a:endParaRPr lang="en-US" dirty="0"/>
          </a:p>
        </p:txBody>
      </p:sp>
      <p:pic>
        <p:nvPicPr>
          <p:cNvPr id="2" name="Picture 1"/>
          <p:cNvPicPr>
            <a:picLocks noChangeAspect="1"/>
          </p:cNvPicPr>
          <p:nvPr/>
        </p:nvPicPr>
        <p:blipFill>
          <a:blip r:embed="rId2"/>
          <a:stretch>
            <a:fillRect/>
          </a:stretch>
        </p:blipFill>
        <p:spPr>
          <a:xfrm>
            <a:off x="5562600" y="5562600"/>
            <a:ext cx="2346561" cy="1275567"/>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2526"/>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điều</a:t>
            </a:r>
            <a:r>
              <a:rPr lang="en-US" sz="3600" dirty="0"/>
              <a:t> </a:t>
            </a:r>
            <a:r>
              <a:rPr lang="en-US" sz="3600" dirty="0" err="1"/>
              <a:t>lệ</a:t>
            </a:r>
            <a:r>
              <a:rPr lang="en-US" sz="3600" dirty="0"/>
              <a:t> </a:t>
            </a:r>
            <a:r>
              <a:rPr lang="en-US" sz="3600" dirty="0" err="1"/>
              <a:t>dự</a:t>
            </a:r>
            <a:r>
              <a:rPr lang="en-US" sz="3600" dirty="0"/>
              <a:t> </a:t>
            </a:r>
            <a:r>
              <a:rPr lang="en-US" sz="3600" dirty="0" err="1"/>
              <a:t>án</a:t>
            </a:r>
            <a:endParaRPr lang="en-US" sz="3600"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01"/>
            <a:ext cx="9126743" cy="6847562"/>
          </a:xfrm>
          <a:prstGeom prst="rect">
            <a:avLst/>
          </a:prstGeom>
        </p:spPr>
      </p:pic>
      <p:cxnSp>
        <p:nvCxnSpPr>
          <p:cNvPr id="7" name="Straight Connector 6"/>
          <p:cNvCxnSpPr/>
          <p:nvPr/>
        </p:nvCxnSpPr>
        <p:spPr>
          <a:xfrm>
            <a:off x="131618" y="342378"/>
            <a:ext cx="131618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2296" y="762000"/>
            <a:ext cx="180270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710830" y="762000"/>
            <a:ext cx="222337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200" y="1219200"/>
            <a:ext cx="2514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6200" y="2883074"/>
            <a:ext cx="19812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6200" y="3276600"/>
            <a:ext cx="166254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6200" y="3708748"/>
            <a:ext cx="1905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6200" y="4648200"/>
            <a:ext cx="29718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6200" y="5638800"/>
            <a:ext cx="103909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044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 y="0"/>
            <a:ext cx="9159240" cy="6858000"/>
          </a:xfrm>
          <a:prstGeom prst="rect">
            <a:avLst/>
          </a:prstGeom>
        </p:spPr>
      </p:pic>
      <p:cxnSp>
        <p:nvCxnSpPr>
          <p:cNvPr id="12" name="Straight Connector 11"/>
          <p:cNvCxnSpPr/>
          <p:nvPr/>
        </p:nvCxnSpPr>
        <p:spPr>
          <a:xfrm>
            <a:off x="110690" y="3276600"/>
            <a:ext cx="103231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91440" y="5608320"/>
            <a:ext cx="103909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15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295400"/>
            <a:ext cx="9067800" cy="4343400"/>
          </a:xfrm>
          <a:prstGeom prst="rect">
            <a:avLst/>
          </a:prstGeom>
        </p:spPr>
      </p:pic>
      <p:sp>
        <p:nvSpPr>
          <p:cNvPr id="19458" name="Rectangle 4"/>
          <p:cNvSpPr>
            <a:spLocks noGrp="1" noChangeArrowheads="1"/>
          </p:cNvSpPr>
          <p:nvPr>
            <p:ph type="title"/>
          </p:nvPr>
        </p:nvSpPr>
        <p:spPr>
          <a:xfrm>
            <a:off x="381000" y="12526"/>
            <a:ext cx="8153400" cy="1143000"/>
          </a:xfrm>
        </p:spPr>
        <p:txBody>
          <a:bodyPr>
            <a:normAutofit/>
          </a:bodyPr>
          <a:lstStyle/>
          <a:p>
            <a:pPr algn="ctr"/>
            <a:r>
              <a:rPr lang="en-US" sz="3600" dirty="0" err="1">
                <a:solidFill>
                  <a:srgbClr val="0070C0"/>
                </a:solidFill>
              </a:rPr>
              <a:t>Ví</a:t>
            </a:r>
            <a:r>
              <a:rPr lang="en-US" sz="3600" dirty="0">
                <a:solidFill>
                  <a:srgbClr val="0070C0"/>
                </a:solidFill>
              </a:rPr>
              <a:t> </a:t>
            </a:r>
            <a:r>
              <a:rPr lang="en-US" sz="3600" dirty="0" err="1">
                <a:solidFill>
                  <a:srgbClr val="0070C0"/>
                </a:solidFill>
              </a:rPr>
              <a:t>dụ</a:t>
            </a:r>
            <a:r>
              <a:rPr lang="en-US" sz="3600" dirty="0">
                <a:solidFill>
                  <a:srgbClr val="0070C0"/>
                </a:solidFill>
              </a:rPr>
              <a:t>, </a:t>
            </a:r>
            <a:r>
              <a:rPr lang="en-US" sz="3600" dirty="0" err="1">
                <a:solidFill>
                  <a:srgbClr val="0070C0"/>
                </a:solidFill>
              </a:rPr>
              <a:t>tuyên</a:t>
            </a:r>
            <a:r>
              <a:rPr lang="en-US" sz="3600" dirty="0">
                <a:solidFill>
                  <a:srgbClr val="0070C0"/>
                </a:solidFill>
              </a:rPr>
              <a:t> </a:t>
            </a:r>
            <a:r>
              <a:rPr lang="en-US" sz="3600" dirty="0" err="1">
                <a:solidFill>
                  <a:srgbClr val="0070C0"/>
                </a:solidFill>
              </a:rPr>
              <a:t>bố</a:t>
            </a:r>
            <a:r>
              <a:rPr lang="en-US" sz="3600" dirty="0">
                <a:solidFill>
                  <a:srgbClr val="0070C0"/>
                </a:solidFill>
              </a:rPr>
              <a:t> </a:t>
            </a:r>
            <a:r>
              <a:rPr lang="en-US" sz="3600" dirty="0" err="1">
                <a:solidFill>
                  <a:srgbClr val="0070C0"/>
                </a:solidFill>
              </a:rPr>
              <a:t>phạm</a:t>
            </a:r>
            <a:r>
              <a:rPr lang="en-US" sz="3600" dirty="0">
                <a:solidFill>
                  <a:srgbClr val="0070C0"/>
                </a:solidFill>
              </a:rPr>
              <a:t> vi </a:t>
            </a:r>
            <a:r>
              <a:rPr lang="en-US" sz="3600" dirty="0" err="1">
                <a:solidFill>
                  <a:srgbClr val="0070C0"/>
                </a:solidFill>
              </a:rPr>
              <a:t>dự</a:t>
            </a:r>
            <a:r>
              <a:rPr lang="en-US" sz="3600" dirty="0">
                <a:solidFill>
                  <a:srgbClr val="0070C0"/>
                </a:solidFill>
              </a:rPr>
              <a:t> </a:t>
            </a:r>
            <a:r>
              <a:rPr lang="en-US" sz="3600" dirty="0" err="1">
                <a:solidFill>
                  <a:srgbClr val="0070C0"/>
                </a:solidFill>
              </a:rPr>
              <a:t>án</a:t>
            </a:r>
            <a:endParaRPr lang="en-US" sz="3600" dirty="0">
              <a:solidFill>
                <a:srgbClr val="0070C0"/>
              </a:solidFill>
            </a:endParaRPr>
          </a:p>
        </p:txBody>
      </p:sp>
      <p:sp>
        <p:nvSpPr>
          <p:cNvPr id="8" name="Slide Number Placeholder 7"/>
          <p:cNvSpPr>
            <a:spLocks noGrp="1"/>
          </p:cNvSpPr>
          <p:nvPr>
            <p:ph type="sldNum" sz="quarter" idx="11"/>
          </p:nvPr>
        </p:nvSpPr>
        <p:spPr/>
        <p:txBody>
          <a:bodyPr/>
          <a:lstStyle/>
          <a:p>
            <a:pPr>
              <a:buFontTx/>
              <a:buNone/>
              <a:defRPr/>
            </a:pPr>
            <a:fld id="{5408CF9A-C8EF-404E-A6D1-AAA46EE490CD}" type="slidenum">
              <a:rPr lang="en-US" smtClean="0"/>
              <a:pPr>
                <a:buFontTx/>
                <a:buNone/>
                <a:defRPr/>
              </a:pPr>
              <a:t>29</a:t>
            </a:fld>
            <a:endParaRPr lang="en-US" dirty="0"/>
          </a:p>
        </p:txBody>
      </p:sp>
      <p:cxnSp>
        <p:nvCxnSpPr>
          <p:cNvPr id="6" name="Straight Connector 5"/>
          <p:cNvCxnSpPr/>
          <p:nvPr/>
        </p:nvCxnSpPr>
        <p:spPr>
          <a:xfrm>
            <a:off x="76200" y="1701452"/>
            <a:ext cx="152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90341" y="2514600"/>
            <a:ext cx="2805259"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0341" y="4355926"/>
            <a:ext cx="2805259"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085850"/>
            <a:ext cx="9067800" cy="4171950"/>
          </a:xfrm>
          <a:prstGeom prst="rect">
            <a:avLst/>
          </a:prstGeom>
        </p:spPr>
      </p:pic>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30</a:t>
            </a:fld>
            <a:endParaRPr lang="en-US" dirty="0"/>
          </a:p>
        </p:txBody>
      </p:sp>
      <p:sp>
        <p:nvSpPr>
          <p:cNvPr id="7" name="Rounded Rectangle 6"/>
          <p:cNvSpPr/>
          <p:nvPr/>
        </p:nvSpPr>
        <p:spPr>
          <a:xfrm>
            <a:off x="1447800" y="4864443"/>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a:defRPr/>
            </a:pPr>
            <a:r>
              <a:rPr lang="en-US" sz="4000" dirty="0">
                <a:solidFill>
                  <a:schemeClr val="bg1">
                    <a:lumMod val="65000"/>
                  </a:schemeClr>
                </a:solidFill>
                <a:effectLst/>
              </a:rPr>
              <a:t>Quản lý </a:t>
            </a:r>
            <a:r>
              <a:rPr lang="en-US" sz="4000" dirty="0" err="1">
                <a:solidFill>
                  <a:schemeClr val="bg1">
                    <a:lumMod val="65000"/>
                  </a:schemeClr>
                </a:solidFill>
                <a:effectLst/>
              </a:rPr>
              <a:t>phạm</a:t>
            </a:r>
            <a:r>
              <a:rPr lang="en-US" sz="4000" dirty="0">
                <a:solidFill>
                  <a:schemeClr val="bg1">
                    <a:lumMod val="65000"/>
                  </a:schemeClr>
                </a:solidFill>
                <a:effectLst/>
              </a:rPr>
              <a:t> vi </a:t>
            </a:r>
            <a:r>
              <a:rPr lang="en-US" sz="4000" dirty="0" err="1">
                <a:solidFill>
                  <a:schemeClr val="bg1">
                    <a:lumMod val="65000"/>
                  </a:schemeClr>
                </a:solidFill>
                <a:effectLst/>
              </a:rPr>
              <a:t>dự</a:t>
            </a:r>
            <a:r>
              <a:rPr lang="en-US" sz="4000" dirty="0">
                <a:solidFill>
                  <a:schemeClr val="bg1">
                    <a:lumMod val="65000"/>
                  </a:schemeClr>
                </a:solidFill>
                <a:effectLst/>
              </a:rPr>
              <a:t> </a:t>
            </a:r>
            <a:r>
              <a:rPr lang="en-US" sz="4000" dirty="0" err="1">
                <a:solidFill>
                  <a:schemeClr val="bg1">
                    <a:lumMod val="65000"/>
                  </a:schemeClr>
                </a:solidFill>
                <a:effectLst/>
              </a:rPr>
              <a:t>án</a:t>
            </a:r>
            <a:r>
              <a:rPr lang="en-US" sz="4000" dirty="0">
                <a:solidFill>
                  <a:schemeClr val="bg1">
                    <a:lumMod val="65000"/>
                  </a:schemeClr>
                </a:solidFill>
                <a:effectLst/>
              </a:rPr>
              <a:t> [4/6]</a:t>
            </a:r>
          </a:p>
        </p:txBody>
      </p:sp>
      <p:pic>
        <p:nvPicPr>
          <p:cNvPr id="5" name="Picture 4"/>
          <p:cNvPicPr>
            <a:picLocks noChangeAspect="1"/>
          </p:cNvPicPr>
          <p:nvPr/>
        </p:nvPicPr>
        <p:blipFill>
          <a:blip r:embed="rId3"/>
          <a:stretch>
            <a:fillRect/>
          </a:stretch>
        </p:blipFill>
        <p:spPr>
          <a:xfrm>
            <a:off x="5486400" y="5105400"/>
            <a:ext cx="1600200" cy="1715193"/>
          </a:xfrm>
          <a:prstGeom prst="rect">
            <a:avLst/>
          </a:prstGeom>
        </p:spPr>
      </p:pic>
      <p:sp>
        <p:nvSpPr>
          <p:cNvPr id="11"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28708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266700" y="1570038"/>
            <a:ext cx="8572500" cy="4525962"/>
          </a:xfrm>
        </p:spPr>
        <p:txBody>
          <a:bodyPr/>
          <a:lstStyle/>
          <a:p>
            <a:pPr algn="just"/>
            <a:r>
              <a:rPr lang="vi-VN" b="1" dirty="0"/>
              <a:t>Phân rã công việc </a:t>
            </a:r>
            <a:r>
              <a:rPr lang="vi-VN" dirty="0"/>
              <a:t>- </a:t>
            </a:r>
            <a:r>
              <a:rPr lang="vi-VN" dirty="0">
                <a:solidFill>
                  <a:srgbClr val="0070C0"/>
                </a:solidFill>
                <a:effectLst>
                  <a:outerShdw blurRad="38100" dist="38100" dir="2700000" algn="tl">
                    <a:srgbClr val="000000">
                      <a:alpha val="43137"/>
                    </a:srgbClr>
                  </a:outerShdw>
                </a:effectLst>
              </a:rPr>
              <a:t>WBS</a:t>
            </a:r>
            <a:r>
              <a:rPr lang="vi-VN" dirty="0">
                <a:solidFill>
                  <a:srgbClr val="0070C0"/>
                </a:solidFill>
              </a:rPr>
              <a:t> </a:t>
            </a:r>
            <a:r>
              <a:rPr lang="vi-VN" dirty="0"/>
              <a:t>(</a:t>
            </a:r>
            <a:r>
              <a:rPr lang="vi-VN" dirty="0">
                <a:solidFill>
                  <a:srgbClr val="0070C0"/>
                </a:solidFill>
              </a:rPr>
              <a:t>Work Breakdown Structure</a:t>
            </a:r>
            <a:r>
              <a:rPr lang="vi-VN" dirty="0"/>
              <a:t>): nhóm chuyển giao có định hướng của các công việc liên quan để xác định phạm vi tổng thể của dự án.</a:t>
            </a:r>
          </a:p>
          <a:p>
            <a:pPr algn="just"/>
            <a:endParaRPr lang="vi-VN" sz="1200" dirty="0"/>
          </a:p>
          <a:p>
            <a:pPr algn="just"/>
            <a:r>
              <a:rPr lang="vi-VN" dirty="0"/>
              <a:t>WBS</a:t>
            </a:r>
            <a:r>
              <a:rPr lang="vi-VN" dirty="0">
                <a:effectLst>
                  <a:outerShdw blurRad="38100" dist="38100" dir="2700000" algn="tl">
                    <a:srgbClr val="000000">
                      <a:alpha val="43137"/>
                    </a:srgbClr>
                  </a:outerShdw>
                </a:effectLst>
              </a:rPr>
              <a:t> </a:t>
            </a:r>
            <a:r>
              <a:rPr lang="vi-VN" dirty="0"/>
              <a:t>là tài liệu nền tảng cho lập kế hoạch dự án và quản lý lịch biểu, chi phí, nguồn lực, và sự thay đổi...</a:t>
            </a:r>
          </a:p>
        </p:txBody>
      </p:sp>
      <p:sp>
        <p:nvSpPr>
          <p:cNvPr id="21506" name="Rectangle 2"/>
          <p:cNvSpPr>
            <a:spLocks noGrp="1" noChangeArrowheads="1"/>
          </p:cNvSpPr>
          <p:nvPr>
            <p:ph type="title"/>
          </p:nvPr>
        </p:nvSpPr>
        <p:spPr>
          <a:xfrm>
            <a:off x="0" y="304800"/>
            <a:ext cx="9144000" cy="1143000"/>
          </a:xfrm>
        </p:spPr>
        <p:txBody>
          <a:bodyPr>
            <a:noAutofit/>
          </a:bodyPr>
          <a:lstStyle/>
          <a:p>
            <a:pPr algn="ctr"/>
            <a:r>
              <a:rPr lang="en-US" sz="4400" dirty="0">
                <a:solidFill>
                  <a:srgbClr val="FF0000"/>
                </a:solidFill>
              </a:rPr>
              <a:t>4. </a:t>
            </a:r>
            <a:r>
              <a:rPr lang="en-US" sz="4400" dirty="0" err="1">
                <a:solidFill>
                  <a:srgbClr val="FF0000"/>
                </a:solidFill>
              </a:rPr>
              <a:t>Tạo</a:t>
            </a:r>
            <a:r>
              <a:rPr lang="en-US" sz="4400" dirty="0">
                <a:solidFill>
                  <a:srgbClr val="FF0000"/>
                </a:solidFill>
              </a:rPr>
              <a:t> </a:t>
            </a:r>
            <a:r>
              <a:rPr lang="en-US" sz="4400" dirty="0" err="1">
                <a:solidFill>
                  <a:srgbClr val="FF0000"/>
                </a:solidFill>
              </a:rPr>
              <a:t>phân</a:t>
            </a:r>
            <a:r>
              <a:rPr lang="en-US" sz="4400" dirty="0">
                <a:solidFill>
                  <a:srgbClr val="FF0000"/>
                </a:solidFill>
              </a:rPr>
              <a:t> </a:t>
            </a:r>
            <a:r>
              <a:rPr lang="en-US" sz="4400" dirty="0" err="1">
                <a:solidFill>
                  <a:srgbClr val="FF0000"/>
                </a:solidFill>
              </a:rPr>
              <a:t>rã</a:t>
            </a:r>
            <a:r>
              <a:rPr lang="en-US" sz="4400" dirty="0">
                <a:solidFill>
                  <a:srgbClr val="FF0000"/>
                </a:solidFill>
              </a:rPr>
              <a:t> </a:t>
            </a:r>
            <a:r>
              <a:rPr lang="en-US" sz="4400" dirty="0" err="1">
                <a:solidFill>
                  <a:srgbClr val="FF0000"/>
                </a:solidFill>
              </a:rPr>
              <a:t>công</a:t>
            </a:r>
            <a:r>
              <a:rPr lang="en-US" sz="4400" dirty="0">
                <a:solidFill>
                  <a:srgbClr val="FF0000"/>
                </a:solidFill>
              </a:rPr>
              <a:t> </a:t>
            </a:r>
            <a:r>
              <a:rPr lang="en-US" sz="4400" dirty="0" err="1">
                <a:solidFill>
                  <a:srgbClr val="FF0000"/>
                </a:solidFill>
              </a:rPr>
              <a:t>việc</a:t>
            </a:r>
            <a:r>
              <a:rPr lang="en-US" sz="4400" dirty="0">
                <a:solidFill>
                  <a:srgbClr val="FF0000"/>
                </a:solidFill>
              </a:rPr>
              <a:t> (WBS)</a:t>
            </a:r>
          </a:p>
        </p:txBody>
      </p:sp>
      <p:sp>
        <p:nvSpPr>
          <p:cNvPr id="8" name="Slide Number Placeholder 7"/>
          <p:cNvSpPr>
            <a:spLocks noGrp="1"/>
          </p:cNvSpPr>
          <p:nvPr>
            <p:ph type="sldNum" sz="quarter" idx="11"/>
          </p:nvPr>
        </p:nvSpPr>
        <p:spPr/>
        <p:txBody>
          <a:bodyPr/>
          <a:lstStyle/>
          <a:p>
            <a:pPr>
              <a:defRPr/>
            </a:pPr>
            <a:fld id="{4842C04C-78A8-47E1-9358-C2595DF744E9}" type="slidenum">
              <a:rPr lang="en-US" smtClean="0"/>
              <a:pPr>
                <a:defRPr/>
              </a:pPr>
              <a:t>31</a:t>
            </a:fld>
            <a:endParaRPr lang="en-US" dirty="0"/>
          </a:p>
        </p:txBody>
      </p:sp>
      <p:pic>
        <p:nvPicPr>
          <p:cNvPr id="2" name="Picture 1"/>
          <p:cNvPicPr>
            <a:picLocks noChangeAspect="1"/>
          </p:cNvPicPr>
          <p:nvPr/>
        </p:nvPicPr>
        <p:blipFill>
          <a:blip r:embed="rId2"/>
          <a:stretch>
            <a:fillRect/>
          </a:stretch>
        </p:blipFill>
        <p:spPr>
          <a:xfrm>
            <a:off x="6096000" y="4724400"/>
            <a:ext cx="2311400" cy="1365000"/>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42900" y="1341438"/>
            <a:ext cx="8420100" cy="4525962"/>
          </a:xfrm>
        </p:spPr>
        <p:txBody>
          <a:bodyPr/>
          <a:lstStyle/>
          <a:p>
            <a:pPr algn="just"/>
            <a:r>
              <a:rPr lang="vi-VN" dirty="0">
                <a:effectLst>
                  <a:outerShdw blurRad="38100" dist="38100" dir="2700000" algn="tl">
                    <a:srgbClr val="000000">
                      <a:alpha val="43137"/>
                    </a:srgbClr>
                  </a:outerShdw>
                </a:effectLst>
              </a:rPr>
              <a:t>Phân rã </a:t>
            </a:r>
            <a:r>
              <a:rPr lang="vi-VN" dirty="0"/>
              <a:t>(</a:t>
            </a:r>
            <a:r>
              <a:rPr lang="en-US" dirty="0">
                <a:solidFill>
                  <a:srgbClr val="0070C0"/>
                </a:solidFill>
              </a:rPr>
              <a:t>decomposition</a:t>
            </a:r>
            <a:r>
              <a:rPr lang="vi-VN" dirty="0"/>
              <a:t>): sự phân phối dự án thành từng phần nhỏ.</a:t>
            </a:r>
          </a:p>
          <a:p>
            <a:pPr algn="just"/>
            <a:endParaRPr lang="vi-VN" sz="1200" dirty="0"/>
          </a:p>
          <a:p>
            <a:pPr algn="just"/>
            <a:r>
              <a:rPr lang="vi-VN" dirty="0">
                <a:effectLst>
                  <a:outerShdw blurRad="38100" dist="38100" dir="2700000" algn="tl">
                    <a:srgbClr val="000000">
                      <a:alpha val="43137"/>
                    </a:srgbClr>
                  </a:outerShdw>
                </a:effectLst>
              </a:rPr>
              <a:t>Gói công việc </a:t>
            </a:r>
            <a:r>
              <a:rPr lang="vi-VN" dirty="0"/>
              <a:t>(</a:t>
            </a:r>
            <a:r>
              <a:rPr lang="en-US" dirty="0">
                <a:solidFill>
                  <a:srgbClr val="0070C0"/>
                </a:solidFill>
              </a:rPr>
              <a:t>work package</a:t>
            </a:r>
            <a:r>
              <a:rPr lang="vi-VN" dirty="0"/>
              <a:t>): nhiệm vụ ở mức thấp nhất của WBS.</a:t>
            </a:r>
          </a:p>
          <a:p>
            <a:pPr algn="just"/>
            <a:endParaRPr lang="vi-VN" sz="1200" dirty="0"/>
          </a:p>
          <a:p>
            <a:pPr algn="just"/>
            <a:r>
              <a:rPr lang="vi-VN" dirty="0">
                <a:effectLst>
                  <a:outerShdw blurRad="38100" dist="38100" dir="2700000" algn="tl">
                    <a:srgbClr val="000000">
                      <a:alpha val="43137"/>
                    </a:srgbClr>
                  </a:outerShdw>
                </a:effectLst>
              </a:rPr>
              <a:t>Đường cơ sở phạm vi </a:t>
            </a:r>
            <a:r>
              <a:rPr lang="vi-VN" dirty="0"/>
              <a:t>(</a:t>
            </a:r>
            <a:r>
              <a:rPr lang="en-US" dirty="0">
                <a:solidFill>
                  <a:srgbClr val="0070C0"/>
                </a:solidFill>
              </a:rPr>
              <a:t>scope baseline</a:t>
            </a:r>
            <a:r>
              <a:rPr lang="vi-VN" dirty="0"/>
              <a:t>): </a:t>
            </a:r>
            <a:r>
              <a:rPr lang="vi-VN" dirty="0">
                <a:solidFill>
                  <a:srgbClr val="FF0000"/>
                </a:solidFill>
              </a:rPr>
              <a:t>(1) tuyên bố phạm vi, (2) WBS, (3) từ điển WBS.</a:t>
            </a:r>
            <a:endParaRPr lang="en-US" dirty="0">
              <a:solidFill>
                <a:srgbClr val="FF0000"/>
              </a:solidFill>
            </a:endParaRPr>
          </a:p>
        </p:txBody>
      </p:sp>
      <p:sp>
        <p:nvSpPr>
          <p:cNvPr id="21506" name="Rectangle 2"/>
          <p:cNvSpPr>
            <a:spLocks noGrp="1" noChangeArrowheads="1"/>
          </p:cNvSpPr>
          <p:nvPr>
            <p:ph type="title"/>
          </p:nvPr>
        </p:nvSpPr>
        <p:spPr>
          <a:xfrm>
            <a:off x="304800" y="152400"/>
            <a:ext cx="8610600" cy="1143000"/>
          </a:xfrm>
        </p:spPr>
        <p:txBody>
          <a:bodyPr>
            <a:noAutofit/>
          </a:bodyPr>
          <a:lstStyle/>
          <a:p>
            <a:pPr algn="ctr"/>
            <a:r>
              <a:rPr lang="en-US" sz="4400" dirty="0" err="1">
                <a:solidFill>
                  <a:srgbClr val="0070C0"/>
                </a:solidFill>
              </a:rPr>
              <a:t>Đường</a:t>
            </a:r>
            <a:r>
              <a:rPr lang="en-US" sz="4400" dirty="0">
                <a:solidFill>
                  <a:srgbClr val="0070C0"/>
                </a:solidFill>
              </a:rPr>
              <a:t> </a:t>
            </a:r>
            <a:r>
              <a:rPr lang="en-US" sz="4400" dirty="0" err="1">
                <a:solidFill>
                  <a:srgbClr val="0070C0"/>
                </a:solidFill>
              </a:rPr>
              <a:t>cơ</a:t>
            </a:r>
            <a:r>
              <a:rPr lang="en-US" sz="4400" dirty="0">
                <a:solidFill>
                  <a:srgbClr val="0070C0"/>
                </a:solidFill>
              </a:rPr>
              <a:t> </a:t>
            </a:r>
            <a:r>
              <a:rPr lang="en-US" sz="4400" dirty="0" err="1">
                <a:solidFill>
                  <a:srgbClr val="0070C0"/>
                </a:solidFill>
              </a:rPr>
              <a:t>sở</a:t>
            </a:r>
            <a:r>
              <a:rPr lang="en-US" sz="4400" dirty="0">
                <a:solidFill>
                  <a:srgbClr val="0070C0"/>
                </a:solidFill>
              </a:rPr>
              <a:t> </a:t>
            </a:r>
            <a:r>
              <a:rPr lang="en-US" sz="4400" dirty="0" err="1">
                <a:solidFill>
                  <a:srgbClr val="0070C0"/>
                </a:solidFill>
              </a:rPr>
              <a:t>phạm</a:t>
            </a:r>
            <a:r>
              <a:rPr lang="en-US" sz="4400" dirty="0">
                <a:solidFill>
                  <a:srgbClr val="0070C0"/>
                </a:solidFill>
              </a:rPr>
              <a:t> vi</a:t>
            </a:r>
          </a:p>
        </p:txBody>
      </p:sp>
      <p:sp>
        <p:nvSpPr>
          <p:cNvPr id="8" name="Slide Number Placeholder 7"/>
          <p:cNvSpPr>
            <a:spLocks noGrp="1"/>
          </p:cNvSpPr>
          <p:nvPr>
            <p:ph type="sldNum" sz="quarter" idx="11"/>
          </p:nvPr>
        </p:nvSpPr>
        <p:spPr/>
        <p:txBody>
          <a:bodyPr/>
          <a:lstStyle/>
          <a:p>
            <a:pPr>
              <a:defRPr/>
            </a:pPr>
            <a:fld id="{4842C04C-78A8-47E1-9358-C2595DF744E9}" type="slidenum">
              <a:rPr lang="en-US" smtClean="0"/>
              <a:pPr>
                <a:defRPr/>
              </a:pPr>
              <a:t>32</a:t>
            </a:fld>
            <a:endParaRPr lang="en-US" dirty="0"/>
          </a:p>
        </p:txBody>
      </p:sp>
      <p:pic>
        <p:nvPicPr>
          <p:cNvPr id="2" name="Picture 1"/>
          <p:cNvPicPr>
            <a:picLocks noChangeAspect="1"/>
          </p:cNvPicPr>
          <p:nvPr/>
        </p:nvPicPr>
        <p:blipFill>
          <a:blip r:embed="rId2"/>
          <a:stretch>
            <a:fillRect/>
          </a:stretch>
        </p:blipFill>
        <p:spPr>
          <a:xfrm>
            <a:off x="6629400" y="4828138"/>
            <a:ext cx="1537725" cy="1648862"/>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621219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algn="ctr"/>
            <a:r>
              <a:rPr lang="en-US" sz="3600" dirty="0" err="1"/>
              <a:t>Ví</a:t>
            </a:r>
            <a:r>
              <a:rPr lang="en-US" sz="3600" dirty="0"/>
              <a:t> </a:t>
            </a:r>
            <a:r>
              <a:rPr lang="en-US" sz="3600" dirty="0" err="1"/>
              <a:t>dụ</a:t>
            </a:r>
            <a:r>
              <a:rPr lang="en-US" sz="3600" dirty="0"/>
              <a:t>, WBS </a:t>
            </a:r>
            <a:r>
              <a:rPr lang="en-US" sz="3600" dirty="0" err="1"/>
              <a:t>theo</a:t>
            </a:r>
            <a:r>
              <a:rPr lang="en-US" sz="3600" dirty="0"/>
              <a:t> </a:t>
            </a:r>
            <a:r>
              <a:rPr lang="en-US" sz="3600" dirty="0" err="1"/>
              <a:t>sản</a:t>
            </a:r>
            <a:r>
              <a:rPr lang="en-US" sz="3600" dirty="0"/>
              <a:t> </a:t>
            </a:r>
            <a:r>
              <a:rPr lang="en-US" sz="3600" dirty="0" err="1"/>
              <a:t>phẩm</a:t>
            </a:r>
            <a:endParaRPr lang="en-US" sz="3600" dirty="0"/>
          </a:p>
        </p:txBody>
      </p:sp>
      <p:sp>
        <p:nvSpPr>
          <p:cNvPr id="8" name="Slide Number Placeholder 7"/>
          <p:cNvSpPr>
            <a:spLocks noGrp="1"/>
          </p:cNvSpPr>
          <p:nvPr>
            <p:ph type="sldNum" sz="quarter" idx="11"/>
          </p:nvPr>
        </p:nvSpPr>
        <p:spPr/>
        <p:txBody>
          <a:bodyPr/>
          <a:lstStyle/>
          <a:p>
            <a:pPr>
              <a:buFontTx/>
              <a:buNone/>
              <a:defRPr/>
            </a:pPr>
            <a:fld id="{72ACE893-EA2F-459E-9FB0-1B7C6C3FEF79}" type="slidenum">
              <a:rPr lang="en-US" smtClean="0"/>
              <a:pPr>
                <a:buFontTx/>
                <a:buNone/>
                <a:defRPr/>
              </a:pPr>
              <a:t>33</a:t>
            </a:fld>
            <a:endParaRPr lang="en-US" dirty="0"/>
          </a:p>
        </p:txBody>
      </p:sp>
      <p:sp>
        <p:nvSpPr>
          <p:cNvPr id="5"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pic>
        <p:nvPicPr>
          <p:cNvPr id="2" name="Picture 1"/>
          <p:cNvPicPr>
            <a:picLocks noChangeAspect="1"/>
          </p:cNvPicPr>
          <p:nvPr/>
        </p:nvPicPr>
        <p:blipFill>
          <a:blip r:embed="rId2"/>
          <a:stretch>
            <a:fillRect/>
          </a:stretch>
        </p:blipFill>
        <p:spPr>
          <a:xfrm>
            <a:off x="0" y="1905000"/>
            <a:ext cx="9144000" cy="33528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1316" y="19833"/>
            <a:ext cx="9175315" cy="1143000"/>
          </a:xfrm>
        </p:spPr>
        <p:txBody>
          <a:bodyPr>
            <a:normAutofit/>
          </a:bodyPr>
          <a:lstStyle/>
          <a:p>
            <a:pPr algn="ctr"/>
            <a:r>
              <a:rPr lang="en-US" sz="3600" dirty="0" err="1"/>
              <a:t>Ví</a:t>
            </a:r>
            <a:r>
              <a:rPr lang="en-US" sz="3600" dirty="0"/>
              <a:t> </a:t>
            </a:r>
            <a:r>
              <a:rPr lang="en-US" sz="3600" dirty="0" err="1"/>
              <a:t>dụ</a:t>
            </a:r>
            <a:r>
              <a:rPr lang="en-US" sz="3600" dirty="0"/>
              <a:t>, WBS </a:t>
            </a:r>
            <a:r>
              <a:rPr lang="en-US" sz="3600" dirty="0" err="1"/>
              <a:t>theo</a:t>
            </a:r>
            <a:r>
              <a:rPr lang="en-US" sz="3600" dirty="0"/>
              <a:t> </a:t>
            </a:r>
            <a:r>
              <a:rPr lang="en-US" sz="3600" dirty="0" err="1"/>
              <a:t>giai</a:t>
            </a:r>
            <a:r>
              <a:rPr lang="en-US" sz="3600" dirty="0"/>
              <a:t> </a:t>
            </a:r>
            <a:r>
              <a:rPr lang="en-US" sz="3600" dirty="0" err="1"/>
              <a:t>đoạn</a:t>
            </a:r>
            <a:endParaRPr lang="en-US" sz="3600" dirty="0"/>
          </a:p>
        </p:txBody>
      </p:sp>
      <p:sp>
        <p:nvSpPr>
          <p:cNvPr id="8" name="Slide Number Placeholder 7"/>
          <p:cNvSpPr>
            <a:spLocks noGrp="1"/>
          </p:cNvSpPr>
          <p:nvPr>
            <p:ph type="sldNum" sz="quarter" idx="11"/>
          </p:nvPr>
        </p:nvSpPr>
        <p:spPr/>
        <p:txBody>
          <a:bodyPr/>
          <a:lstStyle/>
          <a:p>
            <a:pPr>
              <a:buFontTx/>
              <a:buNone/>
              <a:defRPr/>
            </a:pPr>
            <a:fld id="{4DCEA2F6-9510-4648-BF26-FB2B9CF1D7D0}" type="slidenum">
              <a:rPr lang="en-US" smtClean="0"/>
              <a:pPr>
                <a:buFontTx/>
                <a:buNone/>
                <a:defRPr/>
              </a:pPr>
              <a:t>34</a:t>
            </a:fld>
            <a:endParaRPr lang="en-US" dirty="0"/>
          </a:p>
        </p:txBody>
      </p:sp>
      <p:pic>
        <p:nvPicPr>
          <p:cNvPr id="2" name="Picture 1"/>
          <p:cNvPicPr>
            <a:picLocks noChangeAspect="1"/>
          </p:cNvPicPr>
          <p:nvPr/>
        </p:nvPicPr>
        <p:blipFill>
          <a:blip r:embed="rId2"/>
          <a:stretch>
            <a:fillRect/>
          </a:stretch>
        </p:blipFill>
        <p:spPr>
          <a:xfrm>
            <a:off x="3132" y="1219200"/>
            <a:ext cx="9144000" cy="5650282"/>
          </a:xfrm>
          <a:prstGeom prst="rect">
            <a:avLst/>
          </a:prstGeom>
        </p:spPr>
      </p:pic>
      <p:sp>
        <p:nvSpPr>
          <p:cNvPr id="5" name="Rounded Rectangle 4"/>
          <p:cNvSpPr/>
          <p:nvPr/>
        </p:nvSpPr>
        <p:spPr>
          <a:xfrm>
            <a:off x="1524000" y="2883632"/>
            <a:ext cx="1108364" cy="60518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Rounded Rectangle 5"/>
          <p:cNvSpPr/>
          <p:nvPr/>
        </p:nvSpPr>
        <p:spPr>
          <a:xfrm>
            <a:off x="1996440" y="3886200"/>
            <a:ext cx="1341120" cy="60518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25524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1"/>
          </p:nvPr>
        </p:nvSpPr>
        <p:spPr/>
        <p:txBody>
          <a:bodyPr/>
          <a:lstStyle/>
          <a:p>
            <a:pPr>
              <a:buFontTx/>
              <a:buNone/>
              <a:defRPr/>
            </a:pPr>
            <a:fld id="{4DCEA2F6-9510-4648-BF26-FB2B9CF1D7D0}" type="slidenum">
              <a:rPr lang="en-US" smtClean="0"/>
              <a:pPr>
                <a:buFontTx/>
                <a:buNone/>
                <a:defRPr/>
              </a:pPr>
              <a:t>35</a:t>
            </a:fld>
            <a:endParaRPr lang="en-US" dirty="0"/>
          </a:p>
        </p:txBody>
      </p:sp>
      <p:pic>
        <p:nvPicPr>
          <p:cNvPr id="3" name="Picture 2"/>
          <p:cNvPicPr>
            <a:picLocks noChangeAspect="1"/>
          </p:cNvPicPr>
          <p:nvPr/>
        </p:nvPicPr>
        <p:blipFill>
          <a:blip r:embed="rId2"/>
          <a:stretch>
            <a:fillRect/>
          </a:stretch>
        </p:blipFill>
        <p:spPr>
          <a:xfrm>
            <a:off x="0" y="0"/>
            <a:ext cx="9144000" cy="6934200"/>
          </a:xfrm>
          <a:prstGeom prst="rect">
            <a:avLst/>
          </a:prstGeom>
        </p:spPr>
      </p:pic>
      <p:sp>
        <p:nvSpPr>
          <p:cNvPr id="5" name="Rounded Rectangle 4"/>
          <p:cNvSpPr/>
          <p:nvPr/>
        </p:nvSpPr>
        <p:spPr>
          <a:xfrm>
            <a:off x="860458" y="841349"/>
            <a:ext cx="1806542" cy="37785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Rounded Rectangle 5"/>
          <p:cNvSpPr/>
          <p:nvPr/>
        </p:nvSpPr>
        <p:spPr>
          <a:xfrm>
            <a:off x="1537570" y="1489571"/>
            <a:ext cx="3520440" cy="37785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a:buFontTx/>
              <a:buNone/>
              <a:defRPr/>
            </a:pPr>
            <a:fld id="{809ADCBE-97A5-4BA6-AFB0-CF093DB72B93}" type="slidenum">
              <a:rPr lang="en-US" smtClean="0"/>
              <a:pPr>
                <a:buFontTx/>
                <a:buNone/>
                <a:defRPr/>
              </a:pPr>
              <a:t>36</a:t>
            </a:fld>
            <a:endParaRPr lang="en-US" dirty="0"/>
          </a:p>
        </p:txBody>
      </p:sp>
      <p:sp>
        <p:nvSpPr>
          <p:cNvPr id="7" name="Rectangle 2"/>
          <p:cNvSpPr>
            <a:spLocks noGrp="1" noChangeArrowheads="1"/>
          </p:cNvSpPr>
          <p:nvPr>
            <p:ph type="title"/>
          </p:nvPr>
        </p:nvSpPr>
        <p:spPr>
          <a:xfrm>
            <a:off x="457200" y="15240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sơ</a:t>
            </a:r>
            <a:r>
              <a:rPr lang="en-US" sz="3600" dirty="0"/>
              <a:t> </a:t>
            </a:r>
            <a:r>
              <a:rPr lang="en-US" sz="3600" dirty="0" err="1"/>
              <a:t>đồ</a:t>
            </a:r>
            <a:r>
              <a:rPr lang="en-US" sz="3600" dirty="0"/>
              <a:t> Gantt và WBS</a:t>
            </a:r>
          </a:p>
        </p:txBody>
      </p:sp>
      <p:pic>
        <p:nvPicPr>
          <p:cNvPr id="4" name="Picture 3"/>
          <p:cNvPicPr>
            <a:picLocks noChangeAspect="1"/>
          </p:cNvPicPr>
          <p:nvPr/>
        </p:nvPicPr>
        <p:blipFill>
          <a:blip r:embed="rId2"/>
          <a:stretch>
            <a:fillRect/>
          </a:stretch>
        </p:blipFill>
        <p:spPr>
          <a:xfrm>
            <a:off x="0" y="1447800"/>
            <a:ext cx="9144000" cy="4800600"/>
          </a:xfrm>
          <a:prstGeom prst="rect">
            <a:avLst/>
          </a:prstGeom>
        </p:spPr>
      </p:pic>
      <p:sp>
        <p:nvSpPr>
          <p:cNvPr id="5"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2" name="Oval 1"/>
          <p:cNvSpPr/>
          <p:nvPr/>
        </p:nvSpPr>
        <p:spPr>
          <a:xfrm>
            <a:off x="2094978" y="1321496"/>
            <a:ext cx="838200" cy="457200"/>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Oval 7"/>
          <p:cNvSpPr/>
          <p:nvPr/>
        </p:nvSpPr>
        <p:spPr>
          <a:xfrm>
            <a:off x="7187852" y="1332978"/>
            <a:ext cx="1371600" cy="457200"/>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ounded Rectangle 9"/>
          <p:cNvSpPr/>
          <p:nvPr/>
        </p:nvSpPr>
        <p:spPr>
          <a:xfrm>
            <a:off x="707841" y="2895600"/>
            <a:ext cx="2644959" cy="37785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inVertical)">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600" y="0"/>
            <a:ext cx="86868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sơ</a:t>
            </a:r>
            <a:r>
              <a:rPr lang="en-US" sz="3600" dirty="0"/>
              <a:t> </a:t>
            </a:r>
            <a:r>
              <a:rPr lang="en-US" sz="3600" dirty="0" err="1"/>
              <a:t>đồ</a:t>
            </a:r>
            <a:r>
              <a:rPr lang="en-US" sz="3600" dirty="0"/>
              <a:t> Gantt </a:t>
            </a:r>
            <a:r>
              <a:rPr lang="en-US" sz="3600" dirty="0" err="1"/>
              <a:t>theo</a:t>
            </a:r>
            <a:r>
              <a:rPr lang="en-US" sz="3600" dirty="0"/>
              <a:t> </a:t>
            </a:r>
            <a:r>
              <a:rPr lang="en-US" sz="3600" dirty="0" err="1"/>
              <a:t>quy</a:t>
            </a:r>
            <a:r>
              <a:rPr lang="en-US" sz="3600" dirty="0"/>
              <a:t> </a:t>
            </a:r>
            <a:r>
              <a:rPr lang="en-US" sz="3600" dirty="0" err="1"/>
              <a:t>trình</a:t>
            </a:r>
            <a:endParaRPr lang="en-US" sz="3600" dirty="0"/>
          </a:p>
        </p:txBody>
      </p:sp>
      <p:sp>
        <p:nvSpPr>
          <p:cNvPr id="8" name="Slide Number Placeholder 7"/>
          <p:cNvSpPr>
            <a:spLocks noGrp="1"/>
          </p:cNvSpPr>
          <p:nvPr>
            <p:ph type="sldNum" sz="quarter" idx="11"/>
          </p:nvPr>
        </p:nvSpPr>
        <p:spPr/>
        <p:txBody>
          <a:bodyPr/>
          <a:lstStyle/>
          <a:p>
            <a:pPr>
              <a:buFontTx/>
              <a:buNone/>
              <a:defRPr/>
            </a:pPr>
            <a:fld id="{2820F5C6-A4C1-4D7E-A231-19207F5EA576}" type="slidenum">
              <a:rPr lang="en-US" smtClean="0"/>
              <a:pPr>
                <a:buFontTx/>
                <a:buNone/>
                <a:defRPr/>
              </a:pPr>
              <a:t>37</a:t>
            </a:fld>
            <a:endParaRPr lang="en-US" dirty="0"/>
          </a:p>
        </p:txBody>
      </p:sp>
      <p:pic>
        <p:nvPicPr>
          <p:cNvPr id="3" name="Picture 2"/>
          <p:cNvPicPr>
            <a:picLocks noChangeAspect="1"/>
          </p:cNvPicPr>
          <p:nvPr/>
        </p:nvPicPr>
        <p:blipFill>
          <a:blip r:embed="rId3"/>
          <a:stretch>
            <a:fillRect/>
          </a:stretch>
        </p:blipFill>
        <p:spPr>
          <a:xfrm>
            <a:off x="0" y="1417320"/>
            <a:ext cx="9127746" cy="4983480"/>
          </a:xfrm>
          <a:prstGeom prst="rect">
            <a:avLst/>
          </a:prstGeom>
        </p:spPr>
      </p:pic>
      <p:sp>
        <p:nvSpPr>
          <p:cNvPr id="5"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Oval 5"/>
          <p:cNvSpPr/>
          <p:nvPr/>
        </p:nvSpPr>
        <p:spPr>
          <a:xfrm>
            <a:off x="2133600" y="1295400"/>
            <a:ext cx="838200" cy="457200"/>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Oval 6"/>
          <p:cNvSpPr/>
          <p:nvPr/>
        </p:nvSpPr>
        <p:spPr>
          <a:xfrm>
            <a:off x="6299548" y="1307926"/>
            <a:ext cx="1371600" cy="457200"/>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0"/>
            <a:ext cx="8229600" cy="1143000"/>
          </a:xfrm>
        </p:spPr>
        <p:txBody>
          <a:bodyPr>
            <a:normAutofit/>
          </a:bodyPr>
          <a:lstStyle/>
          <a:p>
            <a:pPr algn="ctr"/>
            <a:r>
              <a:rPr lang="en-US" sz="3600" dirty="0" err="1"/>
              <a:t>Ví</a:t>
            </a:r>
            <a:r>
              <a:rPr lang="en-US" sz="3600" dirty="0"/>
              <a:t> </a:t>
            </a:r>
            <a:r>
              <a:rPr lang="en-US" sz="3600" dirty="0" err="1"/>
              <a:t>dụ</a:t>
            </a:r>
            <a:r>
              <a:rPr lang="en-US" sz="3600" dirty="0"/>
              <a:t>, WBS </a:t>
            </a:r>
            <a:r>
              <a:rPr lang="en-US" sz="3600" dirty="0" err="1"/>
              <a:t>tác</a:t>
            </a:r>
            <a:r>
              <a:rPr lang="en-US" sz="3600" dirty="0"/>
              <a:t> </a:t>
            </a:r>
            <a:r>
              <a:rPr lang="en-US" sz="3600" dirty="0" err="1"/>
              <a:t>vụ</a:t>
            </a:r>
            <a:r>
              <a:rPr lang="en-US" sz="3600" dirty="0"/>
              <a:t> </a:t>
            </a:r>
            <a:r>
              <a:rPr lang="en-US" sz="3600" dirty="0" err="1"/>
              <a:t>thực</a:t>
            </a:r>
            <a:r>
              <a:rPr lang="en-US" sz="3600" dirty="0"/>
              <a:t> </a:t>
            </a:r>
            <a:r>
              <a:rPr lang="en-US" sz="3600" dirty="0" err="1"/>
              <a:t>thi</a:t>
            </a:r>
            <a:endParaRPr lang="en-US" sz="3600" dirty="0"/>
          </a:p>
        </p:txBody>
      </p:sp>
      <p:sp>
        <p:nvSpPr>
          <p:cNvPr id="8" name="Slide Number Placeholder 7"/>
          <p:cNvSpPr>
            <a:spLocks noGrp="1"/>
          </p:cNvSpPr>
          <p:nvPr>
            <p:ph type="sldNum" sz="quarter" idx="11"/>
          </p:nvPr>
        </p:nvSpPr>
        <p:spPr/>
        <p:txBody>
          <a:bodyPr/>
          <a:lstStyle/>
          <a:p>
            <a:pPr>
              <a:buFontTx/>
              <a:buNone/>
              <a:defRPr/>
            </a:pPr>
            <a:fld id="{8C1A61A9-5EC9-4C2A-85A9-B91C2F396B45}" type="slidenum">
              <a:rPr lang="en-US" smtClean="0"/>
              <a:pPr>
                <a:buFontTx/>
                <a:buNone/>
                <a:defRPr/>
              </a:pPr>
              <a:t>38</a:t>
            </a:fld>
            <a:endParaRPr lang="en-US" dirty="0"/>
          </a:p>
        </p:txBody>
      </p:sp>
      <p:pic>
        <p:nvPicPr>
          <p:cNvPr id="4" name="Picture 3"/>
          <p:cNvPicPr>
            <a:picLocks noChangeAspect="1"/>
          </p:cNvPicPr>
          <p:nvPr/>
        </p:nvPicPr>
        <p:blipFill>
          <a:blip r:embed="rId2"/>
          <a:stretch>
            <a:fillRect/>
          </a:stretch>
        </p:blipFill>
        <p:spPr>
          <a:xfrm>
            <a:off x="0" y="1116904"/>
            <a:ext cx="8001000" cy="575526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228600" y="1219200"/>
            <a:ext cx="8610600" cy="5334000"/>
          </a:xfrm>
        </p:spPr>
        <p:txBody>
          <a:bodyPr/>
          <a:lstStyle/>
          <a:p>
            <a:pPr algn="just"/>
            <a:r>
              <a:rPr lang="vi-VN" dirty="0"/>
              <a:t>Sử dụng hướng dẫn từ một số tổ chức...</a:t>
            </a:r>
          </a:p>
          <a:p>
            <a:pPr algn="just"/>
            <a:endParaRPr lang="vi-VN" sz="700" dirty="0"/>
          </a:p>
          <a:p>
            <a:pPr algn="just"/>
            <a:r>
              <a:rPr lang="vi-VN" dirty="0">
                <a:effectLst>
                  <a:outerShdw blurRad="38100" dist="38100" dir="2700000" algn="tl">
                    <a:srgbClr val="000000">
                      <a:alpha val="43137"/>
                    </a:srgbClr>
                  </a:outerShdw>
                </a:effectLst>
              </a:rPr>
              <a:t>Tương tự </a:t>
            </a:r>
            <a:r>
              <a:rPr lang="vi-VN" dirty="0"/>
              <a:t>(</a:t>
            </a:r>
            <a:r>
              <a:rPr lang="en-US" dirty="0">
                <a:solidFill>
                  <a:srgbClr val="0070C0"/>
                </a:solidFill>
              </a:rPr>
              <a:t>analogy</a:t>
            </a:r>
            <a:r>
              <a:rPr lang="vi-VN" dirty="0"/>
              <a:t>): xem lại các WBS của dự án tương tự.</a:t>
            </a:r>
          </a:p>
          <a:p>
            <a:pPr algn="just"/>
            <a:endParaRPr lang="vi-VN" sz="700" dirty="0"/>
          </a:p>
          <a:p>
            <a:pPr algn="just"/>
            <a:r>
              <a:rPr lang="vi-VN" dirty="0">
                <a:effectLst>
                  <a:outerShdw blurRad="38100" dist="38100" dir="2700000" algn="tl">
                    <a:srgbClr val="000000">
                      <a:alpha val="43137"/>
                    </a:srgbClr>
                  </a:outerShdw>
                </a:effectLst>
              </a:rPr>
              <a:t>Từ trên xuống </a:t>
            </a:r>
            <a:r>
              <a:rPr lang="vi-VN" dirty="0"/>
              <a:t>(</a:t>
            </a:r>
            <a:r>
              <a:rPr lang="en-US" dirty="0">
                <a:solidFill>
                  <a:srgbClr val="0070C0"/>
                </a:solidFill>
              </a:rPr>
              <a:t>top-down</a:t>
            </a:r>
            <a:r>
              <a:rPr lang="vi-VN" dirty="0"/>
              <a:t>): bắt đầu với các hạn mục lớn nhất và phân rã xuống.</a:t>
            </a:r>
          </a:p>
          <a:p>
            <a:pPr algn="just"/>
            <a:endParaRPr lang="vi-VN" sz="700" dirty="0"/>
          </a:p>
          <a:p>
            <a:pPr algn="just"/>
            <a:r>
              <a:rPr lang="vi-VN" dirty="0">
                <a:effectLst>
                  <a:outerShdw blurRad="38100" dist="38100" dir="2700000" algn="tl">
                    <a:srgbClr val="000000">
                      <a:alpha val="43137"/>
                    </a:srgbClr>
                  </a:outerShdw>
                </a:effectLst>
              </a:rPr>
              <a:t>Từ dưới lên </a:t>
            </a:r>
            <a:r>
              <a:rPr lang="vi-VN" dirty="0"/>
              <a:t>(</a:t>
            </a:r>
            <a:r>
              <a:rPr lang="en-US" dirty="0">
                <a:solidFill>
                  <a:srgbClr val="0070C0"/>
                </a:solidFill>
              </a:rPr>
              <a:t>bottom-up</a:t>
            </a:r>
            <a:r>
              <a:rPr lang="vi-VN" dirty="0"/>
              <a:t>): bắt đầu với các tác vụ cụ thể và cuộn lên.</a:t>
            </a:r>
          </a:p>
          <a:p>
            <a:pPr algn="just"/>
            <a:endParaRPr lang="vi-VN" sz="700" dirty="0"/>
          </a:p>
          <a:p>
            <a:pPr algn="just"/>
            <a:r>
              <a:rPr lang="vi-VN" dirty="0">
                <a:effectLst>
                  <a:outerShdw blurRad="38100" dist="38100" dir="2700000" algn="tl">
                    <a:srgbClr val="000000">
                      <a:alpha val="43137"/>
                    </a:srgbClr>
                  </a:outerShdw>
                </a:effectLst>
              </a:rPr>
              <a:t>Bản đồ tư duy </a:t>
            </a:r>
            <a:r>
              <a:rPr lang="vi-VN" dirty="0"/>
              <a:t>(</a:t>
            </a:r>
            <a:r>
              <a:rPr lang="en-US" dirty="0">
                <a:solidFill>
                  <a:srgbClr val="0070C0"/>
                </a:solidFill>
              </a:rPr>
              <a:t>mind map</a:t>
            </a:r>
            <a:r>
              <a:rPr lang="vi-VN" dirty="0"/>
              <a:t>): các nhánh tỏa ra từ ý tưởng chính để cấu trúc những suy nghĩ và ý tưởng.</a:t>
            </a:r>
            <a:endParaRPr lang="en-US" dirty="0"/>
          </a:p>
        </p:txBody>
      </p:sp>
      <p:sp>
        <p:nvSpPr>
          <p:cNvPr id="28674" name="Rectangle 2"/>
          <p:cNvSpPr>
            <a:spLocks noGrp="1" noChangeArrowheads="1"/>
          </p:cNvSpPr>
          <p:nvPr>
            <p:ph type="title"/>
          </p:nvPr>
        </p:nvSpPr>
        <p:spPr>
          <a:xfrm>
            <a:off x="381000" y="304800"/>
            <a:ext cx="8001000" cy="533400"/>
          </a:xfrm>
        </p:spPr>
        <p:txBody>
          <a:bodyPr>
            <a:noAutofit/>
          </a:bodyPr>
          <a:lstStyle/>
          <a:p>
            <a:pPr algn="ctr"/>
            <a:r>
              <a:rPr lang="en-US" sz="4000" dirty="0" err="1"/>
              <a:t>Các</a:t>
            </a:r>
            <a:r>
              <a:rPr lang="en-US" sz="4000" dirty="0"/>
              <a:t> </a:t>
            </a:r>
            <a:r>
              <a:rPr lang="en-US" sz="4000" dirty="0" err="1"/>
              <a:t>tiếp</a:t>
            </a:r>
            <a:r>
              <a:rPr lang="en-US" sz="4000" dirty="0"/>
              <a:t> </a:t>
            </a:r>
            <a:r>
              <a:rPr lang="en-US" sz="4000" dirty="0" err="1"/>
              <a:t>cận</a:t>
            </a:r>
            <a:r>
              <a:rPr lang="en-US" sz="4000" dirty="0"/>
              <a:t> </a:t>
            </a:r>
            <a:r>
              <a:rPr lang="en-US" sz="4000" dirty="0" err="1"/>
              <a:t>để</a:t>
            </a:r>
            <a:r>
              <a:rPr lang="en-US" sz="4000" dirty="0"/>
              <a:t> </a:t>
            </a:r>
            <a:r>
              <a:rPr lang="en-US" sz="4000" dirty="0" err="1"/>
              <a:t>tạo</a:t>
            </a:r>
            <a:r>
              <a:rPr lang="en-US" sz="4000" dirty="0"/>
              <a:t> WBS</a:t>
            </a:r>
          </a:p>
        </p:txBody>
      </p:sp>
      <p:sp>
        <p:nvSpPr>
          <p:cNvPr id="28676"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09856F29-EB62-4BC1-BFDE-CF95752C2E71}"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28600" y="381000"/>
            <a:ext cx="8610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dùng</a:t>
            </a:r>
            <a:r>
              <a:rPr lang="en-US" sz="3600" dirty="0"/>
              <a:t> </a:t>
            </a:r>
            <a:r>
              <a:rPr lang="en-US" sz="3600" dirty="0" err="1"/>
              <a:t>bản</a:t>
            </a:r>
            <a:r>
              <a:rPr lang="en-US" sz="3600" dirty="0"/>
              <a:t> </a:t>
            </a:r>
            <a:r>
              <a:rPr lang="en-US" sz="3600" dirty="0" err="1"/>
              <a:t>đồ</a:t>
            </a:r>
            <a:r>
              <a:rPr lang="en-US" sz="3600" dirty="0"/>
              <a:t> </a:t>
            </a:r>
            <a:r>
              <a:rPr lang="en-US" sz="3600" dirty="0" err="1"/>
              <a:t>tư</a:t>
            </a:r>
            <a:r>
              <a:rPr lang="en-US" sz="3600" dirty="0"/>
              <a:t> </a:t>
            </a:r>
            <a:r>
              <a:rPr lang="en-US" sz="3600" dirty="0" err="1"/>
              <a:t>duy</a:t>
            </a:r>
            <a:r>
              <a:rPr lang="en-US" sz="3600" dirty="0"/>
              <a:t> </a:t>
            </a:r>
            <a:r>
              <a:rPr lang="en-US" sz="3600" dirty="0" err="1"/>
              <a:t>tạo</a:t>
            </a:r>
            <a:r>
              <a:rPr lang="en-US" sz="3600" dirty="0"/>
              <a:t> WBS</a:t>
            </a:r>
          </a:p>
        </p:txBody>
      </p:sp>
      <p:sp>
        <p:nvSpPr>
          <p:cNvPr id="8" name="Slide Number Placeholder 7"/>
          <p:cNvSpPr>
            <a:spLocks noGrp="1"/>
          </p:cNvSpPr>
          <p:nvPr>
            <p:ph type="sldNum" sz="quarter" idx="11"/>
          </p:nvPr>
        </p:nvSpPr>
        <p:spPr/>
        <p:txBody>
          <a:bodyPr/>
          <a:lstStyle/>
          <a:p>
            <a:pPr>
              <a:buFontTx/>
              <a:buNone/>
              <a:defRPr/>
            </a:pPr>
            <a:fld id="{46E36C33-50F9-4823-96DE-C86D336AEB83}" type="slidenum">
              <a:rPr lang="en-US" smtClean="0"/>
              <a:pPr>
                <a:buFontTx/>
                <a:buNone/>
                <a:defRPr/>
              </a:pPr>
              <a:t>40</a:t>
            </a:fld>
            <a:endParaRPr lang="en-US" dirty="0"/>
          </a:p>
        </p:txBody>
      </p:sp>
      <p:pic>
        <p:nvPicPr>
          <p:cNvPr id="2" name="Picture 1"/>
          <p:cNvPicPr>
            <a:picLocks noChangeAspect="1"/>
          </p:cNvPicPr>
          <p:nvPr/>
        </p:nvPicPr>
        <p:blipFill>
          <a:blip r:embed="rId2"/>
          <a:stretch>
            <a:fillRect/>
          </a:stretch>
        </p:blipFill>
        <p:spPr>
          <a:xfrm>
            <a:off x="152401" y="2438400"/>
            <a:ext cx="8915400" cy="2133600"/>
          </a:xfrm>
          <a:prstGeom prst="rect">
            <a:avLst/>
          </a:prstGeom>
        </p:spPr>
      </p:pic>
      <p:sp>
        <p:nvSpPr>
          <p:cNvPr id="5"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41</a:t>
            </a:fld>
            <a:endParaRPr lang="en-US" dirty="0"/>
          </a:p>
        </p:txBody>
      </p:sp>
      <p:pic>
        <p:nvPicPr>
          <p:cNvPr id="9" name="Picture 8"/>
          <p:cNvPicPr>
            <a:picLocks noChangeAspect="1"/>
          </p:cNvPicPr>
          <p:nvPr/>
        </p:nvPicPr>
        <p:blipFill>
          <a:blip r:embed="rId2"/>
          <a:stretch>
            <a:fillRect/>
          </a:stretch>
        </p:blipFill>
        <p:spPr>
          <a:xfrm>
            <a:off x="457200" y="1197511"/>
            <a:ext cx="3930588" cy="5257800"/>
          </a:xfrm>
          <a:prstGeom prst="rect">
            <a:avLst/>
          </a:prstGeom>
        </p:spPr>
      </p:pic>
      <p:pic>
        <p:nvPicPr>
          <p:cNvPr id="10" name="Picture 9"/>
          <p:cNvPicPr>
            <a:picLocks noChangeAspect="1"/>
          </p:cNvPicPr>
          <p:nvPr/>
        </p:nvPicPr>
        <p:blipFill>
          <a:blip r:embed="rId3"/>
          <a:stretch>
            <a:fillRect/>
          </a:stretch>
        </p:blipFill>
        <p:spPr>
          <a:xfrm>
            <a:off x="4648200" y="1246455"/>
            <a:ext cx="4114800" cy="5306745"/>
          </a:xfrm>
          <a:prstGeom prst="rect">
            <a:avLst/>
          </a:prstGeom>
        </p:spPr>
      </p:pic>
      <p:sp>
        <p:nvSpPr>
          <p:cNvPr id="8" name="Rectangle 2"/>
          <p:cNvSpPr>
            <a:spLocks noGrp="1" noChangeArrowheads="1"/>
          </p:cNvSpPr>
          <p:nvPr>
            <p:ph type="title"/>
          </p:nvPr>
        </p:nvSpPr>
        <p:spPr>
          <a:xfrm>
            <a:off x="304800" y="76200"/>
            <a:ext cx="87630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dùng</a:t>
            </a:r>
            <a:r>
              <a:rPr lang="en-US" sz="3600" dirty="0"/>
              <a:t> </a:t>
            </a:r>
            <a:r>
              <a:rPr lang="en-US" sz="3600" dirty="0" err="1"/>
              <a:t>bản</a:t>
            </a:r>
            <a:r>
              <a:rPr lang="en-US" sz="3600" dirty="0"/>
              <a:t> </a:t>
            </a:r>
            <a:r>
              <a:rPr lang="en-US" sz="3600" dirty="0" err="1"/>
              <a:t>đồ</a:t>
            </a:r>
            <a:r>
              <a:rPr lang="en-US" sz="3600" dirty="0"/>
              <a:t> </a:t>
            </a:r>
            <a:r>
              <a:rPr lang="en-US" sz="3600" dirty="0" err="1"/>
              <a:t>tư</a:t>
            </a:r>
            <a:r>
              <a:rPr lang="en-US" sz="3600" dirty="0"/>
              <a:t> </a:t>
            </a:r>
            <a:r>
              <a:rPr lang="en-US" sz="3600" dirty="0" err="1"/>
              <a:t>duy</a:t>
            </a:r>
            <a:r>
              <a:rPr lang="en-US" sz="3600" dirty="0"/>
              <a:t> </a:t>
            </a:r>
            <a:r>
              <a:rPr lang="en-US" sz="3600" dirty="0" err="1"/>
              <a:t>tạo</a:t>
            </a:r>
            <a:r>
              <a:rPr lang="en-US" sz="3600" dirty="0"/>
              <a:t> WBS (</a:t>
            </a:r>
            <a:r>
              <a:rPr lang="en-US" sz="3600" dirty="0" err="1"/>
              <a:t>tt</a:t>
            </a:r>
            <a:r>
              <a:rPr lang="en-US" sz="3600" dirty="0"/>
              <a:t>)</a:t>
            </a:r>
          </a:p>
        </p:txBody>
      </p:sp>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cxnSp>
        <p:nvCxnSpPr>
          <p:cNvPr id="7" name="Straight Connector 6"/>
          <p:cNvCxnSpPr/>
          <p:nvPr/>
        </p:nvCxnSpPr>
        <p:spPr>
          <a:xfrm>
            <a:off x="457200" y="1447800"/>
            <a:ext cx="2514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648200" y="1473896"/>
            <a:ext cx="2514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457200" y="1447800"/>
            <a:ext cx="8229600" cy="3090862"/>
          </a:xfrm>
        </p:spPr>
        <p:txBody>
          <a:bodyPr/>
          <a:lstStyle/>
          <a:p>
            <a:pPr algn="just"/>
            <a:r>
              <a:rPr lang="vi-VN" b="1" dirty="0"/>
              <a:t>Từ điển WBS</a:t>
            </a:r>
            <a:r>
              <a:rPr lang="vi-VN" dirty="0"/>
              <a:t> (</a:t>
            </a:r>
            <a:r>
              <a:rPr lang="en-US" dirty="0">
                <a:solidFill>
                  <a:srgbClr val="0070C0"/>
                </a:solidFill>
              </a:rPr>
              <a:t>WBS dictionary</a:t>
            </a:r>
            <a:r>
              <a:rPr lang="vi-VN" dirty="0"/>
              <a:t>): tài liệu mô tả thông tin chi tiết của từng mục WBS.</a:t>
            </a:r>
          </a:p>
          <a:p>
            <a:pPr algn="just"/>
            <a:endParaRPr lang="vi-VN" sz="1200" dirty="0"/>
          </a:p>
          <a:p>
            <a:pPr algn="just"/>
            <a:r>
              <a:rPr lang="vi-VN" dirty="0"/>
              <a:t>Nhiều tác vụ WBS hơi mơ hồ và phải được giải thích rõ để biết phải làm gì, và có thể ước lượng thời gian và chi phí để thực hiện công việc.</a:t>
            </a:r>
          </a:p>
          <a:p>
            <a:pPr algn="just"/>
            <a:endParaRPr lang="en-US" dirty="0"/>
          </a:p>
          <a:p>
            <a:pPr algn="just"/>
            <a:endParaRPr lang="en-US" dirty="0"/>
          </a:p>
        </p:txBody>
      </p:sp>
      <p:sp>
        <p:nvSpPr>
          <p:cNvPr id="31746" name="Rectangle 2"/>
          <p:cNvSpPr>
            <a:spLocks noGrp="1" noChangeArrowheads="1"/>
          </p:cNvSpPr>
          <p:nvPr>
            <p:ph type="title"/>
          </p:nvPr>
        </p:nvSpPr>
        <p:spPr>
          <a:xfrm>
            <a:off x="609600" y="228600"/>
            <a:ext cx="7086600" cy="1143000"/>
          </a:xfrm>
        </p:spPr>
        <p:txBody>
          <a:bodyPr>
            <a:noAutofit/>
          </a:bodyPr>
          <a:lstStyle/>
          <a:p>
            <a:pPr algn="ctr"/>
            <a:r>
              <a:rPr lang="en-US" sz="4000" dirty="0" err="1">
                <a:solidFill>
                  <a:srgbClr val="0070C0"/>
                </a:solidFill>
              </a:rPr>
              <a:t>Từ</a:t>
            </a:r>
            <a:r>
              <a:rPr lang="en-US" sz="4000" dirty="0">
                <a:solidFill>
                  <a:srgbClr val="0070C0"/>
                </a:solidFill>
              </a:rPr>
              <a:t> </a:t>
            </a:r>
            <a:r>
              <a:rPr lang="en-US" sz="4000" dirty="0" err="1">
                <a:solidFill>
                  <a:srgbClr val="0070C0"/>
                </a:solidFill>
              </a:rPr>
              <a:t>điển</a:t>
            </a:r>
            <a:r>
              <a:rPr lang="en-US" sz="4000" dirty="0">
                <a:solidFill>
                  <a:srgbClr val="0070C0"/>
                </a:solidFill>
              </a:rPr>
              <a:t> WBS</a:t>
            </a:r>
          </a:p>
        </p:txBody>
      </p:sp>
      <p:sp>
        <p:nvSpPr>
          <p:cNvPr id="8" name="Slide Number Placeholder 7"/>
          <p:cNvSpPr>
            <a:spLocks noGrp="1"/>
          </p:cNvSpPr>
          <p:nvPr>
            <p:ph type="sldNum" sz="quarter" idx="11"/>
          </p:nvPr>
        </p:nvSpPr>
        <p:spPr/>
        <p:txBody>
          <a:bodyPr/>
          <a:lstStyle/>
          <a:p>
            <a:pPr>
              <a:defRPr/>
            </a:pPr>
            <a:fld id="{EE501A8D-5261-4758-A526-F64B18DE3C4A}" type="slidenum">
              <a:rPr lang="en-US" smtClean="0"/>
              <a:pPr>
                <a:defRPr/>
              </a:pPr>
              <a:t>42</a:t>
            </a:fld>
            <a:endParaRPr lang="en-US" dirty="0"/>
          </a:p>
        </p:txBody>
      </p:sp>
      <p:pic>
        <p:nvPicPr>
          <p:cNvPr id="2" name="Picture 1"/>
          <p:cNvPicPr>
            <a:picLocks noChangeAspect="1"/>
          </p:cNvPicPr>
          <p:nvPr/>
        </p:nvPicPr>
        <p:blipFill>
          <a:blip r:embed="rId2"/>
          <a:stretch>
            <a:fillRect/>
          </a:stretch>
        </p:blipFill>
        <p:spPr>
          <a:xfrm>
            <a:off x="6400800" y="4267200"/>
            <a:ext cx="1547106" cy="1981200"/>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236" y="1295400"/>
            <a:ext cx="9133764" cy="5562600"/>
          </a:xfrm>
          <a:prstGeom prst="rect">
            <a:avLst/>
          </a:prstGeom>
        </p:spPr>
      </p:pic>
      <p:sp>
        <p:nvSpPr>
          <p:cNvPr id="3" name="Title 2"/>
          <p:cNvSpPr>
            <a:spLocks noGrp="1"/>
          </p:cNvSpPr>
          <p:nvPr>
            <p:ph type="title"/>
          </p:nvPr>
        </p:nvSpPr>
        <p:spPr>
          <a:xfrm>
            <a:off x="381000" y="7620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từ</a:t>
            </a:r>
            <a:r>
              <a:rPr lang="en-US" sz="3600" dirty="0"/>
              <a:t> </a:t>
            </a:r>
            <a:r>
              <a:rPr lang="en-US" sz="3600" dirty="0" err="1"/>
              <a:t>điển</a:t>
            </a:r>
            <a:r>
              <a:rPr lang="en-US" sz="3600" dirty="0"/>
              <a:t> WBS</a:t>
            </a:r>
          </a:p>
        </p:txBody>
      </p:sp>
      <p:cxnSp>
        <p:nvCxnSpPr>
          <p:cNvPr id="7" name="Straight Connector 6"/>
          <p:cNvCxnSpPr/>
          <p:nvPr/>
        </p:nvCxnSpPr>
        <p:spPr>
          <a:xfrm flipV="1">
            <a:off x="103909" y="2072089"/>
            <a:ext cx="1039091" cy="924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0865" y="2475900"/>
            <a:ext cx="111833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00914" y="2868304"/>
            <a:ext cx="101666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50378" y="3249304"/>
            <a:ext cx="84022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671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9"/>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50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381000" y="1447800"/>
            <a:ext cx="8382000" cy="4486275"/>
          </a:xfrm>
        </p:spPr>
        <p:txBody>
          <a:bodyPr/>
          <a:lstStyle/>
          <a:p>
            <a:pPr algn="just"/>
            <a:r>
              <a:rPr lang="vi-VN" dirty="0"/>
              <a:t>Mỗi WBS có 1 đơn vị công việc là duy nhất.</a:t>
            </a:r>
          </a:p>
          <a:p>
            <a:pPr algn="just"/>
            <a:endParaRPr lang="vi-VN" sz="1050" dirty="0"/>
          </a:p>
          <a:p>
            <a:pPr algn="just"/>
            <a:r>
              <a:rPr lang="vi-VN" dirty="0"/>
              <a:t>Mỗi WBS là tổng các công việc của WBS dưới nó.</a:t>
            </a:r>
          </a:p>
          <a:p>
            <a:pPr algn="just"/>
            <a:endParaRPr lang="vi-VN" sz="1050" dirty="0"/>
          </a:p>
          <a:p>
            <a:pPr algn="just"/>
            <a:r>
              <a:rPr lang="vi-VN" dirty="0"/>
              <a:t>Mỗi WBS là trách nhiệm của 1 cá nhân, dù có liên quan đến nhiều người.</a:t>
            </a:r>
          </a:p>
          <a:p>
            <a:pPr algn="just"/>
            <a:endParaRPr lang="vi-VN" sz="1050" dirty="0"/>
          </a:p>
          <a:p>
            <a:pPr algn="just"/>
            <a:r>
              <a:rPr lang="vi-VN" dirty="0"/>
              <a:t>WBS phải phù hợp với công việc thực tế sẽ được thực hiện.</a:t>
            </a:r>
          </a:p>
          <a:p>
            <a:pPr marL="109537" indent="0" algn="just">
              <a:buNone/>
            </a:pPr>
            <a:endParaRPr lang="vi-VN" sz="1050" dirty="0"/>
          </a:p>
          <a:p>
            <a:pPr algn="just"/>
            <a:r>
              <a:rPr lang="vi-VN" dirty="0"/>
              <a:t>WBS chủ yếu phục vụ cho đội dự án, và các mục đích khác nếu có...</a:t>
            </a:r>
            <a:endParaRPr lang="en-US" dirty="0"/>
          </a:p>
        </p:txBody>
      </p:sp>
      <p:sp>
        <p:nvSpPr>
          <p:cNvPr id="32770" name="Rectangle 2"/>
          <p:cNvSpPr>
            <a:spLocks noGrp="1" noChangeArrowheads="1"/>
          </p:cNvSpPr>
          <p:nvPr>
            <p:ph type="title"/>
          </p:nvPr>
        </p:nvSpPr>
        <p:spPr>
          <a:xfrm>
            <a:off x="457200" y="563562"/>
            <a:ext cx="8382000" cy="579438"/>
          </a:xfrm>
        </p:spPr>
        <p:txBody>
          <a:bodyPr>
            <a:noAutofit/>
          </a:bodyPr>
          <a:lstStyle/>
          <a:p>
            <a:pPr algn="ctr"/>
            <a:r>
              <a:rPr lang="en-US" sz="4000" dirty="0" err="1"/>
              <a:t>Ghi</a:t>
            </a:r>
            <a:r>
              <a:rPr lang="en-US" sz="4000" dirty="0"/>
              <a:t> </a:t>
            </a:r>
            <a:r>
              <a:rPr lang="en-US" sz="4000" dirty="0" err="1"/>
              <a:t>chú</a:t>
            </a:r>
            <a:r>
              <a:rPr lang="en-US" sz="4000" dirty="0"/>
              <a:t> </a:t>
            </a:r>
            <a:r>
              <a:rPr lang="en-US" sz="4000" dirty="0" err="1"/>
              <a:t>về</a:t>
            </a:r>
            <a:r>
              <a:rPr lang="en-US" sz="4000" dirty="0"/>
              <a:t> WBS và </a:t>
            </a:r>
            <a:r>
              <a:rPr lang="en-US" sz="4000" dirty="0" err="1"/>
              <a:t>từ</a:t>
            </a:r>
            <a:r>
              <a:rPr lang="en-US" sz="4000" dirty="0"/>
              <a:t> </a:t>
            </a:r>
            <a:r>
              <a:rPr lang="en-US" sz="4000" dirty="0" err="1"/>
              <a:t>điển</a:t>
            </a:r>
            <a:r>
              <a:rPr lang="en-US" sz="4000" dirty="0"/>
              <a:t> WBS</a:t>
            </a:r>
          </a:p>
        </p:txBody>
      </p:sp>
      <p:sp>
        <p:nvSpPr>
          <p:cNvPr id="32773" name="Footer Placeholder 7"/>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9" name="Slide Number Placeholder 8"/>
          <p:cNvSpPr>
            <a:spLocks noGrp="1"/>
          </p:cNvSpPr>
          <p:nvPr>
            <p:ph type="sldNum" sz="quarter" idx="11"/>
          </p:nvPr>
        </p:nvSpPr>
        <p:spPr/>
        <p:txBody>
          <a:bodyPr/>
          <a:lstStyle/>
          <a:p>
            <a:pPr>
              <a:defRPr/>
            </a:pPr>
            <a:fld id="{B6F72AF9-5374-4551-89AC-FBC63BB2CA11}" type="slidenum">
              <a:rPr lang="en-US" smtClean="0"/>
              <a:pPr>
                <a:defRPr/>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457200" y="1798638"/>
            <a:ext cx="8229600" cy="4525962"/>
          </a:xfrm>
        </p:spPr>
        <p:txBody>
          <a:bodyPr/>
          <a:lstStyle/>
          <a:p>
            <a:pPr algn="just"/>
            <a:r>
              <a:rPr lang="vi-VN" dirty="0"/>
              <a:t>Thành viên đội dự án phải được tham gia tạo WBS để đảm bảo tính nhất quán trong công việc.</a:t>
            </a:r>
          </a:p>
          <a:p>
            <a:pPr algn="just"/>
            <a:endParaRPr lang="vi-VN" sz="1200" dirty="0"/>
          </a:p>
          <a:p>
            <a:pPr algn="just"/>
            <a:r>
              <a:rPr lang="vi-VN" dirty="0"/>
              <a:t>Mỗi WBS phải được ghi trong từ điển WBS để đảm bảo sự chính xác về phạm vi công việc.</a:t>
            </a:r>
          </a:p>
          <a:p>
            <a:pPr algn="just"/>
            <a:endParaRPr lang="vi-VN" sz="1200" dirty="0"/>
          </a:p>
          <a:p>
            <a:pPr algn="just"/>
            <a:r>
              <a:rPr lang="vi-VN" dirty="0"/>
              <a:t>WBS phải linh hoạt để thích ứng với sự thay đổi trong kiểm soát công việc theo tuyên bố phạm vi.</a:t>
            </a:r>
            <a:endParaRPr lang="en-US" sz="2400" dirty="0"/>
          </a:p>
        </p:txBody>
      </p:sp>
      <p:sp>
        <p:nvSpPr>
          <p:cNvPr id="33796"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F03AC4FF-16DA-4EC5-897F-1B0559347D89}" type="slidenum">
              <a:rPr lang="en-US" smtClean="0"/>
              <a:pPr>
                <a:defRPr/>
              </a:pPr>
              <a:t>45</a:t>
            </a:fld>
            <a:endParaRPr lang="en-US" dirty="0"/>
          </a:p>
        </p:txBody>
      </p:sp>
      <p:sp>
        <p:nvSpPr>
          <p:cNvPr id="7" name="Rectangle 2"/>
          <p:cNvSpPr>
            <a:spLocks noGrp="1" noChangeArrowheads="1"/>
          </p:cNvSpPr>
          <p:nvPr>
            <p:ph type="title"/>
          </p:nvPr>
        </p:nvSpPr>
        <p:spPr>
          <a:xfrm>
            <a:off x="152400" y="639762"/>
            <a:ext cx="8991600" cy="579438"/>
          </a:xfrm>
        </p:spPr>
        <p:txBody>
          <a:bodyPr>
            <a:noAutofit/>
          </a:bodyPr>
          <a:lstStyle/>
          <a:p>
            <a:pPr algn="ctr"/>
            <a:r>
              <a:rPr lang="en-US" sz="4000" dirty="0" err="1"/>
              <a:t>Ghi</a:t>
            </a:r>
            <a:r>
              <a:rPr lang="en-US" sz="4000" dirty="0"/>
              <a:t> </a:t>
            </a:r>
            <a:r>
              <a:rPr lang="en-US" sz="4000" dirty="0" err="1"/>
              <a:t>chú</a:t>
            </a:r>
            <a:r>
              <a:rPr lang="en-US" sz="4000" dirty="0"/>
              <a:t> </a:t>
            </a:r>
            <a:r>
              <a:rPr lang="en-US" sz="4000" dirty="0" err="1"/>
              <a:t>về</a:t>
            </a:r>
            <a:r>
              <a:rPr lang="en-US" sz="4000" dirty="0"/>
              <a:t> WBS và </a:t>
            </a:r>
            <a:r>
              <a:rPr lang="en-US" sz="4000" dirty="0" err="1"/>
              <a:t>từ</a:t>
            </a:r>
            <a:r>
              <a:rPr lang="en-US" sz="4000" dirty="0"/>
              <a:t> </a:t>
            </a:r>
            <a:r>
              <a:rPr lang="en-US" sz="4000" dirty="0" err="1"/>
              <a:t>điển</a:t>
            </a:r>
            <a:r>
              <a:rPr lang="en-US" sz="4000" dirty="0"/>
              <a:t> WBS (</a:t>
            </a:r>
            <a:r>
              <a:rPr lang="en-US" sz="4000" dirty="0" err="1"/>
              <a:t>tt</a:t>
            </a:r>
            <a:r>
              <a:rPr lang="en-US" sz="4000"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52400" y="639762"/>
            <a:ext cx="8991600" cy="579438"/>
          </a:xfrm>
        </p:spPr>
        <p:txBody>
          <a:bodyPr>
            <a:noAutofit/>
          </a:bodyPr>
          <a:lstStyle/>
          <a:p>
            <a:pPr algn="ctr"/>
            <a:r>
              <a:rPr lang="en-US" sz="3600" dirty="0" err="1"/>
              <a:t>Ví</a:t>
            </a:r>
            <a:r>
              <a:rPr lang="en-US" sz="3600" dirty="0"/>
              <a:t> </a:t>
            </a:r>
            <a:r>
              <a:rPr lang="en-US" sz="3600" dirty="0" err="1"/>
              <a:t>dụ</a:t>
            </a:r>
            <a:r>
              <a:rPr lang="en-US" sz="3600" dirty="0"/>
              <a:t>, </a:t>
            </a:r>
            <a:r>
              <a:rPr lang="en-US" sz="3600" dirty="0" err="1"/>
              <a:t>dự</a:t>
            </a:r>
            <a:r>
              <a:rPr lang="en-US" sz="3600" dirty="0"/>
              <a:t> </a:t>
            </a:r>
            <a:r>
              <a:rPr lang="en-US" sz="3600" dirty="0" err="1"/>
              <a:t>án</a:t>
            </a:r>
            <a:r>
              <a:rPr lang="en-US" sz="3600" dirty="0"/>
              <a:t> </a:t>
            </a:r>
            <a:r>
              <a:rPr lang="en-US" sz="3600" dirty="0" err="1"/>
              <a:t>đóng</a:t>
            </a:r>
            <a:r>
              <a:rPr lang="en-US" sz="3600" dirty="0"/>
              <a:t> </a:t>
            </a:r>
            <a:r>
              <a:rPr lang="en-US" sz="3600" dirty="0" err="1"/>
              <a:t>một</a:t>
            </a:r>
            <a:r>
              <a:rPr lang="en-US" sz="3600" dirty="0"/>
              <a:t> </a:t>
            </a:r>
            <a:r>
              <a:rPr lang="en-US" sz="3600" dirty="0" err="1"/>
              <a:t>chiếc</a:t>
            </a:r>
            <a:r>
              <a:rPr lang="en-US" sz="3600" dirty="0"/>
              <a:t> </a:t>
            </a:r>
            <a:r>
              <a:rPr lang="en-US" sz="3600" dirty="0" err="1"/>
              <a:t>bè</a:t>
            </a:r>
            <a:endParaRPr lang="en-US" sz="3600" dirty="0"/>
          </a:p>
        </p:txBody>
      </p:sp>
      <p:sp>
        <p:nvSpPr>
          <p:cNvPr id="5" name="Slide Number Placeholder 4"/>
          <p:cNvSpPr>
            <a:spLocks noGrp="1"/>
          </p:cNvSpPr>
          <p:nvPr>
            <p:ph type="sldNum" sz="quarter" idx="11"/>
          </p:nvPr>
        </p:nvSpPr>
        <p:spPr/>
        <p:txBody>
          <a:bodyPr/>
          <a:lstStyle/>
          <a:p>
            <a:pPr>
              <a:defRPr/>
            </a:pPr>
            <a:fld id="{3E13A010-08C9-439B-9056-DD5B8E3BD166}" type="slidenum">
              <a:rPr lang="en-US" smtClean="0"/>
              <a:pPr>
                <a:defRPr/>
              </a:pPr>
              <a:t>46</a:t>
            </a:fld>
            <a:endParaRPr lang="en-US" dirty="0"/>
          </a:p>
        </p:txBody>
      </p:sp>
      <p:pic>
        <p:nvPicPr>
          <p:cNvPr id="6" name="Picture 5"/>
          <p:cNvPicPr>
            <a:picLocks noChangeAspect="1"/>
          </p:cNvPicPr>
          <p:nvPr/>
        </p:nvPicPr>
        <p:blipFill>
          <a:blip r:embed="rId3"/>
          <a:stretch>
            <a:fillRect/>
          </a:stretch>
        </p:blipFill>
        <p:spPr>
          <a:xfrm>
            <a:off x="-2088" y="1"/>
            <a:ext cx="4584526" cy="7010399"/>
          </a:xfrm>
          <a:prstGeom prst="rect">
            <a:avLst/>
          </a:prstGeom>
        </p:spPr>
      </p:pic>
      <p:pic>
        <p:nvPicPr>
          <p:cNvPr id="7" name="Picture 6"/>
          <p:cNvPicPr>
            <a:picLocks noChangeAspect="1"/>
          </p:cNvPicPr>
          <p:nvPr/>
        </p:nvPicPr>
        <p:blipFill>
          <a:blip r:embed="rId4"/>
          <a:stretch>
            <a:fillRect/>
          </a:stretch>
        </p:blipFill>
        <p:spPr>
          <a:xfrm>
            <a:off x="4603568" y="0"/>
            <a:ext cx="4563178" cy="6934200"/>
          </a:xfrm>
          <a:prstGeom prst="rect">
            <a:avLst/>
          </a:prstGeom>
        </p:spPr>
      </p:pic>
      <p:sp>
        <p:nvSpPr>
          <p:cNvPr id="12" name="Rounded Rectangle 11"/>
          <p:cNvSpPr/>
          <p:nvPr/>
        </p:nvSpPr>
        <p:spPr>
          <a:xfrm>
            <a:off x="76200" y="137160"/>
            <a:ext cx="4267199" cy="32004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Rounded Rectangle 12"/>
          <p:cNvSpPr/>
          <p:nvPr/>
        </p:nvSpPr>
        <p:spPr>
          <a:xfrm>
            <a:off x="4724400" y="137160"/>
            <a:ext cx="990600" cy="33528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8"/>
                                        </p:tgtEl>
                                        <p:attrNameLst>
                                          <p:attrName>ppt_w</p:attrName>
                                        </p:attrNameLst>
                                      </p:cBhvr>
                                      <p:tavLst>
                                        <p:tav tm="0">
                                          <p:val>
                                            <p:strVal val="ppt_w"/>
                                          </p:val>
                                        </p:tav>
                                        <p:tav tm="100000">
                                          <p:val>
                                            <p:fltVal val="0"/>
                                          </p:val>
                                        </p:tav>
                                      </p:tavLst>
                                    </p:anim>
                                    <p:anim calcmode="lin" valueType="num">
                                      <p:cBhvr>
                                        <p:cTn id="7" dur="500"/>
                                        <p:tgtEl>
                                          <p:spTgt spid="8"/>
                                        </p:tgtEl>
                                        <p:attrNameLst>
                                          <p:attrName>ppt_h</p:attrName>
                                        </p:attrNameLst>
                                      </p:cBhvr>
                                      <p:tavLst>
                                        <p:tav tm="0">
                                          <p:val>
                                            <p:strVal val="ppt_h"/>
                                          </p:val>
                                        </p:tav>
                                        <p:tav tm="100000">
                                          <p:val>
                                            <p:fltVal val="0"/>
                                          </p:val>
                                        </p:tav>
                                      </p:tavLst>
                                    </p:anim>
                                    <p:animEffect transition="out" filter="fade">
                                      <p:cBhvr>
                                        <p:cTn id="8" dur="500"/>
                                        <p:tgtEl>
                                          <p:spTgt spid="8"/>
                                        </p:tgtEl>
                                      </p:cBhvr>
                                    </p:animEffect>
                                    <p:set>
                                      <p:cBhvr>
                                        <p:cTn id="9" dur="1" fill="hold">
                                          <p:stCondLst>
                                            <p:cond delay="499"/>
                                          </p:stCondLst>
                                        </p:cTn>
                                        <p:tgtEl>
                                          <p:spTgt spid="8"/>
                                        </p:tgtEl>
                                        <p:attrNameLst>
                                          <p:attrName>style.visibility</p:attrName>
                                        </p:attrNameLst>
                                      </p:cBhvr>
                                      <p:to>
                                        <p:strVal val="hidden"/>
                                      </p:to>
                                    </p:set>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arn(inVertic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par>
                          <p:cTn id="21" fill="hold">
                            <p:stCondLst>
                              <p:cond delay="0"/>
                            </p:stCondLst>
                            <p:childTnLst>
                              <p:par>
                                <p:cTn id="22" presetID="16" presetClass="entr" presetSubtype="21"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arn(inVertical)">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3E13A010-08C9-439B-9056-DD5B8E3BD166}" type="slidenum">
              <a:rPr lang="en-US" smtClean="0"/>
              <a:pPr>
                <a:defRPr/>
              </a:pPr>
              <a:t>47</a:t>
            </a:fld>
            <a:endParaRPr lang="en-US" dirty="0"/>
          </a:p>
        </p:txBody>
      </p:sp>
      <p:pic>
        <p:nvPicPr>
          <p:cNvPr id="6" name="Picture 5"/>
          <p:cNvPicPr>
            <a:picLocks noChangeAspect="1"/>
          </p:cNvPicPr>
          <p:nvPr/>
        </p:nvPicPr>
        <p:blipFill>
          <a:blip r:embed="rId3"/>
          <a:stretch>
            <a:fillRect/>
          </a:stretch>
        </p:blipFill>
        <p:spPr>
          <a:xfrm>
            <a:off x="-18789" y="-51148"/>
            <a:ext cx="4564775" cy="6934200"/>
          </a:xfrm>
          <a:prstGeom prst="rect">
            <a:avLst/>
          </a:prstGeom>
        </p:spPr>
      </p:pic>
      <p:pic>
        <p:nvPicPr>
          <p:cNvPr id="7" name="Picture 6"/>
          <p:cNvPicPr>
            <a:picLocks noChangeAspect="1"/>
          </p:cNvPicPr>
          <p:nvPr/>
        </p:nvPicPr>
        <p:blipFill>
          <a:blip r:embed="rId4"/>
          <a:stretch>
            <a:fillRect/>
          </a:stretch>
        </p:blipFill>
        <p:spPr>
          <a:xfrm>
            <a:off x="4594509" y="-63674"/>
            <a:ext cx="4613165" cy="6934200"/>
          </a:xfrm>
          <a:prstGeom prst="rect">
            <a:avLst/>
          </a:prstGeom>
        </p:spPr>
      </p:pic>
      <p:sp>
        <p:nvSpPr>
          <p:cNvPr id="9" name="Rounded Rectangle 8"/>
          <p:cNvSpPr/>
          <p:nvPr/>
        </p:nvSpPr>
        <p:spPr>
          <a:xfrm>
            <a:off x="101252" y="109394"/>
            <a:ext cx="1219199" cy="33528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ounded Rectangle 9"/>
          <p:cNvSpPr/>
          <p:nvPr/>
        </p:nvSpPr>
        <p:spPr>
          <a:xfrm>
            <a:off x="4790266" y="124634"/>
            <a:ext cx="1089660" cy="335280"/>
          </a:xfrm>
          <a:prstGeom prst="round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89533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par>
                          <p:cTn id="15" fill="hold">
                            <p:stCondLst>
                              <p:cond delay="0"/>
                            </p:stCondLst>
                            <p:childTnLst>
                              <p:par>
                                <p:cTn id="16" presetID="16" presetClass="entr" presetSubtype="2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1"/>
          </p:nvPr>
        </p:nvSpPr>
        <p:spPr>
          <a:xfrm>
            <a:off x="609600" y="1371600"/>
            <a:ext cx="7162800" cy="3124200"/>
          </a:xfrm>
          <a:solidFill>
            <a:schemeClr val="bg2">
              <a:lumMod val="75000"/>
            </a:schemeClr>
          </a:solidFill>
        </p:spPr>
        <p:txBody>
          <a:bodyPr/>
          <a:lstStyle/>
          <a:p>
            <a:pPr algn="just"/>
            <a:r>
              <a:rPr lang="vi-VN" dirty="0"/>
              <a:t>Phạm vi dự án quá rộng và quá quy mô có thể gây ra các vấn đề nghiêm trọng.</a:t>
            </a:r>
          </a:p>
          <a:p>
            <a:pPr algn="just"/>
            <a:endParaRPr lang="vi-VN" sz="800" dirty="0"/>
          </a:p>
          <a:p>
            <a:pPr lvl="1" algn="just">
              <a:buFont typeface="Arial" panose="020B0604020202020204" pitchFamily="34" charset="0"/>
              <a:buChar char="•"/>
            </a:pPr>
            <a:r>
              <a:rPr lang="vi-VN" dirty="0"/>
              <a:t>Texas FoxMeyer (1996) – Phá sản vì phạm vi dự án phình ra và quá nhấn mạnh vào công nghệ.</a:t>
            </a:r>
          </a:p>
          <a:p>
            <a:pPr lvl="1" algn="just">
              <a:buFont typeface="Arial" panose="020B0604020202020204" pitchFamily="34" charset="0"/>
              <a:buChar char="•"/>
            </a:pPr>
            <a:endParaRPr lang="vi-VN" sz="800" dirty="0"/>
          </a:p>
          <a:p>
            <a:pPr lvl="1" algn="just">
              <a:buFont typeface="Arial" panose="020B0604020202020204" pitchFamily="34" charset="0"/>
              <a:buChar char="•"/>
            </a:pPr>
            <a:r>
              <a:rPr lang="vi-VN" dirty="0"/>
              <a:t>McDonald (2001) – Chấm dứt dự án tập trung HTTT theo thời gian thực vì có quá nhiều công việc để xử lý.</a:t>
            </a:r>
            <a:endParaRPr lang="en-US" dirty="0"/>
          </a:p>
        </p:txBody>
      </p:sp>
      <p:sp>
        <p:nvSpPr>
          <p:cNvPr id="34818" name="Title 1"/>
          <p:cNvSpPr>
            <a:spLocks noGrp="1"/>
          </p:cNvSpPr>
          <p:nvPr>
            <p:ph type="title"/>
          </p:nvPr>
        </p:nvSpPr>
        <p:spPr>
          <a:xfrm>
            <a:off x="381000" y="152400"/>
            <a:ext cx="8229600" cy="1143000"/>
          </a:xfrm>
        </p:spPr>
        <p:txBody>
          <a:bodyPr>
            <a:normAutofit/>
          </a:bodyPr>
          <a:lstStyle/>
          <a:p>
            <a:pPr algn="ctr"/>
            <a:r>
              <a:rPr lang="en-US" sz="3600" dirty="0"/>
              <a:t>FoxMeyer và McDonald</a:t>
            </a:r>
          </a:p>
        </p:txBody>
      </p:sp>
      <p:sp>
        <p:nvSpPr>
          <p:cNvPr id="5" name="Slide Number Placeholder 4"/>
          <p:cNvSpPr>
            <a:spLocks noGrp="1"/>
          </p:cNvSpPr>
          <p:nvPr>
            <p:ph type="sldNum" sz="quarter" idx="11"/>
          </p:nvPr>
        </p:nvSpPr>
        <p:spPr/>
        <p:txBody>
          <a:bodyPr/>
          <a:lstStyle/>
          <a:p>
            <a:pPr>
              <a:defRPr/>
            </a:pPr>
            <a:fld id="{3E13A010-08C9-439B-9056-DD5B8E3BD166}" type="slidenum">
              <a:rPr lang="en-US" smtClean="0"/>
              <a:pPr>
                <a:defRPr/>
              </a:pPr>
              <a:t>48</a:t>
            </a:fld>
            <a:endParaRPr lang="en-US" dirty="0"/>
          </a:p>
        </p:txBody>
      </p:sp>
      <p:pic>
        <p:nvPicPr>
          <p:cNvPr id="2" name="Picture 1"/>
          <p:cNvPicPr>
            <a:picLocks noChangeAspect="1"/>
          </p:cNvPicPr>
          <p:nvPr/>
        </p:nvPicPr>
        <p:blipFill>
          <a:blip r:embed="rId2"/>
          <a:stretch>
            <a:fillRect/>
          </a:stretch>
        </p:blipFill>
        <p:spPr>
          <a:xfrm>
            <a:off x="3505200" y="4648200"/>
            <a:ext cx="2028825" cy="1609725"/>
          </a:xfrm>
          <a:prstGeom prst="rect">
            <a:avLst/>
          </a:prstGeom>
        </p:spPr>
      </p:pic>
      <p:pic>
        <p:nvPicPr>
          <p:cNvPr id="2050" name="Picture 2" descr="http://vignette3.wikia.nocookie.net/logopedia/images/7/72/Mcdonalds.jpg/revision/2014062118104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9175" y="4495800"/>
            <a:ext cx="3044825" cy="18257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nsparent fail red word failure"/>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13142" y="457200"/>
            <a:ext cx="1530858" cy="1036114"/>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79063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4819">
                                            <p:txEl>
                                              <p:pRg st="4" end="4"/>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20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76200" y="1085850"/>
            <a:ext cx="9067800" cy="4171950"/>
          </a:xfrm>
          <a:prstGeom prst="rect">
            <a:avLst/>
          </a:prstGeom>
        </p:spPr>
      </p:pic>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49</a:t>
            </a:fld>
            <a:endParaRPr lang="en-US" dirty="0"/>
          </a:p>
        </p:txBody>
      </p:sp>
      <p:sp>
        <p:nvSpPr>
          <p:cNvPr id="7" name="Rounded Rectangle 6"/>
          <p:cNvSpPr/>
          <p:nvPr/>
        </p:nvSpPr>
        <p:spPr>
          <a:xfrm>
            <a:off x="4901852" y="3848791"/>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a:defRPr/>
            </a:pPr>
            <a:r>
              <a:rPr lang="en-US" sz="4000" dirty="0">
                <a:solidFill>
                  <a:schemeClr val="bg1">
                    <a:lumMod val="65000"/>
                  </a:schemeClr>
                </a:solidFill>
                <a:effectLst/>
              </a:rPr>
              <a:t>Quản lý </a:t>
            </a:r>
            <a:r>
              <a:rPr lang="en-US" sz="4000" dirty="0" err="1">
                <a:solidFill>
                  <a:schemeClr val="bg1">
                    <a:lumMod val="65000"/>
                  </a:schemeClr>
                </a:solidFill>
                <a:effectLst/>
              </a:rPr>
              <a:t>phạm</a:t>
            </a:r>
            <a:r>
              <a:rPr lang="en-US" sz="4000" dirty="0">
                <a:solidFill>
                  <a:schemeClr val="bg1">
                    <a:lumMod val="65000"/>
                  </a:schemeClr>
                </a:solidFill>
                <a:effectLst/>
              </a:rPr>
              <a:t> vi </a:t>
            </a:r>
            <a:r>
              <a:rPr lang="en-US" sz="4000" dirty="0" err="1">
                <a:solidFill>
                  <a:schemeClr val="bg1">
                    <a:lumMod val="65000"/>
                  </a:schemeClr>
                </a:solidFill>
                <a:effectLst/>
              </a:rPr>
              <a:t>dự</a:t>
            </a:r>
            <a:r>
              <a:rPr lang="en-US" sz="4000" dirty="0">
                <a:solidFill>
                  <a:schemeClr val="bg1">
                    <a:lumMod val="65000"/>
                  </a:schemeClr>
                </a:solidFill>
                <a:effectLst/>
              </a:rPr>
              <a:t> </a:t>
            </a:r>
            <a:r>
              <a:rPr lang="en-US" sz="4000" dirty="0" err="1">
                <a:solidFill>
                  <a:schemeClr val="bg1">
                    <a:lumMod val="65000"/>
                  </a:schemeClr>
                </a:solidFill>
                <a:effectLst/>
              </a:rPr>
              <a:t>án</a:t>
            </a:r>
            <a:r>
              <a:rPr lang="en-US" sz="4000" dirty="0">
                <a:solidFill>
                  <a:schemeClr val="bg1">
                    <a:lumMod val="65000"/>
                  </a:schemeClr>
                </a:solidFill>
                <a:effectLst/>
              </a:rPr>
              <a:t> [5/6]</a:t>
            </a:r>
          </a:p>
        </p:txBody>
      </p:sp>
      <p:pic>
        <p:nvPicPr>
          <p:cNvPr id="9" name="Picture 8"/>
          <p:cNvPicPr>
            <a:picLocks noChangeAspect="1"/>
          </p:cNvPicPr>
          <p:nvPr/>
        </p:nvPicPr>
        <p:blipFill>
          <a:blip r:embed="rId3"/>
          <a:stretch>
            <a:fillRect/>
          </a:stretch>
        </p:blipFill>
        <p:spPr>
          <a:xfrm>
            <a:off x="5562600" y="5638800"/>
            <a:ext cx="1778000" cy="1210849"/>
          </a:xfrm>
          <a:prstGeom prst="rect">
            <a:avLst/>
          </a:prstGeom>
        </p:spPr>
      </p:pic>
      <p:sp>
        <p:nvSpPr>
          <p:cNvPr id="12"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59578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304800" y="1295401"/>
            <a:ext cx="8458200" cy="4191000"/>
          </a:xfrm>
        </p:spPr>
        <p:txBody>
          <a:bodyPr/>
          <a:lstStyle/>
          <a:p>
            <a:pPr algn="just"/>
            <a:r>
              <a:rPr lang="vi-VN" b="1" dirty="0"/>
              <a:t>Xác nhận phạm vi</a:t>
            </a:r>
            <a:r>
              <a:rPr lang="vi-VN" dirty="0"/>
              <a:t> </a:t>
            </a:r>
            <a:r>
              <a:rPr lang="en-US" dirty="0"/>
              <a:t>(</a:t>
            </a:r>
            <a:r>
              <a:rPr lang="en-US" dirty="0">
                <a:solidFill>
                  <a:srgbClr val="0070C0"/>
                </a:solidFill>
              </a:rPr>
              <a:t>validate </a:t>
            </a:r>
            <a:r>
              <a:rPr lang="vi-VN" dirty="0">
                <a:solidFill>
                  <a:srgbClr val="0070C0"/>
                </a:solidFill>
              </a:rPr>
              <a:t>scope</a:t>
            </a:r>
            <a:r>
              <a:rPr lang="vi-VN" dirty="0"/>
              <a:t>): sự chấp nhận chính thức để chuyển giao khi hoàn thành dự án.</a:t>
            </a:r>
          </a:p>
          <a:p>
            <a:pPr algn="just"/>
            <a:endParaRPr lang="vi-VN" sz="800" dirty="0"/>
          </a:p>
          <a:p>
            <a:pPr algn="just"/>
            <a:r>
              <a:rPr lang="vi-VN" dirty="0"/>
              <a:t>Sự chấp nhận được thực hiện bởi khách hàng và ký kết các chuyển giao.</a:t>
            </a:r>
            <a:endParaRPr lang="en-US" sz="2400" dirty="0"/>
          </a:p>
          <a:p>
            <a:pPr algn="just"/>
            <a:endParaRPr lang="vi-VN" sz="800" dirty="0"/>
          </a:p>
          <a:p>
            <a:pPr algn="just"/>
            <a:r>
              <a:rPr lang="vi-VN" dirty="0"/>
              <a:t>Rất khó khăn để tạo ra tuyên bố phạm vi và WBS tốt cho dự án.</a:t>
            </a:r>
          </a:p>
          <a:p>
            <a:pPr algn="just"/>
            <a:endParaRPr lang="vi-VN" sz="800" dirty="0"/>
          </a:p>
          <a:p>
            <a:pPr algn="just"/>
            <a:r>
              <a:rPr lang="vi-VN" dirty="0"/>
              <a:t>Còn khó khăn hơn để kiểm tra phạm vi và giảm thiểu các thay đổi phạm vi...</a:t>
            </a:r>
          </a:p>
          <a:p>
            <a:pPr algn="just">
              <a:lnSpc>
                <a:spcPct val="90000"/>
              </a:lnSpc>
            </a:pPr>
            <a:endParaRPr lang="vi-VN" sz="1200" dirty="0"/>
          </a:p>
        </p:txBody>
      </p:sp>
      <p:sp>
        <p:nvSpPr>
          <p:cNvPr id="35842" name="Rectangle 2"/>
          <p:cNvSpPr>
            <a:spLocks noGrp="1" noChangeArrowheads="1"/>
          </p:cNvSpPr>
          <p:nvPr>
            <p:ph type="title"/>
          </p:nvPr>
        </p:nvSpPr>
        <p:spPr>
          <a:xfrm>
            <a:off x="457200" y="152400"/>
            <a:ext cx="8229600" cy="1143000"/>
          </a:xfrm>
        </p:spPr>
        <p:txBody>
          <a:bodyPr>
            <a:normAutofit/>
          </a:bodyPr>
          <a:lstStyle/>
          <a:p>
            <a:pPr algn="ctr"/>
            <a:r>
              <a:rPr lang="en-US" sz="4400" dirty="0">
                <a:solidFill>
                  <a:srgbClr val="FF0000"/>
                </a:solidFill>
              </a:rPr>
              <a:t>5</a:t>
            </a:r>
            <a:r>
              <a:rPr lang="en-US" sz="4400">
                <a:solidFill>
                  <a:srgbClr val="FF0000"/>
                </a:solidFill>
              </a:rPr>
              <a:t>. Xác nhận </a:t>
            </a:r>
            <a:r>
              <a:rPr lang="en-US" sz="4400" dirty="0" err="1">
                <a:solidFill>
                  <a:srgbClr val="FF0000"/>
                </a:solidFill>
              </a:rPr>
              <a:t>phạm</a:t>
            </a:r>
            <a:r>
              <a:rPr lang="en-US" sz="4400" dirty="0">
                <a:solidFill>
                  <a:srgbClr val="FF0000"/>
                </a:solidFill>
              </a:rPr>
              <a:t> vi</a:t>
            </a:r>
          </a:p>
        </p:txBody>
      </p:sp>
      <p:sp>
        <p:nvSpPr>
          <p:cNvPr id="8" name="Slide Number Placeholder 7"/>
          <p:cNvSpPr>
            <a:spLocks noGrp="1"/>
          </p:cNvSpPr>
          <p:nvPr>
            <p:ph type="sldNum" sz="quarter" idx="11"/>
          </p:nvPr>
        </p:nvSpPr>
        <p:spPr/>
        <p:txBody>
          <a:bodyPr/>
          <a:lstStyle/>
          <a:p>
            <a:pPr>
              <a:defRPr/>
            </a:pPr>
            <a:fld id="{41615BF9-3FF1-4053-BEA1-4C2B00685CB3}" type="slidenum">
              <a:rPr lang="en-US" smtClean="0"/>
              <a:pPr>
                <a:defRPr/>
              </a:pPr>
              <a:t>50</a:t>
            </a:fld>
            <a:endParaRPr lang="en-US" dirty="0"/>
          </a:p>
        </p:txBody>
      </p:sp>
      <p:pic>
        <p:nvPicPr>
          <p:cNvPr id="3" name="Picture 2"/>
          <p:cNvPicPr>
            <a:picLocks noChangeAspect="1"/>
          </p:cNvPicPr>
          <p:nvPr/>
        </p:nvPicPr>
        <p:blipFill>
          <a:blip r:embed="rId2"/>
          <a:stretch>
            <a:fillRect/>
          </a:stretch>
        </p:blipFill>
        <p:spPr>
          <a:xfrm>
            <a:off x="6248400" y="5179680"/>
            <a:ext cx="1981200" cy="1221120"/>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085850"/>
            <a:ext cx="9067800" cy="4171950"/>
          </a:xfrm>
          <a:prstGeom prst="rect">
            <a:avLst/>
          </a:prstGeom>
        </p:spPr>
      </p:pic>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51</a:t>
            </a:fld>
            <a:endParaRPr lang="en-US" dirty="0"/>
          </a:p>
        </p:txBody>
      </p:sp>
      <p:sp>
        <p:nvSpPr>
          <p:cNvPr id="7" name="Rounded Rectangle 6"/>
          <p:cNvSpPr/>
          <p:nvPr/>
        </p:nvSpPr>
        <p:spPr>
          <a:xfrm>
            <a:off x="4953000" y="4187868"/>
            <a:ext cx="3124200" cy="31715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a:defRPr/>
            </a:pPr>
            <a:r>
              <a:rPr lang="en-US" sz="4000" dirty="0">
                <a:solidFill>
                  <a:schemeClr val="bg1">
                    <a:lumMod val="65000"/>
                  </a:schemeClr>
                </a:solidFill>
                <a:effectLst/>
              </a:rPr>
              <a:t>Quản lý </a:t>
            </a:r>
            <a:r>
              <a:rPr lang="en-US" sz="4000" dirty="0" err="1">
                <a:solidFill>
                  <a:schemeClr val="bg1">
                    <a:lumMod val="65000"/>
                  </a:schemeClr>
                </a:solidFill>
                <a:effectLst/>
              </a:rPr>
              <a:t>phạm</a:t>
            </a:r>
            <a:r>
              <a:rPr lang="en-US" sz="4000" dirty="0">
                <a:solidFill>
                  <a:schemeClr val="bg1">
                    <a:lumMod val="65000"/>
                  </a:schemeClr>
                </a:solidFill>
                <a:effectLst/>
              </a:rPr>
              <a:t> vi </a:t>
            </a:r>
            <a:r>
              <a:rPr lang="en-US" sz="4000" dirty="0" err="1">
                <a:solidFill>
                  <a:schemeClr val="bg1">
                    <a:lumMod val="65000"/>
                  </a:schemeClr>
                </a:solidFill>
                <a:effectLst/>
              </a:rPr>
              <a:t>dự</a:t>
            </a:r>
            <a:r>
              <a:rPr lang="en-US" sz="4000" dirty="0">
                <a:solidFill>
                  <a:schemeClr val="bg1">
                    <a:lumMod val="65000"/>
                  </a:schemeClr>
                </a:solidFill>
                <a:effectLst/>
              </a:rPr>
              <a:t> </a:t>
            </a:r>
            <a:r>
              <a:rPr lang="en-US" sz="4000" dirty="0" err="1">
                <a:solidFill>
                  <a:schemeClr val="bg1">
                    <a:lumMod val="65000"/>
                  </a:schemeClr>
                </a:solidFill>
                <a:effectLst/>
              </a:rPr>
              <a:t>án</a:t>
            </a:r>
            <a:r>
              <a:rPr lang="en-US" sz="4000" dirty="0">
                <a:solidFill>
                  <a:schemeClr val="bg1">
                    <a:lumMod val="65000"/>
                  </a:schemeClr>
                </a:solidFill>
                <a:effectLst/>
              </a:rPr>
              <a:t> [6/6]</a:t>
            </a:r>
          </a:p>
        </p:txBody>
      </p:sp>
      <p:pic>
        <p:nvPicPr>
          <p:cNvPr id="4" name="Picture 3"/>
          <p:cNvPicPr>
            <a:picLocks noChangeAspect="1"/>
          </p:cNvPicPr>
          <p:nvPr/>
        </p:nvPicPr>
        <p:blipFill>
          <a:blip r:embed="rId3"/>
          <a:stretch>
            <a:fillRect/>
          </a:stretch>
        </p:blipFill>
        <p:spPr>
          <a:xfrm>
            <a:off x="5486400" y="5410200"/>
            <a:ext cx="1447800" cy="1447800"/>
          </a:xfrm>
          <a:prstGeom prst="rect">
            <a:avLst/>
          </a:prstGeom>
        </p:spPr>
      </p:pic>
      <p:sp>
        <p:nvSpPr>
          <p:cNvPr id="11"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37876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381000" y="1295400"/>
            <a:ext cx="8305800" cy="4191000"/>
          </a:xfrm>
        </p:spPr>
        <p:txBody>
          <a:bodyPr/>
          <a:lstStyle/>
          <a:p>
            <a:r>
              <a:rPr lang="vi-VN" b="1" dirty="0"/>
              <a:t>Kiểm soát phạm vi </a:t>
            </a:r>
            <a:r>
              <a:rPr lang="en-US" dirty="0"/>
              <a:t>(</a:t>
            </a:r>
            <a:r>
              <a:rPr lang="en-US" dirty="0">
                <a:solidFill>
                  <a:srgbClr val="0070C0"/>
                </a:solidFill>
              </a:rPr>
              <a:t>control scope</a:t>
            </a:r>
            <a:r>
              <a:rPr lang="en-US" dirty="0"/>
              <a:t>): </a:t>
            </a:r>
            <a:r>
              <a:rPr lang="vi-VN" dirty="0"/>
              <a:t>liên quan đến việc kiểm soát thay đổi trong phạm vi dự án.</a:t>
            </a:r>
          </a:p>
          <a:p>
            <a:endParaRPr lang="vi-VN" sz="1100" dirty="0"/>
          </a:p>
          <a:p>
            <a:r>
              <a:rPr lang="vi-VN" dirty="0"/>
              <a:t>Mục tiêu của kiểm soát phạm vi...</a:t>
            </a:r>
          </a:p>
          <a:p>
            <a:pPr lvl="1">
              <a:buFont typeface="Arial" panose="020B0604020202020204" pitchFamily="34" charset="0"/>
              <a:buChar char="•"/>
            </a:pPr>
            <a:r>
              <a:rPr lang="vi-VN" dirty="0"/>
              <a:t>Tác động đến các yếu tố gây ra sự thay đổi phạm vi</a:t>
            </a:r>
          </a:p>
          <a:p>
            <a:pPr lvl="1">
              <a:buFont typeface="Arial" panose="020B0604020202020204" pitchFamily="34" charset="0"/>
              <a:buChar char="•"/>
            </a:pPr>
            <a:r>
              <a:rPr lang="vi-VN" dirty="0"/>
              <a:t>Đảm bảo sự thay đổi được thực hiện theo quy trình</a:t>
            </a:r>
          </a:p>
          <a:p>
            <a:pPr lvl="1">
              <a:buFont typeface="Arial" panose="020B0604020202020204" pitchFamily="34" charset="0"/>
              <a:buChar char="•"/>
            </a:pPr>
            <a:r>
              <a:rPr lang="vi-VN" dirty="0"/>
              <a:t>Quản lý thay đổi khi chúng xảy ra.</a:t>
            </a:r>
          </a:p>
          <a:p>
            <a:pPr lvl="1"/>
            <a:endParaRPr lang="vi-VN" sz="1050" dirty="0"/>
          </a:p>
          <a:p>
            <a:pPr algn="just"/>
            <a:r>
              <a:rPr lang="vi-VN" dirty="0"/>
              <a:t>Phương sai (</a:t>
            </a:r>
            <a:r>
              <a:rPr lang="vi-VN" dirty="0">
                <a:solidFill>
                  <a:srgbClr val="0070C0"/>
                </a:solidFill>
              </a:rPr>
              <a:t>variance</a:t>
            </a:r>
            <a:r>
              <a:rPr lang="vi-VN" dirty="0"/>
              <a:t>): sự khác biệt giữa kế hoạch và thực tế.</a:t>
            </a:r>
            <a:endParaRPr lang="en-US" dirty="0"/>
          </a:p>
        </p:txBody>
      </p:sp>
      <p:sp>
        <p:nvSpPr>
          <p:cNvPr id="36866" name="Rectangle 2"/>
          <p:cNvSpPr>
            <a:spLocks noGrp="1" noChangeArrowheads="1"/>
          </p:cNvSpPr>
          <p:nvPr>
            <p:ph type="title"/>
          </p:nvPr>
        </p:nvSpPr>
        <p:spPr>
          <a:xfrm>
            <a:off x="457200" y="152400"/>
            <a:ext cx="8229600" cy="1143000"/>
          </a:xfrm>
        </p:spPr>
        <p:txBody>
          <a:bodyPr>
            <a:normAutofit/>
          </a:bodyPr>
          <a:lstStyle/>
          <a:p>
            <a:pPr algn="ctr"/>
            <a:r>
              <a:rPr lang="en-US" sz="4400" dirty="0">
                <a:solidFill>
                  <a:srgbClr val="FF0000"/>
                </a:solidFill>
              </a:rPr>
              <a:t>6. </a:t>
            </a:r>
            <a:r>
              <a:rPr lang="en-US" sz="4400" dirty="0" err="1">
                <a:solidFill>
                  <a:srgbClr val="FF0000"/>
                </a:solidFill>
              </a:rPr>
              <a:t>Kiểm</a:t>
            </a:r>
            <a:r>
              <a:rPr lang="en-US" sz="4400" dirty="0">
                <a:solidFill>
                  <a:srgbClr val="FF0000"/>
                </a:solidFill>
              </a:rPr>
              <a:t> </a:t>
            </a:r>
            <a:r>
              <a:rPr lang="en-US" sz="4400" dirty="0" err="1">
                <a:solidFill>
                  <a:srgbClr val="FF0000"/>
                </a:solidFill>
              </a:rPr>
              <a:t>soát</a:t>
            </a:r>
            <a:r>
              <a:rPr lang="en-US" sz="4400" dirty="0">
                <a:solidFill>
                  <a:srgbClr val="FF0000"/>
                </a:solidFill>
              </a:rPr>
              <a:t> </a:t>
            </a:r>
            <a:r>
              <a:rPr lang="en-US" sz="4400" dirty="0" err="1">
                <a:solidFill>
                  <a:srgbClr val="FF0000"/>
                </a:solidFill>
              </a:rPr>
              <a:t>phạm</a:t>
            </a:r>
            <a:r>
              <a:rPr lang="en-US" sz="4400" dirty="0">
                <a:solidFill>
                  <a:srgbClr val="FF0000"/>
                </a:solidFill>
              </a:rPr>
              <a:t> vi</a:t>
            </a:r>
          </a:p>
        </p:txBody>
      </p:sp>
      <p:sp>
        <p:nvSpPr>
          <p:cNvPr id="8" name="Slide Number Placeholder 7"/>
          <p:cNvSpPr>
            <a:spLocks noGrp="1"/>
          </p:cNvSpPr>
          <p:nvPr>
            <p:ph type="sldNum" sz="quarter" idx="11"/>
          </p:nvPr>
        </p:nvSpPr>
        <p:spPr/>
        <p:txBody>
          <a:bodyPr/>
          <a:lstStyle/>
          <a:p>
            <a:pPr>
              <a:defRPr/>
            </a:pPr>
            <a:fld id="{FA2787EA-4FDC-4AD1-A8FA-09B43D31602B}" type="slidenum">
              <a:rPr lang="en-US" smtClean="0"/>
              <a:pPr>
                <a:defRPr/>
              </a:pPr>
              <a:t>52</a:t>
            </a:fld>
            <a:endParaRPr lang="en-US" dirty="0"/>
          </a:p>
        </p:txBody>
      </p:sp>
      <p:pic>
        <p:nvPicPr>
          <p:cNvPr id="6" name="Picture 5"/>
          <p:cNvPicPr>
            <a:picLocks noChangeAspect="1"/>
          </p:cNvPicPr>
          <p:nvPr/>
        </p:nvPicPr>
        <p:blipFill>
          <a:blip r:embed="rId2"/>
          <a:stretch>
            <a:fillRect/>
          </a:stretch>
        </p:blipFill>
        <p:spPr>
          <a:xfrm>
            <a:off x="6324600" y="5029200"/>
            <a:ext cx="1981200" cy="1221120"/>
          </a:xfrm>
          <a:prstGeom prst="rect">
            <a:avLst/>
          </a:prstGeom>
        </p:spPr>
      </p:pic>
      <p:sp>
        <p:nvSpPr>
          <p:cNvPr id="7"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8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457200" y="1265238"/>
            <a:ext cx="8077200" cy="4525962"/>
          </a:xfrm>
        </p:spPr>
        <p:txBody>
          <a:bodyPr/>
          <a:lstStyle/>
          <a:p>
            <a:pPr algn="just"/>
            <a:r>
              <a:rPr lang="vi-VN" dirty="0"/>
              <a:t>Xử lý văn bản: tạo các tài liệu liên quan đến phạm vi dự án (v.d., MS. Word).</a:t>
            </a:r>
          </a:p>
          <a:p>
            <a:pPr algn="just"/>
            <a:endParaRPr lang="vi-VN" sz="500" dirty="0"/>
          </a:p>
          <a:p>
            <a:pPr algn="just"/>
            <a:r>
              <a:rPr lang="vi-VN" dirty="0"/>
              <a:t>Bảng tính: các tính toán tài chính, mô hình điểm trọng số, vẽ các biểu đồ - đồ thị (v.d., MS. Excel).</a:t>
            </a:r>
          </a:p>
          <a:p>
            <a:pPr algn="just"/>
            <a:endParaRPr lang="vi-VN" sz="500" dirty="0"/>
          </a:p>
          <a:p>
            <a:pPr algn="just"/>
            <a:r>
              <a:rPr lang="vi-VN" dirty="0"/>
              <a:t>Tuyền thông: làm rõ và thông tin phạm vi dự án (v.d., e-mail, chat).</a:t>
            </a:r>
          </a:p>
          <a:p>
            <a:pPr algn="just"/>
            <a:endParaRPr lang="vi-VN" sz="500" dirty="0"/>
          </a:p>
          <a:p>
            <a:pPr algn="just"/>
            <a:r>
              <a:rPr lang="vi-VN" dirty="0"/>
              <a:t>Phần mềm quản lý dự án: tạo WBS, tác vụ trên sơ đồ Gantt (v.d., MS Project, PMIS).</a:t>
            </a:r>
          </a:p>
          <a:p>
            <a:pPr algn="just"/>
            <a:endParaRPr lang="vi-VN" sz="500" dirty="0"/>
          </a:p>
          <a:p>
            <a:pPr algn="just"/>
            <a:r>
              <a:rPr lang="vi-VN" dirty="0"/>
              <a:t>Phần mềm chuyên dụng khác...</a:t>
            </a:r>
            <a:endParaRPr lang="en-US" dirty="0"/>
          </a:p>
        </p:txBody>
      </p:sp>
      <p:sp>
        <p:nvSpPr>
          <p:cNvPr id="41986" name="Rectangle 2"/>
          <p:cNvSpPr>
            <a:spLocks noGrp="1" noChangeArrowheads="1"/>
          </p:cNvSpPr>
          <p:nvPr>
            <p:ph type="title"/>
          </p:nvPr>
        </p:nvSpPr>
        <p:spPr>
          <a:xfrm>
            <a:off x="0" y="76200"/>
            <a:ext cx="9144000" cy="1143000"/>
          </a:xfrm>
        </p:spPr>
        <p:txBody>
          <a:bodyPr>
            <a:normAutofit/>
          </a:bodyPr>
          <a:lstStyle/>
          <a:p>
            <a:pPr algn="ctr"/>
            <a:r>
              <a:rPr lang="en-US" sz="4000" dirty="0" err="1">
                <a:solidFill>
                  <a:srgbClr val="0070C0"/>
                </a:solidFill>
              </a:rPr>
              <a:t>Phần</a:t>
            </a:r>
            <a:r>
              <a:rPr lang="en-US" sz="4000" dirty="0">
                <a:solidFill>
                  <a:srgbClr val="0070C0"/>
                </a:solidFill>
              </a:rPr>
              <a:t> </a:t>
            </a:r>
            <a:r>
              <a:rPr lang="en-US" sz="4000" dirty="0" err="1">
                <a:solidFill>
                  <a:srgbClr val="0070C0"/>
                </a:solidFill>
              </a:rPr>
              <a:t>mềm</a:t>
            </a:r>
            <a:r>
              <a:rPr lang="en-US" sz="4000" dirty="0">
                <a:solidFill>
                  <a:srgbClr val="0070C0"/>
                </a:solidFill>
              </a:rPr>
              <a:t> </a:t>
            </a:r>
            <a:r>
              <a:rPr lang="en-US" sz="4000" dirty="0" err="1">
                <a:solidFill>
                  <a:srgbClr val="0070C0"/>
                </a:solidFill>
              </a:rPr>
              <a:t>hỗ</a:t>
            </a:r>
            <a:r>
              <a:rPr lang="en-US" sz="4000" dirty="0">
                <a:solidFill>
                  <a:srgbClr val="0070C0"/>
                </a:solidFill>
              </a:rPr>
              <a:t> </a:t>
            </a:r>
            <a:r>
              <a:rPr lang="en-US" sz="4000" dirty="0" err="1">
                <a:solidFill>
                  <a:srgbClr val="0070C0"/>
                </a:solidFill>
              </a:rPr>
              <a:t>trợ</a:t>
            </a:r>
            <a:r>
              <a:rPr lang="en-US" sz="4000" dirty="0">
                <a:solidFill>
                  <a:srgbClr val="0070C0"/>
                </a:solidFill>
              </a:rPr>
              <a:t> quản lý </a:t>
            </a:r>
            <a:r>
              <a:rPr lang="en-US" sz="4000" dirty="0" err="1">
                <a:solidFill>
                  <a:srgbClr val="0070C0"/>
                </a:solidFill>
              </a:rPr>
              <a:t>phạm</a:t>
            </a:r>
            <a:r>
              <a:rPr lang="en-US" sz="4000" dirty="0">
                <a:solidFill>
                  <a:srgbClr val="0070C0"/>
                </a:solidFill>
              </a:rPr>
              <a:t> vi</a:t>
            </a:r>
          </a:p>
        </p:txBody>
      </p:sp>
      <p:sp>
        <p:nvSpPr>
          <p:cNvPr id="41988"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47E216C4-EF62-4EFC-A55E-A4A4892C98D9}" type="slidenum">
              <a:rPr lang="en-US" smtClean="0"/>
              <a:pPr>
                <a:defRPr/>
              </a:pPr>
              <a:t>53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47800"/>
            <a:ext cx="8077200" cy="3352800"/>
          </a:xfrm>
          <a:solidFill>
            <a:schemeClr val="bg2"/>
          </a:solidFill>
        </p:spPr>
        <p:txBody>
          <a:bodyPr/>
          <a:lstStyle/>
          <a:p>
            <a:pPr algn="just"/>
            <a:r>
              <a:rPr lang="vi-VN" dirty="0"/>
              <a:t>Nhiều quốc gia gặp khó khăn trong kiểm soát phạm vi các dự án HTTT lớn. Đặc biệt là các dự án liên quan đến công nghệ tiên tiến và nhiều người sử dụng khác nhau.</a:t>
            </a:r>
          </a:p>
          <a:p>
            <a:pPr lvl="1" algn="just">
              <a:buFont typeface="Arial" panose="020B0604020202020204" pitchFamily="34" charset="0"/>
              <a:buChar char="•"/>
            </a:pPr>
            <a:r>
              <a:rPr lang="vi-VN" sz="2400" dirty="0"/>
              <a:t>V.d., Hệ thống thẻ thông minh giao thông công cộng của tiểu bang Victoria (Úc): </a:t>
            </a:r>
            <a:r>
              <a:rPr lang="vi-VN" sz="2400" dirty="0">
                <a:hlinkClick r:id="rId3"/>
              </a:rPr>
              <a:t>www.myki.com.au</a:t>
            </a:r>
            <a:endParaRPr lang="vi-VN" sz="2400" dirty="0"/>
          </a:p>
          <a:p>
            <a:pPr lvl="1" algn="just">
              <a:buFont typeface="Arial" panose="020B0604020202020204" pitchFamily="34" charset="0"/>
              <a:buChar char="•"/>
            </a:pPr>
            <a:r>
              <a:rPr lang="vi-VN" sz="2400" dirty="0"/>
              <a:t>... có rất nhiều vấn đề phát sinh trong việc phát triển và triển khai thẻ thông minh.</a:t>
            </a:r>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54</a:t>
            </a:fld>
            <a:endParaRPr lang="en-US" dirty="0"/>
          </a:p>
        </p:txBody>
      </p:sp>
      <p:sp>
        <p:nvSpPr>
          <p:cNvPr id="7" name="Rectangle 6"/>
          <p:cNvSpPr/>
          <p:nvPr/>
        </p:nvSpPr>
        <p:spPr>
          <a:xfrm>
            <a:off x="3505200" y="5250359"/>
            <a:ext cx="5181600" cy="769441"/>
          </a:xfrm>
          <a:prstGeom prst="rect">
            <a:avLst/>
          </a:prstGeom>
        </p:spPr>
        <p:txBody>
          <a:bodyPr wrap="square">
            <a:spAutoFit/>
          </a:bodyPr>
          <a:lstStyle/>
          <a:p>
            <a:pPr algn="r"/>
            <a:r>
              <a:rPr lang="vi-VN" sz="4400" b="1" u="sng" dirty="0">
                <a:solidFill>
                  <a:srgbClr val="00B0F0"/>
                </a:solidFill>
              </a:rPr>
              <a:t>www.myki.com.au</a:t>
            </a:r>
          </a:p>
        </p:txBody>
      </p:sp>
      <p:pic>
        <p:nvPicPr>
          <p:cNvPr id="8" name="Picture 7"/>
          <p:cNvPicPr>
            <a:picLocks noChangeAspect="1"/>
          </p:cNvPicPr>
          <p:nvPr/>
        </p:nvPicPr>
        <p:blipFill>
          <a:blip r:embed="rId4"/>
          <a:stretch>
            <a:fillRect/>
          </a:stretch>
        </p:blipFill>
        <p:spPr>
          <a:xfrm>
            <a:off x="466725" y="381000"/>
            <a:ext cx="4562475" cy="638175"/>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67366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par>
                          <p:cTn id="11" fill="hold">
                            <p:stCondLst>
                              <p:cond delay="0"/>
                            </p:stCondLst>
                            <p:childTnLst>
                              <p:par>
                                <p:cTn id="12" presetID="16" presetClass="entr" presetSubtype="21"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5010" y="1905000"/>
            <a:ext cx="9108989" cy="1829761"/>
          </a:xfrm>
        </p:spPr>
        <p:txBody>
          <a:bodyPr>
            <a:noAutofit/>
          </a:bodyPr>
          <a:lstStyle/>
          <a:p>
            <a:pPr algn="ctr" fontAlgn="auto">
              <a:spcAft>
                <a:spcPts val="0"/>
              </a:spcAft>
              <a:defRPr/>
            </a:pPr>
            <a:br>
              <a:rPr dirty="0">
                <a:solidFill>
                  <a:srgbClr val="0070C0"/>
                </a:solidFill>
                <a:effectLst/>
              </a:rPr>
            </a:br>
            <a:r>
              <a:rPr lang="vi-VN" sz="4400" dirty="0">
                <a:solidFill>
                  <a:srgbClr val="0070C0"/>
                </a:solidFill>
                <a:effectLst/>
              </a:rPr>
              <a:t>TÓM TẮT &amp; TỪ KHÓA</a:t>
            </a:r>
            <a:br>
              <a:rPr lang="vi-VN" sz="4400" dirty="0">
                <a:solidFill>
                  <a:srgbClr val="0070C0"/>
                </a:solidFill>
                <a:effectLst/>
              </a:rPr>
            </a:br>
            <a:endParaRPr lang="vi-VN" sz="4400" dirty="0">
              <a:solidFill>
                <a:srgbClr val="0070C0"/>
              </a:solidFill>
              <a:effectLst/>
            </a:endParaRPr>
          </a:p>
        </p:txBody>
      </p:sp>
      <p:sp>
        <p:nvSpPr>
          <p:cNvPr id="10" name="TextBox 9"/>
          <p:cNvSpPr txBox="1">
            <a:spLocks noChangeArrowheads="1"/>
          </p:cNvSpPr>
          <p:nvPr/>
        </p:nvSpPr>
        <p:spPr>
          <a:xfrm>
            <a:off x="723900" y="317956"/>
            <a:ext cx="7848600" cy="663575"/>
          </a:xfrm>
          <a:prstGeom prst="rect">
            <a:avLst/>
          </a:prstGeom>
        </p:spPr>
        <p:txBody>
          <a:bodyPr vert="horz" anchor="b">
            <a:noAutofit/>
            <a:scene3d>
              <a:camera prst="orthographicFront"/>
              <a:lightRig rig="soft" dir="t"/>
            </a:scene3d>
            <a:sp3d prstMaterial="softEdge">
              <a:bevelT w="25400" h="25400"/>
            </a:sp3d>
          </a:bodyPr>
          <a:ls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lgn="ctr" fontAlgn="auto">
              <a:spcAft>
                <a:spcPts val="0"/>
              </a:spcAft>
              <a:defRPr/>
            </a:pPr>
            <a:endParaRPr lang="vi-VN" sz="3000" b="1" u="sng" dirty="0">
              <a:effectLst>
                <a:outerShdw blurRad="38100" dist="38100" dir="2700000" algn="tl">
                  <a:srgbClr val="FFFFFF"/>
                </a:outerShdw>
              </a:effectLst>
              <a:latin typeface="+mj-lt"/>
            </a:endParaRPr>
          </a:p>
        </p:txBody>
      </p:sp>
      <p:sp>
        <p:nvSpPr>
          <p:cNvPr id="4"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pic>
        <p:nvPicPr>
          <p:cNvPr id="6" name="Picture 5"/>
          <p:cNvPicPr>
            <a:picLocks noChangeAspect="1"/>
          </p:cNvPicPr>
          <p:nvPr/>
        </p:nvPicPr>
        <p:blipFill>
          <a:blip r:embed="rId2"/>
          <a:stretch>
            <a:fillRect/>
          </a:stretch>
        </p:blipFill>
        <p:spPr>
          <a:xfrm>
            <a:off x="6477000" y="3989623"/>
            <a:ext cx="1992472" cy="2487377"/>
          </a:xfrm>
          <a:prstGeom prst="rect">
            <a:avLst/>
          </a:prstGeom>
        </p:spPr>
      </p:pic>
    </p:spTree>
    <p:extLst>
      <p:ext uri="{BB962C8B-B14F-4D97-AF65-F5344CB8AC3E}">
        <p14:creationId xmlns:p14="http://schemas.microsoft.com/office/powerpoint/2010/main" val="22088164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457200" y="1371600"/>
            <a:ext cx="8229600" cy="4525962"/>
          </a:xfrm>
        </p:spPr>
        <p:txBody>
          <a:bodyPr/>
          <a:lstStyle/>
          <a:p>
            <a:pPr algn="just"/>
            <a:r>
              <a:rPr lang="en-US" dirty="0">
                <a:solidFill>
                  <a:srgbClr val="002060"/>
                </a:solidFill>
              </a:rPr>
              <a:t>Quản lý </a:t>
            </a:r>
            <a:r>
              <a:rPr lang="en-US" dirty="0" err="1">
                <a:solidFill>
                  <a:srgbClr val="002060"/>
                </a:solidFill>
              </a:rPr>
              <a:t>phạm</a:t>
            </a:r>
            <a:r>
              <a:rPr lang="en-US" dirty="0">
                <a:solidFill>
                  <a:srgbClr val="002060"/>
                </a:solidFill>
              </a:rPr>
              <a:t> vi </a:t>
            </a:r>
            <a:r>
              <a:rPr lang="en-US" dirty="0" err="1">
                <a:solidFill>
                  <a:srgbClr val="002060"/>
                </a:solidFill>
              </a:rPr>
              <a:t>dự</a:t>
            </a:r>
            <a:r>
              <a:rPr lang="en-US" dirty="0">
                <a:solidFill>
                  <a:srgbClr val="002060"/>
                </a:solidFill>
              </a:rPr>
              <a:t> </a:t>
            </a:r>
            <a:r>
              <a:rPr lang="en-US" dirty="0" err="1">
                <a:solidFill>
                  <a:srgbClr val="002060"/>
                </a:solidFill>
              </a:rPr>
              <a:t>án</a:t>
            </a:r>
            <a:r>
              <a:rPr lang="en-US" dirty="0">
                <a:solidFill>
                  <a:srgbClr val="002060"/>
                </a:solidFill>
              </a:rPr>
              <a:t>: </a:t>
            </a:r>
            <a:r>
              <a:rPr lang="en-US" dirty="0" err="1">
                <a:solidFill>
                  <a:srgbClr val="002060"/>
                </a:solidFill>
              </a:rPr>
              <a:t>các</a:t>
            </a:r>
            <a:r>
              <a:rPr lang="en-US" dirty="0">
                <a:solidFill>
                  <a:srgbClr val="002060"/>
                </a:solidFill>
              </a:rPr>
              <a:t> </a:t>
            </a:r>
            <a:r>
              <a:rPr lang="en-US" dirty="0" err="1">
                <a:solidFill>
                  <a:srgbClr val="002060"/>
                </a:solidFill>
              </a:rPr>
              <a:t>quy</a:t>
            </a:r>
            <a:r>
              <a:rPr lang="en-US" dirty="0">
                <a:solidFill>
                  <a:srgbClr val="002060"/>
                </a:solidFill>
              </a:rPr>
              <a:t> </a:t>
            </a:r>
            <a:r>
              <a:rPr lang="en-US" dirty="0" err="1">
                <a:solidFill>
                  <a:srgbClr val="002060"/>
                </a:solidFill>
              </a:rPr>
              <a:t>trình</a:t>
            </a:r>
            <a:r>
              <a:rPr lang="en-US" dirty="0">
                <a:solidFill>
                  <a:srgbClr val="002060"/>
                </a:solidFill>
              </a:rPr>
              <a:t> </a:t>
            </a:r>
            <a:r>
              <a:rPr lang="en-US" dirty="0" err="1">
                <a:solidFill>
                  <a:srgbClr val="002060"/>
                </a:solidFill>
              </a:rPr>
              <a:t>cần</a:t>
            </a:r>
            <a:r>
              <a:rPr lang="en-US" dirty="0">
                <a:solidFill>
                  <a:srgbClr val="002060"/>
                </a:solidFill>
              </a:rPr>
              <a:t> </a:t>
            </a:r>
            <a:r>
              <a:rPr lang="en-US" dirty="0" err="1">
                <a:solidFill>
                  <a:srgbClr val="002060"/>
                </a:solidFill>
              </a:rPr>
              <a:t>thiết</a:t>
            </a:r>
            <a:r>
              <a:rPr lang="en-US" dirty="0">
                <a:solidFill>
                  <a:srgbClr val="002060"/>
                </a:solidFill>
              </a:rPr>
              <a:t> </a:t>
            </a:r>
            <a:r>
              <a:rPr lang="en-US" dirty="0" err="1">
                <a:solidFill>
                  <a:srgbClr val="002060"/>
                </a:solidFill>
              </a:rPr>
              <a:t>để</a:t>
            </a:r>
            <a:r>
              <a:rPr lang="en-US" dirty="0">
                <a:solidFill>
                  <a:srgbClr val="002060"/>
                </a:solidFill>
              </a:rPr>
              <a:t> </a:t>
            </a:r>
            <a:r>
              <a:rPr lang="en-US" dirty="0" err="1">
                <a:solidFill>
                  <a:srgbClr val="002060"/>
                </a:solidFill>
              </a:rPr>
              <a:t>đảm</a:t>
            </a:r>
            <a:r>
              <a:rPr lang="en-US" dirty="0">
                <a:solidFill>
                  <a:srgbClr val="002060"/>
                </a:solidFill>
              </a:rPr>
              <a:t> </a:t>
            </a:r>
            <a:r>
              <a:rPr lang="en-US" dirty="0" err="1">
                <a:solidFill>
                  <a:srgbClr val="002060"/>
                </a:solidFill>
              </a:rPr>
              <a:t>bảo</a:t>
            </a:r>
            <a:r>
              <a:rPr lang="en-US" dirty="0">
                <a:solidFill>
                  <a:srgbClr val="002060"/>
                </a:solidFill>
              </a:rPr>
              <a:t> </a:t>
            </a:r>
            <a:r>
              <a:rPr lang="en-US" dirty="0" err="1">
                <a:solidFill>
                  <a:srgbClr val="002060"/>
                </a:solidFill>
              </a:rPr>
              <a:t>dự</a:t>
            </a:r>
            <a:r>
              <a:rPr lang="en-US" dirty="0">
                <a:solidFill>
                  <a:srgbClr val="002060"/>
                </a:solidFill>
              </a:rPr>
              <a:t> </a:t>
            </a:r>
            <a:r>
              <a:rPr lang="en-US" dirty="0" err="1">
                <a:solidFill>
                  <a:srgbClr val="002060"/>
                </a:solidFill>
              </a:rPr>
              <a:t>án</a:t>
            </a:r>
            <a:r>
              <a:rPr lang="en-US" dirty="0">
                <a:solidFill>
                  <a:srgbClr val="002060"/>
                </a:solidFill>
              </a:rPr>
              <a:t> </a:t>
            </a:r>
            <a:r>
              <a:rPr lang="en-US" dirty="0" err="1">
                <a:solidFill>
                  <a:srgbClr val="002060"/>
                </a:solidFill>
              </a:rPr>
              <a:t>thực</a:t>
            </a:r>
            <a:r>
              <a:rPr lang="en-US" dirty="0">
                <a:solidFill>
                  <a:srgbClr val="002060"/>
                </a:solidFill>
              </a:rPr>
              <a:t> </a:t>
            </a:r>
            <a:r>
              <a:rPr lang="en-US" dirty="0" err="1">
                <a:solidFill>
                  <a:srgbClr val="002060"/>
                </a:solidFill>
              </a:rPr>
              <a:t>hiện</a:t>
            </a:r>
            <a:r>
              <a:rPr lang="en-US" dirty="0">
                <a:solidFill>
                  <a:srgbClr val="002060"/>
                </a:solidFill>
              </a:rPr>
              <a:t> </a:t>
            </a:r>
            <a:r>
              <a:rPr lang="en-US" dirty="0" err="1">
                <a:solidFill>
                  <a:srgbClr val="002060"/>
                </a:solidFill>
              </a:rPr>
              <a:t>tất</a:t>
            </a:r>
            <a:r>
              <a:rPr lang="en-US" dirty="0">
                <a:solidFill>
                  <a:srgbClr val="002060"/>
                </a:solidFill>
              </a:rPr>
              <a:t> </a:t>
            </a:r>
            <a:r>
              <a:rPr lang="en-US" dirty="0" err="1">
                <a:solidFill>
                  <a:srgbClr val="002060"/>
                </a:solidFill>
              </a:rPr>
              <a:t>cả</a:t>
            </a:r>
            <a:r>
              <a:rPr lang="en-US" dirty="0">
                <a:solidFill>
                  <a:srgbClr val="002060"/>
                </a:solidFill>
              </a:rPr>
              <a:t> </a:t>
            </a:r>
            <a:r>
              <a:rPr lang="en-US" dirty="0" err="1">
                <a:solidFill>
                  <a:srgbClr val="002060"/>
                </a:solidFill>
              </a:rPr>
              <a:t>công</a:t>
            </a:r>
            <a:r>
              <a:rPr lang="en-US" dirty="0">
                <a:solidFill>
                  <a:srgbClr val="002060"/>
                </a:solidFill>
              </a:rPr>
              <a:t> </a:t>
            </a:r>
            <a:r>
              <a:rPr lang="en-US" dirty="0" err="1">
                <a:solidFill>
                  <a:srgbClr val="002060"/>
                </a:solidFill>
              </a:rPr>
              <a:t>việc</a:t>
            </a:r>
            <a:r>
              <a:rPr lang="en-US" dirty="0">
                <a:solidFill>
                  <a:srgbClr val="002060"/>
                </a:solidFill>
              </a:rPr>
              <a:t> </a:t>
            </a:r>
            <a:r>
              <a:rPr lang="en-US" dirty="0" err="1">
                <a:solidFill>
                  <a:srgbClr val="002060"/>
                </a:solidFill>
              </a:rPr>
              <a:t>cần</a:t>
            </a:r>
            <a:r>
              <a:rPr lang="en-US" dirty="0">
                <a:solidFill>
                  <a:srgbClr val="002060"/>
                </a:solidFill>
              </a:rPr>
              <a:t> </a:t>
            </a:r>
            <a:r>
              <a:rPr lang="en-US" dirty="0" err="1">
                <a:solidFill>
                  <a:srgbClr val="002060"/>
                </a:solidFill>
              </a:rPr>
              <a:t>thiết</a:t>
            </a:r>
            <a:r>
              <a:rPr lang="en-US" dirty="0">
                <a:solidFill>
                  <a:srgbClr val="002060"/>
                </a:solidFill>
              </a:rPr>
              <a:t> </a:t>
            </a:r>
            <a:r>
              <a:rPr lang="en-US" dirty="0" err="1">
                <a:solidFill>
                  <a:srgbClr val="002060"/>
                </a:solidFill>
              </a:rPr>
              <a:t>được</a:t>
            </a:r>
            <a:r>
              <a:rPr lang="en-US" dirty="0">
                <a:solidFill>
                  <a:srgbClr val="002060"/>
                </a:solidFill>
              </a:rPr>
              <a:t> </a:t>
            </a:r>
            <a:r>
              <a:rPr lang="en-US" dirty="0" err="1">
                <a:solidFill>
                  <a:srgbClr val="002060"/>
                </a:solidFill>
              </a:rPr>
              <a:t>yêu</a:t>
            </a:r>
            <a:r>
              <a:rPr lang="en-US" dirty="0">
                <a:solidFill>
                  <a:srgbClr val="002060"/>
                </a:solidFill>
              </a:rPr>
              <a:t> </a:t>
            </a:r>
            <a:r>
              <a:rPr lang="en-US" dirty="0" err="1">
                <a:solidFill>
                  <a:srgbClr val="002060"/>
                </a:solidFill>
              </a:rPr>
              <a:t>cầu</a:t>
            </a:r>
            <a:r>
              <a:rPr lang="en-US" dirty="0">
                <a:solidFill>
                  <a:srgbClr val="002060"/>
                </a:solidFill>
              </a:rPr>
              <a:t>, và </a:t>
            </a:r>
            <a:r>
              <a:rPr lang="en-US" dirty="0" err="1">
                <a:solidFill>
                  <a:srgbClr val="002060"/>
                </a:solidFill>
              </a:rPr>
              <a:t>hoàn</a:t>
            </a:r>
            <a:r>
              <a:rPr lang="en-US" dirty="0">
                <a:solidFill>
                  <a:srgbClr val="002060"/>
                </a:solidFill>
              </a:rPr>
              <a:t> </a:t>
            </a:r>
            <a:r>
              <a:rPr lang="en-US" dirty="0" err="1">
                <a:solidFill>
                  <a:srgbClr val="002060"/>
                </a:solidFill>
              </a:rPr>
              <a:t>thành</a:t>
            </a:r>
            <a:r>
              <a:rPr lang="en-US" dirty="0">
                <a:solidFill>
                  <a:srgbClr val="002060"/>
                </a:solidFill>
              </a:rPr>
              <a:t> </a:t>
            </a:r>
            <a:r>
              <a:rPr lang="en-US" dirty="0" err="1">
                <a:solidFill>
                  <a:srgbClr val="002060"/>
                </a:solidFill>
              </a:rPr>
              <a:t>dự</a:t>
            </a:r>
            <a:r>
              <a:rPr lang="en-US" dirty="0">
                <a:solidFill>
                  <a:srgbClr val="002060"/>
                </a:solidFill>
              </a:rPr>
              <a:t> </a:t>
            </a:r>
            <a:r>
              <a:rPr lang="en-US" dirty="0" err="1">
                <a:solidFill>
                  <a:srgbClr val="002060"/>
                </a:solidFill>
              </a:rPr>
              <a:t>án</a:t>
            </a:r>
            <a:r>
              <a:rPr lang="en-US" dirty="0">
                <a:solidFill>
                  <a:srgbClr val="002060"/>
                </a:solidFill>
              </a:rPr>
              <a:t> </a:t>
            </a:r>
            <a:r>
              <a:rPr lang="en-US" dirty="0" err="1">
                <a:solidFill>
                  <a:srgbClr val="002060"/>
                </a:solidFill>
              </a:rPr>
              <a:t>một</a:t>
            </a:r>
            <a:r>
              <a:rPr lang="en-US" dirty="0">
                <a:solidFill>
                  <a:srgbClr val="002060"/>
                </a:solidFill>
              </a:rPr>
              <a:t> </a:t>
            </a:r>
            <a:r>
              <a:rPr lang="en-US" dirty="0" err="1">
                <a:solidFill>
                  <a:srgbClr val="002060"/>
                </a:solidFill>
              </a:rPr>
              <a:t>cách</a:t>
            </a:r>
            <a:r>
              <a:rPr lang="en-US" dirty="0">
                <a:solidFill>
                  <a:srgbClr val="002060"/>
                </a:solidFill>
              </a:rPr>
              <a:t> </a:t>
            </a:r>
            <a:r>
              <a:rPr lang="en-US" dirty="0" err="1">
                <a:solidFill>
                  <a:srgbClr val="002060"/>
                </a:solidFill>
              </a:rPr>
              <a:t>thành</a:t>
            </a:r>
            <a:r>
              <a:rPr lang="en-US" dirty="0">
                <a:solidFill>
                  <a:srgbClr val="002060"/>
                </a:solidFill>
              </a:rPr>
              <a:t> </a:t>
            </a:r>
            <a:r>
              <a:rPr lang="en-US" dirty="0" err="1">
                <a:solidFill>
                  <a:srgbClr val="002060"/>
                </a:solidFill>
              </a:rPr>
              <a:t>công</a:t>
            </a:r>
            <a:r>
              <a:rPr lang="en-US" dirty="0">
                <a:solidFill>
                  <a:srgbClr val="002060"/>
                </a:solidFill>
              </a:rPr>
              <a:t>.</a:t>
            </a:r>
          </a:p>
          <a:p>
            <a:pPr algn="just"/>
            <a:endParaRPr lang="en-US" sz="1200" dirty="0">
              <a:solidFill>
                <a:srgbClr val="002060"/>
              </a:solidFill>
            </a:endParaRPr>
          </a:p>
          <a:p>
            <a:pPr algn="just"/>
            <a:r>
              <a:rPr lang="en-US" dirty="0" err="1">
                <a:solidFill>
                  <a:srgbClr val="002060"/>
                </a:solidFill>
              </a:rPr>
              <a:t>Quy</a:t>
            </a:r>
            <a:r>
              <a:rPr lang="en-US" dirty="0">
                <a:solidFill>
                  <a:srgbClr val="002060"/>
                </a:solidFill>
              </a:rPr>
              <a:t> </a:t>
            </a:r>
            <a:r>
              <a:rPr lang="en-US" dirty="0" err="1">
                <a:solidFill>
                  <a:srgbClr val="002060"/>
                </a:solidFill>
              </a:rPr>
              <a:t>trình</a:t>
            </a:r>
            <a:r>
              <a:rPr lang="en-US" dirty="0">
                <a:solidFill>
                  <a:srgbClr val="002060"/>
                </a:solidFill>
              </a:rPr>
              <a:t> </a:t>
            </a:r>
            <a:r>
              <a:rPr lang="en-US" dirty="0" err="1">
                <a:solidFill>
                  <a:srgbClr val="002060"/>
                </a:solidFill>
              </a:rPr>
              <a:t>chính</a:t>
            </a:r>
            <a:r>
              <a:rPr lang="en-US" dirty="0">
                <a:solidFill>
                  <a:srgbClr val="002060"/>
                </a:solidFill>
              </a:rPr>
              <a:t> </a:t>
            </a:r>
            <a:r>
              <a:rPr lang="en-US" dirty="0" err="1">
                <a:solidFill>
                  <a:srgbClr val="002060"/>
                </a:solidFill>
              </a:rPr>
              <a:t>của</a:t>
            </a:r>
            <a:r>
              <a:rPr lang="en-US" dirty="0">
                <a:solidFill>
                  <a:srgbClr val="002060"/>
                </a:solidFill>
              </a:rPr>
              <a:t> quản lý </a:t>
            </a:r>
            <a:r>
              <a:rPr lang="en-US" dirty="0" err="1">
                <a:solidFill>
                  <a:srgbClr val="002060"/>
                </a:solidFill>
              </a:rPr>
              <a:t>phạm</a:t>
            </a:r>
            <a:r>
              <a:rPr lang="en-US" dirty="0">
                <a:solidFill>
                  <a:srgbClr val="002060"/>
                </a:solidFill>
              </a:rPr>
              <a:t> vi…</a:t>
            </a:r>
            <a:endParaRPr lang="en-US" u="sng" dirty="0">
              <a:solidFill>
                <a:srgbClr val="002060"/>
              </a:solidFill>
            </a:endParaRPr>
          </a:p>
        </p:txBody>
      </p:sp>
      <p:sp>
        <p:nvSpPr>
          <p:cNvPr id="43010" name="Rectangle 2"/>
          <p:cNvSpPr>
            <a:spLocks noGrp="1" noChangeArrowheads="1"/>
          </p:cNvSpPr>
          <p:nvPr>
            <p:ph type="title"/>
          </p:nvPr>
        </p:nvSpPr>
        <p:spPr>
          <a:xfrm>
            <a:off x="457200" y="152400"/>
            <a:ext cx="8229600" cy="1143000"/>
          </a:xfrm>
        </p:spPr>
        <p:txBody>
          <a:bodyPr>
            <a:normAutofit/>
          </a:bodyPr>
          <a:lstStyle/>
          <a:p>
            <a:pPr algn="ctr"/>
            <a:r>
              <a:rPr lang="en-US" sz="4400" dirty="0" err="1">
                <a:solidFill>
                  <a:srgbClr val="0070C0"/>
                </a:solidFill>
              </a:rPr>
              <a:t>Tóm</a:t>
            </a:r>
            <a:r>
              <a:rPr lang="en-US" sz="4400" dirty="0">
                <a:solidFill>
                  <a:srgbClr val="0070C0"/>
                </a:solidFill>
              </a:rPr>
              <a:t> </a:t>
            </a:r>
            <a:r>
              <a:rPr lang="en-US" sz="4400" dirty="0" err="1">
                <a:solidFill>
                  <a:srgbClr val="0070C0"/>
                </a:solidFill>
              </a:rPr>
              <a:t>tắt</a:t>
            </a:r>
            <a:r>
              <a:rPr lang="en-US" sz="4400" dirty="0">
                <a:solidFill>
                  <a:srgbClr val="0070C0"/>
                </a:solidFill>
              </a:rPr>
              <a:t> </a:t>
            </a:r>
            <a:r>
              <a:rPr lang="en-US" sz="4400" dirty="0" err="1">
                <a:solidFill>
                  <a:srgbClr val="0070C0"/>
                </a:solidFill>
              </a:rPr>
              <a:t>chương</a:t>
            </a:r>
            <a:r>
              <a:rPr lang="en-US" sz="4400" dirty="0">
                <a:solidFill>
                  <a:srgbClr val="0070C0"/>
                </a:solidFill>
              </a:rPr>
              <a:t> 3</a:t>
            </a:r>
          </a:p>
        </p:txBody>
      </p:sp>
      <p:sp>
        <p:nvSpPr>
          <p:cNvPr id="8" name="Slide Number Placeholder 7"/>
          <p:cNvSpPr>
            <a:spLocks noGrp="1"/>
          </p:cNvSpPr>
          <p:nvPr>
            <p:ph type="sldNum" sz="quarter" idx="11"/>
          </p:nvPr>
        </p:nvSpPr>
        <p:spPr/>
        <p:txBody>
          <a:bodyPr/>
          <a:lstStyle/>
          <a:p>
            <a:pPr>
              <a:defRPr/>
            </a:pPr>
            <a:fld id="{5B88E6DB-F3C7-46D8-83C9-70FD224F3622}" type="slidenum">
              <a:rPr lang="en-US" smtClean="0"/>
              <a:pPr>
                <a:defRPr/>
              </a:pPr>
              <a:t>56</a:t>
            </a:fld>
            <a:endParaRPr lang="en-US" dirty="0"/>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pic>
        <p:nvPicPr>
          <p:cNvPr id="10" name="Picture 9"/>
          <p:cNvPicPr>
            <a:picLocks noChangeAspect="1"/>
          </p:cNvPicPr>
          <p:nvPr/>
        </p:nvPicPr>
        <p:blipFill>
          <a:blip r:embed="rId2"/>
          <a:stretch>
            <a:fillRect/>
          </a:stretch>
        </p:blipFill>
        <p:spPr>
          <a:xfrm>
            <a:off x="3429000" y="3962400"/>
            <a:ext cx="5134280" cy="2362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par>
                          <p:cTn id="11" fill="hold">
                            <p:stCondLst>
                              <p:cond delay="0"/>
                            </p:stCondLst>
                            <p:childTnLst>
                              <p:par>
                                <p:cTn id="12" presetID="8" presetClass="entr" presetSubtype="16"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diamond(in)">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304800" y="1219200"/>
            <a:ext cx="7696200" cy="4525962"/>
          </a:xfrm>
        </p:spPr>
        <p:txBody>
          <a:bodyPr/>
          <a:lstStyle/>
          <a:p>
            <a:r>
              <a:rPr lang="en-US" dirty="0" err="1"/>
              <a:t>Từ</a:t>
            </a:r>
            <a:r>
              <a:rPr lang="en-US" dirty="0"/>
              <a:t> </a:t>
            </a:r>
            <a:r>
              <a:rPr lang="en-US" dirty="0" err="1"/>
              <a:t>khóa</a:t>
            </a:r>
            <a:r>
              <a:rPr lang="en-US" dirty="0"/>
              <a:t> </a:t>
            </a:r>
            <a:r>
              <a:rPr lang="en-US" dirty="0" err="1"/>
              <a:t>chính</a:t>
            </a:r>
            <a:r>
              <a:rPr lang="en-US" dirty="0"/>
              <a:t>:</a:t>
            </a:r>
          </a:p>
          <a:p>
            <a:pPr lvl="1">
              <a:buFont typeface="Arial" panose="020B0604020202020204" pitchFamily="34" charset="0"/>
              <a:buChar char="•"/>
            </a:pPr>
            <a:r>
              <a:rPr lang="en-US" sz="2400">
                <a:solidFill>
                  <a:srgbClr val="0070C0"/>
                </a:solidFill>
              </a:rPr>
              <a:t>Plan </a:t>
            </a:r>
            <a:r>
              <a:rPr lang="en-US" sz="2400" dirty="0">
                <a:solidFill>
                  <a:srgbClr val="0070C0"/>
                </a:solidFill>
              </a:rPr>
              <a:t>scope management</a:t>
            </a:r>
          </a:p>
          <a:p>
            <a:pPr lvl="1">
              <a:buFont typeface="Arial" panose="020B0604020202020204" pitchFamily="34" charset="0"/>
              <a:buChar char="•"/>
            </a:pPr>
            <a:r>
              <a:rPr lang="en-US" sz="2400" dirty="0">
                <a:solidFill>
                  <a:srgbClr val="0070C0"/>
                </a:solidFill>
              </a:rPr>
              <a:t>Collect requirements</a:t>
            </a:r>
          </a:p>
          <a:p>
            <a:pPr lvl="1">
              <a:buFont typeface="Arial" panose="020B0604020202020204" pitchFamily="34" charset="0"/>
              <a:buChar char="•"/>
            </a:pPr>
            <a:r>
              <a:rPr lang="en-US" sz="2400" dirty="0">
                <a:solidFill>
                  <a:srgbClr val="0070C0"/>
                </a:solidFill>
              </a:rPr>
              <a:t>Define scope</a:t>
            </a:r>
          </a:p>
          <a:p>
            <a:pPr lvl="1">
              <a:buFont typeface="Arial" panose="020B0604020202020204" pitchFamily="34" charset="0"/>
              <a:buChar char="•"/>
            </a:pPr>
            <a:r>
              <a:rPr lang="en-US" sz="2400" dirty="0">
                <a:solidFill>
                  <a:srgbClr val="0070C0"/>
                </a:solidFill>
              </a:rPr>
              <a:t>Create </a:t>
            </a:r>
            <a:r>
              <a:rPr lang="en-US" sz="2400" dirty="0">
                <a:solidFill>
                  <a:srgbClr val="0070C0"/>
                </a:solidFill>
                <a:effectLst>
                  <a:outerShdw blurRad="38100" dist="38100" dir="2700000" algn="tl">
                    <a:srgbClr val="000000">
                      <a:alpha val="43137"/>
                    </a:srgbClr>
                  </a:outerShdw>
                </a:effectLst>
              </a:rPr>
              <a:t>WBS</a:t>
            </a:r>
            <a:r>
              <a:rPr lang="en-US" sz="2400" dirty="0">
                <a:solidFill>
                  <a:srgbClr val="0070C0"/>
                </a:solidFill>
              </a:rPr>
              <a:t> (Work Breakdown Structure)</a:t>
            </a:r>
          </a:p>
          <a:p>
            <a:pPr lvl="1">
              <a:buFont typeface="Arial" panose="020B0604020202020204" pitchFamily="34" charset="0"/>
              <a:buChar char="•"/>
            </a:pPr>
            <a:r>
              <a:rPr lang="en-US" sz="2400" dirty="0">
                <a:solidFill>
                  <a:srgbClr val="0070C0"/>
                </a:solidFill>
              </a:rPr>
              <a:t>Validate scope</a:t>
            </a:r>
          </a:p>
          <a:p>
            <a:pPr lvl="1">
              <a:buFont typeface="Arial" panose="020B0604020202020204" pitchFamily="34" charset="0"/>
              <a:buChar char="•"/>
            </a:pPr>
            <a:r>
              <a:rPr lang="en-US" sz="2400" dirty="0">
                <a:solidFill>
                  <a:srgbClr val="0070C0"/>
                </a:solidFill>
              </a:rPr>
              <a:t>Control scope.</a:t>
            </a:r>
          </a:p>
          <a:p>
            <a:pPr lvl="1"/>
            <a:endParaRPr lang="en-US" sz="1200" dirty="0"/>
          </a:p>
          <a:p>
            <a:r>
              <a:rPr lang="en-US" dirty="0" err="1"/>
              <a:t>Từ</a:t>
            </a:r>
            <a:r>
              <a:rPr lang="en-US" dirty="0"/>
              <a:t> </a:t>
            </a:r>
            <a:r>
              <a:rPr lang="en-US" dirty="0" err="1"/>
              <a:t>khóa</a:t>
            </a:r>
            <a:r>
              <a:rPr lang="en-US" dirty="0"/>
              <a:t> </a:t>
            </a:r>
            <a:r>
              <a:rPr lang="en-US" dirty="0" err="1"/>
              <a:t>liên</a:t>
            </a:r>
            <a:r>
              <a:rPr lang="en-US" dirty="0"/>
              <a:t> </a:t>
            </a:r>
            <a:r>
              <a:rPr lang="en-US" dirty="0" err="1"/>
              <a:t>quan</a:t>
            </a:r>
            <a:r>
              <a:rPr lang="en-US" dirty="0"/>
              <a:t>:</a:t>
            </a:r>
          </a:p>
          <a:p>
            <a:pPr lvl="1">
              <a:buFont typeface="Arial" panose="020B0604020202020204" pitchFamily="34" charset="0"/>
              <a:buChar char="•"/>
            </a:pPr>
            <a:r>
              <a:rPr lang="en-US" sz="2400" dirty="0">
                <a:solidFill>
                  <a:srgbClr val="0070C0"/>
                </a:solidFill>
              </a:rPr>
              <a:t>Scope baseline</a:t>
            </a:r>
          </a:p>
          <a:p>
            <a:pPr lvl="1">
              <a:buFont typeface="Arial" panose="020B0604020202020204" pitchFamily="34" charset="0"/>
              <a:buChar char="•"/>
            </a:pPr>
            <a:r>
              <a:rPr lang="en-US" sz="2400" dirty="0">
                <a:solidFill>
                  <a:srgbClr val="0070C0"/>
                </a:solidFill>
                <a:effectLst>
                  <a:outerShdw blurRad="38100" dist="38100" dir="2700000" algn="tl">
                    <a:srgbClr val="000000">
                      <a:alpha val="43137"/>
                    </a:srgbClr>
                  </a:outerShdw>
                </a:effectLst>
              </a:rPr>
              <a:t>RTM</a:t>
            </a:r>
            <a:r>
              <a:rPr lang="en-US" sz="2400" dirty="0">
                <a:solidFill>
                  <a:srgbClr val="0070C0"/>
                </a:solidFill>
              </a:rPr>
              <a:t> (Requirements Traceability Matrix)…</a:t>
            </a:r>
          </a:p>
        </p:txBody>
      </p:sp>
      <p:sp>
        <p:nvSpPr>
          <p:cNvPr id="43010" name="Rectangle 2"/>
          <p:cNvSpPr>
            <a:spLocks noGrp="1" noChangeArrowheads="1"/>
          </p:cNvSpPr>
          <p:nvPr>
            <p:ph type="title"/>
          </p:nvPr>
        </p:nvSpPr>
        <p:spPr>
          <a:xfrm>
            <a:off x="457200" y="76200"/>
            <a:ext cx="8229600" cy="1143000"/>
          </a:xfrm>
        </p:spPr>
        <p:txBody>
          <a:bodyPr>
            <a:normAutofit/>
          </a:bodyPr>
          <a:lstStyle/>
          <a:p>
            <a:pPr algn="ctr"/>
            <a:r>
              <a:rPr lang="en-US" sz="4400" dirty="0" err="1">
                <a:solidFill>
                  <a:srgbClr val="0070C0"/>
                </a:solidFill>
              </a:rPr>
              <a:t>Từ</a:t>
            </a:r>
            <a:r>
              <a:rPr lang="en-US" sz="4400" dirty="0">
                <a:solidFill>
                  <a:srgbClr val="0070C0"/>
                </a:solidFill>
              </a:rPr>
              <a:t> </a:t>
            </a:r>
            <a:r>
              <a:rPr lang="en-US" sz="4400" dirty="0" err="1">
                <a:solidFill>
                  <a:srgbClr val="0070C0"/>
                </a:solidFill>
              </a:rPr>
              <a:t>khóa</a:t>
            </a:r>
            <a:endParaRPr lang="en-US" sz="4400" dirty="0">
              <a:solidFill>
                <a:srgbClr val="0070C0"/>
              </a:solidFill>
            </a:endParaRPr>
          </a:p>
        </p:txBody>
      </p:sp>
      <p:sp>
        <p:nvSpPr>
          <p:cNvPr id="8" name="Slide Number Placeholder 7"/>
          <p:cNvSpPr>
            <a:spLocks noGrp="1"/>
          </p:cNvSpPr>
          <p:nvPr>
            <p:ph type="sldNum" sz="quarter" idx="11"/>
          </p:nvPr>
        </p:nvSpPr>
        <p:spPr/>
        <p:txBody>
          <a:bodyPr/>
          <a:lstStyle/>
          <a:p>
            <a:pPr>
              <a:defRPr/>
            </a:pPr>
            <a:fld id="{5B88E6DB-F3C7-46D8-83C9-70FD224F3622}" type="slidenum">
              <a:rPr lang="en-US" smtClean="0"/>
              <a:pPr>
                <a:defRPr/>
              </a:pPr>
              <a:t>57</a:t>
            </a:fld>
            <a:endParaRPr lang="en-US" dirty="0"/>
          </a:p>
        </p:txBody>
      </p:sp>
      <p:pic>
        <p:nvPicPr>
          <p:cNvPr id="2" name="Picture 1"/>
          <p:cNvPicPr>
            <a:picLocks noChangeAspect="1"/>
          </p:cNvPicPr>
          <p:nvPr/>
        </p:nvPicPr>
        <p:blipFill>
          <a:blip r:embed="rId2"/>
          <a:stretch>
            <a:fillRect/>
          </a:stretch>
        </p:blipFill>
        <p:spPr>
          <a:xfrm>
            <a:off x="7010400" y="3657600"/>
            <a:ext cx="1476375" cy="1494490"/>
          </a:xfrm>
          <a:prstGeom prst="rect">
            <a:avLst/>
          </a:prstGeom>
        </p:spPr>
      </p:pic>
      <p:sp>
        <p:nvSpPr>
          <p:cNvPr id="6"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197891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1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01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011">
                                            <p:txEl>
                                              <p:pRg st="10" end="10"/>
                                            </p:txEl>
                                          </p:spTgt>
                                        </p:tgtEl>
                                        <p:attrNameLst>
                                          <p:attrName>style.visibility</p:attrName>
                                        </p:attrNameLst>
                                      </p:cBhvr>
                                      <p:to>
                                        <p:strVal val="visible"/>
                                      </p:to>
                                    </p:set>
                                  </p:childTnLst>
                                </p:cTn>
                              </p:par>
                            </p:childTnLst>
                          </p:cTn>
                        </p:par>
                        <p:par>
                          <p:cTn id="27" fill="hold">
                            <p:stCondLst>
                              <p:cond delay="0"/>
                            </p:stCondLst>
                            <p:childTnLst>
                              <p:par>
                                <p:cTn id="28" presetID="8" presetClass="entr" presetSubtype="16"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diamond(in)">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609600" y="1447800"/>
            <a:ext cx="7696200" cy="609600"/>
          </a:xfrm>
          <a:solidFill>
            <a:schemeClr val="bg2"/>
          </a:solidFill>
        </p:spPr>
        <p:txBody>
          <a:bodyPr/>
          <a:lstStyle/>
          <a:p>
            <a:pPr>
              <a:buSzPct val="100000"/>
            </a:pPr>
            <a:r>
              <a:rPr lang="vi-VN"/>
              <a:t>Dùng </a:t>
            </a:r>
            <a:r>
              <a:rPr lang="vi-VN">
                <a:hlinkClick r:id="rId2" action="ppaction://hlinkfile"/>
              </a:rPr>
              <a:t>MS </a:t>
            </a:r>
            <a:r>
              <a:rPr lang="vi-VN" dirty="0">
                <a:hlinkClick r:id="rId2" action="ppaction://hlinkfile"/>
              </a:rPr>
              <a:t>Project</a:t>
            </a:r>
            <a:r>
              <a:rPr lang="vi-VN" dirty="0"/>
              <a:t> tạo WBS theo như hình...</a:t>
            </a:r>
            <a:endParaRPr lang="vi-VN" sz="2400" dirty="0"/>
          </a:p>
        </p:txBody>
      </p:sp>
      <p:sp>
        <p:nvSpPr>
          <p:cNvPr id="62466" name="Rectangle 2"/>
          <p:cNvSpPr>
            <a:spLocks noGrp="1" noChangeArrowheads="1"/>
          </p:cNvSpPr>
          <p:nvPr>
            <p:ph type="title"/>
          </p:nvPr>
        </p:nvSpPr>
        <p:spPr>
          <a:xfrm>
            <a:off x="381000" y="0"/>
            <a:ext cx="8382000" cy="1143000"/>
          </a:xfrm>
        </p:spPr>
        <p:txBody>
          <a:bodyPr>
            <a:normAutofit/>
          </a:bodyPr>
          <a:lstStyle/>
          <a:p>
            <a:pPr algn="ctr"/>
            <a:r>
              <a:rPr lang="en-US" sz="4400" dirty="0" err="1">
                <a:solidFill>
                  <a:srgbClr val="0070C0"/>
                </a:solidFill>
              </a:rPr>
              <a:t>Bài</a:t>
            </a:r>
            <a:r>
              <a:rPr lang="en-US" sz="4400" dirty="0">
                <a:solidFill>
                  <a:srgbClr val="0070C0"/>
                </a:solidFill>
              </a:rPr>
              <a:t> </a:t>
            </a:r>
            <a:r>
              <a:rPr lang="en-US" sz="4400" dirty="0" err="1">
                <a:solidFill>
                  <a:srgbClr val="0070C0"/>
                </a:solidFill>
              </a:rPr>
              <a:t>tập</a:t>
            </a:r>
            <a:r>
              <a:rPr lang="en-US" sz="4400" dirty="0">
                <a:solidFill>
                  <a:srgbClr val="0070C0"/>
                </a:solidFill>
              </a:rPr>
              <a:t> </a:t>
            </a:r>
            <a:r>
              <a:rPr lang="en-US" sz="4400" dirty="0" err="1">
                <a:solidFill>
                  <a:srgbClr val="0070C0"/>
                </a:solidFill>
              </a:rPr>
              <a:t>về</a:t>
            </a:r>
            <a:r>
              <a:rPr lang="en-US" sz="4400" dirty="0">
                <a:solidFill>
                  <a:srgbClr val="0070C0"/>
                </a:solidFill>
              </a:rPr>
              <a:t> </a:t>
            </a:r>
            <a:r>
              <a:rPr lang="en-US" sz="4400" dirty="0" err="1">
                <a:solidFill>
                  <a:srgbClr val="0070C0"/>
                </a:solidFill>
              </a:rPr>
              <a:t>nhà</a:t>
            </a:r>
            <a:endParaRPr lang="en-US" sz="4400" dirty="0">
              <a:solidFill>
                <a:srgbClr val="0070C0"/>
              </a:solidFill>
            </a:endParaRPr>
          </a:p>
        </p:txBody>
      </p:sp>
      <p:sp>
        <p:nvSpPr>
          <p:cNvPr id="6" name="Slide Number Placeholder 5"/>
          <p:cNvSpPr>
            <a:spLocks noGrp="1"/>
          </p:cNvSpPr>
          <p:nvPr>
            <p:ph type="sldNum" sz="quarter" idx="11"/>
          </p:nvPr>
        </p:nvSpPr>
        <p:spPr/>
        <p:txBody>
          <a:bodyPr/>
          <a:lstStyle/>
          <a:p>
            <a:pPr>
              <a:defRPr/>
            </a:pPr>
            <a:fld id="{F9CDE221-7D09-4E72-84A7-688BE7B60DEB}" type="slidenum">
              <a:rPr lang="en-US" smtClean="0"/>
              <a:pPr>
                <a:defRPr/>
              </a:pPr>
              <a:t>58</a:t>
            </a:fld>
            <a:endParaRPr lang="en-US" dirty="0"/>
          </a:p>
        </p:txBody>
      </p:sp>
      <p:pic>
        <p:nvPicPr>
          <p:cNvPr id="2" name="Picture 1"/>
          <p:cNvPicPr>
            <a:picLocks noChangeAspect="1"/>
          </p:cNvPicPr>
          <p:nvPr/>
        </p:nvPicPr>
        <p:blipFill>
          <a:blip r:embed="rId3"/>
          <a:stretch>
            <a:fillRect/>
          </a:stretch>
        </p:blipFill>
        <p:spPr>
          <a:xfrm>
            <a:off x="0" y="2514600"/>
            <a:ext cx="9144000" cy="3619354"/>
          </a:xfrm>
          <a:prstGeom prst="rect">
            <a:avLst/>
          </a:prstGeom>
        </p:spPr>
      </p:pic>
    </p:spTree>
    <p:extLst>
      <p:ext uri="{BB962C8B-B14F-4D97-AF65-F5344CB8AC3E}">
        <p14:creationId xmlns:p14="http://schemas.microsoft.com/office/powerpoint/2010/main" val="388006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81000" y="1219200"/>
            <a:ext cx="8229600" cy="2133600"/>
          </a:xfrm>
        </p:spPr>
        <p:txBody>
          <a:bodyPr>
            <a:noAutofit/>
          </a:bodyPr>
          <a:lstStyle/>
          <a:p>
            <a:pPr algn="ctr" eaLnBrk="1" fontAlgn="auto" hangingPunct="1">
              <a:spcAft>
                <a:spcPts val="0"/>
              </a:spcAft>
              <a:defRPr/>
            </a:pPr>
            <a:r>
              <a:rPr lang="vi-VN" sz="7200" dirty="0">
                <a:effectLst>
                  <a:outerShdw blurRad="38100" dist="38100" dir="2700000" algn="tl">
                    <a:srgbClr val="000000">
                      <a:alpha val="43137"/>
                    </a:srgbClr>
                  </a:outerShdw>
                </a:effectLst>
                <a:latin typeface="Arial Rounded MT Bold" pitchFamily="34" charset="0"/>
              </a:rPr>
              <a:t>Q&amp;A</a:t>
            </a:r>
            <a:endParaRPr sz="7200" dirty="0">
              <a:effectLst>
                <a:outerShdw blurRad="38100" dist="38100" dir="2700000" algn="tl">
                  <a:srgbClr val="000000">
                    <a:alpha val="43137"/>
                  </a:srgbClr>
                </a:outerShdw>
              </a:effectLst>
              <a:latin typeface="Arial Rounded MT Bold" pitchFamily="34" charset="0"/>
            </a:endParaRPr>
          </a:p>
        </p:txBody>
      </p:sp>
    </p:spTree>
    <p:extLst>
      <p:ext uri="{BB962C8B-B14F-4D97-AF65-F5344CB8AC3E}">
        <p14:creationId xmlns:p14="http://schemas.microsoft.com/office/powerpoint/2010/main" val="37124758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8600" y="914400"/>
            <a:ext cx="8610600" cy="1349375"/>
          </a:xfrm>
        </p:spPr>
        <p:txBody>
          <a:bodyPr>
            <a:noAutofit/>
          </a:bodyPr>
          <a:lstStyle/>
          <a:p>
            <a:pPr eaLnBrk="1" fontAlgn="auto" hangingPunct="1">
              <a:spcAft>
                <a:spcPts val="0"/>
              </a:spcAft>
              <a:defRPr/>
            </a:pPr>
            <a:r>
              <a:rPr lang="vi-VN" b="0" dirty="0">
                <a:effectLst/>
              </a:rPr>
              <a:t>Chương kế tiếp...</a:t>
            </a:r>
            <a:br>
              <a:rPr b="0" dirty="0">
                <a:effectLst/>
              </a:rPr>
            </a:br>
            <a:r>
              <a:rPr lang="vi-VN" b="0" dirty="0">
                <a:effectLst/>
              </a:rPr>
              <a:t>QUẢN LÝ THỜI GIAN DỰ ÁN</a:t>
            </a:r>
            <a:endParaRPr b="0" dirty="0">
              <a:effectLst/>
            </a:endParaRPr>
          </a:p>
        </p:txBody>
      </p:sp>
      <p:pic>
        <p:nvPicPr>
          <p:cNvPr id="4" name="Picture 3">
            <a:extLst>
              <a:ext uri="{FF2B5EF4-FFF2-40B4-BE49-F238E27FC236}">
                <a16:creationId xmlns:a16="http://schemas.microsoft.com/office/drawing/2014/main" id="{3492C480-B767-4DC8-99D4-0F8055F1EDB9}"/>
              </a:ext>
            </a:extLst>
          </p:cNvPr>
          <p:cNvPicPr>
            <a:picLocks noChangeAspect="1"/>
          </p:cNvPicPr>
          <p:nvPr/>
        </p:nvPicPr>
        <p:blipFill>
          <a:blip r:embed="rId3"/>
          <a:stretch>
            <a:fillRect/>
          </a:stretch>
        </p:blipFill>
        <p:spPr>
          <a:xfrm>
            <a:off x="3456238" y="3429000"/>
            <a:ext cx="2231524" cy="27550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4549538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4334</TotalTime>
  <Words>2710</Words>
  <Application>Microsoft Office PowerPoint</Application>
  <PresentationFormat>On-screen Show (4:3)</PresentationFormat>
  <Paragraphs>351</Paragraphs>
  <Slides>60</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60</vt:i4>
      </vt:variant>
    </vt:vector>
  </HeadingPairs>
  <TitlesOfParts>
    <vt:vector size="70" baseType="lpstr">
      <vt:lpstr>Arial</vt:lpstr>
      <vt:lpstr>Arial Rounded MT Bold</vt:lpstr>
      <vt:lpstr>Calibri</vt:lpstr>
      <vt:lpstr>Lucida Sans Unicode</vt:lpstr>
      <vt:lpstr>Times New Roman</vt:lpstr>
      <vt:lpstr>Verdana</vt:lpstr>
      <vt:lpstr>Wingdings 2</vt:lpstr>
      <vt:lpstr>Wingdings 3</vt:lpstr>
      <vt:lpstr>Custom Design</vt:lpstr>
      <vt:lpstr>Theme1</vt:lpstr>
      <vt:lpstr>Chương 3 QUẢN LÝ PHẠM VI DỰ ÁN</vt:lpstr>
      <vt:lpstr>Mục tiêu chương 3</vt:lpstr>
      <vt:lpstr>Nhắc lại kiến thức</vt:lpstr>
      <vt:lpstr>Khung quản lý dự án</vt:lpstr>
      <vt:lpstr> QUẢN LÝ PHẠM VI DỰ ÁN</vt:lpstr>
      <vt:lpstr>QUẢN LÝ PHẠM VI DỰ ÁN</vt:lpstr>
      <vt:lpstr>Quản lý phạm vi dự án</vt:lpstr>
      <vt:lpstr>Tương tác trong dự án [phạm vi]</vt:lpstr>
      <vt:lpstr>Quản lý phạm vi dự án [6]</vt:lpstr>
      <vt:lpstr>Quy trình quản lý phạm vi</vt:lpstr>
      <vt:lpstr>Quy trình quản lý phạm vi (tt)</vt:lpstr>
      <vt:lpstr>Tóm tắt quản lý phạm vi dự án</vt:lpstr>
      <vt:lpstr>Quản lý phạm vi dự án [1/6]</vt:lpstr>
      <vt:lpstr>1. Kế hoạch quản lý phạm vi</vt:lpstr>
      <vt:lpstr>Nội dung của kế hoạch phạm vi</vt:lpstr>
      <vt:lpstr>Quản lý phạm vi dự án [2/6]</vt:lpstr>
      <vt:lpstr>2. Thu thập yêu cầu</vt:lpstr>
      <vt:lpstr>Kế hoạch quản lý yêu cầu</vt:lpstr>
      <vt:lpstr>Một khảo sát của PMI (2016)</vt:lpstr>
      <vt:lpstr>Chi phí trong dự án phần mềm </vt:lpstr>
      <vt:lpstr>Tham khảo thêm…</vt:lpstr>
      <vt:lpstr>Phương pháp thu thập yêu cầu</vt:lpstr>
      <vt:lpstr>Thống kê về yêu cầu</vt:lpstr>
      <vt:lpstr>Ma trận lưu vết yêu cầu</vt:lpstr>
      <vt:lpstr>Quản lý phạm vi dự án [3/6]</vt:lpstr>
      <vt:lpstr>3. Xác định phạm vi</vt:lpstr>
      <vt:lpstr>Ví dụ, điều lệ dự án</vt:lpstr>
      <vt:lpstr>PowerPoint Presentation</vt:lpstr>
      <vt:lpstr>Ví dụ, tuyên bố phạm vi dự án</vt:lpstr>
      <vt:lpstr>Quản lý phạm vi dự án [4/6]</vt:lpstr>
      <vt:lpstr>4. Tạo phân rã công việc (WBS)</vt:lpstr>
      <vt:lpstr>Đường cơ sở phạm vi</vt:lpstr>
      <vt:lpstr>Ví dụ, WBS theo sản phẩm</vt:lpstr>
      <vt:lpstr>Ví dụ, WBS theo giai đoạn</vt:lpstr>
      <vt:lpstr>PowerPoint Presentation</vt:lpstr>
      <vt:lpstr>Ví dụ, sơ đồ Gantt và WBS</vt:lpstr>
      <vt:lpstr>Ví dụ, sơ đồ Gantt theo quy trình</vt:lpstr>
      <vt:lpstr>Ví dụ, WBS tác vụ thực thi</vt:lpstr>
      <vt:lpstr>Các tiếp cận để tạo WBS</vt:lpstr>
      <vt:lpstr>Ví dụ, dùng bản đồ tư duy tạo WBS</vt:lpstr>
      <vt:lpstr>Ví dụ, dùng bản đồ tư duy tạo WBS (tt)</vt:lpstr>
      <vt:lpstr>Từ điển WBS</vt:lpstr>
      <vt:lpstr>Ví dụ, từ điển WBS</vt:lpstr>
      <vt:lpstr>Ghi chú về WBS và từ điển WBS</vt:lpstr>
      <vt:lpstr>Ghi chú về WBS và từ điển WBS (tt)</vt:lpstr>
      <vt:lpstr>Ví dụ, dự án đóng một chiếc bè</vt:lpstr>
      <vt:lpstr>PowerPoint Presentation</vt:lpstr>
      <vt:lpstr>FoxMeyer và McDonald</vt:lpstr>
      <vt:lpstr>Quản lý phạm vi dự án [5/6]</vt:lpstr>
      <vt:lpstr>5. Xác nhận phạm vi</vt:lpstr>
      <vt:lpstr>Quản lý phạm vi dự án [6/6]</vt:lpstr>
      <vt:lpstr>6. Kiểm soát phạm vi</vt:lpstr>
      <vt:lpstr>Phần mềm hỗ trợ quản lý phạm vi</vt:lpstr>
      <vt:lpstr>PowerPoint Presentation</vt:lpstr>
      <vt:lpstr> TÓM TẮT &amp; TỪ KHÓA </vt:lpstr>
      <vt:lpstr>Tóm tắt chương 3</vt:lpstr>
      <vt:lpstr>Từ khóa</vt:lpstr>
      <vt:lpstr>Bài tập về nhà</vt:lpstr>
      <vt:lpstr>Q&amp;A</vt:lpstr>
      <vt:lpstr>Chương kế tiếp... QUẢN LÝ THỜI GIAN DỰ ÁN</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Tung Le</cp:lastModifiedBy>
  <cp:revision>430</cp:revision>
  <dcterms:created xsi:type="dcterms:W3CDTF">2001-07-05T23:10:12Z</dcterms:created>
  <dcterms:modified xsi:type="dcterms:W3CDTF">2024-02-27T13:07:23Z</dcterms:modified>
</cp:coreProperties>
</file>