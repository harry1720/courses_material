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912" r:id="rId2"/>
  </p:sldMasterIdLst>
  <p:notesMasterIdLst>
    <p:notesMasterId r:id="rId68"/>
  </p:notesMasterIdLst>
  <p:handoutMasterIdLst>
    <p:handoutMasterId r:id="rId69"/>
  </p:handoutMasterIdLst>
  <p:sldIdLst>
    <p:sldId id="257" r:id="rId3"/>
    <p:sldId id="406" r:id="rId4"/>
    <p:sldId id="397" r:id="rId5"/>
    <p:sldId id="398" r:id="rId6"/>
    <p:sldId id="399" r:id="rId7"/>
    <p:sldId id="400" r:id="rId8"/>
    <p:sldId id="414" r:id="rId9"/>
    <p:sldId id="338" r:id="rId10"/>
    <p:sldId id="393" r:id="rId11"/>
    <p:sldId id="395" r:id="rId12"/>
    <p:sldId id="396" r:id="rId13"/>
    <p:sldId id="339" r:id="rId14"/>
    <p:sldId id="378" r:id="rId15"/>
    <p:sldId id="386" r:id="rId16"/>
    <p:sldId id="352" r:id="rId17"/>
    <p:sldId id="351" r:id="rId18"/>
    <p:sldId id="415" r:id="rId19"/>
    <p:sldId id="347" r:id="rId20"/>
    <p:sldId id="348" r:id="rId21"/>
    <p:sldId id="418" r:id="rId22"/>
    <p:sldId id="416" r:id="rId23"/>
    <p:sldId id="346" r:id="rId24"/>
    <p:sldId id="354" r:id="rId25"/>
    <p:sldId id="353" r:id="rId26"/>
    <p:sldId id="420" r:id="rId27"/>
    <p:sldId id="355" r:id="rId28"/>
    <p:sldId id="356" r:id="rId29"/>
    <p:sldId id="401" r:id="rId30"/>
    <p:sldId id="340" r:id="rId31"/>
    <p:sldId id="341" r:id="rId32"/>
    <p:sldId id="404" r:id="rId33"/>
    <p:sldId id="343" r:id="rId34"/>
    <p:sldId id="405" r:id="rId35"/>
    <p:sldId id="402" r:id="rId36"/>
    <p:sldId id="388" r:id="rId37"/>
    <p:sldId id="389" r:id="rId38"/>
    <p:sldId id="390" r:id="rId39"/>
    <p:sldId id="391" r:id="rId40"/>
    <p:sldId id="349" r:id="rId41"/>
    <p:sldId id="379" r:id="rId42"/>
    <p:sldId id="357" r:id="rId43"/>
    <p:sldId id="403" r:id="rId44"/>
    <p:sldId id="392" r:id="rId45"/>
    <p:sldId id="361" r:id="rId46"/>
    <p:sldId id="364" r:id="rId47"/>
    <p:sldId id="380" r:id="rId48"/>
    <p:sldId id="419" r:id="rId49"/>
    <p:sldId id="365" r:id="rId50"/>
    <p:sldId id="366" r:id="rId51"/>
    <p:sldId id="385" r:id="rId52"/>
    <p:sldId id="394" r:id="rId53"/>
    <p:sldId id="368" r:id="rId54"/>
    <p:sldId id="369" r:id="rId55"/>
    <p:sldId id="370" r:id="rId56"/>
    <p:sldId id="371" r:id="rId57"/>
    <p:sldId id="372" r:id="rId58"/>
    <p:sldId id="382" r:id="rId59"/>
    <p:sldId id="373" r:id="rId60"/>
    <p:sldId id="374" r:id="rId61"/>
    <p:sldId id="376" r:id="rId62"/>
    <p:sldId id="407" r:id="rId63"/>
    <p:sldId id="408" r:id="rId64"/>
    <p:sldId id="409" r:id="rId65"/>
    <p:sldId id="412" r:id="rId66"/>
    <p:sldId id="413" r:id="rId67"/>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0" autoAdjust="0"/>
    <p:restoredTop sz="87500" autoAdjust="0"/>
  </p:normalViewPr>
  <p:slideViewPr>
    <p:cSldViewPr>
      <p:cViewPr varScale="1">
        <p:scale>
          <a:sx n="81" d="100"/>
          <a:sy n="81" d="100"/>
        </p:scale>
        <p:origin x="96" y="11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040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591C4D6C-6EDE-49B0-A311-F32A12FED5D1}" type="slidenum">
              <a:rPr lang="en-US"/>
              <a:pPr>
                <a:defRPr/>
              </a:pPr>
              <a:t>‹#›</a:t>
            </a:fld>
            <a:endParaRPr lang="en-US" dirty="0"/>
          </a:p>
        </p:txBody>
      </p:sp>
    </p:spTree>
    <p:extLst>
      <p:ext uri="{BB962C8B-B14F-4D97-AF65-F5344CB8AC3E}">
        <p14:creationId xmlns:p14="http://schemas.microsoft.com/office/powerpoint/2010/main" val="14002932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42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46F34499-B82A-45E5-967D-F3C4D18AFBEB}" type="slidenum">
              <a:rPr lang="en-US"/>
              <a:pPr>
                <a:defRPr/>
              </a:pPr>
              <a:t>‹#›</a:t>
            </a:fld>
            <a:endParaRPr lang="en-US" dirty="0"/>
          </a:p>
        </p:txBody>
      </p:sp>
    </p:spTree>
    <p:extLst>
      <p:ext uri="{BB962C8B-B14F-4D97-AF65-F5344CB8AC3E}">
        <p14:creationId xmlns:p14="http://schemas.microsoft.com/office/powerpoint/2010/main" val="24011416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pPr eaLnBrk="1" hangingPunct="1"/>
            <a:endParaRPr lang="en-US" dirty="0"/>
          </a:p>
        </p:txBody>
      </p:sp>
      <p:sp>
        <p:nvSpPr>
          <p:cNvPr id="55300" name="Slide Number Placeholder 3"/>
          <p:cNvSpPr>
            <a:spLocks noGrp="1"/>
          </p:cNvSpPr>
          <p:nvPr>
            <p:ph type="sldNum" sz="quarter" idx="5"/>
          </p:nvPr>
        </p:nvSpPr>
        <p:spPr>
          <a:noFill/>
        </p:spPr>
        <p:txBody>
          <a:bodyPr/>
          <a:lstStyle/>
          <a:p>
            <a:fld id="{BF5120FB-DB2F-4316-B49C-3147D5074945}" type="slidenum">
              <a:rPr lang="en-US" smtClean="0"/>
              <a:pPr/>
              <a:t>1</a:t>
            </a:fld>
            <a:endParaRPr lang="en-US" dirty="0"/>
          </a:p>
        </p:txBody>
      </p:sp>
    </p:spTree>
    <p:extLst>
      <p:ext uri="{BB962C8B-B14F-4D97-AF65-F5344CB8AC3E}">
        <p14:creationId xmlns:p14="http://schemas.microsoft.com/office/powerpoint/2010/main" val="2888702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B628D5B-A7C7-42E0-BFEE-8A6E6DE4D620}" type="slidenum">
              <a:rPr lang="en-US" smtClean="0"/>
              <a:pPr>
                <a:defRPr/>
              </a:pPr>
              <a:t>2</a:t>
            </a:fld>
            <a:endParaRPr lang="en-US" dirty="0"/>
          </a:p>
        </p:txBody>
      </p:sp>
    </p:spTree>
    <p:extLst>
      <p:ext uri="{BB962C8B-B14F-4D97-AF65-F5344CB8AC3E}">
        <p14:creationId xmlns:p14="http://schemas.microsoft.com/office/powerpoint/2010/main" val="2146707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4</a:t>
            </a:fld>
            <a:endParaRPr lang="en-US" dirty="0"/>
          </a:p>
        </p:txBody>
      </p:sp>
    </p:spTree>
    <p:extLst>
      <p:ext uri="{BB962C8B-B14F-4D97-AF65-F5344CB8AC3E}">
        <p14:creationId xmlns:p14="http://schemas.microsoft.com/office/powerpoint/2010/main" val="692391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Ví</a:t>
            </a:r>
            <a:r>
              <a:rPr lang="vi-VN" baseline="0" dirty="0"/>
              <a:t> dụ, IT manager của BAT</a:t>
            </a:r>
            <a:endParaRPr lang="vi-VN" dirty="0"/>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8</a:t>
            </a:fld>
            <a:endParaRPr lang="en-US" dirty="0"/>
          </a:p>
        </p:txBody>
      </p:sp>
    </p:spTree>
    <p:extLst>
      <p:ext uri="{BB962C8B-B14F-4D97-AF65-F5344CB8AC3E}">
        <p14:creationId xmlns:p14="http://schemas.microsoft.com/office/powerpoint/2010/main" val="2390957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94DE4318-E4BE-49A8-80E2-9AEFB83AE894}" type="slidenum">
              <a:rPr lang="en-US" smtClean="0"/>
              <a:pPr>
                <a:defRPr/>
              </a:pPr>
              <a:t>10</a:t>
            </a:fld>
            <a:endParaRPr lang="en-US" dirty="0"/>
          </a:p>
        </p:txBody>
      </p:sp>
    </p:spTree>
    <p:extLst>
      <p:ext uri="{BB962C8B-B14F-4D97-AF65-F5344CB8AC3E}">
        <p14:creationId xmlns:p14="http://schemas.microsoft.com/office/powerpoint/2010/main" val="3858659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15</a:t>
            </a:fld>
            <a:endParaRPr lang="en-US" dirty="0"/>
          </a:p>
        </p:txBody>
      </p:sp>
    </p:spTree>
    <p:extLst>
      <p:ext uri="{BB962C8B-B14F-4D97-AF65-F5344CB8AC3E}">
        <p14:creationId xmlns:p14="http://schemas.microsoft.com/office/powerpoint/2010/main" val="332849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Daily stand-up</a:t>
            </a:r>
            <a:r>
              <a:rPr lang="en-US" baseline="0" dirty="0"/>
              <a:t> meeting…</a:t>
            </a:r>
            <a:endParaRPr lang="vi-VN" dirty="0"/>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20</a:t>
            </a:fld>
            <a:endParaRPr lang="en-US" dirty="0"/>
          </a:p>
        </p:txBody>
      </p:sp>
    </p:spTree>
    <p:extLst>
      <p:ext uri="{BB962C8B-B14F-4D97-AF65-F5344CB8AC3E}">
        <p14:creationId xmlns:p14="http://schemas.microsoft.com/office/powerpoint/2010/main" val="315684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dirty="0"/>
              <a:t>Insanely: </a:t>
            </a:r>
            <a:r>
              <a:rPr lang="vi-VN" dirty="0">
                <a:effectLst/>
              </a:rPr>
              <a:t>điên rồ</a:t>
            </a:r>
            <a:br>
              <a:rPr lang="vi-VN" dirty="0">
                <a:effectLst/>
              </a:rPr>
            </a:br>
            <a:r>
              <a:rPr lang="vi-VN" dirty="0">
                <a:effectLst/>
              </a:rPr>
              <a:t>raccoon: gấu</a:t>
            </a:r>
          </a:p>
          <a:p>
            <a:pPr marL="0" marR="0" indent="0" algn="l" defTabSz="914400" rtl="0" eaLnBrk="0" fontAlgn="base" latinLnBrk="0" hangingPunct="0">
              <a:lnSpc>
                <a:spcPct val="100000"/>
              </a:lnSpc>
              <a:spcBef>
                <a:spcPct val="30000"/>
              </a:spcBef>
              <a:spcAft>
                <a:spcPct val="0"/>
              </a:spcAft>
              <a:buClrTx/>
              <a:buSzTx/>
              <a:buFontTx/>
              <a:buNone/>
              <a:tabLst/>
              <a:defRPr/>
            </a:pPr>
            <a:endParaRPr lang="vi-VN" sz="1200" dirty="0"/>
          </a:p>
        </p:txBody>
      </p:sp>
      <p:sp>
        <p:nvSpPr>
          <p:cNvPr id="4" name="Slide Number Placeholder 3"/>
          <p:cNvSpPr>
            <a:spLocks noGrp="1"/>
          </p:cNvSpPr>
          <p:nvPr>
            <p:ph type="sldNum" sz="quarter" idx="10"/>
          </p:nvPr>
        </p:nvSpPr>
        <p:spPr/>
        <p:txBody>
          <a:bodyPr/>
          <a:lstStyle/>
          <a:p>
            <a:pPr>
              <a:defRPr/>
            </a:pPr>
            <a:fld id="{F3E0F2AC-4C8B-4E69-98D8-4FC3D927D0D2}" type="slidenum">
              <a:rPr lang="en-US" smtClean="0"/>
              <a:pPr>
                <a:defRPr/>
              </a:pPr>
              <a:t>21</a:t>
            </a:fld>
            <a:endParaRPr lang="en-US" dirty="0"/>
          </a:p>
        </p:txBody>
      </p:sp>
    </p:spTree>
    <p:extLst>
      <p:ext uri="{BB962C8B-B14F-4D97-AF65-F5344CB8AC3E}">
        <p14:creationId xmlns:p14="http://schemas.microsoft.com/office/powerpoint/2010/main" val="2799269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Ví</a:t>
            </a:r>
            <a:r>
              <a:rPr lang="vi-VN" baseline="0" dirty="0"/>
              <a:t> dụ, chứng khoán., tinh hành lang...</a:t>
            </a:r>
            <a:endParaRPr lang="vi-VN" dirty="0"/>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22</a:t>
            </a:fld>
            <a:endParaRPr lang="en-US" dirty="0"/>
          </a:p>
        </p:txBody>
      </p:sp>
    </p:spTree>
    <p:extLst>
      <p:ext uri="{BB962C8B-B14F-4D97-AF65-F5344CB8AC3E}">
        <p14:creationId xmlns:p14="http://schemas.microsoft.com/office/powerpoint/2010/main" val="15900113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vi-VN" sz="2000" dirty="0"/>
              <a:t>Nếu vấn đề tồn tại</a:t>
            </a:r>
            <a:r>
              <a:rPr lang="vi-VN" sz="2000" baseline="0" dirty="0"/>
              <a:t> thì </a:t>
            </a:r>
            <a:r>
              <a:rPr lang="vi-VN" sz="2000" dirty="0"/>
              <a:t>cần phải hành động, đòi hỏi những thay đổi quy trình lập</a:t>
            </a:r>
            <a:r>
              <a:rPr lang="vi-VN" sz="2000" baseline="0" dirty="0"/>
              <a:t> kế </a:t>
            </a:r>
            <a:r>
              <a:rPr lang="vi-VN" sz="2000" dirty="0"/>
              <a:t>hoạch và quản lý truyền thông...</a:t>
            </a:r>
          </a:p>
          <a:p>
            <a:endParaRPr lang="vi-VN" dirty="0"/>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43</a:t>
            </a:fld>
            <a:endParaRPr lang="en-US" dirty="0"/>
          </a:p>
        </p:txBody>
      </p:sp>
    </p:spTree>
    <p:extLst>
      <p:ext uri="{BB962C8B-B14F-4D97-AF65-F5344CB8AC3E}">
        <p14:creationId xmlns:p14="http://schemas.microsoft.com/office/powerpoint/2010/main" val="2289243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CuongPM</a:t>
            </a:r>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46</a:t>
            </a:fld>
            <a:endParaRPr lang="en-US" dirty="0"/>
          </a:p>
        </p:txBody>
      </p:sp>
    </p:spTree>
    <p:extLst>
      <p:ext uri="{BB962C8B-B14F-4D97-AF65-F5344CB8AC3E}">
        <p14:creationId xmlns:p14="http://schemas.microsoft.com/office/powerpoint/2010/main" val="559797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CuongPM</a:t>
            </a:r>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47</a:t>
            </a:fld>
            <a:endParaRPr lang="en-US" dirty="0"/>
          </a:p>
        </p:txBody>
      </p:sp>
    </p:spTree>
    <p:extLst>
      <p:ext uri="{BB962C8B-B14F-4D97-AF65-F5344CB8AC3E}">
        <p14:creationId xmlns:p14="http://schemas.microsoft.com/office/powerpoint/2010/main" val="3174769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spcBef>
                <a:spcPts val="600"/>
              </a:spcBef>
              <a:spcAft>
                <a:spcPts val="600"/>
              </a:spcAft>
            </a:pPr>
            <a:r>
              <a:rPr lang="vi-VN" dirty="0">
                <a:solidFill>
                  <a:srgbClr val="0070C0"/>
                </a:solidFill>
              </a:rPr>
              <a:t>Share Point</a:t>
            </a:r>
            <a:r>
              <a:rPr lang="vi-VN" dirty="0"/>
              <a:t>: người dùng tạo trang web tùy chỉnh để truy cập tài liệu và các ứng dụng trên thiết bị dùng chung.</a:t>
            </a:r>
          </a:p>
          <a:p>
            <a:pPr algn="just">
              <a:spcBef>
                <a:spcPts val="600"/>
              </a:spcBef>
              <a:spcAft>
                <a:spcPts val="600"/>
              </a:spcAft>
            </a:pPr>
            <a:r>
              <a:rPr lang="vi-VN" dirty="0">
                <a:solidFill>
                  <a:srgbClr val="0070C0"/>
                </a:solidFill>
              </a:rPr>
              <a:t>Google Docs</a:t>
            </a:r>
            <a:r>
              <a:rPr lang="vi-VN" dirty="0"/>
              <a:t>: người dùng tạo, chia sẻ, và chỉnh sửa tài liệu trực tuyến.</a:t>
            </a:r>
          </a:p>
          <a:p>
            <a:pPr algn="just">
              <a:spcBef>
                <a:spcPts val="600"/>
              </a:spcBef>
              <a:spcAft>
                <a:spcPts val="600"/>
              </a:spcAft>
            </a:pPr>
            <a:r>
              <a:rPr lang="vi-VN" dirty="0">
                <a:solidFill>
                  <a:srgbClr val="0070C0"/>
                </a:solidFill>
              </a:rPr>
              <a:t>Wiki</a:t>
            </a:r>
            <a:r>
              <a:rPr lang="vi-VN" dirty="0"/>
              <a:t>: trang web thiết kế mở, để ai truy cập vào đều có thể đóng góp hoặc sửa đổi nội dung.</a:t>
            </a:r>
          </a:p>
          <a:p>
            <a:pPr algn="just">
              <a:spcBef>
                <a:spcPts val="600"/>
              </a:spcBef>
              <a:spcAft>
                <a:spcPts val="600"/>
              </a:spcAft>
            </a:pPr>
            <a:r>
              <a:rPr lang="vi-VN" dirty="0">
                <a:solidFill>
                  <a:srgbClr val="0070C0"/>
                </a:solidFill>
              </a:rPr>
              <a:t>Kanban</a:t>
            </a:r>
            <a:r>
              <a:rPr lang="vi-VN" dirty="0"/>
              <a:t>: cho thấy nhiệm vụ cần thực hiện, đang thực hiện, hoặc đã hoàn thành...</a:t>
            </a:r>
            <a:endParaRPr lang="en-US" dirty="0"/>
          </a:p>
          <a:p>
            <a:endParaRPr lang="vi-VN" dirty="0"/>
          </a:p>
        </p:txBody>
      </p:sp>
      <p:sp>
        <p:nvSpPr>
          <p:cNvPr id="4" name="Slide Number Placeholder 3"/>
          <p:cNvSpPr>
            <a:spLocks noGrp="1"/>
          </p:cNvSpPr>
          <p:nvPr>
            <p:ph type="sldNum" sz="quarter" idx="10"/>
          </p:nvPr>
        </p:nvSpPr>
        <p:spPr/>
        <p:txBody>
          <a:bodyPr/>
          <a:lstStyle/>
          <a:p>
            <a:pPr>
              <a:defRPr/>
            </a:pPr>
            <a:fld id="{46F34499-B82A-45E5-967D-F3C4D18AFBEB}" type="slidenum">
              <a:rPr lang="en-US" smtClean="0"/>
              <a:pPr>
                <a:defRPr/>
              </a:pPr>
              <a:t>50</a:t>
            </a:fld>
            <a:endParaRPr lang="en-US" dirty="0"/>
          </a:p>
        </p:txBody>
      </p:sp>
    </p:spTree>
    <p:extLst>
      <p:ext uri="{BB962C8B-B14F-4D97-AF65-F5344CB8AC3E}">
        <p14:creationId xmlns:p14="http://schemas.microsoft.com/office/powerpoint/2010/main" val="384479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64</a:t>
            </a:fld>
            <a:endParaRPr lang="en-US"/>
          </a:p>
        </p:txBody>
      </p:sp>
    </p:spTree>
    <p:extLst>
      <p:ext uri="{BB962C8B-B14F-4D97-AF65-F5344CB8AC3E}">
        <p14:creationId xmlns:p14="http://schemas.microsoft.com/office/powerpoint/2010/main" val="24961712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a:p>
        </p:txBody>
      </p:sp>
      <p:sp>
        <p:nvSpPr>
          <p:cNvPr id="59396" name="Slide Number Placeholder 3"/>
          <p:cNvSpPr>
            <a:spLocks noGrp="1"/>
          </p:cNvSpPr>
          <p:nvPr>
            <p:ph type="sldNum" sz="quarter" idx="5"/>
          </p:nvPr>
        </p:nvSpPr>
        <p:spPr>
          <a:noFill/>
        </p:spPr>
        <p:txBody>
          <a:bodyPr/>
          <a:lstStyle/>
          <a:p>
            <a:fld id="{7DE47B17-5236-40BE-93D3-1F5307651A8C}" type="slidenum">
              <a:rPr lang="en-US" smtClean="0"/>
              <a:pPr/>
              <a:t>65</a:t>
            </a:fld>
            <a:endParaRPr lang="en-US"/>
          </a:p>
        </p:txBody>
      </p:sp>
    </p:spTree>
    <p:extLst>
      <p:ext uri="{BB962C8B-B14F-4D97-AF65-F5344CB8AC3E}">
        <p14:creationId xmlns:p14="http://schemas.microsoft.com/office/powerpoint/2010/main" val="16741644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8F429C8-286F-4CBB-8323-E07CB01A2B71}"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603967C-F284-4E77-A024-1853F01D660C}"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1C232BB4-75B4-4C69-94AD-424C8FD0F90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87B63AB-9E04-47FC-9F10-3CEA81C5584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6068384-3A5E-42B0-9DB2-68C2834A8D29}"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D59D01A5-6FD8-44B4-AD7E-D5CC8471AB31}"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458B6FEB-F9E5-4AD9-9F53-51CC456E2E01}"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349C5E4-E79D-433E-94F2-96A93C7FD091}"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E4D32EF-206D-4E59-ADF9-6B674F5D28CE}"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4D68D3E-95C0-4AD3-9DF7-A60E65E6C681}"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C1AA9CB-A49F-428D-8075-9BAA7E4AAB5B}"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Quản trị dự án HTTT</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E5CE54AD-B30A-469E-AD93-7B59B656CE34}"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a:latin typeface="+mn-lt"/>
              </a:rPr>
              <a:t>Copyright 2021</a:t>
            </a:r>
            <a:endParaRPr lang="en-US" sz="1200" dirty="0">
              <a:latin typeface="+mn-lt"/>
            </a:endParaRP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a:t>Quản trị dự án HTTT</a:t>
            </a:r>
            <a:endParaRPr lang="en-US" dirty="0"/>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E7041028-70A1-4883-98CC-1414125760B5}"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a:t>Quản trị dự án HTTT</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4BDBFCCD-691C-40AA-8EFC-CF970F22E1E2}"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Quản trị dự án HTTT</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88ECA2BC-76D7-4F9C-9D66-33CDF6D9173E}"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a:t>Quản trị dự án HTTT</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80E1AB30-0018-412D-8C9C-E8D2BE76AA17}"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a:t>Quản trị dự án HTTT</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84AA60CE-7DB8-4518-9645-A357FEA2E3F6}"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FE14304E-FB8E-4A11-90C0-0D1234AF3E61}"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Quản trị dự án HTTT</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0BF5E2FE-52D3-4232-B85F-0C3C8901D3A0}"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a:t>Quản trị dự án HTTT</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E5475CA9-08CF-4B16-8E5B-A9E2B9C71B76}"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260BCE2F-BB23-47FB-93E3-7F57817977C3}"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Quản trị dự án HTTT</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13152180-080B-47A2-A616-2BCCE64515DA}"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Quản trị dự án HTTT</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7B9482A8-9EF2-49AB-81BA-2929840DBB1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Quản trị dự án HTTT</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7B9482A8-9EF2-49AB-81BA-2929840DBB1F}"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hyperlink" Target="../Chuong%2000/2021-Chuong00-ITPM_VI-ITS344-211_D02.pptx"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47Ps-PMP.pptx" TargetMode="External"/><Relationship Id="rId2" Type="http://schemas.openxmlformats.org/officeDocument/2006/relationships/hyperlink" Target="../../../Docs/47Ps-PMP.pptx" TargetMode="Externa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image" Target="../media/image34.png"/><Relationship Id="rId1" Type="http://schemas.openxmlformats.org/officeDocument/2006/relationships/slideLayout" Target="../slideLayouts/slideLayout13.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63.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5.jpe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6200" y="1371600"/>
            <a:ext cx="9067800" cy="1349375"/>
          </a:xfrm>
        </p:spPr>
        <p:txBody>
          <a:bodyPr>
            <a:noAutofit/>
          </a:bodyPr>
          <a:lstStyle/>
          <a:p>
            <a:pPr algn="ctr" eaLnBrk="1" fontAlgn="auto" hangingPunct="1">
              <a:spcAft>
                <a:spcPts val="0"/>
              </a:spcAft>
              <a:defRPr/>
            </a:pPr>
            <a:r>
              <a:rPr lang="vi-VN" sz="3600" dirty="0">
                <a:solidFill>
                  <a:srgbClr val="0070C0"/>
                </a:solidFill>
                <a:effectLst>
                  <a:outerShdw blurRad="38100" dist="38100" dir="2700000" algn="tl">
                    <a:srgbClr val="FFFFFF"/>
                  </a:outerShdw>
                </a:effectLst>
              </a:rPr>
              <a:t>Chương 8</a:t>
            </a:r>
            <a:br>
              <a:rPr lang="vi-VN" sz="4000" dirty="0">
                <a:solidFill>
                  <a:srgbClr val="0070C0"/>
                </a:solidFill>
                <a:effectLst>
                  <a:outerShdw blurRad="38100" dist="38100" dir="2700000" algn="tl">
                    <a:srgbClr val="FFFFFF"/>
                  </a:outerShdw>
                </a:effectLst>
              </a:rPr>
            </a:br>
            <a:r>
              <a:rPr lang="vi-VN" sz="4000" dirty="0">
                <a:solidFill>
                  <a:srgbClr val="0070C0"/>
                </a:solidFill>
                <a:effectLst>
                  <a:outerShdw blurRad="38100" dist="38100" dir="2700000" algn="tl">
                    <a:srgbClr val="FFFFFF"/>
                  </a:outerShdw>
                </a:effectLst>
              </a:rPr>
              <a:t>QUẢN LÝ TRUYỀN THÔNG DỰ ÁN</a:t>
            </a:r>
            <a:endParaRPr sz="4000" dirty="0">
              <a:solidFill>
                <a:srgbClr val="0070C0"/>
              </a:solidFill>
              <a:effectLst>
                <a:outerShdw blurRad="38100" dist="38100" dir="2700000" algn="tl">
                  <a:srgbClr val="FFFFFF"/>
                </a:outerShdw>
              </a:effectLst>
            </a:endParaRPr>
          </a:p>
        </p:txBody>
      </p:sp>
      <p:pic>
        <p:nvPicPr>
          <p:cNvPr id="3" name="Picture 2"/>
          <p:cNvPicPr>
            <a:picLocks noChangeAspect="1"/>
          </p:cNvPicPr>
          <p:nvPr/>
        </p:nvPicPr>
        <p:blipFill>
          <a:blip r:embed="rId3"/>
          <a:stretch>
            <a:fillRect/>
          </a:stretch>
        </p:blipFill>
        <p:spPr>
          <a:xfrm>
            <a:off x="6400800" y="4043711"/>
            <a:ext cx="2079555" cy="2433289"/>
          </a:xfrm>
          <a:prstGeom prst="rect">
            <a:avLst/>
          </a:prstGeom>
        </p:spPr>
      </p:pic>
      <p:sp>
        <p:nvSpPr>
          <p:cNvPr id="10" name="Rectangle 3"/>
          <p:cNvSpPr>
            <a:spLocks noChangeArrowheads="1"/>
          </p:cNvSpPr>
          <p:nvPr/>
        </p:nvSpPr>
        <p:spPr bwMode="auto">
          <a:xfrm>
            <a:off x="175054" y="2971800"/>
            <a:ext cx="8991600" cy="914400"/>
          </a:xfrm>
          <a:prstGeom prst="rect">
            <a:avLst/>
          </a:prstGeom>
          <a:noFill/>
          <a:ln w="9525">
            <a:noFill/>
            <a:miter lim="800000"/>
            <a:headEnd/>
            <a:tailEnd/>
          </a:ln>
          <a:effectLst/>
        </p:spPr>
        <p:txBody>
          <a:bodyPr/>
          <a:lstStyle/>
          <a:p>
            <a:pPr algn="ctr">
              <a:defRPr/>
            </a:pPr>
            <a:r>
              <a:rPr lang="vi-VN" sz="2100" spc="800" dirty="0">
                <a:latin typeface="Arial Rounded MT Bold" pitchFamily="34" charset="0"/>
              </a:rPr>
              <a:t>Project Communications Management</a:t>
            </a:r>
            <a:endParaRPr lang="en-US" sz="2100" b="1" spc="800" dirty="0">
              <a:solidFill>
                <a:schemeClr val="tx2"/>
              </a:solidFill>
              <a:latin typeface="Arial Rounded MT Bold" pitchFamily="34" charset="0"/>
              <a:ea typeface="+mj-ea"/>
              <a:cs typeface="+mj-cs"/>
            </a:endParaRPr>
          </a:p>
        </p:txBody>
      </p:sp>
      <p:sp>
        <p:nvSpPr>
          <p:cNvPr id="9" name="Rectangle 2">
            <a:extLst>
              <a:ext uri="{FF2B5EF4-FFF2-40B4-BE49-F238E27FC236}">
                <a16:creationId xmlns:a16="http://schemas.microsoft.com/office/drawing/2014/main" id="{2EABCE93-D391-45A4-A007-ED7F6F9989E4}"/>
              </a:ext>
            </a:extLst>
          </p:cNvPr>
          <p:cNvSpPr txBox="1">
            <a:spLocks noChangeArrowheads="1"/>
          </p:cNvSpPr>
          <p:nvPr/>
        </p:nvSpPr>
        <p:spPr>
          <a:xfrm>
            <a:off x="381000" y="327025"/>
            <a:ext cx="8382000" cy="663575"/>
          </a:xfrm>
          <a:prstGeom prst="rect">
            <a:avLst/>
          </a:prstGeom>
        </p:spPr>
        <p:txBody>
          <a:bodyPr vert="horz" anchor="b">
            <a:noAutofit/>
            <a:scene3d>
              <a:camera prst="orthographicFront"/>
              <a:lightRig rig="soft" dir="t"/>
            </a:scene3d>
            <a:sp3d prstMaterial="softEdge">
              <a:bevelT w="25400" h="25400"/>
            </a:sp3d>
          </a:bodyPr>
          <a:lstStyle>
            <a:lvl1pPr algn="r" rtl="0" eaLnBrk="1" fontAlgn="base" hangingPunct="1">
              <a:spcBef>
                <a:spcPct val="0"/>
              </a:spcBef>
              <a:spcAft>
                <a:spcPct val="0"/>
              </a:spcAft>
              <a:defRPr sz="48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fontAlgn="auto">
              <a:spcAft>
                <a:spcPts val="0"/>
              </a:spcAft>
              <a:defRPr/>
            </a:pPr>
            <a:r>
              <a:rPr lang="en-US" sz="3200">
                <a:effectLst>
                  <a:outerShdw blurRad="38100" dist="38100" dir="2700000" algn="tl">
                    <a:srgbClr val="FFFFFF"/>
                  </a:outerShdw>
                </a:effectLst>
              </a:rPr>
              <a:t>`</a:t>
            </a:r>
            <a:endParaRPr lang="vi-VN" sz="3200" dirty="0">
              <a:effectLst>
                <a:outerShdw blurRad="38100" dist="38100" dir="2700000" algn="tl">
                  <a:srgbClr val="FFFFFF"/>
                </a:outerShdw>
              </a:effectLst>
            </a:endParaRPr>
          </a:p>
        </p:txBody>
      </p:sp>
      <p:sp>
        <p:nvSpPr>
          <p:cNvPr id="8" name="Rectangle 2">
            <a:extLst>
              <a:ext uri="{FF2B5EF4-FFF2-40B4-BE49-F238E27FC236}">
                <a16:creationId xmlns:a16="http://schemas.microsoft.com/office/drawing/2014/main" id="{0CFA397A-78EF-402F-9E27-DE486110ECA0}"/>
              </a:ext>
            </a:extLst>
          </p:cNvPr>
          <p:cNvSpPr txBox="1">
            <a:spLocks noChangeArrowheads="1"/>
          </p:cNvSpPr>
          <p:nvPr/>
        </p:nvSpPr>
        <p:spPr>
          <a:xfrm>
            <a:off x="381000" y="479425"/>
            <a:ext cx="8382000" cy="663575"/>
          </a:xfrm>
          <a:prstGeom prst="rect">
            <a:avLst/>
          </a:prstGeom>
        </p:spPr>
        <p:txBody>
          <a:bodyPr vert="horz" anchor="b">
            <a:noAutofit/>
            <a:scene3d>
              <a:camera prst="orthographicFront"/>
              <a:lightRig rig="soft" dir="t"/>
            </a:scene3d>
            <a:sp3d prstMaterial="softEdge">
              <a:bevelT w="25400" h="25400"/>
            </a:sp3d>
          </a:bodyPr>
          <a:lstStyle>
            <a:lvl1pPr algn="r" rtl="0" eaLnBrk="1" fontAlgn="base" hangingPunct="1">
              <a:spcBef>
                <a:spcPct val="0"/>
              </a:spcBef>
              <a:spcAft>
                <a:spcPct val="0"/>
              </a:spcAft>
              <a:defRPr sz="48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fontAlgn="auto">
              <a:spcAft>
                <a:spcPts val="0"/>
              </a:spcAft>
              <a:defRPr/>
            </a:pPr>
            <a:r>
              <a:rPr lang="vi-VN" sz="3200" dirty="0">
                <a:effectLst>
                  <a:outerShdw blurRad="38100" dist="38100" dir="2700000" algn="tl">
                    <a:srgbClr val="FFFFFF"/>
                  </a:outerShdw>
                </a:effectLst>
                <a:hlinkClick r:id="rId4" action="ppaction://hlinkpres?slideindex=1&amp;slidetitle="/>
              </a:rPr>
              <a:t>QUẢN TRỊ DỰ </a:t>
            </a:r>
            <a:r>
              <a:rPr lang="vi-VN" sz="3200">
                <a:effectLst>
                  <a:outerShdw blurRad="38100" dist="38100" dir="2700000" algn="tl">
                    <a:srgbClr val="FFFFFF"/>
                  </a:outerShdw>
                </a:effectLst>
                <a:hlinkClick r:id="rId4" action="ppaction://hlinkpres?slideindex=1&amp;slidetitle="/>
              </a:rPr>
              <a:t>ÁN </a:t>
            </a:r>
            <a:r>
              <a:rPr lang="en-US" sz="3200">
                <a:effectLst>
                  <a:outerShdw blurRad="38100" dist="38100" dir="2700000" algn="tl">
                    <a:srgbClr val="FFFFFF"/>
                  </a:outerShdw>
                </a:effectLst>
                <a:hlinkClick r:id="rId4" action="ppaction://hlinkpres?slideindex=1&amp;slidetitle="/>
              </a:rPr>
              <a:t>HTTT</a:t>
            </a:r>
            <a:endParaRPr lang="vi-VN" sz="3200" dirty="0">
              <a:effectLst>
                <a:outerShdw blurRad="38100" dist="38100" dir="2700000" algn="tl">
                  <a:srgbClr val="FFFFFF"/>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304800" y="1676400"/>
            <a:ext cx="8458200" cy="3886200"/>
          </a:xfrm>
        </p:spPr>
        <p:txBody>
          <a:bodyPr/>
          <a:lstStyle/>
          <a:p>
            <a:pPr algn="just">
              <a:spcBef>
                <a:spcPts val="1200"/>
              </a:spcBef>
              <a:spcAft>
                <a:spcPts val="1200"/>
              </a:spcAft>
            </a:pPr>
            <a:r>
              <a:rPr lang="vi-VN" sz="2500" dirty="0">
                <a:solidFill>
                  <a:srgbClr val="002060"/>
                </a:solidFill>
              </a:rPr>
              <a:t>Hiểu được tầm quan trọng của truyền thông tốt...</a:t>
            </a:r>
          </a:p>
          <a:p>
            <a:pPr algn="just">
              <a:spcBef>
                <a:spcPts val="1200"/>
              </a:spcBef>
              <a:spcAft>
                <a:spcPts val="1200"/>
              </a:spcAft>
            </a:pPr>
            <a:r>
              <a:rPr lang="vi-VN" sz="2500" dirty="0">
                <a:solidFill>
                  <a:srgbClr val="002060"/>
                </a:solidFill>
              </a:rPr>
              <a:t>Giải thích được quy trình quản lý truyền thông dự án.</a:t>
            </a:r>
          </a:p>
          <a:p>
            <a:pPr algn="just">
              <a:spcBef>
                <a:spcPts val="1200"/>
              </a:spcBef>
              <a:spcAft>
                <a:spcPts val="1200"/>
              </a:spcAft>
            </a:pPr>
            <a:r>
              <a:rPr lang="vi-VN" sz="2500" dirty="0">
                <a:solidFill>
                  <a:srgbClr val="002060"/>
                </a:solidFill>
              </a:rPr>
              <a:t>Biết được </a:t>
            </a:r>
            <a:r>
              <a:rPr lang="en-US" sz="2500" dirty="0" err="1">
                <a:solidFill>
                  <a:srgbClr val="002060"/>
                </a:solidFill>
              </a:rPr>
              <a:t>các</a:t>
            </a:r>
            <a:r>
              <a:rPr lang="en-US" sz="2500" dirty="0">
                <a:solidFill>
                  <a:srgbClr val="002060"/>
                </a:solidFill>
              </a:rPr>
              <a:t> </a:t>
            </a:r>
            <a:r>
              <a:rPr lang="en-US" sz="2500" dirty="0" err="1">
                <a:solidFill>
                  <a:srgbClr val="002060"/>
                </a:solidFill>
              </a:rPr>
              <a:t>kênh</a:t>
            </a:r>
            <a:r>
              <a:rPr lang="en-US" sz="2500" dirty="0">
                <a:solidFill>
                  <a:srgbClr val="002060"/>
                </a:solidFill>
              </a:rPr>
              <a:t> </a:t>
            </a:r>
            <a:r>
              <a:rPr lang="en-US" sz="2500" dirty="0" err="1">
                <a:solidFill>
                  <a:srgbClr val="002060"/>
                </a:solidFill>
              </a:rPr>
              <a:t>truyền</a:t>
            </a:r>
            <a:r>
              <a:rPr lang="en-US" sz="2500" dirty="0">
                <a:solidFill>
                  <a:srgbClr val="002060"/>
                </a:solidFill>
              </a:rPr>
              <a:t> thông </a:t>
            </a:r>
            <a:r>
              <a:rPr lang="en-US" sz="2500" dirty="0" err="1">
                <a:solidFill>
                  <a:srgbClr val="002060"/>
                </a:solidFill>
              </a:rPr>
              <a:t>trong</a:t>
            </a:r>
            <a:r>
              <a:rPr lang="en-US" sz="2500" dirty="0">
                <a:solidFill>
                  <a:srgbClr val="002060"/>
                </a:solidFill>
              </a:rPr>
              <a:t> </a:t>
            </a:r>
            <a:r>
              <a:rPr lang="vi-VN" sz="2500" dirty="0">
                <a:solidFill>
                  <a:srgbClr val="002060"/>
                </a:solidFill>
              </a:rPr>
              <a:t>đội dự án.</a:t>
            </a:r>
          </a:p>
          <a:p>
            <a:pPr algn="just">
              <a:spcBef>
                <a:spcPts val="1200"/>
              </a:spcBef>
              <a:spcAft>
                <a:spcPts val="1200"/>
              </a:spcAft>
            </a:pPr>
            <a:r>
              <a:rPr lang="vi-VN" sz="2500" dirty="0">
                <a:solidFill>
                  <a:srgbClr val="002060"/>
                </a:solidFill>
              </a:rPr>
              <a:t>Biết được một số phương pháp cải thiện truyền thông.</a:t>
            </a:r>
          </a:p>
          <a:p>
            <a:pPr algn="just">
              <a:spcBef>
                <a:spcPts val="1200"/>
              </a:spcBef>
              <a:spcAft>
                <a:spcPts val="1200"/>
              </a:spcAft>
            </a:pPr>
            <a:r>
              <a:rPr lang="vi-VN" sz="2500" dirty="0">
                <a:solidFill>
                  <a:srgbClr val="002060"/>
                </a:solidFill>
              </a:rPr>
              <a:t>Hiểu được các vấn đề liên quan đến quản lý truyền thông dự án HTTT.</a:t>
            </a:r>
          </a:p>
          <a:p>
            <a:pPr algn="just">
              <a:spcBef>
                <a:spcPts val="1200"/>
              </a:spcBef>
              <a:spcAft>
                <a:spcPts val="1200"/>
              </a:spcAft>
            </a:pPr>
            <a:endParaRPr lang="vi-VN" sz="1100" dirty="0">
              <a:solidFill>
                <a:srgbClr val="002060"/>
              </a:solidFill>
            </a:endParaRPr>
          </a:p>
        </p:txBody>
      </p:sp>
      <p:sp>
        <p:nvSpPr>
          <p:cNvPr id="9218" name="Rectangle 2"/>
          <p:cNvSpPr>
            <a:spLocks noGrp="1" noChangeArrowheads="1"/>
          </p:cNvSpPr>
          <p:nvPr>
            <p:ph type="title"/>
          </p:nvPr>
        </p:nvSpPr>
        <p:spPr>
          <a:xfrm>
            <a:off x="304800" y="457200"/>
            <a:ext cx="8534400" cy="715962"/>
          </a:xfrm>
        </p:spPr>
        <p:txBody>
          <a:bodyPr>
            <a:noAutofit/>
          </a:bodyPr>
          <a:lstStyle/>
          <a:p>
            <a:pPr algn="ctr"/>
            <a:r>
              <a:rPr lang="en-US" sz="4400" dirty="0" err="1">
                <a:solidFill>
                  <a:srgbClr val="0070C0"/>
                </a:solidFill>
              </a:rPr>
              <a:t>Mục</a:t>
            </a:r>
            <a:r>
              <a:rPr lang="en-US" sz="4400" dirty="0">
                <a:solidFill>
                  <a:srgbClr val="0070C0"/>
                </a:solidFill>
              </a:rPr>
              <a:t> </a:t>
            </a:r>
            <a:r>
              <a:rPr lang="en-US" sz="4400" dirty="0" err="1">
                <a:solidFill>
                  <a:srgbClr val="0070C0"/>
                </a:solidFill>
              </a:rPr>
              <a:t>tiêu</a:t>
            </a:r>
            <a:r>
              <a:rPr lang="en-US" sz="4400" dirty="0">
                <a:solidFill>
                  <a:srgbClr val="0070C0"/>
                </a:solidFill>
              </a:rPr>
              <a:t> </a:t>
            </a:r>
            <a:r>
              <a:rPr lang="en-US" sz="4400" dirty="0" err="1">
                <a:solidFill>
                  <a:srgbClr val="0070C0"/>
                </a:solidFill>
              </a:rPr>
              <a:t>chương</a:t>
            </a:r>
            <a:r>
              <a:rPr lang="en-US" sz="4400" dirty="0">
                <a:solidFill>
                  <a:srgbClr val="0070C0"/>
                </a:solidFill>
              </a:rPr>
              <a:t> 8</a:t>
            </a:r>
          </a:p>
        </p:txBody>
      </p:sp>
      <p:sp>
        <p:nvSpPr>
          <p:cNvPr id="9220"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8" name="Slide Number Placeholder 7"/>
          <p:cNvSpPr>
            <a:spLocks noGrp="1"/>
          </p:cNvSpPr>
          <p:nvPr>
            <p:ph type="sldNum" sz="quarter" idx="11"/>
          </p:nvPr>
        </p:nvSpPr>
        <p:spPr/>
        <p:txBody>
          <a:bodyPr/>
          <a:lstStyle/>
          <a:p>
            <a:pPr>
              <a:defRPr/>
            </a:pPr>
            <a:fld id="{630E6A95-094A-4E8D-8575-B7EA854693B8}" type="slidenum">
              <a:rPr lang="en-US" smtClean="0"/>
              <a:pPr>
                <a:defRPr/>
              </a:pPr>
              <a:t>2</a:t>
            </a:fld>
            <a:endParaRPr lang="en-US" dirty="0"/>
          </a:p>
        </p:txBody>
      </p:sp>
    </p:spTree>
    <p:extLst>
      <p:ext uri="{BB962C8B-B14F-4D97-AF65-F5344CB8AC3E}">
        <p14:creationId xmlns:p14="http://schemas.microsoft.com/office/powerpoint/2010/main" val="152801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9219">
                                            <p:txEl>
                                              <p:pRg st="1" end="1"/>
                                            </p:txEl>
                                          </p:spTgt>
                                        </p:tgtEl>
                                        <p:attrNameLst>
                                          <p:attrName>style.visibility</p:attrName>
                                        </p:attrNameLst>
                                      </p:cBhvr>
                                      <p:to>
                                        <p:strVal val="visible"/>
                                      </p:to>
                                    </p:set>
                                    <p:animEffect transition="in" filter="blinds(horizontal)">
                                      <p:cBhvr>
                                        <p:cTn id="10" dur="500"/>
                                        <p:tgtEl>
                                          <p:spTgt spid="9219">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3" dur="500"/>
                                        <p:tgtEl>
                                          <p:spTgt spid="9219">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9219">
                                            <p:txEl>
                                              <p:pRg st="3" end="3"/>
                                            </p:txEl>
                                          </p:spTgt>
                                        </p:tgtEl>
                                        <p:attrNameLst>
                                          <p:attrName>style.visibility</p:attrName>
                                        </p:attrNameLst>
                                      </p:cBhvr>
                                      <p:to>
                                        <p:strVal val="visible"/>
                                      </p:to>
                                    </p:set>
                                    <p:animEffect transition="in" filter="blinds(horizontal)">
                                      <p:cBhvr>
                                        <p:cTn id="16" dur="500"/>
                                        <p:tgtEl>
                                          <p:spTgt spid="9219">
                                            <p:txEl>
                                              <p:pRg st="3" end="3"/>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9219">
                                            <p:txEl>
                                              <p:pRg st="4" end="4"/>
                                            </p:txEl>
                                          </p:spTgt>
                                        </p:tgtEl>
                                        <p:attrNameLst>
                                          <p:attrName>style.visibility</p:attrName>
                                        </p:attrNameLst>
                                      </p:cBhvr>
                                      <p:to>
                                        <p:strVal val="visible"/>
                                      </p:to>
                                    </p:set>
                                    <p:animEffect transition="in" filter="blinds(horizontal)">
                                      <p:cBhvr>
                                        <p:cTn id="19"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z="1200" smtClean="0"/>
              <a:pPr>
                <a:defRPr/>
              </a:pPr>
              <a:t>3</a:t>
            </a:fld>
            <a:endParaRPr lang="en-US" sz="1200" dirty="0"/>
          </a:p>
        </p:txBody>
      </p:sp>
      <p:sp>
        <p:nvSpPr>
          <p:cNvPr id="6" name="Rectangle 2"/>
          <p:cNvSpPr>
            <a:spLocks noGrp="1" noChangeArrowheads="1"/>
          </p:cNvSpPr>
          <p:nvPr>
            <p:ph type="title"/>
          </p:nvPr>
        </p:nvSpPr>
        <p:spPr>
          <a:xfrm>
            <a:off x="0" y="304800"/>
            <a:ext cx="9144000" cy="685800"/>
          </a:xfrm>
        </p:spPr>
        <p:txBody>
          <a:bodyPr>
            <a:noAutofit/>
          </a:bodyPr>
          <a:lstStyle/>
          <a:p>
            <a:pPr algn="ctr"/>
            <a:r>
              <a:rPr lang="en-US" sz="4400" dirty="0" err="1"/>
              <a:t>Nhắc</a:t>
            </a:r>
            <a:r>
              <a:rPr lang="en-US" sz="4400" dirty="0"/>
              <a:t> </a:t>
            </a:r>
            <a:r>
              <a:rPr lang="en-US" sz="4400" dirty="0" err="1"/>
              <a:t>lại</a:t>
            </a:r>
            <a:r>
              <a:rPr lang="en-US" sz="4400" dirty="0"/>
              <a:t> </a:t>
            </a:r>
            <a:r>
              <a:rPr lang="en-US" sz="4400" dirty="0" err="1"/>
              <a:t>kiến</a:t>
            </a:r>
            <a:r>
              <a:rPr lang="en-US" sz="4400" dirty="0"/>
              <a:t> </a:t>
            </a:r>
            <a:r>
              <a:rPr lang="en-US" sz="4400" dirty="0" err="1"/>
              <a:t>thức</a:t>
            </a:r>
            <a:endParaRPr lang="en-US" sz="4400" dirty="0"/>
          </a:p>
        </p:txBody>
      </p:sp>
      <p:pic>
        <p:nvPicPr>
          <p:cNvPr id="7" name="Picture 6"/>
          <p:cNvPicPr>
            <a:picLocks noChangeAspect="1"/>
          </p:cNvPicPr>
          <p:nvPr/>
        </p:nvPicPr>
        <p:blipFill>
          <a:blip r:embed="rId2"/>
          <a:stretch>
            <a:fillRect/>
          </a:stretch>
        </p:blipFill>
        <p:spPr>
          <a:xfrm>
            <a:off x="1828800" y="2895600"/>
            <a:ext cx="3352800" cy="3096606"/>
          </a:xfrm>
          <a:prstGeom prst="rect">
            <a:avLst/>
          </a:prstGeom>
        </p:spPr>
      </p:pic>
      <p:pic>
        <p:nvPicPr>
          <p:cNvPr id="8" name="Picture 7"/>
          <p:cNvPicPr>
            <a:picLocks noChangeAspect="1"/>
          </p:cNvPicPr>
          <p:nvPr/>
        </p:nvPicPr>
        <p:blipFill>
          <a:blip r:embed="rId3"/>
          <a:stretch>
            <a:fillRect/>
          </a:stretch>
        </p:blipFill>
        <p:spPr>
          <a:xfrm>
            <a:off x="4648200" y="1626332"/>
            <a:ext cx="3429000" cy="2253108"/>
          </a:xfrm>
          <a:prstGeom prst="rect">
            <a:avLst/>
          </a:prstGeom>
        </p:spPr>
      </p:pic>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417254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6EB8689-43E2-4117-B1E9-00997ED5A11C}"/>
              </a:ext>
            </a:extLst>
          </p:cNvPr>
          <p:cNvPicPr>
            <a:picLocks noChangeAspect="1"/>
          </p:cNvPicPr>
          <p:nvPr/>
        </p:nvPicPr>
        <p:blipFill>
          <a:blip r:embed="rId3">
            <a:lum contrast="20000"/>
          </a:blip>
          <a:stretch>
            <a:fillRect/>
          </a:stretch>
        </p:blipFill>
        <p:spPr>
          <a:xfrm>
            <a:off x="0" y="1295400"/>
            <a:ext cx="9159240" cy="4242882"/>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4</a:t>
            </a:fld>
            <a:endParaRPr lang="en-US" dirty="0"/>
          </a:p>
        </p:txBody>
      </p:sp>
      <p:sp>
        <p:nvSpPr>
          <p:cNvPr id="6" name="Rectangle 2"/>
          <p:cNvSpPr>
            <a:spLocks noGrp="1" noChangeArrowheads="1"/>
          </p:cNvSpPr>
          <p:nvPr>
            <p:ph type="title"/>
          </p:nvPr>
        </p:nvSpPr>
        <p:spPr>
          <a:xfrm>
            <a:off x="457200" y="228600"/>
            <a:ext cx="8077200" cy="685800"/>
          </a:xfrm>
        </p:spPr>
        <p:txBody>
          <a:bodyPr>
            <a:noAutofit/>
          </a:bodyPr>
          <a:lstStyle/>
          <a:p>
            <a:pPr algn="ctr"/>
            <a:r>
              <a:rPr lang="en-US" sz="3600" dirty="0" err="1">
                <a:solidFill>
                  <a:schemeClr val="bg1">
                    <a:lumMod val="65000"/>
                  </a:schemeClr>
                </a:solidFill>
              </a:rPr>
              <a:t>Khung</a:t>
            </a:r>
            <a:r>
              <a:rPr lang="en-US" sz="3600" dirty="0">
                <a:solidFill>
                  <a:schemeClr val="bg1">
                    <a:lumMod val="65000"/>
                  </a:schemeClr>
                </a:solidFill>
              </a:rPr>
              <a:t> quản lý </a:t>
            </a:r>
            <a:r>
              <a:rPr lang="en-US" sz="3600" dirty="0" err="1">
                <a:solidFill>
                  <a:schemeClr val="bg1">
                    <a:lumMod val="65000"/>
                  </a:schemeClr>
                </a:solidFill>
              </a:rPr>
              <a:t>dự</a:t>
            </a:r>
            <a:r>
              <a:rPr lang="en-US" sz="3600" dirty="0">
                <a:solidFill>
                  <a:schemeClr val="bg1">
                    <a:lumMod val="65000"/>
                  </a:schemeClr>
                </a:solidFill>
              </a:rPr>
              <a:t> </a:t>
            </a:r>
            <a:r>
              <a:rPr lang="en-US" sz="3600" dirty="0" err="1">
                <a:solidFill>
                  <a:schemeClr val="bg1">
                    <a:lumMod val="65000"/>
                  </a:schemeClr>
                </a:solidFill>
              </a:rPr>
              <a:t>án</a:t>
            </a:r>
            <a:endParaRPr lang="en-US" sz="3600" dirty="0">
              <a:solidFill>
                <a:schemeClr val="bg1">
                  <a:lumMod val="65000"/>
                </a:schemeClr>
              </a:solidFill>
            </a:endParaRPr>
          </a:p>
        </p:txBody>
      </p:sp>
      <p:sp>
        <p:nvSpPr>
          <p:cNvPr id="2" name="Rectangle 1"/>
          <p:cNvSpPr/>
          <p:nvPr/>
        </p:nvSpPr>
        <p:spPr>
          <a:xfrm>
            <a:off x="4572000" y="6019800"/>
            <a:ext cx="3007555" cy="400110"/>
          </a:xfrm>
          <a:prstGeom prst="rect">
            <a:avLst/>
          </a:prstGeom>
        </p:spPr>
        <p:txBody>
          <a:bodyPr wrap="none">
            <a:spAutoFit/>
          </a:bodyPr>
          <a:lstStyle/>
          <a:p>
            <a:r>
              <a:rPr lang="vi-VN" sz="2000" dirty="0"/>
              <a:t>Nguồn: </a:t>
            </a:r>
            <a:r>
              <a:rPr lang="vi-VN" sz="2000"/>
              <a:t>Schwalbe (20</a:t>
            </a:r>
            <a:r>
              <a:rPr lang="en-US" sz="2000"/>
              <a:t>19</a:t>
            </a:r>
            <a:r>
              <a:rPr lang="vi-VN" sz="2000"/>
              <a:t>)</a:t>
            </a:r>
            <a:endParaRPr lang="vi-VN" sz="2000" dirty="0"/>
          </a:p>
        </p:txBody>
      </p:sp>
      <p:sp>
        <p:nvSpPr>
          <p:cNvPr id="8" name="Rounded Rectangle 7"/>
          <p:cNvSpPr/>
          <p:nvPr/>
        </p:nvSpPr>
        <p:spPr>
          <a:xfrm>
            <a:off x="2030133" y="4343400"/>
            <a:ext cx="990600" cy="67056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752244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sp>
        <p:nvSpPr>
          <p:cNvPr id="8" name="Rectangle 2"/>
          <p:cNvSpPr>
            <a:spLocks noGrp="1" noChangeArrowheads="1"/>
          </p:cNvSpPr>
          <p:nvPr>
            <p:ph type="ctrTitle"/>
          </p:nvPr>
        </p:nvSpPr>
        <p:spPr>
          <a:xfrm>
            <a:off x="457200" y="1524000"/>
            <a:ext cx="8305800" cy="1349375"/>
          </a:xfrm>
        </p:spPr>
        <p:txBody>
          <a:bodyPr>
            <a:noAutofit/>
          </a:bodyPr>
          <a:lstStyle/>
          <a:p>
            <a:pPr algn="ctr" fontAlgn="auto">
              <a:spcAft>
                <a:spcPts val="0"/>
              </a:spcAft>
              <a:defRPr/>
            </a:pPr>
            <a:br>
              <a:rPr sz="3500" dirty="0">
                <a:solidFill>
                  <a:srgbClr val="0070C0"/>
                </a:solidFill>
                <a:effectLst/>
              </a:rPr>
            </a:br>
            <a:r>
              <a:rPr lang="vi-VN" sz="3500" dirty="0">
                <a:solidFill>
                  <a:srgbClr val="0070C0"/>
                </a:solidFill>
                <a:effectLst/>
              </a:rPr>
              <a:t>QUẢN LÝ </a:t>
            </a:r>
            <a:r>
              <a:rPr lang="vi-VN" sz="3500" dirty="0">
                <a:solidFill>
                  <a:srgbClr val="0070C0"/>
                </a:solidFill>
                <a:effectLst>
                  <a:outerShdw blurRad="38100" dist="38100" dir="2700000" algn="tl">
                    <a:srgbClr val="FFFFFF"/>
                  </a:outerShdw>
                </a:effectLst>
              </a:rPr>
              <a:t>LÝ TRUYỀN THÔNG</a:t>
            </a:r>
            <a:r>
              <a:rPr lang="vi-VN" sz="3500" dirty="0">
                <a:solidFill>
                  <a:srgbClr val="0070C0"/>
                </a:solidFill>
                <a:effectLst/>
              </a:rPr>
              <a:t> DỰ ÁN</a:t>
            </a:r>
            <a:endParaRPr sz="3500" dirty="0">
              <a:solidFill>
                <a:srgbClr val="0070C0"/>
              </a:solidFill>
              <a:effectLst/>
            </a:endParaRPr>
          </a:p>
        </p:txBody>
      </p:sp>
      <p:sp>
        <p:nvSpPr>
          <p:cNvPr id="10" name="Rectangle 3"/>
          <p:cNvSpPr>
            <a:spLocks noChangeArrowheads="1"/>
          </p:cNvSpPr>
          <p:nvPr/>
        </p:nvSpPr>
        <p:spPr bwMode="auto">
          <a:xfrm>
            <a:off x="381000" y="2667000"/>
            <a:ext cx="8686800" cy="1349375"/>
          </a:xfrm>
          <a:prstGeom prst="rect">
            <a:avLst/>
          </a:prstGeom>
          <a:noFill/>
          <a:ln w="9525">
            <a:noFill/>
            <a:miter lim="800000"/>
            <a:headEnd/>
            <a:tailEnd/>
          </a:ln>
          <a:effectLst/>
        </p:spPr>
        <p:txBody>
          <a:bodyPr/>
          <a:lstStyle/>
          <a:p>
            <a:pPr algn="ctr">
              <a:defRPr/>
            </a:pPr>
            <a:br>
              <a:rPr lang="en-US" sz="1800" kern="400" spc="1000" dirty="0">
                <a:solidFill>
                  <a:schemeClr val="tx2"/>
                </a:solidFill>
                <a:latin typeface="Arial Rounded MT Bold" pitchFamily="34" charset="0"/>
                <a:ea typeface="+mj-ea"/>
                <a:cs typeface="+mj-cs"/>
              </a:rPr>
            </a:br>
            <a:r>
              <a:rPr lang="en-US" sz="1800" spc="900" dirty="0">
                <a:solidFill>
                  <a:schemeClr val="tx2"/>
                </a:solidFill>
                <a:latin typeface="Arial Rounded MT Bold" pitchFamily="34" charset="0"/>
                <a:ea typeface="+mj-ea"/>
                <a:cs typeface="+mj-cs"/>
              </a:rPr>
              <a:t>Project </a:t>
            </a:r>
            <a:r>
              <a:rPr lang="vi-VN" sz="1800" spc="900" dirty="0">
                <a:latin typeface="Arial Rounded MT Bold" pitchFamily="34" charset="0"/>
              </a:rPr>
              <a:t>Communications </a:t>
            </a:r>
            <a:r>
              <a:rPr lang="en-US" sz="1800" spc="900" dirty="0">
                <a:solidFill>
                  <a:schemeClr val="tx2"/>
                </a:solidFill>
                <a:latin typeface="Arial Rounded MT Bold" pitchFamily="34" charset="0"/>
                <a:ea typeface="+mj-ea"/>
                <a:cs typeface="+mj-cs"/>
              </a:rPr>
              <a:t>Management</a:t>
            </a:r>
          </a:p>
        </p:txBody>
      </p:sp>
      <p:pic>
        <p:nvPicPr>
          <p:cNvPr id="7" name="Picture 6"/>
          <p:cNvPicPr>
            <a:picLocks noChangeAspect="1"/>
          </p:cNvPicPr>
          <p:nvPr/>
        </p:nvPicPr>
        <p:blipFill>
          <a:blip r:embed="rId2"/>
          <a:stretch>
            <a:fillRect/>
          </a:stretch>
        </p:blipFill>
        <p:spPr>
          <a:xfrm>
            <a:off x="6400800" y="4043711"/>
            <a:ext cx="2079555" cy="2433289"/>
          </a:xfrm>
          <a:prstGeom prst="rect">
            <a:avLst/>
          </a:prstGeom>
        </p:spPr>
      </p:pic>
    </p:spTree>
    <p:extLst>
      <p:ext uri="{BB962C8B-B14F-4D97-AF65-F5344CB8AC3E}">
        <p14:creationId xmlns:p14="http://schemas.microsoft.com/office/powerpoint/2010/main" val="3783961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2"/>
          <p:cNvSpPr>
            <a:spLocks noGrp="1" noChangeArrowheads="1"/>
          </p:cNvSpPr>
          <p:nvPr>
            <p:ph type="title"/>
          </p:nvPr>
        </p:nvSpPr>
        <p:spPr>
          <a:xfrm>
            <a:off x="762000" y="471487"/>
            <a:ext cx="7772400" cy="900113"/>
          </a:xfrm>
        </p:spPr>
        <p:txBody>
          <a:bodyPr>
            <a:normAutofit/>
          </a:bodyPr>
          <a:lstStyle/>
          <a:p>
            <a:pPr algn="ctr">
              <a:defRPr/>
            </a:pPr>
            <a:r>
              <a:rPr lang="en-US" sz="3200" dirty="0">
                <a:effectLst>
                  <a:outerShdw blurRad="38100" dist="38100" dir="2700000" algn="tl">
                    <a:srgbClr val="000000">
                      <a:alpha val="43137"/>
                    </a:srgbClr>
                  </a:outerShdw>
                </a:effectLst>
              </a:rPr>
              <a:t>QUẢN LÝ TRUYỀN THÔNG DỰ ÁN</a:t>
            </a:r>
          </a:p>
        </p:txBody>
      </p:sp>
      <p:grpSp>
        <p:nvGrpSpPr>
          <p:cNvPr id="36" name="Group 42"/>
          <p:cNvGrpSpPr>
            <a:grpSpLocks/>
          </p:cNvGrpSpPr>
          <p:nvPr/>
        </p:nvGrpSpPr>
        <p:grpSpPr bwMode="auto">
          <a:xfrm>
            <a:off x="1142999" y="1676400"/>
            <a:ext cx="6952029" cy="838200"/>
            <a:chOff x="1296" y="1824"/>
            <a:chExt cx="2976" cy="432"/>
          </a:xfrm>
        </p:grpSpPr>
        <p:sp>
          <p:nvSpPr>
            <p:cNvPr id="41" name="AutoShape 4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2"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3" name="Text Box 45"/>
            <p:cNvSpPr txBox="1">
              <a:spLocks noChangeArrowheads="1"/>
            </p:cNvSpPr>
            <p:nvPr/>
          </p:nvSpPr>
          <p:spPr bwMode="gray">
            <a:xfrm>
              <a:off x="1776" y="1920"/>
              <a:ext cx="2431" cy="218"/>
            </a:xfrm>
            <a:prstGeom prst="rect">
              <a:avLst/>
            </a:prstGeom>
            <a:noFill/>
            <a:ln w="9525" algn="ctr">
              <a:noFill/>
              <a:miter lim="800000"/>
              <a:headEnd/>
              <a:tailEnd/>
            </a:ln>
            <a:effectLst/>
          </p:spPr>
          <p:txBody>
            <a:bodyPr wrap="square">
              <a:spAutoFit/>
            </a:bodyPr>
            <a:lstStyle/>
            <a:p>
              <a:pPr>
                <a:defRPr/>
              </a:pPr>
              <a:r>
                <a:rPr lang="vi-VN" sz="2400" b="1" dirty="0">
                  <a:solidFill>
                    <a:schemeClr val="bg1"/>
                  </a:solidFill>
                  <a:effectLst>
                    <a:outerShdw blurRad="38100" dist="38100" dir="2700000" algn="tl">
                      <a:srgbClr val="000000">
                        <a:alpha val="43137"/>
                      </a:srgbClr>
                    </a:outerShdw>
                  </a:effectLst>
                  <a:latin typeface="Arial" charset="0"/>
                  <a:cs typeface="+mn-cs"/>
                </a:rPr>
                <a:t>TỔNG QUAN</a:t>
              </a:r>
              <a:endParaRPr lang="en-US" sz="2400" b="1" dirty="0">
                <a:solidFill>
                  <a:schemeClr val="bg1"/>
                </a:solidFill>
                <a:effectLst>
                  <a:outerShdw blurRad="38100" dist="38100" dir="2700000" algn="tl">
                    <a:srgbClr val="000000">
                      <a:alpha val="43137"/>
                    </a:srgbClr>
                  </a:outerShdw>
                </a:effectLst>
                <a:latin typeface="Arial" charset="0"/>
                <a:cs typeface="+mn-cs"/>
              </a:endParaRPr>
            </a:p>
          </p:txBody>
        </p:sp>
        <p:sp>
          <p:nvSpPr>
            <p:cNvPr id="44" name="Text Box 46"/>
            <p:cNvSpPr txBox="1">
              <a:spLocks noChangeArrowheads="1"/>
            </p:cNvSpPr>
            <p:nvPr/>
          </p:nvSpPr>
          <p:spPr bwMode="gray">
            <a:xfrm>
              <a:off x="1421" y="1886"/>
              <a:ext cx="165" cy="297"/>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0</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45" name="Group 52"/>
          <p:cNvGrpSpPr>
            <a:grpSpLocks/>
          </p:cNvGrpSpPr>
          <p:nvPr/>
        </p:nvGrpSpPr>
        <p:grpSpPr bwMode="auto">
          <a:xfrm>
            <a:off x="1143000" y="2514600"/>
            <a:ext cx="7848600" cy="838200"/>
            <a:chOff x="1296" y="1824"/>
            <a:chExt cx="3360" cy="432"/>
          </a:xfrm>
        </p:grpSpPr>
        <p:sp>
          <p:nvSpPr>
            <p:cNvPr id="46" name="AutoShape 53"/>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7" name="AutoShape 5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48" name="Text Box 55"/>
            <p:cNvSpPr txBox="1">
              <a:spLocks noChangeArrowheads="1"/>
            </p:cNvSpPr>
            <p:nvPr/>
          </p:nvSpPr>
          <p:spPr bwMode="gray">
            <a:xfrm>
              <a:off x="1776" y="1920"/>
              <a:ext cx="2880" cy="238"/>
            </a:xfrm>
            <a:prstGeom prst="rect">
              <a:avLst/>
            </a:prstGeom>
            <a:noFill/>
            <a:ln w="9525" algn="ctr">
              <a:noFill/>
              <a:miter lim="800000"/>
              <a:headEnd/>
              <a:tailEnd/>
            </a:ln>
            <a:effectLst/>
          </p:spPr>
          <p:txBody>
            <a:bodyPr>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KẾ HOẠCH QUẢN LÝ TRUYỀN THÔNG</a:t>
              </a:r>
            </a:p>
          </p:txBody>
        </p:sp>
        <p:sp>
          <p:nvSpPr>
            <p:cNvPr id="49" name="Text Box 56"/>
            <p:cNvSpPr txBox="1">
              <a:spLocks noChangeArrowheads="1"/>
            </p:cNvSpPr>
            <p:nvPr/>
          </p:nvSpPr>
          <p:spPr bwMode="gray">
            <a:xfrm>
              <a:off x="1421" y="1886"/>
              <a:ext cx="165" cy="330"/>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1</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50" name="Group 57"/>
          <p:cNvGrpSpPr>
            <a:grpSpLocks/>
          </p:cNvGrpSpPr>
          <p:nvPr/>
        </p:nvGrpSpPr>
        <p:grpSpPr bwMode="auto">
          <a:xfrm>
            <a:off x="1173162" y="3352800"/>
            <a:ext cx="7281407" cy="838200"/>
            <a:chOff x="1296" y="1824"/>
            <a:chExt cx="3117" cy="432"/>
          </a:xfrm>
        </p:grpSpPr>
        <p:sp>
          <p:nvSpPr>
            <p:cNvPr id="51" name="AutoShape 58"/>
            <p:cNvSpPr>
              <a:spLocks noChangeArrowheads="1"/>
            </p:cNvSpPr>
            <p:nvPr/>
          </p:nvSpPr>
          <p:spPr bwMode="gray">
            <a:xfrm>
              <a:off x="1536" y="1899"/>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2" name="AutoShape 59"/>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53" name="Text Box 60"/>
            <p:cNvSpPr txBox="1">
              <a:spLocks noChangeArrowheads="1"/>
            </p:cNvSpPr>
            <p:nvPr/>
          </p:nvSpPr>
          <p:spPr bwMode="gray">
            <a:xfrm>
              <a:off x="1776" y="1917"/>
              <a:ext cx="2637" cy="238"/>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QUẢN LÝ TRUYỀN THÔNG</a:t>
              </a:r>
              <a:endParaRPr lang="en-US" sz="2400" b="1" dirty="0">
                <a:solidFill>
                  <a:schemeClr val="bg1"/>
                </a:solidFill>
                <a:effectLst>
                  <a:outerShdw blurRad="38100" dist="38100" dir="2700000" algn="tl">
                    <a:srgbClr val="000000">
                      <a:alpha val="43137"/>
                    </a:srgbClr>
                  </a:outerShdw>
                </a:effectLst>
                <a:latin typeface="Arial" charset="0"/>
                <a:cs typeface="Arial" charset="0"/>
              </a:endParaRPr>
            </a:p>
          </p:txBody>
        </p:sp>
        <p:sp>
          <p:nvSpPr>
            <p:cNvPr id="54" name="Text Box 61"/>
            <p:cNvSpPr txBox="1">
              <a:spLocks noChangeArrowheads="1"/>
            </p:cNvSpPr>
            <p:nvPr/>
          </p:nvSpPr>
          <p:spPr bwMode="gray">
            <a:xfrm>
              <a:off x="1421" y="1886"/>
              <a:ext cx="165" cy="330"/>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2</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grpSp>
        <p:nvGrpSpPr>
          <p:cNvPr id="23" name="Group 42"/>
          <p:cNvGrpSpPr>
            <a:grpSpLocks/>
          </p:cNvGrpSpPr>
          <p:nvPr/>
        </p:nvGrpSpPr>
        <p:grpSpPr bwMode="auto">
          <a:xfrm>
            <a:off x="1143000" y="4191000"/>
            <a:ext cx="7620134" cy="838200"/>
            <a:chOff x="1296" y="1824"/>
            <a:chExt cx="3262" cy="432"/>
          </a:xfrm>
        </p:grpSpPr>
        <p:sp>
          <p:nvSpPr>
            <p:cNvPr id="24" name="AutoShape 43"/>
            <p:cNvSpPr>
              <a:spLocks noChangeArrowheads="1"/>
            </p:cNvSpPr>
            <p:nvPr/>
          </p:nvSpPr>
          <p:spPr bwMode="gray">
            <a:xfrm>
              <a:off x="1536" y="1920"/>
              <a:ext cx="2736" cy="288"/>
            </a:xfrm>
            <a:prstGeom prst="roundRect">
              <a:avLst>
                <a:gd name="adj" fmla="val 16667"/>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5" name="AutoShape 44"/>
            <p:cNvSpPr>
              <a:spLocks noChangeArrowheads="1"/>
            </p:cNvSpPr>
            <p:nvPr/>
          </p:nvSpPr>
          <p:spPr bwMode="gray">
            <a:xfrm>
              <a:off x="1296" y="1824"/>
              <a:ext cx="432" cy="432"/>
            </a:xfrm>
            <a:prstGeom prst="diamond">
              <a:avLst/>
            </a:prstGeom>
            <a:solidFill>
              <a:schemeClr val="accent1"/>
            </a:solidFill>
            <a:ln>
              <a:headEnd/>
              <a:tailEnd/>
            </a:ln>
          </p:spPr>
          <p:style>
            <a:lnRef idx="3">
              <a:schemeClr val="lt1"/>
            </a:lnRef>
            <a:fillRef idx="1">
              <a:schemeClr val="accent1"/>
            </a:fillRef>
            <a:effectRef idx="1">
              <a:schemeClr val="accent1"/>
            </a:effectRef>
            <a:fontRef idx="minor">
              <a:schemeClr val="lt1"/>
            </a:fontRef>
          </p:style>
          <p:txBody>
            <a:bodyPr wrap="none" anchor="ctr"/>
            <a:lstStyle/>
            <a:p>
              <a:pPr eaLnBrk="1" hangingPunct="1">
                <a:defRPr/>
              </a:pPr>
              <a:endParaRPr lang="en-US" sz="2400" b="1" dirty="0">
                <a:effectLst>
                  <a:outerShdw blurRad="38100" dist="38100" dir="2700000" algn="tl">
                    <a:srgbClr val="000000">
                      <a:alpha val="43137"/>
                    </a:srgbClr>
                  </a:outerShdw>
                </a:effectLst>
              </a:endParaRPr>
            </a:p>
          </p:txBody>
        </p:sp>
        <p:sp>
          <p:nvSpPr>
            <p:cNvPr id="26" name="Text Box 45"/>
            <p:cNvSpPr txBox="1">
              <a:spLocks noChangeArrowheads="1"/>
            </p:cNvSpPr>
            <p:nvPr/>
          </p:nvSpPr>
          <p:spPr bwMode="gray">
            <a:xfrm>
              <a:off x="1776" y="1920"/>
              <a:ext cx="2782" cy="238"/>
            </a:xfrm>
            <a:prstGeom prst="rect">
              <a:avLst/>
            </a:prstGeom>
            <a:noFill/>
            <a:ln w="9525" algn="ctr">
              <a:noFill/>
              <a:miter lim="800000"/>
              <a:headEnd/>
              <a:tailEnd/>
            </a:ln>
            <a:effectLst/>
          </p:spPr>
          <p:txBody>
            <a:bodyPr wrap="square">
              <a:spAutoFit/>
            </a:bodyPr>
            <a:lstStyle/>
            <a:p>
              <a:pPr>
                <a:defRPr/>
              </a:pPr>
              <a:r>
                <a:rPr lang="en-US" sz="2400" b="1" dirty="0">
                  <a:solidFill>
                    <a:schemeClr val="bg1"/>
                  </a:solidFill>
                  <a:effectLst>
                    <a:outerShdw blurRad="38100" dist="38100" dir="2700000" algn="tl">
                      <a:srgbClr val="000000">
                        <a:alpha val="43137"/>
                      </a:srgbClr>
                    </a:outerShdw>
                  </a:effectLst>
                  <a:cs typeface="Arial" charset="0"/>
                </a:rPr>
                <a:t>KIỂM SOÁT TRUYỀN THÔNG</a:t>
              </a:r>
            </a:p>
          </p:txBody>
        </p:sp>
        <p:sp>
          <p:nvSpPr>
            <p:cNvPr id="27" name="Text Box 46"/>
            <p:cNvSpPr txBox="1">
              <a:spLocks noChangeArrowheads="1"/>
            </p:cNvSpPr>
            <p:nvPr/>
          </p:nvSpPr>
          <p:spPr bwMode="gray">
            <a:xfrm>
              <a:off x="1421" y="1886"/>
              <a:ext cx="165" cy="330"/>
            </a:xfrm>
            <a:prstGeom prst="rect">
              <a:avLst/>
            </a:prstGeom>
            <a:noFill/>
            <a:ln w="9525" algn="ctr">
              <a:noFill/>
              <a:miter lim="800000"/>
              <a:headEnd/>
              <a:tailEnd/>
            </a:ln>
            <a:effectLst/>
          </p:spPr>
          <p:txBody>
            <a:bodyPr wrap="none">
              <a:spAutoFit/>
            </a:bodyPr>
            <a:lstStyle/>
            <a:p>
              <a:pPr algn="ctr">
                <a:defRPr/>
              </a:pPr>
              <a:r>
                <a:rPr lang="en-US" sz="2800" b="1" dirty="0">
                  <a:solidFill>
                    <a:schemeClr val="bg1"/>
                  </a:solidFill>
                  <a:effectLst>
                    <a:outerShdw blurRad="38100" dist="38100" dir="2700000" algn="tl">
                      <a:srgbClr val="000000">
                        <a:alpha val="43137"/>
                      </a:srgbClr>
                    </a:outerShdw>
                  </a:effectLst>
                </a:rPr>
                <a:t>3</a:t>
              </a:r>
              <a:endParaRPr lang="en-US" sz="2800" b="1" dirty="0">
                <a:solidFill>
                  <a:schemeClr val="bg1"/>
                </a:solidFill>
                <a:effectLst>
                  <a:outerShdw blurRad="38100" dist="38100" dir="2700000" algn="tl">
                    <a:srgbClr val="000000">
                      <a:alpha val="43137"/>
                    </a:srgbClr>
                  </a:outerShdw>
                </a:effectLst>
                <a:latin typeface="Arial" charset="0"/>
                <a:cs typeface="+mn-cs"/>
              </a:endParaRPr>
            </a:p>
          </p:txBody>
        </p:sp>
      </p:grpSp>
      <p:sp>
        <p:nvSpPr>
          <p:cNvPr id="28"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Tree>
    <p:extLst>
      <p:ext uri="{BB962C8B-B14F-4D97-AF65-F5344CB8AC3E}">
        <p14:creationId xmlns:p14="http://schemas.microsoft.com/office/powerpoint/2010/main" val="26987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anim calcmode="lin" valueType="num">
                                      <p:cBhvr>
                                        <p:cTn id="8" dur="500" fill="hold"/>
                                        <p:tgtEl>
                                          <p:spTgt spid="36"/>
                                        </p:tgtEl>
                                        <p:attrNameLst>
                                          <p:attrName>ppt_x</p:attrName>
                                        </p:attrNameLst>
                                      </p:cBhvr>
                                      <p:tavLst>
                                        <p:tav tm="0">
                                          <p:val>
                                            <p:strVal val="#ppt_x"/>
                                          </p:val>
                                        </p:tav>
                                        <p:tav tm="100000">
                                          <p:val>
                                            <p:strVal val="#ppt_x"/>
                                          </p:val>
                                        </p:tav>
                                      </p:tavLst>
                                    </p:anim>
                                    <p:anim calcmode="lin" valueType="num">
                                      <p:cBhvr>
                                        <p:cTn id="9" dur="500" fill="hold"/>
                                        <p:tgtEl>
                                          <p:spTgt spid="3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45"/>
                                        </p:tgtEl>
                                        <p:attrNameLst>
                                          <p:attrName>style.visibility</p:attrName>
                                        </p:attrNameLst>
                                      </p:cBhvr>
                                      <p:to>
                                        <p:strVal val="visible"/>
                                      </p:to>
                                    </p:set>
                                    <p:animEffect transition="in" filter="fade">
                                      <p:cBhvr>
                                        <p:cTn id="13" dur="500"/>
                                        <p:tgtEl>
                                          <p:spTgt spid="45"/>
                                        </p:tgtEl>
                                      </p:cBhvr>
                                    </p:animEffect>
                                    <p:anim calcmode="lin" valueType="num">
                                      <p:cBhvr>
                                        <p:cTn id="14" dur="500" fill="hold"/>
                                        <p:tgtEl>
                                          <p:spTgt spid="45"/>
                                        </p:tgtEl>
                                        <p:attrNameLst>
                                          <p:attrName>ppt_x</p:attrName>
                                        </p:attrNameLst>
                                      </p:cBhvr>
                                      <p:tavLst>
                                        <p:tav tm="0">
                                          <p:val>
                                            <p:strVal val="#ppt_x"/>
                                          </p:val>
                                        </p:tav>
                                        <p:tav tm="100000">
                                          <p:val>
                                            <p:strVal val="#ppt_x"/>
                                          </p:val>
                                        </p:tav>
                                      </p:tavLst>
                                    </p:anim>
                                    <p:anim calcmode="lin" valueType="num">
                                      <p:cBhvr>
                                        <p:cTn id="15" dur="500" fill="hold"/>
                                        <p:tgtEl>
                                          <p:spTgt spid="4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anim calcmode="lin" valueType="num">
                                      <p:cBhvr>
                                        <p:cTn id="20" dur="500" fill="hold"/>
                                        <p:tgtEl>
                                          <p:spTgt spid="50"/>
                                        </p:tgtEl>
                                        <p:attrNameLst>
                                          <p:attrName>ppt_x</p:attrName>
                                        </p:attrNameLst>
                                      </p:cBhvr>
                                      <p:tavLst>
                                        <p:tav tm="0">
                                          <p:val>
                                            <p:strVal val="#ppt_x"/>
                                          </p:val>
                                        </p:tav>
                                        <p:tav tm="100000">
                                          <p:val>
                                            <p:strVal val="#ppt_x"/>
                                          </p:val>
                                        </p:tav>
                                      </p:tavLst>
                                    </p:anim>
                                    <p:anim calcmode="lin" valueType="num">
                                      <p:cBhvr>
                                        <p:cTn id="21" dur="500" fill="hold"/>
                                        <p:tgtEl>
                                          <p:spTgt spid="5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anim calcmode="lin" valueType="num">
                                      <p:cBhvr>
                                        <p:cTn id="26" dur="500" fill="hold"/>
                                        <p:tgtEl>
                                          <p:spTgt spid="23"/>
                                        </p:tgtEl>
                                        <p:attrNameLst>
                                          <p:attrName>ppt_x</p:attrName>
                                        </p:attrNameLst>
                                      </p:cBhvr>
                                      <p:tavLst>
                                        <p:tav tm="0">
                                          <p:val>
                                            <p:strVal val="#ppt_x"/>
                                          </p:val>
                                        </p:tav>
                                        <p:tav tm="100000">
                                          <p:val>
                                            <p:strVal val="#ppt_x"/>
                                          </p:val>
                                        </p:tav>
                                      </p:tavLst>
                                    </p:anim>
                                    <p:anim calcmode="lin" valueType="num">
                                      <p:cBhvr>
                                        <p:cTn id="27"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7</a:t>
            </a:fld>
            <a:endParaRPr lang="en-US" dirty="0"/>
          </a:p>
        </p:txBody>
      </p:sp>
      <p:sp>
        <p:nvSpPr>
          <p:cNvPr id="8" name="Rectangle 7"/>
          <p:cNvSpPr/>
          <p:nvPr/>
        </p:nvSpPr>
        <p:spPr>
          <a:xfrm>
            <a:off x="4729350" y="6096000"/>
            <a:ext cx="2904962" cy="353943"/>
          </a:xfrm>
          <a:prstGeom prst="rect">
            <a:avLst/>
          </a:prstGeom>
        </p:spPr>
        <p:txBody>
          <a:bodyPr wrap="none">
            <a:spAutoFit/>
          </a:bodyPr>
          <a:lstStyle/>
          <a:p>
            <a:r>
              <a:rPr lang="vi-VN" sz="1700" dirty="0"/>
              <a:t>Nguồn: Rita Mulcahy </a:t>
            </a:r>
            <a:r>
              <a:rPr lang="vi-VN" sz="1700"/>
              <a:t>(201</a:t>
            </a:r>
            <a:r>
              <a:rPr lang="en-US" sz="1700"/>
              <a:t>8</a:t>
            </a:r>
            <a:r>
              <a:rPr lang="vi-VN" sz="1700"/>
              <a:t>)</a:t>
            </a:r>
            <a:endParaRPr lang="vi-VN" sz="1700" dirty="0"/>
          </a:p>
        </p:txBody>
      </p:sp>
      <p:sp>
        <p:nvSpPr>
          <p:cNvPr id="9" name="Rectangle 1026"/>
          <p:cNvSpPr>
            <a:spLocks noGrp="1" noChangeArrowheads="1"/>
          </p:cNvSpPr>
          <p:nvPr>
            <p:ph type="title"/>
          </p:nvPr>
        </p:nvSpPr>
        <p:spPr>
          <a:xfrm>
            <a:off x="0" y="304800"/>
            <a:ext cx="9144000" cy="639762"/>
          </a:xfrm>
        </p:spPr>
        <p:txBody>
          <a:bodyPr>
            <a:noAutofit/>
          </a:bodyPr>
          <a:lstStyle/>
          <a:p>
            <a:pPr algn="ctr"/>
            <a:r>
              <a:rPr lang="en-US" sz="3600" dirty="0" err="1">
                <a:solidFill>
                  <a:schemeClr val="tx1"/>
                </a:solidFill>
              </a:rPr>
              <a:t>Các</a:t>
            </a:r>
            <a:r>
              <a:rPr lang="en-US" sz="3600" dirty="0">
                <a:solidFill>
                  <a:schemeClr val="tx1"/>
                </a:solidFill>
              </a:rPr>
              <a:t> </a:t>
            </a:r>
            <a:r>
              <a:rPr lang="en-US" sz="3600" dirty="0" err="1">
                <a:solidFill>
                  <a:schemeClr val="tx1"/>
                </a:solidFill>
              </a:rPr>
              <a:t>kênh</a:t>
            </a:r>
            <a:r>
              <a:rPr lang="en-US" sz="3600" dirty="0">
                <a:solidFill>
                  <a:schemeClr val="tx1"/>
                </a:solidFill>
              </a:rPr>
              <a:t> </a:t>
            </a:r>
            <a:r>
              <a:rPr lang="en-US" sz="3600" dirty="0" err="1">
                <a:solidFill>
                  <a:schemeClr val="tx1"/>
                </a:solidFill>
              </a:rPr>
              <a:t>truyền</a:t>
            </a:r>
            <a:r>
              <a:rPr lang="en-US" sz="3600" dirty="0">
                <a:solidFill>
                  <a:schemeClr val="tx1"/>
                </a:solidFill>
              </a:rPr>
              <a:t> thông </a:t>
            </a:r>
            <a:r>
              <a:rPr lang="en-US" sz="3600" dirty="0" err="1">
                <a:solidFill>
                  <a:schemeClr val="tx1"/>
                </a:solidFill>
              </a:rPr>
              <a:t>dự</a:t>
            </a:r>
            <a:r>
              <a:rPr lang="en-US" sz="3600" dirty="0">
                <a:solidFill>
                  <a:schemeClr val="tx1"/>
                </a:solidFill>
              </a:rPr>
              <a:t> </a:t>
            </a:r>
            <a:r>
              <a:rPr lang="en-US" sz="3600" dirty="0" err="1">
                <a:solidFill>
                  <a:schemeClr val="tx1"/>
                </a:solidFill>
              </a:rPr>
              <a:t>án</a:t>
            </a:r>
            <a:endParaRPr lang="en-US" sz="3600" dirty="0">
              <a:solidFill>
                <a:schemeClr val="tx1"/>
              </a:solidFill>
            </a:endParaRPr>
          </a:p>
        </p:txBody>
      </p:sp>
      <p:pic>
        <p:nvPicPr>
          <p:cNvPr id="10" name="Picture 9"/>
          <p:cNvPicPr>
            <a:picLocks noChangeAspect="1"/>
          </p:cNvPicPr>
          <p:nvPr/>
        </p:nvPicPr>
        <p:blipFill>
          <a:blip r:embed="rId2"/>
          <a:stretch>
            <a:fillRect/>
          </a:stretch>
        </p:blipFill>
        <p:spPr>
          <a:xfrm>
            <a:off x="3124200" y="3352800"/>
            <a:ext cx="2958355" cy="825874"/>
          </a:xfrm>
          <a:prstGeom prst="rect">
            <a:avLst/>
          </a:prstGeom>
        </p:spPr>
      </p:pic>
      <p:pic>
        <p:nvPicPr>
          <p:cNvPr id="11" name="Picture 10"/>
          <p:cNvPicPr>
            <a:picLocks noChangeAspect="1"/>
          </p:cNvPicPr>
          <p:nvPr/>
        </p:nvPicPr>
        <p:blipFill>
          <a:blip r:embed="rId3"/>
          <a:stretch>
            <a:fillRect/>
          </a:stretch>
        </p:blipFill>
        <p:spPr>
          <a:xfrm>
            <a:off x="4267200" y="2295525"/>
            <a:ext cx="847725" cy="1133475"/>
          </a:xfrm>
          <a:prstGeom prst="rect">
            <a:avLst/>
          </a:prstGeom>
        </p:spPr>
      </p:pic>
      <p:pic>
        <p:nvPicPr>
          <p:cNvPr id="12" name="Picture 11"/>
          <p:cNvPicPr>
            <a:picLocks noChangeAspect="1"/>
          </p:cNvPicPr>
          <p:nvPr/>
        </p:nvPicPr>
        <p:blipFill>
          <a:blip r:embed="rId4"/>
          <a:stretch>
            <a:fillRect/>
          </a:stretch>
        </p:blipFill>
        <p:spPr>
          <a:xfrm>
            <a:off x="2971800" y="1219200"/>
            <a:ext cx="3328147" cy="1097056"/>
          </a:xfrm>
          <a:prstGeom prst="rect">
            <a:avLst/>
          </a:prstGeom>
        </p:spPr>
      </p:pic>
      <p:pic>
        <p:nvPicPr>
          <p:cNvPr id="13" name="Picture 12"/>
          <p:cNvPicPr>
            <a:picLocks noChangeAspect="1"/>
          </p:cNvPicPr>
          <p:nvPr/>
        </p:nvPicPr>
        <p:blipFill>
          <a:blip r:embed="rId5"/>
          <a:stretch>
            <a:fillRect/>
          </a:stretch>
        </p:blipFill>
        <p:spPr>
          <a:xfrm>
            <a:off x="4267200" y="4171950"/>
            <a:ext cx="790575" cy="1104900"/>
          </a:xfrm>
          <a:prstGeom prst="rect">
            <a:avLst/>
          </a:prstGeom>
        </p:spPr>
      </p:pic>
      <p:pic>
        <p:nvPicPr>
          <p:cNvPr id="14" name="Picture 13"/>
          <p:cNvPicPr>
            <a:picLocks noChangeAspect="1"/>
          </p:cNvPicPr>
          <p:nvPr/>
        </p:nvPicPr>
        <p:blipFill>
          <a:blip r:embed="rId6"/>
          <a:stretch>
            <a:fillRect/>
          </a:stretch>
        </p:blipFill>
        <p:spPr>
          <a:xfrm>
            <a:off x="3200400" y="5197288"/>
            <a:ext cx="3007660" cy="517712"/>
          </a:xfrm>
          <a:prstGeom prst="rect">
            <a:avLst/>
          </a:prstGeom>
        </p:spPr>
      </p:pic>
      <p:pic>
        <p:nvPicPr>
          <p:cNvPr id="15" name="Picture 14"/>
          <p:cNvPicPr>
            <a:picLocks noChangeAspect="1"/>
          </p:cNvPicPr>
          <p:nvPr/>
        </p:nvPicPr>
        <p:blipFill>
          <a:blip r:embed="rId7"/>
          <a:stretch>
            <a:fillRect/>
          </a:stretch>
        </p:blipFill>
        <p:spPr>
          <a:xfrm>
            <a:off x="6067425" y="3200400"/>
            <a:ext cx="866775" cy="990600"/>
          </a:xfrm>
          <a:prstGeom prst="rect">
            <a:avLst/>
          </a:prstGeom>
        </p:spPr>
      </p:pic>
      <p:pic>
        <p:nvPicPr>
          <p:cNvPr id="16" name="Picture 15"/>
          <p:cNvPicPr>
            <a:picLocks noChangeAspect="1"/>
          </p:cNvPicPr>
          <p:nvPr/>
        </p:nvPicPr>
        <p:blipFill>
          <a:blip r:embed="rId8"/>
          <a:stretch>
            <a:fillRect/>
          </a:stretch>
        </p:blipFill>
        <p:spPr>
          <a:xfrm>
            <a:off x="6971179" y="3422307"/>
            <a:ext cx="1639421" cy="628650"/>
          </a:xfrm>
          <a:prstGeom prst="rect">
            <a:avLst/>
          </a:prstGeom>
        </p:spPr>
      </p:pic>
      <p:pic>
        <p:nvPicPr>
          <p:cNvPr id="18" name="Picture 17"/>
          <p:cNvPicPr>
            <a:picLocks noChangeAspect="1"/>
          </p:cNvPicPr>
          <p:nvPr/>
        </p:nvPicPr>
        <p:blipFill>
          <a:blip r:embed="rId9"/>
          <a:stretch>
            <a:fillRect/>
          </a:stretch>
        </p:blipFill>
        <p:spPr>
          <a:xfrm>
            <a:off x="2209800" y="3333750"/>
            <a:ext cx="895350" cy="981075"/>
          </a:xfrm>
          <a:prstGeom prst="rect">
            <a:avLst/>
          </a:prstGeom>
        </p:spPr>
      </p:pic>
      <p:pic>
        <p:nvPicPr>
          <p:cNvPr id="19" name="Picture 18"/>
          <p:cNvPicPr>
            <a:picLocks noChangeAspect="1"/>
          </p:cNvPicPr>
          <p:nvPr/>
        </p:nvPicPr>
        <p:blipFill>
          <a:blip r:embed="rId10"/>
          <a:stretch>
            <a:fillRect/>
          </a:stretch>
        </p:blipFill>
        <p:spPr>
          <a:xfrm>
            <a:off x="609600" y="3313671"/>
            <a:ext cx="1540809" cy="936812"/>
          </a:xfrm>
          <a:prstGeom prst="rect">
            <a:avLst/>
          </a:prstGeom>
        </p:spPr>
      </p:pic>
    </p:spTree>
    <p:extLst>
      <p:ext uri="{BB962C8B-B14F-4D97-AF65-F5344CB8AC3E}">
        <p14:creationId xmlns:p14="http://schemas.microsoft.com/office/powerpoint/2010/main" val="2421808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42"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outHorizontal)">
                                      <p:cBhvr>
                                        <p:cTn id="12" dur="500"/>
                                        <p:tgtEl>
                                          <p:spTgt spid="11"/>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barn(outHorizontal)">
                                      <p:cBhvr>
                                        <p:cTn id="21" dur="500"/>
                                        <p:tgtEl>
                                          <p:spTgt spid="13"/>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barn(outVertical)">
                                      <p:cBhvr>
                                        <p:cTn id="30" dur="500"/>
                                        <p:tgtEl>
                                          <p:spTgt spid="15"/>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37"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barn(outVertical)">
                                      <p:cBhvr>
                                        <p:cTn id="39" dur="500"/>
                                        <p:tgtEl>
                                          <p:spTgt spid="18"/>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1027"/>
          <p:cNvSpPr>
            <a:spLocks noGrp="1" noChangeArrowheads="1"/>
          </p:cNvSpPr>
          <p:nvPr>
            <p:ph idx="1"/>
          </p:nvPr>
        </p:nvSpPr>
        <p:spPr>
          <a:xfrm>
            <a:off x="381000" y="1600200"/>
            <a:ext cx="8153400" cy="4572000"/>
          </a:xfrm>
        </p:spPr>
        <p:txBody>
          <a:bodyPr/>
          <a:lstStyle/>
          <a:p>
            <a:pPr algn="just">
              <a:spcBef>
                <a:spcPct val="60000"/>
              </a:spcBef>
              <a:buClr>
                <a:srgbClr val="666699"/>
              </a:buClr>
              <a:buFont typeface="Wingdings 3" panose="05040102010807070707" pitchFamily="18" charset="2"/>
              <a:buChar char="}"/>
            </a:pPr>
            <a:r>
              <a:rPr lang="vi-VN" dirty="0"/>
              <a:t>Mối đe dọa lớn nhất với nhiều dự án là thất bại trong giao tiếp.</a:t>
            </a:r>
          </a:p>
          <a:p>
            <a:pPr algn="just">
              <a:spcBef>
                <a:spcPct val="60000"/>
              </a:spcBef>
              <a:buClr>
                <a:srgbClr val="666699"/>
              </a:buClr>
              <a:buFont typeface="Wingdings 3" panose="05040102010807070707" pitchFamily="18" charset="2"/>
              <a:buChar char="}"/>
            </a:pPr>
            <a:r>
              <a:rPr lang="vi-VN" dirty="0"/>
              <a:t>Kỹ sư CNTT không phải là nhà truyền thông tốt.</a:t>
            </a:r>
          </a:p>
          <a:p>
            <a:pPr algn="just">
              <a:spcBef>
                <a:spcPct val="60000"/>
              </a:spcBef>
              <a:buClr>
                <a:srgbClr val="666699"/>
              </a:buClr>
              <a:buFont typeface="Wingdings 3" panose="05040102010807070707" pitchFamily="18" charset="2"/>
              <a:buChar char="}"/>
            </a:pPr>
            <a:r>
              <a:rPr lang="vi-VN" dirty="0"/>
              <a:t>Chuyên gia CNTT/HTTT phải có khả năng giao tiếp hiệu quả để thành công trong vị trí của họ.</a:t>
            </a:r>
          </a:p>
          <a:p>
            <a:pPr algn="just">
              <a:spcBef>
                <a:spcPct val="60000"/>
              </a:spcBef>
              <a:buClr>
                <a:srgbClr val="666699"/>
              </a:buClr>
              <a:buFont typeface="Wingdings 3" panose="05040102010807070707" pitchFamily="18" charset="2"/>
              <a:buChar char="}"/>
            </a:pPr>
            <a:r>
              <a:rPr lang="vi-VN" dirty="0"/>
              <a:t>Kỹ năng nói và kỹ năng mềm tốt là yếu tố quan trọng cho sự phát triển nghề nghiệp CNTT/HTTT.</a:t>
            </a:r>
            <a:endParaRPr lang="en-US" dirty="0"/>
          </a:p>
        </p:txBody>
      </p:sp>
      <p:sp>
        <p:nvSpPr>
          <p:cNvPr id="11266" name="Rectangle 1026"/>
          <p:cNvSpPr>
            <a:spLocks noGrp="1" noChangeArrowheads="1"/>
          </p:cNvSpPr>
          <p:nvPr>
            <p:ph type="title"/>
          </p:nvPr>
        </p:nvSpPr>
        <p:spPr>
          <a:xfrm>
            <a:off x="0" y="457200"/>
            <a:ext cx="9144000" cy="639762"/>
          </a:xfrm>
        </p:spPr>
        <p:txBody>
          <a:bodyPr>
            <a:noAutofit/>
          </a:bodyPr>
          <a:lstStyle/>
          <a:p>
            <a:pPr algn="ctr"/>
            <a:r>
              <a:rPr lang="en-US" sz="4000" dirty="0" err="1">
                <a:solidFill>
                  <a:srgbClr val="0070C0"/>
                </a:solidFill>
              </a:rPr>
              <a:t>Tầm</a:t>
            </a:r>
            <a:r>
              <a:rPr lang="en-US" sz="4000" dirty="0">
                <a:solidFill>
                  <a:srgbClr val="0070C0"/>
                </a:solidFill>
              </a:rPr>
              <a:t> </a:t>
            </a:r>
            <a:r>
              <a:rPr lang="en-US" sz="4000" dirty="0" err="1">
                <a:solidFill>
                  <a:srgbClr val="0070C0"/>
                </a:solidFill>
              </a:rPr>
              <a:t>quan</a:t>
            </a:r>
            <a:r>
              <a:rPr lang="en-US" sz="4000" dirty="0">
                <a:solidFill>
                  <a:srgbClr val="0070C0"/>
                </a:solidFill>
              </a:rPr>
              <a:t> </a:t>
            </a:r>
            <a:r>
              <a:rPr lang="en-US" sz="4000" dirty="0" err="1">
                <a:solidFill>
                  <a:srgbClr val="0070C0"/>
                </a:solidFill>
              </a:rPr>
              <a:t>trọng</a:t>
            </a:r>
            <a:r>
              <a:rPr lang="en-US" sz="4000" dirty="0">
                <a:solidFill>
                  <a:srgbClr val="0070C0"/>
                </a:solidFill>
              </a:rPr>
              <a:t> </a:t>
            </a:r>
            <a:r>
              <a:rPr lang="en-US" sz="4000" dirty="0" err="1">
                <a:solidFill>
                  <a:srgbClr val="0070C0"/>
                </a:solidFill>
              </a:rPr>
              <a:t>của</a:t>
            </a:r>
            <a:r>
              <a:rPr lang="en-US" sz="4000" dirty="0">
                <a:solidFill>
                  <a:srgbClr val="0070C0"/>
                </a:solidFill>
              </a:rPr>
              <a:t> </a:t>
            </a:r>
            <a:r>
              <a:rPr lang="en-US" sz="4000" dirty="0" err="1">
                <a:solidFill>
                  <a:srgbClr val="0070C0"/>
                </a:solidFill>
              </a:rPr>
              <a:t>truyền</a:t>
            </a:r>
            <a:r>
              <a:rPr lang="en-US" sz="4000" dirty="0">
                <a:solidFill>
                  <a:srgbClr val="0070C0"/>
                </a:solidFill>
              </a:rPr>
              <a:t> thông</a:t>
            </a:r>
          </a:p>
        </p:txBody>
      </p:sp>
      <p:sp>
        <p:nvSpPr>
          <p:cNvPr id="11269"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7F552E40-316F-4674-A043-23A6DEDF19B8}"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676400"/>
            <a:ext cx="8077200" cy="2971800"/>
          </a:xfrm>
          <a:solidFill>
            <a:schemeClr val="bg2"/>
          </a:solidFill>
        </p:spPr>
        <p:txBody>
          <a:bodyPr/>
          <a:lstStyle/>
          <a:p>
            <a:pPr algn="just"/>
            <a:r>
              <a:rPr lang="en-US" sz="2400" dirty="0" err="1"/>
              <a:t>Các</a:t>
            </a:r>
            <a:r>
              <a:rPr lang="en-US" sz="2400" dirty="0"/>
              <a:t> </a:t>
            </a:r>
            <a:r>
              <a:rPr lang="en-US" sz="2400" dirty="0" err="1"/>
              <a:t>tổ</a:t>
            </a:r>
            <a:r>
              <a:rPr lang="en-US" sz="2400" dirty="0"/>
              <a:t> </a:t>
            </a:r>
            <a:r>
              <a:rPr lang="en-US" sz="2400" dirty="0" err="1"/>
              <a:t>chức</a:t>
            </a:r>
            <a:r>
              <a:rPr lang="en-US" sz="2400" dirty="0"/>
              <a:t> </a:t>
            </a:r>
            <a:r>
              <a:rPr lang="en-US" sz="2400" dirty="0" err="1"/>
              <a:t>tuyển</a:t>
            </a:r>
            <a:r>
              <a:rPr lang="en-US" sz="2400" dirty="0"/>
              <a:t> </a:t>
            </a:r>
            <a:r>
              <a:rPr lang="en-US" sz="2400" dirty="0" err="1"/>
              <a:t>nhân</a:t>
            </a:r>
            <a:r>
              <a:rPr lang="en-US" sz="2400" dirty="0"/>
              <a:t> </a:t>
            </a:r>
            <a:r>
              <a:rPr lang="en-US" sz="2400" dirty="0" err="1"/>
              <a:t>sự</a:t>
            </a:r>
            <a:r>
              <a:rPr lang="en-US" sz="2400" dirty="0"/>
              <a:t> </a:t>
            </a:r>
            <a:r>
              <a:rPr lang="en-US" sz="2400" dirty="0" err="1"/>
              <a:t>có</a:t>
            </a:r>
            <a:r>
              <a:rPr lang="en-US" sz="2400" dirty="0"/>
              <a:t> </a:t>
            </a:r>
            <a:r>
              <a:rPr lang="en-US" sz="2400" dirty="0" err="1"/>
              <a:t>kỹ</a:t>
            </a:r>
            <a:r>
              <a:rPr lang="en-US" sz="2400" dirty="0"/>
              <a:t> </a:t>
            </a:r>
            <a:r>
              <a:rPr lang="en-US" sz="2400" dirty="0" err="1"/>
              <a:t>năng</a:t>
            </a:r>
            <a:r>
              <a:rPr lang="en-US" sz="2400" dirty="0"/>
              <a:t> </a:t>
            </a:r>
            <a:r>
              <a:rPr lang="en-US" sz="2400" dirty="0" err="1"/>
              <a:t>kỹ</a:t>
            </a:r>
            <a:r>
              <a:rPr lang="en-US" sz="2400" dirty="0"/>
              <a:t> </a:t>
            </a:r>
            <a:r>
              <a:rPr lang="en-US" sz="2400" dirty="0" err="1"/>
              <a:t>thuật</a:t>
            </a:r>
            <a:r>
              <a:rPr lang="en-US" sz="2400" dirty="0"/>
              <a:t> </a:t>
            </a:r>
            <a:r>
              <a:rPr lang="en-US" sz="2400" dirty="0" err="1"/>
              <a:t>tối</a:t>
            </a:r>
            <a:r>
              <a:rPr lang="en-US" sz="2400" dirty="0"/>
              <a:t> </a:t>
            </a:r>
            <a:r>
              <a:rPr lang="en-US" sz="2400" dirty="0" err="1"/>
              <a:t>thiểu</a:t>
            </a:r>
            <a:r>
              <a:rPr lang="en-US" sz="2400" dirty="0"/>
              <a:t>, </a:t>
            </a:r>
            <a:r>
              <a:rPr lang="en-US" sz="2400" dirty="0" err="1"/>
              <a:t>miễn</a:t>
            </a:r>
            <a:r>
              <a:rPr lang="en-US" sz="2400" dirty="0"/>
              <a:t> </a:t>
            </a:r>
            <a:r>
              <a:rPr lang="en-US" sz="2400" dirty="0" err="1"/>
              <a:t>nắm</a:t>
            </a:r>
            <a:r>
              <a:rPr lang="en-US" sz="2400" dirty="0"/>
              <a:t> </a:t>
            </a:r>
            <a:r>
              <a:rPr lang="en-US" sz="2400" dirty="0" err="1"/>
              <a:t>vững</a:t>
            </a:r>
            <a:r>
              <a:rPr lang="en-US" sz="2400" dirty="0"/>
              <a:t> </a:t>
            </a:r>
            <a:r>
              <a:rPr lang="en-US" sz="2400" dirty="0" err="1"/>
              <a:t>kỹ</a:t>
            </a:r>
            <a:r>
              <a:rPr lang="en-US" sz="2400" dirty="0"/>
              <a:t> </a:t>
            </a:r>
            <a:r>
              <a:rPr lang="en-US" sz="2400" dirty="0" err="1"/>
              <a:t>năng</a:t>
            </a:r>
            <a:r>
              <a:rPr lang="en-US" sz="2400" dirty="0"/>
              <a:t> </a:t>
            </a:r>
            <a:r>
              <a:rPr lang="en-US" sz="2400" dirty="0" err="1"/>
              <a:t>mềm</a:t>
            </a:r>
            <a:r>
              <a:rPr lang="en-US" sz="2400" dirty="0"/>
              <a:t> và </a:t>
            </a:r>
            <a:r>
              <a:rPr lang="en-US" sz="2400" dirty="0" err="1"/>
              <a:t>kinh</a:t>
            </a:r>
            <a:r>
              <a:rPr lang="en-US" sz="2400" dirty="0"/>
              <a:t> </a:t>
            </a:r>
            <a:r>
              <a:rPr lang="en-US" sz="2400" dirty="0" err="1"/>
              <a:t>doanh</a:t>
            </a:r>
            <a:r>
              <a:rPr lang="en-US" sz="2400" dirty="0"/>
              <a:t>.</a:t>
            </a:r>
          </a:p>
          <a:p>
            <a:pPr algn="just">
              <a:spcBef>
                <a:spcPts val="1800"/>
              </a:spcBef>
            </a:pPr>
            <a:r>
              <a:rPr lang="en-US" sz="2400" dirty="0" err="1"/>
              <a:t>Các</a:t>
            </a:r>
            <a:r>
              <a:rPr lang="en-US" sz="2400" dirty="0"/>
              <a:t> </a:t>
            </a:r>
            <a:r>
              <a:rPr lang="en-US" sz="2400" dirty="0" err="1"/>
              <a:t>kỹ</a:t>
            </a:r>
            <a:r>
              <a:rPr lang="en-US" sz="2400" dirty="0"/>
              <a:t> </a:t>
            </a:r>
            <a:r>
              <a:rPr lang="en-US" sz="2400" dirty="0" err="1"/>
              <a:t>năng</a:t>
            </a:r>
            <a:r>
              <a:rPr lang="en-US" sz="2400" dirty="0"/>
              <a:t> </a:t>
            </a:r>
            <a:r>
              <a:rPr lang="en-US" sz="2400" dirty="0" err="1"/>
              <a:t>mềm</a:t>
            </a:r>
            <a:r>
              <a:rPr lang="en-US" sz="2400" dirty="0"/>
              <a:t> </a:t>
            </a:r>
            <a:r>
              <a:rPr lang="en-US" sz="2400" dirty="0" err="1"/>
              <a:t>quan</a:t>
            </a:r>
            <a:r>
              <a:rPr lang="en-US" sz="2400" dirty="0"/>
              <a:t> </a:t>
            </a:r>
            <a:r>
              <a:rPr lang="en-US" sz="2400" dirty="0" err="1"/>
              <a:t>trọng</a:t>
            </a:r>
            <a:r>
              <a:rPr lang="en-US" sz="2400" dirty="0"/>
              <a:t>:</a:t>
            </a:r>
          </a:p>
          <a:p>
            <a:pPr lvl="1" algn="just">
              <a:spcBef>
                <a:spcPts val="0"/>
              </a:spcBef>
              <a:buFont typeface="Arial" panose="020B0604020202020204" pitchFamily="34" charset="0"/>
              <a:buChar char="•"/>
            </a:pPr>
            <a:r>
              <a:rPr lang="en-US" sz="2200" dirty="0" err="1"/>
              <a:t>Giải</a:t>
            </a:r>
            <a:r>
              <a:rPr lang="en-US" sz="2200" dirty="0"/>
              <a:t> </a:t>
            </a:r>
            <a:r>
              <a:rPr lang="en-US" sz="2200" dirty="0" err="1"/>
              <a:t>quyết</a:t>
            </a:r>
            <a:r>
              <a:rPr lang="en-US" sz="2200" dirty="0"/>
              <a:t> </a:t>
            </a:r>
            <a:r>
              <a:rPr lang="en-US" sz="2200" dirty="0" err="1"/>
              <a:t>vấn</a:t>
            </a:r>
            <a:r>
              <a:rPr lang="en-US" sz="2200" dirty="0"/>
              <a:t> </a:t>
            </a:r>
            <a:r>
              <a:rPr lang="en-US" sz="2200" dirty="0" err="1"/>
              <a:t>đề</a:t>
            </a:r>
            <a:r>
              <a:rPr lang="en-US" sz="2200" dirty="0"/>
              <a:t> </a:t>
            </a:r>
          </a:p>
          <a:p>
            <a:pPr lvl="1" algn="just">
              <a:spcBef>
                <a:spcPts val="0"/>
              </a:spcBef>
              <a:buFont typeface="Arial" panose="020B0604020202020204" pitchFamily="34" charset="0"/>
              <a:buChar char="•"/>
            </a:pPr>
            <a:r>
              <a:rPr lang="en-US" sz="2200" dirty="0" err="1"/>
              <a:t>Làm</a:t>
            </a:r>
            <a:r>
              <a:rPr lang="en-US" sz="2200" dirty="0"/>
              <a:t> </a:t>
            </a:r>
            <a:r>
              <a:rPr lang="en-US" sz="2200" dirty="0" err="1"/>
              <a:t>việc</a:t>
            </a:r>
            <a:r>
              <a:rPr lang="en-US" sz="2200" dirty="0"/>
              <a:t> </a:t>
            </a:r>
            <a:r>
              <a:rPr lang="en-US" sz="2200" dirty="0" err="1"/>
              <a:t>nhóm</a:t>
            </a:r>
            <a:endParaRPr lang="en-US" sz="2200" dirty="0"/>
          </a:p>
          <a:p>
            <a:pPr lvl="1" algn="just">
              <a:spcBef>
                <a:spcPts val="0"/>
              </a:spcBef>
              <a:buFont typeface="Arial" panose="020B0604020202020204" pitchFamily="34" charset="0"/>
              <a:buChar char="•"/>
            </a:pPr>
            <a:r>
              <a:rPr lang="en-US" sz="2200" dirty="0" err="1"/>
              <a:t>Lắng</a:t>
            </a:r>
            <a:r>
              <a:rPr lang="en-US" sz="2200" dirty="0"/>
              <a:t> </a:t>
            </a:r>
            <a:r>
              <a:rPr lang="en-US" sz="2200" dirty="0" err="1"/>
              <a:t>nghe</a:t>
            </a:r>
            <a:r>
              <a:rPr lang="en-US" sz="2200" dirty="0"/>
              <a:t>.</a:t>
            </a:r>
          </a:p>
        </p:txBody>
      </p:sp>
      <p:sp>
        <p:nvSpPr>
          <p:cNvPr id="3" name="Title 2"/>
          <p:cNvSpPr>
            <a:spLocks noGrp="1"/>
          </p:cNvSpPr>
          <p:nvPr>
            <p:ph type="title"/>
          </p:nvPr>
        </p:nvSpPr>
        <p:spPr>
          <a:xfrm>
            <a:off x="0" y="152400"/>
            <a:ext cx="9144000" cy="1143000"/>
          </a:xfrm>
        </p:spPr>
        <p:txBody>
          <a:bodyPr>
            <a:normAutofit/>
          </a:bodyPr>
          <a:lstStyle/>
          <a:p>
            <a:pPr algn="ctr"/>
            <a:r>
              <a:rPr lang="en-US" sz="3600" dirty="0" err="1"/>
              <a:t>Các</a:t>
            </a:r>
            <a:r>
              <a:rPr lang="en-US" sz="3600" dirty="0"/>
              <a:t> </a:t>
            </a:r>
            <a:r>
              <a:rPr lang="en-US" sz="3600" dirty="0" err="1"/>
              <a:t>kỹ</a:t>
            </a:r>
            <a:r>
              <a:rPr lang="en-US" sz="3600" dirty="0"/>
              <a:t> </a:t>
            </a:r>
            <a:r>
              <a:rPr lang="en-US" sz="3600" dirty="0" err="1"/>
              <a:t>năng</a:t>
            </a:r>
            <a:r>
              <a:rPr lang="en-US" sz="3600" dirty="0"/>
              <a:t> </a:t>
            </a:r>
            <a:r>
              <a:rPr lang="en-US" sz="3600" dirty="0" err="1"/>
              <a:t>mềm</a:t>
            </a:r>
            <a:r>
              <a:rPr lang="en-US" sz="3600" dirty="0"/>
              <a:t> </a:t>
            </a:r>
            <a:r>
              <a:rPr lang="en-US" sz="3600" dirty="0" err="1"/>
              <a:t>quan</a:t>
            </a:r>
            <a:r>
              <a:rPr lang="en-US" sz="3600" dirty="0"/>
              <a:t> </a:t>
            </a:r>
            <a:r>
              <a:rPr lang="en-US" sz="3600" dirty="0" err="1"/>
              <a:t>trọng</a:t>
            </a:r>
            <a:r>
              <a:rPr lang="en-US" sz="3600" dirty="0"/>
              <a:t> (2014)</a:t>
            </a:r>
          </a:p>
        </p:txBody>
      </p:sp>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9</a:t>
            </a:fld>
            <a:endParaRPr lang="en-US" dirty="0"/>
          </a:p>
        </p:txBody>
      </p:sp>
      <p:pic>
        <p:nvPicPr>
          <p:cNvPr id="7" name="Picture 6"/>
          <p:cNvPicPr>
            <a:picLocks noChangeAspect="1"/>
          </p:cNvPicPr>
          <p:nvPr/>
        </p:nvPicPr>
        <p:blipFill>
          <a:blip r:embed="rId2"/>
          <a:stretch>
            <a:fillRect/>
          </a:stretch>
        </p:blipFill>
        <p:spPr>
          <a:xfrm>
            <a:off x="3886200" y="3810000"/>
            <a:ext cx="4247843" cy="2667000"/>
          </a:xfrm>
          <a:prstGeom prst="rect">
            <a:avLst/>
          </a:prstGeom>
        </p:spPr>
      </p:pic>
    </p:spTree>
    <p:extLst>
      <p:ext uri="{BB962C8B-B14F-4D97-AF65-F5344CB8AC3E}">
        <p14:creationId xmlns:p14="http://schemas.microsoft.com/office/powerpoint/2010/main" val="92049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228599" y="1143000"/>
            <a:ext cx="8737665" cy="4648200"/>
          </a:xfrm>
          <a:prstGeom prst="rect">
            <a:avLst/>
          </a:prstGeom>
        </p:spPr>
      </p:pic>
      <p:sp>
        <p:nvSpPr>
          <p:cNvPr id="4" name="Slide Number Placeholder 3"/>
          <p:cNvSpPr>
            <a:spLocks noGrp="1"/>
          </p:cNvSpPr>
          <p:nvPr>
            <p:ph type="sldNum" sz="quarter" idx="4294967295"/>
          </p:nvPr>
        </p:nvSpPr>
        <p:spPr>
          <a:xfrm>
            <a:off x="8588375" y="6492875"/>
            <a:ext cx="555625" cy="365125"/>
          </a:xfrm>
          <a:prstGeom prst="rect">
            <a:avLst/>
          </a:prstGeom>
        </p:spPr>
        <p:txBody>
          <a:bodyPr/>
          <a:lstStyle/>
          <a:p>
            <a:pPr>
              <a:defRPr/>
            </a:pPr>
            <a:fld id="{E5A7A581-379D-4ED7-B5BC-E1CE1865ED13}" type="slidenum">
              <a:rPr lang="en-US" smtClean="0"/>
              <a:pPr>
                <a:defRPr/>
              </a:pPr>
              <a:t>10</a:t>
            </a:fld>
            <a:endParaRPr lang="en-US" dirty="0"/>
          </a:p>
        </p:txBody>
      </p:sp>
      <p:sp>
        <p:nvSpPr>
          <p:cNvPr id="6" name="Rectangle 2"/>
          <p:cNvSpPr>
            <a:spLocks noGrp="1" noChangeArrowheads="1"/>
          </p:cNvSpPr>
          <p:nvPr>
            <p:ph type="title"/>
          </p:nvPr>
        </p:nvSpPr>
        <p:spPr>
          <a:xfrm>
            <a:off x="304800" y="228600"/>
            <a:ext cx="8534400" cy="685800"/>
          </a:xfrm>
        </p:spPr>
        <p:txBody>
          <a:bodyPr>
            <a:noAutofit/>
          </a:bodyPr>
          <a:lstStyle/>
          <a:p>
            <a:pPr algn="ctr"/>
            <a:r>
              <a:rPr lang="vi-VN" sz="3400" dirty="0">
                <a:solidFill>
                  <a:schemeClr val="bg1">
                    <a:lumMod val="65000"/>
                  </a:schemeClr>
                </a:solidFill>
              </a:rPr>
              <a:t>Tương tác trong dự án [truyền thông]</a:t>
            </a:r>
            <a:endParaRPr lang="en-US" sz="3400" dirty="0">
              <a:solidFill>
                <a:schemeClr val="bg1">
                  <a:lumMod val="65000"/>
                </a:schemeClr>
              </a:solidFill>
            </a:endParaRPr>
          </a:p>
        </p:txBody>
      </p:sp>
      <p:sp>
        <p:nvSpPr>
          <p:cNvPr id="7" name="Rounded Rectangle 6"/>
          <p:cNvSpPr/>
          <p:nvPr/>
        </p:nvSpPr>
        <p:spPr>
          <a:xfrm>
            <a:off x="2258290" y="1627496"/>
            <a:ext cx="1295400" cy="6858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Rectangle 1"/>
          <p:cNvSpPr/>
          <p:nvPr/>
        </p:nvSpPr>
        <p:spPr>
          <a:xfrm>
            <a:off x="4952682" y="6107668"/>
            <a:ext cx="2133918" cy="369332"/>
          </a:xfrm>
          <a:prstGeom prst="rect">
            <a:avLst/>
          </a:prstGeom>
        </p:spPr>
        <p:txBody>
          <a:bodyPr wrap="none">
            <a:spAutoFit/>
          </a:bodyPr>
          <a:lstStyle/>
          <a:p>
            <a:r>
              <a:rPr lang="vi-VN" sz="1800" dirty="0"/>
              <a:t>Nguồn: PMI</a:t>
            </a:r>
            <a:r>
              <a:rPr lang="vi-VN" sz="1800" dirty="0">
                <a:effectLst>
                  <a:outerShdw blurRad="38100" dist="38100" dir="2700000" algn="tl">
                    <a:srgbClr val="000000">
                      <a:alpha val="43137"/>
                    </a:srgbClr>
                  </a:outerShdw>
                </a:effectLst>
              </a:rPr>
              <a:t> </a:t>
            </a:r>
            <a:r>
              <a:rPr lang="vi-VN" sz="1800"/>
              <a:t>(201</a:t>
            </a:r>
            <a:r>
              <a:rPr lang="en-US" sz="1800"/>
              <a:t>7</a:t>
            </a:r>
            <a:r>
              <a:rPr lang="vi-VN" sz="1800"/>
              <a:t>)</a:t>
            </a:r>
            <a:endParaRPr lang="vi-VN" sz="1800" dirty="0"/>
          </a:p>
        </p:txBody>
      </p:sp>
      <p:sp>
        <p:nvSpPr>
          <p:cNvPr id="8" name="Rounded Rectangle 7"/>
          <p:cNvSpPr/>
          <p:nvPr/>
        </p:nvSpPr>
        <p:spPr>
          <a:xfrm>
            <a:off x="3990110" y="1600200"/>
            <a:ext cx="1295400" cy="685800"/>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10" name="Rounded Rectangle 9"/>
          <p:cNvSpPr/>
          <p:nvPr/>
        </p:nvSpPr>
        <p:spPr>
          <a:xfrm>
            <a:off x="5832765" y="1600200"/>
            <a:ext cx="1295400" cy="685801"/>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059042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11</a:t>
            </a:fld>
            <a:endParaRPr lang="en-US" dirty="0"/>
          </a:p>
        </p:txBody>
      </p:sp>
      <p:sp>
        <p:nvSpPr>
          <p:cNvPr id="9" name="Title 1"/>
          <p:cNvSpPr>
            <a:spLocks noGrp="1"/>
          </p:cNvSpPr>
          <p:nvPr>
            <p:ph type="title"/>
          </p:nvPr>
        </p:nvSpPr>
        <p:spPr>
          <a:xfrm>
            <a:off x="381000" y="228600"/>
            <a:ext cx="8305800" cy="1143000"/>
          </a:xfrm>
        </p:spPr>
        <p:txBody>
          <a:bodyPr>
            <a:noAutofit/>
          </a:bodyPr>
          <a:lstStyle/>
          <a:p>
            <a:pPr algn="ctr" eaLnBrk="1" hangingPunct="1">
              <a:defRPr/>
            </a:pPr>
            <a:r>
              <a:rPr lang="en-US" sz="4000" dirty="0">
                <a:solidFill>
                  <a:srgbClr val="0070C0"/>
                </a:solidFill>
              </a:rPr>
              <a:t>Quản lý </a:t>
            </a:r>
            <a:r>
              <a:rPr lang="en-US" sz="4000" dirty="0" err="1">
                <a:solidFill>
                  <a:srgbClr val="0070C0"/>
                </a:solidFill>
              </a:rPr>
              <a:t>truyền</a:t>
            </a:r>
            <a:r>
              <a:rPr lang="en-US" sz="4000" dirty="0">
                <a:solidFill>
                  <a:srgbClr val="0070C0"/>
                </a:solidFill>
              </a:rPr>
              <a:t> thông </a:t>
            </a:r>
            <a:r>
              <a:rPr lang="en-US" sz="4000" dirty="0" err="1">
                <a:solidFill>
                  <a:srgbClr val="0070C0"/>
                </a:solidFill>
              </a:rPr>
              <a:t>dự</a:t>
            </a:r>
            <a:r>
              <a:rPr lang="en-US" sz="4000" dirty="0">
                <a:solidFill>
                  <a:srgbClr val="0070C0"/>
                </a:solidFill>
              </a:rPr>
              <a:t> </a:t>
            </a:r>
            <a:r>
              <a:rPr lang="en-US" sz="4000" dirty="0" err="1">
                <a:solidFill>
                  <a:srgbClr val="0070C0"/>
                </a:solidFill>
              </a:rPr>
              <a:t>án</a:t>
            </a:r>
            <a:r>
              <a:rPr lang="en-US" sz="4000" dirty="0">
                <a:solidFill>
                  <a:srgbClr val="0070C0"/>
                </a:solidFill>
              </a:rPr>
              <a:t> [3]</a:t>
            </a:r>
          </a:p>
        </p:txBody>
      </p:sp>
      <p:pic>
        <p:nvPicPr>
          <p:cNvPr id="3" name="Picture 2"/>
          <p:cNvPicPr>
            <a:picLocks noChangeAspect="1"/>
          </p:cNvPicPr>
          <p:nvPr/>
        </p:nvPicPr>
        <p:blipFill>
          <a:blip r:embed="rId2"/>
          <a:stretch>
            <a:fillRect/>
          </a:stretch>
        </p:blipFill>
        <p:spPr>
          <a:xfrm>
            <a:off x="133350" y="1638300"/>
            <a:ext cx="9010650" cy="3581400"/>
          </a:xfrm>
          <a:prstGeom prst="rect">
            <a:avLst/>
          </a:prstGeom>
        </p:spPr>
      </p:pic>
    </p:spTree>
    <p:extLst>
      <p:ext uri="{BB962C8B-B14F-4D97-AF65-F5344CB8AC3E}">
        <p14:creationId xmlns:p14="http://schemas.microsoft.com/office/powerpoint/2010/main" val="4193746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idx="1"/>
          </p:nvPr>
        </p:nvSpPr>
        <p:spPr>
          <a:xfrm>
            <a:off x="228600" y="1371600"/>
            <a:ext cx="8458200" cy="4267200"/>
          </a:xfrm>
        </p:spPr>
        <p:txBody>
          <a:bodyPr/>
          <a:lstStyle/>
          <a:p>
            <a:pPr algn="just">
              <a:spcBef>
                <a:spcPts val="1200"/>
              </a:spcBef>
              <a:spcAft>
                <a:spcPts val="600"/>
              </a:spcAft>
              <a:buClr>
                <a:srgbClr val="666699"/>
              </a:buClr>
              <a:buFont typeface="Wingdings 3" panose="05040102010807070707" pitchFamily="18" charset="2"/>
              <a:buChar char="}"/>
            </a:pPr>
            <a:r>
              <a:rPr lang="vi-VN" b="1" dirty="0"/>
              <a:t>Kế hoạch quản lý truyền thông</a:t>
            </a:r>
            <a:r>
              <a:rPr lang="vi-VN" dirty="0"/>
              <a:t> </a:t>
            </a:r>
            <a:r>
              <a:rPr lang="en-US" dirty="0"/>
              <a:t>(</a:t>
            </a:r>
            <a:r>
              <a:rPr lang="en-US" dirty="0">
                <a:solidFill>
                  <a:srgbClr val="0070C0"/>
                </a:solidFill>
              </a:rPr>
              <a:t>plan communications management</a:t>
            </a:r>
            <a:r>
              <a:rPr lang="vi-VN" dirty="0"/>
              <a:t>): xác định thông tin và truyền thông theo nhu cầu các bên liên quan.</a:t>
            </a:r>
          </a:p>
          <a:p>
            <a:pPr algn="just">
              <a:spcBef>
                <a:spcPts val="1200"/>
              </a:spcBef>
              <a:spcAft>
                <a:spcPts val="600"/>
              </a:spcAft>
              <a:buClr>
                <a:srgbClr val="666699"/>
              </a:buClr>
              <a:buFont typeface="Wingdings 3" panose="05040102010807070707" pitchFamily="18" charset="2"/>
              <a:buChar char="}"/>
            </a:pPr>
            <a:r>
              <a:rPr lang="vi-VN" b="1" dirty="0"/>
              <a:t>Quản lý truyền thông </a:t>
            </a:r>
            <a:r>
              <a:rPr lang="vi-VN" dirty="0"/>
              <a:t>(</a:t>
            </a:r>
            <a:r>
              <a:rPr lang="en-US" dirty="0">
                <a:solidFill>
                  <a:srgbClr val="0070C0"/>
                </a:solidFill>
              </a:rPr>
              <a:t>manage communications</a:t>
            </a:r>
            <a:r>
              <a:rPr lang="vi-VN" dirty="0"/>
              <a:t>): khởi tạo, phân phối, lưu trữ, tìm kiếm, và xử lý các thông tin dựa trên kế hoạch truyền thông.</a:t>
            </a:r>
          </a:p>
          <a:p>
            <a:pPr algn="just">
              <a:spcBef>
                <a:spcPts val="1200"/>
              </a:spcBef>
              <a:spcAft>
                <a:spcPts val="600"/>
              </a:spcAft>
              <a:buClr>
                <a:srgbClr val="666699"/>
              </a:buClr>
              <a:buFont typeface="Wingdings 3" panose="05040102010807070707" pitchFamily="18" charset="2"/>
              <a:buChar char="}"/>
            </a:pPr>
            <a:r>
              <a:rPr lang="vi-VN" b="1" dirty="0"/>
              <a:t>Kiểm soát truyền thông </a:t>
            </a:r>
            <a:r>
              <a:rPr lang="vi-VN" dirty="0"/>
              <a:t>(</a:t>
            </a:r>
            <a:r>
              <a:rPr lang="en-US" dirty="0">
                <a:solidFill>
                  <a:srgbClr val="0070C0"/>
                </a:solidFill>
              </a:rPr>
              <a:t>control communications</a:t>
            </a:r>
            <a:r>
              <a:rPr lang="vi-VN" dirty="0"/>
              <a:t>): điều khiển và kiểm soát truyền thông để đảm bảo thông tin giữa các bên liên quan được đáp ứng.</a:t>
            </a:r>
            <a:endParaRPr lang="en-US" dirty="0"/>
          </a:p>
        </p:txBody>
      </p:sp>
      <p:sp>
        <p:nvSpPr>
          <p:cNvPr id="12290" name="Rectangle 2"/>
          <p:cNvSpPr>
            <a:spLocks noGrp="1" noChangeArrowheads="1"/>
          </p:cNvSpPr>
          <p:nvPr>
            <p:ph type="title"/>
          </p:nvPr>
        </p:nvSpPr>
        <p:spPr>
          <a:xfrm>
            <a:off x="381000" y="152400"/>
            <a:ext cx="8382000" cy="895350"/>
          </a:xfrm>
        </p:spPr>
        <p:txBody>
          <a:bodyPr>
            <a:normAutofit/>
          </a:bodyPr>
          <a:lstStyle/>
          <a:p>
            <a:pPr algn="ctr"/>
            <a:r>
              <a:rPr lang="en-US" sz="4400" dirty="0" err="1">
                <a:solidFill>
                  <a:srgbClr val="0070C0"/>
                </a:solidFill>
              </a:rPr>
              <a:t>Quy</a:t>
            </a:r>
            <a:r>
              <a:rPr lang="en-US" sz="4400" dirty="0">
                <a:solidFill>
                  <a:srgbClr val="0070C0"/>
                </a:solidFill>
              </a:rPr>
              <a:t> </a:t>
            </a:r>
            <a:r>
              <a:rPr lang="en-US" sz="4400" dirty="0" err="1">
                <a:solidFill>
                  <a:srgbClr val="0070C0"/>
                </a:solidFill>
              </a:rPr>
              <a:t>trình</a:t>
            </a:r>
            <a:r>
              <a:rPr lang="en-US" sz="4400" dirty="0">
                <a:solidFill>
                  <a:srgbClr val="0070C0"/>
                </a:solidFill>
              </a:rPr>
              <a:t> quản lý </a:t>
            </a:r>
            <a:r>
              <a:rPr lang="en-US" sz="4400" dirty="0" err="1">
                <a:solidFill>
                  <a:srgbClr val="0070C0"/>
                </a:solidFill>
              </a:rPr>
              <a:t>truyền</a:t>
            </a:r>
            <a:r>
              <a:rPr lang="en-US" sz="4400" dirty="0">
                <a:solidFill>
                  <a:srgbClr val="0070C0"/>
                </a:solidFill>
              </a:rPr>
              <a:t> thông</a:t>
            </a:r>
          </a:p>
        </p:txBody>
      </p:sp>
      <p:sp>
        <p:nvSpPr>
          <p:cNvPr id="12293" name="Footer Placeholder 6"/>
          <p:cNvSpPr>
            <a:spLocks noGrp="1"/>
          </p:cNvSpPr>
          <p:nvPr>
            <p:ph type="ftr" sz="quarter" idx="10"/>
          </p:nvPr>
        </p:nvSpPr>
        <p:spPr bwMode="auto">
          <a:xfrm>
            <a:off x="0" y="6492875"/>
            <a:ext cx="2590800" cy="365125"/>
          </a:xfrm>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a:xfrm>
            <a:off x="8588375" y="6173787"/>
            <a:ext cx="555625" cy="365125"/>
          </a:xfrm>
        </p:spPr>
        <p:txBody>
          <a:bodyPr/>
          <a:lstStyle/>
          <a:p>
            <a:pPr>
              <a:defRPr/>
            </a:pPr>
            <a:fld id="{B9A1AC6A-E4DB-4E62-8C3D-8A55BC890F75}" type="slidenum">
              <a:rPr lang="en-US" smtClean="0"/>
              <a:pPr>
                <a:defRPr/>
              </a:pPr>
              <a:t>12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200" y="0"/>
            <a:ext cx="8229600" cy="1143000"/>
          </a:xfrm>
        </p:spPr>
        <p:txBody>
          <a:bodyPr>
            <a:normAutofit/>
          </a:bodyPr>
          <a:lstStyle/>
          <a:p>
            <a:pPr algn="ctr"/>
            <a:r>
              <a:rPr lang="en-US" sz="3600" dirty="0" err="1">
                <a:hlinkClick r:id="rId2" action="ppaction://hlinkpres?slideindex=1&amp;slidetitle="/>
              </a:rPr>
              <a:t>Tóm</a:t>
            </a:r>
            <a:r>
              <a:rPr lang="en-US" sz="3600" dirty="0">
                <a:hlinkClick r:id="rId2" action="ppaction://hlinkpres?slideindex=1&amp;slidetitle="/>
              </a:rPr>
              <a:t> </a:t>
            </a:r>
            <a:r>
              <a:rPr lang="en-US" sz="3600" dirty="0" err="1">
                <a:hlinkClick r:id="rId2" action="ppaction://hlinkpres?slideindex=1&amp;slidetitle="/>
              </a:rPr>
              <a:t>tắt</a:t>
            </a:r>
            <a:r>
              <a:rPr lang="en-US" sz="3600" dirty="0"/>
              <a:t> </a:t>
            </a:r>
            <a:r>
              <a:rPr lang="en-US" sz="3600" dirty="0">
                <a:hlinkClick r:id="rId3" action="ppaction://hlinkpres?slideindex=1&amp;slidetitle="/>
              </a:rPr>
              <a:t>quản lý </a:t>
            </a:r>
            <a:r>
              <a:rPr lang="en-US" sz="3600" dirty="0" err="1">
                <a:hlinkClick r:id="rId3" action="ppaction://hlinkpres?slideindex=1&amp;slidetitle="/>
              </a:rPr>
              <a:t>truyền</a:t>
            </a:r>
            <a:r>
              <a:rPr lang="en-US" sz="3600" dirty="0">
                <a:hlinkClick r:id="rId3" action="ppaction://hlinkpres?slideindex=1&amp;slidetitle="/>
              </a:rPr>
              <a:t> thông </a:t>
            </a:r>
            <a:r>
              <a:rPr lang="en-US" sz="3600" dirty="0" err="1">
                <a:hlinkClick r:id="rId3" action="ppaction://hlinkpres?slideindex=1&amp;slidetitle="/>
              </a:rPr>
              <a:t>dự</a:t>
            </a:r>
            <a:r>
              <a:rPr lang="en-US" sz="3600" dirty="0">
                <a:hlinkClick r:id="rId3" action="ppaction://hlinkpres?slideindex=1&amp;slidetitle="/>
              </a:rPr>
              <a:t> </a:t>
            </a:r>
            <a:r>
              <a:rPr lang="en-US" sz="3600" dirty="0" err="1">
                <a:hlinkClick r:id="rId3" action="ppaction://hlinkpres?slideindex=1&amp;slidetitle="/>
              </a:rPr>
              <a:t>án</a:t>
            </a:r>
            <a:endParaRPr lang="en-US" sz="3600" dirty="0"/>
          </a:p>
        </p:txBody>
      </p:sp>
      <p:sp>
        <p:nvSpPr>
          <p:cNvPr id="13315" name="Footer Placeholder 3"/>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9EA94F58-D761-4128-AD4E-80EF3893F0A6}" type="slidenum">
              <a:rPr lang="en-US" smtClean="0"/>
              <a:pPr>
                <a:defRPr/>
              </a:pPr>
              <a:t>13</a:t>
            </a:fld>
            <a:endParaRPr lang="en-US" dirty="0"/>
          </a:p>
        </p:txBody>
      </p:sp>
      <p:pic>
        <p:nvPicPr>
          <p:cNvPr id="3" name="Picture 2"/>
          <p:cNvPicPr>
            <a:picLocks noChangeAspect="1"/>
          </p:cNvPicPr>
          <p:nvPr/>
        </p:nvPicPr>
        <p:blipFill>
          <a:blip r:embed="rId4"/>
          <a:stretch>
            <a:fillRect/>
          </a:stretch>
        </p:blipFill>
        <p:spPr>
          <a:xfrm>
            <a:off x="-1" y="1371600"/>
            <a:ext cx="9144001" cy="4953000"/>
          </a:xfrm>
          <a:prstGeom prst="rect">
            <a:avLst/>
          </a:prstGeom>
        </p:spPr>
      </p:pic>
      <p:cxnSp>
        <p:nvCxnSpPr>
          <p:cNvPr id="6" name="Straight Connector 5"/>
          <p:cNvCxnSpPr/>
          <p:nvPr/>
        </p:nvCxnSpPr>
        <p:spPr>
          <a:xfrm>
            <a:off x="1435443" y="2185086"/>
            <a:ext cx="368162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1867305" y="3237471"/>
            <a:ext cx="276606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263140" y="4786185"/>
            <a:ext cx="276606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50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500"/>
                                  </p:stCondLst>
                                  <p:childTnLst>
                                    <p:set>
                                      <p:cBhvr>
                                        <p:cTn id="9" dur="1" fill="hold">
                                          <p:stCondLst>
                                            <p:cond delay="0"/>
                                          </p:stCondLst>
                                        </p:cTn>
                                        <p:tgtEl>
                                          <p:spTgt spid="7"/>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50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70038"/>
            <a:ext cx="8458200" cy="3992562"/>
          </a:xfrm>
        </p:spPr>
        <p:txBody>
          <a:bodyPr/>
          <a:lstStyle/>
          <a:p>
            <a:pPr algn="just">
              <a:spcBef>
                <a:spcPts val="600"/>
              </a:spcBef>
              <a:spcAft>
                <a:spcPts val="1200"/>
              </a:spcAft>
            </a:pPr>
            <a:r>
              <a:rPr lang="vi-VN" dirty="0"/>
              <a:t>Giám đốc dự án mất hơn </a:t>
            </a:r>
            <a:r>
              <a:rPr lang="vi-VN" b="1" dirty="0">
                <a:solidFill>
                  <a:srgbClr val="FF0000"/>
                </a:solidFill>
              </a:rPr>
              <a:t>90</a:t>
            </a:r>
            <a:r>
              <a:rPr lang="vi-VN" dirty="0">
                <a:solidFill>
                  <a:srgbClr val="FF0000"/>
                </a:solidFill>
              </a:rPr>
              <a:t>% </a:t>
            </a:r>
            <a:r>
              <a:rPr lang="vi-VN" dirty="0"/>
              <a:t>thời gian giao tiếp.</a:t>
            </a:r>
          </a:p>
          <a:p>
            <a:pPr algn="just">
              <a:spcBef>
                <a:spcPts val="600"/>
              </a:spcBef>
              <a:spcAft>
                <a:spcPts val="1200"/>
              </a:spcAft>
            </a:pPr>
            <a:r>
              <a:rPr lang="vi-VN" dirty="0"/>
              <a:t>Tập trung vào truyền thông nhóm và cá nhân.</a:t>
            </a:r>
          </a:p>
          <a:p>
            <a:pPr algn="just">
              <a:spcBef>
                <a:spcPts val="600"/>
              </a:spcBef>
              <a:spcAft>
                <a:spcPts val="1200"/>
              </a:spcAft>
            </a:pPr>
            <a:r>
              <a:rPr lang="vi-VN" dirty="0"/>
              <a:t>Dùng truyền thông chính thức và không chính thức.</a:t>
            </a:r>
          </a:p>
          <a:p>
            <a:pPr algn="just">
              <a:spcBef>
                <a:spcPts val="600"/>
              </a:spcBef>
              <a:spcAft>
                <a:spcPts val="1200"/>
              </a:spcAft>
            </a:pPr>
            <a:r>
              <a:rPr lang="vi-VN" dirty="0"/>
              <a:t>Phân phối thông tin quan trọng hiệu quả và kịp thời.</a:t>
            </a:r>
          </a:p>
          <a:p>
            <a:pPr algn="just">
              <a:spcBef>
                <a:spcPts val="600"/>
              </a:spcBef>
              <a:spcAft>
                <a:spcPts val="1200"/>
              </a:spcAft>
            </a:pPr>
            <a:r>
              <a:rPr lang="vi-VN" dirty="0"/>
              <a:t>Sẵn sàng cho việc truyền thông các tin xấu. </a:t>
            </a:r>
          </a:p>
          <a:p>
            <a:pPr algn="just">
              <a:spcBef>
                <a:spcPts val="600"/>
              </a:spcBef>
              <a:spcAft>
                <a:spcPts val="1200"/>
              </a:spcAft>
            </a:pPr>
            <a:r>
              <a:rPr lang="vi-VN" dirty="0"/>
              <a:t>Xác định số lượng các kênh truyền thông...</a:t>
            </a:r>
            <a:endParaRPr lang="en-US" dirty="0"/>
          </a:p>
        </p:txBody>
      </p:sp>
      <p:sp>
        <p:nvSpPr>
          <p:cNvPr id="3" name="Title 2"/>
          <p:cNvSpPr>
            <a:spLocks noGrp="1"/>
          </p:cNvSpPr>
          <p:nvPr>
            <p:ph type="title"/>
          </p:nvPr>
        </p:nvSpPr>
        <p:spPr/>
        <p:txBody>
          <a:bodyPr>
            <a:normAutofit/>
          </a:bodyPr>
          <a:lstStyle/>
          <a:p>
            <a:pPr algn="ctr"/>
            <a:r>
              <a:rPr lang="en-US" sz="4400" dirty="0" err="1">
                <a:solidFill>
                  <a:srgbClr val="0070C0"/>
                </a:solidFill>
              </a:rPr>
              <a:t>Chìa</a:t>
            </a:r>
            <a:r>
              <a:rPr lang="en-US" sz="4400" dirty="0">
                <a:solidFill>
                  <a:srgbClr val="0070C0"/>
                </a:solidFill>
              </a:rPr>
              <a:t> </a:t>
            </a:r>
            <a:r>
              <a:rPr lang="en-US" sz="4400" dirty="0" err="1">
                <a:solidFill>
                  <a:srgbClr val="0070C0"/>
                </a:solidFill>
              </a:rPr>
              <a:t>khóa</a:t>
            </a:r>
            <a:r>
              <a:rPr lang="en-US" sz="4400" dirty="0">
                <a:solidFill>
                  <a:srgbClr val="0070C0"/>
                </a:solidFill>
              </a:rPr>
              <a:t> </a:t>
            </a:r>
            <a:r>
              <a:rPr lang="en-US" sz="4400" dirty="0" err="1">
                <a:solidFill>
                  <a:srgbClr val="0070C0"/>
                </a:solidFill>
              </a:rPr>
              <a:t>để</a:t>
            </a:r>
            <a:r>
              <a:rPr lang="en-US" sz="4400" dirty="0">
                <a:solidFill>
                  <a:srgbClr val="0070C0"/>
                </a:solidFill>
              </a:rPr>
              <a:t> </a:t>
            </a:r>
            <a:r>
              <a:rPr lang="en-US" sz="4400" dirty="0" err="1">
                <a:solidFill>
                  <a:srgbClr val="0070C0"/>
                </a:solidFill>
              </a:rPr>
              <a:t>truyền</a:t>
            </a:r>
            <a:r>
              <a:rPr lang="en-US" sz="4400" dirty="0">
                <a:solidFill>
                  <a:srgbClr val="0070C0"/>
                </a:solidFill>
              </a:rPr>
              <a:t> thông </a:t>
            </a:r>
            <a:r>
              <a:rPr lang="en-US" sz="4400" dirty="0" err="1">
                <a:solidFill>
                  <a:srgbClr val="0070C0"/>
                </a:solidFill>
              </a:rPr>
              <a:t>tốt</a:t>
            </a:r>
            <a:endParaRPr lang="en-US" sz="4400" dirty="0">
              <a:solidFill>
                <a:srgbClr val="0070C0"/>
              </a:solidFill>
            </a:endParaRPr>
          </a:p>
        </p:txBody>
      </p:sp>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14</a:t>
            </a:fld>
            <a:endParaRPr lang="en-US" dirty="0"/>
          </a:p>
        </p:txBody>
      </p:sp>
    </p:spTree>
    <p:extLst>
      <p:ext uri="{BB962C8B-B14F-4D97-AF65-F5344CB8AC3E}">
        <p14:creationId xmlns:p14="http://schemas.microsoft.com/office/powerpoint/2010/main" val="3453784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499"/>
                                          </p:stCondLst>
                                        </p:cTn>
                                        <p:tgtEl>
                                          <p:spTgt spid="2">
                                            <p:txEl>
                                              <p:pRg st="2" end="2"/>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499"/>
                                          </p:stCondLst>
                                        </p:cTn>
                                        <p:tgtEl>
                                          <p:spTgt spid="2">
                                            <p:txEl>
                                              <p:pRg st="3" end="3"/>
                                            </p:txEl>
                                          </p:spTgt>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499"/>
                                          </p:stCondLst>
                                        </p:cTn>
                                        <p:tgtEl>
                                          <p:spTgt spid="2">
                                            <p:txEl>
                                              <p:pRg st="4" end="4"/>
                                            </p:txEl>
                                          </p:spTgt>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nodeType="afterEffect">
                                  <p:stCondLst>
                                    <p:cond delay="0"/>
                                  </p:stCondLst>
                                  <p:childTnLst>
                                    <p:set>
                                      <p:cBhvr>
                                        <p:cTn id="18" dur="1" fill="hold">
                                          <p:stCondLst>
                                            <p:cond delay="499"/>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685800" y="1371600"/>
            <a:ext cx="8077200" cy="4495800"/>
          </a:xfrm>
        </p:spPr>
        <p:txBody>
          <a:bodyPr/>
          <a:lstStyle/>
          <a:p>
            <a:pPr>
              <a:spcBef>
                <a:spcPts val="1200"/>
              </a:spcBef>
              <a:spcAft>
                <a:spcPts val="600"/>
              </a:spcAft>
              <a:buClr>
                <a:srgbClr val="666699"/>
              </a:buClr>
            </a:pPr>
            <a:r>
              <a:rPr lang="vi-VN" dirty="0"/>
              <a:t>Hướng ngoại (</a:t>
            </a:r>
            <a:r>
              <a:rPr lang="vi-VN" dirty="0">
                <a:solidFill>
                  <a:srgbClr val="0070C0"/>
                </a:solidFill>
                <a:effectLst>
                  <a:outerShdw blurRad="38100" dist="38100" dir="2700000" algn="tl">
                    <a:srgbClr val="000000">
                      <a:alpha val="43137"/>
                    </a:srgbClr>
                  </a:outerShdw>
                </a:effectLst>
              </a:rPr>
              <a:t>E</a:t>
            </a:r>
            <a:r>
              <a:rPr lang="vi-VN" dirty="0"/>
              <a:t>): thích thảo luận nơi công cộng, Hướng nội (</a:t>
            </a:r>
            <a:r>
              <a:rPr lang="vi-VN" dirty="0">
                <a:solidFill>
                  <a:srgbClr val="0070C0"/>
                </a:solidFill>
                <a:effectLst>
                  <a:outerShdw blurRad="38100" dist="38100" dir="2700000" algn="tl">
                    <a:srgbClr val="000000">
                      <a:alpha val="43137"/>
                    </a:srgbClr>
                  </a:outerShdw>
                </a:effectLst>
              </a:rPr>
              <a:t>I</a:t>
            </a:r>
            <a:r>
              <a:rPr lang="vi-VN" dirty="0"/>
              <a:t>): thích thông tin riêng tư. </a:t>
            </a:r>
          </a:p>
          <a:p>
            <a:pPr>
              <a:spcBef>
                <a:spcPts val="1200"/>
              </a:spcBef>
              <a:spcAft>
                <a:spcPts val="600"/>
              </a:spcAft>
              <a:buClr>
                <a:srgbClr val="666699"/>
              </a:buClr>
            </a:pPr>
            <a:r>
              <a:rPr lang="vi-VN" dirty="0"/>
              <a:t>Cảm giác (</a:t>
            </a:r>
            <a:r>
              <a:rPr lang="vi-VN" dirty="0">
                <a:solidFill>
                  <a:srgbClr val="0070C0"/>
                </a:solidFill>
                <a:effectLst>
                  <a:outerShdw blurRad="38100" dist="38100" dir="2700000" algn="tl">
                    <a:srgbClr val="000000">
                      <a:alpha val="43137"/>
                    </a:srgbClr>
                  </a:outerShdw>
                </a:effectLst>
              </a:rPr>
              <a:t>S</a:t>
            </a:r>
            <a:r>
              <a:rPr lang="vi-VN" dirty="0"/>
              <a:t>): cần các bước chi tiết cụ thể, </a:t>
            </a:r>
            <a:br>
              <a:rPr lang="vi-VN" dirty="0"/>
            </a:br>
            <a:r>
              <a:rPr lang="vi-VN" dirty="0"/>
              <a:t>Trực giác (</a:t>
            </a:r>
            <a:r>
              <a:rPr lang="vi-VN" dirty="0">
                <a:solidFill>
                  <a:srgbClr val="0070C0"/>
                </a:solidFill>
                <a:effectLst>
                  <a:outerShdw blurRad="38100" dist="38100" dir="2700000" algn="tl">
                    <a:srgbClr val="000000">
                      <a:alpha val="43137"/>
                    </a:srgbClr>
                  </a:outerShdw>
                </a:effectLst>
              </a:rPr>
              <a:t>N</a:t>
            </a:r>
            <a:r>
              <a:rPr lang="vi-VN" dirty="0"/>
              <a:t>): muốn hiểu bức tranh tổng thể.</a:t>
            </a:r>
          </a:p>
          <a:p>
            <a:pPr>
              <a:spcBef>
                <a:spcPts val="1200"/>
              </a:spcBef>
              <a:spcAft>
                <a:spcPts val="600"/>
              </a:spcAft>
              <a:buClr>
                <a:srgbClr val="666699"/>
              </a:buClr>
            </a:pPr>
            <a:r>
              <a:rPr lang="vi-VN" dirty="0"/>
              <a:t>Lý trí (</a:t>
            </a:r>
            <a:r>
              <a:rPr lang="vi-VN" dirty="0">
                <a:solidFill>
                  <a:srgbClr val="0070C0"/>
                </a:solidFill>
                <a:effectLst>
                  <a:outerShdw blurRad="38100" dist="38100" dir="2700000" algn="tl">
                    <a:srgbClr val="000000">
                      <a:alpha val="43137"/>
                    </a:srgbClr>
                  </a:outerShdw>
                </a:effectLst>
              </a:rPr>
              <a:t>T</a:t>
            </a:r>
            <a:r>
              <a:rPr lang="vi-VN" dirty="0"/>
              <a:t>): muốn biết các lý luận khi quyết định, </a:t>
            </a:r>
            <a:br>
              <a:rPr lang="vi-VN" dirty="0"/>
            </a:br>
            <a:r>
              <a:rPr lang="vi-VN" dirty="0"/>
              <a:t>Tình cảm (</a:t>
            </a:r>
            <a:r>
              <a:rPr lang="vi-VN" dirty="0">
                <a:solidFill>
                  <a:srgbClr val="0070C0"/>
                </a:solidFill>
                <a:effectLst>
                  <a:outerShdw blurRad="38100" dist="38100" dir="2700000" algn="tl">
                    <a:srgbClr val="000000">
                      <a:alpha val="43137"/>
                    </a:srgbClr>
                  </a:outerShdw>
                </a:effectLst>
              </a:rPr>
              <a:t>F</a:t>
            </a:r>
            <a:r>
              <a:rPr lang="vi-VN" dirty="0"/>
              <a:t>): muốn các ảnh hưởng đến cá nhân.</a:t>
            </a:r>
          </a:p>
          <a:p>
            <a:pPr>
              <a:spcBef>
                <a:spcPts val="1200"/>
              </a:spcBef>
              <a:spcAft>
                <a:spcPts val="600"/>
              </a:spcAft>
              <a:buClr>
                <a:srgbClr val="666699"/>
              </a:buClr>
            </a:pPr>
            <a:r>
              <a:rPr lang="vi-VN" dirty="0"/>
              <a:t>Nguyên tắt (</a:t>
            </a:r>
            <a:r>
              <a:rPr lang="vi-VN" dirty="0">
                <a:solidFill>
                  <a:srgbClr val="0070C0"/>
                </a:solidFill>
                <a:effectLst>
                  <a:outerShdw blurRad="38100" dist="38100" dir="2700000" algn="tl">
                    <a:srgbClr val="000000">
                      <a:alpha val="43137"/>
                    </a:srgbClr>
                  </a:outerShdw>
                </a:effectLst>
              </a:rPr>
              <a:t>J</a:t>
            </a:r>
            <a:r>
              <a:rPr lang="vi-VN" dirty="0"/>
              <a:t>): đáp ứng đúng thời hạn,</a:t>
            </a:r>
            <a:br>
              <a:rPr lang="vi-VN" dirty="0"/>
            </a:br>
            <a:r>
              <a:rPr lang="vi-VN" dirty="0"/>
              <a:t>Linh hoạt (</a:t>
            </a:r>
            <a:r>
              <a:rPr lang="vi-VN" dirty="0">
                <a:solidFill>
                  <a:srgbClr val="0070C0"/>
                </a:solidFill>
                <a:effectLst>
                  <a:outerShdw blurRad="38100" dist="38100" dir="2700000" algn="tl">
                    <a:srgbClr val="000000">
                      <a:alpha val="43137"/>
                    </a:srgbClr>
                  </a:outerShdw>
                </a:effectLst>
              </a:rPr>
              <a:t>P</a:t>
            </a:r>
            <a:r>
              <a:rPr lang="vi-VN" dirty="0"/>
              <a:t>): cần nhiều sự giúp đỡ hơn...</a:t>
            </a:r>
            <a:endParaRPr lang="en-US" dirty="0"/>
          </a:p>
        </p:txBody>
      </p:sp>
      <p:sp>
        <p:nvSpPr>
          <p:cNvPr id="26626" name="Rectangle 2"/>
          <p:cNvSpPr>
            <a:spLocks noGrp="1" noChangeArrowheads="1"/>
          </p:cNvSpPr>
          <p:nvPr>
            <p:ph type="title"/>
          </p:nvPr>
        </p:nvSpPr>
        <p:spPr>
          <a:xfrm>
            <a:off x="0" y="152400"/>
            <a:ext cx="9144000" cy="1143000"/>
          </a:xfrm>
        </p:spPr>
        <p:txBody>
          <a:bodyPr>
            <a:normAutofit/>
          </a:bodyPr>
          <a:lstStyle/>
          <a:p>
            <a:pPr algn="ctr"/>
            <a:r>
              <a:rPr lang="en-US" sz="4000" dirty="0" err="1"/>
              <a:t>Tính</a:t>
            </a:r>
            <a:r>
              <a:rPr lang="en-US" sz="4000" dirty="0"/>
              <a:t> </a:t>
            </a:r>
            <a:r>
              <a:rPr lang="en-US" sz="4000" dirty="0" err="1"/>
              <a:t>cách</a:t>
            </a:r>
            <a:r>
              <a:rPr lang="en-US" sz="4000" dirty="0"/>
              <a:t> và </a:t>
            </a:r>
            <a:r>
              <a:rPr lang="en-US" sz="4000" dirty="0" err="1"/>
              <a:t>truyền</a:t>
            </a:r>
            <a:r>
              <a:rPr lang="en-US" sz="4000" dirty="0"/>
              <a:t> thông</a:t>
            </a:r>
          </a:p>
        </p:txBody>
      </p:sp>
      <p:sp>
        <p:nvSpPr>
          <p:cNvPr id="2662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F94D7186-8251-48B7-9EB8-7AB71E3A7154}" type="slidenum">
              <a:rPr lang="en-US" smtClean="0"/>
              <a:pPr>
                <a:defRPr/>
              </a:pPr>
              <a:t>15</a:t>
            </a:fld>
            <a:endParaRPr lang="en-US" dirty="0"/>
          </a:p>
        </p:txBody>
      </p:sp>
      <p:sp>
        <p:nvSpPr>
          <p:cNvPr id="7" name="Rectangle 2"/>
          <p:cNvSpPr txBox="1">
            <a:spLocks noChangeArrowheads="1"/>
          </p:cNvSpPr>
          <p:nvPr/>
        </p:nvSpPr>
        <p:spPr>
          <a:xfrm>
            <a:off x="4114800" y="5486400"/>
            <a:ext cx="3886200" cy="1143000"/>
          </a:xfrm>
          <a:prstGeom prst="rect">
            <a:avLst/>
          </a:prstGeom>
        </p:spPr>
        <p:txBody>
          <a:bodyPr vert="horz" rtlCol="0" anchor="ctr">
            <a:norm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sz="5400" dirty="0">
                <a:solidFill>
                  <a:schemeClr val="bg1">
                    <a:lumMod val="65000"/>
                  </a:schemeClr>
                </a:solidFill>
              </a:rPr>
              <a:t>MBTI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6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idx="1"/>
          </p:nvPr>
        </p:nvSpPr>
        <p:spPr>
          <a:xfrm>
            <a:off x="457200" y="1828800"/>
            <a:ext cx="8229600" cy="2362200"/>
          </a:xfrm>
          <a:solidFill>
            <a:schemeClr val="bg2"/>
          </a:solidFill>
        </p:spPr>
        <p:txBody>
          <a:bodyPr/>
          <a:lstStyle/>
          <a:p>
            <a:pPr algn="just">
              <a:spcBef>
                <a:spcPts val="600"/>
              </a:spcBef>
              <a:spcAft>
                <a:spcPts val="600"/>
              </a:spcAft>
            </a:pPr>
            <a:r>
              <a:rPr lang="vi-VN" sz="2400" dirty="0"/>
              <a:t>Con người không thể thay thế như phụ tùng...</a:t>
            </a:r>
          </a:p>
          <a:p>
            <a:pPr algn="just">
              <a:spcBef>
                <a:spcPts val="600"/>
              </a:spcBef>
              <a:spcAft>
                <a:spcPts val="600"/>
              </a:spcAft>
            </a:pPr>
            <a:r>
              <a:rPr lang="vi-VN" sz="2400" dirty="0"/>
              <a:t>9 phụ nữ không thể sinh ra 1 em bé trong 1 tháng.</a:t>
            </a:r>
          </a:p>
          <a:p>
            <a:pPr algn="just">
              <a:spcBef>
                <a:spcPts val="600"/>
              </a:spcBef>
              <a:spcAft>
                <a:spcPts val="600"/>
              </a:spcAft>
            </a:pPr>
            <a:r>
              <a:rPr lang="vi-VN" sz="2400" dirty="0"/>
              <a:t>Không thể giả định: “</a:t>
            </a:r>
            <a:r>
              <a:rPr lang="vi-VN" sz="2400" i="1" dirty="0"/>
              <a:t>tác vụ 2 tháng của 1 người do 2 người làm trong 1 tháng</a:t>
            </a:r>
            <a:r>
              <a:rPr lang="vi-VN" sz="2400" dirty="0"/>
              <a:t>”...</a:t>
            </a:r>
          </a:p>
          <a:p>
            <a:pPr algn="just">
              <a:spcBef>
                <a:spcPct val="100000"/>
              </a:spcBef>
              <a:buClr>
                <a:srgbClr val="666699"/>
              </a:buClr>
            </a:pPr>
            <a:endParaRPr lang="en-US" dirty="0"/>
          </a:p>
        </p:txBody>
      </p:sp>
      <p:sp>
        <p:nvSpPr>
          <p:cNvPr id="25602" name="Rectangle 2"/>
          <p:cNvSpPr>
            <a:spLocks noGrp="1" noChangeArrowheads="1"/>
          </p:cNvSpPr>
          <p:nvPr>
            <p:ph type="title"/>
          </p:nvPr>
        </p:nvSpPr>
        <p:spPr/>
        <p:txBody>
          <a:bodyPr>
            <a:normAutofit/>
          </a:bodyPr>
          <a:lstStyle/>
          <a:p>
            <a:pPr algn="ctr"/>
            <a:r>
              <a:rPr lang="en-US" sz="3600" dirty="0" err="1"/>
              <a:t>Truyền</a:t>
            </a:r>
            <a:r>
              <a:rPr lang="en-US" sz="3600" dirty="0"/>
              <a:t> thông </a:t>
            </a:r>
            <a:r>
              <a:rPr lang="en-US" sz="3600" dirty="0" err="1"/>
              <a:t>nhóm</a:t>
            </a:r>
            <a:r>
              <a:rPr lang="en-US" sz="3600" dirty="0"/>
              <a:t> và </a:t>
            </a:r>
            <a:r>
              <a:rPr lang="en-US" sz="3600" dirty="0" err="1"/>
              <a:t>cá</a:t>
            </a:r>
            <a:r>
              <a:rPr lang="en-US" sz="3600" dirty="0"/>
              <a:t> </a:t>
            </a:r>
            <a:r>
              <a:rPr lang="en-US" sz="3600" dirty="0" err="1"/>
              <a:t>nhân</a:t>
            </a:r>
            <a:endParaRPr lang="en-US" sz="3600" dirty="0"/>
          </a:p>
        </p:txBody>
      </p:sp>
      <p:sp>
        <p:nvSpPr>
          <p:cNvPr id="25605"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B3D0A11E-C451-4D2B-9371-63E009872629}" type="slidenum">
              <a:rPr lang="en-US" smtClean="0"/>
              <a:pPr>
                <a:defRPr/>
              </a:pPr>
              <a:t>16</a:t>
            </a:fld>
            <a:endParaRPr lang="en-US" dirty="0"/>
          </a:p>
        </p:txBody>
      </p:sp>
      <p:sp>
        <p:nvSpPr>
          <p:cNvPr id="2" name="Rectangle 1"/>
          <p:cNvSpPr/>
          <p:nvPr/>
        </p:nvSpPr>
        <p:spPr>
          <a:xfrm>
            <a:off x="3429000" y="6019800"/>
            <a:ext cx="5181600" cy="338554"/>
          </a:xfrm>
          <a:prstGeom prst="rect">
            <a:avLst/>
          </a:prstGeom>
        </p:spPr>
        <p:txBody>
          <a:bodyPr wrap="square">
            <a:spAutoFit/>
          </a:bodyPr>
          <a:lstStyle/>
          <a:p>
            <a:r>
              <a:rPr lang="vi-VN" sz="1600" dirty="0"/>
              <a:t> * Frederick P. Brooks, The Mythical Man-Month,1995.</a:t>
            </a:r>
          </a:p>
        </p:txBody>
      </p:sp>
      <p:pic>
        <p:nvPicPr>
          <p:cNvPr id="3" name="Picture 2"/>
          <p:cNvPicPr>
            <a:picLocks noChangeAspect="1"/>
          </p:cNvPicPr>
          <p:nvPr/>
        </p:nvPicPr>
        <p:blipFill>
          <a:blip r:embed="rId2"/>
          <a:stretch>
            <a:fillRect/>
          </a:stretch>
        </p:blipFill>
        <p:spPr>
          <a:xfrm>
            <a:off x="5943600" y="3581400"/>
            <a:ext cx="2347124" cy="21578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17</a:t>
            </a:fld>
            <a:endParaRPr lang="en-US" dirty="0"/>
          </a:p>
        </p:txBody>
      </p:sp>
      <p:sp>
        <p:nvSpPr>
          <p:cNvPr id="7" name="Title 2"/>
          <p:cNvSpPr>
            <a:spLocks noGrp="1"/>
          </p:cNvSpPr>
          <p:nvPr>
            <p:ph type="title"/>
          </p:nvPr>
        </p:nvSpPr>
        <p:spPr>
          <a:xfrm>
            <a:off x="0" y="152400"/>
            <a:ext cx="9144000" cy="1066799"/>
          </a:xfrm>
        </p:spPr>
        <p:txBody>
          <a:bodyPr>
            <a:normAutofit fontScale="90000"/>
          </a:bodyPr>
          <a:lstStyle/>
          <a:p>
            <a:pPr algn="ctr"/>
            <a:r>
              <a:rPr lang="en-US" sz="3600" dirty="0" err="1"/>
              <a:t>Truyền</a:t>
            </a:r>
            <a:r>
              <a:rPr lang="en-US" sz="3600" dirty="0"/>
              <a:t> thông </a:t>
            </a:r>
            <a:r>
              <a:rPr lang="en-US" sz="3600" dirty="0" err="1"/>
              <a:t>chính</a:t>
            </a:r>
            <a:r>
              <a:rPr lang="en-US" sz="3600" dirty="0"/>
              <a:t> </a:t>
            </a:r>
            <a:r>
              <a:rPr lang="en-US" sz="3600" dirty="0" err="1"/>
              <a:t>thức</a:t>
            </a:r>
            <a:r>
              <a:rPr lang="en-US" sz="3600" dirty="0"/>
              <a:t> - </a:t>
            </a:r>
            <a:r>
              <a:rPr lang="en-US" sz="3600" dirty="0" err="1"/>
              <a:t>không</a:t>
            </a:r>
            <a:r>
              <a:rPr lang="en-US" sz="3600" dirty="0"/>
              <a:t> </a:t>
            </a:r>
            <a:r>
              <a:rPr lang="en-US" sz="3600" dirty="0" err="1"/>
              <a:t>chính</a:t>
            </a:r>
            <a:r>
              <a:rPr lang="en-US" sz="3600" dirty="0"/>
              <a:t> </a:t>
            </a:r>
            <a:r>
              <a:rPr lang="en-US" sz="3600" dirty="0" err="1"/>
              <a:t>thức</a:t>
            </a:r>
            <a:endParaRPr lang="en-US" sz="3600" dirty="0"/>
          </a:p>
        </p:txBody>
      </p:sp>
      <p:pic>
        <p:nvPicPr>
          <p:cNvPr id="16" name="Picture 15"/>
          <p:cNvPicPr>
            <a:picLocks noChangeAspect="1"/>
          </p:cNvPicPr>
          <p:nvPr/>
        </p:nvPicPr>
        <p:blipFill>
          <a:blip r:embed="rId2"/>
          <a:stretch>
            <a:fillRect/>
          </a:stretch>
        </p:blipFill>
        <p:spPr>
          <a:xfrm>
            <a:off x="1915544" y="1811305"/>
            <a:ext cx="2286000" cy="1587844"/>
          </a:xfrm>
          <a:prstGeom prst="rect">
            <a:avLst/>
          </a:prstGeom>
        </p:spPr>
      </p:pic>
      <p:pic>
        <p:nvPicPr>
          <p:cNvPr id="18" name="Picture 17"/>
          <p:cNvPicPr>
            <a:picLocks noChangeAspect="1"/>
          </p:cNvPicPr>
          <p:nvPr/>
        </p:nvPicPr>
        <p:blipFill>
          <a:blip r:embed="rId3"/>
          <a:stretch>
            <a:fillRect/>
          </a:stretch>
        </p:blipFill>
        <p:spPr>
          <a:xfrm>
            <a:off x="1295400" y="3984789"/>
            <a:ext cx="2971800" cy="2111211"/>
          </a:xfrm>
          <a:prstGeom prst="rect">
            <a:avLst/>
          </a:prstGeom>
        </p:spPr>
      </p:pic>
      <p:pic>
        <p:nvPicPr>
          <p:cNvPr id="19" name="Picture 18"/>
          <p:cNvPicPr>
            <a:picLocks noChangeAspect="1"/>
          </p:cNvPicPr>
          <p:nvPr/>
        </p:nvPicPr>
        <p:blipFill>
          <a:blip r:embed="rId4"/>
          <a:stretch>
            <a:fillRect/>
          </a:stretch>
        </p:blipFill>
        <p:spPr>
          <a:xfrm>
            <a:off x="5016537" y="3898556"/>
            <a:ext cx="2819400" cy="2426044"/>
          </a:xfrm>
          <a:prstGeom prst="rect">
            <a:avLst/>
          </a:prstGeom>
        </p:spPr>
      </p:pic>
      <p:pic>
        <p:nvPicPr>
          <p:cNvPr id="20" name="Picture 19"/>
          <p:cNvPicPr>
            <a:picLocks noChangeAspect="1"/>
          </p:cNvPicPr>
          <p:nvPr/>
        </p:nvPicPr>
        <p:blipFill>
          <a:blip r:embed="rId5"/>
          <a:stretch>
            <a:fillRect/>
          </a:stretch>
        </p:blipFill>
        <p:spPr>
          <a:xfrm>
            <a:off x="1371600" y="1314976"/>
            <a:ext cx="3037395" cy="581320"/>
          </a:xfrm>
          <a:prstGeom prst="rect">
            <a:avLst/>
          </a:prstGeom>
        </p:spPr>
      </p:pic>
      <p:pic>
        <p:nvPicPr>
          <p:cNvPr id="22" name="Picture 21"/>
          <p:cNvPicPr>
            <a:picLocks noChangeAspect="1"/>
          </p:cNvPicPr>
          <p:nvPr/>
        </p:nvPicPr>
        <p:blipFill>
          <a:blip r:embed="rId6"/>
          <a:stretch>
            <a:fillRect/>
          </a:stretch>
        </p:blipFill>
        <p:spPr>
          <a:xfrm>
            <a:off x="1435137" y="3335305"/>
            <a:ext cx="2790334" cy="639452"/>
          </a:xfrm>
          <a:prstGeom prst="rect">
            <a:avLst/>
          </a:prstGeom>
        </p:spPr>
      </p:pic>
      <p:sp>
        <p:nvSpPr>
          <p:cNvPr id="12" name="Oval 11"/>
          <p:cNvSpPr/>
          <p:nvPr/>
        </p:nvSpPr>
        <p:spPr>
          <a:xfrm>
            <a:off x="1474266" y="1455019"/>
            <a:ext cx="521043" cy="481914"/>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Oval 13"/>
          <p:cNvSpPr/>
          <p:nvPr/>
        </p:nvSpPr>
        <p:spPr>
          <a:xfrm>
            <a:off x="1435137" y="3436219"/>
            <a:ext cx="521043" cy="481914"/>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17" name="Picture 16"/>
          <p:cNvPicPr>
            <a:picLocks noChangeAspect="1"/>
          </p:cNvPicPr>
          <p:nvPr/>
        </p:nvPicPr>
        <p:blipFill>
          <a:blip r:embed="rId7"/>
          <a:stretch>
            <a:fillRect/>
          </a:stretch>
        </p:blipFill>
        <p:spPr>
          <a:xfrm>
            <a:off x="5510659" y="1747463"/>
            <a:ext cx="1967484" cy="1536944"/>
          </a:xfrm>
          <a:prstGeom prst="rect">
            <a:avLst/>
          </a:prstGeom>
        </p:spPr>
      </p:pic>
      <p:pic>
        <p:nvPicPr>
          <p:cNvPr id="21" name="Picture 20"/>
          <p:cNvPicPr>
            <a:picLocks noChangeAspect="1"/>
          </p:cNvPicPr>
          <p:nvPr/>
        </p:nvPicPr>
        <p:blipFill>
          <a:blip r:embed="rId8"/>
          <a:stretch>
            <a:fillRect/>
          </a:stretch>
        </p:blipFill>
        <p:spPr>
          <a:xfrm>
            <a:off x="4763223" y="1277905"/>
            <a:ext cx="3400720" cy="668518"/>
          </a:xfrm>
          <a:prstGeom prst="rect">
            <a:avLst/>
          </a:prstGeom>
        </p:spPr>
      </p:pic>
      <p:pic>
        <p:nvPicPr>
          <p:cNvPr id="23" name="Picture 22"/>
          <p:cNvPicPr>
            <a:picLocks noChangeAspect="1"/>
          </p:cNvPicPr>
          <p:nvPr/>
        </p:nvPicPr>
        <p:blipFill>
          <a:blip r:embed="rId9"/>
          <a:stretch>
            <a:fillRect/>
          </a:stretch>
        </p:blipFill>
        <p:spPr>
          <a:xfrm>
            <a:off x="4726458" y="3356916"/>
            <a:ext cx="3444319" cy="537721"/>
          </a:xfrm>
          <a:prstGeom prst="rect">
            <a:avLst/>
          </a:prstGeom>
        </p:spPr>
      </p:pic>
      <p:sp>
        <p:nvSpPr>
          <p:cNvPr id="13" name="Oval 12"/>
          <p:cNvSpPr/>
          <p:nvPr/>
        </p:nvSpPr>
        <p:spPr>
          <a:xfrm>
            <a:off x="4699380" y="1442662"/>
            <a:ext cx="521043" cy="481914"/>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Oval 14"/>
          <p:cNvSpPr/>
          <p:nvPr/>
        </p:nvSpPr>
        <p:spPr>
          <a:xfrm>
            <a:off x="4709985" y="3441357"/>
            <a:ext cx="521043" cy="481914"/>
          </a:xfrm>
          <a:prstGeom prst="ellipse">
            <a:avLst/>
          </a:prstGeom>
          <a:noFill/>
          <a:ln w="5715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8513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499"/>
                                          </p:stCondLst>
                                        </p:cTn>
                                        <p:tgtEl>
                                          <p:spTgt spid="13"/>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499"/>
                                          </p:stCondLst>
                                        </p:cTn>
                                        <p:tgtEl>
                                          <p:spTgt spid="14"/>
                                        </p:tgtEl>
                                        <p:attrNameLst>
                                          <p:attrName>style.visibility</p:attrName>
                                        </p:attrNameLst>
                                      </p:cBhvr>
                                      <p:to>
                                        <p:strVal val="visible"/>
                                      </p:to>
                                    </p:set>
                                  </p:childTnLst>
                                </p:cTn>
                              </p:par>
                            </p:childTnLst>
                          </p:cTn>
                        </p:par>
                        <p:par>
                          <p:cTn id="53" fill="hold">
                            <p:stCondLst>
                              <p:cond delay="1000"/>
                            </p:stCondLst>
                            <p:childTnLst>
                              <p:par>
                                <p:cTn id="54" presetID="1" presetClass="entr" presetSubtype="0" fill="hold" grpId="0" nodeType="afterEffect">
                                  <p:stCondLst>
                                    <p:cond delay="0"/>
                                  </p:stCondLst>
                                  <p:childTnLst>
                                    <p:set>
                                      <p:cBhvr>
                                        <p:cTn id="55"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a:xfrm>
            <a:off x="533400" y="1600200"/>
            <a:ext cx="8001000" cy="4419600"/>
          </a:xfrm>
        </p:spPr>
        <p:txBody>
          <a:bodyPr/>
          <a:lstStyle/>
          <a:p>
            <a:pPr algn="just">
              <a:buClr>
                <a:srgbClr val="666699"/>
              </a:buClr>
              <a:buFont typeface="Wingdings 3" panose="05040102010807070707" pitchFamily="18" charset="2"/>
              <a:buChar char="}"/>
            </a:pPr>
            <a:r>
              <a:rPr lang="vi-VN" dirty="0"/>
              <a:t>Tương tác mặt đối mặt:</a:t>
            </a:r>
          </a:p>
          <a:p>
            <a:pPr lvl="1" algn="just">
              <a:buClr>
                <a:srgbClr val="666699"/>
              </a:buClr>
              <a:buFont typeface="Arial" panose="020B0604020202020204" pitchFamily="34" charset="0"/>
              <a:buChar char="•"/>
            </a:pPr>
            <a:r>
              <a:rPr lang="vi-VN" sz="2400" b="1" dirty="0">
                <a:solidFill>
                  <a:srgbClr val="FF0000"/>
                </a:solidFill>
              </a:rPr>
              <a:t>58</a:t>
            </a:r>
            <a:r>
              <a:rPr lang="vi-VN" sz="2400" dirty="0">
                <a:solidFill>
                  <a:srgbClr val="FF0000"/>
                </a:solidFill>
              </a:rPr>
              <a:t>% </a:t>
            </a:r>
            <a:r>
              <a:rPr lang="vi-VN" sz="2400" dirty="0"/>
              <a:t>qua ngôn ngữ cơ thể.</a:t>
            </a:r>
          </a:p>
          <a:p>
            <a:pPr lvl="1" algn="just">
              <a:buClr>
                <a:srgbClr val="666699"/>
              </a:buClr>
              <a:buFont typeface="Arial" panose="020B0604020202020204" pitchFamily="34" charset="0"/>
              <a:buChar char="•"/>
            </a:pPr>
            <a:r>
              <a:rPr lang="vi-VN" sz="2400" b="1" dirty="0">
                <a:solidFill>
                  <a:srgbClr val="FF0000"/>
                </a:solidFill>
              </a:rPr>
              <a:t>35</a:t>
            </a:r>
            <a:r>
              <a:rPr lang="vi-VN" sz="2400" dirty="0">
                <a:solidFill>
                  <a:srgbClr val="FF0000"/>
                </a:solidFill>
              </a:rPr>
              <a:t>% </a:t>
            </a:r>
            <a:r>
              <a:rPr lang="vi-VN" sz="2400" dirty="0"/>
              <a:t>qua các từ được nói</a:t>
            </a:r>
          </a:p>
          <a:p>
            <a:pPr lvl="1" algn="just">
              <a:buClr>
                <a:srgbClr val="666699"/>
              </a:buClr>
              <a:buFont typeface="Arial" panose="020B0604020202020204" pitchFamily="34" charset="0"/>
              <a:buChar char="•"/>
            </a:pPr>
            <a:r>
              <a:rPr lang="vi-VN" sz="2400" b="1" dirty="0">
                <a:solidFill>
                  <a:srgbClr val="FF0000"/>
                </a:solidFill>
              </a:rPr>
              <a:t>7</a:t>
            </a:r>
            <a:r>
              <a:rPr lang="vi-VN" sz="2400" dirty="0">
                <a:solidFill>
                  <a:srgbClr val="FF0000"/>
                </a:solidFill>
              </a:rPr>
              <a:t>% </a:t>
            </a:r>
            <a:r>
              <a:rPr lang="vi-VN" sz="2400" dirty="0"/>
              <a:t>qua các từ được đọc.</a:t>
            </a:r>
          </a:p>
          <a:p>
            <a:pPr algn="just">
              <a:spcBef>
                <a:spcPts val="3000"/>
              </a:spcBef>
              <a:spcAft>
                <a:spcPts val="1800"/>
              </a:spcAft>
              <a:buClr>
                <a:srgbClr val="666699"/>
              </a:buClr>
              <a:buFont typeface="Wingdings 3" panose="05040102010807070707" pitchFamily="18" charset="2"/>
              <a:buChar char="}"/>
            </a:pPr>
            <a:r>
              <a:rPr lang="vi-VN" dirty="0"/>
              <a:t>Cần chú ý nhiều hơn lời nói của người đang nói.</a:t>
            </a:r>
          </a:p>
          <a:p>
            <a:pPr algn="just">
              <a:buClr>
                <a:srgbClr val="666699"/>
              </a:buClr>
              <a:buFont typeface="Wingdings 3" panose="05040102010807070707" pitchFamily="18" charset="2"/>
              <a:buChar char="}"/>
            </a:pPr>
            <a:r>
              <a:rPr lang="vi-VN" dirty="0"/>
              <a:t>Giọng điệu giọng nói và ngôn ngữ cơ thể là cảm xúc thực sự để con người cảm nhận.</a:t>
            </a:r>
            <a:endParaRPr lang="en-US" dirty="0"/>
          </a:p>
        </p:txBody>
      </p:sp>
      <p:sp>
        <p:nvSpPr>
          <p:cNvPr id="21506" name="Rectangle 2"/>
          <p:cNvSpPr>
            <a:spLocks noGrp="1" noChangeArrowheads="1"/>
          </p:cNvSpPr>
          <p:nvPr>
            <p:ph type="title"/>
          </p:nvPr>
        </p:nvSpPr>
        <p:spPr>
          <a:xfrm>
            <a:off x="457200" y="228600"/>
            <a:ext cx="8229600" cy="1143000"/>
          </a:xfrm>
        </p:spPr>
        <p:txBody>
          <a:bodyPr>
            <a:normAutofit/>
          </a:bodyPr>
          <a:lstStyle/>
          <a:p>
            <a:pPr algn="ctr"/>
            <a:r>
              <a:rPr lang="en-US" sz="4000" dirty="0" err="1"/>
              <a:t>Truyền</a:t>
            </a:r>
            <a:r>
              <a:rPr lang="en-US" sz="4000" dirty="0"/>
              <a:t> thông </a:t>
            </a:r>
            <a:r>
              <a:rPr lang="en-US" sz="4000" dirty="0" err="1"/>
              <a:t>mặt</a:t>
            </a:r>
            <a:r>
              <a:rPr lang="en-US" sz="4000" dirty="0"/>
              <a:t> </a:t>
            </a:r>
            <a:r>
              <a:rPr lang="en-US" sz="4000" dirty="0" err="1"/>
              <a:t>đối</a:t>
            </a:r>
            <a:r>
              <a:rPr lang="en-US" sz="4000" dirty="0"/>
              <a:t> </a:t>
            </a:r>
            <a:r>
              <a:rPr lang="en-US" sz="4000" dirty="0" err="1"/>
              <a:t>mặt</a:t>
            </a:r>
            <a:endParaRPr lang="en-US" sz="4000" dirty="0"/>
          </a:p>
        </p:txBody>
      </p:sp>
      <p:sp>
        <p:nvSpPr>
          <p:cNvPr id="21509"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8CC0F8A4-3DA1-437C-B4FE-839391EAD6E6}" type="slidenum">
              <a:rPr lang="en-US" smtClean="0"/>
              <a:pPr>
                <a:defRPr/>
              </a:pPr>
              <a:t>18</a:t>
            </a:fld>
            <a:endParaRPr lang="en-US" dirty="0"/>
          </a:p>
        </p:txBody>
      </p:sp>
      <p:pic>
        <p:nvPicPr>
          <p:cNvPr id="7" name="Picture 2" descr="http://vorkspace.com/blog/wp-content/uploads/face-to-face-banner.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86400" y="1676400"/>
            <a:ext cx="2895600" cy="152746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50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685800" y="1828800"/>
            <a:ext cx="7924800" cy="3733800"/>
          </a:xfrm>
        </p:spPr>
        <p:txBody>
          <a:bodyPr/>
          <a:lstStyle/>
          <a:p>
            <a:pPr algn="just">
              <a:spcBef>
                <a:spcPts val="1200"/>
              </a:spcBef>
              <a:spcAft>
                <a:spcPts val="600"/>
              </a:spcAft>
              <a:buClr>
                <a:srgbClr val="666699"/>
              </a:buClr>
              <a:buFont typeface="Wingdings 3" panose="05040102010807070707" pitchFamily="18" charset="2"/>
              <a:buChar char="}"/>
            </a:pPr>
            <a:r>
              <a:rPr lang="vi-VN" dirty="0"/>
              <a:t>Các cuộc họp thường xuyên rất hiệu quả trong những dự án HTTT.</a:t>
            </a:r>
          </a:p>
          <a:p>
            <a:pPr algn="just">
              <a:spcBef>
                <a:spcPts val="1200"/>
              </a:spcBef>
              <a:spcAft>
                <a:spcPts val="600"/>
              </a:spcAft>
              <a:buClr>
                <a:srgbClr val="666699"/>
              </a:buClr>
              <a:buFont typeface="Wingdings 3" panose="05040102010807070707" pitchFamily="18" charset="2"/>
              <a:buChar char="}"/>
            </a:pPr>
            <a:r>
              <a:rPr lang="vi-VN" dirty="0"/>
              <a:t>Các cuộc họp đứng buộc mọi người phải tập trung vào những gì thực sự cần để giao tiếp.</a:t>
            </a:r>
          </a:p>
          <a:p>
            <a:pPr algn="just">
              <a:spcBef>
                <a:spcPts val="1200"/>
              </a:spcBef>
              <a:spcAft>
                <a:spcPts val="600"/>
              </a:spcAft>
              <a:buClr>
                <a:srgbClr val="666699"/>
              </a:buClr>
              <a:buFont typeface="Wingdings 3" panose="05040102010807070707" pitchFamily="18" charset="2"/>
              <a:buChar char="}"/>
            </a:pPr>
            <a:r>
              <a:rPr lang="vi-VN" dirty="0"/>
              <a:t>Một số tổ chức có chính sách ngăn sử dụng e-mail trong một số thời điểm...</a:t>
            </a:r>
            <a:endParaRPr lang="en-US" dirty="0"/>
          </a:p>
        </p:txBody>
      </p:sp>
      <p:sp>
        <p:nvSpPr>
          <p:cNvPr id="22530" name="Rectangle 2"/>
          <p:cNvSpPr>
            <a:spLocks noGrp="1" noChangeArrowheads="1"/>
          </p:cNvSpPr>
          <p:nvPr>
            <p:ph type="title"/>
          </p:nvPr>
        </p:nvSpPr>
        <p:spPr>
          <a:xfrm>
            <a:off x="457200" y="304800"/>
            <a:ext cx="8229600" cy="1143000"/>
          </a:xfrm>
        </p:spPr>
        <p:txBody>
          <a:bodyPr>
            <a:normAutofit/>
          </a:bodyPr>
          <a:lstStyle/>
          <a:p>
            <a:pPr algn="ctr"/>
            <a:r>
              <a:rPr lang="en-US" sz="4000" dirty="0" err="1"/>
              <a:t>Khuyến</a:t>
            </a:r>
            <a:r>
              <a:rPr lang="en-US" sz="4000" dirty="0"/>
              <a:t> </a:t>
            </a:r>
            <a:r>
              <a:rPr lang="en-US" sz="4000" dirty="0" err="1"/>
              <a:t>khích</a:t>
            </a:r>
            <a:r>
              <a:rPr lang="en-US" sz="4000" dirty="0"/>
              <a:t> </a:t>
            </a:r>
            <a:r>
              <a:rPr lang="en-US" sz="4000" dirty="0" err="1"/>
              <a:t>mặt</a:t>
            </a:r>
            <a:r>
              <a:rPr lang="en-US" sz="4000" dirty="0"/>
              <a:t> </a:t>
            </a:r>
            <a:r>
              <a:rPr lang="en-US" sz="4000" dirty="0" err="1"/>
              <a:t>đối</a:t>
            </a:r>
            <a:r>
              <a:rPr lang="en-US" sz="4000" dirty="0"/>
              <a:t> </a:t>
            </a:r>
            <a:r>
              <a:rPr lang="en-US" sz="4000" dirty="0" err="1"/>
              <a:t>mặt</a:t>
            </a:r>
            <a:endParaRPr lang="en-US" sz="4000" dirty="0"/>
          </a:p>
        </p:txBody>
      </p:sp>
      <p:sp>
        <p:nvSpPr>
          <p:cNvPr id="22533"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2734D694-D08E-4893-8645-A8AFEF63C205}" type="slidenum">
              <a:rPr lang="en-US" smtClean="0"/>
              <a:pPr>
                <a:defRPr/>
              </a:pPr>
              <a:t>19</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2734D694-D08E-4893-8645-A8AFEF63C205}" type="slidenum">
              <a:rPr lang="en-US" smtClean="0"/>
              <a:pPr>
                <a:defRPr/>
              </a:pPr>
              <a:t>20</a:t>
            </a:fld>
            <a:endParaRPr lang="en-US" dirty="0"/>
          </a:p>
        </p:txBody>
      </p:sp>
      <p:pic>
        <p:nvPicPr>
          <p:cNvPr id="1028" name="Picture 4" descr="http://static.kanbantool.com/library/implementing-kanba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8" y="1447800"/>
            <a:ext cx="9171373" cy="35052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2"/>
          <p:cNvSpPr>
            <a:spLocks noGrp="1" noChangeArrowheads="1"/>
          </p:cNvSpPr>
          <p:nvPr>
            <p:ph type="title"/>
          </p:nvPr>
        </p:nvSpPr>
        <p:spPr>
          <a:xfrm>
            <a:off x="381000" y="381000"/>
            <a:ext cx="8305800" cy="715962"/>
          </a:xfrm>
        </p:spPr>
        <p:txBody>
          <a:bodyPr>
            <a:normAutofit/>
          </a:bodyPr>
          <a:lstStyle/>
          <a:p>
            <a:pPr algn="ctr"/>
            <a:r>
              <a:rPr lang="en-US" sz="3600" dirty="0" err="1"/>
              <a:t>Họp</a:t>
            </a:r>
            <a:r>
              <a:rPr lang="en-US" sz="3600" dirty="0"/>
              <a:t> </a:t>
            </a:r>
            <a:r>
              <a:rPr lang="en-US" sz="3600" dirty="0" err="1"/>
              <a:t>đứng</a:t>
            </a:r>
            <a:endParaRPr lang="en-US" sz="3600" dirty="0"/>
          </a:p>
        </p:txBody>
      </p:sp>
    </p:spTree>
    <p:extLst>
      <p:ext uri="{BB962C8B-B14F-4D97-AF65-F5344CB8AC3E}">
        <p14:creationId xmlns:p14="http://schemas.microsoft.com/office/powerpoint/2010/main" val="181426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barn(outVertical)">
                                      <p:cBhvr>
                                        <p:cTn id="7"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381000" y="381000"/>
            <a:ext cx="8305800" cy="715962"/>
          </a:xfrm>
        </p:spPr>
        <p:txBody>
          <a:bodyPr>
            <a:normAutofit/>
          </a:bodyPr>
          <a:lstStyle/>
          <a:p>
            <a:pPr algn="ctr"/>
            <a:r>
              <a:rPr lang="en-US" sz="3600" dirty="0"/>
              <a:t>Stand-up meeting</a:t>
            </a:r>
          </a:p>
        </p:txBody>
      </p:sp>
      <p:sp>
        <p:nvSpPr>
          <p:cNvPr id="59397"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AB4E9A7D-F34F-408A-AE6C-B54E88579F32}" type="slidenum">
              <a:rPr lang="en-US" smtClean="0"/>
              <a:pPr>
                <a:defRPr/>
              </a:pPr>
              <a:t>21</a:t>
            </a:fld>
            <a:endParaRPr lang="en-US" dirty="0"/>
          </a:p>
        </p:txBody>
      </p:sp>
      <p:pic>
        <p:nvPicPr>
          <p:cNvPr id="3" name="Picture 2"/>
          <p:cNvPicPr>
            <a:picLocks noChangeAspect="1"/>
          </p:cNvPicPr>
          <p:nvPr/>
        </p:nvPicPr>
        <p:blipFill>
          <a:blip r:embed="rId3"/>
          <a:stretch>
            <a:fillRect/>
          </a:stretch>
        </p:blipFill>
        <p:spPr>
          <a:xfrm>
            <a:off x="152400" y="1905000"/>
            <a:ext cx="2886075" cy="3037703"/>
          </a:xfrm>
          <a:prstGeom prst="rect">
            <a:avLst/>
          </a:prstGeom>
        </p:spPr>
      </p:pic>
      <p:pic>
        <p:nvPicPr>
          <p:cNvPr id="4" name="Picture 3"/>
          <p:cNvPicPr>
            <a:picLocks noChangeAspect="1"/>
          </p:cNvPicPr>
          <p:nvPr/>
        </p:nvPicPr>
        <p:blipFill>
          <a:blip r:embed="rId4"/>
          <a:stretch>
            <a:fillRect/>
          </a:stretch>
        </p:blipFill>
        <p:spPr>
          <a:xfrm>
            <a:off x="3136557" y="1905000"/>
            <a:ext cx="2905125" cy="3048000"/>
          </a:xfrm>
          <a:prstGeom prst="rect">
            <a:avLst/>
          </a:prstGeom>
        </p:spPr>
      </p:pic>
      <p:pic>
        <p:nvPicPr>
          <p:cNvPr id="7" name="Picture 6"/>
          <p:cNvPicPr>
            <a:picLocks noChangeAspect="1"/>
          </p:cNvPicPr>
          <p:nvPr/>
        </p:nvPicPr>
        <p:blipFill>
          <a:blip r:embed="rId5"/>
          <a:stretch>
            <a:fillRect/>
          </a:stretch>
        </p:blipFill>
        <p:spPr>
          <a:xfrm>
            <a:off x="6150318" y="1905000"/>
            <a:ext cx="2905125" cy="3037703"/>
          </a:xfrm>
          <a:prstGeom prst="rect">
            <a:avLst/>
          </a:prstGeom>
        </p:spPr>
      </p:pic>
    </p:spTree>
    <p:extLst>
      <p:ext uri="{BB962C8B-B14F-4D97-AF65-F5344CB8AC3E}">
        <p14:creationId xmlns:p14="http://schemas.microsoft.com/office/powerpoint/2010/main" val="15081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762000" y="1752600"/>
            <a:ext cx="8077200" cy="4343400"/>
          </a:xfrm>
        </p:spPr>
        <p:txBody>
          <a:bodyPr/>
          <a:lstStyle/>
          <a:p>
            <a:pPr algn="just">
              <a:spcBef>
                <a:spcPct val="100000"/>
              </a:spcBef>
              <a:buClr>
                <a:srgbClr val="666699"/>
              </a:buClr>
              <a:buFont typeface="Wingdings 3" panose="05040102010807070707" pitchFamily="18" charset="2"/>
              <a:buChar char="}"/>
            </a:pPr>
            <a:r>
              <a:rPr lang="en-US" dirty="0" err="1"/>
              <a:t>Đừng</a:t>
            </a:r>
            <a:r>
              <a:rPr lang="en-US" dirty="0"/>
              <a:t> </a:t>
            </a:r>
            <a:r>
              <a:rPr lang="en-US" dirty="0" err="1"/>
              <a:t>bỏ</a:t>
            </a:r>
            <a:r>
              <a:rPr lang="en-US" dirty="0"/>
              <a:t> </a:t>
            </a:r>
            <a:r>
              <a:rPr lang="en-US" dirty="0" err="1"/>
              <a:t>các</a:t>
            </a:r>
            <a:r>
              <a:rPr lang="en-US" dirty="0"/>
              <a:t> thông tin </a:t>
            </a:r>
            <a:r>
              <a:rPr lang="en-US" dirty="0" err="1"/>
              <a:t>quan</a:t>
            </a:r>
            <a:r>
              <a:rPr lang="en-US" dirty="0"/>
              <a:t> </a:t>
            </a:r>
            <a:r>
              <a:rPr lang="en-US" dirty="0" err="1"/>
              <a:t>trọng</a:t>
            </a:r>
            <a:r>
              <a:rPr lang="en-US" dirty="0"/>
              <a:t>.</a:t>
            </a:r>
          </a:p>
          <a:p>
            <a:pPr algn="just">
              <a:spcBef>
                <a:spcPct val="100000"/>
              </a:spcBef>
              <a:buClr>
                <a:srgbClr val="666699"/>
              </a:buClr>
              <a:buFont typeface="Wingdings 3" panose="05040102010807070707" pitchFamily="18" charset="2"/>
              <a:buChar char="}"/>
            </a:pPr>
            <a:r>
              <a:rPr lang="en-US" dirty="0" err="1"/>
              <a:t>Đừng</a:t>
            </a:r>
            <a:r>
              <a:rPr lang="en-US" dirty="0"/>
              <a:t> </a:t>
            </a:r>
            <a:r>
              <a:rPr lang="en-US" dirty="0" err="1"/>
              <a:t>sợ</a:t>
            </a:r>
            <a:r>
              <a:rPr lang="en-US" dirty="0"/>
              <a:t> </a:t>
            </a:r>
            <a:r>
              <a:rPr lang="en-US" dirty="0" err="1"/>
              <a:t>khi</a:t>
            </a:r>
            <a:r>
              <a:rPr lang="en-US" dirty="0"/>
              <a:t> </a:t>
            </a:r>
            <a:r>
              <a:rPr lang="en-US" dirty="0" err="1"/>
              <a:t>báo</a:t>
            </a:r>
            <a:r>
              <a:rPr lang="en-US" dirty="0"/>
              <a:t> </a:t>
            </a:r>
            <a:r>
              <a:rPr lang="en-US" dirty="0" err="1"/>
              <a:t>cáo</a:t>
            </a:r>
            <a:r>
              <a:rPr lang="en-US" dirty="0"/>
              <a:t> </a:t>
            </a:r>
            <a:r>
              <a:rPr lang="en-US" dirty="0" err="1"/>
              <a:t>các</a:t>
            </a:r>
            <a:r>
              <a:rPr lang="en-US" dirty="0"/>
              <a:t> thông tin </a:t>
            </a:r>
            <a:r>
              <a:rPr lang="en-US" dirty="0" err="1"/>
              <a:t>xấu</a:t>
            </a:r>
            <a:r>
              <a:rPr lang="en-US" dirty="0"/>
              <a:t>.</a:t>
            </a:r>
          </a:p>
          <a:p>
            <a:pPr algn="just">
              <a:spcBef>
                <a:spcPct val="100000"/>
              </a:spcBef>
              <a:buClr>
                <a:srgbClr val="666699"/>
              </a:buClr>
              <a:buFont typeface="Wingdings 3" panose="05040102010807070707" pitchFamily="18" charset="2"/>
              <a:buChar char="}"/>
            </a:pPr>
            <a:r>
              <a:rPr lang="en-US" dirty="0" err="1"/>
              <a:t>Giao</a:t>
            </a:r>
            <a:r>
              <a:rPr lang="en-US" dirty="0"/>
              <a:t> </a:t>
            </a:r>
            <a:r>
              <a:rPr lang="en-US" dirty="0" err="1"/>
              <a:t>tiếp</a:t>
            </a:r>
            <a:r>
              <a:rPr lang="en-US" dirty="0"/>
              <a:t> </a:t>
            </a:r>
            <a:r>
              <a:rPr lang="en-US" dirty="0" err="1"/>
              <a:t>lời</a:t>
            </a:r>
            <a:r>
              <a:rPr lang="en-US" dirty="0"/>
              <a:t> </a:t>
            </a:r>
            <a:r>
              <a:rPr lang="en-US" dirty="0" err="1"/>
              <a:t>nói</a:t>
            </a:r>
            <a:r>
              <a:rPr lang="en-US" dirty="0"/>
              <a:t> qua </a:t>
            </a:r>
            <a:r>
              <a:rPr lang="en-US" dirty="0" err="1"/>
              <a:t>các</a:t>
            </a:r>
            <a:r>
              <a:rPr lang="en-US" dirty="0"/>
              <a:t> </a:t>
            </a:r>
            <a:r>
              <a:rPr lang="en-US" dirty="0" err="1"/>
              <a:t>cuộc</a:t>
            </a:r>
            <a:r>
              <a:rPr lang="en-US" dirty="0"/>
              <a:t> </a:t>
            </a:r>
            <a:r>
              <a:rPr lang="en-US" dirty="0" err="1"/>
              <a:t>họp</a:t>
            </a:r>
            <a:r>
              <a:rPr lang="en-US" dirty="0"/>
              <a:t> và </a:t>
            </a:r>
            <a:r>
              <a:rPr lang="en-US" dirty="0" err="1"/>
              <a:t>thảo</a:t>
            </a:r>
            <a:r>
              <a:rPr lang="en-US" dirty="0"/>
              <a:t> </a:t>
            </a:r>
            <a:r>
              <a:rPr lang="en-US" dirty="0" err="1"/>
              <a:t>luận</a:t>
            </a:r>
            <a:r>
              <a:rPr lang="en-US" dirty="0"/>
              <a:t> </a:t>
            </a:r>
            <a:r>
              <a:rPr lang="en-US" dirty="0" err="1"/>
              <a:t>không</a:t>
            </a:r>
            <a:r>
              <a:rPr lang="en-US" dirty="0"/>
              <a:t> </a:t>
            </a:r>
            <a:r>
              <a:rPr lang="en-US" dirty="0" err="1"/>
              <a:t>chính</a:t>
            </a:r>
            <a:r>
              <a:rPr lang="en-US" dirty="0"/>
              <a:t> </a:t>
            </a:r>
            <a:r>
              <a:rPr lang="en-US" dirty="0" err="1"/>
              <a:t>thức</a:t>
            </a:r>
            <a:r>
              <a:rPr lang="en-US" dirty="0"/>
              <a:t> </a:t>
            </a:r>
            <a:r>
              <a:rPr lang="en-US" dirty="0" err="1"/>
              <a:t>giúp</a:t>
            </a:r>
            <a:r>
              <a:rPr lang="en-US" dirty="0"/>
              <a:t> </a:t>
            </a:r>
            <a:r>
              <a:rPr lang="en-US" dirty="0" err="1"/>
              <a:t>có</a:t>
            </a:r>
            <a:r>
              <a:rPr lang="en-US" dirty="0"/>
              <a:t> </a:t>
            </a:r>
            <a:r>
              <a:rPr lang="en-US" dirty="0" err="1"/>
              <a:t>các</a:t>
            </a:r>
            <a:r>
              <a:rPr lang="en-US" dirty="0"/>
              <a:t> thông tin </a:t>
            </a:r>
            <a:r>
              <a:rPr lang="en-US" dirty="0" err="1"/>
              <a:t>quan</a:t>
            </a:r>
            <a:r>
              <a:rPr lang="en-US" dirty="0"/>
              <a:t> </a:t>
            </a:r>
            <a:r>
              <a:rPr lang="en-US" dirty="0" err="1"/>
              <a:t>trọng</a:t>
            </a:r>
            <a:r>
              <a:rPr lang="en-US" dirty="0">
                <a:cs typeface="Times New Roman" pitchFamily="18" charset="0"/>
              </a:rPr>
              <a:t>—</a:t>
            </a:r>
            <a:r>
              <a:rPr lang="en-US" dirty="0" err="1"/>
              <a:t>tốt</a:t>
            </a:r>
            <a:r>
              <a:rPr lang="en-US" dirty="0"/>
              <a:t> và </a:t>
            </a:r>
            <a:r>
              <a:rPr lang="en-US" dirty="0" err="1"/>
              <a:t>xấu</a:t>
            </a:r>
            <a:r>
              <a:rPr lang="en-US" dirty="0">
                <a:cs typeface="Times New Roman" pitchFamily="18" charset="0"/>
              </a:rPr>
              <a:t>—</a:t>
            </a:r>
            <a:r>
              <a:rPr lang="en-US" dirty="0" err="1"/>
              <a:t>công</a:t>
            </a:r>
            <a:r>
              <a:rPr lang="en-US" dirty="0"/>
              <a:t> </a:t>
            </a:r>
            <a:r>
              <a:rPr lang="en-US" dirty="0" err="1"/>
              <a:t>khai</a:t>
            </a:r>
            <a:r>
              <a:rPr lang="en-US" dirty="0"/>
              <a:t>…</a:t>
            </a:r>
          </a:p>
        </p:txBody>
      </p:sp>
      <p:sp>
        <p:nvSpPr>
          <p:cNvPr id="20482" name="Rectangle 2"/>
          <p:cNvSpPr>
            <a:spLocks noGrp="1" noChangeArrowheads="1"/>
          </p:cNvSpPr>
          <p:nvPr>
            <p:ph type="title"/>
          </p:nvPr>
        </p:nvSpPr>
        <p:spPr/>
        <p:txBody>
          <a:bodyPr>
            <a:normAutofit/>
          </a:bodyPr>
          <a:lstStyle/>
          <a:p>
            <a:pPr algn="ctr"/>
            <a:r>
              <a:rPr lang="en-US" sz="4000" dirty="0" err="1"/>
              <a:t>Phân</a:t>
            </a:r>
            <a:r>
              <a:rPr lang="en-US" sz="4000" dirty="0"/>
              <a:t> </a:t>
            </a:r>
            <a:r>
              <a:rPr lang="en-US" sz="4000" dirty="0" err="1"/>
              <a:t>phối</a:t>
            </a:r>
            <a:r>
              <a:rPr lang="en-US" sz="4000" dirty="0"/>
              <a:t> thông tin</a:t>
            </a:r>
          </a:p>
        </p:txBody>
      </p:sp>
      <p:sp>
        <p:nvSpPr>
          <p:cNvPr id="20485"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D18C68D1-3354-47B1-B13F-4C776BE79FAF}" type="slidenum">
              <a:rPr lang="en-US" smtClean="0"/>
              <a:pPr>
                <a:defRPr/>
              </a:pPr>
              <a:t>22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52400" y="0"/>
            <a:ext cx="8915400" cy="1219200"/>
          </a:xfrm>
        </p:spPr>
        <p:txBody>
          <a:bodyPr/>
          <a:lstStyle/>
          <a:p>
            <a:pPr algn="ctr"/>
            <a:r>
              <a:rPr lang="en-US" sz="3600" dirty="0" err="1"/>
              <a:t>Ví</a:t>
            </a:r>
            <a:r>
              <a:rPr lang="en-US" sz="3600" dirty="0"/>
              <a:t> </a:t>
            </a:r>
            <a:r>
              <a:rPr lang="en-US" sz="3600" dirty="0" err="1"/>
              <a:t>dụ</a:t>
            </a:r>
            <a:r>
              <a:rPr lang="en-US" sz="3600" dirty="0"/>
              <a:t>, tin </a:t>
            </a:r>
            <a:r>
              <a:rPr lang="en-US" sz="3600" dirty="0" err="1"/>
              <a:t>xấu</a:t>
            </a:r>
            <a:r>
              <a:rPr lang="en-US" sz="3600" dirty="0"/>
              <a:t>…</a:t>
            </a:r>
          </a:p>
        </p:txBody>
      </p:sp>
      <p:sp>
        <p:nvSpPr>
          <p:cNvPr id="28677"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503C7239-B876-469E-B0EE-032EF7C21342}" type="slidenum">
              <a:rPr lang="en-US" smtClean="0"/>
              <a:pPr>
                <a:defRPr/>
              </a:pPr>
              <a:t>23</a:t>
            </a:fld>
            <a:endParaRPr lang="en-US" dirty="0"/>
          </a:p>
        </p:txBody>
      </p:sp>
      <p:sp>
        <p:nvSpPr>
          <p:cNvPr id="28675" name="Rectangle 5"/>
          <p:cNvSpPr>
            <a:spLocks noChangeArrowheads="1"/>
          </p:cNvSpPr>
          <p:nvPr/>
        </p:nvSpPr>
        <p:spPr bwMode="auto">
          <a:xfrm>
            <a:off x="381000" y="1371600"/>
            <a:ext cx="8534400" cy="4401205"/>
          </a:xfrm>
          <a:prstGeom prst="rect">
            <a:avLst/>
          </a:prstGeom>
          <a:solidFill>
            <a:schemeClr val="bg2"/>
          </a:solidFill>
          <a:ln w="9525">
            <a:noFill/>
            <a:miter lim="800000"/>
            <a:headEnd/>
            <a:tailEnd/>
          </a:ln>
        </p:spPr>
        <p:txBody>
          <a:bodyPr anchor="ctr">
            <a:spAutoFit/>
          </a:bodyPr>
          <a:lstStyle/>
          <a:p>
            <a:pPr algn="just"/>
            <a:r>
              <a:rPr lang="en-US" sz="2000" i="1" dirty="0">
                <a:latin typeface="Bodoni MT" pitchFamily="18" charset="0"/>
              </a:rPr>
              <a:t>Dear Mom and Dad, or should I say Grandma &amp; Grandpa,</a:t>
            </a:r>
          </a:p>
          <a:p>
            <a:pPr algn="just"/>
            <a:endParaRPr lang="en-US" sz="1000" i="1" dirty="0">
              <a:latin typeface="Bodoni MT" pitchFamily="18" charset="0"/>
            </a:endParaRPr>
          </a:p>
          <a:p>
            <a:pPr algn="just"/>
            <a:r>
              <a:rPr lang="en-US" sz="2000" i="1" dirty="0">
                <a:latin typeface="Bodoni MT" pitchFamily="18" charset="0"/>
              </a:rPr>
              <a:t>Yes, I am pregnant. No, I’m not married yet since Larry, my boyfriend, is out of a job. Larry’s employers just don’t seem to appreciate the skills he has learned since he quit high school. Larry looks much younger than you, Dad, even though he is three years older. I’m quitting college and getting a job so we can get an apartment before the baby is born. I found a beautiful apartment above a 24-hour auto repair garage with good insulation so the exhaust fumes and noise won’t bother us.</a:t>
            </a:r>
          </a:p>
          <a:p>
            <a:pPr algn="just"/>
            <a:endParaRPr lang="en-US" sz="1000" i="1" dirty="0">
              <a:latin typeface="Bodoni MT" pitchFamily="18" charset="0"/>
            </a:endParaRPr>
          </a:p>
          <a:p>
            <a:pPr algn="just"/>
            <a:r>
              <a:rPr lang="en-US" sz="2000" i="1" dirty="0">
                <a:latin typeface="Bodoni MT" pitchFamily="18" charset="0"/>
              </a:rPr>
              <a:t>I’m very happy. I thought you would be too.</a:t>
            </a:r>
          </a:p>
          <a:p>
            <a:pPr algn="just"/>
            <a:endParaRPr lang="en-US" sz="1000" i="1" dirty="0">
              <a:latin typeface="Bodoni MT" pitchFamily="18" charset="0"/>
            </a:endParaRPr>
          </a:p>
          <a:p>
            <a:pPr algn="just"/>
            <a:r>
              <a:rPr lang="en-US" sz="2000" i="1" dirty="0">
                <a:latin typeface="Bodoni MT" pitchFamily="18" charset="0"/>
              </a:rPr>
              <a:t>Love, Ashley</a:t>
            </a:r>
          </a:p>
          <a:p>
            <a:pPr algn="just"/>
            <a:endParaRPr lang="en-US" sz="1000" i="1" dirty="0">
              <a:latin typeface="Bodoni MT" pitchFamily="18" charset="0"/>
            </a:endParaRPr>
          </a:p>
          <a:p>
            <a:pPr algn="just"/>
            <a:r>
              <a:rPr lang="en-US" sz="2000" i="1" dirty="0">
                <a:latin typeface="Bodoni MT" pitchFamily="18" charset="0"/>
              </a:rPr>
              <a:t>P.S. There is no Larry. I’m not pregnant. I’m not getting married. I’m not quitting school, but I am getting a “D” in Chemistry. I just wanted you to have some perspective.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p:cTn id="7" dur="50" fill="hold"/>
                                        <p:tgtEl>
                                          <p:spTgt spid="28675">
                                            <p:txEl>
                                              <p:pRg st="0" end="0"/>
                                            </p:txEl>
                                          </p:spTgt>
                                        </p:tgtEl>
                                        <p:attrNameLst>
                                          <p:attrName>ppt_x</p:attrName>
                                        </p:attrNameLst>
                                      </p:cBhvr>
                                      <p:tavLst>
                                        <p:tav tm="0">
                                          <p:val>
                                            <p:strVal val="#ppt_x"/>
                                          </p:val>
                                        </p:tav>
                                        <p:tav tm="50000">
                                          <p:val>
                                            <p:strVal val="#ppt_x+.1"/>
                                          </p:val>
                                        </p:tav>
                                        <p:tav tm="100000">
                                          <p:val>
                                            <p:strVal val="#ppt_x"/>
                                          </p:val>
                                        </p:tav>
                                      </p:tavLst>
                                    </p:anim>
                                    <p:anim calcmode="lin" valueType="num">
                                      <p:cBhvr>
                                        <p:cTn id="8" dur="50" fill="hold"/>
                                        <p:tgtEl>
                                          <p:spTgt spid="28675">
                                            <p:txEl>
                                              <p:pRg st="0" end="0"/>
                                            </p:txEl>
                                          </p:spTgt>
                                        </p:tgtEl>
                                        <p:attrNameLst>
                                          <p:attrName>ppt_y</p:attrName>
                                        </p:attrNameLst>
                                      </p:cBhvr>
                                      <p:tavLst>
                                        <p:tav tm="0">
                                          <p:val>
                                            <p:strVal val="#ppt_y"/>
                                          </p:val>
                                        </p:tav>
                                        <p:tav tm="100000">
                                          <p:val>
                                            <p:strVal val="#ppt_y"/>
                                          </p:val>
                                        </p:tav>
                                      </p:tavLst>
                                    </p:anim>
                                    <p:anim calcmode="lin" valueType="num">
                                      <p:cBhvr>
                                        <p:cTn id="9" dur="50" fill="hold"/>
                                        <p:tgtEl>
                                          <p:spTgt spid="28675">
                                            <p:txEl>
                                              <p:pRg st="0" end="0"/>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0" dur="50" fill="hold"/>
                                        <p:tgtEl>
                                          <p:spTgt spid="28675">
                                            <p:txEl>
                                              <p:pRg st="0" end="0"/>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 tmFilter="0,0; .5, 1; 1, 1"/>
                                        <p:tgtEl>
                                          <p:spTgt spid="28675">
                                            <p:txEl>
                                              <p:pRg st="0" end="0"/>
                                            </p:txEl>
                                          </p:spTgt>
                                        </p:tgtEl>
                                      </p:cBhvr>
                                    </p:animEffect>
                                  </p:childTnLst>
                                </p:cTn>
                              </p:par>
                            </p:childTnLst>
                          </p:cTn>
                        </p:par>
                        <p:par>
                          <p:cTn id="12" fill="hold">
                            <p:stCondLst>
                              <p:cond delay="255"/>
                            </p:stCondLst>
                            <p:childTnLst>
                              <p:par>
                                <p:cTn id="13" presetID="41" presetClass="entr" presetSubtype="0" fill="hold" nodeType="afterEffect">
                                  <p:stCondLst>
                                    <p:cond delay="0"/>
                                  </p:stCondLst>
                                  <p:iterate type="lt">
                                    <p:tmPct val="10000"/>
                                  </p:iterate>
                                  <p:childTnLst>
                                    <p:set>
                                      <p:cBhvr>
                                        <p:cTn id="14" dur="1" fill="hold">
                                          <p:stCondLst>
                                            <p:cond delay="0"/>
                                          </p:stCondLst>
                                        </p:cTn>
                                        <p:tgtEl>
                                          <p:spTgt spid="28675">
                                            <p:txEl>
                                              <p:pRg st="2" end="2"/>
                                            </p:txEl>
                                          </p:spTgt>
                                        </p:tgtEl>
                                        <p:attrNameLst>
                                          <p:attrName>style.visibility</p:attrName>
                                        </p:attrNameLst>
                                      </p:cBhvr>
                                      <p:to>
                                        <p:strVal val="visible"/>
                                      </p:to>
                                    </p:set>
                                    <p:anim calcmode="lin" valueType="num">
                                      <p:cBhvr>
                                        <p:cTn id="15" dur="50" fill="hold"/>
                                        <p:tgtEl>
                                          <p:spTgt spid="28675">
                                            <p:txEl>
                                              <p:pRg st="2" end="2"/>
                                            </p:txEl>
                                          </p:spTgt>
                                        </p:tgtEl>
                                        <p:attrNameLst>
                                          <p:attrName>ppt_x</p:attrName>
                                        </p:attrNameLst>
                                      </p:cBhvr>
                                      <p:tavLst>
                                        <p:tav tm="0">
                                          <p:val>
                                            <p:strVal val="#ppt_x"/>
                                          </p:val>
                                        </p:tav>
                                        <p:tav tm="50000">
                                          <p:val>
                                            <p:strVal val="#ppt_x+.1"/>
                                          </p:val>
                                        </p:tav>
                                        <p:tav tm="100000">
                                          <p:val>
                                            <p:strVal val="#ppt_x"/>
                                          </p:val>
                                        </p:tav>
                                      </p:tavLst>
                                    </p:anim>
                                    <p:anim calcmode="lin" valueType="num">
                                      <p:cBhvr>
                                        <p:cTn id="16" dur="50" fill="hold"/>
                                        <p:tgtEl>
                                          <p:spTgt spid="28675">
                                            <p:txEl>
                                              <p:pRg st="2" end="2"/>
                                            </p:txEl>
                                          </p:spTgt>
                                        </p:tgtEl>
                                        <p:attrNameLst>
                                          <p:attrName>ppt_y</p:attrName>
                                        </p:attrNameLst>
                                      </p:cBhvr>
                                      <p:tavLst>
                                        <p:tav tm="0">
                                          <p:val>
                                            <p:strVal val="#ppt_y"/>
                                          </p:val>
                                        </p:tav>
                                        <p:tav tm="100000">
                                          <p:val>
                                            <p:strVal val="#ppt_y"/>
                                          </p:val>
                                        </p:tav>
                                      </p:tavLst>
                                    </p:anim>
                                    <p:anim calcmode="lin" valueType="num">
                                      <p:cBhvr>
                                        <p:cTn id="17" dur="50" fill="hold"/>
                                        <p:tgtEl>
                                          <p:spTgt spid="28675">
                                            <p:txEl>
                                              <p:pRg st="2" end="2"/>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18" dur="50" fill="hold"/>
                                        <p:tgtEl>
                                          <p:spTgt spid="28675">
                                            <p:txEl>
                                              <p:pRg st="2" end="2"/>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 tmFilter="0,0; .5, 1; 1, 1"/>
                                        <p:tgtEl>
                                          <p:spTgt spid="28675">
                                            <p:txEl>
                                              <p:pRg st="2" end="2"/>
                                            </p:txEl>
                                          </p:spTgt>
                                        </p:tgtEl>
                                      </p:cBhvr>
                                    </p:animEffect>
                                  </p:childTnLst>
                                </p:cTn>
                              </p:par>
                            </p:childTnLst>
                          </p:cTn>
                        </p:par>
                        <p:par>
                          <p:cTn id="20" fill="hold">
                            <p:stCondLst>
                              <p:cond delay="2305"/>
                            </p:stCondLst>
                            <p:childTnLst>
                              <p:par>
                                <p:cTn id="21" presetID="41" presetClass="entr" presetSubtype="0" fill="hold" nodeType="afterEffect">
                                  <p:stCondLst>
                                    <p:cond delay="0"/>
                                  </p:stCondLst>
                                  <p:iterate type="lt">
                                    <p:tmPct val="10000"/>
                                  </p:iterate>
                                  <p:childTnLst>
                                    <p:set>
                                      <p:cBhvr>
                                        <p:cTn id="22" dur="1" fill="hold">
                                          <p:stCondLst>
                                            <p:cond delay="0"/>
                                          </p:stCondLst>
                                        </p:cTn>
                                        <p:tgtEl>
                                          <p:spTgt spid="28675">
                                            <p:txEl>
                                              <p:pRg st="4" end="4"/>
                                            </p:txEl>
                                          </p:spTgt>
                                        </p:tgtEl>
                                        <p:attrNameLst>
                                          <p:attrName>style.visibility</p:attrName>
                                        </p:attrNameLst>
                                      </p:cBhvr>
                                      <p:to>
                                        <p:strVal val="visible"/>
                                      </p:to>
                                    </p:set>
                                    <p:anim calcmode="lin" valueType="num">
                                      <p:cBhvr>
                                        <p:cTn id="23" dur="50" fill="hold"/>
                                        <p:tgtEl>
                                          <p:spTgt spid="28675">
                                            <p:txEl>
                                              <p:pRg st="4" end="4"/>
                                            </p:txEl>
                                          </p:spTgt>
                                        </p:tgtEl>
                                        <p:attrNameLst>
                                          <p:attrName>ppt_x</p:attrName>
                                        </p:attrNameLst>
                                      </p:cBhvr>
                                      <p:tavLst>
                                        <p:tav tm="0">
                                          <p:val>
                                            <p:strVal val="#ppt_x"/>
                                          </p:val>
                                        </p:tav>
                                        <p:tav tm="50000">
                                          <p:val>
                                            <p:strVal val="#ppt_x+.1"/>
                                          </p:val>
                                        </p:tav>
                                        <p:tav tm="100000">
                                          <p:val>
                                            <p:strVal val="#ppt_x"/>
                                          </p:val>
                                        </p:tav>
                                      </p:tavLst>
                                    </p:anim>
                                    <p:anim calcmode="lin" valueType="num">
                                      <p:cBhvr>
                                        <p:cTn id="24" dur="50" fill="hold"/>
                                        <p:tgtEl>
                                          <p:spTgt spid="28675">
                                            <p:txEl>
                                              <p:pRg st="4" end="4"/>
                                            </p:txEl>
                                          </p:spTgt>
                                        </p:tgtEl>
                                        <p:attrNameLst>
                                          <p:attrName>ppt_y</p:attrName>
                                        </p:attrNameLst>
                                      </p:cBhvr>
                                      <p:tavLst>
                                        <p:tav tm="0">
                                          <p:val>
                                            <p:strVal val="#ppt_y"/>
                                          </p:val>
                                        </p:tav>
                                        <p:tav tm="100000">
                                          <p:val>
                                            <p:strVal val="#ppt_y"/>
                                          </p:val>
                                        </p:tav>
                                      </p:tavLst>
                                    </p:anim>
                                    <p:anim calcmode="lin" valueType="num">
                                      <p:cBhvr>
                                        <p:cTn id="25" dur="50" fill="hold"/>
                                        <p:tgtEl>
                                          <p:spTgt spid="28675">
                                            <p:txEl>
                                              <p:pRg st="4" end="4"/>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26" dur="50" fill="hold"/>
                                        <p:tgtEl>
                                          <p:spTgt spid="28675">
                                            <p:txEl>
                                              <p:pRg st="4" end="4"/>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27" dur="50" tmFilter="0,0; .5, 1; 1, 1"/>
                                        <p:tgtEl>
                                          <p:spTgt spid="28675">
                                            <p:txEl>
                                              <p:pRg st="4" end="4"/>
                                            </p:txEl>
                                          </p:spTgt>
                                        </p:tgtEl>
                                      </p:cBhvr>
                                    </p:animEffect>
                                  </p:childTnLst>
                                </p:cTn>
                              </p:par>
                            </p:childTnLst>
                          </p:cTn>
                        </p:par>
                        <p:par>
                          <p:cTn id="28" fill="hold">
                            <p:stCondLst>
                              <p:cond delay="2525"/>
                            </p:stCondLst>
                            <p:childTnLst>
                              <p:par>
                                <p:cTn id="29" presetID="41" presetClass="entr" presetSubtype="0" fill="hold" nodeType="afterEffect">
                                  <p:stCondLst>
                                    <p:cond delay="0"/>
                                  </p:stCondLst>
                                  <p:iterate type="lt">
                                    <p:tmPct val="10000"/>
                                  </p:iterate>
                                  <p:childTnLst>
                                    <p:set>
                                      <p:cBhvr>
                                        <p:cTn id="30" dur="1" fill="hold">
                                          <p:stCondLst>
                                            <p:cond delay="0"/>
                                          </p:stCondLst>
                                        </p:cTn>
                                        <p:tgtEl>
                                          <p:spTgt spid="28675">
                                            <p:txEl>
                                              <p:pRg st="6" end="6"/>
                                            </p:txEl>
                                          </p:spTgt>
                                        </p:tgtEl>
                                        <p:attrNameLst>
                                          <p:attrName>style.visibility</p:attrName>
                                        </p:attrNameLst>
                                      </p:cBhvr>
                                      <p:to>
                                        <p:strVal val="visible"/>
                                      </p:to>
                                    </p:set>
                                    <p:anim calcmode="lin" valueType="num">
                                      <p:cBhvr>
                                        <p:cTn id="31" dur="50" fill="hold"/>
                                        <p:tgtEl>
                                          <p:spTgt spid="28675">
                                            <p:txEl>
                                              <p:pRg st="6" end="6"/>
                                            </p:txEl>
                                          </p:spTgt>
                                        </p:tgtEl>
                                        <p:attrNameLst>
                                          <p:attrName>ppt_x</p:attrName>
                                        </p:attrNameLst>
                                      </p:cBhvr>
                                      <p:tavLst>
                                        <p:tav tm="0">
                                          <p:val>
                                            <p:strVal val="#ppt_x"/>
                                          </p:val>
                                        </p:tav>
                                        <p:tav tm="50000">
                                          <p:val>
                                            <p:strVal val="#ppt_x+.1"/>
                                          </p:val>
                                        </p:tav>
                                        <p:tav tm="100000">
                                          <p:val>
                                            <p:strVal val="#ppt_x"/>
                                          </p:val>
                                        </p:tav>
                                      </p:tavLst>
                                    </p:anim>
                                    <p:anim calcmode="lin" valueType="num">
                                      <p:cBhvr>
                                        <p:cTn id="32" dur="50" fill="hold"/>
                                        <p:tgtEl>
                                          <p:spTgt spid="28675">
                                            <p:txEl>
                                              <p:pRg st="6" end="6"/>
                                            </p:txEl>
                                          </p:spTgt>
                                        </p:tgtEl>
                                        <p:attrNameLst>
                                          <p:attrName>ppt_y</p:attrName>
                                        </p:attrNameLst>
                                      </p:cBhvr>
                                      <p:tavLst>
                                        <p:tav tm="0">
                                          <p:val>
                                            <p:strVal val="#ppt_y"/>
                                          </p:val>
                                        </p:tav>
                                        <p:tav tm="100000">
                                          <p:val>
                                            <p:strVal val="#ppt_y"/>
                                          </p:val>
                                        </p:tav>
                                      </p:tavLst>
                                    </p:anim>
                                    <p:anim calcmode="lin" valueType="num">
                                      <p:cBhvr>
                                        <p:cTn id="33" dur="50" fill="hold"/>
                                        <p:tgtEl>
                                          <p:spTgt spid="28675">
                                            <p:txEl>
                                              <p:pRg st="6" end="6"/>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34" dur="50" fill="hold"/>
                                        <p:tgtEl>
                                          <p:spTgt spid="28675">
                                            <p:txEl>
                                              <p:pRg st="6" end="6"/>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35" dur="50" tmFilter="0,0; .5, 1; 1, 1"/>
                                        <p:tgtEl>
                                          <p:spTgt spid="28675">
                                            <p:txEl>
                                              <p:pRg st="6" end="6"/>
                                            </p:txEl>
                                          </p:spTgt>
                                        </p:tgtEl>
                                      </p:cBhvr>
                                    </p:animEffect>
                                  </p:childTnLst>
                                </p:cTn>
                              </p:par>
                            </p:childTnLst>
                          </p:cTn>
                        </p:par>
                        <p:par>
                          <p:cTn id="36" fill="hold">
                            <p:stCondLst>
                              <p:cond delay="2625"/>
                            </p:stCondLst>
                            <p:childTnLst>
                              <p:par>
                                <p:cTn id="37" presetID="41" presetClass="entr" presetSubtype="0" fill="hold" nodeType="afterEffect">
                                  <p:stCondLst>
                                    <p:cond delay="0"/>
                                  </p:stCondLst>
                                  <p:iterate type="lt">
                                    <p:tmPct val="10000"/>
                                  </p:iterate>
                                  <p:childTnLst>
                                    <p:set>
                                      <p:cBhvr>
                                        <p:cTn id="38" dur="1" fill="hold">
                                          <p:stCondLst>
                                            <p:cond delay="0"/>
                                          </p:stCondLst>
                                        </p:cTn>
                                        <p:tgtEl>
                                          <p:spTgt spid="28675">
                                            <p:txEl>
                                              <p:pRg st="8" end="8"/>
                                            </p:txEl>
                                          </p:spTgt>
                                        </p:tgtEl>
                                        <p:attrNameLst>
                                          <p:attrName>style.visibility</p:attrName>
                                        </p:attrNameLst>
                                      </p:cBhvr>
                                      <p:to>
                                        <p:strVal val="visible"/>
                                      </p:to>
                                    </p:set>
                                    <p:anim calcmode="lin" valueType="num">
                                      <p:cBhvr>
                                        <p:cTn id="39" dur="50" fill="hold"/>
                                        <p:tgtEl>
                                          <p:spTgt spid="28675">
                                            <p:txEl>
                                              <p:pRg st="8" end="8"/>
                                            </p:txEl>
                                          </p:spTgt>
                                        </p:tgtEl>
                                        <p:attrNameLst>
                                          <p:attrName>ppt_x</p:attrName>
                                        </p:attrNameLst>
                                      </p:cBhvr>
                                      <p:tavLst>
                                        <p:tav tm="0">
                                          <p:val>
                                            <p:strVal val="#ppt_x"/>
                                          </p:val>
                                        </p:tav>
                                        <p:tav tm="50000">
                                          <p:val>
                                            <p:strVal val="#ppt_x+.1"/>
                                          </p:val>
                                        </p:tav>
                                        <p:tav tm="100000">
                                          <p:val>
                                            <p:strVal val="#ppt_x"/>
                                          </p:val>
                                        </p:tav>
                                      </p:tavLst>
                                    </p:anim>
                                    <p:anim calcmode="lin" valueType="num">
                                      <p:cBhvr>
                                        <p:cTn id="40" dur="50" fill="hold"/>
                                        <p:tgtEl>
                                          <p:spTgt spid="28675">
                                            <p:txEl>
                                              <p:pRg st="8" end="8"/>
                                            </p:txEl>
                                          </p:spTgt>
                                        </p:tgtEl>
                                        <p:attrNameLst>
                                          <p:attrName>ppt_y</p:attrName>
                                        </p:attrNameLst>
                                      </p:cBhvr>
                                      <p:tavLst>
                                        <p:tav tm="0">
                                          <p:val>
                                            <p:strVal val="#ppt_y"/>
                                          </p:val>
                                        </p:tav>
                                        <p:tav tm="100000">
                                          <p:val>
                                            <p:strVal val="#ppt_y"/>
                                          </p:val>
                                        </p:tav>
                                      </p:tavLst>
                                    </p:anim>
                                    <p:anim calcmode="lin" valueType="num">
                                      <p:cBhvr>
                                        <p:cTn id="41" dur="50" fill="hold"/>
                                        <p:tgtEl>
                                          <p:spTgt spid="28675">
                                            <p:txEl>
                                              <p:pRg st="8" end="8"/>
                                            </p:txEl>
                                          </p:spTgt>
                                        </p:tgtEl>
                                        <p:attrNameLst>
                                          <p:attrName>ppt_h</p:attrName>
                                        </p:attrNameLst>
                                      </p:cBhvr>
                                      <p:tavLst>
                                        <p:tav tm="0">
                                          <p:val>
                                            <p:strVal val="#ppt_h/10"/>
                                          </p:val>
                                        </p:tav>
                                        <p:tav tm="50000">
                                          <p:val>
                                            <p:strVal val="#ppt_h+.01"/>
                                          </p:val>
                                        </p:tav>
                                        <p:tav tm="100000">
                                          <p:val>
                                            <p:strVal val="#ppt_h"/>
                                          </p:val>
                                        </p:tav>
                                      </p:tavLst>
                                    </p:anim>
                                    <p:anim calcmode="lin" valueType="num">
                                      <p:cBhvr>
                                        <p:cTn id="42" dur="50" fill="hold"/>
                                        <p:tgtEl>
                                          <p:spTgt spid="28675">
                                            <p:txEl>
                                              <p:pRg st="8" end="8"/>
                                            </p:txEl>
                                          </p:spTgt>
                                        </p:tgtEl>
                                        <p:attrNameLst>
                                          <p:attrName>ppt_w</p:attrName>
                                        </p:attrNameLst>
                                      </p:cBhvr>
                                      <p:tavLst>
                                        <p:tav tm="0">
                                          <p:val>
                                            <p:strVal val="#ppt_w/10"/>
                                          </p:val>
                                        </p:tav>
                                        <p:tav tm="50000">
                                          <p:val>
                                            <p:strVal val="#ppt_w+.01"/>
                                          </p:val>
                                        </p:tav>
                                        <p:tav tm="100000">
                                          <p:val>
                                            <p:strVal val="#ppt_w"/>
                                          </p:val>
                                        </p:tav>
                                      </p:tavLst>
                                    </p:anim>
                                    <p:animEffect transition="in" filter="fade">
                                      <p:cBhvr>
                                        <p:cTn id="43" dur="50" tmFilter="0,0; .5, 1; 1, 1"/>
                                        <p:tgtEl>
                                          <p:spTgt spid="286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457200" y="1676400"/>
            <a:ext cx="8229600" cy="3962400"/>
          </a:xfrm>
        </p:spPr>
        <p:txBody>
          <a:bodyPr/>
          <a:lstStyle/>
          <a:p>
            <a:pPr algn="just">
              <a:spcBef>
                <a:spcPct val="80000"/>
              </a:spcBef>
              <a:buClr>
                <a:srgbClr val="666699"/>
              </a:buClr>
            </a:pPr>
            <a:r>
              <a:rPr lang="vi-VN" dirty="0"/>
              <a:t>Hiếm khi người nhận giải thích thông điệp chính xác như ý định của người gửi.</a:t>
            </a:r>
          </a:p>
          <a:p>
            <a:pPr algn="just">
              <a:spcBef>
                <a:spcPct val="80000"/>
              </a:spcBef>
              <a:buClr>
                <a:srgbClr val="666699"/>
              </a:buClr>
            </a:pPr>
            <a:r>
              <a:rPr lang="vi-VN" dirty="0"/>
              <a:t>Vị trí địa lý và nền văn hóa ảnh hưởng đến sự phức tạp của truyền thông.</a:t>
            </a:r>
          </a:p>
          <a:p>
            <a:pPr lvl="1" algn="just">
              <a:spcBef>
                <a:spcPts val="600"/>
              </a:spcBef>
              <a:buClr>
                <a:srgbClr val="666699"/>
              </a:buClr>
              <a:buFont typeface="Arial" panose="020B0604020202020204" pitchFamily="34" charset="0"/>
              <a:buChar char="•"/>
            </a:pPr>
            <a:r>
              <a:rPr lang="vi-VN" sz="2400" dirty="0"/>
              <a:t>Khác về giờ làm việc </a:t>
            </a:r>
          </a:p>
          <a:p>
            <a:pPr lvl="1" algn="just">
              <a:spcBef>
                <a:spcPts val="600"/>
              </a:spcBef>
              <a:buClr>
                <a:srgbClr val="666699"/>
              </a:buClr>
              <a:buFont typeface="Arial" panose="020B0604020202020204" pitchFamily="34" charset="0"/>
              <a:buChar char="•"/>
            </a:pPr>
            <a:r>
              <a:rPr lang="vi-VN" sz="2400" dirty="0"/>
              <a:t>Rào cản ngôn ngữ</a:t>
            </a:r>
          </a:p>
          <a:p>
            <a:pPr lvl="1" algn="just">
              <a:spcBef>
                <a:spcPts val="600"/>
              </a:spcBef>
              <a:buClr>
                <a:srgbClr val="666699"/>
              </a:buClr>
              <a:buFont typeface="Arial" panose="020B0604020202020204" pitchFamily="34" charset="0"/>
              <a:buChar char="•"/>
            </a:pPr>
            <a:r>
              <a:rPr lang="vi-VN" sz="2400" dirty="0"/>
              <a:t>Chuẩn mực văn hóa khác nhau.</a:t>
            </a:r>
            <a:endParaRPr lang="en-US" sz="2400" dirty="0"/>
          </a:p>
        </p:txBody>
      </p:sp>
      <p:sp>
        <p:nvSpPr>
          <p:cNvPr id="27650" name="Rectangle 2"/>
          <p:cNvSpPr>
            <a:spLocks noGrp="1" noChangeArrowheads="1"/>
          </p:cNvSpPr>
          <p:nvPr>
            <p:ph type="title"/>
          </p:nvPr>
        </p:nvSpPr>
        <p:spPr/>
        <p:txBody>
          <a:bodyPr>
            <a:normAutofit/>
          </a:bodyPr>
          <a:lstStyle/>
          <a:p>
            <a:pPr algn="ctr"/>
            <a:r>
              <a:rPr lang="en-US" sz="4000" dirty="0" err="1"/>
              <a:t>Các</a:t>
            </a:r>
            <a:r>
              <a:rPr lang="en-US" sz="4000" dirty="0"/>
              <a:t> </a:t>
            </a:r>
            <a:r>
              <a:rPr lang="en-US" sz="4000" dirty="0" err="1"/>
              <a:t>vấn</a:t>
            </a:r>
            <a:r>
              <a:rPr lang="en-US" sz="4000" dirty="0"/>
              <a:t> </a:t>
            </a:r>
            <a:r>
              <a:rPr lang="en-US" sz="4000" dirty="0" err="1"/>
              <a:t>đề</a:t>
            </a:r>
            <a:r>
              <a:rPr lang="en-US" sz="4000" dirty="0"/>
              <a:t> </a:t>
            </a:r>
            <a:r>
              <a:rPr lang="en-US" sz="4000" dirty="0" err="1"/>
              <a:t>khác</a:t>
            </a:r>
            <a:endParaRPr lang="en-US" sz="4000" dirty="0"/>
          </a:p>
        </p:txBody>
      </p:sp>
      <p:sp>
        <p:nvSpPr>
          <p:cNvPr id="27653"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73ED1362-77DC-4486-BA61-3B6FCC150406}" type="slidenum">
              <a:rPr lang="en-US" smtClean="0"/>
              <a:pPr>
                <a:defRPr/>
              </a:pPr>
              <a:t>24</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1">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văn</a:t>
            </a:r>
            <a:r>
              <a:rPr lang="en-US" sz="3600" dirty="0"/>
              <a:t> </a:t>
            </a:r>
            <a:r>
              <a:rPr lang="en-US" sz="3600" dirty="0" err="1"/>
              <a:t>hóa</a:t>
            </a:r>
            <a:r>
              <a:rPr lang="en-US" sz="3600" dirty="0"/>
              <a:t>…</a:t>
            </a:r>
          </a:p>
        </p:txBody>
      </p:sp>
      <p:sp>
        <p:nvSpPr>
          <p:cNvPr id="27653"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73ED1362-77DC-4486-BA61-3B6FCC150406}" type="slidenum">
              <a:rPr lang="en-US" smtClean="0"/>
              <a:pPr>
                <a:defRPr/>
              </a:pPr>
              <a:t>25</a:t>
            </a:fld>
            <a:endParaRPr lang="en-US" dirty="0"/>
          </a:p>
        </p:txBody>
      </p:sp>
      <p:pic>
        <p:nvPicPr>
          <p:cNvPr id="4" name="Picture 3"/>
          <p:cNvPicPr>
            <a:picLocks noChangeAspect="1"/>
          </p:cNvPicPr>
          <p:nvPr/>
        </p:nvPicPr>
        <p:blipFill>
          <a:blip r:embed="rId2"/>
          <a:stretch>
            <a:fillRect/>
          </a:stretch>
        </p:blipFill>
        <p:spPr>
          <a:xfrm>
            <a:off x="0" y="0"/>
            <a:ext cx="9144000" cy="6858000"/>
          </a:xfrm>
          <a:prstGeom prst="rect">
            <a:avLst/>
          </a:prstGeom>
        </p:spPr>
      </p:pic>
      <p:sp>
        <p:nvSpPr>
          <p:cNvPr id="12" name="Rectangle 2"/>
          <p:cNvSpPr txBox="1">
            <a:spLocks noChangeArrowheads="1"/>
          </p:cNvSpPr>
          <p:nvPr/>
        </p:nvSpPr>
        <p:spPr>
          <a:xfrm>
            <a:off x="381000" y="2819400"/>
            <a:ext cx="1219200" cy="1143000"/>
          </a:xfrm>
          <a:prstGeom prst="rect">
            <a:avLst/>
          </a:prstGeom>
          <a:solidFill>
            <a:schemeClr val="bg1">
              <a:lumMod val="95000"/>
            </a:schemeClr>
          </a:solidFill>
        </p:spPr>
        <p:txBody>
          <a:bodyPr vert="horz" rtlCol="0" anchor="ctr">
            <a:norm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sz="5400" dirty="0">
                <a:solidFill>
                  <a:srgbClr val="0070C0"/>
                </a:solidFill>
              </a:rPr>
              <a:t>JP</a:t>
            </a:r>
          </a:p>
        </p:txBody>
      </p:sp>
      <p:sp>
        <p:nvSpPr>
          <p:cNvPr id="13" name="Rectangle 2"/>
          <p:cNvSpPr txBox="1">
            <a:spLocks noChangeArrowheads="1"/>
          </p:cNvSpPr>
          <p:nvPr/>
        </p:nvSpPr>
        <p:spPr>
          <a:xfrm>
            <a:off x="7467600" y="1905000"/>
            <a:ext cx="1219200" cy="1143000"/>
          </a:xfrm>
          <a:prstGeom prst="rect">
            <a:avLst/>
          </a:prstGeom>
          <a:solidFill>
            <a:schemeClr val="bg1">
              <a:lumMod val="95000"/>
            </a:schemeClr>
          </a:solidFill>
        </p:spPr>
        <p:txBody>
          <a:bodyPr vert="horz" rtlCol="0" anchor="ctr">
            <a:no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sz="7200" dirty="0">
                <a:solidFill>
                  <a:srgbClr val="FF0000"/>
                </a:solidFill>
              </a:rPr>
              <a:t>?</a:t>
            </a:r>
          </a:p>
        </p:txBody>
      </p:sp>
      <p:sp>
        <p:nvSpPr>
          <p:cNvPr id="14" name="Rectangle 2"/>
          <p:cNvSpPr txBox="1">
            <a:spLocks noChangeArrowheads="1"/>
          </p:cNvSpPr>
          <p:nvPr/>
        </p:nvSpPr>
        <p:spPr>
          <a:xfrm>
            <a:off x="7467600" y="3810000"/>
            <a:ext cx="1219200" cy="1143000"/>
          </a:xfrm>
          <a:prstGeom prst="rect">
            <a:avLst/>
          </a:prstGeom>
          <a:solidFill>
            <a:schemeClr val="bg1">
              <a:lumMod val="95000"/>
            </a:schemeClr>
          </a:solidFill>
        </p:spPr>
        <p:txBody>
          <a:bodyPr vert="horz" rtlCol="0" anchor="ctr">
            <a:no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a:lstStyle>
          <a:p>
            <a:pPr algn="ctr"/>
            <a:r>
              <a:rPr lang="en-US" sz="7200" dirty="0">
                <a:solidFill>
                  <a:srgbClr val="FF0000"/>
                </a:solidFill>
              </a:rPr>
              <a:t>?</a:t>
            </a:r>
          </a:p>
        </p:txBody>
      </p:sp>
    </p:spTree>
    <p:extLst>
      <p:ext uri="{BB962C8B-B14F-4D97-AF65-F5344CB8AC3E}">
        <p14:creationId xmlns:p14="http://schemas.microsoft.com/office/powerpoint/2010/main" val="241537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p:cTn id="17" dur="500" fill="hold"/>
                                        <p:tgtEl>
                                          <p:spTgt spid="13"/>
                                        </p:tgtEl>
                                        <p:attrNameLst>
                                          <p:attrName>ppt_w</p:attrName>
                                        </p:attrNameLst>
                                      </p:cBhvr>
                                      <p:tavLst>
                                        <p:tav tm="0">
                                          <p:val>
                                            <p:fltVal val="0"/>
                                          </p:val>
                                        </p:tav>
                                        <p:tav tm="100000">
                                          <p:val>
                                            <p:strVal val="#ppt_w"/>
                                          </p:val>
                                        </p:tav>
                                      </p:tavLst>
                                    </p:anim>
                                    <p:anim calcmode="lin" valueType="num">
                                      <p:cBhvr>
                                        <p:cTn id="18" dur="500" fill="hold"/>
                                        <p:tgtEl>
                                          <p:spTgt spid="13"/>
                                        </p:tgtEl>
                                        <p:attrNameLst>
                                          <p:attrName>ppt_h</p:attrName>
                                        </p:attrNameLst>
                                      </p:cBhvr>
                                      <p:tavLst>
                                        <p:tav tm="0">
                                          <p:val>
                                            <p:fltVal val="0"/>
                                          </p:val>
                                        </p:tav>
                                        <p:tav tm="100000">
                                          <p:val>
                                            <p:strVal val="#ppt_h"/>
                                          </p:val>
                                        </p:tav>
                                      </p:tavLst>
                                    </p:anim>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Effect transition="in" filter="fade">
                                      <p:cBhvr>
                                        <p:cTn id="2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a:xfrm>
            <a:off x="381000" y="1600200"/>
            <a:ext cx="8305800" cy="4267200"/>
          </a:xfrm>
        </p:spPr>
        <p:txBody>
          <a:bodyPr/>
          <a:lstStyle/>
          <a:p>
            <a:pPr algn="just">
              <a:buClr>
                <a:srgbClr val="666699"/>
              </a:buClr>
            </a:pPr>
            <a:r>
              <a:rPr lang="vi-VN" dirty="0">
                <a:effectLst>
                  <a:outerShdw blurRad="38100" dist="38100" dir="2700000" algn="tl">
                    <a:srgbClr val="000000">
                      <a:alpha val="43137"/>
                    </a:srgbClr>
                  </a:outerShdw>
                </a:effectLst>
              </a:rPr>
              <a:t>Số kênh truyền thông</a:t>
            </a:r>
            <a:r>
              <a:rPr lang="vi-VN" dirty="0"/>
              <a:t> (</a:t>
            </a:r>
            <a:r>
              <a:rPr lang="vi-VN" dirty="0">
                <a:solidFill>
                  <a:srgbClr val="0070C0"/>
                </a:solidFill>
              </a:rPr>
              <a:t>communications channels</a:t>
            </a:r>
            <a:r>
              <a:rPr lang="vi-VN" dirty="0"/>
              <a:t>) được tính theo công thức:</a:t>
            </a:r>
          </a:p>
          <a:p>
            <a:pPr algn="just">
              <a:buClr>
                <a:srgbClr val="666699"/>
              </a:buClr>
            </a:pPr>
            <a:endParaRPr lang="en-US" dirty="0"/>
          </a:p>
          <a:p>
            <a:pPr marL="109537" indent="0" algn="just">
              <a:buClr>
                <a:srgbClr val="666699"/>
              </a:buClr>
              <a:buNone/>
            </a:pPr>
            <a:r>
              <a:rPr lang="en-US" i="1" dirty="0"/>
              <a:t> 					           </a:t>
            </a:r>
            <a:r>
              <a:rPr lang="en-US" i="1" u="sng" dirty="0"/>
              <a:t>n</a:t>
            </a:r>
            <a:r>
              <a:rPr lang="en-US" u="sng" dirty="0"/>
              <a:t>(</a:t>
            </a:r>
            <a:r>
              <a:rPr lang="en-US" i="1" u="sng" dirty="0"/>
              <a:t>n-1</a:t>
            </a:r>
            <a:r>
              <a:rPr lang="en-US" u="sng" dirty="0"/>
              <a:t>)</a:t>
            </a:r>
            <a:endParaRPr lang="en-US" dirty="0"/>
          </a:p>
          <a:p>
            <a:pPr algn="just">
              <a:buClr>
                <a:srgbClr val="666699"/>
              </a:buClr>
              <a:buNone/>
            </a:pPr>
            <a:r>
              <a:rPr lang="en-US" dirty="0"/>
              <a:t> 	 			      	                2		 </a:t>
            </a:r>
            <a:br>
              <a:rPr lang="en-US" dirty="0"/>
            </a:br>
            <a:br>
              <a:rPr lang="en-US" sz="900" dirty="0"/>
            </a:br>
            <a:r>
              <a:rPr lang="en-US" sz="2400" dirty="0"/>
              <a:t>          </a:t>
            </a:r>
            <a:r>
              <a:rPr lang="en-US" sz="2400" i="1" dirty="0"/>
              <a:t>n</a:t>
            </a:r>
            <a:r>
              <a:rPr lang="en-US" sz="2400" dirty="0"/>
              <a:t>: </a:t>
            </a:r>
            <a:r>
              <a:rPr lang="en-US" sz="2400" dirty="0" err="1"/>
              <a:t>số</a:t>
            </a:r>
            <a:r>
              <a:rPr lang="en-US" sz="2400" dirty="0"/>
              <a:t> </a:t>
            </a:r>
            <a:r>
              <a:rPr lang="en-US" sz="2400" dirty="0" err="1"/>
              <a:t>lượng</a:t>
            </a:r>
            <a:r>
              <a:rPr lang="en-US" sz="2400" dirty="0"/>
              <a:t> </a:t>
            </a:r>
            <a:r>
              <a:rPr lang="en-US" sz="2400" dirty="0" err="1"/>
              <a:t>người</a:t>
            </a:r>
            <a:endParaRPr lang="en-US" sz="2400" dirty="0"/>
          </a:p>
          <a:p>
            <a:pPr algn="just">
              <a:buClr>
                <a:srgbClr val="666699"/>
              </a:buClr>
              <a:buNone/>
            </a:pPr>
            <a:endParaRPr lang="en-US" sz="2400" dirty="0"/>
          </a:p>
          <a:p>
            <a:pPr algn="just">
              <a:buClr>
                <a:srgbClr val="666699"/>
              </a:buClr>
              <a:buFont typeface="Wingdings 3" panose="05040102010807070707" pitchFamily="18" charset="2"/>
              <a:buChar char="}"/>
            </a:pPr>
            <a:r>
              <a:rPr lang="vi-VN" dirty="0"/>
              <a:t>Khi số người tăng, thông tin trao đổi tăng, vì kênh truyền thông nhiều hơn - sự giao tiếp.</a:t>
            </a:r>
          </a:p>
          <a:p>
            <a:pPr algn="just">
              <a:buClr>
                <a:srgbClr val="666699"/>
              </a:buClr>
              <a:buNone/>
            </a:pPr>
            <a:endParaRPr lang="en-US" sz="2400" dirty="0"/>
          </a:p>
        </p:txBody>
      </p:sp>
      <p:sp>
        <p:nvSpPr>
          <p:cNvPr id="7" name="Rectangle 3"/>
          <p:cNvSpPr txBox="1">
            <a:spLocks noChangeArrowheads="1"/>
          </p:cNvSpPr>
          <p:nvPr/>
        </p:nvSpPr>
        <p:spPr bwMode="auto">
          <a:xfrm>
            <a:off x="1676400" y="2819400"/>
            <a:ext cx="5867400" cy="1066800"/>
          </a:xfrm>
          <a:prstGeom prst="rect">
            <a:avLst/>
          </a:prstGeom>
          <a:noFill/>
          <a:ln w="38100">
            <a:solidFill>
              <a:srgbClr val="FF0000"/>
            </a:solid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90000"/>
              </a:lnSpc>
            </a:pPr>
            <a:endParaRPr lang="en-US" sz="2000" dirty="0">
              <a:effectLst>
                <a:outerShdw blurRad="38100" dist="38100" dir="2700000" algn="tl">
                  <a:srgbClr val="000000">
                    <a:alpha val="43137"/>
                  </a:srgbClr>
                </a:outerShdw>
              </a:effectLst>
              <a:latin typeface="+mj-lt"/>
              <a:cs typeface="Courier New" panose="02070309020205020404" pitchFamily="49" charset="0"/>
            </a:endParaRPr>
          </a:p>
          <a:p>
            <a:pPr marL="109537" indent="0">
              <a:lnSpc>
                <a:spcPct val="90000"/>
              </a:lnSpc>
              <a:buFont typeface="Wingdings 3" pitchFamily="18" charset="2"/>
              <a:buNone/>
            </a:pPr>
            <a:r>
              <a:rPr lang="en-US" dirty="0">
                <a:effectLst>
                  <a:outerShdw blurRad="38100" dist="38100" dir="2700000" algn="tl">
                    <a:srgbClr val="000000">
                      <a:alpha val="43137"/>
                    </a:srgbClr>
                  </a:outerShdw>
                </a:effectLst>
                <a:latin typeface="+mj-lt"/>
                <a:cs typeface="Courier New" panose="02070309020205020404" pitchFamily="49" charset="0"/>
              </a:rPr>
              <a:t>    </a:t>
            </a:r>
            <a:r>
              <a:rPr lang="en-US" dirty="0" err="1">
                <a:effectLst>
                  <a:outerShdw blurRad="38100" dist="38100" dir="2700000" algn="tl">
                    <a:srgbClr val="000000">
                      <a:alpha val="43137"/>
                    </a:srgbClr>
                  </a:outerShdw>
                </a:effectLst>
                <a:latin typeface="+mj-lt"/>
                <a:cs typeface="Courier New" panose="02070309020205020404" pitchFamily="49" charset="0"/>
              </a:rPr>
              <a:t>Số</a:t>
            </a:r>
            <a:r>
              <a:rPr lang="en-US" dirty="0">
                <a:effectLst>
                  <a:outerShdw blurRad="38100" dist="38100" dir="2700000" algn="tl">
                    <a:srgbClr val="000000">
                      <a:alpha val="43137"/>
                    </a:srgbClr>
                  </a:outerShdw>
                </a:effectLst>
                <a:latin typeface="+mj-lt"/>
                <a:cs typeface="Courier New" panose="02070309020205020404" pitchFamily="49" charset="0"/>
              </a:rPr>
              <a:t> </a:t>
            </a:r>
            <a:r>
              <a:rPr lang="en-US" dirty="0" err="1">
                <a:effectLst>
                  <a:outerShdw blurRad="38100" dist="38100" dir="2700000" algn="tl">
                    <a:srgbClr val="000000">
                      <a:alpha val="43137"/>
                    </a:srgbClr>
                  </a:outerShdw>
                </a:effectLst>
                <a:latin typeface="+mj-lt"/>
                <a:cs typeface="Courier New" panose="02070309020205020404" pitchFamily="49" charset="0"/>
              </a:rPr>
              <a:t>kênh</a:t>
            </a:r>
            <a:r>
              <a:rPr lang="en-US" dirty="0">
                <a:effectLst>
                  <a:outerShdw blurRad="38100" dist="38100" dir="2700000" algn="tl">
                    <a:srgbClr val="000000">
                      <a:alpha val="43137"/>
                    </a:srgbClr>
                  </a:outerShdw>
                </a:effectLst>
                <a:latin typeface="+mj-lt"/>
                <a:cs typeface="Courier New" panose="02070309020205020404" pitchFamily="49" charset="0"/>
              </a:rPr>
              <a:t> </a:t>
            </a:r>
            <a:r>
              <a:rPr lang="en-US" dirty="0" err="1">
                <a:effectLst>
                  <a:outerShdw blurRad="38100" dist="38100" dir="2700000" algn="tl">
                    <a:srgbClr val="000000">
                      <a:alpha val="43137"/>
                    </a:srgbClr>
                  </a:outerShdw>
                </a:effectLst>
                <a:latin typeface="+mj-lt"/>
                <a:cs typeface="Courier New" panose="02070309020205020404" pitchFamily="49" charset="0"/>
              </a:rPr>
              <a:t>truyền</a:t>
            </a:r>
            <a:r>
              <a:rPr lang="en-US" dirty="0">
                <a:effectLst>
                  <a:outerShdw blurRad="38100" dist="38100" dir="2700000" algn="tl">
                    <a:srgbClr val="000000">
                      <a:alpha val="43137"/>
                    </a:srgbClr>
                  </a:outerShdw>
                </a:effectLst>
                <a:latin typeface="+mj-lt"/>
                <a:cs typeface="Courier New" panose="02070309020205020404" pitchFamily="49" charset="0"/>
              </a:rPr>
              <a:t> thông  </a:t>
            </a:r>
            <a:r>
              <a:rPr lang="en-US" dirty="0">
                <a:latin typeface="+mj-lt"/>
              </a:rPr>
              <a:t>=</a:t>
            </a:r>
          </a:p>
        </p:txBody>
      </p:sp>
      <p:sp>
        <p:nvSpPr>
          <p:cNvPr id="29698" name="Rectangle 2"/>
          <p:cNvSpPr>
            <a:spLocks noGrp="1" noChangeArrowheads="1"/>
          </p:cNvSpPr>
          <p:nvPr>
            <p:ph type="title"/>
          </p:nvPr>
        </p:nvSpPr>
        <p:spPr>
          <a:xfrm>
            <a:off x="457200" y="228600"/>
            <a:ext cx="8229600" cy="1143000"/>
          </a:xfrm>
        </p:spPr>
        <p:txBody>
          <a:bodyPr>
            <a:normAutofit/>
          </a:bodyPr>
          <a:lstStyle/>
          <a:p>
            <a:pPr algn="ctr"/>
            <a:r>
              <a:rPr lang="en-US" sz="4000" dirty="0" err="1">
                <a:solidFill>
                  <a:srgbClr val="0070C0"/>
                </a:solidFill>
              </a:rPr>
              <a:t>Số</a:t>
            </a:r>
            <a:r>
              <a:rPr lang="en-US" sz="4000" dirty="0">
                <a:solidFill>
                  <a:srgbClr val="0070C0"/>
                </a:solidFill>
              </a:rPr>
              <a:t> </a:t>
            </a:r>
            <a:r>
              <a:rPr lang="en-US" sz="4000" dirty="0" err="1">
                <a:solidFill>
                  <a:srgbClr val="0070C0"/>
                </a:solidFill>
              </a:rPr>
              <a:t>kênh</a:t>
            </a:r>
            <a:r>
              <a:rPr lang="en-US" sz="4000" dirty="0">
                <a:solidFill>
                  <a:srgbClr val="0070C0"/>
                </a:solidFill>
              </a:rPr>
              <a:t> </a:t>
            </a:r>
            <a:r>
              <a:rPr lang="en-US" sz="4000" dirty="0" err="1">
                <a:solidFill>
                  <a:srgbClr val="0070C0"/>
                </a:solidFill>
              </a:rPr>
              <a:t>truyền</a:t>
            </a:r>
            <a:r>
              <a:rPr lang="en-US" sz="4000" dirty="0">
                <a:solidFill>
                  <a:srgbClr val="0070C0"/>
                </a:solidFill>
              </a:rPr>
              <a:t> thông</a:t>
            </a:r>
          </a:p>
        </p:txBody>
      </p:sp>
      <p:sp>
        <p:nvSpPr>
          <p:cNvPr id="29701"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C9A9DAF9-50B2-4BD0-A6D7-3428D1B547B9}" type="slidenum">
              <a:rPr lang="en-US" smtClean="0"/>
              <a:pPr>
                <a:defRPr/>
              </a:pPr>
              <a:t>26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6" presetClass="entr" presetSubtype="21"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barn(inVertical)">
                                      <p:cBhvr>
                                        <p:cTn id="10" dur="500"/>
                                        <p:tgtEl>
                                          <p:spTgt spid="29699">
                                            <p:txEl>
                                              <p:pRg st="2" end="2"/>
                                            </p:txEl>
                                          </p:spTgt>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29699">
                                            <p:txEl>
                                              <p:pRg st="3" end="3"/>
                                            </p:txEl>
                                          </p:spTgt>
                                        </p:tgtEl>
                                        <p:attrNameLst>
                                          <p:attrName>style.visibility</p:attrName>
                                        </p:attrNameLst>
                                      </p:cBhvr>
                                      <p:to>
                                        <p:strVal val="visible"/>
                                      </p:to>
                                    </p:set>
                                    <p:animEffect transition="in" filter="fade">
                                      <p:cBhvr>
                                        <p:cTn id="14" dur="1000"/>
                                        <p:tgtEl>
                                          <p:spTgt spid="29699">
                                            <p:txEl>
                                              <p:pRg st="3" end="3"/>
                                            </p:txEl>
                                          </p:spTgt>
                                        </p:tgtEl>
                                      </p:cBhvr>
                                    </p:animEffect>
                                  </p:childTnLst>
                                </p:cTn>
                              </p:par>
                            </p:childTnLst>
                          </p:cTn>
                        </p:par>
                        <p:par>
                          <p:cTn id="15" fill="hold">
                            <p:stCondLst>
                              <p:cond delay="1500"/>
                            </p:stCondLst>
                            <p:childTnLst>
                              <p:par>
                                <p:cTn id="16" presetID="10" presetClass="entr" presetSubtype="0" fill="hold" nodeType="afterEffect">
                                  <p:stCondLst>
                                    <p:cond delay="0"/>
                                  </p:stCondLst>
                                  <p:childTnLst>
                                    <p:set>
                                      <p:cBhvr>
                                        <p:cTn id="17" dur="1" fill="hold">
                                          <p:stCondLst>
                                            <p:cond delay="0"/>
                                          </p:stCondLst>
                                        </p:cTn>
                                        <p:tgtEl>
                                          <p:spTgt spid="29699">
                                            <p:txEl>
                                              <p:pRg st="5" end="5"/>
                                            </p:txEl>
                                          </p:spTgt>
                                        </p:tgtEl>
                                        <p:attrNameLst>
                                          <p:attrName>style.visibility</p:attrName>
                                        </p:attrNameLst>
                                      </p:cBhvr>
                                      <p:to>
                                        <p:strVal val="visible"/>
                                      </p:to>
                                    </p:set>
                                    <p:animEffect transition="in" filter="fade">
                                      <p:cBhvr>
                                        <p:cTn id="18" dur="1000"/>
                                        <p:tgtEl>
                                          <p:spTgt spid="296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Footer Placeholder 6"/>
          <p:cNvSpPr>
            <a:spLocks noGrp="1"/>
          </p:cNvSpPr>
          <p:nvPr>
            <p:ph type="ftr" sz="quarter" idx="10"/>
          </p:nvPr>
        </p:nvSpPr>
        <p:spPr bwMode="auto">
          <a:noFill/>
          <a:ln>
            <a:miter lim="800000"/>
            <a:headEnd/>
            <a:tailEnd/>
          </a:ln>
        </p:spPr>
        <p:txBody>
          <a:bodyPr/>
          <a:lstStyle/>
          <a:p>
            <a:pPr>
              <a:buFontTx/>
              <a:buNone/>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97773767-0404-439F-BDD5-8029323C6671}" type="slidenum">
              <a:rPr lang="en-US" smtClean="0"/>
              <a:pPr>
                <a:defRPr/>
              </a:pPr>
              <a:t>27</a:t>
            </a:fld>
            <a:endParaRPr lang="en-US" dirty="0"/>
          </a:p>
        </p:txBody>
      </p:sp>
      <p:pic>
        <p:nvPicPr>
          <p:cNvPr id="2" name="Picture 1"/>
          <p:cNvPicPr>
            <a:picLocks noChangeAspect="1"/>
          </p:cNvPicPr>
          <p:nvPr/>
        </p:nvPicPr>
        <p:blipFill>
          <a:blip r:embed="rId2"/>
          <a:stretch>
            <a:fillRect/>
          </a:stretch>
        </p:blipFill>
        <p:spPr>
          <a:xfrm>
            <a:off x="0" y="1209675"/>
            <a:ext cx="9144000" cy="5724525"/>
          </a:xfrm>
          <a:prstGeom prst="rect">
            <a:avLst/>
          </a:prstGeom>
        </p:spPr>
      </p:pic>
      <p:pic>
        <p:nvPicPr>
          <p:cNvPr id="18" name="Picture 17"/>
          <p:cNvPicPr>
            <a:picLocks noChangeAspect="1"/>
          </p:cNvPicPr>
          <p:nvPr/>
        </p:nvPicPr>
        <p:blipFill>
          <a:blip r:embed="rId3"/>
          <a:stretch>
            <a:fillRect/>
          </a:stretch>
        </p:blipFill>
        <p:spPr>
          <a:xfrm>
            <a:off x="1600200" y="3581400"/>
            <a:ext cx="2543175" cy="2343150"/>
          </a:xfrm>
          <a:prstGeom prst="rect">
            <a:avLst/>
          </a:prstGeom>
        </p:spPr>
      </p:pic>
      <p:sp>
        <p:nvSpPr>
          <p:cNvPr id="30722" name="Rectangle 2"/>
          <p:cNvSpPr>
            <a:spLocks noGrp="1" noChangeArrowheads="1"/>
          </p:cNvSpPr>
          <p:nvPr>
            <p:ph type="title"/>
          </p:nvPr>
        </p:nvSpPr>
        <p:spPr>
          <a:xfrm>
            <a:off x="457200" y="0"/>
            <a:ext cx="8229600" cy="1066799"/>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số</a:t>
            </a:r>
            <a:r>
              <a:rPr lang="en-US" sz="3600" dirty="0"/>
              <a:t> </a:t>
            </a:r>
            <a:r>
              <a:rPr lang="en-US" sz="3600" dirty="0" err="1"/>
              <a:t>kênh</a:t>
            </a:r>
            <a:r>
              <a:rPr lang="en-US" sz="3600" dirty="0"/>
              <a:t> </a:t>
            </a:r>
            <a:r>
              <a:rPr lang="en-US" sz="3600" dirty="0" err="1"/>
              <a:t>truyền</a:t>
            </a:r>
            <a:r>
              <a:rPr lang="en-US" sz="3600" dirty="0"/>
              <a:t> thông</a:t>
            </a:r>
            <a:endParaRPr lang="en-US" sz="4400" dirty="0"/>
          </a:p>
        </p:txBody>
      </p:sp>
      <p:pic>
        <p:nvPicPr>
          <p:cNvPr id="5" name="Picture 4"/>
          <p:cNvPicPr>
            <a:picLocks noChangeAspect="1"/>
          </p:cNvPicPr>
          <p:nvPr/>
        </p:nvPicPr>
        <p:blipFill>
          <a:blip r:embed="rId4"/>
          <a:stretch>
            <a:fillRect/>
          </a:stretch>
        </p:blipFill>
        <p:spPr>
          <a:xfrm>
            <a:off x="1905000" y="2819400"/>
            <a:ext cx="2296632" cy="595423"/>
          </a:xfrm>
          <a:prstGeom prst="rect">
            <a:avLst/>
          </a:prstGeom>
        </p:spPr>
      </p:pic>
      <p:pic>
        <p:nvPicPr>
          <p:cNvPr id="8" name="Picture 7"/>
          <p:cNvPicPr>
            <a:picLocks noChangeAspect="1"/>
          </p:cNvPicPr>
          <p:nvPr/>
        </p:nvPicPr>
        <p:blipFill>
          <a:blip r:embed="rId5"/>
          <a:stretch>
            <a:fillRect/>
          </a:stretch>
        </p:blipFill>
        <p:spPr>
          <a:xfrm>
            <a:off x="1905000" y="6019800"/>
            <a:ext cx="2030819" cy="435935"/>
          </a:xfrm>
          <a:prstGeom prst="rect">
            <a:avLst/>
          </a:prstGeom>
        </p:spPr>
      </p:pic>
      <p:pic>
        <p:nvPicPr>
          <p:cNvPr id="10" name="Picture 9"/>
          <p:cNvPicPr>
            <a:picLocks noChangeAspect="1"/>
          </p:cNvPicPr>
          <p:nvPr/>
        </p:nvPicPr>
        <p:blipFill>
          <a:blip r:embed="rId6"/>
          <a:stretch>
            <a:fillRect/>
          </a:stretch>
        </p:blipFill>
        <p:spPr>
          <a:xfrm>
            <a:off x="5727405" y="5257800"/>
            <a:ext cx="2349795" cy="457200"/>
          </a:xfrm>
          <a:prstGeom prst="rect">
            <a:avLst/>
          </a:prstGeom>
        </p:spPr>
      </p:pic>
      <p:pic>
        <p:nvPicPr>
          <p:cNvPr id="13" name="Picture 12"/>
          <p:cNvPicPr>
            <a:picLocks noChangeAspect="1"/>
          </p:cNvPicPr>
          <p:nvPr/>
        </p:nvPicPr>
        <p:blipFill>
          <a:blip r:embed="rId7"/>
          <a:stretch>
            <a:fillRect/>
          </a:stretch>
        </p:blipFill>
        <p:spPr>
          <a:xfrm>
            <a:off x="1676400" y="1752600"/>
            <a:ext cx="2343150" cy="971550"/>
          </a:xfrm>
          <a:prstGeom prst="rect">
            <a:avLst/>
          </a:prstGeom>
        </p:spPr>
      </p:pic>
      <p:pic>
        <p:nvPicPr>
          <p:cNvPr id="12" name="Picture 11"/>
          <p:cNvPicPr>
            <a:picLocks noChangeAspect="1"/>
          </p:cNvPicPr>
          <p:nvPr/>
        </p:nvPicPr>
        <p:blipFill>
          <a:blip r:embed="rId8"/>
          <a:stretch>
            <a:fillRect/>
          </a:stretch>
        </p:blipFill>
        <p:spPr>
          <a:xfrm>
            <a:off x="2438400" y="2286000"/>
            <a:ext cx="809625" cy="190500"/>
          </a:xfrm>
          <a:prstGeom prst="rect">
            <a:avLst/>
          </a:prstGeom>
        </p:spPr>
      </p:pic>
      <p:pic>
        <p:nvPicPr>
          <p:cNvPr id="14" name="Picture 13"/>
          <p:cNvPicPr>
            <a:picLocks noChangeAspect="1"/>
          </p:cNvPicPr>
          <p:nvPr/>
        </p:nvPicPr>
        <p:blipFill>
          <a:blip r:embed="rId9"/>
          <a:stretch>
            <a:fillRect/>
          </a:stretch>
        </p:blipFill>
        <p:spPr>
          <a:xfrm>
            <a:off x="2438400" y="4191000"/>
            <a:ext cx="828675" cy="171450"/>
          </a:xfrm>
          <a:prstGeom prst="rect">
            <a:avLst/>
          </a:prstGeom>
        </p:spPr>
      </p:pic>
      <p:pic>
        <p:nvPicPr>
          <p:cNvPr id="17" name="Picture 16"/>
          <p:cNvPicPr>
            <a:picLocks noChangeAspect="1"/>
          </p:cNvPicPr>
          <p:nvPr/>
        </p:nvPicPr>
        <p:blipFill>
          <a:blip r:embed="rId10"/>
          <a:stretch>
            <a:fillRect/>
          </a:stretch>
        </p:blipFill>
        <p:spPr>
          <a:xfrm>
            <a:off x="2209800" y="4610100"/>
            <a:ext cx="1352550" cy="571500"/>
          </a:xfrm>
          <a:prstGeom prst="rect">
            <a:avLst/>
          </a:prstGeom>
        </p:spPr>
      </p:pic>
      <p:pic>
        <p:nvPicPr>
          <p:cNvPr id="22" name="Picture 21"/>
          <p:cNvPicPr>
            <a:picLocks noChangeAspect="1"/>
          </p:cNvPicPr>
          <p:nvPr/>
        </p:nvPicPr>
        <p:blipFill>
          <a:blip r:embed="rId11"/>
          <a:stretch>
            <a:fillRect/>
          </a:stretch>
        </p:blipFill>
        <p:spPr>
          <a:xfrm>
            <a:off x="5334000" y="2505075"/>
            <a:ext cx="2628900" cy="2676525"/>
          </a:xfrm>
          <a:prstGeom prst="rect">
            <a:avLst/>
          </a:prstGeom>
        </p:spPr>
      </p:pic>
      <p:pic>
        <p:nvPicPr>
          <p:cNvPr id="21" name="Picture 20"/>
          <p:cNvPicPr>
            <a:picLocks noChangeAspect="1"/>
          </p:cNvPicPr>
          <p:nvPr/>
        </p:nvPicPr>
        <p:blipFill>
          <a:blip r:embed="rId12"/>
          <a:stretch>
            <a:fillRect/>
          </a:stretch>
        </p:blipFill>
        <p:spPr>
          <a:xfrm>
            <a:off x="6229350" y="3445979"/>
            <a:ext cx="1009650" cy="952500"/>
          </a:xfrm>
          <a:prstGeom prst="rect">
            <a:avLst/>
          </a:prstGeom>
        </p:spPr>
      </p:pic>
      <p:pic>
        <p:nvPicPr>
          <p:cNvPr id="20" name="Picture 19"/>
          <p:cNvPicPr>
            <a:picLocks noChangeAspect="1"/>
          </p:cNvPicPr>
          <p:nvPr/>
        </p:nvPicPr>
        <p:blipFill>
          <a:blip r:embed="rId13"/>
          <a:stretch>
            <a:fillRect/>
          </a:stretch>
        </p:blipFill>
        <p:spPr>
          <a:xfrm>
            <a:off x="7239000" y="3575187"/>
            <a:ext cx="381000" cy="676275"/>
          </a:xfrm>
          <a:prstGeom prst="rect">
            <a:avLst/>
          </a:prstGeom>
        </p:spPr>
      </p:pic>
      <p:pic>
        <p:nvPicPr>
          <p:cNvPr id="19" name="Picture 18"/>
          <p:cNvPicPr>
            <a:picLocks noChangeAspect="1"/>
          </p:cNvPicPr>
          <p:nvPr/>
        </p:nvPicPr>
        <p:blipFill>
          <a:blip r:embed="rId14"/>
          <a:stretch>
            <a:fillRect/>
          </a:stretch>
        </p:blipFill>
        <p:spPr>
          <a:xfrm>
            <a:off x="6351104" y="4657725"/>
            <a:ext cx="790575" cy="209550"/>
          </a:xfrm>
          <a:prstGeom prst="rect">
            <a:avLst/>
          </a:prstGeom>
        </p:spPr>
      </p:pic>
      <p:pic>
        <p:nvPicPr>
          <p:cNvPr id="25" name="Picture 24"/>
          <p:cNvPicPr>
            <a:picLocks noChangeAspect="1"/>
          </p:cNvPicPr>
          <p:nvPr/>
        </p:nvPicPr>
        <p:blipFill>
          <a:blip r:embed="rId14"/>
          <a:stretch>
            <a:fillRect/>
          </a:stretch>
        </p:blipFill>
        <p:spPr>
          <a:xfrm>
            <a:off x="6301408" y="3038475"/>
            <a:ext cx="790575" cy="209550"/>
          </a:xfrm>
          <a:prstGeom prst="rect">
            <a:avLst/>
          </a:prstGeom>
        </p:spPr>
      </p:pic>
      <p:pic>
        <p:nvPicPr>
          <p:cNvPr id="26" name="Picture 25"/>
          <p:cNvPicPr>
            <a:picLocks noChangeAspect="1"/>
          </p:cNvPicPr>
          <p:nvPr/>
        </p:nvPicPr>
        <p:blipFill>
          <a:blip r:embed="rId13"/>
          <a:stretch>
            <a:fillRect/>
          </a:stretch>
        </p:blipFill>
        <p:spPr>
          <a:xfrm>
            <a:off x="5754756" y="3561935"/>
            <a:ext cx="381000" cy="6762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arn(outVertical)">
                                      <p:cBhvr>
                                        <p:cTn id="17" dur="500"/>
                                        <p:tgtEl>
                                          <p:spTgt spid="12"/>
                                        </p:tgtEl>
                                      </p:cBhvr>
                                    </p:animEffec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37"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arn(outVertical)">
                                      <p:cBhvr>
                                        <p:cTn id="30" dur="500"/>
                                        <p:tgtEl>
                                          <p:spTgt spid="14"/>
                                        </p:tgtEl>
                                      </p:cBhvr>
                                    </p:animEffect>
                                  </p:childTnLst>
                                </p:cTn>
                              </p:par>
                              <p:par>
                                <p:cTn id="31" presetID="16" presetClass="entr" presetSubtype="37"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barn(outVertical)">
                                      <p:cBhvr>
                                        <p:cTn id="33" dur="500"/>
                                        <p:tgtEl>
                                          <p:spTgt spid="17"/>
                                        </p:tgtEl>
                                      </p:cBhvr>
                                    </p:animEffect>
                                  </p:childTnLst>
                                </p:cTn>
                              </p:par>
                            </p:childTnLst>
                          </p:cTn>
                        </p:par>
                        <p:par>
                          <p:cTn id="34" fill="hold">
                            <p:stCondLst>
                              <p:cond delay="500"/>
                            </p:stCondLst>
                            <p:childTnLst>
                              <p:par>
                                <p:cTn id="35" presetID="1" presetClass="entr" presetSubtype="0"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37" fill="hold" nodeType="click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barn(outVertical)">
                                      <p:cBhvr>
                                        <p:cTn id="46" dur="500"/>
                                        <p:tgtEl>
                                          <p:spTgt spid="25"/>
                                        </p:tgtEl>
                                      </p:cBhvr>
                                    </p:animEffect>
                                  </p:childTnLst>
                                </p:cTn>
                              </p:par>
                              <p:par>
                                <p:cTn id="47" presetID="16" presetClass="entr" presetSubtype="37"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barn(outVertical)">
                                      <p:cBhvr>
                                        <p:cTn id="49" dur="500"/>
                                        <p:tgtEl>
                                          <p:spTgt spid="21"/>
                                        </p:tgtEl>
                                      </p:cBhvr>
                                    </p:animEffect>
                                  </p:childTnLst>
                                </p:cTn>
                              </p:par>
                              <p:par>
                                <p:cTn id="50" presetID="16" presetClass="entr" presetSubtype="42" fill="hold"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barn(outHorizontal)">
                                      <p:cBhvr>
                                        <p:cTn id="52" dur="500"/>
                                        <p:tgtEl>
                                          <p:spTgt spid="20"/>
                                        </p:tgtEl>
                                      </p:cBhvr>
                                    </p:animEffect>
                                  </p:childTnLst>
                                </p:cTn>
                              </p:par>
                              <p:par>
                                <p:cTn id="53" presetID="16" presetClass="entr" presetSubtype="37"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barn(outVertical)">
                                      <p:cBhvr>
                                        <p:cTn id="55" dur="500"/>
                                        <p:tgtEl>
                                          <p:spTgt spid="19"/>
                                        </p:tgtEl>
                                      </p:cBhvr>
                                    </p:animEffect>
                                  </p:childTnLst>
                                </p:cTn>
                              </p:par>
                              <p:par>
                                <p:cTn id="56" presetID="16" presetClass="entr" presetSubtype="42"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barn(outHorizontal)">
                                      <p:cBhvr>
                                        <p:cTn id="58" dur="500"/>
                                        <p:tgtEl>
                                          <p:spTgt spid="26"/>
                                        </p:tgtEl>
                                      </p:cBhvr>
                                    </p:animEffect>
                                  </p:childTnLst>
                                </p:cTn>
                              </p:par>
                            </p:childTnLst>
                          </p:cTn>
                        </p:par>
                        <p:par>
                          <p:cTn id="59" fill="hold">
                            <p:stCondLst>
                              <p:cond delay="500"/>
                            </p:stCondLst>
                            <p:childTnLst>
                              <p:par>
                                <p:cTn id="60" presetID="1" presetClass="entr" presetSubtype="0" fill="hold" nodeType="afterEffect">
                                  <p:stCondLst>
                                    <p:cond delay="0"/>
                                  </p:stCondLst>
                                  <p:childTnLst>
                                    <p:set>
                                      <p:cBhvr>
                                        <p:cTn id="6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33350" y="1219200"/>
            <a:ext cx="9010650" cy="3581400"/>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28</a:t>
            </a:fld>
            <a:endParaRPr lang="en-US" dirty="0"/>
          </a:p>
        </p:txBody>
      </p:sp>
      <p:sp>
        <p:nvSpPr>
          <p:cNvPr id="7" name="Rounded Rectangle 6"/>
          <p:cNvSpPr/>
          <p:nvPr/>
        </p:nvSpPr>
        <p:spPr>
          <a:xfrm>
            <a:off x="1317008" y="3860195"/>
            <a:ext cx="2188192" cy="86420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truyền</a:t>
            </a:r>
            <a:r>
              <a:rPr lang="en-US" sz="4000" dirty="0">
                <a:solidFill>
                  <a:schemeClr val="bg1">
                    <a:lumMod val="65000"/>
                  </a:schemeClr>
                </a:solidFill>
              </a:rPr>
              <a:t> thông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[1/3]</a:t>
            </a:r>
          </a:p>
        </p:txBody>
      </p:sp>
      <p:pic>
        <p:nvPicPr>
          <p:cNvPr id="5" name="Picture 4"/>
          <p:cNvPicPr>
            <a:picLocks noChangeAspect="1"/>
          </p:cNvPicPr>
          <p:nvPr/>
        </p:nvPicPr>
        <p:blipFill>
          <a:blip r:embed="rId3"/>
          <a:stretch>
            <a:fillRect/>
          </a:stretch>
        </p:blipFill>
        <p:spPr>
          <a:xfrm>
            <a:off x="5391150" y="5146467"/>
            <a:ext cx="1847850" cy="1711533"/>
          </a:xfrm>
          <a:prstGeom prst="rect">
            <a:avLst/>
          </a:prstGeom>
        </p:spPr>
      </p:pic>
    </p:spTree>
    <p:extLst>
      <p:ext uri="{BB962C8B-B14F-4D97-AF65-F5344CB8AC3E}">
        <p14:creationId xmlns:p14="http://schemas.microsoft.com/office/powerpoint/2010/main" val="61075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609600" y="1447800"/>
            <a:ext cx="8001000" cy="4267200"/>
          </a:xfrm>
        </p:spPr>
        <p:txBody>
          <a:bodyPr/>
          <a:lstStyle/>
          <a:p>
            <a:pPr algn="just">
              <a:spcBef>
                <a:spcPts val="1200"/>
              </a:spcBef>
              <a:spcAft>
                <a:spcPts val="600"/>
              </a:spcAft>
              <a:buClr>
                <a:srgbClr val="666699"/>
              </a:buClr>
              <a:buFont typeface="Wingdings 3" panose="05040102010807070707" pitchFamily="18" charset="2"/>
              <a:buChar char="}"/>
            </a:pPr>
            <a:r>
              <a:rPr lang="en-US" b="1" dirty="0" err="1"/>
              <a:t>Kế</a:t>
            </a:r>
            <a:r>
              <a:rPr lang="en-US" b="1" dirty="0"/>
              <a:t> </a:t>
            </a:r>
            <a:r>
              <a:rPr lang="en-US" b="1" dirty="0" err="1"/>
              <a:t>hoạch</a:t>
            </a:r>
            <a:r>
              <a:rPr lang="en-US" b="1" dirty="0"/>
              <a:t> quản lý </a:t>
            </a:r>
            <a:r>
              <a:rPr lang="en-US" b="1" dirty="0" err="1"/>
              <a:t>truyền</a:t>
            </a:r>
            <a:r>
              <a:rPr lang="en-US" b="1" dirty="0"/>
              <a:t> thông </a:t>
            </a:r>
            <a:r>
              <a:rPr lang="en-US" dirty="0"/>
              <a:t>(</a:t>
            </a:r>
            <a:r>
              <a:rPr lang="en-US" dirty="0">
                <a:solidFill>
                  <a:srgbClr val="0070C0"/>
                </a:solidFill>
              </a:rPr>
              <a:t>plan communications management</a:t>
            </a:r>
            <a:r>
              <a:rPr lang="en-US" dirty="0"/>
              <a:t>)</a:t>
            </a:r>
            <a:r>
              <a:rPr lang="vi-VN" dirty="0"/>
              <a:t>: tài liệu hướng dẫn truyền thông dự án.</a:t>
            </a:r>
          </a:p>
          <a:p>
            <a:pPr algn="just">
              <a:spcBef>
                <a:spcPts val="1200"/>
              </a:spcBef>
              <a:spcAft>
                <a:spcPts val="600"/>
              </a:spcAft>
              <a:buClr>
                <a:srgbClr val="666699"/>
              </a:buClr>
              <a:buFont typeface="Wingdings 3" panose="05040102010807070707" pitchFamily="18" charset="2"/>
              <a:buChar char="}"/>
            </a:pPr>
            <a:r>
              <a:rPr lang="vi-VN" dirty="0"/>
              <a:t>Các dự án nhỏ: kế hoạch truyền thông là một phần của hợp đồng đội/nhóm.</a:t>
            </a:r>
          </a:p>
          <a:p>
            <a:pPr algn="just">
              <a:spcBef>
                <a:spcPts val="1200"/>
              </a:spcBef>
              <a:spcAft>
                <a:spcPts val="600"/>
              </a:spcAft>
              <a:buClr>
                <a:srgbClr val="666699"/>
              </a:buClr>
              <a:buFont typeface="Wingdings 3" panose="05040102010807070707" pitchFamily="18" charset="2"/>
              <a:buChar char="}"/>
            </a:pPr>
            <a:r>
              <a:rPr lang="vi-VN" dirty="0"/>
              <a:t>Các dự án lớn: có tài liệu riêng biệt.</a:t>
            </a:r>
            <a:endParaRPr lang="en-US" dirty="0"/>
          </a:p>
        </p:txBody>
      </p:sp>
      <p:sp>
        <p:nvSpPr>
          <p:cNvPr id="14338" name="Rectangle 2"/>
          <p:cNvSpPr>
            <a:spLocks noGrp="1" noChangeArrowheads="1"/>
          </p:cNvSpPr>
          <p:nvPr>
            <p:ph type="title"/>
          </p:nvPr>
        </p:nvSpPr>
        <p:spPr>
          <a:xfrm>
            <a:off x="0" y="274638"/>
            <a:ext cx="9144000" cy="1143000"/>
          </a:xfrm>
        </p:spPr>
        <p:txBody>
          <a:bodyPr>
            <a:noAutofit/>
          </a:bodyPr>
          <a:lstStyle/>
          <a:p>
            <a:pPr algn="ctr"/>
            <a:r>
              <a:rPr lang="en-US" sz="4400" dirty="0">
                <a:solidFill>
                  <a:srgbClr val="FF0000"/>
                </a:solidFill>
              </a:rPr>
              <a:t>1. </a:t>
            </a:r>
            <a:r>
              <a:rPr lang="en-US" sz="4400" dirty="0" err="1">
                <a:solidFill>
                  <a:srgbClr val="FF0000"/>
                </a:solidFill>
              </a:rPr>
              <a:t>Kế</a:t>
            </a:r>
            <a:r>
              <a:rPr lang="en-US" sz="4400" dirty="0">
                <a:solidFill>
                  <a:srgbClr val="FF0000"/>
                </a:solidFill>
              </a:rPr>
              <a:t> </a:t>
            </a:r>
            <a:r>
              <a:rPr lang="en-US" sz="4400" dirty="0" err="1">
                <a:solidFill>
                  <a:srgbClr val="FF0000"/>
                </a:solidFill>
              </a:rPr>
              <a:t>hoạch</a:t>
            </a:r>
            <a:r>
              <a:rPr lang="en-US" sz="4400" dirty="0">
                <a:solidFill>
                  <a:srgbClr val="FF0000"/>
                </a:solidFill>
              </a:rPr>
              <a:t> quản lý </a:t>
            </a:r>
            <a:r>
              <a:rPr lang="en-US" sz="4400" dirty="0" err="1">
                <a:solidFill>
                  <a:srgbClr val="FF0000"/>
                </a:solidFill>
              </a:rPr>
              <a:t>tryền</a:t>
            </a:r>
            <a:r>
              <a:rPr lang="en-US" sz="4400" dirty="0">
                <a:solidFill>
                  <a:srgbClr val="FF0000"/>
                </a:solidFill>
              </a:rPr>
              <a:t> thông</a:t>
            </a:r>
          </a:p>
        </p:txBody>
      </p:sp>
      <p:sp>
        <p:nvSpPr>
          <p:cNvPr id="14341"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36750A1E-0D14-4AFD-BFA9-02B84F7E0A76}" type="slidenum">
              <a:rPr lang="en-US" smtClean="0"/>
              <a:pPr>
                <a:defRPr/>
              </a:pPr>
              <a:t>29</a:t>
            </a:fld>
            <a:endParaRPr lang="en-US" dirty="0"/>
          </a:p>
        </p:txBody>
      </p:sp>
      <p:pic>
        <p:nvPicPr>
          <p:cNvPr id="2" name="Picture 1"/>
          <p:cNvPicPr>
            <a:picLocks noChangeAspect="1"/>
          </p:cNvPicPr>
          <p:nvPr/>
        </p:nvPicPr>
        <p:blipFill>
          <a:blip r:embed="rId2"/>
          <a:stretch>
            <a:fillRect/>
          </a:stretch>
        </p:blipFill>
        <p:spPr>
          <a:xfrm>
            <a:off x="6629400" y="4648200"/>
            <a:ext cx="1600200" cy="16943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fade">
                                      <p:cBhvr>
                                        <p:cTn id="7" dur="500"/>
                                        <p:tgtEl>
                                          <p:spTgt spid="1433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339">
                                            <p:txEl>
                                              <p:pRg st="2" end="2"/>
                                            </p:txEl>
                                          </p:spTgt>
                                        </p:tgtEl>
                                        <p:attrNameLst>
                                          <p:attrName>style.visibility</p:attrName>
                                        </p:attrNameLst>
                                      </p:cBhvr>
                                      <p:to>
                                        <p:strVal val="visible"/>
                                      </p:to>
                                    </p:set>
                                    <p:animEffect transition="in" filter="fade">
                                      <p:cBhvr>
                                        <p:cTn id="10" dur="500"/>
                                        <p:tgtEl>
                                          <p:spTgt spid="1433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304800" y="1295400"/>
            <a:ext cx="8610600" cy="4419600"/>
          </a:xfrm>
        </p:spPr>
        <p:txBody>
          <a:bodyPr/>
          <a:lstStyle/>
          <a:p>
            <a:pPr marL="566737" indent="-457200">
              <a:spcAft>
                <a:spcPts val="600"/>
              </a:spcAft>
              <a:buSzPct val="90000"/>
              <a:buFont typeface="+mj-lt"/>
              <a:buAutoNum type="arabicPeriod"/>
            </a:pPr>
            <a:r>
              <a:rPr lang="vi-VN" dirty="0"/>
              <a:t>Yêu cầu truyền thông các bên liên quan.</a:t>
            </a:r>
          </a:p>
          <a:p>
            <a:pPr marL="566737" indent="-457200">
              <a:spcAft>
                <a:spcPts val="600"/>
              </a:spcAft>
              <a:buSzPct val="90000"/>
              <a:buFont typeface="+mj-lt"/>
              <a:buAutoNum type="arabicPeriod"/>
            </a:pPr>
            <a:r>
              <a:rPr lang="vi-VN" dirty="0"/>
              <a:t>Các thông tin truyền tải: định dạng, nội dung...</a:t>
            </a:r>
          </a:p>
          <a:p>
            <a:pPr marL="566737" indent="-457200">
              <a:spcAft>
                <a:spcPts val="600"/>
              </a:spcAft>
              <a:buSzPct val="90000"/>
              <a:buFont typeface="+mj-lt"/>
              <a:buAutoNum type="arabicPeriod"/>
            </a:pPr>
            <a:r>
              <a:rPr lang="vi-VN" dirty="0"/>
              <a:t>Người nhận và người xử lý thông tin.</a:t>
            </a:r>
          </a:p>
          <a:p>
            <a:pPr marL="566737" indent="-457200">
              <a:spcAft>
                <a:spcPts val="600"/>
              </a:spcAft>
              <a:buSzPct val="90000"/>
              <a:buFont typeface="+mj-lt"/>
              <a:buAutoNum type="arabicPeriod"/>
            </a:pPr>
            <a:r>
              <a:rPr lang="vi-VN" dirty="0"/>
              <a:t>Phương pháp hoặc công nghệ truyền tải thông tin.</a:t>
            </a:r>
          </a:p>
          <a:p>
            <a:pPr marL="566737" indent="-457200">
              <a:spcAft>
                <a:spcPts val="600"/>
              </a:spcAft>
              <a:buSzPct val="90000"/>
              <a:buFont typeface="+mj-lt"/>
              <a:buAutoNum type="arabicPeriod"/>
            </a:pPr>
            <a:r>
              <a:rPr lang="vi-VN" dirty="0"/>
              <a:t>Tần số truyền thông.</a:t>
            </a:r>
          </a:p>
          <a:p>
            <a:pPr marL="566737" indent="-457200">
              <a:spcAft>
                <a:spcPts val="600"/>
              </a:spcAft>
              <a:buSzPct val="90000"/>
              <a:buFont typeface="+mj-lt"/>
              <a:buAutoNum type="arabicPeriod"/>
            </a:pPr>
            <a:r>
              <a:rPr lang="vi-VN" dirty="0"/>
              <a:t>Thủ tục giải quyết vấn đề.</a:t>
            </a:r>
          </a:p>
          <a:p>
            <a:pPr marL="566737" indent="-457200">
              <a:spcAft>
                <a:spcPts val="600"/>
              </a:spcAft>
              <a:buSzPct val="90000"/>
              <a:buFont typeface="+mj-lt"/>
              <a:buAutoNum type="arabicPeriod"/>
            </a:pPr>
            <a:r>
              <a:rPr lang="vi-VN" dirty="0"/>
              <a:t>Thủ tục sửa đổi và cập nhật kế hoạch truyền thông.</a:t>
            </a:r>
          </a:p>
          <a:p>
            <a:pPr marL="566737" indent="-457200">
              <a:spcAft>
                <a:spcPts val="600"/>
              </a:spcAft>
              <a:buSzPct val="90000"/>
              <a:buFont typeface="+mj-lt"/>
              <a:buAutoNum type="arabicPeriod"/>
            </a:pPr>
            <a:r>
              <a:rPr lang="vi-VN" dirty="0"/>
              <a:t>Chú giải các thuật ngữ...</a:t>
            </a:r>
            <a:endParaRPr lang="en-US" dirty="0"/>
          </a:p>
        </p:txBody>
      </p:sp>
      <p:sp>
        <p:nvSpPr>
          <p:cNvPr id="15362" name="Rectangle 2"/>
          <p:cNvSpPr>
            <a:spLocks noGrp="1" noChangeArrowheads="1"/>
          </p:cNvSpPr>
          <p:nvPr>
            <p:ph type="title"/>
          </p:nvPr>
        </p:nvSpPr>
        <p:spPr>
          <a:xfrm>
            <a:off x="0" y="76200"/>
            <a:ext cx="9144000" cy="1143000"/>
          </a:xfrm>
        </p:spPr>
        <p:txBody>
          <a:bodyPr>
            <a:normAutofit/>
          </a:bodyPr>
          <a:lstStyle/>
          <a:p>
            <a:pPr algn="ctr"/>
            <a:r>
              <a:rPr lang="en-US" sz="4000" dirty="0" err="1"/>
              <a:t>Nội</a:t>
            </a:r>
            <a:r>
              <a:rPr lang="en-US" sz="4000" dirty="0"/>
              <a:t> dung </a:t>
            </a:r>
            <a:r>
              <a:rPr lang="en-US" sz="4000" dirty="0" err="1"/>
              <a:t>kế</a:t>
            </a:r>
            <a:r>
              <a:rPr lang="en-US" sz="4000" dirty="0"/>
              <a:t> </a:t>
            </a:r>
            <a:r>
              <a:rPr lang="en-US" sz="4000" dirty="0" err="1"/>
              <a:t>hoạch</a:t>
            </a:r>
            <a:r>
              <a:rPr lang="en-US" sz="4000" dirty="0"/>
              <a:t> </a:t>
            </a:r>
            <a:r>
              <a:rPr lang="en-US" sz="4000" dirty="0" err="1"/>
              <a:t>truyền</a:t>
            </a:r>
            <a:r>
              <a:rPr lang="en-US" sz="4000" dirty="0"/>
              <a:t> thông</a:t>
            </a:r>
          </a:p>
        </p:txBody>
      </p:sp>
      <p:sp>
        <p:nvSpPr>
          <p:cNvPr id="15365"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61901660-625A-429A-86A8-6CD93411A105}" type="slidenum">
              <a:rPr lang="en-US" smtClean="0"/>
              <a:pPr>
                <a:defRPr/>
              </a:pPr>
              <a:t>30</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p:tgtEl>
                                          <p:spTgt spid="15363">
                                            <p:txEl>
                                              <p:pRg st="0" end="0"/>
                                            </p:txEl>
                                          </p:spTgt>
                                        </p:tgtEl>
                                        <p:attrNameLst>
                                          <p:attrName>ppt_y</p:attrName>
                                        </p:attrNameLst>
                                      </p:cBhvr>
                                      <p:tavLst>
                                        <p:tav tm="0">
                                          <p:val>
                                            <p:strVal val="#ppt_y-#ppt_h*1.125000"/>
                                          </p:val>
                                        </p:tav>
                                        <p:tav tm="100000">
                                          <p:val>
                                            <p:strVal val="#ppt_y"/>
                                          </p:val>
                                        </p:tav>
                                      </p:tavLst>
                                    </p:anim>
                                    <p:animEffect transition="in" filter="wipe(down)">
                                      <p:cBhvr>
                                        <p:cTn id="8" dur="500"/>
                                        <p:tgtEl>
                                          <p:spTgt spid="15363">
                                            <p:txEl>
                                              <p:pRg st="0" end="0"/>
                                            </p:txEl>
                                          </p:spTgt>
                                        </p:tgtEl>
                                      </p:cBhvr>
                                    </p:animEffect>
                                  </p:childTnLst>
                                </p:cTn>
                              </p:par>
                              <p:par>
                                <p:cTn id="9" presetID="12" presetClass="entr" presetSubtype="1" fill="hold" nodeType="with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anim calcmode="lin" valueType="num">
                                      <p:cBhvr additive="base">
                                        <p:cTn id="11" dur="500"/>
                                        <p:tgtEl>
                                          <p:spTgt spid="15363">
                                            <p:txEl>
                                              <p:pRg st="1" end="1"/>
                                            </p:txEl>
                                          </p:spTgt>
                                        </p:tgtEl>
                                        <p:attrNameLst>
                                          <p:attrName>ppt_y</p:attrName>
                                        </p:attrNameLst>
                                      </p:cBhvr>
                                      <p:tavLst>
                                        <p:tav tm="0">
                                          <p:val>
                                            <p:strVal val="#ppt_y-#ppt_h*1.125000"/>
                                          </p:val>
                                        </p:tav>
                                        <p:tav tm="100000">
                                          <p:val>
                                            <p:strVal val="#ppt_y"/>
                                          </p:val>
                                        </p:tav>
                                      </p:tavLst>
                                    </p:anim>
                                    <p:animEffect transition="in" filter="wipe(down)">
                                      <p:cBhvr>
                                        <p:cTn id="12" dur="500"/>
                                        <p:tgtEl>
                                          <p:spTgt spid="15363">
                                            <p:txEl>
                                              <p:pRg st="1" end="1"/>
                                            </p:txEl>
                                          </p:spTgt>
                                        </p:tgtEl>
                                      </p:cBhvr>
                                    </p:animEffect>
                                  </p:childTnLst>
                                </p:cTn>
                              </p:par>
                              <p:par>
                                <p:cTn id="13" presetID="12" presetClass="entr" presetSubtype="1" fill="hold" nodeType="withEffect">
                                  <p:stCondLst>
                                    <p:cond delay="0"/>
                                  </p:stCondLst>
                                  <p:childTnLst>
                                    <p:set>
                                      <p:cBhvr>
                                        <p:cTn id="14" dur="1" fill="hold">
                                          <p:stCondLst>
                                            <p:cond delay="0"/>
                                          </p:stCondLst>
                                        </p:cTn>
                                        <p:tgtEl>
                                          <p:spTgt spid="15363">
                                            <p:txEl>
                                              <p:pRg st="2" end="2"/>
                                            </p:txEl>
                                          </p:spTgt>
                                        </p:tgtEl>
                                        <p:attrNameLst>
                                          <p:attrName>style.visibility</p:attrName>
                                        </p:attrNameLst>
                                      </p:cBhvr>
                                      <p:to>
                                        <p:strVal val="visible"/>
                                      </p:to>
                                    </p:set>
                                    <p:anim calcmode="lin" valueType="num">
                                      <p:cBhvr additive="base">
                                        <p:cTn id="15" dur="500"/>
                                        <p:tgtEl>
                                          <p:spTgt spid="15363">
                                            <p:txEl>
                                              <p:pRg st="2" end="2"/>
                                            </p:txEl>
                                          </p:spTgt>
                                        </p:tgtEl>
                                        <p:attrNameLst>
                                          <p:attrName>ppt_y</p:attrName>
                                        </p:attrNameLst>
                                      </p:cBhvr>
                                      <p:tavLst>
                                        <p:tav tm="0">
                                          <p:val>
                                            <p:strVal val="#ppt_y-#ppt_h*1.125000"/>
                                          </p:val>
                                        </p:tav>
                                        <p:tav tm="100000">
                                          <p:val>
                                            <p:strVal val="#ppt_y"/>
                                          </p:val>
                                        </p:tav>
                                      </p:tavLst>
                                    </p:anim>
                                    <p:animEffect transition="in" filter="wipe(down)">
                                      <p:cBhvr>
                                        <p:cTn id="16" dur="500"/>
                                        <p:tgtEl>
                                          <p:spTgt spid="15363">
                                            <p:txEl>
                                              <p:pRg st="2" end="2"/>
                                            </p:txEl>
                                          </p:spTgt>
                                        </p:tgtEl>
                                      </p:cBhvr>
                                    </p:animEffect>
                                  </p:childTnLst>
                                </p:cTn>
                              </p:par>
                              <p:par>
                                <p:cTn id="17" presetID="12" presetClass="entr" presetSubtype="1" fill="hold" nodeType="withEffect">
                                  <p:stCondLst>
                                    <p:cond delay="0"/>
                                  </p:stCondLst>
                                  <p:childTnLst>
                                    <p:set>
                                      <p:cBhvr>
                                        <p:cTn id="18" dur="1" fill="hold">
                                          <p:stCondLst>
                                            <p:cond delay="0"/>
                                          </p:stCondLst>
                                        </p:cTn>
                                        <p:tgtEl>
                                          <p:spTgt spid="15363">
                                            <p:txEl>
                                              <p:pRg st="3" end="3"/>
                                            </p:txEl>
                                          </p:spTgt>
                                        </p:tgtEl>
                                        <p:attrNameLst>
                                          <p:attrName>style.visibility</p:attrName>
                                        </p:attrNameLst>
                                      </p:cBhvr>
                                      <p:to>
                                        <p:strVal val="visible"/>
                                      </p:to>
                                    </p:set>
                                    <p:anim calcmode="lin" valueType="num">
                                      <p:cBhvr additive="base">
                                        <p:cTn id="19" dur="500"/>
                                        <p:tgtEl>
                                          <p:spTgt spid="15363">
                                            <p:txEl>
                                              <p:pRg st="3" end="3"/>
                                            </p:txEl>
                                          </p:spTgt>
                                        </p:tgtEl>
                                        <p:attrNameLst>
                                          <p:attrName>ppt_y</p:attrName>
                                        </p:attrNameLst>
                                      </p:cBhvr>
                                      <p:tavLst>
                                        <p:tav tm="0">
                                          <p:val>
                                            <p:strVal val="#ppt_y-#ppt_h*1.125000"/>
                                          </p:val>
                                        </p:tav>
                                        <p:tav tm="100000">
                                          <p:val>
                                            <p:strVal val="#ppt_y"/>
                                          </p:val>
                                        </p:tav>
                                      </p:tavLst>
                                    </p:anim>
                                    <p:animEffect transition="in" filter="wipe(down)">
                                      <p:cBhvr>
                                        <p:cTn id="20" dur="500"/>
                                        <p:tgtEl>
                                          <p:spTgt spid="15363">
                                            <p:txEl>
                                              <p:pRg st="3" end="3"/>
                                            </p:txEl>
                                          </p:spTgt>
                                        </p:tgtEl>
                                      </p:cBhvr>
                                    </p:animEffect>
                                  </p:childTnLst>
                                </p:cTn>
                              </p:par>
                              <p:par>
                                <p:cTn id="21" presetID="12" presetClass="entr" presetSubtype="1" fill="hold" nodeType="withEffect">
                                  <p:stCondLst>
                                    <p:cond delay="0"/>
                                  </p:stCondLst>
                                  <p:childTnLst>
                                    <p:set>
                                      <p:cBhvr>
                                        <p:cTn id="22" dur="1" fill="hold">
                                          <p:stCondLst>
                                            <p:cond delay="0"/>
                                          </p:stCondLst>
                                        </p:cTn>
                                        <p:tgtEl>
                                          <p:spTgt spid="15363">
                                            <p:txEl>
                                              <p:pRg st="4" end="4"/>
                                            </p:txEl>
                                          </p:spTgt>
                                        </p:tgtEl>
                                        <p:attrNameLst>
                                          <p:attrName>style.visibility</p:attrName>
                                        </p:attrNameLst>
                                      </p:cBhvr>
                                      <p:to>
                                        <p:strVal val="visible"/>
                                      </p:to>
                                    </p:set>
                                    <p:anim calcmode="lin" valueType="num">
                                      <p:cBhvr additive="base">
                                        <p:cTn id="23" dur="500"/>
                                        <p:tgtEl>
                                          <p:spTgt spid="15363">
                                            <p:txEl>
                                              <p:pRg st="4" end="4"/>
                                            </p:txEl>
                                          </p:spTgt>
                                        </p:tgtEl>
                                        <p:attrNameLst>
                                          <p:attrName>ppt_y</p:attrName>
                                        </p:attrNameLst>
                                      </p:cBhvr>
                                      <p:tavLst>
                                        <p:tav tm="0">
                                          <p:val>
                                            <p:strVal val="#ppt_y-#ppt_h*1.125000"/>
                                          </p:val>
                                        </p:tav>
                                        <p:tav tm="100000">
                                          <p:val>
                                            <p:strVal val="#ppt_y"/>
                                          </p:val>
                                        </p:tav>
                                      </p:tavLst>
                                    </p:anim>
                                    <p:animEffect transition="in" filter="wipe(down)">
                                      <p:cBhvr>
                                        <p:cTn id="24" dur="500"/>
                                        <p:tgtEl>
                                          <p:spTgt spid="15363">
                                            <p:txEl>
                                              <p:pRg st="4" end="4"/>
                                            </p:txEl>
                                          </p:spTgt>
                                        </p:tgtEl>
                                      </p:cBhvr>
                                    </p:animEffect>
                                  </p:childTnLst>
                                </p:cTn>
                              </p:par>
                              <p:par>
                                <p:cTn id="25" presetID="12" presetClass="entr" presetSubtype="1" fill="hold" nodeType="withEffect">
                                  <p:stCondLst>
                                    <p:cond delay="0"/>
                                  </p:stCondLst>
                                  <p:childTnLst>
                                    <p:set>
                                      <p:cBhvr>
                                        <p:cTn id="26" dur="1" fill="hold">
                                          <p:stCondLst>
                                            <p:cond delay="0"/>
                                          </p:stCondLst>
                                        </p:cTn>
                                        <p:tgtEl>
                                          <p:spTgt spid="15363">
                                            <p:txEl>
                                              <p:pRg st="5" end="5"/>
                                            </p:txEl>
                                          </p:spTgt>
                                        </p:tgtEl>
                                        <p:attrNameLst>
                                          <p:attrName>style.visibility</p:attrName>
                                        </p:attrNameLst>
                                      </p:cBhvr>
                                      <p:to>
                                        <p:strVal val="visible"/>
                                      </p:to>
                                    </p:set>
                                    <p:anim calcmode="lin" valueType="num">
                                      <p:cBhvr additive="base">
                                        <p:cTn id="27" dur="500"/>
                                        <p:tgtEl>
                                          <p:spTgt spid="15363">
                                            <p:txEl>
                                              <p:pRg st="5" end="5"/>
                                            </p:txEl>
                                          </p:spTgt>
                                        </p:tgtEl>
                                        <p:attrNameLst>
                                          <p:attrName>ppt_y</p:attrName>
                                        </p:attrNameLst>
                                      </p:cBhvr>
                                      <p:tavLst>
                                        <p:tav tm="0">
                                          <p:val>
                                            <p:strVal val="#ppt_y-#ppt_h*1.125000"/>
                                          </p:val>
                                        </p:tav>
                                        <p:tav tm="100000">
                                          <p:val>
                                            <p:strVal val="#ppt_y"/>
                                          </p:val>
                                        </p:tav>
                                      </p:tavLst>
                                    </p:anim>
                                    <p:animEffect transition="in" filter="wipe(down)">
                                      <p:cBhvr>
                                        <p:cTn id="28" dur="500"/>
                                        <p:tgtEl>
                                          <p:spTgt spid="15363">
                                            <p:txEl>
                                              <p:pRg st="5" end="5"/>
                                            </p:txEl>
                                          </p:spTgt>
                                        </p:tgtEl>
                                      </p:cBhvr>
                                    </p:animEffect>
                                  </p:childTnLst>
                                </p:cTn>
                              </p:par>
                              <p:par>
                                <p:cTn id="29" presetID="12" presetClass="entr" presetSubtype="1" fill="hold" nodeType="withEffect">
                                  <p:stCondLst>
                                    <p:cond delay="0"/>
                                  </p:stCondLst>
                                  <p:childTnLst>
                                    <p:set>
                                      <p:cBhvr>
                                        <p:cTn id="30" dur="1" fill="hold">
                                          <p:stCondLst>
                                            <p:cond delay="0"/>
                                          </p:stCondLst>
                                        </p:cTn>
                                        <p:tgtEl>
                                          <p:spTgt spid="15363">
                                            <p:txEl>
                                              <p:pRg st="6" end="6"/>
                                            </p:txEl>
                                          </p:spTgt>
                                        </p:tgtEl>
                                        <p:attrNameLst>
                                          <p:attrName>style.visibility</p:attrName>
                                        </p:attrNameLst>
                                      </p:cBhvr>
                                      <p:to>
                                        <p:strVal val="visible"/>
                                      </p:to>
                                    </p:set>
                                    <p:anim calcmode="lin" valueType="num">
                                      <p:cBhvr additive="base">
                                        <p:cTn id="31" dur="500"/>
                                        <p:tgtEl>
                                          <p:spTgt spid="15363">
                                            <p:txEl>
                                              <p:pRg st="6" end="6"/>
                                            </p:txEl>
                                          </p:spTgt>
                                        </p:tgtEl>
                                        <p:attrNameLst>
                                          <p:attrName>ppt_y</p:attrName>
                                        </p:attrNameLst>
                                      </p:cBhvr>
                                      <p:tavLst>
                                        <p:tav tm="0">
                                          <p:val>
                                            <p:strVal val="#ppt_y-#ppt_h*1.125000"/>
                                          </p:val>
                                        </p:tav>
                                        <p:tav tm="100000">
                                          <p:val>
                                            <p:strVal val="#ppt_y"/>
                                          </p:val>
                                        </p:tav>
                                      </p:tavLst>
                                    </p:anim>
                                    <p:animEffect transition="in" filter="wipe(down)">
                                      <p:cBhvr>
                                        <p:cTn id="32" dur="500"/>
                                        <p:tgtEl>
                                          <p:spTgt spid="15363">
                                            <p:txEl>
                                              <p:pRg st="6" end="6"/>
                                            </p:txEl>
                                          </p:spTgt>
                                        </p:tgtEl>
                                      </p:cBhvr>
                                    </p:animEffect>
                                  </p:childTnLst>
                                </p:cTn>
                              </p:par>
                              <p:par>
                                <p:cTn id="33" presetID="12" presetClass="entr" presetSubtype="1" fill="hold" nodeType="withEffect">
                                  <p:stCondLst>
                                    <p:cond delay="0"/>
                                  </p:stCondLst>
                                  <p:childTnLst>
                                    <p:set>
                                      <p:cBhvr>
                                        <p:cTn id="34" dur="1" fill="hold">
                                          <p:stCondLst>
                                            <p:cond delay="0"/>
                                          </p:stCondLst>
                                        </p:cTn>
                                        <p:tgtEl>
                                          <p:spTgt spid="15363">
                                            <p:txEl>
                                              <p:pRg st="7" end="7"/>
                                            </p:txEl>
                                          </p:spTgt>
                                        </p:tgtEl>
                                        <p:attrNameLst>
                                          <p:attrName>style.visibility</p:attrName>
                                        </p:attrNameLst>
                                      </p:cBhvr>
                                      <p:to>
                                        <p:strVal val="visible"/>
                                      </p:to>
                                    </p:set>
                                    <p:anim calcmode="lin" valueType="num">
                                      <p:cBhvr additive="base">
                                        <p:cTn id="35" dur="500"/>
                                        <p:tgtEl>
                                          <p:spTgt spid="15363">
                                            <p:txEl>
                                              <p:pRg st="7" end="7"/>
                                            </p:txEl>
                                          </p:spTgt>
                                        </p:tgtEl>
                                        <p:attrNameLst>
                                          <p:attrName>ppt_y</p:attrName>
                                        </p:attrNameLst>
                                      </p:cBhvr>
                                      <p:tavLst>
                                        <p:tav tm="0">
                                          <p:val>
                                            <p:strVal val="#ppt_y-#ppt_h*1.125000"/>
                                          </p:val>
                                        </p:tav>
                                        <p:tav tm="100000">
                                          <p:val>
                                            <p:strVal val="#ppt_y"/>
                                          </p:val>
                                        </p:tav>
                                      </p:tavLst>
                                    </p:anim>
                                    <p:animEffect transition="in" filter="wipe(down)">
                                      <p:cBhvr>
                                        <p:cTn id="36" dur="500"/>
                                        <p:tgtEl>
                                          <p:spTgt spid="1536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76200"/>
            <a:ext cx="9144000" cy="1143000"/>
          </a:xfrm>
        </p:spPr>
        <p:txBody>
          <a:bodyPr>
            <a:normAutofit/>
          </a:bodyPr>
          <a:lstStyle/>
          <a:p>
            <a:pPr algn="ctr"/>
            <a:r>
              <a:rPr lang="en-US" sz="4000" dirty="0" err="1"/>
              <a:t>Mô</a:t>
            </a:r>
            <a:r>
              <a:rPr lang="en-US" sz="4000" dirty="0"/>
              <a:t> </a:t>
            </a:r>
            <a:r>
              <a:rPr lang="en-US" sz="4000" dirty="0" err="1"/>
              <a:t>hình</a:t>
            </a:r>
            <a:r>
              <a:rPr lang="en-US" sz="4000" dirty="0"/>
              <a:t> </a:t>
            </a:r>
            <a:r>
              <a:rPr lang="en-US" sz="4000" dirty="0" err="1"/>
              <a:t>truyền</a:t>
            </a:r>
            <a:r>
              <a:rPr lang="en-US" sz="4000" dirty="0"/>
              <a:t> thông </a:t>
            </a:r>
            <a:r>
              <a:rPr lang="en-US" sz="4000" dirty="0" err="1"/>
              <a:t>cơ</a:t>
            </a:r>
            <a:r>
              <a:rPr lang="en-US" sz="4000" dirty="0"/>
              <a:t> </a:t>
            </a:r>
            <a:r>
              <a:rPr lang="en-US" sz="4000" dirty="0" err="1"/>
              <a:t>bản</a:t>
            </a:r>
            <a:endParaRPr lang="en-US" sz="4000" dirty="0"/>
          </a:p>
        </p:txBody>
      </p:sp>
      <p:sp>
        <p:nvSpPr>
          <p:cNvPr id="15365"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61901660-625A-429A-86A8-6CD93411A105}" type="slidenum">
              <a:rPr lang="en-US" smtClean="0"/>
              <a:pPr>
                <a:defRPr/>
              </a:pPr>
              <a:t>31</a:t>
            </a:fld>
            <a:endParaRPr lang="en-US" dirty="0"/>
          </a:p>
        </p:txBody>
      </p:sp>
      <p:pic>
        <p:nvPicPr>
          <p:cNvPr id="3" name="Picture 2"/>
          <p:cNvPicPr>
            <a:picLocks noChangeAspect="1"/>
          </p:cNvPicPr>
          <p:nvPr/>
        </p:nvPicPr>
        <p:blipFill>
          <a:blip r:embed="rId2"/>
          <a:stretch>
            <a:fillRect/>
          </a:stretch>
        </p:blipFill>
        <p:spPr>
          <a:xfrm>
            <a:off x="762000" y="1524000"/>
            <a:ext cx="7729928" cy="3962400"/>
          </a:xfrm>
          <a:prstGeom prst="rect">
            <a:avLst/>
          </a:prstGeom>
        </p:spPr>
      </p:pic>
      <p:sp>
        <p:nvSpPr>
          <p:cNvPr id="9" name="Rectangle 8"/>
          <p:cNvSpPr/>
          <p:nvPr/>
        </p:nvSpPr>
        <p:spPr>
          <a:xfrm>
            <a:off x="4952682" y="6107668"/>
            <a:ext cx="2133918" cy="369332"/>
          </a:xfrm>
          <a:prstGeom prst="rect">
            <a:avLst/>
          </a:prstGeom>
        </p:spPr>
        <p:txBody>
          <a:bodyPr wrap="none">
            <a:spAutoFit/>
          </a:bodyPr>
          <a:lstStyle/>
          <a:p>
            <a:r>
              <a:rPr lang="vi-VN" sz="1800" dirty="0"/>
              <a:t>Nguồn: PMI</a:t>
            </a:r>
            <a:r>
              <a:rPr lang="vi-VN" sz="1800" dirty="0">
                <a:effectLst>
                  <a:outerShdw blurRad="38100" dist="38100" dir="2700000" algn="tl">
                    <a:srgbClr val="000000">
                      <a:alpha val="43137"/>
                    </a:srgbClr>
                  </a:outerShdw>
                </a:effectLst>
              </a:rPr>
              <a:t> </a:t>
            </a:r>
            <a:r>
              <a:rPr lang="vi-VN" sz="1800" dirty="0"/>
              <a:t>(2013)</a:t>
            </a:r>
          </a:p>
        </p:txBody>
      </p:sp>
    </p:spTree>
    <p:extLst>
      <p:ext uri="{BB962C8B-B14F-4D97-AF65-F5344CB8AC3E}">
        <p14:creationId xmlns:p14="http://schemas.microsoft.com/office/powerpoint/2010/main" val="2978034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phân</a:t>
            </a:r>
            <a:r>
              <a:rPr lang="en-US" sz="3600" dirty="0"/>
              <a:t> </a:t>
            </a:r>
            <a:r>
              <a:rPr lang="en-US" sz="3600" dirty="0" err="1"/>
              <a:t>tích</a:t>
            </a:r>
            <a:r>
              <a:rPr lang="en-US" sz="3600" dirty="0"/>
              <a:t> </a:t>
            </a:r>
            <a:r>
              <a:rPr lang="en-US" sz="3600" dirty="0" err="1"/>
              <a:t>các</a:t>
            </a:r>
            <a:r>
              <a:rPr lang="en-US" sz="3600" dirty="0"/>
              <a:t> </a:t>
            </a:r>
            <a:r>
              <a:rPr lang="en-US" sz="3600" dirty="0" err="1"/>
              <a:t>bên</a:t>
            </a:r>
            <a:r>
              <a:rPr lang="en-US" sz="3600" dirty="0"/>
              <a:t> </a:t>
            </a:r>
            <a:r>
              <a:rPr lang="en-US" sz="3600" dirty="0" err="1"/>
              <a:t>liên</a:t>
            </a:r>
            <a:r>
              <a:rPr lang="en-US" sz="3600" dirty="0"/>
              <a:t> </a:t>
            </a:r>
            <a:r>
              <a:rPr lang="en-US" sz="3600" dirty="0" err="1"/>
              <a:t>quan</a:t>
            </a:r>
            <a:endParaRPr lang="en-US" sz="3600" dirty="0"/>
          </a:p>
        </p:txBody>
      </p:sp>
      <p:sp>
        <p:nvSpPr>
          <p:cNvPr id="17412" name="Footer Placeholder 7"/>
          <p:cNvSpPr>
            <a:spLocks noGrp="1"/>
          </p:cNvSpPr>
          <p:nvPr>
            <p:ph type="ftr" sz="quarter" idx="10"/>
          </p:nvPr>
        </p:nvSpPr>
        <p:spPr bwMode="auto">
          <a:noFill/>
          <a:ln>
            <a:miter lim="800000"/>
            <a:headEnd/>
            <a:tailEnd/>
          </a:ln>
        </p:spPr>
        <p:txBody>
          <a:bodyPr/>
          <a:lstStyle/>
          <a:p>
            <a:pPr>
              <a:buFontTx/>
              <a:buNone/>
            </a:pPr>
            <a:r>
              <a:rPr lang="en-US"/>
              <a:t>Quản trị dự án HTTT</a:t>
            </a:r>
            <a:endParaRPr lang="en-US" dirty="0"/>
          </a:p>
        </p:txBody>
      </p:sp>
      <p:sp>
        <p:nvSpPr>
          <p:cNvPr id="7" name="Slide Number Placeholder 6"/>
          <p:cNvSpPr>
            <a:spLocks noGrp="1"/>
          </p:cNvSpPr>
          <p:nvPr>
            <p:ph type="sldNum" sz="quarter" idx="11"/>
          </p:nvPr>
        </p:nvSpPr>
        <p:spPr/>
        <p:txBody>
          <a:bodyPr/>
          <a:lstStyle/>
          <a:p>
            <a:pPr>
              <a:buFontTx/>
              <a:buNone/>
              <a:defRPr/>
            </a:pPr>
            <a:fld id="{59E06270-8745-46BE-905A-87514833B8ED}" type="slidenum">
              <a:rPr lang="en-US" smtClean="0"/>
              <a:pPr>
                <a:buFontTx/>
                <a:buNone/>
                <a:defRPr/>
              </a:pPr>
              <a:t>32</a:t>
            </a:fld>
            <a:endParaRPr lang="en-US" dirty="0"/>
          </a:p>
        </p:txBody>
      </p:sp>
      <p:pic>
        <p:nvPicPr>
          <p:cNvPr id="3" name="Picture 2"/>
          <p:cNvPicPr>
            <a:picLocks noChangeAspect="1"/>
          </p:cNvPicPr>
          <p:nvPr/>
        </p:nvPicPr>
        <p:blipFill>
          <a:blip r:embed="rId2"/>
          <a:stretch>
            <a:fillRect/>
          </a:stretch>
        </p:blipFill>
        <p:spPr>
          <a:xfrm>
            <a:off x="-1" y="1162050"/>
            <a:ext cx="9144001" cy="48732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33</a:t>
            </a:fld>
            <a:endParaRPr lang="en-US" dirty="0"/>
          </a:p>
        </p:txBody>
      </p:sp>
      <p:pic>
        <p:nvPicPr>
          <p:cNvPr id="6" name="Picture 5"/>
          <p:cNvPicPr>
            <a:picLocks noChangeAspect="1"/>
          </p:cNvPicPr>
          <p:nvPr/>
        </p:nvPicPr>
        <p:blipFill>
          <a:blip r:embed="rId2"/>
          <a:stretch>
            <a:fillRect/>
          </a:stretch>
        </p:blipFill>
        <p:spPr>
          <a:xfrm>
            <a:off x="-1" y="-24714"/>
            <a:ext cx="9144001" cy="6882714"/>
          </a:xfrm>
          <a:prstGeom prst="rect">
            <a:avLst/>
          </a:prstGeom>
        </p:spPr>
      </p:pic>
    </p:spTree>
    <p:extLst>
      <p:ext uri="{BB962C8B-B14F-4D97-AF65-F5344CB8AC3E}">
        <p14:creationId xmlns:p14="http://schemas.microsoft.com/office/powerpoint/2010/main" val="756514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33350" y="1219200"/>
            <a:ext cx="9010650" cy="3581400"/>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34</a:t>
            </a:fld>
            <a:endParaRPr lang="en-US" dirty="0"/>
          </a:p>
        </p:txBody>
      </p:sp>
      <p:sp>
        <p:nvSpPr>
          <p:cNvPr id="7" name="Rounded Rectangle 6"/>
          <p:cNvSpPr/>
          <p:nvPr/>
        </p:nvSpPr>
        <p:spPr>
          <a:xfrm>
            <a:off x="3429000" y="3886200"/>
            <a:ext cx="2188192" cy="86420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truyền</a:t>
            </a:r>
            <a:r>
              <a:rPr lang="en-US" sz="4000" dirty="0">
                <a:solidFill>
                  <a:schemeClr val="bg1">
                    <a:lumMod val="65000"/>
                  </a:schemeClr>
                </a:solidFill>
              </a:rPr>
              <a:t> thông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[2/3]</a:t>
            </a:r>
          </a:p>
        </p:txBody>
      </p:sp>
      <p:pic>
        <p:nvPicPr>
          <p:cNvPr id="2" name="Picture 1"/>
          <p:cNvPicPr>
            <a:picLocks noChangeAspect="1"/>
          </p:cNvPicPr>
          <p:nvPr/>
        </p:nvPicPr>
        <p:blipFill>
          <a:blip r:embed="rId3"/>
          <a:stretch>
            <a:fillRect/>
          </a:stretch>
        </p:blipFill>
        <p:spPr>
          <a:xfrm>
            <a:off x="5410200" y="5410200"/>
            <a:ext cx="2095943" cy="1447800"/>
          </a:xfrm>
          <a:prstGeom prst="rect">
            <a:avLst/>
          </a:prstGeom>
        </p:spPr>
      </p:pic>
    </p:spTree>
    <p:extLst>
      <p:ext uri="{BB962C8B-B14F-4D97-AF65-F5344CB8AC3E}">
        <p14:creationId xmlns:p14="http://schemas.microsoft.com/office/powerpoint/2010/main" val="3169302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371600"/>
            <a:ext cx="8229600" cy="4157662"/>
          </a:xfrm>
        </p:spPr>
        <p:txBody>
          <a:bodyPr/>
          <a:lstStyle/>
          <a:p>
            <a:pPr algn="just">
              <a:spcBef>
                <a:spcPts val="600"/>
              </a:spcBef>
              <a:spcAft>
                <a:spcPts val="1200"/>
              </a:spcAft>
            </a:pPr>
            <a:r>
              <a:rPr lang="en-US" b="1" dirty="0"/>
              <a:t>Quản lý </a:t>
            </a:r>
            <a:r>
              <a:rPr lang="en-US" b="1" dirty="0" err="1"/>
              <a:t>truyền</a:t>
            </a:r>
            <a:r>
              <a:rPr lang="en-US" b="1" dirty="0"/>
              <a:t> thông </a:t>
            </a:r>
            <a:r>
              <a:rPr lang="en-US" dirty="0"/>
              <a:t>(</a:t>
            </a:r>
            <a:r>
              <a:rPr lang="en-US" dirty="0">
                <a:solidFill>
                  <a:srgbClr val="0070C0"/>
                </a:solidFill>
              </a:rPr>
              <a:t>manage communications</a:t>
            </a:r>
            <a:r>
              <a:rPr lang="en-US" dirty="0"/>
              <a:t>)</a:t>
            </a:r>
            <a:r>
              <a:rPr lang="vi-VN" dirty="0"/>
              <a:t> là phần lớn công việc của giám đốc dự án.</a:t>
            </a:r>
          </a:p>
          <a:p>
            <a:pPr algn="just">
              <a:spcBef>
                <a:spcPts val="600"/>
              </a:spcBef>
              <a:spcAft>
                <a:spcPts val="1200"/>
              </a:spcAft>
            </a:pPr>
            <a:r>
              <a:rPr lang="vi-VN" dirty="0"/>
              <a:t>Nhận thông tin đúng người - thời điểm - định dạng cũng quan trọng như phát triển thông tin ban đầu.</a:t>
            </a:r>
          </a:p>
          <a:p>
            <a:pPr algn="just">
              <a:spcBef>
                <a:spcPts val="600"/>
              </a:spcBef>
              <a:spcAft>
                <a:spcPts val="1200"/>
              </a:spcAft>
            </a:pPr>
            <a:r>
              <a:rPr lang="vi-VN" dirty="0"/>
              <a:t>Chú ý quan trọng: sử dụng công nghệ, phương pháp và phương tiện truyền thông thích hợp, và báo cáo thực hiện...</a:t>
            </a:r>
            <a:endParaRPr lang="en-US" dirty="0"/>
          </a:p>
        </p:txBody>
      </p:sp>
      <p:sp>
        <p:nvSpPr>
          <p:cNvPr id="3" name="Title 2"/>
          <p:cNvSpPr>
            <a:spLocks noGrp="1"/>
          </p:cNvSpPr>
          <p:nvPr>
            <p:ph type="title"/>
          </p:nvPr>
        </p:nvSpPr>
        <p:spPr>
          <a:xfrm>
            <a:off x="457200" y="152400"/>
            <a:ext cx="8229600" cy="1143000"/>
          </a:xfrm>
        </p:spPr>
        <p:txBody>
          <a:bodyPr>
            <a:normAutofit/>
          </a:bodyPr>
          <a:lstStyle/>
          <a:p>
            <a:pPr algn="ctr"/>
            <a:r>
              <a:rPr lang="en-US" sz="4400" dirty="0">
                <a:solidFill>
                  <a:srgbClr val="FF0000"/>
                </a:solidFill>
              </a:rPr>
              <a:t>2. Quản lý </a:t>
            </a:r>
            <a:r>
              <a:rPr lang="en-US" sz="4400" dirty="0" err="1">
                <a:solidFill>
                  <a:srgbClr val="FF0000"/>
                </a:solidFill>
              </a:rPr>
              <a:t>truyền</a:t>
            </a:r>
            <a:r>
              <a:rPr lang="en-US" sz="4400" dirty="0">
                <a:solidFill>
                  <a:srgbClr val="FF0000"/>
                </a:solidFill>
              </a:rPr>
              <a:t> thông</a:t>
            </a:r>
          </a:p>
        </p:txBody>
      </p:sp>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35</a:t>
            </a:fld>
            <a:endParaRPr lang="en-US" dirty="0"/>
          </a:p>
        </p:txBody>
      </p:sp>
      <p:pic>
        <p:nvPicPr>
          <p:cNvPr id="6" name="Picture 5"/>
          <p:cNvPicPr>
            <a:picLocks noChangeAspect="1"/>
          </p:cNvPicPr>
          <p:nvPr/>
        </p:nvPicPr>
        <p:blipFill>
          <a:blip r:embed="rId2"/>
          <a:stretch>
            <a:fillRect/>
          </a:stretch>
        </p:blipFill>
        <p:spPr>
          <a:xfrm>
            <a:off x="5715000" y="4800600"/>
            <a:ext cx="2743200" cy="1631731"/>
          </a:xfrm>
          <a:prstGeom prst="rect">
            <a:avLst/>
          </a:prstGeom>
        </p:spPr>
      </p:pic>
    </p:spTree>
    <p:extLst>
      <p:ext uri="{BB962C8B-B14F-4D97-AF65-F5344CB8AC3E}">
        <p14:creationId xmlns:p14="http://schemas.microsoft.com/office/powerpoint/2010/main" val="428865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24000"/>
            <a:ext cx="8229600" cy="3776662"/>
          </a:xfrm>
        </p:spPr>
        <p:txBody>
          <a:bodyPr/>
          <a:lstStyle/>
          <a:p>
            <a:pPr algn="just">
              <a:spcBef>
                <a:spcPts val="1200"/>
              </a:spcBef>
              <a:spcAft>
                <a:spcPts val="1800"/>
              </a:spcAft>
            </a:pPr>
            <a:r>
              <a:rPr lang="vi-VN" dirty="0"/>
              <a:t>Công nghệ rất thuận lợi cho quá trình tạo và phân phối thông tin, khi được sử dụng đúng cách.</a:t>
            </a:r>
          </a:p>
          <a:p>
            <a:pPr algn="just">
              <a:spcBef>
                <a:spcPts val="1200"/>
              </a:spcBef>
              <a:spcAft>
                <a:spcPts val="1800"/>
              </a:spcAft>
            </a:pPr>
            <a:r>
              <a:rPr lang="vi-VN" dirty="0"/>
              <a:t>Điều quan trọng là chọn phương pháp truyền thông phù hợp và phương tiện truyền thông...</a:t>
            </a:r>
            <a:endParaRPr lang="en-US" dirty="0"/>
          </a:p>
        </p:txBody>
      </p:sp>
      <p:sp>
        <p:nvSpPr>
          <p:cNvPr id="3" name="Title 2"/>
          <p:cNvSpPr>
            <a:spLocks noGrp="1"/>
          </p:cNvSpPr>
          <p:nvPr>
            <p:ph type="title"/>
          </p:nvPr>
        </p:nvSpPr>
        <p:spPr/>
        <p:txBody>
          <a:bodyPr>
            <a:normAutofit/>
          </a:bodyPr>
          <a:lstStyle/>
          <a:p>
            <a:pPr algn="ctr"/>
            <a:r>
              <a:rPr lang="en-US" sz="4000" dirty="0" err="1"/>
              <a:t>Tạo</a:t>
            </a:r>
            <a:r>
              <a:rPr lang="en-US" sz="4000" dirty="0"/>
              <a:t> và </a:t>
            </a:r>
            <a:r>
              <a:rPr lang="en-US" sz="4000" dirty="0" err="1"/>
              <a:t>phân</a:t>
            </a:r>
            <a:r>
              <a:rPr lang="en-US" sz="4000" dirty="0"/>
              <a:t> </a:t>
            </a:r>
            <a:r>
              <a:rPr lang="en-US" sz="4000" dirty="0" err="1"/>
              <a:t>phối</a:t>
            </a:r>
            <a:r>
              <a:rPr lang="en-US" sz="4000" dirty="0"/>
              <a:t> thông tin</a:t>
            </a:r>
          </a:p>
        </p:txBody>
      </p:sp>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36</a:t>
            </a:fld>
            <a:endParaRPr lang="en-US" dirty="0"/>
          </a:p>
        </p:txBody>
      </p:sp>
      <p:pic>
        <p:nvPicPr>
          <p:cNvPr id="5122" name="Picture 2" descr="http://juventic.colnodo.apc.org/apc-aa-files/16235d0c22c542a3e152ad2b152ae8f3/tecnologi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1400" y="4191000"/>
            <a:ext cx="4538599" cy="1665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8216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barn(inVertical)">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584908"/>
            <a:ext cx="8153400" cy="3200400"/>
          </a:xfrm>
          <a:solidFill>
            <a:schemeClr val="bg2">
              <a:lumMod val="90000"/>
            </a:schemeClr>
          </a:solidFill>
        </p:spPr>
        <p:txBody>
          <a:bodyPr/>
          <a:lstStyle/>
          <a:p>
            <a:pPr algn="just">
              <a:spcBef>
                <a:spcPts val="600"/>
              </a:spcBef>
              <a:spcAft>
                <a:spcPts val="600"/>
              </a:spcAft>
            </a:pPr>
            <a:r>
              <a:rPr lang="vi-VN" sz="2600" dirty="0"/>
              <a:t>Thiên tai thường phá vỡ truyền thông toàn thế giới.</a:t>
            </a:r>
          </a:p>
          <a:p>
            <a:pPr lvl="1" algn="just">
              <a:spcBef>
                <a:spcPts val="300"/>
              </a:spcBef>
              <a:spcAft>
                <a:spcPts val="600"/>
              </a:spcAft>
              <a:buFont typeface="Arial" panose="020B0604020202020204" pitchFamily="34" charset="0"/>
              <a:buChar char="•"/>
            </a:pPr>
            <a:r>
              <a:rPr lang="vi-VN" sz="2400" dirty="0"/>
              <a:t>2011: sóng thần ở Nhật gây thiệt hại nặng về hạ tầng truyền thông. NTT làm việc liên tục, để khôi phục.</a:t>
            </a:r>
          </a:p>
          <a:p>
            <a:pPr lvl="1" algn="just">
              <a:spcBef>
                <a:spcPts val="300"/>
              </a:spcBef>
              <a:spcAft>
                <a:spcPts val="600"/>
              </a:spcAft>
              <a:buFont typeface="Arial" panose="020B0604020202020204" pitchFamily="34" charset="0"/>
              <a:buChar char="•"/>
            </a:pPr>
            <a:r>
              <a:rPr lang="vi-VN" sz="2400" dirty="0"/>
              <a:t>2015: động đất ở Nê-pan, người dân phải dùng công nghệ cũ - phát thanh, để truyền thông.</a:t>
            </a:r>
          </a:p>
          <a:p>
            <a:pPr lvl="1" algn="just">
              <a:spcBef>
                <a:spcPts val="300"/>
              </a:spcBef>
              <a:spcAft>
                <a:spcPts val="600"/>
              </a:spcAft>
              <a:buFont typeface="Arial" panose="020B0604020202020204" pitchFamily="34" charset="0"/>
              <a:buChar char="•"/>
            </a:pPr>
            <a:r>
              <a:rPr lang="vi-VN" sz="2400"/>
              <a:t>2021: </a:t>
            </a:r>
            <a:r>
              <a:rPr lang="vi-VN" sz="2400" dirty="0"/>
              <a:t>Đan Mạch đang nghiên cứu thiết bị mới (</a:t>
            </a:r>
            <a:r>
              <a:rPr lang="vi-VN" sz="2400" dirty="0">
                <a:solidFill>
                  <a:srgbClr val="0070C0"/>
                </a:solidFill>
                <a:effectLst>
                  <a:outerShdw blurRad="38100" dist="38100" dir="2700000" algn="tl">
                    <a:srgbClr val="000000">
                      <a:alpha val="43137"/>
                    </a:srgbClr>
                  </a:outerShdw>
                </a:effectLst>
              </a:rPr>
              <a:t>reachi</a:t>
            </a:r>
            <a:r>
              <a:rPr lang="vi-VN" sz="2400" dirty="0"/>
              <a:t>), để hỗ trợ truyền thông khi gặp thiên tai.</a:t>
            </a:r>
            <a:endParaRPr lang="en-US" sz="2400" dirty="0"/>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37</a:t>
            </a:fld>
            <a:endParaRPr lang="en-US" dirty="0"/>
          </a:p>
        </p:txBody>
      </p:sp>
      <p:pic>
        <p:nvPicPr>
          <p:cNvPr id="1026" name="Picture 2" descr="https://www.wi-sun.org/images/member-logos/ntt_east_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4937708"/>
            <a:ext cx="2819400" cy="13106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stretch>
            <a:fillRect/>
          </a:stretch>
        </p:blipFill>
        <p:spPr>
          <a:xfrm>
            <a:off x="457200" y="457200"/>
            <a:ext cx="4562475" cy="638175"/>
          </a:xfrm>
          <a:prstGeom prst="rect">
            <a:avLst/>
          </a:prstGeom>
        </p:spPr>
      </p:pic>
    </p:spTree>
    <p:extLst>
      <p:ext uri="{BB962C8B-B14F-4D97-AF65-F5344CB8AC3E}">
        <p14:creationId xmlns:p14="http://schemas.microsoft.com/office/powerpoint/2010/main" val="3635312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barn(inVertical)">
                                      <p:cBhvr>
                                        <p:cTn id="10" dur="5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1493838"/>
            <a:ext cx="8077200" cy="4525962"/>
          </a:xfrm>
        </p:spPr>
        <p:txBody>
          <a:bodyPr/>
          <a:lstStyle/>
          <a:p>
            <a:pPr algn="just">
              <a:spcBef>
                <a:spcPts val="1200"/>
              </a:spcBef>
              <a:spcAft>
                <a:spcPts val="600"/>
              </a:spcAft>
            </a:pPr>
            <a:r>
              <a:rPr lang="vi-VN" dirty="0">
                <a:effectLst>
                  <a:outerShdw blurRad="38100" dist="38100" dir="2700000" algn="tl">
                    <a:srgbClr val="000000">
                      <a:alpha val="43137"/>
                    </a:srgbClr>
                  </a:outerShdw>
                </a:effectLst>
              </a:rPr>
              <a:t>Tương tác </a:t>
            </a:r>
            <a:r>
              <a:rPr lang="vi-VN" dirty="0"/>
              <a:t>(</a:t>
            </a:r>
            <a:r>
              <a:rPr lang="en-US" dirty="0">
                <a:solidFill>
                  <a:srgbClr val="0070C0"/>
                </a:solidFill>
              </a:rPr>
              <a:t>interactive</a:t>
            </a:r>
            <a:r>
              <a:rPr lang="vi-VN" dirty="0"/>
              <a:t>): hai hoặc nhiều người trao đổi thông tin thông qua cuộc họp, gọi điện thoại, hội nghị truyền hình...</a:t>
            </a:r>
          </a:p>
          <a:p>
            <a:pPr algn="just">
              <a:spcBef>
                <a:spcPts val="1200"/>
              </a:spcBef>
              <a:spcAft>
                <a:spcPts val="600"/>
              </a:spcAft>
            </a:pPr>
            <a:r>
              <a:rPr lang="vi-VN" dirty="0">
                <a:effectLst>
                  <a:outerShdw blurRad="38100" dist="38100" dir="2700000" algn="tl">
                    <a:srgbClr val="000000">
                      <a:alpha val="43137"/>
                    </a:srgbClr>
                  </a:outerShdw>
                </a:effectLst>
              </a:rPr>
              <a:t>Đẩy</a:t>
            </a:r>
            <a:r>
              <a:rPr lang="vi-VN" dirty="0"/>
              <a:t> (</a:t>
            </a:r>
            <a:r>
              <a:rPr lang="en-US" dirty="0">
                <a:solidFill>
                  <a:srgbClr val="0070C0"/>
                </a:solidFill>
              </a:rPr>
              <a:t>push</a:t>
            </a:r>
            <a:r>
              <a:rPr lang="vi-VN" dirty="0"/>
              <a:t>): thông tin được gửi đến người nhận mà không yêu cầu phản hồi thông qua e-mail, fax, thư thoại... </a:t>
            </a:r>
          </a:p>
          <a:p>
            <a:pPr algn="just">
              <a:spcBef>
                <a:spcPts val="1200"/>
              </a:spcBef>
              <a:spcAft>
                <a:spcPts val="600"/>
              </a:spcAft>
            </a:pPr>
            <a:r>
              <a:rPr lang="vi-VN" dirty="0">
                <a:effectLst>
                  <a:outerShdw blurRad="38100" dist="38100" dir="2700000" algn="tl">
                    <a:srgbClr val="000000">
                      <a:alpha val="43137"/>
                    </a:srgbClr>
                  </a:outerShdw>
                </a:effectLst>
              </a:rPr>
              <a:t>Kéo</a:t>
            </a:r>
            <a:r>
              <a:rPr lang="vi-VN" dirty="0"/>
              <a:t> </a:t>
            </a:r>
            <a:r>
              <a:rPr lang="en-US" dirty="0"/>
              <a:t>(</a:t>
            </a:r>
            <a:r>
              <a:rPr lang="en-US" dirty="0">
                <a:solidFill>
                  <a:srgbClr val="0070C0"/>
                </a:solidFill>
              </a:rPr>
              <a:t>pull</a:t>
            </a:r>
            <a:r>
              <a:rPr lang="vi-VN" i="1" dirty="0"/>
              <a:t>)</a:t>
            </a:r>
            <a:r>
              <a:rPr lang="vi-VN" dirty="0"/>
              <a:t>: thông tin được gửi đến người nhận theo yêu cầu thông qua bản tin, trang web, học trực tuyến, các kho kiến thức...</a:t>
            </a:r>
            <a:endParaRPr lang="en-US" dirty="0"/>
          </a:p>
        </p:txBody>
      </p:sp>
      <p:sp>
        <p:nvSpPr>
          <p:cNvPr id="3" name="Title 2"/>
          <p:cNvSpPr>
            <a:spLocks noGrp="1"/>
          </p:cNvSpPr>
          <p:nvPr>
            <p:ph type="title"/>
          </p:nvPr>
        </p:nvSpPr>
        <p:spPr>
          <a:xfrm>
            <a:off x="0" y="228600"/>
            <a:ext cx="9144000" cy="1143000"/>
          </a:xfrm>
        </p:spPr>
        <p:txBody>
          <a:bodyPr>
            <a:normAutofit/>
          </a:bodyPr>
          <a:lstStyle/>
          <a:p>
            <a:pPr algn="ctr"/>
            <a:r>
              <a:rPr lang="en-US" dirty="0" err="1"/>
              <a:t>Phân</a:t>
            </a:r>
            <a:r>
              <a:rPr lang="en-US" dirty="0"/>
              <a:t> </a:t>
            </a:r>
            <a:r>
              <a:rPr lang="en-US" dirty="0" err="1"/>
              <a:t>loại</a:t>
            </a:r>
            <a:r>
              <a:rPr lang="en-US" dirty="0"/>
              <a:t> </a:t>
            </a:r>
            <a:r>
              <a:rPr lang="en-US" dirty="0" err="1"/>
              <a:t>truyền</a:t>
            </a:r>
            <a:r>
              <a:rPr lang="en-US" dirty="0"/>
              <a:t> thông</a:t>
            </a:r>
          </a:p>
        </p:txBody>
      </p:sp>
      <p:sp>
        <p:nvSpPr>
          <p:cNvPr id="4" name="Footer Placeholder 3"/>
          <p:cNvSpPr>
            <a:spLocks noGrp="1"/>
          </p:cNvSpPr>
          <p:nvPr>
            <p:ph type="ftr" sz="quarter" idx="10"/>
          </p:nvPr>
        </p:nvSpPr>
        <p:spPr/>
        <p:txBody>
          <a:bodyPr/>
          <a:lstStyle/>
          <a:p>
            <a:pPr>
              <a:defRPr/>
            </a:pPr>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38</a:t>
            </a:fld>
            <a:endParaRPr lang="en-US" dirty="0"/>
          </a:p>
        </p:txBody>
      </p:sp>
    </p:spTree>
    <p:extLst>
      <p:ext uri="{BB962C8B-B14F-4D97-AF65-F5344CB8AC3E}">
        <p14:creationId xmlns:p14="http://schemas.microsoft.com/office/powerpoint/2010/main" val="230384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0"/>
            <a:ext cx="9144000" cy="1143000"/>
          </a:xfrm>
        </p:spPr>
        <p:txBody>
          <a:bodyPr>
            <a:noAutofit/>
          </a:bodyPr>
          <a:lstStyle/>
          <a:p>
            <a:pPr algn="ctr"/>
            <a:r>
              <a:rPr lang="en-US" sz="3600" dirty="0" err="1"/>
              <a:t>Bảng</a:t>
            </a:r>
            <a:r>
              <a:rPr lang="en-US" sz="3600" dirty="0"/>
              <a:t> </a:t>
            </a:r>
            <a:r>
              <a:rPr lang="en-US" sz="3600" dirty="0" err="1"/>
              <a:t>lựa</a:t>
            </a:r>
            <a:r>
              <a:rPr lang="en-US" sz="3600" dirty="0"/>
              <a:t> </a:t>
            </a:r>
            <a:r>
              <a:rPr lang="en-US" sz="3600" dirty="0" err="1"/>
              <a:t>chọn</a:t>
            </a:r>
            <a:r>
              <a:rPr lang="en-US" sz="3600" dirty="0"/>
              <a:t> </a:t>
            </a:r>
            <a:r>
              <a:rPr lang="en-US" sz="3600" dirty="0" err="1"/>
              <a:t>loại</a:t>
            </a:r>
            <a:r>
              <a:rPr lang="en-US" sz="3600" dirty="0"/>
              <a:t> </a:t>
            </a:r>
            <a:r>
              <a:rPr lang="en-US" sz="3600" dirty="0" err="1"/>
              <a:t>truyền</a:t>
            </a:r>
            <a:r>
              <a:rPr lang="en-US" sz="3600" dirty="0"/>
              <a:t> thông</a:t>
            </a:r>
          </a:p>
        </p:txBody>
      </p:sp>
      <p:sp>
        <p:nvSpPr>
          <p:cNvPr id="23557" name="Footer Placeholder 6"/>
          <p:cNvSpPr>
            <a:spLocks noGrp="1"/>
          </p:cNvSpPr>
          <p:nvPr>
            <p:ph type="ftr" sz="quarter" idx="10"/>
          </p:nvPr>
        </p:nvSpPr>
        <p:spPr bwMode="auto">
          <a:noFill/>
          <a:ln>
            <a:miter lim="800000"/>
            <a:headEnd/>
            <a:tailEnd/>
          </a:ln>
        </p:spPr>
        <p:txBody>
          <a:bodyPr/>
          <a:lstStyle/>
          <a:p>
            <a:pPr>
              <a:buFontTx/>
              <a:buNone/>
            </a:pPr>
            <a:r>
              <a:rPr lang="en-US"/>
              <a:t>Quản trị dự án HTTT</a:t>
            </a:r>
            <a:endParaRPr lang="en-US" dirty="0"/>
          </a:p>
        </p:txBody>
      </p:sp>
      <p:sp>
        <p:nvSpPr>
          <p:cNvPr id="6" name="Slide Number Placeholder 5"/>
          <p:cNvSpPr>
            <a:spLocks noGrp="1"/>
          </p:cNvSpPr>
          <p:nvPr>
            <p:ph type="sldNum" sz="quarter" idx="11"/>
          </p:nvPr>
        </p:nvSpPr>
        <p:spPr/>
        <p:txBody>
          <a:bodyPr/>
          <a:lstStyle/>
          <a:p>
            <a:pPr>
              <a:buFontTx/>
              <a:buNone/>
              <a:defRPr/>
            </a:pPr>
            <a:fld id="{95391B64-C9E9-4235-A033-31FD3F518CEE}" type="slidenum">
              <a:rPr lang="en-US" smtClean="0"/>
              <a:pPr>
                <a:buFontTx/>
                <a:buNone/>
                <a:defRPr/>
              </a:pPr>
              <a:t>39</a:t>
            </a:fld>
            <a:endParaRPr lang="en-US" dirty="0"/>
          </a:p>
        </p:txBody>
      </p:sp>
      <p:pic>
        <p:nvPicPr>
          <p:cNvPr id="2" name="Picture 1"/>
          <p:cNvPicPr>
            <a:picLocks noChangeAspect="1"/>
          </p:cNvPicPr>
          <p:nvPr/>
        </p:nvPicPr>
        <p:blipFill>
          <a:blip r:embed="rId2"/>
          <a:stretch>
            <a:fillRect/>
          </a:stretch>
        </p:blipFill>
        <p:spPr>
          <a:xfrm>
            <a:off x="0" y="-22654"/>
            <a:ext cx="9144000" cy="68806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5"/>
          <p:cNvSpPr>
            <a:spLocks noGrp="1"/>
          </p:cNvSpPr>
          <p:nvPr>
            <p:ph idx="1"/>
          </p:nvPr>
        </p:nvSpPr>
        <p:spPr>
          <a:xfrm>
            <a:off x="381000" y="1447800"/>
            <a:ext cx="8305800" cy="2514600"/>
          </a:xfrm>
          <a:solidFill>
            <a:schemeClr val="bg2">
              <a:lumMod val="90000"/>
            </a:schemeClr>
          </a:solidFill>
        </p:spPr>
        <p:txBody>
          <a:bodyPr/>
          <a:lstStyle/>
          <a:p>
            <a:pPr algn="just">
              <a:spcBef>
                <a:spcPts val="600"/>
              </a:spcBef>
              <a:spcAft>
                <a:spcPts val="600"/>
              </a:spcAft>
            </a:pPr>
            <a:r>
              <a:rPr lang="vi-VN" sz="2400" dirty="0"/>
              <a:t>Cộng tác là trình điều khiển chính của việc thực hiện tổng thể của các tổ chức trên thế giới.</a:t>
            </a:r>
          </a:p>
          <a:p>
            <a:pPr lvl="1" algn="just">
              <a:spcBef>
                <a:spcPts val="0"/>
              </a:spcBef>
              <a:spcAft>
                <a:spcPts val="600"/>
              </a:spcAft>
              <a:buFont typeface="Arial" panose="020B0604020202020204" pitchFamily="34" charset="0"/>
              <a:buChar char="•"/>
            </a:pPr>
            <a:r>
              <a:rPr lang="vi-VN" sz="2200" dirty="0"/>
              <a:t>3 kỹ thuật: hội nghị web, hội nghị âm thanh, họp lịch biểu.</a:t>
            </a:r>
          </a:p>
          <a:p>
            <a:pPr algn="just">
              <a:spcBef>
                <a:spcPts val="600"/>
              </a:spcBef>
              <a:spcAft>
                <a:spcPts val="600"/>
              </a:spcAft>
            </a:pPr>
            <a:r>
              <a:rPr lang="vi-VN" sz="2400" dirty="0"/>
              <a:t>Có khác biệt trong truyền thông ở các nước khác nhau.</a:t>
            </a:r>
          </a:p>
        </p:txBody>
      </p:sp>
      <p:sp>
        <p:nvSpPr>
          <p:cNvPr id="24578" name="Title 4"/>
          <p:cNvSpPr>
            <a:spLocks noGrp="1"/>
          </p:cNvSpPr>
          <p:nvPr>
            <p:ph type="title"/>
          </p:nvPr>
        </p:nvSpPr>
        <p:spPr>
          <a:xfrm>
            <a:off x="381000" y="381000"/>
            <a:ext cx="8305800" cy="715962"/>
          </a:xfrm>
        </p:spPr>
        <p:txBody>
          <a:bodyPr>
            <a:normAutofit fontScale="90000"/>
          </a:bodyPr>
          <a:lstStyle/>
          <a:p>
            <a:pPr algn="ctr"/>
            <a:r>
              <a:rPr lang="en-US" dirty="0" err="1"/>
              <a:t>Cộng</a:t>
            </a:r>
            <a:r>
              <a:rPr lang="en-US" dirty="0"/>
              <a:t> </a:t>
            </a:r>
            <a:r>
              <a:rPr lang="en-US" dirty="0" err="1"/>
              <a:t>tác</a:t>
            </a:r>
            <a:endParaRPr lang="en-US" dirty="0"/>
          </a:p>
        </p:txBody>
      </p:sp>
      <p:sp>
        <p:nvSpPr>
          <p:cNvPr id="24580" name="Footer Placeholder 2"/>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4" name="Slide Number Placeholder 3"/>
          <p:cNvSpPr>
            <a:spLocks noGrp="1"/>
          </p:cNvSpPr>
          <p:nvPr>
            <p:ph type="sldNum" sz="quarter" idx="11"/>
          </p:nvPr>
        </p:nvSpPr>
        <p:spPr/>
        <p:txBody>
          <a:bodyPr/>
          <a:lstStyle/>
          <a:p>
            <a:pPr>
              <a:defRPr/>
            </a:pPr>
            <a:fld id="{83D2BCA3-C70D-4913-A791-34F9C01C0E02}" type="slidenum">
              <a:rPr lang="en-US" smtClean="0"/>
              <a:pPr>
                <a:defRPr/>
              </a:pPr>
              <a:t>40</a:t>
            </a:fld>
            <a:endParaRPr lang="en-US" dirty="0"/>
          </a:p>
        </p:txBody>
      </p:sp>
      <p:pic>
        <p:nvPicPr>
          <p:cNvPr id="4098" name="Picture 2" descr="http://www.creativeguerrillamarketing.com/wp-content/uploads/2015/09/stock-web-conferenc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4800" y="3505200"/>
            <a:ext cx="4107179" cy="2743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barn(inVertical)">
                                      <p:cBhvr>
                                        <p:cTn id="10" dur="500"/>
                                        <p:tgtEl>
                                          <p:spTgt spid="409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a:xfrm>
            <a:off x="457200" y="1752600"/>
            <a:ext cx="8382000" cy="3505200"/>
          </a:xfrm>
        </p:spPr>
        <p:txBody>
          <a:bodyPr/>
          <a:lstStyle/>
          <a:p>
            <a:pPr algn="just">
              <a:spcBef>
                <a:spcPct val="80000"/>
              </a:spcBef>
              <a:buClr>
                <a:srgbClr val="666699"/>
              </a:buClr>
              <a:buFont typeface="Wingdings 3" panose="05040102010807070707" pitchFamily="18" charset="2"/>
              <a:buChar char="}"/>
            </a:pPr>
            <a:r>
              <a:rPr lang="vi-VN" dirty="0">
                <a:effectLst>
                  <a:outerShdw blurRad="38100" dist="38100" dir="2700000" algn="tl">
                    <a:srgbClr val="000000">
                      <a:alpha val="43137"/>
                    </a:srgbClr>
                  </a:outerShdw>
                </a:effectLst>
              </a:rPr>
              <a:t>Báo cáo thực hiện</a:t>
            </a:r>
            <a:r>
              <a:rPr lang="vi-VN" dirty="0"/>
              <a:t> </a:t>
            </a:r>
            <a:r>
              <a:rPr lang="vi-VN"/>
              <a:t>(</a:t>
            </a:r>
            <a:r>
              <a:rPr lang="vi-VN">
                <a:solidFill>
                  <a:srgbClr val="0070C0"/>
                </a:solidFill>
              </a:rPr>
              <a:t>performance report</a:t>
            </a:r>
            <a:r>
              <a:rPr lang="vi-VN" dirty="0"/>
              <a:t>): thông báo với các bên liên quan nguồn lực đang sử dụng, để đạt mục tiêu dự án.</a:t>
            </a:r>
          </a:p>
          <a:p>
            <a:pPr algn="just">
              <a:spcBef>
                <a:spcPct val="80000"/>
              </a:spcBef>
              <a:buClr>
                <a:srgbClr val="666699"/>
              </a:buClr>
              <a:buFont typeface="Wingdings 3" panose="05040102010807070707" pitchFamily="18" charset="2"/>
              <a:buChar char="}"/>
            </a:pPr>
            <a:r>
              <a:rPr lang="vi-VN" dirty="0"/>
              <a:t>Các loại báo cáo thực hiện:</a:t>
            </a:r>
          </a:p>
          <a:p>
            <a:pPr lvl="1" algn="just">
              <a:spcBef>
                <a:spcPts val="300"/>
              </a:spcBef>
              <a:spcAft>
                <a:spcPts val="300"/>
              </a:spcAft>
              <a:buClr>
                <a:srgbClr val="666699"/>
              </a:buClr>
              <a:buFont typeface="Arial" panose="020B0604020202020204" pitchFamily="34" charset="0"/>
              <a:buChar char="•"/>
            </a:pPr>
            <a:r>
              <a:rPr lang="vi-VN" dirty="0">
                <a:effectLst>
                  <a:outerShdw blurRad="38100" dist="38100" dir="2700000" algn="tl">
                    <a:srgbClr val="000000">
                      <a:alpha val="43137"/>
                    </a:srgbClr>
                  </a:outerShdw>
                </a:effectLst>
              </a:rPr>
              <a:t>Tình trạng</a:t>
            </a:r>
            <a:r>
              <a:rPr lang="vi-VN" dirty="0"/>
              <a:t> </a:t>
            </a:r>
            <a:r>
              <a:rPr lang="en-US" dirty="0"/>
              <a:t>(</a:t>
            </a:r>
            <a:r>
              <a:rPr lang="en-US" dirty="0">
                <a:solidFill>
                  <a:srgbClr val="0070C0"/>
                </a:solidFill>
              </a:rPr>
              <a:t>status</a:t>
            </a:r>
            <a:r>
              <a:rPr lang="en-US" dirty="0"/>
              <a:t>): </a:t>
            </a:r>
            <a:r>
              <a:rPr lang="vi-VN" dirty="0"/>
              <a:t>dự án thực hiện tới đâu.</a:t>
            </a:r>
          </a:p>
          <a:p>
            <a:pPr lvl="1" algn="just">
              <a:spcBef>
                <a:spcPts val="300"/>
              </a:spcBef>
              <a:spcAft>
                <a:spcPts val="300"/>
              </a:spcAft>
              <a:buClr>
                <a:srgbClr val="666699"/>
              </a:buClr>
              <a:buFont typeface="Arial" panose="020B0604020202020204" pitchFamily="34" charset="0"/>
              <a:buChar char="•"/>
            </a:pPr>
            <a:r>
              <a:rPr lang="vi-VN" dirty="0">
                <a:effectLst>
                  <a:outerShdw blurRad="38100" dist="38100" dir="2700000" algn="tl">
                    <a:srgbClr val="000000">
                      <a:alpha val="43137"/>
                    </a:srgbClr>
                  </a:outerShdw>
                </a:effectLst>
              </a:rPr>
              <a:t>Tiến độ</a:t>
            </a:r>
            <a:r>
              <a:rPr lang="en-US" dirty="0"/>
              <a:t> (</a:t>
            </a:r>
            <a:r>
              <a:rPr lang="en-US" dirty="0">
                <a:solidFill>
                  <a:srgbClr val="0070C0"/>
                </a:solidFill>
              </a:rPr>
              <a:t>progress</a:t>
            </a:r>
            <a:r>
              <a:rPr lang="vi-VN" dirty="0"/>
              <a:t>): hoàn thành được những gì.	</a:t>
            </a:r>
          </a:p>
          <a:p>
            <a:pPr lvl="1" algn="just">
              <a:spcBef>
                <a:spcPts val="300"/>
              </a:spcBef>
              <a:spcAft>
                <a:spcPts val="300"/>
              </a:spcAft>
              <a:buClr>
                <a:srgbClr val="666699"/>
              </a:buClr>
              <a:buFont typeface="Arial" panose="020B0604020202020204" pitchFamily="34" charset="0"/>
              <a:buChar char="•"/>
            </a:pPr>
            <a:r>
              <a:rPr lang="vi-VN" dirty="0">
                <a:effectLst>
                  <a:outerShdw blurRad="38100" dist="38100" dir="2700000" algn="tl">
                    <a:srgbClr val="000000">
                      <a:alpha val="43137"/>
                    </a:srgbClr>
                  </a:outerShdw>
                </a:effectLst>
              </a:rPr>
              <a:t>Dự báo</a:t>
            </a:r>
            <a:r>
              <a:rPr lang="en-US" dirty="0"/>
              <a:t> (</a:t>
            </a:r>
            <a:r>
              <a:rPr lang="en-US" dirty="0">
                <a:solidFill>
                  <a:srgbClr val="0070C0"/>
                </a:solidFill>
              </a:rPr>
              <a:t>forecast</a:t>
            </a:r>
            <a:r>
              <a:rPr lang="vi-VN" dirty="0"/>
              <a:t>): dự đoán tình trạng và tiến bộ.</a:t>
            </a:r>
            <a:endParaRPr lang="en-US" dirty="0"/>
          </a:p>
        </p:txBody>
      </p:sp>
      <p:sp>
        <p:nvSpPr>
          <p:cNvPr id="31746" name="Rectangle 2"/>
          <p:cNvSpPr>
            <a:spLocks noGrp="1" noChangeArrowheads="1"/>
          </p:cNvSpPr>
          <p:nvPr>
            <p:ph type="title"/>
          </p:nvPr>
        </p:nvSpPr>
        <p:spPr/>
        <p:txBody>
          <a:bodyPr>
            <a:normAutofit/>
          </a:bodyPr>
          <a:lstStyle/>
          <a:p>
            <a:pPr algn="ctr"/>
            <a:r>
              <a:rPr lang="en-US" sz="4000" dirty="0" err="1"/>
              <a:t>Báo</a:t>
            </a:r>
            <a:r>
              <a:rPr lang="en-US" sz="4000" dirty="0"/>
              <a:t> </a:t>
            </a:r>
            <a:r>
              <a:rPr lang="en-US" sz="4000" dirty="0" err="1"/>
              <a:t>cáo</a:t>
            </a:r>
            <a:r>
              <a:rPr lang="en-US" sz="4000" dirty="0"/>
              <a:t> </a:t>
            </a:r>
            <a:r>
              <a:rPr lang="en-US" sz="4000" dirty="0" err="1"/>
              <a:t>thực</a:t>
            </a:r>
            <a:r>
              <a:rPr lang="en-US" sz="4000" dirty="0"/>
              <a:t> </a:t>
            </a:r>
            <a:r>
              <a:rPr lang="en-US" sz="4000" dirty="0" err="1"/>
              <a:t>hiện</a:t>
            </a:r>
            <a:endParaRPr lang="en-US" sz="4000" dirty="0"/>
          </a:p>
        </p:txBody>
      </p:sp>
      <p:sp>
        <p:nvSpPr>
          <p:cNvPr id="31749"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CA2B9A5C-0C64-41FA-8381-4F909A8E042F}"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133350" y="1219200"/>
            <a:ext cx="9010650" cy="3581400"/>
          </a:xfrm>
          <a:prstGeom prst="rect">
            <a:avLst/>
          </a:prstGeom>
        </p:spPr>
      </p:pic>
      <p:sp>
        <p:nvSpPr>
          <p:cNvPr id="24581"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A4FB8A0-D8A7-49BC-9495-433B792AAC3C}" type="slidenum">
              <a:rPr lang="en-US" smtClean="0"/>
              <a:pPr>
                <a:defRPr/>
              </a:pPr>
              <a:t>42</a:t>
            </a:fld>
            <a:endParaRPr lang="en-US" dirty="0"/>
          </a:p>
        </p:txBody>
      </p:sp>
      <p:sp>
        <p:nvSpPr>
          <p:cNvPr id="7" name="Rounded Rectangle 6"/>
          <p:cNvSpPr/>
          <p:nvPr/>
        </p:nvSpPr>
        <p:spPr>
          <a:xfrm>
            <a:off x="5456522" y="3898557"/>
            <a:ext cx="2188192" cy="864205"/>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itle 1"/>
          <p:cNvSpPr>
            <a:spLocks noGrp="1"/>
          </p:cNvSpPr>
          <p:nvPr>
            <p:ph type="title"/>
          </p:nvPr>
        </p:nvSpPr>
        <p:spPr>
          <a:xfrm>
            <a:off x="381000" y="0"/>
            <a:ext cx="8305800" cy="1143000"/>
          </a:xfrm>
        </p:spPr>
        <p:txBody>
          <a:bodyPr>
            <a:noAutofit/>
          </a:bodyPr>
          <a:lstStyle/>
          <a:p>
            <a:pPr algn="ctr" eaLnBrk="1" hangingPunct="1">
              <a:defRPr/>
            </a:pPr>
            <a:r>
              <a:rPr lang="en-US" sz="4000" dirty="0">
                <a:solidFill>
                  <a:schemeClr val="bg1">
                    <a:lumMod val="65000"/>
                  </a:schemeClr>
                </a:solidFill>
              </a:rPr>
              <a:t>Quản lý </a:t>
            </a:r>
            <a:r>
              <a:rPr lang="en-US" sz="4000" dirty="0" err="1">
                <a:solidFill>
                  <a:schemeClr val="bg1">
                    <a:lumMod val="65000"/>
                  </a:schemeClr>
                </a:solidFill>
              </a:rPr>
              <a:t>truyền</a:t>
            </a:r>
            <a:r>
              <a:rPr lang="en-US" sz="4000" dirty="0">
                <a:solidFill>
                  <a:schemeClr val="bg1">
                    <a:lumMod val="65000"/>
                  </a:schemeClr>
                </a:solidFill>
              </a:rPr>
              <a:t> thông </a:t>
            </a:r>
            <a:r>
              <a:rPr lang="en-US" sz="4000" dirty="0" err="1">
                <a:solidFill>
                  <a:schemeClr val="bg1">
                    <a:lumMod val="65000"/>
                  </a:schemeClr>
                </a:solidFill>
              </a:rPr>
              <a:t>dự</a:t>
            </a:r>
            <a:r>
              <a:rPr lang="en-US" sz="4000" dirty="0">
                <a:solidFill>
                  <a:schemeClr val="bg1">
                    <a:lumMod val="65000"/>
                  </a:schemeClr>
                </a:solidFill>
              </a:rPr>
              <a:t> </a:t>
            </a:r>
            <a:r>
              <a:rPr lang="en-US" sz="4000" dirty="0" err="1">
                <a:solidFill>
                  <a:schemeClr val="bg1">
                    <a:lumMod val="65000"/>
                  </a:schemeClr>
                </a:solidFill>
              </a:rPr>
              <a:t>án</a:t>
            </a:r>
            <a:r>
              <a:rPr lang="en-US" sz="4000" dirty="0">
                <a:solidFill>
                  <a:schemeClr val="bg1">
                    <a:lumMod val="65000"/>
                  </a:schemeClr>
                </a:solidFill>
              </a:rPr>
              <a:t> [3/3]</a:t>
            </a:r>
          </a:p>
        </p:txBody>
      </p:sp>
      <p:pic>
        <p:nvPicPr>
          <p:cNvPr id="9" name="Picture 8"/>
          <p:cNvPicPr>
            <a:picLocks noChangeAspect="1"/>
          </p:cNvPicPr>
          <p:nvPr/>
        </p:nvPicPr>
        <p:blipFill>
          <a:blip r:embed="rId3"/>
          <a:stretch>
            <a:fillRect/>
          </a:stretch>
        </p:blipFill>
        <p:spPr>
          <a:xfrm>
            <a:off x="5562599" y="5410200"/>
            <a:ext cx="1322681" cy="1447800"/>
          </a:xfrm>
          <a:prstGeom prst="rect">
            <a:avLst/>
          </a:prstGeom>
        </p:spPr>
      </p:pic>
    </p:spTree>
    <p:extLst>
      <p:ext uri="{BB962C8B-B14F-4D97-AF65-F5344CB8AC3E}">
        <p14:creationId xmlns:p14="http://schemas.microsoft.com/office/powerpoint/2010/main" val="212613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7"/>
                                        </p:tgtEl>
                                      </p:cBhvr>
                                    </p:animEffect>
                                    <p:animScale>
                                      <p:cBhvr>
                                        <p:cTn id="7" dur="250" autoRev="1" fill="hold"/>
                                        <p:tgtEl>
                                          <p:spTgt spid="7"/>
                                        </p:tgtEl>
                                      </p:cBhvr>
                                      <p:by x="105000" y="105000"/>
                                    </p:animScale>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1000" y="1295400"/>
            <a:ext cx="8458200" cy="4525962"/>
          </a:xfrm>
        </p:spPr>
        <p:txBody>
          <a:bodyPr/>
          <a:lstStyle/>
          <a:p>
            <a:pPr algn="just">
              <a:spcBef>
                <a:spcPts val="600"/>
              </a:spcBef>
              <a:spcAft>
                <a:spcPts val="1200"/>
              </a:spcAft>
            </a:pPr>
            <a:r>
              <a:rPr lang="en-US" b="1" dirty="0" err="1"/>
              <a:t>Kiểm</a:t>
            </a:r>
            <a:r>
              <a:rPr lang="en-US" b="1" dirty="0"/>
              <a:t> </a:t>
            </a:r>
            <a:r>
              <a:rPr lang="en-US" b="1" dirty="0" err="1"/>
              <a:t>soát</a:t>
            </a:r>
            <a:r>
              <a:rPr lang="en-US" b="1" dirty="0"/>
              <a:t> </a:t>
            </a:r>
            <a:r>
              <a:rPr lang="en-US" b="1" dirty="0" err="1"/>
              <a:t>truyền</a:t>
            </a:r>
            <a:r>
              <a:rPr lang="en-US" b="1" dirty="0"/>
              <a:t> thông</a:t>
            </a:r>
            <a:r>
              <a:rPr lang="en-US" dirty="0"/>
              <a:t> (</a:t>
            </a:r>
            <a:r>
              <a:rPr lang="en-US" dirty="0">
                <a:solidFill>
                  <a:srgbClr val="0070C0"/>
                </a:solidFill>
              </a:rPr>
              <a:t>control communications</a:t>
            </a:r>
            <a:r>
              <a:rPr lang="en-US" dirty="0"/>
              <a:t>): </a:t>
            </a:r>
            <a:r>
              <a:rPr lang="vi-VN" dirty="0"/>
              <a:t>đảm bảo các thông tin tối ưu suốt vòng đời dự án.</a:t>
            </a:r>
          </a:p>
          <a:p>
            <a:pPr algn="just">
              <a:spcBef>
                <a:spcPts val="600"/>
              </a:spcBef>
              <a:spcAft>
                <a:spcPts val="1200"/>
              </a:spcAft>
            </a:pPr>
            <a:r>
              <a:rPr lang="vi-VN" dirty="0"/>
              <a:t>Đánh giá bằng các báo cáo, tư vấn chuyên gia, và cuộc họp - do người ngoài đội dự án thực hiện. </a:t>
            </a:r>
          </a:p>
          <a:p>
            <a:pPr algn="just">
              <a:spcBef>
                <a:spcPts val="600"/>
              </a:spcBef>
              <a:spcAft>
                <a:spcPts val="1200"/>
              </a:spcAft>
            </a:pPr>
            <a:r>
              <a:rPr lang="vi-VN" dirty="0"/>
              <a:t>Nếu có vấn đề thì phải thay đổi quy trình kế hoạch và quản lý truyền thông...</a:t>
            </a:r>
          </a:p>
          <a:p>
            <a:pPr algn="just"/>
            <a:endParaRPr lang="vi-VN" dirty="0"/>
          </a:p>
          <a:p>
            <a:pPr algn="just"/>
            <a:endParaRPr lang="vi-VN" sz="2400" dirty="0"/>
          </a:p>
        </p:txBody>
      </p:sp>
      <p:sp>
        <p:nvSpPr>
          <p:cNvPr id="3" name="Title 2"/>
          <p:cNvSpPr>
            <a:spLocks noGrp="1"/>
          </p:cNvSpPr>
          <p:nvPr>
            <p:ph type="title"/>
          </p:nvPr>
        </p:nvSpPr>
        <p:spPr>
          <a:xfrm>
            <a:off x="457200" y="76200"/>
            <a:ext cx="8229600" cy="1143000"/>
          </a:xfrm>
        </p:spPr>
        <p:txBody>
          <a:bodyPr>
            <a:normAutofit/>
          </a:bodyPr>
          <a:lstStyle/>
          <a:p>
            <a:pPr algn="ctr"/>
            <a:r>
              <a:rPr lang="en-US" sz="4400" dirty="0">
                <a:solidFill>
                  <a:srgbClr val="FF0000"/>
                </a:solidFill>
              </a:rPr>
              <a:t>3. </a:t>
            </a:r>
            <a:r>
              <a:rPr lang="en-US" sz="4400" dirty="0" err="1">
                <a:solidFill>
                  <a:srgbClr val="FF0000"/>
                </a:solidFill>
              </a:rPr>
              <a:t>Kiểm</a:t>
            </a:r>
            <a:r>
              <a:rPr lang="en-US" sz="4400" dirty="0">
                <a:solidFill>
                  <a:srgbClr val="FF0000"/>
                </a:solidFill>
              </a:rPr>
              <a:t> </a:t>
            </a:r>
            <a:r>
              <a:rPr lang="en-US" sz="4400" dirty="0" err="1">
                <a:solidFill>
                  <a:srgbClr val="FF0000"/>
                </a:solidFill>
              </a:rPr>
              <a:t>soát</a:t>
            </a:r>
            <a:r>
              <a:rPr lang="en-US" sz="4400" dirty="0">
                <a:solidFill>
                  <a:srgbClr val="FF0000"/>
                </a:solidFill>
              </a:rPr>
              <a:t> </a:t>
            </a:r>
            <a:r>
              <a:rPr lang="en-US" sz="4400" dirty="0" err="1">
                <a:solidFill>
                  <a:srgbClr val="FF0000"/>
                </a:solidFill>
              </a:rPr>
              <a:t>truyền</a:t>
            </a:r>
            <a:r>
              <a:rPr lang="en-US" sz="4400" dirty="0">
                <a:solidFill>
                  <a:srgbClr val="FF0000"/>
                </a:solidFill>
              </a:rPr>
              <a:t> thông</a:t>
            </a:r>
          </a:p>
        </p:txBody>
      </p:sp>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43</a:t>
            </a:fld>
            <a:endParaRPr lang="en-US" dirty="0"/>
          </a:p>
        </p:txBody>
      </p:sp>
      <p:pic>
        <p:nvPicPr>
          <p:cNvPr id="6" name="Picture 5"/>
          <p:cNvPicPr>
            <a:picLocks noChangeAspect="1"/>
          </p:cNvPicPr>
          <p:nvPr/>
        </p:nvPicPr>
        <p:blipFill>
          <a:blip r:embed="rId3"/>
          <a:stretch>
            <a:fillRect/>
          </a:stretch>
        </p:blipFill>
        <p:spPr>
          <a:xfrm>
            <a:off x="5943600" y="4274912"/>
            <a:ext cx="2269852" cy="2040164"/>
          </a:xfrm>
          <a:prstGeom prst="rect">
            <a:avLst/>
          </a:prstGeom>
        </p:spPr>
      </p:pic>
    </p:spTree>
    <p:extLst>
      <p:ext uri="{BB962C8B-B14F-4D97-AF65-F5344CB8AC3E}">
        <p14:creationId xmlns:p14="http://schemas.microsoft.com/office/powerpoint/2010/main" val="129820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609600" y="1752600"/>
            <a:ext cx="8077200" cy="3581400"/>
          </a:xfrm>
        </p:spPr>
        <p:txBody>
          <a:bodyPr/>
          <a:lstStyle/>
          <a:p>
            <a:pPr>
              <a:spcBef>
                <a:spcPct val="100000"/>
              </a:spcBef>
              <a:buClr>
                <a:srgbClr val="666699"/>
              </a:buClr>
            </a:pPr>
            <a:r>
              <a:rPr lang="vi-VN" dirty="0"/>
              <a:t>Phát triển kỹ năng giao tiếp tốt hơn.</a:t>
            </a:r>
          </a:p>
          <a:p>
            <a:pPr>
              <a:spcBef>
                <a:spcPct val="100000"/>
              </a:spcBef>
              <a:buClr>
                <a:srgbClr val="666699"/>
              </a:buClr>
            </a:pPr>
            <a:r>
              <a:rPr lang="vi-VN" dirty="0"/>
              <a:t>Thực hiện các cuộc họp thực hiện.</a:t>
            </a:r>
          </a:p>
          <a:p>
            <a:pPr>
              <a:spcBef>
                <a:spcPct val="100000"/>
              </a:spcBef>
              <a:buClr>
                <a:srgbClr val="666699"/>
              </a:buClr>
            </a:pPr>
            <a:r>
              <a:rPr lang="vi-VN" dirty="0"/>
              <a:t>Sử dụng e-mail và các công nghệ khác hiệu quả.</a:t>
            </a:r>
          </a:p>
          <a:p>
            <a:pPr>
              <a:spcBef>
                <a:spcPct val="100000"/>
              </a:spcBef>
              <a:buClr>
                <a:srgbClr val="666699"/>
              </a:buClr>
            </a:pPr>
            <a:r>
              <a:rPr lang="vi-VN" dirty="0"/>
              <a:t>Sử dụng các mẫu biểu cho truyền thông dự án.</a:t>
            </a:r>
            <a:endParaRPr lang="en-US" dirty="0"/>
          </a:p>
        </p:txBody>
      </p:sp>
      <p:sp>
        <p:nvSpPr>
          <p:cNvPr id="35842" name="Rectangle 2"/>
          <p:cNvSpPr>
            <a:spLocks noGrp="1" noChangeArrowheads="1"/>
          </p:cNvSpPr>
          <p:nvPr>
            <p:ph type="title"/>
          </p:nvPr>
        </p:nvSpPr>
        <p:spPr/>
        <p:txBody>
          <a:bodyPr>
            <a:normAutofit/>
          </a:bodyPr>
          <a:lstStyle/>
          <a:p>
            <a:pPr algn="ctr"/>
            <a:r>
              <a:rPr lang="en-US" sz="4000" dirty="0" err="1"/>
              <a:t>Cải</a:t>
            </a:r>
            <a:r>
              <a:rPr lang="en-US" sz="4000" dirty="0"/>
              <a:t> </a:t>
            </a:r>
            <a:r>
              <a:rPr lang="en-US" sz="4000" dirty="0" err="1"/>
              <a:t>thiện</a:t>
            </a:r>
            <a:r>
              <a:rPr lang="en-US" sz="4000" dirty="0"/>
              <a:t> </a:t>
            </a:r>
            <a:r>
              <a:rPr lang="en-US" sz="4000" dirty="0" err="1"/>
              <a:t>truyền</a:t>
            </a:r>
            <a:r>
              <a:rPr lang="en-US" sz="4000" dirty="0"/>
              <a:t> thông </a:t>
            </a:r>
            <a:r>
              <a:rPr lang="en-US" sz="4000" dirty="0" err="1"/>
              <a:t>dự</a:t>
            </a:r>
            <a:r>
              <a:rPr lang="en-US" sz="4000" dirty="0"/>
              <a:t> </a:t>
            </a:r>
            <a:r>
              <a:rPr lang="en-US" sz="4000" dirty="0" err="1"/>
              <a:t>án</a:t>
            </a:r>
            <a:endParaRPr lang="en-US" sz="4000" dirty="0"/>
          </a:p>
        </p:txBody>
      </p:sp>
      <p:sp>
        <p:nvSpPr>
          <p:cNvPr id="35845"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25BA7D44-575A-473D-AB4F-693D9AC55880}" type="slidenum">
              <a:rPr lang="en-US" smtClean="0"/>
              <a:pPr>
                <a:defRPr/>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1"/>
          </p:nvPr>
        </p:nvSpPr>
        <p:spPr>
          <a:xfrm>
            <a:off x="228600" y="1600200"/>
            <a:ext cx="8610600" cy="4572000"/>
          </a:xfrm>
        </p:spPr>
        <p:txBody>
          <a:bodyPr/>
          <a:lstStyle/>
          <a:p>
            <a:pPr algn="just">
              <a:spcBef>
                <a:spcPts val="1200"/>
              </a:spcBef>
              <a:spcAft>
                <a:spcPts val="600"/>
              </a:spcAft>
            </a:pPr>
            <a:r>
              <a:rPr lang="vi-VN" dirty="0"/>
              <a:t>Các tổ chức chi tiêu rất nhiều tiền vào đào tạo kỹ thuật, trong đó có truyền thông.</a:t>
            </a:r>
          </a:p>
          <a:p>
            <a:pPr algn="just">
              <a:spcBef>
                <a:spcPts val="1200"/>
              </a:spcBef>
              <a:spcAft>
                <a:spcPts val="600"/>
              </a:spcAft>
            </a:pPr>
            <a:r>
              <a:rPr lang="vi-VN" dirty="0"/>
              <a:t>Nhân viên cũng có thể tự nguyện đi học về công nghệ mới nhất, để phát triển kỹ năng mềm.</a:t>
            </a:r>
          </a:p>
          <a:p>
            <a:pPr algn="just">
              <a:spcBef>
                <a:spcPts val="1200"/>
              </a:spcBef>
              <a:spcAft>
                <a:spcPts val="600"/>
              </a:spcAft>
            </a:pPr>
            <a:r>
              <a:rPr lang="vi-VN" dirty="0"/>
              <a:t>Toàn cầu hóa, các tổ chức phải cải thiện truyền thông với nhiều quốc gia và nền văn hóa khác.</a:t>
            </a:r>
          </a:p>
          <a:p>
            <a:pPr algn="just">
              <a:spcBef>
                <a:spcPts val="1200"/>
              </a:spcBef>
              <a:spcAft>
                <a:spcPts val="600"/>
              </a:spcAft>
            </a:pPr>
            <a:r>
              <a:rPr lang="vi-VN" dirty="0"/>
              <a:t>Phải có khả năng lãnh đạo để cải thiện truyền thông.</a:t>
            </a:r>
            <a:endParaRPr lang="en-US" dirty="0"/>
          </a:p>
        </p:txBody>
      </p:sp>
      <p:sp>
        <p:nvSpPr>
          <p:cNvPr id="38914" name="Rectangle 2"/>
          <p:cNvSpPr>
            <a:spLocks noGrp="1" noChangeArrowheads="1"/>
          </p:cNvSpPr>
          <p:nvPr>
            <p:ph type="title"/>
          </p:nvPr>
        </p:nvSpPr>
        <p:spPr>
          <a:xfrm>
            <a:off x="228600" y="228600"/>
            <a:ext cx="8686800" cy="1219200"/>
          </a:xfrm>
        </p:spPr>
        <p:txBody>
          <a:bodyPr>
            <a:normAutofit/>
          </a:bodyPr>
          <a:lstStyle/>
          <a:p>
            <a:pPr algn="ctr"/>
            <a:r>
              <a:rPr lang="en-US" sz="4000" dirty="0"/>
              <a:t>Phát triển </a:t>
            </a:r>
            <a:r>
              <a:rPr lang="en-US" sz="4000" dirty="0" err="1"/>
              <a:t>kỹ</a:t>
            </a:r>
            <a:r>
              <a:rPr lang="en-US" sz="4000" dirty="0"/>
              <a:t> </a:t>
            </a:r>
            <a:r>
              <a:rPr lang="en-US" sz="4000" dirty="0" err="1"/>
              <a:t>năng</a:t>
            </a:r>
            <a:r>
              <a:rPr lang="en-US" sz="4000" dirty="0"/>
              <a:t> </a:t>
            </a:r>
            <a:r>
              <a:rPr lang="en-US" sz="4000" dirty="0" err="1"/>
              <a:t>truyền</a:t>
            </a:r>
            <a:r>
              <a:rPr lang="en-US" sz="4000" dirty="0"/>
              <a:t> thông</a:t>
            </a:r>
          </a:p>
        </p:txBody>
      </p:sp>
      <p:sp>
        <p:nvSpPr>
          <p:cNvPr id="38917"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03421E75-015D-49C3-B778-9A793BB407F7}" type="slidenum">
              <a:rPr lang="en-US" smtClean="0"/>
              <a:pPr>
                <a:defRPr/>
              </a:pPr>
              <a:t>45</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9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Content Placeholder 2"/>
          <p:cNvSpPr>
            <a:spLocks noGrp="1"/>
          </p:cNvSpPr>
          <p:nvPr>
            <p:ph idx="1"/>
          </p:nvPr>
        </p:nvSpPr>
        <p:spPr>
          <a:xfrm>
            <a:off x="762000" y="1437417"/>
            <a:ext cx="7772400" cy="3429000"/>
          </a:xfrm>
          <a:solidFill>
            <a:schemeClr val="bg2"/>
          </a:solidFill>
        </p:spPr>
        <p:txBody>
          <a:bodyPr/>
          <a:lstStyle/>
          <a:p>
            <a:pPr algn="just">
              <a:spcBef>
                <a:spcPts val="1200"/>
              </a:spcBef>
              <a:spcAft>
                <a:spcPts val="1200"/>
              </a:spcAft>
            </a:pPr>
            <a:r>
              <a:rPr lang="vi-VN" sz="2400" b="1" dirty="0">
                <a:solidFill>
                  <a:srgbClr val="FF0000"/>
                </a:solidFill>
              </a:rPr>
              <a:t>93</a:t>
            </a:r>
            <a:r>
              <a:rPr lang="vi-VN" sz="2400" dirty="0">
                <a:solidFill>
                  <a:srgbClr val="FF0000"/>
                </a:solidFill>
              </a:rPr>
              <a:t>% </a:t>
            </a:r>
            <a:r>
              <a:rPr lang="vi-VN" sz="2400" dirty="0"/>
              <a:t>nhà tuyển dụng kiểm tra hồ sơ mạng xã hội của các nhân viên tiềm năng.</a:t>
            </a:r>
          </a:p>
          <a:p>
            <a:pPr algn="just">
              <a:spcBef>
                <a:spcPts val="600"/>
              </a:spcBef>
            </a:pPr>
            <a:r>
              <a:rPr lang="vi-VN" sz="2400" dirty="0"/>
              <a:t>Các sai lầm về truyền thông xã hội:</a:t>
            </a:r>
          </a:p>
          <a:p>
            <a:pPr lvl="1" algn="just">
              <a:spcBef>
                <a:spcPts val="300"/>
              </a:spcBef>
              <a:buFont typeface="Arial" panose="020B0604020202020204" pitchFamily="34" charset="0"/>
              <a:buChar char="•"/>
            </a:pPr>
            <a:r>
              <a:rPr lang="vi-VN" sz="2200" dirty="0"/>
              <a:t>Đăng nội dung xấu trên Facebook, Twitter... </a:t>
            </a:r>
          </a:p>
          <a:p>
            <a:pPr lvl="1" algn="just">
              <a:spcBef>
                <a:spcPts val="300"/>
              </a:spcBef>
              <a:buFont typeface="Arial" panose="020B0604020202020204" pitchFamily="34" charset="0"/>
              <a:buChar char="•"/>
            </a:pPr>
            <a:r>
              <a:rPr lang="vi-VN" sz="2200" dirty="0"/>
              <a:t>Tiết lộ bí mật công ty</a:t>
            </a:r>
          </a:p>
          <a:p>
            <a:pPr lvl="1" algn="just">
              <a:spcBef>
                <a:spcPts val="300"/>
              </a:spcBef>
              <a:buFont typeface="Arial" panose="020B0604020202020204" pitchFamily="34" charset="0"/>
              <a:buChar char="•"/>
            </a:pPr>
            <a:r>
              <a:rPr lang="vi-VN" sz="2200" dirty="0"/>
              <a:t>Tạo chuyện hài về sếp hoặc đội/nhóm</a:t>
            </a:r>
          </a:p>
          <a:p>
            <a:pPr lvl="1" algn="just">
              <a:spcBef>
                <a:spcPts val="300"/>
              </a:spcBef>
              <a:buFont typeface="Arial" panose="020B0604020202020204" pitchFamily="34" charset="0"/>
              <a:buChar char="•"/>
            </a:pPr>
            <a:r>
              <a:rPr lang="vi-VN" sz="2200" dirty="0"/>
              <a:t>Đăng bài trong khi đang làm việc</a:t>
            </a:r>
          </a:p>
          <a:p>
            <a:pPr lvl="1" algn="just">
              <a:spcBef>
                <a:spcPts val="300"/>
              </a:spcBef>
              <a:buFont typeface="Arial" panose="020B0604020202020204" pitchFamily="34" charset="0"/>
              <a:buChar char="•"/>
            </a:pPr>
            <a:r>
              <a:rPr lang="vi-VN" sz="2200" dirty="0"/>
              <a:t>Vấn đề về tình dục.</a:t>
            </a:r>
          </a:p>
          <a:p>
            <a:pPr lvl="1" algn="just"/>
            <a:endParaRPr lang="vi-VN" sz="2000" dirty="0"/>
          </a:p>
          <a:p>
            <a:pPr algn="just"/>
            <a:endParaRPr lang="en-US" sz="2400" dirty="0"/>
          </a:p>
        </p:txBody>
      </p:sp>
      <p:sp>
        <p:nvSpPr>
          <p:cNvPr id="39938" name="Title 1"/>
          <p:cNvSpPr>
            <a:spLocks noGrp="1"/>
          </p:cNvSpPr>
          <p:nvPr>
            <p:ph type="title"/>
          </p:nvPr>
        </p:nvSpPr>
        <p:spPr>
          <a:xfrm>
            <a:off x="381000" y="381000"/>
            <a:ext cx="8305800" cy="563562"/>
          </a:xfrm>
        </p:spPr>
        <p:txBody>
          <a:bodyPr>
            <a:normAutofit fontScale="90000"/>
          </a:bodyPr>
          <a:lstStyle/>
          <a:p>
            <a:pPr algn="ctr"/>
            <a:r>
              <a:rPr lang="en-US" dirty="0" err="1"/>
              <a:t>Truyền</a:t>
            </a:r>
            <a:r>
              <a:rPr lang="en-US" dirty="0"/>
              <a:t> thông </a:t>
            </a:r>
            <a:r>
              <a:rPr lang="en-US" dirty="0" err="1"/>
              <a:t>xã</a:t>
            </a:r>
            <a:r>
              <a:rPr lang="en-US" dirty="0"/>
              <a:t> </a:t>
            </a:r>
            <a:r>
              <a:rPr lang="en-US" dirty="0" err="1"/>
              <a:t>hội</a:t>
            </a:r>
            <a:endParaRPr lang="en-US" dirty="0"/>
          </a:p>
        </p:txBody>
      </p:sp>
      <p:sp>
        <p:nvSpPr>
          <p:cNvPr id="39940" name="Footer Placeholder 3"/>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753D210F-61F1-4EA1-9766-D6C154FC1179}" type="slidenum">
              <a:rPr lang="en-US" smtClean="0"/>
              <a:pPr>
                <a:defRPr/>
              </a:pPr>
              <a:t>46</a:t>
            </a:fld>
            <a:endParaRPr lang="en-US" dirty="0"/>
          </a:p>
        </p:txBody>
      </p:sp>
      <p:pic>
        <p:nvPicPr>
          <p:cNvPr id="9" name="Picture 4" descr="http://www.lesbiana.es/wp-content/uploads/2016/03/facebook-twitter-lesbian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4333017"/>
            <a:ext cx="3581400" cy="20677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3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93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3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93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93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939">
                                            <p:txEl>
                                              <p:pRg st="6" end="6"/>
                                            </p:txEl>
                                          </p:spTgt>
                                        </p:tgtEl>
                                        <p:attrNameLst>
                                          <p:attrName>style.visibility</p:attrName>
                                        </p:attrNameLst>
                                      </p:cBhvr>
                                      <p:to>
                                        <p:strVal val="visible"/>
                                      </p:to>
                                    </p:set>
                                  </p:childTnLst>
                                </p:cTn>
                              </p:par>
                            </p:childTnLst>
                          </p:cTn>
                        </p:par>
                        <p:par>
                          <p:cTn id="21" fill="hold">
                            <p:stCondLst>
                              <p:cond delay="0"/>
                            </p:stCondLst>
                            <p:childTnLst>
                              <p:par>
                                <p:cTn id="22" presetID="16" presetClass="entr" presetSubtype="21"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inVertical)">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0F87C6-586C-46BA-90B9-0E9B55AC14C9}"/>
              </a:ext>
            </a:extLst>
          </p:cNvPr>
          <p:cNvSpPr txBox="1"/>
          <p:nvPr/>
        </p:nvSpPr>
        <p:spPr>
          <a:xfrm rot="21360637">
            <a:off x="3183105" y="804000"/>
            <a:ext cx="4487673" cy="954107"/>
          </a:xfrm>
          <a:prstGeom prst="rect">
            <a:avLst/>
          </a:prstGeom>
          <a:solidFill>
            <a:schemeClr val="accent4">
              <a:lumMod val="40000"/>
              <a:lumOff val="60000"/>
            </a:schemeClr>
          </a:solidFill>
        </p:spPr>
        <p:txBody>
          <a:bodyPr wrap="square" rtlCol="0">
            <a:spAutoFit/>
          </a:bodyPr>
          <a:lstStyle/>
          <a:p>
            <a:pPr algn="ctr"/>
            <a:r>
              <a:rPr lang="en-US" sz="2800"/>
              <a:t>Trứng gà chữa đ</a:t>
            </a:r>
            <a:r>
              <a:rPr lang="vi-VN" sz="2800"/>
              <a:t>ư</a:t>
            </a:r>
            <a:r>
              <a:rPr lang="en-US" sz="2800"/>
              <a:t>ợc covid ở Ba Tơ - Quảng Ngãi</a:t>
            </a:r>
          </a:p>
        </p:txBody>
      </p:sp>
      <p:pic>
        <p:nvPicPr>
          <p:cNvPr id="3" name="Picture 2" descr="Bác bỏ thông tin nam sinh 22 tuổi mắc COVID-19 tử vong tại TP.HCM - Ảnh 3.">
            <a:extLst>
              <a:ext uri="{FF2B5EF4-FFF2-40B4-BE49-F238E27FC236}">
                <a16:creationId xmlns:a16="http://schemas.microsoft.com/office/drawing/2014/main" id="{2F4D63A1-36C9-400C-A573-A194A7BB9C9E}"/>
              </a:ext>
            </a:extLst>
          </p:cNvPr>
          <p:cNvPicPr>
            <a:picLocks noChangeAspect="1" noChangeArrowheads="1"/>
          </p:cNvPicPr>
          <p:nvPr/>
        </p:nvPicPr>
        <p:blipFill rotWithShape="1">
          <a:blip r:embed="rId3">
            <a:duotone>
              <a:prstClr val="black"/>
              <a:schemeClr val="accent1">
                <a:tint val="45000"/>
                <a:satMod val="400000"/>
              </a:schemeClr>
            </a:duotone>
            <a:extLst>
              <a:ext uri="{28A0092B-C50C-407E-A947-70E740481C1C}">
                <a14:useLocalDpi xmlns:a14="http://schemas.microsoft.com/office/drawing/2010/main" val="0"/>
              </a:ext>
            </a:extLst>
          </a:blip>
          <a:srcRect b="48783"/>
          <a:stretch/>
        </p:blipFill>
        <p:spPr bwMode="auto">
          <a:xfrm rot="797351">
            <a:off x="451857" y="1642984"/>
            <a:ext cx="4645462" cy="3409114"/>
          </a:xfrm>
          <a:prstGeom prst="rect">
            <a:avLst/>
          </a:prstGeom>
          <a:noFill/>
          <a:extLst>
            <a:ext uri="{909E8E84-426E-40DD-AFC4-6F175D3DCCD1}">
              <a14:hiddenFill xmlns:a14="http://schemas.microsoft.com/office/drawing/2010/main">
                <a:solidFill>
                  <a:srgbClr val="FFFFFF"/>
                </a:solidFill>
              </a14:hiddenFill>
            </a:ext>
          </a:extLst>
        </p:spPr>
      </p:pic>
      <p:sp>
        <p:nvSpPr>
          <p:cNvPr id="39940" name="Footer Placeholder 3"/>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753D210F-61F1-4EA1-9766-D6C154FC1179}" type="slidenum">
              <a:rPr lang="en-US" smtClean="0"/>
              <a:pPr>
                <a:defRPr/>
              </a:pPr>
              <a:t>47</a:t>
            </a:fld>
            <a:endParaRPr lang="en-US" dirty="0"/>
          </a:p>
        </p:txBody>
      </p:sp>
      <p:pic>
        <p:nvPicPr>
          <p:cNvPr id="1028" name="Picture 4">
            <a:extLst>
              <a:ext uri="{FF2B5EF4-FFF2-40B4-BE49-F238E27FC236}">
                <a16:creationId xmlns:a16="http://schemas.microsoft.com/office/drawing/2014/main" id="{2A80AF22-5E4D-4EE0-9A26-B5EDFE7CDEE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26" t="30861" r="35937" b="17464"/>
          <a:stretch/>
        </p:blipFill>
        <p:spPr bwMode="auto">
          <a:xfrm rot="21014272">
            <a:off x="4598315" y="2274744"/>
            <a:ext cx="4150980" cy="2971801"/>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14">
            <a:extLst>
              <a:ext uri="{FF2B5EF4-FFF2-40B4-BE49-F238E27FC236}">
                <a16:creationId xmlns:a16="http://schemas.microsoft.com/office/drawing/2014/main" id="{DC368E7B-CB94-4B55-8780-49DFA9D0E63E}"/>
              </a:ext>
            </a:extLst>
          </p:cNvPr>
          <p:cNvCxnSpPr>
            <a:cxnSpLocks/>
          </p:cNvCxnSpPr>
          <p:nvPr/>
        </p:nvCxnSpPr>
        <p:spPr>
          <a:xfrm>
            <a:off x="4386361" y="872475"/>
            <a:ext cx="826908" cy="973963"/>
          </a:xfrm>
          <a:prstGeom prst="line">
            <a:avLst/>
          </a:prstGeom>
          <a:ln w="57150">
            <a:solidFill>
              <a:schemeClr val="accent4"/>
            </a:solidFill>
          </a:ln>
        </p:spPr>
        <p:style>
          <a:lnRef idx="1">
            <a:schemeClr val="accent2"/>
          </a:lnRef>
          <a:fillRef idx="0">
            <a:schemeClr val="accent2"/>
          </a:fillRef>
          <a:effectRef idx="0">
            <a:schemeClr val="accent2"/>
          </a:effectRef>
          <a:fontRef idx="minor">
            <a:schemeClr val="tx1"/>
          </a:fontRef>
        </p:style>
      </p:cxnSp>
      <p:cxnSp>
        <p:nvCxnSpPr>
          <p:cNvPr id="18" name="Straight Connector 17">
            <a:extLst>
              <a:ext uri="{FF2B5EF4-FFF2-40B4-BE49-F238E27FC236}">
                <a16:creationId xmlns:a16="http://schemas.microsoft.com/office/drawing/2014/main" id="{F036FDB9-734F-49A9-B8E3-2D3B20DFBACC}"/>
              </a:ext>
            </a:extLst>
          </p:cNvPr>
          <p:cNvCxnSpPr>
            <a:cxnSpLocks/>
          </p:cNvCxnSpPr>
          <p:nvPr/>
        </p:nvCxnSpPr>
        <p:spPr>
          <a:xfrm flipH="1">
            <a:off x="4267200" y="805855"/>
            <a:ext cx="1065231" cy="973963"/>
          </a:xfrm>
          <a:prstGeom prst="line">
            <a:avLst/>
          </a:prstGeom>
          <a:ln w="57150">
            <a:solidFill>
              <a:schemeClr val="accent4"/>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525475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1"/>
          </p:nvPr>
        </p:nvSpPr>
        <p:spPr>
          <a:xfrm>
            <a:off x="685800" y="1295400"/>
            <a:ext cx="8001000" cy="4525962"/>
          </a:xfrm>
        </p:spPr>
        <p:txBody>
          <a:bodyPr/>
          <a:lstStyle/>
          <a:p>
            <a:pPr>
              <a:spcBef>
                <a:spcPts val="600"/>
              </a:spcBef>
              <a:spcAft>
                <a:spcPts val="600"/>
              </a:spcAft>
              <a:buClr>
                <a:srgbClr val="666699"/>
              </a:buClr>
            </a:pPr>
            <a:r>
              <a:rPr lang="vi-VN" dirty="0"/>
              <a:t>Chỉ họp khi thực sự cần thiết.</a:t>
            </a:r>
          </a:p>
          <a:p>
            <a:pPr>
              <a:spcBef>
                <a:spcPts val="600"/>
              </a:spcBef>
              <a:spcAft>
                <a:spcPts val="600"/>
              </a:spcAft>
              <a:buClr>
                <a:srgbClr val="666699"/>
              </a:buClr>
            </a:pPr>
            <a:r>
              <a:rPr lang="vi-VN" dirty="0"/>
              <a:t>Xác định mục đích và kết quả dự kiến cuộc họp.</a:t>
            </a:r>
          </a:p>
          <a:p>
            <a:pPr>
              <a:spcBef>
                <a:spcPts val="600"/>
              </a:spcBef>
              <a:spcAft>
                <a:spcPts val="600"/>
              </a:spcAft>
              <a:buClr>
                <a:srgbClr val="666699"/>
              </a:buClr>
            </a:pPr>
            <a:r>
              <a:rPr lang="vi-VN" dirty="0"/>
              <a:t>Xác định thành phần tham dự cuộc họp.</a:t>
            </a:r>
          </a:p>
          <a:p>
            <a:pPr>
              <a:spcBef>
                <a:spcPts val="600"/>
              </a:spcBef>
              <a:spcAft>
                <a:spcPts val="600"/>
              </a:spcAft>
              <a:buClr>
                <a:srgbClr val="666699"/>
              </a:buClr>
            </a:pPr>
            <a:r>
              <a:rPr lang="vi-VN" dirty="0"/>
              <a:t>Cung cấp chương trình nghị sự trước khi họp.</a:t>
            </a:r>
          </a:p>
          <a:p>
            <a:pPr>
              <a:spcBef>
                <a:spcPts val="600"/>
              </a:spcBef>
              <a:spcAft>
                <a:spcPts val="600"/>
              </a:spcAft>
              <a:buClr>
                <a:srgbClr val="666699"/>
              </a:buClr>
            </a:pPr>
            <a:r>
              <a:rPr lang="vi-VN" dirty="0"/>
              <a:t>Chuẩn bị tài liệu và hậu cần trước khi họp.</a:t>
            </a:r>
          </a:p>
          <a:p>
            <a:pPr>
              <a:spcBef>
                <a:spcPts val="600"/>
              </a:spcBef>
              <a:spcAft>
                <a:spcPts val="600"/>
              </a:spcAft>
              <a:buClr>
                <a:srgbClr val="666699"/>
              </a:buClr>
            </a:pPr>
            <a:r>
              <a:rPr lang="vi-VN" dirty="0"/>
              <a:t>Tổ chức cuộc họp chuyên nghiệp.</a:t>
            </a:r>
          </a:p>
          <a:p>
            <a:pPr>
              <a:spcBef>
                <a:spcPts val="600"/>
              </a:spcBef>
              <a:spcAft>
                <a:spcPts val="600"/>
              </a:spcAft>
              <a:buClr>
                <a:srgbClr val="666699"/>
              </a:buClr>
            </a:pPr>
            <a:r>
              <a:rPr lang="vi-VN" dirty="0"/>
              <a:t>Thiết lập các nguyên tắc cơ cho cuộc họp.</a:t>
            </a:r>
          </a:p>
          <a:p>
            <a:pPr>
              <a:spcBef>
                <a:spcPts val="600"/>
              </a:spcBef>
              <a:spcAft>
                <a:spcPts val="600"/>
              </a:spcAft>
              <a:buClr>
                <a:srgbClr val="666699"/>
              </a:buClr>
            </a:pPr>
            <a:r>
              <a:rPr lang="vi-VN" dirty="0"/>
              <a:t>Xây dựng các mối quan hệ...</a:t>
            </a:r>
            <a:endParaRPr lang="en-US" dirty="0"/>
          </a:p>
        </p:txBody>
      </p:sp>
      <p:sp>
        <p:nvSpPr>
          <p:cNvPr id="40962" name="Rectangle 2"/>
          <p:cNvSpPr>
            <a:spLocks noGrp="1" noChangeArrowheads="1"/>
          </p:cNvSpPr>
          <p:nvPr>
            <p:ph type="title"/>
          </p:nvPr>
        </p:nvSpPr>
        <p:spPr>
          <a:xfrm>
            <a:off x="457200" y="76200"/>
            <a:ext cx="8229600" cy="1143000"/>
          </a:xfrm>
        </p:spPr>
        <p:txBody>
          <a:bodyPr>
            <a:normAutofit/>
          </a:bodyPr>
          <a:lstStyle/>
          <a:p>
            <a:pPr algn="ctr"/>
            <a:r>
              <a:rPr lang="en-US" sz="4000" dirty="0" err="1"/>
              <a:t>Cuộc</a:t>
            </a:r>
            <a:r>
              <a:rPr lang="en-US" sz="4000" dirty="0"/>
              <a:t> </a:t>
            </a:r>
            <a:r>
              <a:rPr lang="en-US" sz="4000" dirty="0" err="1"/>
              <a:t>họp</a:t>
            </a:r>
            <a:r>
              <a:rPr lang="en-US" sz="4000" dirty="0"/>
              <a:t> </a:t>
            </a:r>
            <a:r>
              <a:rPr lang="en-US" sz="4000" dirty="0" err="1"/>
              <a:t>thực</a:t>
            </a:r>
            <a:r>
              <a:rPr lang="en-US" sz="4000" dirty="0"/>
              <a:t> </a:t>
            </a:r>
            <a:r>
              <a:rPr lang="en-US" sz="4000" dirty="0" err="1"/>
              <a:t>hiện</a:t>
            </a:r>
            <a:endParaRPr lang="en-US" sz="4000" dirty="0"/>
          </a:p>
        </p:txBody>
      </p:sp>
      <p:sp>
        <p:nvSpPr>
          <p:cNvPr id="40965"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CE8DA428-FE21-4B1B-B832-4011C6449F06}" type="slidenum">
              <a:rPr lang="en-US" smtClean="0"/>
              <a:pPr>
                <a:defRPr/>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533400" y="1295400"/>
            <a:ext cx="8153400" cy="4572000"/>
          </a:xfrm>
        </p:spPr>
        <p:txBody>
          <a:bodyPr/>
          <a:lstStyle/>
          <a:p>
            <a:pPr algn="just">
              <a:spcBef>
                <a:spcPts val="600"/>
              </a:spcBef>
              <a:spcAft>
                <a:spcPts val="1200"/>
              </a:spcAft>
              <a:buClr>
                <a:srgbClr val="666699"/>
              </a:buClr>
            </a:pPr>
            <a:r>
              <a:rPr lang="vi-VN" dirty="0"/>
              <a:t>E-mail, tin nhắn, công cụ cộng tác là các phương tiện thích hợp cho truyền thông.</a:t>
            </a:r>
          </a:p>
          <a:p>
            <a:pPr algn="just">
              <a:spcBef>
                <a:spcPts val="600"/>
              </a:spcBef>
              <a:spcAft>
                <a:spcPts val="1200"/>
              </a:spcAft>
              <a:buClr>
                <a:srgbClr val="666699"/>
              </a:buClr>
            </a:pPr>
            <a:r>
              <a:rPr lang="vi-VN" dirty="0"/>
              <a:t>Sử dụng tiêu đề có ý nghĩa, nội dung e-mail càng rõ ràng và ngắn gọn càng tốt.</a:t>
            </a:r>
          </a:p>
          <a:p>
            <a:pPr algn="just">
              <a:spcBef>
                <a:spcPts val="600"/>
              </a:spcBef>
              <a:spcAft>
                <a:spcPts val="1200"/>
              </a:spcAft>
              <a:buClr>
                <a:srgbClr val="666699"/>
              </a:buClr>
            </a:pPr>
            <a:r>
              <a:rPr lang="vi-VN" dirty="0"/>
              <a:t>Chắc chắn gửi thông tin đến đúng người nhận.</a:t>
            </a:r>
          </a:p>
          <a:p>
            <a:pPr algn="just">
              <a:buClr>
                <a:srgbClr val="666699"/>
              </a:buClr>
            </a:pPr>
            <a:r>
              <a:rPr lang="vi-VN" dirty="0"/>
              <a:t>Phân quyền đúng người, đúng chức năng với công cụ cộng tác...</a:t>
            </a:r>
          </a:p>
          <a:p>
            <a:pPr lvl="1" algn="just">
              <a:buClr>
                <a:srgbClr val="666699"/>
              </a:buClr>
              <a:buFont typeface="Arial" panose="020B0604020202020204" pitchFamily="34" charset="0"/>
              <a:buChar char="•"/>
            </a:pPr>
            <a:r>
              <a:rPr lang="vi-VN" sz="2400" dirty="0"/>
              <a:t>V.d., chỉ đọc, chỉnh sửa... </a:t>
            </a:r>
            <a:endParaRPr lang="en-US" sz="2400" dirty="0"/>
          </a:p>
        </p:txBody>
      </p:sp>
      <p:sp>
        <p:nvSpPr>
          <p:cNvPr id="41986" name="Rectangle 2"/>
          <p:cNvSpPr>
            <a:spLocks noGrp="1" noChangeArrowheads="1"/>
          </p:cNvSpPr>
          <p:nvPr>
            <p:ph type="title"/>
          </p:nvPr>
        </p:nvSpPr>
        <p:spPr>
          <a:xfrm>
            <a:off x="0" y="152400"/>
            <a:ext cx="9144000" cy="944562"/>
          </a:xfrm>
        </p:spPr>
        <p:txBody>
          <a:bodyPr>
            <a:noAutofit/>
          </a:bodyPr>
          <a:lstStyle/>
          <a:p>
            <a:pPr algn="ctr"/>
            <a:r>
              <a:rPr lang="en-US" sz="4000" dirty="0"/>
              <a:t>E-mail, tin </a:t>
            </a:r>
            <a:r>
              <a:rPr lang="en-US" sz="4000" dirty="0" err="1"/>
              <a:t>nhắn</a:t>
            </a:r>
            <a:r>
              <a:rPr lang="en-US" sz="4000" dirty="0"/>
              <a:t>, </a:t>
            </a:r>
            <a:r>
              <a:rPr lang="en-US" sz="4000" dirty="0" err="1"/>
              <a:t>công</a:t>
            </a:r>
            <a:r>
              <a:rPr lang="en-US" sz="4000" dirty="0"/>
              <a:t> </a:t>
            </a:r>
            <a:r>
              <a:rPr lang="en-US" sz="4000" dirty="0" err="1"/>
              <a:t>cụ</a:t>
            </a:r>
            <a:r>
              <a:rPr lang="en-US" sz="4000" dirty="0"/>
              <a:t> </a:t>
            </a:r>
            <a:r>
              <a:rPr lang="en-US" sz="4000" dirty="0" err="1"/>
              <a:t>cộng</a:t>
            </a:r>
            <a:r>
              <a:rPr lang="en-US" sz="4000" dirty="0"/>
              <a:t> </a:t>
            </a:r>
            <a:r>
              <a:rPr lang="en-US" sz="4000" dirty="0" err="1"/>
              <a:t>tác</a:t>
            </a:r>
            <a:endParaRPr lang="en-US" sz="4000" dirty="0"/>
          </a:p>
        </p:txBody>
      </p:sp>
      <p:sp>
        <p:nvSpPr>
          <p:cNvPr id="41989"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A78C4353-7F2B-49DB-B587-1D6E1530DCAD}" type="slidenum">
              <a:rPr lang="en-US" smtClean="0"/>
              <a:pPr>
                <a:defRPr/>
              </a:pPr>
              <a:t>49</a:t>
            </a:fld>
            <a:endParaRPr lang="en-US" dirty="0"/>
          </a:p>
        </p:txBody>
      </p:sp>
      <p:pic>
        <p:nvPicPr>
          <p:cNvPr id="6146" name="Picture 2" descr="http://action.aac.org/images/content/pagebuilder/email-icon-0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4876800"/>
            <a:ext cx="1778000" cy="1524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childTnLst>
                                </p:cTn>
                              </p:par>
                            </p:childTnLst>
                          </p:cTn>
                        </p:par>
                        <p:par>
                          <p:cTn id="7" fill="hold">
                            <p:stCondLst>
                              <p:cond delay="0"/>
                            </p:stCondLst>
                            <p:childTnLst>
                              <p:par>
                                <p:cTn id="8" presetID="10" presetClass="entr" presetSubtype="0" fill="hold" nodeType="afterEffect">
                                  <p:stCondLst>
                                    <p:cond delay="0"/>
                                  </p:stCondLst>
                                  <p:childTnLst>
                                    <p:set>
                                      <p:cBhvr>
                                        <p:cTn id="9" dur="1" fill="hold">
                                          <p:stCondLst>
                                            <p:cond delay="0"/>
                                          </p:stCondLst>
                                        </p:cTn>
                                        <p:tgtEl>
                                          <p:spTgt spid="6146"/>
                                        </p:tgtEl>
                                        <p:attrNameLst>
                                          <p:attrName>style.visibility</p:attrName>
                                        </p:attrNameLst>
                                      </p:cBhvr>
                                      <p:to>
                                        <p:strVal val="visible"/>
                                      </p:to>
                                    </p:set>
                                    <p:animEffect transition="in" filter="fade">
                                      <p:cBhvr>
                                        <p:cTn id="10" dur="500"/>
                                        <p:tgtEl>
                                          <p:spTgt spid="614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9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15240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các</a:t>
            </a:r>
            <a:r>
              <a:rPr lang="en-US" sz="3600" dirty="0"/>
              <a:t> </a:t>
            </a:r>
            <a:r>
              <a:rPr lang="en-US" sz="3600" dirty="0" err="1"/>
              <a:t>công</a:t>
            </a:r>
            <a:r>
              <a:rPr lang="en-US" sz="3600" dirty="0"/>
              <a:t> </a:t>
            </a:r>
            <a:r>
              <a:rPr lang="en-US" sz="3600" dirty="0" err="1"/>
              <a:t>cụ</a:t>
            </a:r>
            <a:r>
              <a:rPr lang="en-US" sz="3600" dirty="0"/>
              <a:t> </a:t>
            </a:r>
            <a:r>
              <a:rPr lang="en-US" sz="3600" dirty="0" err="1"/>
              <a:t>cộng</a:t>
            </a:r>
            <a:r>
              <a:rPr lang="en-US" sz="3600" dirty="0"/>
              <a:t> </a:t>
            </a:r>
            <a:r>
              <a:rPr lang="en-US" sz="3600" dirty="0" err="1"/>
              <a:t>tác</a:t>
            </a:r>
            <a:endParaRPr lang="en-US" sz="3600" dirty="0"/>
          </a:p>
        </p:txBody>
      </p:sp>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50</a:t>
            </a:fld>
            <a:endParaRPr lang="en-US" dirty="0"/>
          </a:p>
        </p:txBody>
      </p:sp>
      <p:pic>
        <p:nvPicPr>
          <p:cNvPr id="2054" name="Picture 6" descr="http://f.tqn.com/y/jobsearch/1/W/Q/u/googledoc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905000"/>
            <a:ext cx="2971800" cy="19812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https://pbs.twimg.com/media/CkIhbTPUYAEsIrj.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400" y="1066800"/>
            <a:ext cx="4267200" cy="13585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5"/>
          <a:stretch>
            <a:fillRect/>
          </a:stretch>
        </p:blipFill>
        <p:spPr>
          <a:xfrm>
            <a:off x="4225398" y="3657600"/>
            <a:ext cx="3242202" cy="1601648"/>
          </a:xfrm>
          <a:prstGeom prst="rect">
            <a:avLst/>
          </a:prstGeom>
        </p:spPr>
      </p:pic>
      <p:pic>
        <p:nvPicPr>
          <p:cNvPr id="10" name="Picture 9"/>
          <p:cNvPicPr>
            <a:picLocks noChangeAspect="1"/>
          </p:cNvPicPr>
          <p:nvPr/>
        </p:nvPicPr>
        <p:blipFill>
          <a:blip r:embed="rId6"/>
          <a:stretch>
            <a:fillRect/>
          </a:stretch>
        </p:blipFill>
        <p:spPr>
          <a:xfrm>
            <a:off x="6324600" y="5315989"/>
            <a:ext cx="2133600" cy="100861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anim calcmode="lin" valueType="num">
                                      <p:cBhvr>
                                        <p:cTn id="8" dur="500" fill="hold"/>
                                        <p:tgtEl>
                                          <p:spTgt spid="2052"/>
                                        </p:tgtEl>
                                        <p:attrNameLst>
                                          <p:attrName>ppt_x</p:attrName>
                                        </p:attrNameLst>
                                      </p:cBhvr>
                                      <p:tavLst>
                                        <p:tav tm="0">
                                          <p:val>
                                            <p:strVal val="#ppt_x"/>
                                          </p:val>
                                        </p:tav>
                                        <p:tav tm="100000">
                                          <p:val>
                                            <p:strVal val="#ppt_x"/>
                                          </p:val>
                                        </p:tav>
                                      </p:tavLst>
                                    </p:anim>
                                    <p:anim calcmode="lin" valueType="num">
                                      <p:cBhvr>
                                        <p:cTn id="9" dur="500" fill="hold"/>
                                        <p:tgtEl>
                                          <p:spTgt spid="20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054"/>
                                        </p:tgtEl>
                                        <p:attrNameLst>
                                          <p:attrName>style.visibility</p:attrName>
                                        </p:attrNameLst>
                                      </p:cBhvr>
                                      <p:to>
                                        <p:strVal val="visible"/>
                                      </p:to>
                                    </p:set>
                                    <p:animEffect transition="in" filter="fade">
                                      <p:cBhvr>
                                        <p:cTn id="14" dur="500"/>
                                        <p:tgtEl>
                                          <p:spTgt spid="2054"/>
                                        </p:tgtEl>
                                      </p:cBhvr>
                                    </p:animEffect>
                                    <p:anim calcmode="lin" valueType="num">
                                      <p:cBhvr>
                                        <p:cTn id="15" dur="500" fill="hold"/>
                                        <p:tgtEl>
                                          <p:spTgt spid="2054"/>
                                        </p:tgtEl>
                                        <p:attrNameLst>
                                          <p:attrName>ppt_x</p:attrName>
                                        </p:attrNameLst>
                                      </p:cBhvr>
                                      <p:tavLst>
                                        <p:tav tm="0">
                                          <p:val>
                                            <p:strVal val="#ppt_x"/>
                                          </p:val>
                                        </p:tav>
                                        <p:tav tm="100000">
                                          <p:val>
                                            <p:strVal val="#ppt_x"/>
                                          </p:val>
                                        </p:tav>
                                      </p:tavLst>
                                    </p:anim>
                                    <p:anim calcmode="lin" valueType="num">
                                      <p:cBhvr>
                                        <p:cTn id="16" dur="500" fill="hold"/>
                                        <p:tgtEl>
                                          <p:spTgt spid="205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anim calcmode="lin" valueType="num">
                                      <p:cBhvr>
                                        <p:cTn id="22" dur="500" fill="hold"/>
                                        <p:tgtEl>
                                          <p:spTgt spid="9"/>
                                        </p:tgtEl>
                                        <p:attrNameLst>
                                          <p:attrName>ppt_x</p:attrName>
                                        </p:attrNameLst>
                                      </p:cBhvr>
                                      <p:tavLst>
                                        <p:tav tm="0">
                                          <p:val>
                                            <p:strVal val="#ppt_x"/>
                                          </p:val>
                                        </p:tav>
                                        <p:tav tm="100000">
                                          <p:val>
                                            <p:strVal val="#ppt_x"/>
                                          </p:val>
                                        </p:tav>
                                      </p:tavLst>
                                    </p:anim>
                                    <p:anim calcmode="lin" valueType="num">
                                      <p:cBhvr>
                                        <p:cTn id="23"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anim calcmode="lin" valueType="num">
                                      <p:cBhvr>
                                        <p:cTn id="29" dur="500" fill="hold"/>
                                        <p:tgtEl>
                                          <p:spTgt spid="10"/>
                                        </p:tgtEl>
                                        <p:attrNameLst>
                                          <p:attrName>ppt_x</p:attrName>
                                        </p:attrNameLst>
                                      </p:cBhvr>
                                      <p:tavLst>
                                        <p:tav tm="0">
                                          <p:val>
                                            <p:strVal val="#ppt_x"/>
                                          </p:val>
                                        </p:tav>
                                        <p:tav tm="100000">
                                          <p:val>
                                            <p:strVal val="#ppt_x"/>
                                          </p:val>
                                        </p:tav>
                                      </p:tavLst>
                                    </p:anim>
                                    <p:anim calcmode="lin" valueType="num">
                                      <p:cBhvr>
                                        <p:cTn id="3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Kaban</a:t>
            </a:r>
            <a:endParaRPr lang="en-US" sz="3600" dirty="0"/>
          </a:p>
        </p:txBody>
      </p:sp>
      <p:sp>
        <p:nvSpPr>
          <p:cNvPr id="4" name="Footer Placeholder 3"/>
          <p:cNvSpPr>
            <a:spLocks noGrp="1"/>
          </p:cNvSpPr>
          <p:nvPr>
            <p:ph type="ftr" sz="quarter" idx="10"/>
          </p:nvPr>
        </p:nvSpPr>
        <p:spPr/>
        <p:txBody>
          <a:bodyPr/>
          <a:lstStyle/>
          <a:p>
            <a:pPr>
              <a:defRPr/>
            </a:pPr>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E7041028-70A1-4883-98CC-1414125760B5}" type="slidenum">
              <a:rPr lang="en-US" smtClean="0"/>
              <a:pPr>
                <a:defRPr/>
              </a:pPr>
              <a:t>51</a:t>
            </a:fld>
            <a:endParaRPr lang="en-US" dirty="0"/>
          </a:p>
        </p:txBody>
      </p:sp>
      <p:pic>
        <p:nvPicPr>
          <p:cNvPr id="7" name="Picture 6"/>
          <p:cNvPicPr>
            <a:picLocks noChangeAspect="1"/>
          </p:cNvPicPr>
          <p:nvPr/>
        </p:nvPicPr>
        <p:blipFill>
          <a:blip r:embed="rId2"/>
          <a:stretch>
            <a:fillRect/>
          </a:stretch>
        </p:blipFill>
        <p:spPr>
          <a:xfrm>
            <a:off x="609599" y="1143000"/>
            <a:ext cx="4267201" cy="2367830"/>
          </a:xfrm>
          <a:prstGeom prst="rect">
            <a:avLst/>
          </a:prstGeom>
        </p:spPr>
      </p:pic>
      <p:sp>
        <p:nvSpPr>
          <p:cNvPr id="8" name="Rectangle 7"/>
          <p:cNvSpPr/>
          <p:nvPr/>
        </p:nvSpPr>
        <p:spPr>
          <a:xfrm>
            <a:off x="510208" y="3623846"/>
            <a:ext cx="6096000" cy="338554"/>
          </a:xfrm>
          <a:prstGeom prst="rect">
            <a:avLst/>
          </a:prstGeom>
        </p:spPr>
        <p:txBody>
          <a:bodyPr wrap="square">
            <a:spAutoFit/>
          </a:bodyPr>
          <a:lstStyle/>
          <a:p>
            <a:r>
              <a:rPr lang="vi-VN" sz="1600" dirty="0"/>
              <a:t>Kathy Schwalbe (2015).</a:t>
            </a:r>
          </a:p>
        </p:txBody>
      </p:sp>
      <p:pic>
        <p:nvPicPr>
          <p:cNvPr id="9" name="Picture 8"/>
          <p:cNvPicPr>
            <a:picLocks noChangeAspect="1"/>
          </p:cNvPicPr>
          <p:nvPr/>
        </p:nvPicPr>
        <p:blipFill>
          <a:blip r:embed="rId3"/>
          <a:stretch>
            <a:fillRect/>
          </a:stretch>
        </p:blipFill>
        <p:spPr>
          <a:xfrm>
            <a:off x="3352800" y="3048000"/>
            <a:ext cx="5400675" cy="3400425"/>
          </a:xfrm>
          <a:prstGeom prst="rect">
            <a:avLst/>
          </a:prstGeom>
        </p:spPr>
      </p:pic>
    </p:spTree>
    <p:extLst>
      <p:ext uri="{BB962C8B-B14F-4D97-AF65-F5344CB8AC3E}">
        <p14:creationId xmlns:p14="http://schemas.microsoft.com/office/powerpoint/2010/main" val="1452199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1"/>
          </p:nvPr>
        </p:nvSpPr>
        <p:spPr>
          <a:xfrm>
            <a:off x="381000" y="1600200"/>
            <a:ext cx="8382000" cy="3962400"/>
          </a:xfrm>
        </p:spPr>
        <p:txBody>
          <a:bodyPr/>
          <a:lstStyle/>
          <a:p>
            <a:pPr algn="just">
              <a:spcBef>
                <a:spcPct val="70000"/>
              </a:spcBef>
              <a:buClr>
                <a:srgbClr val="666699"/>
              </a:buClr>
            </a:pPr>
            <a:r>
              <a:rPr lang="vi-VN" dirty="0"/>
              <a:t>Các mẫu biểu được cung cấp cho truyền thông dự án, tiết kiệm thời gian và chi phí...</a:t>
            </a:r>
          </a:p>
          <a:p>
            <a:pPr algn="just">
              <a:spcBef>
                <a:spcPct val="70000"/>
              </a:spcBef>
              <a:buClr>
                <a:srgbClr val="666699"/>
              </a:buClr>
            </a:pPr>
            <a:r>
              <a:rPr lang="vi-VN" dirty="0"/>
              <a:t>Tổ chức có thể tạo mẫu biểu riêng, được cung cấp từ tổ chức khác, hoặc từ sách giáo khoa.</a:t>
            </a:r>
          </a:p>
          <a:p>
            <a:pPr algn="just">
              <a:spcBef>
                <a:spcPct val="70000"/>
              </a:spcBef>
              <a:buClr>
                <a:srgbClr val="666699"/>
              </a:buClr>
            </a:pPr>
            <a:r>
              <a:rPr lang="vi-VN" dirty="0"/>
              <a:t>Các công ty nổi trội trong QLDA thường sử dụng rất hiệu quả các mẫu biểu.</a:t>
            </a:r>
            <a:endParaRPr lang="en-US" dirty="0"/>
          </a:p>
        </p:txBody>
      </p:sp>
      <p:sp>
        <p:nvSpPr>
          <p:cNvPr id="44034" name="Rectangle 2"/>
          <p:cNvSpPr>
            <a:spLocks noGrp="1" noChangeArrowheads="1"/>
          </p:cNvSpPr>
          <p:nvPr>
            <p:ph type="title"/>
          </p:nvPr>
        </p:nvSpPr>
        <p:spPr>
          <a:xfrm>
            <a:off x="457200" y="152400"/>
            <a:ext cx="8229600" cy="1143000"/>
          </a:xfrm>
        </p:spPr>
        <p:txBody>
          <a:bodyPr>
            <a:normAutofit/>
          </a:bodyPr>
          <a:lstStyle/>
          <a:p>
            <a:pPr algn="ctr"/>
            <a:r>
              <a:rPr lang="en-US" sz="3600" dirty="0" err="1"/>
              <a:t>Mẫu</a:t>
            </a:r>
            <a:r>
              <a:rPr lang="en-US" sz="3600" dirty="0"/>
              <a:t> </a:t>
            </a:r>
            <a:r>
              <a:rPr lang="en-US" sz="3600" dirty="0" err="1"/>
              <a:t>biểu</a:t>
            </a:r>
            <a:r>
              <a:rPr lang="en-US" sz="3600" dirty="0"/>
              <a:t> </a:t>
            </a:r>
            <a:r>
              <a:rPr lang="en-US" sz="3600" dirty="0" err="1"/>
              <a:t>cho</a:t>
            </a:r>
            <a:r>
              <a:rPr lang="en-US" sz="3600" dirty="0"/>
              <a:t> </a:t>
            </a:r>
            <a:r>
              <a:rPr lang="en-US" sz="3600" dirty="0" err="1"/>
              <a:t>truyền</a:t>
            </a:r>
            <a:r>
              <a:rPr lang="en-US" sz="3600" dirty="0"/>
              <a:t> thông </a:t>
            </a:r>
            <a:r>
              <a:rPr lang="en-US" sz="3600" dirty="0" err="1"/>
              <a:t>dự</a:t>
            </a:r>
            <a:r>
              <a:rPr lang="en-US" sz="3600" dirty="0"/>
              <a:t> </a:t>
            </a:r>
            <a:r>
              <a:rPr lang="en-US" sz="3600" dirty="0" err="1"/>
              <a:t>án</a:t>
            </a:r>
            <a:endParaRPr lang="en-US" sz="3600" dirty="0"/>
          </a:p>
        </p:txBody>
      </p:sp>
      <p:sp>
        <p:nvSpPr>
          <p:cNvPr id="44037"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FEF57902-66F0-4ADD-B262-093048E70547}"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0"/>
            <a:ext cx="91440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mẫu</a:t>
            </a:r>
            <a:r>
              <a:rPr lang="en-US" sz="3600" dirty="0"/>
              <a:t> </a:t>
            </a:r>
            <a:r>
              <a:rPr lang="en-US" sz="3600" dirty="0" err="1"/>
              <a:t>mô</a:t>
            </a:r>
            <a:r>
              <a:rPr lang="en-US" sz="3600" dirty="0"/>
              <a:t> </a:t>
            </a:r>
            <a:r>
              <a:rPr lang="en-US" sz="3600" dirty="0" err="1"/>
              <a:t>tả</a:t>
            </a:r>
            <a:r>
              <a:rPr lang="en-US" sz="3600" dirty="0"/>
              <a:t> </a:t>
            </a:r>
            <a:r>
              <a:rPr lang="en-US" sz="3600" dirty="0" err="1"/>
              <a:t>dự</a:t>
            </a:r>
            <a:r>
              <a:rPr lang="en-US" sz="3600" dirty="0"/>
              <a:t> </a:t>
            </a:r>
            <a:r>
              <a:rPr lang="en-US" sz="3600" dirty="0" err="1"/>
              <a:t>án</a:t>
            </a:r>
            <a:r>
              <a:rPr lang="en-US" sz="3600" dirty="0"/>
              <a:t> SMART D021</a:t>
            </a:r>
          </a:p>
        </p:txBody>
      </p:sp>
      <p:sp>
        <p:nvSpPr>
          <p:cNvPr id="45061" name="Footer Placeholder 6"/>
          <p:cNvSpPr>
            <a:spLocks noGrp="1"/>
          </p:cNvSpPr>
          <p:nvPr>
            <p:ph type="ftr" sz="quarter" idx="10"/>
          </p:nvPr>
        </p:nvSpPr>
        <p:spPr bwMode="auto">
          <a:noFill/>
          <a:ln>
            <a:miter lim="800000"/>
            <a:headEnd/>
            <a:tailEnd/>
          </a:ln>
        </p:spPr>
        <p:txBody>
          <a:bodyPr/>
          <a:lstStyle/>
          <a:p>
            <a:pPr>
              <a:buFontTx/>
              <a:buNone/>
            </a:pPr>
            <a:r>
              <a:rPr lang="en-US"/>
              <a:t>Quản trị dự án HTTT</a:t>
            </a:r>
            <a:endParaRPr lang="en-US" dirty="0"/>
          </a:p>
        </p:txBody>
      </p:sp>
      <p:sp>
        <p:nvSpPr>
          <p:cNvPr id="6" name="Slide Number Placeholder 5"/>
          <p:cNvSpPr>
            <a:spLocks noGrp="1"/>
          </p:cNvSpPr>
          <p:nvPr>
            <p:ph type="sldNum" sz="quarter" idx="11"/>
          </p:nvPr>
        </p:nvSpPr>
        <p:spPr/>
        <p:txBody>
          <a:bodyPr/>
          <a:lstStyle/>
          <a:p>
            <a:pPr>
              <a:buFontTx/>
              <a:buNone/>
              <a:defRPr/>
            </a:pPr>
            <a:fld id="{BEB61753-3085-4DFB-A2B2-F492B6419F58}" type="slidenum">
              <a:rPr lang="en-US" smtClean="0"/>
              <a:pPr>
                <a:buFontTx/>
                <a:buNone/>
                <a:defRPr/>
              </a:pPr>
              <a:t>53</a:t>
            </a:fld>
            <a:endParaRPr lang="en-US" dirty="0"/>
          </a:p>
        </p:txBody>
      </p:sp>
      <p:pic>
        <p:nvPicPr>
          <p:cNvPr id="2" name="Picture 1"/>
          <p:cNvPicPr>
            <a:picLocks noChangeAspect="1"/>
          </p:cNvPicPr>
          <p:nvPr/>
        </p:nvPicPr>
        <p:blipFill>
          <a:blip r:embed="rId2"/>
          <a:stretch>
            <a:fillRect/>
          </a:stretch>
        </p:blipFill>
        <p:spPr>
          <a:xfrm>
            <a:off x="0" y="16565"/>
            <a:ext cx="9131139" cy="6851374"/>
          </a:xfrm>
          <a:prstGeom prst="rect">
            <a:avLst/>
          </a:prstGeom>
        </p:spPr>
      </p:pic>
      <p:cxnSp>
        <p:nvCxnSpPr>
          <p:cNvPr id="8" name="Straight Connector 7"/>
          <p:cNvCxnSpPr/>
          <p:nvPr/>
        </p:nvCxnSpPr>
        <p:spPr>
          <a:xfrm>
            <a:off x="228600" y="838200"/>
            <a:ext cx="117307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228600" y="1524000"/>
            <a:ext cx="106643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28965" y="2209800"/>
            <a:ext cx="106643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240957" y="2590800"/>
            <a:ext cx="881351"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28600" y="3200400"/>
            <a:ext cx="1173078"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500"/>
                                  </p:stCondLst>
                                  <p:childTnLst>
                                    <p:set>
                                      <p:cBhvr>
                                        <p:cTn id="14" dur="1" fill="hold">
                                          <p:stCondLst>
                                            <p:cond delay="0"/>
                                          </p:stCondLst>
                                        </p:cTn>
                                        <p:tgtEl>
                                          <p:spTgt spid="9"/>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500"/>
                                  </p:stCondLst>
                                  <p:childTnLst>
                                    <p:set>
                                      <p:cBhvr>
                                        <p:cTn id="17" dur="1" fill="hold">
                                          <p:stCondLst>
                                            <p:cond delay="0"/>
                                          </p:stCondLst>
                                        </p:cTn>
                                        <p:tgtEl>
                                          <p:spTgt spid="10"/>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nodeType="afterEffect">
                                  <p:stCondLst>
                                    <p:cond delay="500"/>
                                  </p:stCondLst>
                                  <p:childTnLst>
                                    <p:set>
                                      <p:cBhvr>
                                        <p:cTn id="20" dur="1" fill="hold">
                                          <p:stCondLst>
                                            <p:cond delay="0"/>
                                          </p:stCondLst>
                                        </p:cTn>
                                        <p:tgtEl>
                                          <p:spTgt spid="11"/>
                                        </p:tgtEl>
                                        <p:attrNameLst>
                                          <p:attrName>style.visibility</p:attrName>
                                        </p:attrNameLst>
                                      </p:cBhvr>
                                      <p:to>
                                        <p:strVal val="visible"/>
                                      </p:to>
                                    </p:set>
                                  </p:childTnLst>
                                </p:cTn>
                              </p:par>
                            </p:childTnLst>
                          </p:cTn>
                        </p:par>
                        <p:par>
                          <p:cTn id="21" fill="hold">
                            <p:stCondLst>
                              <p:cond delay="1500"/>
                            </p:stCondLst>
                            <p:childTnLst>
                              <p:par>
                                <p:cTn id="22" presetID="1" presetClass="entr" presetSubtype="0" fill="hold" nodeType="afterEffect">
                                  <p:stCondLst>
                                    <p:cond delay="500"/>
                                  </p:stCondLst>
                                  <p:childTnLst>
                                    <p:set>
                                      <p:cBhvr>
                                        <p:cTn id="2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0" y="228600"/>
            <a:ext cx="9144000" cy="1143000"/>
          </a:xfrm>
        </p:spPr>
        <p:txBody>
          <a:bodyPr>
            <a:noAutofit/>
          </a:bodyPr>
          <a:lstStyle/>
          <a:p>
            <a:pPr algn="ctr"/>
            <a:r>
              <a:rPr lang="en-US" sz="3600" dirty="0" err="1"/>
              <a:t>Ví</a:t>
            </a:r>
            <a:r>
              <a:rPr lang="en-US" sz="3600" dirty="0"/>
              <a:t> </a:t>
            </a:r>
            <a:r>
              <a:rPr lang="en-US" sz="3600" dirty="0" err="1"/>
              <a:t>dụ</a:t>
            </a:r>
            <a:r>
              <a:rPr lang="en-US" sz="3600" dirty="0"/>
              <a:t>, </a:t>
            </a:r>
            <a:r>
              <a:rPr lang="en-US" sz="3600" dirty="0" err="1"/>
              <a:t>mẫu</a:t>
            </a:r>
            <a:r>
              <a:rPr lang="en-US" sz="3600" dirty="0"/>
              <a:t> </a:t>
            </a:r>
            <a:r>
              <a:rPr lang="en-US" sz="3600" dirty="0" err="1"/>
              <a:t>báo</a:t>
            </a:r>
            <a:r>
              <a:rPr lang="en-US" sz="3600" dirty="0"/>
              <a:t> </a:t>
            </a:r>
            <a:r>
              <a:rPr lang="en-US" sz="3600" dirty="0" err="1"/>
              <a:t>cáo</a:t>
            </a:r>
            <a:r>
              <a:rPr lang="en-US" sz="3600" dirty="0"/>
              <a:t> </a:t>
            </a:r>
            <a:r>
              <a:rPr lang="en-US" sz="3600" dirty="0" err="1"/>
              <a:t>tiến</a:t>
            </a:r>
            <a:r>
              <a:rPr lang="en-US" sz="3600" dirty="0"/>
              <a:t> </a:t>
            </a:r>
            <a:r>
              <a:rPr lang="en-US" sz="3600" dirty="0" err="1"/>
              <a:t>độ</a:t>
            </a:r>
            <a:r>
              <a:rPr lang="en-US" sz="3600" dirty="0"/>
              <a:t> </a:t>
            </a:r>
            <a:r>
              <a:rPr lang="en-US" sz="3600" dirty="0" err="1"/>
              <a:t>hàng</a:t>
            </a:r>
            <a:r>
              <a:rPr lang="en-US" sz="3600" dirty="0"/>
              <a:t> </a:t>
            </a:r>
            <a:r>
              <a:rPr lang="en-US" sz="3600" dirty="0" err="1"/>
              <a:t>tháng</a:t>
            </a:r>
            <a:endParaRPr lang="en-US" sz="3600" dirty="0"/>
          </a:p>
        </p:txBody>
      </p:sp>
      <p:sp>
        <p:nvSpPr>
          <p:cNvPr id="46085" name="Footer Placeholder 6"/>
          <p:cNvSpPr>
            <a:spLocks noGrp="1"/>
          </p:cNvSpPr>
          <p:nvPr>
            <p:ph type="ftr" sz="quarter" idx="10"/>
          </p:nvPr>
        </p:nvSpPr>
        <p:spPr bwMode="auto">
          <a:noFill/>
          <a:ln>
            <a:miter lim="800000"/>
            <a:headEnd/>
            <a:tailEnd/>
          </a:ln>
        </p:spPr>
        <p:txBody>
          <a:bodyPr/>
          <a:lstStyle/>
          <a:p>
            <a:pPr>
              <a:buFontTx/>
              <a:buNone/>
            </a:pPr>
            <a:r>
              <a:rPr lang="en-US"/>
              <a:t>Quản trị dự án HTTT</a:t>
            </a:r>
            <a:endParaRPr lang="en-US" dirty="0"/>
          </a:p>
        </p:txBody>
      </p:sp>
      <p:sp>
        <p:nvSpPr>
          <p:cNvPr id="6" name="Slide Number Placeholder 5"/>
          <p:cNvSpPr>
            <a:spLocks noGrp="1"/>
          </p:cNvSpPr>
          <p:nvPr>
            <p:ph type="sldNum" sz="quarter" idx="11"/>
          </p:nvPr>
        </p:nvSpPr>
        <p:spPr/>
        <p:txBody>
          <a:bodyPr/>
          <a:lstStyle/>
          <a:p>
            <a:pPr>
              <a:buFontTx/>
              <a:buNone/>
              <a:defRPr/>
            </a:pPr>
            <a:fld id="{3F96509D-2F51-4E30-B355-2A9B8CF30081}" type="slidenum">
              <a:rPr lang="en-US" smtClean="0"/>
              <a:pPr>
                <a:buFontTx/>
                <a:buNone/>
                <a:defRPr/>
              </a:pPr>
              <a:t>54</a:t>
            </a:fld>
            <a:endParaRPr lang="en-US" dirty="0"/>
          </a:p>
        </p:txBody>
      </p:sp>
      <p:pic>
        <p:nvPicPr>
          <p:cNvPr id="2" name="Picture 1"/>
          <p:cNvPicPr>
            <a:picLocks noChangeAspect="1"/>
          </p:cNvPicPr>
          <p:nvPr/>
        </p:nvPicPr>
        <p:blipFill>
          <a:blip r:embed="rId2"/>
          <a:stretch>
            <a:fillRect/>
          </a:stretch>
        </p:blipFill>
        <p:spPr>
          <a:xfrm>
            <a:off x="0" y="1524000"/>
            <a:ext cx="9144000" cy="4145225"/>
          </a:xfrm>
          <a:prstGeom prst="rect">
            <a:avLst/>
          </a:prstGeom>
        </p:spPr>
      </p:pic>
      <p:cxnSp>
        <p:nvCxnSpPr>
          <p:cNvPr id="7" name="Straight Connector 6"/>
          <p:cNvCxnSpPr/>
          <p:nvPr/>
        </p:nvCxnSpPr>
        <p:spPr>
          <a:xfrm>
            <a:off x="662940" y="1981200"/>
            <a:ext cx="276606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85800" y="3276600"/>
            <a:ext cx="207818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673443" y="4547286"/>
            <a:ext cx="1290387"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85800" y="5257800"/>
            <a:ext cx="2286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nodeType="afterEffect">
                                  <p:stCondLst>
                                    <p:cond delay="500"/>
                                  </p:stCondLst>
                                  <p:childTnLst>
                                    <p:set>
                                      <p:cBhvr>
                                        <p:cTn id="14" dur="1" fill="hold">
                                          <p:stCondLst>
                                            <p:cond delay="0"/>
                                          </p:stCondLst>
                                        </p:cTn>
                                        <p:tgtEl>
                                          <p:spTgt spid="8"/>
                                        </p:tgtEl>
                                        <p:attrNameLst>
                                          <p:attrName>style.visibility</p:attrName>
                                        </p:attrNameLst>
                                      </p:cBhvr>
                                      <p:to>
                                        <p:strVal val="visible"/>
                                      </p:to>
                                    </p:set>
                                  </p:childTnLst>
                                </p:cTn>
                              </p:par>
                            </p:childTnLst>
                          </p:cTn>
                        </p:par>
                        <p:par>
                          <p:cTn id="15" fill="hold">
                            <p:stCondLst>
                              <p:cond delay="500"/>
                            </p:stCondLst>
                            <p:childTnLst>
                              <p:par>
                                <p:cTn id="16" presetID="1" presetClass="entr" presetSubtype="0" fill="hold" nodeType="afterEffect">
                                  <p:stCondLst>
                                    <p:cond delay="500"/>
                                  </p:stCondLst>
                                  <p:childTnLst>
                                    <p:set>
                                      <p:cBhvr>
                                        <p:cTn id="17" dur="1" fill="hold">
                                          <p:stCondLst>
                                            <p:cond delay="0"/>
                                          </p:stCondLst>
                                        </p:cTn>
                                        <p:tgtEl>
                                          <p:spTgt spid="9"/>
                                        </p:tgtEl>
                                        <p:attrNameLst>
                                          <p:attrName>style.visibility</p:attrName>
                                        </p:attrNameLst>
                                      </p:cBhvr>
                                      <p:to>
                                        <p:strVal val="visible"/>
                                      </p:to>
                                    </p:set>
                                  </p:childTnLst>
                                </p:cTn>
                              </p:par>
                            </p:childTnLst>
                          </p:cTn>
                        </p:par>
                        <p:par>
                          <p:cTn id="18" fill="hold">
                            <p:stCondLst>
                              <p:cond delay="1000"/>
                            </p:stCondLst>
                            <p:childTnLst>
                              <p:par>
                                <p:cTn id="19" presetID="1" presetClass="entr" presetSubtype="0" fill="hold" nodeType="afterEffect">
                                  <p:stCondLst>
                                    <p:cond delay="50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0" y="76200"/>
            <a:ext cx="9144000" cy="1143000"/>
          </a:xfrm>
        </p:spPr>
        <p:txBody>
          <a:bodyPr>
            <a:normAutofit/>
          </a:bodyPr>
          <a:lstStyle/>
          <a:p>
            <a:pPr algn="ctr"/>
            <a:r>
              <a:rPr lang="en-US" sz="3600" dirty="0" err="1"/>
              <a:t>Ví</a:t>
            </a:r>
            <a:r>
              <a:rPr lang="en-US" sz="3600" dirty="0"/>
              <a:t> </a:t>
            </a:r>
            <a:r>
              <a:rPr lang="en-US" sz="3600" dirty="0" err="1"/>
              <a:t>dụ</a:t>
            </a:r>
            <a:r>
              <a:rPr lang="en-US" sz="3600" dirty="0"/>
              <a:t>, </a:t>
            </a:r>
            <a:r>
              <a:rPr lang="en-US" sz="3600" dirty="0" err="1"/>
              <a:t>các</a:t>
            </a:r>
            <a:r>
              <a:rPr lang="en-US" sz="3600" dirty="0"/>
              <a:t> </a:t>
            </a:r>
            <a:r>
              <a:rPr lang="en-US" sz="3600" dirty="0" err="1"/>
              <a:t>tài</a:t>
            </a:r>
            <a:r>
              <a:rPr lang="en-US" sz="3600" dirty="0"/>
              <a:t> </a:t>
            </a:r>
            <a:r>
              <a:rPr lang="en-US" sz="3600" dirty="0" err="1"/>
              <a:t>liệu</a:t>
            </a:r>
            <a:r>
              <a:rPr lang="en-US" sz="3600" dirty="0"/>
              <a:t> </a:t>
            </a:r>
            <a:r>
              <a:rPr lang="en-US" sz="3600" dirty="0" err="1"/>
              <a:t>dự</a:t>
            </a:r>
            <a:r>
              <a:rPr lang="en-US" sz="3600" dirty="0"/>
              <a:t> </a:t>
            </a:r>
            <a:r>
              <a:rPr lang="en-US" sz="3600" dirty="0" err="1"/>
              <a:t>án</a:t>
            </a:r>
            <a:r>
              <a:rPr lang="en-US" sz="3600" dirty="0"/>
              <a:t> </a:t>
            </a:r>
            <a:r>
              <a:rPr lang="en-US" sz="3600" dirty="0" err="1"/>
              <a:t>cuối</a:t>
            </a:r>
            <a:r>
              <a:rPr lang="en-US" sz="3600" dirty="0"/>
              <a:t> </a:t>
            </a:r>
            <a:r>
              <a:rPr lang="en-US" sz="3600" dirty="0" err="1"/>
              <a:t>cùng</a:t>
            </a:r>
            <a:endParaRPr lang="en-US" sz="3600" dirty="0"/>
          </a:p>
        </p:txBody>
      </p:sp>
      <p:sp>
        <p:nvSpPr>
          <p:cNvPr id="47110" name="Footer Placeholder 7"/>
          <p:cNvSpPr>
            <a:spLocks noGrp="1"/>
          </p:cNvSpPr>
          <p:nvPr>
            <p:ph type="ftr" sz="quarter" idx="10"/>
          </p:nvPr>
        </p:nvSpPr>
        <p:spPr bwMode="auto">
          <a:noFill/>
          <a:ln>
            <a:miter lim="800000"/>
            <a:headEnd/>
            <a:tailEnd/>
          </a:ln>
        </p:spPr>
        <p:txBody>
          <a:bodyPr/>
          <a:lstStyle/>
          <a:p>
            <a:pPr>
              <a:buFontTx/>
              <a:buNone/>
            </a:pPr>
            <a:r>
              <a:rPr lang="en-US"/>
              <a:t>Quản trị dự án HTTT</a:t>
            </a:r>
            <a:endParaRPr lang="en-US" dirty="0"/>
          </a:p>
        </p:txBody>
      </p:sp>
      <p:sp>
        <p:nvSpPr>
          <p:cNvPr id="7" name="Slide Number Placeholder 6"/>
          <p:cNvSpPr>
            <a:spLocks noGrp="1"/>
          </p:cNvSpPr>
          <p:nvPr>
            <p:ph type="sldNum" sz="quarter" idx="11"/>
          </p:nvPr>
        </p:nvSpPr>
        <p:spPr/>
        <p:txBody>
          <a:bodyPr/>
          <a:lstStyle/>
          <a:p>
            <a:pPr>
              <a:buFontTx/>
              <a:buNone/>
              <a:defRPr/>
            </a:pPr>
            <a:fld id="{45FDA56A-BA2F-4733-B083-3E5F89F68CAD}" type="slidenum">
              <a:rPr lang="en-US" smtClean="0"/>
              <a:pPr>
                <a:buFontTx/>
                <a:buNone/>
                <a:defRPr/>
              </a:pPr>
              <a:t>55</a:t>
            </a:fld>
            <a:endParaRPr lang="en-US" dirty="0"/>
          </a:p>
        </p:txBody>
      </p:sp>
      <p:pic>
        <p:nvPicPr>
          <p:cNvPr id="2" name="Picture 1"/>
          <p:cNvPicPr>
            <a:picLocks noChangeAspect="1"/>
          </p:cNvPicPr>
          <p:nvPr/>
        </p:nvPicPr>
        <p:blipFill>
          <a:blip r:embed="rId2"/>
          <a:stretch>
            <a:fillRect/>
          </a:stretch>
        </p:blipFill>
        <p:spPr>
          <a:xfrm>
            <a:off x="0" y="1371600"/>
            <a:ext cx="9152238" cy="4876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a:xfrm>
            <a:off x="609600" y="1600200"/>
            <a:ext cx="7924800" cy="4038600"/>
          </a:xfrm>
        </p:spPr>
        <p:txBody>
          <a:bodyPr/>
          <a:lstStyle/>
          <a:p>
            <a:pPr algn="just">
              <a:spcBef>
                <a:spcPct val="80000"/>
              </a:spcBef>
              <a:buClr>
                <a:srgbClr val="666699"/>
              </a:buClr>
            </a:pPr>
            <a:r>
              <a:rPr lang="vi-VN" dirty="0">
                <a:effectLst>
                  <a:outerShdw blurRad="38100" dist="38100" dir="2700000" algn="tl">
                    <a:srgbClr val="000000">
                      <a:alpha val="43137"/>
                    </a:srgbClr>
                  </a:outerShdw>
                </a:effectLst>
              </a:rPr>
              <a:t>Bài học kinh nghiệm</a:t>
            </a:r>
            <a:r>
              <a:rPr lang="vi-VN" dirty="0"/>
              <a:t> (</a:t>
            </a:r>
            <a:r>
              <a:rPr lang="en-US" dirty="0">
                <a:solidFill>
                  <a:srgbClr val="0070C0"/>
                </a:solidFill>
              </a:rPr>
              <a:t>lessons-learned report</a:t>
            </a:r>
            <a:r>
              <a:rPr lang="vi-VN" dirty="0"/>
              <a:t>) được thực hiện từ giám đốc dự án và các thành viên đội dự án.</a:t>
            </a:r>
          </a:p>
          <a:p>
            <a:pPr lvl="1" algn="just">
              <a:spcBef>
                <a:spcPts val="600"/>
              </a:spcBef>
              <a:buClr>
                <a:srgbClr val="666699"/>
              </a:buClr>
              <a:buFont typeface="Arial" panose="020B0604020202020204" pitchFamily="34" charset="0"/>
              <a:buChar char="•"/>
            </a:pPr>
            <a:r>
              <a:rPr lang="vi-VN" sz="2400" dirty="0"/>
              <a:t>Tài liệu của các bài học cá nhân rút ra từ dự án.</a:t>
            </a:r>
          </a:p>
          <a:p>
            <a:pPr algn="just">
              <a:spcBef>
                <a:spcPct val="80000"/>
              </a:spcBef>
              <a:buClr>
                <a:srgbClr val="666699"/>
              </a:buClr>
            </a:pPr>
            <a:r>
              <a:rPr lang="vi-VN" dirty="0"/>
              <a:t>Giám đốc dự án tổng hợp thông tin từ các bài học kinh nghiệm thành báo cáo tóm tắt dự án...</a:t>
            </a:r>
            <a:endParaRPr lang="en-US" dirty="0"/>
          </a:p>
        </p:txBody>
      </p:sp>
      <p:sp>
        <p:nvSpPr>
          <p:cNvPr id="48130" name="Rectangle 2"/>
          <p:cNvSpPr>
            <a:spLocks noGrp="1" noChangeArrowheads="1"/>
          </p:cNvSpPr>
          <p:nvPr>
            <p:ph type="title"/>
          </p:nvPr>
        </p:nvSpPr>
        <p:spPr/>
        <p:txBody>
          <a:bodyPr>
            <a:normAutofit/>
          </a:bodyPr>
          <a:lstStyle/>
          <a:p>
            <a:pPr algn="ctr"/>
            <a:r>
              <a:rPr lang="en-US" sz="4000" dirty="0" err="1"/>
              <a:t>Bài</a:t>
            </a:r>
            <a:r>
              <a:rPr lang="en-US" sz="4000" dirty="0"/>
              <a:t> học </a:t>
            </a:r>
            <a:r>
              <a:rPr lang="en-US" sz="4000" dirty="0" err="1"/>
              <a:t>kinh</a:t>
            </a:r>
            <a:r>
              <a:rPr lang="en-US" sz="4000" dirty="0"/>
              <a:t> </a:t>
            </a:r>
            <a:r>
              <a:rPr lang="en-US" sz="4000" dirty="0" err="1"/>
              <a:t>nghiệm</a:t>
            </a:r>
            <a:endParaRPr lang="en-US" sz="4000" dirty="0"/>
          </a:p>
        </p:txBody>
      </p:sp>
      <p:sp>
        <p:nvSpPr>
          <p:cNvPr id="48133"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F3B4F694-095F-486F-8387-699AF9EC3794}" type="slidenum">
              <a:rPr lang="en-US" smtClean="0"/>
              <a:pPr>
                <a:defRPr/>
              </a:pPr>
              <a:t>56</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Content Placeholder 2"/>
          <p:cNvSpPr>
            <a:spLocks noGrp="1"/>
          </p:cNvSpPr>
          <p:nvPr>
            <p:ph idx="1"/>
          </p:nvPr>
        </p:nvSpPr>
        <p:spPr>
          <a:xfrm>
            <a:off x="533400" y="1600200"/>
            <a:ext cx="8077200" cy="4081462"/>
          </a:xfrm>
        </p:spPr>
        <p:txBody>
          <a:bodyPr/>
          <a:lstStyle/>
          <a:p>
            <a:pPr algn="just">
              <a:spcBef>
                <a:spcPts val="1200"/>
              </a:spcBef>
              <a:spcAft>
                <a:spcPts val="600"/>
              </a:spcAft>
            </a:pPr>
            <a:r>
              <a:rPr lang="vi-VN" dirty="0">
                <a:effectLst>
                  <a:outerShdw blurRad="38100" dist="38100" dir="2700000" algn="tl">
                    <a:srgbClr val="000000">
                      <a:alpha val="43137"/>
                    </a:srgbClr>
                  </a:outerShdw>
                </a:effectLst>
              </a:rPr>
              <a:t>Tài liệu lưu trữ dự án</a:t>
            </a:r>
            <a:r>
              <a:rPr lang="vi-VN" b="1" dirty="0"/>
              <a:t> </a:t>
            </a:r>
            <a:r>
              <a:rPr lang="vi-VN" dirty="0"/>
              <a:t>(</a:t>
            </a:r>
            <a:r>
              <a:rPr lang="en-US" dirty="0">
                <a:solidFill>
                  <a:srgbClr val="0070C0"/>
                </a:solidFill>
              </a:rPr>
              <a:t>project archives</a:t>
            </a:r>
            <a:r>
              <a:rPr lang="vi-VN" dirty="0"/>
              <a:t>): bộ hồ sơ hoàn chỉnh của cách thức tổ chức dự án, cung cấp lịch sử chính xác của dự án.</a:t>
            </a:r>
          </a:p>
          <a:p>
            <a:pPr algn="just">
              <a:spcBef>
                <a:spcPts val="1200"/>
              </a:spcBef>
              <a:spcAft>
                <a:spcPts val="600"/>
              </a:spcAft>
            </a:pPr>
            <a:r>
              <a:rPr lang="vi-VN" dirty="0"/>
              <a:t>Tổ chức và thực hiện tài liệu lưu trữ dự án cũng rất quan trọng. </a:t>
            </a:r>
          </a:p>
          <a:p>
            <a:pPr algn="just">
              <a:spcBef>
                <a:spcPts val="1200"/>
              </a:spcBef>
              <a:spcAft>
                <a:spcPts val="600"/>
              </a:spcAft>
            </a:pPr>
            <a:r>
              <a:rPr lang="vi-VN" dirty="0"/>
              <a:t>Những tài liệu này này cung cấp các thông tin giá trị cho các dự án tương lai.</a:t>
            </a:r>
            <a:endParaRPr lang="en-US" dirty="0"/>
          </a:p>
        </p:txBody>
      </p:sp>
      <p:sp>
        <p:nvSpPr>
          <p:cNvPr id="49154" name="Title 1"/>
          <p:cNvSpPr>
            <a:spLocks noGrp="1"/>
          </p:cNvSpPr>
          <p:nvPr>
            <p:ph type="title"/>
          </p:nvPr>
        </p:nvSpPr>
        <p:spPr/>
        <p:txBody>
          <a:bodyPr/>
          <a:lstStyle/>
          <a:p>
            <a:pPr algn="ctr"/>
            <a:r>
              <a:rPr lang="en-US" dirty="0" err="1"/>
              <a:t>Tài</a:t>
            </a:r>
            <a:r>
              <a:rPr lang="en-US" dirty="0"/>
              <a:t> </a:t>
            </a:r>
            <a:r>
              <a:rPr lang="en-US" dirty="0" err="1"/>
              <a:t>liệu</a:t>
            </a:r>
            <a:r>
              <a:rPr lang="en-US" dirty="0"/>
              <a:t> </a:t>
            </a:r>
            <a:r>
              <a:rPr lang="en-US" dirty="0" err="1"/>
              <a:t>lưu</a:t>
            </a:r>
            <a:r>
              <a:rPr lang="en-US" dirty="0"/>
              <a:t> </a:t>
            </a:r>
            <a:r>
              <a:rPr lang="en-US" dirty="0" err="1"/>
              <a:t>trữ</a:t>
            </a:r>
            <a:r>
              <a:rPr lang="en-US" dirty="0"/>
              <a:t> </a:t>
            </a:r>
            <a:r>
              <a:rPr lang="en-US" dirty="0" err="1"/>
              <a:t>dự</a:t>
            </a:r>
            <a:r>
              <a:rPr lang="en-US" dirty="0"/>
              <a:t> </a:t>
            </a:r>
            <a:r>
              <a:rPr lang="en-US" dirty="0" err="1"/>
              <a:t>án</a:t>
            </a:r>
            <a:endParaRPr lang="en-US" dirty="0"/>
          </a:p>
        </p:txBody>
      </p:sp>
      <p:sp>
        <p:nvSpPr>
          <p:cNvPr id="49156" name="Footer Placeholder 3"/>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5" name="Slide Number Placeholder 4"/>
          <p:cNvSpPr>
            <a:spLocks noGrp="1"/>
          </p:cNvSpPr>
          <p:nvPr>
            <p:ph type="sldNum" sz="quarter" idx="11"/>
          </p:nvPr>
        </p:nvSpPr>
        <p:spPr/>
        <p:txBody>
          <a:bodyPr/>
          <a:lstStyle/>
          <a:p>
            <a:pPr>
              <a:defRPr/>
            </a:pPr>
            <a:fld id="{07FB6DEF-E33D-4378-843F-C19DAA629D47}" type="slidenum">
              <a:rPr lang="en-US" smtClean="0"/>
              <a:pPr>
                <a:defRPr/>
              </a:pPr>
              <a:t>57</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915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457200" y="1447800"/>
            <a:ext cx="8229600" cy="3395662"/>
          </a:xfrm>
        </p:spPr>
        <p:txBody>
          <a:bodyPr/>
          <a:lstStyle/>
          <a:p>
            <a:pPr algn="just">
              <a:spcAft>
                <a:spcPts val="1800"/>
              </a:spcAft>
            </a:pPr>
            <a:r>
              <a:rPr lang="vi-VN" dirty="0"/>
              <a:t>Nhiều đội dự án tạo ra trang web dự án để lưu trữ tài liệu và các thông tin quan trọng.</a:t>
            </a:r>
          </a:p>
          <a:p>
            <a:pPr algn="just"/>
            <a:r>
              <a:rPr lang="vi-VN" dirty="0"/>
              <a:t>Trang web sử dụng các phần mềm khác nhau...</a:t>
            </a:r>
          </a:p>
          <a:p>
            <a:pPr lvl="1" algn="just">
              <a:buFont typeface="Arial" panose="020B0604020202020204" pitchFamily="34" charset="0"/>
              <a:buChar char="•"/>
            </a:pPr>
            <a:r>
              <a:rPr lang="vi-VN" dirty="0"/>
              <a:t>Phần mềm quản lý dự án doanh nghiệp (v.d., PMIS).</a:t>
            </a:r>
          </a:p>
          <a:p>
            <a:pPr algn="just">
              <a:spcBef>
                <a:spcPts val="1800"/>
              </a:spcBef>
            </a:pPr>
            <a:r>
              <a:rPr lang="vi-VN" dirty="0"/>
              <a:t>Một số công cụ QLDA có thể được sử dụng trên nhiều thiết bị...</a:t>
            </a:r>
            <a:endParaRPr lang="en-US" dirty="0"/>
          </a:p>
        </p:txBody>
      </p:sp>
      <p:sp>
        <p:nvSpPr>
          <p:cNvPr id="50178" name="Rectangle 2"/>
          <p:cNvSpPr>
            <a:spLocks noGrp="1" noChangeArrowheads="1"/>
          </p:cNvSpPr>
          <p:nvPr>
            <p:ph type="title"/>
          </p:nvPr>
        </p:nvSpPr>
        <p:spPr>
          <a:xfrm>
            <a:off x="457200" y="228600"/>
            <a:ext cx="8229600" cy="1143000"/>
          </a:xfrm>
        </p:spPr>
        <p:txBody>
          <a:bodyPr>
            <a:normAutofit/>
          </a:bodyPr>
          <a:lstStyle/>
          <a:p>
            <a:pPr algn="ctr"/>
            <a:r>
              <a:rPr lang="en-US" sz="4000" dirty="0"/>
              <a:t>Trang web </a:t>
            </a:r>
            <a:r>
              <a:rPr lang="en-US" sz="4000" dirty="0" err="1"/>
              <a:t>dự</a:t>
            </a:r>
            <a:r>
              <a:rPr lang="en-US" sz="4000" dirty="0"/>
              <a:t> </a:t>
            </a:r>
            <a:r>
              <a:rPr lang="en-US" sz="4000" dirty="0" err="1"/>
              <a:t>án</a:t>
            </a:r>
            <a:endParaRPr lang="en-US" sz="4000" dirty="0"/>
          </a:p>
        </p:txBody>
      </p:sp>
      <p:sp>
        <p:nvSpPr>
          <p:cNvPr id="50181"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5AD48DC6-0253-4A93-AB7F-1DA77469CDAA}" type="slidenum">
              <a:rPr lang="en-US" smtClean="0"/>
              <a:pPr>
                <a:defRPr/>
              </a:pPr>
              <a:t>58</a:t>
            </a:fld>
            <a:endParaRPr lang="en-US" dirty="0"/>
          </a:p>
        </p:txBody>
      </p:sp>
      <p:pic>
        <p:nvPicPr>
          <p:cNvPr id="3" name="Picture 2"/>
          <p:cNvPicPr>
            <a:picLocks noChangeAspect="1"/>
          </p:cNvPicPr>
          <p:nvPr/>
        </p:nvPicPr>
        <p:blipFill>
          <a:blip r:embed="rId2"/>
          <a:stretch>
            <a:fillRect/>
          </a:stretch>
        </p:blipFill>
        <p:spPr>
          <a:xfrm>
            <a:off x="4267200" y="4572000"/>
            <a:ext cx="4231642" cy="17880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3" end="3"/>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0" y="152400"/>
            <a:ext cx="9067800" cy="1219200"/>
          </a:xfrm>
        </p:spPr>
        <p:txBody>
          <a:bodyPr>
            <a:normAutofit/>
          </a:bodyPr>
          <a:lstStyle/>
          <a:p>
            <a:pPr algn="ctr"/>
            <a:r>
              <a:rPr lang="vi-VN" sz="3600" dirty="0"/>
              <a:t>Ví dụ, Basecamp trên nhiều thiết bị</a:t>
            </a:r>
            <a:endParaRPr lang="en-US" sz="3600" dirty="0"/>
          </a:p>
        </p:txBody>
      </p:sp>
      <p:sp>
        <p:nvSpPr>
          <p:cNvPr id="51204"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0A4747D1-F701-4EA4-A685-5DBB864E7A4B}" type="slidenum">
              <a:rPr lang="en-US" smtClean="0"/>
              <a:pPr>
                <a:defRPr/>
              </a:pPr>
              <a:t>59</a:t>
            </a:fld>
            <a:endParaRPr lang="en-US" dirty="0"/>
          </a:p>
        </p:txBody>
      </p:sp>
      <p:pic>
        <p:nvPicPr>
          <p:cNvPr id="3074" name="Picture 2" descr="Basecamp Mobi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799" y="2133600"/>
            <a:ext cx="8960201" cy="312420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stretch>
            <a:fillRect/>
          </a:stretch>
        </p:blipFill>
        <p:spPr>
          <a:xfrm>
            <a:off x="4800600" y="5334000"/>
            <a:ext cx="2209800" cy="93371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diamond(in)">
                                      <p:cBhvr>
                                        <p:cTn id="7" dur="500"/>
                                        <p:tgtEl>
                                          <p:spTgt spid="307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a:xfrm>
            <a:off x="457200" y="1524000"/>
            <a:ext cx="8229600" cy="3733800"/>
          </a:xfrm>
        </p:spPr>
        <p:txBody>
          <a:bodyPr/>
          <a:lstStyle/>
          <a:p>
            <a:pPr algn="just">
              <a:spcBef>
                <a:spcPts val="1200"/>
              </a:spcBef>
              <a:spcAft>
                <a:spcPts val="600"/>
              </a:spcAft>
            </a:pPr>
            <a:r>
              <a:rPr lang="vi-VN" dirty="0"/>
              <a:t>Có nhiều phần mềm hỗ trợ truyền thông dự án. </a:t>
            </a:r>
          </a:p>
          <a:p>
            <a:pPr algn="just">
              <a:spcBef>
                <a:spcPts val="1200"/>
              </a:spcBef>
              <a:spcAft>
                <a:spcPts val="600"/>
              </a:spcAft>
            </a:pPr>
            <a:r>
              <a:rPr lang="vi-VN" dirty="0"/>
              <a:t>Nhiều người làm việc tại nhà hoặc từ xa, phần mềm QLDA phải có khả năng truyền thông ảo.</a:t>
            </a:r>
          </a:p>
          <a:p>
            <a:pPr algn="just">
              <a:spcBef>
                <a:spcPts val="1200"/>
              </a:spcBef>
              <a:spcAft>
                <a:spcPts val="600"/>
              </a:spcAft>
            </a:pPr>
            <a:r>
              <a:rPr lang="vi-VN" dirty="0"/>
              <a:t>Công nghệ chưa phải là quan trọng nhất. Cần nâng cao năng lực truyền thông trong tổ chức, liên quan đến thay đổi văn hóa...</a:t>
            </a:r>
            <a:endParaRPr lang="en-US" dirty="0"/>
          </a:p>
        </p:txBody>
      </p:sp>
      <p:sp>
        <p:nvSpPr>
          <p:cNvPr id="52226" name="Rectangle 2"/>
          <p:cNvSpPr>
            <a:spLocks noGrp="1" noChangeArrowheads="1"/>
          </p:cNvSpPr>
          <p:nvPr>
            <p:ph type="title"/>
          </p:nvPr>
        </p:nvSpPr>
        <p:spPr>
          <a:xfrm>
            <a:off x="0" y="152400"/>
            <a:ext cx="9144000" cy="1143000"/>
          </a:xfrm>
        </p:spPr>
        <p:txBody>
          <a:bodyPr>
            <a:normAutofit/>
          </a:bodyPr>
          <a:lstStyle/>
          <a:p>
            <a:pPr algn="ctr"/>
            <a:r>
              <a:rPr lang="en-US" sz="3600" dirty="0" err="1"/>
              <a:t>Phần</a:t>
            </a:r>
            <a:r>
              <a:rPr lang="en-US" sz="3600" dirty="0"/>
              <a:t> </a:t>
            </a:r>
            <a:r>
              <a:rPr lang="en-US" sz="3600" dirty="0" err="1"/>
              <a:t>mềm</a:t>
            </a:r>
            <a:r>
              <a:rPr lang="en-US" sz="3600" dirty="0"/>
              <a:t> </a:t>
            </a:r>
            <a:r>
              <a:rPr lang="en-US" sz="3600" dirty="0" err="1"/>
              <a:t>hỗ</a:t>
            </a:r>
            <a:r>
              <a:rPr lang="en-US" sz="3600" dirty="0"/>
              <a:t> </a:t>
            </a:r>
            <a:r>
              <a:rPr lang="en-US" sz="3600" dirty="0" err="1"/>
              <a:t>trợ</a:t>
            </a:r>
            <a:r>
              <a:rPr lang="en-US" sz="3600" dirty="0"/>
              <a:t> quản lý </a:t>
            </a:r>
            <a:r>
              <a:rPr lang="en-US" sz="3600" dirty="0" err="1"/>
              <a:t>tryền</a:t>
            </a:r>
            <a:r>
              <a:rPr lang="en-US" sz="3600" dirty="0"/>
              <a:t> thông</a:t>
            </a:r>
          </a:p>
        </p:txBody>
      </p:sp>
      <p:sp>
        <p:nvSpPr>
          <p:cNvPr id="52229" name="Footer Placeholder 6"/>
          <p:cNvSpPr>
            <a:spLocks noGrp="1"/>
          </p:cNvSpPr>
          <p:nvPr>
            <p:ph type="ftr" sz="quarter" idx="10"/>
          </p:nvPr>
        </p:nvSpPr>
        <p:spPr bwMode="auto">
          <a:noFill/>
          <a:ln>
            <a:miter lim="800000"/>
            <a:headEnd/>
            <a:tailEnd/>
          </a:ln>
        </p:spPr>
        <p:txBody>
          <a:bodyPr/>
          <a:lstStyle/>
          <a:p>
            <a:r>
              <a:rPr lang="en-US"/>
              <a:t>Quản trị dự án HTTT</a:t>
            </a:r>
            <a:endParaRPr lang="en-US" dirty="0"/>
          </a:p>
        </p:txBody>
      </p:sp>
      <p:sp>
        <p:nvSpPr>
          <p:cNvPr id="6" name="Slide Number Placeholder 5"/>
          <p:cNvSpPr>
            <a:spLocks noGrp="1"/>
          </p:cNvSpPr>
          <p:nvPr>
            <p:ph type="sldNum" sz="quarter" idx="11"/>
          </p:nvPr>
        </p:nvSpPr>
        <p:spPr/>
        <p:txBody>
          <a:bodyPr/>
          <a:lstStyle/>
          <a:p>
            <a:pPr>
              <a:defRPr/>
            </a:pPr>
            <a:fld id="{75C8DC91-7EC3-46AE-90CF-83008C4FC803}" type="slidenum">
              <a:rPr lang="en-US" smtClean="0"/>
              <a:pPr>
                <a:defRPr/>
              </a:pPr>
              <a:t>60</a:t>
            </a:fld>
            <a:endParaRPr lang="en-US" dirty="0"/>
          </a:p>
        </p:txBody>
      </p:sp>
      <p:pic>
        <p:nvPicPr>
          <p:cNvPr id="7170" name="Picture 2" descr="https://www.cloudbees.com/sites/default/files/vcclogo_0.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95600" y="4876800"/>
            <a:ext cx="5133975" cy="1143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1" end="1"/>
                                            </p:txEl>
                                          </p:spTgt>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nodeType="afterEffect">
                                  <p:stCondLst>
                                    <p:cond delay="0"/>
                                  </p:stCondLst>
                                  <p:childTnLst>
                                    <p:set>
                                      <p:cBhvr>
                                        <p:cTn id="9" dur="1" fill="hold">
                                          <p:stCondLst>
                                            <p:cond delay="0"/>
                                          </p:stCondLst>
                                        </p:cTn>
                                        <p:tgtEl>
                                          <p:spTgt spid="7170"/>
                                        </p:tgtEl>
                                        <p:attrNameLst>
                                          <p:attrName>style.visibility</p:attrName>
                                        </p:attrNameLst>
                                      </p:cBhvr>
                                      <p:to>
                                        <p:strVal val="visible"/>
                                      </p:to>
                                    </p:set>
                                    <p:animEffect transition="in" filter="barn(inVertical)">
                                      <p:cBhvr>
                                        <p:cTn id="10" dur="500"/>
                                        <p:tgtEl>
                                          <p:spTgt spid="7170"/>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35010" y="1905000"/>
            <a:ext cx="9108989" cy="1829761"/>
          </a:xfrm>
        </p:spPr>
        <p:txBody>
          <a:bodyPr>
            <a:noAutofit/>
          </a:bodyPr>
          <a:lstStyle/>
          <a:p>
            <a:pPr algn="ctr" fontAlgn="auto">
              <a:spcAft>
                <a:spcPts val="0"/>
              </a:spcAft>
              <a:defRPr/>
            </a:pPr>
            <a:br>
              <a:rPr dirty="0">
                <a:solidFill>
                  <a:srgbClr val="0070C0"/>
                </a:solidFill>
                <a:effectLst/>
              </a:rPr>
            </a:br>
            <a:r>
              <a:rPr lang="vi-VN" sz="4400" dirty="0">
                <a:solidFill>
                  <a:srgbClr val="0070C0"/>
                </a:solidFill>
                <a:effectLst/>
              </a:rPr>
              <a:t>TÓM TẮT &amp; TỪ KHÓA</a:t>
            </a:r>
            <a:br>
              <a:rPr lang="vi-VN" sz="4400" dirty="0">
                <a:solidFill>
                  <a:srgbClr val="0070C0"/>
                </a:solidFill>
                <a:effectLst/>
              </a:rPr>
            </a:br>
            <a:endParaRPr lang="vi-VN" sz="4400" dirty="0">
              <a:solidFill>
                <a:srgbClr val="0070C0"/>
              </a:solidFill>
              <a:effectLst/>
            </a:endParaRPr>
          </a:p>
        </p:txBody>
      </p:sp>
      <p:sp>
        <p:nvSpPr>
          <p:cNvPr id="10" name="TextBox 9"/>
          <p:cNvSpPr txBox="1">
            <a:spLocks noChangeArrowheads="1"/>
          </p:cNvSpPr>
          <p:nvPr/>
        </p:nvSpPr>
        <p:spPr>
          <a:xfrm>
            <a:off x="723900" y="317956"/>
            <a:ext cx="7848600" cy="663575"/>
          </a:xfrm>
          <a:prstGeom prst="rect">
            <a:avLst/>
          </a:prstGeom>
        </p:spPr>
        <p:txBody>
          <a:bodyPr vert="horz" anchor="b">
            <a:noAutofit/>
            <a:scene3d>
              <a:camera prst="orthographicFront"/>
              <a:lightRig rig="soft" dir="t"/>
            </a:scene3d>
            <a:sp3d prstMaterial="softEdge">
              <a:bevelT w="25400" h="25400"/>
            </a:sp3d>
          </a:bodyPr>
          <a:ls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a:lstStyle>
          <a:p>
            <a:pPr algn="ctr" fontAlgn="auto">
              <a:spcAft>
                <a:spcPts val="0"/>
              </a:spcAft>
              <a:defRPr/>
            </a:pPr>
            <a:endParaRPr lang="vi-VN" sz="3000" b="1" u="sng" dirty="0">
              <a:effectLst>
                <a:outerShdw blurRad="38100" dist="38100" dir="2700000" algn="tl">
                  <a:srgbClr val="FFFFFF"/>
                </a:outerShdw>
              </a:effectLst>
              <a:latin typeface="+mj-lt"/>
            </a:endParaRPr>
          </a:p>
        </p:txBody>
      </p:sp>
      <p:sp>
        <p:nvSpPr>
          <p:cNvPr id="4" name="Footer Placeholder 1"/>
          <p:cNvSpPr txBox="1">
            <a:spLocks/>
          </p:cNvSpPr>
          <p:nvPr/>
        </p:nvSpPr>
        <p:spPr>
          <a:xfrm>
            <a:off x="0" y="6492875"/>
            <a:ext cx="2362200" cy="365125"/>
          </a:xfrm>
          <a:prstGeom prst="rect">
            <a:avLst/>
          </a:prstGeom>
        </p:spPr>
        <p:txBody>
          <a:bodyPr vert="horz" anchor="b"/>
          <a:lstStyle>
            <a:defPPr>
              <a:defRPr lang="en-US"/>
            </a:defPPr>
            <a:lvl1pPr algn="r" rtl="0" eaLnBrk="1" fontAlgn="base" latinLnBrk="0" hangingPunct="1">
              <a:spcBef>
                <a:spcPct val="0"/>
              </a:spcBef>
              <a:spcAft>
                <a:spcPct val="0"/>
              </a:spcAft>
              <a:defRPr kumimoji="0" sz="10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a:lstStyle>
          <a:p>
            <a:pPr algn="l"/>
            <a:r>
              <a:rPr lang="en-US" sz="1200" dirty="0"/>
              <a:t>Quản </a:t>
            </a:r>
            <a:r>
              <a:rPr lang="en-US" sz="1200" dirty="0" err="1"/>
              <a:t>trị</a:t>
            </a:r>
            <a:r>
              <a:rPr lang="en-US" sz="1200" dirty="0"/>
              <a:t> </a:t>
            </a:r>
            <a:r>
              <a:rPr lang="en-US" sz="1200" dirty="0" err="1"/>
              <a:t>dự</a:t>
            </a:r>
            <a:r>
              <a:rPr lang="en-US" sz="1200" dirty="0"/>
              <a:t> </a:t>
            </a:r>
            <a:r>
              <a:rPr lang="en-US" sz="1200" dirty="0" err="1"/>
              <a:t>án</a:t>
            </a:r>
            <a:r>
              <a:rPr lang="en-US" sz="1200" dirty="0"/>
              <a:t> HTTT</a:t>
            </a:r>
          </a:p>
        </p:txBody>
      </p:sp>
      <p:pic>
        <p:nvPicPr>
          <p:cNvPr id="7" name="Picture 6"/>
          <p:cNvPicPr>
            <a:picLocks noChangeAspect="1"/>
          </p:cNvPicPr>
          <p:nvPr/>
        </p:nvPicPr>
        <p:blipFill>
          <a:blip r:embed="rId2"/>
          <a:stretch>
            <a:fillRect/>
          </a:stretch>
        </p:blipFill>
        <p:spPr>
          <a:xfrm>
            <a:off x="6400800" y="4043711"/>
            <a:ext cx="2079555" cy="2433289"/>
          </a:xfrm>
          <a:prstGeom prst="rect">
            <a:avLst/>
          </a:prstGeom>
        </p:spPr>
      </p:pic>
    </p:spTree>
    <p:extLst>
      <p:ext uri="{BB962C8B-B14F-4D97-AF65-F5344CB8AC3E}">
        <p14:creationId xmlns:p14="http://schemas.microsoft.com/office/powerpoint/2010/main" val="22594332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457200" y="1481138"/>
            <a:ext cx="8229600" cy="3929062"/>
          </a:xfrm>
        </p:spPr>
        <p:txBody>
          <a:bodyPr/>
          <a:lstStyle/>
          <a:p>
            <a:pPr algn="just"/>
            <a:r>
              <a:rPr lang="vi-VN" dirty="0">
                <a:solidFill>
                  <a:srgbClr val="002060"/>
                </a:solidFill>
              </a:rPr>
              <a:t>Quản lý truyền thông dự án để đảm bảo việc tạo ra kịp thời và thích hợp, thu thập, phân phối, lưu trữ, và sắp xếp thông tin dự án.</a:t>
            </a:r>
          </a:p>
          <a:p>
            <a:pPr algn="just"/>
            <a:endParaRPr lang="vi-VN" sz="1200" dirty="0">
              <a:solidFill>
                <a:srgbClr val="002060"/>
              </a:solidFill>
            </a:endParaRPr>
          </a:p>
          <a:p>
            <a:pPr algn="just"/>
            <a:r>
              <a:rPr lang="vi-VN" dirty="0">
                <a:solidFill>
                  <a:srgbClr val="002060"/>
                </a:solidFill>
              </a:rPr>
              <a:t>Quy trình chính của quản lý truyền thông...</a:t>
            </a:r>
            <a:endParaRPr lang="en-US" dirty="0">
              <a:solidFill>
                <a:srgbClr val="002060"/>
              </a:solidFill>
            </a:endParaRPr>
          </a:p>
        </p:txBody>
      </p:sp>
      <p:sp>
        <p:nvSpPr>
          <p:cNvPr id="57346" name="Rectangle 2"/>
          <p:cNvSpPr>
            <a:spLocks noGrp="1" noChangeArrowheads="1"/>
          </p:cNvSpPr>
          <p:nvPr>
            <p:ph type="title"/>
          </p:nvPr>
        </p:nvSpPr>
        <p:spPr>
          <a:xfrm>
            <a:off x="457200" y="228600"/>
            <a:ext cx="8229600" cy="1143000"/>
          </a:xfrm>
        </p:spPr>
        <p:txBody>
          <a:bodyPr>
            <a:normAutofit/>
          </a:bodyPr>
          <a:lstStyle/>
          <a:p>
            <a:pPr algn="ctr"/>
            <a:r>
              <a:rPr lang="en-US" sz="4400" dirty="0" err="1">
                <a:solidFill>
                  <a:srgbClr val="0070C0"/>
                </a:solidFill>
              </a:rPr>
              <a:t>Tóm</a:t>
            </a:r>
            <a:r>
              <a:rPr lang="en-US" sz="4400" dirty="0">
                <a:solidFill>
                  <a:srgbClr val="0070C0"/>
                </a:solidFill>
              </a:rPr>
              <a:t> </a:t>
            </a:r>
            <a:r>
              <a:rPr lang="en-US" sz="4400" dirty="0" err="1">
                <a:solidFill>
                  <a:srgbClr val="0070C0"/>
                </a:solidFill>
              </a:rPr>
              <a:t>tắt</a:t>
            </a:r>
            <a:r>
              <a:rPr lang="en-US" sz="4400" dirty="0">
                <a:solidFill>
                  <a:srgbClr val="0070C0"/>
                </a:solidFill>
              </a:rPr>
              <a:t> </a:t>
            </a:r>
            <a:r>
              <a:rPr lang="en-US" sz="4400" dirty="0" err="1">
                <a:solidFill>
                  <a:srgbClr val="0070C0"/>
                </a:solidFill>
              </a:rPr>
              <a:t>chương</a:t>
            </a:r>
            <a:r>
              <a:rPr lang="en-US" sz="4400" dirty="0">
                <a:solidFill>
                  <a:srgbClr val="0070C0"/>
                </a:solidFill>
              </a:rPr>
              <a:t> 8</a:t>
            </a:r>
          </a:p>
        </p:txBody>
      </p:sp>
      <p:sp>
        <p:nvSpPr>
          <p:cNvPr id="573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62</a:t>
            </a:fld>
            <a:endParaRPr lang="en-US" dirty="0"/>
          </a:p>
        </p:txBody>
      </p:sp>
      <p:pic>
        <p:nvPicPr>
          <p:cNvPr id="8" name="Picture 7"/>
          <p:cNvPicPr>
            <a:picLocks noChangeAspect="1"/>
          </p:cNvPicPr>
          <p:nvPr/>
        </p:nvPicPr>
        <p:blipFill>
          <a:blip r:embed="rId2"/>
          <a:stretch>
            <a:fillRect/>
          </a:stretch>
        </p:blipFill>
        <p:spPr>
          <a:xfrm>
            <a:off x="2895600" y="3886200"/>
            <a:ext cx="5751479" cy="2286000"/>
          </a:xfrm>
          <a:prstGeom prst="rect">
            <a:avLst/>
          </a:prstGeom>
        </p:spPr>
      </p:pic>
    </p:spTree>
    <p:extLst>
      <p:ext uri="{BB962C8B-B14F-4D97-AF65-F5344CB8AC3E}">
        <p14:creationId xmlns:p14="http://schemas.microsoft.com/office/powerpoint/2010/main" val="133851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47">
                                            <p:txEl>
                                              <p:pRg st="2" end="2"/>
                                            </p:txEl>
                                          </p:spTgt>
                                        </p:tgtEl>
                                        <p:attrNameLst>
                                          <p:attrName>style.visibility</p:attrName>
                                        </p:attrNameLst>
                                      </p:cBhvr>
                                      <p:to>
                                        <p:strVal val="visible"/>
                                      </p:to>
                                    </p:set>
                                  </p:childTnLst>
                                </p:cTn>
                              </p:par>
                            </p:childTnLst>
                          </p:cTn>
                        </p:par>
                        <p:par>
                          <p:cTn id="11" fill="hold">
                            <p:stCondLst>
                              <p:cond delay="0"/>
                            </p:stCondLst>
                            <p:childTnLst>
                              <p:par>
                                <p:cTn id="12" presetID="10" presetClass="entr" presetSubtype="0" fill="hold"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a:xfrm>
            <a:off x="609600" y="1295400"/>
            <a:ext cx="8229600" cy="2438400"/>
          </a:xfrm>
        </p:spPr>
        <p:txBody>
          <a:bodyPr/>
          <a:lstStyle/>
          <a:p>
            <a:pPr lvl="1">
              <a:buSzPct val="80000"/>
              <a:buFont typeface="Wingdings 3" panose="05040102010807070707" pitchFamily="18" charset="2"/>
              <a:buChar char="}"/>
            </a:pPr>
            <a:r>
              <a:rPr lang="en-US" sz="2700" dirty="0" err="1"/>
              <a:t>Từ</a:t>
            </a:r>
            <a:r>
              <a:rPr lang="en-US" sz="2700" dirty="0"/>
              <a:t> </a:t>
            </a:r>
            <a:r>
              <a:rPr lang="en-US" sz="2700" dirty="0" err="1"/>
              <a:t>khóa</a:t>
            </a:r>
            <a:r>
              <a:rPr lang="en-US" sz="2700" dirty="0"/>
              <a:t> </a:t>
            </a:r>
            <a:r>
              <a:rPr lang="en-US" sz="2700" dirty="0" err="1"/>
              <a:t>chính</a:t>
            </a:r>
            <a:r>
              <a:rPr lang="en-US" sz="2700" dirty="0"/>
              <a:t>:</a:t>
            </a:r>
          </a:p>
          <a:p>
            <a:pPr lvl="2">
              <a:buClr>
                <a:srgbClr val="0070C0"/>
              </a:buClr>
              <a:buSzPct val="80000"/>
              <a:buFont typeface="Arial" panose="020B0604020202020204" pitchFamily="34" charset="0"/>
              <a:buChar char="•"/>
            </a:pPr>
            <a:r>
              <a:rPr lang="fr-FR" sz="2400" dirty="0">
                <a:solidFill>
                  <a:srgbClr val="0070C0"/>
                </a:solidFill>
              </a:rPr>
              <a:t>Plan communications management</a:t>
            </a:r>
          </a:p>
          <a:p>
            <a:pPr lvl="2">
              <a:buClr>
                <a:srgbClr val="0070C0"/>
              </a:buClr>
              <a:buSzPct val="80000"/>
              <a:buFont typeface="Arial" panose="020B0604020202020204" pitchFamily="34" charset="0"/>
              <a:buChar char="•"/>
            </a:pPr>
            <a:r>
              <a:rPr lang="fr-FR" sz="2400" dirty="0">
                <a:solidFill>
                  <a:srgbClr val="0070C0"/>
                </a:solidFill>
              </a:rPr>
              <a:t>Manage communications</a:t>
            </a:r>
          </a:p>
          <a:p>
            <a:pPr lvl="2">
              <a:buClr>
                <a:srgbClr val="0070C0"/>
              </a:buClr>
              <a:buSzPct val="80000"/>
              <a:buFont typeface="Arial" panose="020B0604020202020204" pitchFamily="34" charset="0"/>
              <a:buChar char="•"/>
            </a:pPr>
            <a:r>
              <a:rPr lang="fr-FR" sz="2400" dirty="0">
                <a:solidFill>
                  <a:srgbClr val="0070C0"/>
                </a:solidFill>
              </a:rPr>
              <a:t>Control communications</a:t>
            </a:r>
            <a:r>
              <a:rPr lang="en-US" sz="2400" dirty="0">
                <a:solidFill>
                  <a:srgbClr val="0070C0"/>
                </a:solidFill>
              </a:rPr>
              <a:t>.</a:t>
            </a:r>
          </a:p>
          <a:p>
            <a:pPr marL="630238" lvl="2" indent="0">
              <a:buSzPct val="80000"/>
              <a:buNone/>
            </a:pPr>
            <a:endParaRPr lang="en-US" sz="1200" dirty="0"/>
          </a:p>
        </p:txBody>
      </p:sp>
      <p:sp>
        <p:nvSpPr>
          <p:cNvPr id="57346" name="Rectangle 2"/>
          <p:cNvSpPr>
            <a:spLocks noGrp="1" noChangeArrowheads="1"/>
          </p:cNvSpPr>
          <p:nvPr>
            <p:ph type="title"/>
          </p:nvPr>
        </p:nvSpPr>
        <p:spPr>
          <a:xfrm>
            <a:off x="381000" y="0"/>
            <a:ext cx="8534400" cy="1143000"/>
          </a:xfrm>
        </p:spPr>
        <p:txBody>
          <a:bodyPr>
            <a:normAutofit/>
          </a:bodyPr>
          <a:lstStyle/>
          <a:p>
            <a:pPr algn="ctr"/>
            <a:r>
              <a:rPr lang="en-US" sz="4400" dirty="0" err="1">
                <a:solidFill>
                  <a:srgbClr val="0070C0"/>
                </a:solidFill>
              </a:rPr>
              <a:t>Từ</a:t>
            </a:r>
            <a:r>
              <a:rPr lang="en-US" sz="4400" dirty="0">
                <a:solidFill>
                  <a:srgbClr val="0070C0"/>
                </a:solidFill>
              </a:rPr>
              <a:t> </a:t>
            </a:r>
            <a:r>
              <a:rPr lang="en-US" sz="4400" dirty="0" err="1">
                <a:solidFill>
                  <a:srgbClr val="0070C0"/>
                </a:solidFill>
              </a:rPr>
              <a:t>khóa</a:t>
            </a:r>
            <a:endParaRPr lang="en-US" sz="4400" dirty="0">
              <a:solidFill>
                <a:srgbClr val="0070C0"/>
              </a:solidFill>
            </a:endParaRPr>
          </a:p>
        </p:txBody>
      </p:sp>
      <p:sp>
        <p:nvSpPr>
          <p:cNvPr id="57349" name="Footer Placeholder 6"/>
          <p:cNvSpPr>
            <a:spLocks noGrp="1"/>
          </p:cNvSpPr>
          <p:nvPr>
            <p:ph type="ftr" sz="quarter" idx="10"/>
          </p:nvPr>
        </p:nvSpPr>
        <p:spPr bwMode="auto">
          <a:noFill/>
          <a:ln>
            <a:miter lim="800000"/>
            <a:headEnd/>
            <a:tailEnd/>
          </a:ln>
        </p:spPr>
        <p:txBody>
          <a:bodyPr/>
          <a:lstStyle/>
          <a:p>
            <a:r>
              <a:rPr lang="en-US" dirty="0"/>
              <a:t>Quản </a:t>
            </a:r>
            <a:r>
              <a:rPr lang="en-US" dirty="0" err="1"/>
              <a:t>trị</a:t>
            </a:r>
            <a:r>
              <a:rPr lang="en-US" dirty="0"/>
              <a:t> </a:t>
            </a:r>
            <a:r>
              <a:rPr lang="en-US" dirty="0" err="1"/>
              <a:t>dự</a:t>
            </a:r>
            <a:r>
              <a:rPr lang="en-US" dirty="0"/>
              <a:t> </a:t>
            </a:r>
            <a:r>
              <a:rPr lang="en-US" dirty="0" err="1"/>
              <a:t>án</a:t>
            </a:r>
            <a:r>
              <a:rPr lang="en-US" dirty="0"/>
              <a:t> HTTT</a:t>
            </a:r>
          </a:p>
        </p:txBody>
      </p:sp>
      <p:sp>
        <p:nvSpPr>
          <p:cNvPr id="6" name="Slide Number Placeholder 5"/>
          <p:cNvSpPr>
            <a:spLocks noGrp="1"/>
          </p:cNvSpPr>
          <p:nvPr>
            <p:ph type="sldNum" sz="quarter" idx="11"/>
          </p:nvPr>
        </p:nvSpPr>
        <p:spPr/>
        <p:txBody>
          <a:bodyPr/>
          <a:lstStyle/>
          <a:p>
            <a:pPr>
              <a:defRPr/>
            </a:pPr>
            <a:fld id="{859A07A5-AED4-4C39-9781-B4BD2FA607DD}" type="slidenum">
              <a:rPr lang="en-US" smtClean="0"/>
              <a:pPr>
                <a:defRPr/>
              </a:pPr>
              <a:t>63</a:t>
            </a:fld>
            <a:endParaRPr lang="en-US" dirty="0"/>
          </a:p>
        </p:txBody>
      </p:sp>
      <p:sp>
        <p:nvSpPr>
          <p:cNvPr id="7" name="Rectangle 3"/>
          <p:cNvSpPr txBox="1">
            <a:spLocks noChangeArrowheads="1"/>
          </p:cNvSpPr>
          <p:nvPr/>
        </p:nvSpPr>
        <p:spPr bwMode="auto">
          <a:xfrm>
            <a:off x="609600" y="3200400"/>
            <a:ext cx="7620000" cy="2667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lvl="1">
              <a:buSzPct val="80000"/>
              <a:buFont typeface="Wingdings 3" panose="05040102010807070707" pitchFamily="18" charset="2"/>
              <a:buChar char="}"/>
            </a:pPr>
            <a:r>
              <a:rPr lang="en-US" sz="2700" dirty="0" err="1"/>
              <a:t>Từ</a:t>
            </a:r>
            <a:r>
              <a:rPr lang="en-US" sz="2700" dirty="0"/>
              <a:t> </a:t>
            </a:r>
            <a:r>
              <a:rPr lang="en-US" sz="2700" dirty="0" err="1"/>
              <a:t>khóa</a:t>
            </a:r>
            <a:r>
              <a:rPr lang="en-US" sz="2700" dirty="0"/>
              <a:t> </a:t>
            </a:r>
            <a:r>
              <a:rPr lang="en-US" sz="2700" dirty="0" err="1"/>
              <a:t>liên</a:t>
            </a:r>
            <a:r>
              <a:rPr lang="en-US" sz="2700" dirty="0"/>
              <a:t> </a:t>
            </a:r>
            <a:r>
              <a:rPr lang="en-US" sz="2700" dirty="0" err="1"/>
              <a:t>quan</a:t>
            </a:r>
            <a:r>
              <a:rPr lang="en-US" sz="2700" dirty="0"/>
              <a:t>:</a:t>
            </a:r>
          </a:p>
          <a:p>
            <a:pPr lvl="2">
              <a:buClr>
                <a:srgbClr val="0070C0"/>
              </a:buClr>
              <a:buSzPct val="80000"/>
              <a:buFont typeface="Arial" panose="020B0604020202020204" pitchFamily="34" charset="0"/>
              <a:buChar char="•"/>
            </a:pPr>
            <a:r>
              <a:rPr lang="en-US" sz="2400" dirty="0">
                <a:solidFill>
                  <a:srgbClr val="0070C0"/>
                </a:solidFill>
              </a:rPr>
              <a:t>Communications channels </a:t>
            </a:r>
          </a:p>
          <a:p>
            <a:pPr lvl="2">
              <a:buClr>
                <a:srgbClr val="0070C0"/>
              </a:buClr>
              <a:buSzPct val="80000"/>
              <a:buFont typeface="Arial" panose="020B0604020202020204" pitchFamily="34" charset="0"/>
              <a:buChar char="•"/>
            </a:pPr>
            <a:r>
              <a:rPr lang="en-US" sz="2400" dirty="0">
                <a:solidFill>
                  <a:srgbClr val="0070C0"/>
                </a:solidFill>
              </a:rPr>
              <a:t>Performance report</a:t>
            </a:r>
          </a:p>
          <a:p>
            <a:pPr lvl="2">
              <a:buClr>
                <a:srgbClr val="0070C0"/>
              </a:buClr>
              <a:buSzPct val="80000"/>
              <a:buFont typeface="Arial" panose="020B0604020202020204" pitchFamily="34" charset="0"/>
              <a:buChar char="•"/>
            </a:pPr>
            <a:r>
              <a:rPr lang="en-US" sz="2400" dirty="0">
                <a:solidFill>
                  <a:srgbClr val="0070C0"/>
                </a:solidFill>
              </a:rPr>
              <a:t>Lessons-learned report</a:t>
            </a:r>
          </a:p>
          <a:p>
            <a:pPr lvl="2">
              <a:buClr>
                <a:srgbClr val="0070C0"/>
              </a:buClr>
              <a:buSzPct val="80000"/>
              <a:buFont typeface="Arial" panose="020B0604020202020204" pitchFamily="34" charset="0"/>
              <a:buChar char="•"/>
            </a:pPr>
            <a:r>
              <a:rPr lang="en-US" sz="2400" dirty="0">
                <a:solidFill>
                  <a:srgbClr val="0070C0"/>
                </a:solidFill>
              </a:rPr>
              <a:t>Social media</a:t>
            </a:r>
          </a:p>
          <a:p>
            <a:pPr lvl="2">
              <a:buClr>
                <a:srgbClr val="0070C0"/>
              </a:buClr>
              <a:buSzPct val="80000"/>
              <a:buFont typeface="Arial" panose="020B0604020202020204" pitchFamily="34" charset="0"/>
              <a:buChar char="•"/>
            </a:pPr>
            <a:r>
              <a:rPr lang="en-US" sz="2400" dirty="0">
                <a:solidFill>
                  <a:srgbClr val="0070C0"/>
                </a:solidFill>
                <a:effectLst>
                  <a:outerShdw blurRad="38100" dist="38100" dir="2700000" algn="tl">
                    <a:srgbClr val="000000">
                      <a:alpha val="43137"/>
                    </a:srgbClr>
                  </a:outerShdw>
                </a:effectLst>
              </a:rPr>
              <a:t>Kanban</a:t>
            </a:r>
            <a:r>
              <a:rPr lang="en-US" sz="2400" dirty="0">
                <a:solidFill>
                  <a:srgbClr val="0070C0"/>
                </a:solidFill>
              </a:rPr>
              <a:t>…</a:t>
            </a:r>
            <a:endParaRPr lang="en-US" sz="2400" dirty="0"/>
          </a:p>
        </p:txBody>
      </p:sp>
    </p:spTree>
    <p:extLst>
      <p:ext uri="{BB962C8B-B14F-4D97-AF65-F5344CB8AC3E}">
        <p14:creationId xmlns:p14="http://schemas.microsoft.com/office/powerpoint/2010/main" val="164596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249"/>
                                          </p:stCondLst>
                                        </p:cTn>
                                        <p:tgtEl>
                                          <p:spTgt spid="57347">
                                            <p:txEl>
                                              <p:pRg st="0" end="0"/>
                                            </p:txEl>
                                          </p:spTgt>
                                        </p:tgtEl>
                                        <p:attrNameLst>
                                          <p:attrName>style.visibility</p:attrName>
                                        </p:attrNameLst>
                                      </p:cBhvr>
                                      <p:to>
                                        <p:strVal val="visible"/>
                                      </p:to>
                                    </p:set>
                                  </p:childTnLst>
                                </p:cTn>
                              </p:par>
                            </p:childTnLst>
                          </p:cTn>
                        </p:par>
                        <p:par>
                          <p:cTn id="7" fill="hold">
                            <p:stCondLst>
                              <p:cond delay="250"/>
                            </p:stCondLst>
                            <p:childTnLst>
                              <p:par>
                                <p:cTn id="8" presetID="1" presetClass="entr" presetSubtype="0" fill="hold" nodeType="afterEffect">
                                  <p:stCondLst>
                                    <p:cond delay="0"/>
                                  </p:stCondLst>
                                  <p:childTnLst>
                                    <p:set>
                                      <p:cBhvr>
                                        <p:cTn id="9" dur="1" fill="hold">
                                          <p:stCondLst>
                                            <p:cond delay="249"/>
                                          </p:stCondLst>
                                        </p:cTn>
                                        <p:tgtEl>
                                          <p:spTgt spid="57347">
                                            <p:txEl>
                                              <p:pRg st="1" end="1"/>
                                            </p:txEl>
                                          </p:spTgt>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249"/>
                                          </p:stCondLst>
                                        </p:cTn>
                                        <p:tgtEl>
                                          <p:spTgt spid="57347">
                                            <p:txEl>
                                              <p:pRg st="2" end="2"/>
                                            </p:txEl>
                                          </p:spTgt>
                                        </p:tgtEl>
                                        <p:attrNameLst>
                                          <p:attrName>style.visibility</p:attrName>
                                        </p:attrNameLst>
                                      </p:cBhvr>
                                      <p:to>
                                        <p:strVal val="visible"/>
                                      </p:to>
                                    </p:set>
                                  </p:childTnLst>
                                </p:cTn>
                              </p:par>
                            </p:childTnLst>
                          </p:cTn>
                        </p:par>
                        <p:par>
                          <p:cTn id="13" fill="hold">
                            <p:stCondLst>
                              <p:cond delay="750"/>
                            </p:stCondLst>
                            <p:childTnLst>
                              <p:par>
                                <p:cTn id="14" presetID="1" presetClass="entr" presetSubtype="0" fill="hold" nodeType="afterEffect">
                                  <p:stCondLst>
                                    <p:cond delay="0"/>
                                  </p:stCondLst>
                                  <p:childTnLst>
                                    <p:set>
                                      <p:cBhvr>
                                        <p:cTn id="15" dur="1" fill="hold">
                                          <p:stCondLst>
                                            <p:cond delay="249"/>
                                          </p:stCondLst>
                                        </p:cTn>
                                        <p:tgtEl>
                                          <p:spTgt spid="57347">
                                            <p:txEl>
                                              <p:pRg st="3" end="3"/>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249"/>
                                          </p:stCondLst>
                                        </p:cTn>
                                        <p:tgtEl>
                                          <p:spTgt spid="7">
                                            <p:txEl>
                                              <p:pRg st="1" end="1"/>
                                            </p:txEl>
                                          </p:spTgt>
                                        </p:tgtEl>
                                        <p:attrNameLst>
                                          <p:attrName>style.visibility</p:attrName>
                                        </p:attrNameLst>
                                      </p:cBhvr>
                                      <p:to>
                                        <p:strVal val="visible"/>
                                      </p:to>
                                    </p:set>
                                  </p:childTnLst>
                                </p:cTn>
                              </p:par>
                            </p:childTnLst>
                          </p:cTn>
                        </p:par>
                        <p:par>
                          <p:cTn id="23" fill="hold">
                            <p:stCondLst>
                              <p:cond delay="250"/>
                            </p:stCondLst>
                            <p:childTnLst>
                              <p:par>
                                <p:cTn id="24" presetID="1" presetClass="entr" presetSubtype="0" fill="hold" nodeType="afterEffect">
                                  <p:stCondLst>
                                    <p:cond delay="0"/>
                                  </p:stCondLst>
                                  <p:childTnLst>
                                    <p:set>
                                      <p:cBhvr>
                                        <p:cTn id="25" dur="1" fill="hold">
                                          <p:stCondLst>
                                            <p:cond delay="249"/>
                                          </p:stCondLst>
                                        </p:cTn>
                                        <p:tgtEl>
                                          <p:spTgt spid="7">
                                            <p:txEl>
                                              <p:pRg st="2" end="2"/>
                                            </p:txEl>
                                          </p:spTgt>
                                        </p:tgtEl>
                                        <p:attrNameLst>
                                          <p:attrName>style.visibility</p:attrName>
                                        </p:attrNameLst>
                                      </p:cBhvr>
                                      <p:to>
                                        <p:strVal val="visible"/>
                                      </p:to>
                                    </p:set>
                                  </p:childTnLst>
                                </p:cTn>
                              </p:par>
                            </p:childTnLst>
                          </p:cTn>
                        </p:par>
                        <p:par>
                          <p:cTn id="26" fill="hold">
                            <p:stCondLst>
                              <p:cond delay="500"/>
                            </p:stCondLst>
                            <p:childTnLst>
                              <p:par>
                                <p:cTn id="27" presetID="1" presetClass="entr" presetSubtype="0" fill="hold" nodeType="afterEffect">
                                  <p:stCondLst>
                                    <p:cond delay="0"/>
                                  </p:stCondLst>
                                  <p:childTnLst>
                                    <p:set>
                                      <p:cBhvr>
                                        <p:cTn id="28" dur="1" fill="hold">
                                          <p:stCondLst>
                                            <p:cond delay="249"/>
                                          </p:stCondLst>
                                        </p:cTn>
                                        <p:tgtEl>
                                          <p:spTgt spid="7">
                                            <p:txEl>
                                              <p:pRg st="3" end="3"/>
                                            </p:txEl>
                                          </p:spTgt>
                                        </p:tgtEl>
                                        <p:attrNameLst>
                                          <p:attrName>style.visibility</p:attrName>
                                        </p:attrNameLst>
                                      </p:cBhvr>
                                      <p:to>
                                        <p:strVal val="visible"/>
                                      </p:to>
                                    </p:set>
                                  </p:childTnLst>
                                </p:cTn>
                              </p:par>
                            </p:childTnLst>
                          </p:cTn>
                        </p:par>
                        <p:par>
                          <p:cTn id="29" fill="hold">
                            <p:stCondLst>
                              <p:cond delay="750"/>
                            </p:stCondLst>
                            <p:childTnLst>
                              <p:par>
                                <p:cTn id="30" presetID="1" presetClass="entr" presetSubtype="0" fill="hold" nodeType="afterEffect">
                                  <p:stCondLst>
                                    <p:cond delay="0"/>
                                  </p:stCondLst>
                                  <p:childTnLst>
                                    <p:set>
                                      <p:cBhvr>
                                        <p:cTn id="31" dur="1" fill="hold">
                                          <p:stCondLst>
                                            <p:cond delay="249"/>
                                          </p:stCondLst>
                                        </p:cTn>
                                        <p:tgtEl>
                                          <p:spTgt spid="7">
                                            <p:txEl>
                                              <p:pRg st="4" end="4"/>
                                            </p:txEl>
                                          </p:spTgt>
                                        </p:tgtEl>
                                        <p:attrNameLst>
                                          <p:attrName>style.visibility</p:attrName>
                                        </p:attrNameLst>
                                      </p:cBhvr>
                                      <p:to>
                                        <p:strVal val="visible"/>
                                      </p:to>
                                    </p:se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249"/>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81000" y="1219200"/>
            <a:ext cx="8229600" cy="2133600"/>
          </a:xfrm>
        </p:spPr>
        <p:txBody>
          <a:bodyPr>
            <a:noAutofit/>
          </a:bodyPr>
          <a:lstStyle/>
          <a:p>
            <a:pPr algn="ctr" eaLnBrk="1" fontAlgn="auto" hangingPunct="1">
              <a:spcAft>
                <a:spcPts val="0"/>
              </a:spcAft>
              <a:defRPr/>
            </a:pPr>
            <a:r>
              <a:rPr lang="vi-VN" sz="7200" dirty="0">
                <a:effectLst>
                  <a:outerShdw blurRad="38100" dist="38100" dir="2700000" algn="tl">
                    <a:srgbClr val="FFFFFF"/>
                  </a:outerShdw>
                </a:effectLst>
                <a:latin typeface="Arial Rounded MT Bold" pitchFamily="34" charset="0"/>
              </a:rPr>
              <a:t>Q&amp;A</a:t>
            </a:r>
            <a:endParaRPr sz="7200" dirty="0">
              <a:effectLst>
                <a:outerShdw blurRad="38100" dist="38100" dir="2700000" algn="tl">
                  <a:srgbClr val="FFFFFF"/>
                </a:outerShdw>
              </a:effectLst>
              <a:latin typeface="Arial Rounded MT Bold" pitchFamily="34" charset="0"/>
            </a:endParaRPr>
          </a:p>
        </p:txBody>
      </p:sp>
    </p:spTree>
    <p:extLst>
      <p:ext uri="{BB962C8B-B14F-4D97-AF65-F5344CB8AC3E}">
        <p14:creationId xmlns:p14="http://schemas.microsoft.com/office/powerpoint/2010/main" val="32964977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22425"/>
            <a:ext cx="8077200" cy="1349375"/>
          </a:xfrm>
        </p:spPr>
        <p:txBody>
          <a:bodyPr>
            <a:noAutofit/>
          </a:bodyPr>
          <a:lstStyle/>
          <a:p>
            <a:pPr eaLnBrk="1" fontAlgn="auto" hangingPunct="1">
              <a:spcAft>
                <a:spcPts val="0"/>
              </a:spcAft>
              <a:defRPr/>
            </a:pPr>
            <a:r>
              <a:rPr lang="vi-VN" b="0" dirty="0">
                <a:effectLst/>
              </a:rPr>
              <a:t>Chương kế tiếp...</a:t>
            </a:r>
            <a:br>
              <a:rPr b="0" dirty="0">
                <a:effectLst/>
              </a:rPr>
            </a:br>
            <a:r>
              <a:rPr lang="vi-VN" b="0" dirty="0">
                <a:effectLst/>
              </a:rPr>
              <a:t>QUẢN LÝ RỦI RO DỰ ÁN</a:t>
            </a:r>
            <a:endParaRPr b="0" dirty="0">
              <a:effectLst/>
            </a:endParaRPr>
          </a:p>
        </p:txBody>
      </p:sp>
    </p:spTree>
    <p:extLst>
      <p:ext uri="{BB962C8B-B14F-4D97-AF65-F5344CB8AC3E}">
        <p14:creationId xmlns:p14="http://schemas.microsoft.com/office/powerpoint/2010/main" val="2849452357"/>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3544</TotalTime>
  <Words>3222</Words>
  <Application>Microsoft Office PowerPoint</Application>
  <PresentationFormat>On-screen Show (4:3)</PresentationFormat>
  <Paragraphs>387</Paragraphs>
  <Slides>65</Slides>
  <Notes>15</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65</vt:i4>
      </vt:variant>
    </vt:vector>
  </HeadingPairs>
  <TitlesOfParts>
    <vt:vector size="76" baseType="lpstr">
      <vt:lpstr>Arial</vt:lpstr>
      <vt:lpstr>Arial Rounded MT Bold</vt:lpstr>
      <vt:lpstr>Bodoni MT</vt:lpstr>
      <vt:lpstr>Calibri</vt:lpstr>
      <vt:lpstr>Lucida Sans Unicode</vt:lpstr>
      <vt:lpstr>Times New Roman</vt:lpstr>
      <vt:lpstr>Verdana</vt:lpstr>
      <vt:lpstr>Wingdings 2</vt:lpstr>
      <vt:lpstr>Wingdings 3</vt:lpstr>
      <vt:lpstr>Custom Design</vt:lpstr>
      <vt:lpstr>Theme1</vt:lpstr>
      <vt:lpstr>Chương 8 QUẢN LÝ TRUYỀN THÔNG DỰ ÁN</vt:lpstr>
      <vt:lpstr>Mục tiêu chương 8</vt:lpstr>
      <vt:lpstr>Nhắc lại kiến thức</vt:lpstr>
      <vt:lpstr>Khung quản lý dự án</vt:lpstr>
      <vt:lpstr> QUẢN LÝ LÝ TRUYỀN THÔNG DỰ ÁN</vt:lpstr>
      <vt:lpstr>QUẢN LÝ TRUYỀN THÔNG DỰ ÁN</vt:lpstr>
      <vt:lpstr>Các kênh truyền thông dự án</vt:lpstr>
      <vt:lpstr>Tầm quan trọng của truyền thông</vt:lpstr>
      <vt:lpstr>Các kỹ năng mềm quan trọng (2014)</vt:lpstr>
      <vt:lpstr>Tương tác trong dự án [truyền thông]</vt:lpstr>
      <vt:lpstr>Quản lý truyền thông dự án [3]</vt:lpstr>
      <vt:lpstr>Quy trình quản lý truyền thông</vt:lpstr>
      <vt:lpstr>Tóm tắt quản lý truyền thông dự án</vt:lpstr>
      <vt:lpstr>Chìa khóa để truyền thông tốt</vt:lpstr>
      <vt:lpstr>Tính cách và truyền thông</vt:lpstr>
      <vt:lpstr>Truyền thông nhóm và cá nhân</vt:lpstr>
      <vt:lpstr>Truyền thông chính thức - không chính thức</vt:lpstr>
      <vt:lpstr>Truyền thông mặt đối mặt</vt:lpstr>
      <vt:lpstr>Khuyến khích mặt đối mặt</vt:lpstr>
      <vt:lpstr>Họp đứng</vt:lpstr>
      <vt:lpstr>Stand-up meeting</vt:lpstr>
      <vt:lpstr>Phân phối thông tin</vt:lpstr>
      <vt:lpstr>Ví dụ, tin xấu…</vt:lpstr>
      <vt:lpstr>Các vấn đề khác</vt:lpstr>
      <vt:lpstr>Ví dụ, văn hóa…</vt:lpstr>
      <vt:lpstr>Số kênh truyền thông</vt:lpstr>
      <vt:lpstr>Ví dụ, số kênh truyền thông</vt:lpstr>
      <vt:lpstr>Quản lý truyền thông dự án [1/3]</vt:lpstr>
      <vt:lpstr>1. Kế hoạch quản lý tryền thông</vt:lpstr>
      <vt:lpstr>Nội dung kế hoạch truyền thông</vt:lpstr>
      <vt:lpstr>Mô hình truyền thông cơ bản</vt:lpstr>
      <vt:lpstr>Ví dụ, phân tích các bên liên quan</vt:lpstr>
      <vt:lpstr>PowerPoint Presentation</vt:lpstr>
      <vt:lpstr>Quản lý truyền thông dự án [2/3]</vt:lpstr>
      <vt:lpstr>2. Quản lý truyền thông</vt:lpstr>
      <vt:lpstr>Tạo và phân phối thông tin</vt:lpstr>
      <vt:lpstr>PowerPoint Presentation</vt:lpstr>
      <vt:lpstr>Phân loại truyền thông</vt:lpstr>
      <vt:lpstr>Bảng lựa chọn loại truyền thông</vt:lpstr>
      <vt:lpstr>Cộng tác</vt:lpstr>
      <vt:lpstr>Báo cáo thực hiện</vt:lpstr>
      <vt:lpstr>Quản lý truyền thông dự án [3/3]</vt:lpstr>
      <vt:lpstr>3. Kiểm soát truyền thông</vt:lpstr>
      <vt:lpstr>Cải thiện truyền thông dự án</vt:lpstr>
      <vt:lpstr>Phát triển kỹ năng truyền thông</vt:lpstr>
      <vt:lpstr>Truyền thông xã hội</vt:lpstr>
      <vt:lpstr>PowerPoint Presentation</vt:lpstr>
      <vt:lpstr>Cuộc họp thực hiện</vt:lpstr>
      <vt:lpstr>E-mail, tin nhắn, công cụ cộng tác</vt:lpstr>
      <vt:lpstr>Ví dụ, các công cụ cộng tác</vt:lpstr>
      <vt:lpstr>Ví dụ, Kaban</vt:lpstr>
      <vt:lpstr>Mẫu biểu cho truyền thông dự án</vt:lpstr>
      <vt:lpstr>Ví dụ, mẫu mô tả dự án SMART D021</vt:lpstr>
      <vt:lpstr>Ví dụ, mẫu báo cáo tiến độ hàng tháng</vt:lpstr>
      <vt:lpstr>Ví dụ, các tài liệu dự án cuối cùng</vt:lpstr>
      <vt:lpstr>Bài học kinh nghiệm</vt:lpstr>
      <vt:lpstr>Tài liệu lưu trữ dự án</vt:lpstr>
      <vt:lpstr>Trang web dự án</vt:lpstr>
      <vt:lpstr>Ví dụ, Basecamp trên nhiều thiết bị</vt:lpstr>
      <vt:lpstr>Phần mềm hỗ trợ quản lý tryền thông</vt:lpstr>
      <vt:lpstr> TÓM TẮT &amp; TỪ KHÓA </vt:lpstr>
      <vt:lpstr>Tóm tắt chương 8</vt:lpstr>
      <vt:lpstr>Từ khóa</vt:lpstr>
      <vt:lpstr>Q&amp;A</vt:lpstr>
      <vt:lpstr>Chương kế tiếp... QUẢN LÝ RỦI RO DỰ ÁN</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Tung Le</cp:lastModifiedBy>
  <cp:revision>486</cp:revision>
  <dcterms:created xsi:type="dcterms:W3CDTF">2001-07-05T23:10:12Z</dcterms:created>
  <dcterms:modified xsi:type="dcterms:W3CDTF">2024-02-27T13:19:35Z</dcterms:modified>
</cp:coreProperties>
</file>