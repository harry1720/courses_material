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  <p:sldMasterId id="2147483831" r:id="rId2"/>
  </p:sldMasterIdLst>
  <p:notesMasterIdLst>
    <p:notesMasterId r:id="rId80"/>
  </p:notesMasterIdLst>
  <p:handoutMasterIdLst>
    <p:handoutMasterId r:id="rId81"/>
  </p:handoutMasterIdLst>
  <p:sldIdLst>
    <p:sldId id="257" r:id="rId3"/>
    <p:sldId id="420" r:id="rId4"/>
    <p:sldId id="407" r:id="rId5"/>
    <p:sldId id="408" r:id="rId6"/>
    <p:sldId id="409" r:id="rId7"/>
    <p:sldId id="410" r:id="rId8"/>
    <p:sldId id="336" r:id="rId9"/>
    <p:sldId id="440" r:id="rId10"/>
    <p:sldId id="387" r:id="rId11"/>
    <p:sldId id="389" r:id="rId12"/>
    <p:sldId id="406" r:id="rId13"/>
    <p:sldId id="405" r:id="rId14"/>
    <p:sldId id="340" r:id="rId15"/>
    <p:sldId id="390" r:id="rId16"/>
    <p:sldId id="341" r:id="rId17"/>
    <p:sldId id="342" r:id="rId18"/>
    <p:sldId id="343" r:id="rId19"/>
    <p:sldId id="344" r:id="rId20"/>
    <p:sldId id="345" r:id="rId21"/>
    <p:sldId id="391" r:id="rId22"/>
    <p:sldId id="346" r:id="rId23"/>
    <p:sldId id="347" r:id="rId24"/>
    <p:sldId id="424" r:id="rId25"/>
    <p:sldId id="431" r:id="rId26"/>
    <p:sldId id="351" r:id="rId27"/>
    <p:sldId id="352" r:id="rId28"/>
    <p:sldId id="353" r:id="rId29"/>
    <p:sldId id="402" r:id="rId30"/>
    <p:sldId id="404" r:id="rId31"/>
    <p:sldId id="403" r:id="rId32"/>
    <p:sldId id="430" r:id="rId33"/>
    <p:sldId id="416" r:id="rId34"/>
    <p:sldId id="355" r:id="rId35"/>
    <p:sldId id="356" r:id="rId36"/>
    <p:sldId id="357" r:id="rId37"/>
    <p:sldId id="358" r:id="rId38"/>
    <p:sldId id="359" r:id="rId39"/>
    <p:sldId id="361" r:id="rId40"/>
    <p:sldId id="362" r:id="rId41"/>
    <p:sldId id="363" r:id="rId42"/>
    <p:sldId id="417" r:id="rId43"/>
    <p:sldId id="425" r:id="rId44"/>
    <p:sldId id="364" r:id="rId45"/>
    <p:sldId id="392" r:id="rId46"/>
    <p:sldId id="339" r:id="rId47"/>
    <p:sldId id="366" r:id="rId48"/>
    <p:sldId id="367" r:id="rId49"/>
    <p:sldId id="368" r:id="rId50"/>
    <p:sldId id="369" r:id="rId51"/>
    <p:sldId id="370" r:id="rId52"/>
    <p:sldId id="418" r:id="rId53"/>
    <p:sldId id="371" r:id="rId54"/>
    <p:sldId id="372" r:id="rId55"/>
    <p:sldId id="373" r:id="rId56"/>
    <p:sldId id="374" r:id="rId57"/>
    <p:sldId id="434" r:id="rId58"/>
    <p:sldId id="435" r:id="rId59"/>
    <p:sldId id="395" r:id="rId60"/>
    <p:sldId id="439" r:id="rId61"/>
    <p:sldId id="432" r:id="rId62"/>
    <p:sldId id="379" r:id="rId63"/>
    <p:sldId id="419" r:id="rId64"/>
    <p:sldId id="380" r:id="rId65"/>
    <p:sldId id="381" r:id="rId66"/>
    <p:sldId id="400" r:id="rId67"/>
    <p:sldId id="399" r:id="rId68"/>
    <p:sldId id="401" r:id="rId69"/>
    <p:sldId id="397" r:id="rId70"/>
    <p:sldId id="438" r:id="rId71"/>
    <p:sldId id="429" r:id="rId72"/>
    <p:sldId id="384" r:id="rId73"/>
    <p:sldId id="415" r:id="rId74"/>
    <p:sldId id="411" r:id="rId75"/>
    <p:sldId id="412" r:id="rId76"/>
    <p:sldId id="437" r:id="rId77"/>
    <p:sldId id="413" r:id="rId78"/>
    <p:sldId id="414" r:id="rId7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2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2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2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2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chwalbe" initials="ks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D9EA"/>
    <a:srgbClr val="70D6EA"/>
    <a:srgbClr val="FF0000"/>
    <a:srgbClr val="666699"/>
    <a:srgbClr val="5B5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7" autoAdjust="0"/>
    <p:restoredTop sz="74003" autoAdjust="0"/>
  </p:normalViewPr>
  <p:slideViewPr>
    <p:cSldViewPr>
      <p:cViewPr varScale="1">
        <p:scale>
          <a:sx n="62" d="100"/>
          <a:sy n="62" d="100"/>
        </p:scale>
        <p:origin x="1978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-9807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viewProps" Target="viewProps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notesMaster" Target="notesMasters/notesMaster1.xml"/><Relationship Id="rId85" Type="http://schemas.openxmlformats.org/officeDocument/2006/relationships/theme" Target="theme/theme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handoutMaster" Target="handoutMasters/handoutMaster1.xml"/><Relationship Id="rId86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61" Type="http://schemas.openxmlformats.org/officeDocument/2006/relationships/slide" Target="slides/slide59.xml"/><Relationship Id="rId82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FontTx/>
              <a:buNone/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FontTx/>
              <a:buNone/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93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FontTx/>
              <a:buNone/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93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FontTx/>
              <a:buNone/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DE7A870C-EC54-4148-901E-A516377A0CF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53046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FontTx/>
              <a:buNone/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FontTx/>
              <a:buNone/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066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8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68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FontTx/>
              <a:buNone/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68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FontTx/>
              <a:buNone/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00C9DF17-3590-4592-BD36-41A88398513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000665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/>
          </a:p>
        </p:txBody>
      </p:sp>
      <p:sp>
        <p:nvSpPr>
          <p:cNvPr id="716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57FC25B-8351-41F2-BCDE-922E655F08A3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60058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B628D5B-A7C7-42E0-BFEE-8A6E6DE4D620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23614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4DE4318-E4BE-49A8-80E2-9AEFB83AE894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48367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4DE4318-E4BE-49A8-80E2-9AEFB83AE894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42105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Making the most effective use of the people involved with a project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0C9DF17-3590-4592-BD36-41A88398513D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77516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0C9DF17-3590-4592-BD36-41A88398513D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81857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0C9DF17-3590-4592-BD36-41A88398513D}" type="slidenum">
              <a:rPr lang="en-US" smtClean="0"/>
              <a:pPr>
                <a:defRPr/>
              </a:pPr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7810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0C9DF17-3590-4592-BD36-41A88398513D}" type="slidenum">
              <a:rPr lang="en-US" smtClean="0"/>
              <a:pPr>
                <a:defRPr/>
              </a:pPr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65887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>
              <a:lnSpc>
                <a:spcPct val="90000"/>
              </a:lnSpc>
            </a:pPr>
            <a:r>
              <a:rPr lang="en-US" sz="2000" dirty="0" err="1"/>
              <a:t>Mỗi</a:t>
            </a:r>
            <a:r>
              <a:rPr lang="en-US" sz="2000" dirty="0"/>
              <a:t> </a:t>
            </a:r>
            <a:r>
              <a:rPr lang="en-US" sz="2000" dirty="0" err="1"/>
              <a:t>nhân</a:t>
            </a:r>
            <a:r>
              <a:rPr lang="en-US" sz="2000" dirty="0"/>
              <a:t> </a:t>
            </a:r>
            <a:r>
              <a:rPr lang="en-US" sz="2000" dirty="0" err="1"/>
              <a:t>viên</a:t>
            </a:r>
            <a:r>
              <a:rPr lang="en-US" sz="2000" dirty="0"/>
              <a:t> </a:t>
            </a:r>
            <a:r>
              <a:rPr lang="en-US" sz="2000" dirty="0" err="1"/>
              <a:t>sẽ</a:t>
            </a:r>
            <a:r>
              <a:rPr lang="en-US" sz="2000" dirty="0"/>
              <a:t> </a:t>
            </a:r>
            <a:r>
              <a:rPr lang="en-US" sz="2000" dirty="0" err="1"/>
              <a:t>được</a:t>
            </a:r>
            <a:r>
              <a:rPr lang="en-US" sz="2000" dirty="0"/>
              <a:t> </a:t>
            </a:r>
            <a:r>
              <a:rPr lang="en-US" sz="2000" dirty="0" err="1"/>
              <a:t>công</a:t>
            </a:r>
            <a:r>
              <a:rPr lang="en-US" sz="2000" dirty="0"/>
              <a:t> ty </a:t>
            </a:r>
            <a:r>
              <a:rPr lang="en-US" sz="2000" dirty="0" err="1"/>
              <a:t>trả</a:t>
            </a:r>
            <a:r>
              <a:rPr lang="en-US" sz="2000" dirty="0"/>
              <a:t> 1</a:t>
            </a:r>
            <a:r>
              <a:rPr lang="en-US" sz="2000" baseline="0" dirty="0"/>
              <a:t> USD </a:t>
            </a:r>
            <a:r>
              <a:rPr lang="en-US" sz="2000" dirty="0" err="1"/>
              <a:t>cho</a:t>
            </a:r>
            <a:r>
              <a:rPr lang="en-US" sz="2000" dirty="0"/>
              <a:t> </a:t>
            </a:r>
            <a:r>
              <a:rPr lang="en-US" sz="2000" dirty="0" err="1"/>
              <a:t>mỗi</a:t>
            </a:r>
            <a:r>
              <a:rPr lang="en-US" sz="2000" dirty="0"/>
              <a:t> </a:t>
            </a:r>
            <a:r>
              <a:rPr lang="en-US" sz="2000" dirty="0" err="1"/>
              <a:t>giờ</a:t>
            </a:r>
            <a:r>
              <a:rPr lang="en-US" sz="2000" dirty="0"/>
              <a:t> </a:t>
            </a:r>
            <a:r>
              <a:rPr lang="en-US" sz="2000" dirty="0" err="1"/>
              <a:t>họ</a:t>
            </a:r>
            <a:r>
              <a:rPr lang="en-US" sz="2000" dirty="0"/>
              <a:t> </a:t>
            </a:r>
            <a:r>
              <a:rPr lang="en-US" sz="2000" dirty="0" err="1"/>
              <a:t>giúp</a:t>
            </a:r>
            <a:r>
              <a:rPr lang="en-US" sz="2000" dirty="0"/>
              <a:t> </a:t>
            </a:r>
            <a:r>
              <a:rPr lang="en-US" sz="2000" dirty="0" err="1"/>
              <a:t>nhân</a:t>
            </a:r>
            <a:r>
              <a:rPr lang="en-US" sz="2000" dirty="0"/>
              <a:t> </a:t>
            </a:r>
            <a:r>
              <a:rPr lang="en-US" sz="2000" dirty="0" err="1"/>
              <a:t>viên</a:t>
            </a:r>
            <a:r>
              <a:rPr lang="en-US" sz="2000" dirty="0"/>
              <a:t> </a:t>
            </a:r>
            <a:r>
              <a:rPr lang="en-US" sz="2000" dirty="0" err="1"/>
              <a:t>mới</a:t>
            </a:r>
            <a:r>
              <a:rPr lang="en-US" sz="2000" dirty="0"/>
              <a:t> </a:t>
            </a:r>
            <a:r>
              <a:rPr lang="en-US" sz="2000" dirty="0" err="1"/>
              <a:t>làm</a:t>
            </a:r>
            <a:r>
              <a:rPr lang="en-US" sz="2000" dirty="0"/>
              <a:t> </a:t>
            </a:r>
            <a:r>
              <a:rPr lang="en-US" sz="2000" dirty="0" err="1"/>
              <a:t>việc</a:t>
            </a:r>
            <a:r>
              <a:rPr lang="en-US" sz="2000" dirty="0"/>
              <a:t>.</a:t>
            </a:r>
          </a:p>
          <a:p>
            <a:pPr lvl="1">
              <a:lnSpc>
                <a:spcPct val="90000"/>
              </a:lnSpc>
            </a:pPr>
            <a:r>
              <a:rPr lang="en-US" sz="2000" dirty="0" err="1"/>
              <a:t>Một</a:t>
            </a:r>
            <a:r>
              <a:rPr lang="en-US" sz="2000" dirty="0"/>
              <a:t> </a:t>
            </a:r>
            <a:r>
              <a:rPr lang="en-US" sz="2000" dirty="0" err="1"/>
              <a:t>số</a:t>
            </a:r>
            <a:r>
              <a:rPr lang="en-US" sz="2000" dirty="0"/>
              <a:t> </a:t>
            </a:r>
            <a:r>
              <a:rPr lang="en-US" sz="2000" dirty="0" err="1"/>
              <a:t>tổ</a:t>
            </a:r>
            <a:r>
              <a:rPr lang="en-US" sz="2000" dirty="0"/>
              <a:t> </a:t>
            </a:r>
            <a:r>
              <a:rPr lang="en-US" sz="2000" dirty="0" err="1"/>
              <a:t>chức</a:t>
            </a:r>
            <a:r>
              <a:rPr lang="en-US" sz="2000" dirty="0"/>
              <a:t> </a:t>
            </a:r>
            <a:r>
              <a:rPr lang="en-US" sz="2000" dirty="0" err="1"/>
              <a:t>ưu</a:t>
            </a:r>
            <a:r>
              <a:rPr lang="en-US" sz="2000" dirty="0"/>
              <a:t> </a:t>
            </a:r>
            <a:r>
              <a:rPr lang="en-US" sz="2000" dirty="0" err="1"/>
              <a:t>đãi</a:t>
            </a:r>
            <a:r>
              <a:rPr lang="en-US" sz="2000" dirty="0"/>
              <a:t> </a:t>
            </a:r>
            <a:r>
              <a:rPr lang="en-US" sz="2000" dirty="0" err="1"/>
              <a:t>cho</a:t>
            </a:r>
            <a:r>
              <a:rPr lang="en-US" sz="2000" dirty="0"/>
              <a:t> </a:t>
            </a:r>
            <a:r>
              <a:rPr lang="en-US" sz="2000" dirty="0" err="1"/>
              <a:t>nhân</a:t>
            </a:r>
            <a:r>
              <a:rPr lang="en-US" sz="2000" dirty="0"/>
              <a:t> </a:t>
            </a:r>
            <a:r>
              <a:rPr lang="en-US" sz="2000" dirty="0" err="1"/>
              <a:t>viên</a:t>
            </a:r>
            <a:r>
              <a:rPr lang="en-US" sz="2000" dirty="0"/>
              <a:t> </a:t>
            </a:r>
            <a:r>
              <a:rPr lang="en-US" sz="2000" dirty="0" err="1"/>
              <a:t>được</a:t>
            </a:r>
            <a:r>
              <a:rPr lang="en-US" sz="2000" dirty="0"/>
              <a:t> </a:t>
            </a:r>
            <a:r>
              <a:rPr lang="en-US" sz="2000" dirty="0" err="1"/>
              <a:t>làm</a:t>
            </a:r>
            <a:r>
              <a:rPr lang="en-US" sz="2000" dirty="0"/>
              <a:t> </a:t>
            </a:r>
            <a:r>
              <a:rPr lang="en-US" sz="2000" dirty="0" err="1"/>
              <a:t>việc</a:t>
            </a:r>
            <a:r>
              <a:rPr lang="en-US" sz="2000" dirty="0"/>
              <a:t> </a:t>
            </a:r>
            <a:r>
              <a:rPr lang="en-US" sz="2000" dirty="0" err="1"/>
              <a:t>tại</a:t>
            </a:r>
            <a:r>
              <a:rPr lang="en-US" sz="2000" dirty="0"/>
              <a:t> </a:t>
            </a:r>
            <a:r>
              <a:rPr lang="en-US" sz="2000" dirty="0" err="1"/>
              <a:t>nhà</a:t>
            </a:r>
            <a:r>
              <a:rPr lang="en-US" sz="2000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0C9DF17-3590-4592-BD36-41A88398513D}" type="slidenum">
              <a:rPr lang="en-US" smtClean="0"/>
              <a:pPr>
                <a:defRPr/>
              </a:pPr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18535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Myers-Briggs Type Indicator </a:t>
            </a:r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0C9DF17-3590-4592-BD36-41A88398513D}" type="slidenum">
              <a:rPr lang="en-US" smtClean="0"/>
              <a:pPr>
                <a:defRPr/>
              </a:pPr>
              <a:t>55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23762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dirty="0"/>
              <a:t>ISTJ - Người trách nhiệm</a:t>
            </a:r>
          </a:p>
          <a:p>
            <a:r>
              <a:rPr lang="vi-VN" dirty="0"/>
              <a:t>ISFJ – Người nuôi dưỡng</a:t>
            </a:r>
          </a:p>
          <a:p>
            <a:r>
              <a:rPr lang="vi-VN" dirty="0"/>
              <a:t>ISFP - Người nghệ sĩ</a:t>
            </a:r>
          </a:p>
          <a:p>
            <a:r>
              <a:rPr lang="vi-VN" dirty="0"/>
              <a:t>ISTP - Thợ lành nghề</a:t>
            </a:r>
          </a:p>
          <a:p>
            <a:r>
              <a:rPr lang="vi-VN" dirty="0"/>
              <a:t>INFJ - Người che chở</a:t>
            </a:r>
          </a:p>
          <a:p>
            <a:r>
              <a:rPr lang="vi-VN" dirty="0"/>
              <a:t>INFP - Người lý tưởng hóa</a:t>
            </a:r>
          </a:p>
          <a:p>
            <a:r>
              <a:rPr lang="vi-VN" dirty="0"/>
              <a:t>INTJ - Người có trí tuệ bậc thầy</a:t>
            </a:r>
          </a:p>
          <a:p>
            <a:r>
              <a:rPr lang="vi-VN" dirty="0"/>
              <a:t>INTP - Nhà tư duy</a:t>
            </a:r>
          </a:p>
          <a:p>
            <a:r>
              <a:rPr lang="vi-VN" dirty="0"/>
              <a:t>ENFJ - Người cho đi</a:t>
            </a:r>
          </a:p>
          <a:p>
            <a:r>
              <a:rPr lang="vi-VN" dirty="0"/>
              <a:t>ENFP - Người truyền cảm hứng</a:t>
            </a:r>
          </a:p>
          <a:p>
            <a:r>
              <a:rPr lang="vi-VN" dirty="0"/>
              <a:t>ENTJ - Nhà điều hành</a:t>
            </a:r>
          </a:p>
          <a:p>
            <a:r>
              <a:rPr lang="vi-VN" dirty="0"/>
              <a:t>ENTP - Người có tầm nhìn</a:t>
            </a:r>
          </a:p>
          <a:p>
            <a:r>
              <a:rPr lang="vi-VN" dirty="0"/>
              <a:t>ESFJ - Người quan tâm</a:t>
            </a:r>
          </a:p>
          <a:p>
            <a:r>
              <a:rPr lang="vi-VN" dirty="0"/>
              <a:t>ESFP - Người trình diễn</a:t>
            </a:r>
          </a:p>
          <a:p>
            <a:r>
              <a:rPr lang="vi-VN" dirty="0"/>
              <a:t>ESTJ - Người giám sát</a:t>
            </a:r>
          </a:p>
          <a:p>
            <a:r>
              <a:rPr lang="vi-VN" dirty="0"/>
              <a:t>ESTP - Người sáng lập</a:t>
            </a:r>
          </a:p>
          <a:p>
            <a:pPr>
              <a:lnSpc>
                <a:spcPct val="90000"/>
              </a:lnSpc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0C9DF17-3590-4592-BD36-41A88398513D}" type="slidenum">
              <a:rPr lang="en-US" smtClean="0"/>
              <a:pPr>
                <a:defRPr/>
              </a:pPr>
              <a:t>56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2986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0C9DF17-3590-4592-BD36-41A88398513D}" type="slidenum">
              <a:rPr lang="en-US" smtClean="0"/>
              <a:pPr>
                <a:defRPr/>
              </a:pPr>
              <a:t>57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5930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0C9DF17-3590-4592-BD36-41A88398513D}" type="slidenum">
              <a:rPr lang="en-US" smtClean="0"/>
              <a:pPr>
                <a:defRPr/>
              </a:pPr>
              <a:t>58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55624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Dựa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quyết</a:t>
            </a:r>
            <a:r>
              <a:rPr lang="en-US" dirty="0"/>
              <a:t> </a:t>
            </a:r>
            <a:r>
              <a:rPr lang="en-US" dirty="0" err="1"/>
              <a:t>đoán</a:t>
            </a:r>
            <a:r>
              <a:rPr lang="en-US" dirty="0"/>
              <a:t> và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đáp</a:t>
            </a:r>
            <a:r>
              <a:rPr lang="en-US" baseline="0" dirty="0"/>
              <a:t> </a:t>
            </a:r>
            <a:r>
              <a:rPr lang="en-US" dirty="0" err="1"/>
              <a:t>ứng</a:t>
            </a:r>
            <a:r>
              <a:rPr lang="en-US" dirty="0"/>
              <a:t>… </a:t>
            </a:r>
          </a:p>
          <a:p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0C9DF17-3590-4592-BD36-41A88398513D}" type="slidenum">
              <a:rPr lang="en-US" smtClean="0"/>
              <a:pPr>
                <a:defRPr/>
              </a:pPr>
              <a:t>59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92440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8054850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939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593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DE47B17-5236-40BE-93D3-1F5307651A8C}" type="slidenum">
              <a:rPr lang="en-US" smtClean="0"/>
              <a:pPr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17863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939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  <p:sp>
        <p:nvSpPr>
          <p:cNvPr id="593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DE47B17-5236-40BE-93D3-1F5307651A8C}" type="slidenum">
              <a:rPr lang="en-US" smtClean="0"/>
              <a:pPr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4649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8D802E-F52E-461F-BFF5-6AE598ABF8D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57F888-E501-48F3-9F3B-E94CAD1CF6E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BC4DAC-D3A4-423A-93B6-4513E822D50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BE031C-0932-42DE-9740-24C917046CB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1ACE5F-0C5F-4F29-8F8B-F5D8D5BAD62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9AB6D4-536C-4F2D-8487-80BC37C22B8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833E64-A5E0-46D0-93B8-B3AA3BEE397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FBBD74-B68B-41FB-B818-EE107B10752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9C8ED8-FECA-44D6-8546-AFBFD79A34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800A86-DA4D-4B0A-B487-55E3CE2ABAC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315A71-C977-48CA-A0E0-4ECEA699ED9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/>
          <p:cNvSpPr/>
          <p:nvPr/>
        </p:nvSpPr>
        <p:spPr>
          <a:xfrm>
            <a:off x="0" y="4664075"/>
            <a:ext cx="9150350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grpSp>
        <p:nvGrpSpPr>
          <p:cNvPr id="2" name="Group 15"/>
          <p:cNvGrpSpPr>
            <a:grpSpLocks/>
          </p:cNvGrpSpPr>
          <p:nvPr/>
        </p:nvGrpSpPr>
        <p:grpSpPr bwMode="auto">
          <a:xfrm>
            <a:off x="-3175" y="4953000"/>
            <a:ext cx="9147175" cy="1911350"/>
            <a:chOff x="-3765" y="4832896"/>
            <a:chExt cx="9147765" cy="2032192"/>
          </a:xfrm>
        </p:grpSpPr>
        <p:sp>
          <p:nvSpPr>
            <p:cNvPr id="6" name="Freeform 5"/>
            <p:cNvSpPr>
              <a:spLocks/>
            </p:cNvSpPr>
            <p:nvPr/>
          </p:nvSpPr>
          <p:spPr bwMode="auto">
            <a:xfrm>
              <a:off x="1687032" y="4832896"/>
              <a:ext cx="7456968" cy="51817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35926" y="5135025"/>
              <a:ext cx="9108074" cy="838869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US" dirty="0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/>
            </a:p>
          </p:txBody>
        </p:sp>
        <p:cxnSp>
          <p:nvCxnSpPr>
            <p:cNvPr id="10" name="Straight Connector 9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anchor="b"/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12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13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pPr>
              <a:defRPr/>
            </a:pPr>
            <a:fld id="{2B9CBC40-343B-4593-A28E-D189663EB65D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21"/>
          <p:cNvSpPr txBox="1">
            <a:spLocks/>
          </p:cNvSpPr>
          <p:nvPr/>
        </p:nvSpPr>
        <p:spPr>
          <a:xfrm>
            <a:off x="5486400" y="6492875"/>
            <a:ext cx="1600200" cy="365125"/>
          </a:xfrm>
          <a:prstGeom prst="rect">
            <a:avLst/>
          </a:prstGeom>
        </p:spPr>
        <p:txBody>
          <a:bodyPr anchor="b"/>
          <a:lstStyle>
            <a:lvl1pPr algn="l">
              <a:buFontTx/>
              <a:buNone/>
              <a:defRPr smtClean="0"/>
            </a:lvl1pPr>
          </a:lstStyle>
          <a:p>
            <a:pPr>
              <a:defRPr/>
            </a:pPr>
            <a:r>
              <a:rPr lang="en-US" sz="1200">
                <a:latin typeface="+mn-lt"/>
              </a:rPr>
              <a:t>Copyright 2021</a:t>
            </a:r>
            <a:endParaRPr lang="en-US" sz="1200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0"/>
          </p:nvPr>
        </p:nvSpPr>
        <p:spPr>
          <a:xfrm>
            <a:off x="0" y="6492875"/>
            <a:ext cx="2590800" cy="365125"/>
          </a:xfrm>
        </p:spPr>
        <p:txBody>
          <a:bodyPr/>
          <a:lstStyle>
            <a:lvl1pPr algn="l">
              <a:buFontTx/>
              <a:buNone/>
              <a:defRPr sz="1200">
                <a:latin typeface="+mn-lt"/>
              </a:defRPr>
            </a:lvl1pPr>
          </a:lstStyle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1"/>
          </p:nvPr>
        </p:nvSpPr>
        <p:spPr>
          <a:xfrm>
            <a:off x="8588375" y="6492875"/>
            <a:ext cx="555625" cy="365125"/>
          </a:xfrm>
        </p:spPr>
        <p:txBody>
          <a:bodyPr/>
          <a:lstStyle>
            <a:lvl1pPr>
              <a:buFontTx/>
              <a:buNone/>
              <a:defRPr sz="1200">
                <a:latin typeface="+mn-lt"/>
              </a:defRPr>
            </a:lvl1pPr>
          </a:lstStyle>
          <a:p>
            <a:pPr>
              <a:defRPr/>
            </a:pPr>
            <a:fld id="{3DF7F6D6-12E9-47E2-83FA-0573725E0372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3"/>
          <p:cNvSpPr/>
          <p:nvPr/>
        </p:nvSpPr>
        <p:spPr>
          <a:xfrm>
            <a:off x="3636963" y="3005138"/>
            <a:ext cx="182562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5" name="Chevron 4"/>
          <p:cNvSpPr/>
          <p:nvPr/>
        </p:nvSpPr>
        <p:spPr>
          <a:xfrm>
            <a:off x="3449638" y="3005138"/>
            <a:ext cx="18415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anchor="b"/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2B92D0EA-3F60-41BB-A405-33AD93B7A0F0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4895E56F-A642-430C-8B4E-604B1153BE2F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/>
          <a:lstStyle>
            <a:lvl1pPr>
              <a:defRPr/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5DD4C274-ECC5-4587-B039-995E9197571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C3AD251C-A5FF-4790-8F87-2AC1A4C8DD56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5544C6-0C87-4E87-B9C7-4DBC5EE35F3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70B16657-024C-459D-BB4E-2F85DCC6454F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/>
          <p:cNvSpPr>
            <a:spLocks/>
          </p:cNvSpPr>
          <p:nvPr/>
        </p:nvSpPr>
        <p:spPr bwMode="auto">
          <a:xfrm>
            <a:off x="715963" y="5002213"/>
            <a:ext cx="3802062" cy="144303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6" name="Freeform 5"/>
          <p:cNvSpPr>
            <a:spLocks/>
          </p:cNvSpPr>
          <p:nvPr/>
        </p:nvSpPr>
        <p:spPr bwMode="auto">
          <a:xfrm>
            <a:off x="-53975" y="5784850"/>
            <a:ext cx="380206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" name="Right Triangle 6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hevron 8"/>
          <p:cNvSpPr/>
          <p:nvPr/>
        </p:nvSpPr>
        <p:spPr>
          <a:xfrm>
            <a:off x="8664575" y="4987925"/>
            <a:ext cx="18256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0" name="Chevron 9"/>
          <p:cNvSpPr/>
          <p:nvPr/>
        </p:nvSpPr>
        <p:spPr>
          <a:xfrm>
            <a:off x="8477250" y="4987925"/>
            <a:ext cx="18256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tIns="0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extLst/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1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fld id="{E8C610D3-5023-4794-8B07-EA09037D64F8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BD04E9-CF8F-4ADC-8517-7D8F785A50F6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45D508-2AAC-4C9A-B537-CDE351A8C1D4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ct val="20000"/>
              </a:spcBef>
              <a:buFontTx/>
              <a:buChar char="•"/>
              <a:defRPr sz="1200">
                <a:solidFill>
                  <a:srgbClr val="898989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lnSpc>
                <a:spcPct val="90000"/>
              </a:lnSpc>
              <a:spcBef>
                <a:spcPct val="20000"/>
              </a:spcBef>
              <a:buFontTx/>
              <a:buChar char="•"/>
              <a:defRPr sz="1200">
                <a:solidFill>
                  <a:srgbClr val="898989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lnSpc>
                <a:spcPct val="90000"/>
              </a:lnSpc>
              <a:spcBef>
                <a:spcPct val="20000"/>
              </a:spcBef>
              <a:buFontTx/>
              <a:buChar char="•"/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fld id="{6AF3C8D7-9A0C-4C76-87AE-298E7615D6C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9" r:id="rId1"/>
    <p:sldLayoutId id="2147483810" r:id="rId2"/>
    <p:sldLayoutId id="2147483811" r:id="rId3"/>
    <p:sldLayoutId id="2147483812" r:id="rId4"/>
    <p:sldLayoutId id="2147483813" r:id="rId5"/>
    <p:sldLayoutId id="2147483814" r:id="rId6"/>
    <p:sldLayoutId id="2147483815" r:id="rId7"/>
    <p:sldLayoutId id="2147483816" r:id="rId8"/>
    <p:sldLayoutId id="2147483817" r:id="rId9"/>
    <p:sldLayoutId id="2147483818" r:id="rId10"/>
    <p:sldLayoutId id="2147483819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715963" y="5002213"/>
            <a:ext cx="3802062" cy="144303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-53975" y="5784850"/>
            <a:ext cx="380206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33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457200" y="1481138"/>
            <a:ext cx="8229600" cy="4525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endParaRPr lang="en-US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79913" y="6408738"/>
            <a:ext cx="2351087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113" y="6408738"/>
            <a:ext cx="366712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fld id="{6AF3C8D7-9A0C-4C76-87AE-298E7615D6C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9pPr>
      <a:extLst/>
    </p:titleStyle>
    <p:bodyStyle>
      <a:lvl1pPr marL="365125" indent="-255588" algn="l" rtl="0" eaLnBrk="1" fontAlgn="base" hangingPunct="1">
        <a:spcBef>
          <a:spcPts val="400"/>
        </a:spcBef>
        <a:spcAft>
          <a:spcPct val="0"/>
        </a:spcAft>
        <a:buClr>
          <a:schemeClr val="accent1"/>
        </a:buClr>
        <a:buSzPct val="68000"/>
        <a:buFont typeface="Wingdings 3" pitchFamily="18" charset="2"/>
        <a:buChar char=""/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0713" indent="-228600" algn="l" rtl="0" eaLnBrk="1" fontAlgn="base" hangingPunct="1">
        <a:spcBef>
          <a:spcPts val="325"/>
        </a:spcBef>
        <a:spcAft>
          <a:spcPct val="0"/>
        </a:spcAft>
        <a:buClr>
          <a:schemeClr val="accent1"/>
        </a:buClr>
        <a:buFont typeface="Verdana" pitchFamily="34" charset="0"/>
        <a:buChar char="◦"/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8838" indent="-228600" algn="l" rtl="0" eaLnBrk="1" fontAlgn="base" hangingPunct="1">
        <a:spcBef>
          <a:spcPts val="350"/>
        </a:spcBef>
        <a:spcAft>
          <a:spcPct val="0"/>
        </a:spcAft>
        <a:buClr>
          <a:schemeClr val="accent2"/>
        </a:buClr>
        <a:buSzPct val="100000"/>
        <a:buFont typeface="Wingdings 2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fontAlgn="base" hangingPunct="1">
        <a:spcBef>
          <a:spcPts val="350"/>
        </a:spcBef>
        <a:spcAft>
          <a:spcPct val="0"/>
        </a:spcAft>
        <a:buClr>
          <a:schemeClr val="accent2"/>
        </a:buClr>
        <a:buFont typeface="Wingdings 2" pitchFamily="18" charset="2"/>
        <a:buChar char="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fontAlgn="base" hangingPunct="1">
        <a:spcBef>
          <a:spcPts val="350"/>
        </a:spcBef>
        <a:spcAft>
          <a:spcPct val="0"/>
        </a:spcAft>
        <a:buClr>
          <a:schemeClr val="accent2"/>
        </a:buClr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hyperlink" Target="../Chuong%2000/2021-Chuong00-ITPM_VI-ITS344-211_D02.pptx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../../47Ps-PMP.pptx" TargetMode="External"/><Relationship Id="rId2" Type="http://schemas.openxmlformats.org/officeDocument/2006/relationships/hyperlink" Target="../../Z-10KA-5P(47).pptx" TargetMode="Externa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Refs/EQ-IQ.pptx" TargetMode="Externa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3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3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gif"/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3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e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gif"/><Relationship Id="rId1" Type="http://schemas.openxmlformats.org/officeDocument/2006/relationships/slideLayout" Target="../slideLayouts/slideLayout13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3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3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3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racnghiemmbti.com/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4.png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1371600"/>
            <a:ext cx="9144000" cy="1349375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vi-VN" sz="3600" dirty="0">
                <a:solidFill>
                  <a:srgbClr val="0070C0"/>
                </a:solidFill>
                <a:effectLst/>
              </a:rPr>
              <a:t>Chương 7</a:t>
            </a:r>
            <a:br>
              <a:rPr lang="vi-VN" sz="4400" dirty="0">
                <a:solidFill>
                  <a:srgbClr val="0070C0"/>
                </a:solidFill>
                <a:effectLst/>
              </a:rPr>
            </a:br>
            <a:r>
              <a:rPr lang="vi-VN" sz="3600" dirty="0">
                <a:solidFill>
                  <a:srgbClr val="0070C0"/>
                </a:solidFill>
                <a:effectLst/>
              </a:rPr>
              <a:t>QUẢN LÝ NGUỒN NHÂN LỰC DỰ ÁN</a:t>
            </a:r>
            <a:endParaRPr sz="3600" dirty="0">
              <a:solidFill>
                <a:srgbClr val="0070C0"/>
              </a:solidFill>
              <a:effectLst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859763"/>
            <a:ext cx="2057400" cy="2617237"/>
          </a:xfrm>
          <a:prstGeom prst="rect">
            <a:avLst/>
          </a:prstGeom>
        </p:spPr>
      </p:pic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152400" y="2971800"/>
            <a:ext cx="89916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r>
              <a:rPr lang="vi-VN" spc="700" dirty="0">
                <a:latin typeface="Arial Rounded MT Bold" pitchFamily="34" charset="0"/>
              </a:rPr>
              <a:t>Project Human Resource Management</a:t>
            </a:r>
            <a:endParaRPr lang="en-US" b="1" spc="700" dirty="0">
              <a:solidFill>
                <a:schemeClr val="tx2"/>
              </a:solidFill>
              <a:latin typeface="Arial Rounded MT Bold" pitchFamily="34" charset="0"/>
              <a:ea typeface="+mj-ea"/>
              <a:cs typeface="+mj-cs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13341AD-56E1-4DD9-A6E0-90563AC8FC16}"/>
              </a:ext>
            </a:extLst>
          </p:cNvPr>
          <p:cNvSpPr txBox="1">
            <a:spLocks noChangeArrowheads="1"/>
          </p:cNvSpPr>
          <p:nvPr/>
        </p:nvSpPr>
        <p:spPr>
          <a:xfrm>
            <a:off x="381000" y="327025"/>
            <a:ext cx="8382000" cy="663575"/>
          </a:xfrm>
          <a:prstGeom prst="rect">
            <a:avLst/>
          </a:prstGeom>
        </p:spPr>
        <p:txBody>
          <a:bodyPr vert="horz" anchor="b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48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9pPr>
            <a:extLst/>
          </a:lstStyle>
          <a:p>
            <a:pPr algn="ctr" fontAlgn="auto">
              <a:spcAft>
                <a:spcPts val="0"/>
              </a:spcAft>
              <a:defRPr/>
            </a:pPr>
            <a:r>
              <a:rPr lang="vi-VN" sz="3200" dirty="0">
                <a:effectLst>
                  <a:outerShdw blurRad="38100" dist="38100" dir="2700000" algn="tl">
                    <a:srgbClr val="FFFFFF"/>
                  </a:outerShdw>
                </a:effectLst>
                <a:hlinkClick r:id="rId4" action="ppaction://hlinkpres?slideindex=1&amp;slidetitle="/>
              </a:rPr>
              <a:t>QUẢN TRỊ DỰ </a:t>
            </a:r>
            <a:r>
              <a:rPr lang="vi-VN" sz="3200">
                <a:effectLst>
                  <a:outerShdw blurRad="38100" dist="38100" dir="2700000" algn="tl">
                    <a:srgbClr val="FFFFFF"/>
                  </a:outerShdw>
                </a:effectLst>
                <a:hlinkClick r:id="rId4" action="ppaction://hlinkpres?slideindex=1&amp;slidetitle="/>
              </a:rPr>
              <a:t>ÁN </a:t>
            </a:r>
            <a:r>
              <a:rPr lang="en-US" sz="3200">
                <a:effectLst>
                  <a:outerShdw blurRad="38100" dist="38100" dir="2700000" algn="tl">
                    <a:srgbClr val="FFFFFF"/>
                  </a:outerShdw>
                </a:effectLst>
                <a:hlinkClick r:id="rId4" action="ppaction://hlinkpres?slideindex=1&amp;slidetitle="/>
              </a:rPr>
              <a:t>HTTT</a:t>
            </a:r>
            <a:endParaRPr lang="vi-VN" sz="3200" dirty="0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676400"/>
            <a:ext cx="8610600" cy="3886200"/>
          </a:xfrm>
        </p:spPr>
        <p:txBody>
          <a:bodyPr/>
          <a:lstStyle/>
          <a:p>
            <a:pPr algn="just">
              <a:spcBef>
                <a:spcPts val="1200"/>
              </a:spcBef>
              <a:spcAft>
                <a:spcPts val="1200"/>
              </a:spcAft>
            </a:pPr>
            <a:r>
              <a:rPr lang="vi-VN" sz="2500" dirty="0">
                <a:solidFill>
                  <a:srgbClr val="002060"/>
                </a:solidFill>
              </a:rPr>
              <a:t>Hiểu được tầm quan trọng của quản lý nguồn nhân lực.</a:t>
            </a:r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r>
              <a:rPr lang="vi-VN" sz="2500" dirty="0">
                <a:solidFill>
                  <a:srgbClr val="002060"/>
                </a:solidFill>
              </a:rPr>
              <a:t>Biết được </a:t>
            </a:r>
            <a:r>
              <a:rPr lang="en-US" sz="2500" dirty="0" err="1">
                <a:solidFill>
                  <a:srgbClr val="002060"/>
                </a:solidFill>
              </a:rPr>
              <a:t>các</a:t>
            </a:r>
            <a:r>
              <a:rPr lang="en-US" sz="2500" dirty="0">
                <a:solidFill>
                  <a:srgbClr val="002060"/>
                </a:solidFill>
              </a:rPr>
              <a:t> </a:t>
            </a:r>
            <a:r>
              <a:rPr lang="en-US" sz="2500" dirty="0" err="1">
                <a:solidFill>
                  <a:srgbClr val="002060"/>
                </a:solidFill>
              </a:rPr>
              <a:t>khái</a:t>
            </a:r>
            <a:r>
              <a:rPr lang="en-US" sz="2500" dirty="0">
                <a:solidFill>
                  <a:srgbClr val="002060"/>
                </a:solidFill>
              </a:rPr>
              <a:t> </a:t>
            </a:r>
            <a:r>
              <a:rPr lang="en-US" sz="2500" dirty="0" err="1">
                <a:solidFill>
                  <a:srgbClr val="002060"/>
                </a:solidFill>
              </a:rPr>
              <a:t>niệm</a:t>
            </a:r>
            <a:r>
              <a:rPr lang="en-US" sz="2500" dirty="0">
                <a:solidFill>
                  <a:srgbClr val="002060"/>
                </a:solidFill>
              </a:rPr>
              <a:t> </a:t>
            </a:r>
            <a:r>
              <a:rPr lang="en-US" sz="2500" dirty="0" err="1">
                <a:solidFill>
                  <a:srgbClr val="002060"/>
                </a:solidFill>
              </a:rPr>
              <a:t>về</a:t>
            </a:r>
            <a:r>
              <a:rPr lang="en-US" sz="2500" dirty="0">
                <a:solidFill>
                  <a:srgbClr val="002060"/>
                </a:solidFill>
              </a:rPr>
              <a:t> quản lý </a:t>
            </a:r>
            <a:r>
              <a:rPr lang="vi-VN" sz="2500" dirty="0">
                <a:solidFill>
                  <a:srgbClr val="002060"/>
                </a:solidFill>
              </a:rPr>
              <a:t>con người.</a:t>
            </a:r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r>
              <a:rPr lang="vi-VN" sz="2500" dirty="0">
                <a:solidFill>
                  <a:srgbClr val="002060"/>
                </a:solidFill>
              </a:rPr>
              <a:t>Giải thích được quy trình quản lý nguồn nhân lực dự án.</a:t>
            </a:r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r>
              <a:rPr lang="vi-VN" sz="2500" dirty="0">
                <a:solidFill>
                  <a:srgbClr val="002060"/>
                </a:solidFill>
              </a:rPr>
              <a:t>Biết được các phần mềm hỗ trợ quản lý nguồn nhân lực.</a:t>
            </a:r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r>
              <a:rPr lang="vi-VN" sz="2500" dirty="0">
                <a:solidFill>
                  <a:srgbClr val="002060"/>
                </a:solidFill>
              </a:rPr>
              <a:t>Hiểu được các vấn đề liên quan đến quản lý nguồn nhân lực dự án HTTT.</a:t>
            </a:r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endParaRPr lang="vi-VN" sz="1100" dirty="0">
              <a:solidFill>
                <a:srgbClr val="002060"/>
              </a:solidFill>
            </a:endParaRPr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457200"/>
            <a:ext cx="8534400" cy="715962"/>
          </a:xfrm>
        </p:spPr>
        <p:txBody>
          <a:bodyPr>
            <a:noAutofit/>
          </a:bodyPr>
          <a:lstStyle/>
          <a:p>
            <a:pPr algn="ctr"/>
            <a:r>
              <a:rPr lang="en-US" sz="4400" dirty="0" err="1">
                <a:solidFill>
                  <a:srgbClr val="0070C0"/>
                </a:solidFill>
              </a:rPr>
              <a:t>Mục</a:t>
            </a:r>
            <a:r>
              <a:rPr lang="en-US" sz="4400" dirty="0">
                <a:solidFill>
                  <a:srgbClr val="0070C0"/>
                </a:solidFill>
              </a:rPr>
              <a:t> </a:t>
            </a:r>
            <a:r>
              <a:rPr lang="en-US" sz="4400" dirty="0" err="1">
                <a:solidFill>
                  <a:srgbClr val="0070C0"/>
                </a:solidFill>
              </a:rPr>
              <a:t>tiêu</a:t>
            </a:r>
            <a:r>
              <a:rPr lang="en-US" sz="4400" dirty="0">
                <a:solidFill>
                  <a:srgbClr val="0070C0"/>
                </a:solidFill>
              </a:rPr>
              <a:t> </a:t>
            </a:r>
            <a:r>
              <a:rPr lang="en-US" sz="4400" dirty="0" err="1">
                <a:solidFill>
                  <a:srgbClr val="0070C0"/>
                </a:solidFill>
              </a:rPr>
              <a:t>chương</a:t>
            </a:r>
            <a:r>
              <a:rPr lang="en-US" sz="4400" dirty="0">
                <a:solidFill>
                  <a:srgbClr val="0070C0"/>
                </a:solidFill>
              </a:rPr>
              <a:t> 7</a:t>
            </a:r>
          </a:p>
        </p:txBody>
      </p:sp>
      <p:sp>
        <p:nvSpPr>
          <p:cNvPr id="9220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30E6A95-094A-4E8D-8575-B7EA854693B8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2297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588375" y="6492875"/>
            <a:ext cx="555625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E5A7A581-379D-4ED7-B5BC-E1CE1865ED13}" type="slidenum">
              <a:rPr lang="en-US" sz="1200" smtClean="0"/>
              <a:pPr>
                <a:defRPr/>
              </a:pPr>
              <a:t>3</a:t>
            </a:fld>
            <a:endParaRPr lang="en-US" sz="1200" dirty="0"/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9144000" cy="685800"/>
          </a:xfrm>
        </p:spPr>
        <p:txBody>
          <a:bodyPr>
            <a:noAutofit/>
          </a:bodyPr>
          <a:lstStyle/>
          <a:p>
            <a:pPr algn="ctr"/>
            <a:r>
              <a:rPr lang="en-US" sz="4400" dirty="0" err="1"/>
              <a:t>Nhắc</a:t>
            </a:r>
            <a:r>
              <a:rPr lang="en-US" sz="4400" dirty="0"/>
              <a:t> </a:t>
            </a:r>
            <a:r>
              <a:rPr lang="en-US" sz="4400" dirty="0" err="1"/>
              <a:t>lại</a:t>
            </a:r>
            <a:r>
              <a:rPr lang="en-US" sz="4400" dirty="0"/>
              <a:t> </a:t>
            </a:r>
            <a:r>
              <a:rPr lang="en-US" sz="4400" dirty="0" err="1"/>
              <a:t>kiến</a:t>
            </a:r>
            <a:r>
              <a:rPr lang="en-US" sz="4400" dirty="0"/>
              <a:t> </a:t>
            </a:r>
            <a:r>
              <a:rPr lang="en-US" sz="4400" dirty="0" err="1"/>
              <a:t>thức</a:t>
            </a:r>
            <a:endParaRPr lang="en-US" sz="4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4998" y="2951813"/>
            <a:ext cx="3809680" cy="306049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9027" y="2514600"/>
            <a:ext cx="885077" cy="38717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2800" y="5893407"/>
            <a:ext cx="769631" cy="36873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0331" y="5992739"/>
            <a:ext cx="692669" cy="331861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03843" y="4950502"/>
            <a:ext cx="1096727" cy="424044"/>
          </a:xfrm>
          <a:prstGeom prst="rect">
            <a:avLst/>
          </a:prstGeom>
        </p:spPr>
      </p:pic>
      <p:sp>
        <p:nvSpPr>
          <p:cNvPr id="12" name="Footer Placeholder 1"/>
          <p:cNvSpPr txBox="1">
            <a:spLocks/>
          </p:cNvSpPr>
          <p:nvPr/>
        </p:nvSpPr>
        <p:spPr>
          <a:xfrm>
            <a:off x="0" y="6492875"/>
            <a:ext cx="2362200" cy="365125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algn="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/>
              <a:t>Quản </a:t>
            </a:r>
            <a:r>
              <a:rPr lang="en-US" sz="1200" dirty="0" err="1"/>
              <a:t>trị</a:t>
            </a:r>
            <a:r>
              <a:rPr lang="en-US" sz="1200" dirty="0"/>
              <a:t> </a:t>
            </a:r>
            <a:r>
              <a:rPr lang="en-US" sz="1200" dirty="0" err="1"/>
              <a:t>dự</a:t>
            </a:r>
            <a:r>
              <a:rPr lang="en-US" sz="1200" dirty="0"/>
              <a:t> </a:t>
            </a:r>
            <a:r>
              <a:rPr lang="en-US" sz="1200" dirty="0" err="1"/>
              <a:t>án</a:t>
            </a:r>
            <a:r>
              <a:rPr lang="en-US" sz="1200" dirty="0"/>
              <a:t> HTTT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1524000"/>
            <a:ext cx="3810000" cy="1589035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 flipH="1">
            <a:off x="3276600" y="1676400"/>
            <a:ext cx="2286000" cy="34290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1303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E51F500-DF2E-4CCD-91BA-0CEADD66DAF1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contrast="20000"/>
          </a:blip>
          <a:stretch>
            <a:fillRect/>
          </a:stretch>
        </p:blipFill>
        <p:spPr>
          <a:xfrm>
            <a:off x="0" y="1295400"/>
            <a:ext cx="9159240" cy="4242882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588375" y="6492875"/>
            <a:ext cx="555625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E5A7A581-379D-4ED7-B5BC-E1CE1865ED13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077200" cy="685800"/>
          </a:xfrm>
        </p:spPr>
        <p:txBody>
          <a:bodyPr>
            <a:noAutofit/>
          </a:bodyPr>
          <a:lstStyle/>
          <a:p>
            <a:pPr algn="ctr"/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Khung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quản lý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dự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án</a:t>
            </a:r>
            <a:endParaRPr lang="en-US" sz="36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572000" y="6019800"/>
            <a:ext cx="300755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vi-VN" sz="2000" dirty="0"/>
              <a:t>Nguồn: </a:t>
            </a:r>
            <a:r>
              <a:rPr lang="vi-VN" sz="2000"/>
              <a:t>Schwalbe (20</a:t>
            </a:r>
            <a:r>
              <a:rPr lang="en-US" sz="2000"/>
              <a:t>19</a:t>
            </a:r>
            <a:r>
              <a:rPr lang="vi-VN" sz="2000"/>
              <a:t>)</a:t>
            </a:r>
            <a:endParaRPr lang="vi-VN" sz="2000" dirty="0"/>
          </a:p>
        </p:txBody>
      </p:sp>
      <p:sp>
        <p:nvSpPr>
          <p:cNvPr id="8" name="Rounded Rectangle 7"/>
          <p:cNvSpPr/>
          <p:nvPr/>
        </p:nvSpPr>
        <p:spPr>
          <a:xfrm>
            <a:off x="1014984" y="4334255"/>
            <a:ext cx="990600" cy="670561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9" name="Footer Placeholder 1"/>
          <p:cNvSpPr txBox="1">
            <a:spLocks/>
          </p:cNvSpPr>
          <p:nvPr/>
        </p:nvSpPr>
        <p:spPr>
          <a:xfrm>
            <a:off x="0" y="6492875"/>
            <a:ext cx="2362200" cy="365125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algn="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/>
              <a:t>Quản </a:t>
            </a:r>
            <a:r>
              <a:rPr lang="en-US" sz="1200" dirty="0" err="1"/>
              <a:t>trị</a:t>
            </a:r>
            <a:r>
              <a:rPr lang="en-US" sz="1200" dirty="0"/>
              <a:t> </a:t>
            </a:r>
            <a:r>
              <a:rPr lang="en-US" sz="1200" dirty="0" err="1"/>
              <a:t>dự</a:t>
            </a:r>
            <a:r>
              <a:rPr lang="en-US" sz="1200" dirty="0"/>
              <a:t> </a:t>
            </a:r>
            <a:r>
              <a:rPr lang="en-US" sz="1200" dirty="0" err="1"/>
              <a:t>án</a:t>
            </a:r>
            <a:r>
              <a:rPr lang="en-US" sz="1200" dirty="0"/>
              <a:t> HTTT</a:t>
            </a:r>
          </a:p>
        </p:txBody>
      </p:sp>
    </p:spTree>
    <p:extLst>
      <p:ext uri="{BB962C8B-B14F-4D97-AF65-F5344CB8AC3E}">
        <p14:creationId xmlns:p14="http://schemas.microsoft.com/office/powerpoint/2010/main" val="922401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1"/>
          <p:cNvSpPr txBox="1">
            <a:spLocks/>
          </p:cNvSpPr>
          <p:nvPr/>
        </p:nvSpPr>
        <p:spPr>
          <a:xfrm>
            <a:off x="0" y="6492875"/>
            <a:ext cx="2362200" cy="365125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algn="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/>
              <a:t>Quản </a:t>
            </a:r>
            <a:r>
              <a:rPr lang="en-US" sz="1200" dirty="0" err="1"/>
              <a:t>trị</a:t>
            </a:r>
            <a:r>
              <a:rPr lang="en-US" sz="1200" dirty="0"/>
              <a:t> </a:t>
            </a:r>
            <a:r>
              <a:rPr lang="en-US" sz="1200" dirty="0" err="1"/>
              <a:t>dự</a:t>
            </a:r>
            <a:r>
              <a:rPr lang="en-US" sz="1200" dirty="0"/>
              <a:t> </a:t>
            </a:r>
            <a:r>
              <a:rPr lang="en-US" sz="1200" dirty="0" err="1"/>
              <a:t>án</a:t>
            </a:r>
            <a:r>
              <a:rPr lang="en-US" sz="1200" dirty="0"/>
              <a:t> HTTT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1371600"/>
            <a:ext cx="9144000" cy="1349375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br>
              <a:rPr lang="vi-VN" sz="4400" dirty="0">
                <a:solidFill>
                  <a:srgbClr val="0070C0"/>
                </a:solidFill>
                <a:effectLst/>
              </a:rPr>
            </a:br>
            <a:r>
              <a:rPr lang="vi-VN" sz="3600" dirty="0">
                <a:solidFill>
                  <a:srgbClr val="0070C0"/>
                </a:solidFill>
                <a:effectLst/>
              </a:rPr>
              <a:t>QUẢN LÝ NGUỒN NHÂN LỰC DỰ ÁN</a:t>
            </a:r>
            <a:endParaRPr sz="3600" dirty="0">
              <a:solidFill>
                <a:srgbClr val="0070C0"/>
              </a:solidFill>
              <a:effectLst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859763"/>
            <a:ext cx="2057400" cy="2617237"/>
          </a:xfrm>
          <a:prstGeom prst="rect">
            <a:avLst/>
          </a:prstGeom>
        </p:spPr>
      </p:pic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152400" y="2971800"/>
            <a:ext cx="89916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r>
              <a:rPr lang="vi-VN" spc="700" dirty="0">
                <a:latin typeface="Arial Rounded MT Bold" pitchFamily="34" charset="0"/>
              </a:rPr>
              <a:t>Project Human Resource Management</a:t>
            </a:r>
            <a:endParaRPr lang="en-US" b="1" spc="700" dirty="0">
              <a:solidFill>
                <a:schemeClr val="tx2"/>
              </a:solidFill>
              <a:latin typeface="Arial Rounded MT Bold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472140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471487"/>
            <a:ext cx="7772400" cy="900113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en-US" sz="3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QUẢN LÝ NGUỒN NHÂN LỰC DỰ ÁN</a:t>
            </a:r>
          </a:p>
        </p:txBody>
      </p:sp>
      <p:grpSp>
        <p:nvGrpSpPr>
          <p:cNvPr id="36" name="Group 42"/>
          <p:cNvGrpSpPr>
            <a:grpSpLocks/>
          </p:cNvGrpSpPr>
          <p:nvPr/>
        </p:nvGrpSpPr>
        <p:grpSpPr bwMode="auto">
          <a:xfrm>
            <a:off x="1142999" y="1600200"/>
            <a:ext cx="6952029" cy="838200"/>
            <a:chOff x="1296" y="1824"/>
            <a:chExt cx="2976" cy="432"/>
          </a:xfrm>
        </p:grpSpPr>
        <p:sp>
          <p:nvSpPr>
            <p:cNvPr id="41" name="AutoShape 43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eaLnBrk="1" hangingPunct="1">
                <a:defRPr/>
              </a:pPr>
              <a:endPara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2" name="AutoShape 44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chemeClr val="accent1"/>
            </a:solidFill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eaLnBrk="1" hangingPunct="1">
                <a:defRPr/>
              </a:pPr>
              <a:endPara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3" name="Text Box 45"/>
            <p:cNvSpPr txBox="1">
              <a:spLocks noChangeArrowheads="1"/>
            </p:cNvSpPr>
            <p:nvPr/>
          </p:nvSpPr>
          <p:spPr bwMode="gray">
            <a:xfrm>
              <a:off x="1776" y="1920"/>
              <a:ext cx="2431" cy="21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vi-VN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charset="0"/>
                  <a:cs typeface="+mn-cs"/>
                </a:rPr>
                <a:t>TỔNG QUAN</a:t>
              </a:r>
              <a:endPara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  <p:sp>
          <p:nvSpPr>
            <p:cNvPr id="44" name="Text Box 46"/>
            <p:cNvSpPr txBox="1">
              <a:spLocks noChangeArrowheads="1"/>
            </p:cNvSpPr>
            <p:nvPr/>
          </p:nvSpPr>
          <p:spPr bwMode="gray">
            <a:xfrm>
              <a:off x="1421" y="1886"/>
              <a:ext cx="165" cy="29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0</a:t>
              </a:r>
              <a:endParaRPr 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</p:grpSp>
      <p:grpSp>
        <p:nvGrpSpPr>
          <p:cNvPr id="45" name="Group 52"/>
          <p:cNvGrpSpPr>
            <a:grpSpLocks/>
          </p:cNvGrpSpPr>
          <p:nvPr/>
        </p:nvGrpSpPr>
        <p:grpSpPr bwMode="auto">
          <a:xfrm>
            <a:off x="1143000" y="2438400"/>
            <a:ext cx="7848600" cy="838200"/>
            <a:chOff x="1296" y="1824"/>
            <a:chExt cx="3360" cy="432"/>
          </a:xfrm>
        </p:grpSpPr>
        <p:sp>
          <p:nvSpPr>
            <p:cNvPr id="46" name="AutoShape 53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eaLnBrk="1" hangingPunct="1">
                <a:defRPr/>
              </a:pPr>
              <a:endPara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7" name="AutoShape 54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chemeClr val="accent1"/>
            </a:solidFill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eaLnBrk="1" hangingPunct="1">
                <a:defRPr/>
              </a:pPr>
              <a:endPara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8" name="Text Box 55"/>
            <p:cNvSpPr txBox="1">
              <a:spLocks noChangeArrowheads="1"/>
            </p:cNvSpPr>
            <p:nvPr/>
          </p:nvSpPr>
          <p:spPr bwMode="gray">
            <a:xfrm>
              <a:off x="1776" y="1920"/>
              <a:ext cx="2880" cy="22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Arial" charset="0"/>
                </a:rPr>
                <a:t>KẾ HOẠCH QUẢN LÝ NGUỒN NHÂN LỰC</a:t>
              </a:r>
            </a:p>
          </p:txBody>
        </p:sp>
        <p:sp>
          <p:nvSpPr>
            <p:cNvPr id="49" name="Text Box 56"/>
            <p:cNvSpPr txBox="1">
              <a:spLocks noChangeArrowheads="1"/>
            </p:cNvSpPr>
            <p:nvPr/>
          </p:nvSpPr>
          <p:spPr bwMode="gray">
            <a:xfrm>
              <a:off x="1421" y="1886"/>
              <a:ext cx="165" cy="33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  <a:endParaRPr 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</p:grpSp>
      <p:grpSp>
        <p:nvGrpSpPr>
          <p:cNvPr id="50" name="Group 57"/>
          <p:cNvGrpSpPr>
            <a:grpSpLocks/>
          </p:cNvGrpSpPr>
          <p:nvPr/>
        </p:nvGrpSpPr>
        <p:grpSpPr bwMode="auto">
          <a:xfrm>
            <a:off x="1173162" y="3276600"/>
            <a:ext cx="7281407" cy="838200"/>
            <a:chOff x="1296" y="1824"/>
            <a:chExt cx="3117" cy="432"/>
          </a:xfrm>
        </p:grpSpPr>
        <p:sp>
          <p:nvSpPr>
            <p:cNvPr id="51" name="AutoShape 58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eaLnBrk="1" hangingPunct="1">
                <a:defRPr/>
              </a:pPr>
              <a:endPara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2" name="AutoShape 59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chemeClr val="accent1"/>
            </a:solidFill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eaLnBrk="1" hangingPunct="1">
                <a:defRPr/>
              </a:pPr>
              <a:endPara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3" name="Text Box 60"/>
            <p:cNvSpPr txBox="1">
              <a:spLocks noChangeArrowheads="1"/>
            </p:cNvSpPr>
            <p:nvPr/>
          </p:nvSpPr>
          <p:spPr bwMode="gray">
            <a:xfrm>
              <a:off x="1776" y="1917"/>
              <a:ext cx="2637" cy="23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Arial" charset="0"/>
                </a:rPr>
                <a:t>THIẾT LẬP ĐỘI DỰ ÁN</a:t>
              </a:r>
              <a:endPara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endParaRPr>
            </a:p>
          </p:txBody>
        </p:sp>
        <p:sp>
          <p:nvSpPr>
            <p:cNvPr id="54" name="Text Box 61"/>
            <p:cNvSpPr txBox="1">
              <a:spLocks noChangeArrowheads="1"/>
            </p:cNvSpPr>
            <p:nvPr/>
          </p:nvSpPr>
          <p:spPr bwMode="gray">
            <a:xfrm>
              <a:off x="1421" y="1886"/>
              <a:ext cx="165" cy="33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</a:t>
              </a:r>
              <a:endParaRPr 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</p:grpSp>
      <p:grpSp>
        <p:nvGrpSpPr>
          <p:cNvPr id="23" name="Group 42"/>
          <p:cNvGrpSpPr>
            <a:grpSpLocks/>
          </p:cNvGrpSpPr>
          <p:nvPr/>
        </p:nvGrpSpPr>
        <p:grpSpPr bwMode="auto">
          <a:xfrm>
            <a:off x="1143000" y="4114800"/>
            <a:ext cx="7620134" cy="838200"/>
            <a:chOff x="1296" y="1824"/>
            <a:chExt cx="3262" cy="432"/>
          </a:xfrm>
        </p:grpSpPr>
        <p:sp>
          <p:nvSpPr>
            <p:cNvPr id="24" name="AutoShape 43"/>
            <p:cNvSpPr>
              <a:spLocks noChangeArrowheads="1"/>
            </p:cNvSpPr>
            <p:nvPr/>
          </p:nvSpPr>
          <p:spPr bwMode="gray">
            <a:xfrm>
              <a:off x="1536" y="1920"/>
              <a:ext cx="2736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eaLnBrk="1" hangingPunct="1">
                <a:defRPr/>
              </a:pPr>
              <a:endPara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5" name="AutoShape 44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chemeClr val="accent1"/>
            </a:solidFill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eaLnBrk="1" hangingPunct="1">
                <a:defRPr/>
              </a:pPr>
              <a:endPara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6" name="Text Box 45"/>
            <p:cNvSpPr txBox="1">
              <a:spLocks noChangeArrowheads="1"/>
            </p:cNvSpPr>
            <p:nvPr/>
          </p:nvSpPr>
          <p:spPr bwMode="gray">
            <a:xfrm>
              <a:off x="1776" y="1920"/>
              <a:ext cx="2782" cy="23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Arial" charset="0"/>
                </a:rPr>
                <a:t>PHÁT TRIỂN ĐỘI DỰ ÁN</a:t>
              </a:r>
            </a:p>
          </p:txBody>
        </p:sp>
        <p:sp>
          <p:nvSpPr>
            <p:cNvPr id="27" name="Text Box 46"/>
            <p:cNvSpPr txBox="1">
              <a:spLocks noChangeArrowheads="1"/>
            </p:cNvSpPr>
            <p:nvPr/>
          </p:nvSpPr>
          <p:spPr bwMode="gray">
            <a:xfrm>
              <a:off x="1421" y="1886"/>
              <a:ext cx="165" cy="33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3</a:t>
              </a:r>
              <a:endParaRPr 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</p:grpSp>
      <p:grpSp>
        <p:nvGrpSpPr>
          <p:cNvPr id="28" name="Group 42"/>
          <p:cNvGrpSpPr>
            <a:grpSpLocks/>
          </p:cNvGrpSpPr>
          <p:nvPr/>
        </p:nvGrpSpPr>
        <p:grpSpPr bwMode="auto">
          <a:xfrm>
            <a:off x="1143000" y="4953000"/>
            <a:ext cx="7620134" cy="838200"/>
            <a:chOff x="1296" y="1824"/>
            <a:chExt cx="3262" cy="432"/>
          </a:xfrm>
        </p:grpSpPr>
        <p:sp>
          <p:nvSpPr>
            <p:cNvPr id="29" name="AutoShape 43"/>
            <p:cNvSpPr>
              <a:spLocks noChangeArrowheads="1"/>
            </p:cNvSpPr>
            <p:nvPr/>
          </p:nvSpPr>
          <p:spPr bwMode="gray">
            <a:xfrm>
              <a:off x="1536" y="1920"/>
              <a:ext cx="2736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eaLnBrk="1" hangingPunct="1">
                <a:defRPr/>
              </a:pPr>
              <a:endPara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0" name="AutoShape 44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chemeClr val="accent1"/>
            </a:solidFill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eaLnBrk="1" hangingPunct="1">
                <a:defRPr/>
              </a:pPr>
              <a:endPara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1" name="Text Box 45"/>
            <p:cNvSpPr txBox="1">
              <a:spLocks noChangeArrowheads="1"/>
            </p:cNvSpPr>
            <p:nvPr/>
          </p:nvSpPr>
          <p:spPr bwMode="gray">
            <a:xfrm>
              <a:off x="1776" y="1920"/>
              <a:ext cx="2782" cy="23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Arial" charset="0"/>
                </a:rPr>
                <a:t>QUẢN LÝ ĐỘI DỰ ÁN</a:t>
              </a:r>
            </a:p>
          </p:txBody>
        </p:sp>
        <p:sp>
          <p:nvSpPr>
            <p:cNvPr id="32" name="Text Box 46"/>
            <p:cNvSpPr txBox="1">
              <a:spLocks noChangeArrowheads="1"/>
            </p:cNvSpPr>
            <p:nvPr/>
          </p:nvSpPr>
          <p:spPr bwMode="gray">
            <a:xfrm>
              <a:off x="1421" y="1886"/>
              <a:ext cx="165" cy="27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4</a:t>
              </a:r>
              <a:endParaRPr 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+mn-cs"/>
              </a:endParaRPr>
            </a:p>
          </p:txBody>
        </p:sp>
      </p:grpSp>
      <p:sp>
        <p:nvSpPr>
          <p:cNvPr id="33" name="Footer Placeholder 1"/>
          <p:cNvSpPr txBox="1">
            <a:spLocks/>
          </p:cNvSpPr>
          <p:nvPr/>
        </p:nvSpPr>
        <p:spPr>
          <a:xfrm>
            <a:off x="0" y="6492875"/>
            <a:ext cx="2362200" cy="365125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algn="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/>
              <a:t>Quản </a:t>
            </a:r>
            <a:r>
              <a:rPr lang="en-US" sz="1200" dirty="0" err="1"/>
              <a:t>trị</a:t>
            </a:r>
            <a:r>
              <a:rPr lang="en-US" sz="1200" dirty="0"/>
              <a:t> </a:t>
            </a:r>
            <a:r>
              <a:rPr lang="en-US" sz="1200" dirty="0" err="1"/>
              <a:t>dự</a:t>
            </a:r>
            <a:r>
              <a:rPr lang="en-US" sz="1200" dirty="0"/>
              <a:t> </a:t>
            </a:r>
            <a:r>
              <a:rPr lang="en-US" sz="1200" dirty="0" err="1"/>
              <a:t>án</a:t>
            </a:r>
            <a:r>
              <a:rPr lang="en-US" sz="1200" dirty="0"/>
              <a:t> HTTT</a:t>
            </a:r>
          </a:p>
        </p:txBody>
      </p:sp>
    </p:spTree>
    <p:extLst>
      <p:ext uri="{BB962C8B-B14F-4D97-AF65-F5344CB8AC3E}">
        <p14:creationId xmlns:p14="http://schemas.microsoft.com/office/powerpoint/2010/main" val="22407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600200"/>
            <a:ext cx="8001000" cy="2286000"/>
          </a:xfrm>
        </p:spPr>
        <p:txBody>
          <a:bodyPr/>
          <a:lstStyle/>
          <a:p>
            <a:pPr algn="just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i="1" dirty="0"/>
              <a:t>Con </a:t>
            </a:r>
            <a:r>
              <a:rPr lang="en-US" i="1" dirty="0" err="1"/>
              <a:t>người</a:t>
            </a:r>
            <a:r>
              <a:rPr lang="en-US" i="1" dirty="0"/>
              <a:t> </a:t>
            </a:r>
            <a:r>
              <a:rPr lang="en-US" i="1" dirty="0" err="1"/>
              <a:t>là</a:t>
            </a:r>
            <a:r>
              <a:rPr lang="en-US" i="1" dirty="0"/>
              <a:t> </a:t>
            </a:r>
            <a:r>
              <a:rPr lang="en-US" i="1" dirty="0" err="1"/>
              <a:t>tài</a:t>
            </a:r>
            <a:r>
              <a:rPr lang="en-US" i="1" dirty="0"/>
              <a:t> </a:t>
            </a:r>
            <a:r>
              <a:rPr lang="en-US" i="1" dirty="0" err="1"/>
              <a:t>sản</a:t>
            </a:r>
            <a:r>
              <a:rPr lang="en-US" i="1" dirty="0"/>
              <a:t> </a:t>
            </a:r>
            <a:r>
              <a:rPr lang="en-US" i="1" dirty="0" err="1"/>
              <a:t>quan</a:t>
            </a:r>
            <a:r>
              <a:rPr lang="en-US" i="1" dirty="0"/>
              <a:t> </a:t>
            </a:r>
            <a:r>
              <a:rPr lang="en-US" i="1" dirty="0" err="1"/>
              <a:t>trọng</a:t>
            </a:r>
            <a:r>
              <a:rPr lang="en-US" i="1" dirty="0"/>
              <a:t> </a:t>
            </a:r>
            <a:r>
              <a:rPr lang="en-US" i="1" dirty="0" err="1"/>
              <a:t>nhất</a:t>
            </a:r>
            <a:r>
              <a:rPr lang="en-US" i="1" dirty="0"/>
              <a:t> </a:t>
            </a:r>
            <a:r>
              <a:rPr lang="en-US" i="1" dirty="0" err="1"/>
              <a:t>của</a:t>
            </a:r>
            <a:r>
              <a:rPr lang="en-US" i="1" dirty="0"/>
              <a:t> </a:t>
            </a:r>
            <a:r>
              <a:rPr lang="en-US" i="1" dirty="0" err="1"/>
              <a:t>doanh</a:t>
            </a:r>
            <a:r>
              <a:rPr lang="en-US" i="1" dirty="0"/>
              <a:t> </a:t>
            </a:r>
            <a:r>
              <a:rPr lang="en-US" i="1" dirty="0" err="1"/>
              <a:t>nghiệp</a:t>
            </a:r>
            <a:r>
              <a:rPr lang="en-US" dirty="0"/>
              <a:t>...</a:t>
            </a:r>
          </a:p>
          <a:p>
            <a:pPr algn="just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dirty="0"/>
              <a:t>Con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quyết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/</a:t>
            </a:r>
            <a:r>
              <a:rPr lang="en-US" dirty="0" err="1"/>
              <a:t>thất</a:t>
            </a:r>
            <a:r>
              <a:rPr lang="en-US" dirty="0"/>
              <a:t> </a:t>
            </a:r>
            <a:r>
              <a:rPr lang="en-US" dirty="0" err="1"/>
              <a:t>bại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tổ</a:t>
            </a:r>
            <a:r>
              <a:rPr lang="en-US" dirty="0"/>
              <a:t> </a:t>
            </a:r>
            <a:r>
              <a:rPr lang="en-US" dirty="0" err="1"/>
              <a:t>chức</a:t>
            </a:r>
            <a:r>
              <a:rPr lang="en-US" dirty="0"/>
              <a:t> và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…</a:t>
            </a:r>
          </a:p>
        </p:txBody>
      </p:sp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1143000"/>
          </a:xfrm>
        </p:spPr>
        <p:txBody>
          <a:bodyPr>
            <a:noAutofit/>
          </a:bodyPr>
          <a:lstStyle/>
          <a:p>
            <a:pPr algn="ctr"/>
            <a:r>
              <a:rPr lang="en-US" sz="3600" dirty="0" err="1">
                <a:solidFill>
                  <a:srgbClr val="0070C0"/>
                </a:solidFill>
              </a:rPr>
              <a:t>Tầm</a:t>
            </a:r>
            <a:r>
              <a:rPr lang="en-US" sz="3600" dirty="0">
                <a:solidFill>
                  <a:srgbClr val="0070C0"/>
                </a:solidFill>
              </a:rPr>
              <a:t> </a:t>
            </a:r>
            <a:r>
              <a:rPr lang="en-US" sz="3600" dirty="0" err="1">
                <a:solidFill>
                  <a:srgbClr val="0070C0"/>
                </a:solidFill>
              </a:rPr>
              <a:t>quan</a:t>
            </a:r>
            <a:r>
              <a:rPr lang="en-US" sz="3600" dirty="0">
                <a:solidFill>
                  <a:srgbClr val="0070C0"/>
                </a:solidFill>
              </a:rPr>
              <a:t> </a:t>
            </a:r>
            <a:r>
              <a:rPr lang="en-US" sz="3600" dirty="0" err="1">
                <a:solidFill>
                  <a:srgbClr val="0070C0"/>
                </a:solidFill>
              </a:rPr>
              <a:t>trọng</a:t>
            </a:r>
            <a:r>
              <a:rPr lang="en-US" sz="3600" dirty="0">
                <a:solidFill>
                  <a:srgbClr val="0070C0"/>
                </a:solidFill>
              </a:rPr>
              <a:t> </a:t>
            </a:r>
            <a:r>
              <a:rPr lang="en-US" sz="3600" dirty="0" err="1">
                <a:solidFill>
                  <a:srgbClr val="0070C0"/>
                </a:solidFill>
              </a:rPr>
              <a:t>của</a:t>
            </a:r>
            <a:r>
              <a:rPr lang="en-US" sz="3600" dirty="0">
                <a:solidFill>
                  <a:srgbClr val="0070C0"/>
                </a:solidFill>
              </a:rPr>
              <a:t> </a:t>
            </a:r>
            <a:r>
              <a:rPr lang="en-US" sz="3600" dirty="0" err="1">
                <a:solidFill>
                  <a:srgbClr val="0070C0"/>
                </a:solidFill>
              </a:rPr>
              <a:t>nguồn</a:t>
            </a:r>
            <a:r>
              <a:rPr lang="en-US" sz="3600" dirty="0">
                <a:solidFill>
                  <a:srgbClr val="0070C0"/>
                </a:solidFill>
              </a:rPr>
              <a:t> </a:t>
            </a:r>
            <a:r>
              <a:rPr lang="en-US" sz="3600" dirty="0" err="1">
                <a:solidFill>
                  <a:srgbClr val="0070C0"/>
                </a:solidFill>
              </a:rPr>
              <a:t>nhân</a:t>
            </a:r>
            <a:r>
              <a:rPr lang="en-US" sz="3600" dirty="0">
                <a:solidFill>
                  <a:srgbClr val="0070C0"/>
                </a:solidFill>
              </a:rPr>
              <a:t> </a:t>
            </a:r>
            <a:r>
              <a:rPr lang="en-US" sz="3600" dirty="0" err="1">
                <a:solidFill>
                  <a:srgbClr val="0070C0"/>
                </a:solidFill>
              </a:rPr>
              <a:t>lực</a:t>
            </a:r>
            <a:endParaRPr lang="en-US" sz="3600" dirty="0">
              <a:solidFill>
                <a:srgbClr val="0070C0"/>
              </a:solidFill>
            </a:endParaRPr>
          </a:p>
        </p:txBody>
      </p:sp>
      <p:sp>
        <p:nvSpPr>
          <p:cNvPr id="11269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576DBDD-75EC-45E5-8159-F1A5F7B12B26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pic>
        <p:nvPicPr>
          <p:cNvPr id="1026" name="Picture 2" descr="Kết quả hình ảnh cho nguồn lực con người">
            <a:extLst>
              <a:ext uri="{FF2B5EF4-FFF2-40B4-BE49-F238E27FC236}">
                <a16:creationId xmlns:a16="http://schemas.microsoft.com/office/drawing/2014/main" id="{C22FCCE9-42CB-49CF-9403-ADAB8570CE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3657600"/>
            <a:ext cx="4876800" cy="2725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1143000"/>
          </a:xfrm>
        </p:spPr>
        <p:txBody>
          <a:bodyPr>
            <a:noAutofit/>
          </a:bodyPr>
          <a:lstStyle/>
          <a:p>
            <a:pPr algn="ctr"/>
            <a:r>
              <a:rPr lang="en-US" sz="3600">
                <a:solidFill>
                  <a:srgbClr val="0070C0"/>
                </a:solidFill>
              </a:rPr>
              <a:t>Nguồn lực trong thành quả dự án</a:t>
            </a:r>
            <a:endParaRPr lang="en-US" sz="3600" dirty="0">
              <a:solidFill>
                <a:srgbClr val="0070C0"/>
              </a:solidFill>
            </a:endParaRPr>
          </a:p>
        </p:txBody>
      </p:sp>
      <p:sp>
        <p:nvSpPr>
          <p:cNvPr id="11269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576DBDD-75EC-45E5-8159-F1A5F7B12B26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572000" y="5943600"/>
            <a:ext cx="31133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Nguồn</a:t>
            </a:r>
            <a:r>
              <a:rPr lang="en-US" sz="1600" dirty="0"/>
              <a:t>: Cao &amp; </a:t>
            </a:r>
            <a:r>
              <a:rPr lang="en-US" sz="1600" dirty="0" err="1"/>
              <a:t>Swierczek</a:t>
            </a:r>
            <a:r>
              <a:rPr lang="en-US" sz="1600" dirty="0"/>
              <a:t> (2010)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609599" y="1866900"/>
            <a:ext cx="7978775" cy="3314700"/>
            <a:chOff x="1295400" y="1676400"/>
            <a:chExt cx="6934200" cy="3733800"/>
          </a:xfrm>
        </p:grpSpPr>
        <p:sp>
          <p:nvSpPr>
            <p:cNvPr id="9" name="Rectangle 8"/>
            <p:cNvSpPr/>
            <p:nvPr/>
          </p:nvSpPr>
          <p:spPr>
            <a:xfrm>
              <a:off x="1295400" y="1676400"/>
              <a:ext cx="2590800" cy="762000"/>
            </a:xfrm>
            <a:prstGeom prst="rect">
              <a:avLst/>
            </a:prstGeom>
            <a:ln w="19050">
              <a:solidFill>
                <a:srgbClr val="00206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err="1">
                  <a:latin typeface="SFU Futura" panose="00000400000000000000" pitchFamily="2" charset="0"/>
                </a:rPr>
                <a:t>Ổn</a:t>
              </a:r>
              <a:r>
                <a:rPr lang="en-US" sz="1600" b="1" dirty="0">
                  <a:latin typeface="SFU Futura" panose="00000400000000000000" pitchFamily="2" charset="0"/>
                </a:rPr>
                <a:t> </a:t>
              </a:r>
              <a:r>
                <a:rPr lang="en-US" sz="1600" b="1" dirty="0" err="1">
                  <a:latin typeface="SFU Futura" panose="00000400000000000000" pitchFamily="2" charset="0"/>
                </a:rPr>
                <a:t>định</a:t>
              </a:r>
              <a:r>
                <a:rPr lang="en-US" sz="1600" b="1" dirty="0">
                  <a:latin typeface="SFU Futura" panose="00000400000000000000" pitchFamily="2" charset="0"/>
                </a:rPr>
                <a:t> </a:t>
              </a:r>
              <a:r>
                <a:rPr lang="en-US" sz="1600" b="1" dirty="0" err="1">
                  <a:latin typeface="SFU Futura" panose="00000400000000000000" pitchFamily="2" charset="0"/>
                </a:rPr>
                <a:t>bên</a:t>
              </a:r>
              <a:r>
                <a:rPr lang="en-US" sz="1600" b="1" dirty="0">
                  <a:latin typeface="SFU Futura" panose="00000400000000000000" pitchFamily="2" charset="0"/>
                </a:rPr>
                <a:t> </a:t>
              </a:r>
              <a:r>
                <a:rPr lang="en-US" sz="1600" b="1" dirty="0" err="1">
                  <a:latin typeface="SFU Futura" panose="00000400000000000000" pitchFamily="2" charset="0"/>
                </a:rPr>
                <a:t>ngoài</a:t>
              </a:r>
              <a:endParaRPr lang="vi-VN" sz="1600" b="1" dirty="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295400" y="2667000"/>
              <a:ext cx="2590800" cy="762000"/>
            </a:xfrm>
            <a:prstGeom prst="rect">
              <a:avLst/>
            </a:prstGeom>
            <a:ln w="19050">
              <a:solidFill>
                <a:srgbClr val="00206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err="1">
                  <a:latin typeface="SFU Futura" panose="00000400000000000000" pitchFamily="2" charset="0"/>
                </a:rPr>
                <a:t>Năng</a:t>
              </a:r>
              <a:r>
                <a:rPr lang="en-US" sz="1600" b="1" dirty="0">
                  <a:latin typeface="SFU Futura" panose="00000400000000000000" pitchFamily="2" charset="0"/>
                </a:rPr>
                <a:t> </a:t>
              </a:r>
              <a:r>
                <a:rPr lang="en-US" sz="1600" b="1" dirty="0" err="1">
                  <a:latin typeface="SFU Futura" panose="00000400000000000000" pitchFamily="2" charset="0"/>
                </a:rPr>
                <a:t>lực</a:t>
              </a:r>
              <a:r>
                <a:rPr lang="en-US" sz="1600" b="1" dirty="0">
                  <a:latin typeface="SFU Futura" panose="00000400000000000000" pitchFamily="2" charset="0"/>
                </a:rPr>
                <a:t> </a:t>
              </a:r>
              <a:br>
                <a:rPr lang="en-US" sz="1600" b="1" dirty="0">
                  <a:latin typeface="SFU Futura" panose="00000400000000000000" pitchFamily="2" charset="0"/>
                </a:rPr>
              </a:br>
              <a:r>
                <a:rPr lang="en-US" sz="1600" b="1" dirty="0" err="1">
                  <a:latin typeface="SFU Futura" panose="00000400000000000000" pitchFamily="2" charset="0"/>
                </a:rPr>
                <a:t>giám</a:t>
              </a:r>
              <a:r>
                <a:rPr lang="en-US" sz="1600" b="1" dirty="0">
                  <a:latin typeface="SFU Futura" panose="00000400000000000000" pitchFamily="2" charset="0"/>
                </a:rPr>
                <a:t> </a:t>
              </a:r>
              <a:r>
                <a:rPr lang="en-US" sz="1600" b="1" dirty="0" err="1">
                  <a:latin typeface="SFU Futura" panose="00000400000000000000" pitchFamily="2" charset="0"/>
                </a:rPr>
                <a:t>đốc</a:t>
              </a:r>
              <a:r>
                <a:rPr lang="en-US" sz="1600" b="1" dirty="0">
                  <a:latin typeface="SFU Futura" panose="00000400000000000000" pitchFamily="2" charset="0"/>
                </a:rPr>
                <a:t> </a:t>
              </a:r>
              <a:r>
                <a:rPr lang="en-US" sz="1600" b="1" dirty="0" err="1">
                  <a:latin typeface="SFU Futura" panose="00000400000000000000" pitchFamily="2" charset="0"/>
                </a:rPr>
                <a:t>dự</a:t>
              </a:r>
              <a:r>
                <a:rPr lang="en-US" sz="1600" b="1" dirty="0">
                  <a:latin typeface="SFU Futura" panose="00000400000000000000" pitchFamily="2" charset="0"/>
                </a:rPr>
                <a:t> </a:t>
              </a:r>
              <a:r>
                <a:rPr lang="en-US" sz="1600" b="1" dirty="0" err="1">
                  <a:latin typeface="SFU Futura" panose="00000400000000000000" pitchFamily="2" charset="0"/>
                </a:rPr>
                <a:t>án</a:t>
              </a:r>
              <a:endParaRPr lang="vi-VN" sz="1600" b="1" dirty="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295400" y="3657600"/>
              <a:ext cx="2590800" cy="762000"/>
            </a:xfrm>
            <a:prstGeom prst="rect">
              <a:avLst/>
            </a:prstGeom>
            <a:ln w="19050">
              <a:solidFill>
                <a:srgbClr val="00206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err="1">
                  <a:latin typeface="SFU Futura" panose="00000400000000000000" pitchFamily="2" charset="0"/>
                </a:rPr>
                <a:t>Năng</a:t>
              </a:r>
              <a:r>
                <a:rPr lang="en-US" sz="1600" b="1" dirty="0">
                  <a:latin typeface="SFU Futura" panose="00000400000000000000" pitchFamily="2" charset="0"/>
                </a:rPr>
                <a:t> </a:t>
              </a:r>
              <a:r>
                <a:rPr lang="en-US" sz="1600" b="1" dirty="0" err="1">
                  <a:latin typeface="SFU Futura" panose="00000400000000000000" pitchFamily="2" charset="0"/>
                </a:rPr>
                <a:t>lực</a:t>
              </a:r>
              <a:r>
                <a:rPr lang="en-US" sz="1600" b="1" dirty="0">
                  <a:latin typeface="SFU Futura" panose="00000400000000000000" pitchFamily="2" charset="0"/>
                </a:rPr>
                <a:t> </a:t>
              </a:r>
              <a:r>
                <a:rPr lang="en-US" sz="1600" b="1" dirty="0" err="1">
                  <a:latin typeface="SFU Futura" panose="00000400000000000000" pitchFamily="2" charset="0"/>
                </a:rPr>
                <a:t>đội</a:t>
              </a:r>
              <a:r>
                <a:rPr lang="en-US" sz="1600" b="1" dirty="0">
                  <a:latin typeface="SFU Futura" panose="00000400000000000000" pitchFamily="2" charset="0"/>
                </a:rPr>
                <a:t> </a:t>
              </a:r>
              <a:r>
                <a:rPr lang="en-US" sz="1600" b="1" dirty="0" err="1">
                  <a:latin typeface="SFU Futura" panose="00000400000000000000" pitchFamily="2" charset="0"/>
                </a:rPr>
                <a:t>dự</a:t>
              </a:r>
              <a:r>
                <a:rPr lang="en-US" sz="1600" b="1" dirty="0">
                  <a:latin typeface="SFU Futura" panose="00000400000000000000" pitchFamily="2" charset="0"/>
                </a:rPr>
                <a:t> </a:t>
              </a:r>
              <a:r>
                <a:rPr lang="en-US" sz="1600" b="1" dirty="0" err="1">
                  <a:latin typeface="SFU Futura" panose="00000400000000000000" pitchFamily="2" charset="0"/>
                </a:rPr>
                <a:t>án</a:t>
              </a:r>
              <a:endParaRPr lang="vi-VN" sz="1600" b="1" dirty="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295400" y="4648200"/>
              <a:ext cx="2590800" cy="762000"/>
            </a:xfrm>
            <a:prstGeom prst="rect">
              <a:avLst/>
            </a:prstGeom>
            <a:ln w="19050">
              <a:solidFill>
                <a:srgbClr val="00206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err="1">
                  <a:latin typeface="SFU Futura" panose="00000400000000000000" pitchFamily="2" charset="0"/>
                </a:rPr>
                <a:t>Hỗ</a:t>
              </a:r>
              <a:r>
                <a:rPr lang="en-US" sz="1600" b="1" dirty="0">
                  <a:latin typeface="SFU Futura" panose="00000400000000000000" pitchFamily="2" charset="0"/>
                </a:rPr>
                <a:t> </a:t>
              </a:r>
              <a:r>
                <a:rPr lang="en-US" sz="1600" b="1" dirty="0" err="1">
                  <a:latin typeface="SFU Futura" panose="00000400000000000000" pitchFamily="2" charset="0"/>
                </a:rPr>
                <a:t>trợ</a:t>
              </a:r>
              <a:r>
                <a:rPr lang="en-US" sz="1600" b="1" dirty="0">
                  <a:latin typeface="SFU Futura" panose="00000400000000000000" pitchFamily="2" charset="0"/>
                </a:rPr>
                <a:t> </a:t>
              </a:r>
              <a:r>
                <a:rPr lang="en-US" sz="1600" b="1" dirty="0" err="1">
                  <a:latin typeface="SFU Futura" panose="00000400000000000000" pitchFamily="2" charset="0"/>
                </a:rPr>
                <a:t>của</a:t>
              </a:r>
              <a:r>
                <a:rPr lang="en-US" sz="1600" b="1" dirty="0">
                  <a:latin typeface="SFU Futura" panose="00000400000000000000" pitchFamily="2" charset="0"/>
                </a:rPr>
                <a:t> </a:t>
              </a:r>
              <a:r>
                <a:rPr lang="en-US" sz="1600" b="1" dirty="0" err="1">
                  <a:latin typeface="SFU Futura" panose="00000400000000000000" pitchFamily="2" charset="0"/>
                </a:rPr>
                <a:t>tổ</a:t>
              </a:r>
              <a:r>
                <a:rPr lang="en-US" sz="1600" b="1" dirty="0">
                  <a:latin typeface="SFU Futura" panose="00000400000000000000" pitchFamily="2" charset="0"/>
                </a:rPr>
                <a:t> </a:t>
              </a:r>
              <a:r>
                <a:rPr lang="en-US" sz="1600" b="1" dirty="0" err="1">
                  <a:latin typeface="SFU Futura" panose="00000400000000000000" pitchFamily="2" charset="0"/>
                </a:rPr>
                <a:t>chức</a:t>
              </a:r>
              <a:endParaRPr lang="vi-VN" sz="1600" b="1" dirty="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5638800" y="3124200"/>
              <a:ext cx="2590800" cy="762000"/>
            </a:xfrm>
            <a:prstGeom prst="rect">
              <a:avLst/>
            </a:prstGeom>
            <a:ln w="19050">
              <a:solidFill>
                <a:srgbClr val="00206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 b="1" dirty="0" err="1">
                  <a:latin typeface="SFU Futura" panose="00000400000000000000" pitchFamily="2" charset="0"/>
                </a:rPr>
                <a:t>Thành</a:t>
              </a:r>
              <a:r>
                <a:rPr lang="en-US" sz="1600" b="1" dirty="0">
                  <a:latin typeface="SFU Futura" panose="00000400000000000000" pitchFamily="2" charset="0"/>
                </a:rPr>
                <a:t> </a:t>
              </a:r>
              <a:r>
                <a:rPr lang="en-US" sz="1600" b="1" dirty="0" err="1">
                  <a:latin typeface="SFU Futura" panose="00000400000000000000" pitchFamily="2" charset="0"/>
                </a:rPr>
                <a:t>quả</a:t>
              </a:r>
              <a:r>
                <a:rPr lang="en-US" sz="1600" b="1" dirty="0">
                  <a:latin typeface="SFU Futura" panose="00000400000000000000" pitchFamily="2" charset="0"/>
                </a:rPr>
                <a:t> </a:t>
              </a:r>
              <a:r>
                <a:rPr lang="en-US" sz="1600" b="1" dirty="0" err="1">
                  <a:latin typeface="SFU Futura" panose="00000400000000000000" pitchFamily="2" charset="0"/>
                </a:rPr>
                <a:t>dự</a:t>
              </a:r>
              <a:r>
                <a:rPr lang="en-US" sz="1600" b="1" dirty="0">
                  <a:latin typeface="SFU Futura" panose="00000400000000000000" pitchFamily="2" charset="0"/>
                </a:rPr>
                <a:t> </a:t>
              </a:r>
              <a:r>
                <a:rPr lang="en-US" sz="1600" b="1" dirty="0" err="1">
                  <a:latin typeface="SFU Futura" panose="00000400000000000000" pitchFamily="2" charset="0"/>
                </a:rPr>
                <a:t>án</a:t>
              </a:r>
              <a:endParaRPr lang="vi-VN" sz="1600" b="1" dirty="0"/>
            </a:p>
          </p:txBody>
        </p:sp>
        <p:cxnSp>
          <p:nvCxnSpPr>
            <p:cNvPr id="14" name="Straight Arrow Connector 13"/>
            <p:cNvCxnSpPr>
              <a:stCxn id="9" idx="3"/>
            </p:cNvCxnSpPr>
            <p:nvPr/>
          </p:nvCxnSpPr>
          <p:spPr>
            <a:xfrm>
              <a:off x="3886200" y="2057400"/>
              <a:ext cx="1752600" cy="1295400"/>
            </a:xfrm>
            <a:prstGeom prst="straightConnector1">
              <a:avLst/>
            </a:prstGeom>
            <a:ln w="1905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>
              <a:stCxn id="10" idx="3"/>
            </p:cNvCxnSpPr>
            <p:nvPr/>
          </p:nvCxnSpPr>
          <p:spPr>
            <a:xfrm>
              <a:off x="3886200" y="3048000"/>
              <a:ext cx="1752600" cy="381000"/>
            </a:xfrm>
            <a:prstGeom prst="straightConnector1">
              <a:avLst/>
            </a:prstGeom>
            <a:ln w="1905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>
              <a:stCxn id="11" idx="3"/>
            </p:cNvCxnSpPr>
            <p:nvPr/>
          </p:nvCxnSpPr>
          <p:spPr>
            <a:xfrm flipV="1">
              <a:off x="3886200" y="3505200"/>
              <a:ext cx="1752600" cy="533400"/>
            </a:xfrm>
            <a:prstGeom prst="straightConnector1">
              <a:avLst/>
            </a:prstGeom>
            <a:ln w="1905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>
              <a:stCxn id="12" idx="3"/>
            </p:cNvCxnSpPr>
            <p:nvPr/>
          </p:nvCxnSpPr>
          <p:spPr>
            <a:xfrm flipV="1">
              <a:off x="3886200" y="3581400"/>
              <a:ext cx="1752600" cy="1447800"/>
            </a:xfrm>
            <a:prstGeom prst="straightConnector1">
              <a:avLst/>
            </a:prstGeom>
            <a:ln w="1905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93094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3124200"/>
          </a:xfrm>
          <a:solidFill>
            <a:schemeClr val="bg2"/>
          </a:solidFill>
        </p:spPr>
        <p:txBody>
          <a:bodyPr/>
          <a:lstStyle/>
          <a:p>
            <a:pPr algn="just">
              <a:spcBef>
                <a:spcPts val="600"/>
              </a:spcBef>
              <a:spcAft>
                <a:spcPts val="1200"/>
              </a:spcAft>
            </a:pPr>
            <a:r>
              <a:rPr lang="en-US" sz="2400" dirty="0" err="1"/>
              <a:t>Kỹ</a:t>
            </a:r>
            <a:r>
              <a:rPr lang="en-US" sz="2400" dirty="0"/>
              <a:t> </a:t>
            </a:r>
            <a:r>
              <a:rPr lang="en-US" sz="2400" dirty="0" err="1"/>
              <a:t>sư</a:t>
            </a:r>
            <a:r>
              <a:rPr lang="en-US" sz="2400" dirty="0"/>
              <a:t> CNTT </a:t>
            </a:r>
            <a:r>
              <a:rPr lang="en-US" sz="2400" dirty="0" err="1"/>
              <a:t>giỏi</a:t>
            </a:r>
            <a:r>
              <a:rPr lang="en-US" sz="2400" dirty="0"/>
              <a:t> </a:t>
            </a:r>
            <a:r>
              <a:rPr lang="en-US" sz="2400" dirty="0" err="1"/>
              <a:t>luôn</a:t>
            </a:r>
            <a:r>
              <a:rPr lang="en-US" sz="2400" dirty="0"/>
              <a:t> </a:t>
            </a:r>
            <a:r>
              <a:rPr lang="en-US" sz="2400" dirty="0" err="1"/>
              <a:t>được</a:t>
            </a:r>
            <a:r>
              <a:rPr lang="en-US" sz="2400" dirty="0"/>
              <a:t> </a:t>
            </a:r>
            <a:r>
              <a:rPr lang="en-US" sz="2400" dirty="0" err="1"/>
              <a:t>chào</a:t>
            </a:r>
            <a:r>
              <a:rPr lang="en-US" sz="2400" dirty="0"/>
              <a:t> </a:t>
            </a:r>
            <a:r>
              <a:rPr lang="en-US" sz="2400" dirty="0" err="1"/>
              <a:t>đón</a:t>
            </a:r>
            <a:r>
              <a:rPr lang="en-US" sz="2400" dirty="0"/>
              <a:t> </a:t>
            </a:r>
            <a:r>
              <a:rPr lang="en-US" sz="2400" dirty="0" err="1"/>
              <a:t>trên</a:t>
            </a:r>
            <a:r>
              <a:rPr lang="en-US" sz="2400" dirty="0"/>
              <a:t> </a:t>
            </a:r>
            <a:r>
              <a:rPr lang="en-US" sz="2400" dirty="0" err="1"/>
              <a:t>toàn</a:t>
            </a:r>
            <a:r>
              <a:rPr lang="en-US" sz="2400" dirty="0"/>
              <a:t> </a:t>
            </a:r>
            <a:r>
              <a:rPr lang="en-US" sz="2400" dirty="0" err="1"/>
              <a:t>thế</a:t>
            </a:r>
            <a:r>
              <a:rPr lang="en-US" sz="2400" dirty="0"/>
              <a:t> </a:t>
            </a:r>
            <a:r>
              <a:rPr lang="en-US" sz="2400" dirty="0" err="1"/>
              <a:t>giới</a:t>
            </a:r>
            <a:r>
              <a:rPr lang="en-US" sz="2400" dirty="0"/>
              <a:t>.</a:t>
            </a:r>
          </a:p>
          <a:p>
            <a:pPr algn="just">
              <a:spcBef>
                <a:spcPts val="600"/>
              </a:spcBef>
              <a:spcAft>
                <a:spcPts val="1200"/>
              </a:spcAft>
            </a:pPr>
            <a:r>
              <a:rPr lang="en-US" sz="2400" dirty="0"/>
              <a:t>QLDA HTTT </a:t>
            </a:r>
            <a:r>
              <a:rPr lang="en-US" sz="2400" dirty="0" err="1"/>
              <a:t>đứng</a:t>
            </a:r>
            <a:r>
              <a:rPr lang="en-US" sz="2400" dirty="0"/>
              <a:t> </a:t>
            </a:r>
            <a:r>
              <a:rPr lang="en-US" sz="2400" dirty="0" err="1"/>
              <a:t>thứ</a:t>
            </a:r>
            <a:r>
              <a:rPr lang="en-US" sz="2400" dirty="0"/>
              <a:t> 2 </a:t>
            </a:r>
            <a:r>
              <a:rPr lang="en-US" sz="2400" dirty="0" err="1"/>
              <a:t>trong</a:t>
            </a:r>
            <a:r>
              <a:rPr lang="en-US" sz="2400" dirty="0"/>
              <a:t> </a:t>
            </a:r>
            <a:r>
              <a:rPr lang="en-US" sz="2400" dirty="0" err="1"/>
              <a:t>những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kỹ</a:t>
            </a:r>
            <a:r>
              <a:rPr lang="en-US" sz="2400" dirty="0"/>
              <a:t> </a:t>
            </a:r>
            <a:r>
              <a:rPr lang="en-US" sz="2400" dirty="0" err="1"/>
              <a:t>năng</a:t>
            </a:r>
            <a:r>
              <a:rPr lang="en-US" sz="2400" dirty="0"/>
              <a:t> (Computerworld</a:t>
            </a:r>
            <a:r>
              <a:rPr lang="en-US" sz="2400"/>
              <a:t>, 2017).</a:t>
            </a:r>
            <a:endParaRPr lang="en-US" sz="2400" dirty="0"/>
          </a:p>
          <a:p>
            <a:pPr algn="just">
              <a:spcBef>
                <a:spcPts val="600"/>
              </a:spcBef>
              <a:spcAft>
                <a:spcPts val="1200"/>
              </a:spcAft>
            </a:pPr>
            <a:r>
              <a:rPr lang="en-US" sz="2400"/>
              <a:t>2017: </a:t>
            </a:r>
            <a:r>
              <a:rPr lang="en-US" sz="2400" b="1">
                <a:solidFill>
                  <a:srgbClr val="FF0000"/>
                </a:solidFill>
              </a:rPr>
              <a:t>4.6</a:t>
            </a:r>
            <a:r>
              <a:rPr lang="en-US" sz="240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tỷ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/>
              <a:t>thuê</a:t>
            </a:r>
            <a:r>
              <a:rPr lang="en-US" sz="2400" dirty="0"/>
              <a:t> </a:t>
            </a:r>
            <a:r>
              <a:rPr lang="en-US" sz="2400" dirty="0" err="1"/>
              <a:t>bao</a:t>
            </a:r>
            <a:r>
              <a:rPr lang="en-US" sz="2400" dirty="0"/>
              <a:t> Internet</a:t>
            </a:r>
            <a:r>
              <a:rPr lang="en-US" sz="2400"/>
              <a:t>, </a:t>
            </a:r>
            <a:r>
              <a:rPr lang="en-US" sz="2400" b="1" dirty="0">
                <a:solidFill>
                  <a:srgbClr val="FF0000"/>
                </a:solidFill>
              </a:rPr>
              <a:t>3</a:t>
            </a:r>
            <a:r>
              <a:rPr lang="en-US" sz="2400" b="1">
                <a:solidFill>
                  <a:srgbClr val="FF0000"/>
                </a:solidFill>
              </a:rPr>
              <a:t>,3</a:t>
            </a:r>
            <a:r>
              <a:rPr lang="en-US" sz="2400"/>
              <a:t> </a:t>
            </a:r>
            <a:r>
              <a:rPr lang="en-US" sz="2400" dirty="0" err="1">
                <a:solidFill>
                  <a:srgbClr val="FF0000"/>
                </a:solidFill>
              </a:rPr>
              <a:t>tỷ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/>
              <a:t>thuê</a:t>
            </a:r>
            <a:r>
              <a:rPr lang="en-US" sz="2400" dirty="0"/>
              <a:t> </a:t>
            </a:r>
            <a:r>
              <a:rPr lang="en-US" sz="2400" dirty="0" err="1"/>
              <a:t>bao</a:t>
            </a:r>
            <a:r>
              <a:rPr lang="en-US" sz="2400" dirty="0"/>
              <a:t> di </a:t>
            </a:r>
            <a:r>
              <a:rPr lang="en-US" sz="2400" dirty="0" err="1"/>
              <a:t>động</a:t>
            </a:r>
            <a:r>
              <a:rPr lang="en-US" sz="2400" dirty="0"/>
              <a:t>.</a:t>
            </a:r>
          </a:p>
          <a:p>
            <a:pPr algn="just">
              <a:spcBef>
                <a:spcPts val="600"/>
              </a:spcBef>
              <a:spcAft>
                <a:spcPts val="1200"/>
              </a:spcAft>
            </a:pPr>
            <a:r>
              <a:rPr lang="vi-VN" sz="2400"/>
              <a:t>Đến 2021 </a:t>
            </a:r>
            <a:r>
              <a:rPr lang="vi-VN" sz="2400" dirty="0"/>
              <a:t>VN có khoảng </a:t>
            </a:r>
            <a:r>
              <a:rPr lang="vi-VN" sz="2400" b="1" dirty="0">
                <a:solidFill>
                  <a:srgbClr val="FF0000"/>
                </a:solidFill>
              </a:rPr>
              <a:t>1</a:t>
            </a:r>
            <a:r>
              <a:rPr lang="vi-VN" sz="2400" dirty="0">
                <a:solidFill>
                  <a:srgbClr val="FF0000"/>
                </a:solidFill>
              </a:rPr>
              <a:t> triệu </a:t>
            </a:r>
            <a:r>
              <a:rPr lang="vi-VN" sz="2400" dirty="0"/>
              <a:t>nhân lực CNTT, ngành CNTT tăng trưởng 30% (Cao Hào Thi &amp; ctg., 2011).</a:t>
            </a:r>
          </a:p>
        </p:txBody>
      </p:sp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 err="1"/>
              <a:t>Lực</a:t>
            </a:r>
            <a:r>
              <a:rPr lang="en-US" sz="3600" dirty="0"/>
              <a:t> </a:t>
            </a:r>
            <a:r>
              <a:rPr lang="en-US" sz="3600" dirty="0" err="1"/>
              <a:t>lượng</a:t>
            </a:r>
            <a:r>
              <a:rPr lang="en-US" sz="3600" dirty="0"/>
              <a:t> </a:t>
            </a:r>
            <a:r>
              <a:rPr lang="en-US" sz="3600" dirty="0" err="1"/>
              <a:t>lao</a:t>
            </a:r>
            <a:r>
              <a:rPr lang="en-US" sz="3600" dirty="0"/>
              <a:t> </a:t>
            </a:r>
            <a:r>
              <a:rPr lang="en-US" sz="3600" dirty="0" err="1"/>
              <a:t>động</a:t>
            </a:r>
            <a:r>
              <a:rPr lang="en-US" sz="3600" dirty="0"/>
              <a:t> CNTT/HTTT</a:t>
            </a:r>
          </a:p>
        </p:txBody>
      </p:sp>
      <p:sp>
        <p:nvSpPr>
          <p:cNvPr id="12292" name="Footer Placeholder 3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BB186E2-FC1D-4521-A792-9325D2DB86B6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Content Placeholder 2"/>
          <p:cNvSpPr>
            <a:spLocks noGrp="1"/>
          </p:cNvSpPr>
          <p:nvPr>
            <p:ph idx="1"/>
          </p:nvPr>
        </p:nvSpPr>
        <p:spPr>
          <a:xfrm>
            <a:off x="381000" y="2209800"/>
            <a:ext cx="8229600" cy="2971800"/>
          </a:xfrm>
          <a:solidFill>
            <a:schemeClr val="bg2"/>
          </a:solidFill>
        </p:spPr>
        <p:txBody>
          <a:bodyPr/>
          <a:lstStyle/>
          <a:p>
            <a:pPr algn="just">
              <a:spcBef>
                <a:spcPts val="600"/>
              </a:spcBef>
              <a:spcAft>
                <a:spcPts val="1000"/>
              </a:spcAft>
            </a:pPr>
            <a:r>
              <a:rPr lang="en-US" sz="2400" dirty="0" err="1"/>
              <a:t>Có</a:t>
            </a:r>
            <a:r>
              <a:rPr lang="en-US" sz="2400" dirty="0"/>
              <a:t> </a:t>
            </a:r>
            <a:r>
              <a:rPr lang="en-US" sz="2400" dirty="0" err="1"/>
              <a:t>khoảng</a:t>
            </a:r>
            <a:r>
              <a:rPr lang="en-US" sz="2400" dirty="0"/>
              <a:t> </a:t>
            </a:r>
            <a:r>
              <a:rPr lang="en-US" sz="2400" dirty="0" err="1"/>
              <a:t>cách</a:t>
            </a:r>
            <a:r>
              <a:rPr lang="en-US" sz="2400" dirty="0"/>
              <a:t> </a:t>
            </a:r>
            <a:r>
              <a:rPr lang="en-US" sz="2400" dirty="0" err="1"/>
              <a:t>giữa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kỹ</a:t>
            </a:r>
            <a:r>
              <a:rPr lang="en-US" sz="2400" dirty="0"/>
              <a:t> </a:t>
            </a:r>
            <a:r>
              <a:rPr lang="en-US" sz="2400" dirty="0" err="1"/>
              <a:t>năng</a:t>
            </a:r>
            <a:r>
              <a:rPr lang="en-US" sz="2400" dirty="0"/>
              <a:t> </a:t>
            </a:r>
            <a:r>
              <a:rPr lang="en-US" sz="2400" dirty="0" err="1"/>
              <a:t>nhà</a:t>
            </a:r>
            <a:r>
              <a:rPr lang="en-US" sz="2400" dirty="0"/>
              <a:t> </a:t>
            </a:r>
            <a:r>
              <a:rPr lang="en-US" sz="2400" dirty="0" err="1"/>
              <a:t>tuyển</a:t>
            </a:r>
            <a:r>
              <a:rPr lang="en-US" sz="2400" dirty="0"/>
              <a:t> </a:t>
            </a:r>
            <a:r>
              <a:rPr lang="en-US" sz="2400" dirty="0" err="1"/>
              <a:t>dụng</a:t>
            </a:r>
            <a:r>
              <a:rPr lang="en-US" sz="2400" dirty="0"/>
              <a:t> </a:t>
            </a:r>
            <a:r>
              <a:rPr lang="en-US" sz="2400" dirty="0" err="1"/>
              <a:t>mong</a:t>
            </a:r>
            <a:r>
              <a:rPr lang="en-US" sz="2400" dirty="0"/>
              <a:t> </a:t>
            </a:r>
            <a:r>
              <a:rPr lang="en-US" sz="2400" dirty="0" err="1"/>
              <a:t>muốn</a:t>
            </a:r>
            <a:r>
              <a:rPr lang="en-US" sz="2400" dirty="0"/>
              <a:t> và </a:t>
            </a:r>
            <a:r>
              <a:rPr lang="en-US" sz="2400" dirty="0" err="1"/>
              <a:t>nguồn</a:t>
            </a:r>
            <a:r>
              <a:rPr lang="en-US" sz="2400" dirty="0"/>
              <a:t> </a:t>
            </a:r>
            <a:r>
              <a:rPr lang="en-US" sz="2400" dirty="0" err="1"/>
              <a:t>nhân</a:t>
            </a:r>
            <a:r>
              <a:rPr lang="en-US" sz="2400" dirty="0"/>
              <a:t> </a:t>
            </a:r>
            <a:r>
              <a:rPr lang="en-US" sz="2400" dirty="0" err="1"/>
              <a:t>lực</a:t>
            </a:r>
            <a:r>
              <a:rPr lang="en-US" sz="2400" dirty="0"/>
              <a:t> CNTT (CompTIA</a:t>
            </a:r>
            <a:r>
              <a:rPr lang="en-US" sz="2400"/>
              <a:t>, 2016).</a:t>
            </a:r>
            <a:endParaRPr lang="en-US" sz="2400" dirty="0"/>
          </a:p>
          <a:p>
            <a:pPr algn="just">
              <a:spcBef>
                <a:spcPts val="600"/>
              </a:spcBef>
              <a:spcAft>
                <a:spcPts val="1000"/>
              </a:spcAft>
            </a:pPr>
            <a:r>
              <a:rPr lang="en-US" sz="2400" b="1" dirty="0">
                <a:solidFill>
                  <a:srgbClr val="FF0000"/>
                </a:solidFill>
              </a:rPr>
              <a:t>68</a:t>
            </a:r>
            <a:r>
              <a:rPr lang="en-US" sz="2400" dirty="0">
                <a:solidFill>
                  <a:srgbClr val="FF0000"/>
                </a:solidFill>
              </a:rPr>
              <a:t>% </a:t>
            </a:r>
            <a:r>
              <a:rPr lang="en-US" sz="2400" dirty="0" err="1"/>
              <a:t>công</a:t>
            </a:r>
            <a:r>
              <a:rPr lang="en-US" sz="2400" dirty="0"/>
              <a:t> ty HTTT </a:t>
            </a:r>
            <a:r>
              <a:rPr lang="en-US" sz="2400" dirty="0" err="1"/>
              <a:t>tìm</a:t>
            </a:r>
            <a:r>
              <a:rPr lang="en-US" sz="2400" dirty="0"/>
              <a:t> </a:t>
            </a:r>
            <a:r>
              <a:rPr lang="en-US" sz="2400" dirty="0" err="1"/>
              <a:t>kiếm</a:t>
            </a:r>
            <a:r>
              <a:rPr lang="en-US" sz="2400" dirty="0"/>
              <a:t> </a:t>
            </a:r>
            <a:r>
              <a:rPr lang="en-US" sz="2400" dirty="0" err="1"/>
              <a:t>nhân</a:t>
            </a:r>
            <a:r>
              <a:rPr lang="en-US" sz="2400" dirty="0"/>
              <a:t> </a:t>
            </a:r>
            <a:r>
              <a:rPr lang="en-US" sz="2400" dirty="0" err="1"/>
              <a:t>viên</a:t>
            </a:r>
            <a:r>
              <a:rPr lang="en-US" sz="2400" dirty="0"/>
              <a:t> </a:t>
            </a:r>
            <a:r>
              <a:rPr lang="en-US" sz="2400" dirty="0" err="1"/>
              <a:t>mới</a:t>
            </a:r>
            <a:r>
              <a:rPr lang="en-US" sz="2400" dirty="0"/>
              <a:t> </a:t>
            </a:r>
            <a:r>
              <a:rPr lang="en-US" sz="2400" dirty="0" err="1"/>
              <a:t>rất</a:t>
            </a:r>
            <a:r>
              <a:rPr lang="en-US" sz="2400" dirty="0"/>
              <a:t> </a:t>
            </a:r>
            <a:r>
              <a:rPr lang="en-US" sz="2400" dirty="0" err="1"/>
              <a:t>khó</a:t>
            </a:r>
            <a:r>
              <a:rPr lang="en-US" sz="2400" dirty="0"/>
              <a:t> </a:t>
            </a:r>
            <a:r>
              <a:rPr lang="en-US" sz="2400" dirty="0" err="1"/>
              <a:t>khăn</a:t>
            </a:r>
            <a:r>
              <a:rPr lang="en-US" sz="2400" dirty="0"/>
              <a:t>.</a:t>
            </a:r>
          </a:p>
          <a:p>
            <a:pPr algn="just">
              <a:spcBef>
                <a:spcPts val="600"/>
              </a:spcBef>
              <a:spcAft>
                <a:spcPts val="1000"/>
              </a:spcAft>
            </a:pPr>
            <a:r>
              <a:rPr lang="en-US" sz="2400" b="1" dirty="0">
                <a:solidFill>
                  <a:srgbClr val="FF0000"/>
                </a:solidFill>
              </a:rPr>
              <a:t>58</a:t>
            </a:r>
            <a:r>
              <a:rPr lang="en-US" sz="2400" dirty="0">
                <a:solidFill>
                  <a:srgbClr val="FF0000"/>
                </a:solidFill>
              </a:rPr>
              <a:t>% </a:t>
            </a:r>
            <a:r>
              <a:rPr lang="en-US" sz="2400" dirty="0" err="1"/>
              <a:t>doanh</a:t>
            </a:r>
            <a:r>
              <a:rPr lang="en-US" sz="2400" dirty="0"/>
              <a:t> </a:t>
            </a:r>
            <a:r>
              <a:rPr lang="en-US" sz="2400" dirty="0" err="1"/>
              <a:t>nghiệp</a:t>
            </a:r>
            <a:r>
              <a:rPr lang="en-US" sz="2400" dirty="0"/>
              <a:t> </a:t>
            </a:r>
            <a:r>
              <a:rPr lang="en-US" sz="2400" dirty="0" err="1"/>
              <a:t>quan</a:t>
            </a:r>
            <a:r>
              <a:rPr lang="en-US" sz="2400" dirty="0"/>
              <a:t> </a:t>
            </a:r>
            <a:r>
              <a:rPr lang="en-US" sz="2400" dirty="0" err="1"/>
              <a:t>tâm</a:t>
            </a:r>
            <a:r>
              <a:rPr lang="en-US" sz="2400" dirty="0"/>
              <a:t> </a:t>
            </a:r>
            <a:r>
              <a:rPr lang="en-US" sz="2400" dirty="0" err="1"/>
              <a:t>đến</a:t>
            </a:r>
            <a:r>
              <a:rPr lang="en-US" sz="2400" dirty="0"/>
              <a:t> </a:t>
            </a:r>
            <a:r>
              <a:rPr lang="en-US" sz="2400" dirty="0" err="1"/>
              <a:t>chất</a:t>
            </a:r>
            <a:r>
              <a:rPr lang="en-US" sz="2400" dirty="0"/>
              <a:t> </a:t>
            </a:r>
            <a:r>
              <a:rPr lang="en-US" sz="2400" dirty="0" err="1"/>
              <a:t>lượng</a:t>
            </a:r>
            <a:r>
              <a:rPr lang="en-US" sz="2400" dirty="0"/>
              <a:t> và </a:t>
            </a:r>
            <a:r>
              <a:rPr lang="en-US" sz="2400" dirty="0" err="1"/>
              <a:t>số</a:t>
            </a:r>
            <a:r>
              <a:rPr lang="en-US" sz="2400" dirty="0"/>
              <a:t> </a:t>
            </a:r>
            <a:r>
              <a:rPr lang="en-US" sz="2400" dirty="0" err="1"/>
              <a:t>lượng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tài</a:t>
            </a:r>
            <a:r>
              <a:rPr lang="en-US" sz="2400" dirty="0"/>
              <a:t> </a:t>
            </a:r>
            <a:r>
              <a:rPr lang="en-US" sz="2400" dirty="0" err="1"/>
              <a:t>năng</a:t>
            </a:r>
            <a:r>
              <a:rPr lang="en-US" sz="2400" dirty="0"/>
              <a:t> HTTT </a:t>
            </a:r>
            <a:r>
              <a:rPr lang="en-US" sz="2400" dirty="0" err="1"/>
              <a:t>sẵn</a:t>
            </a:r>
            <a:r>
              <a:rPr lang="en-US" sz="2400" dirty="0"/>
              <a:t> </a:t>
            </a:r>
            <a:r>
              <a:rPr lang="en-US" sz="2400" dirty="0" err="1"/>
              <a:t>có</a:t>
            </a:r>
            <a:r>
              <a:rPr lang="en-US" sz="2400" dirty="0"/>
              <a:t>.</a:t>
            </a:r>
          </a:p>
          <a:p>
            <a:pPr algn="just">
              <a:spcBef>
                <a:spcPts val="600"/>
              </a:spcBef>
              <a:spcAft>
                <a:spcPts val="1000"/>
              </a:spcAft>
            </a:pPr>
            <a:r>
              <a:rPr lang="en-US" sz="2400" dirty="0" err="1"/>
              <a:t>Đối</a:t>
            </a:r>
            <a:r>
              <a:rPr lang="en-US" sz="2400" dirty="0"/>
              <a:t> </a:t>
            </a:r>
            <a:r>
              <a:rPr lang="en-US" sz="2400" dirty="0" err="1"/>
              <a:t>phó</a:t>
            </a:r>
            <a:r>
              <a:rPr lang="en-US" sz="2400" dirty="0"/>
              <a:t> </a:t>
            </a:r>
            <a:r>
              <a:rPr lang="en-US" sz="2400" dirty="0" err="1"/>
              <a:t>với</a:t>
            </a:r>
            <a:r>
              <a:rPr lang="en-US" sz="2400" dirty="0"/>
              <a:t> </a:t>
            </a:r>
            <a:r>
              <a:rPr lang="en-US" sz="2400" dirty="0" err="1"/>
              <a:t>vấn</a:t>
            </a:r>
            <a:r>
              <a:rPr lang="en-US" sz="2400" dirty="0"/>
              <a:t> </a:t>
            </a:r>
            <a:r>
              <a:rPr lang="en-US" sz="2400" dirty="0" err="1"/>
              <a:t>đề</a:t>
            </a:r>
            <a:r>
              <a:rPr lang="en-US" sz="2400" dirty="0"/>
              <a:t> </a:t>
            </a:r>
            <a:r>
              <a:rPr lang="en-US" sz="2400" dirty="0" err="1"/>
              <a:t>thiếu</a:t>
            </a:r>
            <a:r>
              <a:rPr lang="en-US" sz="2400" dirty="0"/>
              <a:t> </a:t>
            </a:r>
            <a:r>
              <a:rPr lang="en-US" sz="2400" dirty="0" err="1"/>
              <a:t>nhân</a:t>
            </a:r>
            <a:r>
              <a:rPr lang="en-US" sz="2400" dirty="0"/>
              <a:t> </a:t>
            </a:r>
            <a:r>
              <a:rPr lang="en-US" sz="2400" dirty="0" err="1"/>
              <a:t>viên</a:t>
            </a:r>
            <a:r>
              <a:rPr lang="en-US" sz="2400" dirty="0"/>
              <a:t> </a:t>
            </a:r>
            <a:r>
              <a:rPr lang="en-US" sz="2400" dirty="0" err="1"/>
              <a:t>là</a:t>
            </a:r>
            <a:r>
              <a:rPr lang="en-US" sz="2400" dirty="0"/>
              <a:t> </a:t>
            </a:r>
            <a:r>
              <a:rPr lang="en-US" sz="2400" dirty="0" err="1"/>
              <a:t>làm</a:t>
            </a:r>
            <a:r>
              <a:rPr lang="en-US" sz="2400" dirty="0"/>
              <a:t> </a:t>
            </a:r>
            <a:r>
              <a:rPr lang="en-US" sz="2400" dirty="0" err="1"/>
              <a:t>thêm</a:t>
            </a:r>
            <a:r>
              <a:rPr lang="en-US" sz="2400" dirty="0"/>
              <a:t> </a:t>
            </a:r>
            <a:r>
              <a:rPr lang="en-US" sz="2400" dirty="0" err="1"/>
              <a:t>giờ</a:t>
            </a:r>
            <a:r>
              <a:rPr lang="en-US" sz="2400" dirty="0"/>
              <a:t>...</a:t>
            </a:r>
          </a:p>
        </p:txBody>
      </p:sp>
      <p:sp>
        <p:nvSpPr>
          <p:cNvPr id="17410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3600" dirty="0" err="1"/>
              <a:t>Vấn</a:t>
            </a:r>
            <a:r>
              <a:rPr lang="en-US" sz="3600" dirty="0"/>
              <a:t> </a:t>
            </a:r>
            <a:r>
              <a:rPr lang="en-US" sz="3600" dirty="0" err="1"/>
              <a:t>đề</a:t>
            </a:r>
            <a:r>
              <a:rPr lang="en-US" sz="3600" dirty="0"/>
              <a:t> </a:t>
            </a:r>
            <a:r>
              <a:rPr lang="en-US" sz="3600" dirty="0" err="1"/>
              <a:t>nguồn</a:t>
            </a:r>
            <a:r>
              <a:rPr lang="en-US" sz="3600" dirty="0"/>
              <a:t> </a:t>
            </a:r>
            <a:r>
              <a:rPr lang="en-US" sz="3600" dirty="0" err="1"/>
              <a:t>nhân</a:t>
            </a:r>
            <a:r>
              <a:rPr lang="en-US" sz="3600" dirty="0"/>
              <a:t> </a:t>
            </a:r>
            <a:r>
              <a:rPr lang="en-US" sz="3600" dirty="0" err="1"/>
              <a:t>lực</a:t>
            </a:r>
            <a:r>
              <a:rPr lang="en-US" sz="3600" dirty="0"/>
              <a:t> CNTT/HTTT</a:t>
            </a:r>
          </a:p>
        </p:txBody>
      </p:sp>
      <p:sp>
        <p:nvSpPr>
          <p:cNvPr id="17412" name="Footer Placeholder 3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382DB3A-D047-4115-B6E8-B0CFADBCE131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pic>
        <p:nvPicPr>
          <p:cNvPr id="6" name="Picture 5" descr="transparent fail red word failure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1219200"/>
            <a:ext cx="1530858" cy="1036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599" y="1143000"/>
            <a:ext cx="8737665" cy="46482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588375" y="6492875"/>
            <a:ext cx="555625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E5A7A581-379D-4ED7-B5BC-E1CE1865ED13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9144000" cy="685800"/>
          </a:xfrm>
        </p:spPr>
        <p:txBody>
          <a:bodyPr>
            <a:noAutofit/>
          </a:bodyPr>
          <a:lstStyle/>
          <a:p>
            <a:pPr algn="ctr"/>
            <a:r>
              <a:rPr lang="vi-VN" sz="3400" dirty="0">
                <a:solidFill>
                  <a:schemeClr val="bg1">
                    <a:lumMod val="65000"/>
                  </a:schemeClr>
                </a:solidFill>
              </a:rPr>
              <a:t>Tương tác trong dự án [nguồn nhân lực]</a:t>
            </a:r>
            <a:endParaRPr lang="en-US" sz="34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258290" y="1627496"/>
            <a:ext cx="1295400" cy="685801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" name="Rectangle 1"/>
          <p:cNvSpPr/>
          <p:nvPr/>
        </p:nvSpPr>
        <p:spPr>
          <a:xfrm>
            <a:off x="4952682" y="6107668"/>
            <a:ext cx="21339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vi-VN" sz="1800" dirty="0"/>
              <a:t>Nguồn: PMI</a:t>
            </a:r>
            <a:r>
              <a:rPr lang="vi-VN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vi-VN" sz="1800"/>
              <a:t>(201</a:t>
            </a:r>
            <a:r>
              <a:rPr lang="en-US" sz="1800"/>
              <a:t>7</a:t>
            </a:r>
            <a:r>
              <a:rPr lang="vi-VN" sz="1800"/>
              <a:t>)</a:t>
            </a:r>
            <a:endParaRPr lang="vi-VN" sz="1800" dirty="0"/>
          </a:p>
        </p:txBody>
      </p:sp>
      <p:sp>
        <p:nvSpPr>
          <p:cNvPr id="8" name="Rounded Rectangle 7"/>
          <p:cNvSpPr/>
          <p:nvPr/>
        </p:nvSpPr>
        <p:spPr>
          <a:xfrm>
            <a:off x="3990110" y="1600200"/>
            <a:ext cx="1295400" cy="685800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9" name="Footer Placeholder 6"/>
          <p:cNvSpPr>
            <a:spLocks noGrp="1"/>
          </p:cNvSpPr>
          <p:nvPr>
            <p:ph type="ftr" sz="quarter" idx="10"/>
          </p:nvPr>
        </p:nvSpPr>
        <p:spPr bwMode="auto">
          <a:xfrm>
            <a:off x="0" y="6492875"/>
            <a:ext cx="2590800" cy="365125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</p:spTree>
    <p:extLst>
      <p:ext uri="{BB962C8B-B14F-4D97-AF65-F5344CB8AC3E}">
        <p14:creationId xmlns:p14="http://schemas.microsoft.com/office/powerpoint/2010/main" val="439232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1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A4FB8A0-D8A7-49BC-9495-433B792AAC3C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305800" cy="1143000"/>
          </a:xfrm>
        </p:spPr>
        <p:txBody>
          <a:bodyPr>
            <a:noAutofit/>
          </a:bodyPr>
          <a:lstStyle/>
          <a:p>
            <a:pPr algn="ctr" eaLnBrk="1" hangingPunct="1">
              <a:defRPr/>
            </a:pPr>
            <a:r>
              <a:rPr lang="en-US" sz="3800" dirty="0">
                <a:solidFill>
                  <a:srgbClr val="0070C0"/>
                </a:solidFill>
              </a:rPr>
              <a:t>Quản lý </a:t>
            </a:r>
            <a:r>
              <a:rPr lang="en-US" sz="3800" dirty="0" err="1">
                <a:solidFill>
                  <a:srgbClr val="0070C0"/>
                </a:solidFill>
              </a:rPr>
              <a:t>nguồn</a:t>
            </a:r>
            <a:r>
              <a:rPr lang="en-US" sz="3800" dirty="0">
                <a:solidFill>
                  <a:srgbClr val="0070C0"/>
                </a:solidFill>
              </a:rPr>
              <a:t> </a:t>
            </a:r>
            <a:r>
              <a:rPr lang="en-US" sz="3800" dirty="0" err="1">
                <a:solidFill>
                  <a:srgbClr val="0070C0"/>
                </a:solidFill>
              </a:rPr>
              <a:t>nhân</a:t>
            </a:r>
            <a:r>
              <a:rPr lang="en-US" sz="3800" dirty="0">
                <a:solidFill>
                  <a:srgbClr val="0070C0"/>
                </a:solidFill>
              </a:rPr>
              <a:t> </a:t>
            </a:r>
            <a:r>
              <a:rPr lang="en-US" sz="3800" dirty="0" err="1">
                <a:solidFill>
                  <a:srgbClr val="0070C0"/>
                </a:solidFill>
              </a:rPr>
              <a:t>lực</a:t>
            </a:r>
            <a:r>
              <a:rPr lang="en-US" sz="3800" dirty="0">
                <a:solidFill>
                  <a:srgbClr val="0070C0"/>
                </a:solidFill>
              </a:rPr>
              <a:t> </a:t>
            </a:r>
            <a:r>
              <a:rPr lang="en-US" sz="3800" dirty="0" err="1">
                <a:solidFill>
                  <a:srgbClr val="0070C0"/>
                </a:solidFill>
              </a:rPr>
              <a:t>dự</a:t>
            </a:r>
            <a:r>
              <a:rPr lang="en-US" sz="3800" dirty="0">
                <a:solidFill>
                  <a:srgbClr val="0070C0"/>
                </a:solidFill>
              </a:rPr>
              <a:t> </a:t>
            </a:r>
            <a:r>
              <a:rPr lang="en-US" sz="3800" dirty="0" err="1">
                <a:solidFill>
                  <a:srgbClr val="0070C0"/>
                </a:solidFill>
              </a:rPr>
              <a:t>án</a:t>
            </a:r>
            <a:r>
              <a:rPr lang="en-US" sz="3800" dirty="0">
                <a:solidFill>
                  <a:srgbClr val="0070C0"/>
                </a:solidFill>
              </a:rPr>
              <a:t> [4]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" y="1371600"/>
            <a:ext cx="901065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731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371600"/>
            <a:ext cx="8458200" cy="4800600"/>
          </a:xfrm>
        </p:spPr>
        <p:txBody>
          <a:bodyPr/>
          <a:lstStyle/>
          <a:p>
            <a:pPr lvl="0" algn="just">
              <a:spcBef>
                <a:spcPts val="600"/>
              </a:spcBef>
              <a:spcAft>
                <a:spcPts val="1000"/>
              </a:spcAft>
              <a:buClr>
                <a:srgbClr val="2DA2BF"/>
              </a:buClr>
            </a:pPr>
            <a:r>
              <a:rPr lang="en-US" b="1" dirty="0" err="1">
                <a:solidFill>
                  <a:prstClr val="black"/>
                </a:solidFill>
              </a:rPr>
              <a:t>Kế</a:t>
            </a:r>
            <a:r>
              <a:rPr lang="en-US" b="1" dirty="0">
                <a:solidFill>
                  <a:prstClr val="black"/>
                </a:solidFill>
              </a:rPr>
              <a:t> </a:t>
            </a:r>
            <a:r>
              <a:rPr lang="en-US" b="1" dirty="0" err="1">
                <a:solidFill>
                  <a:prstClr val="black"/>
                </a:solidFill>
              </a:rPr>
              <a:t>hoạch</a:t>
            </a:r>
            <a:r>
              <a:rPr lang="en-US" b="1" dirty="0">
                <a:solidFill>
                  <a:prstClr val="black"/>
                </a:solidFill>
              </a:rPr>
              <a:t> quản lý </a:t>
            </a:r>
            <a:r>
              <a:rPr lang="en-US" b="1" dirty="0" err="1">
                <a:solidFill>
                  <a:prstClr val="black"/>
                </a:solidFill>
              </a:rPr>
              <a:t>nguồn</a:t>
            </a:r>
            <a:r>
              <a:rPr lang="en-US" b="1" dirty="0">
                <a:solidFill>
                  <a:prstClr val="black"/>
                </a:solidFill>
              </a:rPr>
              <a:t> </a:t>
            </a:r>
            <a:r>
              <a:rPr lang="en-US" b="1" dirty="0" err="1">
                <a:solidFill>
                  <a:prstClr val="black"/>
                </a:solidFill>
              </a:rPr>
              <a:t>nhân</a:t>
            </a:r>
            <a:r>
              <a:rPr lang="en-US" b="1" dirty="0">
                <a:solidFill>
                  <a:prstClr val="black"/>
                </a:solidFill>
              </a:rPr>
              <a:t> </a:t>
            </a:r>
            <a:r>
              <a:rPr lang="en-US" b="1" dirty="0" err="1">
                <a:solidFill>
                  <a:prstClr val="black"/>
                </a:solidFill>
              </a:rPr>
              <a:t>lực</a:t>
            </a:r>
            <a:r>
              <a:rPr lang="en-US" b="1" dirty="0">
                <a:solidFill>
                  <a:prstClr val="black"/>
                </a:solidFill>
              </a:rPr>
              <a:t> </a:t>
            </a:r>
            <a:r>
              <a:rPr lang="en-US" dirty="0">
                <a:solidFill>
                  <a:prstClr val="black"/>
                </a:solidFill>
              </a:rPr>
              <a:t>(</a:t>
            </a:r>
            <a:r>
              <a:rPr lang="en-US" dirty="0">
                <a:solidFill>
                  <a:srgbClr val="0070C0"/>
                </a:solidFill>
              </a:rPr>
              <a:t>plan human resource management</a:t>
            </a:r>
            <a:r>
              <a:rPr lang="en-US" dirty="0">
                <a:solidFill>
                  <a:prstClr val="black"/>
                </a:solidFill>
              </a:rPr>
              <a:t>): </a:t>
            </a:r>
            <a:r>
              <a:rPr lang="en-US" dirty="0" err="1">
                <a:solidFill>
                  <a:prstClr val="black"/>
                </a:solidFill>
              </a:rPr>
              <a:t>xác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 err="1">
                <a:solidFill>
                  <a:prstClr val="black"/>
                </a:solidFill>
              </a:rPr>
              <a:t>định</a:t>
            </a:r>
            <a:r>
              <a:rPr lang="en-US" dirty="0">
                <a:solidFill>
                  <a:prstClr val="black"/>
                </a:solidFill>
              </a:rPr>
              <a:t> và </a:t>
            </a:r>
            <a:r>
              <a:rPr lang="en-US" dirty="0" err="1">
                <a:solidFill>
                  <a:prstClr val="black"/>
                </a:solidFill>
              </a:rPr>
              <a:t>lập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 err="1">
                <a:solidFill>
                  <a:prstClr val="black"/>
                </a:solidFill>
              </a:rPr>
              <a:t>hồ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 err="1">
                <a:solidFill>
                  <a:prstClr val="black"/>
                </a:solidFill>
              </a:rPr>
              <a:t>sơ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 err="1">
                <a:solidFill>
                  <a:prstClr val="black"/>
                </a:solidFill>
              </a:rPr>
              <a:t>về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 err="1">
                <a:solidFill>
                  <a:prstClr val="black"/>
                </a:solidFill>
              </a:rPr>
              <a:t>vai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 err="1">
                <a:solidFill>
                  <a:prstClr val="black"/>
                </a:solidFill>
              </a:rPr>
              <a:t>trò</a:t>
            </a:r>
            <a:r>
              <a:rPr lang="en-US" dirty="0">
                <a:solidFill>
                  <a:prstClr val="black"/>
                </a:solidFill>
              </a:rPr>
              <a:t>, </a:t>
            </a:r>
            <a:r>
              <a:rPr lang="en-US" dirty="0" err="1">
                <a:solidFill>
                  <a:prstClr val="black"/>
                </a:solidFill>
              </a:rPr>
              <a:t>trách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 err="1">
                <a:solidFill>
                  <a:prstClr val="black"/>
                </a:solidFill>
              </a:rPr>
              <a:t>nhiệm</a:t>
            </a:r>
            <a:r>
              <a:rPr lang="en-US" dirty="0">
                <a:solidFill>
                  <a:prstClr val="black"/>
                </a:solidFill>
              </a:rPr>
              <a:t>, và </a:t>
            </a:r>
            <a:r>
              <a:rPr lang="en-US" dirty="0" err="1">
                <a:solidFill>
                  <a:prstClr val="black"/>
                </a:solidFill>
              </a:rPr>
              <a:t>các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 err="1">
                <a:solidFill>
                  <a:prstClr val="black"/>
                </a:solidFill>
              </a:rPr>
              <a:t>mối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 err="1">
                <a:solidFill>
                  <a:prstClr val="black"/>
                </a:solidFill>
              </a:rPr>
              <a:t>quan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 err="1">
                <a:solidFill>
                  <a:prstClr val="black"/>
                </a:solidFill>
              </a:rPr>
              <a:t>hệ</a:t>
            </a:r>
            <a:r>
              <a:rPr lang="en-US" dirty="0">
                <a:solidFill>
                  <a:prstClr val="black"/>
                </a:solidFill>
              </a:rPr>
              <a:t>.</a:t>
            </a:r>
          </a:p>
          <a:p>
            <a:pPr lvl="0" algn="just">
              <a:spcBef>
                <a:spcPts val="600"/>
              </a:spcBef>
              <a:spcAft>
                <a:spcPts val="1000"/>
              </a:spcAft>
              <a:buClr>
                <a:srgbClr val="2DA2BF"/>
              </a:buClr>
            </a:pPr>
            <a:r>
              <a:rPr lang="en-US" b="1" dirty="0" err="1">
                <a:solidFill>
                  <a:prstClr val="black"/>
                </a:solidFill>
              </a:rPr>
              <a:t>Thiết</a:t>
            </a:r>
            <a:r>
              <a:rPr lang="en-US" b="1" dirty="0">
                <a:solidFill>
                  <a:prstClr val="black"/>
                </a:solidFill>
              </a:rPr>
              <a:t> </a:t>
            </a:r>
            <a:r>
              <a:rPr lang="en-US" b="1" dirty="0" err="1">
                <a:solidFill>
                  <a:prstClr val="black"/>
                </a:solidFill>
              </a:rPr>
              <a:t>lập</a:t>
            </a:r>
            <a:r>
              <a:rPr lang="en-US" b="1" dirty="0">
                <a:solidFill>
                  <a:prstClr val="black"/>
                </a:solidFill>
              </a:rPr>
              <a:t> </a:t>
            </a:r>
            <a:r>
              <a:rPr lang="en-US" b="1" dirty="0" err="1">
                <a:solidFill>
                  <a:prstClr val="black"/>
                </a:solidFill>
              </a:rPr>
              <a:t>đội</a:t>
            </a:r>
            <a:r>
              <a:rPr lang="en-US" b="1" dirty="0">
                <a:solidFill>
                  <a:prstClr val="black"/>
                </a:solidFill>
              </a:rPr>
              <a:t> </a:t>
            </a:r>
            <a:r>
              <a:rPr lang="en-US" b="1" dirty="0" err="1">
                <a:solidFill>
                  <a:prstClr val="black"/>
                </a:solidFill>
              </a:rPr>
              <a:t>dự</a:t>
            </a:r>
            <a:r>
              <a:rPr lang="en-US" b="1" dirty="0">
                <a:solidFill>
                  <a:prstClr val="black"/>
                </a:solidFill>
              </a:rPr>
              <a:t> </a:t>
            </a:r>
            <a:r>
              <a:rPr lang="en-US" b="1" dirty="0" err="1">
                <a:solidFill>
                  <a:prstClr val="black"/>
                </a:solidFill>
              </a:rPr>
              <a:t>án</a:t>
            </a:r>
            <a:r>
              <a:rPr lang="en-US" b="1" dirty="0">
                <a:solidFill>
                  <a:prstClr val="black"/>
                </a:solidFill>
              </a:rPr>
              <a:t> </a:t>
            </a:r>
            <a:r>
              <a:rPr lang="en-US" dirty="0">
                <a:solidFill>
                  <a:prstClr val="black"/>
                </a:solidFill>
              </a:rPr>
              <a:t>(</a:t>
            </a:r>
            <a:r>
              <a:rPr lang="en-US" dirty="0">
                <a:solidFill>
                  <a:srgbClr val="0070C0"/>
                </a:solidFill>
              </a:rPr>
              <a:t>acquire project team</a:t>
            </a:r>
            <a:r>
              <a:rPr lang="en-US" dirty="0">
                <a:solidFill>
                  <a:prstClr val="black"/>
                </a:solidFill>
              </a:rPr>
              <a:t>): </a:t>
            </a:r>
            <a:r>
              <a:rPr lang="en-US" dirty="0" err="1">
                <a:solidFill>
                  <a:prstClr val="black"/>
                </a:solidFill>
              </a:rPr>
              <a:t>chỉ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 err="1">
                <a:solidFill>
                  <a:prstClr val="black"/>
                </a:solidFill>
              </a:rPr>
              <a:t>định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 err="1">
                <a:solidFill>
                  <a:prstClr val="black"/>
                </a:solidFill>
              </a:rPr>
              <a:t>nhân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 err="1">
                <a:solidFill>
                  <a:prstClr val="black"/>
                </a:solidFill>
              </a:rPr>
              <a:t>sự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 err="1">
                <a:solidFill>
                  <a:prstClr val="black"/>
                </a:solidFill>
              </a:rPr>
              <a:t>cần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 err="1">
                <a:solidFill>
                  <a:prstClr val="black"/>
                </a:solidFill>
              </a:rPr>
              <a:t>thiết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 err="1">
                <a:solidFill>
                  <a:prstClr val="black"/>
                </a:solidFill>
              </a:rPr>
              <a:t>làm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 err="1">
                <a:solidFill>
                  <a:prstClr val="black"/>
                </a:solidFill>
              </a:rPr>
              <a:t>việc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 err="1">
                <a:solidFill>
                  <a:prstClr val="black"/>
                </a:solidFill>
              </a:rPr>
              <a:t>trong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 err="1">
                <a:solidFill>
                  <a:prstClr val="black"/>
                </a:solidFill>
              </a:rPr>
              <a:t>dự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 err="1">
                <a:solidFill>
                  <a:prstClr val="black"/>
                </a:solidFill>
              </a:rPr>
              <a:t>án</a:t>
            </a:r>
            <a:r>
              <a:rPr lang="en-US" dirty="0">
                <a:solidFill>
                  <a:prstClr val="black"/>
                </a:solidFill>
              </a:rPr>
              <a:t>.</a:t>
            </a:r>
          </a:p>
          <a:p>
            <a:pPr lvl="0" algn="just">
              <a:spcBef>
                <a:spcPts val="600"/>
              </a:spcBef>
              <a:spcAft>
                <a:spcPts val="1000"/>
              </a:spcAft>
              <a:buClr>
                <a:srgbClr val="2DA2BF"/>
              </a:buClr>
            </a:pPr>
            <a:r>
              <a:rPr lang="en-US" b="1" dirty="0">
                <a:solidFill>
                  <a:prstClr val="black"/>
                </a:solidFill>
              </a:rPr>
              <a:t>Phát triển </a:t>
            </a:r>
            <a:r>
              <a:rPr lang="en-US" b="1" dirty="0" err="1">
                <a:solidFill>
                  <a:prstClr val="black"/>
                </a:solidFill>
              </a:rPr>
              <a:t>đội</a:t>
            </a:r>
            <a:r>
              <a:rPr lang="en-US" b="1" dirty="0">
                <a:solidFill>
                  <a:prstClr val="black"/>
                </a:solidFill>
              </a:rPr>
              <a:t> </a:t>
            </a:r>
            <a:r>
              <a:rPr lang="en-US" b="1" dirty="0" err="1">
                <a:solidFill>
                  <a:prstClr val="black"/>
                </a:solidFill>
              </a:rPr>
              <a:t>dự</a:t>
            </a:r>
            <a:r>
              <a:rPr lang="en-US" b="1" dirty="0">
                <a:solidFill>
                  <a:prstClr val="black"/>
                </a:solidFill>
              </a:rPr>
              <a:t> </a:t>
            </a:r>
            <a:r>
              <a:rPr lang="en-US" b="1" dirty="0" err="1">
                <a:solidFill>
                  <a:prstClr val="black"/>
                </a:solidFill>
              </a:rPr>
              <a:t>án</a:t>
            </a:r>
            <a:r>
              <a:rPr lang="en-US" b="1" dirty="0">
                <a:solidFill>
                  <a:prstClr val="black"/>
                </a:solidFill>
              </a:rPr>
              <a:t> </a:t>
            </a:r>
            <a:r>
              <a:rPr lang="en-US" dirty="0">
                <a:solidFill>
                  <a:prstClr val="black"/>
                </a:solidFill>
              </a:rPr>
              <a:t>(</a:t>
            </a:r>
            <a:r>
              <a:rPr lang="en-US" dirty="0">
                <a:solidFill>
                  <a:srgbClr val="0070C0"/>
                </a:solidFill>
              </a:rPr>
              <a:t>develop project team</a:t>
            </a:r>
            <a:r>
              <a:rPr lang="en-US" dirty="0">
                <a:solidFill>
                  <a:prstClr val="black"/>
                </a:solidFill>
              </a:rPr>
              <a:t>): </a:t>
            </a:r>
            <a:r>
              <a:rPr lang="en-US" dirty="0" err="1">
                <a:solidFill>
                  <a:prstClr val="black"/>
                </a:solidFill>
              </a:rPr>
              <a:t>xây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 err="1">
                <a:solidFill>
                  <a:prstClr val="black"/>
                </a:solidFill>
              </a:rPr>
              <a:t>dựng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 err="1">
                <a:solidFill>
                  <a:prstClr val="black"/>
                </a:solidFill>
              </a:rPr>
              <a:t>các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 err="1">
                <a:solidFill>
                  <a:prstClr val="black"/>
                </a:solidFill>
              </a:rPr>
              <a:t>kỹ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 err="1">
                <a:solidFill>
                  <a:prstClr val="black"/>
                </a:solidFill>
              </a:rPr>
              <a:t>năng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 err="1">
                <a:solidFill>
                  <a:prstClr val="black"/>
                </a:solidFill>
              </a:rPr>
              <a:t>cho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 err="1">
                <a:solidFill>
                  <a:prstClr val="black"/>
                </a:solidFill>
              </a:rPr>
              <a:t>cá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 err="1">
                <a:solidFill>
                  <a:prstClr val="black"/>
                </a:solidFill>
              </a:rPr>
              <a:t>nhân</a:t>
            </a:r>
            <a:r>
              <a:rPr lang="en-US" dirty="0">
                <a:solidFill>
                  <a:prstClr val="black"/>
                </a:solidFill>
              </a:rPr>
              <a:t> và </a:t>
            </a:r>
            <a:r>
              <a:rPr lang="en-US" dirty="0" err="1">
                <a:solidFill>
                  <a:prstClr val="black"/>
                </a:solidFill>
              </a:rPr>
              <a:t>đội</a:t>
            </a:r>
            <a:r>
              <a:rPr lang="en-US" dirty="0">
                <a:solidFill>
                  <a:prstClr val="black"/>
                </a:solidFill>
              </a:rPr>
              <a:t>/</a:t>
            </a:r>
            <a:r>
              <a:rPr lang="en-US" dirty="0" err="1">
                <a:solidFill>
                  <a:prstClr val="black"/>
                </a:solidFill>
              </a:rPr>
              <a:t>nhóm</a:t>
            </a:r>
            <a:r>
              <a:rPr lang="en-US" dirty="0">
                <a:solidFill>
                  <a:prstClr val="black"/>
                </a:solidFill>
              </a:rPr>
              <a:t>. </a:t>
            </a:r>
          </a:p>
          <a:p>
            <a:pPr lvl="0" algn="just">
              <a:spcBef>
                <a:spcPts val="600"/>
              </a:spcBef>
              <a:spcAft>
                <a:spcPts val="1000"/>
              </a:spcAft>
              <a:buClr>
                <a:srgbClr val="2DA2BF"/>
              </a:buClr>
            </a:pPr>
            <a:r>
              <a:rPr lang="en-US" b="1" dirty="0">
                <a:solidFill>
                  <a:prstClr val="black"/>
                </a:solidFill>
              </a:rPr>
              <a:t>Quản lý </a:t>
            </a:r>
            <a:r>
              <a:rPr lang="en-US" b="1" dirty="0" err="1">
                <a:solidFill>
                  <a:prstClr val="black"/>
                </a:solidFill>
              </a:rPr>
              <a:t>đội</a:t>
            </a:r>
            <a:r>
              <a:rPr lang="en-US" b="1" dirty="0">
                <a:solidFill>
                  <a:prstClr val="black"/>
                </a:solidFill>
              </a:rPr>
              <a:t> </a:t>
            </a:r>
            <a:r>
              <a:rPr lang="en-US" b="1" dirty="0" err="1">
                <a:solidFill>
                  <a:prstClr val="black"/>
                </a:solidFill>
              </a:rPr>
              <a:t>dự</a:t>
            </a:r>
            <a:r>
              <a:rPr lang="en-US" b="1" dirty="0">
                <a:solidFill>
                  <a:prstClr val="black"/>
                </a:solidFill>
              </a:rPr>
              <a:t> </a:t>
            </a:r>
            <a:r>
              <a:rPr lang="en-US" b="1" dirty="0" err="1">
                <a:solidFill>
                  <a:prstClr val="black"/>
                </a:solidFill>
              </a:rPr>
              <a:t>án</a:t>
            </a:r>
            <a:r>
              <a:rPr lang="en-US" b="1" dirty="0">
                <a:solidFill>
                  <a:prstClr val="black"/>
                </a:solidFill>
              </a:rPr>
              <a:t> </a:t>
            </a:r>
            <a:r>
              <a:rPr lang="en-US" dirty="0">
                <a:solidFill>
                  <a:prstClr val="black"/>
                </a:solidFill>
              </a:rPr>
              <a:t>(</a:t>
            </a:r>
            <a:r>
              <a:rPr lang="en-US" dirty="0">
                <a:solidFill>
                  <a:srgbClr val="0070C0"/>
                </a:solidFill>
              </a:rPr>
              <a:t>manage project team</a:t>
            </a:r>
            <a:r>
              <a:rPr lang="en-US" dirty="0">
                <a:solidFill>
                  <a:prstClr val="black"/>
                </a:solidFill>
              </a:rPr>
              <a:t>): </a:t>
            </a:r>
            <a:r>
              <a:rPr lang="en-US" dirty="0" err="1">
                <a:solidFill>
                  <a:prstClr val="black"/>
                </a:solidFill>
              </a:rPr>
              <a:t>theo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 err="1">
                <a:solidFill>
                  <a:prstClr val="black"/>
                </a:solidFill>
              </a:rPr>
              <a:t>dõi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 err="1">
                <a:solidFill>
                  <a:prstClr val="black"/>
                </a:solidFill>
              </a:rPr>
              <a:t>hiệu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 err="1">
                <a:solidFill>
                  <a:prstClr val="black"/>
                </a:solidFill>
              </a:rPr>
              <a:t>suất</a:t>
            </a:r>
            <a:r>
              <a:rPr lang="en-US" dirty="0">
                <a:solidFill>
                  <a:prstClr val="black"/>
                </a:solidFill>
              </a:rPr>
              <a:t>, </a:t>
            </a:r>
            <a:r>
              <a:rPr lang="en-US" dirty="0" err="1">
                <a:solidFill>
                  <a:prstClr val="black"/>
                </a:solidFill>
              </a:rPr>
              <a:t>phản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 err="1">
                <a:solidFill>
                  <a:prstClr val="black"/>
                </a:solidFill>
              </a:rPr>
              <a:t>hồi</a:t>
            </a:r>
            <a:r>
              <a:rPr lang="en-US" dirty="0">
                <a:solidFill>
                  <a:prstClr val="black"/>
                </a:solidFill>
              </a:rPr>
              <a:t> thông tin, </a:t>
            </a:r>
            <a:r>
              <a:rPr lang="en-US" dirty="0" err="1">
                <a:solidFill>
                  <a:prstClr val="black"/>
                </a:solidFill>
              </a:rPr>
              <a:t>giải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 err="1">
                <a:solidFill>
                  <a:prstClr val="black"/>
                </a:solidFill>
              </a:rPr>
              <a:t>quyết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 err="1">
                <a:solidFill>
                  <a:prstClr val="black"/>
                </a:solidFill>
              </a:rPr>
              <a:t>vấn</a:t>
            </a:r>
            <a:r>
              <a:rPr lang="en-US" dirty="0">
                <a:solidFill>
                  <a:prstClr val="black"/>
                </a:solidFill>
              </a:rPr>
              <a:t> </a:t>
            </a:r>
            <a:r>
              <a:rPr lang="en-US" dirty="0" err="1">
                <a:solidFill>
                  <a:prstClr val="black"/>
                </a:solidFill>
              </a:rPr>
              <a:t>đề</a:t>
            </a:r>
            <a:r>
              <a:rPr lang="en-US" dirty="0">
                <a:solidFill>
                  <a:prstClr val="black"/>
                </a:solidFill>
              </a:rPr>
              <a:t>…</a:t>
            </a:r>
            <a:endParaRPr lang="en-US" b="1" dirty="0">
              <a:solidFill>
                <a:prstClr val="black"/>
              </a:solidFill>
            </a:endParaRPr>
          </a:p>
        </p:txBody>
      </p:sp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22238"/>
            <a:ext cx="8305800" cy="1020762"/>
          </a:xfrm>
        </p:spPr>
        <p:txBody>
          <a:bodyPr>
            <a:normAutofit/>
          </a:bodyPr>
          <a:lstStyle/>
          <a:p>
            <a:pPr algn="ctr"/>
            <a:r>
              <a:rPr lang="en-US" sz="4400" dirty="0" err="1">
                <a:solidFill>
                  <a:srgbClr val="0070C0"/>
                </a:solidFill>
              </a:rPr>
              <a:t>Quy</a:t>
            </a:r>
            <a:r>
              <a:rPr lang="en-US" sz="4400" dirty="0">
                <a:solidFill>
                  <a:srgbClr val="0070C0"/>
                </a:solidFill>
              </a:rPr>
              <a:t> </a:t>
            </a:r>
            <a:r>
              <a:rPr lang="en-US" sz="4400" dirty="0" err="1">
                <a:solidFill>
                  <a:srgbClr val="0070C0"/>
                </a:solidFill>
              </a:rPr>
              <a:t>trình</a:t>
            </a:r>
            <a:r>
              <a:rPr lang="en-US" sz="4400" dirty="0">
                <a:solidFill>
                  <a:srgbClr val="0070C0"/>
                </a:solidFill>
              </a:rPr>
              <a:t> quản lý </a:t>
            </a:r>
            <a:r>
              <a:rPr lang="en-US" sz="4400" dirty="0" err="1">
                <a:solidFill>
                  <a:srgbClr val="0070C0"/>
                </a:solidFill>
              </a:rPr>
              <a:t>nguồn</a:t>
            </a:r>
            <a:r>
              <a:rPr lang="en-US" sz="4400" dirty="0">
                <a:solidFill>
                  <a:srgbClr val="0070C0"/>
                </a:solidFill>
              </a:rPr>
              <a:t> </a:t>
            </a:r>
            <a:r>
              <a:rPr lang="en-US" sz="4400" dirty="0" err="1">
                <a:solidFill>
                  <a:srgbClr val="0070C0"/>
                </a:solidFill>
              </a:rPr>
              <a:t>lực</a:t>
            </a:r>
            <a:endParaRPr lang="en-US" sz="4400" dirty="0">
              <a:solidFill>
                <a:srgbClr val="0070C0"/>
              </a:solidFill>
            </a:endParaRPr>
          </a:p>
        </p:txBody>
      </p:sp>
      <p:sp>
        <p:nvSpPr>
          <p:cNvPr id="18437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C830807-6AFF-4B7E-9A21-32E636B402DA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Footer Placeholder 3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FBE7F09-45DB-4DF8-BAE6-8B96A7FA4275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914400"/>
          </a:xfrm>
        </p:spPr>
        <p:txBody>
          <a:bodyPr>
            <a:normAutofit/>
          </a:bodyPr>
          <a:lstStyle/>
          <a:p>
            <a:pPr algn="ctr"/>
            <a:r>
              <a:rPr lang="en-US" sz="3600" dirty="0" err="1">
                <a:hlinkClick r:id="rId2" action="ppaction://hlinkpres?slideindex=1&amp;slidetitle="/>
              </a:rPr>
              <a:t>Tóm</a:t>
            </a:r>
            <a:r>
              <a:rPr lang="en-US" sz="3600" dirty="0">
                <a:hlinkClick r:id="rId2" action="ppaction://hlinkpres?slideindex=1&amp;slidetitle="/>
              </a:rPr>
              <a:t> </a:t>
            </a:r>
            <a:r>
              <a:rPr lang="en-US" sz="3600" dirty="0" err="1">
                <a:hlinkClick r:id="rId2" action="ppaction://hlinkpres?slideindex=1&amp;slidetitle="/>
              </a:rPr>
              <a:t>tắt</a:t>
            </a:r>
            <a:r>
              <a:rPr lang="en-US" sz="3600" dirty="0"/>
              <a:t> </a:t>
            </a:r>
            <a:r>
              <a:rPr lang="en-US" sz="3600" dirty="0">
                <a:hlinkClick r:id="rId3" action="ppaction://hlinkpres?slideindex=1&amp;slidetitle="/>
              </a:rPr>
              <a:t>quản lý </a:t>
            </a:r>
            <a:r>
              <a:rPr lang="en-US" sz="3600" dirty="0" err="1">
                <a:hlinkClick r:id="rId3" action="ppaction://hlinkpres?slideindex=1&amp;slidetitle="/>
              </a:rPr>
              <a:t>nguồn</a:t>
            </a:r>
            <a:r>
              <a:rPr lang="en-US" sz="3600" dirty="0">
                <a:hlinkClick r:id="rId3" action="ppaction://hlinkpres?slideindex=1&amp;slidetitle="/>
              </a:rPr>
              <a:t> </a:t>
            </a:r>
            <a:r>
              <a:rPr lang="en-US" sz="3600" dirty="0" err="1">
                <a:hlinkClick r:id="rId3" action="ppaction://hlinkpres?slideindex=1&amp;slidetitle="/>
              </a:rPr>
              <a:t>nhân</a:t>
            </a:r>
            <a:r>
              <a:rPr lang="en-US" sz="3600" dirty="0">
                <a:hlinkClick r:id="rId3" action="ppaction://hlinkpres?slideindex=1&amp;slidetitle="/>
              </a:rPr>
              <a:t> </a:t>
            </a:r>
            <a:r>
              <a:rPr lang="en-US" sz="3600" dirty="0" err="1">
                <a:hlinkClick r:id="rId3" action="ppaction://hlinkpres?slideindex=1&amp;slidetitle="/>
              </a:rPr>
              <a:t>lực</a:t>
            </a:r>
            <a:endParaRPr lang="en-US" sz="36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95401"/>
            <a:ext cx="9144000" cy="5575300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>
            <a:off x="1271374" y="2120348"/>
            <a:ext cx="3681626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726096" y="3124200"/>
            <a:ext cx="228600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1752600" y="3949148"/>
            <a:ext cx="228600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1676400" y="4724400"/>
            <a:ext cx="228600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481138"/>
            <a:ext cx="8305800" cy="4525962"/>
          </a:xfrm>
        </p:spPr>
        <p:txBody>
          <a:bodyPr/>
          <a:lstStyle/>
          <a:p>
            <a:pPr algn="just">
              <a:spcAft>
                <a:spcPts val="1800"/>
              </a:spcAft>
            </a:pP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nhà</a:t>
            </a:r>
            <a:r>
              <a:rPr lang="en-US" dirty="0"/>
              <a:t> </a:t>
            </a:r>
            <a:r>
              <a:rPr lang="en-US" dirty="0" err="1"/>
              <a:t>tâm</a:t>
            </a:r>
            <a:r>
              <a:rPr lang="en-US" dirty="0"/>
              <a:t> lý và </a:t>
            </a:r>
            <a:r>
              <a:rPr lang="en-US" dirty="0" err="1"/>
              <a:t>các</a:t>
            </a:r>
            <a:r>
              <a:rPr lang="en-US" dirty="0"/>
              <a:t> học </a:t>
            </a:r>
            <a:r>
              <a:rPr lang="en-US" dirty="0" err="1"/>
              <a:t>giả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rất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nghiên </a:t>
            </a:r>
            <a:r>
              <a:rPr lang="en-US" dirty="0" err="1"/>
              <a:t>cứu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quản lý con </a:t>
            </a:r>
            <a:r>
              <a:rPr lang="en-US" dirty="0" err="1"/>
              <a:t>người</a:t>
            </a:r>
            <a:r>
              <a:rPr lang="en-US" dirty="0"/>
              <a:t>.</a:t>
            </a:r>
          </a:p>
          <a:p>
            <a:pPr algn="just"/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QLDA…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400" dirty="0"/>
              <a:t>Lý </a:t>
            </a:r>
            <a:r>
              <a:rPr lang="en-US" sz="2400" dirty="0" err="1"/>
              <a:t>thuyết</a:t>
            </a:r>
            <a:r>
              <a:rPr lang="en-US" sz="2400" dirty="0"/>
              <a:t> </a:t>
            </a:r>
            <a:r>
              <a:rPr lang="en-US" sz="2400" dirty="0" err="1"/>
              <a:t>động</a:t>
            </a:r>
            <a:r>
              <a:rPr lang="en-US" sz="2400" dirty="0"/>
              <a:t> </a:t>
            </a:r>
            <a:r>
              <a:rPr lang="en-US" sz="2400" dirty="0" err="1"/>
              <a:t>lực</a:t>
            </a:r>
            <a:endParaRPr lang="en-US" sz="2400" dirty="0"/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400" dirty="0" err="1"/>
              <a:t>Quyền</a:t>
            </a:r>
            <a:r>
              <a:rPr lang="en-US" sz="2400" dirty="0"/>
              <a:t> </a:t>
            </a:r>
            <a:r>
              <a:rPr lang="en-US" sz="2400" dirty="0" err="1"/>
              <a:t>lực</a:t>
            </a:r>
            <a:r>
              <a:rPr lang="en-US" sz="2400" dirty="0"/>
              <a:t> và </a:t>
            </a:r>
            <a:r>
              <a:rPr lang="en-US" sz="2400" dirty="0" err="1"/>
              <a:t>ảnh</a:t>
            </a:r>
            <a:r>
              <a:rPr lang="en-US" sz="2400" dirty="0"/>
              <a:t> </a:t>
            </a:r>
            <a:r>
              <a:rPr lang="en-US" sz="2400" dirty="0" err="1"/>
              <a:t>hưởng</a:t>
            </a:r>
            <a:r>
              <a:rPr lang="en-US" sz="2400" dirty="0"/>
              <a:t> 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400" dirty="0" err="1"/>
              <a:t>Nâng</a:t>
            </a:r>
            <a:r>
              <a:rPr lang="en-US" sz="2400" dirty="0"/>
              <a:t> cao </a:t>
            </a:r>
            <a:r>
              <a:rPr lang="en-US" sz="2400" dirty="0" err="1"/>
              <a:t>hiệu</a:t>
            </a:r>
            <a:r>
              <a:rPr lang="en-US" sz="2400" dirty="0"/>
              <a:t> </a:t>
            </a:r>
            <a:r>
              <a:rPr lang="en-US" sz="2400" dirty="0" err="1"/>
              <a:t>quả</a:t>
            </a:r>
            <a:r>
              <a:rPr lang="en-US" sz="2400" dirty="0"/>
              <a:t> 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400" dirty="0" err="1"/>
              <a:t>Trí</a:t>
            </a:r>
            <a:r>
              <a:rPr lang="en-US" sz="2400" dirty="0"/>
              <a:t> </a:t>
            </a:r>
            <a:r>
              <a:rPr lang="en-US" sz="2400" dirty="0" err="1"/>
              <a:t>tuệ</a:t>
            </a:r>
            <a:r>
              <a:rPr lang="en-US" sz="2400" dirty="0"/>
              <a:t> </a:t>
            </a:r>
            <a:r>
              <a:rPr lang="en-US" sz="2400" dirty="0" err="1"/>
              <a:t>cảm</a:t>
            </a:r>
            <a:r>
              <a:rPr lang="en-US" sz="2400" dirty="0"/>
              <a:t> </a:t>
            </a:r>
            <a:r>
              <a:rPr lang="en-US" sz="2400" dirty="0" err="1"/>
              <a:t>xúc</a:t>
            </a:r>
            <a:endParaRPr lang="en-US" sz="2400" dirty="0"/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400" dirty="0" err="1"/>
              <a:t>Khả</a:t>
            </a:r>
            <a:r>
              <a:rPr lang="en-US" sz="2400" dirty="0"/>
              <a:t> </a:t>
            </a:r>
            <a:r>
              <a:rPr lang="en-US" sz="2400" dirty="0" err="1"/>
              <a:t>năng</a:t>
            </a:r>
            <a:r>
              <a:rPr lang="en-US" sz="2400" dirty="0"/>
              <a:t> </a:t>
            </a:r>
            <a:r>
              <a:rPr lang="en-US" sz="2400" dirty="0" err="1"/>
              <a:t>lãnh</a:t>
            </a:r>
            <a:r>
              <a:rPr lang="en-US" sz="2400" dirty="0"/>
              <a:t> </a:t>
            </a:r>
            <a:r>
              <a:rPr lang="en-US" sz="2400" dirty="0" err="1"/>
              <a:t>đạo</a:t>
            </a:r>
            <a:r>
              <a:rPr lang="en-US" sz="2400" dirty="0"/>
              <a:t>.</a:t>
            </a:r>
          </a:p>
        </p:txBody>
      </p:sp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4400" dirty="0" err="1">
                <a:solidFill>
                  <a:srgbClr val="0070C0"/>
                </a:solidFill>
              </a:rPr>
              <a:t>Chìa</a:t>
            </a:r>
            <a:r>
              <a:rPr lang="en-US" sz="4400" dirty="0">
                <a:solidFill>
                  <a:srgbClr val="0070C0"/>
                </a:solidFill>
              </a:rPr>
              <a:t> </a:t>
            </a:r>
            <a:r>
              <a:rPr lang="en-US" sz="4400" dirty="0" err="1">
                <a:solidFill>
                  <a:srgbClr val="0070C0"/>
                </a:solidFill>
              </a:rPr>
              <a:t>khóa</a:t>
            </a:r>
            <a:r>
              <a:rPr lang="en-US" sz="4400" dirty="0">
                <a:solidFill>
                  <a:srgbClr val="0070C0"/>
                </a:solidFill>
              </a:rPr>
              <a:t> quản lý con </a:t>
            </a:r>
            <a:r>
              <a:rPr lang="en-US" sz="4400" dirty="0" err="1">
                <a:solidFill>
                  <a:srgbClr val="0070C0"/>
                </a:solidFill>
              </a:rPr>
              <a:t>người</a:t>
            </a:r>
            <a:endParaRPr lang="en-US" sz="4400" dirty="0">
              <a:solidFill>
                <a:srgbClr val="0070C0"/>
              </a:solidFill>
            </a:endParaRPr>
          </a:p>
        </p:txBody>
      </p:sp>
      <p:sp>
        <p:nvSpPr>
          <p:cNvPr id="20485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66F5EE5-EB00-4D42-A72F-97C3668C95D2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828800"/>
            <a:ext cx="8077200" cy="3810000"/>
          </a:xfrm>
        </p:spPr>
        <p:txBody>
          <a:bodyPr/>
          <a:lstStyle/>
          <a:p>
            <a:pPr algn="just">
              <a:spcAft>
                <a:spcPts val="2400"/>
              </a:spcAft>
            </a:pP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Động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lực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nội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tại</a:t>
            </a:r>
            <a:r>
              <a:rPr lang="en-US" dirty="0"/>
              <a:t> (</a:t>
            </a:r>
            <a:r>
              <a:rPr lang="en-US" dirty="0">
                <a:solidFill>
                  <a:srgbClr val="0070C0"/>
                </a:solidFill>
              </a:rPr>
              <a:t>intrinsic motivation</a:t>
            </a:r>
            <a:r>
              <a:rPr lang="en-US" dirty="0"/>
              <a:t>): </a:t>
            </a:r>
            <a:r>
              <a:rPr lang="en-US" dirty="0" err="1"/>
              <a:t>khiến</a:t>
            </a:r>
            <a:r>
              <a:rPr lang="en-US" dirty="0"/>
              <a:t> con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tham</a:t>
            </a:r>
            <a:r>
              <a:rPr lang="en-US" dirty="0"/>
              <a:t> </a:t>
            </a:r>
            <a:r>
              <a:rPr lang="en-US" dirty="0" err="1"/>
              <a:t>gia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thỏa</a:t>
            </a:r>
            <a:r>
              <a:rPr lang="en-US" dirty="0"/>
              <a:t> </a:t>
            </a:r>
            <a:r>
              <a:rPr lang="en-US" dirty="0" err="1"/>
              <a:t>mãn</a:t>
            </a:r>
            <a:r>
              <a:rPr lang="en-US" dirty="0"/>
              <a:t> </a:t>
            </a:r>
            <a:r>
              <a:rPr lang="en-US" dirty="0" err="1"/>
              <a:t>niềm</a:t>
            </a:r>
            <a:r>
              <a:rPr lang="en-US" dirty="0"/>
              <a:t> </a:t>
            </a:r>
            <a:r>
              <a:rPr lang="en-US" dirty="0" err="1"/>
              <a:t>vui</a:t>
            </a:r>
            <a:r>
              <a:rPr lang="en-US" dirty="0"/>
              <a:t>. </a:t>
            </a:r>
          </a:p>
          <a:p>
            <a:pPr algn="just">
              <a:spcAft>
                <a:spcPts val="1200"/>
              </a:spcAft>
            </a:pP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Động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lực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ngoại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sinh</a:t>
            </a:r>
            <a:r>
              <a:rPr lang="en-US" dirty="0"/>
              <a:t> (</a:t>
            </a:r>
            <a:r>
              <a:rPr lang="en-US" dirty="0">
                <a:solidFill>
                  <a:srgbClr val="0070C0"/>
                </a:solidFill>
              </a:rPr>
              <a:t>extrinsic motivation</a:t>
            </a:r>
            <a:r>
              <a:rPr lang="en-US" dirty="0"/>
              <a:t>): </a:t>
            </a:r>
            <a:r>
              <a:rPr lang="en-US" dirty="0" err="1"/>
              <a:t>khiến</a:t>
            </a:r>
            <a:r>
              <a:rPr lang="en-US" dirty="0"/>
              <a:t> con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cái</a:t>
            </a:r>
            <a:r>
              <a:rPr lang="en-US" dirty="0"/>
              <a:t> </a:t>
            </a:r>
            <a:r>
              <a:rPr lang="en-US" dirty="0" err="1"/>
              <a:t>gì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khen</a:t>
            </a:r>
            <a:r>
              <a:rPr lang="en-US" dirty="0"/>
              <a:t> </a:t>
            </a:r>
            <a:r>
              <a:rPr lang="en-US" dirty="0" err="1"/>
              <a:t>thưởng</a:t>
            </a:r>
            <a:r>
              <a:rPr lang="en-US" dirty="0"/>
              <a:t> hay </a:t>
            </a:r>
            <a:r>
              <a:rPr lang="en-US" dirty="0" err="1"/>
              <a:t>tránh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phạt</a:t>
            </a:r>
            <a:r>
              <a:rPr lang="en-US" dirty="0"/>
              <a:t>.</a:t>
            </a:r>
          </a:p>
          <a:p>
            <a:pPr algn="just">
              <a:spcAft>
                <a:spcPts val="600"/>
              </a:spcAft>
            </a:pPr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,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sinh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thích</a:t>
            </a:r>
            <a:r>
              <a:rPr lang="en-US" dirty="0"/>
              <a:t> học do </a:t>
            </a:r>
            <a:r>
              <a:rPr lang="en-US" dirty="0" err="1"/>
              <a:t>đam</a:t>
            </a:r>
            <a:r>
              <a:rPr lang="en-US" dirty="0"/>
              <a:t> </a:t>
            </a:r>
            <a:r>
              <a:rPr lang="en-US" dirty="0" err="1"/>
              <a:t>mê</a:t>
            </a:r>
            <a:r>
              <a:rPr lang="en-US" dirty="0"/>
              <a:t>,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vì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thưởng</a:t>
            </a:r>
            <a:r>
              <a:rPr lang="en-US" dirty="0"/>
              <a:t> hay </a:t>
            </a:r>
            <a:r>
              <a:rPr lang="en-US" dirty="0" err="1"/>
              <a:t>sợ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</a:t>
            </a:r>
            <a:r>
              <a:rPr lang="en-US" dirty="0" err="1"/>
              <a:t>phạt</a:t>
            </a:r>
            <a:r>
              <a:rPr lang="en-US" dirty="0"/>
              <a:t>…</a:t>
            </a:r>
          </a:p>
        </p:txBody>
      </p:sp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vi-VN" sz="4000" dirty="0"/>
              <a:t>Động lực nội tại và ngoại sinh</a:t>
            </a:r>
            <a:endParaRPr lang="en-US" sz="4000" dirty="0"/>
          </a:p>
        </p:txBody>
      </p:sp>
      <p:sp>
        <p:nvSpPr>
          <p:cNvPr id="21509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83C6201-79D3-4073-9E7D-1052C1BF49D2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3200400"/>
            <a:ext cx="5181600" cy="2438400"/>
          </a:xfrm>
        </p:spPr>
        <p:txBody>
          <a:bodyPr/>
          <a:lstStyle/>
          <a:p>
            <a:pPr algn="just">
              <a:spcBef>
                <a:spcPts val="1200"/>
              </a:spcBef>
              <a:spcAft>
                <a:spcPts val="1800"/>
              </a:spcAft>
            </a:pPr>
            <a:r>
              <a:rPr lang="en-US" dirty="0"/>
              <a:t>Maslow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/>
              <a:t>phát</a:t>
            </a:r>
            <a:r>
              <a:rPr lang="en-US" dirty="0"/>
              <a:t> triển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hệ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thống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nhu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cầu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/>
              <a:t>(</a:t>
            </a:r>
            <a:r>
              <a:rPr lang="en-US" dirty="0">
                <a:solidFill>
                  <a:srgbClr val="0070C0"/>
                </a:solidFill>
              </a:rPr>
              <a:t>hierarchy of needs</a:t>
            </a:r>
            <a:r>
              <a:rPr lang="en-US" dirty="0"/>
              <a:t>)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vi con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dẫn</a:t>
            </a:r>
            <a:r>
              <a:rPr lang="en-US" dirty="0"/>
              <a:t> </a:t>
            </a:r>
            <a:r>
              <a:rPr lang="en-US" dirty="0" err="1"/>
              <a:t>dắt</a:t>
            </a:r>
            <a:r>
              <a:rPr lang="en-US" dirty="0"/>
              <a:t> hay </a:t>
            </a:r>
            <a:r>
              <a:rPr lang="en-US" dirty="0" err="1"/>
              <a:t>thúc</a:t>
            </a:r>
            <a:r>
              <a:rPr lang="en-US" dirty="0"/>
              <a:t> </a:t>
            </a:r>
            <a:r>
              <a:rPr lang="en-US" dirty="0" err="1"/>
              <a:t>đẩy</a:t>
            </a:r>
            <a:r>
              <a:rPr lang="en-US" dirty="0"/>
              <a:t> </a:t>
            </a:r>
            <a:r>
              <a:rPr lang="en-US" dirty="0" err="1"/>
              <a:t>bởi</a:t>
            </a:r>
            <a:r>
              <a:rPr lang="en-US" dirty="0"/>
              <a:t> </a:t>
            </a:r>
            <a:r>
              <a:rPr lang="en-US" dirty="0" err="1"/>
              <a:t>chuỗi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nhu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…</a:t>
            </a:r>
          </a:p>
        </p:txBody>
      </p:sp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vi-VN" sz="4000" dirty="0">
                <a:solidFill>
                  <a:schemeClr val="tx1"/>
                </a:solidFill>
              </a:rPr>
              <a:t>Tháp nhu cầu - Maslow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22533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5EE2F08-144A-43F9-A6AF-BB21360DC160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  <p:pic>
        <p:nvPicPr>
          <p:cNvPr id="1026" name="Picture 2" descr="Abraham Maslow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3048000"/>
            <a:ext cx="1981200" cy="2503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609600" y="1524000"/>
            <a:ext cx="792480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65125" indent="-255588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0713" indent="-228600" algn="l" rtl="0" eaLnBrk="1" fontAlgn="base" hangingPunct="1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8838" indent="-228600" algn="l" rtl="0" eaLnBrk="1" fontAlgn="base" hangingPunct="1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fontAlgn="base" hangingPunct="1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fontAlgn="base" hangingPunct="1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109537" indent="0" algn="just">
              <a:spcBef>
                <a:spcPts val="1200"/>
              </a:spcBef>
              <a:spcAft>
                <a:spcPts val="1800"/>
              </a:spcAft>
              <a:buNone/>
            </a:pPr>
            <a:r>
              <a:rPr lang="en-US" dirty="0"/>
              <a:t>“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sở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hữu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độc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đáo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khiến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họ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lựa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độc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soát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phận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mình</a:t>
            </a:r>
            <a:r>
              <a:rPr lang="en-US" dirty="0"/>
              <a:t>” (Maslow, 1943)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3600" dirty="0" err="1"/>
              <a:t>Tháp</a:t>
            </a:r>
            <a:r>
              <a:rPr lang="en-US" sz="3600" dirty="0"/>
              <a:t> </a:t>
            </a:r>
            <a:r>
              <a:rPr lang="en-US" sz="3600" dirty="0" err="1"/>
              <a:t>nhu</a:t>
            </a:r>
            <a:r>
              <a:rPr lang="en-US" sz="3600" dirty="0"/>
              <a:t> </a:t>
            </a:r>
            <a:r>
              <a:rPr lang="en-US" sz="3600" dirty="0" err="1"/>
              <a:t>cầu</a:t>
            </a:r>
            <a:r>
              <a:rPr lang="en-US" sz="3600" dirty="0"/>
              <a:t> - Maslow</a:t>
            </a:r>
          </a:p>
        </p:txBody>
      </p:sp>
      <p:sp>
        <p:nvSpPr>
          <p:cNvPr id="23556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buFontTx/>
              <a:buNone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Tx/>
              <a:buNone/>
              <a:defRPr/>
            </a:pPr>
            <a:fld id="{A576F6B9-2A38-4B35-991A-1246B6BDDC22}" type="slidenum">
              <a:rPr lang="en-US" smtClean="0"/>
              <a:pPr>
                <a:buFontTx/>
                <a:buNone/>
                <a:defRPr/>
              </a:pPr>
              <a:t>18</a:t>
            </a:fld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95400"/>
            <a:ext cx="9125668" cy="4724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752600"/>
            <a:ext cx="8382000" cy="4525962"/>
          </a:xfrm>
        </p:spPr>
        <p:txBody>
          <a:bodyPr/>
          <a:lstStyle/>
          <a:p>
            <a:pPr algn="just">
              <a:lnSpc>
                <a:spcPct val="90000"/>
              </a:lnSpc>
              <a:spcAft>
                <a:spcPts val="3000"/>
              </a:spcAft>
            </a:pPr>
            <a:r>
              <a:rPr lang="en-US" dirty="0"/>
              <a:t>Herzberg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thuyết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động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lực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/>
              <a:t>(</a:t>
            </a:r>
            <a:r>
              <a:rPr lang="en-US" dirty="0">
                <a:solidFill>
                  <a:srgbClr val="0070C0"/>
                </a:solidFill>
              </a:rPr>
              <a:t>motivational and hygiene factors</a:t>
            </a:r>
            <a:r>
              <a:rPr lang="en-US" dirty="0"/>
              <a:t>)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. </a:t>
            </a:r>
          </a:p>
          <a:p>
            <a:pPr algn="just">
              <a:lnSpc>
                <a:spcPct val="90000"/>
              </a:lnSpc>
            </a:pPr>
            <a:r>
              <a:rPr lang="en-US" dirty="0"/>
              <a:t>Hay </a:t>
            </a:r>
            <a:r>
              <a:rPr lang="en-US" dirty="0" err="1"/>
              <a:t>thuyết</a:t>
            </a:r>
            <a:r>
              <a:rPr lang="en-US" dirty="0"/>
              <a:t> 2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tố</a:t>
            </a:r>
            <a:r>
              <a:rPr lang="en-US" dirty="0"/>
              <a:t>:</a:t>
            </a:r>
          </a:p>
        </p:txBody>
      </p:sp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4000" dirty="0" err="1"/>
              <a:t>Thuyết</a:t>
            </a:r>
            <a:r>
              <a:rPr lang="en-US" sz="4000" dirty="0"/>
              <a:t> </a:t>
            </a:r>
            <a:r>
              <a:rPr lang="en-US" sz="4000" dirty="0" err="1"/>
              <a:t>động</a:t>
            </a:r>
            <a:r>
              <a:rPr lang="en-US" sz="4000" dirty="0"/>
              <a:t> </a:t>
            </a:r>
            <a:r>
              <a:rPr lang="en-US" sz="4000" dirty="0" err="1"/>
              <a:t>lực</a:t>
            </a:r>
            <a:r>
              <a:rPr lang="en-US" sz="4000" dirty="0"/>
              <a:t> - Herzberg</a:t>
            </a:r>
          </a:p>
        </p:txBody>
      </p:sp>
      <p:sp>
        <p:nvSpPr>
          <p:cNvPr id="24581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844656F-2A39-49A9-BA46-4E2DA0297182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457200" y="3382962"/>
            <a:ext cx="5486400" cy="2027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65125" indent="-255588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0713" indent="-228600" algn="l" rtl="0" eaLnBrk="1" fontAlgn="base" hangingPunct="1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8838" indent="-228600" algn="l" rtl="0" eaLnBrk="1" fontAlgn="base" hangingPunct="1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fontAlgn="base" hangingPunct="1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fontAlgn="base" hangingPunct="1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lvl="1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u="sng" dirty="0" err="1"/>
              <a:t>Nhân</a:t>
            </a:r>
            <a:r>
              <a:rPr lang="en-US" sz="2400" u="sng" dirty="0"/>
              <a:t> </a:t>
            </a:r>
            <a:r>
              <a:rPr lang="en-US" sz="2400" u="sng" dirty="0" err="1"/>
              <a:t>tố</a:t>
            </a:r>
            <a:r>
              <a:rPr lang="en-US" sz="2400" u="sng" dirty="0"/>
              <a:t> </a:t>
            </a:r>
            <a:r>
              <a:rPr lang="en-US" sz="2400" u="sng" dirty="0" err="1"/>
              <a:t>động</a:t>
            </a:r>
            <a:r>
              <a:rPr lang="en-US" sz="2400" u="sng" dirty="0"/>
              <a:t> </a:t>
            </a:r>
            <a:r>
              <a:rPr lang="en-US" sz="2400" u="sng" dirty="0" err="1"/>
              <a:t>lực</a:t>
            </a:r>
            <a:r>
              <a:rPr lang="en-US" sz="2400" dirty="0"/>
              <a:t>: </a:t>
            </a:r>
            <a:r>
              <a:rPr lang="en-US" sz="2400" dirty="0" err="1"/>
              <a:t>đem</a:t>
            </a:r>
            <a:r>
              <a:rPr lang="en-US" sz="2400" dirty="0"/>
              <a:t> </a:t>
            </a:r>
            <a:r>
              <a:rPr lang="en-US" sz="2400" dirty="0" err="1"/>
              <a:t>lại</a:t>
            </a:r>
            <a:r>
              <a:rPr lang="en-US" sz="2400" dirty="0"/>
              <a:t> </a:t>
            </a:r>
            <a:r>
              <a:rPr lang="en-US" sz="2400" dirty="0" err="1"/>
              <a:t>sự</a:t>
            </a:r>
            <a:r>
              <a:rPr lang="en-US" sz="2400" dirty="0"/>
              <a:t> </a:t>
            </a:r>
            <a:r>
              <a:rPr lang="en-US" sz="2400" dirty="0" err="1"/>
              <a:t>hài</a:t>
            </a:r>
            <a:r>
              <a:rPr lang="en-US" sz="2400" dirty="0"/>
              <a:t> </a:t>
            </a:r>
            <a:r>
              <a:rPr lang="en-US" sz="2400" dirty="0" err="1"/>
              <a:t>lòng</a:t>
            </a:r>
            <a:r>
              <a:rPr lang="en-US" sz="2400" dirty="0"/>
              <a:t> </a:t>
            </a:r>
            <a:r>
              <a:rPr lang="en-US" sz="2400" dirty="0" err="1"/>
              <a:t>trong</a:t>
            </a:r>
            <a:r>
              <a:rPr lang="en-US" sz="2400" dirty="0"/>
              <a:t> </a:t>
            </a:r>
            <a:r>
              <a:rPr lang="en-US" sz="2400" dirty="0" err="1"/>
              <a:t>công</a:t>
            </a:r>
            <a:r>
              <a:rPr lang="en-US" sz="2400" dirty="0"/>
              <a:t> </a:t>
            </a:r>
            <a:r>
              <a:rPr lang="en-US" sz="2400" dirty="0" err="1"/>
              <a:t>việc</a:t>
            </a:r>
            <a:r>
              <a:rPr lang="en-US" sz="2400" dirty="0"/>
              <a:t>…</a:t>
            </a:r>
          </a:p>
          <a:p>
            <a:pPr lvl="1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u="sng" dirty="0" err="1"/>
              <a:t>Nhân</a:t>
            </a:r>
            <a:r>
              <a:rPr lang="en-US" sz="2400" u="sng" dirty="0"/>
              <a:t> </a:t>
            </a:r>
            <a:r>
              <a:rPr lang="en-US" sz="2400" u="sng" dirty="0" err="1"/>
              <a:t>tố</a:t>
            </a:r>
            <a:r>
              <a:rPr lang="en-US" sz="2400" u="sng" dirty="0"/>
              <a:t> </a:t>
            </a:r>
            <a:r>
              <a:rPr lang="en-US" sz="2400" u="sng" dirty="0" err="1"/>
              <a:t>duy</a:t>
            </a:r>
            <a:r>
              <a:rPr lang="en-US" sz="2400" u="sng" dirty="0"/>
              <a:t> </a:t>
            </a:r>
            <a:r>
              <a:rPr lang="en-US" sz="2400" u="sng" dirty="0" err="1"/>
              <a:t>trì</a:t>
            </a:r>
            <a:r>
              <a:rPr lang="en-US" sz="2400" dirty="0"/>
              <a:t>: </a:t>
            </a:r>
            <a:r>
              <a:rPr lang="en-US" sz="2400" dirty="0" err="1"/>
              <a:t>không</a:t>
            </a:r>
            <a:r>
              <a:rPr lang="en-US" sz="2400" dirty="0"/>
              <a:t> </a:t>
            </a:r>
            <a:r>
              <a:rPr lang="en-US" sz="2400" dirty="0" err="1"/>
              <a:t>hài</a:t>
            </a:r>
            <a:r>
              <a:rPr lang="en-US" sz="2400" dirty="0"/>
              <a:t> </a:t>
            </a:r>
            <a:r>
              <a:rPr lang="en-US" sz="2400" dirty="0" err="1"/>
              <a:t>lòng</a:t>
            </a:r>
            <a:r>
              <a:rPr lang="en-US" sz="2400" dirty="0"/>
              <a:t> </a:t>
            </a:r>
            <a:r>
              <a:rPr lang="en-US" sz="2400" dirty="0" err="1"/>
              <a:t>nếu</a:t>
            </a:r>
            <a:r>
              <a:rPr lang="en-US" sz="2400" dirty="0"/>
              <a:t> </a:t>
            </a:r>
            <a:r>
              <a:rPr lang="en-US" sz="2400" dirty="0" err="1"/>
              <a:t>không</a:t>
            </a:r>
            <a:r>
              <a:rPr lang="en-US" sz="2400" dirty="0"/>
              <a:t> </a:t>
            </a:r>
            <a:r>
              <a:rPr lang="en-US" sz="2400" dirty="0" err="1"/>
              <a:t>được</a:t>
            </a:r>
            <a:r>
              <a:rPr lang="en-US" sz="2400" dirty="0"/>
              <a:t> </a:t>
            </a:r>
            <a:r>
              <a:rPr lang="en-US" sz="2400" dirty="0" err="1"/>
              <a:t>đáp</a:t>
            </a:r>
            <a:r>
              <a:rPr lang="en-US" sz="2400" dirty="0"/>
              <a:t> </a:t>
            </a:r>
            <a:r>
              <a:rPr lang="en-US" sz="2400" dirty="0" err="1"/>
              <a:t>ứng</a:t>
            </a:r>
            <a:r>
              <a:rPr lang="en-US" sz="2400" dirty="0"/>
              <a:t>… </a:t>
            </a:r>
          </a:p>
        </p:txBody>
      </p:sp>
      <p:pic>
        <p:nvPicPr>
          <p:cNvPr id="2050" name="Picture 2" descr="http://www.historiadaadministracao.com.br/jl/images/stories/Imagens/Frederick%20Herzberg%205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4600" y="2809875"/>
            <a:ext cx="2388594" cy="2600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Footer Placeholder 3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B93244F-2A36-4C7D-9DF8-0254DFB6AC48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  <p:sp>
        <p:nvSpPr>
          <p:cNvPr id="15" name="Minus 14"/>
          <p:cNvSpPr/>
          <p:nvPr/>
        </p:nvSpPr>
        <p:spPr>
          <a:xfrm rot="19986415">
            <a:off x="-1485096" y="2980137"/>
            <a:ext cx="12225027" cy="736452"/>
          </a:xfrm>
          <a:prstGeom prst="mathMinus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grpSp>
        <p:nvGrpSpPr>
          <p:cNvPr id="23" name="Group 22"/>
          <p:cNvGrpSpPr/>
          <p:nvPr/>
        </p:nvGrpSpPr>
        <p:grpSpPr>
          <a:xfrm>
            <a:off x="5562600" y="2274516"/>
            <a:ext cx="3200400" cy="4050084"/>
            <a:chOff x="5867400" y="2550159"/>
            <a:chExt cx="2790825" cy="3745866"/>
          </a:xfrm>
        </p:grpSpPr>
        <p:sp>
          <p:nvSpPr>
            <p:cNvPr id="17" name="Up Arrow 16"/>
            <p:cNvSpPr/>
            <p:nvPr/>
          </p:nvSpPr>
          <p:spPr>
            <a:xfrm>
              <a:off x="6553200" y="2550159"/>
              <a:ext cx="1485898" cy="1259841"/>
            </a:xfrm>
            <a:prstGeom prst="upArrow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pic>
          <p:nvPicPr>
            <p:cNvPr id="20" name="Picture 1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867400" y="3276600"/>
              <a:ext cx="2790825" cy="3019425"/>
            </a:xfrm>
            <a:prstGeom prst="rect">
              <a:avLst/>
            </a:prstGeom>
          </p:spPr>
        </p:pic>
      </p:grpSp>
      <p:grpSp>
        <p:nvGrpSpPr>
          <p:cNvPr id="22" name="Group 21"/>
          <p:cNvGrpSpPr/>
          <p:nvPr/>
        </p:nvGrpSpPr>
        <p:grpSpPr>
          <a:xfrm>
            <a:off x="533400" y="471518"/>
            <a:ext cx="3162300" cy="3860398"/>
            <a:chOff x="228600" y="304800"/>
            <a:chExt cx="2933700" cy="3657600"/>
          </a:xfrm>
        </p:grpSpPr>
        <p:sp>
          <p:nvSpPr>
            <p:cNvPr id="16" name="Down Arrow 15"/>
            <p:cNvSpPr/>
            <p:nvPr/>
          </p:nvSpPr>
          <p:spPr>
            <a:xfrm>
              <a:off x="914400" y="2817090"/>
              <a:ext cx="1485898" cy="1145310"/>
            </a:xfrm>
            <a:prstGeom prst="downArrow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8600" y="304800"/>
              <a:ext cx="2933700" cy="2971800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600200"/>
            <a:ext cx="8458200" cy="1066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tựu</a:t>
            </a:r>
            <a:r>
              <a:rPr lang="en-US" dirty="0"/>
              <a:t> (</a:t>
            </a:r>
            <a:r>
              <a:rPr lang="en-US" dirty="0" err="1">
                <a:solidFill>
                  <a:srgbClr val="0070C0"/>
                </a:solidFill>
              </a:rPr>
              <a:t>nAch</a:t>
            </a:r>
            <a:r>
              <a:rPr lang="en-US" dirty="0"/>
              <a:t>): </a:t>
            </a:r>
            <a:r>
              <a:rPr lang="en-US" dirty="0" err="1"/>
              <a:t>thích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</a:t>
            </a:r>
            <a:r>
              <a:rPr lang="en-US" dirty="0" err="1"/>
              <a:t>mang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thử</a:t>
            </a:r>
            <a:r>
              <a:rPr lang="en-US" dirty="0"/>
              <a:t> </a:t>
            </a:r>
            <a:r>
              <a:rPr lang="en-US" dirty="0" err="1"/>
              <a:t>thách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tựu</a:t>
            </a:r>
            <a:r>
              <a:rPr lang="en-US" dirty="0"/>
              <a:t> và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phản</a:t>
            </a:r>
            <a:r>
              <a:rPr lang="en-US" dirty="0"/>
              <a:t> </a:t>
            </a:r>
            <a:r>
              <a:rPr lang="en-US" dirty="0" err="1"/>
              <a:t>hồi</a:t>
            </a:r>
            <a:r>
              <a:rPr lang="en-US" dirty="0"/>
              <a:t>.</a:t>
            </a:r>
          </a:p>
        </p:txBody>
      </p:sp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457200"/>
            <a:ext cx="9144000" cy="762000"/>
          </a:xfrm>
        </p:spPr>
        <p:txBody>
          <a:bodyPr>
            <a:normAutofit/>
          </a:bodyPr>
          <a:lstStyle/>
          <a:p>
            <a:pPr algn="ctr"/>
            <a:r>
              <a:rPr lang="en-US" sz="3600" dirty="0" err="1"/>
              <a:t>Thuyết</a:t>
            </a:r>
            <a:r>
              <a:rPr lang="en-US" sz="3600" dirty="0"/>
              <a:t> </a:t>
            </a:r>
            <a:r>
              <a:rPr lang="en-US" sz="3600" dirty="0" err="1"/>
              <a:t>nhu</a:t>
            </a:r>
            <a:r>
              <a:rPr lang="en-US" sz="3600" dirty="0"/>
              <a:t> </a:t>
            </a:r>
            <a:r>
              <a:rPr lang="en-US" sz="3600" dirty="0" err="1"/>
              <a:t>cầu</a:t>
            </a:r>
            <a:r>
              <a:rPr lang="en-US" sz="3600" dirty="0"/>
              <a:t> </a:t>
            </a:r>
            <a:r>
              <a:rPr lang="en-US" sz="3600" dirty="0" err="1"/>
              <a:t>thúc</a:t>
            </a:r>
            <a:r>
              <a:rPr lang="en-US" sz="3600" dirty="0"/>
              <a:t> </a:t>
            </a:r>
            <a:r>
              <a:rPr lang="en-US" sz="3600" dirty="0" err="1"/>
              <a:t>đẩy</a:t>
            </a:r>
            <a:r>
              <a:rPr lang="en-US" sz="3600" dirty="0"/>
              <a:t> - McClelland</a:t>
            </a:r>
          </a:p>
        </p:txBody>
      </p:sp>
      <p:sp>
        <p:nvSpPr>
          <p:cNvPr id="26629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681D70E-4092-4EC5-97CC-7A84B21272F5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  <p:pic>
        <p:nvPicPr>
          <p:cNvPr id="3074" name="Picture 2" descr="http://www.nwlink.com/%7Edonclark/hrd/case/mcclellan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3558" y="2743200"/>
            <a:ext cx="2130691" cy="281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381000" y="2743200"/>
            <a:ext cx="5791200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65125" indent="-255588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0713" indent="-228600" algn="l" rtl="0" eaLnBrk="1" fontAlgn="base" hangingPunct="1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8838" indent="-228600" algn="l" rtl="0" eaLnBrk="1" fontAlgn="base" hangingPunct="1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fontAlgn="base" hangingPunct="1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fontAlgn="base" hangingPunct="1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algn="just">
              <a:lnSpc>
                <a:spcPct val="90000"/>
              </a:lnSpc>
              <a:spcAft>
                <a:spcPts val="1800"/>
              </a:spcAft>
            </a:pPr>
            <a:r>
              <a:rPr lang="en-US" dirty="0" err="1"/>
              <a:t>Hòa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(</a:t>
            </a:r>
            <a:r>
              <a:rPr lang="en-US" dirty="0" err="1">
                <a:solidFill>
                  <a:srgbClr val="0070C0"/>
                </a:solidFill>
              </a:rPr>
              <a:t>nAff</a:t>
            </a:r>
            <a:r>
              <a:rPr lang="en-US" dirty="0"/>
              <a:t>): </a:t>
            </a:r>
            <a:r>
              <a:rPr lang="en-US" dirty="0" err="1"/>
              <a:t>nhu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 </a:t>
            </a:r>
            <a:r>
              <a:rPr lang="en-US" dirty="0" err="1"/>
              <a:t>hòa</a:t>
            </a:r>
            <a:r>
              <a:rPr lang="en-US" dirty="0"/>
              <a:t> </a:t>
            </a:r>
            <a:r>
              <a:rPr lang="en-US" dirty="0" err="1"/>
              <a:t>thuận</a:t>
            </a:r>
            <a:r>
              <a:rPr lang="en-US" dirty="0"/>
              <a:t> cao, </a:t>
            </a:r>
            <a:r>
              <a:rPr lang="en-US" dirty="0" err="1"/>
              <a:t>muốn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mối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hài</a:t>
            </a:r>
            <a:r>
              <a:rPr lang="en-US" dirty="0"/>
              <a:t> </a:t>
            </a:r>
            <a:r>
              <a:rPr lang="en-US" dirty="0" err="1"/>
              <a:t>hòa</a:t>
            </a:r>
            <a:r>
              <a:rPr lang="en-US" dirty="0"/>
              <a:t> và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chấp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. </a:t>
            </a:r>
          </a:p>
          <a:p>
            <a:pPr algn="just">
              <a:lnSpc>
                <a:spcPct val="90000"/>
              </a:lnSpc>
            </a:pPr>
            <a:r>
              <a:rPr lang="en-US" dirty="0" err="1"/>
              <a:t>Quyền</a:t>
            </a:r>
            <a:r>
              <a:rPr lang="en-US" dirty="0"/>
              <a:t> </a:t>
            </a:r>
            <a:r>
              <a:rPr lang="en-US" dirty="0" err="1"/>
              <a:t>lực</a:t>
            </a:r>
            <a:r>
              <a:rPr lang="en-US" dirty="0"/>
              <a:t> (</a:t>
            </a:r>
            <a:r>
              <a:rPr lang="en-US" dirty="0" err="1">
                <a:solidFill>
                  <a:srgbClr val="0070C0"/>
                </a:solidFill>
              </a:rPr>
              <a:t>nPow</a:t>
            </a:r>
            <a:r>
              <a:rPr lang="en-US" dirty="0"/>
              <a:t>): ham </a:t>
            </a:r>
            <a:r>
              <a:rPr lang="en-US" dirty="0" err="1"/>
              <a:t>quyền</a:t>
            </a:r>
            <a:r>
              <a:rPr lang="en-US" dirty="0"/>
              <a:t> </a:t>
            </a:r>
            <a:r>
              <a:rPr lang="en-US" dirty="0" err="1"/>
              <a:t>lực</a:t>
            </a:r>
            <a:r>
              <a:rPr lang="en-US" dirty="0"/>
              <a:t>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chuộng</a:t>
            </a:r>
            <a:r>
              <a:rPr lang="en-US" dirty="0"/>
              <a:t> </a:t>
            </a:r>
            <a:r>
              <a:rPr lang="en-US" dirty="0" err="1"/>
              <a:t>quyền</a:t>
            </a:r>
            <a:r>
              <a:rPr lang="en-US" dirty="0"/>
              <a:t> </a:t>
            </a:r>
            <a:r>
              <a:rPr lang="en-US" dirty="0" err="1"/>
              <a:t>lực</a:t>
            </a:r>
            <a:r>
              <a:rPr lang="en-US" dirty="0"/>
              <a:t> </a:t>
            </a:r>
            <a:r>
              <a:rPr lang="en-US" dirty="0" err="1"/>
              <a:t>cá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hay </a:t>
            </a:r>
            <a:r>
              <a:rPr lang="en-US" dirty="0" err="1"/>
              <a:t>quyền</a:t>
            </a:r>
            <a:r>
              <a:rPr lang="en-US" dirty="0"/>
              <a:t> </a:t>
            </a:r>
            <a:r>
              <a:rPr lang="en-US" dirty="0" err="1"/>
              <a:t>lực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chế</a:t>
            </a:r>
            <a:r>
              <a:rPr lang="en-US" dirty="0"/>
              <a:t>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981200"/>
            <a:ext cx="5029200" cy="3352800"/>
          </a:xfrm>
        </p:spPr>
        <p:txBody>
          <a:bodyPr/>
          <a:lstStyle/>
          <a:p>
            <a:pPr algn="just">
              <a:spcAft>
                <a:spcPts val="2400"/>
              </a:spcAft>
            </a:pPr>
            <a:r>
              <a:rPr lang="en-US" u="sng" dirty="0" err="1"/>
              <a:t>Thuyết</a:t>
            </a:r>
            <a:r>
              <a:rPr lang="en-US" u="sng" dirty="0"/>
              <a:t> X</a:t>
            </a:r>
            <a:r>
              <a:rPr lang="en-US" dirty="0"/>
              <a:t>: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thích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và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miễn</a:t>
            </a:r>
            <a:r>
              <a:rPr lang="en-US" dirty="0"/>
              <a:t> </a:t>
            </a:r>
            <a:r>
              <a:rPr lang="en-US" dirty="0" err="1"/>
              <a:t>cưỡng</a:t>
            </a:r>
            <a:r>
              <a:rPr lang="en-US" dirty="0"/>
              <a:t>…</a:t>
            </a:r>
          </a:p>
          <a:p>
            <a:pPr algn="just"/>
            <a:r>
              <a:rPr lang="en-US" u="sng" dirty="0" err="1"/>
              <a:t>Thuyết</a:t>
            </a:r>
            <a:r>
              <a:rPr lang="en-US" u="sng" dirty="0"/>
              <a:t> Y</a:t>
            </a:r>
            <a:r>
              <a:rPr lang="en-US" dirty="0"/>
              <a:t>: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xem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niềm</a:t>
            </a:r>
            <a:r>
              <a:rPr lang="en-US" dirty="0"/>
              <a:t> </a:t>
            </a:r>
            <a:r>
              <a:rPr lang="en-US" dirty="0" err="1"/>
              <a:t>vui</a:t>
            </a:r>
            <a:r>
              <a:rPr lang="en-US" dirty="0"/>
              <a:t>, </a:t>
            </a:r>
            <a:r>
              <a:rPr lang="en-US" dirty="0" err="1"/>
              <a:t>tận</a:t>
            </a:r>
            <a:r>
              <a:rPr lang="en-US" dirty="0"/>
              <a:t> </a:t>
            </a:r>
            <a:r>
              <a:rPr lang="en-US" dirty="0" err="1"/>
              <a:t>hưởng</a:t>
            </a: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hài</a:t>
            </a:r>
            <a:r>
              <a:rPr lang="en-US" dirty="0"/>
              <a:t> </a:t>
            </a:r>
            <a:r>
              <a:rPr lang="en-US" dirty="0" err="1"/>
              <a:t>lòng</a:t>
            </a:r>
            <a:r>
              <a:rPr lang="en-US" dirty="0"/>
              <a:t>, </a:t>
            </a:r>
            <a:r>
              <a:rPr lang="en-US" dirty="0" err="1"/>
              <a:t>nhu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thân</a:t>
            </a:r>
            <a:r>
              <a:rPr lang="en-US" dirty="0"/>
              <a:t>…  </a:t>
            </a:r>
          </a:p>
        </p:txBody>
      </p:sp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533400"/>
            <a:ext cx="8458200" cy="792163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Lý </a:t>
            </a:r>
            <a:r>
              <a:rPr lang="en-US" sz="4000" dirty="0" err="1"/>
              <a:t>thuyết</a:t>
            </a:r>
            <a:r>
              <a:rPr lang="en-US" sz="4000" dirty="0"/>
              <a:t> X và Y - McGregor</a:t>
            </a:r>
          </a:p>
        </p:txBody>
      </p:sp>
      <p:sp>
        <p:nvSpPr>
          <p:cNvPr id="27653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DAC9ABD-832A-4A00-BFF0-B4F0A79743B1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057400"/>
            <a:ext cx="2438400" cy="3200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0"/>
            <a:ext cx="4343400" cy="6248400"/>
          </a:xfrm>
          <a:prstGeom prst="rect">
            <a:avLst/>
          </a:prstGeom>
        </p:spPr>
      </p:pic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1828800"/>
            <a:ext cx="1524000" cy="2544763"/>
          </a:xfrm>
        </p:spPr>
        <p:txBody>
          <a:bodyPr>
            <a:noAutofit/>
          </a:bodyPr>
          <a:lstStyle/>
          <a:p>
            <a:r>
              <a:rPr lang="en-US" sz="7200" dirty="0">
                <a:solidFill>
                  <a:srgbClr val="FF0000"/>
                </a:solidFill>
              </a:rPr>
              <a:t>X</a:t>
            </a:r>
            <a:r>
              <a:rPr lang="en-US" sz="7200" dirty="0"/>
              <a:t> </a:t>
            </a:r>
            <a:br>
              <a:rPr lang="en-US" sz="7200" dirty="0"/>
            </a:br>
            <a:br>
              <a:rPr lang="en-US" sz="7200" dirty="0"/>
            </a:br>
            <a:br>
              <a:rPr lang="en-US" sz="2400" dirty="0">
                <a:solidFill>
                  <a:srgbClr val="0070C0"/>
                </a:solidFill>
              </a:rPr>
            </a:br>
            <a:r>
              <a:rPr lang="en-US" sz="7200" dirty="0">
                <a:solidFill>
                  <a:srgbClr val="0070C0"/>
                </a:solidFill>
              </a:rPr>
              <a:t>Y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7696200" y="1600200"/>
            <a:ext cx="1371600" cy="2544763"/>
          </a:xfrm>
          <a:prstGeom prst="rect">
            <a:avLst/>
          </a:prstGeom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9pPr>
            <a:extLst/>
          </a:lstStyle>
          <a:p>
            <a:r>
              <a:rPr lang="en-US" sz="7200" dirty="0">
                <a:solidFill>
                  <a:schemeClr val="tx1"/>
                </a:solidFill>
              </a:rPr>
              <a:t>Z?</a:t>
            </a:r>
          </a:p>
        </p:txBody>
      </p:sp>
      <p:sp>
        <p:nvSpPr>
          <p:cNvPr id="8" name="Footer Placeholder 6"/>
          <p:cNvSpPr>
            <a:spLocks noGrp="1"/>
          </p:cNvSpPr>
          <p:nvPr>
            <p:ph type="ftr" sz="quarter" idx="10"/>
          </p:nvPr>
        </p:nvSpPr>
        <p:spPr bwMode="auto">
          <a:xfrm>
            <a:off x="0" y="6492875"/>
            <a:ext cx="2590800" cy="365125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buFontTx/>
              <a:buNone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</p:spTree>
    <p:extLst>
      <p:ext uri="{BB962C8B-B14F-4D97-AF65-F5344CB8AC3E}">
        <p14:creationId xmlns:p14="http://schemas.microsoft.com/office/powerpoint/2010/main" val="177016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381000"/>
            <a:ext cx="6784293" cy="5562600"/>
          </a:xfrm>
          <a:prstGeom prst="rect">
            <a:avLst/>
          </a:prstGeom>
        </p:spPr>
      </p:pic>
      <p:sp>
        <p:nvSpPr>
          <p:cNvPr id="11" name="Footer Placeholder 6"/>
          <p:cNvSpPr>
            <a:spLocks noGrp="1"/>
          </p:cNvSpPr>
          <p:nvPr>
            <p:ph type="ftr" sz="quarter" idx="10"/>
          </p:nvPr>
        </p:nvSpPr>
        <p:spPr bwMode="auto">
          <a:xfrm>
            <a:off x="0" y="6492875"/>
            <a:ext cx="2590800" cy="365125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</p:spTree>
    <p:extLst>
      <p:ext uri="{BB962C8B-B14F-4D97-AF65-F5344CB8AC3E}">
        <p14:creationId xmlns:p14="http://schemas.microsoft.com/office/powerpoint/2010/main" val="3371158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600200"/>
            <a:ext cx="7620000" cy="4495800"/>
          </a:xfrm>
        </p:spPr>
        <p:txBody>
          <a:bodyPr/>
          <a:lstStyle/>
          <a:p>
            <a:pPr algn="just">
              <a:lnSpc>
                <a:spcPct val="90000"/>
              </a:lnSpc>
              <a:spcAft>
                <a:spcPts val="3000"/>
              </a:spcAft>
            </a:pP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Quyền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lực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/>
              <a:t>(</a:t>
            </a:r>
            <a:r>
              <a:rPr lang="en-US" sz="2800" dirty="0">
                <a:solidFill>
                  <a:srgbClr val="0070C0"/>
                </a:solidFill>
              </a:rPr>
              <a:t>power</a:t>
            </a:r>
            <a:r>
              <a:rPr lang="en-US" dirty="0"/>
              <a:t>)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khả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tiềm</a:t>
            </a:r>
            <a:r>
              <a:rPr lang="en-US" dirty="0"/>
              <a:t> </a:t>
            </a:r>
            <a:r>
              <a:rPr lang="en-US" dirty="0" err="1"/>
              <a:t>ẩn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ảnh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hưởng</a:t>
            </a:r>
            <a:r>
              <a:rPr lang="en-US" dirty="0"/>
              <a:t> (</a:t>
            </a:r>
            <a:r>
              <a:rPr lang="en-US" dirty="0">
                <a:solidFill>
                  <a:srgbClr val="0070C0"/>
                </a:solidFill>
              </a:rPr>
              <a:t>influence</a:t>
            </a:r>
            <a:r>
              <a:rPr lang="en-US" dirty="0"/>
              <a:t>)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vi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, 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họ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.</a:t>
            </a:r>
          </a:p>
          <a:p>
            <a:pPr algn="just">
              <a:lnSpc>
                <a:spcPct val="90000"/>
              </a:lnSpc>
            </a:pP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dirty="0" err="1"/>
              <a:t>quyền</a:t>
            </a:r>
            <a:r>
              <a:rPr lang="en-US" dirty="0"/>
              <a:t> </a:t>
            </a:r>
            <a:r>
              <a:rPr lang="en-US" dirty="0" err="1"/>
              <a:t>lực</a:t>
            </a:r>
            <a:r>
              <a:rPr lang="en-US" dirty="0"/>
              <a:t>:</a:t>
            </a:r>
          </a:p>
          <a:p>
            <a:pPr lvl="1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dirty="0" err="1"/>
              <a:t>Khen</a:t>
            </a:r>
            <a:r>
              <a:rPr lang="en-US" sz="2400" dirty="0"/>
              <a:t> </a:t>
            </a:r>
            <a:r>
              <a:rPr lang="en-US" sz="2400" dirty="0" err="1"/>
              <a:t>thưởng</a:t>
            </a:r>
            <a:r>
              <a:rPr lang="en-US" sz="2400" dirty="0"/>
              <a:t> </a:t>
            </a:r>
          </a:p>
          <a:p>
            <a:pPr lvl="1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dirty="0" err="1"/>
              <a:t>Ép</a:t>
            </a:r>
            <a:r>
              <a:rPr lang="en-US" sz="2400" dirty="0"/>
              <a:t> </a:t>
            </a:r>
            <a:r>
              <a:rPr lang="en-US" sz="2400" dirty="0" err="1"/>
              <a:t>buộc</a:t>
            </a:r>
            <a:endParaRPr lang="en-US" sz="2400" dirty="0"/>
          </a:p>
          <a:p>
            <a:pPr lvl="1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dirty="0" err="1"/>
              <a:t>Hợp</a:t>
            </a:r>
            <a:r>
              <a:rPr lang="en-US" sz="2400" dirty="0"/>
              <a:t> </a:t>
            </a:r>
            <a:r>
              <a:rPr lang="en-US" sz="2400" dirty="0" err="1"/>
              <a:t>pháp</a:t>
            </a:r>
            <a:endParaRPr lang="en-US" sz="2400" dirty="0"/>
          </a:p>
          <a:p>
            <a:pPr lvl="1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dirty="0" err="1"/>
              <a:t>Tham</a:t>
            </a:r>
            <a:r>
              <a:rPr lang="en-US" sz="2400" dirty="0"/>
              <a:t> </a:t>
            </a:r>
            <a:r>
              <a:rPr lang="en-US" sz="2400" dirty="0" err="1"/>
              <a:t>chiếu</a:t>
            </a:r>
            <a:endParaRPr lang="en-US" sz="2400" dirty="0"/>
          </a:p>
          <a:p>
            <a:pPr lvl="1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Chuyên </a:t>
            </a:r>
            <a:r>
              <a:rPr lang="en-US" sz="2400" dirty="0" err="1"/>
              <a:t>gia</a:t>
            </a:r>
            <a:endParaRPr lang="en-US" sz="2400" dirty="0"/>
          </a:p>
          <a:p>
            <a:pPr lvl="1" algn="just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 err="1"/>
              <a:t>Quyền</a:t>
            </a:r>
            <a:r>
              <a:rPr lang="en-US" sz="4000" dirty="0"/>
              <a:t> </a:t>
            </a:r>
            <a:r>
              <a:rPr lang="en-US" sz="4000" dirty="0" err="1"/>
              <a:t>lực</a:t>
            </a:r>
            <a:r>
              <a:rPr lang="en-US" sz="4000" dirty="0"/>
              <a:t> và </a:t>
            </a:r>
            <a:r>
              <a:rPr lang="en-US" sz="4000" dirty="0" err="1"/>
              <a:t>ảnh</a:t>
            </a:r>
            <a:r>
              <a:rPr lang="en-US" sz="4000" dirty="0"/>
              <a:t> </a:t>
            </a:r>
            <a:r>
              <a:rPr lang="en-US" sz="4000" dirty="0" err="1"/>
              <a:t>hưởng</a:t>
            </a:r>
            <a:endParaRPr lang="en-US" sz="4000" dirty="0"/>
          </a:p>
        </p:txBody>
      </p:sp>
      <p:sp>
        <p:nvSpPr>
          <p:cNvPr id="31749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4FC4FBD-8BDD-44F9-82CD-936AF23BC5BC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  <p:pic>
        <p:nvPicPr>
          <p:cNvPr id="1026" name="Picture 2" descr="http://jcteambuilding.weebly.com/uploads/2/4/9/2/24920412/4467288.png?55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3048000"/>
            <a:ext cx="4885864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524000"/>
            <a:ext cx="8001000" cy="3962400"/>
          </a:xfrm>
        </p:spPr>
        <p:txBody>
          <a:bodyPr/>
          <a:lstStyle/>
          <a:p>
            <a:pPr algn="just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dirty="0" err="1"/>
              <a:t>Giám</a:t>
            </a:r>
            <a:r>
              <a:rPr lang="en-US" dirty="0"/>
              <a:t> </a:t>
            </a:r>
            <a:r>
              <a:rPr lang="en-US" dirty="0" err="1"/>
              <a:t>đốc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</a:t>
            </a:r>
            <a:r>
              <a:rPr lang="en-US" dirty="0" err="1"/>
              <a:t>áp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7 </a:t>
            </a:r>
            <a:r>
              <a:rPr lang="en-US" dirty="0" err="1"/>
              <a:t>thói</a:t>
            </a:r>
            <a:r>
              <a:rPr lang="en-US" dirty="0"/>
              <a:t> </a:t>
            </a:r>
            <a:r>
              <a:rPr lang="en-US" dirty="0" err="1"/>
              <a:t>quen</a:t>
            </a:r>
            <a:r>
              <a:rPr lang="en-US" dirty="0"/>
              <a:t>*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nâng</a:t>
            </a:r>
            <a:r>
              <a:rPr lang="en-US" dirty="0"/>
              <a:t> cao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:</a:t>
            </a:r>
          </a:p>
          <a:p>
            <a:pPr marL="849313" lvl="1" indent="-457200" algn="just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2400" dirty="0" err="1"/>
              <a:t>Năng</a:t>
            </a:r>
            <a:r>
              <a:rPr lang="en-US" sz="2400" dirty="0"/>
              <a:t> </a:t>
            </a:r>
            <a:r>
              <a:rPr lang="en-US" sz="2400" dirty="0" err="1"/>
              <a:t>động</a:t>
            </a:r>
            <a:endParaRPr lang="en-US" sz="2400" dirty="0"/>
          </a:p>
          <a:p>
            <a:pPr marL="849313" lvl="1" indent="-457200" algn="just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2400" dirty="0" err="1"/>
              <a:t>Bắt</a:t>
            </a:r>
            <a:r>
              <a:rPr lang="en-US" sz="2400" dirty="0"/>
              <a:t> </a:t>
            </a:r>
            <a:r>
              <a:rPr lang="en-US" sz="2400" dirty="0" err="1"/>
              <a:t>đầu</a:t>
            </a:r>
            <a:r>
              <a:rPr lang="en-US" sz="2400" dirty="0"/>
              <a:t> và </a:t>
            </a:r>
            <a:r>
              <a:rPr lang="en-US" sz="2400" dirty="0" err="1"/>
              <a:t>kết</a:t>
            </a:r>
            <a:r>
              <a:rPr lang="en-US" sz="2400" dirty="0"/>
              <a:t> </a:t>
            </a:r>
            <a:r>
              <a:rPr lang="en-US" sz="2400" dirty="0" err="1"/>
              <a:t>thúc</a:t>
            </a:r>
            <a:r>
              <a:rPr lang="en-US" sz="2400" dirty="0"/>
              <a:t> </a:t>
            </a:r>
            <a:r>
              <a:rPr lang="en-US" sz="2400" dirty="0" err="1"/>
              <a:t>theo</a:t>
            </a:r>
            <a:r>
              <a:rPr lang="en-US" sz="2400" dirty="0"/>
              <a:t> </a:t>
            </a:r>
            <a:r>
              <a:rPr lang="en-US" sz="2400" dirty="0" err="1"/>
              <a:t>tư</a:t>
            </a:r>
            <a:r>
              <a:rPr lang="en-US" sz="2400" dirty="0"/>
              <a:t> </a:t>
            </a:r>
            <a:r>
              <a:rPr lang="en-US" sz="2400" dirty="0" err="1"/>
              <a:t>duy</a:t>
            </a:r>
            <a:endParaRPr lang="en-US" sz="2400" dirty="0"/>
          </a:p>
          <a:p>
            <a:pPr marL="849313" lvl="1" indent="-457200" algn="just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2400" dirty="0" err="1"/>
              <a:t>Ưu</a:t>
            </a:r>
            <a:r>
              <a:rPr lang="en-US" sz="2400" dirty="0"/>
              <a:t> </a:t>
            </a:r>
            <a:r>
              <a:rPr lang="en-US" sz="2400" dirty="0" err="1"/>
              <a:t>tiên</a:t>
            </a:r>
            <a:r>
              <a:rPr lang="en-US" sz="2400" dirty="0"/>
              <a:t> </a:t>
            </a:r>
            <a:r>
              <a:rPr lang="en-US" sz="2400" dirty="0" err="1"/>
              <a:t>việc</a:t>
            </a:r>
            <a:r>
              <a:rPr lang="en-US" sz="2400" dirty="0"/>
              <a:t> </a:t>
            </a:r>
            <a:r>
              <a:rPr lang="en-US" sz="2400" dirty="0" err="1"/>
              <a:t>quan</a:t>
            </a:r>
            <a:r>
              <a:rPr lang="en-US" sz="2400" dirty="0"/>
              <a:t> </a:t>
            </a:r>
            <a:r>
              <a:rPr lang="en-US" sz="2400" dirty="0" err="1"/>
              <a:t>trọng</a:t>
            </a:r>
            <a:r>
              <a:rPr lang="en-US" sz="2400" dirty="0"/>
              <a:t> </a:t>
            </a:r>
            <a:r>
              <a:rPr lang="en-US" sz="2400" dirty="0" err="1"/>
              <a:t>nhất</a:t>
            </a:r>
            <a:endParaRPr lang="en-US" sz="2400" dirty="0"/>
          </a:p>
          <a:p>
            <a:pPr marL="849313" lvl="1" indent="-457200" algn="just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2400" dirty="0" err="1"/>
              <a:t>Tư</a:t>
            </a:r>
            <a:r>
              <a:rPr lang="en-US" sz="2400" dirty="0"/>
              <a:t> </a:t>
            </a:r>
            <a:r>
              <a:rPr lang="en-US" sz="2400" dirty="0" err="1"/>
              <a:t>duy</a:t>
            </a:r>
            <a:r>
              <a:rPr lang="en-US" sz="2400" dirty="0"/>
              <a:t> </a:t>
            </a:r>
            <a:r>
              <a:rPr lang="en-US" sz="2400" dirty="0" err="1"/>
              <a:t>cùng</a:t>
            </a:r>
            <a:r>
              <a:rPr lang="en-US" sz="2400" dirty="0"/>
              <a:t> </a:t>
            </a:r>
            <a:r>
              <a:rPr lang="en-US" sz="2400" dirty="0" err="1"/>
              <a:t>thắng</a:t>
            </a:r>
            <a:r>
              <a:rPr lang="en-US" sz="2400" dirty="0"/>
              <a:t> (</a:t>
            </a:r>
            <a:r>
              <a:rPr lang="en-US" sz="2400" dirty="0">
                <a:solidFill>
                  <a:srgbClr val="0070C0"/>
                </a:solidFill>
              </a:rPr>
              <a:t>win</a:t>
            </a:r>
            <a:r>
              <a:rPr lang="en-US" sz="2400" dirty="0"/>
              <a:t> - </a:t>
            </a:r>
            <a:r>
              <a:rPr lang="en-US" sz="2400" dirty="0">
                <a:solidFill>
                  <a:srgbClr val="0070C0"/>
                </a:solidFill>
              </a:rPr>
              <a:t>win</a:t>
            </a:r>
            <a:r>
              <a:rPr lang="en-US" sz="2400" dirty="0"/>
              <a:t>)</a:t>
            </a:r>
          </a:p>
          <a:p>
            <a:pPr marL="849313" lvl="1" indent="-457200" algn="just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2400" dirty="0" err="1"/>
              <a:t>Hiểu</a:t>
            </a:r>
            <a:r>
              <a:rPr lang="en-US" sz="2400" dirty="0"/>
              <a:t> </a:t>
            </a:r>
            <a:r>
              <a:rPr lang="en-US" sz="2400" dirty="0" err="1"/>
              <a:t>người</a:t>
            </a:r>
            <a:r>
              <a:rPr lang="en-US" sz="2400" dirty="0"/>
              <a:t> </a:t>
            </a:r>
            <a:r>
              <a:rPr lang="en-US" sz="2400" dirty="0" err="1"/>
              <a:t>trước</a:t>
            </a:r>
            <a:r>
              <a:rPr lang="en-US" sz="2400" dirty="0"/>
              <a:t> </a:t>
            </a:r>
            <a:r>
              <a:rPr lang="en-US" sz="2400" dirty="0" err="1"/>
              <a:t>để</a:t>
            </a:r>
            <a:r>
              <a:rPr lang="en-US" sz="2400" dirty="0"/>
              <a:t> </a:t>
            </a:r>
            <a:r>
              <a:rPr lang="en-US" sz="2400" dirty="0" err="1"/>
              <a:t>được</a:t>
            </a:r>
            <a:r>
              <a:rPr lang="en-US" sz="2400" dirty="0"/>
              <a:t> </a:t>
            </a:r>
            <a:r>
              <a:rPr lang="en-US" sz="2400" dirty="0" err="1"/>
              <a:t>hiểu</a:t>
            </a:r>
            <a:r>
              <a:rPr lang="en-US" sz="2400" dirty="0"/>
              <a:t> </a:t>
            </a:r>
            <a:r>
              <a:rPr lang="en-US" sz="2400" dirty="0" err="1"/>
              <a:t>mình</a:t>
            </a:r>
            <a:endParaRPr lang="en-US" sz="2400" dirty="0"/>
          </a:p>
          <a:p>
            <a:pPr marL="849313" lvl="1" indent="-457200" algn="just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2400" dirty="0" err="1"/>
              <a:t>Tính</a:t>
            </a:r>
            <a:r>
              <a:rPr lang="en-US" sz="2400" dirty="0"/>
              <a:t> </a:t>
            </a:r>
            <a:r>
              <a:rPr lang="en-US" sz="2400" dirty="0" err="1"/>
              <a:t>hiệp</a:t>
            </a:r>
            <a:r>
              <a:rPr lang="en-US" sz="2400" dirty="0"/>
              <a:t> </a:t>
            </a:r>
            <a:r>
              <a:rPr lang="en-US" sz="2400" dirty="0" err="1"/>
              <a:t>trợ</a:t>
            </a:r>
            <a:endParaRPr lang="en-US" sz="2400" dirty="0"/>
          </a:p>
          <a:p>
            <a:pPr marL="849313" lvl="1" indent="-457200" algn="just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Font typeface="+mj-lt"/>
              <a:buAutoNum type="arabicPeriod"/>
            </a:pPr>
            <a:r>
              <a:rPr lang="en-US" sz="2400" dirty="0" err="1"/>
              <a:t>Rèn</a:t>
            </a:r>
            <a:r>
              <a:rPr lang="en-US" sz="2400" dirty="0"/>
              <a:t> </a:t>
            </a:r>
            <a:r>
              <a:rPr lang="en-US" sz="2400" dirty="0" err="1"/>
              <a:t>giũa</a:t>
            </a:r>
            <a:r>
              <a:rPr lang="en-US" sz="2400" dirty="0"/>
              <a:t> </a:t>
            </a:r>
            <a:r>
              <a:rPr lang="en-US" sz="2400" dirty="0" err="1"/>
              <a:t>bản</a:t>
            </a:r>
            <a:r>
              <a:rPr lang="en-US" sz="2400" dirty="0"/>
              <a:t> </a:t>
            </a:r>
            <a:r>
              <a:rPr lang="en-US" sz="2400" dirty="0" err="1"/>
              <a:t>thân</a:t>
            </a:r>
            <a:r>
              <a:rPr lang="en-US" sz="2400" dirty="0"/>
              <a:t>.</a:t>
            </a:r>
          </a:p>
          <a:p>
            <a:pPr lvl="1" algn="just">
              <a:lnSpc>
                <a:spcPct val="90000"/>
              </a:lnSpc>
            </a:pPr>
            <a:endParaRPr lang="en-US" dirty="0"/>
          </a:p>
          <a:p>
            <a:pPr marL="392113" lvl="1" indent="0" algn="just">
              <a:lnSpc>
                <a:spcPct val="90000"/>
              </a:lnSpc>
              <a:buNone/>
            </a:pPr>
            <a:endParaRPr lang="en-US" dirty="0"/>
          </a:p>
        </p:txBody>
      </p:sp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74638"/>
            <a:ext cx="8305800" cy="944562"/>
          </a:xfrm>
        </p:spPr>
        <p:txBody>
          <a:bodyPr>
            <a:normAutofit/>
          </a:bodyPr>
          <a:lstStyle/>
          <a:p>
            <a:pPr algn="ctr"/>
            <a:r>
              <a:rPr lang="en-US" sz="4000" dirty="0" err="1"/>
              <a:t>Nâng</a:t>
            </a:r>
            <a:r>
              <a:rPr lang="en-US" sz="4000" dirty="0"/>
              <a:t> cao </a:t>
            </a:r>
            <a:r>
              <a:rPr lang="en-US" sz="4000" dirty="0" err="1"/>
              <a:t>hiệu</a:t>
            </a:r>
            <a:r>
              <a:rPr lang="en-US" sz="4000" dirty="0"/>
              <a:t> </a:t>
            </a:r>
            <a:r>
              <a:rPr lang="en-US" sz="4000" dirty="0" err="1"/>
              <a:t>quả</a:t>
            </a:r>
            <a:endParaRPr lang="en-US" sz="4000" dirty="0"/>
          </a:p>
        </p:txBody>
      </p:sp>
      <p:sp>
        <p:nvSpPr>
          <p:cNvPr id="32773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A6E05F3-2273-40D1-A674-B6E0BA0DC0B9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2667000" y="5986046"/>
            <a:ext cx="61722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1600" dirty="0"/>
              <a:t>* Stephen </a:t>
            </a:r>
            <a:r>
              <a:rPr lang="vi-V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Covey</a:t>
            </a:r>
            <a:r>
              <a:rPr lang="vi-VN" sz="1600" dirty="0"/>
              <a:t>, The 7 Habits of Highly Effective People, 1989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2514600"/>
            <a:ext cx="1952625" cy="3429000"/>
          </a:xfrm>
          <a:prstGeom prst="rect">
            <a:avLst/>
          </a:prstGeom>
        </p:spPr>
      </p:pic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>
          <a:xfrm>
            <a:off x="914400" y="1676400"/>
            <a:ext cx="7620000" cy="838200"/>
          </a:xfrm>
        </p:spPr>
        <p:txBody>
          <a:bodyPr/>
          <a:lstStyle/>
          <a:p>
            <a:pPr algn="just">
              <a:lnSpc>
                <a:spcPct val="90000"/>
              </a:lnSpc>
            </a:pPr>
            <a:r>
              <a:rPr lang="en-US" dirty="0" err="1"/>
              <a:t>Luôn</a:t>
            </a:r>
            <a:r>
              <a:rPr lang="en-US" dirty="0"/>
              <a:t> </a:t>
            </a:r>
            <a:r>
              <a:rPr lang="en-US" dirty="0" err="1"/>
              <a:t>luôn</a:t>
            </a:r>
            <a:r>
              <a:rPr lang="en-US" dirty="0"/>
              <a:t> </a:t>
            </a:r>
            <a:r>
              <a:rPr lang="en-US" dirty="0" err="1"/>
              <a:t>lắng</a:t>
            </a:r>
            <a:r>
              <a:rPr lang="en-US" dirty="0"/>
              <a:t> </a:t>
            </a:r>
            <a:r>
              <a:rPr lang="en-US" dirty="0" err="1"/>
              <a:t>nghe</a:t>
            </a:r>
            <a:r>
              <a:rPr lang="en-US" dirty="0"/>
              <a:t> – </a:t>
            </a:r>
            <a:r>
              <a:rPr lang="en-US" dirty="0" err="1"/>
              <a:t>luôn</a:t>
            </a:r>
            <a:r>
              <a:rPr lang="en-US" dirty="0"/>
              <a:t> </a:t>
            </a:r>
            <a:r>
              <a:rPr lang="en-US" dirty="0" err="1"/>
              <a:t>luôn</a:t>
            </a:r>
            <a:r>
              <a:rPr lang="en-US" dirty="0"/>
              <a:t> </a:t>
            </a:r>
            <a:r>
              <a:rPr lang="en-US" dirty="0" err="1"/>
              <a:t>thấu</a:t>
            </a:r>
            <a:r>
              <a:rPr lang="en-US" dirty="0"/>
              <a:t> </a:t>
            </a:r>
            <a:r>
              <a:rPr lang="en-US" dirty="0" err="1"/>
              <a:t>hiểu</a:t>
            </a:r>
            <a:r>
              <a:rPr lang="en-US" dirty="0"/>
              <a:t>…</a:t>
            </a:r>
          </a:p>
          <a:p>
            <a:pPr algn="just">
              <a:lnSpc>
                <a:spcPct val="90000"/>
              </a:lnSpc>
            </a:pPr>
            <a:endParaRPr lang="en-US" dirty="0"/>
          </a:p>
        </p:txBody>
      </p:sp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305800" cy="792162"/>
          </a:xfrm>
        </p:spPr>
        <p:txBody>
          <a:bodyPr>
            <a:normAutofit/>
          </a:bodyPr>
          <a:lstStyle/>
          <a:p>
            <a:pPr algn="ctr"/>
            <a:r>
              <a:rPr lang="en-US" sz="4000" dirty="0" err="1"/>
              <a:t>Lắng</a:t>
            </a:r>
            <a:r>
              <a:rPr lang="en-US" sz="4000" dirty="0"/>
              <a:t> </a:t>
            </a:r>
            <a:r>
              <a:rPr lang="en-US" sz="4000" dirty="0" err="1"/>
              <a:t>nghe</a:t>
            </a:r>
            <a:r>
              <a:rPr lang="en-US" sz="4000" dirty="0"/>
              <a:t> và </a:t>
            </a:r>
            <a:r>
              <a:rPr lang="en-US" sz="4000" dirty="0" err="1"/>
              <a:t>thấu</a:t>
            </a:r>
            <a:r>
              <a:rPr lang="en-US" sz="4000" dirty="0"/>
              <a:t> </a:t>
            </a:r>
            <a:r>
              <a:rPr lang="en-US" sz="4000" dirty="0" err="1"/>
              <a:t>hiểu</a:t>
            </a:r>
            <a:endParaRPr lang="en-US" sz="4000" dirty="0"/>
          </a:p>
        </p:txBody>
      </p:sp>
      <p:sp>
        <p:nvSpPr>
          <p:cNvPr id="33797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F2423C5-FE1A-450A-A811-91890ECFB313}" type="slidenum">
              <a:rPr lang="en-US" smtClean="0"/>
              <a:pPr>
                <a:defRPr/>
              </a:pPr>
              <a:t>27</a:t>
            </a:fld>
            <a:endParaRPr lang="en-US" dirty="0"/>
          </a:p>
        </p:txBody>
      </p:sp>
      <p:sp>
        <p:nvSpPr>
          <p:cNvPr id="3" name="Cloud Callout 2"/>
          <p:cNvSpPr/>
          <p:nvPr/>
        </p:nvSpPr>
        <p:spPr>
          <a:xfrm>
            <a:off x="533400" y="2654300"/>
            <a:ext cx="5257800" cy="2971800"/>
          </a:xfrm>
          <a:prstGeom prst="cloudCallout">
            <a:avLst>
              <a:gd name="adj1" fmla="val 65808"/>
              <a:gd name="adj2" fmla="val -16146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</a:pPr>
            <a:r>
              <a:rPr lang="en-US" sz="24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Kỹ</a:t>
            </a:r>
            <a:r>
              <a:rPr lang="en-US" sz="2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sư</a:t>
            </a:r>
            <a:r>
              <a:rPr lang="en-US" sz="240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CNTT/HTTT </a:t>
            </a:r>
            <a:r>
              <a:rPr lang="en-US" sz="24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2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sz="2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lắng</a:t>
            </a:r>
            <a:r>
              <a:rPr lang="en-US" sz="2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nghe</a:t>
            </a:r>
            <a:r>
              <a:rPr lang="en-US" sz="2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2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cải</a:t>
            </a:r>
            <a:r>
              <a:rPr lang="en-US" sz="2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thiện</a:t>
            </a:r>
            <a:r>
              <a:rPr lang="en-US" sz="2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mối</a:t>
            </a:r>
            <a:r>
              <a:rPr lang="en-US" sz="2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sz="2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2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2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2400" i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sử </a:t>
            </a:r>
            <a:r>
              <a:rPr lang="en-US" sz="24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2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và </a:t>
            </a:r>
            <a:r>
              <a:rPr lang="en-US" sz="24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2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bên</a:t>
            </a:r>
            <a:r>
              <a:rPr lang="en-US" sz="2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sz="2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sz="24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33400" y="1905000"/>
            <a:ext cx="8077200" cy="3167062"/>
          </a:xfrm>
        </p:spPr>
        <p:txBody>
          <a:bodyPr/>
          <a:lstStyle/>
          <a:p>
            <a:pPr algn="just">
              <a:spcBef>
                <a:spcPts val="1200"/>
              </a:spcBef>
              <a:spcAft>
                <a:spcPts val="1800"/>
              </a:spcAft>
            </a:pP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Trí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tuệ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cảm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xúc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/>
              <a:t>- </a:t>
            </a:r>
            <a:r>
              <a:rPr lang="en-US" dirty="0">
                <a:solidFill>
                  <a:srgbClr val="0070C0"/>
                </a:solidFill>
              </a:rPr>
              <a:t>EI </a:t>
            </a:r>
            <a:r>
              <a:rPr lang="en-US" dirty="0"/>
              <a:t>(</a:t>
            </a:r>
            <a:r>
              <a:rPr lang="en-US" dirty="0">
                <a:solidFill>
                  <a:srgbClr val="0070C0"/>
                </a:solidFill>
              </a:rPr>
              <a:t>Emotional Intelligence</a:t>
            </a:r>
            <a:r>
              <a:rPr lang="en-US" dirty="0"/>
              <a:t>)*: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hiểu</a:t>
            </a:r>
            <a:r>
              <a:rPr lang="en-US" dirty="0"/>
              <a:t> </a:t>
            </a:r>
            <a:r>
              <a:rPr lang="en-US" dirty="0" err="1"/>
              <a:t>biết</a:t>
            </a:r>
            <a:r>
              <a:rPr lang="en-US" dirty="0"/>
              <a:t> và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khiển</a:t>
            </a:r>
            <a:r>
              <a:rPr lang="en-US" dirty="0"/>
              <a:t> </a:t>
            </a:r>
            <a:r>
              <a:rPr lang="en-US" dirty="0" err="1"/>
              <a:t>cảm</a:t>
            </a:r>
            <a:r>
              <a:rPr lang="en-US" dirty="0"/>
              <a:t> </a:t>
            </a:r>
            <a:r>
              <a:rPr lang="en-US" dirty="0" err="1"/>
              <a:t>xúc</a:t>
            </a:r>
            <a:r>
              <a:rPr lang="en-US" dirty="0"/>
              <a:t> </a:t>
            </a:r>
            <a:r>
              <a:rPr lang="en-US" dirty="0" err="1"/>
              <a:t>cá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, và </a:t>
            </a:r>
            <a:r>
              <a:rPr lang="en-US" dirty="0" err="1"/>
              <a:t>hiểu</a:t>
            </a:r>
            <a:r>
              <a:rPr lang="en-US" dirty="0"/>
              <a:t> </a:t>
            </a:r>
            <a:r>
              <a:rPr lang="en-US" dirty="0" err="1"/>
              <a:t>cảm</a:t>
            </a:r>
            <a:r>
              <a:rPr lang="en-US" dirty="0"/>
              <a:t> </a:t>
            </a:r>
            <a:r>
              <a:rPr lang="en-US" dirty="0" err="1"/>
              <a:t>xúc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cải</a:t>
            </a:r>
            <a:r>
              <a:rPr lang="en-US" dirty="0"/>
              <a:t> </a:t>
            </a:r>
            <a:r>
              <a:rPr lang="en-US" dirty="0" err="1"/>
              <a:t>thiện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…</a:t>
            </a:r>
          </a:p>
          <a:p>
            <a:pPr algn="just">
              <a:spcBef>
                <a:spcPts val="1200"/>
              </a:spcBef>
              <a:spcAft>
                <a:spcPts val="1800"/>
              </a:spcAft>
            </a:pPr>
            <a:r>
              <a:rPr lang="en-US" dirty="0">
                <a:solidFill>
                  <a:srgbClr val="FF0000"/>
                </a:solidFill>
              </a:rPr>
              <a:t>71% </a:t>
            </a:r>
            <a:r>
              <a:rPr lang="en-US" dirty="0" err="1"/>
              <a:t>nhà</a:t>
            </a:r>
            <a:r>
              <a:rPr lang="en-US" dirty="0"/>
              <a:t> </a:t>
            </a:r>
            <a:r>
              <a:rPr lang="en-US" dirty="0" err="1"/>
              <a:t>tuyển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đánh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cao EI </a:t>
            </a:r>
            <a:r>
              <a:rPr lang="en-US" dirty="0" err="1"/>
              <a:t>hơn</a:t>
            </a:r>
            <a:r>
              <a:rPr lang="en-US" dirty="0"/>
              <a:t> </a:t>
            </a:r>
            <a:r>
              <a:rPr lang="en-US" dirty="0">
                <a:hlinkClick r:id="rId2" action="ppaction://hlinkpres?slideindex=1&amp;slidetitle="/>
              </a:rPr>
              <a:t>IQ</a:t>
            </a:r>
            <a:r>
              <a:rPr lang="en-US" dirty="0"/>
              <a:t>…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vi-VN" sz="4000" dirty="0"/>
              <a:t>Trí tuệ cảm xúc</a:t>
            </a:r>
            <a:endParaRPr lang="en-US" sz="4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DF7F6D6-12E9-47E2-83FA-0573725E0372}" type="slidenum">
              <a:rPr lang="en-US" smtClean="0"/>
              <a:pPr>
                <a:defRPr/>
              </a:pPr>
              <a:t>28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371600" y="5638800"/>
            <a:ext cx="76200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1600" dirty="0"/>
              <a:t>* Howard Gardner, Frames of Mind: The Theory of Multiple Intelligences, 1983 </a:t>
            </a:r>
          </a:p>
        </p:txBody>
      </p:sp>
    </p:spTree>
    <p:extLst>
      <p:ext uri="{BB962C8B-B14F-4D97-AF65-F5344CB8AC3E}">
        <p14:creationId xmlns:p14="http://schemas.microsoft.com/office/powerpoint/2010/main" val="897892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676400"/>
            <a:ext cx="8458200" cy="2133600"/>
          </a:xfrm>
          <a:solidFill>
            <a:schemeClr val="bg2"/>
          </a:solidFill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Tam </a:t>
            </a:r>
            <a:r>
              <a:rPr lang="en-US" dirty="0" err="1"/>
              <a:t>giác</a:t>
            </a:r>
            <a:r>
              <a:rPr lang="en-US" dirty="0"/>
              <a:t> </a:t>
            </a:r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giám</a:t>
            </a:r>
            <a:r>
              <a:rPr lang="en-US" dirty="0"/>
              <a:t> </a:t>
            </a:r>
            <a:r>
              <a:rPr lang="en-US" dirty="0" err="1"/>
              <a:t>đốc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(PMI, 2015):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Quản lý </a:t>
            </a:r>
            <a:r>
              <a:rPr lang="en-US" sz="2400" dirty="0" err="1"/>
              <a:t>dự</a:t>
            </a:r>
            <a:r>
              <a:rPr lang="en-US" sz="2400" dirty="0"/>
              <a:t> </a:t>
            </a:r>
            <a:r>
              <a:rPr lang="en-US" sz="2400" dirty="0" err="1"/>
              <a:t>án</a:t>
            </a:r>
            <a:r>
              <a:rPr lang="en-US" sz="2400" dirty="0"/>
              <a:t> </a:t>
            </a:r>
            <a:r>
              <a:rPr lang="en-US" sz="2400" dirty="0" err="1"/>
              <a:t>công</a:t>
            </a:r>
            <a:r>
              <a:rPr lang="en-US" sz="2400" dirty="0"/>
              <a:t> </a:t>
            </a:r>
            <a:r>
              <a:rPr lang="en-US" sz="2400" dirty="0" err="1"/>
              <a:t>nghệ</a:t>
            </a:r>
            <a:endParaRPr lang="en-US" sz="2400" dirty="0"/>
          </a:p>
          <a:p>
            <a:pPr lvl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/>
              <a:t>Quản</a:t>
            </a:r>
            <a:r>
              <a:rPr lang="en-US" sz="2400" dirty="0"/>
              <a:t> </a:t>
            </a:r>
            <a:r>
              <a:rPr lang="en-US" sz="2400" dirty="0" err="1"/>
              <a:t>lý</a:t>
            </a:r>
            <a:r>
              <a:rPr lang="en-US" sz="2400" dirty="0"/>
              <a:t> </a:t>
            </a:r>
            <a:r>
              <a:rPr lang="en-US" sz="2400" dirty="0" err="1"/>
              <a:t>chiến</a:t>
            </a:r>
            <a:r>
              <a:rPr lang="en-US" sz="2400" dirty="0"/>
              <a:t> </a:t>
            </a:r>
            <a:r>
              <a:rPr lang="en-US" sz="2400" dirty="0" err="1"/>
              <a:t>lược</a:t>
            </a:r>
            <a:r>
              <a:rPr lang="en-US" sz="2400" dirty="0"/>
              <a:t> </a:t>
            </a:r>
            <a:r>
              <a:rPr lang="en-US" sz="2400" dirty="0" err="1"/>
              <a:t>và</a:t>
            </a:r>
            <a:r>
              <a:rPr lang="en-US" sz="2400" dirty="0"/>
              <a:t> </a:t>
            </a:r>
            <a:r>
              <a:rPr lang="en-US" sz="2400" dirty="0" err="1"/>
              <a:t>kinh</a:t>
            </a:r>
            <a:r>
              <a:rPr lang="en-US" sz="2400" dirty="0"/>
              <a:t> </a:t>
            </a:r>
            <a:r>
              <a:rPr lang="en-US" sz="2400" dirty="0" err="1"/>
              <a:t>doanh</a:t>
            </a:r>
            <a:endParaRPr lang="en-US" sz="2400" dirty="0"/>
          </a:p>
          <a:p>
            <a:pPr lvl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/>
              <a:t>Khả</a:t>
            </a:r>
            <a:r>
              <a:rPr lang="en-US" sz="2400" dirty="0"/>
              <a:t> </a:t>
            </a:r>
            <a:r>
              <a:rPr lang="en-US" sz="2400" dirty="0" err="1"/>
              <a:t>năng</a:t>
            </a:r>
            <a:r>
              <a:rPr lang="en-US" sz="2400" dirty="0"/>
              <a:t> </a:t>
            </a:r>
            <a:r>
              <a:rPr lang="en-US" sz="2400" dirty="0" err="1"/>
              <a:t>lãnh</a:t>
            </a:r>
            <a:r>
              <a:rPr lang="en-US" sz="2400" dirty="0"/>
              <a:t> </a:t>
            </a:r>
            <a:r>
              <a:rPr lang="en-US" sz="2400" dirty="0" err="1"/>
              <a:t>đạo</a:t>
            </a:r>
            <a:r>
              <a:rPr lang="en-US" sz="2400" dirty="0"/>
              <a:t>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/>
              <a:t>Tam </a:t>
            </a:r>
            <a:r>
              <a:rPr lang="en-US" sz="3600" dirty="0" err="1"/>
              <a:t>giác</a:t>
            </a:r>
            <a:r>
              <a:rPr lang="en-US" sz="3600" dirty="0"/>
              <a:t> </a:t>
            </a:r>
            <a:r>
              <a:rPr lang="en-US" sz="3600" dirty="0" err="1"/>
              <a:t>tài</a:t>
            </a:r>
            <a:r>
              <a:rPr lang="en-US" sz="3600" dirty="0"/>
              <a:t> </a:t>
            </a:r>
            <a:r>
              <a:rPr lang="en-US" sz="3600" dirty="0" err="1"/>
              <a:t>năng</a:t>
            </a:r>
            <a:r>
              <a:rPr lang="en-US" sz="3600" dirty="0"/>
              <a:t> PMI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DF7F6D6-12E9-47E2-83FA-0573725E0372}" type="slidenum">
              <a:rPr lang="en-US" smtClean="0"/>
              <a:pPr>
                <a:defRPr/>
              </a:pPr>
              <a:t>29</a:t>
            </a:fld>
            <a:endParaRPr lang="en-US" dirty="0"/>
          </a:p>
        </p:txBody>
      </p:sp>
      <p:pic>
        <p:nvPicPr>
          <p:cNvPr id="1028" name="Picture 4" descr="http://pmi.miroslawdabrowsk.netdna-cdn.com/wp-content/uploads/2015/12/PMI-Talent-Triangle-min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2657475"/>
            <a:ext cx="4200525" cy="4200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327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189038"/>
            <a:ext cx="8229600" cy="4525962"/>
          </a:xfrm>
        </p:spPr>
        <p:txBody>
          <a:bodyPr/>
          <a:lstStyle/>
          <a:p>
            <a:pPr algn="just"/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tốt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trở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lãnh</a:t>
            </a:r>
            <a:r>
              <a:rPr lang="en-US" dirty="0"/>
              <a:t> </a:t>
            </a:r>
            <a:r>
              <a:rPr lang="en-US" dirty="0" err="1"/>
              <a:t>đạo</a:t>
            </a:r>
            <a:r>
              <a:rPr lang="en-US" dirty="0"/>
              <a:t>.</a:t>
            </a:r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r>
              <a:rPr lang="en-US" dirty="0" err="1"/>
              <a:t>Lãnh</a:t>
            </a:r>
            <a:r>
              <a:rPr lang="en-US" dirty="0"/>
              <a:t> </a:t>
            </a:r>
            <a:r>
              <a:rPr lang="en-US" dirty="0" err="1"/>
              <a:t>đạo</a:t>
            </a:r>
            <a:r>
              <a:rPr lang="en-US" dirty="0"/>
              <a:t> </a:t>
            </a:r>
            <a:r>
              <a:rPr lang="en-US" dirty="0" err="1"/>
              <a:t>giỏi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phong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tùy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hoàn</a:t>
            </a:r>
            <a:r>
              <a:rPr lang="en-US" dirty="0"/>
              <a:t> </a:t>
            </a:r>
            <a:r>
              <a:rPr lang="en-US" dirty="0" err="1"/>
              <a:t>cảnh</a:t>
            </a:r>
            <a:r>
              <a:rPr lang="en-US" dirty="0"/>
              <a:t>. </a:t>
            </a:r>
          </a:p>
          <a:p>
            <a:pPr algn="just"/>
            <a:r>
              <a:rPr lang="en-US" dirty="0"/>
              <a:t>6 </a:t>
            </a:r>
            <a:r>
              <a:rPr lang="en-US" dirty="0" err="1"/>
              <a:t>phong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lãnh</a:t>
            </a:r>
            <a:r>
              <a:rPr lang="en-US" dirty="0"/>
              <a:t> </a:t>
            </a:r>
            <a:r>
              <a:rPr lang="en-US" dirty="0" err="1"/>
              <a:t>đạo</a:t>
            </a:r>
            <a:r>
              <a:rPr lang="en-US" dirty="0"/>
              <a:t>*:</a:t>
            </a:r>
          </a:p>
          <a:p>
            <a:pPr marL="849313" lvl="1" indent="-457200" algn="just">
              <a:buFont typeface="+mj-lt"/>
              <a:buAutoNum type="arabicPeriod"/>
            </a:pPr>
            <a:r>
              <a:rPr lang="en-US" sz="2400" dirty="0" err="1"/>
              <a:t>Hướng</a:t>
            </a:r>
            <a:r>
              <a:rPr lang="en-US" sz="2400" dirty="0"/>
              <a:t> </a:t>
            </a:r>
            <a:r>
              <a:rPr lang="en-US" sz="2400" dirty="0" err="1"/>
              <a:t>mục</a:t>
            </a:r>
            <a:r>
              <a:rPr lang="en-US" sz="2400" dirty="0"/>
              <a:t> </a:t>
            </a:r>
            <a:r>
              <a:rPr lang="en-US" sz="2400" dirty="0" err="1"/>
              <a:t>tiêu</a:t>
            </a:r>
            <a:endParaRPr lang="en-US" sz="2400" dirty="0"/>
          </a:p>
          <a:p>
            <a:pPr marL="849313" lvl="1" indent="-457200" algn="just">
              <a:buFont typeface="+mj-lt"/>
              <a:buAutoNum type="arabicPeriod"/>
            </a:pPr>
            <a:r>
              <a:rPr lang="en-US" sz="2400" dirty="0" err="1"/>
              <a:t>Huấn</a:t>
            </a:r>
            <a:r>
              <a:rPr lang="en-US" sz="2400" dirty="0"/>
              <a:t> </a:t>
            </a:r>
            <a:r>
              <a:rPr lang="en-US" sz="2400" dirty="0" err="1"/>
              <a:t>luyện</a:t>
            </a:r>
            <a:r>
              <a:rPr lang="en-US" sz="2400" dirty="0"/>
              <a:t> </a:t>
            </a:r>
          </a:p>
          <a:p>
            <a:pPr marL="849313" lvl="1" indent="-457200" algn="just">
              <a:buFont typeface="+mj-lt"/>
              <a:buAutoNum type="arabicPeriod"/>
            </a:pPr>
            <a:r>
              <a:rPr lang="en-US" sz="2400" dirty="0" err="1"/>
              <a:t>Kết</a:t>
            </a:r>
            <a:r>
              <a:rPr lang="en-US" sz="2400" dirty="0"/>
              <a:t> </a:t>
            </a:r>
            <a:r>
              <a:rPr lang="en-US" sz="2400" dirty="0" err="1"/>
              <a:t>nối</a:t>
            </a:r>
            <a:endParaRPr lang="en-US" sz="2400" dirty="0"/>
          </a:p>
          <a:p>
            <a:pPr marL="849313" lvl="1" indent="-457200" algn="just">
              <a:buFont typeface="+mj-lt"/>
              <a:buAutoNum type="arabicPeriod"/>
            </a:pPr>
            <a:r>
              <a:rPr lang="en-US" sz="2400" dirty="0" err="1"/>
              <a:t>Dân</a:t>
            </a:r>
            <a:r>
              <a:rPr lang="en-US" sz="2400" dirty="0"/>
              <a:t> </a:t>
            </a:r>
            <a:r>
              <a:rPr lang="en-US" sz="2400" dirty="0" err="1"/>
              <a:t>chủ</a:t>
            </a:r>
            <a:endParaRPr lang="en-US" sz="2400" dirty="0"/>
          </a:p>
          <a:p>
            <a:pPr marL="849313" lvl="1" indent="-457200" algn="just">
              <a:buFont typeface="+mj-lt"/>
              <a:buAutoNum type="arabicPeriod"/>
            </a:pPr>
            <a:r>
              <a:rPr lang="en-US" sz="2400" dirty="0" err="1"/>
              <a:t>Chọn</a:t>
            </a:r>
            <a:r>
              <a:rPr lang="en-US" sz="2400" dirty="0"/>
              <a:t> </a:t>
            </a:r>
            <a:r>
              <a:rPr lang="en-US" sz="2400" dirty="0" err="1"/>
              <a:t>người</a:t>
            </a:r>
            <a:endParaRPr lang="en-US" sz="2400" dirty="0"/>
          </a:p>
          <a:p>
            <a:pPr marL="849313" lvl="1" indent="-457200" algn="just">
              <a:buFont typeface="+mj-lt"/>
              <a:buAutoNum type="arabicPeriod"/>
            </a:pPr>
            <a:r>
              <a:rPr lang="en-US" sz="2400" dirty="0" err="1"/>
              <a:t>Chỉ</a:t>
            </a:r>
            <a:r>
              <a:rPr lang="en-US" sz="2400" dirty="0"/>
              <a:t> </a:t>
            </a:r>
            <a:r>
              <a:rPr lang="en-US" sz="2400" dirty="0" err="1"/>
              <a:t>huy</a:t>
            </a:r>
            <a:r>
              <a:rPr lang="en-US" sz="2400" dirty="0"/>
              <a:t>.</a:t>
            </a:r>
          </a:p>
          <a:p>
            <a:pPr marL="849313" lvl="1" indent="-457200" algn="just">
              <a:buFont typeface="+mj-lt"/>
              <a:buAutoNum type="arabicPeriod"/>
            </a:pPr>
            <a:endParaRPr lang="en-US" dirty="0"/>
          </a:p>
          <a:p>
            <a:pPr marL="392113" lvl="1" indent="0" algn="just">
              <a:buNone/>
            </a:pPr>
            <a:endParaRPr lang="en-US" dirty="0"/>
          </a:p>
          <a:p>
            <a:pPr marL="109537" indent="0" algn="just">
              <a:buNone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>
            <a:noAutofit/>
          </a:bodyPr>
          <a:lstStyle/>
          <a:p>
            <a:pPr algn="ctr"/>
            <a:br>
              <a:rPr lang="vi-VN" sz="4000" dirty="0">
                <a:effectLst/>
              </a:rPr>
            </a:br>
            <a:r>
              <a:rPr lang="vi-VN" sz="4000" dirty="0">
                <a:effectLst/>
              </a:rPr>
              <a:t>Khả năng lãnh đạo</a:t>
            </a:r>
            <a:br>
              <a:rPr lang="vi-VN" sz="4000" dirty="0">
                <a:effectLst/>
              </a:rPr>
            </a:br>
            <a:endParaRPr lang="en-US" sz="4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DF7F6D6-12E9-47E2-83FA-0573725E0372}" type="slidenum">
              <a:rPr lang="en-US" smtClean="0"/>
              <a:pPr>
                <a:defRPr/>
              </a:pPr>
              <a:t>30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2209800" y="5986046"/>
            <a:ext cx="66294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1600" dirty="0"/>
              <a:t>* Daniel Goleman, Emotional Intelligence and Primal Leadership, 1990.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5400" y="3581400"/>
            <a:ext cx="3332316" cy="244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921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8">
            <a:extLst>
              <a:ext uri="{FF2B5EF4-FFF2-40B4-BE49-F238E27FC236}">
                <a16:creationId xmlns:a16="http://schemas.microsoft.com/office/drawing/2014/main" id="{A65E346A-CADB-4AF9-982E-575D0F6AFE2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0" r="6979"/>
          <a:stretch/>
        </p:blipFill>
        <p:spPr bwMode="auto">
          <a:xfrm>
            <a:off x="-152400" y="-323303"/>
            <a:ext cx="9296400" cy="7181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Prediksi: Manchester City Vs Chelsea – Berita Bola Terupdate, Live Score,  Jadwal &amp; Klasemen – Football5star.com">
            <a:extLst>
              <a:ext uri="{FF2B5EF4-FFF2-40B4-BE49-F238E27FC236}">
                <a16:creationId xmlns:a16="http://schemas.microsoft.com/office/drawing/2014/main" id="{6919E593-9143-4B0C-A9EC-963CB13D96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6450" y="4572000"/>
            <a:ext cx="4838700" cy="2572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46470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" y="990600"/>
            <a:ext cx="9010650" cy="4114800"/>
          </a:xfrm>
          <a:prstGeom prst="rect">
            <a:avLst/>
          </a:prstGeom>
        </p:spPr>
      </p:pic>
      <p:sp>
        <p:nvSpPr>
          <p:cNvPr id="24581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A4FB8A0-D8A7-49BC-9495-433B792AAC3C}" type="slidenum">
              <a:rPr lang="en-US" smtClean="0"/>
              <a:pPr>
                <a:defRPr/>
              </a:pPr>
              <a:t>32</a:t>
            </a:fld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1416472" y="3962400"/>
            <a:ext cx="1989265" cy="649290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305800" cy="1143000"/>
          </a:xfrm>
        </p:spPr>
        <p:txBody>
          <a:bodyPr>
            <a:noAutofit/>
          </a:bodyPr>
          <a:lstStyle/>
          <a:p>
            <a:pPr algn="ctr" eaLnBrk="1" hangingPunct="1">
              <a:defRPr/>
            </a:pP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Quản lý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nguồn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nhân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lực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dự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án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[1/4]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0200" y="5410200"/>
            <a:ext cx="1803572" cy="143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654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600200"/>
            <a:ext cx="8610600" cy="4038600"/>
          </a:xfrm>
        </p:spPr>
        <p:txBody>
          <a:bodyPr/>
          <a:lstStyle/>
          <a:p>
            <a:pPr algn="just">
              <a:lnSpc>
                <a:spcPct val="90000"/>
              </a:lnSpc>
              <a:spcBef>
                <a:spcPts val="600"/>
              </a:spcBef>
              <a:spcAft>
                <a:spcPts val="1800"/>
              </a:spcAft>
            </a:pPr>
            <a:r>
              <a:rPr lang="en-US" b="1" dirty="0" err="1"/>
              <a:t>Kế</a:t>
            </a:r>
            <a:r>
              <a:rPr lang="en-US" b="1" dirty="0"/>
              <a:t> </a:t>
            </a:r>
            <a:r>
              <a:rPr lang="en-US" b="1" dirty="0" err="1"/>
              <a:t>hoạch</a:t>
            </a:r>
            <a:r>
              <a:rPr lang="en-US" b="1" dirty="0"/>
              <a:t> quản lý </a:t>
            </a:r>
            <a:r>
              <a:rPr lang="en-US" b="1" dirty="0" err="1"/>
              <a:t>nguồn</a:t>
            </a:r>
            <a:r>
              <a:rPr lang="en-US" b="1" dirty="0"/>
              <a:t> </a:t>
            </a:r>
            <a:r>
              <a:rPr lang="en-US" b="1" dirty="0" err="1"/>
              <a:t>nhân</a:t>
            </a:r>
            <a:r>
              <a:rPr lang="en-US" b="1" dirty="0"/>
              <a:t> </a:t>
            </a:r>
            <a:r>
              <a:rPr lang="en-US" b="1" dirty="0" err="1"/>
              <a:t>lực</a:t>
            </a:r>
            <a:r>
              <a:rPr lang="en-US" b="1" dirty="0"/>
              <a:t> </a:t>
            </a:r>
            <a:r>
              <a:rPr lang="en-US" dirty="0"/>
              <a:t>(</a:t>
            </a:r>
            <a:r>
              <a:rPr lang="en-US" dirty="0">
                <a:solidFill>
                  <a:srgbClr val="0070C0"/>
                </a:solidFill>
              </a:rPr>
              <a:t>plan human resource management</a:t>
            </a:r>
            <a:r>
              <a:rPr lang="en-US" dirty="0"/>
              <a:t>):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và </a:t>
            </a: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hồ</a:t>
            </a:r>
            <a:r>
              <a:rPr lang="en-US" dirty="0"/>
              <a:t> </a:t>
            </a:r>
            <a:r>
              <a:rPr lang="en-US" dirty="0" err="1"/>
              <a:t>sơ</a:t>
            </a:r>
            <a:r>
              <a:rPr lang="en-US" dirty="0"/>
              <a:t> </a:t>
            </a:r>
            <a:r>
              <a:rPr lang="en-US" dirty="0" err="1"/>
              <a:t>vai</a:t>
            </a:r>
            <a:r>
              <a:rPr lang="en-US" dirty="0"/>
              <a:t> </a:t>
            </a:r>
            <a:r>
              <a:rPr lang="en-US" dirty="0" err="1"/>
              <a:t>trò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, </a:t>
            </a:r>
            <a:r>
              <a:rPr lang="en-US" dirty="0" err="1"/>
              <a:t>trách</a:t>
            </a:r>
            <a:r>
              <a:rPr lang="en-US" dirty="0"/>
              <a:t> </a:t>
            </a:r>
            <a:r>
              <a:rPr lang="en-US" dirty="0" err="1"/>
              <a:t>nhiệm</a:t>
            </a:r>
            <a:r>
              <a:rPr lang="en-US" dirty="0"/>
              <a:t>, và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cáo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mối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.</a:t>
            </a:r>
          </a:p>
          <a:p>
            <a:pPr algn="just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hoạch</a:t>
            </a:r>
            <a:r>
              <a:rPr lang="en-US" dirty="0"/>
              <a:t> quản lý </a:t>
            </a:r>
            <a:r>
              <a:rPr lang="en-US" dirty="0" err="1"/>
              <a:t>nguồn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lực</a:t>
            </a:r>
            <a:r>
              <a:rPr lang="en-US" dirty="0"/>
              <a:t> </a:t>
            </a:r>
            <a:r>
              <a:rPr lang="en-US" dirty="0" err="1"/>
              <a:t>bao</a:t>
            </a:r>
            <a:r>
              <a:rPr lang="en-US" dirty="0"/>
              <a:t> </a:t>
            </a:r>
            <a:r>
              <a:rPr lang="en-US" dirty="0" err="1"/>
              <a:t>gồm</a:t>
            </a:r>
            <a:r>
              <a:rPr lang="en-US" dirty="0"/>
              <a:t>:</a:t>
            </a:r>
          </a:p>
          <a:p>
            <a:pPr lvl="1" algn="just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/>
              <a:t>Sơ</a:t>
            </a:r>
            <a:r>
              <a:rPr lang="en-US" sz="2400" dirty="0"/>
              <a:t> </a:t>
            </a:r>
            <a:r>
              <a:rPr lang="en-US" sz="2400" dirty="0" err="1"/>
              <a:t>đồ</a:t>
            </a:r>
            <a:r>
              <a:rPr lang="en-US" sz="2400" dirty="0"/>
              <a:t> </a:t>
            </a:r>
            <a:r>
              <a:rPr lang="en-US" sz="2400" dirty="0" err="1"/>
              <a:t>tổ</a:t>
            </a:r>
            <a:r>
              <a:rPr lang="en-US" sz="2400" dirty="0"/>
              <a:t> </a:t>
            </a:r>
            <a:r>
              <a:rPr lang="en-US" sz="2400" dirty="0" err="1"/>
              <a:t>chức</a:t>
            </a:r>
            <a:r>
              <a:rPr lang="en-US" sz="2400" dirty="0"/>
              <a:t> </a:t>
            </a:r>
            <a:r>
              <a:rPr lang="en-US" sz="2400" dirty="0" err="1"/>
              <a:t>dự</a:t>
            </a:r>
            <a:r>
              <a:rPr lang="en-US" sz="2400" dirty="0"/>
              <a:t> </a:t>
            </a:r>
            <a:r>
              <a:rPr lang="en-US" sz="2400" dirty="0" err="1"/>
              <a:t>án</a:t>
            </a:r>
            <a:endParaRPr lang="en-US" sz="2400" dirty="0"/>
          </a:p>
          <a:p>
            <a:pPr lvl="1" algn="just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Ma </a:t>
            </a:r>
            <a:r>
              <a:rPr lang="en-US" sz="2400" dirty="0" err="1"/>
              <a:t>trận</a:t>
            </a:r>
            <a:r>
              <a:rPr lang="en-US" sz="2400" dirty="0"/>
              <a:t> </a:t>
            </a:r>
            <a:r>
              <a:rPr lang="en-US" sz="2400" dirty="0" err="1"/>
              <a:t>phân</a:t>
            </a:r>
            <a:r>
              <a:rPr lang="en-US" sz="2400" dirty="0"/>
              <a:t> </a:t>
            </a:r>
            <a:r>
              <a:rPr lang="en-US" sz="2400" dirty="0" err="1"/>
              <a:t>công</a:t>
            </a:r>
            <a:r>
              <a:rPr lang="en-US" sz="2400" dirty="0"/>
              <a:t> </a:t>
            </a:r>
            <a:r>
              <a:rPr lang="en-US" sz="2400" dirty="0" err="1"/>
              <a:t>trách</a:t>
            </a:r>
            <a:r>
              <a:rPr lang="en-US" sz="2400" dirty="0"/>
              <a:t> </a:t>
            </a:r>
            <a:r>
              <a:rPr lang="en-US" sz="2400" dirty="0" err="1"/>
              <a:t>nhiệm</a:t>
            </a:r>
            <a:endParaRPr lang="en-US" sz="2400" dirty="0"/>
          </a:p>
          <a:p>
            <a:pPr lvl="1" algn="just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/>
              <a:t>Kế</a:t>
            </a:r>
            <a:r>
              <a:rPr lang="en-US" sz="2400" dirty="0"/>
              <a:t> </a:t>
            </a:r>
            <a:r>
              <a:rPr lang="en-US" sz="2400" dirty="0" err="1"/>
              <a:t>hoạch</a:t>
            </a:r>
            <a:r>
              <a:rPr lang="en-US" sz="2400" dirty="0"/>
              <a:t> quản lý </a:t>
            </a:r>
            <a:r>
              <a:rPr lang="en-US" sz="2400" dirty="0" err="1"/>
              <a:t>nhân</a:t>
            </a:r>
            <a:r>
              <a:rPr lang="en-US" sz="2400" dirty="0"/>
              <a:t> </a:t>
            </a:r>
            <a:r>
              <a:rPr lang="en-US" sz="2400" dirty="0" err="1"/>
              <a:t>viên</a:t>
            </a:r>
            <a:endParaRPr lang="en-US" sz="2400" dirty="0"/>
          </a:p>
          <a:p>
            <a:pPr lvl="1" algn="just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/>
              <a:t>Nhật</a:t>
            </a:r>
            <a:r>
              <a:rPr lang="en-US" sz="2400" dirty="0"/>
              <a:t> </a:t>
            </a:r>
            <a:r>
              <a:rPr lang="en-US" sz="2400" dirty="0" err="1"/>
              <a:t>đồ</a:t>
            </a:r>
            <a:r>
              <a:rPr lang="en-US" sz="2400" dirty="0"/>
              <a:t> </a:t>
            </a:r>
            <a:r>
              <a:rPr lang="en-US" sz="2400" dirty="0" err="1"/>
              <a:t>nguồn</a:t>
            </a:r>
            <a:r>
              <a:rPr lang="en-US" sz="2400" dirty="0"/>
              <a:t> </a:t>
            </a:r>
            <a:r>
              <a:rPr lang="en-US" sz="2400" dirty="0" err="1"/>
              <a:t>lực</a:t>
            </a:r>
            <a:r>
              <a:rPr lang="en-US" sz="2400" dirty="0"/>
              <a:t>.</a:t>
            </a:r>
          </a:p>
        </p:txBody>
      </p:sp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74638"/>
            <a:ext cx="9144000" cy="868362"/>
          </a:xfrm>
        </p:spPr>
        <p:txBody>
          <a:bodyPr>
            <a:noAutofit/>
          </a:bodyPr>
          <a:lstStyle/>
          <a:p>
            <a:pPr algn="ctr"/>
            <a:r>
              <a:rPr lang="en-US" sz="4000" dirty="0">
                <a:solidFill>
                  <a:srgbClr val="FF0000"/>
                </a:solidFill>
              </a:rPr>
              <a:t>1. </a:t>
            </a:r>
            <a:r>
              <a:rPr lang="en-US" sz="4000" dirty="0" err="1">
                <a:solidFill>
                  <a:srgbClr val="FF0000"/>
                </a:solidFill>
              </a:rPr>
              <a:t>Kế</a:t>
            </a:r>
            <a:r>
              <a:rPr lang="en-US" sz="4000" dirty="0">
                <a:solidFill>
                  <a:srgbClr val="FF0000"/>
                </a:solidFill>
              </a:rPr>
              <a:t> </a:t>
            </a:r>
            <a:r>
              <a:rPr lang="en-US" sz="4000" dirty="0" err="1">
                <a:solidFill>
                  <a:srgbClr val="FF0000"/>
                </a:solidFill>
              </a:rPr>
              <a:t>hoạch</a:t>
            </a:r>
            <a:r>
              <a:rPr lang="en-US" sz="4000" dirty="0">
                <a:solidFill>
                  <a:srgbClr val="FF0000"/>
                </a:solidFill>
              </a:rPr>
              <a:t> quản lý </a:t>
            </a:r>
            <a:r>
              <a:rPr lang="en-US" sz="4000" dirty="0" err="1">
                <a:solidFill>
                  <a:srgbClr val="FF0000"/>
                </a:solidFill>
              </a:rPr>
              <a:t>nguồn</a:t>
            </a:r>
            <a:r>
              <a:rPr lang="en-US" sz="4000" dirty="0">
                <a:solidFill>
                  <a:srgbClr val="FF0000"/>
                </a:solidFill>
              </a:rPr>
              <a:t> </a:t>
            </a:r>
            <a:r>
              <a:rPr lang="en-US" sz="4000" dirty="0" err="1">
                <a:solidFill>
                  <a:srgbClr val="FF0000"/>
                </a:solidFill>
              </a:rPr>
              <a:t>nhân</a:t>
            </a:r>
            <a:r>
              <a:rPr lang="en-US" sz="4000" dirty="0">
                <a:solidFill>
                  <a:srgbClr val="FF0000"/>
                </a:solidFill>
              </a:rPr>
              <a:t> </a:t>
            </a:r>
            <a:r>
              <a:rPr lang="en-US" sz="4000" dirty="0" err="1">
                <a:solidFill>
                  <a:srgbClr val="FF0000"/>
                </a:solidFill>
              </a:rPr>
              <a:t>lực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34821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A6495BC-466D-426D-99E7-6109E92CD6A3}" type="slidenum">
              <a:rPr lang="en-US" smtClean="0"/>
              <a:pPr>
                <a:defRPr/>
              </a:pPr>
              <a:t>33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4419600"/>
            <a:ext cx="1718541" cy="19116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vi-VN" sz="3600" dirty="0"/>
              <a:t>Ví dụ, sơ đồ tổ chức dự án HTTT</a:t>
            </a:r>
            <a:endParaRPr lang="en-US" sz="3600" dirty="0"/>
          </a:p>
        </p:txBody>
      </p:sp>
      <p:sp>
        <p:nvSpPr>
          <p:cNvPr id="35845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buFontTx/>
              <a:buNone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Tx/>
              <a:buNone/>
              <a:defRPr/>
            </a:pPr>
            <a:fld id="{D19D784B-72A3-4AB6-971D-C784D58BD8E6}" type="slidenum">
              <a:rPr lang="en-US" smtClean="0"/>
              <a:pPr>
                <a:buFontTx/>
                <a:buNone/>
                <a:defRPr/>
              </a:pPr>
              <a:t>34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6800"/>
            <a:ext cx="9144000" cy="58117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3600" dirty="0" err="1"/>
              <a:t>Xác</a:t>
            </a:r>
            <a:r>
              <a:rPr lang="en-US" sz="3600" dirty="0"/>
              <a:t> </a:t>
            </a:r>
            <a:r>
              <a:rPr lang="en-US" sz="3600" dirty="0" err="1"/>
              <a:t>định</a:t>
            </a:r>
            <a:r>
              <a:rPr lang="en-US" sz="3600" dirty="0"/>
              <a:t> và </a:t>
            </a:r>
            <a:r>
              <a:rPr lang="en-US" sz="3600" dirty="0" err="1"/>
              <a:t>phân</a:t>
            </a:r>
            <a:r>
              <a:rPr lang="en-US" sz="3600" dirty="0"/>
              <a:t> </a:t>
            </a:r>
            <a:r>
              <a:rPr lang="en-US" sz="3600" dirty="0" err="1"/>
              <a:t>bổ</a:t>
            </a:r>
            <a:r>
              <a:rPr lang="en-US" sz="3600" dirty="0"/>
              <a:t> </a:t>
            </a:r>
            <a:r>
              <a:rPr lang="en-US" sz="3600" dirty="0" err="1"/>
              <a:t>công</a:t>
            </a:r>
            <a:r>
              <a:rPr lang="en-US" sz="3600" dirty="0"/>
              <a:t> </a:t>
            </a:r>
            <a:r>
              <a:rPr lang="en-US" sz="3600" dirty="0" err="1"/>
              <a:t>việc</a:t>
            </a:r>
            <a:endParaRPr lang="en-US" sz="3600" dirty="0"/>
          </a:p>
        </p:txBody>
      </p:sp>
      <p:sp>
        <p:nvSpPr>
          <p:cNvPr id="36869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buFontTx/>
              <a:buNone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Tx/>
              <a:buNone/>
              <a:defRPr/>
            </a:pPr>
            <a:fld id="{810CE70A-6ED6-4B9F-ADAD-D6ECB0A57801}" type="slidenum">
              <a:rPr lang="en-US" smtClean="0"/>
              <a:pPr>
                <a:buFontTx/>
                <a:buNone/>
                <a:defRPr/>
              </a:pPr>
              <a:t>35</a:t>
            </a:fld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79" y="1239515"/>
            <a:ext cx="9124122" cy="46278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828800"/>
            <a:ext cx="8077200" cy="3276600"/>
          </a:xfrm>
        </p:spPr>
        <p:txBody>
          <a:bodyPr/>
          <a:lstStyle/>
          <a:p>
            <a:pPr algn="just">
              <a:spcBef>
                <a:spcPts val="1200"/>
              </a:spcBef>
              <a:spcAft>
                <a:spcPts val="1200"/>
              </a:spcAft>
            </a:pPr>
            <a:r>
              <a:rPr lang="en-US" b="1" dirty="0"/>
              <a:t>Ma </a:t>
            </a:r>
            <a:r>
              <a:rPr lang="en-US" b="1" dirty="0" err="1"/>
              <a:t>trận</a:t>
            </a:r>
            <a:r>
              <a:rPr lang="en-US" b="1" dirty="0"/>
              <a:t> </a:t>
            </a:r>
            <a:r>
              <a:rPr lang="en-US" b="1" dirty="0" err="1"/>
              <a:t>phân</a:t>
            </a:r>
            <a:r>
              <a:rPr lang="en-US" b="1" dirty="0"/>
              <a:t> </a:t>
            </a:r>
            <a:r>
              <a:rPr lang="en-US" b="1" dirty="0" err="1"/>
              <a:t>công</a:t>
            </a:r>
            <a:r>
              <a:rPr lang="en-US" b="1" dirty="0"/>
              <a:t> </a:t>
            </a:r>
            <a:r>
              <a:rPr lang="en-US" b="1" dirty="0" err="1"/>
              <a:t>trách</a:t>
            </a:r>
            <a:r>
              <a:rPr lang="en-US" b="1" dirty="0"/>
              <a:t> </a:t>
            </a:r>
            <a:r>
              <a:rPr lang="en-US" b="1" dirty="0" err="1"/>
              <a:t>nhiệm</a:t>
            </a:r>
            <a:r>
              <a:rPr lang="en-US" b="1" dirty="0"/>
              <a:t> </a:t>
            </a:r>
            <a:r>
              <a:rPr lang="en-US" dirty="0"/>
              <a:t>- </a:t>
            </a:r>
            <a:r>
              <a:rPr lang="en-US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RAM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(</a:t>
            </a:r>
            <a:r>
              <a:rPr lang="en-US" dirty="0">
                <a:solidFill>
                  <a:srgbClr val="0070C0"/>
                </a:solidFill>
              </a:rPr>
              <a:t>Responsibility Assignment Matrix</a:t>
            </a:r>
            <a:r>
              <a:rPr lang="en-US" dirty="0"/>
              <a:t>):</a:t>
            </a:r>
            <a:r>
              <a:rPr lang="en-US" b="1" dirty="0"/>
              <a:t> </a:t>
            </a:r>
            <a:r>
              <a:rPr lang="en-US" dirty="0"/>
              <a:t>ma </a:t>
            </a:r>
            <a:r>
              <a:rPr lang="en-US" dirty="0" err="1"/>
              <a:t>trận</a:t>
            </a:r>
            <a:r>
              <a:rPr lang="en-US" dirty="0"/>
              <a:t> </a:t>
            </a:r>
            <a:r>
              <a:rPr lang="en-US" dirty="0" err="1"/>
              <a:t>gán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WBS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trách</a:t>
            </a:r>
            <a:r>
              <a:rPr lang="en-US" dirty="0"/>
              <a:t> </a:t>
            </a:r>
            <a:r>
              <a:rPr lang="en-US" dirty="0" err="1"/>
              <a:t>nhiệm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OBS</a:t>
            </a:r>
            <a:r>
              <a:rPr lang="en-US" dirty="0"/>
              <a:t>*.</a:t>
            </a:r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RAM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nhau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đáp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yêu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 </a:t>
            </a:r>
            <a:r>
              <a:rPr lang="en-US" dirty="0" err="1"/>
              <a:t>chuyên</a:t>
            </a:r>
            <a:r>
              <a:rPr lang="en-US" dirty="0"/>
              <a:t> </a:t>
            </a:r>
            <a:r>
              <a:rPr lang="en-US" dirty="0" err="1"/>
              <a:t>biệt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. </a:t>
            </a:r>
          </a:p>
        </p:txBody>
      </p:sp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Ma </a:t>
            </a:r>
            <a:r>
              <a:rPr lang="en-US" sz="4000" dirty="0" err="1"/>
              <a:t>trận</a:t>
            </a:r>
            <a:r>
              <a:rPr lang="en-US" sz="4000" dirty="0"/>
              <a:t> </a:t>
            </a:r>
            <a:r>
              <a:rPr lang="en-US" sz="4000" dirty="0" err="1"/>
              <a:t>phân</a:t>
            </a:r>
            <a:r>
              <a:rPr lang="en-US" sz="4000" dirty="0"/>
              <a:t> </a:t>
            </a:r>
            <a:r>
              <a:rPr lang="en-US" sz="4000" dirty="0" err="1"/>
              <a:t>công</a:t>
            </a:r>
            <a:r>
              <a:rPr lang="en-US" sz="4000" dirty="0"/>
              <a:t> </a:t>
            </a:r>
            <a:r>
              <a:rPr lang="en-US" sz="4000" dirty="0" err="1"/>
              <a:t>trách</a:t>
            </a:r>
            <a:r>
              <a:rPr lang="en-US" sz="4000" dirty="0"/>
              <a:t> </a:t>
            </a:r>
            <a:r>
              <a:rPr lang="en-US" sz="4000" dirty="0" err="1"/>
              <a:t>nhiệm</a:t>
            </a:r>
            <a:endParaRPr lang="en-US" sz="4000" dirty="0"/>
          </a:p>
        </p:txBody>
      </p:sp>
      <p:sp>
        <p:nvSpPr>
          <p:cNvPr id="37893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EDC65B6-91D6-4BBB-B27F-270395A20098}" type="slidenum">
              <a:rPr lang="en-US" smtClean="0"/>
              <a:pPr>
                <a:defRPr/>
              </a:pPr>
              <a:t>36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3429000" y="5715000"/>
            <a:ext cx="53340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2000" dirty="0"/>
              <a:t>* OBS: Organizational Breakdown Structure 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3600" dirty="0" err="1"/>
              <a:t>Ví</a:t>
            </a:r>
            <a:r>
              <a:rPr lang="en-US" sz="3600" dirty="0"/>
              <a:t> </a:t>
            </a:r>
            <a:r>
              <a:rPr lang="en-US" sz="3600" dirty="0" err="1"/>
              <a:t>dụ</a:t>
            </a:r>
            <a:r>
              <a:rPr lang="en-US" sz="3600" dirty="0"/>
              <a:t>, RAM </a:t>
            </a:r>
            <a:r>
              <a:rPr lang="en-US" sz="3600" dirty="0" err="1"/>
              <a:t>của</a:t>
            </a:r>
            <a:r>
              <a:rPr lang="en-US" sz="3600" dirty="0"/>
              <a:t> </a:t>
            </a:r>
            <a:r>
              <a:rPr lang="en-US" sz="3600" dirty="0" err="1"/>
              <a:t>dự</a:t>
            </a:r>
            <a:r>
              <a:rPr lang="en-US" sz="3600" dirty="0"/>
              <a:t> </a:t>
            </a:r>
            <a:r>
              <a:rPr lang="en-US" sz="3600" dirty="0" err="1"/>
              <a:t>án</a:t>
            </a:r>
            <a:r>
              <a:rPr lang="en-US" sz="3600" dirty="0"/>
              <a:t> </a:t>
            </a:r>
            <a:r>
              <a:rPr lang="en-US" sz="3600"/>
              <a:t>SMART D01</a:t>
            </a:r>
            <a:endParaRPr lang="en-US" sz="3600" dirty="0"/>
          </a:p>
        </p:txBody>
      </p:sp>
      <p:sp>
        <p:nvSpPr>
          <p:cNvPr id="38917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buFontTx/>
              <a:buNone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Tx/>
              <a:buNone/>
              <a:defRPr/>
            </a:pPr>
            <a:fld id="{A083A689-2E64-4820-85C1-4DA94FD073A7}" type="slidenum">
              <a:rPr lang="en-US" smtClean="0"/>
              <a:pPr>
                <a:buFontTx/>
                <a:buNone/>
                <a:defRPr/>
              </a:pPr>
              <a:t>37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9200"/>
            <a:ext cx="9144000" cy="4572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Autofit/>
          </a:bodyPr>
          <a:lstStyle/>
          <a:p>
            <a:r>
              <a:rPr lang="en-US" sz="3600" dirty="0" err="1"/>
              <a:t>Ví</a:t>
            </a:r>
            <a:r>
              <a:rPr lang="en-US" sz="3600" dirty="0"/>
              <a:t> </a:t>
            </a:r>
            <a:r>
              <a:rPr lang="en-US" sz="3600" dirty="0" err="1"/>
              <a:t>dụ</a:t>
            </a:r>
            <a:r>
              <a:rPr lang="en-US" sz="3600" dirty="0"/>
              <a:t>, RACI </a:t>
            </a:r>
            <a:r>
              <a:rPr lang="en-US" sz="3600" dirty="0" err="1"/>
              <a:t>của</a:t>
            </a:r>
            <a:r>
              <a:rPr lang="en-US" sz="3600" dirty="0"/>
              <a:t> </a:t>
            </a:r>
            <a:r>
              <a:rPr lang="en-US" sz="3600" dirty="0" err="1"/>
              <a:t>dự</a:t>
            </a:r>
            <a:r>
              <a:rPr lang="en-US" sz="3600" dirty="0"/>
              <a:t> </a:t>
            </a:r>
            <a:r>
              <a:rPr lang="en-US" sz="3600" dirty="0" err="1"/>
              <a:t>án</a:t>
            </a:r>
            <a:r>
              <a:rPr lang="en-US" sz="3600" dirty="0"/>
              <a:t> </a:t>
            </a:r>
            <a:r>
              <a:rPr lang="en-US" sz="3600"/>
              <a:t>SMART D01</a:t>
            </a:r>
            <a:endParaRPr lang="en-US" sz="3600" dirty="0"/>
          </a:p>
        </p:txBody>
      </p:sp>
      <p:sp>
        <p:nvSpPr>
          <p:cNvPr id="40966" name="Footer Placeholder 7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buFontTx/>
              <a:buNone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Tx/>
              <a:buNone/>
              <a:defRPr/>
            </a:pPr>
            <a:fld id="{42601972-3A38-41CC-8F76-1ED103C0F30A}" type="slidenum">
              <a:rPr lang="en-US" smtClean="0"/>
              <a:pPr>
                <a:buFontTx/>
                <a:buNone/>
                <a:defRPr/>
              </a:pPr>
              <a:t>38</a:t>
            </a:fld>
            <a:endParaRPr lang="en-US" dirty="0"/>
          </a:p>
        </p:txBody>
      </p:sp>
      <p:sp>
        <p:nvSpPr>
          <p:cNvPr id="40963" name="Text Box 4"/>
          <p:cNvSpPr txBox="1">
            <a:spLocks noChangeArrowheads="1"/>
          </p:cNvSpPr>
          <p:nvPr/>
        </p:nvSpPr>
        <p:spPr bwMode="auto">
          <a:xfrm>
            <a:off x="3929843" y="4648200"/>
            <a:ext cx="4909357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</a:t>
            </a:r>
            <a:r>
              <a:rPr lang="en-US" sz="2400" dirty="0"/>
              <a:t>esponsibility - </a:t>
            </a:r>
            <a:r>
              <a:rPr lang="en-US" sz="2400" dirty="0" err="1"/>
              <a:t>Trách</a:t>
            </a:r>
            <a:r>
              <a:rPr lang="en-US" sz="2400" dirty="0"/>
              <a:t> </a:t>
            </a:r>
            <a:r>
              <a:rPr lang="en-US" sz="2400" dirty="0" err="1"/>
              <a:t>nhiệm</a:t>
            </a:r>
            <a:endParaRPr lang="en-US" sz="2400" dirty="0"/>
          </a:p>
          <a:p>
            <a:r>
              <a:rPr lang="en-US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</a:t>
            </a:r>
            <a:r>
              <a:rPr lang="en-US" sz="2400" dirty="0"/>
              <a:t>ccountability - </a:t>
            </a:r>
            <a:r>
              <a:rPr lang="en-US" sz="2400" dirty="0" err="1"/>
              <a:t>Trách</a:t>
            </a:r>
            <a:r>
              <a:rPr lang="en-US" sz="2400" dirty="0"/>
              <a:t> </a:t>
            </a:r>
            <a:r>
              <a:rPr lang="en-US" sz="2400" dirty="0" err="1"/>
              <a:t>nhiệm</a:t>
            </a:r>
            <a:r>
              <a:rPr lang="en-US" sz="2400" dirty="0"/>
              <a:t> </a:t>
            </a:r>
            <a:r>
              <a:rPr lang="en-US" sz="2400" dirty="0" err="1"/>
              <a:t>chính</a:t>
            </a:r>
            <a:endParaRPr lang="en-US" sz="2400" dirty="0"/>
          </a:p>
          <a:p>
            <a:r>
              <a:rPr lang="en-US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  <a:r>
              <a:rPr lang="en-US" sz="2400" dirty="0"/>
              <a:t>onsultation  </a:t>
            </a:r>
            <a:r>
              <a:rPr lang="en-US" sz="2000" dirty="0"/>
              <a:t> </a:t>
            </a:r>
            <a:r>
              <a:rPr lang="en-US" sz="1200" dirty="0"/>
              <a:t> </a:t>
            </a:r>
            <a:r>
              <a:rPr lang="en-US" sz="2400" dirty="0"/>
              <a:t>- </a:t>
            </a:r>
            <a:r>
              <a:rPr lang="en-US" sz="2400" dirty="0" err="1"/>
              <a:t>Tư</a:t>
            </a:r>
            <a:r>
              <a:rPr lang="en-US" sz="2400" dirty="0"/>
              <a:t> </a:t>
            </a:r>
            <a:r>
              <a:rPr lang="en-US" sz="2400" dirty="0" err="1"/>
              <a:t>vấn</a:t>
            </a:r>
            <a:endParaRPr lang="en-US" sz="2400" dirty="0"/>
          </a:p>
          <a:p>
            <a:r>
              <a:rPr lang="en-US" sz="1800" b="1" dirty="0">
                <a:solidFill>
                  <a:srgbClr val="0070C0"/>
                </a:solidFill>
              </a:rPr>
              <a:t> </a:t>
            </a:r>
            <a:r>
              <a:rPr lang="en-US" sz="2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</a:t>
            </a:r>
            <a:r>
              <a:rPr lang="en-US" sz="2400" dirty="0"/>
              <a:t>nformed       </a:t>
            </a:r>
            <a:r>
              <a:rPr lang="en-US" sz="1400" dirty="0"/>
              <a:t> </a:t>
            </a:r>
            <a:r>
              <a:rPr lang="en-US" sz="2400" dirty="0"/>
              <a:t> - Thông </a:t>
            </a:r>
            <a:r>
              <a:rPr lang="en-US" sz="2400" dirty="0" err="1"/>
              <a:t>báo</a:t>
            </a:r>
            <a:endParaRPr lang="en-US" sz="2400" dirty="0"/>
          </a:p>
          <a:p>
            <a:r>
              <a:rPr lang="en-US" sz="2400" dirty="0">
                <a:sym typeface="Wingdings" panose="05000000000000000000" pitchFamily="2" charset="2"/>
              </a:rPr>
              <a:t> </a:t>
            </a:r>
            <a:r>
              <a:rPr lang="en-US" sz="2400" dirty="0" err="1">
                <a:sym typeface="Wingdings" panose="05000000000000000000" pitchFamily="2" charset="2"/>
              </a:rPr>
              <a:t>Có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nhiều</a:t>
            </a:r>
            <a:r>
              <a:rPr lang="en-US" sz="2400" dirty="0">
                <a:sym typeface="Wingdings" panose="05000000000000000000" pitchFamily="2" charset="2"/>
              </a:rPr>
              <a:t> R, </a:t>
            </a:r>
            <a:r>
              <a:rPr lang="en-US" sz="2400" dirty="0" err="1">
                <a:sym typeface="Wingdings" panose="05000000000000000000" pitchFamily="2" charset="2"/>
              </a:rPr>
              <a:t>nhưng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chỉ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có</a:t>
            </a:r>
            <a:r>
              <a:rPr lang="en-US" sz="2400" dirty="0">
                <a:sym typeface="Wingdings" panose="05000000000000000000" pitchFamily="2" charset="2"/>
              </a:rPr>
              <a:t> 1 A.</a:t>
            </a:r>
            <a:endParaRPr lang="en-US" sz="2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54" y="1295400"/>
            <a:ext cx="8937332" cy="2971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4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524000"/>
            <a:ext cx="8001000" cy="3810000"/>
          </a:xfrm>
        </p:spPr>
        <p:txBody>
          <a:bodyPr/>
          <a:lstStyle/>
          <a:p>
            <a:pPr algn="just"/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Kế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hoạch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quản lý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nhân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viên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/>
              <a:t>(</a:t>
            </a:r>
            <a:r>
              <a:rPr lang="en-US" dirty="0">
                <a:solidFill>
                  <a:srgbClr val="0070C0"/>
                </a:solidFill>
              </a:rPr>
              <a:t>staffing management plan</a:t>
            </a:r>
            <a:r>
              <a:rPr lang="en-US" dirty="0"/>
              <a:t>):</a:t>
            </a:r>
            <a:r>
              <a:rPr lang="en-US" b="1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 và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thêm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khỏi</a:t>
            </a:r>
            <a:r>
              <a:rPr lang="en-US" dirty="0"/>
              <a:t> </a:t>
            </a:r>
            <a:r>
              <a:rPr lang="en-US" dirty="0" err="1"/>
              <a:t>đội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.</a:t>
            </a:r>
          </a:p>
          <a:p>
            <a:pPr algn="just"/>
            <a:endParaRPr lang="en-US" dirty="0"/>
          </a:p>
          <a:p>
            <a:pPr algn="just"/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Nhật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đồ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nguồn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lực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/>
              <a:t>(</a:t>
            </a:r>
            <a:r>
              <a:rPr lang="en-US" dirty="0">
                <a:solidFill>
                  <a:srgbClr val="0070C0"/>
                </a:solidFill>
              </a:rPr>
              <a:t>resource histogram</a:t>
            </a:r>
            <a:r>
              <a:rPr lang="en-US" dirty="0"/>
              <a:t>): </a:t>
            </a:r>
            <a:r>
              <a:rPr lang="en-US" dirty="0" err="1"/>
              <a:t>dạng</a:t>
            </a:r>
            <a:r>
              <a:rPr lang="en-US" dirty="0"/>
              <a:t> </a:t>
            </a:r>
            <a:r>
              <a:rPr lang="en-US" dirty="0" err="1"/>
              <a:t>cột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lượng</a:t>
            </a:r>
            <a:r>
              <a:rPr lang="en-US" dirty="0"/>
              <a:t> </a:t>
            </a:r>
            <a:r>
              <a:rPr lang="en-US" dirty="0" err="1"/>
              <a:t>nguồn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lực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phối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. </a:t>
            </a:r>
          </a:p>
        </p:txBody>
      </p:sp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>
            <a:noAutofit/>
          </a:bodyPr>
          <a:lstStyle/>
          <a:p>
            <a:pPr algn="ctr"/>
            <a:r>
              <a:rPr lang="vi-VN" sz="4000" dirty="0"/>
              <a:t>Kế hoạch quản lý nhân viên</a:t>
            </a:r>
            <a:endParaRPr lang="en-US" sz="4000" dirty="0"/>
          </a:p>
        </p:txBody>
      </p:sp>
      <p:sp>
        <p:nvSpPr>
          <p:cNvPr id="41989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82F491C-0DB5-4247-9EB0-1BEB32805F53}" type="slidenum">
              <a:rPr lang="en-US" smtClean="0"/>
              <a:pPr>
                <a:defRPr/>
              </a:pPr>
              <a:t>39</a:t>
            </a:fld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2601" y="4914900"/>
            <a:ext cx="1600200" cy="1943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3600" dirty="0" err="1"/>
              <a:t>Ví</a:t>
            </a:r>
            <a:r>
              <a:rPr lang="en-US" sz="3600" dirty="0"/>
              <a:t> </a:t>
            </a:r>
            <a:r>
              <a:rPr lang="en-US" sz="3600" dirty="0" err="1"/>
              <a:t>dụ</a:t>
            </a:r>
            <a:r>
              <a:rPr lang="en-US" sz="3600" dirty="0"/>
              <a:t>, </a:t>
            </a:r>
            <a:r>
              <a:rPr lang="en-US" sz="3600" dirty="0" err="1"/>
              <a:t>nhật</a:t>
            </a:r>
            <a:r>
              <a:rPr lang="en-US" sz="3600" dirty="0"/>
              <a:t> </a:t>
            </a:r>
            <a:r>
              <a:rPr lang="en-US" sz="3600" dirty="0" err="1"/>
              <a:t>đồ</a:t>
            </a:r>
            <a:r>
              <a:rPr lang="en-US" sz="3600" dirty="0"/>
              <a:t> </a:t>
            </a:r>
            <a:r>
              <a:rPr lang="en-US" sz="3600" dirty="0" err="1"/>
              <a:t>nguồn</a:t>
            </a:r>
            <a:r>
              <a:rPr lang="en-US" sz="3600" dirty="0"/>
              <a:t> </a:t>
            </a:r>
            <a:r>
              <a:rPr lang="en-US" sz="3600" dirty="0" err="1"/>
              <a:t>lực</a:t>
            </a:r>
            <a:endParaRPr lang="en-US" sz="3600" dirty="0"/>
          </a:p>
        </p:txBody>
      </p:sp>
      <p:sp>
        <p:nvSpPr>
          <p:cNvPr id="43013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buFontTx/>
              <a:buNone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Tx/>
              <a:buNone/>
              <a:defRPr/>
            </a:pPr>
            <a:fld id="{0FB58D0B-65DB-4B3C-9292-8B6D37ED86F9}" type="slidenum">
              <a:rPr lang="en-US" smtClean="0"/>
              <a:pPr>
                <a:buFontTx/>
                <a:buNone/>
                <a:defRPr/>
              </a:pPr>
              <a:t>40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9200"/>
            <a:ext cx="9144000" cy="5638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" y="990600"/>
            <a:ext cx="9010650" cy="4114800"/>
          </a:xfrm>
          <a:prstGeom prst="rect">
            <a:avLst/>
          </a:prstGeom>
        </p:spPr>
      </p:pic>
      <p:sp>
        <p:nvSpPr>
          <p:cNvPr id="24581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A4FB8A0-D8A7-49BC-9495-433B792AAC3C}" type="slidenum">
              <a:rPr lang="en-US" smtClean="0"/>
              <a:pPr>
                <a:defRPr/>
              </a:pPr>
              <a:t>41</a:t>
            </a:fld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3429000" y="3886200"/>
            <a:ext cx="2766060" cy="451718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305800" cy="1143000"/>
          </a:xfrm>
        </p:spPr>
        <p:txBody>
          <a:bodyPr>
            <a:noAutofit/>
          </a:bodyPr>
          <a:lstStyle/>
          <a:p>
            <a:pPr algn="ctr" eaLnBrk="1" hangingPunct="1">
              <a:defRPr/>
            </a:pP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Quản lý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nguồn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nhân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lực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dự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án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[2/4]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0200" y="5334000"/>
            <a:ext cx="1723292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699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48" y="-16228"/>
            <a:ext cx="9120052" cy="6874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785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76400"/>
            <a:ext cx="8229600" cy="3733800"/>
          </a:xfrm>
        </p:spPr>
        <p:txBody>
          <a:bodyPr/>
          <a:lstStyle/>
          <a:p>
            <a:pPr algn="just">
              <a:spcBef>
                <a:spcPts val="600"/>
              </a:spcBef>
              <a:spcAft>
                <a:spcPts val="0"/>
              </a:spcAft>
            </a:pPr>
            <a:r>
              <a:rPr lang="en-US" b="1" dirty="0" err="1"/>
              <a:t>Thiết</a:t>
            </a:r>
            <a:r>
              <a:rPr lang="en-US" b="1" dirty="0"/>
              <a:t> </a:t>
            </a:r>
            <a:r>
              <a:rPr lang="en-US" b="1" dirty="0" err="1"/>
              <a:t>lập</a:t>
            </a:r>
            <a:r>
              <a:rPr lang="en-US" b="1" dirty="0"/>
              <a:t> </a:t>
            </a:r>
            <a:r>
              <a:rPr lang="en-US" b="1" dirty="0" err="1"/>
              <a:t>đội</a:t>
            </a:r>
            <a:r>
              <a:rPr lang="en-US" b="1" dirty="0"/>
              <a:t> </a:t>
            </a:r>
            <a:r>
              <a:rPr lang="en-US" b="1" dirty="0" err="1"/>
              <a:t>dự</a:t>
            </a:r>
            <a:r>
              <a:rPr lang="en-US" b="1" dirty="0"/>
              <a:t> </a:t>
            </a:r>
            <a:r>
              <a:rPr lang="en-US" b="1" dirty="0" err="1"/>
              <a:t>án</a:t>
            </a:r>
            <a:r>
              <a:rPr lang="en-US" b="1" dirty="0"/>
              <a:t> </a:t>
            </a:r>
            <a:r>
              <a:rPr lang="en-US" dirty="0"/>
              <a:t>(</a:t>
            </a:r>
            <a:r>
              <a:rPr lang="en-US" dirty="0">
                <a:solidFill>
                  <a:srgbClr val="0070C0"/>
                </a:solidFill>
              </a:rPr>
              <a:t>acquire project team</a:t>
            </a:r>
            <a:r>
              <a:rPr lang="en-US" dirty="0"/>
              <a:t>):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phù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thích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.</a:t>
            </a:r>
          </a:p>
          <a:p>
            <a:pPr lvl="1" algn="just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 err="1"/>
              <a:t>Việc</a:t>
            </a:r>
            <a:r>
              <a:rPr lang="en-US" sz="2400" dirty="0"/>
              <a:t> </a:t>
            </a:r>
            <a:r>
              <a:rPr lang="en-US" sz="2400" dirty="0" err="1"/>
              <a:t>tuyển</a:t>
            </a:r>
            <a:r>
              <a:rPr lang="en-US" sz="2400" dirty="0"/>
              <a:t> </a:t>
            </a:r>
            <a:r>
              <a:rPr lang="en-US" sz="2400" dirty="0" err="1"/>
              <a:t>chọn</a:t>
            </a:r>
            <a:r>
              <a:rPr lang="en-US" sz="2400" dirty="0"/>
              <a:t> do </a:t>
            </a:r>
            <a:r>
              <a:rPr lang="en-US" sz="2400" dirty="0" err="1"/>
              <a:t>giám</a:t>
            </a:r>
            <a:r>
              <a:rPr lang="en-US" sz="2400" dirty="0"/>
              <a:t> </a:t>
            </a:r>
            <a:r>
              <a:rPr lang="en-US" sz="2400" dirty="0" err="1"/>
              <a:t>đốc</a:t>
            </a:r>
            <a:r>
              <a:rPr lang="en-US" sz="2400" dirty="0"/>
              <a:t> </a:t>
            </a:r>
            <a:r>
              <a:rPr lang="en-US" sz="2400" dirty="0" err="1"/>
              <a:t>dự</a:t>
            </a:r>
            <a:r>
              <a:rPr lang="en-US" sz="2400" dirty="0"/>
              <a:t> </a:t>
            </a:r>
            <a:r>
              <a:rPr lang="en-US" sz="2400" dirty="0" err="1"/>
              <a:t>án</a:t>
            </a:r>
            <a:r>
              <a:rPr lang="en-US" sz="2400" dirty="0"/>
              <a:t> </a:t>
            </a:r>
            <a:r>
              <a:rPr lang="en-US" sz="2400" dirty="0" err="1"/>
              <a:t>thực</a:t>
            </a:r>
            <a:r>
              <a:rPr lang="en-US" sz="2400" dirty="0"/>
              <a:t> </a:t>
            </a:r>
            <a:r>
              <a:rPr lang="en-US" sz="2400" dirty="0" err="1"/>
              <a:t>hiện</a:t>
            </a:r>
            <a:r>
              <a:rPr lang="en-US" sz="2400" dirty="0"/>
              <a:t>.</a:t>
            </a:r>
          </a:p>
          <a:p>
            <a:pPr algn="just">
              <a:spcBef>
                <a:spcPts val="1800"/>
              </a:spcBef>
              <a:spcAft>
                <a:spcPts val="1200"/>
              </a:spcAft>
            </a:pPr>
            <a:r>
              <a:rPr lang="en-US" dirty="0"/>
              <a:t>Thu </a:t>
            </a:r>
            <a:r>
              <a:rPr lang="en-US" dirty="0" err="1"/>
              <a:t>hút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lực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đội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rất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trọng</a:t>
            </a:r>
            <a:r>
              <a:rPr lang="en-US" dirty="0"/>
              <a:t>…</a:t>
            </a:r>
          </a:p>
          <a:p>
            <a:pPr marL="109537" indent="0" algn="just">
              <a:lnSpc>
                <a:spcPct val="90000"/>
              </a:lnSpc>
              <a:buNone/>
            </a:pPr>
            <a:endParaRPr lang="en-US" dirty="0"/>
          </a:p>
        </p:txBody>
      </p:sp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533400"/>
            <a:ext cx="8305800" cy="868363"/>
          </a:xfrm>
        </p:spPr>
        <p:txBody>
          <a:bodyPr>
            <a:normAutofit/>
          </a:bodyPr>
          <a:lstStyle/>
          <a:p>
            <a:pPr algn="ctr"/>
            <a:r>
              <a:rPr lang="en-US" sz="4400" dirty="0">
                <a:solidFill>
                  <a:srgbClr val="FF0000"/>
                </a:solidFill>
              </a:rPr>
              <a:t>2. </a:t>
            </a:r>
            <a:r>
              <a:rPr lang="en-US" sz="4400" dirty="0" err="1">
                <a:solidFill>
                  <a:srgbClr val="FF0000"/>
                </a:solidFill>
              </a:rPr>
              <a:t>Thiết</a:t>
            </a:r>
            <a:r>
              <a:rPr lang="en-US" sz="4400" dirty="0">
                <a:solidFill>
                  <a:srgbClr val="FF0000"/>
                </a:solidFill>
              </a:rPr>
              <a:t> </a:t>
            </a:r>
            <a:r>
              <a:rPr lang="en-US" sz="4400" dirty="0" err="1">
                <a:solidFill>
                  <a:srgbClr val="FF0000"/>
                </a:solidFill>
              </a:rPr>
              <a:t>lập</a:t>
            </a:r>
            <a:r>
              <a:rPr lang="en-US" sz="4400" dirty="0">
                <a:solidFill>
                  <a:srgbClr val="FF0000"/>
                </a:solidFill>
              </a:rPr>
              <a:t> </a:t>
            </a:r>
            <a:r>
              <a:rPr lang="en-US" sz="4400" dirty="0" err="1">
                <a:solidFill>
                  <a:srgbClr val="FF0000"/>
                </a:solidFill>
              </a:rPr>
              <a:t>đội</a:t>
            </a:r>
            <a:r>
              <a:rPr lang="en-US" sz="4400" dirty="0">
                <a:solidFill>
                  <a:srgbClr val="FF0000"/>
                </a:solidFill>
              </a:rPr>
              <a:t> </a:t>
            </a:r>
            <a:r>
              <a:rPr lang="en-US" sz="4400" dirty="0" err="1">
                <a:solidFill>
                  <a:srgbClr val="FF0000"/>
                </a:solidFill>
              </a:rPr>
              <a:t>dự</a:t>
            </a:r>
            <a:r>
              <a:rPr lang="en-US" sz="4400" dirty="0">
                <a:solidFill>
                  <a:srgbClr val="FF0000"/>
                </a:solidFill>
              </a:rPr>
              <a:t> </a:t>
            </a:r>
            <a:r>
              <a:rPr lang="en-US" sz="4400" dirty="0" err="1">
                <a:solidFill>
                  <a:srgbClr val="FF0000"/>
                </a:solidFill>
              </a:rPr>
              <a:t>án</a:t>
            </a:r>
            <a:endParaRPr lang="en-US" sz="5400" dirty="0">
              <a:solidFill>
                <a:srgbClr val="FF0000"/>
              </a:solidFill>
            </a:endParaRPr>
          </a:p>
        </p:txBody>
      </p:sp>
      <p:sp>
        <p:nvSpPr>
          <p:cNvPr id="45061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6AE158C-4FC1-4EEE-83AE-90E1C09F8B54}" type="slidenum">
              <a:rPr lang="en-US" smtClean="0"/>
              <a:pPr>
                <a:defRPr/>
              </a:pPr>
              <a:t>43</a:t>
            </a:fld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4648200"/>
            <a:ext cx="2057400" cy="165056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Content Placeholder 2"/>
          <p:cNvSpPr>
            <a:spLocks noGrp="1"/>
          </p:cNvSpPr>
          <p:nvPr>
            <p:ph idx="1"/>
          </p:nvPr>
        </p:nvSpPr>
        <p:spPr>
          <a:xfrm>
            <a:off x="533400" y="1905000"/>
            <a:ext cx="8001000" cy="3200400"/>
          </a:xfrm>
        </p:spPr>
        <p:txBody>
          <a:bodyPr/>
          <a:lstStyle/>
          <a:p>
            <a:pPr algn="just">
              <a:spcBef>
                <a:spcPts val="1200"/>
              </a:spcBef>
              <a:spcAft>
                <a:spcPts val="1200"/>
              </a:spcAft>
            </a:pP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hoạch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, </a:t>
            </a:r>
            <a:r>
              <a:rPr lang="en-US" dirty="0" err="1"/>
              <a:t>tuyển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tốt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rất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trọng</a:t>
            </a:r>
            <a:r>
              <a:rPr lang="en-US" dirty="0"/>
              <a:t>, </a:t>
            </a:r>
            <a:r>
              <a:rPr lang="en-US" dirty="0" err="1"/>
              <a:t>cũng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ưu</a:t>
            </a:r>
            <a:r>
              <a:rPr lang="en-US" dirty="0"/>
              <a:t> </a:t>
            </a:r>
            <a:r>
              <a:rPr lang="en-US" dirty="0" err="1"/>
              <a:t>đãi</a:t>
            </a:r>
            <a:r>
              <a:rPr lang="en-US" dirty="0"/>
              <a:t> và </a:t>
            </a:r>
            <a:r>
              <a:rPr lang="en-US" dirty="0" err="1"/>
              <a:t>giữ</a:t>
            </a:r>
            <a:r>
              <a:rPr lang="en-US" dirty="0"/>
              <a:t> </a:t>
            </a:r>
            <a:r>
              <a:rPr lang="en-US" dirty="0" err="1"/>
              <a:t>chân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. </a:t>
            </a:r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tổ</a:t>
            </a:r>
            <a:r>
              <a:rPr lang="en-US" dirty="0"/>
              <a:t> </a:t>
            </a:r>
            <a:r>
              <a:rPr lang="en-US" dirty="0" err="1"/>
              <a:t>chức</a:t>
            </a:r>
            <a:r>
              <a:rPr lang="en-US" dirty="0"/>
              <a:t> </a:t>
            </a:r>
            <a:r>
              <a:rPr lang="en-US" dirty="0" err="1"/>
              <a:t>nên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lý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tuyển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, và </a:t>
            </a:r>
            <a:r>
              <a:rPr lang="vi-VN" dirty="0"/>
              <a:t>ưu đãi để thuê và giữ chân nhân tài </a:t>
            </a:r>
            <a:r>
              <a:rPr lang="en-US" dirty="0"/>
              <a:t>CNTT/HTTT… </a:t>
            </a:r>
          </a:p>
          <a:p>
            <a:pPr algn="just">
              <a:lnSpc>
                <a:spcPct val="90000"/>
              </a:lnSpc>
            </a:pPr>
            <a:endParaRPr lang="en-US" dirty="0"/>
          </a:p>
        </p:txBody>
      </p:sp>
      <p:sp>
        <p:nvSpPr>
          <p:cNvPr id="4608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 err="1"/>
              <a:t>Phân</a:t>
            </a:r>
            <a:r>
              <a:rPr lang="en-US" sz="4000" dirty="0"/>
              <a:t> </a:t>
            </a:r>
            <a:r>
              <a:rPr lang="en-US" sz="4000" dirty="0" err="1"/>
              <a:t>bổ</a:t>
            </a:r>
            <a:r>
              <a:rPr lang="en-US" sz="4000" dirty="0"/>
              <a:t> </a:t>
            </a:r>
            <a:r>
              <a:rPr lang="en-US" sz="4000" dirty="0" err="1"/>
              <a:t>nhân</a:t>
            </a:r>
            <a:r>
              <a:rPr lang="en-US" sz="4000" dirty="0"/>
              <a:t> </a:t>
            </a:r>
            <a:r>
              <a:rPr lang="en-US" sz="4000" dirty="0" err="1"/>
              <a:t>viên</a:t>
            </a:r>
            <a:r>
              <a:rPr lang="en-US" sz="4000" dirty="0"/>
              <a:t> </a:t>
            </a:r>
            <a:r>
              <a:rPr lang="en-US" sz="4000" dirty="0" err="1"/>
              <a:t>dự</a:t>
            </a:r>
            <a:r>
              <a:rPr lang="en-US" sz="4000" dirty="0"/>
              <a:t> </a:t>
            </a:r>
            <a:r>
              <a:rPr lang="en-US" sz="4000" dirty="0" err="1"/>
              <a:t>án</a:t>
            </a:r>
            <a:endParaRPr lang="en-US" sz="4000" dirty="0"/>
          </a:p>
        </p:txBody>
      </p:sp>
      <p:sp>
        <p:nvSpPr>
          <p:cNvPr id="46084" name="Footer Placeholder 3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4360CA7-700B-46C4-B1DC-5F287A681B2F}" type="slidenum">
              <a:rPr lang="en-US" smtClean="0"/>
              <a:pPr>
                <a:defRPr/>
              </a:pPr>
              <a:t>44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0200" y="5334000"/>
            <a:ext cx="1723292" cy="1524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822025"/>
            <a:ext cx="8077200" cy="2292775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2013…</a:t>
            </a:r>
          </a:p>
          <a:p>
            <a:pPr lvl="1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Yahoo (</a:t>
            </a:r>
            <a:r>
              <a:rPr lang="vi-VN" sz="2200" dirty="0"/>
              <a:t>Mayer</a:t>
            </a:r>
            <a:r>
              <a:rPr lang="en-US" sz="2200" dirty="0"/>
              <a:t>) ban </a:t>
            </a:r>
            <a:r>
              <a:rPr lang="en-US" sz="2200" dirty="0" err="1"/>
              <a:t>hành</a:t>
            </a:r>
            <a:r>
              <a:rPr lang="en-US" sz="2200" dirty="0"/>
              <a:t> </a:t>
            </a:r>
            <a:r>
              <a:rPr lang="en-US" sz="2200" dirty="0" err="1"/>
              <a:t>một</a:t>
            </a:r>
            <a:r>
              <a:rPr lang="en-US" sz="2200" dirty="0"/>
              <a:t> </a:t>
            </a:r>
            <a:r>
              <a:rPr lang="en-US" sz="2200" dirty="0" err="1"/>
              <a:t>ghi</a:t>
            </a:r>
            <a:r>
              <a:rPr lang="en-US" sz="2200" dirty="0"/>
              <a:t> </a:t>
            </a:r>
            <a:r>
              <a:rPr lang="en-US" sz="2200" dirty="0" err="1"/>
              <a:t>nhớ</a:t>
            </a:r>
            <a:r>
              <a:rPr lang="en-US" sz="2200" dirty="0"/>
              <a:t> </a:t>
            </a:r>
            <a:r>
              <a:rPr lang="en-US" sz="2200" dirty="0" err="1"/>
              <a:t>không</a:t>
            </a:r>
            <a:r>
              <a:rPr lang="en-US" sz="2200" dirty="0"/>
              <a:t> </a:t>
            </a:r>
            <a:r>
              <a:rPr lang="en-US" sz="2200" dirty="0" err="1"/>
              <a:t>cho</a:t>
            </a:r>
            <a:r>
              <a:rPr lang="en-US" sz="2200" dirty="0"/>
              <a:t> </a:t>
            </a:r>
            <a:r>
              <a:rPr lang="en-US" sz="2200" dirty="0" err="1"/>
              <a:t>phép</a:t>
            </a:r>
            <a:r>
              <a:rPr lang="en-US" sz="2200" dirty="0"/>
              <a:t> </a:t>
            </a:r>
            <a:r>
              <a:rPr lang="en-US" sz="2200" dirty="0" err="1"/>
              <a:t>nhân</a:t>
            </a:r>
            <a:r>
              <a:rPr lang="en-US" sz="2200" dirty="0"/>
              <a:t> </a:t>
            </a:r>
            <a:r>
              <a:rPr lang="en-US" sz="2200" dirty="0" err="1"/>
              <a:t>viên</a:t>
            </a:r>
            <a:r>
              <a:rPr lang="en-US" sz="2200" dirty="0"/>
              <a:t> </a:t>
            </a:r>
            <a:r>
              <a:rPr lang="en-US" sz="2200" dirty="0" err="1"/>
              <a:t>làm</a:t>
            </a:r>
            <a:r>
              <a:rPr lang="en-US" sz="2200" dirty="0"/>
              <a:t> </a:t>
            </a:r>
            <a:r>
              <a:rPr lang="en-US" sz="2200" dirty="0" err="1"/>
              <a:t>việc</a:t>
            </a:r>
            <a:r>
              <a:rPr lang="en-US" sz="2200" dirty="0"/>
              <a:t> </a:t>
            </a:r>
            <a:r>
              <a:rPr lang="en-US" sz="2200" dirty="0" err="1"/>
              <a:t>tại</a:t>
            </a:r>
            <a:r>
              <a:rPr lang="en-US" sz="2200" dirty="0"/>
              <a:t> </a:t>
            </a:r>
            <a:r>
              <a:rPr lang="en-US" sz="2200" dirty="0" err="1"/>
              <a:t>nhà</a:t>
            </a:r>
            <a:r>
              <a:rPr lang="en-US" sz="2200" dirty="0"/>
              <a:t>...</a:t>
            </a:r>
          </a:p>
          <a:p>
            <a:pPr lvl="1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Diebold (Mattes) </a:t>
            </a:r>
            <a:r>
              <a:rPr lang="en-US" sz="2200" dirty="0" err="1"/>
              <a:t>tuyển</a:t>
            </a:r>
            <a:r>
              <a:rPr lang="en-US" sz="2200" dirty="0"/>
              <a:t> </a:t>
            </a:r>
            <a:r>
              <a:rPr lang="en-US" sz="2200" dirty="0" err="1"/>
              <a:t>những</a:t>
            </a:r>
            <a:r>
              <a:rPr lang="en-US" sz="2200" dirty="0"/>
              <a:t> </a:t>
            </a:r>
            <a:r>
              <a:rPr lang="en-US" sz="2200" dirty="0" err="1"/>
              <a:t>người</a:t>
            </a:r>
            <a:r>
              <a:rPr lang="en-US" sz="2200" dirty="0"/>
              <a:t> </a:t>
            </a:r>
            <a:r>
              <a:rPr lang="en-US" sz="2200" dirty="0" err="1"/>
              <a:t>muốn</a:t>
            </a:r>
            <a:r>
              <a:rPr lang="en-US" sz="2200" dirty="0"/>
              <a:t> </a:t>
            </a:r>
            <a:r>
              <a:rPr lang="en-US" sz="2200" dirty="0" err="1"/>
              <a:t>làm</a:t>
            </a:r>
            <a:r>
              <a:rPr lang="en-US" sz="2200" dirty="0"/>
              <a:t> </a:t>
            </a:r>
            <a:r>
              <a:rPr lang="en-US" sz="2200" dirty="0" err="1"/>
              <a:t>việc</a:t>
            </a:r>
            <a:r>
              <a:rPr lang="en-US" sz="2200" dirty="0"/>
              <a:t> </a:t>
            </a:r>
            <a:r>
              <a:rPr lang="en-US" sz="2200" dirty="0" err="1"/>
              <a:t>tại</a:t>
            </a:r>
            <a:r>
              <a:rPr lang="en-US" sz="2200" dirty="0"/>
              <a:t> </a:t>
            </a:r>
            <a:r>
              <a:rPr lang="en-US" sz="2200" dirty="0" err="1"/>
              <a:t>nhà</a:t>
            </a:r>
            <a:r>
              <a:rPr lang="en-US" sz="2200" dirty="0"/>
              <a:t>, </a:t>
            </a:r>
            <a:r>
              <a:rPr lang="en-US" sz="2200" dirty="0" err="1"/>
              <a:t>thu</a:t>
            </a:r>
            <a:r>
              <a:rPr lang="en-US" sz="2200" dirty="0"/>
              <a:t> </a:t>
            </a:r>
            <a:r>
              <a:rPr lang="en-US" sz="2200" dirty="0" err="1"/>
              <a:t>hút</a:t>
            </a:r>
            <a:r>
              <a:rPr lang="en-US" sz="2200" dirty="0"/>
              <a:t> </a:t>
            </a:r>
            <a:r>
              <a:rPr lang="en-US" sz="2200" dirty="0" err="1"/>
              <a:t>người</a:t>
            </a:r>
            <a:r>
              <a:rPr lang="en-US" sz="2200" dirty="0"/>
              <a:t> </a:t>
            </a:r>
            <a:r>
              <a:rPr lang="en-US" sz="2200" dirty="0" err="1"/>
              <a:t>giỏi</a:t>
            </a:r>
            <a:r>
              <a:rPr lang="en-US" sz="2200" dirty="0"/>
              <a:t> </a:t>
            </a:r>
            <a:r>
              <a:rPr lang="en-US" sz="2200" dirty="0" err="1"/>
              <a:t>từ</a:t>
            </a:r>
            <a:r>
              <a:rPr lang="en-US" sz="2200" dirty="0"/>
              <a:t> Yahoo và </a:t>
            </a:r>
            <a:r>
              <a:rPr lang="en-US" sz="2200" dirty="0" err="1"/>
              <a:t>các</a:t>
            </a:r>
            <a:r>
              <a:rPr lang="en-US" sz="2200" dirty="0"/>
              <a:t> </a:t>
            </a:r>
            <a:r>
              <a:rPr lang="en-US" sz="2200" dirty="0" err="1"/>
              <a:t>công</a:t>
            </a:r>
            <a:r>
              <a:rPr lang="en-US" sz="2200" dirty="0"/>
              <a:t> ty </a:t>
            </a:r>
            <a:r>
              <a:rPr lang="en-US" sz="2200" dirty="0" err="1"/>
              <a:t>khác</a:t>
            </a:r>
            <a:r>
              <a:rPr lang="en-US" sz="2200" dirty="0"/>
              <a:t>…</a:t>
            </a:r>
          </a:p>
        </p:txBody>
      </p:sp>
      <p:sp>
        <p:nvSpPr>
          <p:cNvPr id="16389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2BEDF5A-CC2B-41EC-9024-1E458DD4F0B1}" type="slidenum">
              <a:rPr lang="en-US" smtClean="0"/>
              <a:pPr>
                <a:defRPr/>
              </a:pPr>
              <a:t>45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81025"/>
            <a:ext cx="4562475" cy="638175"/>
          </a:xfrm>
          <a:prstGeom prst="rect">
            <a:avLst/>
          </a:prstGeom>
        </p:spPr>
      </p:pic>
      <p:pic>
        <p:nvPicPr>
          <p:cNvPr id="1026" name="Picture 2" descr="http://logonoid.com/images/diebold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4336625"/>
            <a:ext cx="4419600" cy="1344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s://s1.yimg.com/rz/d/yahoo_en-US_f_p_bestfit_2x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4641425"/>
            <a:ext cx="3352800" cy="1378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8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1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752600"/>
            <a:ext cx="8458200" cy="3657600"/>
          </a:xfrm>
        </p:spPr>
        <p:txBody>
          <a:bodyPr/>
          <a:lstStyle/>
          <a:p>
            <a:pPr algn="just">
              <a:spcBef>
                <a:spcPts val="1200"/>
              </a:spcBef>
              <a:spcAft>
                <a:spcPts val="1200"/>
              </a:spcAft>
            </a:pP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Tải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trọng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nguồn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lực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/>
              <a:t>(</a:t>
            </a:r>
            <a:r>
              <a:rPr lang="en-US" dirty="0">
                <a:solidFill>
                  <a:srgbClr val="0070C0"/>
                </a:solidFill>
              </a:rPr>
              <a:t>resource loading</a:t>
            </a:r>
            <a:r>
              <a:rPr lang="en-US" dirty="0"/>
              <a:t>):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lượng</a:t>
            </a:r>
            <a:r>
              <a:rPr lang="en-US" dirty="0"/>
              <a:t> </a:t>
            </a:r>
            <a:r>
              <a:rPr lang="en-US" dirty="0" err="1"/>
              <a:t>nguồn</a:t>
            </a:r>
            <a:r>
              <a:rPr lang="en-US" dirty="0"/>
              <a:t> </a:t>
            </a:r>
            <a:r>
              <a:rPr lang="en-US" dirty="0" err="1"/>
              <a:t>lực</a:t>
            </a:r>
            <a:r>
              <a:rPr lang="en-US" dirty="0"/>
              <a:t> con </a:t>
            </a:r>
            <a:r>
              <a:rPr lang="en-US" dirty="0" err="1"/>
              <a:t>người</a:t>
            </a:r>
            <a:r>
              <a:rPr lang="en-US" dirty="0"/>
              <a:t> và </a:t>
            </a:r>
            <a:r>
              <a:rPr lang="en-US" dirty="0" err="1"/>
              <a:t>lịch</a:t>
            </a:r>
            <a:r>
              <a:rPr lang="en-US" dirty="0"/>
              <a:t> </a:t>
            </a:r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cụ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.</a:t>
            </a:r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r>
              <a:rPr lang="en-US" dirty="0" err="1"/>
              <a:t>Giúp</a:t>
            </a:r>
            <a:r>
              <a:rPr lang="en-US" dirty="0"/>
              <a:t> </a:t>
            </a:r>
            <a:r>
              <a:rPr lang="en-US" dirty="0" err="1"/>
              <a:t>xây</a:t>
            </a:r>
            <a:r>
              <a:rPr lang="en-US" dirty="0"/>
              <a:t> </a:t>
            </a:r>
            <a:r>
              <a:rPr lang="en-US" dirty="0" err="1"/>
              <a:t>dựng</a:t>
            </a:r>
            <a:r>
              <a:rPr lang="en-US" dirty="0"/>
              <a:t> </a:t>
            </a:r>
            <a:r>
              <a:rPr lang="en-US" dirty="0" err="1"/>
              <a:t>thỏa</a:t>
            </a:r>
            <a:r>
              <a:rPr lang="en-US" dirty="0"/>
              <a:t> </a:t>
            </a:r>
            <a:r>
              <a:rPr lang="en-US" dirty="0" err="1"/>
              <a:t>thuận</a:t>
            </a:r>
            <a:r>
              <a:rPr lang="en-US" dirty="0"/>
              <a:t> </a:t>
            </a:r>
            <a:r>
              <a:rPr lang="en-US" dirty="0" err="1"/>
              <a:t>chung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nhu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, </a:t>
            </a:r>
            <a:r>
              <a:rPr lang="en-US" dirty="0" err="1"/>
              <a:t>dựa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nguồn</a:t>
            </a:r>
            <a:r>
              <a:rPr lang="en-US" dirty="0"/>
              <a:t> </a:t>
            </a:r>
            <a:r>
              <a:rPr lang="en-US" dirty="0" err="1"/>
              <a:t>lực</a:t>
            </a:r>
            <a:r>
              <a:rPr lang="en-US" dirty="0"/>
              <a:t> </a:t>
            </a:r>
            <a:r>
              <a:rPr lang="en-US" dirty="0" err="1"/>
              <a:t>tổ</a:t>
            </a:r>
            <a:r>
              <a:rPr lang="en-US" dirty="0"/>
              <a:t> </a:t>
            </a:r>
            <a:r>
              <a:rPr lang="en-US" dirty="0" err="1"/>
              <a:t>chức</a:t>
            </a:r>
            <a:r>
              <a:rPr lang="en-US" dirty="0"/>
              <a:t> và </a:t>
            </a:r>
            <a:r>
              <a:rPr lang="en-US" dirty="0" err="1"/>
              <a:t>lịch</a:t>
            </a:r>
            <a:r>
              <a:rPr lang="en-US" dirty="0"/>
              <a:t> </a:t>
            </a:r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cá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.</a:t>
            </a:r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Quá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tải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/>
              <a:t>(</a:t>
            </a:r>
            <a:r>
              <a:rPr lang="en-US" dirty="0" err="1">
                <a:solidFill>
                  <a:srgbClr val="0070C0"/>
                </a:solidFill>
              </a:rPr>
              <a:t>overallocation</a:t>
            </a:r>
            <a:r>
              <a:rPr lang="en-US" dirty="0"/>
              <a:t>):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nguồn</a:t>
            </a:r>
            <a:r>
              <a:rPr lang="en-US" dirty="0"/>
              <a:t> </a:t>
            </a:r>
            <a:r>
              <a:rPr lang="en-US" dirty="0" err="1"/>
              <a:t>lực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khả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bổ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quy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. </a:t>
            </a:r>
          </a:p>
        </p:txBody>
      </p:sp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Tải</a:t>
            </a:r>
            <a:r>
              <a:rPr lang="en-US" dirty="0"/>
              <a:t> </a:t>
            </a:r>
            <a:r>
              <a:rPr lang="en-US" dirty="0" err="1"/>
              <a:t>trọng</a:t>
            </a:r>
            <a:r>
              <a:rPr lang="en-US" dirty="0"/>
              <a:t> </a:t>
            </a:r>
            <a:r>
              <a:rPr lang="en-US" dirty="0" err="1"/>
              <a:t>nguồn</a:t>
            </a:r>
            <a:r>
              <a:rPr lang="en-US" dirty="0"/>
              <a:t> </a:t>
            </a:r>
            <a:r>
              <a:rPr lang="en-US" dirty="0" err="1"/>
              <a:t>lực</a:t>
            </a:r>
            <a:endParaRPr lang="en-US" dirty="0"/>
          </a:p>
        </p:txBody>
      </p:sp>
      <p:sp>
        <p:nvSpPr>
          <p:cNvPr id="48133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BC03B9D-49CD-4B3E-A1EF-F0BFF5ED586D}" type="slidenum">
              <a:rPr lang="en-US" smtClean="0"/>
              <a:pPr>
                <a:defRPr/>
              </a:pPr>
              <a:t>46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066800"/>
          </a:xfrm>
        </p:spPr>
        <p:txBody>
          <a:bodyPr>
            <a:noAutofit/>
          </a:bodyPr>
          <a:lstStyle/>
          <a:p>
            <a:pPr algn="ctr"/>
            <a:r>
              <a:rPr lang="en-US" sz="3600" dirty="0" err="1"/>
              <a:t>Ví</a:t>
            </a:r>
            <a:r>
              <a:rPr lang="en-US" sz="3600" dirty="0"/>
              <a:t> </a:t>
            </a:r>
            <a:r>
              <a:rPr lang="en-US" sz="3600" dirty="0" err="1"/>
              <a:t>dụ</a:t>
            </a:r>
            <a:r>
              <a:rPr lang="en-US" sz="3600" dirty="0"/>
              <a:t>, </a:t>
            </a:r>
            <a:r>
              <a:rPr lang="en-US" sz="3600" dirty="0" err="1"/>
              <a:t>sơ</a:t>
            </a:r>
            <a:r>
              <a:rPr lang="en-US" sz="3600" dirty="0"/>
              <a:t> </a:t>
            </a:r>
            <a:r>
              <a:rPr lang="en-US" sz="3600" dirty="0" err="1"/>
              <a:t>đồ</a:t>
            </a:r>
            <a:r>
              <a:rPr lang="en-US" sz="3600" dirty="0"/>
              <a:t> </a:t>
            </a:r>
            <a:r>
              <a:rPr lang="en-US" sz="3600" dirty="0" err="1"/>
              <a:t>quá</a:t>
            </a:r>
            <a:r>
              <a:rPr lang="en-US" sz="3600" dirty="0"/>
              <a:t> </a:t>
            </a:r>
            <a:r>
              <a:rPr lang="en-US" sz="3600" err="1"/>
              <a:t>tải</a:t>
            </a:r>
            <a:r>
              <a:rPr lang="en-US" sz="3600"/>
              <a:t> công việc của Vy </a:t>
            </a:r>
            <a:endParaRPr lang="en-US" sz="3600" dirty="0"/>
          </a:p>
        </p:txBody>
      </p:sp>
      <p:sp>
        <p:nvSpPr>
          <p:cNvPr id="49157" name="Footer Placeholder 7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buFontTx/>
              <a:buNone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Tx/>
              <a:buNone/>
              <a:defRPr/>
            </a:pPr>
            <a:fld id="{05496CD9-3A68-48EC-8F36-2318BF276943}" type="slidenum">
              <a:rPr lang="en-US" smtClean="0"/>
              <a:pPr>
                <a:buFontTx/>
                <a:buNone/>
                <a:defRPr/>
              </a:pPr>
              <a:t>47</a:t>
            </a:fld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6800"/>
            <a:ext cx="9124950" cy="5791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Rectangle 3"/>
          <p:cNvSpPr>
            <a:spLocks noGrp="1" noChangeArrowheads="1"/>
          </p:cNvSpPr>
          <p:nvPr>
            <p:ph idx="1"/>
          </p:nvPr>
        </p:nvSpPr>
        <p:spPr>
          <a:xfrm>
            <a:off x="762000" y="2014538"/>
            <a:ext cx="7620000" cy="3395662"/>
          </a:xfrm>
        </p:spPr>
        <p:txBody>
          <a:bodyPr/>
          <a:lstStyle/>
          <a:p>
            <a:pPr algn="just">
              <a:spcBef>
                <a:spcPts val="2400"/>
              </a:spcBef>
              <a:spcAft>
                <a:spcPts val="1200"/>
              </a:spcAft>
            </a:pP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Cân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bằng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nhân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lực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/>
              <a:t>(</a:t>
            </a:r>
            <a:r>
              <a:rPr lang="en-US" dirty="0">
                <a:solidFill>
                  <a:srgbClr val="0070C0"/>
                </a:solidFill>
              </a:rPr>
              <a:t>resource leveling</a:t>
            </a:r>
            <a:r>
              <a:rPr lang="en-US" dirty="0"/>
              <a:t>):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cụ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quyết</a:t>
            </a:r>
            <a:r>
              <a:rPr lang="en-US" dirty="0"/>
              <a:t> </a:t>
            </a:r>
            <a:r>
              <a:rPr lang="en-US" dirty="0" err="1"/>
              <a:t>xung</a:t>
            </a:r>
            <a:r>
              <a:rPr lang="en-US" dirty="0"/>
              <a:t> </a:t>
            </a:r>
            <a:r>
              <a:rPr lang="en-US" dirty="0" err="1"/>
              <a:t>đột</a:t>
            </a:r>
            <a:r>
              <a:rPr lang="en-US" dirty="0"/>
              <a:t> </a:t>
            </a:r>
            <a:r>
              <a:rPr lang="en-US" dirty="0" err="1"/>
              <a:t>nguồn</a:t>
            </a:r>
            <a:r>
              <a:rPr lang="en-US" dirty="0"/>
              <a:t> </a:t>
            </a:r>
            <a:r>
              <a:rPr lang="en-US" dirty="0" err="1"/>
              <a:t>lực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trì</a:t>
            </a:r>
            <a:r>
              <a:rPr lang="en-US" dirty="0"/>
              <a:t> </a:t>
            </a:r>
            <a:r>
              <a:rPr lang="en-US" dirty="0" err="1"/>
              <a:t>hoãn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vụ</a:t>
            </a:r>
            <a:r>
              <a:rPr lang="en-US" dirty="0"/>
              <a:t>. </a:t>
            </a:r>
          </a:p>
          <a:p>
            <a:pPr algn="just">
              <a:spcBef>
                <a:spcPts val="2400"/>
              </a:spcBef>
              <a:spcAft>
                <a:spcPts val="1200"/>
              </a:spcAft>
            </a:pPr>
            <a:r>
              <a:rPr lang="en-US" dirty="0" err="1"/>
              <a:t>Cân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dirty="0" err="1"/>
              <a:t>nguồn</a:t>
            </a:r>
            <a:r>
              <a:rPr lang="en-US" dirty="0"/>
              <a:t> </a:t>
            </a:r>
            <a:r>
              <a:rPr lang="en-US" dirty="0" err="1"/>
              <a:t>lực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phối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 </a:t>
            </a:r>
            <a:r>
              <a:rPr lang="en-US" dirty="0" err="1"/>
              <a:t>đều</a:t>
            </a:r>
            <a:r>
              <a:rPr lang="en-US" dirty="0"/>
              <a:t> </a:t>
            </a:r>
            <a:r>
              <a:rPr lang="en-US" dirty="0" err="1"/>
              <a:t>nguồn</a:t>
            </a:r>
            <a:r>
              <a:rPr lang="en-US" dirty="0"/>
              <a:t> </a:t>
            </a:r>
            <a:r>
              <a:rPr lang="en-US" dirty="0" err="1"/>
              <a:t>lực</a:t>
            </a:r>
            <a:r>
              <a:rPr lang="en-US" dirty="0"/>
              <a:t> và </a:t>
            </a:r>
            <a:r>
              <a:rPr lang="en-US" dirty="0" err="1"/>
              <a:t>giảm</a:t>
            </a:r>
            <a:r>
              <a:rPr lang="en-US" dirty="0"/>
              <a:t> </a:t>
            </a:r>
            <a:r>
              <a:rPr lang="en-US" dirty="0" err="1"/>
              <a:t>quá</a:t>
            </a:r>
            <a:r>
              <a:rPr lang="en-US" dirty="0"/>
              <a:t> </a:t>
            </a:r>
            <a:r>
              <a:rPr lang="en-US" dirty="0" err="1"/>
              <a:t>tải</a:t>
            </a:r>
            <a:r>
              <a:rPr lang="en-US" dirty="0"/>
              <a:t>. </a:t>
            </a:r>
          </a:p>
        </p:txBody>
      </p:sp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 err="1"/>
              <a:t>Cân</a:t>
            </a:r>
            <a:r>
              <a:rPr lang="en-US" sz="4000" dirty="0"/>
              <a:t> </a:t>
            </a:r>
            <a:r>
              <a:rPr lang="en-US" sz="4000" dirty="0" err="1"/>
              <a:t>bằng</a:t>
            </a:r>
            <a:r>
              <a:rPr lang="en-US" sz="4000" dirty="0"/>
              <a:t> </a:t>
            </a:r>
            <a:r>
              <a:rPr lang="en-US" sz="4000" dirty="0" err="1"/>
              <a:t>nhân</a:t>
            </a:r>
            <a:r>
              <a:rPr lang="en-US" sz="4000" dirty="0"/>
              <a:t> </a:t>
            </a:r>
            <a:r>
              <a:rPr lang="en-US" sz="4000" dirty="0" err="1"/>
              <a:t>lực</a:t>
            </a:r>
            <a:endParaRPr lang="en-US" sz="4000" dirty="0"/>
          </a:p>
        </p:txBody>
      </p:sp>
      <p:sp>
        <p:nvSpPr>
          <p:cNvPr id="50181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8E533B6-83B6-4E9D-951B-AF378874C453}" type="slidenum">
              <a:rPr lang="en-US" smtClean="0"/>
              <a:pPr>
                <a:defRPr/>
              </a:pPr>
              <a:t>48</a:t>
            </a:fld>
            <a:endParaRPr lang="en-US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>
            <a:normAutofit/>
          </a:bodyPr>
          <a:lstStyle/>
          <a:p>
            <a:pPr algn="ctr"/>
            <a:r>
              <a:rPr lang="en-US" sz="3600" dirty="0" err="1"/>
              <a:t>Ví</a:t>
            </a:r>
            <a:r>
              <a:rPr lang="en-US" sz="3600" dirty="0"/>
              <a:t> </a:t>
            </a:r>
            <a:r>
              <a:rPr lang="en-US" sz="3600" dirty="0" err="1"/>
              <a:t>dụ</a:t>
            </a:r>
            <a:r>
              <a:rPr lang="en-US" sz="3600" dirty="0"/>
              <a:t>, </a:t>
            </a:r>
            <a:r>
              <a:rPr lang="en-US" sz="3600" dirty="0" err="1"/>
              <a:t>cân</a:t>
            </a:r>
            <a:r>
              <a:rPr lang="en-US" sz="3600" dirty="0"/>
              <a:t> </a:t>
            </a:r>
            <a:r>
              <a:rPr lang="en-US" sz="3600" dirty="0" err="1"/>
              <a:t>bằng</a:t>
            </a:r>
            <a:r>
              <a:rPr lang="en-US" sz="3600" dirty="0"/>
              <a:t> </a:t>
            </a:r>
            <a:r>
              <a:rPr lang="en-US" sz="3600" dirty="0" err="1"/>
              <a:t>nhân</a:t>
            </a:r>
            <a:r>
              <a:rPr lang="en-US" sz="3600" dirty="0"/>
              <a:t> </a:t>
            </a:r>
            <a:r>
              <a:rPr lang="en-US" sz="3600" dirty="0" err="1"/>
              <a:t>lực</a:t>
            </a:r>
            <a:endParaRPr lang="en-US" sz="4000" dirty="0"/>
          </a:p>
        </p:txBody>
      </p:sp>
      <p:sp>
        <p:nvSpPr>
          <p:cNvPr id="51205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buFontTx/>
              <a:buNone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Tx/>
              <a:buNone/>
              <a:defRPr/>
            </a:pPr>
            <a:fld id="{744BC653-2704-47EB-B749-09F544E61927}" type="slidenum">
              <a:rPr lang="en-US" smtClean="0"/>
              <a:pPr>
                <a:buFontTx/>
                <a:buNone/>
                <a:defRPr/>
              </a:pPr>
              <a:t>49</a:t>
            </a:fld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5163" y="794598"/>
            <a:ext cx="3900237" cy="118660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" y="2881384"/>
            <a:ext cx="4501816" cy="3858793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5674" y="2769296"/>
            <a:ext cx="4321342" cy="385879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90600" y="4965526"/>
            <a:ext cx="2057400" cy="533400"/>
          </a:xfrm>
          <a:prstGeom prst="rect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8" name="Rectangle 7"/>
          <p:cNvSpPr/>
          <p:nvPr/>
        </p:nvSpPr>
        <p:spPr>
          <a:xfrm>
            <a:off x="6729926" y="3683378"/>
            <a:ext cx="2057400" cy="533400"/>
          </a:xfrm>
          <a:prstGeom prst="rect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cxnSp>
        <p:nvCxnSpPr>
          <p:cNvPr id="5" name="Straight Arrow Connector 4"/>
          <p:cNvCxnSpPr/>
          <p:nvPr/>
        </p:nvCxnSpPr>
        <p:spPr>
          <a:xfrm flipV="1">
            <a:off x="3200400" y="4038600"/>
            <a:ext cx="3429000" cy="1371600"/>
          </a:xfrm>
          <a:prstGeom prst="straightConnector1">
            <a:avLst/>
          </a:prstGeom>
          <a:ln w="381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752600"/>
            <a:ext cx="8305800" cy="3929062"/>
          </a:xfrm>
        </p:spPr>
        <p:txBody>
          <a:bodyPr/>
          <a:lstStyle/>
          <a:p>
            <a:pPr algn="just">
              <a:spcBef>
                <a:spcPts val="1200"/>
              </a:spcBef>
              <a:spcAft>
                <a:spcPts val="1200"/>
              </a:spcAft>
            </a:pP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lực</a:t>
            </a:r>
            <a:r>
              <a:rPr lang="en-US" dirty="0"/>
              <a:t> </a:t>
            </a:r>
            <a:r>
              <a:rPr lang="vi-VN" dirty="0"/>
              <a:t>được sử dụng trên cơ sở liên tục hơn, cần ít sự quản lý hơn.</a:t>
            </a:r>
            <a:endParaRPr lang="en-US" dirty="0"/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r>
              <a:rPr lang="en-US" dirty="0" err="1"/>
              <a:t>Áp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kê</a:t>
            </a:r>
            <a:r>
              <a:rPr lang="en-US" dirty="0"/>
              <a:t> “</a:t>
            </a:r>
            <a:r>
              <a:rPr lang="en-US" i="1" dirty="0"/>
              <a:t>just-in-time</a:t>
            </a:r>
            <a:r>
              <a:rPr lang="en-US" dirty="0"/>
              <a:t>”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nhà</a:t>
            </a:r>
            <a:r>
              <a:rPr lang="en-US" dirty="0"/>
              <a:t> </a:t>
            </a:r>
            <a:r>
              <a:rPr lang="en-US" dirty="0" err="1"/>
              <a:t>thầu</a:t>
            </a:r>
            <a:r>
              <a:rPr lang="en-US" dirty="0"/>
              <a:t> </a:t>
            </a:r>
            <a:r>
              <a:rPr lang="en-US" dirty="0" err="1"/>
              <a:t>phụ</a:t>
            </a:r>
            <a:r>
              <a:rPr lang="en-US" dirty="0"/>
              <a:t> hay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nguồn</a:t>
            </a:r>
            <a:r>
              <a:rPr lang="en-US" dirty="0"/>
              <a:t> </a:t>
            </a:r>
            <a:r>
              <a:rPr lang="en-US" dirty="0" err="1"/>
              <a:t>lực</a:t>
            </a:r>
            <a:r>
              <a:rPr lang="en-US" dirty="0"/>
              <a:t> </a:t>
            </a:r>
            <a:r>
              <a:rPr lang="en-US" dirty="0" err="1"/>
              <a:t>đắt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.</a:t>
            </a:r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r>
              <a:rPr lang="en-US" dirty="0" err="1"/>
              <a:t>Ít</a:t>
            </a: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cố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và </a:t>
            </a:r>
            <a:r>
              <a:rPr lang="en-US" dirty="0" err="1"/>
              <a:t>phòng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. </a:t>
            </a:r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r>
              <a:rPr lang="en-US" dirty="0" err="1"/>
              <a:t>Cải</a:t>
            </a:r>
            <a:r>
              <a:rPr lang="en-US" dirty="0"/>
              <a:t> </a:t>
            </a:r>
            <a:r>
              <a:rPr lang="en-US" dirty="0" err="1"/>
              <a:t>thiện</a:t>
            </a:r>
            <a:r>
              <a:rPr lang="en-US" dirty="0"/>
              <a:t> </a:t>
            </a:r>
            <a:r>
              <a:rPr lang="en-US" dirty="0" err="1"/>
              <a:t>tinh</a:t>
            </a:r>
            <a:r>
              <a:rPr lang="en-US" dirty="0"/>
              <a:t> </a:t>
            </a:r>
            <a:r>
              <a:rPr lang="en-US" dirty="0" err="1"/>
              <a:t>thần</a:t>
            </a:r>
            <a:r>
              <a:rPr lang="en-US" dirty="0"/>
              <a:t>…</a:t>
            </a:r>
          </a:p>
          <a:p>
            <a:pPr algn="just"/>
            <a:endParaRPr lang="en-US" dirty="0"/>
          </a:p>
        </p:txBody>
      </p:sp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 err="1"/>
              <a:t>Lợi</a:t>
            </a:r>
            <a:r>
              <a:rPr lang="en-US" sz="4000" dirty="0"/>
              <a:t> </a:t>
            </a:r>
            <a:r>
              <a:rPr lang="en-US" sz="4000" dirty="0" err="1"/>
              <a:t>ích</a:t>
            </a:r>
            <a:r>
              <a:rPr lang="en-US" sz="4000" dirty="0"/>
              <a:t> </a:t>
            </a:r>
            <a:r>
              <a:rPr lang="en-US" sz="4000" dirty="0" err="1"/>
              <a:t>của</a:t>
            </a:r>
            <a:r>
              <a:rPr lang="en-US" sz="4000" dirty="0"/>
              <a:t> </a:t>
            </a:r>
            <a:r>
              <a:rPr lang="en-US" sz="4000" dirty="0" err="1"/>
              <a:t>cân</a:t>
            </a:r>
            <a:r>
              <a:rPr lang="en-US" sz="4000" dirty="0"/>
              <a:t> </a:t>
            </a:r>
            <a:r>
              <a:rPr lang="en-US" sz="4000" dirty="0" err="1"/>
              <a:t>bằng</a:t>
            </a:r>
            <a:r>
              <a:rPr lang="en-US" sz="4000" dirty="0"/>
              <a:t> </a:t>
            </a:r>
            <a:r>
              <a:rPr lang="en-US" sz="4000" dirty="0" err="1"/>
              <a:t>nhân</a:t>
            </a:r>
            <a:r>
              <a:rPr lang="en-US" sz="4000" dirty="0"/>
              <a:t> </a:t>
            </a:r>
            <a:r>
              <a:rPr lang="en-US" sz="4000" dirty="0" err="1"/>
              <a:t>lực</a:t>
            </a:r>
            <a:endParaRPr lang="en-US" sz="4000" dirty="0"/>
          </a:p>
        </p:txBody>
      </p:sp>
      <p:sp>
        <p:nvSpPr>
          <p:cNvPr id="52229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8575A48-F06F-4253-943B-A493757C7B42}" type="slidenum">
              <a:rPr lang="en-US" smtClean="0"/>
              <a:pPr>
                <a:defRPr/>
              </a:pPr>
              <a:t>50</a:t>
            </a:fld>
            <a:endParaRPr lang="en-US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" y="990600"/>
            <a:ext cx="9010650" cy="4114800"/>
          </a:xfrm>
          <a:prstGeom prst="rect">
            <a:avLst/>
          </a:prstGeom>
        </p:spPr>
      </p:pic>
      <p:sp>
        <p:nvSpPr>
          <p:cNvPr id="24581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A4FB8A0-D8A7-49BC-9495-433B792AAC3C}" type="slidenum">
              <a:rPr lang="en-US" smtClean="0"/>
              <a:pPr>
                <a:defRPr/>
              </a:pPr>
              <a:t>51</a:t>
            </a:fld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3429000" y="4279900"/>
            <a:ext cx="2766060" cy="410653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305800" cy="1143000"/>
          </a:xfrm>
        </p:spPr>
        <p:txBody>
          <a:bodyPr>
            <a:noAutofit/>
          </a:bodyPr>
          <a:lstStyle/>
          <a:p>
            <a:pPr algn="ctr" eaLnBrk="1" hangingPunct="1">
              <a:defRPr/>
            </a:pP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Quản lý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nguồn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nhân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lực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dự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án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[3/4]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5417054"/>
            <a:ext cx="1752600" cy="137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688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709738"/>
            <a:ext cx="7848600" cy="3243262"/>
          </a:xfrm>
        </p:spPr>
        <p:txBody>
          <a:bodyPr/>
          <a:lstStyle/>
          <a:p>
            <a:pPr algn="just">
              <a:spcBef>
                <a:spcPts val="1800"/>
              </a:spcBef>
              <a:spcAft>
                <a:spcPts val="1200"/>
              </a:spcAft>
            </a:pPr>
            <a:r>
              <a:rPr lang="en-US" b="1" dirty="0"/>
              <a:t>Phát triển </a:t>
            </a:r>
            <a:r>
              <a:rPr lang="en-US" b="1" dirty="0" err="1"/>
              <a:t>đội</a:t>
            </a:r>
            <a:r>
              <a:rPr lang="en-US" b="1" dirty="0"/>
              <a:t> </a:t>
            </a:r>
            <a:r>
              <a:rPr lang="en-US" b="1" dirty="0" err="1"/>
              <a:t>dự</a:t>
            </a:r>
            <a:r>
              <a:rPr lang="en-US" b="1" dirty="0"/>
              <a:t> </a:t>
            </a:r>
            <a:r>
              <a:rPr lang="en-US" b="1" dirty="0" err="1"/>
              <a:t>án</a:t>
            </a:r>
            <a:r>
              <a:rPr lang="en-US" b="1" dirty="0"/>
              <a:t> </a:t>
            </a:r>
            <a:r>
              <a:rPr lang="en-US" dirty="0"/>
              <a:t>(</a:t>
            </a:r>
            <a:r>
              <a:rPr lang="en-US" dirty="0">
                <a:solidFill>
                  <a:srgbClr val="0070C0"/>
                </a:solidFill>
              </a:rPr>
              <a:t>develop project team</a:t>
            </a:r>
            <a:r>
              <a:rPr lang="en-US" dirty="0"/>
              <a:t>): </a:t>
            </a:r>
            <a:r>
              <a:rPr lang="en-US" dirty="0" err="1"/>
              <a:t>giúp</a:t>
            </a:r>
            <a:r>
              <a:rPr lang="en-US" dirty="0"/>
              <a:t> </a:t>
            </a:r>
            <a:r>
              <a:rPr lang="en-US" dirty="0" err="1"/>
              <a:t>mọi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cùng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,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nâng</a:t>
            </a:r>
            <a:r>
              <a:rPr lang="en-US" dirty="0"/>
              <a:t> cao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suất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.</a:t>
            </a:r>
          </a:p>
          <a:p>
            <a:pPr algn="just">
              <a:spcBef>
                <a:spcPts val="1800"/>
              </a:spcBef>
              <a:spcAft>
                <a:spcPts val="1200"/>
              </a:spcAft>
            </a:pPr>
            <a:r>
              <a:rPr lang="en-US" dirty="0" err="1"/>
              <a:t>Đội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</a:t>
            </a:r>
            <a:r>
              <a:rPr lang="en-US" dirty="0" err="1"/>
              <a:t>hoàn</a:t>
            </a:r>
            <a:r>
              <a:rPr lang="en-US" dirty="0"/>
              <a:t> </a:t>
            </a:r>
            <a:r>
              <a:rPr lang="en-US" dirty="0" err="1"/>
              <a:t>tất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hầu</a:t>
            </a:r>
            <a:r>
              <a:rPr lang="en-US" dirty="0"/>
              <a:t> </a:t>
            </a:r>
            <a:r>
              <a:rPr lang="en-US" dirty="0" err="1"/>
              <a:t>hết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.</a:t>
            </a:r>
          </a:p>
        </p:txBody>
      </p:sp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dirty="0">
                <a:solidFill>
                  <a:srgbClr val="FF0000"/>
                </a:solidFill>
              </a:rPr>
              <a:t>3. Phát triển </a:t>
            </a:r>
            <a:r>
              <a:rPr lang="en-US" sz="4400" dirty="0" err="1">
                <a:solidFill>
                  <a:srgbClr val="FF0000"/>
                </a:solidFill>
              </a:rPr>
              <a:t>đội</a:t>
            </a:r>
            <a:r>
              <a:rPr lang="en-US" sz="4400" dirty="0">
                <a:solidFill>
                  <a:srgbClr val="FF0000"/>
                </a:solidFill>
              </a:rPr>
              <a:t> </a:t>
            </a:r>
            <a:r>
              <a:rPr lang="en-US" sz="4400" dirty="0" err="1">
                <a:solidFill>
                  <a:srgbClr val="FF0000"/>
                </a:solidFill>
              </a:rPr>
              <a:t>dự</a:t>
            </a:r>
            <a:r>
              <a:rPr lang="en-US" sz="4400" dirty="0">
                <a:solidFill>
                  <a:srgbClr val="FF0000"/>
                </a:solidFill>
              </a:rPr>
              <a:t> </a:t>
            </a:r>
            <a:r>
              <a:rPr lang="en-US" sz="4400" dirty="0" err="1">
                <a:solidFill>
                  <a:srgbClr val="FF0000"/>
                </a:solidFill>
              </a:rPr>
              <a:t>án</a:t>
            </a:r>
            <a:endParaRPr lang="en-US" sz="4400" dirty="0">
              <a:solidFill>
                <a:srgbClr val="FF0000"/>
              </a:solidFill>
            </a:endParaRPr>
          </a:p>
        </p:txBody>
      </p:sp>
      <p:sp>
        <p:nvSpPr>
          <p:cNvPr id="53253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30486C6-C6CB-49E9-92A1-25BC862C7E9F}" type="slidenum">
              <a:rPr lang="en-US" smtClean="0"/>
              <a:pPr>
                <a:defRPr/>
              </a:pPr>
              <a:t>52</a:t>
            </a:fld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4267200"/>
            <a:ext cx="1724025" cy="205648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447800"/>
            <a:ext cx="8229600" cy="3886200"/>
          </a:xfrm>
        </p:spPr>
        <p:txBody>
          <a:bodyPr/>
          <a:lstStyle/>
          <a:p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(</a:t>
            </a:r>
            <a:r>
              <a:rPr lang="en-US" dirty="0">
                <a:solidFill>
                  <a:srgbClr val="0070C0"/>
                </a:solidFill>
              </a:rPr>
              <a:t>forming</a:t>
            </a:r>
            <a:r>
              <a:rPr lang="en-US" dirty="0"/>
              <a:t>)</a:t>
            </a:r>
          </a:p>
          <a:p>
            <a:r>
              <a:rPr lang="en-US" dirty="0" err="1"/>
              <a:t>Sóng</a:t>
            </a:r>
            <a:r>
              <a:rPr lang="en-US" dirty="0"/>
              <a:t> </a:t>
            </a:r>
            <a:r>
              <a:rPr lang="en-US" dirty="0" err="1"/>
              <a:t>gió</a:t>
            </a:r>
            <a:r>
              <a:rPr lang="en-US" dirty="0"/>
              <a:t> (</a:t>
            </a:r>
            <a:r>
              <a:rPr lang="en-US" dirty="0">
                <a:solidFill>
                  <a:srgbClr val="0070C0"/>
                </a:solidFill>
              </a:rPr>
              <a:t>storming</a:t>
            </a:r>
            <a:r>
              <a:rPr lang="en-US" dirty="0"/>
              <a:t>)</a:t>
            </a:r>
          </a:p>
          <a:p>
            <a:r>
              <a:rPr lang="en-US" dirty="0" err="1"/>
              <a:t>Ổn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(</a:t>
            </a:r>
            <a:r>
              <a:rPr lang="en-US" dirty="0">
                <a:solidFill>
                  <a:srgbClr val="0070C0"/>
                </a:solidFill>
              </a:rPr>
              <a:t>norming</a:t>
            </a:r>
            <a:r>
              <a:rPr lang="en-US" dirty="0"/>
              <a:t>)</a:t>
            </a:r>
          </a:p>
          <a:p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(</a:t>
            </a:r>
            <a:r>
              <a:rPr lang="en-US" dirty="0">
                <a:solidFill>
                  <a:srgbClr val="0070C0"/>
                </a:solidFill>
              </a:rPr>
              <a:t>performing</a:t>
            </a:r>
            <a:r>
              <a:rPr lang="en-US" dirty="0"/>
              <a:t>)</a:t>
            </a:r>
          </a:p>
          <a:p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(</a:t>
            </a:r>
            <a:r>
              <a:rPr lang="en-US" dirty="0">
                <a:solidFill>
                  <a:srgbClr val="0070C0"/>
                </a:solidFill>
              </a:rPr>
              <a:t>adjourning</a:t>
            </a:r>
            <a:r>
              <a:rPr lang="en-US" dirty="0"/>
              <a:t>).</a:t>
            </a:r>
          </a:p>
          <a:p>
            <a:endParaRPr lang="en-US" dirty="0"/>
          </a:p>
        </p:txBody>
      </p:sp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228600"/>
            <a:ext cx="8763000" cy="1143000"/>
          </a:xfrm>
        </p:spPr>
        <p:txBody>
          <a:bodyPr>
            <a:normAutofit/>
          </a:bodyPr>
          <a:lstStyle/>
          <a:p>
            <a:pPr algn="ctr"/>
            <a:r>
              <a:rPr lang="vi-V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Mô hình phát triển đội - Tuckman </a:t>
            </a:r>
          </a:p>
        </p:txBody>
      </p:sp>
      <p:sp>
        <p:nvSpPr>
          <p:cNvPr id="54277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944B807-4ED5-4CD6-83DF-DEE3BB392311}" type="slidenum">
              <a:rPr lang="en-US" smtClean="0"/>
              <a:pPr>
                <a:defRPr/>
              </a:pPr>
              <a:t>53</a:t>
            </a:fld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91000"/>
            <a:ext cx="9098054" cy="1752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9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905000"/>
            <a:ext cx="8077200" cy="3319462"/>
          </a:xfrm>
        </p:spPr>
        <p:txBody>
          <a:bodyPr/>
          <a:lstStyle/>
          <a:p>
            <a:pPr algn="just"/>
            <a:r>
              <a:rPr lang="en-US" dirty="0"/>
              <a:t>Đào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giúp</a:t>
            </a:r>
            <a:r>
              <a:rPr lang="en-US" dirty="0"/>
              <a:t> con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hiểu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thân</a:t>
            </a:r>
            <a:r>
              <a:rPr lang="en-US" dirty="0"/>
              <a:t>, </a:t>
            </a:r>
            <a:r>
              <a:rPr lang="en-US" dirty="0" err="1"/>
              <a:t>hiểu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, và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nhóm</a:t>
            </a:r>
            <a:r>
              <a:rPr lang="en-US" dirty="0"/>
              <a:t> </a:t>
            </a:r>
            <a:r>
              <a:rPr lang="en-US" dirty="0" err="1"/>
              <a:t>tốt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.</a:t>
            </a:r>
          </a:p>
          <a:p>
            <a:pPr algn="just">
              <a:spcBef>
                <a:spcPts val="2400"/>
              </a:spcBef>
            </a:pP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xây</a:t>
            </a:r>
            <a:r>
              <a:rPr lang="en-US" dirty="0"/>
              <a:t> </a:t>
            </a:r>
            <a:r>
              <a:rPr lang="en-US" dirty="0" err="1"/>
              <a:t>dựng</a:t>
            </a:r>
            <a:r>
              <a:rPr lang="en-US" dirty="0"/>
              <a:t> </a:t>
            </a:r>
            <a:r>
              <a:rPr lang="en-US" dirty="0" err="1"/>
              <a:t>đội</a:t>
            </a:r>
            <a:r>
              <a:rPr lang="en-US" dirty="0"/>
              <a:t>/</a:t>
            </a:r>
            <a:r>
              <a:rPr lang="en-US" dirty="0" err="1"/>
              <a:t>nhóm</a:t>
            </a:r>
            <a:r>
              <a:rPr lang="en-US" dirty="0"/>
              <a:t>: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400" dirty="0" err="1"/>
              <a:t>Thử</a:t>
            </a:r>
            <a:r>
              <a:rPr lang="en-US" sz="2400" dirty="0"/>
              <a:t> </a:t>
            </a:r>
            <a:r>
              <a:rPr lang="en-US" sz="2400" dirty="0" err="1"/>
              <a:t>thách</a:t>
            </a:r>
            <a:r>
              <a:rPr lang="en-US" sz="2400" dirty="0"/>
              <a:t> </a:t>
            </a:r>
            <a:r>
              <a:rPr lang="en-US" sz="2400" dirty="0" err="1"/>
              <a:t>sinh</a:t>
            </a:r>
            <a:r>
              <a:rPr lang="en-US" sz="2400" dirty="0"/>
              <a:t> lý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400" dirty="0" err="1"/>
              <a:t>Công</a:t>
            </a:r>
            <a:r>
              <a:rPr lang="en-US" sz="2400" dirty="0"/>
              <a:t> </a:t>
            </a:r>
            <a:r>
              <a:rPr lang="en-US" sz="2400" dirty="0" err="1"/>
              <a:t>cụ</a:t>
            </a:r>
            <a:r>
              <a:rPr lang="en-US" sz="2400" dirty="0"/>
              <a:t> </a:t>
            </a:r>
            <a:r>
              <a:rPr lang="en-US" sz="2400" dirty="0" err="1"/>
              <a:t>biểu</a:t>
            </a:r>
            <a:r>
              <a:rPr lang="en-US" sz="2400" dirty="0"/>
              <a:t> thị </a:t>
            </a:r>
            <a:r>
              <a:rPr lang="en-US" sz="2400" dirty="0" err="1"/>
              <a:t>sở</a:t>
            </a:r>
            <a:r>
              <a:rPr lang="en-US" sz="2400" dirty="0"/>
              <a:t> </a:t>
            </a:r>
            <a:r>
              <a:rPr lang="en-US" sz="2400" dirty="0" err="1"/>
              <a:t>thích</a:t>
            </a:r>
            <a:r>
              <a:rPr lang="en-US" sz="2400" dirty="0"/>
              <a:t> </a:t>
            </a:r>
            <a:r>
              <a:rPr lang="en-US" sz="2400" dirty="0" err="1"/>
              <a:t>tâm</a:t>
            </a:r>
            <a:r>
              <a:rPr lang="en-US" sz="2400" dirty="0"/>
              <a:t> lý.</a:t>
            </a:r>
          </a:p>
          <a:p>
            <a:pPr marL="109537" indent="0" algn="just">
              <a:buNone/>
            </a:pPr>
            <a:endParaRPr lang="en-US" dirty="0"/>
          </a:p>
          <a:p>
            <a:pPr algn="just"/>
            <a:endParaRPr lang="en-US" dirty="0"/>
          </a:p>
        </p:txBody>
      </p:sp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Đào </a:t>
            </a:r>
            <a:r>
              <a:rPr lang="en-US" sz="4000" dirty="0" err="1"/>
              <a:t>tạo</a:t>
            </a:r>
            <a:endParaRPr lang="en-US" sz="4000" dirty="0"/>
          </a:p>
        </p:txBody>
      </p:sp>
      <p:sp>
        <p:nvSpPr>
          <p:cNvPr id="55301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5336755-EAD2-414D-9321-6AA687A35C86}" type="slidenum">
              <a:rPr lang="en-US" smtClean="0"/>
              <a:pPr>
                <a:defRPr/>
              </a:pPr>
              <a:t>54</a:t>
            </a:fld>
            <a:endParaRPr lang="en-US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3"/>
          <p:cNvSpPr>
            <a:spLocks noGrp="1" noChangeArrowheads="1"/>
          </p:cNvSpPr>
          <p:nvPr>
            <p:ph idx="1"/>
          </p:nvPr>
        </p:nvSpPr>
        <p:spPr>
          <a:xfrm>
            <a:off x="21771" y="1066800"/>
            <a:ext cx="8186738" cy="1752600"/>
          </a:xfrm>
        </p:spPr>
        <p:txBody>
          <a:bodyPr/>
          <a:lstStyle/>
          <a:p>
            <a:pPr lvl="1">
              <a:buFont typeface="Arial" panose="020B0604020202020204" pitchFamily="34" charset="0"/>
              <a:buChar char="•"/>
            </a:pPr>
            <a:r>
              <a:rPr lang="en-US" sz="2200" dirty="0" err="1"/>
              <a:t>Hướng</a:t>
            </a:r>
            <a:r>
              <a:rPr lang="en-US" sz="2200" dirty="0"/>
              <a:t> </a:t>
            </a:r>
            <a:r>
              <a:rPr lang="en-US" sz="2200" dirty="0" err="1"/>
              <a:t>ngoại</a:t>
            </a:r>
            <a:r>
              <a:rPr lang="en-US" sz="2200" dirty="0"/>
              <a:t> - </a:t>
            </a:r>
            <a:r>
              <a:rPr lang="en-US" sz="2200" dirty="0" err="1"/>
              <a:t>Hướng</a:t>
            </a:r>
            <a:r>
              <a:rPr lang="en-US" sz="2200" dirty="0"/>
              <a:t> </a:t>
            </a:r>
            <a:r>
              <a:rPr lang="en-US" sz="2200" dirty="0" err="1"/>
              <a:t>nội</a:t>
            </a:r>
            <a:r>
              <a:rPr lang="en-US" sz="2200" dirty="0"/>
              <a:t> (</a:t>
            </a:r>
            <a:r>
              <a:rPr lang="en-US" sz="22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</a:t>
            </a:r>
            <a:r>
              <a:rPr lang="en-US" sz="2200" dirty="0">
                <a:solidFill>
                  <a:srgbClr val="0070C0"/>
                </a:solidFill>
              </a:rPr>
              <a:t> - </a:t>
            </a:r>
            <a:r>
              <a:rPr lang="en-US" sz="22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</a:t>
            </a:r>
            <a:r>
              <a:rPr lang="en-US" sz="2200" dirty="0"/>
              <a:t>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 err="1"/>
              <a:t>Cảm</a:t>
            </a:r>
            <a:r>
              <a:rPr lang="en-US" sz="2200" dirty="0"/>
              <a:t> </a:t>
            </a:r>
            <a:r>
              <a:rPr lang="en-US" sz="2200" dirty="0" err="1"/>
              <a:t>giác</a:t>
            </a:r>
            <a:r>
              <a:rPr lang="en-US" sz="2200" dirty="0"/>
              <a:t> - </a:t>
            </a:r>
            <a:r>
              <a:rPr lang="en-US" sz="2200" dirty="0" err="1"/>
              <a:t>Trực</a:t>
            </a:r>
            <a:r>
              <a:rPr lang="en-US" sz="2200" dirty="0"/>
              <a:t> </a:t>
            </a:r>
            <a:r>
              <a:rPr lang="en-US" sz="2200" dirty="0" err="1"/>
              <a:t>giác</a:t>
            </a:r>
            <a:r>
              <a:rPr lang="en-US" sz="2200" dirty="0"/>
              <a:t> (</a:t>
            </a:r>
            <a:r>
              <a:rPr lang="en-US" sz="22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  <a:r>
              <a:rPr lang="en-US" sz="2200" dirty="0">
                <a:solidFill>
                  <a:srgbClr val="0070C0"/>
                </a:solidFill>
              </a:rPr>
              <a:t> - </a:t>
            </a:r>
            <a:r>
              <a:rPr lang="en-US" sz="22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</a:t>
            </a:r>
            <a:r>
              <a:rPr lang="en-US" sz="2200" dirty="0"/>
              <a:t>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/>
              <a:t>Lý </a:t>
            </a:r>
            <a:r>
              <a:rPr lang="en-US" sz="2200" dirty="0" err="1"/>
              <a:t>trí</a:t>
            </a:r>
            <a:r>
              <a:rPr lang="en-US" sz="2200" dirty="0"/>
              <a:t> - </a:t>
            </a:r>
            <a:r>
              <a:rPr lang="en-US" sz="2200" dirty="0" err="1"/>
              <a:t>Tình</a:t>
            </a:r>
            <a:r>
              <a:rPr lang="en-US" sz="2200" dirty="0"/>
              <a:t> </a:t>
            </a:r>
            <a:r>
              <a:rPr lang="en-US" sz="2200" dirty="0" err="1"/>
              <a:t>cảm</a:t>
            </a:r>
            <a:r>
              <a:rPr lang="en-US" sz="2200" dirty="0"/>
              <a:t> (</a:t>
            </a:r>
            <a:r>
              <a:rPr lang="en-US" sz="22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</a:t>
            </a:r>
            <a:r>
              <a:rPr lang="en-US" sz="2200" dirty="0">
                <a:solidFill>
                  <a:srgbClr val="0070C0"/>
                </a:solidFill>
              </a:rPr>
              <a:t> - </a:t>
            </a:r>
            <a:r>
              <a:rPr lang="en-US" sz="22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</a:t>
            </a:r>
            <a:r>
              <a:rPr lang="en-US" sz="2200" dirty="0"/>
              <a:t>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 err="1"/>
              <a:t>Nguyên</a:t>
            </a:r>
            <a:r>
              <a:rPr lang="en-US" sz="2200" dirty="0"/>
              <a:t> </a:t>
            </a:r>
            <a:r>
              <a:rPr lang="en-US" sz="2200" dirty="0" err="1"/>
              <a:t>tắc</a:t>
            </a:r>
            <a:r>
              <a:rPr lang="en-US" sz="2200" dirty="0"/>
              <a:t> - Linh </a:t>
            </a:r>
            <a:r>
              <a:rPr lang="en-US" sz="2200" dirty="0" err="1"/>
              <a:t>hoạt</a:t>
            </a:r>
            <a:r>
              <a:rPr lang="en-US" sz="2200" dirty="0"/>
              <a:t> (</a:t>
            </a:r>
            <a:r>
              <a:rPr lang="en-US" sz="22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</a:t>
            </a:r>
            <a:r>
              <a:rPr lang="en-US" sz="2200" dirty="0">
                <a:solidFill>
                  <a:srgbClr val="0070C0"/>
                </a:solidFill>
              </a:rPr>
              <a:t> - </a:t>
            </a:r>
            <a:r>
              <a:rPr lang="en-US" sz="22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</a:t>
            </a:r>
            <a:r>
              <a:rPr lang="en-US" sz="2200" dirty="0"/>
              <a:t>)</a:t>
            </a:r>
          </a:p>
        </p:txBody>
      </p:sp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735013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MBTI</a:t>
            </a:r>
            <a:endParaRPr lang="en-US" sz="4000" dirty="0"/>
          </a:p>
        </p:txBody>
      </p:sp>
      <p:sp>
        <p:nvSpPr>
          <p:cNvPr id="56325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B970F67-BD7F-4B81-9865-4B889747CB99}" type="slidenum">
              <a:rPr lang="en-US" smtClean="0"/>
              <a:pPr>
                <a:defRPr/>
              </a:pPr>
              <a:t>55</a:t>
            </a:fld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6858000" y="5715000"/>
            <a:ext cx="15311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dirty="0"/>
              <a:t>Briggs Myers</a:t>
            </a:r>
            <a:endParaRPr lang="vi-VN" sz="1800" dirty="0"/>
          </a:p>
        </p:txBody>
      </p:sp>
      <p:pic>
        <p:nvPicPr>
          <p:cNvPr id="1030" name="Picture 6" descr="http://www.kaizen-skills.ma/wp-content/uploads/2014/01/mbti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2290" y="2895600"/>
            <a:ext cx="2551967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3124200"/>
            <a:ext cx="1794265" cy="2543175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3505200" y="3953933"/>
            <a:ext cx="14410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3940431" y="1803399"/>
            <a:ext cx="174369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896" y="1118548"/>
            <a:ext cx="7943850" cy="5219700"/>
          </a:xfrm>
          <a:prstGeom prst="rect">
            <a:avLst/>
          </a:prstGeom>
        </p:spPr>
      </p:pic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735013"/>
          </a:xfrm>
        </p:spPr>
        <p:txBody>
          <a:bodyPr>
            <a:normAutofit/>
          </a:bodyPr>
          <a:lstStyle/>
          <a:p>
            <a:pPr algn="ctr"/>
            <a:r>
              <a:rPr lang="en-US" sz="3600" dirty="0" err="1"/>
              <a:t>Tính</a:t>
            </a:r>
            <a:r>
              <a:rPr lang="en-US" sz="3600" dirty="0"/>
              <a:t> </a:t>
            </a:r>
            <a:r>
              <a:rPr lang="en-US" sz="3600" dirty="0" err="1"/>
              <a:t>cách</a:t>
            </a:r>
            <a:r>
              <a:rPr lang="en-US" sz="3600" dirty="0"/>
              <a:t> </a:t>
            </a:r>
            <a:r>
              <a:rPr lang="en-US" sz="3600" dirty="0" err="1"/>
              <a:t>cá</a:t>
            </a:r>
            <a:r>
              <a:rPr lang="en-US" sz="3600" dirty="0"/>
              <a:t> </a:t>
            </a:r>
            <a:r>
              <a:rPr lang="en-US" sz="3600" dirty="0" err="1"/>
              <a:t>nhân</a:t>
            </a:r>
            <a:r>
              <a:rPr lang="en-US" sz="3600" dirty="0"/>
              <a:t> </a:t>
            </a:r>
            <a:r>
              <a:rPr lang="en-US" sz="3600" dirty="0" err="1"/>
              <a:t>theo</a:t>
            </a:r>
            <a:r>
              <a:rPr lang="en-US" sz="3600" dirty="0"/>
              <a:t> MBTI</a:t>
            </a:r>
            <a:endParaRPr lang="en-US" sz="4000" dirty="0"/>
          </a:p>
        </p:txBody>
      </p:sp>
      <p:sp>
        <p:nvSpPr>
          <p:cNvPr id="56325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B970F67-BD7F-4B81-9865-4B889747CB99}" type="slidenum">
              <a:rPr lang="en-US" smtClean="0"/>
              <a:pPr>
                <a:defRPr/>
              </a:pPr>
              <a:t>56</a:t>
            </a:fld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4687389" y="1245326"/>
            <a:ext cx="3733800" cy="2362200"/>
          </a:xfrm>
          <a:prstGeom prst="rect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24790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B970F67-BD7F-4B81-9865-4B889747CB99}" type="slidenum">
              <a:rPr lang="en-US" smtClean="0"/>
              <a:pPr>
                <a:defRPr/>
              </a:pPr>
              <a:t>57</a:t>
            </a:fld>
            <a:endParaRPr lang="en-US" dirty="0"/>
          </a:p>
        </p:txBody>
      </p:sp>
      <p:pic>
        <p:nvPicPr>
          <p:cNvPr id="3074" name="Picture 2" descr="http://media02.hongkiat.com/mbti-personality-career/mbti-infographic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8651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458200" cy="914400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DISC</a:t>
            </a:r>
            <a:endParaRPr lang="en-US" sz="4000" dirty="0"/>
          </a:p>
        </p:txBody>
      </p:sp>
      <p:sp>
        <p:nvSpPr>
          <p:cNvPr id="59396" name="Footer Placeholder 2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029D482-0E7B-4933-A612-481FEE7DC6B1}" type="slidenum">
              <a:rPr lang="en-US" smtClean="0"/>
              <a:pPr>
                <a:defRPr/>
              </a:pPr>
              <a:t>58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1614729"/>
            <a:ext cx="6019800" cy="4481271"/>
          </a:xfrm>
          <a:prstGeom prst="rect">
            <a:avLst/>
          </a:prstGeom>
        </p:spPr>
      </p:pic>
      <p:sp>
        <p:nvSpPr>
          <p:cNvPr id="59395" name="Content Placeholder 4"/>
          <p:cNvSpPr>
            <a:spLocks noGrp="1"/>
          </p:cNvSpPr>
          <p:nvPr>
            <p:ph idx="1"/>
          </p:nvPr>
        </p:nvSpPr>
        <p:spPr>
          <a:xfrm>
            <a:off x="5791200" y="381000"/>
            <a:ext cx="3217817" cy="1524000"/>
          </a:xfrm>
        </p:spPr>
        <p:txBody>
          <a:bodyPr/>
          <a:lstStyle/>
          <a:p>
            <a:pPr marL="112713" lvl="1" indent="0" algn="just">
              <a:buNone/>
            </a:pPr>
            <a:r>
              <a:rPr lang="en-US" sz="2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</a:t>
            </a:r>
            <a:r>
              <a:rPr lang="en-US" sz="2200" dirty="0">
                <a:solidFill>
                  <a:srgbClr val="FF0000"/>
                </a:solidFill>
              </a:rPr>
              <a:t>ominance</a:t>
            </a:r>
            <a:r>
              <a:rPr lang="en-US" sz="2200" dirty="0"/>
              <a:t> (</a:t>
            </a:r>
            <a:r>
              <a:rPr lang="en-US" sz="2200" dirty="0" err="1"/>
              <a:t>ưu</a:t>
            </a:r>
            <a:r>
              <a:rPr lang="en-US" sz="2200" dirty="0"/>
              <a:t> </a:t>
            </a:r>
            <a:r>
              <a:rPr lang="en-US" sz="2200" dirty="0" err="1"/>
              <a:t>thế</a:t>
            </a:r>
            <a:r>
              <a:rPr lang="en-US" sz="2200" dirty="0"/>
              <a:t>)</a:t>
            </a:r>
          </a:p>
          <a:p>
            <a:pPr marL="112713" lvl="1" indent="0" algn="just">
              <a:buNone/>
            </a:pPr>
            <a:r>
              <a:rPr lang="en-US" sz="11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2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</a:t>
            </a:r>
            <a:r>
              <a:rPr lang="en-US" sz="2200" dirty="0">
                <a:solidFill>
                  <a:srgbClr val="FFC000"/>
                </a:solidFill>
              </a:rPr>
              <a:t>nfluence</a:t>
            </a:r>
            <a:r>
              <a:rPr lang="en-US" sz="2200" dirty="0"/>
              <a:t> (</a:t>
            </a:r>
            <a:r>
              <a:rPr lang="en-US" sz="2200" dirty="0" err="1"/>
              <a:t>ảnh</a:t>
            </a:r>
            <a:r>
              <a:rPr lang="en-US" sz="2200" dirty="0"/>
              <a:t> </a:t>
            </a:r>
            <a:r>
              <a:rPr lang="en-US" sz="2200" dirty="0" err="1"/>
              <a:t>hưởng</a:t>
            </a:r>
            <a:r>
              <a:rPr lang="en-US" sz="2200" dirty="0"/>
              <a:t>)</a:t>
            </a:r>
          </a:p>
          <a:p>
            <a:pPr marL="112713" lvl="1" indent="0" algn="just">
              <a:buNone/>
            </a:pPr>
            <a:r>
              <a:rPr lang="en-US" sz="22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</a:t>
            </a:r>
            <a:r>
              <a:rPr lang="en-US" sz="2200" dirty="0">
                <a:solidFill>
                  <a:srgbClr val="00B050"/>
                </a:solidFill>
              </a:rPr>
              <a:t>teadiness</a:t>
            </a:r>
            <a:r>
              <a:rPr lang="en-US" sz="2200" dirty="0"/>
              <a:t> (</a:t>
            </a:r>
            <a:r>
              <a:rPr lang="en-US" sz="2200" dirty="0" err="1"/>
              <a:t>kiên</a:t>
            </a:r>
            <a:r>
              <a:rPr lang="en-US" sz="2200" dirty="0"/>
              <a:t> </a:t>
            </a:r>
            <a:r>
              <a:rPr lang="en-US" sz="2200" dirty="0" err="1"/>
              <a:t>định</a:t>
            </a:r>
            <a:r>
              <a:rPr lang="en-US" sz="2200" dirty="0"/>
              <a:t>)</a:t>
            </a:r>
          </a:p>
          <a:p>
            <a:pPr marL="112713" lvl="1" indent="0" algn="just">
              <a:buNone/>
            </a:pPr>
            <a:r>
              <a:rPr lang="en-US" sz="2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  <a:r>
              <a:rPr lang="en-US" sz="2200" dirty="0">
                <a:solidFill>
                  <a:srgbClr val="0070C0"/>
                </a:solidFill>
              </a:rPr>
              <a:t>ompliance</a:t>
            </a:r>
            <a:r>
              <a:rPr lang="en-US" sz="2200" dirty="0"/>
              <a:t> (</a:t>
            </a:r>
            <a:r>
              <a:rPr lang="en-US" sz="2200" dirty="0" err="1"/>
              <a:t>tuân</a:t>
            </a:r>
            <a:r>
              <a:rPr lang="en-US" sz="2200" dirty="0"/>
              <a:t> </a:t>
            </a:r>
            <a:r>
              <a:rPr lang="en-US" sz="2200" dirty="0" err="1"/>
              <a:t>thủ</a:t>
            </a:r>
            <a:r>
              <a:rPr lang="en-US" sz="2200" dirty="0"/>
              <a:t>).</a:t>
            </a:r>
          </a:p>
          <a:p>
            <a:pPr lvl="1" algn="just"/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9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9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9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9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395" grpId="0" build="p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914400"/>
          </a:xfrm>
        </p:spPr>
        <p:txBody>
          <a:bodyPr>
            <a:normAutofit/>
          </a:bodyPr>
          <a:lstStyle/>
          <a:p>
            <a:pPr algn="ctr"/>
            <a:r>
              <a:rPr lang="en-US" sz="3600" dirty="0" err="1"/>
              <a:t>Các</a:t>
            </a:r>
            <a:r>
              <a:rPr lang="en-US" sz="3600" dirty="0"/>
              <a:t> </a:t>
            </a:r>
            <a:r>
              <a:rPr lang="en-US" sz="3600" dirty="0" err="1"/>
              <a:t>phong</a:t>
            </a:r>
            <a:r>
              <a:rPr lang="en-US" sz="3600" dirty="0"/>
              <a:t> </a:t>
            </a:r>
            <a:r>
              <a:rPr lang="en-US" sz="3600" dirty="0" err="1"/>
              <a:t>cách</a:t>
            </a:r>
            <a:r>
              <a:rPr lang="en-US" sz="3600" dirty="0"/>
              <a:t> </a:t>
            </a:r>
            <a:r>
              <a:rPr lang="en-US" sz="3600" dirty="0" err="1"/>
              <a:t>xã</a:t>
            </a:r>
            <a:r>
              <a:rPr lang="en-US" sz="3600" dirty="0"/>
              <a:t> </a:t>
            </a:r>
            <a:r>
              <a:rPr lang="en-US" sz="3600" dirty="0" err="1"/>
              <a:t>hội</a:t>
            </a:r>
            <a:endParaRPr lang="en-US" sz="3600" dirty="0"/>
          </a:p>
        </p:txBody>
      </p:sp>
      <p:sp>
        <p:nvSpPr>
          <p:cNvPr id="58373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buFontTx/>
              <a:buNone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buFontTx/>
              <a:buNone/>
              <a:defRPr/>
            </a:pPr>
            <a:fld id="{392AE87C-03B5-4F4C-993A-873D40107ECF}" type="slidenum">
              <a:rPr lang="en-US" smtClean="0"/>
              <a:pPr>
                <a:buFontTx/>
                <a:buNone/>
                <a:defRPr/>
              </a:pPr>
              <a:t>59</a:t>
            </a:fld>
            <a:endParaRPr lang="en-US" dirty="0"/>
          </a:p>
        </p:txBody>
      </p:sp>
      <p:sp>
        <p:nvSpPr>
          <p:cNvPr id="7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295400"/>
            <a:ext cx="2209800" cy="1490662"/>
          </a:xfrm>
        </p:spPr>
        <p:txBody>
          <a:bodyPr/>
          <a:lstStyle/>
          <a:p>
            <a:pPr marL="234950" lvl="1" indent="-182563">
              <a:buFont typeface="Arial" panose="020B0604020202020204" pitchFamily="34" charset="0"/>
              <a:buChar char="•"/>
            </a:pPr>
            <a:r>
              <a:rPr lang="en-US" sz="2200" dirty="0" err="1"/>
              <a:t>Điều</a:t>
            </a:r>
            <a:r>
              <a:rPr lang="en-US" sz="2200" dirty="0"/>
              <a:t> </a:t>
            </a:r>
            <a:r>
              <a:rPr lang="en-US" sz="2200" dirty="0" err="1"/>
              <a:t>khiển</a:t>
            </a:r>
            <a:endParaRPr lang="en-US" sz="2200" dirty="0"/>
          </a:p>
          <a:p>
            <a:pPr marL="234950" lvl="1" indent="-182563">
              <a:buFont typeface="Arial" panose="020B0604020202020204" pitchFamily="34" charset="0"/>
              <a:buChar char="•"/>
            </a:pPr>
            <a:r>
              <a:rPr lang="en-US" sz="2200" dirty="0" err="1"/>
              <a:t>Thể</a:t>
            </a:r>
            <a:r>
              <a:rPr lang="en-US" sz="2200" dirty="0"/>
              <a:t> </a:t>
            </a:r>
            <a:r>
              <a:rPr lang="en-US" sz="2200" dirty="0" err="1"/>
              <a:t>hiện</a:t>
            </a:r>
            <a:endParaRPr lang="en-US" sz="2200" dirty="0"/>
          </a:p>
          <a:p>
            <a:pPr marL="234950" lvl="1" indent="-182563">
              <a:buFont typeface="Arial" panose="020B0604020202020204" pitchFamily="34" charset="0"/>
              <a:buChar char="•"/>
            </a:pPr>
            <a:r>
              <a:rPr lang="en-US" sz="2200" dirty="0" err="1"/>
              <a:t>Phân</a:t>
            </a:r>
            <a:r>
              <a:rPr lang="en-US" sz="2200" dirty="0"/>
              <a:t> </a:t>
            </a:r>
            <a:r>
              <a:rPr lang="en-US" sz="2200" dirty="0" err="1"/>
              <a:t>tích</a:t>
            </a:r>
            <a:endParaRPr lang="en-US" sz="2200" dirty="0"/>
          </a:p>
          <a:p>
            <a:pPr marL="234950" lvl="1" indent="-182563">
              <a:buFont typeface="Arial" panose="020B0604020202020204" pitchFamily="34" charset="0"/>
              <a:buChar char="•"/>
            </a:pPr>
            <a:r>
              <a:rPr lang="en-US" sz="2200" dirty="0" err="1"/>
              <a:t>Dễ</a:t>
            </a:r>
            <a:r>
              <a:rPr lang="en-US" sz="2200" dirty="0"/>
              <a:t> </a:t>
            </a:r>
            <a:r>
              <a:rPr lang="en-US" sz="2200" dirty="0" err="1"/>
              <a:t>chịu</a:t>
            </a:r>
            <a:r>
              <a:rPr lang="en-US" sz="2200" dirty="0"/>
              <a:t>.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1442224"/>
            <a:ext cx="4848225" cy="4729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887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://www.drsusan.net/Images/5CLRlogoPG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219200"/>
            <a:ext cx="5410200" cy="4617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1066800"/>
          </a:xfrm>
        </p:spPr>
        <p:txBody>
          <a:bodyPr>
            <a:normAutofit/>
          </a:bodyPr>
          <a:lstStyle/>
          <a:p>
            <a:pPr algn="ctr"/>
            <a:r>
              <a:rPr lang="en-US" sz="3600" dirty="0" err="1"/>
              <a:t>Tâm</a:t>
            </a:r>
            <a:r>
              <a:rPr lang="en-US" sz="3600" dirty="0"/>
              <a:t> lý </a:t>
            </a:r>
            <a:r>
              <a:rPr lang="en-US" sz="3600" dirty="0" err="1"/>
              <a:t>hình</a:t>
            </a:r>
            <a:r>
              <a:rPr lang="en-US" sz="3600" dirty="0"/>
              <a:t> học</a:t>
            </a:r>
          </a:p>
        </p:txBody>
      </p:sp>
      <p:sp>
        <p:nvSpPr>
          <p:cNvPr id="2" name="Rectangle 1"/>
          <p:cNvSpPr/>
          <p:nvPr/>
        </p:nvSpPr>
        <p:spPr>
          <a:xfrm>
            <a:off x="3942905" y="6096000"/>
            <a:ext cx="329609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vi-VN" sz="1600" dirty="0"/>
              <a:t>Source: Susan E. Dellinger (1989)</a:t>
            </a:r>
          </a:p>
        </p:txBody>
      </p:sp>
      <p:sp>
        <p:nvSpPr>
          <p:cNvPr id="5" name="Footer Placeholder 6"/>
          <p:cNvSpPr>
            <a:spLocks noGrp="1"/>
          </p:cNvSpPr>
          <p:nvPr>
            <p:ph type="ftr" sz="quarter" idx="10"/>
          </p:nvPr>
        </p:nvSpPr>
        <p:spPr bwMode="auto">
          <a:xfrm>
            <a:off x="0" y="6492875"/>
            <a:ext cx="2590800" cy="365125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buFontTx/>
              <a:buNone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</p:spTree>
    <p:extLst>
      <p:ext uri="{BB962C8B-B14F-4D97-AF65-F5344CB8AC3E}">
        <p14:creationId xmlns:p14="http://schemas.microsoft.com/office/powerpoint/2010/main" val="3012608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3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2057400"/>
            <a:ext cx="8229600" cy="2938462"/>
          </a:xfrm>
        </p:spPr>
        <p:txBody>
          <a:bodyPr/>
          <a:lstStyle/>
          <a:p>
            <a:pPr algn="just">
              <a:spcBef>
                <a:spcPts val="1200"/>
              </a:spcBef>
              <a:spcAft>
                <a:spcPts val="1200"/>
              </a:spcAft>
            </a:pPr>
            <a:r>
              <a:rPr lang="en-US" dirty="0"/>
              <a:t>Hệ thống </a:t>
            </a:r>
            <a:r>
              <a:rPr lang="en-US" dirty="0" err="1"/>
              <a:t>khen</a:t>
            </a:r>
            <a:r>
              <a:rPr lang="en-US" dirty="0"/>
              <a:t> </a:t>
            </a:r>
            <a:r>
              <a:rPr lang="en-US" dirty="0" err="1"/>
              <a:t>thưởng</a:t>
            </a:r>
            <a:r>
              <a:rPr lang="en-US" dirty="0"/>
              <a:t> và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nhóm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thúc</a:t>
            </a:r>
            <a:r>
              <a:rPr lang="en-US" dirty="0"/>
              <a:t> </a:t>
            </a:r>
            <a:r>
              <a:rPr lang="en-US" dirty="0" err="1"/>
              <a:t>đẩy</a:t>
            </a:r>
            <a:r>
              <a:rPr lang="en-US" dirty="0"/>
              <a:t> </a:t>
            </a:r>
            <a:r>
              <a:rPr lang="en-US" dirty="0" err="1"/>
              <a:t>tinh</a:t>
            </a:r>
            <a:r>
              <a:rPr lang="en-US" dirty="0"/>
              <a:t> </a:t>
            </a:r>
            <a:r>
              <a:rPr lang="en-US" dirty="0" err="1"/>
              <a:t>thần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nhóm</a:t>
            </a:r>
            <a:r>
              <a:rPr lang="en-US" dirty="0"/>
              <a:t>.</a:t>
            </a:r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r>
              <a:rPr lang="en-US" dirty="0" err="1"/>
              <a:t>Khen</a:t>
            </a:r>
            <a:r>
              <a:rPr lang="en-US" dirty="0"/>
              <a:t> </a:t>
            </a:r>
            <a:r>
              <a:rPr lang="en-US" dirty="0" err="1"/>
              <a:t>thưởng</a:t>
            </a:r>
            <a:r>
              <a:rPr lang="en-US" dirty="0"/>
              <a:t> </a:t>
            </a:r>
            <a:r>
              <a:rPr lang="en-US" dirty="0" err="1"/>
              <a:t>nhóm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đạt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cụ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.</a:t>
            </a:r>
          </a:p>
          <a:p>
            <a:pPr algn="just">
              <a:spcBef>
                <a:spcPts val="1200"/>
              </a:spcBef>
              <a:spcAft>
                <a:spcPts val="1200"/>
              </a:spcAft>
            </a:pPr>
            <a:r>
              <a:rPr lang="en-US" dirty="0" err="1"/>
              <a:t>Cố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 và </a:t>
            </a:r>
            <a:r>
              <a:rPr lang="en-US" dirty="0" err="1"/>
              <a:t>hỗ</a:t>
            </a:r>
            <a:r>
              <a:rPr lang="en-US" dirty="0"/>
              <a:t> </a:t>
            </a:r>
            <a:r>
              <a:rPr lang="en-US" dirty="0" err="1"/>
              <a:t>trợ</a:t>
            </a:r>
            <a:r>
              <a:rPr lang="en-US" dirty="0"/>
              <a:t> </a:t>
            </a:r>
            <a:r>
              <a:rPr lang="en-US" dirty="0" err="1"/>
              <a:t>từng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đội</a:t>
            </a:r>
            <a:r>
              <a:rPr lang="en-US" dirty="0"/>
              <a:t>/</a:t>
            </a:r>
            <a:r>
              <a:rPr lang="en-US" dirty="0" err="1"/>
              <a:t>nhóm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đạt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và </a:t>
            </a:r>
            <a:r>
              <a:rPr lang="en-US" dirty="0" err="1"/>
              <a:t>phát</a:t>
            </a:r>
            <a:r>
              <a:rPr lang="en-US" dirty="0"/>
              <a:t> triển </a:t>
            </a:r>
            <a:r>
              <a:rPr lang="en-US" dirty="0" err="1"/>
              <a:t>nguồn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lực</a:t>
            </a:r>
            <a:r>
              <a:rPr lang="en-US" dirty="0"/>
              <a:t>. </a:t>
            </a:r>
          </a:p>
        </p:txBody>
      </p:sp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4000" dirty="0" err="1"/>
              <a:t>Khen</a:t>
            </a:r>
            <a:r>
              <a:rPr lang="en-US" sz="4000" dirty="0"/>
              <a:t> </a:t>
            </a:r>
            <a:r>
              <a:rPr lang="en-US" sz="4000" dirty="0" err="1"/>
              <a:t>thưởng</a:t>
            </a:r>
            <a:r>
              <a:rPr lang="en-US" sz="4000" dirty="0"/>
              <a:t> và </a:t>
            </a:r>
            <a:r>
              <a:rPr lang="en-US" sz="4000" dirty="0" err="1"/>
              <a:t>sự</a:t>
            </a:r>
            <a:r>
              <a:rPr lang="en-US" sz="4000" dirty="0"/>
              <a:t> </a:t>
            </a:r>
            <a:r>
              <a:rPr lang="en-US" sz="4000" dirty="0" err="1"/>
              <a:t>công</a:t>
            </a:r>
            <a:r>
              <a:rPr lang="en-US" sz="4000" dirty="0"/>
              <a:t> </a:t>
            </a:r>
            <a:r>
              <a:rPr lang="en-US" sz="4000" dirty="0" err="1"/>
              <a:t>nhận</a:t>
            </a:r>
            <a:endParaRPr lang="en-US" sz="4000" dirty="0"/>
          </a:p>
        </p:txBody>
      </p:sp>
      <p:sp>
        <p:nvSpPr>
          <p:cNvPr id="61445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46D4269-9001-418E-995A-22BD78438052}" type="slidenum">
              <a:rPr lang="en-US" smtClean="0"/>
              <a:pPr>
                <a:defRPr/>
              </a:pPr>
              <a:t>61</a:t>
            </a:fld>
            <a:endParaRPr lang="en-US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" y="990600"/>
            <a:ext cx="9010650" cy="4114800"/>
          </a:xfrm>
          <a:prstGeom prst="rect">
            <a:avLst/>
          </a:prstGeom>
        </p:spPr>
      </p:pic>
      <p:sp>
        <p:nvSpPr>
          <p:cNvPr id="24581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A4FB8A0-D8A7-49BC-9495-433B792AAC3C}" type="slidenum">
              <a:rPr lang="en-US" smtClean="0"/>
              <a:pPr>
                <a:defRPr/>
              </a:pPr>
              <a:t>62</a:t>
            </a:fld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3429000" y="4640982"/>
            <a:ext cx="2766060" cy="451718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305800" cy="1143000"/>
          </a:xfrm>
        </p:spPr>
        <p:txBody>
          <a:bodyPr>
            <a:noAutofit/>
          </a:bodyPr>
          <a:lstStyle/>
          <a:p>
            <a:pPr algn="ctr" eaLnBrk="1" hangingPunct="1">
              <a:defRPr/>
            </a:pP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Quản lý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nguồn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nhân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lực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dự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3600" dirty="0" err="1">
                <a:solidFill>
                  <a:schemeClr val="bg1">
                    <a:lumMod val="65000"/>
                  </a:schemeClr>
                </a:solidFill>
              </a:rPr>
              <a:t>án</a:t>
            </a:r>
            <a:r>
              <a:rPr lang="en-US" sz="3600" dirty="0">
                <a:solidFill>
                  <a:schemeClr val="bg1">
                    <a:lumMod val="65000"/>
                  </a:schemeClr>
                </a:solidFill>
              </a:rPr>
              <a:t> [4/4]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2599" y="5410200"/>
            <a:ext cx="1322681" cy="144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7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524000"/>
            <a:ext cx="8382000" cy="4572000"/>
          </a:xfrm>
        </p:spPr>
        <p:txBody>
          <a:bodyPr/>
          <a:lstStyle/>
          <a:p>
            <a:pPr algn="just">
              <a:spcAft>
                <a:spcPts val="1800"/>
              </a:spcAft>
            </a:pPr>
            <a:r>
              <a:rPr lang="en-US" b="1" dirty="0"/>
              <a:t>Quản lý </a:t>
            </a:r>
            <a:r>
              <a:rPr lang="en-US" b="1" dirty="0" err="1"/>
              <a:t>đội</a:t>
            </a:r>
            <a:r>
              <a:rPr lang="en-US" b="1" dirty="0"/>
              <a:t> </a:t>
            </a:r>
            <a:r>
              <a:rPr lang="en-US" b="1" dirty="0" err="1"/>
              <a:t>dự</a:t>
            </a:r>
            <a:r>
              <a:rPr lang="en-US" b="1" dirty="0"/>
              <a:t> </a:t>
            </a:r>
            <a:r>
              <a:rPr lang="en-US" b="1" dirty="0" err="1"/>
              <a:t>án</a:t>
            </a:r>
            <a:r>
              <a:rPr lang="en-US" b="1" dirty="0"/>
              <a:t> </a:t>
            </a:r>
            <a:r>
              <a:rPr lang="en-US" dirty="0"/>
              <a:t>(</a:t>
            </a:r>
            <a:r>
              <a:rPr lang="en-US" dirty="0">
                <a:solidFill>
                  <a:srgbClr val="0070C0"/>
                </a:solidFill>
              </a:rPr>
              <a:t>manage project team</a:t>
            </a:r>
            <a:r>
              <a:rPr lang="en-US" dirty="0"/>
              <a:t>): </a:t>
            </a:r>
            <a:r>
              <a:rPr lang="en-US" dirty="0" err="1"/>
              <a:t>đội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dẫn</a:t>
            </a:r>
            <a:r>
              <a:rPr lang="en-US" dirty="0"/>
              <a:t> </a:t>
            </a:r>
            <a:r>
              <a:rPr lang="en-US" dirty="0" err="1"/>
              <a:t>dắt</a:t>
            </a:r>
            <a:r>
              <a:rPr lang="en-US" dirty="0"/>
              <a:t> </a:t>
            </a:r>
            <a:r>
              <a:rPr lang="en-US" dirty="0" err="1"/>
              <a:t>bởi</a:t>
            </a:r>
            <a:r>
              <a:rPr lang="en-US" dirty="0"/>
              <a:t> </a:t>
            </a:r>
            <a:r>
              <a:rPr lang="en-US" dirty="0" err="1"/>
              <a:t>giám</a:t>
            </a:r>
            <a:r>
              <a:rPr lang="en-US" dirty="0"/>
              <a:t> </a:t>
            </a:r>
            <a:r>
              <a:rPr lang="en-US" dirty="0" err="1"/>
              <a:t>đốc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,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.</a:t>
            </a:r>
          </a:p>
          <a:p>
            <a:pPr algn="just"/>
            <a:r>
              <a:rPr lang="en-US" dirty="0" err="1"/>
              <a:t>Giám</a:t>
            </a:r>
            <a:r>
              <a:rPr lang="en-US" dirty="0"/>
              <a:t> </a:t>
            </a:r>
            <a:r>
              <a:rPr lang="en-US" dirty="0" err="1"/>
              <a:t>đốc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quyết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…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yêu</a:t>
            </a:r>
            <a:r>
              <a:rPr lang="en-US" sz="2400" dirty="0"/>
              <a:t> </a:t>
            </a:r>
            <a:r>
              <a:rPr lang="en-US" sz="2400" dirty="0" err="1"/>
              <a:t>cầu</a:t>
            </a:r>
            <a:r>
              <a:rPr lang="en-US" sz="2400" dirty="0"/>
              <a:t> </a:t>
            </a:r>
            <a:r>
              <a:rPr lang="en-US" sz="2400" dirty="0" err="1"/>
              <a:t>thay</a:t>
            </a:r>
            <a:r>
              <a:rPr lang="en-US" sz="2400" dirty="0"/>
              <a:t> </a:t>
            </a:r>
            <a:r>
              <a:rPr lang="en-US" sz="2400" dirty="0" err="1"/>
              <a:t>đổi</a:t>
            </a:r>
            <a:r>
              <a:rPr lang="en-US" sz="2400" dirty="0"/>
              <a:t> </a:t>
            </a:r>
            <a:r>
              <a:rPr lang="en-US" sz="2400" dirty="0" err="1"/>
              <a:t>cho</a:t>
            </a:r>
            <a:r>
              <a:rPr lang="en-US" sz="2400" dirty="0"/>
              <a:t> </a:t>
            </a:r>
            <a:r>
              <a:rPr lang="en-US" sz="2400" dirty="0" err="1"/>
              <a:t>dự</a:t>
            </a:r>
            <a:r>
              <a:rPr lang="en-US" sz="2400" dirty="0"/>
              <a:t> </a:t>
            </a:r>
            <a:r>
              <a:rPr lang="en-US" sz="2400" dirty="0" err="1"/>
              <a:t>án</a:t>
            </a:r>
            <a:endParaRPr lang="en-US" sz="2400" dirty="0"/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giải</a:t>
            </a:r>
            <a:r>
              <a:rPr lang="en-US" sz="2400" dirty="0"/>
              <a:t> </a:t>
            </a:r>
            <a:r>
              <a:rPr lang="en-US" sz="2400" dirty="0" err="1"/>
              <a:t>pháp</a:t>
            </a:r>
            <a:r>
              <a:rPr lang="en-US" sz="2400" dirty="0"/>
              <a:t> </a:t>
            </a:r>
            <a:r>
              <a:rPr lang="en-US" sz="2400" dirty="0" err="1"/>
              <a:t>điều</a:t>
            </a:r>
            <a:r>
              <a:rPr lang="en-US" sz="2400" dirty="0"/>
              <a:t> </a:t>
            </a:r>
            <a:r>
              <a:rPr lang="en-US" sz="2400" dirty="0" err="1"/>
              <a:t>chỉnh</a:t>
            </a:r>
            <a:r>
              <a:rPr lang="en-US" sz="2400" dirty="0"/>
              <a:t>/</a:t>
            </a:r>
            <a:r>
              <a:rPr lang="en-US" sz="2400" dirty="0" err="1"/>
              <a:t>phòng</a:t>
            </a:r>
            <a:r>
              <a:rPr lang="en-US" sz="2400" dirty="0"/>
              <a:t> </a:t>
            </a:r>
            <a:r>
              <a:rPr lang="en-US" sz="2400" dirty="0" err="1"/>
              <a:t>ngừa</a:t>
            </a:r>
            <a:endParaRPr lang="en-US" sz="2400" dirty="0"/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400" dirty="0" err="1"/>
              <a:t>Cập</a:t>
            </a:r>
            <a:r>
              <a:rPr lang="en-US" sz="2400" dirty="0"/>
              <a:t> </a:t>
            </a:r>
            <a:r>
              <a:rPr lang="en-US" sz="2400" dirty="0" err="1"/>
              <a:t>nhật</a:t>
            </a:r>
            <a:r>
              <a:rPr lang="en-US" sz="2400" dirty="0"/>
              <a:t> </a:t>
            </a:r>
            <a:r>
              <a:rPr lang="en-US" sz="2400" dirty="0" err="1"/>
              <a:t>kế</a:t>
            </a:r>
            <a:r>
              <a:rPr lang="en-US" sz="2400" dirty="0"/>
              <a:t> </a:t>
            </a:r>
            <a:r>
              <a:rPr lang="en-US" sz="2400" dirty="0" err="1"/>
              <a:t>hoạch</a:t>
            </a:r>
            <a:r>
              <a:rPr lang="en-US" sz="2400" dirty="0"/>
              <a:t> quản lý </a:t>
            </a:r>
            <a:r>
              <a:rPr lang="en-US" sz="2400" dirty="0" err="1"/>
              <a:t>dự</a:t>
            </a:r>
            <a:r>
              <a:rPr lang="en-US" sz="2400" dirty="0"/>
              <a:t> </a:t>
            </a:r>
            <a:r>
              <a:rPr lang="en-US" sz="2400" dirty="0" err="1"/>
              <a:t>án</a:t>
            </a:r>
            <a:r>
              <a:rPr lang="en-US" sz="2400" dirty="0"/>
              <a:t>…</a:t>
            </a:r>
          </a:p>
        </p:txBody>
      </p:sp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dirty="0">
                <a:solidFill>
                  <a:srgbClr val="FF0000"/>
                </a:solidFill>
              </a:rPr>
              <a:t>4. Quản lý </a:t>
            </a:r>
            <a:r>
              <a:rPr lang="en-US" sz="4400" dirty="0" err="1">
                <a:solidFill>
                  <a:srgbClr val="FF0000"/>
                </a:solidFill>
              </a:rPr>
              <a:t>đội</a:t>
            </a:r>
            <a:r>
              <a:rPr lang="en-US" sz="4400" dirty="0">
                <a:solidFill>
                  <a:srgbClr val="FF0000"/>
                </a:solidFill>
              </a:rPr>
              <a:t> </a:t>
            </a:r>
            <a:r>
              <a:rPr lang="en-US" sz="4400" dirty="0" err="1">
                <a:solidFill>
                  <a:srgbClr val="FF0000"/>
                </a:solidFill>
              </a:rPr>
              <a:t>dự</a:t>
            </a:r>
            <a:r>
              <a:rPr lang="en-US" sz="4400" dirty="0">
                <a:solidFill>
                  <a:srgbClr val="FF0000"/>
                </a:solidFill>
              </a:rPr>
              <a:t> </a:t>
            </a:r>
            <a:r>
              <a:rPr lang="en-US" sz="4400" dirty="0" err="1">
                <a:solidFill>
                  <a:srgbClr val="FF0000"/>
                </a:solidFill>
              </a:rPr>
              <a:t>án</a:t>
            </a:r>
            <a:endParaRPr lang="en-US" sz="4400" dirty="0">
              <a:solidFill>
                <a:srgbClr val="FF0000"/>
              </a:solidFill>
            </a:endParaRPr>
          </a:p>
        </p:txBody>
      </p:sp>
      <p:sp>
        <p:nvSpPr>
          <p:cNvPr id="62469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639634B-9F7B-4567-B3EF-235CA5EF2B30}" type="slidenum">
              <a:rPr lang="en-US" smtClean="0"/>
              <a:pPr>
                <a:defRPr/>
              </a:pPr>
              <a:t>63</a:t>
            </a:fld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200" y="4239126"/>
            <a:ext cx="1828800" cy="216568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Rectangle 3"/>
          <p:cNvSpPr>
            <a:spLocks noGrp="1" noChangeArrowheads="1"/>
          </p:cNvSpPr>
          <p:nvPr>
            <p:ph idx="1"/>
          </p:nvPr>
        </p:nvSpPr>
        <p:spPr>
          <a:xfrm>
            <a:off x="990600" y="1524000"/>
            <a:ext cx="5181600" cy="2557462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sát</a:t>
            </a:r>
            <a:r>
              <a:rPr lang="en-US" dirty="0"/>
              <a:t> và </a:t>
            </a:r>
            <a:r>
              <a:rPr lang="en-US" dirty="0" err="1"/>
              <a:t>thảo</a:t>
            </a:r>
            <a:r>
              <a:rPr lang="en-US" dirty="0"/>
              <a:t> </a:t>
            </a:r>
            <a:r>
              <a:rPr lang="en-US" dirty="0" err="1"/>
              <a:t>luận</a:t>
            </a:r>
            <a:endParaRPr lang="en-US" dirty="0"/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dirty="0" err="1"/>
              <a:t>Thẩm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quả</a:t>
            </a:r>
            <a:endParaRPr lang="en-US" dirty="0"/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dirty="0" err="1"/>
              <a:t>Kỹ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cá</a:t>
            </a:r>
            <a:r>
              <a:rPr lang="en-US" dirty="0"/>
              <a:t> </a:t>
            </a:r>
            <a:r>
              <a:rPr lang="en-US" dirty="0" err="1"/>
              <a:t>nhân</a:t>
            </a:r>
            <a:endParaRPr lang="en-US" dirty="0"/>
          </a:p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dirty="0"/>
              <a:t>Quản lý </a:t>
            </a:r>
            <a:r>
              <a:rPr lang="en-US" dirty="0" err="1"/>
              <a:t>xung</a:t>
            </a:r>
            <a:r>
              <a:rPr lang="en-US" dirty="0"/>
              <a:t> </a:t>
            </a:r>
            <a:r>
              <a:rPr lang="en-US" dirty="0" err="1"/>
              <a:t>đột</a:t>
            </a:r>
            <a:r>
              <a:rPr lang="en-US" dirty="0"/>
              <a:t>.</a:t>
            </a:r>
          </a:p>
        </p:txBody>
      </p:sp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>
          <a:xfrm>
            <a:off x="16565" y="152400"/>
            <a:ext cx="9144000" cy="1143000"/>
          </a:xfrm>
        </p:spPr>
        <p:txBody>
          <a:bodyPr>
            <a:normAutofit/>
          </a:bodyPr>
          <a:lstStyle/>
          <a:p>
            <a:pPr algn="ctr"/>
            <a:r>
              <a:rPr lang="en-US" sz="4000" dirty="0" err="1"/>
              <a:t>Công</a:t>
            </a:r>
            <a:r>
              <a:rPr lang="en-US" sz="4000" dirty="0"/>
              <a:t> </a:t>
            </a:r>
            <a:r>
              <a:rPr lang="en-US" sz="4000" dirty="0" err="1"/>
              <a:t>cụ</a:t>
            </a:r>
            <a:r>
              <a:rPr lang="en-US" sz="4000" dirty="0"/>
              <a:t> quản lý </a:t>
            </a:r>
            <a:r>
              <a:rPr lang="en-US" sz="4000" dirty="0" err="1"/>
              <a:t>đội</a:t>
            </a:r>
            <a:r>
              <a:rPr lang="en-US" sz="4000" dirty="0"/>
              <a:t> </a:t>
            </a:r>
            <a:r>
              <a:rPr lang="en-US" sz="4000" dirty="0" err="1"/>
              <a:t>dự</a:t>
            </a:r>
            <a:r>
              <a:rPr lang="en-US" sz="4000" dirty="0"/>
              <a:t> </a:t>
            </a:r>
            <a:r>
              <a:rPr lang="en-US" sz="4000" dirty="0" err="1"/>
              <a:t>án</a:t>
            </a:r>
            <a:endParaRPr lang="en-US" sz="4000" dirty="0"/>
          </a:p>
        </p:txBody>
      </p:sp>
      <p:sp>
        <p:nvSpPr>
          <p:cNvPr id="63493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7455C51-222E-44B3-9F41-0B1B92FA3A82}" type="slidenum">
              <a:rPr lang="en-US" smtClean="0"/>
              <a:pPr>
                <a:defRPr/>
              </a:pPr>
              <a:t>64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5400" y="2971800"/>
            <a:ext cx="2961382" cy="3657600"/>
          </a:xfrm>
          <a:prstGeom prst="rect">
            <a:avLst/>
          </a:prstGeom>
        </p:spPr>
      </p:pic>
      <p:pic>
        <p:nvPicPr>
          <p:cNvPr id="8" name="Picture 9" descr="http://static1.squarespace.com/static/5351bc09e4b03b169d834bb6/5424599be4b0ac0d5fc82f59/551316b6e4b01e0296eefd66/1427684934220/?format=1500w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4191000"/>
            <a:ext cx="33528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447800"/>
            <a:ext cx="8214815" cy="5257800"/>
          </a:xfrm>
        </p:spPr>
        <p:txBody>
          <a:bodyPr/>
          <a:lstStyle/>
          <a:p>
            <a:pPr marL="395288" indent="-395288" algn="just">
              <a:spcBef>
                <a:spcPts val="1200"/>
              </a:spcBef>
              <a:spcAft>
                <a:spcPts val="1200"/>
              </a:spcAft>
              <a:buClr>
                <a:srgbClr val="0070C0"/>
              </a:buClr>
              <a:buSzPct val="100000"/>
              <a:buFont typeface="+mj-lt"/>
              <a:buAutoNum type="arabicPeriod"/>
            </a:pP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Đối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đầu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dirty="0"/>
              <a:t>(</a:t>
            </a:r>
            <a:r>
              <a:rPr lang="en-US" sz="2400" dirty="0">
                <a:solidFill>
                  <a:srgbClr val="0070C0"/>
                </a:solidFill>
              </a:rPr>
              <a:t>confrontation</a:t>
            </a:r>
            <a:r>
              <a:rPr lang="en-US" sz="2400" dirty="0"/>
              <a:t>): </a:t>
            </a:r>
            <a:r>
              <a:rPr lang="en-US" sz="2400" dirty="0" err="1"/>
              <a:t>mâu</a:t>
            </a:r>
            <a:r>
              <a:rPr lang="en-US" sz="2400" dirty="0"/>
              <a:t> </a:t>
            </a:r>
            <a:r>
              <a:rPr lang="en-US" sz="2400" dirty="0" err="1"/>
              <a:t>thuẫn</a:t>
            </a:r>
            <a:r>
              <a:rPr lang="en-US" sz="2400" dirty="0"/>
              <a:t> - </a:t>
            </a:r>
            <a:r>
              <a:rPr lang="en-US" sz="2400" dirty="0" err="1"/>
              <a:t>giải</a:t>
            </a:r>
            <a:r>
              <a:rPr lang="en-US" sz="2400" dirty="0"/>
              <a:t> </a:t>
            </a:r>
            <a:r>
              <a:rPr lang="en-US" sz="2400" dirty="0" err="1"/>
              <a:t>quyết</a:t>
            </a:r>
            <a:r>
              <a:rPr lang="en-US" sz="2400" dirty="0"/>
              <a:t> </a:t>
            </a:r>
            <a:r>
              <a:rPr lang="en-US" sz="2400" dirty="0" err="1"/>
              <a:t>vấn</a:t>
            </a:r>
            <a:r>
              <a:rPr lang="en-US" sz="2400" dirty="0"/>
              <a:t> </a:t>
            </a:r>
            <a:r>
              <a:rPr lang="en-US" sz="2400" dirty="0" err="1"/>
              <a:t>đề</a:t>
            </a:r>
            <a:r>
              <a:rPr lang="en-US" sz="2400" dirty="0"/>
              <a:t>.</a:t>
            </a:r>
          </a:p>
          <a:p>
            <a:pPr marL="395288" indent="-395288" algn="just">
              <a:spcBef>
                <a:spcPts val="1200"/>
              </a:spcBef>
              <a:spcAft>
                <a:spcPts val="1200"/>
              </a:spcAft>
              <a:buClr>
                <a:srgbClr val="0070C0"/>
              </a:buClr>
              <a:buSzPct val="100000"/>
              <a:buFont typeface="+mj-lt"/>
              <a:buAutoNum type="arabicPeriod"/>
            </a:pP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Xoa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dịu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dirty="0"/>
              <a:t>(</a:t>
            </a:r>
            <a:r>
              <a:rPr lang="en-US" sz="2400" dirty="0">
                <a:solidFill>
                  <a:srgbClr val="0070C0"/>
                </a:solidFill>
              </a:rPr>
              <a:t>smoothing</a:t>
            </a:r>
            <a:r>
              <a:rPr lang="en-US" sz="2400" dirty="0"/>
              <a:t>): </a:t>
            </a:r>
            <a:r>
              <a:rPr lang="en-US" sz="2400" dirty="0" err="1"/>
              <a:t>giảm</a:t>
            </a:r>
            <a:r>
              <a:rPr lang="en-US" sz="2400" dirty="0"/>
              <a:t> </a:t>
            </a:r>
            <a:r>
              <a:rPr lang="en-US" sz="2400" dirty="0" err="1"/>
              <a:t>khác</a:t>
            </a:r>
            <a:r>
              <a:rPr lang="en-US" sz="2400" dirty="0"/>
              <a:t> </a:t>
            </a:r>
            <a:r>
              <a:rPr lang="en-US" sz="2400" dirty="0" err="1"/>
              <a:t>biệt</a:t>
            </a:r>
            <a:r>
              <a:rPr lang="en-US" sz="2400" dirty="0"/>
              <a:t> - </a:t>
            </a:r>
            <a:r>
              <a:rPr lang="en-US" sz="2400" dirty="0" err="1"/>
              <a:t>tăng</a:t>
            </a:r>
            <a:r>
              <a:rPr lang="en-US" sz="2400" dirty="0"/>
              <a:t> </a:t>
            </a:r>
            <a:r>
              <a:rPr lang="en-US" sz="2400" dirty="0" err="1"/>
              <a:t>tương</a:t>
            </a:r>
            <a:r>
              <a:rPr lang="en-US" sz="2400" dirty="0"/>
              <a:t> </a:t>
            </a:r>
            <a:r>
              <a:rPr lang="en-US" sz="2400" dirty="0" err="1"/>
              <a:t>đồng</a:t>
            </a:r>
            <a:r>
              <a:rPr lang="en-US" sz="2400" dirty="0"/>
              <a:t>.</a:t>
            </a:r>
          </a:p>
          <a:p>
            <a:pPr marL="395288" indent="-395288" algn="just">
              <a:spcBef>
                <a:spcPts val="1200"/>
              </a:spcBef>
              <a:spcAft>
                <a:spcPts val="1200"/>
              </a:spcAft>
              <a:buClr>
                <a:srgbClr val="0070C0"/>
              </a:buClr>
              <a:buSzPct val="100000"/>
              <a:buFont typeface="+mj-lt"/>
              <a:buAutoNum type="arabicPeriod"/>
            </a:pP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Ép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buộc</a:t>
            </a:r>
            <a:r>
              <a:rPr lang="en-US" sz="2400" dirty="0"/>
              <a:t> (</a:t>
            </a:r>
            <a:r>
              <a:rPr lang="en-US" sz="2400" dirty="0">
                <a:solidFill>
                  <a:srgbClr val="0070C0"/>
                </a:solidFill>
              </a:rPr>
              <a:t>forcing</a:t>
            </a:r>
            <a:r>
              <a:rPr lang="en-US" sz="2400" dirty="0"/>
              <a:t>): </a:t>
            </a:r>
            <a:r>
              <a:rPr lang="en-US" sz="2400" dirty="0" err="1"/>
              <a:t>tiếp</a:t>
            </a:r>
            <a:r>
              <a:rPr lang="en-US" sz="2400" dirty="0"/>
              <a:t> </a:t>
            </a:r>
            <a:r>
              <a:rPr lang="en-US" sz="2400" dirty="0" err="1"/>
              <a:t>cận</a:t>
            </a:r>
            <a:r>
              <a:rPr lang="en-US" sz="2400" dirty="0"/>
              <a:t> </a:t>
            </a:r>
            <a:r>
              <a:rPr lang="en-US" sz="2400" dirty="0" err="1"/>
              <a:t>thắng</a:t>
            </a:r>
            <a:r>
              <a:rPr lang="en-US" sz="2400" dirty="0"/>
              <a:t>/</a:t>
            </a:r>
            <a:r>
              <a:rPr lang="en-US" sz="2400" dirty="0" err="1"/>
              <a:t>bại</a:t>
            </a:r>
            <a:r>
              <a:rPr lang="en-US" sz="2400" dirty="0"/>
              <a:t>.</a:t>
            </a:r>
          </a:p>
          <a:p>
            <a:pPr marL="395288" indent="-395288" algn="just">
              <a:spcBef>
                <a:spcPts val="1200"/>
              </a:spcBef>
              <a:spcAft>
                <a:spcPts val="1200"/>
              </a:spcAft>
              <a:buClr>
                <a:srgbClr val="0070C0"/>
              </a:buClr>
              <a:buSzPct val="100000"/>
              <a:buFont typeface="+mj-lt"/>
              <a:buAutoNum type="arabicPeriod"/>
            </a:pP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Rút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lui</a:t>
            </a:r>
            <a:r>
              <a:rPr lang="en-US" sz="2400" dirty="0"/>
              <a:t> (</a:t>
            </a:r>
            <a:r>
              <a:rPr lang="en-US" sz="2400" dirty="0">
                <a:solidFill>
                  <a:srgbClr val="0070C0"/>
                </a:solidFill>
              </a:rPr>
              <a:t>withdrawal</a:t>
            </a:r>
            <a:r>
              <a:rPr lang="en-US" sz="2400" dirty="0"/>
              <a:t>): </a:t>
            </a:r>
            <a:r>
              <a:rPr lang="en-US" sz="2400" dirty="0" err="1"/>
              <a:t>hủy</a:t>
            </a:r>
            <a:r>
              <a:rPr lang="en-US" sz="2400" dirty="0"/>
              <a:t> </a:t>
            </a:r>
            <a:r>
              <a:rPr lang="en-US" sz="2400" dirty="0" err="1"/>
              <a:t>bỏ</a:t>
            </a:r>
            <a:r>
              <a:rPr lang="en-US" sz="2400" dirty="0"/>
              <a:t> </a:t>
            </a:r>
            <a:r>
              <a:rPr lang="en-US" sz="2400" dirty="0" err="1"/>
              <a:t>khi</a:t>
            </a:r>
            <a:r>
              <a:rPr lang="en-US" sz="2400" dirty="0"/>
              <a:t> </a:t>
            </a:r>
            <a:r>
              <a:rPr lang="en-US" sz="2400" dirty="0" err="1"/>
              <a:t>không</a:t>
            </a:r>
            <a:r>
              <a:rPr lang="en-US" sz="2400" dirty="0"/>
              <a:t> </a:t>
            </a:r>
            <a:r>
              <a:rPr lang="en-US" sz="2400" dirty="0" err="1"/>
              <a:t>có</a:t>
            </a:r>
            <a:r>
              <a:rPr lang="en-US" sz="2400" dirty="0"/>
              <a:t> </a:t>
            </a:r>
            <a:r>
              <a:rPr lang="en-US" sz="2400" dirty="0" err="1"/>
              <a:t>sự</a:t>
            </a:r>
            <a:r>
              <a:rPr lang="en-US" sz="2400" dirty="0"/>
              <a:t> </a:t>
            </a:r>
            <a:r>
              <a:rPr lang="en-US" sz="2400" dirty="0" err="1"/>
              <a:t>đồng</a:t>
            </a:r>
            <a:r>
              <a:rPr lang="en-US" sz="2400" dirty="0"/>
              <a:t> </a:t>
            </a:r>
            <a:r>
              <a:rPr lang="en-US" sz="2400" dirty="0" err="1"/>
              <a:t>tình</a:t>
            </a:r>
            <a:r>
              <a:rPr lang="en-US" sz="2400" dirty="0"/>
              <a:t>.</a:t>
            </a:r>
          </a:p>
          <a:p>
            <a:pPr marL="395288" indent="-395288" algn="just">
              <a:spcBef>
                <a:spcPts val="1200"/>
              </a:spcBef>
              <a:spcAft>
                <a:spcPts val="1200"/>
              </a:spcAft>
              <a:buClr>
                <a:srgbClr val="0070C0"/>
              </a:buClr>
              <a:buSzPct val="100000"/>
              <a:buFont typeface="+mj-lt"/>
              <a:buAutoNum type="arabicPeriod"/>
            </a:pP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Thỏa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hiệp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dirty="0"/>
              <a:t>(</a:t>
            </a:r>
            <a:r>
              <a:rPr lang="en-US" sz="2400" dirty="0">
                <a:solidFill>
                  <a:srgbClr val="0070C0"/>
                </a:solidFill>
              </a:rPr>
              <a:t>compromise</a:t>
            </a:r>
            <a:r>
              <a:rPr lang="en-US" sz="2400" dirty="0"/>
              <a:t>): </a:t>
            </a:r>
            <a:r>
              <a:rPr lang="en-US" sz="2400" dirty="0" err="1"/>
              <a:t>tiếp</a:t>
            </a:r>
            <a:r>
              <a:rPr lang="en-US" sz="2400" dirty="0"/>
              <a:t> </a:t>
            </a:r>
            <a:r>
              <a:rPr lang="en-US" sz="2400" dirty="0" err="1"/>
              <a:t>cận</a:t>
            </a:r>
            <a:r>
              <a:rPr lang="en-US" sz="2400" dirty="0"/>
              <a:t> </a:t>
            </a:r>
            <a:r>
              <a:rPr lang="en-US" sz="2400" dirty="0" err="1"/>
              <a:t>cho</a:t>
            </a:r>
            <a:r>
              <a:rPr lang="en-US" sz="2400" dirty="0"/>
              <a:t>/</a:t>
            </a:r>
            <a:r>
              <a:rPr lang="en-US" sz="2400" dirty="0" err="1"/>
              <a:t>nhận</a:t>
            </a:r>
            <a:r>
              <a:rPr lang="en-US" sz="2400" dirty="0"/>
              <a:t>. </a:t>
            </a:r>
          </a:p>
          <a:p>
            <a:pPr marL="395288" indent="-395288" algn="just">
              <a:spcBef>
                <a:spcPts val="1200"/>
              </a:spcBef>
              <a:spcAft>
                <a:spcPts val="1200"/>
              </a:spcAft>
              <a:buClr>
                <a:srgbClr val="0070C0"/>
              </a:buClr>
              <a:buSzPct val="100000"/>
              <a:buFont typeface="+mj-lt"/>
              <a:buAutoNum type="arabicPeriod"/>
            </a:pP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Cộng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tác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dirty="0"/>
              <a:t>(</a:t>
            </a:r>
            <a:r>
              <a:rPr lang="en-US" sz="2400" dirty="0">
                <a:solidFill>
                  <a:srgbClr val="0070C0"/>
                </a:solidFill>
              </a:rPr>
              <a:t>collaborating</a:t>
            </a:r>
            <a:r>
              <a:rPr lang="en-US" sz="2400" dirty="0"/>
              <a:t>): thống </a:t>
            </a:r>
            <a:r>
              <a:rPr lang="en-US" sz="2400" dirty="0" err="1"/>
              <a:t>nhất</a:t>
            </a:r>
            <a:r>
              <a:rPr lang="en-US" sz="2400" dirty="0"/>
              <a:t> </a:t>
            </a:r>
            <a:r>
              <a:rPr lang="en-US" sz="2400" dirty="0" err="1"/>
              <a:t>quan</a:t>
            </a:r>
            <a:r>
              <a:rPr lang="en-US" sz="2400" dirty="0"/>
              <a:t> </a:t>
            </a:r>
            <a:r>
              <a:rPr lang="en-US" sz="2400" dirty="0" err="1"/>
              <a:t>điểm</a:t>
            </a:r>
            <a:r>
              <a:rPr lang="en-US" sz="2400" dirty="0"/>
              <a:t> và </a:t>
            </a:r>
            <a:r>
              <a:rPr lang="en-US" sz="2400" dirty="0" err="1"/>
              <a:t>nhận</a:t>
            </a:r>
            <a:r>
              <a:rPr lang="en-US" sz="2400" dirty="0"/>
              <a:t> </a:t>
            </a:r>
            <a:r>
              <a:rPr lang="en-US" sz="2400" dirty="0" err="1"/>
              <a:t>thức</a:t>
            </a:r>
            <a:r>
              <a:rPr lang="en-US" sz="2400" dirty="0"/>
              <a:t> </a:t>
            </a:r>
            <a:r>
              <a:rPr lang="en-US" sz="2400" dirty="0" err="1"/>
              <a:t>khác</a:t>
            </a:r>
            <a:r>
              <a:rPr lang="en-US" sz="2400" dirty="0"/>
              <a:t> </a:t>
            </a:r>
            <a:r>
              <a:rPr lang="en-US" sz="2400" dirty="0" err="1"/>
              <a:t>nhau</a:t>
            </a:r>
            <a:r>
              <a:rPr lang="en-US" sz="2400" dirty="0"/>
              <a:t> </a:t>
            </a:r>
            <a:r>
              <a:rPr lang="en-US" sz="2400" dirty="0" err="1"/>
              <a:t>để</a:t>
            </a:r>
            <a:r>
              <a:rPr lang="en-US" sz="2400" dirty="0"/>
              <a:t> </a:t>
            </a:r>
            <a:r>
              <a:rPr lang="en-US" sz="2400" dirty="0" err="1"/>
              <a:t>đồng</a:t>
            </a:r>
            <a:r>
              <a:rPr lang="en-US" sz="2400" dirty="0"/>
              <a:t> </a:t>
            </a:r>
            <a:r>
              <a:rPr lang="en-US" sz="2400" dirty="0" err="1"/>
              <a:t>thuận</a:t>
            </a:r>
            <a:r>
              <a:rPr lang="en-US" sz="2400" dirty="0"/>
              <a:t> và cam </a:t>
            </a:r>
            <a:r>
              <a:rPr lang="en-US" sz="2400" dirty="0" err="1"/>
              <a:t>kết</a:t>
            </a:r>
            <a:r>
              <a:rPr lang="en-US" sz="2400" dirty="0"/>
              <a:t>…</a:t>
            </a:r>
            <a:endParaRPr lang="en-US" dirty="0"/>
          </a:p>
        </p:txBody>
      </p:sp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382000" cy="838200"/>
          </a:xfrm>
        </p:spPr>
        <p:txBody>
          <a:bodyPr>
            <a:normAutofit/>
          </a:bodyPr>
          <a:lstStyle/>
          <a:p>
            <a:pPr algn="ctr"/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lý </a:t>
            </a:r>
            <a:r>
              <a:rPr lang="en-US" dirty="0" err="1"/>
              <a:t>xung</a:t>
            </a:r>
            <a:r>
              <a:rPr lang="en-US" dirty="0"/>
              <a:t> </a:t>
            </a:r>
            <a:r>
              <a:rPr lang="en-US" dirty="0" err="1"/>
              <a:t>đột</a:t>
            </a:r>
            <a:endParaRPr lang="en-US" dirty="0"/>
          </a:p>
        </p:txBody>
      </p:sp>
      <p:sp>
        <p:nvSpPr>
          <p:cNvPr id="36869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0DA2C56-7428-4053-BCC9-9633C8292304}" type="slidenum">
              <a:rPr lang="en-US" smtClean="0"/>
              <a:pPr>
                <a:defRPr/>
              </a:pPr>
              <a:t>65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2529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6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0"/>
            <a:ext cx="8686800" cy="1143000"/>
          </a:xfrm>
        </p:spPr>
        <p:txBody>
          <a:bodyPr>
            <a:normAutofit/>
          </a:bodyPr>
          <a:lstStyle/>
          <a:p>
            <a:pPr algn="ctr"/>
            <a:r>
              <a:rPr lang="en-US" sz="3600" dirty="0" err="1"/>
              <a:t>Các</a:t>
            </a:r>
            <a:r>
              <a:rPr lang="en-US" sz="3600" dirty="0"/>
              <a:t> </a:t>
            </a:r>
            <a:r>
              <a:rPr lang="en-US" sz="3600" dirty="0" err="1"/>
              <a:t>mô</a:t>
            </a:r>
            <a:r>
              <a:rPr lang="en-US" sz="3600" dirty="0"/>
              <a:t> </a:t>
            </a:r>
            <a:r>
              <a:rPr lang="en-US" sz="3600" dirty="0" err="1"/>
              <a:t>hình</a:t>
            </a:r>
            <a:r>
              <a:rPr lang="en-US" sz="3600" dirty="0"/>
              <a:t> quản lý </a:t>
            </a:r>
            <a:r>
              <a:rPr lang="en-US" sz="3600" dirty="0" err="1"/>
              <a:t>xung</a:t>
            </a:r>
            <a:r>
              <a:rPr lang="en-US" sz="3600" dirty="0"/>
              <a:t> </a:t>
            </a:r>
            <a:r>
              <a:rPr lang="en-US" sz="3600" dirty="0" err="1"/>
              <a:t>đột</a:t>
            </a:r>
            <a:r>
              <a:rPr lang="en-US" sz="3600" dirty="0"/>
              <a:t> (</a:t>
            </a:r>
            <a:r>
              <a:rPr lang="en-US" sz="3600" dirty="0" err="1"/>
              <a:t>tt</a:t>
            </a:r>
            <a:r>
              <a:rPr lang="en-US" sz="3600" dirty="0"/>
              <a:t>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DF7F6D6-12E9-47E2-83FA-0573725E0372}" type="slidenum">
              <a:rPr lang="en-US" smtClean="0"/>
              <a:pPr>
                <a:defRPr/>
              </a:pPr>
              <a:t>66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920" y="1166812"/>
            <a:ext cx="7280680" cy="523398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1295400"/>
            <a:ext cx="1673597" cy="788829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3600" y="1574952"/>
            <a:ext cx="1566998" cy="86344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0281" y="4572000"/>
            <a:ext cx="1588319" cy="671571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91908" y="4330393"/>
            <a:ext cx="1524359" cy="92740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28263" y="2944971"/>
            <a:ext cx="1662937" cy="788829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4600" y="2132426"/>
            <a:ext cx="1524360" cy="458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868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676400"/>
            <a:ext cx="7848600" cy="3733800"/>
          </a:xfrm>
        </p:spPr>
        <p:txBody>
          <a:bodyPr/>
          <a:lstStyle/>
          <a:p>
            <a:pPr algn="just">
              <a:spcBef>
                <a:spcPct val="80000"/>
              </a:spcBef>
              <a:spcAft>
                <a:spcPts val="600"/>
              </a:spcAft>
              <a:buClr>
                <a:srgbClr val="666699"/>
              </a:buClr>
            </a:pPr>
            <a:r>
              <a:rPr lang="en-US" dirty="0" err="1"/>
              <a:t>Xung</a:t>
            </a:r>
            <a:r>
              <a:rPr lang="en-US" dirty="0"/>
              <a:t> </a:t>
            </a:r>
            <a:r>
              <a:rPr lang="en-US" dirty="0" err="1"/>
              <a:t>đột</a:t>
            </a:r>
            <a:r>
              <a:rPr lang="en-US" dirty="0"/>
              <a:t> </a:t>
            </a:r>
            <a:r>
              <a:rPr lang="en-US" dirty="0" err="1"/>
              <a:t>luôn</a:t>
            </a:r>
            <a:r>
              <a:rPr lang="en-US" dirty="0"/>
              <a:t> </a:t>
            </a:r>
            <a:r>
              <a:rPr lang="en-US" dirty="0" err="1"/>
              <a:t>đem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...</a:t>
            </a:r>
          </a:p>
          <a:p>
            <a:pPr lvl="1" algn="just">
              <a:spcBef>
                <a:spcPts val="0"/>
              </a:spcBef>
              <a:buClr>
                <a:srgbClr val="666699"/>
              </a:buClr>
              <a:buFont typeface="Arial" panose="020B0604020202020204" pitchFamily="34" charset="0"/>
              <a:buChar char="•"/>
            </a:pPr>
            <a:r>
              <a:rPr lang="en-US" sz="2400" dirty="0" err="1"/>
              <a:t>Các</a:t>
            </a:r>
            <a:r>
              <a:rPr lang="en-US" sz="2400" dirty="0"/>
              <a:t> ý </a:t>
            </a:r>
            <a:r>
              <a:rPr lang="en-US" sz="2400" dirty="0" err="1"/>
              <a:t>tưởng</a:t>
            </a:r>
            <a:r>
              <a:rPr lang="en-US" sz="2400" dirty="0"/>
              <a:t> </a:t>
            </a:r>
            <a:r>
              <a:rPr lang="en-US" sz="2400" dirty="0" err="1"/>
              <a:t>mới</a:t>
            </a:r>
            <a:r>
              <a:rPr lang="en-US" sz="2400" dirty="0"/>
              <a:t> </a:t>
            </a:r>
          </a:p>
          <a:p>
            <a:pPr lvl="1" algn="just">
              <a:spcBef>
                <a:spcPts val="0"/>
              </a:spcBef>
              <a:buClr>
                <a:srgbClr val="666699"/>
              </a:buClr>
              <a:buFont typeface="Arial" panose="020B0604020202020204" pitchFamily="34" charset="0"/>
              <a:buChar char="•"/>
            </a:pP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thay</a:t>
            </a:r>
            <a:r>
              <a:rPr lang="en-US" sz="2400" dirty="0"/>
              <a:t> </a:t>
            </a:r>
            <a:r>
              <a:rPr lang="en-US" sz="2400" dirty="0" err="1"/>
              <a:t>thế</a:t>
            </a:r>
            <a:r>
              <a:rPr lang="en-US" sz="2400" dirty="0"/>
              <a:t> </a:t>
            </a:r>
            <a:r>
              <a:rPr lang="en-US" sz="2400" dirty="0" err="1"/>
              <a:t>tốt</a:t>
            </a:r>
            <a:r>
              <a:rPr lang="en-US" sz="2400" dirty="0"/>
              <a:t> </a:t>
            </a:r>
            <a:r>
              <a:rPr lang="en-US" sz="2400" dirty="0" err="1"/>
              <a:t>hơn</a:t>
            </a:r>
            <a:r>
              <a:rPr lang="en-US" sz="2400" dirty="0"/>
              <a:t> </a:t>
            </a:r>
          </a:p>
          <a:p>
            <a:pPr lvl="1" algn="just">
              <a:spcBef>
                <a:spcPts val="0"/>
              </a:spcBef>
              <a:buClr>
                <a:srgbClr val="666699"/>
              </a:buClr>
              <a:buFont typeface="Arial" panose="020B0604020202020204" pitchFamily="34" charset="0"/>
              <a:buChar char="•"/>
            </a:pPr>
            <a:r>
              <a:rPr lang="en-US" sz="2400" dirty="0" err="1"/>
              <a:t>Động</a:t>
            </a:r>
            <a:r>
              <a:rPr lang="en-US" sz="2400" dirty="0"/>
              <a:t> </a:t>
            </a:r>
            <a:r>
              <a:rPr lang="en-US" sz="2400" dirty="0" err="1"/>
              <a:t>lực</a:t>
            </a:r>
            <a:r>
              <a:rPr lang="en-US" sz="2400" dirty="0"/>
              <a:t> </a:t>
            </a:r>
            <a:r>
              <a:rPr lang="en-US" sz="2400" dirty="0" err="1"/>
              <a:t>tích</a:t>
            </a:r>
            <a:r>
              <a:rPr lang="en-US" sz="2400" dirty="0"/>
              <a:t> </a:t>
            </a:r>
            <a:r>
              <a:rPr lang="en-US" sz="2400" dirty="0" err="1"/>
              <a:t>cực</a:t>
            </a:r>
            <a:endParaRPr lang="en-US" sz="2400" dirty="0"/>
          </a:p>
          <a:p>
            <a:pPr lvl="1" algn="just">
              <a:spcBef>
                <a:spcPts val="0"/>
              </a:spcBef>
              <a:buClr>
                <a:srgbClr val="666699"/>
              </a:buClr>
              <a:buFont typeface="Arial" panose="020B0604020202020204" pitchFamily="34" charset="0"/>
              <a:buChar char="•"/>
            </a:pPr>
            <a:r>
              <a:rPr lang="en-US" sz="2400" dirty="0" err="1"/>
              <a:t>Tăng</a:t>
            </a:r>
            <a:r>
              <a:rPr lang="en-US" sz="2400" dirty="0"/>
              <a:t> </a:t>
            </a:r>
            <a:r>
              <a:rPr lang="en-US" sz="2400" dirty="0" err="1"/>
              <a:t>tính</a:t>
            </a:r>
            <a:r>
              <a:rPr lang="en-US" sz="2400" dirty="0"/>
              <a:t> </a:t>
            </a:r>
            <a:r>
              <a:rPr lang="en-US" sz="2400" dirty="0" err="1"/>
              <a:t>cộng</a:t>
            </a:r>
            <a:r>
              <a:rPr lang="en-US" sz="2400" dirty="0"/>
              <a:t> </a:t>
            </a:r>
            <a:r>
              <a:rPr lang="en-US" sz="2400" dirty="0" err="1"/>
              <a:t>tác</a:t>
            </a:r>
            <a:r>
              <a:rPr lang="en-US" sz="2400" dirty="0"/>
              <a:t>…</a:t>
            </a:r>
          </a:p>
          <a:p>
            <a:pPr algn="just">
              <a:spcBef>
                <a:spcPct val="80000"/>
              </a:spcBef>
              <a:buClr>
                <a:srgbClr val="666699"/>
              </a:buClr>
            </a:pP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Tư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duy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nhóm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/>
              <a:t>(</a:t>
            </a:r>
            <a:r>
              <a:rPr lang="en-US" dirty="0">
                <a:solidFill>
                  <a:srgbClr val="0070C0"/>
                </a:solidFill>
              </a:rPr>
              <a:t>groupthink</a:t>
            </a:r>
            <a:r>
              <a:rPr lang="en-US" dirty="0"/>
              <a:t>): </a:t>
            </a:r>
            <a:r>
              <a:rPr lang="en-US" dirty="0" err="1"/>
              <a:t>phù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và </a:t>
            </a:r>
            <a:r>
              <a:rPr lang="en-US" dirty="0" err="1"/>
              <a:t>chuẩn</a:t>
            </a:r>
            <a:r>
              <a:rPr lang="en-US" dirty="0"/>
              <a:t> </a:t>
            </a:r>
            <a:r>
              <a:rPr lang="en-US" dirty="0" err="1"/>
              <a:t>đạo</a:t>
            </a:r>
            <a:r>
              <a:rPr lang="en-US" dirty="0"/>
              <a:t> </a:t>
            </a:r>
            <a:r>
              <a:rPr lang="en-US" dirty="0" err="1"/>
              <a:t>đức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đội</a:t>
            </a:r>
            <a:r>
              <a:rPr lang="en-US" dirty="0"/>
              <a:t>/</a:t>
            </a:r>
            <a:r>
              <a:rPr lang="en-US" dirty="0" err="1"/>
              <a:t>nhóm</a:t>
            </a:r>
            <a:r>
              <a:rPr lang="en-US" dirty="0"/>
              <a:t>, </a:t>
            </a:r>
            <a:r>
              <a:rPr lang="en-US" dirty="0" err="1"/>
              <a:t>phát</a:t>
            </a:r>
            <a:r>
              <a:rPr lang="en-US" dirty="0"/>
              <a:t> triển </a:t>
            </a:r>
            <a:r>
              <a:rPr lang="en-US" dirty="0" err="1"/>
              <a:t>tốt</a:t>
            </a:r>
            <a:r>
              <a:rPr lang="en-US" dirty="0"/>
              <a:t> 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xung</a:t>
            </a:r>
            <a:r>
              <a:rPr lang="en-US" dirty="0"/>
              <a:t> </a:t>
            </a:r>
            <a:r>
              <a:rPr lang="en-US" dirty="0" err="1"/>
              <a:t>đột</a:t>
            </a:r>
            <a:r>
              <a:rPr lang="en-US" dirty="0"/>
              <a:t>.</a:t>
            </a:r>
          </a:p>
        </p:txBody>
      </p:sp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 err="1"/>
              <a:t>Xung</a:t>
            </a:r>
            <a:r>
              <a:rPr lang="en-US" sz="4000" dirty="0"/>
              <a:t> </a:t>
            </a:r>
            <a:r>
              <a:rPr lang="en-US" sz="4000" dirty="0" err="1"/>
              <a:t>đột</a:t>
            </a:r>
            <a:r>
              <a:rPr lang="en-US" sz="4000" dirty="0"/>
              <a:t> </a:t>
            </a:r>
            <a:r>
              <a:rPr lang="en-US" sz="4000" dirty="0" err="1"/>
              <a:t>có</a:t>
            </a:r>
            <a:r>
              <a:rPr lang="en-US" sz="4000" dirty="0"/>
              <a:t> </a:t>
            </a:r>
            <a:r>
              <a:rPr lang="en-US" sz="4000" dirty="0" err="1"/>
              <a:t>tốt</a:t>
            </a:r>
            <a:r>
              <a:rPr lang="en-US" sz="4000" dirty="0"/>
              <a:t> </a:t>
            </a:r>
            <a:r>
              <a:rPr lang="en-US" sz="4000" dirty="0" err="1"/>
              <a:t>không</a:t>
            </a:r>
            <a:r>
              <a:rPr lang="en-US" sz="4000" dirty="0"/>
              <a:t>?</a:t>
            </a:r>
          </a:p>
        </p:txBody>
      </p:sp>
      <p:sp>
        <p:nvSpPr>
          <p:cNvPr id="37893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59AA3D8-7433-4027-A5FC-D8845AD4F8F2}" type="slidenum">
              <a:rPr lang="en-US" smtClean="0"/>
              <a:pPr>
                <a:defRPr/>
              </a:pPr>
              <a:t>67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299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abinoda.com/book_note_assets/five-dysfunctions-pyramid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1447800"/>
            <a:ext cx="6156278" cy="4157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524000"/>
            <a:ext cx="4343400" cy="2362200"/>
          </a:xfrm>
        </p:spPr>
        <p:txBody>
          <a:bodyPr/>
          <a:lstStyle/>
          <a:p>
            <a:pPr marL="573088" lvl="2" indent="-395288"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2400" dirty="0" err="1"/>
              <a:t>Thiếu</a:t>
            </a:r>
            <a:r>
              <a:rPr lang="en-US" sz="2400" dirty="0"/>
              <a:t> tin </a:t>
            </a:r>
            <a:r>
              <a:rPr lang="en-US" sz="2400" dirty="0" err="1"/>
              <a:t>tưởng</a:t>
            </a:r>
            <a:endParaRPr lang="en-US" sz="2400" dirty="0"/>
          </a:p>
          <a:p>
            <a:pPr marL="573088" lvl="2" indent="-395288"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2400" dirty="0"/>
              <a:t>E </a:t>
            </a:r>
            <a:r>
              <a:rPr lang="en-US" sz="2400" dirty="0" err="1"/>
              <a:t>ngại</a:t>
            </a:r>
            <a:r>
              <a:rPr lang="en-US" sz="2400" dirty="0"/>
              <a:t> </a:t>
            </a:r>
            <a:r>
              <a:rPr lang="en-US" sz="2400" dirty="0" err="1"/>
              <a:t>xung</a:t>
            </a:r>
            <a:r>
              <a:rPr lang="en-US" sz="2400" dirty="0"/>
              <a:t> </a:t>
            </a:r>
            <a:r>
              <a:rPr lang="en-US" sz="2400" dirty="0" err="1"/>
              <a:t>đột</a:t>
            </a:r>
            <a:endParaRPr lang="en-US" sz="2400" dirty="0"/>
          </a:p>
          <a:p>
            <a:pPr marL="573088" lvl="2" indent="-395288"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2400" dirty="0" err="1"/>
              <a:t>Thiếu</a:t>
            </a:r>
            <a:r>
              <a:rPr lang="en-US" sz="2400" dirty="0"/>
              <a:t> </a:t>
            </a:r>
            <a:r>
              <a:rPr lang="en-US" sz="2400" dirty="0" err="1"/>
              <a:t>ràng</a:t>
            </a:r>
            <a:r>
              <a:rPr lang="en-US" sz="2400" dirty="0"/>
              <a:t> </a:t>
            </a:r>
            <a:r>
              <a:rPr lang="en-US" sz="2400" dirty="0" err="1"/>
              <a:t>buộc</a:t>
            </a:r>
            <a:r>
              <a:rPr lang="en-US" sz="2400" dirty="0"/>
              <a:t> </a:t>
            </a:r>
          </a:p>
          <a:p>
            <a:pPr marL="573088" lvl="2" indent="-395288"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2400" dirty="0" err="1"/>
              <a:t>Tránh</a:t>
            </a:r>
            <a:r>
              <a:rPr lang="en-US" sz="2400" dirty="0"/>
              <a:t> </a:t>
            </a:r>
            <a:r>
              <a:rPr lang="en-US" sz="2400" dirty="0" err="1"/>
              <a:t>trách</a:t>
            </a:r>
            <a:r>
              <a:rPr lang="en-US" sz="2400" dirty="0"/>
              <a:t> </a:t>
            </a:r>
            <a:r>
              <a:rPr lang="en-US" sz="2400" dirty="0" err="1"/>
              <a:t>nhiệm</a:t>
            </a:r>
            <a:endParaRPr lang="en-US" sz="2400" dirty="0"/>
          </a:p>
          <a:p>
            <a:pPr marL="573088" lvl="2" indent="-395288"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en-US" sz="2400" dirty="0" err="1"/>
              <a:t>Không</a:t>
            </a:r>
            <a:r>
              <a:rPr lang="en-US" sz="2400" dirty="0"/>
              <a:t> </a:t>
            </a:r>
            <a:r>
              <a:rPr lang="en-US" sz="2400" dirty="0" err="1"/>
              <a:t>chú</a:t>
            </a:r>
            <a:r>
              <a:rPr lang="en-US" sz="2400" dirty="0"/>
              <a:t> ý </a:t>
            </a:r>
            <a:r>
              <a:rPr lang="en-US" sz="2400" dirty="0" err="1"/>
              <a:t>kết</a:t>
            </a:r>
            <a:r>
              <a:rPr lang="en-US" sz="2400" dirty="0"/>
              <a:t> </a:t>
            </a:r>
            <a:r>
              <a:rPr lang="en-US" sz="2400" dirty="0" err="1"/>
              <a:t>quả</a:t>
            </a:r>
            <a:r>
              <a:rPr lang="en-US" sz="2400" dirty="0"/>
              <a:t>.</a:t>
            </a:r>
          </a:p>
          <a:p>
            <a:pPr marL="549275" lvl="2" indent="0">
              <a:buNone/>
              <a:defRPr/>
            </a:pPr>
            <a:endParaRPr lang="en-US" sz="2400" dirty="0"/>
          </a:p>
          <a:p>
            <a:pPr>
              <a:buFont typeface="Wingdings 2" pitchFamily="18" charset="2"/>
              <a:buNone/>
              <a:defRPr/>
            </a:pPr>
            <a:endParaRPr lang="en-US" dirty="0"/>
          </a:p>
        </p:txBody>
      </p:sp>
      <p:sp>
        <p:nvSpPr>
          <p:cNvPr id="65538" name="Title 1"/>
          <p:cNvSpPr>
            <a:spLocks noGrp="1"/>
          </p:cNvSpPr>
          <p:nvPr>
            <p:ph type="title"/>
          </p:nvPr>
        </p:nvSpPr>
        <p:spPr>
          <a:xfrm>
            <a:off x="381000" y="350838"/>
            <a:ext cx="8305800" cy="792162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5 </a:t>
            </a:r>
            <a:r>
              <a:rPr lang="en-US" sz="4000" dirty="0" err="1"/>
              <a:t>rối</a:t>
            </a:r>
            <a:r>
              <a:rPr lang="en-US" sz="4000" dirty="0"/>
              <a:t> </a:t>
            </a:r>
            <a:r>
              <a:rPr lang="en-US" sz="4000" dirty="0" err="1"/>
              <a:t>loạn</a:t>
            </a:r>
            <a:r>
              <a:rPr lang="en-US" sz="4000" dirty="0"/>
              <a:t> </a:t>
            </a:r>
            <a:r>
              <a:rPr lang="en-US" sz="4000" dirty="0" err="1"/>
              <a:t>trong</a:t>
            </a:r>
            <a:r>
              <a:rPr lang="en-US" sz="4000" dirty="0"/>
              <a:t> </a:t>
            </a:r>
            <a:r>
              <a:rPr lang="en-US" sz="4000" dirty="0" err="1"/>
              <a:t>đội</a:t>
            </a:r>
            <a:endParaRPr lang="en-US" sz="4000" dirty="0"/>
          </a:p>
        </p:txBody>
      </p:sp>
      <p:sp>
        <p:nvSpPr>
          <p:cNvPr id="65540" name="Footer Placeholder 3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7647E6A-936B-4ACD-B13C-34772058D73B}" type="slidenum">
              <a:rPr lang="en-US" smtClean="0"/>
              <a:pPr>
                <a:defRPr/>
              </a:pPr>
              <a:t>68</a:t>
            </a:fld>
            <a:endParaRPr lang="en-US" dirty="0"/>
          </a:p>
        </p:txBody>
      </p:sp>
      <p:sp>
        <p:nvSpPr>
          <p:cNvPr id="65542" name="TextBox 5"/>
          <p:cNvSpPr txBox="1">
            <a:spLocks noChangeArrowheads="1"/>
          </p:cNvSpPr>
          <p:nvPr/>
        </p:nvSpPr>
        <p:spPr bwMode="auto">
          <a:xfrm>
            <a:off x="1828800" y="5943600"/>
            <a:ext cx="7086601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en-US" sz="1600" dirty="0"/>
              <a:t>*Lencioni, Patrick, “Overcoming the Five Dysfunctions of a Team,” (2005)</a:t>
            </a:r>
          </a:p>
          <a:p>
            <a:pPr algn="r"/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42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099"/>
            <a:ext cx="9144000" cy="6848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833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ight Arrow 6"/>
          <p:cNvSpPr/>
          <p:nvPr/>
        </p:nvSpPr>
        <p:spPr>
          <a:xfrm>
            <a:off x="1380306" y="2235926"/>
            <a:ext cx="7535093" cy="1066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7417"/>
            <a:ext cx="8229600" cy="1049383"/>
          </a:xfrm>
        </p:spPr>
        <p:txBody>
          <a:bodyPr>
            <a:normAutofit/>
          </a:bodyPr>
          <a:lstStyle/>
          <a:p>
            <a:pPr algn="ctr"/>
            <a:r>
              <a:rPr lang="en-US" sz="3600" dirty="0" err="1"/>
              <a:t>Các</a:t>
            </a:r>
            <a:r>
              <a:rPr lang="en-US" sz="3600" dirty="0"/>
              <a:t> </a:t>
            </a:r>
            <a:r>
              <a:rPr lang="en-US" sz="3600" dirty="0" err="1"/>
              <a:t>thế</a:t>
            </a:r>
            <a:r>
              <a:rPr lang="en-US" sz="3600" dirty="0"/>
              <a:t> </a:t>
            </a:r>
            <a:r>
              <a:rPr lang="en-US" sz="3600" dirty="0" err="1"/>
              <a:t>hệ</a:t>
            </a:r>
            <a:r>
              <a:rPr lang="en-US" sz="3600" dirty="0"/>
              <a:t>…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2514600"/>
            <a:ext cx="2286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1" name="Rectangle 10"/>
          <p:cNvSpPr/>
          <p:nvPr/>
        </p:nvSpPr>
        <p:spPr>
          <a:xfrm>
            <a:off x="609600" y="2514600"/>
            <a:ext cx="2286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2" name="Rectangle 11"/>
          <p:cNvSpPr/>
          <p:nvPr/>
        </p:nvSpPr>
        <p:spPr>
          <a:xfrm>
            <a:off x="990600" y="2514600"/>
            <a:ext cx="2286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4" name="Rectangle 13"/>
          <p:cNvSpPr/>
          <p:nvPr/>
        </p:nvSpPr>
        <p:spPr>
          <a:xfrm>
            <a:off x="152400" y="3048000"/>
            <a:ext cx="1219200" cy="186204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15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?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9300" y="1143000"/>
            <a:ext cx="5105400" cy="5181600"/>
          </a:xfrm>
          <a:prstGeom prst="rect">
            <a:avLst/>
          </a:prstGeom>
        </p:spPr>
      </p:pic>
      <p:sp>
        <p:nvSpPr>
          <p:cNvPr id="13" name="Footer Placeholder 6"/>
          <p:cNvSpPr>
            <a:spLocks noGrp="1"/>
          </p:cNvSpPr>
          <p:nvPr>
            <p:ph type="ftr" sz="quarter" idx="10"/>
          </p:nvPr>
        </p:nvSpPr>
        <p:spPr bwMode="auto">
          <a:xfrm>
            <a:off x="0" y="6492875"/>
            <a:ext cx="2590800" cy="365125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buFontTx/>
              <a:buNone/>
            </a:pPr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</p:spTree>
    <p:extLst>
      <p:ext uri="{BB962C8B-B14F-4D97-AF65-F5344CB8AC3E}">
        <p14:creationId xmlns:p14="http://schemas.microsoft.com/office/powerpoint/2010/main" val="2740042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25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1" grpId="0" animBg="1"/>
      <p:bldP spid="12" grpId="0" animBg="1"/>
      <p:bldP spid="14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7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493838"/>
            <a:ext cx="8534400" cy="4525962"/>
          </a:xfrm>
        </p:spPr>
        <p:txBody>
          <a:bodyPr/>
          <a:lstStyle/>
          <a:p>
            <a:pPr algn="just">
              <a:spcAft>
                <a:spcPts val="1800"/>
              </a:spcAft>
            </a:pP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mềm</a:t>
            </a:r>
            <a:r>
              <a:rPr lang="en-US" dirty="0"/>
              <a:t> </a:t>
            </a:r>
            <a:r>
              <a:rPr lang="en-US" dirty="0" err="1"/>
              <a:t>hỗ</a:t>
            </a:r>
            <a:r>
              <a:rPr lang="en-US" dirty="0"/>
              <a:t> </a:t>
            </a:r>
            <a:r>
              <a:rPr lang="en-US" dirty="0" err="1"/>
              <a:t>trợ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cung</a:t>
            </a:r>
            <a:r>
              <a:rPr lang="en-US" dirty="0"/>
              <a:t> </a:t>
            </a:r>
            <a:r>
              <a:rPr lang="en-US" dirty="0" err="1"/>
              <a:t>cấp</a:t>
            </a:r>
            <a:r>
              <a:rPr lang="en-US" dirty="0"/>
              <a:t> RAM, </a:t>
            </a:r>
            <a:r>
              <a:rPr lang="en-US" dirty="0" err="1"/>
              <a:t>nhật</a:t>
            </a:r>
            <a:r>
              <a:rPr lang="en-US" dirty="0"/>
              <a:t> </a:t>
            </a:r>
            <a:r>
              <a:rPr lang="en-US" dirty="0" err="1"/>
              <a:t>đồ</a:t>
            </a:r>
            <a:r>
              <a:rPr lang="en-US" dirty="0"/>
              <a:t> </a:t>
            </a:r>
            <a:r>
              <a:rPr lang="en-US" dirty="0" err="1"/>
              <a:t>nguồn</a:t>
            </a:r>
            <a:r>
              <a:rPr lang="en-US" dirty="0"/>
              <a:t> </a:t>
            </a:r>
            <a:r>
              <a:rPr lang="en-US" dirty="0" err="1"/>
              <a:t>lực</a:t>
            </a:r>
            <a:r>
              <a:rPr lang="en-US" dirty="0"/>
              <a:t>...</a:t>
            </a:r>
          </a:p>
          <a:p>
            <a:pPr algn="just"/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mềm</a:t>
            </a:r>
            <a:r>
              <a:rPr lang="en-US" dirty="0"/>
              <a:t> QLDA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quản lý </a:t>
            </a:r>
            <a:r>
              <a:rPr lang="en-US" dirty="0" err="1"/>
              <a:t>nguồn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lực</a:t>
            </a:r>
            <a:r>
              <a:rPr lang="en-US" dirty="0"/>
              <a:t>: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400" dirty="0" err="1"/>
              <a:t>Xác</a:t>
            </a:r>
            <a:r>
              <a:rPr lang="en-US" sz="2400" dirty="0"/>
              <a:t> </a:t>
            </a:r>
            <a:r>
              <a:rPr lang="en-US" sz="2400" dirty="0" err="1"/>
              <a:t>định</a:t>
            </a:r>
            <a:r>
              <a:rPr lang="en-US" sz="2400" dirty="0"/>
              <a:t> </a:t>
            </a:r>
            <a:r>
              <a:rPr lang="en-US" sz="2400" dirty="0" err="1"/>
              <a:t>tình</a:t>
            </a:r>
            <a:r>
              <a:rPr lang="en-US" sz="2400" dirty="0"/>
              <a:t> </a:t>
            </a:r>
            <a:r>
              <a:rPr lang="en-US" sz="2400" dirty="0" err="1"/>
              <a:t>trạng</a:t>
            </a:r>
            <a:r>
              <a:rPr lang="en-US" sz="2400" dirty="0"/>
              <a:t> </a:t>
            </a:r>
            <a:r>
              <a:rPr lang="en-US" sz="2400" dirty="0" err="1"/>
              <a:t>thiếu</a:t>
            </a:r>
            <a:r>
              <a:rPr lang="en-US" sz="2400" dirty="0"/>
              <a:t> </a:t>
            </a:r>
            <a:r>
              <a:rPr lang="en-US" sz="2400" dirty="0" err="1"/>
              <a:t>nguồn</a:t>
            </a:r>
            <a:r>
              <a:rPr lang="en-US" sz="2400" dirty="0"/>
              <a:t> </a:t>
            </a:r>
            <a:r>
              <a:rPr lang="en-US" sz="2400" dirty="0" err="1"/>
              <a:t>nhân</a:t>
            </a:r>
            <a:r>
              <a:rPr lang="en-US" sz="2400" dirty="0"/>
              <a:t> </a:t>
            </a:r>
            <a:r>
              <a:rPr lang="en-US" sz="2400" dirty="0" err="1"/>
              <a:t>lực</a:t>
            </a:r>
            <a:r>
              <a:rPr lang="en-US" sz="2400" dirty="0"/>
              <a:t>… 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400" dirty="0" err="1"/>
              <a:t>Phân</a:t>
            </a:r>
            <a:r>
              <a:rPr lang="en-US" sz="2400" dirty="0"/>
              <a:t> </a:t>
            </a:r>
            <a:r>
              <a:rPr lang="en-US" sz="2400" dirty="0" err="1"/>
              <a:t>bổ</a:t>
            </a:r>
            <a:r>
              <a:rPr lang="en-US" sz="2400" dirty="0"/>
              <a:t> </a:t>
            </a:r>
            <a:r>
              <a:rPr lang="en-US" sz="2400" dirty="0" err="1"/>
              <a:t>nguồn</a:t>
            </a:r>
            <a:r>
              <a:rPr lang="en-US" sz="2400" dirty="0"/>
              <a:t> </a:t>
            </a:r>
            <a:r>
              <a:rPr lang="en-US" sz="2400" dirty="0" err="1"/>
              <a:t>lực</a:t>
            </a:r>
            <a:endParaRPr lang="en-US" sz="2400" dirty="0"/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400" dirty="0" err="1"/>
              <a:t>Cân</a:t>
            </a:r>
            <a:r>
              <a:rPr lang="en-US" sz="2400" dirty="0"/>
              <a:t> </a:t>
            </a:r>
            <a:r>
              <a:rPr lang="en-US" sz="2400" dirty="0" err="1"/>
              <a:t>bằng</a:t>
            </a:r>
            <a:r>
              <a:rPr lang="en-US" sz="2400" dirty="0"/>
              <a:t> </a:t>
            </a:r>
            <a:r>
              <a:rPr lang="en-US" sz="2400" dirty="0" err="1"/>
              <a:t>nguồn</a:t>
            </a:r>
            <a:r>
              <a:rPr lang="en-US" sz="2400" dirty="0"/>
              <a:t> </a:t>
            </a:r>
            <a:r>
              <a:rPr lang="en-US" sz="2400" dirty="0" err="1"/>
              <a:t>lực</a:t>
            </a:r>
            <a:r>
              <a:rPr lang="en-US" sz="2400" dirty="0"/>
              <a:t>.</a:t>
            </a:r>
          </a:p>
          <a:p>
            <a:pPr lvl="1" algn="just">
              <a:lnSpc>
                <a:spcPct val="90000"/>
              </a:lnSpc>
            </a:pPr>
            <a:endParaRPr lang="en-US" dirty="0"/>
          </a:p>
          <a:p>
            <a:pPr lvl="1" algn="just">
              <a:lnSpc>
                <a:spcPct val="90000"/>
              </a:lnSpc>
            </a:pPr>
            <a:endParaRPr lang="en-US" dirty="0"/>
          </a:p>
        </p:txBody>
      </p:sp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9144000" cy="1143000"/>
          </a:xfrm>
        </p:spPr>
        <p:txBody>
          <a:bodyPr>
            <a:noAutofit/>
          </a:bodyPr>
          <a:lstStyle/>
          <a:p>
            <a:pPr algn="ctr"/>
            <a:r>
              <a:rPr lang="en-US" sz="4000" dirty="0" err="1"/>
              <a:t>Phần</a:t>
            </a:r>
            <a:r>
              <a:rPr lang="en-US" sz="4000" dirty="0"/>
              <a:t> </a:t>
            </a:r>
            <a:r>
              <a:rPr lang="en-US" sz="4000" dirty="0" err="1"/>
              <a:t>mềm</a:t>
            </a:r>
            <a:r>
              <a:rPr lang="en-US" sz="4000" dirty="0"/>
              <a:t> </a:t>
            </a:r>
            <a:r>
              <a:rPr lang="en-US" sz="4000" dirty="0" err="1"/>
              <a:t>hỗ</a:t>
            </a:r>
            <a:r>
              <a:rPr lang="en-US" sz="4000" dirty="0"/>
              <a:t> </a:t>
            </a:r>
            <a:r>
              <a:rPr lang="en-US" sz="4000" dirty="0" err="1"/>
              <a:t>trợ</a:t>
            </a:r>
            <a:r>
              <a:rPr lang="en-US" sz="4000" dirty="0"/>
              <a:t>…</a:t>
            </a:r>
          </a:p>
        </p:txBody>
      </p:sp>
      <p:sp>
        <p:nvSpPr>
          <p:cNvPr id="67589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E8EDA0A-988F-4053-9F65-16A93AFF07C1}" type="slidenum">
              <a:rPr lang="en-US" smtClean="0"/>
              <a:pPr>
                <a:defRPr/>
              </a:pPr>
              <a:t>71</a:t>
            </a:fld>
            <a:endParaRPr lang="en-US" dirty="0"/>
          </a:p>
        </p:txBody>
      </p:sp>
      <p:pic>
        <p:nvPicPr>
          <p:cNvPr id="1026" name="Picture 2" descr="http://www.adaequare.com/wp-content/uploads/2015/05/erp-icon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4343400"/>
            <a:ext cx="1981200" cy="198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35010" y="1905000"/>
            <a:ext cx="9108989" cy="1829761"/>
          </a:xfrm>
        </p:spPr>
        <p:txBody>
          <a:bodyPr>
            <a:noAutofit/>
          </a:bodyPr>
          <a:lstStyle/>
          <a:p>
            <a:pPr algn="ctr" fontAlgn="auto">
              <a:spcAft>
                <a:spcPts val="0"/>
              </a:spcAft>
              <a:defRPr/>
            </a:pPr>
            <a:br>
              <a:rPr dirty="0">
                <a:solidFill>
                  <a:srgbClr val="0070C0"/>
                </a:solidFill>
                <a:effectLst/>
              </a:rPr>
            </a:br>
            <a:r>
              <a:rPr lang="vi-VN" sz="4400" dirty="0">
                <a:solidFill>
                  <a:srgbClr val="0070C0"/>
                </a:solidFill>
                <a:effectLst/>
              </a:rPr>
              <a:t>TÓM TẮT &amp; TỪ KHÓA</a:t>
            </a:r>
            <a:br>
              <a:rPr lang="vi-VN" sz="4400" dirty="0">
                <a:solidFill>
                  <a:srgbClr val="0070C0"/>
                </a:solidFill>
                <a:effectLst/>
              </a:rPr>
            </a:br>
            <a:endParaRPr lang="vi-VN" sz="4400" dirty="0">
              <a:solidFill>
                <a:srgbClr val="0070C0"/>
              </a:solidFill>
              <a:effectLst/>
            </a:endParaRP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>
          <a:xfrm>
            <a:off x="723900" y="317956"/>
            <a:ext cx="7848600" cy="663575"/>
          </a:xfrm>
          <a:prstGeom prst="rect">
            <a:avLst/>
          </a:prstGeom>
        </p:spPr>
        <p:txBody>
          <a:bodyPr vert="horz" anchor="b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pPr algn="ctr" fontAlgn="auto">
              <a:spcAft>
                <a:spcPts val="0"/>
              </a:spcAft>
              <a:defRPr/>
            </a:pPr>
            <a:endParaRPr lang="vi-VN" sz="3000" b="1" u="sng" dirty="0">
              <a:effectLst>
                <a:outerShdw blurRad="38100" dist="38100" dir="2700000" algn="tl">
                  <a:srgbClr val="FFFFFF"/>
                </a:outerShdw>
              </a:effectLst>
              <a:latin typeface="+mj-lt"/>
            </a:endParaRPr>
          </a:p>
        </p:txBody>
      </p:sp>
      <p:sp>
        <p:nvSpPr>
          <p:cNvPr id="4" name="Footer Placeholder 1"/>
          <p:cNvSpPr txBox="1">
            <a:spLocks/>
          </p:cNvSpPr>
          <p:nvPr/>
        </p:nvSpPr>
        <p:spPr>
          <a:xfrm>
            <a:off x="0" y="6492875"/>
            <a:ext cx="2362200" cy="365125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algn="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/>
              <a:t>Quản </a:t>
            </a:r>
            <a:r>
              <a:rPr lang="en-US" sz="1200" dirty="0" err="1"/>
              <a:t>trị</a:t>
            </a:r>
            <a:r>
              <a:rPr lang="en-US" sz="1200" dirty="0"/>
              <a:t> </a:t>
            </a:r>
            <a:r>
              <a:rPr lang="en-US" sz="1200" dirty="0" err="1"/>
              <a:t>dự</a:t>
            </a:r>
            <a:r>
              <a:rPr lang="en-US" sz="1200" dirty="0"/>
              <a:t> </a:t>
            </a:r>
            <a:r>
              <a:rPr lang="en-US" sz="1200" dirty="0" err="1"/>
              <a:t>án</a:t>
            </a:r>
            <a:r>
              <a:rPr lang="en-US" sz="1200" dirty="0"/>
              <a:t> HTTT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859763"/>
            <a:ext cx="2057400" cy="2617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68856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vi-VN" dirty="0">
                <a:solidFill>
                  <a:srgbClr val="002060"/>
                </a:solidFill>
              </a:rPr>
              <a:t>Quản lý nguồn nhân lực dự án gồm các quy trình cần thiết để sử dụng hiệu quả nhất của những người liên quan trong dự án.</a:t>
            </a:r>
          </a:p>
          <a:p>
            <a:pPr algn="just"/>
            <a:endParaRPr lang="vi-VN" sz="1200" dirty="0">
              <a:solidFill>
                <a:srgbClr val="002060"/>
              </a:solidFill>
            </a:endParaRPr>
          </a:p>
          <a:p>
            <a:pPr algn="just"/>
            <a:r>
              <a:rPr lang="vi-VN" dirty="0">
                <a:solidFill>
                  <a:srgbClr val="002060"/>
                </a:solidFill>
              </a:rPr>
              <a:t>Quy trình chính của quản lý nguồn nhân lực...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en-US" sz="4400" dirty="0" err="1">
                <a:solidFill>
                  <a:srgbClr val="0070C0"/>
                </a:solidFill>
              </a:rPr>
              <a:t>Tóm</a:t>
            </a:r>
            <a:r>
              <a:rPr lang="en-US" sz="4400" dirty="0">
                <a:solidFill>
                  <a:srgbClr val="0070C0"/>
                </a:solidFill>
              </a:rPr>
              <a:t> </a:t>
            </a:r>
            <a:r>
              <a:rPr lang="en-US" sz="4400" dirty="0" err="1">
                <a:solidFill>
                  <a:srgbClr val="0070C0"/>
                </a:solidFill>
              </a:rPr>
              <a:t>tắt</a:t>
            </a:r>
            <a:r>
              <a:rPr lang="en-US" sz="4400" dirty="0">
                <a:solidFill>
                  <a:srgbClr val="0070C0"/>
                </a:solidFill>
              </a:rPr>
              <a:t> </a:t>
            </a:r>
            <a:r>
              <a:rPr lang="en-US" sz="4400" dirty="0" err="1">
                <a:solidFill>
                  <a:srgbClr val="0070C0"/>
                </a:solidFill>
              </a:rPr>
              <a:t>chương</a:t>
            </a:r>
            <a:r>
              <a:rPr lang="en-US" sz="4400" dirty="0">
                <a:solidFill>
                  <a:srgbClr val="0070C0"/>
                </a:solidFill>
              </a:rPr>
              <a:t> 7</a:t>
            </a:r>
          </a:p>
        </p:txBody>
      </p:sp>
      <p:sp>
        <p:nvSpPr>
          <p:cNvPr id="57349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59A07A5-AED4-4C39-9781-B4BD2FA607DD}" type="slidenum">
              <a:rPr lang="en-US" smtClean="0"/>
              <a:pPr>
                <a:defRPr/>
              </a:pPr>
              <a:t>73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8883" y="3733800"/>
            <a:ext cx="5920317" cy="2703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344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7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7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7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219200"/>
            <a:ext cx="8229600" cy="4005262"/>
          </a:xfrm>
        </p:spPr>
        <p:txBody>
          <a:bodyPr/>
          <a:lstStyle/>
          <a:p>
            <a:pPr lvl="1">
              <a:buSzPct val="80000"/>
              <a:buFont typeface="Wingdings 3" panose="05040102010807070707" pitchFamily="18" charset="2"/>
              <a:buChar char="}"/>
            </a:pPr>
            <a:r>
              <a:rPr lang="en-US" sz="2700" dirty="0" err="1"/>
              <a:t>Từ</a:t>
            </a:r>
            <a:r>
              <a:rPr lang="en-US" sz="2700" dirty="0"/>
              <a:t> </a:t>
            </a:r>
            <a:r>
              <a:rPr lang="en-US" sz="2700" dirty="0" err="1"/>
              <a:t>khóa</a:t>
            </a:r>
            <a:r>
              <a:rPr lang="en-US" sz="2700" dirty="0"/>
              <a:t> </a:t>
            </a:r>
            <a:r>
              <a:rPr lang="en-US" sz="2700" dirty="0" err="1"/>
              <a:t>chính</a:t>
            </a:r>
            <a:r>
              <a:rPr lang="en-US" sz="2700" dirty="0"/>
              <a:t>:</a:t>
            </a:r>
          </a:p>
          <a:p>
            <a:pPr lvl="2">
              <a:buClr>
                <a:srgbClr val="0070C0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70C0"/>
                </a:solidFill>
              </a:rPr>
              <a:t>Plan HR management</a:t>
            </a:r>
          </a:p>
          <a:p>
            <a:pPr lvl="2">
              <a:buClr>
                <a:srgbClr val="0070C0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70C0"/>
                </a:solidFill>
              </a:rPr>
              <a:t>Acquire project team</a:t>
            </a:r>
          </a:p>
          <a:p>
            <a:pPr lvl="2">
              <a:buClr>
                <a:srgbClr val="0070C0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70C0"/>
                </a:solidFill>
              </a:rPr>
              <a:t>Develop project team</a:t>
            </a:r>
          </a:p>
          <a:p>
            <a:pPr lvl="2">
              <a:buClr>
                <a:srgbClr val="0070C0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70C0"/>
                </a:solidFill>
              </a:rPr>
              <a:t>Manage project team.</a:t>
            </a:r>
          </a:p>
          <a:p>
            <a:pPr marL="630238" lvl="2" indent="0">
              <a:buSzPct val="80000"/>
              <a:buNone/>
            </a:pPr>
            <a:endParaRPr lang="en-US" sz="1200" dirty="0"/>
          </a:p>
        </p:txBody>
      </p:sp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0"/>
            <a:ext cx="8534400" cy="1143000"/>
          </a:xfrm>
        </p:spPr>
        <p:txBody>
          <a:bodyPr>
            <a:normAutofit/>
          </a:bodyPr>
          <a:lstStyle/>
          <a:p>
            <a:pPr algn="ctr"/>
            <a:r>
              <a:rPr lang="en-US" sz="4400" dirty="0" err="1">
                <a:solidFill>
                  <a:srgbClr val="0070C0"/>
                </a:solidFill>
              </a:rPr>
              <a:t>Từ</a:t>
            </a:r>
            <a:r>
              <a:rPr lang="en-US" sz="4400" dirty="0">
                <a:solidFill>
                  <a:srgbClr val="0070C0"/>
                </a:solidFill>
              </a:rPr>
              <a:t> </a:t>
            </a:r>
            <a:r>
              <a:rPr lang="en-US" sz="4400" dirty="0" err="1">
                <a:solidFill>
                  <a:srgbClr val="0070C0"/>
                </a:solidFill>
              </a:rPr>
              <a:t>khóa</a:t>
            </a:r>
            <a:endParaRPr lang="en-US" sz="4400" dirty="0">
              <a:solidFill>
                <a:srgbClr val="0070C0"/>
              </a:solidFill>
            </a:endParaRPr>
          </a:p>
        </p:txBody>
      </p:sp>
      <p:sp>
        <p:nvSpPr>
          <p:cNvPr id="57349" name="Footer Placeholder 6"/>
          <p:cNvSpPr>
            <a:spLocks noGrp="1"/>
          </p:cNvSpPr>
          <p:nvPr>
            <p:ph type="ftr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Quản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HTTT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59A07A5-AED4-4C39-9781-B4BD2FA607DD}" type="slidenum">
              <a:rPr lang="en-US" smtClean="0"/>
              <a:pPr>
                <a:defRPr/>
              </a:pPr>
              <a:t>74</a:t>
            </a:fld>
            <a:endParaRPr lang="en-US" dirty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2362200" y="3581400"/>
            <a:ext cx="6553200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65125" indent="-255588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itchFamily="18" charset="2"/>
              <a:buChar char="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0713" indent="-228600" algn="l" rtl="0" eaLnBrk="1" fontAlgn="base" hangingPunct="1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itchFamily="34" charset="0"/>
              <a:buChar char="◦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8838" indent="-228600" algn="l" rtl="0" eaLnBrk="1" fontAlgn="base" hangingPunct="1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itchFamily="18" charset="2"/>
              <a:buChar char="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3000" indent="-228600" algn="l" rtl="0" eaLnBrk="1" fontAlgn="base" hangingPunct="1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fontAlgn="base" hangingPunct="1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lvl="1">
              <a:buSzPct val="80000"/>
              <a:buFont typeface="Wingdings 3" panose="05040102010807070707" pitchFamily="18" charset="2"/>
              <a:buChar char="}"/>
            </a:pPr>
            <a:r>
              <a:rPr lang="en-US" sz="2700" dirty="0" err="1"/>
              <a:t>Từ</a:t>
            </a:r>
            <a:r>
              <a:rPr lang="en-US" sz="2700" dirty="0"/>
              <a:t> </a:t>
            </a:r>
            <a:r>
              <a:rPr lang="en-US" sz="2700" dirty="0" err="1"/>
              <a:t>khóa</a:t>
            </a:r>
            <a:r>
              <a:rPr lang="en-US" sz="2700" dirty="0"/>
              <a:t> </a:t>
            </a:r>
            <a:r>
              <a:rPr lang="en-US" sz="2700" dirty="0" err="1"/>
              <a:t>liên</a:t>
            </a:r>
            <a:r>
              <a:rPr lang="en-US" sz="2700" dirty="0"/>
              <a:t> </a:t>
            </a:r>
            <a:r>
              <a:rPr lang="en-US" sz="2700" dirty="0" err="1"/>
              <a:t>quan</a:t>
            </a:r>
            <a:r>
              <a:rPr lang="en-US" sz="2700" dirty="0"/>
              <a:t>:</a:t>
            </a:r>
          </a:p>
          <a:p>
            <a:pPr lvl="2">
              <a:buClr>
                <a:srgbClr val="0070C0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70C0"/>
                </a:solidFill>
              </a:rPr>
              <a:t>Motivation theory</a:t>
            </a:r>
          </a:p>
          <a:p>
            <a:pPr lvl="2">
              <a:buClr>
                <a:srgbClr val="0070C0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70C0"/>
                </a:solidFill>
              </a:rPr>
              <a:t>Leadership</a:t>
            </a:r>
          </a:p>
          <a:p>
            <a:pPr lvl="2">
              <a:buClr>
                <a:srgbClr val="0070C0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70C0"/>
                </a:solidFill>
              </a:rPr>
              <a:t>Conflict </a:t>
            </a:r>
          </a:p>
          <a:p>
            <a:pPr lvl="2">
              <a:buClr>
                <a:srgbClr val="0070C0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RAM</a:t>
            </a:r>
            <a:r>
              <a:rPr lang="en-US" sz="2400" dirty="0">
                <a:solidFill>
                  <a:srgbClr val="0070C0"/>
                </a:solidFill>
              </a:rPr>
              <a:t> (Responsibility Assignment Matrix)</a:t>
            </a:r>
          </a:p>
          <a:p>
            <a:pPr lvl="2">
              <a:buClr>
                <a:srgbClr val="0070C0"/>
              </a:buClr>
              <a:buSzPct val="8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MBTI</a:t>
            </a:r>
            <a:r>
              <a:rPr lang="en-US" sz="2400" dirty="0">
                <a:solidFill>
                  <a:srgbClr val="0070C0"/>
                </a:solidFill>
              </a:rPr>
              <a:t> (Meyers-Briggs Type Indicator)…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280492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381000" y="381000"/>
            <a:ext cx="8382000" cy="1143000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100" b="1">
                <a:solidFill>
                  <a:schemeClr val="tx2"/>
                </a:solidFill>
                <a:latin typeface="Lucida Sans Unicode" pitchFamily="34" charset="0"/>
              </a:defRPr>
            </a:lvl9pPr>
            <a:extLst/>
          </a:lstStyle>
          <a:p>
            <a:pPr algn="ctr"/>
            <a:r>
              <a:rPr lang="en-US" sz="4400" dirty="0" err="1"/>
              <a:t>Bài</a:t>
            </a:r>
            <a:r>
              <a:rPr lang="en-US" sz="4400" dirty="0"/>
              <a:t> </a:t>
            </a:r>
            <a:r>
              <a:rPr lang="en-US" sz="4400" dirty="0" err="1"/>
              <a:t>đọc</a:t>
            </a:r>
            <a:r>
              <a:rPr lang="en-US" sz="4400" dirty="0"/>
              <a:t> </a:t>
            </a:r>
            <a:r>
              <a:rPr lang="en-US" sz="4400" dirty="0" err="1"/>
              <a:t>thêm</a:t>
            </a:r>
            <a:r>
              <a:rPr lang="en-US" sz="4400" dirty="0"/>
              <a:t> </a:t>
            </a:r>
            <a:r>
              <a:rPr lang="en-US" sz="4400" dirty="0" err="1"/>
              <a:t>về</a:t>
            </a:r>
            <a:r>
              <a:rPr lang="en-US" sz="4400" dirty="0"/>
              <a:t> </a:t>
            </a:r>
            <a:r>
              <a:rPr lang="en-US" sz="4400" dirty="0" err="1"/>
              <a:t>nhà</a:t>
            </a:r>
            <a:endParaRPr lang="en-US" sz="4400" dirty="0"/>
          </a:p>
        </p:txBody>
      </p:sp>
      <p:sp>
        <p:nvSpPr>
          <p:cNvPr id="10" name="Rectangle 3"/>
          <p:cNvSpPr>
            <a:spLocks noGrp="1" noChangeArrowheads="1"/>
          </p:cNvSpPr>
          <p:nvPr>
            <p:ph idx="1"/>
          </p:nvPr>
        </p:nvSpPr>
        <p:spPr>
          <a:xfrm>
            <a:off x="914400" y="1981200"/>
            <a:ext cx="7467600" cy="18288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pPr algn="ctr">
              <a:spcAft>
                <a:spcPts val="1200"/>
              </a:spcAft>
            </a:pPr>
            <a:r>
              <a:rPr lang="en-US" sz="2400" dirty="0" err="1">
                <a:latin typeface="Arial (body)"/>
              </a:rPr>
              <a:t>Kiểm</a:t>
            </a:r>
            <a:r>
              <a:rPr lang="en-US" sz="2400" dirty="0">
                <a:latin typeface="Arial (body)"/>
              </a:rPr>
              <a:t> </a:t>
            </a:r>
            <a:r>
              <a:rPr lang="en-US" sz="2400" dirty="0" err="1">
                <a:latin typeface="Arial (body)"/>
              </a:rPr>
              <a:t>tra</a:t>
            </a:r>
            <a:r>
              <a:rPr lang="en-US" sz="2400" dirty="0">
                <a:latin typeface="Arial (body)"/>
              </a:rPr>
              <a:t> </a:t>
            </a:r>
            <a:r>
              <a:rPr lang="en-US" sz="2400" dirty="0" err="1">
                <a:latin typeface="Arial (body)"/>
              </a:rPr>
              <a:t>tính</a:t>
            </a:r>
            <a:r>
              <a:rPr lang="en-US" sz="2400" dirty="0">
                <a:latin typeface="Arial (body)"/>
              </a:rPr>
              <a:t> </a:t>
            </a:r>
            <a:r>
              <a:rPr lang="en-US" sz="2400" dirty="0" err="1">
                <a:latin typeface="Arial (body)"/>
              </a:rPr>
              <a:t>cách</a:t>
            </a:r>
            <a:r>
              <a:rPr lang="en-US" sz="2400" dirty="0">
                <a:latin typeface="Arial (body)"/>
              </a:rPr>
              <a:t> </a:t>
            </a:r>
            <a:r>
              <a:rPr lang="en-US" sz="2400" dirty="0" err="1">
                <a:latin typeface="Arial (body)"/>
              </a:rPr>
              <a:t>cá</a:t>
            </a:r>
            <a:r>
              <a:rPr lang="en-US" sz="2400" dirty="0">
                <a:latin typeface="Arial (body)"/>
              </a:rPr>
              <a:t> </a:t>
            </a:r>
            <a:r>
              <a:rPr lang="en-US" sz="2400" dirty="0" err="1">
                <a:latin typeface="Arial (body)"/>
              </a:rPr>
              <a:t>nhân</a:t>
            </a:r>
            <a:r>
              <a:rPr lang="en-US" sz="2400" dirty="0">
                <a:latin typeface="Arial (body)"/>
              </a:rPr>
              <a:t> </a:t>
            </a:r>
            <a:r>
              <a:rPr lang="en-US" sz="2400" dirty="0" err="1">
                <a:latin typeface="Arial (body)"/>
              </a:rPr>
              <a:t>theo</a:t>
            </a:r>
            <a:r>
              <a:rPr lang="en-US" sz="2400" dirty="0">
                <a:latin typeface="Arial (body)"/>
              </a:rPr>
              <a:t> MBTI </a:t>
            </a:r>
            <a:r>
              <a:rPr lang="en-US" sz="2400" dirty="0" err="1">
                <a:latin typeface="Arial (body)"/>
              </a:rPr>
              <a:t>trên</a:t>
            </a:r>
            <a:r>
              <a:rPr lang="en-US" sz="2400" dirty="0">
                <a:latin typeface="Arial (body)"/>
              </a:rPr>
              <a:t> trang:</a:t>
            </a:r>
          </a:p>
          <a:p>
            <a:pPr marL="109537" indent="0" algn="ctr">
              <a:spcAft>
                <a:spcPts val="1200"/>
              </a:spcAft>
              <a:buNone/>
            </a:pPr>
            <a:r>
              <a:rPr lang="en-US" sz="2400" dirty="0">
                <a:latin typeface="Arial (body)"/>
              </a:rPr>
              <a:t>   </a:t>
            </a:r>
            <a:r>
              <a:rPr lang="en-US" sz="3200" dirty="0">
                <a:latin typeface="Arial (body)"/>
                <a:hlinkClick r:id="rId3"/>
              </a:rPr>
              <a:t>http://www.tracnghiemmbti.com</a:t>
            </a:r>
            <a:endParaRPr lang="en-US" sz="3200" dirty="0">
              <a:latin typeface="Arial (body)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EAD0689-3C8F-4F33-9924-B2EDADDE0827}" type="slidenum">
              <a:rPr lang="en-US" smtClean="0"/>
              <a:pPr>
                <a:defRPr/>
              </a:pPr>
              <a:t>75</a:t>
            </a:fld>
            <a:endParaRPr lang="en-US" dirty="0"/>
          </a:p>
        </p:txBody>
      </p:sp>
      <p:sp>
        <p:nvSpPr>
          <p:cNvPr id="6" name="Footer Placeholder 1"/>
          <p:cNvSpPr txBox="1">
            <a:spLocks/>
          </p:cNvSpPr>
          <p:nvPr/>
        </p:nvSpPr>
        <p:spPr>
          <a:xfrm>
            <a:off x="0" y="6492875"/>
            <a:ext cx="2362200" cy="365125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algn="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2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/>
            <a:r>
              <a:rPr lang="en-US" sz="1200" dirty="0"/>
              <a:t>Quản </a:t>
            </a:r>
            <a:r>
              <a:rPr lang="en-US" sz="1200" dirty="0" err="1"/>
              <a:t>trị</a:t>
            </a:r>
            <a:r>
              <a:rPr lang="en-US" sz="1200" dirty="0"/>
              <a:t> </a:t>
            </a:r>
            <a:r>
              <a:rPr lang="en-US" sz="1200" dirty="0" err="1"/>
              <a:t>dự</a:t>
            </a:r>
            <a:r>
              <a:rPr lang="en-US" sz="1200" dirty="0"/>
              <a:t> </a:t>
            </a:r>
            <a:r>
              <a:rPr lang="en-US" sz="1200" dirty="0" err="1"/>
              <a:t>án</a:t>
            </a:r>
            <a:r>
              <a:rPr lang="en-US" sz="1200" dirty="0"/>
              <a:t> HTTT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0340" y="3352800"/>
            <a:ext cx="557966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968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81000" y="1219200"/>
            <a:ext cx="8229600" cy="2133600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vi-VN" sz="7200" dirty="0">
                <a:effectLst>
                  <a:outerShdw blurRad="38100" dist="38100" dir="2700000" algn="tl">
                    <a:srgbClr val="FFFFFF"/>
                  </a:outerShdw>
                </a:effectLst>
                <a:latin typeface="Arial Rounded MT Bold" pitchFamily="34" charset="0"/>
              </a:rPr>
              <a:t>Q&amp;A</a:t>
            </a:r>
            <a:endParaRPr sz="7200" dirty="0">
              <a:effectLst>
                <a:outerShdw blurRad="38100" dist="38100" dir="2700000" algn="tl">
                  <a:srgbClr val="FFFFFF"/>
                </a:outerShdw>
              </a:effectLst>
              <a:latin typeface="Arial Rounded MT Bol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221229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52400" y="1622425"/>
            <a:ext cx="8610600" cy="1349375"/>
          </a:xfrm>
        </p:spPr>
        <p:txBody>
          <a:bodyPr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vi-VN" sz="4000" b="0" dirty="0">
                <a:effectLst/>
              </a:rPr>
              <a:t>Chương kế tiếp...</a:t>
            </a:r>
            <a:br>
              <a:rPr sz="4000" b="0" dirty="0">
                <a:effectLst/>
              </a:rPr>
            </a:br>
            <a:r>
              <a:rPr lang="vi-VN" sz="4000" b="0" dirty="0">
                <a:effectLst/>
              </a:rPr>
              <a:t>QUẢN LÝ TRUYỀN THÔNG DỰ ÁN</a:t>
            </a:r>
            <a:endParaRPr sz="4000" b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023200326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eme1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2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3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4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6212</TotalTime>
  <Words>3263</Words>
  <Application>Microsoft Office PowerPoint</Application>
  <PresentationFormat>On-screen Show (4:3)</PresentationFormat>
  <Paragraphs>450</Paragraphs>
  <Slides>77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77</vt:i4>
      </vt:variant>
    </vt:vector>
  </HeadingPairs>
  <TitlesOfParts>
    <vt:vector size="90" baseType="lpstr">
      <vt:lpstr>Arial</vt:lpstr>
      <vt:lpstr>Arial (body)</vt:lpstr>
      <vt:lpstr>Arial Rounded MT Bold</vt:lpstr>
      <vt:lpstr>Calibri</vt:lpstr>
      <vt:lpstr>Lucida Sans Unicode</vt:lpstr>
      <vt:lpstr>SFU Futura</vt:lpstr>
      <vt:lpstr>Times New Roman</vt:lpstr>
      <vt:lpstr>Verdana</vt:lpstr>
      <vt:lpstr>Wingdings</vt:lpstr>
      <vt:lpstr>Wingdings 2</vt:lpstr>
      <vt:lpstr>Wingdings 3</vt:lpstr>
      <vt:lpstr>Custom Design</vt:lpstr>
      <vt:lpstr>Theme1</vt:lpstr>
      <vt:lpstr>Chương 7 QUẢN LÝ NGUỒN NHÂN LỰC DỰ ÁN</vt:lpstr>
      <vt:lpstr>Mục tiêu chương 7</vt:lpstr>
      <vt:lpstr>Nhắc lại kiến thức</vt:lpstr>
      <vt:lpstr>Khung quản lý dự án</vt:lpstr>
      <vt:lpstr> QUẢN LÝ NGUỒN NHÂN LỰC DỰ ÁN</vt:lpstr>
      <vt:lpstr>QUẢN LÝ NGUỒN NHÂN LỰC DỰ ÁN</vt:lpstr>
      <vt:lpstr>Tầm quan trọng của nguồn nhân lực</vt:lpstr>
      <vt:lpstr>Nguồn lực trong thành quả dự án</vt:lpstr>
      <vt:lpstr>Lực lượng lao động CNTT/HTTT</vt:lpstr>
      <vt:lpstr>Vấn đề nguồn nhân lực CNTT/HTTT</vt:lpstr>
      <vt:lpstr>Tương tác trong dự án [nguồn nhân lực]</vt:lpstr>
      <vt:lpstr>Quản lý nguồn nhân lực dự án [4]</vt:lpstr>
      <vt:lpstr>Quy trình quản lý nguồn lực</vt:lpstr>
      <vt:lpstr>Tóm tắt quản lý nguồn nhân lực</vt:lpstr>
      <vt:lpstr>Chìa khóa quản lý con người</vt:lpstr>
      <vt:lpstr>Động lực nội tại và ngoại sinh</vt:lpstr>
      <vt:lpstr>Tháp nhu cầu - Maslow</vt:lpstr>
      <vt:lpstr>Tháp nhu cầu - Maslow</vt:lpstr>
      <vt:lpstr>Thuyết động lực - Herzberg</vt:lpstr>
      <vt:lpstr>PowerPoint Presentation</vt:lpstr>
      <vt:lpstr>Thuyết nhu cầu thúc đẩy - McClelland</vt:lpstr>
      <vt:lpstr>Lý thuyết X và Y - McGregor</vt:lpstr>
      <vt:lpstr>X    Y</vt:lpstr>
      <vt:lpstr>PowerPoint Presentation</vt:lpstr>
      <vt:lpstr>Quyền lực và ảnh hưởng</vt:lpstr>
      <vt:lpstr>Nâng cao hiệu quả</vt:lpstr>
      <vt:lpstr>Lắng nghe và thấu hiểu</vt:lpstr>
      <vt:lpstr>Trí tuệ cảm xúc</vt:lpstr>
      <vt:lpstr>Tam giác tài năng PMI</vt:lpstr>
      <vt:lpstr> Khả năng lãnh đạo </vt:lpstr>
      <vt:lpstr>PowerPoint Presentation</vt:lpstr>
      <vt:lpstr>Quản lý nguồn nhân lực dự án [1/4]</vt:lpstr>
      <vt:lpstr>1. Kế hoạch quản lý nguồn nhân lực</vt:lpstr>
      <vt:lpstr>Ví dụ, sơ đồ tổ chức dự án HTTT</vt:lpstr>
      <vt:lpstr>Xác định và phân bổ công việc</vt:lpstr>
      <vt:lpstr>Ma trận phân công trách nhiệm</vt:lpstr>
      <vt:lpstr>Ví dụ, RAM của dự án SMART D01</vt:lpstr>
      <vt:lpstr>Ví dụ, RACI của dự án SMART D01</vt:lpstr>
      <vt:lpstr>Kế hoạch quản lý nhân viên</vt:lpstr>
      <vt:lpstr>Ví dụ, nhật đồ nguồn lực</vt:lpstr>
      <vt:lpstr>Quản lý nguồn nhân lực dự án [2/4]</vt:lpstr>
      <vt:lpstr>PowerPoint Presentation</vt:lpstr>
      <vt:lpstr>2. Thiết lập đội dự án</vt:lpstr>
      <vt:lpstr>Phân bổ nhân viên dự án</vt:lpstr>
      <vt:lpstr>PowerPoint Presentation</vt:lpstr>
      <vt:lpstr>Tải trọng nguồn lực</vt:lpstr>
      <vt:lpstr>Ví dụ, sơ đồ quá tải công việc của Vy </vt:lpstr>
      <vt:lpstr>Cân bằng nhân lực</vt:lpstr>
      <vt:lpstr>Ví dụ, cân bằng nhân lực</vt:lpstr>
      <vt:lpstr>Lợi ích của cân bằng nhân lực</vt:lpstr>
      <vt:lpstr>Quản lý nguồn nhân lực dự án [3/4]</vt:lpstr>
      <vt:lpstr>3. Phát triển đội dự án</vt:lpstr>
      <vt:lpstr>Mô hình phát triển đội - Tuckman </vt:lpstr>
      <vt:lpstr>Đào tạo</vt:lpstr>
      <vt:lpstr>MBTI</vt:lpstr>
      <vt:lpstr>Tính cách cá nhân theo MBTI</vt:lpstr>
      <vt:lpstr>PowerPoint Presentation</vt:lpstr>
      <vt:lpstr>DISC</vt:lpstr>
      <vt:lpstr>Các phong cách xã hội</vt:lpstr>
      <vt:lpstr>Tâm lý hình học</vt:lpstr>
      <vt:lpstr>Khen thưởng và sự công nhận</vt:lpstr>
      <vt:lpstr>Quản lý nguồn nhân lực dự án [4/4]</vt:lpstr>
      <vt:lpstr>4. Quản lý đội dự án</vt:lpstr>
      <vt:lpstr>Công cụ quản lý đội dự án</vt:lpstr>
      <vt:lpstr>Các mô hình xử lý xung đột</vt:lpstr>
      <vt:lpstr>Các mô hình quản lý xung đột (tt)</vt:lpstr>
      <vt:lpstr>Xung đột có tốt không?</vt:lpstr>
      <vt:lpstr>5 rối loạn trong đội</vt:lpstr>
      <vt:lpstr>PowerPoint Presentation</vt:lpstr>
      <vt:lpstr>Các thế hệ…</vt:lpstr>
      <vt:lpstr>Phần mềm hỗ trợ…</vt:lpstr>
      <vt:lpstr> TÓM TẮT &amp; TỪ KHÓA </vt:lpstr>
      <vt:lpstr>Tóm tắt chương 7</vt:lpstr>
      <vt:lpstr>Từ khóa</vt:lpstr>
      <vt:lpstr>PowerPoint Presentation</vt:lpstr>
      <vt:lpstr>Q&amp;A</vt:lpstr>
      <vt:lpstr>Chương kế tiếp... QUẢN LÝ TRUYỀN THÔNG DỰ ÁN</vt:lpstr>
    </vt:vector>
  </TitlesOfParts>
  <Company>Augsburg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Information  Technology</dc:creator>
  <cp:lastModifiedBy>Bảo Trần</cp:lastModifiedBy>
  <cp:revision>714</cp:revision>
  <dcterms:created xsi:type="dcterms:W3CDTF">2001-07-05T23:10:12Z</dcterms:created>
  <dcterms:modified xsi:type="dcterms:W3CDTF">2025-06-12T16:12:02Z</dcterms:modified>
</cp:coreProperties>
</file>