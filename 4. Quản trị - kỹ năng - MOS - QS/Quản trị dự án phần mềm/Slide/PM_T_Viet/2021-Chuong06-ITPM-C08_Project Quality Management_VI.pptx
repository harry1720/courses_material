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58" r:id="rId2"/>
  </p:sldMasterIdLst>
  <p:notesMasterIdLst>
    <p:notesMasterId r:id="rId69"/>
  </p:notesMasterIdLst>
  <p:handoutMasterIdLst>
    <p:handoutMasterId r:id="rId70"/>
  </p:handoutMasterIdLst>
  <p:sldIdLst>
    <p:sldId id="257" r:id="rId3"/>
    <p:sldId id="410" r:id="rId4"/>
    <p:sldId id="414" r:id="rId5"/>
    <p:sldId id="411" r:id="rId6"/>
    <p:sldId id="412" r:id="rId7"/>
    <p:sldId id="413" r:id="rId8"/>
    <p:sldId id="336" r:id="rId9"/>
    <p:sldId id="337" r:id="rId10"/>
    <p:sldId id="338" r:id="rId11"/>
    <p:sldId id="432" r:id="rId12"/>
    <p:sldId id="422" r:id="rId13"/>
    <p:sldId id="423" r:id="rId14"/>
    <p:sldId id="339" r:id="rId15"/>
    <p:sldId id="390" r:id="rId16"/>
    <p:sldId id="424" r:id="rId17"/>
    <p:sldId id="340" r:id="rId18"/>
    <p:sldId id="342" r:id="rId19"/>
    <p:sldId id="409" r:id="rId20"/>
    <p:sldId id="343" r:id="rId21"/>
    <p:sldId id="425" r:id="rId22"/>
    <p:sldId id="344" r:id="rId23"/>
    <p:sldId id="427" r:id="rId24"/>
    <p:sldId id="426" r:id="rId25"/>
    <p:sldId id="346" r:id="rId26"/>
    <p:sldId id="391" r:id="rId27"/>
    <p:sldId id="392" r:id="rId28"/>
    <p:sldId id="364" r:id="rId29"/>
    <p:sldId id="365" r:id="rId30"/>
    <p:sldId id="366" r:id="rId31"/>
    <p:sldId id="393" r:id="rId32"/>
    <p:sldId id="395" r:id="rId33"/>
    <p:sldId id="396" r:id="rId34"/>
    <p:sldId id="397" r:id="rId35"/>
    <p:sldId id="398" r:id="rId36"/>
    <p:sldId id="347" r:id="rId37"/>
    <p:sldId id="348" r:id="rId38"/>
    <p:sldId id="399" r:id="rId39"/>
    <p:sldId id="400" r:id="rId40"/>
    <p:sldId id="404" r:id="rId41"/>
    <p:sldId id="405" r:id="rId42"/>
    <p:sldId id="428" r:id="rId43"/>
    <p:sldId id="350" r:id="rId44"/>
    <p:sldId id="351" r:id="rId45"/>
    <p:sldId id="352" r:id="rId46"/>
    <p:sldId id="353" r:id="rId47"/>
    <p:sldId id="356" r:id="rId48"/>
    <p:sldId id="359" r:id="rId49"/>
    <p:sldId id="361" r:id="rId50"/>
    <p:sldId id="363" r:id="rId51"/>
    <p:sldId id="367" r:id="rId52"/>
    <p:sldId id="368" r:id="rId53"/>
    <p:sldId id="369" r:id="rId54"/>
    <p:sldId id="376" r:id="rId55"/>
    <p:sldId id="431" r:id="rId56"/>
    <p:sldId id="407" r:id="rId57"/>
    <p:sldId id="377" r:id="rId58"/>
    <p:sldId id="379" r:id="rId59"/>
    <p:sldId id="381" r:id="rId60"/>
    <p:sldId id="429" r:id="rId61"/>
    <p:sldId id="388" r:id="rId62"/>
    <p:sldId id="430" r:id="rId63"/>
    <p:sldId id="415" r:id="rId64"/>
    <p:sldId id="416" r:id="rId65"/>
    <p:sldId id="417" r:id="rId66"/>
    <p:sldId id="420" r:id="rId67"/>
    <p:sldId id="421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 autoAdjust="0"/>
    <p:restoredTop sz="89969" autoAdjust="0"/>
  </p:normalViewPr>
  <p:slideViewPr>
    <p:cSldViewPr>
      <p:cViewPr varScale="1">
        <p:scale>
          <a:sx n="82" d="100"/>
          <a:sy n="82" d="100"/>
        </p:scale>
        <p:origin x="102" y="11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B60D117-F74C-45DD-A815-9E55496351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57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F3E0F2AC-4C8B-4E69-98D8-4FC3D927D0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7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4CE72C-ACCC-4D05-AEAA-ED5DAF0057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6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628D5B-A7C7-42E0-BFEE-8A6E6DE4D62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04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85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38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11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65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 liệu </a:t>
            </a:r>
            <a:r>
              <a:rPr lang="vi-VN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metric</a:t>
            </a:r>
            <a:r>
              <a:rPr lang="vi-VN" sz="2400" dirty="0"/>
              <a:t>): một tiêu chuẩn đo lường chất lượng.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61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075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77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DMAIC là một hệ thống, quy trình khép kín cải tiến liên tục, đó là khoa học và dựa trên</a:t>
            </a:r>
            <a:r>
              <a:rPr lang="vi-VN" baseline="0" dirty="0"/>
              <a:t> </a:t>
            </a:r>
            <a:r>
              <a:rPr lang="vi-VN" dirty="0"/>
              <a:t>thực tế.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2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breakthrough</a:t>
            </a:r>
            <a:r>
              <a:rPr lang="en-US" dirty="0"/>
              <a:t> levels: </a:t>
            </a:r>
            <a:r>
              <a:rPr lang="en-US" dirty="0" err="1"/>
              <a:t>cấ</a:t>
            </a:r>
            <a:r>
              <a:rPr lang="en-US" baseline="0" dirty="0" err="1"/>
              <a:t>p</a:t>
            </a:r>
            <a:r>
              <a:rPr lang="en-US" baseline="0" dirty="0"/>
              <a:t> </a:t>
            </a:r>
            <a:r>
              <a:rPr lang="en-US" baseline="0" dirty="0" err="1"/>
              <a:t>độ</a:t>
            </a:r>
            <a:r>
              <a:rPr lang="en-US" baseline="0" dirty="0"/>
              <a:t> </a:t>
            </a:r>
            <a:r>
              <a:rPr lang="en-US" baseline="0" dirty="0" err="1"/>
              <a:t>đột</a:t>
            </a:r>
            <a:r>
              <a:rPr lang="en-US" baseline="0" dirty="0"/>
              <a:t> </a:t>
            </a:r>
            <a:r>
              <a:rPr lang="en-US" baseline="0" dirty="0" err="1"/>
              <a:t>phá</a:t>
            </a:r>
            <a:r>
              <a:rPr lang="en-US" baseline="0" dirty="0"/>
              <a:t>…</a:t>
            </a:r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77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ISO 9000 là một tiêu chuẩn hệ thống chất lượng...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vi-VN" sz="120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9000 Quality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14000 Environmental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3166 Country codes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26000 Social responsibility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50001 Energy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31000 Risk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22000 Food safety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27001 Information security management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45001 Occupational health and safety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37001 Anti bribery management systems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dirty="0"/>
              <a:t>    ISO 13485 Medical devices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vi-V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55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dirty="0"/>
              <a:t>Insanely: </a:t>
            </a:r>
            <a:r>
              <a:rPr lang="vi-VN" dirty="0">
                <a:effectLst/>
              </a:rPr>
              <a:t>điên rồ</a:t>
            </a:r>
            <a:br>
              <a:rPr lang="vi-VN" dirty="0">
                <a:effectLst/>
              </a:rPr>
            </a:br>
            <a:r>
              <a:rPr lang="vi-VN" dirty="0">
                <a:effectLst/>
              </a:rPr>
              <a:t>raccoon: gấu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vi-V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779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Prevention cost: Cost of planning and executing a project so it is error-free or within an acceptable error range</a:t>
            </a:r>
          </a:p>
          <a:p>
            <a:r>
              <a:rPr lang="en-US" dirty="0"/>
              <a:t>- Appraisal cost: Cost of evaluating processes and their outputs to ensure quality</a:t>
            </a:r>
          </a:p>
          <a:p>
            <a:r>
              <a:rPr lang="en-US" dirty="0"/>
              <a:t>- Internal failure cost: Cost incurred to correct an identified defect before the customer receives the product</a:t>
            </a:r>
          </a:p>
          <a:p>
            <a:r>
              <a:rPr lang="en-US" dirty="0"/>
              <a:t>- External failure cost: Cost that relates to all errors not detected and corrected before delivery to the customer</a:t>
            </a:r>
          </a:p>
          <a:p>
            <a:r>
              <a:rPr lang="en-US" dirty="0"/>
              <a:t>- Measurement and test equipment costs: Capital cost of equipment used to perform prevention and appraisal activities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534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>
                <a:effectLst/>
              </a:rPr>
              <a:t>TM/SM:</a:t>
            </a:r>
            <a:r>
              <a:rPr lang="fr-FR" dirty="0">
                <a:effectLst/>
              </a:rPr>
              <a:t> Trade</a:t>
            </a:r>
            <a:r>
              <a:rPr lang="vi-VN" dirty="0">
                <a:effectLst/>
              </a:rPr>
              <a:t> M</a:t>
            </a:r>
            <a:r>
              <a:rPr lang="fr-FR" dirty="0" err="1">
                <a:effectLst/>
              </a:rPr>
              <a:t>ark</a:t>
            </a:r>
            <a:endParaRPr lang="vi-VN" dirty="0">
              <a:effectLst/>
            </a:endParaRPr>
          </a:p>
          <a:p>
            <a:r>
              <a:rPr lang="vi-VN" dirty="0">
                <a:effectLst/>
              </a:rPr>
              <a:t>®: Registered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E0F2AC-4C8B-4E69-98D8-4FC3D927D0D2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59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15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4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9EB16-CEF4-4DC4-AE5E-84B8157BFD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9E4B6-4DAA-41FE-80F7-442DE98529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605A6-91D4-432A-9CE8-5BF9116288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3FD43-EC1A-4430-9548-08AA93B6D5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85CE7-C2B8-4940-B39F-07D266A295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C5B73-22FC-4F44-A8FE-63C6913293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FA8A4-5E77-4DFA-8523-BB2BD366A2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2121F-75BC-442D-8003-1D92BA357C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6724F-EC1B-4F27-8C6E-3598EB8835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5A6CF-F2F4-44AA-AD93-7472A933C4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0E3AA-DC1A-4D77-A5FA-3C0663FE69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A28C206E-A81E-40E9-A6A3-A83CD71EEC9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2590800" cy="365125"/>
          </a:xfrm>
        </p:spPr>
        <p:txBody>
          <a:bodyPr/>
          <a:lstStyle>
            <a:lvl1pPr algn="l"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5EA6CB9E-84A0-45DA-81C2-C3F66A5CA2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B88E397-22E9-4312-8417-493F9DFFCEB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C586D89-9D2B-4FE0-85E8-99D6D71EDA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897986-E65C-47D6-9688-05105290B6C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EEC1763-9698-418F-8D31-FAB1D8D79D1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36603-1135-40FA-A0BC-093F4CF4391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4A1F818-4800-4080-991F-A0F6C4C6C6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8E42CA0-050B-4AB7-87A1-8D44934CD7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9BD9-98F9-44D7-A680-A8B68E79D6B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687EA-8FFD-4F60-8B8D-F03D410A869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D86EE55E-B41D-4258-BEDF-F2FB371971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D86EE55E-B41D-4258-BEDF-F2FB371971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../Chuong%2000/2021-Chuong00-ITPM_VI-ITS344-211_D02.ppt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../47Ps-PMP.pptx" TargetMode="External"/><Relationship Id="rId2" Type="http://schemas.openxmlformats.org/officeDocument/2006/relationships/hyperlink" Target="../../../Docs/47Ps-PMP.pptx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o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gif"/><Relationship Id="rId4" Type="http://schemas.openxmlformats.org/officeDocument/2006/relationships/hyperlink" Target="http://www.ieee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gi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6002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sz="4000" dirty="0" err="1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Ch</a:t>
            </a:r>
            <a:r>
              <a:rPr lang="vi-VN" sz="40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ương</a:t>
            </a:r>
            <a:r>
              <a:rPr sz="40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vi-VN" sz="40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6</a:t>
            </a:r>
            <a:br>
              <a:rPr lang="vi-VN" sz="40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</a:br>
            <a:r>
              <a:rPr lang="vi-VN" sz="4200" dirty="0"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QUẢN LÝ CHẤT LƯỢNG DỰ ÁN</a:t>
            </a:r>
            <a:endParaRPr sz="4200" dirty="0">
              <a:solidFill>
                <a:srgbClr val="0070C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29718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400" spc="12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 Project Quality 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126386"/>
            <a:ext cx="2009775" cy="2350614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28F4A03B-406A-4F31-BBF8-F646A5F29354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534400" cy="38862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2060"/>
                </a:solidFill>
              </a:rPr>
              <a:t>Hiểu được tầm quan trọng của quản lý chất lượng.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Giải thích được quá trình quản lý chất lượng dự án.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Biết được công cụ và kỹ thuật quản lý chất lượng.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Biết được các phần mềm hỗ trợ quản lý chất lượng.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Hiểu được các vấn đề liên quan đến quản lý chất lượng dự án HTTT.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534400" cy="715962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6</a:t>
            </a:r>
          </a:p>
        </p:txBody>
      </p:sp>
      <p:sp>
        <p:nvSpPr>
          <p:cNvPr id="9220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0E6A95-094A-4E8D-8575-B7EA854693B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56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z="1200" smtClean="0"/>
              <a:pPr>
                <a:defRPr/>
              </a:pPr>
              <a:t>3</a:t>
            </a:fld>
            <a:endParaRPr lang="en-US" sz="12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Nhắc</a:t>
            </a:r>
            <a:r>
              <a:rPr lang="en-US" sz="4400" dirty="0"/>
              <a:t> </a:t>
            </a:r>
            <a:r>
              <a:rPr lang="en-US" sz="4400" dirty="0" err="1"/>
              <a:t>lại</a:t>
            </a:r>
            <a:r>
              <a:rPr lang="en-US" sz="4400" dirty="0"/>
              <a:t> </a:t>
            </a:r>
            <a:r>
              <a:rPr lang="en-US" sz="4400" dirty="0" err="1"/>
              <a:t>kiến</a:t>
            </a:r>
            <a:r>
              <a:rPr lang="en-US" sz="4400" dirty="0"/>
              <a:t> </a:t>
            </a:r>
            <a:r>
              <a:rPr lang="en-US" sz="4400" dirty="0" err="1"/>
              <a:t>thức</a:t>
            </a:r>
            <a:endParaRPr lang="en-US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D8BD5-6B25-44E9-863E-16C53BE7C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81" y="1434635"/>
            <a:ext cx="3606637" cy="4452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97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0C61CA-AD9B-488B-91B2-49040B2D7A2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93520" y="2718815"/>
            <a:ext cx="2926080" cy="6096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572000" y="601980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/>
              <a:t>Nguồn: </a:t>
            </a:r>
            <a:r>
              <a:rPr lang="vi-VN" sz="2000"/>
              <a:t>Schwalbe (20</a:t>
            </a:r>
            <a:r>
              <a:rPr lang="en-US" sz="2000"/>
              <a:t>19</a:t>
            </a:r>
            <a:r>
              <a:rPr lang="vi-VN" sz="2000"/>
              <a:t>)</a:t>
            </a:r>
            <a:endParaRPr lang="vi-VN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4444314" y="2703906"/>
            <a:ext cx="990600" cy="6096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393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524000"/>
            <a:ext cx="83058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sz="4000" dirty="0">
                <a:solidFill>
                  <a:srgbClr val="0070C0"/>
                </a:solidFill>
                <a:effectLst/>
              </a:rPr>
            </a:br>
            <a:r>
              <a:rPr lang="vi-VN" sz="4000" dirty="0">
                <a:solidFill>
                  <a:srgbClr val="0070C0"/>
                </a:solidFill>
                <a:effectLst/>
              </a:rPr>
              <a:t>QUẢN LÝ CHẤT LƯỢNG DỰ ÁN</a:t>
            </a:r>
            <a:endParaRPr sz="40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81000" y="2667000"/>
            <a:ext cx="8686800" cy="1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br>
              <a:rPr lang="en-US" sz="2400" kern="400" spc="1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</a:br>
            <a:r>
              <a:rPr lang="en-US" sz="2400" spc="11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Quality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4126386"/>
            <a:ext cx="2009775" cy="23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7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714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CHẤT LƯỢNG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676400"/>
            <a:ext cx="6952029" cy="8382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431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2514600"/>
            <a:ext cx="7848600" cy="8382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20"/>
              <a:ext cx="288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 HOẠCH QUẢN LÝ CHẤT LƯỢNG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3352800"/>
            <a:ext cx="7281407" cy="838200"/>
            <a:chOff x="1296" y="1824"/>
            <a:chExt cx="3117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ĐẢM BẢO CHẤT LƯỢNG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1143000" y="4191000"/>
            <a:ext cx="7620134" cy="838200"/>
            <a:chOff x="1296" y="1824"/>
            <a:chExt cx="3262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920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782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KIỂM SOÁT CHẤT LƯỢNG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56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001000" cy="35814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Chất lượng kém của các sản phẩm CNTT...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Mọi người dường như chấp nhận hệ thống đôi khi bị lỗi, hoặc khởi động lại máy tính.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Nhưng chất lượng là rất quan trọng trong các dự án CNTT/HTTT.</a:t>
            </a:r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0668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Tầm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quan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trọng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của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chất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lượng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112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CBE0A8-1929-40E9-BA85-606FE0791D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7"/>
          <p:cNvSpPr>
            <a:spLocks noGrp="1" noChangeArrowheads="1"/>
          </p:cNvSpPr>
          <p:nvPr>
            <p:ph idx="1"/>
          </p:nvPr>
        </p:nvSpPr>
        <p:spPr>
          <a:xfrm>
            <a:off x="762000" y="1600200"/>
            <a:ext cx="7543800" cy="25908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/>
            <a:endParaRPr lang="vi-VN" sz="800" dirty="0"/>
          </a:p>
          <a:p>
            <a:pPr algn="just"/>
            <a:r>
              <a:rPr lang="vi-VN" sz="2400" dirty="0"/>
              <a:t>1994: lỗi phần mềm lớn nhất trong lịch sử ngân hàng - NH Chemical trừ nhầm khoảng </a:t>
            </a:r>
            <a:r>
              <a:rPr lang="vi-VN" sz="2400" b="1" dirty="0">
                <a:solidFill>
                  <a:srgbClr val="FF0000"/>
                </a:solidFill>
              </a:rPr>
              <a:t>15</a:t>
            </a:r>
            <a:r>
              <a:rPr lang="vi-VN" sz="2400" dirty="0">
                <a:solidFill>
                  <a:srgbClr val="FF0000"/>
                </a:solidFill>
              </a:rPr>
              <a:t> triệu</a:t>
            </a:r>
            <a:r>
              <a:rPr lang="vi-VN" sz="2400" dirty="0"/>
              <a:t> USD từ hơn </a:t>
            </a:r>
            <a:r>
              <a:rPr lang="vi-VN" sz="2400" b="1" dirty="0">
                <a:solidFill>
                  <a:srgbClr val="FF0000"/>
                </a:solidFill>
              </a:rPr>
              <a:t>100.000</a:t>
            </a:r>
            <a:r>
              <a:rPr lang="vi-VN" sz="2400" dirty="0"/>
              <a:t> tài khoản khách hàng.</a:t>
            </a:r>
          </a:p>
          <a:p>
            <a:pPr algn="just"/>
            <a:endParaRPr lang="vi-VN" sz="1200" dirty="0"/>
          </a:p>
          <a:p>
            <a:pPr algn="just"/>
            <a:r>
              <a:rPr lang="vi-VN" sz="2400"/>
              <a:t>21/5/20</a:t>
            </a:r>
            <a:r>
              <a:rPr lang="en-US" sz="2400"/>
              <a:t>19</a:t>
            </a:r>
            <a:r>
              <a:rPr lang="vi-VN" sz="2400"/>
              <a:t>: </a:t>
            </a:r>
            <a:r>
              <a:rPr lang="vi-VN" sz="2400" dirty="0"/>
              <a:t>hàng loạt ATM của Vietcombank bị tê liệt ở khu vực Hà Nội do lỗi đường truyền.</a:t>
            </a:r>
          </a:p>
        </p:txBody>
      </p:sp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428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Sự</a:t>
            </a:r>
            <a:r>
              <a:rPr lang="en-US" sz="3600" dirty="0"/>
              <a:t> </a:t>
            </a:r>
            <a:r>
              <a:rPr lang="en-US" sz="3600" dirty="0" err="1"/>
              <a:t>thất</a:t>
            </a:r>
            <a:r>
              <a:rPr lang="en-US" sz="3600" dirty="0"/>
              <a:t> </a:t>
            </a:r>
            <a:r>
              <a:rPr lang="en-US" sz="3600" dirty="0" err="1"/>
              <a:t>bại</a:t>
            </a:r>
            <a:r>
              <a:rPr lang="en-US" sz="3600" dirty="0"/>
              <a:t> </a:t>
            </a:r>
            <a:r>
              <a:rPr lang="en-US" sz="3600" dirty="0" err="1"/>
              <a:t>về</a:t>
            </a:r>
            <a:r>
              <a:rPr lang="en-US" sz="3600" dirty="0"/>
              <a:t> </a:t>
            </a:r>
            <a:r>
              <a:rPr lang="en-US" sz="3600" dirty="0" err="1"/>
              <a:t>chất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r>
              <a:rPr lang="en-US" sz="3600" dirty="0"/>
              <a:t>?</a:t>
            </a:r>
          </a:p>
        </p:txBody>
      </p:sp>
      <p:sp>
        <p:nvSpPr>
          <p:cNvPr id="12293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DE6222-4315-45B3-BAEB-47EF37F8E6F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5" descr="transparent fail red word failur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142" y="609600"/>
            <a:ext cx="1530858" cy="10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24400"/>
            <a:ext cx="3722916" cy="990600"/>
          </a:xfrm>
          <a:prstGeom prst="rect">
            <a:avLst/>
          </a:prstGeom>
        </p:spPr>
      </p:pic>
      <p:pic>
        <p:nvPicPr>
          <p:cNvPr id="1028" name="Picture 4" descr="http://www.underconsideration.com/brandnew/archives/vietcombank_big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495800"/>
            <a:ext cx="3546764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600200"/>
            <a:ext cx="8763000" cy="4114800"/>
          </a:xfrm>
        </p:spPr>
        <p:txBody>
          <a:bodyPr/>
          <a:lstStyle/>
          <a:p>
            <a:pPr algn="just">
              <a:spcBef>
                <a:spcPct val="60000"/>
              </a:spcBef>
            </a:pPr>
            <a:r>
              <a:rPr lang="vi-VN" b="1" dirty="0"/>
              <a:t>Chất lượng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quality</a:t>
            </a:r>
            <a:r>
              <a:rPr lang="vi-VN" dirty="0"/>
              <a:t>): “tập hợp các đặc tính tiêu chuẩn thỏa mãn các yêu cầu đặt ra” (ISO9000: 2000).</a:t>
            </a:r>
          </a:p>
          <a:p>
            <a:pPr algn="just">
              <a:spcBef>
                <a:spcPct val="60000"/>
              </a:spcBef>
            </a:pPr>
            <a:r>
              <a:rPr lang="vi-VN" dirty="0"/>
              <a:t>Các chuyên gia khác: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Phù hợp yêu cầu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conformance to requirements</a:t>
            </a:r>
            <a:r>
              <a:rPr lang="vi-VN" sz="2400" dirty="0"/>
              <a:t>): quy trình - sản phẩm của dự án đáp ứng các thông số kỹ thuật.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Tiện lợi sử dụng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fitness for use</a:t>
            </a:r>
            <a:r>
              <a:rPr lang="vi-VN" sz="2400" dirty="0"/>
              <a:t>): một sản phẩm có thể được sử dụng theo ý định sản xuất.</a:t>
            </a:r>
            <a:endParaRPr lang="en-US" sz="2400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Chất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lượng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dự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án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331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247F9B-931D-42CA-BDB2-4E58BEDFA70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8382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</a:t>
            </a:r>
            <a:r>
              <a:rPr lang="en-US" sz="3600" dirty="0" err="1"/>
              <a:t>thành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HTTT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5800" y="6062246"/>
            <a:ext cx="341337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vi-VN" sz="1600" dirty="0"/>
              <a:t>Nguồn: Nguyễn Duy Thanh </a:t>
            </a:r>
            <a:r>
              <a:rPr lang="vi-VN" sz="1600"/>
              <a:t>(20</a:t>
            </a:r>
            <a:r>
              <a:rPr lang="en-US" sz="1600"/>
              <a:t>19</a:t>
            </a:r>
            <a:r>
              <a:rPr lang="vi-VN" sz="1600"/>
              <a:t>)</a:t>
            </a:r>
            <a:endParaRPr lang="vi-VN" sz="1600" dirty="0"/>
          </a:p>
        </p:txBody>
      </p:sp>
      <p:sp>
        <p:nvSpPr>
          <p:cNvPr id="3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826C3-B265-43A4-B15D-86766598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2" y="1919287"/>
            <a:ext cx="88178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8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685800"/>
          </a:xfrm>
        </p:spPr>
        <p:txBody>
          <a:bodyPr>
            <a:noAutofit/>
          </a:bodyPr>
          <a:lstStyle/>
          <a:p>
            <a:pPr algn="ctr"/>
            <a:r>
              <a:rPr lang="vi-VN" sz="3600" dirty="0">
                <a:solidFill>
                  <a:schemeClr val="bg1">
                    <a:lumMod val="65000"/>
                  </a:schemeClr>
                </a:solidFill>
              </a:rPr>
              <a:t>Tương tác trong dự án [chất lượng]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58290" y="1627496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952682" y="6107668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800" dirty="0"/>
              <a:t>Nguồn: PMI</a:t>
            </a:r>
            <a:r>
              <a:rPr lang="vi-V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1800"/>
              <a:t>(201</a:t>
            </a:r>
            <a:r>
              <a:rPr lang="en-US" sz="1800"/>
              <a:t>7</a:t>
            </a:r>
            <a:r>
              <a:rPr lang="vi-VN" sz="1800"/>
              <a:t>)</a:t>
            </a:r>
            <a:endParaRPr lang="vi-VN" sz="1800" dirty="0"/>
          </a:p>
        </p:txBody>
      </p:sp>
      <p:sp>
        <p:nvSpPr>
          <p:cNvPr id="8" name="Rounded Rectangle 7"/>
          <p:cNvSpPr/>
          <p:nvPr/>
        </p:nvSpPr>
        <p:spPr>
          <a:xfrm>
            <a:off x="3990110" y="1600200"/>
            <a:ext cx="1295400" cy="685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2765" y="1600200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663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0C0"/>
                </a:solidFill>
              </a:rPr>
              <a:t>Quản lý </a:t>
            </a:r>
            <a:r>
              <a:rPr lang="en-US" sz="4000" dirty="0" err="1">
                <a:solidFill>
                  <a:srgbClr val="0070C0"/>
                </a:solidFill>
              </a:rPr>
              <a:t>chất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lượng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án</a:t>
            </a:r>
            <a:r>
              <a:rPr lang="en-US" sz="4000" dirty="0">
                <a:solidFill>
                  <a:srgbClr val="0070C0"/>
                </a:solidFill>
              </a:rPr>
              <a:t> [3]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6" y="1524000"/>
            <a:ext cx="9006724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2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447800"/>
            <a:ext cx="8763000" cy="4419600"/>
          </a:xfrm>
        </p:spPr>
        <p:txBody>
          <a:bodyPr/>
          <a:lstStyle/>
          <a:p>
            <a:pPr lvl="1" algn="just">
              <a:buFont typeface="Wingdings 3" panose="05040102010807070707" pitchFamily="18" charset="2"/>
              <a:buChar char="}"/>
            </a:pPr>
            <a:r>
              <a:rPr lang="vi-VN" sz="2700" b="1" dirty="0"/>
              <a:t>Kế hoạch quản lý chất lượng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plan quality management</a:t>
            </a:r>
            <a:r>
              <a:rPr lang="en-US" sz="2700" dirty="0"/>
              <a:t>): </a:t>
            </a:r>
            <a:r>
              <a:rPr lang="vi-VN" sz="2700" dirty="0"/>
              <a:t>xác định các tiêu chuẩn chất lượng liên quan và cách thức đáp ứng. </a:t>
            </a:r>
          </a:p>
          <a:p>
            <a:pPr lvl="2" algn="just">
              <a:buFont typeface="Arial" panose="020B0604020202020204" pitchFamily="34" charset="0"/>
              <a:buChar char="•"/>
            </a:pPr>
            <a:endParaRPr lang="en-US" sz="1050" dirty="0"/>
          </a:p>
          <a:p>
            <a:pPr lvl="1" algn="just">
              <a:buFont typeface="Wingdings 3" panose="05040102010807070707" pitchFamily="18" charset="2"/>
              <a:buChar char="}"/>
            </a:pPr>
            <a:r>
              <a:rPr lang="en-US" sz="2700" b="1" dirty="0" err="1"/>
              <a:t>Đảm</a:t>
            </a:r>
            <a:r>
              <a:rPr lang="en-US" sz="2700" b="1" dirty="0"/>
              <a:t> </a:t>
            </a:r>
            <a:r>
              <a:rPr lang="en-US" sz="2700" b="1" dirty="0" err="1"/>
              <a:t>bảo</a:t>
            </a:r>
            <a:r>
              <a:rPr lang="en-US" sz="2700" b="1" dirty="0"/>
              <a:t> </a:t>
            </a:r>
            <a:r>
              <a:rPr lang="en-US" sz="2700" b="1" dirty="0" err="1"/>
              <a:t>chất</a:t>
            </a:r>
            <a:r>
              <a:rPr lang="en-US" sz="2700" b="1" dirty="0"/>
              <a:t> </a:t>
            </a:r>
            <a:r>
              <a:rPr lang="en-US" sz="2700" b="1" dirty="0" err="1"/>
              <a:t>lượng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perform quality assurance</a:t>
            </a:r>
            <a:r>
              <a:rPr lang="en-US" sz="2700" dirty="0"/>
              <a:t>): </a:t>
            </a:r>
            <a:r>
              <a:rPr lang="vi-VN" sz="2700" dirty="0"/>
              <a:t>đánh giá việc thực hiện tổng thể để đảm bảo đáp ứng các tiêu chuẩn chất lượng</a:t>
            </a:r>
            <a:r>
              <a:rPr lang="en-US" sz="2700" dirty="0"/>
              <a:t>. </a:t>
            </a:r>
          </a:p>
          <a:p>
            <a:pPr lvl="1" algn="just">
              <a:buFont typeface="Wingdings 3" panose="05040102010807070707" pitchFamily="18" charset="2"/>
              <a:buChar char="}"/>
            </a:pPr>
            <a:endParaRPr lang="en-US" sz="1050" dirty="0"/>
          </a:p>
          <a:p>
            <a:pPr lvl="1" algn="just">
              <a:buFont typeface="Wingdings 3" panose="05040102010807070707" pitchFamily="18" charset="2"/>
              <a:buChar char="}"/>
            </a:pPr>
            <a:r>
              <a:rPr lang="en-US" sz="2700" b="1" dirty="0" err="1"/>
              <a:t>Kiểm</a:t>
            </a:r>
            <a:r>
              <a:rPr lang="en-US" sz="2700" b="1" dirty="0"/>
              <a:t> </a:t>
            </a:r>
            <a:r>
              <a:rPr lang="en-US" sz="2700" b="1" dirty="0" err="1"/>
              <a:t>soát</a:t>
            </a:r>
            <a:r>
              <a:rPr lang="en-US" sz="2700" b="1" dirty="0"/>
              <a:t> </a:t>
            </a:r>
            <a:r>
              <a:rPr lang="en-US" sz="2700" b="1" dirty="0" err="1"/>
              <a:t>chất</a:t>
            </a:r>
            <a:r>
              <a:rPr lang="en-US" sz="2700" b="1" dirty="0"/>
              <a:t> </a:t>
            </a:r>
            <a:r>
              <a:rPr lang="en-US" sz="2700" b="1" dirty="0" err="1"/>
              <a:t>lượng</a:t>
            </a:r>
            <a:r>
              <a:rPr lang="en-US" sz="2700" dirty="0"/>
              <a:t> (</a:t>
            </a:r>
            <a:r>
              <a:rPr lang="en-US" sz="2700" dirty="0">
                <a:solidFill>
                  <a:srgbClr val="0070C0"/>
                </a:solidFill>
              </a:rPr>
              <a:t>perform quality control</a:t>
            </a:r>
            <a:r>
              <a:rPr lang="en-US" sz="2700" dirty="0"/>
              <a:t>): </a:t>
            </a:r>
            <a:r>
              <a:rPr lang="vi-VN" sz="2700" dirty="0"/>
              <a:t>giám sát kết quả cụ thể để đảm bảo tuân thủ các tiêu chuẩn chất lượng.</a:t>
            </a:r>
            <a:endParaRPr lang="en-US" sz="27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Quy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trình</a:t>
            </a:r>
            <a:r>
              <a:rPr lang="en-US" sz="4400" dirty="0">
                <a:solidFill>
                  <a:srgbClr val="0070C0"/>
                </a:solidFill>
              </a:rPr>
              <a:t> quản lý </a:t>
            </a:r>
            <a:r>
              <a:rPr lang="en-US" sz="4400" dirty="0" err="1">
                <a:solidFill>
                  <a:srgbClr val="0070C0"/>
                </a:solidFill>
              </a:rPr>
              <a:t>chất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lượng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434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F6B265-04DB-454D-BE0F-7642CB49FCA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012603-D05E-47B7-96B2-441455AC369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hlinkClick r:id="rId2" action="ppaction://hlinkpres?slideindex=1&amp;slidetitle="/>
              </a:rPr>
              <a:t>Tóm</a:t>
            </a:r>
            <a:r>
              <a:rPr lang="en-US" sz="3600" dirty="0">
                <a:hlinkClick r:id="rId2" action="ppaction://hlinkpres?slideindex=1&amp;slidetitle="/>
              </a:rPr>
              <a:t> </a:t>
            </a:r>
            <a:r>
              <a:rPr lang="en-US" sz="3600" dirty="0" err="1">
                <a:hlinkClick r:id="rId2" action="ppaction://hlinkpres?slideindex=1&amp;slidetitle="/>
              </a:rPr>
              <a:t>tắt</a:t>
            </a:r>
            <a:r>
              <a:rPr lang="en-US" sz="3600" dirty="0">
                <a:hlinkClick r:id="rId2" action="ppaction://hlinkpres?slideindex=1&amp;slidetitle="/>
              </a:rPr>
              <a:t> </a:t>
            </a:r>
            <a:r>
              <a:rPr lang="en-US" sz="3600" dirty="0">
                <a:hlinkClick r:id="rId3" action="ppaction://hlinkpres?slideindex=1&amp;slidetitle="/>
              </a:rPr>
              <a:t>quản lý </a:t>
            </a:r>
            <a:r>
              <a:rPr lang="en-US" sz="3600" dirty="0" err="1">
                <a:hlinkClick r:id="rId3" action="ppaction://hlinkpres?slideindex=1&amp;slidetitle="/>
              </a:rPr>
              <a:t>chất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lượng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dự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án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66800"/>
            <a:ext cx="9220200" cy="5943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600200" y="1905000"/>
            <a:ext cx="27660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514600" y="3124200"/>
            <a:ext cx="27660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895600" y="4609071"/>
            <a:ext cx="27660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6" y="1066800"/>
            <a:ext cx="9006724" cy="3733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317008" y="3860195"/>
            <a:ext cx="2188192" cy="86420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chất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lượng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[1/3]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745" y="5036127"/>
            <a:ext cx="1929747" cy="18218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911" y="5140035"/>
            <a:ext cx="1713999" cy="165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0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077200" cy="3571875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vi-VN" b="1" dirty="0"/>
              <a:t>Kế hoạch quản lý chất lượng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plan quality management</a:t>
            </a:r>
            <a:r>
              <a:rPr lang="vi-VN" dirty="0"/>
              <a:t>): khả năng dự đoán tình huống và hành động để mang lại kết quả mong muốn.</a:t>
            </a:r>
          </a:p>
          <a:p>
            <a:pPr algn="just">
              <a:spcBef>
                <a:spcPts val="0"/>
              </a:spcBef>
            </a:pPr>
            <a:r>
              <a:rPr lang="vi-VN" dirty="0"/>
              <a:t>Rất quan trọng để ngăn ngừa lỗi...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Lựa chọn nguyên vật liệu thích hợp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Đào tạo và huấn luyện con người về chất lượng</a:t>
            </a:r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Có quy trình để đảm bảo các kết quả phù hợp.</a:t>
            </a:r>
            <a:endParaRPr lang="en-US" sz="2400" dirty="0"/>
          </a:p>
          <a:p>
            <a:pPr algn="just">
              <a:spcBef>
                <a:spcPct val="100000"/>
              </a:spcBef>
            </a:pPr>
            <a:endParaRPr lang="en-US" dirty="0"/>
          </a:p>
        </p:txBody>
      </p:sp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 </a:t>
            </a:r>
            <a:r>
              <a:rPr lang="en-US" sz="4400" dirty="0" err="1">
                <a:solidFill>
                  <a:srgbClr val="FF0000"/>
                </a:solidFill>
              </a:rPr>
              <a:t>Kế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hoạch</a:t>
            </a:r>
            <a:r>
              <a:rPr lang="en-US" sz="4400" dirty="0">
                <a:solidFill>
                  <a:srgbClr val="FF0000"/>
                </a:solidFill>
              </a:rPr>
              <a:t> quản lý </a:t>
            </a:r>
            <a:r>
              <a:rPr lang="en-US" sz="4400" dirty="0" err="1">
                <a:solidFill>
                  <a:srgbClr val="FF0000"/>
                </a:solidFill>
              </a:rPr>
              <a:t>chất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lượng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63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BA7F8E-D559-4615-9258-F6E51ABB80BD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5103695"/>
            <a:ext cx="1905000" cy="1297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7848600" cy="34290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Chức năng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functionality</a:t>
            </a:r>
            <a:r>
              <a:rPr lang="vi-VN" dirty="0"/>
              <a:t>): mức độ hệ thống thực hiện các chức năng theo dự định.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 năng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features</a:t>
            </a:r>
            <a:r>
              <a:rPr lang="vi-VN" dirty="0"/>
              <a:t>): đặc điểm đặc biệt của hệ thống để thu hút người sử dụng.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 ra hệ thống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system outputs</a:t>
            </a:r>
            <a:r>
              <a:rPr lang="vi-VN" dirty="0"/>
              <a:t>): các màn hình và báo cáo mà hệ thống tạo ra.</a:t>
            </a:r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-16476" y="3810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>
                <a:effectLst/>
              </a:rPr>
              <a:t>Các khía cạnh của dự án HTTT</a:t>
            </a:r>
          </a:p>
        </p:txBody>
      </p:sp>
      <p:sp>
        <p:nvSpPr>
          <p:cNvPr id="1843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A6CB4B6-255F-4F8D-9830-CD23385BB24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153400" cy="2895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Thành quả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performance</a:t>
            </a:r>
            <a:r>
              <a:rPr lang="vi-VN" dirty="0"/>
              <a:t>): cách thức sản phẩm/ dịch vụ đáp ứng mục đích sử dụng khách hàng.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 tin cậy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reliability</a:t>
            </a:r>
            <a:r>
              <a:rPr lang="vi-VN" dirty="0"/>
              <a:t>): khả năng sản phẩm/dịch vụ đáp ứng mong đợi trong điều kiện bình thường.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Bảo trì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maintainability</a:t>
            </a:r>
            <a:r>
              <a:rPr lang="vi-VN" dirty="0"/>
              <a:t>): dễ dàng thực hiện bảo trì sản phẩm.</a:t>
            </a:r>
            <a:endParaRPr lang="en-US" dirty="0"/>
          </a:p>
        </p:txBody>
      </p:sp>
      <p:sp>
        <p:nvSpPr>
          <p:cNvPr id="1843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A6CB4B6-255F-4F8D-9830-CD23385BB24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-28832" y="2286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vi-VN" sz="3600" dirty="0">
                <a:effectLst/>
              </a:rPr>
              <a:t>Các khía cạnh của dự án HTTT (tt)</a:t>
            </a:r>
          </a:p>
        </p:txBody>
      </p:sp>
    </p:spTree>
    <p:extLst>
      <p:ext uri="{BB962C8B-B14F-4D97-AF65-F5344CB8AC3E}">
        <p14:creationId xmlns:p14="http://schemas.microsoft.com/office/powerpoint/2010/main" val="3258133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077200" cy="3581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Giám đốc dự án chịu trách nhiệm cuối cùng về quản lý chất lượng dự án.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Các tham khảo về chất lượng dự án...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ISO   -  </a:t>
            </a:r>
            <a:r>
              <a:rPr lang="vi-VN" sz="2400" dirty="0">
                <a:hlinkClick r:id="rId3"/>
              </a:rPr>
              <a:t>www.iso.org</a:t>
            </a:r>
            <a:endParaRPr lang="vi-VN" sz="24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IEEE -  </a:t>
            </a:r>
            <a:r>
              <a:rPr lang="vi-VN" sz="2400" dirty="0">
                <a:hlinkClick r:id="rId4"/>
              </a:rPr>
              <a:t>www.ieee.org</a:t>
            </a:r>
            <a:endParaRPr lang="vi-VN" sz="2400" dirty="0"/>
          </a:p>
          <a:p>
            <a:pPr lvl="1" algn="just"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 lvl="1"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vi-VN" sz="3600" dirty="0"/>
              <a:t>Ai chịu trách nhiệm về chất lượng?</a:t>
            </a:r>
            <a:endParaRPr lang="en-US" sz="3600" dirty="0"/>
          </a:p>
        </p:txBody>
      </p:sp>
      <p:sp>
        <p:nvSpPr>
          <p:cNvPr id="1946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3F607C-2128-4D98-BE27-CA32B82E79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1026" name="Picture 2" descr="http://www.ieee.org/about/toolkit/masterbrand/20040815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724400"/>
            <a:ext cx="2133600" cy="119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nterfacing.com/uploads/images/Icons/iso-icon.png">
            <a:hlinkClick r:id="rId3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800600"/>
            <a:ext cx="2920863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6" y="1066800"/>
            <a:ext cx="9006724" cy="3733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505200" y="3860195"/>
            <a:ext cx="2188192" cy="86420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chất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lượng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[2/3]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335299"/>
            <a:ext cx="1092199" cy="152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6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7848600" cy="2895600"/>
          </a:xfrm>
        </p:spPr>
        <p:txBody>
          <a:bodyPr/>
          <a:lstStyle/>
          <a:p>
            <a:pPr algn="just">
              <a:spcBef>
                <a:spcPct val="40000"/>
              </a:spcBef>
              <a:spcAft>
                <a:spcPts val="1800"/>
              </a:spcAft>
            </a:pPr>
            <a:r>
              <a:rPr lang="en-US" b="1" dirty="0" err="1"/>
              <a:t>Đảm</a:t>
            </a:r>
            <a:r>
              <a:rPr lang="en-US" b="1" dirty="0"/>
              <a:t>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chất</a:t>
            </a:r>
            <a:r>
              <a:rPr lang="en-US" b="1" dirty="0"/>
              <a:t> </a:t>
            </a:r>
            <a:r>
              <a:rPr lang="en-US" b="1" dirty="0" err="1"/>
              <a:t>lượng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quality assurance</a:t>
            </a:r>
            <a:r>
              <a:rPr lang="en-US" dirty="0"/>
              <a:t>): </a:t>
            </a:r>
            <a:r>
              <a:rPr lang="vi-VN" dirty="0"/>
              <a:t>tất cả các hoạt động liên quan để đáp ứng các tiêu chuẩn chất lượng dự án.</a:t>
            </a:r>
          </a:p>
          <a:p>
            <a:pPr algn="just">
              <a:spcBef>
                <a:spcPct val="40000"/>
              </a:spcBef>
            </a:pPr>
            <a:r>
              <a:rPr lang="vi-VN" dirty="0"/>
              <a:t>Mục tiêu của đảm bảo chất lượng là cải thiện chất ượng liên tục...</a:t>
            </a:r>
            <a:endParaRPr lang="en-US" dirty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 </a:t>
            </a:r>
            <a:r>
              <a:rPr lang="en-US" sz="4400" dirty="0" err="1">
                <a:solidFill>
                  <a:srgbClr val="FF0000"/>
                </a:solidFill>
              </a:rPr>
              <a:t>Đảm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bảo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chất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lượng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2048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BD6018-CC30-4C37-9361-9FE90704E01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724400"/>
            <a:ext cx="2225341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001000" cy="41148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Kaizen</a:t>
            </a:r>
            <a:r>
              <a:rPr lang="vi-VN" dirty="0"/>
              <a:t>: cải thiện hoặc thay đổi cho tốt hơn.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vi-VN" dirty="0"/>
              <a:t>đánh giá quy trình để tối đa hóa giá trị của khách hàng...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Điểm chuẩn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benchmark</a:t>
            </a:r>
            <a:r>
              <a:rPr lang="vi-VN" dirty="0"/>
              <a:t>): tạo các ý tưởng để cải thiện chất lượng...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 định chất lượng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quality audit</a:t>
            </a:r>
            <a:r>
              <a:rPr lang="vi-VN" dirty="0"/>
              <a:t>): xác định bài học kinh nghiệm để cải thiện các dự án...</a:t>
            </a:r>
            <a:endParaRPr lang="en-US" dirty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chemeClr val="tx1"/>
                </a:solidFill>
              </a:rPr>
              <a:t>Đánh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giá</a:t>
            </a:r>
            <a:r>
              <a:rPr lang="en-US" sz="4000" dirty="0">
                <a:solidFill>
                  <a:schemeClr val="tx1"/>
                </a:solidFill>
              </a:rPr>
              <a:t> và </a:t>
            </a:r>
            <a:r>
              <a:rPr lang="en-US" sz="4000" dirty="0" err="1">
                <a:solidFill>
                  <a:schemeClr val="tx1"/>
                </a:solidFill>
              </a:rPr>
              <a:t>cải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thiện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chất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 err="1">
                <a:solidFill>
                  <a:schemeClr val="tx1"/>
                </a:solidFill>
              </a:rPr>
              <a:t>lượng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48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BD6018-CC30-4C37-9361-9FE90704E01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39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6" y="1066800"/>
            <a:ext cx="9006724" cy="3733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638800" y="3860195"/>
            <a:ext cx="2188192" cy="86420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chất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lượng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[3/3]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061835"/>
            <a:ext cx="2438400" cy="179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3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11" y="4876800"/>
            <a:ext cx="1443789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70" y="4572000"/>
            <a:ext cx="1224330" cy="762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0" y="5172075"/>
            <a:ext cx="2800350" cy="771525"/>
          </a:xfrm>
          <a:prstGeom prst="rect">
            <a:avLst/>
          </a:prstGeom>
        </p:spPr>
      </p:pic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534400" cy="2862262"/>
          </a:xfrm>
        </p:spPr>
        <p:txBody>
          <a:bodyPr/>
          <a:lstStyle/>
          <a:p>
            <a:pPr algn="just"/>
            <a:r>
              <a:rPr lang="vi-VN" b="1" dirty="0"/>
              <a:t>Kiểm soát chất lượng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quality control</a:t>
            </a:r>
            <a:r>
              <a:rPr lang="vi-VN" dirty="0"/>
              <a:t>) có đầu ra là: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Kiểm tra sự chuyển giao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Quyết định chấp nhận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Điều chỉnh quy trình.</a:t>
            </a:r>
          </a:p>
          <a:p>
            <a:pPr algn="just">
              <a:spcBef>
                <a:spcPts val="1800"/>
              </a:spcBef>
            </a:pPr>
            <a:r>
              <a:rPr lang="vi-VN" b="1" dirty="0">
                <a:solidFill>
                  <a:srgbClr val="FF0000"/>
                </a:solidFill>
              </a:rPr>
              <a:t>7 </a:t>
            </a:r>
            <a:r>
              <a:rPr lang="vi-VN" dirty="0">
                <a:solidFill>
                  <a:srgbClr val="FF0000"/>
                </a:solidFill>
              </a:rPr>
              <a:t>sơ đồ</a:t>
            </a:r>
            <a:r>
              <a:rPr lang="vi-VN" dirty="0"/>
              <a:t> hỗ trợ kiểm soát chất lượng...</a:t>
            </a:r>
            <a:endParaRPr lang="en-US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3. </a:t>
            </a:r>
            <a:r>
              <a:rPr lang="en-US" sz="4400" dirty="0" err="1">
                <a:solidFill>
                  <a:srgbClr val="FF0000"/>
                </a:solidFill>
              </a:rPr>
              <a:t>Kiểm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soát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chất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lượng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215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450B71-5623-48F0-A845-927659A4C3D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4648200"/>
            <a:ext cx="1447800" cy="7365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5072309"/>
            <a:ext cx="1371600" cy="8696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00" y="4648200"/>
            <a:ext cx="1131000" cy="762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1" y="5181600"/>
            <a:ext cx="1524000" cy="7629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6629400" cy="2819400"/>
          </a:xfrm>
        </p:spPr>
        <p:txBody>
          <a:bodyPr/>
          <a:lstStyle/>
          <a:p>
            <a:pPr algn="just">
              <a:spcBef>
                <a:spcPts val="12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nguyên nhân - kết quả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cause-and-effect diagrams</a:t>
            </a:r>
            <a:r>
              <a:rPr lang="vi-VN" dirty="0"/>
              <a:t>) theo dõi các vấn đề chất lượng để đáp ứng các hoạt động sản xuất.</a:t>
            </a:r>
          </a:p>
          <a:p>
            <a:pPr lvl="1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Sơ đồ xương cá (</a:t>
            </a:r>
            <a:r>
              <a:rPr lang="en-US" sz="2400" dirty="0">
                <a:solidFill>
                  <a:srgbClr val="0070C0"/>
                </a:solidFill>
              </a:rPr>
              <a:t>fishbone</a:t>
            </a:r>
            <a:r>
              <a:rPr lang="en-US" sz="2400" dirty="0"/>
              <a:t>) </a:t>
            </a:r>
            <a:r>
              <a:rPr lang="vi-VN" sz="2400" dirty="0"/>
              <a:t>hoặc </a:t>
            </a:r>
            <a:r>
              <a:rPr lang="vi-VN" sz="2400" dirty="0">
                <a:solidFill>
                  <a:srgbClr val="0070C0"/>
                </a:solidFill>
              </a:rPr>
              <a:t>Ishikawa</a:t>
            </a:r>
            <a:r>
              <a:rPr lang="vi-VN" sz="2400" dirty="0"/>
              <a:t>.</a:t>
            </a: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a. </a:t>
            </a:r>
            <a:r>
              <a:rPr lang="en-US" sz="4000" dirty="0" err="1">
                <a:solidFill>
                  <a:srgbClr val="0070C0"/>
                </a:solidFill>
              </a:rPr>
              <a:t>Sơ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nguyên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nhân</a:t>
            </a:r>
            <a:r>
              <a:rPr lang="en-US" sz="4000" dirty="0">
                <a:solidFill>
                  <a:srgbClr val="0070C0"/>
                </a:solidFill>
              </a:rPr>
              <a:t> - </a:t>
            </a:r>
            <a:r>
              <a:rPr lang="en-US" sz="4000" dirty="0" err="1">
                <a:solidFill>
                  <a:srgbClr val="0070C0"/>
                </a:solidFill>
              </a:rPr>
              <a:t>kết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quả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E3DAAD-2A3C-46AE-849B-6623F3A11048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3074" name="Picture 2" descr="http://www.skymark.com/images/ishkaw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00200"/>
            <a:ext cx="1840831" cy="262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4495800"/>
            <a:ext cx="8610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spcBef>
                <a:spcPts val="1800"/>
              </a:spcBef>
              <a:spcAft>
                <a:spcPts val="1200"/>
              </a:spcAft>
            </a:pPr>
            <a:r>
              <a:rPr lang="vi-VN" dirty="0"/>
              <a:t>Dùng kỹ thuật </a:t>
            </a:r>
            <a:r>
              <a:rPr lang="vi-VN" dirty="0">
                <a:solidFill>
                  <a:srgbClr val="0070C0"/>
                </a:solidFill>
              </a:rPr>
              <a:t>5 why</a:t>
            </a:r>
            <a:r>
              <a:rPr lang="vi-VN" dirty="0"/>
              <a:t> - lặp đi lặp lại câu hỏi “</a:t>
            </a:r>
            <a:r>
              <a:rPr lang="vi-VN" i="1" dirty="0"/>
              <a:t>tại sao</a:t>
            </a:r>
            <a:r>
              <a:rPr lang="vi-VN" dirty="0"/>
              <a:t>” để tìm ra nguyên nhân gốc của vấn đề.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519112" y="28575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xương</a:t>
            </a:r>
            <a:r>
              <a:rPr lang="en-US" sz="3600" dirty="0"/>
              <a:t> </a:t>
            </a:r>
            <a:r>
              <a:rPr lang="en-US" sz="3600" dirty="0" err="1"/>
              <a:t>cá</a:t>
            </a:r>
            <a:endParaRPr lang="en-US" sz="3600" dirty="0"/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B75423-FEAD-4D1F-A502-F8A9165B093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305800" cy="31242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kiểm soát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control chart</a:t>
            </a:r>
            <a:r>
              <a:rPr lang="vi-VN" dirty="0"/>
              <a:t>): dữ liệu kết quả của một quy trình theo thời gian, để ngăn ngừa lỗi.</a:t>
            </a:r>
          </a:p>
          <a:p>
            <a:pPr algn="just"/>
            <a:r>
              <a:rPr lang="vi-VN" dirty="0"/>
              <a:t>Xác định một quy trình kiểm soát được hay không.</a:t>
            </a:r>
          </a:p>
          <a:p>
            <a:pPr lvl="1" algn="just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K.soát được: ... ngẫu nhiên - không cần điều chỉnh.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Không k.soát: ... không ngẫu nhiên - cần điều chỉnh hoặc loại bỏ.</a:t>
            </a:r>
            <a:endParaRPr lang="en-US" sz="2400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b. </a:t>
            </a:r>
            <a:r>
              <a:rPr lang="en-US" sz="4000" dirty="0" err="1">
                <a:solidFill>
                  <a:srgbClr val="0070C0"/>
                </a:solidFill>
              </a:rPr>
              <a:t>Sơ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kiểm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soát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670760-B42D-4CD4-B296-DC6DC6E1E20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8229600" cy="28956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 tắc số 7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7 run rule</a:t>
            </a:r>
            <a:r>
              <a:rPr lang="vi-VN" dirty="0"/>
              <a:t>): 7 điểm dữ liệu liên tiếp đều dưới/trên trung vị, hoặc đều tăng/giảm. Quy trình cần phải được kiểm tra - không ngẫu nhiên.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Sử dụng biểu đồ kiểm soát chất lượng và quy tắc số 7 để tìm các mẫu trong dữ liệu...</a:t>
            </a:r>
            <a:endParaRPr lang="en-US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Quy</a:t>
            </a:r>
            <a:r>
              <a:rPr lang="en-US" sz="4000" dirty="0"/>
              <a:t> </a:t>
            </a:r>
            <a:r>
              <a:rPr lang="en-US" sz="4000" dirty="0" err="1"/>
              <a:t>tắc</a:t>
            </a:r>
            <a:r>
              <a:rPr lang="en-US" sz="4000" dirty="0"/>
              <a:t> </a:t>
            </a:r>
            <a:r>
              <a:rPr lang="en-US" sz="4000" dirty="0" err="1"/>
              <a:t>số</a:t>
            </a:r>
            <a:r>
              <a:rPr lang="en-US" sz="4000" dirty="0"/>
              <a:t> 7</a:t>
            </a:r>
          </a:p>
        </p:txBody>
      </p:sp>
      <p:sp>
        <p:nvSpPr>
          <p:cNvPr id="2560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C9BCC7-97B7-424A-8EA8-FCDE1695BA2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89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kiểm</a:t>
            </a:r>
            <a:r>
              <a:rPr lang="en-US" sz="3600" dirty="0"/>
              <a:t> </a:t>
            </a:r>
            <a:r>
              <a:rPr lang="en-US" sz="3600" dirty="0" err="1"/>
              <a:t>soát</a:t>
            </a:r>
            <a:r>
              <a:rPr lang="en-US" sz="3600" dirty="0"/>
              <a:t> (</a:t>
            </a:r>
            <a:r>
              <a:rPr lang="en-US" sz="3600" dirty="0" err="1"/>
              <a:t>số</a:t>
            </a:r>
            <a:r>
              <a:rPr lang="en-US" sz="3600" dirty="0"/>
              <a:t> 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0EADFD07-DDE2-4A66-80ED-E5673B617E12}" type="slidenum">
              <a:rPr lang="en-US" smtClean="0"/>
              <a:pPr>
                <a:buFontTx/>
                <a:buNone/>
                <a:defRPr/>
              </a:pPr>
              <a:t>29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950"/>
            <a:ext cx="9144000" cy="56910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981200" y="3606114"/>
            <a:ext cx="1676400" cy="1143000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/>
          <p:cNvSpPr/>
          <p:nvPr/>
        </p:nvSpPr>
        <p:spPr>
          <a:xfrm rot="2867076">
            <a:off x="4566042" y="3803772"/>
            <a:ext cx="1904876" cy="621957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4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25574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Tờ kiểm tra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checksheet</a:t>
            </a:r>
            <a:r>
              <a:rPr lang="vi-VN" dirty="0"/>
              <a:t>) để thu thập và phân tích dữ liệu. Có ích trong việc cải thiện các quy trình.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vi-VN" sz="2350" dirty="0"/>
              <a:t>Hay bản kiểm kê hoặc danh sách kiểm tra, tùy định dạng.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/>
              <a:t>Ví dụ...</a:t>
            </a:r>
            <a:endParaRPr lang="en-US" dirty="0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c. </a:t>
            </a:r>
            <a:r>
              <a:rPr lang="en-US" sz="4000" dirty="0" err="1">
                <a:solidFill>
                  <a:srgbClr val="0070C0"/>
                </a:solidFill>
              </a:rPr>
              <a:t>Tờ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kiểm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62A0B34-F533-4D63-B65A-99612F28F66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81400"/>
            <a:ext cx="861060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09600" y="2286000"/>
            <a:ext cx="7848600" cy="2514600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phân tán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scatter</a:t>
            </a:r>
            <a:r>
              <a:rPr lang="vi-VN" dirty="0"/>
              <a:t>) biểu diễn mối quan hệ giữa hai biến.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Các điểm dữ liệu gần nhau trên đường chéo, gần hơn giữa hai biến được quan hệ với nhau.</a:t>
            </a:r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d. </a:t>
            </a:r>
            <a:r>
              <a:rPr lang="en-US" dirty="0" err="1">
                <a:solidFill>
                  <a:srgbClr val="0070C0"/>
                </a:solidFill>
              </a:rPr>
              <a:t>Sơ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đồ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phân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tán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DF9B72-FF8D-4C7D-8911-302B8A9D2599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tán</a:t>
            </a:r>
            <a:endParaRPr lang="en-US" sz="3600" dirty="0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6161C1-B4FD-435C-8CEF-6A88CD60AE3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9144000" cy="55626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1371600" y="2743200"/>
            <a:ext cx="7543800" cy="990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382000" cy="2938462"/>
          </a:xfrm>
        </p:spPr>
        <p:txBody>
          <a:bodyPr/>
          <a:lstStyle/>
          <a:p>
            <a:pPr algn="just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Nhật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histogram</a:t>
            </a:r>
            <a:r>
              <a:rPr lang="en-US" dirty="0"/>
              <a:t>):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.</a:t>
            </a:r>
          </a:p>
          <a:p>
            <a:pPr algn="just"/>
            <a:endParaRPr lang="en-US" sz="1800" dirty="0"/>
          </a:p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huống</a:t>
            </a:r>
            <a:r>
              <a:rPr lang="en-US" dirty="0"/>
              <a:t>, </a:t>
            </a:r>
            <a:r>
              <a:rPr lang="en-US" dirty="0" err="1"/>
              <a:t>chiều</a:t>
            </a:r>
            <a:r>
              <a:rPr lang="en-US" dirty="0"/>
              <a:t> cao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e. </a:t>
            </a:r>
            <a:r>
              <a:rPr lang="en-US" sz="4000" dirty="0" err="1">
                <a:solidFill>
                  <a:srgbClr val="0070C0"/>
                </a:solidFill>
              </a:rPr>
              <a:t>Nhật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FBCF470-0548-46A6-B4BC-490E871490E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nhật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endParaRPr lang="en-US" sz="3600" dirty="0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F4FB31-0ADA-4918-A8FB-0CC2AB974DF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77" y="1371600"/>
            <a:ext cx="9166677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1.bp.blogspot.com/-9VRKEuKYKdk/Ufpb27f1_UI/AAAAAAAAAeM/dGXKsQuQh-g/s1600/Vilfredo%2520Pareto%2520piens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667000"/>
            <a:ext cx="3810000" cy="359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590800"/>
            <a:ext cx="5257800" cy="19050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Quy tắc </a:t>
            </a:r>
            <a:r>
              <a:rPr lang="vi-VN" b="1" dirty="0">
                <a:solidFill>
                  <a:srgbClr val="FF0000"/>
                </a:solidFill>
              </a:rPr>
              <a:t>80-20</a:t>
            </a:r>
            <a:r>
              <a:rPr lang="vi-VN" dirty="0">
                <a:solidFill>
                  <a:srgbClr val="FF0000"/>
                </a:solidFill>
              </a:rPr>
              <a:t>...</a:t>
            </a:r>
            <a:endParaRPr lang="vi-VN" dirty="0"/>
          </a:p>
          <a:p>
            <a:pPr lvl="1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80% các vấn đề do 20% các nguyên nhân gây ra...</a:t>
            </a:r>
            <a:endParaRPr lang="en-US" sz="2400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f. </a:t>
            </a:r>
            <a:r>
              <a:rPr lang="en-US" sz="4000" dirty="0" err="1">
                <a:solidFill>
                  <a:srgbClr val="0070C0"/>
                </a:solidFill>
              </a:rPr>
              <a:t>Sơ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r>
              <a:rPr lang="en-US" sz="4000" dirty="0">
                <a:solidFill>
                  <a:srgbClr val="0070C0"/>
                </a:solidFill>
              </a:rPr>
              <a:t> Pareto</a:t>
            </a:r>
          </a:p>
        </p:txBody>
      </p:sp>
      <p:sp>
        <p:nvSpPr>
          <p:cNvPr id="3379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E2DC25-9D86-4306-B97B-599B3D4DF219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2054" name="Picture 6" descr="http://www.shaylynch.net/wp-content/uploads/2013/10/80-20-Ru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80" y="4339088"/>
            <a:ext cx="2886436" cy="19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81000" y="1524000"/>
            <a:ext cx="8153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spcBef>
                <a:spcPct val="1000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Pareto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Pareto chart</a:t>
            </a:r>
            <a:r>
              <a:rPr lang="vi-VN" dirty="0"/>
              <a:t>): giúp xác định và ưu tiên các các vấn đề.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Pareto</a:t>
            </a:r>
          </a:p>
        </p:txBody>
      </p:sp>
      <p:sp>
        <p:nvSpPr>
          <p:cNvPr id="3482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28223030-3376-4AFB-B267-0ED1FBD23888}" type="slidenum">
              <a:rPr lang="en-US" smtClean="0"/>
              <a:pPr>
                <a:buFontTx/>
                <a:buNone/>
                <a:defRPr/>
              </a:pPr>
              <a:t>36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" y="1066800"/>
            <a:ext cx="9133704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Content Placeholder 5"/>
          <p:cNvSpPr>
            <a:spLocks noGrp="1"/>
          </p:cNvSpPr>
          <p:nvPr>
            <p:ph idx="1"/>
          </p:nvPr>
        </p:nvSpPr>
        <p:spPr>
          <a:xfrm>
            <a:off x="685800" y="1938338"/>
            <a:ext cx="7924800" cy="27098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Lưu đồ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flowcharts</a:t>
            </a:r>
            <a:r>
              <a:rPr lang="vi-VN" dirty="0"/>
              <a:t>): hiển thị các quan hệ của quy trình giúp phân tích vấn đề, và làm thế nào để cải thiện chúng.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vi-VN" dirty="0"/>
              <a:t>Lưu đồ chỉ ra các hoạt động, các điểm quyết định, và thứ tự thông tin được xử lý...</a:t>
            </a:r>
            <a:endParaRPr lang="en-US" dirty="0"/>
          </a:p>
        </p:txBody>
      </p:sp>
      <p:sp>
        <p:nvSpPr>
          <p:cNvPr id="35842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g. </a:t>
            </a:r>
            <a:r>
              <a:rPr lang="en-US" sz="4000" dirty="0" err="1">
                <a:solidFill>
                  <a:srgbClr val="0070C0"/>
                </a:solidFill>
              </a:rPr>
              <a:t>Lưu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5844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4B6D53-5AC6-46C5-B1A2-9F9C40AE9B9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lưu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BA335D-CFAA-4C4E-A640-030A6566B81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7543800" cy="50825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38338"/>
            <a:ext cx="8153400" cy="24050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Sơ đồ dự báo </a:t>
            </a:r>
            <a:r>
              <a:rPr lang="vi-VN" dirty="0"/>
              <a:t>(</a:t>
            </a:r>
            <a:r>
              <a:rPr lang="vi-VN" dirty="0">
                <a:solidFill>
                  <a:srgbClr val="0070C0"/>
                </a:solidFill>
              </a:rPr>
              <a:t>run chart</a:t>
            </a:r>
            <a:r>
              <a:rPr lang="vi-VN" dirty="0"/>
              <a:t>): hiển thị lịch sử và mô hình biến đổi của quy trình theo thời gian.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vi-VN" dirty="0"/>
              <a:t>Sơ đồ dự báo dùng phân tích xu hướng và dự báo kết quả trong tương lai dựa trên lịch sử.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h. </a:t>
            </a:r>
            <a:r>
              <a:rPr lang="en-US" sz="4000" dirty="0" err="1">
                <a:solidFill>
                  <a:srgbClr val="0070C0"/>
                </a:solidFill>
              </a:rPr>
              <a:t>Sơ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báo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A6CB9E-84A0-45DA-81C2-C3F66A5CA276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564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A6CB9E-84A0-45DA-81C2-C3F66A5CA276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0"/>
            <a:ext cx="8866681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92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343400"/>
            <a:ext cx="8991600" cy="1628775"/>
          </a:xfrm>
          <a:prstGeom prst="rect">
            <a:avLst/>
          </a:prstGeom>
        </p:spPr>
      </p:pic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262937" cy="4648200"/>
          </a:xfrm>
        </p:spPr>
        <p:txBody>
          <a:bodyPr/>
          <a:lstStyle/>
          <a:p>
            <a:pPr algn="just">
              <a:spcBef>
                <a:spcPct val="600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Mẫu thống kê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statistical </a:t>
            </a:r>
            <a:r>
              <a:rPr lang="en-US" dirty="0" err="1">
                <a:solidFill>
                  <a:srgbClr val="0070C0"/>
                </a:solidFill>
              </a:rPr>
              <a:t>sampl</a:t>
            </a:r>
            <a:r>
              <a:rPr lang="vi-VN" dirty="0">
                <a:solidFill>
                  <a:srgbClr val="0070C0"/>
                </a:solidFill>
              </a:rPr>
              <a:t>e</a:t>
            </a:r>
            <a:r>
              <a:rPr lang="vi-VN" dirty="0"/>
              <a:t>): lựa chọn một phần trong tập mẫu để phân tích.</a:t>
            </a:r>
          </a:p>
          <a:p>
            <a:pPr algn="just">
              <a:spcBef>
                <a:spcPct val="60000"/>
              </a:spcBef>
            </a:pPr>
            <a:r>
              <a:rPr lang="vi-VN" dirty="0"/>
              <a:t>Cỡ mẫu tùy cách lấy mẫu đại diện...</a:t>
            </a:r>
          </a:p>
          <a:p>
            <a:pPr algn="just">
              <a:spcBef>
                <a:spcPct val="60000"/>
              </a:spcBef>
            </a:pPr>
            <a:endParaRPr lang="vi-VN" dirty="0"/>
          </a:p>
          <a:p>
            <a:pPr algn="just">
              <a:spcBef>
                <a:spcPct val="60000"/>
              </a:spcBef>
            </a:pPr>
            <a:endParaRPr lang="vi-VN" sz="1800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Mẫu</a:t>
            </a:r>
            <a:r>
              <a:rPr lang="en-US" sz="4000" dirty="0"/>
              <a:t> thống </a:t>
            </a:r>
            <a:r>
              <a:rPr lang="en-US" sz="4000" dirty="0" err="1"/>
              <a:t>kê</a:t>
            </a:r>
            <a:endParaRPr lang="en-US" sz="4000" dirty="0"/>
          </a:p>
        </p:txBody>
      </p:sp>
      <p:sp>
        <p:nvSpPr>
          <p:cNvPr id="378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095DAC-1155-4339-9100-F482C9622A82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219200" y="3048000"/>
            <a:ext cx="67818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92113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vi-VN" sz="1200" dirty="0"/>
          </a:p>
          <a:p>
            <a:pPr marL="392113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dirty="0"/>
              <a:t>Cỡ mẫu = 0,25*(Độ tin cậy/Lỗi chấp nhận</a:t>
            </a:r>
            <a:r>
              <a:rPr lang="en-US" sz="2400" dirty="0"/>
              <a:t>)</a:t>
            </a:r>
            <a:r>
              <a:rPr lang="en-US" sz="2400" baseline="30000" dirty="0"/>
              <a:t>2</a:t>
            </a:r>
            <a:endParaRPr lang="vi-VN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4794250"/>
            <a:ext cx="2566648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6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077200" cy="3657600"/>
          </a:xfrm>
        </p:spPr>
        <p:txBody>
          <a:bodyPr/>
          <a:lstStyle/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Sigma</a:t>
            </a:r>
            <a:r>
              <a:rPr lang="en-US" dirty="0"/>
              <a:t>: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“một hệ thống toàn diện và linh hoạt để đạt được, duy trì, và tối đa hóa thành công kinh doanh. 6 Sigma định hướng theo nhu cầu khách hàng, sử dụng các sự kiện, dữ liệu và phân tích thống kê, và sự tập trung chú ý để quản lý, cải thiện, và tái tạo các quy trình kinh doanh”.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Sigma</a:t>
            </a:r>
          </a:p>
        </p:txBody>
      </p:sp>
      <p:sp>
        <p:nvSpPr>
          <p:cNvPr id="39942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9274A6-51E7-4302-8F67-4973D25B7901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685800" y="4419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2400" dirty="0" err="1"/>
              <a:t>Pande</a:t>
            </a:r>
            <a:r>
              <a:rPr lang="en-US" sz="2400" dirty="0"/>
              <a:t> &amp; ctg. (2000)</a:t>
            </a:r>
          </a:p>
        </p:txBody>
      </p:sp>
      <p:pic>
        <p:nvPicPr>
          <p:cNvPr id="9" name="Picture 2" descr="http://www.tutorialspoint.com/images/sixsigma-mini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95800"/>
            <a:ext cx="160470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01000" cy="2328862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Tạo ra sản phẩm có chất lượng hoàn hảo với không quá </a:t>
            </a:r>
            <a:r>
              <a:rPr lang="vi-V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3,4</a:t>
            </a:r>
            <a:r>
              <a:rPr lang="vi-V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lỗi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trên </a:t>
            </a:r>
            <a:r>
              <a:rPr lang="vi-V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triệu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hội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3.4</a:t>
            </a:r>
            <a:r>
              <a:rPr lang="en-US" dirty="0">
                <a:solidFill>
                  <a:srgbClr val="0070C0"/>
                </a:solidFill>
              </a:rPr>
              <a:t> defects per million opportunities</a:t>
            </a:r>
            <a:r>
              <a:rPr lang="vi-VN" dirty="0"/>
              <a:t>).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6 Sigma theo quá trình cải tiến 5 bước - </a:t>
            </a: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DMAIC</a:t>
            </a:r>
            <a:r>
              <a:rPr lang="vi-VN" dirty="0"/>
              <a:t>.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Thông tin </a:t>
            </a:r>
            <a:r>
              <a:rPr lang="en-US" sz="4000" dirty="0" err="1"/>
              <a:t>cơ</a:t>
            </a:r>
            <a:r>
              <a:rPr lang="en-US" sz="4000" dirty="0"/>
              <a:t> </a:t>
            </a:r>
            <a:r>
              <a:rPr lang="en-US" sz="4000" dirty="0" err="1"/>
              <a:t>bản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6 Sigma</a:t>
            </a:r>
          </a:p>
        </p:txBody>
      </p:sp>
      <p:sp>
        <p:nvSpPr>
          <p:cNvPr id="4096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55A823-B13C-4B58-A4B0-5EDF7AE524AB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pic>
        <p:nvPicPr>
          <p:cNvPr id="10" name="Picture 2" descr="https://upload.wikimedia.org/wikipedia/commons/3/38/DMAICWebdingsI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419600"/>
            <a:ext cx="5715000" cy="152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429000" y="1371600"/>
            <a:ext cx="5410200" cy="4419600"/>
          </a:xfrm>
        </p:spPr>
        <p:txBody>
          <a:bodyPr/>
          <a:lstStyle/>
          <a:p>
            <a:pPr marL="406400" lvl="1" indent="-342900" algn="just">
              <a:spcBef>
                <a:spcPts val="6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sz="2400" dirty="0"/>
              <a:t>efine</a:t>
            </a:r>
            <a:r>
              <a:rPr lang="vi-VN" sz="2400" dirty="0"/>
              <a:t>: xác định vấn đề/cơ hội, quy trình, và yêu cầu khách hàng.</a:t>
            </a:r>
            <a:endParaRPr lang="en-US" sz="2400" dirty="0"/>
          </a:p>
          <a:p>
            <a:pPr marL="406400" lvl="1" indent="-342900" algn="just">
              <a:spcBef>
                <a:spcPts val="6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sz="2400" dirty="0"/>
              <a:t>easure</a:t>
            </a:r>
            <a:r>
              <a:rPr lang="vi-VN" sz="2400" dirty="0"/>
              <a:t>: xác định thang đo, thu thập, hiệu chỉnh, và hiển thị dữ liệu.</a:t>
            </a:r>
            <a:endParaRPr lang="en-US" sz="2400" dirty="0"/>
          </a:p>
          <a:p>
            <a:pPr marL="406400" lvl="1" indent="-342900" algn="just">
              <a:spcBef>
                <a:spcPts val="6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400" dirty="0"/>
              <a:t>nalyze</a:t>
            </a:r>
            <a:r>
              <a:rPr lang="vi-VN" sz="2400" dirty="0"/>
              <a:t>: xem xét chi tiết các quy trình để tìm cơ hội cải thiện.</a:t>
            </a:r>
            <a:endParaRPr lang="en-US" sz="2400" dirty="0"/>
          </a:p>
          <a:p>
            <a:pPr marL="406400" lvl="1" indent="-342900" algn="just">
              <a:spcBef>
                <a:spcPts val="6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400" dirty="0"/>
              <a:t>mprove</a:t>
            </a:r>
            <a:r>
              <a:rPr lang="vi-VN" sz="2400" dirty="0"/>
              <a:t>: đề xuất giải pháp để cải thiện các vấn đề.</a:t>
            </a:r>
            <a:endParaRPr lang="en-US" sz="2400" dirty="0"/>
          </a:p>
          <a:p>
            <a:pPr marL="406400" lvl="1" indent="-342900" algn="just">
              <a:spcBef>
                <a:spcPts val="6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400" dirty="0"/>
              <a:t>ontrol</a:t>
            </a:r>
            <a:r>
              <a:rPr lang="vi-VN" sz="2400" dirty="0"/>
              <a:t>: theo dõi và kiểm tra những cải tiến và khả năng dự đoán...</a:t>
            </a:r>
            <a:endParaRPr lang="en-US" sz="2400" dirty="0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DMAIC</a:t>
            </a:r>
          </a:p>
        </p:txBody>
      </p:sp>
      <p:sp>
        <p:nvSpPr>
          <p:cNvPr id="419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1AB4D5-9E2D-4A54-96AF-C461B1B43E2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7" name="Picture 2" descr="http://www.sixsigmadaily.com/wp-content/uploads/2012/12/dma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3048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35814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dirty="0"/>
              <a:t>Yêu cầu cam kết trong toàn tổ chức.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dirty="0"/>
              <a:t>Đào tạo theo hệ thống </a:t>
            </a:r>
            <a:r>
              <a:rPr lang="en-US" dirty="0"/>
              <a:t>“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đai</a:t>
            </a:r>
            <a:r>
              <a:rPr lang="en-US" dirty="0"/>
              <a:t>”…</a:t>
            </a:r>
            <a:endParaRPr lang="vi-VN" dirty="0"/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vi-VN" dirty="0"/>
              <a:t>Tổ chức 6 Sigma sẵn sàng cho các mục tiêu khác: 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vi-VN" sz="2400" dirty="0"/>
              <a:t>Giảm thiểu lỗi và thực hiện nhanh hơn.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dirty="0"/>
              <a:t>Hướng tập trung vào khách hàng, nâng cao các cấp độ chất lượng, và cải thiện hiệu suất tài chính các cấp độ </a:t>
            </a:r>
            <a:r>
              <a:rPr lang="vi-VN" i="1" dirty="0"/>
              <a:t>đột phá...</a:t>
            </a:r>
            <a:endParaRPr lang="en-US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991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6 Sigma </a:t>
            </a:r>
            <a:r>
              <a:rPr lang="en-US" sz="3600" dirty="0" err="1"/>
              <a:t>trong</a:t>
            </a:r>
            <a:r>
              <a:rPr lang="en-US" sz="3600" dirty="0"/>
              <a:t> </a:t>
            </a:r>
            <a:r>
              <a:rPr lang="en-US" sz="3600" dirty="0" err="1"/>
              <a:t>kiểm</a:t>
            </a:r>
            <a:r>
              <a:rPr lang="en-US" sz="3600" dirty="0"/>
              <a:t> </a:t>
            </a:r>
            <a:r>
              <a:rPr lang="en-US" sz="3600" dirty="0" err="1"/>
              <a:t>soát</a:t>
            </a:r>
            <a:r>
              <a:rPr lang="en-US" sz="3600" dirty="0"/>
              <a:t> </a:t>
            </a:r>
            <a:r>
              <a:rPr lang="en-US" sz="3600" dirty="0" err="1"/>
              <a:t>chất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endParaRPr lang="en-US" sz="3600" dirty="0"/>
          </a:p>
        </p:txBody>
      </p:sp>
      <p:sp>
        <p:nvSpPr>
          <p:cNvPr id="4301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CD949B-619E-45C6-B724-AE4AC02EEEB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305800" cy="32004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6 Sigma gồm nhiều khái niệm QLDA, các công cụ và kỹ thuật...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6 Sigma dùng cho điều lệ dự án, lịch biểu, ngân sách...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6 Sigma được thực hiện theo nhóm... 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Giám đốc dự án: trưởng nhóm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Tài trợ dự án: nhà vô địch (</a:t>
            </a:r>
            <a:r>
              <a:rPr lang="en-US" sz="2400" dirty="0"/>
              <a:t>champion</a:t>
            </a:r>
            <a:r>
              <a:rPr lang="vi-VN" sz="2400" dirty="0"/>
              <a:t>)...</a:t>
            </a:r>
            <a:endParaRPr lang="en-US" sz="2400" dirty="0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6 Sigma </a:t>
            </a:r>
            <a:r>
              <a:rPr lang="en-US" sz="4000" dirty="0" err="1"/>
              <a:t>trong</a:t>
            </a:r>
            <a:r>
              <a:rPr lang="en-US" sz="4000" dirty="0"/>
              <a:t> quản lý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4608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998537-A8E0-4F80-868D-0665AD9DF5C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phối</a:t>
            </a:r>
            <a:r>
              <a:rPr lang="en-US" sz="3600" dirty="0"/>
              <a:t> </a:t>
            </a:r>
            <a:r>
              <a:rPr lang="en-US" sz="3600" dirty="0" err="1"/>
              <a:t>chuẩn</a:t>
            </a:r>
            <a:r>
              <a:rPr lang="en-US" sz="3600" dirty="0"/>
              <a:t> và </a:t>
            </a:r>
            <a:r>
              <a:rPr lang="en-US" sz="3600" dirty="0" err="1"/>
              <a:t>độ</a:t>
            </a:r>
            <a:r>
              <a:rPr lang="en-US" sz="3600" dirty="0"/>
              <a:t> </a:t>
            </a:r>
            <a:r>
              <a:rPr lang="en-US" sz="3600" dirty="0" err="1"/>
              <a:t>lệch</a:t>
            </a:r>
            <a:r>
              <a:rPr lang="en-US" sz="3600" dirty="0"/>
              <a:t> </a:t>
            </a:r>
            <a:r>
              <a:rPr lang="en-US" sz="3600" dirty="0" err="1"/>
              <a:t>chuẩn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ACA107B4-3DDE-4899-806D-7CA8D1D79654}" type="slidenum">
              <a:rPr lang="en-US" smtClean="0"/>
              <a:pPr>
                <a:buFontTx/>
                <a:buNone/>
                <a:defRPr/>
              </a:pPr>
              <a:t>47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7543800" cy="48450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Bảng</a:t>
            </a:r>
            <a:r>
              <a:rPr lang="en-US" sz="3600" dirty="0"/>
              <a:t> </a:t>
            </a:r>
            <a:r>
              <a:rPr lang="en-US" sz="3600" dirty="0" err="1"/>
              <a:t>chuyển</a:t>
            </a:r>
            <a:r>
              <a:rPr lang="en-US" sz="3600" dirty="0"/>
              <a:t> </a:t>
            </a:r>
            <a:r>
              <a:rPr lang="en-US" sz="3600" dirty="0" err="1"/>
              <a:t>đổi</a:t>
            </a:r>
            <a:r>
              <a:rPr lang="en-US" sz="3600" dirty="0"/>
              <a:t> sigma</a:t>
            </a:r>
          </a:p>
        </p:txBody>
      </p:sp>
      <p:sp>
        <p:nvSpPr>
          <p:cNvPr id="50181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1A01C404-FC56-48D2-AA45-156742728AAA}" type="slidenum">
              <a:rPr lang="en-US" smtClean="0"/>
              <a:pPr>
                <a:buFontTx/>
                <a:buNone/>
                <a:defRPr/>
              </a:pPr>
              <a:t>48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8662182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0" y="4774595"/>
            <a:ext cx="511792" cy="33080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7338"/>
            <a:ext cx="8229600" cy="37766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Chất lượng 6 9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six 9s of quality</a:t>
            </a:r>
            <a:r>
              <a:rPr lang="vi-VN" dirty="0"/>
              <a:t>): kiểm soát chất lượng với </a:t>
            </a:r>
            <a:r>
              <a:rPr lang="vi-VN" b="1" dirty="0">
                <a:solidFill>
                  <a:srgbClr val="FF0000"/>
                </a:solidFill>
              </a:rPr>
              <a:t>1</a:t>
            </a:r>
            <a:r>
              <a:rPr lang="vi-VN" dirty="0">
                <a:solidFill>
                  <a:srgbClr val="FF0000"/>
                </a:solidFill>
              </a:rPr>
              <a:t> lỗi </a:t>
            </a:r>
            <a:r>
              <a:rPr lang="vi-VN" dirty="0"/>
              <a:t>trong </a:t>
            </a:r>
            <a:r>
              <a:rPr lang="vi-VN" b="1" dirty="0">
                <a:solidFill>
                  <a:srgbClr val="FF0000"/>
                </a:solidFill>
              </a:rPr>
              <a:t>1</a:t>
            </a:r>
            <a:r>
              <a:rPr lang="vi-VN" dirty="0">
                <a:solidFill>
                  <a:srgbClr val="FF0000"/>
                </a:solidFill>
              </a:rPr>
              <a:t> triệu </a:t>
            </a:r>
            <a:r>
              <a:rPr lang="vi-VN" dirty="0"/>
              <a:t>cơ hội.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/>
              <a:t>Trong ITC, </a:t>
            </a:r>
            <a:r>
              <a:rPr lang="vi-VN" b="1" dirty="0">
                <a:solidFill>
                  <a:srgbClr val="FF0000"/>
                </a:solidFill>
              </a:rPr>
              <a:t>99,9999</a:t>
            </a:r>
            <a:r>
              <a:rPr lang="vi-VN" dirty="0">
                <a:solidFill>
                  <a:srgbClr val="FF0000"/>
                </a:solidFill>
              </a:rPr>
              <a:t>%</a:t>
            </a:r>
            <a:r>
              <a:rPr lang="vi-VN" dirty="0"/>
              <a:t> dịch vụ luôn sẵn sàng hoặc hệ thống lỗi 30 giây trong 1 năm.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/>
              <a:t>Tương tự cho số lỗi trong các mạch truyền thông, lỗi hệ thống, lỗi trong các dòng mã lệnh...</a:t>
            </a:r>
            <a:endParaRPr lang="en-US" dirty="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Chất</a:t>
            </a:r>
            <a:r>
              <a:rPr lang="en-US" sz="4000" dirty="0"/>
              <a:t> </a:t>
            </a:r>
            <a:r>
              <a:rPr lang="en-US" sz="4000" dirty="0" err="1"/>
              <a:t>lượng</a:t>
            </a:r>
            <a:r>
              <a:rPr lang="en-US" sz="4000" dirty="0"/>
              <a:t> 6 9</a:t>
            </a:r>
          </a:p>
        </p:txBody>
      </p:sp>
      <p:sp>
        <p:nvSpPr>
          <p:cNvPr id="5120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A6D7FA-AA50-4761-BE7E-2B3828D676DD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pic>
        <p:nvPicPr>
          <p:cNvPr id="1026" name="Picture 2" descr="http://www.dialogic.com/%7E/media/Images/six9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029200"/>
            <a:ext cx="4648200" cy="10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229600" cy="2481262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Nhiều chuyên gia CNTT nghĩ việc kiểm thử nằm ở giai đoạn gần cuối của sản phẩm CNTT/HTTT.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Kiểm thử nên thực hiện ở hầu hết các giai đoạn của vòng đời sản phẩm CNTT/HTTT.</a:t>
            </a:r>
            <a:endParaRPr lang="en-US" dirty="0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thử</a:t>
            </a:r>
            <a:endParaRPr lang="en-US" sz="4000" dirty="0"/>
          </a:p>
        </p:txBody>
      </p:sp>
      <p:sp>
        <p:nvSpPr>
          <p:cNvPr id="5222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64EE55-CC46-4099-BA93-20DAAE517B2B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kiểm</a:t>
            </a:r>
            <a:r>
              <a:rPr lang="en-US" sz="3600" dirty="0"/>
              <a:t> </a:t>
            </a:r>
            <a:r>
              <a:rPr lang="en-US" sz="3600" dirty="0" err="1"/>
              <a:t>thử</a:t>
            </a:r>
            <a:r>
              <a:rPr lang="en-US" sz="3600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37D22170-80BA-4534-A7F9-4EAE258EE73F}" type="slidenum">
              <a:rPr lang="en-US" smtClean="0"/>
              <a:pPr>
                <a:buFontTx/>
                <a:buNone/>
                <a:defRPr/>
              </a:pPr>
              <a:t>51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0"/>
            <a:ext cx="5791200" cy="6858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5410200" y="3810000"/>
            <a:ext cx="1066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410200" y="4267200"/>
            <a:ext cx="1066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5410200" y="4724400"/>
            <a:ext cx="1066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410200" y="5105400"/>
            <a:ext cx="1066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458200" cy="4791075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 thử đơn vị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unit</a:t>
            </a:r>
            <a:r>
              <a:rPr lang="vi-VN" dirty="0"/>
              <a:t>): kiểm tra từng thành phần để đảm bảo không có lỗi.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 thử tích hợp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integration</a:t>
            </a:r>
            <a:r>
              <a:rPr lang="en-US" dirty="0"/>
              <a:t>): </a:t>
            </a:r>
            <a:r>
              <a:rPr lang="vi-VN" dirty="0"/>
              <a:t>kiểm tra các nhóm  thành phần chức năng.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 thử hệ thống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system</a:t>
            </a:r>
            <a:r>
              <a:rPr lang="vi-VN" dirty="0"/>
              <a:t>): kiểm tra toàn bộ hệ thống như là một thực thể.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Kiểm thử chấp nhận người dùng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user acceptance</a:t>
            </a:r>
            <a:r>
              <a:rPr lang="vi-VN" dirty="0"/>
              <a:t>): người dùng cuối kiểm tra độc lập trước khi chấp nhận hệ thống được chuyển giao.</a:t>
            </a:r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53340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loại</a:t>
            </a:r>
            <a:r>
              <a:rPr lang="en-US" sz="4000" dirty="0"/>
              <a:t> </a:t>
            </a:r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thử</a:t>
            </a:r>
            <a:endParaRPr lang="en-US" sz="4000" dirty="0"/>
          </a:p>
        </p:txBody>
      </p:sp>
      <p:sp>
        <p:nvSpPr>
          <p:cNvPr id="5427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6DB0CC-6AAB-4D22-9E01-9F430D95A55E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38100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 9000 </a:t>
            </a:r>
            <a:r>
              <a:rPr lang="vi-VN" dirty="0"/>
              <a:t>có 3 phần trong chu trình liên tục: (1) lập kế hoạch, (2) kiểm soát, và (3) tài liệu chất lượng trong tổ chức.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dirty="0"/>
              <a:t>Cung cấp các yêu cầu tối thiểu cần thiết để đáp ứng các tiêu chuẩn chứng nhận chất lượng.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dirty="0"/>
              <a:t>Giúp các tổ chức giảm chi phí và cải thiện sự hài lòng của khách hàng.</a:t>
            </a:r>
            <a:endParaRPr lang="en-US" b="1" dirty="0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ISO 9000</a:t>
            </a:r>
          </a:p>
        </p:txBody>
      </p:sp>
      <p:sp>
        <p:nvSpPr>
          <p:cNvPr id="5939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4E9A7D-F34F-408A-AE6C-B54E88579F32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pic>
        <p:nvPicPr>
          <p:cNvPr id="2052" name="Picture 4" descr="http://www.nbtglobal.com/info/ISO90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953000"/>
            <a:ext cx="3048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71596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ISO 9000 (</a:t>
            </a:r>
            <a:r>
              <a:rPr lang="en-US" sz="4000" dirty="0" err="1"/>
              <a:t>tt</a:t>
            </a:r>
            <a:r>
              <a:rPr lang="en-US" sz="4000" dirty="0"/>
              <a:t>)</a:t>
            </a:r>
          </a:p>
        </p:txBody>
      </p:sp>
      <p:sp>
        <p:nvSpPr>
          <p:cNvPr id="5939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4E9A7D-F34F-408A-AE6C-B54E88579F32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556" y="1821120"/>
            <a:ext cx="3043218" cy="3131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8" y="1821119"/>
            <a:ext cx="3023270" cy="31059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963" y="1821119"/>
            <a:ext cx="2972028" cy="31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6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25146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vi-VN" sz="2400"/>
              <a:t>201</a:t>
            </a:r>
            <a:r>
              <a:rPr lang="en-US" sz="2400"/>
              <a:t>7</a:t>
            </a:r>
            <a:r>
              <a:rPr lang="vi-VN" sz="2400"/>
              <a:t>: </a:t>
            </a:r>
            <a:r>
              <a:rPr lang="vi-VN" sz="2400" dirty="0"/>
              <a:t>15 chiếc xe điện được giới thiệu trên toàn thế giới.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vi-VN" sz="2400" dirty="0"/>
              <a:t>Google đang được thử nghiệm xe không người lái...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</a:pPr>
            <a:r>
              <a:rPr lang="vi-VN" sz="2400" dirty="0"/>
              <a:t>Giám đốc dự án phấn đấu cải thiện chất lượng các chiếc xe này để giảm tỷ lệ tai nạn...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A6CB9E-84A0-45DA-81C2-C3F66A5CA276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62475" cy="638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3819525"/>
            <a:ext cx="47339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3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05000"/>
            <a:ext cx="8534400" cy="3048000"/>
          </a:xfrm>
        </p:spPr>
        <p:txBody>
          <a:bodyPr/>
          <a:lstStyle/>
          <a:p>
            <a:pPr lvl="1">
              <a:spcBef>
                <a:spcPts val="1200"/>
              </a:spcBef>
              <a:spcAft>
                <a:spcPts val="1200"/>
              </a:spcAft>
              <a:buFont typeface="Wingdings 3" panose="05040102010807070707" pitchFamily="18" charset="2"/>
              <a:buChar char="}"/>
            </a:pPr>
            <a:r>
              <a:rPr lang="vi-VN" sz="2700" dirty="0"/>
              <a:t>Lãnh đạo thúc đẩy chất lượng.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 3" panose="05040102010807070707" pitchFamily="18" charset="2"/>
              <a:buChar char="}"/>
            </a:pPr>
            <a:r>
              <a:rPr lang="vi-VN" sz="2700" dirty="0"/>
              <a:t>Hiểu rõ về các chi phí chất lượng.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 3" panose="05040102010807070707" pitchFamily="18" charset="2"/>
              <a:buChar char="}"/>
            </a:pPr>
            <a:r>
              <a:rPr lang="vi-VN" sz="2700" dirty="0"/>
              <a:t>Tập trung vào các yếu tố tổ chức và môi trường có ảnh hưởng đến chất lượng.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Wingdings 3" panose="05040102010807070707" pitchFamily="18" charset="2"/>
              <a:buChar char="}"/>
            </a:pPr>
            <a:r>
              <a:rPr lang="vi-VN" sz="2700" dirty="0"/>
              <a:t>Thực hiện theo các mô hình chất lượng chuẩn...</a:t>
            </a:r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Cải</a:t>
            </a:r>
            <a:r>
              <a:rPr lang="en-US" sz="4000" dirty="0"/>
              <a:t> </a:t>
            </a:r>
            <a:r>
              <a:rPr lang="en-US" sz="4000" dirty="0" err="1"/>
              <a:t>thiện</a:t>
            </a:r>
            <a:r>
              <a:rPr lang="en-US" sz="4000" dirty="0"/>
              <a:t> </a:t>
            </a:r>
            <a:r>
              <a:rPr lang="en-US" sz="4000" dirty="0" err="1"/>
              <a:t>chất</a:t>
            </a:r>
            <a:r>
              <a:rPr lang="en-US" sz="4000" dirty="0"/>
              <a:t> </a:t>
            </a:r>
            <a:r>
              <a:rPr lang="en-US" sz="4000" dirty="0" err="1"/>
              <a:t>lượng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r>
              <a:rPr lang="en-US" sz="4000" dirty="0"/>
              <a:t> HTTT</a:t>
            </a:r>
          </a:p>
        </p:txBody>
      </p:sp>
      <p:sp>
        <p:nvSpPr>
          <p:cNvPr id="6042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F0EDE3-83E9-4417-B805-2D1A19CC59BE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001000" cy="33528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 phí chất lượng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cost of quality</a:t>
            </a:r>
            <a:r>
              <a:rPr lang="vi-VN" dirty="0"/>
              <a:t>): chi phí của sự phù hợp cộng với chi phí không phù hợp. 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 phù hợp </a:t>
            </a:r>
            <a:r>
              <a:rPr lang="vi-VN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conformance</a:t>
            </a:r>
            <a:r>
              <a:rPr lang="vi-VN" sz="2400" dirty="0"/>
              <a:t>): sản phẩm cung cấp đáp ứng yêu cầu sử dụng.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 phù hợp </a:t>
            </a:r>
            <a:r>
              <a:rPr lang="vi-VN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non-conformance</a:t>
            </a:r>
            <a:r>
              <a:rPr lang="vi-VN" sz="2400" dirty="0"/>
              <a:t>): thất bại hoặc không đáp ứng được sự mong đợi về chất lượng.</a:t>
            </a: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Chi </a:t>
            </a:r>
            <a:r>
              <a:rPr lang="en-US" sz="4000" dirty="0" err="1"/>
              <a:t>phí</a:t>
            </a:r>
            <a:r>
              <a:rPr lang="en-US" sz="4000" dirty="0"/>
              <a:t> </a:t>
            </a:r>
            <a:r>
              <a:rPr lang="en-US" sz="4000" dirty="0" err="1"/>
              <a:t>chất</a:t>
            </a:r>
            <a:r>
              <a:rPr lang="en-US" sz="4000" dirty="0"/>
              <a:t> </a:t>
            </a:r>
            <a:r>
              <a:rPr lang="en-US" sz="4000" dirty="0" err="1"/>
              <a:t>lượng</a:t>
            </a:r>
            <a:endParaRPr lang="en-US" sz="4000" dirty="0"/>
          </a:p>
        </p:txBody>
      </p:sp>
      <p:sp>
        <p:nvSpPr>
          <p:cNvPr id="62469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8AE3BC-8A8A-45E1-9E7C-7D0B1B16348C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534400" cy="36576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Ngăn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ngừa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>
                <a:latin typeface="Arial (Body)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Arial (Body)"/>
              </a:rPr>
              <a:t>prevention cost</a:t>
            </a:r>
            <a:r>
              <a:rPr lang="en-US" sz="2600" dirty="0">
                <a:latin typeface="Arial (Body)"/>
              </a:rPr>
              <a:t>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Thẩm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định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>
                <a:latin typeface="Arial (Body)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Arial (Body)"/>
              </a:rPr>
              <a:t>appraisal cost</a:t>
            </a:r>
            <a:r>
              <a:rPr lang="en-US" sz="2600" dirty="0">
                <a:latin typeface="Arial (Body)"/>
              </a:rPr>
              <a:t>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Thất bại bên trong </a:t>
            </a:r>
            <a:r>
              <a:rPr lang="en-US" sz="2600" dirty="0">
                <a:latin typeface="Arial (Body)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Arial (Body)"/>
              </a:rPr>
              <a:t>internal failure cost</a:t>
            </a:r>
            <a:r>
              <a:rPr lang="en-US" sz="2600" dirty="0">
                <a:latin typeface="Arial (Body)"/>
              </a:rPr>
              <a:t>)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Thất bại bên ng</a:t>
            </a:r>
            <a:r>
              <a:rPr lang="en-US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oài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>
                <a:latin typeface="Arial (Body)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Arial (Body)"/>
              </a:rPr>
              <a:t>external failure cost</a:t>
            </a:r>
            <a:r>
              <a:rPr lang="en-US" sz="2600" dirty="0">
                <a:latin typeface="Arial (Body)"/>
              </a:rPr>
              <a:t>)</a:t>
            </a:r>
            <a:endParaRPr lang="vi-VN" sz="2600" dirty="0">
              <a:latin typeface="Arial (Body)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Đo lường và kiểm tra thiết bị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Body)"/>
              </a:rPr>
              <a:t> </a:t>
            </a:r>
            <a:r>
              <a:rPr lang="en-US" sz="2600" dirty="0">
                <a:latin typeface="Arial (Body)"/>
              </a:rPr>
              <a:t>(</a:t>
            </a:r>
            <a:r>
              <a:rPr lang="en-US" sz="2600" dirty="0">
                <a:solidFill>
                  <a:srgbClr val="0070C0"/>
                </a:solidFill>
                <a:latin typeface="Arial (Body)"/>
              </a:rPr>
              <a:t>measurement and test</a:t>
            </a:r>
            <a:r>
              <a:rPr lang="en-US" sz="2600" dirty="0">
                <a:latin typeface="Arial (Body)"/>
              </a:rPr>
              <a:t>)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067800" cy="4572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chi </a:t>
            </a:r>
            <a:r>
              <a:rPr lang="en-US" sz="3600" dirty="0" err="1"/>
              <a:t>phí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r>
              <a:rPr lang="en-US" sz="3600" dirty="0"/>
              <a:t> </a:t>
            </a:r>
            <a:r>
              <a:rPr lang="en-US" sz="3600" dirty="0" err="1"/>
              <a:t>tới</a:t>
            </a:r>
            <a:r>
              <a:rPr lang="en-US" sz="3600" dirty="0"/>
              <a:t> </a:t>
            </a:r>
            <a:r>
              <a:rPr lang="en-US" sz="3600" dirty="0" err="1"/>
              <a:t>chất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endParaRPr lang="en-US" sz="4400" dirty="0"/>
          </a:p>
        </p:txBody>
      </p:sp>
      <p:sp>
        <p:nvSpPr>
          <p:cNvPr id="634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D81635D-5E53-4048-B164-DB1D8E4A9E29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…</a:t>
            </a:r>
          </a:p>
        </p:txBody>
      </p:sp>
      <p:sp>
        <p:nvSpPr>
          <p:cNvPr id="6861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36F517-63F8-4410-8ED3-8EE3978F08B8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pic>
        <p:nvPicPr>
          <p:cNvPr id="1034" name="Picture 10" descr="http://todayjobsinfo.com/sites/default/files/cmm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4016827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gurnet.com/wp-content/uploads/2014/03/opm3-logo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038600"/>
            <a:ext cx="4262597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34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229600" cy="4572000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vi-VN" dirty="0"/>
              <a:t>Bảng tính/phần mềm vẽ biểu đồ: tạo các sơ Ishikawa, Pareto, nhật đồ...</a:t>
            </a:r>
          </a:p>
          <a:p>
            <a:pPr algn="just">
              <a:spcBef>
                <a:spcPct val="50000"/>
              </a:spcBef>
            </a:pPr>
            <a:r>
              <a:rPr lang="vi-VN" dirty="0"/>
              <a:t>Phần mềm thống kê: phân tích thống kê.</a:t>
            </a:r>
          </a:p>
          <a:p>
            <a:pPr algn="just">
              <a:spcBef>
                <a:spcPct val="50000"/>
              </a:spcBef>
            </a:pPr>
            <a:r>
              <a:rPr lang="vi-VN" dirty="0"/>
              <a:t>Phần mềm chuyên dụng: quản lý dự án 6 Sigma, sơ đồ kiểm soát...</a:t>
            </a:r>
          </a:p>
          <a:p>
            <a:pPr algn="just">
              <a:spcBef>
                <a:spcPct val="50000"/>
              </a:spcBef>
            </a:pPr>
            <a:r>
              <a:rPr lang="vi-VN" dirty="0"/>
              <a:t>Phần mềm QLDA: tạo biểu đồ Gantt và các công cụ khác liên quan đến quản lý chất lượng...</a:t>
            </a:r>
            <a:endParaRPr lang="en-US" dirty="0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Phần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mềm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hỗ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trợ</a:t>
            </a:r>
            <a:r>
              <a:rPr lang="en-US" sz="3600" dirty="0">
                <a:solidFill>
                  <a:srgbClr val="0070C0"/>
                </a:solidFill>
              </a:rPr>
              <a:t> quản lý </a:t>
            </a:r>
            <a:r>
              <a:rPr lang="en-US" sz="3600" dirty="0" err="1">
                <a:solidFill>
                  <a:srgbClr val="0070C0"/>
                </a:solidFill>
              </a:rPr>
              <a:t>chất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lượng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7168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7463B-AD7E-4F6F-8465-E2BEA4F838CF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5410200"/>
            <a:ext cx="2438400" cy="997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Quiz – Game…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CDE221-7D09-4E72-84A7-688BE7B60DEB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359714" y="1905000"/>
            <a:ext cx="6412686" cy="3688976"/>
            <a:chOff x="1295400" y="2026024"/>
            <a:chExt cx="6412686" cy="368897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4749" y="4397188"/>
              <a:ext cx="1960651" cy="131781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7797" y="2026024"/>
              <a:ext cx="1662628" cy="109817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5400" y="3175467"/>
              <a:ext cx="3802847" cy="111190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6937" y="2062761"/>
              <a:ext cx="1966098" cy="1061439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01725" y="4419600"/>
              <a:ext cx="1862619" cy="125333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2200" y="2026024"/>
              <a:ext cx="1535886" cy="109817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01725" y="3187880"/>
              <a:ext cx="2069576" cy="1099491"/>
            </a:xfrm>
            <a:prstGeom prst="rect">
              <a:avLst/>
            </a:prstGeom>
          </p:spPr>
        </p:pic>
      </p:grpSp>
      <p:sp>
        <p:nvSpPr>
          <p:cNvPr id="1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88309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TÓM 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4126386"/>
            <a:ext cx="2009775" cy="23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591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2060"/>
                </a:solidFill>
              </a:rPr>
              <a:t>Quản lý chất lượng dự án đảm bảo rằng dự án sẽ đáp ứng các nhu cầu được thực hiện.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Quy trình chính của quản lý chất lượng...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6</a:t>
            </a:r>
          </a:p>
        </p:txBody>
      </p:sp>
      <p:sp>
        <p:nvSpPr>
          <p:cNvPr id="573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A07A5-AED4-4C39-9781-B4BD2FA607DD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581400"/>
            <a:ext cx="60198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005262"/>
          </a:xfrm>
        </p:spPr>
        <p:txBody>
          <a:bodyPr/>
          <a:lstStyle/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chính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Plan quality management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Perform quality assurance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Perform control quality.</a:t>
            </a:r>
          </a:p>
          <a:p>
            <a:pPr lvl="2">
              <a:buSzPct val="80000"/>
              <a:buFont typeface="Wingdings 3" panose="05040102010807070707" pitchFamily="18" charset="2"/>
              <a:buChar char="}"/>
            </a:pPr>
            <a:endParaRPr lang="en-US" sz="1200" dirty="0"/>
          </a:p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liên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70C0"/>
                </a:solidFill>
              </a:rPr>
              <a:t>Charts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70C0"/>
                </a:solidFill>
              </a:rPr>
              <a:t>Six sigma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</a:t>
            </a:r>
            <a:r>
              <a:rPr lang="en-US" sz="2500" dirty="0">
                <a:solidFill>
                  <a:srgbClr val="0070C0"/>
                </a:solidFill>
              </a:rPr>
              <a:t> (International Organization Standardization)</a:t>
            </a:r>
            <a:r>
              <a:rPr lang="vi-VN" sz="2400" dirty="0">
                <a:solidFill>
                  <a:srgbClr val="0070C0"/>
                </a:solidFill>
              </a:rPr>
              <a:t>.</a:t>
            </a:r>
            <a:endParaRPr lang="en-US" sz="2400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573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A07A5-AED4-4C39-9781-B4BD2FA607DD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895600"/>
            <a:ext cx="2477092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3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FFFFFF"/>
                </a:outerShdw>
              </a:effectLst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712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14600"/>
            <a:ext cx="8915400" cy="1349375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vi-VN" sz="3800" b="0">
                <a:effectLst/>
              </a:rPr>
              <a:t>Chương kế tiếp...</a:t>
            </a:r>
            <a:br>
              <a:rPr sz="3800" b="0" dirty="0">
                <a:effectLst/>
              </a:rPr>
            </a:br>
            <a:r>
              <a:rPr lang="vi-VN" sz="3800" b="0" dirty="0">
                <a:effectLst/>
              </a:rPr>
              <a:t>QUẢN </a:t>
            </a:r>
            <a:r>
              <a:rPr lang="vi-VN" sz="3800" b="0">
                <a:effectLst/>
              </a:rPr>
              <a:t>LÝ </a:t>
            </a:r>
            <a:r>
              <a:rPr lang="en-US" sz="3800" b="0">
                <a:effectLst/>
              </a:rPr>
              <a:t>NGUỒN NHÂN LỰC</a:t>
            </a:r>
            <a:r>
              <a:rPr lang="vi-VN" sz="3800" b="0">
                <a:effectLst/>
              </a:rPr>
              <a:t> </a:t>
            </a:r>
            <a:r>
              <a:rPr lang="vi-VN" sz="3800" b="0" dirty="0">
                <a:effectLst/>
              </a:rPr>
              <a:t>DỰ ÁN</a:t>
            </a:r>
            <a:br>
              <a:rPr lang="vi-VN" sz="3800" b="0" dirty="0">
                <a:effectLst/>
              </a:rPr>
            </a:br>
            <a:endParaRPr sz="3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085547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3058</TotalTime>
  <Words>3095</Words>
  <Application>Microsoft Office PowerPoint</Application>
  <PresentationFormat>On-screen Show (4:3)</PresentationFormat>
  <Paragraphs>376</Paragraphs>
  <Slides>66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Arial</vt:lpstr>
      <vt:lpstr>Arial (Body)</vt:lpstr>
      <vt:lpstr>Arial Rounded MT Bold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Custom Design</vt:lpstr>
      <vt:lpstr>Theme1</vt:lpstr>
      <vt:lpstr>Chương 6 QUẢN LÝ CHẤT LƯỢNG DỰ ÁN</vt:lpstr>
      <vt:lpstr>Mục tiêu chương 6</vt:lpstr>
      <vt:lpstr>Nhắc lại kiến thức</vt:lpstr>
      <vt:lpstr>Khung quản lý dự án</vt:lpstr>
      <vt:lpstr> QUẢN LÝ CHẤT LƯỢNG DỰ ÁN</vt:lpstr>
      <vt:lpstr>QUẢN LÝ CHẤT LƯỢNG DỰ ÁN</vt:lpstr>
      <vt:lpstr>Tầm quan trọng của chất lượng</vt:lpstr>
      <vt:lpstr>Sự thất bại về chất lượng?</vt:lpstr>
      <vt:lpstr>Chất lượng dự án</vt:lpstr>
      <vt:lpstr>Mô hình thành công của dự án HTTT</vt:lpstr>
      <vt:lpstr>Tương tác trong dự án [chất lượng]</vt:lpstr>
      <vt:lpstr>Quản lý chất lượng dự án [3]</vt:lpstr>
      <vt:lpstr>Quy trình quản lý chất lượng</vt:lpstr>
      <vt:lpstr>Tóm tắt quản lý chất lượng dự án</vt:lpstr>
      <vt:lpstr>Quản lý chất lượng dự án [1/3]</vt:lpstr>
      <vt:lpstr>1. Kế hoạch quản lý chất lượng</vt:lpstr>
      <vt:lpstr>Các khía cạnh của dự án HTTT</vt:lpstr>
      <vt:lpstr>Các khía cạnh của dự án HTTT (tt)</vt:lpstr>
      <vt:lpstr>Ai chịu trách nhiệm về chất lượng?</vt:lpstr>
      <vt:lpstr>Quản lý chất lượng dự án [2/3]</vt:lpstr>
      <vt:lpstr>2. Đảm bảo chất lượng</vt:lpstr>
      <vt:lpstr>Đánh giá và cải thiện chất lượng</vt:lpstr>
      <vt:lpstr>Quản lý chất lượng dự án [3/3]</vt:lpstr>
      <vt:lpstr>3. Kiểm soát chất lượng</vt:lpstr>
      <vt:lpstr>a. Sơ đồ nguyên nhân - kết quả</vt:lpstr>
      <vt:lpstr>Ví dụ, sơ đồ xương cá</vt:lpstr>
      <vt:lpstr>b. Sơ đồ kiểm soát</vt:lpstr>
      <vt:lpstr>Quy tắc số 7</vt:lpstr>
      <vt:lpstr>Ví dụ, sơ đồ kiểm soát (số 7)</vt:lpstr>
      <vt:lpstr>c. Tờ kiểm tra</vt:lpstr>
      <vt:lpstr>d. Sơ đồ phân tán</vt:lpstr>
      <vt:lpstr>Ví dụ, sơ đồ phân tán</vt:lpstr>
      <vt:lpstr>e. Nhật đồ</vt:lpstr>
      <vt:lpstr>Ví dụ, nhật đồ</vt:lpstr>
      <vt:lpstr>f. Sơ đồ Pareto</vt:lpstr>
      <vt:lpstr>Ví dụ, sơ đồ Pareto</vt:lpstr>
      <vt:lpstr>g. Lưu đồ</vt:lpstr>
      <vt:lpstr>Ví dụ, lưu đồ</vt:lpstr>
      <vt:lpstr>h. Sơ đồ dự báo</vt:lpstr>
      <vt:lpstr>Ví dụ, sơ đồ dự báo</vt:lpstr>
      <vt:lpstr>Mẫu thống kê</vt:lpstr>
      <vt:lpstr>6 Sigma</vt:lpstr>
      <vt:lpstr>Thông tin cơ bản của 6 Sigma</vt:lpstr>
      <vt:lpstr>DMAIC</vt:lpstr>
      <vt:lpstr>6 Sigma trong kiểm soát chất lượng</vt:lpstr>
      <vt:lpstr>6 Sigma trong quản lý dự án</vt:lpstr>
      <vt:lpstr>Phân phối chuẩn và độ lệch chuẩn</vt:lpstr>
      <vt:lpstr>Bảng chuyển đổi sigma</vt:lpstr>
      <vt:lpstr>Chất lượng 6 9</vt:lpstr>
      <vt:lpstr>Kiểm thử</vt:lpstr>
      <vt:lpstr>Ví dụ, kiểm thử…</vt:lpstr>
      <vt:lpstr>Các loại kiểm thử</vt:lpstr>
      <vt:lpstr>ISO 9000</vt:lpstr>
      <vt:lpstr>ISO 9000 (tt)</vt:lpstr>
      <vt:lpstr>PowerPoint Presentation</vt:lpstr>
      <vt:lpstr>Cải thiện chất lượng dự án HTTT</vt:lpstr>
      <vt:lpstr>Chi phí chất lượng</vt:lpstr>
      <vt:lpstr>Các chi phí liên quan tới chất lượng</vt:lpstr>
      <vt:lpstr>Tìm hiểu thêm về…</vt:lpstr>
      <vt:lpstr>Phần mềm hỗ trợ quản lý chất lượng</vt:lpstr>
      <vt:lpstr>Quiz – Game…</vt:lpstr>
      <vt:lpstr> TÓM TẮT &amp; TỪ KHÓA </vt:lpstr>
      <vt:lpstr>Tóm tắt chương 6</vt:lpstr>
      <vt:lpstr>Từ khóa</vt:lpstr>
      <vt:lpstr>Q&amp;A</vt:lpstr>
      <vt:lpstr>Chương kế tiếp... QUẢN LÝ NGUỒN NHÂN LỰC DỰ ÁN 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Tung Le</cp:lastModifiedBy>
  <cp:revision>466</cp:revision>
  <dcterms:created xsi:type="dcterms:W3CDTF">2001-07-05T23:10:12Z</dcterms:created>
  <dcterms:modified xsi:type="dcterms:W3CDTF">2024-02-27T13:18:36Z</dcterms:modified>
</cp:coreProperties>
</file>