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885" r:id="rId2"/>
  </p:sldMasterIdLst>
  <p:notesMasterIdLst>
    <p:notesMasterId r:id="rId69"/>
  </p:notesMasterIdLst>
  <p:handoutMasterIdLst>
    <p:handoutMasterId r:id="rId70"/>
  </p:handoutMasterIdLst>
  <p:sldIdLst>
    <p:sldId id="352" r:id="rId3"/>
    <p:sldId id="460" r:id="rId4"/>
    <p:sldId id="459" r:id="rId5"/>
    <p:sldId id="442" r:id="rId6"/>
    <p:sldId id="462" r:id="rId7"/>
    <p:sldId id="463" r:id="rId8"/>
    <p:sldId id="476" r:id="rId9"/>
    <p:sldId id="465" r:id="rId10"/>
    <p:sldId id="466" r:id="rId11"/>
    <p:sldId id="467" r:id="rId12"/>
    <p:sldId id="468" r:id="rId13"/>
    <p:sldId id="469" r:id="rId14"/>
    <p:sldId id="471" r:id="rId15"/>
    <p:sldId id="472" r:id="rId16"/>
    <p:sldId id="473" r:id="rId17"/>
    <p:sldId id="475" r:id="rId18"/>
    <p:sldId id="363" r:id="rId19"/>
    <p:sldId id="489" r:id="rId20"/>
    <p:sldId id="443" r:id="rId21"/>
    <p:sldId id="484" r:id="rId22"/>
    <p:sldId id="387" r:id="rId23"/>
    <p:sldId id="451" r:id="rId24"/>
    <p:sldId id="444" r:id="rId25"/>
    <p:sldId id="388" r:id="rId26"/>
    <p:sldId id="456" r:id="rId27"/>
    <p:sldId id="390" r:id="rId28"/>
    <p:sldId id="394" r:id="rId29"/>
    <p:sldId id="396" r:id="rId30"/>
    <p:sldId id="488" r:id="rId31"/>
    <p:sldId id="400" r:id="rId32"/>
    <p:sldId id="401" r:id="rId33"/>
    <p:sldId id="403" r:id="rId34"/>
    <p:sldId id="485" r:id="rId35"/>
    <p:sldId id="410" r:id="rId36"/>
    <p:sldId id="412" r:id="rId37"/>
    <p:sldId id="413" r:id="rId38"/>
    <p:sldId id="486" r:id="rId39"/>
    <p:sldId id="414" r:id="rId40"/>
    <p:sldId id="415" r:id="rId41"/>
    <p:sldId id="416" r:id="rId42"/>
    <p:sldId id="487" r:id="rId43"/>
    <p:sldId id="418" r:id="rId44"/>
    <p:sldId id="419" r:id="rId45"/>
    <p:sldId id="420" r:id="rId46"/>
    <p:sldId id="421" r:id="rId47"/>
    <p:sldId id="422" r:id="rId48"/>
    <p:sldId id="423" r:id="rId49"/>
    <p:sldId id="448" r:id="rId50"/>
    <p:sldId id="424" r:id="rId51"/>
    <p:sldId id="449" r:id="rId52"/>
    <p:sldId id="426" r:id="rId53"/>
    <p:sldId id="427" r:id="rId54"/>
    <p:sldId id="428" r:id="rId55"/>
    <p:sldId id="429" r:id="rId56"/>
    <p:sldId id="431" r:id="rId57"/>
    <p:sldId id="433" r:id="rId58"/>
    <p:sldId id="450" r:id="rId59"/>
    <p:sldId id="434" r:id="rId60"/>
    <p:sldId id="435" r:id="rId61"/>
    <p:sldId id="481" r:id="rId62"/>
    <p:sldId id="482" r:id="rId63"/>
    <p:sldId id="483" r:id="rId64"/>
    <p:sldId id="478" r:id="rId65"/>
    <p:sldId id="479" r:id="rId66"/>
    <p:sldId id="480" r:id="rId67"/>
    <p:sldId id="439" r:id="rId6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6699"/>
    <a:srgbClr val="5B5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0" autoAdjust="0"/>
    <p:restoredTop sz="89660" autoAdjust="0"/>
  </p:normalViewPr>
  <p:slideViewPr>
    <p:cSldViewPr>
      <p:cViewPr varScale="1">
        <p:scale>
          <a:sx n="83" d="100"/>
          <a:sy n="83" d="100"/>
        </p:scale>
        <p:origin x="96" y="11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542"/>
    </p:cViewPr>
  </p:sorterViewPr>
  <p:notesViewPr>
    <p:cSldViewPr>
      <p:cViewPr varScale="1">
        <p:scale>
          <a:sx n="63" d="100"/>
          <a:sy n="63" d="100"/>
        </p:scale>
        <p:origin x="-600" y="-6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handoutMaster" Target="handoutMasters/handout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 Nguyen" userId="29920a29033dd298" providerId="LiveId" clId="{320FBB6C-A116-4989-A7F9-5F73D3B43C3C}"/>
    <pc:docChg chg="modSld">
      <pc:chgData name="Vi Nguyen" userId="29920a29033dd298" providerId="LiveId" clId="{320FBB6C-A116-4989-A7F9-5F73D3B43C3C}" dt="2023-01-29T10:17:20.330" v="38" actId="1076"/>
      <pc:docMkLst>
        <pc:docMk/>
      </pc:docMkLst>
      <pc:sldChg chg="modSp mod">
        <pc:chgData name="Vi Nguyen" userId="29920a29033dd298" providerId="LiveId" clId="{320FBB6C-A116-4989-A7F9-5F73D3B43C3C}" dt="2023-01-29T10:17:20.330" v="38" actId="1076"/>
        <pc:sldMkLst>
          <pc:docMk/>
          <pc:sldMk cId="0" sldId="352"/>
        </pc:sldMkLst>
        <pc:spChg chg="mod">
          <ac:chgData name="Vi Nguyen" userId="29920a29033dd298" providerId="LiveId" clId="{320FBB6C-A116-4989-A7F9-5F73D3B43C3C}" dt="2023-01-29T10:17:20.330" v="38" actId="1076"/>
          <ac:spMkLst>
            <pc:docMk/>
            <pc:sldMk cId="0" sldId="352"/>
            <ac:spMk id="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2F6D35DD-CB0D-4F94-8381-AA6C7D808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430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8AB6CC8-3AA5-49ED-9890-54F60A81E2E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096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AB6CC8-3AA5-49ED-9890-54F60A81E2E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993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94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* GAO - Văn phòng Trách nhiệm Chính phủ</a:t>
            </a:r>
            <a:br>
              <a:rPr lang="vi-VN" dirty="0"/>
            </a:br>
            <a:r>
              <a:rPr lang="vi-VN" dirty="0"/>
              <a:t>** PMI - Viện Quản lý dự án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44188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3224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82012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27564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21183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2093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936527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17555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67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AB6CC8-3AA5-49ED-9890-54F60A81E2ED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3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 </a:t>
            </a:r>
            <a:r>
              <a:rPr lang="en-US" b="1" dirty="0"/>
              <a:t>What Went Right</a:t>
            </a:r>
            <a:r>
              <a:rPr lang="en-US" dirty="0"/>
              <a:t>? </a:t>
            </a:r>
            <a:br>
              <a:rPr lang="en-US" dirty="0"/>
            </a:br>
            <a:r>
              <a:rPr lang="en-US" dirty="0"/>
              <a:t>Example of Kuala Lumpur’s Integrated Transport Information System on p. 169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AB6CC8-3AA5-49ED-9890-54F60A81E2ED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92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</a:t>
            </a:r>
            <a:r>
              <a:rPr lang="en-US" b="1" dirty="0"/>
              <a:t>48-hour policy</a:t>
            </a:r>
            <a:r>
              <a:rPr lang="en-US" dirty="0"/>
              <a:t>” allows project team members to make decisions, then they have 48 hours to reverse the decision pending senior management approval…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AB6CC8-3AA5-49ED-9890-54F60A81E2ED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64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14 December 1960, 20 countries originally signed the Convention on the </a:t>
            </a:r>
            <a:r>
              <a:rPr lang="en-US" dirty="0" err="1"/>
              <a:t>Organisation</a:t>
            </a:r>
            <a:r>
              <a:rPr lang="en-US" dirty="0"/>
              <a:t> for Economic Co-operation and Development. Since then, 14 countries have become members of the </a:t>
            </a:r>
            <a:r>
              <a:rPr lang="en-US" dirty="0" err="1"/>
              <a:t>Organisation</a:t>
            </a:r>
            <a:r>
              <a:rPr lang="en-US" dirty="0"/>
              <a:t>.</a:t>
            </a:r>
            <a:r>
              <a:rPr lang="vi-VN" dirty="0"/>
              <a:t>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AB6CC8-3AA5-49ED-9890-54F60A81E2ED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2207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72857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51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12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58776-FFC7-4B73-A0BE-0A2425E770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7DE74-A85F-476A-9325-D1A08EC245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146C4-09F4-4063-8F93-37415FBBF0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AB32D2-24F7-472F-8177-F524451F4F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CF9F0A-339C-44DA-9176-9317E5A118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1DDD4A-15D1-4B69-A417-FFE4635047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F3BDB-9CC5-4FB3-99A2-C336C99C47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69F0F-D523-45AB-8D66-DBDD8D3D26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8335ED-9CF9-4241-8DCB-BE22B81DAF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189FF-18B1-4344-85A1-B95F04828F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6836F-6D21-40AC-B6D5-970BA9FEF6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C6993DF6-04DE-49F5-85F2-C7A451E1D89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1"/>
          <p:cNvSpPr txBox="1">
            <a:spLocks/>
          </p:cNvSpPr>
          <p:nvPr/>
        </p:nvSpPr>
        <p:spPr>
          <a:xfrm>
            <a:off x="5486400" y="6492875"/>
            <a:ext cx="1600200" cy="365125"/>
          </a:xfrm>
          <a:prstGeom prst="rect">
            <a:avLst/>
          </a:prstGeom>
        </p:spPr>
        <p:txBody>
          <a:bodyPr anchor="b"/>
          <a:lstStyle>
            <a:lvl1pPr algn="l">
              <a:buFontTx/>
              <a:buNone/>
              <a:defRPr smtClean="0"/>
            </a:lvl1pPr>
          </a:lstStyle>
          <a:p>
            <a:pPr>
              <a:defRPr/>
            </a:pPr>
            <a:r>
              <a:rPr lang="en-US" sz="1200">
                <a:latin typeface="+mn-lt"/>
              </a:rPr>
              <a:t>Copyright 2021</a:t>
            </a:r>
            <a:endParaRPr lang="en-US" sz="1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588375" y="6492875"/>
            <a:ext cx="555625" cy="365125"/>
          </a:xfrm>
        </p:spPr>
        <p:txBody>
          <a:bodyPr/>
          <a:lstStyle>
            <a:lvl1pPr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2B16E2C-66FB-4563-938E-00D3D3F5AFA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A8D7843-9969-4F8E-A88A-8AA20738ECB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94D1F16-3164-48C9-BE93-46E6222A945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796DE11-80E7-4489-BDD7-4B19D01BE34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3FB81-A197-44BB-AB72-5222D2F2842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480CF74-8279-4576-ACBA-9BB46C039DC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F549ACF2-A699-4C96-8233-0925DEF2DF3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C7DDF-5D95-44A0-B986-76DC6EDE5C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CE3A3-F11B-49E3-BEE8-4D3225E99C0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CCCE6BE-E0BD-4CB7-8472-8F9AEAEF8CA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Information Technology Project Management, Eighth Edition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ECCCE6BE-E0BD-4CB7-8472-8F9AEAEF8CA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Chuong%2000/2021-Chuong00-ITPM_VI-ITS344-211_D02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../Z-10KA-5P--47.pptx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Solutions/04-fig4-2.xls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jectmanager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1904039"/>
            <a:ext cx="9143999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3600" dirty="0" err="1">
                <a:solidFill>
                  <a:srgbClr val="0070C0"/>
                </a:solidFill>
                <a:effectLst/>
              </a:rPr>
              <a:t>Ch</a:t>
            </a:r>
            <a:r>
              <a:rPr lang="vi-VN" sz="3600" dirty="0">
                <a:solidFill>
                  <a:srgbClr val="0070C0"/>
                </a:solidFill>
                <a:effectLst/>
              </a:rPr>
              <a:t>ương</a:t>
            </a:r>
            <a:r>
              <a:rPr sz="3600" dirty="0">
                <a:solidFill>
                  <a:srgbClr val="0070C0"/>
                </a:solidFill>
                <a:effectLst/>
              </a:rPr>
              <a:t> </a:t>
            </a:r>
            <a:r>
              <a:rPr lang="vi-VN" sz="3600" dirty="0">
                <a:solidFill>
                  <a:srgbClr val="0070C0"/>
                </a:solidFill>
                <a:effectLst/>
              </a:rPr>
              <a:t>2</a:t>
            </a:r>
            <a:br>
              <a:rPr dirty="0">
                <a:solidFill>
                  <a:srgbClr val="0070C0"/>
                </a:solidFill>
                <a:effectLst/>
              </a:rPr>
            </a:br>
            <a:r>
              <a:rPr lang="vi-VN" sz="4400" dirty="0">
                <a:solidFill>
                  <a:srgbClr val="0070C0"/>
                </a:solidFill>
                <a:effectLst/>
              </a:rPr>
              <a:t>QUY TRÌNH QUẢN LÝ DỰ ÁN </a:t>
            </a:r>
            <a:br>
              <a:rPr lang="vi-VN" sz="4400" dirty="0">
                <a:solidFill>
                  <a:srgbClr val="0070C0"/>
                </a:solidFill>
                <a:effectLst/>
              </a:rPr>
            </a:br>
            <a:r>
              <a:rPr lang="vi-VN" sz="4400" dirty="0">
                <a:solidFill>
                  <a:srgbClr val="0070C0"/>
                </a:solidFill>
                <a:effectLst/>
              </a:rPr>
              <a:t>&amp; QUẢN LÝ TÍCH HỢP DỰ ÁN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38862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0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Project Management Process - Project Integration Management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CFD0D84-3091-4436-BAD1-5E746CF713B0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27025"/>
            <a:ext cx="83820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vi-VN" sz="3200" dirty="0">
                <a:effectLst>
                  <a:outerShdw blurRad="38100" dist="38100" dir="2700000" algn="tl">
                    <a:srgbClr val="FFFFFF"/>
                  </a:outerShdw>
                </a:effectLst>
                <a:hlinkClick r:id="rId3" action="ppaction://hlinkpres?slideindex=1&amp;slidetitle="/>
              </a:rPr>
              <a:t>QUẢN TRỊ DỰ </a:t>
            </a:r>
            <a:r>
              <a:rPr lang="vi-VN" sz="3200">
                <a:effectLst>
                  <a:outerShdw blurRad="38100" dist="38100" dir="2700000" algn="tl">
                    <a:srgbClr val="FFFFFF"/>
                  </a:outerShdw>
                </a:effectLst>
                <a:hlinkClick r:id="rId3" action="ppaction://hlinkpres?slideindex=1&amp;slidetitle="/>
              </a:rPr>
              <a:t>ÁN </a:t>
            </a:r>
            <a:r>
              <a:rPr lang="en-US" sz="3200">
                <a:effectLst>
                  <a:outerShdw blurRad="38100" dist="38100" dir="2700000" algn="tl">
                    <a:srgbClr val="FFFFFF"/>
                  </a:outerShdw>
                </a:effectLst>
                <a:hlinkClick r:id="rId3" action="ppaction://hlinkpres?slideindex=1&amp;slidetitle="/>
              </a:rPr>
              <a:t>HTTT</a:t>
            </a:r>
            <a:endParaRPr lang="vi-VN" sz="32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2514600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2060"/>
                </a:solidFill>
              </a:rPr>
              <a:t>Quy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trình</a:t>
            </a:r>
            <a:r>
              <a:rPr lang="en-US" dirty="0">
                <a:solidFill>
                  <a:srgbClr val="002060"/>
                </a:solidFill>
              </a:rPr>
              <a:t> quản lý </a:t>
            </a:r>
            <a:r>
              <a:rPr lang="en-US" dirty="0" err="1">
                <a:solidFill>
                  <a:srgbClr val="002060"/>
                </a:solidFill>
              </a:rPr>
              <a:t>dự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án</a:t>
            </a:r>
            <a:r>
              <a:rPr lang="en-US" dirty="0">
                <a:solidFill>
                  <a:srgbClr val="002060"/>
                </a:solidFill>
              </a:rPr>
              <a:t>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02060"/>
                </a:solidFill>
              </a:rPr>
              <a:t>Nắm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được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các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quy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trình</a:t>
            </a:r>
            <a:r>
              <a:rPr lang="en-US" sz="2400" dirty="0">
                <a:solidFill>
                  <a:srgbClr val="002060"/>
                </a:solidFill>
              </a:rPr>
              <a:t> QLDA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en-US" sz="400" dirty="0">
              <a:solidFill>
                <a:srgbClr val="002060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02060"/>
                </a:solidFill>
              </a:rPr>
              <a:t>Giải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thích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được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mối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quan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hệ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của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các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quy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trình</a:t>
            </a:r>
            <a:r>
              <a:rPr lang="en-US" sz="2400" dirty="0">
                <a:solidFill>
                  <a:srgbClr val="002060"/>
                </a:solidFill>
              </a:rPr>
              <a:t> QLDA </a:t>
            </a:r>
            <a:r>
              <a:rPr lang="en-US" sz="2400" dirty="0" err="1">
                <a:solidFill>
                  <a:srgbClr val="002060"/>
                </a:solidFill>
              </a:rPr>
              <a:t>với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các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lĩnh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vực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kiến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thức</a:t>
            </a:r>
            <a:r>
              <a:rPr lang="en-US" sz="2400" dirty="0">
                <a:solidFill>
                  <a:srgbClr val="002060"/>
                </a:solidFill>
              </a:rPr>
              <a:t> QLDA.</a:t>
            </a:r>
          </a:p>
          <a:p>
            <a:pPr marL="109537" indent="0" algn="just">
              <a:buNone/>
            </a:pPr>
            <a:endParaRPr lang="vi-VN" sz="12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Quản lý tích hợp dự án: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2060"/>
                </a:solidFill>
              </a:rPr>
              <a:t>Giải thích được quá trình quản lý tích hợp dự án.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vi-VN" sz="400" dirty="0">
              <a:solidFill>
                <a:srgbClr val="002060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2060"/>
                </a:solidFill>
              </a:rPr>
              <a:t>Biết được các phần mềm hỗ trợ quản lý tích hợp.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vi-VN" sz="400" dirty="0">
              <a:solidFill>
                <a:srgbClr val="002060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2060"/>
                </a:solidFill>
              </a:rPr>
              <a:t>Hiểu được các vấn đề liên quan đến quản lý tích hợp dự án HTTT.</a:t>
            </a:r>
          </a:p>
          <a:p>
            <a:pPr lvl="1" algn="just"/>
            <a:endParaRPr lang="vi-VN" sz="2400" dirty="0">
              <a:solidFill>
                <a:srgbClr val="002060"/>
              </a:solidFill>
            </a:endParaRPr>
          </a:p>
          <a:p>
            <a:pPr marL="109537" indent="0" algn="just">
              <a:buNone/>
            </a:pP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Mục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tiêu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chương</a:t>
            </a:r>
            <a:r>
              <a:rPr lang="en-US" sz="4400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21460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7D655A70-A149-4DA4-995F-382037F2D2FB}" type="slidenum">
              <a:rPr lang="en-US"/>
              <a:pPr>
                <a:buFontTx/>
                <a:buNone/>
                <a:defRPr/>
              </a:pPr>
              <a:t>3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612445" y="6096000"/>
            <a:ext cx="300755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vi-VN" sz="2000" dirty="0">
                <a:latin typeface="+mj-lt"/>
              </a:rPr>
              <a:t>Nguồn: </a:t>
            </a:r>
            <a:r>
              <a:rPr lang="vi-VN" sz="2000">
                <a:latin typeface="+mj-lt"/>
              </a:rPr>
              <a:t>Schwalbe (20</a:t>
            </a:r>
            <a:r>
              <a:rPr lang="en-US" sz="2000">
                <a:latin typeface="+mj-lt"/>
              </a:rPr>
              <a:t>19</a:t>
            </a:r>
            <a:r>
              <a:rPr lang="vi-VN" sz="2000">
                <a:latin typeface="+mj-lt"/>
              </a:rPr>
              <a:t>)</a:t>
            </a:r>
            <a:endParaRPr lang="vi-VN" sz="2000" dirty="0">
              <a:latin typeface="+mj-lt"/>
            </a:endParaRP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839200" cy="685800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/>
              <a:t>Nhắc</a:t>
            </a:r>
            <a:r>
              <a:rPr lang="en-US" sz="4400" dirty="0"/>
              <a:t> </a:t>
            </a:r>
            <a:r>
              <a:rPr lang="en-US" sz="4400" dirty="0" err="1"/>
              <a:t>lại</a:t>
            </a:r>
            <a:r>
              <a:rPr lang="en-US" sz="4400" dirty="0"/>
              <a:t> </a:t>
            </a:r>
            <a:r>
              <a:rPr lang="en-US" sz="4400" dirty="0" err="1"/>
              <a:t>kiến</a:t>
            </a:r>
            <a:r>
              <a:rPr lang="en-US" sz="4400" dirty="0"/>
              <a:t> </a:t>
            </a:r>
            <a:r>
              <a:rPr lang="en-US" sz="4400" dirty="0" err="1"/>
              <a:t>thức</a:t>
            </a:r>
            <a:endParaRPr lang="en-US" sz="4400" dirty="0"/>
          </a:p>
        </p:txBody>
      </p:sp>
      <p:sp>
        <p:nvSpPr>
          <p:cNvPr id="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3C5076-7C45-4840-9DCF-65A79C1F4BE6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20000"/>
          </a:blip>
          <a:stretch>
            <a:fillRect/>
          </a:stretch>
        </p:blipFill>
        <p:spPr>
          <a:xfrm>
            <a:off x="0" y="1295400"/>
            <a:ext cx="9159240" cy="424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1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010" y="1752600"/>
            <a:ext cx="9108989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br>
              <a:rPr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vi-VN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vi-VN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QUY TRÌNH QUẢN LÝ DỰ ÁN </a:t>
            </a:r>
            <a:br>
              <a:rPr lang="vi-VN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vi-VN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>
          <a:xfrm>
            <a:off x="723900" y="317956"/>
            <a:ext cx="78486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endParaRPr lang="vi-VN" sz="3000" b="1" u="sng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</a:endParaRPr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038600"/>
            <a:ext cx="2306307" cy="2438400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2819400"/>
            <a:ext cx="8915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US" sz="2400" spc="10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Project Management Process</a:t>
            </a:r>
          </a:p>
        </p:txBody>
      </p:sp>
    </p:spTree>
    <p:extLst>
      <p:ext uri="{BB962C8B-B14F-4D97-AF65-F5344CB8AC3E}">
        <p14:creationId xmlns:p14="http://schemas.microsoft.com/office/powerpoint/2010/main" val="3580332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23887"/>
            <a:ext cx="7772400" cy="90011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dirty="0">
                <a:effectLst/>
              </a:rPr>
              <a:t>1. QUY TRÌNH QUẢN LÝ DỰ ÁN</a:t>
            </a:r>
          </a:p>
        </p:txBody>
      </p:sp>
      <p:grpSp>
        <p:nvGrpSpPr>
          <p:cNvPr id="36" name="Group 42"/>
          <p:cNvGrpSpPr>
            <a:grpSpLocks/>
          </p:cNvGrpSpPr>
          <p:nvPr/>
        </p:nvGrpSpPr>
        <p:grpSpPr bwMode="auto">
          <a:xfrm>
            <a:off x="1142999" y="1878013"/>
            <a:ext cx="7162272" cy="914400"/>
            <a:chOff x="1296" y="1824"/>
            <a:chExt cx="3066" cy="432"/>
          </a:xfrm>
        </p:grpSpPr>
        <p:sp>
          <p:nvSpPr>
            <p:cNvPr id="41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gray">
            <a:xfrm>
              <a:off x="1776" y="1934"/>
              <a:ext cx="2586" cy="2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CÁC</a:t>
              </a: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 QUY TRÌNH </a:t>
              </a: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QUẢN LÝ DỰ ÁN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gray">
            <a:xfrm>
              <a:off x="1356" y="1914"/>
              <a:ext cx="293" cy="24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.1</a:t>
              </a:r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1143000" y="3048000"/>
            <a:ext cx="7848600" cy="914400"/>
            <a:chOff x="1296" y="1824"/>
            <a:chExt cx="3360" cy="432"/>
          </a:xfrm>
        </p:grpSpPr>
        <p:sp>
          <p:nvSpPr>
            <p:cNvPr id="46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gray">
            <a:xfrm>
              <a:off x="1776" y="1934"/>
              <a:ext cx="2880" cy="2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SỰ LIÊN QUAN </a:t>
              </a: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GIỮA CÁC </a:t>
              </a: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QUY TRÌNH</a:t>
              </a: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gray">
            <a:xfrm>
              <a:off x="1357" y="1901"/>
              <a:ext cx="293" cy="24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.2</a:t>
              </a:r>
            </a:p>
          </p:txBody>
        </p:sp>
      </p:grp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1173162" y="4267200"/>
            <a:ext cx="7281407" cy="914400"/>
            <a:chOff x="1296" y="1824"/>
            <a:chExt cx="3117" cy="432"/>
          </a:xfrm>
        </p:grpSpPr>
        <p:sp>
          <p:nvSpPr>
            <p:cNvPr id="51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 Box 60"/>
            <p:cNvSpPr txBox="1">
              <a:spLocks noChangeArrowheads="1"/>
            </p:cNvSpPr>
            <p:nvPr/>
          </p:nvSpPr>
          <p:spPr bwMode="gray">
            <a:xfrm>
              <a:off x="1776" y="1920"/>
              <a:ext cx="2637" cy="2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rPr>
                <a:t>LĨNH VỰC KIẾN THỨC VÀ QUY TRÌNH</a:t>
              </a: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gray">
            <a:xfrm>
              <a:off x="1357" y="1901"/>
              <a:ext cx="293" cy="24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.3</a:t>
              </a:r>
            </a:p>
          </p:txBody>
        </p:sp>
      </p:grpSp>
      <p:sp>
        <p:nvSpPr>
          <p:cNvPr id="1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48168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15"/>
          <p:cNvSpPr>
            <a:spLocks noGrp="1"/>
          </p:cNvSpPr>
          <p:nvPr>
            <p:ph idx="1"/>
          </p:nvPr>
        </p:nvSpPr>
        <p:spPr>
          <a:xfrm>
            <a:off x="533400" y="1981200"/>
            <a:ext cx="7086600" cy="22098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vi-VN" sz="800" dirty="0"/>
          </a:p>
          <a:p>
            <a:pPr algn="just"/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GAO</a:t>
            </a:r>
            <a:r>
              <a:rPr lang="vi-VN" sz="2400" dirty="0"/>
              <a:t>*</a:t>
            </a:r>
            <a:r>
              <a:rPr lang="vi-V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2400"/>
              <a:t>(201</a:t>
            </a:r>
            <a:r>
              <a:rPr lang="en-US" sz="2400"/>
              <a:t>6</a:t>
            </a:r>
            <a:r>
              <a:rPr lang="vi-VN" sz="2400"/>
              <a:t>): </a:t>
            </a:r>
            <a:r>
              <a:rPr lang="vi-VN" sz="2400" dirty="0"/>
              <a:t>chi phí và thời gian có sự sai lệch hơn </a:t>
            </a:r>
            <a:r>
              <a:rPr lang="vi-VN" sz="2400" b="1" dirty="0">
                <a:solidFill>
                  <a:srgbClr val="FF0000"/>
                </a:solidFill>
              </a:rPr>
              <a:t>68</a:t>
            </a:r>
            <a:r>
              <a:rPr lang="vi-VN" sz="2400" dirty="0">
                <a:solidFill>
                  <a:srgbClr val="FF0000"/>
                </a:solidFill>
              </a:rPr>
              <a:t>% </a:t>
            </a:r>
            <a:r>
              <a:rPr lang="vi-VN" sz="2400" dirty="0"/>
              <a:t>trong các dự án CNTT/HTTT.</a:t>
            </a:r>
          </a:p>
          <a:p>
            <a:pPr algn="just"/>
            <a:endParaRPr lang="vi-VN" sz="800" dirty="0"/>
          </a:p>
          <a:p>
            <a:pPr algn="just"/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PMI</a:t>
            </a:r>
            <a:r>
              <a:rPr lang="vi-VN" sz="2400" dirty="0">
                <a:latin typeface="Arial (Body)"/>
              </a:rPr>
              <a:t>**</a:t>
            </a:r>
            <a:r>
              <a:rPr lang="vi-V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 </a:t>
            </a:r>
            <a:r>
              <a:rPr lang="vi-VN" sz="2400">
                <a:latin typeface="Arial (Body)"/>
              </a:rPr>
              <a:t>(201</a:t>
            </a:r>
            <a:r>
              <a:rPr lang="en-US" sz="2400">
                <a:latin typeface="Arial (Body)"/>
              </a:rPr>
              <a:t>7</a:t>
            </a:r>
            <a:r>
              <a:rPr lang="vi-VN" sz="2400">
                <a:latin typeface="Arial (Body)"/>
              </a:rPr>
              <a:t>) </a:t>
            </a:r>
            <a:r>
              <a:rPr lang="vi-VN" sz="2400" b="1" dirty="0">
                <a:solidFill>
                  <a:srgbClr val="FF0000"/>
                </a:solidFill>
                <a:latin typeface="Arial (Body)"/>
              </a:rPr>
              <a:t>32</a:t>
            </a:r>
            <a:r>
              <a:rPr lang="vi-VN" sz="2400" dirty="0">
                <a:solidFill>
                  <a:srgbClr val="FF0000"/>
                </a:solidFill>
                <a:latin typeface="Arial (Body)"/>
              </a:rPr>
              <a:t>% </a:t>
            </a:r>
            <a:r>
              <a:rPr lang="vi-VN" sz="2400" dirty="0">
                <a:latin typeface="Arial (Body)"/>
              </a:rPr>
              <a:t>dự án gặp thất bại do có quy trình QLDA không tốt.</a:t>
            </a:r>
            <a:endParaRPr lang="en-US" sz="2400" dirty="0"/>
          </a:p>
        </p:txBody>
      </p:sp>
      <p:sp>
        <p:nvSpPr>
          <p:cNvPr id="1331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</a:t>
            </a:r>
            <a:r>
              <a:rPr lang="en-US" sz="3600" dirty="0" err="1"/>
              <a:t>thất</a:t>
            </a:r>
            <a:r>
              <a:rPr lang="en-US" sz="3600" dirty="0"/>
              <a:t> </a:t>
            </a:r>
            <a:r>
              <a:rPr lang="en-US" sz="3600" dirty="0" err="1"/>
              <a:t>bại</a:t>
            </a:r>
            <a:r>
              <a:rPr lang="en-US" sz="3600" dirty="0"/>
              <a:t>?</a:t>
            </a:r>
          </a:p>
        </p:txBody>
      </p:sp>
      <p:pic>
        <p:nvPicPr>
          <p:cNvPr id="7" name="Picture 6" descr="transparent fail red word failur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542" y="1249886"/>
            <a:ext cx="1530858" cy="103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33400" y="4724400"/>
            <a:ext cx="5105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700" dirty="0"/>
              <a:t>*</a:t>
            </a:r>
            <a:r>
              <a:rPr lang="en-US" sz="1800" dirty="0"/>
              <a:t> GAO - Government Accountability Office</a:t>
            </a:r>
            <a:br>
              <a:rPr lang="en-US" sz="1800" dirty="0"/>
            </a:br>
            <a:r>
              <a:rPr lang="en-US" sz="1800" dirty="0"/>
              <a:t>** PMI - Project Management Institute</a:t>
            </a:r>
          </a:p>
          <a:p>
            <a:br>
              <a:rPr lang="en-US" sz="1800" dirty="0"/>
            </a:br>
            <a:endParaRPr 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84310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vi-VN" b="1" dirty="0"/>
              <a:t>Quy trình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process</a:t>
            </a:r>
            <a:r>
              <a:rPr lang="vi-VN" dirty="0"/>
              <a:t>): một loạt các hành động hướng tới các kết quả cụ thể.</a:t>
            </a:r>
          </a:p>
          <a:p>
            <a:pPr algn="just">
              <a:lnSpc>
                <a:spcPct val="90000"/>
              </a:lnSpc>
            </a:pPr>
            <a:endParaRPr lang="vi-VN" sz="800" dirty="0"/>
          </a:p>
          <a:p>
            <a:pPr algn="just">
              <a:lnSpc>
                <a:spcPct val="90000"/>
              </a:lnSpc>
            </a:pPr>
            <a:r>
              <a:rPr lang="vi-VN" dirty="0"/>
              <a:t>QLDA là các quy trình có liên quan với nhau.</a:t>
            </a:r>
          </a:p>
          <a:p>
            <a:pPr algn="just">
              <a:lnSpc>
                <a:spcPct val="90000"/>
              </a:lnSpc>
            </a:pPr>
            <a:endParaRPr lang="vi-VN" sz="800" dirty="0"/>
          </a:p>
          <a:p>
            <a:pPr algn="just">
              <a:lnSpc>
                <a:spcPct val="90000"/>
              </a:lnSpc>
            </a:pPr>
            <a:r>
              <a:rPr lang="vi-V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/>
              <a:t>nhóm quy trình QLDA...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FF0000"/>
                </a:solidFill>
              </a:rPr>
              <a:t>(1) Khởi tạo </a:t>
            </a:r>
            <a:r>
              <a:rPr lang="vi-VN" sz="2400" dirty="0"/>
              <a:t>(</a:t>
            </a:r>
            <a:r>
              <a:rPr lang="vi-VN" sz="2400" dirty="0">
                <a:solidFill>
                  <a:srgbClr val="0070C0"/>
                </a:solidFill>
              </a:rPr>
              <a:t>initiating</a:t>
            </a:r>
            <a:r>
              <a:rPr lang="vi-VN" sz="2400" dirty="0"/>
              <a:t>)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FF0000"/>
                </a:solidFill>
              </a:rPr>
              <a:t>(2) Lập kế hoạch </a:t>
            </a:r>
            <a:r>
              <a:rPr lang="vi-VN" sz="2400" dirty="0"/>
              <a:t>(</a:t>
            </a:r>
            <a:r>
              <a:rPr lang="vi-VN" sz="2400" dirty="0">
                <a:solidFill>
                  <a:srgbClr val="0070C0"/>
                </a:solidFill>
              </a:rPr>
              <a:t>planning</a:t>
            </a:r>
            <a:r>
              <a:rPr lang="vi-VN" sz="2400" dirty="0"/>
              <a:t>)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FF0000"/>
                </a:solidFill>
              </a:rPr>
              <a:t>(3) Thực thi </a:t>
            </a:r>
            <a:r>
              <a:rPr lang="vi-VN" sz="2400" dirty="0"/>
              <a:t>(</a:t>
            </a:r>
            <a:r>
              <a:rPr lang="vi-VN" sz="2400" dirty="0">
                <a:solidFill>
                  <a:srgbClr val="0070C0"/>
                </a:solidFill>
              </a:rPr>
              <a:t>executing</a:t>
            </a:r>
            <a:r>
              <a:rPr lang="vi-VN" sz="2400" dirty="0"/>
              <a:t>)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FF0000"/>
                </a:solidFill>
              </a:rPr>
              <a:t>(4) Điều khiển - kiểm soát </a:t>
            </a:r>
            <a:r>
              <a:rPr lang="vi-VN" sz="2400" dirty="0"/>
              <a:t>(</a:t>
            </a:r>
            <a:r>
              <a:rPr lang="vi-VN" sz="2400" dirty="0">
                <a:solidFill>
                  <a:srgbClr val="0070C0"/>
                </a:solidFill>
              </a:rPr>
              <a:t>monitoring &amp; controlling</a:t>
            </a:r>
            <a:r>
              <a:rPr lang="vi-VN" sz="2400" dirty="0"/>
              <a:t>)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FF0000"/>
                </a:solidFill>
              </a:rPr>
              <a:t>(5) Kết thúc </a:t>
            </a:r>
            <a:r>
              <a:rPr lang="vi-VN" sz="2400" dirty="0"/>
              <a:t>(</a:t>
            </a:r>
            <a:r>
              <a:rPr lang="vi-VN" sz="2400" dirty="0">
                <a:solidFill>
                  <a:srgbClr val="0070C0"/>
                </a:solidFill>
              </a:rPr>
              <a:t>closing</a:t>
            </a:r>
            <a:r>
              <a:rPr lang="vi-VN" sz="2400" dirty="0"/>
              <a:t>).</a:t>
            </a:r>
          </a:p>
          <a:p>
            <a:pPr algn="just">
              <a:lnSpc>
                <a:spcPct val="90000"/>
              </a:lnSpc>
            </a:pPr>
            <a:endParaRPr lang="en-US" dirty="0"/>
          </a:p>
          <a:p>
            <a:pPr algn="just">
              <a:lnSpc>
                <a:spcPct val="90000"/>
              </a:lnSpc>
            </a:pPr>
            <a:endParaRPr lang="en-US" dirty="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1.1 </a:t>
            </a:r>
            <a:r>
              <a:rPr lang="en-US" sz="4400" dirty="0" err="1">
                <a:solidFill>
                  <a:srgbClr val="FF0000"/>
                </a:solidFill>
              </a:rPr>
              <a:t>Các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quy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trình</a:t>
            </a:r>
            <a:r>
              <a:rPr lang="en-US" sz="4400" dirty="0">
                <a:solidFill>
                  <a:srgbClr val="FF0000"/>
                </a:solidFill>
              </a:rPr>
              <a:t> quản lý </a:t>
            </a:r>
            <a:r>
              <a:rPr lang="en-US" sz="4400" dirty="0" err="1">
                <a:solidFill>
                  <a:srgbClr val="FF0000"/>
                </a:solidFill>
              </a:rPr>
              <a:t>dự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án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AED908-43D9-4212-A793-D8372221D34A}" type="slidenum">
              <a:rPr lang="en-US" sz="1000"/>
              <a:pPr>
                <a:defRPr/>
              </a:pPr>
              <a:t>7</a:t>
            </a:fld>
            <a:endParaRPr lang="en-US" sz="1000" dirty="0"/>
          </a:p>
        </p:txBody>
      </p:sp>
      <p:sp>
        <p:nvSpPr>
          <p:cNvPr id="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75070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1" y="228600"/>
            <a:ext cx="9067800" cy="2781300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0" y="2895600"/>
            <a:ext cx="3657600" cy="2895600"/>
          </a:xfrm>
        </p:spPr>
        <p:txBody>
          <a:bodyPr/>
          <a:lstStyle/>
          <a:p>
            <a:pPr marL="109537" indent="0" algn="just">
              <a:lnSpc>
                <a:spcPct val="90000"/>
              </a:lnSpc>
              <a:buNone/>
            </a:pPr>
            <a:r>
              <a:rPr lang="vi-V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dự án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định nghĩa và cấp phép cho dự án hoặc giai đoạn.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 algn="just">
              <a:lnSpc>
                <a:spcPct val="90000"/>
              </a:lnSpc>
              <a:buNone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Lĩnh vực kiến thức liên quan [2]: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tích hợp, và các bên liên quan.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0" y="685800"/>
            <a:ext cx="1752600" cy="1828800"/>
          </a:xfrm>
          <a:prstGeom prst="roundRect">
            <a:avLst/>
          </a:prstGeom>
          <a:noFill/>
          <a:ln w="82550" cmpd="sng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8324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1" y="228600"/>
            <a:ext cx="9067800" cy="2781300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2895600"/>
            <a:ext cx="4038600" cy="2895600"/>
          </a:xfrm>
        </p:spPr>
        <p:txBody>
          <a:bodyPr/>
          <a:lstStyle/>
          <a:p>
            <a:pPr marL="109537" indent="0" algn="just">
              <a:lnSpc>
                <a:spcPct val="90000"/>
              </a:lnSpc>
              <a:buNone/>
            </a:pPr>
            <a:r>
              <a:rPr lang="vi-V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Lập kế hoạch dự án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sàng lọc các mục tiêu và lựa chọn phương án tốt nhất để đạt được các mục tiêu dự án.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 algn="just">
              <a:lnSpc>
                <a:spcPct val="90000"/>
              </a:lnSpc>
              <a:buNone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Lĩnh vực kiến thức liên quan [10]: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tất cả...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2600" y="685800"/>
            <a:ext cx="1927860" cy="1828800"/>
          </a:xfrm>
          <a:prstGeom prst="roundRect">
            <a:avLst/>
          </a:prstGeom>
          <a:noFill/>
          <a:ln w="82550" cmpd="sng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0931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1" y="228600"/>
            <a:ext cx="9067800" cy="2781300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2819400" y="2971800"/>
            <a:ext cx="4114800" cy="3352800"/>
          </a:xfrm>
        </p:spPr>
        <p:txBody>
          <a:bodyPr/>
          <a:lstStyle/>
          <a:p>
            <a:pPr marL="109537" indent="0" algn="just">
              <a:lnSpc>
                <a:spcPct val="90000"/>
              </a:lnSpc>
              <a:buNone/>
            </a:pPr>
            <a:r>
              <a:rPr lang="vi-V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 thi dự án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quản lý và phân bổ nguồn lực để thực hiện kế hoạch dự án.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 algn="just">
              <a:lnSpc>
                <a:spcPct val="90000"/>
              </a:lnSpc>
              <a:buNone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Lĩnh vực kiến thức liên quan [6]: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tích hợp, chất lượng, truyền thông, nguồn nhân lực, mua hàng, và các bên liên quan...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83726" y="685800"/>
            <a:ext cx="1927860" cy="1828800"/>
          </a:xfrm>
          <a:prstGeom prst="roundRect">
            <a:avLst/>
          </a:prstGeom>
          <a:noFill/>
          <a:ln w="82550" cmpd="sng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70354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1" y="228600"/>
            <a:ext cx="9067800" cy="2781300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4572000" y="3048000"/>
            <a:ext cx="4114800" cy="2895600"/>
          </a:xfrm>
        </p:spPr>
        <p:txBody>
          <a:bodyPr/>
          <a:lstStyle/>
          <a:p>
            <a:pPr marL="109537" indent="0" algn="just">
              <a:lnSpc>
                <a:spcPct val="90000"/>
              </a:lnSpc>
              <a:buNone/>
            </a:pPr>
            <a:r>
              <a:rPr lang="vi-V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Điều khiển - kiểm soát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theo dõi việc thực thi về tiến độ, rủi ro, các thay đổi... và có những đề xuất điều chỉnh kịp thời.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 algn="just">
              <a:lnSpc>
                <a:spcPct val="90000"/>
              </a:lnSpc>
              <a:buNone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Lĩnh vực kiến thức liên quan [9]: trừ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nguồn nhân lực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38800" y="685800"/>
            <a:ext cx="1752600" cy="1828800"/>
          </a:xfrm>
          <a:prstGeom prst="roundRect">
            <a:avLst/>
          </a:prstGeom>
          <a:noFill/>
          <a:ln w="82550" cmpd="sng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89752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1" y="228600"/>
            <a:ext cx="9067800" cy="2781300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5410200" y="3048000"/>
            <a:ext cx="3657600" cy="3276600"/>
          </a:xfrm>
        </p:spPr>
        <p:txBody>
          <a:bodyPr/>
          <a:lstStyle/>
          <a:p>
            <a:pPr marL="109537" indent="0" algn="just">
              <a:lnSpc>
                <a:spcPct val="90000"/>
              </a:lnSpc>
              <a:buNone/>
            </a:pPr>
            <a:r>
              <a:rPr lang="vi-V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thúc dự án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đạt được ký kết hoàn thành và sự chấp nhận chính thức của dự án.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 algn="just">
              <a:lnSpc>
                <a:spcPct val="90000"/>
              </a:lnSpc>
              <a:buNone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Lĩnh vực kiến thức liên quan [2]: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tích hợp, và mua hàng.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vi-V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3726" y="685800"/>
            <a:ext cx="1600200" cy="1828800"/>
          </a:xfrm>
          <a:prstGeom prst="roundRect">
            <a:avLst/>
          </a:prstGeom>
          <a:noFill/>
          <a:ln w="82550" cmpd="sng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421610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0668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Thời</a:t>
            </a:r>
            <a:r>
              <a:rPr lang="en-US" sz="3600" dirty="0"/>
              <a:t> </a:t>
            </a:r>
            <a:r>
              <a:rPr lang="en-US" sz="3600" dirty="0" err="1"/>
              <a:t>gian</a:t>
            </a:r>
            <a:r>
              <a:rPr lang="en-US" sz="3600" dirty="0"/>
              <a:t> </a:t>
            </a:r>
            <a:r>
              <a:rPr lang="en-US" sz="3600" dirty="0" err="1"/>
              <a:t>trong</a:t>
            </a:r>
            <a:r>
              <a:rPr lang="en-US" sz="3600" dirty="0"/>
              <a:t> </a:t>
            </a:r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quy</a:t>
            </a:r>
            <a:r>
              <a:rPr lang="en-US" sz="3600" dirty="0"/>
              <a:t> </a:t>
            </a:r>
            <a:r>
              <a:rPr lang="en-US" sz="3600" dirty="0" err="1"/>
              <a:t>trình</a:t>
            </a:r>
            <a:r>
              <a:rPr lang="en-US" sz="3600" dirty="0"/>
              <a:t> QLDA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858" y="6096000"/>
            <a:ext cx="329154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vi-VN" sz="2000" dirty="0"/>
              <a:t>Nguồn: Ande Crowe</a:t>
            </a:r>
            <a:r>
              <a:rPr lang="vi-VN" sz="2000" dirty="0">
                <a:solidFill>
                  <a:srgbClr val="0070C0"/>
                </a:solidFill>
              </a:rPr>
              <a:t> </a:t>
            </a:r>
            <a:r>
              <a:rPr lang="vi-VN" sz="2000" dirty="0"/>
              <a:t>(2006)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511"/>
            <a:ext cx="8996363" cy="476448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242957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1143000"/>
            <a:ext cx="8737665" cy="4648200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077200" cy="685800"/>
          </a:xfrm>
        </p:spPr>
        <p:txBody>
          <a:bodyPr>
            <a:noAutofit/>
          </a:bodyPr>
          <a:lstStyle/>
          <a:p>
            <a:pPr algn="ctr"/>
            <a:r>
              <a:rPr lang="vi-VN" sz="3600" dirty="0"/>
              <a:t>Sự tương tác trong dự án</a:t>
            </a:r>
            <a:endParaRPr lang="en-US" sz="3600" dirty="0"/>
          </a:p>
        </p:txBody>
      </p:sp>
      <p:sp>
        <p:nvSpPr>
          <p:cNvPr id="2" name="Rectangle 1"/>
          <p:cNvSpPr/>
          <p:nvPr/>
        </p:nvSpPr>
        <p:spPr>
          <a:xfrm>
            <a:off x="4572000" y="6076890"/>
            <a:ext cx="2820003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vi-VN" sz="2000" dirty="0"/>
              <a:t>Nguồn: PMBOK</a:t>
            </a:r>
            <a:r>
              <a:rPr lang="vi-V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2000"/>
              <a:t>(201</a:t>
            </a:r>
            <a:r>
              <a:rPr lang="en-US" sz="2000"/>
              <a:t>7</a:t>
            </a:r>
            <a:r>
              <a:rPr lang="vi-VN" sz="2000"/>
              <a:t>)</a:t>
            </a:r>
            <a:endParaRPr lang="vi-V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04966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/>
          <p:cNvCxnSpPr/>
          <p:nvPr/>
        </p:nvCxnSpPr>
        <p:spPr>
          <a:xfrm flipV="1">
            <a:off x="6391275" y="3886200"/>
            <a:ext cx="1143000" cy="12954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514475" y="3810000"/>
            <a:ext cx="914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952875" y="2438400"/>
            <a:ext cx="914400" cy="12192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952875" y="3962400"/>
            <a:ext cx="1066800" cy="11430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1.2 </a:t>
            </a:r>
            <a:r>
              <a:rPr lang="en-US" sz="4000" dirty="0" err="1">
                <a:solidFill>
                  <a:srgbClr val="FF0000"/>
                </a:solidFill>
              </a:rPr>
              <a:t>Sự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liên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quan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giữa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các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quy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trình</a:t>
            </a:r>
            <a:endParaRPr lang="en-US" sz="4000" dirty="0">
              <a:solidFill>
                <a:srgbClr val="FF0000"/>
              </a:solidFill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5476875" y="2971800"/>
            <a:ext cx="0" cy="1447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6010275" y="3276600"/>
            <a:ext cx="0" cy="1447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4448175"/>
            <a:ext cx="1581150" cy="16478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275" y="2819400"/>
            <a:ext cx="1457325" cy="16764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875" y="2971800"/>
            <a:ext cx="1609725" cy="1628775"/>
          </a:xfrm>
          <a:prstGeom prst="rect">
            <a:avLst/>
          </a:prstGeom>
        </p:spPr>
      </p:pic>
      <p:cxnSp>
        <p:nvCxnSpPr>
          <p:cNvPr id="37" name="Straight Arrow Connector 36"/>
          <p:cNvCxnSpPr/>
          <p:nvPr/>
        </p:nvCxnSpPr>
        <p:spPr>
          <a:xfrm>
            <a:off x="6467475" y="2438400"/>
            <a:ext cx="1066800" cy="1066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275" y="1609725"/>
            <a:ext cx="1685925" cy="1666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75" y="2981325"/>
            <a:ext cx="1466850" cy="166687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1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17447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895350"/>
            <a:ext cx="9191625" cy="5962650"/>
          </a:xfrm>
          <a:prstGeom prst="rect">
            <a:avLst/>
          </a:prstGeom>
        </p:spPr>
      </p:pic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1.3 </a:t>
            </a:r>
            <a:r>
              <a:rPr lang="en-US" sz="3600" dirty="0" err="1">
                <a:solidFill>
                  <a:srgbClr val="FF0000"/>
                </a:solidFill>
                <a:hlinkClick r:id="rId3" action="ppaction://hlinkpres?slideindex=1&amp;slidetitle="/>
              </a:rPr>
              <a:t>Lĩnh</a:t>
            </a:r>
            <a:r>
              <a:rPr lang="en-US" sz="3600" dirty="0">
                <a:solidFill>
                  <a:srgbClr val="FF0000"/>
                </a:solidFill>
                <a:hlinkClick r:id="rId3" action="ppaction://hlinkpres?slideindex=1&amp;slidetitle="/>
              </a:rPr>
              <a:t> </a:t>
            </a:r>
            <a:r>
              <a:rPr lang="en-US" sz="3600" dirty="0" err="1">
                <a:solidFill>
                  <a:srgbClr val="FF0000"/>
                </a:solidFill>
                <a:hlinkClick r:id="rId3" action="ppaction://hlinkpres?slideindex=1&amp;slidetitle="/>
              </a:rPr>
              <a:t>vực</a:t>
            </a:r>
            <a:r>
              <a:rPr lang="en-US" sz="3600" dirty="0">
                <a:solidFill>
                  <a:srgbClr val="FF0000"/>
                </a:solidFill>
                <a:hlinkClick r:id="rId3" action="ppaction://hlinkpres?slideindex=1&amp;slidetitle="/>
              </a:rPr>
              <a:t> </a:t>
            </a:r>
            <a:r>
              <a:rPr lang="en-US" sz="3600" dirty="0" err="1">
                <a:solidFill>
                  <a:srgbClr val="FF0000"/>
                </a:solidFill>
                <a:hlinkClick r:id="rId3" action="ppaction://hlinkpres?slideindex=1&amp;slidetitle="/>
              </a:rPr>
              <a:t>kiến</a:t>
            </a:r>
            <a:r>
              <a:rPr lang="en-US" sz="3600" dirty="0">
                <a:solidFill>
                  <a:srgbClr val="FF0000"/>
                </a:solidFill>
                <a:hlinkClick r:id="rId3" action="ppaction://hlinkpres?slideindex=1&amp;slidetitle="/>
              </a:rPr>
              <a:t> </a:t>
            </a:r>
            <a:r>
              <a:rPr lang="en-US" sz="3600" dirty="0" err="1">
                <a:solidFill>
                  <a:srgbClr val="FF0000"/>
                </a:solidFill>
                <a:hlinkClick r:id="rId3" action="ppaction://hlinkpres?slideindex=1&amp;slidetitle="/>
              </a:rPr>
              <a:t>thức</a:t>
            </a:r>
            <a:r>
              <a:rPr lang="en-US" sz="3600" dirty="0">
                <a:solidFill>
                  <a:srgbClr val="FF0000"/>
                </a:solidFill>
                <a:hlinkClick r:id="rId3" action="ppaction://hlinkpres?slideindex=1&amp;slidetitle="/>
              </a:rPr>
              <a:t> và </a:t>
            </a:r>
            <a:r>
              <a:rPr lang="en-US" sz="3600" dirty="0" err="1">
                <a:solidFill>
                  <a:srgbClr val="FF0000"/>
                </a:solidFill>
                <a:hlinkClick r:id="rId3" action="ppaction://hlinkpres?slideindex=1&amp;slidetitle="/>
              </a:rPr>
              <a:t>quy</a:t>
            </a:r>
            <a:r>
              <a:rPr lang="en-US" sz="3600" dirty="0">
                <a:solidFill>
                  <a:srgbClr val="FF0000"/>
                </a:solidFill>
                <a:hlinkClick r:id="rId3" action="ppaction://hlinkpres?slideindex=1&amp;slidetitle="/>
              </a:rPr>
              <a:t> </a:t>
            </a:r>
            <a:r>
              <a:rPr lang="en-US" sz="3600" dirty="0" err="1">
                <a:solidFill>
                  <a:srgbClr val="FF0000"/>
                </a:solidFill>
                <a:hlinkClick r:id="rId3" action="ppaction://hlinkpres?slideindex=1&amp;slidetitle="/>
              </a:rPr>
              <a:t>trình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074" y="1676400"/>
            <a:ext cx="1702526" cy="5181600"/>
          </a:xfrm>
          <a:prstGeom prst="roundRect">
            <a:avLst/>
          </a:prstGeom>
          <a:noFill/>
          <a:ln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ounded Rectangle 9"/>
          <p:cNvSpPr/>
          <p:nvPr/>
        </p:nvSpPr>
        <p:spPr>
          <a:xfrm>
            <a:off x="1817915" y="1219200"/>
            <a:ext cx="7086600" cy="415834"/>
          </a:xfrm>
          <a:prstGeom prst="roundRect">
            <a:avLst/>
          </a:prstGeom>
          <a:noFill/>
          <a:ln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604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96DE11-80E7-4489-BDD7-4B19D01BE34D}" type="slidenum">
              <a:rPr lang="en-US" sz="1000" smtClean="0"/>
              <a:pPr>
                <a:defRPr/>
              </a:pPr>
              <a:t>17</a:t>
            </a:fld>
            <a:endParaRPr lang="en-US" sz="1000" dirty="0"/>
          </a:p>
        </p:txBody>
      </p:sp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533400" y="2514600"/>
            <a:ext cx="6934200" cy="18364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vi-V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vi-V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PMI</a:t>
            </a:r>
            <a:r>
              <a:rPr lang="vi-VN" sz="24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vi-VN" sz="2400">
                <a:latin typeface="+mn-lt"/>
              </a:rPr>
              <a:t>(20</a:t>
            </a:r>
            <a:r>
              <a:rPr lang="en-US" sz="2400">
                <a:latin typeface="+mn-lt"/>
              </a:rPr>
              <a:t>19</a:t>
            </a:r>
            <a:r>
              <a:rPr lang="vi-VN" sz="2400">
                <a:latin typeface="+mn-lt"/>
              </a:rPr>
              <a:t>): </a:t>
            </a:r>
            <a:r>
              <a:rPr lang="vi-VN" sz="2400" dirty="0">
                <a:latin typeface="+mn-lt"/>
              </a:rPr>
              <a:t>thống kê về sự thành công dự án</a:t>
            </a:r>
          </a:p>
          <a:p>
            <a:pPr marL="800100" lvl="1" indent="-234950" algn="just">
              <a:spcBef>
                <a:spcPts val="400"/>
              </a:spcBef>
              <a:buClr>
                <a:schemeClr val="accent1"/>
              </a:buClr>
              <a:buSzPct val="68000"/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FF0000"/>
                </a:solidFill>
                <a:latin typeface="+mn-lt"/>
              </a:rPr>
              <a:t>90</a:t>
            </a:r>
            <a:r>
              <a:rPr lang="vi-VN" sz="2400">
                <a:solidFill>
                  <a:srgbClr val="FF0000"/>
                </a:solidFill>
                <a:latin typeface="+mn-lt"/>
              </a:rPr>
              <a:t>%</a:t>
            </a:r>
            <a:r>
              <a:rPr lang="vi-VN" sz="2400">
                <a:latin typeface="+mn-lt"/>
              </a:rPr>
              <a:t> </a:t>
            </a:r>
            <a:r>
              <a:rPr lang="vi-VN" sz="2400" dirty="0">
                <a:latin typeface="+mn-lt"/>
              </a:rPr>
              <a:t>khi có quy trình QLDA tốt </a:t>
            </a:r>
          </a:p>
          <a:p>
            <a:pPr marL="800100" lvl="1" indent="-234950" algn="just">
              <a:spcBef>
                <a:spcPts val="400"/>
              </a:spcBef>
              <a:buClr>
                <a:schemeClr val="accent1"/>
              </a:buClr>
              <a:buSzPct val="68000"/>
              <a:buFont typeface="Arial" panose="020B0604020202020204" pitchFamily="34" charset="0"/>
              <a:buChar char="•"/>
            </a:pPr>
            <a:r>
              <a:rPr lang="vi-VN" sz="2400" b="1">
                <a:solidFill>
                  <a:srgbClr val="FF0000"/>
                </a:solidFill>
                <a:latin typeface="+mn-lt"/>
              </a:rPr>
              <a:t>3</a:t>
            </a:r>
            <a:r>
              <a:rPr lang="en-US" sz="2400" b="1">
                <a:solidFill>
                  <a:srgbClr val="FF0000"/>
                </a:solidFill>
                <a:latin typeface="+mn-lt"/>
              </a:rPr>
              <a:t>5</a:t>
            </a:r>
            <a:r>
              <a:rPr lang="vi-VN" sz="2400">
                <a:solidFill>
                  <a:srgbClr val="FF0000"/>
                </a:solidFill>
                <a:latin typeface="+mn-lt"/>
              </a:rPr>
              <a:t>%</a:t>
            </a:r>
            <a:r>
              <a:rPr lang="vi-VN" sz="2400">
                <a:latin typeface="+mn-lt"/>
              </a:rPr>
              <a:t> </a:t>
            </a:r>
            <a:r>
              <a:rPr lang="vi-VN" sz="2400" dirty="0">
                <a:latin typeface="+mn-lt"/>
              </a:rPr>
              <a:t>khi </a:t>
            </a:r>
            <a:r>
              <a:rPr lang="vi-VN" sz="2400" i="1" dirty="0">
                <a:latin typeface="+mn-lt"/>
              </a:rPr>
              <a:t>không</a:t>
            </a:r>
            <a:r>
              <a:rPr lang="vi-VN" sz="2400" dirty="0">
                <a:latin typeface="+mn-lt"/>
              </a:rPr>
              <a:t> có quy trình QLDA tốt.</a:t>
            </a:r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vi-VN" sz="1600" dirty="0">
              <a:latin typeface="+mn-lt"/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</a:t>
            </a:r>
            <a:r>
              <a:rPr lang="en-US" sz="3600" dirty="0" err="1"/>
              <a:t>thành</a:t>
            </a:r>
            <a:r>
              <a:rPr lang="en-US" sz="3600" dirty="0"/>
              <a:t> </a:t>
            </a:r>
            <a:r>
              <a:rPr lang="en-US" sz="3600" dirty="0" err="1"/>
              <a:t>công</a:t>
            </a:r>
            <a:r>
              <a:rPr lang="en-US" sz="3600" dirty="0"/>
              <a:t>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84826">
            <a:off x="7301377" y="1734930"/>
            <a:ext cx="1773205" cy="682002"/>
          </a:xfrm>
          <a:prstGeom prst="rect">
            <a:avLst/>
          </a:prstGeom>
        </p:spPr>
      </p:pic>
      <p:sp>
        <p:nvSpPr>
          <p:cNvPr id="10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95400"/>
            <a:ext cx="9154287" cy="4454641"/>
          </a:xfrm>
          <a:prstGeom prst="rect">
            <a:avLst/>
          </a:prstGeom>
        </p:spPr>
      </p:pic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8382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Mô</a:t>
            </a:r>
            <a:r>
              <a:rPr lang="en-US" sz="3600" dirty="0"/>
              <a:t> </a:t>
            </a:r>
            <a:r>
              <a:rPr lang="en-US" sz="3600" dirty="0" err="1"/>
              <a:t>hình</a:t>
            </a:r>
            <a:r>
              <a:rPr lang="en-US" sz="3600" dirty="0"/>
              <a:t> </a:t>
            </a:r>
            <a:r>
              <a:rPr lang="en-US" sz="3600" dirty="0" err="1"/>
              <a:t>thành</a:t>
            </a:r>
            <a:r>
              <a:rPr lang="en-US" sz="3600" dirty="0"/>
              <a:t> </a:t>
            </a:r>
            <a:r>
              <a:rPr lang="en-US" sz="3600" dirty="0" err="1"/>
              <a:t>công</a:t>
            </a:r>
            <a:r>
              <a:rPr lang="en-US" sz="3600" dirty="0"/>
              <a:t> </a:t>
            </a:r>
            <a:r>
              <a:rPr lang="en-US" sz="3600" dirty="0" err="1"/>
              <a:t>của</a:t>
            </a:r>
            <a:r>
              <a:rPr lang="en-US" sz="3600" dirty="0"/>
              <a:t> HTTT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35954" y="6000690"/>
            <a:ext cx="4017446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vi-VN" sz="2000" dirty="0"/>
              <a:t>Nguồn: DeLone &amp; McLean</a:t>
            </a:r>
            <a:r>
              <a:rPr lang="vi-VN" sz="2000" dirty="0">
                <a:solidFill>
                  <a:srgbClr val="0070C0"/>
                </a:solidFill>
              </a:rPr>
              <a:t> </a:t>
            </a:r>
            <a:r>
              <a:rPr lang="vi-VN" sz="2000" dirty="0"/>
              <a:t>(2003)</a:t>
            </a:r>
          </a:p>
        </p:txBody>
      </p:sp>
      <p:sp>
        <p:nvSpPr>
          <p:cNvPr id="3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353660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-10297" y="1676400"/>
            <a:ext cx="9108989" cy="11439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vi-VN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QUẢN LÝ TÍCH HỢP DỰ ÁN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2819400"/>
            <a:ext cx="8686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US" sz="2400" spc="7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Project Integration Management</a:t>
            </a:r>
          </a:p>
        </p:txBody>
      </p:sp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990975"/>
            <a:ext cx="1963126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32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90011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QUẢN LÝ TÍCH HỢP DỰ ÁN</a:t>
            </a:r>
          </a:p>
        </p:txBody>
      </p:sp>
      <p:grpSp>
        <p:nvGrpSpPr>
          <p:cNvPr id="36" name="Group 42"/>
          <p:cNvGrpSpPr>
            <a:grpSpLocks/>
          </p:cNvGrpSpPr>
          <p:nvPr/>
        </p:nvGrpSpPr>
        <p:grpSpPr bwMode="auto">
          <a:xfrm>
            <a:off x="1142999" y="990600"/>
            <a:ext cx="6952029" cy="762000"/>
            <a:chOff x="1296" y="1824"/>
            <a:chExt cx="2976" cy="432"/>
          </a:xfrm>
        </p:grpSpPr>
        <p:sp>
          <p:nvSpPr>
            <p:cNvPr id="41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gray">
            <a:xfrm>
              <a:off x="1776" y="1934"/>
              <a:ext cx="2431" cy="2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TỔNG QUAN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gray">
            <a:xfrm>
              <a:off x="1357" y="1886"/>
              <a:ext cx="293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2.0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1143000" y="1779587"/>
            <a:ext cx="7848600" cy="762000"/>
            <a:chOff x="1296" y="1824"/>
            <a:chExt cx="3360" cy="432"/>
          </a:xfrm>
        </p:grpSpPr>
        <p:sp>
          <p:nvSpPr>
            <p:cNvPr id="46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gray">
            <a:xfrm>
              <a:off x="1776" y="1934"/>
              <a:ext cx="2880" cy="2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PHÁT TRIỂN ĐIỀU LỆ DỰ ÁN</a:t>
              </a: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gray">
            <a:xfrm>
              <a:off x="1357" y="1886"/>
              <a:ext cx="293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2.1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1173162" y="2541587"/>
            <a:ext cx="7281407" cy="762000"/>
            <a:chOff x="1296" y="1824"/>
            <a:chExt cx="3117" cy="432"/>
          </a:xfrm>
        </p:grpSpPr>
        <p:sp>
          <p:nvSpPr>
            <p:cNvPr id="51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 Box 60"/>
            <p:cNvSpPr txBox="1">
              <a:spLocks noChangeArrowheads="1"/>
            </p:cNvSpPr>
            <p:nvPr/>
          </p:nvSpPr>
          <p:spPr bwMode="gray">
            <a:xfrm>
              <a:off x="1776" y="1920"/>
              <a:ext cx="2637" cy="2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rPr>
                <a:t>PHÁT TRIỂN KẾ HOẠCH DỰ ÁN</a:t>
              </a: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gray">
            <a:xfrm>
              <a:off x="1357" y="1886"/>
              <a:ext cx="293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2.2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3" name="Group 42"/>
          <p:cNvGrpSpPr>
            <a:grpSpLocks/>
          </p:cNvGrpSpPr>
          <p:nvPr/>
        </p:nvGrpSpPr>
        <p:grpSpPr bwMode="auto">
          <a:xfrm>
            <a:off x="1143000" y="3276600"/>
            <a:ext cx="7620134" cy="762000"/>
            <a:chOff x="1296" y="1824"/>
            <a:chExt cx="3262" cy="432"/>
          </a:xfrm>
        </p:grpSpPr>
        <p:sp>
          <p:nvSpPr>
            <p:cNvPr id="24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45"/>
            <p:cNvSpPr txBox="1">
              <a:spLocks noChangeArrowheads="1"/>
            </p:cNvSpPr>
            <p:nvPr/>
          </p:nvSpPr>
          <p:spPr bwMode="gray">
            <a:xfrm>
              <a:off x="1776" y="1934"/>
              <a:ext cx="2782" cy="2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ĐỊNH HƯỚNG &amp; QUẢN TRỊ CÔNG VIỆC</a:t>
              </a:r>
            </a:p>
          </p:txBody>
        </p:sp>
        <p:sp>
          <p:nvSpPr>
            <p:cNvPr id="27" name="Text Box 46"/>
            <p:cNvSpPr txBox="1">
              <a:spLocks noChangeArrowheads="1"/>
            </p:cNvSpPr>
            <p:nvPr/>
          </p:nvSpPr>
          <p:spPr bwMode="gray">
            <a:xfrm>
              <a:off x="1357" y="1886"/>
              <a:ext cx="293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2.3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8" name="Group 52"/>
          <p:cNvGrpSpPr>
            <a:grpSpLocks/>
          </p:cNvGrpSpPr>
          <p:nvPr/>
        </p:nvGrpSpPr>
        <p:grpSpPr bwMode="auto">
          <a:xfrm>
            <a:off x="1143001" y="4065587"/>
            <a:ext cx="7848600" cy="762000"/>
            <a:chOff x="1296" y="1824"/>
            <a:chExt cx="3360" cy="432"/>
          </a:xfrm>
        </p:grpSpPr>
        <p:sp>
          <p:nvSpPr>
            <p:cNvPr id="29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Box 55"/>
            <p:cNvSpPr txBox="1">
              <a:spLocks noChangeArrowheads="1"/>
            </p:cNvSpPr>
            <p:nvPr/>
          </p:nvSpPr>
          <p:spPr bwMode="gray">
            <a:xfrm>
              <a:off x="1776" y="1934"/>
              <a:ext cx="2880" cy="2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THEO DÕI &amp; KIỂM SOÁT CÔNG VIỆC</a:t>
              </a:r>
            </a:p>
          </p:txBody>
        </p:sp>
        <p:sp>
          <p:nvSpPr>
            <p:cNvPr id="32" name="Text Box 56"/>
            <p:cNvSpPr txBox="1">
              <a:spLocks noChangeArrowheads="1"/>
            </p:cNvSpPr>
            <p:nvPr/>
          </p:nvSpPr>
          <p:spPr bwMode="gray">
            <a:xfrm>
              <a:off x="1357" y="1886"/>
              <a:ext cx="293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2.4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33" name="Group 57"/>
          <p:cNvGrpSpPr>
            <a:grpSpLocks/>
          </p:cNvGrpSpPr>
          <p:nvPr/>
        </p:nvGrpSpPr>
        <p:grpSpPr bwMode="auto">
          <a:xfrm>
            <a:off x="1173163" y="4827587"/>
            <a:ext cx="7281407" cy="762000"/>
            <a:chOff x="1296" y="1824"/>
            <a:chExt cx="3117" cy="432"/>
          </a:xfrm>
        </p:grpSpPr>
        <p:sp>
          <p:nvSpPr>
            <p:cNvPr id="34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Text Box 60"/>
            <p:cNvSpPr txBox="1">
              <a:spLocks noChangeArrowheads="1"/>
            </p:cNvSpPr>
            <p:nvPr/>
          </p:nvSpPr>
          <p:spPr bwMode="gray">
            <a:xfrm>
              <a:off x="1776" y="1920"/>
              <a:ext cx="2637" cy="2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rPr>
                <a:t>KIỂM SOÁT THAY ĐỔI TÍCH HỢP</a:t>
              </a: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 bwMode="gray">
            <a:xfrm>
              <a:off x="1357" y="1886"/>
              <a:ext cx="293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2.5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55" name="Group 57"/>
          <p:cNvGrpSpPr>
            <a:grpSpLocks/>
          </p:cNvGrpSpPr>
          <p:nvPr/>
        </p:nvGrpSpPr>
        <p:grpSpPr bwMode="auto">
          <a:xfrm>
            <a:off x="1176793" y="5562600"/>
            <a:ext cx="7281407" cy="762000"/>
            <a:chOff x="1296" y="1824"/>
            <a:chExt cx="3117" cy="432"/>
          </a:xfrm>
        </p:grpSpPr>
        <p:sp>
          <p:nvSpPr>
            <p:cNvPr id="56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Text Box 60"/>
            <p:cNvSpPr txBox="1">
              <a:spLocks noChangeArrowheads="1"/>
            </p:cNvSpPr>
            <p:nvPr/>
          </p:nvSpPr>
          <p:spPr bwMode="gray">
            <a:xfrm>
              <a:off x="1776" y="1920"/>
              <a:ext cx="2637" cy="2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rPr>
                <a:t>KẾT THÚC DỰ ÁN HOẶC GIAI ĐOẠN</a:t>
              </a:r>
            </a:p>
          </p:txBody>
        </p:sp>
        <p:sp>
          <p:nvSpPr>
            <p:cNvPr id="59" name="Text Box 61"/>
            <p:cNvSpPr txBox="1">
              <a:spLocks noChangeArrowheads="1"/>
            </p:cNvSpPr>
            <p:nvPr/>
          </p:nvSpPr>
          <p:spPr bwMode="gray">
            <a:xfrm>
              <a:off x="1357" y="1886"/>
              <a:ext cx="293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2.6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sp>
        <p:nvSpPr>
          <p:cNvPr id="60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7397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8153400" cy="3810000"/>
          </a:xfrm>
        </p:spPr>
        <p:txBody>
          <a:bodyPr/>
          <a:lstStyle/>
          <a:p>
            <a:pPr algn="just"/>
            <a:r>
              <a:rPr lang="vi-VN" dirty="0"/>
              <a:t>Giám đốc dự án (PM) phối hợp tất cả các lĩnh vực kiến thức trong suốt vòng đời của dự án.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Nhiều PM gặp khó khăn khi nhìn vào bức tranh tổng thể, và tập trung vào quá nhiều chi tiết.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Quản lý tích hợp dự án không phải như tích hợp phần mềm hay phần cứng...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8FECDF-36A7-44D1-8BAF-7A36463139A5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Sự</a:t>
            </a:r>
            <a:r>
              <a:rPr lang="en-US" sz="4000" dirty="0"/>
              <a:t> </a:t>
            </a:r>
            <a:r>
              <a:rPr lang="en-US" sz="4000" dirty="0" err="1"/>
              <a:t>thành</a:t>
            </a:r>
            <a:r>
              <a:rPr lang="en-US" sz="4000" dirty="0"/>
              <a:t> </a:t>
            </a:r>
            <a:r>
              <a:rPr lang="en-US" sz="4000" dirty="0" err="1"/>
              <a:t>công</a:t>
            </a:r>
            <a:r>
              <a:rPr lang="en-US" sz="4000" dirty="0"/>
              <a:t> </a:t>
            </a:r>
            <a:r>
              <a:rPr lang="en-US" sz="4000" dirty="0" err="1"/>
              <a:t>của</a:t>
            </a:r>
            <a:r>
              <a:rPr lang="en-US" sz="4000" dirty="0"/>
              <a:t>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endParaRPr lang="en-US" sz="4400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342367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D3BB5F-0C8B-47DC-A386-34C47C0990D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20000"/>
          </a:blip>
          <a:stretch>
            <a:fillRect/>
          </a:stretch>
        </p:blipFill>
        <p:spPr>
          <a:xfrm>
            <a:off x="0" y="1295400"/>
            <a:ext cx="9159240" cy="424288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6858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Khung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90600" y="3581400"/>
            <a:ext cx="6096000" cy="54294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Rectangle 1"/>
          <p:cNvSpPr/>
          <p:nvPr/>
        </p:nvSpPr>
        <p:spPr>
          <a:xfrm>
            <a:off x="4495800" y="6076890"/>
            <a:ext cx="300755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vi-VN" sz="2000" dirty="0"/>
              <a:t>Nguồn: </a:t>
            </a:r>
            <a:r>
              <a:rPr lang="vi-VN" sz="2000"/>
              <a:t>Schwalbe (20</a:t>
            </a:r>
            <a:r>
              <a:rPr lang="en-US" sz="2000"/>
              <a:t>19</a:t>
            </a:r>
            <a:r>
              <a:rPr lang="vi-VN" sz="2000"/>
              <a:t>)</a:t>
            </a:r>
            <a:endParaRPr lang="vi-VN" sz="2000" dirty="0"/>
          </a:p>
        </p:txBody>
      </p:sp>
      <p:sp>
        <p:nvSpPr>
          <p:cNvPr id="8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58065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z="1000" smtClean="0"/>
              <a:pPr>
                <a:defRPr/>
              </a:pPr>
              <a:t>23</a:t>
            </a:fld>
            <a:endParaRPr lang="en-US" sz="10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rgbClr val="0070C0"/>
                </a:solidFill>
              </a:rPr>
              <a:t>Quản lý </a:t>
            </a:r>
            <a:r>
              <a:rPr lang="en-US" sz="4000" dirty="0" err="1">
                <a:solidFill>
                  <a:srgbClr val="0070C0"/>
                </a:solidFill>
              </a:rPr>
              <a:t>tích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hợp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dự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án</a:t>
            </a:r>
            <a:r>
              <a:rPr lang="en-US" sz="4000" dirty="0">
                <a:solidFill>
                  <a:srgbClr val="0070C0"/>
                </a:solidFill>
              </a:rPr>
              <a:t> [6]</a:t>
            </a:r>
          </a:p>
        </p:txBody>
      </p:sp>
      <p:sp>
        <p:nvSpPr>
          <p:cNvPr id="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73" y="1414463"/>
            <a:ext cx="8951002" cy="391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15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33525"/>
            <a:ext cx="8153400" cy="4638675"/>
          </a:xfrm>
        </p:spPr>
        <p:txBody>
          <a:bodyPr>
            <a:normAutofit/>
          </a:bodyPr>
          <a:lstStyle/>
          <a:p>
            <a:pPr marL="623887" indent="-514350" algn="just"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vi-VN" b="1" dirty="0"/>
              <a:t>Phát triển điều lệ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develop project charter</a:t>
            </a:r>
            <a:r>
              <a:rPr lang="vi-VN" dirty="0"/>
              <a:t>): làm việc với các bên liên quan để thông qua các tài liệu chính thức của dự án.</a:t>
            </a:r>
          </a:p>
          <a:p>
            <a:pPr algn="just">
              <a:buClr>
                <a:srgbClr val="FF0000"/>
              </a:buClr>
              <a:buSzPct val="100000"/>
              <a:buFont typeface="+mj-lt"/>
              <a:buAutoNum type="arabicPeriod"/>
            </a:pPr>
            <a:endParaRPr lang="vi-VN" sz="1200" dirty="0"/>
          </a:p>
          <a:p>
            <a:pPr marL="623887" indent="-514350" algn="just"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vi-VN" b="1" dirty="0"/>
              <a:t>Phát triển kế hoạch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develop project management plan</a:t>
            </a:r>
            <a:r>
              <a:rPr lang="vi-VN" dirty="0"/>
              <a:t>): phối hợp các kế hoạch để tạo các tài liệu chặt chẽ và nhất quán.</a:t>
            </a:r>
          </a:p>
          <a:p>
            <a:pPr marL="623887" indent="-514350" algn="just">
              <a:buClr>
                <a:srgbClr val="FF0000"/>
              </a:buClr>
              <a:buSzPct val="100000"/>
              <a:buFont typeface="+mj-lt"/>
              <a:buAutoNum type="arabicPeriod"/>
            </a:pPr>
            <a:endParaRPr lang="vi-VN" sz="1200" dirty="0"/>
          </a:p>
          <a:p>
            <a:pPr marL="623887" indent="-514350" algn="just"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vi-VN" b="1" dirty="0"/>
              <a:t>Định hướng và quản trị công việc</a:t>
            </a:r>
            <a:r>
              <a:rPr lang="vi-VN" dirty="0"/>
              <a:t> (</a:t>
            </a:r>
            <a:r>
              <a:rPr lang="en-US" dirty="0">
                <a:solidFill>
                  <a:srgbClr val="0070C0"/>
                </a:solidFill>
              </a:rPr>
              <a:t>direct and manage project work</a:t>
            </a:r>
            <a:r>
              <a:rPr lang="vi-VN" dirty="0"/>
              <a:t>): thực hiện kế của dự án.</a:t>
            </a:r>
          </a:p>
          <a:p>
            <a:pPr algn="just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A638D7D-6CB4-4E4C-8852-D9CAD93D4C45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Quy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trình</a:t>
            </a:r>
            <a:r>
              <a:rPr lang="en-US" sz="4400" dirty="0">
                <a:solidFill>
                  <a:srgbClr val="0070C0"/>
                </a:solidFill>
              </a:rPr>
              <a:t> quản lý </a:t>
            </a:r>
            <a:r>
              <a:rPr lang="en-US" sz="4400" dirty="0" err="1">
                <a:solidFill>
                  <a:srgbClr val="0070C0"/>
                </a:solidFill>
              </a:rPr>
              <a:t>tích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hợp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230929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077200" cy="4495800"/>
          </a:xfrm>
        </p:spPr>
        <p:txBody>
          <a:bodyPr>
            <a:normAutofit/>
          </a:bodyPr>
          <a:lstStyle/>
          <a:p>
            <a:pPr marL="623887" indent="-514350" algn="just">
              <a:buClr>
                <a:srgbClr val="FF0000"/>
              </a:buClr>
              <a:buSzPct val="100000"/>
              <a:buFont typeface="+mj-lt"/>
              <a:buAutoNum type="arabicPeriod" startAt="4"/>
            </a:pPr>
            <a:r>
              <a:rPr lang="en-US" b="1" dirty="0"/>
              <a:t>Theo </a:t>
            </a:r>
            <a:r>
              <a:rPr lang="en-US" b="1" dirty="0" err="1"/>
              <a:t>dõi</a:t>
            </a:r>
            <a:r>
              <a:rPr lang="en-US" b="1" dirty="0"/>
              <a:t> và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soát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việc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monitor and control project work</a:t>
            </a:r>
            <a:r>
              <a:rPr lang="en-US" dirty="0"/>
              <a:t>):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marL="623887" indent="-514350" algn="just">
              <a:buClr>
                <a:srgbClr val="FF0000"/>
              </a:buClr>
              <a:buSzPct val="100000"/>
              <a:buFont typeface="+mj-lt"/>
              <a:buAutoNum type="arabicPeriod" startAt="4"/>
            </a:pPr>
            <a:endParaRPr lang="en-US" sz="1200" dirty="0"/>
          </a:p>
          <a:p>
            <a:pPr marL="623887" indent="-514350" algn="just">
              <a:buClr>
                <a:srgbClr val="FF0000"/>
              </a:buClr>
              <a:buSzPct val="100000"/>
              <a:buFont typeface="+mj-lt"/>
              <a:buAutoNum type="arabicPeriod" startAt="4"/>
            </a:pP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soát</a:t>
            </a:r>
            <a:r>
              <a:rPr lang="en-US" b="1" dirty="0"/>
              <a:t> </a:t>
            </a:r>
            <a:r>
              <a:rPr lang="en-US" b="1" dirty="0" err="1"/>
              <a:t>thay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tích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perform integrated change control</a:t>
            </a:r>
            <a:r>
              <a:rPr lang="en-US" dirty="0"/>
              <a:t>):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, quản lý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suốt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marL="623887" indent="-514350" algn="just">
              <a:buClr>
                <a:srgbClr val="FF0000"/>
              </a:buClr>
              <a:buSzPct val="100000"/>
              <a:buFont typeface="+mj-lt"/>
              <a:buAutoNum type="arabicPeriod" startAt="4"/>
            </a:pPr>
            <a:endParaRPr lang="en-US" sz="1200" dirty="0"/>
          </a:p>
          <a:p>
            <a:pPr marL="623887" indent="-514350" algn="just">
              <a:buClr>
                <a:srgbClr val="FF0000"/>
              </a:buClr>
              <a:buSzPct val="100000"/>
              <a:buFont typeface="+mj-lt"/>
              <a:buAutoNum type="arabicPeriod" startAt="4"/>
            </a:pPr>
            <a:r>
              <a:rPr lang="vi-VN" b="1" dirty="0"/>
              <a:t>Kết thúc dự án hoặc giai đoạn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close the project or phase</a:t>
            </a:r>
            <a:r>
              <a:rPr lang="vi-VN" dirty="0"/>
              <a:t>): hoàn thiện tất cả các hoạt động chính thức.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D4A2C9D-D88A-4E49-9868-C35180CCD6D8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Quy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trình</a:t>
            </a:r>
            <a:r>
              <a:rPr lang="en-US" sz="4400" dirty="0">
                <a:solidFill>
                  <a:srgbClr val="0070C0"/>
                </a:solidFill>
              </a:rPr>
              <a:t> quản lý </a:t>
            </a:r>
            <a:r>
              <a:rPr lang="en-US" sz="4400" dirty="0" err="1">
                <a:solidFill>
                  <a:srgbClr val="0070C0"/>
                </a:solidFill>
              </a:rPr>
              <a:t>tích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hợp</a:t>
            </a:r>
            <a:r>
              <a:rPr lang="en-US" sz="4400" dirty="0">
                <a:solidFill>
                  <a:srgbClr val="0070C0"/>
                </a:solidFill>
              </a:rPr>
              <a:t> (</a:t>
            </a:r>
            <a:r>
              <a:rPr lang="en-US" sz="4400" dirty="0" err="1">
                <a:solidFill>
                  <a:srgbClr val="0070C0"/>
                </a:solidFill>
              </a:rPr>
              <a:t>tt</a:t>
            </a:r>
            <a:r>
              <a:rPr lang="en-US" sz="44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579669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305800" cy="10668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Tóm</a:t>
            </a:r>
            <a:r>
              <a:rPr lang="en-US" sz="3600" dirty="0"/>
              <a:t> </a:t>
            </a:r>
            <a:r>
              <a:rPr lang="en-US" sz="3600" dirty="0" err="1"/>
              <a:t>tắt</a:t>
            </a:r>
            <a:r>
              <a:rPr lang="en-US" sz="3600" dirty="0"/>
              <a:t> quản lý </a:t>
            </a:r>
            <a:r>
              <a:rPr lang="en-US" sz="3600" dirty="0" err="1"/>
              <a:t>tích</a:t>
            </a:r>
            <a:r>
              <a:rPr lang="en-US" sz="3600" dirty="0"/>
              <a:t> </a:t>
            </a:r>
            <a:r>
              <a:rPr lang="en-US" sz="3600" dirty="0" err="1"/>
              <a:t>hợp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endParaRPr lang="en-US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9144000" cy="680085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533400" y="597242"/>
            <a:ext cx="11430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838200" y="1460500"/>
            <a:ext cx="1447800" cy="1235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029789" y="2273642"/>
            <a:ext cx="10668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269274" y="3543300"/>
            <a:ext cx="22098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3352800" y="5232037"/>
            <a:ext cx="10668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89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AB078C3-AD74-4C69-8529-ABFACC42093C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Quy</a:t>
            </a:r>
            <a:r>
              <a:rPr lang="en-US" sz="3600" dirty="0"/>
              <a:t> </a:t>
            </a:r>
            <a:r>
              <a:rPr lang="en-US" sz="3600" dirty="0" err="1"/>
              <a:t>trình</a:t>
            </a:r>
            <a:r>
              <a:rPr lang="en-US" sz="3600" dirty="0"/>
              <a:t> </a:t>
            </a:r>
            <a:r>
              <a:rPr lang="en-US" sz="3600" dirty="0" err="1"/>
              <a:t>lập</a:t>
            </a:r>
            <a:r>
              <a:rPr lang="en-US" sz="3600" dirty="0"/>
              <a:t> </a:t>
            </a:r>
            <a:r>
              <a:rPr lang="en-US" sz="3600" dirty="0" err="1"/>
              <a:t>kế</a:t>
            </a:r>
            <a:r>
              <a:rPr lang="en-US" sz="3600" dirty="0"/>
              <a:t> </a:t>
            </a:r>
            <a:r>
              <a:rPr lang="en-US" sz="3600" dirty="0" err="1"/>
              <a:t>hoạch</a:t>
            </a:r>
            <a:r>
              <a:rPr lang="en-US" sz="3600" dirty="0"/>
              <a:t> CNTT/HTTT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8328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8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848600" cy="3624262"/>
          </a:xfrm>
        </p:spPr>
        <p:txBody>
          <a:bodyPr/>
          <a:lstStyle/>
          <a:p>
            <a:pPr marL="287338" indent="-287338" algn="just">
              <a:lnSpc>
                <a:spcPct val="90000"/>
              </a:lnSpc>
            </a:pPr>
            <a:r>
              <a:rPr lang="vi-VN" dirty="0"/>
              <a:t>Các dự án được thực hiện với thời gian và nguồn lực khang hiếm.</a:t>
            </a:r>
          </a:p>
          <a:p>
            <a:pPr marL="287338" indent="-287338" algn="just">
              <a:lnSpc>
                <a:spcPct val="90000"/>
              </a:lnSpc>
            </a:pPr>
            <a:endParaRPr lang="vi-VN" sz="1200" dirty="0"/>
          </a:p>
          <a:p>
            <a:pPr marL="287338" indent="-287338" algn="just">
              <a:lnSpc>
                <a:spcPct val="90000"/>
              </a:lnSpc>
            </a:pPr>
            <a:r>
              <a:rPr lang="vi-VN" dirty="0"/>
              <a:t>Phương pháp lựa chọn dự án...</a:t>
            </a:r>
          </a:p>
          <a:p>
            <a:pPr marL="525463" lvl="2" indent="-287338" algn="just">
              <a:lnSpc>
                <a:spcPct val="90000"/>
              </a:lnSpc>
              <a:buClr>
                <a:srgbClr val="0070C0"/>
              </a:buClr>
            </a:pPr>
            <a:r>
              <a:rPr lang="vi-VN" sz="2400" dirty="0"/>
              <a:t>Tập trung vào nhu cầu tổ chức</a:t>
            </a:r>
          </a:p>
          <a:p>
            <a:pPr marL="525463" lvl="2" indent="-287338" algn="just">
              <a:lnSpc>
                <a:spcPct val="90000"/>
              </a:lnSpc>
              <a:buClr>
                <a:srgbClr val="0070C0"/>
              </a:buClr>
            </a:pPr>
            <a:r>
              <a:rPr lang="vi-VN" sz="2400" dirty="0"/>
              <a:t>Phân loại dự án HTTT</a:t>
            </a:r>
          </a:p>
          <a:p>
            <a:pPr marL="525463" lvl="2" indent="-287338" algn="just">
              <a:lnSpc>
                <a:spcPct val="90000"/>
              </a:lnSpc>
              <a:buClr>
                <a:srgbClr val="0070C0"/>
              </a:buClr>
            </a:pPr>
            <a:r>
              <a:rPr lang="vi-VN" sz="2400" dirty="0"/>
              <a:t>Tính 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NPV</a:t>
            </a:r>
            <a:r>
              <a:rPr lang="vi-VN" sz="2400" dirty="0"/>
              <a:t>/các phân tích tài chính khác</a:t>
            </a:r>
          </a:p>
          <a:p>
            <a:pPr marL="525463" lvl="2" indent="-287338" algn="just">
              <a:lnSpc>
                <a:spcPct val="90000"/>
              </a:lnSpc>
              <a:buClr>
                <a:srgbClr val="0070C0"/>
              </a:buClr>
            </a:pPr>
            <a:r>
              <a:rPr lang="vi-VN" sz="2400" dirty="0"/>
              <a:t>Sử dụng các mô hình toán (điểm trọng số, bảng điểm cân bằng...).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EE05452-1580-4FA5-B9D2-8062EB9CC5EC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Phương </a:t>
            </a:r>
            <a:r>
              <a:rPr lang="en-US" sz="4000" dirty="0" err="1"/>
              <a:t>pháp</a:t>
            </a:r>
            <a:r>
              <a:rPr lang="en-US" sz="4000" dirty="0"/>
              <a:t> </a:t>
            </a:r>
            <a:r>
              <a:rPr lang="en-US" sz="4000" dirty="0" err="1"/>
              <a:t>chọn</a:t>
            </a:r>
            <a:r>
              <a:rPr lang="en-US" sz="4000" dirty="0"/>
              <a:t>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endParaRPr lang="en-US" sz="4000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840390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143125"/>
            <a:ext cx="8153400" cy="2809875"/>
          </a:xfrm>
        </p:spPr>
        <p:txBody>
          <a:bodyPr/>
          <a:lstStyle/>
          <a:p>
            <a:pPr algn="just"/>
            <a:r>
              <a:rPr lang="vi-VN" dirty="0"/>
              <a:t>Cân nhắc về tài chính là yếu tố quan trọng trong việc lựa chọn các dự án. </a:t>
            </a:r>
          </a:p>
          <a:p>
            <a:pPr algn="just"/>
            <a:endParaRPr lang="vi-VN" sz="1400" dirty="0"/>
          </a:p>
          <a:p>
            <a:pPr algn="just"/>
            <a:r>
              <a:rPr lang="vi-VN" dirty="0"/>
              <a:t>Phương pháp xác định giá trị tài chính phổ biến nhất dùng cho QLDA là “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 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trị hiện tại ròng</a:t>
            </a:r>
            <a:r>
              <a:rPr lang="vi-VN" sz="2400" dirty="0"/>
              <a:t>” - 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NPV</a:t>
            </a:r>
            <a:r>
              <a:rPr lang="vi-VN" sz="2400" dirty="0"/>
              <a:t>.</a:t>
            </a: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27050"/>
            <a:ext cx="8686800" cy="615950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/>
              <a:t>Phân</a:t>
            </a:r>
            <a:r>
              <a:rPr lang="en-US" sz="4000" dirty="0"/>
              <a:t> </a:t>
            </a:r>
            <a:r>
              <a:rPr lang="en-US" sz="4000" dirty="0" err="1"/>
              <a:t>tích</a:t>
            </a:r>
            <a:r>
              <a:rPr lang="en-US" sz="4000" dirty="0"/>
              <a:t> </a:t>
            </a:r>
            <a:r>
              <a:rPr lang="en-US" sz="4000" dirty="0" err="1"/>
              <a:t>tài</a:t>
            </a:r>
            <a:r>
              <a:rPr lang="en-US" sz="4000" dirty="0"/>
              <a:t> </a:t>
            </a:r>
            <a:r>
              <a:rPr lang="en-US" sz="4000" dirty="0" err="1"/>
              <a:t>chính</a:t>
            </a:r>
            <a:r>
              <a:rPr lang="en-US" sz="4000" dirty="0"/>
              <a:t>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endParaRPr lang="en-US" sz="4000" dirty="0"/>
          </a:p>
        </p:txBody>
      </p:sp>
      <p:sp>
        <p:nvSpPr>
          <p:cNvPr id="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lý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10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8001000" cy="3276600"/>
          </a:xfrm>
        </p:spPr>
        <p:txBody>
          <a:bodyPr/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 trị hiện tại ròng</a:t>
            </a:r>
            <a:r>
              <a:rPr lang="vi-VN" dirty="0"/>
              <a:t> - </a:t>
            </a:r>
            <a:r>
              <a:rPr lang="vi-VN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NPV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Net Present Value</a:t>
            </a:r>
            <a:r>
              <a:rPr lang="vi-VN" dirty="0"/>
              <a:t>): chiếc khấu tất cả các dòng tiền tương lai ra/vào về thời điểm hiện tại.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NPV</a:t>
            </a:r>
            <a:r>
              <a:rPr lang="vi-VN" dirty="0"/>
              <a:t> dương được xem xét.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NPV</a:t>
            </a:r>
            <a:r>
              <a:rPr lang="vi-VN" dirty="0"/>
              <a:t> cao hơn là tốt...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EB2DC9-A02A-47AF-ADCC-E99239ADE465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615950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NPV</a:t>
            </a:r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029601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" y="1314450"/>
            <a:ext cx="9039225" cy="5543550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75766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AB078C3-AD74-4C69-8529-ABFACC42093C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tính</a:t>
            </a:r>
            <a:r>
              <a:rPr lang="en-US" sz="3600" dirty="0"/>
              <a:t> </a:t>
            </a:r>
            <a:r>
              <a:rPr lang="en-US" sz="3600" dirty="0">
                <a:hlinkClick r:id="rId3" action="ppaction://hlinkfile"/>
              </a:rPr>
              <a:t>NPV</a:t>
            </a:r>
            <a:endParaRPr lang="en-US" sz="4800" dirty="0"/>
          </a:p>
        </p:txBody>
      </p:sp>
      <p:sp>
        <p:nvSpPr>
          <p:cNvPr id="6" name="Rounded Rectangle 5"/>
          <p:cNvSpPr/>
          <p:nvPr/>
        </p:nvSpPr>
        <p:spPr>
          <a:xfrm>
            <a:off x="1524000" y="5638800"/>
            <a:ext cx="1394814" cy="381000"/>
          </a:xfrm>
          <a:prstGeom prst="roundRect">
            <a:avLst/>
          </a:prstGeom>
          <a:noFill/>
          <a:ln w="508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Rounded Rectangle 6"/>
          <p:cNvSpPr/>
          <p:nvPr/>
        </p:nvSpPr>
        <p:spPr>
          <a:xfrm>
            <a:off x="1524000" y="3429000"/>
            <a:ext cx="1351227" cy="381000"/>
          </a:xfrm>
          <a:prstGeom prst="roundRect">
            <a:avLst/>
          </a:prstGeom>
          <a:noFill/>
          <a:ln w="508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ounded Rectangle 10"/>
          <p:cNvSpPr/>
          <p:nvPr/>
        </p:nvSpPr>
        <p:spPr>
          <a:xfrm>
            <a:off x="7863018" y="3352800"/>
            <a:ext cx="1204782" cy="1524000"/>
          </a:xfrm>
          <a:prstGeom prst="roundRect">
            <a:avLst/>
          </a:prstGeom>
          <a:noFill/>
          <a:ln w="508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1308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01000" cy="2362200"/>
          </a:xfrm>
          <a:ln w="38100">
            <a:solidFill>
              <a:srgbClr val="FF0000"/>
            </a:solidFill>
          </a:ln>
        </p:spPr>
        <p:txBody>
          <a:bodyPr/>
          <a:lstStyle/>
          <a:p>
            <a:pPr marL="457200" indent="-349250" algn="just">
              <a:lnSpc>
                <a:spcPct val="9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endParaRPr lang="en-US" sz="800" dirty="0"/>
          </a:p>
          <a:p>
            <a:pPr marL="457200" indent="-349250" algn="just">
              <a:lnSpc>
                <a:spcPct val="9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và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và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</a:t>
            </a:r>
          </a:p>
          <a:p>
            <a:pPr marL="457200" indent="-349250" algn="just">
              <a:lnSpc>
                <a:spcPct val="9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endParaRPr lang="en-US" sz="1200" dirty="0"/>
          </a:p>
          <a:p>
            <a:pPr marL="457200" indent="-349250" algn="just">
              <a:lnSpc>
                <a:spcPct val="9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chiết</a:t>
            </a:r>
            <a:r>
              <a:rPr lang="en-US" dirty="0"/>
              <a:t> </a:t>
            </a:r>
            <a:r>
              <a:rPr lang="en-US" dirty="0" err="1"/>
              <a:t>khấu</a:t>
            </a:r>
            <a:r>
              <a:rPr lang="en-US" dirty="0"/>
              <a:t>… </a:t>
            </a:r>
          </a:p>
          <a:p>
            <a:pPr marL="457200" indent="-349250" algn="just">
              <a:lnSpc>
                <a:spcPct val="9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endParaRPr lang="en-US" sz="1200" dirty="0"/>
          </a:p>
          <a:p>
            <a:pPr marL="457200" indent="-349250" algn="just">
              <a:lnSpc>
                <a:spcPct val="9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NPV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FF2F989-DE93-47EE-8969-C3870F8B4B06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Cách</a:t>
            </a:r>
            <a:r>
              <a:rPr lang="en-US" sz="4000" dirty="0"/>
              <a:t> </a:t>
            </a:r>
            <a:r>
              <a:rPr lang="en-US" sz="4000" dirty="0" err="1"/>
              <a:t>tính</a:t>
            </a:r>
            <a:r>
              <a:rPr lang="en-US" sz="4000" dirty="0"/>
              <a:t> NPV</a:t>
            </a:r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33400" y="4343400"/>
            <a:ext cx="8001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lnSpc>
                <a:spcPct val="90000"/>
              </a:lnSpc>
            </a:pPr>
            <a:r>
              <a:rPr lang="en-US" dirty="0" err="1"/>
              <a:t>Lưu</a:t>
            </a:r>
            <a:r>
              <a:rPr lang="en-US" dirty="0"/>
              <a:t> ý: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0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1,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0039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8" y="1295400"/>
            <a:ext cx="8951002" cy="391953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tích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hợp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[1/6]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1" y="3933825"/>
            <a:ext cx="1752599" cy="48577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325" y="5577684"/>
            <a:ext cx="2137475" cy="128031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10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lý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74284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8001000" cy="4267200"/>
          </a:xfrm>
        </p:spPr>
        <p:txBody>
          <a:bodyPr/>
          <a:lstStyle/>
          <a:p>
            <a:pPr algn="just"/>
            <a:r>
              <a:rPr lang="vi-VN" b="1" dirty="0"/>
              <a:t>Phát triển điều lệ dự án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develop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project charter</a:t>
            </a:r>
            <a:r>
              <a:rPr lang="vi-VN" dirty="0"/>
              <a:t>): tài liệu chính thức công nhận sự tồn tại của dự án, và các mục tiêu và quản lý dự án.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Các bên liên quan chính ký điều lệ như một sự thỏa thuận của dự án - điều lệ đã ký là đầu ra quan trọng của quản lý tích hợp.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75FEF86-65B9-457B-A3B9-FD65226500C3}" type="slidenum">
              <a:rPr lang="en-US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458200" cy="673100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2.1 Phát triển </a:t>
            </a:r>
            <a:r>
              <a:rPr lang="en-US" sz="4400" dirty="0" err="1">
                <a:solidFill>
                  <a:srgbClr val="FF0000"/>
                </a:solidFill>
              </a:rPr>
              <a:t>điều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lệ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dự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án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495800"/>
            <a:ext cx="2617066" cy="1591948"/>
          </a:xfrm>
          <a:prstGeom prst="rect">
            <a:avLst/>
          </a:prstGeom>
        </p:spPr>
      </p:pic>
      <p:sp>
        <p:nvSpPr>
          <p:cNvPr id="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lý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438929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53F6A9-037C-4679-A974-5A2F60203CED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điều</a:t>
            </a:r>
            <a:r>
              <a:rPr lang="en-US" sz="3600" dirty="0"/>
              <a:t> </a:t>
            </a:r>
            <a:r>
              <a:rPr lang="en-US" sz="3600" dirty="0" err="1"/>
              <a:t>lệ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1517" cy="68580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76200" y="304800"/>
            <a:ext cx="11430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6200" y="609600"/>
            <a:ext cx="14478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76200" y="914400"/>
            <a:ext cx="12954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343400" y="914400"/>
            <a:ext cx="14478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6200" y="1346200"/>
            <a:ext cx="1600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3500" y="2400300"/>
            <a:ext cx="19812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76200" y="3048000"/>
            <a:ext cx="16002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76200" y="3505200"/>
            <a:ext cx="14478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76200" y="4419600"/>
            <a:ext cx="28956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25400" y="5334000"/>
            <a:ext cx="965200" cy="123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34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38" y="4762"/>
            <a:ext cx="9210675" cy="684847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3137862" y="304800"/>
            <a:ext cx="257713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3657600"/>
            <a:ext cx="838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5588000"/>
            <a:ext cx="762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3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98" y="1295400"/>
            <a:ext cx="8951002" cy="391953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tích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hợp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[2/6]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886200"/>
            <a:ext cx="1905000" cy="48577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11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lý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1" y="5555468"/>
            <a:ext cx="1981199" cy="130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0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01000" cy="2819400"/>
          </a:xfrm>
        </p:spPr>
        <p:txBody>
          <a:bodyPr/>
          <a:lstStyle/>
          <a:p>
            <a:pPr algn="just"/>
            <a:r>
              <a:rPr lang="vi-VN" b="1" dirty="0"/>
              <a:t>Phát triển kế hoạch quản lý dự án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develop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project management plan</a:t>
            </a:r>
            <a:r>
              <a:rPr lang="vi-VN" dirty="0"/>
              <a:t>): tài liệu phối hợp với các kế hoạch dự án, và giúp hướng dẫn thực hiện và kiểm soát dự án.</a:t>
            </a:r>
          </a:p>
          <a:p>
            <a:pPr algn="just"/>
            <a:endParaRPr lang="vi-VN" sz="1400" dirty="0"/>
          </a:p>
          <a:p>
            <a:pPr algn="just"/>
            <a:r>
              <a:rPr lang="vi-VN" dirty="0"/>
              <a:t>Kế hoạch trong các lĩnh vực kiến thức khác là  phần con của các kế hoạch QLDA tổng thể...</a:t>
            </a:r>
            <a:endParaRPr lang="en-US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3DB4198-CCAC-43FA-8923-E4A089AD5897}" type="slidenum">
              <a:rPr lang="en-US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2.2 Phát triển </a:t>
            </a:r>
            <a:r>
              <a:rPr lang="en-US" sz="4400" dirty="0" err="1">
                <a:solidFill>
                  <a:srgbClr val="FF0000"/>
                </a:solidFill>
              </a:rPr>
              <a:t>kế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hoạch</a:t>
            </a:r>
            <a:r>
              <a:rPr lang="en-US" sz="4400" dirty="0">
                <a:solidFill>
                  <a:srgbClr val="FF0000"/>
                </a:solidFill>
              </a:rPr>
              <a:t> QLDA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0" y="4827807"/>
            <a:ext cx="2311400" cy="1420593"/>
          </a:xfrm>
          <a:prstGeom prst="rect">
            <a:avLst/>
          </a:prstGeom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lý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7247716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305800" cy="3352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dirty="0"/>
              <a:t>Giới thiệu tổng quan dự án.</a:t>
            </a:r>
          </a:p>
          <a:p>
            <a:pPr>
              <a:lnSpc>
                <a:spcPct val="150000"/>
              </a:lnSpc>
            </a:pPr>
            <a:r>
              <a:rPr lang="vi-VN" dirty="0"/>
              <a:t>Mô tả cách thức tổ chức dự án.</a:t>
            </a:r>
          </a:p>
          <a:p>
            <a:pPr>
              <a:lnSpc>
                <a:spcPct val="150000"/>
              </a:lnSpc>
            </a:pPr>
            <a:r>
              <a:rPr lang="vi-VN" dirty="0"/>
              <a:t>Quy trình kỹ thuật và quản lý sử dụng trong dự án.</a:t>
            </a:r>
          </a:p>
          <a:p>
            <a:pPr>
              <a:lnSpc>
                <a:spcPct val="150000"/>
              </a:lnSpc>
            </a:pPr>
            <a:r>
              <a:rPr lang="vi-VN" dirty="0"/>
              <a:t>Việc cần làm, lịch trình, và thông tin ngân sách...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DFA013D-BAF6-4C0C-9785-08FC13FA94EA}" type="slidenum">
              <a:rPr lang="en-US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763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thành</a:t>
            </a:r>
            <a:r>
              <a:rPr lang="en-US" sz="4000" dirty="0"/>
              <a:t> </a:t>
            </a:r>
            <a:r>
              <a:rPr lang="en-US" sz="4000" dirty="0" err="1"/>
              <a:t>phần</a:t>
            </a:r>
            <a:r>
              <a:rPr lang="en-US" sz="4000" dirty="0"/>
              <a:t> </a:t>
            </a:r>
            <a:r>
              <a:rPr lang="en-US" sz="4000" dirty="0" err="1"/>
              <a:t>của</a:t>
            </a:r>
            <a:r>
              <a:rPr lang="en-US" sz="4000" dirty="0"/>
              <a:t> </a:t>
            </a:r>
            <a:r>
              <a:rPr lang="en-US" sz="4000" dirty="0" err="1"/>
              <a:t>kế</a:t>
            </a:r>
            <a:r>
              <a:rPr lang="en-US" sz="4000" dirty="0"/>
              <a:t> </a:t>
            </a:r>
            <a:r>
              <a:rPr lang="en-US" sz="4000" dirty="0" err="1"/>
              <a:t>hoạch</a:t>
            </a:r>
            <a:endParaRPr lang="en-US" sz="4000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42512992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AB078C3-AD74-4C69-8529-ABFACC42093C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40962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kế</a:t>
            </a:r>
            <a:r>
              <a:rPr lang="en-US" sz="3600" dirty="0"/>
              <a:t> </a:t>
            </a:r>
            <a:r>
              <a:rPr lang="en-US" sz="3600" dirty="0" err="1"/>
              <a:t>hoạch</a:t>
            </a:r>
            <a:r>
              <a:rPr lang="en-US" sz="3600" dirty="0"/>
              <a:t> QLDA </a:t>
            </a:r>
            <a:r>
              <a:rPr lang="en-US" sz="3600" dirty="0" err="1"/>
              <a:t>của</a:t>
            </a:r>
            <a:r>
              <a:rPr lang="en-US" sz="3600" dirty="0"/>
              <a:t> IEEE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" y="1447800"/>
            <a:ext cx="9042933" cy="4038599"/>
          </a:xfrm>
          <a:prstGeom prst="rect">
            <a:avLst/>
          </a:prstGeom>
        </p:spPr>
      </p:pic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42834168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8" y="1295400"/>
            <a:ext cx="8951002" cy="391953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tích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hợp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[3/6]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34714" y="3982479"/>
            <a:ext cx="1752599" cy="6096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5556527"/>
            <a:ext cx="1371600" cy="1301473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10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lý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12599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186738" cy="4029075"/>
          </a:xfrm>
        </p:spPr>
        <p:txBody>
          <a:bodyPr/>
          <a:lstStyle/>
          <a:p>
            <a:pPr algn="just"/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hướng</a:t>
            </a:r>
            <a:r>
              <a:rPr lang="en-US" b="1" dirty="0"/>
              <a:t> và quản </a:t>
            </a:r>
            <a:r>
              <a:rPr lang="en-US" b="1" dirty="0" err="1"/>
              <a:t>trị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việc</a:t>
            </a:r>
            <a:r>
              <a:rPr lang="vi-VN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direct and manage project work</a:t>
            </a:r>
            <a:r>
              <a:rPr lang="en-US" dirty="0"/>
              <a:t>)</a:t>
            </a:r>
            <a:r>
              <a:rPr lang="vi-VN" dirty="0"/>
              <a:t>: quản lý và thực hiện công việc trong kế hoạch QLDA.</a:t>
            </a:r>
          </a:p>
          <a:p>
            <a:pPr algn="just"/>
            <a:endParaRPr lang="vi-VN" sz="1000" dirty="0"/>
          </a:p>
          <a:p>
            <a:pPr algn="just"/>
            <a:r>
              <a:rPr lang="vi-VN" dirty="0"/>
              <a:t>Phần lớn thời gian và chi phí thường được dùng trong quá trình thực thi.</a:t>
            </a:r>
          </a:p>
          <a:p>
            <a:pPr algn="just"/>
            <a:endParaRPr lang="vi-VN" sz="1000" dirty="0"/>
          </a:p>
          <a:p>
            <a:pPr algn="just"/>
            <a:r>
              <a:rPr lang="vi-VN" dirty="0"/>
              <a:t>Lĩnh vực ứng dụng ảnh hưởng đến thực hiện dự án, vì sản phẩm tạo ra trong quá trình thực thi.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C99C88F-E74A-4C9A-BF8E-284267DD9072}" type="slidenum">
              <a:rPr lang="en-US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914400"/>
          </a:xfrm>
        </p:spPr>
        <p:txBody>
          <a:bodyPr>
            <a:noAutofit/>
          </a:bodyPr>
          <a:lstStyle/>
          <a:p>
            <a:pPr algn="ctr"/>
            <a:r>
              <a:rPr lang="en-US" sz="3900" dirty="0">
                <a:solidFill>
                  <a:srgbClr val="FF0000"/>
                </a:solidFill>
              </a:rPr>
              <a:t>2.3 </a:t>
            </a:r>
            <a:r>
              <a:rPr lang="en-US" sz="3900" dirty="0" err="1">
                <a:solidFill>
                  <a:srgbClr val="FF0000"/>
                </a:solidFill>
              </a:rPr>
              <a:t>Định</a:t>
            </a:r>
            <a:r>
              <a:rPr lang="en-US" sz="3900" dirty="0">
                <a:solidFill>
                  <a:srgbClr val="FF0000"/>
                </a:solidFill>
              </a:rPr>
              <a:t> </a:t>
            </a:r>
            <a:r>
              <a:rPr lang="en-US" sz="3900" dirty="0" err="1">
                <a:solidFill>
                  <a:srgbClr val="FF0000"/>
                </a:solidFill>
              </a:rPr>
              <a:t>hướng</a:t>
            </a:r>
            <a:r>
              <a:rPr lang="en-US" sz="3900" dirty="0">
                <a:solidFill>
                  <a:srgbClr val="FF0000"/>
                </a:solidFill>
              </a:rPr>
              <a:t> và quản </a:t>
            </a:r>
            <a:r>
              <a:rPr lang="en-US" sz="3900" dirty="0" err="1">
                <a:solidFill>
                  <a:srgbClr val="FF0000"/>
                </a:solidFill>
              </a:rPr>
              <a:t>trị</a:t>
            </a:r>
            <a:r>
              <a:rPr lang="en-US" sz="3900" dirty="0">
                <a:solidFill>
                  <a:srgbClr val="FF0000"/>
                </a:solidFill>
              </a:rPr>
              <a:t> </a:t>
            </a:r>
            <a:r>
              <a:rPr lang="en-US" sz="3900" dirty="0" err="1">
                <a:solidFill>
                  <a:srgbClr val="FF0000"/>
                </a:solidFill>
              </a:rPr>
              <a:t>công</a:t>
            </a:r>
            <a:r>
              <a:rPr lang="en-US" sz="3900" dirty="0">
                <a:solidFill>
                  <a:srgbClr val="FF0000"/>
                </a:solidFill>
              </a:rPr>
              <a:t> </a:t>
            </a:r>
            <a:r>
              <a:rPr lang="en-US" sz="3900" dirty="0" err="1">
                <a:solidFill>
                  <a:srgbClr val="FF0000"/>
                </a:solidFill>
              </a:rPr>
              <a:t>việc</a:t>
            </a:r>
            <a:endParaRPr lang="en-US" sz="3900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5257800"/>
            <a:ext cx="1400175" cy="1476375"/>
          </a:xfrm>
          <a:prstGeom prst="rect">
            <a:avLst/>
          </a:prstGeom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6037161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2590800"/>
          </a:xfrm>
        </p:spPr>
        <p:txBody>
          <a:bodyPr/>
          <a:lstStyle/>
          <a:p>
            <a:pPr algn="just"/>
            <a:r>
              <a:rPr lang="vi-VN" dirty="0"/>
              <a:t>Lập kế hoạch và thực thi được đan xen và không thể tách rời nhau.</a:t>
            </a:r>
          </a:p>
          <a:p>
            <a:pPr algn="just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40BE96C-17B6-4520-AECC-26039ACE6158}" type="slidenum">
              <a:rPr lang="en-US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Quan</a:t>
            </a:r>
            <a:r>
              <a:rPr lang="en-US" sz="3600" dirty="0"/>
              <a:t> </a:t>
            </a:r>
            <a:r>
              <a:rPr lang="en-US" sz="3600" dirty="0" err="1"/>
              <a:t>hệ</a:t>
            </a:r>
            <a:r>
              <a:rPr lang="en-US" sz="3600" dirty="0"/>
              <a:t> </a:t>
            </a:r>
            <a:r>
              <a:rPr lang="en-US" sz="3600" dirty="0" err="1"/>
              <a:t>giữa</a:t>
            </a:r>
            <a:r>
              <a:rPr lang="en-US" sz="3600" dirty="0"/>
              <a:t> </a:t>
            </a:r>
            <a:r>
              <a:rPr lang="en-US" sz="3600" dirty="0" err="1"/>
              <a:t>kế</a:t>
            </a:r>
            <a:r>
              <a:rPr lang="en-US" sz="3600" dirty="0"/>
              <a:t> </a:t>
            </a:r>
            <a:r>
              <a:rPr lang="en-US" sz="3600" dirty="0" err="1"/>
              <a:t>hoạch</a:t>
            </a:r>
            <a:r>
              <a:rPr lang="en-US" sz="3600" dirty="0"/>
              <a:t> và </a:t>
            </a:r>
            <a:r>
              <a:rPr lang="en-US" sz="3600" dirty="0" err="1"/>
              <a:t>thực</a:t>
            </a:r>
            <a:r>
              <a:rPr lang="en-US" sz="3600" dirty="0"/>
              <a:t> </a:t>
            </a:r>
            <a:r>
              <a:rPr lang="en-US" sz="3600" dirty="0" err="1"/>
              <a:t>thi</a:t>
            </a:r>
            <a:endParaRPr lang="en-US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95600"/>
            <a:ext cx="7973396" cy="2590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24400" y="6000690"/>
            <a:ext cx="297180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vi-VN" sz="2000" dirty="0">
                <a:latin typeface="+mj-lt"/>
              </a:rPr>
              <a:t>Nguồn: PMPOK </a:t>
            </a:r>
            <a:r>
              <a:rPr lang="vi-VN" sz="2000">
                <a:latin typeface="+mj-lt"/>
              </a:rPr>
              <a:t>(201</a:t>
            </a:r>
            <a:r>
              <a:rPr lang="en-US" sz="2000">
                <a:latin typeface="+mj-lt"/>
              </a:rPr>
              <a:t>7</a:t>
            </a:r>
            <a:r>
              <a:rPr lang="vi-VN" sz="2000">
                <a:latin typeface="+mj-lt"/>
              </a:rPr>
              <a:t>)</a:t>
            </a:r>
            <a:endParaRPr lang="vi-VN" sz="1050" dirty="0">
              <a:latin typeface="+mj-lt"/>
            </a:endParaRPr>
          </a:p>
        </p:txBody>
      </p:sp>
      <p:sp>
        <p:nvSpPr>
          <p:cNvPr id="8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11602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05800" cy="3962400"/>
          </a:xfrm>
        </p:spPr>
        <p:txBody>
          <a:bodyPr/>
          <a:lstStyle/>
          <a:p>
            <a:pPr algn="just"/>
            <a:r>
              <a:rPr lang="vi-VN" dirty="0"/>
              <a:t>Giám đốc dự án phải lãnh đạo...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V.d., thực hiện tốt việc lập kế hoạch và theo dõi dự án.</a:t>
            </a:r>
          </a:p>
          <a:p>
            <a:pPr lvl="1" algn="just"/>
            <a:endParaRPr lang="vi-VN" sz="1200" dirty="0"/>
          </a:p>
          <a:p>
            <a:pPr algn="just"/>
            <a:r>
              <a:rPr lang="vi-VN" dirty="0"/>
              <a:t>Văn hóa tổ chức giúp thực thi dự án...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Cung cấp các hướng dẫn và mẫu biểu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Theo dõi hiệu quả thực hiện dựa trên kế hoạch.</a:t>
            </a:r>
          </a:p>
          <a:p>
            <a:pPr lvl="1" algn="just"/>
            <a:endParaRPr lang="vi-VN" sz="1200" dirty="0"/>
          </a:p>
          <a:p>
            <a:pPr algn="just"/>
            <a:r>
              <a:rPr lang="vi-VN" dirty="0"/>
              <a:t>Giám đốc dự án có thể phá vỡ các quy tắc miễn sao đạt được mục tiêu dự án, và quản lý cấp cao phải ủng hộ những việc này.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391D2BE-CDDA-4CBB-8A50-E60F7F84E2F8}" type="slidenum">
              <a:rPr lang="en-US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Lãnh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và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endParaRPr lang="en-US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83993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2133600"/>
            <a:ext cx="7543800" cy="22860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algn="just"/>
            <a:r>
              <a:rPr lang="vi-V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PMI</a:t>
            </a:r>
            <a:r>
              <a:rPr lang="vi-VN" sz="2400"/>
              <a:t> (20</a:t>
            </a:r>
            <a:r>
              <a:rPr lang="en-US" sz="2400"/>
              <a:t>17</a:t>
            </a:r>
            <a:r>
              <a:rPr lang="vi-VN" sz="2400"/>
              <a:t>): </a:t>
            </a:r>
            <a:r>
              <a:rPr lang="vi-VN" sz="2400" dirty="0"/>
              <a:t>chỉ có </a:t>
            </a:r>
            <a:r>
              <a:rPr lang="vi-VN" sz="2400" b="1" dirty="0">
                <a:solidFill>
                  <a:srgbClr val="FF0000"/>
                </a:solidFill>
              </a:rPr>
              <a:t>12</a:t>
            </a:r>
            <a:r>
              <a:rPr lang="vi-VN" sz="2400" dirty="0">
                <a:solidFill>
                  <a:srgbClr val="FF0000"/>
                </a:solidFill>
              </a:rPr>
              <a:t>% </a:t>
            </a:r>
            <a:r>
              <a:rPr lang="vi-VN" sz="2400" dirty="0"/>
              <a:t>các tổ chức được coi là đạt hiệu quả cao. Tỷ lệ mày vẫn không thay đổi nhiều trong vài năm qua.</a:t>
            </a:r>
          </a:p>
          <a:p>
            <a:pPr algn="just"/>
            <a:endParaRPr lang="vi-VN" sz="1200" dirty="0"/>
          </a:p>
          <a:p>
            <a:pPr algn="just"/>
            <a:r>
              <a:rPr lang="vi-VN" sz="2400" dirty="0"/>
              <a:t>Các tổ chức cần có thay đổi lớn về văn hóa nhằm cải thiện hiệu quả...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53F6A9-037C-4679-A974-5A2F60203CED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Thay</a:t>
            </a:r>
            <a:r>
              <a:rPr lang="en-US" sz="3600" dirty="0"/>
              <a:t> </a:t>
            </a:r>
            <a:r>
              <a:rPr lang="en-US" sz="3600" dirty="0" err="1"/>
              <a:t>đổi</a:t>
            </a:r>
            <a:r>
              <a:rPr lang="en-US" sz="3600" dirty="0"/>
              <a:t> </a:t>
            </a:r>
            <a:r>
              <a:rPr lang="en-US" sz="3600" dirty="0" err="1"/>
              <a:t>văn</a:t>
            </a:r>
            <a:r>
              <a:rPr lang="en-US" sz="3600" dirty="0"/>
              <a:t> </a:t>
            </a:r>
            <a:r>
              <a:rPr lang="en-US" sz="3600" dirty="0" err="1"/>
              <a:t>hóa</a:t>
            </a:r>
            <a:r>
              <a:rPr lang="en-US" sz="3600" dirty="0"/>
              <a:t> </a:t>
            </a:r>
            <a:r>
              <a:rPr lang="en-US" sz="3600" dirty="0" err="1"/>
              <a:t>tổ</a:t>
            </a:r>
            <a:r>
              <a:rPr lang="en-US" sz="3600" dirty="0"/>
              <a:t> </a:t>
            </a:r>
            <a:r>
              <a:rPr lang="en-US" sz="3600" dirty="0" err="1"/>
              <a:t>chức</a:t>
            </a:r>
            <a:r>
              <a:rPr lang="en-US" sz="3600" dirty="0"/>
              <a:t>?</a:t>
            </a:r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116067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1752600"/>
            <a:ext cx="7924800" cy="3776662"/>
          </a:xfrm>
        </p:spPr>
        <p:txBody>
          <a:bodyPr/>
          <a:lstStyle/>
          <a:p>
            <a:pPr algn="just"/>
            <a:r>
              <a:rPr lang="vi-VN" dirty="0"/>
              <a:t>Các giám đốc dự án (PM) HTTT có kinh nghiệm kỹ thuật rất có ích cho tổ chức.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Dự án nhỏ, PM có thể làm công việc như thành viên nhóm cố vấn hoặc nhóm kỹ thuật để hoàn thành dự án.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Dự án lớn, PM phải am hiểu các lĩnh vực ứng dụng và kinh doanh của dự 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53F6A9-037C-4679-A974-5A2F60203CED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Ứng</a:t>
            </a:r>
            <a:r>
              <a:rPr lang="en-US" sz="4000" dirty="0"/>
              <a:t> </a:t>
            </a:r>
            <a:r>
              <a:rPr lang="en-US" sz="4000" dirty="0" err="1"/>
              <a:t>dụng</a:t>
            </a:r>
            <a:r>
              <a:rPr lang="en-US" sz="4000" dirty="0"/>
              <a:t> </a:t>
            </a:r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lĩnh</a:t>
            </a:r>
            <a:r>
              <a:rPr lang="en-US" sz="4000" dirty="0"/>
              <a:t> </a:t>
            </a:r>
            <a:r>
              <a:rPr lang="en-US" sz="4000" dirty="0" err="1"/>
              <a:t>vực</a:t>
            </a:r>
            <a:r>
              <a:rPr lang="en-US" sz="4000" dirty="0"/>
              <a:t> </a:t>
            </a:r>
            <a:r>
              <a:rPr lang="en-US" sz="4000" dirty="0" err="1"/>
              <a:t>kiến</a:t>
            </a:r>
            <a:r>
              <a:rPr lang="en-US" sz="4000" dirty="0"/>
              <a:t> </a:t>
            </a:r>
            <a:r>
              <a:rPr lang="en-US" sz="4000" dirty="0" err="1"/>
              <a:t>thức</a:t>
            </a:r>
            <a:endParaRPr lang="en-US" sz="4000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3318137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52600"/>
            <a:ext cx="8458200" cy="3657600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Phán đoán chuyên gia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expert judgment</a:t>
            </a:r>
            <a:r>
              <a:rPr lang="vi-VN" dirty="0"/>
              <a:t>): giúp giám đốc và đội dự án có quyết định trong việc thực thi.</a:t>
            </a:r>
          </a:p>
          <a:p>
            <a:pPr algn="just">
              <a:lnSpc>
                <a:spcPct val="120000"/>
              </a:lnSpc>
            </a:pPr>
            <a:endParaRPr lang="vi-VN" sz="1200" dirty="0"/>
          </a:p>
          <a:p>
            <a:pPr algn="just">
              <a:lnSpc>
                <a:spcPct val="120000"/>
              </a:lnSpc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cuộc họp</a:t>
            </a:r>
            <a:r>
              <a:rPr lang="vi-VN" dirty="0"/>
              <a:t> (</a:t>
            </a:r>
            <a:r>
              <a:rPr lang="en-US" dirty="0">
                <a:solidFill>
                  <a:srgbClr val="0070C0"/>
                </a:solidFill>
              </a:rPr>
              <a:t>meetings</a:t>
            </a:r>
            <a:r>
              <a:rPr lang="vi-VN" dirty="0"/>
              <a:t>): phát triển mối quan hệ, ngôn ngữ cơ thể, đối thoại... để giải quyết vấn đề.</a:t>
            </a:r>
          </a:p>
          <a:p>
            <a:pPr algn="just">
              <a:lnSpc>
                <a:spcPct val="120000"/>
              </a:lnSpc>
            </a:pPr>
            <a:endParaRPr lang="vi-VN" sz="1200" dirty="0"/>
          </a:p>
          <a:p>
            <a:pPr algn="just">
              <a:lnSpc>
                <a:spcPct val="120000"/>
              </a:lnSpc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HTTT quản lý dự án </a:t>
            </a:r>
            <a:r>
              <a:rPr lang="vi-VN" dirty="0"/>
              <a:t>(</a:t>
            </a:r>
            <a:r>
              <a:rPr lang="vi-VN" dirty="0">
                <a:solidFill>
                  <a:srgbClr val="0070C0"/>
                </a:solidFill>
              </a:rPr>
              <a:t>PMIS</a:t>
            </a:r>
            <a:r>
              <a:rPr lang="vi-VN" dirty="0"/>
              <a:t>): hệ thống QLDA doanh nghiệp toàn diện, có thể truy cập qua Internet.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FDD198B-9674-48C3-ACD4-753DB8EA2AE8}" type="slidenum">
              <a:rPr lang="en-US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Công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cụ</a:t>
            </a:r>
            <a:r>
              <a:rPr lang="en-US" sz="4000" dirty="0">
                <a:solidFill>
                  <a:srgbClr val="0070C0"/>
                </a:solidFill>
              </a:rPr>
              <a:t> và </a:t>
            </a:r>
            <a:r>
              <a:rPr lang="en-US" sz="4000" dirty="0" err="1">
                <a:solidFill>
                  <a:srgbClr val="0070C0"/>
                </a:solidFill>
              </a:rPr>
              <a:t>kỹ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thuật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thực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thi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dự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án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3468620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8" y="1295400"/>
            <a:ext cx="8951002" cy="391953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z="1000" smtClean="0"/>
              <a:pPr>
                <a:defRPr/>
              </a:pPr>
              <a:t>48</a:t>
            </a:fld>
            <a:endParaRPr lang="en-US" sz="10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tích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hợp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[4/6]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62600" y="4038600"/>
            <a:ext cx="1752599" cy="53435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478613"/>
            <a:ext cx="1524000" cy="1379387"/>
          </a:xfrm>
          <a:prstGeom prst="rect">
            <a:avLst/>
          </a:prstGeom>
        </p:spPr>
      </p:pic>
      <p:sp>
        <p:nvSpPr>
          <p:cNvPr id="10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68052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7924800" cy="3505200"/>
          </a:xfrm>
        </p:spPr>
        <p:txBody>
          <a:bodyPr/>
          <a:lstStyle/>
          <a:p>
            <a:pPr algn="just"/>
            <a:r>
              <a:rPr lang="vi-VN" b="1" dirty="0"/>
              <a:t>Theo dõi và kiểm soát công việc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monitor and control project work</a:t>
            </a:r>
            <a:r>
              <a:rPr lang="vi-VN" dirty="0"/>
              <a:t>) được thực hiện theo quy trình để kiểm soát các thay đổi.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Theo dõi công việc dự án: thu thập, đo lường, và phổ biến các thông tin.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Đường cơ sở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baseline</a:t>
            </a:r>
            <a:r>
              <a:rPr lang="vi-VN" dirty="0"/>
              <a:t>): kế hoạch QLDA và những thay đổi đã được duyệt.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0500734-7A97-4DE9-BADB-70D27B29DC61}" type="slidenum">
              <a:rPr lang="en-US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2.4 Theo </a:t>
            </a:r>
            <a:r>
              <a:rPr lang="en-US" sz="4400" dirty="0" err="1">
                <a:solidFill>
                  <a:srgbClr val="FF0000"/>
                </a:solidFill>
              </a:rPr>
              <a:t>dõi</a:t>
            </a:r>
            <a:r>
              <a:rPr lang="en-US" sz="4400" dirty="0">
                <a:solidFill>
                  <a:srgbClr val="FF0000"/>
                </a:solidFill>
              </a:rPr>
              <a:t> và </a:t>
            </a:r>
            <a:r>
              <a:rPr lang="en-US" sz="4400" dirty="0" err="1">
                <a:solidFill>
                  <a:srgbClr val="FF0000"/>
                </a:solidFill>
              </a:rPr>
              <a:t>kiểm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soát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công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việc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5257800"/>
            <a:ext cx="1607344" cy="1143000"/>
          </a:xfrm>
          <a:prstGeom prst="rect">
            <a:avLst/>
          </a:prstGeom>
        </p:spPr>
      </p:pic>
      <p:sp>
        <p:nvSpPr>
          <p:cNvPr id="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6673329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8" y="1295400"/>
            <a:ext cx="8951002" cy="391953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z="1000" smtClean="0"/>
              <a:pPr>
                <a:defRPr/>
              </a:pPr>
              <a:t>50</a:t>
            </a:fld>
            <a:endParaRPr lang="en-US" sz="10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tích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hợp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[5/6]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62600" y="4628197"/>
            <a:ext cx="1752599" cy="53435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649685"/>
            <a:ext cx="1295400" cy="1208315"/>
          </a:xfrm>
          <a:prstGeom prst="rect">
            <a:avLst/>
          </a:prstGeom>
        </p:spPr>
      </p:pic>
      <p:sp>
        <p:nvSpPr>
          <p:cNvPr id="10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30372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2862262"/>
          </a:xfrm>
        </p:spPr>
        <p:txBody>
          <a:bodyPr>
            <a:normAutofit/>
          </a:bodyPr>
          <a:lstStyle/>
          <a:p>
            <a:pPr marL="287338" indent="-287338" algn="just"/>
            <a:r>
              <a:rPr lang="vi-VN" sz="2800" b="1" dirty="0"/>
              <a:t>Kiểm soát thay đổi tích hợp</a:t>
            </a:r>
            <a:r>
              <a:rPr lang="vi-VN" sz="2800" dirty="0"/>
              <a:t> (</a:t>
            </a:r>
            <a:r>
              <a:rPr lang="vi-VN" sz="2800" dirty="0">
                <a:solidFill>
                  <a:srgbClr val="0070C0"/>
                </a:solidFill>
              </a:rPr>
              <a:t>perform integrated change control</a:t>
            </a:r>
            <a:r>
              <a:rPr lang="vi-VN" sz="2800" dirty="0"/>
              <a:t>) có 3 mục tiêu chính...</a:t>
            </a:r>
          </a:p>
          <a:p>
            <a:pPr marL="287338" indent="-287338" algn="just"/>
            <a:endParaRPr lang="vi-VN" sz="800" dirty="0"/>
          </a:p>
          <a:p>
            <a:pPr marL="525463" lvl="2" indent="-287338" algn="just">
              <a:buClr>
                <a:srgbClr val="0070C0"/>
              </a:buClr>
            </a:pPr>
            <a:r>
              <a:rPr lang="vi-VN" sz="2400" dirty="0"/>
              <a:t>Các yếu tố ảnh hưởng đến sự thay đổi có lợi</a:t>
            </a:r>
          </a:p>
          <a:p>
            <a:pPr marL="525463" lvl="2" indent="-287338" algn="just">
              <a:buClr>
                <a:srgbClr val="0070C0"/>
              </a:buClr>
            </a:pPr>
            <a:endParaRPr lang="vi-VN" sz="600" dirty="0"/>
          </a:p>
          <a:p>
            <a:pPr marL="525463" lvl="2" indent="-287338" algn="just">
              <a:buClr>
                <a:srgbClr val="0070C0"/>
              </a:buClr>
            </a:pPr>
            <a:r>
              <a:rPr lang="vi-VN" sz="2400" dirty="0"/>
              <a:t>Xác định sự thay đổi</a:t>
            </a:r>
          </a:p>
          <a:p>
            <a:pPr marL="525463" lvl="2" indent="-287338" algn="just">
              <a:buClr>
                <a:srgbClr val="0070C0"/>
              </a:buClr>
            </a:pPr>
            <a:endParaRPr lang="vi-VN" sz="600" dirty="0"/>
          </a:p>
          <a:p>
            <a:pPr marL="525463" lvl="2" indent="-287338" algn="just">
              <a:buClr>
                <a:srgbClr val="0070C0"/>
              </a:buClr>
            </a:pPr>
            <a:r>
              <a:rPr lang="vi-VN" sz="2400" dirty="0"/>
              <a:t>Quản lý thay đổi theo thực tế.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A99360-D0C3-4752-A276-D993F1CB9E68}" type="slidenum">
              <a:rPr lang="en-US"/>
              <a:pPr>
                <a:defRPr/>
              </a:pPr>
              <a:t>51</a:t>
            </a:fld>
            <a:endParaRPr lang="en-US" dirty="0"/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2.5 </a:t>
            </a:r>
            <a:r>
              <a:rPr lang="en-US" sz="4400" dirty="0" err="1">
                <a:solidFill>
                  <a:srgbClr val="FF0000"/>
                </a:solidFill>
              </a:rPr>
              <a:t>Kiểm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soát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thay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đổi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tích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hợp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495800"/>
            <a:ext cx="1607344" cy="1143000"/>
          </a:xfrm>
          <a:prstGeom prst="rect">
            <a:avLst/>
          </a:prstGeom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391010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 điểm củ</a:t>
            </a:r>
            <a:r>
              <a:rPr lang="vi-VN" dirty="0"/>
              <a:t>: đội/nhóm dự án thực hiện theo kế hoạch - đúng thời gian và trong ngân sách.</a:t>
            </a:r>
          </a:p>
          <a:p>
            <a:pPr algn="just"/>
            <a:endParaRPr lang="vi-VN" sz="1000" dirty="0"/>
          </a:p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Vấn đề</a:t>
            </a:r>
            <a:r>
              <a:rPr lang="vi-VN" dirty="0"/>
              <a:t>: các bên liên quan ít khi đồng ý là phạm vi - thời gian - chi phí ước lượng không chính xác.</a:t>
            </a:r>
          </a:p>
          <a:p>
            <a:pPr algn="just"/>
            <a:endParaRPr lang="vi-VN" sz="1000" dirty="0"/>
          </a:p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 điểm mới</a:t>
            </a:r>
            <a:r>
              <a:rPr lang="vi-VN" dirty="0"/>
              <a:t>: QLDA là một quá trình truyền thông và đàm phán thường xuyên.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vi-VN" sz="12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Giải pháp</a:t>
            </a:r>
            <a:r>
              <a:rPr lang="vi-VN" dirty="0"/>
              <a:t>: thay đổi thường là có lợi, và đội/nhóm dự án nên có kế hoạch thực hiện...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BF51A45-B78F-43E4-8C68-BC192A207CCB}" type="slidenum">
              <a:rPr lang="en-US"/>
              <a:pPr>
                <a:defRPr/>
              </a:pPr>
              <a:t>52</a:t>
            </a:fld>
            <a:endParaRPr lang="en-US" dirty="0"/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Kiểm</a:t>
            </a:r>
            <a:r>
              <a:rPr lang="en-US" sz="4000" dirty="0"/>
              <a:t> </a:t>
            </a:r>
            <a:r>
              <a:rPr lang="en-US" sz="4000" dirty="0" err="1"/>
              <a:t>soát</a:t>
            </a:r>
            <a:r>
              <a:rPr lang="en-US" sz="4000" dirty="0"/>
              <a:t> </a:t>
            </a:r>
            <a:r>
              <a:rPr lang="en-US" sz="4000" dirty="0" err="1"/>
              <a:t>thay</a:t>
            </a:r>
            <a:r>
              <a:rPr lang="en-US" sz="4000" dirty="0"/>
              <a:t> </a:t>
            </a:r>
            <a:r>
              <a:rPr lang="en-US" sz="4000" dirty="0" err="1"/>
              <a:t>đổi</a:t>
            </a:r>
            <a:r>
              <a:rPr lang="en-US" sz="4000" dirty="0"/>
              <a:t>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r>
              <a:rPr lang="en-US" sz="4000" dirty="0"/>
              <a:t> HTTT</a:t>
            </a:r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41542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243328"/>
            <a:ext cx="8382000" cy="3166872"/>
          </a:xfrm>
        </p:spPr>
        <p:txBody>
          <a:bodyPr/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Hệ thống kiểm soát thay đổi</a:t>
            </a:r>
            <a:r>
              <a:rPr lang="vi-VN" dirty="0"/>
              <a:t> (</a:t>
            </a:r>
            <a:r>
              <a:rPr lang="en-US" dirty="0">
                <a:solidFill>
                  <a:srgbClr val="0070C0"/>
                </a:solidFill>
              </a:rPr>
              <a:t>change control system</a:t>
            </a:r>
            <a:r>
              <a:rPr lang="vi-VN" dirty="0"/>
              <a:t>): quá trình mô tả các tài liệu và công việc chính thức được thay đổi khi nào và như thế nào.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Mô tả người có thẩm quyền thực hiện thay đổi và làm thế nào để thực hiện...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0EB7EED-8A3B-4E44-8A3C-892AC7DB1E15}" type="slidenum">
              <a:rPr lang="en-US"/>
              <a:pPr>
                <a:defRPr/>
              </a:pPr>
              <a:t>53</a:t>
            </a:fld>
            <a:endParaRPr lang="en-US" dirty="0"/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Hệ thống </a:t>
            </a:r>
            <a:r>
              <a:rPr lang="en-US" sz="4000" dirty="0" err="1"/>
              <a:t>kiểm</a:t>
            </a:r>
            <a:r>
              <a:rPr lang="en-US" sz="4000" dirty="0"/>
              <a:t> </a:t>
            </a:r>
            <a:r>
              <a:rPr lang="en-US" sz="4000" dirty="0" err="1"/>
              <a:t>soát</a:t>
            </a:r>
            <a:r>
              <a:rPr lang="en-US" sz="4000" dirty="0"/>
              <a:t> </a:t>
            </a:r>
            <a:r>
              <a:rPr lang="en-US" sz="4000" dirty="0" err="1"/>
              <a:t>thay</a:t>
            </a:r>
            <a:r>
              <a:rPr lang="en-US" sz="4000" dirty="0"/>
              <a:t> </a:t>
            </a:r>
            <a:r>
              <a:rPr lang="en-US" sz="4000" dirty="0" err="1"/>
              <a:t>đổi</a:t>
            </a:r>
            <a:endParaRPr lang="en-US" sz="4000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4155511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85938"/>
            <a:ext cx="8229600" cy="3852862"/>
          </a:xfrm>
        </p:spPr>
        <p:txBody>
          <a:bodyPr/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 kiểm soát thay đổ</a:t>
            </a:r>
            <a:r>
              <a:rPr lang="vi-VN" dirty="0"/>
              <a:t>i -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CCB</a:t>
            </a:r>
            <a:r>
              <a:rPr lang="vi-VN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Change Control Board</a:t>
            </a:r>
            <a:r>
              <a:rPr lang="en-US" dirty="0"/>
              <a:t>)</a:t>
            </a:r>
            <a:r>
              <a:rPr lang="en-US" b="1" dirty="0"/>
              <a:t>: </a:t>
            </a:r>
            <a:r>
              <a:rPr lang="vi-VN" dirty="0"/>
              <a:t>nhóm người có trách nhiệm duyệt/từ chối các thay đổi của dự án [</a:t>
            </a:r>
            <a:r>
              <a:rPr lang="vi-VN" dirty="0">
                <a:solidFill>
                  <a:srgbClr val="0070C0"/>
                </a:solidFill>
              </a:rPr>
              <a:t>48</a:t>
            </a:r>
            <a:r>
              <a:rPr lang="vi-VN" dirty="0"/>
              <a:t>]...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CCB</a:t>
            </a:r>
            <a:r>
              <a:rPr lang="vi-VN" dirty="0"/>
              <a:t> cung cấp hướng dẫn yêu cầu thay đổi, đánh giá các yêu cầu, và quản lý thay đổi được duyệt.</a:t>
            </a:r>
          </a:p>
          <a:p>
            <a:pPr algn="just"/>
            <a:endParaRPr lang="vi-V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CCB</a:t>
            </a:r>
            <a:r>
              <a:rPr lang="vi-VN" dirty="0"/>
              <a:t> gồm các bên liên quan trong tổ chức.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3573DC6-EB44-4256-B5C3-90167C634BEE}" type="slidenum">
              <a:rPr lang="en-US"/>
              <a:pPr>
                <a:defRPr/>
              </a:pPr>
              <a:t>54</a:t>
            </a:fld>
            <a:endParaRPr lang="en-US" dirty="0"/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Ban </a:t>
            </a:r>
            <a:r>
              <a:rPr lang="en-US" sz="4000" dirty="0" err="1"/>
              <a:t>kiểm</a:t>
            </a:r>
            <a:r>
              <a:rPr lang="en-US" sz="4000" dirty="0"/>
              <a:t> </a:t>
            </a:r>
            <a:r>
              <a:rPr lang="en-US" sz="4000" dirty="0" err="1"/>
              <a:t>soát</a:t>
            </a:r>
            <a:r>
              <a:rPr lang="en-US" sz="4000" dirty="0"/>
              <a:t> </a:t>
            </a:r>
            <a:r>
              <a:rPr lang="en-US" sz="4000" dirty="0" err="1"/>
              <a:t>thay</a:t>
            </a:r>
            <a:r>
              <a:rPr lang="en-US" sz="4000" dirty="0"/>
              <a:t> </a:t>
            </a:r>
            <a:r>
              <a:rPr lang="en-US" sz="4000" dirty="0" err="1"/>
              <a:t>đổi</a:t>
            </a:r>
            <a:endParaRPr lang="en-US" sz="4000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1368409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373380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vi-VN" sz="2400" dirty="0"/>
              <a:t>Công nghệ thế giới thay đổi liên tục... Ví dụ, cần tăng cường chuyển vùng di động quốc tế.</a:t>
            </a:r>
          </a:p>
          <a:p>
            <a:pPr algn="just"/>
            <a:endParaRPr lang="vi-VN" sz="500" dirty="0"/>
          </a:p>
          <a:p>
            <a:pPr algn="just"/>
            <a:r>
              <a:rPr lang="vi-VN" sz="2400" dirty="0"/>
              <a:t>Hệ thống không tương thích, nhà mạng khó khăn ở một số vùng phủ sóng, tính độc quyền khiến giá tăng cao...</a:t>
            </a:r>
          </a:p>
          <a:p>
            <a:pPr algn="just"/>
            <a:endParaRPr lang="vi-VN" sz="500" dirty="0"/>
          </a:p>
          <a:p>
            <a:pPr algn="just"/>
            <a:r>
              <a:rPr lang="vi-VN" sz="2400" dirty="0"/>
              <a:t>2012: 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OECD</a:t>
            </a:r>
            <a:r>
              <a:rPr lang="vi-VN" sz="2400" dirty="0"/>
              <a:t>* kêu gọi chính phủ các thành viên thúc đẩy cạnh tranh trong chuyển vùng quốc tế.</a:t>
            </a:r>
          </a:p>
          <a:p>
            <a:pPr algn="just"/>
            <a:endParaRPr lang="vi-VN" sz="5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vi-VN" sz="2400" dirty="0"/>
              <a:t>2013: mạng không dây băng rộng đã thâm nhập lên đến </a:t>
            </a:r>
            <a:r>
              <a:rPr lang="vi-VN" sz="2400" b="1" dirty="0">
                <a:solidFill>
                  <a:srgbClr val="FF0000"/>
                </a:solidFill>
              </a:rPr>
              <a:t>72,4</a:t>
            </a:r>
            <a:r>
              <a:rPr lang="vi-VN" sz="2400" dirty="0">
                <a:solidFill>
                  <a:srgbClr val="FF0000"/>
                </a:solidFill>
              </a:rPr>
              <a:t>%</a:t>
            </a:r>
            <a:r>
              <a:rPr lang="vi-VN" sz="2400" dirty="0"/>
              <a:t> các nước thuộc 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OECD</a:t>
            </a:r>
            <a:r>
              <a:rPr lang="vi-VN" sz="2400" dirty="0"/>
              <a:t>...</a:t>
            </a:r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53F6A9-037C-4679-A974-5A2F60203CED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828800" y="5802868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800" dirty="0"/>
              <a:t>*OECD: Organisation for Economic Co-operation and Development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04825"/>
            <a:ext cx="4562475" cy="638175"/>
          </a:xfrm>
          <a:prstGeom prst="rect">
            <a:avLst/>
          </a:prstGeom>
        </p:spPr>
      </p:pic>
      <p:sp>
        <p:nvSpPr>
          <p:cNvPr id="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41149575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A10A319-FAEE-4555-94D7-63E74BB39CF7}" type="slidenum">
              <a:rPr lang="en-US"/>
              <a:pPr>
                <a:defRPr/>
              </a:pPr>
              <a:t>56</a:t>
            </a:fld>
            <a:endParaRPr lang="en-US" dirty="0"/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gợi</a:t>
            </a:r>
            <a:r>
              <a:rPr lang="en-US" sz="3600" dirty="0"/>
              <a:t> ý </a:t>
            </a:r>
            <a:r>
              <a:rPr lang="en-US" sz="3600" dirty="0" err="1"/>
              <a:t>để</a:t>
            </a:r>
            <a:r>
              <a:rPr lang="en-US" sz="3600" dirty="0"/>
              <a:t> </a:t>
            </a:r>
            <a:r>
              <a:rPr lang="en-US" sz="3600" dirty="0" err="1"/>
              <a:t>kiểm</a:t>
            </a:r>
            <a:r>
              <a:rPr lang="en-US" sz="3600" dirty="0"/>
              <a:t> </a:t>
            </a:r>
            <a:r>
              <a:rPr lang="en-US" sz="3600" dirty="0" err="1"/>
              <a:t>soát</a:t>
            </a:r>
            <a:r>
              <a:rPr lang="en-US" sz="3600" dirty="0"/>
              <a:t> </a:t>
            </a:r>
            <a:r>
              <a:rPr lang="en-US" sz="3600" dirty="0" err="1"/>
              <a:t>thay</a:t>
            </a:r>
            <a:r>
              <a:rPr lang="en-US" sz="3600" dirty="0"/>
              <a:t> </a:t>
            </a:r>
            <a:r>
              <a:rPr lang="en-US" sz="3600" dirty="0" err="1"/>
              <a:t>đổi</a:t>
            </a:r>
            <a:endParaRPr lang="en-US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5071"/>
            <a:ext cx="9058275" cy="4163729"/>
          </a:xfrm>
          <a:prstGeom prst="rect">
            <a:avLst/>
          </a:prstGeom>
        </p:spPr>
      </p:pic>
      <p:sp>
        <p:nvSpPr>
          <p:cNvPr id="7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8328147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8" y="1295400"/>
            <a:ext cx="8951002" cy="391953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z="1000" smtClean="0"/>
              <a:pPr>
                <a:defRPr/>
              </a:pPr>
              <a:t>57</a:t>
            </a:fld>
            <a:endParaRPr lang="en-US" sz="10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tích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hợp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[6/6]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91400" y="4041362"/>
            <a:ext cx="1600200" cy="58778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5354877"/>
            <a:ext cx="1219200" cy="1503123"/>
          </a:xfrm>
          <a:prstGeom prst="rect">
            <a:avLst/>
          </a:prstGeom>
        </p:spPr>
      </p:pic>
      <p:sp>
        <p:nvSpPr>
          <p:cNvPr id="10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427409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09738"/>
            <a:ext cx="8229600" cy="3776662"/>
          </a:xfrm>
        </p:spPr>
        <p:txBody>
          <a:bodyPr/>
          <a:lstStyle/>
          <a:p>
            <a:pPr algn="just"/>
            <a:r>
              <a:rPr lang="vi-VN" b="1" dirty="0"/>
              <a:t>Kết thúc dự án hoặc giai đoạn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close project or phase</a:t>
            </a:r>
            <a:r>
              <a:rPr lang="vi-VN" dirty="0"/>
              <a:t>): phải hoàn thành các hoạt động và chuyển giao công việc hoặc huỷ bỏ.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Kết quả đầu ra chính...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Sản phẩm/dịch vụ cuối cùng, hoặc kết quả chuyển đổi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Cập nhật tài sản quy trình tổ chức.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9A08B3E-F93B-46D5-90C8-0EFC6622AEB1}" type="slidenum">
              <a:rPr lang="en-US"/>
              <a:pPr>
                <a:defRPr/>
              </a:pPr>
              <a:t>58</a:t>
            </a:fld>
            <a:endParaRPr lang="en-US" dirty="0"/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2.6 </a:t>
            </a:r>
            <a:r>
              <a:rPr lang="en-US" sz="4000" dirty="0" err="1">
                <a:solidFill>
                  <a:srgbClr val="FF0000"/>
                </a:solidFill>
              </a:rPr>
              <a:t>Kết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thúc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dự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án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hoặc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giai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đoạn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275" y="4800600"/>
            <a:ext cx="1457325" cy="1551854"/>
          </a:xfrm>
          <a:prstGeom prst="rect">
            <a:avLst/>
          </a:prstGeom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01346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534400" cy="2743200"/>
          </a:xfrm>
        </p:spPr>
        <p:txBody>
          <a:bodyPr/>
          <a:lstStyle/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quản lý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…</a:t>
            </a:r>
            <a:endParaRPr lang="vi-V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Phần mềm xử lý văn bản (v.d., MS Word)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Bảng tính hoặc cơ sở dữ liệu (v.d., MS Excel, Access)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Phần mềm thuyết trình (v.d., MS Power Point)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Phần mềm truyền thông (v.d., Email, Chat)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Phần mềm quản lý dự án tổng thể (v.d., PMIS)...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2A9576C-302C-46B8-9ADA-74B5D8EDAD33}" type="slidenum">
              <a:rPr lang="en-US"/>
              <a:pPr>
                <a:defRPr/>
              </a:pPr>
              <a:t>59</a:t>
            </a:fld>
            <a:endParaRPr lang="en-US" dirty="0"/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Phần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mềm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hỗ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trợ</a:t>
            </a:r>
            <a:r>
              <a:rPr lang="en-US" sz="4000" dirty="0">
                <a:solidFill>
                  <a:srgbClr val="0070C0"/>
                </a:solidFill>
              </a:rPr>
              <a:t> quản lý </a:t>
            </a:r>
            <a:r>
              <a:rPr lang="en-US" sz="4000" dirty="0" err="1">
                <a:solidFill>
                  <a:srgbClr val="0070C0"/>
                </a:solidFill>
              </a:rPr>
              <a:t>tích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hợp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8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D8E741-2ADC-40E1-9862-6BD2D5F8A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574" y="4648200"/>
            <a:ext cx="5308626" cy="108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979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010" y="1905000"/>
            <a:ext cx="9108989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br>
              <a:rPr dirty="0">
                <a:solidFill>
                  <a:srgbClr val="0070C0"/>
                </a:solidFill>
                <a:effectLst/>
              </a:rPr>
            </a:br>
            <a:r>
              <a:rPr lang="vi-VN" dirty="0">
                <a:solidFill>
                  <a:srgbClr val="0070C0"/>
                </a:solidFill>
                <a:effectLst/>
              </a:rPr>
              <a:t>3. </a:t>
            </a:r>
            <a:r>
              <a:rPr lang="vi-VN" sz="4400" dirty="0">
                <a:solidFill>
                  <a:srgbClr val="0070C0"/>
                </a:solidFill>
                <a:effectLst/>
              </a:rPr>
              <a:t>TÓM TẮT &amp; TỪ KHÓA</a:t>
            </a:r>
            <a:br>
              <a:rPr lang="vi-VN" sz="4400" dirty="0">
                <a:solidFill>
                  <a:srgbClr val="0070C0"/>
                </a:solidFill>
                <a:effectLst/>
              </a:rPr>
            </a:br>
            <a:endParaRPr lang="vi-VN" sz="4400" dirty="0">
              <a:solidFill>
                <a:srgbClr val="0070C0"/>
              </a:solidFill>
              <a:effectLst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>
          <a:xfrm>
            <a:off x="723900" y="317956"/>
            <a:ext cx="78486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endParaRPr lang="vi-VN" sz="3000" b="1" u="sng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</a:endParaRPr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038600"/>
            <a:ext cx="2306307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582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057400"/>
            <a:ext cx="8305800" cy="28956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QLDA: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,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hoặch</a:t>
            </a:r>
            <a:r>
              <a:rPr lang="en-US" dirty="0"/>
              <a:t>,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,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-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, và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.</a:t>
            </a:r>
          </a:p>
          <a:p>
            <a:pPr algn="just"/>
            <a:endParaRPr lang="en-US" sz="1400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10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.</a:t>
            </a:r>
          </a:p>
          <a:p>
            <a:pPr algn="just"/>
            <a:endParaRPr lang="en-US" sz="1400" dirty="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Tóm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tắt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>
                <a:solidFill>
                  <a:schemeClr val="bg1">
                    <a:lumMod val="65000"/>
                  </a:schemeClr>
                </a:solidFill>
              </a:rPr>
              <a:t>[1]</a:t>
            </a:r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4191000" y="4495800"/>
            <a:ext cx="4267200" cy="1828800"/>
            <a:chOff x="142875" y="1609725"/>
            <a:chExt cx="8848725" cy="4486275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391275" y="3886200"/>
              <a:ext cx="1143000" cy="129540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1514475" y="3810000"/>
              <a:ext cx="9144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3952875" y="2438400"/>
              <a:ext cx="914400" cy="121920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3952875" y="3962400"/>
              <a:ext cx="1066800" cy="114300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5476875" y="2971800"/>
              <a:ext cx="0" cy="144780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6010275" y="3276600"/>
              <a:ext cx="0" cy="144780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2525" y="4448175"/>
              <a:ext cx="1581150" cy="164782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34275" y="2819400"/>
              <a:ext cx="1457325" cy="167640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28875" y="2971800"/>
              <a:ext cx="1609725" cy="1628775"/>
            </a:xfrm>
            <a:prstGeom prst="rect">
              <a:avLst/>
            </a:prstGeom>
          </p:spPr>
        </p:pic>
        <p:cxnSp>
          <p:nvCxnSpPr>
            <p:cNvPr id="17" name="Straight Arrow Connector 16"/>
            <p:cNvCxnSpPr/>
            <p:nvPr/>
          </p:nvCxnSpPr>
          <p:spPr>
            <a:xfrm>
              <a:off x="6467475" y="2438400"/>
              <a:ext cx="1066800" cy="106680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67275" y="1609725"/>
              <a:ext cx="1685925" cy="1666875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2875" y="2981325"/>
              <a:ext cx="1466850" cy="1666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605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138"/>
            <a:ext cx="8458200" cy="4525962"/>
          </a:xfrm>
        </p:spPr>
        <p:txBody>
          <a:bodyPr/>
          <a:lstStyle/>
          <a:p>
            <a:pPr algn="just"/>
            <a:r>
              <a:rPr lang="vi-VN" dirty="0"/>
              <a:t>Quản lý tích hợp dự án là việc phối hợp các lĩnh vực kiến thức khác nhau trong suốt vòng đời dự án.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Quy trình chính của quản lý tích hợp dự án...</a:t>
            </a:r>
          </a:p>
          <a:p>
            <a:pPr algn="just"/>
            <a:endParaRPr lang="en-US" dirty="0"/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Tóm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tắt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>
                <a:solidFill>
                  <a:schemeClr val="bg1">
                    <a:lumMod val="65000"/>
                  </a:schemeClr>
                </a:solidFill>
              </a:rPr>
              <a:t>[2]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429000"/>
            <a:ext cx="5916579" cy="2590800"/>
          </a:xfrm>
          <a:prstGeom prst="rect">
            <a:avLst/>
          </a:prstGeom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4555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9067800" cy="5257800"/>
          </a:xfrm>
        </p:spPr>
        <p:txBody>
          <a:bodyPr/>
          <a:lstStyle/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rgbClr val="0070C0"/>
                </a:solidFill>
              </a:rPr>
              <a:t>Process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Initiating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>
                <a:solidFill>
                  <a:srgbClr val="00B050"/>
                </a:solidFill>
              </a:rPr>
              <a:t>Planning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>
                <a:solidFill>
                  <a:srgbClr val="7030A0"/>
                </a:solidFill>
              </a:rPr>
              <a:t>Executing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Monitoring &amp; controlling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>
                <a:solidFill>
                  <a:srgbClr val="FF0000"/>
                </a:solidFill>
              </a:rPr>
              <a:t>Closing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Develop project charter</a:t>
            </a:r>
            <a:endParaRPr lang="en-US" sz="2000" dirty="0">
              <a:solidFill>
                <a:srgbClr val="0070C0"/>
              </a:solidFill>
            </a:endParaRPr>
          </a:p>
          <a:p>
            <a:pPr marL="1600200" lvl="6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>
                <a:solidFill>
                  <a:srgbClr val="00B050"/>
                </a:solidFill>
              </a:rPr>
              <a:t>Develop project management plan</a:t>
            </a:r>
            <a:endParaRPr lang="en-US" sz="2000" dirty="0">
              <a:solidFill>
                <a:srgbClr val="0070C0"/>
              </a:solidFill>
            </a:endParaRPr>
          </a:p>
          <a:p>
            <a:pPr marL="392113" lvl="1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                                     </a:t>
            </a:r>
            <a:r>
              <a:rPr lang="en-US" sz="2000" dirty="0">
                <a:solidFill>
                  <a:srgbClr val="7030A0"/>
                </a:solidFill>
              </a:rPr>
              <a:t>Direct and manage project execution</a:t>
            </a:r>
          </a:p>
          <a:p>
            <a:pPr marL="392113" lvl="1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                                                        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Monitor and control project work</a:t>
            </a:r>
          </a:p>
          <a:p>
            <a:pPr marL="392113" lvl="1" indent="0"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                                                        Perform integrated change control</a:t>
            </a:r>
            <a:endParaRPr lang="en-US" sz="2000" dirty="0">
              <a:solidFill>
                <a:srgbClr val="0070C0"/>
              </a:solidFill>
            </a:endParaRPr>
          </a:p>
          <a:p>
            <a:pPr marL="392113" lvl="1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                                                                                     </a:t>
            </a:r>
            <a:r>
              <a:rPr lang="en-US" sz="2000" dirty="0">
                <a:solidFill>
                  <a:srgbClr val="FF0000"/>
                </a:solidFill>
              </a:rPr>
              <a:t>Close project or phase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600" dirty="0"/>
          </a:p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:</a:t>
            </a:r>
            <a:endParaRPr lang="en-US" sz="2400" dirty="0">
              <a:solidFill>
                <a:srgbClr val="0070C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NPV</a:t>
            </a:r>
            <a:r>
              <a:rPr lang="en-US" sz="2200" dirty="0">
                <a:solidFill>
                  <a:srgbClr val="0070C0"/>
                </a:solidFill>
              </a:rPr>
              <a:t> (Net Present Value)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PMIS</a:t>
            </a:r>
            <a:r>
              <a:rPr lang="en-US" sz="2200" dirty="0">
                <a:solidFill>
                  <a:srgbClr val="0070C0"/>
                </a:solidFill>
              </a:rPr>
              <a:t> (Project Management Information System)…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Từ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khóa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7789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81000" y="381000"/>
            <a:ext cx="8382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r>
              <a:rPr lang="en-US" sz="4400" dirty="0" err="1"/>
              <a:t>Bài</a:t>
            </a:r>
            <a:r>
              <a:rPr lang="en-US" sz="4400" dirty="0"/>
              <a:t> </a:t>
            </a:r>
            <a:r>
              <a:rPr lang="en-US" sz="4400" err="1"/>
              <a:t>đọc</a:t>
            </a:r>
            <a:r>
              <a:rPr lang="en-US" sz="4400"/>
              <a:t> thêm…</a:t>
            </a:r>
            <a:endParaRPr lang="en-US" sz="4400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722811" y="1904999"/>
            <a:ext cx="7506789" cy="1987731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algn="just"/>
            <a:r>
              <a:rPr lang="en-US" dirty="0" err="1">
                <a:latin typeface="Arial (body)"/>
              </a:rPr>
              <a:t>Tìm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hiểu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phần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mềm</a:t>
            </a:r>
            <a:r>
              <a:rPr lang="en-US" dirty="0">
                <a:latin typeface="Arial (body)"/>
              </a:rPr>
              <a:t> quản lý </a:t>
            </a:r>
            <a:r>
              <a:rPr lang="en-US" dirty="0" err="1">
                <a:latin typeface="Arial (body)"/>
              </a:rPr>
              <a:t>dự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án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trên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trang</a:t>
            </a:r>
            <a:r>
              <a:rPr lang="en-US" dirty="0">
                <a:latin typeface="Arial (body)"/>
              </a:rPr>
              <a:t>: </a:t>
            </a:r>
            <a:r>
              <a:rPr lang="en-US" dirty="0">
                <a:latin typeface="Arial (body)"/>
                <a:hlinkClick r:id="rId3"/>
              </a:rPr>
              <a:t>www.projectmanager.com</a:t>
            </a:r>
            <a:endParaRPr lang="en-US" dirty="0">
              <a:latin typeface="Arial (body)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211" y="3309596"/>
            <a:ext cx="7162800" cy="881404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6611" y="4191000"/>
            <a:ext cx="7620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150" dirty="0"/>
              <a:t>Building the best project management software in the world</a:t>
            </a:r>
          </a:p>
        </p:txBody>
      </p:sp>
    </p:spTree>
    <p:extLst>
      <p:ext uri="{BB962C8B-B14F-4D97-AF65-F5344CB8AC3E}">
        <p14:creationId xmlns:p14="http://schemas.microsoft.com/office/powerpoint/2010/main" val="693783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229600" cy="213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Q&amp;A</a:t>
            </a:r>
            <a:endParaRPr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993DF6-04DE-49F5-85F2-C7A451E1D89C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4846037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6700" y="1295400"/>
            <a:ext cx="8610600" cy="1349375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vi-VN" sz="4400" b="0" dirty="0">
                <a:effectLst/>
              </a:rPr>
              <a:t>Chương kế tiếp...</a:t>
            </a:r>
            <a:br>
              <a:rPr sz="4400" b="0" dirty="0">
                <a:effectLst/>
              </a:rPr>
            </a:br>
            <a:r>
              <a:rPr lang="vi-VN" sz="4400" b="0" dirty="0">
                <a:effectLst/>
              </a:rPr>
              <a:t>QUẢN LÝ PHẠM VI DỰ ÁN</a:t>
            </a:r>
            <a:endParaRPr sz="4400" b="0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7662A-11C9-4EDB-B201-E706A5E47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238" y="3455158"/>
            <a:ext cx="2231524" cy="2755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071740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5403</TotalTime>
  <Words>3112</Words>
  <Application>Microsoft Office PowerPoint</Application>
  <PresentationFormat>On-screen Show (4:3)</PresentationFormat>
  <Paragraphs>400</Paragraphs>
  <Slides>66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9" baseType="lpstr">
      <vt:lpstr>Arial</vt:lpstr>
      <vt:lpstr>Arial (Body)</vt:lpstr>
      <vt:lpstr>Arial (Body)</vt:lpstr>
      <vt:lpstr>Arial Rounded MT Bold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Custom Design</vt:lpstr>
      <vt:lpstr>Theme1</vt:lpstr>
      <vt:lpstr>Chương 2 QUY TRÌNH QUẢN LÝ DỰ ÁN  &amp; QUẢN LÝ TÍCH HỢP DỰ ÁN</vt:lpstr>
      <vt:lpstr>Mục tiêu chương 2</vt:lpstr>
      <vt:lpstr>Nhắc lại kiến thức</vt:lpstr>
      <vt:lpstr> 1. QUY TRÌNH QUẢN LÝ DỰ ÁN  </vt:lpstr>
      <vt:lpstr>1. QUY TRÌNH QUẢN LÝ DỰ ÁN</vt:lpstr>
      <vt:lpstr>Dự án thất bại?</vt:lpstr>
      <vt:lpstr>1.1 Các quy trình quản lý dự án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Thời gian trong các quy trình QLDA</vt:lpstr>
      <vt:lpstr>Sự tương tác trong dự án</vt:lpstr>
      <vt:lpstr>1.2 Sự liên quan giữa các quy trình</vt:lpstr>
      <vt:lpstr>1.3 Lĩnh vực kiến thức và quy trình</vt:lpstr>
      <vt:lpstr>Dự án thành công?</vt:lpstr>
      <vt:lpstr>Mô hình thành công của HTTT</vt:lpstr>
      <vt:lpstr>2. QUẢN LÝ TÍCH HỢP DỰ ÁN</vt:lpstr>
      <vt:lpstr>2. QUẢN LÝ TÍCH HỢP DỰ ÁN</vt:lpstr>
      <vt:lpstr>Sự thành công của dự án</vt:lpstr>
      <vt:lpstr>Khung quản lý dự án</vt:lpstr>
      <vt:lpstr>Quản lý tích hợp dự án [6]</vt:lpstr>
      <vt:lpstr>Quy trình quản lý tích hợp</vt:lpstr>
      <vt:lpstr>Quy trình quản lý tích hợp (tt)</vt:lpstr>
      <vt:lpstr>Tóm tắt quản lý tích hợp dự án</vt:lpstr>
      <vt:lpstr>Quy trình lập kế hoạch CNTT/HTTT</vt:lpstr>
      <vt:lpstr>Phương pháp chọn dự án</vt:lpstr>
      <vt:lpstr>Phân tích tài chính dự án</vt:lpstr>
      <vt:lpstr>NPV</vt:lpstr>
      <vt:lpstr>Ví dụ, tính NPV</vt:lpstr>
      <vt:lpstr>Cách tính NPV</vt:lpstr>
      <vt:lpstr>Quản lý tích hợp dự án [1/6]</vt:lpstr>
      <vt:lpstr>2.1 Phát triển điều lệ dự án</vt:lpstr>
      <vt:lpstr>Ví dụ, điều lệ dự án </vt:lpstr>
      <vt:lpstr>PowerPoint Presentation</vt:lpstr>
      <vt:lpstr>Quản lý tích hợp dự án [2/6]</vt:lpstr>
      <vt:lpstr>2.2 Phát triển kế hoạch QLDA</vt:lpstr>
      <vt:lpstr>Các thành phần của kế hoạch</vt:lpstr>
      <vt:lpstr>Ví dụ, kế hoạch QLDA của IEEE</vt:lpstr>
      <vt:lpstr>Quản lý tích hợp dự án [3/6]</vt:lpstr>
      <vt:lpstr>2.3 Định hướng và quản trị công việc</vt:lpstr>
      <vt:lpstr>Quan hệ giữa kế hoạch và thực thi</vt:lpstr>
      <vt:lpstr>Lãnh đạo và văn hóa tổ chức</vt:lpstr>
      <vt:lpstr>Thay đổi văn hóa tổ chức?</vt:lpstr>
      <vt:lpstr>Ứng dụng các lĩnh vực kiến thức</vt:lpstr>
      <vt:lpstr>Công cụ và kỹ thuật thực thi dự án</vt:lpstr>
      <vt:lpstr>Quản lý tích hợp dự án [4/6]</vt:lpstr>
      <vt:lpstr>2.4 Theo dõi và kiểm soát công việc</vt:lpstr>
      <vt:lpstr>Quản lý tích hợp dự án [5/6]</vt:lpstr>
      <vt:lpstr>2.5 Kiểm soát thay đổi tích hợp</vt:lpstr>
      <vt:lpstr>Kiểm soát thay đổi dự án HTTT</vt:lpstr>
      <vt:lpstr>Hệ thống kiểm soát thay đổi</vt:lpstr>
      <vt:lpstr>Ban kiểm soát thay đổi</vt:lpstr>
      <vt:lpstr>PowerPoint Presentation</vt:lpstr>
      <vt:lpstr>Các gợi ý để kiểm soát thay đổi</vt:lpstr>
      <vt:lpstr>Quản lý tích hợp dự án [6/6]</vt:lpstr>
      <vt:lpstr>2.6 Kết thúc dự án hoặc giai đoạn</vt:lpstr>
      <vt:lpstr>Phần mềm hỗ trợ quản lý tích hợp</vt:lpstr>
      <vt:lpstr> 3. TÓM TẮT &amp; TỪ KHÓA </vt:lpstr>
      <vt:lpstr>Tóm tắt [1]</vt:lpstr>
      <vt:lpstr>Tóm tắt [2]</vt:lpstr>
      <vt:lpstr>Từ khóa</vt:lpstr>
      <vt:lpstr>PowerPoint Presentation</vt:lpstr>
      <vt:lpstr>Q&amp;A</vt:lpstr>
      <vt:lpstr>Chương kế tiếp... QUẢN LÝ PHẠM VI DỰ ÁN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Tung Le</cp:lastModifiedBy>
  <cp:revision>653</cp:revision>
  <cp:lastPrinted>2016-05-11T08:11:17Z</cp:lastPrinted>
  <dcterms:created xsi:type="dcterms:W3CDTF">2001-07-05T23:10:12Z</dcterms:created>
  <dcterms:modified xsi:type="dcterms:W3CDTF">2024-02-27T13:00:29Z</dcterms:modified>
</cp:coreProperties>
</file>