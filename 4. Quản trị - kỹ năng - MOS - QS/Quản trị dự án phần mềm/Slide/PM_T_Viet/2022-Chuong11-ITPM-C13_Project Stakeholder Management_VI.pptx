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885" r:id="rId2"/>
  </p:sldMasterIdLst>
  <p:notesMasterIdLst>
    <p:notesMasterId r:id="rId43"/>
  </p:notesMasterIdLst>
  <p:handoutMasterIdLst>
    <p:handoutMasterId r:id="rId44"/>
  </p:handoutMasterIdLst>
  <p:sldIdLst>
    <p:sldId id="257" r:id="rId3"/>
    <p:sldId id="423" r:id="rId4"/>
    <p:sldId id="419" r:id="rId5"/>
    <p:sldId id="417" r:id="rId6"/>
    <p:sldId id="438" r:id="rId7"/>
    <p:sldId id="385" r:id="rId8"/>
    <p:sldId id="386" r:id="rId9"/>
    <p:sldId id="439" r:id="rId10"/>
    <p:sldId id="440" r:id="rId11"/>
    <p:sldId id="388" r:id="rId12"/>
    <p:sldId id="389" r:id="rId13"/>
    <p:sldId id="441" r:id="rId14"/>
    <p:sldId id="390" r:id="rId15"/>
    <p:sldId id="448" r:id="rId16"/>
    <p:sldId id="391" r:id="rId17"/>
    <p:sldId id="392" r:id="rId18"/>
    <p:sldId id="393" r:id="rId19"/>
    <p:sldId id="394" r:id="rId20"/>
    <p:sldId id="395" r:id="rId21"/>
    <p:sldId id="442" r:id="rId22"/>
    <p:sldId id="398" r:id="rId23"/>
    <p:sldId id="399" r:id="rId24"/>
    <p:sldId id="452" r:id="rId25"/>
    <p:sldId id="453" r:id="rId26"/>
    <p:sldId id="443" r:id="rId27"/>
    <p:sldId id="401" r:id="rId28"/>
    <p:sldId id="402" r:id="rId29"/>
    <p:sldId id="403" r:id="rId30"/>
    <p:sldId id="404" r:id="rId31"/>
    <p:sldId id="444" r:id="rId32"/>
    <p:sldId id="406" r:id="rId33"/>
    <p:sldId id="407" r:id="rId34"/>
    <p:sldId id="411" r:id="rId35"/>
    <p:sldId id="412" r:id="rId36"/>
    <p:sldId id="450" r:id="rId37"/>
    <p:sldId id="424" r:id="rId38"/>
    <p:sldId id="431" r:id="rId39"/>
    <p:sldId id="427" r:id="rId40"/>
    <p:sldId id="429" r:id="rId41"/>
    <p:sldId id="430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6699"/>
    <a:srgbClr val="5B5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 autoAdjust="0"/>
    <p:restoredTop sz="92284" autoAdjust="0"/>
  </p:normalViewPr>
  <p:slideViewPr>
    <p:cSldViewPr>
      <p:cViewPr varScale="1">
        <p:scale>
          <a:sx n="82" d="100"/>
          <a:sy n="82" d="100"/>
        </p:scale>
        <p:origin x="102" y="9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93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83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A25F6DE3-67C9-49C3-ADD0-D55F8518C1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83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A9DD711-E595-47B7-9D7A-2CA423E4AA9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796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3AF232-1BEB-4A86-ACCA-EDD6AB8398E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606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45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DE4318-E4BE-49A8-80E2-9AEFB83AE89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584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DE4318-E4BE-49A8-80E2-9AEFB83AE89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344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9DD711-E595-47B7-9D7A-2CA423E4AA9D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902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Không</a:t>
            </a:r>
            <a:r>
              <a:rPr lang="en-US" baseline="0" dirty="0"/>
              <a:t> </a:t>
            </a:r>
            <a:r>
              <a:rPr lang="en-US" baseline="0" dirty="0" err="1"/>
              <a:t>thể</a:t>
            </a:r>
            <a:r>
              <a:rPr lang="en-US" baseline="0" dirty="0"/>
              <a:t> </a:t>
            </a:r>
            <a:r>
              <a:rPr lang="en-US" baseline="0" dirty="0" err="1"/>
              <a:t>kiểm</a:t>
            </a:r>
            <a:r>
              <a:rPr lang="en-US" baseline="0" dirty="0"/>
              <a:t> </a:t>
            </a:r>
            <a:r>
              <a:rPr lang="en-US" baseline="0" dirty="0" err="1"/>
              <a:t>soát</a:t>
            </a:r>
            <a:r>
              <a:rPr lang="en-US" baseline="0" dirty="0"/>
              <a:t>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bên</a:t>
            </a:r>
            <a:r>
              <a:rPr lang="en-US" baseline="0" dirty="0"/>
              <a:t> </a:t>
            </a:r>
            <a:r>
              <a:rPr lang="en-US" baseline="0" dirty="0" err="1"/>
              <a:t>liên</a:t>
            </a:r>
            <a:r>
              <a:rPr lang="en-US" baseline="0" dirty="0"/>
              <a:t> </a:t>
            </a:r>
            <a:r>
              <a:rPr lang="en-US" baseline="0" dirty="0" err="1"/>
              <a:t>quan</a:t>
            </a:r>
            <a:r>
              <a:rPr lang="en-US" baseline="0" dirty="0"/>
              <a:t>, </a:t>
            </a:r>
            <a:r>
              <a:rPr lang="en-US" baseline="0" dirty="0" err="1"/>
              <a:t>tuy</a:t>
            </a:r>
            <a:r>
              <a:rPr lang="en-US" baseline="0" dirty="0"/>
              <a:t> </a:t>
            </a:r>
            <a:r>
              <a:rPr lang="en-US" baseline="0" dirty="0" err="1"/>
              <a:t>nhiên</a:t>
            </a:r>
            <a:r>
              <a:rPr lang="en-US" baseline="0" dirty="0"/>
              <a:t> </a:t>
            </a:r>
            <a:r>
              <a:rPr lang="en-US" baseline="0" dirty="0" err="1"/>
              <a:t>có</a:t>
            </a:r>
            <a:r>
              <a:rPr lang="en-US" baseline="0" dirty="0"/>
              <a:t> </a:t>
            </a:r>
            <a:r>
              <a:rPr lang="en-US" baseline="0" dirty="0" err="1"/>
              <a:t>thể</a:t>
            </a:r>
            <a:r>
              <a:rPr lang="en-US" baseline="0" dirty="0"/>
              <a:t> </a:t>
            </a:r>
            <a:r>
              <a:rPr lang="en-US" baseline="0" dirty="0" err="1"/>
              <a:t>kiểm</a:t>
            </a:r>
            <a:r>
              <a:rPr lang="en-US" baseline="0" dirty="0"/>
              <a:t> </a:t>
            </a:r>
            <a:r>
              <a:rPr lang="en-US" baseline="0" dirty="0" err="1"/>
              <a:t>soát</a:t>
            </a:r>
            <a:r>
              <a:rPr lang="en-US" baseline="0" dirty="0"/>
              <a:t> </a:t>
            </a:r>
            <a:r>
              <a:rPr lang="en-US" baseline="0" dirty="0" err="1"/>
              <a:t>mức</a:t>
            </a:r>
            <a:r>
              <a:rPr lang="en-US" baseline="0" dirty="0"/>
              <a:t> </a:t>
            </a:r>
            <a:r>
              <a:rPr lang="en-US" baseline="0" dirty="0" err="1"/>
              <a:t>độ</a:t>
            </a:r>
            <a:r>
              <a:rPr lang="en-US" baseline="0" dirty="0"/>
              <a:t> </a:t>
            </a:r>
            <a:r>
              <a:rPr lang="en-US" baseline="0" dirty="0" err="1"/>
              <a:t>tham</a:t>
            </a:r>
            <a:r>
              <a:rPr lang="en-US" baseline="0" dirty="0"/>
              <a:t> </a:t>
            </a:r>
            <a:r>
              <a:rPr lang="en-US" baseline="0" dirty="0" err="1"/>
              <a:t>gia</a:t>
            </a:r>
            <a:r>
              <a:rPr lang="en-US" baseline="0" dirty="0"/>
              <a:t>…</a:t>
            </a:r>
            <a:br>
              <a:rPr lang="en-US" baseline="0" dirty="0"/>
            </a:br>
            <a:r>
              <a:rPr lang="en-US" baseline="0" dirty="0"/>
              <a:t>- </a:t>
            </a:r>
            <a:r>
              <a:rPr lang="en-US" baseline="0" dirty="0" err="1"/>
              <a:t>Lớp</a:t>
            </a:r>
            <a:r>
              <a:rPr lang="en-US" baseline="0" dirty="0"/>
              <a:t> học (</a:t>
            </a:r>
            <a:r>
              <a:rPr lang="en-US" baseline="0" dirty="0" err="1"/>
              <a:t>dự</a:t>
            </a:r>
            <a:r>
              <a:rPr lang="en-US" baseline="0" dirty="0"/>
              <a:t> </a:t>
            </a:r>
            <a:r>
              <a:rPr lang="en-US" baseline="0" dirty="0" err="1"/>
              <a:t>án</a:t>
            </a:r>
            <a:r>
              <a:rPr lang="en-US" baseline="0" dirty="0"/>
              <a:t>)…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9DD711-E595-47B7-9D7A-2CA423E4AA9D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215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47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47B17-5236-40BE-93D3-1F5307651A8C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36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6D95A-A59E-4C48-A34C-6ABDE94D99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721D3-B290-4A6A-BDD4-9944839210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908ACB-F819-4E08-A2D0-427EE78D1A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7E656-BF0C-4052-AF6E-8E71A12D19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8815B8-CA05-4B23-A01F-8E2DED4B2F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519E6-D7B4-449C-AFC1-83FE0A5098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E6A70-EEAD-44FC-9F58-3A937D07CD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CEAB5A-F3CB-47A0-924A-FAFF0C0A145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AF496-92D2-494A-87D8-287E07A2D7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A5C395-FFC9-45A2-9374-08FC0AC8615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FC0E2-F6FD-4672-B502-7CBE027C86B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5B3C7E4B-22CB-43A2-88DF-0974E796F69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1"/>
          <p:cNvSpPr txBox="1">
            <a:spLocks/>
          </p:cNvSpPr>
          <p:nvPr/>
        </p:nvSpPr>
        <p:spPr>
          <a:xfrm>
            <a:off x="5486400" y="6492875"/>
            <a:ext cx="1600200" cy="365125"/>
          </a:xfrm>
          <a:prstGeom prst="rect">
            <a:avLst/>
          </a:prstGeom>
        </p:spPr>
        <p:txBody>
          <a:bodyPr anchor="b"/>
          <a:lstStyle>
            <a:lvl1pPr algn="l">
              <a:buFontTx/>
              <a:buNone/>
              <a:defRPr smtClean="0"/>
            </a:lvl1pPr>
          </a:lstStyle>
          <a:p>
            <a:pPr>
              <a:defRPr/>
            </a:pPr>
            <a:r>
              <a:rPr lang="en-US" sz="1200">
                <a:latin typeface="+mn-lt"/>
              </a:rPr>
              <a:t>Copyright 2021</a:t>
            </a:r>
            <a:endParaRPr lang="en-US" sz="1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2590800" cy="365125"/>
          </a:xfrm>
        </p:spPr>
        <p:txBody>
          <a:bodyPr/>
          <a:lstStyle>
            <a:lvl1pPr algn="l"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8588375" y="6492875"/>
            <a:ext cx="555625" cy="365125"/>
          </a:xfrm>
        </p:spPr>
        <p:txBody>
          <a:bodyPr/>
          <a:lstStyle>
            <a:lvl1pPr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66530DB-E803-4E4A-BCDA-70CF3270BB0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627B55C-FD09-4A7F-9920-0CDE82FEB4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D9FC598-3BC1-4AFB-82F1-FDEB52578CC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0D41AC9-74EA-452B-B904-D02AFF1CE51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6E5E3-B982-49F8-9AEE-306FFDC9E42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5D9EEBD-1F34-4EE2-BD3E-1779E83B056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14B7BE92-00CB-4B33-AD14-D64D9A62E8F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CB4BD-B248-46C9-A000-E0E6B06BAE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7AE9A-AFAC-4FD4-A839-B9E85FCF04C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62E2B921-C565-4C54-B074-0A1592EC33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62E2B921-C565-4C54-B074-0A1592EC339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../Chuong%2000/2021-Chuong00-ITPM_VI-ITS344-211_D02.pptx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../../47Ps-PMP.pptx" TargetMode="External"/><Relationship Id="rId2" Type="http://schemas.openxmlformats.org/officeDocument/2006/relationships/hyperlink" Target="../../../Docs/47Ps-PMP.pptx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.projectstakeholder.com/" TargetMode="Externa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905000"/>
            <a:ext cx="9144000" cy="1349375"/>
          </a:xfrm>
        </p:spPr>
        <p:txBody>
          <a:bodyPr>
            <a:noAutofit/>
          </a:bodyPr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vi-VN" sz="3600">
                <a:solidFill>
                  <a:srgbClr val="0070C0"/>
                </a:solidFill>
                <a:effectLst/>
              </a:rPr>
              <a:t>Chương 1</a:t>
            </a:r>
            <a:r>
              <a:rPr lang="en-US" sz="3600">
                <a:solidFill>
                  <a:srgbClr val="0070C0"/>
                </a:solidFill>
                <a:effectLst/>
              </a:rPr>
              <a:t>1</a:t>
            </a:r>
            <a:br>
              <a:rPr lang="vi-VN" sz="4000" spc="1000" dirty="0">
                <a:solidFill>
                  <a:srgbClr val="0070C0"/>
                </a:solidFill>
                <a:effectLst/>
              </a:rPr>
            </a:br>
            <a:r>
              <a:rPr lang="vi-VN" sz="3700" dirty="0">
                <a:solidFill>
                  <a:srgbClr val="0070C0"/>
                </a:solidFill>
                <a:effectLst/>
              </a:rPr>
              <a:t>QUẢN LÝ CÁC BÊN LIÊN </a:t>
            </a:r>
            <a:r>
              <a:rPr lang="vi-VN" sz="3700">
                <a:solidFill>
                  <a:srgbClr val="0070C0"/>
                </a:solidFill>
                <a:effectLst/>
              </a:rPr>
              <a:t>QUAN </a:t>
            </a:r>
            <a:r>
              <a:rPr lang="en-US" sz="3700">
                <a:solidFill>
                  <a:srgbClr val="0070C0"/>
                </a:solidFill>
                <a:effectLst/>
              </a:rPr>
              <a:t>DỰ ÁN</a:t>
            </a:r>
            <a:endParaRPr sz="3700" dirty="0">
              <a:solidFill>
                <a:srgbClr val="0070C0"/>
              </a:solidFill>
              <a:effectLst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8327" y="34290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2300" spc="100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  <a:t>Project  Stakeholder </a:t>
            </a:r>
            <a:r>
              <a:rPr lang="en-US" sz="2300" spc="1000" dirty="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  <a:t>Management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9AD4AD-BC97-4FCD-A43F-830D404DC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365347"/>
            <a:ext cx="1850628" cy="2165628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F463FB1E-CE71-4EEA-92CF-8BBE545F2A8D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327025"/>
            <a:ext cx="8382000" cy="663575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vi-VN" sz="3200" dirty="0">
                <a:effectLst>
                  <a:outerShdw blurRad="38100" dist="38100" dir="2700000" algn="tl">
                    <a:srgbClr val="FFFFFF"/>
                  </a:outerShdw>
                </a:effectLst>
                <a:hlinkClick r:id="rId4" action="ppaction://hlinkpres?slideindex=1&amp;slidetitle="/>
              </a:rPr>
              <a:t>QUẢN TRỊ DỰ </a:t>
            </a:r>
            <a:r>
              <a:rPr lang="vi-VN" sz="3200">
                <a:effectLst>
                  <a:outerShdw blurRad="38100" dist="38100" dir="2700000" algn="tl">
                    <a:srgbClr val="FFFFFF"/>
                  </a:outerShdw>
                </a:effectLst>
                <a:hlinkClick r:id="rId4" action="ppaction://hlinkpres?slideindex=1&amp;slidetitle="/>
              </a:rPr>
              <a:t>ÁN </a:t>
            </a:r>
            <a:r>
              <a:rPr lang="en-US" sz="3200">
                <a:effectLst>
                  <a:outerShdw blurRad="38100" dist="38100" dir="2700000" algn="tl">
                    <a:srgbClr val="FFFFFF"/>
                  </a:outerShdw>
                </a:effectLst>
                <a:hlinkClick r:id="rId4" action="ppaction://hlinkpres?slideindex=1&amp;slidetitle="/>
              </a:rPr>
              <a:t>HTTT</a:t>
            </a:r>
            <a:endParaRPr lang="vi-VN" sz="320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>
          <a:xfrm>
            <a:off x="-152400" y="1752600"/>
            <a:ext cx="9144000" cy="4572000"/>
          </a:xfrm>
        </p:spPr>
        <p:txBody>
          <a:bodyPr/>
          <a:lstStyle/>
          <a:p>
            <a:pPr lvl="1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vi-VN" sz="2400">
                <a:solidFill>
                  <a:srgbClr val="002060"/>
                </a:solidFill>
              </a:rPr>
              <a:t>Hiểu </a:t>
            </a:r>
            <a:r>
              <a:rPr lang="vi-VN" sz="2400" dirty="0">
                <a:solidFill>
                  <a:srgbClr val="002060"/>
                </a:solidFill>
              </a:rPr>
              <a:t>được tầm quan trọng của các bên liên quan dự án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rgbClr val="002060"/>
                </a:solidFill>
              </a:rPr>
              <a:t>Giải thích được quy trình quản lý các bên liên </a:t>
            </a:r>
            <a:r>
              <a:rPr lang="vi-VN" sz="2400">
                <a:solidFill>
                  <a:srgbClr val="002060"/>
                </a:solidFill>
              </a:rPr>
              <a:t>quan.</a:t>
            </a:r>
            <a:endParaRPr lang="en-US" sz="2400">
              <a:solidFill>
                <a:srgbClr val="002060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vi-VN" sz="2400">
                <a:solidFill>
                  <a:srgbClr val="002060"/>
                </a:solidFill>
              </a:rPr>
              <a:t>Biết được công cụ và phần mềm quản lý</a:t>
            </a:r>
            <a:r>
              <a:rPr lang="en-US" sz="2400">
                <a:solidFill>
                  <a:srgbClr val="002060"/>
                </a:solidFill>
              </a:rPr>
              <a:t> các bên liên quan</a:t>
            </a:r>
            <a:r>
              <a:rPr lang="vi-VN" sz="2400">
                <a:solidFill>
                  <a:srgbClr val="002060"/>
                </a:solidFill>
              </a:rPr>
              <a:t>.</a:t>
            </a:r>
            <a:endParaRPr lang="vi-VN" sz="400">
              <a:solidFill>
                <a:srgbClr val="002060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vi-VN" sz="2400">
                <a:solidFill>
                  <a:srgbClr val="002060"/>
                </a:solidFill>
              </a:rPr>
              <a:t>Hiểu </a:t>
            </a:r>
            <a:r>
              <a:rPr lang="vi-VN" sz="2400" dirty="0">
                <a:solidFill>
                  <a:srgbClr val="002060"/>
                </a:solidFill>
              </a:rPr>
              <a:t>được các vấn đề liên quan đến quản lý các bên liên quan dự án HTTT...</a:t>
            </a:r>
          </a:p>
          <a:p>
            <a:pPr marL="109537" indent="0" algn="just">
              <a:lnSpc>
                <a:spcPct val="150000"/>
              </a:lnSpc>
              <a:buNone/>
            </a:pP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Mục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tiêu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err="1">
                <a:solidFill>
                  <a:srgbClr val="0070C0"/>
                </a:solidFill>
              </a:rPr>
              <a:t>chương</a:t>
            </a:r>
            <a:r>
              <a:rPr lang="en-US" sz="4400">
                <a:solidFill>
                  <a:srgbClr val="0070C0"/>
                </a:solidFill>
              </a:rPr>
              <a:t> 11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04705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5A7A581-379D-4ED7-B5BC-E1CE1865ED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77200" cy="6858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Khung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quản lý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51308" y="6214646"/>
            <a:ext cx="24400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1600" dirty="0"/>
              <a:t>Nguồn: </a:t>
            </a:r>
            <a:r>
              <a:rPr lang="vi-VN" sz="1600"/>
              <a:t>Schwalbe (20</a:t>
            </a:r>
            <a:r>
              <a:rPr lang="en-US" sz="1600"/>
              <a:t>19</a:t>
            </a:r>
            <a:r>
              <a:rPr lang="vi-VN" sz="1600"/>
              <a:t>)</a:t>
            </a:r>
            <a:endParaRPr lang="vi-VN" sz="16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094AE6-1327-4CD3-B3B1-6A92DC7767A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20000"/>
          </a:blip>
          <a:stretch>
            <a:fillRect/>
          </a:stretch>
        </p:blipFill>
        <p:spPr>
          <a:xfrm>
            <a:off x="0" y="1295400"/>
            <a:ext cx="9159240" cy="4242882"/>
          </a:xfrm>
          <a:prstGeom prst="rect">
            <a:avLst/>
          </a:prstGeom>
        </p:spPr>
      </p:pic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C1DEB3C1-3AEB-4E0C-87E7-6E1F2CA1348D}"/>
              </a:ext>
            </a:extLst>
          </p:cNvPr>
          <p:cNvSpPr/>
          <p:nvPr/>
        </p:nvSpPr>
        <p:spPr>
          <a:xfrm>
            <a:off x="4953000" y="4346447"/>
            <a:ext cx="990600" cy="67056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959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5010" y="1524000"/>
            <a:ext cx="9108989" cy="1829761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br>
              <a:rPr sz="4000">
                <a:solidFill>
                  <a:srgbClr val="0070C0"/>
                </a:solidFill>
                <a:effectLst/>
              </a:rPr>
            </a:br>
            <a:r>
              <a:rPr lang="vi-VN" sz="3300">
                <a:solidFill>
                  <a:srgbClr val="0070C0"/>
                </a:solidFill>
                <a:effectLst/>
              </a:rPr>
              <a:t>QUẢN </a:t>
            </a:r>
            <a:r>
              <a:rPr lang="vi-VN" sz="3300" dirty="0">
                <a:solidFill>
                  <a:srgbClr val="0070C0"/>
                </a:solidFill>
                <a:effectLst/>
              </a:rPr>
              <a:t>LÝ CÁC BÊN LIÊN QUAN DỰ ÁN </a:t>
            </a:r>
            <a:br>
              <a:rPr lang="vi-VN" sz="3600" dirty="0">
                <a:solidFill>
                  <a:srgbClr val="0070C0"/>
                </a:solidFill>
                <a:effectLst/>
              </a:rPr>
            </a:br>
            <a:endParaRPr lang="vi-VN" sz="3600" dirty="0">
              <a:solidFill>
                <a:srgbClr val="0070C0"/>
              </a:solidFill>
              <a:effectLst/>
            </a:endParaRPr>
          </a:p>
        </p:txBody>
      </p:sp>
      <p:sp>
        <p:nvSpPr>
          <p:cNvPr id="4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2819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US" sz="2300" spc="800" dirty="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  <a:t>Project Stakeholder Management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4038600"/>
            <a:ext cx="2018607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99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42887"/>
            <a:ext cx="7772400" cy="90011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200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QUẢN LÝ CÁC BÊN LIÊN QUAN</a:t>
            </a:r>
          </a:p>
        </p:txBody>
      </p:sp>
      <p:grpSp>
        <p:nvGrpSpPr>
          <p:cNvPr id="36" name="Group 42"/>
          <p:cNvGrpSpPr>
            <a:grpSpLocks/>
          </p:cNvGrpSpPr>
          <p:nvPr/>
        </p:nvGrpSpPr>
        <p:grpSpPr bwMode="auto">
          <a:xfrm>
            <a:off x="914400" y="1219200"/>
            <a:ext cx="7207139" cy="762000"/>
            <a:chOff x="1296" y="1824"/>
            <a:chExt cx="2976" cy="432"/>
          </a:xfrm>
        </p:grpSpPr>
        <p:sp>
          <p:nvSpPr>
            <p:cNvPr id="41" name="AutoShape 4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Text Box 45"/>
            <p:cNvSpPr txBox="1">
              <a:spLocks noChangeArrowheads="1"/>
            </p:cNvSpPr>
            <p:nvPr/>
          </p:nvSpPr>
          <p:spPr bwMode="gray">
            <a:xfrm>
              <a:off x="1728" y="1934"/>
              <a:ext cx="2431" cy="2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vi-VN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rPr>
                <a:t>TỔNG QUAN</a:t>
              </a:r>
              <a:endPara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44" name="Text Box 46"/>
            <p:cNvSpPr txBox="1">
              <a:spLocks noChangeArrowheads="1"/>
            </p:cNvSpPr>
            <p:nvPr/>
          </p:nvSpPr>
          <p:spPr bwMode="gray">
            <a:xfrm>
              <a:off x="1424" y="1886"/>
              <a:ext cx="159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45" name="Group 52"/>
          <p:cNvGrpSpPr>
            <a:grpSpLocks/>
          </p:cNvGrpSpPr>
          <p:nvPr/>
        </p:nvGrpSpPr>
        <p:grpSpPr bwMode="auto">
          <a:xfrm>
            <a:off x="914401" y="2133600"/>
            <a:ext cx="8076070" cy="762000"/>
            <a:chOff x="1296" y="1824"/>
            <a:chExt cx="3335" cy="432"/>
          </a:xfrm>
        </p:grpSpPr>
        <p:sp>
          <p:nvSpPr>
            <p:cNvPr id="46" name="AutoShape 5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AutoShape 5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Text Box 55"/>
            <p:cNvSpPr txBox="1">
              <a:spLocks noChangeArrowheads="1"/>
            </p:cNvSpPr>
            <p:nvPr/>
          </p:nvSpPr>
          <p:spPr bwMode="gray">
            <a:xfrm>
              <a:off x="1751" y="1934"/>
              <a:ext cx="2880" cy="2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XÁC ĐỊNH CÁC BÊN LIÊN QUAN</a:t>
              </a:r>
            </a:p>
          </p:txBody>
        </p:sp>
        <p:sp>
          <p:nvSpPr>
            <p:cNvPr id="49" name="Text Box 56"/>
            <p:cNvSpPr txBox="1">
              <a:spLocks noChangeArrowheads="1"/>
            </p:cNvSpPr>
            <p:nvPr/>
          </p:nvSpPr>
          <p:spPr bwMode="gray">
            <a:xfrm>
              <a:off x="1423" y="1886"/>
              <a:ext cx="159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50" name="Group 57"/>
          <p:cNvGrpSpPr>
            <a:grpSpLocks/>
          </p:cNvGrpSpPr>
          <p:nvPr/>
        </p:nvGrpSpPr>
        <p:grpSpPr bwMode="auto">
          <a:xfrm>
            <a:off x="944563" y="3048000"/>
            <a:ext cx="7437203" cy="762000"/>
            <a:chOff x="1296" y="1824"/>
            <a:chExt cx="3071" cy="432"/>
          </a:xfrm>
        </p:grpSpPr>
        <p:sp>
          <p:nvSpPr>
            <p:cNvPr id="51" name="AutoShape 58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AutoShape 59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Text Box 60"/>
            <p:cNvSpPr txBox="1">
              <a:spLocks noChangeArrowheads="1"/>
            </p:cNvSpPr>
            <p:nvPr/>
          </p:nvSpPr>
          <p:spPr bwMode="gray">
            <a:xfrm>
              <a:off x="1730" y="1920"/>
              <a:ext cx="2637" cy="2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KẾ HOẠCH QUẢN LÝ CÁC BÊN LIÊN QUAN</a:t>
              </a:r>
            </a:p>
          </p:txBody>
        </p:sp>
        <p:sp>
          <p:nvSpPr>
            <p:cNvPr id="54" name="Text Box 61"/>
            <p:cNvSpPr txBox="1">
              <a:spLocks noChangeArrowheads="1"/>
            </p:cNvSpPr>
            <p:nvPr/>
          </p:nvSpPr>
          <p:spPr bwMode="gray">
            <a:xfrm>
              <a:off x="1424" y="1886"/>
              <a:ext cx="159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23" name="Group 42"/>
          <p:cNvGrpSpPr>
            <a:grpSpLocks/>
          </p:cNvGrpSpPr>
          <p:nvPr/>
        </p:nvGrpSpPr>
        <p:grpSpPr bwMode="auto">
          <a:xfrm>
            <a:off x="914401" y="3962400"/>
            <a:ext cx="7771407" cy="762000"/>
            <a:chOff x="1296" y="1824"/>
            <a:chExt cx="3209" cy="432"/>
          </a:xfrm>
        </p:grpSpPr>
        <p:sp>
          <p:nvSpPr>
            <p:cNvPr id="24" name="AutoShape 4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 Box 45"/>
            <p:cNvSpPr txBox="1">
              <a:spLocks noChangeArrowheads="1"/>
            </p:cNvSpPr>
            <p:nvPr/>
          </p:nvSpPr>
          <p:spPr bwMode="gray">
            <a:xfrm>
              <a:off x="1723" y="1934"/>
              <a:ext cx="2782" cy="2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QUẢN LÝ SỰ THAM GIA CÁC BÊN LIÊN QUAN</a:t>
              </a:r>
            </a:p>
          </p:txBody>
        </p:sp>
        <p:sp>
          <p:nvSpPr>
            <p:cNvPr id="27" name="Text Box 46"/>
            <p:cNvSpPr txBox="1">
              <a:spLocks noChangeArrowheads="1"/>
            </p:cNvSpPr>
            <p:nvPr/>
          </p:nvSpPr>
          <p:spPr bwMode="gray">
            <a:xfrm>
              <a:off x="1424" y="1886"/>
              <a:ext cx="159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28" name="Group 52"/>
          <p:cNvGrpSpPr>
            <a:grpSpLocks/>
          </p:cNvGrpSpPr>
          <p:nvPr/>
        </p:nvGrpSpPr>
        <p:grpSpPr bwMode="auto">
          <a:xfrm>
            <a:off x="914402" y="4876800"/>
            <a:ext cx="8056698" cy="762000"/>
            <a:chOff x="1296" y="1824"/>
            <a:chExt cx="3327" cy="432"/>
          </a:xfrm>
        </p:grpSpPr>
        <p:sp>
          <p:nvSpPr>
            <p:cNvPr id="29" name="AutoShape 5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AutoShape 5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Text Box 55"/>
            <p:cNvSpPr txBox="1">
              <a:spLocks noChangeArrowheads="1"/>
            </p:cNvSpPr>
            <p:nvPr/>
          </p:nvSpPr>
          <p:spPr bwMode="gray">
            <a:xfrm>
              <a:off x="1743" y="1934"/>
              <a:ext cx="2880" cy="22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KIỂM SOÁT SỰ THAM GIA CÁC BÊN LIÊN QUAN</a:t>
              </a:r>
            </a:p>
          </p:txBody>
        </p:sp>
        <p:sp>
          <p:nvSpPr>
            <p:cNvPr id="32" name="Text Box 56"/>
            <p:cNvSpPr txBox="1">
              <a:spLocks noChangeArrowheads="1"/>
            </p:cNvSpPr>
            <p:nvPr/>
          </p:nvSpPr>
          <p:spPr bwMode="gray">
            <a:xfrm>
              <a:off x="1424" y="1886"/>
              <a:ext cx="159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sp>
        <p:nvSpPr>
          <p:cNvPr id="60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4224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981200"/>
            <a:ext cx="8458200" cy="3048000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lang="vi-VN" b="1" dirty="0"/>
              <a:t>Quản lý các bên </a:t>
            </a:r>
            <a:r>
              <a:rPr lang="vi-VN" b="1"/>
              <a:t>liên quan</a:t>
            </a:r>
            <a:r>
              <a:rPr lang="en-US" b="1"/>
              <a:t> </a:t>
            </a:r>
            <a:r>
              <a:rPr lang="en-US"/>
              <a:t>(</a:t>
            </a:r>
            <a:r>
              <a:rPr lang="en-US">
                <a:solidFill>
                  <a:srgbClr val="0070C0"/>
                </a:solidFill>
              </a:rPr>
              <a:t>stakeholder</a:t>
            </a:r>
            <a:r>
              <a:rPr lang="en-US"/>
              <a:t>)</a:t>
            </a:r>
            <a:r>
              <a:rPr lang="vi-VN"/>
              <a:t> </a:t>
            </a:r>
            <a:r>
              <a:rPr lang="vi-VN" dirty="0"/>
              <a:t>là lĩnh vực kiến thức mới của QLDA được đưa vào PMPOK</a:t>
            </a:r>
            <a:r>
              <a:rPr lang="en-US" baseline="30000" dirty="0"/>
              <a:t>®</a:t>
            </a:r>
            <a:r>
              <a:rPr lang="vi-VN" dirty="0"/>
              <a:t> (PMI</a:t>
            </a:r>
            <a:r>
              <a:rPr lang="vi-VN"/>
              <a:t>, 201</a:t>
            </a:r>
            <a:r>
              <a:rPr lang="en-US"/>
              <a:t>7</a:t>
            </a:r>
            <a:r>
              <a:rPr lang="vi-VN"/>
              <a:t>).</a:t>
            </a:r>
            <a:endParaRPr lang="vi-VN" dirty="0"/>
          </a:p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lang="en-US" dirty="0"/>
              <a:t>Quản lý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: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,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vọng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, và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.  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solidFill>
                  <a:srgbClr val="0070C0"/>
                </a:solidFill>
              </a:rPr>
              <a:t>Tầm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quan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trọng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của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các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bên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liên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quan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331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EF83E1-3DA8-4C4C-8C87-390A2F6F410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16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534400" cy="4876800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: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mất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hoàn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Giám</a:t>
            </a:r>
            <a:r>
              <a:rPr lang="en-US" sz="2400" dirty="0"/>
              <a:t> </a:t>
            </a:r>
            <a:r>
              <a:rPr lang="en-US" sz="2400" dirty="0" err="1"/>
              <a:t>đốc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</a:t>
            </a:r>
            <a:r>
              <a:rPr lang="en-US" sz="2400" dirty="0" err="1"/>
              <a:t>bị</a:t>
            </a:r>
            <a:r>
              <a:rPr lang="en-US" sz="2400" dirty="0"/>
              <a:t> </a:t>
            </a:r>
            <a:r>
              <a:rPr lang="en-US" sz="2400" dirty="0" err="1"/>
              <a:t>ghét</a:t>
            </a:r>
            <a:r>
              <a:rPr lang="en-US" sz="2400" dirty="0"/>
              <a:t> </a:t>
            </a:r>
            <a:r>
              <a:rPr lang="en-US" sz="2400" dirty="0" err="1"/>
              <a:t>vì</a:t>
            </a:r>
            <a:r>
              <a:rPr lang="en-US" sz="2400" dirty="0"/>
              <a:t> </a:t>
            </a:r>
            <a:r>
              <a:rPr lang="en-US" sz="2400" dirty="0" err="1"/>
              <a:t>sự</a:t>
            </a:r>
            <a:r>
              <a:rPr lang="en-US" sz="2400" dirty="0"/>
              <a:t> </a:t>
            </a:r>
            <a:r>
              <a:rPr lang="en-US" sz="2400" err="1"/>
              <a:t>mất</a:t>
            </a:r>
            <a:r>
              <a:rPr lang="en-US" sz="2400"/>
              <a:t> việc </a:t>
            </a:r>
            <a:r>
              <a:rPr lang="en-US" sz="2400" dirty="0" err="1"/>
              <a:t>này</a:t>
            </a:r>
            <a:r>
              <a:rPr lang="en-US" sz="2400" dirty="0"/>
              <a:t>…</a:t>
            </a:r>
          </a:p>
          <a:p>
            <a:pPr algn="just">
              <a:spcBef>
                <a:spcPts val="1800"/>
              </a:spcBef>
              <a:spcAft>
                <a:spcPts val="600"/>
              </a:spcAft>
            </a:pP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minh </a:t>
            </a:r>
            <a:r>
              <a:rPr lang="en-US" dirty="0" err="1"/>
              <a:t>nếu</a:t>
            </a:r>
            <a:r>
              <a:rPr lang="en-US" dirty="0"/>
              <a:t>: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/>
              <a:t>QLDA </a:t>
            </a:r>
            <a:r>
              <a:rPr lang="en-US" sz="2400" dirty="0" err="1"/>
              <a:t>giúp</a:t>
            </a:r>
            <a:r>
              <a:rPr lang="en-US" sz="2400" dirty="0"/>
              <a:t> </a:t>
            </a:r>
            <a:r>
              <a:rPr lang="en-US" sz="2400" dirty="0" err="1"/>
              <a:t>tăng</a:t>
            </a:r>
            <a:r>
              <a:rPr lang="en-US" sz="2400" dirty="0"/>
              <a:t> </a:t>
            </a:r>
            <a:r>
              <a:rPr lang="en-US" sz="2400" dirty="0" err="1"/>
              <a:t>lợi</a:t>
            </a:r>
            <a:r>
              <a:rPr lang="en-US" sz="2400" dirty="0"/>
              <a:t> </a:t>
            </a:r>
            <a:r>
              <a:rPr lang="en-US" sz="2400" dirty="0" err="1"/>
              <a:t>nhuận</a:t>
            </a:r>
            <a:r>
              <a:rPr lang="en-US" sz="2400" dirty="0"/>
              <a:t>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tăng</a:t>
            </a:r>
            <a:r>
              <a:rPr lang="en-US" sz="2400" dirty="0"/>
              <a:t> </a:t>
            </a:r>
            <a:r>
              <a:rPr lang="en-US" sz="2400" dirty="0" err="1"/>
              <a:t>lương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.</a:t>
            </a:r>
          </a:p>
          <a:p>
            <a:pPr algn="just">
              <a:spcBef>
                <a:spcPts val="1800"/>
              </a:spcBef>
            </a:pP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đốc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</a:t>
            </a:r>
            <a:r>
              <a:rPr lang="en-US" dirty="0" err="1"/>
              <a:t>thấu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, và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. 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Dự</a:t>
            </a:r>
            <a:r>
              <a:rPr lang="en-US" sz="4000" dirty="0"/>
              <a:t> </a:t>
            </a:r>
            <a:r>
              <a:rPr lang="en-US" sz="4000" dirty="0" err="1"/>
              <a:t>án</a:t>
            </a:r>
            <a:r>
              <a:rPr lang="en-US" sz="4000" dirty="0"/>
              <a:t> </a:t>
            </a:r>
            <a:r>
              <a:rPr lang="en-US" sz="4000" dirty="0" err="1"/>
              <a:t>gây</a:t>
            </a:r>
            <a:r>
              <a:rPr lang="en-US" sz="4000" dirty="0"/>
              <a:t> </a:t>
            </a:r>
            <a:r>
              <a:rPr lang="en-US" sz="4000" dirty="0" err="1"/>
              <a:t>ra</a:t>
            </a:r>
            <a:r>
              <a:rPr lang="en-US" sz="4000" dirty="0"/>
              <a:t> </a:t>
            </a:r>
            <a:r>
              <a:rPr lang="en-US" sz="4000" dirty="0" err="1"/>
              <a:t>sự</a:t>
            </a:r>
            <a:r>
              <a:rPr lang="en-US" sz="4000" dirty="0"/>
              <a:t> </a:t>
            </a:r>
            <a:r>
              <a:rPr lang="en-US" sz="4000" dirty="0" err="1"/>
              <a:t>thay</a:t>
            </a:r>
            <a:r>
              <a:rPr lang="en-US" sz="4000" dirty="0"/>
              <a:t> </a:t>
            </a:r>
            <a:r>
              <a:rPr lang="en-US" sz="4000" dirty="0" err="1"/>
              <a:t>đổi</a:t>
            </a:r>
            <a:endParaRPr lang="en-US" sz="4000" dirty="0"/>
          </a:p>
        </p:txBody>
      </p:sp>
      <p:sp>
        <p:nvSpPr>
          <p:cNvPr id="1434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E1DE93-2249-4044-8F9E-24E47D957E8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95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1143000"/>
            <a:ext cx="8737665" cy="4648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5A7A581-379D-4ED7-B5BC-E1CE1865ED1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685800"/>
          </a:xfrm>
        </p:spPr>
        <p:txBody>
          <a:bodyPr>
            <a:noAutofit/>
          </a:bodyPr>
          <a:lstStyle/>
          <a:p>
            <a:pPr algn="ctr"/>
            <a:r>
              <a:rPr lang="vi-VN" sz="3200" dirty="0">
                <a:solidFill>
                  <a:schemeClr val="bg1">
                    <a:lumMod val="65000"/>
                  </a:schemeClr>
                </a:solidFill>
              </a:rPr>
              <a:t>Tương tác trong dự án [các bên liên quan]</a:t>
            </a:r>
            <a:endParaRPr lang="en-US" sz="3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90600" y="1627496"/>
            <a:ext cx="1295400" cy="6858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Rectangle 1"/>
          <p:cNvSpPr/>
          <p:nvPr/>
        </p:nvSpPr>
        <p:spPr>
          <a:xfrm>
            <a:off x="5091285" y="6107668"/>
            <a:ext cx="19191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1600" dirty="0"/>
              <a:t>Nguồn: PMI</a:t>
            </a:r>
            <a:r>
              <a:rPr lang="vi-V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sz="1600"/>
              <a:t>(201</a:t>
            </a:r>
            <a:r>
              <a:rPr lang="en-US" sz="1600"/>
              <a:t>7</a:t>
            </a:r>
            <a:r>
              <a:rPr lang="vi-VN" sz="1600"/>
              <a:t>)</a:t>
            </a:r>
            <a:endParaRPr lang="vi-VN" sz="1600" dirty="0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1550" y="1600200"/>
            <a:ext cx="1295400" cy="6858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Rounded Rectangle 10"/>
          <p:cNvSpPr/>
          <p:nvPr/>
        </p:nvSpPr>
        <p:spPr>
          <a:xfrm>
            <a:off x="4038600" y="1600200"/>
            <a:ext cx="1295400" cy="6858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Rounded Rectangle 11"/>
          <p:cNvSpPr/>
          <p:nvPr/>
        </p:nvSpPr>
        <p:spPr>
          <a:xfrm>
            <a:off x="5791200" y="1600199"/>
            <a:ext cx="1295400" cy="6858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24329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600" dirty="0">
                <a:solidFill>
                  <a:srgbClr val="0070C0"/>
                </a:solidFill>
              </a:rPr>
              <a:t>Quản lý </a:t>
            </a:r>
            <a:r>
              <a:rPr lang="en-US" sz="3600" dirty="0" err="1">
                <a:solidFill>
                  <a:srgbClr val="0070C0"/>
                </a:solidFill>
              </a:rPr>
              <a:t>các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bên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liên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quan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dự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án</a:t>
            </a:r>
            <a:r>
              <a:rPr lang="en-US" sz="3600" dirty="0">
                <a:solidFill>
                  <a:srgbClr val="0070C0"/>
                </a:solidFill>
              </a:rPr>
              <a:t> [4]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724025"/>
            <a:ext cx="901065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58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447800"/>
            <a:ext cx="8915400" cy="45720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sz="2600" b="1" dirty="0" err="1"/>
              <a:t>Xác</a:t>
            </a:r>
            <a:r>
              <a:rPr lang="en-US" sz="2600" b="1" dirty="0"/>
              <a:t> </a:t>
            </a:r>
            <a:r>
              <a:rPr lang="en-US" sz="2600" b="1" dirty="0" err="1"/>
              <a:t>định</a:t>
            </a:r>
            <a:r>
              <a:rPr lang="en-US" sz="2600" b="1" dirty="0"/>
              <a:t> </a:t>
            </a:r>
            <a:r>
              <a:rPr lang="en-US" sz="2600" b="1" dirty="0" err="1"/>
              <a:t>các</a:t>
            </a:r>
            <a:r>
              <a:rPr lang="en-US" sz="2600" b="1" dirty="0"/>
              <a:t> </a:t>
            </a:r>
            <a:r>
              <a:rPr lang="en-US" sz="2600" b="1" dirty="0" err="1"/>
              <a:t>bên</a:t>
            </a:r>
            <a:r>
              <a:rPr lang="en-US" sz="2600" b="1" dirty="0"/>
              <a:t> </a:t>
            </a:r>
            <a:r>
              <a:rPr lang="en-US" sz="2600" b="1" dirty="0" err="1"/>
              <a:t>liên</a:t>
            </a:r>
            <a:r>
              <a:rPr lang="en-US" sz="2600" b="1" dirty="0"/>
              <a:t> </a:t>
            </a:r>
            <a:r>
              <a:rPr lang="en-US" sz="2600" b="1" dirty="0" err="1"/>
              <a:t>quan</a:t>
            </a:r>
            <a:r>
              <a:rPr lang="en-US" sz="2600" dirty="0"/>
              <a:t> (</a:t>
            </a:r>
            <a:r>
              <a:rPr lang="en-US" sz="2600" dirty="0">
                <a:solidFill>
                  <a:srgbClr val="0070C0"/>
                </a:solidFill>
              </a:rPr>
              <a:t>identify stakeholders</a:t>
            </a:r>
            <a:r>
              <a:rPr lang="en-US" sz="2600" dirty="0"/>
              <a:t>): </a:t>
            </a:r>
            <a:r>
              <a:rPr lang="en-US" sz="2600" dirty="0" err="1"/>
              <a:t>xác</a:t>
            </a:r>
            <a:r>
              <a:rPr lang="en-US" sz="2600" dirty="0"/>
              <a:t> </a:t>
            </a:r>
            <a:r>
              <a:rPr lang="en-US" sz="2600" dirty="0" err="1"/>
              <a:t>định</a:t>
            </a:r>
            <a:r>
              <a:rPr lang="en-US" sz="2600" dirty="0"/>
              <a:t> </a:t>
            </a:r>
            <a:r>
              <a:rPr lang="en-US" sz="2600" dirty="0" err="1"/>
              <a:t>tất</a:t>
            </a:r>
            <a:r>
              <a:rPr lang="en-US" sz="2600" dirty="0"/>
              <a:t> </a:t>
            </a:r>
            <a:r>
              <a:rPr lang="en-US" sz="2600" dirty="0" err="1"/>
              <a:t>cả</a:t>
            </a:r>
            <a:r>
              <a:rPr lang="en-US" sz="2600" dirty="0"/>
              <a:t> </a:t>
            </a:r>
            <a:r>
              <a:rPr lang="en-US" sz="2600" dirty="0" err="1"/>
              <a:t>nhân</a:t>
            </a:r>
            <a:r>
              <a:rPr lang="en-US" sz="2600" dirty="0"/>
              <a:t> </a:t>
            </a:r>
            <a:r>
              <a:rPr lang="en-US" sz="2600" dirty="0" err="1"/>
              <a:t>sự</a:t>
            </a:r>
            <a:r>
              <a:rPr lang="en-US" sz="2600" dirty="0"/>
              <a:t> </a:t>
            </a:r>
            <a:r>
              <a:rPr lang="en-US" sz="2600" dirty="0" err="1"/>
              <a:t>liên</a:t>
            </a:r>
            <a:r>
              <a:rPr lang="en-US" sz="2600" dirty="0"/>
              <a:t> </a:t>
            </a:r>
            <a:r>
              <a:rPr lang="en-US" sz="2600" dirty="0" err="1"/>
              <a:t>quan</a:t>
            </a:r>
            <a:r>
              <a:rPr lang="en-US" sz="2600" dirty="0"/>
              <a:t> </a:t>
            </a:r>
            <a:r>
              <a:rPr lang="en-US" sz="2600" dirty="0" err="1"/>
              <a:t>ảnh</a:t>
            </a:r>
            <a:r>
              <a:rPr lang="en-US" sz="2600" dirty="0"/>
              <a:t> </a:t>
            </a:r>
            <a:r>
              <a:rPr lang="en-US" sz="2600" dirty="0" err="1"/>
              <a:t>hưởng</a:t>
            </a:r>
            <a:r>
              <a:rPr lang="en-US" sz="2600" dirty="0"/>
              <a:t> </a:t>
            </a:r>
            <a:r>
              <a:rPr lang="en-US" sz="2600" dirty="0" err="1"/>
              <a:t>đến</a:t>
            </a:r>
            <a:r>
              <a:rPr lang="en-US" sz="2600" dirty="0"/>
              <a:t> </a:t>
            </a:r>
            <a:r>
              <a:rPr lang="en-US" sz="2600" dirty="0" err="1"/>
              <a:t>dự</a:t>
            </a:r>
            <a:r>
              <a:rPr lang="en-US" sz="2600" dirty="0"/>
              <a:t> </a:t>
            </a:r>
            <a:r>
              <a:rPr lang="en-US" sz="2600" dirty="0" err="1"/>
              <a:t>án</a:t>
            </a:r>
            <a:r>
              <a:rPr lang="en-US" sz="2600" dirty="0"/>
              <a:t>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sz="2600" b="1" dirty="0" err="1"/>
              <a:t>Kế</a:t>
            </a:r>
            <a:r>
              <a:rPr lang="en-US" sz="2600" b="1" dirty="0"/>
              <a:t> </a:t>
            </a:r>
            <a:r>
              <a:rPr lang="en-US" sz="2600" b="1" dirty="0" err="1"/>
              <a:t>hoạch</a:t>
            </a:r>
            <a:r>
              <a:rPr lang="en-US" sz="2600" b="1" dirty="0"/>
              <a:t> </a:t>
            </a:r>
            <a:r>
              <a:rPr lang="en-US" sz="2600" b="1" dirty="0" err="1"/>
              <a:t>các</a:t>
            </a:r>
            <a:r>
              <a:rPr lang="en-US" sz="2600" b="1" dirty="0"/>
              <a:t> </a:t>
            </a:r>
            <a:r>
              <a:rPr lang="en-US" sz="2600" b="1" dirty="0" err="1"/>
              <a:t>bên</a:t>
            </a:r>
            <a:r>
              <a:rPr lang="en-US" sz="2600" b="1" dirty="0"/>
              <a:t> </a:t>
            </a:r>
            <a:r>
              <a:rPr lang="en-US" sz="2600" b="1" dirty="0" err="1"/>
              <a:t>liên</a:t>
            </a:r>
            <a:r>
              <a:rPr lang="en-US" sz="2600" b="1" dirty="0"/>
              <a:t> </a:t>
            </a:r>
            <a:r>
              <a:rPr lang="en-US" sz="2600" b="1" dirty="0" err="1"/>
              <a:t>quan</a:t>
            </a:r>
            <a:r>
              <a:rPr lang="en-US" sz="2600" b="1" dirty="0"/>
              <a:t> </a:t>
            </a:r>
            <a:r>
              <a:rPr lang="en-US" sz="2600" dirty="0"/>
              <a:t>(</a:t>
            </a:r>
            <a:r>
              <a:rPr lang="en-US" sz="2600" dirty="0">
                <a:solidFill>
                  <a:srgbClr val="0070C0"/>
                </a:solidFill>
              </a:rPr>
              <a:t>plan stakeholder management</a:t>
            </a:r>
            <a:r>
              <a:rPr lang="en-US" sz="2600" dirty="0"/>
              <a:t>): </a:t>
            </a:r>
            <a:r>
              <a:rPr lang="en-US" sz="2600" dirty="0" err="1"/>
              <a:t>chiến</a:t>
            </a:r>
            <a:r>
              <a:rPr lang="en-US" sz="2600" dirty="0"/>
              <a:t> </a:t>
            </a:r>
            <a:r>
              <a:rPr lang="en-US" sz="2600" dirty="0" err="1"/>
              <a:t>lược</a:t>
            </a:r>
            <a:r>
              <a:rPr lang="en-US" sz="2600" dirty="0"/>
              <a:t> </a:t>
            </a:r>
            <a:r>
              <a:rPr lang="en-US" sz="2600" dirty="0" err="1"/>
              <a:t>để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bên</a:t>
            </a:r>
            <a:r>
              <a:rPr lang="en-US" sz="2600" dirty="0"/>
              <a:t> </a:t>
            </a:r>
            <a:r>
              <a:rPr lang="en-US" sz="2600" dirty="0" err="1"/>
              <a:t>tham</a:t>
            </a:r>
            <a:r>
              <a:rPr lang="en-US" sz="2600" dirty="0"/>
              <a:t> </a:t>
            </a:r>
            <a:r>
              <a:rPr lang="en-US" sz="2600" dirty="0" err="1"/>
              <a:t>gia</a:t>
            </a:r>
            <a:r>
              <a:rPr lang="en-US" sz="2600" dirty="0"/>
              <a:t> </a:t>
            </a:r>
            <a:r>
              <a:rPr lang="en-US" sz="2600" dirty="0" err="1"/>
              <a:t>hiệu</a:t>
            </a:r>
            <a:r>
              <a:rPr lang="en-US" sz="2600" dirty="0"/>
              <a:t> </a:t>
            </a:r>
            <a:r>
              <a:rPr lang="en-US" sz="2600" dirty="0" err="1"/>
              <a:t>quả</a:t>
            </a:r>
            <a:r>
              <a:rPr lang="en-US" sz="2600" dirty="0"/>
              <a:t>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sz="2600" b="1" dirty="0"/>
              <a:t>Quản lý </a:t>
            </a:r>
            <a:r>
              <a:rPr lang="en-US" sz="2600" b="1" dirty="0" err="1"/>
              <a:t>các</a:t>
            </a:r>
            <a:r>
              <a:rPr lang="en-US" sz="2600" b="1" dirty="0"/>
              <a:t> </a:t>
            </a:r>
            <a:r>
              <a:rPr lang="en-US" sz="2600" b="1" dirty="0" err="1"/>
              <a:t>bên</a:t>
            </a:r>
            <a:r>
              <a:rPr lang="en-US" sz="2600" b="1" dirty="0"/>
              <a:t> </a:t>
            </a:r>
            <a:r>
              <a:rPr lang="en-US" sz="2600" b="1" dirty="0" err="1"/>
              <a:t>liên</a:t>
            </a:r>
            <a:r>
              <a:rPr lang="en-US" sz="2600" b="1" dirty="0"/>
              <a:t> </a:t>
            </a:r>
            <a:r>
              <a:rPr lang="en-US" sz="2600" b="1" dirty="0" err="1"/>
              <a:t>quan</a:t>
            </a:r>
            <a:r>
              <a:rPr lang="en-US" sz="2600" b="1" dirty="0"/>
              <a:t> </a:t>
            </a:r>
            <a:r>
              <a:rPr lang="en-US" sz="2600" dirty="0"/>
              <a:t>(</a:t>
            </a:r>
            <a:r>
              <a:rPr lang="en-US" sz="2600" dirty="0">
                <a:solidFill>
                  <a:srgbClr val="0070C0"/>
                </a:solidFill>
              </a:rPr>
              <a:t>manage stakeholder engagement</a:t>
            </a:r>
            <a:r>
              <a:rPr lang="en-US" sz="2600" dirty="0"/>
              <a:t>): </a:t>
            </a:r>
            <a:r>
              <a:rPr lang="en-US" sz="2600" dirty="0" err="1"/>
              <a:t>truyền</a:t>
            </a:r>
            <a:r>
              <a:rPr lang="en-US" sz="2600" dirty="0"/>
              <a:t> thông và </a:t>
            </a:r>
            <a:r>
              <a:rPr lang="en-US" sz="2600" dirty="0" err="1"/>
              <a:t>làm</a:t>
            </a:r>
            <a:r>
              <a:rPr lang="en-US" sz="2600" dirty="0"/>
              <a:t> </a:t>
            </a:r>
            <a:r>
              <a:rPr lang="en-US" sz="2600" dirty="0" err="1"/>
              <a:t>việc</a:t>
            </a:r>
            <a:r>
              <a:rPr lang="en-US" sz="2600" dirty="0"/>
              <a:t> </a:t>
            </a:r>
            <a:r>
              <a:rPr lang="en-US" sz="2600" dirty="0" err="1"/>
              <a:t>với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bên</a:t>
            </a:r>
            <a:r>
              <a:rPr lang="en-US" sz="2600" dirty="0"/>
              <a:t>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sz="2600" b="1" dirty="0" err="1"/>
              <a:t>Kiểm</a:t>
            </a:r>
            <a:r>
              <a:rPr lang="en-US" sz="2600" b="1" dirty="0"/>
              <a:t> </a:t>
            </a:r>
            <a:r>
              <a:rPr lang="en-US" sz="2600" b="1" dirty="0" err="1"/>
              <a:t>soát</a:t>
            </a:r>
            <a:r>
              <a:rPr lang="en-US" sz="2600" b="1" dirty="0"/>
              <a:t> </a:t>
            </a:r>
            <a:r>
              <a:rPr lang="en-US" sz="2600" b="1" dirty="0" err="1"/>
              <a:t>các</a:t>
            </a:r>
            <a:r>
              <a:rPr lang="en-US" sz="2600" b="1" dirty="0"/>
              <a:t> </a:t>
            </a:r>
            <a:r>
              <a:rPr lang="en-US" sz="2600" b="1" dirty="0" err="1"/>
              <a:t>bên</a:t>
            </a:r>
            <a:r>
              <a:rPr lang="en-US" sz="2600" b="1" dirty="0"/>
              <a:t> </a:t>
            </a:r>
            <a:r>
              <a:rPr lang="en-US" sz="2600" b="1" dirty="0" err="1"/>
              <a:t>liên</a:t>
            </a:r>
            <a:r>
              <a:rPr lang="en-US" sz="2600" b="1" dirty="0"/>
              <a:t> </a:t>
            </a:r>
            <a:r>
              <a:rPr lang="en-US" sz="2600" b="1" dirty="0" err="1"/>
              <a:t>quan</a:t>
            </a:r>
            <a:r>
              <a:rPr lang="en-US" sz="2600" dirty="0"/>
              <a:t> (</a:t>
            </a:r>
            <a:r>
              <a:rPr lang="en-US" sz="2600" dirty="0">
                <a:solidFill>
                  <a:srgbClr val="0070C0"/>
                </a:solidFill>
              </a:rPr>
              <a:t>control stakeholder engagement</a:t>
            </a:r>
            <a:r>
              <a:rPr lang="en-US" sz="2600" dirty="0"/>
              <a:t>): </a:t>
            </a:r>
            <a:r>
              <a:rPr lang="en-US" sz="2600" dirty="0" err="1"/>
              <a:t>giám</a:t>
            </a:r>
            <a:r>
              <a:rPr lang="en-US" sz="2600" dirty="0"/>
              <a:t> </a:t>
            </a:r>
            <a:r>
              <a:rPr lang="en-US" sz="2600" dirty="0" err="1"/>
              <a:t>sát</a:t>
            </a:r>
            <a:r>
              <a:rPr lang="en-US" sz="2600" dirty="0"/>
              <a:t> </a:t>
            </a:r>
            <a:r>
              <a:rPr lang="en-US" sz="2600" dirty="0" err="1"/>
              <a:t>quan</a:t>
            </a:r>
            <a:r>
              <a:rPr lang="en-US" sz="2600" dirty="0"/>
              <a:t> </a:t>
            </a:r>
            <a:r>
              <a:rPr lang="en-US" sz="2600" dirty="0" err="1"/>
              <a:t>hệ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bên</a:t>
            </a:r>
            <a:r>
              <a:rPr lang="en-US" sz="2600" dirty="0"/>
              <a:t> </a:t>
            </a:r>
            <a:r>
              <a:rPr lang="en-US" sz="2600" dirty="0" err="1"/>
              <a:t>liên</a:t>
            </a:r>
            <a:r>
              <a:rPr lang="en-US" sz="2600" dirty="0"/>
              <a:t> </a:t>
            </a:r>
            <a:r>
              <a:rPr lang="en-US" sz="2600" dirty="0" err="1"/>
              <a:t>quan</a:t>
            </a:r>
            <a:r>
              <a:rPr lang="en-US" sz="2600" dirty="0"/>
              <a:t> và </a:t>
            </a:r>
            <a:r>
              <a:rPr lang="en-US" sz="2600" dirty="0" err="1"/>
              <a:t>điều</a:t>
            </a:r>
            <a:r>
              <a:rPr lang="en-US" sz="2600" dirty="0"/>
              <a:t> </a:t>
            </a:r>
            <a:r>
              <a:rPr lang="en-US" sz="2600" dirty="0" err="1"/>
              <a:t>chỉnh</a:t>
            </a:r>
            <a:r>
              <a:rPr lang="en-US" sz="2600" dirty="0"/>
              <a:t> </a:t>
            </a:r>
            <a:r>
              <a:rPr lang="en-US" sz="2600" dirty="0" err="1"/>
              <a:t>kế</a:t>
            </a:r>
            <a:r>
              <a:rPr lang="en-US" sz="2600" dirty="0"/>
              <a:t> </a:t>
            </a:r>
            <a:r>
              <a:rPr lang="en-US" sz="2600" dirty="0" err="1"/>
              <a:t>hoạch</a:t>
            </a:r>
            <a:r>
              <a:rPr lang="en-US" sz="2600" dirty="0"/>
              <a:t> </a:t>
            </a:r>
            <a:r>
              <a:rPr lang="en-US" sz="2600" dirty="0" err="1"/>
              <a:t>chiến</a:t>
            </a:r>
            <a:r>
              <a:rPr lang="en-US" sz="2600" dirty="0"/>
              <a:t> </a:t>
            </a:r>
            <a:r>
              <a:rPr lang="en-US" sz="2600" dirty="0" err="1"/>
              <a:t>lược</a:t>
            </a:r>
            <a:r>
              <a:rPr lang="en-US" sz="2600" dirty="0"/>
              <a:t>..</a:t>
            </a: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solidFill>
                  <a:srgbClr val="0070C0"/>
                </a:solidFill>
              </a:rPr>
              <a:t>Quy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trình</a:t>
            </a:r>
            <a:r>
              <a:rPr lang="en-US" sz="3600" dirty="0">
                <a:solidFill>
                  <a:srgbClr val="0070C0"/>
                </a:solidFill>
              </a:rPr>
              <a:t> quản lý </a:t>
            </a:r>
            <a:r>
              <a:rPr lang="en-US" sz="3600" dirty="0" err="1">
                <a:solidFill>
                  <a:srgbClr val="0070C0"/>
                </a:solidFill>
              </a:rPr>
              <a:t>các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bên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liên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quan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843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41A149B-F3CA-41E8-8298-59EC644AB5DF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84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0" y="-13063"/>
            <a:ext cx="9144000" cy="10668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>
                <a:hlinkClick r:id="rId2" action="ppaction://hlinkpres?slideindex=1&amp;slidetitle="/>
              </a:rPr>
              <a:t>Tóm</a:t>
            </a:r>
            <a:r>
              <a:rPr lang="en-US" sz="3600" dirty="0">
                <a:hlinkClick r:id="rId2" action="ppaction://hlinkpres?slideindex=1&amp;slidetitle="/>
              </a:rPr>
              <a:t> </a:t>
            </a:r>
            <a:r>
              <a:rPr lang="en-US" sz="3600" dirty="0" err="1">
                <a:hlinkClick r:id="rId2" action="ppaction://hlinkpres?slideindex=1&amp;slidetitle="/>
              </a:rPr>
              <a:t>tắt</a:t>
            </a:r>
            <a:r>
              <a:rPr lang="en-US" sz="3600" dirty="0">
                <a:hlinkClick r:id="rId2" action="ppaction://hlinkpres?slideindex=1&amp;slidetitle="/>
              </a:rPr>
              <a:t> </a:t>
            </a:r>
            <a:r>
              <a:rPr lang="en-US" sz="3600" dirty="0">
                <a:hlinkClick r:id="rId3" action="ppaction://hlinkpres?slideindex=1&amp;slidetitle="/>
              </a:rPr>
              <a:t>quản lý </a:t>
            </a:r>
            <a:r>
              <a:rPr lang="en-US" sz="3600" dirty="0" err="1">
                <a:hlinkClick r:id="rId3" action="ppaction://hlinkpres?slideindex=1&amp;slidetitle="/>
              </a:rPr>
              <a:t>các</a:t>
            </a:r>
            <a:r>
              <a:rPr lang="en-US" sz="3600" dirty="0">
                <a:hlinkClick r:id="rId3" action="ppaction://hlinkpres?slideindex=1&amp;slidetitle="/>
              </a:rPr>
              <a:t> </a:t>
            </a:r>
            <a:r>
              <a:rPr lang="en-US" sz="3600" dirty="0" err="1">
                <a:hlinkClick r:id="rId3" action="ppaction://hlinkpres?slideindex=1&amp;slidetitle="/>
              </a:rPr>
              <a:t>bên</a:t>
            </a:r>
            <a:r>
              <a:rPr lang="en-US" sz="3600" dirty="0">
                <a:hlinkClick r:id="rId3" action="ppaction://hlinkpres?slideindex=1&amp;slidetitle="/>
              </a:rPr>
              <a:t> </a:t>
            </a:r>
            <a:r>
              <a:rPr lang="en-US" sz="3600" dirty="0" err="1">
                <a:hlinkClick r:id="rId3" action="ppaction://hlinkpres?slideindex=1&amp;slidetitle="/>
              </a:rPr>
              <a:t>liên</a:t>
            </a:r>
            <a:r>
              <a:rPr lang="en-US" sz="3600" dirty="0">
                <a:hlinkClick r:id="rId3" action="ppaction://hlinkpres?slideindex=1&amp;slidetitle="/>
              </a:rPr>
              <a:t> </a:t>
            </a:r>
            <a:r>
              <a:rPr lang="en-US" sz="3600" dirty="0" err="1">
                <a:hlinkClick r:id="rId3" action="ppaction://hlinkpres?slideindex=1&amp;slidetitle="/>
              </a:rPr>
              <a:t>quan</a:t>
            </a:r>
            <a:r>
              <a:rPr lang="en-US" sz="3600" dirty="0">
                <a:hlinkClick r:id="rId3" action="ppaction://hlinkpres?slideindex=1&amp;slidetitle="/>
              </a:rPr>
              <a:t> </a:t>
            </a:r>
            <a:r>
              <a:rPr lang="en-US" sz="3600" dirty="0" err="1">
                <a:hlinkClick r:id="rId3" action="ppaction://hlinkpres?slideindex=1&amp;slidetitle="/>
              </a:rPr>
              <a:t>dự</a:t>
            </a:r>
            <a:r>
              <a:rPr lang="en-US" sz="3600" dirty="0">
                <a:hlinkClick r:id="rId3" action="ppaction://hlinkpres?slideindex=1&amp;slidetitle="/>
              </a:rPr>
              <a:t> </a:t>
            </a:r>
            <a:r>
              <a:rPr lang="en-US" sz="3600" dirty="0" err="1">
                <a:hlinkClick r:id="rId3" action="ppaction://hlinkpres?slideindex=1&amp;slidetitle="/>
              </a:rPr>
              <a:t>án</a:t>
            </a:r>
            <a:endParaRPr lang="en-US" sz="3600" dirty="0"/>
          </a:p>
        </p:txBody>
      </p:sp>
      <p:sp>
        <p:nvSpPr>
          <p:cNvPr id="20483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F5C3B9-A8C3-4146-B48A-C5A6FE1AF09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4846"/>
            <a:ext cx="9144000" cy="5643153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295400" y="1931126"/>
            <a:ext cx="22860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47948" y="2895600"/>
            <a:ext cx="323416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803533" y="3873137"/>
            <a:ext cx="369593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438400" y="5410200"/>
            <a:ext cx="3657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778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390650"/>
            <a:ext cx="9010650" cy="3409950"/>
          </a:xfrm>
          <a:prstGeom prst="rect">
            <a:avLst/>
          </a:prstGeom>
        </p:spPr>
      </p:pic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6200" y="4079753"/>
            <a:ext cx="1525754" cy="64464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các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bên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liên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quan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[1/4]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599" y="5181600"/>
            <a:ext cx="1135641" cy="165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6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328748" y="1828800"/>
            <a:ext cx="8534400" cy="4267200"/>
          </a:xfrm>
        </p:spPr>
        <p:txBody>
          <a:bodyPr/>
          <a:lstStyle/>
          <a:p>
            <a:pPr algn="just">
              <a:spcAft>
                <a:spcPts val="2400"/>
              </a:spcAft>
            </a:pPr>
            <a:r>
              <a:rPr lang="en-US" b="1" dirty="0" err="1"/>
              <a:t>Xác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bên</a:t>
            </a:r>
            <a:r>
              <a:rPr lang="en-US" b="1" dirty="0"/>
              <a:t> </a:t>
            </a:r>
            <a:r>
              <a:rPr lang="en-US" b="1" dirty="0" err="1"/>
              <a:t>liên</a:t>
            </a:r>
            <a:r>
              <a:rPr lang="en-US" b="1" dirty="0"/>
              <a:t> </a:t>
            </a:r>
            <a:r>
              <a:rPr lang="en-US" b="1" dirty="0" err="1"/>
              <a:t>quan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sz="2800" dirty="0">
                <a:solidFill>
                  <a:srgbClr val="0070C0"/>
                </a:solidFill>
              </a:rPr>
              <a:t>identify stakeholders</a:t>
            </a:r>
            <a:r>
              <a:rPr lang="en-US" dirty="0"/>
              <a:t>)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, và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quản lý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…</a:t>
            </a:r>
          </a:p>
          <a:p>
            <a:pPr algn="just">
              <a:spcAft>
                <a:spcPts val="600"/>
              </a:spcAft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:</a:t>
            </a:r>
          </a:p>
          <a:p>
            <a:pPr lvl="1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dirty="0" err="1"/>
              <a:t>Bên</a:t>
            </a:r>
            <a:r>
              <a:rPr lang="en-US" sz="2400" i="1" dirty="0"/>
              <a:t> </a:t>
            </a:r>
            <a:r>
              <a:rPr lang="en-US" sz="2400" i="1" dirty="0" err="1"/>
              <a:t>trong</a:t>
            </a:r>
            <a:r>
              <a:rPr lang="en-US" sz="2400" i="1" dirty="0"/>
              <a:t> (</a:t>
            </a:r>
            <a:r>
              <a:rPr lang="en-US" sz="2400" i="1" dirty="0">
                <a:solidFill>
                  <a:srgbClr val="0070C0"/>
                </a:solidFill>
              </a:rPr>
              <a:t>internal</a:t>
            </a:r>
            <a:r>
              <a:rPr lang="en-US" sz="2400" i="1" dirty="0"/>
              <a:t>)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i="1" dirty="0" err="1"/>
              <a:t>Bên</a:t>
            </a:r>
            <a:r>
              <a:rPr lang="en-US" sz="2400" i="1" dirty="0"/>
              <a:t> </a:t>
            </a:r>
            <a:r>
              <a:rPr lang="en-US" sz="2400" i="1" dirty="0" err="1"/>
              <a:t>ngoài</a:t>
            </a:r>
            <a:r>
              <a:rPr lang="en-US" sz="2400" i="1" dirty="0"/>
              <a:t> </a:t>
            </a:r>
            <a:r>
              <a:rPr lang="en-US" sz="2400" dirty="0"/>
              <a:t>(</a:t>
            </a:r>
            <a:r>
              <a:rPr lang="en-US" sz="2400" i="1" dirty="0">
                <a:solidFill>
                  <a:srgbClr val="0070C0"/>
                </a:solidFill>
              </a:rPr>
              <a:t>external</a:t>
            </a:r>
            <a:r>
              <a:rPr lang="en-US" sz="2400" i="1" dirty="0"/>
              <a:t>).</a:t>
            </a:r>
            <a:r>
              <a:rPr lang="en-US" sz="2400" dirty="0"/>
              <a:t> 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</a:rPr>
              <a:t>1 </a:t>
            </a:r>
            <a:r>
              <a:rPr lang="en-US" sz="4400" dirty="0" err="1">
                <a:solidFill>
                  <a:srgbClr val="FF0000"/>
                </a:solidFill>
              </a:rPr>
              <a:t>Xác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định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các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bên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liên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quan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2150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8CE13C7-C293-43D6-8B4C-4097BCDB0B5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915" y="4393850"/>
            <a:ext cx="2978285" cy="193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33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bên</a:t>
            </a:r>
            <a:r>
              <a:rPr lang="en-US" sz="3600" dirty="0"/>
              <a:t> </a:t>
            </a:r>
            <a:r>
              <a:rPr lang="en-US" sz="3600" dirty="0" err="1"/>
              <a:t>liên</a:t>
            </a:r>
            <a:r>
              <a:rPr lang="en-US" sz="3600" dirty="0"/>
              <a:t> </a:t>
            </a:r>
            <a:r>
              <a:rPr lang="en-US" sz="3600" dirty="0" err="1"/>
              <a:t>quan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32BD8DC-3670-4F66-BAF1-AB767FF85EC4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572000" y="6138446"/>
            <a:ext cx="2971800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vi-VN" sz="1600" dirty="0">
                <a:latin typeface="+mj-lt"/>
              </a:rPr>
              <a:t>Nguồn: PMPOK (2013)</a:t>
            </a:r>
            <a:endParaRPr lang="vi-VN" sz="900" dirty="0"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9144000" cy="504570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60594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2590800"/>
          </a:xfrm>
          <a:solidFill>
            <a:schemeClr val="bg2"/>
          </a:solidFill>
        </p:spPr>
        <p:txBody>
          <a:bodyPr/>
          <a:lstStyle/>
          <a:p>
            <a:r>
              <a:rPr lang="en-US" sz="2400" dirty="0" err="1"/>
              <a:t>Liệt</a:t>
            </a:r>
            <a:r>
              <a:rPr lang="en-US" sz="2400" dirty="0"/>
              <a:t> </a:t>
            </a:r>
            <a:r>
              <a:rPr lang="en-US" sz="2400" dirty="0" err="1"/>
              <a:t>kê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 err="1"/>
              <a:t>Giám</a:t>
            </a:r>
            <a:r>
              <a:rPr lang="en-US" sz="2200" dirty="0"/>
              <a:t> </a:t>
            </a:r>
            <a:r>
              <a:rPr lang="en-US" sz="2200" dirty="0" err="1"/>
              <a:t>đốc</a:t>
            </a:r>
            <a:r>
              <a:rPr lang="en-US" sz="2200" dirty="0"/>
              <a:t> </a:t>
            </a:r>
            <a:r>
              <a:rPr lang="en-US" sz="2200" dirty="0" err="1"/>
              <a:t>chương</a:t>
            </a:r>
            <a:r>
              <a:rPr lang="en-US" sz="2200" dirty="0"/>
              <a:t> </a:t>
            </a:r>
            <a:r>
              <a:rPr lang="en-US" sz="2200" dirty="0" err="1"/>
              <a:t>trình</a:t>
            </a:r>
            <a:endParaRPr lang="en-US" sz="2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Gia </a:t>
            </a:r>
            <a:r>
              <a:rPr lang="en-US" sz="2200" dirty="0" err="1"/>
              <a:t>đình</a:t>
            </a:r>
            <a:r>
              <a:rPr lang="en-US" sz="2200" dirty="0"/>
              <a:t> </a:t>
            </a:r>
            <a:r>
              <a:rPr lang="en-US" sz="2200" dirty="0" err="1"/>
              <a:t>giám</a:t>
            </a:r>
            <a:r>
              <a:rPr lang="en-US" sz="2200" dirty="0"/>
              <a:t> </a:t>
            </a:r>
            <a:r>
              <a:rPr lang="en-US" sz="2200" dirty="0" err="1"/>
              <a:t>đốc</a:t>
            </a:r>
            <a:r>
              <a:rPr lang="en-US" sz="2200" dirty="0"/>
              <a:t> </a:t>
            </a:r>
            <a:r>
              <a:rPr lang="en-US" sz="2200" dirty="0" err="1"/>
              <a:t>dự</a:t>
            </a:r>
            <a:r>
              <a:rPr lang="en-US" sz="2200" dirty="0"/>
              <a:t> </a:t>
            </a:r>
            <a:r>
              <a:rPr lang="en-US" sz="2200" dirty="0" err="1"/>
              <a:t>án</a:t>
            </a:r>
            <a:endParaRPr lang="en-US" sz="2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liên</a:t>
            </a:r>
            <a:r>
              <a:rPr lang="en-US" sz="2200" dirty="0"/>
              <a:t> </a:t>
            </a:r>
            <a:r>
              <a:rPr lang="en-US" sz="2200" dirty="0" err="1"/>
              <a:t>đoàn</a:t>
            </a:r>
            <a:r>
              <a:rPr lang="en-US" sz="2200" dirty="0"/>
              <a:t> </a:t>
            </a:r>
            <a:r>
              <a:rPr lang="en-US" sz="2200" dirty="0" err="1"/>
              <a:t>lao</a:t>
            </a:r>
            <a:r>
              <a:rPr lang="en-US" sz="2200" dirty="0"/>
              <a:t> </a:t>
            </a:r>
            <a:r>
              <a:rPr lang="en-US" sz="2200" dirty="0" err="1"/>
              <a:t>động</a:t>
            </a:r>
            <a:endParaRPr lang="en-US" sz="2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 err="1"/>
              <a:t>Khách</a:t>
            </a:r>
            <a:r>
              <a:rPr lang="en-US" sz="2200" dirty="0"/>
              <a:t> </a:t>
            </a:r>
            <a:r>
              <a:rPr lang="en-US" sz="2200" dirty="0" err="1"/>
              <a:t>hàng</a:t>
            </a:r>
            <a:r>
              <a:rPr lang="en-US" sz="2200" dirty="0"/>
              <a:t> </a:t>
            </a:r>
            <a:r>
              <a:rPr lang="en-US" sz="2200" dirty="0" err="1"/>
              <a:t>tiềm</a:t>
            </a:r>
            <a:r>
              <a:rPr lang="en-US" sz="2200" dirty="0"/>
              <a:t> </a:t>
            </a:r>
            <a:r>
              <a:rPr lang="en-US" sz="2200" dirty="0" err="1"/>
              <a:t>năng</a:t>
            </a:r>
            <a:r>
              <a:rPr lang="en-US" sz="2200" dirty="0"/>
              <a:t>…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hlinkClick r:id="rId2"/>
              </a:rPr>
              <a:t>www.projectstakeholder.com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709852"/>
            <a:ext cx="7624216" cy="2209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246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534400" cy="3581400"/>
          </a:xfrm>
        </p:spPr>
        <p:txBody>
          <a:bodyPr/>
          <a:lstStyle/>
          <a:p>
            <a:pPr marL="109537" indent="0" algn="just">
              <a:buNone/>
            </a:pPr>
            <a:endParaRPr lang="en-US" dirty="0"/>
          </a:p>
          <a:p>
            <a:pPr algn="just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Bảng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ghi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bên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liên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stakeholder register</a:t>
            </a:r>
            <a:r>
              <a:rPr lang="en-US" dirty="0"/>
              <a:t>)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thông tin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lvl="1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u="sng" dirty="0" err="1"/>
              <a:t>Nhận</a:t>
            </a:r>
            <a:r>
              <a:rPr lang="en-US" sz="2400" u="sng" dirty="0"/>
              <a:t> </a:t>
            </a:r>
            <a:r>
              <a:rPr lang="en-US" sz="2400" u="sng" dirty="0" err="1"/>
              <a:t>diện</a:t>
            </a:r>
            <a:r>
              <a:rPr lang="en-US" sz="2400" dirty="0"/>
              <a:t>: </a:t>
            </a:r>
            <a:r>
              <a:rPr lang="en-US" sz="2400" dirty="0" err="1"/>
              <a:t>tên</a:t>
            </a:r>
            <a:r>
              <a:rPr lang="en-US" sz="2400" dirty="0"/>
              <a:t>, </a:t>
            </a:r>
            <a:r>
              <a:rPr lang="en-US" sz="2400" dirty="0" err="1"/>
              <a:t>vị</a:t>
            </a:r>
            <a:r>
              <a:rPr lang="en-US" sz="2400" dirty="0"/>
              <a:t> </a:t>
            </a:r>
            <a:r>
              <a:rPr lang="en-US" sz="2400" dirty="0" err="1"/>
              <a:t>trí</a:t>
            </a:r>
            <a:r>
              <a:rPr lang="en-US" sz="2400" dirty="0"/>
              <a:t>, </a:t>
            </a:r>
            <a:r>
              <a:rPr lang="en-US" sz="2400" dirty="0" err="1"/>
              <a:t>vai</a:t>
            </a:r>
            <a:r>
              <a:rPr lang="en-US" sz="2400" dirty="0"/>
              <a:t> </a:t>
            </a:r>
            <a:r>
              <a:rPr lang="en-US" sz="2400" dirty="0" err="1"/>
              <a:t>trò</a:t>
            </a:r>
            <a:r>
              <a:rPr lang="en-US" sz="2400" dirty="0"/>
              <a:t>, thông tin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lạc</a:t>
            </a:r>
            <a:r>
              <a:rPr lang="en-US" sz="2400" dirty="0"/>
              <a:t>... </a:t>
            </a:r>
          </a:p>
          <a:p>
            <a:pPr lvl="1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u="sng" dirty="0" err="1"/>
              <a:t>Đánh</a:t>
            </a:r>
            <a:r>
              <a:rPr lang="en-US" sz="2400" u="sng" dirty="0"/>
              <a:t> </a:t>
            </a:r>
            <a:r>
              <a:rPr lang="en-US" sz="2400" u="sng" dirty="0" err="1"/>
              <a:t>giá</a:t>
            </a:r>
            <a:r>
              <a:rPr lang="en-US" sz="2400" dirty="0"/>
              <a:t>: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và </a:t>
            </a:r>
            <a:r>
              <a:rPr lang="en-US" sz="2400" dirty="0" err="1"/>
              <a:t>mong</a:t>
            </a:r>
            <a:r>
              <a:rPr lang="en-US" sz="2400" dirty="0"/>
              <a:t> </a:t>
            </a:r>
            <a:r>
              <a:rPr lang="en-US" sz="2400" dirty="0" err="1"/>
              <a:t>đợi</a:t>
            </a:r>
            <a:r>
              <a:rPr lang="en-US" sz="2400" dirty="0"/>
              <a:t>,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hưởng</a:t>
            </a:r>
            <a:r>
              <a:rPr lang="en-US" sz="2400" dirty="0"/>
              <a:t> </a:t>
            </a:r>
            <a:r>
              <a:rPr lang="en-US" sz="2400" dirty="0" err="1"/>
              <a:t>tiềm</a:t>
            </a:r>
            <a:r>
              <a:rPr lang="en-US" sz="2400" dirty="0"/>
              <a:t> </a:t>
            </a:r>
            <a:r>
              <a:rPr lang="en-US" sz="2400" dirty="0" err="1"/>
              <a:t>ẩn</a:t>
            </a:r>
            <a:r>
              <a:rPr lang="en-US" sz="2400" dirty="0"/>
              <a:t>… </a:t>
            </a:r>
          </a:p>
          <a:p>
            <a:pPr lvl="1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u="sng" dirty="0" err="1"/>
              <a:t>Phân</a:t>
            </a:r>
            <a:r>
              <a:rPr lang="en-US" sz="2400" u="sng" dirty="0"/>
              <a:t> </a:t>
            </a:r>
            <a:r>
              <a:rPr lang="en-US" sz="2400" u="sng" dirty="0" err="1"/>
              <a:t>loại</a:t>
            </a:r>
            <a:r>
              <a:rPr lang="en-US" sz="2400" dirty="0"/>
              <a:t>: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-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ngoài</a:t>
            </a:r>
            <a:r>
              <a:rPr lang="en-US" sz="2400" dirty="0"/>
              <a:t>, </a:t>
            </a:r>
            <a:r>
              <a:rPr lang="en-US" sz="2400" dirty="0" err="1"/>
              <a:t>ủng</a:t>
            </a:r>
            <a:r>
              <a:rPr lang="en-US" sz="2400" dirty="0"/>
              <a:t> </a:t>
            </a:r>
            <a:r>
              <a:rPr lang="en-US" sz="2400" dirty="0" err="1"/>
              <a:t>hộ</a:t>
            </a:r>
            <a:r>
              <a:rPr lang="en-US" sz="2400" dirty="0"/>
              <a:t> - </a:t>
            </a:r>
            <a:r>
              <a:rPr lang="en-US" sz="2400" dirty="0" err="1"/>
              <a:t>chống</a:t>
            </a:r>
            <a:r>
              <a:rPr lang="en-US" sz="2400" dirty="0"/>
              <a:t> </a:t>
            </a:r>
            <a:r>
              <a:rPr lang="en-US" sz="2400" dirty="0" err="1"/>
              <a:t>đối</a:t>
            </a:r>
            <a:r>
              <a:rPr lang="en-US" sz="2400" dirty="0"/>
              <a:t>…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Bảng</a:t>
            </a:r>
            <a:r>
              <a:rPr lang="en-US" sz="4000" dirty="0"/>
              <a:t> </a:t>
            </a:r>
            <a:r>
              <a:rPr lang="en-US" sz="4000" dirty="0" err="1"/>
              <a:t>ghi</a:t>
            </a:r>
            <a:r>
              <a:rPr lang="en-US" sz="4000" dirty="0"/>
              <a:t> </a:t>
            </a:r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bên</a:t>
            </a:r>
            <a:r>
              <a:rPr lang="en-US" sz="4000" dirty="0"/>
              <a:t> </a:t>
            </a:r>
            <a:r>
              <a:rPr lang="en-US" sz="4000" dirty="0" err="1"/>
              <a:t>liên</a:t>
            </a:r>
            <a:r>
              <a:rPr lang="en-US" sz="4000" dirty="0"/>
              <a:t> </a:t>
            </a:r>
            <a:r>
              <a:rPr lang="en-US" sz="4000" dirty="0" err="1"/>
              <a:t>quan</a:t>
            </a:r>
            <a:endParaRPr lang="en-US" sz="4000" dirty="0"/>
          </a:p>
        </p:txBody>
      </p:sp>
      <p:sp>
        <p:nvSpPr>
          <p:cNvPr id="2253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B02C31-945C-4AD2-B828-1A85C2B8988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4495800"/>
            <a:ext cx="1295400" cy="188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7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bảng</a:t>
            </a:r>
            <a:r>
              <a:rPr lang="en-US" sz="3600" dirty="0"/>
              <a:t> </a:t>
            </a:r>
            <a:r>
              <a:rPr lang="en-US" sz="3600" dirty="0" err="1"/>
              <a:t>ghi</a:t>
            </a:r>
            <a:r>
              <a:rPr lang="en-US" sz="3600" dirty="0"/>
              <a:t> </a:t>
            </a:r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bên</a:t>
            </a:r>
            <a:r>
              <a:rPr lang="en-US" sz="3600" dirty="0"/>
              <a:t> </a:t>
            </a:r>
            <a:r>
              <a:rPr lang="en-US" sz="3600" dirty="0" err="1"/>
              <a:t>liên</a:t>
            </a:r>
            <a:r>
              <a:rPr lang="en-US" sz="3600" dirty="0"/>
              <a:t> </a:t>
            </a:r>
            <a:r>
              <a:rPr lang="en-US" sz="3600" dirty="0" err="1"/>
              <a:t>quan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" y="1371600"/>
            <a:ext cx="9130121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9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828800"/>
            <a:ext cx="8458200" cy="35052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. 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Lưới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quyền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hạn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tâm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power/interest grid</a:t>
            </a:r>
            <a:r>
              <a:rPr lang="en-US" dirty="0"/>
              <a:t>):</a:t>
            </a:r>
            <a:r>
              <a:rPr lang="en-US" b="1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và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Phân</a:t>
            </a:r>
            <a:r>
              <a:rPr lang="en-US" sz="4000" dirty="0"/>
              <a:t> </a:t>
            </a:r>
            <a:r>
              <a:rPr lang="en-US" sz="4000" dirty="0" err="1"/>
              <a:t>loại</a:t>
            </a:r>
            <a:r>
              <a:rPr lang="en-US" sz="4000" dirty="0"/>
              <a:t> </a:t>
            </a:r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bên</a:t>
            </a:r>
            <a:r>
              <a:rPr lang="en-US" sz="4000" dirty="0"/>
              <a:t> </a:t>
            </a:r>
            <a:r>
              <a:rPr lang="en-US" sz="4000" dirty="0" err="1"/>
              <a:t>liên</a:t>
            </a:r>
            <a:r>
              <a:rPr lang="en-US" sz="4000" dirty="0"/>
              <a:t> </a:t>
            </a:r>
            <a:r>
              <a:rPr lang="en-US" sz="4000" dirty="0" err="1"/>
              <a:t>quan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55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577564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480"/>
            <a:ext cx="8229600" cy="960120"/>
          </a:xfrm>
        </p:spPr>
        <p:txBody>
          <a:bodyPr>
            <a:normAutofit/>
          </a:bodyPr>
          <a:lstStyle/>
          <a:p>
            <a:pPr algn="ctr"/>
            <a:r>
              <a:rPr lang="vi-VN" sz="3600" dirty="0"/>
              <a:t>Lướ</a:t>
            </a:r>
            <a:r>
              <a:rPr lang="en-US" sz="3600" dirty="0" err="1"/>
              <a:t>i</a:t>
            </a:r>
            <a:r>
              <a:rPr lang="en-US" sz="3600" dirty="0"/>
              <a:t> </a:t>
            </a:r>
            <a:r>
              <a:rPr lang="en-US" sz="3600" dirty="0" err="1"/>
              <a:t>quyền</a:t>
            </a:r>
            <a:r>
              <a:rPr lang="en-US" sz="3600" dirty="0"/>
              <a:t> </a:t>
            </a:r>
            <a:r>
              <a:rPr lang="en-US" sz="3600" dirty="0" err="1"/>
              <a:t>hạn</a:t>
            </a:r>
            <a:r>
              <a:rPr lang="en-US" sz="3600" dirty="0"/>
              <a:t>/</a:t>
            </a:r>
            <a:r>
              <a:rPr lang="en-US" sz="3600" dirty="0" err="1"/>
              <a:t>quan</a:t>
            </a:r>
            <a:r>
              <a:rPr lang="en-US" sz="3600" dirty="0"/>
              <a:t> </a:t>
            </a:r>
            <a:r>
              <a:rPr lang="en-US" sz="3600" dirty="0" err="1"/>
              <a:t>tâm</a:t>
            </a:r>
            <a:endParaRPr lang="en-US" sz="36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791113" y="1672100"/>
            <a:ext cx="2217883" cy="3509500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/>
            <a:br>
              <a:rPr lang="en-US" sz="2800" dirty="0">
                <a:solidFill>
                  <a:srgbClr val="002060"/>
                </a:solidFill>
              </a:rPr>
            </a:br>
            <a:r>
              <a:rPr lang="en-US" sz="2800" dirty="0" err="1">
                <a:solidFill>
                  <a:srgbClr val="002060"/>
                </a:solidFill>
              </a:rPr>
              <a:t>Hài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lòng</a:t>
            </a:r>
            <a:endParaRPr lang="en-US" sz="2800" dirty="0">
              <a:solidFill>
                <a:srgbClr val="002060"/>
              </a:solidFill>
            </a:endParaRPr>
          </a:p>
          <a:p>
            <a:pPr algn="ctr"/>
            <a:endParaRPr lang="en-US" sz="2800" dirty="0">
              <a:solidFill>
                <a:srgbClr val="002060"/>
              </a:solidFill>
            </a:endParaRPr>
          </a:p>
          <a:p>
            <a:pPr algn="ctr"/>
            <a:br>
              <a:rPr lang="en-US" sz="2800" dirty="0">
                <a:solidFill>
                  <a:srgbClr val="002060"/>
                </a:solidFill>
              </a:rPr>
            </a:br>
            <a:br>
              <a:rPr lang="en-US" sz="2800" dirty="0">
                <a:solidFill>
                  <a:srgbClr val="002060"/>
                </a:solidFill>
              </a:rPr>
            </a:br>
            <a:endParaRPr lang="en-US" sz="1800" dirty="0">
              <a:solidFill>
                <a:srgbClr val="002060"/>
              </a:solidFill>
            </a:endParaRPr>
          </a:p>
          <a:p>
            <a:pPr algn="ctr"/>
            <a:br>
              <a:rPr lang="en-US" sz="2800" dirty="0">
                <a:solidFill>
                  <a:srgbClr val="002060"/>
                </a:solidFill>
              </a:rPr>
            </a:br>
            <a:r>
              <a:rPr lang="en-US" sz="2800" dirty="0" err="1">
                <a:solidFill>
                  <a:srgbClr val="002060"/>
                </a:solidFill>
              </a:rPr>
              <a:t>Giám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dirty="0" err="1">
                <a:solidFill>
                  <a:srgbClr val="002060"/>
                </a:solidFill>
              </a:rPr>
              <a:t>sát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5524913" y="1752600"/>
            <a:ext cx="2476087" cy="3896374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/>
            <a:r>
              <a:rPr lang="en-US" sz="2800" dirty="0">
                <a:solidFill>
                  <a:srgbClr val="002060"/>
                </a:solidFill>
              </a:rPr>
              <a:t>Quản lý</a:t>
            </a:r>
          </a:p>
          <a:p>
            <a:pPr algn="ctr"/>
            <a:endParaRPr lang="en-US" sz="2800" dirty="0">
              <a:solidFill>
                <a:srgbClr val="002060"/>
              </a:solidFill>
            </a:endParaRPr>
          </a:p>
          <a:p>
            <a:pPr algn="ctr"/>
            <a:br>
              <a:rPr lang="en-US" sz="2800" dirty="0">
                <a:solidFill>
                  <a:srgbClr val="002060"/>
                </a:solidFill>
              </a:rPr>
            </a:br>
            <a:br>
              <a:rPr lang="en-US" sz="2800" dirty="0">
                <a:solidFill>
                  <a:srgbClr val="002060"/>
                </a:solidFill>
              </a:rPr>
            </a:br>
            <a:endParaRPr lang="en-US" sz="1800" dirty="0">
              <a:solidFill>
                <a:srgbClr val="002060"/>
              </a:solidFill>
            </a:endParaRPr>
          </a:p>
          <a:p>
            <a:pPr algn="ctr"/>
            <a:br>
              <a:rPr lang="en-US" sz="2800" dirty="0">
                <a:solidFill>
                  <a:srgbClr val="002060"/>
                </a:solidFill>
              </a:rPr>
            </a:br>
            <a:r>
              <a:rPr lang="en-US" sz="2800" dirty="0">
                <a:solidFill>
                  <a:srgbClr val="002060"/>
                </a:solidFill>
              </a:rPr>
              <a:t>Thông tin</a:t>
            </a:r>
          </a:p>
        </p:txBody>
      </p:sp>
    </p:spTree>
    <p:extLst>
      <p:ext uri="{BB962C8B-B14F-4D97-AF65-F5344CB8AC3E}">
        <p14:creationId xmlns:p14="http://schemas.microsoft.com/office/powerpoint/2010/main" val="1651528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390650"/>
            <a:ext cx="9010650" cy="3409950"/>
          </a:xfrm>
          <a:prstGeom prst="rect">
            <a:avLst/>
          </a:prstGeom>
        </p:spPr>
      </p:pic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1676400" y="4038600"/>
            <a:ext cx="1678329" cy="64464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các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bên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liên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quan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[2/4]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518808"/>
            <a:ext cx="1600200" cy="135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19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524000"/>
            <a:ext cx="8534400" cy="4525962"/>
          </a:xfrm>
        </p:spPr>
        <p:txBody>
          <a:bodyPr/>
          <a:lstStyle/>
          <a:p>
            <a:pPr algn="just">
              <a:spcAft>
                <a:spcPts val="1800"/>
              </a:spcAft>
            </a:pP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hoạch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bên</a:t>
            </a:r>
            <a:r>
              <a:rPr lang="en-US" b="1" dirty="0"/>
              <a:t> </a:t>
            </a:r>
            <a:r>
              <a:rPr lang="en-US" b="1" dirty="0" err="1"/>
              <a:t>liên</a:t>
            </a:r>
            <a:r>
              <a:rPr lang="en-US" b="1" dirty="0"/>
              <a:t> </a:t>
            </a:r>
            <a:r>
              <a:rPr lang="en-US" b="1" dirty="0" err="1"/>
              <a:t>quan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plan stakeholder management</a:t>
            </a:r>
            <a:r>
              <a:rPr lang="en-US" dirty="0"/>
              <a:t>)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triển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  <a:p>
            <a:pPr algn="just">
              <a:spcAft>
                <a:spcPts val="600"/>
              </a:spcAft>
            </a:pP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Cấp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</a:t>
            </a:r>
            <a:r>
              <a:rPr lang="en-US" sz="2400" dirty="0" err="1"/>
              <a:t>mong</a:t>
            </a:r>
            <a:r>
              <a:rPr lang="en-US" sz="2400" dirty="0"/>
              <a:t> </a:t>
            </a:r>
            <a:r>
              <a:rPr lang="en-US" sz="2400" dirty="0" err="1"/>
              <a:t>muốn</a:t>
            </a:r>
            <a:r>
              <a:rPr lang="en-US" sz="2400" dirty="0"/>
              <a:t> và </a:t>
            </a:r>
            <a:r>
              <a:rPr lang="en-US" sz="2400" dirty="0" err="1"/>
              <a:t>tham</a:t>
            </a:r>
            <a:r>
              <a:rPr lang="en-US" sz="2400" dirty="0"/>
              <a:t> </a:t>
            </a:r>
            <a:r>
              <a:rPr lang="en-US" sz="2400" dirty="0" err="1"/>
              <a:t>gia</a:t>
            </a:r>
            <a:endParaRPr lang="en-US" sz="24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Mối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giữa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endParaRPr lang="en-US" sz="24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truyền</a:t>
            </a:r>
            <a:r>
              <a:rPr lang="en-US" sz="2400" dirty="0"/>
              <a:t> thông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Chiến</a:t>
            </a:r>
            <a:r>
              <a:rPr lang="en-US" sz="2400" dirty="0"/>
              <a:t> </a:t>
            </a:r>
            <a:r>
              <a:rPr lang="en-US" sz="2400" dirty="0" err="1"/>
              <a:t>lược</a:t>
            </a:r>
            <a:r>
              <a:rPr lang="en-US" sz="2400" dirty="0"/>
              <a:t> quản lý </a:t>
            </a:r>
            <a:r>
              <a:rPr lang="en-US" sz="2400" dirty="0" err="1"/>
              <a:t>từng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endParaRPr lang="en-US" sz="24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cập</a:t>
            </a:r>
            <a:r>
              <a:rPr lang="en-US" sz="2400" dirty="0"/>
              <a:t> </a:t>
            </a:r>
            <a:r>
              <a:rPr lang="en-US" sz="2400" dirty="0" err="1"/>
              <a:t>nhật</a:t>
            </a:r>
            <a:r>
              <a:rPr lang="en-US" sz="2400" dirty="0"/>
              <a:t> </a:t>
            </a:r>
            <a:r>
              <a:rPr lang="en-US" sz="2400" dirty="0" err="1"/>
              <a:t>kế</a:t>
            </a:r>
            <a:r>
              <a:rPr lang="en-US" sz="2400" dirty="0"/>
              <a:t> </a:t>
            </a:r>
            <a:r>
              <a:rPr lang="en-US" sz="2400" dirty="0" err="1"/>
              <a:t>hoạch</a:t>
            </a:r>
            <a:r>
              <a:rPr lang="en-US" sz="2400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</a:rPr>
              <a:t>2 </a:t>
            </a:r>
            <a:r>
              <a:rPr lang="en-US" sz="4400" dirty="0" err="1">
                <a:solidFill>
                  <a:srgbClr val="FF0000"/>
                </a:solidFill>
              </a:rPr>
              <a:t>Kế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hoạch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các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bên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liên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quan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191000"/>
            <a:ext cx="2022332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97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3929062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thông tin </a:t>
            </a:r>
            <a:r>
              <a:rPr lang="en-US" dirty="0" err="1"/>
              <a:t>nhạy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,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đốc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và </a:t>
            </a:r>
            <a:r>
              <a:rPr lang="en-US" dirty="0" err="1"/>
              <a:t>vài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, và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Thông tin </a:t>
            </a:r>
            <a:r>
              <a:rPr lang="en-US" sz="4000" dirty="0" err="1"/>
              <a:t>nhạy</a:t>
            </a:r>
            <a:r>
              <a:rPr lang="en-US" sz="4000" dirty="0"/>
              <a:t> </a:t>
            </a:r>
            <a:r>
              <a:rPr lang="en-US" sz="4000" dirty="0" err="1"/>
              <a:t>cảm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78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447800"/>
            <a:ext cx="8382000" cy="4525962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Không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nhận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thức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/>
              <a:t>(</a:t>
            </a:r>
            <a:r>
              <a:rPr lang="en-US" sz="2500" dirty="0">
                <a:solidFill>
                  <a:srgbClr val="0070C0"/>
                </a:solidFill>
              </a:rPr>
              <a:t>unaware</a:t>
            </a:r>
            <a:r>
              <a:rPr lang="en-US" sz="2500" dirty="0"/>
              <a:t>): </a:t>
            </a:r>
            <a:r>
              <a:rPr lang="en-US" sz="2500" dirty="0" err="1"/>
              <a:t>không</a:t>
            </a:r>
            <a:r>
              <a:rPr lang="en-US" sz="2500" dirty="0"/>
              <a:t> </a:t>
            </a:r>
            <a:r>
              <a:rPr lang="en-US" sz="2500" dirty="0" err="1"/>
              <a:t>nhận</a:t>
            </a:r>
            <a:r>
              <a:rPr lang="en-US" sz="2500" dirty="0"/>
              <a:t> </a:t>
            </a:r>
            <a:r>
              <a:rPr lang="en-US" sz="2500" dirty="0" err="1"/>
              <a:t>thức</a:t>
            </a:r>
            <a:r>
              <a:rPr lang="en-US" sz="2500" dirty="0"/>
              <a:t> </a:t>
            </a:r>
            <a:r>
              <a:rPr lang="en-US" sz="2500" dirty="0" err="1"/>
              <a:t>được</a:t>
            </a:r>
            <a:r>
              <a:rPr lang="en-US" sz="2500" dirty="0"/>
              <a:t> </a:t>
            </a:r>
            <a:r>
              <a:rPr lang="en-US" sz="2500" dirty="0" err="1"/>
              <a:t>dự</a:t>
            </a:r>
            <a:r>
              <a:rPr lang="en-US" sz="2500" dirty="0"/>
              <a:t> </a:t>
            </a:r>
            <a:r>
              <a:rPr lang="en-US" sz="2500" dirty="0" err="1"/>
              <a:t>án</a:t>
            </a:r>
            <a:r>
              <a:rPr lang="en-US" sz="2500" dirty="0"/>
              <a:t> và </a:t>
            </a:r>
            <a:r>
              <a:rPr lang="en-US" sz="2500" dirty="0" err="1"/>
              <a:t>các</a:t>
            </a:r>
            <a:r>
              <a:rPr lang="en-US" sz="2500" dirty="0"/>
              <a:t> </a:t>
            </a:r>
            <a:r>
              <a:rPr lang="en-US" sz="2500" dirty="0" err="1"/>
              <a:t>ảnh</a:t>
            </a:r>
            <a:r>
              <a:rPr lang="en-US" sz="2500" dirty="0"/>
              <a:t> </a:t>
            </a:r>
            <a:r>
              <a:rPr lang="en-US" sz="2500" dirty="0" err="1"/>
              <a:t>hưởng</a:t>
            </a:r>
            <a:r>
              <a:rPr lang="en-US" sz="2500" dirty="0"/>
              <a:t> </a:t>
            </a:r>
            <a:r>
              <a:rPr lang="en-US" sz="2500" dirty="0" err="1"/>
              <a:t>tiềm</a:t>
            </a:r>
            <a:r>
              <a:rPr lang="en-US" sz="2500" dirty="0"/>
              <a:t> </a:t>
            </a:r>
            <a:r>
              <a:rPr lang="en-US" sz="2500" dirty="0" err="1"/>
              <a:t>năng</a:t>
            </a:r>
            <a:r>
              <a:rPr lang="en-US" sz="2500" dirty="0"/>
              <a:t>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Chống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đối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/>
              <a:t>(</a:t>
            </a:r>
            <a:r>
              <a:rPr lang="en-US" sz="2500" dirty="0">
                <a:solidFill>
                  <a:srgbClr val="0070C0"/>
                </a:solidFill>
              </a:rPr>
              <a:t>resistant</a:t>
            </a:r>
            <a:r>
              <a:rPr lang="en-US" sz="2500" dirty="0"/>
              <a:t>): </a:t>
            </a:r>
            <a:r>
              <a:rPr lang="en-US" sz="2500" dirty="0" err="1"/>
              <a:t>nhận</a:t>
            </a:r>
            <a:r>
              <a:rPr lang="en-US" sz="2500" dirty="0"/>
              <a:t> </a:t>
            </a:r>
            <a:r>
              <a:rPr lang="en-US" sz="2500" dirty="0" err="1"/>
              <a:t>thức</a:t>
            </a:r>
            <a:r>
              <a:rPr lang="en-US" sz="2500" dirty="0"/>
              <a:t> </a:t>
            </a:r>
            <a:r>
              <a:rPr lang="en-US" sz="2500" dirty="0" err="1"/>
              <a:t>được</a:t>
            </a:r>
            <a:r>
              <a:rPr lang="en-US" sz="2500" dirty="0"/>
              <a:t> </a:t>
            </a:r>
            <a:r>
              <a:rPr lang="en-US" sz="2500" dirty="0" err="1"/>
              <a:t>dự</a:t>
            </a:r>
            <a:r>
              <a:rPr lang="en-US" sz="2500" dirty="0"/>
              <a:t> </a:t>
            </a:r>
            <a:r>
              <a:rPr lang="en-US" sz="2500" dirty="0" err="1"/>
              <a:t>án</a:t>
            </a:r>
            <a:r>
              <a:rPr lang="en-US" sz="2500" dirty="0"/>
              <a:t>, </a:t>
            </a:r>
            <a:r>
              <a:rPr lang="en-US" sz="2500" dirty="0" err="1"/>
              <a:t>nhưng</a:t>
            </a:r>
            <a:r>
              <a:rPr lang="en-US" sz="2500" dirty="0"/>
              <a:t> </a:t>
            </a:r>
            <a:r>
              <a:rPr lang="en-US" sz="2500" dirty="0" err="1"/>
              <a:t>chống</a:t>
            </a:r>
            <a:r>
              <a:rPr lang="en-US" sz="2500" dirty="0"/>
              <a:t> </a:t>
            </a:r>
            <a:r>
              <a:rPr lang="en-US" sz="2500" dirty="0" err="1"/>
              <a:t>đối</a:t>
            </a:r>
            <a:r>
              <a:rPr lang="en-US" sz="2500" dirty="0"/>
              <a:t> </a:t>
            </a:r>
            <a:r>
              <a:rPr lang="en-US" sz="2500" dirty="0" err="1"/>
              <a:t>lại</a:t>
            </a:r>
            <a:r>
              <a:rPr lang="en-US" sz="2500" dirty="0"/>
              <a:t> </a:t>
            </a:r>
            <a:r>
              <a:rPr lang="en-US" sz="2500" dirty="0" err="1"/>
              <a:t>những</a:t>
            </a:r>
            <a:r>
              <a:rPr lang="en-US" sz="2500" dirty="0"/>
              <a:t> </a:t>
            </a:r>
            <a:r>
              <a:rPr lang="en-US" sz="2500" dirty="0" err="1"/>
              <a:t>thay</a:t>
            </a:r>
            <a:r>
              <a:rPr lang="en-US" sz="2500" dirty="0"/>
              <a:t> </a:t>
            </a:r>
            <a:r>
              <a:rPr lang="en-US" sz="2500" dirty="0" err="1"/>
              <a:t>đổi</a:t>
            </a:r>
            <a:r>
              <a:rPr lang="en-US" sz="2500" dirty="0"/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Trung dung </a:t>
            </a:r>
            <a:r>
              <a:rPr lang="en-US" sz="2500" dirty="0"/>
              <a:t>(</a:t>
            </a:r>
            <a:r>
              <a:rPr lang="en-US" sz="2500" dirty="0">
                <a:solidFill>
                  <a:srgbClr val="0070C0"/>
                </a:solidFill>
              </a:rPr>
              <a:t>neutral</a:t>
            </a:r>
            <a:r>
              <a:rPr lang="en-US" sz="2500" dirty="0"/>
              <a:t>): </a:t>
            </a:r>
            <a:r>
              <a:rPr lang="en-US" sz="2500" dirty="0" err="1"/>
              <a:t>nhận</a:t>
            </a:r>
            <a:r>
              <a:rPr lang="en-US" sz="2500" dirty="0"/>
              <a:t> </a:t>
            </a:r>
            <a:r>
              <a:rPr lang="en-US" sz="2500" dirty="0" err="1"/>
              <a:t>thức</a:t>
            </a:r>
            <a:r>
              <a:rPr lang="en-US" sz="2500" dirty="0"/>
              <a:t> </a:t>
            </a:r>
            <a:r>
              <a:rPr lang="en-US" sz="2500" dirty="0" err="1"/>
              <a:t>được</a:t>
            </a:r>
            <a:r>
              <a:rPr lang="en-US" sz="2500" dirty="0"/>
              <a:t> </a:t>
            </a:r>
            <a:r>
              <a:rPr lang="en-US" sz="2500" dirty="0" err="1"/>
              <a:t>dự</a:t>
            </a:r>
            <a:r>
              <a:rPr lang="en-US" sz="2500" dirty="0"/>
              <a:t> </a:t>
            </a:r>
            <a:r>
              <a:rPr lang="en-US" sz="2500" dirty="0" err="1"/>
              <a:t>án</a:t>
            </a:r>
            <a:r>
              <a:rPr lang="en-US" sz="2500" dirty="0"/>
              <a:t>, </a:t>
            </a:r>
            <a:r>
              <a:rPr lang="en-US" sz="2500" dirty="0" err="1"/>
              <a:t>nhưng</a:t>
            </a:r>
            <a:r>
              <a:rPr lang="en-US" sz="2500" dirty="0"/>
              <a:t> </a:t>
            </a:r>
            <a:r>
              <a:rPr lang="en-US" sz="2500" dirty="0" err="1"/>
              <a:t>không</a:t>
            </a:r>
            <a:r>
              <a:rPr lang="en-US" sz="2500" dirty="0"/>
              <a:t> </a:t>
            </a:r>
            <a:r>
              <a:rPr lang="en-US" sz="2500" dirty="0" err="1"/>
              <a:t>ủng</a:t>
            </a:r>
            <a:r>
              <a:rPr lang="en-US" sz="2500" dirty="0"/>
              <a:t> </a:t>
            </a:r>
            <a:r>
              <a:rPr lang="en-US" sz="2500" dirty="0" err="1"/>
              <a:t>hộ</a:t>
            </a:r>
            <a:r>
              <a:rPr lang="en-US" sz="2500" dirty="0"/>
              <a:t> </a:t>
            </a:r>
            <a:r>
              <a:rPr lang="en-US" sz="2500" dirty="0" err="1"/>
              <a:t>cũng</a:t>
            </a:r>
            <a:r>
              <a:rPr lang="en-US" sz="2500" dirty="0"/>
              <a:t> </a:t>
            </a:r>
            <a:r>
              <a:rPr lang="en-US" sz="2500" dirty="0" err="1"/>
              <a:t>không</a:t>
            </a:r>
            <a:r>
              <a:rPr lang="en-US" sz="2500" dirty="0"/>
              <a:t> </a:t>
            </a:r>
            <a:r>
              <a:rPr lang="en-US" sz="2500" dirty="0" err="1"/>
              <a:t>phản</a:t>
            </a:r>
            <a:r>
              <a:rPr lang="en-US" sz="2500" dirty="0"/>
              <a:t> </a:t>
            </a:r>
            <a:r>
              <a:rPr lang="en-US" sz="2500" dirty="0" err="1"/>
              <a:t>đối</a:t>
            </a:r>
            <a:r>
              <a:rPr lang="en-US" sz="2500" dirty="0"/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Ủng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hộ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/>
              <a:t>(</a:t>
            </a:r>
            <a:r>
              <a:rPr lang="en-US" sz="2500" dirty="0">
                <a:solidFill>
                  <a:srgbClr val="0070C0"/>
                </a:solidFill>
              </a:rPr>
              <a:t>supportive</a:t>
            </a:r>
            <a:r>
              <a:rPr lang="en-US" sz="2500" dirty="0"/>
              <a:t>): </a:t>
            </a:r>
            <a:r>
              <a:rPr lang="en-US" sz="2500" dirty="0" err="1"/>
              <a:t>nhận</a:t>
            </a:r>
            <a:r>
              <a:rPr lang="en-US" sz="2500" dirty="0"/>
              <a:t> </a:t>
            </a:r>
            <a:r>
              <a:rPr lang="en-US" sz="2500" dirty="0" err="1"/>
              <a:t>thức</a:t>
            </a:r>
            <a:r>
              <a:rPr lang="en-US" sz="2500" dirty="0"/>
              <a:t> </a:t>
            </a:r>
            <a:r>
              <a:rPr lang="en-US" sz="2500" dirty="0" err="1"/>
              <a:t>được</a:t>
            </a:r>
            <a:r>
              <a:rPr lang="en-US" sz="2500" dirty="0"/>
              <a:t> </a:t>
            </a:r>
            <a:r>
              <a:rPr lang="en-US" sz="2500" dirty="0" err="1"/>
              <a:t>dự</a:t>
            </a:r>
            <a:r>
              <a:rPr lang="en-US" sz="2500" dirty="0"/>
              <a:t> </a:t>
            </a:r>
            <a:r>
              <a:rPr lang="en-US" sz="2500" dirty="0" err="1"/>
              <a:t>án</a:t>
            </a:r>
            <a:r>
              <a:rPr lang="en-US" sz="2500" dirty="0"/>
              <a:t>, </a:t>
            </a:r>
            <a:r>
              <a:rPr lang="en-US" sz="2500" dirty="0" err="1"/>
              <a:t>ủng</a:t>
            </a:r>
            <a:r>
              <a:rPr lang="en-US" sz="2500" dirty="0"/>
              <a:t> </a:t>
            </a:r>
            <a:r>
              <a:rPr lang="en-US" sz="2500" dirty="0" err="1"/>
              <a:t>hộ</a:t>
            </a:r>
            <a:r>
              <a:rPr lang="en-US" sz="2500" dirty="0"/>
              <a:t> </a:t>
            </a:r>
            <a:r>
              <a:rPr lang="en-US" sz="2500" dirty="0" err="1"/>
              <a:t>những</a:t>
            </a:r>
            <a:r>
              <a:rPr lang="en-US" sz="2500" dirty="0"/>
              <a:t> </a:t>
            </a:r>
            <a:r>
              <a:rPr lang="en-US" sz="2500" dirty="0" err="1"/>
              <a:t>thay</a:t>
            </a:r>
            <a:r>
              <a:rPr lang="en-US" sz="2500" dirty="0"/>
              <a:t> </a:t>
            </a:r>
            <a:r>
              <a:rPr lang="en-US" sz="2500" dirty="0" err="1"/>
              <a:t>đổi</a:t>
            </a:r>
            <a:r>
              <a:rPr lang="en-US" sz="2500" dirty="0"/>
              <a:t> </a:t>
            </a:r>
            <a:r>
              <a:rPr lang="en-US" sz="2500" dirty="0" err="1"/>
              <a:t>của</a:t>
            </a:r>
            <a:r>
              <a:rPr lang="en-US" sz="2500" dirty="0"/>
              <a:t> </a:t>
            </a:r>
            <a:r>
              <a:rPr lang="en-US" sz="2500" dirty="0" err="1"/>
              <a:t>dự</a:t>
            </a:r>
            <a:r>
              <a:rPr lang="en-US" sz="2500" dirty="0"/>
              <a:t> </a:t>
            </a:r>
            <a:r>
              <a:rPr lang="en-US" sz="2500" dirty="0" err="1"/>
              <a:t>án</a:t>
            </a:r>
            <a:r>
              <a:rPr lang="en-US" sz="2500" dirty="0"/>
              <a:t>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Dẫn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dắt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/>
              <a:t>(</a:t>
            </a:r>
            <a:r>
              <a:rPr lang="en-US" sz="2500" dirty="0">
                <a:solidFill>
                  <a:srgbClr val="0070C0"/>
                </a:solidFill>
              </a:rPr>
              <a:t>leading</a:t>
            </a:r>
            <a:r>
              <a:rPr lang="en-US" sz="2500" dirty="0"/>
              <a:t>): </a:t>
            </a:r>
            <a:r>
              <a:rPr lang="en-US" sz="2500" dirty="0" err="1"/>
              <a:t>nhận</a:t>
            </a:r>
            <a:r>
              <a:rPr lang="en-US" sz="2500" dirty="0"/>
              <a:t> </a:t>
            </a:r>
            <a:r>
              <a:rPr lang="en-US" sz="2500" dirty="0" err="1"/>
              <a:t>thức</a:t>
            </a:r>
            <a:r>
              <a:rPr lang="en-US" sz="2500" dirty="0"/>
              <a:t> </a:t>
            </a:r>
            <a:r>
              <a:rPr lang="en-US" sz="2500" dirty="0" err="1"/>
              <a:t>được</a:t>
            </a:r>
            <a:r>
              <a:rPr lang="en-US" sz="2500" dirty="0"/>
              <a:t> </a:t>
            </a:r>
            <a:r>
              <a:rPr lang="en-US" sz="2500" dirty="0" err="1"/>
              <a:t>dự</a:t>
            </a:r>
            <a:r>
              <a:rPr lang="en-US" sz="2500" dirty="0"/>
              <a:t> </a:t>
            </a:r>
            <a:r>
              <a:rPr lang="en-US" sz="2500" dirty="0" err="1"/>
              <a:t>án</a:t>
            </a:r>
            <a:r>
              <a:rPr lang="en-US" sz="2500" dirty="0"/>
              <a:t>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76200"/>
            <a:ext cx="8991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Cấp</a:t>
            </a:r>
            <a:r>
              <a:rPr lang="en-US" sz="3600" dirty="0"/>
              <a:t> </a:t>
            </a:r>
            <a:r>
              <a:rPr lang="en-US" sz="3600" dirty="0" err="1"/>
              <a:t>độ</a:t>
            </a:r>
            <a:r>
              <a:rPr lang="en-US" sz="3600" dirty="0"/>
              <a:t> </a:t>
            </a:r>
            <a:r>
              <a:rPr lang="en-US" sz="3600" dirty="0" err="1"/>
              <a:t>tham</a:t>
            </a:r>
            <a:r>
              <a:rPr lang="en-US" sz="3600" dirty="0"/>
              <a:t> </a:t>
            </a:r>
            <a:r>
              <a:rPr lang="en-US" sz="3600" dirty="0" err="1"/>
              <a:t>gia</a:t>
            </a:r>
            <a:r>
              <a:rPr lang="en-US" sz="3600" dirty="0"/>
              <a:t> </a:t>
            </a:r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bên</a:t>
            </a:r>
            <a:r>
              <a:rPr lang="en-US" sz="3600" dirty="0"/>
              <a:t> </a:t>
            </a:r>
            <a:r>
              <a:rPr lang="en-US" sz="3600" dirty="0" err="1"/>
              <a:t>liên</a:t>
            </a:r>
            <a:r>
              <a:rPr lang="en-US" sz="3600" dirty="0"/>
              <a:t> </a:t>
            </a:r>
            <a:r>
              <a:rPr lang="en-US" sz="3600" dirty="0" err="1"/>
              <a:t>quan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22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n-US" sz="3400" dirty="0" err="1"/>
              <a:t>Ví</a:t>
            </a:r>
            <a:r>
              <a:rPr lang="en-US" sz="3400" dirty="0"/>
              <a:t> </a:t>
            </a:r>
            <a:r>
              <a:rPr lang="en-US" sz="3400" dirty="0" err="1"/>
              <a:t>dụ</a:t>
            </a:r>
            <a:r>
              <a:rPr lang="en-US" sz="3400" dirty="0"/>
              <a:t>, ma </a:t>
            </a:r>
            <a:r>
              <a:rPr lang="en-US" sz="3400" dirty="0" err="1"/>
              <a:t>trận</a:t>
            </a:r>
            <a:r>
              <a:rPr lang="en-US" sz="3400" dirty="0"/>
              <a:t> </a:t>
            </a:r>
            <a:r>
              <a:rPr lang="en-US" sz="3400" dirty="0" err="1"/>
              <a:t>tham</a:t>
            </a:r>
            <a:r>
              <a:rPr lang="en-US" sz="3400" dirty="0"/>
              <a:t> </a:t>
            </a:r>
            <a:r>
              <a:rPr lang="en-US" sz="3400" dirty="0" err="1"/>
              <a:t>gia</a:t>
            </a:r>
            <a:r>
              <a:rPr lang="en-US" sz="3400" dirty="0"/>
              <a:t> </a:t>
            </a:r>
            <a:r>
              <a:rPr lang="en-US" sz="3400" dirty="0" err="1"/>
              <a:t>các</a:t>
            </a:r>
            <a:r>
              <a:rPr lang="en-US" sz="3400" dirty="0"/>
              <a:t> </a:t>
            </a:r>
            <a:r>
              <a:rPr lang="en-US" sz="3400" dirty="0" err="1"/>
              <a:t>bên</a:t>
            </a:r>
            <a:r>
              <a:rPr lang="en-US" sz="3400" dirty="0"/>
              <a:t> </a:t>
            </a:r>
            <a:r>
              <a:rPr lang="en-US" sz="3400" dirty="0" err="1"/>
              <a:t>liên</a:t>
            </a:r>
            <a:r>
              <a:rPr lang="en-US" sz="3400" dirty="0"/>
              <a:t> </a:t>
            </a:r>
            <a:r>
              <a:rPr lang="en-US" sz="3400" dirty="0" err="1"/>
              <a:t>quan</a:t>
            </a:r>
            <a:endParaRPr lang="en-US" sz="3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409213"/>
              </p:ext>
            </p:extLst>
          </p:nvPr>
        </p:nvGraphicFramePr>
        <p:xfrm>
          <a:off x="304800" y="1600200"/>
          <a:ext cx="8534400" cy="36446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399">
                <a:tc>
                  <a:txBody>
                    <a:bodyPr/>
                    <a:lstStyle/>
                    <a:p>
                      <a:pPr algn="ctr"/>
                      <a:r>
                        <a:rPr lang="en-US" sz="1900" b="1" i="0" dirty="0" err="1">
                          <a:effectLst/>
                        </a:rPr>
                        <a:t>Các</a:t>
                      </a:r>
                      <a:r>
                        <a:rPr lang="en-US" sz="1900" b="1" i="0" baseline="0" dirty="0">
                          <a:effectLst/>
                        </a:rPr>
                        <a:t> </a:t>
                      </a:r>
                      <a:r>
                        <a:rPr lang="en-US" sz="1900" b="1" i="0" baseline="0" dirty="0" err="1">
                          <a:effectLst/>
                        </a:rPr>
                        <a:t>bên</a:t>
                      </a:r>
                      <a:r>
                        <a:rPr lang="en-US" sz="1900" b="1" i="0" baseline="0" dirty="0">
                          <a:effectLst/>
                        </a:rPr>
                        <a:t> </a:t>
                      </a:r>
                      <a:r>
                        <a:rPr lang="en-US" sz="1900" b="1" i="0" baseline="0" dirty="0" err="1">
                          <a:effectLst/>
                        </a:rPr>
                        <a:t>liên</a:t>
                      </a:r>
                      <a:r>
                        <a:rPr lang="en-US" sz="1900" b="1" i="0" baseline="0" dirty="0">
                          <a:effectLst/>
                        </a:rPr>
                        <a:t> </a:t>
                      </a:r>
                      <a:r>
                        <a:rPr lang="en-US" sz="1900" b="1" i="0" baseline="0" dirty="0" err="1">
                          <a:effectLst/>
                        </a:rPr>
                        <a:t>quan</a:t>
                      </a:r>
                      <a:endParaRPr lang="vi-VN" sz="1900" b="1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i="0" dirty="0" err="1">
                          <a:effectLst/>
                        </a:rPr>
                        <a:t>Không</a:t>
                      </a:r>
                      <a:r>
                        <a:rPr lang="en-US" sz="1900" b="1" i="0" dirty="0">
                          <a:effectLst/>
                        </a:rPr>
                        <a:t> </a:t>
                      </a:r>
                      <a:r>
                        <a:rPr lang="en-US" sz="1900" b="1" i="0" dirty="0" err="1">
                          <a:effectLst/>
                        </a:rPr>
                        <a:t>nhận</a:t>
                      </a:r>
                      <a:r>
                        <a:rPr lang="en-US" sz="1900" b="1" i="0" dirty="0">
                          <a:effectLst/>
                        </a:rPr>
                        <a:t> </a:t>
                      </a:r>
                      <a:r>
                        <a:rPr lang="en-US" sz="1900" b="1" i="0" dirty="0" err="1">
                          <a:effectLst/>
                        </a:rPr>
                        <a:t>thức</a:t>
                      </a:r>
                      <a:r>
                        <a:rPr lang="en-US" sz="1900" b="1" i="0" dirty="0">
                          <a:effectLst/>
                        </a:rPr>
                        <a:t> </a:t>
                      </a:r>
                      <a:endParaRPr lang="vi-VN" sz="1900" b="1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i="0" dirty="0" err="1">
                          <a:effectLst/>
                        </a:rPr>
                        <a:t>Chống</a:t>
                      </a:r>
                      <a:r>
                        <a:rPr lang="en-US" sz="1900" b="1" i="0" dirty="0">
                          <a:effectLst/>
                        </a:rPr>
                        <a:t> </a:t>
                      </a:r>
                      <a:r>
                        <a:rPr lang="en-US" sz="1900" b="1" i="0" dirty="0" err="1">
                          <a:effectLst/>
                        </a:rPr>
                        <a:t>đối</a:t>
                      </a:r>
                      <a:r>
                        <a:rPr lang="en-US" sz="1900" b="1" i="0" dirty="0">
                          <a:effectLst/>
                        </a:rPr>
                        <a:t> </a:t>
                      </a:r>
                      <a:endParaRPr lang="vi-VN" sz="1900" b="1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i="0" dirty="0">
                          <a:effectLst/>
                        </a:rPr>
                        <a:t>Trung dung </a:t>
                      </a:r>
                      <a:endParaRPr lang="vi-VN" sz="1900" b="1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i="0" dirty="0" err="1">
                          <a:effectLst/>
                        </a:rPr>
                        <a:t>Ủng</a:t>
                      </a:r>
                      <a:r>
                        <a:rPr lang="en-US" sz="1900" b="1" i="0" dirty="0">
                          <a:effectLst/>
                        </a:rPr>
                        <a:t> </a:t>
                      </a:r>
                      <a:r>
                        <a:rPr lang="en-US" sz="1900" b="1" i="0" dirty="0" err="1">
                          <a:effectLst/>
                        </a:rPr>
                        <a:t>hộ</a:t>
                      </a:r>
                      <a:r>
                        <a:rPr lang="en-US" sz="1900" b="1" i="0" dirty="0">
                          <a:effectLst/>
                        </a:rPr>
                        <a:t> </a:t>
                      </a:r>
                      <a:endParaRPr lang="vi-VN" sz="1900" b="1" i="0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i="0" dirty="0" err="1">
                          <a:effectLst/>
                        </a:rPr>
                        <a:t>Dẫn</a:t>
                      </a:r>
                      <a:r>
                        <a:rPr lang="en-US" sz="1900" b="1" i="0" dirty="0">
                          <a:effectLst/>
                        </a:rPr>
                        <a:t> </a:t>
                      </a:r>
                      <a:r>
                        <a:rPr lang="en-US" sz="1900" b="1" i="0" dirty="0" err="1">
                          <a:effectLst/>
                        </a:rPr>
                        <a:t>dắt</a:t>
                      </a:r>
                      <a:r>
                        <a:rPr lang="en-US" sz="1900" b="1" i="0" dirty="0">
                          <a:effectLst/>
                        </a:rPr>
                        <a:t> </a:t>
                      </a:r>
                      <a:endParaRPr lang="vi-VN" sz="1900" b="1" i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0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Bob</a:t>
                      </a:r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K</a:t>
                      </a:r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0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Alice</a:t>
                      </a:r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000"/>
                        <a:t>H</a:t>
                      </a:r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K</a:t>
                      </a:r>
                      <a:endParaRPr lang="vi-V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0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Joe</a:t>
                      </a:r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K</a:t>
                      </a:r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0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Tí</a:t>
                      </a:r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H, K</a:t>
                      </a:r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0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Tèo</a:t>
                      </a:r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</a:t>
                      </a:r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K</a:t>
                      </a:r>
                      <a:endParaRPr lang="vi-V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876800" y="5715000"/>
            <a:ext cx="3505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dirty="0"/>
              <a:t>* H: cấp độ hiện tại</a:t>
            </a:r>
            <a:br>
              <a:rPr lang="vi-VN" sz="2000" dirty="0"/>
            </a:br>
            <a:r>
              <a:rPr lang="vi-VN" sz="2000" dirty="0"/>
              <a:t>  </a:t>
            </a:r>
            <a:r>
              <a:rPr lang="vi-VN" sz="1100" dirty="0"/>
              <a:t> </a:t>
            </a:r>
            <a:r>
              <a:rPr lang="vi-VN" sz="2000" dirty="0"/>
              <a:t>K: cấp độ kỳ vọng</a:t>
            </a:r>
          </a:p>
        </p:txBody>
      </p:sp>
    </p:spTree>
    <p:extLst>
      <p:ext uri="{BB962C8B-B14F-4D97-AF65-F5344CB8AC3E}">
        <p14:creationId xmlns:p14="http://schemas.microsoft.com/office/powerpoint/2010/main" val="262505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390650"/>
            <a:ext cx="9010650" cy="3409950"/>
          </a:xfrm>
          <a:prstGeom prst="rect">
            <a:avLst/>
          </a:prstGeom>
        </p:spPr>
      </p:pic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657600" y="4038600"/>
            <a:ext cx="1678329" cy="64464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các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bên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liên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quan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[3/4]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5247802"/>
            <a:ext cx="1106599" cy="161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8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534400" cy="4191000"/>
          </a:xfrm>
        </p:spPr>
        <p:txBody>
          <a:bodyPr/>
          <a:lstStyle/>
          <a:p>
            <a:pPr algn="just"/>
            <a:r>
              <a:rPr lang="en-US" b="1" dirty="0"/>
              <a:t>Quản lý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bên</a:t>
            </a:r>
            <a:r>
              <a:rPr lang="en-US" b="1" dirty="0"/>
              <a:t> </a:t>
            </a:r>
            <a:r>
              <a:rPr lang="en-US" b="1" dirty="0" err="1"/>
              <a:t>liên</a:t>
            </a:r>
            <a:r>
              <a:rPr lang="en-US" b="1" dirty="0"/>
              <a:t> </a:t>
            </a:r>
            <a:r>
              <a:rPr lang="en-US" b="1" dirty="0" err="1"/>
              <a:t>quan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manage stakeholder engagement</a:t>
            </a:r>
            <a:r>
              <a:rPr lang="en-US" dirty="0"/>
              <a:t>): </a:t>
            </a:r>
            <a:r>
              <a:rPr lang="vi-VN" dirty="0"/>
              <a:t>truyền thông và làm việc để đáp ứng sự kỳ vọng của các bên liên quan.</a:t>
            </a:r>
            <a:endParaRPr lang="en-US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: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lòng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và/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...</a:t>
            </a:r>
          </a:p>
          <a:p>
            <a:pPr algn="just"/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vi -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- chi </a:t>
            </a:r>
            <a:r>
              <a:rPr lang="en-US" dirty="0" err="1"/>
              <a:t>phí</a:t>
            </a:r>
            <a:r>
              <a:rPr lang="en-US" dirty="0"/>
              <a:t>, và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3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 </a:t>
            </a:r>
          </a:p>
          <a:p>
            <a:pPr marL="109537" indent="0">
              <a:buNone/>
            </a:pPr>
            <a:endParaRPr lang="en-US" dirty="0"/>
          </a:p>
        </p:txBody>
      </p:sp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n-US" sz="3400">
                <a:solidFill>
                  <a:srgbClr val="FF0000"/>
                </a:solidFill>
              </a:rPr>
              <a:t>3 </a:t>
            </a:r>
            <a:r>
              <a:rPr lang="en-US" sz="3400" dirty="0">
                <a:solidFill>
                  <a:srgbClr val="FF0000"/>
                </a:solidFill>
              </a:rPr>
              <a:t>Quản lý </a:t>
            </a:r>
            <a:r>
              <a:rPr lang="en-US" sz="3400" dirty="0" err="1">
                <a:solidFill>
                  <a:srgbClr val="FF0000"/>
                </a:solidFill>
              </a:rPr>
              <a:t>sự</a:t>
            </a:r>
            <a:r>
              <a:rPr lang="en-US" sz="3400" dirty="0">
                <a:solidFill>
                  <a:srgbClr val="FF0000"/>
                </a:solidFill>
              </a:rPr>
              <a:t> </a:t>
            </a:r>
            <a:r>
              <a:rPr lang="en-US" sz="3400" dirty="0" err="1">
                <a:solidFill>
                  <a:srgbClr val="FF0000"/>
                </a:solidFill>
              </a:rPr>
              <a:t>tham</a:t>
            </a:r>
            <a:r>
              <a:rPr lang="en-US" sz="3400" dirty="0">
                <a:solidFill>
                  <a:srgbClr val="FF0000"/>
                </a:solidFill>
              </a:rPr>
              <a:t> </a:t>
            </a:r>
            <a:r>
              <a:rPr lang="en-US" sz="3400" dirty="0" err="1">
                <a:solidFill>
                  <a:srgbClr val="FF0000"/>
                </a:solidFill>
              </a:rPr>
              <a:t>gia</a:t>
            </a:r>
            <a:r>
              <a:rPr lang="en-US" sz="3400" dirty="0">
                <a:solidFill>
                  <a:srgbClr val="FF0000"/>
                </a:solidFill>
              </a:rPr>
              <a:t> </a:t>
            </a:r>
            <a:r>
              <a:rPr lang="en-US" sz="3400" dirty="0" err="1">
                <a:solidFill>
                  <a:srgbClr val="FF0000"/>
                </a:solidFill>
              </a:rPr>
              <a:t>các</a:t>
            </a:r>
            <a:r>
              <a:rPr lang="en-US" sz="3400" dirty="0">
                <a:solidFill>
                  <a:srgbClr val="FF0000"/>
                </a:solidFill>
              </a:rPr>
              <a:t> </a:t>
            </a:r>
            <a:r>
              <a:rPr lang="en-US" sz="3400" dirty="0" err="1">
                <a:solidFill>
                  <a:srgbClr val="FF0000"/>
                </a:solidFill>
              </a:rPr>
              <a:t>bên</a:t>
            </a:r>
            <a:r>
              <a:rPr lang="en-US" sz="3400" dirty="0">
                <a:solidFill>
                  <a:srgbClr val="FF0000"/>
                </a:solidFill>
              </a:rPr>
              <a:t> </a:t>
            </a:r>
            <a:r>
              <a:rPr lang="en-US" sz="3400" dirty="0" err="1">
                <a:solidFill>
                  <a:srgbClr val="FF0000"/>
                </a:solidFill>
              </a:rPr>
              <a:t>liên</a:t>
            </a:r>
            <a:r>
              <a:rPr lang="en-US" sz="3400" dirty="0">
                <a:solidFill>
                  <a:srgbClr val="FF0000"/>
                </a:solidFill>
              </a:rPr>
              <a:t> </a:t>
            </a:r>
            <a:r>
              <a:rPr lang="en-US" sz="3400" dirty="0" err="1">
                <a:solidFill>
                  <a:srgbClr val="FF0000"/>
                </a:solidFill>
              </a:rPr>
              <a:t>quan</a:t>
            </a:r>
            <a:endParaRPr lang="en-US" sz="3400" dirty="0">
              <a:solidFill>
                <a:srgbClr val="FF0000"/>
              </a:solidFill>
            </a:endParaRP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54DA23-019E-41D0-B852-ED1B746DB250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4665739"/>
            <a:ext cx="2590800" cy="196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79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ma </a:t>
            </a:r>
            <a:r>
              <a:rPr lang="en-US" sz="3600" dirty="0" err="1"/>
              <a:t>trận</a:t>
            </a:r>
            <a:r>
              <a:rPr lang="en-US" sz="3600" dirty="0"/>
              <a:t> quản lý </a:t>
            </a:r>
            <a:r>
              <a:rPr lang="en-US" sz="3600" dirty="0" err="1"/>
              <a:t>kỳ</a:t>
            </a:r>
            <a:r>
              <a:rPr lang="en-US" sz="3600" dirty="0"/>
              <a:t> </a:t>
            </a:r>
            <a:r>
              <a:rPr lang="en-US" sz="3600" dirty="0" err="1"/>
              <a:t>vọng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94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3700462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Ghi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nhận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vấn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đề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issue log</a:t>
            </a:r>
            <a:r>
              <a:rPr lang="en-US" dirty="0"/>
              <a:t>):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, </a:t>
            </a: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, và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mâu</a:t>
            </a:r>
            <a:r>
              <a:rPr lang="en-US" dirty="0"/>
              <a:t> </a:t>
            </a:r>
            <a:r>
              <a:rPr lang="en-US" dirty="0" err="1"/>
              <a:t>thuẫn</a:t>
            </a:r>
            <a:r>
              <a:rPr lang="en-US" dirty="0"/>
              <a:t> -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…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Ghi</a:t>
            </a:r>
            <a:r>
              <a:rPr lang="en-US" sz="4000" dirty="0"/>
              <a:t> </a:t>
            </a:r>
            <a:r>
              <a:rPr lang="en-US" sz="4000" dirty="0" err="1"/>
              <a:t>nhận</a:t>
            </a:r>
            <a:r>
              <a:rPr lang="en-US" sz="4000" dirty="0"/>
              <a:t> </a:t>
            </a:r>
            <a:r>
              <a:rPr lang="en-US" sz="4000" dirty="0" err="1"/>
              <a:t>vấn</a:t>
            </a:r>
            <a:r>
              <a:rPr lang="en-US" sz="4000" dirty="0"/>
              <a:t> </a:t>
            </a:r>
            <a:r>
              <a:rPr lang="en-US" sz="4000" dirty="0" err="1"/>
              <a:t>đề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801" y="4937215"/>
            <a:ext cx="1106599" cy="161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3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ghi</a:t>
            </a:r>
            <a:r>
              <a:rPr lang="en-US" sz="3600" dirty="0"/>
              <a:t> </a:t>
            </a:r>
            <a:r>
              <a:rPr lang="en-US" sz="3600" dirty="0" err="1"/>
              <a:t>nhận</a:t>
            </a:r>
            <a:r>
              <a:rPr lang="en-US" sz="3600" dirty="0"/>
              <a:t> </a:t>
            </a:r>
            <a:r>
              <a:rPr lang="en-US" sz="3600" dirty="0" err="1"/>
              <a:t>vấn</a:t>
            </a:r>
            <a:r>
              <a:rPr lang="en-US" sz="3600" dirty="0"/>
              <a:t> </a:t>
            </a:r>
            <a:r>
              <a:rPr lang="en-US" sz="3600" dirty="0" err="1"/>
              <a:t>đề</a:t>
            </a:r>
            <a:r>
              <a:rPr lang="en-US" sz="3600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6400"/>
            <a:ext cx="91440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05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390650"/>
            <a:ext cx="9010650" cy="3409950"/>
          </a:xfrm>
          <a:prstGeom prst="rect">
            <a:avLst/>
          </a:prstGeom>
        </p:spPr>
      </p:pic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5560671" y="4079753"/>
            <a:ext cx="1678329" cy="64464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các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bên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liên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quan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[4/4]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5334000"/>
            <a:ext cx="109281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4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524000"/>
            <a:ext cx="8371114" cy="4038600"/>
          </a:xfrm>
        </p:spPr>
        <p:txBody>
          <a:bodyPr/>
          <a:lstStyle/>
          <a:p>
            <a:pPr algn="just">
              <a:spcAft>
                <a:spcPts val="600"/>
              </a:spcAft>
            </a:pP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soát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bên</a:t>
            </a:r>
            <a:r>
              <a:rPr lang="en-US" b="1" dirty="0"/>
              <a:t> </a:t>
            </a:r>
            <a:r>
              <a:rPr lang="en-US" b="1" dirty="0" err="1"/>
              <a:t>liên</a:t>
            </a:r>
            <a:r>
              <a:rPr lang="en-US" b="1" dirty="0"/>
              <a:t> </a:t>
            </a:r>
            <a:r>
              <a:rPr lang="en-US" b="1" dirty="0" err="1"/>
              <a:t>quan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control stakeholder engagement</a:t>
            </a:r>
            <a:r>
              <a:rPr lang="en-US" dirty="0"/>
              <a:t>):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..</a:t>
            </a:r>
          </a:p>
          <a:p>
            <a:pPr lvl="1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Sự</a:t>
            </a:r>
            <a:r>
              <a:rPr lang="en-US" sz="2400" dirty="0"/>
              <a:t> </a:t>
            </a:r>
            <a:r>
              <a:rPr lang="en-US" sz="2400" dirty="0" err="1"/>
              <a:t>tham</a:t>
            </a:r>
            <a:r>
              <a:rPr lang="en-US" sz="2400" dirty="0"/>
              <a:t> </a:t>
            </a:r>
            <a:r>
              <a:rPr lang="en-US" sz="2400" dirty="0" err="1"/>
              <a:t>gia</a:t>
            </a:r>
            <a:r>
              <a:rPr lang="en-US" sz="2400" dirty="0"/>
              <a:t>: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thoại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đưa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pháp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vấn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cùng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tâm</a:t>
            </a:r>
            <a:r>
              <a:rPr lang="en-US" sz="2400" dirty="0"/>
              <a:t>.</a:t>
            </a:r>
          </a:p>
          <a:p>
            <a:pPr algn="just"/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..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3300">
                <a:solidFill>
                  <a:srgbClr val="FF0000"/>
                </a:solidFill>
              </a:rPr>
              <a:t>4 </a:t>
            </a:r>
            <a:r>
              <a:rPr lang="en-US" sz="3300" dirty="0" err="1">
                <a:solidFill>
                  <a:srgbClr val="FF0000"/>
                </a:solidFill>
              </a:rPr>
              <a:t>Kiểm</a:t>
            </a:r>
            <a:r>
              <a:rPr lang="en-US" sz="3300" dirty="0">
                <a:solidFill>
                  <a:srgbClr val="FF0000"/>
                </a:solidFill>
              </a:rPr>
              <a:t> </a:t>
            </a:r>
            <a:r>
              <a:rPr lang="en-US" sz="3300" dirty="0" err="1">
                <a:solidFill>
                  <a:srgbClr val="FF0000"/>
                </a:solidFill>
              </a:rPr>
              <a:t>soát</a:t>
            </a:r>
            <a:r>
              <a:rPr lang="en-US" sz="3300" dirty="0">
                <a:solidFill>
                  <a:srgbClr val="FF0000"/>
                </a:solidFill>
              </a:rPr>
              <a:t> </a:t>
            </a:r>
            <a:r>
              <a:rPr lang="en-US" sz="3300" dirty="0" err="1">
                <a:solidFill>
                  <a:srgbClr val="FF0000"/>
                </a:solidFill>
              </a:rPr>
              <a:t>sự</a:t>
            </a:r>
            <a:r>
              <a:rPr lang="en-US" sz="3300" dirty="0">
                <a:solidFill>
                  <a:srgbClr val="FF0000"/>
                </a:solidFill>
              </a:rPr>
              <a:t> </a:t>
            </a:r>
            <a:r>
              <a:rPr lang="en-US" sz="3300" dirty="0" err="1">
                <a:solidFill>
                  <a:srgbClr val="FF0000"/>
                </a:solidFill>
              </a:rPr>
              <a:t>tham</a:t>
            </a:r>
            <a:r>
              <a:rPr lang="en-US" sz="3300" dirty="0">
                <a:solidFill>
                  <a:srgbClr val="FF0000"/>
                </a:solidFill>
              </a:rPr>
              <a:t> </a:t>
            </a:r>
            <a:r>
              <a:rPr lang="en-US" sz="3300" dirty="0" err="1">
                <a:solidFill>
                  <a:srgbClr val="FF0000"/>
                </a:solidFill>
              </a:rPr>
              <a:t>gia</a:t>
            </a:r>
            <a:r>
              <a:rPr lang="en-US" sz="3300" dirty="0">
                <a:solidFill>
                  <a:srgbClr val="FF0000"/>
                </a:solidFill>
              </a:rPr>
              <a:t> </a:t>
            </a:r>
            <a:r>
              <a:rPr lang="en-US" sz="3300" dirty="0" err="1">
                <a:solidFill>
                  <a:srgbClr val="FF0000"/>
                </a:solidFill>
              </a:rPr>
              <a:t>các</a:t>
            </a:r>
            <a:r>
              <a:rPr lang="en-US" sz="3300" dirty="0">
                <a:solidFill>
                  <a:srgbClr val="FF0000"/>
                </a:solidFill>
              </a:rPr>
              <a:t> </a:t>
            </a:r>
            <a:r>
              <a:rPr lang="en-US" sz="3300" dirty="0" err="1">
                <a:solidFill>
                  <a:srgbClr val="FF0000"/>
                </a:solidFill>
              </a:rPr>
              <a:t>bên</a:t>
            </a:r>
            <a:r>
              <a:rPr lang="en-US" sz="3300" dirty="0">
                <a:solidFill>
                  <a:srgbClr val="FF0000"/>
                </a:solidFill>
              </a:rPr>
              <a:t> </a:t>
            </a:r>
            <a:r>
              <a:rPr lang="en-US" sz="3300" dirty="0" err="1">
                <a:solidFill>
                  <a:srgbClr val="FF0000"/>
                </a:solidFill>
              </a:rPr>
              <a:t>liên</a:t>
            </a:r>
            <a:r>
              <a:rPr lang="en-US" sz="3300" dirty="0">
                <a:solidFill>
                  <a:srgbClr val="FF0000"/>
                </a:solidFill>
              </a:rPr>
              <a:t> </a:t>
            </a:r>
            <a:r>
              <a:rPr lang="en-US" sz="3300" dirty="0" err="1">
                <a:solidFill>
                  <a:srgbClr val="FF0000"/>
                </a:solidFill>
              </a:rPr>
              <a:t>quan</a:t>
            </a:r>
            <a:endParaRPr lang="en-US" sz="3300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4648200"/>
            <a:ext cx="2606842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42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14800" y="1295400"/>
            <a:ext cx="4648200" cy="4572000"/>
          </a:xfrm>
          <a:solidFill>
            <a:schemeClr val="bg2"/>
          </a:solidFill>
        </p:spPr>
        <p:txBody>
          <a:bodyPr/>
          <a:lstStyle/>
          <a:p>
            <a:pPr algn="just">
              <a:spcAft>
                <a:spcPts val="2400"/>
              </a:spcAft>
            </a:pPr>
            <a:r>
              <a:rPr lang="en-US" sz="2200" dirty="0" err="1"/>
              <a:t>Buổi</a:t>
            </a:r>
            <a:r>
              <a:rPr lang="en-US" sz="2200" dirty="0"/>
              <a:t> học (</a:t>
            </a:r>
            <a:r>
              <a:rPr lang="en-US" sz="2200" dirty="0" err="1"/>
              <a:t>cuộc</a:t>
            </a:r>
            <a:r>
              <a:rPr lang="en-US" sz="2200" dirty="0"/>
              <a:t> </a:t>
            </a:r>
            <a:r>
              <a:rPr lang="en-US" sz="2200" dirty="0" err="1"/>
              <a:t>họp</a:t>
            </a:r>
            <a:r>
              <a:rPr lang="en-US" sz="2200" dirty="0"/>
              <a:t>) </a:t>
            </a:r>
            <a:r>
              <a:rPr lang="en-US" sz="2200" dirty="0" err="1"/>
              <a:t>đầu</a:t>
            </a:r>
            <a:r>
              <a:rPr lang="en-US" sz="2200" dirty="0"/>
              <a:t>, </a:t>
            </a:r>
            <a:r>
              <a:rPr lang="en-US" sz="2200" dirty="0" err="1"/>
              <a:t>giảng</a:t>
            </a:r>
            <a:r>
              <a:rPr lang="en-US" sz="2200" dirty="0"/>
              <a:t> </a:t>
            </a:r>
            <a:r>
              <a:rPr lang="en-US" sz="2200" dirty="0" err="1"/>
              <a:t>viên</a:t>
            </a:r>
            <a:r>
              <a:rPr lang="en-US" sz="2200" dirty="0"/>
              <a:t> (</a:t>
            </a:r>
            <a:r>
              <a:rPr lang="en-US" sz="2200" dirty="0" err="1"/>
              <a:t>giám</a:t>
            </a:r>
            <a:r>
              <a:rPr lang="en-US" sz="2200" dirty="0"/>
              <a:t> </a:t>
            </a:r>
            <a:r>
              <a:rPr lang="en-US" sz="2200" dirty="0" err="1"/>
              <a:t>đốc</a:t>
            </a:r>
            <a:r>
              <a:rPr lang="en-US" sz="2200" dirty="0"/>
              <a:t>) </a:t>
            </a:r>
            <a:r>
              <a:rPr lang="en-US" sz="2200" dirty="0" err="1"/>
              <a:t>độc</a:t>
            </a:r>
            <a:r>
              <a:rPr lang="en-US" sz="2200" dirty="0"/>
              <a:t> </a:t>
            </a:r>
            <a:r>
              <a:rPr lang="en-US" sz="2200" dirty="0" err="1"/>
              <a:t>thoại</a:t>
            </a:r>
            <a:r>
              <a:rPr lang="en-US" sz="2200" dirty="0"/>
              <a:t> </a:t>
            </a:r>
            <a:r>
              <a:rPr lang="en-US" sz="2200" dirty="0" err="1"/>
              <a:t>hoặc</a:t>
            </a:r>
            <a:r>
              <a:rPr lang="en-US" sz="2200" dirty="0"/>
              <a:t> </a:t>
            </a:r>
            <a:r>
              <a:rPr lang="en-US" sz="2200" dirty="0" err="1"/>
              <a:t>nặng</a:t>
            </a:r>
            <a:r>
              <a:rPr lang="en-US" sz="2200" dirty="0"/>
              <a:t> </a:t>
            </a:r>
            <a:r>
              <a:rPr lang="en-US" sz="2200" dirty="0" err="1"/>
              <a:t>lời</a:t>
            </a:r>
            <a:r>
              <a:rPr lang="en-US" sz="2200" dirty="0"/>
              <a:t> </a:t>
            </a:r>
            <a:r>
              <a:rPr lang="en-US" sz="2200" dirty="0" err="1"/>
              <a:t>với</a:t>
            </a:r>
            <a:r>
              <a:rPr lang="en-US" sz="2200" dirty="0"/>
              <a:t> </a:t>
            </a:r>
            <a:r>
              <a:rPr lang="en-US" sz="2200" dirty="0" err="1"/>
              <a:t>người</a:t>
            </a:r>
            <a:r>
              <a:rPr lang="en-US" sz="2200" dirty="0"/>
              <a:t> </a:t>
            </a:r>
            <a:r>
              <a:rPr lang="en-US" sz="2200" dirty="0" err="1"/>
              <a:t>phát</a:t>
            </a:r>
            <a:r>
              <a:rPr lang="en-US" sz="2200" dirty="0"/>
              <a:t> </a:t>
            </a:r>
            <a:r>
              <a:rPr lang="en-US" sz="2200" dirty="0" err="1"/>
              <a:t>biểu</a:t>
            </a:r>
            <a:r>
              <a:rPr lang="en-US" sz="2200" dirty="0"/>
              <a:t>. </a:t>
            </a:r>
            <a:r>
              <a:rPr lang="en-US" sz="2200" dirty="0" err="1"/>
              <a:t>Sinh</a:t>
            </a:r>
            <a:r>
              <a:rPr lang="en-US" sz="2200" dirty="0"/>
              <a:t> </a:t>
            </a:r>
            <a:r>
              <a:rPr lang="en-US" sz="2200" dirty="0" err="1"/>
              <a:t>viên</a:t>
            </a:r>
            <a:r>
              <a:rPr lang="en-US" sz="2200" dirty="0"/>
              <a:t> (</a:t>
            </a:r>
            <a:r>
              <a:rPr lang="en-US" sz="2200" dirty="0" err="1"/>
              <a:t>nhân</a:t>
            </a:r>
            <a:r>
              <a:rPr lang="en-US" sz="2200" dirty="0"/>
              <a:t> </a:t>
            </a:r>
            <a:r>
              <a:rPr lang="en-US" sz="2200" dirty="0" err="1"/>
              <a:t>viên</a:t>
            </a:r>
            <a:r>
              <a:rPr lang="en-US" sz="2200" dirty="0"/>
              <a:t>) </a:t>
            </a:r>
            <a:r>
              <a:rPr lang="en-US" sz="2200" dirty="0" err="1"/>
              <a:t>sẽ</a:t>
            </a:r>
            <a:r>
              <a:rPr lang="en-US" sz="2200" dirty="0"/>
              <a:t> </a:t>
            </a:r>
            <a:r>
              <a:rPr lang="en-US" sz="2200" dirty="0" err="1"/>
              <a:t>im</a:t>
            </a:r>
            <a:r>
              <a:rPr lang="en-US" sz="2200" dirty="0"/>
              <a:t> </a:t>
            </a:r>
            <a:r>
              <a:rPr lang="en-US" sz="2200" dirty="0" err="1"/>
              <a:t>lặng</a:t>
            </a:r>
            <a:r>
              <a:rPr lang="en-US" sz="2200" dirty="0"/>
              <a:t>, </a:t>
            </a:r>
            <a:r>
              <a:rPr lang="en-US" sz="2200" dirty="0" err="1"/>
              <a:t>thậm</a:t>
            </a:r>
            <a:r>
              <a:rPr lang="en-US" sz="2200" dirty="0"/>
              <a:t> chí </a:t>
            </a:r>
            <a:r>
              <a:rPr lang="en-US" sz="2200" dirty="0" err="1"/>
              <a:t>không</a:t>
            </a:r>
            <a:r>
              <a:rPr lang="en-US" sz="2200" dirty="0"/>
              <a:t> </a:t>
            </a:r>
            <a:r>
              <a:rPr lang="en-US" sz="2200" dirty="0" err="1"/>
              <a:t>đến</a:t>
            </a:r>
            <a:r>
              <a:rPr lang="en-US" sz="2200" dirty="0"/>
              <a:t> </a:t>
            </a:r>
            <a:r>
              <a:rPr lang="en-US" sz="2200" dirty="0" err="1"/>
              <a:t>lớp</a:t>
            </a:r>
            <a:r>
              <a:rPr lang="en-US" sz="2200" dirty="0"/>
              <a:t> (</a:t>
            </a:r>
            <a:r>
              <a:rPr lang="en-US" sz="2200" dirty="0" err="1"/>
              <a:t>cuộc</a:t>
            </a:r>
            <a:r>
              <a:rPr lang="en-US" sz="2200" dirty="0"/>
              <a:t> </a:t>
            </a:r>
            <a:r>
              <a:rPr lang="en-US" sz="2200" dirty="0" err="1"/>
              <a:t>họp</a:t>
            </a:r>
            <a:r>
              <a:rPr lang="en-US" sz="2200" dirty="0"/>
              <a:t>)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buổi</a:t>
            </a:r>
            <a:r>
              <a:rPr lang="en-US" sz="2200" dirty="0"/>
              <a:t> </a:t>
            </a:r>
            <a:r>
              <a:rPr lang="en-US" sz="2200" dirty="0" err="1"/>
              <a:t>sau</a:t>
            </a:r>
            <a:r>
              <a:rPr lang="en-US" sz="2200" dirty="0"/>
              <a:t>. </a:t>
            </a:r>
          </a:p>
          <a:p>
            <a:pPr algn="just"/>
            <a:r>
              <a:rPr lang="en-US" sz="2200" dirty="0" err="1"/>
              <a:t>Giảng</a:t>
            </a:r>
            <a:r>
              <a:rPr lang="en-US" sz="2200" dirty="0"/>
              <a:t> </a:t>
            </a:r>
            <a:r>
              <a:rPr lang="en-US" sz="2200" dirty="0" err="1"/>
              <a:t>viên</a:t>
            </a:r>
            <a:r>
              <a:rPr lang="en-US" sz="2200" dirty="0"/>
              <a:t> (</a:t>
            </a:r>
            <a:r>
              <a:rPr lang="en-US" sz="2200" dirty="0" err="1"/>
              <a:t>giám</a:t>
            </a:r>
            <a:r>
              <a:rPr lang="en-US" sz="2200" dirty="0"/>
              <a:t> </a:t>
            </a:r>
            <a:r>
              <a:rPr lang="en-US" sz="2200" dirty="0" err="1"/>
              <a:t>đốc</a:t>
            </a:r>
            <a:r>
              <a:rPr lang="en-US" sz="2200" dirty="0"/>
              <a:t>) </a:t>
            </a:r>
            <a:r>
              <a:rPr lang="en-US" sz="2200" dirty="0" err="1"/>
              <a:t>dùng</a:t>
            </a:r>
            <a:r>
              <a:rPr lang="en-US" sz="2200" dirty="0"/>
              <a:t> </a:t>
            </a:r>
            <a:r>
              <a:rPr lang="en-US" sz="2200" dirty="0" err="1"/>
              <a:t>nhiều</a:t>
            </a:r>
            <a:r>
              <a:rPr lang="en-US" sz="2200" dirty="0"/>
              <a:t> </a:t>
            </a:r>
            <a:r>
              <a:rPr lang="en-US" sz="2200" dirty="0" err="1"/>
              <a:t>hoạt</a:t>
            </a:r>
            <a:r>
              <a:rPr lang="en-US" sz="2200" dirty="0"/>
              <a:t> </a:t>
            </a:r>
            <a:r>
              <a:rPr lang="en-US" sz="2200" dirty="0" err="1"/>
              <a:t>động</a:t>
            </a:r>
            <a:r>
              <a:rPr lang="en-US" sz="2200" dirty="0"/>
              <a:t> </a:t>
            </a:r>
            <a:r>
              <a:rPr lang="en-US" sz="2200" dirty="0" err="1"/>
              <a:t>để</a:t>
            </a:r>
            <a:r>
              <a:rPr lang="en-US" sz="2200" dirty="0"/>
              <a:t> </a:t>
            </a:r>
            <a:r>
              <a:rPr lang="en-US" sz="2200" dirty="0" err="1"/>
              <a:t>khuyến</a:t>
            </a:r>
            <a:r>
              <a:rPr lang="en-US" sz="2200" dirty="0"/>
              <a:t> </a:t>
            </a:r>
            <a:r>
              <a:rPr lang="en-US" sz="2200" dirty="0" err="1"/>
              <a:t>khích</a:t>
            </a:r>
            <a:r>
              <a:rPr lang="en-US" sz="2200" dirty="0"/>
              <a:t> </a:t>
            </a:r>
            <a:r>
              <a:rPr lang="en-US" sz="2200" dirty="0" err="1"/>
              <a:t>sinh</a:t>
            </a:r>
            <a:r>
              <a:rPr lang="en-US" sz="2200" dirty="0"/>
              <a:t> </a:t>
            </a:r>
            <a:r>
              <a:rPr lang="en-US" sz="2200" dirty="0" err="1"/>
              <a:t>viên</a:t>
            </a:r>
            <a:r>
              <a:rPr lang="en-US" sz="2200" dirty="0"/>
              <a:t> (</a:t>
            </a:r>
            <a:r>
              <a:rPr lang="en-US" sz="2200" dirty="0" err="1"/>
              <a:t>nhân</a:t>
            </a:r>
            <a:r>
              <a:rPr lang="en-US" sz="2200" dirty="0"/>
              <a:t> </a:t>
            </a:r>
            <a:r>
              <a:rPr lang="en-US" sz="2200" dirty="0" err="1"/>
              <a:t>viên</a:t>
            </a:r>
            <a:r>
              <a:rPr lang="en-US" sz="2200" dirty="0"/>
              <a:t>) </a:t>
            </a:r>
            <a:r>
              <a:rPr lang="en-US" sz="2200" dirty="0" err="1"/>
              <a:t>tham</a:t>
            </a:r>
            <a:r>
              <a:rPr lang="en-US" sz="2200" dirty="0"/>
              <a:t> </a:t>
            </a:r>
            <a:r>
              <a:rPr lang="en-US" sz="2200" dirty="0" err="1"/>
              <a:t>gia</a:t>
            </a:r>
            <a:r>
              <a:rPr lang="en-US" sz="2200" dirty="0"/>
              <a:t> </a:t>
            </a:r>
            <a:r>
              <a:rPr lang="en-US" sz="2200" dirty="0" err="1"/>
              <a:t>phát</a:t>
            </a:r>
            <a:r>
              <a:rPr lang="en-US" sz="2200" dirty="0"/>
              <a:t> </a:t>
            </a:r>
            <a:r>
              <a:rPr lang="en-US" sz="2200" dirty="0" err="1"/>
              <a:t>biểu</a:t>
            </a:r>
            <a:r>
              <a:rPr lang="en-US" sz="2200" dirty="0"/>
              <a:t>, </a:t>
            </a:r>
            <a:r>
              <a:rPr lang="en-US" sz="2200" dirty="0" err="1"/>
              <a:t>họ</a:t>
            </a:r>
            <a:r>
              <a:rPr lang="en-US" sz="2200" dirty="0"/>
              <a:t> </a:t>
            </a:r>
            <a:r>
              <a:rPr lang="en-US" sz="2200" dirty="0" err="1"/>
              <a:t>sẽ</a:t>
            </a:r>
            <a:r>
              <a:rPr lang="en-US" sz="2200" dirty="0"/>
              <a:t> </a:t>
            </a:r>
            <a:r>
              <a:rPr lang="en-US" sz="2200" dirty="0" err="1"/>
              <a:t>mong</a:t>
            </a:r>
            <a:r>
              <a:rPr lang="en-US" sz="2200" dirty="0"/>
              <a:t> </a:t>
            </a:r>
            <a:r>
              <a:rPr lang="en-US" sz="2200" dirty="0" err="1"/>
              <a:t>muốn</a:t>
            </a:r>
            <a:r>
              <a:rPr lang="en-US" sz="2200" dirty="0"/>
              <a:t> </a:t>
            </a:r>
            <a:r>
              <a:rPr lang="en-US" sz="2200" dirty="0" err="1"/>
              <a:t>tham</a:t>
            </a:r>
            <a:r>
              <a:rPr lang="en-US" sz="2200" dirty="0"/>
              <a:t> </a:t>
            </a:r>
            <a:r>
              <a:rPr lang="en-US" sz="2200" dirty="0" err="1"/>
              <a:t>gia</a:t>
            </a:r>
            <a:r>
              <a:rPr lang="en-US" sz="2200" dirty="0"/>
              <a:t> </a:t>
            </a:r>
            <a:r>
              <a:rPr lang="en-US" sz="2200" dirty="0" err="1"/>
              <a:t>tiếp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buổi</a:t>
            </a:r>
            <a:r>
              <a:rPr lang="en-US" sz="2200" dirty="0"/>
              <a:t> học (</a:t>
            </a:r>
            <a:r>
              <a:rPr lang="en-US" sz="2200" dirty="0" err="1"/>
              <a:t>cuộc</a:t>
            </a:r>
            <a:r>
              <a:rPr lang="en-US" sz="2200" dirty="0"/>
              <a:t> </a:t>
            </a:r>
            <a:r>
              <a:rPr lang="en-US" sz="2200" dirty="0" err="1"/>
              <a:t>họp</a:t>
            </a:r>
            <a:r>
              <a:rPr lang="en-US" sz="2200" dirty="0"/>
              <a:t>) </a:t>
            </a:r>
            <a:r>
              <a:rPr lang="en-US" sz="2200" dirty="0" err="1"/>
              <a:t>trong</a:t>
            </a:r>
            <a:r>
              <a:rPr lang="en-US" sz="2200" dirty="0"/>
              <a:t> </a:t>
            </a:r>
            <a:r>
              <a:rPr lang="en-US" sz="2200" dirty="0" err="1"/>
              <a:t>tương</a:t>
            </a:r>
            <a:r>
              <a:rPr lang="en-US" sz="2200" dirty="0"/>
              <a:t> </a:t>
            </a:r>
            <a:r>
              <a:rPr lang="en-US" sz="2200" dirty="0" err="1"/>
              <a:t>lai</a:t>
            </a:r>
            <a:r>
              <a:rPr lang="en-US" sz="2200" dirty="0"/>
              <a:t>...</a:t>
            </a:r>
          </a:p>
          <a:p>
            <a:pPr algn="just"/>
            <a:endParaRPr lang="en-US" sz="2400" dirty="0"/>
          </a:p>
          <a:p>
            <a:pPr algn="just">
              <a:spcAft>
                <a:spcPts val="1200"/>
              </a:spcAft>
            </a:pPr>
            <a:endParaRPr lang="en-US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220" y="0"/>
            <a:ext cx="9122780" cy="10668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tham</a:t>
            </a:r>
            <a:r>
              <a:rPr lang="en-US" sz="3600" dirty="0"/>
              <a:t> </a:t>
            </a:r>
            <a:r>
              <a:rPr lang="en-US" sz="3600" dirty="0" err="1"/>
              <a:t>gia</a:t>
            </a:r>
            <a:r>
              <a:rPr lang="en-US" sz="3600" dirty="0"/>
              <a:t> - </a:t>
            </a:r>
            <a:r>
              <a:rPr lang="en-US" sz="3600" dirty="0" err="1"/>
              <a:t>không</a:t>
            </a:r>
            <a:r>
              <a:rPr lang="en-US" sz="3600" dirty="0"/>
              <a:t> </a:t>
            </a:r>
            <a:r>
              <a:rPr lang="en-US" sz="3600" dirty="0" err="1"/>
              <a:t>tham</a:t>
            </a:r>
            <a:r>
              <a:rPr lang="en-US" sz="3600" dirty="0"/>
              <a:t> </a:t>
            </a:r>
            <a:r>
              <a:rPr lang="en-US" sz="3600" dirty="0" err="1"/>
              <a:t>gia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pic>
        <p:nvPicPr>
          <p:cNvPr id="6" name="Picture 7" descr="http://www.celemi.com/Documents/WEBSITE/About%20us/Try%20learning316.png?width=3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49045" y="3352800"/>
            <a:ext cx="356911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http://universityofcalifornia.edu/sites/default/files/monotasking-uc-irvin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89617"/>
            <a:ext cx="1905000" cy="153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40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646238"/>
            <a:ext cx="8610600" cy="4525962"/>
          </a:xfrm>
        </p:spPr>
        <p:txBody>
          <a:bodyPr/>
          <a:lstStyle/>
          <a:p>
            <a:pPr algn="just"/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mời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  <a:p>
            <a:pPr algn="just">
              <a:spcBef>
                <a:spcPts val="1800"/>
              </a:spcBef>
              <a:spcAft>
                <a:spcPts val="600"/>
              </a:spcAft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, Northwest (Delta)…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/>
              <a:t>Hệ thống </a:t>
            </a:r>
            <a:r>
              <a:rPr lang="en-US" sz="2400" dirty="0" err="1"/>
              <a:t>ResNet</a:t>
            </a:r>
            <a:r>
              <a:rPr lang="en-US" sz="2400" dirty="0"/>
              <a:t>: </a:t>
            </a:r>
            <a:r>
              <a:rPr lang="en-US" sz="2400" dirty="0" err="1"/>
              <a:t>tuyển</a:t>
            </a:r>
            <a:r>
              <a:rPr lang="en-US" sz="2400" dirty="0"/>
              <a:t> </a:t>
            </a:r>
            <a:r>
              <a:rPr lang="en-US" sz="2400" dirty="0" err="1"/>
              <a:t>lập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đội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endParaRPr lang="en-US" sz="24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/>
              <a:t>Phát triển </a:t>
            </a:r>
            <a:r>
              <a:rPr lang="en-US" sz="2400" dirty="0" err="1"/>
              <a:t>giao</a:t>
            </a:r>
            <a:r>
              <a:rPr lang="en-US" sz="2400" dirty="0"/>
              <a:t> </a:t>
            </a:r>
            <a:r>
              <a:rPr lang="en-US" sz="2400" dirty="0" err="1"/>
              <a:t>diện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hướng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sz="4000" dirty="0" err="1"/>
              <a:t>quan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4495800"/>
            <a:ext cx="2257425" cy="942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4724400"/>
            <a:ext cx="3200400" cy="68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6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524000"/>
            <a:ext cx="8458200" cy="3471862"/>
          </a:xfrm>
        </p:spPr>
        <p:txBody>
          <a:bodyPr/>
          <a:lstStyle/>
          <a:p>
            <a:pPr algn="just">
              <a:spcAft>
                <a:spcPts val="1800"/>
              </a:spcAft>
            </a:pP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thông, </a:t>
            </a:r>
            <a:r>
              <a:rPr lang="en-US" dirty="0" err="1"/>
              <a:t>truyền</a:t>
            </a:r>
            <a:r>
              <a:rPr lang="en-US" dirty="0"/>
              <a:t> thông </a:t>
            </a:r>
            <a:r>
              <a:rPr lang="en-US" dirty="0" err="1"/>
              <a:t>xã</a:t>
            </a:r>
            <a:r>
              <a:rPr lang="en-US" dirty="0"/>
              <a:t> </a:t>
            </a:r>
            <a:r>
              <a:rPr lang="en-US" dirty="0" err="1"/>
              <a:t>hội</a:t>
            </a:r>
            <a:r>
              <a:rPr lang="en-US" dirty="0"/>
              <a:t>,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QLDA, và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đẩy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.</a:t>
            </a:r>
          </a:p>
          <a:p>
            <a:pPr algn="just"/>
            <a:r>
              <a:rPr lang="en-US" sz="2800" dirty="0" err="1"/>
              <a:t>Truyền</a:t>
            </a:r>
            <a:r>
              <a:rPr lang="en-US" sz="2800" dirty="0"/>
              <a:t> thông </a:t>
            </a:r>
            <a:r>
              <a:rPr lang="en-US" sz="2800" dirty="0" err="1"/>
              <a:t>xã</a:t>
            </a:r>
            <a:r>
              <a:rPr lang="en-US" sz="2800" dirty="0"/>
              <a:t> </a:t>
            </a:r>
            <a:r>
              <a:rPr lang="en-US" sz="2800" dirty="0" err="1"/>
              <a:t>hội</a:t>
            </a:r>
            <a:r>
              <a:rPr lang="en-US" sz="2800" dirty="0"/>
              <a:t>: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Linkedin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ngàn</a:t>
            </a:r>
            <a:r>
              <a:rPr lang="en-US" sz="2400" dirty="0"/>
              <a:t> </a:t>
            </a:r>
            <a:r>
              <a:rPr lang="en-US" sz="2400" dirty="0" err="1"/>
              <a:t>nhóm</a:t>
            </a:r>
            <a:r>
              <a:rPr lang="en-US" sz="2400" dirty="0"/>
              <a:t> QLDA </a:t>
            </a:r>
            <a:r>
              <a:rPr lang="en-US" sz="2400" dirty="0" err="1"/>
              <a:t>chuyên</a:t>
            </a:r>
            <a:r>
              <a:rPr lang="en-US" sz="2400" dirty="0"/>
              <a:t> </a:t>
            </a:r>
            <a:r>
              <a:rPr lang="en-US" sz="2400" dirty="0" err="1"/>
              <a:t>nghiệp</a:t>
            </a:r>
            <a:endParaRPr lang="en-US" sz="2400" dirty="0"/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Twitter, </a:t>
            </a:r>
            <a:r>
              <a:rPr lang="en-US" sz="2400" dirty="0" err="1"/>
              <a:t>facebook</a:t>
            </a:r>
            <a:r>
              <a:rPr lang="en-US" sz="2400" dirty="0"/>
              <a:t>, </a:t>
            </a:r>
            <a:r>
              <a:rPr lang="en-US" sz="2400" dirty="0" err="1"/>
              <a:t>vodcast</a:t>
            </a:r>
            <a:r>
              <a:rPr lang="en-US" sz="2400" dirty="0"/>
              <a:t>, webinar, wiki…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Phần</a:t>
            </a:r>
            <a:r>
              <a:rPr lang="en-US" sz="3600" dirty="0"/>
              <a:t> </a:t>
            </a:r>
            <a:r>
              <a:rPr lang="en-US" sz="3600" dirty="0" err="1"/>
              <a:t>mềm</a:t>
            </a:r>
            <a:r>
              <a:rPr lang="en-US" sz="3600" dirty="0"/>
              <a:t> </a:t>
            </a:r>
            <a:r>
              <a:rPr lang="en-US" sz="3600" dirty="0" err="1"/>
              <a:t>hỗ</a:t>
            </a:r>
            <a:r>
              <a:rPr lang="en-US" sz="3600" dirty="0"/>
              <a:t> </a:t>
            </a:r>
            <a:r>
              <a:rPr lang="en-US" sz="3600" dirty="0" err="1"/>
              <a:t>trợ</a:t>
            </a:r>
            <a:r>
              <a:rPr lang="en-US" sz="3600" dirty="0"/>
              <a:t> </a:t>
            </a:r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bên</a:t>
            </a:r>
            <a:r>
              <a:rPr lang="en-US" sz="3600" dirty="0"/>
              <a:t> </a:t>
            </a:r>
            <a:r>
              <a:rPr lang="en-US" sz="3600" dirty="0" err="1"/>
              <a:t>liên</a:t>
            </a:r>
            <a:r>
              <a:rPr lang="en-US" sz="3600" dirty="0"/>
              <a:t> </a:t>
            </a:r>
            <a:r>
              <a:rPr lang="en-US" sz="3600" dirty="0" err="1"/>
              <a:t>quan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pic>
        <p:nvPicPr>
          <p:cNvPr id="1028" name="Picture 4" descr="http://www.lagan-homes.com/uploads/news/40/1345726761_social_media_face_book_twitter_linkedin_icon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4572000"/>
            <a:ext cx="4155482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82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524000"/>
            <a:ext cx="8458200" cy="3657600"/>
          </a:xfrm>
          <a:solidFill>
            <a:schemeClr val="bg2">
              <a:lumMod val="75000"/>
            </a:schemeClr>
          </a:solidFill>
        </p:spPr>
        <p:txBody>
          <a:bodyPr/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vi-VN" sz="2400" dirty="0"/>
              <a:t>Không phải tất cả các dự án HTTT đều triển khai tốt, quản lý các bên liên quan là thách thức lớn.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vi-VN" sz="2400" dirty="0"/>
              <a:t>Dự án </a:t>
            </a: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NHS</a:t>
            </a:r>
            <a:r>
              <a:rPr lang="vi-VN" sz="2400" dirty="0"/>
              <a:t>* của chính phủ Anh đã thất bại, do không quản lý được các bên liên quan: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200"/>
              <a:t>201</a:t>
            </a:r>
            <a:r>
              <a:rPr lang="en-US" sz="2200"/>
              <a:t>1</a:t>
            </a:r>
            <a:r>
              <a:rPr lang="vi-VN" sz="2200"/>
              <a:t>: </a:t>
            </a:r>
            <a:r>
              <a:rPr lang="vi-VN" sz="2200" dirty="0"/>
              <a:t>tiêu tốn ngân sách </a:t>
            </a:r>
            <a:r>
              <a:rPr lang="vi-VN" sz="2200" b="1" dirty="0">
                <a:solidFill>
                  <a:srgbClr val="FF0000"/>
                </a:solidFill>
              </a:rPr>
              <a:t>11,4</a:t>
            </a:r>
            <a:r>
              <a:rPr lang="vi-VN" sz="2200" dirty="0">
                <a:solidFill>
                  <a:srgbClr val="FF0000"/>
                </a:solidFill>
              </a:rPr>
              <a:t> tỷ </a:t>
            </a:r>
            <a:r>
              <a:rPr lang="vi-VN" sz="2200" dirty="0"/>
              <a:t>GBP...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200" dirty="0"/>
              <a:t>Các PM được đưa đi học lại... ở viện quản lý dự án Oxford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vi-VN" sz="2200"/>
              <a:t>201</a:t>
            </a:r>
            <a:r>
              <a:rPr lang="en-US" sz="2200"/>
              <a:t>5</a:t>
            </a:r>
            <a:r>
              <a:rPr lang="vi-VN" sz="2200"/>
              <a:t>: 1</a:t>
            </a:r>
            <a:r>
              <a:rPr lang="en-US" sz="2200"/>
              <a:t>3</a:t>
            </a:r>
            <a:r>
              <a:rPr lang="vi-VN" sz="2200"/>
              <a:t>0 </a:t>
            </a:r>
            <a:r>
              <a:rPr lang="vi-VN" sz="2200" dirty="0"/>
              <a:t>người tốt nghiệp</a:t>
            </a:r>
            <a:r>
              <a:rPr lang="vi-VN" sz="2200"/>
              <a:t>, 2</a:t>
            </a:r>
            <a:r>
              <a:rPr lang="en-US" sz="2200"/>
              <a:t>2</a:t>
            </a:r>
            <a:r>
              <a:rPr lang="vi-VN" sz="2200"/>
              <a:t>0 </a:t>
            </a:r>
            <a:r>
              <a:rPr lang="vi-VN" sz="2200" dirty="0"/>
              <a:t>đang học.</a:t>
            </a:r>
            <a:endParaRPr lang="en-US" sz="2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28625"/>
            <a:ext cx="4562475" cy="638175"/>
          </a:xfrm>
          <a:prstGeom prst="rect">
            <a:avLst/>
          </a:prstGeom>
        </p:spPr>
      </p:pic>
      <p:pic>
        <p:nvPicPr>
          <p:cNvPr id="8" name="Picture 2" descr="http://downtrend.com/wp-content/uploads/2014/12/NHS_cartoon_graham_syringe_help_patricia_hewit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800600"/>
            <a:ext cx="2618416" cy="1524000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228600" y="5410200"/>
            <a:ext cx="26019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dirty="0"/>
              <a:t>* Xem lại chương 5...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55173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5010" y="1905000"/>
            <a:ext cx="9108989" cy="1829761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br>
              <a:rPr>
                <a:solidFill>
                  <a:srgbClr val="0070C0"/>
                </a:solidFill>
                <a:effectLst/>
              </a:rPr>
            </a:br>
            <a:r>
              <a:rPr lang="vi-VN" sz="4400">
                <a:solidFill>
                  <a:srgbClr val="0070C0"/>
                </a:solidFill>
                <a:effectLst/>
              </a:rPr>
              <a:t>TÓM </a:t>
            </a:r>
            <a:r>
              <a:rPr lang="vi-VN" sz="4400" dirty="0">
                <a:solidFill>
                  <a:srgbClr val="0070C0"/>
                </a:solidFill>
                <a:effectLst/>
              </a:rPr>
              <a:t>TẮT &amp; TỪ KHÓA</a:t>
            </a:r>
            <a:br>
              <a:rPr lang="vi-VN" sz="4400" dirty="0">
                <a:solidFill>
                  <a:srgbClr val="0070C0"/>
                </a:solidFill>
                <a:effectLst/>
              </a:rPr>
            </a:br>
            <a:endParaRPr lang="vi-VN" sz="4400" dirty="0">
              <a:solidFill>
                <a:srgbClr val="0070C0"/>
              </a:solidFill>
              <a:effectLst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>
          <a:xfrm>
            <a:off x="723900" y="317956"/>
            <a:ext cx="7848600" cy="663575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endParaRPr lang="vi-VN" sz="3000" b="1" u="sng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</a:endParaRPr>
          </a:p>
        </p:txBody>
      </p:sp>
      <p:sp>
        <p:nvSpPr>
          <p:cNvPr id="4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498" y="4177844"/>
            <a:ext cx="2018607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70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70038"/>
            <a:ext cx="8229600" cy="4525962"/>
          </a:xfrm>
        </p:spPr>
        <p:txBody>
          <a:bodyPr/>
          <a:lstStyle/>
          <a:p>
            <a:pPr algn="just"/>
            <a:r>
              <a:rPr lang="vi-VN" dirty="0"/>
              <a:t>Quản lý các bên liên quan dự án là lĩnh vực kiến thức mới nhất của QLDA (PMI</a:t>
            </a:r>
            <a:r>
              <a:rPr lang="vi-VN"/>
              <a:t>, 2014).</a:t>
            </a:r>
            <a:endParaRPr lang="vi-VN" dirty="0"/>
          </a:p>
          <a:p>
            <a:pPr algn="just"/>
            <a:endParaRPr lang="vi-VN" sz="1200" dirty="0"/>
          </a:p>
          <a:p>
            <a:pPr algn="just"/>
            <a:r>
              <a:rPr lang="vi-VN" dirty="0"/>
              <a:t>Quy trình chính của quản lý các bên liên quan...</a:t>
            </a:r>
          </a:p>
          <a:p>
            <a:pPr algn="just"/>
            <a:endParaRPr lang="en-US" dirty="0"/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err="1">
                <a:solidFill>
                  <a:srgbClr val="0070C0"/>
                </a:solidFill>
              </a:rPr>
              <a:t>Tóm</a:t>
            </a:r>
            <a:r>
              <a:rPr lang="en-US" sz="4000">
                <a:solidFill>
                  <a:srgbClr val="0070C0"/>
                </a:solidFill>
              </a:rPr>
              <a:t> tắt</a:t>
            </a:r>
            <a:endParaRPr lang="en-US" sz="4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497" y="3581400"/>
            <a:ext cx="5839303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86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solidFill>
                  <a:srgbClr val="0070C0"/>
                </a:solidFill>
              </a:rPr>
              <a:t>Từ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khóa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5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0" y="4076700"/>
            <a:ext cx="4343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92113" lvl="1" indent="0">
              <a:buNone/>
            </a:pPr>
            <a:r>
              <a:rPr lang="en-US" sz="2400"/>
              <a:t>Từ khóa liên quan:</a:t>
            </a:r>
            <a:endParaRPr lang="en-US" sz="2200" dirty="0">
              <a:solidFill>
                <a:srgbClr val="0070C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</a:rPr>
              <a:t>Stakeholder register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</a:rPr>
              <a:t>Power/Interest grid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</a:rPr>
              <a:t>Social media…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04935F6-ED01-46F8-9136-30C2E8EF0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" y="1676400"/>
            <a:ext cx="5257800" cy="367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92113" lvl="1" indent="0">
              <a:buNone/>
            </a:pPr>
            <a:r>
              <a:rPr lang="en-US" sz="2700"/>
              <a:t>Từ khóa chính:</a:t>
            </a:r>
            <a:endParaRPr lang="en-US" sz="2700">
              <a:solidFill>
                <a:srgbClr val="0070C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70C0"/>
                </a:solidFill>
              </a:rPr>
              <a:t>Identify </a:t>
            </a:r>
            <a:r>
              <a:rPr lang="en-US" sz="2200" dirty="0">
                <a:solidFill>
                  <a:srgbClr val="0070C0"/>
                </a:solidFill>
              </a:rPr>
              <a:t>stakeholders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</a:rPr>
              <a:t>Plan stakeholder management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</a:rPr>
              <a:t>Manage stakeholder engagement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</a:rPr>
              <a:t>Control stakeholder engagement.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070C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070C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ED3D76-4DA0-4DB1-A61F-C4C9534CD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075569"/>
            <a:ext cx="2590800" cy="196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8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229600" cy="213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Q&amp;A</a:t>
            </a:r>
            <a:endParaRPr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993DF6-04DE-49F5-85F2-C7A451E1D89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4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7601274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66700" y="2209800"/>
            <a:ext cx="8610600" cy="1349375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6000" dirty="0">
                <a:effectLst/>
              </a:rPr>
              <a:t>HẾT</a:t>
            </a:r>
            <a:endParaRPr sz="6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0358906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4427</TotalTime>
  <Words>1956</Words>
  <Application>Microsoft Office PowerPoint</Application>
  <PresentationFormat>On-screen Show (4:3)</PresentationFormat>
  <Paragraphs>250</Paragraphs>
  <Slides>40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Arial Rounded MT Bold</vt:lpstr>
      <vt:lpstr>Calibri</vt:lpstr>
      <vt:lpstr>Lucida Sans Unicode</vt:lpstr>
      <vt:lpstr>Times New Roman</vt:lpstr>
      <vt:lpstr>Verdana</vt:lpstr>
      <vt:lpstr>Wingdings 2</vt:lpstr>
      <vt:lpstr>Wingdings 3</vt:lpstr>
      <vt:lpstr>Custom Design</vt:lpstr>
      <vt:lpstr>Theme1</vt:lpstr>
      <vt:lpstr>Chương 11 QUẢN LÝ CÁC BÊN LIÊN QUAN DỰ ÁN</vt:lpstr>
      <vt:lpstr>Mục tiêu chương 11</vt:lpstr>
      <vt:lpstr>Khung quản lý dự án</vt:lpstr>
      <vt:lpstr> QUẢN LÝ CÁC BÊN LIÊN QUAN DỰ ÁN  </vt:lpstr>
      <vt:lpstr>QUẢN LÝ CÁC BÊN LIÊN QUAN</vt:lpstr>
      <vt:lpstr>Tầm quan trọng của các bên liên quan</vt:lpstr>
      <vt:lpstr>Dự án gây ra sự thay đổi</vt:lpstr>
      <vt:lpstr>Tương tác trong dự án [các bên liên quan]</vt:lpstr>
      <vt:lpstr>Quản lý các bên liên quan dự án [4]</vt:lpstr>
      <vt:lpstr>Quy trình quản lý các bên liên quan</vt:lpstr>
      <vt:lpstr>Tóm tắt quản lý các bên liên quan dự án</vt:lpstr>
      <vt:lpstr>Quản lý các bên liên quan dự án [1/4]</vt:lpstr>
      <vt:lpstr>1 Xác định các bên liên quan</vt:lpstr>
      <vt:lpstr>Các bên liên quan</vt:lpstr>
      <vt:lpstr>www.projectstakeholder.com</vt:lpstr>
      <vt:lpstr>Bảng ghi các bên liên quan</vt:lpstr>
      <vt:lpstr>Ví dụ, bảng ghi các bên liên quan</vt:lpstr>
      <vt:lpstr>Phân loại các bên liên quan</vt:lpstr>
      <vt:lpstr>Lưới quyền hạn/quan tâm</vt:lpstr>
      <vt:lpstr>Quản lý các bên liên quan dự án [2/4]</vt:lpstr>
      <vt:lpstr>2 Kế hoạch các bên liên quan</vt:lpstr>
      <vt:lpstr>Thông tin nhạy cảm</vt:lpstr>
      <vt:lpstr>Cấp độ tham gia các bên liên quan</vt:lpstr>
      <vt:lpstr>Ví dụ, ma trận tham gia các bên liên quan</vt:lpstr>
      <vt:lpstr>Quản lý các bên liên quan dự án [3/4]</vt:lpstr>
      <vt:lpstr>3 Quản lý sự tham gia các bên liên quan</vt:lpstr>
      <vt:lpstr>Ví dụ, ma trận quản lý kỳ vọng</vt:lpstr>
      <vt:lpstr>Ghi nhận vấn đề</vt:lpstr>
      <vt:lpstr>Ví dụ, ghi nhận vấn đề </vt:lpstr>
      <vt:lpstr>Quản lý các bên liên quan dự án [4/4]</vt:lpstr>
      <vt:lpstr>4 Kiểm soát sự tham gia các bên liên quan</vt:lpstr>
      <vt:lpstr>Ví dụ, tham gia - không tham gia</vt:lpstr>
      <vt:lpstr>Các bên liên quan quan trọng</vt:lpstr>
      <vt:lpstr>Phần mềm hỗ trợ các bên liên quan</vt:lpstr>
      <vt:lpstr>PowerPoint Presentation</vt:lpstr>
      <vt:lpstr> TÓM TẮT &amp; TỪ KHÓA </vt:lpstr>
      <vt:lpstr>Tóm tắt</vt:lpstr>
      <vt:lpstr>Từ khóa</vt:lpstr>
      <vt:lpstr>Q&amp;A</vt:lpstr>
      <vt:lpstr>HẾT</vt:lpstr>
    </vt:vector>
  </TitlesOfParts>
  <Company>Augsburg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 Technology</dc:creator>
  <cp:lastModifiedBy>Tung Le</cp:lastModifiedBy>
  <cp:revision>507</cp:revision>
  <dcterms:created xsi:type="dcterms:W3CDTF">2001-07-05T23:10:12Z</dcterms:created>
  <dcterms:modified xsi:type="dcterms:W3CDTF">2024-02-27T13:21:15Z</dcterms:modified>
</cp:coreProperties>
</file>