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723" r:id="rId2"/>
  </p:sldMasterIdLst>
  <p:notesMasterIdLst>
    <p:notesMasterId r:id="rId66"/>
  </p:notesMasterIdLst>
  <p:handoutMasterIdLst>
    <p:handoutMasterId r:id="rId67"/>
  </p:handoutMasterIdLst>
  <p:sldIdLst>
    <p:sldId id="399" r:id="rId3"/>
    <p:sldId id="333" r:id="rId4"/>
    <p:sldId id="403" r:id="rId5"/>
    <p:sldId id="414" r:id="rId6"/>
    <p:sldId id="292" r:id="rId7"/>
    <p:sldId id="293" r:id="rId8"/>
    <p:sldId id="258" r:id="rId9"/>
    <p:sldId id="259" r:id="rId10"/>
    <p:sldId id="260" r:id="rId11"/>
    <p:sldId id="262" r:id="rId12"/>
    <p:sldId id="315" r:id="rId13"/>
    <p:sldId id="267" r:id="rId14"/>
    <p:sldId id="413" r:id="rId15"/>
    <p:sldId id="265" r:id="rId16"/>
    <p:sldId id="266" r:id="rId17"/>
    <p:sldId id="411" r:id="rId18"/>
    <p:sldId id="268" r:id="rId19"/>
    <p:sldId id="336" r:id="rId20"/>
    <p:sldId id="338" r:id="rId21"/>
    <p:sldId id="318" r:id="rId22"/>
    <p:sldId id="401" r:id="rId23"/>
    <p:sldId id="339" r:id="rId24"/>
    <p:sldId id="340" r:id="rId25"/>
    <p:sldId id="342" r:id="rId26"/>
    <p:sldId id="344" r:id="rId27"/>
    <p:sldId id="322" r:id="rId28"/>
    <p:sldId id="324" r:id="rId29"/>
    <p:sldId id="346" r:id="rId30"/>
    <p:sldId id="347" r:id="rId31"/>
    <p:sldId id="351" r:id="rId32"/>
    <p:sldId id="352" r:id="rId33"/>
    <p:sldId id="278" r:id="rId34"/>
    <p:sldId id="279" r:id="rId35"/>
    <p:sldId id="400" r:id="rId36"/>
    <p:sldId id="405" r:id="rId37"/>
    <p:sldId id="402" r:id="rId38"/>
    <p:sldId id="404" r:id="rId39"/>
    <p:sldId id="416" r:id="rId40"/>
    <p:sldId id="357" r:id="rId41"/>
    <p:sldId id="358" r:id="rId42"/>
    <p:sldId id="359" r:id="rId43"/>
    <p:sldId id="361" r:id="rId44"/>
    <p:sldId id="362" r:id="rId45"/>
    <p:sldId id="363" r:id="rId46"/>
    <p:sldId id="369" r:id="rId47"/>
    <p:sldId id="372" r:id="rId48"/>
    <p:sldId id="374" r:id="rId49"/>
    <p:sldId id="375" r:id="rId50"/>
    <p:sldId id="408" r:id="rId51"/>
    <p:sldId id="377" r:id="rId52"/>
    <p:sldId id="379" r:id="rId53"/>
    <p:sldId id="380" r:id="rId54"/>
    <p:sldId id="381" r:id="rId55"/>
    <p:sldId id="383" r:id="rId56"/>
    <p:sldId id="384" r:id="rId57"/>
    <p:sldId id="393" r:id="rId58"/>
    <p:sldId id="394" r:id="rId59"/>
    <p:sldId id="417" r:id="rId60"/>
    <p:sldId id="412" r:id="rId61"/>
    <p:sldId id="397" r:id="rId62"/>
    <p:sldId id="409" r:id="rId63"/>
    <p:sldId id="406" r:id="rId64"/>
    <p:sldId id="407" r:id="rId6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hwalbe" initials="k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6699"/>
    <a:srgbClr val="5B5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0586" autoAdjust="0"/>
  </p:normalViewPr>
  <p:slideViewPr>
    <p:cSldViewPr>
      <p:cViewPr varScale="1">
        <p:scale>
          <a:sx n="82" d="100"/>
          <a:sy n="82" d="100"/>
        </p:scale>
        <p:origin x="96" y="11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94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 Nguyen" userId="29920a29033dd298" providerId="LiveId" clId="{4361075F-9C54-4046-A300-C9708A817654}"/>
    <pc:docChg chg="modSld">
      <pc:chgData name="Vi Nguyen" userId="29920a29033dd298" providerId="LiveId" clId="{4361075F-9C54-4046-A300-C9708A817654}" dt="2023-01-29T10:13:03.019" v="46" actId="20577"/>
      <pc:docMkLst>
        <pc:docMk/>
      </pc:docMkLst>
      <pc:sldChg chg="modSp mod">
        <pc:chgData name="Vi Nguyen" userId="29920a29033dd298" providerId="LiveId" clId="{4361075F-9C54-4046-A300-C9708A817654}" dt="2023-01-29T10:13:03.019" v="46" actId="20577"/>
        <pc:sldMkLst>
          <pc:docMk/>
          <pc:sldMk cId="2783529889" sldId="399"/>
        </pc:sldMkLst>
        <pc:spChg chg="mod">
          <ac:chgData name="Vi Nguyen" userId="29920a29033dd298" providerId="LiveId" clId="{4361075F-9C54-4046-A300-C9708A817654}" dt="2023-01-29T10:13:03.019" v="46" actId="20577"/>
          <ac:spMkLst>
            <pc:docMk/>
            <pc:sldMk cId="2783529889" sldId="399"/>
            <ac:spMk id="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4C7AC561-FEF4-4564-B1BB-B4891A40AC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974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D4FD6BFF-8DB4-463C-8B03-99A14BC43E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656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EC327F-7E80-4D08-B8B0-0F574A3B94B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49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EC327F-7E80-4D08-B8B0-0F574A3B94B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778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* PMI - Project Management Institute: Viện quản lý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</a:t>
            </a:r>
            <a:r>
              <a:rPr lang="en-US" sz="1200" dirty="0" err="1"/>
              <a:t>Hoa</a:t>
            </a:r>
            <a:r>
              <a:rPr lang="en-US" sz="1200" dirty="0"/>
              <a:t> </a:t>
            </a:r>
            <a:r>
              <a:rPr lang="en-US" sz="1200" dirty="0" err="1"/>
              <a:t>Kỳ</a:t>
            </a:r>
            <a:endParaRPr lang="en-US" sz="1200" dirty="0"/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45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98488" lvl="1" indent="-34290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vi-VN" sz="2400" dirty="0"/>
              <a:t>Thấp cấp: hỗ trợ dự án nhỏ lẻ. Dưới </a:t>
            </a:r>
            <a:r>
              <a:rPr lang="vi-VN" sz="2400" b="1" dirty="0"/>
              <a:t>200</a:t>
            </a:r>
            <a:r>
              <a:rPr lang="vi-VN" sz="2400" dirty="0"/>
              <a:t> USD/người sử dụng (V.d., ứng dụng trên di động).</a:t>
            </a:r>
          </a:p>
          <a:p>
            <a:pPr marL="598488" lvl="1" indent="-34290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vi-VN" sz="2400" dirty="0"/>
              <a:t>Trung bình: hỗ trợ nhiều dự án và người sử dụng. </a:t>
            </a:r>
            <a:r>
              <a:rPr lang="vi-VN" sz="2400" b="1" dirty="0"/>
              <a:t>200 - 1,000</a:t>
            </a:r>
            <a:r>
              <a:rPr lang="vi-VN" sz="2400" dirty="0"/>
              <a:t> USD/người sử dụng (V.d., MS Project).</a:t>
            </a:r>
          </a:p>
          <a:p>
            <a:pPr marL="598488" lvl="1" indent="-34290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vi-VN" sz="2400" dirty="0"/>
              <a:t>Cao cấp: phần mềm QLDA doanh nghiệp. Cấp theo người sử dụng (V.d., PMIS).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759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EC327F-7E80-4D08-B8B0-0F574A3B94BC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613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</a:t>
            </a:r>
          </a:p>
          <a:p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What will the tablet project cost the college?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• What will it cost students?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• What will support costs be?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• What will the impact be on enrollments?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endParaRPr lang="en-US" sz="120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O</a:t>
            </a:r>
          </a:p>
          <a:p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Will the tablet project affect all students, just traditional students, or only certain majors?</a:t>
            </a:r>
          </a:p>
          <a:p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• How will the project affect students who already have tablets or laptops?</a:t>
            </a:r>
          </a:p>
          <a:p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• Who will develop special applications or books for the tablets?</a:t>
            </a:r>
          </a:p>
          <a:p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• Who will train students, faculty, and staff?</a:t>
            </a:r>
          </a:p>
          <a:p>
            <a:endParaRPr lang="en-US" sz="120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</a:t>
            </a:r>
          </a:p>
          <a:p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Should the tablets be based on Apple, Microsoft, Android, or another system?</a:t>
            </a:r>
          </a:p>
          <a:p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• What applications will be required?</a:t>
            </a:r>
          </a:p>
          <a:p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• What will the hardware specifications be?</a:t>
            </a:r>
          </a:p>
          <a:p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• How will the tablets affect various networks and speed?</a:t>
            </a:r>
          </a:p>
          <a:p>
            <a: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• Will more power cords be required in the classroom?</a:t>
            </a:r>
            <a:b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br>
              <a:rPr lang="en-US" sz="120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endParaRPr lang="en-US" sz="120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396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Xem phần cuối của chương này và chương 2(3) để biết thêm thông tin về </a:t>
            </a:r>
            <a:r>
              <a:rPr lang="en-US" dirty="0"/>
              <a:t>Agile…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45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47B17-5236-40BE-93D3-1F5307651A8C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69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47B17-5236-40BE-93D3-1F5307651A8C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7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968EA-9007-4822-BA5B-1633A4F228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B78917-4704-4D78-826B-10DBFDA442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D66CA-A197-4899-8BDB-4E4DE830BA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D0A2D-0EE2-44ED-A76D-692680691B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57F59-2531-410C-9090-B03A8E324D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F903F-C465-4A59-A758-30804C0EFDD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62DBC-F8F3-4C6E-BA80-15F26F72A8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593FD-BDCF-404E-85EA-10F2C4C408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69D97-7780-4E3E-B88D-70050D68E3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18841-D471-438C-AFD5-3B29A9E32C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7040E-CCEE-43E4-9215-66886D5467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B07F9D3B-BD25-4DCF-AF32-D3854EEF4F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1"/>
          <p:cNvSpPr txBox="1">
            <a:spLocks/>
          </p:cNvSpPr>
          <p:nvPr/>
        </p:nvSpPr>
        <p:spPr>
          <a:xfrm>
            <a:off x="5486400" y="6492875"/>
            <a:ext cx="1600200" cy="365125"/>
          </a:xfrm>
          <a:prstGeom prst="rect">
            <a:avLst/>
          </a:prstGeom>
        </p:spPr>
        <p:txBody>
          <a:bodyPr anchor="b"/>
          <a:lstStyle>
            <a:lvl1pPr algn="l">
              <a:buFontTx/>
              <a:buNone/>
              <a:defRPr smtClean="0"/>
            </a:lvl1pPr>
          </a:lstStyle>
          <a:p>
            <a:pPr>
              <a:defRPr/>
            </a:pPr>
            <a:r>
              <a:rPr lang="en-US" sz="1200">
                <a:latin typeface="+mn-lt"/>
              </a:rPr>
              <a:t>Copyright 2021</a:t>
            </a:r>
            <a:endParaRPr lang="en-US" sz="1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2590800" cy="365125"/>
          </a:xfrm>
        </p:spPr>
        <p:txBody>
          <a:bodyPr/>
          <a:lstStyle>
            <a:lvl1pPr algn="l"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588375" y="6492875"/>
            <a:ext cx="555625" cy="365125"/>
          </a:xfrm>
        </p:spPr>
        <p:txBody>
          <a:bodyPr/>
          <a:lstStyle>
            <a:lvl1pPr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fld id="{1F8276A5-8D43-491D-83BE-00FCABAA151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CDB78CB-3422-490B-B33A-0EFCD59A8AA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AD20D06-D837-4474-A924-C0EEF7F6304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8C7087B-5585-4BF4-877F-DCE878DD0A5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4627A9B-B1EF-4088-9195-D95AFC8BA39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2A033E-8EDD-4339-B466-9532F96458E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49969FD-CB8E-48F9-A41B-0AACA2151B8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F1540E53-27DF-44E5-9BF4-BA90E52A753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33165-E992-4DBA-A9ED-59178CD6CF3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F0DD1-7F29-40C4-B5F0-16CFC2F162E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 dirty="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11DC2A-2F4E-4F79-A3F5-88DB509F96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2F11DC2A-2F4E-4F79-A3F5-88DB509F96F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84425"/>
            <a:ext cx="9144000" cy="1349375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sz="3600" u="sng" dirty="0">
                <a:solidFill>
                  <a:srgbClr val="0070C0"/>
                </a:solidFill>
                <a:effectLst/>
              </a:rPr>
              <a:t>C</a:t>
            </a:r>
            <a:r>
              <a:rPr lang="vi-VN" sz="3600" u="sng" dirty="0">
                <a:solidFill>
                  <a:srgbClr val="0070C0"/>
                </a:solidFill>
                <a:effectLst/>
              </a:rPr>
              <a:t>hương </a:t>
            </a:r>
            <a:r>
              <a:rPr sz="3600" u="sng" dirty="0">
                <a:solidFill>
                  <a:srgbClr val="0070C0"/>
                </a:solidFill>
                <a:effectLst/>
              </a:rPr>
              <a:t>1</a:t>
            </a:r>
            <a:br>
              <a:rPr sz="3600" u="sng" dirty="0">
                <a:solidFill>
                  <a:srgbClr val="0070C0"/>
                </a:solidFill>
                <a:effectLst/>
              </a:rPr>
            </a:br>
            <a:r>
              <a:rPr lang="vi-VN" sz="4000" spc="250" dirty="0">
                <a:solidFill>
                  <a:srgbClr val="0070C0"/>
                </a:solidFill>
                <a:effectLst/>
              </a:rPr>
              <a:t>GIỚI THIỆU QUẢN LÝ DỰ </a:t>
            </a:r>
            <a:r>
              <a:rPr lang="vi-VN" sz="4000" spc="250">
                <a:solidFill>
                  <a:srgbClr val="0070C0"/>
                </a:solidFill>
                <a:effectLst/>
              </a:rPr>
              <a:t>ÁN &amp;</a:t>
            </a:r>
            <a:br>
              <a:rPr lang="vi-VN" sz="4000" spc="250" dirty="0">
                <a:solidFill>
                  <a:srgbClr val="0070C0"/>
                </a:solidFill>
                <a:effectLst/>
              </a:rPr>
            </a:br>
            <a:r>
              <a:rPr lang="vi-VN" sz="4000" dirty="0">
                <a:solidFill>
                  <a:srgbClr val="0070C0"/>
                </a:solidFill>
                <a:effectLst/>
              </a:rPr>
              <a:t>BỐI CẢNH HỆ THỐNG THÔNG TIN</a:t>
            </a:r>
            <a:endParaRPr sz="4000" dirty="0">
              <a:solidFill>
                <a:srgbClr val="0070C0"/>
              </a:solidFill>
              <a:effectLst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38862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2000" spc="5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Introduction Project Management - Information Systems Context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81000" y="327025"/>
            <a:ext cx="83820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vi-VN" sz="32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QUẢN TRỊ DỰ </a:t>
            </a:r>
            <a:r>
              <a:rPr lang="vi-VN" sz="3200">
                <a:effectLst>
                  <a:outerShdw blurRad="38100" dist="38100" dir="2700000" algn="tl">
                    <a:srgbClr val="FFFFFF"/>
                  </a:outerShdw>
                </a:effectLst>
              </a:rPr>
              <a:t>ÁN </a:t>
            </a:r>
            <a:r>
              <a:rPr lang="en-US" sz="3200">
                <a:effectLst>
                  <a:outerShdw blurRad="38100" dist="38100" dir="2700000" algn="tl">
                    <a:srgbClr val="FFFFFF"/>
                  </a:outerShdw>
                </a:effectLst>
              </a:rPr>
              <a:t>HTTT</a:t>
            </a:r>
            <a:endParaRPr lang="vi-VN" sz="32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3529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6"/>
          <p:cNvSpPr>
            <a:spLocks noGrp="1"/>
          </p:cNvSpPr>
          <p:nvPr>
            <p:ph idx="1"/>
          </p:nvPr>
        </p:nvSpPr>
        <p:spPr>
          <a:xfrm>
            <a:off x="304800" y="1676400"/>
            <a:ext cx="8839200" cy="4267200"/>
          </a:xfrm>
        </p:spPr>
        <p:txBody>
          <a:bodyPr/>
          <a:lstStyle/>
          <a:p>
            <a:pPr algn="just"/>
            <a:r>
              <a:rPr lang="vi-VN" sz="2800" dirty="0">
                <a:solidFill>
                  <a:srgbClr val="002060"/>
                </a:solidFill>
              </a:rPr>
              <a:t>Giải thích được các khái niệm: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2060"/>
                </a:solidFill>
              </a:rPr>
              <a:t>Dự án, quản lý dự án HTTT...</a:t>
            </a:r>
          </a:p>
          <a:p>
            <a:pPr algn="just"/>
            <a:endParaRPr lang="vi-VN" sz="8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Nắm được các lĩnh vực kiến thức QLDA...</a:t>
            </a:r>
          </a:p>
          <a:p>
            <a:pPr algn="just"/>
            <a:endParaRPr lang="vi-VN" sz="8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Thảo luận về dự án - chương trình - danh mục đầu tư.</a:t>
            </a:r>
          </a:p>
          <a:p>
            <a:pPr algn="just"/>
            <a:endParaRPr lang="vi-VN" sz="8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Hiểu được cấu trúc QLDA trong tổ chức.</a:t>
            </a:r>
          </a:p>
          <a:p>
            <a:pPr algn="just"/>
            <a:endParaRPr lang="vi-VN" sz="8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Hiểu các giai đoạn trong QLDA.</a:t>
            </a:r>
          </a:p>
          <a:p>
            <a:pPr algn="just"/>
            <a:endParaRPr lang="vi-VN" sz="800" dirty="0">
              <a:solidFill>
                <a:srgbClr val="002060"/>
              </a:solidFill>
            </a:endParaRPr>
          </a:p>
          <a:p>
            <a:pPr marL="109537" indent="0" algn="just">
              <a:buNone/>
            </a:pPr>
            <a:endParaRPr lang="vi-VN" dirty="0"/>
          </a:p>
          <a:p>
            <a:pPr algn="just"/>
            <a:endParaRPr lang="en-US" sz="2400" dirty="0"/>
          </a:p>
        </p:txBody>
      </p:sp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Mục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tiêu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chương</a:t>
            </a:r>
            <a:r>
              <a:rPr lang="en-US" sz="4400" dirty="0">
                <a:solidFill>
                  <a:srgbClr val="0070C0"/>
                </a:solidFill>
              </a:rPr>
              <a:t> 1</a:t>
            </a:r>
          </a:p>
        </p:txBody>
      </p:sp>
      <p:sp>
        <p:nvSpPr>
          <p:cNvPr id="9220" name="Footer Placeholder 7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D7578B-FDA5-49A9-927E-B5F79B796B65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600200"/>
            <a:ext cx="9144000" cy="1349375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vi-VN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GIỚI THIỆU QUẢN LÝ DỰ ÁN</a:t>
            </a:r>
            <a:endParaRPr sz="4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862017"/>
            <a:ext cx="2121462" cy="2691183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81000" y="2971800"/>
            <a:ext cx="8001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US" sz="2000" spc="7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Introduction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3714584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23887"/>
            <a:ext cx="7772400" cy="90011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dirty="0">
                <a:effectLst/>
              </a:rPr>
              <a:t>1. GIỚI THIỆU QUẢN LÝ DỰ ÁN</a:t>
            </a:r>
          </a:p>
        </p:txBody>
      </p:sp>
      <p:grpSp>
        <p:nvGrpSpPr>
          <p:cNvPr id="36" name="Group 42"/>
          <p:cNvGrpSpPr>
            <a:grpSpLocks/>
          </p:cNvGrpSpPr>
          <p:nvPr/>
        </p:nvGrpSpPr>
        <p:grpSpPr bwMode="auto">
          <a:xfrm>
            <a:off x="1142999" y="1676400"/>
            <a:ext cx="7031454" cy="838200"/>
            <a:chOff x="1296" y="1824"/>
            <a:chExt cx="3010" cy="432"/>
          </a:xfrm>
        </p:grpSpPr>
        <p:sp>
          <p:nvSpPr>
            <p:cNvPr id="41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gray">
            <a:xfrm>
              <a:off x="1720" y="1934"/>
              <a:ext cx="2586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GIỚI THIỆU CHUNG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gray">
            <a:xfrm>
              <a:off x="1356" y="1914"/>
              <a:ext cx="293" cy="2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1.1</a:t>
              </a:r>
            </a:p>
          </p:txBody>
        </p:sp>
      </p:grpSp>
      <p:grpSp>
        <p:nvGrpSpPr>
          <p:cNvPr id="45" name="Group 52"/>
          <p:cNvGrpSpPr>
            <a:grpSpLocks/>
          </p:cNvGrpSpPr>
          <p:nvPr/>
        </p:nvGrpSpPr>
        <p:grpSpPr bwMode="auto">
          <a:xfrm>
            <a:off x="1143000" y="2541587"/>
            <a:ext cx="7717790" cy="838200"/>
            <a:chOff x="1296" y="1824"/>
            <a:chExt cx="3304" cy="432"/>
          </a:xfrm>
        </p:grpSpPr>
        <p:sp>
          <p:nvSpPr>
            <p:cNvPr id="46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gray">
            <a:xfrm>
              <a:off x="1720" y="1934"/>
              <a:ext cx="2880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cs typeface="Arial" charset="0"/>
                </a:rPr>
                <a:t>DỰ ÁN VÀ QLDA</a:t>
              </a: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gray">
            <a:xfrm>
              <a:off x="1357" y="1901"/>
              <a:ext cx="293" cy="2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1.2</a:t>
              </a:r>
            </a:p>
          </p:txBody>
        </p:sp>
      </p:grpSp>
      <p:grpSp>
        <p:nvGrpSpPr>
          <p:cNvPr id="50" name="Group 57"/>
          <p:cNvGrpSpPr>
            <a:grpSpLocks/>
          </p:cNvGrpSpPr>
          <p:nvPr/>
        </p:nvGrpSpPr>
        <p:grpSpPr bwMode="auto">
          <a:xfrm>
            <a:off x="1143000" y="3379787"/>
            <a:ext cx="7150589" cy="838200"/>
            <a:chOff x="1296" y="1824"/>
            <a:chExt cx="3061" cy="432"/>
          </a:xfrm>
        </p:grpSpPr>
        <p:sp>
          <p:nvSpPr>
            <p:cNvPr id="51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 Box 60"/>
            <p:cNvSpPr txBox="1">
              <a:spLocks noChangeArrowheads="1"/>
            </p:cNvSpPr>
            <p:nvPr/>
          </p:nvSpPr>
          <p:spPr bwMode="gray">
            <a:xfrm>
              <a:off x="1720" y="1920"/>
              <a:ext cx="2637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Arial" charset="0"/>
                </a:rPr>
                <a:t>CHƯƠNG TRÌNH &amp; DANH MỤC ĐẦU TƯ</a:t>
              </a: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 bwMode="gray">
            <a:xfrm>
              <a:off x="1357" y="1901"/>
              <a:ext cx="293" cy="2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1.3</a:t>
              </a:r>
            </a:p>
          </p:txBody>
        </p:sp>
      </p:grpSp>
      <p:sp>
        <p:nvSpPr>
          <p:cNvPr id="1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grpSp>
        <p:nvGrpSpPr>
          <p:cNvPr id="20" name="Group 52"/>
          <p:cNvGrpSpPr>
            <a:grpSpLocks/>
          </p:cNvGrpSpPr>
          <p:nvPr/>
        </p:nvGrpSpPr>
        <p:grpSpPr bwMode="auto">
          <a:xfrm>
            <a:off x="1143000" y="4217987"/>
            <a:ext cx="7717790" cy="838200"/>
            <a:chOff x="1296" y="1824"/>
            <a:chExt cx="3304" cy="432"/>
          </a:xfrm>
        </p:grpSpPr>
        <p:sp>
          <p:nvSpPr>
            <p:cNvPr id="21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Text Box 55"/>
            <p:cNvSpPr txBox="1">
              <a:spLocks noChangeArrowheads="1"/>
            </p:cNvSpPr>
            <p:nvPr/>
          </p:nvSpPr>
          <p:spPr bwMode="gray">
            <a:xfrm>
              <a:off x="1720" y="1934"/>
              <a:ext cx="2880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cs typeface="Arial" charset="0"/>
                </a:rPr>
                <a:t>VAI TRÒ CỦA GIÁM ĐỐC DỰ ÁN</a:t>
              </a:r>
            </a:p>
          </p:txBody>
        </p:sp>
        <p:sp>
          <p:nvSpPr>
            <p:cNvPr id="24" name="Text Box 56"/>
            <p:cNvSpPr txBox="1">
              <a:spLocks noChangeArrowheads="1"/>
            </p:cNvSpPr>
            <p:nvPr/>
          </p:nvSpPr>
          <p:spPr bwMode="gray">
            <a:xfrm>
              <a:off x="1356" y="1901"/>
              <a:ext cx="293" cy="2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1.4</a:t>
              </a:r>
            </a:p>
          </p:txBody>
        </p:sp>
      </p:grpSp>
      <p:grpSp>
        <p:nvGrpSpPr>
          <p:cNvPr id="25" name="Group 57"/>
          <p:cNvGrpSpPr>
            <a:grpSpLocks/>
          </p:cNvGrpSpPr>
          <p:nvPr/>
        </p:nvGrpSpPr>
        <p:grpSpPr bwMode="auto">
          <a:xfrm>
            <a:off x="1143000" y="5056187"/>
            <a:ext cx="7391200" cy="838200"/>
            <a:chOff x="1296" y="1824"/>
            <a:chExt cx="3164" cy="432"/>
          </a:xfrm>
        </p:grpSpPr>
        <p:sp>
          <p:nvSpPr>
            <p:cNvPr id="26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Text Box 60"/>
            <p:cNvSpPr txBox="1">
              <a:spLocks noChangeArrowheads="1"/>
            </p:cNvSpPr>
            <p:nvPr/>
          </p:nvSpPr>
          <p:spPr bwMode="gray">
            <a:xfrm>
              <a:off x="1720" y="1920"/>
              <a:ext cx="2740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Arial" charset="0"/>
                </a:rPr>
                <a:t>QLDA CHUYÊN NGHIỆP - PMP</a:t>
              </a:r>
            </a:p>
          </p:txBody>
        </p:sp>
        <p:sp>
          <p:nvSpPr>
            <p:cNvPr id="29" name="Text Box 61"/>
            <p:cNvSpPr txBox="1">
              <a:spLocks noChangeArrowheads="1"/>
            </p:cNvSpPr>
            <p:nvPr/>
          </p:nvSpPr>
          <p:spPr bwMode="gray">
            <a:xfrm>
              <a:off x="1356" y="1901"/>
              <a:ext cx="293" cy="2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1.5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815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8001000" cy="3581400"/>
          </a:xfrm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QLDA.</a:t>
            </a:r>
          </a:p>
          <a:p>
            <a:pPr algn="just">
              <a:spcBef>
                <a:spcPct val="50000"/>
              </a:spcBef>
            </a:pPr>
            <a:r>
              <a:rPr lang="en-US" dirty="0"/>
              <a:t>Chi </a:t>
            </a:r>
            <a:r>
              <a:rPr lang="en-US" dirty="0" err="1"/>
              <a:t>tiêu</a:t>
            </a:r>
            <a:r>
              <a:rPr lang="en-US" dirty="0"/>
              <a:t> CNTT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err="1"/>
              <a:t>cầu</a:t>
            </a:r>
            <a:r>
              <a:rPr lang="en-US"/>
              <a:t> 2020: </a:t>
            </a:r>
            <a:r>
              <a:rPr lang="en-US" b="1" dirty="0">
                <a:solidFill>
                  <a:srgbClr val="FF0000"/>
                </a:solidFill>
              </a:rPr>
              <a:t>7</a:t>
            </a:r>
            <a:r>
              <a:rPr lang="en-US" b="1">
                <a:solidFill>
                  <a:srgbClr val="FF0000"/>
                </a:solidFill>
              </a:rPr>
              <a:t>,8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ngàn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USD...</a:t>
            </a:r>
          </a:p>
          <a:p>
            <a:pPr algn="just">
              <a:spcBef>
                <a:spcPct val="50000"/>
              </a:spcBef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PMI</a:t>
            </a:r>
            <a:r>
              <a:rPr lang="vi-VN" dirty="0"/>
              <a:t>* </a:t>
            </a:r>
            <a:r>
              <a:rPr lang="vi-VN"/>
              <a:t>(201</a:t>
            </a:r>
            <a:r>
              <a:rPr lang="en-US"/>
              <a:t>7</a:t>
            </a:r>
            <a:r>
              <a:rPr lang="vi-VN"/>
              <a:t>): </a:t>
            </a:r>
            <a:r>
              <a:rPr lang="en-US" b="1">
                <a:solidFill>
                  <a:srgbClr val="FF0000"/>
                </a:solidFill>
              </a:rPr>
              <a:t>24</a:t>
            </a:r>
            <a:r>
              <a:rPr lang="vi-VN" b="1">
                <a:solidFill>
                  <a:srgbClr val="FF0000"/>
                </a:solidFill>
              </a:rPr>
              <a:t>,7</a:t>
            </a:r>
            <a:r>
              <a:rPr lang="vi-VN">
                <a:solidFill>
                  <a:srgbClr val="FF0000"/>
                </a:solidFill>
              </a:rPr>
              <a:t> </a:t>
            </a:r>
            <a:r>
              <a:rPr lang="vi-VN" dirty="0">
                <a:solidFill>
                  <a:srgbClr val="FF0000"/>
                </a:solidFill>
              </a:rPr>
              <a:t>triệu </a:t>
            </a:r>
            <a:r>
              <a:rPr lang="vi-VN" dirty="0"/>
              <a:t>công việc </a:t>
            </a:r>
            <a:r>
              <a:rPr lang="vi-VN"/>
              <a:t>về QLDA</a:t>
            </a:r>
            <a:r>
              <a:rPr lang="en-US"/>
              <a:t>…</a:t>
            </a:r>
            <a:endParaRPr lang="vi-VN" dirty="0"/>
          </a:p>
          <a:p>
            <a:pPr algn="just">
              <a:spcBef>
                <a:spcPct val="50000"/>
              </a:spcBef>
            </a:pPr>
            <a:r>
              <a:rPr lang="vi-VN"/>
              <a:t>2021 </a:t>
            </a:r>
            <a:r>
              <a:rPr lang="vi-VN" dirty="0"/>
              <a:t>- VN: </a:t>
            </a:r>
            <a:r>
              <a:rPr lang="vi-VN" b="1" dirty="0">
                <a:solidFill>
                  <a:srgbClr val="FF0000"/>
                </a:solidFill>
              </a:rPr>
              <a:t>1</a:t>
            </a:r>
            <a:r>
              <a:rPr lang="vi-VN" dirty="0">
                <a:solidFill>
                  <a:srgbClr val="FF0000"/>
                </a:solidFill>
              </a:rPr>
              <a:t> triệu </a:t>
            </a:r>
            <a:r>
              <a:rPr lang="vi-VN" dirty="0"/>
              <a:t>nhân lực CNTT, ngành CNTT tăng trưởng </a:t>
            </a:r>
            <a:r>
              <a:rPr lang="vi-VN"/>
              <a:t>30%</a:t>
            </a:r>
            <a:r>
              <a:rPr lang="en-US"/>
              <a:t> mỗi năm.</a:t>
            </a:r>
            <a:endParaRPr lang="vi-VN" dirty="0"/>
          </a:p>
          <a:p>
            <a:pPr algn="just">
              <a:spcBef>
                <a:spcPct val="50000"/>
              </a:spcBef>
            </a:pPr>
            <a:endParaRPr lang="vi-VN" dirty="0"/>
          </a:p>
          <a:p>
            <a:pPr algn="just">
              <a:spcBef>
                <a:spcPct val="50000"/>
              </a:spcBef>
            </a:pPr>
            <a:endParaRPr lang="en-US" dirty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1.1 </a:t>
            </a:r>
            <a:r>
              <a:rPr lang="en-US" sz="4400" dirty="0" err="1">
                <a:solidFill>
                  <a:srgbClr val="FF0000"/>
                </a:solidFill>
              </a:rPr>
              <a:t>Giới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thiệu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chung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7008FD-2DFA-4FF3-9130-EF876863D94D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038600" y="5791200"/>
            <a:ext cx="375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* PMI - Project Management Institute</a:t>
            </a:r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038600"/>
          </a:xfrm>
        </p:spPr>
        <p:txBody>
          <a:bodyPr>
            <a:noAutofit/>
          </a:bodyPr>
          <a:lstStyle/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PMI</a:t>
            </a:r>
            <a:r>
              <a:rPr lang="vi-VN" dirty="0"/>
              <a:t> </a:t>
            </a:r>
            <a:r>
              <a:rPr lang="vi-VN"/>
              <a:t>(201</a:t>
            </a:r>
            <a:r>
              <a:rPr lang="en-US"/>
              <a:t>7</a:t>
            </a:r>
            <a:r>
              <a:rPr lang="vi-VN"/>
              <a:t>): </a:t>
            </a:r>
            <a:r>
              <a:rPr lang="vi-VN" dirty="0"/>
              <a:t>lương trung bình/năm của một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PMP</a:t>
            </a:r>
            <a:r>
              <a:rPr lang="vi-VN" dirty="0"/>
              <a:t>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Hoa Kỳ</a:t>
            </a:r>
            <a:r>
              <a:rPr lang="vi-VN" sz="2400"/>
              <a:t>: </a:t>
            </a:r>
            <a:r>
              <a:rPr lang="vi-VN" sz="2400">
                <a:solidFill>
                  <a:srgbClr val="FFC000"/>
                </a:solidFill>
              </a:rPr>
              <a:t>1</a:t>
            </a:r>
            <a:r>
              <a:rPr lang="en-US" sz="2400">
                <a:solidFill>
                  <a:srgbClr val="FFC000"/>
                </a:solidFill>
              </a:rPr>
              <a:t>25</a:t>
            </a:r>
            <a:r>
              <a:rPr lang="vi-VN" sz="2400">
                <a:solidFill>
                  <a:srgbClr val="FFC000"/>
                </a:solidFill>
              </a:rPr>
              <a:t>,000</a:t>
            </a:r>
            <a:r>
              <a:rPr lang="vi-VN" sz="2400"/>
              <a:t> </a:t>
            </a:r>
            <a:r>
              <a:rPr lang="vi-VN" sz="2400" dirty="0"/>
              <a:t>USD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Úc: </a:t>
            </a:r>
            <a:r>
              <a:rPr lang="vi-VN" sz="2400"/>
              <a:t>	</a:t>
            </a:r>
            <a:r>
              <a:rPr lang="vi-VN" sz="2400">
                <a:solidFill>
                  <a:srgbClr val="0070C0"/>
                </a:solidFill>
              </a:rPr>
              <a:t>1</a:t>
            </a:r>
            <a:r>
              <a:rPr lang="en-US" sz="2400">
                <a:solidFill>
                  <a:srgbClr val="0070C0"/>
                </a:solidFill>
              </a:rPr>
              <a:t>45</a:t>
            </a:r>
            <a:r>
              <a:rPr lang="vi-VN" sz="2400">
                <a:solidFill>
                  <a:srgbClr val="0070C0"/>
                </a:solidFill>
              </a:rPr>
              <a:t>,658</a:t>
            </a:r>
            <a:r>
              <a:rPr lang="vi-VN" sz="2400"/>
              <a:t> </a:t>
            </a:r>
            <a:r>
              <a:rPr lang="vi-VN" sz="2400" dirty="0"/>
              <a:t>USD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Ai Cập: 	</a:t>
            </a:r>
            <a:r>
              <a:rPr lang="vi-VN" sz="2400"/>
              <a:t>  </a:t>
            </a:r>
            <a:r>
              <a:rPr lang="en-US" sz="2400">
                <a:solidFill>
                  <a:srgbClr val="FF0000"/>
                </a:solidFill>
              </a:rPr>
              <a:t>30</a:t>
            </a:r>
            <a:r>
              <a:rPr lang="vi-VN" sz="2400">
                <a:solidFill>
                  <a:srgbClr val="FF0000"/>
                </a:solidFill>
              </a:rPr>
              <a:t>,201</a:t>
            </a:r>
            <a:r>
              <a:rPr lang="vi-VN" sz="2400"/>
              <a:t> </a:t>
            </a:r>
            <a:r>
              <a:rPr lang="vi-VN" sz="2400" dirty="0"/>
              <a:t>USD.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vi-VN" sz="1000" dirty="0"/>
          </a:p>
          <a:p>
            <a:pPr algn="just"/>
            <a:r>
              <a:rPr lang="vi-VN" dirty="0"/>
              <a:t>Các kỹ năng được quan tâm: làm việc nhóm, ra quyết định, giải quyết vấn đề, thông tin...</a:t>
            </a:r>
          </a:p>
          <a:p>
            <a:pPr algn="just"/>
            <a:endParaRPr lang="vi-VN" sz="1000" dirty="0"/>
          </a:p>
          <a:p>
            <a:pPr algn="just"/>
            <a:r>
              <a:rPr lang="vi-V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PMI</a:t>
            </a:r>
            <a:r>
              <a:rPr lang="vi-VN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/>
              <a:t>(20</a:t>
            </a:r>
            <a:r>
              <a:rPr lang="en-US"/>
              <a:t>17</a:t>
            </a:r>
            <a:r>
              <a:rPr lang="vi-VN"/>
              <a:t>): </a:t>
            </a:r>
            <a:r>
              <a:rPr lang="vi-VN" dirty="0"/>
              <a:t>các tổ chức lãng phí khoảng </a:t>
            </a:r>
            <a:r>
              <a:rPr lang="vi-VN" b="1" dirty="0">
                <a:solidFill>
                  <a:srgbClr val="FF0000"/>
                </a:solidFill>
              </a:rPr>
              <a:t>10,9</a:t>
            </a:r>
            <a:r>
              <a:rPr lang="vi-VN" dirty="0">
                <a:solidFill>
                  <a:srgbClr val="FF0000"/>
                </a:solidFill>
              </a:rPr>
              <a:t>%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dirty="0"/>
              <a:t>chi phí trong các dự án...</a:t>
            </a:r>
            <a:endParaRPr lang="en-US" dirty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Một</a:t>
            </a:r>
            <a:r>
              <a:rPr lang="en-US" sz="4000" dirty="0"/>
              <a:t> </a:t>
            </a:r>
            <a:r>
              <a:rPr lang="en-US" sz="4000" dirty="0" err="1"/>
              <a:t>vài</a:t>
            </a:r>
            <a:r>
              <a:rPr lang="en-US" sz="4000" dirty="0"/>
              <a:t> thống </a:t>
            </a:r>
            <a:r>
              <a:rPr lang="en-US" sz="4000" dirty="0" err="1"/>
              <a:t>kê</a:t>
            </a:r>
            <a:endParaRPr lang="en-US" sz="4000" dirty="0"/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41CD7A-A2F6-4058-84D6-58EE60EAB9B9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2057400"/>
            <a:ext cx="7391400" cy="2667000"/>
          </a:xfrm>
          <a:solidFill>
            <a:schemeClr val="bg2"/>
          </a:solidFill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vi-VN" sz="2400" dirty="0"/>
              <a:t>Standish Group - 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CHAOS</a:t>
            </a:r>
            <a:r>
              <a:rPr lang="vi-VN" sz="2400" dirty="0"/>
              <a:t> (1995): chỉ </a:t>
            </a:r>
            <a:r>
              <a:rPr lang="vi-VN" sz="2400" b="1" dirty="0">
                <a:solidFill>
                  <a:srgbClr val="FF0000"/>
                </a:solidFill>
              </a:rPr>
              <a:t>16,2</a:t>
            </a:r>
            <a:r>
              <a:rPr lang="vi-VN" sz="2400" dirty="0">
                <a:solidFill>
                  <a:srgbClr val="FF0000"/>
                </a:solidFill>
              </a:rPr>
              <a:t>% </a:t>
            </a:r>
            <a:r>
              <a:rPr lang="vi-VN" sz="2400" dirty="0"/>
              <a:t>dự án HTTT đạt được mục tiêu về phạm vi - thời gian - chi phí. Hơn</a:t>
            </a:r>
            <a:r>
              <a:rPr lang="vi-VN" sz="2400" b="1" dirty="0"/>
              <a:t> </a:t>
            </a:r>
            <a:r>
              <a:rPr lang="vi-VN" sz="2400" b="1" dirty="0">
                <a:solidFill>
                  <a:srgbClr val="FF0000"/>
                </a:solidFill>
              </a:rPr>
              <a:t>31</a:t>
            </a:r>
            <a:r>
              <a:rPr lang="vi-VN" sz="2400" dirty="0">
                <a:solidFill>
                  <a:srgbClr val="FF0000"/>
                </a:solidFill>
              </a:rPr>
              <a:t>%</a:t>
            </a:r>
            <a:r>
              <a:rPr lang="vi-VN" sz="2400" dirty="0"/>
              <a:t> dự án HTTT bị hủy bỏ.</a:t>
            </a:r>
          </a:p>
          <a:p>
            <a:pPr algn="just">
              <a:spcBef>
                <a:spcPct val="100000"/>
              </a:spcBef>
            </a:pPr>
            <a:r>
              <a:rPr lang="vi-VN" sz="2400" dirty="0"/>
              <a:t>Pricewaterhouse Coopers (2004): hầu hết dự án thất bại, có </a:t>
            </a:r>
            <a:r>
              <a:rPr lang="vi-VN" sz="2400" b="1" dirty="0">
                <a:solidFill>
                  <a:srgbClr val="FF0000"/>
                </a:solidFill>
              </a:rPr>
              <a:t>2,5</a:t>
            </a:r>
            <a:r>
              <a:rPr lang="vi-VN" sz="2400" dirty="0">
                <a:solidFill>
                  <a:srgbClr val="FF0000"/>
                </a:solidFill>
              </a:rPr>
              <a:t>%</a:t>
            </a:r>
            <a:r>
              <a:rPr lang="vi-VN" sz="2400" dirty="0"/>
              <a:t> dự án HTTT đạt được mục tiêu về phạm vi - thời gian - chi phí. </a:t>
            </a:r>
            <a:endParaRPr lang="en-US" sz="2400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763000" cy="1143000"/>
          </a:xfrm>
        </p:spPr>
        <p:txBody>
          <a:bodyPr lIns="92075" tIns="46038" rIns="92075" bIns="46038">
            <a:normAutofit/>
          </a:bodyPr>
          <a:lstStyle/>
          <a:p>
            <a:pPr algn="ctr"/>
            <a:r>
              <a:rPr lang="en-US" sz="3600" dirty="0" err="1"/>
              <a:t>Sự</a:t>
            </a:r>
            <a:r>
              <a:rPr lang="en-US" sz="3600" dirty="0"/>
              <a:t> </a:t>
            </a:r>
            <a:r>
              <a:rPr lang="en-US" sz="3600" dirty="0" err="1"/>
              <a:t>thất</a:t>
            </a:r>
            <a:r>
              <a:rPr lang="en-US" sz="3600" dirty="0"/>
              <a:t> </a:t>
            </a:r>
            <a:r>
              <a:rPr lang="en-US" sz="3600" dirty="0" err="1"/>
              <a:t>bại</a:t>
            </a:r>
            <a:r>
              <a:rPr lang="en-US" sz="3600" dirty="0"/>
              <a:t> </a:t>
            </a:r>
            <a:r>
              <a:rPr lang="en-US" sz="3600" dirty="0" err="1"/>
              <a:t>của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HTTT</a:t>
            </a:r>
          </a:p>
        </p:txBody>
      </p:sp>
      <p:sp>
        <p:nvSpPr>
          <p:cNvPr id="13316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C0BEFF-1FDE-409A-9666-3DA8F0E73CEA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6" name="Picture 5" descr="transparent fail red word failur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342" y="1295400"/>
            <a:ext cx="1530858" cy="103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153400" cy="3810000"/>
          </a:xfrm>
        </p:spPr>
        <p:txBody>
          <a:bodyPr/>
          <a:lstStyle/>
          <a:p>
            <a:pPr algn="just">
              <a:spcBef>
                <a:spcPct val="70000"/>
              </a:spcBef>
            </a:pPr>
            <a:r>
              <a:rPr lang="vi-VN" b="1" dirty="0"/>
              <a:t>Dự án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project</a:t>
            </a:r>
            <a:r>
              <a:rPr lang="vi-VN" dirty="0"/>
              <a:t>):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 nỗ lực </a:t>
            </a:r>
            <a:r>
              <a:rPr lang="vi-VN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tạm thời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được cam kết để </a:t>
            </a:r>
            <a:r>
              <a:rPr lang="vi-VN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 ra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một sản phẩm/dịch vụ hoặc một kết quả...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				                      </a:t>
            </a:r>
            <a:r>
              <a:rPr lang="vi-VN" dirty="0"/>
              <a:t>(PMBOK</a:t>
            </a:r>
            <a:r>
              <a:rPr lang="vi-VN"/>
              <a:t>, 201</a:t>
            </a:r>
            <a:r>
              <a:rPr lang="en-US"/>
              <a:t>7</a:t>
            </a:r>
            <a:r>
              <a:rPr lang="vi-VN"/>
              <a:t>)</a:t>
            </a:r>
            <a:endParaRPr lang="vi-VN" dirty="0"/>
          </a:p>
          <a:p>
            <a:pPr algn="just">
              <a:spcBef>
                <a:spcPct val="70000"/>
              </a:spcBef>
            </a:pPr>
            <a:r>
              <a:rPr lang="vi-VN" dirty="0"/>
              <a:t>Dự án kết thúc khi mục tiêu đã đạt được hoặc bị chấm dứt.</a:t>
            </a:r>
          </a:p>
          <a:p>
            <a:pPr algn="just">
              <a:spcBef>
                <a:spcPct val="70000"/>
              </a:spcBef>
            </a:pPr>
            <a:r>
              <a:rPr lang="vi-VN" dirty="0"/>
              <a:t>Dự án có thể nhỏ/lớn - tốn thời gian ngắn/dài để hoàn thành...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1.2 </a:t>
            </a:r>
            <a:r>
              <a:rPr lang="en-US" sz="4400" dirty="0" err="1">
                <a:solidFill>
                  <a:srgbClr val="FF0000"/>
                </a:solidFill>
              </a:rPr>
              <a:t>Dự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án</a:t>
            </a:r>
            <a:r>
              <a:rPr lang="en-US" sz="4400" dirty="0">
                <a:solidFill>
                  <a:srgbClr val="FF0000"/>
                </a:solidFill>
              </a:rPr>
              <a:t> và quản lý </a:t>
            </a:r>
            <a:r>
              <a:rPr lang="en-US" sz="4400" dirty="0" err="1">
                <a:solidFill>
                  <a:srgbClr val="FF0000"/>
                </a:solidFill>
              </a:rPr>
              <a:t>dự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án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15364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4B9082-BFFD-400A-AEF4-D17F273F5D00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28800"/>
            <a:ext cx="7467600" cy="3124200"/>
          </a:xfr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txBody>
          <a:bodyPr/>
          <a:lstStyle/>
          <a:p>
            <a:pPr algn="just"/>
            <a:r>
              <a:rPr lang="vi-VN" sz="2400" dirty="0"/>
              <a:t>Một nhóm sinh viên tạo ra ứng dụng trên điện thoại, và bán trực tuyến...</a:t>
            </a:r>
          </a:p>
          <a:p>
            <a:pPr algn="just"/>
            <a:endParaRPr lang="vi-VN" sz="1000" dirty="0"/>
          </a:p>
          <a:p>
            <a:pPr algn="just"/>
            <a:r>
              <a:rPr lang="vi-VN" sz="2400" dirty="0"/>
              <a:t>Một công ty phát triển chiếc xe không người lái.</a:t>
            </a:r>
          </a:p>
          <a:p>
            <a:pPr algn="just"/>
            <a:endParaRPr lang="vi-VN" sz="1000" dirty="0"/>
          </a:p>
          <a:p>
            <a:pPr algn="just"/>
            <a:r>
              <a:rPr lang="vi-VN" sz="2400" dirty="0"/>
              <a:t>Phát triển hệ thống chính phủ điện tử.</a:t>
            </a:r>
          </a:p>
          <a:p>
            <a:pPr algn="just"/>
            <a:endParaRPr lang="vi-VN" sz="1000" dirty="0"/>
          </a:p>
          <a:p>
            <a:pPr algn="just"/>
            <a:r>
              <a:rPr lang="vi-VN" sz="2400" dirty="0"/>
              <a:t>Một ngân hàng mua lại tổ chức tài chính khác, và cần xây dựng lại hệ thống c</a:t>
            </a:r>
            <a:r>
              <a:rPr lang="en-US" sz="2400" dirty="0"/>
              <a:t>ore banking…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CNTT/HTTT</a:t>
            </a:r>
          </a:p>
        </p:txBody>
      </p:sp>
      <p:sp>
        <p:nvSpPr>
          <p:cNvPr id="16388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6D314-27DA-4178-AE9D-F9C537C64F56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rgbClr val="0070C0"/>
                </a:solidFill>
              </a:rPr>
              <a:t>Bộ</a:t>
            </a:r>
            <a:r>
              <a:rPr lang="en-US" sz="3600" dirty="0">
                <a:solidFill>
                  <a:srgbClr val="0070C0"/>
                </a:solidFill>
              </a:rPr>
              <a:t> 3 </a:t>
            </a:r>
            <a:r>
              <a:rPr lang="en-US" sz="3600" dirty="0" err="1">
                <a:solidFill>
                  <a:srgbClr val="0070C0"/>
                </a:solidFill>
              </a:rPr>
              <a:t>ràng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buộc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trong</a:t>
            </a:r>
            <a:r>
              <a:rPr lang="en-US" sz="3600" dirty="0">
                <a:solidFill>
                  <a:srgbClr val="0070C0"/>
                </a:solidFill>
              </a:rPr>
              <a:t> QLDA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E73CE052-F1B7-490B-A5C4-C391F856A612}" type="slidenum">
              <a:rPr lang="en-US"/>
              <a:pPr>
                <a:buFontTx/>
                <a:buNone/>
                <a:defRPr/>
              </a:pPr>
              <a:t>10</a:t>
            </a:fld>
            <a:endParaRPr lang="en-US" dirty="0"/>
          </a:p>
        </p:txBody>
      </p:sp>
      <p:sp>
        <p:nvSpPr>
          <p:cNvPr id="21509" name="Rectangle 6"/>
          <p:cNvSpPr>
            <a:spLocks noChangeArrowheads="1"/>
          </p:cNvSpPr>
          <p:nvPr/>
        </p:nvSpPr>
        <p:spPr bwMode="auto">
          <a:xfrm>
            <a:off x="3276600" y="1600200"/>
            <a:ext cx="2209800" cy="1143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3200400" cy="2971800"/>
          </a:xfrm>
        </p:spPr>
        <p:txBody>
          <a:bodyPr/>
          <a:lstStyle/>
          <a:p>
            <a:pPr marL="109537" indent="0" algn="just">
              <a:buNone/>
            </a:pPr>
            <a:r>
              <a:rPr lang="en-US" sz="2400" dirty="0" err="1"/>
              <a:t>Để</a:t>
            </a:r>
            <a:r>
              <a:rPr lang="en-US" sz="2400" dirty="0"/>
              <a:t> QLDA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đạt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3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tiêu</a:t>
            </a:r>
            <a:r>
              <a:rPr lang="en-US" sz="2400" dirty="0"/>
              <a:t>: </a:t>
            </a:r>
          </a:p>
          <a:p>
            <a:pPr lvl="1" algn="just">
              <a:buFont typeface="Verdana" panose="020B0604030504040204" pitchFamily="34" charset="0"/>
              <a:buChar char="‒"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Phạm vi</a:t>
            </a:r>
            <a:r>
              <a:rPr lang="en-US" sz="2200" dirty="0"/>
              <a:t> </a:t>
            </a:r>
          </a:p>
          <a:p>
            <a:pPr lvl="1" algn="just">
              <a:buFont typeface="Verdana" panose="020B0604030504040204" pitchFamily="34" charset="0"/>
              <a:buChar char="‒"/>
            </a:pP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Thời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gian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1" algn="just">
              <a:buFont typeface="Verdana" panose="020B0604030504040204" pitchFamily="34" charset="0"/>
              <a:buChar char="‒"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phí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pPr lvl="1" algn="just">
              <a:buFont typeface="Verdana" panose="020B0604030504040204" pitchFamily="34" charset="0"/>
              <a:buChar char="‒"/>
            </a:pPr>
            <a:endParaRPr lang="en-US" sz="1000" dirty="0"/>
          </a:p>
          <a:p>
            <a:pPr marL="115888" lvl="1" indent="0" algn="just">
              <a:buNone/>
            </a:pPr>
            <a:r>
              <a:rPr lang="en-US" sz="2400" dirty="0"/>
              <a:t>…và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hài</a:t>
            </a:r>
            <a:r>
              <a:rPr lang="en-US" sz="2400" dirty="0"/>
              <a:t> </a:t>
            </a:r>
            <a:r>
              <a:rPr lang="en-US" sz="2400" dirty="0" err="1"/>
              <a:t>lòng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nhà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trợ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.</a:t>
            </a:r>
            <a:endParaRPr lang="en-US" sz="1600" dirty="0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53A87A-A258-4BB1-A6B4-E8BE60068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390650"/>
            <a:ext cx="3749441" cy="4629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77200" cy="3733800"/>
          </a:xfrm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en-US" b="1" dirty="0"/>
              <a:t>Quản lý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án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project management</a:t>
            </a:r>
            <a:r>
              <a:rPr lang="en-US" dirty="0"/>
              <a:t>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…” </a:t>
            </a:r>
            <a:br>
              <a:rPr lang="en-US" dirty="0"/>
            </a:br>
            <a:r>
              <a:rPr lang="en-US" dirty="0"/>
              <a:t>					         (PMBOK</a:t>
            </a:r>
            <a:r>
              <a:rPr lang="en-US"/>
              <a:t>, 2017)</a:t>
            </a:r>
            <a:endParaRPr lang="en-US" dirty="0"/>
          </a:p>
          <a:p>
            <a:pPr algn="just">
              <a:spcBef>
                <a:spcPct val="100000"/>
              </a:spcBef>
            </a:pP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đốc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gắng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bộ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ràng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buộc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triple constraint</a:t>
            </a:r>
            <a:r>
              <a:rPr lang="en-US" dirty="0"/>
              <a:t>) (</a:t>
            </a:r>
            <a:r>
              <a:rPr lang="en-US" dirty="0" err="1"/>
              <a:t>phạm</a:t>
            </a:r>
            <a:r>
              <a:rPr lang="en-US" dirty="0"/>
              <a:t> vi -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- chi </a:t>
            </a:r>
            <a:r>
              <a:rPr lang="en-US" dirty="0" err="1"/>
              <a:t>phí</a:t>
            </a:r>
            <a:r>
              <a:rPr lang="en-US" dirty="0"/>
              <a:t>), và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lòng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…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070C0"/>
                </a:solidFill>
              </a:rPr>
              <a:t>Quản lý </a:t>
            </a:r>
            <a:r>
              <a:rPr lang="en-US" sz="4400" dirty="0" err="1">
                <a:solidFill>
                  <a:srgbClr val="0070C0"/>
                </a:solidFill>
              </a:rPr>
              <a:t>dự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án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BD10AEE-A1C4-442C-A1CB-1C513439EF3C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5334000"/>
            <a:ext cx="2343150" cy="152400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458200" cy="3810000"/>
          </a:xfrm>
        </p:spPr>
        <p:txBody>
          <a:bodyPr/>
          <a:lstStyle/>
          <a:p>
            <a:pPr algn="just"/>
            <a:r>
              <a:rPr lang="vi-VN" b="1" dirty="0"/>
              <a:t>Lĩnh vực kiến thức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knowledge areas</a:t>
            </a:r>
            <a:r>
              <a:rPr lang="vi-VN" dirty="0"/>
              <a:t>): mô tả những năng lực mà nhà QLDA phải thực hiện.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Nhà QLDA phải nắm vững cả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vi-VN" dirty="0"/>
              <a:t> lĩnh vực: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FF0000"/>
                </a:solidFill>
              </a:rPr>
              <a:t>(</a:t>
            </a:r>
            <a:r>
              <a:rPr lang="vi-VN" sz="2400" b="1" dirty="0">
                <a:solidFill>
                  <a:srgbClr val="FF0000"/>
                </a:solidFill>
              </a:rPr>
              <a:t>1</a:t>
            </a:r>
            <a:r>
              <a:rPr lang="vi-VN" sz="2400" dirty="0">
                <a:solidFill>
                  <a:srgbClr val="FF0000"/>
                </a:solidFill>
              </a:rPr>
              <a:t>) Tích hợp...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FF0000"/>
                </a:solidFill>
              </a:rPr>
              <a:t>(</a:t>
            </a:r>
            <a:r>
              <a:rPr lang="vi-VN" sz="2400" b="1" dirty="0">
                <a:solidFill>
                  <a:srgbClr val="FF0000"/>
                </a:solidFill>
              </a:rPr>
              <a:t>2</a:t>
            </a:r>
            <a:r>
              <a:rPr lang="vi-VN" sz="2400" dirty="0">
                <a:solidFill>
                  <a:srgbClr val="FF0000"/>
                </a:solidFill>
              </a:rPr>
              <a:t>) Phạm vi - (</a:t>
            </a:r>
            <a:r>
              <a:rPr lang="vi-VN" sz="2400" b="1" dirty="0">
                <a:solidFill>
                  <a:srgbClr val="FF0000"/>
                </a:solidFill>
              </a:rPr>
              <a:t>3</a:t>
            </a:r>
            <a:r>
              <a:rPr lang="vi-VN" sz="2400" dirty="0">
                <a:solidFill>
                  <a:srgbClr val="FF0000"/>
                </a:solidFill>
              </a:rPr>
              <a:t>) thời gian - (</a:t>
            </a:r>
            <a:r>
              <a:rPr lang="vi-VN" sz="2400" b="1" dirty="0">
                <a:solidFill>
                  <a:srgbClr val="FF0000"/>
                </a:solidFill>
              </a:rPr>
              <a:t>4</a:t>
            </a:r>
            <a:r>
              <a:rPr lang="vi-VN" sz="2400" dirty="0">
                <a:solidFill>
                  <a:srgbClr val="FF0000"/>
                </a:solidFill>
              </a:rPr>
              <a:t>) chi phí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FF0000"/>
                </a:solidFill>
              </a:rPr>
              <a:t>(</a:t>
            </a:r>
            <a:r>
              <a:rPr lang="vi-VN" sz="2400" b="1" dirty="0">
                <a:solidFill>
                  <a:srgbClr val="FF0000"/>
                </a:solidFill>
              </a:rPr>
              <a:t>5</a:t>
            </a:r>
            <a:r>
              <a:rPr lang="vi-VN" sz="2400" dirty="0">
                <a:solidFill>
                  <a:srgbClr val="FF0000"/>
                </a:solidFill>
              </a:rPr>
              <a:t>) Chất lượng, (</a:t>
            </a:r>
            <a:r>
              <a:rPr lang="vi-VN" sz="2400" b="1" dirty="0">
                <a:solidFill>
                  <a:srgbClr val="FF0000"/>
                </a:solidFill>
              </a:rPr>
              <a:t>6</a:t>
            </a:r>
            <a:r>
              <a:rPr lang="vi-VN" sz="2400" dirty="0">
                <a:solidFill>
                  <a:srgbClr val="FF0000"/>
                </a:solidFill>
              </a:rPr>
              <a:t>) nguồn nhân lực, (</a:t>
            </a:r>
            <a:r>
              <a:rPr lang="vi-VN" sz="2400" b="1" dirty="0">
                <a:solidFill>
                  <a:srgbClr val="FF0000"/>
                </a:solidFill>
              </a:rPr>
              <a:t>7</a:t>
            </a:r>
            <a:r>
              <a:rPr lang="vi-VN" sz="2400" dirty="0">
                <a:solidFill>
                  <a:srgbClr val="FF0000"/>
                </a:solidFill>
              </a:rPr>
              <a:t>) truyền thông, </a:t>
            </a:r>
            <a:br>
              <a:rPr lang="vi-VN" sz="2400" dirty="0">
                <a:solidFill>
                  <a:srgbClr val="FF0000"/>
                </a:solidFill>
              </a:rPr>
            </a:br>
            <a:r>
              <a:rPr lang="vi-VN" sz="2400" dirty="0">
                <a:solidFill>
                  <a:srgbClr val="FF0000"/>
                </a:solidFill>
              </a:rPr>
              <a:t>(</a:t>
            </a:r>
            <a:r>
              <a:rPr lang="vi-VN" sz="2400" b="1" dirty="0">
                <a:solidFill>
                  <a:srgbClr val="FF0000"/>
                </a:solidFill>
              </a:rPr>
              <a:t>8</a:t>
            </a:r>
            <a:r>
              <a:rPr lang="vi-VN" sz="2400" dirty="0">
                <a:solidFill>
                  <a:srgbClr val="FF0000"/>
                </a:solidFill>
              </a:rPr>
              <a:t>) rủi ro, (</a:t>
            </a:r>
            <a:r>
              <a:rPr lang="vi-VN" sz="2400" b="1" dirty="0">
                <a:solidFill>
                  <a:srgbClr val="FF0000"/>
                </a:solidFill>
              </a:rPr>
              <a:t>9</a:t>
            </a:r>
            <a:r>
              <a:rPr lang="vi-VN" sz="2400" dirty="0">
                <a:solidFill>
                  <a:srgbClr val="FF0000"/>
                </a:solidFill>
              </a:rPr>
              <a:t>) mua hàng, (</a:t>
            </a:r>
            <a:r>
              <a:rPr lang="vi-VN" sz="2400" b="1" dirty="0">
                <a:solidFill>
                  <a:srgbClr val="FF0000"/>
                </a:solidFill>
              </a:rPr>
              <a:t>10</a:t>
            </a:r>
            <a:r>
              <a:rPr lang="vi-VN" sz="2400" dirty="0">
                <a:solidFill>
                  <a:srgbClr val="FF0000"/>
                </a:solidFill>
              </a:rPr>
              <a:t>) các bên liên quan.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Lĩnh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vực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kiến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thức</a:t>
            </a:r>
            <a:r>
              <a:rPr lang="en-US" sz="4400" dirty="0">
                <a:solidFill>
                  <a:srgbClr val="0070C0"/>
                </a:solidFill>
              </a:rPr>
              <a:t> QLDA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8EB7DF-90B0-4429-8A5B-58BA5697E9F8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178" y="4876800"/>
            <a:ext cx="3586822" cy="1975023"/>
          </a:xfrm>
          <a:prstGeom prst="rect">
            <a:avLst/>
          </a:prstGeom>
        </p:spPr>
      </p:pic>
      <p:sp>
        <p:nvSpPr>
          <p:cNvPr id="6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8270"/>
            <a:ext cx="8305800" cy="458735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8EB7DF-90B0-4429-8A5B-58BA5697E9F8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2445" y="6076890"/>
            <a:ext cx="30075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dirty="0">
                <a:latin typeface="+mj-lt"/>
              </a:rPr>
              <a:t>Nguồn: </a:t>
            </a:r>
            <a:r>
              <a:rPr lang="vi-VN" sz="2000">
                <a:latin typeface="+mj-lt"/>
              </a:rPr>
              <a:t>Schwalbe (20</a:t>
            </a:r>
            <a:r>
              <a:rPr lang="en-US" sz="2000">
                <a:latin typeface="+mj-lt"/>
              </a:rPr>
              <a:t>16</a:t>
            </a:r>
            <a:r>
              <a:rPr lang="vi-VN" sz="2000">
                <a:latin typeface="+mj-lt"/>
              </a:rPr>
              <a:t>)</a:t>
            </a:r>
            <a:endParaRPr lang="vi-VN" sz="2000" dirty="0">
              <a:latin typeface="+mj-lt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10 </a:t>
            </a:r>
            <a:r>
              <a:rPr lang="en-US" sz="3600" dirty="0" err="1">
                <a:solidFill>
                  <a:srgbClr val="0070C0"/>
                </a:solidFill>
              </a:rPr>
              <a:t>lĩnh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vực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kiến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thức</a:t>
            </a:r>
            <a:r>
              <a:rPr lang="en-US" sz="3600" dirty="0">
                <a:solidFill>
                  <a:srgbClr val="0070C0"/>
                </a:solidFill>
              </a:rPr>
              <a:t> QLDA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752" y="3116240"/>
            <a:ext cx="8229600" cy="685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Rounded Rectangle 15"/>
          <p:cNvSpPr/>
          <p:nvPr/>
        </p:nvSpPr>
        <p:spPr>
          <a:xfrm>
            <a:off x="1371600" y="1600200"/>
            <a:ext cx="1524000" cy="9144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Rounded Rectangle 16"/>
          <p:cNvSpPr/>
          <p:nvPr/>
        </p:nvSpPr>
        <p:spPr>
          <a:xfrm>
            <a:off x="3048000" y="1600200"/>
            <a:ext cx="1524000" cy="9144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ounded Rectangle 17"/>
          <p:cNvSpPr/>
          <p:nvPr/>
        </p:nvSpPr>
        <p:spPr>
          <a:xfrm>
            <a:off x="4702628" y="1600200"/>
            <a:ext cx="1524000" cy="9144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Rounded Rectangle 18"/>
          <p:cNvSpPr/>
          <p:nvPr/>
        </p:nvSpPr>
        <p:spPr>
          <a:xfrm>
            <a:off x="6330124" y="1600200"/>
            <a:ext cx="1524000" cy="9144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Rounded Rectangle 19"/>
          <p:cNvSpPr/>
          <p:nvPr/>
        </p:nvSpPr>
        <p:spPr>
          <a:xfrm>
            <a:off x="533400" y="4419600"/>
            <a:ext cx="1524000" cy="1066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Rounded Rectangle 20"/>
          <p:cNvSpPr/>
          <p:nvPr/>
        </p:nvSpPr>
        <p:spPr>
          <a:xfrm>
            <a:off x="2223448" y="4419600"/>
            <a:ext cx="1586552" cy="1066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Rounded Rectangle 21"/>
          <p:cNvSpPr/>
          <p:nvPr/>
        </p:nvSpPr>
        <p:spPr>
          <a:xfrm>
            <a:off x="3886200" y="4419600"/>
            <a:ext cx="1524000" cy="1066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Rounded Rectangle 22"/>
          <p:cNvSpPr/>
          <p:nvPr/>
        </p:nvSpPr>
        <p:spPr>
          <a:xfrm>
            <a:off x="5486400" y="4419600"/>
            <a:ext cx="1524000" cy="1066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Rounded Rectangle 23"/>
          <p:cNvSpPr/>
          <p:nvPr/>
        </p:nvSpPr>
        <p:spPr>
          <a:xfrm>
            <a:off x="7162800" y="4419600"/>
            <a:ext cx="1524000" cy="1066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530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21847E-4E39-4752-A96F-A70CA4B024A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20000"/>
          </a:blip>
          <a:stretch>
            <a:fillRect/>
          </a:stretch>
        </p:blipFill>
        <p:spPr>
          <a:xfrm>
            <a:off x="-76200" y="1360619"/>
            <a:ext cx="9235440" cy="4278181"/>
          </a:xfrm>
          <a:prstGeom prst="rect">
            <a:avLst/>
          </a:prstGeom>
        </p:spPr>
      </p:pic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00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rgbClr val="0070C0"/>
                </a:solidFill>
              </a:rPr>
              <a:t>Khung</a:t>
            </a:r>
            <a:r>
              <a:rPr lang="en-US" sz="3600" dirty="0">
                <a:solidFill>
                  <a:srgbClr val="0070C0"/>
                </a:solidFill>
              </a:rPr>
              <a:t> quản lý </a:t>
            </a:r>
            <a:r>
              <a:rPr lang="en-US" sz="3600" dirty="0" err="1">
                <a:solidFill>
                  <a:srgbClr val="0070C0"/>
                </a:solidFill>
              </a:rPr>
              <a:t>dự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án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7D655A70-A149-4DA4-995F-382037F2D2FB}" type="slidenum">
              <a:rPr lang="en-US"/>
              <a:pPr>
                <a:buFontTx/>
                <a:buNone/>
                <a:defRPr/>
              </a:pPr>
              <a:t>14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612445" y="5943600"/>
            <a:ext cx="30075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dirty="0">
                <a:latin typeface="+mj-lt"/>
              </a:rPr>
              <a:t>Nguồn: </a:t>
            </a:r>
            <a:r>
              <a:rPr lang="vi-VN" sz="2000">
                <a:latin typeface="+mj-lt"/>
              </a:rPr>
              <a:t>Schwalbe (20</a:t>
            </a:r>
            <a:r>
              <a:rPr lang="en-US" sz="2000">
                <a:latin typeface="+mj-lt"/>
              </a:rPr>
              <a:t>19</a:t>
            </a:r>
            <a:r>
              <a:rPr lang="vi-VN" sz="2000">
                <a:latin typeface="+mj-lt"/>
              </a:rPr>
              <a:t>)</a:t>
            </a:r>
            <a:endParaRPr lang="vi-VN" sz="2000" dirty="0">
              <a:latin typeface="+mj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0" y="3383280"/>
            <a:ext cx="914400" cy="13411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ounded Rectangle 9"/>
          <p:cNvSpPr/>
          <p:nvPr/>
        </p:nvSpPr>
        <p:spPr>
          <a:xfrm>
            <a:off x="914400" y="2209800"/>
            <a:ext cx="5029200" cy="331927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ounded Rectangle 10"/>
          <p:cNvSpPr/>
          <p:nvPr/>
        </p:nvSpPr>
        <p:spPr>
          <a:xfrm>
            <a:off x="6080760" y="2217420"/>
            <a:ext cx="1005840" cy="32689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Rounded Rectangle 12"/>
          <p:cNvSpPr/>
          <p:nvPr/>
        </p:nvSpPr>
        <p:spPr>
          <a:xfrm>
            <a:off x="7101840" y="2026920"/>
            <a:ext cx="822960" cy="10972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ounded Rectangle 13"/>
          <p:cNvSpPr/>
          <p:nvPr/>
        </p:nvSpPr>
        <p:spPr>
          <a:xfrm>
            <a:off x="7113494" y="3555597"/>
            <a:ext cx="788772" cy="7743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Rounded Rectangle 14"/>
          <p:cNvSpPr/>
          <p:nvPr/>
        </p:nvSpPr>
        <p:spPr>
          <a:xfrm>
            <a:off x="8193741" y="2133600"/>
            <a:ext cx="838200" cy="838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033462" y="990600"/>
            <a:ext cx="7348538" cy="4791075"/>
          </a:xfrm>
        </p:spPr>
        <p:txBody>
          <a:bodyPr/>
          <a:lstStyle/>
          <a:p>
            <a:pPr algn="just"/>
            <a:r>
              <a:rPr lang="vi-VN" b="1" dirty="0"/>
              <a:t>Các bên liên quan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stakeholders</a:t>
            </a:r>
            <a:r>
              <a:rPr lang="vi-VN" dirty="0"/>
              <a:t>): những người tham gia hoặc có ảnh hưởng đến các hoạt động của dự án.</a:t>
            </a:r>
          </a:p>
          <a:p>
            <a:pPr algn="just"/>
            <a:endParaRPr lang="vi-VN" sz="1000" dirty="0"/>
          </a:p>
          <a:p>
            <a:pPr algn="just"/>
            <a:r>
              <a:rPr lang="vi-VN" dirty="0"/>
              <a:t>Các bên liên quan...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Nhà tài trợ dự án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Giám đốc dự án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Đội/nhóm dự án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Nhân viên hỗ trợ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Khách hàng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Người sử dụng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Nhà cung cấp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Đối thủ cạnh tranh...</a:t>
            </a:r>
            <a:endParaRPr lang="en-US" sz="2400" dirty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Các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bên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liên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quan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32BD8DC-3670-4F66-BAF1-AB767FF85EC4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2052" name="Picture 4" descr="https://www.teamwork.com/blog/wp-content/uploads/2016/03/8-Key-Skills-Every-Project-Manager-Needs-delegate-delegate-delega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199" y="3733800"/>
            <a:ext cx="37469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Quan</a:t>
            </a:r>
            <a:r>
              <a:rPr lang="en-US" sz="3600" dirty="0"/>
              <a:t> </a:t>
            </a:r>
            <a:r>
              <a:rPr lang="en-US" sz="3600" dirty="0" err="1"/>
              <a:t>hệ</a:t>
            </a:r>
            <a:r>
              <a:rPr lang="en-US" sz="3600" dirty="0"/>
              <a:t> </a:t>
            </a:r>
            <a:r>
              <a:rPr lang="en-US" sz="3600" dirty="0" err="1"/>
              <a:t>giữa</a:t>
            </a:r>
            <a:r>
              <a:rPr lang="en-US" sz="3600" dirty="0"/>
              <a:t> </a:t>
            </a:r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bên</a:t>
            </a:r>
            <a:r>
              <a:rPr lang="en-US" sz="3600" dirty="0"/>
              <a:t> </a:t>
            </a:r>
            <a:r>
              <a:rPr lang="en-US" sz="3600" dirty="0" err="1"/>
              <a:t>liên</a:t>
            </a:r>
            <a:r>
              <a:rPr lang="en-US" sz="3600" dirty="0"/>
              <a:t> </a:t>
            </a:r>
            <a:r>
              <a:rPr lang="en-US" sz="3600" dirty="0" err="1"/>
              <a:t>quan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32BD8DC-3670-4F66-BAF1-AB767FF85EC4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24400" y="6096000"/>
            <a:ext cx="297180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vi-VN" sz="2000" dirty="0">
                <a:latin typeface="+mj-lt"/>
              </a:rPr>
              <a:t>Nguồn: PMPOK </a:t>
            </a:r>
            <a:r>
              <a:rPr lang="vi-VN" sz="2000">
                <a:latin typeface="+mj-lt"/>
              </a:rPr>
              <a:t>(201</a:t>
            </a:r>
            <a:r>
              <a:rPr lang="en-US" sz="2000">
                <a:latin typeface="+mj-lt"/>
              </a:rPr>
              <a:t>7</a:t>
            </a:r>
            <a:r>
              <a:rPr lang="vi-VN" sz="2000">
                <a:latin typeface="+mj-lt"/>
              </a:rPr>
              <a:t>)</a:t>
            </a:r>
            <a:endParaRPr lang="vi-VN" sz="1050" dirty="0"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9144000" cy="504570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175293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001000" cy="3492500"/>
          </a:xfrm>
        </p:spPr>
        <p:txBody>
          <a:bodyPr/>
          <a:lstStyle/>
          <a:p>
            <a:pPr algn="just"/>
            <a:r>
              <a:rPr lang="vi-VN" b="1" dirty="0"/>
              <a:t>Công cụ và kỹ thuật </a:t>
            </a:r>
            <a:r>
              <a:rPr lang="vi-VN" dirty="0">
                <a:solidFill>
                  <a:srgbClr val="0070C0"/>
                </a:solidFill>
              </a:rPr>
              <a:t>(</a:t>
            </a:r>
            <a:r>
              <a:rPr lang="en-US" dirty="0">
                <a:solidFill>
                  <a:srgbClr val="0070C0"/>
                </a:solidFill>
              </a:rPr>
              <a:t>tools and techniques</a:t>
            </a:r>
            <a:r>
              <a:rPr lang="vi-VN" dirty="0"/>
              <a:t>): hỗ trợ giám đốc dự án và đội/nhóm dự án ở các khía cạnh khác nhau trong QLDA.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Cụ thể...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Điều lệ dự án, tuyên bố phạm vi, WBS...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Sơ đồ Gantt, sơ đồ mạng, phân tích đường tới hạn...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Ước lượng chi phí, EVM...</a:t>
            </a:r>
            <a:endParaRPr lang="en-US" sz="2400" dirty="0"/>
          </a:p>
          <a:p>
            <a:pPr lvl="1" algn="just">
              <a:lnSpc>
                <a:spcPct val="90000"/>
              </a:lnSpc>
            </a:pPr>
            <a:endParaRPr lang="en-US" dirty="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Công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cụ</a:t>
            </a:r>
            <a:r>
              <a:rPr lang="en-US" sz="4000" dirty="0">
                <a:solidFill>
                  <a:srgbClr val="0070C0"/>
                </a:solidFill>
              </a:rPr>
              <a:t> và </a:t>
            </a:r>
            <a:r>
              <a:rPr lang="en-US" sz="4000" dirty="0" err="1">
                <a:solidFill>
                  <a:srgbClr val="0070C0"/>
                </a:solidFill>
              </a:rPr>
              <a:t>kỹ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thuật</a:t>
            </a:r>
            <a:r>
              <a:rPr lang="en-US" sz="4000" dirty="0">
                <a:solidFill>
                  <a:srgbClr val="0070C0"/>
                </a:solidFill>
              </a:rPr>
              <a:t> QLDA</a:t>
            </a:r>
          </a:p>
        </p:txBody>
      </p:sp>
      <p:sp>
        <p:nvSpPr>
          <p:cNvPr id="26628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DE2A35-A3A0-48F2-BAA4-D5904553118B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1219200"/>
            <a:ext cx="8077200" cy="5410200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20000"/>
              </a:lnSpc>
              <a:defRPr/>
            </a:pPr>
            <a:r>
              <a:rPr lang="vi-VN" sz="5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Siêu công cụ </a:t>
            </a:r>
            <a:r>
              <a:rPr lang="vi-VN" sz="5700" dirty="0"/>
              <a:t>(</a:t>
            </a:r>
            <a:r>
              <a:rPr lang="vi-VN" sz="5700" dirty="0">
                <a:solidFill>
                  <a:srgbClr val="0070C0"/>
                </a:solidFill>
              </a:rPr>
              <a:t>super tools</a:t>
            </a:r>
            <a:r>
              <a:rPr lang="vi-VN" sz="5700" dirty="0"/>
              <a:t>): những công cụ cải thiện sự thành công của dự án...</a:t>
            </a:r>
          </a:p>
          <a:p>
            <a:pPr lvl="1" algn="just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vi-VN" sz="5100" dirty="0"/>
              <a:t>Phần mềm lập lịch	</a:t>
            </a:r>
          </a:p>
          <a:p>
            <a:pPr lvl="1" algn="just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vi-VN" sz="5100" dirty="0"/>
              <a:t>Phát biểu phạm vi</a:t>
            </a:r>
          </a:p>
          <a:p>
            <a:pPr lvl="1" algn="just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vi-VN" sz="5100" dirty="0"/>
              <a:t>Phân tích yêu cầu</a:t>
            </a:r>
          </a:p>
          <a:p>
            <a:pPr lvl="1" algn="just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vi-VN" sz="5100" dirty="0"/>
              <a:t>Bài học kinh nghiệm...</a:t>
            </a:r>
          </a:p>
          <a:p>
            <a:pPr lvl="1" algn="just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vi-VN" sz="2100" dirty="0"/>
          </a:p>
          <a:p>
            <a:pPr algn="just">
              <a:lnSpc>
                <a:spcPct val="120000"/>
              </a:lnSpc>
              <a:defRPr/>
            </a:pPr>
            <a:r>
              <a:rPr lang="vi-VN" sz="5700" dirty="0"/>
              <a:t>Công cụ cải thiện dự án</a:t>
            </a:r>
            <a:r>
              <a:rPr lang="vi-VN" sz="5900" dirty="0"/>
              <a:t>...</a:t>
            </a:r>
          </a:p>
          <a:p>
            <a:pPr lvl="1" algn="just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vi-VN" sz="5100" dirty="0"/>
              <a:t>Báo cáo tiến độ</a:t>
            </a:r>
          </a:p>
          <a:p>
            <a:pPr lvl="1" algn="just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vi-VN" sz="5100" dirty="0"/>
              <a:t>Họp khởi động</a:t>
            </a:r>
          </a:p>
          <a:p>
            <a:pPr lvl="1" algn="just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vi-VN" sz="5100" dirty="0"/>
              <a:t>Sơ đồ Gantt</a:t>
            </a:r>
          </a:p>
          <a:p>
            <a:pPr lvl="1" algn="just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vi-VN" sz="5100" dirty="0"/>
              <a:t>Thay đổi yêu cầu...</a:t>
            </a:r>
            <a:endParaRPr lang="en-US" sz="5100" dirty="0"/>
          </a:p>
        </p:txBody>
      </p:sp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công</a:t>
            </a:r>
            <a:r>
              <a:rPr lang="en-US" sz="4000" dirty="0"/>
              <a:t> </a:t>
            </a:r>
            <a:r>
              <a:rPr lang="en-US" sz="4000" dirty="0" err="1"/>
              <a:t>cụ</a:t>
            </a:r>
            <a:r>
              <a:rPr lang="en-US" sz="4000" dirty="0"/>
              <a:t> QLDA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132B57E-CCBF-4C8F-88E1-28CBB211023F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971800"/>
            <a:ext cx="3146468" cy="3886200"/>
          </a:xfrm>
          <a:prstGeom prst="rect">
            <a:avLst/>
          </a:prstGeom>
        </p:spPr>
      </p:pic>
      <p:sp>
        <p:nvSpPr>
          <p:cNvPr id="6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Content Placeholder 3"/>
          <p:cNvSpPr>
            <a:spLocks noGrp="1"/>
          </p:cNvSpPr>
          <p:nvPr>
            <p:ph idx="1"/>
          </p:nvPr>
        </p:nvSpPr>
        <p:spPr>
          <a:xfrm>
            <a:off x="914400" y="2209800"/>
            <a:ext cx="7315200" cy="25908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algn="just"/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Đạt được mục tiêu: phạm vi - thời gian - chi phí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Làm hài lòng khách hàng/nhà tài trợ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Các kết quả đáp ứng được mục tiêu chính...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Ví dụ, tiết kiệm chi phí, ROI tốt hơn... hoặc nhà tài trợ dự án hạnh phúc...</a:t>
            </a:r>
            <a:endParaRPr lang="en-US" sz="2400" dirty="0"/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chemeClr val="tx1"/>
                </a:solidFill>
              </a:rPr>
              <a:t>Sự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thành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công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của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dự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án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0723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6FF679-B247-40A7-B574-6049B4430BD8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Rectangle 4"/>
          <p:cNvSpPr>
            <a:spLocks noGrp="1" noChangeArrowheads="1"/>
          </p:cNvSpPr>
          <p:nvPr>
            <p:ph type="title"/>
          </p:nvPr>
        </p:nvSpPr>
        <p:spPr>
          <a:xfrm>
            <a:off x="3958" y="228600"/>
            <a:ext cx="9144000" cy="639762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dirty="0"/>
              <a:t>10 </a:t>
            </a:r>
            <a:r>
              <a:rPr lang="en-US" sz="3600" dirty="0" err="1"/>
              <a:t>yếu</a:t>
            </a:r>
            <a:r>
              <a:rPr lang="en-US" sz="3600" dirty="0"/>
              <a:t> </a:t>
            </a:r>
            <a:r>
              <a:rPr lang="en-US" sz="3600" dirty="0" err="1"/>
              <a:t>tố</a:t>
            </a:r>
            <a:r>
              <a:rPr lang="en-US" sz="3600" dirty="0"/>
              <a:t> </a:t>
            </a:r>
            <a:r>
              <a:rPr lang="en-US" sz="3600" dirty="0" err="1"/>
              <a:t>thành</a:t>
            </a:r>
            <a:r>
              <a:rPr lang="en-US" sz="3600" dirty="0"/>
              <a:t> </a:t>
            </a:r>
            <a:r>
              <a:rPr lang="en-US" sz="3600" dirty="0" err="1"/>
              <a:t>công</a:t>
            </a:r>
            <a:r>
              <a:rPr lang="en-US" sz="3600" dirty="0"/>
              <a:t> </a:t>
            </a:r>
            <a:r>
              <a:rPr lang="en-US" sz="3600" dirty="0" err="1"/>
              <a:t>của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endParaRPr lang="en-US" sz="36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6C2C6F4C-C329-4CFA-975D-E75569AC7E83}" type="slidenum">
              <a:rPr lang="en-US"/>
              <a:pPr>
                <a:buFontTx/>
                <a:buNone/>
                <a:defRPr/>
              </a:pPr>
              <a:t>20</a:t>
            </a:fld>
            <a:endParaRPr lang="en-US" dirty="0"/>
          </a:p>
        </p:txBody>
      </p: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1905000" y="5968425"/>
            <a:ext cx="71075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600" dirty="0"/>
              <a:t>* Standish Group, “CHAOS Manifesto 2013: Think Big,  Act Small” (2013).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66800"/>
            <a:ext cx="7315200" cy="4741304"/>
          </a:xfrm>
          <a:prstGeom prst="rect">
            <a:avLst/>
          </a:prstGeom>
        </p:spPr>
      </p:pic>
      <p:sp>
        <p:nvSpPr>
          <p:cNvPr id="6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Content Placeholder 3"/>
          <p:cNvSpPr>
            <a:spLocks noGrp="1"/>
          </p:cNvSpPr>
          <p:nvPr>
            <p:ph idx="1"/>
          </p:nvPr>
        </p:nvSpPr>
        <p:spPr>
          <a:xfrm>
            <a:off x="533400" y="1981200"/>
            <a:ext cx="8001000" cy="4343400"/>
          </a:xfrm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vi-VN" b="1" dirty="0">
                <a:ea typeface="Tahoma" panose="020B0604030504040204" pitchFamily="34" charset="0"/>
                <a:cs typeface="Times New Roman" panose="02020603050405020304" pitchFamily="18" charset="0"/>
              </a:rPr>
              <a:t>Chương trình </a:t>
            </a:r>
            <a:r>
              <a:rPr lang="vi-VN" dirty="0"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0070C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program</a:t>
            </a:r>
            <a:r>
              <a:rPr lang="vi-VN" dirty="0">
                <a:ea typeface="Tahoma" panose="020B0604030504040204" pitchFamily="34" charset="0"/>
                <a:cs typeface="Times New Roman" panose="02020603050405020304" pitchFamily="18" charset="0"/>
              </a:rPr>
              <a:t>):</a:t>
            </a:r>
            <a:r>
              <a:rPr lang="vi-VN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“một </a:t>
            </a:r>
            <a:r>
              <a:rPr lang="vi-VN" i="1" u="sng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nhóm các dự án</a:t>
            </a:r>
            <a:r>
              <a:rPr lang="vi-VN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liên quan được quản lý một cách </a:t>
            </a:r>
            <a:r>
              <a:rPr lang="vi-VN" i="1" u="sng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đồng bộ</a:t>
            </a:r>
            <a:r>
              <a:rPr lang="vi-VN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...”</a:t>
            </a:r>
          </a:p>
          <a:p>
            <a:pPr marL="109537" indent="0" algn="r">
              <a:spcBef>
                <a:spcPct val="50000"/>
              </a:spcBef>
              <a:buNone/>
            </a:pPr>
            <a:r>
              <a:rPr lang="vi-VN" dirty="0"/>
              <a:t>(</a:t>
            </a:r>
            <a:r>
              <a:rPr lang="vi-VN" kern="600" dirty="0"/>
              <a:t>PMBOK</a:t>
            </a:r>
            <a:r>
              <a:rPr lang="vi-VN"/>
              <a:t>, 201</a:t>
            </a:r>
            <a:r>
              <a:rPr lang="en-US"/>
              <a:t>7</a:t>
            </a:r>
            <a:r>
              <a:rPr lang="vi-VN"/>
              <a:t>)</a:t>
            </a:r>
            <a:br>
              <a:rPr lang="vi-VN" dirty="0"/>
            </a:br>
            <a:endParaRPr lang="vi-VN" sz="600" dirty="0"/>
          </a:p>
          <a:p>
            <a:pPr algn="just">
              <a:spcBef>
                <a:spcPct val="50000"/>
              </a:spcBef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Giám đốc chương trình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program manager</a:t>
            </a:r>
            <a:r>
              <a:rPr lang="vi-VN" dirty="0"/>
              <a:t>) giám sát các chương trình – chỉ đạo và lãnh đạo các giám đốc dự án.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6FF679-B247-40A7-B574-6049B4430BD8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1143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800" dirty="0">
                <a:solidFill>
                  <a:srgbClr val="FF0000"/>
                </a:solidFill>
              </a:rPr>
              <a:t>1.3 </a:t>
            </a:r>
            <a:r>
              <a:rPr lang="en-US" sz="3800" dirty="0" err="1">
                <a:solidFill>
                  <a:srgbClr val="FF0000"/>
                </a:solidFill>
              </a:rPr>
              <a:t>Chương</a:t>
            </a:r>
            <a:r>
              <a:rPr lang="en-US" sz="3800" dirty="0">
                <a:solidFill>
                  <a:srgbClr val="FF0000"/>
                </a:solidFill>
              </a:rPr>
              <a:t> </a:t>
            </a:r>
            <a:r>
              <a:rPr lang="en-US" sz="3800" dirty="0" err="1">
                <a:solidFill>
                  <a:srgbClr val="FF0000"/>
                </a:solidFill>
              </a:rPr>
              <a:t>trình</a:t>
            </a:r>
            <a:r>
              <a:rPr lang="en-US" sz="3800" dirty="0">
                <a:solidFill>
                  <a:srgbClr val="FF0000"/>
                </a:solidFill>
              </a:rPr>
              <a:t> và </a:t>
            </a:r>
            <a:r>
              <a:rPr lang="en-US" sz="3800" dirty="0" err="1">
                <a:solidFill>
                  <a:srgbClr val="FF0000"/>
                </a:solidFill>
              </a:rPr>
              <a:t>danh</a:t>
            </a:r>
            <a:r>
              <a:rPr lang="en-US" sz="3800" dirty="0">
                <a:solidFill>
                  <a:srgbClr val="FF0000"/>
                </a:solidFill>
              </a:rPr>
              <a:t> </a:t>
            </a:r>
            <a:r>
              <a:rPr lang="en-US" sz="3800" dirty="0" err="1">
                <a:solidFill>
                  <a:srgbClr val="FF0000"/>
                </a:solidFill>
              </a:rPr>
              <a:t>mục</a:t>
            </a:r>
            <a:r>
              <a:rPr lang="en-US" sz="3800" dirty="0">
                <a:solidFill>
                  <a:srgbClr val="FF0000"/>
                </a:solidFill>
              </a:rPr>
              <a:t> </a:t>
            </a:r>
            <a:r>
              <a:rPr lang="en-US" sz="3800" dirty="0" err="1">
                <a:solidFill>
                  <a:srgbClr val="FF0000"/>
                </a:solidFill>
              </a:rPr>
              <a:t>đầu</a:t>
            </a:r>
            <a:r>
              <a:rPr lang="en-US" sz="3800" dirty="0">
                <a:solidFill>
                  <a:srgbClr val="FF0000"/>
                </a:solidFill>
              </a:rPr>
              <a:t> </a:t>
            </a:r>
            <a:r>
              <a:rPr lang="en-US" sz="3800" dirty="0" err="1">
                <a:solidFill>
                  <a:srgbClr val="FF0000"/>
                </a:solidFill>
              </a:rPr>
              <a:t>tư</a:t>
            </a:r>
            <a:endParaRPr lang="en-US" sz="3800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5067602"/>
            <a:ext cx="2362200" cy="1790398"/>
          </a:xfrm>
          <a:prstGeom prst="rect">
            <a:avLst/>
          </a:prstGeom>
        </p:spPr>
      </p:pic>
      <p:sp>
        <p:nvSpPr>
          <p:cNvPr id="6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4148107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Content Placeholder 3"/>
          <p:cNvSpPr>
            <a:spLocks noGrp="1"/>
          </p:cNvSpPr>
          <p:nvPr>
            <p:ph idx="1"/>
          </p:nvPr>
        </p:nvSpPr>
        <p:spPr>
          <a:xfrm>
            <a:off x="609600" y="1600200"/>
            <a:ext cx="7924800" cy="3700462"/>
          </a:xfrm>
        </p:spPr>
        <p:txBody>
          <a:bodyPr/>
          <a:lstStyle/>
          <a:p>
            <a:pPr algn="just"/>
            <a:r>
              <a:rPr lang="vi-VN" b="1" dirty="0"/>
              <a:t>Quản lý danh mục đầu tư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portfolio management</a:t>
            </a:r>
            <a:r>
              <a:rPr lang="vi-VN" dirty="0"/>
              <a:t>): quản lý các chương trình và dự án như các khoản đầu tư, góp phần vào sự thành công của doanh nghiệp.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Giám đốc đầu tư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portfolio</a:t>
            </a:r>
            <a:r>
              <a:rPr lang="vi-VN" dirty="0">
                <a:solidFill>
                  <a:srgbClr val="0070C0"/>
                </a:solidFill>
              </a:rPr>
              <a:t> manager</a:t>
            </a:r>
            <a:r>
              <a:rPr lang="vi-VN" dirty="0"/>
              <a:t>) giúp tổ chức đưa ra quyết định đầu tư đúng đắn - hỗ trợ lựa chọn và phân tích dự án ở tầm chiến lược.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Danh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mục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đầu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tư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BC5DE6-0D10-491C-9D95-CD65B3FEB7F0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5029200"/>
            <a:ext cx="1371600" cy="1828800"/>
          </a:xfrm>
          <a:prstGeom prst="rect">
            <a:avLst/>
          </a:prstGeom>
        </p:spPr>
      </p:pic>
      <p:sp>
        <p:nvSpPr>
          <p:cNvPr id="6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/>
              <a:t>QLDA và quản lý </a:t>
            </a:r>
            <a:r>
              <a:rPr lang="en-US" sz="3600" dirty="0" err="1"/>
              <a:t>danh</a:t>
            </a:r>
            <a:r>
              <a:rPr lang="en-US" sz="3600" dirty="0"/>
              <a:t> </a:t>
            </a:r>
            <a:r>
              <a:rPr lang="en-US" sz="3600" dirty="0" err="1"/>
              <a:t>mục</a:t>
            </a:r>
            <a:r>
              <a:rPr lang="en-US" sz="3600" dirty="0"/>
              <a:t> </a:t>
            </a:r>
            <a:r>
              <a:rPr lang="en-US" sz="3600" dirty="0" err="1"/>
              <a:t>đầu</a:t>
            </a:r>
            <a:r>
              <a:rPr lang="en-US" sz="3600" dirty="0"/>
              <a:t> </a:t>
            </a:r>
            <a:r>
              <a:rPr lang="en-US" sz="3600" dirty="0" err="1"/>
              <a:t>tư</a:t>
            </a:r>
            <a:endParaRPr lang="en-US" sz="3600" i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6DAE91-3CCC-4475-8BBE-416A848BB383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694" y="16476"/>
            <a:ext cx="917257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433"/>
            <a:ext cx="8229600" cy="1143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tiếp</a:t>
            </a:r>
            <a:r>
              <a:rPr lang="en-US" sz="3600" dirty="0"/>
              <a:t> </a:t>
            </a:r>
            <a:r>
              <a:rPr lang="en-US" sz="3600" dirty="0" err="1"/>
              <a:t>cận</a:t>
            </a:r>
            <a:r>
              <a:rPr lang="en-US" sz="3600" dirty="0"/>
              <a:t> </a:t>
            </a:r>
            <a:r>
              <a:rPr lang="en-US" sz="3600" dirty="0" err="1"/>
              <a:t>danh</a:t>
            </a:r>
            <a:r>
              <a:rPr lang="en-US" sz="3600" dirty="0"/>
              <a:t> </a:t>
            </a:r>
            <a:r>
              <a:rPr lang="en-US" sz="3600" dirty="0" err="1"/>
              <a:t>mục</a:t>
            </a:r>
            <a:r>
              <a:rPr lang="en-US" sz="3600" dirty="0"/>
              <a:t> </a:t>
            </a:r>
            <a:r>
              <a:rPr lang="en-US" sz="3600" dirty="0" err="1"/>
              <a:t>đầu</a:t>
            </a:r>
            <a:r>
              <a:rPr lang="en-US" sz="3600" dirty="0"/>
              <a:t> </a:t>
            </a:r>
            <a:r>
              <a:rPr lang="en-US" sz="3600" dirty="0" err="1"/>
              <a:t>tư</a:t>
            </a: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EE5709-E4C6-4E16-A3F2-ED34C0BD84D8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1440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Content Placeholder 3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3319462"/>
          </a:xfrm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vi-VN" dirty="0"/>
              <a:t>Vai trò và trách nhiệm: lập kế hoạch, tạo lịch biểu, điều phối, và làm việc với các bên liên quan để đạt mục tiêu dự án.</a:t>
            </a:r>
          </a:p>
          <a:p>
            <a:pPr algn="just">
              <a:spcBef>
                <a:spcPct val="100000"/>
              </a:spcBef>
            </a:pPr>
            <a:r>
              <a:rPr lang="vi-VN" dirty="0"/>
              <a:t>Lưu ý: </a:t>
            </a:r>
            <a:r>
              <a:rPr lang="vi-VN" b="1" dirty="0">
                <a:solidFill>
                  <a:srgbClr val="FF0000"/>
                </a:solidFill>
              </a:rPr>
              <a:t>97</a:t>
            </a:r>
            <a:r>
              <a:rPr lang="vi-VN" dirty="0">
                <a:solidFill>
                  <a:srgbClr val="FF0000"/>
                </a:solidFill>
              </a:rPr>
              <a:t>%</a:t>
            </a:r>
            <a:r>
              <a:rPr lang="vi-VN" dirty="0"/>
              <a:t> các dự án thành công quản lý bởi các giám đốc dự án có kinh nghiệm - người giúp tác động đến các nhân tố thành công của dự án.</a:t>
            </a:r>
            <a:endParaRPr lang="en-US" dirty="0"/>
          </a:p>
        </p:txBody>
      </p:sp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1.4 </a:t>
            </a:r>
            <a:r>
              <a:rPr lang="en-US" sz="4400" dirty="0" err="1">
                <a:solidFill>
                  <a:srgbClr val="FF0000"/>
                </a:solidFill>
              </a:rPr>
              <a:t>Vai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trò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của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giám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đốc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dự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án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BB5399D-7FF4-4603-99A0-4BD1F7EE85E4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5029200"/>
            <a:ext cx="2831986" cy="1839098"/>
          </a:xfrm>
          <a:prstGeom prst="rect">
            <a:avLst/>
          </a:prstGeom>
        </p:spPr>
      </p:pic>
      <p:sp>
        <p:nvSpPr>
          <p:cNvPr id="6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4963"/>
            <a:ext cx="8077200" cy="3881437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PMPOK…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,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mực</a:t>
            </a:r>
            <a:r>
              <a:rPr lang="en-US" dirty="0"/>
              <a:t>, và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và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quản lý </a:t>
            </a:r>
            <a:r>
              <a:rPr lang="en-US" dirty="0" err="1"/>
              <a:t>chung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-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.</a:t>
            </a: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3058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kỹ</a:t>
            </a:r>
            <a:r>
              <a:rPr lang="en-US" sz="4000" dirty="0"/>
              <a:t> </a:t>
            </a:r>
            <a:r>
              <a:rPr lang="en-US" sz="4000" dirty="0" err="1"/>
              <a:t>năng</a:t>
            </a:r>
            <a:r>
              <a:rPr lang="en-US" sz="4000" dirty="0"/>
              <a:t> </a:t>
            </a:r>
            <a:r>
              <a:rPr lang="en-US" sz="4000" dirty="0" err="1"/>
              <a:t>của</a:t>
            </a:r>
            <a:r>
              <a:rPr lang="en-US" sz="4000" dirty="0"/>
              <a:t> </a:t>
            </a:r>
            <a:r>
              <a:rPr lang="en-US" sz="4000" dirty="0" err="1"/>
              <a:t>giám</a:t>
            </a:r>
            <a:r>
              <a:rPr lang="en-US" sz="4000" dirty="0"/>
              <a:t> </a:t>
            </a:r>
            <a:r>
              <a:rPr lang="en-US" sz="4000" dirty="0" err="1"/>
              <a:t>đốc</a:t>
            </a:r>
            <a:r>
              <a:rPr lang="en-US" sz="4000" dirty="0"/>
              <a:t> </a:t>
            </a:r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endParaRPr lang="en-US" sz="4000" dirty="0"/>
          </a:p>
        </p:txBody>
      </p:sp>
      <p:sp>
        <p:nvSpPr>
          <p:cNvPr id="41988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36ECF7-8567-4808-B33A-1102952D5552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10 </a:t>
            </a:r>
            <a:r>
              <a:rPr lang="en-US" sz="3600" dirty="0" err="1"/>
              <a:t>kỹ</a:t>
            </a:r>
            <a:r>
              <a:rPr lang="en-US" sz="3600" dirty="0"/>
              <a:t> </a:t>
            </a:r>
            <a:r>
              <a:rPr lang="en-US" sz="3600" dirty="0" err="1"/>
              <a:t>năng</a:t>
            </a:r>
            <a:r>
              <a:rPr lang="en-US" sz="3600" dirty="0"/>
              <a:t> và </a:t>
            </a:r>
            <a:r>
              <a:rPr lang="en-US" sz="3600" dirty="0" err="1"/>
              <a:t>năng</a:t>
            </a:r>
            <a:r>
              <a:rPr lang="en-US" sz="3600" dirty="0"/>
              <a:t> </a:t>
            </a:r>
            <a:r>
              <a:rPr lang="en-US" sz="3600" dirty="0" err="1"/>
              <a:t>lực</a:t>
            </a:r>
            <a:r>
              <a:rPr lang="en-US" sz="3600" dirty="0"/>
              <a:t> </a:t>
            </a:r>
            <a:r>
              <a:rPr lang="en-US" sz="3600" dirty="0" err="1"/>
              <a:t>giám</a:t>
            </a:r>
            <a:r>
              <a:rPr lang="en-US" sz="3600" dirty="0"/>
              <a:t> </a:t>
            </a:r>
            <a:r>
              <a:rPr lang="en-US" sz="3600" dirty="0" err="1"/>
              <a:t>đốc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1F201878-C638-47B4-9B50-A9EAB8702767}" type="slidenum">
              <a:rPr lang="en-US"/>
              <a:pPr>
                <a:buFontTx/>
                <a:buNone/>
                <a:defRPr/>
              </a:pPr>
              <a:t>27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98086"/>
            <a:ext cx="7162800" cy="4745514"/>
          </a:xfrm>
          <a:prstGeom prst="rect">
            <a:avLst/>
          </a:prstGeom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2667000" y="6051625"/>
            <a:ext cx="6400800" cy="8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600" dirty="0"/>
              <a:t>* Jennifer </a:t>
            </a:r>
            <a:r>
              <a:rPr lang="en-US" sz="1600" dirty="0" err="1"/>
              <a:t>Krahn</a:t>
            </a:r>
            <a:r>
              <a:rPr lang="en-US" sz="1600" dirty="0"/>
              <a:t>, “A Combination of Project Manager Skills and  Competencies in Context,” PMI Research Conference (2006).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1600" dirty="0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Content Placeholder 3"/>
          <p:cNvSpPr>
            <a:spLocks noGrp="1"/>
          </p:cNvSpPr>
          <p:nvPr>
            <p:ph idx="1"/>
          </p:nvPr>
        </p:nvSpPr>
        <p:spPr>
          <a:xfrm>
            <a:off x="685800" y="2057400"/>
            <a:ext cx="7772400" cy="25146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algn="just"/>
            <a:r>
              <a:rPr lang="vi-VN" sz="2400" dirty="0"/>
              <a:t>2014: các 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CIO</a:t>
            </a:r>
            <a:r>
              <a:rPr lang="vi-VN" sz="2400" dirty="0"/>
              <a:t> liệt kê “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 kỹ năng nóng nhất</a:t>
            </a:r>
            <a:r>
              <a:rPr lang="vi-VN" sz="2400" dirty="0"/>
              <a:t>” cho kế hoạch nhân sự 2015...</a:t>
            </a:r>
          </a:p>
          <a:p>
            <a:pPr algn="just"/>
            <a:endParaRPr lang="vi-VN" sz="1000" dirty="0"/>
          </a:p>
          <a:p>
            <a:pPr algn="just"/>
            <a:r>
              <a:rPr lang="vi-VN" sz="2400" dirty="0"/>
              <a:t>QLDA đứng thứ </a:t>
            </a:r>
            <a:r>
              <a:rPr lang="vi-VN" sz="2400" b="1" dirty="0">
                <a:solidFill>
                  <a:srgbClr val="FF0000"/>
                </a:solidFill>
              </a:rPr>
              <a:t>2</a:t>
            </a:r>
            <a:r>
              <a:rPr lang="vi-VN" sz="2400" dirty="0"/>
              <a:t>...</a:t>
            </a:r>
          </a:p>
          <a:p>
            <a:pPr algn="just"/>
            <a:endParaRPr lang="vi-VN" sz="1000" dirty="0"/>
          </a:p>
          <a:p>
            <a:pPr algn="just"/>
            <a:r>
              <a:rPr lang="vi-VN" sz="2400" dirty="0"/>
              <a:t>... nếu chọn vai trò kỹ thuật, vẫn cần kiến thức và kỹ năng QLDA để hỗ trợ đội/nhóm và tổ chức.</a:t>
            </a:r>
            <a:endParaRPr lang="en-US" sz="2400" dirty="0"/>
          </a:p>
        </p:txBody>
      </p:sp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Nghề</a:t>
            </a:r>
            <a:r>
              <a:rPr lang="en-US" sz="3600" dirty="0"/>
              <a:t> </a:t>
            </a:r>
            <a:r>
              <a:rPr lang="en-US" sz="3600" dirty="0" err="1"/>
              <a:t>nghiệp</a:t>
            </a:r>
            <a:r>
              <a:rPr lang="en-US" sz="3600" dirty="0"/>
              <a:t> quản lý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HTTT</a:t>
            </a:r>
          </a:p>
        </p:txBody>
      </p:sp>
      <p:sp>
        <p:nvSpPr>
          <p:cNvPr id="46083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DFA8B34-76AB-4EE8-919F-3AC6DDD25898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10 </a:t>
            </a:r>
            <a:r>
              <a:rPr lang="en-US" sz="3600" dirty="0" err="1"/>
              <a:t>kỹ</a:t>
            </a:r>
            <a:r>
              <a:rPr lang="en-US" sz="3600" dirty="0"/>
              <a:t> </a:t>
            </a:r>
            <a:r>
              <a:rPr lang="en-US" sz="3600" dirty="0" err="1"/>
              <a:t>năng</a:t>
            </a:r>
            <a:r>
              <a:rPr lang="en-US" sz="3600" dirty="0"/>
              <a:t> CNTT/HTTT </a:t>
            </a:r>
            <a:r>
              <a:rPr lang="en-US" sz="3600" dirty="0" err="1"/>
              <a:t>nóng</a:t>
            </a:r>
            <a:r>
              <a:rPr lang="en-US" sz="3600" dirty="0"/>
              <a:t> </a:t>
            </a:r>
            <a:r>
              <a:rPr lang="en-US" sz="3600" dirty="0" err="1"/>
              <a:t>nhất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84603B-DDE4-4FBD-A7B8-BEDE3E1684B7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2062"/>
            <a:ext cx="9143999" cy="4681538"/>
          </a:xfrm>
          <a:prstGeom prst="rect">
            <a:avLst/>
          </a:prstGeom>
        </p:spPr>
      </p:pic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2819400" y="6044625"/>
            <a:ext cx="6248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600" dirty="0"/>
              <a:t>* Mary K. Pratt, “10 Hottest IT Skills for 2015,” Computerworld (2014).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1600" dirty="0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524000"/>
            <a:ext cx="8001000" cy="3548062"/>
          </a:xfrm>
        </p:spPr>
        <p:txBody>
          <a:bodyPr/>
          <a:lstStyle/>
          <a:p>
            <a:pPr algn="just"/>
            <a:r>
              <a:rPr lang="vi-VN" b="1" dirty="0"/>
              <a:t>Văn phòng quản lý dự án </a:t>
            </a:r>
            <a:r>
              <a:rPr lang="vi-VN" dirty="0"/>
              <a:t>- </a:t>
            </a:r>
            <a:r>
              <a:rPr lang="vi-VN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PMO</a:t>
            </a:r>
            <a:r>
              <a:rPr lang="vi-VN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Project Management Office</a:t>
            </a:r>
            <a:r>
              <a:rPr lang="vi-VN" dirty="0"/>
              <a:t>): bộ phận chịu trách nhiệm điều phối các chức năng QLDA trong tổ chức.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Khoảng 100 năm trước, nhiều công ty đã bắt đầu tạo ra các PMO để giúp xử công việc các dự án ngày càng tăng và càng phức tạp...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</a:rPr>
              <a:t>Văn </a:t>
            </a:r>
            <a:r>
              <a:rPr lang="en-US" sz="4000" dirty="0" err="1">
                <a:solidFill>
                  <a:srgbClr val="0070C0"/>
                </a:solidFill>
              </a:rPr>
              <a:t>phòng</a:t>
            </a:r>
            <a:r>
              <a:rPr lang="en-US" sz="4000" dirty="0">
                <a:solidFill>
                  <a:srgbClr val="0070C0"/>
                </a:solidFill>
              </a:rPr>
              <a:t> quản lý </a:t>
            </a:r>
            <a:r>
              <a:rPr lang="en-US" sz="4000" dirty="0" err="1">
                <a:solidFill>
                  <a:srgbClr val="0070C0"/>
                </a:solidFill>
              </a:rPr>
              <a:t>dự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án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8276A5-8D43-491D-83BE-00FCABAA151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6" name="Picture 2" descr="8 Key Skills Every Project Manager Needs - be a good communicator | Teamwork.com High Performance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296" y="4648200"/>
            <a:ext cx="407290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95711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Sự</a:t>
            </a:r>
            <a:r>
              <a:rPr lang="en-US" sz="3600" dirty="0"/>
              <a:t> </a:t>
            </a:r>
            <a:r>
              <a:rPr lang="en-US" sz="3600" dirty="0" err="1"/>
              <a:t>phát</a:t>
            </a:r>
            <a:r>
              <a:rPr lang="en-US" sz="3600" dirty="0"/>
              <a:t> triển </a:t>
            </a:r>
            <a:r>
              <a:rPr lang="en-US" sz="3600" dirty="0" err="1"/>
              <a:t>của</a:t>
            </a:r>
            <a:r>
              <a:rPr lang="en-US" sz="3600" dirty="0"/>
              <a:t> PMO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8276A5-8D43-491D-83BE-00FCABAA151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2971800" y="6273225"/>
            <a:ext cx="5181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600" dirty="0"/>
              <a:t>* PM Solutions, “The State of the PMO 2010“ (2010).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057275"/>
            <a:ext cx="6019800" cy="5114925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30337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57338"/>
            <a:ext cx="7772400" cy="3929062"/>
          </a:xfrm>
        </p:spPr>
        <p:txBody>
          <a:bodyPr/>
          <a:lstStyle/>
          <a:p>
            <a:pPr algn="just"/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quản lý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chuyên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nghiệp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-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Project Management Professional</a:t>
            </a:r>
            <a:r>
              <a:rPr lang="en-US" dirty="0"/>
              <a:t>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PMI.</a:t>
            </a:r>
          </a:p>
          <a:p>
            <a:pPr algn="just"/>
            <a:endParaRPr lang="en-US" sz="1000" dirty="0"/>
          </a:p>
          <a:p>
            <a:pPr algn="just"/>
            <a:r>
              <a:rPr lang="vi-VN" dirty="0"/>
              <a:t>PMP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dirty="0"/>
              <a:t>phải có kinh nghiệm về dự án, tuân thủ theo các quy tắt đạo đức, và phải vượt qua kỳ thi của PMI.</a:t>
            </a:r>
          </a:p>
          <a:p>
            <a:pPr algn="just"/>
            <a:endParaRPr lang="en-US" sz="1000" dirty="0"/>
          </a:p>
          <a:p>
            <a:pPr algn="just"/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PMP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…</a:t>
            </a:r>
          </a:p>
          <a:p>
            <a:pPr marL="109537" indent="0" algn="just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1.5 Quản lý </a:t>
            </a:r>
            <a:r>
              <a:rPr lang="en-US" sz="4000" dirty="0" err="1">
                <a:solidFill>
                  <a:srgbClr val="FF0000"/>
                </a:solidFill>
              </a:rPr>
              <a:t>dự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án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chuyên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nghiệp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EA2818A-E5D0-46E1-BC85-9BA773441C31}" type="slidenum">
              <a:rPr lang="en-US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EF8FD3-20C3-4722-8FDD-3EABF09AC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5257800"/>
            <a:ext cx="3405844" cy="11794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969"/>
            <a:ext cx="8229600" cy="1143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dirty="0" err="1"/>
              <a:t>Số</a:t>
            </a:r>
            <a:r>
              <a:rPr lang="en-US" sz="3600" dirty="0"/>
              <a:t> </a:t>
            </a:r>
            <a:r>
              <a:rPr lang="en-US" sz="3600" dirty="0" err="1"/>
              <a:t>lượng</a:t>
            </a:r>
            <a:r>
              <a:rPr lang="en-US" sz="3600" dirty="0"/>
              <a:t> PMP </a:t>
            </a:r>
            <a:r>
              <a:rPr lang="en-US" sz="3600" dirty="0" err="1"/>
              <a:t>trên</a:t>
            </a:r>
            <a:r>
              <a:rPr lang="en-US" sz="3600" dirty="0"/>
              <a:t> </a:t>
            </a:r>
            <a:r>
              <a:rPr lang="en-US" sz="3600" dirty="0" err="1"/>
              <a:t>thế</a:t>
            </a:r>
            <a:r>
              <a:rPr lang="en-US" sz="3600" dirty="0"/>
              <a:t> </a:t>
            </a:r>
            <a:r>
              <a:rPr lang="en-US" sz="3600" dirty="0" err="1"/>
              <a:t>giới</a:t>
            </a: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69AE74A6-F124-40D4-98A6-74087BBAA6A0}" type="slidenum">
              <a:rPr lang="en-US"/>
              <a:pPr>
                <a:buFontTx/>
                <a:buNone/>
                <a:defRPr/>
              </a:pPr>
              <a:t>33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1D80E5-B21D-448E-A671-36B0AADF1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062"/>
            <a:ext cx="9144000" cy="47153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0A050A-9DB9-4CBE-80D2-C7A233823410}"/>
              </a:ext>
            </a:extLst>
          </p:cNvPr>
          <p:cNvSpPr/>
          <p:nvPr/>
        </p:nvSpPr>
        <p:spPr>
          <a:xfrm>
            <a:off x="4612445" y="5943600"/>
            <a:ext cx="30075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dirty="0">
                <a:latin typeface="+mj-lt"/>
              </a:rPr>
              <a:t>Nguồn: </a:t>
            </a:r>
            <a:r>
              <a:rPr lang="vi-VN" sz="2000">
                <a:latin typeface="+mj-lt"/>
              </a:rPr>
              <a:t>Schwalbe (20</a:t>
            </a:r>
            <a:r>
              <a:rPr lang="en-US" sz="2000">
                <a:latin typeface="+mj-lt"/>
              </a:rPr>
              <a:t>19</a:t>
            </a:r>
            <a:r>
              <a:rPr lang="vi-VN" sz="2000">
                <a:latin typeface="+mj-lt"/>
              </a:rPr>
              <a:t>)</a:t>
            </a:r>
            <a:endParaRPr lang="vi-VN" sz="2000" dirty="0">
              <a:latin typeface="+mj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969"/>
            <a:ext cx="8229600" cy="1143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dirty="0" err="1"/>
              <a:t>Số</a:t>
            </a:r>
            <a:r>
              <a:rPr lang="en-US" sz="3600" dirty="0"/>
              <a:t> </a:t>
            </a:r>
            <a:r>
              <a:rPr lang="en-US" sz="3600" dirty="0" err="1"/>
              <a:t>lượng</a:t>
            </a:r>
            <a:r>
              <a:rPr lang="en-US" sz="3600" dirty="0"/>
              <a:t> PMP ở </a:t>
            </a:r>
            <a:r>
              <a:rPr lang="en-US" sz="3600" dirty="0" err="1"/>
              <a:t>Việt</a:t>
            </a:r>
            <a:r>
              <a:rPr lang="en-US" sz="3600" dirty="0"/>
              <a:t> Nam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69AE74A6-F124-40D4-98A6-74087BBAA6A0}" type="slidenum">
              <a:rPr lang="en-US"/>
              <a:pPr>
                <a:buFontTx/>
                <a:buNone/>
                <a:defRPr/>
              </a:pPr>
              <a:t>34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38" y="1219200"/>
            <a:ext cx="8542362" cy="4419600"/>
          </a:xfrm>
          <a:prstGeom prst="rect">
            <a:avLst/>
          </a:prstGeom>
        </p:spPr>
      </p:pic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3962400" y="5983069"/>
            <a:ext cx="4495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800" dirty="0"/>
              <a:t>* Cao Hào Thi &amp; Nguyễn Duy </a:t>
            </a:r>
            <a:r>
              <a:rPr lang="en-US" sz="1800"/>
              <a:t>Thanh (2016)</a:t>
            </a:r>
            <a:endParaRPr lang="en-US" sz="1800" dirty="0"/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18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748821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969"/>
            <a:ext cx="8229600" cy="1143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dirty="0"/>
              <a:t>PMI - PMP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69AE74A6-F124-40D4-98A6-74087BBAA6A0}" type="slidenum">
              <a:rPr lang="en-US"/>
              <a:pPr>
                <a:buFontTx/>
                <a:buNone/>
                <a:defRPr/>
              </a:pPr>
              <a:t>35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2F5146-0F96-4CEA-9911-16EAA36AC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2"/>
            <a:ext cx="9144000" cy="683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1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3548062"/>
          </a:xfrm>
        </p:spPr>
        <p:txBody>
          <a:bodyPr/>
          <a:lstStyle/>
          <a:p>
            <a:pPr marL="274320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vi-VN" dirty="0"/>
              <a:t>Có nhiều phần mềm hỗ trợ QLDA.</a:t>
            </a:r>
          </a:p>
          <a:p>
            <a:pPr marL="274320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endParaRPr lang="vi-VN" sz="1000" dirty="0"/>
          </a:p>
          <a:p>
            <a:pPr marL="274320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vi-VN" dirty="0"/>
              <a:t>3 loại chính...</a:t>
            </a:r>
          </a:p>
          <a:p>
            <a:pPr marL="598488" lvl="1" indent="-34290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Thấp cấp</a:t>
            </a:r>
            <a:r>
              <a:rPr lang="vi-VN" sz="2400" dirty="0"/>
              <a:t>: dự án nhỏ lẻ (v.d., ứng dụng trên di động...).</a:t>
            </a:r>
          </a:p>
          <a:p>
            <a:pPr marL="598488" lvl="1" indent="-34290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Trung bình</a:t>
            </a:r>
            <a:r>
              <a:rPr lang="vi-VN" sz="2400" dirty="0"/>
              <a:t>: nhiều dự án và người dùng (v.d., MS Project).</a:t>
            </a:r>
          </a:p>
          <a:p>
            <a:pPr marL="598488" lvl="1" indent="-34290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Cao cấp</a:t>
            </a:r>
            <a:r>
              <a:rPr lang="vi-VN" sz="2400" dirty="0"/>
              <a:t>: phần mềm QLDA doanh nghiệp (v.d., PMIS).</a:t>
            </a:r>
          </a:p>
          <a:p>
            <a:pPr marL="529908" lvl="1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endParaRPr lang="vi-VN" sz="1000" dirty="0"/>
          </a:p>
          <a:p>
            <a:pPr marL="274320" indent="-274320" algn="just" fontAlgn="auto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defRPr/>
            </a:pPr>
            <a:r>
              <a:rPr lang="vi-VN" dirty="0"/>
              <a:t>Các công cụ miễn phí hoặc mã nguồn mở khác...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Phần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mềm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hỗ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trợ</a:t>
            </a:r>
            <a:r>
              <a:rPr lang="en-US" sz="4000" dirty="0">
                <a:solidFill>
                  <a:srgbClr val="0070C0"/>
                </a:solidFill>
              </a:rPr>
              <a:t> QLDA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8276A5-8D43-491D-83BE-00FCABAA1517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pic>
        <p:nvPicPr>
          <p:cNvPr id="1026" name="Picture 2" descr="Kết quả hình ảnh cho ms project 2019 logo">
            <a:extLst>
              <a:ext uri="{FF2B5EF4-FFF2-40B4-BE49-F238E27FC236}">
                <a16:creationId xmlns:a16="http://schemas.microsoft.com/office/drawing/2014/main" id="{E31D738A-4F57-44D4-A9C3-C9B992297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779169"/>
            <a:ext cx="1856993" cy="162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26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905000"/>
            <a:ext cx="9144000" cy="1044575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vi-VN" sz="3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BỐI CẢNH HỆ THỐNG THÔNG TIN</a:t>
            </a:r>
            <a:endParaRPr sz="36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038600"/>
            <a:ext cx="2141204" cy="2362200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6090" y="3048000"/>
            <a:ext cx="847071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US" sz="2000" spc="115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Information Systems Context</a:t>
            </a:r>
          </a:p>
        </p:txBody>
      </p:sp>
    </p:spTree>
    <p:extLst>
      <p:ext uri="{BB962C8B-B14F-4D97-AF65-F5344CB8AC3E}">
        <p14:creationId xmlns:p14="http://schemas.microsoft.com/office/powerpoint/2010/main" val="3429876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23887"/>
            <a:ext cx="7772400" cy="900113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600" dirty="0">
                <a:effectLst/>
              </a:rPr>
              <a:t>2. BỐI CẢNH HỆ THỐNG THÔNG TIN</a:t>
            </a:r>
          </a:p>
        </p:txBody>
      </p:sp>
      <p:grpSp>
        <p:nvGrpSpPr>
          <p:cNvPr id="36" name="Group 42"/>
          <p:cNvGrpSpPr>
            <a:grpSpLocks/>
          </p:cNvGrpSpPr>
          <p:nvPr/>
        </p:nvGrpSpPr>
        <p:grpSpPr bwMode="auto">
          <a:xfrm>
            <a:off x="1142999" y="1801813"/>
            <a:ext cx="7031454" cy="838200"/>
            <a:chOff x="1296" y="1824"/>
            <a:chExt cx="3010" cy="432"/>
          </a:xfrm>
        </p:grpSpPr>
        <p:sp>
          <p:nvSpPr>
            <p:cNvPr id="41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gray">
            <a:xfrm>
              <a:off x="1720" y="1934"/>
              <a:ext cx="2586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GÓC NHÌN HỆ THỐNG CỦA DỰ ÁN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endParaRP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gray">
            <a:xfrm>
              <a:off x="1356" y="1914"/>
              <a:ext cx="293" cy="2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2.1</a:t>
              </a:r>
            </a:p>
          </p:txBody>
        </p:sp>
      </p:grpSp>
      <p:grpSp>
        <p:nvGrpSpPr>
          <p:cNvPr id="45" name="Group 52"/>
          <p:cNvGrpSpPr>
            <a:grpSpLocks/>
          </p:cNvGrpSpPr>
          <p:nvPr/>
        </p:nvGrpSpPr>
        <p:grpSpPr bwMode="auto">
          <a:xfrm>
            <a:off x="1143000" y="2667000"/>
            <a:ext cx="7717790" cy="838200"/>
            <a:chOff x="1296" y="1824"/>
            <a:chExt cx="3304" cy="432"/>
          </a:xfrm>
        </p:grpSpPr>
        <p:sp>
          <p:nvSpPr>
            <p:cNvPr id="46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gray">
            <a:xfrm>
              <a:off x="1720" y="1934"/>
              <a:ext cx="2880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cs typeface="Arial" charset="0"/>
                </a:rPr>
                <a:t>CẤU TRÚC TỔ CHỨC DỰ ÁN</a:t>
              </a: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gray">
            <a:xfrm>
              <a:off x="1357" y="1901"/>
              <a:ext cx="293" cy="2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2.2</a:t>
              </a:r>
            </a:p>
          </p:txBody>
        </p:sp>
      </p:grpSp>
      <p:grpSp>
        <p:nvGrpSpPr>
          <p:cNvPr id="50" name="Group 57"/>
          <p:cNvGrpSpPr>
            <a:grpSpLocks/>
          </p:cNvGrpSpPr>
          <p:nvPr/>
        </p:nvGrpSpPr>
        <p:grpSpPr bwMode="auto">
          <a:xfrm>
            <a:off x="1143000" y="3505200"/>
            <a:ext cx="7150589" cy="838200"/>
            <a:chOff x="1296" y="1824"/>
            <a:chExt cx="3061" cy="432"/>
          </a:xfrm>
        </p:grpSpPr>
        <p:sp>
          <p:nvSpPr>
            <p:cNvPr id="51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 Box 60"/>
            <p:cNvSpPr txBox="1">
              <a:spLocks noChangeArrowheads="1"/>
            </p:cNvSpPr>
            <p:nvPr/>
          </p:nvSpPr>
          <p:spPr bwMode="gray">
            <a:xfrm>
              <a:off x="1720" y="1920"/>
              <a:ext cx="2637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Arial" charset="0"/>
                </a:rPr>
                <a:t>CÁC GIAI ĐOẠN VÀ VÒNG ĐỜI DỰ ÁN</a:t>
              </a: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 bwMode="gray">
            <a:xfrm>
              <a:off x="1357" y="1901"/>
              <a:ext cx="293" cy="2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2.3</a:t>
              </a:r>
            </a:p>
          </p:txBody>
        </p:sp>
      </p:grpSp>
      <p:sp>
        <p:nvSpPr>
          <p:cNvPr id="1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grpSp>
        <p:nvGrpSpPr>
          <p:cNvPr id="20" name="Group 52"/>
          <p:cNvGrpSpPr>
            <a:grpSpLocks/>
          </p:cNvGrpSpPr>
          <p:nvPr/>
        </p:nvGrpSpPr>
        <p:grpSpPr bwMode="auto">
          <a:xfrm>
            <a:off x="1143000" y="4343400"/>
            <a:ext cx="7717790" cy="838200"/>
            <a:chOff x="1296" y="1824"/>
            <a:chExt cx="3304" cy="432"/>
          </a:xfrm>
        </p:grpSpPr>
        <p:sp>
          <p:nvSpPr>
            <p:cNvPr id="21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Text Box 55"/>
            <p:cNvSpPr txBox="1">
              <a:spLocks noChangeArrowheads="1"/>
            </p:cNvSpPr>
            <p:nvPr/>
          </p:nvSpPr>
          <p:spPr bwMode="gray">
            <a:xfrm>
              <a:off x="1720" y="1934"/>
              <a:ext cx="2880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cs typeface="Arial" charset="0"/>
                </a:rPr>
                <a:t>BỐI CẢNH CỦA DỰ ÁN HTTT</a:t>
              </a:r>
            </a:p>
          </p:txBody>
        </p:sp>
        <p:sp>
          <p:nvSpPr>
            <p:cNvPr id="24" name="Text Box 56"/>
            <p:cNvSpPr txBox="1">
              <a:spLocks noChangeArrowheads="1"/>
            </p:cNvSpPr>
            <p:nvPr/>
          </p:nvSpPr>
          <p:spPr bwMode="gray">
            <a:xfrm>
              <a:off x="1356" y="1901"/>
              <a:ext cx="293" cy="2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2.4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767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51038"/>
            <a:ext cx="8229600" cy="3459162"/>
          </a:xfrm>
        </p:spPr>
        <p:txBody>
          <a:bodyPr/>
          <a:lstStyle/>
          <a:p>
            <a:pPr algn="just"/>
            <a:r>
              <a:rPr lang="vi-VN" dirty="0"/>
              <a:t>Dự án phải hoạt động trong môi trường tổ chức.</a:t>
            </a:r>
            <a:br>
              <a:rPr lang="vi-VN" dirty="0"/>
            </a:br>
            <a:endParaRPr lang="vi-VN" sz="1200" dirty="0"/>
          </a:p>
          <a:p>
            <a:pPr algn="just"/>
            <a:r>
              <a:rPr lang="vi-VN" dirty="0"/>
              <a:t>QLDA cần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tư duy hệ thống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systems thinking</a:t>
            </a:r>
            <a:r>
              <a:rPr lang="vi-VN" dirty="0"/>
              <a:t>)...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Có gốc nhìn toàn diện của dự án với bối cảnh tổ chức.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vi-VN" sz="1200" dirty="0"/>
          </a:p>
          <a:p>
            <a:pPr algn="just"/>
            <a:r>
              <a:rPr lang="vi-VN" dirty="0"/>
              <a:t>Quản lý cấp cao đảm bảo dự án được tiếp tục thực hiện để hỗ trợ các yêu cầu kinh doanh...</a:t>
            </a:r>
            <a:endParaRPr lang="en-US" dirty="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r>
              <a:rPr lang="en-US" sz="4000" dirty="0"/>
              <a:t> </a:t>
            </a:r>
            <a:r>
              <a:rPr lang="en-US" sz="4000" dirty="0" err="1"/>
              <a:t>không</a:t>
            </a:r>
            <a:r>
              <a:rPr lang="en-US" sz="4000" dirty="0"/>
              <a:t> </a:t>
            </a:r>
            <a:r>
              <a:rPr lang="en-US" sz="4000" dirty="0" err="1"/>
              <a:t>thể</a:t>
            </a:r>
            <a:r>
              <a:rPr lang="en-US" sz="4000" dirty="0"/>
              <a:t> </a:t>
            </a:r>
            <a:r>
              <a:rPr lang="en-US" sz="4000" dirty="0" err="1"/>
              <a:t>chạy</a:t>
            </a:r>
            <a:r>
              <a:rPr lang="en-US" sz="4000" dirty="0"/>
              <a:t> </a:t>
            </a:r>
            <a:r>
              <a:rPr lang="en-US" sz="4000" dirty="0" err="1"/>
              <a:t>độc</a:t>
            </a:r>
            <a:r>
              <a:rPr lang="en-US" sz="4000" dirty="0"/>
              <a:t> </a:t>
            </a:r>
            <a:r>
              <a:rPr lang="en-US" sz="4000" dirty="0" err="1"/>
              <a:t>lập</a:t>
            </a:r>
            <a:endParaRPr lang="en-US" sz="4000" dirty="0"/>
          </a:p>
        </p:txBody>
      </p:sp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3A963B-2A76-42DC-B4A5-25130FB0888A}" type="slidenum">
              <a:rPr lang="en-US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50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305800" cy="4191000"/>
          </a:xfrm>
        </p:spPr>
        <p:txBody>
          <a:bodyPr/>
          <a:lstStyle/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Tiếp cận hệ thống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systems approach</a:t>
            </a:r>
            <a:r>
              <a:rPr lang="vi-VN" dirty="0"/>
              <a:t>) có từ 1950s - tiếp cận để quản lý và giải quyết vấn đề.</a:t>
            </a:r>
          </a:p>
          <a:p>
            <a:pPr algn="just"/>
            <a:endParaRPr lang="vi-VN" sz="1000" dirty="0"/>
          </a:p>
          <a:p>
            <a:pPr algn="just"/>
            <a:r>
              <a:rPr lang="vi-VN" dirty="0"/>
              <a:t>Có 3 thành phần...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Triết lý hệ thống</a:t>
            </a:r>
            <a:r>
              <a:rPr lang="vi-VN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systems philosophy</a:t>
            </a:r>
            <a:r>
              <a:rPr lang="vi-VN" sz="2400" dirty="0"/>
              <a:t>): mô hình tổng thể để tư duy mọi thứ như hệ thống...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 tích hệ thống</a:t>
            </a:r>
            <a:r>
              <a:rPr lang="vi-VN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systems analysis</a:t>
            </a:r>
            <a:r>
              <a:rPr lang="vi-VN" sz="2400" dirty="0"/>
              <a:t>): tiếp cận giải quyết vấn đề...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Quản lý hệ thống</a:t>
            </a:r>
            <a:r>
              <a:rPr lang="vi-VN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systems management</a:t>
            </a:r>
            <a:r>
              <a:rPr lang="vi-VN" sz="2400" dirty="0">
                <a:solidFill>
                  <a:srgbClr val="0070C0"/>
                </a:solidFill>
              </a:rPr>
              <a:t>)</a:t>
            </a:r>
            <a:r>
              <a:rPr lang="vi-VN" sz="2400" dirty="0"/>
              <a:t>: tiếp cận kinh doanh - kỹ thuật - tổ chức, trước khi áp vào hệ thống.</a:t>
            </a:r>
            <a:endParaRPr lang="en-US" sz="2400" dirty="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2.1 </a:t>
            </a:r>
            <a:r>
              <a:rPr lang="en-US" sz="4000" dirty="0" err="1">
                <a:solidFill>
                  <a:srgbClr val="FF0000"/>
                </a:solidFill>
              </a:rPr>
              <a:t>Góc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nhìn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hệ</a:t>
            </a:r>
            <a:r>
              <a:rPr lang="en-US" sz="4000" dirty="0">
                <a:solidFill>
                  <a:srgbClr val="FF0000"/>
                </a:solidFill>
              </a:rPr>
              <a:t> thống </a:t>
            </a:r>
            <a:r>
              <a:rPr lang="en-US" sz="4000" dirty="0" err="1">
                <a:solidFill>
                  <a:srgbClr val="FF0000"/>
                </a:solidFill>
              </a:rPr>
              <a:t>của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dự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án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C533D4-6C77-4C28-9310-1A48D750367A}" type="slidenum">
              <a:rPr lang="en-US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48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rgbClr val="0070C0"/>
                </a:solidFill>
              </a:rPr>
              <a:t>Mô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hình</a:t>
            </a:r>
            <a:r>
              <a:rPr lang="en-US" sz="3600" dirty="0">
                <a:solidFill>
                  <a:srgbClr val="0070C0"/>
                </a:solidFill>
              </a:rPr>
              <a:t> quản lý HTTT (BOT)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D84499-56DB-4FF3-8D99-174F9EB97545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762000" y="990601"/>
            <a:ext cx="7239000" cy="5029200"/>
            <a:chOff x="1181100" y="1057275"/>
            <a:chExt cx="6781800" cy="474345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1100" y="1057275"/>
              <a:ext cx="6781800" cy="474345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2200" y="1219200"/>
              <a:ext cx="4648200" cy="4115673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>
          <a:xfrm>
            <a:off x="4495800" y="6076890"/>
            <a:ext cx="30075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dirty="0">
                <a:latin typeface="+mj-lt"/>
              </a:rPr>
              <a:t>Nguồn: </a:t>
            </a:r>
            <a:r>
              <a:rPr lang="vi-VN" sz="2000">
                <a:latin typeface="+mj-lt"/>
              </a:rPr>
              <a:t>Schwalbe (20</a:t>
            </a:r>
            <a:r>
              <a:rPr lang="en-US" sz="2000">
                <a:latin typeface="+mj-lt"/>
              </a:rPr>
              <a:t>19</a:t>
            </a:r>
            <a:r>
              <a:rPr lang="vi-VN" sz="2000">
                <a:latin typeface="+mj-lt"/>
              </a:rPr>
              <a:t>)</a:t>
            </a:r>
            <a:endParaRPr lang="vi-VN" sz="2000" dirty="0">
              <a:latin typeface="+mj-lt"/>
            </a:endParaRPr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389823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27038"/>
            <a:ext cx="8229600" cy="792162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Tại</a:t>
            </a:r>
            <a:r>
              <a:rPr lang="en-US" sz="3600" dirty="0"/>
              <a:t> </a:t>
            </a:r>
            <a:r>
              <a:rPr lang="en-US" sz="3600" dirty="0" err="1"/>
              <a:t>sao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</a:t>
            </a:r>
            <a:r>
              <a:rPr lang="en-US" sz="3600" dirty="0" err="1"/>
              <a:t>thất</a:t>
            </a:r>
            <a:r>
              <a:rPr lang="en-US" sz="3600" dirty="0"/>
              <a:t> </a:t>
            </a:r>
            <a:r>
              <a:rPr lang="en-US" sz="3600" dirty="0" err="1"/>
              <a:t>bại</a:t>
            </a:r>
            <a:r>
              <a:rPr lang="en-US" sz="3600" dirty="0"/>
              <a:t>?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D84499-56DB-4FF3-8D99-174F9EB97545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457200" y="2057400"/>
            <a:ext cx="7162800" cy="264687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0070C0"/>
              </a:buClr>
              <a:buSzPct val="70000"/>
              <a:buFont typeface="Wingdings 3" panose="05040102010807070707" pitchFamily="18" charset="2"/>
              <a:buChar char="}"/>
            </a:pPr>
            <a:r>
              <a:rPr lang="vi-VN" sz="2400" dirty="0">
                <a:latin typeface="+mj-lt"/>
              </a:rPr>
              <a:t>Chỉ có </a:t>
            </a:r>
            <a:r>
              <a:rPr lang="vi-VN" sz="2400" b="1" dirty="0">
                <a:solidFill>
                  <a:srgbClr val="FF0000"/>
                </a:solidFill>
                <a:latin typeface="+mj-lt"/>
              </a:rPr>
              <a:t>12,5</a:t>
            </a:r>
            <a:r>
              <a:rPr lang="vi-VN" sz="2400" dirty="0">
                <a:solidFill>
                  <a:srgbClr val="FF0000"/>
                </a:solidFill>
                <a:latin typeface="+mj-lt"/>
              </a:rPr>
              <a:t>%</a:t>
            </a:r>
            <a:r>
              <a:rPr lang="vi-VN" sz="2400" dirty="0">
                <a:latin typeface="+mj-lt"/>
              </a:rPr>
              <a:t> các dự án thành công, đạt được mục tiêu phạm vi - thời gian - chi phí.</a:t>
            </a:r>
          </a:p>
          <a:p>
            <a:pPr marL="342900" indent="-342900" algn="just">
              <a:buClr>
                <a:srgbClr val="0070C0"/>
              </a:buClr>
              <a:buSzPct val="70000"/>
              <a:buFont typeface="Wingdings 3" panose="05040102010807070707" pitchFamily="18" charset="2"/>
              <a:buChar char="}"/>
            </a:pPr>
            <a:endParaRPr lang="vi-VN" sz="1200" dirty="0">
              <a:latin typeface="+mj-lt"/>
            </a:endParaRPr>
          </a:p>
          <a:p>
            <a:pPr marL="342900" indent="-342900" algn="just">
              <a:buClr>
                <a:srgbClr val="0070C0"/>
              </a:buClr>
              <a:buSzPct val="70000"/>
              <a:buFont typeface="Wingdings 3" panose="05040102010807070707" pitchFamily="18" charset="2"/>
              <a:buChar char="}"/>
            </a:pPr>
            <a:r>
              <a:rPr lang="vi-VN" sz="2400" dirty="0">
                <a:latin typeface="+mj-lt"/>
              </a:rPr>
              <a:t>Văn hóa tổ chức là rào cản cho sự thành công.</a:t>
            </a:r>
          </a:p>
          <a:p>
            <a:pPr marL="342900" indent="-342900" algn="just">
              <a:buClr>
                <a:srgbClr val="0070C0"/>
              </a:buClr>
              <a:buSzPct val="70000"/>
              <a:buFont typeface="Wingdings 3" panose="05040102010807070707" pitchFamily="18" charset="2"/>
              <a:buChar char="}"/>
            </a:pPr>
            <a:endParaRPr lang="vi-VN" sz="1200" dirty="0">
              <a:latin typeface="+mj-lt"/>
            </a:endParaRPr>
          </a:p>
          <a:p>
            <a:pPr marL="342900" indent="-342900" algn="just">
              <a:buClr>
                <a:srgbClr val="0070C0"/>
              </a:buClr>
              <a:buSzPct val="70000"/>
              <a:buFont typeface="Wingdings 3" panose="05040102010807070707" pitchFamily="18" charset="2"/>
              <a:buChar char="}"/>
            </a:pPr>
            <a:r>
              <a:rPr lang="vi-VN" sz="2400" dirty="0">
                <a:latin typeface="+mj-lt"/>
              </a:rPr>
              <a:t>Mọi người không quan tâm các vấn đề quan trọng... </a:t>
            </a:r>
          </a:p>
          <a:p>
            <a:pPr marL="800100" lvl="1" indent="-342900" algn="just">
              <a:buClr>
                <a:srgbClr val="0070C0"/>
              </a:buClr>
              <a:buFont typeface="Arial" pitchFamily="34" charset="0"/>
              <a:buChar char="•"/>
            </a:pPr>
            <a:r>
              <a:rPr lang="vi-VN" dirty="0">
                <a:latin typeface="+mj-lt"/>
              </a:rPr>
              <a:t>V.d., lãnh đạo, các bên liên quan, quản lý rủi ro...</a:t>
            </a:r>
            <a:endParaRPr lang="en-US" dirty="0">
              <a:latin typeface="+mj-lt"/>
              <a:cs typeface="Times New Roman" pitchFamily="18" charset="0"/>
            </a:endParaRPr>
          </a:p>
        </p:txBody>
      </p:sp>
      <p:pic>
        <p:nvPicPr>
          <p:cNvPr id="6" name="Picture 5" descr="transparent fail red word failur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249886"/>
            <a:ext cx="1530858" cy="103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09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76400"/>
            <a:ext cx="7391400" cy="4005262"/>
          </a:xfrm>
        </p:spPr>
        <p:txBody>
          <a:bodyPr/>
          <a:lstStyle/>
          <a:p>
            <a:pPr algn="just"/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…</a:t>
            </a:r>
          </a:p>
          <a:p>
            <a:pPr algn="just"/>
            <a:endParaRPr lang="en-US" sz="6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Chức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năng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functional</a:t>
            </a:r>
            <a:r>
              <a:rPr lang="en-US" sz="2400" dirty="0"/>
              <a:t>): </a:t>
            </a:r>
            <a:r>
              <a:rPr lang="en-US" sz="2400" dirty="0" err="1"/>
              <a:t>giám</a:t>
            </a:r>
            <a:r>
              <a:rPr lang="en-US" sz="2400" dirty="0"/>
              <a:t> </a:t>
            </a:r>
            <a:r>
              <a:rPr lang="en-US" sz="2400" dirty="0" err="1"/>
              <a:t>đốc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2400" dirty="0" err="1"/>
              <a:t>cáo</a:t>
            </a:r>
            <a:r>
              <a:rPr lang="en-US" sz="2400" dirty="0"/>
              <a:t> CEO.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en-US" sz="6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project</a:t>
            </a:r>
            <a:r>
              <a:rPr lang="en-US" sz="2400" dirty="0"/>
              <a:t>): </a:t>
            </a:r>
            <a:r>
              <a:rPr lang="en-US" sz="2400" dirty="0" err="1"/>
              <a:t>giám</a:t>
            </a:r>
            <a:r>
              <a:rPr lang="en-US" sz="2400" dirty="0"/>
              <a:t> </a:t>
            </a:r>
            <a:r>
              <a:rPr lang="en-US" sz="2400" dirty="0" err="1"/>
              <a:t>đốc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/</a:t>
            </a:r>
            <a:r>
              <a:rPr lang="en-US" sz="2400" dirty="0" err="1"/>
              <a:t>giám</a:t>
            </a:r>
            <a:r>
              <a:rPr lang="en-US" sz="2400" dirty="0"/>
              <a:t> </a:t>
            </a:r>
            <a:r>
              <a:rPr lang="en-US" sz="2400" dirty="0" err="1"/>
              <a:t>đốc</a:t>
            </a:r>
            <a:r>
              <a:rPr lang="en-US" sz="2400" dirty="0"/>
              <a:t> </a:t>
            </a:r>
            <a:r>
              <a:rPr lang="en-US" sz="2400" dirty="0" err="1"/>
              <a:t>chương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2400" dirty="0" err="1"/>
              <a:t>cáo</a:t>
            </a:r>
            <a:r>
              <a:rPr lang="en-US" sz="2400" dirty="0"/>
              <a:t> CEO.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en-US" sz="6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trận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matrix</a:t>
            </a:r>
            <a:r>
              <a:rPr lang="en-US" sz="2400" dirty="0"/>
              <a:t>): </a:t>
            </a:r>
            <a:r>
              <a:rPr lang="vi-VN" sz="2400" dirty="0"/>
              <a:t>lai ghép giữa chức năng và dự án. Báo cáo cho 2 hoặc hơn các “</a:t>
            </a:r>
            <a:r>
              <a:rPr lang="vi-VN" sz="2400" i="1" dirty="0"/>
              <a:t>sếp</a:t>
            </a:r>
            <a:r>
              <a:rPr lang="vi-VN" sz="2400" dirty="0"/>
              <a:t>”. </a:t>
            </a:r>
          </a:p>
          <a:p>
            <a:pPr lvl="2" algn="just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vi-VN" sz="2400" dirty="0"/>
              <a:t>Ma trận yếu - cân bằng - ma trận mạnh...</a:t>
            </a:r>
            <a:endParaRPr lang="en-US" sz="2400" dirty="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2.2 </a:t>
            </a:r>
            <a:r>
              <a:rPr lang="en-US" sz="4400" dirty="0" err="1">
                <a:solidFill>
                  <a:srgbClr val="FF0000"/>
                </a:solidFill>
              </a:rPr>
              <a:t>Cấu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trúc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tổ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chức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dự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án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4723D0A-DC20-4FDC-880A-596289672AA3}" type="slidenum">
              <a:rPr lang="en-US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8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199" y="14533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Cấu</a:t>
            </a:r>
            <a:r>
              <a:rPr lang="en-US" sz="3600" dirty="0"/>
              <a:t> </a:t>
            </a:r>
            <a:r>
              <a:rPr lang="en-US" sz="3600" dirty="0" err="1"/>
              <a:t>trúc</a:t>
            </a:r>
            <a:r>
              <a:rPr lang="en-US" sz="3600" dirty="0"/>
              <a:t> </a:t>
            </a:r>
            <a:r>
              <a:rPr lang="en-US" sz="3600" dirty="0" err="1"/>
              <a:t>tổ</a:t>
            </a:r>
            <a:r>
              <a:rPr lang="en-US" sz="3600" dirty="0"/>
              <a:t> </a:t>
            </a:r>
            <a:r>
              <a:rPr lang="en-US" sz="3600" dirty="0" err="1"/>
              <a:t>chức</a:t>
            </a:r>
            <a:r>
              <a:rPr lang="en-US" sz="3600" dirty="0"/>
              <a:t> </a:t>
            </a:r>
            <a:r>
              <a:rPr lang="en-US" sz="3600" dirty="0" err="1"/>
              <a:t>trong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D84499-56DB-4FF3-8D99-174F9EB97545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797" y="0"/>
            <a:ext cx="6791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0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46238"/>
            <a:ext cx="8153400" cy="4144962"/>
          </a:xfrm>
        </p:spPr>
        <p:txBody>
          <a:bodyPr/>
          <a:lstStyle/>
          <a:p>
            <a:pPr algn="just"/>
            <a:r>
              <a:rPr lang="vi-VN" dirty="0"/>
              <a:t>Quản lý cấp cao là các bên liên quan quan trọng của dự án.</a:t>
            </a:r>
          </a:p>
          <a:p>
            <a:pPr algn="just"/>
            <a:endParaRPr lang="vi-VN" sz="1000" dirty="0"/>
          </a:p>
          <a:p>
            <a:pPr algn="just"/>
            <a:r>
              <a:rPr lang="vi-VN" dirty="0"/>
              <a:t>Yếu tố quan trọng để giám đốc dự án thành công là sự cam kết và hỗ trợ từ quản lý cấp cao.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Nếu không có sự cam kết này, nhiều dự án bị thất bại.</a:t>
            </a:r>
          </a:p>
          <a:p>
            <a:pPr lvl="1" algn="just"/>
            <a:endParaRPr lang="vi-VN" sz="1200" dirty="0"/>
          </a:p>
          <a:p>
            <a:pPr algn="just"/>
            <a:r>
              <a:rPr lang="vi-VN" dirty="0"/>
              <a:t>Quản lý cao cấp được coi như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nhà vô địch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champion</a:t>
            </a:r>
            <a:r>
              <a:rPr lang="vi-VN" dirty="0"/>
              <a:t>) - người đề xướng chính cho dự án.</a:t>
            </a:r>
            <a:r>
              <a:rPr lang="en-US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4000" dirty="0"/>
              <a:t>Cam kết của quản lý cấp cao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36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38338"/>
            <a:ext cx="8001000" cy="3395662"/>
          </a:xfrm>
        </p:spPr>
        <p:txBody>
          <a:bodyPr/>
          <a:lstStyle/>
          <a:p>
            <a:pPr algn="just"/>
            <a:r>
              <a:rPr lang="vi-VN" dirty="0"/>
              <a:t>Nếu tổ chức có thái độ tiêu cực với HTTT, gây khó khăn cho sự thành công dự án.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Cần có CIO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dirty="0"/>
              <a:t>ở cấp cao trong tổ chức để giúp QLDA HTTT.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Phân công người không chuyên CNTT trong các dự án HTTT cũng khuyến khích sự cam kết.</a:t>
            </a:r>
            <a:endParaRPr lang="en-US" dirty="0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8991600" cy="1143000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Cam </a:t>
            </a:r>
            <a:r>
              <a:rPr lang="en-US" sz="4000" dirty="0" err="1"/>
              <a:t>kết</a:t>
            </a:r>
            <a:r>
              <a:rPr lang="en-US" sz="4000" dirty="0"/>
              <a:t> </a:t>
            </a:r>
            <a:r>
              <a:rPr lang="en-US" sz="4000" dirty="0" err="1"/>
              <a:t>của</a:t>
            </a:r>
            <a:r>
              <a:rPr lang="en-US" sz="4000" dirty="0"/>
              <a:t> </a:t>
            </a:r>
            <a:r>
              <a:rPr lang="en-US" sz="4000" dirty="0" err="1"/>
              <a:t>tổ</a:t>
            </a:r>
            <a:r>
              <a:rPr lang="en-US" sz="4000" dirty="0"/>
              <a:t> </a:t>
            </a:r>
            <a:r>
              <a:rPr lang="en-US" sz="4000" dirty="0" err="1"/>
              <a:t>chức</a:t>
            </a:r>
            <a:r>
              <a:rPr lang="en-US" sz="4000" dirty="0"/>
              <a:t> </a:t>
            </a:r>
            <a:r>
              <a:rPr lang="en-US" sz="4000" dirty="0" err="1"/>
              <a:t>cho</a:t>
            </a:r>
            <a:r>
              <a:rPr lang="en-US" sz="4000" dirty="0"/>
              <a:t> HTTT</a:t>
            </a:r>
            <a:endParaRPr lang="en-US" sz="4400" dirty="0"/>
          </a:p>
        </p:txBody>
      </p:sp>
      <p:sp>
        <p:nvSpPr>
          <p:cNvPr id="24578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C14C8-748D-45F4-A615-C9B861DBA90E}" type="slidenum">
              <a:rPr lang="en-US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3209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862138"/>
            <a:ext cx="8229600" cy="3776662"/>
          </a:xfrm>
        </p:spPr>
        <p:txBody>
          <a:bodyPr/>
          <a:lstStyle/>
          <a:p>
            <a:pPr algn="just"/>
            <a:r>
              <a:rPr lang="vi-VN" b="1" dirty="0"/>
              <a:t>Vòng đời dự án</a:t>
            </a:r>
            <a:r>
              <a:rPr lang="vi-VN" dirty="0"/>
              <a:t> (</a:t>
            </a:r>
            <a:r>
              <a:rPr lang="en-US" dirty="0">
                <a:solidFill>
                  <a:srgbClr val="0070C0"/>
                </a:solidFill>
              </a:rPr>
              <a:t>project life cycle</a:t>
            </a:r>
            <a:r>
              <a:rPr lang="vi-VN" dirty="0"/>
              <a:t>): tập hợp các giai đoạn dự án...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Các công việc được thực hiện trong từng giai đoạn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Các chuyển giao được thực hiện và các bên liên quan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vi-VN" sz="2400" dirty="0"/>
              <a:t>Quản lý kiểm soát và phê duyệt công việc thực hiện.</a:t>
            </a:r>
          </a:p>
          <a:p>
            <a:pPr lvl="1" algn="just"/>
            <a:endParaRPr lang="vi-VN" sz="1200" dirty="0"/>
          </a:p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Sự chuyển giao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deliverable</a:t>
            </a:r>
            <a:r>
              <a:rPr lang="vi-VN" dirty="0"/>
              <a:t>): sản phẩm/dịch vụ được sản xuất/cung cấp như một phần của dự án.</a:t>
            </a:r>
            <a:endParaRPr lang="en-US" dirty="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2.3 </a:t>
            </a:r>
            <a:r>
              <a:rPr lang="en-US" sz="4000" dirty="0" err="1">
                <a:solidFill>
                  <a:srgbClr val="FF0000"/>
                </a:solidFill>
              </a:rPr>
              <a:t>Giai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đoạn</a:t>
            </a:r>
            <a:r>
              <a:rPr lang="en-US" sz="4000" dirty="0">
                <a:solidFill>
                  <a:srgbClr val="FF0000"/>
                </a:solidFill>
              </a:rPr>
              <a:t> và </a:t>
            </a:r>
            <a:r>
              <a:rPr lang="en-US" sz="4000" dirty="0" err="1">
                <a:solidFill>
                  <a:srgbClr val="FF0000"/>
                </a:solidFill>
              </a:rPr>
              <a:t>vòng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đời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dự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án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6626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96721C-6BC0-4C07-9A39-4E0D16EE6CE8}" type="slidenum">
              <a:rPr lang="en-US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295400"/>
            <a:ext cx="8001000" cy="4525962"/>
          </a:xfrm>
        </p:spPr>
        <p:txBody>
          <a:bodyPr/>
          <a:lstStyle/>
          <a:p>
            <a:r>
              <a:rPr lang="vi-VN" dirty="0"/>
              <a:t>Giai đoạn đầu..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Nhu cầu nguồn lực thấp nhất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Mức độ không chắc chắn/rủi ro cao nhất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Các bên liên quan ảnh hưởng lớn nhất đến dự án...</a:t>
            </a:r>
          </a:p>
          <a:p>
            <a:pPr lvl="1"/>
            <a:endParaRPr lang="vi-VN" sz="800" dirty="0"/>
          </a:p>
          <a:p>
            <a:r>
              <a:rPr lang="vi-VN" dirty="0"/>
              <a:t>Giai đoạn giữa...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Sự chắc chắn hoàn thành được cải thiện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Cần thêm nhiều nguồn lực...</a:t>
            </a:r>
          </a:p>
          <a:p>
            <a:pPr lvl="1"/>
            <a:endParaRPr lang="vi-VN" sz="800" dirty="0"/>
          </a:p>
          <a:p>
            <a:r>
              <a:rPr lang="vi-VN" dirty="0"/>
              <a:t>Giai đoạn cuối...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Đảm bảo các yêu cầu dự án được đáp ứng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sz="2400" dirty="0"/>
              <a:t>Nhà tài trợ chấp thuận sự hoàn thành của dự án...</a:t>
            </a:r>
            <a:endParaRPr lang="en-US" sz="2400" dirty="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giai</a:t>
            </a:r>
            <a:r>
              <a:rPr lang="en-US" sz="4000" dirty="0"/>
              <a:t> </a:t>
            </a:r>
            <a:r>
              <a:rPr lang="en-US" sz="4000" dirty="0" err="1"/>
              <a:t>đoạn</a:t>
            </a:r>
            <a:r>
              <a:rPr lang="en-US" sz="4000" dirty="0"/>
              <a:t> </a:t>
            </a:r>
            <a:r>
              <a:rPr lang="en-US" sz="4000" dirty="0" err="1"/>
              <a:t>của</a:t>
            </a:r>
            <a:r>
              <a:rPr lang="en-US" sz="4000" dirty="0"/>
              <a:t> </a:t>
            </a:r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endParaRPr lang="en-US" sz="4000" dirty="0"/>
          </a:p>
        </p:txBody>
      </p:sp>
      <p:sp>
        <p:nvSpPr>
          <p:cNvPr id="27650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850ECD-DC50-44BE-9E96-61A1A4867365}" type="slidenum">
              <a:rPr lang="en-US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14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8276A5-8D43-491D-83BE-00FCABAA1517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5400"/>
            <a:ext cx="7381083" cy="45794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48200" y="6096000"/>
            <a:ext cx="28200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dirty="0">
                <a:latin typeface="+mj-lt"/>
              </a:rPr>
              <a:t>Nguồn: PMPOK </a:t>
            </a:r>
            <a:r>
              <a:rPr lang="vi-VN" sz="2000">
                <a:latin typeface="+mj-lt"/>
              </a:rPr>
              <a:t>(201</a:t>
            </a:r>
            <a:r>
              <a:rPr lang="en-US" sz="2000">
                <a:latin typeface="+mj-lt"/>
              </a:rPr>
              <a:t>7</a:t>
            </a:r>
            <a:r>
              <a:rPr lang="vi-VN" sz="2000">
                <a:latin typeface="+mj-lt"/>
              </a:rPr>
              <a:t>)</a:t>
            </a:r>
            <a:endParaRPr lang="vi-VN" sz="2000" dirty="0">
              <a:latin typeface="+mj-lt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685800"/>
          </a:xfrm>
        </p:spPr>
        <p:txBody>
          <a:bodyPr>
            <a:noAutofit/>
          </a:bodyPr>
          <a:lstStyle/>
          <a:p>
            <a:pPr algn="ctr"/>
            <a:r>
              <a:rPr lang="vi-VN" sz="3600" dirty="0"/>
              <a:t>Chi phí và rủi ro dự án theo thời gian</a:t>
            </a:r>
            <a:endParaRPr lang="en-US" sz="3600" dirty="0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3590554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8153400" cy="4419600"/>
          </a:xfrm>
        </p:spPr>
        <p:txBody>
          <a:bodyPr/>
          <a:lstStyle/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Vòng đời phát triển hệ thống</a:t>
            </a:r>
            <a:r>
              <a:rPr lang="vi-VN" dirty="0"/>
              <a:t> - </a:t>
            </a:r>
            <a:r>
              <a:rPr lang="vi-VN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SDLC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Systems Development Life Cycle</a:t>
            </a:r>
            <a:r>
              <a:rPr lang="vi-VN" dirty="0"/>
              <a:t>): khung mô tả các giai đoạn liên quan trong phát triển và duy trì HTTT.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Vòng đời dự báo</a:t>
            </a:r>
            <a:r>
              <a:rPr lang="vi-VN" dirty="0"/>
              <a:t> (</a:t>
            </a:r>
            <a:r>
              <a:rPr lang="en-US" dirty="0">
                <a:solidFill>
                  <a:srgbClr val="0070C0"/>
                </a:solidFill>
              </a:rPr>
              <a:t>predictive life cycle</a:t>
            </a:r>
            <a:r>
              <a:rPr lang="vi-VN" dirty="0"/>
              <a:t>): ước lượng được khi phạm vi - thời gian - chi phí rõ ràng...</a:t>
            </a:r>
          </a:p>
          <a:p>
            <a:pPr algn="just"/>
            <a:endParaRPr lang="vi-VN" sz="50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Mô hình thác nước: phát triển hệ thống theo các giai đoạn tuyến tính...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vi-VN" sz="50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Mô hình xoắn ốc: phát triển phần mềm lặp đi lặp lại với phương pháp xoắn ốc...</a:t>
            </a:r>
            <a:endParaRPr lang="en-US" sz="2400" dirty="0"/>
          </a:p>
          <a:p>
            <a:pPr lvl="1" algn="just"/>
            <a:endParaRPr lang="vi-VN" dirty="0"/>
          </a:p>
          <a:p>
            <a:pPr lvl="1" algn="just">
              <a:buFont typeface="Arial" panose="020B0604020202020204" pitchFamily="34" charset="0"/>
              <a:buChar char="•"/>
            </a:pPr>
            <a:endParaRPr lang="vi-VN" sz="800" dirty="0"/>
          </a:p>
          <a:p>
            <a:pPr lvl="1" algn="just">
              <a:buFontTx/>
              <a:buNone/>
            </a:pPr>
            <a:endParaRPr lang="en-US" dirty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03238"/>
            <a:ext cx="8305800" cy="487362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Vòng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đời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sản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phẩm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29698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2965920-7E31-46B5-8B7E-9CD60737DC3C}" type="slidenum">
              <a:rPr lang="en-US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10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7514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Mô</a:t>
            </a:r>
            <a:r>
              <a:rPr lang="en-US" sz="3600" dirty="0"/>
              <a:t> </a:t>
            </a:r>
            <a:r>
              <a:rPr lang="en-US" sz="3600" dirty="0" err="1"/>
              <a:t>hình</a:t>
            </a:r>
            <a:r>
              <a:rPr lang="en-US" sz="3600" dirty="0"/>
              <a:t> </a:t>
            </a:r>
            <a:r>
              <a:rPr lang="en-US" sz="3600" dirty="0" err="1"/>
              <a:t>thác</a:t>
            </a:r>
            <a:r>
              <a:rPr lang="en-US" sz="3600" dirty="0"/>
              <a:t> </a:t>
            </a:r>
            <a:r>
              <a:rPr lang="en-US" sz="3600" dirty="0" err="1"/>
              <a:t>nước</a:t>
            </a:r>
            <a:r>
              <a:rPr lang="en-US" sz="3600" dirty="0"/>
              <a:t> và </a:t>
            </a:r>
            <a:r>
              <a:rPr lang="en-US" sz="3600" dirty="0" err="1"/>
              <a:t>mô</a:t>
            </a:r>
            <a:r>
              <a:rPr lang="en-US" sz="3600" dirty="0"/>
              <a:t> </a:t>
            </a:r>
            <a:r>
              <a:rPr lang="en-US" sz="3600" dirty="0" err="1"/>
              <a:t>hình</a:t>
            </a:r>
            <a:r>
              <a:rPr lang="en-US" sz="3600" dirty="0"/>
              <a:t> </a:t>
            </a:r>
            <a:r>
              <a:rPr lang="en-US" sz="3600" dirty="0" err="1"/>
              <a:t>xoắn</a:t>
            </a:r>
            <a:r>
              <a:rPr lang="en-US" sz="3600" dirty="0"/>
              <a:t> </a:t>
            </a:r>
            <a:r>
              <a:rPr lang="en-US" sz="3600" dirty="0" err="1"/>
              <a:t>ốc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3668"/>
            <a:ext cx="9144000" cy="556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833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1828800"/>
            <a:ext cx="8077200" cy="2328862"/>
          </a:xfrm>
        </p:spPr>
        <p:txBody>
          <a:bodyPr/>
          <a:lstStyle/>
          <a:p>
            <a:pPr algn="just"/>
            <a:r>
              <a:rPr lang="vi-VN" dirty="0"/>
              <a:t>Phần mềm </a:t>
            </a:r>
            <a:r>
              <a:rPr lang="vi-VN" dirty="0">
                <a:solidFill>
                  <a:srgbClr val="0070C0"/>
                </a:solidFill>
              </a:rPr>
              <a:t>Agile/Scrum</a:t>
            </a:r>
            <a:r>
              <a:rPr lang="vi-VN" dirty="0"/>
              <a:t> mô tả tiếp cận mới - tập trung vào sự phối hợp chặt chẽ giữa đội/nhóm lập trình và các chuyên gia kinh doanh...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Phần</a:t>
            </a:r>
            <a:r>
              <a:rPr lang="en-US" sz="4000" dirty="0"/>
              <a:t> </a:t>
            </a:r>
            <a:r>
              <a:rPr lang="en-US" sz="4000" dirty="0" err="1"/>
              <a:t>mềm</a:t>
            </a:r>
            <a:r>
              <a:rPr lang="en-US" sz="4000" dirty="0"/>
              <a:t> </a:t>
            </a:r>
            <a:r>
              <a:rPr lang="en-US" sz="4000" dirty="0" err="1"/>
              <a:t>Aglie</a:t>
            </a:r>
            <a:r>
              <a:rPr lang="en-US" sz="4000" dirty="0"/>
              <a:t>/Scrum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  <p:pic>
        <p:nvPicPr>
          <p:cNvPr id="1026" name="Picture 2" descr="http://www.ctesolutions.com/uploads/Agile%20Scru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3810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8357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014538"/>
            <a:ext cx="8077200" cy="3395662"/>
          </a:xfrm>
        </p:spPr>
        <p:txBody>
          <a:bodyPr/>
          <a:lstStyle/>
          <a:p>
            <a:pPr algn="just"/>
            <a:r>
              <a:rPr lang="vi-VN" dirty="0"/>
              <a:t>Dự án cần phải đạt được sự thành công trong từng giai đoạn để tiếp tục cho bước tiếp theo...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Sau khi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kết thúc giai đoạn </a:t>
            </a:r>
            <a:r>
              <a:rPr lang="vi-VN" dirty="0"/>
              <a:t>(</a:t>
            </a:r>
            <a:r>
              <a:rPr lang="en-US" dirty="0">
                <a:solidFill>
                  <a:srgbClr val="0070C0"/>
                </a:solidFill>
              </a:rPr>
              <a:t>phase exits/kill points</a:t>
            </a:r>
            <a:r>
              <a:rPr lang="vi-VN" dirty="0"/>
              <a:t>) cần phải phải đánh giá lại tiến độ: sự thành công, khả năng tiếp tục thực hiện... Sự tương thích với các mục tiêu dự án và tổ chức.</a:t>
            </a:r>
            <a:endParaRPr lang="en-US" dirty="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457200"/>
            <a:ext cx="8991600" cy="1143000"/>
          </a:xfrm>
        </p:spPr>
        <p:txBody>
          <a:bodyPr>
            <a:normAutofit/>
          </a:bodyPr>
          <a:lstStyle/>
          <a:p>
            <a:pPr algn="ctr"/>
            <a:r>
              <a:rPr lang="vi-VN" sz="4000" dirty="0"/>
              <a:t>Tầm quan trọng các giai đoạn</a:t>
            </a:r>
            <a:endParaRPr lang="en-US" sz="4000" dirty="0"/>
          </a:p>
        </p:txBody>
      </p:sp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83665F-2A2C-41B7-B054-D29178245054}" type="slidenum">
              <a:rPr lang="en-US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7021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8001000" cy="3962400"/>
          </a:xfrm>
        </p:spPr>
        <p:txBody>
          <a:bodyPr/>
          <a:lstStyle/>
          <a:p>
            <a:pPr algn="just"/>
            <a:r>
              <a:rPr lang="vi-VN" dirty="0"/>
              <a:t>Dự án HTTT đa dạng về quy mô, sự phức tạp, sản phẩm/ứng dụng, các yêu cầu nguồn lực...</a:t>
            </a:r>
          </a:p>
          <a:p>
            <a:pPr algn="just"/>
            <a:endParaRPr lang="vi-VN" sz="1000" dirty="0"/>
          </a:p>
          <a:p>
            <a:pPr algn="just"/>
            <a:r>
              <a:rPr lang="vi-VN" dirty="0"/>
              <a:t>Thành viên đội/nhóm dự án có kỹ năng và nền tảng đa dạng. Con người có chuyên môn kỹ thuật cao.</a:t>
            </a:r>
          </a:p>
          <a:p>
            <a:pPr algn="just"/>
            <a:endParaRPr lang="vi-VN" sz="1000" dirty="0"/>
          </a:p>
          <a:p>
            <a:pPr algn="just"/>
            <a:r>
              <a:rPr lang="vi-VN" dirty="0"/>
              <a:t>Dự án HTTT sử dụng công nghệ mới, thay đổi và cập nhật liên tục.</a:t>
            </a:r>
            <a:endParaRPr lang="en-US" dirty="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2.4 </a:t>
            </a:r>
            <a:r>
              <a:rPr lang="en-US" sz="4400" dirty="0" err="1">
                <a:solidFill>
                  <a:srgbClr val="FF0000"/>
                </a:solidFill>
              </a:rPr>
              <a:t>Bối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cảnh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của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dự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án</a:t>
            </a:r>
            <a:r>
              <a:rPr lang="en-US" sz="4400" dirty="0">
                <a:solidFill>
                  <a:srgbClr val="FF0000"/>
                </a:solidFill>
              </a:rPr>
              <a:t> HTTT</a:t>
            </a:r>
          </a:p>
        </p:txBody>
      </p:sp>
      <p:sp>
        <p:nvSpPr>
          <p:cNvPr id="33794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7AAFB9-DD0E-414F-9474-EA0B471D20ED}" type="slidenum">
              <a:rPr lang="en-US"/>
              <a:pPr>
                <a:defRPr/>
              </a:pPr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62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1481138"/>
            <a:ext cx="7696200" cy="4157662"/>
          </a:xfrm>
        </p:spPr>
        <p:txBody>
          <a:bodyPr/>
          <a:lstStyle/>
          <a:p>
            <a:pPr algn="just"/>
            <a:r>
              <a:rPr lang="vi-VN" sz="2800" dirty="0"/>
              <a:t>Toàn cầu hóa...</a:t>
            </a:r>
          </a:p>
          <a:p>
            <a:pPr algn="just"/>
            <a:endParaRPr lang="vi-VN" sz="700" dirty="0"/>
          </a:p>
          <a:p>
            <a:pPr algn="just"/>
            <a:r>
              <a:rPr lang="vi-VN" sz="2800" dirty="0"/>
              <a:t>Gia công phần mềm...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Outsourcing</a:t>
            </a:r>
            <a:r>
              <a:rPr lang="vi-VN" sz="2400" dirty="0"/>
              <a:t>: thực hiện sản phẩm và/hoặc mã nguồn từ các đơn vị bên ngoài.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Offshoring</a:t>
            </a:r>
            <a:r>
              <a:rPr lang="vi-VN" sz="2400" dirty="0"/>
              <a:t>: gia công phần mềm từ nước khác.</a:t>
            </a:r>
          </a:p>
          <a:p>
            <a:pPr lvl="1" algn="just"/>
            <a:endParaRPr lang="vi-VN" sz="700" dirty="0"/>
          </a:p>
          <a:p>
            <a:pPr algn="just"/>
            <a:r>
              <a:rPr lang="vi-V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Đội/nhóm ảo </a:t>
            </a:r>
            <a:r>
              <a:rPr lang="vi-VN" sz="2800" dirty="0"/>
              <a:t>(</a:t>
            </a:r>
            <a:r>
              <a:rPr lang="en-US" sz="2800" dirty="0">
                <a:solidFill>
                  <a:srgbClr val="0070C0"/>
                </a:solidFill>
              </a:rPr>
              <a:t>virtual team</a:t>
            </a:r>
            <a:r>
              <a:rPr lang="vi-VN" sz="2800" dirty="0"/>
              <a:t>): các cá nhân làm việc xuyên thời gian và không gian.</a:t>
            </a:r>
          </a:p>
          <a:p>
            <a:pPr algn="just"/>
            <a:endParaRPr lang="vi-VN" sz="700" dirty="0"/>
          </a:p>
          <a:p>
            <a:pPr algn="just"/>
            <a:r>
              <a:rPr lang="vi-VN" sz="2800" dirty="0">
                <a:solidFill>
                  <a:srgbClr val="0070C0"/>
                </a:solidFill>
              </a:rPr>
              <a:t>Agile/Scrum</a:t>
            </a:r>
            <a:r>
              <a:rPr lang="vi-VN" sz="2800" dirty="0"/>
              <a:t>...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xu</a:t>
            </a:r>
            <a:r>
              <a:rPr lang="en-US" sz="4000" dirty="0"/>
              <a:t> </a:t>
            </a:r>
            <a:r>
              <a:rPr lang="en-US" sz="4000" dirty="0" err="1"/>
              <a:t>hướng</a:t>
            </a:r>
            <a:r>
              <a:rPr lang="en-US" sz="4000" dirty="0"/>
              <a:t> </a:t>
            </a:r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r>
              <a:rPr lang="en-US" sz="4000" dirty="0"/>
              <a:t> HTTT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44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1828800"/>
            <a:ext cx="7772400" cy="3243262"/>
          </a:xfrm>
        </p:spPr>
        <p:txBody>
          <a:bodyPr/>
          <a:lstStyle/>
          <a:p>
            <a:pPr algn="just"/>
            <a:r>
              <a:rPr lang="vi-VN" dirty="0">
                <a:solidFill>
                  <a:srgbClr val="0070C0"/>
                </a:solidFill>
              </a:rPr>
              <a:t>Scrum</a:t>
            </a:r>
            <a:r>
              <a:rPr lang="vi-VN" dirty="0"/>
              <a:t>: tiếp cận phát triển ứng dụng linh hoạt hàng đầu để hoàn thành dự án với sự phức tạp về phạm vi, sự sáng tạo...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Takeuchi &amp; Nonaka (1986): so sánh giữa các đội/nhóm liên chức năng của dự án với sự hình thành </a:t>
            </a:r>
            <a:r>
              <a:rPr lang="vi-VN" dirty="0">
                <a:solidFill>
                  <a:srgbClr val="0070C0"/>
                </a:solidFill>
              </a:rPr>
              <a:t>Scrum</a:t>
            </a:r>
            <a:r>
              <a:rPr lang="vi-VN" dirty="0"/>
              <a:t> trong đội bóng bầu dục...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Scrum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93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Mô</a:t>
            </a:r>
            <a:r>
              <a:rPr lang="en-US" sz="3600" dirty="0"/>
              <a:t> </a:t>
            </a:r>
            <a:r>
              <a:rPr lang="en-US" sz="3600" dirty="0" err="1"/>
              <a:t>hình</a:t>
            </a:r>
            <a:r>
              <a:rPr lang="en-US" sz="3600" dirty="0"/>
              <a:t> Scrum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FD9659-824B-46C0-8A9A-C90F38C1F825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9069138" cy="505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5010" y="1981200"/>
            <a:ext cx="9108989" cy="18297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br>
              <a:rPr dirty="0">
                <a:solidFill>
                  <a:srgbClr val="0070C0"/>
                </a:solidFill>
                <a:effectLst/>
              </a:rPr>
            </a:br>
            <a:r>
              <a:rPr lang="vi-VN" dirty="0">
                <a:solidFill>
                  <a:srgbClr val="0070C0"/>
                </a:solidFill>
                <a:effectLst/>
              </a:rPr>
              <a:t>3. </a:t>
            </a:r>
            <a:r>
              <a:rPr lang="vi-VN" sz="4400" dirty="0">
                <a:solidFill>
                  <a:srgbClr val="0070C0"/>
                </a:solidFill>
                <a:effectLst/>
              </a:rPr>
              <a:t>TÓM TẮT &amp; TỪ KHÓA</a:t>
            </a:r>
            <a:br>
              <a:rPr lang="vi-VN" sz="4400" dirty="0">
                <a:solidFill>
                  <a:srgbClr val="0070C0"/>
                </a:solidFill>
                <a:effectLst/>
              </a:rPr>
            </a:br>
            <a:endParaRPr lang="vi-VN" sz="4400" dirty="0">
              <a:solidFill>
                <a:srgbClr val="0070C0"/>
              </a:solidFill>
              <a:effectLst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>
          <a:xfrm>
            <a:off x="723900" y="317956"/>
            <a:ext cx="78486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endParaRPr lang="vi-VN" sz="3000" b="1" u="sng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</a:endParaRPr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862017"/>
            <a:ext cx="2121462" cy="269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346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305800" cy="4876800"/>
          </a:xfrm>
        </p:spPr>
        <p:txBody>
          <a:bodyPr>
            <a:normAutofit/>
          </a:bodyPr>
          <a:lstStyle/>
          <a:p>
            <a:pPr marL="274320" indent="-274320" algn="just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vi-VN" dirty="0">
                <a:solidFill>
                  <a:srgbClr val="002060"/>
                </a:solidFill>
              </a:rPr>
              <a:t>Dự án: nỗ lực tạm thời để tạo ra sản phẩm/dịch vụ.</a:t>
            </a:r>
            <a:br>
              <a:rPr lang="vi-VN" dirty="0">
                <a:solidFill>
                  <a:srgbClr val="002060"/>
                </a:solidFill>
              </a:rPr>
            </a:br>
            <a:endParaRPr lang="vi-VN" sz="800" dirty="0">
              <a:solidFill>
                <a:srgbClr val="002060"/>
              </a:solidFill>
            </a:endParaRPr>
          </a:p>
          <a:p>
            <a:pPr marL="274320" indent="-274320" algn="just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vi-VN" dirty="0">
                <a:solidFill>
                  <a:srgbClr val="002060"/>
                </a:solidFill>
              </a:rPr>
              <a:t>QLDA: áp dụng kiến thức, kỹ năng, công cụ và kỹ thuật để đáp ứng yêu cầu dự án.</a:t>
            </a:r>
          </a:p>
          <a:p>
            <a:pPr marL="274320" indent="-274320" algn="just" fontAlgn="auto">
              <a:spcBef>
                <a:spcPts val="580"/>
              </a:spcBef>
              <a:spcAft>
                <a:spcPts val="0"/>
              </a:spcAft>
              <a:defRPr/>
            </a:pPr>
            <a:endParaRPr lang="vi-VN" sz="800" dirty="0">
              <a:solidFill>
                <a:srgbClr val="002060"/>
              </a:solidFill>
            </a:endParaRPr>
          </a:p>
          <a:p>
            <a:pPr marL="274320" indent="-274320" algn="just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vi-VN" dirty="0">
                <a:solidFill>
                  <a:srgbClr val="002060"/>
                </a:solidFill>
              </a:rPr>
              <a:t>Chương trình: nhóm các dự án có liên quan được quản lý đồng bộ.</a:t>
            </a:r>
          </a:p>
          <a:p>
            <a:pPr marL="274320" indent="-274320" algn="just" fontAlgn="auto">
              <a:spcBef>
                <a:spcPts val="580"/>
              </a:spcBef>
              <a:spcAft>
                <a:spcPts val="0"/>
              </a:spcAft>
              <a:defRPr/>
            </a:pPr>
            <a:endParaRPr lang="vi-VN" sz="800" dirty="0">
              <a:solidFill>
                <a:srgbClr val="002060"/>
              </a:solidFill>
            </a:endParaRPr>
          </a:p>
          <a:p>
            <a:pPr marL="274320" indent="-274320" algn="just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vi-VN" dirty="0">
                <a:solidFill>
                  <a:srgbClr val="002060"/>
                </a:solidFill>
              </a:rPr>
              <a:t>Danh mục đầu tư: liên quan đến tổ chức, và các chương trình/dự án.</a:t>
            </a:r>
          </a:p>
          <a:p>
            <a:pPr marL="0" indent="0" algn="just" fontAlgn="auto"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vi-VN" sz="900" dirty="0">
                <a:solidFill>
                  <a:srgbClr val="002060"/>
                </a:solidFill>
              </a:rPr>
              <a:t> </a:t>
            </a:r>
            <a:endParaRPr lang="vi-VN" sz="800" dirty="0">
              <a:solidFill>
                <a:srgbClr val="002060"/>
              </a:solidFill>
            </a:endParaRPr>
          </a:p>
          <a:p>
            <a:pPr marL="274320" indent="-274320" algn="just" fontAlgn="auto">
              <a:spcBef>
                <a:spcPts val="580"/>
              </a:spcBef>
              <a:spcAft>
                <a:spcPts val="0"/>
              </a:spcAft>
              <a:defRPr/>
            </a:pPr>
            <a:r>
              <a:rPr lang="vi-VN" dirty="0">
                <a:solidFill>
                  <a:srgbClr val="002060"/>
                </a:solidFill>
              </a:rPr>
              <a:t>Nghề nghiệp QLDA đang tiếp tục phát triển...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Tóm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tắt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>
                <a:solidFill>
                  <a:schemeClr val="bg1">
                    <a:lumMod val="65000"/>
                  </a:schemeClr>
                </a:solidFill>
              </a:rPr>
              <a:t>[1]</a:t>
            </a:r>
          </a:p>
        </p:txBody>
      </p:sp>
      <p:sp>
        <p:nvSpPr>
          <p:cNvPr id="57348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D34CBA-0644-43DF-B9FE-3A54148FDEBE}" type="slidenum">
              <a:rPr lang="en-US"/>
              <a:pPr>
                <a:defRPr/>
              </a:pPr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4405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191000"/>
          </a:xfrm>
        </p:spPr>
        <p:txBody>
          <a:bodyPr/>
          <a:lstStyle/>
          <a:p>
            <a:pPr algn="just"/>
            <a:r>
              <a:rPr lang="vi-VN" dirty="0">
                <a:solidFill>
                  <a:srgbClr val="002060"/>
                </a:solidFill>
              </a:rPr>
              <a:t>QLDA cần tiếp cận theo tư duy hệ thống.</a:t>
            </a:r>
          </a:p>
          <a:p>
            <a:pPr algn="just"/>
            <a:endParaRPr lang="vi-VN" sz="8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3 cấu trúc tổ chức: chức năng - dự án - ma trận. 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vi-VN" sz="8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Dự án phải đạt sự thành công trong từng giai đoạn của vòng đời dự án.</a:t>
            </a:r>
          </a:p>
          <a:p>
            <a:pPr algn="just"/>
            <a:endParaRPr lang="vi-VN" sz="8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Cần xem xét các bối cảnh của dự án HTTT.</a:t>
            </a:r>
          </a:p>
          <a:p>
            <a:pPr algn="just"/>
            <a:endParaRPr lang="vi-VN" sz="8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Xu hướng QLDA HTTT: toàn cầu hóa, gia công phần mềm, nhóm ảo, Agile/Scrum...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4818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E4E808-D5A2-4270-948F-25CED7EF1363}" type="slidenum">
              <a:rPr lang="en-US"/>
              <a:pPr>
                <a:defRPr/>
              </a:pPr>
              <a:t>60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Tóm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tắt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>
                <a:solidFill>
                  <a:schemeClr val="bg1">
                    <a:lumMod val="65000"/>
                  </a:schemeClr>
                </a:solidFill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9887206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25400" y="1295400"/>
            <a:ext cx="5156200" cy="3611562"/>
          </a:xfrm>
        </p:spPr>
        <p:txBody>
          <a:bodyPr/>
          <a:lstStyle/>
          <a:p>
            <a:pPr lvl="1">
              <a:buSzPct val="80000"/>
              <a:buFont typeface="Wingdings 3" panose="05040102010807070707" pitchFamily="18" charset="2"/>
              <a:buChar char="}"/>
            </a:pPr>
            <a:r>
              <a:rPr lang="en-US" sz="2700" dirty="0" err="1"/>
              <a:t>Từ</a:t>
            </a:r>
            <a:r>
              <a:rPr lang="en-US" sz="2700" dirty="0"/>
              <a:t> </a:t>
            </a:r>
            <a:r>
              <a:rPr lang="en-US" sz="2700" dirty="0" err="1"/>
              <a:t>khóa</a:t>
            </a:r>
            <a:r>
              <a:rPr lang="en-US" sz="2700" dirty="0"/>
              <a:t> </a:t>
            </a:r>
            <a:r>
              <a:rPr lang="en-US" sz="2700" dirty="0" err="1"/>
              <a:t>chính</a:t>
            </a:r>
            <a:r>
              <a:rPr lang="en-US" sz="2700" dirty="0"/>
              <a:t>: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Project - Project manager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Program/Portfolio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Project management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Knowledge areas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Triple constraint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Project life cycle</a:t>
            </a: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Từ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khóa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5734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9A07A5-AED4-4C39-9781-B4BD2FA607DD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724400" y="1219200"/>
            <a:ext cx="4267200" cy="354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1">
              <a:buSzPct val="80000"/>
              <a:buFont typeface="Wingdings 3" panose="05040102010807070707" pitchFamily="18" charset="2"/>
              <a:buChar char="}"/>
            </a:pPr>
            <a:r>
              <a:rPr lang="en-US" sz="2700" dirty="0" err="1"/>
              <a:t>Từ</a:t>
            </a:r>
            <a:r>
              <a:rPr lang="en-US" sz="2700" dirty="0"/>
              <a:t> </a:t>
            </a:r>
            <a:r>
              <a:rPr lang="en-US" sz="2700" dirty="0" err="1"/>
              <a:t>khóa</a:t>
            </a:r>
            <a:r>
              <a:rPr lang="en-US" sz="2700" dirty="0"/>
              <a:t> </a:t>
            </a:r>
            <a:r>
              <a:rPr lang="en-US" sz="2700" dirty="0" err="1"/>
              <a:t>liên</a:t>
            </a:r>
            <a:r>
              <a:rPr lang="en-US" sz="2700" dirty="0"/>
              <a:t> </a:t>
            </a:r>
            <a:r>
              <a:rPr lang="en-US" sz="2700" dirty="0" err="1"/>
              <a:t>quan</a:t>
            </a:r>
            <a:r>
              <a:rPr lang="en-US" sz="2700" dirty="0"/>
              <a:t>: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70C0"/>
                </a:solidFill>
              </a:rPr>
              <a:t>PMI - PMPOK - PMP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70C0"/>
                </a:solidFill>
              </a:rPr>
              <a:t>PMO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Systems thinking</a:t>
            </a:r>
            <a:endParaRPr lang="vi-VN" sz="2400" dirty="0">
              <a:solidFill>
                <a:srgbClr val="0070C0"/>
              </a:solidFill>
            </a:endParaRP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Outsourcing</a:t>
            </a:r>
            <a:r>
              <a:rPr lang="vi-VN" sz="2400" dirty="0">
                <a:solidFill>
                  <a:srgbClr val="0070C0"/>
                </a:solidFill>
              </a:rPr>
              <a:t> 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70C0"/>
                </a:solidFill>
              </a:rPr>
              <a:t>Agile/Scrum</a:t>
            </a:r>
            <a:endParaRPr lang="en-US" sz="2400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9DDD99FE-7813-441E-880B-296FED976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199" y="4270790"/>
            <a:ext cx="1863921" cy="1863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3A756E-C2A5-444F-B153-61CF3216F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820" y="4270790"/>
            <a:ext cx="1466780" cy="1810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028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229600" cy="213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Q&amp;A</a:t>
            </a:r>
            <a:endParaRPr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7538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08225"/>
            <a:ext cx="8839200" cy="1349375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vi-VN" sz="4000" b="0" dirty="0">
                <a:effectLst/>
              </a:rPr>
              <a:t>Chương kế tiếp...</a:t>
            </a:r>
            <a:br>
              <a:rPr sz="4000" b="0" dirty="0">
                <a:effectLst/>
              </a:rPr>
            </a:br>
            <a:r>
              <a:rPr lang="vi-VN" sz="4000" b="0" dirty="0">
                <a:effectLst/>
              </a:rPr>
              <a:t>QUY TRÌNH QUẢN LÝ DỰ ÁN </a:t>
            </a:r>
            <a:br>
              <a:rPr lang="vi-VN" sz="4000" b="0" dirty="0">
                <a:effectLst/>
              </a:rPr>
            </a:br>
            <a:r>
              <a:rPr lang="vi-VN" sz="4000" b="0" dirty="0">
                <a:effectLst/>
              </a:rPr>
              <a:t>&amp; QUẢN LÝ TÍCH HỢP DỰ ÁN</a:t>
            </a:r>
            <a:endParaRPr sz="4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4251318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4232</TotalTime>
  <Words>3667</Words>
  <Application>Microsoft Office PowerPoint</Application>
  <PresentationFormat>On-screen Show (4:3)</PresentationFormat>
  <Paragraphs>461</Paragraphs>
  <Slides>63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74" baseType="lpstr">
      <vt:lpstr>Arial</vt:lpstr>
      <vt:lpstr>Arial Rounded MT Bold</vt:lpstr>
      <vt:lpstr>Calibri</vt:lpstr>
      <vt:lpstr>Lucida Sans Unicode</vt:lpstr>
      <vt:lpstr>Tahoma</vt:lpstr>
      <vt:lpstr>Times New Roman</vt:lpstr>
      <vt:lpstr>Verdana</vt:lpstr>
      <vt:lpstr>Wingdings 2</vt:lpstr>
      <vt:lpstr>Wingdings 3</vt:lpstr>
      <vt:lpstr>Custom Design</vt:lpstr>
      <vt:lpstr>Theme1</vt:lpstr>
      <vt:lpstr>Chương 1 GIỚI THIỆU QUẢN LÝ DỰ ÁN &amp; BỐI CẢNH HỆ THỐNG THÔNG TIN</vt:lpstr>
      <vt:lpstr>Mục tiêu chương 1</vt:lpstr>
      <vt:lpstr>1. GIỚI THIỆU QUẢN LÝ DỰ ÁN</vt:lpstr>
      <vt:lpstr>1. GIỚI THIỆU QUẢN LÝ DỰ ÁN</vt:lpstr>
      <vt:lpstr>1.1 Giới thiệu chung</vt:lpstr>
      <vt:lpstr>Một vài thống kê</vt:lpstr>
      <vt:lpstr>Sự thất bại của dự án HTTT</vt:lpstr>
      <vt:lpstr>1.2 Dự án và quản lý dự án</vt:lpstr>
      <vt:lpstr>Ví dụ, dự án CNTT/HTTT</vt:lpstr>
      <vt:lpstr>Bộ 3 ràng buộc trong QLDA</vt:lpstr>
      <vt:lpstr>Quản lý dự án</vt:lpstr>
      <vt:lpstr>Lĩnh vực kiến thức QLDA</vt:lpstr>
      <vt:lpstr>10 lĩnh vực kiến thức QLDA</vt:lpstr>
      <vt:lpstr>Khung quản lý dự án</vt:lpstr>
      <vt:lpstr>Các bên liên quan</vt:lpstr>
      <vt:lpstr>Quan hệ giữa các bên liên quan</vt:lpstr>
      <vt:lpstr>Công cụ và kỹ thuật QLDA</vt:lpstr>
      <vt:lpstr>Các công cụ QLDA</vt:lpstr>
      <vt:lpstr>Sự thành công của dự án</vt:lpstr>
      <vt:lpstr>10 yếu tố thành công của dự án</vt:lpstr>
      <vt:lpstr>1.3 Chương trình và danh mục đầu tư</vt:lpstr>
      <vt:lpstr>Danh mục đầu tư</vt:lpstr>
      <vt:lpstr>QLDA và quản lý danh mục đầu tư</vt:lpstr>
      <vt:lpstr>Ví dụ, tiếp cận danh mục đầu tư</vt:lpstr>
      <vt:lpstr>1.4 Vai trò của giám đốc dự án</vt:lpstr>
      <vt:lpstr>Các kỹ năng của giám đốc dự án</vt:lpstr>
      <vt:lpstr>10 kỹ năng và năng lực giám đốc dự án</vt:lpstr>
      <vt:lpstr>Nghề nghiệp quản lý dự án HTTT</vt:lpstr>
      <vt:lpstr>10 kỹ năng CNTT/HTTT nóng nhất</vt:lpstr>
      <vt:lpstr>Văn phòng quản lý dự án</vt:lpstr>
      <vt:lpstr>Sự phát triển của PMO</vt:lpstr>
      <vt:lpstr>1.5 Quản lý dự án chuyên nghiệp</vt:lpstr>
      <vt:lpstr>Số lượng PMP trên thế giới</vt:lpstr>
      <vt:lpstr>Số lượng PMP ở Việt Nam</vt:lpstr>
      <vt:lpstr>PMI - PMP</vt:lpstr>
      <vt:lpstr>Phần mềm hỗ trợ QLDA</vt:lpstr>
      <vt:lpstr>2. BỐI CẢNH HỆ THỐNG THÔNG TIN</vt:lpstr>
      <vt:lpstr>2. BỐI CẢNH HỆ THỐNG THÔNG TIN</vt:lpstr>
      <vt:lpstr>Dự án không thể chạy độc lập</vt:lpstr>
      <vt:lpstr>2.1 Góc nhìn hệ thống của dự án</vt:lpstr>
      <vt:lpstr>Mô hình quản lý HTTT (BOT)</vt:lpstr>
      <vt:lpstr>Tại sao dự án thất bại?</vt:lpstr>
      <vt:lpstr>2.2 Cấu trúc tổ chức dự án</vt:lpstr>
      <vt:lpstr>Cấu trúc tổ chức trong dự án</vt:lpstr>
      <vt:lpstr>Cam kết của quản lý cấp cao</vt:lpstr>
      <vt:lpstr>Cam kết của tổ chức cho HTTT</vt:lpstr>
      <vt:lpstr>2.3 Giai đoạn và vòng đời dự án</vt:lpstr>
      <vt:lpstr>Các giai đoạn của dự án</vt:lpstr>
      <vt:lpstr>Chi phí và rủi ro dự án theo thời gian</vt:lpstr>
      <vt:lpstr>Vòng đời sản phẩm</vt:lpstr>
      <vt:lpstr>Mô hình thác nước và mô hình xoắn ốc</vt:lpstr>
      <vt:lpstr>Phần mềm Aglie/Scrum</vt:lpstr>
      <vt:lpstr>Tầm quan trọng các giai đoạn</vt:lpstr>
      <vt:lpstr>2.4 Bối cảnh của dự án HTTT</vt:lpstr>
      <vt:lpstr>Các xu hướng dự án HTTT</vt:lpstr>
      <vt:lpstr>Scrum</vt:lpstr>
      <vt:lpstr>Mô hình Scrum</vt:lpstr>
      <vt:lpstr> 3. TÓM TẮT &amp; TỪ KHÓA </vt:lpstr>
      <vt:lpstr>Tóm tắt [1]</vt:lpstr>
      <vt:lpstr>Tóm tắt [2]</vt:lpstr>
      <vt:lpstr>Từ khóa</vt:lpstr>
      <vt:lpstr>Q&amp;A</vt:lpstr>
      <vt:lpstr>Chương kế tiếp... QUY TRÌNH QUẢN LÝ DỰ ÁN  &amp; QUẢN LÝ TÍCH HỢP DỰ ÁN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Tung Le</cp:lastModifiedBy>
  <cp:revision>640</cp:revision>
  <dcterms:created xsi:type="dcterms:W3CDTF">2001-07-05T23:10:12Z</dcterms:created>
  <dcterms:modified xsi:type="dcterms:W3CDTF">2024-02-27T13:00:56Z</dcterms:modified>
</cp:coreProperties>
</file>