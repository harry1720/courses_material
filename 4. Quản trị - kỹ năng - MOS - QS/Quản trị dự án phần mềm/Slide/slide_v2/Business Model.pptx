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65" r:id="rId2"/>
    <p:sldId id="278" r:id="rId3"/>
    <p:sldId id="320" r:id="rId4"/>
    <p:sldId id="316" r:id="rId5"/>
    <p:sldId id="317" r:id="rId6"/>
    <p:sldId id="301" r:id="rId7"/>
    <p:sldId id="318" r:id="rId8"/>
    <p:sldId id="319" r:id="rId9"/>
    <p:sldId id="321" r:id="rId10"/>
    <p:sldId id="275" r:id="rId11"/>
    <p:sldId id="323" r:id="rId12"/>
    <p:sldId id="322" r:id="rId13"/>
    <p:sldId id="324" r:id="rId14"/>
    <p:sldId id="325" r:id="rId15"/>
    <p:sldId id="329" r:id="rId16"/>
    <p:sldId id="327" r:id="rId17"/>
    <p:sldId id="326" r:id="rId18"/>
    <p:sldId id="312" r:id="rId19"/>
  </p:sldIdLst>
  <p:sldSz cx="24384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2A2A"/>
    <a:srgbClr val="507392"/>
    <a:srgbClr val="33A9AF"/>
    <a:srgbClr val="C25252"/>
    <a:srgbClr val="DDD937"/>
    <a:srgbClr val="3C59D4"/>
    <a:srgbClr val="98B53D"/>
    <a:srgbClr val="AF4343"/>
    <a:srgbClr val="F5F5F5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72" autoAdjust="0"/>
    <p:restoredTop sz="96323" autoAdjust="0"/>
  </p:normalViewPr>
  <p:slideViewPr>
    <p:cSldViewPr snapToGrid="0">
      <p:cViewPr varScale="1">
        <p:scale>
          <a:sx n="37" d="100"/>
          <a:sy n="37" d="100"/>
        </p:scale>
        <p:origin x="-540" y="-9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30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51A69-C562-4FC5-92DC-994CDC1376A2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47B73-6B03-4EF3-AD40-683CE00DA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32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08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80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3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0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8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04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2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1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F2AF2-EA92-44F8-853B-5E3554E36C48}" type="datetimeFigureOut">
              <a:rPr lang="en-US" smtClean="0"/>
              <a:t>6/25/2015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75539-BFBE-477A-BDB6-9CA7B44D8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4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286500"/>
            <a:ext cx="24384000" cy="2726871"/>
          </a:xfrm>
          <a:prstGeom prst="rect">
            <a:avLst/>
          </a:prstGeom>
          <a:solidFill>
            <a:srgbClr val="50739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8698"/>
              </a:solidFill>
              <a:latin typeface="Bebas Neue" panose="020B0606020202050201" pitchFamily="34" charset="-9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4040" y="6870239"/>
            <a:ext cx="161231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MÔ HÌNH DOANH NGHIỆP</a:t>
            </a:r>
            <a:endParaRPr lang="en-US" sz="10000" spc="100" dirty="0">
              <a:solidFill>
                <a:schemeClr val="bg1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25146" y="6928202"/>
            <a:ext cx="59762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eBiz4U</a:t>
            </a:r>
          </a:p>
          <a:p>
            <a:r>
              <a:rPr lang="en-US" sz="4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06/15</a:t>
            </a:r>
            <a:endParaRPr lang="en-US" sz="4000" spc="100" dirty="0">
              <a:solidFill>
                <a:schemeClr val="bg1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112346" y="6803286"/>
            <a:ext cx="0" cy="1573273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28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3258951" y="2232255"/>
            <a:ext cx="17706934" cy="16195"/>
          </a:xfrm>
          <a:prstGeom prst="line">
            <a:avLst/>
          </a:prstGeom>
          <a:ln w="50800">
            <a:solidFill>
              <a:srgbClr val="507392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58951" y="2248450"/>
            <a:ext cx="6200078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C9398"/>
              </a:solidFill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>
            <a:off x="5380892" y="6826046"/>
            <a:ext cx="13540154" cy="1939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8745544" y="6652484"/>
            <a:ext cx="351003" cy="351003"/>
          </a:xfrm>
          <a:prstGeom prst="ellipse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3321457" y="5304395"/>
            <a:ext cx="356194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Mục tiêu doanh nghiệp</a:t>
            </a:r>
            <a:endParaRPr lang="en-US" sz="38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5205391" y="6652484"/>
            <a:ext cx="351003" cy="351003"/>
          </a:xfrm>
          <a:prstGeom prst="ellipse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11990806" y="6652484"/>
            <a:ext cx="351003" cy="351003"/>
          </a:xfrm>
          <a:prstGeom prst="ellipse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8615683" y="6652484"/>
            <a:ext cx="351003" cy="351003"/>
          </a:xfrm>
          <a:prstGeom prst="ellipse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15331882" y="6652484"/>
            <a:ext cx="351003" cy="351003"/>
          </a:xfrm>
          <a:prstGeom prst="ellipse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10675769" y="5329795"/>
            <a:ext cx="29911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Chức Năng Quản Lý</a:t>
            </a:r>
            <a:endParaRPr lang="en-US" sz="38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6829814" y="5304395"/>
            <a:ext cx="409978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Các chu trình cơ bản của DN</a:t>
            </a:r>
            <a:endParaRPr lang="en-US" sz="38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295601" y="7330616"/>
            <a:ext cx="29911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Các tài nguyên DN</a:t>
            </a:r>
            <a:endParaRPr lang="en-US" sz="38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4036216" y="7330616"/>
            <a:ext cx="29911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Chuổi giá trị DN</a:t>
            </a:r>
            <a:endParaRPr lang="en-US" sz="38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69057" y="1204036"/>
            <a:ext cx="57418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Nội dung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793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33A9AF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>
            <a:off x="6817562" y="6336063"/>
            <a:ext cx="10785815" cy="24979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77478" y="4854326"/>
            <a:ext cx="17135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Mục tiêu doanh nghiệp</a:t>
            </a:r>
            <a:endParaRPr lang="en-US" sz="8000" spc="100" dirty="0">
              <a:solidFill>
                <a:schemeClr val="bg1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3258951" y="2232255"/>
            <a:ext cx="17706934" cy="16195"/>
          </a:xfrm>
          <a:prstGeom prst="line">
            <a:avLst/>
          </a:prstGeom>
          <a:ln w="50800">
            <a:solidFill>
              <a:srgbClr val="507392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58951" y="2248450"/>
            <a:ext cx="6200078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C9398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69057" y="1199234"/>
            <a:ext cx="508594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Thế nào là tổ chức?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351" y="4356899"/>
            <a:ext cx="11462082" cy="4333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849600" y="3673475"/>
            <a:ext cx="7264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Mục tiêu của doanh nghiệp là: ..</a:t>
            </a:r>
          </a:p>
          <a:p>
            <a:endParaRPr lang="en-US"/>
          </a:p>
          <a:p>
            <a:pPr marL="571500" indent="-571500">
              <a:buFont typeface="Arial" pitchFamily="34" charset="0"/>
              <a:buChar char="•"/>
            </a:pPr>
            <a:r>
              <a:rPr lang="en-US" smtClean="0"/>
              <a:t>Cực </a:t>
            </a:r>
            <a:r>
              <a:rPr lang="en-US"/>
              <a:t>đại hoá lợi nhuận?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/>
              <a:t>Cực đại hoá giá trị Doanh nghiệp, cổ phiếu?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/>
              <a:t>Cực đại hoá ….</a:t>
            </a:r>
          </a:p>
          <a:p>
            <a:endParaRPr lang="en-US"/>
          </a:p>
          <a:p>
            <a:endParaRPr lang="en-US"/>
          </a:p>
          <a:p>
            <a:pPr algn="ctr"/>
            <a:r>
              <a:rPr lang="en-US" b="1">
                <a:solidFill>
                  <a:srgbClr val="507392"/>
                </a:solidFill>
              </a:rPr>
              <a:t>Đây có phải là mục tiêu của 1 doanh nghiệp hiện đại không?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3258951" y="2232255"/>
            <a:ext cx="17706934" cy="16195"/>
          </a:xfrm>
          <a:prstGeom prst="line">
            <a:avLst/>
          </a:prstGeom>
          <a:ln w="50800">
            <a:solidFill>
              <a:srgbClr val="507392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58951" y="2248450"/>
            <a:ext cx="6200078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C9398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69057" y="1204036"/>
            <a:ext cx="79561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Thẻ điểm cân bằng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546600" y="3251200"/>
            <a:ext cx="13995400" cy="9093200"/>
            <a:chOff x="5359400" y="4368604"/>
            <a:chExt cx="6629400" cy="4876996"/>
          </a:xfrm>
        </p:grpSpPr>
        <p:grpSp>
          <p:nvGrpSpPr>
            <p:cNvPr id="8" name="Group 28"/>
            <p:cNvGrpSpPr/>
            <p:nvPr/>
          </p:nvGrpSpPr>
          <p:grpSpPr>
            <a:xfrm>
              <a:off x="8712004" y="4368604"/>
              <a:ext cx="1447996" cy="1447996"/>
              <a:chOff x="685800" y="4616003"/>
              <a:chExt cx="1023548" cy="1023548"/>
            </a:xfrm>
            <a:effectLst>
              <a:reflection blurRad="6350" stA="52000" endA="300" endPos="35000" dir="5400000" sy="-100000" algn="bl" rotWithShape="0"/>
            </a:effectLst>
          </p:grpSpPr>
          <p:sp>
            <p:nvSpPr>
              <p:cNvPr id="9" name="Oval 8"/>
              <p:cNvSpPr/>
              <p:nvPr/>
            </p:nvSpPr>
            <p:spPr>
              <a:xfrm>
                <a:off x="685800" y="4616003"/>
                <a:ext cx="1023548" cy="102354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5">
                      <a:shade val="30000"/>
                      <a:satMod val="115000"/>
                    </a:schemeClr>
                  </a:gs>
                  <a:gs pos="50000">
                    <a:schemeClr val="accent5">
                      <a:shade val="67500"/>
                      <a:satMod val="115000"/>
                    </a:schemeClr>
                  </a:gs>
                  <a:gs pos="100000">
                    <a:schemeClr val="accent5"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1" name="Oval 10"/>
              <p:cNvSpPr>
                <a:spLocks noChangeArrowheads="1"/>
              </p:cNvSpPr>
              <p:nvPr/>
            </p:nvSpPr>
            <p:spPr bwMode="auto">
              <a:xfrm>
                <a:off x="815035" y="4639265"/>
                <a:ext cx="775415" cy="55072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0000">
                    <a:schemeClr val="bg1">
                      <a:alpha val="49000"/>
                    </a:schemeClr>
                  </a:gs>
                  <a:gs pos="100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3" name="Oval 12"/>
            <p:cNvSpPr/>
            <p:nvPr/>
          </p:nvSpPr>
          <p:spPr>
            <a:xfrm>
              <a:off x="6578600" y="4825804"/>
              <a:ext cx="4191000" cy="4191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34925">
              <a:solidFill>
                <a:srgbClr val="000000"/>
              </a:solidFill>
            </a:ln>
            <a:effectLst>
              <a:outerShdw blurRad="317500" dir="2700000" algn="ctr">
                <a:srgbClr val="000000">
                  <a:alpha val="43000"/>
                </a:srgbClr>
              </a:outerShdw>
            </a:effectLst>
            <a:scene3d>
              <a:camera prst="perspectiveFront" fov="2700000">
                <a:rot lat="19086000" lon="19067999" rev="3108000"/>
              </a:camera>
              <a:lightRig rig="threePt" dir="t">
                <a:rot lat="0" lon="0" rev="0"/>
              </a:lightRig>
            </a:scene3d>
            <a:sp3d extrusionH="38100" prstMaterial="clear">
              <a:bevelT w="260350" h="50800" prst="softRound"/>
              <a:bevelB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7672325" y="5745929"/>
              <a:ext cx="2035084" cy="2035084"/>
            </a:xfrm>
            <a:prstGeom prst="ellipse">
              <a:avLst/>
            </a:prstGeom>
            <a:solidFill>
              <a:schemeClr val="bg1"/>
            </a:solidFill>
            <a:ln w="34925">
              <a:solidFill>
                <a:srgbClr val="FFFFFF"/>
              </a:solidFill>
            </a:ln>
            <a:effectLst>
              <a:outerShdw blurRad="317500" dir="2700000" algn="ctr">
                <a:srgbClr val="000000">
                  <a:alpha val="43000"/>
                </a:srgbClr>
              </a:outerShdw>
            </a:effectLst>
            <a:scene3d>
              <a:camera prst="perspectiveFront" fov="2700000">
                <a:rot lat="19086000" lon="19067999" rev="3108000"/>
              </a:camera>
              <a:lightRig rig="threePt" dir="t">
                <a:rot lat="0" lon="0" rev="0"/>
              </a:lightRig>
            </a:scene3d>
            <a:sp3d extrusionH="38100" prstMaterial="clear">
              <a:bevelT w="260350" h="50800" prst="softRound"/>
              <a:bevelB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6" name="Group 28"/>
            <p:cNvGrpSpPr/>
            <p:nvPr/>
          </p:nvGrpSpPr>
          <p:grpSpPr>
            <a:xfrm>
              <a:off x="6807200" y="7797604"/>
              <a:ext cx="1447996" cy="1447996"/>
              <a:chOff x="685800" y="4616003"/>
              <a:chExt cx="1023548" cy="1023548"/>
            </a:xfrm>
            <a:effectLst>
              <a:reflection blurRad="6350" stA="52000" endA="300" endPos="35000" dir="5400000" sy="-100000" algn="bl" rotWithShape="0"/>
            </a:effectLst>
          </p:grpSpPr>
          <p:sp>
            <p:nvSpPr>
              <p:cNvPr id="18" name="Oval 17"/>
              <p:cNvSpPr/>
              <p:nvPr/>
            </p:nvSpPr>
            <p:spPr>
              <a:xfrm>
                <a:off x="685800" y="4616003"/>
                <a:ext cx="1023548" cy="102354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3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3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9" name="Oval 18"/>
              <p:cNvSpPr>
                <a:spLocks noChangeArrowheads="1"/>
              </p:cNvSpPr>
              <p:nvPr/>
            </p:nvSpPr>
            <p:spPr bwMode="auto">
              <a:xfrm>
                <a:off x="815035" y="4639265"/>
                <a:ext cx="775415" cy="55072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0000">
                    <a:schemeClr val="bg1">
                      <a:alpha val="49000"/>
                    </a:schemeClr>
                  </a:gs>
                  <a:gs pos="100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>
            <a:xfrm rot="5400000" flipH="1" flipV="1">
              <a:off x="8902700" y="5854504"/>
              <a:ext cx="457200" cy="228600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9855004" y="6807004"/>
              <a:ext cx="685800" cy="1588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rot="10800000" flipV="1">
              <a:off x="6797675" y="6763470"/>
              <a:ext cx="722250" cy="5433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rot="5400000">
              <a:off x="7731125" y="7559479"/>
              <a:ext cx="438150" cy="304800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8"/>
            <p:cNvGrpSpPr/>
            <p:nvPr/>
          </p:nvGrpSpPr>
          <p:grpSpPr>
            <a:xfrm>
              <a:off x="5359400" y="6045004"/>
              <a:ext cx="1447996" cy="1447996"/>
              <a:chOff x="685800" y="4616003"/>
              <a:chExt cx="1023548" cy="1023548"/>
            </a:xfrm>
            <a:effectLst>
              <a:reflection blurRad="6350" stA="52000" endA="300" endPos="35000" dir="5400000" sy="-100000" algn="bl" rotWithShape="0"/>
            </a:effectLst>
          </p:grpSpPr>
          <p:sp>
            <p:nvSpPr>
              <p:cNvPr id="27" name="Oval 26"/>
              <p:cNvSpPr/>
              <p:nvPr/>
            </p:nvSpPr>
            <p:spPr>
              <a:xfrm>
                <a:off x="685800" y="4616003"/>
                <a:ext cx="1023548" cy="1023548"/>
              </a:xfrm>
              <a:prstGeom prst="ellipse">
                <a:avLst/>
              </a:prstGeom>
              <a:gradFill flip="none" rotWithShape="1">
                <a:gsLst>
                  <a:gs pos="0">
                    <a:srgbClr val="FC9204">
                      <a:shade val="30000"/>
                      <a:satMod val="115000"/>
                    </a:srgbClr>
                  </a:gs>
                  <a:gs pos="50000">
                    <a:srgbClr val="FC9204">
                      <a:shade val="67500"/>
                      <a:satMod val="115000"/>
                    </a:srgbClr>
                  </a:gs>
                  <a:gs pos="100000">
                    <a:srgbClr val="FC9204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8" name="Oval 27"/>
              <p:cNvSpPr>
                <a:spLocks noChangeArrowheads="1"/>
              </p:cNvSpPr>
              <p:nvPr/>
            </p:nvSpPr>
            <p:spPr bwMode="auto">
              <a:xfrm>
                <a:off x="815035" y="4639265"/>
                <a:ext cx="775415" cy="55072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0000">
                    <a:schemeClr val="bg1">
                      <a:alpha val="49000"/>
                    </a:schemeClr>
                  </a:gs>
                  <a:gs pos="100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0540804" y="6045004"/>
              <a:ext cx="1447996" cy="1447996"/>
              <a:chOff x="685800" y="4616003"/>
              <a:chExt cx="1023548" cy="1023548"/>
            </a:xfrm>
            <a:effectLst>
              <a:reflection blurRad="6350" stA="52000" endA="300" endPos="35000" dir="5400000" sy="-100000" algn="bl" rotWithShape="0"/>
            </a:effectLst>
          </p:grpSpPr>
          <p:sp>
            <p:nvSpPr>
              <p:cNvPr id="30" name="Oval 29"/>
              <p:cNvSpPr/>
              <p:nvPr/>
            </p:nvSpPr>
            <p:spPr>
              <a:xfrm>
                <a:off x="685800" y="4616003"/>
                <a:ext cx="1023548" cy="102354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shade val="30000"/>
                      <a:satMod val="115000"/>
                    </a:schemeClr>
                  </a:gs>
                  <a:gs pos="50000">
                    <a:schemeClr val="accent2">
                      <a:shade val="67500"/>
                      <a:satMod val="115000"/>
                    </a:schemeClr>
                  </a:gs>
                  <a:gs pos="100000">
                    <a:schemeClr val="accent2"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1" name="Oval 30"/>
              <p:cNvSpPr>
                <a:spLocks noChangeArrowheads="1"/>
              </p:cNvSpPr>
              <p:nvPr/>
            </p:nvSpPr>
            <p:spPr bwMode="auto">
              <a:xfrm>
                <a:off x="815035" y="4639265"/>
                <a:ext cx="775415" cy="55072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0000">
                    <a:schemeClr val="bg1">
                      <a:alpha val="49000"/>
                    </a:schemeClr>
                  </a:gs>
                  <a:gs pos="100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8788204" y="4631013"/>
              <a:ext cx="1310662" cy="3412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200" smtClean="0">
                  <a:solidFill>
                    <a:schemeClr val="bg1"/>
                  </a:solidFill>
                  <a:cs typeface="Arial" pitchFamily="34" charset="0"/>
                </a:rPr>
                <a:t>Tài chính</a:t>
              </a:r>
              <a:endParaRPr lang="en-US" sz="3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629631" y="6353966"/>
              <a:ext cx="1310662" cy="3053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smtClean="0">
                  <a:solidFill>
                    <a:schemeClr val="bg1"/>
                  </a:solidFill>
                  <a:cs typeface="Arial" pitchFamily="34" charset="0"/>
                </a:rPr>
                <a:t>Khách hàng</a:t>
              </a:r>
              <a:endParaRPr lang="en-US" sz="28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071049" y="7993292"/>
              <a:ext cx="1005862" cy="511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smtClean="0">
                  <a:solidFill>
                    <a:schemeClr val="bg1"/>
                  </a:solidFill>
                  <a:cs typeface="Arial" pitchFamily="34" charset="0"/>
                </a:rPr>
                <a:t>Quy trình </a:t>
              </a:r>
            </a:p>
            <a:p>
              <a:pPr algn="ctr"/>
              <a:r>
                <a:rPr lang="en-US" sz="2800" smtClean="0">
                  <a:solidFill>
                    <a:schemeClr val="bg1"/>
                  </a:solidFill>
                  <a:cs typeface="Arial" pitchFamily="34" charset="0"/>
                </a:rPr>
                <a:t>nội bộ</a:t>
              </a:r>
              <a:endParaRPr lang="en-US" sz="28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470848" y="6203645"/>
              <a:ext cx="1310662" cy="5568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smtClean="0">
                  <a:solidFill>
                    <a:schemeClr val="bg1"/>
                  </a:solidFill>
                  <a:cs typeface="Arial" pitchFamily="34" charset="0"/>
                </a:rPr>
                <a:t>Sáng tạo &amp; </a:t>
              </a:r>
            </a:p>
            <a:p>
              <a:pPr algn="ctr"/>
              <a:r>
                <a:rPr lang="en-US" sz="2800" smtClean="0">
                  <a:solidFill>
                    <a:schemeClr val="bg1"/>
                  </a:solidFill>
                  <a:cs typeface="Arial" pitchFamily="34" charset="0"/>
                </a:rPr>
                <a:t>phát triển</a:t>
              </a:r>
              <a:endParaRPr lang="en-US" sz="28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706338" y="6529967"/>
              <a:ext cx="1920262" cy="6286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smtClean="0">
                  <a:solidFill>
                    <a:schemeClr val="tx1">
                      <a:lumMod val="50000"/>
                    </a:schemeClr>
                  </a:solidFill>
                  <a:cs typeface="Arial" pitchFamily="34" charset="0"/>
                </a:rPr>
                <a:t>Thẻ điểm cân bằng</a:t>
              </a:r>
            </a:p>
            <a:p>
              <a:pPr algn="ctr"/>
              <a:r>
                <a:rPr lang="en-US" sz="3200" b="1" smtClean="0">
                  <a:solidFill>
                    <a:schemeClr val="tx1">
                      <a:lumMod val="50000"/>
                    </a:schemeClr>
                  </a:solidFill>
                  <a:cs typeface="Arial" pitchFamily="34" charset="0"/>
                </a:rPr>
                <a:t>(Balance Scorecard)</a:t>
              </a:r>
              <a:endParaRPr lang="en-US" sz="3200" b="1" dirty="0">
                <a:solidFill>
                  <a:schemeClr val="tx1">
                    <a:lumMod val="50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34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>
            <a:off x="6817562" y="6336063"/>
            <a:ext cx="10785815" cy="24979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77478" y="4854326"/>
            <a:ext cx="17135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Tài nguyên doanh nghiệp</a:t>
            </a:r>
            <a:endParaRPr lang="en-US" sz="8000" spc="100" dirty="0">
              <a:solidFill>
                <a:schemeClr val="bg1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20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3258951" y="2232255"/>
            <a:ext cx="17706934" cy="16195"/>
          </a:xfrm>
          <a:prstGeom prst="line">
            <a:avLst/>
          </a:prstGeom>
          <a:ln w="50800">
            <a:solidFill>
              <a:srgbClr val="507392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58951" y="2248450"/>
            <a:ext cx="6200078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C9398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69057" y="1204036"/>
            <a:ext cx="795614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Các tài nguyên doanh nghiệp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444" y="4211713"/>
            <a:ext cx="4478410" cy="2985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456" y="3465652"/>
            <a:ext cx="3619499" cy="2868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2914" y="3327694"/>
            <a:ext cx="5645686" cy="3770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444" y="8721804"/>
            <a:ext cx="4903956" cy="3110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2914" y="7882267"/>
            <a:ext cx="5975886" cy="3964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5206025" y="7579704"/>
            <a:ext cx="5080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mtClean="0">
                <a:latin typeface="Arial" pitchFamily="34" charset="0"/>
                <a:cs typeface="Arial" pitchFamily="34" charset="0"/>
              </a:rPr>
              <a:t>Tài chính – tài sản vật chất</a:t>
            </a:r>
            <a:endParaRPr lang="en-US"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348018" y="7467842"/>
            <a:ext cx="20056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Thông tin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10119" y="12127468"/>
            <a:ext cx="3281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Các mối quan hệ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348018" y="12127468"/>
            <a:ext cx="18485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Nhân lực</a:t>
            </a:r>
          </a:p>
        </p:txBody>
      </p:sp>
    </p:spTree>
    <p:extLst>
      <p:ext uri="{BB962C8B-B14F-4D97-AF65-F5344CB8AC3E}">
        <p14:creationId xmlns:p14="http://schemas.microsoft.com/office/powerpoint/2010/main" val="378022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3258951" y="2232255"/>
            <a:ext cx="17706934" cy="16195"/>
          </a:xfrm>
          <a:prstGeom prst="line">
            <a:avLst/>
          </a:prstGeom>
          <a:ln w="50800">
            <a:solidFill>
              <a:srgbClr val="507392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58951" y="2248450"/>
            <a:ext cx="6200078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C9398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69057" y="1204036"/>
            <a:ext cx="795614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Các tài nguyên doanh nghiệp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5" name="Group 26"/>
          <p:cNvGrpSpPr>
            <a:grpSpLocks/>
          </p:cNvGrpSpPr>
          <p:nvPr/>
        </p:nvGrpSpPr>
        <p:grpSpPr bwMode="auto">
          <a:xfrm>
            <a:off x="6004128" y="4153862"/>
            <a:ext cx="12868072" cy="8025025"/>
            <a:chOff x="1104" y="1248"/>
            <a:chExt cx="3984" cy="2888"/>
          </a:xfrm>
        </p:grpSpPr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1104" y="3457"/>
              <a:ext cx="384" cy="336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rgbClr val="00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1488" y="2161"/>
              <a:ext cx="384" cy="1632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rgbClr val="00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1872" y="2737"/>
              <a:ext cx="384" cy="105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rgbClr val="00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2256" y="3265"/>
              <a:ext cx="384" cy="528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3552" y="2112"/>
              <a:ext cx="384" cy="1681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rgbClr val="00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3936" y="2785"/>
              <a:ext cx="384" cy="1008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rgbClr val="00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4320" y="3073"/>
              <a:ext cx="384" cy="72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rgbClr val="00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Rectangle 12"/>
            <p:cNvSpPr>
              <a:spLocks noChangeArrowheads="1"/>
            </p:cNvSpPr>
            <p:nvPr/>
          </p:nvSpPr>
          <p:spPr bwMode="auto">
            <a:xfrm>
              <a:off x="4704" y="2064"/>
              <a:ext cx="384" cy="172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 rot="10796532">
              <a:off x="3552" y="1295"/>
              <a:ext cx="384" cy="7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r>
                <a:rPr lang="fr-CH" sz="3200" b="1" smtClean="0">
                  <a:latin typeface="Arial" pitchFamily="34" charset="0"/>
                  <a:cs typeface="Arial" pitchFamily="34" charset="0"/>
                </a:rPr>
                <a:t>Thông Tin</a:t>
              </a:r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 rot="10800000">
              <a:off x="3936" y="2017"/>
              <a:ext cx="384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r>
                <a:rPr lang="fr-CH" sz="3200" b="1" smtClean="0">
                  <a:latin typeface="Arial" pitchFamily="34" charset="0"/>
                  <a:cs typeface="Arial" pitchFamily="34" charset="0"/>
                </a:rPr>
                <a:t>Nhân Sự</a:t>
              </a:r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 rot="10800000">
              <a:off x="4320" y="2113"/>
              <a:ext cx="384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r>
                <a:rPr lang="fr-CH" sz="3200" b="1" smtClean="0">
                  <a:latin typeface="Arial" pitchFamily="34" charset="0"/>
                  <a:cs typeface="Arial" pitchFamily="34" charset="0"/>
                </a:rPr>
                <a:t>Tài Chính</a:t>
              </a:r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 rot="10800000">
              <a:off x="4704" y="1248"/>
              <a:ext cx="384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r>
                <a:rPr lang="fr-CH" sz="3200" b="1" smtClean="0">
                  <a:latin typeface="Arial" pitchFamily="34" charset="0"/>
                  <a:cs typeface="Arial" pitchFamily="34" charset="0"/>
                </a:rPr>
                <a:t>Mối QH</a:t>
              </a:r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Rectangle 17"/>
            <p:cNvSpPr>
              <a:spLocks noChangeArrowheads="1"/>
            </p:cNvSpPr>
            <p:nvPr/>
          </p:nvSpPr>
          <p:spPr bwMode="auto">
            <a:xfrm rot="10796532">
              <a:off x="1104" y="2544"/>
              <a:ext cx="384" cy="8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r>
                <a:rPr lang="fr-CH" sz="3200" b="1" smtClean="0">
                  <a:latin typeface="Arial" pitchFamily="34" charset="0"/>
                  <a:cs typeface="Arial" pitchFamily="34" charset="0"/>
                </a:rPr>
                <a:t>Thông Tin</a:t>
              </a:r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Rectangle 18"/>
            <p:cNvSpPr>
              <a:spLocks noChangeArrowheads="1"/>
            </p:cNvSpPr>
            <p:nvPr/>
          </p:nvSpPr>
          <p:spPr bwMode="auto">
            <a:xfrm rot="10800000">
              <a:off x="1488" y="1489"/>
              <a:ext cx="384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r>
                <a:rPr lang="fr-CH" sz="3200" b="1" smtClean="0">
                  <a:latin typeface="Arial" pitchFamily="34" charset="0"/>
                  <a:cs typeface="Arial" pitchFamily="34" charset="0"/>
                </a:rPr>
                <a:t>Nhân Sự</a:t>
              </a:r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Rectangle 19"/>
            <p:cNvSpPr>
              <a:spLocks noChangeArrowheads="1"/>
            </p:cNvSpPr>
            <p:nvPr/>
          </p:nvSpPr>
          <p:spPr bwMode="auto">
            <a:xfrm rot="10800000">
              <a:off x="1872" y="1777"/>
              <a:ext cx="384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r>
                <a:rPr lang="fr-CH" sz="3200" b="1" smtClean="0">
                  <a:latin typeface="Arial" pitchFamily="34" charset="0"/>
                  <a:cs typeface="Arial" pitchFamily="34" charset="0"/>
                </a:rPr>
                <a:t>Tài Chính</a:t>
              </a:r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Rectangle 20"/>
            <p:cNvSpPr>
              <a:spLocks noChangeArrowheads="1"/>
            </p:cNvSpPr>
            <p:nvPr/>
          </p:nvSpPr>
          <p:spPr bwMode="auto">
            <a:xfrm rot="10800000">
              <a:off x="2256" y="1633"/>
              <a:ext cx="384" cy="15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r>
                <a:rPr lang="fr-CH" sz="3200" b="1" smtClean="0">
                  <a:latin typeface="Arial" pitchFamily="34" charset="0"/>
                  <a:cs typeface="Arial" pitchFamily="34" charset="0"/>
                </a:rPr>
                <a:t>Mối Quan Hệ</a:t>
              </a:r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Rectangle 21"/>
            <p:cNvSpPr>
              <a:spLocks noChangeArrowheads="1"/>
            </p:cNvSpPr>
            <p:nvPr/>
          </p:nvSpPr>
          <p:spPr bwMode="auto">
            <a:xfrm>
              <a:off x="2822" y="1920"/>
              <a:ext cx="5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2534" y="1933"/>
              <a:ext cx="57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/>
              <a:endParaRPr lang="en-US" sz="3200" b="1">
                <a:latin typeface="Arial" pitchFamily="34" charset="0"/>
                <a:cs typeface="Arial" pitchFamily="34" charset="0"/>
              </a:endParaRPr>
            </a:p>
            <a:p>
              <a:pPr eaLnBrk="1" hangingPunct="1"/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1738" y="3926"/>
              <a:ext cx="2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 eaLnBrk="1" hangingPunct="1"/>
              <a:r>
                <a:rPr lang="fr-CH" sz="3200" b="1" smtClean="0">
                  <a:latin typeface="Arial" pitchFamily="34" charset="0"/>
                  <a:cs typeface="Arial" pitchFamily="34" charset="0"/>
                </a:rPr>
                <a:t>80’s</a:t>
              </a:r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6" name="Text Box 24"/>
            <p:cNvSpPr txBox="1">
              <a:spLocks noChangeArrowheads="1"/>
            </p:cNvSpPr>
            <p:nvPr/>
          </p:nvSpPr>
          <p:spPr bwMode="auto">
            <a:xfrm>
              <a:off x="4053" y="3926"/>
              <a:ext cx="58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 eaLnBrk="1" hangingPunct="1"/>
              <a:r>
                <a:rPr lang="fr-CH" sz="3200" b="1" smtClean="0">
                  <a:latin typeface="Arial" pitchFamily="34" charset="0"/>
                  <a:cs typeface="Arial" pitchFamily="34" charset="0"/>
                </a:rPr>
                <a:t>Hiện nay</a:t>
              </a:r>
              <a:endParaRPr lang="en-US" sz="3200" b="1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224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400" y="25400"/>
            <a:ext cx="24384000" cy="13716000"/>
          </a:xfrm>
          <a:prstGeom prst="rect">
            <a:avLst/>
          </a:prstGeom>
          <a:solidFill>
            <a:schemeClr val="tx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>
            <a:off x="6817562" y="6336063"/>
            <a:ext cx="10785815" cy="24979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77478" y="4854326"/>
            <a:ext cx="17135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Chức năng quản lý</a:t>
            </a:r>
            <a:endParaRPr lang="en-US" sz="8000" spc="100" dirty="0">
              <a:solidFill>
                <a:schemeClr val="bg1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16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3258951" y="2232255"/>
            <a:ext cx="17706934" cy="16195"/>
          </a:xfrm>
          <a:prstGeom prst="line">
            <a:avLst/>
          </a:prstGeom>
          <a:ln w="50800">
            <a:solidFill>
              <a:srgbClr val="507392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58951" y="2248450"/>
            <a:ext cx="4218333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69058" y="1204036"/>
            <a:ext cx="57772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Các chức năng quản lý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C9398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37328" y="7640554"/>
            <a:ext cx="3410918" cy="840256"/>
          </a:xfrm>
          <a:prstGeom prst="rect">
            <a:avLst/>
          </a:prstGeom>
          <a:solidFill>
            <a:srgbClr val="507392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4612632" y="7793723"/>
            <a:ext cx="3261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Hoạch định</a:t>
            </a:r>
            <a:endParaRPr lang="tr-TR" sz="2800" spc="100" dirty="0" smtClean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8453778" y="7640554"/>
            <a:ext cx="3410918" cy="840256"/>
          </a:xfrm>
          <a:prstGeom prst="rect">
            <a:avLst/>
          </a:prstGeom>
          <a:solidFill>
            <a:srgbClr val="507392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8529082" y="7793723"/>
            <a:ext cx="3261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Tổ chức</a:t>
            </a:r>
            <a:endParaRPr lang="tr-TR" sz="2800" spc="100" dirty="0" smtClean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2370228" y="7640554"/>
            <a:ext cx="3410918" cy="840256"/>
          </a:xfrm>
          <a:prstGeom prst="rect">
            <a:avLst/>
          </a:prstGeom>
          <a:solidFill>
            <a:srgbClr val="507392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12445532" y="7793723"/>
            <a:ext cx="3261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Lãnh đạo</a:t>
            </a:r>
            <a:endParaRPr lang="tr-TR" sz="2800" spc="100" dirty="0" smtClean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6286678" y="7640554"/>
            <a:ext cx="3410918" cy="840256"/>
          </a:xfrm>
          <a:prstGeom prst="rect">
            <a:avLst/>
          </a:prstGeom>
          <a:solidFill>
            <a:srgbClr val="507392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16361982" y="7793723"/>
            <a:ext cx="3261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Kiểm soát</a:t>
            </a:r>
            <a:endParaRPr lang="tr-TR" sz="2800" spc="100" dirty="0" smtClean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329" y="4229636"/>
            <a:ext cx="3337270" cy="3410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6679" y="4229637"/>
            <a:ext cx="3337270" cy="3410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778" y="4229637"/>
            <a:ext cx="3337270" cy="3564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5532" y="4229636"/>
            <a:ext cx="3335614" cy="3410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1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3258951" y="2232255"/>
            <a:ext cx="17706934" cy="16195"/>
          </a:xfrm>
          <a:prstGeom prst="line">
            <a:avLst/>
          </a:prstGeom>
          <a:ln w="50800">
            <a:solidFill>
              <a:srgbClr val="507392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58951" y="2248450"/>
            <a:ext cx="4218333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69058" y="1204036"/>
            <a:ext cx="57772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Cấu trúc </a:t>
            </a:r>
          </a:p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tổ chức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C9398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00" y="3349624"/>
            <a:ext cx="11150600" cy="8936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35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C25252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>
            <a:off x="6817562" y="6336063"/>
            <a:ext cx="10785815" cy="24979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77478" y="4854326"/>
            <a:ext cx="17135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Chuổi giá trị của doanh nghiệp</a:t>
            </a:r>
            <a:endParaRPr lang="en-US" sz="8000" spc="100" dirty="0">
              <a:solidFill>
                <a:schemeClr val="bg1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99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3258951" y="2232255"/>
            <a:ext cx="17706934" cy="16195"/>
          </a:xfrm>
          <a:prstGeom prst="line">
            <a:avLst/>
          </a:prstGeom>
          <a:ln w="50800">
            <a:solidFill>
              <a:srgbClr val="507392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58951" y="2248450"/>
            <a:ext cx="4218333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69058" y="1204036"/>
            <a:ext cx="57772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Chuổi giá trị doanh nghiệp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C9398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5046759" y="4343398"/>
            <a:ext cx="13723841" cy="7466219"/>
            <a:chOff x="933537" y="1828797"/>
            <a:chExt cx="7047244" cy="3968421"/>
          </a:xfrm>
        </p:grpSpPr>
        <p:grpSp>
          <p:nvGrpSpPr>
            <p:cNvPr id="35" name="Group 34"/>
            <p:cNvGrpSpPr/>
            <p:nvPr/>
          </p:nvGrpSpPr>
          <p:grpSpPr>
            <a:xfrm>
              <a:off x="1252955" y="2057400"/>
              <a:ext cx="6727826" cy="3459578"/>
              <a:chOff x="1066800" y="2057400"/>
              <a:chExt cx="6727826" cy="3459578"/>
            </a:xfrm>
            <a:effectLst>
              <a:reflection blurRad="6350" stA="52000" endA="300" endPos="35000" dir="5400000" sy="-100000" algn="bl" rotWithShape="0"/>
            </a:effectLst>
          </p:grpSpPr>
          <p:sp>
            <p:nvSpPr>
              <p:cNvPr id="53" name="AutoShape 4"/>
              <p:cNvSpPr>
                <a:spLocks noChangeAspect="1" noChangeArrowheads="1" noTextEdit="1"/>
              </p:cNvSpPr>
              <p:nvPr/>
            </p:nvSpPr>
            <p:spPr bwMode="auto">
              <a:xfrm>
                <a:off x="1066800" y="2057400"/>
                <a:ext cx="6723921" cy="34595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 dirty="0"/>
              </a:p>
            </p:txBody>
          </p:sp>
          <p:sp>
            <p:nvSpPr>
              <p:cNvPr id="54" name="Freeform 6"/>
              <p:cNvSpPr>
                <a:spLocks/>
              </p:cNvSpPr>
              <p:nvPr/>
            </p:nvSpPr>
            <p:spPr bwMode="auto">
              <a:xfrm>
                <a:off x="6263977" y="2061305"/>
                <a:ext cx="1530649" cy="3451769"/>
              </a:xfrm>
              <a:custGeom>
                <a:avLst/>
                <a:gdLst/>
                <a:ahLst/>
                <a:cxnLst>
                  <a:cxn ang="0">
                    <a:pos x="784" y="884"/>
                  </a:cxn>
                  <a:cxn ang="0">
                    <a:pos x="326" y="0"/>
                  </a:cxn>
                  <a:cxn ang="0">
                    <a:pos x="326" y="0"/>
                  </a:cxn>
                  <a:cxn ang="0">
                    <a:pos x="0" y="0"/>
                  </a:cxn>
                  <a:cxn ang="0">
                    <a:pos x="461" y="884"/>
                  </a:cxn>
                  <a:cxn ang="0">
                    <a:pos x="0" y="1768"/>
                  </a:cxn>
                  <a:cxn ang="0">
                    <a:pos x="326" y="1768"/>
                  </a:cxn>
                  <a:cxn ang="0">
                    <a:pos x="784" y="884"/>
                  </a:cxn>
                </a:cxnLst>
                <a:rect l="0" t="0" r="r" b="b"/>
                <a:pathLst>
                  <a:path w="784" h="1768">
                    <a:moveTo>
                      <a:pt x="784" y="884"/>
                    </a:moveTo>
                    <a:lnTo>
                      <a:pt x="326" y="0"/>
                    </a:lnTo>
                    <a:lnTo>
                      <a:pt x="326" y="0"/>
                    </a:lnTo>
                    <a:lnTo>
                      <a:pt x="0" y="0"/>
                    </a:lnTo>
                    <a:lnTo>
                      <a:pt x="461" y="884"/>
                    </a:lnTo>
                    <a:lnTo>
                      <a:pt x="0" y="1768"/>
                    </a:lnTo>
                    <a:lnTo>
                      <a:pt x="326" y="1768"/>
                    </a:lnTo>
                    <a:lnTo>
                      <a:pt x="784" y="884"/>
                    </a:lnTo>
                    <a:close/>
                  </a:path>
                </a:pathLst>
              </a:custGeom>
              <a:solidFill>
                <a:srgbClr val="3A3A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 dirty="0"/>
              </a:p>
            </p:txBody>
          </p:sp>
          <p:grpSp>
            <p:nvGrpSpPr>
              <p:cNvPr id="55" name="Group 54"/>
              <p:cNvGrpSpPr/>
              <p:nvPr/>
            </p:nvGrpSpPr>
            <p:grpSpPr>
              <a:xfrm>
                <a:off x="1070705" y="2061305"/>
                <a:ext cx="6009358" cy="1679028"/>
                <a:chOff x="1070705" y="2061305"/>
                <a:chExt cx="6009358" cy="1679028"/>
              </a:xfrm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</p:grpSpPr>
            <p:sp>
              <p:nvSpPr>
                <p:cNvPr id="61" name="Freeform 7"/>
                <p:cNvSpPr>
                  <a:spLocks/>
                </p:cNvSpPr>
                <p:nvPr/>
              </p:nvSpPr>
              <p:spPr bwMode="auto">
                <a:xfrm>
                  <a:off x="1070705" y="2481062"/>
                  <a:ext cx="5552506" cy="382662"/>
                </a:xfrm>
                <a:custGeom>
                  <a:avLst/>
                  <a:gdLst/>
                  <a:ahLst/>
                  <a:cxnLst>
                    <a:cxn ang="0">
                      <a:pos x="2743" y="0"/>
                    </a:cxn>
                    <a:cxn ang="0">
                      <a:pos x="0" y="0"/>
                    </a:cxn>
                    <a:cxn ang="0">
                      <a:pos x="0" y="196"/>
                    </a:cxn>
                    <a:cxn ang="0">
                      <a:pos x="2844" y="196"/>
                    </a:cxn>
                    <a:cxn ang="0">
                      <a:pos x="2743" y="0"/>
                    </a:cxn>
                  </a:cxnLst>
                  <a:rect l="0" t="0" r="r" b="b"/>
                  <a:pathLst>
                    <a:path w="2844" h="196">
                      <a:moveTo>
                        <a:pt x="2743" y="0"/>
                      </a:moveTo>
                      <a:lnTo>
                        <a:pt x="0" y="0"/>
                      </a:lnTo>
                      <a:lnTo>
                        <a:pt x="0" y="196"/>
                      </a:lnTo>
                      <a:lnTo>
                        <a:pt x="2844" y="196"/>
                      </a:lnTo>
                      <a:lnTo>
                        <a:pt x="2743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200" dirty="0"/>
                </a:p>
              </p:txBody>
            </p:sp>
            <p:sp>
              <p:nvSpPr>
                <p:cNvPr id="62" name="Freeform 8"/>
                <p:cNvSpPr>
                  <a:spLocks/>
                </p:cNvSpPr>
                <p:nvPr/>
              </p:nvSpPr>
              <p:spPr bwMode="auto">
                <a:xfrm>
                  <a:off x="1070705" y="3353766"/>
                  <a:ext cx="6009358" cy="386567"/>
                </a:xfrm>
                <a:custGeom>
                  <a:avLst/>
                  <a:gdLst/>
                  <a:ahLst/>
                  <a:cxnLst>
                    <a:cxn ang="0">
                      <a:pos x="2974" y="0"/>
                    </a:cxn>
                    <a:cxn ang="0">
                      <a:pos x="2974" y="2"/>
                    </a:cxn>
                    <a:cxn ang="0">
                      <a:pos x="0" y="2"/>
                    </a:cxn>
                    <a:cxn ang="0">
                      <a:pos x="0" y="198"/>
                    </a:cxn>
                    <a:cxn ang="0">
                      <a:pos x="3078" y="198"/>
                    </a:cxn>
                    <a:cxn ang="0">
                      <a:pos x="2974" y="0"/>
                    </a:cxn>
                  </a:cxnLst>
                  <a:rect l="0" t="0" r="r" b="b"/>
                  <a:pathLst>
                    <a:path w="3078" h="198">
                      <a:moveTo>
                        <a:pt x="2974" y="0"/>
                      </a:moveTo>
                      <a:lnTo>
                        <a:pt x="2974" y="2"/>
                      </a:lnTo>
                      <a:lnTo>
                        <a:pt x="0" y="2"/>
                      </a:lnTo>
                      <a:lnTo>
                        <a:pt x="0" y="198"/>
                      </a:lnTo>
                      <a:lnTo>
                        <a:pt x="3078" y="198"/>
                      </a:lnTo>
                      <a:lnTo>
                        <a:pt x="2974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200" dirty="0"/>
                </a:p>
              </p:txBody>
            </p:sp>
            <p:sp>
              <p:nvSpPr>
                <p:cNvPr id="63" name="Freeform 9"/>
                <p:cNvSpPr>
                  <a:spLocks/>
                </p:cNvSpPr>
                <p:nvPr/>
              </p:nvSpPr>
              <p:spPr bwMode="auto">
                <a:xfrm>
                  <a:off x="1070705" y="2061305"/>
                  <a:ext cx="5327986" cy="368996"/>
                </a:xfrm>
                <a:custGeom>
                  <a:avLst/>
                  <a:gdLst/>
                  <a:ahLst/>
                  <a:cxnLst>
                    <a:cxn ang="0">
                      <a:pos x="2632" y="0"/>
                    </a:cxn>
                    <a:cxn ang="0">
                      <a:pos x="0" y="0"/>
                    </a:cxn>
                    <a:cxn ang="0">
                      <a:pos x="0" y="189"/>
                    </a:cxn>
                    <a:cxn ang="0">
                      <a:pos x="2729" y="189"/>
                    </a:cxn>
                    <a:cxn ang="0">
                      <a:pos x="2632" y="0"/>
                    </a:cxn>
                  </a:cxnLst>
                  <a:rect l="0" t="0" r="r" b="b"/>
                  <a:pathLst>
                    <a:path w="2729" h="189">
                      <a:moveTo>
                        <a:pt x="2632" y="0"/>
                      </a:moveTo>
                      <a:lnTo>
                        <a:pt x="0" y="0"/>
                      </a:lnTo>
                      <a:lnTo>
                        <a:pt x="0" y="189"/>
                      </a:lnTo>
                      <a:lnTo>
                        <a:pt x="2729" y="189"/>
                      </a:lnTo>
                      <a:lnTo>
                        <a:pt x="263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200" dirty="0"/>
                </a:p>
              </p:txBody>
            </p:sp>
            <p:sp>
              <p:nvSpPr>
                <p:cNvPr id="64" name="Freeform 10"/>
                <p:cNvSpPr>
                  <a:spLocks/>
                </p:cNvSpPr>
                <p:nvPr/>
              </p:nvSpPr>
              <p:spPr bwMode="auto">
                <a:xfrm>
                  <a:off x="1070705" y="2914486"/>
                  <a:ext cx="5784838" cy="392425"/>
                </a:xfrm>
                <a:custGeom>
                  <a:avLst/>
                  <a:gdLst/>
                  <a:ahLst/>
                  <a:cxnLst>
                    <a:cxn ang="0">
                      <a:pos x="2859" y="0"/>
                    </a:cxn>
                    <a:cxn ang="0">
                      <a:pos x="0" y="0"/>
                    </a:cxn>
                    <a:cxn ang="0">
                      <a:pos x="0" y="201"/>
                    </a:cxn>
                    <a:cxn ang="0">
                      <a:pos x="2963" y="201"/>
                    </a:cxn>
                    <a:cxn ang="0">
                      <a:pos x="2859" y="0"/>
                    </a:cxn>
                  </a:cxnLst>
                  <a:rect l="0" t="0" r="r" b="b"/>
                  <a:pathLst>
                    <a:path w="2963" h="201">
                      <a:moveTo>
                        <a:pt x="2859" y="0"/>
                      </a:moveTo>
                      <a:lnTo>
                        <a:pt x="0" y="0"/>
                      </a:lnTo>
                      <a:lnTo>
                        <a:pt x="0" y="201"/>
                      </a:lnTo>
                      <a:lnTo>
                        <a:pt x="2963" y="201"/>
                      </a:lnTo>
                      <a:lnTo>
                        <a:pt x="2859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3200" dirty="0"/>
                </a:p>
              </p:txBody>
            </p:sp>
          </p:grpSp>
          <p:sp>
            <p:nvSpPr>
              <p:cNvPr id="56" name="Rectangle 11"/>
              <p:cNvSpPr>
                <a:spLocks noChangeArrowheads="1"/>
              </p:cNvSpPr>
              <p:nvPr/>
            </p:nvSpPr>
            <p:spPr bwMode="auto">
              <a:xfrm>
                <a:off x="3243680" y="3841855"/>
                <a:ext cx="1079655" cy="167121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lumMod val="50000"/>
                      <a:shade val="30000"/>
                      <a:satMod val="115000"/>
                    </a:schemeClr>
                  </a:gs>
                  <a:gs pos="50000">
                    <a:schemeClr val="accent3">
                      <a:lumMod val="50000"/>
                      <a:shade val="67500"/>
                      <a:satMod val="115000"/>
                    </a:schemeClr>
                  </a:gs>
                  <a:gs pos="100000">
                    <a:schemeClr val="accent3">
                      <a:lumMod val="50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 dirty="0"/>
              </a:p>
            </p:txBody>
          </p:sp>
          <p:sp>
            <p:nvSpPr>
              <p:cNvPr id="57" name="Rectangle 12"/>
              <p:cNvSpPr>
                <a:spLocks noChangeArrowheads="1"/>
              </p:cNvSpPr>
              <p:nvPr/>
            </p:nvSpPr>
            <p:spPr bwMode="auto">
              <a:xfrm>
                <a:off x="4374095" y="3841855"/>
                <a:ext cx="1142130" cy="167121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3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3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 dirty="0"/>
              </a:p>
            </p:txBody>
          </p:sp>
          <p:sp>
            <p:nvSpPr>
              <p:cNvPr id="58" name="Rectangle 13"/>
              <p:cNvSpPr>
                <a:spLocks noChangeArrowheads="1"/>
              </p:cNvSpPr>
              <p:nvPr/>
            </p:nvSpPr>
            <p:spPr bwMode="auto">
              <a:xfrm>
                <a:off x="1070705" y="3841855"/>
                <a:ext cx="1005465" cy="1671218"/>
              </a:xfrm>
              <a:prstGeom prst="rect">
                <a:avLst/>
              </a:prstGeom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 dirty="0"/>
              </a:p>
            </p:txBody>
          </p:sp>
          <p:sp>
            <p:nvSpPr>
              <p:cNvPr id="59" name="Freeform 14"/>
              <p:cNvSpPr>
                <a:spLocks/>
              </p:cNvSpPr>
              <p:nvPr/>
            </p:nvSpPr>
            <p:spPr bwMode="auto">
              <a:xfrm>
                <a:off x="5566986" y="3841855"/>
                <a:ext cx="1509173" cy="1671218"/>
              </a:xfrm>
              <a:custGeom>
                <a:avLst/>
                <a:gdLst/>
                <a:ahLst/>
                <a:cxnLst>
                  <a:cxn ang="0">
                    <a:pos x="773" y="0"/>
                  </a:cxn>
                  <a:cxn ang="0">
                    <a:pos x="0" y="0"/>
                  </a:cxn>
                  <a:cxn ang="0">
                    <a:pos x="0" y="856"/>
                  </a:cxn>
                  <a:cxn ang="0">
                    <a:pos x="329" y="856"/>
                  </a:cxn>
                  <a:cxn ang="0">
                    <a:pos x="773" y="0"/>
                  </a:cxn>
                </a:cxnLst>
                <a:rect l="0" t="0" r="r" b="b"/>
                <a:pathLst>
                  <a:path w="773" h="856">
                    <a:moveTo>
                      <a:pt x="773" y="0"/>
                    </a:moveTo>
                    <a:lnTo>
                      <a:pt x="0" y="0"/>
                    </a:lnTo>
                    <a:lnTo>
                      <a:pt x="0" y="856"/>
                    </a:lnTo>
                    <a:lnTo>
                      <a:pt x="329" y="856"/>
                    </a:lnTo>
                    <a:lnTo>
                      <a:pt x="77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 dirty="0"/>
              </a:p>
            </p:txBody>
          </p:sp>
          <p:sp>
            <p:nvSpPr>
              <p:cNvPr id="60" name="Rectangle 15"/>
              <p:cNvSpPr>
                <a:spLocks noChangeArrowheads="1"/>
              </p:cNvSpPr>
              <p:nvPr/>
            </p:nvSpPr>
            <p:spPr bwMode="auto">
              <a:xfrm>
                <a:off x="2126931" y="3841855"/>
                <a:ext cx="1065988" cy="1671218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200" dirty="0"/>
              </a:p>
            </p:txBody>
          </p:sp>
        </p:grpSp>
        <p:sp>
          <p:nvSpPr>
            <p:cNvPr id="36" name="Rectangle 35"/>
            <p:cNvSpPr/>
            <p:nvPr/>
          </p:nvSpPr>
          <p:spPr>
            <a:xfrm>
              <a:off x="3234155" y="2057400"/>
              <a:ext cx="1752600" cy="3108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rgbClr val="FFFF00"/>
                  </a:solidFill>
                  <a:latin typeface="+mn-lt"/>
                  <a:ea typeface="굴림" charset="-127"/>
                  <a:cs typeface="Arial" pitchFamily="34" charset="0"/>
                </a:rPr>
                <a:t>Quản Lý Tài Chính</a:t>
              </a:r>
              <a:endParaRPr lang="en-US" sz="3200" kern="0" dirty="0" smtClean="0">
                <a:solidFill>
                  <a:srgbClr val="FFFF00"/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76600" y="2497311"/>
              <a:ext cx="1981200" cy="3108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rgbClr val="FFFF00"/>
                  </a:solidFill>
                  <a:latin typeface="+mn-lt"/>
                  <a:ea typeface="굴림" charset="-127"/>
                  <a:cs typeface="Arial" pitchFamily="34" charset="0"/>
                </a:rPr>
                <a:t>Quản Lý Nhân Sự</a:t>
              </a:r>
              <a:endParaRPr lang="en-US" sz="3200" kern="0" dirty="0" smtClean="0">
                <a:solidFill>
                  <a:srgbClr val="FFFF00"/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 rot="17823910">
              <a:off x="6562189" y="4538893"/>
              <a:ext cx="1244659" cy="3002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chemeClr val="bg1"/>
                  </a:solidFill>
                  <a:latin typeface="+mn-lt"/>
                  <a:ea typeface="굴림" charset="-127"/>
                  <a:cs typeface="Arial" pitchFamily="34" charset="0"/>
                </a:rPr>
                <a:t>Lợi Nhuận</a:t>
              </a:r>
              <a:endParaRPr lang="en-US" sz="3200" kern="0" dirty="0" smtClean="0">
                <a:solidFill>
                  <a:schemeClr val="bg1"/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76600" y="3385457"/>
              <a:ext cx="1600200" cy="3108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rgbClr val="FFFF00"/>
                  </a:solidFill>
                  <a:latin typeface="+mn-lt"/>
                  <a:ea typeface="굴림" charset="-127"/>
                  <a:cs typeface="Arial" pitchFamily="34" charset="0"/>
                </a:rPr>
                <a:t>Quản Lý Tài Sản</a:t>
              </a:r>
              <a:endParaRPr lang="en-US" sz="3200" kern="0" dirty="0" smtClean="0">
                <a:solidFill>
                  <a:srgbClr val="FFFF00"/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09305" y="4292025"/>
              <a:ext cx="934250" cy="572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chemeClr val="bg1"/>
                  </a:solidFill>
                  <a:ea typeface="굴림" charset="-127"/>
                  <a:cs typeface="Arial" pitchFamily="34" charset="0"/>
                </a:rPr>
                <a:t>Hậu Cân Đầu Vào</a:t>
              </a:r>
              <a:endParaRPr lang="en-US" sz="3200" kern="0" dirty="0" smtClean="0">
                <a:solidFill>
                  <a:schemeClr val="bg1"/>
                </a:solidFill>
                <a:ea typeface="굴림" charset="-127"/>
                <a:cs typeface="Arial" pitchFamily="34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301825" y="4292025"/>
              <a:ext cx="1160930" cy="3108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chemeClr val="bg1"/>
                  </a:solidFill>
                  <a:latin typeface="+mn-lt"/>
                  <a:ea typeface="굴림" charset="-127"/>
                  <a:cs typeface="Arial" pitchFamily="34" charset="0"/>
                </a:rPr>
                <a:t>Sản Xuất</a:t>
              </a:r>
              <a:endParaRPr lang="en-US" sz="3200" kern="0" dirty="0" smtClean="0">
                <a:solidFill>
                  <a:schemeClr val="bg1"/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386555" y="4292025"/>
              <a:ext cx="1114825" cy="572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chemeClr val="bg1"/>
                  </a:solidFill>
                  <a:latin typeface="+mn-lt"/>
                  <a:ea typeface="굴림" charset="-127"/>
                  <a:cs typeface="Arial" pitchFamily="34" charset="0"/>
                </a:rPr>
                <a:t>Hậu Cần Đầu ra</a:t>
              </a:r>
              <a:endParaRPr lang="en-US" sz="3200" kern="0" dirty="0" smtClean="0">
                <a:solidFill>
                  <a:schemeClr val="bg1"/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522512" y="4292025"/>
              <a:ext cx="1226243" cy="572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chemeClr val="bg1"/>
                  </a:solidFill>
                  <a:latin typeface="+mn-lt"/>
                  <a:ea typeface="굴림" charset="-127"/>
                  <a:cs typeface="Arial" pitchFamily="34" charset="0"/>
                </a:rPr>
                <a:t>Tiếp Thị &amp; Bán Hàng</a:t>
              </a:r>
              <a:endParaRPr lang="en-US" sz="3200" kern="0" dirty="0" smtClean="0">
                <a:solidFill>
                  <a:schemeClr val="bg1"/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05638" y="4292025"/>
              <a:ext cx="833717" cy="5725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chemeClr val="bg1"/>
                  </a:solidFill>
                  <a:latin typeface="+mn-lt"/>
                  <a:ea typeface="굴림" charset="-127"/>
                  <a:cs typeface="Arial" pitchFamily="34" charset="0"/>
                </a:rPr>
                <a:t>Dịch Vụ Hậu Mãi</a:t>
              </a:r>
              <a:endParaRPr lang="en-US" sz="3200" kern="0" dirty="0" smtClean="0">
                <a:solidFill>
                  <a:schemeClr val="bg1"/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 rot="3799890">
              <a:off x="6714133" y="2821266"/>
              <a:ext cx="1193424" cy="3002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chemeClr val="bg1"/>
                  </a:solidFill>
                  <a:latin typeface="+mn-lt"/>
                  <a:ea typeface="굴림" charset="-127"/>
                  <a:cs typeface="Arial" pitchFamily="34" charset="0"/>
                </a:rPr>
                <a:t>Lợi Nhuận</a:t>
              </a:r>
              <a:endParaRPr lang="en-US" sz="3200" kern="0" dirty="0" smtClean="0">
                <a:solidFill>
                  <a:schemeClr val="bg1"/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743200" y="2929538"/>
              <a:ext cx="3173532" cy="3108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rgbClr val="FFFF00"/>
                  </a:solidFill>
                  <a:latin typeface="+mn-lt"/>
                  <a:ea typeface="굴림" charset="-127"/>
                  <a:cs typeface="Arial" pitchFamily="34" charset="0"/>
                </a:rPr>
                <a:t>Quản Lý Kỹ Thuật/ Thông Tin</a:t>
              </a:r>
              <a:endParaRPr lang="en-US" sz="3200" kern="0" dirty="0" smtClean="0">
                <a:solidFill>
                  <a:srgbClr val="FFFF00"/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 rot="16200000">
              <a:off x="16878" y="2745456"/>
              <a:ext cx="2133601" cy="3002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chemeClr val="tx1">
                      <a:lumMod val="50000"/>
                    </a:schemeClr>
                  </a:solidFill>
                  <a:ea typeface="굴림" charset="-127"/>
                  <a:cs typeface="Arial" pitchFamily="34" charset="0"/>
                </a:rPr>
                <a:t>HOẠT ĐỘNG PHỤ TRỢ</a:t>
              </a:r>
              <a:endParaRPr lang="en-US" sz="3200" kern="0" dirty="0" smtClean="0">
                <a:solidFill>
                  <a:schemeClr val="tx1">
                    <a:lumMod val="50000"/>
                  </a:schemeClr>
                </a:solidFill>
                <a:ea typeface="굴림" charset="-127"/>
                <a:cs typeface="Arial" pitchFamily="34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929355" y="5486400"/>
              <a:ext cx="1965832" cy="3108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kern="0" smtClean="0">
                  <a:solidFill>
                    <a:schemeClr val="tx1">
                      <a:lumMod val="50000"/>
                    </a:schemeClr>
                  </a:solidFill>
                  <a:latin typeface="+mn-lt"/>
                  <a:ea typeface="굴림" charset="-127"/>
                  <a:cs typeface="Arial" pitchFamily="34" charset="0"/>
                </a:rPr>
                <a:t>HOẠT ĐỘNG CHÍNH</a:t>
              </a:r>
              <a:endParaRPr lang="en-US" sz="3200" kern="0" dirty="0" smtClean="0">
                <a:solidFill>
                  <a:schemeClr val="tx1">
                    <a:lumMod val="50000"/>
                  </a:schemeClr>
                </a:solidFill>
                <a:latin typeface="+mn-lt"/>
                <a:ea typeface="굴림" charset="-127"/>
                <a:cs typeface="Arial" pitchFamily="34" charset="0"/>
              </a:endParaRPr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1252955" y="5670966"/>
              <a:ext cx="1676400" cy="1588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834355" y="5672554"/>
              <a:ext cx="1635418" cy="1588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426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782A2A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>
            <a:off x="6817562" y="6336063"/>
            <a:ext cx="10785815" cy="24979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77478" y="4854326"/>
            <a:ext cx="171350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Các chu trình cơ bản </a:t>
            </a:r>
            <a:endParaRPr lang="en-US" sz="8000" spc="100" dirty="0">
              <a:solidFill>
                <a:schemeClr val="bg1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2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/>
        </p:nvCxnSpPr>
        <p:spPr>
          <a:xfrm flipV="1">
            <a:off x="12199473" y="0"/>
            <a:ext cx="39820" cy="13716001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11226243" y="1557500"/>
            <a:ext cx="1990539" cy="1990539"/>
          </a:xfrm>
          <a:prstGeom prst="ellipse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804036" y="1959015"/>
            <a:ext cx="7554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endParaRPr lang="en-US" sz="8000" spc="100" dirty="0">
              <a:solidFill>
                <a:schemeClr val="bg1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1226243" y="5900701"/>
            <a:ext cx="1990539" cy="1990539"/>
          </a:xfrm>
          <a:prstGeom prst="ellipse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1843792" y="6302216"/>
            <a:ext cx="7554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US" sz="8000" spc="100" dirty="0">
              <a:solidFill>
                <a:schemeClr val="bg1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06787" y="2221807"/>
            <a:ext cx="457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Chu trình quản lý chiến lược</a:t>
            </a:r>
            <a:endParaRPr lang="en-US" sz="38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3859979" y="6213509"/>
            <a:ext cx="457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Chu trình </a:t>
            </a:r>
          </a:p>
          <a:p>
            <a:r>
              <a:rPr lang="en-US" sz="3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kinh doanh</a:t>
            </a:r>
            <a:endParaRPr lang="en-US" sz="38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1226243" y="10232959"/>
            <a:ext cx="1990539" cy="1990539"/>
          </a:xfrm>
          <a:prstGeom prst="ellipse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1804036" y="10634474"/>
            <a:ext cx="7554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pc="100" smtClean="0">
                <a:solidFill>
                  <a:schemeClr val="bg1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sz="8000" spc="100" dirty="0">
              <a:solidFill>
                <a:schemeClr val="bg1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06787" y="10541666"/>
            <a:ext cx="457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8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Chu trình quản lý tài nguyên</a:t>
            </a:r>
            <a:endParaRPr lang="en-US" sz="38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6995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3258951" y="2232255"/>
            <a:ext cx="17706934" cy="16195"/>
          </a:xfrm>
          <a:prstGeom prst="line">
            <a:avLst/>
          </a:prstGeom>
          <a:ln w="50800">
            <a:solidFill>
              <a:srgbClr val="507392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58951" y="2248450"/>
            <a:ext cx="4218333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69058" y="1204036"/>
            <a:ext cx="57772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Chu trình </a:t>
            </a:r>
          </a:p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kinh doanh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C9398"/>
              </a:solidFill>
            </a:endParaRPr>
          </a:p>
        </p:txBody>
      </p:sp>
      <p:grpSp>
        <p:nvGrpSpPr>
          <p:cNvPr id="41" name="Group 4"/>
          <p:cNvGrpSpPr>
            <a:grpSpLocks/>
          </p:cNvGrpSpPr>
          <p:nvPr/>
        </p:nvGrpSpPr>
        <p:grpSpPr bwMode="auto">
          <a:xfrm>
            <a:off x="6700838" y="4140200"/>
            <a:ext cx="11028362" cy="8178800"/>
            <a:chOff x="1200" y="912"/>
            <a:chExt cx="4049" cy="3024"/>
          </a:xfrm>
        </p:grpSpPr>
        <p:sp>
          <p:nvSpPr>
            <p:cNvPr id="43" name="Text Box 5"/>
            <p:cNvSpPr txBox="1">
              <a:spLocks noChangeArrowheads="1"/>
            </p:cNvSpPr>
            <p:nvPr/>
          </p:nvSpPr>
          <p:spPr bwMode="auto">
            <a:xfrm>
              <a:off x="2618" y="1550"/>
              <a:ext cx="13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 eaLnBrk="1" hangingPunct="1"/>
              <a:r>
                <a:rPr lang="en-US" b="1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Tìm kiếm đơn hàng</a:t>
              </a:r>
              <a:endParaRPr lang="en-US" b="1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 Box 6"/>
            <p:cNvSpPr txBox="1">
              <a:spLocks noChangeArrowheads="1"/>
            </p:cNvSpPr>
            <p:nvPr/>
          </p:nvSpPr>
          <p:spPr bwMode="auto">
            <a:xfrm>
              <a:off x="3549" y="2526"/>
              <a:ext cx="170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 eaLnBrk="1" hangingPunct="1"/>
              <a:r>
                <a:rPr lang="en-US" b="1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 pitchFamily="34" charset="0"/>
                  <a:cs typeface="Arial" pitchFamily="34" charset="0"/>
                </a:rPr>
                <a:t>Thực thi đơn hàng </a:t>
              </a:r>
            </a:p>
            <a:p>
              <a:pPr algn="ctr" eaLnBrk="1" hangingPunct="1"/>
              <a:r>
                <a:rPr lang="en-US" b="1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 pitchFamily="34" charset="0"/>
                  <a:cs typeface="Arial" pitchFamily="34" charset="0"/>
                </a:rPr>
                <a:t>&amp; Chăm sóc sau khi bán</a:t>
              </a:r>
              <a:endParaRPr lang="en-US" b="1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6" name="Text Box 7"/>
            <p:cNvSpPr txBox="1">
              <a:spLocks noChangeArrowheads="1"/>
            </p:cNvSpPr>
            <p:nvPr/>
          </p:nvSpPr>
          <p:spPr bwMode="auto">
            <a:xfrm>
              <a:off x="1838" y="2706"/>
              <a:ext cx="64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 eaLnBrk="1" hangingPunct="1"/>
              <a:r>
                <a:rPr lang="en-US" b="1" smtClean="0">
                  <a:latin typeface="Arial" pitchFamily="34" charset="0"/>
                  <a:cs typeface="Arial" pitchFamily="34" charset="0"/>
                </a:rPr>
                <a:t>Thu tiền</a:t>
              </a:r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7" name="AutoShape 8"/>
            <p:cNvSpPr>
              <a:spLocks noChangeArrowheads="1"/>
            </p:cNvSpPr>
            <p:nvPr/>
          </p:nvSpPr>
          <p:spPr bwMode="auto">
            <a:xfrm rot="2959688">
              <a:off x="4296" y="1608"/>
              <a:ext cx="1056" cy="528"/>
            </a:xfrm>
            <a:prstGeom prst="curvedDownArrow">
              <a:avLst>
                <a:gd name="adj1" fmla="val 40000"/>
                <a:gd name="adj2" fmla="val 80000"/>
                <a:gd name="adj3" fmla="val 33333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8" name="AutoShape 9"/>
            <p:cNvSpPr>
              <a:spLocks noChangeArrowheads="1"/>
            </p:cNvSpPr>
            <p:nvPr/>
          </p:nvSpPr>
          <p:spPr bwMode="auto">
            <a:xfrm rot="5270135">
              <a:off x="2669" y="3000"/>
              <a:ext cx="768" cy="1104"/>
            </a:xfrm>
            <a:prstGeom prst="curvedLeftArrow">
              <a:avLst>
                <a:gd name="adj1" fmla="val 28750"/>
                <a:gd name="adj2" fmla="val 57500"/>
                <a:gd name="adj3" fmla="val 33333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AutoShape 10"/>
            <p:cNvSpPr>
              <a:spLocks noChangeArrowheads="1"/>
            </p:cNvSpPr>
            <p:nvPr/>
          </p:nvSpPr>
          <p:spPr bwMode="auto">
            <a:xfrm rot="-4118536">
              <a:off x="1080" y="1464"/>
              <a:ext cx="960" cy="720"/>
            </a:xfrm>
            <a:prstGeom prst="curvedDownArrow">
              <a:avLst>
                <a:gd name="adj1" fmla="val 26667"/>
                <a:gd name="adj2" fmla="val 53333"/>
                <a:gd name="adj3" fmla="val 33333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0" name="Picture 11" descr="po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912"/>
              <a:ext cx="960" cy="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" name="Picture 12" descr="man01-l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5" y="3054"/>
              <a:ext cx="9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" name="Picture 13" descr="RAC Select - payment option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2" y="2958"/>
              <a:ext cx="769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277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3258951" y="2232255"/>
            <a:ext cx="17706934" cy="16195"/>
          </a:xfrm>
          <a:prstGeom prst="line">
            <a:avLst/>
          </a:prstGeom>
          <a:ln w="50800">
            <a:solidFill>
              <a:srgbClr val="507392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58951" y="2248450"/>
            <a:ext cx="4218333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69057" y="1204036"/>
            <a:ext cx="71604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spc="10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Chu trình quản lý tài nguyên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C9398"/>
              </a:solidFill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6417700" y="3909630"/>
            <a:ext cx="11504711" cy="8790370"/>
            <a:chOff x="1170550" y="1371600"/>
            <a:chExt cx="6827748" cy="5057776"/>
          </a:xfrm>
        </p:grpSpPr>
        <p:sp>
          <p:nvSpPr>
            <p:cNvPr id="43" name="Text Box 5"/>
            <p:cNvSpPr txBox="1">
              <a:spLocks noChangeArrowheads="1"/>
            </p:cNvSpPr>
            <p:nvPr/>
          </p:nvSpPr>
          <p:spPr bwMode="auto">
            <a:xfrm>
              <a:off x="3942738" y="2641600"/>
              <a:ext cx="165942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 eaLnBrk="1" hangingPunct="1"/>
              <a:r>
                <a:rPr lang="en-US" b="1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Lập kế hoạch</a:t>
              </a:r>
              <a:endParaRPr lang="en-US" b="1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 Box 6"/>
            <p:cNvSpPr txBox="1">
              <a:spLocks noChangeArrowheads="1"/>
            </p:cNvSpPr>
            <p:nvPr/>
          </p:nvSpPr>
          <p:spPr bwMode="auto">
            <a:xfrm>
              <a:off x="5330548" y="4191000"/>
              <a:ext cx="2667750" cy="3718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 eaLnBrk="1" hangingPunct="1"/>
              <a:r>
                <a:rPr lang="en-US" b="1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 pitchFamily="34" charset="0"/>
                  <a:cs typeface="Arial" pitchFamily="34" charset="0"/>
                </a:rPr>
                <a:t>Tổ chức &amp; lãnh đạo</a:t>
              </a:r>
              <a:endParaRPr lang="en-US" b="1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6" name="Text Box 7"/>
            <p:cNvSpPr txBox="1">
              <a:spLocks noChangeArrowheads="1"/>
            </p:cNvSpPr>
            <p:nvPr/>
          </p:nvSpPr>
          <p:spPr bwMode="auto">
            <a:xfrm>
              <a:off x="2204560" y="4476750"/>
              <a:ext cx="128753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 eaLnBrk="1" hangingPunct="1"/>
              <a:r>
                <a:rPr lang="en-US" b="1" smtClean="0">
                  <a:latin typeface="Arial" pitchFamily="34" charset="0"/>
                  <a:cs typeface="Arial" pitchFamily="34" charset="0"/>
                </a:rPr>
                <a:t>Kiểm soát</a:t>
              </a:r>
            </a:p>
          </p:txBody>
        </p:sp>
        <p:sp>
          <p:nvSpPr>
            <p:cNvPr id="67" name="AutoShape 8"/>
            <p:cNvSpPr>
              <a:spLocks noChangeArrowheads="1"/>
            </p:cNvSpPr>
            <p:nvPr/>
          </p:nvSpPr>
          <p:spPr bwMode="auto">
            <a:xfrm rot="2959688">
              <a:off x="6481905" y="2709842"/>
              <a:ext cx="1676400" cy="885867"/>
            </a:xfrm>
            <a:prstGeom prst="curvedDownArrow">
              <a:avLst>
                <a:gd name="adj1" fmla="val 40000"/>
                <a:gd name="adj2" fmla="val 80000"/>
                <a:gd name="adj3" fmla="val 33333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8" name="AutoShape 9"/>
            <p:cNvSpPr>
              <a:spLocks noChangeArrowheads="1"/>
            </p:cNvSpPr>
            <p:nvPr/>
          </p:nvSpPr>
          <p:spPr bwMode="auto">
            <a:xfrm rot="5270135">
              <a:off x="3739160" y="4893642"/>
              <a:ext cx="1219200" cy="1852267"/>
            </a:xfrm>
            <a:prstGeom prst="curvedLeftArrow">
              <a:avLst>
                <a:gd name="adj1" fmla="val 28750"/>
                <a:gd name="adj2" fmla="val 57500"/>
                <a:gd name="adj3" fmla="val 33333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AutoShape 10"/>
            <p:cNvSpPr>
              <a:spLocks noChangeArrowheads="1"/>
            </p:cNvSpPr>
            <p:nvPr/>
          </p:nvSpPr>
          <p:spPr bwMode="auto">
            <a:xfrm rot="17481464">
              <a:off x="1081838" y="2472575"/>
              <a:ext cx="1524000" cy="1208000"/>
            </a:xfrm>
            <a:prstGeom prst="curvedDownArrow">
              <a:avLst>
                <a:gd name="adj1" fmla="val 26667"/>
                <a:gd name="adj2" fmla="val 53333"/>
                <a:gd name="adj3" fmla="val 33333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4897" y="4591050"/>
              <a:ext cx="1195208" cy="1790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5248" y="1371600"/>
              <a:ext cx="1560420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2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0550" y="5029200"/>
              <a:ext cx="1985889" cy="1066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293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/>
          <p:nvPr/>
        </p:nvCxnSpPr>
        <p:spPr>
          <a:xfrm>
            <a:off x="9030290" y="6716541"/>
            <a:ext cx="6200078" cy="0"/>
          </a:xfrm>
          <a:prstGeom prst="line">
            <a:avLst/>
          </a:prstGeom>
          <a:ln w="50800">
            <a:solidFill>
              <a:srgbClr val="5073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1156831" y="4274290"/>
            <a:ext cx="1990539" cy="1990539"/>
          </a:xfrm>
          <a:prstGeom prst="ellipse">
            <a:avLst/>
          </a:prstGeom>
          <a:solidFill>
            <a:srgbClr val="507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7268317" y="7081375"/>
            <a:ext cx="98611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6600" spc="100" dirty="0" smtClean="0">
                <a:solidFill>
                  <a:srgbClr val="507392"/>
                </a:solidFill>
                <a:latin typeface="Bebas Neue" panose="020B0606020202050201" pitchFamily="34" charset="-94"/>
                <a:ea typeface="Open Sans" panose="020B0606030504020204" pitchFamily="34" charset="0"/>
                <a:cs typeface="Open Sans" panose="020B0606030504020204" pitchFamily="34" charset="0"/>
              </a:rPr>
              <a:t>ANY QUESTIONS?</a:t>
            </a:r>
            <a:endParaRPr lang="en-US" sz="6600" spc="100" dirty="0">
              <a:solidFill>
                <a:srgbClr val="507392"/>
              </a:solidFill>
              <a:latin typeface="Bebas Neue" panose="020B0606020202050201" pitchFamily="34" charset="-9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475" y="4802684"/>
            <a:ext cx="1091250" cy="9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3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4682</TotalTime>
  <Words>302</Words>
  <Application>Microsoft Office PowerPoint</Application>
  <PresentationFormat>Custom</PresentationFormat>
  <Paragraphs>87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Ta Tri Nhan</cp:lastModifiedBy>
  <cp:revision>321</cp:revision>
  <dcterms:created xsi:type="dcterms:W3CDTF">2014-09-26T10:57:37Z</dcterms:created>
  <dcterms:modified xsi:type="dcterms:W3CDTF">2015-06-25T05:49:09Z</dcterms:modified>
</cp:coreProperties>
</file>