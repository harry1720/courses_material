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8288000" cy="10287000"/>
  <p:notesSz cx="6858000" cy="9144000"/>
  <p:embeddedFontLst>
    <p:embeddedFont>
      <p:font typeface="Arimo" panose="020B0604020202020204" charset="0"/>
      <p:regular r:id="rId58"/>
    </p:embeddedFont>
    <p:embeddedFont>
      <p:font typeface="Arimo Bold" panose="020B0604020202020204" charset="0"/>
      <p:regular r:id="rId59"/>
    </p:embeddedFont>
    <p:embeddedFont>
      <p:font typeface="Canva Sans" panose="020B0604020202020204" charset="0"/>
      <p:regular r:id="rId60"/>
    </p:embeddedFont>
    <p:embeddedFont>
      <p:font typeface="Canva Sans Bold" panose="020B0604020202020204" charset="0"/>
      <p:regular r:id="rId61"/>
    </p:embeddedFont>
    <p:embeddedFont>
      <p:font typeface="Clear Sans Bold" panose="020B0604020202020204" charset="0"/>
      <p:regular r:id="rId62"/>
    </p:embeddedFont>
    <p:embeddedFont>
      <p:font typeface="Eastman Grotesque Bold" panose="020B0604020202020204" charset="0"/>
      <p:regular r:id="rId63"/>
    </p:embeddedFont>
    <p:embeddedFont>
      <p:font typeface="Inter" panose="020B0604020202020204" charset="0"/>
      <p:regular r:id="rId64"/>
    </p:embeddedFont>
    <p:embeddedFont>
      <p:font typeface="Inter Bold" panose="020B0604020202020204" charset="0"/>
      <p:regular r:id="rId65"/>
    </p:embeddedFont>
    <p:embeddedFont>
      <p:font typeface="Montserrat 1" panose="020B0604020202020204" charset="0"/>
      <p:regular r:id="rId66"/>
    </p:embeddedFont>
    <p:embeddedFont>
      <p:font typeface="Montserrat 1 Bold" panose="020B0604020202020204" charset="0"/>
      <p:regular r:id="rId67"/>
    </p:embeddedFont>
    <p:embeddedFont>
      <p:font typeface="Montserrat 1 Medium" panose="020B0604020202020204" charset="0"/>
      <p:regular r:id="rId68"/>
    </p:embeddedFont>
    <p:embeddedFont>
      <p:font typeface="Montserrat 1 Semi-Bold" panose="020B0604020202020204" charset="0"/>
      <p:regular r:id="rId69"/>
    </p:embeddedFont>
    <p:embeddedFont>
      <p:font typeface="Montserrat 2" panose="020B0604020202020204" charset="0"/>
      <p:regular r:id="rId70"/>
    </p:embeddedFont>
    <p:embeddedFont>
      <p:font typeface="Montserrat 2 Bold" panose="020B0604020202020204" charset="0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29.06.2025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xxxxxxxxxxx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29/06/2025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svg"/><Relationship Id="rId18" Type="http://schemas.openxmlformats.org/officeDocument/2006/relationships/image" Target="../media/image77.png"/><Relationship Id="rId3" Type="http://schemas.openxmlformats.org/officeDocument/2006/relationships/image" Target="../media/image62.svg"/><Relationship Id="rId21" Type="http://schemas.openxmlformats.org/officeDocument/2006/relationships/image" Target="../media/image80.svg"/><Relationship Id="rId7" Type="http://schemas.openxmlformats.org/officeDocument/2006/relationships/image" Target="../media/image66.svg"/><Relationship Id="rId12" Type="http://schemas.openxmlformats.org/officeDocument/2006/relationships/image" Target="../media/image71.png"/><Relationship Id="rId17" Type="http://schemas.openxmlformats.org/officeDocument/2006/relationships/image" Target="../media/image76.sv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svg"/><Relationship Id="rId5" Type="http://schemas.openxmlformats.org/officeDocument/2006/relationships/image" Target="../media/image64.svg"/><Relationship Id="rId15" Type="http://schemas.openxmlformats.org/officeDocument/2006/relationships/image" Target="../media/image74.svg"/><Relationship Id="rId10" Type="http://schemas.openxmlformats.org/officeDocument/2006/relationships/image" Target="../media/image69.png"/><Relationship Id="rId19" Type="http://schemas.openxmlformats.org/officeDocument/2006/relationships/image" Target="../media/image78.svg"/><Relationship Id="rId4" Type="http://schemas.openxmlformats.org/officeDocument/2006/relationships/image" Target="../media/image63.png"/><Relationship Id="rId9" Type="http://schemas.openxmlformats.org/officeDocument/2006/relationships/image" Target="../media/image68.svg"/><Relationship Id="rId1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12" Type="http://schemas.openxmlformats.org/officeDocument/2006/relationships/image" Target="../media/image96.png"/><Relationship Id="rId17" Type="http://schemas.openxmlformats.org/officeDocument/2006/relationships/image" Target="../media/image101.sv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svg"/><Relationship Id="rId5" Type="http://schemas.openxmlformats.org/officeDocument/2006/relationships/image" Target="../media/image89.svg"/><Relationship Id="rId15" Type="http://schemas.openxmlformats.org/officeDocument/2006/relationships/image" Target="../media/image99.sv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svg"/><Relationship Id="rId14" Type="http://schemas.openxmlformats.org/officeDocument/2006/relationships/image" Target="../media/image9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r="-33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257123" y="4559849"/>
            <a:ext cx="10985399" cy="0"/>
          </a:xfrm>
          <a:prstGeom prst="line">
            <a:avLst/>
          </a:prstGeom>
          <a:ln w="666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385956" y="690853"/>
            <a:ext cx="238384" cy="23838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444644" y="749541"/>
            <a:ext cx="121007" cy="121007"/>
          </a:xfrm>
          <a:custGeom>
            <a:avLst/>
            <a:gdLst/>
            <a:ahLst/>
            <a:cxnLst/>
            <a:rect l="l" t="t" r="r" b="b"/>
            <a:pathLst>
              <a:path w="121007" h="121007">
                <a:moveTo>
                  <a:pt x="0" y="0"/>
                </a:moveTo>
                <a:lnTo>
                  <a:pt x="121007" y="0"/>
                </a:lnTo>
                <a:lnTo>
                  <a:pt x="121007" y="121007"/>
                </a:lnTo>
                <a:lnTo>
                  <a:pt x="0" y="12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57123" y="3187026"/>
            <a:ext cx="13983875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8376" y="5105400"/>
            <a:ext cx="333046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Nguyễn Cao Bảo Tín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29842" y="675425"/>
            <a:ext cx="52945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UTH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7123" y="67542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05041" y="5877846"/>
            <a:ext cx="333480" cy="33348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501343" y="5953108"/>
            <a:ext cx="140875" cy="182955"/>
          </a:xfrm>
          <a:custGeom>
            <a:avLst/>
            <a:gdLst/>
            <a:ahLst/>
            <a:cxnLst/>
            <a:rect l="l" t="t" r="r" b="b"/>
            <a:pathLst>
              <a:path w="140875" h="182955">
                <a:moveTo>
                  <a:pt x="0" y="0"/>
                </a:moveTo>
                <a:lnTo>
                  <a:pt x="140876" y="0"/>
                </a:lnTo>
                <a:lnTo>
                  <a:pt x="140876" y="182955"/>
                </a:lnTo>
                <a:lnTo>
                  <a:pt x="0" y="182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008376" y="5839746"/>
            <a:ext cx="333046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Lê Trương Trúc Linh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90190" y="5168160"/>
            <a:ext cx="333480" cy="33348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486492" y="5243423"/>
            <a:ext cx="140875" cy="182955"/>
          </a:xfrm>
          <a:custGeom>
            <a:avLst/>
            <a:gdLst/>
            <a:ahLst/>
            <a:cxnLst/>
            <a:rect l="l" t="t" r="r" b="b"/>
            <a:pathLst>
              <a:path w="140875" h="182955">
                <a:moveTo>
                  <a:pt x="0" y="0"/>
                </a:moveTo>
                <a:lnTo>
                  <a:pt x="140875" y="0"/>
                </a:lnTo>
                <a:lnTo>
                  <a:pt x="140875" y="182955"/>
                </a:lnTo>
                <a:lnTo>
                  <a:pt x="0" y="182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008376" y="6576529"/>
            <a:ext cx="333046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Phạm Vũ Minh Huy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05041" y="7348974"/>
            <a:ext cx="333480" cy="33348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501343" y="7424237"/>
            <a:ext cx="140875" cy="182955"/>
          </a:xfrm>
          <a:custGeom>
            <a:avLst/>
            <a:gdLst/>
            <a:ahLst/>
            <a:cxnLst/>
            <a:rect l="l" t="t" r="r" b="b"/>
            <a:pathLst>
              <a:path w="140875" h="182955">
                <a:moveTo>
                  <a:pt x="0" y="0"/>
                </a:moveTo>
                <a:lnTo>
                  <a:pt x="140876" y="0"/>
                </a:lnTo>
                <a:lnTo>
                  <a:pt x="140876" y="182955"/>
                </a:lnTo>
                <a:lnTo>
                  <a:pt x="0" y="182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008376" y="7310874"/>
            <a:ext cx="381857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Nguyễn Hoàng Gia Huy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90190" y="6639289"/>
            <a:ext cx="333480" cy="33348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5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486492" y="6714551"/>
            <a:ext cx="140875" cy="182955"/>
          </a:xfrm>
          <a:custGeom>
            <a:avLst/>
            <a:gdLst/>
            <a:ahLst/>
            <a:cxnLst/>
            <a:rect l="l" t="t" r="r" b="b"/>
            <a:pathLst>
              <a:path w="140875" h="182955">
                <a:moveTo>
                  <a:pt x="0" y="0"/>
                </a:moveTo>
                <a:lnTo>
                  <a:pt x="140875" y="0"/>
                </a:lnTo>
                <a:lnTo>
                  <a:pt x="140875" y="182955"/>
                </a:lnTo>
                <a:lnTo>
                  <a:pt x="0" y="182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5688" y="1600926"/>
            <a:ext cx="9596764" cy="117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Giới thiệu nội dung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8039" y="4027238"/>
            <a:ext cx="3207521" cy="4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 b="1">
                <a:solidFill>
                  <a:srgbClr val="2254C5"/>
                </a:solidFill>
                <a:latin typeface="Montserrat 1 Semi-Bold"/>
                <a:ea typeface="Montserrat 1 Semi-Bold"/>
                <a:cs typeface="Montserrat 1 Semi-Bold"/>
                <a:sym typeface="Montserrat 1 Semi-Bold"/>
              </a:rPr>
              <a:t>1. 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34127" y="4027238"/>
            <a:ext cx="2470608" cy="43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 b="1">
                <a:solidFill>
                  <a:srgbClr val="2254C5"/>
                </a:solidFill>
                <a:latin typeface="Montserrat 1 Semi-Bold"/>
                <a:ea typeface="Montserrat 1 Semi-Bold"/>
                <a:cs typeface="Montserrat 1 Semi-Bold"/>
                <a:sym typeface="Montserrat 1 Semi-Bold"/>
              </a:rPr>
              <a:t>3. Tóm tắt</a:t>
            </a:r>
          </a:p>
        </p:txBody>
      </p:sp>
      <p:sp>
        <p:nvSpPr>
          <p:cNvPr id="5" name="AutoShape 5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903390" y="4074863"/>
            <a:ext cx="6802907" cy="2335447"/>
            <a:chOff x="0" y="0"/>
            <a:chExt cx="9070542" cy="3113929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926522" cy="569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</a:pPr>
              <a:r>
                <a:rPr lang="en-US" sz="2598" b="1">
                  <a:solidFill>
                    <a:srgbClr val="2254C5"/>
                  </a:solidFill>
                  <a:latin typeface="Montserrat 1 Semi-Bold"/>
                  <a:ea typeface="Montserrat 1 Semi-Bold"/>
                  <a:cs typeface="Montserrat 1 Semi-Bold"/>
                  <a:sym typeface="Montserrat 1 Semi-Bold"/>
                </a:rPr>
                <a:t>2. Quy trình quản lý truyền thông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8837" y="815722"/>
              <a:ext cx="8701706" cy="569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</a:pPr>
              <a:r>
                <a:rPr lang="en-US" sz="2598" b="1">
                  <a:solidFill>
                    <a:srgbClr val="2254C5"/>
                  </a:solidFill>
                  <a:latin typeface="Montserrat 1 Semi-Bold"/>
                  <a:ea typeface="Montserrat 1 Semi-Bold"/>
                  <a:cs typeface="Montserrat 1 Semi-Bold"/>
                  <a:sym typeface="Montserrat 1 Semi-Bold"/>
                </a:rPr>
                <a:t>2.1. Kế hoạch quản lý truyền thông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8837" y="1680216"/>
              <a:ext cx="8701706" cy="569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</a:pPr>
              <a:r>
                <a:rPr lang="en-US" sz="2598" b="1">
                  <a:solidFill>
                    <a:srgbClr val="2254C5"/>
                  </a:solidFill>
                  <a:latin typeface="Montserrat 1 Semi-Bold"/>
                  <a:ea typeface="Montserrat 1 Semi-Bold"/>
                  <a:cs typeface="Montserrat 1 Semi-Bold"/>
                  <a:sym typeface="Montserrat 1 Semi-Bold"/>
                </a:rPr>
                <a:t>2.2. Quản lý truyền thông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837" y="2544710"/>
              <a:ext cx="8701706" cy="569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</a:pPr>
              <a:r>
                <a:rPr lang="en-US" sz="2598" b="1">
                  <a:solidFill>
                    <a:srgbClr val="2254C5"/>
                  </a:solidFill>
                  <a:latin typeface="Montserrat 1 Semi-Bold"/>
                  <a:ea typeface="Montserrat 1 Semi-Bold"/>
                  <a:cs typeface="Montserrat 1 Semi-Bold"/>
                  <a:sym typeface="Montserrat 1 Semi-Bold"/>
                </a:rPr>
                <a:t>2.3. Kiểm soát truyền thông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7123" y="67542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06139" y="2520338"/>
            <a:ext cx="1888537" cy="500220"/>
            <a:chOff x="0" y="0"/>
            <a:chExt cx="2518049" cy="666960"/>
          </a:xfrm>
        </p:grpSpPr>
        <p:sp>
          <p:nvSpPr>
            <p:cNvPr id="5" name="AutoShape 5"/>
            <p:cNvSpPr/>
            <p:nvPr/>
          </p:nvSpPr>
          <p:spPr>
            <a:xfrm>
              <a:off x="110375" y="647910"/>
              <a:ext cx="2265435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18049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Khái niệm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616242" y="2673704"/>
            <a:ext cx="5643058" cy="5643058"/>
          </a:xfrm>
          <a:custGeom>
            <a:avLst/>
            <a:gdLst/>
            <a:ahLst/>
            <a:cxnLst/>
            <a:rect l="l" t="t" r="r" b="b"/>
            <a:pathLst>
              <a:path w="5643058" h="5643058">
                <a:moveTo>
                  <a:pt x="0" y="0"/>
                </a:moveTo>
                <a:lnTo>
                  <a:pt x="5643058" y="0"/>
                </a:lnTo>
                <a:lnTo>
                  <a:pt x="5643058" y="5643058"/>
                </a:lnTo>
                <a:lnTo>
                  <a:pt x="0" y="5643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061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139" y="3230108"/>
            <a:ext cx="9954434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quá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truyền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đạt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và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tiếp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nhận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tin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giữa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con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người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với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nhau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6139" y="4283647"/>
            <a:ext cx="9954434" cy="226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quá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lên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kế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hoạch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thu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thập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phân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phối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lưu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trữ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truy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xuất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kiểm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soát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và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xử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lý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tin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đến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 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Mục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tiêu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đạt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người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lúc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2932548" cy="483472"/>
            <a:chOff x="0" y="0"/>
            <a:chExt cx="3910064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3765380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91006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Tầm quan trọng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672349" y="2241734"/>
            <a:ext cx="5586951" cy="5586951"/>
          </a:xfrm>
          <a:custGeom>
            <a:avLst/>
            <a:gdLst/>
            <a:ahLst/>
            <a:cxnLst/>
            <a:rect l="l" t="t" r="r" b="b"/>
            <a:pathLst>
              <a:path w="5586951" h="5586951">
                <a:moveTo>
                  <a:pt x="0" y="0"/>
                </a:moveTo>
                <a:lnTo>
                  <a:pt x="5586951" y="0"/>
                </a:lnTo>
                <a:lnTo>
                  <a:pt x="5586951" y="5586951"/>
                </a:lnTo>
                <a:lnTo>
                  <a:pt x="0" y="5586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230070"/>
            <a:ext cx="9954434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Hạn chế về giao tiếp là </a:t>
            </a: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nguyên nhân hàng đầu khiến dự án thất bại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 </a:t>
            </a:r>
          </a:p>
          <a:p>
            <a:pPr algn="just">
              <a:lnSpc>
                <a:spcPts val="3600"/>
              </a:lnSpc>
            </a:pPr>
            <a:endParaRPr lang="en-US" sz="240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Chuyên gia CNTT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thường giỏi kỹ thuật nhưng lại </a:t>
            </a: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thiếu kỹ năng giao tiếp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khiến họ gặp khó khăn trong phối hợp và trình bày ý tưởng.</a:t>
            </a:r>
          </a:p>
          <a:p>
            <a:pPr algn="just">
              <a:lnSpc>
                <a:spcPts val="3600"/>
              </a:lnSpc>
            </a:pPr>
            <a:endParaRPr lang="en-US" sz="240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Việc quản lý truyền thông tốt giúp </a:t>
            </a: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giảm hiểu lầm, tăng hiệu quả hợp tác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và tối ưu hóa khả năng thành công của dự án.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257421" y="4207197"/>
            <a:ext cx="1872606" cy="187260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>
                  <a:solidFill>
                    <a:srgbClr val="FFFFFF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Vai trò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373790" y="3562924"/>
            <a:ext cx="5228358" cy="686229"/>
            <a:chOff x="0" y="0"/>
            <a:chExt cx="1377016" cy="1807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7016" cy="180735"/>
            </a:xfrm>
            <a:custGeom>
              <a:avLst/>
              <a:gdLst/>
              <a:ahLst/>
              <a:cxnLst/>
              <a:rect l="l" t="t" r="r" b="b"/>
              <a:pathLst>
                <a:path w="1377016" h="180735">
                  <a:moveTo>
                    <a:pt x="75519" y="0"/>
                  </a:moveTo>
                  <a:lnTo>
                    <a:pt x="1301497" y="0"/>
                  </a:lnTo>
                  <a:cubicBezTo>
                    <a:pt x="1321526" y="0"/>
                    <a:pt x="1340735" y="7956"/>
                    <a:pt x="1354897" y="22119"/>
                  </a:cubicBezTo>
                  <a:cubicBezTo>
                    <a:pt x="1369060" y="36281"/>
                    <a:pt x="1377016" y="55490"/>
                    <a:pt x="1377016" y="75519"/>
                  </a:cubicBezTo>
                  <a:lnTo>
                    <a:pt x="1377016" y="105217"/>
                  </a:lnTo>
                  <a:cubicBezTo>
                    <a:pt x="1377016" y="146924"/>
                    <a:pt x="1343205" y="180735"/>
                    <a:pt x="1301497" y="180735"/>
                  </a:cubicBezTo>
                  <a:lnTo>
                    <a:pt x="75519" y="180735"/>
                  </a:lnTo>
                  <a:cubicBezTo>
                    <a:pt x="33811" y="180735"/>
                    <a:pt x="0" y="146924"/>
                    <a:pt x="0" y="105217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77016" cy="21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54C5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Kết nối các bên liên quan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680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373790" y="4800385"/>
            <a:ext cx="5228358" cy="686229"/>
            <a:chOff x="0" y="0"/>
            <a:chExt cx="1377016" cy="1807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7016" cy="180735"/>
            </a:xfrm>
            <a:custGeom>
              <a:avLst/>
              <a:gdLst/>
              <a:ahLst/>
              <a:cxnLst/>
              <a:rect l="l" t="t" r="r" b="b"/>
              <a:pathLst>
                <a:path w="1377016" h="180735">
                  <a:moveTo>
                    <a:pt x="75519" y="0"/>
                  </a:moveTo>
                  <a:lnTo>
                    <a:pt x="1301497" y="0"/>
                  </a:lnTo>
                  <a:cubicBezTo>
                    <a:pt x="1321526" y="0"/>
                    <a:pt x="1340735" y="7956"/>
                    <a:pt x="1354897" y="22119"/>
                  </a:cubicBezTo>
                  <a:cubicBezTo>
                    <a:pt x="1369060" y="36281"/>
                    <a:pt x="1377016" y="55490"/>
                    <a:pt x="1377016" y="75519"/>
                  </a:cubicBezTo>
                  <a:lnTo>
                    <a:pt x="1377016" y="105217"/>
                  </a:lnTo>
                  <a:cubicBezTo>
                    <a:pt x="1377016" y="146924"/>
                    <a:pt x="1343205" y="180735"/>
                    <a:pt x="1301497" y="180735"/>
                  </a:cubicBezTo>
                  <a:lnTo>
                    <a:pt x="75519" y="180735"/>
                  </a:lnTo>
                  <a:cubicBezTo>
                    <a:pt x="33811" y="180735"/>
                    <a:pt x="0" y="146924"/>
                    <a:pt x="0" y="105217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77016" cy="21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54C5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Giảm thiểu rủi ro và xung đột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73790" y="6079803"/>
            <a:ext cx="5228358" cy="686229"/>
            <a:chOff x="0" y="0"/>
            <a:chExt cx="1377016" cy="1807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7016" cy="180735"/>
            </a:xfrm>
            <a:custGeom>
              <a:avLst/>
              <a:gdLst/>
              <a:ahLst/>
              <a:cxnLst/>
              <a:rect l="l" t="t" r="r" b="b"/>
              <a:pathLst>
                <a:path w="1377016" h="180735">
                  <a:moveTo>
                    <a:pt x="75519" y="0"/>
                  </a:moveTo>
                  <a:lnTo>
                    <a:pt x="1301497" y="0"/>
                  </a:lnTo>
                  <a:cubicBezTo>
                    <a:pt x="1321526" y="0"/>
                    <a:pt x="1340735" y="7956"/>
                    <a:pt x="1354897" y="22119"/>
                  </a:cubicBezTo>
                  <a:cubicBezTo>
                    <a:pt x="1369060" y="36281"/>
                    <a:pt x="1377016" y="55490"/>
                    <a:pt x="1377016" y="75519"/>
                  </a:cubicBezTo>
                  <a:lnTo>
                    <a:pt x="1377016" y="105217"/>
                  </a:lnTo>
                  <a:cubicBezTo>
                    <a:pt x="1377016" y="146924"/>
                    <a:pt x="1343205" y="180735"/>
                    <a:pt x="1301497" y="180735"/>
                  </a:cubicBezTo>
                  <a:lnTo>
                    <a:pt x="75519" y="180735"/>
                  </a:lnTo>
                  <a:cubicBezTo>
                    <a:pt x="33811" y="180735"/>
                    <a:pt x="0" y="146924"/>
                    <a:pt x="0" y="105217"/>
                  </a:cubicBezTo>
                  <a:lnTo>
                    <a:pt x="0" y="75519"/>
                  </a:lnTo>
                  <a:cubicBezTo>
                    <a:pt x="0" y="33811"/>
                    <a:pt x="33811" y="0"/>
                    <a:pt x="7551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77016" cy="21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54C5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Duy trì tiến độ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6209728" y="3906038"/>
            <a:ext cx="2164062" cy="1142552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flipV="1">
            <a:off x="6122854" y="5143500"/>
            <a:ext cx="2250936" cy="71048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6122854" y="5282341"/>
            <a:ext cx="2250936" cy="1140576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177856" y="3484149"/>
            <a:ext cx="4101207" cy="3954211"/>
          </a:xfrm>
          <a:custGeom>
            <a:avLst/>
            <a:gdLst/>
            <a:ahLst/>
            <a:cxnLst/>
            <a:rect l="l" t="t" r="r" b="b"/>
            <a:pathLst>
              <a:path w="4101207" h="3954211">
                <a:moveTo>
                  <a:pt x="0" y="0"/>
                </a:moveTo>
                <a:lnTo>
                  <a:pt x="4101207" y="0"/>
                </a:lnTo>
                <a:lnTo>
                  <a:pt x="4101207" y="3954211"/>
                </a:lnTo>
                <a:lnTo>
                  <a:pt x="0" y="395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29216" y="3484149"/>
            <a:ext cx="8930084" cy="3954211"/>
          </a:xfrm>
          <a:custGeom>
            <a:avLst/>
            <a:gdLst/>
            <a:ahLst/>
            <a:cxnLst/>
            <a:rect l="l" t="t" r="r" b="b"/>
            <a:pathLst>
              <a:path w="8930084" h="3954211">
                <a:moveTo>
                  <a:pt x="0" y="0"/>
                </a:moveTo>
                <a:lnTo>
                  <a:pt x="8930084" y="0"/>
                </a:lnTo>
                <a:lnTo>
                  <a:pt x="8930084" y="3954211"/>
                </a:lnTo>
                <a:lnTo>
                  <a:pt x="0" y="3954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2436204"/>
            <a:ext cx="15791261" cy="81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8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Khảo sát của PMI  “The essential role of communications” về mức độ ngân sách rủi ro của việc thiếu quản lý trong truyền thông: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80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51144" y="3665057"/>
            <a:ext cx="1459995" cy="87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  <a:spcBef>
                <a:spcPct val="0"/>
              </a:spcBef>
            </a:pPr>
            <a:r>
              <a:rPr lang="en-US" sz="5098" b="1">
                <a:solidFill>
                  <a:srgbClr val="FEBB0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2412225" y="3773091"/>
            <a:ext cx="337834" cy="986377"/>
          </a:xfrm>
          <a:custGeom>
            <a:avLst/>
            <a:gdLst/>
            <a:ahLst/>
            <a:cxnLst/>
            <a:rect l="l" t="t" r="r" b="b"/>
            <a:pathLst>
              <a:path w="337834" h="986377">
                <a:moveTo>
                  <a:pt x="0" y="0"/>
                </a:moveTo>
                <a:lnTo>
                  <a:pt x="337834" y="0"/>
                </a:lnTo>
                <a:lnTo>
                  <a:pt x="337834" y="986377"/>
                </a:lnTo>
                <a:lnTo>
                  <a:pt x="0" y="98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 rot="-5400000">
            <a:off x="1644350" y="6609955"/>
            <a:ext cx="1873583" cy="2198911"/>
            <a:chOff x="0" y="0"/>
            <a:chExt cx="558530" cy="6555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8530" cy="655513"/>
            </a:xfrm>
            <a:custGeom>
              <a:avLst/>
              <a:gdLst/>
              <a:ahLst/>
              <a:cxnLst/>
              <a:rect l="l" t="t" r="r" b="b"/>
              <a:pathLst>
                <a:path w="558530" h="655513">
                  <a:moveTo>
                    <a:pt x="355330" y="0"/>
                  </a:moveTo>
                  <a:lnTo>
                    <a:pt x="0" y="0"/>
                  </a:lnTo>
                  <a:lnTo>
                    <a:pt x="0" y="655513"/>
                  </a:lnTo>
                  <a:lnTo>
                    <a:pt x="355330" y="655513"/>
                  </a:lnTo>
                  <a:lnTo>
                    <a:pt x="558530" y="327756"/>
                  </a:lnTo>
                  <a:lnTo>
                    <a:pt x="355330" y="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44230" cy="70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81686" y="8844056"/>
            <a:ext cx="2198911" cy="147753"/>
            <a:chOff x="0" y="0"/>
            <a:chExt cx="655513" cy="440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5513" cy="44046"/>
            </a:xfrm>
            <a:custGeom>
              <a:avLst/>
              <a:gdLst/>
              <a:ahLst/>
              <a:cxnLst/>
              <a:rect l="l" t="t" r="r" b="b"/>
              <a:pathLst>
                <a:path w="655513" h="44046">
                  <a:moveTo>
                    <a:pt x="0" y="0"/>
                  </a:moveTo>
                  <a:lnTo>
                    <a:pt x="655513" y="0"/>
                  </a:lnTo>
                  <a:lnTo>
                    <a:pt x="655513" y="44046"/>
                  </a:lnTo>
                  <a:lnTo>
                    <a:pt x="0" y="44046"/>
                  </a:lnTo>
                  <a:close/>
                </a:path>
              </a:pathLst>
            </a:custGeom>
            <a:solidFill>
              <a:srgbClr val="FEBB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55513" cy="91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32573" y="3665057"/>
            <a:ext cx="1459995" cy="87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  <a:spcBef>
                <a:spcPct val="0"/>
              </a:spcBef>
            </a:pPr>
            <a:r>
              <a:rPr lang="en-US" sz="5098" b="1">
                <a:solidFill>
                  <a:srgbClr val="F85C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02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5693654" y="3773091"/>
            <a:ext cx="337834" cy="986377"/>
          </a:xfrm>
          <a:custGeom>
            <a:avLst/>
            <a:gdLst/>
            <a:ahLst/>
            <a:cxnLst/>
            <a:rect l="l" t="t" r="r" b="b"/>
            <a:pathLst>
              <a:path w="337834" h="986377">
                <a:moveTo>
                  <a:pt x="0" y="0"/>
                </a:moveTo>
                <a:lnTo>
                  <a:pt x="337834" y="0"/>
                </a:lnTo>
                <a:lnTo>
                  <a:pt x="337834" y="986377"/>
                </a:lnTo>
                <a:lnTo>
                  <a:pt x="0" y="98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 rot="-5400000">
            <a:off x="4925779" y="6609955"/>
            <a:ext cx="1873583" cy="2198911"/>
            <a:chOff x="0" y="0"/>
            <a:chExt cx="558530" cy="6555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8530" cy="655513"/>
            </a:xfrm>
            <a:custGeom>
              <a:avLst/>
              <a:gdLst/>
              <a:ahLst/>
              <a:cxnLst/>
              <a:rect l="l" t="t" r="r" b="b"/>
              <a:pathLst>
                <a:path w="558530" h="655513">
                  <a:moveTo>
                    <a:pt x="355330" y="0"/>
                  </a:moveTo>
                  <a:lnTo>
                    <a:pt x="0" y="0"/>
                  </a:lnTo>
                  <a:lnTo>
                    <a:pt x="0" y="655513"/>
                  </a:lnTo>
                  <a:lnTo>
                    <a:pt x="355330" y="655513"/>
                  </a:lnTo>
                  <a:lnTo>
                    <a:pt x="558530" y="327756"/>
                  </a:lnTo>
                  <a:lnTo>
                    <a:pt x="355330" y="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44230" cy="70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63115" y="8844056"/>
            <a:ext cx="2198911" cy="147753"/>
            <a:chOff x="0" y="0"/>
            <a:chExt cx="655513" cy="440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5513" cy="44046"/>
            </a:xfrm>
            <a:custGeom>
              <a:avLst/>
              <a:gdLst/>
              <a:ahLst/>
              <a:cxnLst/>
              <a:rect l="l" t="t" r="r" b="b"/>
              <a:pathLst>
                <a:path w="655513" h="44046">
                  <a:moveTo>
                    <a:pt x="0" y="0"/>
                  </a:moveTo>
                  <a:lnTo>
                    <a:pt x="655513" y="0"/>
                  </a:lnTo>
                  <a:lnTo>
                    <a:pt x="655513" y="44046"/>
                  </a:lnTo>
                  <a:lnTo>
                    <a:pt x="0" y="44046"/>
                  </a:lnTo>
                  <a:close/>
                </a:path>
              </a:pathLst>
            </a:custGeom>
            <a:solidFill>
              <a:srgbClr val="F85C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55513" cy="91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414002" y="3665057"/>
            <a:ext cx="1459995" cy="87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  <a:spcBef>
                <a:spcPct val="0"/>
              </a:spcBef>
            </a:pPr>
            <a:r>
              <a:rPr lang="en-US" sz="5098" b="1">
                <a:solidFill>
                  <a:srgbClr val="4966A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03</a:t>
            </a:r>
          </a:p>
        </p:txBody>
      </p:sp>
      <p:sp>
        <p:nvSpPr>
          <p:cNvPr id="23" name="Freeform 23"/>
          <p:cNvSpPr/>
          <p:nvPr/>
        </p:nvSpPr>
        <p:spPr>
          <a:xfrm rot="5400000">
            <a:off x="8975083" y="3773091"/>
            <a:ext cx="337834" cy="986377"/>
          </a:xfrm>
          <a:custGeom>
            <a:avLst/>
            <a:gdLst/>
            <a:ahLst/>
            <a:cxnLst/>
            <a:rect l="l" t="t" r="r" b="b"/>
            <a:pathLst>
              <a:path w="337834" h="986377">
                <a:moveTo>
                  <a:pt x="0" y="0"/>
                </a:moveTo>
                <a:lnTo>
                  <a:pt x="337834" y="0"/>
                </a:lnTo>
                <a:lnTo>
                  <a:pt x="337834" y="986377"/>
                </a:lnTo>
                <a:lnTo>
                  <a:pt x="0" y="98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8207208" y="6609955"/>
            <a:ext cx="1873583" cy="2198911"/>
            <a:chOff x="0" y="0"/>
            <a:chExt cx="558530" cy="6555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8530" cy="655513"/>
            </a:xfrm>
            <a:custGeom>
              <a:avLst/>
              <a:gdLst/>
              <a:ahLst/>
              <a:cxnLst/>
              <a:rect l="l" t="t" r="r" b="b"/>
              <a:pathLst>
                <a:path w="558530" h="655513">
                  <a:moveTo>
                    <a:pt x="355330" y="0"/>
                  </a:moveTo>
                  <a:lnTo>
                    <a:pt x="0" y="0"/>
                  </a:lnTo>
                  <a:lnTo>
                    <a:pt x="0" y="655513"/>
                  </a:lnTo>
                  <a:lnTo>
                    <a:pt x="355330" y="655513"/>
                  </a:lnTo>
                  <a:lnTo>
                    <a:pt x="558530" y="327756"/>
                  </a:lnTo>
                  <a:lnTo>
                    <a:pt x="355330" y="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444230" cy="70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44544" y="8844056"/>
            <a:ext cx="2198911" cy="147753"/>
            <a:chOff x="0" y="0"/>
            <a:chExt cx="655513" cy="440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5513" cy="44046"/>
            </a:xfrm>
            <a:custGeom>
              <a:avLst/>
              <a:gdLst/>
              <a:ahLst/>
              <a:cxnLst/>
              <a:rect l="l" t="t" r="r" b="b"/>
              <a:pathLst>
                <a:path w="655513" h="44046">
                  <a:moveTo>
                    <a:pt x="0" y="0"/>
                  </a:moveTo>
                  <a:lnTo>
                    <a:pt x="655513" y="0"/>
                  </a:lnTo>
                  <a:lnTo>
                    <a:pt x="655513" y="44046"/>
                  </a:lnTo>
                  <a:lnTo>
                    <a:pt x="0" y="44046"/>
                  </a:ln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655513" cy="91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695432" y="3665057"/>
            <a:ext cx="1459995" cy="87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  <a:spcBef>
                <a:spcPct val="0"/>
              </a:spcBef>
            </a:pPr>
            <a:r>
              <a:rPr lang="en-US" sz="5098" b="1">
                <a:solidFill>
                  <a:srgbClr val="04B1D2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04</a:t>
            </a:r>
          </a:p>
        </p:txBody>
      </p:sp>
      <p:sp>
        <p:nvSpPr>
          <p:cNvPr id="31" name="Freeform 31"/>
          <p:cNvSpPr/>
          <p:nvPr/>
        </p:nvSpPr>
        <p:spPr>
          <a:xfrm rot="5400000">
            <a:off x="12256512" y="3773091"/>
            <a:ext cx="337834" cy="986377"/>
          </a:xfrm>
          <a:custGeom>
            <a:avLst/>
            <a:gdLst/>
            <a:ahLst/>
            <a:cxnLst/>
            <a:rect l="l" t="t" r="r" b="b"/>
            <a:pathLst>
              <a:path w="337834" h="986377">
                <a:moveTo>
                  <a:pt x="0" y="0"/>
                </a:moveTo>
                <a:lnTo>
                  <a:pt x="337834" y="0"/>
                </a:lnTo>
                <a:lnTo>
                  <a:pt x="337834" y="986377"/>
                </a:lnTo>
                <a:lnTo>
                  <a:pt x="0" y="98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 rot="-5400000">
            <a:off x="11488637" y="6609955"/>
            <a:ext cx="1873583" cy="2198911"/>
            <a:chOff x="0" y="0"/>
            <a:chExt cx="558530" cy="6555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8530" cy="655513"/>
            </a:xfrm>
            <a:custGeom>
              <a:avLst/>
              <a:gdLst/>
              <a:ahLst/>
              <a:cxnLst/>
              <a:rect l="l" t="t" r="r" b="b"/>
              <a:pathLst>
                <a:path w="558530" h="655513">
                  <a:moveTo>
                    <a:pt x="355330" y="0"/>
                  </a:moveTo>
                  <a:lnTo>
                    <a:pt x="0" y="0"/>
                  </a:lnTo>
                  <a:lnTo>
                    <a:pt x="0" y="655513"/>
                  </a:lnTo>
                  <a:lnTo>
                    <a:pt x="355330" y="655513"/>
                  </a:lnTo>
                  <a:lnTo>
                    <a:pt x="558530" y="327756"/>
                  </a:lnTo>
                  <a:lnTo>
                    <a:pt x="355330" y="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44230" cy="70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325974" y="8844056"/>
            <a:ext cx="2198911" cy="147753"/>
            <a:chOff x="0" y="0"/>
            <a:chExt cx="655513" cy="440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5513" cy="44046"/>
            </a:xfrm>
            <a:custGeom>
              <a:avLst/>
              <a:gdLst/>
              <a:ahLst/>
              <a:cxnLst/>
              <a:rect l="l" t="t" r="r" b="b"/>
              <a:pathLst>
                <a:path w="655513" h="44046">
                  <a:moveTo>
                    <a:pt x="0" y="0"/>
                  </a:moveTo>
                  <a:lnTo>
                    <a:pt x="655513" y="0"/>
                  </a:lnTo>
                  <a:lnTo>
                    <a:pt x="655513" y="44046"/>
                  </a:lnTo>
                  <a:lnTo>
                    <a:pt x="0" y="44046"/>
                  </a:ln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55513" cy="91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976861" y="3665057"/>
            <a:ext cx="1459995" cy="87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  <a:spcBef>
                <a:spcPct val="0"/>
              </a:spcBef>
            </a:pPr>
            <a:r>
              <a:rPr lang="en-US" sz="5098" b="1">
                <a:solidFill>
                  <a:srgbClr val="46C1AB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05</a:t>
            </a:r>
          </a:p>
        </p:txBody>
      </p:sp>
      <p:sp>
        <p:nvSpPr>
          <p:cNvPr id="39" name="Freeform 39"/>
          <p:cNvSpPr/>
          <p:nvPr/>
        </p:nvSpPr>
        <p:spPr>
          <a:xfrm rot="5400000">
            <a:off x="15537941" y="3773091"/>
            <a:ext cx="337834" cy="986377"/>
          </a:xfrm>
          <a:custGeom>
            <a:avLst/>
            <a:gdLst/>
            <a:ahLst/>
            <a:cxnLst/>
            <a:rect l="l" t="t" r="r" b="b"/>
            <a:pathLst>
              <a:path w="337834" h="986377">
                <a:moveTo>
                  <a:pt x="0" y="0"/>
                </a:moveTo>
                <a:lnTo>
                  <a:pt x="337834" y="0"/>
                </a:lnTo>
                <a:lnTo>
                  <a:pt x="337834" y="986377"/>
                </a:lnTo>
                <a:lnTo>
                  <a:pt x="0" y="98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 rot="-5400000">
            <a:off x="14770067" y="6609955"/>
            <a:ext cx="1873583" cy="2198911"/>
            <a:chOff x="0" y="0"/>
            <a:chExt cx="558530" cy="65551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58530" cy="655513"/>
            </a:xfrm>
            <a:custGeom>
              <a:avLst/>
              <a:gdLst/>
              <a:ahLst/>
              <a:cxnLst/>
              <a:rect l="l" t="t" r="r" b="b"/>
              <a:pathLst>
                <a:path w="558530" h="655513">
                  <a:moveTo>
                    <a:pt x="355330" y="0"/>
                  </a:moveTo>
                  <a:lnTo>
                    <a:pt x="0" y="0"/>
                  </a:lnTo>
                  <a:lnTo>
                    <a:pt x="0" y="655513"/>
                  </a:lnTo>
                  <a:lnTo>
                    <a:pt x="355330" y="655513"/>
                  </a:lnTo>
                  <a:lnTo>
                    <a:pt x="558530" y="327756"/>
                  </a:lnTo>
                  <a:lnTo>
                    <a:pt x="355330" y="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444230" cy="70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607403" y="8844056"/>
            <a:ext cx="2198911" cy="147753"/>
            <a:chOff x="0" y="0"/>
            <a:chExt cx="655513" cy="440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5513" cy="44046"/>
            </a:xfrm>
            <a:custGeom>
              <a:avLst/>
              <a:gdLst/>
              <a:ahLst/>
              <a:cxnLst/>
              <a:rect l="l" t="t" r="r" b="b"/>
              <a:pathLst>
                <a:path w="655513" h="44046">
                  <a:moveTo>
                    <a:pt x="0" y="0"/>
                  </a:moveTo>
                  <a:lnTo>
                    <a:pt x="655513" y="0"/>
                  </a:lnTo>
                  <a:lnTo>
                    <a:pt x="655513" y="44046"/>
                  </a:lnTo>
                  <a:lnTo>
                    <a:pt x="0" y="44046"/>
                  </a:lnTo>
                  <a:close/>
                </a:path>
              </a:pathLst>
            </a:custGeom>
            <a:solidFill>
              <a:srgbClr val="46C1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655513" cy="91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666403" y="4572152"/>
            <a:ext cx="1829478" cy="1696841"/>
          </a:xfrm>
          <a:custGeom>
            <a:avLst/>
            <a:gdLst/>
            <a:ahLst/>
            <a:cxnLst/>
            <a:rect l="l" t="t" r="r" b="b"/>
            <a:pathLst>
              <a:path w="1829478" h="1696841">
                <a:moveTo>
                  <a:pt x="0" y="0"/>
                </a:moveTo>
                <a:lnTo>
                  <a:pt x="1829478" y="0"/>
                </a:lnTo>
                <a:lnTo>
                  <a:pt x="1829478" y="1696841"/>
                </a:lnTo>
                <a:lnTo>
                  <a:pt x="0" y="1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2293355" y="5215980"/>
            <a:ext cx="575573" cy="575573"/>
          </a:xfrm>
          <a:custGeom>
            <a:avLst/>
            <a:gdLst/>
            <a:ahLst/>
            <a:cxnLst/>
            <a:rect l="l" t="t" r="r" b="b"/>
            <a:pathLst>
              <a:path w="575573" h="575573">
                <a:moveTo>
                  <a:pt x="0" y="0"/>
                </a:moveTo>
                <a:lnTo>
                  <a:pt x="575573" y="0"/>
                </a:lnTo>
                <a:lnTo>
                  <a:pt x="575573" y="575572"/>
                </a:lnTo>
                <a:lnTo>
                  <a:pt x="0" y="575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4947832" y="4572152"/>
            <a:ext cx="1829478" cy="1696841"/>
          </a:xfrm>
          <a:custGeom>
            <a:avLst/>
            <a:gdLst/>
            <a:ahLst/>
            <a:cxnLst/>
            <a:rect l="l" t="t" r="r" b="b"/>
            <a:pathLst>
              <a:path w="1829478" h="1696841">
                <a:moveTo>
                  <a:pt x="0" y="0"/>
                </a:moveTo>
                <a:lnTo>
                  <a:pt x="1829478" y="0"/>
                </a:lnTo>
                <a:lnTo>
                  <a:pt x="1829478" y="1696841"/>
                </a:lnTo>
                <a:lnTo>
                  <a:pt x="0" y="1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5574784" y="5228930"/>
            <a:ext cx="575573" cy="549672"/>
          </a:xfrm>
          <a:custGeom>
            <a:avLst/>
            <a:gdLst/>
            <a:ahLst/>
            <a:cxnLst/>
            <a:rect l="l" t="t" r="r" b="b"/>
            <a:pathLst>
              <a:path w="575573" h="549672">
                <a:moveTo>
                  <a:pt x="0" y="0"/>
                </a:moveTo>
                <a:lnTo>
                  <a:pt x="575573" y="0"/>
                </a:lnTo>
                <a:lnTo>
                  <a:pt x="575573" y="549672"/>
                </a:lnTo>
                <a:lnTo>
                  <a:pt x="0" y="549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AutoShape 50"/>
          <p:cNvSpPr/>
          <p:nvPr/>
        </p:nvSpPr>
        <p:spPr>
          <a:xfrm>
            <a:off x="1028700" y="6484833"/>
            <a:ext cx="16230600" cy="0"/>
          </a:xfrm>
          <a:prstGeom prst="line">
            <a:avLst/>
          </a:prstGeom>
          <a:ln w="38100" cap="flat">
            <a:solidFill>
              <a:srgbClr val="CACCD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>
            <a:off x="2473222" y="6358926"/>
            <a:ext cx="215840" cy="215840"/>
            <a:chOff x="0" y="0"/>
            <a:chExt cx="597730" cy="59773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7730" cy="597730"/>
            </a:xfrm>
            <a:custGeom>
              <a:avLst/>
              <a:gdLst/>
              <a:ahLst/>
              <a:cxnLst/>
              <a:rect l="l" t="t" r="r" b="b"/>
              <a:pathLst>
                <a:path w="597730" h="597730">
                  <a:moveTo>
                    <a:pt x="298865" y="0"/>
                  </a:moveTo>
                  <a:cubicBezTo>
                    <a:pt x="133806" y="0"/>
                    <a:pt x="0" y="133806"/>
                    <a:pt x="0" y="298865"/>
                  </a:cubicBezTo>
                  <a:cubicBezTo>
                    <a:pt x="0" y="463924"/>
                    <a:pt x="133806" y="597730"/>
                    <a:pt x="298865" y="597730"/>
                  </a:cubicBezTo>
                  <a:cubicBezTo>
                    <a:pt x="463924" y="597730"/>
                    <a:pt x="597730" y="463924"/>
                    <a:pt x="597730" y="298865"/>
                  </a:cubicBezTo>
                  <a:cubicBezTo>
                    <a:pt x="597730" y="133806"/>
                    <a:pt x="463924" y="0"/>
                    <a:pt x="298865" y="0"/>
                  </a:cubicBezTo>
                  <a:close/>
                </a:path>
              </a:pathLst>
            </a:custGeom>
            <a:solidFill>
              <a:srgbClr val="FEBB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037" y="56037"/>
              <a:ext cx="485656" cy="48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54651" y="6358926"/>
            <a:ext cx="215840" cy="215840"/>
            <a:chOff x="0" y="0"/>
            <a:chExt cx="597730" cy="59773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97730" cy="597730"/>
            </a:xfrm>
            <a:custGeom>
              <a:avLst/>
              <a:gdLst/>
              <a:ahLst/>
              <a:cxnLst/>
              <a:rect l="l" t="t" r="r" b="b"/>
              <a:pathLst>
                <a:path w="597730" h="597730">
                  <a:moveTo>
                    <a:pt x="298865" y="0"/>
                  </a:moveTo>
                  <a:cubicBezTo>
                    <a:pt x="133806" y="0"/>
                    <a:pt x="0" y="133806"/>
                    <a:pt x="0" y="298865"/>
                  </a:cubicBezTo>
                  <a:cubicBezTo>
                    <a:pt x="0" y="463924"/>
                    <a:pt x="133806" y="597730"/>
                    <a:pt x="298865" y="597730"/>
                  </a:cubicBezTo>
                  <a:cubicBezTo>
                    <a:pt x="463924" y="597730"/>
                    <a:pt x="597730" y="463924"/>
                    <a:pt x="597730" y="298865"/>
                  </a:cubicBezTo>
                  <a:cubicBezTo>
                    <a:pt x="597730" y="133806"/>
                    <a:pt x="463924" y="0"/>
                    <a:pt x="298865" y="0"/>
                  </a:cubicBezTo>
                  <a:close/>
                </a:path>
              </a:pathLst>
            </a:custGeom>
            <a:solidFill>
              <a:srgbClr val="F85C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037" y="56037"/>
              <a:ext cx="485656" cy="48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8229261" y="4572152"/>
            <a:ext cx="1829478" cy="1696841"/>
          </a:xfrm>
          <a:custGeom>
            <a:avLst/>
            <a:gdLst/>
            <a:ahLst/>
            <a:cxnLst/>
            <a:rect l="l" t="t" r="r" b="b"/>
            <a:pathLst>
              <a:path w="1829478" h="1696841">
                <a:moveTo>
                  <a:pt x="0" y="0"/>
                </a:moveTo>
                <a:lnTo>
                  <a:pt x="1829478" y="0"/>
                </a:lnTo>
                <a:lnTo>
                  <a:pt x="1829478" y="1696841"/>
                </a:lnTo>
                <a:lnTo>
                  <a:pt x="0" y="1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8" name="Group 58"/>
          <p:cNvGrpSpPr/>
          <p:nvPr/>
        </p:nvGrpSpPr>
        <p:grpSpPr>
          <a:xfrm>
            <a:off x="9036080" y="6358926"/>
            <a:ext cx="215840" cy="215840"/>
            <a:chOff x="0" y="0"/>
            <a:chExt cx="597730" cy="59773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97730" cy="597730"/>
            </a:xfrm>
            <a:custGeom>
              <a:avLst/>
              <a:gdLst/>
              <a:ahLst/>
              <a:cxnLst/>
              <a:rect l="l" t="t" r="r" b="b"/>
              <a:pathLst>
                <a:path w="597730" h="597730">
                  <a:moveTo>
                    <a:pt x="298865" y="0"/>
                  </a:moveTo>
                  <a:cubicBezTo>
                    <a:pt x="133806" y="0"/>
                    <a:pt x="0" y="133806"/>
                    <a:pt x="0" y="298865"/>
                  </a:cubicBezTo>
                  <a:cubicBezTo>
                    <a:pt x="0" y="463924"/>
                    <a:pt x="133806" y="597730"/>
                    <a:pt x="298865" y="597730"/>
                  </a:cubicBezTo>
                  <a:cubicBezTo>
                    <a:pt x="463924" y="597730"/>
                    <a:pt x="597730" y="463924"/>
                    <a:pt x="597730" y="298865"/>
                  </a:cubicBezTo>
                  <a:cubicBezTo>
                    <a:pt x="597730" y="133806"/>
                    <a:pt x="463924" y="0"/>
                    <a:pt x="298865" y="0"/>
                  </a:cubicBez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037" y="56037"/>
              <a:ext cx="485656" cy="48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>
            <a:off x="11510690" y="4572152"/>
            <a:ext cx="1829478" cy="1696841"/>
          </a:xfrm>
          <a:custGeom>
            <a:avLst/>
            <a:gdLst/>
            <a:ahLst/>
            <a:cxnLst/>
            <a:rect l="l" t="t" r="r" b="b"/>
            <a:pathLst>
              <a:path w="1829478" h="1696841">
                <a:moveTo>
                  <a:pt x="0" y="0"/>
                </a:moveTo>
                <a:lnTo>
                  <a:pt x="1829478" y="0"/>
                </a:lnTo>
                <a:lnTo>
                  <a:pt x="1829478" y="1696841"/>
                </a:lnTo>
                <a:lnTo>
                  <a:pt x="0" y="1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2" name="Group 62"/>
          <p:cNvGrpSpPr/>
          <p:nvPr/>
        </p:nvGrpSpPr>
        <p:grpSpPr>
          <a:xfrm>
            <a:off x="12317509" y="6358926"/>
            <a:ext cx="215840" cy="215840"/>
            <a:chOff x="0" y="0"/>
            <a:chExt cx="597730" cy="59773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97730" cy="597730"/>
            </a:xfrm>
            <a:custGeom>
              <a:avLst/>
              <a:gdLst/>
              <a:ahLst/>
              <a:cxnLst/>
              <a:rect l="l" t="t" r="r" b="b"/>
              <a:pathLst>
                <a:path w="597730" h="597730">
                  <a:moveTo>
                    <a:pt x="298865" y="0"/>
                  </a:moveTo>
                  <a:cubicBezTo>
                    <a:pt x="133806" y="0"/>
                    <a:pt x="0" y="133806"/>
                    <a:pt x="0" y="298865"/>
                  </a:cubicBezTo>
                  <a:cubicBezTo>
                    <a:pt x="0" y="463924"/>
                    <a:pt x="133806" y="597730"/>
                    <a:pt x="298865" y="597730"/>
                  </a:cubicBezTo>
                  <a:cubicBezTo>
                    <a:pt x="463924" y="597730"/>
                    <a:pt x="597730" y="463924"/>
                    <a:pt x="597730" y="298865"/>
                  </a:cubicBezTo>
                  <a:cubicBezTo>
                    <a:pt x="597730" y="133806"/>
                    <a:pt x="463924" y="0"/>
                    <a:pt x="298865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037" y="56037"/>
              <a:ext cx="485656" cy="48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5" name="Freeform 65"/>
          <p:cNvSpPr/>
          <p:nvPr/>
        </p:nvSpPr>
        <p:spPr>
          <a:xfrm>
            <a:off x="14792119" y="4572152"/>
            <a:ext cx="1829478" cy="1696841"/>
          </a:xfrm>
          <a:custGeom>
            <a:avLst/>
            <a:gdLst/>
            <a:ahLst/>
            <a:cxnLst/>
            <a:rect l="l" t="t" r="r" b="b"/>
            <a:pathLst>
              <a:path w="1829478" h="1696841">
                <a:moveTo>
                  <a:pt x="0" y="0"/>
                </a:moveTo>
                <a:lnTo>
                  <a:pt x="1829478" y="0"/>
                </a:lnTo>
                <a:lnTo>
                  <a:pt x="1829478" y="1696841"/>
                </a:lnTo>
                <a:lnTo>
                  <a:pt x="0" y="1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6" name="Group 66"/>
          <p:cNvGrpSpPr/>
          <p:nvPr/>
        </p:nvGrpSpPr>
        <p:grpSpPr>
          <a:xfrm>
            <a:off x="15598938" y="6358926"/>
            <a:ext cx="215840" cy="215840"/>
            <a:chOff x="0" y="0"/>
            <a:chExt cx="597730" cy="5977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7730" cy="597730"/>
            </a:xfrm>
            <a:custGeom>
              <a:avLst/>
              <a:gdLst/>
              <a:ahLst/>
              <a:cxnLst/>
              <a:rect l="l" t="t" r="r" b="b"/>
              <a:pathLst>
                <a:path w="597730" h="597730">
                  <a:moveTo>
                    <a:pt x="298865" y="0"/>
                  </a:moveTo>
                  <a:cubicBezTo>
                    <a:pt x="133806" y="0"/>
                    <a:pt x="0" y="133806"/>
                    <a:pt x="0" y="298865"/>
                  </a:cubicBezTo>
                  <a:cubicBezTo>
                    <a:pt x="0" y="463924"/>
                    <a:pt x="133806" y="597730"/>
                    <a:pt x="298865" y="597730"/>
                  </a:cubicBezTo>
                  <a:cubicBezTo>
                    <a:pt x="463924" y="597730"/>
                    <a:pt x="597730" y="463924"/>
                    <a:pt x="597730" y="298865"/>
                  </a:cubicBezTo>
                  <a:cubicBezTo>
                    <a:pt x="597730" y="133806"/>
                    <a:pt x="463924" y="0"/>
                    <a:pt x="298865" y="0"/>
                  </a:cubicBezTo>
                  <a:close/>
                </a:path>
              </a:pathLst>
            </a:custGeom>
            <a:solidFill>
              <a:srgbClr val="46C1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037" y="56037"/>
              <a:ext cx="485656" cy="48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8856214" y="5161507"/>
            <a:ext cx="575573" cy="575573"/>
          </a:xfrm>
          <a:custGeom>
            <a:avLst/>
            <a:gdLst/>
            <a:ahLst/>
            <a:cxnLst/>
            <a:rect l="l" t="t" r="r" b="b"/>
            <a:pathLst>
              <a:path w="575573" h="575573">
                <a:moveTo>
                  <a:pt x="0" y="0"/>
                </a:moveTo>
                <a:lnTo>
                  <a:pt x="575572" y="0"/>
                </a:lnTo>
                <a:lnTo>
                  <a:pt x="575572" y="575573"/>
                </a:lnTo>
                <a:lnTo>
                  <a:pt x="0" y="5755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15426620" y="5179493"/>
            <a:ext cx="575573" cy="575573"/>
          </a:xfrm>
          <a:custGeom>
            <a:avLst/>
            <a:gdLst/>
            <a:ahLst/>
            <a:cxnLst/>
            <a:rect l="l" t="t" r="r" b="b"/>
            <a:pathLst>
              <a:path w="575573" h="575573">
                <a:moveTo>
                  <a:pt x="0" y="0"/>
                </a:moveTo>
                <a:lnTo>
                  <a:pt x="575573" y="0"/>
                </a:lnTo>
                <a:lnTo>
                  <a:pt x="575573" y="575573"/>
                </a:lnTo>
                <a:lnTo>
                  <a:pt x="0" y="57557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12136197" y="5179493"/>
            <a:ext cx="575573" cy="575573"/>
          </a:xfrm>
          <a:custGeom>
            <a:avLst/>
            <a:gdLst/>
            <a:ahLst/>
            <a:cxnLst/>
            <a:rect l="l" t="t" r="r" b="b"/>
            <a:pathLst>
              <a:path w="575573" h="575573">
                <a:moveTo>
                  <a:pt x="0" y="0"/>
                </a:moveTo>
                <a:lnTo>
                  <a:pt x="575573" y="0"/>
                </a:lnTo>
                <a:lnTo>
                  <a:pt x="575573" y="575573"/>
                </a:lnTo>
                <a:lnTo>
                  <a:pt x="0" y="57557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2" name="TextBox 72"/>
          <p:cNvSpPr txBox="1"/>
          <p:nvPr/>
        </p:nvSpPr>
        <p:spPr>
          <a:xfrm>
            <a:off x="1666403" y="7486109"/>
            <a:ext cx="1797645" cy="890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Hiểu tâm lý và nhu cầu người nhận thông tin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947941" y="7634499"/>
            <a:ext cx="1797645" cy="59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Lắng nghe chủ động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229478" y="7634499"/>
            <a:ext cx="1797645" cy="59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Giải quyết vấn đề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511016" y="7634499"/>
            <a:ext cx="1797645" cy="59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Tư duy kinh doanh cơ bản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4792554" y="7634499"/>
            <a:ext cx="1843704" cy="59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Làm việc nhóm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468039" y="2527522"/>
            <a:ext cx="5364992" cy="483472"/>
            <a:chOff x="0" y="0"/>
            <a:chExt cx="7153322" cy="644630"/>
          </a:xfrm>
        </p:grpSpPr>
        <p:sp>
          <p:nvSpPr>
            <p:cNvPr id="78" name="AutoShape 78"/>
            <p:cNvSpPr/>
            <p:nvPr/>
          </p:nvSpPr>
          <p:spPr>
            <a:xfrm flipV="1">
              <a:off x="0" y="625580"/>
              <a:ext cx="6888628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7153322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Các kỹ năng mềm quan trọng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2037681" cy="483472"/>
            <a:chOff x="0" y="0"/>
            <a:chExt cx="2716908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2616374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716908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Thách thức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011271" y="2241734"/>
            <a:ext cx="6248029" cy="6248029"/>
          </a:xfrm>
          <a:custGeom>
            <a:avLst/>
            <a:gdLst/>
            <a:ahLst/>
            <a:cxnLst/>
            <a:rect l="l" t="t" r="r" b="b"/>
            <a:pathLst>
              <a:path w="6248029" h="6248029">
                <a:moveTo>
                  <a:pt x="0" y="0"/>
                </a:moveTo>
                <a:lnTo>
                  <a:pt x="6248029" y="0"/>
                </a:lnTo>
                <a:lnTo>
                  <a:pt x="6248029" y="6248030"/>
                </a:lnTo>
                <a:lnTo>
                  <a:pt x="0" y="6248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355198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1. Tổng quan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314700"/>
            <a:ext cx="9988510" cy="355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Khác biệt văn hóa, ngôn ngữ, nhận thức giữa các bên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 tin bị bóp méo khi qua nhiều tầng trung gian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Thiếu kỹ năng lắng nghe, hiểu sai ý người nói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Quá tải công cụ truyền thông (email, chat, mạng xã hội…) gây nhiễu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Thiếu tập trung hoặc chủ quan trong việc xác minh thông tin</a:t>
            </a:r>
          </a:p>
          <a:p>
            <a:pPr algn="just">
              <a:lnSpc>
                <a:spcPts val="4079"/>
              </a:lnSpc>
            </a:pPr>
            <a:endParaRPr lang="en-US" sz="240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235" y="2254413"/>
            <a:ext cx="6263321" cy="8344775"/>
          </a:xfrm>
          <a:custGeom>
            <a:avLst/>
            <a:gdLst/>
            <a:ahLst/>
            <a:cxnLst/>
            <a:rect l="l" t="t" r="r" b="b"/>
            <a:pathLst>
              <a:path w="6263321" h="8344775">
                <a:moveTo>
                  <a:pt x="0" y="0"/>
                </a:moveTo>
                <a:lnTo>
                  <a:pt x="6263321" y="0"/>
                </a:lnTo>
                <a:lnTo>
                  <a:pt x="6263321" y="8344775"/>
                </a:lnTo>
                <a:lnTo>
                  <a:pt x="0" y="834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4" t="-3435" r="-1052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845934" y="4342638"/>
            <a:ext cx="8413366" cy="1611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sp>
        <p:nvSpPr>
          <p:cNvPr id="4" name="AutoShape 4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8039" y="1703889"/>
            <a:ext cx="726704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479962" y="6345929"/>
            <a:ext cx="2915560" cy="884191"/>
            <a:chOff x="0" y="0"/>
            <a:chExt cx="1808806" cy="5485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8806" cy="548550"/>
            </a:xfrm>
            <a:custGeom>
              <a:avLst/>
              <a:gdLst/>
              <a:ahLst/>
              <a:cxnLst/>
              <a:rect l="l" t="t" r="r" b="b"/>
              <a:pathLst>
                <a:path w="1808806" h="548550">
                  <a:moveTo>
                    <a:pt x="1605606" y="0"/>
                  </a:moveTo>
                  <a:cubicBezTo>
                    <a:pt x="1717830" y="0"/>
                    <a:pt x="1808806" y="122797"/>
                    <a:pt x="1808806" y="274275"/>
                  </a:cubicBezTo>
                  <a:cubicBezTo>
                    <a:pt x="1808806" y="425753"/>
                    <a:pt x="1717830" y="548550"/>
                    <a:pt x="1605606" y="548550"/>
                  </a:cubicBezTo>
                  <a:lnTo>
                    <a:pt x="203200" y="548550"/>
                  </a:lnTo>
                  <a:cubicBezTo>
                    <a:pt x="90976" y="548550"/>
                    <a:pt x="0" y="425753"/>
                    <a:pt x="0" y="274275"/>
                  </a:cubicBezTo>
                  <a:cubicBezTo>
                    <a:pt x="0" y="12279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EBB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08806" cy="58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540656" y="3404508"/>
            <a:ext cx="2794172" cy="2794172"/>
          </a:xfrm>
          <a:custGeom>
            <a:avLst/>
            <a:gdLst/>
            <a:ahLst/>
            <a:cxnLst/>
            <a:rect l="l" t="t" r="r" b="b"/>
            <a:pathLst>
              <a:path w="2794172" h="2794172">
                <a:moveTo>
                  <a:pt x="0" y="0"/>
                </a:moveTo>
                <a:lnTo>
                  <a:pt x="2794172" y="0"/>
                </a:lnTo>
                <a:lnTo>
                  <a:pt x="2794172" y="2794172"/>
                </a:lnTo>
                <a:lnTo>
                  <a:pt x="0" y="279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915244" y="3779096"/>
            <a:ext cx="2044996" cy="204499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B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478094" y="4341946"/>
            <a:ext cx="919296" cy="919296"/>
          </a:xfrm>
          <a:custGeom>
            <a:avLst/>
            <a:gdLst/>
            <a:ahLst/>
            <a:cxnLst/>
            <a:rect l="l" t="t" r="r" b="b"/>
            <a:pathLst>
              <a:path w="919296" h="919296">
                <a:moveTo>
                  <a:pt x="0" y="0"/>
                </a:moveTo>
                <a:lnTo>
                  <a:pt x="919296" y="0"/>
                </a:lnTo>
                <a:lnTo>
                  <a:pt x="919296" y="919296"/>
                </a:lnTo>
                <a:lnTo>
                  <a:pt x="0" y="91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627614" y="6422899"/>
            <a:ext cx="26202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Kế hoạch quản lý truyền thông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02088" y="6345929"/>
            <a:ext cx="2617726" cy="884191"/>
            <a:chOff x="0" y="0"/>
            <a:chExt cx="1624031" cy="548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4031" cy="548550"/>
            </a:xfrm>
            <a:custGeom>
              <a:avLst/>
              <a:gdLst/>
              <a:ahLst/>
              <a:cxnLst/>
              <a:rect l="l" t="t" r="r" b="b"/>
              <a:pathLst>
                <a:path w="1624031" h="548550">
                  <a:moveTo>
                    <a:pt x="1420831" y="0"/>
                  </a:moveTo>
                  <a:cubicBezTo>
                    <a:pt x="1533055" y="0"/>
                    <a:pt x="1624031" y="122797"/>
                    <a:pt x="1624031" y="274275"/>
                  </a:cubicBezTo>
                  <a:cubicBezTo>
                    <a:pt x="1624031" y="425753"/>
                    <a:pt x="1533055" y="548550"/>
                    <a:pt x="1420831" y="548550"/>
                  </a:cubicBezTo>
                  <a:lnTo>
                    <a:pt x="203200" y="548550"/>
                  </a:lnTo>
                  <a:cubicBezTo>
                    <a:pt x="90976" y="548550"/>
                    <a:pt x="0" y="425753"/>
                    <a:pt x="0" y="274275"/>
                  </a:cubicBezTo>
                  <a:cubicBezTo>
                    <a:pt x="0" y="12279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9BF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24031" cy="58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013865" y="3404508"/>
            <a:ext cx="2794172" cy="2794172"/>
          </a:xfrm>
          <a:custGeom>
            <a:avLst/>
            <a:gdLst/>
            <a:ahLst/>
            <a:cxnLst/>
            <a:rect l="l" t="t" r="r" b="b"/>
            <a:pathLst>
              <a:path w="2794172" h="2794172">
                <a:moveTo>
                  <a:pt x="0" y="0"/>
                </a:moveTo>
                <a:lnTo>
                  <a:pt x="2794173" y="0"/>
                </a:lnTo>
                <a:lnTo>
                  <a:pt x="2794173" y="2794172"/>
                </a:lnTo>
                <a:lnTo>
                  <a:pt x="0" y="279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2388453" y="3779096"/>
            <a:ext cx="2044996" cy="204499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BF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934015" y="4341946"/>
            <a:ext cx="953874" cy="919296"/>
          </a:xfrm>
          <a:custGeom>
            <a:avLst/>
            <a:gdLst/>
            <a:ahLst/>
            <a:cxnLst/>
            <a:rect l="l" t="t" r="r" b="b"/>
            <a:pathLst>
              <a:path w="953874" h="919296">
                <a:moveTo>
                  <a:pt x="0" y="0"/>
                </a:moveTo>
                <a:lnTo>
                  <a:pt x="953873" y="0"/>
                </a:lnTo>
                <a:lnTo>
                  <a:pt x="953873" y="919296"/>
                </a:lnTo>
                <a:lnTo>
                  <a:pt x="0" y="919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187782" y="6413374"/>
            <a:ext cx="262025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Kiểm soát truyền thông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895831" y="6345929"/>
            <a:ext cx="2617726" cy="884191"/>
            <a:chOff x="0" y="0"/>
            <a:chExt cx="1624031" cy="548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24031" cy="548550"/>
            </a:xfrm>
            <a:custGeom>
              <a:avLst/>
              <a:gdLst/>
              <a:ahLst/>
              <a:cxnLst/>
              <a:rect l="l" t="t" r="r" b="b"/>
              <a:pathLst>
                <a:path w="1624031" h="548550">
                  <a:moveTo>
                    <a:pt x="1420831" y="0"/>
                  </a:moveTo>
                  <a:cubicBezTo>
                    <a:pt x="1533055" y="0"/>
                    <a:pt x="1624031" y="122797"/>
                    <a:pt x="1624031" y="274275"/>
                  </a:cubicBezTo>
                  <a:cubicBezTo>
                    <a:pt x="1624031" y="425753"/>
                    <a:pt x="1533055" y="548550"/>
                    <a:pt x="1420831" y="548550"/>
                  </a:cubicBezTo>
                  <a:lnTo>
                    <a:pt x="203200" y="548550"/>
                  </a:lnTo>
                  <a:cubicBezTo>
                    <a:pt x="90976" y="548550"/>
                    <a:pt x="0" y="425753"/>
                    <a:pt x="0" y="274275"/>
                  </a:cubicBezTo>
                  <a:cubicBezTo>
                    <a:pt x="0" y="12279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624031" cy="58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7807608" y="3404508"/>
            <a:ext cx="2794172" cy="2794172"/>
          </a:xfrm>
          <a:custGeom>
            <a:avLst/>
            <a:gdLst/>
            <a:ahLst/>
            <a:cxnLst/>
            <a:rect l="l" t="t" r="r" b="b"/>
            <a:pathLst>
              <a:path w="2794172" h="2794172">
                <a:moveTo>
                  <a:pt x="0" y="0"/>
                </a:moveTo>
                <a:lnTo>
                  <a:pt x="2794172" y="0"/>
                </a:lnTo>
                <a:lnTo>
                  <a:pt x="2794172" y="2794172"/>
                </a:lnTo>
                <a:lnTo>
                  <a:pt x="0" y="279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182196" y="3779096"/>
            <a:ext cx="2044996" cy="2044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8727757" y="4341946"/>
            <a:ext cx="953874" cy="919296"/>
          </a:xfrm>
          <a:custGeom>
            <a:avLst/>
            <a:gdLst/>
            <a:ahLst/>
            <a:cxnLst/>
            <a:rect l="l" t="t" r="r" b="b"/>
            <a:pathLst>
              <a:path w="953874" h="919296">
                <a:moveTo>
                  <a:pt x="0" y="0"/>
                </a:moveTo>
                <a:lnTo>
                  <a:pt x="953874" y="0"/>
                </a:lnTo>
                <a:lnTo>
                  <a:pt x="953874" y="919296"/>
                </a:lnTo>
                <a:lnTo>
                  <a:pt x="0" y="919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8038381" y="6413374"/>
            <a:ext cx="233262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Quản lý truyền thông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583945" cy="483472"/>
            <a:chOff x="0" y="0"/>
            <a:chExt cx="7445259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7169762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445259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Chìa khóa để truyền thông tốt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534071" y="3337438"/>
            <a:ext cx="6382226" cy="4251942"/>
          </a:xfrm>
          <a:custGeom>
            <a:avLst/>
            <a:gdLst/>
            <a:ahLst/>
            <a:cxnLst/>
            <a:rect l="l" t="t" r="r" b="b"/>
            <a:pathLst>
              <a:path w="6382226" h="4251942">
                <a:moveTo>
                  <a:pt x="0" y="0"/>
                </a:moveTo>
                <a:lnTo>
                  <a:pt x="6382226" y="0"/>
                </a:lnTo>
                <a:lnTo>
                  <a:pt x="6382226" y="4251942"/>
                </a:lnTo>
                <a:lnTo>
                  <a:pt x="0" y="425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499345"/>
            <a:ext cx="10066032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Giám đốc dự án dành trên 90% thời gian để giao tiếp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Tập trung vào truyền thông nhóm và cá nhân.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 thông phải hướng đến đúng người – đúng lúc – đúng cách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Cân bằng giữa truyền thông chính thức và không chính thức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Chuẩn bị sẵn sàng để truyền đạt cả thông tin tích cực lẫn tiêu cực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 thông cần linh hoạt theo ngữ cảnh và đối tượng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Xác định số lượng các kênh truyền thông…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3895208" cy="483472"/>
            <a:chOff x="0" y="0"/>
            <a:chExt cx="5193611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5001432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93611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MBTI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và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truyền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thông</a:t>
              </a:r>
              <a:endParaRPr lang="en-US" sz="2648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0183998" y="1538139"/>
            <a:ext cx="7075302" cy="7648975"/>
          </a:xfrm>
          <a:custGeom>
            <a:avLst/>
            <a:gdLst/>
            <a:ahLst/>
            <a:cxnLst/>
            <a:rect l="l" t="t" r="r" b="b"/>
            <a:pathLst>
              <a:path w="7075302" h="7648975">
                <a:moveTo>
                  <a:pt x="0" y="0"/>
                </a:moveTo>
                <a:lnTo>
                  <a:pt x="7075302" y="0"/>
                </a:lnTo>
                <a:lnTo>
                  <a:pt x="7075302" y="7648974"/>
                </a:lnTo>
                <a:lnTo>
                  <a:pt x="0" y="764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985233"/>
            <a:ext cx="8396288" cy="363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Hướng ngoại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(E): thích thảo luận nơi công cộng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Hướng nội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(I): thích thông tin riêng tư.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Cảm giác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(S): cần các bước chi tiết cụ thể,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Trực giác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(N): muốn hiểu bức tranh tổng thể.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Lý trí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(T): muốn biết các lý luận khi quyết định,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Tình cảm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(F): muốn các ảnh hưởng đến cá nhân.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Nguyên tắc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(J): đáp ứng đúng thời hạn,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76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Linh hoạt</a:t>
            </a:r>
            <a:r>
              <a:rPr lang="en-US" sz="2400" spc="76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(P): cần nhiều sự giúp đỡ hơn…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684943" cy="483472"/>
            <a:chOff x="0" y="0"/>
            <a:chExt cx="7579924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729944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57992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Các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phương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thức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truyền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thông</a:t>
              </a:r>
              <a:endParaRPr lang="en-US" sz="2648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8039" y="3632387"/>
            <a:ext cx="4986448" cy="1723017"/>
            <a:chOff x="0" y="0"/>
            <a:chExt cx="235226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52261" cy="812800"/>
            </a:xfrm>
            <a:custGeom>
              <a:avLst/>
              <a:gdLst/>
              <a:ahLst/>
              <a:cxnLst/>
              <a:rect l="l" t="t" r="r" b="b"/>
              <a:pathLst>
                <a:path w="2352261" h="812800">
                  <a:moveTo>
                    <a:pt x="0" y="0"/>
                  </a:moveTo>
                  <a:lnTo>
                    <a:pt x="2352261" y="0"/>
                  </a:lnTo>
                  <a:lnTo>
                    <a:pt x="23522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3696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352261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2400" spc="124">
                  <a:solidFill>
                    <a:srgbClr val="FFFFFF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Truyền thông nhóm và cá nhân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63614" y="3632387"/>
            <a:ext cx="4986448" cy="1723017"/>
            <a:chOff x="0" y="0"/>
            <a:chExt cx="2352261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52261" cy="812800"/>
            </a:xfrm>
            <a:custGeom>
              <a:avLst/>
              <a:gdLst/>
              <a:ahLst/>
              <a:cxnLst/>
              <a:rect l="l" t="t" r="r" b="b"/>
              <a:pathLst>
                <a:path w="2352261" h="812800">
                  <a:moveTo>
                    <a:pt x="0" y="0"/>
                  </a:moveTo>
                  <a:lnTo>
                    <a:pt x="2352261" y="0"/>
                  </a:lnTo>
                  <a:lnTo>
                    <a:pt x="23522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3696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352261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2400" spc="124">
                  <a:solidFill>
                    <a:srgbClr val="FFFFFF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Truyền thông chính thức và không chính thức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59636" y="3632387"/>
            <a:ext cx="4986448" cy="1723017"/>
            <a:chOff x="0" y="0"/>
            <a:chExt cx="2352261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2261" cy="812800"/>
            </a:xfrm>
            <a:custGeom>
              <a:avLst/>
              <a:gdLst/>
              <a:ahLst/>
              <a:cxnLst/>
              <a:rect l="l" t="t" r="r" b="b"/>
              <a:pathLst>
                <a:path w="2352261" h="812800">
                  <a:moveTo>
                    <a:pt x="0" y="0"/>
                  </a:moveTo>
                  <a:lnTo>
                    <a:pt x="2352261" y="0"/>
                  </a:lnTo>
                  <a:lnTo>
                    <a:pt x="23522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3696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352261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2400" spc="124">
                  <a:solidFill>
                    <a:srgbClr val="FFFFFF"/>
                  </a:solidFill>
                  <a:latin typeface="Montserrat 2"/>
                  <a:ea typeface="Montserrat 2"/>
                  <a:cs typeface="Montserrat 2"/>
                  <a:sym typeface="Montserrat 2"/>
                </a:rPr>
                <a:t>Truyền thông mặt đối mặt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68039" y="6346004"/>
            <a:ext cx="4986448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Email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Điện thoại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...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63614" y="6229128"/>
            <a:ext cx="4986448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Văn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thức</a:t>
            </a: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Văn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thức</a:t>
            </a: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nói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thức</a:t>
            </a: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nói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thức</a:t>
            </a: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59636" y="6914928"/>
            <a:ext cx="4986448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Họp đứng</a:t>
            </a:r>
          </a:p>
        </p:txBody>
      </p:sp>
      <p:sp>
        <p:nvSpPr>
          <p:cNvPr id="20" name="AutoShape 20"/>
          <p:cNvSpPr/>
          <p:nvPr/>
        </p:nvSpPr>
        <p:spPr>
          <a:xfrm flipH="1">
            <a:off x="6670720" y="3632387"/>
            <a:ext cx="0" cy="5117767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12069136" y="3632387"/>
            <a:ext cx="0" cy="5117767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960449" y="1452950"/>
            <a:ext cx="14367103" cy="7381099"/>
          </a:xfrm>
          <a:custGeom>
            <a:avLst/>
            <a:gdLst/>
            <a:ahLst/>
            <a:cxnLst/>
            <a:rect l="l" t="t" r="r" b="b"/>
            <a:pathLst>
              <a:path w="14367103" h="7381099">
                <a:moveTo>
                  <a:pt x="0" y="0"/>
                </a:moveTo>
                <a:lnTo>
                  <a:pt x="14367102" y="0"/>
                </a:lnTo>
                <a:lnTo>
                  <a:pt x="14367102" y="7381100"/>
                </a:lnTo>
                <a:lnTo>
                  <a:pt x="0" y="738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3927456" cy="483472"/>
            <a:chOff x="0" y="0"/>
            <a:chExt cx="5236608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5042838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236608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Số kênh truyền thông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49988" y="4376742"/>
            <a:ext cx="7891014" cy="811581"/>
            <a:chOff x="0" y="0"/>
            <a:chExt cx="2078292" cy="2137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8292" cy="213750"/>
            </a:xfrm>
            <a:custGeom>
              <a:avLst/>
              <a:gdLst/>
              <a:ahLst/>
              <a:cxnLst/>
              <a:rect l="l" t="t" r="r" b="b"/>
              <a:pathLst>
                <a:path w="2078292" h="213750">
                  <a:moveTo>
                    <a:pt x="0" y="0"/>
                  </a:moveTo>
                  <a:lnTo>
                    <a:pt x="2078292" y="0"/>
                  </a:lnTo>
                  <a:lnTo>
                    <a:pt x="2078292" y="213750"/>
                  </a:lnTo>
                  <a:lnTo>
                    <a:pt x="0" y="213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D252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078292" cy="27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r>
                <a:rPr lang="en-US" sz="2648">
                  <a:solidFill>
                    <a:srgbClr val="000000"/>
                  </a:solidFill>
                  <a:latin typeface="Montserrat 1"/>
                  <a:ea typeface="Montserrat 1"/>
                  <a:cs typeface="Montserrat 1"/>
                  <a:sym typeface="Montserrat 1"/>
                </a:rPr>
                <a:t>Số kênh truyền thông = n(n-1)/2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9645294" y="3147913"/>
            <a:ext cx="7614006" cy="5223227"/>
          </a:xfrm>
          <a:custGeom>
            <a:avLst/>
            <a:gdLst/>
            <a:ahLst/>
            <a:cxnLst/>
            <a:rect l="l" t="t" r="r" b="b"/>
            <a:pathLst>
              <a:path w="7614006" h="5223227">
                <a:moveTo>
                  <a:pt x="0" y="0"/>
                </a:moveTo>
                <a:lnTo>
                  <a:pt x="7614006" y="0"/>
                </a:lnTo>
                <a:lnTo>
                  <a:pt x="7614006" y="5223227"/>
                </a:lnTo>
                <a:lnTo>
                  <a:pt x="0" y="5223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 Quy trình quản lý truyền thông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8039" y="3549207"/>
            <a:ext cx="4433143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sz="2648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Được tính theo công thức: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039" y="5502648"/>
            <a:ext cx="3562648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772" lvl="1" indent="-285886" algn="ctr">
              <a:lnSpc>
                <a:spcPts val="3707"/>
              </a:lnSpc>
              <a:spcBef>
                <a:spcPct val="0"/>
              </a:spcBef>
              <a:buFont typeface="Arial"/>
              <a:buChar char="•"/>
            </a:pPr>
            <a:r>
              <a:rPr lang="en-US" sz="2648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 : số lượng người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1794834" cy="483472"/>
            <a:chOff x="0" y="0"/>
            <a:chExt cx="2393112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2304560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393112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Khái niệm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798067" y="3089647"/>
            <a:ext cx="6461233" cy="4295847"/>
          </a:xfrm>
          <a:custGeom>
            <a:avLst/>
            <a:gdLst/>
            <a:ahLst/>
            <a:cxnLst/>
            <a:rect l="l" t="t" r="r" b="b"/>
            <a:pathLst>
              <a:path w="6461233" h="4295847">
                <a:moveTo>
                  <a:pt x="0" y="0"/>
                </a:moveTo>
                <a:lnTo>
                  <a:pt x="6461233" y="0"/>
                </a:lnTo>
                <a:lnTo>
                  <a:pt x="6461233" y="4295847"/>
                </a:lnTo>
                <a:lnTo>
                  <a:pt x="0" y="429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2.1 Kế hoạch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333817"/>
            <a:ext cx="9040300" cy="454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một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thành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phần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của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kế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mô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tả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cách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thức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thời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điểm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và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đối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tượng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tin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phân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phối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xây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sớm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cập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nhật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khi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có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thay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đổi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về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(stakeholders)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hoặc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yêu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cầu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Mục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tiêu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đến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người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điểm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dạng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tránh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lãng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phí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chi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phí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835985" cy="483472"/>
            <a:chOff x="0" y="0"/>
            <a:chExt cx="7781314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7493381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78131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Nội dung kế hoạch truyền thông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2.1 Kế hoạch quản lý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34589" y="6796239"/>
            <a:ext cx="2827289" cy="2016486"/>
            <a:chOff x="0" y="0"/>
            <a:chExt cx="1404462" cy="1001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4463" cy="1001694"/>
            </a:xfrm>
            <a:custGeom>
              <a:avLst/>
              <a:gdLst/>
              <a:ahLst/>
              <a:cxnLst/>
              <a:rect l="l" t="t" r="r" b="b"/>
              <a:pathLst>
                <a:path w="1404463" h="1001694">
                  <a:moveTo>
                    <a:pt x="1280002" y="1001694"/>
                  </a:moveTo>
                  <a:lnTo>
                    <a:pt x="124460" y="1001694"/>
                  </a:lnTo>
                  <a:cubicBezTo>
                    <a:pt x="55880" y="1001694"/>
                    <a:pt x="0" y="945814"/>
                    <a:pt x="0" y="877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0002" y="0"/>
                  </a:lnTo>
                  <a:cubicBezTo>
                    <a:pt x="1348582" y="0"/>
                    <a:pt x="1404463" y="55880"/>
                    <a:pt x="1404463" y="124460"/>
                  </a:cubicBezTo>
                  <a:lnTo>
                    <a:pt x="1404463" y="877234"/>
                  </a:lnTo>
                  <a:cubicBezTo>
                    <a:pt x="1404463" y="945814"/>
                    <a:pt x="1348582" y="1001694"/>
                    <a:pt x="1280002" y="1001694"/>
                  </a:cubicBezTo>
                  <a:close/>
                </a:path>
              </a:pathLst>
            </a:custGeom>
            <a:solidFill>
              <a:srgbClr val="F2F1D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45941" y="7151101"/>
            <a:ext cx="2404585" cy="30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2"/>
              </a:lnSpc>
            </a:pPr>
            <a:r>
              <a:rPr lang="en-US" sz="1837" b="1">
                <a:solidFill>
                  <a:srgbClr val="3C4C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Tần suất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5941" y="7595316"/>
            <a:ext cx="2404585" cy="62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5"/>
              </a:lnSpc>
              <a:spcBef>
                <a:spcPct val="0"/>
              </a:spcBef>
            </a:pPr>
            <a:r>
              <a:rPr lang="en-US" sz="1225">
                <a:solidFill>
                  <a:srgbClr val="63696F"/>
                </a:solidFill>
                <a:latin typeface="Canva Sans"/>
                <a:ea typeface="Canva Sans"/>
                <a:cs typeface="Canva Sans"/>
                <a:sym typeface="Canva Sans"/>
              </a:rPr>
              <a:t>Hàng ngày, hàng tuần, hoặc theo cột mốc dự án.</a:t>
            </a:r>
          </a:p>
          <a:p>
            <a:pPr marL="0" lvl="0" indent="0" algn="ctr">
              <a:lnSpc>
                <a:spcPts val="1715"/>
              </a:lnSpc>
              <a:spcBef>
                <a:spcPct val="0"/>
              </a:spcBef>
            </a:pPr>
            <a:endParaRPr lang="en-US" sz="1225">
              <a:solidFill>
                <a:srgbClr val="63696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3720744" y="6355105"/>
            <a:ext cx="882269" cy="88226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D9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3935781" y="6587947"/>
            <a:ext cx="452194" cy="416584"/>
          </a:xfrm>
          <a:custGeom>
            <a:avLst/>
            <a:gdLst/>
            <a:ahLst/>
            <a:cxnLst/>
            <a:rect l="l" t="t" r="r" b="b"/>
            <a:pathLst>
              <a:path w="452194" h="416584">
                <a:moveTo>
                  <a:pt x="0" y="0"/>
                </a:moveTo>
                <a:lnTo>
                  <a:pt x="452194" y="0"/>
                </a:lnTo>
                <a:lnTo>
                  <a:pt x="452194" y="416584"/>
                </a:lnTo>
                <a:lnTo>
                  <a:pt x="0" y="416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9871799" y="3466401"/>
            <a:ext cx="3268424" cy="2495806"/>
            <a:chOff x="0" y="0"/>
            <a:chExt cx="4357898" cy="332774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768084"/>
              <a:ext cx="3769719" cy="2559657"/>
              <a:chOff x="0" y="0"/>
              <a:chExt cx="1404462" cy="95363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04463" cy="953637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953637">
                    <a:moveTo>
                      <a:pt x="1280002" y="953637"/>
                    </a:moveTo>
                    <a:lnTo>
                      <a:pt x="124460" y="953637"/>
                    </a:lnTo>
                    <a:cubicBezTo>
                      <a:pt x="55880" y="953637"/>
                      <a:pt x="0" y="897757"/>
                      <a:pt x="0" y="82917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29177"/>
                    </a:lnTo>
                    <a:cubicBezTo>
                      <a:pt x="1404463" y="897757"/>
                      <a:pt x="1348582" y="953637"/>
                      <a:pt x="1280002" y="953637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7BB0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81803" y="1250759"/>
              <a:ext cx="3206114" cy="822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Người chịu trách nhiệm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1803" y="2267753"/>
              <a:ext cx="3206114" cy="541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tạo và ai nhận thông tin.</a:t>
              </a:r>
            </a:p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endParaRPr lang="en-US" sz="1225">
                <a:solidFill>
                  <a:srgbClr val="63696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468256" y="291381"/>
              <a:ext cx="602926" cy="593596"/>
            </a:xfrm>
            <a:custGeom>
              <a:avLst/>
              <a:gdLst/>
              <a:ahLst/>
              <a:cxnLst/>
              <a:rect l="l" t="t" r="r" b="b"/>
              <a:pathLst>
                <a:path w="602926" h="593596">
                  <a:moveTo>
                    <a:pt x="0" y="0"/>
                  </a:moveTo>
                  <a:lnTo>
                    <a:pt x="602926" y="0"/>
                  </a:lnTo>
                  <a:lnTo>
                    <a:pt x="602926" y="593596"/>
                  </a:lnTo>
                  <a:lnTo>
                    <a:pt x="0" y="59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161" t="-2036" r="-1538" b="-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71799" y="6329578"/>
            <a:ext cx="3268424" cy="2457621"/>
            <a:chOff x="0" y="0"/>
            <a:chExt cx="4357898" cy="327682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588179"/>
              <a:ext cx="3769719" cy="2688648"/>
              <a:chOff x="0" y="0"/>
              <a:chExt cx="1404462" cy="100169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404463" cy="1001694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1001694">
                    <a:moveTo>
                      <a:pt x="1280002" y="1001694"/>
                    </a:moveTo>
                    <a:lnTo>
                      <a:pt x="124460" y="1001694"/>
                    </a:lnTo>
                    <a:cubicBezTo>
                      <a:pt x="55880" y="1001694"/>
                      <a:pt x="0" y="945814"/>
                      <a:pt x="0" y="87723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77234"/>
                    </a:lnTo>
                    <a:cubicBezTo>
                      <a:pt x="1404463" y="945814"/>
                      <a:pt x="1348582" y="1001694"/>
                      <a:pt x="1280002" y="1001694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9DC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81803" y="1211860"/>
              <a:ext cx="3206114" cy="39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Danh sách thuật ngữ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1803" y="1800972"/>
              <a:ext cx="3206114" cy="541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Đảm bảo sự thống nhất trong giao tiếp.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3468256" y="276943"/>
              <a:ext cx="602926" cy="622472"/>
            </a:xfrm>
            <a:custGeom>
              <a:avLst/>
              <a:gdLst/>
              <a:ahLst/>
              <a:cxnLst/>
              <a:rect l="l" t="t" r="r" b="b"/>
              <a:pathLst>
                <a:path w="602926" h="622472">
                  <a:moveTo>
                    <a:pt x="0" y="0"/>
                  </a:moveTo>
                  <a:lnTo>
                    <a:pt x="602926" y="0"/>
                  </a:lnTo>
                  <a:lnTo>
                    <a:pt x="602926" y="622472"/>
                  </a:lnTo>
                  <a:lnTo>
                    <a:pt x="0" y="622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575" t="-1412" r="-3409" b="-12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9813" y="3466401"/>
            <a:ext cx="3268424" cy="2495806"/>
            <a:chOff x="0" y="0"/>
            <a:chExt cx="4357898" cy="3327742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768084"/>
              <a:ext cx="3769719" cy="2559657"/>
              <a:chOff x="0" y="0"/>
              <a:chExt cx="1404462" cy="95363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404463" cy="953637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953637">
                    <a:moveTo>
                      <a:pt x="1280002" y="953637"/>
                    </a:moveTo>
                    <a:lnTo>
                      <a:pt x="124460" y="953637"/>
                    </a:lnTo>
                    <a:cubicBezTo>
                      <a:pt x="55880" y="953637"/>
                      <a:pt x="0" y="897757"/>
                      <a:pt x="0" y="82917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29177"/>
                    </a:lnTo>
                    <a:cubicBezTo>
                      <a:pt x="1404463" y="897757"/>
                      <a:pt x="1348582" y="953637"/>
                      <a:pt x="1280002" y="953637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9BFB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81803" y="1391766"/>
              <a:ext cx="3206114" cy="39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Thông tin truyền đạt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1803" y="1980877"/>
              <a:ext cx="3206114" cy="541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Nội dung, định dạng, mức độ chi tiết (báo cáo, email, cuộc họp).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468256" y="298210"/>
              <a:ext cx="602926" cy="579939"/>
            </a:xfrm>
            <a:custGeom>
              <a:avLst/>
              <a:gdLst/>
              <a:ahLst/>
              <a:cxnLst/>
              <a:rect l="l" t="t" r="r" b="b"/>
              <a:pathLst>
                <a:path w="602926" h="579939">
                  <a:moveTo>
                    <a:pt x="0" y="0"/>
                  </a:moveTo>
                  <a:lnTo>
                    <a:pt x="602926" y="0"/>
                  </a:lnTo>
                  <a:lnTo>
                    <a:pt x="602926" y="579939"/>
                  </a:lnTo>
                  <a:lnTo>
                    <a:pt x="0" y="579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911" t="-3798" r="-1366" b="-35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69813" y="6355105"/>
            <a:ext cx="3268424" cy="2432093"/>
            <a:chOff x="0" y="0"/>
            <a:chExt cx="4357898" cy="3242791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622215"/>
              <a:ext cx="3769719" cy="2620576"/>
              <a:chOff x="0" y="0"/>
              <a:chExt cx="1404462" cy="97633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404463" cy="976333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976333">
                    <a:moveTo>
                      <a:pt x="1280002" y="976333"/>
                    </a:moveTo>
                    <a:lnTo>
                      <a:pt x="124460" y="976333"/>
                    </a:lnTo>
                    <a:cubicBezTo>
                      <a:pt x="55880" y="976333"/>
                      <a:pt x="0" y="920453"/>
                      <a:pt x="0" y="851873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51873"/>
                    </a:lnTo>
                    <a:cubicBezTo>
                      <a:pt x="1404463" y="920453"/>
                      <a:pt x="1348582" y="976333"/>
                      <a:pt x="1280002" y="976333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494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81803" y="1211860"/>
              <a:ext cx="3206114" cy="39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Quy trình điều chỉnh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1803" y="1800972"/>
              <a:ext cx="3206114" cy="541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Cách xử lý vấn đề hoặc cập nhật kế hoạch.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3468256" y="285178"/>
              <a:ext cx="602926" cy="606002"/>
            </a:xfrm>
            <a:custGeom>
              <a:avLst/>
              <a:gdLst/>
              <a:ahLst/>
              <a:cxnLst/>
              <a:rect l="l" t="t" r="r" b="b"/>
              <a:pathLst>
                <a:path w="602926" h="606002">
                  <a:moveTo>
                    <a:pt x="0" y="0"/>
                  </a:moveTo>
                  <a:lnTo>
                    <a:pt x="602926" y="0"/>
                  </a:lnTo>
                  <a:lnTo>
                    <a:pt x="602926" y="606002"/>
                  </a:lnTo>
                  <a:lnTo>
                    <a:pt x="0" y="606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1742" t="-1421" r="-1872" b="-16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37573" y="3466401"/>
            <a:ext cx="3398890" cy="2495806"/>
            <a:chOff x="0" y="0"/>
            <a:chExt cx="4531853" cy="3327742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768084"/>
              <a:ext cx="3769719" cy="2559657"/>
              <a:chOff x="0" y="0"/>
              <a:chExt cx="1404462" cy="95363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404463" cy="953637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953637">
                    <a:moveTo>
                      <a:pt x="1280002" y="953637"/>
                    </a:moveTo>
                    <a:lnTo>
                      <a:pt x="124460" y="953637"/>
                    </a:lnTo>
                    <a:cubicBezTo>
                      <a:pt x="55880" y="953637"/>
                      <a:pt x="0" y="897757"/>
                      <a:pt x="0" y="82917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29177"/>
                    </a:lnTo>
                    <a:cubicBezTo>
                      <a:pt x="1404463" y="897757"/>
                      <a:pt x="1348582" y="953637"/>
                      <a:pt x="1280002" y="953637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548678" y="1289657"/>
              <a:ext cx="2672363" cy="39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Yêu cầu giao tiếp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6438" y="2095767"/>
              <a:ext cx="3396843" cy="823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Nhu cầu thông tin của các bên liên quan (ngôn ngữ, định dạng, mức chi tiết)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3355495" y="0"/>
              <a:ext cx="1176358" cy="1176358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B5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1" name="Freeform 61"/>
            <p:cNvSpPr/>
            <p:nvPr/>
          </p:nvSpPr>
          <p:spPr>
            <a:xfrm>
              <a:off x="3642211" y="290485"/>
              <a:ext cx="602926" cy="595389"/>
            </a:xfrm>
            <a:custGeom>
              <a:avLst/>
              <a:gdLst/>
              <a:ahLst/>
              <a:cxnLst/>
              <a:rect l="l" t="t" r="r" b="b"/>
              <a:pathLst>
                <a:path w="602926" h="595389">
                  <a:moveTo>
                    <a:pt x="0" y="0"/>
                  </a:moveTo>
                  <a:lnTo>
                    <a:pt x="602926" y="0"/>
                  </a:lnTo>
                  <a:lnTo>
                    <a:pt x="602926" y="595389"/>
                  </a:lnTo>
                  <a:lnTo>
                    <a:pt x="0" y="59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990876" y="3495575"/>
            <a:ext cx="3268424" cy="2530025"/>
            <a:chOff x="0" y="0"/>
            <a:chExt cx="4357898" cy="3373366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729186"/>
              <a:ext cx="3769719" cy="2559657"/>
              <a:chOff x="0" y="0"/>
              <a:chExt cx="1404462" cy="95363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404463" cy="953637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953637">
                    <a:moveTo>
                      <a:pt x="1280002" y="953637"/>
                    </a:moveTo>
                    <a:lnTo>
                      <a:pt x="124460" y="953637"/>
                    </a:lnTo>
                    <a:cubicBezTo>
                      <a:pt x="55880" y="953637"/>
                      <a:pt x="0" y="897757"/>
                      <a:pt x="0" y="82917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29177"/>
                    </a:lnTo>
                    <a:cubicBezTo>
                      <a:pt x="1404463" y="897757"/>
                      <a:pt x="1348582" y="953637"/>
                      <a:pt x="1280002" y="953637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5BCC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281803" y="1250759"/>
              <a:ext cx="3206114" cy="822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Phương pháp/công nghệ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81803" y="2267753"/>
              <a:ext cx="3206114" cy="1105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Email, phần mềm quản lý (Jira, Slack), cuộc họp trực tiếp/video.</a:t>
              </a:r>
            </a:p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endParaRPr lang="en-US" sz="1225">
                <a:solidFill>
                  <a:srgbClr val="63696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3487917" y="298210"/>
              <a:ext cx="602926" cy="579939"/>
            </a:xfrm>
            <a:custGeom>
              <a:avLst/>
              <a:gdLst/>
              <a:ahLst/>
              <a:cxnLst/>
              <a:rect l="l" t="t" r="r" b="b"/>
              <a:pathLst>
                <a:path w="602926" h="579939">
                  <a:moveTo>
                    <a:pt x="0" y="0"/>
                  </a:moveTo>
                  <a:lnTo>
                    <a:pt x="602925" y="0"/>
                  </a:lnTo>
                  <a:lnTo>
                    <a:pt x="602925" y="579939"/>
                  </a:lnTo>
                  <a:lnTo>
                    <a:pt x="0" y="579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911" t="-3798" r="-1366" b="-35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990876" y="6329578"/>
            <a:ext cx="3268424" cy="2457621"/>
            <a:chOff x="0" y="0"/>
            <a:chExt cx="4357898" cy="3276827"/>
          </a:xfrm>
        </p:grpSpPr>
        <p:grpSp>
          <p:nvGrpSpPr>
            <p:cNvPr id="72" name="Group 72"/>
            <p:cNvGrpSpPr/>
            <p:nvPr/>
          </p:nvGrpSpPr>
          <p:grpSpPr>
            <a:xfrm>
              <a:off x="0" y="588179"/>
              <a:ext cx="3769719" cy="2688648"/>
              <a:chOff x="0" y="0"/>
              <a:chExt cx="1404462" cy="100169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1404463" cy="1001694"/>
              </a:xfrm>
              <a:custGeom>
                <a:avLst/>
                <a:gdLst/>
                <a:ahLst/>
                <a:cxnLst/>
                <a:rect l="l" t="t" r="r" b="b"/>
                <a:pathLst>
                  <a:path w="1404463" h="1001694">
                    <a:moveTo>
                      <a:pt x="1280002" y="1001694"/>
                    </a:moveTo>
                    <a:lnTo>
                      <a:pt x="124460" y="1001694"/>
                    </a:lnTo>
                    <a:cubicBezTo>
                      <a:pt x="55880" y="1001694"/>
                      <a:pt x="0" y="945814"/>
                      <a:pt x="0" y="87723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280002" y="0"/>
                    </a:lnTo>
                    <a:cubicBezTo>
                      <a:pt x="1348582" y="0"/>
                      <a:pt x="1404463" y="55880"/>
                      <a:pt x="1404463" y="124460"/>
                    </a:cubicBezTo>
                    <a:lnTo>
                      <a:pt x="1404463" y="877234"/>
                    </a:lnTo>
                    <a:cubicBezTo>
                      <a:pt x="1404463" y="945814"/>
                      <a:pt x="1348582" y="1001694"/>
                      <a:pt x="1280002" y="1001694"/>
                    </a:cubicBezTo>
                    <a:close/>
                  </a:path>
                </a:pathLst>
              </a:custGeom>
              <a:solidFill>
                <a:srgbClr val="F2F1D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3181540" y="0"/>
              <a:ext cx="1176358" cy="1176358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911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66343" tIns="66343" rIns="66343" bIns="66343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281803" y="1211860"/>
              <a:ext cx="3206114" cy="394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2"/>
                </a:lnSpc>
              </a:pPr>
              <a:r>
                <a:rPr lang="en-US" sz="1837" b="1">
                  <a:solidFill>
                    <a:srgbClr val="3C4C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Luồng thông tin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81803" y="1800972"/>
              <a:ext cx="3206114" cy="541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15"/>
                </a:lnSpc>
                <a:spcBef>
                  <a:spcPct val="0"/>
                </a:spcBef>
              </a:pPr>
              <a:r>
                <a:rPr lang="en-US" sz="1225">
                  <a:solidFill>
                    <a:srgbClr val="63696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Sơ đồ tổ chức, lịch họp, trình tự ủy quyền.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3487917" y="285178"/>
              <a:ext cx="602926" cy="606002"/>
            </a:xfrm>
            <a:custGeom>
              <a:avLst/>
              <a:gdLst/>
              <a:ahLst/>
              <a:cxnLst/>
              <a:rect l="l" t="t" r="r" b="b"/>
              <a:pathLst>
                <a:path w="602926" h="606002">
                  <a:moveTo>
                    <a:pt x="0" y="0"/>
                  </a:moveTo>
                  <a:lnTo>
                    <a:pt x="602925" y="0"/>
                  </a:lnTo>
                  <a:lnTo>
                    <a:pt x="602925" y="606002"/>
                  </a:lnTo>
                  <a:lnTo>
                    <a:pt x="0" y="606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1742" t="-1421" r="-1872" b="-16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422706" cy="483472"/>
            <a:chOff x="0" y="0"/>
            <a:chExt cx="7230274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6962732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23027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Mô hình truyền thông cơ bản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519426" y="3868337"/>
            <a:ext cx="8739874" cy="4210450"/>
          </a:xfrm>
          <a:custGeom>
            <a:avLst/>
            <a:gdLst/>
            <a:ahLst/>
            <a:cxnLst/>
            <a:rect l="l" t="t" r="r" b="b"/>
            <a:pathLst>
              <a:path w="8739874" h="4210450">
                <a:moveTo>
                  <a:pt x="0" y="0"/>
                </a:moveTo>
                <a:lnTo>
                  <a:pt x="8739874" y="0"/>
                </a:lnTo>
                <a:lnTo>
                  <a:pt x="8739874" y="4210451"/>
                </a:lnTo>
                <a:lnTo>
                  <a:pt x="0" y="4210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2.1 Kế hoạch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144789"/>
            <a:ext cx="15791261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Mô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mô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tả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cách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tin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được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truyền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đạt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giữa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trong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 Các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bước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trong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mô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gồm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039" y="4606811"/>
            <a:ext cx="4944961" cy="226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hóa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(Encode)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(Transmit)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Giải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(Decode)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Ghi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nhận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(Acknowledge)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hồi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(Feedback)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039" y="8040688"/>
            <a:ext cx="1227768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Ý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nghĩa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điệp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đạt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xác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tránh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hiểu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lầm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Phản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hồi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yếu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tố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then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chốt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kiểm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tra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hiệu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giao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tiếp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116352" cy="483472"/>
            <a:chOff x="0" y="0"/>
            <a:chExt cx="6821803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6569375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821803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Phân tích các bên liên quan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850061" y="4220034"/>
            <a:ext cx="5393817" cy="4503837"/>
          </a:xfrm>
          <a:custGeom>
            <a:avLst/>
            <a:gdLst/>
            <a:ahLst/>
            <a:cxnLst/>
            <a:rect l="l" t="t" r="r" b="b"/>
            <a:pathLst>
              <a:path w="5393817" h="4503837">
                <a:moveTo>
                  <a:pt x="0" y="0"/>
                </a:moveTo>
                <a:lnTo>
                  <a:pt x="5393818" y="0"/>
                </a:lnTo>
                <a:lnTo>
                  <a:pt x="5393818" y="4503837"/>
                </a:lnTo>
                <a:lnTo>
                  <a:pt x="0" y="4503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2.1 Kế hoạch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230070"/>
            <a:ext cx="15791261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cầu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tiếp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của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xây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kế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039" y="4153359"/>
            <a:ext cx="10104601" cy="271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Lưới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/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tâm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</a:t>
            </a:r>
          </a:p>
          <a:p>
            <a:pPr marL="518160" lvl="1" indent="-25908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Quyền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tâm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Giao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tiếp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thường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xuyên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chi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tiết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.</a:t>
            </a:r>
          </a:p>
          <a:p>
            <a:pPr marL="518160" lvl="1" indent="-25908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Quyền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thấp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tâm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Cập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nhật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thường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xuyên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nhưng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ít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chi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tiết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marL="518160" lvl="1" indent="-25908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Quyền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tâm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thấp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Báo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tóm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tắt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kỳ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marL="518160" lvl="1" indent="-25908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Quyền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thấp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tâm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thấp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Thông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tối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thiểu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1891577" cy="483472"/>
            <a:chOff x="0" y="0"/>
            <a:chExt cx="2522103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2428778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22103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Khái niệm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2.2 Quản lý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3238959"/>
            <a:ext cx="12244009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quá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hoạt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động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cần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thiết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đảm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bảo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tin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dự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tạo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phân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phối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giám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sát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Bao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gồm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việc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luồng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minh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đáp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ứng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cầu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của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Mục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tiêu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Tăng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cường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giao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tiếp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thiểu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rủi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ro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do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thiếu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hoặc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hiểu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lầm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4874494" cy="483472"/>
            <a:chOff x="0" y="0"/>
            <a:chExt cx="6499326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6258831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499326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Tạo và phân phối thông tin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2.2 Quản lý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702405"/>
            <a:ext cx="7407155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Tạo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tin: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Dựa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trên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WBS (Work Breakdown Structure)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xác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nội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dung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đạt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đủ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phù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hợp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với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từng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đối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tượng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VD: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chi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tiết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PM,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tóm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tắt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lãnh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00104" y="3702405"/>
            <a:ext cx="7759196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Phân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phối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thông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tin: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Sử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dụng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nghệ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Email,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mềm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quản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video call.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Phương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pháp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thức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(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biên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bản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)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chính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thức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(chat, email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nhanh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).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người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thời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điểm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đúng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dạng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144000" y="3740505"/>
            <a:ext cx="0" cy="4741094"/>
          </a:xfrm>
          <a:prstGeom prst="line">
            <a:avLst/>
          </a:prstGeom>
          <a:ln w="38100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4148920" cy="483472"/>
            <a:chOff x="0" y="0"/>
            <a:chExt cx="5531893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532719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531893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Phân loại truyền thông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86578" y="7810628"/>
            <a:ext cx="8354242" cy="113249"/>
            <a:chOff x="0" y="0"/>
            <a:chExt cx="45398786" cy="635000"/>
          </a:xfrm>
        </p:grpSpPr>
        <p:sp>
          <p:nvSpPr>
            <p:cNvPr id="8" name="Freeform 8"/>
            <p:cNvSpPr/>
            <p:nvPr/>
          </p:nvSpPr>
          <p:spPr>
            <a:xfrm>
              <a:off x="-16002" y="212852"/>
              <a:ext cx="45430790" cy="209296"/>
            </a:xfrm>
            <a:custGeom>
              <a:avLst/>
              <a:gdLst/>
              <a:ahLst/>
              <a:cxnLst/>
              <a:rect l="l" t="t" r="r" b="b"/>
              <a:pathLst>
                <a:path w="45430790" h="209296">
                  <a:moveTo>
                    <a:pt x="45307982" y="9398"/>
                  </a:moveTo>
                  <a:lnTo>
                    <a:pt x="42538355" y="9398"/>
                  </a:lnTo>
                  <a:lnTo>
                    <a:pt x="30819170" y="9398"/>
                  </a:lnTo>
                  <a:lnTo>
                    <a:pt x="16600075" y="9398"/>
                  </a:lnTo>
                  <a:lnTo>
                    <a:pt x="4305317" y="9398"/>
                  </a:lnTo>
                  <a:cubicBezTo>
                    <a:pt x="2317822" y="9398"/>
                    <a:pt x="381000" y="0"/>
                    <a:pt x="133350" y="9398"/>
                  </a:cubicBezTo>
                  <a:cubicBezTo>
                    <a:pt x="129794" y="9525"/>
                    <a:pt x="126365" y="9398"/>
                    <a:pt x="122809" y="9398"/>
                  </a:cubicBezTo>
                  <a:cubicBezTo>
                    <a:pt x="254" y="9398"/>
                    <a:pt x="0" y="199898"/>
                    <a:pt x="122809" y="199898"/>
                  </a:cubicBezTo>
                  <a:lnTo>
                    <a:pt x="3167423" y="199898"/>
                  </a:lnTo>
                  <a:lnTo>
                    <a:pt x="14886612" y="199898"/>
                  </a:lnTo>
                  <a:lnTo>
                    <a:pt x="29105705" y="199898"/>
                  </a:lnTo>
                  <a:lnTo>
                    <a:pt x="41400465" y="199898"/>
                  </a:lnTo>
                  <a:cubicBezTo>
                    <a:pt x="43387956" y="199898"/>
                    <a:pt x="45049790" y="209296"/>
                    <a:pt x="45297440" y="199898"/>
                  </a:cubicBezTo>
                  <a:cubicBezTo>
                    <a:pt x="45300996" y="199771"/>
                    <a:pt x="45304425" y="199898"/>
                    <a:pt x="45307982" y="199898"/>
                  </a:cubicBezTo>
                  <a:cubicBezTo>
                    <a:pt x="45430535" y="199898"/>
                    <a:pt x="45430790" y="9398"/>
                    <a:pt x="45307982" y="9398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61636" y="4154192"/>
            <a:ext cx="8604125" cy="113249"/>
            <a:chOff x="0" y="0"/>
            <a:chExt cx="46756705" cy="635000"/>
          </a:xfrm>
        </p:grpSpPr>
        <p:sp>
          <p:nvSpPr>
            <p:cNvPr id="10" name="Freeform 10"/>
            <p:cNvSpPr/>
            <p:nvPr/>
          </p:nvSpPr>
          <p:spPr>
            <a:xfrm>
              <a:off x="-16002" y="212852"/>
              <a:ext cx="46788710" cy="209296"/>
            </a:xfrm>
            <a:custGeom>
              <a:avLst/>
              <a:gdLst/>
              <a:ahLst/>
              <a:cxnLst/>
              <a:rect l="l" t="t" r="r" b="b"/>
              <a:pathLst>
                <a:path w="46788710" h="209296">
                  <a:moveTo>
                    <a:pt x="46665899" y="9398"/>
                  </a:moveTo>
                  <a:lnTo>
                    <a:pt x="43821316" y="9398"/>
                  </a:lnTo>
                  <a:lnTo>
                    <a:pt x="31745402" y="9398"/>
                  </a:lnTo>
                  <a:lnTo>
                    <a:pt x="17093482" y="9398"/>
                  </a:lnTo>
                  <a:lnTo>
                    <a:pt x="4424477" y="9398"/>
                  </a:lnTo>
                  <a:cubicBezTo>
                    <a:pt x="2376484" y="9398"/>
                    <a:pt x="381000" y="0"/>
                    <a:pt x="133350" y="9398"/>
                  </a:cubicBezTo>
                  <a:cubicBezTo>
                    <a:pt x="129794" y="9525"/>
                    <a:pt x="126365" y="9398"/>
                    <a:pt x="122809" y="9398"/>
                  </a:cubicBezTo>
                  <a:cubicBezTo>
                    <a:pt x="254" y="9398"/>
                    <a:pt x="0" y="199898"/>
                    <a:pt x="122809" y="199898"/>
                  </a:cubicBezTo>
                  <a:lnTo>
                    <a:pt x="3251946" y="199898"/>
                  </a:lnTo>
                  <a:lnTo>
                    <a:pt x="15327863" y="199898"/>
                  </a:lnTo>
                  <a:lnTo>
                    <a:pt x="29979779" y="199898"/>
                  </a:lnTo>
                  <a:lnTo>
                    <a:pt x="42648786" y="199898"/>
                  </a:lnTo>
                  <a:cubicBezTo>
                    <a:pt x="44696779" y="199898"/>
                    <a:pt x="46407710" y="209296"/>
                    <a:pt x="46655360" y="199898"/>
                  </a:cubicBezTo>
                  <a:cubicBezTo>
                    <a:pt x="46658916" y="199771"/>
                    <a:pt x="46662342" y="199898"/>
                    <a:pt x="46665899" y="199898"/>
                  </a:cubicBezTo>
                  <a:cubicBezTo>
                    <a:pt x="46788456" y="199898"/>
                    <a:pt x="46788710" y="9398"/>
                    <a:pt x="46665899" y="9398"/>
                  </a:cubicBez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433343" y="4770090"/>
            <a:ext cx="1270604" cy="113249"/>
            <a:chOff x="0" y="0"/>
            <a:chExt cx="6904743" cy="635000"/>
          </a:xfrm>
        </p:grpSpPr>
        <p:sp>
          <p:nvSpPr>
            <p:cNvPr id="12" name="Freeform 12"/>
            <p:cNvSpPr/>
            <p:nvPr/>
          </p:nvSpPr>
          <p:spPr>
            <a:xfrm>
              <a:off x="-16002" y="212852"/>
              <a:ext cx="6936747" cy="209296"/>
            </a:xfrm>
            <a:custGeom>
              <a:avLst/>
              <a:gdLst/>
              <a:ahLst/>
              <a:cxnLst/>
              <a:rect l="l" t="t" r="r" b="b"/>
              <a:pathLst>
                <a:path w="6936747" h="209296">
                  <a:moveTo>
                    <a:pt x="6813938" y="9398"/>
                  </a:moveTo>
                  <a:lnTo>
                    <a:pt x="6169270" y="9398"/>
                  </a:lnTo>
                  <a:lnTo>
                    <a:pt x="4562530" y="9398"/>
                  </a:lnTo>
                  <a:lnTo>
                    <a:pt x="2613045" y="9398"/>
                  </a:lnTo>
                  <a:lnTo>
                    <a:pt x="927393" y="9398"/>
                  </a:lnTo>
                  <a:cubicBezTo>
                    <a:pt x="654901" y="9398"/>
                    <a:pt x="381000" y="0"/>
                    <a:pt x="133350" y="9398"/>
                  </a:cubicBezTo>
                  <a:cubicBezTo>
                    <a:pt x="129794" y="9525"/>
                    <a:pt x="126365" y="9398"/>
                    <a:pt x="122809" y="9398"/>
                  </a:cubicBezTo>
                  <a:cubicBezTo>
                    <a:pt x="254" y="9398"/>
                    <a:pt x="0" y="199898"/>
                    <a:pt x="122809" y="199898"/>
                  </a:cubicBezTo>
                  <a:lnTo>
                    <a:pt x="771384" y="199898"/>
                  </a:lnTo>
                  <a:lnTo>
                    <a:pt x="2378124" y="199898"/>
                  </a:lnTo>
                  <a:lnTo>
                    <a:pt x="4327609" y="199898"/>
                  </a:lnTo>
                  <a:lnTo>
                    <a:pt x="6013261" y="199898"/>
                  </a:lnTo>
                  <a:cubicBezTo>
                    <a:pt x="6285753" y="199898"/>
                    <a:pt x="6555747" y="209296"/>
                    <a:pt x="6803397" y="199898"/>
                  </a:cubicBezTo>
                  <a:cubicBezTo>
                    <a:pt x="6806953" y="199771"/>
                    <a:pt x="6810382" y="199898"/>
                    <a:pt x="6813938" y="199898"/>
                  </a:cubicBezTo>
                  <a:cubicBezTo>
                    <a:pt x="6936493" y="199898"/>
                    <a:pt x="6936747" y="9398"/>
                    <a:pt x="6813938" y="9398"/>
                  </a:cubicBez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8433343" y="7182641"/>
            <a:ext cx="1270604" cy="113249"/>
            <a:chOff x="0" y="0"/>
            <a:chExt cx="6904743" cy="635000"/>
          </a:xfrm>
        </p:grpSpPr>
        <p:sp>
          <p:nvSpPr>
            <p:cNvPr id="14" name="Freeform 14"/>
            <p:cNvSpPr/>
            <p:nvPr/>
          </p:nvSpPr>
          <p:spPr>
            <a:xfrm>
              <a:off x="-16002" y="212852"/>
              <a:ext cx="6936747" cy="209296"/>
            </a:xfrm>
            <a:custGeom>
              <a:avLst/>
              <a:gdLst/>
              <a:ahLst/>
              <a:cxnLst/>
              <a:rect l="l" t="t" r="r" b="b"/>
              <a:pathLst>
                <a:path w="6936747" h="209296">
                  <a:moveTo>
                    <a:pt x="6813938" y="9398"/>
                  </a:moveTo>
                  <a:lnTo>
                    <a:pt x="6169270" y="9398"/>
                  </a:lnTo>
                  <a:lnTo>
                    <a:pt x="4562530" y="9398"/>
                  </a:lnTo>
                  <a:lnTo>
                    <a:pt x="2613045" y="9398"/>
                  </a:lnTo>
                  <a:lnTo>
                    <a:pt x="927393" y="9398"/>
                  </a:lnTo>
                  <a:cubicBezTo>
                    <a:pt x="654901" y="9398"/>
                    <a:pt x="381000" y="0"/>
                    <a:pt x="133350" y="9398"/>
                  </a:cubicBezTo>
                  <a:cubicBezTo>
                    <a:pt x="129794" y="9525"/>
                    <a:pt x="126365" y="9398"/>
                    <a:pt x="122809" y="9398"/>
                  </a:cubicBezTo>
                  <a:cubicBezTo>
                    <a:pt x="254" y="9398"/>
                    <a:pt x="0" y="199898"/>
                    <a:pt x="122809" y="199898"/>
                  </a:cubicBezTo>
                  <a:lnTo>
                    <a:pt x="771384" y="199898"/>
                  </a:lnTo>
                  <a:lnTo>
                    <a:pt x="2378124" y="199898"/>
                  </a:lnTo>
                  <a:lnTo>
                    <a:pt x="4327609" y="199898"/>
                  </a:lnTo>
                  <a:lnTo>
                    <a:pt x="6013261" y="199898"/>
                  </a:lnTo>
                  <a:cubicBezTo>
                    <a:pt x="6285753" y="199898"/>
                    <a:pt x="6555747" y="209296"/>
                    <a:pt x="6803397" y="199898"/>
                  </a:cubicBezTo>
                  <a:cubicBezTo>
                    <a:pt x="6806953" y="199771"/>
                    <a:pt x="6810382" y="199898"/>
                    <a:pt x="6813938" y="199898"/>
                  </a:cubicBezTo>
                  <a:cubicBezTo>
                    <a:pt x="6936493" y="199898"/>
                    <a:pt x="6936747" y="9398"/>
                    <a:pt x="6813938" y="9398"/>
                  </a:cubicBez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58752" y="7439516"/>
            <a:ext cx="3071175" cy="855472"/>
            <a:chOff x="0" y="0"/>
            <a:chExt cx="3898959" cy="111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98959" cy="1113790"/>
            </a:xfrm>
            <a:custGeom>
              <a:avLst/>
              <a:gdLst/>
              <a:ahLst/>
              <a:cxnLst/>
              <a:rect l="l" t="t" r="r" b="b"/>
              <a:pathLst>
                <a:path w="3898959" h="1113790">
                  <a:moveTo>
                    <a:pt x="3346509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3346509" y="1113790"/>
                  </a:lnTo>
                  <a:lnTo>
                    <a:pt x="3898959" y="558800"/>
                  </a:lnTo>
                  <a:lnTo>
                    <a:pt x="3346509" y="0"/>
                  </a:ln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4174" y="172686"/>
              <a:ext cx="796232" cy="762069"/>
            </a:xfrm>
            <a:custGeom>
              <a:avLst/>
              <a:gdLst/>
              <a:ahLst/>
              <a:cxnLst/>
              <a:rect l="l" t="t" r="r" b="b"/>
              <a:pathLst>
                <a:path w="796232" h="762069">
                  <a:moveTo>
                    <a:pt x="398116" y="34"/>
                  </a:moveTo>
                  <a:cubicBezTo>
                    <a:pt x="261975" y="0"/>
                    <a:pt x="136161" y="72610"/>
                    <a:pt x="68080" y="190506"/>
                  </a:cubicBezTo>
                  <a:cubicBezTo>
                    <a:pt x="0" y="308402"/>
                    <a:pt x="0" y="453666"/>
                    <a:pt x="68080" y="571562"/>
                  </a:cubicBezTo>
                  <a:cubicBezTo>
                    <a:pt x="136161" y="689458"/>
                    <a:pt x="261975" y="762068"/>
                    <a:pt x="398116" y="762034"/>
                  </a:cubicBezTo>
                  <a:cubicBezTo>
                    <a:pt x="534257" y="762068"/>
                    <a:pt x="660071" y="689458"/>
                    <a:pt x="728152" y="571562"/>
                  </a:cubicBezTo>
                  <a:cubicBezTo>
                    <a:pt x="796232" y="453666"/>
                    <a:pt x="796232" y="308402"/>
                    <a:pt x="728152" y="190506"/>
                  </a:cubicBezTo>
                  <a:cubicBezTo>
                    <a:pt x="660071" y="72610"/>
                    <a:pt x="534257" y="0"/>
                    <a:pt x="398116" y="3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9526250" y="3783080"/>
            <a:ext cx="3071175" cy="855472"/>
            <a:chOff x="0" y="0"/>
            <a:chExt cx="3898959" cy="1112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98959" cy="1113790"/>
            </a:xfrm>
            <a:custGeom>
              <a:avLst/>
              <a:gdLst/>
              <a:ahLst/>
              <a:cxnLst/>
              <a:rect l="l" t="t" r="r" b="b"/>
              <a:pathLst>
                <a:path w="3898959" h="1113790">
                  <a:moveTo>
                    <a:pt x="3346509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3346509" y="1113790"/>
                  </a:lnTo>
                  <a:lnTo>
                    <a:pt x="3898959" y="558800"/>
                  </a:lnTo>
                  <a:lnTo>
                    <a:pt x="3346509" y="0"/>
                  </a:lnTo>
                  <a:close/>
                </a:path>
              </a:pathLst>
            </a:custGeom>
            <a:solidFill>
              <a:srgbClr val="4966A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44174" y="172686"/>
              <a:ext cx="796232" cy="762069"/>
            </a:xfrm>
            <a:custGeom>
              <a:avLst/>
              <a:gdLst/>
              <a:ahLst/>
              <a:cxnLst/>
              <a:rect l="l" t="t" r="r" b="b"/>
              <a:pathLst>
                <a:path w="796232" h="762069">
                  <a:moveTo>
                    <a:pt x="398116" y="34"/>
                  </a:moveTo>
                  <a:cubicBezTo>
                    <a:pt x="261975" y="0"/>
                    <a:pt x="136161" y="72610"/>
                    <a:pt x="68080" y="190506"/>
                  </a:cubicBezTo>
                  <a:cubicBezTo>
                    <a:pt x="0" y="308402"/>
                    <a:pt x="0" y="453666"/>
                    <a:pt x="68080" y="571562"/>
                  </a:cubicBezTo>
                  <a:cubicBezTo>
                    <a:pt x="136161" y="689458"/>
                    <a:pt x="261975" y="762068"/>
                    <a:pt x="398116" y="762034"/>
                  </a:cubicBezTo>
                  <a:cubicBezTo>
                    <a:pt x="534257" y="762068"/>
                    <a:pt x="660071" y="689458"/>
                    <a:pt x="728152" y="571562"/>
                  </a:cubicBezTo>
                  <a:cubicBezTo>
                    <a:pt x="796232" y="453666"/>
                    <a:pt x="796232" y="308402"/>
                    <a:pt x="728152" y="190506"/>
                  </a:cubicBezTo>
                  <a:cubicBezTo>
                    <a:pt x="660071" y="72610"/>
                    <a:pt x="534257" y="0"/>
                    <a:pt x="398116" y="3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58752" y="3783080"/>
            <a:ext cx="3071175" cy="855472"/>
            <a:chOff x="0" y="0"/>
            <a:chExt cx="3898959" cy="1112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98959" cy="1113790"/>
            </a:xfrm>
            <a:custGeom>
              <a:avLst/>
              <a:gdLst/>
              <a:ahLst/>
              <a:cxnLst/>
              <a:rect l="l" t="t" r="r" b="b"/>
              <a:pathLst>
                <a:path w="3898959" h="1113790">
                  <a:moveTo>
                    <a:pt x="3346509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3346509" y="1113790"/>
                  </a:lnTo>
                  <a:lnTo>
                    <a:pt x="3898959" y="558800"/>
                  </a:lnTo>
                  <a:lnTo>
                    <a:pt x="3346509" y="0"/>
                  </a:ln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44174" y="172686"/>
              <a:ext cx="796232" cy="762069"/>
            </a:xfrm>
            <a:custGeom>
              <a:avLst/>
              <a:gdLst/>
              <a:ahLst/>
              <a:cxnLst/>
              <a:rect l="l" t="t" r="r" b="b"/>
              <a:pathLst>
                <a:path w="796232" h="762069">
                  <a:moveTo>
                    <a:pt x="398116" y="34"/>
                  </a:moveTo>
                  <a:cubicBezTo>
                    <a:pt x="261975" y="0"/>
                    <a:pt x="136161" y="72610"/>
                    <a:pt x="68080" y="190506"/>
                  </a:cubicBezTo>
                  <a:cubicBezTo>
                    <a:pt x="0" y="308402"/>
                    <a:pt x="0" y="453666"/>
                    <a:pt x="68080" y="571562"/>
                  </a:cubicBezTo>
                  <a:cubicBezTo>
                    <a:pt x="136161" y="689458"/>
                    <a:pt x="261975" y="762068"/>
                    <a:pt x="398116" y="762034"/>
                  </a:cubicBezTo>
                  <a:cubicBezTo>
                    <a:pt x="534257" y="762068"/>
                    <a:pt x="660071" y="689458"/>
                    <a:pt x="728152" y="571562"/>
                  </a:cubicBezTo>
                  <a:cubicBezTo>
                    <a:pt x="796232" y="453666"/>
                    <a:pt x="796232" y="308402"/>
                    <a:pt x="728152" y="190506"/>
                  </a:cubicBezTo>
                  <a:cubicBezTo>
                    <a:pt x="660071" y="72610"/>
                    <a:pt x="534257" y="0"/>
                    <a:pt x="398116" y="3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9526250" y="7439516"/>
            <a:ext cx="3071175" cy="855472"/>
            <a:chOff x="0" y="0"/>
            <a:chExt cx="3898959" cy="1112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98959" cy="1113790"/>
            </a:xfrm>
            <a:custGeom>
              <a:avLst/>
              <a:gdLst/>
              <a:ahLst/>
              <a:cxnLst/>
              <a:rect l="l" t="t" r="r" b="b"/>
              <a:pathLst>
                <a:path w="3898959" h="1113790">
                  <a:moveTo>
                    <a:pt x="3346509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3346509" y="1113790"/>
                  </a:lnTo>
                  <a:lnTo>
                    <a:pt x="3898959" y="558800"/>
                  </a:lnTo>
                  <a:lnTo>
                    <a:pt x="3346509" y="0"/>
                  </a:ln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44174" y="172686"/>
              <a:ext cx="796232" cy="762069"/>
            </a:xfrm>
            <a:custGeom>
              <a:avLst/>
              <a:gdLst/>
              <a:ahLst/>
              <a:cxnLst/>
              <a:rect l="l" t="t" r="r" b="b"/>
              <a:pathLst>
                <a:path w="796232" h="762069">
                  <a:moveTo>
                    <a:pt x="398116" y="34"/>
                  </a:moveTo>
                  <a:cubicBezTo>
                    <a:pt x="261975" y="0"/>
                    <a:pt x="136161" y="72610"/>
                    <a:pt x="68080" y="190506"/>
                  </a:cubicBezTo>
                  <a:cubicBezTo>
                    <a:pt x="0" y="308402"/>
                    <a:pt x="0" y="453666"/>
                    <a:pt x="68080" y="571562"/>
                  </a:cubicBezTo>
                  <a:cubicBezTo>
                    <a:pt x="136161" y="689458"/>
                    <a:pt x="261975" y="762068"/>
                    <a:pt x="398116" y="762034"/>
                  </a:cubicBezTo>
                  <a:cubicBezTo>
                    <a:pt x="534257" y="762068"/>
                    <a:pt x="660071" y="689458"/>
                    <a:pt x="728152" y="571562"/>
                  </a:cubicBezTo>
                  <a:cubicBezTo>
                    <a:pt x="796232" y="453666"/>
                    <a:pt x="796232" y="308402"/>
                    <a:pt x="728152" y="190506"/>
                  </a:cubicBezTo>
                  <a:cubicBezTo>
                    <a:pt x="660071" y="72610"/>
                    <a:pt x="534257" y="0"/>
                    <a:pt x="398116" y="3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5400000">
            <a:off x="4439366" y="4218921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39" y="0"/>
                </a:lnTo>
                <a:lnTo>
                  <a:pt x="636339" y="63634"/>
                </a:lnTo>
                <a:lnTo>
                  <a:pt x="0" y="6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4632594" y="3750681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4632594" y="4382259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rot="-5400000">
            <a:off x="4467941" y="8165136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39" y="0"/>
                </a:lnTo>
                <a:lnTo>
                  <a:pt x="636339" y="63634"/>
                </a:lnTo>
                <a:lnTo>
                  <a:pt x="0" y="6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 rot="-5400000">
            <a:off x="4467941" y="7586287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39" y="0"/>
                </a:lnTo>
                <a:lnTo>
                  <a:pt x="636339" y="63634"/>
                </a:lnTo>
                <a:lnTo>
                  <a:pt x="0" y="6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4661169" y="7118047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4661169" y="7749626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4661169" y="8381204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5400000">
            <a:off x="13080472" y="4243769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40" y="0"/>
                </a:lnTo>
                <a:lnTo>
                  <a:pt x="636340" y="63634"/>
                </a:lnTo>
                <a:lnTo>
                  <a:pt x="0" y="6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3273701" y="3789852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3273701" y="4421431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3781355" y="3690252"/>
            <a:ext cx="175647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Trang trọng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81355" y="4352793"/>
            <a:ext cx="238062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Không trang trọng</a:t>
            </a:r>
          </a:p>
        </p:txBody>
      </p:sp>
      <p:sp>
        <p:nvSpPr>
          <p:cNvPr id="40" name="Freeform 40"/>
          <p:cNvSpPr/>
          <p:nvPr/>
        </p:nvSpPr>
        <p:spPr>
          <a:xfrm>
            <a:off x="5847415" y="7739992"/>
            <a:ext cx="313952" cy="313952"/>
          </a:xfrm>
          <a:custGeom>
            <a:avLst/>
            <a:gdLst/>
            <a:ahLst/>
            <a:cxnLst/>
            <a:rect l="l" t="t" r="r" b="b"/>
            <a:pathLst>
              <a:path w="313952" h="313952">
                <a:moveTo>
                  <a:pt x="0" y="0"/>
                </a:moveTo>
                <a:lnTo>
                  <a:pt x="313952" y="0"/>
                </a:lnTo>
                <a:lnTo>
                  <a:pt x="313952" y="313953"/>
                </a:lnTo>
                <a:lnTo>
                  <a:pt x="0" y="313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1979285" y="4071757"/>
            <a:ext cx="337682" cy="337682"/>
          </a:xfrm>
          <a:custGeom>
            <a:avLst/>
            <a:gdLst/>
            <a:ahLst/>
            <a:cxnLst/>
            <a:rect l="l" t="t" r="r" b="b"/>
            <a:pathLst>
              <a:path w="337682" h="337682">
                <a:moveTo>
                  <a:pt x="0" y="0"/>
                </a:moveTo>
                <a:lnTo>
                  <a:pt x="337682" y="0"/>
                </a:lnTo>
                <a:lnTo>
                  <a:pt x="337682" y="337681"/>
                </a:lnTo>
                <a:lnTo>
                  <a:pt x="0" y="3376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5873346" y="4053841"/>
            <a:ext cx="313952" cy="313952"/>
          </a:xfrm>
          <a:custGeom>
            <a:avLst/>
            <a:gdLst/>
            <a:ahLst/>
            <a:cxnLst/>
            <a:rect l="l" t="t" r="r" b="b"/>
            <a:pathLst>
              <a:path w="313952" h="313952">
                <a:moveTo>
                  <a:pt x="0" y="0"/>
                </a:moveTo>
                <a:lnTo>
                  <a:pt x="313952" y="0"/>
                </a:lnTo>
                <a:lnTo>
                  <a:pt x="313952" y="313952"/>
                </a:lnTo>
                <a:lnTo>
                  <a:pt x="0" y="3139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2009154" y="7722967"/>
            <a:ext cx="288571" cy="288571"/>
          </a:xfrm>
          <a:custGeom>
            <a:avLst/>
            <a:gdLst/>
            <a:ahLst/>
            <a:cxnLst/>
            <a:rect l="l" t="t" r="r" b="b"/>
            <a:pathLst>
              <a:path w="288571" h="288571">
                <a:moveTo>
                  <a:pt x="0" y="0"/>
                </a:moveTo>
                <a:lnTo>
                  <a:pt x="288571" y="0"/>
                </a:lnTo>
                <a:lnTo>
                  <a:pt x="288571" y="288571"/>
                </a:lnTo>
                <a:lnTo>
                  <a:pt x="0" y="288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6719211" y="5519166"/>
            <a:ext cx="4585620" cy="1056222"/>
            <a:chOff x="0" y="0"/>
            <a:chExt cx="1207735" cy="27818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07735" cy="278182"/>
            </a:xfrm>
            <a:custGeom>
              <a:avLst/>
              <a:gdLst/>
              <a:ahLst/>
              <a:cxnLst/>
              <a:rect l="l" t="t" r="r" b="b"/>
              <a:pathLst>
                <a:path w="1207735" h="278182">
                  <a:moveTo>
                    <a:pt x="86103" y="0"/>
                  </a:moveTo>
                  <a:lnTo>
                    <a:pt x="1121632" y="0"/>
                  </a:lnTo>
                  <a:cubicBezTo>
                    <a:pt x="1169186" y="0"/>
                    <a:pt x="1207735" y="38550"/>
                    <a:pt x="1207735" y="86103"/>
                  </a:cubicBezTo>
                  <a:lnTo>
                    <a:pt x="1207735" y="192078"/>
                  </a:lnTo>
                  <a:cubicBezTo>
                    <a:pt x="1207735" y="239632"/>
                    <a:pt x="1169186" y="278182"/>
                    <a:pt x="1121632" y="278182"/>
                  </a:cubicBezTo>
                  <a:lnTo>
                    <a:pt x="86103" y="278182"/>
                  </a:lnTo>
                  <a:cubicBezTo>
                    <a:pt x="38550" y="278182"/>
                    <a:pt x="0" y="239632"/>
                    <a:pt x="0" y="192078"/>
                  </a:cubicBezTo>
                  <a:lnTo>
                    <a:pt x="0" y="86103"/>
                  </a:lnTo>
                  <a:cubicBezTo>
                    <a:pt x="0" y="38550"/>
                    <a:pt x="38550" y="0"/>
                    <a:pt x="861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966A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207735" cy="34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3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Phân loại truyền thông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550497" y="3990789"/>
            <a:ext cx="145025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Đối tượng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86092" y="7661686"/>
            <a:ext cx="1792503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Phương pháp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72521" y="3990789"/>
            <a:ext cx="145025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Hình thức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272521" y="7647225"/>
            <a:ext cx="145025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Thứ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bậc</a:t>
            </a:r>
            <a:endParaRPr lang="en-US" sz="21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2501122" y="4260667"/>
            <a:ext cx="197697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bên ngoài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01122" y="3624073"/>
            <a:ext cx="197697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Nội bộ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87889" y="6982287"/>
            <a:ext cx="239020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Truyền thông đẩy</a:t>
            </a:r>
          </a:p>
        </p:txBody>
      </p:sp>
      <p:sp>
        <p:nvSpPr>
          <p:cNvPr id="54" name="Freeform 54"/>
          <p:cNvSpPr/>
          <p:nvPr/>
        </p:nvSpPr>
        <p:spPr>
          <a:xfrm rot="-5400000">
            <a:off x="13047591" y="8159119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40" y="0"/>
                </a:lnTo>
                <a:lnTo>
                  <a:pt x="636340" y="63633"/>
                </a:lnTo>
                <a:lnTo>
                  <a:pt x="0" y="636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 rot="-5400000">
            <a:off x="13047591" y="7580269"/>
            <a:ext cx="636339" cy="63634"/>
          </a:xfrm>
          <a:custGeom>
            <a:avLst/>
            <a:gdLst/>
            <a:ahLst/>
            <a:cxnLst/>
            <a:rect l="l" t="t" r="r" b="b"/>
            <a:pathLst>
              <a:path w="636339" h="63634">
                <a:moveTo>
                  <a:pt x="0" y="0"/>
                </a:moveTo>
                <a:lnTo>
                  <a:pt x="636340" y="0"/>
                </a:lnTo>
                <a:lnTo>
                  <a:pt x="636340" y="63634"/>
                </a:lnTo>
                <a:lnTo>
                  <a:pt x="0" y="6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13240820" y="7112030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13240820" y="7743608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13240820" y="8375186"/>
            <a:ext cx="249883" cy="249883"/>
          </a:xfrm>
          <a:custGeom>
            <a:avLst/>
            <a:gdLst/>
            <a:ahLst/>
            <a:cxnLst/>
            <a:rect l="l" t="t" r="r" b="b"/>
            <a:pathLst>
              <a:path w="249883" h="249883">
                <a:moveTo>
                  <a:pt x="0" y="0"/>
                </a:moveTo>
                <a:lnTo>
                  <a:pt x="249883" y="0"/>
                </a:lnTo>
                <a:lnTo>
                  <a:pt x="249883" y="249883"/>
                </a:lnTo>
                <a:lnTo>
                  <a:pt x="0" y="2498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13776453" y="7649024"/>
            <a:ext cx="238552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Hướng xuống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776453" y="8270569"/>
            <a:ext cx="238552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Chiều ngang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776453" y="7012429"/>
            <a:ext cx="238552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Hướng lên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087889" y="7682050"/>
            <a:ext cx="239020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Truyền thông kéo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68039" y="8270569"/>
            <a:ext cx="301005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Truyền thông tương tác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2.2 Quản lý truyền thông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3294355" cy="483472"/>
            <a:chOff x="0" y="0"/>
            <a:chExt cx="4392473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4229938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392473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Báo cáo thực hiện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567544" y="2769258"/>
            <a:ext cx="5691756" cy="5691756"/>
          </a:xfrm>
          <a:custGeom>
            <a:avLst/>
            <a:gdLst/>
            <a:ahLst/>
            <a:cxnLst/>
            <a:rect l="l" t="t" r="r" b="b"/>
            <a:pathLst>
              <a:path w="5691756" h="5691756">
                <a:moveTo>
                  <a:pt x="0" y="0"/>
                </a:moveTo>
                <a:lnTo>
                  <a:pt x="5691756" y="0"/>
                </a:lnTo>
                <a:lnTo>
                  <a:pt x="5691756" y="5691756"/>
                </a:lnTo>
                <a:lnTo>
                  <a:pt x="0" y="5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2.2 Quản lý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254165"/>
            <a:ext cx="9873799" cy="454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Mục tiêu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Thông báo về cách tài nguyên được sử dụng và tiến độ dự án.</a:t>
            </a:r>
          </a:p>
          <a:p>
            <a:pPr algn="just">
              <a:lnSpc>
                <a:spcPts val="3600"/>
              </a:lnSpc>
            </a:pPr>
            <a:endParaRPr lang="en-US" sz="240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 loại báo cáo: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Báo cáo tình trạng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(Status Report): Trạng thái hiện tại (chi phí, thời gian, phạm vi).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Báo cáo tiến độ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(Progress Report): Công việc đã hoàn thành trong một khoảng thời gian.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Báo cáo dự báo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(Forecast Report): Dự đoán tiến độ và trạng thái tương lai.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1875454" cy="483472"/>
            <a:chOff x="0" y="0"/>
            <a:chExt cx="2500605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2408075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00605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Khái niệm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3515013"/>
            <a:ext cx="12566486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quá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giám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sát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đánh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giá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và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điều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chỉnh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các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hoạt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động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truyền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trong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tối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ưu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suốt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vòng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Đánh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giá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bằng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báo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tư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vấn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chuyên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cuộc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họp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- do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người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ngoài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đội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Nếu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có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vấn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đề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thì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phải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thay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đổi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trình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kế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hoạch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lý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2"/>
              <a:ea typeface="Montserrat 2"/>
              <a:cs typeface="Montserrat 2"/>
              <a:sym typeface="Montserrat 2"/>
            </a:endParaRP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Mục</a:t>
            </a:r>
            <a:r>
              <a:rPr lang="en-US" sz="2400" b="1" dirty="0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tiêu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rằng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tất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thành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trong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dự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bên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liên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đều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nhận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cần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thiết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ra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quyết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thực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hiện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công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việc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một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cách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hiệu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68039" y="2527522"/>
            <a:ext cx="6067661" cy="483472"/>
            <a:chOff x="0" y="0"/>
            <a:chExt cx="8090214" cy="644630"/>
          </a:xfrm>
        </p:grpSpPr>
        <p:sp>
          <p:nvSpPr>
            <p:cNvPr id="4" name="AutoShape 4"/>
            <p:cNvSpPr/>
            <p:nvPr/>
          </p:nvSpPr>
          <p:spPr>
            <a:xfrm flipV="1">
              <a:off x="0" y="625580"/>
              <a:ext cx="7790852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09021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Kiểm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soát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truyền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thông</a:t>
              </a:r>
              <a:r>
                <a:rPr lang="en-US" sz="2648" b="1" dirty="0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 bao </a:t>
              </a:r>
              <a:r>
                <a:rPr lang="en-US" sz="2648" b="1" dirty="0" err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gồm</a:t>
              </a:r>
              <a:endParaRPr lang="en-US" sz="2648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9144000" y="3296745"/>
            <a:ext cx="9144000" cy="3287249"/>
          </a:xfrm>
          <a:prstGeom prst="rect">
            <a:avLst/>
          </a:prstGeom>
          <a:solidFill>
            <a:srgbClr val="3EDAD8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538214" y="4170744"/>
            <a:ext cx="783092" cy="1539250"/>
          </a:xfrm>
          <a:custGeom>
            <a:avLst/>
            <a:gdLst/>
            <a:ahLst/>
            <a:cxnLst/>
            <a:rect l="l" t="t" r="r" b="b"/>
            <a:pathLst>
              <a:path w="783092" h="1539250">
                <a:moveTo>
                  <a:pt x="0" y="0"/>
                </a:moveTo>
                <a:lnTo>
                  <a:pt x="783092" y="0"/>
                </a:lnTo>
                <a:lnTo>
                  <a:pt x="783092" y="1539250"/>
                </a:lnTo>
                <a:lnTo>
                  <a:pt x="0" y="1539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280" r="-482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639968" y="4622615"/>
            <a:ext cx="579584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16"/>
              </a:lnSpc>
              <a:spcBef>
                <a:spcPct val="0"/>
              </a:spcBef>
            </a:pPr>
            <a:r>
              <a:rPr lang="en-US" sz="3600" b="1" u="none">
                <a:solidFill>
                  <a:srgbClr val="3EDAD8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144000" y="6583994"/>
            <a:ext cx="9144000" cy="3287249"/>
          </a:xfrm>
          <a:prstGeom prst="rect">
            <a:avLst/>
          </a:prstGeom>
          <a:solidFill>
            <a:srgbClr val="13538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0" y="3296745"/>
            <a:ext cx="9144000" cy="3287249"/>
          </a:xfrm>
          <a:prstGeom prst="rect">
            <a:avLst/>
          </a:prstGeom>
          <a:solidFill>
            <a:srgbClr val="73D8D7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09198" y="4170744"/>
            <a:ext cx="783092" cy="1539250"/>
          </a:xfrm>
          <a:custGeom>
            <a:avLst/>
            <a:gdLst/>
            <a:ahLst/>
            <a:cxnLst/>
            <a:rect l="l" t="t" r="r" b="b"/>
            <a:pathLst>
              <a:path w="783092" h="1539250">
                <a:moveTo>
                  <a:pt x="0" y="0"/>
                </a:moveTo>
                <a:lnTo>
                  <a:pt x="783092" y="0"/>
                </a:lnTo>
                <a:lnTo>
                  <a:pt x="783092" y="1539250"/>
                </a:lnTo>
                <a:lnTo>
                  <a:pt x="0" y="1539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8280" r="-482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410952" y="4622615"/>
            <a:ext cx="579584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16"/>
              </a:lnSpc>
              <a:spcBef>
                <a:spcPct val="0"/>
              </a:spcBef>
            </a:pPr>
            <a:r>
              <a:rPr lang="en-US" sz="3600" b="1" u="none">
                <a:solidFill>
                  <a:srgbClr val="86EAE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id="15" name="AutoShape 15"/>
          <p:cNvSpPr/>
          <p:nvPr/>
        </p:nvSpPr>
        <p:spPr>
          <a:xfrm>
            <a:off x="0" y="6583994"/>
            <a:ext cx="9144000" cy="3287249"/>
          </a:xfrm>
          <a:prstGeom prst="rect">
            <a:avLst/>
          </a:prstGeom>
          <a:solidFill>
            <a:srgbClr val="37C9EF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309198" y="7412568"/>
            <a:ext cx="783092" cy="1539250"/>
            <a:chOff x="0" y="0"/>
            <a:chExt cx="1044123" cy="20523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4123" cy="2052334"/>
            </a:xfrm>
            <a:custGeom>
              <a:avLst/>
              <a:gdLst/>
              <a:ahLst/>
              <a:cxnLst/>
              <a:rect l="l" t="t" r="r" b="b"/>
              <a:pathLst>
                <a:path w="1044123" h="2052334">
                  <a:moveTo>
                    <a:pt x="0" y="0"/>
                  </a:moveTo>
                  <a:lnTo>
                    <a:pt x="1044123" y="0"/>
                  </a:lnTo>
                  <a:lnTo>
                    <a:pt x="1044123" y="2052334"/>
                  </a:lnTo>
                  <a:lnTo>
                    <a:pt x="0" y="2052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8280" r="-482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672" y="618370"/>
              <a:ext cx="772779" cy="767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b="1" u="none">
                  <a:solidFill>
                    <a:srgbClr val="37C9E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03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11049" y="4491357"/>
            <a:ext cx="4879540" cy="143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Đảm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rằng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kế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hoạch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truyền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thực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hiện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đúng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như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đã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đề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bao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gồm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xác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ai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cần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nhận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tin,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khi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nào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bằng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cách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25" spc="96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nào</a:t>
            </a:r>
            <a:r>
              <a:rPr lang="en-US" sz="1925" spc="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11049" y="3930628"/>
            <a:ext cx="4879540" cy="40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4"/>
              </a:lnSpc>
              <a:spcBef>
                <a:spcPct val="0"/>
              </a:spcBef>
            </a:pPr>
            <a:r>
              <a:rPr lang="en-US" sz="2600" b="1" spc="10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GIÁM</a:t>
            </a:r>
            <a:r>
              <a:rPr lang="en-US" sz="2600" b="1" u="none" spc="10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SÁT KẾ HOẠCH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55049" y="4845211"/>
            <a:ext cx="48795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xem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tin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được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truyền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đạt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rõ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ràng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đầy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đủ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đúng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đối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tượng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hay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55049" y="3887765"/>
            <a:ext cx="4879540" cy="827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4"/>
              </a:lnSpc>
              <a:spcBef>
                <a:spcPct val="0"/>
              </a:spcBef>
            </a:pPr>
            <a:r>
              <a:rPr lang="en-US" sz="2600" b="1" spc="10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ĐÁNH GIÁ HIỆU QUẢ TRUYỀN THÔNG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11049" y="7750705"/>
            <a:ext cx="558528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Nếu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vấn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đề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truyền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cần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điều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chỉnh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phương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pháp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kênh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truyền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khắc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phục</a:t>
            </a:r>
            <a:r>
              <a:rPr lang="en-US" sz="2000" spc="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11049" y="7079955"/>
            <a:ext cx="4218750" cy="33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3"/>
              </a:lnSpc>
              <a:spcBef>
                <a:spcPct val="0"/>
              </a:spcBef>
            </a:pPr>
            <a:r>
              <a:rPr lang="en-US" sz="2150" b="1" spc="83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XỬ LÝ</a:t>
            </a:r>
            <a:r>
              <a:rPr lang="en-US" sz="2150" b="1" u="none" spc="83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SAI LỆCH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16606" y="8132460"/>
            <a:ext cx="5442694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Tất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cả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bên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liên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quan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cần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được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cập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nhật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thông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tin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một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cách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nhất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quán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để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tránh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nhầm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lẫn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hoặc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xung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spc="1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đột</a:t>
            </a:r>
            <a:r>
              <a:rPr lang="en-US" sz="2000" spc="1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55049" y="6970227"/>
            <a:ext cx="6092526" cy="84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4"/>
              </a:lnSpc>
              <a:spcBef>
                <a:spcPct val="0"/>
              </a:spcBef>
            </a:pPr>
            <a:r>
              <a:rPr lang="en-US" sz="2600" b="1" spc="10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ĐẢM BẢO </a:t>
            </a:r>
            <a:r>
              <a:rPr lang="en-US" sz="2600" b="1" u="none" spc="10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TÍNH MINH BẠCH VÀ NHẤT QUÁN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538214" y="7417330"/>
            <a:ext cx="783092" cy="1539250"/>
            <a:chOff x="0" y="0"/>
            <a:chExt cx="1044123" cy="20523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4123" cy="2052334"/>
            </a:xfrm>
            <a:custGeom>
              <a:avLst/>
              <a:gdLst/>
              <a:ahLst/>
              <a:cxnLst/>
              <a:rect l="l" t="t" r="r" b="b"/>
              <a:pathLst>
                <a:path w="1044123" h="2052334">
                  <a:moveTo>
                    <a:pt x="0" y="0"/>
                  </a:moveTo>
                  <a:lnTo>
                    <a:pt x="1044123" y="0"/>
                  </a:lnTo>
                  <a:lnTo>
                    <a:pt x="1044123" y="2052334"/>
                  </a:lnTo>
                  <a:lnTo>
                    <a:pt x="0" y="2052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8280" r="-482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5672" y="618370"/>
              <a:ext cx="772779" cy="767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13538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04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 rot="-8100000">
            <a:off x="8894728" y="4691404"/>
            <a:ext cx="498728" cy="497930"/>
            <a:chOff x="0" y="0"/>
            <a:chExt cx="6350000" cy="6339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D8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-8100000">
            <a:off x="8894636" y="7978654"/>
            <a:ext cx="498728" cy="497930"/>
            <a:chOff x="0" y="0"/>
            <a:chExt cx="6350000" cy="6339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288574" cy="483472"/>
            <a:chOff x="0" y="0"/>
            <a:chExt cx="7051433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6790508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051433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Cải thiện truyền thông dự án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3365438"/>
            <a:ext cx="15672846" cy="591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Xây dựng kế hoạch truyền thông rõ ràng: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Xác định ai cần nhận thông tin, nội dung gì, tần suất, và kênh truyền thông (email, họp, Slack, Jira, v.v.).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Sử dụng công cụ quản lý phù hợp: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Dùng các công cụ như Jira, Trello, hoặc Microsoft Teams để theo dõi công việc và chia sẻ thông tin tập trung.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Đặt kỳ vọng rõ ràng: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Quy định thời gian phản hồi (ví dụ: trả lời email trong 24 giờ) và cách báo cáo vấn đề.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Tổ chức họp hiệu quả: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Giới hạn thời gian họp, có chương trình họp rõ ràng, và chỉ mời những người cần thiết.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Ghi lại biên bản họp và chia sẻ ngay sau đó.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Sử dụng hình ảnh hóa thông tin: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Dùng biểu đồ hoặc sơ đồ Gantt để trực quan hóa tiến độ và trạng thái dự án, giúp dễ hiểu hơn.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52070" y="1642393"/>
            <a:ext cx="13954818" cy="8272912"/>
          </a:xfrm>
          <a:custGeom>
            <a:avLst/>
            <a:gdLst/>
            <a:ahLst/>
            <a:cxnLst/>
            <a:rect l="l" t="t" r="r" b="b"/>
            <a:pathLst>
              <a:path w="13954818" h="8272912">
                <a:moveTo>
                  <a:pt x="0" y="0"/>
                </a:moveTo>
                <a:lnTo>
                  <a:pt x="13954818" y="0"/>
                </a:lnTo>
                <a:lnTo>
                  <a:pt x="13954818" y="8272912"/>
                </a:lnTo>
                <a:lnTo>
                  <a:pt x="0" y="827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80" b="-20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5844645" cy="483472"/>
            <a:chOff x="0" y="0"/>
            <a:chExt cx="7792860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7504500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7792860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Phát triển kỹ năng truyền thông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3488490"/>
            <a:ext cx="14637405" cy="483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Lắng nghe chủ động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Rèn luyện kỹ năng lắng nghe để hiểu rõ ý kiến, nhu cầu của nhóm và khách hàng.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Giao tiếp rõ ràng và ngắn gọn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Tránh dùng thuật ngữ phức tạp khi giao tiếp với các bên không kỹ thuật.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Rèn luyện kỹ năng viết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Học cách viết báo cáo, tài liệu kỹ thuật, hoặc ghi chú cuộc họp ngắn gọn, dễ hiểu.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Phát triển kỹ năng thuyết trình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Rèn luyện trình bày ý tưởng hoặc báo cáo tiến độ một cách tự tin, có cấu trúc.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Học cách đặt câu hỏi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Đặt câu hỏi mở để khai thác thông tin từ nhóm hoặc khách hàng.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3601189" cy="483472"/>
            <a:chOff x="0" y="0"/>
            <a:chExt cx="4801585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4623912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01585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Truyền thông xã hội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998775" y="2769258"/>
            <a:ext cx="5260525" cy="5260525"/>
          </a:xfrm>
          <a:custGeom>
            <a:avLst/>
            <a:gdLst/>
            <a:ahLst/>
            <a:cxnLst/>
            <a:rect l="l" t="t" r="r" b="b"/>
            <a:pathLst>
              <a:path w="5260525" h="5260525">
                <a:moveTo>
                  <a:pt x="0" y="0"/>
                </a:moveTo>
                <a:lnTo>
                  <a:pt x="5260525" y="0"/>
                </a:lnTo>
                <a:lnTo>
                  <a:pt x="5260525" y="5260526"/>
                </a:lnTo>
                <a:lnTo>
                  <a:pt x="0" y="526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522345"/>
            <a:ext cx="10208018" cy="317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Truyền thông xã hội đề cập đến việc sử dụng các nền tảng xã hội (như Slack, Microsoft Teams, Twitter/X, Facebook, ...) để chia sẻ thông tin, quảng bá dự án, thu thập phản hồi, hoặc giao tiếp với các bên liên quan. </a:t>
            </a:r>
          </a:p>
          <a:p>
            <a:pPr marL="1036320" lvl="2" indent="-345440" algn="just">
              <a:lnSpc>
                <a:spcPts val="3600"/>
              </a:lnSpc>
              <a:buFont typeface="Arial"/>
              <a:buChar char="⚬"/>
            </a:pP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Trong kiểm soát truyền thông, nó giúp đảm bảo thông tin được truyền tải nhanh chóng, minh bạch và đến đúng đối tượng.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12547348" cy="483472"/>
            <a:chOff x="0" y="0"/>
            <a:chExt cx="16729798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16110744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6729798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Cách sử dụng truyền thông xã hội để cải thiện kiểm soát truyền thông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7968" y="4208115"/>
            <a:ext cx="6110119" cy="1643920"/>
            <a:chOff x="0" y="0"/>
            <a:chExt cx="1510507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0507" cy="406400"/>
            </a:xfrm>
            <a:custGeom>
              <a:avLst/>
              <a:gdLst/>
              <a:ahLst/>
              <a:cxnLst/>
              <a:rect l="l" t="t" r="r" b="b"/>
              <a:pathLst>
                <a:path w="1510507" h="406400">
                  <a:moveTo>
                    <a:pt x="0" y="0"/>
                  </a:moveTo>
                  <a:lnTo>
                    <a:pt x="1510507" y="0"/>
                  </a:lnTo>
                  <a:lnTo>
                    <a:pt x="1510507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5105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76681" y="4208115"/>
            <a:ext cx="6110119" cy="1643920"/>
            <a:chOff x="0" y="0"/>
            <a:chExt cx="151050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0507" cy="406400"/>
            </a:xfrm>
            <a:custGeom>
              <a:avLst/>
              <a:gdLst/>
              <a:ahLst/>
              <a:cxnLst/>
              <a:rect l="l" t="t" r="r" b="b"/>
              <a:pathLst>
                <a:path w="1510507" h="406400">
                  <a:moveTo>
                    <a:pt x="0" y="0"/>
                  </a:moveTo>
                  <a:lnTo>
                    <a:pt x="1510507" y="0"/>
                  </a:lnTo>
                  <a:lnTo>
                    <a:pt x="1510507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5105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97968" y="6306282"/>
            <a:ext cx="6110119" cy="1643920"/>
            <a:chOff x="0" y="0"/>
            <a:chExt cx="1510507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10507" cy="406400"/>
            </a:xfrm>
            <a:custGeom>
              <a:avLst/>
              <a:gdLst/>
              <a:ahLst/>
              <a:cxnLst/>
              <a:rect l="l" t="t" r="r" b="b"/>
              <a:pathLst>
                <a:path w="1510507" h="406400">
                  <a:moveTo>
                    <a:pt x="0" y="0"/>
                  </a:moveTo>
                  <a:lnTo>
                    <a:pt x="1510507" y="0"/>
                  </a:lnTo>
                  <a:lnTo>
                    <a:pt x="1510507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5105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5400000" flipV="1">
            <a:off x="9739523" y="4198058"/>
            <a:ext cx="1387387" cy="1664033"/>
          </a:xfrm>
          <a:custGeom>
            <a:avLst/>
            <a:gdLst/>
            <a:ahLst/>
            <a:cxnLst/>
            <a:rect l="l" t="t" r="r" b="b"/>
            <a:pathLst>
              <a:path w="1387387" h="1664033">
                <a:moveTo>
                  <a:pt x="0" y="1664033"/>
                </a:moveTo>
                <a:lnTo>
                  <a:pt x="1387387" y="1664033"/>
                </a:lnTo>
                <a:lnTo>
                  <a:pt x="1387387" y="0"/>
                </a:lnTo>
                <a:lnTo>
                  <a:pt x="0" y="0"/>
                </a:lnTo>
                <a:lnTo>
                  <a:pt x="0" y="16640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5400000" flipV="1">
            <a:off x="2018235" y="4198058"/>
            <a:ext cx="1387387" cy="1664033"/>
          </a:xfrm>
          <a:custGeom>
            <a:avLst/>
            <a:gdLst/>
            <a:ahLst/>
            <a:cxnLst/>
            <a:rect l="l" t="t" r="r" b="b"/>
            <a:pathLst>
              <a:path w="1387387" h="1664033">
                <a:moveTo>
                  <a:pt x="0" y="1664033"/>
                </a:moveTo>
                <a:lnTo>
                  <a:pt x="1387388" y="1664033"/>
                </a:lnTo>
                <a:lnTo>
                  <a:pt x="1387388" y="0"/>
                </a:lnTo>
                <a:lnTo>
                  <a:pt x="0" y="0"/>
                </a:lnTo>
                <a:lnTo>
                  <a:pt x="0" y="166403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5400000" flipV="1">
            <a:off x="9739523" y="6296226"/>
            <a:ext cx="1387387" cy="1664033"/>
          </a:xfrm>
          <a:custGeom>
            <a:avLst/>
            <a:gdLst/>
            <a:ahLst/>
            <a:cxnLst/>
            <a:rect l="l" t="t" r="r" b="b"/>
            <a:pathLst>
              <a:path w="1387387" h="1664033">
                <a:moveTo>
                  <a:pt x="0" y="1664033"/>
                </a:moveTo>
                <a:lnTo>
                  <a:pt x="1387387" y="1664033"/>
                </a:lnTo>
                <a:lnTo>
                  <a:pt x="1387387" y="0"/>
                </a:lnTo>
                <a:lnTo>
                  <a:pt x="0" y="0"/>
                </a:lnTo>
                <a:lnTo>
                  <a:pt x="0" y="16640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576681" y="6306282"/>
            <a:ext cx="6110119" cy="1643920"/>
            <a:chOff x="0" y="0"/>
            <a:chExt cx="1510507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10507" cy="406400"/>
            </a:xfrm>
            <a:custGeom>
              <a:avLst/>
              <a:gdLst/>
              <a:ahLst/>
              <a:cxnLst/>
              <a:rect l="l" t="t" r="r" b="b"/>
              <a:pathLst>
                <a:path w="1510507" h="406400">
                  <a:moveTo>
                    <a:pt x="0" y="0"/>
                  </a:moveTo>
                  <a:lnTo>
                    <a:pt x="1510507" y="0"/>
                  </a:lnTo>
                  <a:lnTo>
                    <a:pt x="1510507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CF0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5105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5400000" flipV="1">
            <a:off x="2018235" y="6296226"/>
            <a:ext cx="1387387" cy="1664033"/>
          </a:xfrm>
          <a:custGeom>
            <a:avLst/>
            <a:gdLst/>
            <a:ahLst/>
            <a:cxnLst/>
            <a:rect l="l" t="t" r="r" b="b"/>
            <a:pathLst>
              <a:path w="1387387" h="1664033">
                <a:moveTo>
                  <a:pt x="0" y="1664033"/>
                </a:moveTo>
                <a:lnTo>
                  <a:pt x="1387388" y="1664033"/>
                </a:lnTo>
                <a:lnTo>
                  <a:pt x="1387388" y="0"/>
                </a:lnTo>
                <a:lnTo>
                  <a:pt x="0" y="0"/>
                </a:lnTo>
                <a:lnTo>
                  <a:pt x="0" y="166403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025555" y="6808023"/>
            <a:ext cx="544828" cy="568269"/>
          </a:xfrm>
          <a:custGeom>
            <a:avLst/>
            <a:gdLst/>
            <a:ahLst/>
            <a:cxnLst/>
            <a:rect l="l" t="t" r="r" b="b"/>
            <a:pathLst>
              <a:path w="544828" h="568269">
                <a:moveTo>
                  <a:pt x="0" y="0"/>
                </a:moveTo>
                <a:lnTo>
                  <a:pt x="544827" y="0"/>
                </a:lnTo>
                <a:lnTo>
                  <a:pt x="544827" y="568269"/>
                </a:lnTo>
                <a:lnTo>
                  <a:pt x="0" y="5682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363580" y="6876948"/>
            <a:ext cx="426202" cy="568269"/>
          </a:xfrm>
          <a:custGeom>
            <a:avLst/>
            <a:gdLst/>
            <a:ahLst/>
            <a:cxnLst/>
            <a:rect l="l" t="t" r="r" b="b"/>
            <a:pathLst>
              <a:path w="426202" h="568269">
                <a:moveTo>
                  <a:pt x="0" y="0"/>
                </a:moveTo>
                <a:lnTo>
                  <a:pt x="426202" y="0"/>
                </a:lnTo>
                <a:lnTo>
                  <a:pt x="426202" y="568269"/>
                </a:lnTo>
                <a:lnTo>
                  <a:pt x="0" y="5682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013834" y="4782025"/>
            <a:ext cx="568269" cy="568269"/>
          </a:xfrm>
          <a:custGeom>
            <a:avLst/>
            <a:gdLst/>
            <a:ahLst/>
            <a:cxnLst/>
            <a:rect l="l" t="t" r="r" b="b"/>
            <a:pathLst>
              <a:path w="568269" h="568269">
                <a:moveTo>
                  <a:pt x="0" y="0"/>
                </a:moveTo>
                <a:lnTo>
                  <a:pt x="568269" y="0"/>
                </a:lnTo>
                <a:lnTo>
                  <a:pt x="568269" y="568269"/>
                </a:lnTo>
                <a:lnTo>
                  <a:pt x="0" y="568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2285900" y="4782025"/>
            <a:ext cx="568269" cy="544828"/>
          </a:xfrm>
          <a:custGeom>
            <a:avLst/>
            <a:gdLst/>
            <a:ahLst/>
            <a:cxnLst/>
            <a:rect l="l" t="t" r="r" b="b"/>
            <a:pathLst>
              <a:path w="568269" h="544828">
                <a:moveTo>
                  <a:pt x="0" y="0"/>
                </a:moveTo>
                <a:lnTo>
                  <a:pt x="568269" y="0"/>
                </a:lnTo>
                <a:lnTo>
                  <a:pt x="568269" y="544828"/>
                </a:lnTo>
                <a:lnTo>
                  <a:pt x="0" y="5448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377575" y="4448650"/>
            <a:ext cx="438005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Kiểm soát thông tin công khai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18205" y="4296740"/>
            <a:ext cx="415513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Thu thập phản hồi khách hàng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84168" y="6474648"/>
            <a:ext cx="367898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Tăng tính minh bạch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77575" y="4831681"/>
            <a:ext cx="3892174" cy="77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  <a:spcBef>
                <a:spcPct val="0"/>
              </a:spcBef>
            </a:pPr>
            <a:r>
              <a:rPr lang="en-US" sz="1704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Theo dõi các bài đăng hoặc bình luận trên mạng xã hội để phát hiện vấn đề, từ đó điều chỉnh thông điệp.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35873" y="4704835"/>
            <a:ext cx="3830625" cy="102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  <a:spcBef>
                <a:spcPct val="0"/>
              </a:spcBef>
            </a:pP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Nếu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dự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án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đối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tượng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dùng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cuối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X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LinkedIn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khảo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sát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ý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kiến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báo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bản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cập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04" dirty="0" err="1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nhật</a:t>
            </a:r>
            <a:r>
              <a:rPr lang="en-US" sz="1704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84168" y="6929848"/>
            <a:ext cx="3785581" cy="77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  <a:spcBef>
                <a:spcPct val="0"/>
              </a:spcBef>
            </a:pPr>
            <a:r>
              <a:rPr lang="en-US" sz="1704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Cập nhật tiến độ công khai (nếu phù hợp), giúp khách hàng và người dùng tin tưởng hơn.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35873" y="6429371"/>
            <a:ext cx="390467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313131"/>
                </a:solidFill>
                <a:latin typeface="Inter Bold"/>
                <a:ea typeface="Inter Bold"/>
                <a:cs typeface="Inter Bold"/>
                <a:sym typeface="Inter Bold"/>
              </a:rPr>
              <a:t>Quảng bá dự án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35873" y="6797645"/>
            <a:ext cx="4137470" cy="1024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  <a:spcBef>
                <a:spcPct val="0"/>
              </a:spcBef>
            </a:pPr>
            <a:r>
              <a:rPr lang="en-US" sz="1704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Chia sẻ các cột mốc dự án hoặc thành tựu để xây dựng hình ảnh chuyên nghiệp và thu hút sự chú ý từ các bên liên quan.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269749" y="4550279"/>
            <a:ext cx="975765" cy="98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54"/>
              </a:lnSpc>
              <a:spcBef>
                <a:spcPct val="0"/>
              </a:spcBef>
            </a:pPr>
            <a:r>
              <a:rPr lang="en-US" sz="5753" b="1">
                <a:solidFill>
                  <a:srgbClr val="0786D7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91312" y="4541753"/>
            <a:ext cx="1072630" cy="98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54"/>
              </a:lnSpc>
              <a:spcBef>
                <a:spcPct val="0"/>
              </a:spcBef>
            </a:pPr>
            <a:r>
              <a:rPr lang="en-US" sz="5753" b="1">
                <a:solidFill>
                  <a:srgbClr val="FF9501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172883" y="6579623"/>
            <a:ext cx="1072630" cy="98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54"/>
              </a:lnSpc>
              <a:spcBef>
                <a:spcPct val="0"/>
              </a:spcBef>
            </a:pPr>
            <a:r>
              <a:rPr lang="en-US" sz="5753" b="1">
                <a:solidFill>
                  <a:srgbClr val="04B1D2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1312" y="6543538"/>
            <a:ext cx="1072630" cy="98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54"/>
              </a:lnSpc>
              <a:spcBef>
                <a:spcPct val="0"/>
              </a:spcBef>
            </a:pPr>
            <a:r>
              <a:rPr lang="en-US" sz="5753" b="1">
                <a:solidFill>
                  <a:srgbClr val="F85C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6899261" cy="483472"/>
            <a:chOff x="0" y="0"/>
            <a:chExt cx="9199014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885862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919901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Lưu ý khi sử dụng truyền thông xã hội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885341" y="3396419"/>
            <a:ext cx="6373959" cy="4246435"/>
          </a:xfrm>
          <a:custGeom>
            <a:avLst/>
            <a:gdLst/>
            <a:ahLst/>
            <a:cxnLst/>
            <a:rect l="l" t="t" r="r" b="b"/>
            <a:pathLst>
              <a:path w="6373959" h="4246435">
                <a:moveTo>
                  <a:pt x="0" y="0"/>
                </a:moveTo>
                <a:lnTo>
                  <a:pt x="6373959" y="0"/>
                </a:lnTo>
                <a:lnTo>
                  <a:pt x="6373959" y="4246434"/>
                </a:lnTo>
                <a:lnTo>
                  <a:pt x="0" y="4246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306026"/>
            <a:ext cx="9108236" cy="429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Bảo mật thông tin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Tránh chia sẻ thông tin nhạy cảm (như mã nguồn, chi tiết khách hàng) trên các nền tảng công khai.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Đúng đối tượng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Chọn nền tảng phù hợp (Slack cho nội bộ, LinkedIn cho chuyên nghiệp, Twitter/X cho công chúng).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Kiểm soát tần suất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Tránh đăng tải quá nhiều để không gây nhiễu thông tin.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6132267" cy="483472"/>
            <a:chOff x="0" y="0"/>
            <a:chExt cx="8176356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787380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8176356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Cách thực hiện cuộc họp hiệu quả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3488490"/>
            <a:ext cx="14959883" cy="483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Xác định mục tiêu cuộc họp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Xác định rõ mục đích.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Chuẩn bị trước cuộc họp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Gửi chương trình họp trước ít nhất 24 giờ, nêu rõ các chủ đề và thời gian dự kiến.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Chọn đúng thành viên tham gia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Chỉ mời những người liên quan trực tiếp.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Kiểm soát thời gian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Giới hạn cuộc họp trong 30-60 phút, tuân thủ chương trình họp.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Ghi chép và theo dõi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Ghi biên bản họp với các quyết định, hành động cần làm, và người phụ trách.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Kết thúc với hành động cụ thể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Tổng kết các quyết định và phân công nhiệm vụ rõ ràng.</a:t>
            </a:r>
          </a:p>
          <a:p>
            <a:pPr marL="518160" lvl="1" indent="-259080" algn="just">
              <a:lnSpc>
                <a:spcPts val="4320"/>
              </a:lnSpc>
              <a:buFont typeface="Arial"/>
              <a:buChar char="•"/>
            </a:pPr>
            <a:r>
              <a:rPr lang="en-US" sz="2400" b="1">
                <a:solidFill>
                  <a:srgbClr val="2254C5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Đánh giá và cải thiện</a:t>
            </a:r>
            <a:r>
              <a:rPr lang="en-US" sz="2400">
                <a:solidFill>
                  <a:srgbClr val="2254C5"/>
                </a:solidFill>
                <a:latin typeface="Montserrat 2"/>
                <a:ea typeface="Montserrat 2"/>
                <a:cs typeface="Montserrat 2"/>
                <a:sym typeface="Montserrat 2"/>
              </a:rPr>
              <a:t>: Sau họp, thu thập phản hồi ngắn từ nhóm để cải thiện cuộc họp sau.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68039" y="2527522"/>
            <a:ext cx="3725685" cy="483472"/>
            <a:chOff x="0" y="0"/>
            <a:chExt cx="4967580" cy="644630"/>
          </a:xfrm>
        </p:grpSpPr>
        <p:sp>
          <p:nvSpPr>
            <p:cNvPr id="5" name="AutoShape 5"/>
            <p:cNvSpPr/>
            <p:nvPr/>
          </p:nvSpPr>
          <p:spPr>
            <a:xfrm flipV="1">
              <a:off x="0" y="625580"/>
              <a:ext cx="4783764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967580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Tài liệu lưu trữ dự án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2.3 Kiểm soát truyền thông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039" y="3230070"/>
            <a:ext cx="15546941" cy="546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tập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hợp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tài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liệu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quan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trọng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lưu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giữ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để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tham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khảo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sau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này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hỗ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trợ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kiểm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toán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,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hoặc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sử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dụng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cho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các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dự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án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tương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lai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 Trong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kiểm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soát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tài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liệu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lưu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trữ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giúp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bảo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tin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được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ghi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nhận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đầy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đủ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dễ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cập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 </a:t>
            </a:r>
          </a:p>
          <a:p>
            <a:pPr algn="l">
              <a:lnSpc>
                <a:spcPts val="3600"/>
              </a:lnSpc>
            </a:pPr>
            <a:endParaRPr lang="en-US" sz="2400" dirty="0">
              <a:solidFill>
                <a:srgbClr val="2254C5"/>
              </a:solidFill>
              <a:latin typeface="Montserrat 1"/>
              <a:ea typeface="Montserrat 1"/>
              <a:cs typeface="Montserrat 1"/>
              <a:sym typeface="Montserrat 1"/>
            </a:endParaRPr>
          </a:p>
          <a:p>
            <a:pPr algn="l">
              <a:lnSpc>
                <a:spcPts val="3600"/>
              </a:lnSpc>
            </a:pP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Các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tài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liệu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lưu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trữ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Kế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hoạch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truyền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thông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Mô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tả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cách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thức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suất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kênh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giao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tiếp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Biên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bản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họp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Ghi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lại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nội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dung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cuộc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họp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quyết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định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hành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động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làm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Báo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cáo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tiến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độ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Các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cáo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tuần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/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tháng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gửi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Tài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liệu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yêu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cầu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phần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mềm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(SRS):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Mô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tả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chi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tiết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yêu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cầu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cập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nhật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thay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đổi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Biểu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đồ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và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công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cụ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cộng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tác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Lưu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ảnh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chụp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sơ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đồ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Gantt,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hoặc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sơ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đồ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luồng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từ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Miro.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Phản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hồi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từ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khách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hàng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Lưu email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phản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hồi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hoặc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khảo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sát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từ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khách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hàng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Tài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liệu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hoàn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thành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dự</a:t>
            </a:r>
            <a:r>
              <a:rPr lang="en-US" sz="2400" b="1" dirty="0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 </a:t>
            </a:r>
            <a:r>
              <a:rPr lang="en-US" sz="2400" b="1" dirty="0" err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án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: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Tổng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kết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kết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quả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bài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học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kinh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nghiệm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,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và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phê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 </a:t>
            </a:r>
            <a:r>
              <a:rPr lang="en-US" sz="2400" dirty="0" err="1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duyệt</a:t>
            </a:r>
            <a:r>
              <a:rPr lang="en-US" sz="2400" dirty="0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235" y="2254413"/>
            <a:ext cx="6263321" cy="8344775"/>
          </a:xfrm>
          <a:custGeom>
            <a:avLst/>
            <a:gdLst/>
            <a:ahLst/>
            <a:cxnLst/>
            <a:rect l="l" t="t" r="r" b="b"/>
            <a:pathLst>
              <a:path w="6263321" h="8344775">
                <a:moveTo>
                  <a:pt x="0" y="0"/>
                </a:moveTo>
                <a:lnTo>
                  <a:pt x="6263321" y="0"/>
                </a:lnTo>
                <a:lnTo>
                  <a:pt x="6263321" y="8344775"/>
                </a:lnTo>
                <a:lnTo>
                  <a:pt x="0" y="834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4" t="-3435" r="-1052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845934" y="4342638"/>
            <a:ext cx="8413366" cy="8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7"/>
              </a:lnSpc>
            </a:pPr>
            <a:r>
              <a:rPr lang="en-US" sz="54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4" name="AutoShape 4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Quá trình giám sát, đánh giá và điều chỉnh các hoạt động truyền thông.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601240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Quá trình lên kế hoạch, thu thập, phân phối thông tin dự án.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589537"/>
            <a:ext cx="13238757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Quá trình thực hiện các hoạt động cần thiết để đảm bảo thông tin dự án được tạo, phân phối, và giám sát hiệu quả.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14122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Quá trình đảm bảo thông tin được truyền đạt đúng người, đúng lúc, đúng cách.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04858" y="2488195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"Quản lý truyền thông" được định nghĩa là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16953" y="7834059"/>
            <a:ext cx="1974493" cy="483472"/>
            <a:chOff x="0" y="0"/>
            <a:chExt cx="2632657" cy="644630"/>
          </a:xfrm>
        </p:grpSpPr>
        <p:sp>
          <p:nvSpPr>
            <p:cNvPr id="25" name="AutoShape 25"/>
            <p:cNvSpPr/>
            <p:nvPr/>
          </p:nvSpPr>
          <p:spPr>
            <a:xfrm>
              <a:off x="68114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920478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03846" y="-57150"/>
              <a:ext cx="328811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2: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Tăng số lượng kênh truyền thông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 bảo thông tin được truyền đạt đúng người, đúng lúc, đúng cách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0100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Giảm thiểu giao tiếp giữa các bên liên quan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tập trung vào truyền thông chính thức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78832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Mục tiêu chính của quản lý truyền thông trong dự án là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3: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Thiếu ngân sách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Hạn chế về giao tiếp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Thiếu kỹ năng kỹ thuật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Không sử dụng công cụ quản lý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16251" y="2484046"/>
            <a:ext cx="1176048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Nguyên nhân hàng đầu khiến dự án thất bại liên quan đến điều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4: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Khác biệt văn hóa và ngôn ngữ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Thông tin bị bóp méo qua nhiều tầng trung gian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Sử dụng quá ít công cụ truyền thông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Thiếu kỹ năng lắng nghe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88195"/>
            <a:ext cx="1304700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Thách thức nào sau đây không phải là vấn đề trong quản lý truyền thông?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5: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Lập kế hoạch, thực hiện, kiểm soát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Thu thập, phân phối, lưu trữ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Phân tích, phản hồi, đánh giá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Giao tiếp, giám sát, phản hồi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78832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Quy trình quản lý truyền thông bao gồm những bước nào?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A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6: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Xác định kỹ năng kỹ thuật của nhóm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Hiểu cách mọi người giao tiếp và xử lý thông tin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Tăng số lượng kênh truyền thông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Giảm thiểu rủi ro kỹ thuật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88195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MBTI giúp gì trong quản lý truyền thông dự án?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7: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n(n+1)/2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n(n-1)/2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n+1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78832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Công thức tính số kênh truyền thông là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8: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Tăng số lượng cuộc họp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Tạo môi trường để mọi người thoải mái chia sẻ ý kiến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Giảm sử dụng công cụ truyền thông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tập trung vào báo cáo chính thức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88195"/>
            <a:ext cx="1291278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Việc khuyến khích giao tiếp cởi mở trong dự án nhằm mục đích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9: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tình trạng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tiến độ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dự báo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rủi ro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79897"/>
            <a:ext cx="1377592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Báo cáo nào cung cấp thông tin về công việc đã hoàn thành trong một khoảng thời gian?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10: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Mời tất cả các bên liên quan tham gia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Giới hạn thời gian và có agenda rõ ràng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Không ghi biên bản họp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Không sử dụng công cụ trực quan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48443" y="2488195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Cách nào dưới đây giúp cải thiện cuộc họp hiệu quả?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11: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Sử dụng thuật ngữ phức tạp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Giao tiếp rõ ràng, ngắn gọn, tránh thuật ngữ phức tạp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6687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sử dụng email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Không cần lắng nghe chủ động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88195"/>
            <a:ext cx="1155137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Kỹ năng nào cần thiết để giao tiếp với các bên không kỹ thuật?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12: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Tăng chi phí dự án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Giảm tính minh bạch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Thu thập phản hồi từ khách hàng và quảng bá dự án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dùng để giao tiếp nội bộ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88195"/>
            <a:ext cx="1241423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Việc sử dụng mạng xã hội trong kiểm soát truyền thông có lợi ích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13: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đẩy (Push).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kéo (Pull).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tương tác (Interactive).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trang trọng.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96327"/>
            <a:ext cx="13047009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Phương pháp truyền thông nào sau đây yêu cầu người nhận chủ động truy cập thông tin?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14: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qua email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qua mạng xã hội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mặt đối mặt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thông qua báo cáo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48443" y="2478832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Phương pháp truyền thông nào được coi là hiệu quả nhất?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15: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tình trạng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tiến độ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dự báo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Báo cáo rủi ro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29494" y="2488195"/>
            <a:ext cx="12030742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Loại báo cáo nào dự đoán tiến độ và trạng thái tương lai của dự án?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16: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Là quá trình thực hiện các hoạt động để phân phối thông tin dự án.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Được xây dựng vào giai đoạn cuối của dự án.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6687"/>
            <a:ext cx="14012703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Mô tả cách thức, thời điểm, và đối tượng thông tin dự án được quản lý và phân phối.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tập trung vào các thông tin nội bộ dự án.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479897"/>
            <a:ext cx="11915693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Phát biểu nào sau đây đúng về "Kế hoạch quản lý truyền thông"?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17: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Giải mã (Decode).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Ghi nhận (Acknowledge).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962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Truyền tin (Transmit).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Phản hồi (Feedback).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48443" y="2455175"/>
            <a:ext cx="12836085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Trong mô hình truyền thông cơ bản, bước nào diễn ra ngay sau khi người gửi mã hóa thông điệp?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18: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Đảm bảo thông tin dự án được tạo và phân phối hiệu quả.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5321317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Giám sát, đánh giá và điều chỉnh các hoạt động truyền thông để đảm bảo thông tin được truyền tải chính xác, kịp thời và hiệu quả.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Xử lý các vấn đề phát sinh trong quá trình truyền thông.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Xác định nhu cầu giao tiếp của các bên liên quan.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9748" y="2535982"/>
            <a:ext cx="1068850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Mục tiêu chính của "Kiểm soát truyền thông" là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19: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Chia sẻ tất cả thông tin, kể cả thông tin nhạy cảm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Chọn nền tảng phù hợp với đối tượng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46687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Đăng bài với tần suất cao để tăng tương tác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Chỉ sử dụng cho giao tiếp nội bộ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83375" y="2524902"/>
            <a:ext cx="13219582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Khi sử dụng mạng xã hội trong quản lý truyền thông điều gì cần lưu ý?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68039" y="2996707"/>
            <a:ext cx="167679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8039" y="2470372"/>
            <a:ext cx="2015336" cy="45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7"/>
              </a:lnSpc>
            </a:pPr>
            <a:r>
              <a:rPr lang="en-US" sz="2648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Câu hỏi 20: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8039" y="1703889"/>
            <a:ext cx="75246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3. Tóm tắt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8" name="AutoShape 8"/>
          <p:cNvSpPr/>
          <p:nvPr/>
        </p:nvSpPr>
        <p:spPr>
          <a:xfrm>
            <a:off x="1468039" y="4045254"/>
            <a:ext cx="425037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3536742"/>
            <a:ext cx="441369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8039" y="4639340"/>
            <a:ext cx="441369" cy="475175"/>
            <a:chOff x="0" y="0"/>
            <a:chExt cx="588492" cy="633566"/>
          </a:xfrm>
        </p:grpSpPr>
        <p:sp>
          <p:nvSpPr>
            <p:cNvPr id="11" name="AutoShape 11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8039" y="5694312"/>
            <a:ext cx="441369" cy="475175"/>
            <a:chOff x="0" y="0"/>
            <a:chExt cx="588492" cy="633566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C.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8039" y="6749285"/>
            <a:ext cx="441369" cy="475175"/>
            <a:chOff x="0" y="0"/>
            <a:chExt cx="588492" cy="633566"/>
          </a:xfrm>
        </p:grpSpPr>
        <p:sp>
          <p:nvSpPr>
            <p:cNvPr id="17" name="AutoShape 17"/>
            <p:cNvSpPr/>
            <p:nvPr/>
          </p:nvSpPr>
          <p:spPr>
            <a:xfrm flipV="1">
              <a:off x="0" y="614516"/>
              <a:ext cx="566716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88492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D.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37983" y="3536742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Sử dụng thuật ngữ phức tạp khi giao tiếp với các bên kỹ thuật.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7983" y="4591715"/>
            <a:ext cx="1425456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Viết email hoặc tài liệu với cấu trúc rõ ràng: mục tiêu, nội dung, hành động cần làm.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7983" y="5688694"/>
            <a:ext cx="13238757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Tập trung vào ngôn ngữ cơ thể khi giao tiếp trực tiếp.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7983" y="6701660"/>
            <a:ext cx="136222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 1"/>
                <a:ea typeface="Montserrat 1"/>
                <a:cs typeface="Montserrat 1"/>
                <a:sym typeface="Montserrat 1"/>
              </a:rPr>
              <a:t>Đặt câu hỏi đóng để có câu trả lời nhanh.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9748" y="2479897"/>
            <a:ext cx="13459552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2254C5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Để phát triển kỹ năng giao tiếp rõ ràng và ngắn gọn, bạn nên thực hành điều gì?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68039" y="7834059"/>
            <a:ext cx="3041525" cy="483472"/>
            <a:chOff x="0" y="0"/>
            <a:chExt cx="4055367" cy="644630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625580"/>
              <a:ext cx="1822803" cy="0"/>
            </a:xfrm>
            <a:prstGeom prst="line">
              <a:avLst/>
            </a:prstGeom>
            <a:ln w="381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Đáp án: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523" y="-57150"/>
              <a:ext cx="1892844" cy="58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8" b="1">
                  <a:solidFill>
                    <a:srgbClr val="2254C5"/>
                  </a:solidFill>
                  <a:latin typeface="Montserrat 1 Bold"/>
                  <a:ea typeface="Montserrat 1 Bold"/>
                  <a:cs typeface="Montserrat 1 Bold"/>
                  <a:sym typeface="Montserrat 1 Bold"/>
                </a:rPr>
                <a:t>B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2254C5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4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4330" y="2390884"/>
            <a:ext cx="13059340" cy="532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86"/>
              </a:lnSpc>
            </a:pPr>
            <a:r>
              <a:rPr lang="en-US" sz="10133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CẢM ƠN THẦY VÀ CÁC BẠN ĐÃ LẮNG NGHE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68039" y="656975"/>
            <a:ext cx="1419633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NHÓM 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93724" y="656975"/>
            <a:ext cx="1858260" cy="2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1">
                <a:solidFill>
                  <a:srgbClr val="FFFFFF"/>
                </a:solidFill>
                <a:latin typeface="Montserrat 1 Medium"/>
                <a:ea typeface="Montserrat 1 Medium"/>
                <a:cs typeface="Montserrat 1 Medium"/>
                <a:sym typeface="Montserrat 1 Medium"/>
              </a:rPr>
              <a:t>June 23, 2025</a:t>
            </a:r>
          </a:p>
        </p:txBody>
      </p:sp>
      <p:sp>
        <p:nvSpPr>
          <p:cNvPr id="5" name="AutoShape 5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850061" y="793106"/>
            <a:ext cx="697692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4503</Words>
  <Application>Microsoft Office PowerPoint</Application>
  <PresentationFormat>Custom</PresentationFormat>
  <Paragraphs>639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72" baseType="lpstr">
      <vt:lpstr>Arial</vt:lpstr>
      <vt:lpstr>Inter</vt:lpstr>
      <vt:lpstr>Montserrat 1 Bold</vt:lpstr>
      <vt:lpstr>Montserrat 1 Semi-Bold</vt:lpstr>
      <vt:lpstr>Inter Bold</vt:lpstr>
      <vt:lpstr>Montserrat 2</vt:lpstr>
      <vt:lpstr>Montserrat 1</vt:lpstr>
      <vt:lpstr>Canva Sans Bold</vt:lpstr>
      <vt:lpstr>Montserrat 2 Bold</vt:lpstr>
      <vt:lpstr>Arimo</vt:lpstr>
      <vt:lpstr>Eastman Grotesque Bold</vt:lpstr>
      <vt:lpstr>Montserrat 1 Medium</vt:lpstr>
      <vt:lpstr>Canva Sans</vt:lpstr>
      <vt:lpstr>Clear Sans Bold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Management</dc:title>
  <cp:lastModifiedBy>Huỳnh Nguyễn Quốc Bảo-CN22CLCA</cp:lastModifiedBy>
  <cp:revision>4</cp:revision>
  <dcterms:created xsi:type="dcterms:W3CDTF">2006-08-16T00:00:00Z</dcterms:created>
  <dcterms:modified xsi:type="dcterms:W3CDTF">2025-06-29T08:09:34Z</dcterms:modified>
  <dc:identifier>DAGpSnehoS8</dc:identifier>
</cp:coreProperties>
</file>