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25"/>
  </p:notesMasterIdLst>
  <p:handoutMasterIdLst>
    <p:handoutMasterId r:id="rId26"/>
  </p:handoutMasterIdLst>
  <p:sldIdLst>
    <p:sldId id="256" r:id="rId2"/>
    <p:sldId id="337" r:id="rId3"/>
    <p:sldId id="349" r:id="rId4"/>
    <p:sldId id="350" r:id="rId5"/>
    <p:sldId id="374" r:id="rId6"/>
    <p:sldId id="375" r:id="rId7"/>
    <p:sldId id="376" r:id="rId8"/>
    <p:sldId id="363" r:id="rId9"/>
    <p:sldId id="377" r:id="rId10"/>
    <p:sldId id="380" r:id="rId11"/>
    <p:sldId id="381" r:id="rId12"/>
    <p:sldId id="382" r:id="rId13"/>
    <p:sldId id="383" r:id="rId14"/>
    <p:sldId id="384" r:id="rId15"/>
    <p:sldId id="385" r:id="rId16"/>
    <p:sldId id="386" r:id="rId17"/>
    <p:sldId id="387" r:id="rId18"/>
    <p:sldId id="388" r:id="rId19"/>
    <p:sldId id="389" r:id="rId20"/>
    <p:sldId id="390" r:id="rId21"/>
    <p:sldId id="391" r:id="rId22"/>
    <p:sldId id="393" r:id="rId23"/>
    <p:sldId id="367" r:id="rId24"/>
  </p:sldIdLst>
  <p:sldSz cx="9144000" cy="6858000" type="screen4x3"/>
  <p:notesSz cx="6858000" cy="9199563"/>
  <p:defaultTextStyle>
    <a:defPPr>
      <a:defRPr lang="en-US"/>
    </a:defPPr>
    <a:lvl1pPr algn="r" rtl="0" eaLnBrk="0" fontAlgn="base" hangingPunct="0">
      <a:spcBef>
        <a:spcPct val="0"/>
      </a:spcBef>
      <a:spcAft>
        <a:spcPct val="0"/>
      </a:spcAft>
      <a:defRPr sz="26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r" rtl="0" eaLnBrk="0" fontAlgn="base" hangingPunct="0">
      <a:spcBef>
        <a:spcPct val="0"/>
      </a:spcBef>
      <a:spcAft>
        <a:spcPct val="0"/>
      </a:spcAft>
      <a:defRPr sz="26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r" rtl="0" eaLnBrk="0" fontAlgn="base" hangingPunct="0">
      <a:spcBef>
        <a:spcPct val="0"/>
      </a:spcBef>
      <a:spcAft>
        <a:spcPct val="0"/>
      </a:spcAft>
      <a:defRPr sz="26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r" rtl="0" eaLnBrk="0" fontAlgn="base" hangingPunct="0">
      <a:spcBef>
        <a:spcPct val="0"/>
      </a:spcBef>
      <a:spcAft>
        <a:spcPct val="0"/>
      </a:spcAft>
      <a:defRPr sz="26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r" rtl="0" eaLnBrk="0" fontAlgn="base" hangingPunct="0">
      <a:spcBef>
        <a:spcPct val="0"/>
      </a:spcBef>
      <a:spcAft>
        <a:spcPct val="0"/>
      </a:spcAft>
      <a:defRPr sz="26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6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6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6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6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98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AEF8"/>
    <a:srgbClr val="FF3300"/>
    <a:srgbClr val="008000"/>
    <a:srgbClr val="0033CC"/>
    <a:srgbClr val="CCFFFF"/>
    <a:srgbClr val="FFFF99"/>
    <a:srgbClr val="0099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922" autoAdjust="0"/>
    <p:restoredTop sz="75425" autoAdjust="0"/>
  </p:normalViewPr>
  <p:slideViewPr>
    <p:cSldViewPr>
      <p:cViewPr varScale="1">
        <p:scale>
          <a:sx n="55" d="100"/>
          <a:sy n="55" d="100"/>
        </p:scale>
        <p:origin x="1253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90"/>
    </p:cViewPr>
  </p:sorterViewPr>
  <p:notesViewPr>
    <p:cSldViewPr>
      <p:cViewPr varScale="1">
        <p:scale>
          <a:sx n="37" d="100"/>
          <a:sy n="37" d="100"/>
        </p:scale>
        <p:origin x="-1506" y="-78"/>
      </p:cViewPr>
      <p:guideLst>
        <p:guide orient="horz" pos="2898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1E1754-AD8A-45AA-AD4C-13338F4B21E3}" type="doc">
      <dgm:prSet loTypeId="urn:microsoft.com/office/officeart/2005/8/layout/hProcess3" loCatId="process" qsTypeId="urn:microsoft.com/office/officeart/2005/8/quickstyle/simple1" qsCatId="simple" csTypeId="urn:microsoft.com/office/officeart/2005/8/colors/accent1_2" csCatId="accent1" phldr="1"/>
      <dgm:spPr/>
    </dgm:pt>
    <dgm:pt modelId="{083FF166-6BB4-4DA1-91DB-9E749FF0D289}" type="pres">
      <dgm:prSet presAssocID="{D51E1754-AD8A-45AA-AD4C-13338F4B21E3}" presName="Name0" presStyleCnt="0">
        <dgm:presLayoutVars>
          <dgm:dir/>
          <dgm:animLvl val="lvl"/>
          <dgm:resizeHandles val="exact"/>
        </dgm:presLayoutVars>
      </dgm:prSet>
      <dgm:spPr/>
    </dgm:pt>
    <dgm:pt modelId="{6FAB7761-ECEF-4E59-AFB1-A46EA2CDB20C}" type="pres">
      <dgm:prSet presAssocID="{D51E1754-AD8A-45AA-AD4C-13338F4B21E3}" presName="dummy" presStyleCnt="0"/>
      <dgm:spPr/>
    </dgm:pt>
    <dgm:pt modelId="{852E7B29-FF14-43D0-B5A7-BAF7985BF78E}" type="pres">
      <dgm:prSet presAssocID="{D51E1754-AD8A-45AA-AD4C-13338F4B21E3}" presName="linH" presStyleCnt="0"/>
      <dgm:spPr/>
    </dgm:pt>
    <dgm:pt modelId="{27DF2748-1E80-4435-B688-9E0A191076F9}" type="pres">
      <dgm:prSet presAssocID="{D51E1754-AD8A-45AA-AD4C-13338F4B21E3}" presName="padding1" presStyleCnt="0"/>
      <dgm:spPr/>
    </dgm:pt>
    <dgm:pt modelId="{ABADCBF6-6AB5-4DA4-B7A4-E7785BE94C03}" type="pres">
      <dgm:prSet presAssocID="{D51E1754-AD8A-45AA-AD4C-13338F4B21E3}" presName="padding2" presStyleCnt="0"/>
      <dgm:spPr/>
    </dgm:pt>
    <dgm:pt modelId="{5ED1BF25-AD07-4CE2-A1ED-C056E417F30F}" type="pres">
      <dgm:prSet presAssocID="{D51E1754-AD8A-45AA-AD4C-13338F4B21E3}" presName="negArrow" presStyleCnt="0"/>
      <dgm:spPr/>
    </dgm:pt>
    <dgm:pt modelId="{CE8C1E7C-E0D3-436B-A12E-59ED2B4D6C16}" type="pres">
      <dgm:prSet presAssocID="{D51E1754-AD8A-45AA-AD4C-13338F4B21E3}" presName="backgroundArrow" presStyleLbl="node1" presStyleIdx="0" presStyleCnt="1" custLinFactY="-8750" custLinFactNeighborX="9091" custLinFactNeighborY="-100000"/>
      <dgm:spPr/>
    </dgm:pt>
  </dgm:ptLst>
  <dgm:cxnLst>
    <dgm:cxn modelId="{EF2197AE-08C5-485C-A6B5-4410424F73FA}" type="presOf" srcId="{D51E1754-AD8A-45AA-AD4C-13338F4B21E3}" destId="{083FF166-6BB4-4DA1-91DB-9E749FF0D289}" srcOrd="0" destOrd="0" presId="urn:microsoft.com/office/officeart/2005/8/layout/hProcess3"/>
    <dgm:cxn modelId="{62DBC178-F255-41CA-86FD-0EC19127CAEE}" type="presParOf" srcId="{083FF166-6BB4-4DA1-91DB-9E749FF0D289}" destId="{6FAB7761-ECEF-4E59-AFB1-A46EA2CDB20C}" srcOrd="0" destOrd="0" presId="urn:microsoft.com/office/officeart/2005/8/layout/hProcess3"/>
    <dgm:cxn modelId="{BF154AC8-E7D6-48FA-B958-9A4F800DFA2B}" type="presParOf" srcId="{083FF166-6BB4-4DA1-91DB-9E749FF0D289}" destId="{852E7B29-FF14-43D0-B5A7-BAF7985BF78E}" srcOrd="1" destOrd="0" presId="urn:microsoft.com/office/officeart/2005/8/layout/hProcess3"/>
    <dgm:cxn modelId="{736419C3-723D-443A-ACFD-6841562928A1}" type="presParOf" srcId="{852E7B29-FF14-43D0-B5A7-BAF7985BF78E}" destId="{27DF2748-1E80-4435-B688-9E0A191076F9}" srcOrd="0" destOrd="0" presId="urn:microsoft.com/office/officeart/2005/8/layout/hProcess3"/>
    <dgm:cxn modelId="{6DE2A889-9612-476C-BC1A-A0D98BC52313}" type="presParOf" srcId="{852E7B29-FF14-43D0-B5A7-BAF7985BF78E}" destId="{ABADCBF6-6AB5-4DA4-B7A4-E7785BE94C03}" srcOrd="1" destOrd="0" presId="urn:microsoft.com/office/officeart/2005/8/layout/hProcess3"/>
    <dgm:cxn modelId="{B32802B5-4773-49DA-82FE-6E6E25A65E99}" type="presParOf" srcId="{852E7B29-FF14-43D0-B5A7-BAF7985BF78E}" destId="{5ED1BF25-AD07-4CE2-A1ED-C056E417F30F}" srcOrd="2" destOrd="0" presId="urn:microsoft.com/office/officeart/2005/8/layout/hProcess3"/>
    <dgm:cxn modelId="{CE15BB46-6C71-41E4-A203-39C657F5275D}" type="presParOf" srcId="{852E7B29-FF14-43D0-B5A7-BAF7985BF78E}" destId="{CE8C1E7C-E0D3-436B-A12E-59ED2B4D6C16}" srcOrd="3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8C1E7C-E0D3-436B-A12E-59ED2B4D6C16}">
      <dsp:nvSpPr>
        <dsp:cNvPr id="0" name=""/>
        <dsp:cNvSpPr/>
      </dsp:nvSpPr>
      <dsp:spPr>
        <a:xfrm>
          <a:off x="0" y="0"/>
          <a:ext cx="838200" cy="360000"/>
        </a:xfrm>
        <a:prstGeom prst="right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E33788DE-B982-9D04-1DC8-399C661696A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i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0DC35AEC-F8F6-8ABB-CCDD-540C3547903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i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72C06E83-288F-116F-4419-E2AE4E30F12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3505200" y="838200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i="0"/>
            </a:lvl1pPr>
          </a:lstStyle>
          <a:p>
            <a:pPr>
              <a:defRPr/>
            </a:pPr>
            <a:r>
              <a:rPr lang="en-US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51287B1-3F27-FDA5-D432-7F08E389881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i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FA0FECBB-1228-36E3-A2F1-351205BFC4A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i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36B6D2FD-ED9D-88F8-66CA-0CC531DBD89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30300" y="690563"/>
            <a:ext cx="4598988" cy="34496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03CF3B04-55B1-7F21-71B7-D7F8204BAB1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70388"/>
            <a:ext cx="5029200" cy="4138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82CE5AD4-5293-DA83-6387-124666A5E0D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39188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i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E727D28B-AFAF-32A6-7BCB-3A31CA86DA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739188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i="0"/>
            </a:lvl1pPr>
          </a:lstStyle>
          <a:p>
            <a:fld id="{267EDF4B-78F5-4D34-B9CB-923A474C3C1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679C70EA-411D-5384-E32B-3210441CF4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37E3168E-6AEC-7B87-2390-9B16EF334A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QQQQ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1230DA5E-3BE7-C9EB-0885-138E7EBB7A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8734D68-E929-4EB9-A029-FA4FC10616C0}" type="slidenum">
              <a:rPr lang="en-US" altLang="en-US" sz="1200" i="0"/>
              <a:pPr/>
              <a:t>3</a:t>
            </a:fld>
            <a:endParaRPr lang="en-US" altLang="en-US" sz="1200" i="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CD8412F6-8EE5-29A8-082B-2FC476CFB1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0A0A3006-587F-F8EC-2AD6-19192B3DC5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dirty="0" err="1"/>
              <a:t>Giá</a:t>
            </a:r>
            <a:r>
              <a:rPr lang="en-US" altLang="en-US" dirty="0"/>
              <a:t> </a:t>
            </a:r>
            <a:r>
              <a:rPr lang="en-US" altLang="en-US" dirty="0" err="1"/>
              <a:t>trị</a:t>
            </a:r>
            <a:r>
              <a:rPr lang="en-US" altLang="en-US" dirty="0"/>
              <a:t> </a:t>
            </a:r>
            <a:r>
              <a:rPr lang="en-US" altLang="en-US" dirty="0" err="1"/>
              <a:t>tương</a:t>
            </a:r>
            <a:r>
              <a:rPr lang="en-US" altLang="en-US" dirty="0"/>
              <a:t> </a:t>
            </a:r>
            <a:r>
              <a:rPr lang="en-US" altLang="en-US" dirty="0" err="1"/>
              <a:t>đương</a:t>
            </a:r>
            <a:r>
              <a:rPr lang="en-US" altLang="en-US" dirty="0"/>
              <a:t>: </a:t>
            </a:r>
            <a:r>
              <a:rPr lang="en-US" altLang="en-US" dirty="0" err="1"/>
              <a:t>tính</a:t>
            </a:r>
            <a:r>
              <a:rPr lang="en-US" altLang="en-US" dirty="0"/>
              <a:t> </a:t>
            </a:r>
            <a:r>
              <a:rPr lang="en-US" altLang="en-US" dirty="0" err="1"/>
              <a:t>về</a:t>
            </a:r>
            <a:r>
              <a:rPr lang="en-US" altLang="en-US" dirty="0"/>
              <a:t> 1 </a:t>
            </a:r>
            <a:r>
              <a:rPr lang="en-US" altLang="en-US" dirty="0" err="1"/>
              <a:t>thời</a:t>
            </a:r>
            <a:r>
              <a:rPr lang="en-US" altLang="en-US" dirty="0"/>
              <a:t> </a:t>
            </a:r>
            <a:r>
              <a:rPr lang="en-US" altLang="en-US" dirty="0" err="1"/>
              <a:t>điểm</a:t>
            </a:r>
            <a:r>
              <a:rPr lang="en-US" altLang="en-US" dirty="0"/>
              <a:t> </a:t>
            </a:r>
            <a:r>
              <a:rPr lang="en-US" altLang="en-US" dirty="0" err="1"/>
              <a:t>để</a:t>
            </a:r>
            <a:r>
              <a:rPr lang="en-US" altLang="en-US" dirty="0"/>
              <a:t> so </a:t>
            </a:r>
            <a:r>
              <a:rPr lang="en-US" altLang="en-US" dirty="0" err="1"/>
              <a:t>sánh</a:t>
            </a:r>
            <a:endParaRPr lang="en-US" altLang="en-US" dirty="0"/>
          </a:p>
          <a:p>
            <a:pPr eaLnBrk="1" hangingPunct="1"/>
            <a:r>
              <a:rPr lang="en-US" altLang="en-US" dirty="0" err="1"/>
              <a:t>Suất</a:t>
            </a:r>
            <a:r>
              <a:rPr lang="en-US" altLang="en-US" dirty="0"/>
              <a:t> </a:t>
            </a:r>
            <a:r>
              <a:rPr lang="en-US" altLang="en-US" dirty="0" err="1"/>
              <a:t>thu</a:t>
            </a:r>
            <a:r>
              <a:rPr lang="en-US" altLang="en-US" dirty="0"/>
              <a:t> </a:t>
            </a:r>
            <a:r>
              <a:rPr lang="en-US" altLang="en-US" dirty="0" err="1"/>
              <a:t>lợi</a:t>
            </a:r>
            <a:r>
              <a:rPr lang="en-US" altLang="en-US" dirty="0"/>
              <a:t> </a:t>
            </a:r>
            <a:r>
              <a:rPr lang="en-US" altLang="en-US" dirty="0" err="1"/>
              <a:t>nội</a:t>
            </a:r>
            <a:r>
              <a:rPr lang="en-US" altLang="en-US" dirty="0"/>
              <a:t> </a:t>
            </a:r>
            <a:r>
              <a:rPr lang="en-US" altLang="en-US" dirty="0" err="1"/>
              <a:t>tại</a:t>
            </a:r>
            <a:r>
              <a:rPr lang="en-US" altLang="en-US" dirty="0"/>
              <a:t>: </a:t>
            </a:r>
            <a:r>
              <a:rPr lang="en-US" altLang="en-US" dirty="0" err="1"/>
              <a:t>bỏ</a:t>
            </a:r>
            <a:r>
              <a:rPr lang="en-US" altLang="en-US" dirty="0"/>
              <a:t> </a:t>
            </a:r>
            <a:r>
              <a:rPr lang="en-US" altLang="en-US" dirty="0" err="1"/>
              <a:t>ra</a:t>
            </a:r>
            <a:r>
              <a:rPr lang="en-US" altLang="en-US" dirty="0"/>
              <a:t> 1 </a:t>
            </a:r>
            <a:r>
              <a:rPr lang="en-US" altLang="en-US" dirty="0" err="1"/>
              <a:t>tỷ</a:t>
            </a:r>
            <a:r>
              <a:rPr lang="en-US" altLang="en-US" dirty="0"/>
              <a:t>, </a:t>
            </a:r>
            <a:r>
              <a:rPr lang="en-US" altLang="en-US" dirty="0" err="1"/>
              <a:t>năm</a:t>
            </a:r>
            <a:r>
              <a:rPr lang="en-US" altLang="en-US" dirty="0"/>
              <a:t> </a:t>
            </a:r>
            <a:r>
              <a:rPr lang="en-US" altLang="en-US" dirty="0" err="1"/>
              <a:t>sau</a:t>
            </a:r>
            <a:r>
              <a:rPr lang="en-US" altLang="en-US" dirty="0"/>
              <a:t> </a:t>
            </a:r>
            <a:r>
              <a:rPr lang="en-US" altLang="en-US" dirty="0" err="1"/>
              <a:t>nhận</a:t>
            </a:r>
            <a:r>
              <a:rPr lang="en-US" altLang="en-US" dirty="0"/>
              <a:t> 1 </a:t>
            </a:r>
            <a:r>
              <a:rPr lang="en-US" altLang="en-US" dirty="0" err="1"/>
              <a:t>tỷ</a:t>
            </a:r>
            <a:r>
              <a:rPr lang="en-US" altLang="en-US" dirty="0"/>
              <a:t> 100, </a:t>
            </a:r>
            <a:r>
              <a:rPr lang="en-US" altLang="en-US" dirty="0" err="1"/>
              <a:t>suất</a:t>
            </a:r>
            <a:r>
              <a:rPr lang="en-US" altLang="en-US" dirty="0"/>
              <a:t> </a:t>
            </a:r>
            <a:r>
              <a:rPr lang="en-US" altLang="en-US" dirty="0" err="1"/>
              <a:t>thu</a:t>
            </a:r>
            <a:r>
              <a:rPr lang="en-US" altLang="en-US" dirty="0"/>
              <a:t> </a:t>
            </a:r>
            <a:r>
              <a:rPr lang="en-US" altLang="en-US" dirty="0" err="1"/>
              <a:t>lợi</a:t>
            </a:r>
            <a:r>
              <a:rPr lang="en-US" altLang="en-US" dirty="0"/>
              <a:t> </a:t>
            </a:r>
            <a:r>
              <a:rPr lang="en-US" altLang="en-US" dirty="0" err="1"/>
              <a:t>là</a:t>
            </a:r>
            <a:r>
              <a:rPr lang="en-US" altLang="en-US" dirty="0"/>
              <a:t> 10%; ta </a:t>
            </a:r>
            <a:r>
              <a:rPr lang="en-US" altLang="en-US" dirty="0" err="1"/>
              <a:t>thường</a:t>
            </a:r>
            <a:r>
              <a:rPr lang="en-US" altLang="en-US" dirty="0"/>
              <a:t> </a:t>
            </a:r>
            <a:r>
              <a:rPr lang="en-US" altLang="en-US" dirty="0" err="1"/>
              <a:t>lựa</a:t>
            </a:r>
            <a:r>
              <a:rPr lang="en-US" altLang="en-US" dirty="0"/>
              <a:t> </a:t>
            </a:r>
            <a:r>
              <a:rPr lang="en-US" altLang="en-US" dirty="0" err="1"/>
              <a:t>chọn</a:t>
            </a:r>
            <a:r>
              <a:rPr lang="en-US" altLang="en-US" dirty="0"/>
              <a:t> </a:t>
            </a:r>
            <a:r>
              <a:rPr lang="en-US" altLang="en-US" dirty="0" err="1"/>
              <a:t>suất</a:t>
            </a:r>
            <a:r>
              <a:rPr lang="en-US" altLang="en-US" dirty="0"/>
              <a:t> </a:t>
            </a:r>
            <a:r>
              <a:rPr lang="en-US" altLang="en-US" dirty="0" err="1"/>
              <a:t>thu</a:t>
            </a:r>
            <a:r>
              <a:rPr lang="en-US" altLang="en-US" dirty="0"/>
              <a:t> </a:t>
            </a:r>
            <a:r>
              <a:rPr lang="en-US" altLang="en-US" dirty="0" err="1"/>
              <a:t>lợi</a:t>
            </a:r>
            <a:r>
              <a:rPr lang="en-US" altLang="en-US" dirty="0"/>
              <a:t> </a:t>
            </a:r>
            <a:r>
              <a:rPr lang="en-US" altLang="en-US" dirty="0" err="1"/>
              <a:t>có</a:t>
            </a:r>
            <a:r>
              <a:rPr lang="en-US" altLang="en-US" dirty="0"/>
              <a:t> % </a:t>
            </a:r>
            <a:r>
              <a:rPr lang="en-US" altLang="en-US" dirty="0" err="1"/>
              <a:t>cao</a:t>
            </a:r>
            <a:r>
              <a:rPr lang="en-US" altLang="en-US" dirty="0"/>
              <a:t> </a:t>
            </a:r>
            <a:r>
              <a:rPr lang="en-US" altLang="en-US" dirty="0" err="1"/>
              <a:t>hơn</a:t>
            </a:r>
            <a:endParaRPr lang="en-US" altLang="en-US" dirty="0"/>
          </a:p>
          <a:p>
            <a:pPr marL="171450" indent="-171450" eaLnBrk="1" hangingPunct="1">
              <a:buFont typeface="Wingdings" panose="05000000000000000000" pitchFamily="2" charset="2"/>
              <a:buChar char="è"/>
            </a:pPr>
            <a:r>
              <a:rPr lang="en-US" altLang="en-US" dirty="0" err="1"/>
              <a:t>Tính</a:t>
            </a:r>
            <a:r>
              <a:rPr lang="en-US" altLang="en-US" dirty="0"/>
              <a:t> </a:t>
            </a:r>
            <a:r>
              <a:rPr lang="en-US" altLang="en-US" dirty="0" err="1"/>
              <a:t>lãi</a:t>
            </a:r>
            <a:r>
              <a:rPr lang="en-US" altLang="en-US" dirty="0"/>
              <a:t> </a:t>
            </a:r>
            <a:r>
              <a:rPr lang="en-US" altLang="en-US" dirty="0" err="1"/>
              <a:t>suất</a:t>
            </a:r>
            <a:r>
              <a:rPr lang="en-US" altLang="en-US" dirty="0"/>
              <a:t> </a:t>
            </a:r>
            <a:r>
              <a:rPr lang="en-US" altLang="en-US" dirty="0" err="1"/>
              <a:t>khi</a:t>
            </a:r>
            <a:r>
              <a:rPr lang="en-US" altLang="en-US" dirty="0"/>
              <a:t> </a:t>
            </a:r>
            <a:r>
              <a:rPr lang="en-US" altLang="en-US" dirty="0" err="1"/>
              <a:t>dòng</a:t>
            </a:r>
            <a:r>
              <a:rPr lang="en-US" altLang="en-US" dirty="0"/>
              <a:t> </a:t>
            </a:r>
            <a:r>
              <a:rPr lang="en-US" altLang="en-US" dirty="0" err="1"/>
              <a:t>thu</a:t>
            </a:r>
            <a:r>
              <a:rPr lang="en-US" altLang="en-US" dirty="0"/>
              <a:t> </a:t>
            </a:r>
            <a:r>
              <a:rPr lang="en-US" altLang="en-US" dirty="0" err="1"/>
              <a:t>và</a:t>
            </a:r>
            <a:r>
              <a:rPr lang="en-US" altLang="en-US" dirty="0"/>
              <a:t> </a:t>
            </a:r>
            <a:r>
              <a:rPr lang="en-US" altLang="en-US" dirty="0" err="1"/>
              <a:t>dòng</a:t>
            </a:r>
            <a:r>
              <a:rPr lang="en-US" altLang="en-US" dirty="0"/>
              <a:t> chi </a:t>
            </a:r>
            <a:r>
              <a:rPr lang="en-US" altLang="en-US" dirty="0" err="1"/>
              <a:t>bằng</a:t>
            </a:r>
            <a:r>
              <a:rPr lang="en-US" altLang="en-US" dirty="0"/>
              <a:t> </a:t>
            </a:r>
            <a:r>
              <a:rPr lang="en-US" altLang="en-US" dirty="0" err="1"/>
              <a:t>nhau</a:t>
            </a:r>
            <a:r>
              <a:rPr lang="en-US" altLang="en-US" dirty="0"/>
              <a:t> (</a:t>
            </a:r>
            <a:r>
              <a:rPr lang="en-US" altLang="en-US" dirty="0" err="1"/>
              <a:t>nếu</a:t>
            </a:r>
            <a:r>
              <a:rPr lang="en-US" altLang="en-US" dirty="0"/>
              <a:t> </a:t>
            </a:r>
            <a:r>
              <a:rPr lang="en-US" altLang="en-US" dirty="0" err="1"/>
              <a:t>coi</a:t>
            </a:r>
            <a:r>
              <a:rPr lang="en-US" altLang="en-US" dirty="0"/>
              <a:t> 1 </a:t>
            </a:r>
            <a:r>
              <a:rPr lang="en-US" altLang="en-US" dirty="0" err="1"/>
              <a:t>tỷ</a:t>
            </a:r>
            <a:r>
              <a:rPr lang="en-US" altLang="en-US" dirty="0"/>
              <a:t> </a:t>
            </a:r>
            <a:r>
              <a:rPr lang="en-US" altLang="en-US" dirty="0" err="1"/>
              <a:t>năm</a:t>
            </a:r>
            <a:r>
              <a:rPr lang="en-US" altLang="en-US" dirty="0"/>
              <a:t> nay </a:t>
            </a:r>
            <a:r>
              <a:rPr lang="en-US" altLang="en-US" dirty="0" err="1"/>
              <a:t>bằng</a:t>
            </a:r>
            <a:r>
              <a:rPr lang="en-US" altLang="en-US" dirty="0"/>
              <a:t> 1 </a:t>
            </a:r>
            <a:r>
              <a:rPr lang="en-US" altLang="en-US" dirty="0" err="1"/>
              <a:t>tỷ</a:t>
            </a:r>
            <a:r>
              <a:rPr lang="en-US" altLang="en-US" dirty="0"/>
              <a:t> 100 </a:t>
            </a:r>
            <a:r>
              <a:rPr lang="en-US" altLang="en-US" dirty="0" err="1"/>
              <a:t>năm</a:t>
            </a:r>
            <a:r>
              <a:rPr lang="en-US" altLang="en-US" dirty="0"/>
              <a:t> </a:t>
            </a:r>
            <a:r>
              <a:rPr lang="en-US" altLang="en-US" dirty="0" err="1"/>
              <a:t>sau</a:t>
            </a:r>
            <a:r>
              <a:rPr lang="en-US" altLang="en-US" dirty="0"/>
              <a:t> </a:t>
            </a:r>
            <a:r>
              <a:rPr lang="en-US" altLang="en-US" dirty="0" err="1"/>
              <a:t>thì</a:t>
            </a:r>
            <a:r>
              <a:rPr lang="en-US" altLang="en-US" dirty="0"/>
              <a:t> </a:t>
            </a:r>
            <a:r>
              <a:rPr lang="en-US" altLang="en-US" dirty="0" err="1"/>
              <a:t>i</a:t>
            </a:r>
            <a:r>
              <a:rPr lang="en-US" altLang="en-US" dirty="0"/>
              <a:t> = ?)</a:t>
            </a:r>
          </a:p>
          <a:p>
            <a:pPr marL="171450" indent="-171450" eaLnBrk="1" hangingPunct="1">
              <a:buFont typeface="Wingdings" panose="05000000000000000000" pitchFamily="2" charset="2"/>
              <a:buChar char="è"/>
            </a:pPr>
            <a:endParaRPr lang="en-US" altLang="en-US" dirty="0"/>
          </a:p>
          <a:p>
            <a:pPr eaLnBrk="1" hangingPunct="1"/>
            <a:r>
              <a:rPr lang="en-US" altLang="en-US" dirty="0" err="1"/>
              <a:t>Tỷ</a:t>
            </a:r>
            <a:r>
              <a:rPr lang="en-US" altLang="en-US" dirty="0"/>
              <a:t> </a:t>
            </a:r>
            <a:r>
              <a:rPr lang="en-US" altLang="en-US" dirty="0" err="1"/>
              <a:t>số</a:t>
            </a:r>
            <a:r>
              <a:rPr lang="en-US" altLang="en-US" dirty="0"/>
              <a:t> B/C (Benefit/Cost), </a:t>
            </a:r>
            <a:r>
              <a:rPr lang="en-US" altLang="en-US" dirty="0" err="1"/>
              <a:t>đáng</a:t>
            </a:r>
            <a:r>
              <a:rPr lang="en-US" altLang="en-US" dirty="0"/>
              <a:t> </a:t>
            </a:r>
            <a:r>
              <a:rPr lang="en-US" altLang="en-US" dirty="0" err="1"/>
              <a:t>giá</a:t>
            </a:r>
            <a:r>
              <a:rPr lang="en-US" altLang="en-US" dirty="0"/>
              <a:t> </a:t>
            </a:r>
            <a:r>
              <a:rPr lang="en-US" altLang="en-US" dirty="0" err="1"/>
              <a:t>khi</a:t>
            </a:r>
            <a:r>
              <a:rPr lang="en-US" altLang="en-US" dirty="0"/>
              <a:t> &gt; 1 (</a:t>
            </a:r>
            <a:r>
              <a:rPr lang="en-US" altLang="en-US" dirty="0" err="1"/>
              <a:t>lợi</a:t>
            </a:r>
            <a:r>
              <a:rPr lang="en-US" altLang="en-US" dirty="0"/>
              <a:t> </a:t>
            </a:r>
            <a:r>
              <a:rPr lang="en-US" altLang="en-US" dirty="0" err="1"/>
              <a:t>ích</a:t>
            </a:r>
            <a:r>
              <a:rPr lang="en-US" altLang="en-US" dirty="0"/>
              <a:t> </a:t>
            </a:r>
            <a:r>
              <a:rPr lang="en-US" altLang="en-US" dirty="0" err="1"/>
              <a:t>thu</a:t>
            </a:r>
            <a:r>
              <a:rPr lang="en-US" altLang="en-US" dirty="0"/>
              <a:t> </a:t>
            </a:r>
            <a:r>
              <a:rPr lang="en-US" altLang="en-US" dirty="0" err="1"/>
              <a:t>được</a:t>
            </a:r>
            <a:r>
              <a:rPr lang="en-US" altLang="en-US" dirty="0"/>
              <a:t> </a:t>
            </a:r>
            <a:r>
              <a:rPr lang="en-US" altLang="en-US" dirty="0" err="1"/>
              <a:t>nhiều</a:t>
            </a:r>
            <a:r>
              <a:rPr lang="en-US" altLang="en-US" dirty="0"/>
              <a:t> </a:t>
            </a:r>
            <a:r>
              <a:rPr lang="en-US" altLang="en-US" dirty="0" err="1"/>
              <a:t>hơn</a:t>
            </a:r>
            <a:r>
              <a:rPr lang="en-US" altLang="en-US" dirty="0"/>
              <a:t> </a:t>
            </a:r>
            <a:r>
              <a:rPr lang="en-US" altLang="en-US" dirty="0" err="1"/>
              <a:t>bỏ</a:t>
            </a:r>
            <a:r>
              <a:rPr lang="en-US" altLang="en-US" dirty="0"/>
              <a:t> </a:t>
            </a:r>
            <a:r>
              <a:rPr lang="en-US" altLang="en-US" dirty="0" err="1"/>
              <a:t>ra</a:t>
            </a:r>
            <a:r>
              <a:rPr lang="en-US" altLang="en-US" dirty="0"/>
              <a:t>); </a:t>
            </a:r>
            <a:r>
              <a:rPr lang="en-US" altLang="en-US" dirty="0" err="1"/>
              <a:t>để</a:t>
            </a:r>
            <a:r>
              <a:rPr lang="en-US" altLang="en-US" dirty="0"/>
              <a:t> so </a:t>
            </a:r>
            <a:r>
              <a:rPr lang="en-US" altLang="en-US" dirty="0" err="1"/>
              <a:t>sánh</a:t>
            </a:r>
            <a:r>
              <a:rPr lang="en-US" altLang="en-US" dirty="0"/>
              <a:t> ta </a:t>
            </a:r>
            <a:r>
              <a:rPr lang="en-US" altLang="en-US" dirty="0" err="1"/>
              <a:t>cũng</a:t>
            </a:r>
            <a:r>
              <a:rPr lang="en-US" altLang="en-US" dirty="0"/>
              <a:t> </a:t>
            </a:r>
            <a:r>
              <a:rPr lang="en-US" altLang="en-US" dirty="0" err="1"/>
              <a:t>đưa</a:t>
            </a:r>
            <a:r>
              <a:rPr lang="en-US" altLang="en-US" dirty="0"/>
              <a:t> </a:t>
            </a:r>
            <a:r>
              <a:rPr lang="en-US" altLang="en-US" dirty="0" err="1"/>
              <a:t>về</a:t>
            </a:r>
            <a:r>
              <a:rPr lang="en-US" altLang="en-US" dirty="0"/>
              <a:t> 1 </a:t>
            </a:r>
            <a:r>
              <a:rPr lang="en-US" altLang="en-US" dirty="0" err="1"/>
              <a:t>thời</a:t>
            </a:r>
            <a:r>
              <a:rPr lang="en-US" altLang="en-US" dirty="0"/>
              <a:t> </a:t>
            </a:r>
            <a:r>
              <a:rPr lang="en-US" altLang="en-US" dirty="0" err="1"/>
              <a:t>điểm</a:t>
            </a:r>
            <a:r>
              <a:rPr lang="en-US" altLang="en-US" dirty="0"/>
              <a:t> </a:t>
            </a:r>
            <a:r>
              <a:rPr lang="en-US" altLang="en-US" dirty="0" err="1"/>
              <a:t>cố</a:t>
            </a:r>
            <a:r>
              <a:rPr lang="en-US" altLang="en-US" dirty="0"/>
              <a:t> </a:t>
            </a:r>
            <a:r>
              <a:rPr lang="en-US" altLang="en-US" dirty="0" err="1"/>
              <a:t>định</a:t>
            </a:r>
            <a:r>
              <a:rPr lang="en-US" altLang="en-US" dirty="0"/>
              <a:t> (</a:t>
            </a:r>
            <a:r>
              <a:rPr lang="en-US" altLang="en-US" dirty="0" err="1"/>
              <a:t>Chẳng</a:t>
            </a:r>
            <a:r>
              <a:rPr lang="en-US" altLang="en-US" dirty="0"/>
              <a:t> </a:t>
            </a:r>
            <a:r>
              <a:rPr lang="en-US" altLang="en-US" dirty="0" err="1"/>
              <a:t>hạn</a:t>
            </a:r>
            <a:r>
              <a:rPr lang="en-US" altLang="en-US" dirty="0"/>
              <a:t> PV)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Mua </a:t>
            </a:r>
            <a:r>
              <a:rPr lang="en-US" dirty="0" err="1"/>
              <a:t>máy</a:t>
            </a:r>
            <a:r>
              <a:rPr lang="en-US" dirty="0"/>
              <a:t> 1 </a:t>
            </a:r>
            <a:r>
              <a:rPr lang="en-US" dirty="0" err="1"/>
              <a:t>xài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10 </a:t>
            </a:r>
            <a:r>
              <a:rPr lang="en-US" dirty="0" err="1"/>
              <a:t>năm</a:t>
            </a:r>
            <a:r>
              <a:rPr lang="en-US" dirty="0"/>
              <a:t>, </a:t>
            </a:r>
            <a:r>
              <a:rPr lang="en-US" dirty="0" err="1"/>
              <a:t>máy</a:t>
            </a:r>
            <a:r>
              <a:rPr lang="en-US" dirty="0"/>
              <a:t> 2 5 </a:t>
            </a:r>
            <a:r>
              <a:rPr lang="en-US" dirty="0" err="1"/>
              <a:t>năm</a:t>
            </a:r>
            <a:r>
              <a:rPr lang="en-US" dirty="0"/>
              <a:t> ,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2 </a:t>
            </a:r>
            <a:r>
              <a:rPr lang="en-US" dirty="0" err="1"/>
              <a:t>rẻ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1.</a:t>
            </a:r>
          </a:p>
          <a:p>
            <a:r>
              <a:rPr lang="en-US" dirty="0"/>
              <a:t>Ta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tại</a:t>
            </a:r>
            <a:endParaRPr lang="en-US" dirty="0"/>
          </a:p>
          <a:p>
            <a:r>
              <a:rPr lang="en-US" dirty="0"/>
              <a:t>=&gt; Ta </a:t>
            </a:r>
            <a:r>
              <a:rPr lang="en-US" dirty="0" err="1"/>
              <a:t>cần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10 </a:t>
            </a:r>
            <a:r>
              <a:rPr lang="en-US" dirty="0" err="1"/>
              <a:t>năm</a:t>
            </a:r>
            <a:r>
              <a:rPr lang="en-US" dirty="0"/>
              <a:t>.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xét</a:t>
            </a:r>
            <a:r>
              <a:rPr lang="en-US" dirty="0"/>
              <a:t> 10 </a:t>
            </a:r>
            <a:r>
              <a:rPr lang="en-US" dirty="0" err="1"/>
              <a:t>năm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ta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xét</a:t>
            </a:r>
            <a:r>
              <a:rPr lang="en-US" dirty="0"/>
              <a:t>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2 2 </a:t>
            </a:r>
            <a:r>
              <a:rPr lang="en-US" dirty="0" err="1"/>
              <a:t>lần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7EDF4B-78F5-4D34-B9CB-923A474C3C18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83071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7EDF4B-78F5-4D34-B9CB-923A474C3C18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59488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>
            <a:extLst>
              <a:ext uri="{FF2B5EF4-FFF2-40B4-BE49-F238E27FC236}">
                <a16:creationId xmlns:a16="http://schemas.microsoft.com/office/drawing/2014/main" id="{3B554901-E0DA-F5ED-6166-1FB0557911E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>
            <a:extLst>
              <a:ext uri="{FF2B5EF4-FFF2-40B4-BE49-F238E27FC236}">
                <a16:creationId xmlns:a16="http://schemas.microsoft.com/office/drawing/2014/main" id="{9EAF653D-00B7-09DD-9EE5-BC1892DAB6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370388"/>
            <a:ext cx="5486400" cy="41386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1E08262A-4079-30C4-B712-015909A078AC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737600"/>
            <a:ext cx="2971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C92B2B8-1B96-4D21-B3A0-0B7B7448807E}" type="slidenum">
              <a:rPr lang="en-US" altLang="en-US" sz="1200" i="0">
                <a:latin typeface="Arial" panose="020B0604020202020204" pitchFamily="34" charset="0"/>
              </a:rPr>
              <a:pPr eaLnBrk="1" hangingPunct="1"/>
              <a:t>10</a:t>
            </a:fld>
            <a:endParaRPr lang="en-US" altLang="en-US" sz="1200" i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>
            <a:extLst>
              <a:ext uri="{FF2B5EF4-FFF2-40B4-BE49-F238E27FC236}">
                <a16:creationId xmlns:a16="http://schemas.microsoft.com/office/drawing/2014/main" id="{C026D88C-9B86-C09A-BE1B-CCAD5E1CD15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>
            <a:extLst>
              <a:ext uri="{FF2B5EF4-FFF2-40B4-BE49-F238E27FC236}">
                <a16:creationId xmlns:a16="http://schemas.microsoft.com/office/drawing/2014/main" id="{A18EF4E8-5FA0-BE31-EF0F-B33235B4D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370388"/>
            <a:ext cx="5486400" cy="41386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39940" name="Slide Number Placeholder 3">
            <a:extLst>
              <a:ext uri="{FF2B5EF4-FFF2-40B4-BE49-F238E27FC236}">
                <a16:creationId xmlns:a16="http://schemas.microsoft.com/office/drawing/2014/main" id="{FB821B7A-66E2-9592-02D0-928CB9D959AA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737600"/>
            <a:ext cx="2971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1CC0D5E-B570-46F0-B782-652C318AB418}" type="slidenum">
              <a:rPr lang="en-US" altLang="en-US" sz="1200" i="0">
                <a:latin typeface="Arial" panose="020B0604020202020204" pitchFamily="34" charset="0"/>
              </a:rPr>
              <a:pPr eaLnBrk="1" hangingPunct="1"/>
              <a:t>11</a:t>
            </a:fld>
            <a:endParaRPr lang="en-US" altLang="en-US" sz="1200" i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BE86B0B3-4C61-FC93-34FE-05112B9DA50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EA385DD9-3CBB-3A20-2F37-72C156C29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370388"/>
            <a:ext cx="5486400" cy="41386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EE07B447-5AB7-CF62-EFBB-1BE7A1086B3C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737600"/>
            <a:ext cx="2971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DC2BB8F-2E48-4DFB-B88B-493BC774EC07}" type="slidenum">
              <a:rPr lang="en-US" altLang="en-US" sz="1200" i="0">
                <a:latin typeface="Arial" panose="020B0604020202020204" pitchFamily="34" charset="0"/>
              </a:rPr>
              <a:pPr eaLnBrk="1" hangingPunct="1"/>
              <a:t>12</a:t>
            </a:fld>
            <a:endParaRPr lang="en-US" altLang="en-US" sz="1200" i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>
            <a:extLst>
              <a:ext uri="{FF2B5EF4-FFF2-40B4-BE49-F238E27FC236}">
                <a16:creationId xmlns:a16="http://schemas.microsoft.com/office/drawing/2014/main" id="{4BC95674-0DEA-BC99-05FA-600B956AF91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>
            <a:extLst>
              <a:ext uri="{FF2B5EF4-FFF2-40B4-BE49-F238E27FC236}">
                <a16:creationId xmlns:a16="http://schemas.microsoft.com/office/drawing/2014/main" id="{A541DC92-0C1B-9295-3B0F-5CE8CE105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370388"/>
            <a:ext cx="5486400" cy="41386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41988" name="Slide Number Placeholder 3">
            <a:extLst>
              <a:ext uri="{FF2B5EF4-FFF2-40B4-BE49-F238E27FC236}">
                <a16:creationId xmlns:a16="http://schemas.microsoft.com/office/drawing/2014/main" id="{49B20CD2-A9EB-A76E-47B8-00DD4348BD3A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737600"/>
            <a:ext cx="2971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95C1BA9-7579-4AAB-A06B-DFBC2F55AF6B}" type="slidenum">
              <a:rPr lang="en-US" altLang="en-US" sz="1200" i="0">
                <a:latin typeface="Arial" panose="020B0604020202020204" pitchFamily="34" charset="0"/>
              </a:rPr>
              <a:pPr eaLnBrk="1" hangingPunct="1"/>
              <a:t>13</a:t>
            </a:fld>
            <a:endParaRPr lang="en-US" altLang="en-US" sz="1200" i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>
            <a:extLst>
              <a:ext uri="{FF2B5EF4-FFF2-40B4-BE49-F238E27FC236}">
                <a16:creationId xmlns:a16="http://schemas.microsoft.com/office/drawing/2014/main" id="{AC54457D-AB6B-E7F9-8272-0FF2C31B6EC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>
            <a:extLst>
              <a:ext uri="{FF2B5EF4-FFF2-40B4-BE49-F238E27FC236}">
                <a16:creationId xmlns:a16="http://schemas.microsoft.com/office/drawing/2014/main" id="{9F7C1CFF-383F-5F67-CE69-EB73B4A6F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370388"/>
            <a:ext cx="5486400" cy="41386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id="{7446AC3F-D3A1-7405-CA0E-AA721DA2F7D7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737600"/>
            <a:ext cx="2971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3D645D8-9788-4404-97DD-CC6CC38D74F7}" type="slidenum">
              <a:rPr lang="en-US" altLang="en-US" sz="1200" i="0">
                <a:latin typeface="Arial" panose="020B0604020202020204" pitchFamily="34" charset="0"/>
              </a:rPr>
              <a:pPr eaLnBrk="1" hangingPunct="1"/>
              <a:t>14</a:t>
            </a:fld>
            <a:endParaRPr lang="en-US" altLang="en-US" sz="1200" i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>
            <a:extLst>
              <a:ext uri="{FF2B5EF4-FFF2-40B4-BE49-F238E27FC236}">
                <a16:creationId xmlns:a16="http://schemas.microsoft.com/office/drawing/2014/main" id="{87630E23-E1CC-6116-78D9-C6776929627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>
            <a:extLst>
              <a:ext uri="{FF2B5EF4-FFF2-40B4-BE49-F238E27FC236}">
                <a16:creationId xmlns:a16="http://schemas.microsoft.com/office/drawing/2014/main" id="{80AAD3BE-1F3A-1737-CA40-742054FB1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370388"/>
            <a:ext cx="5486400" cy="41386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id="{13DFB6CD-FDCF-2261-BCDD-B74B88247598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737600"/>
            <a:ext cx="2971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92206DC3-E3EC-4EF8-AB1B-E65DB11E0138}" type="slidenum">
              <a:rPr lang="en-US" altLang="en-US" sz="1200" i="0">
                <a:latin typeface="Arial" panose="020B0604020202020204" pitchFamily="34" charset="0"/>
              </a:rPr>
              <a:pPr eaLnBrk="1" hangingPunct="1"/>
              <a:t>15</a:t>
            </a:fld>
            <a:endParaRPr lang="en-US" altLang="en-US" sz="1200" i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>
            <a:extLst>
              <a:ext uri="{FF2B5EF4-FFF2-40B4-BE49-F238E27FC236}">
                <a16:creationId xmlns:a16="http://schemas.microsoft.com/office/drawing/2014/main" id="{8EF03BA5-4CBD-E5D0-8930-7293DEFDEE3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>
            <a:extLst>
              <a:ext uri="{FF2B5EF4-FFF2-40B4-BE49-F238E27FC236}">
                <a16:creationId xmlns:a16="http://schemas.microsoft.com/office/drawing/2014/main" id="{FDFE6799-C585-A04A-C21B-C7A4AF983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370388"/>
            <a:ext cx="5486400" cy="41386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D73B9C34-9ED0-2EC0-A215-66BB5061A432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737600"/>
            <a:ext cx="2971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60548A7-C848-4CD2-B304-F2BE4EE010A6}" type="slidenum">
              <a:rPr lang="en-US" altLang="en-US" sz="1200" i="0">
                <a:latin typeface="Arial" panose="020B0604020202020204" pitchFamily="34" charset="0"/>
              </a:rPr>
              <a:pPr eaLnBrk="1" hangingPunct="1"/>
              <a:t>16</a:t>
            </a:fld>
            <a:endParaRPr lang="en-US" altLang="en-US" sz="1200" i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>
            <a:extLst>
              <a:ext uri="{FF2B5EF4-FFF2-40B4-BE49-F238E27FC236}">
                <a16:creationId xmlns:a16="http://schemas.microsoft.com/office/drawing/2014/main" id="{75BCF47F-4C66-08CA-8119-5BDE7F6C862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>
            <a:extLst>
              <a:ext uri="{FF2B5EF4-FFF2-40B4-BE49-F238E27FC236}">
                <a16:creationId xmlns:a16="http://schemas.microsoft.com/office/drawing/2014/main" id="{AE192B63-3897-B172-BF82-D77174BD9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370388"/>
            <a:ext cx="5486400" cy="41386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46084" name="Slide Number Placeholder 3">
            <a:extLst>
              <a:ext uri="{FF2B5EF4-FFF2-40B4-BE49-F238E27FC236}">
                <a16:creationId xmlns:a16="http://schemas.microsoft.com/office/drawing/2014/main" id="{7303B2A3-F86A-E0BA-22FC-36FD35639805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737600"/>
            <a:ext cx="2971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CD789EC-BA94-4C0D-AC11-C52CE517996B}" type="slidenum">
              <a:rPr lang="en-US" altLang="en-US" sz="1200" i="0">
                <a:latin typeface="Arial" panose="020B0604020202020204" pitchFamily="34" charset="0"/>
              </a:rPr>
              <a:pPr eaLnBrk="1" hangingPunct="1"/>
              <a:t>17</a:t>
            </a:fld>
            <a:endParaRPr lang="en-US" altLang="en-US" sz="1200" i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>
            <a:extLst>
              <a:ext uri="{FF2B5EF4-FFF2-40B4-BE49-F238E27FC236}">
                <a16:creationId xmlns:a16="http://schemas.microsoft.com/office/drawing/2014/main" id="{3CF64155-6686-2FBC-B92B-FE92FDE3CE5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>
            <a:extLst>
              <a:ext uri="{FF2B5EF4-FFF2-40B4-BE49-F238E27FC236}">
                <a16:creationId xmlns:a16="http://schemas.microsoft.com/office/drawing/2014/main" id="{0505A503-CCCE-C422-C910-DEF997EEE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370388"/>
            <a:ext cx="5486400" cy="41386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47108" name="Slide Number Placeholder 3">
            <a:extLst>
              <a:ext uri="{FF2B5EF4-FFF2-40B4-BE49-F238E27FC236}">
                <a16:creationId xmlns:a16="http://schemas.microsoft.com/office/drawing/2014/main" id="{08A9D951-2900-0E3E-09F5-AA387B50FB2B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737600"/>
            <a:ext cx="2971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B0725D9-FE7E-48F4-9D98-FC012C3A84AF}" type="slidenum">
              <a:rPr lang="en-US" altLang="en-US" sz="1200" i="0">
                <a:latin typeface="Arial" panose="020B0604020202020204" pitchFamily="34" charset="0"/>
              </a:rPr>
              <a:pPr eaLnBrk="1" hangingPunct="1"/>
              <a:t>18</a:t>
            </a:fld>
            <a:endParaRPr lang="en-US" altLang="en-US" sz="1200" i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>
            <a:extLst>
              <a:ext uri="{FF2B5EF4-FFF2-40B4-BE49-F238E27FC236}">
                <a16:creationId xmlns:a16="http://schemas.microsoft.com/office/drawing/2014/main" id="{224F1332-9DB8-63C6-44C6-AC6E0DBD5C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>
            <a:extLst>
              <a:ext uri="{FF2B5EF4-FFF2-40B4-BE49-F238E27FC236}">
                <a16:creationId xmlns:a16="http://schemas.microsoft.com/office/drawing/2014/main" id="{3470B835-F67D-5EC8-47F9-C2D710AEF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370388"/>
            <a:ext cx="5486400" cy="41386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48132" name="Slide Number Placeholder 3">
            <a:extLst>
              <a:ext uri="{FF2B5EF4-FFF2-40B4-BE49-F238E27FC236}">
                <a16:creationId xmlns:a16="http://schemas.microsoft.com/office/drawing/2014/main" id="{9A161DC6-0B47-299A-174D-D1552AF35A8B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737600"/>
            <a:ext cx="2971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CAC2C4B-6DE9-4F3B-A5D9-9083E6240B47}" type="slidenum">
              <a:rPr lang="en-US" altLang="en-US" sz="1200" i="0">
                <a:latin typeface="Arial" panose="020B0604020202020204" pitchFamily="34" charset="0"/>
              </a:rPr>
              <a:pPr eaLnBrk="1" hangingPunct="1"/>
              <a:t>19</a:t>
            </a:fld>
            <a:endParaRPr lang="en-US" altLang="en-US" sz="1200" i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780B74FA-D400-9467-23F1-87657DBD421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C658C534-FC5C-66BE-B46E-4BDC7E449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370388"/>
            <a:ext cx="5486400" cy="41386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C2D55DD5-6457-00D8-C902-7C3B2C5F1ED2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737600"/>
            <a:ext cx="2971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0367D1D-18E0-41BE-B598-1FE37CA6C5A8}" type="slidenum">
              <a:rPr lang="en-US" altLang="en-US" sz="1200" i="0">
                <a:latin typeface="Arial" panose="020B0604020202020204" pitchFamily="34" charset="0"/>
              </a:rPr>
              <a:pPr eaLnBrk="1" hangingPunct="1"/>
              <a:t>20</a:t>
            </a:fld>
            <a:endParaRPr lang="en-US" altLang="en-US" sz="1200" i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>
            <a:extLst>
              <a:ext uri="{FF2B5EF4-FFF2-40B4-BE49-F238E27FC236}">
                <a16:creationId xmlns:a16="http://schemas.microsoft.com/office/drawing/2014/main" id="{C4DB34E5-4895-6196-2011-95AD729678B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>
            <a:extLst>
              <a:ext uri="{FF2B5EF4-FFF2-40B4-BE49-F238E27FC236}">
                <a16:creationId xmlns:a16="http://schemas.microsoft.com/office/drawing/2014/main" id="{793017A8-0450-F24B-D220-391CA4EED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370388"/>
            <a:ext cx="5486400" cy="41386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id="{A21DBB77-FB87-C7C7-7F56-C4D00D437991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737600"/>
            <a:ext cx="2971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F933830-438F-4E99-83F1-BB4080A1CDF2}" type="slidenum">
              <a:rPr lang="en-US" altLang="en-US" sz="1200" i="0">
                <a:latin typeface="Arial" panose="020B0604020202020204" pitchFamily="34" charset="0"/>
              </a:rPr>
              <a:pPr eaLnBrk="1" hangingPunct="1"/>
              <a:t>21</a:t>
            </a:fld>
            <a:endParaRPr lang="en-US" altLang="en-US" sz="1200" i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>
            <a:extLst>
              <a:ext uri="{FF2B5EF4-FFF2-40B4-BE49-F238E27FC236}">
                <a16:creationId xmlns:a16="http://schemas.microsoft.com/office/drawing/2014/main" id="{9141ACA2-21DB-806F-6255-9ED8DB1075E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>
            <a:extLst>
              <a:ext uri="{FF2B5EF4-FFF2-40B4-BE49-F238E27FC236}">
                <a16:creationId xmlns:a16="http://schemas.microsoft.com/office/drawing/2014/main" id="{82C0ECCB-BBF6-2A5A-4778-1BE21A8B2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370388"/>
            <a:ext cx="5486400" cy="41386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51204" name="Slide Number Placeholder 3">
            <a:extLst>
              <a:ext uri="{FF2B5EF4-FFF2-40B4-BE49-F238E27FC236}">
                <a16:creationId xmlns:a16="http://schemas.microsoft.com/office/drawing/2014/main" id="{0078FEBD-03F3-752B-7719-1A8170C59F4F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737600"/>
            <a:ext cx="2971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8891204-3AEE-4A40-B547-EBF7B900011B}" type="slidenum">
              <a:rPr lang="vi-VN" altLang="en-US" sz="1200" i="0">
                <a:latin typeface="Arial" panose="020B0604020202020204" pitchFamily="34" charset="0"/>
              </a:rPr>
              <a:pPr eaLnBrk="1" hangingPunct="1"/>
              <a:t>22</a:t>
            </a:fld>
            <a:endParaRPr lang="vi-VN" altLang="en-US" sz="1200" i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F2B638B1-D9D1-59EF-72B0-1EFCA7011A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DE93BC01-8732-3644-ADE5-5519D53952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26" descr="Quarter Globe">
            <a:extLst>
              <a:ext uri="{FF2B5EF4-FFF2-40B4-BE49-F238E27FC236}">
                <a16:creationId xmlns:a16="http://schemas.microsoft.com/office/drawing/2014/main" id="{F9284E3A-98EF-9333-0106-A62991C23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10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5175" y="2133600"/>
            <a:ext cx="4568825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1031">
            <a:extLst>
              <a:ext uri="{FF2B5EF4-FFF2-40B4-BE49-F238E27FC236}">
                <a16:creationId xmlns:a16="http://schemas.microsoft.com/office/drawing/2014/main" id="{1470E53C-A424-A0DA-01E1-4C1F40984C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1750" y="5562600"/>
            <a:ext cx="184150" cy="457200"/>
          </a:xfrm>
          <a:prstGeom prst="rect">
            <a:avLst/>
          </a:prstGeom>
          <a:noFill/>
          <a:ln w="9525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GB" sz="2400"/>
          </a:p>
        </p:txBody>
      </p:sp>
      <p:sp>
        <p:nvSpPr>
          <p:cNvPr id="4" name="Text Box 1032">
            <a:extLst>
              <a:ext uri="{FF2B5EF4-FFF2-40B4-BE49-F238E27FC236}">
                <a16:creationId xmlns:a16="http://schemas.microsoft.com/office/drawing/2014/main" id="{26B76E1E-E843-21A5-5B48-C37D1F75DA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381000"/>
            <a:ext cx="3546475" cy="366713"/>
          </a:xfrm>
          <a:prstGeom prst="rect">
            <a:avLst/>
          </a:prstGeom>
          <a:noFill/>
          <a:ln w="9525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pPr algn="l">
              <a:defRPr/>
            </a:pPr>
            <a:r>
              <a:rPr lang="en-US" sz="1400" b="1" i="0">
                <a:solidFill>
                  <a:srgbClr val="FF3300"/>
                </a:solidFill>
                <a:latin typeface="Lucida Sans" pitchFamily="34" charset="0"/>
              </a:rPr>
              <a:t>DSM/EE Training Program - Vietnam</a:t>
            </a:r>
            <a:r>
              <a:rPr lang="en-US" sz="1800" i="0" noProof="1">
                <a:solidFill>
                  <a:srgbClr val="000000"/>
                </a:solidFill>
              </a:rPr>
              <a:t> </a:t>
            </a:r>
          </a:p>
        </p:txBody>
      </p:sp>
      <p:pic>
        <p:nvPicPr>
          <p:cNvPr id="5" name="Picture 1034" descr="Boxes IIEC Small">
            <a:extLst>
              <a:ext uri="{FF2B5EF4-FFF2-40B4-BE49-F238E27FC236}">
                <a16:creationId xmlns:a16="http://schemas.microsoft.com/office/drawing/2014/main" id="{DAC45B29-1473-9924-65BA-70B520313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1600200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1036">
            <a:extLst>
              <a:ext uri="{FF2B5EF4-FFF2-40B4-BE49-F238E27FC236}">
                <a16:creationId xmlns:a16="http://schemas.microsoft.com/office/drawing/2014/main" id="{44AEEA29-3AF5-9BEB-5A04-DEE804BE57D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1066800"/>
            <a:ext cx="3265488" cy="366713"/>
          </a:xfrm>
          <a:prstGeom prst="rect">
            <a:avLst/>
          </a:prstGeom>
          <a:noFill/>
          <a:ln w="9525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pPr algn="l">
              <a:defRPr/>
            </a:pPr>
            <a:r>
              <a:rPr lang="en-US" sz="1400" b="1">
                <a:solidFill>
                  <a:srgbClr val="008000"/>
                </a:solidFill>
                <a:latin typeface="Monotype Corsiva" pitchFamily="66" charset="0"/>
              </a:rPr>
              <a:t>International Institute for Energy Conservation</a:t>
            </a:r>
            <a:r>
              <a:rPr lang="en-US" sz="1800" i="0" noProof="1">
                <a:solidFill>
                  <a:srgbClr val="000000"/>
                </a:solidFill>
                <a:latin typeface="Monotype Corsiva" pitchFamily="66" charset="0"/>
              </a:rPr>
              <a:t> </a:t>
            </a:r>
          </a:p>
        </p:txBody>
      </p:sp>
      <p:sp>
        <p:nvSpPr>
          <p:cNvPr id="33795" name="Rectangle 1027"/>
          <p:cNvSpPr>
            <a:spLocks noGrp="1" noChangeArrowheads="1"/>
          </p:cNvSpPr>
          <p:nvPr>
            <p:ph type="ctrTitle" sz="quarter"/>
          </p:nvPr>
        </p:nvSpPr>
        <p:spPr>
          <a:xfrm>
            <a:off x="1219200" y="2438400"/>
            <a:ext cx="6705600" cy="1828800"/>
          </a:xfrm>
        </p:spPr>
        <p:txBody>
          <a:bodyPr/>
          <a:lstStyle>
            <a:lvl1pPr algn="ctr">
              <a:defRPr sz="2800">
                <a:latin typeface="Copperplate Gothic Bold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3796" name="Rectangle 102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219200" y="4419600"/>
            <a:ext cx="67056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1029">
            <a:extLst>
              <a:ext uri="{FF2B5EF4-FFF2-40B4-BE49-F238E27FC236}">
                <a16:creationId xmlns:a16="http://schemas.microsoft.com/office/drawing/2014/main" id="{90D21B74-3DC8-4A17-AE8E-F36C205DB91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319838"/>
            <a:ext cx="2895600" cy="4572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030">
            <a:extLst>
              <a:ext uri="{FF2B5EF4-FFF2-40B4-BE49-F238E27FC236}">
                <a16:creationId xmlns:a16="http://schemas.microsoft.com/office/drawing/2014/main" id="{535881FC-8178-F098-2533-01E5D97ED95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7558088" y="6330950"/>
            <a:ext cx="1481137" cy="433388"/>
          </a:xfrm>
        </p:spPr>
        <p:txBody>
          <a:bodyPr/>
          <a:lstStyle>
            <a:lvl1pPr>
              <a:defRPr/>
            </a:lvl1pPr>
          </a:lstStyle>
          <a:p>
            <a:fld id="{840350EA-D04F-4D6E-B388-ACCF074B0E3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Rectangle 1033">
            <a:extLst>
              <a:ext uri="{FF2B5EF4-FFF2-40B4-BE49-F238E27FC236}">
                <a16:creationId xmlns:a16="http://schemas.microsoft.com/office/drawing/2014/main" id="{C2F5366D-D975-7B1D-7E28-84CE3B4F9015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xfrm>
            <a:off x="114300" y="6319838"/>
            <a:ext cx="1409700" cy="4445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900288"/>
      </p:ext>
    </p:extLst>
  </p:cSld>
  <p:clrMapOvr>
    <a:masterClrMapping/>
  </p:clrMapOvr>
  <p:transition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BA3F42-E944-10DD-8643-40D48D84E7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DSM/EE Training Program - Vietnam</a:t>
            </a:r>
            <a:r>
              <a:rPr lang="en-US" b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02E602-80EE-8A6C-E4B1-0652F4D13A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60BF6AF-FCE2-4327-A1C3-6623E0C1A8D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58BB9F3-C0E4-03EB-4CD7-1353C4C94C0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418648"/>
      </p:ext>
    </p:extLst>
  </p:cSld>
  <p:clrMapOvr>
    <a:masterClrMapping/>
  </p:clrMapOvr>
  <p:transition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5281F0-E7C0-8F7C-2BC2-0A4AF96121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DSM/EE Training Program - Vietnam</a:t>
            </a:r>
            <a:r>
              <a:rPr lang="en-US" b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D19874-6BF9-BE34-7CFE-28A1262B9F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E53EB77-5792-4819-9DCD-C8AD384AF6D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086C200-0CF9-D172-2902-896355B266A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605642"/>
      </p:ext>
    </p:extLst>
  </p:cSld>
  <p:clrMapOvr>
    <a:masterClrMapping/>
  </p:clrMapOvr>
  <p:transition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0188" y="1752600"/>
            <a:ext cx="3724275" cy="4486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863" y="1752600"/>
            <a:ext cx="3724275" cy="4486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F86A3-230C-F87A-91BE-6EA1EA7A630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DSM/EE Training Program - Vietnam</a:t>
            </a:r>
            <a:r>
              <a:rPr lang="en-US" b="0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EA3E9-4670-406B-77D5-E8D053E64E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D7EC9A3-FF69-4AD6-88ED-F725559022F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8B5642-28F1-20C3-2325-DBB7C690B9E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048187"/>
      </p:ext>
    </p:extLst>
  </p:cSld>
  <p:clrMapOvr>
    <a:masterClrMapping/>
  </p:clrMapOvr>
  <p:transition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CB6B424-A4E4-99D9-CEAA-9F1CE3FCCD5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DSM/EE Training Program - Vietnam</a:t>
            </a:r>
            <a:r>
              <a:rPr lang="en-US" b="0"/>
              <a:t>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937D702-E48A-F258-619D-818DCF700D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6A9B09A-0A77-4EC1-B068-BD4AC1154BE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9F3DDB8-89DB-2308-4469-1095C438478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343976"/>
      </p:ext>
    </p:extLst>
  </p:cSld>
  <p:clrMapOvr>
    <a:masterClrMapping/>
  </p:clrMapOvr>
  <p:transition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2D9494-7D10-4BAA-B5CE-A340379F3D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DSM/EE Training Program - Vietnam</a:t>
            </a:r>
            <a:r>
              <a:rPr lang="en-US" b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D20E9E-FDDA-9DE9-873C-B45CC267EA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C22E8C3-0B84-4E01-8D4C-7966F01C1DB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0F25CA-0C48-6FBB-E9EE-075E3ED75C9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549502"/>
      </p:ext>
    </p:extLst>
  </p:cSld>
  <p:clrMapOvr>
    <a:masterClrMapping/>
  </p:clrMapOvr>
  <p:transition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801F2-3AFE-D7D4-17D5-0C672C295D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DSM/EE Training Program - Vietnam</a:t>
            </a:r>
            <a:r>
              <a:rPr lang="en-US" b="0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784EF-F8C3-989A-8CEE-D8EC9A6FD7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8FCC484-4DEF-4432-A250-092E2AD4EE6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CBD53F-7A72-8C18-97BF-DD3CB140ED1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146930"/>
      </p:ext>
    </p:extLst>
  </p:cSld>
  <p:clrMapOvr>
    <a:masterClrMapping/>
  </p:clrMapOvr>
  <p:transition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90BCA-F279-C210-B439-7D0AF26DE7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DSM/EE Training Program - Vietnam</a:t>
            </a:r>
            <a:r>
              <a:rPr lang="en-US" b="0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66950-849E-E60A-BAFC-DDF804C0EF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DEE6456-64FF-4D5E-8ACA-A42B69209DF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D10FD-B6C8-C602-0AFB-A255CB88533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909330"/>
      </p:ext>
    </p:extLst>
  </p:cSld>
  <p:clrMapOvr>
    <a:masterClrMapping/>
  </p:clrMapOvr>
  <p:transition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F2FEAC-D7FA-887F-EE58-422791F832D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DSM/EE Training Program - Vietnam</a:t>
            </a:r>
            <a:r>
              <a:rPr lang="en-US" b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9A4F7-1C58-396B-A25B-73225E577F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41CC04F-35BC-4AF6-8826-E2683E69315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6678672-CAA7-793A-BC16-D235E482FB5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287811"/>
      </p:ext>
    </p:extLst>
  </p:cSld>
  <p:clrMapOvr>
    <a:masterClrMapping/>
  </p:clrMapOvr>
  <p:transition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00900" y="228600"/>
            <a:ext cx="1900238" cy="60102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00188" y="228600"/>
            <a:ext cx="5548312" cy="60102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72FF02-425A-6B5E-F90D-5C999A863B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DSM/EE Training Program - Vietnam</a:t>
            </a:r>
            <a:r>
              <a:rPr lang="en-US" b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13CF97-7CE1-3C1C-E90A-00ADAB86A9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0EE7B6E-C880-46FA-BAD5-F0826EED7F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A9CEBA5-4397-2B98-99AD-4C8E3B8CF6C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414495"/>
      </p:ext>
    </p:extLst>
  </p:cSld>
  <p:clrMapOvr>
    <a:masterClrMapping/>
  </p:clrMapOvr>
  <p:transition>
    <p:dissolv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36F0D74-E9B4-9461-3F16-E6A063BE1C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500188" y="228600"/>
            <a:ext cx="76009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4E91723F-6186-1E31-A60A-0B41548390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500188" y="1752600"/>
            <a:ext cx="7600950" cy="448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32EBB724-22F1-E79A-5E4C-416A4ACDEED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319838"/>
            <a:ext cx="3200400" cy="44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 b="1" i="0">
                <a:solidFill>
                  <a:srgbClr val="FF33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DSM/EE Training Program - Vietnam </a:t>
            </a:r>
          </a:p>
        </p:txBody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F1CE8447-9FAC-20CC-E602-1882AE501A0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86663" y="6319838"/>
            <a:ext cx="1481137" cy="433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 i="0"/>
            </a:lvl1pPr>
          </a:lstStyle>
          <a:p>
            <a:fld id="{5C2BCCD3-8BA4-4D39-AAF9-F9CF4D19693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2774" name="Rectangle 6">
            <a:extLst>
              <a:ext uri="{FF2B5EF4-FFF2-40B4-BE49-F238E27FC236}">
                <a16:creationId xmlns:a16="http://schemas.microsoft.com/office/drawing/2014/main" id="{4F0828CF-1355-B4A2-7036-D3EC67012D4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24000" y="6319838"/>
            <a:ext cx="1409700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l">
              <a:defRPr sz="1400" i="0"/>
            </a:lvl1pPr>
          </a:lstStyle>
          <a:p>
            <a:pPr>
              <a:defRPr/>
            </a:pPr>
            <a:endParaRPr lang="en-US"/>
          </a:p>
        </p:txBody>
      </p:sp>
      <p:grpSp>
        <p:nvGrpSpPr>
          <p:cNvPr id="3079" name="Group 7">
            <a:extLst>
              <a:ext uri="{FF2B5EF4-FFF2-40B4-BE49-F238E27FC236}">
                <a16:creationId xmlns:a16="http://schemas.microsoft.com/office/drawing/2014/main" id="{F97D6C62-BEAB-35CD-BC56-EB5278BF9D50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52538" cy="6858000"/>
            <a:chOff x="0" y="0"/>
            <a:chExt cx="789" cy="4320"/>
          </a:xfrm>
        </p:grpSpPr>
        <p:pic>
          <p:nvPicPr>
            <p:cNvPr id="3081" name="Picture 8" descr="Box1">
              <a:extLst>
                <a:ext uri="{FF2B5EF4-FFF2-40B4-BE49-F238E27FC236}">
                  <a16:creationId xmlns:a16="http://schemas.microsoft.com/office/drawing/2014/main" id="{974489B9-5E87-AD2F-BF0E-37AC49A328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789" cy="8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2" name="Picture 9" descr="Box2">
              <a:extLst>
                <a:ext uri="{FF2B5EF4-FFF2-40B4-BE49-F238E27FC236}">
                  <a16:creationId xmlns:a16="http://schemas.microsoft.com/office/drawing/2014/main" id="{3496FA1F-7BD1-B4EA-4703-6C57A95BF1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157"/>
              <a:ext cx="789" cy="8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3" name="Picture 10" descr="Box3">
              <a:extLst>
                <a:ext uri="{FF2B5EF4-FFF2-40B4-BE49-F238E27FC236}">
                  <a16:creationId xmlns:a16="http://schemas.microsoft.com/office/drawing/2014/main" id="{8A43ECD8-EB7C-C024-9F67-8A5C2E18C7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352"/>
              <a:ext cx="789" cy="8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4" name="Picture 11" descr="Box4">
              <a:extLst>
                <a:ext uri="{FF2B5EF4-FFF2-40B4-BE49-F238E27FC236}">
                  <a16:creationId xmlns:a16="http://schemas.microsoft.com/office/drawing/2014/main" id="{704068E3-5E2A-9C26-F18C-C4D953FF44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509"/>
              <a:ext cx="789" cy="8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2780" name="Line 12">
            <a:extLst>
              <a:ext uri="{FF2B5EF4-FFF2-40B4-BE49-F238E27FC236}">
                <a16:creationId xmlns:a16="http://schemas.microsoft.com/office/drawing/2014/main" id="{645B502D-58A9-73DE-2BEB-C5582129D69C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1371600"/>
            <a:ext cx="7696200" cy="0"/>
          </a:xfrm>
          <a:prstGeom prst="line">
            <a:avLst/>
          </a:prstGeom>
          <a:noFill/>
          <a:ln w="9525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</p:sldLayoutIdLst>
  <p:transition>
    <p:dissolve/>
  </p:transition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ahoma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ahoma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ahoma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ahoma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SzPct val="75000"/>
        <a:buFont typeface="Wingdings" panose="05000000000000000000" pitchFamily="2" charset="2"/>
        <a:buChar char="l"/>
        <a:defRPr kumimoji="1" sz="2600" b="1">
          <a:solidFill>
            <a:schemeClr val="folHlink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Char char="–"/>
        <a:defRPr kumimoji="1"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Char char="•"/>
        <a:defRPr kumimoji="1" sz="2400">
          <a:solidFill>
            <a:srgbClr val="0033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Char char="–"/>
        <a:defRPr kumimoji="1"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Char char="•"/>
        <a:defRPr kumimoji="1"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Char char="•"/>
        <a:defRPr kumimoji="1"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Char char="•"/>
        <a:defRPr kumimoji="1"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Char char="•"/>
        <a:defRPr kumimoji="1"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Char char="•"/>
        <a:defRPr kumimoji="1"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0F103CD-1BC9-DD77-3294-1441F316D06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2743200"/>
            <a:ext cx="8839200" cy="1524000"/>
          </a:xfrm>
        </p:spPr>
        <p:txBody>
          <a:bodyPr/>
          <a:lstStyle/>
          <a:p>
            <a:r>
              <a:rPr lang="en-US" altLang="en-US" sz="3200" b="1">
                <a:solidFill>
                  <a:schemeClr val="folHlink"/>
                </a:solidFill>
              </a:rPr>
              <a:t>CHƯƠNG 3</a:t>
            </a:r>
            <a:br>
              <a:rPr lang="en-US" altLang="en-US" sz="3200" b="1">
                <a:solidFill>
                  <a:schemeClr val="folHlink"/>
                </a:solidFill>
              </a:rPr>
            </a:br>
            <a:r>
              <a:rPr lang="en-US" altLang="en-US" sz="3200" b="1">
                <a:solidFill>
                  <a:schemeClr val="folHlink"/>
                </a:solidFill>
              </a:rPr>
              <a:t>PHÂN TÍCH PHƯƠNG ÁN ĐẦU TƯ</a:t>
            </a:r>
            <a:br>
              <a:rPr lang="en-US" altLang="en-US" sz="3200" b="1">
                <a:solidFill>
                  <a:schemeClr val="folHlink"/>
                </a:solidFill>
              </a:rPr>
            </a:br>
            <a:r>
              <a:rPr lang="en-US" altLang="en-US" sz="3200" b="1">
                <a:solidFill>
                  <a:schemeClr val="folHlink"/>
                </a:solidFill>
              </a:rPr>
              <a:t>THEO GIÁ TRỊ TƯƠNG ĐƯƠNG</a:t>
            </a:r>
          </a:p>
        </p:txBody>
      </p:sp>
      <p:sp>
        <p:nvSpPr>
          <p:cNvPr id="14339" name="Rectangle 5">
            <a:extLst>
              <a:ext uri="{FF2B5EF4-FFF2-40B4-BE49-F238E27FC236}">
                <a16:creationId xmlns:a16="http://schemas.microsoft.com/office/drawing/2014/main" id="{E73495C0-AF2D-0FE4-BA4D-4DEF21E44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8138" y="457200"/>
            <a:ext cx="6248400" cy="11430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400" b="1">
                <a:solidFill>
                  <a:schemeClr val="folHlink"/>
                </a:solidFill>
              </a:rPr>
              <a:t>MÔN HỌC: QUẢN LÝ DOANH NGHIỆP</a:t>
            </a:r>
          </a:p>
        </p:txBody>
      </p:sp>
      <p:pic>
        <p:nvPicPr>
          <p:cNvPr id="14341" name="Picture 9">
            <a:extLst>
              <a:ext uri="{FF2B5EF4-FFF2-40B4-BE49-F238E27FC236}">
                <a16:creationId xmlns:a16="http://schemas.microsoft.com/office/drawing/2014/main" id="{7A2A6761-9DB3-C9B9-8DBD-AFD0CDA5C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000" b="-667"/>
          <a:stretch>
            <a:fillRect/>
          </a:stretch>
        </p:blipFill>
        <p:spPr bwMode="auto">
          <a:xfrm>
            <a:off x="0" y="1998663"/>
            <a:ext cx="108585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14342" name="Rectangle 10">
            <a:extLst>
              <a:ext uri="{FF2B5EF4-FFF2-40B4-BE49-F238E27FC236}">
                <a16:creationId xmlns:a16="http://schemas.microsoft.com/office/drawing/2014/main" id="{48B85D38-1F95-C4A6-44DB-9CCA4C2E8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943600"/>
            <a:ext cx="9144000" cy="9144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400" b="1">
                <a:solidFill>
                  <a:schemeClr val="folHlink"/>
                </a:solidFill>
              </a:rPr>
              <a:t>     </a:t>
            </a:r>
            <a:r>
              <a:rPr lang="en-US" altLang="en-US" sz="2400" b="1">
                <a:solidFill>
                  <a:srgbClr val="008000"/>
                </a:solidFill>
              </a:rPr>
              <a:t>GIÁO TRÌNH PHÂN TÍCH DỰ ÁN ĐẦU TƯ - GS. PHẠM PHỤ</a:t>
            </a:r>
          </a:p>
        </p:txBody>
      </p:sp>
    </p:spTree>
  </p:cSld>
  <p:clrMapOvr>
    <a:masterClrMapping/>
  </p:clrMapOvr>
  <p:transition>
    <p:dissolv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D8BD86A-505C-CD15-C5A6-FDB9092F82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altLang="en-US" b="1">
                <a:solidFill>
                  <a:schemeClr val="folHlink"/>
                </a:solidFill>
                <a:latin typeface="Arial" panose="020B0604020202020204" pitchFamily="34" charset="0"/>
              </a:rPr>
              <a:t>NỘI DUNG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00595D4C-8E4B-9D2F-7A05-3941ACEA2E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95400" y="1752600"/>
            <a:ext cx="7848600" cy="3276600"/>
          </a:xfrm>
        </p:spPr>
        <p:txBody>
          <a:bodyPr/>
          <a:lstStyle/>
          <a:p>
            <a:endParaRPr lang="en-US" altLang="en-US" b="0"/>
          </a:p>
          <a:p>
            <a:endParaRPr lang="en-US" altLang="en-US" b="0"/>
          </a:p>
        </p:txBody>
      </p:sp>
      <p:sp>
        <p:nvSpPr>
          <p:cNvPr id="15364" name="AutoShape 43">
            <a:extLst>
              <a:ext uri="{FF2B5EF4-FFF2-40B4-BE49-F238E27FC236}">
                <a16:creationId xmlns:a16="http://schemas.microsoft.com/office/drawing/2014/main" id="{4BC657D5-36E9-5084-F3B3-B1B90DD8DE1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95488" y="5251450"/>
            <a:ext cx="4862512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en-US" sz="2400" b="1" i="0">
                <a:latin typeface="Arial" panose="020B0604020202020204" pitchFamily="34" charset="0"/>
              </a:rPr>
              <a:t>Phương pháp giá trị hàng năm</a:t>
            </a:r>
          </a:p>
        </p:txBody>
      </p:sp>
      <p:sp>
        <p:nvSpPr>
          <p:cNvPr id="15365" name="AutoShape 44">
            <a:extLst>
              <a:ext uri="{FF2B5EF4-FFF2-40B4-BE49-F238E27FC236}">
                <a16:creationId xmlns:a16="http://schemas.microsoft.com/office/drawing/2014/main" id="{7F95F7E4-AFB3-4315-E132-FDDF609778B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490788" y="4424363"/>
            <a:ext cx="4900612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en-US" sz="2400" b="1" i="0">
                <a:latin typeface="Arial" panose="020B0604020202020204" pitchFamily="34" charset="0"/>
              </a:rPr>
              <a:t>Phương pháp giá trị tương lai</a:t>
            </a:r>
          </a:p>
        </p:txBody>
      </p:sp>
      <p:sp>
        <p:nvSpPr>
          <p:cNvPr id="15366" name="AutoShape 45">
            <a:extLst>
              <a:ext uri="{FF2B5EF4-FFF2-40B4-BE49-F238E27FC236}">
                <a16:creationId xmlns:a16="http://schemas.microsoft.com/office/drawing/2014/main" id="{5BE7AB67-F58E-C9BC-82DC-3A2A4DB06CD2}"/>
              </a:ext>
            </a:extLst>
          </p:cNvPr>
          <p:cNvSpPr>
            <a:spLocks noChangeArrowheads="1"/>
          </p:cNvSpPr>
          <p:nvPr/>
        </p:nvSpPr>
        <p:spPr bwMode="gray">
          <a:xfrm>
            <a:off x="2611438" y="3611563"/>
            <a:ext cx="5160962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en-US" sz="2400" b="1" i="0">
                <a:latin typeface="Arial" panose="020B0604020202020204" pitchFamily="34" charset="0"/>
              </a:rPr>
              <a:t>Phương pháp giá trị hiện tại</a:t>
            </a:r>
          </a:p>
        </p:txBody>
      </p:sp>
      <p:sp>
        <p:nvSpPr>
          <p:cNvPr id="15367" name="AutoShape 46">
            <a:extLst>
              <a:ext uri="{FF2B5EF4-FFF2-40B4-BE49-F238E27FC236}">
                <a16:creationId xmlns:a16="http://schemas.microsoft.com/office/drawing/2014/main" id="{07F1BCAA-9EB3-32BA-3191-5A20A78FCCCC}"/>
              </a:ext>
            </a:extLst>
          </p:cNvPr>
          <p:cNvSpPr>
            <a:spLocks noChangeArrowheads="1"/>
          </p:cNvSpPr>
          <p:nvPr/>
        </p:nvSpPr>
        <p:spPr bwMode="gray">
          <a:xfrm>
            <a:off x="2459038" y="2667000"/>
            <a:ext cx="5237162" cy="762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en-US" sz="2400" b="1" i="0">
                <a:latin typeface="Arial" panose="020B0604020202020204" pitchFamily="34" charset="0"/>
              </a:rPr>
              <a:t>Một số nguyên tắc chung trong </a:t>
            </a:r>
          </a:p>
          <a:p>
            <a:pPr algn="l"/>
            <a:r>
              <a:rPr lang="en-US" altLang="en-US" sz="2400" b="1" i="0">
                <a:latin typeface="Arial" panose="020B0604020202020204" pitchFamily="34" charset="0"/>
              </a:rPr>
              <a:t>so sánh phương án</a:t>
            </a:r>
          </a:p>
        </p:txBody>
      </p:sp>
      <p:sp>
        <p:nvSpPr>
          <p:cNvPr id="15368" name="AutoShape 47">
            <a:extLst>
              <a:ext uri="{FF2B5EF4-FFF2-40B4-BE49-F238E27FC236}">
                <a16:creationId xmlns:a16="http://schemas.microsoft.com/office/drawing/2014/main" id="{FFF94C0C-23A9-3A7A-E266-5E7399332C69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38338" y="1973263"/>
            <a:ext cx="441960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en-US" sz="2400" b="1" i="0">
                <a:latin typeface="Arial" panose="020B0604020202020204" pitchFamily="34" charset="0"/>
              </a:rPr>
              <a:t>Các Phương pháp Phân tích </a:t>
            </a:r>
          </a:p>
        </p:txBody>
      </p:sp>
      <p:grpSp>
        <p:nvGrpSpPr>
          <p:cNvPr id="15369" name="Group 48">
            <a:extLst>
              <a:ext uri="{FF2B5EF4-FFF2-40B4-BE49-F238E27FC236}">
                <a16:creationId xmlns:a16="http://schemas.microsoft.com/office/drawing/2014/main" id="{B41F4A2A-77B9-E109-50DF-2A4CFC11307B}"/>
              </a:ext>
            </a:extLst>
          </p:cNvPr>
          <p:cNvGrpSpPr>
            <a:grpSpLocks/>
          </p:cNvGrpSpPr>
          <p:nvPr/>
        </p:nvGrpSpPr>
        <p:grpSpPr bwMode="auto">
          <a:xfrm>
            <a:off x="1620838" y="2062163"/>
            <a:ext cx="381000" cy="381000"/>
            <a:chOff x="2078" y="1680"/>
            <a:chExt cx="1615" cy="1615"/>
          </a:xfrm>
        </p:grpSpPr>
        <p:sp>
          <p:nvSpPr>
            <p:cNvPr id="15398" name="Oval 49">
              <a:extLst>
                <a:ext uri="{FF2B5EF4-FFF2-40B4-BE49-F238E27FC236}">
                  <a16:creationId xmlns:a16="http://schemas.microsoft.com/office/drawing/2014/main" id="{835FA106-D47F-E96E-4CC5-DD600A418CA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571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/>
              <a:endParaRPr lang="en-US" altLang="en-US" sz="1800" i="0">
                <a:latin typeface="Arial" panose="020B0604020202020204" pitchFamily="34" charset="0"/>
              </a:endParaRPr>
            </a:p>
          </p:txBody>
        </p:sp>
        <p:sp>
          <p:nvSpPr>
            <p:cNvPr id="15399" name="Oval 50">
              <a:extLst>
                <a:ext uri="{FF2B5EF4-FFF2-40B4-BE49-F238E27FC236}">
                  <a16:creationId xmlns:a16="http://schemas.microsoft.com/office/drawing/2014/main" id="{14DDE30B-D616-BAA1-B867-8CE952BA274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/>
              <a:endParaRPr lang="en-US" altLang="en-US" sz="1800" i="0">
                <a:latin typeface="Arial" panose="020B0604020202020204" pitchFamily="34" charset="0"/>
              </a:endParaRPr>
            </a:p>
          </p:txBody>
        </p:sp>
        <p:sp>
          <p:nvSpPr>
            <p:cNvPr id="88115" name="Oval 51">
              <a:extLst>
                <a:ext uri="{FF2B5EF4-FFF2-40B4-BE49-F238E27FC236}">
                  <a16:creationId xmlns:a16="http://schemas.microsoft.com/office/drawing/2014/main" id="{93F35079-ABBC-1CC3-15C9-CB4E57EE0CC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l" eaLnBrk="1" hangingPunct="1">
                <a:defRPr/>
              </a:pPr>
              <a:endParaRPr lang="en-US" sz="1800" i="0">
                <a:latin typeface="Arial" charset="0"/>
              </a:endParaRPr>
            </a:p>
          </p:txBody>
        </p:sp>
        <p:sp>
          <p:nvSpPr>
            <p:cNvPr id="15401" name="Oval 52">
              <a:extLst>
                <a:ext uri="{FF2B5EF4-FFF2-40B4-BE49-F238E27FC236}">
                  <a16:creationId xmlns:a16="http://schemas.microsoft.com/office/drawing/2014/main" id="{0A37CA5F-88B6-3B57-466D-4A89ED73E5D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/>
              <a:endParaRPr lang="en-US" altLang="en-US" sz="1800" i="0">
                <a:latin typeface="Arial" panose="020B0604020202020204" pitchFamily="34" charset="0"/>
              </a:endParaRPr>
            </a:p>
          </p:txBody>
        </p:sp>
        <p:sp>
          <p:nvSpPr>
            <p:cNvPr id="88117" name="Oval 53">
              <a:extLst>
                <a:ext uri="{FF2B5EF4-FFF2-40B4-BE49-F238E27FC236}">
                  <a16:creationId xmlns:a16="http://schemas.microsoft.com/office/drawing/2014/main" id="{EDF91479-6463-F4C8-7178-9B683FEB27E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l" eaLnBrk="1" hangingPunct="1">
                <a:defRPr/>
              </a:pPr>
              <a:endParaRPr lang="en-US" sz="1800" i="0">
                <a:latin typeface="Arial" charset="0"/>
              </a:endParaRPr>
            </a:p>
          </p:txBody>
        </p:sp>
        <p:sp>
          <p:nvSpPr>
            <p:cNvPr id="15403" name="Oval 54">
              <a:extLst>
                <a:ext uri="{FF2B5EF4-FFF2-40B4-BE49-F238E27FC236}">
                  <a16:creationId xmlns:a16="http://schemas.microsoft.com/office/drawing/2014/main" id="{D4C72E2F-3E55-E0A9-5956-DA69DA60678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/>
              <a:endParaRPr lang="en-US" altLang="en-US" sz="1800" i="0">
                <a:latin typeface="Arial" panose="020B0604020202020204" pitchFamily="34" charset="0"/>
              </a:endParaRPr>
            </a:p>
          </p:txBody>
        </p:sp>
      </p:grpSp>
      <p:grpSp>
        <p:nvGrpSpPr>
          <p:cNvPr id="15370" name="Group 55">
            <a:extLst>
              <a:ext uri="{FF2B5EF4-FFF2-40B4-BE49-F238E27FC236}">
                <a16:creationId xmlns:a16="http://schemas.microsoft.com/office/drawing/2014/main" id="{F0D99E73-7078-83E0-A6F1-65D02CBC5234}"/>
              </a:ext>
            </a:extLst>
          </p:cNvPr>
          <p:cNvGrpSpPr>
            <a:grpSpLocks/>
          </p:cNvGrpSpPr>
          <p:nvPr/>
        </p:nvGrpSpPr>
        <p:grpSpPr bwMode="auto">
          <a:xfrm>
            <a:off x="2154238" y="2849563"/>
            <a:ext cx="381000" cy="381000"/>
            <a:chOff x="2078" y="1680"/>
            <a:chExt cx="1615" cy="1615"/>
          </a:xfrm>
        </p:grpSpPr>
        <p:sp>
          <p:nvSpPr>
            <p:cNvPr id="15392" name="Oval 56">
              <a:extLst>
                <a:ext uri="{FF2B5EF4-FFF2-40B4-BE49-F238E27FC236}">
                  <a16:creationId xmlns:a16="http://schemas.microsoft.com/office/drawing/2014/main" id="{F6205757-A31A-C401-86FF-DAB3DB75226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571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/>
              <a:endParaRPr lang="en-US" altLang="en-US" sz="1800" i="0">
                <a:latin typeface="Arial" panose="020B0604020202020204" pitchFamily="34" charset="0"/>
              </a:endParaRPr>
            </a:p>
          </p:txBody>
        </p:sp>
        <p:sp>
          <p:nvSpPr>
            <p:cNvPr id="15393" name="Oval 57">
              <a:extLst>
                <a:ext uri="{FF2B5EF4-FFF2-40B4-BE49-F238E27FC236}">
                  <a16:creationId xmlns:a16="http://schemas.microsoft.com/office/drawing/2014/main" id="{DC302ED3-BB85-D9E6-2D90-9C862BDBA8B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/>
              <a:endParaRPr lang="en-US" altLang="en-US" sz="1800" i="0">
                <a:latin typeface="Arial" panose="020B0604020202020204" pitchFamily="34" charset="0"/>
              </a:endParaRPr>
            </a:p>
          </p:txBody>
        </p:sp>
        <p:sp>
          <p:nvSpPr>
            <p:cNvPr id="88122" name="Oval 58">
              <a:extLst>
                <a:ext uri="{FF2B5EF4-FFF2-40B4-BE49-F238E27FC236}">
                  <a16:creationId xmlns:a16="http://schemas.microsoft.com/office/drawing/2014/main" id="{5CDFAB43-59A6-CF8A-262D-D965FFDB0A9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l" eaLnBrk="1" hangingPunct="1">
                <a:defRPr/>
              </a:pPr>
              <a:endParaRPr lang="en-US" sz="1800" i="0">
                <a:latin typeface="Arial" charset="0"/>
              </a:endParaRPr>
            </a:p>
          </p:txBody>
        </p:sp>
        <p:sp>
          <p:nvSpPr>
            <p:cNvPr id="15395" name="Oval 59">
              <a:extLst>
                <a:ext uri="{FF2B5EF4-FFF2-40B4-BE49-F238E27FC236}">
                  <a16:creationId xmlns:a16="http://schemas.microsoft.com/office/drawing/2014/main" id="{AC90EBA5-1DBC-460A-0208-C86A039363B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/>
              <a:endParaRPr lang="en-US" altLang="en-US" sz="1800" i="0">
                <a:latin typeface="Arial" panose="020B0604020202020204" pitchFamily="34" charset="0"/>
              </a:endParaRPr>
            </a:p>
          </p:txBody>
        </p:sp>
        <p:sp>
          <p:nvSpPr>
            <p:cNvPr id="88124" name="Oval 60">
              <a:extLst>
                <a:ext uri="{FF2B5EF4-FFF2-40B4-BE49-F238E27FC236}">
                  <a16:creationId xmlns:a16="http://schemas.microsoft.com/office/drawing/2014/main" id="{C39F61DF-5D62-63B0-21F1-E1808EF5B28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l" eaLnBrk="1" hangingPunct="1">
                <a:defRPr/>
              </a:pPr>
              <a:endParaRPr lang="en-US" sz="1800" i="0">
                <a:latin typeface="Arial" charset="0"/>
              </a:endParaRPr>
            </a:p>
          </p:txBody>
        </p:sp>
        <p:sp>
          <p:nvSpPr>
            <p:cNvPr id="15397" name="Oval 61">
              <a:extLst>
                <a:ext uri="{FF2B5EF4-FFF2-40B4-BE49-F238E27FC236}">
                  <a16:creationId xmlns:a16="http://schemas.microsoft.com/office/drawing/2014/main" id="{CE49C5EC-88C5-B021-F49C-B2AB82CD473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/>
              <a:endParaRPr lang="en-US" altLang="en-US" sz="1800" i="0">
                <a:latin typeface="Arial" panose="020B0604020202020204" pitchFamily="34" charset="0"/>
              </a:endParaRPr>
            </a:p>
          </p:txBody>
        </p:sp>
      </p:grpSp>
      <p:grpSp>
        <p:nvGrpSpPr>
          <p:cNvPr id="15371" name="Group 62">
            <a:extLst>
              <a:ext uri="{FF2B5EF4-FFF2-40B4-BE49-F238E27FC236}">
                <a16:creationId xmlns:a16="http://schemas.microsoft.com/office/drawing/2014/main" id="{DC653EC2-87F7-24D5-B9DE-5B7F68FF1825}"/>
              </a:ext>
            </a:extLst>
          </p:cNvPr>
          <p:cNvGrpSpPr>
            <a:grpSpLocks/>
          </p:cNvGrpSpPr>
          <p:nvPr/>
        </p:nvGrpSpPr>
        <p:grpSpPr bwMode="auto">
          <a:xfrm>
            <a:off x="2306638" y="3687763"/>
            <a:ext cx="381000" cy="381000"/>
            <a:chOff x="2078" y="1680"/>
            <a:chExt cx="1615" cy="1615"/>
          </a:xfrm>
        </p:grpSpPr>
        <p:sp>
          <p:nvSpPr>
            <p:cNvPr id="15386" name="Oval 63">
              <a:extLst>
                <a:ext uri="{FF2B5EF4-FFF2-40B4-BE49-F238E27FC236}">
                  <a16:creationId xmlns:a16="http://schemas.microsoft.com/office/drawing/2014/main" id="{F2FC2475-D43E-BEF8-8111-06D7A9E9C24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571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/>
              <a:endParaRPr lang="en-US" altLang="en-US" sz="1800" i="0">
                <a:latin typeface="Arial" panose="020B0604020202020204" pitchFamily="34" charset="0"/>
              </a:endParaRPr>
            </a:p>
          </p:txBody>
        </p:sp>
        <p:sp>
          <p:nvSpPr>
            <p:cNvPr id="15387" name="Oval 64">
              <a:extLst>
                <a:ext uri="{FF2B5EF4-FFF2-40B4-BE49-F238E27FC236}">
                  <a16:creationId xmlns:a16="http://schemas.microsoft.com/office/drawing/2014/main" id="{D908E809-15DB-FD4C-25FC-8A91CFFDA47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/>
              <a:endParaRPr lang="en-US" altLang="en-US" sz="1800" i="0">
                <a:latin typeface="Arial" panose="020B0604020202020204" pitchFamily="34" charset="0"/>
              </a:endParaRPr>
            </a:p>
          </p:txBody>
        </p:sp>
        <p:sp>
          <p:nvSpPr>
            <p:cNvPr id="88129" name="Oval 65">
              <a:extLst>
                <a:ext uri="{FF2B5EF4-FFF2-40B4-BE49-F238E27FC236}">
                  <a16:creationId xmlns:a16="http://schemas.microsoft.com/office/drawing/2014/main" id="{B8512FE0-3544-014F-EF41-0F206ACF341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l" eaLnBrk="1" hangingPunct="1">
                <a:defRPr/>
              </a:pPr>
              <a:endParaRPr lang="en-US" sz="1800" i="0">
                <a:latin typeface="Arial" charset="0"/>
              </a:endParaRPr>
            </a:p>
          </p:txBody>
        </p:sp>
        <p:sp>
          <p:nvSpPr>
            <p:cNvPr id="15389" name="Oval 66">
              <a:extLst>
                <a:ext uri="{FF2B5EF4-FFF2-40B4-BE49-F238E27FC236}">
                  <a16:creationId xmlns:a16="http://schemas.microsoft.com/office/drawing/2014/main" id="{2DD8129A-CAC0-0517-E2E7-215BF0114B8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/>
              <a:endParaRPr lang="en-US" altLang="en-US" sz="1800" i="0">
                <a:latin typeface="Arial" panose="020B0604020202020204" pitchFamily="34" charset="0"/>
              </a:endParaRPr>
            </a:p>
          </p:txBody>
        </p:sp>
        <p:sp>
          <p:nvSpPr>
            <p:cNvPr id="88131" name="Oval 67">
              <a:extLst>
                <a:ext uri="{FF2B5EF4-FFF2-40B4-BE49-F238E27FC236}">
                  <a16:creationId xmlns:a16="http://schemas.microsoft.com/office/drawing/2014/main" id="{BBDF7F95-1816-C3C8-5213-EA7E099F91A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l" eaLnBrk="1" hangingPunct="1">
                <a:defRPr/>
              </a:pPr>
              <a:endParaRPr lang="en-US" sz="1800" i="0">
                <a:latin typeface="Arial" charset="0"/>
              </a:endParaRPr>
            </a:p>
          </p:txBody>
        </p:sp>
        <p:sp>
          <p:nvSpPr>
            <p:cNvPr id="15391" name="Oval 68">
              <a:extLst>
                <a:ext uri="{FF2B5EF4-FFF2-40B4-BE49-F238E27FC236}">
                  <a16:creationId xmlns:a16="http://schemas.microsoft.com/office/drawing/2014/main" id="{261CB6B1-D044-4131-509A-C24F723FDDF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/>
              <a:endParaRPr lang="en-US" altLang="en-US" sz="1800" i="0">
                <a:latin typeface="Arial" panose="020B0604020202020204" pitchFamily="34" charset="0"/>
              </a:endParaRPr>
            </a:p>
          </p:txBody>
        </p:sp>
      </p:grpSp>
      <p:grpSp>
        <p:nvGrpSpPr>
          <p:cNvPr id="15372" name="Group 69">
            <a:extLst>
              <a:ext uri="{FF2B5EF4-FFF2-40B4-BE49-F238E27FC236}">
                <a16:creationId xmlns:a16="http://schemas.microsoft.com/office/drawing/2014/main" id="{F0F52FCD-09DC-5726-3BBD-BD166FD14FDA}"/>
              </a:ext>
            </a:extLst>
          </p:cNvPr>
          <p:cNvGrpSpPr>
            <a:grpSpLocks/>
          </p:cNvGrpSpPr>
          <p:nvPr/>
        </p:nvGrpSpPr>
        <p:grpSpPr bwMode="auto">
          <a:xfrm>
            <a:off x="2154238" y="4525963"/>
            <a:ext cx="381000" cy="381000"/>
            <a:chOff x="2078" y="1680"/>
            <a:chExt cx="1615" cy="1615"/>
          </a:xfrm>
        </p:grpSpPr>
        <p:sp>
          <p:nvSpPr>
            <p:cNvPr id="15380" name="Oval 70">
              <a:extLst>
                <a:ext uri="{FF2B5EF4-FFF2-40B4-BE49-F238E27FC236}">
                  <a16:creationId xmlns:a16="http://schemas.microsoft.com/office/drawing/2014/main" id="{1FA5FE16-F15B-69CA-9637-88D1653C01D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571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/>
              <a:endParaRPr lang="en-US" altLang="en-US" sz="1800" i="0">
                <a:latin typeface="Arial" panose="020B0604020202020204" pitchFamily="34" charset="0"/>
              </a:endParaRPr>
            </a:p>
          </p:txBody>
        </p:sp>
        <p:sp>
          <p:nvSpPr>
            <p:cNvPr id="15381" name="Oval 71">
              <a:extLst>
                <a:ext uri="{FF2B5EF4-FFF2-40B4-BE49-F238E27FC236}">
                  <a16:creationId xmlns:a16="http://schemas.microsoft.com/office/drawing/2014/main" id="{C3B09FB2-6D57-A5C4-4072-09D53FBD9C8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/>
              <a:endParaRPr lang="en-US" altLang="en-US" sz="1800" i="0">
                <a:latin typeface="Arial" panose="020B0604020202020204" pitchFamily="34" charset="0"/>
              </a:endParaRPr>
            </a:p>
          </p:txBody>
        </p:sp>
        <p:sp>
          <p:nvSpPr>
            <p:cNvPr id="88136" name="Oval 72">
              <a:extLst>
                <a:ext uri="{FF2B5EF4-FFF2-40B4-BE49-F238E27FC236}">
                  <a16:creationId xmlns:a16="http://schemas.microsoft.com/office/drawing/2014/main" id="{CD7F4736-244A-F9EC-2546-480178C6EF3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l" eaLnBrk="1" hangingPunct="1">
                <a:defRPr/>
              </a:pPr>
              <a:endParaRPr lang="en-US" sz="1800" i="0">
                <a:latin typeface="Arial" charset="0"/>
              </a:endParaRPr>
            </a:p>
          </p:txBody>
        </p:sp>
        <p:sp>
          <p:nvSpPr>
            <p:cNvPr id="15383" name="Oval 73">
              <a:extLst>
                <a:ext uri="{FF2B5EF4-FFF2-40B4-BE49-F238E27FC236}">
                  <a16:creationId xmlns:a16="http://schemas.microsoft.com/office/drawing/2014/main" id="{CFDD4D21-B627-4F02-75A7-A46EA08B27B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/>
              <a:endParaRPr lang="en-US" altLang="en-US" sz="1800" i="0">
                <a:latin typeface="Arial" panose="020B0604020202020204" pitchFamily="34" charset="0"/>
              </a:endParaRPr>
            </a:p>
          </p:txBody>
        </p:sp>
        <p:sp>
          <p:nvSpPr>
            <p:cNvPr id="88138" name="Oval 74">
              <a:extLst>
                <a:ext uri="{FF2B5EF4-FFF2-40B4-BE49-F238E27FC236}">
                  <a16:creationId xmlns:a16="http://schemas.microsoft.com/office/drawing/2014/main" id="{7D9E1EC7-2C43-8EC9-7BD8-F958ACF7939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l" eaLnBrk="1" hangingPunct="1">
                <a:defRPr/>
              </a:pPr>
              <a:endParaRPr lang="en-US" sz="1800" i="0">
                <a:latin typeface="Arial" charset="0"/>
              </a:endParaRPr>
            </a:p>
          </p:txBody>
        </p:sp>
        <p:sp>
          <p:nvSpPr>
            <p:cNvPr id="15385" name="Oval 75">
              <a:extLst>
                <a:ext uri="{FF2B5EF4-FFF2-40B4-BE49-F238E27FC236}">
                  <a16:creationId xmlns:a16="http://schemas.microsoft.com/office/drawing/2014/main" id="{83BCE8C4-0543-DADE-427D-123337F2377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/>
              <a:endParaRPr lang="en-US" altLang="en-US" sz="1800" i="0">
                <a:latin typeface="Arial" panose="020B0604020202020204" pitchFamily="34" charset="0"/>
              </a:endParaRPr>
            </a:p>
          </p:txBody>
        </p:sp>
      </p:grpSp>
      <p:grpSp>
        <p:nvGrpSpPr>
          <p:cNvPr id="15373" name="Group 76">
            <a:extLst>
              <a:ext uri="{FF2B5EF4-FFF2-40B4-BE49-F238E27FC236}">
                <a16:creationId xmlns:a16="http://schemas.microsoft.com/office/drawing/2014/main" id="{84813296-E032-2915-4740-749618A17BE9}"/>
              </a:ext>
            </a:extLst>
          </p:cNvPr>
          <p:cNvGrpSpPr>
            <a:grpSpLocks/>
          </p:cNvGrpSpPr>
          <p:nvPr/>
        </p:nvGrpSpPr>
        <p:grpSpPr bwMode="auto">
          <a:xfrm>
            <a:off x="1697038" y="5300663"/>
            <a:ext cx="355600" cy="381000"/>
            <a:chOff x="2078" y="1680"/>
            <a:chExt cx="1615" cy="1615"/>
          </a:xfrm>
        </p:grpSpPr>
        <p:sp>
          <p:nvSpPr>
            <p:cNvPr id="15374" name="Oval 77">
              <a:extLst>
                <a:ext uri="{FF2B5EF4-FFF2-40B4-BE49-F238E27FC236}">
                  <a16:creationId xmlns:a16="http://schemas.microsoft.com/office/drawing/2014/main" id="{8EFCBB9E-2C31-850F-E4A5-CC2988A68A7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571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/>
              <a:endParaRPr lang="en-US" altLang="en-US" sz="1800" i="0">
                <a:latin typeface="Arial" panose="020B0604020202020204" pitchFamily="34" charset="0"/>
              </a:endParaRPr>
            </a:p>
          </p:txBody>
        </p:sp>
        <p:sp>
          <p:nvSpPr>
            <p:cNvPr id="15375" name="Oval 78">
              <a:extLst>
                <a:ext uri="{FF2B5EF4-FFF2-40B4-BE49-F238E27FC236}">
                  <a16:creationId xmlns:a16="http://schemas.microsoft.com/office/drawing/2014/main" id="{35E55871-FB07-B580-27EB-40E925A2B3D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/>
              <a:endParaRPr lang="en-US" altLang="en-US" sz="1800" i="0">
                <a:latin typeface="Arial" panose="020B0604020202020204" pitchFamily="34" charset="0"/>
              </a:endParaRPr>
            </a:p>
          </p:txBody>
        </p:sp>
        <p:sp>
          <p:nvSpPr>
            <p:cNvPr id="88143" name="Oval 79">
              <a:extLst>
                <a:ext uri="{FF2B5EF4-FFF2-40B4-BE49-F238E27FC236}">
                  <a16:creationId xmlns:a16="http://schemas.microsoft.com/office/drawing/2014/main" id="{D6FA5E79-69BB-0A5D-4210-305EFEC5E01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1" y="1855"/>
              <a:ext cx="1262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l" eaLnBrk="1" hangingPunct="1">
                <a:defRPr/>
              </a:pPr>
              <a:endParaRPr lang="en-US" sz="1800" i="0">
                <a:latin typeface="Arial" charset="0"/>
              </a:endParaRPr>
            </a:p>
          </p:txBody>
        </p:sp>
        <p:sp>
          <p:nvSpPr>
            <p:cNvPr id="15377" name="Oval 80">
              <a:extLst>
                <a:ext uri="{FF2B5EF4-FFF2-40B4-BE49-F238E27FC236}">
                  <a16:creationId xmlns:a16="http://schemas.microsoft.com/office/drawing/2014/main" id="{BAD918A4-56DB-6358-CACF-4C5EDC2FF98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/>
              <a:endParaRPr lang="en-US" altLang="en-US" sz="1800" i="0">
                <a:latin typeface="Arial" panose="020B0604020202020204" pitchFamily="34" charset="0"/>
              </a:endParaRPr>
            </a:p>
          </p:txBody>
        </p:sp>
        <p:sp>
          <p:nvSpPr>
            <p:cNvPr id="88145" name="Oval 81">
              <a:extLst>
                <a:ext uri="{FF2B5EF4-FFF2-40B4-BE49-F238E27FC236}">
                  <a16:creationId xmlns:a16="http://schemas.microsoft.com/office/drawing/2014/main" id="{91397C9C-CCD4-F135-7C1E-E7F9D829A29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8" y="1936"/>
              <a:ext cx="1096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l" eaLnBrk="1" hangingPunct="1">
                <a:defRPr/>
              </a:pPr>
              <a:endParaRPr lang="en-US" sz="1800" i="0">
                <a:latin typeface="Arial" charset="0"/>
              </a:endParaRPr>
            </a:p>
          </p:txBody>
        </p:sp>
        <p:sp>
          <p:nvSpPr>
            <p:cNvPr id="15379" name="Oval 82">
              <a:extLst>
                <a:ext uri="{FF2B5EF4-FFF2-40B4-BE49-F238E27FC236}">
                  <a16:creationId xmlns:a16="http://schemas.microsoft.com/office/drawing/2014/main" id="{C8CDC92C-3275-35DD-BD4D-179D84B4E26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6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1" hangingPunct="1"/>
              <a:endParaRPr lang="en-US" altLang="en-US" sz="1800" i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>
    <p:dissolv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Rectangle 2">
            <a:extLst>
              <a:ext uri="{FF2B5EF4-FFF2-40B4-BE49-F238E27FC236}">
                <a16:creationId xmlns:a16="http://schemas.microsoft.com/office/drawing/2014/main" id="{EDF2F32F-BB71-E493-E11D-8550489959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381000"/>
            <a:ext cx="8229600" cy="1143000"/>
          </a:xfrm>
        </p:spPr>
        <p:txBody>
          <a:bodyPr/>
          <a:lstStyle/>
          <a:p>
            <a:pPr algn="r"/>
            <a:r>
              <a:rPr lang="en-US" altLang="en-US" sz="3200" b="1" dirty="0">
                <a:solidFill>
                  <a:srgbClr val="008000"/>
                </a:solidFill>
                <a:latin typeface="Arial" panose="020B0604020202020204" pitchFamily="34" charset="0"/>
              </a:rPr>
              <a:t>CÁC PHƯƠNG PHÁP PHÂN TÍCH</a:t>
            </a:r>
            <a:br>
              <a:rPr lang="en-US" altLang="en-US" sz="3200" b="1" dirty="0">
                <a:solidFill>
                  <a:srgbClr val="008000"/>
                </a:solidFill>
                <a:latin typeface="Arial" panose="020B0604020202020204" pitchFamily="34" charset="0"/>
              </a:rPr>
            </a:br>
            <a:r>
              <a:rPr lang="en-US" altLang="en-US" sz="3200" b="1" dirty="0">
                <a:solidFill>
                  <a:srgbClr val="008000"/>
                </a:solidFill>
                <a:latin typeface="Arial" panose="020B0604020202020204" pitchFamily="34" charset="0"/>
              </a:rPr>
              <a:t>DỰ ÁN ĐẦU TƯ</a:t>
            </a:r>
          </a:p>
        </p:txBody>
      </p:sp>
      <p:grpSp>
        <p:nvGrpSpPr>
          <p:cNvPr id="2" name="Organization Chart 48">
            <a:extLst>
              <a:ext uri="{FF2B5EF4-FFF2-40B4-BE49-F238E27FC236}">
                <a16:creationId xmlns:a16="http://schemas.microsoft.com/office/drawing/2014/main" id="{0BD27581-F002-D27E-7180-D46207CFAE5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247775" y="1676400"/>
            <a:ext cx="7696200" cy="4876800"/>
            <a:chOff x="1152" y="1296"/>
            <a:chExt cx="2880" cy="2016"/>
          </a:xfrm>
        </p:grpSpPr>
        <p:cxnSp>
          <p:nvCxnSpPr>
            <p:cNvPr id="1028" name="_s1028">
              <a:extLst>
                <a:ext uri="{FF2B5EF4-FFF2-40B4-BE49-F238E27FC236}">
                  <a16:creationId xmlns:a16="http://schemas.microsoft.com/office/drawing/2014/main" id="{4C892490-617B-8A7B-173F-50EE2C8AB803}"/>
                </a:ext>
              </a:extLst>
            </p:cNvPr>
            <p:cNvCxnSpPr>
              <a:cxnSpLocks noChangeShapeType="1"/>
              <a:stCxn id="9" idx="1"/>
              <a:endCxn id="4" idx="2"/>
            </p:cNvCxnSpPr>
            <p:nvPr/>
          </p:nvCxnSpPr>
          <p:spPr bwMode="auto">
            <a:xfrm rot="10800000">
              <a:off x="1584" y="2016"/>
              <a:ext cx="144" cy="1153"/>
            </a:xfrm>
            <a:prstGeom prst="bentConnector2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9" name="_s1029">
              <a:extLst>
                <a:ext uri="{FF2B5EF4-FFF2-40B4-BE49-F238E27FC236}">
                  <a16:creationId xmlns:a16="http://schemas.microsoft.com/office/drawing/2014/main" id="{C4367CC6-C524-FD8A-F905-5DFD9F5E133A}"/>
                </a:ext>
              </a:extLst>
            </p:cNvPr>
            <p:cNvCxnSpPr>
              <a:cxnSpLocks noChangeShapeType="1"/>
              <a:stCxn id="8" idx="1"/>
              <a:endCxn id="4" idx="2"/>
            </p:cNvCxnSpPr>
            <p:nvPr/>
          </p:nvCxnSpPr>
          <p:spPr bwMode="auto">
            <a:xfrm rot="10800000">
              <a:off x="1584" y="2016"/>
              <a:ext cx="144" cy="721"/>
            </a:xfrm>
            <a:prstGeom prst="bentConnector2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0" name="_s1030">
              <a:extLst>
                <a:ext uri="{FF2B5EF4-FFF2-40B4-BE49-F238E27FC236}">
                  <a16:creationId xmlns:a16="http://schemas.microsoft.com/office/drawing/2014/main" id="{1A7F5609-3FFB-6029-193F-4620AFD0F59B}"/>
                </a:ext>
              </a:extLst>
            </p:cNvPr>
            <p:cNvCxnSpPr>
              <a:cxnSpLocks noChangeShapeType="1"/>
              <a:stCxn id="7" idx="1"/>
              <a:endCxn id="4" idx="2"/>
            </p:cNvCxnSpPr>
            <p:nvPr/>
          </p:nvCxnSpPr>
          <p:spPr bwMode="auto">
            <a:xfrm rot="10800000">
              <a:off x="1584" y="2016"/>
              <a:ext cx="144" cy="288"/>
            </a:xfrm>
            <a:prstGeom prst="bentConnector2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1" name="_s1031">
              <a:extLst>
                <a:ext uri="{FF2B5EF4-FFF2-40B4-BE49-F238E27FC236}">
                  <a16:creationId xmlns:a16="http://schemas.microsoft.com/office/drawing/2014/main" id="{787AD37D-AC48-AADE-9926-A1F02E46C8E9}"/>
                </a:ext>
              </a:extLst>
            </p:cNvPr>
            <p:cNvCxnSpPr>
              <a:cxnSpLocks noChangeShapeType="1"/>
              <a:stCxn id="6" idx="0"/>
              <a:endCxn id="3" idx="2"/>
            </p:cNvCxnSpPr>
            <p:nvPr/>
          </p:nvCxnSpPr>
          <p:spPr bwMode="auto">
            <a:xfrm rot="5400000" flipH="1">
              <a:off x="3024" y="1152"/>
              <a:ext cx="144" cy="1008"/>
            </a:xfrm>
            <a:prstGeom prst="bentConnector3">
              <a:avLst>
                <a:gd name="adj1" fmla="val 50407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2" name="_s1032">
              <a:extLst>
                <a:ext uri="{FF2B5EF4-FFF2-40B4-BE49-F238E27FC236}">
                  <a16:creationId xmlns:a16="http://schemas.microsoft.com/office/drawing/2014/main" id="{B7335FBC-2BCE-BCEA-3237-CF550C0D9564}"/>
                </a:ext>
              </a:extLst>
            </p:cNvPr>
            <p:cNvCxnSpPr>
              <a:cxnSpLocks noChangeShapeType="1"/>
              <a:stCxn id="5" idx="0"/>
              <a:endCxn id="3" idx="2"/>
            </p:cNvCxnSpPr>
            <p:nvPr/>
          </p:nvCxnSpPr>
          <p:spPr bwMode="auto">
            <a:xfrm rot="16200000">
              <a:off x="2521" y="1655"/>
              <a:ext cx="144" cy="1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3" name="_s1033">
              <a:extLst>
                <a:ext uri="{FF2B5EF4-FFF2-40B4-BE49-F238E27FC236}">
                  <a16:creationId xmlns:a16="http://schemas.microsoft.com/office/drawing/2014/main" id="{C3B6ADE1-F2DF-F4FB-61C5-2A9C43DC5A94}"/>
                </a:ext>
              </a:extLst>
            </p:cNvPr>
            <p:cNvCxnSpPr>
              <a:cxnSpLocks noChangeShapeType="1"/>
              <a:stCxn id="4" idx="0"/>
              <a:endCxn id="3" idx="2"/>
            </p:cNvCxnSpPr>
            <p:nvPr/>
          </p:nvCxnSpPr>
          <p:spPr bwMode="auto">
            <a:xfrm rot="16200000">
              <a:off x="2016" y="1152"/>
              <a:ext cx="144" cy="1008"/>
            </a:xfrm>
            <a:prstGeom prst="bentConnector3">
              <a:avLst>
                <a:gd name="adj1" fmla="val 50407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" name="_s1034">
              <a:extLst>
                <a:ext uri="{FF2B5EF4-FFF2-40B4-BE49-F238E27FC236}">
                  <a16:creationId xmlns:a16="http://schemas.microsoft.com/office/drawing/2014/main" id="{79D65774-A98E-BFAA-1E7A-EC80B7D01A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296"/>
              <a:ext cx="864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0" i="0" u="none" strike="noStrike" cap="none" normalizeH="0" baseline="0">
                  <a:ln>
                    <a:noFill/>
                  </a:ln>
                  <a:solidFill>
                    <a:srgbClr val="008000"/>
                  </a:solidFill>
                  <a:effectLst/>
                  <a:latin typeface="Arial" panose="020B0604020202020204" pitchFamily="34" charset="0"/>
                </a:rPr>
                <a:t>PP PHÂN TÍCH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0" i="0" u="none" strike="noStrike" cap="none" normalizeH="0" baseline="0">
                  <a:ln>
                    <a:noFill/>
                  </a:ln>
                  <a:solidFill>
                    <a:srgbClr val="008000"/>
                  </a:solidFill>
                  <a:effectLst/>
                  <a:latin typeface="Arial" panose="020B0604020202020204" pitchFamily="34" charset="0"/>
                </a:rPr>
                <a:t>DỰ ÁN ĐẦU TƯ</a:t>
              </a:r>
            </a:p>
          </p:txBody>
        </p:sp>
        <p:sp>
          <p:nvSpPr>
            <p:cNvPr id="4" name="_s1035">
              <a:extLst>
                <a:ext uri="{FF2B5EF4-FFF2-40B4-BE49-F238E27FC236}">
                  <a16:creationId xmlns:a16="http://schemas.microsoft.com/office/drawing/2014/main" id="{3ACA10E7-7DF1-C337-812D-6B5D2CCE3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728"/>
              <a:ext cx="864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0" i="1" u="none" strike="noStrike" cap="none" normalizeH="0" baseline="0">
                  <a:ln>
                    <a:noFill/>
                  </a:ln>
                  <a:solidFill>
                    <a:srgbClr val="008000"/>
                  </a:solidFill>
                  <a:effectLst/>
                  <a:latin typeface="Arial" panose="020B0604020202020204" pitchFamily="34" charset="0"/>
                </a:rPr>
                <a:t>Giá trị tương đương</a:t>
              </a:r>
            </a:p>
          </p:txBody>
        </p:sp>
        <p:sp>
          <p:nvSpPr>
            <p:cNvPr id="5" name="_s1036">
              <a:extLst>
                <a:ext uri="{FF2B5EF4-FFF2-40B4-BE49-F238E27FC236}">
                  <a16:creationId xmlns:a16="http://schemas.microsoft.com/office/drawing/2014/main" id="{FEC2753F-7858-E649-9970-A9CF4FF8DB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728"/>
              <a:ext cx="864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0" i="1" u="none" strike="noStrike" cap="none" normalizeH="0" baseline="0">
                  <a:ln>
                    <a:noFill/>
                  </a:ln>
                  <a:solidFill>
                    <a:srgbClr val="008000"/>
                  </a:solidFill>
                  <a:effectLst/>
                  <a:latin typeface="Arial" panose="020B0604020202020204" pitchFamily="34" charset="0"/>
                </a:rPr>
                <a:t>Suất thu lợi</a:t>
              </a:r>
            </a:p>
          </p:txBody>
        </p:sp>
        <p:sp>
          <p:nvSpPr>
            <p:cNvPr id="6" name="_s1037">
              <a:extLst>
                <a:ext uri="{FF2B5EF4-FFF2-40B4-BE49-F238E27FC236}">
                  <a16:creationId xmlns:a16="http://schemas.microsoft.com/office/drawing/2014/main" id="{57D162ED-4FC9-C63E-9A6E-66A8E01F3C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1728"/>
              <a:ext cx="864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0" i="1" u="none" strike="noStrike" cap="none" normalizeH="0" baseline="0">
                  <a:ln>
                    <a:noFill/>
                  </a:ln>
                  <a:solidFill>
                    <a:srgbClr val="008000"/>
                  </a:solidFill>
                  <a:effectLst/>
                  <a:latin typeface="Arial" panose="020B0604020202020204" pitchFamily="34" charset="0"/>
                </a:rPr>
                <a:t>Tỷ số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0" i="1" u="none" strike="noStrike" cap="none" normalizeH="0" baseline="0">
                  <a:ln>
                    <a:noFill/>
                  </a:ln>
                  <a:solidFill>
                    <a:srgbClr val="008000"/>
                  </a:solidFill>
                  <a:effectLst/>
                  <a:latin typeface="Arial" panose="020B0604020202020204" pitchFamily="34" charset="0"/>
                </a:rPr>
                <a:t>Lợi ích/Chi phí</a:t>
              </a:r>
            </a:p>
          </p:txBody>
        </p:sp>
        <p:sp>
          <p:nvSpPr>
            <p:cNvPr id="7" name="_s1038">
              <a:extLst>
                <a:ext uri="{FF2B5EF4-FFF2-40B4-BE49-F238E27FC236}">
                  <a16:creationId xmlns:a16="http://schemas.microsoft.com/office/drawing/2014/main" id="{5858F0D7-7A44-A4A3-61DE-641A83BED9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160"/>
              <a:ext cx="864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0" i="1" u="none" strike="noStrike" cap="none" normalizeH="0" baseline="0" dirty="0" err="1">
                  <a:ln>
                    <a:noFill/>
                  </a:ln>
                  <a:solidFill>
                    <a:srgbClr val="FF0000"/>
                  </a:solidFill>
                  <a:effectLst/>
                  <a:latin typeface="Arial" panose="020B0604020202020204" pitchFamily="34" charset="0"/>
                </a:rPr>
                <a:t>Giá</a:t>
              </a:r>
              <a:r>
                <a:rPr kumimoji="0" lang="en-US" altLang="en-US" sz="1800" b="0" i="1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kumimoji="0" lang="en-US" altLang="en-US" sz="1800" b="0" i="1" u="none" strike="noStrike" cap="none" normalizeH="0" baseline="0" dirty="0" err="1">
                  <a:ln>
                    <a:noFill/>
                  </a:ln>
                  <a:solidFill>
                    <a:srgbClr val="FF0000"/>
                  </a:solidFill>
                  <a:effectLst/>
                  <a:latin typeface="Arial" panose="020B0604020202020204" pitchFamily="34" charset="0"/>
                </a:rPr>
                <a:t>trị</a:t>
              </a:r>
              <a:r>
                <a:rPr kumimoji="0" lang="en-US" altLang="en-US" sz="1800" b="0" i="1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kumimoji="0" lang="en-US" altLang="en-US" sz="1800" b="0" i="1" u="none" strike="noStrike" cap="none" normalizeH="0" baseline="0" dirty="0" err="1">
                  <a:ln>
                    <a:noFill/>
                  </a:ln>
                  <a:solidFill>
                    <a:srgbClr val="FF0000"/>
                  </a:solidFill>
                  <a:effectLst/>
                  <a:latin typeface="Arial" panose="020B0604020202020204" pitchFamily="34" charset="0"/>
                </a:rPr>
                <a:t>hiện</a:t>
              </a:r>
              <a:r>
                <a:rPr kumimoji="0" lang="en-US" altLang="en-US" sz="1800" b="0" i="1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kumimoji="0" lang="en-US" altLang="en-US" sz="1800" b="0" i="1" u="none" strike="noStrike" cap="none" normalizeH="0" baseline="0" dirty="0" err="1">
                  <a:ln>
                    <a:noFill/>
                  </a:ln>
                  <a:solidFill>
                    <a:srgbClr val="FF0000"/>
                  </a:solidFill>
                  <a:effectLst/>
                  <a:latin typeface="Arial" panose="020B0604020202020204" pitchFamily="34" charset="0"/>
                </a:rPr>
                <a:t>tại</a:t>
              </a:r>
              <a:endPara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0" i="1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panose="020B0604020202020204" pitchFamily="34" charset="0"/>
                </a:rPr>
                <a:t>Present Worth (PW)</a:t>
              </a:r>
            </a:p>
          </p:txBody>
        </p:sp>
        <p:sp>
          <p:nvSpPr>
            <p:cNvPr id="8" name="_s1039">
              <a:extLst>
                <a:ext uri="{FF2B5EF4-FFF2-40B4-BE49-F238E27FC236}">
                  <a16:creationId xmlns:a16="http://schemas.microsoft.com/office/drawing/2014/main" id="{5024F866-B0E1-FD7E-AB82-FA6BC42675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592"/>
              <a:ext cx="864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0" i="1" u="none" strike="noStrike" cap="none" normalizeH="0" baseline="0">
                  <a:ln>
                    <a:noFill/>
                  </a:ln>
                  <a:solidFill>
                    <a:srgbClr val="008000"/>
                  </a:solidFill>
                  <a:effectLst/>
                  <a:latin typeface="Arial" panose="020B0604020202020204" pitchFamily="34" charset="0"/>
                </a:rPr>
                <a:t>Giá trị tương lai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0" i="1" u="none" strike="noStrike" cap="none" normalizeH="0" baseline="0">
                  <a:ln>
                    <a:noFill/>
                  </a:ln>
                  <a:solidFill>
                    <a:srgbClr val="008000"/>
                  </a:solidFill>
                  <a:effectLst/>
                  <a:latin typeface="Arial" panose="020B0604020202020204" pitchFamily="34" charset="0"/>
                </a:rPr>
                <a:t>Future Worth (FW)</a:t>
              </a:r>
            </a:p>
          </p:txBody>
        </p:sp>
        <p:sp>
          <p:nvSpPr>
            <p:cNvPr id="9" name="_s1040">
              <a:extLst>
                <a:ext uri="{FF2B5EF4-FFF2-40B4-BE49-F238E27FC236}">
                  <a16:creationId xmlns:a16="http://schemas.microsoft.com/office/drawing/2014/main" id="{0F2E3406-C7F5-B6C3-C1E5-6824FC97B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3024"/>
              <a:ext cx="863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0" i="1" u="none" strike="noStrike" cap="none" normalizeH="0" baseline="0">
                  <a:ln>
                    <a:noFill/>
                  </a:ln>
                  <a:solidFill>
                    <a:srgbClr val="008000"/>
                  </a:solidFill>
                  <a:effectLst/>
                  <a:latin typeface="Arial" panose="020B0604020202020204" pitchFamily="34" charset="0"/>
                </a:rPr>
                <a:t>Giá trị hàng năm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0" i="1" u="none" strike="noStrike" cap="none" normalizeH="0" baseline="0">
                  <a:ln>
                    <a:noFill/>
                  </a:ln>
                  <a:solidFill>
                    <a:srgbClr val="008000"/>
                  </a:solidFill>
                  <a:effectLst/>
                  <a:latin typeface="Arial" panose="020B0604020202020204" pitchFamily="34" charset="0"/>
                </a:rPr>
                <a:t>Annual Worth (AW)</a:t>
              </a:r>
            </a:p>
          </p:txBody>
        </p:sp>
      </p:grpSp>
    </p:spTree>
  </p:cSld>
  <p:clrMapOvr>
    <a:masterClrMapping/>
  </p:clrMapOvr>
  <p:transition>
    <p:dissolv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4">
            <a:extLst>
              <a:ext uri="{FF2B5EF4-FFF2-40B4-BE49-F238E27FC236}">
                <a16:creationId xmlns:a16="http://schemas.microsoft.com/office/drawing/2014/main" id="{41C7BF23-A71C-B0BD-4B3C-2E71BB669B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406650" y="3241675"/>
            <a:ext cx="169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endParaRPr lang="en-GB" altLang="en-US" sz="2400" i="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62CF3F2-A94F-6DCC-DD48-8BA7EBDCD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6352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en-US" sz="3600" b="1" i="0">
                <a:solidFill>
                  <a:srgbClr val="008000"/>
                </a:solidFill>
                <a:latin typeface="Arial" panose="020B0604020202020204" pitchFamily="34" charset="0"/>
              </a:rPr>
              <a:t>MỘT SỐ NGUYÊN TẮC CHUNG TRONG SO SÁNH CÁC PHƯƠNG ÁN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32B888D-6C6F-675B-5FAD-2942B157E182}"/>
              </a:ext>
            </a:extLst>
          </p:cNvPr>
          <p:cNvSpPr txBox="1">
            <a:spLocks/>
          </p:cNvSpPr>
          <p:nvPr/>
        </p:nvSpPr>
        <p:spPr bwMode="auto">
          <a:xfrm>
            <a:off x="1219200" y="1524000"/>
            <a:ext cx="7924800" cy="490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14350" indent="-5143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 typeface="Verdana" panose="020B0604030504040204" pitchFamily="34" charset="0"/>
              <a:buNone/>
            </a:pPr>
            <a:r>
              <a:rPr lang="en-US" altLang="en-US" sz="2700" b="1" i="0">
                <a:solidFill>
                  <a:srgbClr val="008000"/>
                </a:solidFill>
                <a:latin typeface="Arial" panose="020B0604020202020204" pitchFamily="34" charset="0"/>
              </a:rPr>
              <a:t>Các bước so sánh phương án: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 typeface="Tahoma" panose="020B0604030504040204" pitchFamily="34" charset="0"/>
              <a:buAutoNum type="arabicPeriod"/>
            </a:pPr>
            <a:r>
              <a:rPr lang="en-US" altLang="en-US" sz="2700" i="0">
                <a:latin typeface="Arial" panose="020B0604020202020204" pitchFamily="34" charset="0"/>
              </a:rPr>
              <a:t>Nhận ra đầy đủ các phương án cần so sánh.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 typeface="Tahoma" panose="020B0604030504040204" pitchFamily="34" charset="0"/>
              <a:buAutoNum type="arabicPeriod"/>
            </a:pPr>
            <a:r>
              <a:rPr lang="en-US" altLang="en-US" sz="2700" i="0">
                <a:latin typeface="Arial" panose="020B0604020202020204" pitchFamily="34" charset="0"/>
              </a:rPr>
              <a:t>Xác định thời kỳ phân tích.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 typeface="Tahoma" panose="020B0604030504040204" pitchFamily="34" charset="0"/>
              <a:buAutoNum type="arabicPeriod"/>
            </a:pPr>
            <a:r>
              <a:rPr lang="en-US" altLang="en-US" sz="2700" i="0">
                <a:latin typeface="Arial" panose="020B0604020202020204" pitchFamily="34" charset="0"/>
              </a:rPr>
              <a:t>Ước lượng dòng tiền tệ cho từng phương án.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 typeface="Tahoma" panose="020B0604030504040204" pitchFamily="34" charset="0"/>
              <a:buAutoNum type="arabicPeriod"/>
            </a:pPr>
            <a:r>
              <a:rPr lang="en-US" altLang="en-US" sz="2700" i="0">
                <a:latin typeface="Arial" panose="020B0604020202020204" pitchFamily="34" charset="0"/>
              </a:rPr>
              <a:t>Xác định giá trị theo thời gian của dòng tiền tệ (i%).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 typeface="Tahoma" panose="020B0604030504040204" pitchFamily="34" charset="0"/>
              <a:buAutoNum type="arabicPeriod"/>
            </a:pPr>
            <a:r>
              <a:rPr lang="en-US" altLang="en-US" sz="2700" i="0">
                <a:latin typeface="Arial" panose="020B0604020202020204" pitchFamily="34" charset="0"/>
              </a:rPr>
              <a:t>Lựa chọn phương pháp so sánh.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 typeface="Tahoma" panose="020B0604030504040204" pitchFamily="34" charset="0"/>
              <a:buAutoNum type="arabicPeriod"/>
            </a:pPr>
            <a:r>
              <a:rPr lang="en-US" altLang="en-US" sz="2700" i="0">
                <a:latin typeface="Arial" panose="020B0604020202020204" pitchFamily="34" charset="0"/>
              </a:rPr>
              <a:t>So sánh các phương án (PA).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 typeface="Tahoma" panose="020B0604030504040204" pitchFamily="34" charset="0"/>
              <a:buAutoNum type="arabicPeriod"/>
            </a:pPr>
            <a:r>
              <a:rPr lang="en-US" altLang="en-US" sz="2700" i="0">
                <a:latin typeface="Arial" panose="020B0604020202020204" pitchFamily="34" charset="0"/>
              </a:rPr>
              <a:t>Phân tích độ nhạy.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 typeface="Tahoma" panose="020B0604030504040204" pitchFamily="34" charset="0"/>
              <a:buAutoNum type="arabicPeriod"/>
            </a:pPr>
            <a:r>
              <a:rPr lang="en-US" altLang="en-US" sz="2700" i="0">
                <a:latin typeface="Arial" panose="020B0604020202020204" pitchFamily="34" charset="0"/>
              </a:rPr>
              <a:t>Lựa chọn phương án cuối cùng.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 typeface="Verdana" panose="020B0604030504040204" pitchFamily="34" charset="0"/>
              <a:buChar char="•"/>
            </a:pPr>
            <a:endParaRPr lang="en-US" altLang="en-US" sz="2700" i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4">
            <a:extLst>
              <a:ext uri="{FF2B5EF4-FFF2-40B4-BE49-F238E27FC236}">
                <a16:creationId xmlns:a16="http://schemas.microsoft.com/office/drawing/2014/main" id="{21882756-EBF6-FFB1-C19A-43C617CDB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406650" y="3241675"/>
            <a:ext cx="169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endParaRPr lang="en-GB" altLang="en-US" sz="2400" i="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47303580-90F1-26CC-9C9D-7A3543D5A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6352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en-US" sz="3600" b="1" i="0" dirty="0">
                <a:solidFill>
                  <a:srgbClr val="008000"/>
                </a:solidFill>
                <a:latin typeface="Arial" panose="020B0604020202020204" pitchFamily="34" charset="0"/>
              </a:rPr>
              <a:t>MỘT SỐ NGUYÊN TẮC CHUNG TRONG SO SÁNH CÁC PHƯƠNG ÁN</a:t>
            </a:r>
          </a:p>
        </p:txBody>
      </p:sp>
      <p:sp>
        <p:nvSpPr>
          <p:cNvPr id="86021" name="Content Placeholder 2">
            <a:extLst>
              <a:ext uri="{FF2B5EF4-FFF2-40B4-BE49-F238E27FC236}">
                <a16:creationId xmlns:a16="http://schemas.microsoft.com/office/drawing/2014/main" id="{48EA13D0-572E-1F41-71BA-C39C08A7F899}"/>
              </a:ext>
            </a:extLst>
          </p:cNvPr>
          <p:cNvSpPr>
            <a:spLocks/>
          </p:cNvSpPr>
          <p:nvPr/>
        </p:nvSpPr>
        <p:spPr bwMode="auto">
          <a:xfrm>
            <a:off x="1219200" y="1524000"/>
            <a:ext cx="79248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 eaLnBrk="1" hangingPunct="1">
              <a:spcBef>
                <a:spcPct val="20000"/>
              </a:spcBef>
              <a:buClr>
                <a:srgbClr val="009999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sz="2000" b="1" i="0" dirty="0" err="1">
                <a:solidFill>
                  <a:schemeClr val="folHlink"/>
                </a:solidFill>
                <a:latin typeface="Arial" charset="0"/>
              </a:rPr>
              <a:t>Các</a:t>
            </a:r>
            <a:r>
              <a:rPr kumimoji="1" lang="en-US" sz="2000" b="1" i="0" dirty="0">
                <a:solidFill>
                  <a:schemeClr val="folHlink"/>
                </a:solidFill>
                <a:latin typeface="Arial" charset="0"/>
              </a:rPr>
              <a:t> </a:t>
            </a:r>
            <a:r>
              <a:rPr kumimoji="1" lang="en-US" sz="2000" b="1" i="0" dirty="0" err="1">
                <a:solidFill>
                  <a:schemeClr val="folHlink"/>
                </a:solidFill>
                <a:latin typeface="Arial" charset="0"/>
              </a:rPr>
              <a:t>Phương</a:t>
            </a:r>
            <a:r>
              <a:rPr kumimoji="1" lang="en-US" sz="2000" b="1" i="0" dirty="0">
                <a:solidFill>
                  <a:schemeClr val="folHlink"/>
                </a:solidFill>
                <a:latin typeface="Arial" charset="0"/>
              </a:rPr>
              <a:t> </a:t>
            </a:r>
            <a:r>
              <a:rPr kumimoji="1" lang="en-US" sz="2000" b="1" i="0" dirty="0" err="1">
                <a:solidFill>
                  <a:schemeClr val="folHlink"/>
                </a:solidFill>
                <a:latin typeface="Arial" charset="0"/>
              </a:rPr>
              <a:t>án</a:t>
            </a:r>
            <a:r>
              <a:rPr kumimoji="1" lang="en-US" sz="2000" b="1" i="0" dirty="0">
                <a:solidFill>
                  <a:schemeClr val="folHlink"/>
                </a:solidFill>
                <a:latin typeface="Arial" charset="0"/>
              </a:rPr>
              <a:t> </a:t>
            </a:r>
            <a:r>
              <a:rPr kumimoji="1" lang="en-US" sz="2000" b="1" i="0" dirty="0" err="1">
                <a:solidFill>
                  <a:schemeClr val="folHlink"/>
                </a:solidFill>
                <a:latin typeface="Arial" charset="0"/>
              </a:rPr>
              <a:t>lọai</a:t>
            </a:r>
            <a:r>
              <a:rPr kumimoji="1" lang="en-US" sz="2000" b="1" i="0" dirty="0">
                <a:solidFill>
                  <a:schemeClr val="folHlink"/>
                </a:solidFill>
                <a:latin typeface="Arial" charset="0"/>
              </a:rPr>
              <a:t> </a:t>
            </a:r>
            <a:r>
              <a:rPr kumimoji="1" lang="en-US" sz="2000" b="1" i="0" dirty="0" err="1">
                <a:solidFill>
                  <a:schemeClr val="folHlink"/>
                </a:solidFill>
                <a:latin typeface="Arial" charset="0"/>
              </a:rPr>
              <a:t>trừ</a:t>
            </a:r>
            <a:r>
              <a:rPr kumimoji="1" lang="en-US" sz="2000" b="1" i="0" dirty="0">
                <a:solidFill>
                  <a:schemeClr val="folHlink"/>
                </a:solidFill>
                <a:latin typeface="Arial" charset="0"/>
              </a:rPr>
              <a:t> </a:t>
            </a:r>
            <a:r>
              <a:rPr kumimoji="1" lang="en-US" sz="2000" b="1" i="0" dirty="0" err="1">
                <a:solidFill>
                  <a:schemeClr val="folHlink"/>
                </a:solidFill>
                <a:latin typeface="Arial" charset="0"/>
              </a:rPr>
              <a:t>nhau</a:t>
            </a:r>
            <a:endParaRPr kumimoji="1" lang="en-US" sz="2000" b="1" i="0" dirty="0">
              <a:solidFill>
                <a:schemeClr val="folHlink"/>
              </a:solidFill>
              <a:latin typeface="Arial" charset="0"/>
            </a:endParaRPr>
          </a:p>
          <a:p>
            <a:pPr marL="342900" indent="-342900" algn="l" eaLnBrk="1" hangingPunct="1">
              <a:spcBef>
                <a:spcPct val="20000"/>
              </a:spcBef>
              <a:buClr>
                <a:srgbClr val="009999"/>
              </a:buClr>
              <a:buSzPct val="75000"/>
              <a:buFont typeface="Wingdings" pitchFamily="2" charset="2"/>
              <a:buChar char="l"/>
              <a:defRPr/>
            </a:pPr>
            <a:r>
              <a:rPr kumimoji="1" lang="en-US" sz="2000" b="1" i="0" dirty="0" err="1">
                <a:latin typeface="Arial" charset="0"/>
              </a:rPr>
              <a:t>Chỉ</a:t>
            </a:r>
            <a:r>
              <a:rPr kumimoji="1" lang="en-US" sz="2000" b="1" i="0" dirty="0">
                <a:latin typeface="Arial" charset="0"/>
              </a:rPr>
              <a:t> </a:t>
            </a:r>
            <a:r>
              <a:rPr kumimoji="1" lang="en-US" sz="2000" b="1" i="0" dirty="0" err="1">
                <a:latin typeface="Arial" charset="0"/>
              </a:rPr>
              <a:t>chọn</a:t>
            </a:r>
            <a:r>
              <a:rPr kumimoji="1" lang="en-US" sz="2000" b="1" i="0" dirty="0">
                <a:latin typeface="Arial" charset="0"/>
              </a:rPr>
              <a:t> 1 </a:t>
            </a:r>
            <a:r>
              <a:rPr kumimoji="1" lang="en-US" sz="2000" b="1" i="0" dirty="0" err="1">
                <a:latin typeface="Arial" charset="0"/>
              </a:rPr>
              <a:t>Phương</a:t>
            </a:r>
            <a:r>
              <a:rPr kumimoji="1" lang="en-US" sz="2000" b="1" i="0" dirty="0">
                <a:latin typeface="Arial" charset="0"/>
              </a:rPr>
              <a:t> </a:t>
            </a:r>
            <a:r>
              <a:rPr kumimoji="1" lang="en-US" sz="2000" b="1" i="0" dirty="0" err="1">
                <a:latin typeface="Arial" charset="0"/>
              </a:rPr>
              <a:t>án</a:t>
            </a:r>
            <a:r>
              <a:rPr kumimoji="1" lang="en-US" sz="2000" b="1" i="0" dirty="0">
                <a:latin typeface="Arial" charset="0"/>
              </a:rPr>
              <a:t> </a:t>
            </a:r>
            <a:r>
              <a:rPr kumimoji="1" lang="en-US" sz="2000" b="1" i="0" dirty="0" err="1">
                <a:latin typeface="Arial" charset="0"/>
              </a:rPr>
              <a:t>duy</a:t>
            </a:r>
            <a:r>
              <a:rPr kumimoji="1" lang="en-US" sz="2000" b="1" i="0" dirty="0">
                <a:latin typeface="Arial" charset="0"/>
              </a:rPr>
              <a:t> </a:t>
            </a:r>
            <a:r>
              <a:rPr kumimoji="1" lang="en-US" sz="2000" b="1" i="0" dirty="0" err="1">
                <a:latin typeface="Arial" charset="0"/>
              </a:rPr>
              <a:t>nhất</a:t>
            </a:r>
            <a:r>
              <a:rPr kumimoji="1" lang="en-US" sz="2000" b="1" i="0" dirty="0">
                <a:latin typeface="Arial" charset="0"/>
              </a:rPr>
              <a:t> </a:t>
            </a:r>
            <a:r>
              <a:rPr kumimoji="1" lang="en-US" sz="2000" b="1" i="0" dirty="0" err="1">
                <a:latin typeface="Arial" charset="0"/>
              </a:rPr>
              <a:t>để</a:t>
            </a:r>
            <a:r>
              <a:rPr kumimoji="1" lang="en-US" sz="2000" b="1" i="0" dirty="0">
                <a:latin typeface="Arial" charset="0"/>
              </a:rPr>
              <a:t> </a:t>
            </a:r>
            <a:r>
              <a:rPr kumimoji="1" lang="en-US" sz="2000" b="1" i="0" dirty="0" err="1">
                <a:latin typeface="Arial" charset="0"/>
              </a:rPr>
              <a:t>đầu</a:t>
            </a:r>
            <a:r>
              <a:rPr kumimoji="1" lang="en-US" sz="2000" b="1" i="0" dirty="0">
                <a:latin typeface="Arial" charset="0"/>
              </a:rPr>
              <a:t> </a:t>
            </a:r>
            <a:r>
              <a:rPr kumimoji="1" lang="en-US" sz="2000" b="1" i="0" dirty="0" err="1">
                <a:latin typeface="Arial" charset="0"/>
              </a:rPr>
              <a:t>tư</a:t>
            </a:r>
            <a:endParaRPr kumimoji="1" lang="en-US" sz="2000" b="1" i="0" dirty="0">
              <a:latin typeface="Arial" charset="0"/>
            </a:endParaRPr>
          </a:p>
          <a:p>
            <a:pPr marL="342900" indent="-342900" algn="l" eaLnBrk="1" hangingPunct="1">
              <a:spcBef>
                <a:spcPct val="20000"/>
              </a:spcBef>
              <a:buClr>
                <a:srgbClr val="009999"/>
              </a:buClr>
              <a:buSzPct val="75000"/>
              <a:buFont typeface="Wingdings" pitchFamily="2" charset="2"/>
              <a:buChar char="l"/>
              <a:defRPr/>
            </a:pPr>
            <a:r>
              <a:rPr kumimoji="1" lang="en-US" sz="2000" b="1" i="0" dirty="0" err="1">
                <a:latin typeface="Arial" charset="0"/>
              </a:rPr>
              <a:t>Nếu</a:t>
            </a:r>
            <a:r>
              <a:rPr kumimoji="1" lang="en-US" sz="2000" b="1" i="0" dirty="0">
                <a:latin typeface="Arial" charset="0"/>
              </a:rPr>
              <a:t> </a:t>
            </a:r>
            <a:r>
              <a:rPr kumimoji="1" lang="en-US" sz="2000" b="1" i="0" dirty="0" err="1">
                <a:latin typeface="Arial" charset="0"/>
              </a:rPr>
              <a:t>có</a:t>
            </a:r>
            <a:r>
              <a:rPr kumimoji="1" lang="en-US" sz="2000" b="1" i="0" dirty="0">
                <a:latin typeface="Arial" charset="0"/>
              </a:rPr>
              <a:t> m </a:t>
            </a:r>
            <a:r>
              <a:rPr kumimoji="1" lang="en-US" sz="2000" b="1" i="0" dirty="0" err="1">
                <a:latin typeface="Arial" charset="0"/>
              </a:rPr>
              <a:t>cơ</a:t>
            </a:r>
            <a:r>
              <a:rPr kumimoji="1" lang="en-US" sz="2000" b="1" i="0" dirty="0">
                <a:latin typeface="Arial" charset="0"/>
              </a:rPr>
              <a:t> </a:t>
            </a:r>
            <a:r>
              <a:rPr kumimoji="1" lang="en-US" sz="2000" b="1" i="0" dirty="0" err="1">
                <a:latin typeface="Arial" charset="0"/>
              </a:rPr>
              <a:t>hội</a:t>
            </a:r>
            <a:r>
              <a:rPr kumimoji="1" lang="en-US" sz="2000" b="1" i="0" dirty="0">
                <a:latin typeface="Arial" charset="0"/>
              </a:rPr>
              <a:t> </a:t>
            </a:r>
            <a:r>
              <a:rPr kumimoji="1" lang="en-US" sz="2000" b="1" i="0" dirty="0" err="1">
                <a:latin typeface="Arial" charset="0"/>
              </a:rPr>
              <a:t>đầu</a:t>
            </a:r>
            <a:r>
              <a:rPr kumimoji="1" lang="en-US" sz="2000" b="1" i="0" dirty="0">
                <a:latin typeface="Arial" charset="0"/>
              </a:rPr>
              <a:t> </a:t>
            </a:r>
            <a:r>
              <a:rPr kumimoji="1" lang="en-US" sz="2000" b="1" i="0" dirty="0" err="1">
                <a:latin typeface="Arial" charset="0"/>
              </a:rPr>
              <a:t>tư</a:t>
            </a:r>
            <a:r>
              <a:rPr kumimoji="1" lang="en-US" sz="2000" b="1" i="0" dirty="0">
                <a:latin typeface="Arial" charset="0"/>
              </a:rPr>
              <a:t> </a:t>
            </a:r>
            <a:r>
              <a:rPr kumimoji="1" lang="en-US" sz="2000" b="1" i="0" dirty="0">
                <a:latin typeface="Arial" charset="0"/>
                <a:sym typeface="Wingdings" pitchFamily="2" charset="2"/>
              </a:rPr>
              <a:t> 2</a:t>
            </a:r>
            <a:r>
              <a:rPr kumimoji="1" lang="en-US" sz="2000" b="1" i="0" baseline="30000" dirty="0">
                <a:latin typeface="Arial" charset="0"/>
                <a:sym typeface="Wingdings" pitchFamily="2" charset="2"/>
              </a:rPr>
              <a:t>m</a:t>
            </a:r>
            <a:r>
              <a:rPr kumimoji="1" lang="en-US" sz="2000" b="1" i="0" dirty="0">
                <a:latin typeface="Arial" charset="0"/>
                <a:sym typeface="Wingdings" pitchFamily="2" charset="2"/>
              </a:rPr>
              <a:t> PA </a:t>
            </a:r>
            <a:r>
              <a:rPr kumimoji="1" lang="en-US" sz="2000" b="1" i="0" dirty="0" err="1">
                <a:latin typeface="Arial" charset="0"/>
                <a:sym typeface="Wingdings" pitchFamily="2" charset="2"/>
              </a:rPr>
              <a:t>đầu</a:t>
            </a:r>
            <a:r>
              <a:rPr kumimoji="1" lang="en-US" sz="2000" b="1" i="0" dirty="0">
                <a:latin typeface="Arial" charset="0"/>
                <a:sym typeface="Wingdings" pitchFamily="2" charset="2"/>
              </a:rPr>
              <a:t> </a:t>
            </a:r>
            <a:r>
              <a:rPr kumimoji="1" lang="en-US" sz="2000" b="1" i="0" dirty="0" err="1">
                <a:latin typeface="Arial" charset="0"/>
                <a:sym typeface="Wingdings" pitchFamily="2" charset="2"/>
              </a:rPr>
              <a:t>tư</a:t>
            </a:r>
            <a:endParaRPr kumimoji="1" lang="en-US" sz="2000" b="1" i="0" dirty="0">
              <a:latin typeface="Arial" charset="0"/>
            </a:endParaRPr>
          </a:p>
          <a:p>
            <a:pPr marL="342900" indent="-342900" algn="l" eaLnBrk="1" hangingPunct="1">
              <a:spcBef>
                <a:spcPct val="20000"/>
              </a:spcBef>
              <a:buClr>
                <a:srgbClr val="009999"/>
              </a:buClr>
              <a:buSzPct val="75000"/>
              <a:buFont typeface="Wingdings" pitchFamily="2" charset="2"/>
              <a:buChar char="l"/>
              <a:defRPr/>
            </a:pPr>
            <a:r>
              <a:rPr kumimoji="1" lang="en-US" sz="2000" b="1" i="0" dirty="0" err="1">
                <a:latin typeface="Arial" charset="0"/>
              </a:rPr>
              <a:t>Giả</a:t>
            </a:r>
            <a:r>
              <a:rPr kumimoji="1" lang="en-US" sz="2000" b="1" i="0" dirty="0">
                <a:latin typeface="Arial" charset="0"/>
              </a:rPr>
              <a:t> </a:t>
            </a:r>
            <a:r>
              <a:rPr kumimoji="1" lang="en-US" sz="2000" b="1" i="0" dirty="0" err="1">
                <a:latin typeface="Arial" charset="0"/>
              </a:rPr>
              <a:t>sử</a:t>
            </a:r>
            <a:r>
              <a:rPr kumimoji="1" lang="en-US" sz="2000" b="1" i="0" dirty="0">
                <a:latin typeface="Arial" charset="0"/>
              </a:rPr>
              <a:t> </a:t>
            </a:r>
            <a:r>
              <a:rPr kumimoji="1" lang="en-US" sz="2000" b="1" i="0" dirty="0" err="1">
                <a:latin typeface="Arial" charset="0"/>
              </a:rPr>
              <a:t>có</a:t>
            </a:r>
            <a:r>
              <a:rPr kumimoji="1" lang="en-US" sz="2000" b="1" i="0" dirty="0">
                <a:latin typeface="Arial" charset="0"/>
              </a:rPr>
              <a:t> 2 </a:t>
            </a:r>
            <a:r>
              <a:rPr kumimoji="1" lang="en-US" sz="2000" b="1" i="0" dirty="0" err="1">
                <a:latin typeface="Arial" charset="0"/>
              </a:rPr>
              <a:t>cơ</a:t>
            </a:r>
            <a:r>
              <a:rPr kumimoji="1" lang="en-US" sz="2000" b="1" i="0" dirty="0">
                <a:latin typeface="Arial" charset="0"/>
              </a:rPr>
              <a:t> </a:t>
            </a:r>
            <a:r>
              <a:rPr kumimoji="1" lang="en-US" sz="2000" b="1" i="0" dirty="0" err="1">
                <a:latin typeface="Arial" charset="0"/>
              </a:rPr>
              <a:t>hội</a:t>
            </a:r>
            <a:r>
              <a:rPr kumimoji="1" lang="en-US" sz="2000" b="1" i="0" dirty="0">
                <a:latin typeface="Arial" charset="0"/>
              </a:rPr>
              <a:t> </a:t>
            </a:r>
            <a:r>
              <a:rPr kumimoji="1" lang="en-US" sz="2000" b="1" i="0" dirty="0" err="1">
                <a:latin typeface="Arial" charset="0"/>
              </a:rPr>
              <a:t>đầu</a:t>
            </a:r>
            <a:r>
              <a:rPr kumimoji="1" lang="en-US" sz="2000" b="1" i="0" dirty="0">
                <a:latin typeface="Arial" charset="0"/>
              </a:rPr>
              <a:t> </a:t>
            </a:r>
            <a:r>
              <a:rPr kumimoji="1" lang="en-US" sz="2000" b="1" i="0" dirty="0" err="1">
                <a:latin typeface="Arial" charset="0"/>
              </a:rPr>
              <a:t>tư</a:t>
            </a:r>
            <a:r>
              <a:rPr kumimoji="1" lang="en-US" sz="2000" b="1" i="0" dirty="0">
                <a:latin typeface="Arial" charset="0"/>
              </a:rPr>
              <a:t> </a:t>
            </a:r>
            <a:r>
              <a:rPr kumimoji="1" lang="en-US" sz="2000" b="1" i="0" dirty="0" err="1">
                <a:latin typeface="Arial" charset="0"/>
              </a:rPr>
              <a:t>là</a:t>
            </a:r>
            <a:r>
              <a:rPr kumimoji="1" lang="en-US" sz="2000" b="1" i="0" dirty="0">
                <a:latin typeface="Arial" charset="0"/>
              </a:rPr>
              <a:t> A </a:t>
            </a:r>
            <a:r>
              <a:rPr kumimoji="1" lang="en-US" sz="2000" b="1" i="0" dirty="0" err="1">
                <a:latin typeface="Arial" charset="0"/>
              </a:rPr>
              <a:t>và</a:t>
            </a:r>
            <a:r>
              <a:rPr kumimoji="1" lang="en-US" sz="2000" b="1" i="0" dirty="0">
                <a:latin typeface="Arial" charset="0"/>
              </a:rPr>
              <a:t> B. </a:t>
            </a:r>
          </a:p>
          <a:p>
            <a:pPr marL="800100" lvl="1" indent="-342900" algn="l" eaLnBrk="1" hangingPunct="1">
              <a:spcBef>
                <a:spcPct val="20000"/>
              </a:spcBef>
              <a:buClr>
                <a:srgbClr val="009999"/>
              </a:buClr>
              <a:buSzPct val="75000"/>
              <a:buFont typeface="Wingdings" pitchFamily="2" charset="2"/>
              <a:buChar char="l"/>
              <a:defRPr/>
            </a:pPr>
            <a:r>
              <a:rPr kumimoji="1" lang="en-US" sz="2000" b="1" i="0" dirty="0" err="1">
                <a:latin typeface="Arial" charset="0"/>
              </a:rPr>
              <a:t>Khi</a:t>
            </a:r>
            <a:r>
              <a:rPr kumimoji="1" lang="en-US" sz="2000" b="1" i="0" dirty="0">
                <a:latin typeface="Arial" charset="0"/>
              </a:rPr>
              <a:t> </a:t>
            </a:r>
            <a:r>
              <a:rPr kumimoji="1" lang="en-US" sz="2000" b="1" i="0" dirty="0" err="1">
                <a:latin typeface="Arial" charset="0"/>
              </a:rPr>
              <a:t>đó</a:t>
            </a:r>
            <a:r>
              <a:rPr kumimoji="1" lang="en-US" sz="2000" b="1" i="0" dirty="0">
                <a:latin typeface="Arial" charset="0"/>
              </a:rPr>
              <a:t> </a:t>
            </a:r>
            <a:r>
              <a:rPr kumimoji="1" lang="en-US" sz="2000" b="1" i="0" dirty="0" err="1">
                <a:latin typeface="Arial" charset="0"/>
              </a:rPr>
              <a:t>có</a:t>
            </a:r>
            <a:r>
              <a:rPr kumimoji="1" lang="en-US" sz="2000" b="1" i="0" dirty="0">
                <a:latin typeface="Arial" charset="0"/>
              </a:rPr>
              <a:t> 4 </a:t>
            </a:r>
            <a:r>
              <a:rPr kumimoji="1" lang="en-US" sz="2000" b="1" i="0" dirty="0" err="1">
                <a:latin typeface="Arial" charset="0"/>
              </a:rPr>
              <a:t>phương</a:t>
            </a:r>
            <a:r>
              <a:rPr kumimoji="1" lang="en-US" sz="2000" b="1" i="0" dirty="0">
                <a:latin typeface="Arial" charset="0"/>
              </a:rPr>
              <a:t> </a:t>
            </a:r>
            <a:r>
              <a:rPr kumimoji="1" lang="en-US" sz="2000" b="1" i="0" dirty="0" err="1">
                <a:latin typeface="Arial" charset="0"/>
              </a:rPr>
              <a:t>án</a:t>
            </a:r>
            <a:r>
              <a:rPr kumimoji="1" lang="en-US" sz="2000" b="1" i="0" dirty="0">
                <a:latin typeface="Arial" charset="0"/>
              </a:rPr>
              <a:t> (4 PA)  </a:t>
            </a:r>
            <a:r>
              <a:rPr kumimoji="1" lang="en-US" sz="2000" b="1" i="0" dirty="0" err="1">
                <a:latin typeface="Arial" charset="0"/>
              </a:rPr>
              <a:t>loại</a:t>
            </a:r>
            <a:r>
              <a:rPr kumimoji="1" lang="en-US" sz="2000" b="1" i="0" dirty="0">
                <a:latin typeface="Arial" charset="0"/>
              </a:rPr>
              <a:t> </a:t>
            </a:r>
            <a:r>
              <a:rPr kumimoji="1" lang="en-US" sz="2000" b="1" i="0" dirty="0" err="1">
                <a:latin typeface="Arial" charset="0"/>
              </a:rPr>
              <a:t>trừ</a:t>
            </a:r>
            <a:r>
              <a:rPr kumimoji="1" lang="en-US" sz="2000" b="1" i="0" dirty="0">
                <a:latin typeface="Arial" charset="0"/>
              </a:rPr>
              <a:t> </a:t>
            </a:r>
            <a:r>
              <a:rPr kumimoji="1" lang="en-US" sz="2000" b="1" i="0" dirty="0" err="1">
                <a:latin typeface="Arial" charset="0"/>
              </a:rPr>
              <a:t>nhau</a:t>
            </a:r>
            <a:r>
              <a:rPr kumimoji="1" lang="en-US" sz="2000" b="1" i="0" dirty="0">
                <a:latin typeface="Arial" charset="0"/>
              </a:rPr>
              <a:t>:</a:t>
            </a:r>
          </a:p>
          <a:p>
            <a:pPr marL="971550" lvl="1" indent="-514350" algn="l" eaLnBrk="1" hangingPunct="1">
              <a:spcBef>
                <a:spcPct val="20000"/>
              </a:spcBef>
              <a:buClr>
                <a:srgbClr val="009999"/>
              </a:buClr>
              <a:buFont typeface="Verdana" pitchFamily="34" charset="0"/>
              <a:buAutoNum type="arabicPeriod"/>
              <a:defRPr/>
            </a:pPr>
            <a:r>
              <a:rPr kumimoji="1" lang="en-US" sz="2000" i="0" dirty="0" err="1">
                <a:latin typeface="Arial" charset="0"/>
              </a:rPr>
              <a:t>Không</a:t>
            </a:r>
            <a:r>
              <a:rPr kumimoji="1" lang="en-US" sz="2000" i="0" dirty="0">
                <a:latin typeface="Arial" charset="0"/>
              </a:rPr>
              <a:t> </a:t>
            </a:r>
            <a:r>
              <a:rPr kumimoji="1" lang="en-US" sz="2000" i="0" dirty="0" err="1">
                <a:latin typeface="Arial" charset="0"/>
              </a:rPr>
              <a:t>thực</a:t>
            </a:r>
            <a:r>
              <a:rPr kumimoji="1" lang="en-US" sz="2000" i="0" dirty="0">
                <a:latin typeface="Arial" charset="0"/>
              </a:rPr>
              <a:t> </a:t>
            </a:r>
            <a:r>
              <a:rPr kumimoji="1" lang="en-US" sz="2000" i="0" dirty="0" err="1">
                <a:latin typeface="Arial" charset="0"/>
              </a:rPr>
              <a:t>hiện</a:t>
            </a:r>
            <a:r>
              <a:rPr kumimoji="1" lang="en-US" sz="2000" i="0" dirty="0">
                <a:latin typeface="Arial" charset="0"/>
              </a:rPr>
              <a:t> </a:t>
            </a:r>
            <a:r>
              <a:rPr kumimoji="1" lang="en-US" sz="2000" i="0" dirty="0" err="1">
                <a:latin typeface="Arial" charset="0"/>
              </a:rPr>
              <a:t>cả</a:t>
            </a:r>
            <a:r>
              <a:rPr kumimoji="1" lang="en-US" sz="2000" i="0" dirty="0">
                <a:latin typeface="Arial" charset="0"/>
              </a:rPr>
              <a:t> A </a:t>
            </a:r>
            <a:r>
              <a:rPr kumimoji="1" lang="en-US" sz="2000" i="0" dirty="0" err="1">
                <a:latin typeface="Arial" charset="0"/>
              </a:rPr>
              <a:t>và</a:t>
            </a:r>
            <a:r>
              <a:rPr kumimoji="1" lang="en-US" sz="2000" i="0" dirty="0">
                <a:latin typeface="Arial" charset="0"/>
              </a:rPr>
              <a:t> B.</a:t>
            </a:r>
          </a:p>
          <a:p>
            <a:pPr marL="971550" lvl="1" indent="-514350" algn="l" eaLnBrk="1" hangingPunct="1">
              <a:spcBef>
                <a:spcPct val="20000"/>
              </a:spcBef>
              <a:buClr>
                <a:srgbClr val="009999"/>
              </a:buClr>
              <a:buFont typeface="Verdana" pitchFamily="34" charset="0"/>
              <a:buAutoNum type="arabicPeriod"/>
              <a:defRPr/>
            </a:pPr>
            <a:r>
              <a:rPr kumimoji="1" lang="en-US" sz="2000" i="0" dirty="0" err="1">
                <a:latin typeface="Arial" charset="0"/>
              </a:rPr>
              <a:t>Chỉ</a:t>
            </a:r>
            <a:r>
              <a:rPr kumimoji="1" lang="en-US" sz="2000" i="0" dirty="0">
                <a:latin typeface="Arial" charset="0"/>
              </a:rPr>
              <a:t> </a:t>
            </a:r>
            <a:r>
              <a:rPr kumimoji="1" lang="en-US" sz="2000" i="0" dirty="0" err="1">
                <a:latin typeface="Arial" charset="0"/>
              </a:rPr>
              <a:t>thực</a:t>
            </a:r>
            <a:r>
              <a:rPr kumimoji="1" lang="en-US" sz="2000" i="0" dirty="0">
                <a:latin typeface="Arial" charset="0"/>
              </a:rPr>
              <a:t> </a:t>
            </a:r>
            <a:r>
              <a:rPr kumimoji="1" lang="en-US" sz="2000" i="0" dirty="0" err="1">
                <a:latin typeface="Arial" charset="0"/>
              </a:rPr>
              <a:t>hiện</a:t>
            </a:r>
            <a:r>
              <a:rPr kumimoji="1" lang="en-US" sz="2000" i="0" dirty="0">
                <a:latin typeface="Arial" charset="0"/>
              </a:rPr>
              <a:t> A.</a:t>
            </a:r>
          </a:p>
          <a:p>
            <a:pPr marL="971550" lvl="1" indent="-514350" algn="l" eaLnBrk="1" hangingPunct="1">
              <a:spcBef>
                <a:spcPct val="20000"/>
              </a:spcBef>
              <a:buClr>
                <a:srgbClr val="009999"/>
              </a:buClr>
              <a:buFont typeface="Verdana" pitchFamily="34" charset="0"/>
              <a:buAutoNum type="arabicPeriod"/>
              <a:defRPr/>
            </a:pPr>
            <a:r>
              <a:rPr kumimoji="1" lang="en-US" sz="2000" i="0" dirty="0" err="1">
                <a:latin typeface="Arial" charset="0"/>
              </a:rPr>
              <a:t>Chỉ</a:t>
            </a:r>
            <a:r>
              <a:rPr kumimoji="1" lang="en-US" sz="2000" i="0" dirty="0">
                <a:latin typeface="Arial" charset="0"/>
              </a:rPr>
              <a:t> </a:t>
            </a:r>
            <a:r>
              <a:rPr kumimoji="1" lang="en-US" sz="2000" i="0" dirty="0" err="1">
                <a:latin typeface="Arial" charset="0"/>
              </a:rPr>
              <a:t>thực</a:t>
            </a:r>
            <a:r>
              <a:rPr kumimoji="1" lang="en-US" sz="2000" i="0" dirty="0">
                <a:latin typeface="Arial" charset="0"/>
              </a:rPr>
              <a:t> </a:t>
            </a:r>
            <a:r>
              <a:rPr kumimoji="1" lang="en-US" sz="2000" i="0" dirty="0" err="1">
                <a:latin typeface="Arial" charset="0"/>
              </a:rPr>
              <a:t>hiện</a:t>
            </a:r>
            <a:r>
              <a:rPr kumimoji="1" lang="en-US" sz="2000" i="0" dirty="0">
                <a:latin typeface="Arial" charset="0"/>
              </a:rPr>
              <a:t> B.</a:t>
            </a:r>
          </a:p>
          <a:p>
            <a:pPr marL="971550" lvl="1" indent="-514350" algn="l" eaLnBrk="1" hangingPunct="1">
              <a:spcBef>
                <a:spcPct val="20000"/>
              </a:spcBef>
              <a:buClr>
                <a:srgbClr val="009999"/>
              </a:buClr>
              <a:buFont typeface="Verdana" pitchFamily="34" charset="0"/>
              <a:buAutoNum type="arabicPeriod"/>
              <a:defRPr/>
            </a:pPr>
            <a:r>
              <a:rPr kumimoji="1" lang="en-US" sz="2000" i="0" dirty="0" err="1">
                <a:latin typeface="Arial" charset="0"/>
              </a:rPr>
              <a:t>Thực</a:t>
            </a:r>
            <a:r>
              <a:rPr kumimoji="1" lang="en-US" sz="2000" i="0" dirty="0">
                <a:latin typeface="Arial" charset="0"/>
              </a:rPr>
              <a:t> </a:t>
            </a:r>
            <a:r>
              <a:rPr kumimoji="1" lang="en-US" sz="2000" i="0" dirty="0" err="1">
                <a:latin typeface="Arial" charset="0"/>
              </a:rPr>
              <a:t>hiện</a:t>
            </a:r>
            <a:r>
              <a:rPr kumimoji="1" lang="en-US" sz="2000" i="0" dirty="0">
                <a:latin typeface="Arial" charset="0"/>
              </a:rPr>
              <a:t> </a:t>
            </a:r>
            <a:r>
              <a:rPr kumimoji="1" lang="en-US" sz="2000" i="0" dirty="0" err="1">
                <a:latin typeface="Arial" charset="0"/>
              </a:rPr>
              <a:t>cả</a:t>
            </a:r>
            <a:r>
              <a:rPr kumimoji="1" lang="en-US" sz="2000" i="0" dirty="0">
                <a:latin typeface="Arial" charset="0"/>
              </a:rPr>
              <a:t> A </a:t>
            </a:r>
            <a:r>
              <a:rPr kumimoji="1" lang="en-US" sz="2000" i="0" dirty="0" err="1">
                <a:latin typeface="Arial" charset="0"/>
              </a:rPr>
              <a:t>và</a:t>
            </a:r>
            <a:r>
              <a:rPr kumimoji="1" lang="en-US" sz="2000" i="0" dirty="0">
                <a:latin typeface="Arial" charset="0"/>
              </a:rPr>
              <a:t> B.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4">
            <a:extLst>
              <a:ext uri="{FF2B5EF4-FFF2-40B4-BE49-F238E27FC236}">
                <a16:creationId xmlns:a16="http://schemas.microsoft.com/office/drawing/2014/main" id="{B542C432-ACA6-45E4-C5AC-38A6558E3F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406650" y="3241675"/>
            <a:ext cx="169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endParaRPr lang="en-GB" altLang="en-US" sz="2400" i="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9BFEE346-3553-0C8E-90C6-4D81993C9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6352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en-US" sz="3600" b="1" i="0">
                <a:solidFill>
                  <a:srgbClr val="008000"/>
                </a:solidFill>
                <a:latin typeface="Arial" panose="020B0604020202020204" pitchFamily="34" charset="0"/>
              </a:rPr>
              <a:t>MỘT SỐ NGUYÊN TẮC CHUNG TRONG SO SÁNH CÁC PHƯƠNG ÁN</a:t>
            </a:r>
          </a:p>
        </p:txBody>
      </p:sp>
      <p:sp>
        <p:nvSpPr>
          <p:cNvPr id="87045" name="Rectangle 5">
            <a:extLst>
              <a:ext uri="{FF2B5EF4-FFF2-40B4-BE49-F238E27FC236}">
                <a16:creationId xmlns:a16="http://schemas.microsoft.com/office/drawing/2014/main" id="{D6C23FBE-4EB5-D043-35A6-EF0B9506A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1993900"/>
            <a:ext cx="7543800" cy="367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en-US" b="1" i="0" dirty="0" err="1">
                <a:solidFill>
                  <a:srgbClr val="008000"/>
                </a:solidFill>
                <a:latin typeface="Arial" panose="020B0604020202020204" pitchFamily="34" charset="0"/>
              </a:rPr>
              <a:t>Thời</a:t>
            </a:r>
            <a:r>
              <a:rPr lang="en-US" altLang="en-US" b="1" i="0" dirty="0">
                <a:solidFill>
                  <a:srgbClr val="008000"/>
                </a:solidFill>
                <a:latin typeface="Arial" panose="020B0604020202020204" pitchFamily="34" charset="0"/>
              </a:rPr>
              <a:t> </a:t>
            </a:r>
            <a:r>
              <a:rPr lang="en-US" altLang="en-US" b="1" i="0" dirty="0" err="1">
                <a:solidFill>
                  <a:srgbClr val="008000"/>
                </a:solidFill>
                <a:latin typeface="Arial" panose="020B0604020202020204" pitchFamily="34" charset="0"/>
              </a:rPr>
              <a:t>kỳ</a:t>
            </a:r>
            <a:r>
              <a:rPr lang="en-US" altLang="en-US" b="1" i="0" dirty="0">
                <a:solidFill>
                  <a:srgbClr val="008000"/>
                </a:solidFill>
                <a:latin typeface="Arial" panose="020B0604020202020204" pitchFamily="34" charset="0"/>
              </a:rPr>
              <a:t> </a:t>
            </a:r>
            <a:r>
              <a:rPr lang="en-US" altLang="en-US" b="1" i="0" dirty="0" err="1">
                <a:solidFill>
                  <a:srgbClr val="008000"/>
                </a:solidFill>
                <a:latin typeface="Arial" panose="020B0604020202020204" pitchFamily="34" charset="0"/>
              </a:rPr>
              <a:t>phân</a:t>
            </a:r>
            <a:r>
              <a:rPr lang="en-US" altLang="en-US" b="1" i="0" dirty="0">
                <a:solidFill>
                  <a:srgbClr val="008000"/>
                </a:solidFill>
                <a:latin typeface="Arial" panose="020B0604020202020204" pitchFamily="34" charset="0"/>
              </a:rPr>
              <a:t> </a:t>
            </a:r>
            <a:r>
              <a:rPr lang="en-US" altLang="en-US" b="1" i="0" dirty="0" err="1">
                <a:solidFill>
                  <a:srgbClr val="008000"/>
                </a:solidFill>
                <a:latin typeface="Arial" panose="020B0604020202020204" pitchFamily="34" charset="0"/>
              </a:rPr>
              <a:t>tích</a:t>
            </a:r>
            <a:r>
              <a:rPr lang="en-US" altLang="en-US" b="1" i="0" dirty="0">
                <a:solidFill>
                  <a:srgbClr val="008000"/>
                </a:solidFill>
                <a:latin typeface="Arial" panose="020B0604020202020204" pitchFamily="34" charset="0"/>
              </a:rPr>
              <a:t> (TKPT)</a:t>
            </a:r>
          </a:p>
          <a:p>
            <a:pPr algn="l"/>
            <a:endParaRPr lang="en-US" altLang="en-US" sz="1000" b="1" i="0" dirty="0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algn="l">
              <a:buFontTx/>
              <a:buChar char="•"/>
            </a:pPr>
            <a:r>
              <a:rPr lang="en-US" altLang="en-US" i="0" dirty="0">
                <a:latin typeface="Arial" panose="020B0604020202020204" pitchFamily="34" charset="0"/>
              </a:rPr>
              <a:t> </a:t>
            </a:r>
            <a:r>
              <a:rPr lang="en-US" altLang="en-US" i="0" dirty="0" err="1">
                <a:latin typeface="Arial" panose="020B0604020202020204" pitchFamily="34" charset="0"/>
              </a:rPr>
              <a:t>Là</a:t>
            </a:r>
            <a:r>
              <a:rPr lang="en-US" altLang="en-US" i="0" dirty="0">
                <a:latin typeface="Arial" panose="020B0604020202020204" pitchFamily="34" charset="0"/>
              </a:rPr>
              <a:t> </a:t>
            </a:r>
            <a:r>
              <a:rPr lang="en-US" altLang="en-US" i="0" dirty="0" err="1">
                <a:solidFill>
                  <a:srgbClr val="FF0000"/>
                </a:solidFill>
                <a:latin typeface="Arial" panose="020B0604020202020204" pitchFamily="34" charset="0"/>
              </a:rPr>
              <a:t>khoảng</a:t>
            </a:r>
            <a:r>
              <a:rPr lang="en-US" altLang="en-US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 i="0" dirty="0" err="1">
                <a:solidFill>
                  <a:srgbClr val="FF0000"/>
                </a:solidFill>
                <a:latin typeface="Arial" panose="020B0604020202020204" pitchFamily="34" charset="0"/>
              </a:rPr>
              <a:t>thời</a:t>
            </a:r>
            <a:r>
              <a:rPr lang="en-US" altLang="en-US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 i="0" dirty="0" err="1">
                <a:solidFill>
                  <a:srgbClr val="FF0000"/>
                </a:solidFill>
                <a:latin typeface="Arial" panose="020B0604020202020204" pitchFamily="34" charset="0"/>
              </a:rPr>
              <a:t>gian</a:t>
            </a:r>
            <a:r>
              <a:rPr lang="en-US" altLang="en-US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 i="0" u="sng" dirty="0" err="1">
                <a:latin typeface="Arial" panose="020B0604020202020204" pitchFamily="34" charset="0"/>
              </a:rPr>
              <a:t>xem</a:t>
            </a:r>
            <a:r>
              <a:rPr lang="en-US" altLang="en-US" i="0" u="sng" dirty="0">
                <a:latin typeface="Arial" panose="020B0604020202020204" pitchFamily="34" charset="0"/>
              </a:rPr>
              <a:t> </a:t>
            </a:r>
            <a:r>
              <a:rPr lang="en-US" altLang="en-US" i="0" u="sng" dirty="0" err="1">
                <a:latin typeface="Arial" panose="020B0604020202020204" pitchFamily="34" charset="0"/>
              </a:rPr>
              <a:t>xét</a:t>
            </a:r>
            <a:r>
              <a:rPr lang="en-US" altLang="en-US" i="0" u="sng" dirty="0">
                <a:latin typeface="Arial" panose="020B0604020202020204" pitchFamily="34" charset="0"/>
              </a:rPr>
              <a:t> </a:t>
            </a:r>
            <a:r>
              <a:rPr lang="en-US" altLang="en-US" i="0" u="sng" dirty="0" err="1">
                <a:latin typeface="Arial" panose="020B0604020202020204" pitchFamily="34" charset="0"/>
              </a:rPr>
              <a:t>tất</a:t>
            </a:r>
            <a:r>
              <a:rPr lang="en-US" altLang="en-US" i="0" u="sng" dirty="0">
                <a:latin typeface="Arial" panose="020B0604020202020204" pitchFamily="34" charset="0"/>
              </a:rPr>
              <a:t> </a:t>
            </a:r>
            <a:r>
              <a:rPr lang="en-US" altLang="en-US" i="0" u="sng" dirty="0" err="1">
                <a:latin typeface="Arial" panose="020B0604020202020204" pitchFamily="34" charset="0"/>
              </a:rPr>
              <a:t>cả</a:t>
            </a:r>
            <a:r>
              <a:rPr lang="en-US" altLang="en-US" i="0" u="sng" dirty="0">
                <a:latin typeface="Arial" panose="020B0604020202020204" pitchFamily="34" charset="0"/>
              </a:rPr>
              <a:t> </a:t>
            </a:r>
            <a:r>
              <a:rPr lang="en-US" altLang="en-US" i="0" u="sng" dirty="0" err="1">
                <a:latin typeface="Arial" panose="020B0604020202020204" pitchFamily="34" charset="0"/>
              </a:rPr>
              <a:t>những</a:t>
            </a:r>
            <a:r>
              <a:rPr lang="en-US" altLang="en-US" i="0" u="sng" dirty="0">
                <a:latin typeface="Arial" panose="020B0604020202020204" pitchFamily="34" charset="0"/>
              </a:rPr>
              <a:t> </a:t>
            </a:r>
            <a:r>
              <a:rPr lang="en-US" altLang="en-US" i="0" u="sng" dirty="0" err="1">
                <a:latin typeface="Arial" panose="020B0604020202020204" pitchFamily="34" charset="0"/>
              </a:rPr>
              <a:t>dòng</a:t>
            </a:r>
            <a:r>
              <a:rPr lang="en-US" altLang="en-US" i="0" u="sng" dirty="0">
                <a:latin typeface="Arial" panose="020B0604020202020204" pitchFamily="34" charset="0"/>
              </a:rPr>
              <a:t>  </a:t>
            </a:r>
            <a:r>
              <a:rPr lang="en-US" altLang="en-US" i="0" u="sng" dirty="0" err="1">
                <a:latin typeface="Arial" panose="020B0604020202020204" pitchFamily="34" charset="0"/>
              </a:rPr>
              <a:t>tiền</a:t>
            </a:r>
            <a:r>
              <a:rPr lang="en-US" altLang="en-US" i="0" u="sng" dirty="0">
                <a:latin typeface="Arial" panose="020B0604020202020204" pitchFamily="34" charset="0"/>
              </a:rPr>
              <a:t> </a:t>
            </a:r>
            <a:r>
              <a:rPr lang="en-US" altLang="en-US" i="0" u="sng" dirty="0" err="1">
                <a:latin typeface="Arial" panose="020B0604020202020204" pitchFamily="34" charset="0"/>
              </a:rPr>
              <a:t>tệ</a:t>
            </a:r>
            <a:r>
              <a:rPr lang="en-US" altLang="en-US" i="0" u="sng" dirty="0">
                <a:latin typeface="Arial" panose="020B0604020202020204" pitchFamily="34" charset="0"/>
              </a:rPr>
              <a:t> </a:t>
            </a:r>
            <a:r>
              <a:rPr lang="en-US" altLang="en-US" i="0" u="sng" dirty="0" err="1">
                <a:latin typeface="Arial" panose="020B0604020202020204" pitchFamily="34" charset="0"/>
              </a:rPr>
              <a:t>xảy</a:t>
            </a:r>
            <a:r>
              <a:rPr lang="en-US" altLang="en-US" i="0" u="sng" dirty="0">
                <a:latin typeface="Arial" panose="020B0604020202020204" pitchFamily="34" charset="0"/>
              </a:rPr>
              <a:t> </a:t>
            </a:r>
            <a:r>
              <a:rPr lang="en-US" altLang="en-US" i="0" u="sng" dirty="0" err="1">
                <a:latin typeface="Arial" panose="020B0604020202020204" pitchFamily="34" charset="0"/>
              </a:rPr>
              <a:t>ra.</a:t>
            </a:r>
            <a:r>
              <a:rPr lang="en-US" altLang="en-US" i="0" u="sng" dirty="0">
                <a:latin typeface="Arial" panose="020B0604020202020204" pitchFamily="34" charset="0"/>
              </a:rPr>
              <a:t> </a:t>
            </a:r>
          </a:p>
          <a:p>
            <a:pPr algn="l">
              <a:buFontTx/>
              <a:buChar char="•"/>
            </a:pPr>
            <a:r>
              <a:rPr lang="en-US" altLang="en-US" i="0" dirty="0">
                <a:latin typeface="Arial" panose="020B0604020202020204" pitchFamily="34" charset="0"/>
              </a:rPr>
              <a:t> </a:t>
            </a:r>
            <a:r>
              <a:rPr lang="en-US" altLang="en-US" i="0" dirty="0" err="1">
                <a:latin typeface="Arial" panose="020B0604020202020204" pitchFamily="34" charset="0"/>
              </a:rPr>
              <a:t>Chọn</a:t>
            </a:r>
            <a:r>
              <a:rPr lang="en-US" altLang="en-US" i="0" dirty="0">
                <a:latin typeface="Arial" panose="020B0604020202020204" pitchFamily="34" charset="0"/>
              </a:rPr>
              <a:t> TKPT: </a:t>
            </a:r>
          </a:p>
          <a:p>
            <a:pPr algn="l">
              <a:buFontTx/>
              <a:buChar char="-"/>
            </a:pPr>
            <a:r>
              <a:rPr lang="en-US" altLang="en-US" i="0" dirty="0">
                <a:latin typeface="Arial" panose="020B0604020202020204" pitchFamily="34" charset="0"/>
              </a:rPr>
              <a:t> </a:t>
            </a:r>
            <a:r>
              <a:rPr lang="en-US" altLang="en-US" sz="2300" i="0" dirty="0" err="1">
                <a:latin typeface="Arial" panose="020B0604020202020204" pitchFamily="34" charset="0"/>
              </a:rPr>
              <a:t>Bội</a:t>
            </a:r>
            <a:r>
              <a:rPr lang="en-US" altLang="en-US" sz="2300" i="0" dirty="0">
                <a:latin typeface="Arial" panose="020B0604020202020204" pitchFamily="34" charset="0"/>
              </a:rPr>
              <a:t> </a:t>
            </a:r>
            <a:r>
              <a:rPr lang="en-US" altLang="en-US" sz="2300" i="0" dirty="0" err="1">
                <a:latin typeface="Arial" panose="020B0604020202020204" pitchFamily="34" charset="0"/>
              </a:rPr>
              <a:t>số</a:t>
            </a:r>
            <a:r>
              <a:rPr lang="en-US" altLang="en-US" sz="2300" i="0" dirty="0">
                <a:latin typeface="Arial" panose="020B0604020202020204" pitchFamily="34" charset="0"/>
              </a:rPr>
              <a:t> </a:t>
            </a:r>
            <a:r>
              <a:rPr lang="en-US" altLang="en-US" sz="2300" i="0" dirty="0" err="1">
                <a:latin typeface="Arial" panose="020B0604020202020204" pitchFamily="34" charset="0"/>
              </a:rPr>
              <a:t>chung</a:t>
            </a:r>
            <a:r>
              <a:rPr lang="en-US" altLang="en-US" sz="2300" i="0" dirty="0">
                <a:latin typeface="Arial" panose="020B0604020202020204" pitchFamily="34" charset="0"/>
              </a:rPr>
              <a:t> </a:t>
            </a:r>
            <a:r>
              <a:rPr lang="en-US" altLang="en-US" sz="2300" i="0" dirty="0" err="1">
                <a:latin typeface="Arial" panose="020B0604020202020204" pitchFamily="34" charset="0"/>
              </a:rPr>
              <a:t>nhỏ</a:t>
            </a:r>
            <a:r>
              <a:rPr lang="en-US" altLang="en-US" sz="2300" i="0" dirty="0">
                <a:latin typeface="Arial" panose="020B0604020202020204" pitchFamily="34" charset="0"/>
              </a:rPr>
              <a:t> </a:t>
            </a:r>
            <a:r>
              <a:rPr lang="en-US" altLang="en-US" sz="2300" i="0" dirty="0" err="1">
                <a:latin typeface="Arial" panose="020B0604020202020204" pitchFamily="34" charset="0"/>
              </a:rPr>
              <a:t>nhất</a:t>
            </a:r>
            <a:r>
              <a:rPr lang="en-US" altLang="en-US" sz="2300" i="0" dirty="0">
                <a:latin typeface="Arial" panose="020B0604020202020204" pitchFamily="34" charset="0"/>
              </a:rPr>
              <a:t> </a:t>
            </a:r>
            <a:r>
              <a:rPr lang="en-US" altLang="en-US" sz="2300" i="0" dirty="0" err="1">
                <a:latin typeface="Arial" panose="020B0604020202020204" pitchFamily="34" charset="0"/>
              </a:rPr>
              <a:t>của</a:t>
            </a:r>
            <a:r>
              <a:rPr lang="en-US" altLang="en-US" sz="2300" i="0" dirty="0">
                <a:latin typeface="Arial" panose="020B0604020202020204" pitchFamily="34" charset="0"/>
              </a:rPr>
              <a:t> </a:t>
            </a:r>
            <a:r>
              <a:rPr lang="en-US" altLang="en-US" sz="2300" i="0" dirty="0" err="1">
                <a:latin typeface="Arial" panose="020B0604020202020204" pitchFamily="34" charset="0"/>
              </a:rPr>
              <a:t>các</a:t>
            </a:r>
            <a:r>
              <a:rPr lang="en-US" altLang="en-US" sz="2300" i="0" dirty="0">
                <a:latin typeface="Arial" panose="020B0604020202020204" pitchFamily="34" charset="0"/>
              </a:rPr>
              <a:t> </a:t>
            </a:r>
            <a:r>
              <a:rPr lang="en-US" altLang="en-US" sz="2300" i="0" dirty="0" err="1">
                <a:latin typeface="Arial" panose="020B0604020202020204" pitchFamily="34" charset="0"/>
              </a:rPr>
              <a:t>tuổi</a:t>
            </a:r>
            <a:r>
              <a:rPr lang="en-US" altLang="en-US" sz="2300" i="0" dirty="0">
                <a:latin typeface="Arial" panose="020B0604020202020204" pitchFamily="34" charset="0"/>
              </a:rPr>
              <a:t> </a:t>
            </a:r>
            <a:r>
              <a:rPr lang="en-US" altLang="en-US" sz="2300" i="0" dirty="0" err="1">
                <a:latin typeface="Arial" panose="020B0604020202020204" pitchFamily="34" charset="0"/>
              </a:rPr>
              <a:t>thọ</a:t>
            </a:r>
            <a:r>
              <a:rPr lang="en-US" altLang="en-US" sz="2300" i="0" dirty="0">
                <a:latin typeface="Arial" panose="020B0604020202020204" pitchFamily="34" charset="0"/>
              </a:rPr>
              <a:t> </a:t>
            </a:r>
            <a:r>
              <a:rPr lang="en-US" altLang="en-US" sz="2300" i="0" dirty="0" err="1">
                <a:latin typeface="Arial" panose="020B0604020202020204" pitchFamily="34" charset="0"/>
              </a:rPr>
              <a:t>kinh</a:t>
            </a:r>
            <a:r>
              <a:rPr lang="en-US" altLang="en-US" sz="2300" i="0" dirty="0">
                <a:latin typeface="Arial" panose="020B0604020202020204" pitchFamily="34" charset="0"/>
              </a:rPr>
              <a:t> </a:t>
            </a:r>
            <a:r>
              <a:rPr lang="en-US" altLang="en-US" sz="2300" i="0" dirty="0" err="1">
                <a:latin typeface="Arial" panose="020B0604020202020204" pitchFamily="34" charset="0"/>
              </a:rPr>
              <a:t>tế</a:t>
            </a:r>
            <a:r>
              <a:rPr lang="en-US" altLang="en-US" sz="2300" i="0" dirty="0">
                <a:latin typeface="Arial" panose="020B0604020202020204" pitchFamily="34" charset="0"/>
              </a:rPr>
              <a:t> (TTKT).</a:t>
            </a:r>
          </a:p>
          <a:p>
            <a:pPr algn="l">
              <a:buFontTx/>
              <a:buChar char="-"/>
            </a:pPr>
            <a:r>
              <a:rPr lang="en-US" altLang="en-US" sz="2300" i="0" dirty="0">
                <a:latin typeface="Arial" panose="020B0604020202020204" pitchFamily="34" charset="0"/>
              </a:rPr>
              <a:t> </a:t>
            </a:r>
            <a:r>
              <a:rPr lang="en-US" altLang="en-US" sz="2300" i="0" dirty="0" err="1">
                <a:latin typeface="Arial" panose="020B0604020202020204" pitchFamily="34" charset="0"/>
              </a:rPr>
              <a:t>Phân</a:t>
            </a:r>
            <a:r>
              <a:rPr lang="en-US" altLang="en-US" sz="2300" i="0" dirty="0">
                <a:latin typeface="Arial" panose="020B0604020202020204" pitchFamily="34" charset="0"/>
              </a:rPr>
              <a:t> </a:t>
            </a:r>
            <a:r>
              <a:rPr lang="en-US" altLang="en-US" sz="2300" i="0" dirty="0" err="1">
                <a:latin typeface="Arial" panose="020B0604020202020204" pitchFamily="34" charset="0"/>
              </a:rPr>
              <a:t>tích</a:t>
            </a:r>
            <a:r>
              <a:rPr lang="en-US" altLang="en-US" sz="2300" i="0" dirty="0">
                <a:latin typeface="Arial" panose="020B0604020202020204" pitchFamily="34" charset="0"/>
              </a:rPr>
              <a:t> </a:t>
            </a:r>
            <a:r>
              <a:rPr lang="en-US" altLang="en-US" sz="2300" i="0" dirty="0" err="1">
                <a:latin typeface="Arial" panose="020B0604020202020204" pitchFamily="34" charset="0"/>
              </a:rPr>
              <a:t>theo</a:t>
            </a:r>
            <a:r>
              <a:rPr lang="en-US" altLang="en-US" sz="2300" i="0" dirty="0">
                <a:latin typeface="Arial" panose="020B0604020202020204" pitchFamily="34" charset="0"/>
              </a:rPr>
              <a:t> </a:t>
            </a:r>
            <a:r>
              <a:rPr lang="en-US" altLang="en-US" sz="2300" i="0" dirty="0" err="1">
                <a:latin typeface="Arial" panose="020B0604020202020204" pitchFamily="34" charset="0"/>
              </a:rPr>
              <a:t>thời</a:t>
            </a:r>
            <a:r>
              <a:rPr lang="en-US" altLang="en-US" sz="2300" i="0" dirty="0">
                <a:latin typeface="Arial" panose="020B0604020202020204" pitchFamily="34" charset="0"/>
              </a:rPr>
              <a:t> </a:t>
            </a:r>
            <a:r>
              <a:rPr lang="en-US" altLang="en-US" sz="2300" i="0" dirty="0" err="1">
                <a:latin typeface="Arial" panose="020B0604020202020204" pitchFamily="34" charset="0"/>
              </a:rPr>
              <a:t>gian</a:t>
            </a:r>
            <a:r>
              <a:rPr lang="en-US" altLang="en-US" sz="2300" i="0" dirty="0">
                <a:latin typeface="Arial" panose="020B0604020202020204" pitchFamily="34" charset="0"/>
              </a:rPr>
              <a:t> </a:t>
            </a:r>
            <a:r>
              <a:rPr lang="en-US" altLang="en-US" sz="2300" i="0" dirty="0" err="1">
                <a:latin typeface="Arial" panose="020B0604020202020204" pitchFamily="34" charset="0"/>
              </a:rPr>
              <a:t>phục</a:t>
            </a:r>
            <a:r>
              <a:rPr lang="en-US" altLang="en-US" sz="2300" i="0" dirty="0">
                <a:latin typeface="Arial" panose="020B0604020202020204" pitchFamily="34" charset="0"/>
              </a:rPr>
              <a:t> </a:t>
            </a:r>
            <a:r>
              <a:rPr lang="en-US" altLang="en-US" sz="2300" i="0" dirty="0" err="1">
                <a:latin typeface="Arial" panose="020B0604020202020204" pitchFamily="34" charset="0"/>
              </a:rPr>
              <a:t>vụ</a:t>
            </a:r>
            <a:r>
              <a:rPr lang="en-US" altLang="en-US" sz="2300" i="0" dirty="0">
                <a:latin typeface="Arial" panose="020B0604020202020204" pitchFamily="34" charset="0"/>
              </a:rPr>
              <a:t> </a:t>
            </a:r>
            <a:r>
              <a:rPr lang="en-US" altLang="en-US" sz="2300" i="0" dirty="0" err="1">
                <a:latin typeface="Arial" panose="020B0604020202020204" pitchFamily="34" charset="0"/>
              </a:rPr>
              <a:t>yêu</a:t>
            </a:r>
            <a:r>
              <a:rPr lang="en-US" altLang="en-US" sz="2300" i="0" dirty="0">
                <a:latin typeface="Arial" panose="020B0604020202020204" pitchFamily="34" charset="0"/>
              </a:rPr>
              <a:t> </a:t>
            </a:r>
            <a:r>
              <a:rPr lang="en-US" altLang="en-US" sz="2300" i="0" dirty="0" err="1">
                <a:latin typeface="Arial" panose="020B0604020202020204" pitchFamily="34" charset="0"/>
              </a:rPr>
              <a:t>cầu</a:t>
            </a:r>
            <a:r>
              <a:rPr lang="en-US" altLang="en-US" sz="2300" i="0" dirty="0">
                <a:latin typeface="Arial" panose="020B0604020202020204" pitchFamily="34" charset="0"/>
              </a:rPr>
              <a:t> </a:t>
            </a:r>
            <a:r>
              <a:rPr lang="en-US" altLang="en-US" sz="2300" i="0" dirty="0" err="1">
                <a:latin typeface="Arial" panose="020B0604020202020204" pitchFamily="34" charset="0"/>
              </a:rPr>
              <a:t>của</a:t>
            </a:r>
            <a:r>
              <a:rPr lang="en-US" altLang="en-US" sz="2300" i="0" dirty="0">
                <a:latin typeface="Arial" panose="020B0604020202020204" pitchFamily="34" charset="0"/>
              </a:rPr>
              <a:t> PA.</a:t>
            </a:r>
          </a:p>
          <a:p>
            <a:pPr algn="l">
              <a:buFontTx/>
              <a:buChar char="•"/>
            </a:pPr>
            <a:r>
              <a:rPr lang="en-US" altLang="en-US" i="0" dirty="0">
                <a:latin typeface="Arial" panose="020B0604020202020204" pitchFamily="34" charset="0"/>
              </a:rPr>
              <a:t> </a:t>
            </a:r>
            <a:r>
              <a:rPr lang="en-US" altLang="en-US" i="0" dirty="0" err="1">
                <a:latin typeface="Arial" panose="020B0604020202020204" pitchFamily="34" charset="0"/>
              </a:rPr>
              <a:t>Chú</a:t>
            </a:r>
            <a:r>
              <a:rPr lang="en-US" altLang="en-US" i="0" dirty="0">
                <a:latin typeface="Arial" panose="020B0604020202020204" pitchFamily="34" charset="0"/>
              </a:rPr>
              <a:t> ý </a:t>
            </a:r>
            <a:r>
              <a:rPr lang="en-US" altLang="en-US" i="0" dirty="0" err="1">
                <a:latin typeface="Arial" panose="020B0604020202020204" pitchFamily="34" charset="0"/>
              </a:rPr>
              <a:t>giá</a:t>
            </a:r>
            <a:r>
              <a:rPr lang="en-US" altLang="en-US" i="0" dirty="0">
                <a:latin typeface="Arial" panose="020B0604020202020204" pitchFamily="34" charset="0"/>
              </a:rPr>
              <a:t> </a:t>
            </a:r>
            <a:r>
              <a:rPr lang="en-US" altLang="en-US" i="0" dirty="0" err="1">
                <a:latin typeface="Arial" panose="020B0604020202020204" pitchFamily="34" charset="0"/>
              </a:rPr>
              <a:t>trị</a:t>
            </a:r>
            <a:r>
              <a:rPr lang="en-US" altLang="en-US" i="0" dirty="0">
                <a:latin typeface="Arial" panose="020B0604020202020204" pitchFamily="34" charset="0"/>
              </a:rPr>
              <a:t> </a:t>
            </a:r>
            <a:r>
              <a:rPr lang="en-US" altLang="en-US" i="0" dirty="0" err="1">
                <a:latin typeface="Arial" panose="020B0604020202020204" pitchFamily="34" charset="0"/>
              </a:rPr>
              <a:t>còn</a:t>
            </a:r>
            <a:r>
              <a:rPr lang="en-US" altLang="en-US" i="0" dirty="0">
                <a:latin typeface="Arial" panose="020B0604020202020204" pitchFamily="34" charset="0"/>
              </a:rPr>
              <a:t> </a:t>
            </a:r>
            <a:r>
              <a:rPr lang="en-US" altLang="en-US" i="0" dirty="0" err="1">
                <a:latin typeface="Arial" panose="020B0604020202020204" pitchFamily="34" charset="0"/>
              </a:rPr>
              <a:t>lại</a:t>
            </a:r>
            <a:r>
              <a:rPr lang="en-US" altLang="en-US" i="0" dirty="0">
                <a:latin typeface="Arial" panose="020B0604020202020204" pitchFamily="34" charset="0"/>
              </a:rPr>
              <a:t> </a:t>
            </a:r>
            <a:r>
              <a:rPr lang="en-US" altLang="en-US" i="0" dirty="0" err="1">
                <a:latin typeface="Arial" panose="020B0604020202020204" pitchFamily="34" charset="0"/>
              </a:rPr>
              <a:t>và</a:t>
            </a:r>
            <a:r>
              <a:rPr lang="en-US" altLang="en-US" i="0" dirty="0">
                <a:latin typeface="Arial" panose="020B0604020202020204" pitchFamily="34" charset="0"/>
              </a:rPr>
              <a:t> </a:t>
            </a:r>
            <a:r>
              <a:rPr lang="en-US" altLang="en-US" i="0" dirty="0" err="1">
                <a:latin typeface="Arial" panose="020B0604020202020204" pitchFamily="34" charset="0"/>
              </a:rPr>
              <a:t>giá</a:t>
            </a:r>
            <a:r>
              <a:rPr lang="en-US" altLang="en-US" i="0" dirty="0">
                <a:latin typeface="Arial" panose="020B0604020202020204" pitchFamily="34" charset="0"/>
              </a:rPr>
              <a:t> </a:t>
            </a:r>
            <a:r>
              <a:rPr lang="en-US" altLang="en-US" i="0" dirty="0" err="1">
                <a:latin typeface="Arial" panose="020B0604020202020204" pitchFamily="34" charset="0"/>
              </a:rPr>
              <a:t>trị</a:t>
            </a:r>
            <a:r>
              <a:rPr lang="en-US" altLang="en-US" i="0" dirty="0">
                <a:latin typeface="Arial" panose="020B0604020202020204" pitchFamily="34" charset="0"/>
              </a:rPr>
              <a:t> </a:t>
            </a:r>
            <a:r>
              <a:rPr lang="en-US" altLang="en-US" i="0" dirty="0" err="1">
                <a:latin typeface="Arial" panose="020B0604020202020204" pitchFamily="34" charset="0"/>
              </a:rPr>
              <a:t>thay</a:t>
            </a:r>
            <a:r>
              <a:rPr lang="en-US" altLang="en-US" i="0" dirty="0">
                <a:latin typeface="Arial" panose="020B0604020202020204" pitchFamily="34" charset="0"/>
              </a:rPr>
              <a:t> </a:t>
            </a:r>
            <a:r>
              <a:rPr lang="en-US" altLang="en-US" i="0" dirty="0" err="1">
                <a:latin typeface="Arial" panose="020B0604020202020204" pitchFamily="34" charset="0"/>
              </a:rPr>
              <a:t>mới</a:t>
            </a:r>
            <a:r>
              <a:rPr lang="en-US" altLang="en-US" i="0" dirty="0">
                <a:latin typeface="Arial" panose="020B0604020202020204" pitchFamily="34" charset="0"/>
              </a:rPr>
              <a:t>:</a:t>
            </a:r>
          </a:p>
          <a:p>
            <a:pPr algn="l">
              <a:buFontTx/>
              <a:buChar char="-"/>
            </a:pPr>
            <a:r>
              <a:rPr lang="en-US" altLang="en-US" sz="2300" i="0" dirty="0">
                <a:latin typeface="Arial" panose="020B0604020202020204" pitchFamily="34" charset="0"/>
              </a:rPr>
              <a:t>TKPT &gt; TTKT </a:t>
            </a:r>
            <a:r>
              <a:rPr lang="en-US" altLang="en-US" sz="2300" i="0" dirty="0">
                <a:latin typeface="Arial" panose="020B0604020202020204" pitchFamily="34" charset="0"/>
                <a:sym typeface="Wingdings" panose="05000000000000000000" pitchFamily="2" charset="2"/>
              </a:rPr>
              <a:t> </a:t>
            </a:r>
            <a:r>
              <a:rPr lang="en-US" altLang="en-US" sz="2300" i="0" dirty="0" err="1">
                <a:latin typeface="Arial" panose="020B0604020202020204" pitchFamily="34" charset="0"/>
                <a:sym typeface="Wingdings" panose="05000000000000000000" pitchFamily="2" charset="2"/>
              </a:rPr>
              <a:t>giá</a:t>
            </a:r>
            <a:r>
              <a:rPr lang="en-US" altLang="en-US" sz="2300" i="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en-US" sz="2300" i="0" dirty="0" err="1">
                <a:latin typeface="Arial" panose="020B0604020202020204" pitchFamily="34" charset="0"/>
                <a:sym typeface="Wingdings" panose="05000000000000000000" pitchFamily="2" charset="2"/>
              </a:rPr>
              <a:t>trị</a:t>
            </a:r>
            <a:r>
              <a:rPr lang="en-US" altLang="en-US" sz="2300" i="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en-US" sz="2300" i="0" dirty="0" err="1">
                <a:latin typeface="Arial" panose="020B0604020202020204" pitchFamily="34" charset="0"/>
                <a:sym typeface="Wingdings" panose="05000000000000000000" pitchFamily="2" charset="2"/>
              </a:rPr>
              <a:t>thay</a:t>
            </a:r>
            <a:r>
              <a:rPr lang="en-US" altLang="en-US" sz="2300" i="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en-US" sz="2300" i="0" dirty="0" err="1">
                <a:latin typeface="Arial" panose="020B0604020202020204" pitchFamily="34" charset="0"/>
                <a:sym typeface="Wingdings" panose="05000000000000000000" pitchFamily="2" charset="2"/>
              </a:rPr>
              <a:t>mới</a:t>
            </a:r>
            <a:endParaRPr lang="en-US" altLang="en-US" sz="2300" i="0" dirty="0"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 algn="l">
              <a:buFontTx/>
              <a:buChar char="-"/>
            </a:pPr>
            <a:r>
              <a:rPr lang="en-US" altLang="en-US" sz="2300" i="0" dirty="0">
                <a:latin typeface="Arial" panose="020B0604020202020204" pitchFamily="34" charset="0"/>
              </a:rPr>
              <a:t>TKPT &lt; TTKT </a:t>
            </a:r>
            <a:r>
              <a:rPr lang="en-US" altLang="en-US" sz="2300" i="0" dirty="0">
                <a:latin typeface="Arial" panose="020B0604020202020204" pitchFamily="34" charset="0"/>
                <a:sym typeface="Wingdings" panose="05000000000000000000" pitchFamily="2" charset="2"/>
              </a:rPr>
              <a:t> </a:t>
            </a:r>
            <a:r>
              <a:rPr lang="en-US" altLang="en-US" sz="2300" i="0" dirty="0" err="1">
                <a:latin typeface="Arial" panose="020B0604020202020204" pitchFamily="34" charset="0"/>
                <a:sym typeface="Wingdings" panose="05000000000000000000" pitchFamily="2" charset="2"/>
              </a:rPr>
              <a:t>giá</a:t>
            </a:r>
            <a:r>
              <a:rPr lang="en-US" altLang="en-US" sz="2300" i="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en-US" sz="2300" i="0" dirty="0" err="1">
                <a:latin typeface="Arial" panose="020B0604020202020204" pitchFamily="34" charset="0"/>
                <a:sym typeface="Wingdings" panose="05000000000000000000" pitchFamily="2" charset="2"/>
              </a:rPr>
              <a:t>trị</a:t>
            </a:r>
            <a:r>
              <a:rPr lang="en-US" altLang="en-US" sz="2300" i="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en-US" sz="2300" i="0" dirty="0" err="1">
                <a:latin typeface="Arial" panose="020B0604020202020204" pitchFamily="34" charset="0"/>
                <a:sym typeface="Wingdings" panose="05000000000000000000" pitchFamily="2" charset="2"/>
              </a:rPr>
              <a:t>còn</a:t>
            </a:r>
            <a:r>
              <a:rPr lang="en-US" altLang="en-US" sz="2300" i="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en-US" sz="2300" i="0" dirty="0" err="1">
                <a:latin typeface="Arial" panose="020B0604020202020204" pitchFamily="34" charset="0"/>
                <a:sym typeface="Wingdings" panose="05000000000000000000" pitchFamily="2" charset="2"/>
              </a:rPr>
              <a:t>lại</a:t>
            </a:r>
            <a:endParaRPr lang="en-US" altLang="en-US" sz="2300" i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4">
            <a:extLst>
              <a:ext uri="{FF2B5EF4-FFF2-40B4-BE49-F238E27FC236}">
                <a16:creationId xmlns:a16="http://schemas.microsoft.com/office/drawing/2014/main" id="{E6E5FEA3-50EE-9ECC-A777-22954CA999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406650" y="3241675"/>
            <a:ext cx="169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endParaRPr lang="en-GB" altLang="en-US" sz="2400" i="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17764FB9-E7D1-078C-7F06-186B041C7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6352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en-US" sz="3600" b="1" i="0">
                <a:solidFill>
                  <a:srgbClr val="008000"/>
                </a:solidFill>
                <a:latin typeface="Arial" panose="020B0604020202020204" pitchFamily="34" charset="0"/>
              </a:rPr>
              <a:t>MỘT SỐ NGUYÊN TẮC CHUNG TRONG SO SÁNH CÁC PHƯƠNG ÁN</a:t>
            </a:r>
          </a:p>
        </p:txBody>
      </p:sp>
      <p:sp>
        <p:nvSpPr>
          <p:cNvPr id="19460" name="Content Placeholder 2">
            <a:extLst>
              <a:ext uri="{FF2B5EF4-FFF2-40B4-BE49-F238E27FC236}">
                <a16:creationId xmlns:a16="http://schemas.microsoft.com/office/drawing/2014/main" id="{CF8707DF-2244-CAAB-8A0A-8794D56D4A68}"/>
              </a:ext>
            </a:extLst>
          </p:cNvPr>
          <p:cNvSpPr>
            <a:spLocks/>
          </p:cNvSpPr>
          <p:nvPr/>
        </p:nvSpPr>
        <p:spPr bwMode="auto">
          <a:xfrm>
            <a:off x="1524000" y="1938338"/>
            <a:ext cx="7620000" cy="491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20000"/>
              </a:spcBef>
              <a:buClr>
                <a:srgbClr val="009999"/>
              </a:buClr>
              <a:buSzPct val="75000"/>
              <a:buFont typeface="Wingdings" panose="05000000000000000000" pitchFamily="2" charset="2"/>
              <a:buNone/>
            </a:pPr>
            <a:r>
              <a:rPr kumimoji="1" lang="en-US" altLang="en-US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Một</a:t>
            </a:r>
            <a:r>
              <a:rPr kumimoji="1" lang="en-US" altLang="en-US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cơ</a:t>
            </a:r>
            <a:r>
              <a:rPr kumimoji="1" lang="en-US" altLang="en-US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hội</a:t>
            </a:r>
            <a:r>
              <a:rPr kumimoji="1" lang="en-US" altLang="en-US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đầu</a:t>
            </a:r>
            <a:r>
              <a:rPr kumimoji="1" lang="en-US" altLang="en-US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tư</a:t>
            </a:r>
            <a:r>
              <a:rPr kumimoji="1" lang="en-US" altLang="en-US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được</a:t>
            </a:r>
            <a:r>
              <a:rPr kumimoji="1" lang="en-US" altLang="en-US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gọi</a:t>
            </a:r>
            <a:r>
              <a:rPr kumimoji="1" lang="en-US" altLang="en-US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là</a:t>
            </a:r>
            <a:r>
              <a:rPr kumimoji="1" lang="en-US" altLang="en-US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“</a:t>
            </a:r>
            <a:r>
              <a:rPr kumimoji="1" lang="en-US" altLang="en-US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đáng</a:t>
            </a:r>
            <a:r>
              <a:rPr kumimoji="1" lang="en-US" altLang="en-US" b="1" i="0" dirty="0">
                <a:solidFill>
                  <a:schemeClr val="folHlink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giá</a:t>
            </a:r>
            <a:r>
              <a:rPr kumimoji="1" lang="en-US" altLang="en-US" b="1" i="0" dirty="0">
                <a:solidFill>
                  <a:schemeClr val="folHlink"/>
                </a:solidFill>
                <a:latin typeface="Arial" panose="020B0604020202020204" pitchFamily="34" charset="0"/>
              </a:rPr>
              <a:t>” </a:t>
            </a:r>
            <a:r>
              <a:rPr kumimoji="1" lang="en-US" altLang="en-US" b="1" i="0" dirty="0" err="1">
                <a:solidFill>
                  <a:schemeClr val="folHlink"/>
                </a:solidFill>
                <a:latin typeface="Arial" panose="020B0604020202020204" pitchFamily="34" charset="0"/>
              </a:rPr>
              <a:t>nếu</a:t>
            </a:r>
            <a:r>
              <a:rPr kumimoji="1" lang="en-US" altLang="en-US" b="1" i="0" dirty="0">
                <a:solidFill>
                  <a:schemeClr val="folHlink"/>
                </a:solidFill>
                <a:latin typeface="Arial" panose="020B0604020202020204" pitchFamily="34" charset="0"/>
              </a:rPr>
              <a:t>: </a:t>
            </a:r>
          </a:p>
          <a:p>
            <a:pPr algn="l" eaLnBrk="1" hangingPunct="1">
              <a:spcBef>
                <a:spcPct val="20000"/>
              </a:spcBef>
              <a:buClr>
                <a:srgbClr val="009999"/>
              </a:buClr>
              <a:buSzPct val="75000"/>
              <a:buFont typeface="Wingdings" panose="05000000000000000000" pitchFamily="2" charset="2"/>
              <a:buChar char="l"/>
            </a:pPr>
            <a:r>
              <a:rPr kumimoji="1" lang="en-US" altLang="en-US" b="1" i="0" dirty="0" err="1">
                <a:latin typeface="Arial" panose="020B0604020202020204" pitchFamily="34" charset="0"/>
              </a:rPr>
              <a:t>Giá</a:t>
            </a:r>
            <a:r>
              <a:rPr kumimoji="1" lang="en-US" altLang="en-US" b="1" i="0" dirty="0">
                <a:latin typeface="Arial" panose="020B0604020202020204" pitchFamily="34" charset="0"/>
              </a:rPr>
              <a:t> </a:t>
            </a:r>
            <a:r>
              <a:rPr kumimoji="1" lang="en-US" altLang="en-US" b="1" i="0" dirty="0" err="1">
                <a:latin typeface="Arial" panose="020B0604020202020204" pitchFamily="34" charset="0"/>
              </a:rPr>
              <a:t>trị</a:t>
            </a:r>
            <a:r>
              <a:rPr kumimoji="1" lang="en-US" altLang="en-US" b="1" i="0" dirty="0">
                <a:latin typeface="Arial" panose="020B0604020202020204" pitchFamily="34" charset="0"/>
              </a:rPr>
              <a:t> </a:t>
            </a:r>
            <a:r>
              <a:rPr kumimoji="1" lang="en-US" altLang="en-US" b="1" i="0" dirty="0" err="1">
                <a:latin typeface="Arial" panose="020B0604020202020204" pitchFamily="34" charset="0"/>
              </a:rPr>
              <a:t>tương</a:t>
            </a:r>
            <a:r>
              <a:rPr kumimoji="1" lang="en-US" altLang="en-US" b="1" i="0" dirty="0">
                <a:latin typeface="Arial" panose="020B0604020202020204" pitchFamily="34" charset="0"/>
              </a:rPr>
              <a:t> </a:t>
            </a:r>
            <a:r>
              <a:rPr kumimoji="1" lang="en-US" altLang="en-US" b="1" i="0" dirty="0" err="1">
                <a:latin typeface="Arial" panose="020B0604020202020204" pitchFamily="34" charset="0"/>
              </a:rPr>
              <a:t>đương</a:t>
            </a:r>
            <a:r>
              <a:rPr kumimoji="1" lang="en-US" altLang="en-US" b="1" i="0" dirty="0">
                <a:latin typeface="Arial" panose="020B0604020202020204" pitchFamily="34" charset="0"/>
              </a:rPr>
              <a:t> &gt;=0 , </a:t>
            </a:r>
            <a:r>
              <a:rPr kumimoji="1" lang="en-US" altLang="en-US" b="1" i="0" dirty="0" err="1">
                <a:latin typeface="Arial" panose="020B0604020202020204" pitchFamily="34" charset="0"/>
              </a:rPr>
              <a:t>hoặc</a:t>
            </a:r>
            <a:endParaRPr kumimoji="1" lang="en-US" altLang="en-US" b="1" i="0" dirty="0">
              <a:latin typeface="Arial" panose="020B0604020202020204" pitchFamily="34" charset="0"/>
            </a:endParaRPr>
          </a:p>
          <a:p>
            <a:pPr algn="l" eaLnBrk="1" hangingPunct="1">
              <a:spcBef>
                <a:spcPct val="20000"/>
              </a:spcBef>
              <a:buClr>
                <a:srgbClr val="009999"/>
              </a:buClr>
              <a:buSzPct val="75000"/>
              <a:buFont typeface="Wingdings" panose="05000000000000000000" pitchFamily="2" charset="2"/>
              <a:buChar char="l"/>
            </a:pPr>
            <a:r>
              <a:rPr kumimoji="1" lang="en-US" altLang="en-US" b="1" i="0" dirty="0" err="1">
                <a:latin typeface="Arial" panose="020B0604020202020204" pitchFamily="34" charset="0"/>
              </a:rPr>
              <a:t>Suất</a:t>
            </a:r>
            <a:r>
              <a:rPr kumimoji="1" lang="en-US" altLang="en-US" b="1" i="0" dirty="0">
                <a:latin typeface="Arial" panose="020B0604020202020204" pitchFamily="34" charset="0"/>
              </a:rPr>
              <a:t> </a:t>
            </a:r>
            <a:r>
              <a:rPr kumimoji="1" lang="en-US" altLang="en-US" b="1" i="0" dirty="0" err="1">
                <a:latin typeface="Arial" panose="020B0604020202020204" pitchFamily="34" charset="0"/>
              </a:rPr>
              <a:t>thu</a:t>
            </a:r>
            <a:r>
              <a:rPr kumimoji="1" lang="en-US" altLang="en-US" b="1" i="0" dirty="0">
                <a:latin typeface="Arial" panose="020B0604020202020204" pitchFamily="34" charset="0"/>
              </a:rPr>
              <a:t> </a:t>
            </a:r>
            <a:r>
              <a:rPr kumimoji="1" lang="en-US" altLang="en-US" b="1" i="0" dirty="0" err="1">
                <a:latin typeface="Arial" panose="020B0604020202020204" pitchFamily="34" charset="0"/>
              </a:rPr>
              <a:t>lợi</a:t>
            </a:r>
            <a:r>
              <a:rPr kumimoji="1" lang="en-US" altLang="en-US" b="1" i="0" dirty="0">
                <a:latin typeface="Arial" panose="020B0604020202020204" pitchFamily="34" charset="0"/>
              </a:rPr>
              <a:t> &gt;=MARR, </a:t>
            </a:r>
            <a:r>
              <a:rPr kumimoji="1" lang="en-US" altLang="en-US" b="1" i="0" dirty="0" err="1">
                <a:latin typeface="Arial" panose="020B0604020202020204" pitchFamily="34" charset="0"/>
              </a:rPr>
              <a:t>hoặc</a:t>
            </a:r>
            <a:r>
              <a:rPr kumimoji="1" lang="en-US" altLang="en-US" b="1" i="0" dirty="0">
                <a:latin typeface="Arial" panose="020B0604020202020204" pitchFamily="34" charset="0"/>
              </a:rPr>
              <a:t> </a:t>
            </a:r>
          </a:p>
          <a:p>
            <a:pPr algn="l" eaLnBrk="1" hangingPunct="1">
              <a:spcBef>
                <a:spcPct val="20000"/>
              </a:spcBef>
              <a:buClr>
                <a:srgbClr val="009999"/>
              </a:buClr>
              <a:buSzPct val="75000"/>
              <a:buFont typeface="Wingdings" panose="05000000000000000000" pitchFamily="2" charset="2"/>
              <a:buChar char="l"/>
            </a:pPr>
            <a:r>
              <a:rPr kumimoji="1" lang="en-US" altLang="en-US" b="1" i="0" dirty="0" err="1">
                <a:solidFill>
                  <a:srgbClr val="FF0000"/>
                </a:solidFill>
                <a:latin typeface="Arial" panose="020B0604020202020204" pitchFamily="34" charset="0"/>
              </a:rPr>
              <a:t>Tỷ</a:t>
            </a:r>
            <a:r>
              <a:rPr kumimoji="1" lang="en-US" altLang="en-US" b="1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b="1" i="0" dirty="0" err="1">
                <a:solidFill>
                  <a:srgbClr val="FF0000"/>
                </a:solidFill>
                <a:latin typeface="Arial" panose="020B0604020202020204" pitchFamily="34" charset="0"/>
              </a:rPr>
              <a:t>số</a:t>
            </a:r>
            <a:r>
              <a:rPr kumimoji="1" lang="en-US" altLang="en-US" b="1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b="1" i="0" dirty="0" err="1">
                <a:solidFill>
                  <a:srgbClr val="FF0000"/>
                </a:solidFill>
                <a:latin typeface="Arial" panose="020B0604020202020204" pitchFamily="34" charset="0"/>
              </a:rPr>
              <a:t>lợi</a:t>
            </a:r>
            <a:r>
              <a:rPr kumimoji="1" lang="en-US" altLang="en-US" b="1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b="1" i="0" dirty="0" err="1">
                <a:solidFill>
                  <a:srgbClr val="FF0000"/>
                </a:solidFill>
                <a:latin typeface="Arial" panose="020B0604020202020204" pitchFamily="34" charset="0"/>
              </a:rPr>
              <a:t>ích</a:t>
            </a:r>
            <a:r>
              <a:rPr kumimoji="1" lang="en-US" altLang="en-US" b="1" i="0" dirty="0">
                <a:solidFill>
                  <a:srgbClr val="FF0000"/>
                </a:solidFill>
                <a:latin typeface="Arial" panose="020B0604020202020204" pitchFamily="34" charset="0"/>
              </a:rPr>
              <a:t>/chi </a:t>
            </a:r>
            <a:r>
              <a:rPr kumimoji="1" lang="en-US" altLang="en-US" b="1" i="0" dirty="0" err="1">
                <a:solidFill>
                  <a:srgbClr val="FF0000"/>
                </a:solidFill>
                <a:latin typeface="Arial" panose="020B0604020202020204" pitchFamily="34" charset="0"/>
              </a:rPr>
              <a:t>phí</a:t>
            </a:r>
            <a:r>
              <a:rPr kumimoji="1" lang="en-US" altLang="en-US" b="1" i="0" dirty="0">
                <a:solidFill>
                  <a:srgbClr val="FF0000"/>
                </a:solidFill>
                <a:latin typeface="Arial" panose="020B0604020202020204" pitchFamily="34" charset="0"/>
              </a:rPr>
              <a:t> &gt;=1.</a:t>
            </a:r>
          </a:p>
          <a:p>
            <a:pPr marL="0" indent="0" algn="l" eaLnBrk="1" hangingPunct="1">
              <a:spcBef>
                <a:spcPct val="20000"/>
              </a:spcBef>
              <a:buClr>
                <a:srgbClr val="009999"/>
              </a:buClr>
              <a:buSzPct val="75000"/>
            </a:pPr>
            <a:r>
              <a:rPr kumimoji="1" lang="en-US" altLang="en-US" b="1" i="0" dirty="0">
                <a:latin typeface="Arial" panose="020B0604020202020204" pitchFamily="34" charset="0"/>
                <a:sym typeface="Wingdings" panose="05000000000000000000" pitchFamily="2" charset="2"/>
              </a:rPr>
              <a:t> 3 </a:t>
            </a:r>
            <a:r>
              <a:rPr kumimoji="1" lang="en-US" altLang="en-US" b="1" i="0" dirty="0" err="1">
                <a:latin typeface="Arial" panose="020B0604020202020204" pitchFamily="34" charset="0"/>
                <a:sym typeface="Wingdings" panose="05000000000000000000" pitchFamily="2" charset="2"/>
              </a:rPr>
              <a:t>phương</a:t>
            </a:r>
            <a:r>
              <a:rPr kumimoji="1" lang="en-US" altLang="en-US" b="1" i="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1" lang="en-US" altLang="en-US" b="1" i="0" dirty="0" err="1">
                <a:latin typeface="Arial" panose="020B0604020202020204" pitchFamily="34" charset="0"/>
                <a:sym typeface="Wingdings" panose="05000000000000000000" pitchFamily="2" charset="2"/>
              </a:rPr>
              <a:t>pháp</a:t>
            </a:r>
            <a:r>
              <a:rPr kumimoji="1" lang="en-US" altLang="en-US" b="1" i="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1" lang="en-US" altLang="en-US" b="1" i="0" dirty="0" err="1">
                <a:latin typeface="Arial" panose="020B0604020202020204" pitchFamily="34" charset="0"/>
                <a:sym typeface="Wingdings" panose="05000000000000000000" pitchFamily="2" charset="2"/>
              </a:rPr>
              <a:t>này</a:t>
            </a:r>
            <a:r>
              <a:rPr kumimoji="1" lang="en-US" altLang="en-US" b="1" i="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1" lang="en-US" altLang="en-US" b="1" i="0" dirty="0" err="1">
                <a:latin typeface="Arial" panose="020B0604020202020204" pitchFamily="34" charset="0"/>
                <a:sym typeface="Wingdings" panose="05000000000000000000" pitchFamily="2" charset="2"/>
              </a:rPr>
              <a:t>đều</a:t>
            </a:r>
            <a:r>
              <a:rPr kumimoji="1" lang="en-US" altLang="en-US" b="1" i="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1" lang="en-US" altLang="en-US" b="1" i="0" dirty="0" err="1">
                <a:latin typeface="Arial" panose="020B0604020202020204" pitchFamily="34" charset="0"/>
                <a:sym typeface="Wingdings" panose="05000000000000000000" pitchFamily="2" charset="2"/>
              </a:rPr>
              <a:t>cho</a:t>
            </a:r>
            <a:r>
              <a:rPr kumimoji="1" lang="en-US" altLang="en-US" b="1" i="0" dirty="0">
                <a:latin typeface="Arial" panose="020B0604020202020204" pitchFamily="34" charset="0"/>
                <a:sym typeface="Wingdings" panose="05000000000000000000" pitchFamily="2" charset="2"/>
              </a:rPr>
              <a:t> KQ “</a:t>
            </a:r>
            <a:r>
              <a:rPr kumimoji="1" lang="en-US" altLang="en-US" b="1" i="0" dirty="0" err="1">
                <a:latin typeface="Arial" panose="020B0604020202020204" pitchFamily="34" charset="0"/>
                <a:sym typeface="Wingdings" panose="05000000000000000000" pitchFamily="2" charset="2"/>
              </a:rPr>
              <a:t>đáng</a:t>
            </a:r>
            <a:r>
              <a:rPr kumimoji="1" lang="en-US" altLang="en-US" b="1" i="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1" lang="en-US" altLang="en-US" b="1" i="0" dirty="0" err="1">
                <a:latin typeface="Arial" panose="020B0604020202020204" pitchFamily="34" charset="0"/>
                <a:sym typeface="Wingdings" panose="05000000000000000000" pitchFamily="2" charset="2"/>
              </a:rPr>
              <a:t>giá</a:t>
            </a:r>
            <a:r>
              <a:rPr kumimoji="1" lang="en-US" altLang="en-US" b="1" i="0" dirty="0">
                <a:latin typeface="Arial" panose="020B0604020202020204" pitchFamily="34" charset="0"/>
                <a:sym typeface="Wingdings" panose="05000000000000000000" pitchFamily="2" charset="2"/>
              </a:rPr>
              <a:t>” </a:t>
            </a:r>
            <a:r>
              <a:rPr kumimoji="1" lang="en-US" altLang="en-US" b="1" i="0" dirty="0" err="1">
                <a:latin typeface="Arial" panose="020B0604020202020204" pitchFamily="34" charset="0"/>
                <a:sym typeface="Wingdings" panose="05000000000000000000" pitchFamily="2" charset="2"/>
              </a:rPr>
              <a:t>là</a:t>
            </a:r>
            <a:r>
              <a:rPr kumimoji="1" lang="en-US" altLang="en-US" b="1" i="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1" lang="en-US" altLang="en-US" b="1" i="0" dirty="0" err="1">
                <a:latin typeface="Arial" panose="020B0604020202020204" pitchFamily="34" charset="0"/>
                <a:sym typeface="Wingdings" panose="05000000000000000000" pitchFamily="2" charset="2"/>
              </a:rPr>
              <a:t>như</a:t>
            </a:r>
            <a:r>
              <a:rPr kumimoji="1" lang="en-US" altLang="en-US" b="1" i="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1" lang="en-US" altLang="en-US" b="1" i="0" dirty="0" err="1">
                <a:latin typeface="Arial" panose="020B0604020202020204" pitchFamily="34" charset="0"/>
                <a:sym typeface="Wingdings" panose="05000000000000000000" pitchFamily="2" charset="2"/>
              </a:rPr>
              <a:t>nhau</a:t>
            </a:r>
            <a:r>
              <a:rPr kumimoji="1" lang="en-US" altLang="en-US" b="1" i="0" dirty="0">
                <a:latin typeface="Arial" panose="020B0604020202020204" pitchFamily="34" charset="0"/>
                <a:sym typeface="Wingdings" panose="05000000000000000000" pitchFamily="2" charset="2"/>
              </a:rPr>
              <a:t>.</a:t>
            </a:r>
            <a:endParaRPr kumimoji="1" lang="en-US" altLang="en-US" b="1" i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dissolv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5C1723D9-86A1-6385-5264-889DA77EFBA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90600" y="381000"/>
            <a:ext cx="8153400" cy="838200"/>
          </a:xfrm>
        </p:spPr>
        <p:txBody>
          <a:bodyPr/>
          <a:lstStyle/>
          <a:p>
            <a:pPr algn="r"/>
            <a:r>
              <a:rPr lang="en-US" altLang="en-US" sz="3200" b="1" dirty="0">
                <a:solidFill>
                  <a:srgbClr val="008000"/>
                </a:solidFill>
                <a:latin typeface="Arial" panose="020B0604020202020204" pitchFamily="34" charset="0"/>
              </a:rPr>
              <a:t>PHƯƠNG PHÁP GIÁ TRỊ HIỆN TẠI (PW)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83E37F1E-840D-1AEB-1A84-99B1C310F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1662113"/>
            <a:ext cx="7224713" cy="454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algn="l" eaLnBrk="1" hangingPunct="1">
              <a:lnSpc>
                <a:spcPct val="80000"/>
              </a:lnSpc>
              <a:spcBef>
                <a:spcPct val="20000"/>
              </a:spcBef>
              <a:buClr>
                <a:srgbClr val="009999"/>
              </a:buClr>
              <a:buFontTx/>
              <a:buChar char="–"/>
            </a:pPr>
            <a:r>
              <a:rPr kumimoji="1" lang="en-US" altLang="en-US" sz="2100" b="1" dirty="0" err="1">
                <a:solidFill>
                  <a:srgbClr val="008000"/>
                </a:solidFill>
                <a:latin typeface="Arial" panose="020B0604020202020204" pitchFamily="34" charset="0"/>
              </a:rPr>
              <a:t>Giá</a:t>
            </a:r>
            <a:r>
              <a:rPr kumimoji="1" lang="en-US" altLang="en-US" sz="2100" b="1" dirty="0">
                <a:solidFill>
                  <a:srgbClr val="008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100" b="1" dirty="0" err="1">
                <a:solidFill>
                  <a:srgbClr val="008000"/>
                </a:solidFill>
                <a:latin typeface="Arial" panose="020B0604020202020204" pitchFamily="34" charset="0"/>
              </a:rPr>
              <a:t>trị</a:t>
            </a:r>
            <a:r>
              <a:rPr kumimoji="1" lang="en-US" altLang="en-US" sz="2100" b="1" dirty="0">
                <a:solidFill>
                  <a:srgbClr val="008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100" b="1" dirty="0" err="1">
                <a:solidFill>
                  <a:srgbClr val="008000"/>
                </a:solidFill>
                <a:latin typeface="Arial" panose="020B0604020202020204" pitchFamily="34" charset="0"/>
              </a:rPr>
              <a:t>hiện</a:t>
            </a:r>
            <a:r>
              <a:rPr kumimoji="1" lang="en-US" altLang="en-US" sz="2100" b="1" dirty="0">
                <a:solidFill>
                  <a:srgbClr val="008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100" b="1" dirty="0" err="1">
                <a:solidFill>
                  <a:srgbClr val="008000"/>
                </a:solidFill>
                <a:latin typeface="Arial" panose="020B0604020202020204" pitchFamily="34" charset="0"/>
              </a:rPr>
              <a:t>tại</a:t>
            </a:r>
            <a:r>
              <a:rPr kumimoji="1" lang="en-US" altLang="en-US" sz="2100" b="1" dirty="0">
                <a:solidFill>
                  <a:srgbClr val="008000"/>
                </a:solidFill>
                <a:latin typeface="Arial" panose="020B0604020202020204" pitchFamily="34" charset="0"/>
              </a:rPr>
              <a:t>:</a:t>
            </a:r>
            <a:r>
              <a:rPr kumimoji="1" lang="en-US" altLang="en-US" sz="2100" i="0" dirty="0">
                <a:latin typeface="Arial" panose="020B0604020202020204" pitchFamily="34" charset="0"/>
              </a:rPr>
              <a:t> </a:t>
            </a:r>
            <a:r>
              <a:rPr kumimoji="1" lang="en-US" altLang="en-US" sz="2100" i="0" dirty="0" err="1">
                <a:latin typeface="Arial" panose="020B0604020202020204" pitchFamily="34" charset="0"/>
              </a:rPr>
              <a:t>là</a:t>
            </a:r>
            <a:r>
              <a:rPr kumimoji="1" lang="en-US" altLang="en-US" sz="2100" i="0" dirty="0">
                <a:latin typeface="Arial" panose="020B0604020202020204" pitchFamily="34" charset="0"/>
              </a:rPr>
              <a:t> </a:t>
            </a:r>
            <a:r>
              <a:rPr kumimoji="1" lang="en-US" altLang="en-US" sz="2100" i="0" dirty="0" err="1">
                <a:latin typeface="Arial" panose="020B0604020202020204" pitchFamily="34" charset="0"/>
              </a:rPr>
              <a:t>toàn</a:t>
            </a:r>
            <a:r>
              <a:rPr kumimoji="1" lang="en-US" altLang="en-US" sz="2100" i="0" dirty="0">
                <a:latin typeface="Arial" panose="020B0604020202020204" pitchFamily="34" charset="0"/>
              </a:rPr>
              <a:t> </a:t>
            </a:r>
            <a:r>
              <a:rPr kumimoji="1" lang="en-US" altLang="en-US" sz="2100" i="0" dirty="0" err="1">
                <a:latin typeface="Arial" panose="020B0604020202020204" pitchFamily="34" charset="0"/>
              </a:rPr>
              <a:t>bộ</a:t>
            </a:r>
            <a:r>
              <a:rPr kumimoji="1" lang="en-US" altLang="en-US" sz="2100" i="0" dirty="0">
                <a:latin typeface="Arial" panose="020B0604020202020204" pitchFamily="34" charset="0"/>
              </a:rPr>
              <a:t> </a:t>
            </a:r>
            <a:r>
              <a:rPr kumimoji="1" lang="en-US" altLang="en-US" sz="2100" i="0" dirty="0" err="1">
                <a:latin typeface="Arial" panose="020B0604020202020204" pitchFamily="34" charset="0"/>
              </a:rPr>
              <a:t>thu</a:t>
            </a:r>
            <a:r>
              <a:rPr kumimoji="1" lang="en-US" altLang="en-US" sz="2100" i="0" dirty="0">
                <a:latin typeface="Arial" panose="020B0604020202020204" pitchFamily="34" charset="0"/>
              </a:rPr>
              <a:t> </a:t>
            </a:r>
            <a:r>
              <a:rPr kumimoji="1" lang="en-US" altLang="en-US" sz="2100" i="0" dirty="0" err="1">
                <a:latin typeface="Arial" panose="020B0604020202020204" pitchFamily="34" charset="0"/>
              </a:rPr>
              <a:t>nhập</a:t>
            </a:r>
            <a:r>
              <a:rPr kumimoji="1" lang="en-US" altLang="en-US" sz="2100" i="0" dirty="0">
                <a:latin typeface="Arial" panose="020B0604020202020204" pitchFamily="34" charset="0"/>
              </a:rPr>
              <a:t> </a:t>
            </a:r>
            <a:r>
              <a:rPr kumimoji="1" lang="en-US" altLang="en-US" sz="2100" i="0" dirty="0" err="1">
                <a:latin typeface="Arial" panose="020B0604020202020204" pitchFamily="34" charset="0"/>
              </a:rPr>
              <a:t>và</a:t>
            </a:r>
            <a:r>
              <a:rPr kumimoji="1" lang="en-US" altLang="en-US" sz="2100" i="0" dirty="0">
                <a:latin typeface="Arial" panose="020B0604020202020204" pitchFamily="34" charset="0"/>
              </a:rPr>
              <a:t> chi </a:t>
            </a:r>
            <a:r>
              <a:rPr kumimoji="1" lang="en-US" altLang="en-US" sz="2100" i="0" dirty="0" err="1">
                <a:latin typeface="Arial" panose="020B0604020202020204" pitchFamily="34" charset="0"/>
              </a:rPr>
              <a:t>phí</a:t>
            </a:r>
            <a:r>
              <a:rPr kumimoji="1" lang="en-US" altLang="en-US" sz="2100" i="0" dirty="0">
                <a:latin typeface="Arial" panose="020B0604020202020204" pitchFamily="34" charset="0"/>
              </a:rPr>
              <a:t> </a:t>
            </a:r>
            <a:r>
              <a:rPr kumimoji="1" lang="en-US" altLang="en-US" sz="2100" i="0" dirty="0" err="1">
                <a:latin typeface="Arial" panose="020B0604020202020204" pitchFamily="34" charset="0"/>
              </a:rPr>
              <a:t>của</a:t>
            </a:r>
            <a:r>
              <a:rPr kumimoji="1" lang="en-US" altLang="en-US" sz="2100" i="0" dirty="0">
                <a:latin typeface="Arial" panose="020B0604020202020204" pitchFamily="34" charset="0"/>
              </a:rPr>
              <a:t> </a:t>
            </a:r>
            <a:r>
              <a:rPr kumimoji="1" lang="en-US" altLang="en-US" sz="2100" i="0" dirty="0" err="1">
                <a:latin typeface="Arial" panose="020B0604020202020204" pitchFamily="34" charset="0"/>
              </a:rPr>
              <a:t>phương</a:t>
            </a:r>
            <a:r>
              <a:rPr kumimoji="1" lang="en-US" altLang="en-US" sz="2100" i="0" dirty="0">
                <a:latin typeface="Arial" panose="020B0604020202020204" pitchFamily="34" charset="0"/>
              </a:rPr>
              <a:t> </a:t>
            </a:r>
            <a:r>
              <a:rPr kumimoji="1" lang="en-US" altLang="en-US" sz="2100" i="0" dirty="0" err="1">
                <a:latin typeface="Arial" panose="020B0604020202020204" pitchFamily="34" charset="0"/>
              </a:rPr>
              <a:t>án</a:t>
            </a:r>
            <a:r>
              <a:rPr kumimoji="1" lang="en-US" altLang="en-US" sz="2100" i="0" dirty="0">
                <a:latin typeface="Arial" panose="020B0604020202020204" pitchFamily="34" charset="0"/>
              </a:rPr>
              <a:t> </a:t>
            </a:r>
            <a:r>
              <a:rPr kumimoji="1" lang="en-US" altLang="en-US" sz="2100" i="0" dirty="0" err="1">
                <a:latin typeface="Arial" panose="020B0604020202020204" pitchFamily="34" charset="0"/>
              </a:rPr>
              <a:t>trong</a:t>
            </a:r>
            <a:r>
              <a:rPr kumimoji="1" lang="en-US" altLang="en-US" sz="2100" i="0" dirty="0">
                <a:latin typeface="Arial" panose="020B0604020202020204" pitchFamily="34" charset="0"/>
              </a:rPr>
              <a:t> </a:t>
            </a:r>
            <a:r>
              <a:rPr kumimoji="1" lang="en-US" altLang="en-US" sz="2100" i="0" dirty="0" err="1">
                <a:latin typeface="Arial" panose="020B0604020202020204" pitchFamily="34" charset="0"/>
              </a:rPr>
              <a:t>suốt</a:t>
            </a:r>
            <a:r>
              <a:rPr kumimoji="1" lang="en-US" altLang="en-US" sz="2100" i="0" dirty="0">
                <a:latin typeface="Arial" panose="020B0604020202020204" pitchFamily="34" charset="0"/>
              </a:rPr>
              <a:t> </a:t>
            </a:r>
            <a:r>
              <a:rPr kumimoji="1" lang="en-US" altLang="en-US" sz="2100" i="0" dirty="0" err="1">
                <a:latin typeface="Arial" panose="020B0604020202020204" pitchFamily="34" charset="0"/>
              </a:rPr>
              <a:t>thời</a:t>
            </a:r>
            <a:r>
              <a:rPr kumimoji="1" lang="en-US" altLang="en-US" sz="2100" i="0" dirty="0">
                <a:latin typeface="Arial" panose="020B0604020202020204" pitchFamily="34" charset="0"/>
              </a:rPr>
              <a:t> </a:t>
            </a:r>
            <a:r>
              <a:rPr kumimoji="1" lang="en-US" altLang="en-US" sz="2100" i="0" dirty="0" err="1">
                <a:latin typeface="Arial" panose="020B0604020202020204" pitchFamily="34" charset="0"/>
              </a:rPr>
              <a:t>kỳ</a:t>
            </a:r>
            <a:r>
              <a:rPr kumimoji="1" lang="en-US" altLang="en-US" sz="2100" i="0" dirty="0">
                <a:latin typeface="Arial" panose="020B0604020202020204" pitchFamily="34" charset="0"/>
              </a:rPr>
              <a:t> </a:t>
            </a:r>
            <a:r>
              <a:rPr kumimoji="1" lang="en-US" altLang="en-US" sz="2100" i="0" dirty="0" err="1">
                <a:latin typeface="Arial" panose="020B0604020202020204" pitchFamily="34" charset="0"/>
              </a:rPr>
              <a:t>phân</a:t>
            </a:r>
            <a:r>
              <a:rPr kumimoji="1" lang="en-US" altLang="en-US" sz="2100" i="0" dirty="0">
                <a:latin typeface="Arial" panose="020B0604020202020204" pitchFamily="34" charset="0"/>
              </a:rPr>
              <a:t> </a:t>
            </a:r>
            <a:r>
              <a:rPr kumimoji="1" lang="en-US" altLang="en-US" sz="2100" i="0" dirty="0" err="1">
                <a:latin typeface="Arial" panose="020B0604020202020204" pitchFamily="34" charset="0"/>
              </a:rPr>
              <a:t>tích</a:t>
            </a:r>
            <a:r>
              <a:rPr kumimoji="1" lang="en-US" altLang="en-US" sz="2100" i="0" dirty="0">
                <a:latin typeface="Arial" panose="020B0604020202020204" pitchFamily="34" charset="0"/>
              </a:rPr>
              <a:t> </a:t>
            </a:r>
            <a:r>
              <a:rPr kumimoji="1" lang="en-US" altLang="en-US" sz="2100" i="0" dirty="0" err="1">
                <a:latin typeface="Arial" panose="020B0604020202020204" pitchFamily="34" charset="0"/>
              </a:rPr>
              <a:t>được</a:t>
            </a:r>
            <a:r>
              <a:rPr kumimoji="1" lang="en-US" altLang="en-US" sz="2100" i="0" dirty="0">
                <a:latin typeface="Arial" panose="020B0604020202020204" pitchFamily="34" charset="0"/>
              </a:rPr>
              <a:t> </a:t>
            </a:r>
            <a:r>
              <a:rPr kumimoji="1" lang="en-US" altLang="en-US" sz="2100" i="0" dirty="0" err="1">
                <a:latin typeface="Arial" panose="020B0604020202020204" pitchFamily="34" charset="0"/>
              </a:rPr>
              <a:t>quy</a:t>
            </a:r>
            <a:r>
              <a:rPr kumimoji="1" lang="en-US" altLang="en-US" sz="2100" i="0" dirty="0">
                <a:latin typeface="Arial" panose="020B0604020202020204" pitchFamily="34" charset="0"/>
              </a:rPr>
              <a:t> </a:t>
            </a:r>
            <a:r>
              <a:rPr kumimoji="1" lang="en-US" altLang="en-US" sz="2100" i="0" dirty="0" err="1">
                <a:latin typeface="Arial" panose="020B0604020202020204" pitchFamily="34" charset="0"/>
              </a:rPr>
              <a:t>đổi</a:t>
            </a:r>
            <a:r>
              <a:rPr kumimoji="1" lang="en-US" altLang="en-US" sz="2100" i="0" dirty="0">
                <a:latin typeface="Arial" panose="020B0604020202020204" pitchFamily="34" charset="0"/>
              </a:rPr>
              <a:t> </a:t>
            </a:r>
            <a:r>
              <a:rPr kumimoji="1" lang="en-US" altLang="en-US" sz="2100" i="0" dirty="0" err="1">
                <a:latin typeface="Arial" panose="020B0604020202020204" pitchFamily="34" charset="0"/>
              </a:rPr>
              <a:t>thành</a:t>
            </a:r>
            <a:r>
              <a:rPr kumimoji="1" lang="en-US" altLang="en-US" sz="2100" i="0" dirty="0">
                <a:latin typeface="Arial" panose="020B0604020202020204" pitchFamily="34" charset="0"/>
              </a:rPr>
              <a:t> </a:t>
            </a:r>
            <a:r>
              <a:rPr kumimoji="1" lang="en-US" altLang="en-US" sz="2100" i="0" dirty="0" err="1">
                <a:latin typeface="Arial" panose="020B0604020202020204" pitchFamily="34" charset="0"/>
              </a:rPr>
              <a:t>một</a:t>
            </a:r>
            <a:r>
              <a:rPr kumimoji="1" lang="en-US" altLang="en-US" sz="2100" i="0" dirty="0">
                <a:latin typeface="Arial" panose="020B0604020202020204" pitchFamily="34" charset="0"/>
              </a:rPr>
              <a:t> </a:t>
            </a:r>
            <a:r>
              <a:rPr kumimoji="1" lang="en-US" altLang="en-US" sz="2100" i="0" dirty="0" err="1">
                <a:latin typeface="Arial" panose="020B0604020202020204" pitchFamily="34" charset="0"/>
              </a:rPr>
              <a:t>giá</a:t>
            </a:r>
            <a:r>
              <a:rPr kumimoji="1" lang="en-US" altLang="en-US" sz="2100" i="0" dirty="0">
                <a:latin typeface="Arial" panose="020B0604020202020204" pitchFamily="34" charset="0"/>
              </a:rPr>
              <a:t> </a:t>
            </a:r>
            <a:r>
              <a:rPr kumimoji="1" lang="en-US" altLang="en-US" sz="2100" i="0" dirty="0" err="1">
                <a:latin typeface="Arial" panose="020B0604020202020204" pitchFamily="34" charset="0"/>
              </a:rPr>
              <a:t>trị</a:t>
            </a:r>
            <a:r>
              <a:rPr kumimoji="1" lang="en-US" altLang="en-US" sz="2100" i="0" dirty="0">
                <a:latin typeface="Arial" panose="020B0604020202020204" pitchFamily="34" charset="0"/>
              </a:rPr>
              <a:t> </a:t>
            </a:r>
            <a:r>
              <a:rPr kumimoji="1" lang="en-US" altLang="en-US" sz="2100" i="0" dirty="0" err="1">
                <a:latin typeface="Arial" panose="020B0604020202020204" pitchFamily="34" charset="0"/>
              </a:rPr>
              <a:t>tương</a:t>
            </a:r>
            <a:r>
              <a:rPr kumimoji="1" lang="en-US" altLang="en-US" sz="2100" i="0" dirty="0">
                <a:latin typeface="Arial" panose="020B0604020202020204" pitchFamily="34" charset="0"/>
              </a:rPr>
              <a:t> </a:t>
            </a:r>
            <a:r>
              <a:rPr kumimoji="1" lang="en-US" altLang="en-US" sz="2100" i="0" dirty="0" err="1">
                <a:latin typeface="Arial" panose="020B0604020202020204" pitchFamily="34" charset="0"/>
              </a:rPr>
              <a:t>đương</a:t>
            </a:r>
            <a:r>
              <a:rPr kumimoji="1" lang="en-US" altLang="en-US" sz="2100" i="0" dirty="0">
                <a:latin typeface="Arial" panose="020B0604020202020204" pitchFamily="34" charset="0"/>
              </a:rPr>
              <a:t> ở </a:t>
            </a:r>
            <a:r>
              <a:rPr kumimoji="1" lang="en-US" altLang="en-US" sz="2100" i="0" dirty="0" err="1">
                <a:latin typeface="Arial" panose="020B0604020202020204" pitchFamily="34" charset="0"/>
              </a:rPr>
              <a:t>hiện</a:t>
            </a:r>
            <a:r>
              <a:rPr kumimoji="1" lang="en-US" altLang="en-US" sz="2100" i="0" dirty="0">
                <a:latin typeface="Arial" panose="020B0604020202020204" pitchFamily="34" charset="0"/>
              </a:rPr>
              <a:t> </a:t>
            </a:r>
            <a:r>
              <a:rPr kumimoji="1" lang="en-US" altLang="en-US" sz="2100" i="0" dirty="0" err="1">
                <a:latin typeface="Arial" panose="020B0604020202020204" pitchFamily="34" charset="0"/>
              </a:rPr>
              <a:t>tại</a:t>
            </a:r>
            <a:r>
              <a:rPr kumimoji="1" lang="en-US" altLang="en-US" sz="2100" i="0" dirty="0">
                <a:latin typeface="Arial" panose="020B0604020202020204" pitchFamily="34" charset="0"/>
              </a:rPr>
              <a:t>.</a:t>
            </a:r>
          </a:p>
          <a:p>
            <a:pPr lvl="1" algn="l" eaLnBrk="1" hangingPunct="1">
              <a:lnSpc>
                <a:spcPct val="80000"/>
              </a:lnSpc>
              <a:spcBef>
                <a:spcPct val="20000"/>
              </a:spcBef>
              <a:buClr>
                <a:srgbClr val="009999"/>
              </a:buClr>
              <a:buFontTx/>
              <a:buChar char="–"/>
            </a:pPr>
            <a:r>
              <a:rPr kumimoji="1" lang="en-US" altLang="en-US" sz="2100" b="1" dirty="0">
                <a:solidFill>
                  <a:srgbClr val="008000"/>
                </a:solidFill>
                <a:latin typeface="Arial" panose="020B0604020202020204" pitchFamily="34" charset="0"/>
              </a:rPr>
              <a:t>Phương </a:t>
            </a:r>
            <a:r>
              <a:rPr kumimoji="1" lang="en-US" altLang="en-US" sz="2100" b="1" dirty="0" err="1">
                <a:solidFill>
                  <a:srgbClr val="008000"/>
                </a:solidFill>
                <a:latin typeface="Arial" panose="020B0604020202020204" pitchFamily="34" charset="0"/>
              </a:rPr>
              <a:t>án</a:t>
            </a:r>
            <a:r>
              <a:rPr kumimoji="1" lang="en-US" altLang="en-US" sz="2100" b="1" dirty="0">
                <a:solidFill>
                  <a:srgbClr val="008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100" b="1" dirty="0" err="1">
                <a:solidFill>
                  <a:srgbClr val="008000"/>
                </a:solidFill>
                <a:latin typeface="Arial" panose="020B0604020202020204" pitchFamily="34" charset="0"/>
              </a:rPr>
              <a:t>có</a:t>
            </a:r>
            <a:r>
              <a:rPr kumimoji="1" lang="en-US" altLang="en-US" sz="2100" b="1" dirty="0">
                <a:solidFill>
                  <a:srgbClr val="008000"/>
                </a:solidFill>
                <a:latin typeface="Arial" panose="020B0604020202020204" pitchFamily="34" charset="0"/>
              </a:rPr>
              <a:t> PW (</a:t>
            </a:r>
            <a:r>
              <a:rPr kumimoji="1" lang="en-US" altLang="en-US" sz="2100" b="1" u="sng" dirty="0">
                <a:solidFill>
                  <a:srgbClr val="008000"/>
                </a:solidFill>
                <a:latin typeface="Arial" panose="020B0604020202020204" pitchFamily="34" charset="0"/>
              </a:rPr>
              <a:t>P</a:t>
            </a:r>
            <a:r>
              <a:rPr kumimoji="1" lang="en-US" altLang="en-US" sz="2100" b="1" dirty="0">
                <a:solidFill>
                  <a:srgbClr val="008000"/>
                </a:solidFill>
                <a:latin typeface="Arial" panose="020B0604020202020204" pitchFamily="34" charset="0"/>
              </a:rPr>
              <a:t>resent </a:t>
            </a:r>
            <a:r>
              <a:rPr kumimoji="1" lang="en-US" altLang="en-US" sz="2100" b="1" u="sng" dirty="0">
                <a:solidFill>
                  <a:srgbClr val="008000"/>
                </a:solidFill>
                <a:latin typeface="Arial" panose="020B0604020202020204" pitchFamily="34" charset="0"/>
              </a:rPr>
              <a:t>W</a:t>
            </a:r>
            <a:r>
              <a:rPr kumimoji="1" lang="en-US" altLang="en-US" sz="2100" b="1" dirty="0">
                <a:solidFill>
                  <a:srgbClr val="008000"/>
                </a:solidFill>
                <a:latin typeface="Arial" panose="020B0604020202020204" pitchFamily="34" charset="0"/>
              </a:rPr>
              <a:t>orth) </a:t>
            </a:r>
            <a:r>
              <a:rPr kumimoji="1" lang="en-US" altLang="en-US" sz="2100" b="1" dirty="0" err="1">
                <a:solidFill>
                  <a:srgbClr val="008000"/>
                </a:solidFill>
                <a:latin typeface="Arial" panose="020B0604020202020204" pitchFamily="34" charset="0"/>
              </a:rPr>
              <a:t>lớn</a:t>
            </a:r>
            <a:r>
              <a:rPr kumimoji="1" lang="en-US" altLang="en-US" sz="2100" b="1" dirty="0">
                <a:solidFill>
                  <a:srgbClr val="008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100" b="1" dirty="0" err="1">
                <a:solidFill>
                  <a:srgbClr val="008000"/>
                </a:solidFill>
                <a:latin typeface="Arial" panose="020B0604020202020204" pitchFamily="34" charset="0"/>
              </a:rPr>
              <a:t>nhất</a:t>
            </a:r>
            <a:r>
              <a:rPr kumimoji="1" lang="en-US" altLang="en-US" sz="2100" i="0" dirty="0">
                <a:latin typeface="Arial" panose="020B0604020202020204" pitchFamily="34" charset="0"/>
              </a:rPr>
              <a:t> </a:t>
            </a:r>
            <a:r>
              <a:rPr kumimoji="1" lang="en-US" altLang="en-US" sz="2100" i="0" dirty="0" err="1">
                <a:latin typeface="Arial" panose="020B0604020202020204" pitchFamily="34" charset="0"/>
              </a:rPr>
              <a:t>là</a:t>
            </a:r>
            <a:r>
              <a:rPr kumimoji="1" lang="en-US" altLang="en-US" sz="2100" i="0" dirty="0">
                <a:latin typeface="Arial" panose="020B0604020202020204" pitchFamily="34" charset="0"/>
              </a:rPr>
              <a:t> </a:t>
            </a:r>
            <a:r>
              <a:rPr kumimoji="1" lang="en-US" altLang="en-US" sz="2100" i="0" dirty="0" err="1">
                <a:latin typeface="Arial" panose="020B0604020202020204" pitchFamily="34" charset="0"/>
              </a:rPr>
              <a:t>phương</a:t>
            </a:r>
            <a:r>
              <a:rPr kumimoji="1" lang="en-US" altLang="en-US" sz="2100" i="0" dirty="0">
                <a:latin typeface="Arial" panose="020B0604020202020204" pitchFamily="34" charset="0"/>
              </a:rPr>
              <a:t> </a:t>
            </a:r>
            <a:r>
              <a:rPr kumimoji="1" lang="en-US" altLang="en-US" sz="2100" i="0" dirty="0" err="1">
                <a:latin typeface="Arial" panose="020B0604020202020204" pitchFamily="34" charset="0"/>
              </a:rPr>
              <a:t>án</a:t>
            </a:r>
            <a:r>
              <a:rPr kumimoji="1" lang="en-US" altLang="en-US" sz="2100" i="0" dirty="0">
                <a:latin typeface="Arial" panose="020B0604020202020204" pitchFamily="34" charset="0"/>
              </a:rPr>
              <a:t> </a:t>
            </a:r>
            <a:r>
              <a:rPr kumimoji="1" lang="en-US" altLang="en-US" sz="2100" i="0" dirty="0" err="1">
                <a:latin typeface="Arial" panose="020B0604020202020204" pitchFamily="34" charset="0"/>
              </a:rPr>
              <a:t>có</a:t>
            </a:r>
            <a:r>
              <a:rPr kumimoji="1" lang="en-US" altLang="en-US" sz="2100" i="0" dirty="0">
                <a:latin typeface="Arial" panose="020B0604020202020204" pitchFamily="34" charset="0"/>
              </a:rPr>
              <a:t> </a:t>
            </a:r>
            <a:r>
              <a:rPr kumimoji="1" lang="en-US" altLang="en-US" sz="2100" i="0" dirty="0" err="1">
                <a:latin typeface="Arial" panose="020B0604020202020204" pitchFamily="34" charset="0"/>
              </a:rPr>
              <a:t>lợi</a:t>
            </a:r>
            <a:r>
              <a:rPr kumimoji="1" lang="en-US" altLang="en-US" sz="2100" i="0" dirty="0">
                <a:latin typeface="Arial" panose="020B0604020202020204" pitchFamily="34" charset="0"/>
              </a:rPr>
              <a:t> </a:t>
            </a:r>
            <a:r>
              <a:rPr kumimoji="1" lang="en-US" altLang="en-US" sz="2100" i="0" dirty="0" err="1">
                <a:latin typeface="Arial" panose="020B0604020202020204" pitchFamily="34" charset="0"/>
              </a:rPr>
              <a:t>nhất</a:t>
            </a:r>
            <a:r>
              <a:rPr kumimoji="1" lang="en-US" altLang="en-US" sz="2100" i="0" dirty="0">
                <a:latin typeface="Arial" panose="020B0604020202020204" pitchFamily="34" charset="0"/>
              </a:rPr>
              <a:t>.</a:t>
            </a:r>
          </a:p>
          <a:p>
            <a:pPr lvl="1" algn="l" eaLnBrk="1" hangingPunct="1">
              <a:lnSpc>
                <a:spcPct val="80000"/>
              </a:lnSpc>
              <a:spcBef>
                <a:spcPct val="20000"/>
              </a:spcBef>
              <a:buClr>
                <a:srgbClr val="009999"/>
              </a:buClr>
              <a:buFontTx/>
              <a:buChar char="–"/>
            </a:pPr>
            <a:r>
              <a:rPr kumimoji="1" lang="en-US" altLang="en-US" sz="2100" b="1" dirty="0" err="1">
                <a:solidFill>
                  <a:srgbClr val="008000"/>
                </a:solidFill>
                <a:latin typeface="Arial" panose="020B0604020202020204" pitchFamily="34" charset="0"/>
              </a:rPr>
              <a:t>Tiêu</a:t>
            </a:r>
            <a:r>
              <a:rPr kumimoji="1" lang="en-US" altLang="en-US" sz="2100" b="1" dirty="0">
                <a:solidFill>
                  <a:srgbClr val="008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100" b="1" dirty="0" err="1">
                <a:solidFill>
                  <a:srgbClr val="008000"/>
                </a:solidFill>
                <a:latin typeface="Arial" panose="020B0604020202020204" pitchFamily="34" charset="0"/>
              </a:rPr>
              <a:t>chuẩn</a:t>
            </a:r>
            <a:r>
              <a:rPr kumimoji="1" lang="en-US" altLang="en-US" sz="2100" b="1" dirty="0">
                <a:solidFill>
                  <a:srgbClr val="008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100" b="1" dirty="0" err="1">
                <a:solidFill>
                  <a:srgbClr val="008000"/>
                </a:solidFill>
                <a:latin typeface="Arial" panose="020B0604020202020204" pitchFamily="34" charset="0"/>
              </a:rPr>
              <a:t>hiệu</a:t>
            </a:r>
            <a:r>
              <a:rPr kumimoji="1" lang="en-US" altLang="en-US" sz="2100" b="1" dirty="0">
                <a:solidFill>
                  <a:srgbClr val="008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100" b="1" dirty="0" err="1">
                <a:solidFill>
                  <a:srgbClr val="008000"/>
                </a:solidFill>
                <a:latin typeface="Arial" panose="020B0604020202020204" pitchFamily="34" charset="0"/>
              </a:rPr>
              <a:t>quả</a:t>
            </a:r>
            <a:r>
              <a:rPr kumimoji="1" lang="en-US" altLang="en-US" sz="2100" b="1" dirty="0">
                <a:solidFill>
                  <a:srgbClr val="008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100" b="1" dirty="0" err="1">
                <a:solidFill>
                  <a:srgbClr val="008000"/>
                </a:solidFill>
                <a:latin typeface="Arial" panose="020B0604020202020204" pitchFamily="34" charset="0"/>
              </a:rPr>
              <a:t>của</a:t>
            </a:r>
            <a:r>
              <a:rPr kumimoji="1" lang="en-US" altLang="en-US" sz="2100" b="1" dirty="0">
                <a:solidFill>
                  <a:srgbClr val="008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100" b="1" dirty="0" err="1">
                <a:solidFill>
                  <a:srgbClr val="008000"/>
                </a:solidFill>
                <a:latin typeface="Arial" panose="020B0604020202020204" pitchFamily="34" charset="0"/>
              </a:rPr>
              <a:t>phương</a:t>
            </a:r>
            <a:r>
              <a:rPr kumimoji="1" lang="en-US" altLang="en-US" sz="2100" b="1" dirty="0">
                <a:solidFill>
                  <a:srgbClr val="008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100" b="1" dirty="0" err="1">
                <a:solidFill>
                  <a:srgbClr val="008000"/>
                </a:solidFill>
                <a:latin typeface="Arial" panose="020B0604020202020204" pitchFamily="34" charset="0"/>
              </a:rPr>
              <a:t>án</a:t>
            </a:r>
            <a:r>
              <a:rPr kumimoji="1" lang="en-US" altLang="en-US" sz="2100" b="1" dirty="0">
                <a:solidFill>
                  <a:srgbClr val="008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en-US" sz="2100" b="1" dirty="0" err="1">
                <a:solidFill>
                  <a:srgbClr val="008000"/>
                </a:solidFill>
                <a:latin typeface="Arial" panose="020B0604020202020204" pitchFamily="34" charset="0"/>
              </a:rPr>
              <a:t>là</a:t>
            </a:r>
            <a:r>
              <a:rPr kumimoji="1" lang="en-US" altLang="en-US" sz="2100" b="1" dirty="0">
                <a:solidFill>
                  <a:srgbClr val="008000"/>
                </a:solidFill>
                <a:latin typeface="Arial" panose="020B0604020202020204" pitchFamily="34" charset="0"/>
              </a:rPr>
              <a:t>:</a:t>
            </a:r>
            <a:r>
              <a:rPr kumimoji="1" lang="en-US" altLang="en-US" sz="2100" i="0" dirty="0">
                <a:latin typeface="Arial" panose="020B0604020202020204" pitchFamily="34" charset="0"/>
              </a:rPr>
              <a:t> </a:t>
            </a:r>
            <a:r>
              <a:rPr kumimoji="1" lang="en-US" altLang="en-US" sz="2100" i="0" dirty="0" err="1">
                <a:latin typeface="Arial" panose="020B0604020202020204" pitchFamily="34" charset="0"/>
              </a:rPr>
              <a:t>Cực</a:t>
            </a:r>
            <a:r>
              <a:rPr kumimoji="1" lang="en-US" altLang="en-US" sz="2100" i="0" dirty="0">
                <a:latin typeface="Arial" panose="020B0604020202020204" pitchFamily="34" charset="0"/>
              </a:rPr>
              <a:t> </a:t>
            </a:r>
            <a:r>
              <a:rPr kumimoji="1" lang="en-US" altLang="en-US" sz="2100" i="0" dirty="0" err="1">
                <a:latin typeface="Arial" panose="020B0604020202020204" pitchFamily="34" charset="0"/>
              </a:rPr>
              <a:t>đại</a:t>
            </a:r>
            <a:r>
              <a:rPr kumimoji="1" lang="en-US" altLang="en-US" sz="2100" i="0" dirty="0">
                <a:latin typeface="Arial" panose="020B0604020202020204" pitchFamily="34" charset="0"/>
              </a:rPr>
              <a:t> </a:t>
            </a:r>
            <a:r>
              <a:rPr kumimoji="1" lang="en-US" altLang="en-US" sz="2100" i="0" dirty="0" err="1">
                <a:latin typeface="Arial" panose="020B0604020202020204" pitchFamily="34" charset="0"/>
              </a:rPr>
              <a:t>giá</a:t>
            </a:r>
            <a:r>
              <a:rPr kumimoji="1" lang="en-US" altLang="en-US" sz="2100" i="0" dirty="0">
                <a:latin typeface="Arial" panose="020B0604020202020204" pitchFamily="34" charset="0"/>
              </a:rPr>
              <a:t> </a:t>
            </a:r>
            <a:r>
              <a:rPr kumimoji="1" lang="en-US" altLang="en-US" sz="2100" i="0" dirty="0" err="1">
                <a:latin typeface="Arial" panose="020B0604020202020204" pitchFamily="34" charset="0"/>
              </a:rPr>
              <a:t>trị</a:t>
            </a:r>
            <a:r>
              <a:rPr kumimoji="1" lang="en-US" altLang="en-US" sz="2100" i="0" dirty="0">
                <a:latin typeface="Arial" panose="020B0604020202020204" pitchFamily="34" charset="0"/>
              </a:rPr>
              <a:t> </a:t>
            </a:r>
            <a:r>
              <a:rPr kumimoji="1" lang="en-US" altLang="en-US" sz="2100" i="0" dirty="0" err="1">
                <a:latin typeface="Arial" panose="020B0604020202020204" pitchFamily="34" charset="0"/>
              </a:rPr>
              <a:t>hiện</a:t>
            </a:r>
            <a:r>
              <a:rPr kumimoji="1" lang="en-US" altLang="en-US" sz="2100" i="0" dirty="0">
                <a:latin typeface="Arial" panose="020B0604020202020204" pitchFamily="34" charset="0"/>
              </a:rPr>
              <a:t> </a:t>
            </a:r>
            <a:r>
              <a:rPr kumimoji="1" lang="en-US" altLang="en-US" sz="2100" i="0" dirty="0" err="1">
                <a:latin typeface="Arial" panose="020B0604020202020204" pitchFamily="34" charset="0"/>
              </a:rPr>
              <a:t>tại</a:t>
            </a:r>
            <a:r>
              <a:rPr kumimoji="1" lang="en-US" altLang="en-US" sz="2100" i="0" dirty="0">
                <a:latin typeface="Arial" panose="020B0604020202020204" pitchFamily="34" charset="0"/>
              </a:rPr>
              <a:t>, hay </a:t>
            </a:r>
            <a:r>
              <a:rPr kumimoji="1" lang="en-US" altLang="en-US" sz="2100" i="0" dirty="0" err="1">
                <a:latin typeface="Arial" panose="020B0604020202020204" pitchFamily="34" charset="0"/>
              </a:rPr>
              <a:t>PW</a:t>
            </a:r>
            <a:r>
              <a:rPr kumimoji="1" lang="en-US" altLang="en-US" sz="2100" i="0" dirty="0" err="1"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kumimoji="1" lang="en-US" altLang="en-US" sz="2100" i="0" dirty="0" err="1">
                <a:latin typeface="Arial" panose="020B0604020202020204" pitchFamily="34" charset="0"/>
              </a:rPr>
              <a:t>Max</a:t>
            </a:r>
            <a:r>
              <a:rPr kumimoji="1" lang="en-US" altLang="en-US" sz="2100" i="0" dirty="0"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3A7F3155-3329-EE30-E4DC-045D4196C71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90600" y="381000"/>
            <a:ext cx="8153400" cy="838200"/>
          </a:xfrm>
        </p:spPr>
        <p:txBody>
          <a:bodyPr/>
          <a:lstStyle/>
          <a:p>
            <a:pPr algn="r"/>
            <a:r>
              <a:rPr lang="en-US" altLang="en-US" sz="3200" b="1">
                <a:solidFill>
                  <a:srgbClr val="008000"/>
                </a:solidFill>
                <a:latin typeface="Arial" panose="020B0604020202020204" pitchFamily="34" charset="0"/>
              </a:rPr>
              <a:t>PHƯƠNG PHÁP GIÁ TRỊ HIỆN TẠI (PW)</a:t>
            </a:r>
          </a:p>
        </p:txBody>
      </p:sp>
      <p:graphicFrame>
        <p:nvGraphicFramePr>
          <p:cNvPr id="89114" name="Group 26">
            <a:extLst>
              <a:ext uri="{FF2B5EF4-FFF2-40B4-BE49-F238E27FC236}">
                <a16:creationId xmlns:a16="http://schemas.microsoft.com/office/drawing/2014/main" id="{B9900B59-6FB6-F489-B9B9-4CA2853BC8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625339"/>
              </p:ext>
            </p:extLst>
          </p:nvPr>
        </p:nvGraphicFramePr>
        <p:xfrm>
          <a:off x="1752600" y="1600200"/>
          <a:ext cx="7010400" cy="3398838"/>
        </p:xfrm>
        <a:graphic>
          <a:graphicData uri="http://schemas.openxmlformats.org/drawingml/2006/table">
            <a:tbl>
              <a:tblPr/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Arial" charset="0"/>
                        </a:rPr>
                        <a:t>Số</a:t>
                      </a: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1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Arial" charset="0"/>
                        </a:rPr>
                        <a:t>liệu</a:t>
                      </a:r>
                      <a:r>
                        <a:rPr kumimoji="1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Arial" charset="0"/>
                        </a:rPr>
                        <a:t> ban </a:t>
                      </a:r>
                      <a:r>
                        <a:rPr kumimoji="1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Arial" charset="0"/>
                        </a:rPr>
                        <a:t>đầu</a:t>
                      </a:r>
                      <a:endParaRPr kumimoji="1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Arial" charset="0"/>
                        </a:rPr>
                        <a:t>Máy tiện 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Arial" charset="0"/>
                        </a:rPr>
                        <a:t>Máy tiện 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4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Chi phí và thu nhập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(triệu đồng)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Đầu tư ban đầu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Chi phí hằng năm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Thu nhập hằng năm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Giá trị còn lại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Tuổi thọ - TT (năm)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10.0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2.2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5.0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2.0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15.0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4.3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7.0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0.0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MARR (%)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DF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8%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D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95FB2C3C-875E-8E61-A935-35AC54D824F5}"/>
              </a:ext>
            </a:extLst>
          </p:cNvPr>
          <p:cNvSpPr/>
          <p:nvPr/>
        </p:nvSpPr>
        <p:spPr>
          <a:xfrm>
            <a:off x="5237480" y="4133216"/>
            <a:ext cx="304800" cy="304800"/>
          </a:xfrm>
          <a:prstGeom prst="rect">
            <a:avLst/>
          </a:prstGeom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800" i="0" dirty="0">
                <a:solidFill>
                  <a:srgbClr val="2A4F86"/>
                </a:solidFill>
              </a:rPr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FD5969-FFC9-C561-BFD8-A63583687B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5486400"/>
            <a:ext cx="7315200" cy="646113"/>
          </a:xfrm>
          <a:prstGeom prst="rect">
            <a:avLst/>
          </a:prstGeom>
          <a:noFill/>
          <a:ln w="9525">
            <a:solidFill>
              <a:srgbClr val="8FAFE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en-US" sz="1800" i="0">
                <a:solidFill>
                  <a:srgbClr val="FF0000"/>
                </a:solidFill>
                <a:latin typeface="Arial" panose="020B0604020202020204" pitchFamily="34" charset="0"/>
              </a:rPr>
              <a:t>Thời kỳ phân tích = 10 năm</a:t>
            </a:r>
            <a:r>
              <a:rPr lang="en-US" altLang="en-US" sz="1800" i="0">
                <a:latin typeface="Arial" panose="020B0604020202020204" pitchFamily="34" charset="0"/>
              </a:rPr>
              <a:t>, bằng bội số chung nhỏ nhất của 5và 10.</a:t>
            </a:r>
          </a:p>
          <a:p>
            <a:pPr algn="l" eaLnBrk="1" hangingPunct="1"/>
            <a:r>
              <a:rPr lang="en-US" altLang="en-US" sz="1800" i="0">
                <a:latin typeface="Arial" panose="020B0604020202020204" pitchFamily="34" charset="0"/>
              </a:rPr>
              <a:t>Vậy </a:t>
            </a:r>
            <a:r>
              <a:rPr lang="en-US" altLang="en-US" sz="1800" i="0">
                <a:solidFill>
                  <a:srgbClr val="FF0000"/>
                </a:solidFill>
                <a:latin typeface="Arial" panose="020B0604020202020204" pitchFamily="34" charset="0"/>
              </a:rPr>
              <a:t>máy tiện A phải thay mới 1 lần, máy tiện B không phải thay mới.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0873B0-86B6-EDD4-94BA-808D78868CB0}"/>
              </a:ext>
            </a:extLst>
          </p:cNvPr>
          <p:cNvSpPr/>
          <p:nvPr/>
        </p:nvSpPr>
        <p:spPr>
          <a:xfrm>
            <a:off x="4724400" y="4154488"/>
            <a:ext cx="304800" cy="304800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i="0" dirty="0">
              <a:solidFill>
                <a:srgbClr val="2A4F86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B0C804-4AEA-3EEF-976F-575580AA1D5F}"/>
              </a:ext>
            </a:extLst>
          </p:cNvPr>
          <p:cNvSpPr/>
          <p:nvPr/>
        </p:nvSpPr>
        <p:spPr>
          <a:xfrm>
            <a:off x="7279640" y="4133216"/>
            <a:ext cx="609600" cy="304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800" i="0" dirty="0">
                <a:solidFill>
                  <a:srgbClr val="2A4F86"/>
                </a:solidFill>
              </a:rPr>
              <a:t>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C2DD88-D7F1-29EE-FE60-F2A7E95204E0}"/>
              </a:ext>
            </a:extLst>
          </p:cNvPr>
          <p:cNvSpPr/>
          <p:nvPr/>
        </p:nvSpPr>
        <p:spPr>
          <a:xfrm>
            <a:off x="6781800" y="4154488"/>
            <a:ext cx="6096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i="0" dirty="0">
              <a:solidFill>
                <a:srgbClr val="2A4F86"/>
              </a:solidFill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6" presetClass="emph" presetSubtype="0" repeatCount="4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0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50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6" presetClass="emph" presetSubtype="0" repeatCount="4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50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4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0" presetClass="entr" presetSubtype="0" fill="hold" nodeType="withEffect">
                                  <p:stCondLst>
                                    <p:cond delay="3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/>
      <p:bldP spid="14" grpId="0" animBg="1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56E20EEB-4EE0-C7EE-F660-30E657B422CD}"/>
              </a:ext>
            </a:extLst>
          </p:cNvPr>
          <p:cNvGraphicFramePr>
            <a:graphicFrameLocks noGrp="1"/>
          </p:cNvGraphicFramePr>
          <p:nvPr/>
        </p:nvGraphicFramePr>
        <p:xfrm>
          <a:off x="1465263" y="2286000"/>
          <a:ext cx="7467600" cy="4419600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Chi phí, thu nhập (triệu đồng)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Máy tiện 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Máy tiện 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1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Thu nhập hằng năm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39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D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D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B1896FF-0CBC-F809-F6B7-5F01A3DFC111}"/>
              </a:ext>
            </a:extLst>
          </p:cNvPr>
          <p:cNvCxnSpPr/>
          <p:nvPr/>
        </p:nvCxnSpPr>
        <p:spPr>
          <a:xfrm rot="5400000" flipH="1" flipV="1">
            <a:off x="915987" y="4341813"/>
            <a:ext cx="1522413" cy="1588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B7B987D-D09B-3041-536E-633A9DBE5971}"/>
              </a:ext>
            </a:extLst>
          </p:cNvPr>
          <p:cNvCxnSpPr/>
          <p:nvPr/>
        </p:nvCxnSpPr>
        <p:spPr>
          <a:xfrm>
            <a:off x="1676400" y="5105400"/>
            <a:ext cx="2514600" cy="1588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0DC5BB7-9EFA-C20D-8DA5-13B4E026CB3B}"/>
              </a:ext>
            </a:extLst>
          </p:cNvPr>
          <p:cNvCxnSpPr/>
          <p:nvPr/>
        </p:nvCxnSpPr>
        <p:spPr>
          <a:xfrm rot="5400000" flipH="1" flipV="1">
            <a:off x="1600994" y="4799806"/>
            <a:ext cx="609600" cy="1588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BD94304-D07B-4AE0-0B68-2DAD6EF31638}"/>
              </a:ext>
            </a:extLst>
          </p:cNvPr>
          <p:cNvCxnSpPr/>
          <p:nvPr/>
        </p:nvCxnSpPr>
        <p:spPr>
          <a:xfrm rot="5400000" flipH="1" flipV="1">
            <a:off x="2286794" y="4799806"/>
            <a:ext cx="609600" cy="1588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9B5D2C7-94DD-C57A-1EFC-4E57E7B0BC68}"/>
              </a:ext>
            </a:extLst>
          </p:cNvPr>
          <p:cNvCxnSpPr/>
          <p:nvPr/>
        </p:nvCxnSpPr>
        <p:spPr>
          <a:xfrm rot="5400000" flipH="1" flipV="1">
            <a:off x="2743994" y="4799806"/>
            <a:ext cx="609600" cy="1588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7727925-C6F7-727F-C4F6-51AEB0DAA9F9}"/>
              </a:ext>
            </a:extLst>
          </p:cNvPr>
          <p:cNvCxnSpPr/>
          <p:nvPr/>
        </p:nvCxnSpPr>
        <p:spPr>
          <a:xfrm rot="5400000" flipH="1" flipV="1">
            <a:off x="3429794" y="4799806"/>
            <a:ext cx="609600" cy="1588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66B1666B-0D7B-9582-094D-7126EDF05A17}"/>
              </a:ext>
            </a:extLst>
          </p:cNvPr>
          <p:cNvCxnSpPr/>
          <p:nvPr/>
        </p:nvCxnSpPr>
        <p:spPr>
          <a:xfrm rot="5400000" flipH="1" flipV="1">
            <a:off x="1829594" y="4799806"/>
            <a:ext cx="609600" cy="1588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91A9C45-9820-1E38-A958-96F4E0939FAC}"/>
              </a:ext>
            </a:extLst>
          </p:cNvPr>
          <p:cNvCxnSpPr/>
          <p:nvPr/>
        </p:nvCxnSpPr>
        <p:spPr>
          <a:xfrm rot="5400000" flipH="1" flipV="1">
            <a:off x="2058194" y="4799806"/>
            <a:ext cx="609600" cy="1588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8CD47BC-23CD-9C86-3A1E-1065D286833A}"/>
              </a:ext>
            </a:extLst>
          </p:cNvPr>
          <p:cNvCxnSpPr/>
          <p:nvPr/>
        </p:nvCxnSpPr>
        <p:spPr>
          <a:xfrm rot="5400000" flipH="1" flipV="1">
            <a:off x="2972594" y="4799806"/>
            <a:ext cx="609600" cy="1588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FBA0E967-F6AF-5197-9E28-7405C1BDC997}"/>
              </a:ext>
            </a:extLst>
          </p:cNvPr>
          <p:cNvCxnSpPr/>
          <p:nvPr/>
        </p:nvCxnSpPr>
        <p:spPr>
          <a:xfrm rot="5400000" flipH="1" flipV="1">
            <a:off x="2515394" y="4799806"/>
            <a:ext cx="609600" cy="1588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F6016A4-E823-6395-36F3-A6B5D3960461}"/>
              </a:ext>
            </a:extLst>
          </p:cNvPr>
          <p:cNvCxnSpPr/>
          <p:nvPr/>
        </p:nvCxnSpPr>
        <p:spPr>
          <a:xfrm rot="5400000" flipH="1" flipV="1">
            <a:off x="3658394" y="4799806"/>
            <a:ext cx="609600" cy="1588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CA1455D5-512F-344C-F551-C20EE75CD8E9}"/>
              </a:ext>
            </a:extLst>
          </p:cNvPr>
          <p:cNvCxnSpPr/>
          <p:nvPr/>
        </p:nvCxnSpPr>
        <p:spPr>
          <a:xfrm rot="5400000" flipH="1" flipV="1">
            <a:off x="3201194" y="4799806"/>
            <a:ext cx="609600" cy="1588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4CA854B7-53B3-1DEF-054C-3520B8A4F3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429000"/>
            <a:ext cx="336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en-US" sz="1800" i="0"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5E8E4E2-CEB4-859B-3DE8-2C833AC31F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3962400"/>
            <a:ext cx="2057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en-US" sz="1800" i="0">
                <a:latin typeface="Arial" panose="020B0604020202020204" pitchFamily="34" charset="0"/>
              </a:rPr>
              <a:t>A = </a:t>
            </a:r>
            <a:r>
              <a:rPr lang="en-US" altLang="en-US" sz="1800" i="0">
                <a:solidFill>
                  <a:srgbClr val="FF0000"/>
                </a:solidFill>
                <a:latin typeface="Arial" panose="020B0604020202020204" pitchFamily="34" charset="0"/>
              </a:rPr>
              <a:t>5</a:t>
            </a:r>
            <a:r>
              <a:rPr lang="en-US" altLang="en-US" sz="1800" i="0">
                <a:latin typeface="Arial" panose="020B0604020202020204" pitchFamily="34" charset="0"/>
              </a:rPr>
              <a:t> triệu đồng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429EC94-CB09-C702-EC8C-C0C657EF6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51816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en-US" sz="1800" i="0">
                <a:latin typeface="Arial" panose="020B0604020202020204" pitchFamily="34" charset="0"/>
              </a:rPr>
              <a:t>i = 8%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C536C94-F8EF-A651-DD87-06F2DB1C31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5791200"/>
            <a:ext cx="2209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en-US" sz="1800" i="0">
                <a:solidFill>
                  <a:srgbClr val="FF0000"/>
                </a:solidFill>
                <a:latin typeface="Arial" panose="020B0604020202020204" pitchFamily="34" charset="0"/>
              </a:rPr>
              <a:t>P = 5(P/A, 8%, 10)</a:t>
            </a:r>
          </a:p>
          <a:p>
            <a:pPr algn="l" eaLnBrk="1" hangingPunct="1"/>
            <a:r>
              <a:rPr lang="en-US" altLang="en-US" sz="1800" i="0">
                <a:solidFill>
                  <a:srgbClr val="FF0000"/>
                </a:solidFill>
                <a:latin typeface="Arial" panose="020B0604020202020204" pitchFamily="34" charset="0"/>
              </a:rPr>
              <a:t>    = 33.550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2B2248C5-7377-46E1-E13D-AD7DE7EB88CA}"/>
              </a:ext>
            </a:extLst>
          </p:cNvPr>
          <p:cNvCxnSpPr/>
          <p:nvPr/>
        </p:nvCxnSpPr>
        <p:spPr>
          <a:xfrm rot="5400000" flipH="1" flipV="1">
            <a:off x="4954587" y="4341813"/>
            <a:ext cx="1522413" cy="1588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5C893409-0706-CD42-D4D0-8CE8D051EFA0}"/>
              </a:ext>
            </a:extLst>
          </p:cNvPr>
          <p:cNvCxnSpPr/>
          <p:nvPr/>
        </p:nvCxnSpPr>
        <p:spPr>
          <a:xfrm>
            <a:off x="5715000" y="5105400"/>
            <a:ext cx="2514600" cy="1588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4921263C-B1F8-2DD6-8AE3-2C109DC5049D}"/>
              </a:ext>
            </a:extLst>
          </p:cNvPr>
          <p:cNvCxnSpPr/>
          <p:nvPr/>
        </p:nvCxnSpPr>
        <p:spPr>
          <a:xfrm rot="5400000" flipH="1" flipV="1">
            <a:off x="5639594" y="4799806"/>
            <a:ext cx="609600" cy="1588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794149D6-F998-4EF8-1426-47A4E8C59BBB}"/>
              </a:ext>
            </a:extLst>
          </p:cNvPr>
          <p:cNvCxnSpPr/>
          <p:nvPr/>
        </p:nvCxnSpPr>
        <p:spPr>
          <a:xfrm rot="5400000" flipH="1" flipV="1">
            <a:off x="6325394" y="4799806"/>
            <a:ext cx="609600" cy="1588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941AF7D3-B65C-F367-E5B8-E164BDEB0BE9}"/>
              </a:ext>
            </a:extLst>
          </p:cNvPr>
          <p:cNvCxnSpPr/>
          <p:nvPr/>
        </p:nvCxnSpPr>
        <p:spPr>
          <a:xfrm rot="5400000" flipH="1" flipV="1">
            <a:off x="6782594" y="4799806"/>
            <a:ext cx="609600" cy="1588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627B7E48-BFA3-D42C-2C9D-33F1BF1E7DB5}"/>
              </a:ext>
            </a:extLst>
          </p:cNvPr>
          <p:cNvCxnSpPr/>
          <p:nvPr/>
        </p:nvCxnSpPr>
        <p:spPr>
          <a:xfrm rot="5400000" flipH="1" flipV="1">
            <a:off x="7468394" y="4799806"/>
            <a:ext cx="609600" cy="1588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029FD962-2A38-AE68-DADF-FF44DDE045AC}"/>
              </a:ext>
            </a:extLst>
          </p:cNvPr>
          <p:cNvCxnSpPr/>
          <p:nvPr/>
        </p:nvCxnSpPr>
        <p:spPr>
          <a:xfrm rot="5400000" flipH="1" flipV="1">
            <a:off x="5868194" y="4799806"/>
            <a:ext cx="609600" cy="1588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26451191-8268-1B41-985B-01ADC5FAFD65}"/>
              </a:ext>
            </a:extLst>
          </p:cNvPr>
          <p:cNvCxnSpPr/>
          <p:nvPr/>
        </p:nvCxnSpPr>
        <p:spPr>
          <a:xfrm rot="5400000" flipH="1" flipV="1">
            <a:off x="6096794" y="4799806"/>
            <a:ext cx="609600" cy="1588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4BD58F5D-D6AD-1EE2-A0C1-F70E5EEBA824}"/>
              </a:ext>
            </a:extLst>
          </p:cNvPr>
          <p:cNvCxnSpPr/>
          <p:nvPr/>
        </p:nvCxnSpPr>
        <p:spPr>
          <a:xfrm rot="5400000" flipH="1" flipV="1">
            <a:off x="7011194" y="4799806"/>
            <a:ext cx="609600" cy="1588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A34CD7DB-869F-7749-AC55-4D2A1A94812F}"/>
              </a:ext>
            </a:extLst>
          </p:cNvPr>
          <p:cNvCxnSpPr/>
          <p:nvPr/>
        </p:nvCxnSpPr>
        <p:spPr>
          <a:xfrm rot="5400000" flipH="1" flipV="1">
            <a:off x="6553994" y="4799806"/>
            <a:ext cx="609600" cy="1588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D34F2DCC-8C1D-80B2-668E-29964E087871}"/>
              </a:ext>
            </a:extLst>
          </p:cNvPr>
          <p:cNvCxnSpPr/>
          <p:nvPr/>
        </p:nvCxnSpPr>
        <p:spPr>
          <a:xfrm rot="5400000" flipH="1" flipV="1">
            <a:off x="7696994" y="4799806"/>
            <a:ext cx="609600" cy="1588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5C347887-004C-E7BE-3686-0311EECEF5A3}"/>
              </a:ext>
            </a:extLst>
          </p:cNvPr>
          <p:cNvCxnSpPr/>
          <p:nvPr/>
        </p:nvCxnSpPr>
        <p:spPr>
          <a:xfrm rot="5400000" flipH="1" flipV="1">
            <a:off x="7239794" y="4799806"/>
            <a:ext cx="609600" cy="1588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5E214140-EA3C-2316-0C22-8AC6B7CB1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3429000"/>
            <a:ext cx="336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en-US" sz="1800" i="0"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4D806A98-B4D4-6B57-FEF9-EBDE452E2B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3962400"/>
            <a:ext cx="2057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en-US" sz="1800" i="0">
                <a:latin typeface="Arial" panose="020B0604020202020204" pitchFamily="34" charset="0"/>
              </a:rPr>
              <a:t>A = </a:t>
            </a:r>
            <a:r>
              <a:rPr lang="en-US" altLang="en-US" sz="1800" i="0">
                <a:solidFill>
                  <a:srgbClr val="FF0000"/>
                </a:solidFill>
                <a:latin typeface="Arial" panose="020B0604020202020204" pitchFamily="34" charset="0"/>
              </a:rPr>
              <a:t>7</a:t>
            </a:r>
            <a:r>
              <a:rPr lang="en-US" altLang="en-US" sz="1800" i="0">
                <a:latin typeface="Arial" panose="020B0604020202020204" pitchFamily="34" charset="0"/>
              </a:rPr>
              <a:t> triệu đồng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A73C016C-9A34-FEFF-0D57-C7A2CDE126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51816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en-US" sz="1800" i="0">
                <a:latin typeface="Arial" panose="020B0604020202020204" pitchFamily="34" charset="0"/>
              </a:rPr>
              <a:t>i = 8%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F7F94038-5F6F-E3C2-8263-48143A6834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5867400"/>
            <a:ext cx="2209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en-US" sz="1800" i="0">
                <a:solidFill>
                  <a:srgbClr val="FF0000"/>
                </a:solidFill>
                <a:latin typeface="Arial" panose="020B0604020202020204" pitchFamily="34" charset="0"/>
              </a:rPr>
              <a:t>P = 7(P/A, 8%, 10)</a:t>
            </a:r>
          </a:p>
          <a:p>
            <a:pPr algn="l" eaLnBrk="1" hangingPunct="1"/>
            <a:r>
              <a:rPr lang="en-US" altLang="en-US" sz="1800" i="0">
                <a:solidFill>
                  <a:srgbClr val="FF0000"/>
                </a:solidFill>
                <a:latin typeface="Arial" panose="020B0604020202020204" pitchFamily="34" charset="0"/>
              </a:rPr>
              <a:t>    = 46.970</a:t>
            </a:r>
          </a:p>
        </p:txBody>
      </p:sp>
      <p:graphicFrame>
        <p:nvGraphicFramePr>
          <p:cNvPr id="93270" name="Group 86">
            <a:extLst>
              <a:ext uri="{FF2B5EF4-FFF2-40B4-BE49-F238E27FC236}">
                <a16:creationId xmlns:a16="http://schemas.microsoft.com/office/drawing/2014/main" id="{C718E298-D0F1-6A57-A095-F4B0F277AAC1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1295400"/>
          <a:ext cx="2590800" cy="914400"/>
        </p:xfrm>
        <a:graphic>
          <a:graphicData uri="http://schemas.openxmlformats.org/drawingml/2006/table">
            <a:tbl>
              <a:tblPr/>
              <a:tblGrid>
                <a:gridCol w="1684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6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Đầu tư ban đầu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Chi phí hằng năm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Thu nhập hằng năm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Giá trị còn lại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Tuổi thọ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MARR (%)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10.0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2.2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5.0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2.0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8%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15.0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4.3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7.0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0.0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8%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590" name="Rectangle 2">
            <a:extLst>
              <a:ext uri="{FF2B5EF4-FFF2-40B4-BE49-F238E27FC236}">
                <a16:creationId xmlns:a16="http://schemas.microsoft.com/office/drawing/2014/main" id="{601AAD14-1321-693A-6335-E79BEAA4A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81000"/>
            <a:ext cx="81534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en-US" sz="3200" b="1" i="0">
                <a:solidFill>
                  <a:srgbClr val="008000"/>
                </a:solidFill>
                <a:latin typeface="Arial" panose="020B0604020202020204" pitchFamily="34" charset="0"/>
              </a:rPr>
              <a:t>PHƯƠNG PHÁP GIÁ TRỊ HIỆN TẠI (PW)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3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1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1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700"/>
                            </p:stCondLst>
                            <p:childTnLst>
                              <p:par>
                                <p:cTn id="2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1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2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1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2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1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1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100"/>
                            </p:stCondLst>
                            <p:childTnLst>
                              <p:par>
                                <p:cTn id="3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1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4" dur="1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4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1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2" presetClass="entr" presetSubtype="4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0" dur="1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2" presetClass="entr" presetSubtype="4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3" dur="1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60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3601"/>
                            </p:stCondLst>
                            <p:childTnLst>
                              <p:par>
                                <p:cTn id="6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3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6" dur="3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3901"/>
                            </p:stCondLst>
                            <p:childTnLst>
                              <p:par>
                                <p:cTn id="6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0" dur="3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4201"/>
                            </p:stCondLst>
                            <p:childTnLst>
                              <p:par>
                                <p:cTn id="7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4" dur="1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4301"/>
                            </p:stCondLst>
                            <p:childTnLst>
                              <p:par>
                                <p:cTn id="7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8" dur="1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4401"/>
                            </p:stCondLst>
                            <p:childTnLst>
                              <p:par>
                                <p:cTn id="8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2" dur="1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4501"/>
                            </p:stCondLst>
                            <p:childTnLst>
                              <p:par>
                                <p:cTn id="8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6" dur="1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4601"/>
                            </p:stCondLst>
                            <p:childTnLst>
                              <p:par>
                                <p:cTn id="8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0" dur="1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4701"/>
                            </p:stCondLst>
                            <p:childTnLst>
                              <p:par>
                                <p:cTn id="9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4" dur="1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0" dur="1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2" presetClass="entr" presetSubtype="4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3" dur="1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2" presetClass="entr" presetSubtype="4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6" dur="1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2" presetClass="entr" presetSubtype="4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9" dur="1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2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5201"/>
                            </p:stCondLst>
                            <p:childTnLst>
                              <p:par>
                                <p:cTn id="1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70" grpId="0"/>
      <p:bldP spid="71" grpId="0"/>
      <p:bldP spid="72" grpId="0"/>
      <p:bldP spid="169" grpId="0"/>
      <p:bldP spid="170" grpId="0"/>
      <p:bldP spid="171" grpId="0"/>
      <p:bldP spid="17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278" name="Group 46">
            <a:extLst>
              <a:ext uri="{FF2B5EF4-FFF2-40B4-BE49-F238E27FC236}">
                <a16:creationId xmlns:a16="http://schemas.microsoft.com/office/drawing/2014/main" id="{D892822B-96B9-189C-9867-74FD54A88CEB}"/>
              </a:ext>
            </a:extLst>
          </p:cNvPr>
          <p:cNvGraphicFramePr>
            <a:graphicFrameLocks noGrp="1"/>
          </p:cNvGraphicFramePr>
          <p:nvPr/>
        </p:nvGraphicFramePr>
        <p:xfrm>
          <a:off x="1444625" y="1930400"/>
          <a:ext cx="7467600" cy="4773613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Chi phí, thu nhập (triệu đồng)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Máy tiện 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Máy tiện 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07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Thu nhập hằng năm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Giá trị còn lại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      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33.550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46.970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8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D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D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8A5CC825-9E85-7C39-84DD-4BA5B79F5D43}"/>
              </a:ext>
            </a:extLst>
          </p:cNvPr>
          <p:cNvCxnSpPr/>
          <p:nvPr/>
        </p:nvCxnSpPr>
        <p:spPr>
          <a:xfrm rot="5400000" flipH="1" flipV="1">
            <a:off x="915987" y="4341813"/>
            <a:ext cx="1522413" cy="1588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01FAB693-B70D-B4E1-18C4-4019B9248EBB}"/>
              </a:ext>
            </a:extLst>
          </p:cNvPr>
          <p:cNvCxnSpPr/>
          <p:nvPr/>
        </p:nvCxnSpPr>
        <p:spPr>
          <a:xfrm>
            <a:off x="1676400" y="5105400"/>
            <a:ext cx="2514600" cy="1588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4B60EC08-A5A1-91DA-8A23-7970C9B412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429000"/>
            <a:ext cx="336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en-US" sz="1800" i="0"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7D8BD51-2A84-F4D6-85EF-C7FF26DEB6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51816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en-US" sz="1800" i="0">
                <a:latin typeface="Arial" panose="020B0604020202020204" pitchFamily="34" charset="0"/>
              </a:rPr>
              <a:t>i = 8%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40E56B4-5CF4-B581-DF24-1B65520510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5638800"/>
            <a:ext cx="22098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en-US" sz="1800" i="0" dirty="0">
                <a:solidFill>
                  <a:srgbClr val="FF0000"/>
                </a:solidFill>
                <a:latin typeface="Arial" panose="020B0604020202020204" pitchFamily="34" charset="0"/>
              </a:rPr>
              <a:t>P = 2(P/F, 8%, 10)</a:t>
            </a:r>
          </a:p>
          <a:p>
            <a:pPr algn="l" eaLnBrk="1" hangingPunct="1"/>
            <a:r>
              <a:rPr lang="en-US" altLang="en-US" sz="1800" i="0" dirty="0">
                <a:solidFill>
                  <a:srgbClr val="FF0000"/>
                </a:solidFill>
                <a:latin typeface="Arial" panose="020B0604020202020204" pitchFamily="34" charset="0"/>
              </a:rPr>
              <a:t>    = 0,926</a:t>
            </a:r>
          </a:p>
          <a:p>
            <a:pPr algn="l" eaLnBrk="1" hangingPunct="1"/>
            <a:r>
              <a:rPr lang="en-US" altLang="en-US" sz="1800" i="0" dirty="0">
                <a:solidFill>
                  <a:srgbClr val="FF0000"/>
                </a:solidFill>
                <a:latin typeface="Arial" panose="020B0604020202020204" pitchFamily="34" charset="0"/>
              </a:rPr>
              <a:t>P/F: </a:t>
            </a:r>
            <a:r>
              <a:rPr lang="en-US" altLang="en-US" sz="1800" i="0" dirty="0" err="1">
                <a:solidFill>
                  <a:srgbClr val="FF0000"/>
                </a:solidFill>
                <a:latin typeface="Arial" panose="020B0604020202020204" pitchFamily="34" charset="0"/>
              </a:rPr>
              <a:t>cho</a:t>
            </a:r>
            <a:r>
              <a:rPr lang="en-US" altLang="en-US" sz="1800" i="0" dirty="0">
                <a:solidFill>
                  <a:srgbClr val="FF0000"/>
                </a:solidFill>
                <a:latin typeface="Arial" panose="020B0604020202020204" pitchFamily="34" charset="0"/>
              </a:rPr>
              <a:t> F </a:t>
            </a:r>
            <a:r>
              <a:rPr lang="en-US" altLang="en-US" sz="1800" i="0" dirty="0" err="1">
                <a:solidFill>
                  <a:srgbClr val="FF0000"/>
                </a:solidFill>
                <a:latin typeface="Arial" panose="020B0604020202020204" pitchFamily="34" charset="0"/>
              </a:rPr>
              <a:t>tìm</a:t>
            </a:r>
            <a:r>
              <a:rPr lang="en-US" altLang="en-US" sz="1800" i="0" dirty="0">
                <a:solidFill>
                  <a:srgbClr val="FF0000"/>
                </a:solidFill>
                <a:latin typeface="Arial" panose="020B0604020202020204" pitchFamily="34" charset="0"/>
              </a:rPr>
              <a:t> P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55F74951-8722-0A5D-52F8-8E9B22B2E88E}"/>
              </a:ext>
            </a:extLst>
          </p:cNvPr>
          <p:cNvCxnSpPr/>
          <p:nvPr/>
        </p:nvCxnSpPr>
        <p:spPr>
          <a:xfrm rot="5400000" flipH="1" flipV="1">
            <a:off x="3392487" y="4684713"/>
            <a:ext cx="836613" cy="1588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61F68397-A4C8-C290-077F-D1501E8BE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114800"/>
            <a:ext cx="336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en-US" sz="1800" i="0">
                <a:latin typeface="Arial" panose="020B0604020202020204" pitchFamily="34" charset="0"/>
              </a:rPr>
              <a:t>F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93BA51F-6AE6-DD62-A91A-E1F909BD3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2590800"/>
            <a:ext cx="11430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152" tIns="64008"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en-US" sz="1800" i="0">
                <a:solidFill>
                  <a:srgbClr val="FF0000"/>
                </a:solidFill>
                <a:latin typeface="Arial" panose="020B0604020202020204" pitchFamily="34" charset="0"/>
              </a:rPr>
              <a:t>  </a:t>
            </a:r>
            <a:r>
              <a:rPr lang="en-US" altLang="en-US" sz="1800" b="1" i="0">
                <a:solidFill>
                  <a:srgbClr val="FF0000"/>
                </a:solidFill>
                <a:latin typeface="Arial" panose="020B0604020202020204" pitchFamily="34" charset="0"/>
              </a:rPr>
              <a:t>0.926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B99FCBA-2657-DBFB-5D21-7066A4D9A7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2590800"/>
            <a:ext cx="5334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9728" tIns="64008"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 b="1" i="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8C4A1FC-4B26-5AB7-6323-F5D459B788F5}"/>
              </a:ext>
            </a:extLst>
          </p:cNvPr>
          <p:cNvCxnSpPr/>
          <p:nvPr/>
        </p:nvCxnSpPr>
        <p:spPr>
          <a:xfrm>
            <a:off x="5791200" y="2895600"/>
            <a:ext cx="1066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8224F5ED-6551-7E0E-E65D-9AD28B7F7C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2895600"/>
            <a:ext cx="990600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6576"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 i="0">
                <a:solidFill>
                  <a:srgbClr val="FF0000"/>
                </a:solidFill>
                <a:latin typeface="Arial" panose="020B0604020202020204" pitchFamily="34" charset="0"/>
              </a:rPr>
              <a:t>34.476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810AEC2-7B65-A559-A1CC-6F2A1932F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2895600"/>
            <a:ext cx="854075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008" tIns="36576"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 i="0">
                <a:solidFill>
                  <a:srgbClr val="FF0000"/>
                </a:solidFill>
                <a:latin typeface="Arial" panose="020B0604020202020204" pitchFamily="34" charset="0"/>
              </a:rPr>
              <a:t>46.970</a:t>
            </a: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14AC8AD3-2093-DB76-971B-FDC98B367E2F}"/>
              </a:ext>
            </a:extLst>
          </p:cNvPr>
          <p:cNvCxnSpPr/>
          <p:nvPr/>
        </p:nvCxnSpPr>
        <p:spPr>
          <a:xfrm>
            <a:off x="7391400" y="2895600"/>
            <a:ext cx="1066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EC5CD096-EF9D-F422-FE39-F6D950476F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2906713"/>
            <a:ext cx="2544763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27432"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en-US" sz="1800" i="0">
                <a:solidFill>
                  <a:srgbClr val="FF0000"/>
                </a:solidFill>
                <a:latin typeface="Arial" panose="020B0604020202020204" pitchFamily="34" charset="0"/>
              </a:rPr>
              <a:t>Tổng PW của thu nhập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BDC34F5-EAF2-E49E-AB99-F67745A98039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1143000"/>
          <a:ext cx="2590800" cy="736600"/>
        </p:xfrm>
        <a:graphic>
          <a:graphicData uri="http://schemas.openxmlformats.org/drawingml/2006/table">
            <a:tbl>
              <a:tblPr/>
              <a:tblGrid>
                <a:gridCol w="1684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6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Đầu tư ban đầu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Chi phí hằng năm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Thu nhập hằng năm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Giá trị còn lại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10.0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2.2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5.0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2.0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15.0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4.3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7.0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0.0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596" name="Rectangle 2">
            <a:extLst>
              <a:ext uri="{FF2B5EF4-FFF2-40B4-BE49-F238E27FC236}">
                <a16:creationId xmlns:a16="http://schemas.microsoft.com/office/drawing/2014/main" id="{7A969D14-D2E4-D31C-E362-7F9397147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81000"/>
            <a:ext cx="81534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en-US" sz="3200" b="1" i="0">
                <a:solidFill>
                  <a:srgbClr val="008000"/>
                </a:solidFill>
                <a:latin typeface="Arial" panose="020B0604020202020204" pitchFamily="34" charset="0"/>
              </a:rPr>
              <a:t>PHƯƠNG PHÁP GIÁ TRỊ HIỆN TẠI (PW)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3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3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3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1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3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2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2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4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4501"/>
                            </p:stCondLst>
                            <p:childTnLst>
                              <p:par>
                                <p:cTn id="30" presetID="18" presetClass="entr" presetSubtype="6" fill="hold" nodeType="afterEffect">
                                  <p:stCondLst>
                                    <p:cond delay="499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700"/>
                            </p:stCondLst>
                            <p:childTnLst>
                              <p:par>
                                <p:cTn id="34" presetID="18" presetClass="entr" presetSubtype="6" fill="hold" nodeType="afterEffect">
                                  <p:stCondLst>
                                    <p:cond delay="499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6699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8200"/>
                            </p:stCondLst>
                            <p:childTnLst>
                              <p:par>
                                <p:cTn id="4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8700"/>
                            </p:stCondLst>
                            <p:childTnLst>
                              <p:par>
                                <p:cTn id="4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9200"/>
                            </p:stCondLst>
                            <p:childTnLst>
                              <p:par>
                                <p:cTn id="4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9950"/>
                            </p:stCondLst>
                            <p:childTnLst>
                              <p:par>
                                <p:cTn id="5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  <p:bldP spid="97" grpId="0"/>
      <p:bldP spid="98" grpId="0"/>
      <p:bldP spid="101" grpId="0"/>
      <p:bldP spid="102" grpId="0"/>
      <p:bldP spid="103" grpId="0"/>
      <p:bldP spid="108" grpId="0"/>
      <p:bldP spid="109" grpId="0"/>
      <p:bldP spid="1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7351" name="Group 71">
            <a:extLst>
              <a:ext uri="{FF2B5EF4-FFF2-40B4-BE49-F238E27FC236}">
                <a16:creationId xmlns:a16="http://schemas.microsoft.com/office/drawing/2014/main" id="{65C6DC77-AA52-8047-CB55-BB3A01DAEAB9}"/>
              </a:ext>
            </a:extLst>
          </p:cNvPr>
          <p:cNvGraphicFramePr>
            <a:graphicFrameLocks noGrp="1"/>
          </p:cNvGraphicFramePr>
          <p:nvPr/>
        </p:nvGraphicFramePr>
        <p:xfrm>
          <a:off x="1382713" y="1930400"/>
          <a:ext cx="7467600" cy="4773613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Chi phí, thu nhập (triệu đồng)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Máy tiện 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Máy tiện 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07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Thu nhập hằng năm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Giá trị còn lại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          Tổng PW của thu nhập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sng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Chi phí </a:t>
                      </a:r>
                      <a:r>
                        <a:rPr kumimoji="1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hằng năm</a:t>
                      </a:r>
                    </a:p>
                  </a:txBody>
                  <a:tcPr marL="7315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33.550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  0.926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34.476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46.970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               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         46.970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8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D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D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198848A-C105-3878-2151-12221372475B}"/>
              </a:ext>
            </a:extLst>
          </p:cNvPr>
          <p:cNvCxnSpPr/>
          <p:nvPr/>
        </p:nvCxnSpPr>
        <p:spPr>
          <a:xfrm>
            <a:off x="5486400" y="2854325"/>
            <a:ext cx="1066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092CE8E-48D3-29DF-D434-408A80FCA666}"/>
              </a:ext>
            </a:extLst>
          </p:cNvPr>
          <p:cNvCxnSpPr/>
          <p:nvPr/>
        </p:nvCxnSpPr>
        <p:spPr>
          <a:xfrm>
            <a:off x="7315200" y="2833688"/>
            <a:ext cx="10668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5C0E90E-8113-0F73-9E19-FA13FDA3A440}"/>
              </a:ext>
            </a:extLst>
          </p:cNvPr>
          <p:cNvCxnSpPr/>
          <p:nvPr/>
        </p:nvCxnSpPr>
        <p:spPr>
          <a:xfrm rot="5400000">
            <a:off x="996157" y="5337969"/>
            <a:ext cx="1360487" cy="3175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0E4852A-6F5C-7C99-F18D-5C4A7A339DC7}"/>
              </a:ext>
            </a:extLst>
          </p:cNvPr>
          <p:cNvCxnSpPr/>
          <p:nvPr/>
        </p:nvCxnSpPr>
        <p:spPr>
          <a:xfrm>
            <a:off x="1676400" y="4659313"/>
            <a:ext cx="2514600" cy="1587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CB33F81-34DA-2D32-1B7D-09CB2F2EB075}"/>
              </a:ext>
            </a:extLst>
          </p:cNvPr>
          <p:cNvCxnSpPr/>
          <p:nvPr/>
        </p:nvCxnSpPr>
        <p:spPr>
          <a:xfrm rot="5400000">
            <a:off x="1530351" y="5033962"/>
            <a:ext cx="749300" cy="3175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7ED847F-8446-E6B2-A66A-100FA98A95BC}"/>
              </a:ext>
            </a:extLst>
          </p:cNvPr>
          <p:cNvCxnSpPr/>
          <p:nvPr/>
        </p:nvCxnSpPr>
        <p:spPr>
          <a:xfrm rot="5400000">
            <a:off x="2216151" y="5033962"/>
            <a:ext cx="749300" cy="3175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09590B3-CB03-FF47-5364-9F3DE820C840}"/>
              </a:ext>
            </a:extLst>
          </p:cNvPr>
          <p:cNvCxnSpPr/>
          <p:nvPr/>
        </p:nvCxnSpPr>
        <p:spPr>
          <a:xfrm rot="5400000">
            <a:off x="2673351" y="5033962"/>
            <a:ext cx="749300" cy="3175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2B5E86A-69AC-DEA5-D84B-62AAB2596B5A}"/>
              </a:ext>
            </a:extLst>
          </p:cNvPr>
          <p:cNvCxnSpPr/>
          <p:nvPr/>
        </p:nvCxnSpPr>
        <p:spPr>
          <a:xfrm rot="5400000">
            <a:off x="3359151" y="5033962"/>
            <a:ext cx="749300" cy="3175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F114A88-9828-6525-C79E-CC36F9B15C53}"/>
              </a:ext>
            </a:extLst>
          </p:cNvPr>
          <p:cNvCxnSpPr/>
          <p:nvPr/>
        </p:nvCxnSpPr>
        <p:spPr>
          <a:xfrm rot="5400000">
            <a:off x="1758951" y="5033962"/>
            <a:ext cx="749300" cy="3175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F097D80-FA2D-600F-BFEA-F216DC391A72}"/>
              </a:ext>
            </a:extLst>
          </p:cNvPr>
          <p:cNvCxnSpPr/>
          <p:nvPr/>
        </p:nvCxnSpPr>
        <p:spPr>
          <a:xfrm rot="5400000">
            <a:off x="1987551" y="5033962"/>
            <a:ext cx="749300" cy="3175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02F0F9F-A037-92E6-99D1-D323052A7F82}"/>
              </a:ext>
            </a:extLst>
          </p:cNvPr>
          <p:cNvCxnSpPr/>
          <p:nvPr/>
        </p:nvCxnSpPr>
        <p:spPr>
          <a:xfrm rot="5400000">
            <a:off x="2901951" y="5033962"/>
            <a:ext cx="749300" cy="3175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B1C055B-94DE-F78E-8009-A8176C3485B5}"/>
              </a:ext>
            </a:extLst>
          </p:cNvPr>
          <p:cNvCxnSpPr/>
          <p:nvPr/>
        </p:nvCxnSpPr>
        <p:spPr>
          <a:xfrm rot="5400000">
            <a:off x="2444751" y="5033962"/>
            <a:ext cx="749300" cy="3175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21268EF-D981-B787-1A2F-407E47F0988B}"/>
              </a:ext>
            </a:extLst>
          </p:cNvPr>
          <p:cNvCxnSpPr/>
          <p:nvPr/>
        </p:nvCxnSpPr>
        <p:spPr>
          <a:xfrm rot="5400000">
            <a:off x="3587751" y="5033962"/>
            <a:ext cx="749300" cy="3175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97E3E6C-935C-EC1F-F7D8-9073C1D6669D}"/>
              </a:ext>
            </a:extLst>
          </p:cNvPr>
          <p:cNvCxnSpPr/>
          <p:nvPr/>
        </p:nvCxnSpPr>
        <p:spPr>
          <a:xfrm rot="5400000">
            <a:off x="3130551" y="5033962"/>
            <a:ext cx="749300" cy="3175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A538BEEF-735F-D531-9C34-4062A8A50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5780088"/>
            <a:ext cx="3365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en-US" sz="1800" i="0"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EE94547-11CE-9D69-4773-4DBF89B8AB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5638800"/>
            <a:ext cx="2057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en-US" sz="1800" i="0">
                <a:latin typeface="Arial" panose="020B0604020202020204" pitchFamily="34" charset="0"/>
              </a:rPr>
              <a:t>A = </a:t>
            </a:r>
            <a:r>
              <a:rPr lang="en-US" altLang="en-US" sz="1800" i="0">
                <a:solidFill>
                  <a:srgbClr val="FF0000"/>
                </a:solidFill>
                <a:latin typeface="Arial" panose="020B0604020202020204" pitchFamily="34" charset="0"/>
              </a:rPr>
              <a:t>2.2</a:t>
            </a:r>
            <a:r>
              <a:rPr lang="en-US" altLang="en-US" sz="1800" i="0">
                <a:latin typeface="Arial" panose="020B0604020202020204" pitchFamily="34" charset="0"/>
              </a:rPr>
              <a:t> triệu đồng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E62D897-FE1B-A50E-55B7-46F0BEF31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1910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en-US" sz="1800" i="0">
                <a:latin typeface="Arial" panose="020B0604020202020204" pitchFamily="34" charset="0"/>
              </a:rPr>
              <a:t>i = 8%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84C344F-6398-243F-1446-A71A6DBAB5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6019800"/>
            <a:ext cx="25908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en-US" sz="1800" i="0" dirty="0">
                <a:solidFill>
                  <a:srgbClr val="FF0000"/>
                </a:solidFill>
                <a:latin typeface="Arial" panose="020B0604020202020204" pitchFamily="34" charset="0"/>
              </a:rPr>
              <a:t>P = 2.2(P/A, 8%, 10)</a:t>
            </a:r>
          </a:p>
          <a:p>
            <a:pPr algn="l" eaLnBrk="1" hangingPunct="1"/>
            <a:r>
              <a:rPr lang="en-US" altLang="en-US" sz="1800" i="0" dirty="0">
                <a:solidFill>
                  <a:srgbClr val="FF0000"/>
                </a:solidFill>
                <a:latin typeface="Arial" panose="020B0604020202020204" pitchFamily="34" charset="0"/>
              </a:rPr>
              <a:t>    = 14.762</a:t>
            </a:r>
          </a:p>
          <a:p>
            <a:pPr algn="l" eaLnBrk="1" hangingPunct="1"/>
            <a:r>
              <a:rPr lang="en-US" altLang="en-US" sz="1800" i="0" dirty="0">
                <a:solidFill>
                  <a:srgbClr val="FF0000"/>
                </a:solidFill>
                <a:latin typeface="Arial" panose="020B0604020202020204" pitchFamily="34" charset="0"/>
              </a:rPr>
              <a:t>P/A: </a:t>
            </a:r>
            <a:r>
              <a:rPr lang="en-US" altLang="en-US" sz="1800" i="0" dirty="0" err="1">
                <a:solidFill>
                  <a:srgbClr val="FF0000"/>
                </a:solidFill>
                <a:latin typeface="Arial" panose="020B0604020202020204" pitchFamily="34" charset="0"/>
              </a:rPr>
              <a:t>cho</a:t>
            </a:r>
            <a:r>
              <a:rPr lang="en-US" altLang="en-US" sz="1800" i="0" dirty="0">
                <a:solidFill>
                  <a:srgbClr val="FF0000"/>
                </a:solidFill>
                <a:latin typeface="Arial" panose="020B0604020202020204" pitchFamily="34" charset="0"/>
              </a:rPr>
              <a:t> P </a:t>
            </a:r>
            <a:r>
              <a:rPr lang="en-US" altLang="en-US" sz="1800" i="0" dirty="0" err="1">
                <a:solidFill>
                  <a:srgbClr val="FF0000"/>
                </a:solidFill>
                <a:latin typeface="Arial" panose="020B0604020202020204" pitchFamily="34" charset="0"/>
              </a:rPr>
              <a:t>tìm</a:t>
            </a:r>
            <a:r>
              <a:rPr lang="en-US" altLang="en-US" sz="1800" i="0" dirty="0">
                <a:solidFill>
                  <a:srgbClr val="FF0000"/>
                </a:solidFill>
                <a:latin typeface="Arial" panose="020B0604020202020204" pitchFamily="34" charset="0"/>
              </a:rPr>
              <a:t> A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B88CED1-3733-483B-BA73-C6D2B6E233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3449638"/>
            <a:ext cx="1143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 b="1" i="0">
                <a:solidFill>
                  <a:srgbClr val="FF0000"/>
                </a:solidFill>
                <a:latin typeface="Arial" panose="020B0604020202020204" pitchFamily="34" charset="0"/>
              </a:rPr>
              <a:t>- 14.762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BA911C0-7421-9594-04B9-311DC3987930}"/>
              </a:ext>
            </a:extLst>
          </p:cNvPr>
          <p:cNvCxnSpPr/>
          <p:nvPr/>
        </p:nvCxnSpPr>
        <p:spPr>
          <a:xfrm rot="5400000">
            <a:off x="4729957" y="5337969"/>
            <a:ext cx="1360487" cy="3175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3E6DE63D-6DDD-B0FB-180A-94EBC9FD46B2}"/>
              </a:ext>
            </a:extLst>
          </p:cNvPr>
          <p:cNvCxnSpPr/>
          <p:nvPr/>
        </p:nvCxnSpPr>
        <p:spPr>
          <a:xfrm>
            <a:off x="5410200" y="4659313"/>
            <a:ext cx="2514600" cy="1587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D3FB6E00-6612-1A17-FEB7-6A4C6AFD6A29}"/>
              </a:ext>
            </a:extLst>
          </p:cNvPr>
          <p:cNvCxnSpPr/>
          <p:nvPr/>
        </p:nvCxnSpPr>
        <p:spPr>
          <a:xfrm rot="5400000">
            <a:off x="5264151" y="5033962"/>
            <a:ext cx="749300" cy="3175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FB1C559D-9DFD-929F-4266-86FAB3EF6496}"/>
              </a:ext>
            </a:extLst>
          </p:cNvPr>
          <p:cNvCxnSpPr/>
          <p:nvPr/>
        </p:nvCxnSpPr>
        <p:spPr>
          <a:xfrm rot="5400000">
            <a:off x="5949951" y="5033962"/>
            <a:ext cx="749300" cy="3175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E4141BE6-22FF-4374-3788-36CCDE439C1C}"/>
              </a:ext>
            </a:extLst>
          </p:cNvPr>
          <p:cNvCxnSpPr/>
          <p:nvPr/>
        </p:nvCxnSpPr>
        <p:spPr>
          <a:xfrm rot="5400000">
            <a:off x="6407151" y="5033962"/>
            <a:ext cx="749300" cy="3175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FC7F4DC2-1D3B-65BD-B1A2-AEEF54F3DC9E}"/>
              </a:ext>
            </a:extLst>
          </p:cNvPr>
          <p:cNvCxnSpPr/>
          <p:nvPr/>
        </p:nvCxnSpPr>
        <p:spPr>
          <a:xfrm rot="5400000">
            <a:off x="7092951" y="5033962"/>
            <a:ext cx="749300" cy="3175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E229C13F-246F-591E-BAC7-02AE27AF8F02}"/>
              </a:ext>
            </a:extLst>
          </p:cNvPr>
          <p:cNvCxnSpPr/>
          <p:nvPr/>
        </p:nvCxnSpPr>
        <p:spPr>
          <a:xfrm rot="5400000">
            <a:off x="5492751" y="5033962"/>
            <a:ext cx="749300" cy="3175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19F5DDB6-E9DC-762F-F2D4-8D31A2CE9949}"/>
              </a:ext>
            </a:extLst>
          </p:cNvPr>
          <p:cNvCxnSpPr/>
          <p:nvPr/>
        </p:nvCxnSpPr>
        <p:spPr>
          <a:xfrm rot="5400000">
            <a:off x="5721351" y="5033962"/>
            <a:ext cx="749300" cy="3175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D8463D92-A48C-E8BD-49D7-3092FDD45E96}"/>
              </a:ext>
            </a:extLst>
          </p:cNvPr>
          <p:cNvCxnSpPr/>
          <p:nvPr/>
        </p:nvCxnSpPr>
        <p:spPr>
          <a:xfrm rot="5400000">
            <a:off x="6635751" y="5033962"/>
            <a:ext cx="749300" cy="3175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41E7BEAB-D850-BA1F-9403-9B1A0C9EC02A}"/>
              </a:ext>
            </a:extLst>
          </p:cNvPr>
          <p:cNvCxnSpPr/>
          <p:nvPr/>
        </p:nvCxnSpPr>
        <p:spPr>
          <a:xfrm rot="5400000">
            <a:off x="6178551" y="5033962"/>
            <a:ext cx="749300" cy="3175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B69B3DF6-A7D4-E14B-C7FC-CFDEA556BC97}"/>
              </a:ext>
            </a:extLst>
          </p:cNvPr>
          <p:cNvCxnSpPr/>
          <p:nvPr/>
        </p:nvCxnSpPr>
        <p:spPr>
          <a:xfrm rot="5400000">
            <a:off x="7321551" y="5033962"/>
            <a:ext cx="749300" cy="3175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A549440C-D341-FFE6-7124-BE2658F26863}"/>
              </a:ext>
            </a:extLst>
          </p:cNvPr>
          <p:cNvCxnSpPr/>
          <p:nvPr/>
        </p:nvCxnSpPr>
        <p:spPr>
          <a:xfrm rot="5400000">
            <a:off x="6864351" y="5033962"/>
            <a:ext cx="749300" cy="3175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1058B0D2-2E8C-3032-BCCF-90D330F755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5780088"/>
            <a:ext cx="3365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en-US" sz="1800" i="0"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D8E320F-1E16-9E58-41EA-8FF4AEC186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5638800"/>
            <a:ext cx="2057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en-US" sz="1800" i="0">
                <a:latin typeface="Arial" panose="020B0604020202020204" pitchFamily="34" charset="0"/>
              </a:rPr>
              <a:t>A = </a:t>
            </a:r>
            <a:r>
              <a:rPr lang="en-US" altLang="en-US" sz="1800" i="0">
                <a:solidFill>
                  <a:srgbClr val="FF0000"/>
                </a:solidFill>
                <a:latin typeface="Arial" panose="020B0604020202020204" pitchFamily="34" charset="0"/>
              </a:rPr>
              <a:t>4.3</a:t>
            </a:r>
            <a:r>
              <a:rPr lang="en-US" altLang="en-US" sz="1800" i="0">
                <a:latin typeface="Arial" panose="020B0604020202020204" pitchFamily="34" charset="0"/>
              </a:rPr>
              <a:t> triệu đồng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E68DC556-1B0B-EBA8-8D2E-5567BEAC6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41910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en-US" sz="1800" i="0">
                <a:latin typeface="Arial" panose="020B0604020202020204" pitchFamily="34" charset="0"/>
              </a:rPr>
              <a:t>i = 8%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D7E16380-7484-14F7-49D3-0E382BB031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6008688"/>
            <a:ext cx="25908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en-US" sz="1800" i="0">
                <a:solidFill>
                  <a:srgbClr val="FF0000"/>
                </a:solidFill>
                <a:latin typeface="Arial" panose="020B0604020202020204" pitchFamily="34" charset="0"/>
              </a:rPr>
              <a:t>P = 4.3(P/A, 8%, 10)</a:t>
            </a:r>
          </a:p>
          <a:p>
            <a:pPr algn="l" eaLnBrk="1" hangingPunct="1"/>
            <a:r>
              <a:rPr lang="en-US" altLang="en-US" sz="1800" i="0">
                <a:solidFill>
                  <a:srgbClr val="FF0000"/>
                </a:solidFill>
                <a:latin typeface="Arial" panose="020B0604020202020204" pitchFamily="34" charset="0"/>
              </a:rPr>
              <a:t>    = 28.850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E167CD8-0E0E-6704-3EF4-B2985B386E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3429000"/>
            <a:ext cx="1143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 b="1" i="0">
                <a:solidFill>
                  <a:srgbClr val="FF0000"/>
                </a:solidFill>
                <a:latin typeface="Arial" panose="020B0604020202020204" pitchFamily="34" charset="0"/>
              </a:rPr>
              <a:t>- 28.850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EC07BFA-0EE5-373D-0AAC-419D1C92F4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657600"/>
            <a:ext cx="1828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en-US" sz="1800" i="0">
                <a:solidFill>
                  <a:srgbClr val="FF0000"/>
                </a:solidFill>
                <a:latin typeface="Arial" panose="020B0604020202020204" pitchFamily="34" charset="0"/>
              </a:rPr>
              <a:t>Đầu tư ban đầu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9DE439-13EE-B2F8-52BB-CD3B6D38A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3744913"/>
            <a:ext cx="1143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 b="1" i="0">
                <a:solidFill>
                  <a:srgbClr val="FF0000"/>
                </a:solidFill>
                <a:latin typeface="Arial" panose="020B0604020202020204" pitchFamily="34" charset="0"/>
              </a:rPr>
              <a:t>- 10.000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1038A52-9473-6B0D-E14B-E1C0B44772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3744913"/>
            <a:ext cx="1143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 b="1" i="0">
                <a:solidFill>
                  <a:srgbClr val="FF0000"/>
                </a:solidFill>
                <a:latin typeface="Arial" panose="020B0604020202020204" pitchFamily="34" charset="0"/>
              </a:rPr>
              <a:t>- 15.000</a:t>
            </a:r>
          </a:p>
        </p:txBody>
      </p:sp>
      <p:graphicFrame>
        <p:nvGraphicFramePr>
          <p:cNvPr id="62" name="Table 61">
            <a:extLst>
              <a:ext uri="{FF2B5EF4-FFF2-40B4-BE49-F238E27FC236}">
                <a16:creationId xmlns:a16="http://schemas.microsoft.com/office/drawing/2014/main" id="{D641327D-A010-FF2D-0BD9-F670E5652B48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1143000"/>
          <a:ext cx="2590800" cy="736600"/>
        </p:xfrm>
        <a:graphic>
          <a:graphicData uri="http://schemas.openxmlformats.org/drawingml/2006/table">
            <a:tbl>
              <a:tblPr/>
              <a:tblGrid>
                <a:gridCol w="1684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6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Đầu tư ban đầu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Chi phí hằng năm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Thu nhập hằng năm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Giá trị còn lại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10.0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2.2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5.0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2.0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15.0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4.3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7.0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0.0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645" name="Rectangle 2">
            <a:extLst>
              <a:ext uri="{FF2B5EF4-FFF2-40B4-BE49-F238E27FC236}">
                <a16:creationId xmlns:a16="http://schemas.microsoft.com/office/drawing/2014/main" id="{48C8212A-95A9-667F-BAE4-00E4CE418D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81000"/>
            <a:ext cx="81534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en-US" sz="3200" b="1" i="0">
                <a:solidFill>
                  <a:srgbClr val="008000"/>
                </a:solidFill>
                <a:latin typeface="Arial" panose="020B0604020202020204" pitchFamily="34" charset="0"/>
              </a:rPr>
              <a:t>PHƯƠNG PHÁP GIÁ TRỊ HIỆN TẠI (PW)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16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8" dur="1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2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1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6" dur="1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100"/>
                            </p:stCondLst>
                            <p:childTnLst>
                              <p:par>
                                <p:cTn id="2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0" dur="1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32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4" dur="1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300"/>
                            </p:stCondLst>
                            <p:childTnLst>
                              <p:par>
                                <p:cTn id="36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8" dur="1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4" dur="1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7" dur="1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2" presetClass="entr" presetSubtype="1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0" dur="1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3" dur="1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80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201"/>
                            </p:stCondLst>
                            <p:childTnLst>
                              <p:par>
                                <p:cTn id="6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6" dur="3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9" dur="3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6001"/>
                            </p:stCondLst>
                            <p:childTnLst>
                              <p:par>
                                <p:cTn id="7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6501"/>
                            </p:stCondLst>
                            <p:childTnLst>
                              <p:par>
                                <p:cTn id="7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7" dur="1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6601"/>
                            </p:stCondLst>
                            <p:childTnLst>
                              <p:par>
                                <p:cTn id="7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1" dur="1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6701"/>
                            </p:stCondLst>
                            <p:childTnLst>
                              <p:par>
                                <p:cTn id="8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5" dur="1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6801"/>
                            </p:stCondLst>
                            <p:childTnLst>
                              <p:par>
                                <p:cTn id="87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9" dur="1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6901"/>
                            </p:stCondLst>
                            <p:childTnLst>
                              <p:par>
                                <p:cTn id="91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3" dur="1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7001"/>
                            </p:stCondLst>
                            <p:childTnLst>
                              <p:par>
                                <p:cTn id="9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7" dur="1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3" dur="1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2" presetClass="entr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6" dur="1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2" presetClass="entr" presetSubtype="1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9" dur="1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2" dur="1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7501"/>
                            </p:stCondLst>
                            <p:childTnLst>
                              <p:par>
                                <p:cTn id="1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9702"/>
                            </p:stCondLst>
                            <p:childTnLst>
                              <p:par>
                                <p:cTn id="120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10502"/>
                            </p:stCondLst>
                            <p:childTnLst>
                              <p:par>
                                <p:cTn id="1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11503"/>
                            </p:stCondLst>
                            <p:childTnLst>
                              <p:par>
                                <p:cTn id="12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12303"/>
                            </p:stCondLst>
                            <p:childTnLst>
                              <p:par>
                                <p:cTn id="13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9" grpId="0"/>
      <p:bldP spid="60" grpId="0"/>
      <p:bldP spid="96" grpId="0"/>
      <p:bldP spid="97" grpId="0"/>
      <p:bldP spid="110" grpId="0"/>
      <p:bldP spid="111" grpId="0"/>
      <p:bldP spid="112" grpId="0"/>
      <p:bldP spid="113" grpId="0"/>
      <p:bldP spid="114" grpId="0"/>
      <p:bldP spid="41" grpId="0"/>
      <p:bldP spid="42" grpId="0"/>
      <p:bldP spid="4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375" name="Group 47">
            <a:extLst>
              <a:ext uri="{FF2B5EF4-FFF2-40B4-BE49-F238E27FC236}">
                <a16:creationId xmlns:a16="http://schemas.microsoft.com/office/drawing/2014/main" id="{32019319-BB70-9F29-DA73-60EBD64C601B}"/>
              </a:ext>
            </a:extLst>
          </p:cNvPr>
          <p:cNvGraphicFramePr>
            <a:graphicFrameLocks noGrp="1"/>
          </p:cNvGraphicFramePr>
          <p:nvPr/>
        </p:nvGraphicFramePr>
        <p:xfrm>
          <a:off x="1447800" y="1828800"/>
          <a:ext cx="7467600" cy="4773613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Chi phí, thu nhập (triệu đồng)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Máy tiện 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Máy tiện 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07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Thu nhập hằng năm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Giá trị còn lại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          Tổng PW của thu nhập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Chi phí hằng năm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Đầu tư ban đầu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Chi phí thay mới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      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33.550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  0.926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34.476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- 14.762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-10.000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46.970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               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         46.970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- 28.850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-15.000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8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D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D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77AA1A8-E95D-5AC0-8F57-567F78ED1D48}"/>
              </a:ext>
            </a:extLst>
          </p:cNvPr>
          <p:cNvCxnSpPr/>
          <p:nvPr/>
        </p:nvCxnSpPr>
        <p:spPr>
          <a:xfrm>
            <a:off x="5638800" y="2743200"/>
            <a:ext cx="1066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7E87AD1-74ED-14DD-EC5C-011B62DC7AF4}"/>
              </a:ext>
            </a:extLst>
          </p:cNvPr>
          <p:cNvCxnSpPr/>
          <p:nvPr/>
        </p:nvCxnSpPr>
        <p:spPr>
          <a:xfrm>
            <a:off x="7391400" y="2743200"/>
            <a:ext cx="1066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82B378E-847E-8DD1-60E6-8B285D4B6772}"/>
              </a:ext>
            </a:extLst>
          </p:cNvPr>
          <p:cNvCxnSpPr/>
          <p:nvPr/>
        </p:nvCxnSpPr>
        <p:spPr>
          <a:xfrm rot="5400000">
            <a:off x="996157" y="5631656"/>
            <a:ext cx="1360488" cy="3175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5AF2F9C-89E7-55FE-FA40-2F6175F21F93}"/>
              </a:ext>
            </a:extLst>
          </p:cNvPr>
          <p:cNvCxnSpPr/>
          <p:nvPr/>
        </p:nvCxnSpPr>
        <p:spPr>
          <a:xfrm>
            <a:off x="1676400" y="4953000"/>
            <a:ext cx="2514600" cy="1588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15452BF-648F-D9D6-C750-4BDF174CAEA1}"/>
              </a:ext>
            </a:extLst>
          </p:cNvPr>
          <p:cNvCxnSpPr/>
          <p:nvPr/>
        </p:nvCxnSpPr>
        <p:spPr>
          <a:xfrm rot="5400000">
            <a:off x="2444751" y="5327650"/>
            <a:ext cx="749300" cy="3175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C671B27-8396-1C8E-CD63-012E93BF2E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6107113"/>
            <a:ext cx="3365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en-US" sz="1800" i="0"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BBD64C-E3C6-2049-50DD-711857AA44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5638800"/>
            <a:ext cx="1219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en-US" sz="1800" i="0">
                <a:solidFill>
                  <a:srgbClr val="FF0000"/>
                </a:solidFill>
                <a:latin typeface="Arial" panose="020B0604020202020204" pitchFamily="34" charset="0"/>
              </a:rPr>
              <a:t>F = 10 - 2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D0FF47-76F7-BFB4-504E-10DE1E777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5720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en-US" sz="1800" i="0">
                <a:latin typeface="Arial" panose="020B0604020202020204" pitchFamily="34" charset="0"/>
              </a:rPr>
              <a:t>i = 8%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F4513D-D07F-ECAF-7613-70ABBC714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6211888"/>
            <a:ext cx="25908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en-US" sz="1800" i="0">
                <a:solidFill>
                  <a:srgbClr val="FF0000"/>
                </a:solidFill>
                <a:latin typeface="Arial" panose="020B0604020202020204" pitchFamily="34" charset="0"/>
              </a:rPr>
              <a:t>P = 8(P/F, 8%, </a:t>
            </a:r>
            <a:r>
              <a:rPr lang="en-US" altLang="en-US" sz="1800" b="1" i="0">
                <a:solidFill>
                  <a:srgbClr val="FF0000"/>
                </a:solidFill>
                <a:latin typeface="Arial" panose="020B0604020202020204" pitchFamily="34" charset="0"/>
              </a:rPr>
              <a:t>5</a:t>
            </a:r>
            <a:r>
              <a:rPr lang="en-US" altLang="en-US" sz="1800" i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</a:p>
          <a:p>
            <a:pPr algn="l" eaLnBrk="1" hangingPunct="1"/>
            <a:r>
              <a:rPr lang="en-US" altLang="en-US" sz="1800" i="0">
                <a:solidFill>
                  <a:srgbClr val="FF0000"/>
                </a:solidFill>
                <a:latin typeface="Arial" panose="020B0604020202020204" pitchFamily="34" charset="0"/>
              </a:rPr>
              <a:t>    = 5.445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41B000-3604-61E1-DB0A-98C69C9D15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6576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 b="1" i="0">
                <a:solidFill>
                  <a:srgbClr val="FF0000"/>
                </a:solidFill>
                <a:latin typeface="Arial" panose="020B0604020202020204" pitchFamily="34" charset="0"/>
              </a:rPr>
              <a:t>- 5.445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F06955-193C-C8A5-B8DF-8E901A26D4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4278313"/>
            <a:ext cx="24384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296" tIns="27432"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en-US" sz="1800" i="0">
                <a:solidFill>
                  <a:srgbClr val="FF0000"/>
                </a:solidFill>
                <a:latin typeface="Arial" panose="020B0604020202020204" pitchFamily="34" charset="0"/>
              </a:rPr>
              <a:t>Tổng PW của chi phí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F502FD-25BF-274D-3D0D-66C0A2363C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4267200"/>
            <a:ext cx="114300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4864" tIns="100584"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 i="0">
                <a:solidFill>
                  <a:srgbClr val="FF0000"/>
                </a:solidFill>
                <a:latin typeface="Arial" panose="020B0604020202020204" pitchFamily="34" charset="0"/>
              </a:rPr>
              <a:t>- 30.207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C80F3A-1D50-8CAC-0382-C08568F6A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4191000"/>
            <a:ext cx="11430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4864" tIns="109728"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 i="0">
                <a:solidFill>
                  <a:srgbClr val="FF0000"/>
                </a:solidFill>
                <a:latin typeface="Arial" panose="020B0604020202020204" pitchFamily="34" charset="0"/>
              </a:rPr>
              <a:t>- 43.850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15999BE-CA0A-A40C-AAC3-607F4BDCEDBA}"/>
              </a:ext>
            </a:extLst>
          </p:cNvPr>
          <p:cNvCxnSpPr/>
          <p:nvPr/>
        </p:nvCxnSpPr>
        <p:spPr>
          <a:xfrm>
            <a:off x="5638800" y="4267200"/>
            <a:ext cx="1066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02AF0FE-1AD1-D5AB-9A87-DB4D85D3EE74}"/>
              </a:ext>
            </a:extLst>
          </p:cNvPr>
          <p:cNvCxnSpPr/>
          <p:nvPr/>
        </p:nvCxnSpPr>
        <p:spPr>
          <a:xfrm>
            <a:off x="7391400" y="4267200"/>
            <a:ext cx="1066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DC5800AC-FAF6-2E18-62E5-2A26DDA2F926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1143000"/>
          <a:ext cx="2590800" cy="736600"/>
        </p:xfrm>
        <a:graphic>
          <a:graphicData uri="http://schemas.openxmlformats.org/drawingml/2006/table">
            <a:tbl>
              <a:tblPr/>
              <a:tblGrid>
                <a:gridCol w="1684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6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Đầu tư ban đầu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Chi phí hằng năm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Thu nhập hằng năm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Giá trị còn lại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10.0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2.2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5.0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2.0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15.0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4.3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7.0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0.0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645" name="Rectangle 2">
            <a:extLst>
              <a:ext uri="{FF2B5EF4-FFF2-40B4-BE49-F238E27FC236}">
                <a16:creationId xmlns:a16="http://schemas.microsoft.com/office/drawing/2014/main" id="{C53E0EE3-2D50-A84E-6E0C-821D3438AB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81000"/>
            <a:ext cx="81534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en-US" sz="3200" b="1" i="0">
                <a:solidFill>
                  <a:srgbClr val="008000"/>
                </a:solidFill>
                <a:latin typeface="Arial" panose="020B0604020202020204" pitchFamily="34" charset="0"/>
              </a:rPr>
              <a:t>PHƯƠNG PHÁP GIÁ TRỊ HIỆN TẠI (PW)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1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16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8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1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802"/>
                            </p:stCondLst>
                            <p:childTnLst>
                              <p:par>
                                <p:cTn id="2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52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4953"/>
                            </p:stCondLst>
                            <p:childTnLst>
                              <p:par>
                                <p:cTn id="36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453"/>
                            </p:stCondLst>
                            <p:childTnLst>
                              <p:par>
                                <p:cTn id="40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6253"/>
                            </p:stCondLst>
                            <p:childTnLst>
                              <p:par>
                                <p:cTn id="4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6753"/>
                            </p:stCondLst>
                            <p:childTnLst>
                              <p:par>
                                <p:cTn id="48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8" grpId="0"/>
      <p:bldP spid="19" grpId="0"/>
      <p:bldP spid="20" grpId="0"/>
      <p:bldP spid="21" grpId="0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24C0C87-533C-9236-5204-AF1CF41B8A54}"/>
              </a:ext>
            </a:extLst>
          </p:cNvPr>
          <p:cNvGraphicFramePr>
            <a:graphicFrameLocks noGrp="1"/>
          </p:cNvGraphicFramePr>
          <p:nvPr/>
        </p:nvGraphicFramePr>
        <p:xfrm>
          <a:off x="990600" y="1930400"/>
          <a:ext cx="7467600" cy="4773613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Chi phí, thu nhập (triệu đồng)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Máy tiện 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Máy tiện 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07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Thu nhập hằng năm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Giá trị còn lại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          Tổng PW của thu nhập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Chi phí hàng năm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33.550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  0.926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34.476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" charset="0"/>
                        </a:rPr>
                        <a:t>- 14.762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46.970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    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       46.970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" charset="0"/>
                        </a:rPr>
                        <a:t>- 28.850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8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D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D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A6785B7-A1CB-C48E-4919-556BBE64BBEE}"/>
              </a:ext>
            </a:extLst>
          </p:cNvPr>
          <p:cNvCxnSpPr/>
          <p:nvPr/>
        </p:nvCxnSpPr>
        <p:spPr>
          <a:xfrm>
            <a:off x="5257800" y="2895600"/>
            <a:ext cx="1066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C498CC-436C-1F2E-3980-24D13C2B5DE5}"/>
              </a:ext>
            </a:extLst>
          </p:cNvPr>
          <p:cNvCxnSpPr/>
          <p:nvPr/>
        </p:nvCxnSpPr>
        <p:spPr>
          <a:xfrm>
            <a:off x="7086600" y="2895600"/>
            <a:ext cx="1066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1433" name="Group 57">
            <a:extLst>
              <a:ext uri="{FF2B5EF4-FFF2-40B4-BE49-F238E27FC236}">
                <a16:creationId xmlns:a16="http://schemas.microsoft.com/office/drawing/2014/main" id="{942675F5-F988-A8A3-5551-CBB0DE067A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4906655"/>
              </p:ext>
            </p:extLst>
          </p:nvPr>
        </p:nvGraphicFramePr>
        <p:xfrm>
          <a:off x="1031875" y="1930400"/>
          <a:ext cx="7467600" cy="4773613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Chi phí, thu nhập (triệu đồng)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Máy tiện 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Máy tiện 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07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Thu nhập hằng năm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Giá trị còn lại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          Tổng PW của thu nhập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Chi phí hằng năm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Đầu tư ban đầu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Chi phí thay mới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          Tổng PW của chi phí 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33.550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  0.926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34.476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- 14.762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- 10.000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-   5.445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- 30.207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46.970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    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       </a:t>
                      </a: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46.970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- 28.850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-15.000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- 43.853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8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Giá trị PW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D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Arial" charset="0"/>
                        </a:rPr>
                        <a:t>4.269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D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3.117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922F284-92E4-F69C-932F-31F23416C7A5}"/>
              </a:ext>
            </a:extLst>
          </p:cNvPr>
          <p:cNvCxnSpPr/>
          <p:nvPr/>
        </p:nvCxnSpPr>
        <p:spPr>
          <a:xfrm>
            <a:off x="5257800" y="2895600"/>
            <a:ext cx="1066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FEFA777-8109-AA88-B467-4D0A33B1C71B}"/>
              </a:ext>
            </a:extLst>
          </p:cNvPr>
          <p:cNvCxnSpPr/>
          <p:nvPr/>
        </p:nvCxnSpPr>
        <p:spPr>
          <a:xfrm>
            <a:off x="7086600" y="2895600"/>
            <a:ext cx="1066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49142BF-0906-FFC6-0E29-2639E7EFCADD}"/>
              </a:ext>
            </a:extLst>
          </p:cNvPr>
          <p:cNvCxnSpPr/>
          <p:nvPr/>
        </p:nvCxnSpPr>
        <p:spPr>
          <a:xfrm>
            <a:off x="5257800" y="4800600"/>
            <a:ext cx="1066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C517CE3-C008-2052-5C36-138A838D7D6B}"/>
              </a:ext>
            </a:extLst>
          </p:cNvPr>
          <p:cNvCxnSpPr/>
          <p:nvPr/>
        </p:nvCxnSpPr>
        <p:spPr>
          <a:xfrm>
            <a:off x="7086600" y="4799013"/>
            <a:ext cx="10668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CE768C4C-38EE-2FE7-D8C9-5A914410B8A2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1143000"/>
          <a:ext cx="2590800" cy="736600"/>
        </p:xfrm>
        <a:graphic>
          <a:graphicData uri="http://schemas.openxmlformats.org/drawingml/2006/table">
            <a:tbl>
              <a:tblPr/>
              <a:tblGrid>
                <a:gridCol w="1684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6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Đầu tư ban đầu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Chi phí hằng năm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Thu nhập hằng năm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Giá trị còn lại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10.0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2.2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5.0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2.0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15.0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4.3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7.0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0.0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678" name="Rectangle 2">
            <a:extLst>
              <a:ext uri="{FF2B5EF4-FFF2-40B4-BE49-F238E27FC236}">
                <a16:creationId xmlns:a16="http://schemas.microsoft.com/office/drawing/2014/main" id="{8EB906BE-AF13-57DE-D1F5-E80FC37C0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81000"/>
            <a:ext cx="81534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en-US" sz="3200" b="1" i="0">
                <a:solidFill>
                  <a:srgbClr val="008000"/>
                </a:solidFill>
                <a:latin typeface="Arial" panose="020B0604020202020204" pitchFamily="34" charset="0"/>
              </a:rPr>
              <a:t>PHƯƠNG PHÁP GIÁ TRỊ HIỆN TẠI (PW)</a:t>
            </a:r>
          </a:p>
        </p:txBody>
      </p:sp>
    </p:spTree>
  </p:cSld>
  <p:clrMapOvr>
    <a:masterClrMapping/>
  </p:clrMapOvr>
  <p:transition>
    <p:dissolv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664E525B-945E-9882-30F5-E057961B41F7}"/>
              </a:ext>
            </a:extLst>
          </p:cNvPr>
          <p:cNvGraphicFramePr>
            <a:graphicFrameLocks noGrp="1"/>
          </p:cNvGraphicFramePr>
          <p:nvPr/>
        </p:nvGraphicFramePr>
        <p:xfrm>
          <a:off x="1447800" y="2133600"/>
          <a:ext cx="7010400" cy="2713038"/>
        </p:xfrm>
        <a:graphic>
          <a:graphicData uri="http://schemas.openxmlformats.org/drawingml/2006/table">
            <a:tbl>
              <a:tblPr/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Số liệu ban đầu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Máy tiện 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Máy tiện 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9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Chi phí và thu nhập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(triệu đồng)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Đầu tư ban đầu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Chi phí hằng năm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Giá trị còn lại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Tuổi thọ (năm)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3.0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2.0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0.5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4.0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1.6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MARR (%)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DF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15%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D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BDA46D01-A537-3677-8D90-28022243C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5562600"/>
            <a:ext cx="7315200" cy="650875"/>
          </a:xfrm>
          <a:prstGeom prst="rect">
            <a:avLst/>
          </a:prstGeom>
          <a:noFill/>
          <a:ln w="9525">
            <a:solidFill>
              <a:srgbClr val="8FAFE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en-US" sz="1800" i="0" dirty="0" err="1">
                <a:solidFill>
                  <a:srgbClr val="FF0000"/>
                </a:solidFill>
                <a:latin typeface="Arial" panose="020B0604020202020204" pitchFamily="34" charset="0"/>
              </a:rPr>
              <a:t>Thời</a:t>
            </a:r>
            <a:r>
              <a:rPr lang="en-US" altLang="en-US" sz="1800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i="0" dirty="0" err="1">
                <a:solidFill>
                  <a:srgbClr val="FF0000"/>
                </a:solidFill>
                <a:latin typeface="Arial" panose="020B0604020202020204" pitchFamily="34" charset="0"/>
              </a:rPr>
              <a:t>kỳ</a:t>
            </a:r>
            <a:r>
              <a:rPr lang="en-US" altLang="en-US" sz="1800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i="0" dirty="0" err="1">
                <a:solidFill>
                  <a:srgbClr val="FF0000"/>
                </a:solidFill>
                <a:latin typeface="Arial" panose="020B0604020202020204" pitchFamily="34" charset="0"/>
              </a:rPr>
              <a:t>phân</a:t>
            </a:r>
            <a:r>
              <a:rPr lang="en-US" altLang="en-US" sz="1800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i="0" dirty="0" err="1">
                <a:solidFill>
                  <a:srgbClr val="FF0000"/>
                </a:solidFill>
                <a:latin typeface="Arial" panose="020B0604020202020204" pitchFamily="34" charset="0"/>
              </a:rPr>
              <a:t>tích</a:t>
            </a:r>
            <a:r>
              <a:rPr lang="en-US" altLang="en-US" sz="1800" i="0" dirty="0">
                <a:solidFill>
                  <a:srgbClr val="FF0000"/>
                </a:solidFill>
                <a:latin typeface="Arial" panose="020B0604020202020204" pitchFamily="34" charset="0"/>
              </a:rPr>
              <a:t> = 18 </a:t>
            </a:r>
            <a:r>
              <a:rPr lang="en-US" altLang="en-US" sz="1800" i="0" dirty="0" err="1">
                <a:solidFill>
                  <a:srgbClr val="FF0000"/>
                </a:solidFill>
                <a:latin typeface="Arial" panose="020B0604020202020204" pitchFamily="34" charset="0"/>
              </a:rPr>
              <a:t>năm</a:t>
            </a:r>
            <a:r>
              <a:rPr lang="en-US" altLang="en-US" sz="1800" i="0" dirty="0">
                <a:latin typeface="Arial" panose="020B0604020202020204" pitchFamily="34" charset="0"/>
              </a:rPr>
              <a:t>, </a:t>
            </a:r>
            <a:r>
              <a:rPr lang="en-US" altLang="en-US" sz="1800" i="0" dirty="0" err="1">
                <a:latin typeface="Arial" panose="020B0604020202020204" pitchFamily="34" charset="0"/>
              </a:rPr>
              <a:t>bằng</a:t>
            </a:r>
            <a:r>
              <a:rPr lang="en-US" altLang="en-US" sz="1800" i="0" dirty="0">
                <a:latin typeface="Arial" panose="020B0604020202020204" pitchFamily="34" charset="0"/>
              </a:rPr>
              <a:t> </a:t>
            </a:r>
            <a:r>
              <a:rPr lang="en-US" altLang="en-US" sz="1800" i="0" dirty="0" err="1">
                <a:latin typeface="Arial" panose="020B0604020202020204" pitchFamily="34" charset="0"/>
              </a:rPr>
              <a:t>bội</a:t>
            </a:r>
            <a:r>
              <a:rPr lang="en-US" altLang="en-US" sz="1800" i="0" dirty="0">
                <a:latin typeface="Arial" panose="020B0604020202020204" pitchFamily="34" charset="0"/>
              </a:rPr>
              <a:t> </a:t>
            </a:r>
            <a:r>
              <a:rPr lang="en-US" altLang="en-US" sz="1800" i="0" dirty="0" err="1">
                <a:latin typeface="Arial" panose="020B0604020202020204" pitchFamily="34" charset="0"/>
              </a:rPr>
              <a:t>số</a:t>
            </a:r>
            <a:r>
              <a:rPr lang="en-US" altLang="en-US" sz="1800" i="0" dirty="0">
                <a:latin typeface="Arial" panose="020B0604020202020204" pitchFamily="34" charset="0"/>
              </a:rPr>
              <a:t> </a:t>
            </a:r>
            <a:r>
              <a:rPr lang="en-US" altLang="en-US" sz="1800" i="0" dirty="0" err="1">
                <a:latin typeface="Arial" panose="020B0604020202020204" pitchFamily="34" charset="0"/>
              </a:rPr>
              <a:t>chung</a:t>
            </a:r>
            <a:r>
              <a:rPr lang="en-US" altLang="en-US" sz="1800" i="0" dirty="0">
                <a:latin typeface="Arial" panose="020B0604020202020204" pitchFamily="34" charset="0"/>
              </a:rPr>
              <a:t> </a:t>
            </a:r>
            <a:r>
              <a:rPr lang="en-US" altLang="en-US" sz="1800" i="0" dirty="0" err="1">
                <a:latin typeface="Arial" panose="020B0604020202020204" pitchFamily="34" charset="0"/>
              </a:rPr>
              <a:t>nhỏ</a:t>
            </a:r>
            <a:r>
              <a:rPr lang="en-US" altLang="en-US" sz="1800" i="0" dirty="0">
                <a:latin typeface="Arial" panose="020B0604020202020204" pitchFamily="34" charset="0"/>
              </a:rPr>
              <a:t> </a:t>
            </a:r>
            <a:r>
              <a:rPr lang="en-US" altLang="en-US" sz="1800" i="0" dirty="0" err="1">
                <a:latin typeface="Arial" panose="020B0604020202020204" pitchFamily="34" charset="0"/>
              </a:rPr>
              <a:t>nhất</a:t>
            </a:r>
            <a:r>
              <a:rPr lang="en-US" altLang="en-US" sz="1800" i="0" dirty="0">
                <a:latin typeface="Arial" panose="020B0604020202020204" pitchFamily="34" charset="0"/>
              </a:rPr>
              <a:t> </a:t>
            </a:r>
            <a:r>
              <a:rPr lang="en-US" altLang="en-US" sz="1800" i="0" dirty="0" err="1">
                <a:latin typeface="Arial" panose="020B0604020202020204" pitchFamily="34" charset="0"/>
              </a:rPr>
              <a:t>của</a:t>
            </a:r>
            <a:r>
              <a:rPr lang="en-US" altLang="en-US" sz="1800" i="0" dirty="0">
                <a:latin typeface="Arial" panose="020B0604020202020204" pitchFamily="34" charset="0"/>
              </a:rPr>
              <a:t> 6 </a:t>
            </a:r>
            <a:r>
              <a:rPr lang="en-US" altLang="en-US" sz="1800" i="0" dirty="0" err="1">
                <a:latin typeface="Arial" panose="020B0604020202020204" pitchFamily="34" charset="0"/>
              </a:rPr>
              <a:t>và</a:t>
            </a:r>
            <a:r>
              <a:rPr lang="en-US" altLang="en-US" sz="1800" i="0" dirty="0">
                <a:latin typeface="Arial" panose="020B0604020202020204" pitchFamily="34" charset="0"/>
              </a:rPr>
              <a:t> 9.</a:t>
            </a:r>
          </a:p>
          <a:p>
            <a:pPr algn="l" eaLnBrk="1" hangingPunct="1"/>
            <a:r>
              <a:rPr lang="en-US" altLang="en-US" sz="1800" i="0" dirty="0" err="1">
                <a:latin typeface="Arial" panose="020B0604020202020204" pitchFamily="34" charset="0"/>
              </a:rPr>
              <a:t>Vậy</a:t>
            </a:r>
            <a:r>
              <a:rPr lang="en-US" altLang="en-US" sz="1800" i="0" dirty="0">
                <a:latin typeface="Arial" panose="020B0604020202020204" pitchFamily="34" charset="0"/>
              </a:rPr>
              <a:t> </a:t>
            </a:r>
            <a:r>
              <a:rPr lang="en-US" altLang="en-US" sz="1800" i="0" dirty="0" err="1">
                <a:solidFill>
                  <a:srgbClr val="FF0000"/>
                </a:solidFill>
                <a:latin typeface="Arial" panose="020B0604020202020204" pitchFamily="34" charset="0"/>
              </a:rPr>
              <a:t>máy</a:t>
            </a:r>
            <a:r>
              <a:rPr lang="en-US" altLang="en-US" sz="1800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i="0" dirty="0" err="1">
                <a:solidFill>
                  <a:srgbClr val="FF0000"/>
                </a:solidFill>
                <a:latin typeface="Arial" panose="020B0604020202020204" pitchFamily="34" charset="0"/>
              </a:rPr>
              <a:t>tiện</a:t>
            </a:r>
            <a:r>
              <a:rPr lang="en-US" altLang="en-US" sz="1800" i="0" dirty="0">
                <a:solidFill>
                  <a:srgbClr val="FF0000"/>
                </a:solidFill>
                <a:latin typeface="Arial" panose="020B0604020202020204" pitchFamily="34" charset="0"/>
              </a:rPr>
              <a:t> A </a:t>
            </a:r>
            <a:r>
              <a:rPr lang="en-US" altLang="en-US" sz="1800" i="0" dirty="0" err="1">
                <a:solidFill>
                  <a:srgbClr val="FF0000"/>
                </a:solidFill>
                <a:latin typeface="Arial" panose="020B0604020202020204" pitchFamily="34" charset="0"/>
              </a:rPr>
              <a:t>phải</a:t>
            </a:r>
            <a:r>
              <a:rPr lang="en-US" altLang="en-US" sz="1800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i="0" dirty="0" err="1">
                <a:solidFill>
                  <a:srgbClr val="FF0000"/>
                </a:solidFill>
                <a:latin typeface="Arial" panose="020B0604020202020204" pitchFamily="34" charset="0"/>
              </a:rPr>
              <a:t>thay</a:t>
            </a:r>
            <a:r>
              <a:rPr lang="en-US" altLang="en-US" sz="1800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i="0" dirty="0" err="1">
                <a:solidFill>
                  <a:srgbClr val="FF0000"/>
                </a:solidFill>
                <a:latin typeface="Arial" panose="020B0604020202020204" pitchFamily="34" charset="0"/>
              </a:rPr>
              <a:t>mới</a:t>
            </a:r>
            <a:r>
              <a:rPr lang="en-US" altLang="en-US" sz="1800" i="0" dirty="0">
                <a:solidFill>
                  <a:srgbClr val="FF0000"/>
                </a:solidFill>
                <a:latin typeface="Arial" panose="020B0604020202020204" pitchFamily="34" charset="0"/>
              </a:rPr>
              <a:t> 2 </a:t>
            </a:r>
            <a:r>
              <a:rPr lang="en-US" altLang="en-US" sz="1800" i="0" dirty="0" err="1">
                <a:solidFill>
                  <a:srgbClr val="FF0000"/>
                </a:solidFill>
                <a:latin typeface="Arial" panose="020B0604020202020204" pitchFamily="34" charset="0"/>
              </a:rPr>
              <a:t>lần</a:t>
            </a:r>
            <a:r>
              <a:rPr lang="en-US" altLang="en-US" sz="1800" i="0" dirty="0">
                <a:solidFill>
                  <a:srgbClr val="FF0000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1800" i="0" dirty="0" err="1">
                <a:solidFill>
                  <a:srgbClr val="FF0000"/>
                </a:solidFill>
                <a:latin typeface="Arial" panose="020B0604020202020204" pitchFamily="34" charset="0"/>
              </a:rPr>
              <a:t>máy</a:t>
            </a:r>
            <a:r>
              <a:rPr lang="en-US" altLang="en-US" sz="1800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i="0" dirty="0" err="1">
                <a:solidFill>
                  <a:srgbClr val="FF0000"/>
                </a:solidFill>
                <a:latin typeface="Arial" panose="020B0604020202020204" pitchFamily="34" charset="0"/>
              </a:rPr>
              <a:t>tiện</a:t>
            </a:r>
            <a:r>
              <a:rPr lang="en-US" altLang="en-US" sz="1800" i="0" dirty="0">
                <a:solidFill>
                  <a:srgbClr val="FF0000"/>
                </a:solidFill>
                <a:latin typeface="Arial" panose="020B0604020202020204" pitchFamily="34" charset="0"/>
              </a:rPr>
              <a:t> B </a:t>
            </a:r>
            <a:r>
              <a:rPr lang="en-US" altLang="en-US" sz="1800" i="0" dirty="0" err="1">
                <a:solidFill>
                  <a:srgbClr val="FF0000"/>
                </a:solidFill>
                <a:latin typeface="Arial" panose="020B0604020202020204" pitchFamily="34" charset="0"/>
              </a:rPr>
              <a:t>phải</a:t>
            </a:r>
            <a:r>
              <a:rPr lang="en-US" altLang="en-US" sz="1800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i="0" dirty="0" err="1">
                <a:solidFill>
                  <a:srgbClr val="FF0000"/>
                </a:solidFill>
                <a:latin typeface="Arial" panose="020B0604020202020204" pitchFamily="34" charset="0"/>
              </a:rPr>
              <a:t>thay</a:t>
            </a:r>
            <a:r>
              <a:rPr lang="en-US" altLang="en-US" sz="1800" i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i="0" dirty="0" err="1">
                <a:solidFill>
                  <a:srgbClr val="FF0000"/>
                </a:solidFill>
                <a:latin typeface="Arial" panose="020B0604020202020204" pitchFamily="34" charset="0"/>
              </a:rPr>
              <a:t>mới</a:t>
            </a:r>
            <a:r>
              <a:rPr lang="en-US" altLang="en-US" sz="1800" i="0" dirty="0">
                <a:solidFill>
                  <a:srgbClr val="FF0000"/>
                </a:solidFill>
                <a:latin typeface="Arial" panose="020B0604020202020204" pitchFamily="34" charset="0"/>
              </a:rPr>
              <a:t> 1 </a:t>
            </a:r>
            <a:r>
              <a:rPr lang="en-US" altLang="en-US" sz="1800" i="0" dirty="0" err="1">
                <a:solidFill>
                  <a:srgbClr val="FF0000"/>
                </a:solidFill>
                <a:latin typeface="Arial" panose="020B0604020202020204" pitchFamily="34" charset="0"/>
              </a:rPr>
              <a:t>lần</a:t>
            </a:r>
            <a:r>
              <a:rPr lang="en-US" altLang="en-US" sz="1800" i="0" dirty="0">
                <a:solidFill>
                  <a:srgbClr val="FF0000"/>
                </a:solidFill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D14F8C4-446C-E655-9CB2-C1EEF967B33C}"/>
              </a:ext>
            </a:extLst>
          </p:cNvPr>
          <p:cNvSpPr/>
          <p:nvPr/>
        </p:nvSpPr>
        <p:spPr>
          <a:xfrm>
            <a:off x="5181600" y="3962400"/>
            <a:ext cx="304800" cy="304800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000" i="0">
                <a:solidFill>
                  <a:srgbClr val="2A4F86"/>
                </a:solidFill>
              </a:rPr>
              <a:t>6</a:t>
            </a:r>
            <a:endParaRPr lang="en-US" sz="1800" i="0">
              <a:solidFill>
                <a:srgbClr val="2A4F86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3319A81-3C57-0056-CF40-C3B6DB6FC596}"/>
              </a:ext>
            </a:extLst>
          </p:cNvPr>
          <p:cNvSpPr/>
          <p:nvPr/>
        </p:nvSpPr>
        <p:spPr>
          <a:xfrm>
            <a:off x="7162800" y="3962400"/>
            <a:ext cx="6096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000" i="0">
                <a:solidFill>
                  <a:srgbClr val="2A4F86"/>
                </a:solidFill>
              </a:rPr>
              <a:t>9</a:t>
            </a:r>
            <a:endParaRPr lang="en-US" sz="1800" i="0">
              <a:solidFill>
                <a:srgbClr val="2A4F86"/>
              </a:solidFill>
            </a:endParaRPr>
          </a:p>
        </p:txBody>
      </p:sp>
      <p:sp>
        <p:nvSpPr>
          <p:cNvPr id="27670" name="TextBox 52">
            <a:extLst>
              <a:ext uri="{FF2B5EF4-FFF2-40B4-BE49-F238E27FC236}">
                <a16:creationId xmlns:a16="http://schemas.microsoft.com/office/drawing/2014/main" id="{6E054E57-5234-3CCB-AF95-94C6A258C7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600200"/>
            <a:ext cx="4527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008000"/>
                </a:solidFill>
                <a:latin typeface="Arial" panose="020B0604020202020204" pitchFamily="34" charset="0"/>
              </a:rPr>
              <a:t>Máy tiện A và B có thu nhập giống nhau</a:t>
            </a:r>
          </a:p>
        </p:txBody>
      </p:sp>
      <p:sp>
        <p:nvSpPr>
          <p:cNvPr id="27671" name="TextBox 54">
            <a:extLst>
              <a:ext uri="{FF2B5EF4-FFF2-40B4-BE49-F238E27FC236}">
                <a16:creationId xmlns:a16="http://schemas.microsoft.com/office/drawing/2014/main" id="{87A22F96-3676-7197-3E44-55AB390453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5029200"/>
            <a:ext cx="266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altLang="en-US" sz="2400" i="0">
                <a:solidFill>
                  <a:srgbClr val="FF0000"/>
                </a:solidFill>
                <a:latin typeface="Arial" panose="020B0604020202020204" pitchFamily="34" charset="0"/>
              </a:rPr>
              <a:t>PWC </a:t>
            </a:r>
            <a:r>
              <a:rPr lang="en-US" altLang="en-US" sz="2400" i="0">
                <a:solidFill>
                  <a:srgbClr val="FF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altLang="en-US" sz="2400" i="0">
                <a:solidFill>
                  <a:srgbClr val="FF0000"/>
                </a:solidFill>
                <a:latin typeface="Arial" panose="020B0604020202020204" pitchFamily="34" charset="0"/>
              </a:rPr>
              <a:t>Min</a:t>
            </a:r>
            <a:endParaRPr lang="en-US" altLang="en-US" sz="2400" i="0">
              <a:latin typeface="Arial" panose="020B0604020202020204" pitchFamily="34" charset="0"/>
            </a:endParaRPr>
          </a:p>
        </p:txBody>
      </p:sp>
      <p:sp>
        <p:nvSpPr>
          <p:cNvPr id="27672" name="Rectangle 2">
            <a:extLst>
              <a:ext uri="{FF2B5EF4-FFF2-40B4-BE49-F238E27FC236}">
                <a16:creationId xmlns:a16="http://schemas.microsoft.com/office/drawing/2014/main" id="{16F35705-11D9-E3EA-F75C-53A8CAB42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81000"/>
            <a:ext cx="81534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en-US" sz="3200" b="1" i="0">
                <a:solidFill>
                  <a:srgbClr val="008000"/>
                </a:solidFill>
                <a:latin typeface="Arial" panose="020B0604020202020204" pitchFamily="34" charset="0"/>
              </a:rPr>
              <a:t>PHƯƠNG PHÁP GIÁ TRỊ HIỆN TẠI (PW)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4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0" presetClass="entr" presetSubtype="0" fill="hold" nodeType="withEffect">
                                  <p:stCondLst>
                                    <p:cond delay="3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520" name="Group 48">
            <a:extLst>
              <a:ext uri="{FF2B5EF4-FFF2-40B4-BE49-F238E27FC236}">
                <a16:creationId xmlns:a16="http://schemas.microsoft.com/office/drawing/2014/main" id="{E47E0903-7DCB-B654-3920-BC38E5873F66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143000"/>
          <a:ext cx="2286000" cy="533400"/>
        </p:xfrm>
        <a:graphic>
          <a:graphicData uri="http://schemas.openxmlformats.org/drawingml/2006/table">
            <a:tbl>
              <a:tblPr/>
              <a:tblGrid>
                <a:gridCol w="146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Đầu tư ban đầu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Chi phí hằng năm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Giá trị còn lại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3.0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2.0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0.5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4.0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1.6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198EB1E7-75EF-1EBB-27E9-B4CF5AE52A3A}"/>
              </a:ext>
            </a:extLst>
          </p:cNvPr>
          <p:cNvGraphicFramePr>
            <a:graphicFrameLocks noGrp="1"/>
          </p:cNvGraphicFramePr>
          <p:nvPr/>
        </p:nvGraphicFramePr>
        <p:xfrm>
          <a:off x="990600" y="1930400"/>
          <a:ext cx="7467600" cy="3775075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Chi phí, thu nhập (triệu đồng)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Máy tiện 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Máy tiện 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07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Thu nhập hằng năm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Giá trị còn lại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          Tổng PW của thu nhập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Chi phí hàng năm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33.550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  0.926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34.476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" charset="0"/>
                        </a:rPr>
                        <a:t>- 14.762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46.970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    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       46.970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" charset="0"/>
                        </a:rPr>
                        <a:t>- 28.850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CD86632-B613-0BE8-47BC-D89E37A6298E}"/>
              </a:ext>
            </a:extLst>
          </p:cNvPr>
          <p:cNvCxnSpPr/>
          <p:nvPr/>
        </p:nvCxnSpPr>
        <p:spPr>
          <a:xfrm>
            <a:off x="5257800" y="2895600"/>
            <a:ext cx="1066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FCCCBF6-917E-5150-60F1-7AB6615C3B05}"/>
              </a:ext>
            </a:extLst>
          </p:cNvPr>
          <p:cNvCxnSpPr/>
          <p:nvPr/>
        </p:nvCxnSpPr>
        <p:spPr>
          <a:xfrm>
            <a:off x="7086600" y="2895600"/>
            <a:ext cx="1066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5521" name="Group 49">
            <a:extLst>
              <a:ext uri="{FF2B5EF4-FFF2-40B4-BE49-F238E27FC236}">
                <a16:creationId xmlns:a16="http://schemas.microsoft.com/office/drawing/2014/main" id="{A5054FF8-E200-E95B-F37A-9668DAE8BA97}"/>
              </a:ext>
            </a:extLst>
          </p:cNvPr>
          <p:cNvGraphicFramePr>
            <a:graphicFrameLocks noGrp="1"/>
          </p:cNvGraphicFramePr>
          <p:nvPr/>
        </p:nvGraphicFramePr>
        <p:xfrm>
          <a:off x="990600" y="1930400"/>
          <a:ext cx="7467600" cy="4200525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2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Các thành phần chi phí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(triệu đồng)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Máy tiện 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Máy tiện 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76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Đầu</a:t>
                      </a:r>
                      <a:r>
                        <a:rPr kumimoji="1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1" lang="en-US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tư</a:t>
                      </a:r>
                      <a:r>
                        <a:rPr kumimoji="1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 ban </a:t>
                      </a:r>
                      <a:r>
                        <a:rPr kumimoji="1" lang="en-US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đầu</a:t>
                      </a:r>
                      <a:endParaRPr kumimoji="1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Thay </a:t>
                      </a:r>
                      <a:r>
                        <a:rPr kumimoji="1" lang="en-US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mới</a:t>
                      </a:r>
                      <a:r>
                        <a:rPr kumimoji="1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1" lang="en-US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lần</a:t>
                      </a:r>
                      <a:r>
                        <a:rPr kumimoji="1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 1 (A: n=6  |  B: n=9)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     (3 – 0.5)(P/F, 15%,6)    |    4.0(P/F, 15%,9)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Thay </a:t>
                      </a:r>
                      <a:r>
                        <a:rPr kumimoji="1" lang="en-US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mới</a:t>
                      </a:r>
                      <a:r>
                        <a:rPr kumimoji="1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1" lang="en-US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lần</a:t>
                      </a:r>
                      <a:r>
                        <a:rPr kumimoji="1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 2 (n=12)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     (3 – 0.5)(P/F, 15%,12)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Chi </a:t>
                      </a:r>
                      <a:r>
                        <a:rPr kumimoji="1" lang="en-US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phí</a:t>
                      </a:r>
                      <a:r>
                        <a:rPr kumimoji="1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1" lang="en-US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hằng</a:t>
                      </a:r>
                      <a:r>
                        <a:rPr kumimoji="1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1" lang="en-US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năm</a:t>
                      </a:r>
                      <a:r>
                        <a:rPr kumimoji="1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 (n=18)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      2.0(P/A,15%,18)         |     1.6(P/A, 15%,18)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Giá</a:t>
                      </a:r>
                      <a:r>
                        <a:rPr kumimoji="1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1" lang="en-US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trị</a:t>
                      </a:r>
                      <a:r>
                        <a:rPr kumimoji="1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1" lang="en-US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còn</a:t>
                      </a:r>
                      <a:r>
                        <a:rPr kumimoji="1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1" lang="en-US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lại</a:t>
                      </a:r>
                      <a:r>
                        <a:rPr kumimoji="1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 (n=18)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   - 0.5(P/F, 15%,18)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3.000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1.080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0.468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12.225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- 0.041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4.000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1.138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0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9.800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0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Giá trị PWC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D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16.732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D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14.938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718" name="Rectangle 2">
            <a:extLst>
              <a:ext uri="{FF2B5EF4-FFF2-40B4-BE49-F238E27FC236}">
                <a16:creationId xmlns:a16="http://schemas.microsoft.com/office/drawing/2014/main" id="{D3C2B53D-F938-BBAA-E6A8-1C17EC468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81000"/>
            <a:ext cx="81534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en-US" sz="3200" b="1" i="0">
                <a:solidFill>
                  <a:srgbClr val="008000"/>
                </a:solidFill>
                <a:latin typeface="Arial" panose="020B0604020202020204" pitchFamily="34" charset="0"/>
              </a:rPr>
              <a:t>PHƯƠNG PHÁP GIÁ TRỊ HIỆN TẠI (PW)</a:t>
            </a:r>
          </a:p>
        </p:txBody>
      </p:sp>
    </p:spTree>
  </p:cSld>
  <p:clrMapOvr>
    <a:masterClrMapping/>
  </p:clrMapOvr>
  <p:transition>
    <p:dissolv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315FEF5D-C045-92FD-B64E-0F19405F5121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371600" y="1676400"/>
            <a:ext cx="7315200" cy="4321175"/>
          </a:xfrm>
        </p:spPr>
        <p:txBody>
          <a:bodyPr lIns="91440" tIns="45720" rIns="91440" bIns="45720"/>
          <a:lstStyle/>
          <a:p>
            <a:pPr eaLnBrk="1" hangingPunct="1"/>
            <a:r>
              <a:rPr lang="en-US" altLang="en-US" sz="2200" b="0">
                <a:solidFill>
                  <a:schemeClr val="tx2"/>
                </a:solidFill>
              </a:rPr>
              <a:t>Giá trị hàng năm (Annual Worth – AW) là giá trị A của một chuỗi dòng tiền tệ phân bố đều hàng năm trong suốt TKPT.</a:t>
            </a:r>
          </a:p>
          <a:p>
            <a:pPr eaLnBrk="1" hangingPunct="1"/>
            <a:r>
              <a:rPr lang="en-US" altLang="en-US" sz="2200" b="0">
                <a:solidFill>
                  <a:schemeClr val="tx2"/>
                </a:solidFill>
              </a:rPr>
              <a:t>Phương án có giá trị AW lớn nhất là phương án có lợi nhất: AW </a:t>
            </a:r>
            <a:r>
              <a:rPr lang="en-US" altLang="en-US" sz="2200" b="0">
                <a:solidFill>
                  <a:schemeClr val="tx2"/>
                </a:solidFill>
                <a:sym typeface="Wingdings" panose="05000000000000000000" pitchFamily="2" charset="2"/>
              </a:rPr>
              <a:t> </a:t>
            </a:r>
            <a:r>
              <a:rPr lang="en-US" altLang="en-US" sz="2200" b="0">
                <a:solidFill>
                  <a:schemeClr val="tx2"/>
                </a:solidFill>
              </a:rPr>
              <a:t>Max</a:t>
            </a:r>
          </a:p>
          <a:p>
            <a:pPr eaLnBrk="1" hangingPunct="1"/>
            <a:r>
              <a:rPr lang="en-US" altLang="en-US" sz="2200" b="0">
                <a:solidFill>
                  <a:schemeClr val="tx2"/>
                </a:solidFill>
              </a:rPr>
              <a:t>Khi giả định các PA có thu nhập như nhau thì tiêu chuẩn hiệu quả là cực tiểu AW của chi phí (AWC): AWC</a:t>
            </a:r>
            <a:r>
              <a:rPr lang="en-US" altLang="en-US" sz="2200" b="0">
                <a:solidFill>
                  <a:schemeClr val="tx2"/>
                </a:solidFill>
                <a:sym typeface="Wingdings" panose="05000000000000000000" pitchFamily="2" charset="2"/>
              </a:rPr>
              <a:t> </a:t>
            </a:r>
            <a:r>
              <a:rPr lang="en-US" altLang="en-US" sz="2200" b="0">
                <a:solidFill>
                  <a:schemeClr val="tx2"/>
                </a:solidFill>
              </a:rPr>
              <a:t>Min</a:t>
            </a:r>
          </a:p>
        </p:txBody>
      </p:sp>
      <p:sp>
        <p:nvSpPr>
          <p:cNvPr id="29699" name="Title 25">
            <a:extLst>
              <a:ext uri="{FF2B5EF4-FFF2-40B4-BE49-F238E27FC236}">
                <a16:creationId xmlns:a16="http://schemas.microsoft.com/office/drawing/2014/main" id="{E05321CD-87C0-86D1-1635-BAED1FB36E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19200" y="228600"/>
            <a:ext cx="8153400" cy="1143000"/>
          </a:xfrm>
        </p:spPr>
        <p:txBody>
          <a:bodyPr lIns="91440" tIns="45720" rIns="91440" bIns="45720"/>
          <a:lstStyle/>
          <a:p>
            <a:pPr eaLnBrk="1" hangingPunct="1"/>
            <a:r>
              <a:rPr lang="en-US" altLang="en-US" sz="3000">
                <a:solidFill>
                  <a:srgbClr val="008000"/>
                </a:solidFill>
                <a:latin typeface="Arial" panose="020B0604020202020204" pitchFamily="34" charset="0"/>
              </a:rPr>
              <a:t>PHƯƠNG PHÁP GIÁ TRỊ HÀNG NĂM (AW)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Title 25">
            <a:extLst>
              <a:ext uri="{FF2B5EF4-FFF2-40B4-BE49-F238E27FC236}">
                <a16:creationId xmlns:a16="http://schemas.microsoft.com/office/drawing/2014/main" id="{FC969E54-31F7-8379-0B56-25DA9F3F518D}"/>
              </a:ext>
            </a:extLst>
          </p:cNvPr>
          <p:cNvSpPr>
            <a:spLocks/>
          </p:cNvSpPr>
          <p:nvPr/>
        </p:nvSpPr>
        <p:spPr bwMode="auto">
          <a:xfrm>
            <a:off x="1219200" y="228600"/>
            <a:ext cx="8153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kumimoji="1" lang="en-US" altLang="en-US" sz="3000" i="0">
                <a:solidFill>
                  <a:srgbClr val="008000"/>
                </a:solidFill>
                <a:latin typeface="Arial" panose="020B0604020202020204" pitchFamily="34" charset="0"/>
              </a:rPr>
              <a:t>PHƯƠNG PHÁP GIÁ TRỊ HÀNG NĂM (AW)</a:t>
            </a:r>
          </a:p>
        </p:txBody>
      </p:sp>
      <p:grpSp>
        <p:nvGrpSpPr>
          <p:cNvPr id="2" name="Organization Chart 24">
            <a:extLst>
              <a:ext uri="{FF2B5EF4-FFF2-40B4-BE49-F238E27FC236}">
                <a16:creationId xmlns:a16="http://schemas.microsoft.com/office/drawing/2014/main" id="{81665C10-F426-AF8F-0C9D-4060B3EE506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247775" y="1676400"/>
            <a:ext cx="7696200" cy="4876800"/>
            <a:chOff x="1152" y="1296"/>
            <a:chExt cx="1872" cy="1584"/>
          </a:xfrm>
        </p:grpSpPr>
        <p:cxnSp>
          <p:nvCxnSpPr>
            <p:cNvPr id="2052" name="_s2052">
              <a:extLst>
                <a:ext uri="{FF2B5EF4-FFF2-40B4-BE49-F238E27FC236}">
                  <a16:creationId xmlns:a16="http://schemas.microsoft.com/office/drawing/2014/main" id="{427BE960-BC24-25CE-99D8-E928CCC8B99D}"/>
                </a:ext>
              </a:extLst>
            </p:cNvPr>
            <p:cNvCxnSpPr>
              <a:cxnSpLocks noChangeShapeType="1"/>
              <a:stCxn id="7" idx="3"/>
              <a:endCxn id="5" idx="2"/>
            </p:cNvCxnSpPr>
            <p:nvPr/>
          </p:nvCxnSpPr>
          <p:spPr bwMode="auto">
            <a:xfrm flipV="1">
              <a:off x="2448" y="2016"/>
              <a:ext cx="144" cy="720"/>
            </a:xfrm>
            <a:prstGeom prst="bentConnector2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3" name="_s2053">
              <a:extLst>
                <a:ext uri="{FF2B5EF4-FFF2-40B4-BE49-F238E27FC236}">
                  <a16:creationId xmlns:a16="http://schemas.microsoft.com/office/drawing/2014/main" id="{E432846C-5545-106A-33DD-17E2E22B9682}"/>
                </a:ext>
              </a:extLst>
            </p:cNvPr>
            <p:cNvCxnSpPr>
              <a:cxnSpLocks noChangeShapeType="1"/>
              <a:stCxn id="6" idx="3"/>
              <a:endCxn id="5" idx="2"/>
            </p:cNvCxnSpPr>
            <p:nvPr/>
          </p:nvCxnSpPr>
          <p:spPr bwMode="auto">
            <a:xfrm flipV="1">
              <a:off x="2448" y="2016"/>
              <a:ext cx="144" cy="288"/>
            </a:xfrm>
            <a:prstGeom prst="bentConnector2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4" name="_s2054">
              <a:extLst>
                <a:ext uri="{FF2B5EF4-FFF2-40B4-BE49-F238E27FC236}">
                  <a16:creationId xmlns:a16="http://schemas.microsoft.com/office/drawing/2014/main" id="{0DC0C975-7B06-544D-836A-CCA67D2A62C7}"/>
                </a:ext>
              </a:extLst>
            </p:cNvPr>
            <p:cNvCxnSpPr>
              <a:cxnSpLocks noChangeShapeType="1"/>
              <a:stCxn id="5" idx="0"/>
              <a:endCxn id="3" idx="2"/>
            </p:cNvCxnSpPr>
            <p:nvPr/>
          </p:nvCxnSpPr>
          <p:spPr bwMode="auto">
            <a:xfrm rot="5400000" flipH="1">
              <a:off x="2268" y="1404"/>
              <a:ext cx="144" cy="504"/>
            </a:xfrm>
            <a:prstGeom prst="bentConnector3">
              <a:avLst>
                <a:gd name="adj1" fmla="val 25806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5" name="_s2055">
              <a:extLst>
                <a:ext uri="{FF2B5EF4-FFF2-40B4-BE49-F238E27FC236}">
                  <a16:creationId xmlns:a16="http://schemas.microsoft.com/office/drawing/2014/main" id="{700C5B10-7757-C8F3-224F-498B53CE0A65}"/>
                </a:ext>
              </a:extLst>
            </p:cNvPr>
            <p:cNvCxnSpPr>
              <a:cxnSpLocks noChangeShapeType="1"/>
              <a:stCxn id="4" idx="0"/>
              <a:endCxn id="3" idx="2"/>
            </p:cNvCxnSpPr>
            <p:nvPr/>
          </p:nvCxnSpPr>
          <p:spPr bwMode="auto">
            <a:xfrm rot="16200000">
              <a:off x="1764" y="1404"/>
              <a:ext cx="144" cy="504"/>
            </a:xfrm>
            <a:prstGeom prst="bentConnector3">
              <a:avLst>
                <a:gd name="adj1" fmla="val 25806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" name="_s2056">
              <a:extLst>
                <a:ext uri="{FF2B5EF4-FFF2-40B4-BE49-F238E27FC236}">
                  <a16:creationId xmlns:a16="http://schemas.microsoft.com/office/drawing/2014/main" id="{85E1D85D-D703-1000-19BF-74B575D060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6" y="1296"/>
              <a:ext cx="864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300" b="1" i="0" u="none" strike="noStrike" cap="none" normalizeH="0" baseline="0">
                  <a:ln>
                    <a:noFill/>
                  </a:ln>
                  <a:solidFill>
                    <a:srgbClr val="008000"/>
                  </a:solidFill>
                  <a:effectLst/>
                  <a:latin typeface="Arial" panose="020B0604020202020204" pitchFamily="34" charset="0"/>
                </a:rPr>
                <a:t>AW</a:t>
              </a:r>
            </a:p>
          </p:txBody>
        </p:sp>
        <p:sp>
          <p:nvSpPr>
            <p:cNvPr id="4" name="_s2057">
              <a:extLst>
                <a:ext uri="{FF2B5EF4-FFF2-40B4-BE49-F238E27FC236}">
                  <a16:creationId xmlns:a16="http://schemas.microsoft.com/office/drawing/2014/main" id="{F64F11E2-8A95-0D13-23E0-40C91A0418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728"/>
              <a:ext cx="864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0" i="1" u="none" strike="noStrike" cap="none" normalizeH="0" baseline="0">
                  <a:ln>
                    <a:noFill/>
                  </a:ln>
                  <a:solidFill>
                    <a:srgbClr val="008000"/>
                  </a:solidFill>
                  <a:effectLst/>
                  <a:latin typeface="Arial" panose="020B0604020202020204" pitchFamily="34" charset="0"/>
                </a:rPr>
                <a:t>Các khoản thu chi đều hàng năm</a:t>
              </a:r>
            </a:p>
          </p:txBody>
        </p:sp>
        <p:sp>
          <p:nvSpPr>
            <p:cNvPr id="5" name="_s2058">
              <a:extLst>
                <a:ext uri="{FF2B5EF4-FFF2-40B4-BE49-F238E27FC236}">
                  <a16:creationId xmlns:a16="http://schemas.microsoft.com/office/drawing/2014/main" id="{BB518EA3-E09D-8442-9EDC-AE3D058F7C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728"/>
              <a:ext cx="864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0" i="1" u="none" strike="noStrike" cap="none" normalizeH="0" baseline="0">
                  <a:ln>
                    <a:noFill/>
                  </a:ln>
                  <a:solidFill>
                    <a:srgbClr val="0033CC"/>
                  </a:solidFill>
                  <a:effectLst/>
                  <a:latin typeface="Arial" panose="020B0604020202020204" pitchFamily="34" charset="0"/>
                </a:rPr>
                <a:t>CP đều hàng năm để hòan trả lại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0" i="1" u="none" strike="noStrike" cap="none" normalizeH="0" baseline="0">
                  <a:ln>
                    <a:noFill/>
                  </a:ln>
                  <a:solidFill>
                    <a:srgbClr val="0033CC"/>
                  </a:solidFill>
                  <a:effectLst/>
                  <a:latin typeface="Arial" panose="020B0604020202020204" pitchFamily="34" charset="0"/>
                </a:rPr>
                <a:t>vốn đầu tư ban đầu – CP CR</a:t>
              </a:r>
            </a:p>
          </p:txBody>
        </p:sp>
        <p:sp>
          <p:nvSpPr>
            <p:cNvPr id="6" name="_s2059">
              <a:extLst>
                <a:ext uri="{FF2B5EF4-FFF2-40B4-BE49-F238E27FC236}">
                  <a16:creationId xmlns:a16="http://schemas.microsoft.com/office/drawing/2014/main" id="{AC085C10-37C4-5D63-4F91-AFDF0D4945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160"/>
              <a:ext cx="864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3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</a:rPr>
                <a:t>CP khấu hao/tài sản giảm giá</a:t>
              </a:r>
            </a:p>
          </p:txBody>
        </p:sp>
        <p:sp>
          <p:nvSpPr>
            <p:cNvPr id="7" name="_s2060">
              <a:extLst>
                <a:ext uri="{FF2B5EF4-FFF2-40B4-BE49-F238E27FC236}">
                  <a16:creationId xmlns:a16="http://schemas.microsoft.com/office/drawing/2014/main" id="{EA3C2E44-9CE6-22B2-7789-BE93912C2F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592"/>
              <a:ext cx="864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3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</a:rPr>
                <a:t>CP cho “quyền SD vốn”</a:t>
              </a:r>
            </a:p>
          </p:txBody>
        </p:sp>
      </p:grpSp>
    </p:spTree>
  </p:cSld>
  <p:clrMapOvr>
    <a:masterClrMapping/>
  </p:clrMapOvr>
  <p:transition>
    <p:dissolv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>
            <a:extLst>
              <a:ext uri="{FF2B5EF4-FFF2-40B4-BE49-F238E27FC236}">
                <a16:creationId xmlns:a16="http://schemas.microsoft.com/office/drawing/2014/main" id="{DF14BDE2-90D6-34B0-1DEC-4E02767CDFC3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295400" y="1676400"/>
            <a:ext cx="7620000" cy="4419600"/>
          </a:xfrm>
        </p:spPr>
        <p:txBody>
          <a:bodyPr lIns="91440" tIns="45720" rIns="91440" bIns="45720"/>
          <a:lstStyle/>
          <a:p>
            <a:pPr eaLnBrk="1" hangingPunct="1"/>
            <a:r>
              <a:rPr lang="en-US" altLang="en-US" dirty="0"/>
              <a:t>Các </a:t>
            </a:r>
            <a:r>
              <a:rPr lang="en-US" altLang="en-US" dirty="0" err="1"/>
              <a:t>công</a:t>
            </a:r>
            <a:r>
              <a:rPr lang="en-US" altLang="en-US" dirty="0"/>
              <a:t> </a:t>
            </a:r>
            <a:r>
              <a:rPr lang="en-US" altLang="en-US" dirty="0" err="1"/>
              <a:t>thức</a:t>
            </a:r>
            <a:r>
              <a:rPr lang="en-US" altLang="en-US" dirty="0"/>
              <a:t> </a:t>
            </a:r>
            <a:r>
              <a:rPr lang="en-US" altLang="en-US" dirty="0" err="1"/>
              <a:t>tính</a:t>
            </a:r>
            <a:r>
              <a:rPr lang="en-US" altLang="en-US" dirty="0"/>
              <a:t> CR:</a:t>
            </a:r>
          </a:p>
          <a:p>
            <a:pPr lvl="1" eaLnBrk="1" hangingPunct="1"/>
            <a:r>
              <a:rPr lang="en-US" altLang="en-US" dirty="0"/>
              <a:t>CR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giá</a:t>
            </a:r>
            <a:r>
              <a:rPr lang="en-US" altLang="en-US" dirty="0"/>
              <a:t> </a:t>
            </a:r>
            <a:r>
              <a:rPr lang="en-US" altLang="en-US" dirty="0" err="1"/>
              <a:t>trị</a:t>
            </a:r>
            <a:r>
              <a:rPr lang="en-US" altLang="en-US" dirty="0"/>
              <a:t> </a:t>
            </a:r>
            <a:r>
              <a:rPr lang="en-US" altLang="en-US" dirty="0" err="1"/>
              <a:t>tương</a:t>
            </a:r>
            <a:r>
              <a:rPr lang="en-US" altLang="en-US" dirty="0"/>
              <a:t> </a:t>
            </a:r>
            <a:r>
              <a:rPr lang="en-US" altLang="en-US" dirty="0" err="1"/>
              <a:t>đương</a:t>
            </a:r>
            <a:r>
              <a:rPr lang="en-US" altLang="en-US" dirty="0"/>
              <a:t> </a:t>
            </a:r>
            <a:r>
              <a:rPr lang="en-US" altLang="en-US" dirty="0" err="1"/>
              <a:t>hằng</a:t>
            </a:r>
            <a:r>
              <a:rPr lang="en-US" altLang="en-US" dirty="0"/>
              <a:t> </a:t>
            </a:r>
            <a:r>
              <a:rPr lang="en-US" altLang="en-US" dirty="0" err="1"/>
              <a:t>năm</a:t>
            </a:r>
            <a:r>
              <a:rPr lang="en-US" altLang="en-US" dirty="0"/>
              <a:t> </a:t>
            </a:r>
            <a:r>
              <a:rPr lang="en-US" altLang="en-US" dirty="0" err="1"/>
              <a:t>của</a:t>
            </a:r>
            <a:r>
              <a:rPr lang="en-US" altLang="en-US" dirty="0"/>
              <a:t> </a:t>
            </a:r>
            <a:r>
              <a:rPr lang="en-US" altLang="en-US" dirty="0" err="1"/>
              <a:t>vốn</a:t>
            </a:r>
            <a:r>
              <a:rPr lang="en-US" altLang="en-US" dirty="0"/>
              <a:t> </a:t>
            </a:r>
            <a:r>
              <a:rPr lang="en-US" altLang="en-US" dirty="0" err="1"/>
              <a:t>đầu</a:t>
            </a:r>
            <a:r>
              <a:rPr lang="en-US" altLang="en-US" dirty="0"/>
              <a:t> </a:t>
            </a:r>
            <a:r>
              <a:rPr lang="en-US" altLang="en-US" dirty="0" err="1"/>
              <a:t>tư</a:t>
            </a:r>
            <a:r>
              <a:rPr lang="en-US" altLang="en-US" dirty="0"/>
              <a:t> ban </a:t>
            </a:r>
            <a:r>
              <a:rPr lang="en-US" altLang="en-US" dirty="0" err="1"/>
              <a:t>đầu</a:t>
            </a:r>
            <a:r>
              <a:rPr lang="en-US" altLang="en-US" dirty="0"/>
              <a:t> P </a:t>
            </a:r>
            <a:r>
              <a:rPr lang="en-US" altLang="en-US" dirty="0" err="1"/>
              <a:t>và</a:t>
            </a:r>
            <a:r>
              <a:rPr lang="en-US" altLang="en-US" dirty="0"/>
              <a:t> </a:t>
            </a:r>
            <a:r>
              <a:rPr lang="en-US" altLang="en-US" dirty="0" err="1"/>
              <a:t>giá</a:t>
            </a:r>
            <a:r>
              <a:rPr lang="en-US" altLang="en-US" dirty="0"/>
              <a:t> </a:t>
            </a:r>
            <a:r>
              <a:rPr lang="en-US" altLang="en-US" dirty="0" err="1"/>
              <a:t>trị</a:t>
            </a:r>
            <a:r>
              <a:rPr lang="en-US" altLang="en-US" dirty="0"/>
              <a:t> </a:t>
            </a:r>
            <a:r>
              <a:rPr lang="en-US" altLang="en-US" dirty="0" err="1"/>
              <a:t>còn</a:t>
            </a:r>
            <a:r>
              <a:rPr lang="en-US" altLang="en-US" dirty="0"/>
              <a:t> </a:t>
            </a:r>
            <a:r>
              <a:rPr lang="en-US" altLang="en-US" dirty="0" err="1"/>
              <a:t>lại</a:t>
            </a:r>
            <a:r>
              <a:rPr lang="en-US" altLang="en-US" dirty="0"/>
              <a:t>: SV.</a:t>
            </a: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en-US" altLang="en-US" dirty="0">
                <a:solidFill>
                  <a:srgbClr val="FF0000"/>
                </a:solidFill>
              </a:rPr>
              <a:t>		</a:t>
            </a:r>
            <a:r>
              <a:rPr lang="en-US" altLang="en-US" b="1" i="1" dirty="0">
                <a:solidFill>
                  <a:schemeClr val="tx2"/>
                </a:solidFill>
              </a:rPr>
              <a:t>CR = P(A/P, </a:t>
            </a:r>
            <a:r>
              <a:rPr lang="en-US" altLang="en-US" b="1" i="1" dirty="0" err="1">
                <a:solidFill>
                  <a:schemeClr val="tx2"/>
                </a:solidFill>
              </a:rPr>
              <a:t>i</a:t>
            </a:r>
            <a:r>
              <a:rPr lang="en-US" altLang="en-US" b="1" i="1" dirty="0">
                <a:solidFill>
                  <a:schemeClr val="tx2"/>
                </a:solidFill>
              </a:rPr>
              <a:t>%, N) – SV(A/F, </a:t>
            </a:r>
            <a:r>
              <a:rPr lang="en-US" altLang="en-US" b="1" i="1" dirty="0" err="1">
                <a:solidFill>
                  <a:schemeClr val="tx2"/>
                </a:solidFill>
              </a:rPr>
              <a:t>i</a:t>
            </a:r>
            <a:r>
              <a:rPr lang="en-US" altLang="en-US" b="1" i="1" dirty="0">
                <a:solidFill>
                  <a:schemeClr val="tx2"/>
                </a:solidFill>
              </a:rPr>
              <a:t>%, N)</a:t>
            </a: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solidFill>
                  <a:schemeClr val="tx2"/>
                </a:solidFill>
              </a:rPr>
              <a:t>Hay      CR = [P – SV(P/F, </a:t>
            </a:r>
            <a:r>
              <a:rPr lang="en-US" altLang="en-US" sz="2000" dirty="0" err="1">
                <a:solidFill>
                  <a:schemeClr val="tx2"/>
                </a:solidFill>
              </a:rPr>
              <a:t>i</a:t>
            </a:r>
            <a:r>
              <a:rPr lang="en-US" altLang="en-US" sz="2000" dirty="0">
                <a:solidFill>
                  <a:schemeClr val="tx2"/>
                </a:solidFill>
              </a:rPr>
              <a:t>%, N)]*(A/P, </a:t>
            </a:r>
            <a:r>
              <a:rPr lang="en-US" altLang="en-US" sz="2000" dirty="0" err="1">
                <a:solidFill>
                  <a:schemeClr val="tx2"/>
                </a:solidFill>
              </a:rPr>
              <a:t>i</a:t>
            </a:r>
            <a:r>
              <a:rPr lang="en-US" altLang="en-US" sz="2000" dirty="0">
                <a:solidFill>
                  <a:schemeClr val="tx2"/>
                </a:solidFill>
              </a:rPr>
              <a:t>%, N)</a:t>
            </a:r>
          </a:p>
          <a:p>
            <a:pPr lvl="1" eaLnBrk="1" hangingPunct="1"/>
            <a:r>
              <a:rPr lang="en-US" altLang="en-US" dirty="0" err="1">
                <a:solidFill>
                  <a:schemeClr val="tx2"/>
                </a:solidFill>
              </a:rPr>
              <a:t>Hoặc</a:t>
            </a:r>
            <a:r>
              <a:rPr lang="en-US" altLang="en-US" dirty="0">
                <a:solidFill>
                  <a:schemeClr val="tx2"/>
                </a:solidFill>
              </a:rPr>
              <a:t>	CR = (P – SV) (A/F, </a:t>
            </a:r>
            <a:r>
              <a:rPr lang="en-US" altLang="en-US" dirty="0" err="1">
                <a:solidFill>
                  <a:schemeClr val="tx2"/>
                </a:solidFill>
              </a:rPr>
              <a:t>i</a:t>
            </a:r>
            <a:r>
              <a:rPr lang="en-US" altLang="en-US" dirty="0">
                <a:solidFill>
                  <a:schemeClr val="tx2"/>
                </a:solidFill>
              </a:rPr>
              <a:t>%, N) + P(</a:t>
            </a:r>
            <a:r>
              <a:rPr lang="en-US" altLang="en-US" dirty="0" err="1">
                <a:solidFill>
                  <a:schemeClr val="tx2"/>
                </a:solidFill>
              </a:rPr>
              <a:t>i</a:t>
            </a:r>
            <a:r>
              <a:rPr lang="en-US" altLang="en-US" dirty="0">
                <a:solidFill>
                  <a:schemeClr val="tx2"/>
                </a:solidFill>
              </a:rPr>
              <a:t>%)</a:t>
            </a:r>
          </a:p>
          <a:p>
            <a:pPr lvl="1" eaLnBrk="1" hangingPunct="1"/>
            <a:r>
              <a:rPr lang="en-US" altLang="en-US" dirty="0" err="1">
                <a:solidFill>
                  <a:schemeClr val="tx2"/>
                </a:solidFill>
              </a:rPr>
              <a:t>Hoặc</a:t>
            </a:r>
            <a:r>
              <a:rPr lang="en-US" altLang="en-US" dirty="0">
                <a:solidFill>
                  <a:schemeClr val="tx2"/>
                </a:solidFill>
              </a:rPr>
              <a:t>	CR = (P – SV) (A/P, </a:t>
            </a:r>
            <a:r>
              <a:rPr lang="en-US" altLang="en-US" dirty="0" err="1">
                <a:solidFill>
                  <a:schemeClr val="tx2"/>
                </a:solidFill>
              </a:rPr>
              <a:t>i</a:t>
            </a:r>
            <a:r>
              <a:rPr lang="en-US" altLang="en-US" dirty="0">
                <a:solidFill>
                  <a:schemeClr val="tx2"/>
                </a:solidFill>
              </a:rPr>
              <a:t>%, N) +SV(</a:t>
            </a:r>
            <a:r>
              <a:rPr lang="en-US" altLang="en-US" dirty="0" err="1">
                <a:solidFill>
                  <a:schemeClr val="tx2"/>
                </a:solidFill>
              </a:rPr>
              <a:t>i</a:t>
            </a:r>
            <a:r>
              <a:rPr lang="en-US" altLang="en-US" dirty="0">
                <a:solidFill>
                  <a:schemeClr val="tx2"/>
                </a:solidFill>
              </a:rPr>
              <a:t>%)</a:t>
            </a:r>
          </a:p>
          <a:p>
            <a:pPr lvl="2" eaLnBrk="1" hangingPunct="1">
              <a:buFont typeface="Wingdings 2" panose="05020102010507070707" pitchFamily="18" charset="2"/>
              <a:buNone/>
            </a:pPr>
            <a:endParaRPr lang="en-US" altLang="en-US" dirty="0">
              <a:solidFill>
                <a:schemeClr val="tx2"/>
              </a:solidFill>
            </a:endParaRPr>
          </a:p>
          <a:p>
            <a:pPr lvl="2" eaLnBrk="1" hangingPunct="1">
              <a:buFont typeface="Wingdings 2" panose="05020102010507070707" pitchFamily="18" charset="2"/>
              <a:buNone/>
            </a:pPr>
            <a:endParaRPr lang="en-US" altLang="en-US" dirty="0">
              <a:solidFill>
                <a:schemeClr val="tx2"/>
              </a:solidFill>
            </a:endParaRPr>
          </a:p>
          <a:p>
            <a:pPr lvl="2" eaLnBrk="1" hangingPunct="1">
              <a:buFont typeface="Wingdings 2" panose="05020102010507070707" pitchFamily="18" charset="2"/>
              <a:buNone/>
            </a:pPr>
            <a:endParaRPr lang="en-US" altLang="en-US" dirty="0"/>
          </a:p>
          <a:p>
            <a:pPr lvl="2" eaLnBrk="1" hangingPunct="1">
              <a:buFont typeface="Wingdings 2" panose="05020102010507070707" pitchFamily="18" charset="2"/>
              <a:buNone/>
            </a:pPr>
            <a:endParaRPr lang="en-US" altLang="en-US" dirty="0"/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BB8DD9D5-A035-3E7E-4C94-B6079B37C7B8}"/>
              </a:ext>
            </a:extLst>
          </p:cNvPr>
          <p:cNvGraphicFramePr/>
          <p:nvPr/>
        </p:nvGraphicFramePr>
        <p:xfrm>
          <a:off x="2298700" y="2870200"/>
          <a:ext cx="838200" cy="38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0724" name="Title 25">
            <a:extLst>
              <a:ext uri="{FF2B5EF4-FFF2-40B4-BE49-F238E27FC236}">
                <a16:creationId xmlns:a16="http://schemas.microsoft.com/office/drawing/2014/main" id="{8B73C7F5-D5E1-7515-F0CF-A4299B4AE6A9}"/>
              </a:ext>
            </a:extLst>
          </p:cNvPr>
          <p:cNvSpPr>
            <a:spLocks/>
          </p:cNvSpPr>
          <p:nvPr/>
        </p:nvSpPr>
        <p:spPr bwMode="auto">
          <a:xfrm>
            <a:off x="1219200" y="228600"/>
            <a:ext cx="8153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kumimoji="1" lang="en-US" altLang="en-US" sz="3000" i="0">
                <a:solidFill>
                  <a:srgbClr val="008000"/>
                </a:solidFill>
                <a:latin typeface="Arial" panose="020B0604020202020204" pitchFamily="34" charset="0"/>
              </a:rPr>
              <a:t>PHƯƠNG PHÁP GIÁ TRỊ HÀNG NĂM (AW)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3" grpId="0">
        <p:bldAsOne/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9F9BAAA-124E-2EEB-96AC-EF9C78320A7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219200" y="1700213"/>
            <a:ext cx="7924800" cy="4648200"/>
          </a:xfrm>
        </p:spPr>
        <p:txBody>
          <a:bodyPr lIns="91440" tIns="45720" rIns="91440" bIns="45720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i="1">
                <a:solidFill>
                  <a:schemeClr val="tx1"/>
                </a:solidFill>
              </a:rPr>
              <a:t>Ví dụ: </a:t>
            </a:r>
            <a:r>
              <a:rPr lang="en-US" altLang="en-US" b="0">
                <a:solidFill>
                  <a:schemeClr val="tx1"/>
                </a:solidFill>
              </a:rPr>
              <a:t>Một tài sản đầu tư có giá trị 10 triệu Đ, sử dụng sau 5 năm thì giá trị còn lại là 2 tr Đ. Lãi suất của vốn đầu  tư i = 8% năm. Tính giá trị CR của phương án.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i="1">
                <a:solidFill>
                  <a:schemeClr val="tx1"/>
                </a:solidFill>
              </a:rPr>
              <a:t> </a:t>
            </a:r>
            <a:r>
              <a:rPr lang="en-US" altLang="en-US" sz="1500">
                <a:solidFill>
                  <a:schemeClr val="tx1"/>
                </a:solidFill>
              </a:rPr>
              <a:t>	    </a:t>
            </a:r>
            <a:r>
              <a:rPr lang="en-US" altLang="en-US" sz="2000">
                <a:solidFill>
                  <a:schemeClr val="tx1"/>
                </a:solidFill>
              </a:rPr>
              <a:t>CR = 10.000.000 Đ (A/P, 8%, 5) – 2.000.000 Đ (A/F, 8%, 5)</a:t>
            </a: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chemeClr val="tx1"/>
                </a:solidFill>
              </a:rPr>
              <a:t>  = 10.000.000 Đ (0,2505)  - 2.000.000 Đ  (0,1705)</a:t>
            </a: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chemeClr val="tx1"/>
                </a:solidFill>
              </a:rPr>
              <a:t>  = 2.164.000 </a:t>
            </a:r>
          </a:p>
          <a:p>
            <a:pPr lvl="1" eaLnBrk="1" hangingPunct="1">
              <a:buFont typeface="Verdana" panose="020B0604030504040204" pitchFamily="34" charset="0"/>
              <a:buNone/>
            </a:pPr>
            <a:r>
              <a:rPr lang="en-US" altLang="en-US"/>
              <a:t>  </a:t>
            </a:r>
            <a:r>
              <a:rPr lang="en-US" altLang="en-US" b="1"/>
              <a:t>CR = [10.000.000 Đ - 2.000.000 Đ (P/F, 8%, 5)] (A/P, 8%, 5)</a:t>
            </a:r>
          </a:p>
          <a:p>
            <a:pPr lvl="1" eaLnBrk="1" hangingPunct="1">
              <a:buFont typeface="Verdana" panose="020B0604030504040204" pitchFamily="34" charset="0"/>
              <a:buNone/>
            </a:pPr>
            <a:r>
              <a:rPr lang="en-US" altLang="en-US"/>
              <a:t>        = [10.000.000 Đ - 2.000.000 Đ  (0,6806) ] (0,2505)</a:t>
            </a:r>
          </a:p>
          <a:p>
            <a:pPr lvl="1" eaLnBrk="1" hangingPunct="1">
              <a:buFont typeface="Verdana" panose="020B0604030504040204" pitchFamily="34" charset="0"/>
              <a:buNone/>
            </a:pPr>
            <a:r>
              <a:rPr lang="en-US" altLang="en-US"/>
              <a:t>		  = 2.164.000 Đ</a:t>
            </a:r>
          </a:p>
          <a:p>
            <a:pPr lvl="1" eaLnBrk="1" hangingPunct="1">
              <a:buFont typeface="Verdana" panose="020B0604030504040204" pitchFamily="34" charset="0"/>
              <a:buNone/>
            </a:pPr>
            <a:endParaRPr lang="en-US" altLang="en-US"/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en-US" altLang="en-US" sz="2000"/>
              <a:t> </a:t>
            </a:r>
          </a:p>
        </p:txBody>
      </p:sp>
      <p:sp>
        <p:nvSpPr>
          <p:cNvPr id="31747" name="Title 25">
            <a:extLst>
              <a:ext uri="{FF2B5EF4-FFF2-40B4-BE49-F238E27FC236}">
                <a16:creationId xmlns:a16="http://schemas.microsoft.com/office/drawing/2014/main" id="{947CD894-F0D2-07D9-B961-AD56CF8C1EFF}"/>
              </a:ext>
            </a:extLst>
          </p:cNvPr>
          <p:cNvSpPr>
            <a:spLocks/>
          </p:cNvSpPr>
          <p:nvPr/>
        </p:nvSpPr>
        <p:spPr bwMode="auto">
          <a:xfrm>
            <a:off x="1219200" y="228600"/>
            <a:ext cx="8153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kumimoji="1" lang="en-US" altLang="en-US" sz="3000" i="0">
                <a:solidFill>
                  <a:srgbClr val="008000"/>
                </a:solidFill>
                <a:latin typeface="Arial" panose="020B0604020202020204" pitchFamily="34" charset="0"/>
              </a:rPr>
              <a:t>PHƯƠNG PHÁP GIÁ TRỊ HÀNG NĂM (AW)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Content Placeholder 2">
            <a:extLst>
              <a:ext uri="{FF2B5EF4-FFF2-40B4-BE49-F238E27FC236}">
                <a16:creationId xmlns:a16="http://schemas.microsoft.com/office/drawing/2014/main" id="{A5F34D65-C2A3-E987-1433-78A0F6CAD3D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52400" y="1676400"/>
            <a:ext cx="8763000" cy="4778375"/>
          </a:xfrm>
        </p:spPr>
        <p:txBody>
          <a:bodyPr lIns="91440" tIns="45720" rIns="91440" bIns="45720"/>
          <a:lstStyle/>
          <a:p>
            <a:pPr eaLnBrk="1" hangingPunct="1">
              <a:buFont typeface="Wingdings 2" panose="05020102010507070707" pitchFamily="18" charset="2"/>
              <a:buNone/>
            </a:pPr>
            <a:endParaRPr lang="en-US" altLang="en-US"/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/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8FE179FE-6A45-E5E5-1DB6-2B96343AA65F}"/>
              </a:ext>
            </a:extLst>
          </p:cNvPr>
          <p:cNvSpPr/>
          <p:nvPr/>
        </p:nvSpPr>
        <p:spPr>
          <a:xfrm>
            <a:off x="4546600" y="1406525"/>
            <a:ext cx="990600" cy="1143000"/>
          </a:xfrm>
          <a:prstGeom prst="rightArrow">
            <a:avLst/>
          </a:prstGeom>
          <a:solidFill>
            <a:srgbClr val="FFFF00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 i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20F88E-2571-7A66-8257-325FC63FF163}"/>
              </a:ext>
            </a:extLst>
          </p:cNvPr>
          <p:cNvSpPr txBox="1"/>
          <p:nvPr/>
        </p:nvSpPr>
        <p:spPr>
          <a:xfrm>
            <a:off x="520700" y="1634348"/>
            <a:ext cx="3962400" cy="646331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800" i="0" dirty="0" err="1">
                <a:solidFill>
                  <a:schemeClr val="bg1"/>
                </a:solidFill>
              </a:rPr>
              <a:t>Giá</a:t>
            </a:r>
            <a:r>
              <a:rPr lang="en-US" sz="1800" i="0" dirty="0">
                <a:solidFill>
                  <a:schemeClr val="bg1"/>
                </a:solidFill>
              </a:rPr>
              <a:t> </a:t>
            </a:r>
            <a:r>
              <a:rPr lang="en-US" sz="1800" i="0" dirty="0" err="1">
                <a:solidFill>
                  <a:schemeClr val="bg1"/>
                </a:solidFill>
              </a:rPr>
              <a:t>trị</a:t>
            </a:r>
            <a:r>
              <a:rPr lang="en-US" sz="1800" i="0" dirty="0">
                <a:solidFill>
                  <a:schemeClr val="bg1"/>
                </a:solidFill>
              </a:rPr>
              <a:t> AW ở </a:t>
            </a:r>
            <a:r>
              <a:rPr lang="en-US" sz="1800" i="0" dirty="0" err="1">
                <a:solidFill>
                  <a:schemeClr val="bg1"/>
                </a:solidFill>
              </a:rPr>
              <a:t>các</a:t>
            </a:r>
            <a:r>
              <a:rPr lang="en-US" sz="1800" i="0" dirty="0">
                <a:solidFill>
                  <a:schemeClr val="bg1"/>
                </a:solidFill>
              </a:rPr>
              <a:t> </a:t>
            </a:r>
            <a:r>
              <a:rPr lang="en-US" sz="1800" i="0" dirty="0" err="1">
                <a:solidFill>
                  <a:schemeClr val="bg1"/>
                </a:solidFill>
              </a:rPr>
              <a:t>thời</a:t>
            </a:r>
            <a:r>
              <a:rPr lang="en-US" sz="1800" i="0" dirty="0">
                <a:solidFill>
                  <a:schemeClr val="bg1"/>
                </a:solidFill>
              </a:rPr>
              <a:t> </a:t>
            </a:r>
            <a:r>
              <a:rPr lang="en-US" sz="1800" i="0" dirty="0" err="1">
                <a:solidFill>
                  <a:schemeClr val="bg1"/>
                </a:solidFill>
              </a:rPr>
              <a:t>chu</a:t>
            </a:r>
            <a:r>
              <a:rPr lang="en-US" sz="1800" i="0" dirty="0">
                <a:solidFill>
                  <a:schemeClr val="bg1"/>
                </a:solidFill>
              </a:rPr>
              <a:t> </a:t>
            </a:r>
            <a:r>
              <a:rPr lang="en-US" sz="1800" i="0" dirty="0" err="1">
                <a:solidFill>
                  <a:schemeClr val="bg1"/>
                </a:solidFill>
              </a:rPr>
              <a:t>kỳ</a:t>
            </a:r>
            <a:r>
              <a:rPr lang="en-US" sz="1800" i="0" dirty="0">
                <a:solidFill>
                  <a:schemeClr val="bg1"/>
                </a:solidFill>
              </a:rPr>
              <a:t> </a:t>
            </a:r>
            <a:r>
              <a:rPr lang="en-US" sz="1800" i="0" dirty="0" err="1">
                <a:solidFill>
                  <a:schemeClr val="bg1"/>
                </a:solidFill>
              </a:rPr>
              <a:t>hoạt</a:t>
            </a:r>
            <a:r>
              <a:rPr lang="en-US" sz="1800" i="0" dirty="0">
                <a:solidFill>
                  <a:schemeClr val="bg1"/>
                </a:solidFill>
              </a:rPr>
              <a:t> </a:t>
            </a:r>
            <a:r>
              <a:rPr lang="en-US" sz="1800" i="0" dirty="0" err="1">
                <a:solidFill>
                  <a:schemeClr val="bg1"/>
                </a:solidFill>
              </a:rPr>
              <a:t>động</a:t>
            </a:r>
            <a:r>
              <a:rPr lang="en-US" sz="1800" i="0" dirty="0">
                <a:solidFill>
                  <a:schemeClr val="bg1"/>
                </a:solidFill>
              </a:rPr>
              <a:t> </a:t>
            </a:r>
            <a:r>
              <a:rPr lang="en-US" sz="1800" i="0" dirty="0" err="1">
                <a:solidFill>
                  <a:schemeClr val="bg1"/>
                </a:solidFill>
              </a:rPr>
              <a:t>của</a:t>
            </a:r>
            <a:r>
              <a:rPr lang="en-US" sz="1800" i="0" dirty="0">
                <a:solidFill>
                  <a:schemeClr val="bg1"/>
                </a:solidFill>
              </a:rPr>
              <a:t> PA </a:t>
            </a:r>
            <a:r>
              <a:rPr lang="en-US" sz="1800" i="0" dirty="0" err="1">
                <a:solidFill>
                  <a:schemeClr val="bg1"/>
                </a:solidFill>
              </a:rPr>
              <a:t>đều</a:t>
            </a:r>
            <a:r>
              <a:rPr lang="en-US" sz="1800" i="0" dirty="0">
                <a:solidFill>
                  <a:schemeClr val="bg1"/>
                </a:solidFill>
              </a:rPr>
              <a:t> </a:t>
            </a:r>
            <a:r>
              <a:rPr lang="en-US" sz="1800" i="0" dirty="0" err="1">
                <a:solidFill>
                  <a:schemeClr val="bg1"/>
                </a:solidFill>
              </a:rPr>
              <a:t>giống</a:t>
            </a:r>
            <a:r>
              <a:rPr lang="en-US" sz="1800" i="0" dirty="0">
                <a:solidFill>
                  <a:schemeClr val="bg1"/>
                </a:solidFill>
              </a:rPr>
              <a:t> </a:t>
            </a:r>
            <a:r>
              <a:rPr lang="en-US" sz="1800" i="0" dirty="0" err="1">
                <a:solidFill>
                  <a:schemeClr val="bg1"/>
                </a:solidFill>
              </a:rPr>
              <a:t>nhau</a:t>
            </a:r>
            <a:endParaRPr lang="en-US" sz="1800" i="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B604FD-C067-F89D-9313-FFEF548B2E32}"/>
              </a:ext>
            </a:extLst>
          </p:cNvPr>
          <p:cNvSpPr txBox="1"/>
          <p:nvPr/>
        </p:nvSpPr>
        <p:spPr>
          <a:xfrm>
            <a:off x="5549900" y="1634348"/>
            <a:ext cx="3505200" cy="646331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800" i="0" dirty="0" err="1"/>
              <a:t>Chỉ</a:t>
            </a:r>
            <a:r>
              <a:rPr lang="en-US" sz="1800" i="0" dirty="0"/>
              <a:t> </a:t>
            </a:r>
            <a:r>
              <a:rPr lang="en-US" sz="1800" i="0" dirty="0" err="1"/>
              <a:t>cần</a:t>
            </a:r>
            <a:r>
              <a:rPr lang="en-US" sz="1800" i="0" dirty="0"/>
              <a:t> </a:t>
            </a:r>
            <a:r>
              <a:rPr lang="en-US" sz="1800" i="0" dirty="0" err="1"/>
              <a:t>tính</a:t>
            </a:r>
            <a:r>
              <a:rPr lang="en-US" sz="1800" i="0" dirty="0"/>
              <a:t> AW </a:t>
            </a:r>
            <a:r>
              <a:rPr lang="en-US" sz="1800" i="0" dirty="0" err="1"/>
              <a:t>cho</a:t>
            </a:r>
            <a:r>
              <a:rPr lang="en-US" sz="1800" i="0" dirty="0"/>
              <a:t> </a:t>
            </a:r>
            <a:r>
              <a:rPr lang="en-US" sz="1800" i="0" dirty="0" err="1"/>
              <a:t>một</a:t>
            </a:r>
            <a:r>
              <a:rPr lang="en-US" sz="1800" i="0" dirty="0"/>
              <a:t> </a:t>
            </a:r>
            <a:r>
              <a:rPr lang="en-US" sz="1800" i="0" dirty="0" err="1"/>
              <a:t>chu</a:t>
            </a:r>
            <a:r>
              <a:rPr lang="en-US" sz="1800" i="0" dirty="0"/>
              <a:t> </a:t>
            </a:r>
            <a:r>
              <a:rPr lang="en-US" sz="1800" i="0" dirty="0" err="1"/>
              <a:t>kỳ</a:t>
            </a:r>
            <a:r>
              <a:rPr lang="en-US" sz="1800" i="0" dirty="0"/>
              <a:t> </a:t>
            </a:r>
            <a:r>
              <a:rPr lang="en-US" sz="1800" i="0" dirty="0" err="1"/>
              <a:t>hoạt</a:t>
            </a:r>
            <a:r>
              <a:rPr lang="en-US" sz="1800" i="0" dirty="0"/>
              <a:t> </a:t>
            </a:r>
            <a:r>
              <a:rPr lang="en-US" sz="1800" i="0" dirty="0" err="1"/>
              <a:t>động</a:t>
            </a:r>
            <a:r>
              <a:rPr lang="en-US" sz="1800" i="0" dirty="0"/>
              <a:t> </a:t>
            </a:r>
            <a:r>
              <a:rPr lang="en-US" sz="1800" i="0" dirty="0" err="1"/>
              <a:t>của</a:t>
            </a:r>
            <a:r>
              <a:rPr lang="en-US" sz="1800" i="0" dirty="0"/>
              <a:t> PA</a:t>
            </a:r>
          </a:p>
        </p:txBody>
      </p:sp>
      <p:graphicFrame>
        <p:nvGraphicFramePr>
          <p:cNvPr id="115762" name="Group 50">
            <a:extLst>
              <a:ext uri="{FF2B5EF4-FFF2-40B4-BE49-F238E27FC236}">
                <a16:creationId xmlns:a16="http://schemas.microsoft.com/office/drawing/2014/main" id="{06E73DB3-6CAC-8B0D-8FEC-C218F6916CF4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2549525"/>
          <a:ext cx="8458200" cy="3575051"/>
        </p:xfrm>
        <a:graphic>
          <a:graphicData uri="http://schemas.openxmlformats.org/drawingml/2006/table">
            <a:tbl>
              <a:tblPr/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5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Các thành phần chi phí,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thu nhập (Ngàn Đ)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Máy tiện 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Máy tiện B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Thu nhập hàng năm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 5.000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7.0000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1" 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2A4F86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5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Chi phí hàng năm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D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- 2.200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D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- 4.300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Chi Phí CR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-2.164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-2.235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AW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636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1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2A4F86"/>
                          </a:solidFill>
                          <a:effectLst/>
                          <a:latin typeface="Arial" charset="0"/>
                        </a:rPr>
                        <a:t>465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Right Arrow 12">
            <a:extLst>
              <a:ext uri="{FF2B5EF4-FFF2-40B4-BE49-F238E27FC236}">
                <a16:creationId xmlns:a16="http://schemas.microsoft.com/office/drawing/2014/main" id="{C0DF876A-F03D-4924-3B60-17AB88DAC7B8}"/>
              </a:ext>
            </a:extLst>
          </p:cNvPr>
          <p:cNvSpPr/>
          <p:nvPr/>
        </p:nvSpPr>
        <p:spPr>
          <a:xfrm>
            <a:off x="609600" y="6172200"/>
            <a:ext cx="2362200" cy="685800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 i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74ABF6-DBF8-0100-E65A-9747210BD0B3}"/>
              </a:ext>
            </a:extLst>
          </p:cNvPr>
          <p:cNvSpPr txBox="1"/>
          <p:nvPr/>
        </p:nvSpPr>
        <p:spPr>
          <a:xfrm>
            <a:off x="3048000" y="6311900"/>
            <a:ext cx="4038600" cy="3683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800" i="0" dirty="0" err="1"/>
              <a:t>Đề</a:t>
            </a:r>
            <a:r>
              <a:rPr lang="en-US" sz="1800" i="0" dirty="0"/>
              <a:t> </a:t>
            </a:r>
            <a:r>
              <a:rPr lang="en-US" sz="1800" i="0" dirty="0" err="1"/>
              <a:t>nghị</a:t>
            </a:r>
            <a:r>
              <a:rPr lang="en-US" sz="1800" i="0" dirty="0"/>
              <a:t> </a:t>
            </a:r>
            <a:r>
              <a:rPr lang="en-US" sz="1800" i="0" dirty="0" err="1"/>
              <a:t>chọn</a:t>
            </a:r>
            <a:r>
              <a:rPr lang="en-US" sz="1800" i="0" dirty="0"/>
              <a:t> </a:t>
            </a:r>
            <a:r>
              <a:rPr lang="en-US" sz="1800" i="0" dirty="0" err="1"/>
              <a:t>máy</a:t>
            </a:r>
            <a:r>
              <a:rPr lang="en-US" sz="1800" i="0" dirty="0"/>
              <a:t>  </a:t>
            </a:r>
            <a:r>
              <a:rPr lang="en-US" sz="1800" i="0" dirty="0" err="1"/>
              <a:t>tiện</a:t>
            </a:r>
            <a:r>
              <a:rPr lang="en-US" sz="1800" i="0" dirty="0"/>
              <a:t> A</a:t>
            </a:r>
          </a:p>
        </p:txBody>
      </p:sp>
      <p:sp>
        <p:nvSpPr>
          <p:cNvPr id="32808" name="Title 25">
            <a:extLst>
              <a:ext uri="{FF2B5EF4-FFF2-40B4-BE49-F238E27FC236}">
                <a16:creationId xmlns:a16="http://schemas.microsoft.com/office/drawing/2014/main" id="{421AB3E7-5F41-9453-3F23-C848786C9BCC}"/>
              </a:ext>
            </a:extLst>
          </p:cNvPr>
          <p:cNvSpPr>
            <a:spLocks/>
          </p:cNvSpPr>
          <p:nvPr/>
        </p:nvSpPr>
        <p:spPr bwMode="auto">
          <a:xfrm>
            <a:off x="1219200" y="228600"/>
            <a:ext cx="8153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600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kumimoji="1" lang="en-US" altLang="en-US" sz="3000" i="0">
                <a:solidFill>
                  <a:srgbClr val="008000"/>
                </a:solidFill>
                <a:latin typeface="Arial" panose="020B0604020202020204" pitchFamily="34" charset="0"/>
              </a:rPr>
              <a:t>PHƯƠNG PHÁP GIÁ TRỊ HÀNG NĂM (AW)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15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autoUpdateAnimBg="0"/>
      <p:bldP spid="14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09644E-C114-8F15-B135-39C53CD31248}"/>
              </a:ext>
            </a:extLst>
          </p:cNvPr>
          <p:cNvSpPr txBox="1">
            <a:spLocks noGrp="1"/>
          </p:cNvSpPr>
          <p:nvPr/>
        </p:nvSpPr>
        <p:spPr bwMode="auto">
          <a:xfrm>
            <a:off x="5791200" y="6502400"/>
            <a:ext cx="2895600" cy="2286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en-US" sz="1000" b="1" i="0" dirty="0">
              <a:latin typeface="+mj-lt"/>
            </a:endParaRPr>
          </a:p>
        </p:txBody>
      </p:sp>
      <p:sp>
        <p:nvSpPr>
          <p:cNvPr id="5" name="Date Placeholder 5">
            <a:extLst>
              <a:ext uri="{FF2B5EF4-FFF2-40B4-BE49-F238E27FC236}">
                <a16:creationId xmlns:a16="http://schemas.microsoft.com/office/drawing/2014/main" id="{ED633BF3-6C2E-6B95-2DAA-5DB597BB5B78}"/>
              </a:ext>
            </a:extLst>
          </p:cNvPr>
          <p:cNvSpPr txBox="1">
            <a:spLocks noGrp="1"/>
          </p:cNvSpPr>
          <p:nvPr/>
        </p:nvSpPr>
        <p:spPr bwMode="auto">
          <a:xfrm>
            <a:off x="6096000" y="136525"/>
            <a:ext cx="2133600" cy="24447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l" eaLnBrk="1" hangingPunct="1">
              <a:defRPr/>
            </a:pPr>
            <a:endParaRPr lang="en-US" sz="1000" b="1" i="0" dirty="0">
              <a:latin typeface="+mj-lt"/>
            </a:endParaRPr>
          </a:p>
          <a:p>
            <a:pPr algn="l" eaLnBrk="1" hangingPunct="1">
              <a:defRPr/>
            </a:pPr>
            <a:endParaRPr lang="en-US" sz="1000" b="1" i="0" dirty="0">
              <a:latin typeface="+mj-lt"/>
            </a:endParaRPr>
          </a:p>
        </p:txBody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787FFBCF-CA0B-272A-B0A4-16B2CB65E8D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600200" y="762000"/>
            <a:ext cx="7772400" cy="609600"/>
          </a:xfrm>
        </p:spPr>
        <p:txBody>
          <a:bodyPr lIns="91440" tIns="45720" rIns="91440" bIns="45720"/>
          <a:lstStyle/>
          <a:p>
            <a:pPr eaLnBrk="1" hangingPunct="1"/>
            <a:r>
              <a:rPr lang="en-US" altLang="en-US" sz="3000">
                <a:solidFill>
                  <a:schemeClr val="folHlink"/>
                </a:solidFill>
                <a:latin typeface="Arial" panose="020B0604020202020204" pitchFamily="34" charset="0"/>
              </a:rPr>
              <a:t>PH</a:t>
            </a:r>
            <a:r>
              <a:rPr lang="en-US" altLang="en-US" sz="3000">
                <a:solidFill>
                  <a:schemeClr val="folHlink"/>
                </a:solidFill>
              </a:rPr>
              <a:t>ƯƠNG PHÁP GIÁ TRỊ TƯƠNG LAI (FW)</a:t>
            </a:r>
          </a:p>
        </p:txBody>
      </p:sp>
      <p:sp>
        <p:nvSpPr>
          <p:cNvPr id="6149" name="Content Placeholder 7">
            <a:extLst>
              <a:ext uri="{FF2B5EF4-FFF2-40B4-BE49-F238E27FC236}">
                <a16:creationId xmlns:a16="http://schemas.microsoft.com/office/drawing/2014/main" id="{4E06A388-55D0-A062-9495-F62A7562E3D9}"/>
              </a:ext>
            </a:extLst>
          </p:cNvPr>
          <p:cNvSpPr>
            <a:spLocks noGrp="1"/>
          </p:cNvSpPr>
          <p:nvPr>
            <p:ph idx="4294967295"/>
          </p:nvPr>
        </p:nvSpPr>
        <p:spPr/>
        <p:txBody>
          <a:bodyPr lIns="91440" tIns="45720" rIns="91440" bIns="45720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400" dirty="0">
                <a:latin typeface="VNI-Times" pitchFamily="2" charset="0"/>
              </a:rPr>
              <a:t> </a:t>
            </a:r>
            <a:endParaRPr lang="en-US" altLang="en-US" sz="4300" dirty="0">
              <a:latin typeface="VNI-Times" pitchFamily="2" charset="0"/>
            </a:endParaRPr>
          </a:p>
          <a:p>
            <a:pPr eaLnBrk="1" hangingPunct="1"/>
            <a:r>
              <a:rPr lang="en-US" altLang="en-US" dirty="0" err="1"/>
              <a:t>Giá</a:t>
            </a:r>
            <a:r>
              <a:rPr lang="en-US" altLang="en-US" dirty="0"/>
              <a:t> </a:t>
            </a:r>
            <a:r>
              <a:rPr lang="en-US" altLang="en-US" dirty="0" err="1"/>
              <a:t>trị</a:t>
            </a:r>
            <a:r>
              <a:rPr lang="en-US" altLang="en-US" dirty="0"/>
              <a:t> </a:t>
            </a:r>
            <a:r>
              <a:rPr lang="en-US" altLang="en-US" dirty="0" err="1"/>
              <a:t>tương</a:t>
            </a:r>
            <a:r>
              <a:rPr lang="en-US" altLang="en-US" dirty="0"/>
              <a:t> </a:t>
            </a:r>
            <a:r>
              <a:rPr lang="en-US" altLang="en-US" dirty="0" err="1"/>
              <a:t>đương</a:t>
            </a:r>
            <a:r>
              <a:rPr lang="en-US" altLang="en-US" dirty="0"/>
              <a:t> </a:t>
            </a:r>
            <a:r>
              <a:rPr lang="en-US" altLang="en-US" dirty="0" err="1"/>
              <a:t>của</a:t>
            </a:r>
            <a:r>
              <a:rPr lang="en-US" altLang="en-US" dirty="0"/>
              <a:t> </a:t>
            </a:r>
            <a:r>
              <a:rPr lang="en-US" altLang="en-US" dirty="0" err="1"/>
              <a:t>tất</a:t>
            </a:r>
            <a:r>
              <a:rPr lang="en-US" altLang="en-US" dirty="0"/>
              <a:t> </a:t>
            </a:r>
            <a:r>
              <a:rPr lang="en-US" altLang="en-US" dirty="0" err="1"/>
              <a:t>cả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khoản</a:t>
            </a:r>
            <a:r>
              <a:rPr lang="en-US" altLang="en-US" dirty="0"/>
              <a:t> </a:t>
            </a:r>
            <a:r>
              <a:rPr lang="en-US" altLang="en-US" dirty="0" err="1"/>
              <a:t>thu</a:t>
            </a:r>
            <a:r>
              <a:rPr lang="en-US" altLang="en-US" dirty="0"/>
              <a:t>, chi </a:t>
            </a:r>
            <a:r>
              <a:rPr lang="en-US" altLang="en-US" dirty="0" err="1"/>
              <a:t>của</a:t>
            </a:r>
            <a:r>
              <a:rPr lang="en-US" altLang="en-US" dirty="0"/>
              <a:t> </a:t>
            </a:r>
            <a:r>
              <a:rPr lang="en-US" altLang="en-US" dirty="0" err="1"/>
              <a:t>dự</a:t>
            </a:r>
            <a:r>
              <a:rPr lang="en-US" altLang="en-US" dirty="0"/>
              <a:t> </a:t>
            </a:r>
            <a:r>
              <a:rPr lang="en-US" altLang="en-US" dirty="0" err="1"/>
              <a:t>án</a:t>
            </a:r>
            <a:r>
              <a:rPr lang="en-US" altLang="en-US" dirty="0"/>
              <a:t> </a:t>
            </a:r>
            <a:r>
              <a:rPr lang="en-US" altLang="en-US" dirty="0" err="1"/>
              <a:t>được</a:t>
            </a:r>
            <a:r>
              <a:rPr lang="en-US" altLang="en-US" dirty="0"/>
              <a:t> </a:t>
            </a:r>
            <a:r>
              <a:rPr lang="en-US" altLang="en-US" dirty="0" err="1"/>
              <a:t>quy</a:t>
            </a:r>
            <a:r>
              <a:rPr lang="en-US" altLang="en-US" dirty="0"/>
              <a:t> </a:t>
            </a:r>
            <a:r>
              <a:rPr lang="en-US" altLang="en-US" dirty="0" err="1"/>
              <a:t>về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mốc</a:t>
            </a:r>
            <a:r>
              <a:rPr lang="en-US" altLang="en-US" dirty="0"/>
              <a:t> </a:t>
            </a:r>
            <a:r>
              <a:rPr lang="en-US" altLang="en-US" dirty="0" err="1"/>
              <a:t>nào</a:t>
            </a:r>
            <a:r>
              <a:rPr lang="en-US" altLang="en-US" dirty="0"/>
              <a:t> </a:t>
            </a:r>
            <a:r>
              <a:rPr lang="en-US" altLang="en-US" dirty="0" err="1"/>
              <a:t>đó</a:t>
            </a:r>
            <a:r>
              <a:rPr lang="en-US" altLang="en-US" dirty="0"/>
              <a:t> </a:t>
            </a:r>
            <a:r>
              <a:rPr lang="en-US" altLang="en-US" dirty="0" err="1"/>
              <a:t>trong</a:t>
            </a:r>
            <a:r>
              <a:rPr lang="en-US" altLang="en-US" dirty="0"/>
              <a:t> </a:t>
            </a:r>
            <a:r>
              <a:rPr lang="en-US" altLang="en-US" dirty="0" err="1"/>
              <a:t>tương</a:t>
            </a:r>
            <a:r>
              <a:rPr lang="en-US" altLang="en-US" dirty="0"/>
              <a:t> lai (</a:t>
            </a:r>
            <a:r>
              <a:rPr lang="en-US" altLang="en-US" dirty="0" err="1"/>
              <a:t>thông</a:t>
            </a:r>
            <a:r>
              <a:rPr lang="en-US" altLang="en-US" dirty="0"/>
              <a:t> </a:t>
            </a:r>
            <a:r>
              <a:rPr lang="en-US" altLang="en-US" dirty="0" err="1"/>
              <a:t>thường</a:t>
            </a:r>
            <a:r>
              <a:rPr lang="en-US" altLang="en-US" dirty="0"/>
              <a:t>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cuối</a:t>
            </a:r>
            <a:r>
              <a:rPr lang="en-US" altLang="en-US" dirty="0"/>
              <a:t> </a:t>
            </a:r>
            <a:r>
              <a:rPr lang="en-US" altLang="en-US" dirty="0" err="1"/>
              <a:t>thời</a:t>
            </a:r>
            <a:r>
              <a:rPr lang="en-US" altLang="en-US" dirty="0"/>
              <a:t> </a:t>
            </a:r>
            <a:r>
              <a:rPr lang="en-US" altLang="en-US" dirty="0" err="1"/>
              <a:t>kỳ</a:t>
            </a:r>
            <a:r>
              <a:rPr lang="en-US" altLang="en-US" dirty="0"/>
              <a:t> </a:t>
            </a:r>
            <a:r>
              <a:rPr lang="en-US" altLang="en-US" dirty="0" err="1"/>
              <a:t>phân</a:t>
            </a:r>
            <a:r>
              <a:rPr lang="en-US" altLang="en-US" dirty="0"/>
              <a:t> </a:t>
            </a:r>
            <a:r>
              <a:rPr lang="en-US" altLang="en-US" dirty="0" err="1"/>
              <a:t>tích</a:t>
            </a:r>
            <a:r>
              <a:rPr lang="en-US" altLang="en-US" dirty="0"/>
              <a:t>)</a:t>
            </a:r>
          </a:p>
          <a:p>
            <a:pPr eaLnBrk="1" hangingPunct="1"/>
            <a:r>
              <a:rPr lang="en-US" altLang="en-US" dirty="0">
                <a:latin typeface="VNI-Times" pitchFamily="2" charset="0"/>
              </a:rPr>
              <a:t>Ph</a:t>
            </a:r>
            <a:r>
              <a:rPr lang="en-US" altLang="en-US" dirty="0"/>
              <a:t>ương </a:t>
            </a:r>
            <a:r>
              <a:rPr lang="en-US" altLang="en-US" dirty="0" err="1"/>
              <a:t>pháp</a:t>
            </a:r>
            <a:r>
              <a:rPr lang="en-US" altLang="en-US" dirty="0"/>
              <a:t> </a:t>
            </a:r>
            <a:r>
              <a:rPr lang="en-US" altLang="en-US" dirty="0" err="1"/>
              <a:t>phân</a:t>
            </a:r>
            <a:r>
              <a:rPr lang="en-US" altLang="en-US" dirty="0"/>
              <a:t> </a:t>
            </a:r>
            <a:r>
              <a:rPr lang="en-US" altLang="en-US" dirty="0" err="1"/>
              <a:t>tích</a:t>
            </a:r>
            <a:r>
              <a:rPr lang="en-US" altLang="en-US" dirty="0"/>
              <a:t>: </a:t>
            </a:r>
            <a:r>
              <a:rPr lang="en-US" altLang="en-US" dirty="0" err="1"/>
              <a:t>Tương</a:t>
            </a:r>
            <a:r>
              <a:rPr lang="en-US" altLang="en-US" dirty="0"/>
              <a:t> </a:t>
            </a:r>
            <a:r>
              <a:rPr lang="en-US" altLang="en-US" dirty="0" err="1"/>
              <a:t>tự</a:t>
            </a:r>
            <a:r>
              <a:rPr lang="en-US" altLang="en-US" dirty="0"/>
              <a:t> </a:t>
            </a:r>
            <a:r>
              <a:rPr lang="en-US" altLang="en-US" dirty="0" err="1"/>
              <a:t>như</a:t>
            </a:r>
            <a:r>
              <a:rPr lang="en-US" altLang="en-US" dirty="0"/>
              <a:t> PW.</a:t>
            </a:r>
          </a:p>
          <a:p>
            <a:pPr eaLnBrk="1" hangingPunct="1"/>
            <a:r>
              <a:rPr lang="en-US" altLang="en-US" dirty="0"/>
              <a:t>Phương </a:t>
            </a:r>
            <a:r>
              <a:rPr lang="en-US" altLang="en-US" dirty="0" err="1"/>
              <a:t>án</a:t>
            </a:r>
            <a:r>
              <a:rPr lang="en-US" altLang="en-US" dirty="0"/>
              <a:t> </a:t>
            </a:r>
            <a:r>
              <a:rPr lang="en-US" altLang="en-US" dirty="0" err="1"/>
              <a:t>đáng</a:t>
            </a:r>
            <a:r>
              <a:rPr lang="en-US" altLang="en-US" dirty="0"/>
              <a:t> </a:t>
            </a:r>
            <a:r>
              <a:rPr lang="en-US" altLang="en-US" dirty="0" err="1"/>
              <a:t>giá</a:t>
            </a:r>
            <a:r>
              <a:rPr lang="en-US" altLang="en-US" dirty="0"/>
              <a:t> </a:t>
            </a:r>
            <a:r>
              <a:rPr lang="en-US" altLang="en-US" dirty="0" err="1"/>
              <a:t>nếu</a:t>
            </a:r>
            <a:r>
              <a:rPr lang="en-US" altLang="en-US" dirty="0"/>
              <a:t> FW &gt;= 0.</a:t>
            </a:r>
          </a:p>
          <a:p>
            <a:pPr eaLnBrk="1" hangingPunct="1"/>
            <a:r>
              <a:rPr lang="en-US" altLang="en-US" dirty="0"/>
              <a:t>Phương </a:t>
            </a:r>
            <a:r>
              <a:rPr lang="en-US" altLang="en-US" dirty="0" err="1"/>
              <a:t>án</a:t>
            </a:r>
            <a:r>
              <a:rPr lang="en-US" altLang="en-US" dirty="0"/>
              <a:t> </a:t>
            </a:r>
            <a:r>
              <a:rPr lang="en-US" altLang="en-US" dirty="0" err="1"/>
              <a:t>đáng</a:t>
            </a:r>
            <a:r>
              <a:rPr lang="en-US" altLang="en-US" dirty="0"/>
              <a:t> </a:t>
            </a:r>
            <a:r>
              <a:rPr lang="en-US" altLang="en-US" dirty="0" err="1"/>
              <a:t>giá</a:t>
            </a:r>
            <a:r>
              <a:rPr lang="en-US" altLang="en-US" dirty="0"/>
              <a:t> </a:t>
            </a:r>
            <a:r>
              <a:rPr lang="en-US" altLang="en-US" dirty="0" err="1"/>
              <a:t>nhất</a:t>
            </a:r>
            <a:r>
              <a:rPr lang="en-US" altLang="en-US" dirty="0"/>
              <a:t> FW </a:t>
            </a:r>
            <a:r>
              <a:rPr lang="en-US" altLang="en-US" dirty="0">
                <a:sym typeface="Wingdings" panose="05000000000000000000" pitchFamily="2" charset="2"/>
              </a:rPr>
              <a:t> Max.</a:t>
            </a:r>
          </a:p>
          <a:p>
            <a:pPr eaLnBrk="1" hangingPunct="1"/>
            <a:r>
              <a:rPr lang="en-US" altLang="en-US" dirty="0">
                <a:sym typeface="Wingdings" panose="05000000000000000000" pitchFamily="2" charset="2"/>
              </a:rPr>
              <a:t>PW(A)/PW(B) = FW(A)/FW(B) = AW(A)/AW(B)</a:t>
            </a:r>
            <a:endParaRPr lang="en-US" altLang="en-US" dirty="0"/>
          </a:p>
          <a:p>
            <a:pPr eaLnBrk="1" hangingPunct="1"/>
            <a:endParaRPr lang="en-US" altLang="en-US" dirty="0">
              <a:latin typeface="VNI-Times" pitchFamily="2" charset="0"/>
            </a:endParaRPr>
          </a:p>
          <a:p>
            <a:pPr eaLnBrk="1" hangingPunct="1"/>
            <a:endParaRPr lang="vi-VN" altLang="en-US" dirty="0">
              <a:latin typeface="VNI-Times" pitchFamily="2" charset="0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/>
      <p:bldP spid="6149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38B6F5BA-073D-ADBD-D62B-13FA01A2A3A8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0" y="3124200"/>
            <a:ext cx="8839200" cy="1524000"/>
          </a:xfrm>
        </p:spPr>
        <p:txBody>
          <a:bodyPr/>
          <a:lstStyle/>
          <a:p>
            <a:pPr algn="ctr"/>
            <a:r>
              <a:rPr lang="en-US" altLang="en-US" sz="3200" b="1">
                <a:solidFill>
                  <a:schemeClr val="folHlink"/>
                </a:solidFill>
                <a:latin typeface="Copperplate Gothic Bold" panose="020E0705020206020404" pitchFamily="34" charset="0"/>
              </a:rPr>
              <a:t>XIN CẢM ƠN </a:t>
            </a:r>
          </a:p>
        </p:txBody>
      </p:sp>
      <p:pic>
        <p:nvPicPr>
          <p:cNvPr id="34819" name="Picture 4">
            <a:extLst>
              <a:ext uri="{FF2B5EF4-FFF2-40B4-BE49-F238E27FC236}">
                <a16:creationId xmlns:a16="http://schemas.microsoft.com/office/drawing/2014/main" id="{348685AE-E250-51F6-BEFA-E9DE2DACEB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0" t="22221" r="43750" b="19444"/>
          <a:stretch>
            <a:fillRect/>
          </a:stretch>
        </p:blipFill>
        <p:spPr bwMode="auto">
          <a:xfrm>
            <a:off x="0" y="0"/>
            <a:ext cx="2895600" cy="203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24" name="Picture 8" descr="money-stack">
            <a:extLst>
              <a:ext uri="{FF2B5EF4-FFF2-40B4-BE49-F238E27FC236}">
                <a16:creationId xmlns:a16="http://schemas.microsoft.com/office/drawing/2014/main" id="{9FAFC725-F51A-346C-4FD4-9E53C9CFF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457200"/>
            <a:ext cx="47244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0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IIEC PPT Design Template">
  <a:themeElements>
    <a:clrScheme name="">
      <a:dk1>
        <a:srgbClr val="333300"/>
      </a:dk1>
      <a:lt1>
        <a:srgbClr val="FFFFFF"/>
      </a:lt1>
      <a:dk2>
        <a:srgbClr val="000000"/>
      </a:dk2>
      <a:lt2>
        <a:srgbClr val="969696"/>
      </a:lt2>
      <a:accent1>
        <a:srgbClr val="A5EFD6"/>
      </a:accent1>
      <a:accent2>
        <a:srgbClr val="94ADB5"/>
      </a:accent2>
      <a:accent3>
        <a:srgbClr val="FFFFFF"/>
      </a:accent3>
      <a:accent4>
        <a:srgbClr val="2A2A00"/>
      </a:accent4>
      <a:accent5>
        <a:srgbClr val="CFF6E8"/>
      </a:accent5>
      <a:accent6>
        <a:srgbClr val="869CA4"/>
      </a:accent6>
      <a:hlink>
        <a:srgbClr val="18CE84"/>
      </a:hlink>
      <a:folHlink>
        <a:srgbClr val="008000"/>
      </a:folHlink>
    </a:clrScheme>
    <a:fontScheme name="IIEC PPT Design Template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6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6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IIEC PPT Design Template 1">
        <a:dk1>
          <a:srgbClr val="333300"/>
        </a:dk1>
        <a:lt1>
          <a:srgbClr val="FFFFFF"/>
        </a:lt1>
        <a:dk2>
          <a:srgbClr val="000000"/>
        </a:dk2>
        <a:lt2>
          <a:srgbClr val="969696"/>
        </a:lt2>
        <a:accent1>
          <a:srgbClr val="E5D58A"/>
        </a:accent1>
        <a:accent2>
          <a:srgbClr val="CCCC00"/>
        </a:accent2>
        <a:accent3>
          <a:srgbClr val="FFFFFF"/>
        </a:accent3>
        <a:accent4>
          <a:srgbClr val="2A2A00"/>
        </a:accent4>
        <a:accent5>
          <a:srgbClr val="F0E7C4"/>
        </a:accent5>
        <a:accent6>
          <a:srgbClr val="B9B900"/>
        </a:accent6>
        <a:hlink>
          <a:srgbClr val="999933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IEC PPT Design Template 2">
        <a:dk1>
          <a:srgbClr val="000000"/>
        </a:dk1>
        <a:lt1>
          <a:srgbClr val="8EA1C0"/>
        </a:lt1>
        <a:dk2>
          <a:srgbClr val="FFFFFF"/>
        </a:dk2>
        <a:lt2>
          <a:srgbClr val="5F5F5F"/>
        </a:lt2>
        <a:accent1>
          <a:srgbClr val="B6CDDE"/>
        </a:accent1>
        <a:accent2>
          <a:srgbClr val="8A7CA2"/>
        </a:accent2>
        <a:accent3>
          <a:srgbClr val="C6CDDC"/>
        </a:accent3>
        <a:accent4>
          <a:srgbClr val="000000"/>
        </a:accent4>
        <a:accent5>
          <a:srgbClr val="D7E3EC"/>
        </a:accent5>
        <a:accent6>
          <a:srgbClr val="7D7092"/>
        </a:accent6>
        <a:hlink>
          <a:srgbClr val="336699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IEC PPT Design Template 3">
        <a:dk1>
          <a:srgbClr val="333300"/>
        </a:dk1>
        <a:lt1>
          <a:srgbClr val="FFFFFF"/>
        </a:lt1>
        <a:dk2>
          <a:srgbClr val="000000"/>
        </a:dk2>
        <a:lt2>
          <a:srgbClr val="969696"/>
        </a:lt2>
        <a:accent1>
          <a:srgbClr val="EAEAEA"/>
        </a:accent1>
        <a:accent2>
          <a:srgbClr val="969696"/>
        </a:accent2>
        <a:accent3>
          <a:srgbClr val="FFFFFF"/>
        </a:accent3>
        <a:accent4>
          <a:srgbClr val="2A2A00"/>
        </a:accent4>
        <a:accent5>
          <a:srgbClr val="F3F3F3"/>
        </a:accent5>
        <a:accent6>
          <a:srgbClr val="878787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Settings\Nitin Pandit\Application Data\Microsoft\Templates\IIEC PPT Design Template.pot</Template>
  <TotalTime>2672</TotalTime>
  <Words>2416</Words>
  <Application>Microsoft Office PowerPoint</Application>
  <PresentationFormat>On-screen Show (4:3)</PresentationFormat>
  <Paragraphs>485</Paragraphs>
  <Slides>23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Arial</vt:lpstr>
      <vt:lpstr>Copperplate Gothic Bold</vt:lpstr>
      <vt:lpstr>Lucida Sans</vt:lpstr>
      <vt:lpstr>Monotype Corsiva</vt:lpstr>
      <vt:lpstr>Tahoma</vt:lpstr>
      <vt:lpstr>Times New Roman</vt:lpstr>
      <vt:lpstr>Verdana</vt:lpstr>
      <vt:lpstr>VNI-Times</vt:lpstr>
      <vt:lpstr>Wingdings</vt:lpstr>
      <vt:lpstr>Wingdings 2</vt:lpstr>
      <vt:lpstr>IIEC PPT Design Template</vt:lpstr>
      <vt:lpstr>CHƯƠNG 3 PHÂN TÍCH PHƯƠNG ÁN ĐẦU TƯ THEO GIÁ TRỊ TƯƠNG ĐƯƠNG</vt:lpstr>
      <vt:lpstr>NỘI DUNG</vt:lpstr>
      <vt:lpstr>CÁC PHƯƠNG PHÁP PHÂN TÍCH DỰ ÁN ĐẦU TƯ</vt:lpstr>
      <vt:lpstr>PowerPoint Presentation</vt:lpstr>
      <vt:lpstr>PowerPoint Presentation</vt:lpstr>
      <vt:lpstr>PowerPoint Presentation</vt:lpstr>
      <vt:lpstr>PowerPoint Presentation</vt:lpstr>
      <vt:lpstr>PHƯƠNG PHÁP GIÁ TRỊ HIỆN TẠI (PW)</vt:lpstr>
      <vt:lpstr>PHƯƠNG PHÁP GIÁ TRỊ HIỆN TẠI (PW)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PHƯƠNG PHÁP GIÁ TRỊ HÀNG NĂM (AW)</vt:lpstr>
      <vt:lpstr>PowerPoint Presentation</vt:lpstr>
      <vt:lpstr>PowerPoint Presentation</vt:lpstr>
      <vt:lpstr>PowerPoint Presentation</vt:lpstr>
      <vt:lpstr>PowerPoint Presentation</vt:lpstr>
      <vt:lpstr>PHƯƠNG PHÁP GIÁ TRỊ TƯƠNG LAI (FW)</vt:lpstr>
      <vt:lpstr>XIN CẢM ƠN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LPG as a reliable alternate fuel</dc:title>
  <dc:creator>Mahesh Patankar</dc:creator>
  <cp:lastModifiedBy>Bảo Trần</cp:lastModifiedBy>
  <cp:revision>131</cp:revision>
  <dcterms:created xsi:type="dcterms:W3CDTF">2004-09-13T09:11:11Z</dcterms:created>
  <dcterms:modified xsi:type="dcterms:W3CDTF">2025-06-05T12:35:30Z</dcterms:modified>
</cp:coreProperties>
</file>