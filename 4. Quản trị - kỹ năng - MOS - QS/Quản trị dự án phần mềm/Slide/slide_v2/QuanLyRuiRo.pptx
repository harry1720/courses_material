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81"/>
  </p:notesMasterIdLst>
  <p:sldIdLst>
    <p:sldId id="256" r:id="rId2"/>
    <p:sldId id="257" r:id="rId3"/>
    <p:sldId id="258" r:id="rId4"/>
    <p:sldId id="260" r:id="rId5"/>
    <p:sldId id="298" r:id="rId6"/>
    <p:sldId id="303" r:id="rId7"/>
    <p:sldId id="313" r:id="rId8"/>
    <p:sldId id="300" r:id="rId9"/>
    <p:sldId id="265" r:id="rId10"/>
    <p:sldId id="314" r:id="rId11"/>
    <p:sldId id="315" r:id="rId12"/>
    <p:sldId id="308" r:id="rId13"/>
    <p:sldId id="316" r:id="rId14"/>
    <p:sldId id="295" r:id="rId15"/>
    <p:sldId id="311" r:id="rId16"/>
    <p:sldId id="266" r:id="rId17"/>
    <p:sldId id="320" r:id="rId18"/>
    <p:sldId id="350" r:id="rId19"/>
    <p:sldId id="319" r:id="rId20"/>
    <p:sldId id="351" r:id="rId21"/>
    <p:sldId id="352" r:id="rId22"/>
    <p:sldId id="353" r:id="rId23"/>
    <p:sldId id="354" r:id="rId24"/>
    <p:sldId id="305" r:id="rId25"/>
    <p:sldId id="335" r:id="rId26"/>
    <p:sldId id="336" r:id="rId27"/>
    <p:sldId id="338" r:id="rId28"/>
    <p:sldId id="337" r:id="rId29"/>
    <p:sldId id="339" r:id="rId30"/>
    <p:sldId id="340" r:id="rId31"/>
    <p:sldId id="341" r:id="rId32"/>
    <p:sldId id="342" r:id="rId33"/>
    <p:sldId id="343" r:id="rId34"/>
    <p:sldId id="344" r:id="rId35"/>
    <p:sldId id="345" r:id="rId36"/>
    <p:sldId id="346" r:id="rId37"/>
    <p:sldId id="347" r:id="rId38"/>
    <p:sldId id="348" r:id="rId39"/>
    <p:sldId id="304" r:id="rId40"/>
    <p:sldId id="312" r:id="rId41"/>
    <p:sldId id="322" r:id="rId42"/>
    <p:sldId id="321" r:id="rId43"/>
    <p:sldId id="323" r:id="rId44"/>
    <p:sldId id="324" r:id="rId45"/>
    <p:sldId id="325" r:id="rId46"/>
    <p:sldId id="327" r:id="rId47"/>
    <p:sldId id="326" r:id="rId48"/>
    <p:sldId id="328" r:id="rId49"/>
    <p:sldId id="329" r:id="rId50"/>
    <p:sldId id="306" r:id="rId51"/>
    <p:sldId id="330" r:id="rId52"/>
    <p:sldId id="307" r:id="rId53"/>
    <p:sldId id="331" r:id="rId54"/>
    <p:sldId id="332" r:id="rId55"/>
    <p:sldId id="349" r:id="rId56"/>
    <p:sldId id="333" r:id="rId57"/>
    <p:sldId id="296" r:id="rId58"/>
    <p:sldId id="334" r:id="rId59"/>
    <p:sldId id="297" r:id="rId60"/>
    <p:sldId id="356" r:id="rId61"/>
    <p:sldId id="357" r:id="rId62"/>
    <p:sldId id="358" r:id="rId63"/>
    <p:sldId id="359" r:id="rId64"/>
    <p:sldId id="360" r:id="rId65"/>
    <p:sldId id="361" r:id="rId66"/>
    <p:sldId id="362" r:id="rId67"/>
    <p:sldId id="363" r:id="rId68"/>
    <p:sldId id="364" r:id="rId69"/>
    <p:sldId id="365" r:id="rId70"/>
    <p:sldId id="366" r:id="rId71"/>
    <p:sldId id="367" r:id="rId72"/>
    <p:sldId id="368" r:id="rId73"/>
    <p:sldId id="369" r:id="rId74"/>
    <p:sldId id="370" r:id="rId75"/>
    <p:sldId id="371" r:id="rId76"/>
    <p:sldId id="372" r:id="rId77"/>
    <p:sldId id="373" r:id="rId78"/>
    <p:sldId id="374" r:id="rId79"/>
    <p:sldId id="375" r:id="rId80"/>
  </p:sldIdLst>
  <p:sldSz cx="9144000" cy="5143500" type="screen16x9"/>
  <p:notesSz cx="6858000" cy="9144000"/>
  <p:embeddedFontLst>
    <p:embeddedFont>
      <p:font typeface="Anaheim" panose="020B0604020202020204" charset="0"/>
      <p:regular r:id="rId82"/>
      <p:bold r:id="rId83"/>
    </p:embeddedFont>
    <p:embeddedFont>
      <p:font typeface="Encode Sans" panose="020B0604020202020204" charset="0"/>
      <p:regular r:id="rId84"/>
      <p:bold r:id="rId85"/>
    </p:embeddedFont>
    <p:embeddedFont>
      <p:font typeface="Nunito Light" pitchFamily="2" charset="0"/>
      <p:regular r:id="rId86"/>
      <p:italic r:id="rId87"/>
    </p:embeddedFont>
    <p:embeddedFont>
      <p:font typeface="Open Sans" panose="020B0606030504020204" pitchFamily="34" charset="0"/>
      <p:regular r:id="rId88"/>
      <p:bold r:id="rId89"/>
      <p:italic r:id="rId90"/>
      <p:boldItalic r:id="rId91"/>
    </p:embeddedFont>
    <p:embeddedFont>
      <p:font typeface="PT Sans" panose="020B0503020203020204" pitchFamily="34" charset="0"/>
      <p:regular r:id="rId92"/>
      <p:bold r:id="rId93"/>
      <p:italic r:id="rId94"/>
      <p:boldItalic r:id="rId95"/>
    </p:embeddedFont>
    <p:embeddedFont>
      <p:font typeface="Raleway" pitchFamily="2" charset="0"/>
      <p:regular r:id="rId96"/>
      <p:bold r:id="rId97"/>
      <p:italic r:id="rId98"/>
      <p:boldItalic r:id="rId99"/>
    </p:embeddedFont>
    <p:embeddedFont>
      <p:font typeface="Unbounded" panose="020B0604020202020204" charset="0"/>
      <p:regular r:id="rId100"/>
      <p:bold r:id="rId10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171"/>
    <a:srgbClr val="FF4B4B"/>
    <a:srgbClr val="FF2929"/>
    <a:srgbClr val="01F14B"/>
    <a:srgbClr val="01CB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5723532-FFFA-4341-82E5-9F74C4B138CB}">
  <a:tblStyle styleId="{C5723532-FFFA-4341-82E5-9F74C4B138C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8D31DA3-EAAB-40F4-8D93-5C30EDF47879}"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80" autoAdjust="0"/>
    <p:restoredTop sz="94660"/>
  </p:normalViewPr>
  <p:slideViewPr>
    <p:cSldViewPr snapToGrid="0">
      <p:cViewPr varScale="1">
        <p:scale>
          <a:sx n="103" d="100"/>
          <a:sy n="103" d="100"/>
        </p:scale>
        <p:origin x="89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font" Target="fonts/font9.fntdata"/><Relationship Id="rId95" Type="http://schemas.openxmlformats.org/officeDocument/2006/relationships/font" Target="fonts/font1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4.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font" Target="fonts/font5.fntdata"/><Relationship Id="rId94" Type="http://schemas.openxmlformats.org/officeDocument/2006/relationships/font" Target="fonts/font13.fntdata"/><Relationship Id="rId99" Type="http://schemas.openxmlformats.org/officeDocument/2006/relationships/font" Target="fonts/font18.fntdata"/><Relationship Id="rId101"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6.fntdata"/><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6.fntdata"/><Relationship Id="rId61" Type="http://schemas.openxmlformats.org/officeDocument/2006/relationships/slide" Target="slides/slide60.xml"/><Relationship Id="rId82"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9.fntdata"/><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2.fntdata"/><Relationship Id="rId98" Type="http://schemas.openxmlformats.org/officeDocument/2006/relationships/font" Target="fonts/font17.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b64990617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b64990617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b682bcbc2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a:extLst>
            <a:ext uri="{FF2B5EF4-FFF2-40B4-BE49-F238E27FC236}">
              <a16:creationId xmlns:a16="http://schemas.microsoft.com/office/drawing/2014/main" id="{EAA52CA3-238A-A956-867A-6971135984D9}"/>
            </a:ext>
          </a:extLst>
        </p:cNvPr>
        <p:cNvGrpSpPr/>
        <p:nvPr/>
      </p:nvGrpSpPr>
      <p:grpSpPr>
        <a:xfrm>
          <a:off x="0" y="0"/>
          <a:ext cx="0" cy="0"/>
          <a:chOff x="0" y="0"/>
          <a:chExt cx="0" cy="0"/>
        </a:xfrm>
      </p:grpSpPr>
      <p:sp>
        <p:nvSpPr>
          <p:cNvPr id="514" name="Google Shape;514;g54dda1946d_4_2726:notes">
            <a:extLst>
              <a:ext uri="{FF2B5EF4-FFF2-40B4-BE49-F238E27FC236}">
                <a16:creationId xmlns:a16="http://schemas.microsoft.com/office/drawing/2014/main" id="{EFA48624-FF68-4538-EF51-32C80AFDA2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54dda1946d_4_2726:notes">
            <a:extLst>
              <a:ext uri="{FF2B5EF4-FFF2-40B4-BE49-F238E27FC236}">
                <a16:creationId xmlns:a16="http://schemas.microsoft.com/office/drawing/2014/main" id="{F4371309-5805-327F-D01B-54356F10F0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8928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7C96F18C-CB6C-6A04-9DF5-C73DAF5DE12D}"/>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B9561AA4-C1AC-FDA1-F182-825444E974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FF164276-A055-0FA7-D13C-91A7D03665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758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06FEAB09-39F2-9B5C-E74E-3D08572E50CD}"/>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EB9FCE89-203F-72DE-6A56-4853230593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89BA2128-6EF4-9537-0F3E-3DE0A991F0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5203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a:extLst>
            <a:ext uri="{FF2B5EF4-FFF2-40B4-BE49-F238E27FC236}">
              <a16:creationId xmlns:a16="http://schemas.microsoft.com/office/drawing/2014/main" id="{5FE7C73F-72C1-55F4-BE8C-AEF961B45D34}"/>
            </a:ext>
          </a:extLst>
        </p:cNvPr>
        <p:cNvGrpSpPr/>
        <p:nvPr/>
      </p:nvGrpSpPr>
      <p:grpSpPr>
        <a:xfrm>
          <a:off x="0" y="0"/>
          <a:ext cx="0" cy="0"/>
          <a:chOff x="0" y="0"/>
          <a:chExt cx="0" cy="0"/>
        </a:xfrm>
      </p:grpSpPr>
      <p:sp>
        <p:nvSpPr>
          <p:cNvPr id="514" name="Google Shape;514;g54dda1946d_4_2726:notes">
            <a:extLst>
              <a:ext uri="{FF2B5EF4-FFF2-40B4-BE49-F238E27FC236}">
                <a16:creationId xmlns:a16="http://schemas.microsoft.com/office/drawing/2014/main" id="{DEB4239C-4B44-B0E7-106E-DE49B86F41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54dda1946d_4_2726:notes">
            <a:extLst>
              <a:ext uri="{FF2B5EF4-FFF2-40B4-BE49-F238E27FC236}">
                <a16:creationId xmlns:a16="http://schemas.microsoft.com/office/drawing/2014/main" id="{1D27DCD1-D16B-0C04-7D10-0F5209C8B4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1413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2250C5EF-8B5A-2289-C028-B98432AE6E5A}"/>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D0497F3E-1D0F-0281-0876-F3569178DE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F44C5023-C744-CA21-FA6D-261128701C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017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2A82B715-56C1-F8BC-DFF7-80051F1C4483}"/>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799F0E84-7D89-5AF5-DD42-0C2C920B7C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11BBB82B-7C63-674C-2BA8-DEC5104634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5876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a:extLst>
            <a:ext uri="{FF2B5EF4-FFF2-40B4-BE49-F238E27FC236}">
              <a16:creationId xmlns:a16="http://schemas.microsoft.com/office/drawing/2014/main" id="{970567A1-6B99-20ED-0729-CB80B9CFD97E}"/>
            </a:ext>
          </a:extLst>
        </p:cNvPr>
        <p:cNvGrpSpPr/>
        <p:nvPr/>
      </p:nvGrpSpPr>
      <p:grpSpPr>
        <a:xfrm>
          <a:off x="0" y="0"/>
          <a:ext cx="0" cy="0"/>
          <a:chOff x="0" y="0"/>
          <a:chExt cx="0" cy="0"/>
        </a:xfrm>
      </p:grpSpPr>
      <p:sp>
        <p:nvSpPr>
          <p:cNvPr id="514" name="Google Shape;514;g54dda1946d_4_2726:notes">
            <a:extLst>
              <a:ext uri="{FF2B5EF4-FFF2-40B4-BE49-F238E27FC236}">
                <a16:creationId xmlns:a16="http://schemas.microsoft.com/office/drawing/2014/main" id="{439554C3-26C8-5B55-8B11-0696F9AFD9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54dda1946d_4_2726:notes">
            <a:extLst>
              <a:ext uri="{FF2B5EF4-FFF2-40B4-BE49-F238E27FC236}">
                <a16:creationId xmlns:a16="http://schemas.microsoft.com/office/drawing/2014/main" id="{338057AB-2C3C-7B3D-C027-A183B64DD6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9771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11376ADD-DF2B-2F11-D7E1-430E06AB3541}"/>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77FC0A49-EB47-EC7F-BA9F-453F93452E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77711709-977A-C5A9-5665-EE4D0C2163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0897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a:extLst>
            <a:ext uri="{FF2B5EF4-FFF2-40B4-BE49-F238E27FC236}">
              <a16:creationId xmlns:a16="http://schemas.microsoft.com/office/drawing/2014/main" id="{A0B1359D-DCD7-95C3-5C29-8FF07E838025}"/>
            </a:ext>
          </a:extLst>
        </p:cNvPr>
        <p:cNvGrpSpPr/>
        <p:nvPr/>
      </p:nvGrpSpPr>
      <p:grpSpPr>
        <a:xfrm>
          <a:off x="0" y="0"/>
          <a:ext cx="0" cy="0"/>
          <a:chOff x="0" y="0"/>
          <a:chExt cx="0" cy="0"/>
        </a:xfrm>
      </p:grpSpPr>
      <p:sp>
        <p:nvSpPr>
          <p:cNvPr id="407" name="Google Shape;407;g54dda1946d_6_308:notes">
            <a:extLst>
              <a:ext uri="{FF2B5EF4-FFF2-40B4-BE49-F238E27FC236}">
                <a16:creationId xmlns:a16="http://schemas.microsoft.com/office/drawing/2014/main" id="{1F380374-9951-2A9E-8634-18E733553D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54dda1946d_6_308:notes">
            <a:extLst>
              <a:ext uri="{FF2B5EF4-FFF2-40B4-BE49-F238E27FC236}">
                <a16:creationId xmlns:a16="http://schemas.microsoft.com/office/drawing/2014/main" id="{C1B87DF7-690B-9B22-E956-F5BD296F55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6641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D8E334B4-D17C-B080-3824-88475F2796CE}"/>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03A8363E-B6DE-7DA5-E65A-42C06495CE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030D58EF-88B4-C6E4-C827-91E60BE559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7746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0D422E4A-F543-A10B-C96F-79826A86D28D}"/>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A3B69046-3288-4FF4-E6B7-3373682092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FC9CF602-2BA3-6778-3EB5-B566AAF15F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44464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5D6AF60E-D2D1-0FF8-EFFF-6A247262E005}"/>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A2C9D680-E155-3BDE-8F7E-317262B58D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7A489A5A-4D7F-3390-29DB-EFDE10F1CB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81544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E7E6674D-B5B9-9BCA-1EEE-25EA7125D1CB}"/>
            </a:ext>
          </a:extLst>
        </p:cNvPr>
        <p:cNvGrpSpPr/>
        <p:nvPr/>
      </p:nvGrpSpPr>
      <p:grpSpPr>
        <a:xfrm>
          <a:off x="0" y="0"/>
          <a:ext cx="0" cy="0"/>
          <a:chOff x="0" y="0"/>
          <a:chExt cx="0" cy="0"/>
        </a:xfrm>
      </p:grpSpPr>
      <p:sp>
        <p:nvSpPr>
          <p:cNvPr id="498" name="Google Shape;498;g54dda1946d_4_2730:notes">
            <a:extLst>
              <a:ext uri="{FF2B5EF4-FFF2-40B4-BE49-F238E27FC236}">
                <a16:creationId xmlns:a16="http://schemas.microsoft.com/office/drawing/2014/main" id="{D5975B4C-FA5A-D35F-B78B-0060075227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54dda1946d_4_2730:notes">
            <a:extLst>
              <a:ext uri="{FF2B5EF4-FFF2-40B4-BE49-F238E27FC236}">
                <a16:creationId xmlns:a16="http://schemas.microsoft.com/office/drawing/2014/main" id="{24C7A3D5-42D5-2B07-1EAB-9F384004B4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67272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E8FC8833-271F-B360-0C29-26D168A40431}"/>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29F1E872-C556-2339-FF87-6DF02EEDF2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0CAF5696-D7A2-5E1F-DF68-28CC35A1C0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85288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F72B8BBB-BC44-0276-F039-C36AF0DCD06D}"/>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B345A4B7-9961-1BA9-260C-F5F174F50D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4FA66590-67A0-D0A0-AA57-6BCBAD2F90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0870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3251AB68-ABCC-204A-E29A-00D9C91B32F5}"/>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2610807D-5927-3D41-AC4E-15F7AACBE3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EB4F3664-8139-88F5-E558-D18960EBEF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74739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547C753B-596C-C9F3-3E74-7F1AB37D3302}"/>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51AB4EFD-028D-7898-09E5-522F5180AF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FA31B312-A7F4-DD39-4BE6-7D75824443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95568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a:extLst>
            <a:ext uri="{FF2B5EF4-FFF2-40B4-BE49-F238E27FC236}">
              <a16:creationId xmlns:a16="http://schemas.microsoft.com/office/drawing/2014/main" id="{9240DBB1-2CAC-71A9-63D9-0414CBC50024}"/>
            </a:ext>
          </a:extLst>
        </p:cNvPr>
        <p:cNvGrpSpPr/>
        <p:nvPr/>
      </p:nvGrpSpPr>
      <p:grpSpPr>
        <a:xfrm>
          <a:off x="0" y="0"/>
          <a:ext cx="0" cy="0"/>
          <a:chOff x="0" y="0"/>
          <a:chExt cx="0" cy="0"/>
        </a:xfrm>
      </p:grpSpPr>
      <p:sp>
        <p:nvSpPr>
          <p:cNvPr id="514" name="Google Shape;514;g54dda1946d_4_2726:notes">
            <a:extLst>
              <a:ext uri="{FF2B5EF4-FFF2-40B4-BE49-F238E27FC236}">
                <a16:creationId xmlns:a16="http://schemas.microsoft.com/office/drawing/2014/main" id="{F98E8BC2-0619-BF4D-5952-94D1B03E81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54dda1946d_4_2726:notes">
            <a:extLst>
              <a:ext uri="{FF2B5EF4-FFF2-40B4-BE49-F238E27FC236}">
                <a16:creationId xmlns:a16="http://schemas.microsoft.com/office/drawing/2014/main" id="{7F3A55D9-5969-2EDB-5373-3BD0DEBD0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97677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FC10DEB9-1DE8-6A0E-5D09-8AFF3812BB8D}"/>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4C162C51-5A08-B53C-CCBA-BD62129BA2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5EB79173-69FA-AE15-AE1D-C3A9EC9194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68032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7C46B24B-C955-6CC5-5356-BDDF3598C113}"/>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D8409EAC-6997-A106-A7F2-A1CA3A863B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F0ABD2A5-C589-0BAB-7EFE-CBB1162CDF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28594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F30124E3-F54B-EC4F-2476-BC9957868346}"/>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DE46B053-4C16-FA0C-35DB-C6E3646B75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1F2D6583-0EB3-8F6F-072C-79F4CC3489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00428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6AC1AABD-5DE8-D2B7-AB91-4043FCAEAA34}"/>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938F7479-CC42-9418-04D1-3244BC34AB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22DF1490-A9DF-22CD-96CD-06A6107466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160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F8195D6B-F300-A882-14EB-53849921BD3B}"/>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0B7D9529-00CB-325F-4D89-49672E4494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4090472E-6033-414B-18F9-3512E46095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79910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0E1971B9-704E-1DD9-BC01-5E3F11C38B9E}"/>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B0DB7944-DA12-D31B-7496-4FE62AC861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63A11F74-7268-F949-D120-8E9D48321A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080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21B7DBB7-EAE1-4A36-297D-7019549E6012}"/>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F70DEEDE-5E0D-F49E-4D85-5CFDFD2911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DA38DD2E-8FB7-C303-7823-2226A783D1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2780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309E18F8-1675-015E-42EF-96B4F8AD9D0F}"/>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A5CF55D0-BAE1-3158-CB04-6BE308FA97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B44E5671-5630-5A41-B390-F2B867ABCA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40335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32A096BC-1B43-8E07-CE0E-C4E9E2E4E771}"/>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3731B954-51BD-71D9-D785-D223E469BC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3BA144B2-5C2F-FB8D-D6A1-7C01B06DCF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64764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CBFAFE71-45BF-BFCB-A368-B383F876C72D}"/>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78096894-7B4B-D325-5588-D50BDC0DF8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4A45DE16-CF70-34E1-0B17-EAA0A059B0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81244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60F1295E-5746-2EA3-F323-546E0485217C}"/>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986D7001-733D-4282-D818-93227E6507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35385EEB-874B-6B76-8436-CABB5C4DB1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28159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B1E89C55-38CF-4298-EFE3-F06926BF96FA}"/>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F96F9F76-5A42-8F9D-B501-C135BE2806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EA18E7C4-4146-2830-172C-6B1E05D64C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02437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48DD2F90-BE9B-A3BD-DB55-2B80AEC153AE}"/>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8F934042-4417-0265-536D-A97FC4DB12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C633DBF4-5F7D-3573-6466-AD5151E986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4387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BA636761-41F8-C441-4FB2-EAFF6E3CE123}"/>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C465FAB1-E6BB-434C-F1E7-43B923CE59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E3F9E540-D5BF-14DA-4182-1B6F9E76E1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67664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a:extLst>
            <a:ext uri="{FF2B5EF4-FFF2-40B4-BE49-F238E27FC236}">
              <a16:creationId xmlns:a16="http://schemas.microsoft.com/office/drawing/2014/main" id="{71563D73-549F-0616-93DD-B6BA65E894CC}"/>
            </a:ext>
          </a:extLst>
        </p:cNvPr>
        <p:cNvGrpSpPr/>
        <p:nvPr/>
      </p:nvGrpSpPr>
      <p:grpSpPr>
        <a:xfrm>
          <a:off x="0" y="0"/>
          <a:ext cx="0" cy="0"/>
          <a:chOff x="0" y="0"/>
          <a:chExt cx="0" cy="0"/>
        </a:xfrm>
      </p:grpSpPr>
      <p:sp>
        <p:nvSpPr>
          <p:cNvPr id="514" name="Google Shape;514;g54dda1946d_4_2726:notes">
            <a:extLst>
              <a:ext uri="{FF2B5EF4-FFF2-40B4-BE49-F238E27FC236}">
                <a16:creationId xmlns:a16="http://schemas.microsoft.com/office/drawing/2014/main" id="{3CB5AD72-BC8C-3AAF-56CF-0E0D90A1C3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54dda1946d_4_2726:notes">
            <a:extLst>
              <a:ext uri="{FF2B5EF4-FFF2-40B4-BE49-F238E27FC236}">
                <a16:creationId xmlns:a16="http://schemas.microsoft.com/office/drawing/2014/main" id="{3030D693-9CDF-3EA0-1A32-F728F90469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468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326AAB48-B6FB-AA41-5A26-329F9A0B1787}"/>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FC792D4A-C6F2-E59C-6A75-B3177F9EB6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A8387C31-A83A-A41D-27D9-2B7012A64D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36129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C630C02B-A6BF-87B3-C3BD-48350FAA9840}"/>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DB945E92-4E3E-B27E-02FA-A3D86D1D2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DBE7C258-7A72-A93C-7476-31F5F4630F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7042733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B7618EEF-8B28-8EF1-D629-D73C9579C930}"/>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2337B569-90A6-C889-86CF-4A254E9103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97B40797-862C-92CA-DE81-C91D57B950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89855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2578BE1A-240D-C9D6-2932-090ED9A68960}"/>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80D94B91-36C3-315C-F44C-FA81EB094E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14894C89-C9EE-7530-772D-161FEF0A4F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13350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2C194062-E86D-B64F-E651-E4788EF62C6B}"/>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558214D7-498C-3207-6739-4C363E8B36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878CC43A-EAA9-00C5-E835-E1785CD928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79937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8EE047A9-5032-DE5F-B9BF-D19909BB045B}"/>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E86C4524-9DDB-DC92-5684-99C6583A77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21E2EFB4-6FD9-7858-A585-F762FE87C9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04943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6C8BBB85-F3F7-3FBC-648C-4D4D13E7914B}"/>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815507DD-B14F-A8C7-B401-2D813E3DAC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8D73C0ED-4169-D5C6-9534-2F53DD7B02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21647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79018F85-373E-A644-4649-807EE889568B}"/>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BD07EC69-1164-C43A-0458-44B68ECF80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2E9D7529-1AFC-F231-77CE-555D85FAC0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01607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DCE6451D-3662-14CF-F3C4-0D22EC6A06D4}"/>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463CC6C6-6EE5-BEC2-29AD-24EE98BC4E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29971D06-4827-6627-DCB3-EDF443454A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09348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a:extLst>
            <a:ext uri="{FF2B5EF4-FFF2-40B4-BE49-F238E27FC236}">
              <a16:creationId xmlns:a16="http://schemas.microsoft.com/office/drawing/2014/main" id="{4B2819A2-94C9-EB64-EDE3-C6117E54F4B9}"/>
            </a:ext>
          </a:extLst>
        </p:cNvPr>
        <p:cNvGrpSpPr/>
        <p:nvPr/>
      </p:nvGrpSpPr>
      <p:grpSpPr>
        <a:xfrm>
          <a:off x="0" y="0"/>
          <a:ext cx="0" cy="0"/>
          <a:chOff x="0" y="0"/>
          <a:chExt cx="0" cy="0"/>
        </a:xfrm>
      </p:grpSpPr>
      <p:sp>
        <p:nvSpPr>
          <p:cNvPr id="423" name="Google Shape;423;g54dda1946d_6_332:notes">
            <a:extLst>
              <a:ext uri="{FF2B5EF4-FFF2-40B4-BE49-F238E27FC236}">
                <a16:creationId xmlns:a16="http://schemas.microsoft.com/office/drawing/2014/main" id="{629D7814-7894-E320-4040-EB86F64664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54dda1946d_6_332:notes">
            <a:extLst>
              <a:ext uri="{FF2B5EF4-FFF2-40B4-BE49-F238E27FC236}">
                <a16:creationId xmlns:a16="http://schemas.microsoft.com/office/drawing/2014/main" id="{ADB35C3E-C17D-DD74-854E-164F10278C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56501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a:extLst>
            <a:ext uri="{FF2B5EF4-FFF2-40B4-BE49-F238E27FC236}">
              <a16:creationId xmlns:a16="http://schemas.microsoft.com/office/drawing/2014/main" id="{5DA9E962-F34B-176F-CB6A-9A2FAF565BAF}"/>
            </a:ext>
          </a:extLst>
        </p:cNvPr>
        <p:cNvGrpSpPr/>
        <p:nvPr/>
      </p:nvGrpSpPr>
      <p:grpSpPr>
        <a:xfrm>
          <a:off x="0" y="0"/>
          <a:ext cx="0" cy="0"/>
          <a:chOff x="0" y="0"/>
          <a:chExt cx="0" cy="0"/>
        </a:xfrm>
      </p:grpSpPr>
      <p:sp>
        <p:nvSpPr>
          <p:cNvPr id="514" name="Google Shape;514;g54dda1946d_4_2726:notes">
            <a:extLst>
              <a:ext uri="{FF2B5EF4-FFF2-40B4-BE49-F238E27FC236}">
                <a16:creationId xmlns:a16="http://schemas.microsoft.com/office/drawing/2014/main" id="{85C09A1D-952D-07A3-FCB6-2B98BBDCE6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54dda1946d_4_2726:notes">
            <a:extLst>
              <a:ext uri="{FF2B5EF4-FFF2-40B4-BE49-F238E27FC236}">
                <a16:creationId xmlns:a16="http://schemas.microsoft.com/office/drawing/2014/main" id="{E9FF0B3E-C075-D865-8AF8-19F6720C04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45601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B70611BC-FA30-5AD9-CDC5-DD898E7058E6}"/>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D3DB16D9-5FA2-E192-04D3-9A7BA177B3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3E065C9D-01B0-D657-1592-F7E4F763AD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0647041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a:extLst>
            <a:ext uri="{FF2B5EF4-FFF2-40B4-BE49-F238E27FC236}">
              <a16:creationId xmlns:a16="http://schemas.microsoft.com/office/drawing/2014/main" id="{298F8DA7-7164-C775-0F58-3A54B08ED20C}"/>
            </a:ext>
          </a:extLst>
        </p:cNvPr>
        <p:cNvGrpSpPr/>
        <p:nvPr/>
      </p:nvGrpSpPr>
      <p:grpSpPr>
        <a:xfrm>
          <a:off x="0" y="0"/>
          <a:ext cx="0" cy="0"/>
          <a:chOff x="0" y="0"/>
          <a:chExt cx="0" cy="0"/>
        </a:xfrm>
      </p:grpSpPr>
      <p:sp>
        <p:nvSpPr>
          <p:cNvPr id="514" name="Google Shape;514;g54dda1946d_4_2726:notes">
            <a:extLst>
              <a:ext uri="{FF2B5EF4-FFF2-40B4-BE49-F238E27FC236}">
                <a16:creationId xmlns:a16="http://schemas.microsoft.com/office/drawing/2014/main" id="{1B90BDBB-2CBA-BBDC-A117-DCD290571F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54dda1946d_4_2726:notes">
            <a:extLst>
              <a:ext uri="{FF2B5EF4-FFF2-40B4-BE49-F238E27FC236}">
                <a16:creationId xmlns:a16="http://schemas.microsoft.com/office/drawing/2014/main" id="{CDE88D51-97E4-7AA8-0B52-2CC195B96E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86546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6F5B7BD5-CB58-552C-47E5-BDA9AF1740B8}"/>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0518D724-5469-68B6-2412-EDD7957C04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FCBFF782-2475-D862-B2BC-5D24C9EA49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0978929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131A236D-FC85-15F5-9295-78FE6A43B2CC}"/>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1AA5949E-B310-DC52-F673-5FC8216BBB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41D56036-2FCE-5AF1-6F60-C921FA9B33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4906594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1D3D9003-8F16-D29E-A273-39106AA95725}"/>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BE4A9AD8-B4F6-1895-5FE3-CA8DA707E3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2F36E831-8603-BE3E-C08D-A31D2BC93F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806137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524CFAB6-3BE5-BCF8-B496-289B22537C24}"/>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BA0F03B3-2ECC-0D6D-7E4A-460894EA52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9C7228C1-2F54-2FA6-84A1-7A06048F1A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22417910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a:extLst>
            <a:ext uri="{FF2B5EF4-FFF2-40B4-BE49-F238E27FC236}">
              <a16:creationId xmlns:a16="http://schemas.microsoft.com/office/drawing/2014/main" id="{7847B7AD-9F8F-E4E8-C4B6-C0922E9F82EC}"/>
            </a:ext>
          </a:extLst>
        </p:cNvPr>
        <p:cNvGrpSpPr/>
        <p:nvPr/>
      </p:nvGrpSpPr>
      <p:grpSpPr>
        <a:xfrm>
          <a:off x="0" y="0"/>
          <a:ext cx="0" cy="0"/>
          <a:chOff x="0" y="0"/>
          <a:chExt cx="0" cy="0"/>
        </a:xfrm>
      </p:grpSpPr>
      <p:sp>
        <p:nvSpPr>
          <p:cNvPr id="407" name="Google Shape;407;g54dda1946d_6_308:notes">
            <a:extLst>
              <a:ext uri="{FF2B5EF4-FFF2-40B4-BE49-F238E27FC236}">
                <a16:creationId xmlns:a16="http://schemas.microsoft.com/office/drawing/2014/main" id="{B3ACD950-F2A5-B6C0-9413-89EDAC3250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54dda1946d_6_308:notes">
            <a:extLst>
              <a:ext uri="{FF2B5EF4-FFF2-40B4-BE49-F238E27FC236}">
                <a16:creationId xmlns:a16="http://schemas.microsoft.com/office/drawing/2014/main" id="{0F929B5E-FB09-A49F-E9A2-FB7CDE4A4A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82198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ECDCFF0B-8E2C-A752-B416-20729D9262FC}"/>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CB316B22-529F-750A-D927-D3F4F7AFBC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84D66A34-225E-D646-2EC9-22F865A16F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4307143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a:extLst>
            <a:ext uri="{FF2B5EF4-FFF2-40B4-BE49-F238E27FC236}">
              <a16:creationId xmlns:a16="http://schemas.microsoft.com/office/drawing/2014/main" id="{8DFD9C0F-7151-4E4D-3C1F-731DC246E200}"/>
            </a:ext>
          </a:extLst>
        </p:cNvPr>
        <p:cNvGrpSpPr/>
        <p:nvPr/>
      </p:nvGrpSpPr>
      <p:grpSpPr>
        <a:xfrm>
          <a:off x="0" y="0"/>
          <a:ext cx="0" cy="0"/>
          <a:chOff x="0" y="0"/>
          <a:chExt cx="0" cy="0"/>
        </a:xfrm>
      </p:grpSpPr>
      <p:sp>
        <p:nvSpPr>
          <p:cNvPr id="407" name="Google Shape;407;g54dda1946d_6_308:notes">
            <a:extLst>
              <a:ext uri="{FF2B5EF4-FFF2-40B4-BE49-F238E27FC236}">
                <a16:creationId xmlns:a16="http://schemas.microsoft.com/office/drawing/2014/main" id="{3A10961A-D287-9866-2DC8-283364C107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54dda1946d_6_308:notes">
            <a:extLst>
              <a:ext uri="{FF2B5EF4-FFF2-40B4-BE49-F238E27FC236}">
                <a16:creationId xmlns:a16="http://schemas.microsoft.com/office/drawing/2014/main" id="{6936D5D6-20FC-C2B0-339A-C9B206FA01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62747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5F5B7749-987C-7429-9EFE-5F3DF8AD1633}"/>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4F172AB2-B056-ED74-ACF4-B90AC34241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5D02945A-E246-6F7F-02FE-D2769B5930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9026457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88325AD4-0E40-041A-5333-B0ED3E9C6856}"/>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55B40487-E517-33B1-21ED-FCB45B3E40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8342A7BB-7AE9-DF45-3120-7979348CF5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8162783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7453700D-61ED-C765-3A03-0A41C75D555F}"/>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954560E8-02CF-27D7-7F7F-8F6D8DF48A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A1984AA2-D3F9-E99F-9E42-5846AB2AEA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80486313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F67C7788-1798-B4A2-FE42-4CB02640311F}"/>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7D058734-43DE-717B-8A04-AAC0ECE4B1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45E150DD-18CE-182C-EC15-CAB4B9F34A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09011437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4DDD7FE9-C18C-5BE2-A03A-5F7AC477C59C}"/>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9FEB9C32-D754-5CBC-0AC2-E6D22CA152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023368B5-3A99-573F-5BCD-29882D94E1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6450155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C168A9F4-4A15-E14C-DA9E-B119649AE7D1}"/>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FF6E5DF1-C852-7560-C1D1-E3C4973574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EA564D96-88BB-58BC-5929-769D533DFB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1342159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DF5FDB34-8E0E-E189-1190-C0D36F5DB679}"/>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3FDE4709-02C6-4FD7-35C6-1D3727DDB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BCED1F42-BB6C-8FD1-2E42-8B0DA7110A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20466224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6C7860C0-D121-CBDF-3C68-7C5743236650}"/>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8A25B7A9-F56D-3690-CF31-DBFB58B840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9C3D75FC-9F72-204E-357A-4BE23E67FA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15485204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7440932B-5190-687D-8BD5-D2CC5F48849F}"/>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0AEFFA8D-C125-4351-6B72-5172A37710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D53D9B72-769D-9317-2023-052EF6A312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47228286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66713963-7A98-E81D-F2F4-173C9469F035}"/>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FFC6680F-4738-DE88-D548-2B3746E1F4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9C8447FF-2A7B-F84B-EA11-2F35F87F96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03307153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4E7CCF07-F013-7CD8-A987-9A7A134FECA0}"/>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DD45EB33-8BAB-C307-EB89-412FA398CB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835CF7F7-3770-223B-D547-F5BD7EFD8A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7612088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55975C3F-6CEB-1559-9E9D-6F9F399559C1}"/>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25645CAA-3F34-BAE2-DA9A-0FB44F0076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864DABB2-6E95-B294-F3F6-19537C1835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62048944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09D12F99-1355-8040-8BC4-B254B56968E3}"/>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54B4E128-A4A8-C289-36C8-E68D61B9C6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BB25F3E7-1A68-BD86-E92C-7B372EB2F5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9133437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59EA7A70-B8A6-DCEA-0C93-0AEEDC95B5D9}"/>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5A2BC63C-AF40-12A3-2BD3-F8135F68D6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E9CF1016-E3CD-FE96-E13E-9629BE5A1D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05291828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E58A00B8-F35C-035F-E4F3-63693FAB0DE9}"/>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447A6DA8-700A-9D66-CC2E-E390C9F65E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0C4DDE88-FAD5-52D9-D46B-427444CF92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62881607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961C66B9-E122-B7B1-67EC-AAC6BB8CF379}"/>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D4E9AF51-48A1-4781-822D-7B52563AB7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CCCA5AAA-3CB8-6007-4DD9-32F67A2629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8015651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D6F13253-0A6F-A19A-E2C5-B70E3B12798F}"/>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38165F68-2740-A4AC-6064-684746B326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66047AF9-D3E8-46DE-0EB3-3D7CAD9602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48988006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9AF5FA4E-9D86-56C9-E444-49F8C849A90D}"/>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12559744-6CB8-BD19-DD27-0845A69489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D7C4826D-9A07-5E11-B33F-80636CD847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13330935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E4B8E54D-DD17-C653-D067-606F1CD9442D}"/>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321619A3-8BAE-D22D-D111-FD2B821062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896870B9-D53C-FD8A-491F-38CE31E2BE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00809832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E4EFF1E5-D051-D470-E8AC-18FB502F6543}"/>
            </a:ext>
          </a:extLst>
        </p:cNvPr>
        <p:cNvGrpSpPr/>
        <p:nvPr/>
      </p:nvGrpSpPr>
      <p:grpSpPr>
        <a:xfrm>
          <a:off x="0" y="0"/>
          <a:ext cx="0" cy="0"/>
          <a:chOff x="0" y="0"/>
          <a:chExt cx="0" cy="0"/>
        </a:xfrm>
      </p:grpSpPr>
      <p:sp>
        <p:nvSpPr>
          <p:cNvPr id="373" name="Google Shape;373;g2b682bcbc27_0_0:notes">
            <a:extLst>
              <a:ext uri="{FF2B5EF4-FFF2-40B4-BE49-F238E27FC236}">
                <a16:creationId xmlns:a16="http://schemas.microsoft.com/office/drawing/2014/main" id="{2C6DBD92-03FA-0563-255A-B46DA1D75E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b682bcbc27_0_0:notes">
            <a:extLst>
              <a:ext uri="{FF2B5EF4-FFF2-40B4-BE49-F238E27FC236}">
                <a16:creationId xmlns:a16="http://schemas.microsoft.com/office/drawing/2014/main" id="{B8B8ABED-4F19-E9EF-EE75-E9A776E756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116089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0" y="214050"/>
            <a:ext cx="8900825" cy="4929450"/>
            <a:chOff x="0" y="214050"/>
            <a:chExt cx="8900825" cy="4929450"/>
          </a:xfrm>
        </p:grpSpPr>
        <p:sp>
          <p:nvSpPr>
            <p:cNvPr id="10" name="Google Shape;10;p2"/>
            <p:cNvSpPr/>
            <p:nvPr/>
          </p:nvSpPr>
          <p:spPr>
            <a:xfrm>
              <a:off x="5113500" y="518333"/>
              <a:ext cx="1930800" cy="440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11" name="Google Shape;11;p2"/>
            <p:cNvGrpSpPr/>
            <p:nvPr/>
          </p:nvGrpSpPr>
          <p:grpSpPr>
            <a:xfrm rot="-5400000" flipH="1">
              <a:off x="169050" y="4208350"/>
              <a:ext cx="465900" cy="804000"/>
              <a:chOff x="7368050" y="4202000"/>
              <a:chExt cx="465900" cy="804000"/>
            </a:xfrm>
          </p:grpSpPr>
          <p:sp>
            <p:nvSpPr>
              <p:cNvPr id="12" name="Google Shape;12;p2"/>
              <p:cNvSpPr/>
              <p:nvPr/>
            </p:nvSpPr>
            <p:spPr>
              <a:xfrm>
                <a:off x="73680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 name="Google Shape;13;p2"/>
              <p:cNvSpPr/>
              <p:nvPr/>
            </p:nvSpPr>
            <p:spPr>
              <a:xfrm>
                <a:off x="75408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 name="Google Shape;14;p2"/>
              <p:cNvSpPr/>
              <p:nvPr/>
            </p:nvSpPr>
            <p:spPr>
              <a:xfrm>
                <a:off x="77136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15" name="Google Shape;15;p2"/>
            <p:cNvSpPr/>
            <p:nvPr/>
          </p:nvSpPr>
          <p:spPr>
            <a:xfrm>
              <a:off x="4825725" y="518333"/>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 name="Google Shape;16;p2"/>
            <p:cNvSpPr/>
            <p:nvPr/>
          </p:nvSpPr>
          <p:spPr>
            <a:xfrm flipH="1">
              <a:off x="634775" y="4131350"/>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 name="Google Shape;17;p2"/>
            <p:cNvSpPr/>
            <p:nvPr/>
          </p:nvSpPr>
          <p:spPr>
            <a:xfrm rot="5400000">
              <a:off x="341850" y="-1278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 name="Google Shape;18;p2"/>
            <p:cNvSpPr/>
            <p:nvPr/>
          </p:nvSpPr>
          <p:spPr>
            <a:xfrm flipH="1">
              <a:off x="630425" y="4677600"/>
              <a:ext cx="465900" cy="465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 name="Google Shape;19;p2"/>
            <p:cNvSpPr/>
            <p:nvPr/>
          </p:nvSpPr>
          <p:spPr>
            <a:xfrm>
              <a:off x="8743925" y="645492"/>
              <a:ext cx="156900" cy="1569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0" name="Google Shape;20;p2"/>
          <p:cNvGrpSpPr/>
          <p:nvPr/>
        </p:nvGrpSpPr>
        <p:grpSpPr>
          <a:xfrm>
            <a:off x="268525" y="746932"/>
            <a:ext cx="7883675" cy="3184645"/>
            <a:chOff x="268525" y="746932"/>
            <a:chExt cx="7883675" cy="3184645"/>
          </a:xfrm>
        </p:grpSpPr>
        <p:sp>
          <p:nvSpPr>
            <p:cNvPr id="21" name="Google Shape;21;p2"/>
            <p:cNvSpPr/>
            <p:nvPr/>
          </p:nvSpPr>
          <p:spPr>
            <a:xfrm>
              <a:off x="378775" y="883074"/>
              <a:ext cx="7668900" cy="2916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22" name="Google Shape;22;p2"/>
            <p:cNvGrpSpPr/>
            <p:nvPr/>
          </p:nvGrpSpPr>
          <p:grpSpPr>
            <a:xfrm>
              <a:off x="268525" y="746932"/>
              <a:ext cx="7883675" cy="3184645"/>
              <a:chOff x="268525" y="857425"/>
              <a:chExt cx="7883675" cy="2866725"/>
            </a:xfrm>
          </p:grpSpPr>
          <p:sp>
            <p:nvSpPr>
              <p:cNvPr id="23" name="Google Shape;23;p2"/>
              <p:cNvSpPr/>
              <p:nvPr/>
            </p:nvSpPr>
            <p:spPr>
              <a:xfrm>
                <a:off x="268525" y="857425"/>
                <a:ext cx="2097350" cy="2090200"/>
              </a:xfrm>
              <a:custGeom>
                <a:avLst/>
                <a:gdLst/>
                <a:ahLst/>
                <a:cxnLst/>
                <a:rect l="l" t="t" r="r" b="b"/>
                <a:pathLst>
                  <a:path w="83894" h="83608" extrusionOk="0">
                    <a:moveTo>
                      <a:pt x="83894" y="0"/>
                    </a:moveTo>
                    <a:lnTo>
                      <a:pt x="0" y="0"/>
                    </a:lnTo>
                    <a:lnTo>
                      <a:pt x="0" y="83608"/>
                    </a:lnTo>
                  </a:path>
                </a:pathLst>
              </a:custGeom>
              <a:noFill/>
              <a:ln w="19050" cap="flat" cmpd="sng">
                <a:solidFill>
                  <a:schemeClr val="accent1"/>
                </a:solidFill>
                <a:prstDash val="solid"/>
                <a:round/>
                <a:headEnd type="none" w="med" len="med"/>
                <a:tailEnd type="none" w="med" len="med"/>
              </a:ln>
            </p:spPr>
          </p:sp>
          <p:sp>
            <p:nvSpPr>
              <p:cNvPr id="24" name="Google Shape;24;p2"/>
              <p:cNvSpPr/>
              <p:nvPr/>
            </p:nvSpPr>
            <p:spPr>
              <a:xfrm rot="10800000">
                <a:off x="6054850" y="1633950"/>
                <a:ext cx="2097350" cy="2090200"/>
              </a:xfrm>
              <a:custGeom>
                <a:avLst/>
                <a:gdLst/>
                <a:ahLst/>
                <a:cxnLst/>
                <a:rect l="l" t="t" r="r" b="b"/>
                <a:pathLst>
                  <a:path w="83894" h="83608" extrusionOk="0">
                    <a:moveTo>
                      <a:pt x="83894" y="0"/>
                    </a:moveTo>
                    <a:lnTo>
                      <a:pt x="0" y="0"/>
                    </a:lnTo>
                    <a:lnTo>
                      <a:pt x="0" y="83608"/>
                    </a:lnTo>
                  </a:path>
                </a:pathLst>
              </a:custGeom>
              <a:noFill/>
              <a:ln w="19050" cap="flat" cmpd="sng">
                <a:solidFill>
                  <a:schemeClr val="accent1"/>
                </a:solidFill>
                <a:prstDash val="solid"/>
                <a:round/>
                <a:headEnd type="none" w="med" len="med"/>
                <a:tailEnd type="none" w="med" len="med"/>
              </a:ln>
            </p:spPr>
          </p:sp>
        </p:grpSp>
      </p:grpSp>
      <p:sp>
        <p:nvSpPr>
          <p:cNvPr id="25" name="Google Shape;25;p2"/>
          <p:cNvSpPr txBox="1">
            <a:spLocks noGrp="1"/>
          </p:cNvSpPr>
          <p:nvPr>
            <p:ph type="ctrTitle"/>
          </p:nvPr>
        </p:nvSpPr>
        <p:spPr>
          <a:xfrm>
            <a:off x="546025" y="1021850"/>
            <a:ext cx="7334400" cy="2577600"/>
          </a:xfrm>
          <a:prstGeom prst="rect">
            <a:avLst/>
          </a:prstGeom>
        </p:spPr>
        <p:txBody>
          <a:bodyPr spcFirstLastPara="1" wrap="square" lIns="91425" tIns="91425" rIns="91425" bIns="91425" anchor="ctr" anchorCtr="0">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6" name="Google Shape;26;p2"/>
          <p:cNvSpPr txBox="1">
            <a:spLocks noGrp="1"/>
          </p:cNvSpPr>
          <p:nvPr>
            <p:ph type="subTitle" idx="1"/>
          </p:nvPr>
        </p:nvSpPr>
        <p:spPr>
          <a:xfrm>
            <a:off x="5753100" y="3946100"/>
            <a:ext cx="2399100" cy="645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cxnSp>
        <p:nvCxnSpPr>
          <p:cNvPr id="27" name="Google Shape;27;p2"/>
          <p:cNvCxnSpPr/>
          <p:nvPr/>
        </p:nvCxnSpPr>
        <p:spPr>
          <a:xfrm rot="10800000">
            <a:off x="5334000" y="4624683"/>
            <a:ext cx="3810000" cy="0"/>
          </a:xfrm>
          <a:prstGeom prst="straightConnector1">
            <a:avLst/>
          </a:prstGeom>
          <a:noFill/>
          <a:ln w="19050" cap="flat" cmpd="sng">
            <a:solidFill>
              <a:schemeClr val="lt2"/>
            </a:solidFill>
            <a:prstDash val="solid"/>
            <a:round/>
            <a:headEnd type="none" w="med" len="med"/>
            <a:tailEnd type="diamond"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grpSp>
        <p:nvGrpSpPr>
          <p:cNvPr id="29" name="Google Shape;29;p3"/>
          <p:cNvGrpSpPr/>
          <p:nvPr/>
        </p:nvGrpSpPr>
        <p:grpSpPr>
          <a:xfrm>
            <a:off x="-63946" y="1168824"/>
            <a:ext cx="7773425" cy="3048502"/>
            <a:chOff x="-63946" y="1168824"/>
            <a:chExt cx="7773425" cy="3048502"/>
          </a:xfrm>
        </p:grpSpPr>
        <p:sp>
          <p:nvSpPr>
            <p:cNvPr id="30" name="Google Shape;30;p3"/>
            <p:cNvSpPr/>
            <p:nvPr/>
          </p:nvSpPr>
          <p:spPr>
            <a:xfrm>
              <a:off x="-63946" y="1168824"/>
              <a:ext cx="7668900" cy="2916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 name="Google Shape;31;p3"/>
            <p:cNvSpPr/>
            <p:nvPr/>
          </p:nvSpPr>
          <p:spPr>
            <a:xfrm rot="10800000">
              <a:off x="5612129" y="1895323"/>
              <a:ext cx="2097350" cy="2322003"/>
            </a:xfrm>
            <a:custGeom>
              <a:avLst/>
              <a:gdLst/>
              <a:ahLst/>
              <a:cxnLst/>
              <a:rect l="l" t="t" r="r" b="b"/>
              <a:pathLst>
                <a:path w="83894" h="83608" extrusionOk="0">
                  <a:moveTo>
                    <a:pt x="83894" y="0"/>
                  </a:moveTo>
                  <a:lnTo>
                    <a:pt x="0" y="0"/>
                  </a:lnTo>
                  <a:lnTo>
                    <a:pt x="0" y="83608"/>
                  </a:lnTo>
                </a:path>
              </a:pathLst>
            </a:custGeom>
            <a:noFill/>
            <a:ln w="19050" cap="flat" cmpd="sng">
              <a:solidFill>
                <a:schemeClr val="accent1"/>
              </a:solidFill>
              <a:prstDash val="solid"/>
              <a:round/>
              <a:headEnd type="none" w="med" len="med"/>
              <a:tailEnd type="none" w="med" len="med"/>
            </a:ln>
          </p:spPr>
        </p:sp>
      </p:grpSp>
      <p:sp>
        <p:nvSpPr>
          <p:cNvPr id="32" name="Google Shape;32;p3"/>
          <p:cNvSpPr txBox="1">
            <a:spLocks noGrp="1"/>
          </p:cNvSpPr>
          <p:nvPr>
            <p:ph type="title"/>
          </p:nvPr>
        </p:nvSpPr>
        <p:spPr>
          <a:xfrm>
            <a:off x="2549500" y="1908175"/>
            <a:ext cx="4383600" cy="14379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3" name="Google Shape;33;p3"/>
          <p:cNvSpPr txBox="1">
            <a:spLocks noGrp="1"/>
          </p:cNvSpPr>
          <p:nvPr>
            <p:ph type="title" idx="2" hasCustomPrompt="1"/>
          </p:nvPr>
        </p:nvSpPr>
        <p:spPr>
          <a:xfrm>
            <a:off x="905675" y="2061450"/>
            <a:ext cx="1474500" cy="10206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b="1"/>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34" name="Google Shape;34;p3"/>
          <p:cNvGrpSpPr/>
          <p:nvPr/>
        </p:nvGrpSpPr>
        <p:grpSpPr>
          <a:xfrm>
            <a:off x="7604950" y="99108"/>
            <a:ext cx="2035325" cy="5308892"/>
            <a:chOff x="7604950" y="99108"/>
            <a:chExt cx="2035325" cy="5308892"/>
          </a:xfrm>
        </p:grpSpPr>
        <p:sp>
          <p:nvSpPr>
            <p:cNvPr id="35" name="Google Shape;35;p3"/>
            <p:cNvSpPr/>
            <p:nvPr/>
          </p:nvSpPr>
          <p:spPr>
            <a:xfrm>
              <a:off x="7709475" y="190258"/>
              <a:ext cx="1930800" cy="440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6" name="Google Shape;36;p3"/>
            <p:cNvSpPr/>
            <p:nvPr/>
          </p:nvSpPr>
          <p:spPr>
            <a:xfrm>
              <a:off x="8510200" y="4320158"/>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 name="Google Shape;37;p3"/>
            <p:cNvSpPr/>
            <p:nvPr/>
          </p:nvSpPr>
          <p:spPr>
            <a:xfrm>
              <a:off x="7604950" y="99108"/>
              <a:ext cx="1930800" cy="4404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 name="Google Shape;38;p3"/>
            <p:cNvSpPr/>
            <p:nvPr/>
          </p:nvSpPr>
          <p:spPr>
            <a:xfrm>
              <a:off x="8528500" y="46040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9"/>
        <p:cNvGrpSpPr/>
        <p:nvPr/>
      </p:nvGrpSpPr>
      <p:grpSpPr>
        <a:xfrm>
          <a:off x="0" y="0"/>
          <a:ext cx="0" cy="0"/>
          <a:chOff x="0" y="0"/>
          <a:chExt cx="0" cy="0"/>
        </a:xfrm>
      </p:grpSpPr>
      <p:sp>
        <p:nvSpPr>
          <p:cNvPr id="40" name="Google Shape;40;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1" name="Google Shape;41;p4"/>
          <p:cNvSpPr txBox="1">
            <a:spLocks noGrp="1"/>
          </p:cNvSpPr>
          <p:nvPr>
            <p:ph type="body" idx="1"/>
          </p:nvPr>
        </p:nvSpPr>
        <p:spPr>
          <a:xfrm>
            <a:off x="720000" y="1215751"/>
            <a:ext cx="7704000" cy="331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cxnSp>
        <p:nvCxnSpPr>
          <p:cNvPr id="42" name="Google Shape;42;p4"/>
          <p:cNvCxnSpPr/>
          <p:nvPr/>
        </p:nvCxnSpPr>
        <p:spPr>
          <a:xfrm rot="10800000">
            <a:off x="-150" y="296075"/>
            <a:ext cx="8425500" cy="0"/>
          </a:xfrm>
          <a:prstGeom prst="straightConnector1">
            <a:avLst/>
          </a:prstGeom>
          <a:noFill/>
          <a:ln w="19050" cap="flat" cmpd="sng">
            <a:solidFill>
              <a:schemeClr val="lt2"/>
            </a:solidFill>
            <a:prstDash val="solid"/>
            <a:round/>
            <a:headEnd type="diamond" w="med" len="med"/>
            <a:tailEnd type="none" w="med" len="med"/>
          </a:ln>
        </p:spPr>
      </p:cxnSp>
      <p:grpSp>
        <p:nvGrpSpPr>
          <p:cNvPr id="43" name="Google Shape;43;p4"/>
          <p:cNvGrpSpPr/>
          <p:nvPr/>
        </p:nvGrpSpPr>
        <p:grpSpPr>
          <a:xfrm>
            <a:off x="8582500" y="897425"/>
            <a:ext cx="804000" cy="4050158"/>
            <a:chOff x="8582500" y="897425"/>
            <a:chExt cx="804000" cy="4050158"/>
          </a:xfrm>
        </p:grpSpPr>
        <p:sp>
          <p:nvSpPr>
            <p:cNvPr id="44" name="Google Shape;44;p4"/>
            <p:cNvSpPr/>
            <p:nvPr/>
          </p:nvSpPr>
          <p:spPr>
            <a:xfrm>
              <a:off x="8752125" y="4790683"/>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5" name="Google Shape;45;p4"/>
            <p:cNvSpPr/>
            <p:nvPr/>
          </p:nvSpPr>
          <p:spPr>
            <a:xfrm rot="5400000">
              <a:off x="8924350" y="555575"/>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6"/>
        <p:cNvGrpSpPr/>
        <p:nvPr/>
      </p:nvGrpSpPr>
      <p:grpSpPr>
        <a:xfrm>
          <a:off x="0" y="0"/>
          <a:ext cx="0" cy="0"/>
          <a:chOff x="0" y="0"/>
          <a:chExt cx="0" cy="0"/>
        </a:xfrm>
      </p:grpSpPr>
      <p:sp>
        <p:nvSpPr>
          <p:cNvPr id="47" name="Google Shape;47;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8" name="Google Shape;48;p5"/>
          <p:cNvSpPr txBox="1">
            <a:spLocks noGrp="1"/>
          </p:cNvSpPr>
          <p:nvPr>
            <p:ph type="subTitle" idx="1"/>
          </p:nvPr>
        </p:nvSpPr>
        <p:spPr>
          <a:xfrm>
            <a:off x="4859750" y="2817017"/>
            <a:ext cx="3436800" cy="112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9" name="Google Shape;49;p5"/>
          <p:cNvSpPr txBox="1">
            <a:spLocks noGrp="1"/>
          </p:cNvSpPr>
          <p:nvPr>
            <p:ph type="subTitle" idx="2"/>
          </p:nvPr>
        </p:nvSpPr>
        <p:spPr>
          <a:xfrm>
            <a:off x="720675" y="2817018"/>
            <a:ext cx="3436800" cy="112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 name="Google Shape;50;p5"/>
          <p:cNvSpPr txBox="1">
            <a:spLocks noGrp="1"/>
          </p:cNvSpPr>
          <p:nvPr>
            <p:ph type="subTitle" idx="3"/>
          </p:nvPr>
        </p:nvSpPr>
        <p:spPr>
          <a:xfrm>
            <a:off x="720675" y="2438275"/>
            <a:ext cx="3436800" cy="462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Unbounded"/>
                <a:ea typeface="Unbounded"/>
                <a:cs typeface="Unbounded"/>
                <a:sym typeface="Unbounde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1" name="Google Shape;51;p5"/>
          <p:cNvSpPr txBox="1">
            <a:spLocks noGrp="1"/>
          </p:cNvSpPr>
          <p:nvPr>
            <p:ph type="subTitle" idx="4"/>
          </p:nvPr>
        </p:nvSpPr>
        <p:spPr>
          <a:xfrm>
            <a:off x="4859752" y="2438275"/>
            <a:ext cx="3436800" cy="462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Unbounded"/>
                <a:ea typeface="Unbounded"/>
                <a:cs typeface="Unbounded"/>
                <a:sym typeface="Unbounde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52" name="Google Shape;52;p5"/>
          <p:cNvGrpSpPr/>
          <p:nvPr/>
        </p:nvGrpSpPr>
        <p:grpSpPr>
          <a:xfrm>
            <a:off x="310750" y="4131350"/>
            <a:ext cx="8833250" cy="1276650"/>
            <a:chOff x="310750" y="4131350"/>
            <a:chExt cx="8833250" cy="1276650"/>
          </a:xfrm>
        </p:grpSpPr>
        <p:grpSp>
          <p:nvGrpSpPr>
            <p:cNvPr id="53" name="Google Shape;53;p5"/>
            <p:cNvGrpSpPr/>
            <p:nvPr/>
          </p:nvGrpSpPr>
          <p:grpSpPr>
            <a:xfrm rot="5400000">
              <a:off x="8509050" y="4208350"/>
              <a:ext cx="465900" cy="804000"/>
              <a:chOff x="7368050" y="4202000"/>
              <a:chExt cx="465900" cy="804000"/>
            </a:xfrm>
          </p:grpSpPr>
          <p:sp>
            <p:nvSpPr>
              <p:cNvPr id="54" name="Google Shape;54;p5"/>
              <p:cNvSpPr/>
              <p:nvPr/>
            </p:nvSpPr>
            <p:spPr>
              <a:xfrm>
                <a:off x="7368050" y="42020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5" name="Google Shape;55;p5"/>
              <p:cNvSpPr/>
              <p:nvPr/>
            </p:nvSpPr>
            <p:spPr>
              <a:xfrm>
                <a:off x="7540850" y="42020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6" name="Google Shape;56;p5"/>
              <p:cNvSpPr/>
              <p:nvPr/>
            </p:nvSpPr>
            <p:spPr>
              <a:xfrm>
                <a:off x="7713650" y="42020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57" name="Google Shape;57;p5"/>
            <p:cNvSpPr/>
            <p:nvPr/>
          </p:nvSpPr>
          <p:spPr>
            <a:xfrm>
              <a:off x="8352325" y="4131350"/>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8" name="Google Shape;58;p5"/>
            <p:cNvSpPr/>
            <p:nvPr/>
          </p:nvSpPr>
          <p:spPr>
            <a:xfrm>
              <a:off x="310750" y="4604000"/>
              <a:ext cx="120300" cy="804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cxnSp>
        <p:nvCxnSpPr>
          <p:cNvPr id="59" name="Google Shape;59;p5"/>
          <p:cNvCxnSpPr/>
          <p:nvPr/>
        </p:nvCxnSpPr>
        <p:spPr>
          <a:xfrm rot="10800000">
            <a:off x="-150" y="296075"/>
            <a:ext cx="8425500" cy="0"/>
          </a:xfrm>
          <a:prstGeom prst="straightConnector1">
            <a:avLst/>
          </a:prstGeom>
          <a:noFill/>
          <a:ln w="19050" cap="flat" cmpd="sng">
            <a:solidFill>
              <a:schemeClr val="lt2"/>
            </a:solidFill>
            <a:prstDash val="solid"/>
            <a:round/>
            <a:headEnd type="diamond"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grpSp>
        <p:nvGrpSpPr>
          <p:cNvPr id="84" name="Google Shape;84;p8"/>
          <p:cNvGrpSpPr/>
          <p:nvPr/>
        </p:nvGrpSpPr>
        <p:grpSpPr>
          <a:xfrm>
            <a:off x="-63946" y="1168824"/>
            <a:ext cx="7773425" cy="3048502"/>
            <a:chOff x="-63946" y="1168824"/>
            <a:chExt cx="7773425" cy="3048502"/>
          </a:xfrm>
        </p:grpSpPr>
        <p:sp>
          <p:nvSpPr>
            <p:cNvPr id="85" name="Google Shape;85;p8"/>
            <p:cNvSpPr/>
            <p:nvPr/>
          </p:nvSpPr>
          <p:spPr>
            <a:xfrm>
              <a:off x="-63946" y="1168824"/>
              <a:ext cx="7668900" cy="2916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6" name="Google Shape;86;p8"/>
            <p:cNvSpPr/>
            <p:nvPr/>
          </p:nvSpPr>
          <p:spPr>
            <a:xfrm rot="10800000">
              <a:off x="5612129" y="1895323"/>
              <a:ext cx="2097350" cy="2322003"/>
            </a:xfrm>
            <a:custGeom>
              <a:avLst/>
              <a:gdLst/>
              <a:ahLst/>
              <a:cxnLst/>
              <a:rect l="l" t="t" r="r" b="b"/>
              <a:pathLst>
                <a:path w="83894" h="83608" extrusionOk="0">
                  <a:moveTo>
                    <a:pt x="83894" y="0"/>
                  </a:moveTo>
                  <a:lnTo>
                    <a:pt x="0" y="0"/>
                  </a:lnTo>
                  <a:lnTo>
                    <a:pt x="0" y="83608"/>
                  </a:lnTo>
                </a:path>
              </a:pathLst>
            </a:custGeom>
            <a:noFill/>
            <a:ln w="19050" cap="flat" cmpd="sng">
              <a:solidFill>
                <a:schemeClr val="accent1"/>
              </a:solidFill>
              <a:prstDash val="solid"/>
              <a:round/>
              <a:headEnd type="none" w="med" len="med"/>
              <a:tailEnd type="none" w="med" len="med"/>
            </a:ln>
          </p:spPr>
        </p:sp>
      </p:grpSp>
      <p:grpSp>
        <p:nvGrpSpPr>
          <p:cNvPr id="87" name="Google Shape;87;p8"/>
          <p:cNvGrpSpPr/>
          <p:nvPr/>
        </p:nvGrpSpPr>
        <p:grpSpPr>
          <a:xfrm>
            <a:off x="7604950" y="99108"/>
            <a:ext cx="2035325" cy="5308892"/>
            <a:chOff x="7604950" y="99108"/>
            <a:chExt cx="2035325" cy="5308892"/>
          </a:xfrm>
        </p:grpSpPr>
        <p:sp>
          <p:nvSpPr>
            <p:cNvPr id="88" name="Google Shape;88;p8"/>
            <p:cNvSpPr/>
            <p:nvPr/>
          </p:nvSpPr>
          <p:spPr>
            <a:xfrm>
              <a:off x="7709475" y="190258"/>
              <a:ext cx="1930800" cy="440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9" name="Google Shape;89;p8"/>
            <p:cNvSpPr/>
            <p:nvPr/>
          </p:nvSpPr>
          <p:spPr>
            <a:xfrm>
              <a:off x="8510200" y="4320158"/>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0" name="Google Shape;90;p8"/>
            <p:cNvSpPr/>
            <p:nvPr/>
          </p:nvSpPr>
          <p:spPr>
            <a:xfrm>
              <a:off x="7604950" y="99108"/>
              <a:ext cx="1930800" cy="4404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1" name="Google Shape;91;p8"/>
            <p:cNvSpPr/>
            <p:nvPr/>
          </p:nvSpPr>
          <p:spPr>
            <a:xfrm>
              <a:off x="8528500" y="46040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92" name="Google Shape;92;p8"/>
          <p:cNvSpPr txBox="1">
            <a:spLocks noGrp="1"/>
          </p:cNvSpPr>
          <p:nvPr>
            <p:ph type="title"/>
          </p:nvPr>
        </p:nvSpPr>
        <p:spPr>
          <a:xfrm>
            <a:off x="759550" y="1307100"/>
            <a:ext cx="6066600" cy="25293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93" name="Google Shape;93;p8"/>
          <p:cNvGrpSpPr/>
          <p:nvPr/>
        </p:nvGrpSpPr>
        <p:grpSpPr>
          <a:xfrm>
            <a:off x="0" y="41250"/>
            <a:ext cx="804000" cy="4802050"/>
            <a:chOff x="0" y="41250"/>
            <a:chExt cx="804000" cy="4802050"/>
          </a:xfrm>
        </p:grpSpPr>
        <p:grpSp>
          <p:nvGrpSpPr>
            <p:cNvPr id="94" name="Google Shape;94;p8"/>
            <p:cNvGrpSpPr/>
            <p:nvPr/>
          </p:nvGrpSpPr>
          <p:grpSpPr>
            <a:xfrm rot="-5400000" flipH="1">
              <a:off x="169050" y="4208350"/>
              <a:ext cx="465900" cy="804000"/>
              <a:chOff x="7368050" y="4202000"/>
              <a:chExt cx="465900" cy="804000"/>
            </a:xfrm>
          </p:grpSpPr>
          <p:sp>
            <p:nvSpPr>
              <p:cNvPr id="95" name="Google Shape;95;p8"/>
              <p:cNvSpPr/>
              <p:nvPr/>
            </p:nvSpPr>
            <p:spPr>
              <a:xfrm>
                <a:off x="7368050" y="42020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6" name="Google Shape;96;p8"/>
              <p:cNvSpPr/>
              <p:nvPr/>
            </p:nvSpPr>
            <p:spPr>
              <a:xfrm>
                <a:off x="7540850" y="42020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7" name="Google Shape;97;p8"/>
              <p:cNvSpPr/>
              <p:nvPr/>
            </p:nvSpPr>
            <p:spPr>
              <a:xfrm>
                <a:off x="7713650" y="42020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98" name="Google Shape;98;p8"/>
            <p:cNvSpPr/>
            <p:nvPr/>
          </p:nvSpPr>
          <p:spPr>
            <a:xfrm rot="5400000">
              <a:off x="353400" y="-116250"/>
              <a:ext cx="120300" cy="780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9" name="Google Shape;99;p8"/>
            <p:cNvSpPr/>
            <p:nvPr/>
          </p:nvSpPr>
          <p:spPr>
            <a:xfrm flipH="1">
              <a:off x="169050" y="41250"/>
              <a:ext cx="465900" cy="465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0"/>
        <p:cNvGrpSpPr/>
        <p:nvPr/>
      </p:nvGrpSpPr>
      <p:grpSpPr>
        <a:xfrm>
          <a:off x="0" y="0"/>
          <a:ext cx="0" cy="0"/>
          <a:chOff x="0" y="0"/>
          <a:chExt cx="0" cy="0"/>
        </a:xfrm>
      </p:grpSpPr>
      <p:grpSp>
        <p:nvGrpSpPr>
          <p:cNvPr id="101" name="Google Shape;101;p9"/>
          <p:cNvGrpSpPr/>
          <p:nvPr/>
        </p:nvGrpSpPr>
        <p:grpSpPr>
          <a:xfrm>
            <a:off x="0" y="214050"/>
            <a:ext cx="8900825" cy="4929450"/>
            <a:chOff x="0" y="214050"/>
            <a:chExt cx="8900825" cy="4929450"/>
          </a:xfrm>
        </p:grpSpPr>
        <p:sp>
          <p:nvSpPr>
            <p:cNvPr id="102" name="Google Shape;102;p9"/>
            <p:cNvSpPr/>
            <p:nvPr/>
          </p:nvSpPr>
          <p:spPr>
            <a:xfrm>
              <a:off x="5113500" y="518333"/>
              <a:ext cx="1930800" cy="440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103" name="Google Shape;103;p9"/>
            <p:cNvGrpSpPr/>
            <p:nvPr/>
          </p:nvGrpSpPr>
          <p:grpSpPr>
            <a:xfrm rot="-5400000" flipH="1">
              <a:off x="169050" y="4208350"/>
              <a:ext cx="465900" cy="804000"/>
              <a:chOff x="7368050" y="4202000"/>
              <a:chExt cx="465900" cy="804000"/>
            </a:xfrm>
          </p:grpSpPr>
          <p:sp>
            <p:nvSpPr>
              <p:cNvPr id="104" name="Google Shape;104;p9"/>
              <p:cNvSpPr/>
              <p:nvPr/>
            </p:nvSpPr>
            <p:spPr>
              <a:xfrm>
                <a:off x="73680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5" name="Google Shape;105;p9"/>
              <p:cNvSpPr/>
              <p:nvPr/>
            </p:nvSpPr>
            <p:spPr>
              <a:xfrm>
                <a:off x="75408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6" name="Google Shape;106;p9"/>
              <p:cNvSpPr/>
              <p:nvPr/>
            </p:nvSpPr>
            <p:spPr>
              <a:xfrm>
                <a:off x="77136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107" name="Google Shape;107;p9"/>
            <p:cNvSpPr/>
            <p:nvPr/>
          </p:nvSpPr>
          <p:spPr>
            <a:xfrm>
              <a:off x="4825725" y="518333"/>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8" name="Google Shape;108;p9"/>
            <p:cNvSpPr/>
            <p:nvPr/>
          </p:nvSpPr>
          <p:spPr>
            <a:xfrm flipH="1">
              <a:off x="634775" y="4131350"/>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9" name="Google Shape;109;p9"/>
            <p:cNvSpPr/>
            <p:nvPr/>
          </p:nvSpPr>
          <p:spPr>
            <a:xfrm rot="5400000">
              <a:off x="341850" y="-127800"/>
              <a:ext cx="120300" cy="804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0" name="Google Shape;110;p9"/>
            <p:cNvSpPr/>
            <p:nvPr/>
          </p:nvSpPr>
          <p:spPr>
            <a:xfrm flipH="1">
              <a:off x="630425" y="4677600"/>
              <a:ext cx="465900" cy="4659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1" name="Google Shape;111;p9"/>
            <p:cNvSpPr/>
            <p:nvPr/>
          </p:nvSpPr>
          <p:spPr>
            <a:xfrm>
              <a:off x="8743925" y="645492"/>
              <a:ext cx="156900" cy="156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12" name="Google Shape;112;p9"/>
          <p:cNvGrpSpPr/>
          <p:nvPr/>
        </p:nvGrpSpPr>
        <p:grpSpPr>
          <a:xfrm>
            <a:off x="268525" y="746932"/>
            <a:ext cx="7883675" cy="3184645"/>
            <a:chOff x="268525" y="746932"/>
            <a:chExt cx="7883675" cy="3184645"/>
          </a:xfrm>
        </p:grpSpPr>
        <p:sp>
          <p:nvSpPr>
            <p:cNvPr id="113" name="Google Shape;113;p9"/>
            <p:cNvSpPr/>
            <p:nvPr/>
          </p:nvSpPr>
          <p:spPr>
            <a:xfrm>
              <a:off x="378775" y="883074"/>
              <a:ext cx="7668900" cy="2916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114" name="Google Shape;114;p9"/>
            <p:cNvGrpSpPr/>
            <p:nvPr/>
          </p:nvGrpSpPr>
          <p:grpSpPr>
            <a:xfrm>
              <a:off x="268525" y="746932"/>
              <a:ext cx="7883675" cy="3184645"/>
              <a:chOff x="268525" y="857425"/>
              <a:chExt cx="7883675" cy="2866725"/>
            </a:xfrm>
          </p:grpSpPr>
          <p:sp>
            <p:nvSpPr>
              <p:cNvPr id="115" name="Google Shape;115;p9"/>
              <p:cNvSpPr/>
              <p:nvPr/>
            </p:nvSpPr>
            <p:spPr>
              <a:xfrm>
                <a:off x="268525" y="857425"/>
                <a:ext cx="2097350" cy="2090200"/>
              </a:xfrm>
              <a:custGeom>
                <a:avLst/>
                <a:gdLst/>
                <a:ahLst/>
                <a:cxnLst/>
                <a:rect l="l" t="t" r="r" b="b"/>
                <a:pathLst>
                  <a:path w="83894" h="83608" extrusionOk="0">
                    <a:moveTo>
                      <a:pt x="83894" y="0"/>
                    </a:moveTo>
                    <a:lnTo>
                      <a:pt x="0" y="0"/>
                    </a:lnTo>
                    <a:lnTo>
                      <a:pt x="0" y="83608"/>
                    </a:lnTo>
                  </a:path>
                </a:pathLst>
              </a:custGeom>
              <a:noFill/>
              <a:ln w="19050" cap="flat" cmpd="sng">
                <a:solidFill>
                  <a:schemeClr val="accent1"/>
                </a:solidFill>
                <a:prstDash val="solid"/>
                <a:round/>
                <a:headEnd type="none" w="med" len="med"/>
                <a:tailEnd type="none" w="med" len="med"/>
              </a:ln>
            </p:spPr>
          </p:sp>
          <p:sp>
            <p:nvSpPr>
              <p:cNvPr id="116" name="Google Shape;116;p9"/>
              <p:cNvSpPr/>
              <p:nvPr/>
            </p:nvSpPr>
            <p:spPr>
              <a:xfrm rot="10800000">
                <a:off x="6054850" y="1633950"/>
                <a:ext cx="2097350" cy="2090200"/>
              </a:xfrm>
              <a:custGeom>
                <a:avLst/>
                <a:gdLst/>
                <a:ahLst/>
                <a:cxnLst/>
                <a:rect l="l" t="t" r="r" b="b"/>
                <a:pathLst>
                  <a:path w="83894" h="83608" extrusionOk="0">
                    <a:moveTo>
                      <a:pt x="83894" y="0"/>
                    </a:moveTo>
                    <a:lnTo>
                      <a:pt x="0" y="0"/>
                    </a:lnTo>
                    <a:lnTo>
                      <a:pt x="0" y="83608"/>
                    </a:lnTo>
                  </a:path>
                </a:pathLst>
              </a:custGeom>
              <a:noFill/>
              <a:ln w="19050" cap="flat" cmpd="sng">
                <a:solidFill>
                  <a:schemeClr val="accent1"/>
                </a:solidFill>
                <a:prstDash val="solid"/>
                <a:round/>
                <a:headEnd type="none" w="med" len="med"/>
                <a:tailEnd type="none" w="med" len="med"/>
              </a:ln>
            </p:spPr>
          </p:sp>
        </p:grpSp>
      </p:grpSp>
      <p:cxnSp>
        <p:nvCxnSpPr>
          <p:cNvPr id="117" name="Google Shape;117;p9"/>
          <p:cNvCxnSpPr/>
          <p:nvPr/>
        </p:nvCxnSpPr>
        <p:spPr>
          <a:xfrm rot="10800000">
            <a:off x="5334000" y="4624683"/>
            <a:ext cx="3810000" cy="0"/>
          </a:xfrm>
          <a:prstGeom prst="straightConnector1">
            <a:avLst/>
          </a:prstGeom>
          <a:noFill/>
          <a:ln w="19050" cap="flat" cmpd="sng">
            <a:solidFill>
              <a:schemeClr val="lt2"/>
            </a:solidFill>
            <a:prstDash val="solid"/>
            <a:round/>
            <a:headEnd type="none" w="med" len="med"/>
            <a:tailEnd type="diamond" w="med" len="med"/>
          </a:ln>
        </p:spPr>
      </p:cxnSp>
      <p:sp>
        <p:nvSpPr>
          <p:cNvPr id="118" name="Google Shape;118;p9"/>
          <p:cNvSpPr txBox="1">
            <a:spLocks noGrp="1"/>
          </p:cNvSpPr>
          <p:nvPr>
            <p:ph type="title"/>
          </p:nvPr>
        </p:nvSpPr>
        <p:spPr>
          <a:xfrm>
            <a:off x="744525" y="1452075"/>
            <a:ext cx="6241500" cy="19644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6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19" name="Google Shape;119;p9"/>
          <p:cNvSpPr txBox="1">
            <a:spLocks noGrp="1"/>
          </p:cNvSpPr>
          <p:nvPr>
            <p:ph type="subTitle" idx="1"/>
          </p:nvPr>
        </p:nvSpPr>
        <p:spPr>
          <a:xfrm>
            <a:off x="5553200" y="3942575"/>
            <a:ext cx="2599200" cy="67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0"/>
        <p:cNvGrpSpPr/>
        <p:nvPr/>
      </p:nvGrpSpPr>
      <p:grpSpPr>
        <a:xfrm>
          <a:off x="0" y="0"/>
          <a:ext cx="0" cy="0"/>
          <a:chOff x="0" y="0"/>
          <a:chExt cx="0" cy="0"/>
        </a:xfrm>
      </p:grpSpPr>
      <p:sp>
        <p:nvSpPr>
          <p:cNvPr id="121" name="Google Shape;121;p10"/>
          <p:cNvSpPr>
            <a:spLocks noGrp="1"/>
          </p:cNvSpPr>
          <p:nvPr>
            <p:ph type="pic" idx="2"/>
          </p:nvPr>
        </p:nvSpPr>
        <p:spPr>
          <a:xfrm>
            <a:off x="0" y="0"/>
            <a:ext cx="9144000" cy="5143500"/>
          </a:xfrm>
          <a:prstGeom prst="rect">
            <a:avLst/>
          </a:prstGeom>
          <a:noFill/>
          <a:ln>
            <a:noFill/>
          </a:ln>
        </p:spPr>
      </p:sp>
      <p:sp>
        <p:nvSpPr>
          <p:cNvPr id="122" name="Google Shape;122;p10"/>
          <p:cNvSpPr txBox="1">
            <a:spLocks noGrp="1"/>
          </p:cNvSpPr>
          <p:nvPr>
            <p:ph type="title"/>
          </p:nvPr>
        </p:nvSpPr>
        <p:spPr>
          <a:xfrm>
            <a:off x="1948800" y="4014450"/>
            <a:ext cx="5246400" cy="4416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b="0"/>
            </a:lvl2pPr>
            <a:lvl3pPr lvl="2" algn="ctr" rtl="0">
              <a:spcBef>
                <a:spcPts val="0"/>
              </a:spcBef>
              <a:spcAft>
                <a:spcPts val="0"/>
              </a:spcAft>
              <a:buSzPts val="1800"/>
              <a:buNone/>
              <a:defRPr sz="1800" b="0"/>
            </a:lvl3pPr>
            <a:lvl4pPr lvl="3" algn="ctr" rtl="0">
              <a:spcBef>
                <a:spcPts val="0"/>
              </a:spcBef>
              <a:spcAft>
                <a:spcPts val="0"/>
              </a:spcAft>
              <a:buSzPts val="1800"/>
              <a:buNone/>
              <a:defRPr sz="1800" b="0"/>
            </a:lvl4pPr>
            <a:lvl5pPr lvl="4" algn="ctr" rtl="0">
              <a:spcBef>
                <a:spcPts val="0"/>
              </a:spcBef>
              <a:spcAft>
                <a:spcPts val="0"/>
              </a:spcAft>
              <a:buSzPts val="1800"/>
              <a:buNone/>
              <a:defRPr sz="1800" b="0"/>
            </a:lvl5pPr>
            <a:lvl6pPr lvl="5" algn="ctr" rtl="0">
              <a:spcBef>
                <a:spcPts val="0"/>
              </a:spcBef>
              <a:spcAft>
                <a:spcPts val="0"/>
              </a:spcAft>
              <a:buSzPts val="1800"/>
              <a:buNone/>
              <a:defRPr sz="1800" b="0"/>
            </a:lvl6pPr>
            <a:lvl7pPr lvl="6" algn="ctr" rtl="0">
              <a:spcBef>
                <a:spcPts val="0"/>
              </a:spcBef>
              <a:spcAft>
                <a:spcPts val="0"/>
              </a:spcAft>
              <a:buSzPts val="1800"/>
              <a:buNone/>
              <a:defRPr sz="1800" b="0"/>
            </a:lvl7pPr>
            <a:lvl8pPr lvl="7" algn="ctr" rtl="0">
              <a:spcBef>
                <a:spcPts val="0"/>
              </a:spcBef>
              <a:spcAft>
                <a:spcPts val="0"/>
              </a:spcAft>
              <a:buSzPts val="1800"/>
              <a:buNone/>
              <a:defRPr sz="1800" b="0"/>
            </a:lvl8pPr>
            <a:lvl9pPr lvl="8" algn="ctr" rtl="0">
              <a:spcBef>
                <a:spcPts val="0"/>
              </a:spcBef>
              <a:spcAft>
                <a:spcPts val="0"/>
              </a:spcAft>
              <a:buSzPts val="1800"/>
              <a:buNone/>
              <a:defRPr sz="1800" b="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3"/>
        <p:cNvGrpSpPr/>
        <p:nvPr/>
      </p:nvGrpSpPr>
      <p:grpSpPr>
        <a:xfrm>
          <a:off x="0" y="0"/>
          <a:ext cx="0" cy="0"/>
          <a:chOff x="0" y="0"/>
          <a:chExt cx="0" cy="0"/>
        </a:xfrm>
      </p:grpSpPr>
      <p:grpSp>
        <p:nvGrpSpPr>
          <p:cNvPr id="124" name="Google Shape;124;p11"/>
          <p:cNvGrpSpPr/>
          <p:nvPr/>
        </p:nvGrpSpPr>
        <p:grpSpPr>
          <a:xfrm>
            <a:off x="268525" y="1011228"/>
            <a:ext cx="7883675" cy="2707335"/>
            <a:chOff x="268525" y="1011228"/>
            <a:chExt cx="7883675" cy="2707335"/>
          </a:xfrm>
        </p:grpSpPr>
        <p:sp>
          <p:nvSpPr>
            <p:cNvPr id="125" name="Google Shape;125;p11"/>
            <p:cNvSpPr/>
            <p:nvPr/>
          </p:nvSpPr>
          <p:spPr>
            <a:xfrm>
              <a:off x="378775" y="1140210"/>
              <a:ext cx="7668900" cy="2428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126" name="Google Shape;126;p11"/>
            <p:cNvGrpSpPr/>
            <p:nvPr/>
          </p:nvGrpSpPr>
          <p:grpSpPr>
            <a:xfrm>
              <a:off x="268525" y="1011228"/>
              <a:ext cx="7883675" cy="2707335"/>
              <a:chOff x="268525" y="857425"/>
              <a:chExt cx="7883675" cy="2866725"/>
            </a:xfrm>
          </p:grpSpPr>
          <p:sp>
            <p:nvSpPr>
              <p:cNvPr id="127" name="Google Shape;127;p11"/>
              <p:cNvSpPr/>
              <p:nvPr/>
            </p:nvSpPr>
            <p:spPr>
              <a:xfrm>
                <a:off x="268525" y="857425"/>
                <a:ext cx="2097350" cy="2090200"/>
              </a:xfrm>
              <a:custGeom>
                <a:avLst/>
                <a:gdLst/>
                <a:ahLst/>
                <a:cxnLst/>
                <a:rect l="l" t="t" r="r" b="b"/>
                <a:pathLst>
                  <a:path w="83894" h="83608" extrusionOk="0">
                    <a:moveTo>
                      <a:pt x="83894" y="0"/>
                    </a:moveTo>
                    <a:lnTo>
                      <a:pt x="0" y="0"/>
                    </a:lnTo>
                    <a:lnTo>
                      <a:pt x="0" y="83608"/>
                    </a:lnTo>
                  </a:path>
                </a:pathLst>
              </a:custGeom>
              <a:noFill/>
              <a:ln w="19050" cap="flat" cmpd="sng">
                <a:solidFill>
                  <a:schemeClr val="accent1"/>
                </a:solidFill>
                <a:prstDash val="solid"/>
                <a:round/>
                <a:headEnd type="none" w="med" len="med"/>
                <a:tailEnd type="none" w="med" len="med"/>
              </a:ln>
            </p:spPr>
          </p:sp>
          <p:sp>
            <p:nvSpPr>
              <p:cNvPr id="128" name="Google Shape;128;p11"/>
              <p:cNvSpPr/>
              <p:nvPr/>
            </p:nvSpPr>
            <p:spPr>
              <a:xfrm rot="10800000">
                <a:off x="6054850" y="1633950"/>
                <a:ext cx="2097350" cy="2090200"/>
              </a:xfrm>
              <a:custGeom>
                <a:avLst/>
                <a:gdLst/>
                <a:ahLst/>
                <a:cxnLst/>
                <a:rect l="l" t="t" r="r" b="b"/>
                <a:pathLst>
                  <a:path w="83894" h="83608" extrusionOk="0">
                    <a:moveTo>
                      <a:pt x="83894" y="0"/>
                    </a:moveTo>
                    <a:lnTo>
                      <a:pt x="0" y="0"/>
                    </a:lnTo>
                    <a:lnTo>
                      <a:pt x="0" y="83608"/>
                    </a:lnTo>
                  </a:path>
                </a:pathLst>
              </a:custGeom>
              <a:noFill/>
              <a:ln w="19050" cap="flat" cmpd="sng">
                <a:solidFill>
                  <a:schemeClr val="accent1"/>
                </a:solidFill>
                <a:prstDash val="solid"/>
                <a:round/>
                <a:headEnd type="none" w="med" len="med"/>
                <a:tailEnd type="none" w="med" len="med"/>
              </a:ln>
            </p:spPr>
          </p:sp>
        </p:grpSp>
      </p:grpSp>
      <p:grpSp>
        <p:nvGrpSpPr>
          <p:cNvPr id="129" name="Google Shape;129;p11"/>
          <p:cNvGrpSpPr/>
          <p:nvPr/>
        </p:nvGrpSpPr>
        <p:grpSpPr>
          <a:xfrm>
            <a:off x="0" y="-8675"/>
            <a:ext cx="8936838" cy="4732975"/>
            <a:chOff x="0" y="-8675"/>
            <a:chExt cx="8936838" cy="4732975"/>
          </a:xfrm>
        </p:grpSpPr>
        <p:sp>
          <p:nvSpPr>
            <p:cNvPr id="130" name="Google Shape;130;p11"/>
            <p:cNvSpPr/>
            <p:nvPr/>
          </p:nvSpPr>
          <p:spPr>
            <a:xfrm>
              <a:off x="1293675" y="3568708"/>
              <a:ext cx="1930800" cy="440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131" name="Google Shape;131;p11"/>
            <p:cNvGrpSpPr/>
            <p:nvPr/>
          </p:nvGrpSpPr>
          <p:grpSpPr>
            <a:xfrm flipH="1">
              <a:off x="8224888" y="-8675"/>
              <a:ext cx="465900" cy="804000"/>
              <a:chOff x="7368050" y="4202000"/>
              <a:chExt cx="465900" cy="804000"/>
            </a:xfrm>
          </p:grpSpPr>
          <p:sp>
            <p:nvSpPr>
              <p:cNvPr id="132" name="Google Shape;132;p11"/>
              <p:cNvSpPr/>
              <p:nvPr/>
            </p:nvSpPr>
            <p:spPr>
              <a:xfrm>
                <a:off x="73680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3" name="Google Shape;133;p11"/>
              <p:cNvSpPr/>
              <p:nvPr/>
            </p:nvSpPr>
            <p:spPr>
              <a:xfrm>
                <a:off x="75408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4" name="Google Shape;134;p11"/>
              <p:cNvSpPr/>
              <p:nvPr/>
            </p:nvSpPr>
            <p:spPr>
              <a:xfrm>
                <a:off x="77136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135" name="Google Shape;135;p11"/>
            <p:cNvSpPr/>
            <p:nvPr/>
          </p:nvSpPr>
          <p:spPr>
            <a:xfrm>
              <a:off x="1005900" y="3852208"/>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6" name="Google Shape;136;p11"/>
            <p:cNvSpPr/>
            <p:nvPr/>
          </p:nvSpPr>
          <p:spPr>
            <a:xfrm rot="5400000" flipH="1">
              <a:off x="8779938" y="626100"/>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7" name="Google Shape;137;p11"/>
            <p:cNvSpPr/>
            <p:nvPr/>
          </p:nvSpPr>
          <p:spPr>
            <a:xfrm rot="5400000">
              <a:off x="341850" y="426215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8" name="Google Shape;138;p11"/>
            <p:cNvSpPr/>
            <p:nvPr/>
          </p:nvSpPr>
          <p:spPr>
            <a:xfrm rot="5400000" flipH="1">
              <a:off x="7872088" y="160375"/>
              <a:ext cx="465900" cy="465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9" name="Google Shape;139;p11"/>
            <p:cNvSpPr/>
            <p:nvPr/>
          </p:nvSpPr>
          <p:spPr>
            <a:xfrm>
              <a:off x="1062975" y="246042"/>
              <a:ext cx="156900" cy="1569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140" name="Google Shape;140;p11"/>
          <p:cNvSpPr txBox="1">
            <a:spLocks noGrp="1"/>
          </p:cNvSpPr>
          <p:nvPr>
            <p:ph type="title" hasCustomPrompt="1"/>
          </p:nvPr>
        </p:nvSpPr>
        <p:spPr>
          <a:xfrm>
            <a:off x="748950" y="1678975"/>
            <a:ext cx="4930200" cy="11559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41" name="Google Shape;141;p11"/>
          <p:cNvSpPr txBox="1">
            <a:spLocks noGrp="1"/>
          </p:cNvSpPr>
          <p:nvPr>
            <p:ph type="subTitle" idx="1"/>
          </p:nvPr>
        </p:nvSpPr>
        <p:spPr>
          <a:xfrm>
            <a:off x="5850450" y="3953240"/>
            <a:ext cx="2232600" cy="64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cxnSp>
        <p:nvCxnSpPr>
          <p:cNvPr id="142" name="Google Shape;142;p11"/>
          <p:cNvCxnSpPr/>
          <p:nvPr/>
        </p:nvCxnSpPr>
        <p:spPr>
          <a:xfrm rot="10800000">
            <a:off x="5334000" y="4624683"/>
            <a:ext cx="3810000" cy="0"/>
          </a:xfrm>
          <a:prstGeom prst="straightConnector1">
            <a:avLst/>
          </a:prstGeom>
          <a:noFill/>
          <a:ln w="19050" cap="flat" cmpd="sng">
            <a:solidFill>
              <a:schemeClr val="lt2"/>
            </a:solidFill>
            <a:prstDash val="solid"/>
            <a:round/>
            <a:headEnd type="none" w="med" len="med"/>
            <a:tailEnd type="diamond"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3"/>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44"/>
        <p:cNvGrpSpPr/>
        <p:nvPr/>
      </p:nvGrpSpPr>
      <p:grpSpPr>
        <a:xfrm>
          <a:off x="0" y="0"/>
          <a:ext cx="0" cy="0"/>
          <a:chOff x="0" y="0"/>
          <a:chExt cx="0" cy="0"/>
        </a:xfrm>
      </p:grpSpPr>
      <p:sp>
        <p:nvSpPr>
          <p:cNvPr id="145" name="Google Shape;14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6" name="Google Shape;146;p13"/>
          <p:cNvSpPr txBox="1">
            <a:spLocks noGrp="1"/>
          </p:cNvSpPr>
          <p:nvPr>
            <p:ph type="title" idx="2" hasCustomPrompt="1"/>
          </p:nvPr>
        </p:nvSpPr>
        <p:spPr>
          <a:xfrm>
            <a:off x="720000" y="1504050"/>
            <a:ext cx="1164900" cy="621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7" name="Google Shape;147;p13"/>
          <p:cNvSpPr txBox="1">
            <a:spLocks noGrp="1"/>
          </p:cNvSpPr>
          <p:nvPr>
            <p:ph type="title" idx="3" hasCustomPrompt="1"/>
          </p:nvPr>
        </p:nvSpPr>
        <p:spPr>
          <a:xfrm>
            <a:off x="720000" y="3017852"/>
            <a:ext cx="1164900" cy="621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8" name="Google Shape;148;p13"/>
          <p:cNvSpPr txBox="1">
            <a:spLocks noGrp="1"/>
          </p:cNvSpPr>
          <p:nvPr>
            <p:ph type="title" idx="4" hasCustomPrompt="1"/>
          </p:nvPr>
        </p:nvSpPr>
        <p:spPr>
          <a:xfrm>
            <a:off x="3327167" y="1504050"/>
            <a:ext cx="1164900" cy="621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9" name="Google Shape;149;p13"/>
          <p:cNvSpPr txBox="1">
            <a:spLocks noGrp="1"/>
          </p:cNvSpPr>
          <p:nvPr>
            <p:ph type="title" idx="5" hasCustomPrompt="1"/>
          </p:nvPr>
        </p:nvSpPr>
        <p:spPr>
          <a:xfrm>
            <a:off x="3327167" y="3017852"/>
            <a:ext cx="1164900" cy="621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0" name="Google Shape;150;p13"/>
          <p:cNvSpPr txBox="1">
            <a:spLocks noGrp="1"/>
          </p:cNvSpPr>
          <p:nvPr>
            <p:ph type="title" idx="6" hasCustomPrompt="1"/>
          </p:nvPr>
        </p:nvSpPr>
        <p:spPr>
          <a:xfrm>
            <a:off x="5944917" y="1504050"/>
            <a:ext cx="1164900" cy="621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1" name="Google Shape;151;p13"/>
          <p:cNvSpPr txBox="1">
            <a:spLocks noGrp="1"/>
          </p:cNvSpPr>
          <p:nvPr>
            <p:ph type="title" idx="7" hasCustomPrompt="1"/>
          </p:nvPr>
        </p:nvSpPr>
        <p:spPr>
          <a:xfrm>
            <a:off x="5944917" y="2965727"/>
            <a:ext cx="1164900" cy="621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2" name="Google Shape;152;p13"/>
          <p:cNvSpPr txBox="1">
            <a:spLocks noGrp="1"/>
          </p:cNvSpPr>
          <p:nvPr>
            <p:ph type="subTitle" idx="1"/>
          </p:nvPr>
        </p:nvSpPr>
        <p:spPr>
          <a:xfrm>
            <a:off x="720000" y="2104100"/>
            <a:ext cx="2484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53" name="Google Shape;153;p13"/>
          <p:cNvSpPr txBox="1">
            <a:spLocks noGrp="1"/>
          </p:cNvSpPr>
          <p:nvPr>
            <p:ph type="subTitle" idx="8"/>
          </p:nvPr>
        </p:nvSpPr>
        <p:spPr>
          <a:xfrm>
            <a:off x="3327167" y="2104100"/>
            <a:ext cx="2484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54" name="Google Shape;154;p13"/>
          <p:cNvSpPr txBox="1">
            <a:spLocks noGrp="1"/>
          </p:cNvSpPr>
          <p:nvPr>
            <p:ph type="subTitle" idx="9"/>
          </p:nvPr>
        </p:nvSpPr>
        <p:spPr>
          <a:xfrm>
            <a:off x="5944917" y="2104100"/>
            <a:ext cx="2484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55" name="Google Shape;155;p13"/>
          <p:cNvSpPr txBox="1">
            <a:spLocks noGrp="1"/>
          </p:cNvSpPr>
          <p:nvPr>
            <p:ph type="subTitle" idx="13"/>
          </p:nvPr>
        </p:nvSpPr>
        <p:spPr>
          <a:xfrm>
            <a:off x="720000" y="3617925"/>
            <a:ext cx="2484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56" name="Google Shape;156;p13"/>
          <p:cNvSpPr txBox="1">
            <a:spLocks noGrp="1"/>
          </p:cNvSpPr>
          <p:nvPr>
            <p:ph type="subTitle" idx="14"/>
          </p:nvPr>
        </p:nvSpPr>
        <p:spPr>
          <a:xfrm>
            <a:off x="3267517" y="3617925"/>
            <a:ext cx="2484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57" name="Google Shape;157;p13"/>
          <p:cNvSpPr txBox="1">
            <a:spLocks noGrp="1"/>
          </p:cNvSpPr>
          <p:nvPr>
            <p:ph type="subTitle" idx="15"/>
          </p:nvPr>
        </p:nvSpPr>
        <p:spPr>
          <a:xfrm>
            <a:off x="5944917" y="3617925"/>
            <a:ext cx="24840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cxnSp>
        <p:nvCxnSpPr>
          <p:cNvPr id="158" name="Google Shape;158;p13"/>
          <p:cNvCxnSpPr/>
          <p:nvPr/>
        </p:nvCxnSpPr>
        <p:spPr>
          <a:xfrm rot="10800000">
            <a:off x="-125" y="296067"/>
            <a:ext cx="4848300" cy="0"/>
          </a:xfrm>
          <a:prstGeom prst="straightConnector1">
            <a:avLst/>
          </a:prstGeom>
          <a:noFill/>
          <a:ln w="19050" cap="flat" cmpd="sng">
            <a:solidFill>
              <a:schemeClr val="lt2"/>
            </a:solidFill>
            <a:prstDash val="solid"/>
            <a:round/>
            <a:headEnd type="diamond" w="med" len="med"/>
            <a:tailEnd type="none" w="med" len="med"/>
          </a:ln>
        </p:spPr>
      </p:cxnSp>
      <p:grpSp>
        <p:nvGrpSpPr>
          <p:cNvPr id="159" name="Google Shape;159;p13"/>
          <p:cNvGrpSpPr/>
          <p:nvPr/>
        </p:nvGrpSpPr>
        <p:grpSpPr>
          <a:xfrm>
            <a:off x="-84000" y="1470150"/>
            <a:ext cx="9228000" cy="3373150"/>
            <a:chOff x="-84000" y="1470150"/>
            <a:chExt cx="9228000" cy="3373150"/>
          </a:xfrm>
        </p:grpSpPr>
        <p:grpSp>
          <p:nvGrpSpPr>
            <p:cNvPr id="160" name="Google Shape;160;p13"/>
            <p:cNvGrpSpPr/>
            <p:nvPr/>
          </p:nvGrpSpPr>
          <p:grpSpPr>
            <a:xfrm rot="5400000">
              <a:off x="8509050" y="4208350"/>
              <a:ext cx="465900" cy="804000"/>
              <a:chOff x="7368050" y="4202000"/>
              <a:chExt cx="465900" cy="804000"/>
            </a:xfrm>
          </p:grpSpPr>
          <p:sp>
            <p:nvSpPr>
              <p:cNvPr id="161" name="Google Shape;161;p13"/>
              <p:cNvSpPr/>
              <p:nvPr/>
            </p:nvSpPr>
            <p:spPr>
              <a:xfrm>
                <a:off x="73680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2" name="Google Shape;162;p13"/>
              <p:cNvSpPr/>
              <p:nvPr/>
            </p:nvSpPr>
            <p:spPr>
              <a:xfrm>
                <a:off x="75408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3" name="Google Shape;163;p13"/>
              <p:cNvSpPr/>
              <p:nvPr/>
            </p:nvSpPr>
            <p:spPr>
              <a:xfrm>
                <a:off x="77136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164" name="Google Shape;164;p13"/>
            <p:cNvSpPr/>
            <p:nvPr/>
          </p:nvSpPr>
          <p:spPr>
            <a:xfrm>
              <a:off x="8352325" y="4131350"/>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5" name="Google Shape;165;p13"/>
            <p:cNvSpPr/>
            <p:nvPr/>
          </p:nvSpPr>
          <p:spPr>
            <a:xfrm>
              <a:off x="8678100" y="1470150"/>
              <a:ext cx="465900" cy="1101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6" name="Google Shape;166;p13"/>
            <p:cNvSpPr/>
            <p:nvPr/>
          </p:nvSpPr>
          <p:spPr>
            <a:xfrm rot="5400000">
              <a:off x="257850" y="4381150"/>
              <a:ext cx="120300" cy="804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274"/>
        <p:cNvGrpSpPr/>
        <p:nvPr/>
      </p:nvGrpSpPr>
      <p:grpSpPr>
        <a:xfrm>
          <a:off x="0" y="0"/>
          <a:ext cx="0" cy="0"/>
          <a:chOff x="0" y="0"/>
          <a:chExt cx="0" cy="0"/>
        </a:xfrm>
      </p:grpSpPr>
      <p:grpSp>
        <p:nvGrpSpPr>
          <p:cNvPr id="275" name="Google Shape;275;p21"/>
          <p:cNvGrpSpPr/>
          <p:nvPr/>
        </p:nvGrpSpPr>
        <p:grpSpPr>
          <a:xfrm>
            <a:off x="628125" y="814634"/>
            <a:ext cx="7883675" cy="3579106"/>
            <a:chOff x="628125" y="814634"/>
            <a:chExt cx="7883675" cy="3579106"/>
          </a:xfrm>
        </p:grpSpPr>
        <p:sp>
          <p:nvSpPr>
            <p:cNvPr id="276" name="Google Shape;276;p21"/>
            <p:cNvSpPr/>
            <p:nvPr/>
          </p:nvSpPr>
          <p:spPr>
            <a:xfrm>
              <a:off x="738375" y="916262"/>
              <a:ext cx="7668900" cy="3327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277" name="Google Shape;277;p21"/>
            <p:cNvGrpSpPr/>
            <p:nvPr/>
          </p:nvGrpSpPr>
          <p:grpSpPr>
            <a:xfrm>
              <a:off x="628125" y="814634"/>
              <a:ext cx="7883675" cy="3579106"/>
              <a:chOff x="268525" y="857425"/>
              <a:chExt cx="7883675" cy="2866725"/>
            </a:xfrm>
          </p:grpSpPr>
          <p:sp>
            <p:nvSpPr>
              <p:cNvPr id="278" name="Google Shape;278;p21"/>
              <p:cNvSpPr/>
              <p:nvPr/>
            </p:nvSpPr>
            <p:spPr>
              <a:xfrm>
                <a:off x="268525" y="857425"/>
                <a:ext cx="2097350" cy="2090200"/>
              </a:xfrm>
              <a:custGeom>
                <a:avLst/>
                <a:gdLst/>
                <a:ahLst/>
                <a:cxnLst/>
                <a:rect l="l" t="t" r="r" b="b"/>
                <a:pathLst>
                  <a:path w="83894" h="83608" extrusionOk="0">
                    <a:moveTo>
                      <a:pt x="83894" y="0"/>
                    </a:moveTo>
                    <a:lnTo>
                      <a:pt x="0" y="0"/>
                    </a:lnTo>
                    <a:lnTo>
                      <a:pt x="0" y="83608"/>
                    </a:lnTo>
                  </a:path>
                </a:pathLst>
              </a:custGeom>
              <a:noFill/>
              <a:ln w="19050" cap="flat" cmpd="sng">
                <a:solidFill>
                  <a:schemeClr val="accent1"/>
                </a:solidFill>
                <a:prstDash val="solid"/>
                <a:round/>
                <a:headEnd type="none" w="med" len="med"/>
                <a:tailEnd type="none" w="med" len="med"/>
              </a:ln>
            </p:spPr>
          </p:sp>
          <p:sp>
            <p:nvSpPr>
              <p:cNvPr id="279" name="Google Shape;279;p21"/>
              <p:cNvSpPr/>
              <p:nvPr/>
            </p:nvSpPr>
            <p:spPr>
              <a:xfrm rot="10800000">
                <a:off x="6054850" y="1633950"/>
                <a:ext cx="2097350" cy="2090200"/>
              </a:xfrm>
              <a:custGeom>
                <a:avLst/>
                <a:gdLst/>
                <a:ahLst/>
                <a:cxnLst/>
                <a:rect l="l" t="t" r="r" b="b"/>
                <a:pathLst>
                  <a:path w="83894" h="83608" extrusionOk="0">
                    <a:moveTo>
                      <a:pt x="83894" y="0"/>
                    </a:moveTo>
                    <a:lnTo>
                      <a:pt x="0" y="0"/>
                    </a:lnTo>
                    <a:lnTo>
                      <a:pt x="0" y="83608"/>
                    </a:lnTo>
                  </a:path>
                </a:pathLst>
              </a:custGeom>
              <a:noFill/>
              <a:ln w="19050" cap="flat" cmpd="sng">
                <a:solidFill>
                  <a:schemeClr val="accent1"/>
                </a:solidFill>
                <a:prstDash val="solid"/>
                <a:round/>
                <a:headEnd type="none" w="med" len="med"/>
                <a:tailEnd type="none" w="med" len="med"/>
              </a:ln>
            </p:spPr>
          </p:sp>
        </p:grpSp>
      </p:grpSp>
      <p:sp>
        <p:nvSpPr>
          <p:cNvPr id="280" name="Google Shape;280;p21"/>
          <p:cNvSpPr txBox="1">
            <a:spLocks noGrp="1"/>
          </p:cNvSpPr>
          <p:nvPr>
            <p:ph type="title" hasCustomPrompt="1"/>
          </p:nvPr>
        </p:nvSpPr>
        <p:spPr>
          <a:xfrm>
            <a:off x="912846" y="2672175"/>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81" name="Google Shape;281;p21"/>
          <p:cNvSpPr txBox="1">
            <a:spLocks noGrp="1"/>
          </p:cNvSpPr>
          <p:nvPr>
            <p:ph type="subTitle" idx="1"/>
          </p:nvPr>
        </p:nvSpPr>
        <p:spPr>
          <a:xfrm>
            <a:off x="912859" y="3583499"/>
            <a:ext cx="3492600" cy="3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82" name="Google Shape;282;p21"/>
          <p:cNvSpPr txBox="1">
            <a:spLocks noGrp="1"/>
          </p:cNvSpPr>
          <p:nvPr>
            <p:ph type="title" idx="2" hasCustomPrompt="1"/>
          </p:nvPr>
        </p:nvSpPr>
        <p:spPr>
          <a:xfrm>
            <a:off x="2825700" y="1265989"/>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83" name="Google Shape;283;p21"/>
          <p:cNvSpPr txBox="1">
            <a:spLocks noGrp="1"/>
          </p:cNvSpPr>
          <p:nvPr>
            <p:ph type="subTitle" idx="3"/>
          </p:nvPr>
        </p:nvSpPr>
        <p:spPr>
          <a:xfrm>
            <a:off x="2825700" y="2177301"/>
            <a:ext cx="3492600" cy="3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84" name="Google Shape;284;p21"/>
          <p:cNvSpPr txBox="1">
            <a:spLocks noGrp="1"/>
          </p:cNvSpPr>
          <p:nvPr>
            <p:ph type="title" idx="4" hasCustomPrompt="1"/>
          </p:nvPr>
        </p:nvSpPr>
        <p:spPr>
          <a:xfrm>
            <a:off x="4738871" y="2672175"/>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85" name="Google Shape;285;p21"/>
          <p:cNvSpPr txBox="1">
            <a:spLocks noGrp="1"/>
          </p:cNvSpPr>
          <p:nvPr>
            <p:ph type="subTitle" idx="5"/>
          </p:nvPr>
        </p:nvSpPr>
        <p:spPr>
          <a:xfrm>
            <a:off x="4738884" y="3583499"/>
            <a:ext cx="3492600" cy="3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grpSp>
        <p:nvGrpSpPr>
          <p:cNvPr id="286" name="Google Shape;286;p21"/>
          <p:cNvGrpSpPr/>
          <p:nvPr/>
        </p:nvGrpSpPr>
        <p:grpSpPr>
          <a:xfrm>
            <a:off x="1425075" y="99108"/>
            <a:ext cx="8215200" cy="3906250"/>
            <a:chOff x="1425075" y="99108"/>
            <a:chExt cx="8215200" cy="3906250"/>
          </a:xfrm>
        </p:grpSpPr>
        <p:sp>
          <p:nvSpPr>
            <p:cNvPr id="287" name="Google Shape;287;p21"/>
            <p:cNvSpPr/>
            <p:nvPr/>
          </p:nvSpPr>
          <p:spPr>
            <a:xfrm>
              <a:off x="7709475" y="190258"/>
              <a:ext cx="1930800" cy="440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8" name="Google Shape;288;p21"/>
            <p:cNvSpPr/>
            <p:nvPr/>
          </p:nvSpPr>
          <p:spPr>
            <a:xfrm>
              <a:off x="7604950" y="99108"/>
              <a:ext cx="1930800" cy="4404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9" name="Google Shape;289;p21"/>
            <p:cNvSpPr/>
            <p:nvPr/>
          </p:nvSpPr>
          <p:spPr>
            <a:xfrm>
              <a:off x="8824100" y="3848458"/>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0" name="Google Shape;290;p21"/>
            <p:cNvSpPr/>
            <p:nvPr/>
          </p:nvSpPr>
          <p:spPr>
            <a:xfrm>
              <a:off x="1425075" y="240858"/>
              <a:ext cx="156900" cy="156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cxnSp>
        <p:nvCxnSpPr>
          <p:cNvPr id="291" name="Google Shape;291;p21"/>
          <p:cNvCxnSpPr/>
          <p:nvPr/>
        </p:nvCxnSpPr>
        <p:spPr>
          <a:xfrm rot="10800000">
            <a:off x="2904000" y="4624683"/>
            <a:ext cx="6240000" cy="0"/>
          </a:xfrm>
          <a:prstGeom prst="straightConnector1">
            <a:avLst/>
          </a:prstGeom>
          <a:noFill/>
          <a:ln w="19050" cap="flat" cmpd="sng">
            <a:solidFill>
              <a:schemeClr val="lt2"/>
            </a:solidFill>
            <a:prstDash val="solid"/>
            <a:round/>
            <a:headEnd type="none" w="med" len="med"/>
            <a:tailEnd type="diamond"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18"/>
        <p:cNvGrpSpPr/>
        <p:nvPr/>
      </p:nvGrpSpPr>
      <p:grpSpPr>
        <a:xfrm>
          <a:off x="0" y="0"/>
          <a:ext cx="0" cy="0"/>
          <a:chOff x="0" y="0"/>
          <a:chExt cx="0" cy="0"/>
        </a:xfrm>
      </p:grpSpPr>
      <p:cxnSp>
        <p:nvCxnSpPr>
          <p:cNvPr id="319" name="Google Shape;319;p24"/>
          <p:cNvCxnSpPr/>
          <p:nvPr/>
        </p:nvCxnSpPr>
        <p:spPr>
          <a:xfrm rot="10800000">
            <a:off x="4002900" y="4603282"/>
            <a:ext cx="5141100" cy="0"/>
          </a:xfrm>
          <a:prstGeom prst="straightConnector1">
            <a:avLst/>
          </a:prstGeom>
          <a:noFill/>
          <a:ln w="19050" cap="flat" cmpd="sng">
            <a:solidFill>
              <a:schemeClr val="lt2"/>
            </a:solidFill>
            <a:prstDash val="solid"/>
            <a:round/>
            <a:headEnd type="none" w="med" len="med"/>
            <a:tailEnd type="diamond" w="med" len="med"/>
          </a:ln>
        </p:spPr>
      </p:cxnSp>
      <p:grpSp>
        <p:nvGrpSpPr>
          <p:cNvPr id="320" name="Google Shape;320;p24"/>
          <p:cNvGrpSpPr/>
          <p:nvPr/>
        </p:nvGrpSpPr>
        <p:grpSpPr>
          <a:xfrm>
            <a:off x="0" y="214050"/>
            <a:ext cx="9907341" cy="4929450"/>
            <a:chOff x="0" y="214050"/>
            <a:chExt cx="9907341" cy="4929450"/>
          </a:xfrm>
        </p:grpSpPr>
        <p:grpSp>
          <p:nvGrpSpPr>
            <p:cNvPr id="321" name="Google Shape;321;p24"/>
            <p:cNvGrpSpPr/>
            <p:nvPr/>
          </p:nvGrpSpPr>
          <p:grpSpPr>
            <a:xfrm rot="-5400000" flipH="1">
              <a:off x="169050" y="4208350"/>
              <a:ext cx="465900" cy="804000"/>
              <a:chOff x="7368050" y="4202000"/>
              <a:chExt cx="465900" cy="804000"/>
            </a:xfrm>
          </p:grpSpPr>
          <p:sp>
            <p:nvSpPr>
              <p:cNvPr id="322" name="Google Shape;322;p24"/>
              <p:cNvSpPr/>
              <p:nvPr/>
            </p:nvSpPr>
            <p:spPr>
              <a:xfrm>
                <a:off x="73680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3" name="Google Shape;323;p24"/>
              <p:cNvSpPr/>
              <p:nvPr/>
            </p:nvSpPr>
            <p:spPr>
              <a:xfrm>
                <a:off x="75408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4" name="Google Shape;324;p24"/>
              <p:cNvSpPr/>
              <p:nvPr/>
            </p:nvSpPr>
            <p:spPr>
              <a:xfrm>
                <a:off x="77136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325" name="Google Shape;325;p24"/>
            <p:cNvSpPr/>
            <p:nvPr/>
          </p:nvSpPr>
          <p:spPr>
            <a:xfrm flipH="1">
              <a:off x="634775" y="4131350"/>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6" name="Google Shape;326;p24"/>
            <p:cNvSpPr/>
            <p:nvPr/>
          </p:nvSpPr>
          <p:spPr>
            <a:xfrm rot="5400000">
              <a:off x="341850" y="-1278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7" name="Google Shape;327;p24"/>
            <p:cNvSpPr/>
            <p:nvPr/>
          </p:nvSpPr>
          <p:spPr>
            <a:xfrm flipH="1">
              <a:off x="630425" y="4677600"/>
              <a:ext cx="465900" cy="465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8" name="Google Shape;328;p24"/>
            <p:cNvSpPr/>
            <p:nvPr/>
          </p:nvSpPr>
          <p:spPr>
            <a:xfrm>
              <a:off x="8678100" y="1470150"/>
              <a:ext cx="465900" cy="11016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329" name="Google Shape;329;p24"/>
            <p:cNvGrpSpPr/>
            <p:nvPr/>
          </p:nvGrpSpPr>
          <p:grpSpPr>
            <a:xfrm>
              <a:off x="7682501" y="257458"/>
              <a:ext cx="2224840" cy="418725"/>
              <a:chOff x="7318351" y="2997150"/>
              <a:chExt cx="2224840" cy="418725"/>
            </a:xfrm>
          </p:grpSpPr>
          <p:sp>
            <p:nvSpPr>
              <p:cNvPr id="330" name="Google Shape;330;p24"/>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4"/>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4"/>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33"/>
        <p:cNvGrpSpPr/>
        <p:nvPr/>
      </p:nvGrpSpPr>
      <p:grpSpPr>
        <a:xfrm>
          <a:off x="0" y="0"/>
          <a:ext cx="0" cy="0"/>
          <a:chOff x="0" y="0"/>
          <a:chExt cx="0" cy="0"/>
        </a:xfrm>
      </p:grpSpPr>
      <p:cxnSp>
        <p:nvCxnSpPr>
          <p:cNvPr id="334" name="Google Shape;334;p25"/>
          <p:cNvCxnSpPr/>
          <p:nvPr/>
        </p:nvCxnSpPr>
        <p:spPr>
          <a:xfrm rot="10800000">
            <a:off x="-150" y="296075"/>
            <a:ext cx="8425500" cy="0"/>
          </a:xfrm>
          <a:prstGeom prst="straightConnector1">
            <a:avLst/>
          </a:prstGeom>
          <a:noFill/>
          <a:ln w="19050" cap="flat" cmpd="sng">
            <a:solidFill>
              <a:schemeClr val="lt2"/>
            </a:solidFill>
            <a:prstDash val="solid"/>
            <a:round/>
            <a:headEnd type="diamond" w="med" len="med"/>
            <a:tailEnd type="none" w="med" len="med"/>
          </a:ln>
        </p:spPr>
      </p:cxnSp>
      <p:grpSp>
        <p:nvGrpSpPr>
          <p:cNvPr id="335" name="Google Shape;335;p25"/>
          <p:cNvGrpSpPr/>
          <p:nvPr/>
        </p:nvGrpSpPr>
        <p:grpSpPr>
          <a:xfrm>
            <a:off x="-270100" y="1336275"/>
            <a:ext cx="9414100" cy="3507033"/>
            <a:chOff x="-270100" y="1336275"/>
            <a:chExt cx="9414100" cy="3507033"/>
          </a:xfrm>
        </p:grpSpPr>
        <p:grpSp>
          <p:nvGrpSpPr>
            <p:cNvPr id="336" name="Google Shape;336;p25"/>
            <p:cNvGrpSpPr/>
            <p:nvPr/>
          </p:nvGrpSpPr>
          <p:grpSpPr>
            <a:xfrm rot="5400000">
              <a:off x="8509050" y="4208350"/>
              <a:ext cx="465900" cy="804000"/>
              <a:chOff x="7368050" y="4202000"/>
              <a:chExt cx="465900" cy="804000"/>
            </a:xfrm>
          </p:grpSpPr>
          <p:sp>
            <p:nvSpPr>
              <p:cNvPr id="337" name="Google Shape;337;p25"/>
              <p:cNvSpPr/>
              <p:nvPr/>
            </p:nvSpPr>
            <p:spPr>
              <a:xfrm>
                <a:off x="73680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8" name="Google Shape;338;p25"/>
              <p:cNvSpPr/>
              <p:nvPr/>
            </p:nvSpPr>
            <p:spPr>
              <a:xfrm>
                <a:off x="75408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9" name="Google Shape;339;p25"/>
              <p:cNvSpPr/>
              <p:nvPr/>
            </p:nvSpPr>
            <p:spPr>
              <a:xfrm>
                <a:off x="7713650" y="4202000"/>
                <a:ext cx="120300" cy="804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340" name="Google Shape;340;p25"/>
            <p:cNvSpPr/>
            <p:nvPr/>
          </p:nvSpPr>
          <p:spPr>
            <a:xfrm>
              <a:off x="377000" y="4686408"/>
              <a:ext cx="156900" cy="156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1" name="Google Shape;341;p25"/>
            <p:cNvSpPr/>
            <p:nvPr/>
          </p:nvSpPr>
          <p:spPr>
            <a:xfrm rot="5400000">
              <a:off x="71750" y="4063225"/>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2" name="Google Shape;342;p25"/>
            <p:cNvSpPr/>
            <p:nvPr/>
          </p:nvSpPr>
          <p:spPr>
            <a:xfrm>
              <a:off x="8759250" y="1336275"/>
              <a:ext cx="120300" cy="804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Unbounded"/>
              <a:buNone/>
              <a:defRPr sz="3000">
                <a:solidFill>
                  <a:schemeClr val="dk1"/>
                </a:solidFill>
                <a:latin typeface="Unbounded"/>
                <a:ea typeface="Unbounded"/>
                <a:cs typeface="Unbounded"/>
                <a:sym typeface="Unbounded"/>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Encode Sans"/>
              <a:buChar char="●"/>
              <a:defRPr sz="1200">
                <a:solidFill>
                  <a:schemeClr val="dk1"/>
                </a:solidFill>
                <a:latin typeface="Encode Sans"/>
                <a:ea typeface="Encode Sans"/>
                <a:cs typeface="Encode Sans"/>
                <a:sym typeface="Encode Sans"/>
              </a:defRPr>
            </a:lvl1pPr>
            <a:lvl2pPr marL="914400" lvl="1" indent="-304800">
              <a:lnSpc>
                <a:spcPct val="100000"/>
              </a:lnSpc>
              <a:spcBef>
                <a:spcPts val="0"/>
              </a:spcBef>
              <a:spcAft>
                <a:spcPts val="0"/>
              </a:spcAft>
              <a:buClr>
                <a:schemeClr val="dk1"/>
              </a:buClr>
              <a:buSzPts val="1200"/>
              <a:buFont typeface="Encode Sans"/>
              <a:buChar char="○"/>
              <a:defRPr sz="1200">
                <a:solidFill>
                  <a:schemeClr val="dk1"/>
                </a:solidFill>
                <a:latin typeface="Encode Sans"/>
                <a:ea typeface="Encode Sans"/>
                <a:cs typeface="Encode Sans"/>
                <a:sym typeface="Encode Sans"/>
              </a:defRPr>
            </a:lvl2pPr>
            <a:lvl3pPr marL="1371600" lvl="2" indent="-304800">
              <a:lnSpc>
                <a:spcPct val="100000"/>
              </a:lnSpc>
              <a:spcBef>
                <a:spcPts val="0"/>
              </a:spcBef>
              <a:spcAft>
                <a:spcPts val="0"/>
              </a:spcAft>
              <a:buClr>
                <a:schemeClr val="dk1"/>
              </a:buClr>
              <a:buSzPts val="1200"/>
              <a:buFont typeface="Encode Sans"/>
              <a:buChar char="■"/>
              <a:defRPr sz="1200">
                <a:solidFill>
                  <a:schemeClr val="dk1"/>
                </a:solidFill>
                <a:latin typeface="Encode Sans"/>
                <a:ea typeface="Encode Sans"/>
                <a:cs typeface="Encode Sans"/>
                <a:sym typeface="Encode Sans"/>
              </a:defRPr>
            </a:lvl3pPr>
            <a:lvl4pPr marL="1828800" lvl="3" indent="-304800">
              <a:lnSpc>
                <a:spcPct val="100000"/>
              </a:lnSpc>
              <a:spcBef>
                <a:spcPts val="0"/>
              </a:spcBef>
              <a:spcAft>
                <a:spcPts val="0"/>
              </a:spcAft>
              <a:buClr>
                <a:schemeClr val="dk1"/>
              </a:buClr>
              <a:buSzPts val="1200"/>
              <a:buFont typeface="Encode Sans"/>
              <a:buChar char="●"/>
              <a:defRPr sz="1200">
                <a:solidFill>
                  <a:schemeClr val="dk1"/>
                </a:solidFill>
                <a:latin typeface="Encode Sans"/>
                <a:ea typeface="Encode Sans"/>
                <a:cs typeface="Encode Sans"/>
                <a:sym typeface="Encode Sans"/>
              </a:defRPr>
            </a:lvl4pPr>
            <a:lvl5pPr marL="2286000" lvl="4" indent="-304800">
              <a:lnSpc>
                <a:spcPct val="100000"/>
              </a:lnSpc>
              <a:spcBef>
                <a:spcPts val="0"/>
              </a:spcBef>
              <a:spcAft>
                <a:spcPts val="0"/>
              </a:spcAft>
              <a:buClr>
                <a:schemeClr val="dk1"/>
              </a:buClr>
              <a:buSzPts val="1200"/>
              <a:buFont typeface="Encode Sans"/>
              <a:buChar char="○"/>
              <a:defRPr sz="1200">
                <a:solidFill>
                  <a:schemeClr val="dk1"/>
                </a:solidFill>
                <a:latin typeface="Encode Sans"/>
                <a:ea typeface="Encode Sans"/>
                <a:cs typeface="Encode Sans"/>
                <a:sym typeface="Encode Sans"/>
              </a:defRPr>
            </a:lvl5pPr>
            <a:lvl6pPr marL="2743200" lvl="5" indent="-304800">
              <a:lnSpc>
                <a:spcPct val="100000"/>
              </a:lnSpc>
              <a:spcBef>
                <a:spcPts val="0"/>
              </a:spcBef>
              <a:spcAft>
                <a:spcPts val="0"/>
              </a:spcAft>
              <a:buClr>
                <a:schemeClr val="dk1"/>
              </a:buClr>
              <a:buSzPts val="1200"/>
              <a:buFont typeface="Encode Sans"/>
              <a:buChar char="■"/>
              <a:defRPr sz="1200">
                <a:solidFill>
                  <a:schemeClr val="dk1"/>
                </a:solidFill>
                <a:latin typeface="Encode Sans"/>
                <a:ea typeface="Encode Sans"/>
                <a:cs typeface="Encode Sans"/>
                <a:sym typeface="Encode Sans"/>
              </a:defRPr>
            </a:lvl6pPr>
            <a:lvl7pPr marL="3200400" lvl="6" indent="-304800">
              <a:lnSpc>
                <a:spcPct val="100000"/>
              </a:lnSpc>
              <a:spcBef>
                <a:spcPts val="0"/>
              </a:spcBef>
              <a:spcAft>
                <a:spcPts val="0"/>
              </a:spcAft>
              <a:buClr>
                <a:schemeClr val="dk1"/>
              </a:buClr>
              <a:buSzPts val="1200"/>
              <a:buFont typeface="Encode Sans"/>
              <a:buChar char="●"/>
              <a:defRPr sz="1200">
                <a:solidFill>
                  <a:schemeClr val="dk1"/>
                </a:solidFill>
                <a:latin typeface="Encode Sans"/>
                <a:ea typeface="Encode Sans"/>
                <a:cs typeface="Encode Sans"/>
                <a:sym typeface="Encode Sans"/>
              </a:defRPr>
            </a:lvl7pPr>
            <a:lvl8pPr marL="3657600" lvl="7" indent="-304800">
              <a:lnSpc>
                <a:spcPct val="100000"/>
              </a:lnSpc>
              <a:spcBef>
                <a:spcPts val="0"/>
              </a:spcBef>
              <a:spcAft>
                <a:spcPts val="0"/>
              </a:spcAft>
              <a:buClr>
                <a:schemeClr val="dk1"/>
              </a:buClr>
              <a:buSzPts val="1200"/>
              <a:buFont typeface="Encode Sans"/>
              <a:buChar char="○"/>
              <a:defRPr sz="1200">
                <a:solidFill>
                  <a:schemeClr val="dk1"/>
                </a:solidFill>
                <a:latin typeface="Encode Sans"/>
                <a:ea typeface="Encode Sans"/>
                <a:cs typeface="Encode Sans"/>
                <a:sym typeface="Encode Sans"/>
              </a:defRPr>
            </a:lvl8pPr>
            <a:lvl9pPr marL="4114800" lvl="8" indent="-304800">
              <a:lnSpc>
                <a:spcPct val="100000"/>
              </a:lnSpc>
              <a:spcBef>
                <a:spcPts val="0"/>
              </a:spcBef>
              <a:spcAft>
                <a:spcPts val="0"/>
              </a:spcAft>
              <a:buClr>
                <a:schemeClr val="dk1"/>
              </a:buClr>
              <a:buSzPts val="1200"/>
              <a:buFont typeface="Encode Sans"/>
              <a:buChar char="■"/>
              <a:defRPr sz="1200">
                <a:solidFill>
                  <a:schemeClr val="dk1"/>
                </a:solidFill>
                <a:latin typeface="Encode Sans"/>
                <a:ea typeface="Encode Sans"/>
                <a:cs typeface="Encode Sans"/>
                <a:sym typeface="Encode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4" r:id="rId5"/>
    <p:sldLayoutId id="2147483655" r:id="rId6"/>
    <p:sldLayoutId id="2147483656" r:id="rId7"/>
    <p:sldLayoutId id="2147483657" r:id="rId8"/>
    <p:sldLayoutId id="2147483658" r:id="rId9"/>
    <p:sldLayoutId id="2147483659" r:id="rId10"/>
    <p:sldLayoutId id="2147483667" r:id="rId11"/>
    <p:sldLayoutId id="2147483670" r:id="rId12"/>
    <p:sldLayoutId id="214748367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9"/>
          <p:cNvSpPr txBox="1">
            <a:spLocks noGrp="1"/>
          </p:cNvSpPr>
          <p:nvPr>
            <p:ph type="ctrTitle"/>
          </p:nvPr>
        </p:nvSpPr>
        <p:spPr>
          <a:xfrm>
            <a:off x="546025" y="1021850"/>
            <a:ext cx="7334400" cy="257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600" b="1">
                <a:solidFill>
                  <a:schemeClr val="accent2">
                    <a:lumMod val="50000"/>
                  </a:schemeClr>
                </a:solidFill>
              </a:rPr>
              <a:t>QUẢN LÝ </a:t>
            </a:r>
            <a:r>
              <a:rPr lang="en" sz="7200" b="1">
                <a:solidFill>
                  <a:srgbClr val="FF0000"/>
                </a:solidFill>
              </a:rPr>
              <a:t>RỦI RO</a:t>
            </a:r>
            <a:br>
              <a:rPr lang="en" sz="3200"/>
            </a:br>
            <a:r>
              <a:rPr lang="en" sz="3200"/>
              <a:t>(Project Risk Management)</a:t>
            </a:r>
            <a:endParaRPr sz="3000"/>
          </a:p>
        </p:txBody>
      </p:sp>
      <p:sp>
        <p:nvSpPr>
          <p:cNvPr id="354" name="Google Shape;354;p29"/>
          <p:cNvSpPr txBox="1">
            <a:spLocks noGrp="1"/>
          </p:cNvSpPr>
          <p:nvPr>
            <p:ph type="subTitle" idx="1"/>
          </p:nvPr>
        </p:nvSpPr>
        <p:spPr>
          <a:xfrm>
            <a:off x="5481325" y="4152867"/>
            <a:ext cx="2399100" cy="41774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Trình bày: </a:t>
            </a:r>
            <a:r>
              <a:rPr lang="en-US" sz="1800" b="1"/>
              <a:t>Nhóm 3</a:t>
            </a:r>
            <a:endParaRPr b="1"/>
          </a:p>
        </p:txBody>
      </p:sp>
      <p:grpSp>
        <p:nvGrpSpPr>
          <p:cNvPr id="355" name="Google Shape;355;p29"/>
          <p:cNvGrpSpPr/>
          <p:nvPr/>
        </p:nvGrpSpPr>
        <p:grpSpPr>
          <a:xfrm>
            <a:off x="6793501" y="990633"/>
            <a:ext cx="2224840" cy="418725"/>
            <a:chOff x="7318351" y="2997150"/>
            <a:chExt cx="2224840" cy="418725"/>
          </a:xfrm>
        </p:grpSpPr>
        <p:sp>
          <p:nvSpPr>
            <p:cNvPr id="356" name="Google Shape;356;p29"/>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9"/>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9"/>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Thành viên nhóm</a:t>
            </a:r>
            <a:endParaRPr/>
          </a:p>
        </p:txBody>
      </p:sp>
      <p:grpSp>
        <p:nvGrpSpPr>
          <p:cNvPr id="369" name="Google Shape;369;p30"/>
          <p:cNvGrpSpPr/>
          <p:nvPr/>
        </p:nvGrpSpPr>
        <p:grpSpPr>
          <a:xfrm>
            <a:off x="-834325" y="4144333"/>
            <a:ext cx="2026050" cy="514500"/>
            <a:chOff x="-834325" y="4144333"/>
            <a:chExt cx="2026050" cy="514500"/>
          </a:xfrm>
        </p:grpSpPr>
        <p:sp>
          <p:nvSpPr>
            <p:cNvPr id="370" name="Google Shape;370;p30"/>
            <p:cNvSpPr/>
            <p:nvPr/>
          </p:nvSpPr>
          <p:spPr>
            <a:xfrm>
              <a:off x="-834325" y="4144333"/>
              <a:ext cx="1930800" cy="440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1" name="Google Shape;371;p30"/>
            <p:cNvSpPr/>
            <p:nvPr/>
          </p:nvSpPr>
          <p:spPr>
            <a:xfrm>
              <a:off x="-739075" y="4218433"/>
              <a:ext cx="1930800" cy="4404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5" name="Google Shape;377;p31">
            <a:extLst>
              <a:ext uri="{FF2B5EF4-FFF2-40B4-BE49-F238E27FC236}">
                <a16:creationId xmlns:a16="http://schemas.microsoft.com/office/drawing/2014/main" id="{EF15B121-6BCF-5DA6-743C-69F4C358A0BB}"/>
              </a:ext>
            </a:extLst>
          </p:cNvPr>
          <p:cNvSpPr/>
          <p:nvPr/>
        </p:nvSpPr>
        <p:spPr>
          <a:xfrm>
            <a:off x="6222177" y="1597178"/>
            <a:ext cx="1540500" cy="621600"/>
          </a:xfrm>
          <a:prstGeom prst="rect">
            <a:avLst/>
          </a:prstGeom>
          <a:solidFill>
            <a:schemeClr val="accent1">
              <a:lumMod val="75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 name="Google Shape;379;p31">
            <a:extLst>
              <a:ext uri="{FF2B5EF4-FFF2-40B4-BE49-F238E27FC236}">
                <a16:creationId xmlns:a16="http://schemas.microsoft.com/office/drawing/2014/main" id="{84B4001A-200F-586E-D725-F295B2B32912}"/>
              </a:ext>
            </a:extLst>
          </p:cNvPr>
          <p:cNvSpPr/>
          <p:nvPr/>
        </p:nvSpPr>
        <p:spPr>
          <a:xfrm>
            <a:off x="3465589" y="1584941"/>
            <a:ext cx="1540500" cy="621600"/>
          </a:xfrm>
          <a:prstGeom prst="rect">
            <a:avLst/>
          </a:prstGeom>
          <a:solidFill>
            <a:schemeClr val="accent2">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 name="Google Shape;380;p31">
            <a:extLst>
              <a:ext uri="{FF2B5EF4-FFF2-40B4-BE49-F238E27FC236}">
                <a16:creationId xmlns:a16="http://schemas.microsoft.com/office/drawing/2014/main" id="{66244F0B-ADD7-6D9E-B637-C9B74C1BDBC0}"/>
              </a:ext>
            </a:extLst>
          </p:cNvPr>
          <p:cNvSpPr/>
          <p:nvPr/>
        </p:nvSpPr>
        <p:spPr>
          <a:xfrm>
            <a:off x="1340336" y="3028828"/>
            <a:ext cx="1540500" cy="621600"/>
          </a:xfrm>
          <a:prstGeom prst="rect">
            <a:avLst/>
          </a:pr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 name="Google Shape;381;p31">
            <a:extLst>
              <a:ext uri="{FF2B5EF4-FFF2-40B4-BE49-F238E27FC236}">
                <a16:creationId xmlns:a16="http://schemas.microsoft.com/office/drawing/2014/main" id="{EF2AB67D-7F6C-24B3-AE4A-34B77A65FE95}"/>
              </a:ext>
            </a:extLst>
          </p:cNvPr>
          <p:cNvSpPr/>
          <p:nvPr/>
        </p:nvSpPr>
        <p:spPr>
          <a:xfrm>
            <a:off x="720000" y="1597178"/>
            <a:ext cx="1540500" cy="621600"/>
          </a:xfrm>
          <a:prstGeom prst="rect">
            <a:avLst/>
          </a:prstGeom>
          <a:solidFill>
            <a:schemeClr val="bg2">
              <a:lumMod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 name="Google Shape;383;p31">
            <a:extLst>
              <a:ext uri="{FF2B5EF4-FFF2-40B4-BE49-F238E27FC236}">
                <a16:creationId xmlns:a16="http://schemas.microsoft.com/office/drawing/2014/main" id="{CD1495DF-F406-E48E-4C71-F0AE03EFC611}"/>
              </a:ext>
            </a:extLst>
          </p:cNvPr>
          <p:cNvSpPr txBox="1">
            <a:spLocks/>
          </p:cNvSpPr>
          <p:nvPr/>
        </p:nvSpPr>
        <p:spPr>
          <a:xfrm>
            <a:off x="726775" y="1649303"/>
            <a:ext cx="1164900" cy="62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3000" b="1">
                <a:solidFill>
                  <a:schemeClr val="dk1"/>
                </a:solidFill>
                <a:latin typeface="Unbounded"/>
                <a:sym typeface="Unbounded"/>
              </a:rPr>
              <a:t>01</a:t>
            </a:r>
          </a:p>
        </p:txBody>
      </p:sp>
      <p:sp>
        <p:nvSpPr>
          <p:cNvPr id="10" name="Google Shape;384;p31">
            <a:extLst>
              <a:ext uri="{FF2B5EF4-FFF2-40B4-BE49-F238E27FC236}">
                <a16:creationId xmlns:a16="http://schemas.microsoft.com/office/drawing/2014/main" id="{95B61578-37C1-CDE7-BAEE-4FCD96933F76}"/>
              </a:ext>
            </a:extLst>
          </p:cNvPr>
          <p:cNvSpPr txBox="1">
            <a:spLocks/>
          </p:cNvSpPr>
          <p:nvPr/>
        </p:nvSpPr>
        <p:spPr>
          <a:xfrm>
            <a:off x="1347111" y="3080955"/>
            <a:ext cx="1164900" cy="62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3000" b="1">
                <a:solidFill>
                  <a:schemeClr val="dk1"/>
                </a:solidFill>
                <a:latin typeface="Unbounded"/>
              </a:rPr>
              <a:t>04</a:t>
            </a:r>
          </a:p>
        </p:txBody>
      </p:sp>
      <p:sp>
        <p:nvSpPr>
          <p:cNvPr id="11" name="Google Shape;385;p31">
            <a:extLst>
              <a:ext uri="{FF2B5EF4-FFF2-40B4-BE49-F238E27FC236}">
                <a16:creationId xmlns:a16="http://schemas.microsoft.com/office/drawing/2014/main" id="{EF13A78E-ABEC-9831-C20F-2391E5DA4539}"/>
              </a:ext>
            </a:extLst>
          </p:cNvPr>
          <p:cNvSpPr txBox="1">
            <a:spLocks/>
          </p:cNvSpPr>
          <p:nvPr/>
        </p:nvSpPr>
        <p:spPr>
          <a:xfrm>
            <a:off x="3463681" y="1640525"/>
            <a:ext cx="1164900" cy="62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3000" b="1">
                <a:solidFill>
                  <a:schemeClr val="dk1"/>
                </a:solidFill>
                <a:latin typeface="Unbounded"/>
              </a:rPr>
              <a:t>02</a:t>
            </a:r>
          </a:p>
        </p:txBody>
      </p:sp>
      <p:sp>
        <p:nvSpPr>
          <p:cNvPr id="12" name="Google Shape;387;p31">
            <a:extLst>
              <a:ext uri="{FF2B5EF4-FFF2-40B4-BE49-F238E27FC236}">
                <a16:creationId xmlns:a16="http://schemas.microsoft.com/office/drawing/2014/main" id="{5776036D-E455-2172-0274-F9C2125444C8}"/>
              </a:ext>
            </a:extLst>
          </p:cNvPr>
          <p:cNvSpPr txBox="1">
            <a:spLocks/>
          </p:cNvSpPr>
          <p:nvPr/>
        </p:nvSpPr>
        <p:spPr>
          <a:xfrm>
            <a:off x="6232744" y="1652762"/>
            <a:ext cx="1164900" cy="62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3000" b="1">
                <a:solidFill>
                  <a:schemeClr val="dk1"/>
                </a:solidFill>
                <a:latin typeface="Unbounded"/>
              </a:rPr>
              <a:t>03</a:t>
            </a:r>
          </a:p>
        </p:txBody>
      </p:sp>
      <p:sp>
        <p:nvSpPr>
          <p:cNvPr id="13" name="Google Shape;389;p31">
            <a:extLst>
              <a:ext uri="{FF2B5EF4-FFF2-40B4-BE49-F238E27FC236}">
                <a16:creationId xmlns:a16="http://schemas.microsoft.com/office/drawing/2014/main" id="{E74C135C-FF3A-2D35-0093-C8F3D520BD70}"/>
              </a:ext>
            </a:extLst>
          </p:cNvPr>
          <p:cNvSpPr txBox="1">
            <a:spLocks/>
          </p:cNvSpPr>
          <p:nvPr/>
        </p:nvSpPr>
        <p:spPr>
          <a:xfrm>
            <a:off x="726774" y="2270903"/>
            <a:ext cx="2484000" cy="4621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Encode Sans"/>
                <a:ea typeface="Encode Sans"/>
                <a:cs typeface="Encode Sans"/>
                <a:sym typeface="Encode Sans"/>
              </a:defRPr>
            </a:lvl1pPr>
            <a:lvl2pPr marL="914400" marR="0" lvl="1"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Encode Sans"/>
                <a:ea typeface="Encode Sans"/>
                <a:cs typeface="Encode Sans"/>
                <a:sym typeface="Encode Sans"/>
              </a:defRPr>
            </a:lvl2pPr>
            <a:lvl3pPr marL="1371600" marR="0" lvl="2"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Encode Sans"/>
                <a:ea typeface="Encode Sans"/>
                <a:cs typeface="Encode Sans"/>
                <a:sym typeface="Encode Sans"/>
              </a:defRPr>
            </a:lvl3pPr>
            <a:lvl4pPr marL="1828800" marR="0" lvl="3"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Encode Sans"/>
                <a:ea typeface="Encode Sans"/>
                <a:cs typeface="Encode Sans"/>
                <a:sym typeface="Encode Sans"/>
              </a:defRPr>
            </a:lvl4pPr>
            <a:lvl5pPr marL="2286000" marR="0" lvl="4"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Encode Sans"/>
                <a:ea typeface="Encode Sans"/>
                <a:cs typeface="Encode Sans"/>
                <a:sym typeface="Encode Sans"/>
              </a:defRPr>
            </a:lvl5pPr>
            <a:lvl6pPr marL="2743200" marR="0" lvl="5"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Encode Sans"/>
                <a:ea typeface="Encode Sans"/>
                <a:cs typeface="Encode Sans"/>
                <a:sym typeface="Encode Sans"/>
              </a:defRPr>
            </a:lvl6pPr>
            <a:lvl7pPr marL="3200400" marR="0" lvl="6"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Encode Sans"/>
                <a:ea typeface="Encode Sans"/>
                <a:cs typeface="Encode Sans"/>
                <a:sym typeface="Encode Sans"/>
              </a:defRPr>
            </a:lvl7pPr>
            <a:lvl8pPr marL="3657600" marR="0" lvl="7"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Encode Sans"/>
                <a:ea typeface="Encode Sans"/>
                <a:cs typeface="Encode Sans"/>
                <a:sym typeface="Encode Sans"/>
              </a:defRPr>
            </a:lvl8pPr>
            <a:lvl9pPr marL="4114800" marR="0" lvl="8"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Encode Sans"/>
                <a:ea typeface="Encode Sans"/>
                <a:cs typeface="Encode Sans"/>
                <a:sym typeface="Encode Sans"/>
              </a:defRPr>
            </a:lvl9pPr>
          </a:lstStyle>
          <a:p>
            <a:pPr marL="0" indent="0">
              <a:buSzPts val="2400"/>
              <a:buNone/>
            </a:pPr>
            <a:r>
              <a:rPr lang="en-US" sz="1800">
                <a:latin typeface="Unbounded"/>
                <a:sym typeface="Unbounded"/>
              </a:rPr>
              <a:t>Vũ Hoàng Quân</a:t>
            </a:r>
          </a:p>
        </p:txBody>
      </p:sp>
      <p:sp>
        <p:nvSpPr>
          <p:cNvPr id="14" name="Google Shape;390;p31">
            <a:extLst>
              <a:ext uri="{FF2B5EF4-FFF2-40B4-BE49-F238E27FC236}">
                <a16:creationId xmlns:a16="http://schemas.microsoft.com/office/drawing/2014/main" id="{20D25516-C136-B71B-08A8-9F0984C5AD79}"/>
              </a:ext>
            </a:extLst>
          </p:cNvPr>
          <p:cNvSpPr txBox="1">
            <a:spLocks/>
          </p:cNvSpPr>
          <p:nvPr/>
        </p:nvSpPr>
        <p:spPr>
          <a:xfrm>
            <a:off x="3463681" y="2260855"/>
            <a:ext cx="2469547" cy="47090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sym typeface="Encode Sans"/>
              </a:rPr>
              <a:t>Âu Xuân Hoa</a:t>
            </a:r>
          </a:p>
        </p:txBody>
      </p:sp>
      <p:sp>
        <p:nvSpPr>
          <p:cNvPr id="15" name="Google Shape;391;p31">
            <a:extLst>
              <a:ext uri="{FF2B5EF4-FFF2-40B4-BE49-F238E27FC236}">
                <a16:creationId xmlns:a16="http://schemas.microsoft.com/office/drawing/2014/main" id="{71942A49-F37A-BFEE-E7C1-C1ED7A6478C2}"/>
              </a:ext>
            </a:extLst>
          </p:cNvPr>
          <p:cNvSpPr txBox="1">
            <a:spLocks/>
          </p:cNvSpPr>
          <p:nvPr/>
        </p:nvSpPr>
        <p:spPr>
          <a:xfrm>
            <a:off x="6139071" y="2270903"/>
            <a:ext cx="2617814" cy="46212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rPr>
              <a:t>Đỗ Thanh Hòa</a:t>
            </a:r>
          </a:p>
        </p:txBody>
      </p:sp>
      <p:sp>
        <p:nvSpPr>
          <p:cNvPr id="16" name="Google Shape;392;p31">
            <a:extLst>
              <a:ext uri="{FF2B5EF4-FFF2-40B4-BE49-F238E27FC236}">
                <a16:creationId xmlns:a16="http://schemas.microsoft.com/office/drawing/2014/main" id="{1248675E-CC1E-97EE-BC97-F9B6E22457DF}"/>
              </a:ext>
            </a:extLst>
          </p:cNvPr>
          <p:cNvSpPr txBox="1">
            <a:spLocks/>
          </p:cNvSpPr>
          <p:nvPr/>
        </p:nvSpPr>
        <p:spPr>
          <a:xfrm>
            <a:off x="1340336" y="3761596"/>
            <a:ext cx="3062060" cy="46212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rPr>
              <a:t>Nguyễn Việt Dũng</a:t>
            </a:r>
          </a:p>
        </p:txBody>
      </p:sp>
      <p:sp>
        <p:nvSpPr>
          <p:cNvPr id="18" name="Google Shape;380;p31">
            <a:extLst>
              <a:ext uri="{FF2B5EF4-FFF2-40B4-BE49-F238E27FC236}">
                <a16:creationId xmlns:a16="http://schemas.microsoft.com/office/drawing/2014/main" id="{2AAC2B8A-8F33-1519-1DFE-6DBD8FA32E08}"/>
              </a:ext>
            </a:extLst>
          </p:cNvPr>
          <p:cNvSpPr/>
          <p:nvPr/>
        </p:nvSpPr>
        <p:spPr>
          <a:xfrm>
            <a:off x="4584727" y="3014854"/>
            <a:ext cx="1540500" cy="62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 name="Google Shape;384;p31">
            <a:extLst>
              <a:ext uri="{FF2B5EF4-FFF2-40B4-BE49-F238E27FC236}">
                <a16:creationId xmlns:a16="http://schemas.microsoft.com/office/drawing/2014/main" id="{56F3554F-3467-3997-EB9A-623342435DF7}"/>
              </a:ext>
            </a:extLst>
          </p:cNvPr>
          <p:cNvSpPr txBox="1">
            <a:spLocks/>
          </p:cNvSpPr>
          <p:nvPr/>
        </p:nvSpPr>
        <p:spPr>
          <a:xfrm>
            <a:off x="4591502" y="3066981"/>
            <a:ext cx="1164900" cy="62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3000" b="1">
                <a:solidFill>
                  <a:schemeClr val="dk1"/>
                </a:solidFill>
                <a:latin typeface="Unbounded"/>
              </a:rPr>
              <a:t>05</a:t>
            </a:r>
          </a:p>
        </p:txBody>
      </p:sp>
      <p:sp>
        <p:nvSpPr>
          <p:cNvPr id="20" name="Google Shape;392;p31">
            <a:extLst>
              <a:ext uri="{FF2B5EF4-FFF2-40B4-BE49-F238E27FC236}">
                <a16:creationId xmlns:a16="http://schemas.microsoft.com/office/drawing/2014/main" id="{99AC4B4A-32E1-2FB7-A06C-E0C1E347870D}"/>
              </a:ext>
            </a:extLst>
          </p:cNvPr>
          <p:cNvSpPr txBox="1">
            <a:spLocks/>
          </p:cNvSpPr>
          <p:nvPr/>
        </p:nvSpPr>
        <p:spPr>
          <a:xfrm>
            <a:off x="4572000" y="3740708"/>
            <a:ext cx="3757995" cy="46212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rPr>
              <a:t>Nguyễn Huỳnh Quốc Tuấn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7" name="Google Shape;377;p31"/>
          <p:cNvSpPr/>
          <p:nvPr/>
        </p:nvSpPr>
        <p:spPr>
          <a:xfrm>
            <a:off x="1799077" y="3032879"/>
            <a:ext cx="1540500" cy="62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9" name="Google Shape;379;p31"/>
          <p:cNvSpPr/>
          <p:nvPr/>
        </p:nvSpPr>
        <p:spPr>
          <a:xfrm>
            <a:off x="3691832" y="1542085"/>
            <a:ext cx="1540500" cy="621600"/>
          </a:xfrm>
          <a:prstGeom prst="rect">
            <a:avLst/>
          </a:prstGeom>
          <a:solidFill>
            <a:schemeClr val="bg2">
              <a:lumMod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0" name="Google Shape;380;p31"/>
          <p:cNvSpPr/>
          <p:nvPr/>
        </p:nvSpPr>
        <p:spPr>
          <a:xfrm>
            <a:off x="5055140" y="3036336"/>
            <a:ext cx="1540500" cy="621600"/>
          </a:xfrm>
          <a:prstGeom prst="rect">
            <a:avLst/>
          </a:pr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1" name="Google Shape;381;p31"/>
          <p:cNvSpPr/>
          <p:nvPr/>
        </p:nvSpPr>
        <p:spPr>
          <a:xfrm>
            <a:off x="720000" y="1573254"/>
            <a:ext cx="1540500" cy="621600"/>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2" name="Google Shape;382;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Nội dung trình bày</a:t>
            </a:r>
            <a:endParaRPr/>
          </a:p>
        </p:txBody>
      </p:sp>
      <p:sp>
        <p:nvSpPr>
          <p:cNvPr id="383" name="Google Shape;383;p31"/>
          <p:cNvSpPr txBox="1">
            <a:spLocks noGrp="1"/>
          </p:cNvSpPr>
          <p:nvPr>
            <p:ph type="title" idx="2"/>
          </p:nvPr>
        </p:nvSpPr>
        <p:spPr>
          <a:xfrm>
            <a:off x="726775" y="1625379"/>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384" name="Google Shape;384;p31"/>
          <p:cNvSpPr txBox="1">
            <a:spLocks noGrp="1"/>
          </p:cNvSpPr>
          <p:nvPr>
            <p:ph type="title" idx="3"/>
          </p:nvPr>
        </p:nvSpPr>
        <p:spPr>
          <a:xfrm>
            <a:off x="5061915" y="3088463"/>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385" name="Google Shape;385;p31"/>
          <p:cNvSpPr txBox="1">
            <a:spLocks noGrp="1"/>
          </p:cNvSpPr>
          <p:nvPr>
            <p:ph type="title" idx="4"/>
          </p:nvPr>
        </p:nvSpPr>
        <p:spPr>
          <a:xfrm>
            <a:off x="3689924" y="1597669"/>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387" name="Google Shape;387;p31"/>
          <p:cNvSpPr txBox="1">
            <a:spLocks noGrp="1"/>
          </p:cNvSpPr>
          <p:nvPr>
            <p:ph type="title" idx="6"/>
          </p:nvPr>
        </p:nvSpPr>
        <p:spPr>
          <a:xfrm>
            <a:off x="1809644" y="3088463"/>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389" name="Google Shape;389;p31"/>
          <p:cNvSpPr txBox="1">
            <a:spLocks noGrp="1"/>
          </p:cNvSpPr>
          <p:nvPr>
            <p:ph type="subTitle" idx="1"/>
          </p:nvPr>
        </p:nvSpPr>
        <p:spPr>
          <a:xfrm>
            <a:off x="726775" y="2225429"/>
            <a:ext cx="2484000" cy="46212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Giới thiệu chung</a:t>
            </a:r>
            <a:endParaRPr/>
          </a:p>
        </p:txBody>
      </p:sp>
      <p:sp>
        <p:nvSpPr>
          <p:cNvPr id="390" name="Google Shape;390;p31"/>
          <p:cNvSpPr txBox="1">
            <a:spLocks noGrp="1"/>
          </p:cNvSpPr>
          <p:nvPr>
            <p:ph type="subTitle" idx="8"/>
          </p:nvPr>
        </p:nvSpPr>
        <p:spPr>
          <a:xfrm>
            <a:off x="3689923" y="2197719"/>
            <a:ext cx="3334203" cy="4709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Quy trình quản lý rủi ro </a:t>
            </a:r>
            <a:endParaRPr/>
          </a:p>
        </p:txBody>
      </p:sp>
      <p:sp>
        <p:nvSpPr>
          <p:cNvPr id="391" name="Google Shape;391;p31"/>
          <p:cNvSpPr txBox="1">
            <a:spLocks noGrp="1"/>
          </p:cNvSpPr>
          <p:nvPr>
            <p:ph type="subTitle" idx="9"/>
          </p:nvPr>
        </p:nvSpPr>
        <p:spPr>
          <a:xfrm>
            <a:off x="1788078" y="3765647"/>
            <a:ext cx="2617814" cy="46212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Tổng kết nội dung</a:t>
            </a:r>
            <a:endParaRPr/>
          </a:p>
        </p:txBody>
      </p:sp>
      <p:sp>
        <p:nvSpPr>
          <p:cNvPr id="392" name="Google Shape;392;p31"/>
          <p:cNvSpPr txBox="1">
            <a:spLocks noGrp="1"/>
          </p:cNvSpPr>
          <p:nvPr>
            <p:ph type="subTitle" idx="13"/>
          </p:nvPr>
        </p:nvSpPr>
        <p:spPr>
          <a:xfrm>
            <a:off x="5055140" y="3769104"/>
            <a:ext cx="3062060" cy="46212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Câu hỏi trắc nghiệm</a:t>
            </a:r>
            <a:endParaRPr/>
          </a:p>
        </p:txBody>
      </p:sp>
      <p:grpSp>
        <p:nvGrpSpPr>
          <p:cNvPr id="395" name="Google Shape;395;p31"/>
          <p:cNvGrpSpPr/>
          <p:nvPr/>
        </p:nvGrpSpPr>
        <p:grpSpPr>
          <a:xfrm>
            <a:off x="7691928" y="206142"/>
            <a:ext cx="2224840" cy="418725"/>
            <a:chOff x="7318351" y="2997150"/>
            <a:chExt cx="2224840" cy="418725"/>
          </a:xfrm>
        </p:grpSpPr>
        <p:sp>
          <p:nvSpPr>
            <p:cNvPr id="396" name="Google Shape;396;p31"/>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3"/>
          <p:cNvSpPr txBox="1">
            <a:spLocks noGrp="1"/>
          </p:cNvSpPr>
          <p:nvPr>
            <p:ph type="title"/>
          </p:nvPr>
        </p:nvSpPr>
        <p:spPr>
          <a:xfrm>
            <a:off x="2380175" y="1843150"/>
            <a:ext cx="4719435" cy="15149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Giới thiệu chung về</a:t>
            </a:r>
            <a:r>
              <a:rPr lang="en" b="1"/>
              <a:t> </a:t>
            </a:r>
            <a:r>
              <a:rPr lang="en" sz="4400" b="1">
                <a:solidFill>
                  <a:schemeClr val="accent2">
                    <a:lumMod val="50000"/>
                  </a:schemeClr>
                </a:solidFill>
              </a:rPr>
              <a:t>quản lý rủi ro</a:t>
            </a:r>
            <a:endParaRPr b="1">
              <a:solidFill>
                <a:schemeClr val="accent2">
                  <a:lumMod val="50000"/>
                </a:schemeClr>
              </a:solidFill>
            </a:endParaRPr>
          </a:p>
        </p:txBody>
      </p:sp>
      <p:sp>
        <p:nvSpPr>
          <p:cNvPr id="411" name="Google Shape;411;p33"/>
          <p:cNvSpPr txBox="1">
            <a:spLocks noGrp="1"/>
          </p:cNvSpPr>
          <p:nvPr>
            <p:ph type="title" idx="2"/>
          </p:nvPr>
        </p:nvSpPr>
        <p:spPr>
          <a:xfrm>
            <a:off x="905675" y="2061450"/>
            <a:ext cx="1474500" cy="102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grpSp>
        <p:nvGrpSpPr>
          <p:cNvPr id="412" name="Google Shape;412;p33"/>
          <p:cNvGrpSpPr/>
          <p:nvPr/>
        </p:nvGrpSpPr>
        <p:grpSpPr>
          <a:xfrm>
            <a:off x="713226" y="1029883"/>
            <a:ext cx="2224840" cy="418725"/>
            <a:chOff x="7318351" y="2997150"/>
            <a:chExt cx="2224840" cy="418725"/>
          </a:xfrm>
        </p:grpSpPr>
        <p:sp>
          <p:nvSpPr>
            <p:cNvPr id="413" name="Google Shape;413;p33"/>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 name="Google Shape;416;p33"/>
          <p:cNvGrpSpPr/>
          <p:nvPr/>
        </p:nvGrpSpPr>
        <p:grpSpPr>
          <a:xfrm>
            <a:off x="905675" y="3962558"/>
            <a:ext cx="2026050" cy="514500"/>
            <a:chOff x="-834325" y="4144333"/>
            <a:chExt cx="2026050" cy="514500"/>
          </a:xfrm>
        </p:grpSpPr>
        <p:sp>
          <p:nvSpPr>
            <p:cNvPr id="417" name="Google Shape;417;p33"/>
            <p:cNvSpPr/>
            <p:nvPr/>
          </p:nvSpPr>
          <p:spPr>
            <a:xfrm>
              <a:off x="-834325" y="4144333"/>
              <a:ext cx="1930800" cy="440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8" name="Google Shape;418;p33"/>
            <p:cNvSpPr/>
            <p:nvPr/>
          </p:nvSpPr>
          <p:spPr>
            <a:xfrm>
              <a:off x="-739075" y="4218433"/>
              <a:ext cx="1930800" cy="4404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419" name="Google Shape;419;p33"/>
          <p:cNvSpPr/>
          <p:nvPr/>
        </p:nvSpPr>
        <p:spPr>
          <a:xfrm rot="5400000">
            <a:off x="7358575" y="1030875"/>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0" name="Google Shape;420;p33"/>
          <p:cNvSpPr/>
          <p:nvPr/>
        </p:nvSpPr>
        <p:spPr>
          <a:xfrm>
            <a:off x="3094400" y="693033"/>
            <a:ext cx="156900" cy="156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421" name="Google Shape;421;p33"/>
          <p:cNvCxnSpPr/>
          <p:nvPr/>
        </p:nvCxnSpPr>
        <p:spPr>
          <a:xfrm rot="10800000">
            <a:off x="-179050" y="3432175"/>
            <a:ext cx="6953400" cy="0"/>
          </a:xfrm>
          <a:prstGeom prst="straightConnector1">
            <a:avLst/>
          </a:prstGeom>
          <a:noFill/>
          <a:ln w="19050" cap="flat" cmpd="sng">
            <a:solidFill>
              <a:schemeClr val="lt2"/>
            </a:solidFill>
            <a:prstDash val="solid"/>
            <a:round/>
            <a:headEnd type="diamond"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6">
          <a:extLst>
            <a:ext uri="{FF2B5EF4-FFF2-40B4-BE49-F238E27FC236}">
              <a16:creationId xmlns:a16="http://schemas.microsoft.com/office/drawing/2014/main" id="{BA6AE827-32E2-CF72-1170-DE661A577C8E}"/>
            </a:ext>
          </a:extLst>
        </p:cNvPr>
        <p:cNvGrpSpPr/>
        <p:nvPr/>
      </p:nvGrpSpPr>
      <p:grpSpPr>
        <a:xfrm>
          <a:off x="0" y="0"/>
          <a:ext cx="0" cy="0"/>
          <a:chOff x="0" y="0"/>
          <a:chExt cx="0" cy="0"/>
        </a:xfrm>
      </p:grpSpPr>
      <p:sp>
        <p:nvSpPr>
          <p:cNvPr id="517" name="Google Shape;517;p39">
            <a:extLst>
              <a:ext uri="{FF2B5EF4-FFF2-40B4-BE49-F238E27FC236}">
                <a16:creationId xmlns:a16="http://schemas.microsoft.com/office/drawing/2014/main" id="{BD4A19B7-5A94-58AC-C4AD-0B8056E45DB1}"/>
              </a:ext>
            </a:extLst>
          </p:cNvPr>
          <p:cNvSpPr txBox="1">
            <a:spLocks noGrp="1"/>
          </p:cNvSpPr>
          <p:nvPr>
            <p:ph type="title"/>
          </p:nvPr>
        </p:nvSpPr>
        <p:spPr>
          <a:xfrm>
            <a:off x="748950" y="1678975"/>
            <a:ext cx="5555206" cy="115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b="1">
                <a:solidFill>
                  <a:schemeClr val="tx2">
                    <a:lumMod val="75000"/>
                  </a:schemeClr>
                </a:solidFill>
              </a:rPr>
              <a:t>Rủi ro </a:t>
            </a:r>
            <a:r>
              <a:rPr lang="en-US"/>
              <a:t>là gì?</a:t>
            </a:r>
            <a:endParaRPr/>
          </a:p>
        </p:txBody>
      </p:sp>
      <p:grpSp>
        <p:nvGrpSpPr>
          <p:cNvPr id="519" name="Google Shape;519;p39">
            <a:extLst>
              <a:ext uri="{FF2B5EF4-FFF2-40B4-BE49-F238E27FC236}">
                <a16:creationId xmlns:a16="http://schemas.microsoft.com/office/drawing/2014/main" id="{ADFBC4BC-48F2-05E8-F8F3-AFB8B341F267}"/>
              </a:ext>
            </a:extLst>
          </p:cNvPr>
          <p:cNvGrpSpPr/>
          <p:nvPr/>
        </p:nvGrpSpPr>
        <p:grpSpPr>
          <a:xfrm>
            <a:off x="6579501" y="2362396"/>
            <a:ext cx="2224840" cy="418725"/>
            <a:chOff x="7318351" y="2997150"/>
            <a:chExt cx="2224840" cy="418725"/>
          </a:xfrm>
        </p:grpSpPr>
        <p:sp>
          <p:nvSpPr>
            <p:cNvPr id="520" name="Google Shape;520;p39">
              <a:extLst>
                <a:ext uri="{FF2B5EF4-FFF2-40B4-BE49-F238E27FC236}">
                  <a16:creationId xmlns:a16="http://schemas.microsoft.com/office/drawing/2014/main" id="{9132FF53-4A0E-52EF-FFA6-2A296A70FDF1}"/>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a:extLst>
                <a:ext uri="{FF2B5EF4-FFF2-40B4-BE49-F238E27FC236}">
                  <a16:creationId xmlns:a16="http://schemas.microsoft.com/office/drawing/2014/main" id="{B577A7B3-102C-9471-DAA0-CB33EF32D2FC}"/>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a:extLst>
                <a:ext uri="{FF2B5EF4-FFF2-40B4-BE49-F238E27FC236}">
                  <a16:creationId xmlns:a16="http://schemas.microsoft.com/office/drawing/2014/main" id="{A50116DF-1BEF-27EB-A51F-18B602FAE1B6}"/>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75581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CC31A86A-ECB7-6762-889C-1D518CEA54D7}"/>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CA82B137-B9E4-07D7-1312-031FBCFB6B61}"/>
              </a:ext>
            </a:extLst>
          </p:cNvPr>
          <p:cNvSpPr txBox="1">
            <a:spLocks noGrp="1"/>
          </p:cNvSpPr>
          <p:nvPr>
            <p:ph type="title"/>
          </p:nvPr>
        </p:nvSpPr>
        <p:spPr>
          <a:xfrm>
            <a:off x="474565" y="34314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Khái niệm về rủi ro</a:t>
            </a:r>
            <a:endParaRPr b="1"/>
          </a:p>
        </p:txBody>
      </p:sp>
      <p:sp>
        <p:nvSpPr>
          <p:cNvPr id="429" name="Google Shape;429;p34">
            <a:extLst>
              <a:ext uri="{FF2B5EF4-FFF2-40B4-BE49-F238E27FC236}">
                <a16:creationId xmlns:a16="http://schemas.microsoft.com/office/drawing/2014/main" id="{ACE4D847-3DF9-6ACE-A850-40EF7E9690A0}"/>
              </a:ext>
            </a:extLst>
          </p:cNvPr>
          <p:cNvSpPr txBox="1">
            <a:spLocks noGrp="1"/>
          </p:cNvSpPr>
          <p:nvPr>
            <p:ph type="subTitle" idx="2"/>
          </p:nvPr>
        </p:nvSpPr>
        <p:spPr>
          <a:xfrm>
            <a:off x="358217" y="1010995"/>
            <a:ext cx="7936695" cy="1883034"/>
          </a:xfrm>
          <a:prstGeom prst="rect">
            <a:avLst/>
          </a:prstGeom>
        </p:spPr>
        <p:txBody>
          <a:bodyPr spcFirstLastPara="1" wrap="square" lIns="91425" tIns="91425" rIns="91425" bIns="91425" anchor="t" anchorCtr="0">
            <a:noAutofit/>
          </a:bodyPr>
          <a:lstStyle/>
          <a:p>
            <a:pPr marL="285750" lvl="0" indent="-285750" algn="just" rtl="0">
              <a:lnSpc>
                <a:spcPct val="120000"/>
              </a:lnSpc>
              <a:spcBef>
                <a:spcPts val="0"/>
              </a:spcBef>
              <a:spcAft>
                <a:spcPts val="1200"/>
              </a:spcAft>
              <a:buSzPct val="75000"/>
              <a:buFont typeface="Wingdings" panose="05000000000000000000" pitchFamily="2" charset="2"/>
              <a:buChar char="Ø"/>
            </a:pPr>
            <a:r>
              <a:rPr lang="en-US" sz="1800"/>
              <a:t>Trong bối cảnh phần mềm, rủi ro được định nghĩa </a:t>
            </a:r>
            <a:r>
              <a:rPr lang="en-US" sz="1800" b="1">
                <a:solidFill>
                  <a:schemeClr val="accent2">
                    <a:lumMod val="50000"/>
                  </a:schemeClr>
                </a:solidFill>
                <a:highlight>
                  <a:srgbClr val="FFFF00"/>
                </a:highlight>
              </a:rPr>
              <a:t>là khả năng xảy ra sự kiện không mong muốn</a:t>
            </a:r>
            <a:r>
              <a:rPr lang="en-US" sz="1800">
                <a:solidFill>
                  <a:schemeClr val="accent2">
                    <a:lumMod val="50000"/>
                  </a:schemeClr>
                </a:solidFill>
                <a:highlight>
                  <a:srgbClr val="FFFF00"/>
                </a:highlight>
              </a:rPr>
              <a:t> </a:t>
            </a:r>
            <a:r>
              <a:rPr lang="en-US" sz="1800">
                <a:highlight>
                  <a:srgbClr val="FFFF00"/>
                </a:highlight>
              </a:rPr>
              <a:t>có thể gây tác động tiêu cực đển việc đạt được các mục tiêu của dự án.</a:t>
            </a:r>
          </a:p>
          <a:p>
            <a:pPr marL="285750" lvl="0" indent="-285750" algn="just" rtl="0">
              <a:lnSpc>
                <a:spcPct val="120000"/>
              </a:lnSpc>
              <a:spcBef>
                <a:spcPts val="0"/>
              </a:spcBef>
              <a:spcAft>
                <a:spcPts val="600"/>
              </a:spcAft>
              <a:buSzPct val="75000"/>
              <a:buFont typeface="Wingdings" panose="05000000000000000000" pitchFamily="2" charset="2"/>
              <a:buChar char="Ø"/>
            </a:pPr>
            <a:r>
              <a:rPr lang="en-US" sz="1800"/>
              <a:t>Rủi ro bao gồm 2 thành phần chính:</a:t>
            </a:r>
          </a:p>
        </p:txBody>
      </p:sp>
      <p:grpSp>
        <p:nvGrpSpPr>
          <p:cNvPr id="433" name="Google Shape;433;p34">
            <a:extLst>
              <a:ext uri="{FF2B5EF4-FFF2-40B4-BE49-F238E27FC236}">
                <a16:creationId xmlns:a16="http://schemas.microsoft.com/office/drawing/2014/main" id="{5B23890C-7CE0-C6BC-B7B1-D4FB8D0F2C71}"/>
              </a:ext>
            </a:extLst>
          </p:cNvPr>
          <p:cNvGrpSpPr/>
          <p:nvPr/>
        </p:nvGrpSpPr>
        <p:grpSpPr>
          <a:xfrm>
            <a:off x="7923962" y="2153025"/>
            <a:ext cx="2224840" cy="418725"/>
            <a:chOff x="7318351" y="2997150"/>
            <a:chExt cx="2224840" cy="418725"/>
          </a:xfrm>
        </p:grpSpPr>
        <p:sp>
          <p:nvSpPr>
            <p:cNvPr id="434" name="Google Shape;434;p34">
              <a:extLst>
                <a:ext uri="{FF2B5EF4-FFF2-40B4-BE49-F238E27FC236}">
                  <a16:creationId xmlns:a16="http://schemas.microsoft.com/office/drawing/2014/main" id="{CDAB3373-5110-AA6E-0F4A-AA9C9F1CC52E}"/>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9323D519-3E99-7EF6-DE25-31423F7DCA36}"/>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56811348-349D-4109-CEFE-7489DEECA50D}"/>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426;p34">
            <a:extLst>
              <a:ext uri="{FF2B5EF4-FFF2-40B4-BE49-F238E27FC236}">
                <a16:creationId xmlns:a16="http://schemas.microsoft.com/office/drawing/2014/main" id="{92E9336B-9F80-7F36-97A5-980A76923E28}"/>
              </a:ext>
            </a:extLst>
          </p:cNvPr>
          <p:cNvSpPr txBox="1">
            <a:spLocks/>
          </p:cNvSpPr>
          <p:nvPr/>
        </p:nvSpPr>
        <p:spPr>
          <a:xfrm>
            <a:off x="4741765" y="2726360"/>
            <a:ext cx="3436800" cy="75374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Unbounded"/>
                <a:ea typeface="Unbounded"/>
                <a:cs typeface="Unbounded"/>
                <a:sym typeface="Unbounde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US" sz="2000" b="1"/>
              <a:t>Tác động </a:t>
            </a:r>
            <a:br>
              <a:rPr lang="en-US" sz="2000" b="1"/>
            </a:br>
            <a:r>
              <a:rPr lang="en-US" sz="2000" b="1"/>
              <a:t>(Impact)</a:t>
            </a:r>
            <a:endParaRPr lang="en-US" sz="2000"/>
          </a:p>
        </p:txBody>
      </p:sp>
      <p:sp>
        <p:nvSpPr>
          <p:cNvPr id="17" name="Google Shape;428;p34">
            <a:extLst>
              <a:ext uri="{FF2B5EF4-FFF2-40B4-BE49-F238E27FC236}">
                <a16:creationId xmlns:a16="http://schemas.microsoft.com/office/drawing/2014/main" id="{83F46CA6-C8AA-F34B-C72B-071650E0936C}"/>
              </a:ext>
            </a:extLst>
          </p:cNvPr>
          <p:cNvSpPr txBox="1">
            <a:spLocks noGrp="1"/>
          </p:cNvSpPr>
          <p:nvPr>
            <p:ph type="subTitle" idx="1"/>
          </p:nvPr>
        </p:nvSpPr>
        <p:spPr>
          <a:xfrm>
            <a:off x="4741765" y="3480504"/>
            <a:ext cx="3436800" cy="1121400"/>
          </a:xfrm>
          <a:prstGeom prst="rect">
            <a:avLst/>
          </a:prstGeom>
        </p:spPr>
        <p:txBody>
          <a:bodyPr spcFirstLastPara="1" wrap="square" lIns="91425" tIns="91425" rIns="91425" bIns="91425" anchor="t" anchorCtr="0">
            <a:noAutofit/>
          </a:bodyPr>
          <a:lstStyle/>
          <a:p>
            <a:pPr marL="0" lvl="0" indent="0" algn="just"/>
            <a:r>
              <a:rPr lang="vi-VN" sz="1600"/>
              <a:t>Mức độ nghiêm trọng của hậu quả khi rủi ro xảy ra, có thể ảnh hưởng đến thời gian, chi phí, chất lượng hoặc phạm vi dự án.</a:t>
            </a:r>
            <a:endParaRPr sz="1600"/>
          </a:p>
        </p:txBody>
      </p:sp>
      <p:sp>
        <p:nvSpPr>
          <p:cNvPr id="18" name="Google Shape;429;p34">
            <a:extLst>
              <a:ext uri="{FF2B5EF4-FFF2-40B4-BE49-F238E27FC236}">
                <a16:creationId xmlns:a16="http://schemas.microsoft.com/office/drawing/2014/main" id="{56EC5FAD-5B78-C7CE-ECAF-DC18B5622109}"/>
              </a:ext>
            </a:extLst>
          </p:cNvPr>
          <p:cNvSpPr txBox="1">
            <a:spLocks/>
          </p:cNvSpPr>
          <p:nvPr/>
        </p:nvSpPr>
        <p:spPr>
          <a:xfrm>
            <a:off x="602689" y="3480101"/>
            <a:ext cx="3681273" cy="112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0" indent="0" algn="just"/>
            <a:r>
              <a:rPr lang="vi-VN" sz="1600"/>
              <a:t>Mức độ có thể xảy ra của sự kiện rủi ro, thường được biểu thị bằng phần trăm hoặc thang điểm từ thấp đến cao.</a:t>
            </a:r>
            <a:endParaRPr lang="en-US" sz="1600"/>
          </a:p>
        </p:txBody>
      </p:sp>
      <p:sp>
        <p:nvSpPr>
          <p:cNvPr id="19" name="Google Shape;430;p34">
            <a:extLst>
              <a:ext uri="{FF2B5EF4-FFF2-40B4-BE49-F238E27FC236}">
                <a16:creationId xmlns:a16="http://schemas.microsoft.com/office/drawing/2014/main" id="{C3E7A864-9A68-2C3B-DD15-36F26B382171}"/>
              </a:ext>
            </a:extLst>
          </p:cNvPr>
          <p:cNvSpPr txBox="1">
            <a:spLocks noGrp="1"/>
          </p:cNvSpPr>
          <p:nvPr>
            <p:ph type="subTitle" idx="3"/>
          </p:nvPr>
        </p:nvSpPr>
        <p:spPr>
          <a:xfrm>
            <a:off x="602690" y="2726359"/>
            <a:ext cx="3681272" cy="753741"/>
          </a:xfrm>
          <a:prstGeom prst="rect">
            <a:avLst/>
          </a:prstGeom>
        </p:spPr>
        <p:txBody>
          <a:bodyPr spcFirstLastPara="1" wrap="square" lIns="91425" tIns="91425" rIns="91425" bIns="91425" anchor="b" anchorCtr="0">
            <a:noAutofit/>
          </a:bodyPr>
          <a:lstStyle/>
          <a:p>
            <a:pPr marL="0" lvl="0" indent="0" algn="ctr"/>
            <a:r>
              <a:rPr lang="en-US" sz="2000" b="1"/>
              <a:t>Xác suất </a:t>
            </a:r>
            <a:br>
              <a:rPr lang="en-US" sz="2000" b="1"/>
            </a:br>
            <a:r>
              <a:rPr lang="en-US" sz="2000" b="1"/>
              <a:t>(Probability)</a:t>
            </a:r>
            <a:endParaRPr sz="2000"/>
          </a:p>
        </p:txBody>
      </p:sp>
    </p:spTree>
    <p:extLst>
      <p:ext uri="{BB962C8B-B14F-4D97-AF65-F5344CB8AC3E}">
        <p14:creationId xmlns:p14="http://schemas.microsoft.com/office/powerpoint/2010/main" val="2403583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3FF16E2D-BDBD-EBC2-D759-97E5965DA8B4}"/>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A618DE16-203C-63F7-36BF-6D6FDF00C9A1}"/>
              </a:ext>
            </a:extLst>
          </p:cNvPr>
          <p:cNvSpPr txBox="1">
            <a:spLocks noGrp="1"/>
          </p:cNvSpPr>
          <p:nvPr>
            <p:ph type="title"/>
          </p:nvPr>
        </p:nvSpPr>
        <p:spPr>
          <a:xfrm>
            <a:off x="474565" y="46770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Khái niệm về rủi ro</a:t>
            </a:r>
            <a:endParaRPr b="1"/>
          </a:p>
        </p:txBody>
      </p:sp>
      <p:sp>
        <p:nvSpPr>
          <p:cNvPr id="429" name="Google Shape;429;p34">
            <a:extLst>
              <a:ext uri="{FF2B5EF4-FFF2-40B4-BE49-F238E27FC236}">
                <a16:creationId xmlns:a16="http://schemas.microsoft.com/office/drawing/2014/main" id="{F6A3B6D3-6054-601F-6468-B64EE6A11727}"/>
              </a:ext>
            </a:extLst>
          </p:cNvPr>
          <p:cNvSpPr txBox="1">
            <a:spLocks noGrp="1"/>
          </p:cNvSpPr>
          <p:nvPr>
            <p:ph type="subTitle" idx="2"/>
          </p:nvPr>
        </p:nvSpPr>
        <p:spPr>
          <a:xfrm>
            <a:off x="474565" y="1492792"/>
            <a:ext cx="7820348" cy="572701"/>
          </a:xfrm>
          <a:prstGeom prst="rect">
            <a:avLst/>
          </a:prstGeom>
        </p:spPr>
        <p:txBody>
          <a:bodyPr spcFirstLastPara="1" wrap="square" lIns="91425" tIns="91425" rIns="91425" bIns="91425" anchor="t" anchorCtr="0">
            <a:noAutofit/>
          </a:bodyPr>
          <a:lstStyle/>
          <a:p>
            <a:pPr marL="285750" lvl="0" indent="-285750" algn="just">
              <a:lnSpc>
                <a:spcPct val="120000"/>
              </a:lnSpc>
              <a:spcAft>
                <a:spcPts val="1200"/>
              </a:spcAft>
              <a:buSzPct val="75000"/>
              <a:buFont typeface="Wingdings" panose="05000000000000000000" pitchFamily="2" charset="2"/>
              <a:buChar char="Ø"/>
            </a:pPr>
            <a:r>
              <a:rPr lang="en-US" sz="2000"/>
              <a:t>Phân biệt </a:t>
            </a:r>
            <a:r>
              <a:rPr lang="en-US" sz="2000" b="1"/>
              <a:t>rủi ro (risk) </a:t>
            </a:r>
            <a:r>
              <a:rPr lang="en-US" sz="2000"/>
              <a:t>và </a:t>
            </a:r>
            <a:r>
              <a:rPr lang="en-US" sz="2000" b="1"/>
              <a:t>vấn đề (issue):</a:t>
            </a:r>
          </a:p>
        </p:txBody>
      </p:sp>
      <p:grpSp>
        <p:nvGrpSpPr>
          <p:cNvPr id="433" name="Google Shape;433;p34">
            <a:extLst>
              <a:ext uri="{FF2B5EF4-FFF2-40B4-BE49-F238E27FC236}">
                <a16:creationId xmlns:a16="http://schemas.microsoft.com/office/drawing/2014/main" id="{A4826F80-63CF-F295-6C9A-6FD653663161}"/>
              </a:ext>
            </a:extLst>
          </p:cNvPr>
          <p:cNvGrpSpPr/>
          <p:nvPr/>
        </p:nvGrpSpPr>
        <p:grpSpPr>
          <a:xfrm>
            <a:off x="7801413" y="754058"/>
            <a:ext cx="2224840" cy="418725"/>
            <a:chOff x="7318351" y="2997150"/>
            <a:chExt cx="2224840" cy="418725"/>
          </a:xfrm>
        </p:grpSpPr>
        <p:sp>
          <p:nvSpPr>
            <p:cNvPr id="434" name="Google Shape;434;p34">
              <a:extLst>
                <a:ext uri="{FF2B5EF4-FFF2-40B4-BE49-F238E27FC236}">
                  <a16:creationId xmlns:a16="http://schemas.microsoft.com/office/drawing/2014/main" id="{73115492-9CF4-CB22-25F0-066E62EB140C}"/>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CCF57154-CA82-BB5D-8A1E-EEF2DD89275A}"/>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2973253F-0B3D-744A-4ABC-6F9E7344129F}"/>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426;p34">
            <a:extLst>
              <a:ext uri="{FF2B5EF4-FFF2-40B4-BE49-F238E27FC236}">
                <a16:creationId xmlns:a16="http://schemas.microsoft.com/office/drawing/2014/main" id="{0EE7D296-77C6-CA47-AE31-3E4BF5E375D9}"/>
              </a:ext>
            </a:extLst>
          </p:cNvPr>
          <p:cNvSpPr txBox="1">
            <a:spLocks/>
          </p:cNvSpPr>
          <p:nvPr/>
        </p:nvSpPr>
        <p:spPr>
          <a:xfrm>
            <a:off x="4741765" y="2184765"/>
            <a:ext cx="3436800" cy="58583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Unbounded"/>
                <a:ea typeface="Unbounded"/>
                <a:cs typeface="Unbounded"/>
                <a:sym typeface="Unbounde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US" sz="2000" b="1">
                <a:solidFill>
                  <a:schemeClr val="accent2">
                    <a:lumMod val="50000"/>
                  </a:schemeClr>
                </a:solidFill>
              </a:rPr>
              <a:t>Vấn đề (Issue)</a:t>
            </a:r>
            <a:endParaRPr lang="en-US" sz="2000">
              <a:solidFill>
                <a:schemeClr val="accent2">
                  <a:lumMod val="50000"/>
                </a:schemeClr>
              </a:solidFill>
            </a:endParaRPr>
          </a:p>
        </p:txBody>
      </p:sp>
      <p:sp>
        <p:nvSpPr>
          <p:cNvPr id="7" name="Google Shape;428;p34">
            <a:extLst>
              <a:ext uri="{FF2B5EF4-FFF2-40B4-BE49-F238E27FC236}">
                <a16:creationId xmlns:a16="http://schemas.microsoft.com/office/drawing/2014/main" id="{30E180C8-1ABF-28EF-C452-6AB8EAC2440A}"/>
              </a:ext>
            </a:extLst>
          </p:cNvPr>
          <p:cNvSpPr txBox="1">
            <a:spLocks noGrp="1"/>
          </p:cNvSpPr>
          <p:nvPr>
            <p:ph type="subTitle" idx="1"/>
          </p:nvPr>
        </p:nvSpPr>
        <p:spPr>
          <a:xfrm>
            <a:off x="4741765" y="2771005"/>
            <a:ext cx="3436800" cy="1121400"/>
          </a:xfrm>
          <a:prstGeom prst="rect">
            <a:avLst/>
          </a:prstGeom>
        </p:spPr>
        <p:txBody>
          <a:bodyPr spcFirstLastPara="1" wrap="square" lIns="91425" tIns="91425" rIns="91425" bIns="91425" anchor="t" anchorCtr="0">
            <a:noAutofit/>
          </a:bodyPr>
          <a:lstStyle/>
          <a:p>
            <a:pPr marL="0" lvl="0" indent="0" algn="just"/>
            <a:r>
              <a:rPr lang="en-US" sz="2000"/>
              <a:t>L</a:t>
            </a:r>
            <a:r>
              <a:rPr lang="vi-VN" sz="2000"/>
              <a:t>à những gì đã xảy ra và cần được giải quyết ngay lập tức.</a:t>
            </a:r>
            <a:endParaRPr sz="2800"/>
          </a:p>
        </p:txBody>
      </p:sp>
      <p:sp>
        <p:nvSpPr>
          <p:cNvPr id="8" name="Google Shape;429;p34">
            <a:extLst>
              <a:ext uri="{FF2B5EF4-FFF2-40B4-BE49-F238E27FC236}">
                <a16:creationId xmlns:a16="http://schemas.microsoft.com/office/drawing/2014/main" id="{7CAF637A-FF7D-C382-14A8-56DDB58339D3}"/>
              </a:ext>
            </a:extLst>
          </p:cNvPr>
          <p:cNvSpPr txBox="1">
            <a:spLocks/>
          </p:cNvSpPr>
          <p:nvPr/>
        </p:nvSpPr>
        <p:spPr>
          <a:xfrm>
            <a:off x="677396" y="2771005"/>
            <a:ext cx="3436800" cy="112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0" indent="0" algn="just"/>
            <a:r>
              <a:rPr lang="en-US" sz="2000"/>
              <a:t>Là </a:t>
            </a:r>
            <a:r>
              <a:rPr lang="vi-VN" sz="2000"/>
              <a:t>những gì có thể xảy ra trong tương lai</a:t>
            </a:r>
            <a:r>
              <a:rPr lang="en-US" sz="2000"/>
              <a:t>.</a:t>
            </a:r>
          </a:p>
        </p:txBody>
      </p:sp>
      <p:sp>
        <p:nvSpPr>
          <p:cNvPr id="9" name="Google Shape;430;p34">
            <a:extLst>
              <a:ext uri="{FF2B5EF4-FFF2-40B4-BE49-F238E27FC236}">
                <a16:creationId xmlns:a16="http://schemas.microsoft.com/office/drawing/2014/main" id="{695AAF43-59B5-59C0-56B5-578D799E59B3}"/>
              </a:ext>
            </a:extLst>
          </p:cNvPr>
          <p:cNvSpPr txBox="1">
            <a:spLocks noGrp="1"/>
          </p:cNvSpPr>
          <p:nvPr>
            <p:ph type="subTitle" idx="3"/>
          </p:nvPr>
        </p:nvSpPr>
        <p:spPr>
          <a:xfrm>
            <a:off x="677396" y="2265151"/>
            <a:ext cx="3436800" cy="505451"/>
          </a:xfrm>
          <a:prstGeom prst="rect">
            <a:avLst/>
          </a:prstGeom>
        </p:spPr>
        <p:txBody>
          <a:bodyPr spcFirstLastPara="1" wrap="square" lIns="91425" tIns="91425" rIns="91425" bIns="91425" anchor="b" anchorCtr="0">
            <a:noAutofit/>
          </a:bodyPr>
          <a:lstStyle/>
          <a:p>
            <a:pPr marL="0" lvl="0" indent="0" algn="ctr"/>
            <a:r>
              <a:rPr lang="en-US" sz="2000" b="1">
                <a:solidFill>
                  <a:schemeClr val="accent2">
                    <a:lumMod val="50000"/>
                  </a:schemeClr>
                </a:solidFill>
              </a:rPr>
              <a:t>Rủi ro (Risk)</a:t>
            </a:r>
            <a:endParaRPr sz="2000">
              <a:solidFill>
                <a:schemeClr val="accent2">
                  <a:lumMod val="50000"/>
                </a:schemeClr>
              </a:solidFill>
            </a:endParaRPr>
          </a:p>
        </p:txBody>
      </p:sp>
    </p:spTree>
    <p:extLst>
      <p:ext uri="{BB962C8B-B14F-4D97-AF65-F5344CB8AC3E}">
        <p14:creationId xmlns:p14="http://schemas.microsoft.com/office/powerpoint/2010/main" val="2025958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6">
          <a:extLst>
            <a:ext uri="{FF2B5EF4-FFF2-40B4-BE49-F238E27FC236}">
              <a16:creationId xmlns:a16="http://schemas.microsoft.com/office/drawing/2014/main" id="{AD8593EB-82C6-5A26-7376-19D68D6CFA0A}"/>
            </a:ext>
          </a:extLst>
        </p:cNvPr>
        <p:cNvGrpSpPr/>
        <p:nvPr/>
      </p:nvGrpSpPr>
      <p:grpSpPr>
        <a:xfrm>
          <a:off x="0" y="0"/>
          <a:ext cx="0" cy="0"/>
          <a:chOff x="0" y="0"/>
          <a:chExt cx="0" cy="0"/>
        </a:xfrm>
      </p:grpSpPr>
      <p:sp>
        <p:nvSpPr>
          <p:cNvPr id="517" name="Google Shape;517;p39">
            <a:extLst>
              <a:ext uri="{FF2B5EF4-FFF2-40B4-BE49-F238E27FC236}">
                <a16:creationId xmlns:a16="http://schemas.microsoft.com/office/drawing/2014/main" id="{32D4ED01-4C82-0108-33F3-6064E838F68F}"/>
              </a:ext>
            </a:extLst>
          </p:cNvPr>
          <p:cNvSpPr txBox="1">
            <a:spLocks noGrp="1"/>
          </p:cNvSpPr>
          <p:nvPr>
            <p:ph type="title"/>
          </p:nvPr>
        </p:nvSpPr>
        <p:spPr>
          <a:xfrm>
            <a:off x="741516" y="1531434"/>
            <a:ext cx="5525469" cy="153632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200" b="1">
                <a:solidFill>
                  <a:schemeClr val="tx2">
                    <a:lumMod val="75000"/>
                  </a:schemeClr>
                </a:solidFill>
              </a:rPr>
              <a:t>Tại sao </a:t>
            </a:r>
            <a:r>
              <a:rPr lang="en-US" sz="3200"/>
              <a:t>phải</a:t>
            </a:r>
            <a:r>
              <a:rPr lang="en-US" sz="4000"/>
              <a:t> </a:t>
            </a:r>
            <a:br>
              <a:rPr lang="en-US" sz="4000"/>
            </a:br>
            <a:r>
              <a:rPr lang="en-US" sz="4800" b="1">
                <a:solidFill>
                  <a:schemeClr val="accent2">
                    <a:lumMod val="50000"/>
                  </a:schemeClr>
                </a:solidFill>
              </a:rPr>
              <a:t>quản lý rủi ro?</a:t>
            </a:r>
            <a:endParaRPr b="1">
              <a:solidFill>
                <a:schemeClr val="accent2">
                  <a:lumMod val="50000"/>
                </a:schemeClr>
              </a:solidFill>
            </a:endParaRPr>
          </a:p>
        </p:txBody>
      </p:sp>
      <p:grpSp>
        <p:nvGrpSpPr>
          <p:cNvPr id="519" name="Google Shape;519;p39">
            <a:extLst>
              <a:ext uri="{FF2B5EF4-FFF2-40B4-BE49-F238E27FC236}">
                <a16:creationId xmlns:a16="http://schemas.microsoft.com/office/drawing/2014/main" id="{84C71ABC-CDF4-30D6-C20B-03258BCADE27}"/>
              </a:ext>
            </a:extLst>
          </p:cNvPr>
          <p:cNvGrpSpPr/>
          <p:nvPr/>
        </p:nvGrpSpPr>
        <p:grpSpPr>
          <a:xfrm>
            <a:off x="6579501" y="2362396"/>
            <a:ext cx="2224840" cy="418725"/>
            <a:chOff x="7318351" y="2997150"/>
            <a:chExt cx="2224840" cy="418725"/>
          </a:xfrm>
        </p:grpSpPr>
        <p:sp>
          <p:nvSpPr>
            <p:cNvPr id="520" name="Google Shape;520;p39">
              <a:extLst>
                <a:ext uri="{FF2B5EF4-FFF2-40B4-BE49-F238E27FC236}">
                  <a16:creationId xmlns:a16="http://schemas.microsoft.com/office/drawing/2014/main" id="{25812D8E-5859-9EC5-0C2D-05AEE557B13F}"/>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a:extLst>
                <a:ext uri="{FF2B5EF4-FFF2-40B4-BE49-F238E27FC236}">
                  <a16:creationId xmlns:a16="http://schemas.microsoft.com/office/drawing/2014/main" id="{BB3082E9-9F44-964B-41F0-F305A8EED7D0}"/>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a:extLst>
                <a:ext uri="{FF2B5EF4-FFF2-40B4-BE49-F238E27FC236}">
                  <a16:creationId xmlns:a16="http://schemas.microsoft.com/office/drawing/2014/main" id="{81010EDB-2F76-69EA-1342-0664EFB90A01}"/>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72548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38"/>
          <p:cNvSpPr/>
          <p:nvPr/>
        </p:nvSpPr>
        <p:spPr>
          <a:xfrm>
            <a:off x="263625" y="4005358"/>
            <a:ext cx="1930800" cy="440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2" name="Google Shape;512;p38"/>
          <p:cNvSpPr/>
          <p:nvPr/>
        </p:nvSpPr>
        <p:spPr>
          <a:xfrm rot="5400000">
            <a:off x="8370625" y="29356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6" name="Google Shape;429;p34">
            <a:extLst>
              <a:ext uri="{FF2B5EF4-FFF2-40B4-BE49-F238E27FC236}">
                <a16:creationId xmlns:a16="http://schemas.microsoft.com/office/drawing/2014/main" id="{A8650688-026D-45C8-3532-DBCF409D4EB7}"/>
              </a:ext>
            </a:extLst>
          </p:cNvPr>
          <p:cNvSpPr txBox="1">
            <a:spLocks/>
          </p:cNvSpPr>
          <p:nvPr/>
        </p:nvSpPr>
        <p:spPr>
          <a:xfrm>
            <a:off x="821744" y="1287468"/>
            <a:ext cx="7500512" cy="19082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Unbounded"/>
              <a:buNone/>
              <a:defRPr sz="4000" b="0" i="0" u="none" strike="noStrike" cap="none">
                <a:solidFill>
                  <a:schemeClr val="dk1"/>
                </a:solidFill>
                <a:latin typeface="Unbounded"/>
                <a:ea typeface="Unbounded"/>
                <a:cs typeface="Unbounded"/>
                <a:sym typeface="Unbounde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r>
              <a:rPr lang="en-US"/>
              <a:t>“</a:t>
            </a:r>
            <a:r>
              <a:rPr lang="en-US" sz="3200"/>
              <a:t>Nếu bạn không tích cực tấn công những rủi ro, thì chúng sẽ tích cực tấn công bạn”</a:t>
            </a:r>
            <a:r>
              <a:rPr lang="en-US" sz="1600"/>
              <a:t> </a:t>
            </a:r>
            <a:endParaRPr lang="en-US" sz="2000" b="1"/>
          </a:p>
        </p:txBody>
      </p:sp>
      <p:sp>
        <p:nvSpPr>
          <p:cNvPr id="27" name="TextBox 26">
            <a:extLst>
              <a:ext uri="{FF2B5EF4-FFF2-40B4-BE49-F238E27FC236}">
                <a16:creationId xmlns:a16="http://schemas.microsoft.com/office/drawing/2014/main" id="{D2E17598-A0C3-4D5E-4DDE-70D08A7D85C2}"/>
              </a:ext>
            </a:extLst>
          </p:cNvPr>
          <p:cNvSpPr txBox="1"/>
          <p:nvPr/>
        </p:nvSpPr>
        <p:spPr>
          <a:xfrm>
            <a:off x="2805330" y="3195687"/>
            <a:ext cx="3533340" cy="400110"/>
          </a:xfrm>
          <a:prstGeom prst="rect">
            <a:avLst/>
          </a:prstGeom>
          <a:noFill/>
        </p:spPr>
        <p:txBody>
          <a:bodyPr wrap="none" rtlCol="0">
            <a:spAutoFit/>
          </a:bodyPr>
          <a:lstStyle/>
          <a:p>
            <a:r>
              <a:rPr lang="en-US" sz="2000" b="1">
                <a:solidFill>
                  <a:schemeClr val="dk1"/>
                </a:solidFill>
                <a:latin typeface="Unbounded"/>
                <a:sym typeface="Unbounded"/>
              </a:rPr>
              <a:t>- Peter &amp; Erik (2003)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FD7E2452-3610-3559-2A27-CDBC9DC744B5}"/>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EE72C68F-0A15-C495-AFB6-2DA45C4C3693}"/>
              </a:ext>
            </a:extLst>
          </p:cNvPr>
          <p:cNvSpPr/>
          <p:nvPr/>
        </p:nvSpPr>
        <p:spPr>
          <a:xfrm>
            <a:off x="1469984" y="1293654"/>
            <a:ext cx="6400801" cy="76601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Google Shape;427;p34">
            <a:extLst>
              <a:ext uri="{FF2B5EF4-FFF2-40B4-BE49-F238E27FC236}">
                <a16:creationId xmlns:a16="http://schemas.microsoft.com/office/drawing/2014/main" id="{854A565C-E68A-B6B3-4882-E260CB10B7C4}"/>
              </a:ext>
            </a:extLst>
          </p:cNvPr>
          <p:cNvSpPr txBox="1">
            <a:spLocks noGrp="1"/>
          </p:cNvSpPr>
          <p:nvPr>
            <p:ph type="title"/>
          </p:nvPr>
        </p:nvSpPr>
        <p:spPr>
          <a:xfrm>
            <a:off x="474565" y="46770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a:t>Tại sao phải quản lý rủi ro?</a:t>
            </a:r>
            <a:endParaRPr sz="2800" b="1"/>
          </a:p>
        </p:txBody>
      </p:sp>
      <p:grpSp>
        <p:nvGrpSpPr>
          <p:cNvPr id="433" name="Google Shape;433;p34">
            <a:extLst>
              <a:ext uri="{FF2B5EF4-FFF2-40B4-BE49-F238E27FC236}">
                <a16:creationId xmlns:a16="http://schemas.microsoft.com/office/drawing/2014/main" id="{1A04C892-3D9D-56B5-130B-5111E351030A}"/>
              </a:ext>
            </a:extLst>
          </p:cNvPr>
          <p:cNvGrpSpPr/>
          <p:nvPr/>
        </p:nvGrpSpPr>
        <p:grpSpPr>
          <a:xfrm>
            <a:off x="8031580" y="670188"/>
            <a:ext cx="2224840" cy="418725"/>
            <a:chOff x="7318351" y="2997150"/>
            <a:chExt cx="2224840" cy="418725"/>
          </a:xfrm>
        </p:grpSpPr>
        <p:sp>
          <p:nvSpPr>
            <p:cNvPr id="434" name="Google Shape;434;p34">
              <a:extLst>
                <a:ext uri="{FF2B5EF4-FFF2-40B4-BE49-F238E27FC236}">
                  <a16:creationId xmlns:a16="http://schemas.microsoft.com/office/drawing/2014/main" id="{AC1A8C44-4300-130A-B00E-8A58CE0D304C}"/>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0B9414D4-EE03-2289-7497-034A1B63D1B6}"/>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FD583380-63DD-DE53-60D6-D2F270865881}"/>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TextBox 9">
            <a:extLst>
              <a:ext uri="{FF2B5EF4-FFF2-40B4-BE49-F238E27FC236}">
                <a16:creationId xmlns:a16="http://schemas.microsoft.com/office/drawing/2014/main" id="{25B77ABE-BAFF-25A3-B174-E8869850EC8C}"/>
              </a:ext>
            </a:extLst>
          </p:cNvPr>
          <p:cNvSpPr txBox="1"/>
          <p:nvPr/>
        </p:nvSpPr>
        <p:spPr>
          <a:xfrm>
            <a:off x="474563" y="2216273"/>
            <a:ext cx="8194873" cy="2459519"/>
          </a:xfrm>
          <a:prstGeom prst="rect">
            <a:avLst/>
          </a:prstGeom>
          <a:noFill/>
        </p:spPr>
        <p:txBody>
          <a:bodyPr wrap="square" rtlCol="0">
            <a:spAutoFit/>
          </a:bodyPr>
          <a:lstStyle/>
          <a:p>
            <a:pPr marL="285750" indent="-285750" algn="just">
              <a:lnSpc>
                <a:spcPct val="120000"/>
              </a:lnSpc>
              <a:spcAft>
                <a:spcPts val="1200"/>
              </a:spcAft>
              <a:buClr>
                <a:schemeClr val="dk1"/>
              </a:buClr>
              <a:buSzPct val="75000"/>
              <a:buFont typeface="Wingdings" panose="05000000000000000000" pitchFamily="2" charset="2"/>
              <a:buChar char="Ø"/>
            </a:pPr>
            <a:r>
              <a:rPr lang="en-US" sz="1800">
                <a:solidFill>
                  <a:schemeClr val="dk1"/>
                </a:solidFill>
                <a:latin typeface="Encode Sans"/>
              </a:rPr>
              <a:t>Trong mọi hoạt động sản xuất và kinh doanh luôn tồn tại những yếu tố ngẫu nhiên, bất định và các dự án phần mềm cũng không ngoại lệ.</a:t>
            </a:r>
          </a:p>
          <a:p>
            <a:pPr marL="285750" indent="-285750" algn="just">
              <a:lnSpc>
                <a:spcPct val="120000"/>
              </a:lnSpc>
              <a:spcAft>
                <a:spcPts val="1200"/>
              </a:spcAft>
              <a:buClr>
                <a:schemeClr val="dk1"/>
              </a:buClr>
              <a:buSzPct val="75000"/>
              <a:buFont typeface="Wingdings" panose="05000000000000000000" pitchFamily="2" charset="2"/>
              <a:buChar char="Ø"/>
            </a:pPr>
            <a:r>
              <a:rPr lang="vi-VN" sz="1800">
                <a:solidFill>
                  <a:schemeClr val="dk1"/>
                </a:solidFill>
                <a:latin typeface="Encode Sans"/>
              </a:rPr>
              <a:t>Nhiều dự án phần mềm </a:t>
            </a:r>
            <a:r>
              <a:rPr lang="en-US" sz="1800">
                <a:solidFill>
                  <a:schemeClr val="dk1"/>
                </a:solidFill>
                <a:latin typeface="Encode Sans"/>
              </a:rPr>
              <a:t>vì</a:t>
            </a:r>
            <a:r>
              <a:rPr lang="vi-VN" sz="1800">
                <a:solidFill>
                  <a:schemeClr val="dk1"/>
                </a:solidFill>
                <a:latin typeface="Encode Sans"/>
              </a:rPr>
              <a:t> </a:t>
            </a:r>
            <a:r>
              <a:rPr lang="en-US" sz="1800">
                <a:solidFill>
                  <a:schemeClr val="dk1"/>
                </a:solidFill>
                <a:latin typeface="Encode Sans"/>
              </a:rPr>
              <a:t>bỏ</a:t>
            </a:r>
            <a:r>
              <a:rPr lang="vi-VN" sz="1800">
                <a:solidFill>
                  <a:schemeClr val="dk1"/>
                </a:solidFill>
                <a:latin typeface="Encode Sans"/>
              </a:rPr>
              <a:t> qua hoặc kiểm soát</a:t>
            </a:r>
            <a:r>
              <a:rPr lang="en-US" sz="1800">
                <a:solidFill>
                  <a:schemeClr val="dk1"/>
                </a:solidFill>
                <a:latin typeface="Encode Sans"/>
              </a:rPr>
              <a:t> </a:t>
            </a:r>
            <a:r>
              <a:rPr lang="vi-VN" sz="1800">
                <a:solidFill>
                  <a:schemeClr val="dk1"/>
                </a:solidFill>
                <a:latin typeface="Encode Sans"/>
              </a:rPr>
              <a:t>rủi ro sơ sài, dẫn đến kết quả thất bại,</a:t>
            </a:r>
            <a:r>
              <a:rPr lang="en-US" sz="1800">
                <a:solidFill>
                  <a:schemeClr val="dk1"/>
                </a:solidFill>
                <a:latin typeface="Encode Sans"/>
              </a:rPr>
              <a:t> </a:t>
            </a:r>
            <a:r>
              <a:rPr lang="vi-VN" sz="1800">
                <a:solidFill>
                  <a:schemeClr val="dk1"/>
                </a:solidFill>
                <a:latin typeface="Encode Sans"/>
              </a:rPr>
              <a:t>khách hàng phàn nàn về chất</a:t>
            </a:r>
            <a:r>
              <a:rPr lang="en-US" sz="1800">
                <a:solidFill>
                  <a:schemeClr val="dk1"/>
                </a:solidFill>
                <a:latin typeface="Encode Sans"/>
              </a:rPr>
              <a:t> </a:t>
            </a:r>
            <a:r>
              <a:rPr lang="vi-VN" sz="1800">
                <a:solidFill>
                  <a:schemeClr val="dk1"/>
                </a:solidFill>
                <a:latin typeface="Encode Sans"/>
              </a:rPr>
              <a:t>lượng </a:t>
            </a:r>
            <a:r>
              <a:rPr lang="en-US" sz="1800">
                <a:solidFill>
                  <a:schemeClr val="dk1"/>
                </a:solidFill>
                <a:latin typeface="Encode Sans"/>
              </a:rPr>
              <a:t>và</a:t>
            </a:r>
            <a:r>
              <a:rPr lang="vi-VN" sz="1800">
                <a:solidFill>
                  <a:schemeClr val="dk1"/>
                </a:solidFill>
                <a:latin typeface="Encode Sans"/>
              </a:rPr>
              <a:t> lỗ vốn do</a:t>
            </a:r>
            <a:r>
              <a:rPr lang="en-US" sz="1800">
                <a:solidFill>
                  <a:schemeClr val="dk1"/>
                </a:solidFill>
                <a:latin typeface="Encode Sans"/>
              </a:rPr>
              <a:t> </a:t>
            </a:r>
            <a:r>
              <a:rPr lang="vi-VN" sz="1800">
                <a:solidFill>
                  <a:schemeClr val="dk1"/>
                </a:solidFill>
                <a:latin typeface="Encode Sans"/>
              </a:rPr>
              <a:t>chi phí tăng cao</a:t>
            </a:r>
            <a:r>
              <a:rPr lang="en-US" sz="1800">
                <a:solidFill>
                  <a:schemeClr val="dk1"/>
                </a:solidFill>
                <a:latin typeface="Encode Sans"/>
              </a:rPr>
              <a:t>.</a:t>
            </a:r>
          </a:p>
          <a:p>
            <a:pPr algn="ctr">
              <a:lnSpc>
                <a:spcPct val="120000"/>
              </a:lnSpc>
              <a:spcAft>
                <a:spcPts val="1200"/>
              </a:spcAft>
              <a:buClr>
                <a:schemeClr val="dk1"/>
              </a:buClr>
              <a:buSzPct val="75000"/>
            </a:pPr>
            <a:r>
              <a:rPr lang="en-US" sz="2000" b="1">
                <a:solidFill>
                  <a:schemeClr val="tx2">
                    <a:lumMod val="75000"/>
                  </a:schemeClr>
                </a:solidFill>
                <a:latin typeface="Encode Sans"/>
              </a:rPr>
              <a:t>=&gt; Quản lý rủi ro trở nên thiết yếu </a:t>
            </a:r>
            <a:endParaRPr lang="en-US" sz="2000" b="1">
              <a:solidFill>
                <a:schemeClr val="tx2">
                  <a:lumMod val="75000"/>
                </a:schemeClr>
              </a:solidFill>
              <a:latin typeface="Encode Sans"/>
              <a:sym typeface="Encode Sans"/>
            </a:endParaRPr>
          </a:p>
        </p:txBody>
      </p:sp>
      <p:sp>
        <p:nvSpPr>
          <p:cNvPr id="17" name="Rectangle 16">
            <a:extLst>
              <a:ext uri="{FF2B5EF4-FFF2-40B4-BE49-F238E27FC236}">
                <a16:creationId xmlns:a16="http://schemas.microsoft.com/office/drawing/2014/main" id="{21BCDF2B-0A70-48F0-DC96-DE0476F17C88}"/>
              </a:ext>
            </a:extLst>
          </p:cNvPr>
          <p:cNvSpPr/>
          <p:nvPr/>
        </p:nvSpPr>
        <p:spPr>
          <a:xfrm>
            <a:off x="1365811" y="1194284"/>
            <a:ext cx="6412375" cy="76601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dk1"/>
                </a:solidFill>
                <a:latin typeface="Encode Sans"/>
                <a:cs typeface="Arial"/>
              </a:rPr>
              <a:t>“Chỉ có một điều chắc chắn là không chắc chắn”</a:t>
            </a:r>
          </a:p>
        </p:txBody>
      </p:sp>
    </p:spTree>
    <p:extLst>
      <p:ext uri="{BB962C8B-B14F-4D97-AF65-F5344CB8AC3E}">
        <p14:creationId xmlns:p14="http://schemas.microsoft.com/office/powerpoint/2010/main" val="2524752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7ACE8810-3DA4-7298-E24A-8C11EA288C87}"/>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93EFAC06-CFCE-A3A6-4A13-C2C27F157164}"/>
              </a:ext>
            </a:extLst>
          </p:cNvPr>
          <p:cNvSpPr txBox="1">
            <a:spLocks noGrp="1"/>
          </p:cNvSpPr>
          <p:nvPr>
            <p:ph type="title"/>
          </p:nvPr>
        </p:nvSpPr>
        <p:spPr>
          <a:xfrm>
            <a:off x="474565" y="46770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a:t>Tại sao phải quản lý rủi ro?</a:t>
            </a:r>
            <a:endParaRPr sz="2800" b="1"/>
          </a:p>
        </p:txBody>
      </p:sp>
      <p:grpSp>
        <p:nvGrpSpPr>
          <p:cNvPr id="433" name="Google Shape;433;p34">
            <a:extLst>
              <a:ext uri="{FF2B5EF4-FFF2-40B4-BE49-F238E27FC236}">
                <a16:creationId xmlns:a16="http://schemas.microsoft.com/office/drawing/2014/main" id="{6C4E6308-61EF-26E8-99AF-048928E7814C}"/>
              </a:ext>
            </a:extLst>
          </p:cNvPr>
          <p:cNvGrpSpPr/>
          <p:nvPr/>
        </p:nvGrpSpPr>
        <p:grpSpPr>
          <a:xfrm>
            <a:off x="7886254" y="1040408"/>
            <a:ext cx="2224840" cy="418725"/>
            <a:chOff x="7318351" y="2997150"/>
            <a:chExt cx="2224840" cy="418725"/>
          </a:xfrm>
        </p:grpSpPr>
        <p:sp>
          <p:nvSpPr>
            <p:cNvPr id="434" name="Google Shape;434;p34">
              <a:extLst>
                <a:ext uri="{FF2B5EF4-FFF2-40B4-BE49-F238E27FC236}">
                  <a16:creationId xmlns:a16="http://schemas.microsoft.com/office/drawing/2014/main" id="{1D7C8A3A-2A73-C648-A906-3B368AC62511}"/>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86A14F7B-8B8A-2BE3-343B-6CEFD7F3CCEA}"/>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CAE00724-057E-2514-1148-D1801A0D1ACC}"/>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TextBox 9">
            <a:extLst>
              <a:ext uri="{FF2B5EF4-FFF2-40B4-BE49-F238E27FC236}">
                <a16:creationId xmlns:a16="http://schemas.microsoft.com/office/drawing/2014/main" id="{2CEEBAB9-04C3-45E5-0719-33E77EBC9BBE}"/>
              </a:ext>
            </a:extLst>
          </p:cNvPr>
          <p:cNvSpPr txBox="1"/>
          <p:nvPr/>
        </p:nvSpPr>
        <p:spPr>
          <a:xfrm>
            <a:off x="324090" y="1697184"/>
            <a:ext cx="7164729" cy="423514"/>
          </a:xfrm>
          <a:prstGeom prst="rect">
            <a:avLst/>
          </a:prstGeom>
          <a:noFill/>
        </p:spPr>
        <p:txBody>
          <a:bodyPr wrap="square" rtlCol="0">
            <a:spAutoFit/>
          </a:bodyPr>
          <a:lstStyle/>
          <a:p>
            <a:pPr marL="285750" indent="-285750" algn="just">
              <a:lnSpc>
                <a:spcPct val="120000"/>
              </a:lnSpc>
              <a:spcAft>
                <a:spcPts val="1200"/>
              </a:spcAft>
              <a:buClr>
                <a:schemeClr val="dk1"/>
              </a:buClr>
              <a:buSzPct val="75000"/>
              <a:buFont typeface="Wingdings" panose="05000000000000000000" pitchFamily="2" charset="2"/>
              <a:buChar char="Ø"/>
            </a:pPr>
            <a:r>
              <a:rPr lang="vi-VN" sz="2000">
                <a:solidFill>
                  <a:schemeClr val="dk1"/>
                </a:solidFill>
                <a:latin typeface="Encode Sans"/>
                <a:sym typeface="Encode Sans"/>
              </a:rPr>
              <a:t>Quản lý rủi ro </a:t>
            </a:r>
            <a:r>
              <a:rPr lang="en-US" sz="2000">
                <a:solidFill>
                  <a:schemeClr val="dk1"/>
                </a:solidFill>
                <a:latin typeface="Encode Sans"/>
                <a:sym typeface="Encode Sans"/>
              </a:rPr>
              <a:t>sẽ </a:t>
            </a:r>
            <a:r>
              <a:rPr lang="en-US" sz="2000" b="1">
                <a:solidFill>
                  <a:schemeClr val="dk1"/>
                </a:solidFill>
                <a:latin typeface="Encode Sans"/>
                <a:sym typeface="Encode Sans"/>
              </a:rPr>
              <a:t>mang lại những lợi ích</a:t>
            </a:r>
            <a:r>
              <a:rPr lang="vi-VN" sz="2000" b="1">
                <a:solidFill>
                  <a:schemeClr val="dk1"/>
                </a:solidFill>
                <a:latin typeface="Encode Sans"/>
                <a:sym typeface="Encode Sans"/>
              </a:rPr>
              <a:t> </a:t>
            </a:r>
            <a:r>
              <a:rPr lang="en-US" sz="2000">
                <a:solidFill>
                  <a:schemeClr val="dk1"/>
                </a:solidFill>
                <a:latin typeface="Encode Sans"/>
                <a:sym typeface="Encode Sans"/>
              </a:rPr>
              <a:t>như</a:t>
            </a:r>
            <a:r>
              <a:rPr lang="vi-VN" sz="2000">
                <a:solidFill>
                  <a:schemeClr val="dk1"/>
                </a:solidFill>
                <a:latin typeface="Encode Sans"/>
                <a:sym typeface="Encode Sans"/>
              </a:rPr>
              <a:t>:</a:t>
            </a:r>
            <a:endParaRPr lang="en-US" sz="2000">
              <a:solidFill>
                <a:schemeClr val="dk1"/>
              </a:solidFill>
              <a:latin typeface="Encode Sans"/>
            </a:endParaRPr>
          </a:p>
        </p:txBody>
      </p:sp>
      <p:sp>
        <p:nvSpPr>
          <p:cNvPr id="4" name="TextBox 3">
            <a:extLst>
              <a:ext uri="{FF2B5EF4-FFF2-40B4-BE49-F238E27FC236}">
                <a16:creationId xmlns:a16="http://schemas.microsoft.com/office/drawing/2014/main" id="{9D91F965-30A5-0FC1-AA88-26C6BBE03956}"/>
              </a:ext>
            </a:extLst>
          </p:cNvPr>
          <p:cNvSpPr txBox="1"/>
          <p:nvPr/>
        </p:nvSpPr>
        <p:spPr>
          <a:xfrm>
            <a:off x="584523" y="2306147"/>
            <a:ext cx="4097435" cy="1316066"/>
          </a:xfrm>
          <a:prstGeom prst="rect">
            <a:avLst/>
          </a:prstGeom>
          <a:noFill/>
        </p:spPr>
        <p:txBody>
          <a:bodyPr wrap="square" numCol="1" spcCol="360000">
            <a:spAutoFit/>
          </a:bodyPr>
          <a:lstStyle/>
          <a:p>
            <a:pPr marL="285750" lvl="3" indent="-285750" algn="just">
              <a:lnSpc>
                <a:spcPct val="120000"/>
              </a:lnSpc>
              <a:spcAft>
                <a:spcPts val="600"/>
              </a:spcAft>
              <a:buClr>
                <a:schemeClr val="dk1"/>
              </a:buClr>
              <a:buSzPct val="75000"/>
              <a:buFont typeface="Wingdings" panose="05000000000000000000" pitchFamily="2" charset="2"/>
              <a:buChar char="q"/>
            </a:pPr>
            <a:r>
              <a:rPr lang="vi-VN" sz="2000">
                <a:solidFill>
                  <a:schemeClr val="dk1"/>
                </a:solidFill>
                <a:latin typeface="Encode Sans"/>
                <a:sym typeface="Encode Sans"/>
              </a:rPr>
              <a:t>Tăng tỷ lệ thành công của dự án</a:t>
            </a:r>
            <a:endParaRPr lang="en-US" sz="2000">
              <a:solidFill>
                <a:schemeClr val="dk1"/>
              </a:solidFill>
              <a:latin typeface="Encode Sans"/>
              <a:sym typeface="Encode Sans"/>
            </a:endParaRPr>
          </a:p>
          <a:p>
            <a:pPr marL="285750" lvl="3" indent="-285750" algn="just">
              <a:lnSpc>
                <a:spcPct val="120000"/>
              </a:lnSpc>
              <a:spcAft>
                <a:spcPts val="600"/>
              </a:spcAft>
              <a:buClr>
                <a:schemeClr val="dk1"/>
              </a:buClr>
              <a:buSzPct val="75000"/>
              <a:buFont typeface="Wingdings" panose="05000000000000000000" pitchFamily="2" charset="2"/>
              <a:buChar char="q"/>
            </a:pPr>
            <a:r>
              <a:rPr lang="vi-VN" sz="2000">
                <a:solidFill>
                  <a:schemeClr val="dk1"/>
                </a:solidFill>
                <a:latin typeface="Encode Sans"/>
                <a:sym typeface="Encode Sans"/>
              </a:rPr>
              <a:t>Giảm thiểu chi phí và thời gian</a:t>
            </a:r>
            <a:endParaRPr lang="en-US" sz="2000">
              <a:solidFill>
                <a:schemeClr val="dk1"/>
              </a:solidFill>
              <a:latin typeface="Encode Sans"/>
              <a:sym typeface="Encode Sans"/>
            </a:endParaRPr>
          </a:p>
          <a:p>
            <a:pPr marL="285750" lvl="3" indent="-285750" algn="just">
              <a:lnSpc>
                <a:spcPct val="120000"/>
              </a:lnSpc>
              <a:spcAft>
                <a:spcPts val="600"/>
              </a:spcAft>
              <a:buClr>
                <a:schemeClr val="dk1"/>
              </a:buClr>
              <a:buSzPct val="75000"/>
              <a:buFont typeface="Wingdings" panose="05000000000000000000" pitchFamily="2" charset="2"/>
              <a:buChar char="q"/>
            </a:pPr>
            <a:r>
              <a:rPr lang="vi-VN" sz="2000">
                <a:solidFill>
                  <a:schemeClr val="dk1"/>
                </a:solidFill>
                <a:latin typeface="Encode Sans"/>
                <a:sym typeface="Encode Sans"/>
              </a:rPr>
              <a:t>Bảo vệ danh tiếng và uy tín</a:t>
            </a:r>
            <a:endParaRPr lang="en-US" sz="2000">
              <a:solidFill>
                <a:schemeClr val="dk1"/>
              </a:solidFill>
              <a:latin typeface="Encode Sans"/>
              <a:sym typeface="Encode Sans"/>
            </a:endParaRPr>
          </a:p>
        </p:txBody>
      </p:sp>
      <p:sp>
        <p:nvSpPr>
          <p:cNvPr id="16" name="TextBox 15">
            <a:extLst>
              <a:ext uri="{FF2B5EF4-FFF2-40B4-BE49-F238E27FC236}">
                <a16:creationId xmlns:a16="http://schemas.microsoft.com/office/drawing/2014/main" id="{69668C97-3497-0EA7-9CA4-37A60BC49A76}"/>
              </a:ext>
            </a:extLst>
          </p:cNvPr>
          <p:cNvSpPr txBox="1"/>
          <p:nvPr/>
        </p:nvSpPr>
        <p:spPr>
          <a:xfrm>
            <a:off x="4803491" y="2306147"/>
            <a:ext cx="4004841" cy="1316066"/>
          </a:xfrm>
          <a:prstGeom prst="rect">
            <a:avLst/>
          </a:prstGeom>
          <a:noFill/>
        </p:spPr>
        <p:txBody>
          <a:bodyPr wrap="square">
            <a:spAutoFit/>
          </a:bodyPr>
          <a:lstStyle/>
          <a:p>
            <a:pPr marL="285750" lvl="3" indent="-285750" algn="just">
              <a:lnSpc>
                <a:spcPct val="120000"/>
              </a:lnSpc>
              <a:spcAft>
                <a:spcPts val="600"/>
              </a:spcAft>
              <a:buClr>
                <a:schemeClr val="dk1"/>
              </a:buClr>
              <a:buSzPct val="75000"/>
              <a:buFont typeface="Wingdings" panose="05000000000000000000" pitchFamily="2" charset="2"/>
              <a:buChar char="q"/>
            </a:pPr>
            <a:r>
              <a:rPr lang="vi-VN" sz="2000">
                <a:solidFill>
                  <a:schemeClr val="dk1"/>
                </a:solidFill>
                <a:latin typeface="Encode Sans"/>
                <a:sym typeface="Encode Sans"/>
              </a:rPr>
              <a:t>Đảm bảo chất lượng sản phẩm</a:t>
            </a:r>
            <a:endParaRPr lang="en-US" sz="2000">
              <a:solidFill>
                <a:schemeClr val="dk1"/>
              </a:solidFill>
              <a:latin typeface="Encode Sans"/>
              <a:sym typeface="Encode Sans"/>
            </a:endParaRPr>
          </a:p>
          <a:p>
            <a:pPr marL="285750" lvl="3" indent="-285750" algn="just">
              <a:lnSpc>
                <a:spcPct val="120000"/>
              </a:lnSpc>
              <a:spcAft>
                <a:spcPts val="600"/>
              </a:spcAft>
              <a:buClr>
                <a:schemeClr val="dk1"/>
              </a:buClr>
              <a:buSzPct val="75000"/>
              <a:buFont typeface="Wingdings" panose="05000000000000000000" pitchFamily="2" charset="2"/>
              <a:buChar char="q"/>
            </a:pPr>
            <a:r>
              <a:rPr lang="vi-VN" sz="2000">
                <a:solidFill>
                  <a:schemeClr val="dk1"/>
                </a:solidFill>
                <a:latin typeface="Encode Sans"/>
                <a:sym typeface="Encode Sans"/>
              </a:rPr>
              <a:t>Tuân thủ quy định pháp luật</a:t>
            </a:r>
            <a:endParaRPr lang="en-US" sz="2000">
              <a:solidFill>
                <a:schemeClr val="dk1"/>
              </a:solidFill>
              <a:latin typeface="Encode Sans"/>
              <a:sym typeface="Encode Sans"/>
            </a:endParaRPr>
          </a:p>
          <a:p>
            <a:pPr marL="285750" lvl="3" indent="-285750" algn="just">
              <a:lnSpc>
                <a:spcPct val="120000"/>
              </a:lnSpc>
              <a:spcAft>
                <a:spcPts val="600"/>
              </a:spcAft>
              <a:buClr>
                <a:schemeClr val="dk1"/>
              </a:buClr>
              <a:buSzPct val="75000"/>
              <a:buFont typeface="Wingdings" panose="05000000000000000000" pitchFamily="2" charset="2"/>
              <a:buChar char="q"/>
            </a:pPr>
            <a:r>
              <a:rPr lang="vi-VN" sz="2000">
                <a:solidFill>
                  <a:schemeClr val="dk1"/>
                </a:solidFill>
                <a:latin typeface="Encode Sans"/>
                <a:sym typeface="Encode Sans"/>
              </a:rPr>
              <a:t>Tạo lợi thế cạnh tranh</a:t>
            </a:r>
            <a:endParaRPr lang="en-US" sz="2000">
              <a:solidFill>
                <a:schemeClr val="dk1"/>
              </a:solidFill>
              <a:latin typeface="Encode Sans"/>
              <a:sym typeface="Encode Sans"/>
            </a:endParaRPr>
          </a:p>
        </p:txBody>
      </p:sp>
    </p:spTree>
    <p:extLst>
      <p:ext uri="{BB962C8B-B14F-4D97-AF65-F5344CB8AC3E}">
        <p14:creationId xmlns:p14="http://schemas.microsoft.com/office/powerpoint/2010/main" val="901757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6">
          <a:extLst>
            <a:ext uri="{FF2B5EF4-FFF2-40B4-BE49-F238E27FC236}">
              <a16:creationId xmlns:a16="http://schemas.microsoft.com/office/drawing/2014/main" id="{0A67B61F-ECBD-6FC9-14B7-C398B25A8C28}"/>
            </a:ext>
          </a:extLst>
        </p:cNvPr>
        <p:cNvGrpSpPr/>
        <p:nvPr/>
      </p:nvGrpSpPr>
      <p:grpSpPr>
        <a:xfrm>
          <a:off x="0" y="0"/>
          <a:ext cx="0" cy="0"/>
          <a:chOff x="0" y="0"/>
          <a:chExt cx="0" cy="0"/>
        </a:xfrm>
      </p:grpSpPr>
      <p:sp>
        <p:nvSpPr>
          <p:cNvPr id="517" name="Google Shape;517;p39">
            <a:extLst>
              <a:ext uri="{FF2B5EF4-FFF2-40B4-BE49-F238E27FC236}">
                <a16:creationId xmlns:a16="http://schemas.microsoft.com/office/drawing/2014/main" id="{3ABBD2C5-DA11-8524-D379-9603EC51ADDF}"/>
              </a:ext>
            </a:extLst>
          </p:cNvPr>
          <p:cNvSpPr txBox="1">
            <a:spLocks noGrp="1"/>
          </p:cNvSpPr>
          <p:nvPr>
            <p:ph type="title"/>
          </p:nvPr>
        </p:nvSpPr>
        <p:spPr>
          <a:xfrm>
            <a:off x="779221" y="1376313"/>
            <a:ext cx="6997892" cy="198905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200" b="1">
                <a:solidFill>
                  <a:schemeClr val="tx2">
                    <a:lumMod val="75000"/>
                  </a:schemeClr>
                </a:solidFill>
              </a:rPr>
              <a:t>Các yếu tố </a:t>
            </a:r>
            <a:r>
              <a:rPr lang="en-US" sz="3200">
                <a:solidFill>
                  <a:schemeClr val="tx1"/>
                </a:solidFill>
              </a:rPr>
              <a:t>khiến </a:t>
            </a:r>
            <a:br>
              <a:rPr lang="en-US" sz="3200">
                <a:solidFill>
                  <a:schemeClr val="tx1"/>
                </a:solidFill>
              </a:rPr>
            </a:br>
            <a:r>
              <a:rPr lang="en-US" sz="3200">
                <a:solidFill>
                  <a:schemeClr val="tx1"/>
                </a:solidFill>
              </a:rPr>
              <a:t>dự án phần mềm</a:t>
            </a:r>
            <a:r>
              <a:rPr lang="en-US" sz="4000"/>
              <a:t> </a:t>
            </a:r>
            <a:br>
              <a:rPr lang="en-US" sz="4000"/>
            </a:br>
            <a:r>
              <a:rPr lang="en-US" sz="4800" b="1">
                <a:solidFill>
                  <a:schemeClr val="accent2">
                    <a:lumMod val="50000"/>
                  </a:schemeClr>
                </a:solidFill>
              </a:rPr>
              <a:t>trở nên rủi ro?</a:t>
            </a:r>
            <a:endParaRPr b="1">
              <a:solidFill>
                <a:schemeClr val="accent2">
                  <a:lumMod val="50000"/>
                </a:schemeClr>
              </a:solidFill>
            </a:endParaRPr>
          </a:p>
        </p:txBody>
      </p:sp>
      <p:grpSp>
        <p:nvGrpSpPr>
          <p:cNvPr id="519" name="Google Shape;519;p39">
            <a:extLst>
              <a:ext uri="{FF2B5EF4-FFF2-40B4-BE49-F238E27FC236}">
                <a16:creationId xmlns:a16="http://schemas.microsoft.com/office/drawing/2014/main" id="{AEB1034B-4B16-DD90-BC5E-C812CFEAA099}"/>
              </a:ext>
            </a:extLst>
          </p:cNvPr>
          <p:cNvGrpSpPr/>
          <p:nvPr/>
        </p:nvGrpSpPr>
        <p:grpSpPr>
          <a:xfrm>
            <a:off x="6522940" y="1815641"/>
            <a:ext cx="2224840" cy="418725"/>
            <a:chOff x="7318351" y="2997150"/>
            <a:chExt cx="2224840" cy="418725"/>
          </a:xfrm>
        </p:grpSpPr>
        <p:sp>
          <p:nvSpPr>
            <p:cNvPr id="520" name="Google Shape;520;p39">
              <a:extLst>
                <a:ext uri="{FF2B5EF4-FFF2-40B4-BE49-F238E27FC236}">
                  <a16:creationId xmlns:a16="http://schemas.microsoft.com/office/drawing/2014/main" id="{11395AAE-D160-BABB-6CBF-B2D2610F1CBB}"/>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a:extLst>
                <a:ext uri="{FF2B5EF4-FFF2-40B4-BE49-F238E27FC236}">
                  <a16:creationId xmlns:a16="http://schemas.microsoft.com/office/drawing/2014/main" id="{39B926D9-B124-B235-0B86-55A80EE6CD8A}"/>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a:extLst>
                <a:ext uri="{FF2B5EF4-FFF2-40B4-BE49-F238E27FC236}">
                  <a16:creationId xmlns:a16="http://schemas.microsoft.com/office/drawing/2014/main" id="{0AA10464-A497-EC86-D44C-1F8A83929011}"/>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61745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C8817343-5E06-45F7-42D5-94F2F37EA2FC}"/>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856784DB-FDAE-0A15-11CE-0705A9C3CD21}"/>
              </a:ext>
            </a:extLst>
          </p:cNvPr>
          <p:cNvSpPr txBox="1">
            <a:spLocks noGrp="1"/>
          </p:cNvSpPr>
          <p:nvPr>
            <p:ph type="title"/>
          </p:nvPr>
        </p:nvSpPr>
        <p:spPr>
          <a:xfrm>
            <a:off x="423444" y="520782"/>
            <a:ext cx="7827927" cy="93835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a:t>Các yếu tố khiến phần mềm </a:t>
            </a:r>
            <a:br>
              <a:rPr lang="en" sz="2800" b="1"/>
            </a:br>
            <a:r>
              <a:rPr lang="en" sz="2800" b="1"/>
              <a:t>trở nên rủi ro?</a:t>
            </a:r>
            <a:endParaRPr sz="2800" b="1"/>
          </a:p>
        </p:txBody>
      </p:sp>
      <p:grpSp>
        <p:nvGrpSpPr>
          <p:cNvPr id="433" name="Google Shape;433;p34">
            <a:extLst>
              <a:ext uri="{FF2B5EF4-FFF2-40B4-BE49-F238E27FC236}">
                <a16:creationId xmlns:a16="http://schemas.microsoft.com/office/drawing/2014/main" id="{62285309-EA8F-5E69-9165-ED0B258F2C6B}"/>
              </a:ext>
            </a:extLst>
          </p:cNvPr>
          <p:cNvGrpSpPr/>
          <p:nvPr/>
        </p:nvGrpSpPr>
        <p:grpSpPr>
          <a:xfrm>
            <a:off x="7886254" y="1040408"/>
            <a:ext cx="2224840" cy="418725"/>
            <a:chOff x="7318351" y="2997150"/>
            <a:chExt cx="2224840" cy="418725"/>
          </a:xfrm>
        </p:grpSpPr>
        <p:sp>
          <p:nvSpPr>
            <p:cNvPr id="434" name="Google Shape;434;p34">
              <a:extLst>
                <a:ext uri="{FF2B5EF4-FFF2-40B4-BE49-F238E27FC236}">
                  <a16:creationId xmlns:a16="http://schemas.microsoft.com/office/drawing/2014/main" id="{FF580E49-9D12-69B2-0D92-13A4C69D883A}"/>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4981D039-B896-AD6D-3C21-E294BA20709C}"/>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45DE1C2C-4817-A0A8-CCF1-25206D766D2A}"/>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TextBox 9">
            <a:extLst>
              <a:ext uri="{FF2B5EF4-FFF2-40B4-BE49-F238E27FC236}">
                <a16:creationId xmlns:a16="http://schemas.microsoft.com/office/drawing/2014/main" id="{AF5B9517-F435-BBF9-498B-6247B0E20982}"/>
              </a:ext>
            </a:extLst>
          </p:cNvPr>
          <p:cNvSpPr txBox="1"/>
          <p:nvPr/>
        </p:nvSpPr>
        <p:spPr>
          <a:xfrm>
            <a:off x="423444" y="1745483"/>
            <a:ext cx="8199695" cy="792846"/>
          </a:xfrm>
          <a:prstGeom prst="rect">
            <a:avLst/>
          </a:prstGeom>
          <a:noFill/>
        </p:spPr>
        <p:txBody>
          <a:bodyPr wrap="square" rtlCol="0">
            <a:spAutoFit/>
          </a:bodyPr>
          <a:lstStyle/>
          <a:p>
            <a:pPr marL="285750" indent="-285750" algn="just">
              <a:lnSpc>
                <a:spcPct val="120000"/>
              </a:lnSpc>
              <a:spcAft>
                <a:spcPts val="1200"/>
              </a:spcAft>
              <a:buClr>
                <a:schemeClr val="dk1"/>
              </a:buClr>
              <a:buSzPct val="75000"/>
              <a:buFont typeface="Wingdings" panose="05000000000000000000" pitchFamily="2" charset="2"/>
              <a:buChar char="Ø"/>
            </a:pPr>
            <a:r>
              <a:rPr lang="en-US" sz="2000">
                <a:solidFill>
                  <a:schemeClr val="dk1"/>
                </a:solidFill>
                <a:latin typeface="Encode Sans"/>
                <a:sym typeface="Encode Sans"/>
              </a:rPr>
              <a:t>Các dự án phần mềm có đặc thù riêng biệt khiến chúng dễ gặp rủi ro hơn các loại dự án khác</a:t>
            </a:r>
            <a:endParaRPr lang="en-US" sz="2000">
              <a:solidFill>
                <a:schemeClr val="dk1"/>
              </a:solidFill>
              <a:latin typeface="Encode Sans"/>
            </a:endParaRPr>
          </a:p>
        </p:txBody>
      </p:sp>
      <p:sp>
        <p:nvSpPr>
          <p:cNvPr id="4" name="TextBox 3">
            <a:extLst>
              <a:ext uri="{FF2B5EF4-FFF2-40B4-BE49-F238E27FC236}">
                <a16:creationId xmlns:a16="http://schemas.microsoft.com/office/drawing/2014/main" id="{58F0795C-672D-484F-C3DD-C986883234CC}"/>
              </a:ext>
            </a:extLst>
          </p:cNvPr>
          <p:cNvSpPr txBox="1"/>
          <p:nvPr/>
        </p:nvSpPr>
        <p:spPr>
          <a:xfrm>
            <a:off x="719972" y="2683410"/>
            <a:ext cx="4004841" cy="1316066"/>
          </a:xfrm>
          <a:prstGeom prst="rect">
            <a:avLst/>
          </a:prstGeom>
          <a:noFill/>
        </p:spPr>
        <p:txBody>
          <a:bodyPr wrap="square" numCol="1" spcCol="360000">
            <a:spAutoFit/>
          </a:bodyPr>
          <a:lstStyle/>
          <a:p>
            <a:pPr marL="285750" lvl="3" indent="-285750" algn="just">
              <a:lnSpc>
                <a:spcPct val="120000"/>
              </a:lnSpc>
              <a:spcAft>
                <a:spcPts val="600"/>
              </a:spcAft>
              <a:buClr>
                <a:schemeClr val="dk1"/>
              </a:buClr>
              <a:buSzPct val="75000"/>
              <a:buFont typeface="Wingdings" panose="05000000000000000000" pitchFamily="2" charset="2"/>
              <a:buChar char="q"/>
            </a:pPr>
            <a:r>
              <a:rPr lang="vi-VN" sz="2000">
                <a:solidFill>
                  <a:schemeClr val="dk1"/>
                </a:solidFill>
                <a:latin typeface="Encode Sans"/>
              </a:rPr>
              <a:t>Tính trừu tượng cao</a:t>
            </a:r>
            <a:endParaRPr lang="en-US" sz="2000">
              <a:solidFill>
                <a:schemeClr val="dk1"/>
              </a:solidFill>
              <a:latin typeface="Encode Sans"/>
            </a:endParaRPr>
          </a:p>
          <a:p>
            <a:pPr marL="285750" lvl="3" indent="-285750" algn="just">
              <a:lnSpc>
                <a:spcPct val="120000"/>
              </a:lnSpc>
              <a:spcAft>
                <a:spcPts val="600"/>
              </a:spcAft>
              <a:buClr>
                <a:schemeClr val="dk1"/>
              </a:buClr>
              <a:buSzPct val="75000"/>
              <a:buFont typeface="Wingdings" panose="05000000000000000000" pitchFamily="2" charset="2"/>
              <a:buChar char="q"/>
            </a:pPr>
            <a:r>
              <a:rPr lang="en-US" sz="2000">
                <a:solidFill>
                  <a:schemeClr val="dk1"/>
                </a:solidFill>
                <a:latin typeface="Encode Sans"/>
              </a:rPr>
              <a:t>Sự phức tạp ngày càng tăng</a:t>
            </a:r>
          </a:p>
          <a:p>
            <a:pPr marL="285750" lvl="3" indent="-285750" algn="just">
              <a:lnSpc>
                <a:spcPct val="120000"/>
              </a:lnSpc>
              <a:spcAft>
                <a:spcPts val="600"/>
              </a:spcAft>
              <a:buClr>
                <a:schemeClr val="dk1"/>
              </a:buClr>
              <a:buSzPct val="75000"/>
              <a:buFont typeface="Wingdings" panose="05000000000000000000" pitchFamily="2" charset="2"/>
              <a:buChar char="q"/>
            </a:pPr>
            <a:r>
              <a:rPr lang="en-US" sz="2000">
                <a:solidFill>
                  <a:schemeClr val="dk1"/>
                </a:solidFill>
                <a:latin typeface="Encode Sans"/>
              </a:rPr>
              <a:t>Yêu cầu thay đổi liên tục</a:t>
            </a:r>
            <a:endParaRPr lang="en-US" sz="2000">
              <a:solidFill>
                <a:schemeClr val="dk1"/>
              </a:solidFill>
              <a:latin typeface="Encode Sans"/>
              <a:sym typeface="Encode Sans"/>
            </a:endParaRPr>
          </a:p>
        </p:txBody>
      </p:sp>
      <p:sp>
        <p:nvSpPr>
          <p:cNvPr id="16" name="TextBox 15">
            <a:extLst>
              <a:ext uri="{FF2B5EF4-FFF2-40B4-BE49-F238E27FC236}">
                <a16:creationId xmlns:a16="http://schemas.microsoft.com/office/drawing/2014/main" id="{F353CC65-F028-D07F-4B75-FC66ECF0116B}"/>
              </a:ext>
            </a:extLst>
          </p:cNvPr>
          <p:cNvSpPr txBox="1"/>
          <p:nvPr/>
        </p:nvSpPr>
        <p:spPr>
          <a:xfrm>
            <a:off x="4724813" y="2683410"/>
            <a:ext cx="4004841" cy="1316066"/>
          </a:xfrm>
          <a:prstGeom prst="rect">
            <a:avLst/>
          </a:prstGeom>
          <a:noFill/>
        </p:spPr>
        <p:txBody>
          <a:bodyPr wrap="square">
            <a:spAutoFit/>
          </a:bodyPr>
          <a:lstStyle/>
          <a:p>
            <a:pPr marL="285750" lvl="3" indent="-285750" algn="just">
              <a:lnSpc>
                <a:spcPct val="120000"/>
              </a:lnSpc>
              <a:spcAft>
                <a:spcPts val="600"/>
              </a:spcAft>
              <a:buClr>
                <a:schemeClr val="dk1"/>
              </a:buClr>
              <a:buSzPct val="75000"/>
              <a:buFont typeface="Wingdings" panose="05000000000000000000" pitchFamily="2" charset="2"/>
              <a:buChar char="q"/>
            </a:pPr>
            <a:r>
              <a:rPr lang="vi-VN" sz="2000">
                <a:solidFill>
                  <a:schemeClr val="dk1"/>
                </a:solidFill>
                <a:latin typeface="Encode Sans"/>
              </a:rPr>
              <a:t>Phụ thuộc vào con người</a:t>
            </a:r>
            <a:endParaRPr lang="en-US" sz="2000">
              <a:solidFill>
                <a:schemeClr val="dk1"/>
              </a:solidFill>
              <a:latin typeface="Encode Sans"/>
            </a:endParaRPr>
          </a:p>
          <a:p>
            <a:pPr marL="285750" lvl="3" indent="-285750" algn="just">
              <a:lnSpc>
                <a:spcPct val="120000"/>
              </a:lnSpc>
              <a:spcAft>
                <a:spcPts val="600"/>
              </a:spcAft>
              <a:buClr>
                <a:schemeClr val="dk1"/>
              </a:buClr>
              <a:buSzPct val="75000"/>
              <a:buFont typeface="Wingdings" panose="05000000000000000000" pitchFamily="2" charset="2"/>
              <a:buChar char="q"/>
            </a:pPr>
            <a:r>
              <a:rPr lang="en-US" sz="2000">
                <a:solidFill>
                  <a:schemeClr val="dk1"/>
                </a:solidFill>
                <a:latin typeface="Encode Sans"/>
              </a:rPr>
              <a:t>Công nghệ phát triển nhanh</a:t>
            </a:r>
          </a:p>
          <a:p>
            <a:pPr marL="285750" lvl="3" indent="-285750" algn="just">
              <a:lnSpc>
                <a:spcPct val="120000"/>
              </a:lnSpc>
              <a:spcAft>
                <a:spcPts val="600"/>
              </a:spcAft>
              <a:buClr>
                <a:schemeClr val="dk1"/>
              </a:buClr>
              <a:buSzPct val="75000"/>
              <a:buFont typeface="Wingdings" panose="05000000000000000000" pitchFamily="2" charset="2"/>
              <a:buChar char="q"/>
            </a:pPr>
            <a:r>
              <a:rPr lang="vi-VN" sz="2000">
                <a:solidFill>
                  <a:schemeClr val="dk1"/>
                </a:solidFill>
                <a:latin typeface="Encode Sans"/>
              </a:rPr>
              <a:t>Khó ước lượng chính xác</a:t>
            </a:r>
            <a:endParaRPr lang="en-US" sz="2000">
              <a:solidFill>
                <a:schemeClr val="dk1"/>
              </a:solidFill>
              <a:latin typeface="Encode Sans"/>
              <a:sym typeface="Encode Sans"/>
            </a:endParaRPr>
          </a:p>
        </p:txBody>
      </p:sp>
    </p:spTree>
    <p:extLst>
      <p:ext uri="{BB962C8B-B14F-4D97-AF65-F5344CB8AC3E}">
        <p14:creationId xmlns:p14="http://schemas.microsoft.com/office/powerpoint/2010/main" val="3859876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9">
          <a:extLst>
            <a:ext uri="{FF2B5EF4-FFF2-40B4-BE49-F238E27FC236}">
              <a16:creationId xmlns:a16="http://schemas.microsoft.com/office/drawing/2014/main" id="{60181975-E580-41AE-8F90-EAC93ACC7D9A}"/>
            </a:ext>
          </a:extLst>
        </p:cNvPr>
        <p:cNvGrpSpPr/>
        <p:nvPr/>
      </p:nvGrpSpPr>
      <p:grpSpPr>
        <a:xfrm>
          <a:off x="0" y="0"/>
          <a:ext cx="0" cy="0"/>
          <a:chOff x="0" y="0"/>
          <a:chExt cx="0" cy="0"/>
        </a:xfrm>
      </p:grpSpPr>
      <p:sp>
        <p:nvSpPr>
          <p:cNvPr id="410" name="Google Shape;410;p33">
            <a:extLst>
              <a:ext uri="{FF2B5EF4-FFF2-40B4-BE49-F238E27FC236}">
                <a16:creationId xmlns:a16="http://schemas.microsoft.com/office/drawing/2014/main" id="{1FE93B4C-2CB6-68CA-B786-E255E39F1762}"/>
              </a:ext>
            </a:extLst>
          </p:cNvPr>
          <p:cNvSpPr txBox="1">
            <a:spLocks noGrp="1"/>
          </p:cNvSpPr>
          <p:nvPr>
            <p:ph type="title"/>
          </p:nvPr>
        </p:nvSpPr>
        <p:spPr>
          <a:xfrm>
            <a:off x="2512741" y="1947229"/>
            <a:ext cx="5003181" cy="141084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400" b="1">
                <a:solidFill>
                  <a:schemeClr val="tx2">
                    <a:lumMod val="75000"/>
                  </a:schemeClr>
                </a:solidFill>
              </a:rPr>
              <a:t>Quy trình </a:t>
            </a:r>
            <a:br>
              <a:rPr lang="en" sz="2800" b="1">
                <a:solidFill>
                  <a:schemeClr val="tx1"/>
                </a:solidFill>
              </a:rPr>
            </a:br>
            <a:r>
              <a:rPr lang="en" sz="3400">
                <a:solidFill>
                  <a:schemeClr val="tx1"/>
                </a:solidFill>
              </a:rPr>
              <a:t>quản lý rủi ro</a:t>
            </a:r>
            <a:endParaRPr sz="3400">
              <a:solidFill>
                <a:schemeClr val="tx1"/>
              </a:solidFill>
            </a:endParaRPr>
          </a:p>
        </p:txBody>
      </p:sp>
      <p:sp>
        <p:nvSpPr>
          <p:cNvPr id="411" name="Google Shape;411;p33">
            <a:extLst>
              <a:ext uri="{FF2B5EF4-FFF2-40B4-BE49-F238E27FC236}">
                <a16:creationId xmlns:a16="http://schemas.microsoft.com/office/drawing/2014/main" id="{C4974A8E-3E60-8D69-99A7-0F9CBA24345C}"/>
              </a:ext>
            </a:extLst>
          </p:cNvPr>
          <p:cNvSpPr txBox="1">
            <a:spLocks noGrp="1"/>
          </p:cNvSpPr>
          <p:nvPr>
            <p:ph type="title" idx="2"/>
          </p:nvPr>
        </p:nvSpPr>
        <p:spPr>
          <a:xfrm>
            <a:off x="795454" y="2061450"/>
            <a:ext cx="1584721" cy="102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grpSp>
        <p:nvGrpSpPr>
          <p:cNvPr id="412" name="Google Shape;412;p33">
            <a:extLst>
              <a:ext uri="{FF2B5EF4-FFF2-40B4-BE49-F238E27FC236}">
                <a16:creationId xmlns:a16="http://schemas.microsoft.com/office/drawing/2014/main" id="{00E9A105-FF18-5FD7-4F09-E81FFBD24233}"/>
              </a:ext>
            </a:extLst>
          </p:cNvPr>
          <p:cNvGrpSpPr/>
          <p:nvPr/>
        </p:nvGrpSpPr>
        <p:grpSpPr>
          <a:xfrm>
            <a:off x="713226" y="1029883"/>
            <a:ext cx="2224840" cy="418725"/>
            <a:chOff x="7318351" y="2997150"/>
            <a:chExt cx="2224840" cy="418725"/>
          </a:xfrm>
        </p:grpSpPr>
        <p:sp>
          <p:nvSpPr>
            <p:cNvPr id="413" name="Google Shape;413;p33">
              <a:extLst>
                <a:ext uri="{FF2B5EF4-FFF2-40B4-BE49-F238E27FC236}">
                  <a16:creationId xmlns:a16="http://schemas.microsoft.com/office/drawing/2014/main" id="{C2DB2E4F-95DD-18B6-20AF-65AB65C741A3}"/>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0A560D8C-C20F-F145-C49C-D731E6C8B5FB}"/>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a:extLst>
                <a:ext uri="{FF2B5EF4-FFF2-40B4-BE49-F238E27FC236}">
                  <a16:creationId xmlns:a16="http://schemas.microsoft.com/office/drawing/2014/main" id="{577787B0-171D-2048-EF44-5B9A17322548}"/>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 name="Google Shape;416;p33">
            <a:extLst>
              <a:ext uri="{FF2B5EF4-FFF2-40B4-BE49-F238E27FC236}">
                <a16:creationId xmlns:a16="http://schemas.microsoft.com/office/drawing/2014/main" id="{7E832DB7-8909-A617-B43A-DBB2D6109A3D}"/>
              </a:ext>
            </a:extLst>
          </p:cNvPr>
          <p:cNvGrpSpPr/>
          <p:nvPr/>
        </p:nvGrpSpPr>
        <p:grpSpPr>
          <a:xfrm>
            <a:off x="905675" y="3962558"/>
            <a:ext cx="2026050" cy="514500"/>
            <a:chOff x="-834325" y="4144333"/>
            <a:chExt cx="2026050" cy="514500"/>
          </a:xfrm>
        </p:grpSpPr>
        <p:sp>
          <p:nvSpPr>
            <p:cNvPr id="417" name="Google Shape;417;p33">
              <a:extLst>
                <a:ext uri="{FF2B5EF4-FFF2-40B4-BE49-F238E27FC236}">
                  <a16:creationId xmlns:a16="http://schemas.microsoft.com/office/drawing/2014/main" id="{C79ED351-3D56-2E7A-40A0-4A454B3E24FE}"/>
                </a:ext>
              </a:extLst>
            </p:cNvPr>
            <p:cNvSpPr/>
            <p:nvPr/>
          </p:nvSpPr>
          <p:spPr>
            <a:xfrm>
              <a:off x="-834325" y="4144333"/>
              <a:ext cx="1930800" cy="440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8" name="Google Shape;418;p33">
              <a:extLst>
                <a:ext uri="{FF2B5EF4-FFF2-40B4-BE49-F238E27FC236}">
                  <a16:creationId xmlns:a16="http://schemas.microsoft.com/office/drawing/2014/main" id="{2A367EC1-CF95-0F75-3BB1-1755DD501E46}"/>
                </a:ext>
              </a:extLst>
            </p:cNvPr>
            <p:cNvSpPr/>
            <p:nvPr/>
          </p:nvSpPr>
          <p:spPr>
            <a:xfrm>
              <a:off x="-739075" y="4218433"/>
              <a:ext cx="1930800" cy="4404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419" name="Google Shape;419;p33">
            <a:extLst>
              <a:ext uri="{FF2B5EF4-FFF2-40B4-BE49-F238E27FC236}">
                <a16:creationId xmlns:a16="http://schemas.microsoft.com/office/drawing/2014/main" id="{38A33B11-174C-09D7-39AB-4E15E468A8D7}"/>
              </a:ext>
            </a:extLst>
          </p:cNvPr>
          <p:cNvSpPr/>
          <p:nvPr/>
        </p:nvSpPr>
        <p:spPr>
          <a:xfrm rot="5400000">
            <a:off x="7358575" y="1030875"/>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0" name="Google Shape;420;p33">
            <a:extLst>
              <a:ext uri="{FF2B5EF4-FFF2-40B4-BE49-F238E27FC236}">
                <a16:creationId xmlns:a16="http://schemas.microsoft.com/office/drawing/2014/main" id="{210C31B1-54E9-66A3-919B-9FB76C2CAC55}"/>
              </a:ext>
            </a:extLst>
          </p:cNvPr>
          <p:cNvSpPr/>
          <p:nvPr/>
        </p:nvSpPr>
        <p:spPr>
          <a:xfrm>
            <a:off x="3094400" y="693033"/>
            <a:ext cx="156900" cy="156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421" name="Google Shape;421;p33">
            <a:extLst>
              <a:ext uri="{FF2B5EF4-FFF2-40B4-BE49-F238E27FC236}">
                <a16:creationId xmlns:a16="http://schemas.microsoft.com/office/drawing/2014/main" id="{B203B34B-4CFE-B9CB-1038-FFD6702C810C}"/>
              </a:ext>
            </a:extLst>
          </p:cNvPr>
          <p:cNvCxnSpPr/>
          <p:nvPr/>
        </p:nvCxnSpPr>
        <p:spPr>
          <a:xfrm rot="10800000">
            <a:off x="-179050" y="3432175"/>
            <a:ext cx="6953400" cy="0"/>
          </a:xfrm>
          <a:prstGeom prst="straightConnector1">
            <a:avLst/>
          </a:prstGeom>
          <a:noFill/>
          <a:ln w="19050" cap="flat" cmpd="sng">
            <a:solidFill>
              <a:schemeClr val="lt2"/>
            </a:solidFill>
            <a:prstDash val="solid"/>
            <a:round/>
            <a:headEnd type="diamond" w="med" len="med"/>
            <a:tailEnd type="none" w="med" len="med"/>
          </a:ln>
        </p:spPr>
      </p:cxnSp>
    </p:spTree>
    <p:extLst>
      <p:ext uri="{BB962C8B-B14F-4D97-AF65-F5344CB8AC3E}">
        <p14:creationId xmlns:p14="http://schemas.microsoft.com/office/powerpoint/2010/main" val="2948061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7BE776F3-CD6C-7138-6987-035CA3DE5B39}"/>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F363820C-500D-0DB6-9DE6-D3D760E4C61F}"/>
              </a:ext>
            </a:extLst>
          </p:cNvPr>
          <p:cNvSpPr txBox="1">
            <a:spLocks noGrp="1"/>
          </p:cNvSpPr>
          <p:nvPr>
            <p:ph type="title"/>
          </p:nvPr>
        </p:nvSpPr>
        <p:spPr>
          <a:xfrm>
            <a:off x="525861" y="421111"/>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a:t>Quy trình quản lý rủi ro</a:t>
            </a:r>
            <a:endParaRPr sz="2800" b="1"/>
          </a:p>
        </p:txBody>
      </p:sp>
      <p:sp>
        <p:nvSpPr>
          <p:cNvPr id="429" name="Google Shape;429;p34">
            <a:extLst>
              <a:ext uri="{FF2B5EF4-FFF2-40B4-BE49-F238E27FC236}">
                <a16:creationId xmlns:a16="http://schemas.microsoft.com/office/drawing/2014/main" id="{44D53EAD-9405-EB40-9305-6B7642C8DF79}"/>
              </a:ext>
            </a:extLst>
          </p:cNvPr>
          <p:cNvSpPr txBox="1">
            <a:spLocks noGrp="1"/>
          </p:cNvSpPr>
          <p:nvPr>
            <p:ph type="subTitle" idx="2"/>
          </p:nvPr>
        </p:nvSpPr>
        <p:spPr>
          <a:xfrm>
            <a:off x="348792" y="1391141"/>
            <a:ext cx="4958500" cy="2906742"/>
          </a:xfrm>
          <a:prstGeom prst="rect">
            <a:avLst/>
          </a:prstGeom>
        </p:spPr>
        <p:txBody>
          <a:bodyPr spcFirstLastPara="1" wrap="square" lIns="91425" tIns="91425" rIns="91425" bIns="91425" anchor="t" anchorCtr="0">
            <a:noAutofit/>
          </a:bodyPr>
          <a:lstStyle/>
          <a:p>
            <a:pPr marL="285750" lvl="0" indent="-285750" algn="just" rtl="0">
              <a:lnSpc>
                <a:spcPct val="120000"/>
              </a:lnSpc>
              <a:spcBef>
                <a:spcPts val="0"/>
              </a:spcBef>
              <a:spcAft>
                <a:spcPts val="1200"/>
              </a:spcAft>
              <a:buSzPct val="85000"/>
              <a:buFont typeface="Wingdings" panose="05000000000000000000" pitchFamily="2" charset="2"/>
              <a:buChar char="Ø"/>
            </a:pPr>
            <a:r>
              <a:rPr lang="en-US" sz="2000"/>
              <a:t>Quy trình quản lý rủi ro </a:t>
            </a:r>
            <a:r>
              <a:rPr lang="en-US" sz="2000">
                <a:highlight>
                  <a:srgbClr val="FFFF00"/>
                </a:highlight>
              </a:rPr>
              <a:t>bao gồm:</a:t>
            </a:r>
          </a:p>
          <a:p>
            <a:pPr lvl="1" indent="-457200" algn="just">
              <a:lnSpc>
                <a:spcPct val="120000"/>
              </a:lnSpc>
              <a:spcAft>
                <a:spcPts val="300"/>
              </a:spcAft>
              <a:buSzPct val="75000"/>
              <a:buFont typeface="+mj-lt"/>
              <a:buAutoNum type="arabicPeriod"/>
            </a:pPr>
            <a:r>
              <a:rPr lang="en-US" sz="2000" b="1">
                <a:solidFill>
                  <a:schemeClr val="accent2">
                    <a:lumMod val="50000"/>
                  </a:schemeClr>
                </a:solidFill>
              </a:rPr>
              <a:t>Lập kế hoạch quản lý </a:t>
            </a:r>
            <a:r>
              <a:rPr lang="en-US" sz="2000"/>
              <a:t>rủi ro</a:t>
            </a:r>
          </a:p>
          <a:p>
            <a:pPr lvl="1" indent="-457200" algn="just">
              <a:lnSpc>
                <a:spcPct val="120000"/>
              </a:lnSpc>
              <a:spcAft>
                <a:spcPts val="300"/>
              </a:spcAft>
              <a:buSzPct val="75000"/>
              <a:buFont typeface="+mj-lt"/>
              <a:buAutoNum type="arabicPeriod"/>
            </a:pPr>
            <a:r>
              <a:rPr lang="en-US" sz="2000" b="1">
                <a:solidFill>
                  <a:schemeClr val="accent2">
                    <a:lumMod val="50000"/>
                  </a:schemeClr>
                </a:solidFill>
              </a:rPr>
              <a:t>Nhận diện </a:t>
            </a:r>
            <a:r>
              <a:rPr lang="en-US" sz="2000"/>
              <a:t>rủi ro</a:t>
            </a:r>
          </a:p>
          <a:p>
            <a:pPr lvl="1" indent="-457200" algn="just">
              <a:lnSpc>
                <a:spcPct val="120000"/>
              </a:lnSpc>
              <a:spcAft>
                <a:spcPts val="300"/>
              </a:spcAft>
              <a:buSzPct val="75000"/>
              <a:buFont typeface="+mj-lt"/>
              <a:buAutoNum type="arabicPeriod"/>
            </a:pPr>
            <a:r>
              <a:rPr lang="en-US" sz="2000" b="1">
                <a:solidFill>
                  <a:schemeClr val="accent2">
                    <a:lumMod val="50000"/>
                  </a:schemeClr>
                </a:solidFill>
              </a:rPr>
              <a:t>Phân tích </a:t>
            </a:r>
            <a:r>
              <a:rPr lang="en-US" sz="2000"/>
              <a:t>rủi ro</a:t>
            </a:r>
          </a:p>
          <a:p>
            <a:pPr lvl="1" indent="-457200" algn="just">
              <a:lnSpc>
                <a:spcPct val="120000"/>
              </a:lnSpc>
              <a:spcAft>
                <a:spcPts val="300"/>
              </a:spcAft>
              <a:buSzPct val="75000"/>
              <a:buFont typeface="+mj-lt"/>
              <a:buAutoNum type="arabicPeriod"/>
            </a:pPr>
            <a:r>
              <a:rPr lang="en-US" sz="2000" b="1">
                <a:solidFill>
                  <a:schemeClr val="accent2">
                    <a:lumMod val="50000"/>
                  </a:schemeClr>
                </a:solidFill>
              </a:rPr>
              <a:t>Kiểm soát </a:t>
            </a:r>
            <a:r>
              <a:rPr lang="en-US" sz="2000"/>
              <a:t>rủi ro</a:t>
            </a:r>
          </a:p>
          <a:p>
            <a:pPr lvl="1" indent="-457200" algn="just">
              <a:lnSpc>
                <a:spcPct val="120000"/>
              </a:lnSpc>
              <a:spcAft>
                <a:spcPts val="300"/>
              </a:spcAft>
              <a:buSzPct val="75000"/>
              <a:buFont typeface="+mj-lt"/>
              <a:buAutoNum type="arabicPeriod"/>
            </a:pPr>
            <a:r>
              <a:rPr lang="en-US" sz="2000" b="1">
                <a:solidFill>
                  <a:schemeClr val="accent2">
                    <a:lumMod val="50000"/>
                  </a:schemeClr>
                </a:solidFill>
              </a:rPr>
              <a:t>Giám sát và điều chỉnh </a:t>
            </a:r>
            <a:r>
              <a:rPr lang="en-US" sz="2000"/>
              <a:t>rủi ro</a:t>
            </a:r>
            <a:endParaRPr sz="2000"/>
          </a:p>
        </p:txBody>
      </p:sp>
      <p:grpSp>
        <p:nvGrpSpPr>
          <p:cNvPr id="433" name="Google Shape;433;p34">
            <a:extLst>
              <a:ext uri="{FF2B5EF4-FFF2-40B4-BE49-F238E27FC236}">
                <a16:creationId xmlns:a16="http://schemas.microsoft.com/office/drawing/2014/main" id="{2D232201-E407-09D5-A862-A4F0B9210060}"/>
              </a:ext>
            </a:extLst>
          </p:cNvPr>
          <p:cNvGrpSpPr/>
          <p:nvPr/>
        </p:nvGrpSpPr>
        <p:grpSpPr>
          <a:xfrm>
            <a:off x="7716571" y="808362"/>
            <a:ext cx="2224840" cy="418725"/>
            <a:chOff x="7318351" y="2997150"/>
            <a:chExt cx="2224840" cy="418725"/>
          </a:xfrm>
        </p:grpSpPr>
        <p:sp>
          <p:nvSpPr>
            <p:cNvPr id="434" name="Google Shape;434;p34">
              <a:extLst>
                <a:ext uri="{FF2B5EF4-FFF2-40B4-BE49-F238E27FC236}">
                  <a16:creationId xmlns:a16="http://schemas.microsoft.com/office/drawing/2014/main" id="{58A4EAC2-B27D-4DEE-806E-4B69E31DF825}"/>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6C97A973-FB7A-00F6-8625-5C7FCB4B3ECF}"/>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DA695878-47FA-238D-5079-45B3BF137A98}"/>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32" name="Picture 8" descr="What's Your Risk Management? - PEI">
            <a:extLst>
              <a:ext uri="{FF2B5EF4-FFF2-40B4-BE49-F238E27FC236}">
                <a16:creationId xmlns:a16="http://schemas.microsoft.com/office/drawing/2014/main" id="{408C6AEB-4949-5053-C62C-01D802621B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1965" y="1169051"/>
            <a:ext cx="3450210" cy="3450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9775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39"/>
          <p:cNvSpPr txBox="1">
            <a:spLocks noGrp="1"/>
          </p:cNvSpPr>
          <p:nvPr>
            <p:ph type="title"/>
          </p:nvPr>
        </p:nvSpPr>
        <p:spPr>
          <a:xfrm>
            <a:off x="673536" y="1376315"/>
            <a:ext cx="7056444" cy="196077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400" b="1">
                <a:solidFill>
                  <a:schemeClr val="tx2">
                    <a:lumMod val="75000"/>
                  </a:schemeClr>
                </a:solidFill>
              </a:rPr>
              <a:t>Lập kế hoạch </a:t>
            </a:r>
            <a:r>
              <a:rPr lang="en"/>
              <a:t>quản lý rủi ro</a:t>
            </a:r>
            <a:endParaRPr/>
          </a:p>
        </p:txBody>
      </p:sp>
      <p:grpSp>
        <p:nvGrpSpPr>
          <p:cNvPr id="4" name="Google Shape;519;p39">
            <a:extLst>
              <a:ext uri="{FF2B5EF4-FFF2-40B4-BE49-F238E27FC236}">
                <a16:creationId xmlns:a16="http://schemas.microsoft.com/office/drawing/2014/main" id="{1D910AD4-6DBA-C278-885C-9F80846F1B8C}"/>
              </a:ext>
            </a:extLst>
          </p:cNvPr>
          <p:cNvGrpSpPr/>
          <p:nvPr/>
        </p:nvGrpSpPr>
        <p:grpSpPr>
          <a:xfrm>
            <a:off x="6834025" y="1495131"/>
            <a:ext cx="2224840" cy="418725"/>
            <a:chOff x="7318351" y="2997150"/>
            <a:chExt cx="2224840" cy="418725"/>
          </a:xfrm>
        </p:grpSpPr>
        <p:sp>
          <p:nvSpPr>
            <p:cNvPr id="5" name="Google Shape;520;p39">
              <a:extLst>
                <a:ext uri="{FF2B5EF4-FFF2-40B4-BE49-F238E27FC236}">
                  <a16:creationId xmlns:a16="http://schemas.microsoft.com/office/drawing/2014/main" id="{BFC294B4-142A-0A71-7610-9B562212165C}"/>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21;p39">
              <a:extLst>
                <a:ext uri="{FF2B5EF4-FFF2-40B4-BE49-F238E27FC236}">
                  <a16:creationId xmlns:a16="http://schemas.microsoft.com/office/drawing/2014/main" id="{CB293029-F91E-202E-1CC9-00E85F3AE194}"/>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22;p39">
              <a:extLst>
                <a:ext uri="{FF2B5EF4-FFF2-40B4-BE49-F238E27FC236}">
                  <a16:creationId xmlns:a16="http://schemas.microsoft.com/office/drawing/2014/main" id="{316D2150-3428-D1A7-76C3-784C4B36ABE8}"/>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518;p39">
            <a:extLst>
              <a:ext uri="{FF2B5EF4-FFF2-40B4-BE49-F238E27FC236}">
                <a16:creationId xmlns:a16="http://schemas.microsoft.com/office/drawing/2014/main" id="{7FFC7B5C-F16E-0965-9504-5E1C60F54BBC}"/>
              </a:ext>
            </a:extLst>
          </p:cNvPr>
          <p:cNvSpPr txBox="1">
            <a:spLocks noGrp="1"/>
          </p:cNvSpPr>
          <p:nvPr>
            <p:ph type="subTitle" idx="1"/>
          </p:nvPr>
        </p:nvSpPr>
        <p:spPr>
          <a:xfrm>
            <a:off x="5850450" y="3953240"/>
            <a:ext cx="2232600" cy="642900"/>
          </a:xfrm>
          <a:prstGeom prst="rect">
            <a:avLst/>
          </a:prstGeom>
        </p:spPr>
        <p:txBody>
          <a:bodyPr spcFirstLastPara="1" wrap="square" lIns="91425" tIns="91425" rIns="91425" bIns="91425" anchor="b" anchorCtr="0">
            <a:noAutofit/>
          </a:bodyPr>
          <a:lstStyle/>
          <a:p>
            <a:pPr marL="0" lvl="0" indent="0"/>
            <a:r>
              <a:rPr lang="en-US" sz="2000"/>
              <a:t>Bước 1</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A9D066FB-4BC3-6527-12A5-E059A91CB915}"/>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D1870DE1-80E7-ABE8-DC0C-4F1805164ED5}"/>
              </a:ext>
            </a:extLst>
          </p:cNvPr>
          <p:cNvSpPr txBox="1">
            <a:spLocks noGrp="1"/>
          </p:cNvSpPr>
          <p:nvPr>
            <p:ph type="title"/>
          </p:nvPr>
        </p:nvSpPr>
        <p:spPr>
          <a:xfrm>
            <a:off x="556590" y="5485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a:t>Lập kế hoạch quản lý</a:t>
            </a:r>
            <a:endParaRPr sz="2800" b="1"/>
          </a:p>
        </p:txBody>
      </p:sp>
      <p:grpSp>
        <p:nvGrpSpPr>
          <p:cNvPr id="433" name="Google Shape;433;p34">
            <a:extLst>
              <a:ext uri="{FF2B5EF4-FFF2-40B4-BE49-F238E27FC236}">
                <a16:creationId xmlns:a16="http://schemas.microsoft.com/office/drawing/2014/main" id="{709CE092-E385-A4F2-E9FC-A7CD06FDC171}"/>
              </a:ext>
            </a:extLst>
          </p:cNvPr>
          <p:cNvGrpSpPr/>
          <p:nvPr/>
        </p:nvGrpSpPr>
        <p:grpSpPr>
          <a:xfrm>
            <a:off x="7716571" y="808362"/>
            <a:ext cx="2224840" cy="418725"/>
            <a:chOff x="7318351" y="2997150"/>
            <a:chExt cx="2224840" cy="418725"/>
          </a:xfrm>
        </p:grpSpPr>
        <p:sp>
          <p:nvSpPr>
            <p:cNvPr id="434" name="Google Shape;434;p34">
              <a:extLst>
                <a:ext uri="{FF2B5EF4-FFF2-40B4-BE49-F238E27FC236}">
                  <a16:creationId xmlns:a16="http://schemas.microsoft.com/office/drawing/2014/main" id="{F095390B-084C-9633-DFE0-709E0AAD6A64}"/>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D460B898-CAAA-A753-2FEA-7DE5D7D3F6CC}"/>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52ADAD59-BECB-F60B-CBEA-908419419D1D}"/>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582CAAAE-9CB2-3DFD-9006-1BB75C96F3A9}"/>
              </a:ext>
            </a:extLst>
          </p:cNvPr>
          <p:cNvSpPr txBox="1"/>
          <p:nvPr/>
        </p:nvSpPr>
        <p:spPr>
          <a:xfrm>
            <a:off x="556591" y="1227087"/>
            <a:ext cx="184731" cy="307777"/>
          </a:xfrm>
          <a:prstGeom prst="rect">
            <a:avLst/>
          </a:prstGeom>
          <a:noFill/>
        </p:spPr>
        <p:txBody>
          <a:bodyPr wrap="none" rtlCol="0">
            <a:spAutoFit/>
          </a:bodyPr>
          <a:lstStyle/>
          <a:p>
            <a:endParaRPr lang="en-US"/>
          </a:p>
        </p:txBody>
      </p:sp>
      <p:sp>
        <p:nvSpPr>
          <p:cNvPr id="4" name="Google Shape;429;p34">
            <a:extLst>
              <a:ext uri="{FF2B5EF4-FFF2-40B4-BE49-F238E27FC236}">
                <a16:creationId xmlns:a16="http://schemas.microsoft.com/office/drawing/2014/main" id="{254155A8-26F4-BBAD-CBAF-82AF11E88E00}"/>
              </a:ext>
            </a:extLst>
          </p:cNvPr>
          <p:cNvSpPr txBox="1">
            <a:spLocks/>
          </p:cNvSpPr>
          <p:nvPr/>
        </p:nvSpPr>
        <p:spPr>
          <a:xfrm>
            <a:off x="648956" y="1357149"/>
            <a:ext cx="7611634" cy="318124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285750" indent="-285750" algn="just">
              <a:lnSpc>
                <a:spcPct val="120000"/>
              </a:lnSpc>
              <a:spcAft>
                <a:spcPts val="1200"/>
              </a:spcAft>
              <a:buSzPct val="85000"/>
              <a:buFont typeface="Wingdings" panose="05000000000000000000" pitchFamily="2" charset="2"/>
              <a:buChar char="Ø"/>
            </a:pPr>
            <a:r>
              <a:rPr lang="vi-VN" sz="1800"/>
              <a:t>Để xây dựng được một kế hoạch quản lý rủi ro hiệu quả, nhóm dự án </a:t>
            </a:r>
            <a:r>
              <a:rPr lang="vi-VN" sz="1800">
                <a:highlight>
                  <a:srgbClr val="FFFF00"/>
                </a:highlight>
              </a:rPr>
              <a:t>cần đặt ra một loạt câu hỏi quan trọng</a:t>
            </a:r>
            <a:r>
              <a:rPr lang="vi-VN" sz="1800"/>
              <a:t> để làm rõ các yếu tố nền tảng. </a:t>
            </a:r>
            <a:endParaRPr lang="en-US" sz="1800"/>
          </a:p>
          <a:p>
            <a:pPr marL="285750" indent="-285750" algn="just">
              <a:lnSpc>
                <a:spcPct val="120000"/>
              </a:lnSpc>
              <a:spcAft>
                <a:spcPts val="1200"/>
              </a:spcAft>
              <a:buSzPct val="85000"/>
              <a:buFont typeface="Wingdings" panose="05000000000000000000" pitchFamily="2" charset="2"/>
              <a:buChar char="Ø"/>
            </a:pPr>
            <a:r>
              <a:rPr lang="vi-VN" sz="1800"/>
              <a:t>Các câu hỏi này không chỉ </a:t>
            </a:r>
            <a:r>
              <a:rPr lang="vi-VN" sz="1800" b="1"/>
              <a:t>giúp xác định trách nhiệm, phạm vi và phương pháp quản lý, </a:t>
            </a:r>
            <a:r>
              <a:rPr lang="vi-VN" sz="1800">
                <a:highlight>
                  <a:srgbClr val="FFFF00"/>
                </a:highlight>
              </a:rPr>
              <a:t>mà còn đảm bảo rằng rủi ro sẽ được theo dõi và xử lý một cách chủ động trong suốt vòng đời dự án</a:t>
            </a:r>
            <a:r>
              <a:rPr lang="vi-VN" sz="1800"/>
              <a:t>.</a:t>
            </a:r>
            <a:endParaRPr lang="en-US" sz="1800"/>
          </a:p>
          <a:p>
            <a:pPr marL="285750" indent="-285750" algn="just">
              <a:lnSpc>
                <a:spcPct val="120000"/>
              </a:lnSpc>
              <a:spcAft>
                <a:spcPts val="1200"/>
              </a:spcAft>
              <a:buSzPct val="85000"/>
              <a:buFont typeface="Wingdings" panose="05000000000000000000" pitchFamily="2" charset="2"/>
              <a:buChar char="Ø"/>
            </a:pPr>
            <a:r>
              <a:rPr lang="vi-VN" sz="1800"/>
              <a:t>Những câu hỏi </a:t>
            </a:r>
            <a:r>
              <a:rPr lang="en-US" sz="1800"/>
              <a:t>đặt ra </a:t>
            </a:r>
            <a:r>
              <a:rPr lang="vi-VN" sz="1800"/>
              <a:t>cần được trả lời rõ ràng ngay từ đầu để đảm bảo mọi hoạt động quản lý rủi ro diễn ra có định hướng, phù hợp với đặc điểm và mục tiêu của từng dự án.</a:t>
            </a:r>
          </a:p>
        </p:txBody>
      </p:sp>
    </p:spTree>
    <p:extLst>
      <p:ext uri="{BB962C8B-B14F-4D97-AF65-F5344CB8AC3E}">
        <p14:creationId xmlns:p14="http://schemas.microsoft.com/office/powerpoint/2010/main" val="1676102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25ACCA77-A9AC-9F03-B591-44A07CA064D1}"/>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1B210B97-B705-4A8D-F8A9-D41FB4D8FEE8}"/>
              </a:ext>
            </a:extLst>
          </p:cNvPr>
          <p:cNvSpPr txBox="1">
            <a:spLocks noGrp="1"/>
          </p:cNvSpPr>
          <p:nvPr>
            <p:ph type="title"/>
          </p:nvPr>
        </p:nvSpPr>
        <p:spPr>
          <a:xfrm>
            <a:off x="445625" y="44240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a:t>Một số câu hỏi cốt lõi</a:t>
            </a:r>
            <a:endParaRPr sz="2800" b="1"/>
          </a:p>
        </p:txBody>
      </p:sp>
      <p:grpSp>
        <p:nvGrpSpPr>
          <p:cNvPr id="433" name="Google Shape;433;p34">
            <a:extLst>
              <a:ext uri="{FF2B5EF4-FFF2-40B4-BE49-F238E27FC236}">
                <a16:creationId xmlns:a16="http://schemas.microsoft.com/office/drawing/2014/main" id="{6F693B1B-1331-014B-DAE6-326D98A19E6C}"/>
              </a:ext>
            </a:extLst>
          </p:cNvPr>
          <p:cNvGrpSpPr/>
          <p:nvPr/>
        </p:nvGrpSpPr>
        <p:grpSpPr>
          <a:xfrm>
            <a:off x="7716571" y="632749"/>
            <a:ext cx="2224840" cy="418725"/>
            <a:chOff x="7318351" y="2997150"/>
            <a:chExt cx="2224840" cy="418725"/>
          </a:xfrm>
        </p:grpSpPr>
        <p:sp>
          <p:nvSpPr>
            <p:cNvPr id="434" name="Google Shape;434;p34">
              <a:extLst>
                <a:ext uri="{FF2B5EF4-FFF2-40B4-BE49-F238E27FC236}">
                  <a16:creationId xmlns:a16="http://schemas.microsoft.com/office/drawing/2014/main" id="{F7C1C809-6AB2-EB30-E251-0A3616F0BA81}"/>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4783284E-F19E-8772-5BFF-2EDEEE6989D2}"/>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37BDE563-F6D8-EF4F-C095-F17DB34395AF}"/>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6" name="Picture 2" descr="Thinking Vector Art, Icons, and Graphics for Free Download">
            <a:extLst>
              <a:ext uri="{FF2B5EF4-FFF2-40B4-BE49-F238E27FC236}">
                <a16:creationId xmlns:a16="http://schemas.microsoft.com/office/drawing/2014/main" id="{855BFB47-1888-7C41-7250-D4E76933BB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7916" y="2571750"/>
            <a:ext cx="2571750" cy="25717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581C087-1BC1-9CF7-A474-93B05688DDFB}"/>
              </a:ext>
            </a:extLst>
          </p:cNvPr>
          <p:cNvSpPr txBox="1"/>
          <p:nvPr/>
        </p:nvSpPr>
        <p:spPr>
          <a:xfrm>
            <a:off x="1908087" y="4188230"/>
            <a:ext cx="1554347" cy="738664"/>
          </a:xfrm>
          <a:prstGeom prst="rect">
            <a:avLst/>
          </a:prstGeom>
          <a:noFill/>
        </p:spPr>
        <p:txBody>
          <a:bodyPr wrap="square">
            <a:spAutoFit/>
          </a:bodyPr>
          <a:lstStyle/>
          <a:p>
            <a:pPr algn="ctr">
              <a:spcAft>
                <a:spcPts val="600"/>
              </a:spcAft>
              <a:buSzPct val="200000"/>
            </a:pPr>
            <a:r>
              <a:rPr lang="en-US">
                <a:solidFill>
                  <a:schemeClr val="dk1"/>
                </a:solidFill>
                <a:latin typeface="Encode Sans"/>
                <a:sym typeface="Encode Sans"/>
              </a:rPr>
              <a:t>1. </a:t>
            </a:r>
            <a:r>
              <a:rPr lang="vi-VN">
                <a:solidFill>
                  <a:schemeClr val="dk1"/>
                </a:solidFill>
                <a:latin typeface="Encode Sans"/>
                <a:sym typeface="Encode Sans"/>
              </a:rPr>
              <a:t>Ai sẽ tham gia vào quy trình quản lý rủi ro?</a:t>
            </a:r>
            <a:endParaRPr lang="en-US">
              <a:solidFill>
                <a:schemeClr val="dk1"/>
              </a:solidFill>
              <a:latin typeface="Encode Sans"/>
              <a:sym typeface="Encode Sans"/>
            </a:endParaRPr>
          </a:p>
        </p:txBody>
      </p:sp>
      <p:sp>
        <p:nvSpPr>
          <p:cNvPr id="8" name="TextBox 7">
            <a:extLst>
              <a:ext uri="{FF2B5EF4-FFF2-40B4-BE49-F238E27FC236}">
                <a16:creationId xmlns:a16="http://schemas.microsoft.com/office/drawing/2014/main" id="{3FE5D887-2A19-5505-AC7F-C66FB082046C}"/>
              </a:ext>
            </a:extLst>
          </p:cNvPr>
          <p:cNvSpPr txBox="1"/>
          <p:nvPr/>
        </p:nvSpPr>
        <p:spPr>
          <a:xfrm>
            <a:off x="1203022" y="2808152"/>
            <a:ext cx="1554347" cy="1169551"/>
          </a:xfrm>
          <a:prstGeom prst="rect">
            <a:avLst/>
          </a:prstGeom>
          <a:noFill/>
        </p:spPr>
        <p:txBody>
          <a:bodyPr wrap="square">
            <a:spAutoFit/>
          </a:bodyPr>
          <a:lstStyle/>
          <a:p>
            <a:pPr algn="ctr">
              <a:spcAft>
                <a:spcPts val="600"/>
              </a:spcAft>
              <a:buSzPct val="200000"/>
            </a:pPr>
            <a:r>
              <a:rPr lang="en-US">
                <a:solidFill>
                  <a:schemeClr val="dk1"/>
                </a:solidFill>
                <a:latin typeface="Encode Sans"/>
                <a:sym typeface="Encode Sans"/>
              </a:rPr>
              <a:t>2. </a:t>
            </a:r>
            <a:r>
              <a:rPr lang="vi-VN">
                <a:solidFill>
                  <a:schemeClr val="dk1"/>
                </a:solidFill>
                <a:latin typeface="Encode Sans"/>
                <a:sym typeface="Encode Sans"/>
              </a:rPr>
              <a:t>Ai là người chịu trách nhiệm giám sát và cập nhật các thông tin liên quan đến rủi ro</a:t>
            </a:r>
            <a:r>
              <a:rPr lang="en-US">
                <a:solidFill>
                  <a:schemeClr val="dk1"/>
                </a:solidFill>
                <a:latin typeface="Encode Sans"/>
                <a:sym typeface="Encode Sans"/>
              </a:rPr>
              <a:t>?</a:t>
            </a:r>
          </a:p>
        </p:txBody>
      </p:sp>
      <p:sp>
        <p:nvSpPr>
          <p:cNvPr id="9" name="TextBox 8">
            <a:extLst>
              <a:ext uri="{FF2B5EF4-FFF2-40B4-BE49-F238E27FC236}">
                <a16:creationId xmlns:a16="http://schemas.microsoft.com/office/drawing/2014/main" id="{00815B04-D59D-F820-B54D-6A8448B97800}"/>
              </a:ext>
            </a:extLst>
          </p:cNvPr>
          <p:cNvSpPr txBox="1"/>
          <p:nvPr/>
        </p:nvSpPr>
        <p:spPr>
          <a:xfrm>
            <a:off x="5645977" y="2389564"/>
            <a:ext cx="1982789" cy="1384995"/>
          </a:xfrm>
          <a:prstGeom prst="rect">
            <a:avLst/>
          </a:prstGeom>
          <a:noFill/>
        </p:spPr>
        <p:txBody>
          <a:bodyPr wrap="square">
            <a:spAutoFit/>
          </a:bodyPr>
          <a:lstStyle/>
          <a:p>
            <a:pPr algn="ctr">
              <a:spcAft>
                <a:spcPts val="600"/>
              </a:spcAft>
              <a:buSzPct val="200000"/>
            </a:pPr>
            <a:r>
              <a:rPr lang="en-US">
                <a:solidFill>
                  <a:schemeClr val="dk1"/>
                </a:solidFill>
                <a:latin typeface="Encode Sans"/>
                <a:sym typeface="Encode Sans"/>
              </a:rPr>
              <a:t>6. </a:t>
            </a:r>
            <a:r>
              <a:rPr lang="vi-VN">
                <a:solidFill>
                  <a:schemeClr val="dk1"/>
                </a:solidFill>
                <a:latin typeface="Encode Sans"/>
                <a:sym typeface="Encode Sans"/>
              </a:rPr>
              <a:t>Rủi ro sẽ được tích hợp vào các quy trình quản lý dự án khác như lập kế hoạch, thực hiện và giám sát như thế nào?</a:t>
            </a:r>
            <a:endParaRPr lang="en-US">
              <a:solidFill>
                <a:schemeClr val="dk1"/>
              </a:solidFill>
              <a:latin typeface="Encode Sans"/>
              <a:sym typeface="Encode Sans"/>
            </a:endParaRPr>
          </a:p>
        </p:txBody>
      </p:sp>
      <p:sp>
        <p:nvSpPr>
          <p:cNvPr id="10" name="TextBox 9">
            <a:extLst>
              <a:ext uri="{FF2B5EF4-FFF2-40B4-BE49-F238E27FC236}">
                <a16:creationId xmlns:a16="http://schemas.microsoft.com/office/drawing/2014/main" id="{D01FA456-5D93-EAF8-91C2-C9190BEE944C}"/>
              </a:ext>
            </a:extLst>
          </p:cNvPr>
          <p:cNvSpPr txBox="1"/>
          <p:nvPr/>
        </p:nvSpPr>
        <p:spPr>
          <a:xfrm>
            <a:off x="3069603" y="1625664"/>
            <a:ext cx="1706311" cy="1169551"/>
          </a:xfrm>
          <a:prstGeom prst="rect">
            <a:avLst/>
          </a:prstGeom>
          <a:noFill/>
        </p:spPr>
        <p:txBody>
          <a:bodyPr wrap="square">
            <a:spAutoFit/>
          </a:bodyPr>
          <a:lstStyle/>
          <a:p>
            <a:pPr algn="ctr">
              <a:spcAft>
                <a:spcPts val="600"/>
              </a:spcAft>
              <a:buSzPct val="200000"/>
            </a:pPr>
            <a:r>
              <a:rPr lang="en-US">
                <a:solidFill>
                  <a:schemeClr val="dk1"/>
                </a:solidFill>
                <a:latin typeface="Encode Sans"/>
                <a:sym typeface="Encode Sans"/>
              </a:rPr>
              <a:t>4. </a:t>
            </a:r>
            <a:r>
              <a:rPr lang="vi-VN">
                <a:solidFill>
                  <a:schemeClr val="dk1"/>
                </a:solidFill>
                <a:latin typeface="Encode Sans"/>
                <a:sym typeface="Encode Sans"/>
              </a:rPr>
              <a:t>Ngân sách dành riêng cho việc ứng phó rủi ro là bao nhiêu và được phân bổ ra sao?</a:t>
            </a:r>
            <a:endParaRPr lang="en-US">
              <a:solidFill>
                <a:schemeClr val="dk1"/>
              </a:solidFill>
              <a:latin typeface="Encode Sans"/>
              <a:sym typeface="Encode Sans"/>
            </a:endParaRPr>
          </a:p>
        </p:txBody>
      </p:sp>
      <p:sp>
        <p:nvSpPr>
          <p:cNvPr id="3" name="TextBox 2">
            <a:extLst>
              <a:ext uri="{FF2B5EF4-FFF2-40B4-BE49-F238E27FC236}">
                <a16:creationId xmlns:a16="http://schemas.microsoft.com/office/drawing/2014/main" id="{645E7D22-BA61-14BD-8042-C66DA8B9FDBE}"/>
              </a:ext>
            </a:extLst>
          </p:cNvPr>
          <p:cNvSpPr txBox="1"/>
          <p:nvPr/>
        </p:nvSpPr>
        <p:spPr>
          <a:xfrm>
            <a:off x="5769666" y="3972787"/>
            <a:ext cx="1982789" cy="954107"/>
          </a:xfrm>
          <a:prstGeom prst="rect">
            <a:avLst/>
          </a:prstGeom>
          <a:noFill/>
        </p:spPr>
        <p:txBody>
          <a:bodyPr wrap="square">
            <a:spAutoFit/>
          </a:bodyPr>
          <a:lstStyle/>
          <a:p>
            <a:pPr algn="ctr">
              <a:spcAft>
                <a:spcPts val="600"/>
              </a:spcAft>
              <a:buSzPct val="200000"/>
            </a:pPr>
            <a:r>
              <a:rPr lang="en-US">
                <a:solidFill>
                  <a:schemeClr val="dk1"/>
                </a:solidFill>
                <a:latin typeface="Encode Sans"/>
                <a:sym typeface="Encode Sans"/>
              </a:rPr>
              <a:t>7. </a:t>
            </a:r>
            <a:r>
              <a:rPr lang="vi-VN">
                <a:solidFill>
                  <a:schemeClr val="dk1"/>
                </a:solidFill>
                <a:latin typeface="Encode Sans"/>
                <a:sym typeface="Encode Sans"/>
              </a:rPr>
              <a:t>Mức độ chấp nhận rủi ro của từng bên liên quan là gì và có khác biệt nhau ra sao?</a:t>
            </a:r>
            <a:endParaRPr lang="en-US">
              <a:solidFill>
                <a:schemeClr val="dk1"/>
              </a:solidFill>
              <a:latin typeface="Encode Sans"/>
              <a:sym typeface="Encode Sans"/>
            </a:endParaRPr>
          </a:p>
        </p:txBody>
      </p:sp>
      <p:sp>
        <p:nvSpPr>
          <p:cNvPr id="5" name="TextBox 4">
            <a:extLst>
              <a:ext uri="{FF2B5EF4-FFF2-40B4-BE49-F238E27FC236}">
                <a16:creationId xmlns:a16="http://schemas.microsoft.com/office/drawing/2014/main" id="{D652C8AB-F191-7DA3-8305-A2E57509B4E3}"/>
              </a:ext>
            </a:extLst>
          </p:cNvPr>
          <p:cNvSpPr txBox="1"/>
          <p:nvPr/>
        </p:nvSpPr>
        <p:spPr>
          <a:xfrm>
            <a:off x="1451099" y="1432117"/>
            <a:ext cx="1554347" cy="1169551"/>
          </a:xfrm>
          <a:prstGeom prst="rect">
            <a:avLst/>
          </a:prstGeom>
          <a:noFill/>
        </p:spPr>
        <p:txBody>
          <a:bodyPr wrap="square">
            <a:spAutoFit/>
          </a:bodyPr>
          <a:lstStyle/>
          <a:p>
            <a:pPr algn="ctr">
              <a:spcAft>
                <a:spcPts val="600"/>
              </a:spcAft>
              <a:buSzPct val="200000"/>
            </a:pPr>
            <a:r>
              <a:rPr lang="en-US">
                <a:solidFill>
                  <a:schemeClr val="dk1"/>
                </a:solidFill>
                <a:latin typeface="Encode Sans"/>
                <a:sym typeface="Encode Sans"/>
              </a:rPr>
              <a:t>3. </a:t>
            </a:r>
            <a:r>
              <a:rPr lang="vi-VN">
                <a:solidFill>
                  <a:schemeClr val="dk1"/>
                </a:solidFill>
                <a:latin typeface="Encode Sans"/>
                <a:sym typeface="Encode Sans"/>
              </a:rPr>
              <a:t>Những công cụ và kỹ thuật nào sẽ được sử dụng để nhận diện và phân tích rủi ro?</a:t>
            </a:r>
            <a:endParaRPr lang="en-US">
              <a:solidFill>
                <a:schemeClr val="dk1"/>
              </a:solidFill>
              <a:latin typeface="Encode Sans"/>
              <a:sym typeface="Encode Sans"/>
            </a:endParaRPr>
          </a:p>
        </p:txBody>
      </p:sp>
      <p:sp>
        <p:nvSpPr>
          <p:cNvPr id="6" name="TextBox 5">
            <a:extLst>
              <a:ext uri="{FF2B5EF4-FFF2-40B4-BE49-F238E27FC236}">
                <a16:creationId xmlns:a16="http://schemas.microsoft.com/office/drawing/2014/main" id="{86D8A73E-7959-B72B-F6EA-EA68176D6D8A}"/>
              </a:ext>
            </a:extLst>
          </p:cNvPr>
          <p:cNvSpPr txBox="1"/>
          <p:nvPr/>
        </p:nvSpPr>
        <p:spPr>
          <a:xfrm>
            <a:off x="4775914" y="1144911"/>
            <a:ext cx="1554347" cy="1169551"/>
          </a:xfrm>
          <a:prstGeom prst="rect">
            <a:avLst/>
          </a:prstGeom>
          <a:noFill/>
        </p:spPr>
        <p:txBody>
          <a:bodyPr wrap="square">
            <a:spAutoFit/>
          </a:bodyPr>
          <a:lstStyle/>
          <a:p>
            <a:pPr algn="ctr">
              <a:spcAft>
                <a:spcPts val="600"/>
              </a:spcAft>
              <a:buSzPct val="200000"/>
            </a:pPr>
            <a:r>
              <a:rPr lang="en-US">
                <a:solidFill>
                  <a:schemeClr val="dk1"/>
                </a:solidFill>
                <a:latin typeface="Encode Sans"/>
                <a:sym typeface="Encode Sans"/>
              </a:rPr>
              <a:t>5. </a:t>
            </a:r>
            <a:r>
              <a:rPr lang="vi-VN">
                <a:solidFill>
                  <a:schemeClr val="dk1"/>
                </a:solidFill>
                <a:latin typeface="Encode Sans"/>
                <a:sym typeface="Encode Sans"/>
              </a:rPr>
              <a:t>Cách thức theo dõi, ghi nhận và báo cáo rủi ro sẽ được thực hiện như thế nào?</a:t>
            </a:r>
            <a:endParaRPr lang="en-US">
              <a:solidFill>
                <a:schemeClr val="dk1"/>
              </a:solidFill>
              <a:latin typeface="Encode Sans"/>
              <a:sym typeface="Encode Sans"/>
            </a:endParaRPr>
          </a:p>
        </p:txBody>
      </p:sp>
    </p:spTree>
    <p:extLst>
      <p:ext uri="{BB962C8B-B14F-4D97-AF65-F5344CB8AC3E}">
        <p14:creationId xmlns:p14="http://schemas.microsoft.com/office/powerpoint/2010/main" val="3262718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8574BD7C-B9F7-49A0-A124-0904ED1B3A71}"/>
            </a:ext>
          </a:extLst>
        </p:cNvPr>
        <p:cNvGrpSpPr/>
        <p:nvPr/>
      </p:nvGrpSpPr>
      <p:grpSpPr>
        <a:xfrm>
          <a:off x="0" y="0"/>
          <a:ext cx="0" cy="0"/>
          <a:chOff x="0" y="0"/>
          <a:chExt cx="0" cy="0"/>
        </a:xfrm>
      </p:grpSpPr>
      <p:sp>
        <p:nvSpPr>
          <p:cNvPr id="501" name="Google Shape;501;p38">
            <a:extLst>
              <a:ext uri="{FF2B5EF4-FFF2-40B4-BE49-F238E27FC236}">
                <a16:creationId xmlns:a16="http://schemas.microsoft.com/office/drawing/2014/main" id="{25F265E1-F26D-3B37-5E41-1CDFEC7121FE}"/>
              </a:ext>
            </a:extLst>
          </p:cNvPr>
          <p:cNvSpPr/>
          <p:nvPr/>
        </p:nvSpPr>
        <p:spPr>
          <a:xfrm>
            <a:off x="263625" y="4005358"/>
            <a:ext cx="1930800" cy="440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2" name="Google Shape;512;p38">
            <a:extLst>
              <a:ext uri="{FF2B5EF4-FFF2-40B4-BE49-F238E27FC236}">
                <a16:creationId xmlns:a16="http://schemas.microsoft.com/office/drawing/2014/main" id="{A80FF074-1B46-0A38-0EA9-8BBE0DD79A36}"/>
              </a:ext>
            </a:extLst>
          </p:cNvPr>
          <p:cNvSpPr/>
          <p:nvPr/>
        </p:nvSpPr>
        <p:spPr>
          <a:xfrm rot="5400000">
            <a:off x="8370625" y="2935600"/>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 name="TextBox 1">
            <a:extLst>
              <a:ext uri="{FF2B5EF4-FFF2-40B4-BE49-F238E27FC236}">
                <a16:creationId xmlns:a16="http://schemas.microsoft.com/office/drawing/2014/main" id="{57902A7C-25AA-8104-8838-9C07700E6850}"/>
              </a:ext>
            </a:extLst>
          </p:cNvPr>
          <p:cNvSpPr txBox="1"/>
          <p:nvPr/>
        </p:nvSpPr>
        <p:spPr>
          <a:xfrm>
            <a:off x="1013007" y="1602254"/>
            <a:ext cx="7117986" cy="1938992"/>
          </a:xfrm>
          <a:prstGeom prst="rect">
            <a:avLst/>
          </a:prstGeom>
          <a:noFill/>
        </p:spPr>
        <p:txBody>
          <a:bodyPr wrap="square" rtlCol="0">
            <a:spAutoFit/>
          </a:bodyPr>
          <a:lstStyle/>
          <a:p>
            <a:pPr algn="ctr">
              <a:buClr>
                <a:schemeClr val="dk1"/>
              </a:buClr>
              <a:buSzPts val="9600"/>
            </a:pPr>
            <a:r>
              <a:rPr lang="en-US" sz="4000" b="1">
                <a:solidFill>
                  <a:schemeClr val="tx1"/>
                </a:solidFill>
                <a:latin typeface="Unbounded"/>
                <a:sym typeface="Unbounded"/>
              </a:rPr>
              <a:t>Kế hoạch dự phòng, </a:t>
            </a:r>
            <a:r>
              <a:rPr lang="en-US" sz="4000" b="1">
                <a:solidFill>
                  <a:schemeClr val="tx2">
                    <a:lumMod val="75000"/>
                  </a:schemeClr>
                </a:solidFill>
                <a:latin typeface="Unbounded"/>
                <a:sym typeface="Unbounded"/>
              </a:rPr>
              <a:t>Kế hoạch rút lui, </a:t>
            </a:r>
            <a:br>
              <a:rPr lang="en-US" sz="4000" b="1">
                <a:solidFill>
                  <a:schemeClr val="tx2">
                    <a:lumMod val="75000"/>
                  </a:schemeClr>
                </a:solidFill>
                <a:latin typeface="Unbounded"/>
                <a:sym typeface="Unbounded"/>
              </a:rPr>
            </a:br>
            <a:r>
              <a:rPr lang="en-US" sz="4000" b="1">
                <a:solidFill>
                  <a:schemeClr val="accent2">
                    <a:lumMod val="50000"/>
                  </a:schemeClr>
                </a:solidFill>
                <a:latin typeface="Unbounded"/>
                <a:sym typeface="Unbounded"/>
              </a:rPr>
              <a:t>Quỹ dự phòng</a:t>
            </a:r>
          </a:p>
        </p:txBody>
      </p:sp>
    </p:spTree>
    <p:extLst>
      <p:ext uri="{BB962C8B-B14F-4D97-AF65-F5344CB8AC3E}">
        <p14:creationId xmlns:p14="http://schemas.microsoft.com/office/powerpoint/2010/main" val="3442667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BAFB1A7E-8E57-2439-8845-11EF118BBA15}"/>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17FE624E-4145-8956-C6D6-BA364D17AD4B}"/>
              </a:ext>
            </a:extLst>
          </p:cNvPr>
          <p:cNvSpPr txBox="1">
            <a:spLocks noGrp="1"/>
          </p:cNvSpPr>
          <p:nvPr>
            <p:ph type="title"/>
          </p:nvPr>
        </p:nvSpPr>
        <p:spPr>
          <a:xfrm>
            <a:off x="457200" y="445024"/>
            <a:ext cx="7704000" cy="990238"/>
          </a:xfrm>
          <a:prstGeom prst="rect">
            <a:avLst/>
          </a:prstGeom>
        </p:spPr>
        <p:txBody>
          <a:bodyPr spcFirstLastPara="1" wrap="square" lIns="91425" tIns="91425" rIns="91425" bIns="91425" anchor="t" anchorCtr="0">
            <a:noAutofit/>
          </a:bodyPr>
          <a:lstStyle/>
          <a:p>
            <a:pPr lvl="0"/>
            <a:r>
              <a:rPr lang="en-US" sz="2400" b="1"/>
              <a:t>Kế hoạch dự phòng </a:t>
            </a:r>
            <a:br>
              <a:rPr lang="en-US" sz="2400" b="1"/>
            </a:br>
            <a:r>
              <a:rPr lang="en-US" sz="2400" b="1">
                <a:solidFill>
                  <a:schemeClr val="tx2">
                    <a:lumMod val="75000"/>
                  </a:schemeClr>
                </a:solidFill>
              </a:rPr>
              <a:t>(Contingency Plan)</a:t>
            </a:r>
            <a:endParaRPr sz="2400" b="1">
              <a:solidFill>
                <a:schemeClr val="tx2">
                  <a:lumMod val="75000"/>
                </a:schemeClr>
              </a:solidFill>
            </a:endParaRPr>
          </a:p>
        </p:txBody>
      </p:sp>
      <p:grpSp>
        <p:nvGrpSpPr>
          <p:cNvPr id="433" name="Google Shape;433;p34">
            <a:extLst>
              <a:ext uri="{FF2B5EF4-FFF2-40B4-BE49-F238E27FC236}">
                <a16:creationId xmlns:a16="http://schemas.microsoft.com/office/drawing/2014/main" id="{FA90A5BF-9035-E28F-D59D-0B4A377D0D8A}"/>
              </a:ext>
            </a:extLst>
          </p:cNvPr>
          <p:cNvGrpSpPr/>
          <p:nvPr/>
        </p:nvGrpSpPr>
        <p:grpSpPr>
          <a:xfrm>
            <a:off x="7716571" y="632749"/>
            <a:ext cx="2224840" cy="418725"/>
            <a:chOff x="7318351" y="2997150"/>
            <a:chExt cx="2224840" cy="418725"/>
          </a:xfrm>
        </p:grpSpPr>
        <p:sp>
          <p:nvSpPr>
            <p:cNvPr id="434" name="Google Shape;434;p34">
              <a:extLst>
                <a:ext uri="{FF2B5EF4-FFF2-40B4-BE49-F238E27FC236}">
                  <a16:creationId xmlns:a16="http://schemas.microsoft.com/office/drawing/2014/main" id="{BA8588A3-4FF0-8838-117D-C5598BA2D553}"/>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04650CAA-31C3-58FC-7F05-D00AD8A485BA}"/>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808EE3C5-E5CB-6982-0D46-17CCA31F4B87}"/>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Google Shape;429;p34">
            <a:extLst>
              <a:ext uri="{FF2B5EF4-FFF2-40B4-BE49-F238E27FC236}">
                <a16:creationId xmlns:a16="http://schemas.microsoft.com/office/drawing/2014/main" id="{9303BFFE-8158-D128-746D-6DFD98315356}"/>
              </a:ext>
            </a:extLst>
          </p:cNvPr>
          <p:cNvSpPr txBox="1">
            <a:spLocks/>
          </p:cNvSpPr>
          <p:nvPr/>
        </p:nvSpPr>
        <p:spPr>
          <a:xfrm>
            <a:off x="457199" y="1435262"/>
            <a:ext cx="3605515" cy="340295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285750" indent="-285750" algn="just">
              <a:lnSpc>
                <a:spcPct val="120000"/>
              </a:lnSpc>
              <a:spcAft>
                <a:spcPts val="1200"/>
              </a:spcAft>
              <a:buSzPct val="85000"/>
              <a:buFont typeface="Wingdings" panose="05000000000000000000" pitchFamily="2" charset="2"/>
              <a:buChar char="Ø"/>
            </a:pPr>
            <a:r>
              <a:rPr lang="en-US" sz="1800"/>
              <a:t>L</a:t>
            </a:r>
            <a:r>
              <a:rPr lang="vi-VN" sz="1800"/>
              <a:t>à một tập hợp các hành động được </a:t>
            </a:r>
            <a:r>
              <a:rPr lang="vi-VN" sz="1800">
                <a:highlight>
                  <a:srgbClr val="FFFF00"/>
                </a:highlight>
              </a:rPr>
              <a:t>xây dựng trước </a:t>
            </a:r>
            <a:r>
              <a:rPr lang="vi-VN" sz="1800"/>
              <a:t>nhằm ứng phó với những rủi ro đã được nhận diện và đánh giá là có khả năng xảy ra.</a:t>
            </a:r>
            <a:endParaRPr lang="en-US" sz="1800"/>
          </a:p>
          <a:p>
            <a:pPr marL="285750" indent="-285750" algn="just">
              <a:lnSpc>
                <a:spcPct val="120000"/>
              </a:lnSpc>
              <a:spcAft>
                <a:spcPts val="1200"/>
              </a:spcAft>
              <a:buSzPct val="85000"/>
              <a:buFont typeface="Wingdings" panose="05000000000000000000" pitchFamily="2" charset="2"/>
              <a:buChar char="Ø"/>
            </a:pPr>
            <a:r>
              <a:rPr lang="vi-VN" sz="1800" b="1"/>
              <a:t>Mục đích</a:t>
            </a:r>
            <a:r>
              <a:rPr lang="en-US" sz="1800" b="1"/>
              <a:t>: </a:t>
            </a:r>
            <a:r>
              <a:rPr lang="vi-VN" sz="1800"/>
              <a:t>giúp dự án tiếp tục vận hành bình thường hoặc nhanh chóng phục hồi khi rủi ro xảy ra.</a:t>
            </a:r>
            <a:endParaRPr lang="en-US" sz="1800"/>
          </a:p>
        </p:txBody>
      </p:sp>
      <p:sp>
        <p:nvSpPr>
          <p:cNvPr id="12" name="Google Shape;429;p34">
            <a:extLst>
              <a:ext uri="{FF2B5EF4-FFF2-40B4-BE49-F238E27FC236}">
                <a16:creationId xmlns:a16="http://schemas.microsoft.com/office/drawing/2014/main" id="{84E2AF3F-47CA-1EA9-DD6F-422BC69F37A7}"/>
              </a:ext>
            </a:extLst>
          </p:cNvPr>
          <p:cNvSpPr txBox="1">
            <a:spLocks/>
          </p:cNvSpPr>
          <p:nvPr/>
        </p:nvSpPr>
        <p:spPr>
          <a:xfrm>
            <a:off x="4190035" y="1541124"/>
            <a:ext cx="4120589" cy="284221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285750" indent="-285750" algn="just">
              <a:lnSpc>
                <a:spcPct val="120000"/>
              </a:lnSpc>
              <a:spcAft>
                <a:spcPts val="600"/>
              </a:spcAft>
              <a:buSzPct val="85000"/>
              <a:buFont typeface="Wingdings" panose="05000000000000000000" pitchFamily="2" charset="2"/>
              <a:buChar char="Ø"/>
            </a:pPr>
            <a:r>
              <a:rPr lang="en-US" sz="1800" b="1"/>
              <a:t>Đặc điểm:</a:t>
            </a:r>
          </a:p>
          <a:p>
            <a:pPr marL="742950" lvl="1" indent="-285750" algn="just">
              <a:lnSpc>
                <a:spcPct val="120000"/>
              </a:lnSpc>
              <a:spcAft>
                <a:spcPts val="600"/>
              </a:spcAft>
              <a:buSzPct val="85000"/>
              <a:buFont typeface="Wingdings" panose="05000000000000000000" pitchFamily="2" charset="2"/>
              <a:buChar char="q"/>
            </a:pPr>
            <a:r>
              <a:rPr lang="vi-VN" sz="1800"/>
              <a:t>Áp dụng cho các rủi ro đã biết</a:t>
            </a:r>
          </a:p>
          <a:p>
            <a:pPr marL="742950" lvl="1" indent="-285750" algn="just">
              <a:lnSpc>
                <a:spcPct val="120000"/>
              </a:lnSpc>
              <a:spcAft>
                <a:spcPts val="600"/>
              </a:spcAft>
              <a:buSzPct val="85000"/>
              <a:buFont typeface="Wingdings" panose="05000000000000000000" pitchFamily="2" charset="2"/>
              <a:buChar char="q"/>
            </a:pPr>
            <a:r>
              <a:rPr lang="vi-VN" sz="1800"/>
              <a:t>Xây dựng trước khi rủi ro xảy ra</a:t>
            </a:r>
          </a:p>
          <a:p>
            <a:pPr marL="742950" lvl="1" indent="-285750" algn="just">
              <a:lnSpc>
                <a:spcPct val="120000"/>
              </a:lnSpc>
              <a:spcAft>
                <a:spcPts val="600"/>
              </a:spcAft>
              <a:buSzPct val="85000"/>
              <a:buFont typeface="Wingdings" panose="05000000000000000000" pitchFamily="2" charset="2"/>
              <a:buChar char="q"/>
            </a:pPr>
            <a:r>
              <a:rPr lang="vi-VN" sz="1800"/>
              <a:t>Có thể kích hoạt tự động khi rủi ro xuất hiện</a:t>
            </a:r>
          </a:p>
          <a:p>
            <a:pPr marL="742950" lvl="1" indent="-285750" algn="just">
              <a:lnSpc>
                <a:spcPct val="120000"/>
              </a:lnSpc>
              <a:spcAft>
                <a:spcPts val="600"/>
              </a:spcAft>
              <a:buSzPct val="85000"/>
              <a:buFont typeface="Wingdings" panose="05000000000000000000" pitchFamily="2" charset="2"/>
              <a:buChar char="q"/>
            </a:pPr>
            <a:r>
              <a:rPr lang="vi-VN" sz="1800"/>
              <a:t>Đảm bảo tính liên tục, hạn chế tối đa thiệt hại</a:t>
            </a:r>
          </a:p>
        </p:txBody>
      </p:sp>
    </p:spTree>
    <p:extLst>
      <p:ext uri="{BB962C8B-B14F-4D97-AF65-F5344CB8AC3E}">
        <p14:creationId xmlns:p14="http://schemas.microsoft.com/office/powerpoint/2010/main" val="380974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12CFD378-21EC-0D7C-F2AD-76BCA5895759}"/>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BFD6C072-597C-75EE-21BF-D437EE1CEA9F}"/>
              </a:ext>
            </a:extLst>
          </p:cNvPr>
          <p:cNvSpPr txBox="1">
            <a:spLocks noGrp="1"/>
          </p:cNvSpPr>
          <p:nvPr>
            <p:ph type="title"/>
          </p:nvPr>
        </p:nvSpPr>
        <p:spPr>
          <a:xfrm>
            <a:off x="457200" y="445024"/>
            <a:ext cx="7704000" cy="990238"/>
          </a:xfrm>
          <a:prstGeom prst="rect">
            <a:avLst/>
          </a:prstGeom>
        </p:spPr>
        <p:txBody>
          <a:bodyPr spcFirstLastPara="1" wrap="square" lIns="91425" tIns="91425" rIns="91425" bIns="91425" anchor="t" anchorCtr="0">
            <a:noAutofit/>
          </a:bodyPr>
          <a:lstStyle/>
          <a:p>
            <a:pPr lvl="0"/>
            <a:r>
              <a:rPr lang="en-US" sz="2400" b="1"/>
              <a:t>Kế hoạch rút lui </a:t>
            </a:r>
            <a:br>
              <a:rPr lang="en-US" sz="2400" b="1"/>
            </a:br>
            <a:r>
              <a:rPr lang="en-US" sz="2400" b="1">
                <a:solidFill>
                  <a:schemeClr val="tx2">
                    <a:lumMod val="75000"/>
                  </a:schemeClr>
                </a:solidFill>
              </a:rPr>
              <a:t>(Fallback Plan)</a:t>
            </a:r>
            <a:endParaRPr sz="2400" b="1">
              <a:solidFill>
                <a:schemeClr val="tx2">
                  <a:lumMod val="75000"/>
                </a:schemeClr>
              </a:solidFill>
            </a:endParaRPr>
          </a:p>
        </p:txBody>
      </p:sp>
      <p:grpSp>
        <p:nvGrpSpPr>
          <p:cNvPr id="433" name="Google Shape;433;p34">
            <a:extLst>
              <a:ext uri="{FF2B5EF4-FFF2-40B4-BE49-F238E27FC236}">
                <a16:creationId xmlns:a16="http://schemas.microsoft.com/office/drawing/2014/main" id="{DB32C37D-4A04-D3B7-D0F2-29B8B77083C8}"/>
              </a:ext>
            </a:extLst>
          </p:cNvPr>
          <p:cNvGrpSpPr/>
          <p:nvPr/>
        </p:nvGrpSpPr>
        <p:grpSpPr>
          <a:xfrm>
            <a:off x="7716571" y="632749"/>
            <a:ext cx="2224840" cy="418725"/>
            <a:chOff x="7318351" y="2997150"/>
            <a:chExt cx="2224840" cy="418725"/>
          </a:xfrm>
        </p:grpSpPr>
        <p:sp>
          <p:nvSpPr>
            <p:cNvPr id="434" name="Google Shape;434;p34">
              <a:extLst>
                <a:ext uri="{FF2B5EF4-FFF2-40B4-BE49-F238E27FC236}">
                  <a16:creationId xmlns:a16="http://schemas.microsoft.com/office/drawing/2014/main" id="{F69CC0E5-5CBF-F5AC-A702-DCB6AA1A26D6}"/>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FAE96EF6-BFE8-38FB-BF7E-9A31EA7A913D}"/>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7A1BB8EB-2E4D-C55D-FFFD-8900A80EB97E}"/>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Google Shape;429;p34">
            <a:extLst>
              <a:ext uri="{FF2B5EF4-FFF2-40B4-BE49-F238E27FC236}">
                <a16:creationId xmlns:a16="http://schemas.microsoft.com/office/drawing/2014/main" id="{EE055643-3B5A-08BA-AD24-63EBF815FDBC}"/>
              </a:ext>
            </a:extLst>
          </p:cNvPr>
          <p:cNvSpPr txBox="1">
            <a:spLocks/>
          </p:cNvSpPr>
          <p:nvPr/>
        </p:nvSpPr>
        <p:spPr>
          <a:xfrm>
            <a:off x="648956" y="1435262"/>
            <a:ext cx="3552654" cy="340295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285750" indent="-285750" algn="just">
              <a:lnSpc>
                <a:spcPct val="120000"/>
              </a:lnSpc>
              <a:spcAft>
                <a:spcPts val="1200"/>
              </a:spcAft>
              <a:buSzPct val="85000"/>
              <a:buFont typeface="Wingdings" panose="05000000000000000000" pitchFamily="2" charset="2"/>
              <a:buChar char="Ø"/>
            </a:pPr>
            <a:r>
              <a:rPr lang="en-US" sz="1800"/>
              <a:t>L</a:t>
            </a:r>
            <a:r>
              <a:rPr lang="vi-VN" sz="1800"/>
              <a:t>à </a:t>
            </a:r>
            <a:r>
              <a:rPr lang="vi-VN" sz="1800">
                <a:highlight>
                  <a:srgbClr val="FFFF00"/>
                </a:highlight>
              </a:rPr>
              <a:t>phương án dự phòng cấp hai, </a:t>
            </a:r>
            <a:r>
              <a:rPr lang="vi-VN" sz="1800"/>
              <a:t>được sử dụng khi kế hoạch ứng phó ban đầu không đạt hiệu quả, hoặc khi rủi ro xảy ra vượt quá khả năng kiểm soát thông thường.</a:t>
            </a:r>
            <a:endParaRPr lang="en-US" sz="1800"/>
          </a:p>
          <a:p>
            <a:pPr marL="285750" indent="-285750" algn="just">
              <a:lnSpc>
                <a:spcPct val="120000"/>
              </a:lnSpc>
              <a:spcAft>
                <a:spcPts val="1200"/>
              </a:spcAft>
              <a:buSzPct val="85000"/>
              <a:buFont typeface="Wingdings" panose="05000000000000000000" pitchFamily="2" charset="2"/>
              <a:buChar char="Ø"/>
            </a:pPr>
            <a:r>
              <a:rPr lang="en-US" sz="1800"/>
              <a:t>Là </a:t>
            </a:r>
            <a:r>
              <a:rPr lang="en-US" sz="1800" b="1"/>
              <a:t>“kế hoạch B” </a:t>
            </a:r>
            <a:r>
              <a:rPr lang="en-US" sz="1800"/>
              <a:t>nhằm bảo toàn dự án ở mức tối thiểu.</a:t>
            </a:r>
          </a:p>
        </p:txBody>
      </p:sp>
      <p:sp>
        <p:nvSpPr>
          <p:cNvPr id="12" name="Google Shape;429;p34">
            <a:extLst>
              <a:ext uri="{FF2B5EF4-FFF2-40B4-BE49-F238E27FC236}">
                <a16:creationId xmlns:a16="http://schemas.microsoft.com/office/drawing/2014/main" id="{754C784D-1D34-63BB-2333-7A975E424870}"/>
              </a:ext>
            </a:extLst>
          </p:cNvPr>
          <p:cNvSpPr txBox="1">
            <a:spLocks/>
          </p:cNvSpPr>
          <p:nvPr/>
        </p:nvSpPr>
        <p:spPr>
          <a:xfrm>
            <a:off x="4309200" y="1387961"/>
            <a:ext cx="3955124" cy="312279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285750" indent="-285750" algn="just">
              <a:lnSpc>
                <a:spcPct val="120000"/>
              </a:lnSpc>
              <a:spcAft>
                <a:spcPts val="600"/>
              </a:spcAft>
              <a:buSzPct val="85000"/>
              <a:buFont typeface="Wingdings" panose="05000000000000000000" pitchFamily="2" charset="2"/>
              <a:buChar char="Ø"/>
            </a:pPr>
            <a:r>
              <a:rPr lang="en-US" sz="1800" b="1"/>
              <a:t>Đặc điểm:</a:t>
            </a:r>
          </a:p>
          <a:p>
            <a:pPr marL="742950" lvl="1" indent="-285750" algn="just">
              <a:lnSpc>
                <a:spcPct val="120000"/>
              </a:lnSpc>
              <a:spcAft>
                <a:spcPts val="600"/>
              </a:spcAft>
              <a:buSzPct val="85000"/>
              <a:buFont typeface="Wingdings" panose="05000000000000000000" pitchFamily="2" charset="2"/>
              <a:buChar char="q"/>
            </a:pPr>
            <a:r>
              <a:rPr lang="vi-VN" sz="1800"/>
              <a:t>Thường ít được ưu tiên</a:t>
            </a:r>
            <a:endParaRPr lang="en-US" sz="1800"/>
          </a:p>
          <a:p>
            <a:pPr marL="742950" lvl="1" indent="-285750" algn="just">
              <a:lnSpc>
                <a:spcPct val="120000"/>
              </a:lnSpc>
              <a:spcAft>
                <a:spcPts val="600"/>
              </a:spcAft>
              <a:buSzPct val="85000"/>
              <a:buFont typeface="Wingdings" panose="05000000000000000000" pitchFamily="2" charset="2"/>
              <a:buChar char="q"/>
            </a:pPr>
            <a:r>
              <a:rPr lang="vi-VN" sz="1800"/>
              <a:t>Dành cho các rủi ro nghiêm trọng</a:t>
            </a:r>
            <a:r>
              <a:rPr lang="en-US" sz="1800"/>
              <a:t>, khó lường</a:t>
            </a:r>
          </a:p>
          <a:p>
            <a:pPr marL="742950" lvl="1" indent="-285750" algn="just">
              <a:lnSpc>
                <a:spcPct val="120000"/>
              </a:lnSpc>
              <a:spcAft>
                <a:spcPts val="600"/>
              </a:spcAft>
              <a:buSzPct val="85000"/>
              <a:buFont typeface="Wingdings" panose="05000000000000000000" pitchFamily="2" charset="2"/>
              <a:buChar char="q"/>
            </a:pPr>
            <a:r>
              <a:rPr lang="vi-VN" sz="1800"/>
              <a:t>Có thể gồm thu hẹp phạm vi dự án, giảm bớt mục tiêu, cắt giảm chi phí hoặc điều chỉnh kế hoạch tổng thể.</a:t>
            </a:r>
          </a:p>
        </p:txBody>
      </p:sp>
    </p:spTree>
    <p:extLst>
      <p:ext uri="{BB962C8B-B14F-4D97-AF65-F5344CB8AC3E}">
        <p14:creationId xmlns:p14="http://schemas.microsoft.com/office/powerpoint/2010/main" val="2177287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3CDB053B-06B7-08DD-132B-683FACE02F0D}"/>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2949E7C1-35A3-3E5A-9E4A-F7CBBF323A47}"/>
              </a:ext>
            </a:extLst>
          </p:cNvPr>
          <p:cNvSpPr txBox="1">
            <a:spLocks noGrp="1"/>
          </p:cNvSpPr>
          <p:nvPr>
            <p:ph type="title"/>
          </p:nvPr>
        </p:nvSpPr>
        <p:spPr>
          <a:xfrm>
            <a:off x="437333" y="445024"/>
            <a:ext cx="7723867" cy="606450"/>
          </a:xfrm>
          <a:prstGeom prst="rect">
            <a:avLst/>
          </a:prstGeom>
        </p:spPr>
        <p:txBody>
          <a:bodyPr spcFirstLastPara="1" wrap="square" lIns="91425" tIns="91425" rIns="91425" bIns="91425" anchor="t" anchorCtr="0">
            <a:noAutofit/>
          </a:bodyPr>
          <a:lstStyle/>
          <a:p>
            <a:pPr lvl="0"/>
            <a:r>
              <a:rPr lang="en-US" sz="2400" b="1"/>
              <a:t>Quỹ dự phòng </a:t>
            </a:r>
            <a:r>
              <a:rPr lang="en-US" sz="2400" b="1">
                <a:solidFill>
                  <a:schemeClr val="tx2">
                    <a:lumMod val="75000"/>
                  </a:schemeClr>
                </a:solidFill>
              </a:rPr>
              <a:t>(Reservers)</a:t>
            </a:r>
            <a:endParaRPr sz="2400" b="1">
              <a:solidFill>
                <a:schemeClr val="tx2">
                  <a:lumMod val="75000"/>
                </a:schemeClr>
              </a:solidFill>
            </a:endParaRPr>
          </a:p>
        </p:txBody>
      </p:sp>
      <p:grpSp>
        <p:nvGrpSpPr>
          <p:cNvPr id="433" name="Google Shape;433;p34">
            <a:extLst>
              <a:ext uri="{FF2B5EF4-FFF2-40B4-BE49-F238E27FC236}">
                <a16:creationId xmlns:a16="http://schemas.microsoft.com/office/drawing/2014/main" id="{B06F1499-B5E6-5D7C-4332-487C0F65437D}"/>
              </a:ext>
            </a:extLst>
          </p:cNvPr>
          <p:cNvGrpSpPr/>
          <p:nvPr/>
        </p:nvGrpSpPr>
        <p:grpSpPr>
          <a:xfrm>
            <a:off x="7843893" y="479642"/>
            <a:ext cx="2224840" cy="418725"/>
            <a:chOff x="7318351" y="2997150"/>
            <a:chExt cx="2224840" cy="418725"/>
          </a:xfrm>
        </p:grpSpPr>
        <p:sp>
          <p:nvSpPr>
            <p:cNvPr id="434" name="Google Shape;434;p34">
              <a:extLst>
                <a:ext uri="{FF2B5EF4-FFF2-40B4-BE49-F238E27FC236}">
                  <a16:creationId xmlns:a16="http://schemas.microsoft.com/office/drawing/2014/main" id="{F524B0A0-21BA-3075-A097-042A2E844EB6}"/>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C659384E-D346-88CA-DD74-08DF91A94AAD}"/>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B94AB015-D207-E70F-2590-44D35EBA47D9}"/>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Google Shape;429;p34">
            <a:extLst>
              <a:ext uri="{FF2B5EF4-FFF2-40B4-BE49-F238E27FC236}">
                <a16:creationId xmlns:a16="http://schemas.microsoft.com/office/drawing/2014/main" id="{DA8B7B85-948D-2D3D-7ADE-47A5C0B0C875}"/>
              </a:ext>
            </a:extLst>
          </p:cNvPr>
          <p:cNvSpPr txBox="1">
            <a:spLocks/>
          </p:cNvSpPr>
          <p:nvPr/>
        </p:nvSpPr>
        <p:spPr>
          <a:xfrm>
            <a:off x="437333" y="932985"/>
            <a:ext cx="8110184" cy="12744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285750" indent="-285750" algn="just">
              <a:lnSpc>
                <a:spcPct val="120000"/>
              </a:lnSpc>
              <a:spcAft>
                <a:spcPts val="1200"/>
              </a:spcAft>
              <a:buSzPct val="85000"/>
              <a:buFont typeface="Wingdings" panose="05000000000000000000" pitchFamily="2" charset="2"/>
              <a:buChar char="Ø"/>
            </a:pPr>
            <a:r>
              <a:rPr lang="vi-VN" sz="1800"/>
              <a:t>Trong quản lý rủi ro, ngân sách dự phòng là yếu tố không thể thiếu nhằm </a:t>
            </a:r>
            <a:r>
              <a:rPr lang="vi-VN" sz="1800">
                <a:highlight>
                  <a:srgbClr val="FFFF00"/>
                </a:highlight>
              </a:rPr>
              <a:t>đảm bảo khả năng tài chính để xử lý những tình huống bất ngờ. </a:t>
            </a:r>
            <a:endParaRPr lang="en-US" sz="1800">
              <a:highlight>
                <a:srgbClr val="FFFF00"/>
              </a:highlight>
            </a:endParaRPr>
          </a:p>
          <a:p>
            <a:pPr marL="285750" indent="-285750" algn="just">
              <a:lnSpc>
                <a:spcPct val="120000"/>
              </a:lnSpc>
              <a:spcAft>
                <a:spcPts val="1200"/>
              </a:spcAft>
              <a:buSzPct val="85000"/>
              <a:buFont typeface="Wingdings" panose="05000000000000000000" pitchFamily="2" charset="2"/>
              <a:buChar char="Ø"/>
            </a:pPr>
            <a:r>
              <a:rPr lang="vi-VN" sz="1800"/>
              <a:t>Có </a:t>
            </a:r>
            <a:r>
              <a:rPr lang="vi-VN" sz="1800" b="1"/>
              <a:t>hai loại quỹ dự phòng </a:t>
            </a:r>
            <a:r>
              <a:rPr lang="vi-VN" sz="1800"/>
              <a:t>thường được sử dụng</a:t>
            </a:r>
            <a:r>
              <a:rPr lang="en-US" sz="1800"/>
              <a:t>:</a:t>
            </a:r>
          </a:p>
        </p:txBody>
      </p:sp>
      <p:sp>
        <p:nvSpPr>
          <p:cNvPr id="2" name="Google Shape;426;p34">
            <a:extLst>
              <a:ext uri="{FF2B5EF4-FFF2-40B4-BE49-F238E27FC236}">
                <a16:creationId xmlns:a16="http://schemas.microsoft.com/office/drawing/2014/main" id="{7477C16F-3133-9A02-3A6C-4EF61985D1C8}"/>
              </a:ext>
            </a:extLst>
          </p:cNvPr>
          <p:cNvSpPr txBox="1">
            <a:spLocks/>
          </p:cNvSpPr>
          <p:nvPr/>
        </p:nvSpPr>
        <p:spPr>
          <a:xfrm>
            <a:off x="4489596" y="2250725"/>
            <a:ext cx="3671604" cy="48274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Unbounded"/>
                <a:ea typeface="Unbounded"/>
                <a:cs typeface="Unbounded"/>
                <a:sym typeface="Unbounde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US" b="1">
                <a:solidFill>
                  <a:schemeClr val="accent2">
                    <a:lumMod val="50000"/>
                  </a:schemeClr>
                </a:solidFill>
              </a:rPr>
              <a:t>Management Reserve</a:t>
            </a:r>
            <a:endParaRPr lang="en-US">
              <a:solidFill>
                <a:schemeClr val="accent2">
                  <a:lumMod val="50000"/>
                </a:schemeClr>
              </a:solidFill>
            </a:endParaRPr>
          </a:p>
        </p:txBody>
      </p:sp>
      <p:sp>
        <p:nvSpPr>
          <p:cNvPr id="3" name="Google Shape;428;p34">
            <a:extLst>
              <a:ext uri="{FF2B5EF4-FFF2-40B4-BE49-F238E27FC236}">
                <a16:creationId xmlns:a16="http://schemas.microsoft.com/office/drawing/2014/main" id="{4E1B61EA-4ED2-CE8E-D0ED-55130C6F449E}"/>
              </a:ext>
            </a:extLst>
          </p:cNvPr>
          <p:cNvSpPr txBox="1">
            <a:spLocks noGrp="1"/>
          </p:cNvSpPr>
          <p:nvPr>
            <p:ph type="subTitle" idx="1"/>
          </p:nvPr>
        </p:nvSpPr>
        <p:spPr>
          <a:xfrm>
            <a:off x="4513111" y="2733472"/>
            <a:ext cx="3648089" cy="1849649"/>
          </a:xfrm>
          <a:prstGeom prst="rect">
            <a:avLst/>
          </a:prstGeom>
        </p:spPr>
        <p:txBody>
          <a:bodyPr spcFirstLastPara="1" wrap="square" lIns="91425" tIns="91425" rIns="91425" bIns="91425" anchor="t" anchorCtr="0">
            <a:noAutofit/>
          </a:bodyPr>
          <a:lstStyle/>
          <a:p>
            <a:pPr marL="285750" lvl="0" indent="-285750" algn="just">
              <a:spcAft>
                <a:spcPts val="800"/>
              </a:spcAft>
              <a:buFont typeface="Wingdings" panose="05000000000000000000" pitchFamily="2" charset="2"/>
              <a:buChar char="q"/>
            </a:pPr>
            <a:r>
              <a:rPr lang="vi-VN" sz="1400"/>
              <a:t>Dành cho các rủi ro chưa thể xác định cụ thể, thường nằm ngoài Cost Baseline và chỉ được sử dụng khi có sự phê duyệt của quản lý cấp cao. </a:t>
            </a:r>
            <a:endParaRPr lang="en-US" sz="1400"/>
          </a:p>
          <a:p>
            <a:pPr marL="285750" lvl="0" indent="-285750" algn="just">
              <a:spcAft>
                <a:spcPts val="800"/>
              </a:spcAft>
              <a:buFont typeface="Wingdings" panose="05000000000000000000" pitchFamily="2" charset="2"/>
              <a:buChar char="q"/>
            </a:pPr>
            <a:r>
              <a:rPr lang="en-US" sz="1400"/>
              <a:t>G</a:t>
            </a:r>
            <a:r>
              <a:rPr lang="vi-VN" sz="1400"/>
              <a:t>iúp ứng phó với những </a:t>
            </a:r>
            <a:r>
              <a:rPr lang="vi-VN" sz="1400" b="1"/>
              <a:t>tình huống bất ngờ </a:t>
            </a:r>
            <a:r>
              <a:rPr lang="vi-VN" sz="1400"/>
              <a:t>như thiên tai, thay đổi chính sách hoặc sự kiện hiếm gặp.</a:t>
            </a:r>
          </a:p>
        </p:txBody>
      </p:sp>
      <p:sp>
        <p:nvSpPr>
          <p:cNvPr id="4" name="Google Shape;429;p34">
            <a:extLst>
              <a:ext uri="{FF2B5EF4-FFF2-40B4-BE49-F238E27FC236}">
                <a16:creationId xmlns:a16="http://schemas.microsoft.com/office/drawing/2014/main" id="{433FCA16-E060-4A9E-3CEF-73232A42D2F0}"/>
              </a:ext>
            </a:extLst>
          </p:cNvPr>
          <p:cNvSpPr txBox="1">
            <a:spLocks/>
          </p:cNvSpPr>
          <p:nvPr/>
        </p:nvSpPr>
        <p:spPr>
          <a:xfrm>
            <a:off x="641765" y="2733472"/>
            <a:ext cx="3559218" cy="18496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285750" indent="-285750" algn="just">
              <a:spcAft>
                <a:spcPts val="800"/>
              </a:spcAft>
              <a:buFont typeface="Wingdings" panose="05000000000000000000" pitchFamily="2" charset="2"/>
              <a:buChar char="q"/>
            </a:pPr>
            <a:r>
              <a:rPr lang="vi-VN" sz="1400"/>
              <a:t>Dành cho các rủi ro đã xác định trước, có khả năng xảy ra và nằm trong đường cơ sở chi phí (Cost Baseline). </a:t>
            </a:r>
            <a:endParaRPr lang="en-US" sz="1400"/>
          </a:p>
          <a:p>
            <a:pPr marL="285750" indent="-285750" algn="just">
              <a:spcAft>
                <a:spcPts val="800"/>
              </a:spcAft>
              <a:buFont typeface="Wingdings" panose="05000000000000000000" pitchFamily="2" charset="2"/>
              <a:buChar char="q"/>
            </a:pPr>
            <a:r>
              <a:rPr lang="vi-VN" sz="1400"/>
              <a:t>Đây là khoản chi phí dự phòng được </a:t>
            </a:r>
            <a:r>
              <a:rPr lang="vi-VN" sz="1400" b="1"/>
              <a:t>tính trước và phân bổ sẵn.</a:t>
            </a:r>
            <a:endParaRPr lang="en-US" sz="1400" b="1"/>
          </a:p>
        </p:txBody>
      </p:sp>
      <p:sp>
        <p:nvSpPr>
          <p:cNvPr id="5" name="Google Shape;430;p34">
            <a:extLst>
              <a:ext uri="{FF2B5EF4-FFF2-40B4-BE49-F238E27FC236}">
                <a16:creationId xmlns:a16="http://schemas.microsoft.com/office/drawing/2014/main" id="{DA8D9D5D-54D6-76EB-00CA-66C3F4D460BC}"/>
              </a:ext>
            </a:extLst>
          </p:cNvPr>
          <p:cNvSpPr txBox="1">
            <a:spLocks/>
          </p:cNvSpPr>
          <p:nvPr/>
        </p:nvSpPr>
        <p:spPr>
          <a:xfrm>
            <a:off x="585572" y="2285342"/>
            <a:ext cx="3671604" cy="44813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Unbounded"/>
                <a:ea typeface="Unbounded"/>
                <a:cs typeface="Unbounded"/>
                <a:sym typeface="Unbounde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US" b="1">
                <a:solidFill>
                  <a:schemeClr val="accent2">
                    <a:lumMod val="50000"/>
                  </a:schemeClr>
                </a:solidFill>
              </a:rPr>
              <a:t>Contingency Reserve</a:t>
            </a:r>
            <a:endParaRPr lang="en-US">
              <a:solidFill>
                <a:schemeClr val="accent2">
                  <a:lumMod val="50000"/>
                </a:schemeClr>
              </a:solidFill>
            </a:endParaRPr>
          </a:p>
        </p:txBody>
      </p:sp>
    </p:spTree>
    <p:extLst>
      <p:ext uri="{BB962C8B-B14F-4D97-AF65-F5344CB8AC3E}">
        <p14:creationId xmlns:p14="http://schemas.microsoft.com/office/powerpoint/2010/main" val="2229819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00DBFC77-DE04-8A66-45ED-E361CBB84AD4}"/>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F8490A63-10F5-73E4-7EC5-820DB64902DE}"/>
              </a:ext>
            </a:extLst>
          </p:cNvPr>
          <p:cNvSpPr txBox="1">
            <a:spLocks noGrp="1"/>
          </p:cNvSpPr>
          <p:nvPr>
            <p:ph type="title"/>
          </p:nvPr>
        </p:nvSpPr>
        <p:spPr>
          <a:xfrm>
            <a:off x="437333" y="445024"/>
            <a:ext cx="7723867" cy="606450"/>
          </a:xfrm>
          <a:prstGeom prst="rect">
            <a:avLst/>
          </a:prstGeom>
        </p:spPr>
        <p:txBody>
          <a:bodyPr spcFirstLastPara="1" wrap="square" lIns="91425" tIns="91425" rIns="91425" bIns="91425" anchor="t" anchorCtr="0">
            <a:noAutofit/>
          </a:bodyPr>
          <a:lstStyle/>
          <a:p>
            <a:pPr lvl="0"/>
            <a:r>
              <a:rPr lang="en-US" sz="2400" b="1">
                <a:solidFill>
                  <a:schemeClr val="tx1"/>
                </a:solidFill>
              </a:rPr>
              <a:t>Các phạm trù rủi ro cần xem xét</a:t>
            </a:r>
            <a:endParaRPr sz="2400" b="1">
              <a:solidFill>
                <a:schemeClr val="tx1"/>
              </a:solidFill>
            </a:endParaRPr>
          </a:p>
        </p:txBody>
      </p:sp>
      <p:grpSp>
        <p:nvGrpSpPr>
          <p:cNvPr id="433" name="Google Shape;433;p34">
            <a:extLst>
              <a:ext uri="{FF2B5EF4-FFF2-40B4-BE49-F238E27FC236}">
                <a16:creationId xmlns:a16="http://schemas.microsoft.com/office/drawing/2014/main" id="{EF7376AA-E741-6D13-8BF2-750362C236AF}"/>
              </a:ext>
            </a:extLst>
          </p:cNvPr>
          <p:cNvGrpSpPr/>
          <p:nvPr/>
        </p:nvGrpSpPr>
        <p:grpSpPr>
          <a:xfrm>
            <a:off x="7843893" y="479642"/>
            <a:ext cx="2224840" cy="418725"/>
            <a:chOff x="7318351" y="2997150"/>
            <a:chExt cx="2224840" cy="418725"/>
          </a:xfrm>
        </p:grpSpPr>
        <p:sp>
          <p:nvSpPr>
            <p:cNvPr id="434" name="Google Shape;434;p34">
              <a:extLst>
                <a:ext uri="{FF2B5EF4-FFF2-40B4-BE49-F238E27FC236}">
                  <a16:creationId xmlns:a16="http://schemas.microsoft.com/office/drawing/2014/main" id="{3D89A004-773D-DBF9-1C8F-FEA3798859DD}"/>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06814995-6F6A-53AD-F77F-25C4F8B4BC9C}"/>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FA1BE495-6523-9BB1-CE02-C391C309436A}"/>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Google Shape;429;p34">
            <a:extLst>
              <a:ext uri="{FF2B5EF4-FFF2-40B4-BE49-F238E27FC236}">
                <a16:creationId xmlns:a16="http://schemas.microsoft.com/office/drawing/2014/main" id="{D07F7775-1168-C97F-7E3C-A729C162245D}"/>
              </a:ext>
            </a:extLst>
          </p:cNvPr>
          <p:cNvSpPr txBox="1">
            <a:spLocks/>
          </p:cNvSpPr>
          <p:nvPr/>
        </p:nvSpPr>
        <p:spPr>
          <a:xfrm>
            <a:off x="1588285" y="2843055"/>
            <a:ext cx="2710981" cy="17564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285750" indent="-285750" algn="just">
              <a:lnSpc>
                <a:spcPct val="120000"/>
              </a:lnSpc>
              <a:spcAft>
                <a:spcPts val="600"/>
              </a:spcAft>
              <a:buSzPct val="85000"/>
              <a:buFont typeface="Wingdings" panose="05000000000000000000" pitchFamily="2" charset="2"/>
              <a:buChar char="q"/>
            </a:pPr>
            <a:r>
              <a:rPr lang="vi-VN" sz="1800"/>
              <a:t>Rủi ro </a:t>
            </a:r>
            <a:r>
              <a:rPr lang="vi-VN" sz="1800" b="1"/>
              <a:t>kỹ thuật</a:t>
            </a:r>
            <a:endParaRPr lang="en-US" sz="1800" b="1"/>
          </a:p>
          <a:p>
            <a:pPr marL="285750" indent="-285750" algn="just">
              <a:lnSpc>
                <a:spcPct val="120000"/>
              </a:lnSpc>
              <a:spcAft>
                <a:spcPts val="600"/>
              </a:spcAft>
              <a:buSzPct val="85000"/>
              <a:buFont typeface="Wingdings" panose="05000000000000000000" pitchFamily="2" charset="2"/>
              <a:buChar char="q"/>
            </a:pPr>
            <a:r>
              <a:rPr lang="vi-VN" sz="1800"/>
              <a:t>Rủi ro </a:t>
            </a:r>
            <a:r>
              <a:rPr lang="vi-VN" sz="1800" b="1"/>
              <a:t>tài chính</a:t>
            </a:r>
            <a:endParaRPr lang="en-US" sz="1800" b="1"/>
          </a:p>
          <a:p>
            <a:pPr marL="285750" indent="-285750" algn="just">
              <a:lnSpc>
                <a:spcPct val="120000"/>
              </a:lnSpc>
              <a:spcAft>
                <a:spcPts val="600"/>
              </a:spcAft>
              <a:buSzPct val="85000"/>
              <a:buFont typeface="Wingdings" panose="05000000000000000000" pitchFamily="2" charset="2"/>
              <a:buChar char="q"/>
            </a:pPr>
            <a:r>
              <a:rPr lang="en-US" sz="1800"/>
              <a:t>Rủi ro </a:t>
            </a:r>
            <a:r>
              <a:rPr lang="en-US" sz="1800" b="1"/>
              <a:t>nhân sự</a:t>
            </a:r>
          </a:p>
          <a:p>
            <a:pPr marL="285750" indent="-285750" algn="just">
              <a:lnSpc>
                <a:spcPct val="120000"/>
              </a:lnSpc>
              <a:spcAft>
                <a:spcPts val="600"/>
              </a:spcAft>
              <a:buSzPct val="85000"/>
              <a:buFont typeface="Wingdings" panose="05000000000000000000" pitchFamily="2" charset="2"/>
              <a:buChar char="q"/>
            </a:pPr>
            <a:r>
              <a:rPr lang="en-US" sz="1800"/>
              <a:t>Rủi ro </a:t>
            </a:r>
            <a:r>
              <a:rPr lang="en-US" sz="1800" b="1"/>
              <a:t>pháp lý</a:t>
            </a:r>
          </a:p>
        </p:txBody>
      </p:sp>
      <p:sp>
        <p:nvSpPr>
          <p:cNvPr id="8" name="Google Shape;429;p34">
            <a:extLst>
              <a:ext uri="{FF2B5EF4-FFF2-40B4-BE49-F238E27FC236}">
                <a16:creationId xmlns:a16="http://schemas.microsoft.com/office/drawing/2014/main" id="{A09899C7-AAD0-7160-C84F-742F4CFF95EC}"/>
              </a:ext>
            </a:extLst>
          </p:cNvPr>
          <p:cNvSpPr txBox="1">
            <a:spLocks/>
          </p:cNvSpPr>
          <p:nvPr/>
        </p:nvSpPr>
        <p:spPr>
          <a:xfrm>
            <a:off x="4572000" y="2843055"/>
            <a:ext cx="3128245" cy="17564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285750" indent="-285750" algn="just">
              <a:lnSpc>
                <a:spcPct val="120000"/>
              </a:lnSpc>
              <a:spcAft>
                <a:spcPts val="600"/>
              </a:spcAft>
              <a:buSzPct val="85000"/>
              <a:buFont typeface="Wingdings" panose="05000000000000000000" pitchFamily="2" charset="2"/>
              <a:buChar char="q"/>
            </a:pPr>
            <a:r>
              <a:rPr lang="vi-VN" sz="1800"/>
              <a:t>Rủi ro </a:t>
            </a:r>
            <a:r>
              <a:rPr lang="vi-VN" sz="1800" b="1"/>
              <a:t>thị trường</a:t>
            </a:r>
            <a:endParaRPr lang="en-US" sz="1800" b="1"/>
          </a:p>
          <a:p>
            <a:pPr marL="285750" indent="-285750" algn="just">
              <a:lnSpc>
                <a:spcPct val="120000"/>
              </a:lnSpc>
              <a:spcAft>
                <a:spcPts val="600"/>
              </a:spcAft>
              <a:buSzPct val="85000"/>
              <a:buFont typeface="Wingdings" panose="05000000000000000000" pitchFamily="2" charset="2"/>
              <a:buChar char="q"/>
            </a:pPr>
            <a:r>
              <a:rPr lang="vi-VN" sz="1800"/>
              <a:t>Rủi ro </a:t>
            </a:r>
            <a:r>
              <a:rPr lang="vi-VN" sz="1800" b="1"/>
              <a:t>môi trường</a:t>
            </a:r>
            <a:endParaRPr lang="en-US" sz="1800" b="1"/>
          </a:p>
          <a:p>
            <a:pPr marL="285750" indent="-285750" algn="just">
              <a:lnSpc>
                <a:spcPct val="120000"/>
              </a:lnSpc>
              <a:spcAft>
                <a:spcPts val="600"/>
              </a:spcAft>
              <a:buSzPct val="85000"/>
              <a:buFont typeface="Wingdings" panose="05000000000000000000" pitchFamily="2" charset="2"/>
              <a:buChar char="q"/>
            </a:pPr>
            <a:r>
              <a:rPr lang="en-US" sz="1800"/>
              <a:t>Rủi ro </a:t>
            </a:r>
            <a:r>
              <a:rPr lang="en-US" sz="1800" b="1"/>
              <a:t>tổ chức</a:t>
            </a:r>
          </a:p>
          <a:p>
            <a:pPr marL="285750" indent="-285750" algn="just">
              <a:lnSpc>
                <a:spcPct val="120000"/>
              </a:lnSpc>
              <a:spcAft>
                <a:spcPts val="600"/>
              </a:spcAft>
              <a:buSzPct val="85000"/>
              <a:buFont typeface="Wingdings" panose="05000000000000000000" pitchFamily="2" charset="2"/>
              <a:buChar char="q"/>
            </a:pPr>
            <a:r>
              <a:rPr lang="en-US" sz="1800"/>
              <a:t>Rủi ro </a:t>
            </a:r>
            <a:r>
              <a:rPr lang="en-US" sz="1800" b="1"/>
              <a:t>chính trị – xã hội</a:t>
            </a:r>
          </a:p>
        </p:txBody>
      </p:sp>
      <p:sp>
        <p:nvSpPr>
          <p:cNvPr id="9" name="Google Shape;429;p34">
            <a:extLst>
              <a:ext uri="{FF2B5EF4-FFF2-40B4-BE49-F238E27FC236}">
                <a16:creationId xmlns:a16="http://schemas.microsoft.com/office/drawing/2014/main" id="{EE3F836C-518A-3875-7EB0-E91CE2C5AE22}"/>
              </a:ext>
            </a:extLst>
          </p:cNvPr>
          <p:cNvSpPr txBox="1">
            <a:spLocks/>
          </p:cNvSpPr>
          <p:nvPr/>
        </p:nvSpPr>
        <p:spPr>
          <a:xfrm>
            <a:off x="437333" y="1051474"/>
            <a:ext cx="8269334" cy="153261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285750" indent="-285750" algn="just">
              <a:lnSpc>
                <a:spcPct val="120000"/>
              </a:lnSpc>
              <a:spcAft>
                <a:spcPts val="1200"/>
              </a:spcAft>
              <a:buSzPct val="85000"/>
              <a:buFont typeface="Wingdings" panose="05000000000000000000" pitchFamily="2" charset="2"/>
              <a:buChar char="Ø"/>
            </a:pPr>
            <a:r>
              <a:rPr lang="vi-VN" sz="1800"/>
              <a:t>Để quản lý hiệu quả, rủi ro cần được phân loại rõ ràng theo từng nhóm cụ thể. Việc này giúp nhóm dự án dễ dàng theo dõi, phân tích và xây dựng chiến lược ứng phó phù hợp với từng loại rủi ro. </a:t>
            </a:r>
            <a:endParaRPr lang="en-US" sz="1800"/>
          </a:p>
          <a:p>
            <a:pPr marL="285750" indent="-285750" algn="just">
              <a:lnSpc>
                <a:spcPct val="120000"/>
              </a:lnSpc>
              <a:spcAft>
                <a:spcPts val="1200"/>
              </a:spcAft>
              <a:buSzPct val="85000"/>
              <a:buFont typeface="Wingdings" panose="05000000000000000000" pitchFamily="2" charset="2"/>
              <a:buChar char="Ø"/>
            </a:pPr>
            <a:r>
              <a:rPr lang="vi-VN" sz="1800"/>
              <a:t>Các phạm trù rủi ro phổ biến trong quản lý dự án gồm:</a:t>
            </a:r>
          </a:p>
        </p:txBody>
      </p:sp>
    </p:spTree>
    <p:extLst>
      <p:ext uri="{BB962C8B-B14F-4D97-AF65-F5344CB8AC3E}">
        <p14:creationId xmlns:p14="http://schemas.microsoft.com/office/powerpoint/2010/main" val="1527018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6">
          <a:extLst>
            <a:ext uri="{FF2B5EF4-FFF2-40B4-BE49-F238E27FC236}">
              <a16:creationId xmlns:a16="http://schemas.microsoft.com/office/drawing/2014/main" id="{5E96575B-40BF-A945-3057-B229F3A888A3}"/>
            </a:ext>
          </a:extLst>
        </p:cNvPr>
        <p:cNvGrpSpPr/>
        <p:nvPr/>
      </p:nvGrpSpPr>
      <p:grpSpPr>
        <a:xfrm>
          <a:off x="0" y="0"/>
          <a:ext cx="0" cy="0"/>
          <a:chOff x="0" y="0"/>
          <a:chExt cx="0" cy="0"/>
        </a:xfrm>
      </p:grpSpPr>
      <p:sp>
        <p:nvSpPr>
          <p:cNvPr id="517" name="Google Shape;517;p39">
            <a:extLst>
              <a:ext uri="{FF2B5EF4-FFF2-40B4-BE49-F238E27FC236}">
                <a16:creationId xmlns:a16="http://schemas.microsoft.com/office/drawing/2014/main" id="{50516E59-E85E-6CF0-4CDA-C0B931793DF9}"/>
              </a:ext>
            </a:extLst>
          </p:cNvPr>
          <p:cNvSpPr txBox="1">
            <a:spLocks noGrp="1"/>
          </p:cNvSpPr>
          <p:nvPr>
            <p:ph type="title"/>
          </p:nvPr>
        </p:nvSpPr>
        <p:spPr>
          <a:xfrm>
            <a:off x="673536" y="1376315"/>
            <a:ext cx="7056444" cy="1960774"/>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US" sz="4800" b="1">
                <a:solidFill>
                  <a:schemeClr val="tx2">
                    <a:lumMod val="75000"/>
                  </a:schemeClr>
                </a:solidFill>
              </a:rPr>
              <a:t>Nhận diện </a:t>
            </a:r>
            <a:r>
              <a:rPr lang="en-US" sz="4800"/>
              <a:t>rủi ro</a:t>
            </a:r>
            <a:endParaRPr sz="4800"/>
          </a:p>
        </p:txBody>
      </p:sp>
      <p:grpSp>
        <p:nvGrpSpPr>
          <p:cNvPr id="4" name="Google Shape;519;p39">
            <a:extLst>
              <a:ext uri="{FF2B5EF4-FFF2-40B4-BE49-F238E27FC236}">
                <a16:creationId xmlns:a16="http://schemas.microsoft.com/office/drawing/2014/main" id="{7E9CB6F3-48F0-1B2D-2E9C-2C6A174FDCF6}"/>
              </a:ext>
            </a:extLst>
          </p:cNvPr>
          <p:cNvGrpSpPr/>
          <p:nvPr/>
        </p:nvGrpSpPr>
        <p:grpSpPr>
          <a:xfrm>
            <a:off x="6617560" y="2826275"/>
            <a:ext cx="2224840" cy="418725"/>
            <a:chOff x="7318351" y="2997150"/>
            <a:chExt cx="2224840" cy="418725"/>
          </a:xfrm>
        </p:grpSpPr>
        <p:sp>
          <p:nvSpPr>
            <p:cNvPr id="5" name="Google Shape;520;p39">
              <a:extLst>
                <a:ext uri="{FF2B5EF4-FFF2-40B4-BE49-F238E27FC236}">
                  <a16:creationId xmlns:a16="http://schemas.microsoft.com/office/drawing/2014/main" id="{A8C5B0B6-5951-6803-EF98-AFD87942D7BC}"/>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21;p39">
              <a:extLst>
                <a:ext uri="{FF2B5EF4-FFF2-40B4-BE49-F238E27FC236}">
                  <a16:creationId xmlns:a16="http://schemas.microsoft.com/office/drawing/2014/main" id="{C75D84DD-C06B-EC1E-C25C-8BB6672FE538}"/>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22;p39">
              <a:extLst>
                <a:ext uri="{FF2B5EF4-FFF2-40B4-BE49-F238E27FC236}">
                  <a16:creationId xmlns:a16="http://schemas.microsoft.com/office/drawing/2014/main" id="{E4384571-DE6C-DE49-DE19-108D7CFEFB39}"/>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Google Shape;518;p39">
            <a:extLst>
              <a:ext uri="{FF2B5EF4-FFF2-40B4-BE49-F238E27FC236}">
                <a16:creationId xmlns:a16="http://schemas.microsoft.com/office/drawing/2014/main" id="{280D1993-AC3C-2A5F-93A5-CF51C02D93D6}"/>
              </a:ext>
            </a:extLst>
          </p:cNvPr>
          <p:cNvSpPr txBox="1">
            <a:spLocks noGrp="1"/>
          </p:cNvSpPr>
          <p:nvPr>
            <p:ph type="subTitle" idx="1"/>
          </p:nvPr>
        </p:nvSpPr>
        <p:spPr>
          <a:xfrm>
            <a:off x="5850450" y="3953240"/>
            <a:ext cx="2232600" cy="642900"/>
          </a:xfrm>
          <a:prstGeom prst="rect">
            <a:avLst/>
          </a:prstGeom>
        </p:spPr>
        <p:txBody>
          <a:bodyPr spcFirstLastPara="1" wrap="square" lIns="91425" tIns="91425" rIns="91425" bIns="91425" anchor="b" anchorCtr="0">
            <a:noAutofit/>
          </a:bodyPr>
          <a:lstStyle/>
          <a:p>
            <a:pPr marL="0" lvl="0" indent="0"/>
            <a:r>
              <a:rPr lang="en-US" sz="2000"/>
              <a:t>Bước 2</a:t>
            </a:r>
            <a:endParaRPr sz="2000"/>
          </a:p>
        </p:txBody>
      </p:sp>
    </p:spTree>
    <p:extLst>
      <p:ext uri="{BB962C8B-B14F-4D97-AF65-F5344CB8AC3E}">
        <p14:creationId xmlns:p14="http://schemas.microsoft.com/office/powerpoint/2010/main" val="993802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A95A3CEE-BE23-1747-A7D1-7560DD46E24E}"/>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A913D6FB-8DA9-4535-755E-F4CFDE8C8723}"/>
              </a:ext>
            </a:extLst>
          </p:cNvPr>
          <p:cNvSpPr txBox="1">
            <a:spLocks noGrp="1"/>
          </p:cNvSpPr>
          <p:nvPr>
            <p:ph type="title"/>
          </p:nvPr>
        </p:nvSpPr>
        <p:spPr>
          <a:xfrm>
            <a:off x="265586" y="466576"/>
            <a:ext cx="746984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a:t>Các kỹ thuật nhận diện rủi ro</a:t>
            </a:r>
            <a:endParaRPr sz="2800" b="1"/>
          </a:p>
        </p:txBody>
      </p:sp>
      <p:sp>
        <p:nvSpPr>
          <p:cNvPr id="429" name="Google Shape;429;p34">
            <a:extLst>
              <a:ext uri="{FF2B5EF4-FFF2-40B4-BE49-F238E27FC236}">
                <a16:creationId xmlns:a16="http://schemas.microsoft.com/office/drawing/2014/main" id="{3E9BB6A3-5EF6-7A84-7043-69A3505D71AA}"/>
              </a:ext>
            </a:extLst>
          </p:cNvPr>
          <p:cNvSpPr txBox="1">
            <a:spLocks noGrp="1"/>
          </p:cNvSpPr>
          <p:nvPr>
            <p:ph type="subTitle" idx="2"/>
          </p:nvPr>
        </p:nvSpPr>
        <p:spPr>
          <a:xfrm>
            <a:off x="631936" y="1145138"/>
            <a:ext cx="7026164" cy="3137805"/>
          </a:xfrm>
          <a:prstGeom prst="rect">
            <a:avLst/>
          </a:prstGeom>
        </p:spPr>
        <p:txBody>
          <a:bodyPr spcFirstLastPara="1" wrap="square" lIns="91425" tIns="91425" rIns="91425" bIns="91425" anchor="t" anchorCtr="0">
            <a:noAutofit/>
          </a:bodyPr>
          <a:lstStyle/>
          <a:p>
            <a:pPr marL="285750" lvl="0" indent="-285750" algn="just" rtl="0">
              <a:lnSpc>
                <a:spcPct val="120000"/>
              </a:lnSpc>
              <a:spcBef>
                <a:spcPts val="0"/>
              </a:spcBef>
              <a:spcAft>
                <a:spcPts val="600"/>
              </a:spcAft>
              <a:buSzPct val="75000"/>
              <a:buFont typeface="Wingdings" panose="05000000000000000000" pitchFamily="2" charset="2"/>
              <a:buChar char="Ø"/>
            </a:pPr>
            <a:r>
              <a:rPr lang="en-US" sz="2400"/>
              <a:t>Xem xét tài liệu</a:t>
            </a:r>
          </a:p>
          <a:p>
            <a:pPr marL="285750" lvl="0" indent="-285750" algn="just" rtl="0">
              <a:lnSpc>
                <a:spcPct val="120000"/>
              </a:lnSpc>
              <a:spcBef>
                <a:spcPts val="0"/>
              </a:spcBef>
              <a:spcAft>
                <a:spcPts val="600"/>
              </a:spcAft>
              <a:buSzPct val="75000"/>
              <a:buFont typeface="Wingdings" panose="05000000000000000000" pitchFamily="2" charset="2"/>
              <a:buChar char="Ø"/>
            </a:pPr>
            <a:r>
              <a:rPr lang="en-US" sz="2400"/>
              <a:t>Động não</a:t>
            </a:r>
          </a:p>
          <a:p>
            <a:pPr marL="285750" lvl="0" indent="-285750" algn="just" rtl="0">
              <a:lnSpc>
                <a:spcPct val="120000"/>
              </a:lnSpc>
              <a:spcBef>
                <a:spcPts val="0"/>
              </a:spcBef>
              <a:spcAft>
                <a:spcPts val="600"/>
              </a:spcAft>
              <a:buSzPct val="75000"/>
              <a:buFont typeface="Wingdings" panose="05000000000000000000" pitchFamily="2" charset="2"/>
              <a:buChar char="Ø"/>
            </a:pPr>
            <a:r>
              <a:rPr lang="en-US" sz="2400"/>
              <a:t>Kỹ thuật Delphi</a:t>
            </a:r>
          </a:p>
          <a:p>
            <a:pPr marL="285750" lvl="0" indent="-285750" algn="just" rtl="0">
              <a:lnSpc>
                <a:spcPct val="120000"/>
              </a:lnSpc>
              <a:spcBef>
                <a:spcPts val="0"/>
              </a:spcBef>
              <a:spcAft>
                <a:spcPts val="600"/>
              </a:spcAft>
              <a:buSzPct val="75000"/>
              <a:buFont typeface="Wingdings" panose="05000000000000000000" pitchFamily="2" charset="2"/>
              <a:buChar char="Ø"/>
            </a:pPr>
            <a:r>
              <a:rPr lang="en-US" sz="2400"/>
              <a:t>Hỏi ý kiến chuyên gia</a:t>
            </a:r>
          </a:p>
          <a:p>
            <a:pPr marL="285750" lvl="0" indent="-285750" algn="just" rtl="0">
              <a:lnSpc>
                <a:spcPct val="120000"/>
              </a:lnSpc>
              <a:spcBef>
                <a:spcPts val="0"/>
              </a:spcBef>
              <a:spcAft>
                <a:spcPts val="600"/>
              </a:spcAft>
              <a:buSzPct val="75000"/>
              <a:buFont typeface="Wingdings" panose="05000000000000000000" pitchFamily="2" charset="2"/>
              <a:buChar char="Ø"/>
            </a:pPr>
            <a:r>
              <a:rPr lang="en-US" sz="2400"/>
              <a:t>Sử dụng phiếu kiểm tra hoặc bảng câu hỏi</a:t>
            </a:r>
          </a:p>
          <a:p>
            <a:pPr marL="285750" lvl="0" indent="-285750" algn="just" rtl="0">
              <a:lnSpc>
                <a:spcPct val="120000"/>
              </a:lnSpc>
              <a:spcBef>
                <a:spcPts val="0"/>
              </a:spcBef>
              <a:spcAft>
                <a:spcPts val="600"/>
              </a:spcAft>
              <a:buSzPct val="75000"/>
              <a:buFont typeface="Wingdings" panose="05000000000000000000" pitchFamily="2" charset="2"/>
              <a:buChar char="Ø"/>
            </a:pPr>
            <a:r>
              <a:rPr lang="en-US" sz="2400"/>
              <a:t>Sử dụng biểu đồ</a:t>
            </a:r>
          </a:p>
        </p:txBody>
      </p:sp>
      <p:grpSp>
        <p:nvGrpSpPr>
          <p:cNvPr id="433" name="Google Shape;433;p34">
            <a:extLst>
              <a:ext uri="{FF2B5EF4-FFF2-40B4-BE49-F238E27FC236}">
                <a16:creationId xmlns:a16="http://schemas.microsoft.com/office/drawing/2014/main" id="{01BD1650-D5A8-6BF6-38CF-F1BFB3025D2D}"/>
              </a:ext>
            </a:extLst>
          </p:cNvPr>
          <p:cNvGrpSpPr/>
          <p:nvPr/>
        </p:nvGrpSpPr>
        <p:grpSpPr>
          <a:xfrm>
            <a:off x="7735426" y="726413"/>
            <a:ext cx="2224840" cy="418725"/>
            <a:chOff x="7318351" y="2997150"/>
            <a:chExt cx="2224840" cy="418725"/>
          </a:xfrm>
        </p:grpSpPr>
        <p:sp>
          <p:nvSpPr>
            <p:cNvPr id="434" name="Google Shape;434;p34">
              <a:extLst>
                <a:ext uri="{FF2B5EF4-FFF2-40B4-BE49-F238E27FC236}">
                  <a16:creationId xmlns:a16="http://schemas.microsoft.com/office/drawing/2014/main" id="{CB5FFB6E-3D20-1FA4-7CCC-730C9B90A89A}"/>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BB4BBB47-38A7-A9DC-88E0-6CA09B972253}"/>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4FCAB10C-3F6F-1F3C-73A2-E36AB5517E42}"/>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170" name="Picture 2" descr="Risk Identification&quot; - Images et vidéos libres de droits | Adobe Stock">
            <a:extLst>
              <a:ext uri="{FF2B5EF4-FFF2-40B4-BE49-F238E27FC236}">
                <a16:creationId xmlns:a16="http://schemas.microsoft.com/office/drawing/2014/main" id="{319E626A-8AC8-4616-C479-6DAB85C476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44" r="7002" b="17796"/>
          <a:stretch>
            <a:fillRect/>
          </a:stretch>
        </p:blipFill>
        <p:spPr bwMode="auto">
          <a:xfrm>
            <a:off x="6810701" y="1397145"/>
            <a:ext cx="2037145" cy="1925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955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EC53C316-0491-377D-A6DA-340FD8D51285}"/>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39807112-CE68-330E-B5C5-458632AAABA0}"/>
              </a:ext>
            </a:extLst>
          </p:cNvPr>
          <p:cNvSpPr txBox="1">
            <a:spLocks noGrp="1"/>
          </p:cNvSpPr>
          <p:nvPr>
            <p:ph type="title"/>
          </p:nvPr>
        </p:nvSpPr>
        <p:spPr>
          <a:xfrm>
            <a:off x="265586" y="466576"/>
            <a:ext cx="7469840" cy="894634"/>
          </a:xfrm>
          <a:prstGeom prst="rect">
            <a:avLst/>
          </a:prstGeom>
        </p:spPr>
        <p:txBody>
          <a:bodyPr spcFirstLastPara="1" wrap="square" lIns="91425" tIns="91425" rIns="91425" bIns="91425" anchor="t" anchorCtr="0">
            <a:noAutofit/>
          </a:bodyPr>
          <a:lstStyle/>
          <a:p>
            <a:pPr lvl="0"/>
            <a:r>
              <a:rPr lang="en-US" sz="2400" b="1"/>
              <a:t>Xem xét tài liệu </a:t>
            </a:r>
            <a:br>
              <a:rPr lang="en-US" sz="2400" b="1"/>
            </a:br>
            <a:r>
              <a:rPr lang="en-US" sz="2400" b="1">
                <a:solidFill>
                  <a:schemeClr val="tx2">
                    <a:lumMod val="75000"/>
                  </a:schemeClr>
                </a:solidFill>
              </a:rPr>
              <a:t>(Documentation Review)</a:t>
            </a:r>
            <a:endParaRPr sz="2400" b="1">
              <a:solidFill>
                <a:schemeClr val="tx2">
                  <a:lumMod val="75000"/>
                </a:schemeClr>
              </a:solidFill>
            </a:endParaRPr>
          </a:p>
        </p:txBody>
      </p:sp>
      <p:sp>
        <p:nvSpPr>
          <p:cNvPr id="429" name="Google Shape;429;p34">
            <a:extLst>
              <a:ext uri="{FF2B5EF4-FFF2-40B4-BE49-F238E27FC236}">
                <a16:creationId xmlns:a16="http://schemas.microsoft.com/office/drawing/2014/main" id="{685D8BB7-39D0-1199-00F3-2BE13181D84E}"/>
              </a:ext>
            </a:extLst>
          </p:cNvPr>
          <p:cNvSpPr txBox="1">
            <a:spLocks noGrp="1"/>
          </p:cNvSpPr>
          <p:nvPr>
            <p:ph type="subTitle" idx="2"/>
          </p:nvPr>
        </p:nvSpPr>
        <p:spPr>
          <a:xfrm>
            <a:off x="511515" y="1361210"/>
            <a:ext cx="8120970" cy="3574474"/>
          </a:xfrm>
          <a:prstGeom prst="rect">
            <a:avLst/>
          </a:prstGeom>
        </p:spPr>
        <p:txBody>
          <a:bodyPr spcFirstLastPara="1" wrap="square" lIns="91425" tIns="91425" rIns="91425" bIns="91425" anchor="t" anchorCtr="0">
            <a:noAutofit/>
          </a:bodyPr>
          <a:lstStyle/>
          <a:p>
            <a:pPr marL="285750" lvl="0" indent="-285750" algn="just" rtl="0">
              <a:lnSpc>
                <a:spcPct val="120000"/>
              </a:lnSpc>
              <a:spcBef>
                <a:spcPts val="0"/>
              </a:spcBef>
              <a:spcAft>
                <a:spcPts val="600"/>
              </a:spcAft>
              <a:buSzPct val="75000"/>
              <a:buFont typeface="Wingdings" panose="05000000000000000000" pitchFamily="2" charset="2"/>
              <a:buChar char="Ø"/>
            </a:pPr>
            <a:r>
              <a:rPr lang="en-US" sz="1800"/>
              <a:t>L</a:t>
            </a:r>
            <a:r>
              <a:rPr lang="vi-VN" sz="1800"/>
              <a:t>à </a:t>
            </a:r>
            <a:r>
              <a:rPr lang="vi-VN" sz="1800" b="1"/>
              <a:t>phương pháp cơ bản và hệ thống nhất để nhận diện rủi ro</a:t>
            </a:r>
            <a:r>
              <a:rPr lang="en-US" sz="1800"/>
              <a:t>, </a:t>
            </a:r>
            <a:r>
              <a:rPr lang="vi-VN" sz="1800"/>
              <a:t>bao gồm việc </a:t>
            </a:r>
            <a:r>
              <a:rPr lang="vi-VN" sz="1800">
                <a:highlight>
                  <a:srgbClr val="FFFF00"/>
                </a:highlight>
              </a:rPr>
              <a:t>phân tích kỹ lưỡng tất cả các tài liệu liên quan đến dự án</a:t>
            </a:r>
            <a:r>
              <a:rPr lang="vi-VN" sz="1800"/>
              <a:t>, tổ chức hoặc hoạt động đang được đánh giá.</a:t>
            </a:r>
            <a:endParaRPr lang="en-US" sz="1800"/>
          </a:p>
          <a:p>
            <a:pPr marL="285750" lvl="0" indent="-285750" algn="just">
              <a:lnSpc>
                <a:spcPct val="120000"/>
              </a:lnSpc>
              <a:spcAft>
                <a:spcPts val="600"/>
              </a:spcAft>
              <a:buSzPct val="75000"/>
              <a:buFont typeface="Wingdings" panose="05000000000000000000" pitchFamily="2" charset="2"/>
              <a:buChar char="Ø"/>
            </a:pPr>
            <a:r>
              <a:rPr lang="en-US" sz="1800" b="1"/>
              <a:t>Các tài liệu cần xem xét: </a:t>
            </a:r>
            <a:r>
              <a:rPr lang="vi-VN" sz="1800"/>
              <a:t>kế hoạch dự án, báo cáo của các dự án trước đó, hợp đồng và thỏa thuận, báo cáo tài chính,</a:t>
            </a:r>
            <a:r>
              <a:rPr lang="en-US" sz="1800"/>
              <a:t>…</a:t>
            </a:r>
          </a:p>
          <a:p>
            <a:pPr marL="285750" lvl="0" indent="-285750" algn="just">
              <a:lnSpc>
                <a:spcPct val="120000"/>
              </a:lnSpc>
              <a:spcAft>
                <a:spcPts val="600"/>
              </a:spcAft>
              <a:buSzPct val="75000"/>
              <a:buFont typeface="Wingdings" panose="05000000000000000000" pitchFamily="2" charset="2"/>
              <a:buChar char="Ø"/>
            </a:pPr>
            <a:r>
              <a:rPr lang="en-US" sz="1800" b="1"/>
              <a:t>Quy trình thực hiện: </a:t>
            </a:r>
            <a:r>
              <a:rPr lang="en-US" sz="1800"/>
              <a:t>thu thập và phân loại tài liệu =&gt; đọc hiểu và phát hiện những dấu hiệu cảnh báo</a:t>
            </a:r>
          </a:p>
          <a:p>
            <a:pPr marL="285750" lvl="0" indent="-285750" algn="just">
              <a:lnSpc>
                <a:spcPct val="120000"/>
              </a:lnSpc>
              <a:spcAft>
                <a:spcPts val="600"/>
              </a:spcAft>
              <a:buSzPct val="75000"/>
              <a:buFont typeface="Wingdings" panose="05000000000000000000" pitchFamily="2" charset="2"/>
              <a:buChar char="Ø"/>
            </a:pPr>
            <a:r>
              <a:rPr lang="en-US" sz="1800" b="1"/>
              <a:t>Ưu điểm: </a:t>
            </a:r>
            <a:r>
              <a:rPr lang="en-US" sz="1800"/>
              <a:t>Tính khách quan cao, chi phí thấp, luôn có thể thực hiện.</a:t>
            </a:r>
          </a:p>
          <a:p>
            <a:pPr marL="285750" lvl="0" indent="-285750" algn="just">
              <a:lnSpc>
                <a:spcPct val="120000"/>
              </a:lnSpc>
              <a:spcAft>
                <a:spcPts val="600"/>
              </a:spcAft>
              <a:buSzPct val="75000"/>
              <a:buFont typeface="Wingdings" panose="05000000000000000000" pitchFamily="2" charset="2"/>
              <a:buChar char="Ø"/>
            </a:pPr>
            <a:r>
              <a:rPr lang="en-US" sz="1800" b="1"/>
              <a:t>Hạn chế: </a:t>
            </a:r>
            <a:r>
              <a:rPr lang="en-US" sz="1800"/>
              <a:t>Tài liệu không phản ánh đầy đủ thực tế hiện tại.</a:t>
            </a:r>
            <a:endParaRPr lang="en-US" sz="1800" b="1"/>
          </a:p>
        </p:txBody>
      </p:sp>
      <p:grpSp>
        <p:nvGrpSpPr>
          <p:cNvPr id="433" name="Google Shape;433;p34">
            <a:extLst>
              <a:ext uri="{FF2B5EF4-FFF2-40B4-BE49-F238E27FC236}">
                <a16:creationId xmlns:a16="http://schemas.microsoft.com/office/drawing/2014/main" id="{095D5B7E-C89D-08DF-8570-38EFF3BCFE6D}"/>
              </a:ext>
            </a:extLst>
          </p:cNvPr>
          <p:cNvGrpSpPr/>
          <p:nvPr/>
        </p:nvGrpSpPr>
        <p:grpSpPr>
          <a:xfrm>
            <a:off x="7735426" y="726413"/>
            <a:ext cx="2224840" cy="418725"/>
            <a:chOff x="7318351" y="2997150"/>
            <a:chExt cx="2224840" cy="418725"/>
          </a:xfrm>
        </p:grpSpPr>
        <p:sp>
          <p:nvSpPr>
            <p:cNvPr id="434" name="Google Shape;434;p34">
              <a:extLst>
                <a:ext uri="{FF2B5EF4-FFF2-40B4-BE49-F238E27FC236}">
                  <a16:creationId xmlns:a16="http://schemas.microsoft.com/office/drawing/2014/main" id="{1C0F4EE1-7F35-1F66-8FF2-40FB2C027810}"/>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84EBB3F2-8EC7-66BE-1968-0BA61214F472}"/>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BC3C7EFD-A020-2E28-3DC6-52D02CCB3B3F}"/>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98869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200592E8-E059-A8B5-4C50-786B87DFB084}"/>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BF4B82D0-1B1C-A4B2-600E-145626ED12EF}"/>
              </a:ext>
            </a:extLst>
          </p:cNvPr>
          <p:cNvSpPr txBox="1">
            <a:spLocks noGrp="1"/>
          </p:cNvSpPr>
          <p:nvPr>
            <p:ph type="title"/>
          </p:nvPr>
        </p:nvSpPr>
        <p:spPr>
          <a:xfrm>
            <a:off x="265586" y="466576"/>
            <a:ext cx="7469840" cy="894634"/>
          </a:xfrm>
          <a:prstGeom prst="rect">
            <a:avLst/>
          </a:prstGeom>
        </p:spPr>
        <p:txBody>
          <a:bodyPr spcFirstLastPara="1" wrap="square" lIns="91425" tIns="91425" rIns="91425" bIns="91425" anchor="t" anchorCtr="0">
            <a:noAutofit/>
          </a:bodyPr>
          <a:lstStyle/>
          <a:p>
            <a:pPr lvl="0"/>
            <a:r>
              <a:rPr lang="en-US" sz="2400" b="1"/>
              <a:t>Động não </a:t>
            </a:r>
            <a:br>
              <a:rPr lang="en-US" sz="2400" b="1"/>
            </a:br>
            <a:r>
              <a:rPr lang="en-US" sz="2400" b="1">
                <a:solidFill>
                  <a:schemeClr val="tx2">
                    <a:lumMod val="75000"/>
                  </a:schemeClr>
                </a:solidFill>
              </a:rPr>
              <a:t>(Brainstorming)</a:t>
            </a:r>
            <a:endParaRPr sz="2400" b="1">
              <a:solidFill>
                <a:schemeClr val="tx2">
                  <a:lumMod val="75000"/>
                </a:schemeClr>
              </a:solidFill>
            </a:endParaRPr>
          </a:p>
        </p:txBody>
      </p:sp>
      <p:sp>
        <p:nvSpPr>
          <p:cNvPr id="429" name="Google Shape;429;p34">
            <a:extLst>
              <a:ext uri="{FF2B5EF4-FFF2-40B4-BE49-F238E27FC236}">
                <a16:creationId xmlns:a16="http://schemas.microsoft.com/office/drawing/2014/main" id="{7703800F-FEA1-D1EB-350C-76300E1891EA}"/>
              </a:ext>
            </a:extLst>
          </p:cNvPr>
          <p:cNvSpPr txBox="1">
            <a:spLocks noGrp="1"/>
          </p:cNvSpPr>
          <p:nvPr>
            <p:ph type="subTitle" idx="2"/>
          </p:nvPr>
        </p:nvSpPr>
        <p:spPr>
          <a:xfrm>
            <a:off x="519545" y="1383576"/>
            <a:ext cx="7855528" cy="3574474"/>
          </a:xfrm>
          <a:prstGeom prst="rect">
            <a:avLst/>
          </a:prstGeom>
        </p:spPr>
        <p:txBody>
          <a:bodyPr spcFirstLastPara="1" wrap="square" lIns="91425" tIns="91425" rIns="91425" bIns="91425" anchor="t" anchorCtr="0">
            <a:noAutofit/>
          </a:bodyPr>
          <a:lstStyle/>
          <a:p>
            <a:pPr marL="285750" lvl="0" indent="-285750" algn="just">
              <a:lnSpc>
                <a:spcPct val="120000"/>
              </a:lnSpc>
              <a:spcAft>
                <a:spcPts val="600"/>
              </a:spcAft>
              <a:buSzPct val="75000"/>
              <a:buFont typeface="Wingdings" panose="05000000000000000000" pitchFamily="2" charset="2"/>
              <a:buChar char="Ø"/>
            </a:pPr>
            <a:r>
              <a:rPr lang="en-US" sz="1800"/>
              <a:t>L</a:t>
            </a:r>
            <a:r>
              <a:rPr lang="vi-VN" sz="1800"/>
              <a:t>à kỹ thuật tư duy sáng tạo được sử dụng rộng rãi để nhận diện rủi ro thông qua việc khuyến khích các thành viên đưa ra ý tưởng một cách tự do và không bị phán xét.</a:t>
            </a:r>
            <a:endParaRPr lang="en-US" sz="1800"/>
          </a:p>
          <a:p>
            <a:pPr marL="285750" lvl="0" indent="-285750" algn="just">
              <a:lnSpc>
                <a:spcPct val="120000"/>
              </a:lnSpc>
              <a:spcAft>
                <a:spcPts val="600"/>
              </a:spcAft>
              <a:buSzPct val="75000"/>
              <a:buFont typeface="Wingdings" panose="05000000000000000000" pitchFamily="2" charset="2"/>
              <a:buChar char="Ø"/>
            </a:pPr>
            <a:r>
              <a:rPr lang="en-US" sz="1800" b="1"/>
              <a:t>Chuẩn bị cho phiên động não: </a:t>
            </a:r>
            <a:r>
              <a:rPr lang="en-US" sz="1800"/>
              <a:t>cần lựa chọn cẩn thận những người sẽ tham gia phiên họp, tạo môi trường họp thoải mái, khuyến khích sự sáng tạo. Người điều hành cần có kỹ năng tốt để có không khí tích cực.</a:t>
            </a:r>
          </a:p>
          <a:p>
            <a:pPr marL="285750" lvl="0" indent="-285750" algn="just">
              <a:lnSpc>
                <a:spcPct val="120000"/>
              </a:lnSpc>
              <a:spcAft>
                <a:spcPts val="600"/>
              </a:spcAft>
              <a:buSzPct val="75000"/>
              <a:buFont typeface="Wingdings" panose="05000000000000000000" pitchFamily="2" charset="2"/>
              <a:buChar char="Ø"/>
            </a:pPr>
            <a:r>
              <a:rPr lang="en-US" sz="1800" b="1"/>
              <a:t>Nguyên tắc thực hiện: </a:t>
            </a:r>
            <a:r>
              <a:rPr lang="en-US" sz="1800"/>
              <a:t>khuyến khích ý kiến, không phê phán đánh giá các ý tưởng, tập trung số lượng hơn chất lượng, dùng ý tưởng của người này làm khởi đầu cho ý tưởng của người khác</a:t>
            </a:r>
          </a:p>
        </p:txBody>
      </p:sp>
      <p:grpSp>
        <p:nvGrpSpPr>
          <p:cNvPr id="433" name="Google Shape;433;p34">
            <a:extLst>
              <a:ext uri="{FF2B5EF4-FFF2-40B4-BE49-F238E27FC236}">
                <a16:creationId xmlns:a16="http://schemas.microsoft.com/office/drawing/2014/main" id="{97111B1D-7C55-9834-1102-C491FB3D5D32}"/>
              </a:ext>
            </a:extLst>
          </p:cNvPr>
          <p:cNvGrpSpPr/>
          <p:nvPr/>
        </p:nvGrpSpPr>
        <p:grpSpPr>
          <a:xfrm>
            <a:off x="7735426" y="726413"/>
            <a:ext cx="2224840" cy="418725"/>
            <a:chOff x="7318351" y="2997150"/>
            <a:chExt cx="2224840" cy="418725"/>
          </a:xfrm>
        </p:grpSpPr>
        <p:sp>
          <p:nvSpPr>
            <p:cNvPr id="434" name="Google Shape;434;p34">
              <a:extLst>
                <a:ext uri="{FF2B5EF4-FFF2-40B4-BE49-F238E27FC236}">
                  <a16:creationId xmlns:a16="http://schemas.microsoft.com/office/drawing/2014/main" id="{15FDE4CA-4EE3-098A-85B4-14DFBF854074}"/>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CE14D763-9140-DB7C-CF55-398F9584E3EA}"/>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DBD45606-D1DE-597F-FEB8-5CD370C57423}"/>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77878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5BBC94F0-CF9A-D9A1-37AA-95192CCB2F91}"/>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714CAA2B-1271-A4F8-7AD8-3678D34561EE}"/>
              </a:ext>
            </a:extLst>
          </p:cNvPr>
          <p:cNvSpPr txBox="1">
            <a:spLocks noGrp="1"/>
          </p:cNvSpPr>
          <p:nvPr>
            <p:ph type="title"/>
          </p:nvPr>
        </p:nvSpPr>
        <p:spPr>
          <a:xfrm>
            <a:off x="265586" y="466576"/>
            <a:ext cx="7469840" cy="894634"/>
          </a:xfrm>
          <a:prstGeom prst="rect">
            <a:avLst/>
          </a:prstGeom>
        </p:spPr>
        <p:txBody>
          <a:bodyPr spcFirstLastPara="1" wrap="square" lIns="91425" tIns="91425" rIns="91425" bIns="91425" anchor="t" anchorCtr="0">
            <a:noAutofit/>
          </a:bodyPr>
          <a:lstStyle/>
          <a:p>
            <a:pPr lvl="0"/>
            <a:r>
              <a:rPr lang="en-US" sz="2400" b="1"/>
              <a:t>Động não </a:t>
            </a:r>
            <a:br>
              <a:rPr lang="en-US" sz="2400" b="1"/>
            </a:br>
            <a:r>
              <a:rPr lang="en-US" sz="2400" b="1">
                <a:solidFill>
                  <a:schemeClr val="tx2">
                    <a:lumMod val="75000"/>
                  </a:schemeClr>
                </a:solidFill>
              </a:rPr>
              <a:t>(Brainstorming)</a:t>
            </a:r>
            <a:endParaRPr sz="2400" b="1">
              <a:solidFill>
                <a:schemeClr val="tx2">
                  <a:lumMod val="75000"/>
                </a:schemeClr>
              </a:solidFill>
            </a:endParaRPr>
          </a:p>
        </p:txBody>
      </p:sp>
      <p:sp>
        <p:nvSpPr>
          <p:cNvPr id="429" name="Google Shape;429;p34">
            <a:extLst>
              <a:ext uri="{FF2B5EF4-FFF2-40B4-BE49-F238E27FC236}">
                <a16:creationId xmlns:a16="http://schemas.microsoft.com/office/drawing/2014/main" id="{1E428404-EC54-276D-0E9F-E1F68A038D4C}"/>
              </a:ext>
            </a:extLst>
          </p:cNvPr>
          <p:cNvSpPr txBox="1">
            <a:spLocks noGrp="1"/>
          </p:cNvSpPr>
          <p:nvPr>
            <p:ph type="subTitle" idx="2"/>
          </p:nvPr>
        </p:nvSpPr>
        <p:spPr>
          <a:xfrm>
            <a:off x="265586" y="1409036"/>
            <a:ext cx="8369259" cy="3574474"/>
          </a:xfrm>
          <a:prstGeom prst="rect">
            <a:avLst/>
          </a:prstGeom>
        </p:spPr>
        <p:txBody>
          <a:bodyPr spcFirstLastPara="1" wrap="square" lIns="91425" tIns="91425" rIns="91425" bIns="91425" anchor="t" anchorCtr="0">
            <a:noAutofit/>
          </a:bodyPr>
          <a:lstStyle/>
          <a:p>
            <a:pPr marL="285750" lvl="0" indent="-285750" algn="just">
              <a:lnSpc>
                <a:spcPct val="120000"/>
              </a:lnSpc>
              <a:spcAft>
                <a:spcPts val="600"/>
              </a:spcAft>
              <a:buSzPct val="75000"/>
              <a:buFont typeface="Wingdings" panose="05000000000000000000" pitchFamily="2" charset="2"/>
              <a:buChar char="Ø"/>
            </a:pPr>
            <a:r>
              <a:rPr lang="en-US" sz="1800" b="1"/>
              <a:t>Các biến thể: </a:t>
            </a:r>
          </a:p>
          <a:p>
            <a:pPr marL="742950" lvl="1" indent="-285750" algn="just">
              <a:lnSpc>
                <a:spcPct val="120000"/>
              </a:lnSpc>
              <a:spcAft>
                <a:spcPts val="600"/>
              </a:spcAft>
              <a:buSzPct val="75000"/>
              <a:buFont typeface="Wingdings" panose="05000000000000000000" pitchFamily="2" charset="2"/>
              <a:buChar char="ü"/>
            </a:pPr>
            <a:r>
              <a:rPr lang="en-US" sz="1800">
                <a:highlight>
                  <a:srgbClr val="FFFF00"/>
                </a:highlight>
              </a:rPr>
              <a:t>N</a:t>
            </a:r>
            <a:r>
              <a:rPr lang="vi-VN" sz="1800">
                <a:highlight>
                  <a:srgbClr val="FFFF00"/>
                </a:highlight>
              </a:rPr>
              <a:t>ominal group technique</a:t>
            </a:r>
            <a:r>
              <a:rPr lang="vi-VN" sz="1800"/>
              <a:t> (mỗi người viết ý tưởng riêng trước khi chia sẻ) </a:t>
            </a:r>
            <a:endParaRPr lang="en-US" sz="1800"/>
          </a:p>
          <a:p>
            <a:pPr marL="742950" lvl="1" indent="-285750" algn="just">
              <a:lnSpc>
                <a:spcPct val="120000"/>
              </a:lnSpc>
              <a:spcAft>
                <a:spcPts val="600"/>
              </a:spcAft>
              <a:buSzPct val="75000"/>
              <a:buFont typeface="Wingdings" panose="05000000000000000000" pitchFamily="2" charset="2"/>
              <a:buChar char="ü"/>
            </a:pPr>
            <a:r>
              <a:rPr lang="en-US" sz="1800">
                <a:highlight>
                  <a:srgbClr val="FFFF00"/>
                </a:highlight>
              </a:rPr>
              <a:t>El</a:t>
            </a:r>
            <a:r>
              <a:rPr lang="vi-VN" sz="1800">
                <a:highlight>
                  <a:srgbClr val="FFFF00"/>
                </a:highlight>
              </a:rPr>
              <a:t>ectronic brainstorming </a:t>
            </a:r>
            <a:r>
              <a:rPr lang="vi-VN" sz="1800"/>
              <a:t>(sử dụng công nghệ để thu thập ý kiến ẩn danh) </a:t>
            </a:r>
            <a:endParaRPr lang="en-US" sz="1800"/>
          </a:p>
          <a:p>
            <a:pPr marL="742950" lvl="1" indent="-285750" algn="just">
              <a:lnSpc>
                <a:spcPct val="120000"/>
              </a:lnSpc>
              <a:spcAft>
                <a:spcPts val="600"/>
              </a:spcAft>
              <a:buSzPct val="75000"/>
              <a:buFont typeface="Wingdings" panose="05000000000000000000" pitchFamily="2" charset="2"/>
              <a:buChar char="ü"/>
            </a:pPr>
            <a:r>
              <a:rPr lang="en-US" sz="1800">
                <a:highlight>
                  <a:srgbClr val="FFFF00"/>
                </a:highlight>
              </a:rPr>
              <a:t>R</a:t>
            </a:r>
            <a:r>
              <a:rPr lang="vi-VN" sz="1800">
                <a:highlight>
                  <a:srgbClr val="FFFF00"/>
                </a:highlight>
              </a:rPr>
              <a:t>everse brainstorming </a:t>
            </a:r>
            <a:r>
              <a:rPr lang="vi-VN" sz="1800"/>
              <a:t>(tìm cách làm cho dự án thất bại để từ đó nhận diện rủi ro).</a:t>
            </a:r>
            <a:endParaRPr lang="en-US" sz="1800"/>
          </a:p>
          <a:p>
            <a:pPr marL="285750" lvl="0" indent="-285750" algn="just">
              <a:lnSpc>
                <a:spcPct val="120000"/>
              </a:lnSpc>
              <a:spcAft>
                <a:spcPts val="600"/>
              </a:spcAft>
              <a:buSzPct val="75000"/>
              <a:buFont typeface="Wingdings" panose="05000000000000000000" pitchFamily="2" charset="2"/>
              <a:buChar char="Ø"/>
            </a:pPr>
            <a:r>
              <a:rPr lang="en-US" sz="1800" b="1"/>
              <a:t>Ưu điểm: </a:t>
            </a:r>
            <a:r>
              <a:rPr lang="en-US" sz="1800"/>
              <a:t>khuyến khích tham gia tích cực, tạo ra nhiều ý tưởng trong thời gian ngắn, có thể phát hiện những rủi ro ngoài dự đoán</a:t>
            </a:r>
          </a:p>
          <a:p>
            <a:pPr marL="285750" lvl="0" indent="-285750">
              <a:lnSpc>
                <a:spcPct val="120000"/>
              </a:lnSpc>
              <a:spcAft>
                <a:spcPts val="600"/>
              </a:spcAft>
              <a:buSzPct val="75000"/>
              <a:buFont typeface="Wingdings" panose="05000000000000000000" pitchFamily="2" charset="2"/>
              <a:buChar char="Ø"/>
            </a:pPr>
            <a:r>
              <a:rPr lang="en-US" sz="1800" b="1"/>
              <a:t>Nhược điểm: </a:t>
            </a:r>
            <a:r>
              <a:rPr lang="en-US" sz="1800"/>
              <a:t>có thể bị chi phối bởi người có tiếng nói trong nhóm, chất </a:t>
            </a:r>
            <a:br>
              <a:rPr lang="en-US" sz="1800"/>
            </a:br>
            <a:r>
              <a:rPr lang="en-US" sz="1800"/>
              <a:t>lượng ý tưởng không đồng đều</a:t>
            </a:r>
          </a:p>
        </p:txBody>
      </p:sp>
      <p:grpSp>
        <p:nvGrpSpPr>
          <p:cNvPr id="433" name="Google Shape;433;p34">
            <a:extLst>
              <a:ext uri="{FF2B5EF4-FFF2-40B4-BE49-F238E27FC236}">
                <a16:creationId xmlns:a16="http://schemas.microsoft.com/office/drawing/2014/main" id="{B86401F8-1C55-F04B-4216-BAC5E49CB492}"/>
              </a:ext>
            </a:extLst>
          </p:cNvPr>
          <p:cNvGrpSpPr/>
          <p:nvPr/>
        </p:nvGrpSpPr>
        <p:grpSpPr>
          <a:xfrm>
            <a:off x="7735426" y="726413"/>
            <a:ext cx="2224840" cy="418725"/>
            <a:chOff x="7318351" y="2997150"/>
            <a:chExt cx="2224840" cy="418725"/>
          </a:xfrm>
        </p:grpSpPr>
        <p:sp>
          <p:nvSpPr>
            <p:cNvPr id="434" name="Google Shape;434;p34">
              <a:extLst>
                <a:ext uri="{FF2B5EF4-FFF2-40B4-BE49-F238E27FC236}">
                  <a16:creationId xmlns:a16="http://schemas.microsoft.com/office/drawing/2014/main" id="{51795CE8-61F9-AC96-9152-EF65F64C782B}"/>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62EE4204-A799-1170-6C04-A8077AC0474B}"/>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42C033BD-716B-EC59-12CF-46FEF2C620F6}"/>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610320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C4882351-C91A-EBAC-D7E3-618E5633A807}"/>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142B78F2-4E23-D559-C124-1ED7BF6C4CC3}"/>
              </a:ext>
            </a:extLst>
          </p:cNvPr>
          <p:cNvSpPr txBox="1">
            <a:spLocks noGrp="1"/>
          </p:cNvSpPr>
          <p:nvPr>
            <p:ph type="title"/>
          </p:nvPr>
        </p:nvSpPr>
        <p:spPr>
          <a:xfrm>
            <a:off x="265586" y="466576"/>
            <a:ext cx="7469840" cy="572700"/>
          </a:xfrm>
          <a:prstGeom prst="rect">
            <a:avLst/>
          </a:prstGeom>
        </p:spPr>
        <p:txBody>
          <a:bodyPr spcFirstLastPara="1" wrap="square" lIns="91425" tIns="91425" rIns="91425" bIns="91425" anchor="t" anchorCtr="0">
            <a:noAutofit/>
          </a:bodyPr>
          <a:lstStyle/>
          <a:p>
            <a:pPr lvl="0"/>
            <a:r>
              <a:rPr lang="en-US" sz="2400" b="1">
                <a:solidFill>
                  <a:schemeClr val="tx1"/>
                </a:solidFill>
              </a:rPr>
              <a:t>Kỹ thuật Delphi</a:t>
            </a:r>
            <a:endParaRPr sz="2400" b="1">
              <a:solidFill>
                <a:schemeClr val="tx1"/>
              </a:solidFill>
            </a:endParaRPr>
          </a:p>
        </p:txBody>
      </p:sp>
      <p:sp>
        <p:nvSpPr>
          <p:cNvPr id="429" name="Google Shape;429;p34">
            <a:extLst>
              <a:ext uri="{FF2B5EF4-FFF2-40B4-BE49-F238E27FC236}">
                <a16:creationId xmlns:a16="http://schemas.microsoft.com/office/drawing/2014/main" id="{B42B9093-3C3E-BA40-9958-FA7A29D36C7E}"/>
              </a:ext>
            </a:extLst>
          </p:cNvPr>
          <p:cNvSpPr txBox="1">
            <a:spLocks noGrp="1"/>
          </p:cNvSpPr>
          <p:nvPr>
            <p:ph type="subTitle" idx="2"/>
          </p:nvPr>
        </p:nvSpPr>
        <p:spPr>
          <a:xfrm>
            <a:off x="342900" y="1193251"/>
            <a:ext cx="7990609" cy="3574474"/>
          </a:xfrm>
          <a:prstGeom prst="rect">
            <a:avLst/>
          </a:prstGeom>
        </p:spPr>
        <p:txBody>
          <a:bodyPr spcFirstLastPara="1" wrap="square" lIns="91425" tIns="91425" rIns="91425" bIns="91425" anchor="t" anchorCtr="0">
            <a:noAutofit/>
          </a:bodyPr>
          <a:lstStyle/>
          <a:p>
            <a:pPr marL="285750" lvl="0" indent="-285750" algn="just">
              <a:lnSpc>
                <a:spcPct val="120000"/>
              </a:lnSpc>
              <a:spcAft>
                <a:spcPts val="600"/>
              </a:spcAft>
              <a:buSzPct val="75000"/>
              <a:buFont typeface="Wingdings" panose="05000000000000000000" pitchFamily="2" charset="2"/>
              <a:buChar char="Ø"/>
            </a:pPr>
            <a:r>
              <a:rPr lang="en-US" sz="1800"/>
              <a:t>L</a:t>
            </a:r>
            <a:r>
              <a:rPr lang="vi-VN" sz="1800"/>
              <a:t>à phương pháp có cấu trúc để </a:t>
            </a:r>
            <a:r>
              <a:rPr lang="vi-VN" sz="1800" b="1"/>
              <a:t>thu thập và tổng hợp ý kiến </a:t>
            </a:r>
            <a:r>
              <a:rPr lang="vi-VN" sz="1800"/>
              <a:t>của các chuyên gia </a:t>
            </a:r>
            <a:r>
              <a:rPr lang="vi-VN" sz="1800">
                <a:highlight>
                  <a:srgbClr val="FFFF00"/>
                </a:highlight>
              </a:rPr>
              <a:t>thông qua nhiều vòng khảo sát ẩn danh</a:t>
            </a:r>
            <a:r>
              <a:rPr lang="en-US" sz="1800">
                <a:highlight>
                  <a:srgbClr val="FFFF00"/>
                </a:highlight>
              </a:rPr>
              <a:t>, hữu ích khi đưa ra dự báo hoặc đánh giá về những vấn đề phức tạp, không chắc chắn.</a:t>
            </a:r>
          </a:p>
          <a:p>
            <a:pPr marL="285750" lvl="0" indent="-285750" algn="just">
              <a:lnSpc>
                <a:spcPct val="120000"/>
              </a:lnSpc>
              <a:spcAft>
                <a:spcPts val="600"/>
              </a:spcAft>
              <a:buSzPct val="75000"/>
              <a:buFont typeface="Wingdings" panose="05000000000000000000" pitchFamily="2" charset="2"/>
              <a:buChar char="Ø"/>
            </a:pPr>
            <a:r>
              <a:rPr lang="en-US" sz="1800" b="1"/>
              <a:t>Quy trình thực hiện: </a:t>
            </a:r>
            <a:r>
              <a:rPr lang="en-US" sz="1800"/>
              <a:t>Xác </a:t>
            </a:r>
            <a:r>
              <a:rPr lang="vi-VN" sz="1800"/>
              <a:t>định và mời các chuyên gia có kinh nghiệm và kiến thức sâu rộng về lĩnh vực đang được đánh giá</a:t>
            </a:r>
            <a:r>
              <a:rPr lang="en-US" sz="1800"/>
              <a:t>. </a:t>
            </a:r>
          </a:p>
          <a:p>
            <a:pPr marL="742950" lvl="1" indent="-285750" algn="just">
              <a:lnSpc>
                <a:spcPct val="120000"/>
              </a:lnSpc>
              <a:spcAft>
                <a:spcPts val="600"/>
              </a:spcAft>
              <a:buSzPct val="75000"/>
              <a:buFont typeface="Wingdings" panose="05000000000000000000" pitchFamily="2" charset="2"/>
              <a:buChar char="q"/>
            </a:pPr>
            <a:r>
              <a:rPr lang="en-US" sz="1800"/>
              <a:t>Vòng 1 </a:t>
            </a:r>
            <a:r>
              <a:rPr lang="vi-VN" sz="1800"/>
              <a:t>là câu hỏi mở để các chuyên gia có thể đưa ra danh sách các rủi ro tiềm ẩn. </a:t>
            </a:r>
            <a:endParaRPr lang="en-US" sz="1800"/>
          </a:p>
          <a:p>
            <a:pPr marL="742950" lvl="1" indent="-285750" algn="just">
              <a:lnSpc>
                <a:spcPct val="120000"/>
              </a:lnSpc>
              <a:spcAft>
                <a:spcPts val="600"/>
              </a:spcAft>
              <a:buSzPct val="75000"/>
              <a:buFont typeface="Wingdings" panose="05000000000000000000" pitchFamily="2" charset="2"/>
              <a:buChar char="q"/>
            </a:pPr>
            <a:r>
              <a:rPr lang="vi-VN" sz="1800"/>
              <a:t>Các vòng tiếp theo sẽ yêu cầu các chuyên gia đánh giá, xếp hạng các rủi ro đã được xác định, đồng thời có thể bổ sung thêm các rủi ro mới.</a:t>
            </a:r>
          </a:p>
        </p:txBody>
      </p:sp>
      <p:grpSp>
        <p:nvGrpSpPr>
          <p:cNvPr id="433" name="Google Shape;433;p34">
            <a:extLst>
              <a:ext uri="{FF2B5EF4-FFF2-40B4-BE49-F238E27FC236}">
                <a16:creationId xmlns:a16="http://schemas.microsoft.com/office/drawing/2014/main" id="{116DDA79-C56E-C7FE-3A59-FCD9090138D2}"/>
              </a:ext>
            </a:extLst>
          </p:cNvPr>
          <p:cNvGrpSpPr/>
          <p:nvPr/>
        </p:nvGrpSpPr>
        <p:grpSpPr>
          <a:xfrm>
            <a:off x="7735426" y="620551"/>
            <a:ext cx="2224840" cy="418725"/>
            <a:chOff x="7318351" y="2997150"/>
            <a:chExt cx="2224840" cy="418725"/>
          </a:xfrm>
        </p:grpSpPr>
        <p:sp>
          <p:nvSpPr>
            <p:cNvPr id="434" name="Google Shape;434;p34">
              <a:extLst>
                <a:ext uri="{FF2B5EF4-FFF2-40B4-BE49-F238E27FC236}">
                  <a16:creationId xmlns:a16="http://schemas.microsoft.com/office/drawing/2014/main" id="{54AE1DA2-80A7-F447-2DCB-0420A66A5DA4}"/>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F53F8726-FBEA-6764-E90C-35C1D5BEF3F8}"/>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1B941DF5-B659-F700-DF4B-67DCC130EDB2}"/>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71211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4D34AB06-5845-09EE-6806-B8EFC8ACFE0D}"/>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37065121-D264-EDA9-6E10-FCDCB480E523}"/>
              </a:ext>
            </a:extLst>
          </p:cNvPr>
          <p:cNvSpPr txBox="1">
            <a:spLocks noGrp="1"/>
          </p:cNvSpPr>
          <p:nvPr>
            <p:ph type="title"/>
          </p:nvPr>
        </p:nvSpPr>
        <p:spPr>
          <a:xfrm>
            <a:off x="265586" y="466576"/>
            <a:ext cx="7469840" cy="572700"/>
          </a:xfrm>
          <a:prstGeom prst="rect">
            <a:avLst/>
          </a:prstGeom>
        </p:spPr>
        <p:txBody>
          <a:bodyPr spcFirstLastPara="1" wrap="square" lIns="91425" tIns="91425" rIns="91425" bIns="91425" anchor="t" anchorCtr="0">
            <a:noAutofit/>
          </a:bodyPr>
          <a:lstStyle/>
          <a:p>
            <a:pPr lvl="0"/>
            <a:r>
              <a:rPr lang="en-US" sz="2400" b="1">
                <a:solidFill>
                  <a:schemeClr val="tx1"/>
                </a:solidFill>
              </a:rPr>
              <a:t>Kỹ thuật Delphi</a:t>
            </a:r>
            <a:endParaRPr sz="2400" b="1">
              <a:solidFill>
                <a:schemeClr val="tx1"/>
              </a:solidFill>
            </a:endParaRPr>
          </a:p>
        </p:txBody>
      </p:sp>
      <p:sp>
        <p:nvSpPr>
          <p:cNvPr id="429" name="Google Shape;429;p34">
            <a:extLst>
              <a:ext uri="{FF2B5EF4-FFF2-40B4-BE49-F238E27FC236}">
                <a16:creationId xmlns:a16="http://schemas.microsoft.com/office/drawing/2014/main" id="{7C580684-6FC1-57EB-4DD1-C05DD89AB17D}"/>
              </a:ext>
            </a:extLst>
          </p:cNvPr>
          <p:cNvSpPr txBox="1">
            <a:spLocks noGrp="1"/>
          </p:cNvSpPr>
          <p:nvPr>
            <p:ph type="subTitle" idx="2"/>
          </p:nvPr>
        </p:nvSpPr>
        <p:spPr>
          <a:xfrm>
            <a:off x="342900" y="1193251"/>
            <a:ext cx="7990609" cy="3574474"/>
          </a:xfrm>
          <a:prstGeom prst="rect">
            <a:avLst/>
          </a:prstGeom>
        </p:spPr>
        <p:txBody>
          <a:bodyPr spcFirstLastPara="1" wrap="square" lIns="91425" tIns="91425" rIns="91425" bIns="91425" anchor="ctr" anchorCtr="0">
            <a:noAutofit/>
          </a:bodyPr>
          <a:lstStyle/>
          <a:p>
            <a:pPr marL="285750" lvl="0" indent="-285750" algn="just">
              <a:lnSpc>
                <a:spcPct val="120000"/>
              </a:lnSpc>
              <a:spcAft>
                <a:spcPts val="600"/>
              </a:spcAft>
              <a:buSzPct val="75000"/>
              <a:buFont typeface="Wingdings" panose="05000000000000000000" pitchFamily="2" charset="2"/>
              <a:buChar char="Ø"/>
            </a:pPr>
            <a:r>
              <a:rPr lang="en-US" sz="1800" b="1"/>
              <a:t>Điểm mạnh:</a:t>
            </a:r>
            <a:r>
              <a:rPr lang="en-US" sz="1800"/>
              <a:t> </a:t>
            </a:r>
            <a:r>
              <a:rPr lang="vi-VN" sz="1800"/>
              <a:t>tận dụng kinh nghiệm tập thể của các chuyên gia mà không bị ảnh hưởng bởi các yếu tố xã hội như áp lực từ đồng nghiệp hay sự thống trị của một số cá nhân.</a:t>
            </a:r>
            <a:endParaRPr lang="en-US" sz="1800"/>
          </a:p>
          <a:p>
            <a:pPr marL="285750" lvl="0" indent="-285750" algn="just">
              <a:lnSpc>
                <a:spcPct val="120000"/>
              </a:lnSpc>
              <a:spcAft>
                <a:spcPts val="600"/>
              </a:spcAft>
              <a:buSzPct val="75000"/>
              <a:buFont typeface="Wingdings" panose="05000000000000000000" pitchFamily="2" charset="2"/>
              <a:buChar char="Ø"/>
            </a:pPr>
            <a:r>
              <a:rPr lang="en-US" sz="1800" b="1"/>
              <a:t>Thách thức: </a:t>
            </a:r>
            <a:r>
              <a:rPr lang="en-US" sz="1800"/>
              <a:t>tốn thời gian (có thể mất vài tuần hoặc tháng), khó khăn trong việc duy trì sự tham gia của chuyên gia qua nhiều vòng, và khả năng một số chuyên gia có thể rút lui giữa chừng.</a:t>
            </a:r>
            <a:endParaRPr lang="vi-VN" sz="1800"/>
          </a:p>
        </p:txBody>
      </p:sp>
      <p:grpSp>
        <p:nvGrpSpPr>
          <p:cNvPr id="433" name="Google Shape;433;p34">
            <a:extLst>
              <a:ext uri="{FF2B5EF4-FFF2-40B4-BE49-F238E27FC236}">
                <a16:creationId xmlns:a16="http://schemas.microsoft.com/office/drawing/2014/main" id="{BF655AF1-40A0-9A23-6AAB-96E4199426FA}"/>
              </a:ext>
            </a:extLst>
          </p:cNvPr>
          <p:cNvGrpSpPr/>
          <p:nvPr/>
        </p:nvGrpSpPr>
        <p:grpSpPr>
          <a:xfrm>
            <a:off x="7735426" y="620551"/>
            <a:ext cx="2224840" cy="418725"/>
            <a:chOff x="7318351" y="2997150"/>
            <a:chExt cx="2224840" cy="418725"/>
          </a:xfrm>
        </p:grpSpPr>
        <p:sp>
          <p:nvSpPr>
            <p:cNvPr id="434" name="Google Shape;434;p34">
              <a:extLst>
                <a:ext uri="{FF2B5EF4-FFF2-40B4-BE49-F238E27FC236}">
                  <a16:creationId xmlns:a16="http://schemas.microsoft.com/office/drawing/2014/main" id="{3DDB74B1-1093-59E7-2A72-BDCDD8967591}"/>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0C44D21A-5753-1AB3-4FB1-2B95C21A569D}"/>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0AB4CE1B-29CA-6976-DD70-ECBD58DF81A7}"/>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82388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6A9C9123-651F-111A-7932-2E8891B53B92}"/>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7FC42D4B-AB72-89A7-C483-E05A9471C81B}"/>
              </a:ext>
            </a:extLst>
          </p:cNvPr>
          <p:cNvSpPr txBox="1">
            <a:spLocks noGrp="1"/>
          </p:cNvSpPr>
          <p:nvPr>
            <p:ph type="title"/>
          </p:nvPr>
        </p:nvSpPr>
        <p:spPr>
          <a:xfrm>
            <a:off x="265586" y="466576"/>
            <a:ext cx="7469840" cy="572700"/>
          </a:xfrm>
          <a:prstGeom prst="rect">
            <a:avLst/>
          </a:prstGeom>
        </p:spPr>
        <p:txBody>
          <a:bodyPr spcFirstLastPara="1" wrap="square" lIns="91425" tIns="91425" rIns="91425" bIns="91425" anchor="t" anchorCtr="0">
            <a:noAutofit/>
          </a:bodyPr>
          <a:lstStyle/>
          <a:p>
            <a:pPr lvl="0"/>
            <a:r>
              <a:rPr lang="en-US" b="1"/>
              <a:t>Hỏi ý kiến chuyên gia </a:t>
            </a:r>
            <a:br>
              <a:rPr lang="en-US" b="1"/>
            </a:br>
            <a:r>
              <a:rPr lang="en-US" b="1">
                <a:solidFill>
                  <a:schemeClr val="tx2">
                    <a:lumMod val="75000"/>
                  </a:schemeClr>
                </a:solidFill>
              </a:rPr>
              <a:t>(Expert Interviews)</a:t>
            </a:r>
            <a:endParaRPr sz="2400" b="1">
              <a:solidFill>
                <a:schemeClr val="tx2">
                  <a:lumMod val="75000"/>
                </a:schemeClr>
              </a:solidFill>
            </a:endParaRPr>
          </a:p>
        </p:txBody>
      </p:sp>
      <p:sp>
        <p:nvSpPr>
          <p:cNvPr id="429" name="Google Shape;429;p34">
            <a:extLst>
              <a:ext uri="{FF2B5EF4-FFF2-40B4-BE49-F238E27FC236}">
                <a16:creationId xmlns:a16="http://schemas.microsoft.com/office/drawing/2014/main" id="{9C585B0F-2BE4-8D05-F261-284FB2921C82}"/>
              </a:ext>
            </a:extLst>
          </p:cNvPr>
          <p:cNvSpPr txBox="1">
            <a:spLocks noGrp="1"/>
          </p:cNvSpPr>
          <p:nvPr>
            <p:ph type="subTitle" idx="2"/>
          </p:nvPr>
        </p:nvSpPr>
        <p:spPr>
          <a:xfrm>
            <a:off x="342900" y="1628199"/>
            <a:ext cx="7990609" cy="3139526"/>
          </a:xfrm>
          <a:prstGeom prst="rect">
            <a:avLst/>
          </a:prstGeom>
        </p:spPr>
        <p:txBody>
          <a:bodyPr spcFirstLastPara="1" wrap="square" lIns="91425" tIns="91425" rIns="91425" bIns="91425" anchor="ctr" anchorCtr="0">
            <a:noAutofit/>
          </a:bodyPr>
          <a:lstStyle/>
          <a:p>
            <a:pPr marL="285750" lvl="0" indent="-285750" algn="just">
              <a:lnSpc>
                <a:spcPct val="120000"/>
              </a:lnSpc>
              <a:spcAft>
                <a:spcPts val="600"/>
              </a:spcAft>
              <a:buSzPct val="75000"/>
              <a:buFont typeface="Wingdings" panose="05000000000000000000" pitchFamily="2" charset="2"/>
              <a:buChar char="Ø"/>
            </a:pPr>
            <a:r>
              <a:rPr lang="en-US" sz="1800"/>
              <a:t>L</a:t>
            </a:r>
            <a:r>
              <a:rPr lang="vi-VN" sz="1800"/>
              <a:t>à </a:t>
            </a:r>
            <a:r>
              <a:rPr lang="vi-VN" sz="1800" b="1"/>
              <a:t>phương pháp trực tiếp và hiệu quả </a:t>
            </a:r>
            <a:r>
              <a:rPr lang="vi-VN" sz="1800"/>
              <a:t>để thu thập thông tin chi tiết về các rủi ro từ những người có kinh nghiệm thực tế trong lĩnh vực cụ thể.</a:t>
            </a:r>
          </a:p>
          <a:p>
            <a:pPr marL="285750" lvl="0" indent="-285750" algn="just">
              <a:lnSpc>
                <a:spcPct val="120000"/>
              </a:lnSpc>
              <a:spcAft>
                <a:spcPts val="600"/>
              </a:spcAft>
              <a:buSzPct val="75000"/>
              <a:buFont typeface="Wingdings" panose="05000000000000000000" pitchFamily="2" charset="2"/>
              <a:buChar char="Ø"/>
            </a:pPr>
            <a:r>
              <a:rPr lang="vi-VN" sz="1800" b="1"/>
              <a:t>Lựa chọn chuyên gia </a:t>
            </a:r>
            <a:r>
              <a:rPr lang="vi-VN" sz="1800"/>
              <a:t>cần </a:t>
            </a:r>
            <a:r>
              <a:rPr lang="vi-VN" sz="1800">
                <a:highlight>
                  <a:srgbClr val="FFFF00"/>
                </a:highlight>
              </a:rPr>
              <a:t>dựa trên các tiêu chí như kinh nghiệm thực tế, uy tín trong lĩnh vực, sự đa dạng về góc nhìn, và khả năng chia sẻ thông tin một cách cởi mở</a:t>
            </a:r>
            <a:r>
              <a:rPr lang="vi-VN" sz="1800"/>
              <a:t>. Danh sách chuyên gia nên bao gồm cả những người trong và ngoài tổ chức để có được góc nhìn toàn diện.</a:t>
            </a:r>
          </a:p>
        </p:txBody>
      </p:sp>
      <p:grpSp>
        <p:nvGrpSpPr>
          <p:cNvPr id="433" name="Google Shape;433;p34">
            <a:extLst>
              <a:ext uri="{FF2B5EF4-FFF2-40B4-BE49-F238E27FC236}">
                <a16:creationId xmlns:a16="http://schemas.microsoft.com/office/drawing/2014/main" id="{20A18FAC-26F6-5C53-7B54-E6E90CC6F9AC}"/>
              </a:ext>
            </a:extLst>
          </p:cNvPr>
          <p:cNvGrpSpPr/>
          <p:nvPr/>
        </p:nvGrpSpPr>
        <p:grpSpPr>
          <a:xfrm>
            <a:off x="7735426" y="620551"/>
            <a:ext cx="2224840" cy="418725"/>
            <a:chOff x="7318351" y="2997150"/>
            <a:chExt cx="2224840" cy="418725"/>
          </a:xfrm>
        </p:grpSpPr>
        <p:sp>
          <p:nvSpPr>
            <p:cNvPr id="434" name="Google Shape;434;p34">
              <a:extLst>
                <a:ext uri="{FF2B5EF4-FFF2-40B4-BE49-F238E27FC236}">
                  <a16:creationId xmlns:a16="http://schemas.microsoft.com/office/drawing/2014/main" id="{99B80C65-835F-0A99-C56A-3BE47907A469}"/>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5432D17E-8DE8-655D-1910-9A7F343332EF}"/>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AC5D402B-FC62-F448-DE77-801729F332B0}"/>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064388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756B16AB-E1A4-46A3-6486-A52DA4211EFA}"/>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10F7015E-3FCF-E1CC-09A1-668A72C7EE37}"/>
              </a:ext>
            </a:extLst>
          </p:cNvPr>
          <p:cNvSpPr txBox="1">
            <a:spLocks noGrp="1"/>
          </p:cNvSpPr>
          <p:nvPr>
            <p:ph type="title"/>
          </p:nvPr>
        </p:nvSpPr>
        <p:spPr>
          <a:xfrm>
            <a:off x="265586" y="466576"/>
            <a:ext cx="7469840" cy="572700"/>
          </a:xfrm>
          <a:prstGeom prst="rect">
            <a:avLst/>
          </a:prstGeom>
        </p:spPr>
        <p:txBody>
          <a:bodyPr spcFirstLastPara="1" wrap="square" lIns="91425" tIns="91425" rIns="91425" bIns="91425" anchor="t" anchorCtr="0">
            <a:noAutofit/>
          </a:bodyPr>
          <a:lstStyle/>
          <a:p>
            <a:pPr lvl="0"/>
            <a:r>
              <a:rPr lang="en-US" b="1"/>
              <a:t>Hỏi ý kiến chuyên gia </a:t>
            </a:r>
            <a:br>
              <a:rPr lang="en-US" b="1"/>
            </a:br>
            <a:r>
              <a:rPr lang="en-US" b="1">
                <a:solidFill>
                  <a:schemeClr val="tx2">
                    <a:lumMod val="75000"/>
                  </a:schemeClr>
                </a:solidFill>
              </a:rPr>
              <a:t>(Expert Interviews)</a:t>
            </a:r>
            <a:endParaRPr sz="2400" b="1">
              <a:solidFill>
                <a:schemeClr val="tx2">
                  <a:lumMod val="75000"/>
                </a:schemeClr>
              </a:solidFill>
            </a:endParaRPr>
          </a:p>
        </p:txBody>
      </p:sp>
      <p:sp>
        <p:nvSpPr>
          <p:cNvPr id="429" name="Google Shape;429;p34">
            <a:extLst>
              <a:ext uri="{FF2B5EF4-FFF2-40B4-BE49-F238E27FC236}">
                <a16:creationId xmlns:a16="http://schemas.microsoft.com/office/drawing/2014/main" id="{406ADEF2-D96A-2C8E-8F24-A15E8378EC0E}"/>
              </a:ext>
            </a:extLst>
          </p:cNvPr>
          <p:cNvSpPr txBox="1">
            <a:spLocks noGrp="1"/>
          </p:cNvSpPr>
          <p:nvPr>
            <p:ph type="subTitle" idx="2"/>
          </p:nvPr>
        </p:nvSpPr>
        <p:spPr>
          <a:xfrm>
            <a:off x="342901" y="1628199"/>
            <a:ext cx="7949044" cy="3139526"/>
          </a:xfrm>
          <a:prstGeom prst="rect">
            <a:avLst/>
          </a:prstGeom>
        </p:spPr>
        <p:txBody>
          <a:bodyPr spcFirstLastPara="1" wrap="square" lIns="91425" tIns="91425" rIns="91425" bIns="91425" anchor="ctr" anchorCtr="0">
            <a:noAutofit/>
          </a:bodyPr>
          <a:lstStyle/>
          <a:p>
            <a:pPr marL="285750" lvl="0" indent="-285750" algn="just">
              <a:lnSpc>
                <a:spcPct val="120000"/>
              </a:lnSpc>
              <a:spcAft>
                <a:spcPts val="600"/>
              </a:spcAft>
              <a:buSzPct val="75000"/>
              <a:buFont typeface="Wingdings" panose="05000000000000000000" pitchFamily="2" charset="2"/>
              <a:buChar char="Ø"/>
            </a:pPr>
            <a:r>
              <a:rPr lang="vi-VN" sz="1800" b="1"/>
              <a:t>Chuẩn bị cuộc phỏng vấn </a:t>
            </a:r>
            <a:r>
              <a:rPr lang="vi-VN" sz="1800"/>
              <a:t>đòi hỏi việc nghiên cứu kỹ lưỡng về background của chuyên gia, chuẩn bị danh sách câu hỏi có cấu trúc nhưng vẫn linh hoạt để có thể khám phá sâu các vấn đề quan trọng. Câu hỏi nên được thiết kế theo dạng mở để khuyến khích chuyên gia chia sẻ kinh nghiệm và insight của họ.</a:t>
            </a:r>
          </a:p>
          <a:p>
            <a:pPr marL="285750" lvl="0" indent="-285750" algn="just">
              <a:lnSpc>
                <a:spcPct val="120000"/>
              </a:lnSpc>
              <a:spcAft>
                <a:spcPts val="600"/>
              </a:spcAft>
              <a:buSzPct val="75000"/>
              <a:buFont typeface="Wingdings" panose="05000000000000000000" pitchFamily="2" charset="2"/>
              <a:buChar char="Ø"/>
            </a:pPr>
            <a:r>
              <a:rPr lang="vi-VN" sz="1800" b="1"/>
              <a:t>Kỹ năng phỏng vấn </a:t>
            </a:r>
            <a:r>
              <a:rPr lang="vi-VN" sz="1800"/>
              <a:t>bao gồm khả năng lắng nghe tích cực, đặt câu hỏi theo-up để làm rõ thông tin, và tạo ra môi trường thoải mái để chuyên gia có thể chia sẻ cả những kinh nghiệm tiêu cực hay thất bại. Việc ghi chép và tổng hợp thông tin một cách có hệ thống cũng rất quan trọng.</a:t>
            </a:r>
          </a:p>
        </p:txBody>
      </p:sp>
      <p:grpSp>
        <p:nvGrpSpPr>
          <p:cNvPr id="433" name="Google Shape;433;p34">
            <a:extLst>
              <a:ext uri="{FF2B5EF4-FFF2-40B4-BE49-F238E27FC236}">
                <a16:creationId xmlns:a16="http://schemas.microsoft.com/office/drawing/2014/main" id="{97B9469D-C942-FD9E-3EED-BE45703CD611}"/>
              </a:ext>
            </a:extLst>
          </p:cNvPr>
          <p:cNvGrpSpPr/>
          <p:nvPr/>
        </p:nvGrpSpPr>
        <p:grpSpPr>
          <a:xfrm>
            <a:off x="7735426" y="620551"/>
            <a:ext cx="2224840" cy="418725"/>
            <a:chOff x="7318351" y="2997150"/>
            <a:chExt cx="2224840" cy="418725"/>
          </a:xfrm>
        </p:grpSpPr>
        <p:sp>
          <p:nvSpPr>
            <p:cNvPr id="434" name="Google Shape;434;p34">
              <a:extLst>
                <a:ext uri="{FF2B5EF4-FFF2-40B4-BE49-F238E27FC236}">
                  <a16:creationId xmlns:a16="http://schemas.microsoft.com/office/drawing/2014/main" id="{EAAE0066-E9D1-A099-6369-710F1BA175E5}"/>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AD2E81AF-D1AB-A125-6A15-E3058DD1248A}"/>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C5AF62C7-27A7-EB0A-1920-D601ECA32A49}"/>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0945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415471EF-487F-4132-F806-59DDBBD0D1A4}"/>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476A26E1-1417-F93C-B001-788ABA3E8699}"/>
              </a:ext>
            </a:extLst>
          </p:cNvPr>
          <p:cNvSpPr txBox="1">
            <a:spLocks noGrp="1"/>
          </p:cNvSpPr>
          <p:nvPr>
            <p:ph type="title"/>
          </p:nvPr>
        </p:nvSpPr>
        <p:spPr>
          <a:xfrm>
            <a:off x="265586" y="466576"/>
            <a:ext cx="7735414" cy="572700"/>
          </a:xfrm>
          <a:prstGeom prst="rect">
            <a:avLst/>
          </a:prstGeom>
        </p:spPr>
        <p:txBody>
          <a:bodyPr spcFirstLastPara="1" wrap="square" lIns="91425" tIns="91425" rIns="91425" bIns="91425" anchor="t" anchorCtr="0">
            <a:noAutofit/>
          </a:bodyPr>
          <a:lstStyle/>
          <a:p>
            <a:pPr lvl="0"/>
            <a:r>
              <a:rPr lang="en-US" sz="2800" b="1"/>
              <a:t> Phiếu kiểm tra và bảng câu hỏi </a:t>
            </a:r>
            <a:r>
              <a:rPr lang="en-US" sz="2800" b="1">
                <a:solidFill>
                  <a:schemeClr val="tx2">
                    <a:lumMod val="75000"/>
                  </a:schemeClr>
                </a:solidFill>
              </a:rPr>
              <a:t>(Checklists &amp; Questionnaires)</a:t>
            </a:r>
            <a:endParaRPr sz="2000" b="1">
              <a:solidFill>
                <a:schemeClr val="tx2">
                  <a:lumMod val="75000"/>
                </a:schemeClr>
              </a:solidFill>
            </a:endParaRPr>
          </a:p>
        </p:txBody>
      </p:sp>
      <p:sp>
        <p:nvSpPr>
          <p:cNvPr id="429" name="Google Shape;429;p34">
            <a:extLst>
              <a:ext uri="{FF2B5EF4-FFF2-40B4-BE49-F238E27FC236}">
                <a16:creationId xmlns:a16="http://schemas.microsoft.com/office/drawing/2014/main" id="{A90C46BE-F075-1D4F-F72D-AED58BF7F956}"/>
              </a:ext>
            </a:extLst>
          </p:cNvPr>
          <p:cNvSpPr txBox="1">
            <a:spLocks noGrp="1"/>
          </p:cNvSpPr>
          <p:nvPr>
            <p:ph type="subTitle" idx="2"/>
          </p:nvPr>
        </p:nvSpPr>
        <p:spPr>
          <a:xfrm>
            <a:off x="265585" y="1628199"/>
            <a:ext cx="8130269" cy="3139526"/>
          </a:xfrm>
          <a:prstGeom prst="rect">
            <a:avLst/>
          </a:prstGeom>
        </p:spPr>
        <p:txBody>
          <a:bodyPr spcFirstLastPara="1" wrap="square" lIns="91425" tIns="91425" rIns="91425" bIns="91425" anchor="ctr" anchorCtr="0">
            <a:noAutofit/>
          </a:bodyPr>
          <a:lstStyle/>
          <a:p>
            <a:pPr marL="285750" lvl="0" indent="-285750" algn="just">
              <a:lnSpc>
                <a:spcPct val="120000"/>
              </a:lnSpc>
              <a:spcAft>
                <a:spcPts val="600"/>
              </a:spcAft>
              <a:buSzPct val="75000"/>
              <a:buFont typeface="Wingdings" panose="05000000000000000000" pitchFamily="2" charset="2"/>
              <a:buChar char="Ø"/>
            </a:pPr>
            <a:r>
              <a:rPr lang="en-US" sz="1800" b="1"/>
              <a:t>C</a:t>
            </a:r>
            <a:r>
              <a:rPr lang="vi-VN" sz="1800" b="1"/>
              <a:t>ung cấp một phương pháp có cấu trúc và nhất quán để nhận diện rủi ro</a:t>
            </a:r>
            <a:r>
              <a:rPr lang="vi-VN" sz="1800"/>
              <a:t>, đặc biệt </a:t>
            </a:r>
            <a:r>
              <a:rPr lang="vi-VN" sz="1800">
                <a:highlight>
                  <a:srgbClr val="FFFF00"/>
                </a:highlight>
              </a:rPr>
              <a:t>hữu ích trong việc đảm bảo không bỏ sót các rủi ro phổ biến.</a:t>
            </a:r>
          </a:p>
          <a:p>
            <a:pPr marL="285750" lvl="0" indent="-285750" algn="just">
              <a:lnSpc>
                <a:spcPct val="120000"/>
              </a:lnSpc>
              <a:spcAft>
                <a:spcPts val="600"/>
              </a:spcAft>
              <a:buSzPct val="75000"/>
              <a:buFont typeface="Wingdings" panose="05000000000000000000" pitchFamily="2" charset="2"/>
              <a:buChar char="Ø"/>
            </a:pPr>
            <a:r>
              <a:rPr lang="vi-VN" sz="1800" b="1"/>
              <a:t>Phát triển checklist </a:t>
            </a:r>
            <a:r>
              <a:rPr lang="vi-VN" sz="1800"/>
              <a:t>cần dựa trên kinh nghiệm từ các dự án trước, </a:t>
            </a:r>
            <a:r>
              <a:rPr lang="en-US" sz="1800"/>
              <a:t>dự án tốt nhất</a:t>
            </a:r>
            <a:r>
              <a:rPr lang="vi-VN" sz="1800"/>
              <a:t> trong ngành, và </a:t>
            </a:r>
            <a:r>
              <a:rPr lang="en-US" sz="1800"/>
              <a:t>ý kiến</a:t>
            </a:r>
            <a:r>
              <a:rPr lang="vi-VN" sz="1800"/>
              <a:t> từ các chuyên gia. </a:t>
            </a:r>
            <a:endParaRPr lang="en-US" sz="1800"/>
          </a:p>
          <a:p>
            <a:pPr marL="285750" lvl="0" indent="-285750" algn="just">
              <a:lnSpc>
                <a:spcPct val="120000"/>
              </a:lnSpc>
              <a:spcAft>
                <a:spcPts val="600"/>
              </a:spcAft>
              <a:buSzPct val="75000"/>
              <a:buFont typeface="Wingdings" panose="05000000000000000000" pitchFamily="2" charset="2"/>
              <a:buChar char="Ø"/>
            </a:pPr>
            <a:r>
              <a:rPr lang="vi-VN" sz="1800"/>
              <a:t>Một checklist tốt nên được </a:t>
            </a:r>
            <a:r>
              <a:rPr lang="vi-VN" sz="1800" b="1"/>
              <a:t>tổ chức theo các </a:t>
            </a:r>
            <a:r>
              <a:rPr lang="en-US" sz="1800" b="1"/>
              <a:t>category</a:t>
            </a:r>
            <a:r>
              <a:rPr lang="vi-VN" sz="1800" b="1"/>
              <a:t> rõ ràng </a:t>
            </a:r>
            <a:r>
              <a:rPr lang="vi-VN" sz="1800"/>
              <a:t>như rủi ro kỹ thuật, tài chính, nhân sự, pháp lý, và môi trường. Mỗi </a:t>
            </a:r>
            <a:r>
              <a:rPr lang="en-US" sz="1800"/>
              <a:t>category</a:t>
            </a:r>
            <a:r>
              <a:rPr lang="vi-VN" sz="1800"/>
              <a:t> nên có các câu hỏi cụ thể và</a:t>
            </a:r>
            <a:r>
              <a:rPr lang="en-US" sz="1800"/>
              <a:t> thực tiễn</a:t>
            </a:r>
            <a:r>
              <a:rPr lang="vi-VN" sz="1800"/>
              <a:t>.</a:t>
            </a:r>
          </a:p>
        </p:txBody>
      </p:sp>
      <p:grpSp>
        <p:nvGrpSpPr>
          <p:cNvPr id="433" name="Google Shape;433;p34">
            <a:extLst>
              <a:ext uri="{FF2B5EF4-FFF2-40B4-BE49-F238E27FC236}">
                <a16:creationId xmlns:a16="http://schemas.microsoft.com/office/drawing/2014/main" id="{59C4CE6A-993B-CF42-6667-C3D6E7E029C5}"/>
              </a:ext>
            </a:extLst>
          </p:cNvPr>
          <p:cNvGrpSpPr/>
          <p:nvPr/>
        </p:nvGrpSpPr>
        <p:grpSpPr>
          <a:xfrm>
            <a:off x="7765994" y="620551"/>
            <a:ext cx="2224840" cy="418725"/>
            <a:chOff x="7318351" y="2997150"/>
            <a:chExt cx="2224840" cy="418725"/>
          </a:xfrm>
        </p:grpSpPr>
        <p:sp>
          <p:nvSpPr>
            <p:cNvPr id="434" name="Google Shape;434;p34">
              <a:extLst>
                <a:ext uri="{FF2B5EF4-FFF2-40B4-BE49-F238E27FC236}">
                  <a16:creationId xmlns:a16="http://schemas.microsoft.com/office/drawing/2014/main" id="{0A17F530-2673-24D0-EB79-7C246E86CC54}"/>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77E0903B-4003-004D-5A0D-4403D0A87CFD}"/>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046AE9A3-650E-6F8A-FC62-7211EB0D012D}"/>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39316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543B4432-FC98-3D37-6167-54F7780C76CA}"/>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09F61D1A-2BC8-5604-D1D8-C5EEC57EA547}"/>
              </a:ext>
            </a:extLst>
          </p:cNvPr>
          <p:cNvSpPr txBox="1">
            <a:spLocks noGrp="1"/>
          </p:cNvSpPr>
          <p:nvPr>
            <p:ph type="title"/>
          </p:nvPr>
        </p:nvSpPr>
        <p:spPr>
          <a:xfrm>
            <a:off x="265586" y="466576"/>
            <a:ext cx="7735414" cy="572700"/>
          </a:xfrm>
          <a:prstGeom prst="rect">
            <a:avLst/>
          </a:prstGeom>
        </p:spPr>
        <p:txBody>
          <a:bodyPr spcFirstLastPara="1" wrap="square" lIns="91425" tIns="91425" rIns="91425" bIns="91425" anchor="t" anchorCtr="0">
            <a:noAutofit/>
          </a:bodyPr>
          <a:lstStyle/>
          <a:p>
            <a:pPr lvl="0"/>
            <a:r>
              <a:rPr lang="en-US" sz="2800" b="1"/>
              <a:t> Phiếu kiểm tra và bảng câu hỏi </a:t>
            </a:r>
            <a:r>
              <a:rPr lang="en-US" sz="2800" b="1">
                <a:solidFill>
                  <a:schemeClr val="tx2">
                    <a:lumMod val="75000"/>
                  </a:schemeClr>
                </a:solidFill>
              </a:rPr>
              <a:t>(Checklists &amp; Questionnaires)</a:t>
            </a:r>
            <a:endParaRPr sz="2000" b="1">
              <a:solidFill>
                <a:schemeClr val="tx2">
                  <a:lumMod val="75000"/>
                </a:schemeClr>
              </a:solidFill>
            </a:endParaRPr>
          </a:p>
        </p:txBody>
      </p:sp>
      <p:sp>
        <p:nvSpPr>
          <p:cNvPr id="429" name="Google Shape;429;p34">
            <a:extLst>
              <a:ext uri="{FF2B5EF4-FFF2-40B4-BE49-F238E27FC236}">
                <a16:creationId xmlns:a16="http://schemas.microsoft.com/office/drawing/2014/main" id="{93D2103A-97E5-ED68-18F9-70CB6AC1B0E7}"/>
              </a:ext>
            </a:extLst>
          </p:cNvPr>
          <p:cNvSpPr txBox="1">
            <a:spLocks noGrp="1"/>
          </p:cNvSpPr>
          <p:nvPr>
            <p:ph type="subTitle" idx="2"/>
          </p:nvPr>
        </p:nvSpPr>
        <p:spPr>
          <a:xfrm>
            <a:off x="265585" y="1628199"/>
            <a:ext cx="8130269" cy="3139526"/>
          </a:xfrm>
          <a:prstGeom prst="rect">
            <a:avLst/>
          </a:prstGeom>
        </p:spPr>
        <p:txBody>
          <a:bodyPr spcFirstLastPara="1" wrap="square" lIns="91425" tIns="91425" rIns="91425" bIns="91425" anchor="ctr" anchorCtr="0">
            <a:noAutofit/>
          </a:bodyPr>
          <a:lstStyle/>
          <a:p>
            <a:pPr marL="285750" lvl="0" indent="-285750" algn="just">
              <a:lnSpc>
                <a:spcPct val="120000"/>
              </a:lnSpc>
              <a:spcAft>
                <a:spcPts val="600"/>
              </a:spcAft>
              <a:buSzPct val="75000"/>
              <a:buFont typeface="Wingdings" panose="05000000000000000000" pitchFamily="2" charset="2"/>
              <a:buChar char="Ø"/>
            </a:pPr>
            <a:r>
              <a:rPr lang="vi-VN" sz="1800" b="1"/>
              <a:t>Thiết kế </a:t>
            </a:r>
            <a:r>
              <a:rPr lang="en-US" sz="1800" b="1"/>
              <a:t>bảng câu hỏi</a:t>
            </a:r>
            <a:r>
              <a:rPr lang="vi-VN" sz="1800" b="1"/>
              <a:t> </a:t>
            </a:r>
            <a:r>
              <a:rPr lang="vi-VN" sz="1800"/>
              <a:t>cần </a:t>
            </a:r>
            <a:r>
              <a:rPr lang="vi-VN" sz="1800">
                <a:highlight>
                  <a:srgbClr val="FFFF00"/>
                </a:highlight>
              </a:rPr>
              <a:t>cân bằng giữa tính toàn diện và khả năng thực hiện. Câu hỏi nên được phân loại theo mức độ ưu tiên, </a:t>
            </a:r>
            <a:r>
              <a:rPr lang="vi-VN" sz="1800"/>
              <a:t>với các câu hỏi quan trọng nhất được đặt ở đầu. Việc sử dụng </a:t>
            </a:r>
            <a:r>
              <a:rPr lang="en-US" sz="1800"/>
              <a:t>tỉ lệ đán</a:t>
            </a:r>
            <a:r>
              <a:rPr lang="vi-VN" sz="1800"/>
              <a:t>h giá (ví dụ từ 1-5) có thể giúp lượng hóa mức độ rủi ro.</a:t>
            </a:r>
          </a:p>
          <a:p>
            <a:pPr marL="285750" lvl="0" indent="-285750" algn="just">
              <a:lnSpc>
                <a:spcPct val="120000"/>
              </a:lnSpc>
              <a:spcAft>
                <a:spcPts val="600"/>
              </a:spcAft>
              <a:buSzPct val="75000"/>
              <a:buFont typeface="Wingdings" panose="05000000000000000000" pitchFamily="2" charset="2"/>
              <a:buChar char="Ø"/>
            </a:pPr>
            <a:r>
              <a:rPr lang="vi-VN" sz="1800" b="1"/>
              <a:t>Ưu điểm</a:t>
            </a:r>
            <a:r>
              <a:rPr lang="en-US" sz="1800" b="1"/>
              <a:t>: </a:t>
            </a:r>
            <a:r>
              <a:rPr lang="vi-VN" sz="1800"/>
              <a:t>tính nhất quán, khả năng so sánh giữa các dự án khác nhau, và hiệu quả về thời gian. </a:t>
            </a:r>
            <a:endParaRPr lang="en-US" sz="1800"/>
          </a:p>
          <a:p>
            <a:pPr marL="285750" lvl="0" indent="-285750" algn="just">
              <a:lnSpc>
                <a:spcPct val="120000"/>
              </a:lnSpc>
              <a:spcAft>
                <a:spcPts val="600"/>
              </a:spcAft>
              <a:buSzPct val="75000"/>
              <a:buFont typeface="Wingdings" panose="05000000000000000000" pitchFamily="2" charset="2"/>
              <a:buChar char="Ø"/>
            </a:pPr>
            <a:r>
              <a:rPr lang="vi-VN" sz="1800" b="1"/>
              <a:t>Hạn chế</a:t>
            </a:r>
            <a:r>
              <a:rPr lang="en-US" sz="1800" b="1"/>
              <a:t>:</a:t>
            </a:r>
            <a:r>
              <a:rPr lang="vi-VN" sz="1800" b="1"/>
              <a:t> </a:t>
            </a:r>
            <a:r>
              <a:rPr lang="en-US" sz="1800"/>
              <a:t>có </a:t>
            </a:r>
            <a:r>
              <a:rPr lang="vi-VN" sz="1800"/>
              <a:t>khả năng bỏ sót những rủi ro độc đáo hoặc mới xuất hiện không có trong danh sách.</a:t>
            </a:r>
          </a:p>
        </p:txBody>
      </p:sp>
      <p:grpSp>
        <p:nvGrpSpPr>
          <p:cNvPr id="433" name="Google Shape;433;p34">
            <a:extLst>
              <a:ext uri="{FF2B5EF4-FFF2-40B4-BE49-F238E27FC236}">
                <a16:creationId xmlns:a16="http://schemas.microsoft.com/office/drawing/2014/main" id="{6113177D-1116-E6C4-409C-CD0013F17AC5}"/>
              </a:ext>
            </a:extLst>
          </p:cNvPr>
          <p:cNvGrpSpPr/>
          <p:nvPr/>
        </p:nvGrpSpPr>
        <p:grpSpPr>
          <a:xfrm>
            <a:off x="7765994" y="620551"/>
            <a:ext cx="2224840" cy="418725"/>
            <a:chOff x="7318351" y="2997150"/>
            <a:chExt cx="2224840" cy="418725"/>
          </a:xfrm>
        </p:grpSpPr>
        <p:sp>
          <p:nvSpPr>
            <p:cNvPr id="434" name="Google Shape;434;p34">
              <a:extLst>
                <a:ext uri="{FF2B5EF4-FFF2-40B4-BE49-F238E27FC236}">
                  <a16:creationId xmlns:a16="http://schemas.microsoft.com/office/drawing/2014/main" id="{D2B7D5BC-0C48-6AEF-3D44-464922755827}"/>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CDA80315-8F4F-FAEF-5FE2-4C84F83D88C2}"/>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E44C828B-94F5-86BA-ED4C-DC76314424D4}"/>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715361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238D98D2-7FC9-AC5F-15FC-BFA0DF833BB4}"/>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A94345CF-349C-A13D-B2E0-8E0052B43A35}"/>
              </a:ext>
            </a:extLst>
          </p:cNvPr>
          <p:cNvSpPr txBox="1">
            <a:spLocks noGrp="1"/>
          </p:cNvSpPr>
          <p:nvPr>
            <p:ph type="title"/>
          </p:nvPr>
        </p:nvSpPr>
        <p:spPr>
          <a:xfrm>
            <a:off x="265586" y="466576"/>
            <a:ext cx="8566687" cy="572700"/>
          </a:xfrm>
          <a:prstGeom prst="rect">
            <a:avLst/>
          </a:prstGeom>
        </p:spPr>
        <p:txBody>
          <a:bodyPr spcFirstLastPara="1" wrap="square" lIns="91425" tIns="91425" rIns="91425" bIns="91425" anchor="t" anchorCtr="0">
            <a:noAutofit/>
          </a:bodyPr>
          <a:lstStyle/>
          <a:p>
            <a:pPr lvl="0"/>
            <a:r>
              <a:rPr lang="en-US" sz="2800" b="1"/>
              <a:t> Biểu đồ xương cá </a:t>
            </a:r>
            <a:br>
              <a:rPr lang="en-US" sz="2800" b="1"/>
            </a:br>
            <a:r>
              <a:rPr lang="en-US" sz="2800" b="1">
                <a:solidFill>
                  <a:schemeClr val="tx2">
                    <a:lumMod val="75000"/>
                  </a:schemeClr>
                </a:solidFill>
              </a:rPr>
              <a:t>(Fishbone Diagram)</a:t>
            </a:r>
            <a:endParaRPr sz="2000" b="1">
              <a:solidFill>
                <a:schemeClr val="tx2">
                  <a:lumMod val="75000"/>
                </a:schemeClr>
              </a:solidFill>
            </a:endParaRPr>
          </a:p>
        </p:txBody>
      </p:sp>
      <p:sp>
        <p:nvSpPr>
          <p:cNvPr id="429" name="Google Shape;429;p34">
            <a:extLst>
              <a:ext uri="{FF2B5EF4-FFF2-40B4-BE49-F238E27FC236}">
                <a16:creationId xmlns:a16="http://schemas.microsoft.com/office/drawing/2014/main" id="{416893DD-AE5C-7A2E-5936-3D5E8C5D9217}"/>
              </a:ext>
            </a:extLst>
          </p:cNvPr>
          <p:cNvSpPr txBox="1">
            <a:spLocks noGrp="1"/>
          </p:cNvSpPr>
          <p:nvPr>
            <p:ph type="subTitle" idx="2"/>
          </p:nvPr>
        </p:nvSpPr>
        <p:spPr>
          <a:xfrm>
            <a:off x="196835" y="1537397"/>
            <a:ext cx="8396447" cy="3139527"/>
          </a:xfrm>
          <a:prstGeom prst="rect">
            <a:avLst/>
          </a:prstGeom>
        </p:spPr>
        <p:txBody>
          <a:bodyPr spcFirstLastPara="1" wrap="square" lIns="91425" tIns="91425" rIns="91425" bIns="91425" anchor="ctr" anchorCtr="0">
            <a:noAutofit/>
          </a:bodyPr>
          <a:lstStyle/>
          <a:p>
            <a:pPr marL="285750" lvl="0" indent="-285750" algn="just">
              <a:lnSpc>
                <a:spcPct val="120000"/>
              </a:lnSpc>
              <a:spcAft>
                <a:spcPts val="600"/>
              </a:spcAft>
              <a:buSzPct val="75000"/>
              <a:buFont typeface="Wingdings" panose="05000000000000000000" pitchFamily="2" charset="2"/>
              <a:buChar char="Ø"/>
            </a:pPr>
            <a:r>
              <a:rPr lang="vi-VN" sz="1800"/>
              <a:t>Biểu đồ xương cá</a:t>
            </a:r>
            <a:r>
              <a:rPr lang="en-US" sz="1800"/>
              <a:t> (biểu đồ </a:t>
            </a:r>
            <a:r>
              <a:rPr lang="vi-VN" sz="1800"/>
              <a:t>Ishikawa</a:t>
            </a:r>
            <a:r>
              <a:rPr lang="en-US" sz="1800"/>
              <a:t>)</a:t>
            </a:r>
            <a:r>
              <a:rPr lang="vi-VN" sz="1800"/>
              <a:t>, là </a:t>
            </a:r>
            <a:r>
              <a:rPr lang="vi-VN" sz="1800" b="1">
                <a:highlight>
                  <a:srgbClr val="FFFF00"/>
                </a:highlight>
              </a:rPr>
              <a:t>công cụ trực quan mạnh mẽ để phân tích nguyên nhân gốc rễ và nhận diện các rủi ro tiềm ẩn.</a:t>
            </a:r>
          </a:p>
          <a:p>
            <a:pPr marL="285750" lvl="0" indent="-285750" algn="just">
              <a:lnSpc>
                <a:spcPct val="120000"/>
              </a:lnSpc>
              <a:spcAft>
                <a:spcPts val="600"/>
              </a:spcAft>
              <a:buSzPct val="75000"/>
              <a:buFont typeface="Wingdings" panose="05000000000000000000" pitchFamily="2" charset="2"/>
              <a:buChar char="Ø"/>
            </a:pPr>
            <a:r>
              <a:rPr lang="vi-VN" sz="1800" b="1"/>
              <a:t>Cấu trúc của biểu đồ </a:t>
            </a:r>
            <a:r>
              <a:rPr lang="vi-VN" sz="1800"/>
              <a:t>bao gồm </a:t>
            </a:r>
            <a:endParaRPr lang="en-US" sz="1800"/>
          </a:p>
          <a:p>
            <a:pPr marL="742950" lvl="1" indent="-285750" algn="just">
              <a:lnSpc>
                <a:spcPct val="120000"/>
              </a:lnSpc>
              <a:spcAft>
                <a:spcPts val="600"/>
              </a:spcAft>
              <a:buSzPct val="75000"/>
              <a:buFont typeface="Wingdings" panose="05000000000000000000" pitchFamily="2" charset="2"/>
              <a:buChar char="Ø"/>
            </a:pPr>
            <a:r>
              <a:rPr lang="en-US" sz="1800"/>
              <a:t>M</a:t>
            </a:r>
            <a:r>
              <a:rPr lang="vi-VN" sz="1800"/>
              <a:t>ột </a:t>
            </a:r>
            <a:r>
              <a:rPr lang="vi-VN" sz="1800" b="1">
                <a:highlight>
                  <a:srgbClr val="FFFF00"/>
                </a:highlight>
              </a:rPr>
              <a:t>"xương sống" chính </a:t>
            </a:r>
            <a:r>
              <a:rPr lang="vi-VN" sz="1800">
                <a:highlight>
                  <a:srgbClr val="FFFF00"/>
                </a:highlight>
              </a:rPr>
              <a:t>đại diện cho vấn đề hoặc mục tiêu cần phân tích</a:t>
            </a:r>
            <a:endParaRPr lang="en-US" sz="1800">
              <a:highlight>
                <a:srgbClr val="FFFF00"/>
              </a:highlight>
            </a:endParaRPr>
          </a:p>
          <a:p>
            <a:pPr marL="742950" lvl="1" indent="-285750" algn="just">
              <a:lnSpc>
                <a:spcPct val="120000"/>
              </a:lnSpc>
              <a:spcAft>
                <a:spcPts val="600"/>
              </a:spcAft>
              <a:buSzPct val="75000"/>
              <a:buFont typeface="Wingdings" panose="05000000000000000000" pitchFamily="2" charset="2"/>
              <a:buChar char="Ø"/>
            </a:pPr>
            <a:r>
              <a:rPr lang="en-US" sz="1800"/>
              <a:t>C</a:t>
            </a:r>
            <a:r>
              <a:rPr lang="vi-VN" sz="1800"/>
              <a:t>ác </a:t>
            </a:r>
            <a:r>
              <a:rPr lang="vi-VN" sz="1800" b="1">
                <a:highlight>
                  <a:srgbClr val="FFFF00"/>
                </a:highlight>
              </a:rPr>
              <a:t>"xương cá" nhỏ </a:t>
            </a:r>
            <a:r>
              <a:rPr lang="vi-VN" sz="1800">
                <a:highlight>
                  <a:srgbClr val="FFFF00"/>
                </a:highlight>
              </a:rPr>
              <a:t>đại diện cho các category nguyên nhân chính. </a:t>
            </a:r>
            <a:endParaRPr lang="en-US" sz="1800">
              <a:highlight>
                <a:srgbClr val="FFFF00"/>
              </a:highlight>
            </a:endParaRPr>
          </a:p>
          <a:p>
            <a:pPr marL="285750" lvl="0" indent="-285750" algn="just">
              <a:lnSpc>
                <a:spcPct val="120000"/>
              </a:lnSpc>
              <a:spcAft>
                <a:spcPts val="600"/>
              </a:spcAft>
              <a:buSzPct val="75000"/>
              <a:buFont typeface="Wingdings" panose="05000000000000000000" pitchFamily="2" charset="2"/>
              <a:buChar char="Ø"/>
            </a:pPr>
            <a:r>
              <a:rPr lang="vi-VN" sz="1800" b="1"/>
              <a:t>Các category thông dụng bao gồm</a:t>
            </a:r>
            <a:r>
              <a:rPr lang="en-US" sz="1800"/>
              <a:t>:</a:t>
            </a:r>
            <a:r>
              <a:rPr lang="vi-VN" sz="1800"/>
              <a:t> People (Con người), Process (Quy trình), Equipment (Thiết bị), Materials (Vật liệu), Environment (Môi trường), và Management (Quản lý).</a:t>
            </a:r>
          </a:p>
        </p:txBody>
      </p:sp>
      <p:grpSp>
        <p:nvGrpSpPr>
          <p:cNvPr id="433" name="Google Shape;433;p34">
            <a:extLst>
              <a:ext uri="{FF2B5EF4-FFF2-40B4-BE49-F238E27FC236}">
                <a16:creationId xmlns:a16="http://schemas.microsoft.com/office/drawing/2014/main" id="{61344E46-47E7-57CF-9859-C9C11F0EC744}"/>
              </a:ext>
            </a:extLst>
          </p:cNvPr>
          <p:cNvGrpSpPr/>
          <p:nvPr/>
        </p:nvGrpSpPr>
        <p:grpSpPr>
          <a:xfrm>
            <a:off x="7765994" y="620551"/>
            <a:ext cx="2224840" cy="418725"/>
            <a:chOff x="7318351" y="2997150"/>
            <a:chExt cx="2224840" cy="418725"/>
          </a:xfrm>
        </p:grpSpPr>
        <p:sp>
          <p:nvSpPr>
            <p:cNvPr id="434" name="Google Shape;434;p34">
              <a:extLst>
                <a:ext uri="{FF2B5EF4-FFF2-40B4-BE49-F238E27FC236}">
                  <a16:creationId xmlns:a16="http://schemas.microsoft.com/office/drawing/2014/main" id="{F42A9613-DC16-4B82-4B9E-0E2F5F9930CB}"/>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AC23BB1A-CE30-35E7-6F30-E575E5866683}"/>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37A95C0A-DB37-3EC9-779A-A160074601BB}"/>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405857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43863D85-37C1-C71C-7105-89974A78F6FF}"/>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F0D06D7E-B93D-79DA-EF0C-2B9B6A816C1B}"/>
              </a:ext>
            </a:extLst>
          </p:cNvPr>
          <p:cNvSpPr txBox="1">
            <a:spLocks noGrp="1"/>
          </p:cNvSpPr>
          <p:nvPr>
            <p:ph type="title"/>
          </p:nvPr>
        </p:nvSpPr>
        <p:spPr>
          <a:xfrm>
            <a:off x="265586" y="466576"/>
            <a:ext cx="8566687" cy="572700"/>
          </a:xfrm>
          <a:prstGeom prst="rect">
            <a:avLst/>
          </a:prstGeom>
        </p:spPr>
        <p:txBody>
          <a:bodyPr spcFirstLastPara="1" wrap="square" lIns="91425" tIns="91425" rIns="91425" bIns="91425" anchor="t" anchorCtr="0">
            <a:noAutofit/>
          </a:bodyPr>
          <a:lstStyle/>
          <a:p>
            <a:pPr lvl="0"/>
            <a:r>
              <a:rPr lang="en-US" sz="2800" b="1"/>
              <a:t> Biểu đồ xương cá </a:t>
            </a:r>
            <a:br>
              <a:rPr lang="en-US" sz="2800" b="1"/>
            </a:br>
            <a:r>
              <a:rPr lang="en-US" sz="2800" b="1">
                <a:solidFill>
                  <a:schemeClr val="tx2">
                    <a:lumMod val="75000"/>
                  </a:schemeClr>
                </a:solidFill>
              </a:rPr>
              <a:t>(Fishbone Diagram)</a:t>
            </a:r>
            <a:endParaRPr sz="2000" b="1">
              <a:solidFill>
                <a:schemeClr val="tx2">
                  <a:lumMod val="75000"/>
                </a:schemeClr>
              </a:solidFill>
            </a:endParaRPr>
          </a:p>
        </p:txBody>
      </p:sp>
      <p:sp>
        <p:nvSpPr>
          <p:cNvPr id="429" name="Google Shape;429;p34">
            <a:extLst>
              <a:ext uri="{FF2B5EF4-FFF2-40B4-BE49-F238E27FC236}">
                <a16:creationId xmlns:a16="http://schemas.microsoft.com/office/drawing/2014/main" id="{B4131CD9-4FA3-6DD9-2599-F4158E7CF8F0}"/>
              </a:ext>
            </a:extLst>
          </p:cNvPr>
          <p:cNvSpPr txBox="1">
            <a:spLocks noGrp="1"/>
          </p:cNvSpPr>
          <p:nvPr>
            <p:ph type="subTitle" idx="2"/>
          </p:nvPr>
        </p:nvSpPr>
        <p:spPr>
          <a:xfrm>
            <a:off x="196835" y="1537397"/>
            <a:ext cx="8396447" cy="3139527"/>
          </a:xfrm>
          <a:prstGeom prst="rect">
            <a:avLst/>
          </a:prstGeom>
        </p:spPr>
        <p:txBody>
          <a:bodyPr spcFirstLastPara="1" wrap="square" lIns="91425" tIns="91425" rIns="91425" bIns="91425" anchor="ctr" anchorCtr="0">
            <a:noAutofit/>
          </a:bodyPr>
          <a:lstStyle/>
          <a:p>
            <a:pPr marL="285750" lvl="0" indent="-285750" algn="just">
              <a:lnSpc>
                <a:spcPct val="120000"/>
              </a:lnSpc>
              <a:spcAft>
                <a:spcPts val="600"/>
              </a:spcAft>
              <a:buSzPct val="75000"/>
              <a:buFont typeface="Wingdings" panose="05000000000000000000" pitchFamily="2" charset="2"/>
              <a:buChar char="Ø"/>
            </a:pPr>
            <a:r>
              <a:rPr lang="vi-VN" sz="1800" b="1"/>
              <a:t>Quy trình xây dựng</a:t>
            </a:r>
            <a:r>
              <a:rPr lang="en-US" sz="1800" b="1"/>
              <a:t>:</a:t>
            </a:r>
            <a:r>
              <a:rPr lang="vi-VN" sz="1800" b="1"/>
              <a:t> </a:t>
            </a:r>
            <a:r>
              <a:rPr lang="en-US" sz="1800"/>
              <a:t>Đ</a:t>
            </a:r>
            <a:r>
              <a:rPr lang="vi-VN" sz="1800"/>
              <a:t>ịnh nghĩa rõ ràng vấn đề cần phân tích</a:t>
            </a:r>
            <a:r>
              <a:rPr lang="en-US" sz="1800"/>
              <a:t> =&gt; </a:t>
            </a:r>
            <a:r>
              <a:rPr lang="vi-VN" sz="1800"/>
              <a:t>brainstorm để xác định các nguyên nhân chính </a:t>
            </a:r>
            <a:r>
              <a:rPr lang="en-US" sz="1800"/>
              <a:t>=&gt; </a:t>
            </a:r>
            <a:r>
              <a:rPr lang="vi-VN" sz="1800"/>
              <a:t>phân loại chúng vào các category</a:t>
            </a:r>
            <a:r>
              <a:rPr lang="en-US" sz="1800"/>
              <a:t> =&gt; m</a:t>
            </a:r>
            <a:r>
              <a:rPr lang="vi-VN" sz="1800"/>
              <a:t>ỗi nguyên nhân chính được phân tích sâu hơn để tìm ra các </a:t>
            </a:r>
            <a:r>
              <a:rPr lang="en-US" sz="1800"/>
              <a:t>nguyên nhân phụ</a:t>
            </a:r>
            <a:r>
              <a:rPr lang="vi-VN" sz="1800"/>
              <a:t>, tạo thành cấu trúc phân cấp.</a:t>
            </a:r>
          </a:p>
          <a:p>
            <a:pPr marL="285750" lvl="0" indent="-285750" algn="just">
              <a:lnSpc>
                <a:spcPct val="120000"/>
              </a:lnSpc>
              <a:spcAft>
                <a:spcPts val="600"/>
              </a:spcAft>
              <a:buSzPct val="75000"/>
              <a:buFont typeface="Wingdings" panose="05000000000000000000" pitchFamily="2" charset="2"/>
              <a:buChar char="Ø"/>
            </a:pPr>
            <a:r>
              <a:rPr lang="vi-VN" sz="1800" b="1"/>
              <a:t>Ứng dụng trong nhận diện rủi ro</a:t>
            </a:r>
            <a:r>
              <a:rPr lang="en-US" sz="1800" b="1"/>
              <a:t>:</a:t>
            </a:r>
            <a:r>
              <a:rPr lang="vi-VN" sz="1800" b="1"/>
              <a:t> </a:t>
            </a:r>
            <a:r>
              <a:rPr lang="vi-VN" sz="1800"/>
              <a:t>cho phép đội nhó</a:t>
            </a:r>
            <a:r>
              <a:rPr lang="en-US" sz="1800"/>
              <a:t>m khám phá</a:t>
            </a:r>
            <a:r>
              <a:rPr lang="vi-VN" sz="1800"/>
              <a:t> tất cả các góc độ có thể dẫn đến rủi ro. Phương pháp này đặc biệt hiệu quả trong việc phát hiện những rủi ro ẩn sâu hoặc những mối liên hệ phức tạp giữa các yếu tố khác nhau.</a:t>
            </a:r>
          </a:p>
        </p:txBody>
      </p:sp>
      <p:grpSp>
        <p:nvGrpSpPr>
          <p:cNvPr id="433" name="Google Shape;433;p34">
            <a:extLst>
              <a:ext uri="{FF2B5EF4-FFF2-40B4-BE49-F238E27FC236}">
                <a16:creationId xmlns:a16="http://schemas.microsoft.com/office/drawing/2014/main" id="{8B87F2BD-EE08-8D5B-137E-63F9DB3D5DA8}"/>
              </a:ext>
            </a:extLst>
          </p:cNvPr>
          <p:cNvGrpSpPr/>
          <p:nvPr/>
        </p:nvGrpSpPr>
        <p:grpSpPr>
          <a:xfrm>
            <a:off x="7765994" y="620551"/>
            <a:ext cx="2224840" cy="418725"/>
            <a:chOff x="7318351" y="2997150"/>
            <a:chExt cx="2224840" cy="418725"/>
          </a:xfrm>
        </p:grpSpPr>
        <p:sp>
          <p:nvSpPr>
            <p:cNvPr id="434" name="Google Shape;434;p34">
              <a:extLst>
                <a:ext uri="{FF2B5EF4-FFF2-40B4-BE49-F238E27FC236}">
                  <a16:creationId xmlns:a16="http://schemas.microsoft.com/office/drawing/2014/main" id="{21314417-F659-3D26-2C5D-0C9483E27C14}"/>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5A781B9F-6CDE-08AB-DD45-7C0C5F31752C}"/>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8AFCFA2A-1DA5-F198-6E06-616294E8B374}"/>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79060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9BDF7524-75B5-1DB1-3052-FD8667747419}"/>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4FF10ABE-3E7A-39A9-A0B6-3EC4D79AC59D}"/>
              </a:ext>
            </a:extLst>
          </p:cNvPr>
          <p:cNvSpPr txBox="1">
            <a:spLocks noGrp="1"/>
          </p:cNvSpPr>
          <p:nvPr>
            <p:ph type="title"/>
          </p:nvPr>
        </p:nvSpPr>
        <p:spPr>
          <a:xfrm>
            <a:off x="265586" y="466576"/>
            <a:ext cx="8566687" cy="572700"/>
          </a:xfrm>
          <a:prstGeom prst="rect">
            <a:avLst/>
          </a:prstGeom>
        </p:spPr>
        <p:txBody>
          <a:bodyPr spcFirstLastPara="1" wrap="square" lIns="91425" tIns="91425" rIns="91425" bIns="91425" anchor="t" anchorCtr="0">
            <a:noAutofit/>
          </a:bodyPr>
          <a:lstStyle/>
          <a:p>
            <a:pPr lvl="0"/>
            <a:r>
              <a:rPr lang="en-US" sz="2800" b="1"/>
              <a:t> Biểu đồ quy trình</a:t>
            </a:r>
            <a:br>
              <a:rPr lang="en-US" sz="2800" b="1"/>
            </a:br>
            <a:r>
              <a:rPr lang="en-US" sz="2800" b="1">
                <a:solidFill>
                  <a:schemeClr val="tx2">
                    <a:lumMod val="75000"/>
                  </a:schemeClr>
                </a:solidFill>
              </a:rPr>
              <a:t>(Process Flow Diagram)</a:t>
            </a:r>
            <a:endParaRPr sz="2000" b="1">
              <a:solidFill>
                <a:schemeClr val="tx2">
                  <a:lumMod val="75000"/>
                </a:schemeClr>
              </a:solidFill>
            </a:endParaRPr>
          </a:p>
        </p:txBody>
      </p:sp>
      <p:sp>
        <p:nvSpPr>
          <p:cNvPr id="429" name="Google Shape;429;p34">
            <a:extLst>
              <a:ext uri="{FF2B5EF4-FFF2-40B4-BE49-F238E27FC236}">
                <a16:creationId xmlns:a16="http://schemas.microsoft.com/office/drawing/2014/main" id="{2BCEA382-E776-3B11-29CF-AB0F4C30D618}"/>
              </a:ext>
            </a:extLst>
          </p:cNvPr>
          <p:cNvSpPr txBox="1">
            <a:spLocks noGrp="1"/>
          </p:cNvSpPr>
          <p:nvPr>
            <p:ph type="subTitle" idx="2"/>
          </p:nvPr>
        </p:nvSpPr>
        <p:spPr>
          <a:xfrm>
            <a:off x="196835" y="1537397"/>
            <a:ext cx="8396447" cy="3139527"/>
          </a:xfrm>
          <a:prstGeom prst="rect">
            <a:avLst/>
          </a:prstGeom>
        </p:spPr>
        <p:txBody>
          <a:bodyPr spcFirstLastPara="1" wrap="square" lIns="91425" tIns="91425" rIns="91425" bIns="91425" anchor="ctr" anchorCtr="0">
            <a:noAutofit/>
          </a:bodyPr>
          <a:lstStyle/>
          <a:p>
            <a:pPr marL="285750" lvl="0" indent="-285750" algn="just">
              <a:lnSpc>
                <a:spcPct val="120000"/>
              </a:lnSpc>
              <a:spcAft>
                <a:spcPts val="600"/>
              </a:spcAft>
              <a:buSzPct val="75000"/>
              <a:buFont typeface="Wingdings" panose="05000000000000000000" pitchFamily="2" charset="2"/>
              <a:buChar char="Ø"/>
            </a:pPr>
            <a:r>
              <a:rPr lang="en-US" sz="1800" b="1"/>
              <a:t>C</a:t>
            </a:r>
            <a:r>
              <a:rPr lang="vi-VN" sz="1800" b="1"/>
              <a:t>ung cấp một cái nhìn trực quan về các bước trong một process</a:t>
            </a:r>
            <a:r>
              <a:rPr lang="vi-VN" sz="1800"/>
              <a:t>, </a:t>
            </a:r>
            <a:r>
              <a:rPr lang="vi-VN" sz="1800">
                <a:highlight>
                  <a:srgbClr val="FFFF00"/>
                </a:highlight>
              </a:rPr>
              <a:t>giúp nhận diện các điểm có thể xảy ra rủi ro.</a:t>
            </a:r>
          </a:p>
          <a:p>
            <a:pPr marL="285750" lvl="0" indent="-285750" algn="just">
              <a:lnSpc>
                <a:spcPct val="120000"/>
              </a:lnSpc>
              <a:spcAft>
                <a:spcPts val="600"/>
              </a:spcAft>
              <a:buSzPct val="75000"/>
              <a:buFont typeface="Wingdings" panose="05000000000000000000" pitchFamily="2" charset="2"/>
              <a:buChar char="Ø"/>
            </a:pPr>
            <a:r>
              <a:rPr lang="vi-VN" sz="1800" b="1"/>
              <a:t>Các loại biểu đồ quy trình bao gồm</a:t>
            </a:r>
            <a:r>
              <a:rPr lang="en-US" sz="1800" b="1"/>
              <a:t>:</a:t>
            </a:r>
            <a:r>
              <a:rPr lang="vi-VN" sz="1800" b="1"/>
              <a:t> </a:t>
            </a:r>
            <a:r>
              <a:rPr lang="vi-VN" sz="1800">
                <a:highlight>
                  <a:srgbClr val="FFFF00"/>
                </a:highlight>
              </a:rPr>
              <a:t>flowchart cơ bản</a:t>
            </a:r>
            <a:r>
              <a:rPr lang="vi-VN" sz="1800"/>
              <a:t>, </a:t>
            </a:r>
            <a:r>
              <a:rPr lang="vi-VN" sz="1800">
                <a:highlight>
                  <a:srgbClr val="FFFF00"/>
                </a:highlight>
              </a:rPr>
              <a:t>swimlane diagrams </a:t>
            </a:r>
            <a:r>
              <a:rPr lang="vi-VN" sz="1800"/>
              <a:t>(thể hiện trách nhiệm của các bộ phận khác nhau), </a:t>
            </a:r>
            <a:r>
              <a:rPr lang="vi-VN" sz="1800">
                <a:highlight>
                  <a:srgbClr val="FFFF00"/>
                </a:highlight>
              </a:rPr>
              <a:t>value stream maps </a:t>
            </a:r>
            <a:r>
              <a:rPr lang="vi-VN" sz="1800"/>
              <a:t>(tập trung vào việc tạo ra giá trị). Mỗi loại phù hợp với mục đích phân tích khác nhau.</a:t>
            </a:r>
          </a:p>
        </p:txBody>
      </p:sp>
      <p:grpSp>
        <p:nvGrpSpPr>
          <p:cNvPr id="433" name="Google Shape;433;p34">
            <a:extLst>
              <a:ext uri="{FF2B5EF4-FFF2-40B4-BE49-F238E27FC236}">
                <a16:creationId xmlns:a16="http://schemas.microsoft.com/office/drawing/2014/main" id="{1A8A3B4E-8EE4-7568-12B3-7886E75993FE}"/>
              </a:ext>
            </a:extLst>
          </p:cNvPr>
          <p:cNvGrpSpPr/>
          <p:nvPr/>
        </p:nvGrpSpPr>
        <p:grpSpPr>
          <a:xfrm>
            <a:off x="7765994" y="620551"/>
            <a:ext cx="2224840" cy="418725"/>
            <a:chOff x="7318351" y="2997150"/>
            <a:chExt cx="2224840" cy="418725"/>
          </a:xfrm>
        </p:grpSpPr>
        <p:sp>
          <p:nvSpPr>
            <p:cNvPr id="434" name="Google Shape;434;p34">
              <a:extLst>
                <a:ext uri="{FF2B5EF4-FFF2-40B4-BE49-F238E27FC236}">
                  <a16:creationId xmlns:a16="http://schemas.microsoft.com/office/drawing/2014/main" id="{10B7C835-62DD-8F2B-861C-0A876755E50B}"/>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B2ED1F05-1455-6A9F-CB25-1F170AC9FE70}"/>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CD07BBBB-6F27-60C7-011E-E7CBBE3EB022}"/>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09464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42E2847A-B10A-2B1A-C4FA-3C210A37DF0A}"/>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64969A5A-1829-F2B0-73BD-D7958A68C4C7}"/>
              </a:ext>
            </a:extLst>
          </p:cNvPr>
          <p:cNvSpPr txBox="1">
            <a:spLocks noGrp="1"/>
          </p:cNvSpPr>
          <p:nvPr>
            <p:ph type="title"/>
          </p:nvPr>
        </p:nvSpPr>
        <p:spPr>
          <a:xfrm>
            <a:off x="265586" y="466576"/>
            <a:ext cx="8566687" cy="572700"/>
          </a:xfrm>
          <a:prstGeom prst="rect">
            <a:avLst/>
          </a:prstGeom>
        </p:spPr>
        <p:txBody>
          <a:bodyPr spcFirstLastPara="1" wrap="square" lIns="91425" tIns="91425" rIns="91425" bIns="91425" anchor="t" anchorCtr="0">
            <a:noAutofit/>
          </a:bodyPr>
          <a:lstStyle/>
          <a:p>
            <a:pPr lvl="0"/>
            <a:r>
              <a:rPr lang="en-US" sz="2800" b="1"/>
              <a:t> Biểu đồ quy trình</a:t>
            </a:r>
            <a:br>
              <a:rPr lang="en-US" sz="2800" b="1"/>
            </a:br>
            <a:r>
              <a:rPr lang="en-US" sz="2800" b="1">
                <a:solidFill>
                  <a:schemeClr val="tx2">
                    <a:lumMod val="75000"/>
                  </a:schemeClr>
                </a:solidFill>
              </a:rPr>
              <a:t>(Process Flow Diagram)</a:t>
            </a:r>
            <a:endParaRPr sz="2000" b="1">
              <a:solidFill>
                <a:schemeClr val="tx2">
                  <a:lumMod val="75000"/>
                </a:schemeClr>
              </a:solidFill>
            </a:endParaRPr>
          </a:p>
        </p:txBody>
      </p:sp>
      <p:sp>
        <p:nvSpPr>
          <p:cNvPr id="429" name="Google Shape;429;p34">
            <a:extLst>
              <a:ext uri="{FF2B5EF4-FFF2-40B4-BE49-F238E27FC236}">
                <a16:creationId xmlns:a16="http://schemas.microsoft.com/office/drawing/2014/main" id="{EB030FF1-9429-6671-69B8-978D93ED34F3}"/>
              </a:ext>
            </a:extLst>
          </p:cNvPr>
          <p:cNvSpPr txBox="1">
            <a:spLocks noGrp="1"/>
          </p:cNvSpPr>
          <p:nvPr>
            <p:ph type="subTitle" idx="2"/>
          </p:nvPr>
        </p:nvSpPr>
        <p:spPr>
          <a:xfrm>
            <a:off x="196835" y="1537397"/>
            <a:ext cx="8396447" cy="3139527"/>
          </a:xfrm>
          <a:prstGeom prst="rect">
            <a:avLst/>
          </a:prstGeom>
        </p:spPr>
        <p:txBody>
          <a:bodyPr spcFirstLastPara="1" wrap="square" lIns="91425" tIns="91425" rIns="91425" bIns="91425" anchor="ctr" anchorCtr="0">
            <a:noAutofit/>
          </a:bodyPr>
          <a:lstStyle/>
          <a:p>
            <a:pPr marL="285750" lvl="0" indent="-285750" algn="just">
              <a:lnSpc>
                <a:spcPct val="120000"/>
              </a:lnSpc>
              <a:spcAft>
                <a:spcPts val="600"/>
              </a:spcAft>
              <a:buSzPct val="75000"/>
              <a:buFont typeface="Wingdings" panose="05000000000000000000" pitchFamily="2" charset="2"/>
              <a:buChar char="Ø"/>
            </a:pPr>
            <a:r>
              <a:rPr lang="vi-VN" sz="1800" b="1"/>
              <a:t>Phân tích rủi ro thông qua biểu đồ </a:t>
            </a:r>
            <a:r>
              <a:rPr lang="vi-VN" sz="1800"/>
              <a:t>được thực hiện bằng cách xem xét từng bước trong quy trình và đặt câu hỏi</a:t>
            </a:r>
            <a:r>
              <a:rPr lang="en-US" sz="1800"/>
              <a:t>.</a:t>
            </a:r>
          </a:p>
          <a:p>
            <a:pPr marL="285750" lvl="0" indent="-285750" algn="just">
              <a:lnSpc>
                <a:spcPct val="120000"/>
              </a:lnSpc>
              <a:spcAft>
                <a:spcPts val="600"/>
              </a:spcAft>
              <a:buSzPct val="75000"/>
              <a:buFont typeface="Wingdings" panose="05000000000000000000" pitchFamily="2" charset="2"/>
              <a:buChar char="Ø"/>
            </a:pPr>
            <a:r>
              <a:rPr lang="vi-VN" sz="1800" b="1"/>
              <a:t>Các điểm cần chú ý </a:t>
            </a:r>
            <a:r>
              <a:rPr lang="vi-VN" sz="1800"/>
              <a:t>bao gồm điểm bàn giao (nơi công việc chuyển từ người này sang người khác), điểm quyết định, các phụ thuộc bên ngoài, và các bước có thời gian xử lý dài. Những điểm này thường là nơi rủi ro tập trung cao nhất.</a:t>
            </a:r>
          </a:p>
        </p:txBody>
      </p:sp>
      <p:grpSp>
        <p:nvGrpSpPr>
          <p:cNvPr id="433" name="Google Shape;433;p34">
            <a:extLst>
              <a:ext uri="{FF2B5EF4-FFF2-40B4-BE49-F238E27FC236}">
                <a16:creationId xmlns:a16="http://schemas.microsoft.com/office/drawing/2014/main" id="{90B7EE9F-B0B8-6B53-C5AF-E6EDF4320F33}"/>
              </a:ext>
            </a:extLst>
          </p:cNvPr>
          <p:cNvGrpSpPr/>
          <p:nvPr/>
        </p:nvGrpSpPr>
        <p:grpSpPr>
          <a:xfrm>
            <a:off x="7765994" y="620551"/>
            <a:ext cx="2224840" cy="418725"/>
            <a:chOff x="7318351" y="2997150"/>
            <a:chExt cx="2224840" cy="418725"/>
          </a:xfrm>
        </p:grpSpPr>
        <p:sp>
          <p:nvSpPr>
            <p:cNvPr id="434" name="Google Shape;434;p34">
              <a:extLst>
                <a:ext uri="{FF2B5EF4-FFF2-40B4-BE49-F238E27FC236}">
                  <a16:creationId xmlns:a16="http://schemas.microsoft.com/office/drawing/2014/main" id="{99855256-32A7-4319-1782-68F8D6988BB1}"/>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19F53C8F-3056-5501-5772-835A1092D0E4}"/>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3D38F4F4-195C-D77A-FA20-C052E2EDA3F3}"/>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975945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16">
          <a:extLst>
            <a:ext uri="{FF2B5EF4-FFF2-40B4-BE49-F238E27FC236}">
              <a16:creationId xmlns:a16="http://schemas.microsoft.com/office/drawing/2014/main" id="{1A4C320D-7BC4-0368-D0E1-2308E422762A}"/>
            </a:ext>
          </a:extLst>
        </p:cNvPr>
        <p:cNvGrpSpPr/>
        <p:nvPr/>
      </p:nvGrpSpPr>
      <p:grpSpPr>
        <a:xfrm>
          <a:off x="0" y="0"/>
          <a:ext cx="0" cy="0"/>
          <a:chOff x="0" y="0"/>
          <a:chExt cx="0" cy="0"/>
        </a:xfrm>
      </p:grpSpPr>
      <p:sp>
        <p:nvSpPr>
          <p:cNvPr id="517" name="Google Shape;517;p39">
            <a:extLst>
              <a:ext uri="{FF2B5EF4-FFF2-40B4-BE49-F238E27FC236}">
                <a16:creationId xmlns:a16="http://schemas.microsoft.com/office/drawing/2014/main" id="{01D07833-DD77-DA9C-C3BA-ACCF53441511}"/>
              </a:ext>
            </a:extLst>
          </p:cNvPr>
          <p:cNvSpPr txBox="1">
            <a:spLocks noGrp="1"/>
          </p:cNvSpPr>
          <p:nvPr>
            <p:ph type="title"/>
          </p:nvPr>
        </p:nvSpPr>
        <p:spPr>
          <a:xfrm>
            <a:off x="748950" y="1338606"/>
            <a:ext cx="7320394" cy="197020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800" b="1">
                <a:solidFill>
                  <a:schemeClr val="tx2">
                    <a:lumMod val="75000"/>
                  </a:schemeClr>
                </a:solidFill>
              </a:rPr>
              <a:t>Phân tích </a:t>
            </a:r>
            <a:r>
              <a:rPr lang="en-US" sz="4800"/>
              <a:t>rủi ro</a:t>
            </a:r>
            <a:endParaRPr sz="4800"/>
          </a:p>
        </p:txBody>
      </p:sp>
      <p:grpSp>
        <p:nvGrpSpPr>
          <p:cNvPr id="519" name="Google Shape;519;p39">
            <a:extLst>
              <a:ext uri="{FF2B5EF4-FFF2-40B4-BE49-F238E27FC236}">
                <a16:creationId xmlns:a16="http://schemas.microsoft.com/office/drawing/2014/main" id="{D7883EA0-E68E-2F37-E76D-A1131E2ECDAC}"/>
              </a:ext>
            </a:extLst>
          </p:cNvPr>
          <p:cNvGrpSpPr/>
          <p:nvPr/>
        </p:nvGrpSpPr>
        <p:grpSpPr>
          <a:xfrm>
            <a:off x="6711477" y="1589183"/>
            <a:ext cx="2224840" cy="418725"/>
            <a:chOff x="7318351" y="2997150"/>
            <a:chExt cx="2224840" cy="418725"/>
          </a:xfrm>
        </p:grpSpPr>
        <p:sp>
          <p:nvSpPr>
            <p:cNvPr id="520" name="Google Shape;520;p39">
              <a:extLst>
                <a:ext uri="{FF2B5EF4-FFF2-40B4-BE49-F238E27FC236}">
                  <a16:creationId xmlns:a16="http://schemas.microsoft.com/office/drawing/2014/main" id="{80DB5CC4-6FDE-F069-83B2-5065DC56CA34}"/>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a:extLst>
                <a:ext uri="{FF2B5EF4-FFF2-40B4-BE49-F238E27FC236}">
                  <a16:creationId xmlns:a16="http://schemas.microsoft.com/office/drawing/2014/main" id="{66429E50-EBF4-D1E0-60F6-08C366582E1F}"/>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a:extLst>
                <a:ext uri="{FF2B5EF4-FFF2-40B4-BE49-F238E27FC236}">
                  <a16:creationId xmlns:a16="http://schemas.microsoft.com/office/drawing/2014/main" id="{1DAF5930-DC9B-11E7-C689-7C331F52F448}"/>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518;p39">
            <a:extLst>
              <a:ext uri="{FF2B5EF4-FFF2-40B4-BE49-F238E27FC236}">
                <a16:creationId xmlns:a16="http://schemas.microsoft.com/office/drawing/2014/main" id="{4EF1E719-11FD-B7BC-7BE8-1705D695C985}"/>
              </a:ext>
            </a:extLst>
          </p:cNvPr>
          <p:cNvSpPr txBox="1">
            <a:spLocks noGrp="1"/>
          </p:cNvSpPr>
          <p:nvPr>
            <p:ph type="subTitle" idx="1"/>
          </p:nvPr>
        </p:nvSpPr>
        <p:spPr>
          <a:xfrm>
            <a:off x="5850450" y="3953240"/>
            <a:ext cx="2232600" cy="642900"/>
          </a:xfrm>
          <a:prstGeom prst="rect">
            <a:avLst/>
          </a:prstGeom>
        </p:spPr>
        <p:txBody>
          <a:bodyPr spcFirstLastPara="1" wrap="square" lIns="91425" tIns="91425" rIns="91425" bIns="91425" anchor="b" anchorCtr="0">
            <a:noAutofit/>
          </a:bodyPr>
          <a:lstStyle/>
          <a:p>
            <a:pPr marL="0" lvl="0" indent="0"/>
            <a:r>
              <a:rPr lang="en-US" sz="2000"/>
              <a:t>Bước 3</a:t>
            </a:r>
            <a:endParaRPr sz="2000"/>
          </a:p>
        </p:txBody>
      </p:sp>
    </p:spTree>
    <p:extLst>
      <p:ext uri="{BB962C8B-B14F-4D97-AF65-F5344CB8AC3E}">
        <p14:creationId xmlns:p14="http://schemas.microsoft.com/office/powerpoint/2010/main" val="22604093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346400C2-690B-55C9-97D0-D12F2DB334FC}"/>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EF0A11DD-6288-47BE-87DF-A864703907A4}"/>
              </a:ext>
            </a:extLst>
          </p:cNvPr>
          <p:cNvSpPr txBox="1">
            <a:spLocks noGrp="1"/>
          </p:cNvSpPr>
          <p:nvPr>
            <p:ph type="title"/>
          </p:nvPr>
        </p:nvSpPr>
        <p:spPr>
          <a:xfrm>
            <a:off x="265586" y="466576"/>
            <a:ext cx="746984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b="1"/>
              <a:t>Phân loại và lựa chọn rủi ro  </a:t>
            </a:r>
            <a:endParaRPr sz="2800" b="1"/>
          </a:p>
        </p:txBody>
      </p:sp>
      <p:sp>
        <p:nvSpPr>
          <p:cNvPr id="429" name="Google Shape;429;p34">
            <a:extLst>
              <a:ext uri="{FF2B5EF4-FFF2-40B4-BE49-F238E27FC236}">
                <a16:creationId xmlns:a16="http://schemas.microsoft.com/office/drawing/2014/main" id="{5D7B4F25-D578-E532-ADE6-902C6BDCF788}"/>
              </a:ext>
            </a:extLst>
          </p:cNvPr>
          <p:cNvSpPr txBox="1">
            <a:spLocks noGrp="1"/>
          </p:cNvSpPr>
          <p:nvPr>
            <p:ph type="subTitle" idx="2"/>
          </p:nvPr>
        </p:nvSpPr>
        <p:spPr>
          <a:xfrm>
            <a:off x="470303" y="1299113"/>
            <a:ext cx="7631473" cy="3621230"/>
          </a:xfrm>
          <a:prstGeom prst="rect">
            <a:avLst/>
          </a:prstGeom>
        </p:spPr>
        <p:txBody>
          <a:bodyPr spcFirstLastPara="1" wrap="square" lIns="91425" tIns="91425" rIns="91425" bIns="91425" anchor="t" anchorCtr="0">
            <a:noAutofit/>
          </a:bodyPr>
          <a:lstStyle/>
          <a:p>
            <a:pPr marL="285750" lvl="0" indent="-285750" algn="just" rtl="0">
              <a:lnSpc>
                <a:spcPct val="120000"/>
              </a:lnSpc>
              <a:spcBef>
                <a:spcPts val="0"/>
              </a:spcBef>
              <a:spcAft>
                <a:spcPts val="1200"/>
              </a:spcAft>
              <a:buSzPct val="75000"/>
              <a:buFont typeface="Wingdings" panose="05000000000000000000" pitchFamily="2" charset="2"/>
              <a:buChar char="Ø"/>
            </a:pPr>
            <a:r>
              <a:rPr lang="en-US" sz="2000" b="1"/>
              <a:t>Không thể giải quyết tất cả các rủi ro </a:t>
            </a:r>
            <a:r>
              <a:rPr lang="en-US" sz="2000"/>
              <a:t>=&gt; </a:t>
            </a:r>
            <a:r>
              <a:rPr lang="en-US" sz="2000">
                <a:highlight>
                  <a:srgbClr val="FFFF00"/>
                </a:highlight>
              </a:rPr>
              <a:t>Cần lựa chọn và ưu tiên theo </a:t>
            </a:r>
            <a:r>
              <a:rPr lang="vi-VN" sz="2000" b="1">
                <a:solidFill>
                  <a:schemeClr val="tx2">
                    <a:lumMod val="75000"/>
                  </a:schemeClr>
                </a:solidFill>
                <a:highlight>
                  <a:srgbClr val="FFFF00"/>
                </a:highlight>
              </a:rPr>
              <a:t>nguyên tắc 20/80</a:t>
            </a:r>
            <a:r>
              <a:rPr lang="vi-VN" sz="2000"/>
              <a:t>, tập trung vào những rủi ro có tác động lớn nhất đến sự thành công của dự án.</a:t>
            </a:r>
            <a:endParaRPr lang="en-US" sz="2000"/>
          </a:p>
          <a:p>
            <a:pPr marL="285750" lvl="0" indent="-285750" algn="just" rtl="0">
              <a:lnSpc>
                <a:spcPct val="120000"/>
              </a:lnSpc>
              <a:spcBef>
                <a:spcPts val="0"/>
              </a:spcBef>
              <a:spcAft>
                <a:spcPts val="1200"/>
              </a:spcAft>
              <a:buSzPct val="75000"/>
              <a:buFont typeface="Wingdings" panose="05000000000000000000" pitchFamily="2" charset="2"/>
              <a:buChar char="Ø"/>
            </a:pPr>
            <a:r>
              <a:rPr lang="vi-VN" sz="2000" b="1"/>
              <a:t>Nguyên tắc 20/80</a:t>
            </a:r>
            <a:r>
              <a:rPr lang="en-US" sz="2000" b="1"/>
              <a:t> (</a:t>
            </a:r>
            <a:r>
              <a:rPr lang="vi-VN" sz="2000" b="1"/>
              <a:t>Pareto</a:t>
            </a:r>
            <a:r>
              <a:rPr lang="en-US" sz="2000" b="1"/>
              <a:t>)</a:t>
            </a:r>
            <a:r>
              <a:rPr lang="vi-VN" sz="2000"/>
              <a:t>, là một khái niệm quản lý </a:t>
            </a:r>
            <a:r>
              <a:rPr lang="vi-VN" sz="2000">
                <a:highlight>
                  <a:srgbClr val="FFFF00"/>
                </a:highlight>
              </a:rPr>
              <a:t>cho rằng </a:t>
            </a:r>
            <a:r>
              <a:rPr lang="vi-VN" sz="2000" b="1">
                <a:solidFill>
                  <a:schemeClr val="tx2">
                    <a:lumMod val="75000"/>
                  </a:schemeClr>
                </a:solidFill>
                <a:highlight>
                  <a:srgbClr val="FFFF00"/>
                </a:highlight>
              </a:rPr>
              <a:t>20%</a:t>
            </a:r>
            <a:r>
              <a:rPr lang="vi-VN" sz="2000">
                <a:highlight>
                  <a:srgbClr val="FFFF00"/>
                </a:highlight>
              </a:rPr>
              <a:t> </a:t>
            </a:r>
            <a:r>
              <a:rPr lang="vi-VN" sz="2000" b="1">
                <a:solidFill>
                  <a:schemeClr val="tx2">
                    <a:lumMod val="75000"/>
                  </a:schemeClr>
                </a:solidFill>
                <a:highlight>
                  <a:srgbClr val="FFFF00"/>
                </a:highlight>
              </a:rPr>
              <a:t>nguyên nhân </a:t>
            </a:r>
            <a:r>
              <a:rPr lang="vi-VN" sz="2000">
                <a:highlight>
                  <a:srgbClr val="FFFF00"/>
                </a:highlight>
              </a:rPr>
              <a:t>thường dẫn đến </a:t>
            </a:r>
            <a:r>
              <a:rPr lang="vi-VN" sz="2000" b="1">
                <a:solidFill>
                  <a:schemeClr val="tx2">
                    <a:lumMod val="75000"/>
                  </a:schemeClr>
                </a:solidFill>
                <a:highlight>
                  <a:srgbClr val="FFFF00"/>
                </a:highlight>
              </a:rPr>
              <a:t>80%</a:t>
            </a:r>
            <a:r>
              <a:rPr lang="vi-VN" sz="2000">
                <a:highlight>
                  <a:srgbClr val="FFFF00"/>
                </a:highlight>
              </a:rPr>
              <a:t> </a:t>
            </a:r>
            <a:r>
              <a:rPr lang="vi-VN" sz="2000" b="1">
                <a:solidFill>
                  <a:schemeClr val="tx2">
                    <a:lumMod val="75000"/>
                  </a:schemeClr>
                </a:solidFill>
                <a:highlight>
                  <a:srgbClr val="FFFF00"/>
                </a:highlight>
              </a:rPr>
              <a:t>kết quả</a:t>
            </a:r>
            <a:r>
              <a:rPr lang="vi-VN" sz="2000"/>
              <a:t>. Trong bối cảnh quản lý rủi ro dự án</a:t>
            </a:r>
            <a:r>
              <a:rPr lang="en-US" sz="2000"/>
              <a:t>,</a:t>
            </a:r>
            <a:r>
              <a:rPr lang="vi-VN" sz="2000"/>
              <a:t> nguyên tắc này được áp dụng để tập trung vào 20% rủi ro quan trọng nhất, vì chúng gây ra 80% tác động tiêu cực đến sự thành công của dự án.</a:t>
            </a:r>
            <a:endParaRPr sz="2000"/>
          </a:p>
        </p:txBody>
      </p:sp>
      <p:grpSp>
        <p:nvGrpSpPr>
          <p:cNvPr id="433" name="Google Shape;433;p34">
            <a:extLst>
              <a:ext uri="{FF2B5EF4-FFF2-40B4-BE49-F238E27FC236}">
                <a16:creationId xmlns:a16="http://schemas.microsoft.com/office/drawing/2014/main" id="{3DBB7AB1-0E19-4EBD-0C19-C70117DDA266}"/>
              </a:ext>
            </a:extLst>
          </p:cNvPr>
          <p:cNvGrpSpPr/>
          <p:nvPr/>
        </p:nvGrpSpPr>
        <p:grpSpPr>
          <a:xfrm>
            <a:off x="7735426" y="726413"/>
            <a:ext cx="2224840" cy="418725"/>
            <a:chOff x="7318351" y="2997150"/>
            <a:chExt cx="2224840" cy="418725"/>
          </a:xfrm>
        </p:grpSpPr>
        <p:sp>
          <p:nvSpPr>
            <p:cNvPr id="434" name="Google Shape;434;p34">
              <a:extLst>
                <a:ext uri="{FF2B5EF4-FFF2-40B4-BE49-F238E27FC236}">
                  <a16:creationId xmlns:a16="http://schemas.microsoft.com/office/drawing/2014/main" id="{952ED28E-25D3-0CC5-0F7D-94AB401DA2F1}"/>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D317559A-FA44-6552-72BF-B7F4BEC739E3}"/>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20EB525E-F20A-5D6F-44B7-83C745EAD312}"/>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989829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25A5A774-E2D0-48BA-C512-064140589F3F}"/>
            </a:ext>
          </a:extLst>
        </p:cNvPr>
        <p:cNvGrpSpPr/>
        <p:nvPr/>
      </p:nvGrpSpPr>
      <p:grpSpPr>
        <a:xfrm>
          <a:off x="0" y="0"/>
          <a:ext cx="0" cy="0"/>
          <a:chOff x="0" y="0"/>
          <a:chExt cx="0" cy="0"/>
        </a:xfrm>
      </p:grpSpPr>
      <p:sp>
        <p:nvSpPr>
          <p:cNvPr id="377" name="Google Shape;377;p31">
            <a:extLst>
              <a:ext uri="{FF2B5EF4-FFF2-40B4-BE49-F238E27FC236}">
                <a16:creationId xmlns:a16="http://schemas.microsoft.com/office/drawing/2014/main" id="{41578530-7ECE-537A-8282-D18C8BB01DC0}"/>
              </a:ext>
            </a:extLst>
          </p:cNvPr>
          <p:cNvSpPr/>
          <p:nvPr/>
        </p:nvSpPr>
        <p:spPr>
          <a:xfrm>
            <a:off x="1102974" y="3444875"/>
            <a:ext cx="1540500" cy="62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9" name="Google Shape;379;p31">
            <a:extLst>
              <a:ext uri="{FF2B5EF4-FFF2-40B4-BE49-F238E27FC236}">
                <a16:creationId xmlns:a16="http://schemas.microsoft.com/office/drawing/2014/main" id="{511A298B-27DF-5855-2BF3-6D996DC4574E}"/>
              </a:ext>
            </a:extLst>
          </p:cNvPr>
          <p:cNvSpPr/>
          <p:nvPr/>
        </p:nvSpPr>
        <p:spPr>
          <a:xfrm>
            <a:off x="4605077" y="1838304"/>
            <a:ext cx="1540500" cy="621600"/>
          </a:xfrm>
          <a:prstGeom prst="rect">
            <a:avLst/>
          </a:prstGeom>
          <a:solidFill>
            <a:schemeClr val="bg2">
              <a:lumMod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0" name="Google Shape;380;p31">
            <a:extLst>
              <a:ext uri="{FF2B5EF4-FFF2-40B4-BE49-F238E27FC236}">
                <a16:creationId xmlns:a16="http://schemas.microsoft.com/office/drawing/2014/main" id="{C4FD8038-B53C-CAB7-B420-030F7110D129}"/>
              </a:ext>
            </a:extLst>
          </p:cNvPr>
          <p:cNvSpPr/>
          <p:nvPr/>
        </p:nvSpPr>
        <p:spPr>
          <a:xfrm>
            <a:off x="4605077" y="3441955"/>
            <a:ext cx="1540500" cy="621600"/>
          </a:xfrm>
          <a:prstGeom prst="rect">
            <a:avLst/>
          </a:pr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1" name="Google Shape;381;p31">
            <a:extLst>
              <a:ext uri="{FF2B5EF4-FFF2-40B4-BE49-F238E27FC236}">
                <a16:creationId xmlns:a16="http://schemas.microsoft.com/office/drawing/2014/main" id="{7E9CB693-5CC5-E601-5702-CBD5FCCB3551}"/>
              </a:ext>
            </a:extLst>
          </p:cNvPr>
          <p:cNvSpPr/>
          <p:nvPr/>
        </p:nvSpPr>
        <p:spPr>
          <a:xfrm>
            <a:off x="1102974" y="1853998"/>
            <a:ext cx="1540500" cy="621600"/>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2" name="Google Shape;382;p31">
            <a:extLst>
              <a:ext uri="{FF2B5EF4-FFF2-40B4-BE49-F238E27FC236}">
                <a16:creationId xmlns:a16="http://schemas.microsoft.com/office/drawing/2014/main" id="{9625913C-EEB5-A4DB-DC37-5252B9FC71A9}"/>
              </a:ext>
            </a:extLst>
          </p:cNvPr>
          <p:cNvSpPr txBox="1">
            <a:spLocks noGrp="1"/>
          </p:cNvSpPr>
          <p:nvPr>
            <p:ph type="title"/>
          </p:nvPr>
        </p:nvSpPr>
        <p:spPr>
          <a:xfrm>
            <a:off x="382543" y="4471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t>Phân tích rủi ro</a:t>
            </a:r>
            <a:endParaRPr b="1"/>
          </a:p>
        </p:txBody>
      </p:sp>
      <p:sp>
        <p:nvSpPr>
          <p:cNvPr id="383" name="Google Shape;383;p31">
            <a:extLst>
              <a:ext uri="{FF2B5EF4-FFF2-40B4-BE49-F238E27FC236}">
                <a16:creationId xmlns:a16="http://schemas.microsoft.com/office/drawing/2014/main" id="{5FEAC37B-109F-B9CB-AB09-66459C9296F6}"/>
              </a:ext>
            </a:extLst>
          </p:cNvPr>
          <p:cNvSpPr txBox="1">
            <a:spLocks noGrp="1"/>
          </p:cNvSpPr>
          <p:nvPr>
            <p:ph type="title" idx="2"/>
          </p:nvPr>
        </p:nvSpPr>
        <p:spPr>
          <a:xfrm>
            <a:off x="1109749" y="1906123"/>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384" name="Google Shape;384;p31">
            <a:extLst>
              <a:ext uri="{FF2B5EF4-FFF2-40B4-BE49-F238E27FC236}">
                <a16:creationId xmlns:a16="http://schemas.microsoft.com/office/drawing/2014/main" id="{CD8CC895-29FE-72CF-FFAC-622B5AB3000D}"/>
              </a:ext>
            </a:extLst>
          </p:cNvPr>
          <p:cNvSpPr txBox="1">
            <a:spLocks noGrp="1"/>
          </p:cNvSpPr>
          <p:nvPr>
            <p:ph type="title" idx="3"/>
          </p:nvPr>
        </p:nvSpPr>
        <p:spPr>
          <a:xfrm>
            <a:off x="4611852" y="3494082"/>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385" name="Google Shape;385;p31">
            <a:extLst>
              <a:ext uri="{FF2B5EF4-FFF2-40B4-BE49-F238E27FC236}">
                <a16:creationId xmlns:a16="http://schemas.microsoft.com/office/drawing/2014/main" id="{F5AEF02F-9EB2-AAE4-CDE3-ACD64A3B2A22}"/>
              </a:ext>
            </a:extLst>
          </p:cNvPr>
          <p:cNvSpPr txBox="1">
            <a:spLocks noGrp="1"/>
          </p:cNvSpPr>
          <p:nvPr>
            <p:ph type="title" idx="4"/>
          </p:nvPr>
        </p:nvSpPr>
        <p:spPr>
          <a:xfrm>
            <a:off x="4603169" y="1893888"/>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387" name="Google Shape;387;p31">
            <a:extLst>
              <a:ext uri="{FF2B5EF4-FFF2-40B4-BE49-F238E27FC236}">
                <a16:creationId xmlns:a16="http://schemas.microsoft.com/office/drawing/2014/main" id="{9756321F-A250-6338-654B-9A5179B4FA83}"/>
              </a:ext>
            </a:extLst>
          </p:cNvPr>
          <p:cNvSpPr txBox="1">
            <a:spLocks noGrp="1"/>
          </p:cNvSpPr>
          <p:nvPr>
            <p:ph type="title" idx="6"/>
          </p:nvPr>
        </p:nvSpPr>
        <p:spPr>
          <a:xfrm>
            <a:off x="1113541" y="3500459"/>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389" name="Google Shape;389;p31">
            <a:extLst>
              <a:ext uri="{FF2B5EF4-FFF2-40B4-BE49-F238E27FC236}">
                <a16:creationId xmlns:a16="http://schemas.microsoft.com/office/drawing/2014/main" id="{62259177-CEE7-6D79-92CF-9907D39C1F25}"/>
              </a:ext>
            </a:extLst>
          </p:cNvPr>
          <p:cNvSpPr txBox="1">
            <a:spLocks noGrp="1"/>
          </p:cNvSpPr>
          <p:nvPr>
            <p:ph type="subTitle" idx="1"/>
          </p:nvPr>
        </p:nvSpPr>
        <p:spPr>
          <a:xfrm>
            <a:off x="1109748" y="2506173"/>
            <a:ext cx="2972195" cy="759715"/>
          </a:xfrm>
          <a:prstGeom prst="rect">
            <a:avLst/>
          </a:prstGeom>
        </p:spPr>
        <p:txBody>
          <a:bodyPr spcFirstLastPara="1" wrap="square" lIns="91425" tIns="91425" rIns="91425" bIns="91425" anchor="t" anchorCtr="0">
            <a:noAutofit/>
          </a:bodyPr>
          <a:lstStyle/>
          <a:p>
            <a:pPr marL="0" lvl="0" indent="0"/>
            <a:r>
              <a:rPr lang="en-US"/>
              <a:t>Phân tích khả năng xuất hiện của rủi ro</a:t>
            </a:r>
            <a:endParaRPr/>
          </a:p>
        </p:txBody>
      </p:sp>
      <p:sp>
        <p:nvSpPr>
          <p:cNvPr id="390" name="Google Shape;390;p31">
            <a:extLst>
              <a:ext uri="{FF2B5EF4-FFF2-40B4-BE49-F238E27FC236}">
                <a16:creationId xmlns:a16="http://schemas.microsoft.com/office/drawing/2014/main" id="{DF988935-FD8C-5030-2F4A-4BFBC60FBE34}"/>
              </a:ext>
            </a:extLst>
          </p:cNvPr>
          <p:cNvSpPr txBox="1">
            <a:spLocks noGrp="1"/>
          </p:cNvSpPr>
          <p:nvPr>
            <p:ph type="subTitle" idx="8"/>
          </p:nvPr>
        </p:nvSpPr>
        <p:spPr>
          <a:xfrm>
            <a:off x="4603168" y="2493938"/>
            <a:ext cx="3334203" cy="7597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Phân tích mức tác động của rủi ro</a:t>
            </a:r>
            <a:endParaRPr/>
          </a:p>
        </p:txBody>
      </p:sp>
      <p:sp>
        <p:nvSpPr>
          <p:cNvPr id="391" name="Google Shape;391;p31">
            <a:extLst>
              <a:ext uri="{FF2B5EF4-FFF2-40B4-BE49-F238E27FC236}">
                <a16:creationId xmlns:a16="http://schemas.microsoft.com/office/drawing/2014/main" id="{DE67F136-BC8A-8D22-DD99-BF49EC2A592A}"/>
              </a:ext>
            </a:extLst>
          </p:cNvPr>
          <p:cNvSpPr txBox="1">
            <a:spLocks noGrp="1"/>
          </p:cNvSpPr>
          <p:nvPr>
            <p:ph type="subTitle" idx="9"/>
          </p:nvPr>
        </p:nvSpPr>
        <p:spPr>
          <a:xfrm>
            <a:off x="1091975" y="4177643"/>
            <a:ext cx="2807306" cy="7597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Phân tích thời điểm xuất hiện rủi ro</a:t>
            </a:r>
          </a:p>
        </p:txBody>
      </p:sp>
      <p:sp>
        <p:nvSpPr>
          <p:cNvPr id="392" name="Google Shape;392;p31">
            <a:extLst>
              <a:ext uri="{FF2B5EF4-FFF2-40B4-BE49-F238E27FC236}">
                <a16:creationId xmlns:a16="http://schemas.microsoft.com/office/drawing/2014/main" id="{D8A52E6C-B233-E2CE-BCA4-081C0D386E46}"/>
              </a:ext>
            </a:extLst>
          </p:cNvPr>
          <p:cNvSpPr txBox="1">
            <a:spLocks noGrp="1"/>
          </p:cNvSpPr>
          <p:nvPr>
            <p:ph type="subTitle" idx="13"/>
          </p:nvPr>
        </p:nvSpPr>
        <p:spPr>
          <a:xfrm>
            <a:off x="4605077" y="4174723"/>
            <a:ext cx="3062060" cy="7597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Ước lượng và phân hạng các rủi ro</a:t>
            </a:r>
            <a:endParaRPr/>
          </a:p>
        </p:txBody>
      </p:sp>
      <p:grpSp>
        <p:nvGrpSpPr>
          <p:cNvPr id="395" name="Google Shape;395;p31">
            <a:extLst>
              <a:ext uri="{FF2B5EF4-FFF2-40B4-BE49-F238E27FC236}">
                <a16:creationId xmlns:a16="http://schemas.microsoft.com/office/drawing/2014/main" id="{B309794B-78C8-87A6-B9D1-0D0322ED18FE}"/>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633FAAA4-24E8-0B61-04CB-2284A8C5AD9E}"/>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A335695F-0FFA-5B8E-EE1C-0BA355D0B49B}"/>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00959199-EC4A-60BA-25C0-A5372E8D5BE7}"/>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EC7516D1-582F-7D79-546F-2904AF2E77DA}"/>
              </a:ext>
            </a:extLst>
          </p:cNvPr>
          <p:cNvSpPr txBox="1"/>
          <p:nvPr/>
        </p:nvSpPr>
        <p:spPr>
          <a:xfrm>
            <a:off x="720000" y="1164375"/>
            <a:ext cx="4474302" cy="489749"/>
          </a:xfrm>
          <a:prstGeom prst="rect">
            <a:avLst/>
          </a:prstGeom>
          <a:noFill/>
        </p:spPr>
        <p:txBody>
          <a:bodyPr wrap="none" rtlCol="0">
            <a:spAutoFit/>
          </a:bodyPr>
          <a:lstStyle/>
          <a:p>
            <a:pPr marL="285750" indent="-285750" algn="just">
              <a:lnSpc>
                <a:spcPct val="120000"/>
              </a:lnSpc>
              <a:spcAft>
                <a:spcPts val="1200"/>
              </a:spcAft>
              <a:buClr>
                <a:schemeClr val="dk1"/>
              </a:buClr>
              <a:buSzPct val="75000"/>
              <a:buFont typeface="Wingdings" panose="05000000000000000000" pitchFamily="2" charset="2"/>
              <a:buChar char="Ø"/>
            </a:pPr>
            <a:r>
              <a:rPr lang="en-US" sz="2400">
                <a:solidFill>
                  <a:schemeClr val="dk1"/>
                </a:solidFill>
                <a:latin typeface="Encode Sans"/>
                <a:sym typeface="Encode Sans"/>
              </a:rPr>
              <a:t>Có 4 kỹ thuật phân tích rủi ro:</a:t>
            </a:r>
          </a:p>
        </p:txBody>
      </p:sp>
    </p:spTree>
    <p:extLst>
      <p:ext uri="{BB962C8B-B14F-4D97-AF65-F5344CB8AC3E}">
        <p14:creationId xmlns:p14="http://schemas.microsoft.com/office/powerpoint/2010/main" val="2020235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8D550A9F-1F4C-BBDA-06A8-2E723EF12C51}"/>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0F699184-BA92-5814-30C3-0F08C9A31BFD}"/>
              </a:ext>
            </a:extLst>
          </p:cNvPr>
          <p:cNvSpPr txBox="1">
            <a:spLocks noGrp="1"/>
          </p:cNvSpPr>
          <p:nvPr>
            <p:ph type="title"/>
          </p:nvPr>
        </p:nvSpPr>
        <p:spPr>
          <a:xfrm>
            <a:off x="265586" y="466576"/>
            <a:ext cx="7670100" cy="9921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b="1"/>
              <a:t>Phân tích khả năng xuất hiện của rủi ro </a:t>
            </a:r>
            <a:r>
              <a:rPr lang="en-US" sz="2400" b="1">
                <a:solidFill>
                  <a:schemeClr val="tx2">
                    <a:lumMod val="75000"/>
                  </a:schemeClr>
                </a:solidFill>
              </a:rPr>
              <a:t>(Risk Probability)</a:t>
            </a:r>
            <a:endParaRPr sz="2400" b="1">
              <a:solidFill>
                <a:schemeClr val="tx2">
                  <a:lumMod val="75000"/>
                </a:schemeClr>
              </a:solidFill>
            </a:endParaRPr>
          </a:p>
        </p:txBody>
      </p:sp>
      <p:grpSp>
        <p:nvGrpSpPr>
          <p:cNvPr id="433" name="Google Shape;433;p34">
            <a:extLst>
              <a:ext uri="{FF2B5EF4-FFF2-40B4-BE49-F238E27FC236}">
                <a16:creationId xmlns:a16="http://schemas.microsoft.com/office/drawing/2014/main" id="{D7CC0A00-96A5-ABE6-FBD6-4593E481BAEC}"/>
              </a:ext>
            </a:extLst>
          </p:cNvPr>
          <p:cNvGrpSpPr/>
          <p:nvPr/>
        </p:nvGrpSpPr>
        <p:grpSpPr>
          <a:xfrm>
            <a:off x="7855168" y="753268"/>
            <a:ext cx="2224840" cy="418725"/>
            <a:chOff x="7318351" y="2997150"/>
            <a:chExt cx="2224840" cy="418725"/>
          </a:xfrm>
        </p:grpSpPr>
        <p:sp>
          <p:nvSpPr>
            <p:cNvPr id="434" name="Google Shape;434;p34">
              <a:extLst>
                <a:ext uri="{FF2B5EF4-FFF2-40B4-BE49-F238E27FC236}">
                  <a16:creationId xmlns:a16="http://schemas.microsoft.com/office/drawing/2014/main" id="{A5BB6ACA-DC3B-BAB7-5776-C32AB0CE63FF}"/>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06372FB1-FAE1-ED31-E99B-30344FCE547E}"/>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6C37D7CB-F083-4E76-9C48-0450EDF14B82}"/>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377;p31">
            <a:extLst>
              <a:ext uri="{FF2B5EF4-FFF2-40B4-BE49-F238E27FC236}">
                <a16:creationId xmlns:a16="http://schemas.microsoft.com/office/drawing/2014/main" id="{80FABC39-0A79-78E8-42B3-E821A1D3F991}"/>
              </a:ext>
            </a:extLst>
          </p:cNvPr>
          <p:cNvSpPr/>
          <p:nvPr/>
        </p:nvSpPr>
        <p:spPr>
          <a:xfrm>
            <a:off x="1776204" y="3635608"/>
            <a:ext cx="1540500" cy="621600"/>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 name="Google Shape;379;p31">
            <a:extLst>
              <a:ext uri="{FF2B5EF4-FFF2-40B4-BE49-F238E27FC236}">
                <a16:creationId xmlns:a16="http://schemas.microsoft.com/office/drawing/2014/main" id="{66097F6C-5DE5-8CF7-FD7C-6EEC609448A7}"/>
              </a:ext>
            </a:extLst>
          </p:cNvPr>
          <p:cNvSpPr/>
          <p:nvPr/>
        </p:nvSpPr>
        <p:spPr>
          <a:xfrm>
            <a:off x="5278307" y="2178843"/>
            <a:ext cx="1540500" cy="621600"/>
          </a:xfrm>
          <a:prstGeom prst="rect">
            <a:avLst/>
          </a:prstGeom>
          <a:solidFill>
            <a:schemeClr val="bg2">
              <a:lumMod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 name="Google Shape;380;p31">
            <a:extLst>
              <a:ext uri="{FF2B5EF4-FFF2-40B4-BE49-F238E27FC236}">
                <a16:creationId xmlns:a16="http://schemas.microsoft.com/office/drawing/2014/main" id="{24387D9B-C8D7-DDAD-BA75-91329D94FC3E}"/>
              </a:ext>
            </a:extLst>
          </p:cNvPr>
          <p:cNvSpPr/>
          <p:nvPr/>
        </p:nvSpPr>
        <p:spPr>
          <a:xfrm>
            <a:off x="5278307" y="3632688"/>
            <a:ext cx="1540500" cy="621600"/>
          </a:xfrm>
          <a:prstGeom prst="rect">
            <a:avLst/>
          </a:prstGeom>
          <a:solidFill>
            <a:schemeClr val="accent2">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 name="Google Shape;381;p31">
            <a:extLst>
              <a:ext uri="{FF2B5EF4-FFF2-40B4-BE49-F238E27FC236}">
                <a16:creationId xmlns:a16="http://schemas.microsoft.com/office/drawing/2014/main" id="{36AE6E32-51F5-ED34-86C7-AFC10AAC24A2}"/>
              </a:ext>
            </a:extLst>
          </p:cNvPr>
          <p:cNvSpPr/>
          <p:nvPr/>
        </p:nvSpPr>
        <p:spPr>
          <a:xfrm>
            <a:off x="1776204" y="2194537"/>
            <a:ext cx="1540500" cy="621600"/>
          </a:xfrm>
          <a:prstGeom prst="rect">
            <a:avLst/>
          </a:pr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 name="Google Shape;383;p31">
            <a:extLst>
              <a:ext uri="{FF2B5EF4-FFF2-40B4-BE49-F238E27FC236}">
                <a16:creationId xmlns:a16="http://schemas.microsoft.com/office/drawing/2014/main" id="{9B12640C-F070-8584-D9F3-C4ECF4DB9DBC}"/>
              </a:ext>
            </a:extLst>
          </p:cNvPr>
          <p:cNvSpPr txBox="1">
            <a:spLocks/>
          </p:cNvSpPr>
          <p:nvPr/>
        </p:nvSpPr>
        <p:spPr>
          <a:xfrm>
            <a:off x="1782979" y="2246662"/>
            <a:ext cx="1164900" cy="62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0" indent="0"/>
            <a:r>
              <a:rPr lang="en" sz="3000" b="1">
                <a:latin typeface="Unbounded"/>
                <a:sym typeface="Unbounded"/>
              </a:rPr>
              <a:t>01</a:t>
            </a:r>
          </a:p>
        </p:txBody>
      </p:sp>
      <p:sp>
        <p:nvSpPr>
          <p:cNvPr id="21" name="Google Shape;384;p31">
            <a:extLst>
              <a:ext uri="{FF2B5EF4-FFF2-40B4-BE49-F238E27FC236}">
                <a16:creationId xmlns:a16="http://schemas.microsoft.com/office/drawing/2014/main" id="{369E0058-08A5-0C76-85D1-DA88388A7478}"/>
              </a:ext>
            </a:extLst>
          </p:cNvPr>
          <p:cNvSpPr txBox="1">
            <a:spLocks/>
          </p:cNvSpPr>
          <p:nvPr/>
        </p:nvSpPr>
        <p:spPr>
          <a:xfrm>
            <a:off x="5285082" y="3684815"/>
            <a:ext cx="1164900" cy="62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Unbounded"/>
                <a:ea typeface="Unbounded"/>
                <a:cs typeface="Unbounded"/>
                <a:sym typeface="Unbounde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 sz="3000" b="1">
                <a:cs typeface="Arial"/>
                <a:sym typeface="Arial"/>
              </a:rPr>
              <a:t>04</a:t>
            </a:r>
          </a:p>
        </p:txBody>
      </p:sp>
      <p:sp>
        <p:nvSpPr>
          <p:cNvPr id="22" name="Google Shape;385;p31">
            <a:extLst>
              <a:ext uri="{FF2B5EF4-FFF2-40B4-BE49-F238E27FC236}">
                <a16:creationId xmlns:a16="http://schemas.microsoft.com/office/drawing/2014/main" id="{6A870F29-5661-134B-AFEA-08884E587D36}"/>
              </a:ext>
            </a:extLst>
          </p:cNvPr>
          <p:cNvSpPr txBox="1">
            <a:spLocks/>
          </p:cNvSpPr>
          <p:nvPr/>
        </p:nvSpPr>
        <p:spPr>
          <a:xfrm>
            <a:off x="5276399" y="2234427"/>
            <a:ext cx="1164900" cy="62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Unbounded"/>
                <a:ea typeface="Unbounded"/>
                <a:cs typeface="Unbounded"/>
                <a:sym typeface="Unbounde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 sz="3000" b="1">
                <a:sym typeface="Encode Sans"/>
              </a:rPr>
              <a:t>02</a:t>
            </a:r>
          </a:p>
        </p:txBody>
      </p:sp>
      <p:sp>
        <p:nvSpPr>
          <p:cNvPr id="23" name="Google Shape;387;p31">
            <a:extLst>
              <a:ext uri="{FF2B5EF4-FFF2-40B4-BE49-F238E27FC236}">
                <a16:creationId xmlns:a16="http://schemas.microsoft.com/office/drawing/2014/main" id="{5748D9E8-C2EC-2892-549D-95535D519291}"/>
              </a:ext>
            </a:extLst>
          </p:cNvPr>
          <p:cNvSpPr txBox="1">
            <a:spLocks/>
          </p:cNvSpPr>
          <p:nvPr/>
        </p:nvSpPr>
        <p:spPr>
          <a:xfrm>
            <a:off x="1786771" y="3691192"/>
            <a:ext cx="1164900" cy="62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3000" b="1">
                <a:solidFill>
                  <a:schemeClr val="dk1"/>
                </a:solidFill>
                <a:latin typeface="Unbounded"/>
                <a:sym typeface="Unbounded"/>
              </a:rPr>
              <a:t>03</a:t>
            </a:r>
          </a:p>
        </p:txBody>
      </p:sp>
      <p:sp>
        <p:nvSpPr>
          <p:cNvPr id="24" name="Google Shape;389;p31">
            <a:extLst>
              <a:ext uri="{FF2B5EF4-FFF2-40B4-BE49-F238E27FC236}">
                <a16:creationId xmlns:a16="http://schemas.microsoft.com/office/drawing/2014/main" id="{96DA8BF2-4D59-EBB2-E2A7-5539341C9CB5}"/>
              </a:ext>
            </a:extLst>
          </p:cNvPr>
          <p:cNvSpPr txBox="1">
            <a:spLocks noGrp="1"/>
          </p:cNvSpPr>
          <p:nvPr>
            <p:ph type="subTitle" idx="1"/>
          </p:nvPr>
        </p:nvSpPr>
        <p:spPr>
          <a:xfrm>
            <a:off x="1782978" y="2846713"/>
            <a:ext cx="2397137" cy="499282"/>
          </a:xfrm>
          <a:prstGeom prst="rect">
            <a:avLst/>
          </a:prstGeom>
        </p:spPr>
        <p:txBody>
          <a:bodyPr spcFirstLastPara="1" wrap="square" lIns="91425" tIns="91425" rIns="91425" bIns="91425" anchor="t" anchorCtr="0">
            <a:noAutofit/>
          </a:bodyPr>
          <a:lstStyle/>
          <a:p>
            <a:pPr marL="0" indent="0">
              <a:buSzPts val="2400"/>
            </a:pPr>
            <a:r>
              <a:rPr lang="en-US" sz="1800">
                <a:latin typeface="Unbounded"/>
                <a:sym typeface="Unbounded"/>
              </a:rPr>
              <a:t>Thường xuyên</a:t>
            </a:r>
            <a:endParaRPr sz="1800">
              <a:latin typeface="Unbounded"/>
              <a:sym typeface="Unbounded"/>
            </a:endParaRPr>
          </a:p>
        </p:txBody>
      </p:sp>
      <p:sp>
        <p:nvSpPr>
          <p:cNvPr id="25" name="Google Shape;390;p31">
            <a:extLst>
              <a:ext uri="{FF2B5EF4-FFF2-40B4-BE49-F238E27FC236}">
                <a16:creationId xmlns:a16="http://schemas.microsoft.com/office/drawing/2014/main" id="{357E8875-8534-3A38-56BA-4FE26B0C1734}"/>
              </a:ext>
            </a:extLst>
          </p:cNvPr>
          <p:cNvSpPr txBox="1">
            <a:spLocks/>
          </p:cNvSpPr>
          <p:nvPr/>
        </p:nvSpPr>
        <p:spPr>
          <a:xfrm>
            <a:off x="5276399" y="2834477"/>
            <a:ext cx="2082346" cy="49928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sym typeface="Encode Sans"/>
              </a:rPr>
              <a:t>Hay xảy ra</a:t>
            </a:r>
          </a:p>
        </p:txBody>
      </p:sp>
      <p:sp>
        <p:nvSpPr>
          <p:cNvPr id="26" name="Google Shape;391;p31">
            <a:extLst>
              <a:ext uri="{FF2B5EF4-FFF2-40B4-BE49-F238E27FC236}">
                <a16:creationId xmlns:a16="http://schemas.microsoft.com/office/drawing/2014/main" id="{6A5E23A6-5C77-3D14-6CA2-B43638CA03C9}"/>
              </a:ext>
            </a:extLst>
          </p:cNvPr>
          <p:cNvSpPr txBox="1">
            <a:spLocks/>
          </p:cNvSpPr>
          <p:nvPr/>
        </p:nvSpPr>
        <p:spPr>
          <a:xfrm>
            <a:off x="1765205" y="4368376"/>
            <a:ext cx="2142767" cy="49928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rPr>
              <a:t>Đôi khi</a:t>
            </a:r>
          </a:p>
        </p:txBody>
      </p:sp>
      <p:sp>
        <p:nvSpPr>
          <p:cNvPr id="27" name="Google Shape;392;p31">
            <a:extLst>
              <a:ext uri="{FF2B5EF4-FFF2-40B4-BE49-F238E27FC236}">
                <a16:creationId xmlns:a16="http://schemas.microsoft.com/office/drawing/2014/main" id="{1057C574-CE7D-20A6-4A59-2C45746FE919}"/>
              </a:ext>
            </a:extLst>
          </p:cNvPr>
          <p:cNvSpPr txBox="1">
            <a:spLocks/>
          </p:cNvSpPr>
          <p:nvPr/>
        </p:nvSpPr>
        <p:spPr>
          <a:xfrm>
            <a:off x="5278307" y="4365456"/>
            <a:ext cx="2080438" cy="50220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rPr>
              <a:t>Hiếm khi</a:t>
            </a:r>
            <a:endParaRPr lang="vi-VN" sz="1800">
              <a:solidFill>
                <a:schemeClr val="dk1"/>
              </a:solidFill>
              <a:latin typeface="Unbounded"/>
            </a:endParaRPr>
          </a:p>
        </p:txBody>
      </p:sp>
      <p:sp>
        <p:nvSpPr>
          <p:cNvPr id="28" name="TextBox 27">
            <a:extLst>
              <a:ext uri="{FF2B5EF4-FFF2-40B4-BE49-F238E27FC236}">
                <a16:creationId xmlns:a16="http://schemas.microsoft.com/office/drawing/2014/main" id="{D9791A35-AC70-60B0-AEA7-5A0DED4EBDBD}"/>
              </a:ext>
            </a:extLst>
          </p:cNvPr>
          <p:cNvSpPr txBox="1"/>
          <p:nvPr/>
        </p:nvSpPr>
        <p:spPr>
          <a:xfrm>
            <a:off x="265586" y="1455304"/>
            <a:ext cx="5944256" cy="423514"/>
          </a:xfrm>
          <a:prstGeom prst="rect">
            <a:avLst/>
          </a:prstGeom>
          <a:noFill/>
        </p:spPr>
        <p:txBody>
          <a:bodyPr wrap="none" rtlCol="0">
            <a:spAutoFit/>
          </a:bodyPr>
          <a:lstStyle/>
          <a:p>
            <a:pPr marL="285750" indent="-285750" algn="just">
              <a:lnSpc>
                <a:spcPct val="120000"/>
              </a:lnSpc>
              <a:spcAft>
                <a:spcPts val="1200"/>
              </a:spcAft>
              <a:buClr>
                <a:schemeClr val="dk1"/>
              </a:buClr>
              <a:buSzPct val="75000"/>
              <a:buFont typeface="Wingdings" panose="05000000000000000000" pitchFamily="2" charset="2"/>
              <a:buChar char="Ø"/>
            </a:pPr>
            <a:r>
              <a:rPr lang="en-US" sz="2000">
                <a:solidFill>
                  <a:schemeClr val="dk1"/>
                </a:solidFill>
                <a:latin typeface="Encode Sans"/>
                <a:sym typeface="Encode Sans"/>
              </a:rPr>
              <a:t>4 mức độ đo lường khả năng xuất hiện của rủi ro:</a:t>
            </a:r>
          </a:p>
        </p:txBody>
      </p:sp>
    </p:spTree>
    <p:extLst>
      <p:ext uri="{BB962C8B-B14F-4D97-AF65-F5344CB8AC3E}">
        <p14:creationId xmlns:p14="http://schemas.microsoft.com/office/powerpoint/2010/main" val="27092343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C0DE9D4F-1EBE-CF1E-4A09-9B39A09ED5B9}"/>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79BEA744-44C2-E9CF-53CA-2B7BE6D97E00}"/>
              </a:ext>
            </a:extLst>
          </p:cNvPr>
          <p:cNvSpPr txBox="1">
            <a:spLocks noGrp="1"/>
          </p:cNvSpPr>
          <p:nvPr>
            <p:ph type="title"/>
          </p:nvPr>
        </p:nvSpPr>
        <p:spPr>
          <a:xfrm>
            <a:off x="265586" y="466576"/>
            <a:ext cx="7495928" cy="992110"/>
          </a:xfrm>
          <a:prstGeom prst="rect">
            <a:avLst/>
          </a:prstGeom>
        </p:spPr>
        <p:txBody>
          <a:bodyPr spcFirstLastPara="1" wrap="square" lIns="91425" tIns="91425" rIns="91425" bIns="91425" anchor="t" anchorCtr="0">
            <a:noAutofit/>
          </a:bodyPr>
          <a:lstStyle/>
          <a:p>
            <a:pPr lvl="0"/>
            <a:r>
              <a:rPr lang="en-US" sz="2400" b="1"/>
              <a:t>Phân tích mức tác động của rủi ro </a:t>
            </a:r>
            <a:r>
              <a:rPr lang="en-US" sz="2400" b="1">
                <a:solidFill>
                  <a:schemeClr val="tx2">
                    <a:lumMod val="75000"/>
                  </a:schemeClr>
                </a:solidFill>
              </a:rPr>
              <a:t>(Risk impact)</a:t>
            </a:r>
            <a:endParaRPr sz="2000" b="1">
              <a:solidFill>
                <a:schemeClr val="tx2">
                  <a:lumMod val="75000"/>
                </a:schemeClr>
              </a:solidFill>
            </a:endParaRPr>
          </a:p>
        </p:txBody>
      </p:sp>
      <p:grpSp>
        <p:nvGrpSpPr>
          <p:cNvPr id="433" name="Google Shape;433;p34">
            <a:extLst>
              <a:ext uri="{FF2B5EF4-FFF2-40B4-BE49-F238E27FC236}">
                <a16:creationId xmlns:a16="http://schemas.microsoft.com/office/drawing/2014/main" id="{728BAA33-1B3D-6DC0-C430-4477995DCAC9}"/>
              </a:ext>
            </a:extLst>
          </p:cNvPr>
          <p:cNvGrpSpPr/>
          <p:nvPr/>
        </p:nvGrpSpPr>
        <p:grpSpPr>
          <a:xfrm>
            <a:off x="7855168" y="753268"/>
            <a:ext cx="2224840" cy="418725"/>
            <a:chOff x="7318351" y="2997150"/>
            <a:chExt cx="2224840" cy="418725"/>
          </a:xfrm>
        </p:grpSpPr>
        <p:sp>
          <p:nvSpPr>
            <p:cNvPr id="434" name="Google Shape;434;p34">
              <a:extLst>
                <a:ext uri="{FF2B5EF4-FFF2-40B4-BE49-F238E27FC236}">
                  <a16:creationId xmlns:a16="http://schemas.microsoft.com/office/drawing/2014/main" id="{541FAA42-B92D-05E3-14FD-C7B7ACB189E9}"/>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11DB3D54-C408-B5AA-B307-6D7939AFB1C3}"/>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B3725C77-1660-2E03-E594-A2FBAA60FD74}"/>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377;p31">
            <a:extLst>
              <a:ext uri="{FF2B5EF4-FFF2-40B4-BE49-F238E27FC236}">
                <a16:creationId xmlns:a16="http://schemas.microsoft.com/office/drawing/2014/main" id="{17642F3B-4204-472F-279C-A26594ACA076}"/>
              </a:ext>
            </a:extLst>
          </p:cNvPr>
          <p:cNvSpPr/>
          <p:nvPr/>
        </p:nvSpPr>
        <p:spPr>
          <a:xfrm>
            <a:off x="1776204" y="3635608"/>
            <a:ext cx="1540500" cy="621600"/>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 name="Google Shape;379;p31">
            <a:extLst>
              <a:ext uri="{FF2B5EF4-FFF2-40B4-BE49-F238E27FC236}">
                <a16:creationId xmlns:a16="http://schemas.microsoft.com/office/drawing/2014/main" id="{CE6974FE-2292-50E4-1443-592B40B48B7F}"/>
              </a:ext>
            </a:extLst>
          </p:cNvPr>
          <p:cNvSpPr/>
          <p:nvPr/>
        </p:nvSpPr>
        <p:spPr>
          <a:xfrm>
            <a:off x="5278307" y="2178843"/>
            <a:ext cx="1540500" cy="621600"/>
          </a:xfrm>
          <a:prstGeom prst="rect">
            <a:avLst/>
          </a:prstGeom>
          <a:solidFill>
            <a:schemeClr val="bg2">
              <a:lumMod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 name="Google Shape;380;p31">
            <a:extLst>
              <a:ext uri="{FF2B5EF4-FFF2-40B4-BE49-F238E27FC236}">
                <a16:creationId xmlns:a16="http://schemas.microsoft.com/office/drawing/2014/main" id="{2CD7F9A2-8527-9B81-79E7-C8F3FB9A69FA}"/>
              </a:ext>
            </a:extLst>
          </p:cNvPr>
          <p:cNvSpPr/>
          <p:nvPr/>
        </p:nvSpPr>
        <p:spPr>
          <a:xfrm>
            <a:off x="5278307" y="3632688"/>
            <a:ext cx="1540500" cy="621600"/>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 name="Google Shape;381;p31">
            <a:extLst>
              <a:ext uri="{FF2B5EF4-FFF2-40B4-BE49-F238E27FC236}">
                <a16:creationId xmlns:a16="http://schemas.microsoft.com/office/drawing/2014/main" id="{8412E201-F861-0998-8B6D-3B0262D42B0C}"/>
              </a:ext>
            </a:extLst>
          </p:cNvPr>
          <p:cNvSpPr/>
          <p:nvPr/>
        </p:nvSpPr>
        <p:spPr>
          <a:xfrm>
            <a:off x="1776204" y="2194537"/>
            <a:ext cx="1540500" cy="621600"/>
          </a:xfrm>
          <a:prstGeom prst="rect">
            <a:avLst/>
          </a:pr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 name="Google Shape;383;p31">
            <a:extLst>
              <a:ext uri="{FF2B5EF4-FFF2-40B4-BE49-F238E27FC236}">
                <a16:creationId xmlns:a16="http://schemas.microsoft.com/office/drawing/2014/main" id="{35291B17-AA8A-E89F-8CFF-35CB7C67EA2E}"/>
              </a:ext>
            </a:extLst>
          </p:cNvPr>
          <p:cNvSpPr txBox="1">
            <a:spLocks/>
          </p:cNvSpPr>
          <p:nvPr/>
        </p:nvSpPr>
        <p:spPr>
          <a:xfrm>
            <a:off x="1782979" y="2246662"/>
            <a:ext cx="1164900" cy="62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0" indent="0"/>
            <a:r>
              <a:rPr lang="en" sz="3000" b="1">
                <a:latin typeface="Unbounded"/>
                <a:sym typeface="Unbounded"/>
              </a:rPr>
              <a:t>01</a:t>
            </a:r>
          </a:p>
        </p:txBody>
      </p:sp>
      <p:sp>
        <p:nvSpPr>
          <p:cNvPr id="21" name="Google Shape;384;p31">
            <a:extLst>
              <a:ext uri="{FF2B5EF4-FFF2-40B4-BE49-F238E27FC236}">
                <a16:creationId xmlns:a16="http://schemas.microsoft.com/office/drawing/2014/main" id="{AB3F8936-8EBC-1430-BC30-2E83305CF575}"/>
              </a:ext>
            </a:extLst>
          </p:cNvPr>
          <p:cNvSpPr txBox="1">
            <a:spLocks/>
          </p:cNvSpPr>
          <p:nvPr/>
        </p:nvSpPr>
        <p:spPr>
          <a:xfrm>
            <a:off x="5285082" y="3684815"/>
            <a:ext cx="1164900" cy="62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Unbounded"/>
                <a:ea typeface="Unbounded"/>
                <a:cs typeface="Unbounded"/>
                <a:sym typeface="Unbounde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 sz="3000" b="1">
                <a:cs typeface="Arial"/>
                <a:sym typeface="Arial"/>
              </a:rPr>
              <a:t>04</a:t>
            </a:r>
          </a:p>
        </p:txBody>
      </p:sp>
      <p:sp>
        <p:nvSpPr>
          <p:cNvPr id="22" name="Google Shape;385;p31">
            <a:extLst>
              <a:ext uri="{FF2B5EF4-FFF2-40B4-BE49-F238E27FC236}">
                <a16:creationId xmlns:a16="http://schemas.microsoft.com/office/drawing/2014/main" id="{D301FEBE-D4DE-AE77-18E9-E2C66B524019}"/>
              </a:ext>
            </a:extLst>
          </p:cNvPr>
          <p:cNvSpPr txBox="1">
            <a:spLocks/>
          </p:cNvSpPr>
          <p:nvPr/>
        </p:nvSpPr>
        <p:spPr>
          <a:xfrm>
            <a:off x="5276399" y="2234427"/>
            <a:ext cx="1164900" cy="62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Unbounded"/>
                <a:ea typeface="Unbounded"/>
                <a:cs typeface="Unbounded"/>
                <a:sym typeface="Unbounde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 sz="3000" b="1">
                <a:sym typeface="Encode Sans"/>
              </a:rPr>
              <a:t>02</a:t>
            </a:r>
          </a:p>
        </p:txBody>
      </p:sp>
      <p:sp>
        <p:nvSpPr>
          <p:cNvPr id="23" name="Google Shape;387;p31">
            <a:extLst>
              <a:ext uri="{FF2B5EF4-FFF2-40B4-BE49-F238E27FC236}">
                <a16:creationId xmlns:a16="http://schemas.microsoft.com/office/drawing/2014/main" id="{4E2DAB04-95AF-50EB-BA2A-47ED932214DA}"/>
              </a:ext>
            </a:extLst>
          </p:cNvPr>
          <p:cNvSpPr txBox="1">
            <a:spLocks/>
          </p:cNvSpPr>
          <p:nvPr/>
        </p:nvSpPr>
        <p:spPr>
          <a:xfrm>
            <a:off x="1786771" y="3691192"/>
            <a:ext cx="1164900" cy="62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3000" b="1">
                <a:solidFill>
                  <a:schemeClr val="dk1"/>
                </a:solidFill>
                <a:latin typeface="Unbounded"/>
                <a:sym typeface="Unbounded"/>
              </a:rPr>
              <a:t>03</a:t>
            </a:r>
          </a:p>
        </p:txBody>
      </p:sp>
      <p:sp>
        <p:nvSpPr>
          <p:cNvPr id="24" name="Google Shape;389;p31">
            <a:extLst>
              <a:ext uri="{FF2B5EF4-FFF2-40B4-BE49-F238E27FC236}">
                <a16:creationId xmlns:a16="http://schemas.microsoft.com/office/drawing/2014/main" id="{4E9FDB34-4B12-4E65-18B5-1F1F8DE1B93C}"/>
              </a:ext>
            </a:extLst>
          </p:cNvPr>
          <p:cNvSpPr txBox="1">
            <a:spLocks noGrp="1"/>
          </p:cNvSpPr>
          <p:nvPr>
            <p:ph type="subTitle" idx="1"/>
          </p:nvPr>
        </p:nvSpPr>
        <p:spPr>
          <a:xfrm>
            <a:off x="1782978" y="2846713"/>
            <a:ext cx="2397137" cy="499282"/>
          </a:xfrm>
          <a:prstGeom prst="rect">
            <a:avLst/>
          </a:prstGeom>
        </p:spPr>
        <p:txBody>
          <a:bodyPr spcFirstLastPara="1" wrap="square" lIns="91425" tIns="91425" rIns="91425" bIns="91425" anchor="t" anchorCtr="0">
            <a:noAutofit/>
          </a:bodyPr>
          <a:lstStyle/>
          <a:p>
            <a:pPr marL="0" indent="0">
              <a:buSzPts val="2400"/>
            </a:pPr>
            <a:r>
              <a:rPr lang="en-US" sz="1800">
                <a:latin typeface="Unbounded"/>
                <a:sym typeface="Unbounded"/>
              </a:rPr>
              <a:t>Trầm trọng</a:t>
            </a:r>
            <a:endParaRPr sz="1800">
              <a:latin typeface="Unbounded"/>
              <a:sym typeface="Unbounded"/>
            </a:endParaRPr>
          </a:p>
        </p:txBody>
      </p:sp>
      <p:sp>
        <p:nvSpPr>
          <p:cNvPr id="25" name="Google Shape;390;p31">
            <a:extLst>
              <a:ext uri="{FF2B5EF4-FFF2-40B4-BE49-F238E27FC236}">
                <a16:creationId xmlns:a16="http://schemas.microsoft.com/office/drawing/2014/main" id="{B6F67BD4-708D-BA24-5733-13F9DB6E3180}"/>
              </a:ext>
            </a:extLst>
          </p:cNvPr>
          <p:cNvSpPr txBox="1">
            <a:spLocks/>
          </p:cNvSpPr>
          <p:nvPr/>
        </p:nvSpPr>
        <p:spPr>
          <a:xfrm>
            <a:off x="5276399" y="2834477"/>
            <a:ext cx="2082346" cy="49928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sym typeface="Encode Sans"/>
              </a:rPr>
              <a:t>Quan trọng</a:t>
            </a:r>
          </a:p>
        </p:txBody>
      </p:sp>
      <p:sp>
        <p:nvSpPr>
          <p:cNvPr id="26" name="Google Shape;391;p31">
            <a:extLst>
              <a:ext uri="{FF2B5EF4-FFF2-40B4-BE49-F238E27FC236}">
                <a16:creationId xmlns:a16="http://schemas.microsoft.com/office/drawing/2014/main" id="{F0AAB8CF-EFC1-A28D-8481-3DF259DDEBAE}"/>
              </a:ext>
            </a:extLst>
          </p:cNvPr>
          <p:cNvSpPr txBox="1">
            <a:spLocks/>
          </p:cNvSpPr>
          <p:nvPr/>
        </p:nvSpPr>
        <p:spPr>
          <a:xfrm>
            <a:off x="1765205" y="4368376"/>
            <a:ext cx="2142767" cy="49928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rPr>
              <a:t>Vừa phải</a:t>
            </a:r>
          </a:p>
        </p:txBody>
      </p:sp>
      <p:sp>
        <p:nvSpPr>
          <p:cNvPr id="27" name="Google Shape;392;p31">
            <a:extLst>
              <a:ext uri="{FF2B5EF4-FFF2-40B4-BE49-F238E27FC236}">
                <a16:creationId xmlns:a16="http://schemas.microsoft.com/office/drawing/2014/main" id="{A4126CE4-67F7-4973-75A3-A56779EF456C}"/>
              </a:ext>
            </a:extLst>
          </p:cNvPr>
          <p:cNvSpPr txBox="1">
            <a:spLocks/>
          </p:cNvSpPr>
          <p:nvPr/>
        </p:nvSpPr>
        <p:spPr>
          <a:xfrm>
            <a:off x="5278307" y="4365456"/>
            <a:ext cx="2374350" cy="50220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rPr>
              <a:t>Không đáng kể</a:t>
            </a:r>
            <a:endParaRPr lang="vi-VN" sz="1800">
              <a:solidFill>
                <a:schemeClr val="dk1"/>
              </a:solidFill>
              <a:latin typeface="Unbounded"/>
            </a:endParaRPr>
          </a:p>
        </p:txBody>
      </p:sp>
      <p:sp>
        <p:nvSpPr>
          <p:cNvPr id="28" name="TextBox 27">
            <a:extLst>
              <a:ext uri="{FF2B5EF4-FFF2-40B4-BE49-F238E27FC236}">
                <a16:creationId xmlns:a16="http://schemas.microsoft.com/office/drawing/2014/main" id="{6E1ACFED-3ACB-502D-70EF-2177E75E6B75}"/>
              </a:ext>
            </a:extLst>
          </p:cNvPr>
          <p:cNvSpPr txBox="1"/>
          <p:nvPr/>
        </p:nvSpPr>
        <p:spPr>
          <a:xfrm>
            <a:off x="324408" y="1409802"/>
            <a:ext cx="5314275" cy="423514"/>
          </a:xfrm>
          <a:prstGeom prst="rect">
            <a:avLst/>
          </a:prstGeom>
          <a:noFill/>
        </p:spPr>
        <p:txBody>
          <a:bodyPr wrap="none" rtlCol="0">
            <a:spAutoFit/>
          </a:bodyPr>
          <a:lstStyle/>
          <a:p>
            <a:pPr marL="285750" indent="-285750">
              <a:lnSpc>
                <a:spcPct val="120000"/>
              </a:lnSpc>
              <a:spcAft>
                <a:spcPts val="1200"/>
              </a:spcAft>
              <a:buClr>
                <a:schemeClr val="dk1"/>
              </a:buClr>
              <a:buSzPct val="75000"/>
              <a:buFont typeface="Wingdings" panose="05000000000000000000" pitchFamily="2" charset="2"/>
              <a:buChar char="Ø"/>
            </a:pPr>
            <a:r>
              <a:rPr lang="en-US" sz="2000">
                <a:solidFill>
                  <a:schemeClr val="dk1"/>
                </a:solidFill>
                <a:latin typeface="Encode Sans"/>
                <a:sym typeface="Encode Sans"/>
              </a:rPr>
              <a:t>4 mức độ đo lường mức tác động của rủi ro:</a:t>
            </a:r>
          </a:p>
        </p:txBody>
      </p:sp>
    </p:spTree>
    <p:extLst>
      <p:ext uri="{BB962C8B-B14F-4D97-AF65-F5344CB8AC3E}">
        <p14:creationId xmlns:p14="http://schemas.microsoft.com/office/powerpoint/2010/main" val="26119537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EC3150CA-BB7B-50BD-ADCA-7CADD9C826A5}"/>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98FA218B-66E6-8017-2271-7F37C21458FB}"/>
              </a:ext>
            </a:extLst>
          </p:cNvPr>
          <p:cNvSpPr txBox="1">
            <a:spLocks noGrp="1"/>
          </p:cNvSpPr>
          <p:nvPr>
            <p:ph type="title"/>
          </p:nvPr>
        </p:nvSpPr>
        <p:spPr>
          <a:xfrm>
            <a:off x="265586" y="466576"/>
            <a:ext cx="7387071" cy="992110"/>
          </a:xfrm>
          <a:prstGeom prst="rect">
            <a:avLst/>
          </a:prstGeom>
        </p:spPr>
        <p:txBody>
          <a:bodyPr spcFirstLastPara="1" wrap="square" lIns="91425" tIns="91425" rIns="91425" bIns="91425" anchor="t" anchorCtr="0">
            <a:noAutofit/>
          </a:bodyPr>
          <a:lstStyle/>
          <a:p>
            <a:pPr lvl="0"/>
            <a:r>
              <a:rPr lang="en-US" sz="2400" b="1"/>
              <a:t>Phân tích thời điểm xuất hiện rủi ro </a:t>
            </a:r>
            <a:r>
              <a:rPr lang="en-US" sz="2400" b="1">
                <a:solidFill>
                  <a:schemeClr val="tx2">
                    <a:lumMod val="75000"/>
                  </a:schemeClr>
                </a:solidFill>
              </a:rPr>
              <a:t>(Time Frame)</a:t>
            </a:r>
            <a:endParaRPr sz="2000" b="1">
              <a:solidFill>
                <a:schemeClr val="tx2">
                  <a:lumMod val="75000"/>
                </a:schemeClr>
              </a:solidFill>
            </a:endParaRPr>
          </a:p>
        </p:txBody>
      </p:sp>
      <p:grpSp>
        <p:nvGrpSpPr>
          <p:cNvPr id="433" name="Google Shape;433;p34">
            <a:extLst>
              <a:ext uri="{FF2B5EF4-FFF2-40B4-BE49-F238E27FC236}">
                <a16:creationId xmlns:a16="http://schemas.microsoft.com/office/drawing/2014/main" id="{8DA78F85-21CD-7585-1A3A-67F887ED2F28}"/>
              </a:ext>
            </a:extLst>
          </p:cNvPr>
          <p:cNvGrpSpPr/>
          <p:nvPr/>
        </p:nvGrpSpPr>
        <p:grpSpPr>
          <a:xfrm>
            <a:off x="7855168" y="753268"/>
            <a:ext cx="2224840" cy="418725"/>
            <a:chOff x="7318351" y="2997150"/>
            <a:chExt cx="2224840" cy="418725"/>
          </a:xfrm>
        </p:grpSpPr>
        <p:sp>
          <p:nvSpPr>
            <p:cNvPr id="434" name="Google Shape;434;p34">
              <a:extLst>
                <a:ext uri="{FF2B5EF4-FFF2-40B4-BE49-F238E27FC236}">
                  <a16:creationId xmlns:a16="http://schemas.microsoft.com/office/drawing/2014/main" id="{8D96D4E7-FD91-337B-6C75-FA161E6468EE}"/>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098FC5BB-5013-771D-0A59-2F9049162CAC}"/>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33DF1A80-9256-D9A2-3918-33A30CD74E7B}"/>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377;p31">
            <a:extLst>
              <a:ext uri="{FF2B5EF4-FFF2-40B4-BE49-F238E27FC236}">
                <a16:creationId xmlns:a16="http://schemas.microsoft.com/office/drawing/2014/main" id="{76F100C9-533C-BA16-B4BC-822CD69E6AB4}"/>
              </a:ext>
            </a:extLst>
          </p:cNvPr>
          <p:cNvSpPr/>
          <p:nvPr/>
        </p:nvSpPr>
        <p:spPr>
          <a:xfrm>
            <a:off x="1776204" y="3635608"/>
            <a:ext cx="1540500" cy="621600"/>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 name="Google Shape;379;p31">
            <a:extLst>
              <a:ext uri="{FF2B5EF4-FFF2-40B4-BE49-F238E27FC236}">
                <a16:creationId xmlns:a16="http://schemas.microsoft.com/office/drawing/2014/main" id="{ACCCD04F-F0A2-3E79-259D-25B7C8E95517}"/>
              </a:ext>
            </a:extLst>
          </p:cNvPr>
          <p:cNvSpPr/>
          <p:nvPr/>
        </p:nvSpPr>
        <p:spPr>
          <a:xfrm>
            <a:off x="5278307" y="2178843"/>
            <a:ext cx="1540500" cy="621600"/>
          </a:xfrm>
          <a:prstGeom prst="rect">
            <a:avLst/>
          </a:prstGeom>
          <a:solidFill>
            <a:schemeClr val="bg2">
              <a:lumMod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 name="Google Shape;380;p31">
            <a:extLst>
              <a:ext uri="{FF2B5EF4-FFF2-40B4-BE49-F238E27FC236}">
                <a16:creationId xmlns:a16="http://schemas.microsoft.com/office/drawing/2014/main" id="{9F264727-B5F9-96CE-03E2-132227A10818}"/>
              </a:ext>
            </a:extLst>
          </p:cNvPr>
          <p:cNvSpPr/>
          <p:nvPr/>
        </p:nvSpPr>
        <p:spPr>
          <a:xfrm>
            <a:off x="5278307" y="3632688"/>
            <a:ext cx="1540500" cy="621600"/>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 name="Google Shape;381;p31">
            <a:extLst>
              <a:ext uri="{FF2B5EF4-FFF2-40B4-BE49-F238E27FC236}">
                <a16:creationId xmlns:a16="http://schemas.microsoft.com/office/drawing/2014/main" id="{8D4ED290-9EFD-FB45-0A55-95164FF6C9C5}"/>
              </a:ext>
            </a:extLst>
          </p:cNvPr>
          <p:cNvSpPr/>
          <p:nvPr/>
        </p:nvSpPr>
        <p:spPr>
          <a:xfrm>
            <a:off x="1776204" y="2194537"/>
            <a:ext cx="1540500" cy="621600"/>
          </a:xfrm>
          <a:prstGeom prst="rect">
            <a:avLst/>
          </a:pr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 name="Google Shape;383;p31">
            <a:extLst>
              <a:ext uri="{FF2B5EF4-FFF2-40B4-BE49-F238E27FC236}">
                <a16:creationId xmlns:a16="http://schemas.microsoft.com/office/drawing/2014/main" id="{578DEB4D-72CA-9465-15D1-BFE9FE7E1C4B}"/>
              </a:ext>
            </a:extLst>
          </p:cNvPr>
          <p:cNvSpPr txBox="1">
            <a:spLocks/>
          </p:cNvSpPr>
          <p:nvPr/>
        </p:nvSpPr>
        <p:spPr>
          <a:xfrm>
            <a:off x="1782979" y="2246662"/>
            <a:ext cx="1164900" cy="62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1pPr>
            <a:lvl2pPr marL="914400" marR="0" lvl="1"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2pPr>
            <a:lvl3pPr marL="1371600" marR="0" lvl="2"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3pPr>
            <a:lvl4pPr marL="1828800" marR="0" lvl="3"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4pPr>
            <a:lvl5pPr marL="2286000" marR="0" lvl="4"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5pPr>
            <a:lvl6pPr marL="2743200" marR="0" lvl="5"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6pPr>
            <a:lvl7pPr marL="3200400" marR="0" lvl="6"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7pPr>
            <a:lvl8pPr marL="3657600" marR="0" lvl="7"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8pPr>
            <a:lvl9pPr marL="4114800" marR="0" lvl="8" indent="-304800" algn="ctr" rtl="0">
              <a:lnSpc>
                <a:spcPct val="100000"/>
              </a:lnSpc>
              <a:spcBef>
                <a:spcPts val="0"/>
              </a:spcBef>
              <a:spcAft>
                <a:spcPts val="0"/>
              </a:spcAft>
              <a:buClr>
                <a:schemeClr val="dk1"/>
              </a:buClr>
              <a:buSzPts val="1200"/>
              <a:buFont typeface="Encode Sans"/>
              <a:buNone/>
              <a:defRPr sz="1200" b="0" i="0" u="none" strike="noStrike" cap="none">
                <a:solidFill>
                  <a:schemeClr val="dk1"/>
                </a:solidFill>
                <a:latin typeface="Encode Sans"/>
                <a:ea typeface="Encode Sans"/>
                <a:cs typeface="Encode Sans"/>
                <a:sym typeface="Encode Sans"/>
              </a:defRPr>
            </a:lvl9pPr>
          </a:lstStyle>
          <a:p>
            <a:pPr marL="0" indent="0"/>
            <a:r>
              <a:rPr lang="en" sz="3000" b="1">
                <a:latin typeface="Unbounded"/>
                <a:sym typeface="Unbounded"/>
              </a:rPr>
              <a:t>01</a:t>
            </a:r>
          </a:p>
        </p:txBody>
      </p:sp>
      <p:sp>
        <p:nvSpPr>
          <p:cNvPr id="21" name="Google Shape;384;p31">
            <a:extLst>
              <a:ext uri="{FF2B5EF4-FFF2-40B4-BE49-F238E27FC236}">
                <a16:creationId xmlns:a16="http://schemas.microsoft.com/office/drawing/2014/main" id="{45EBB742-0C37-2650-70B8-C789A1E419DD}"/>
              </a:ext>
            </a:extLst>
          </p:cNvPr>
          <p:cNvSpPr txBox="1">
            <a:spLocks/>
          </p:cNvSpPr>
          <p:nvPr/>
        </p:nvSpPr>
        <p:spPr>
          <a:xfrm>
            <a:off x="5285082" y="3684815"/>
            <a:ext cx="1164900" cy="62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Unbounded"/>
                <a:ea typeface="Unbounded"/>
                <a:cs typeface="Unbounded"/>
                <a:sym typeface="Unbounde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 sz="3000" b="1">
                <a:cs typeface="Arial"/>
                <a:sym typeface="Arial"/>
              </a:rPr>
              <a:t>04</a:t>
            </a:r>
          </a:p>
        </p:txBody>
      </p:sp>
      <p:sp>
        <p:nvSpPr>
          <p:cNvPr id="22" name="Google Shape;385;p31">
            <a:extLst>
              <a:ext uri="{FF2B5EF4-FFF2-40B4-BE49-F238E27FC236}">
                <a16:creationId xmlns:a16="http://schemas.microsoft.com/office/drawing/2014/main" id="{697C8520-0143-8A7B-31E8-45C7B84779AB}"/>
              </a:ext>
            </a:extLst>
          </p:cNvPr>
          <p:cNvSpPr txBox="1">
            <a:spLocks/>
          </p:cNvSpPr>
          <p:nvPr/>
        </p:nvSpPr>
        <p:spPr>
          <a:xfrm>
            <a:off x="5276399" y="2234427"/>
            <a:ext cx="1164900" cy="62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dk1"/>
                </a:solidFill>
                <a:latin typeface="Unbounded"/>
                <a:ea typeface="Unbounded"/>
                <a:cs typeface="Unbounded"/>
                <a:sym typeface="Unbounded"/>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 sz="3000" b="1">
                <a:sym typeface="Encode Sans"/>
              </a:rPr>
              <a:t>02</a:t>
            </a:r>
          </a:p>
        </p:txBody>
      </p:sp>
      <p:sp>
        <p:nvSpPr>
          <p:cNvPr id="23" name="Google Shape;387;p31">
            <a:extLst>
              <a:ext uri="{FF2B5EF4-FFF2-40B4-BE49-F238E27FC236}">
                <a16:creationId xmlns:a16="http://schemas.microsoft.com/office/drawing/2014/main" id="{8FF7B1EC-ECD1-604D-2DFF-61475DAB847A}"/>
              </a:ext>
            </a:extLst>
          </p:cNvPr>
          <p:cNvSpPr txBox="1">
            <a:spLocks/>
          </p:cNvSpPr>
          <p:nvPr/>
        </p:nvSpPr>
        <p:spPr>
          <a:xfrm>
            <a:off x="1786771" y="3691192"/>
            <a:ext cx="1164900" cy="62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3000" b="1">
                <a:solidFill>
                  <a:schemeClr val="dk1"/>
                </a:solidFill>
                <a:latin typeface="Unbounded"/>
                <a:sym typeface="Unbounded"/>
              </a:rPr>
              <a:t>03</a:t>
            </a:r>
          </a:p>
        </p:txBody>
      </p:sp>
      <p:sp>
        <p:nvSpPr>
          <p:cNvPr id="24" name="Google Shape;389;p31">
            <a:extLst>
              <a:ext uri="{FF2B5EF4-FFF2-40B4-BE49-F238E27FC236}">
                <a16:creationId xmlns:a16="http://schemas.microsoft.com/office/drawing/2014/main" id="{0B7A7D2B-27E0-BF65-CBC9-B5FE399B1399}"/>
              </a:ext>
            </a:extLst>
          </p:cNvPr>
          <p:cNvSpPr txBox="1">
            <a:spLocks noGrp="1"/>
          </p:cNvSpPr>
          <p:nvPr>
            <p:ph type="subTitle" idx="1"/>
          </p:nvPr>
        </p:nvSpPr>
        <p:spPr>
          <a:xfrm>
            <a:off x="1782978" y="2846713"/>
            <a:ext cx="2397137" cy="499282"/>
          </a:xfrm>
          <a:prstGeom prst="rect">
            <a:avLst/>
          </a:prstGeom>
        </p:spPr>
        <p:txBody>
          <a:bodyPr spcFirstLastPara="1" wrap="square" lIns="91425" tIns="91425" rIns="91425" bIns="91425" anchor="t" anchorCtr="0">
            <a:noAutofit/>
          </a:bodyPr>
          <a:lstStyle/>
          <a:p>
            <a:pPr marL="0" indent="0">
              <a:buSzPts val="2400"/>
            </a:pPr>
            <a:r>
              <a:rPr lang="en-US" sz="1800">
                <a:latin typeface="Unbounded"/>
                <a:sym typeface="Unbounded"/>
              </a:rPr>
              <a:t>Ngay lập tức</a:t>
            </a:r>
            <a:endParaRPr sz="1800">
              <a:latin typeface="Unbounded"/>
              <a:sym typeface="Unbounded"/>
            </a:endParaRPr>
          </a:p>
        </p:txBody>
      </p:sp>
      <p:sp>
        <p:nvSpPr>
          <p:cNvPr id="25" name="Google Shape;390;p31">
            <a:extLst>
              <a:ext uri="{FF2B5EF4-FFF2-40B4-BE49-F238E27FC236}">
                <a16:creationId xmlns:a16="http://schemas.microsoft.com/office/drawing/2014/main" id="{0E82AFFF-F046-0521-21F3-D0E09CF9A8D4}"/>
              </a:ext>
            </a:extLst>
          </p:cNvPr>
          <p:cNvSpPr txBox="1">
            <a:spLocks/>
          </p:cNvSpPr>
          <p:nvPr/>
        </p:nvSpPr>
        <p:spPr>
          <a:xfrm>
            <a:off x="5276399" y="2834477"/>
            <a:ext cx="2082346" cy="49928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sym typeface="Encode Sans"/>
              </a:rPr>
              <a:t>Rất gần</a:t>
            </a:r>
          </a:p>
        </p:txBody>
      </p:sp>
      <p:sp>
        <p:nvSpPr>
          <p:cNvPr id="26" name="Google Shape;391;p31">
            <a:extLst>
              <a:ext uri="{FF2B5EF4-FFF2-40B4-BE49-F238E27FC236}">
                <a16:creationId xmlns:a16="http://schemas.microsoft.com/office/drawing/2014/main" id="{9D245D54-DDCD-95BA-0B7F-002FA152D122}"/>
              </a:ext>
            </a:extLst>
          </p:cNvPr>
          <p:cNvSpPr txBox="1">
            <a:spLocks/>
          </p:cNvSpPr>
          <p:nvPr/>
        </p:nvSpPr>
        <p:spPr>
          <a:xfrm>
            <a:off x="1765205" y="4368376"/>
            <a:ext cx="2142767" cy="49928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rPr>
              <a:t>Sắp xảy ra</a:t>
            </a:r>
          </a:p>
        </p:txBody>
      </p:sp>
      <p:sp>
        <p:nvSpPr>
          <p:cNvPr id="27" name="Google Shape;392;p31">
            <a:extLst>
              <a:ext uri="{FF2B5EF4-FFF2-40B4-BE49-F238E27FC236}">
                <a16:creationId xmlns:a16="http://schemas.microsoft.com/office/drawing/2014/main" id="{6AA99D5B-6D22-4CDA-AFD8-76E6BC5EFCD2}"/>
              </a:ext>
            </a:extLst>
          </p:cNvPr>
          <p:cNvSpPr txBox="1">
            <a:spLocks/>
          </p:cNvSpPr>
          <p:nvPr/>
        </p:nvSpPr>
        <p:spPr>
          <a:xfrm>
            <a:off x="5278307" y="4365456"/>
            <a:ext cx="2374350" cy="50220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2400"/>
            </a:pPr>
            <a:r>
              <a:rPr lang="en-US" sz="1800">
                <a:solidFill>
                  <a:schemeClr val="dk1"/>
                </a:solidFill>
                <a:latin typeface="Unbounded"/>
              </a:rPr>
              <a:t>Rất lâu</a:t>
            </a:r>
            <a:endParaRPr lang="vi-VN" sz="1800">
              <a:solidFill>
                <a:schemeClr val="dk1"/>
              </a:solidFill>
              <a:latin typeface="Unbounded"/>
            </a:endParaRPr>
          </a:p>
        </p:txBody>
      </p:sp>
      <p:sp>
        <p:nvSpPr>
          <p:cNvPr id="28" name="TextBox 27">
            <a:extLst>
              <a:ext uri="{FF2B5EF4-FFF2-40B4-BE49-F238E27FC236}">
                <a16:creationId xmlns:a16="http://schemas.microsoft.com/office/drawing/2014/main" id="{1B0D7558-D37E-473E-95E4-11C7B94A851E}"/>
              </a:ext>
            </a:extLst>
          </p:cNvPr>
          <p:cNvSpPr txBox="1"/>
          <p:nvPr/>
        </p:nvSpPr>
        <p:spPr>
          <a:xfrm>
            <a:off x="265586" y="1439475"/>
            <a:ext cx="5803192" cy="423514"/>
          </a:xfrm>
          <a:prstGeom prst="rect">
            <a:avLst/>
          </a:prstGeom>
          <a:noFill/>
        </p:spPr>
        <p:txBody>
          <a:bodyPr wrap="none" rtlCol="0">
            <a:spAutoFit/>
          </a:bodyPr>
          <a:lstStyle/>
          <a:p>
            <a:pPr marL="285750" indent="-285750">
              <a:lnSpc>
                <a:spcPct val="120000"/>
              </a:lnSpc>
              <a:spcAft>
                <a:spcPts val="1200"/>
              </a:spcAft>
              <a:buClr>
                <a:schemeClr val="dk1"/>
              </a:buClr>
              <a:buSzPct val="75000"/>
              <a:buFont typeface="Wingdings" panose="05000000000000000000" pitchFamily="2" charset="2"/>
              <a:buChar char="Ø"/>
            </a:pPr>
            <a:r>
              <a:rPr lang="en-US" sz="2000">
                <a:solidFill>
                  <a:schemeClr val="dk1"/>
                </a:solidFill>
                <a:latin typeface="Encode Sans"/>
                <a:sym typeface="Encode Sans"/>
              </a:rPr>
              <a:t>4 mức độ ước lượng thời điểm rủi ro xuất hiện:</a:t>
            </a:r>
          </a:p>
        </p:txBody>
      </p:sp>
    </p:spTree>
    <p:extLst>
      <p:ext uri="{BB962C8B-B14F-4D97-AF65-F5344CB8AC3E}">
        <p14:creationId xmlns:p14="http://schemas.microsoft.com/office/powerpoint/2010/main" val="37699471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DC981687-2700-BFCA-AA23-0A441F12407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313D67D-24EB-BB4A-C395-0752124F379B}"/>
              </a:ext>
            </a:extLst>
          </p:cNvPr>
          <p:cNvSpPr/>
          <p:nvPr/>
        </p:nvSpPr>
        <p:spPr>
          <a:xfrm>
            <a:off x="759278" y="1738498"/>
            <a:ext cx="7930243" cy="11130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27" name="Google Shape;427;p34">
            <a:extLst>
              <a:ext uri="{FF2B5EF4-FFF2-40B4-BE49-F238E27FC236}">
                <a16:creationId xmlns:a16="http://schemas.microsoft.com/office/drawing/2014/main" id="{962126A3-E217-AA65-1B87-B0AF71AEDB1D}"/>
              </a:ext>
            </a:extLst>
          </p:cNvPr>
          <p:cNvSpPr txBox="1">
            <a:spLocks noGrp="1"/>
          </p:cNvSpPr>
          <p:nvPr>
            <p:ph type="title"/>
          </p:nvPr>
        </p:nvSpPr>
        <p:spPr>
          <a:xfrm>
            <a:off x="265586" y="466576"/>
            <a:ext cx="6553222" cy="992110"/>
          </a:xfrm>
          <a:prstGeom prst="rect">
            <a:avLst/>
          </a:prstGeom>
        </p:spPr>
        <p:txBody>
          <a:bodyPr spcFirstLastPara="1" wrap="square" lIns="91425" tIns="91425" rIns="91425" bIns="91425" anchor="t" anchorCtr="0">
            <a:noAutofit/>
          </a:bodyPr>
          <a:lstStyle/>
          <a:p>
            <a:pPr lvl="0"/>
            <a:r>
              <a:rPr lang="vi-VN" sz="2400" b="1"/>
              <a:t>Ước lượng và phân hạng rủi ro </a:t>
            </a:r>
            <a:r>
              <a:rPr lang="vi-VN" sz="2400" b="1">
                <a:solidFill>
                  <a:schemeClr val="tx2">
                    <a:lumMod val="75000"/>
                  </a:schemeClr>
                </a:solidFill>
              </a:rPr>
              <a:t>(Risk Exposure)</a:t>
            </a:r>
            <a:endParaRPr sz="2000" b="1">
              <a:solidFill>
                <a:schemeClr val="tx2">
                  <a:lumMod val="75000"/>
                </a:schemeClr>
              </a:solidFill>
            </a:endParaRPr>
          </a:p>
        </p:txBody>
      </p:sp>
      <p:grpSp>
        <p:nvGrpSpPr>
          <p:cNvPr id="433" name="Google Shape;433;p34">
            <a:extLst>
              <a:ext uri="{FF2B5EF4-FFF2-40B4-BE49-F238E27FC236}">
                <a16:creationId xmlns:a16="http://schemas.microsoft.com/office/drawing/2014/main" id="{636FDD5D-AE7C-1386-CA56-0BC31ED9DF51}"/>
              </a:ext>
            </a:extLst>
          </p:cNvPr>
          <p:cNvGrpSpPr/>
          <p:nvPr/>
        </p:nvGrpSpPr>
        <p:grpSpPr>
          <a:xfrm>
            <a:off x="7855168" y="753268"/>
            <a:ext cx="2224840" cy="418725"/>
            <a:chOff x="7318351" y="2997150"/>
            <a:chExt cx="2224840" cy="418725"/>
          </a:xfrm>
        </p:grpSpPr>
        <p:sp>
          <p:nvSpPr>
            <p:cNvPr id="434" name="Google Shape;434;p34">
              <a:extLst>
                <a:ext uri="{FF2B5EF4-FFF2-40B4-BE49-F238E27FC236}">
                  <a16:creationId xmlns:a16="http://schemas.microsoft.com/office/drawing/2014/main" id="{27049921-7979-F119-6FAF-F0FBC8B613D6}"/>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C0CA6BB1-E8F6-B1DA-7290-ECB6B18B2441}"/>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B440C54E-B0EE-51F6-DD78-5AC9F5BB8598}"/>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a:extLst>
              <a:ext uri="{FF2B5EF4-FFF2-40B4-BE49-F238E27FC236}">
                <a16:creationId xmlns:a16="http://schemas.microsoft.com/office/drawing/2014/main" id="{DDF86D2C-BD60-68CD-3779-99F1AE062D34}"/>
              </a:ext>
            </a:extLst>
          </p:cNvPr>
          <p:cNvSpPr/>
          <p:nvPr/>
        </p:nvSpPr>
        <p:spPr>
          <a:xfrm>
            <a:off x="606878" y="1586099"/>
            <a:ext cx="7930243" cy="11130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lumMod val="75000"/>
                  </a:schemeClr>
                </a:solidFill>
              </a:rPr>
              <a:t>Risk Exposure </a:t>
            </a:r>
            <a:r>
              <a:rPr lang="en-US" sz="2000" b="1">
                <a:solidFill>
                  <a:schemeClr val="tx1"/>
                </a:solidFill>
              </a:rPr>
              <a:t>=</a:t>
            </a:r>
            <a:r>
              <a:rPr lang="en-US" sz="2000" b="1">
                <a:solidFill>
                  <a:schemeClr val="tx2">
                    <a:lumMod val="75000"/>
                  </a:schemeClr>
                </a:solidFill>
              </a:rPr>
              <a:t> </a:t>
            </a:r>
            <a:r>
              <a:rPr lang="en-US" sz="2000" b="1">
                <a:solidFill>
                  <a:schemeClr val="bg2">
                    <a:lumMod val="25000"/>
                  </a:schemeClr>
                </a:solidFill>
              </a:rPr>
              <a:t>Risk Impact </a:t>
            </a:r>
            <a:r>
              <a:rPr lang="en-US" sz="2000" b="1">
                <a:solidFill>
                  <a:schemeClr val="tx1"/>
                </a:solidFill>
              </a:rPr>
              <a:t>*</a:t>
            </a:r>
            <a:r>
              <a:rPr lang="en-US" sz="2000" b="1">
                <a:solidFill>
                  <a:schemeClr val="tx2">
                    <a:lumMod val="75000"/>
                  </a:schemeClr>
                </a:solidFill>
              </a:rPr>
              <a:t> </a:t>
            </a:r>
            <a:r>
              <a:rPr lang="en-US" sz="2000" b="1">
                <a:solidFill>
                  <a:schemeClr val="accent2">
                    <a:lumMod val="50000"/>
                  </a:schemeClr>
                </a:solidFill>
              </a:rPr>
              <a:t>Risk Probability</a:t>
            </a:r>
            <a:r>
              <a:rPr lang="en-US" sz="2000" b="1">
                <a:solidFill>
                  <a:schemeClr val="tx2">
                    <a:lumMod val="75000"/>
                  </a:schemeClr>
                </a:solidFill>
              </a:rPr>
              <a:t> </a:t>
            </a:r>
            <a:r>
              <a:rPr lang="en-US" sz="2000" b="1">
                <a:solidFill>
                  <a:schemeClr val="tx1"/>
                </a:solidFill>
              </a:rPr>
              <a:t>*</a:t>
            </a:r>
            <a:r>
              <a:rPr lang="en-US" sz="2000" b="1">
                <a:solidFill>
                  <a:schemeClr val="tx2">
                    <a:lumMod val="75000"/>
                  </a:schemeClr>
                </a:solidFill>
              </a:rPr>
              <a:t> </a:t>
            </a:r>
            <a:r>
              <a:rPr lang="en-US" sz="2000" b="1">
                <a:solidFill>
                  <a:schemeClr val="tx1">
                    <a:lumMod val="75000"/>
                    <a:lumOff val="25000"/>
                  </a:schemeClr>
                </a:solidFill>
              </a:rPr>
              <a:t>Time Frame</a:t>
            </a:r>
          </a:p>
        </p:txBody>
      </p:sp>
      <p:sp>
        <p:nvSpPr>
          <p:cNvPr id="6" name="TextBox 5">
            <a:extLst>
              <a:ext uri="{FF2B5EF4-FFF2-40B4-BE49-F238E27FC236}">
                <a16:creationId xmlns:a16="http://schemas.microsoft.com/office/drawing/2014/main" id="{D9A340EE-2F4F-78CD-F3B0-D894AA3E626A}"/>
              </a:ext>
            </a:extLst>
          </p:cNvPr>
          <p:cNvSpPr txBox="1"/>
          <p:nvPr/>
        </p:nvSpPr>
        <p:spPr>
          <a:xfrm>
            <a:off x="946314" y="3485358"/>
            <a:ext cx="2759778" cy="707886"/>
          </a:xfrm>
          <a:prstGeom prst="rect">
            <a:avLst/>
          </a:prstGeom>
          <a:noFill/>
        </p:spPr>
        <p:txBody>
          <a:bodyPr wrap="square" rtlCol="0">
            <a:spAutoFit/>
          </a:bodyPr>
          <a:lstStyle/>
          <a:p>
            <a:r>
              <a:rPr lang="vi-VN" sz="2000" b="1">
                <a:solidFill>
                  <a:schemeClr val="dk1"/>
                </a:solidFill>
                <a:latin typeface="Encode Sans"/>
                <a:sym typeface="Encode Sans"/>
              </a:rPr>
              <a:t>Risk Probability </a:t>
            </a:r>
            <a:br>
              <a:rPr lang="en-US" sz="2000" b="1">
                <a:solidFill>
                  <a:schemeClr val="dk1"/>
                </a:solidFill>
                <a:latin typeface="Encode Sans"/>
                <a:sym typeface="Encode Sans"/>
              </a:rPr>
            </a:br>
            <a:r>
              <a:rPr lang="vi-VN" sz="2000" b="1">
                <a:solidFill>
                  <a:schemeClr val="dk1"/>
                </a:solidFill>
                <a:latin typeface="Encode Sans"/>
                <a:sym typeface="Encode Sans"/>
              </a:rPr>
              <a:t>(Khả năng xuất hiện) </a:t>
            </a:r>
          </a:p>
        </p:txBody>
      </p:sp>
      <p:sp>
        <p:nvSpPr>
          <p:cNvPr id="10" name="TextBox 9">
            <a:extLst>
              <a:ext uri="{FF2B5EF4-FFF2-40B4-BE49-F238E27FC236}">
                <a16:creationId xmlns:a16="http://schemas.microsoft.com/office/drawing/2014/main" id="{FB2EC4EB-DB5F-CCC1-F811-4239B304B50B}"/>
              </a:ext>
            </a:extLst>
          </p:cNvPr>
          <p:cNvSpPr txBox="1"/>
          <p:nvPr/>
        </p:nvSpPr>
        <p:spPr>
          <a:xfrm>
            <a:off x="3871988" y="3177582"/>
            <a:ext cx="4633601" cy="1531510"/>
          </a:xfrm>
          <a:prstGeom prst="rect">
            <a:avLst/>
          </a:prstGeom>
          <a:noFill/>
        </p:spPr>
        <p:txBody>
          <a:bodyPr wrap="square" rtlCol="0">
            <a:spAutoFit/>
          </a:bodyPr>
          <a:lstStyle/>
          <a:p>
            <a:pPr>
              <a:lnSpc>
                <a:spcPct val="120000"/>
              </a:lnSpc>
            </a:pPr>
            <a:r>
              <a:rPr lang="vi-VN" sz="2000" b="1">
                <a:solidFill>
                  <a:schemeClr val="tx2">
                    <a:lumMod val="75000"/>
                  </a:schemeClr>
                </a:solidFill>
                <a:latin typeface="Encode Sans"/>
                <a:sym typeface="Encode Sans"/>
              </a:rPr>
              <a:t>Thường xuyên </a:t>
            </a:r>
            <a:r>
              <a:rPr lang="vi-VN" sz="2000">
                <a:solidFill>
                  <a:schemeClr val="dk1"/>
                </a:solidFill>
                <a:latin typeface="Encode Sans"/>
                <a:sym typeface="Encode Sans"/>
              </a:rPr>
              <a:t>(cao): 0.8 – 1.0</a:t>
            </a:r>
          </a:p>
          <a:p>
            <a:pPr>
              <a:lnSpc>
                <a:spcPct val="120000"/>
              </a:lnSpc>
            </a:pPr>
            <a:r>
              <a:rPr lang="vi-VN" sz="2000" b="1">
                <a:solidFill>
                  <a:schemeClr val="bg2">
                    <a:lumMod val="50000"/>
                  </a:schemeClr>
                </a:solidFill>
                <a:latin typeface="Encode Sans"/>
                <a:sym typeface="Encode Sans"/>
              </a:rPr>
              <a:t>Hay xảy ra </a:t>
            </a:r>
            <a:r>
              <a:rPr lang="vi-VN" sz="2000">
                <a:solidFill>
                  <a:schemeClr val="dk1"/>
                </a:solidFill>
                <a:latin typeface="Encode Sans"/>
                <a:sym typeface="Encode Sans"/>
              </a:rPr>
              <a:t>(trung bình cao): 0.6 – 0.79</a:t>
            </a:r>
          </a:p>
          <a:p>
            <a:pPr>
              <a:lnSpc>
                <a:spcPct val="120000"/>
              </a:lnSpc>
            </a:pPr>
            <a:r>
              <a:rPr lang="vi-VN" sz="2000" b="1">
                <a:solidFill>
                  <a:schemeClr val="tx1">
                    <a:lumMod val="50000"/>
                    <a:lumOff val="50000"/>
                  </a:schemeClr>
                </a:solidFill>
                <a:latin typeface="Encode Sans"/>
                <a:sym typeface="Encode Sans"/>
              </a:rPr>
              <a:t>Đôi khi </a:t>
            </a:r>
            <a:r>
              <a:rPr lang="vi-VN" sz="2000">
                <a:solidFill>
                  <a:schemeClr val="dk1"/>
                </a:solidFill>
                <a:latin typeface="Encode Sans"/>
                <a:sym typeface="Encode Sans"/>
              </a:rPr>
              <a:t>(trung bình thấp): 0.3 – 0.59</a:t>
            </a:r>
          </a:p>
          <a:p>
            <a:pPr>
              <a:lnSpc>
                <a:spcPct val="120000"/>
              </a:lnSpc>
            </a:pPr>
            <a:r>
              <a:rPr lang="vi-VN" sz="2000" b="1">
                <a:solidFill>
                  <a:schemeClr val="accent2">
                    <a:lumMod val="75000"/>
                  </a:schemeClr>
                </a:solidFill>
                <a:latin typeface="Encode Sans"/>
                <a:sym typeface="Encode Sans"/>
              </a:rPr>
              <a:t>Hiếm khi </a:t>
            </a:r>
            <a:r>
              <a:rPr lang="vi-VN" sz="2000">
                <a:solidFill>
                  <a:schemeClr val="dk1"/>
                </a:solidFill>
                <a:latin typeface="Encode Sans"/>
                <a:sym typeface="Encode Sans"/>
              </a:rPr>
              <a:t>(thấp): 0.1 – 0.29</a:t>
            </a:r>
          </a:p>
        </p:txBody>
      </p:sp>
    </p:spTree>
    <p:extLst>
      <p:ext uri="{BB962C8B-B14F-4D97-AF65-F5344CB8AC3E}">
        <p14:creationId xmlns:p14="http://schemas.microsoft.com/office/powerpoint/2010/main" val="22594459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2265E0AA-FAE0-4FFE-902D-F89D78BD518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AA6AD20-0DD9-76B7-4824-1DCE5999BF59}"/>
              </a:ext>
            </a:extLst>
          </p:cNvPr>
          <p:cNvSpPr/>
          <p:nvPr/>
        </p:nvSpPr>
        <p:spPr>
          <a:xfrm>
            <a:off x="759278" y="1738074"/>
            <a:ext cx="7930243" cy="11130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27" name="Google Shape;427;p34">
            <a:extLst>
              <a:ext uri="{FF2B5EF4-FFF2-40B4-BE49-F238E27FC236}">
                <a16:creationId xmlns:a16="http://schemas.microsoft.com/office/drawing/2014/main" id="{D4BBA220-F9C2-A694-EB09-67412C21D67F}"/>
              </a:ext>
            </a:extLst>
          </p:cNvPr>
          <p:cNvSpPr txBox="1">
            <a:spLocks noGrp="1"/>
          </p:cNvSpPr>
          <p:nvPr>
            <p:ph type="title"/>
          </p:nvPr>
        </p:nvSpPr>
        <p:spPr>
          <a:xfrm>
            <a:off x="265586" y="466576"/>
            <a:ext cx="6553222" cy="992110"/>
          </a:xfrm>
          <a:prstGeom prst="rect">
            <a:avLst/>
          </a:prstGeom>
        </p:spPr>
        <p:txBody>
          <a:bodyPr spcFirstLastPara="1" wrap="square" lIns="91425" tIns="91425" rIns="91425" bIns="91425" anchor="t" anchorCtr="0">
            <a:noAutofit/>
          </a:bodyPr>
          <a:lstStyle/>
          <a:p>
            <a:pPr lvl="0"/>
            <a:r>
              <a:rPr lang="vi-VN" sz="2400" b="1"/>
              <a:t>Ước lượng và phân hạng rủi ro </a:t>
            </a:r>
            <a:r>
              <a:rPr lang="vi-VN" sz="2400" b="1">
                <a:solidFill>
                  <a:schemeClr val="tx2">
                    <a:lumMod val="75000"/>
                  </a:schemeClr>
                </a:solidFill>
              </a:rPr>
              <a:t>(Risk Exposure)</a:t>
            </a:r>
            <a:endParaRPr sz="2000" b="1">
              <a:solidFill>
                <a:schemeClr val="tx2">
                  <a:lumMod val="75000"/>
                </a:schemeClr>
              </a:solidFill>
            </a:endParaRPr>
          </a:p>
        </p:txBody>
      </p:sp>
      <p:grpSp>
        <p:nvGrpSpPr>
          <p:cNvPr id="433" name="Google Shape;433;p34">
            <a:extLst>
              <a:ext uri="{FF2B5EF4-FFF2-40B4-BE49-F238E27FC236}">
                <a16:creationId xmlns:a16="http://schemas.microsoft.com/office/drawing/2014/main" id="{5131C38F-EA54-EE10-3DFB-0FCA29B38510}"/>
              </a:ext>
            </a:extLst>
          </p:cNvPr>
          <p:cNvGrpSpPr/>
          <p:nvPr/>
        </p:nvGrpSpPr>
        <p:grpSpPr>
          <a:xfrm>
            <a:off x="7855168" y="753268"/>
            <a:ext cx="2224840" cy="418725"/>
            <a:chOff x="7318351" y="2997150"/>
            <a:chExt cx="2224840" cy="418725"/>
          </a:xfrm>
        </p:grpSpPr>
        <p:sp>
          <p:nvSpPr>
            <p:cNvPr id="434" name="Google Shape;434;p34">
              <a:extLst>
                <a:ext uri="{FF2B5EF4-FFF2-40B4-BE49-F238E27FC236}">
                  <a16:creationId xmlns:a16="http://schemas.microsoft.com/office/drawing/2014/main" id="{65955F7D-D989-DF95-2D9A-F468107D44F6}"/>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8831C31B-DA1F-13BD-173F-930BA0DCBCB6}"/>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B8D4329A-53A8-23A1-BC0C-42177D66DE4F}"/>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a:extLst>
              <a:ext uri="{FF2B5EF4-FFF2-40B4-BE49-F238E27FC236}">
                <a16:creationId xmlns:a16="http://schemas.microsoft.com/office/drawing/2014/main" id="{C1DD5EEE-3B3B-A7AF-490F-D3B32D873A59}"/>
              </a:ext>
            </a:extLst>
          </p:cNvPr>
          <p:cNvSpPr/>
          <p:nvPr/>
        </p:nvSpPr>
        <p:spPr>
          <a:xfrm>
            <a:off x="606878" y="1585675"/>
            <a:ext cx="7930243" cy="11130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lumMod val="75000"/>
                  </a:schemeClr>
                </a:solidFill>
              </a:rPr>
              <a:t>Risk Exposure </a:t>
            </a:r>
            <a:r>
              <a:rPr lang="en-US" sz="2000" b="1">
                <a:solidFill>
                  <a:schemeClr val="tx1"/>
                </a:solidFill>
              </a:rPr>
              <a:t>=</a:t>
            </a:r>
            <a:r>
              <a:rPr lang="en-US" sz="2000" b="1">
                <a:solidFill>
                  <a:schemeClr val="tx2">
                    <a:lumMod val="75000"/>
                  </a:schemeClr>
                </a:solidFill>
              </a:rPr>
              <a:t> </a:t>
            </a:r>
            <a:r>
              <a:rPr lang="en-US" sz="2000" b="1">
                <a:solidFill>
                  <a:schemeClr val="bg2">
                    <a:lumMod val="25000"/>
                  </a:schemeClr>
                </a:solidFill>
              </a:rPr>
              <a:t>Risk Impact </a:t>
            </a:r>
            <a:r>
              <a:rPr lang="en-US" sz="2000" b="1">
                <a:solidFill>
                  <a:schemeClr val="tx1"/>
                </a:solidFill>
              </a:rPr>
              <a:t>*</a:t>
            </a:r>
            <a:r>
              <a:rPr lang="en-US" sz="2000" b="1">
                <a:solidFill>
                  <a:schemeClr val="tx2">
                    <a:lumMod val="75000"/>
                  </a:schemeClr>
                </a:solidFill>
              </a:rPr>
              <a:t> </a:t>
            </a:r>
            <a:r>
              <a:rPr lang="en-US" sz="2000" b="1">
                <a:solidFill>
                  <a:schemeClr val="accent2">
                    <a:lumMod val="50000"/>
                  </a:schemeClr>
                </a:solidFill>
              </a:rPr>
              <a:t>Risk Probability</a:t>
            </a:r>
            <a:r>
              <a:rPr lang="en-US" sz="2000" b="1">
                <a:solidFill>
                  <a:schemeClr val="tx2">
                    <a:lumMod val="75000"/>
                  </a:schemeClr>
                </a:solidFill>
              </a:rPr>
              <a:t> </a:t>
            </a:r>
            <a:r>
              <a:rPr lang="en-US" sz="2000" b="1">
                <a:solidFill>
                  <a:schemeClr val="tx1"/>
                </a:solidFill>
              </a:rPr>
              <a:t>*</a:t>
            </a:r>
            <a:r>
              <a:rPr lang="en-US" sz="2000" b="1">
                <a:solidFill>
                  <a:schemeClr val="tx2">
                    <a:lumMod val="75000"/>
                  </a:schemeClr>
                </a:solidFill>
              </a:rPr>
              <a:t> </a:t>
            </a:r>
            <a:r>
              <a:rPr lang="en-US" sz="2000" b="1">
                <a:solidFill>
                  <a:schemeClr val="tx1">
                    <a:lumMod val="75000"/>
                    <a:lumOff val="25000"/>
                  </a:schemeClr>
                </a:solidFill>
              </a:rPr>
              <a:t>Time Frame</a:t>
            </a:r>
          </a:p>
        </p:txBody>
      </p:sp>
      <p:sp>
        <p:nvSpPr>
          <p:cNvPr id="6" name="TextBox 5">
            <a:extLst>
              <a:ext uri="{FF2B5EF4-FFF2-40B4-BE49-F238E27FC236}">
                <a16:creationId xmlns:a16="http://schemas.microsoft.com/office/drawing/2014/main" id="{30379B7E-2050-2FE0-7DFD-033C05A25502}"/>
              </a:ext>
            </a:extLst>
          </p:cNvPr>
          <p:cNvSpPr txBox="1"/>
          <p:nvPr/>
        </p:nvSpPr>
        <p:spPr>
          <a:xfrm>
            <a:off x="977487" y="3485359"/>
            <a:ext cx="2759778" cy="707886"/>
          </a:xfrm>
          <a:prstGeom prst="rect">
            <a:avLst/>
          </a:prstGeom>
          <a:noFill/>
        </p:spPr>
        <p:txBody>
          <a:bodyPr wrap="square" rtlCol="0">
            <a:spAutoFit/>
          </a:bodyPr>
          <a:lstStyle/>
          <a:p>
            <a:r>
              <a:rPr lang="en-US" sz="2000" b="1">
                <a:solidFill>
                  <a:schemeClr val="dk1"/>
                </a:solidFill>
                <a:latin typeface="Encode Sans"/>
                <a:sym typeface="Encode Sans"/>
              </a:rPr>
              <a:t>Risk Impact </a:t>
            </a:r>
            <a:br>
              <a:rPr lang="en-US" sz="2000" b="1">
                <a:solidFill>
                  <a:schemeClr val="dk1"/>
                </a:solidFill>
                <a:latin typeface="Encode Sans"/>
                <a:sym typeface="Encode Sans"/>
              </a:rPr>
            </a:br>
            <a:r>
              <a:rPr lang="en-US" sz="2000" b="1">
                <a:solidFill>
                  <a:schemeClr val="dk1"/>
                </a:solidFill>
                <a:latin typeface="Encode Sans"/>
                <a:sym typeface="Encode Sans"/>
              </a:rPr>
              <a:t>(Mức độ tác động)</a:t>
            </a:r>
            <a:endParaRPr lang="vi-VN" sz="2000" b="1">
              <a:solidFill>
                <a:schemeClr val="dk1"/>
              </a:solidFill>
              <a:latin typeface="Encode Sans"/>
              <a:sym typeface="Encode Sans"/>
            </a:endParaRPr>
          </a:p>
        </p:txBody>
      </p:sp>
      <p:sp>
        <p:nvSpPr>
          <p:cNvPr id="10" name="TextBox 9">
            <a:extLst>
              <a:ext uri="{FF2B5EF4-FFF2-40B4-BE49-F238E27FC236}">
                <a16:creationId xmlns:a16="http://schemas.microsoft.com/office/drawing/2014/main" id="{DF652290-659B-42D3-EF7A-49E18A0503BF}"/>
              </a:ext>
            </a:extLst>
          </p:cNvPr>
          <p:cNvSpPr txBox="1"/>
          <p:nvPr/>
        </p:nvSpPr>
        <p:spPr>
          <a:xfrm>
            <a:off x="3737265" y="3177582"/>
            <a:ext cx="4633601" cy="1531510"/>
          </a:xfrm>
          <a:prstGeom prst="rect">
            <a:avLst/>
          </a:prstGeom>
          <a:noFill/>
        </p:spPr>
        <p:txBody>
          <a:bodyPr wrap="square" rtlCol="0">
            <a:spAutoFit/>
          </a:bodyPr>
          <a:lstStyle/>
          <a:p>
            <a:pPr>
              <a:lnSpc>
                <a:spcPct val="120000"/>
              </a:lnSpc>
            </a:pPr>
            <a:r>
              <a:rPr lang="vi-VN" sz="2000" b="1">
                <a:solidFill>
                  <a:schemeClr val="tx2">
                    <a:lumMod val="75000"/>
                  </a:schemeClr>
                </a:solidFill>
                <a:latin typeface="Encode Sans"/>
                <a:sym typeface="Encode Sans"/>
              </a:rPr>
              <a:t>Trầm trọng </a:t>
            </a:r>
            <a:r>
              <a:rPr lang="vi-VN" sz="2000">
                <a:solidFill>
                  <a:schemeClr val="dk1"/>
                </a:solidFill>
                <a:latin typeface="Encode Sans"/>
                <a:sym typeface="Encode Sans"/>
              </a:rPr>
              <a:t>(cao): 0.8 – 1.0</a:t>
            </a:r>
          </a:p>
          <a:p>
            <a:pPr>
              <a:lnSpc>
                <a:spcPct val="120000"/>
              </a:lnSpc>
            </a:pPr>
            <a:r>
              <a:rPr lang="vi-VN" sz="2000" b="1">
                <a:solidFill>
                  <a:schemeClr val="bg2">
                    <a:lumMod val="50000"/>
                  </a:schemeClr>
                </a:solidFill>
                <a:latin typeface="Encode Sans"/>
                <a:sym typeface="Encode Sans"/>
              </a:rPr>
              <a:t>Quan trọng </a:t>
            </a:r>
            <a:r>
              <a:rPr lang="vi-VN" sz="2000">
                <a:solidFill>
                  <a:schemeClr val="dk1"/>
                </a:solidFill>
                <a:latin typeface="Encode Sans"/>
                <a:sym typeface="Encode Sans"/>
              </a:rPr>
              <a:t>(trung bình cao): 0.6 – 0.79</a:t>
            </a:r>
          </a:p>
          <a:p>
            <a:pPr>
              <a:lnSpc>
                <a:spcPct val="120000"/>
              </a:lnSpc>
            </a:pPr>
            <a:r>
              <a:rPr lang="vi-VN" sz="2000" b="1">
                <a:solidFill>
                  <a:schemeClr val="tx1">
                    <a:lumMod val="50000"/>
                    <a:lumOff val="50000"/>
                  </a:schemeClr>
                </a:solidFill>
                <a:latin typeface="Encode Sans"/>
                <a:sym typeface="Encode Sans"/>
              </a:rPr>
              <a:t>Vừa phải </a:t>
            </a:r>
            <a:r>
              <a:rPr lang="vi-VN" sz="2000">
                <a:solidFill>
                  <a:schemeClr val="dk1"/>
                </a:solidFill>
                <a:latin typeface="Encode Sans"/>
                <a:sym typeface="Encode Sans"/>
              </a:rPr>
              <a:t>(trung bình thấp): 0.3 – 0.59</a:t>
            </a:r>
          </a:p>
          <a:p>
            <a:pPr>
              <a:lnSpc>
                <a:spcPct val="120000"/>
              </a:lnSpc>
            </a:pPr>
            <a:r>
              <a:rPr lang="vi-VN" sz="2000" b="1">
                <a:solidFill>
                  <a:schemeClr val="accent2">
                    <a:lumMod val="75000"/>
                  </a:schemeClr>
                </a:solidFill>
                <a:latin typeface="Encode Sans"/>
                <a:sym typeface="Encode Sans"/>
              </a:rPr>
              <a:t>Không đáng kể </a:t>
            </a:r>
            <a:r>
              <a:rPr lang="vi-VN" sz="2000">
                <a:solidFill>
                  <a:schemeClr val="dk1"/>
                </a:solidFill>
                <a:latin typeface="Encode Sans"/>
                <a:sym typeface="Encode Sans"/>
              </a:rPr>
              <a:t>(thấp):  0.1 – 0.29</a:t>
            </a:r>
          </a:p>
        </p:txBody>
      </p:sp>
    </p:spTree>
    <p:extLst>
      <p:ext uri="{BB962C8B-B14F-4D97-AF65-F5344CB8AC3E}">
        <p14:creationId xmlns:p14="http://schemas.microsoft.com/office/powerpoint/2010/main" val="16854566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7900530A-57C1-AE79-8FD2-0CFC668BC9B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2F6974E-9AC6-AD13-AD96-2F1025FABAAC}"/>
              </a:ext>
            </a:extLst>
          </p:cNvPr>
          <p:cNvSpPr/>
          <p:nvPr/>
        </p:nvSpPr>
        <p:spPr>
          <a:xfrm>
            <a:off x="759278" y="1738498"/>
            <a:ext cx="7930243" cy="11130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27" name="Google Shape;427;p34">
            <a:extLst>
              <a:ext uri="{FF2B5EF4-FFF2-40B4-BE49-F238E27FC236}">
                <a16:creationId xmlns:a16="http://schemas.microsoft.com/office/drawing/2014/main" id="{EDF94907-76FB-D32E-2363-6B7D1F12A7FF}"/>
              </a:ext>
            </a:extLst>
          </p:cNvPr>
          <p:cNvSpPr txBox="1">
            <a:spLocks noGrp="1"/>
          </p:cNvSpPr>
          <p:nvPr>
            <p:ph type="title"/>
          </p:nvPr>
        </p:nvSpPr>
        <p:spPr>
          <a:xfrm>
            <a:off x="265586" y="466576"/>
            <a:ext cx="6553222" cy="992110"/>
          </a:xfrm>
          <a:prstGeom prst="rect">
            <a:avLst/>
          </a:prstGeom>
        </p:spPr>
        <p:txBody>
          <a:bodyPr spcFirstLastPara="1" wrap="square" lIns="91425" tIns="91425" rIns="91425" bIns="91425" anchor="t" anchorCtr="0">
            <a:noAutofit/>
          </a:bodyPr>
          <a:lstStyle/>
          <a:p>
            <a:pPr lvl="0"/>
            <a:r>
              <a:rPr lang="vi-VN" sz="2400" b="1"/>
              <a:t>Ước lượng và phân hạng rủi ro </a:t>
            </a:r>
            <a:r>
              <a:rPr lang="vi-VN" sz="2400" b="1">
                <a:solidFill>
                  <a:schemeClr val="tx2">
                    <a:lumMod val="75000"/>
                  </a:schemeClr>
                </a:solidFill>
              </a:rPr>
              <a:t>(Risk Exposure)</a:t>
            </a:r>
            <a:endParaRPr sz="2000" b="1">
              <a:solidFill>
                <a:schemeClr val="tx2">
                  <a:lumMod val="75000"/>
                </a:schemeClr>
              </a:solidFill>
            </a:endParaRPr>
          </a:p>
        </p:txBody>
      </p:sp>
      <p:grpSp>
        <p:nvGrpSpPr>
          <p:cNvPr id="433" name="Google Shape;433;p34">
            <a:extLst>
              <a:ext uri="{FF2B5EF4-FFF2-40B4-BE49-F238E27FC236}">
                <a16:creationId xmlns:a16="http://schemas.microsoft.com/office/drawing/2014/main" id="{CE33B32F-DAEC-4D63-70D0-2DD92AF0C1D3}"/>
              </a:ext>
            </a:extLst>
          </p:cNvPr>
          <p:cNvGrpSpPr/>
          <p:nvPr/>
        </p:nvGrpSpPr>
        <p:grpSpPr>
          <a:xfrm>
            <a:off x="7855168" y="753268"/>
            <a:ext cx="2224840" cy="418725"/>
            <a:chOff x="7318351" y="2997150"/>
            <a:chExt cx="2224840" cy="418725"/>
          </a:xfrm>
        </p:grpSpPr>
        <p:sp>
          <p:nvSpPr>
            <p:cNvPr id="434" name="Google Shape;434;p34">
              <a:extLst>
                <a:ext uri="{FF2B5EF4-FFF2-40B4-BE49-F238E27FC236}">
                  <a16:creationId xmlns:a16="http://schemas.microsoft.com/office/drawing/2014/main" id="{8C09C5B7-3137-A656-8520-9E25B12869B7}"/>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25307347-9D40-DAB8-AE50-0A8E6D661FCD}"/>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E042EC3B-29DD-58A9-BAAA-CB032D78A72A}"/>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a:extLst>
              <a:ext uri="{FF2B5EF4-FFF2-40B4-BE49-F238E27FC236}">
                <a16:creationId xmlns:a16="http://schemas.microsoft.com/office/drawing/2014/main" id="{F0A50982-165D-46B9-7E0E-DE6DB075E793}"/>
              </a:ext>
            </a:extLst>
          </p:cNvPr>
          <p:cNvSpPr/>
          <p:nvPr/>
        </p:nvSpPr>
        <p:spPr>
          <a:xfrm>
            <a:off x="606878" y="1586099"/>
            <a:ext cx="7930243" cy="11130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lumMod val="75000"/>
                  </a:schemeClr>
                </a:solidFill>
              </a:rPr>
              <a:t>Risk Exposure </a:t>
            </a:r>
            <a:r>
              <a:rPr lang="en-US" sz="2000" b="1">
                <a:solidFill>
                  <a:schemeClr val="tx1"/>
                </a:solidFill>
              </a:rPr>
              <a:t>=</a:t>
            </a:r>
            <a:r>
              <a:rPr lang="en-US" sz="2000" b="1">
                <a:solidFill>
                  <a:schemeClr val="tx2">
                    <a:lumMod val="75000"/>
                  </a:schemeClr>
                </a:solidFill>
              </a:rPr>
              <a:t> </a:t>
            </a:r>
            <a:r>
              <a:rPr lang="en-US" sz="2000" b="1">
                <a:solidFill>
                  <a:schemeClr val="bg2">
                    <a:lumMod val="25000"/>
                  </a:schemeClr>
                </a:solidFill>
              </a:rPr>
              <a:t>Risk Impact </a:t>
            </a:r>
            <a:r>
              <a:rPr lang="en-US" sz="2000" b="1">
                <a:solidFill>
                  <a:schemeClr val="tx1"/>
                </a:solidFill>
              </a:rPr>
              <a:t>*</a:t>
            </a:r>
            <a:r>
              <a:rPr lang="en-US" sz="2000" b="1">
                <a:solidFill>
                  <a:schemeClr val="tx2">
                    <a:lumMod val="75000"/>
                  </a:schemeClr>
                </a:solidFill>
              </a:rPr>
              <a:t> </a:t>
            </a:r>
            <a:r>
              <a:rPr lang="en-US" sz="2000" b="1">
                <a:solidFill>
                  <a:schemeClr val="accent2">
                    <a:lumMod val="50000"/>
                  </a:schemeClr>
                </a:solidFill>
              </a:rPr>
              <a:t>Risk Probability</a:t>
            </a:r>
            <a:r>
              <a:rPr lang="en-US" sz="2000" b="1">
                <a:solidFill>
                  <a:schemeClr val="tx2">
                    <a:lumMod val="75000"/>
                  </a:schemeClr>
                </a:solidFill>
              </a:rPr>
              <a:t> </a:t>
            </a:r>
            <a:r>
              <a:rPr lang="en-US" sz="2000" b="1">
                <a:solidFill>
                  <a:schemeClr val="tx1"/>
                </a:solidFill>
              </a:rPr>
              <a:t>*</a:t>
            </a:r>
            <a:r>
              <a:rPr lang="en-US" sz="2000" b="1">
                <a:solidFill>
                  <a:schemeClr val="tx2">
                    <a:lumMod val="75000"/>
                  </a:schemeClr>
                </a:solidFill>
              </a:rPr>
              <a:t> </a:t>
            </a:r>
            <a:r>
              <a:rPr lang="en-US" sz="2000" b="1">
                <a:solidFill>
                  <a:schemeClr val="tx1">
                    <a:lumMod val="75000"/>
                    <a:lumOff val="25000"/>
                  </a:schemeClr>
                </a:solidFill>
              </a:rPr>
              <a:t>Time Frame</a:t>
            </a:r>
          </a:p>
        </p:txBody>
      </p:sp>
      <p:sp>
        <p:nvSpPr>
          <p:cNvPr id="6" name="TextBox 5">
            <a:extLst>
              <a:ext uri="{FF2B5EF4-FFF2-40B4-BE49-F238E27FC236}">
                <a16:creationId xmlns:a16="http://schemas.microsoft.com/office/drawing/2014/main" id="{63ADC81F-B7C7-AB81-9137-EC3CA752BC5E}"/>
              </a:ext>
            </a:extLst>
          </p:cNvPr>
          <p:cNvSpPr txBox="1"/>
          <p:nvPr/>
        </p:nvSpPr>
        <p:spPr>
          <a:xfrm>
            <a:off x="841664" y="3454186"/>
            <a:ext cx="2784763" cy="707886"/>
          </a:xfrm>
          <a:prstGeom prst="rect">
            <a:avLst/>
          </a:prstGeom>
          <a:noFill/>
        </p:spPr>
        <p:txBody>
          <a:bodyPr wrap="square" rtlCol="0">
            <a:spAutoFit/>
          </a:bodyPr>
          <a:lstStyle/>
          <a:p>
            <a:r>
              <a:rPr lang="vi-VN" sz="2000" b="1">
                <a:solidFill>
                  <a:schemeClr val="dk1"/>
                </a:solidFill>
                <a:latin typeface="Encode Sans"/>
                <a:sym typeface="Encode Sans"/>
              </a:rPr>
              <a:t>Time Frame</a:t>
            </a:r>
            <a:br>
              <a:rPr lang="en-US" sz="2000" b="1">
                <a:solidFill>
                  <a:schemeClr val="dk1"/>
                </a:solidFill>
                <a:latin typeface="Encode Sans"/>
                <a:sym typeface="Encode Sans"/>
              </a:rPr>
            </a:br>
            <a:r>
              <a:rPr lang="vi-VN" sz="2000" b="1">
                <a:solidFill>
                  <a:schemeClr val="dk1"/>
                </a:solidFill>
                <a:latin typeface="Encode Sans"/>
                <a:sym typeface="Encode Sans"/>
              </a:rPr>
              <a:t>(Thời điểm xuất hiện)</a:t>
            </a:r>
          </a:p>
        </p:txBody>
      </p:sp>
      <p:sp>
        <p:nvSpPr>
          <p:cNvPr id="10" name="TextBox 9">
            <a:extLst>
              <a:ext uri="{FF2B5EF4-FFF2-40B4-BE49-F238E27FC236}">
                <a16:creationId xmlns:a16="http://schemas.microsoft.com/office/drawing/2014/main" id="{66C266AA-B99A-0A25-D5EB-EA578633F1A9}"/>
              </a:ext>
            </a:extLst>
          </p:cNvPr>
          <p:cNvSpPr txBox="1"/>
          <p:nvPr/>
        </p:nvSpPr>
        <p:spPr>
          <a:xfrm>
            <a:off x="3737265" y="3163242"/>
            <a:ext cx="4672446" cy="1323439"/>
          </a:xfrm>
          <a:prstGeom prst="rect">
            <a:avLst/>
          </a:prstGeom>
          <a:noFill/>
        </p:spPr>
        <p:txBody>
          <a:bodyPr wrap="square" rtlCol="0">
            <a:spAutoFit/>
          </a:bodyPr>
          <a:lstStyle/>
          <a:p>
            <a:r>
              <a:rPr lang="vi-VN" sz="2000" b="1">
                <a:solidFill>
                  <a:schemeClr val="tx2">
                    <a:lumMod val="75000"/>
                  </a:schemeClr>
                </a:solidFill>
                <a:latin typeface="Encode Sans"/>
                <a:sym typeface="Encode Sans"/>
              </a:rPr>
              <a:t>Ngay lập tức </a:t>
            </a:r>
            <a:r>
              <a:rPr lang="vi-VN" sz="2000">
                <a:solidFill>
                  <a:schemeClr val="dk1"/>
                </a:solidFill>
                <a:latin typeface="Encode Sans"/>
                <a:sym typeface="Encode Sans"/>
              </a:rPr>
              <a:t>(cao): 0.8 – 1.0</a:t>
            </a:r>
          </a:p>
          <a:p>
            <a:r>
              <a:rPr lang="vi-VN" sz="2000" b="1">
                <a:solidFill>
                  <a:schemeClr val="bg2">
                    <a:lumMod val="50000"/>
                  </a:schemeClr>
                </a:solidFill>
                <a:latin typeface="Encode Sans"/>
                <a:sym typeface="Encode Sans"/>
              </a:rPr>
              <a:t>Rất gần </a:t>
            </a:r>
            <a:r>
              <a:rPr lang="vi-VN" sz="2000">
                <a:solidFill>
                  <a:schemeClr val="dk1"/>
                </a:solidFill>
                <a:latin typeface="Encode Sans"/>
                <a:sym typeface="Encode Sans"/>
              </a:rPr>
              <a:t>(trung bình cao): 0.6 – 0.79</a:t>
            </a:r>
          </a:p>
          <a:p>
            <a:r>
              <a:rPr lang="vi-VN" sz="2000" b="1">
                <a:solidFill>
                  <a:schemeClr val="tx1">
                    <a:lumMod val="50000"/>
                    <a:lumOff val="50000"/>
                  </a:schemeClr>
                </a:solidFill>
                <a:latin typeface="Encode Sans"/>
                <a:sym typeface="Encode Sans"/>
              </a:rPr>
              <a:t>Sắp xảy ra </a:t>
            </a:r>
            <a:r>
              <a:rPr lang="vi-VN" sz="2000">
                <a:solidFill>
                  <a:schemeClr val="dk1"/>
                </a:solidFill>
                <a:latin typeface="Encode Sans"/>
                <a:sym typeface="Encode Sans"/>
              </a:rPr>
              <a:t>(trung bình thấp): 0.3 – 0.59</a:t>
            </a:r>
          </a:p>
          <a:p>
            <a:r>
              <a:rPr lang="vi-VN" sz="2000" b="1">
                <a:solidFill>
                  <a:schemeClr val="accent2">
                    <a:lumMod val="75000"/>
                  </a:schemeClr>
                </a:solidFill>
                <a:latin typeface="Encode Sans"/>
                <a:sym typeface="Encode Sans"/>
              </a:rPr>
              <a:t>Rất lâu</a:t>
            </a:r>
            <a:r>
              <a:rPr lang="en-US" sz="2000" b="1">
                <a:solidFill>
                  <a:schemeClr val="accent2">
                    <a:lumMod val="75000"/>
                  </a:schemeClr>
                </a:solidFill>
                <a:latin typeface="Encode Sans"/>
                <a:sym typeface="Encode Sans"/>
              </a:rPr>
              <a:t> </a:t>
            </a:r>
            <a:r>
              <a:rPr lang="vi-VN" sz="2000">
                <a:solidFill>
                  <a:schemeClr val="dk1"/>
                </a:solidFill>
                <a:latin typeface="Encode Sans"/>
                <a:sym typeface="Encode Sans"/>
              </a:rPr>
              <a:t>(thấp): 0.1 – 0.29</a:t>
            </a:r>
          </a:p>
        </p:txBody>
      </p:sp>
    </p:spTree>
    <p:extLst>
      <p:ext uri="{BB962C8B-B14F-4D97-AF65-F5344CB8AC3E}">
        <p14:creationId xmlns:p14="http://schemas.microsoft.com/office/powerpoint/2010/main" val="10124031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B4FE8075-3C37-41B6-F625-19AEBE937AF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7ED35F6-C860-DCAC-3D9E-6B60CE10DA16}"/>
              </a:ext>
            </a:extLst>
          </p:cNvPr>
          <p:cNvSpPr/>
          <p:nvPr/>
        </p:nvSpPr>
        <p:spPr>
          <a:xfrm>
            <a:off x="759278" y="1738498"/>
            <a:ext cx="7930243" cy="11130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27" name="Google Shape;427;p34">
            <a:extLst>
              <a:ext uri="{FF2B5EF4-FFF2-40B4-BE49-F238E27FC236}">
                <a16:creationId xmlns:a16="http://schemas.microsoft.com/office/drawing/2014/main" id="{6DCA925B-E6AB-D275-37E2-DD93BE21CEDD}"/>
              </a:ext>
            </a:extLst>
          </p:cNvPr>
          <p:cNvSpPr txBox="1">
            <a:spLocks noGrp="1"/>
          </p:cNvSpPr>
          <p:nvPr>
            <p:ph type="title"/>
          </p:nvPr>
        </p:nvSpPr>
        <p:spPr>
          <a:xfrm>
            <a:off x="265586" y="466576"/>
            <a:ext cx="6553222" cy="992110"/>
          </a:xfrm>
          <a:prstGeom prst="rect">
            <a:avLst/>
          </a:prstGeom>
        </p:spPr>
        <p:txBody>
          <a:bodyPr spcFirstLastPara="1" wrap="square" lIns="91425" tIns="91425" rIns="91425" bIns="91425" anchor="t" anchorCtr="0">
            <a:noAutofit/>
          </a:bodyPr>
          <a:lstStyle/>
          <a:p>
            <a:pPr lvl="0"/>
            <a:r>
              <a:rPr lang="vi-VN" sz="2400" b="1"/>
              <a:t>Ước lượng và phân hạng rủi ro </a:t>
            </a:r>
            <a:r>
              <a:rPr lang="vi-VN" sz="2400" b="1">
                <a:solidFill>
                  <a:schemeClr val="tx2">
                    <a:lumMod val="75000"/>
                  </a:schemeClr>
                </a:solidFill>
              </a:rPr>
              <a:t>(Risk Exposure)</a:t>
            </a:r>
            <a:endParaRPr sz="2000" b="1">
              <a:solidFill>
                <a:schemeClr val="tx2">
                  <a:lumMod val="75000"/>
                </a:schemeClr>
              </a:solidFill>
            </a:endParaRPr>
          </a:p>
        </p:txBody>
      </p:sp>
      <p:grpSp>
        <p:nvGrpSpPr>
          <p:cNvPr id="433" name="Google Shape;433;p34">
            <a:extLst>
              <a:ext uri="{FF2B5EF4-FFF2-40B4-BE49-F238E27FC236}">
                <a16:creationId xmlns:a16="http://schemas.microsoft.com/office/drawing/2014/main" id="{1F83D146-80A1-3241-3CCD-738932CBA254}"/>
              </a:ext>
            </a:extLst>
          </p:cNvPr>
          <p:cNvGrpSpPr/>
          <p:nvPr/>
        </p:nvGrpSpPr>
        <p:grpSpPr>
          <a:xfrm>
            <a:off x="7855168" y="753268"/>
            <a:ext cx="2224840" cy="418725"/>
            <a:chOff x="7318351" y="2997150"/>
            <a:chExt cx="2224840" cy="418725"/>
          </a:xfrm>
        </p:grpSpPr>
        <p:sp>
          <p:nvSpPr>
            <p:cNvPr id="434" name="Google Shape;434;p34">
              <a:extLst>
                <a:ext uri="{FF2B5EF4-FFF2-40B4-BE49-F238E27FC236}">
                  <a16:creationId xmlns:a16="http://schemas.microsoft.com/office/drawing/2014/main" id="{A585F92F-9962-D6A5-344A-99C403EA49C7}"/>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5B42474C-CE18-2772-54A9-0FEA01912DCF}"/>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67DC8F2F-514C-5EFF-BCD8-7386D6D84D4A}"/>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a:extLst>
              <a:ext uri="{FF2B5EF4-FFF2-40B4-BE49-F238E27FC236}">
                <a16:creationId xmlns:a16="http://schemas.microsoft.com/office/drawing/2014/main" id="{8FC273BE-2E30-B49E-C5E0-8C1AFACD0CE3}"/>
              </a:ext>
            </a:extLst>
          </p:cNvPr>
          <p:cNvSpPr/>
          <p:nvPr/>
        </p:nvSpPr>
        <p:spPr>
          <a:xfrm>
            <a:off x="606878" y="1586099"/>
            <a:ext cx="7930243" cy="11130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lumMod val="75000"/>
                  </a:schemeClr>
                </a:solidFill>
              </a:rPr>
              <a:t>Risk Exposure </a:t>
            </a:r>
            <a:r>
              <a:rPr lang="en-US" sz="2000" b="1">
                <a:solidFill>
                  <a:schemeClr val="tx1"/>
                </a:solidFill>
              </a:rPr>
              <a:t>=</a:t>
            </a:r>
            <a:r>
              <a:rPr lang="en-US" sz="2000" b="1">
                <a:solidFill>
                  <a:schemeClr val="tx2">
                    <a:lumMod val="75000"/>
                  </a:schemeClr>
                </a:solidFill>
              </a:rPr>
              <a:t> </a:t>
            </a:r>
            <a:r>
              <a:rPr lang="en-US" sz="2000" b="1">
                <a:solidFill>
                  <a:schemeClr val="bg2">
                    <a:lumMod val="50000"/>
                  </a:schemeClr>
                </a:solidFill>
              </a:rPr>
              <a:t>Risk Impact </a:t>
            </a:r>
            <a:r>
              <a:rPr lang="en-US" sz="2000" b="1">
                <a:solidFill>
                  <a:schemeClr val="tx1"/>
                </a:solidFill>
              </a:rPr>
              <a:t>*</a:t>
            </a:r>
            <a:r>
              <a:rPr lang="en-US" sz="2000" b="1">
                <a:solidFill>
                  <a:schemeClr val="tx2">
                    <a:lumMod val="75000"/>
                  </a:schemeClr>
                </a:solidFill>
              </a:rPr>
              <a:t> </a:t>
            </a:r>
            <a:r>
              <a:rPr lang="en-US" sz="2000" b="1">
                <a:solidFill>
                  <a:schemeClr val="accent2">
                    <a:lumMod val="50000"/>
                  </a:schemeClr>
                </a:solidFill>
              </a:rPr>
              <a:t>Risk Probability</a:t>
            </a:r>
            <a:r>
              <a:rPr lang="en-US" sz="2000" b="1">
                <a:solidFill>
                  <a:schemeClr val="tx2">
                    <a:lumMod val="75000"/>
                  </a:schemeClr>
                </a:solidFill>
              </a:rPr>
              <a:t> </a:t>
            </a:r>
            <a:r>
              <a:rPr lang="en-US" sz="2000" b="1">
                <a:solidFill>
                  <a:schemeClr val="tx1"/>
                </a:solidFill>
              </a:rPr>
              <a:t>*</a:t>
            </a:r>
            <a:r>
              <a:rPr lang="en-US" sz="2000" b="1">
                <a:solidFill>
                  <a:schemeClr val="tx2">
                    <a:lumMod val="75000"/>
                  </a:schemeClr>
                </a:solidFill>
              </a:rPr>
              <a:t> </a:t>
            </a:r>
            <a:r>
              <a:rPr lang="en-US" sz="2000" b="1">
                <a:solidFill>
                  <a:schemeClr val="tx1">
                    <a:lumMod val="75000"/>
                    <a:lumOff val="25000"/>
                  </a:schemeClr>
                </a:solidFill>
              </a:rPr>
              <a:t>Time Frame</a:t>
            </a:r>
          </a:p>
        </p:txBody>
      </p:sp>
      <p:sp>
        <p:nvSpPr>
          <p:cNvPr id="2" name="TextBox 1">
            <a:extLst>
              <a:ext uri="{FF2B5EF4-FFF2-40B4-BE49-F238E27FC236}">
                <a16:creationId xmlns:a16="http://schemas.microsoft.com/office/drawing/2014/main" id="{338D79DE-ECF5-0C5F-63A8-7F3D66A3C299}"/>
              </a:ext>
            </a:extLst>
          </p:cNvPr>
          <p:cNvSpPr txBox="1"/>
          <p:nvPr/>
        </p:nvSpPr>
        <p:spPr>
          <a:xfrm>
            <a:off x="476233" y="3097386"/>
            <a:ext cx="8191532" cy="932948"/>
          </a:xfrm>
          <a:prstGeom prst="rect">
            <a:avLst/>
          </a:prstGeom>
          <a:noFill/>
        </p:spPr>
        <p:txBody>
          <a:bodyPr wrap="square" rtlCol="0">
            <a:spAutoFit/>
          </a:bodyPr>
          <a:lstStyle/>
          <a:p>
            <a:pPr>
              <a:lnSpc>
                <a:spcPct val="120000"/>
              </a:lnSpc>
            </a:pPr>
            <a:r>
              <a:rPr lang="en-US" sz="2400" b="1">
                <a:solidFill>
                  <a:schemeClr val="tx2">
                    <a:lumMod val="75000"/>
                  </a:schemeClr>
                </a:solidFill>
                <a:latin typeface="Encode Sans"/>
              </a:rPr>
              <a:t>=&gt; </a:t>
            </a:r>
            <a:r>
              <a:rPr lang="vi-VN" sz="2400" b="1">
                <a:solidFill>
                  <a:schemeClr val="tx2">
                    <a:lumMod val="75000"/>
                  </a:schemeClr>
                </a:solidFill>
                <a:latin typeface="Encode Sans"/>
              </a:rPr>
              <a:t>Rủi ro được phân hạng từ cao đến thấp dựa theo các giá trị Risk Exposure tính toán được.</a:t>
            </a:r>
            <a:endParaRPr lang="en-US" sz="2400" b="1">
              <a:solidFill>
                <a:schemeClr val="tx2">
                  <a:lumMod val="75000"/>
                </a:schemeClr>
              </a:solidFill>
              <a:latin typeface="Encode Sans"/>
            </a:endParaRPr>
          </a:p>
        </p:txBody>
      </p:sp>
    </p:spTree>
    <p:extLst>
      <p:ext uri="{BB962C8B-B14F-4D97-AF65-F5344CB8AC3E}">
        <p14:creationId xmlns:p14="http://schemas.microsoft.com/office/powerpoint/2010/main" val="25876770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25">
          <a:extLst>
            <a:ext uri="{FF2B5EF4-FFF2-40B4-BE49-F238E27FC236}">
              <a16:creationId xmlns:a16="http://schemas.microsoft.com/office/drawing/2014/main" id="{6CDBA9D9-0C9A-B0C7-0C1C-703A7DE6468F}"/>
            </a:ext>
          </a:extLst>
        </p:cNvPr>
        <p:cNvGrpSpPr/>
        <p:nvPr/>
      </p:nvGrpSpPr>
      <p:grpSpPr>
        <a:xfrm>
          <a:off x="0" y="0"/>
          <a:ext cx="0" cy="0"/>
          <a:chOff x="0" y="0"/>
          <a:chExt cx="0" cy="0"/>
        </a:xfrm>
      </p:grpSpPr>
      <p:sp>
        <p:nvSpPr>
          <p:cNvPr id="427" name="Google Shape;427;p34">
            <a:extLst>
              <a:ext uri="{FF2B5EF4-FFF2-40B4-BE49-F238E27FC236}">
                <a16:creationId xmlns:a16="http://schemas.microsoft.com/office/drawing/2014/main" id="{DBADA304-F51B-8947-0D9D-2523A218096A}"/>
              </a:ext>
            </a:extLst>
          </p:cNvPr>
          <p:cNvSpPr txBox="1">
            <a:spLocks noGrp="1"/>
          </p:cNvSpPr>
          <p:nvPr>
            <p:ph type="title"/>
          </p:nvPr>
        </p:nvSpPr>
        <p:spPr>
          <a:xfrm>
            <a:off x="265586" y="466576"/>
            <a:ext cx="6553222" cy="992110"/>
          </a:xfrm>
          <a:prstGeom prst="rect">
            <a:avLst/>
          </a:prstGeom>
        </p:spPr>
        <p:txBody>
          <a:bodyPr spcFirstLastPara="1" wrap="square" lIns="91425" tIns="91425" rIns="91425" bIns="91425" anchor="t" anchorCtr="0">
            <a:noAutofit/>
          </a:bodyPr>
          <a:lstStyle/>
          <a:p>
            <a:pPr lvl="0"/>
            <a:r>
              <a:rPr lang="vi-VN" sz="2400" b="1"/>
              <a:t>Ước lượng và phân hạng rủi ro </a:t>
            </a:r>
            <a:r>
              <a:rPr lang="vi-VN" sz="2400" b="1">
                <a:solidFill>
                  <a:schemeClr val="tx2">
                    <a:lumMod val="75000"/>
                  </a:schemeClr>
                </a:solidFill>
              </a:rPr>
              <a:t>(Risk Exposure)</a:t>
            </a:r>
            <a:endParaRPr sz="2000" b="1">
              <a:solidFill>
                <a:schemeClr val="tx2">
                  <a:lumMod val="75000"/>
                </a:schemeClr>
              </a:solidFill>
            </a:endParaRPr>
          </a:p>
        </p:txBody>
      </p:sp>
      <p:grpSp>
        <p:nvGrpSpPr>
          <p:cNvPr id="433" name="Google Shape;433;p34">
            <a:extLst>
              <a:ext uri="{FF2B5EF4-FFF2-40B4-BE49-F238E27FC236}">
                <a16:creationId xmlns:a16="http://schemas.microsoft.com/office/drawing/2014/main" id="{577FA611-CE2D-C41B-6FFD-87D4AB5031B6}"/>
              </a:ext>
            </a:extLst>
          </p:cNvPr>
          <p:cNvGrpSpPr/>
          <p:nvPr/>
        </p:nvGrpSpPr>
        <p:grpSpPr>
          <a:xfrm>
            <a:off x="7855168" y="753268"/>
            <a:ext cx="2224840" cy="418725"/>
            <a:chOff x="7318351" y="2997150"/>
            <a:chExt cx="2224840" cy="418725"/>
          </a:xfrm>
        </p:grpSpPr>
        <p:sp>
          <p:nvSpPr>
            <p:cNvPr id="434" name="Google Shape;434;p34">
              <a:extLst>
                <a:ext uri="{FF2B5EF4-FFF2-40B4-BE49-F238E27FC236}">
                  <a16:creationId xmlns:a16="http://schemas.microsoft.com/office/drawing/2014/main" id="{9367AE21-9295-C4DD-FF97-2332675D40BB}"/>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a:extLst>
                <a:ext uri="{FF2B5EF4-FFF2-40B4-BE49-F238E27FC236}">
                  <a16:creationId xmlns:a16="http://schemas.microsoft.com/office/drawing/2014/main" id="{18651BFD-FB01-2455-BF07-E5823B9F071B}"/>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a:extLst>
                <a:ext uri="{FF2B5EF4-FFF2-40B4-BE49-F238E27FC236}">
                  <a16:creationId xmlns:a16="http://schemas.microsoft.com/office/drawing/2014/main" id="{647B5ED5-BD6E-B926-554C-DCD72608548E}"/>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EEB930DB-1FEA-C17A-D33E-56F11921B14F}"/>
              </a:ext>
            </a:extLst>
          </p:cNvPr>
          <p:cNvSpPr txBox="1"/>
          <p:nvPr/>
        </p:nvSpPr>
        <p:spPr>
          <a:xfrm>
            <a:off x="265586" y="1704651"/>
            <a:ext cx="4306414" cy="2425536"/>
          </a:xfrm>
          <a:prstGeom prst="rect">
            <a:avLst/>
          </a:prstGeom>
          <a:noFill/>
        </p:spPr>
        <p:txBody>
          <a:bodyPr wrap="square" rtlCol="0">
            <a:spAutoFit/>
          </a:bodyPr>
          <a:lstStyle/>
          <a:p>
            <a:pPr>
              <a:lnSpc>
                <a:spcPct val="120000"/>
              </a:lnSpc>
            </a:pPr>
            <a:r>
              <a:rPr lang="vi-VN" sz="1600" b="1">
                <a:solidFill>
                  <a:schemeClr val="tx1"/>
                </a:solidFill>
                <a:latin typeface="Encode Sans"/>
              </a:rPr>
              <a:t>Rủi ro: </a:t>
            </a:r>
            <a:br>
              <a:rPr lang="en-US" sz="1600" b="1">
                <a:solidFill>
                  <a:schemeClr val="tx1"/>
                </a:solidFill>
                <a:latin typeface="Encode Sans"/>
              </a:rPr>
            </a:br>
            <a:r>
              <a:rPr lang="vi-VN" sz="1600" b="1">
                <a:solidFill>
                  <a:schemeClr val="tx1"/>
                </a:solidFill>
                <a:latin typeface="Encode Sans"/>
              </a:rPr>
              <a:t>"Yêu cầu của hệ thống không rõ ràng".</a:t>
            </a:r>
          </a:p>
          <a:p>
            <a:pPr marL="285750" indent="-285750">
              <a:lnSpc>
                <a:spcPct val="120000"/>
              </a:lnSpc>
              <a:buFont typeface="Arial" panose="020B0604020202020204" pitchFamily="34" charset="0"/>
              <a:buChar char="•"/>
            </a:pPr>
            <a:r>
              <a:rPr lang="vi-VN" sz="1600">
                <a:solidFill>
                  <a:schemeClr val="tx1"/>
                </a:solidFill>
                <a:latin typeface="Encode Sans"/>
              </a:rPr>
              <a:t>Risk Probability: "Thường xuyên" (0.9).</a:t>
            </a:r>
          </a:p>
          <a:p>
            <a:pPr marL="285750" indent="-285750">
              <a:lnSpc>
                <a:spcPct val="120000"/>
              </a:lnSpc>
              <a:buFont typeface="Arial" panose="020B0604020202020204" pitchFamily="34" charset="0"/>
              <a:buChar char="•"/>
            </a:pPr>
            <a:r>
              <a:rPr lang="vi-VN" sz="1600">
                <a:solidFill>
                  <a:schemeClr val="tx1"/>
                </a:solidFill>
                <a:latin typeface="Encode Sans"/>
              </a:rPr>
              <a:t>Risk Impact: "Trầm trọng" (0.9).</a:t>
            </a:r>
          </a:p>
          <a:p>
            <a:pPr marL="285750" indent="-285750">
              <a:lnSpc>
                <a:spcPct val="120000"/>
              </a:lnSpc>
              <a:buFont typeface="Arial" panose="020B0604020202020204" pitchFamily="34" charset="0"/>
              <a:buChar char="•"/>
            </a:pPr>
            <a:r>
              <a:rPr lang="vi-VN" sz="1600">
                <a:solidFill>
                  <a:schemeClr val="tx1"/>
                </a:solidFill>
                <a:latin typeface="Encode Sans"/>
              </a:rPr>
              <a:t>Time Frame: "Ngay lập tức" (1.0).</a:t>
            </a:r>
          </a:p>
          <a:p>
            <a:pPr>
              <a:lnSpc>
                <a:spcPct val="120000"/>
              </a:lnSpc>
            </a:pPr>
            <a:r>
              <a:rPr lang="en-US" sz="1600" b="1">
                <a:solidFill>
                  <a:schemeClr val="tx2">
                    <a:lumMod val="75000"/>
                  </a:schemeClr>
                </a:solidFill>
                <a:latin typeface="Encode Sans"/>
              </a:rPr>
              <a:t>=&gt; </a:t>
            </a:r>
            <a:r>
              <a:rPr lang="vi-VN" sz="1600" b="1">
                <a:solidFill>
                  <a:schemeClr val="tx2">
                    <a:lumMod val="75000"/>
                  </a:schemeClr>
                </a:solidFill>
                <a:latin typeface="Encode Sans"/>
              </a:rPr>
              <a:t>Risk Exposure = 0.9 * 0.9 * 1.0 = 0.81 </a:t>
            </a:r>
            <a:r>
              <a:rPr lang="vi-VN" sz="1600">
                <a:solidFill>
                  <a:schemeClr val="tx1"/>
                </a:solidFill>
                <a:latin typeface="Encode Sans"/>
              </a:rPr>
              <a:t>(rủi ro cao, cần ưu tiên xử lý ngay bằng cách làm rõ yêu cầu với khách hàng).</a:t>
            </a:r>
          </a:p>
        </p:txBody>
      </p:sp>
      <p:sp>
        <p:nvSpPr>
          <p:cNvPr id="8" name="TextBox 7">
            <a:extLst>
              <a:ext uri="{FF2B5EF4-FFF2-40B4-BE49-F238E27FC236}">
                <a16:creationId xmlns:a16="http://schemas.microsoft.com/office/drawing/2014/main" id="{D705567E-2F61-CCC7-2D1F-728258162F70}"/>
              </a:ext>
            </a:extLst>
          </p:cNvPr>
          <p:cNvSpPr txBox="1"/>
          <p:nvPr/>
        </p:nvSpPr>
        <p:spPr>
          <a:xfrm>
            <a:off x="4572001" y="1704651"/>
            <a:ext cx="4135582" cy="2671501"/>
          </a:xfrm>
          <a:prstGeom prst="rect">
            <a:avLst/>
          </a:prstGeom>
          <a:noFill/>
        </p:spPr>
        <p:txBody>
          <a:bodyPr wrap="square" rtlCol="0">
            <a:spAutoFit/>
          </a:bodyPr>
          <a:lstStyle/>
          <a:p>
            <a:pPr fontAlgn="base">
              <a:lnSpc>
                <a:spcPct val="120000"/>
              </a:lnSpc>
            </a:pPr>
            <a:r>
              <a:rPr lang="en-US" sz="1600" b="1">
                <a:solidFill>
                  <a:schemeClr val="tx1"/>
                </a:solidFill>
                <a:latin typeface="Encode Sans"/>
              </a:rPr>
              <a:t>Rủi ro: </a:t>
            </a:r>
            <a:br>
              <a:rPr lang="en-US" sz="1600" b="1">
                <a:solidFill>
                  <a:schemeClr val="tx1"/>
                </a:solidFill>
                <a:latin typeface="Encode Sans"/>
              </a:rPr>
            </a:br>
            <a:r>
              <a:rPr lang="en-US" sz="1600" b="1">
                <a:solidFill>
                  <a:schemeClr val="tx1"/>
                </a:solidFill>
                <a:latin typeface="Encode Sans"/>
              </a:rPr>
              <a:t>"Khách hàng phản hồi chậm".</a:t>
            </a:r>
          </a:p>
          <a:p>
            <a:pPr marL="285750" lvl="1" indent="-285750" fontAlgn="base">
              <a:lnSpc>
                <a:spcPct val="120000"/>
              </a:lnSpc>
              <a:buFont typeface="Arial" panose="020B0604020202020204" pitchFamily="34" charset="0"/>
              <a:buChar char="•"/>
            </a:pPr>
            <a:r>
              <a:rPr lang="en-US" sz="1600">
                <a:solidFill>
                  <a:schemeClr val="tx1"/>
                </a:solidFill>
                <a:latin typeface="Encode Sans"/>
              </a:rPr>
              <a:t>Risk Probability: "Đôi khi" (0.5).</a:t>
            </a:r>
          </a:p>
          <a:p>
            <a:pPr marL="285750" lvl="1" indent="-285750" fontAlgn="base">
              <a:lnSpc>
                <a:spcPct val="120000"/>
              </a:lnSpc>
              <a:buFont typeface="Arial" panose="020B0604020202020204" pitchFamily="34" charset="0"/>
              <a:buChar char="•"/>
            </a:pPr>
            <a:r>
              <a:rPr lang="en-US" sz="1600">
                <a:solidFill>
                  <a:schemeClr val="tx1"/>
                </a:solidFill>
                <a:latin typeface="Encode Sans"/>
              </a:rPr>
              <a:t>Risk Impact: "Vừa phải" (0.5).</a:t>
            </a:r>
          </a:p>
          <a:p>
            <a:pPr marL="285750" lvl="1" indent="-285750" fontAlgn="base">
              <a:lnSpc>
                <a:spcPct val="120000"/>
              </a:lnSpc>
              <a:buFont typeface="Arial" panose="020B0604020202020204" pitchFamily="34" charset="0"/>
              <a:buChar char="•"/>
            </a:pPr>
            <a:r>
              <a:rPr lang="en-US" sz="1600">
                <a:solidFill>
                  <a:schemeClr val="tx1"/>
                </a:solidFill>
                <a:latin typeface="Encode Sans"/>
              </a:rPr>
              <a:t>Time Frame: "Rất lâu" (0.3).</a:t>
            </a:r>
          </a:p>
          <a:p>
            <a:pPr lvl="1" algn="just" fontAlgn="base">
              <a:lnSpc>
                <a:spcPct val="120000"/>
              </a:lnSpc>
            </a:pPr>
            <a:r>
              <a:rPr lang="en-US" sz="1600" b="1">
                <a:solidFill>
                  <a:schemeClr val="tx2">
                    <a:lumMod val="75000"/>
                  </a:schemeClr>
                </a:solidFill>
                <a:latin typeface="Encode Sans"/>
              </a:rPr>
              <a:t>=&gt; Risk Exposure = 0.5 * 0.5 * 0.3 = 0.075 </a:t>
            </a:r>
            <a:r>
              <a:rPr lang="en-US" sz="1600">
                <a:solidFill>
                  <a:schemeClr val="tx1"/>
                </a:solidFill>
                <a:latin typeface="Encode Sans"/>
              </a:rPr>
              <a:t>(rủi ro thấp, có thể chấp nhận hoặc lập kế hoạch dự phòng).</a:t>
            </a:r>
          </a:p>
          <a:p>
            <a:endParaRPr lang="en-US"/>
          </a:p>
        </p:txBody>
      </p:sp>
    </p:spTree>
    <p:extLst>
      <p:ext uri="{BB962C8B-B14F-4D97-AF65-F5344CB8AC3E}">
        <p14:creationId xmlns:p14="http://schemas.microsoft.com/office/powerpoint/2010/main" val="4022561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6">
          <a:extLst>
            <a:ext uri="{FF2B5EF4-FFF2-40B4-BE49-F238E27FC236}">
              <a16:creationId xmlns:a16="http://schemas.microsoft.com/office/drawing/2014/main" id="{52E1F256-AAAB-DA7E-45D2-3F63274067F0}"/>
            </a:ext>
          </a:extLst>
        </p:cNvPr>
        <p:cNvGrpSpPr/>
        <p:nvPr/>
      </p:nvGrpSpPr>
      <p:grpSpPr>
        <a:xfrm>
          <a:off x="0" y="0"/>
          <a:ext cx="0" cy="0"/>
          <a:chOff x="0" y="0"/>
          <a:chExt cx="0" cy="0"/>
        </a:xfrm>
      </p:grpSpPr>
      <p:sp>
        <p:nvSpPr>
          <p:cNvPr id="517" name="Google Shape;517;p39">
            <a:extLst>
              <a:ext uri="{FF2B5EF4-FFF2-40B4-BE49-F238E27FC236}">
                <a16:creationId xmlns:a16="http://schemas.microsoft.com/office/drawing/2014/main" id="{CBB458ED-AE34-4776-0FB5-CF3A6FFCD116}"/>
              </a:ext>
            </a:extLst>
          </p:cNvPr>
          <p:cNvSpPr txBox="1">
            <a:spLocks noGrp="1"/>
          </p:cNvSpPr>
          <p:nvPr>
            <p:ph type="title"/>
          </p:nvPr>
        </p:nvSpPr>
        <p:spPr>
          <a:xfrm>
            <a:off x="748950" y="1338606"/>
            <a:ext cx="7320394" cy="197020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800" b="1">
                <a:solidFill>
                  <a:schemeClr val="tx2">
                    <a:lumMod val="75000"/>
                  </a:schemeClr>
                </a:solidFill>
              </a:rPr>
              <a:t>Kiểm soát </a:t>
            </a:r>
            <a:r>
              <a:rPr lang="en-US" sz="4800"/>
              <a:t>rủi ro</a:t>
            </a:r>
            <a:endParaRPr sz="4800"/>
          </a:p>
        </p:txBody>
      </p:sp>
      <p:grpSp>
        <p:nvGrpSpPr>
          <p:cNvPr id="519" name="Google Shape;519;p39">
            <a:extLst>
              <a:ext uri="{FF2B5EF4-FFF2-40B4-BE49-F238E27FC236}">
                <a16:creationId xmlns:a16="http://schemas.microsoft.com/office/drawing/2014/main" id="{EFF7D2D9-CE54-1E7A-715A-01B4F4F55F65}"/>
              </a:ext>
            </a:extLst>
          </p:cNvPr>
          <p:cNvGrpSpPr/>
          <p:nvPr/>
        </p:nvGrpSpPr>
        <p:grpSpPr>
          <a:xfrm>
            <a:off x="6692623" y="2729826"/>
            <a:ext cx="2224840" cy="418725"/>
            <a:chOff x="7318351" y="2997150"/>
            <a:chExt cx="2224840" cy="418725"/>
          </a:xfrm>
        </p:grpSpPr>
        <p:sp>
          <p:nvSpPr>
            <p:cNvPr id="520" name="Google Shape;520;p39">
              <a:extLst>
                <a:ext uri="{FF2B5EF4-FFF2-40B4-BE49-F238E27FC236}">
                  <a16:creationId xmlns:a16="http://schemas.microsoft.com/office/drawing/2014/main" id="{01073787-10FF-28D0-6465-5F2F32BF2E70}"/>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a:extLst>
                <a:ext uri="{FF2B5EF4-FFF2-40B4-BE49-F238E27FC236}">
                  <a16:creationId xmlns:a16="http://schemas.microsoft.com/office/drawing/2014/main" id="{E5404BCF-6B33-A449-9BFF-AC8CF9937856}"/>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a:extLst>
                <a:ext uri="{FF2B5EF4-FFF2-40B4-BE49-F238E27FC236}">
                  <a16:creationId xmlns:a16="http://schemas.microsoft.com/office/drawing/2014/main" id="{5C8F1667-A598-A509-BDF3-0B355911958F}"/>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518;p39">
            <a:extLst>
              <a:ext uri="{FF2B5EF4-FFF2-40B4-BE49-F238E27FC236}">
                <a16:creationId xmlns:a16="http://schemas.microsoft.com/office/drawing/2014/main" id="{EC7D58DA-327A-63CD-875F-153CFB0DFA3C}"/>
              </a:ext>
            </a:extLst>
          </p:cNvPr>
          <p:cNvSpPr txBox="1">
            <a:spLocks noGrp="1"/>
          </p:cNvSpPr>
          <p:nvPr>
            <p:ph type="subTitle" idx="1"/>
          </p:nvPr>
        </p:nvSpPr>
        <p:spPr>
          <a:xfrm>
            <a:off x="5850450" y="3953240"/>
            <a:ext cx="2232600" cy="642900"/>
          </a:xfrm>
          <a:prstGeom prst="rect">
            <a:avLst/>
          </a:prstGeom>
        </p:spPr>
        <p:txBody>
          <a:bodyPr spcFirstLastPara="1" wrap="square" lIns="91425" tIns="91425" rIns="91425" bIns="91425" anchor="b" anchorCtr="0">
            <a:noAutofit/>
          </a:bodyPr>
          <a:lstStyle/>
          <a:p>
            <a:pPr marL="0" lvl="0" indent="0"/>
            <a:r>
              <a:rPr lang="en-US" sz="2000"/>
              <a:t>Bước 4</a:t>
            </a:r>
            <a:endParaRPr sz="2000"/>
          </a:p>
        </p:txBody>
      </p:sp>
    </p:spTree>
    <p:extLst>
      <p:ext uri="{BB962C8B-B14F-4D97-AF65-F5344CB8AC3E}">
        <p14:creationId xmlns:p14="http://schemas.microsoft.com/office/powerpoint/2010/main" val="30871418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988AE3D3-D2EA-CB05-CB7E-9EAEB6737BD6}"/>
            </a:ext>
          </a:extLst>
        </p:cNvPr>
        <p:cNvGrpSpPr/>
        <p:nvPr/>
      </p:nvGrpSpPr>
      <p:grpSpPr>
        <a:xfrm>
          <a:off x="0" y="0"/>
          <a:ext cx="0" cy="0"/>
          <a:chOff x="0" y="0"/>
          <a:chExt cx="0" cy="0"/>
        </a:xfrm>
      </p:grpSpPr>
      <p:sp>
        <p:nvSpPr>
          <p:cNvPr id="377" name="Google Shape;377;p31">
            <a:extLst>
              <a:ext uri="{FF2B5EF4-FFF2-40B4-BE49-F238E27FC236}">
                <a16:creationId xmlns:a16="http://schemas.microsoft.com/office/drawing/2014/main" id="{0E6CFB7F-E164-61A6-D068-837AF34DD7C3}"/>
              </a:ext>
            </a:extLst>
          </p:cNvPr>
          <p:cNvSpPr/>
          <p:nvPr/>
        </p:nvSpPr>
        <p:spPr>
          <a:xfrm>
            <a:off x="1018251" y="3126504"/>
            <a:ext cx="1540500" cy="62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9" name="Google Shape;379;p31">
            <a:extLst>
              <a:ext uri="{FF2B5EF4-FFF2-40B4-BE49-F238E27FC236}">
                <a16:creationId xmlns:a16="http://schemas.microsoft.com/office/drawing/2014/main" id="{2C9734D3-7879-AD21-51BF-2AB982D5A7D7}"/>
              </a:ext>
            </a:extLst>
          </p:cNvPr>
          <p:cNvSpPr/>
          <p:nvPr/>
        </p:nvSpPr>
        <p:spPr>
          <a:xfrm>
            <a:off x="4782792" y="1556190"/>
            <a:ext cx="1540500" cy="621600"/>
          </a:xfrm>
          <a:prstGeom prst="rect">
            <a:avLst/>
          </a:prstGeom>
          <a:solidFill>
            <a:schemeClr val="bg2">
              <a:lumMod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0" name="Google Shape;380;p31">
            <a:extLst>
              <a:ext uri="{FF2B5EF4-FFF2-40B4-BE49-F238E27FC236}">
                <a16:creationId xmlns:a16="http://schemas.microsoft.com/office/drawing/2014/main" id="{5C447953-A807-BCA9-C86B-FDDE094433FE}"/>
              </a:ext>
            </a:extLst>
          </p:cNvPr>
          <p:cNvSpPr/>
          <p:nvPr/>
        </p:nvSpPr>
        <p:spPr>
          <a:xfrm>
            <a:off x="4800565" y="3139278"/>
            <a:ext cx="1540500" cy="621600"/>
          </a:xfrm>
          <a:prstGeom prst="rect">
            <a:avLst/>
          </a:pr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1" name="Google Shape;381;p31">
            <a:extLst>
              <a:ext uri="{FF2B5EF4-FFF2-40B4-BE49-F238E27FC236}">
                <a16:creationId xmlns:a16="http://schemas.microsoft.com/office/drawing/2014/main" id="{78636C21-46A1-FBA8-0A11-AAFBEB599048}"/>
              </a:ext>
            </a:extLst>
          </p:cNvPr>
          <p:cNvSpPr/>
          <p:nvPr/>
        </p:nvSpPr>
        <p:spPr>
          <a:xfrm>
            <a:off x="1000478" y="1556190"/>
            <a:ext cx="1540500" cy="621600"/>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2" name="Google Shape;382;p31">
            <a:extLst>
              <a:ext uri="{FF2B5EF4-FFF2-40B4-BE49-F238E27FC236}">
                <a16:creationId xmlns:a16="http://schemas.microsoft.com/office/drawing/2014/main" id="{85F09A61-CA50-0B0F-22D2-415991245C9B}"/>
              </a:ext>
            </a:extLst>
          </p:cNvPr>
          <p:cNvSpPr txBox="1">
            <a:spLocks noGrp="1"/>
          </p:cNvSpPr>
          <p:nvPr>
            <p:ph type="title"/>
          </p:nvPr>
        </p:nvSpPr>
        <p:spPr>
          <a:xfrm>
            <a:off x="382543" y="416041"/>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t>Kiểm soát rủi ro</a:t>
            </a:r>
            <a:endParaRPr b="1"/>
          </a:p>
        </p:txBody>
      </p:sp>
      <p:sp>
        <p:nvSpPr>
          <p:cNvPr id="383" name="Google Shape;383;p31">
            <a:extLst>
              <a:ext uri="{FF2B5EF4-FFF2-40B4-BE49-F238E27FC236}">
                <a16:creationId xmlns:a16="http://schemas.microsoft.com/office/drawing/2014/main" id="{ECEBD1F5-82C9-1B6E-FCC9-11F1FC87BDAD}"/>
              </a:ext>
            </a:extLst>
          </p:cNvPr>
          <p:cNvSpPr txBox="1">
            <a:spLocks noGrp="1"/>
          </p:cNvSpPr>
          <p:nvPr>
            <p:ph type="title" idx="2"/>
          </p:nvPr>
        </p:nvSpPr>
        <p:spPr>
          <a:xfrm>
            <a:off x="1007253" y="1608315"/>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384" name="Google Shape;384;p31">
            <a:extLst>
              <a:ext uri="{FF2B5EF4-FFF2-40B4-BE49-F238E27FC236}">
                <a16:creationId xmlns:a16="http://schemas.microsoft.com/office/drawing/2014/main" id="{BDC2D6E0-F364-AC77-9C63-693A7464DC5A}"/>
              </a:ext>
            </a:extLst>
          </p:cNvPr>
          <p:cNvSpPr txBox="1">
            <a:spLocks noGrp="1"/>
          </p:cNvSpPr>
          <p:nvPr>
            <p:ph type="title" idx="3"/>
          </p:nvPr>
        </p:nvSpPr>
        <p:spPr>
          <a:xfrm>
            <a:off x="4807340" y="3191405"/>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385" name="Google Shape;385;p31">
            <a:extLst>
              <a:ext uri="{FF2B5EF4-FFF2-40B4-BE49-F238E27FC236}">
                <a16:creationId xmlns:a16="http://schemas.microsoft.com/office/drawing/2014/main" id="{662E2147-231C-82DB-5BE7-84BAE160E3E4}"/>
              </a:ext>
            </a:extLst>
          </p:cNvPr>
          <p:cNvSpPr txBox="1">
            <a:spLocks noGrp="1"/>
          </p:cNvSpPr>
          <p:nvPr>
            <p:ph type="title" idx="4"/>
          </p:nvPr>
        </p:nvSpPr>
        <p:spPr>
          <a:xfrm>
            <a:off x="4780884" y="1611774"/>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387" name="Google Shape;387;p31">
            <a:extLst>
              <a:ext uri="{FF2B5EF4-FFF2-40B4-BE49-F238E27FC236}">
                <a16:creationId xmlns:a16="http://schemas.microsoft.com/office/drawing/2014/main" id="{6F751CC5-4662-E7E2-50FE-C40334351FD4}"/>
              </a:ext>
            </a:extLst>
          </p:cNvPr>
          <p:cNvSpPr txBox="1">
            <a:spLocks noGrp="1"/>
          </p:cNvSpPr>
          <p:nvPr>
            <p:ph type="title" idx="6"/>
          </p:nvPr>
        </p:nvSpPr>
        <p:spPr>
          <a:xfrm>
            <a:off x="1028818" y="3182088"/>
            <a:ext cx="1164900" cy="62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389" name="Google Shape;389;p31">
            <a:extLst>
              <a:ext uri="{FF2B5EF4-FFF2-40B4-BE49-F238E27FC236}">
                <a16:creationId xmlns:a16="http://schemas.microsoft.com/office/drawing/2014/main" id="{1DE2436F-4F3F-E3B9-B109-C5AEF2C7D8BC}"/>
              </a:ext>
            </a:extLst>
          </p:cNvPr>
          <p:cNvSpPr txBox="1">
            <a:spLocks noGrp="1"/>
          </p:cNvSpPr>
          <p:nvPr>
            <p:ph type="subTitle" idx="1"/>
          </p:nvPr>
        </p:nvSpPr>
        <p:spPr>
          <a:xfrm>
            <a:off x="1007252" y="2208365"/>
            <a:ext cx="2972195" cy="759715"/>
          </a:xfrm>
          <a:prstGeom prst="rect">
            <a:avLst/>
          </a:prstGeom>
        </p:spPr>
        <p:txBody>
          <a:bodyPr spcFirstLastPara="1" wrap="square" lIns="91425" tIns="91425" rIns="91425" bIns="91425" anchor="t" anchorCtr="0">
            <a:noAutofit/>
          </a:bodyPr>
          <a:lstStyle/>
          <a:p>
            <a:pPr marL="0" lvl="0" indent="0"/>
            <a:r>
              <a:rPr lang="en-US" sz="2000" b="1"/>
              <a:t>Tránh né:</a:t>
            </a:r>
            <a:br>
              <a:rPr lang="en-US" sz="2000"/>
            </a:br>
            <a:r>
              <a:rPr lang="en-US" sz="2000">
                <a:latin typeface="Encode Sans"/>
                <a:cs typeface="Arial"/>
              </a:rPr>
              <a:t>‘</a:t>
            </a:r>
            <a:r>
              <a:rPr lang="en-US" sz="2000">
                <a:latin typeface="Encode Sans"/>
                <a:cs typeface="Arial"/>
                <a:sym typeface="Arial"/>
              </a:rPr>
              <a:t>Đi đường khác’</a:t>
            </a:r>
            <a:endParaRPr sz="2000">
              <a:latin typeface="Encode Sans"/>
              <a:cs typeface="Arial"/>
              <a:sym typeface="Arial"/>
            </a:endParaRPr>
          </a:p>
        </p:txBody>
      </p:sp>
      <p:sp>
        <p:nvSpPr>
          <p:cNvPr id="390" name="Google Shape;390;p31">
            <a:extLst>
              <a:ext uri="{FF2B5EF4-FFF2-40B4-BE49-F238E27FC236}">
                <a16:creationId xmlns:a16="http://schemas.microsoft.com/office/drawing/2014/main" id="{EEAF8C8B-A180-A289-AB7C-FA6069A08812}"/>
              </a:ext>
            </a:extLst>
          </p:cNvPr>
          <p:cNvSpPr txBox="1">
            <a:spLocks noGrp="1"/>
          </p:cNvSpPr>
          <p:nvPr>
            <p:ph type="subTitle" idx="8"/>
          </p:nvPr>
        </p:nvSpPr>
        <p:spPr>
          <a:xfrm>
            <a:off x="4780883" y="2211824"/>
            <a:ext cx="3334203" cy="7597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b="1"/>
              <a:t>Chuyển giao:</a:t>
            </a:r>
          </a:p>
          <a:p>
            <a:pPr marL="0" lvl="0" indent="0" algn="l" rtl="0">
              <a:spcBef>
                <a:spcPts val="0"/>
              </a:spcBef>
              <a:spcAft>
                <a:spcPts val="0"/>
              </a:spcAft>
              <a:buNone/>
            </a:pPr>
            <a:r>
              <a:rPr lang="en-US" sz="2000">
                <a:latin typeface="Encode Sans"/>
                <a:cs typeface="Arial"/>
              </a:rPr>
              <a:t>Chia sẻ tác hại</a:t>
            </a:r>
            <a:endParaRPr sz="2000">
              <a:latin typeface="Encode Sans"/>
              <a:cs typeface="Arial"/>
            </a:endParaRPr>
          </a:p>
        </p:txBody>
      </p:sp>
      <p:sp>
        <p:nvSpPr>
          <p:cNvPr id="391" name="Google Shape;391;p31">
            <a:extLst>
              <a:ext uri="{FF2B5EF4-FFF2-40B4-BE49-F238E27FC236}">
                <a16:creationId xmlns:a16="http://schemas.microsoft.com/office/drawing/2014/main" id="{226E807A-F933-51B6-62BA-3A08C2314AEC}"/>
              </a:ext>
            </a:extLst>
          </p:cNvPr>
          <p:cNvSpPr txBox="1">
            <a:spLocks noGrp="1"/>
          </p:cNvSpPr>
          <p:nvPr>
            <p:ph type="subTitle" idx="9"/>
          </p:nvPr>
        </p:nvSpPr>
        <p:spPr>
          <a:xfrm>
            <a:off x="1007252" y="3793912"/>
            <a:ext cx="3329409" cy="119589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b="1"/>
              <a:t>Giảm nhẹ:</a:t>
            </a:r>
          </a:p>
          <a:p>
            <a:pPr marL="0" indent="0"/>
            <a:r>
              <a:rPr lang="en-US" sz="2000">
                <a:latin typeface="Encode Sans"/>
                <a:cs typeface="Arial"/>
              </a:rPr>
              <a:t>Giảm khả năng xảy ra, </a:t>
            </a:r>
          </a:p>
          <a:p>
            <a:pPr marL="0" indent="0"/>
            <a:r>
              <a:rPr lang="en-US" sz="2000">
                <a:latin typeface="Encode Sans"/>
                <a:cs typeface="Arial"/>
              </a:rPr>
              <a:t>Giảm tác động, giảm chi phí</a:t>
            </a:r>
          </a:p>
        </p:txBody>
      </p:sp>
      <p:sp>
        <p:nvSpPr>
          <p:cNvPr id="392" name="Google Shape;392;p31">
            <a:extLst>
              <a:ext uri="{FF2B5EF4-FFF2-40B4-BE49-F238E27FC236}">
                <a16:creationId xmlns:a16="http://schemas.microsoft.com/office/drawing/2014/main" id="{5F2CDD53-C609-714D-8807-1ED4B4F9A5D3}"/>
              </a:ext>
            </a:extLst>
          </p:cNvPr>
          <p:cNvSpPr txBox="1">
            <a:spLocks noGrp="1"/>
          </p:cNvSpPr>
          <p:nvPr>
            <p:ph type="subTitle" idx="13"/>
          </p:nvPr>
        </p:nvSpPr>
        <p:spPr>
          <a:xfrm>
            <a:off x="4807340" y="3809606"/>
            <a:ext cx="3597158" cy="7597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b="1"/>
              <a:t>Chấp nhận:</a:t>
            </a:r>
          </a:p>
          <a:p>
            <a:pPr marL="0" indent="0"/>
            <a:r>
              <a:rPr lang="en-US" sz="2000">
                <a:latin typeface="Encode Sans"/>
                <a:cs typeface="Arial"/>
              </a:rPr>
              <a:t>“Sống chung” với rủi ro</a:t>
            </a:r>
          </a:p>
          <a:p>
            <a:pPr marL="0" lvl="0" indent="0" algn="l" rtl="0">
              <a:spcBef>
                <a:spcPts val="0"/>
              </a:spcBef>
              <a:spcAft>
                <a:spcPts val="0"/>
              </a:spcAft>
              <a:buNone/>
            </a:pPr>
            <a:endParaRPr b="1"/>
          </a:p>
        </p:txBody>
      </p:sp>
      <p:grpSp>
        <p:nvGrpSpPr>
          <p:cNvPr id="395" name="Google Shape;395;p31">
            <a:extLst>
              <a:ext uri="{FF2B5EF4-FFF2-40B4-BE49-F238E27FC236}">
                <a16:creationId xmlns:a16="http://schemas.microsoft.com/office/drawing/2014/main" id="{4F29BD3E-ECA0-E1A6-36C3-F02572A40BB7}"/>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ED01DD7A-3A94-195F-9F34-497200A8EA92}"/>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86F0BB43-DC22-EC91-2FAA-8624CD733C81}"/>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E1B5257C-A50A-B841-2C5E-89E5C4918CB7}"/>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CBA91F66-3598-CCEF-0F84-9909C7C31F20}"/>
              </a:ext>
            </a:extLst>
          </p:cNvPr>
          <p:cNvSpPr txBox="1"/>
          <p:nvPr/>
        </p:nvSpPr>
        <p:spPr>
          <a:xfrm>
            <a:off x="540373" y="938777"/>
            <a:ext cx="3483646" cy="489749"/>
          </a:xfrm>
          <a:prstGeom prst="rect">
            <a:avLst/>
          </a:prstGeom>
          <a:noFill/>
        </p:spPr>
        <p:txBody>
          <a:bodyPr wrap="none" rtlCol="0">
            <a:spAutoFit/>
          </a:bodyPr>
          <a:lstStyle/>
          <a:p>
            <a:pPr marL="285750" indent="-285750" algn="just">
              <a:lnSpc>
                <a:spcPct val="120000"/>
              </a:lnSpc>
              <a:spcAft>
                <a:spcPts val="1200"/>
              </a:spcAft>
              <a:buClr>
                <a:schemeClr val="dk1"/>
              </a:buClr>
              <a:buSzPct val="75000"/>
              <a:buFont typeface="Wingdings" panose="05000000000000000000" pitchFamily="2" charset="2"/>
              <a:buChar char="Ø"/>
            </a:pPr>
            <a:r>
              <a:rPr lang="en-US" sz="2000">
                <a:solidFill>
                  <a:schemeClr val="dk1"/>
                </a:solidFill>
                <a:latin typeface="Encode Sans"/>
                <a:sym typeface="Encode Sans"/>
              </a:rPr>
              <a:t>Có 4 chiến lược xử lý rủi ro</a:t>
            </a:r>
            <a:r>
              <a:rPr lang="en-US" sz="2400">
                <a:solidFill>
                  <a:schemeClr val="dk1"/>
                </a:solidFill>
                <a:latin typeface="Encode Sans"/>
                <a:sym typeface="Encode Sans"/>
              </a:rPr>
              <a:t>:</a:t>
            </a:r>
          </a:p>
        </p:txBody>
      </p:sp>
    </p:spTree>
    <p:extLst>
      <p:ext uri="{BB962C8B-B14F-4D97-AF65-F5344CB8AC3E}">
        <p14:creationId xmlns:p14="http://schemas.microsoft.com/office/powerpoint/2010/main" val="10747612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6">
          <a:extLst>
            <a:ext uri="{FF2B5EF4-FFF2-40B4-BE49-F238E27FC236}">
              <a16:creationId xmlns:a16="http://schemas.microsoft.com/office/drawing/2014/main" id="{DA95361E-2048-A62C-4213-6F0785493D24}"/>
            </a:ext>
          </a:extLst>
        </p:cNvPr>
        <p:cNvGrpSpPr/>
        <p:nvPr/>
      </p:nvGrpSpPr>
      <p:grpSpPr>
        <a:xfrm>
          <a:off x="0" y="0"/>
          <a:ext cx="0" cy="0"/>
          <a:chOff x="0" y="0"/>
          <a:chExt cx="0" cy="0"/>
        </a:xfrm>
      </p:grpSpPr>
      <p:sp>
        <p:nvSpPr>
          <p:cNvPr id="517" name="Google Shape;517;p39">
            <a:extLst>
              <a:ext uri="{FF2B5EF4-FFF2-40B4-BE49-F238E27FC236}">
                <a16:creationId xmlns:a16="http://schemas.microsoft.com/office/drawing/2014/main" id="{682B5BE8-7CAF-DE64-E827-B4B7F0A707E7}"/>
              </a:ext>
            </a:extLst>
          </p:cNvPr>
          <p:cNvSpPr txBox="1">
            <a:spLocks noGrp="1"/>
          </p:cNvSpPr>
          <p:nvPr>
            <p:ph type="title"/>
          </p:nvPr>
        </p:nvSpPr>
        <p:spPr>
          <a:xfrm>
            <a:off x="748950" y="1338606"/>
            <a:ext cx="7320394" cy="197020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800" b="1">
                <a:solidFill>
                  <a:schemeClr val="tx2">
                    <a:lumMod val="75000"/>
                  </a:schemeClr>
                </a:solidFill>
              </a:rPr>
              <a:t>Giám sát </a:t>
            </a:r>
            <a:br>
              <a:rPr lang="en-US" sz="4800" b="1">
                <a:solidFill>
                  <a:schemeClr val="tx2">
                    <a:lumMod val="75000"/>
                  </a:schemeClr>
                </a:solidFill>
              </a:rPr>
            </a:br>
            <a:r>
              <a:rPr lang="en-US" sz="4800" b="1">
                <a:solidFill>
                  <a:schemeClr val="accent2">
                    <a:lumMod val="50000"/>
                  </a:schemeClr>
                </a:solidFill>
              </a:rPr>
              <a:t>&amp; điều chỉnh </a:t>
            </a:r>
            <a:r>
              <a:rPr lang="en-US" sz="4800"/>
              <a:t>rủi ro</a:t>
            </a:r>
            <a:endParaRPr sz="4800"/>
          </a:p>
        </p:txBody>
      </p:sp>
      <p:grpSp>
        <p:nvGrpSpPr>
          <p:cNvPr id="519" name="Google Shape;519;p39">
            <a:extLst>
              <a:ext uri="{FF2B5EF4-FFF2-40B4-BE49-F238E27FC236}">
                <a16:creationId xmlns:a16="http://schemas.microsoft.com/office/drawing/2014/main" id="{4E76A702-771B-8821-D36F-CB5CB27AFCA0}"/>
              </a:ext>
            </a:extLst>
          </p:cNvPr>
          <p:cNvGrpSpPr/>
          <p:nvPr/>
        </p:nvGrpSpPr>
        <p:grpSpPr>
          <a:xfrm>
            <a:off x="6607781" y="1532622"/>
            <a:ext cx="2224840" cy="418725"/>
            <a:chOff x="7318351" y="2997150"/>
            <a:chExt cx="2224840" cy="418725"/>
          </a:xfrm>
        </p:grpSpPr>
        <p:sp>
          <p:nvSpPr>
            <p:cNvPr id="520" name="Google Shape;520;p39">
              <a:extLst>
                <a:ext uri="{FF2B5EF4-FFF2-40B4-BE49-F238E27FC236}">
                  <a16:creationId xmlns:a16="http://schemas.microsoft.com/office/drawing/2014/main" id="{51878186-EAF8-7A4A-88D1-7DF96892E8A7}"/>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a:extLst>
                <a:ext uri="{FF2B5EF4-FFF2-40B4-BE49-F238E27FC236}">
                  <a16:creationId xmlns:a16="http://schemas.microsoft.com/office/drawing/2014/main" id="{4273A33D-78F7-D5E0-B4E3-418AD999800D}"/>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a:extLst>
                <a:ext uri="{FF2B5EF4-FFF2-40B4-BE49-F238E27FC236}">
                  <a16:creationId xmlns:a16="http://schemas.microsoft.com/office/drawing/2014/main" id="{BEFEAE63-32E9-00BA-233D-6D054FD8264B}"/>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518;p39">
            <a:extLst>
              <a:ext uri="{FF2B5EF4-FFF2-40B4-BE49-F238E27FC236}">
                <a16:creationId xmlns:a16="http://schemas.microsoft.com/office/drawing/2014/main" id="{D6F9685B-D141-FE36-90B3-305F874C58EC}"/>
              </a:ext>
            </a:extLst>
          </p:cNvPr>
          <p:cNvSpPr txBox="1">
            <a:spLocks noGrp="1"/>
          </p:cNvSpPr>
          <p:nvPr>
            <p:ph type="subTitle" idx="1"/>
          </p:nvPr>
        </p:nvSpPr>
        <p:spPr>
          <a:xfrm>
            <a:off x="5850450" y="3953240"/>
            <a:ext cx="2232600" cy="642900"/>
          </a:xfrm>
          <a:prstGeom prst="rect">
            <a:avLst/>
          </a:prstGeom>
        </p:spPr>
        <p:txBody>
          <a:bodyPr spcFirstLastPara="1" wrap="square" lIns="91425" tIns="91425" rIns="91425" bIns="91425" anchor="b" anchorCtr="0">
            <a:noAutofit/>
          </a:bodyPr>
          <a:lstStyle/>
          <a:p>
            <a:pPr marL="0" lvl="0" indent="0"/>
            <a:r>
              <a:rPr lang="en-US" sz="2000"/>
              <a:t>Bước 5</a:t>
            </a:r>
            <a:endParaRPr sz="2000"/>
          </a:p>
        </p:txBody>
      </p:sp>
    </p:spTree>
    <p:extLst>
      <p:ext uri="{BB962C8B-B14F-4D97-AF65-F5344CB8AC3E}">
        <p14:creationId xmlns:p14="http://schemas.microsoft.com/office/powerpoint/2010/main" val="13873081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8DB772E0-1D56-1C92-47B1-4D167E3DA4DA}"/>
            </a:ext>
          </a:extLst>
        </p:cNvPr>
        <p:cNvGrpSpPr/>
        <p:nvPr/>
      </p:nvGrpSpPr>
      <p:grpSpPr>
        <a:xfrm>
          <a:off x="0" y="0"/>
          <a:ext cx="0" cy="0"/>
          <a:chOff x="0" y="0"/>
          <a:chExt cx="0" cy="0"/>
        </a:xfrm>
      </p:grpSpPr>
      <p:sp>
        <p:nvSpPr>
          <p:cNvPr id="382" name="Google Shape;382;p31">
            <a:extLst>
              <a:ext uri="{FF2B5EF4-FFF2-40B4-BE49-F238E27FC236}">
                <a16:creationId xmlns:a16="http://schemas.microsoft.com/office/drawing/2014/main" id="{4E5504D1-EDC5-4ADA-E20A-13EA2F0A3719}"/>
              </a:ext>
            </a:extLst>
          </p:cNvPr>
          <p:cNvSpPr txBox="1">
            <a:spLocks noGrp="1"/>
          </p:cNvSpPr>
          <p:nvPr>
            <p:ph type="title"/>
          </p:nvPr>
        </p:nvSpPr>
        <p:spPr>
          <a:xfrm>
            <a:off x="382543" y="416041"/>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t>Giám sát và điều chỉnh rủi ro</a:t>
            </a:r>
            <a:endParaRPr b="1"/>
          </a:p>
        </p:txBody>
      </p:sp>
      <p:grpSp>
        <p:nvGrpSpPr>
          <p:cNvPr id="395" name="Google Shape;395;p31">
            <a:extLst>
              <a:ext uri="{FF2B5EF4-FFF2-40B4-BE49-F238E27FC236}">
                <a16:creationId xmlns:a16="http://schemas.microsoft.com/office/drawing/2014/main" id="{6A736B5A-89BD-C838-8D27-2F8E5EACB318}"/>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B8EFAF7E-9197-4FC6-4141-4DCDC9E22958}"/>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7644B9E7-CEA4-9BDB-F751-6D3E44E8A4C6}"/>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3B82D329-C73C-DE52-E4B9-9284F2505246}"/>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96093367-D3AF-76B3-876E-3EB08C710088}"/>
              </a:ext>
            </a:extLst>
          </p:cNvPr>
          <p:cNvSpPr txBox="1"/>
          <p:nvPr/>
        </p:nvSpPr>
        <p:spPr>
          <a:xfrm>
            <a:off x="382543" y="1163062"/>
            <a:ext cx="8148393" cy="1162178"/>
          </a:xfrm>
          <a:prstGeom prst="rect">
            <a:avLst/>
          </a:prstGeom>
          <a:noFill/>
        </p:spPr>
        <p:txBody>
          <a:bodyPr wrap="square" rtlCol="0">
            <a:spAutoFit/>
          </a:bodyPr>
          <a:lstStyle/>
          <a:p>
            <a:pPr marL="285750" indent="-285750" algn="just">
              <a:lnSpc>
                <a:spcPct val="120000"/>
              </a:lnSpc>
              <a:spcAft>
                <a:spcPts val="1200"/>
              </a:spcAft>
              <a:buClr>
                <a:schemeClr val="dk1"/>
              </a:buClr>
              <a:buSzPct val="75000"/>
              <a:buFont typeface="Wingdings" panose="05000000000000000000" pitchFamily="2" charset="2"/>
              <a:buChar char="Ø"/>
            </a:pPr>
            <a:r>
              <a:rPr lang="en-US" sz="2000">
                <a:solidFill>
                  <a:schemeClr val="dk1"/>
                </a:solidFill>
                <a:latin typeface="Encode Sans"/>
                <a:sym typeface="Encode Sans"/>
              </a:rPr>
              <a:t>L</a:t>
            </a:r>
            <a:r>
              <a:rPr lang="vi-VN" sz="2000">
                <a:solidFill>
                  <a:schemeClr val="dk1"/>
                </a:solidFill>
                <a:latin typeface="Encode Sans"/>
                <a:sym typeface="Encode Sans"/>
              </a:rPr>
              <a:t>à</a:t>
            </a:r>
            <a:r>
              <a:rPr lang="en-US" sz="2000">
                <a:solidFill>
                  <a:schemeClr val="dk1"/>
                </a:solidFill>
                <a:latin typeface="Encode Sans"/>
                <a:sym typeface="Encode Sans"/>
              </a:rPr>
              <a:t> các hoạt động được thực hiện liên tục trong suốt vòng đời của dự án nhằm đảm bảo chiến lược và các kế hoạch đối phó rủi ro được thực thi hiệu quả. Quá trình này gồm:</a:t>
            </a:r>
          </a:p>
        </p:txBody>
      </p:sp>
      <p:sp>
        <p:nvSpPr>
          <p:cNvPr id="20" name="TextBox 19">
            <a:extLst>
              <a:ext uri="{FF2B5EF4-FFF2-40B4-BE49-F238E27FC236}">
                <a16:creationId xmlns:a16="http://schemas.microsoft.com/office/drawing/2014/main" id="{202D7B43-0C9E-798A-69CC-6B34FF6897B3}"/>
              </a:ext>
            </a:extLst>
          </p:cNvPr>
          <p:cNvSpPr txBox="1"/>
          <p:nvPr/>
        </p:nvSpPr>
        <p:spPr>
          <a:xfrm>
            <a:off x="665017" y="2411239"/>
            <a:ext cx="5850079" cy="2208618"/>
          </a:xfrm>
          <a:prstGeom prst="rect">
            <a:avLst/>
          </a:prstGeom>
          <a:noFill/>
        </p:spPr>
        <p:txBody>
          <a:bodyPr wrap="square">
            <a:spAutoFit/>
          </a:bodyPr>
          <a:lstStyle/>
          <a:p>
            <a:pPr marL="285750" indent="-285750" algn="just">
              <a:lnSpc>
                <a:spcPct val="120000"/>
              </a:lnSpc>
              <a:spcAft>
                <a:spcPts val="600"/>
              </a:spcAft>
              <a:buClr>
                <a:schemeClr val="dk1"/>
              </a:buClr>
              <a:buSzPct val="75000"/>
              <a:buFont typeface="Wingdings" panose="05000000000000000000" pitchFamily="2" charset="2"/>
              <a:buChar char="q"/>
            </a:pPr>
            <a:r>
              <a:rPr lang="en-US" sz="2000" b="1">
                <a:solidFill>
                  <a:schemeClr val="dk1"/>
                </a:solidFill>
                <a:latin typeface="Encode Sans"/>
                <a:sym typeface="Encode Sans"/>
              </a:rPr>
              <a:t>T</a:t>
            </a:r>
            <a:r>
              <a:rPr lang="vi-VN" sz="2000" b="1">
                <a:solidFill>
                  <a:schemeClr val="dk1"/>
                </a:solidFill>
                <a:latin typeface="Encode Sans"/>
                <a:sym typeface="Encode Sans"/>
              </a:rPr>
              <a:t>heo dõi </a:t>
            </a:r>
            <a:r>
              <a:rPr lang="vi-VN" sz="2000">
                <a:solidFill>
                  <a:schemeClr val="dk1"/>
                </a:solidFill>
                <a:latin typeface="Encode Sans"/>
                <a:sym typeface="Encode Sans"/>
              </a:rPr>
              <a:t>các rủi ro đã </a:t>
            </a:r>
            <a:r>
              <a:rPr lang="vi-VN" sz="2000">
                <a:solidFill>
                  <a:schemeClr val="dk1"/>
                </a:solidFill>
                <a:highlight>
                  <a:srgbClr val="FFFF00"/>
                </a:highlight>
                <a:latin typeface="Encode Sans"/>
                <a:sym typeface="Encode Sans"/>
              </a:rPr>
              <a:t>được xác định</a:t>
            </a:r>
            <a:endParaRPr lang="en-US" sz="2000">
              <a:solidFill>
                <a:schemeClr val="dk1"/>
              </a:solidFill>
              <a:highlight>
                <a:srgbClr val="FFFF00"/>
              </a:highlight>
              <a:latin typeface="Encode Sans"/>
              <a:sym typeface="Encode Sans"/>
            </a:endParaRPr>
          </a:p>
          <a:p>
            <a:pPr marL="285750" indent="-285750" algn="just">
              <a:lnSpc>
                <a:spcPct val="120000"/>
              </a:lnSpc>
              <a:spcAft>
                <a:spcPts val="600"/>
              </a:spcAft>
              <a:buClr>
                <a:schemeClr val="dk1"/>
              </a:buClr>
              <a:buSzPct val="75000"/>
              <a:buFont typeface="Wingdings" panose="05000000000000000000" pitchFamily="2" charset="2"/>
              <a:buChar char="q"/>
            </a:pPr>
            <a:r>
              <a:rPr lang="en-US" sz="2000" b="1">
                <a:solidFill>
                  <a:schemeClr val="dk1"/>
                </a:solidFill>
                <a:latin typeface="Encode Sans"/>
                <a:sym typeface="Encode Sans"/>
              </a:rPr>
              <a:t>G</a:t>
            </a:r>
            <a:r>
              <a:rPr lang="vi-VN" sz="2000" b="1">
                <a:solidFill>
                  <a:schemeClr val="dk1"/>
                </a:solidFill>
                <a:latin typeface="Encode Sans"/>
                <a:sym typeface="Encode Sans"/>
              </a:rPr>
              <a:t>iám sát</a:t>
            </a:r>
            <a:r>
              <a:rPr lang="vi-VN" sz="2000">
                <a:solidFill>
                  <a:schemeClr val="dk1"/>
                </a:solidFill>
                <a:latin typeface="Encode Sans"/>
                <a:sym typeface="Encode Sans"/>
              </a:rPr>
              <a:t> các rủi ro </a:t>
            </a:r>
            <a:r>
              <a:rPr lang="vi-VN" sz="2000">
                <a:solidFill>
                  <a:schemeClr val="dk1"/>
                </a:solidFill>
                <a:highlight>
                  <a:srgbClr val="FFFF00"/>
                </a:highlight>
                <a:latin typeface="Encode Sans"/>
                <a:sym typeface="Encode Sans"/>
              </a:rPr>
              <a:t>còn lại</a:t>
            </a:r>
            <a:endParaRPr lang="en-US" sz="2000">
              <a:solidFill>
                <a:schemeClr val="dk1"/>
              </a:solidFill>
              <a:highlight>
                <a:srgbClr val="FFFF00"/>
              </a:highlight>
              <a:latin typeface="Encode Sans"/>
              <a:sym typeface="Encode Sans"/>
            </a:endParaRPr>
          </a:p>
          <a:p>
            <a:pPr marL="285750" indent="-285750" algn="just">
              <a:lnSpc>
                <a:spcPct val="120000"/>
              </a:lnSpc>
              <a:spcAft>
                <a:spcPts val="600"/>
              </a:spcAft>
              <a:buClr>
                <a:schemeClr val="dk1"/>
              </a:buClr>
              <a:buSzPct val="75000"/>
              <a:buFont typeface="Wingdings" panose="05000000000000000000" pitchFamily="2" charset="2"/>
              <a:buChar char="q"/>
            </a:pPr>
            <a:r>
              <a:rPr lang="en-US" sz="2000" b="1">
                <a:solidFill>
                  <a:schemeClr val="dk1"/>
                </a:solidFill>
                <a:latin typeface="Encode Sans"/>
                <a:sym typeface="Encode Sans"/>
              </a:rPr>
              <a:t>X</a:t>
            </a:r>
            <a:r>
              <a:rPr lang="vi-VN" sz="2000" b="1">
                <a:solidFill>
                  <a:schemeClr val="dk1"/>
                </a:solidFill>
                <a:latin typeface="Encode Sans"/>
                <a:sym typeface="Encode Sans"/>
              </a:rPr>
              <a:t>ác định </a:t>
            </a:r>
            <a:r>
              <a:rPr lang="vi-VN" sz="2000">
                <a:solidFill>
                  <a:schemeClr val="dk1"/>
                </a:solidFill>
                <a:latin typeface="Encode Sans"/>
                <a:sym typeface="Encode Sans"/>
              </a:rPr>
              <a:t>các rủi ro </a:t>
            </a:r>
            <a:r>
              <a:rPr lang="vi-VN" sz="2000">
                <a:solidFill>
                  <a:schemeClr val="dk1"/>
                </a:solidFill>
                <a:highlight>
                  <a:srgbClr val="FFFF00"/>
                </a:highlight>
                <a:latin typeface="Encode Sans"/>
                <a:sym typeface="Encode Sans"/>
              </a:rPr>
              <a:t>mới</a:t>
            </a:r>
            <a:endParaRPr lang="en-US" sz="2000">
              <a:solidFill>
                <a:schemeClr val="dk1"/>
              </a:solidFill>
              <a:highlight>
                <a:srgbClr val="FFFF00"/>
              </a:highlight>
              <a:latin typeface="Encode Sans"/>
              <a:sym typeface="Encode Sans"/>
            </a:endParaRPr>
          </a:p>
          <a:p>
            <a:pPr marL="285750" indent="-285750" algn="just">
              <a:lnSpc>
                <a:spcPct val="120000"/>
              </a:lnSpc>
              <a:spcAft>
                <a:spcPts val="600"/>
              </a:spcAft>
              <a:buClr>
                <a:schemeClr val="dk1"/>
              </a:buClr>
              <a:buSzPct val="75000"/>
              <a:buFont typeface="Wingdings" panose="05000000000000000000" pitchFamily="2" charset="2"/>
              <a:buChar char="q"/>
            </a:pPr>
            <a:r>
              <a:rPr lang="en-US" sz="2000" b="1">
                <a:solidFill>
                  <a:schemeClr val="dk1"/>
                </a:solidFill>
                <a:latin typeface="Encode Sans"/>
                <a:sym typeface="Encode Sans"/>
              </a:rPr>
              <a:t>T</a:t>
            </a:r>
            <a:r>
              <a:rPr lang="vi-VN" sz="2000" b="1">
                <a:solidFill>
                  <a:schemeClr val="dk1"/>
                </a:solidFill>
                <a:latin typeface="Encode Sans"/>
                <a:sym typeface="Encode Sans"/>
              </a:rPr>
              <a:t>hực hiện các kế hoạch </a:t>
            </a:r>
            <a:r>
              <a:rPr lang="vi-VN" sz="2000">
                <a:solidFill>
                  <a:schemeClr val="dk1"/>
                </a:solidFill>
                <a:latin typeface="Encode Sans"/>
                <a:sym typeface="Encode Sans"/>
              </a:rPr>
              <a:t>ứng phó rủi ro</a:t>
            </a:r>
            <a:endParaRPr lang="en-US" sz="2000">
              <a:solidFill>
                <a:schemeClr val="dk1"/>
              </a:solidFill>
              <a:latin typeface="Encode Sans"/>
              <a:sym typeface="Encode Sans"/>
            </a:endParaRPr>
          </a:p>
          <a:p>
            <a:pPr marL="285750" indent="-285750" algn="just">
              <a:lnSpc>
                <a:spcPct val="120000"/>
              </a:lnSpc>
              <a:spcAft>
                <a:spcPts val="600"/>
              </a:spcAft>
              <a:buClr>
                <a:schemeClr val="dk1"/>
              </a:buClr>
              <a:buSzPct val="75000"/>
              <a:buFont typeface="Wingdings" panose="05000000000000000000" pitchFamily="2" charset="2"/>
              <a:buChar char="q"/>
            </a:pPr>
            <a:r>
              <a:rPr lang="en-US" sz="2000" b="1">
                <a:solidFill>
                  <a:schemeClr val="dk1"/>
                </a:solidFill>
                <a:latin typeface="Encode Sans"/>
                <a:sym typeface="Encode Sans"/>
              </a:rPr>
              <a:t>Đ</a:t>
            </a:r>
            <a:r>
              <a:rPr lang="vi-VN" sz="2000" b="1">
                <a:solidFill>
                  <a:schemeClr val="dk1"/>
                </a:solidFill>
                <a:latin typeface="Encode Sans"/>
                <a:sym typeface="Encode Sans"/>
              </a:rPr>
              <a:t>ánh giá hiệu quả</a:t>
            </a:r>
            <a:endParaRPr lang="en-US" sz="2000">
              <a:solidFill>
                <a:schemeClr val="dk1"/>
              </a:solidFill>
              <a:latin typeface="Encode Sans"/>
              <a:sym typeface="Encode Sans"/>
            </a:endParaRPr>
          </a:p>
        </p:txBody>
      </p:sp>
      <p:pic>
        <p:nvPicPr>
          <p:cNvPr id="1026" name="Picture 2" descr="Risk Control | Techniques and Importance of Risk Control">
            <a:extLst>
              <a:ext uri="{FF2B5EF4-FFF2-40B4-BE49-F238E27FC236}">
                <a16:creationId xmlns:a16="http://schemas.microsoft.com/office/drawing/2014/main" id="{108D7B69-5453-F363-CBF9-BF9D220BBB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511" t="3003" r="-8" b="12130"/>
          <a:stretch>
            <a:fillRect/>
          </a:stretch>
        </p:blipFill>
        <p:spPr bwMode="auto">
          <a:xfrm>
            <a:off x="5597646" y="2106678"/>
            <a:ext cx="2631953" cy="2409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04991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41116D98-159A-D79A-0CE6-C1037F6DF317}"/>
            </a:ext>
          </a:extLst>
        </p:cNvPr>
        <p:cNvGrpSpPr/>
        <p:nvPr/>
      </p:nvGrpSpPr>
      <p:grpSpPr>
        <a:xfrm>
          <a:off x="0" y="0"/>
          <a:ext cx="0" cy="0"/>
          <a:chOff x="0" y="0"/>
          <a:chExt cx="0" cy="0"/>
        </a:xfrm>
      </p:grpSpPr>
      <p:sp>
        <p:nvSpPr>
          <p:cNvPr id="382" name="Google Shape;382;p31">
            <a:extLst>
              <a:ext uri="{FF2B5EF4-FFF2-40B4-BE49-F238E27FC236}">
                <a16:creationId xmlns:a16="http://schemas.microsoft.com/office/drawing/2014/main" id="{50F1612E-6DF5-C971-AE35-C1C9EA6A0643}"/>
              </a:ext>
            </a:extLst>
          </p:cNvPr>
          <p:cNvSpPr txBox="1">
            <a:spLocks noGrp="1"/>
          </p:cNvSpPr>
          <p:nvPr>
            <p:ph type="title"/>
          </p:nvPr>
        </p:nvSpPr>
        <p:spPr>
          <a:xfrm>
            <a:off x="382543" y="416040"/>
            <a:ext cx="6672884" cy="104907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FF0000"/>
                </a:solidFill>
              </a:rPr>
              <a:t>Mục đích </a:t>
            </a:r>
            <a:r>
              <a:rPr lang="en-US" b="1"/>
              <a:t>của </a:t>
            </a:r>
            <a:br>
              <a:rPr lang="en-US" b="1"/>
            </a:br>
            <a:r>
              <a:rPr lang="en-US" b="1"/>
              <a:t>giám sát &amp; điều chỉnh rủi ro</a:t>
            </a:r>
            <a:endParaRPr b="1"/>
          </a:p>
        </p:txBody>
      </p:sp>
      <p:grpSp>
        <p:nvGrpSpPr>
          <p:cNvPr id="395" name="Google Shape;395;p31">
            <a:extLst>
              <a:ext uri="{FF2B5EF4-FFF2-40B4-BE49-F238E27FC236}">
                <a16:creationId xmlns:a16="http://schemas.microsoft.com/office/drawing/2014/main" id="{C22F8CB5-7777-AF04-4D8C-EB06913CD2B7}"/>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AE71AEA2-B860-2AB9-A4C3-11692163E45A}"/>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3F9F100F-B4B0-4724-433C-6602CB004A67}"/>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70F02D9D-F958-6E78-5443-D01D8830B52D}"/>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TextBox 19">
            <a:extLst>
              <a:ext uri="{FF2B5EF4-FFF2-40B4-BE49-F238E27FC236}">
                <a16:creationId xmlns:a16="http://schemas.microsoft.com/office/drawing/2014/main" id="{DB66E9DC-C66D-A9A4-A3FE-FB07C5FFC154}"/>
              </a:ext>
            </a:extLst>
          </p:cNvPr>
          <p:cNvSpPr txBox="1"/>
          <p:nvPr/>
        </p:nvSpPr>
        <p:spPr>
          <a:xfrm>
            <a:off x="654626" y="1777395"/>
            <a:ext cx="5850079" cy="2208618"/>
          </a:xfrm>
          <a:prstGeom prst="rect">
            <a:avLst/>
          </a:prstGeom>
          <a:noFill/>
        </p:spPr>
        <p:txBody>
          <a:bodyPr wrap="square">
            <a:spAutoFit/>
          </a:bodyPr>
          <a:lstStyle/>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Đảm bảo thực thi kế hoạch</a:t>
            </a:r>
          </a:p>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Đánh giá hiệu quả</a:t>
            </a:r>
          </a:p>
          <a:p>
            <a:pPr marL="342900" indent="-342900" algn="just">
              <a:lnSpc>
                <a:spcPct val="120000"/>
              </a:lnSpc>
              <a:spcAft>
                <a:spcPts val="600"/>
              </a:spcAft>
              <a:buClr>
                <a:schemeClr val="dk1"/>
              </a:buClr>
              <a:buSzPct val="75000"/>
              <a:buFont typeface="Wingdings" panose="05000000000000000000" pitchFamily="2" charset="2"/>
              <a:buChar char="Ø"/>
            </a:pPr>
            <a:r>
              <a:rPr lang="vi-VN" sz="2000">
                <a:solidFill>
                  <a:schemeClr val="dk1"/>
                </a:solidFill>
                <a:latin typeface="Encode Sans"/>
                <a:sym typeface="Encode Sans"/>
              </a:rPr>
              <a:t>Điều chỉnh chiến lược</a:t>
            </a:r>
            <a:endParaRPr lang="en-US" sz="2000">
              <a:solidFill>
                <a:schemeClr val="dk1"/>
              </a:solidFill>
              <a:latin typeface="Encode Sans"/>
              <a:sym typeface="Encode Sans"/>
            </a:endParaRPr>
          </a:p>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Cập nhật thông tin rủi ro</a:t>
            </a:r>
          </a:p>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Ra quyết định dựa trên thông tin</a:t>
            </a:r>
          </a:p>
        </p:txBody>
      </p:sp>
      <p:pic>
        <p:nvPicPr>
          <p:cNvPr id="2050" name="Picture 2" descr="Control Risk Vectors - Download Free High-Quality Vectors from Freepik |  Freepik">
            <a:extLst>
              <a:ext uri="{FF2B5EF4-FFF2-40B4-BE49-F238E27FC236}">
                <a16:creationId xmlns:a16="http://schemas.microsoft.com/office/drawing/2014/main" id="{AFEC921D-94AA-23B9-4C11-74C558AA55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2291" y="1512943"/>
            <a:ext cx="3344828" cy="3344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36954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B2D67AE2-66BB-B354-42C6-98D4070DF815}"/>
            </a:ext>
          </a:extLst>
        </p:cNvPr>
        <p:cNvGrpSpPr/>
        <p:nvPr/>
      </p:nvGrpSpPr>
      <p:grpSpPr>
        <a:xfrm>
          <a:off x="0" y="0"/>
          <a:ext cx="0" cy="0"/>
          <a:chOff x="0" y="0"/>
          <a:chExt cx="0" cy="0"/>
        </a:xfrm>
      </p:grpSpPr>
      <p:sp>
        <p:nvSpPr>
          <p:cNvPr id="382" name="Google Shape;382;p31">
            <a:extLst>
              <a:ext uri="{FF2B5EF4-FFF2-40B4-BE49-F238E27FC236}">
                <a16:creationId xmlns:a16="http://schemas.microsoft.com/office/drawing/2014/main" id="{503610B7-FBB3-EA2A-2AAD-F3F7EBF94182}"/>
              </a:ext>
            </a:extLst>
          </p:cNvPr>
          <p:cNvSpPr txBox="1">
            <a:spLocks noGrp="1"/>
          </p:cNvSpPr>
          <p:nvPr>
            <p:ph type="title"/>
          </p:nvPr>
        </p:nvSpPr>
        <p:spPr>
          <a:xfrm>
            <a:off x="382543" y="416040"/>
            <a:ext cx="6873022" cy="104907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FF0000"/>
                </a:solidFill>
              </a:rPr>
              <a:t>Hoạt động chính </a:t>
            </a:r>
            <a:r>
              <a:rPr lang="en-US" b="1"/>
              <a:t>của </a:t>
            </a:r>
            <a:br>
              <a:rPr lang="en-US" b="1"/>
            </a:br>
            <a:r>
              <a:rPr lang="en-US" b="1"/>
              <a:t>giám sát &amp; điều chỉnh rủi ro</a:t>
            </a:r>
            <a:endParaRPr b="1"/>
          </a:p>
        </p:txBody>
      </p:sp>
      <p:grpSp>
        <p:nvGrpSpPr>
          <p:cNvPr id="395" name="Google Shape;395;p31">
            <a:extLst>
              <a:ext uri="{FF2B5EF4-FFF2-40B4-BE49-F238E27FC236}">
                <a16:creationId xmlns:a16="http://schemas.microsoft.com/office/drawing/2014/main" id="{A26B0458-4A9A-B1E4-6CCA-4FF04E2AFA98}"/>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ACEA8791-A275-EC2A-8A0B-0B74B8207440}"/>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5D363722-E8A1-BC32-0425-FCAF9D27796A}"/>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4DC66A5C-2232-C5A0-9A04-A2F3F72B4662}"/>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TextBox 19">
            <a:extLst>
              <a:ext uri="{FF2B5EF4-FFF2-40B4-BE49-F238E27FC236}">
                <a16:creationId xmlns:a16="http://schemas.microsoft.com/office/drawing/2014/main" id="{326750DA-B983-43AE-D8D5-949D70596DDC}"/>
              </a:ext>
            </a:extLst>
          </p:cNvPr>
          <p:cNvSpPr txBox="1"/>
          <p:nvPr/>
        </p:nvSpPr>
        <p:spPr>
          <a:xfrm>
            <a:off x="654626" y="1618369"/>
            <a:ext cx="5850079" cy="2654894"/>
          </a:xfrm>
          <a:prstGeom prst="rect">
            <a:avLst/>
          </a:prstGeom>
          <a:noFill/>
        </p:spPr>
        <p:txBody>
          <a:bodyPr wrap="square">
            <a:spAutoFit/>
          </a:bodyPr>
          <a:lstStyle/>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Theo dõi rủi ro đã xác định</a:t>
            </a:r>
          </a:p>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Giám sát các yếu tố kích hoạt (triggers)</a:t>
            </a:r>
          </a:p>
          <a:p>
            <a:pPr marL="342900" indent="-342900" algn="just">
              <a:lnSpc>
                <a:spcPct val="120000"/>
              </a:lnSpc>
              <a:spcAft>
                <a:spcPts val="600"/>
              </a:spcAft>
              <a:buClr>
                <a:schemeClr val="dk1"/>
              </a:buClr>
              <a:buSzPct val="75000"/>
              <a:buFont typeface="Wingdings" panose="05000000000000000000" pitchFamily="2" charset="2"/>
              <a:buChar char="Ø"/>
            </a:pPr>
            <a:r>
              <a:rPr lang="vi-VN" sz="2000">
                <a:solidFill>
                  <a:schemeClr val="dk1"/>
                </a:solidFill>
                <a:latin typeface="Encode Sans"/>
                <a:sym typeface="Encode Sans"/>
              </a:rPr>
              <a:t>Thực hiện kế hoạch ứng phó</a:t>
            </a:r>
            <a:endParaRPr lang="en-US" sz="2000">
              <a:solidFill>
                <a:schemeClr val="dk1"/>
              </a:solidFill>
              <a:latin typeface="Encode Sans"/>
              <a:sym typeface="Encode Sans"/>
            </a:endParaRPr>
          </a:p>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Đánh giá lại rủi ro hiện có</a:t>
            </a:r>
          </a:p>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Xác định rủi ro mới</a:t>
            </a:r>
          </a:p>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Báo cáo rủi ro</a:t>
            </a:r>
          </a:p>
        </p:txBody>
      </p:sp>
      <p:pic>
        <p:nvPicPr>
          <p:cNvPr id="3074" name="Picture 2" descr="Flat vector risk management concept illustration | Premium Vector">
            <a:extLst>
              <a:ext uri="{FF2B5EF4-FFF2-40B4-BE49-F238E27FC236}">
                <a16:creationId xmlns:a16="http://schemas.microsoft.com/office/drawing/2014/main" id="{3BE6C30E-9D9D-FB33-C79A-172973A63D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09" t="3863" r="4503" b="3212"/>
          <a:stretch>
            <a:fillRect/>
          </a:stretch>
        </p:blipFill>
        <p:spPr bwMode="auto">
          <a:xfrm>
            <a:off x="5633884" y="1789471"/>
            <a:ext cx="2487561" cy="2548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6457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73F05924-961B-F0F0-68F4-E641ECD0C15D}"/>
            </a:ext>
          </a:extLst>
        </p:cNvPr>
        <p:cNvGrpSpPr/>
        <p:nvPr/>
      </p:nvGrpSpPr>
      <p:grpSpPr>
        <a:xfrm>
          <a:off x="0" y="0"/>
          <a:ext cx="0" cy="0"/>
          <a:chOff x="0" y="0"/>
          <a:chExt cx="0" cy="0"/>
        </a:xfrm>
      </p:grpSpPr>
      <p:sp>
        <p:nvSpPr>
          <p:cNvPr id="382" name="Google Shape;382;p31">
            <a:extLst>
              <a:ext uri="{FF2B5EF4-FFF2-40B4-BE49-F238E27FC236}">
                <a16:creationId xmlns:a16="http://schemas.microsoft.com/office/drawing/2014/main" id="{81C3A1B6-7898-7740-0C5B-D8C23E0723B0}"/>
              </a:ext>
            </a:extLst>
          </p:cNvPr>
          <p:cNvSpPr txBox="1">
            <a:spLocks noGrp="1"/>
          </p:cNvSpPr>
          <p:nvPr>
            <p:ph type="title"/>
          </p:nvPr>
        </p:nvSpPr>
        <p:spPr>
          <a:xfrm>
            <a:off x="382542" y="416041"/>
            <a:ext cx="6704057" cy="6542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t>Công cụ và kỹ thuật hỗ trợ</a:t>
            </a:r>
            <a:endParaRPr b="1"/>
          </a:p>
        </p:txBody>
      </p:sp>
      <p:grpSp>
        <p:nvGrpSpPr>
          <p:cNvPr id="395" name="Google Shape;395;p31">
            <a:extLst>
              <a:ext uri="{FF2B5EF4-FFF2-40B4-BE49-F238E27FC236}">
                <a16:creationId xmlns:a16="http://schemas.microsoft.com/office/drawing/2014/main" id="{E6146B34-097F-1472-BD32-862D8A5C5755}"/>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4D98C870-E997-F002-329A-BDF53D8A495C}"/>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EFC1DDA0-4410-15A2-232D-72B9ADB29410}"/>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72B75CCF-8CE9-7018-D459-BBE58535414E}"/>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TextBox 19">
            <a:extLst>
              <a:ext uri="{FF2B5EF4-FFF2-40B4-BE49-F238E27FC236}">
                <a16:creationId xmlns:a16="http://schemas.microsoft.com/office/drawing/2014/main" id="{27B70269-69DD-7915-4294-98B1BA8C0288}"/>
              </a:ext>
            </a:extLst>
          </p:cNvPr>
          <p:cNvSpPr txBox="1"/>
          <p:nvPr/>
        </p:nvSpPr>
        <p:spPr>
          <a:xfrm>
            <a:off x="247461" y="1398008"/>
            <a:ext cx="8262694" cy="2793393"/>
          </a:xfrm>
          <a:prstGeom prst="rect">
            <a:avLst/>
          </a:prstGeom>
          <a:noFill/>
        </p:spPr>
        <p:txBody>
          <a:bodyPr wrap="square">
            <a:spAutoFit/>
          </a:bodyPr>
          <a:lstStyle/>
          <a:p>
            <a:pPr marL="342900" indent="-342900" algn="just">
              <a:lnSpc>
                <a:spcPct val="120000"/>
              </a:lnSpc>
              <a:spcAft>
                <a:spcPts val="1200"/>
              </a:spcAft>
              <a:buClr>
                <a:schemeClr val="dk1"/>
              </a:buClr>
              <a:buSzPct val="75000"/>
              <a:buFont typeface="Wingdings" panose="05000000000000000000" pitchFamily="2" charset="2"/>
              <a:buChar char="Ø"/>
            </a:pPr>
            <a:r>
              <a:rPr lang="vi-VN" sz="2000" b="1">
                <a:solidFill>
                  <a:schemeClr val="dk1"/>
                </a:solidFill>
                <a:latin typeface="Encode Sans"/>
                <a:sym typeface="Encode Sans"/>
              </a:rPr>
              <a:t>Họp đánh giá rủi ro (Risk Review Meetings): </a:t>
            </a:r>
            <a:r>
              <a:rPr lang="vi-VN" sz="2000">
                <a:solidFill>
                  <a:schemeClr val="dk1"/>
                </a:solidFill>
                <a:latin typeface="Encode Sans"/>
                <a:sym typeface="Encode Sans"/>
              </a:rPr>
              <a:t>Tổ chức các cuộc họp định kỳ để thảo luận về tình hình rủi ro, hiệu quả của các biện pháp ứng phó và xác định các rủi ro mới.</a:t>
            </a:r>
          </a:p>
          <a:p>
            <a:pPr marL="342900" indent="-342900" algn="just">
              <a:lnSpc>
                <a:spcPct val="120000"/>
              </a:lnSpc>
              <a:spcAft>
                <a:spcPts val="600"/>
              </a:spcAft>
              <a:buClr>
                <a:schemeClr val="dk1"/>
              </a:buClr>
              <a:buSzPct val="75000"/>
              <a:buFont typeface="Wingdings" panose="05000000000000000000" pitchFamily="2" charset="2"/>
              <a:buChar char="Ø"/>
            </a:pPr>
            <a:r>
              <a:rPr lang="vi-VN" sz="2000" b="1">
                <a:solidFill>
                  <a:schemeClr val="dk1"/>
                </a:solidFill>
                <a:latin typeface="Encode Sans"/>
                <a:sym typeface="Encode Sans"/>
              </a:rPr>
              <a:t>Phân tích phương sai và xu hướng (Variance and Trend Analysis): </a:t>
            </a:r>
            <a:r>
              <a:rPr lang="vi-VN" sz="2000">
                <a:solidFill>
                  <a:schemeClr val="dk1"/>
                </a:solidFill>
                <a:latin typeface="Encode Sans"/>
                <a:sym typeface="Encode Sans"/>
              </a:rPr>
              <a:t>So sánh kết quả thực tế với kế hoạch để xác định các sai lệch, từ đó có thể nhận diện các rủi ro tiềm ẩn hoặc đánh giá hiệu quả của các biện pháp ứng phó.</a:t>
            </a:r>
            <a:endParaRPr lang="en-US" sz="2000">
              <a:solidFill>
                <a:schemeClr val="dk1"/>
              </a:solidFill>
              <a:latin typeface="Encode Sans"/>
              <a:sym typeface="Encode Sans"/>
            </a:endParaRPr>
          </a:p>
        </p:txBody>
      </p:sp>
    </p:spTree>
    <p:extLst>
      <p:ext uri="{BB962C8B-B14F-4D97-AF65-F5344CB8AC3E}">
        <p14:creationId xmlns:p14="http://schemas.microsoft.com/office/powerpoint/2010/main" val="3375199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09">
          <a:extLst>
            <a:ext uri="{FF2B5EF4-FFF2-40B4-BE49-F238E27FC236}">
              <a16:creationId xmlns:a16="http://schemas.microsoft.com/office/drawing/2014/main" id="{98B88958-617E-562F-2EA1-741DE596F153}"/>
            </a:ext>
          </a:extLst>
        </p:cNvPr>
        <p:cNvGrpSpPr/>
        <p:nvPr/>
      </p:nvGrpSpPr>
      <p:grpSpPr>
        <a:xfrm>
          <a:off x="0" y="0"/>
          <a:ext cx="0" cy="0"/>
          <a:chOff x="0" y="0"/>
          <a:chExt cx="0" cy="0"/>
        </a:xfrm>
      </p:grpSpPr>
      <p:sp>
        <p:nvSpPr>
          <p:cNvPr id="410" name="Google Shape;410;p33">
            <a:extLst>
              <a:ext uri="{FF2B5EF4-FFF2-40B4-BE49-F238E27FC236}">
                <a16:creationId xmlns:a16="http://schemas.microsoft.com/office/drawing/2014/main" id="{208E7B8D-1E2C-F236-4EC2-320925D623C3}"/>
              </a:ext>
            </a:extLst>
          </p:cNvPr>
          <p:cNvSpPr txBox="1">
            <a:spLocks noGrp="1"/>
          </p:cNvSpPr>
          <p:nvPr>
            <p:ph type="title"/>
          </p:nvPr>
        </p:nvSpPr>
        <p:spPr>
          <a:xfrm>
            <a:off x="2475569" y="2239219"/>
            <a:ext cx="5003181" cy="66506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tx1"/>
                </a:solidFill>
              </a:rPr>
              <a:t>Tổng kết nội dung</a:t>
            </a:r>
            <a:endParaRPr sz="3200">
              <a:solidFill>
                <a:schemeClr val="tx1"/>
              </a:solidFill>
            </a:endParaRPr>
          </a:p>
        </p:txBody>
      </p:sp>
      <p:sp>
        <p:nvSpPr>
          <p:cNvPr id="411" name="Google Shape;411;p33">
            <a:extLst>
              <a:ext uri="{FF2B5EF4-FFF2-40B4-BE49-F238E27FC236}">
                <a16:creationId xmlns:a16="http://schemas.microsoft.com/office/drawing/2014/main" id="{C450DC1F-F4AD-2225-2767-3195FEE49B18}"/>
              </a:ext>
            </a:extLst>
          </p:cNvPr>
          <p:cNvSpPr txBox="1">
            <a:spLocks noGrp="1"/>
          </p:cNvSpPr>
          <p:nvPr>
            <p:ph type="title" idx="2"/>
          </p:nvPr>
        </p:nvSpPr>
        <p:spPr>
          <a:xfrm>
            <a:off x="795454" y="2061450"/>
            <a:ext cx="1584721" cy="102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grpSp>
        <p:nvGrpSpPr>
          <p:cNvPr id="412" name="Google Shape;412;p33">
            <a:extLst>
              <a:ext uri="{FF2B5EF4-FFF2-40B4-BE49-F238E27FC236}">
                <a16:creationId xmlns:a16="http://schemas.microsoft.com/office/drawing/2014/main" id="{D51AB420-4118-ED04-E28C-C3BD02BDA8E5}"/>
              </a:ext>
            </a:extLst>
          </p:cNvPr>
          <p:cNvGrpSpPr/>
          <p:nvPr/>
        </p:nvGrpSpPr>
        <p:grpSpPr>
          <a:xfrm>
            <a:off x="713226" y="1029883"/>
            <a:ext cx="2224840" cy="418725"/>
            <a:chOff x="7318351" y="2997150"/>
            <a:chExt cx="2224840" cy="418725"/>
          </a:xfrm>
        </p:grpSpPr>
        <p:sp>
          <p:nvSpPr>
            <p:cNvPr id="413" name="Google Shape;413;p33">
              <a:extLst>
                <a:ext uri="{FF2B5EF4-FFF2-40B4-BE49-F238E27FC236}">
                  <a16:creationId xmlns:a16="http://schemas.microsoft.com/office/drawing/2014/main" id="{D356137E-82C9-F608-88AE-DAAE33948A26}"/>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951B3CFA-74F1-9A8D-6083-852F48D60C51}"/>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a:extLst>
                <a:ext uri="{FF2B5EF4-FFF2-40B4-BE49-F238E27FC236}">
                  <a16:creationId xmlns:a16="http://schemas.microsoft.com/office/drawing/2014/main" id="{640B9E6A-E8B8-7EA9-23C7-92B190FBCA87}"/>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 name="Google Shape;416;p33">
            <a:extLst>
              <a:ext uri="{FF2B5EF4-FFF2-40B4-BE49-F238E27FC236}">
                <a16:creationId xmlns:a16="http://schemas.microsoft.com/office/drawing/2014/main" id="{BAB5E7E0-84CE-C762-BA4D-C987A2AA670C}"/>
              </a:ext>
            </a:extLst>
          </p:cNvPr>
          <p:cNvGrpSpPr/>
          <p:nvPr/>
        </p:nvGrpSpPr>
        <p:grpSpPr>
          <a:xfrm>
            <a:off x="905675" y="3962558"/>
            <a:ext cx="2026050" cy="514500"/>
            <a:chOff x="-834325" y="4144333"/>
            <a:chExt cx="2026050" cy="514500"/>
          </a:xfrm>
        </p:grpSpPr>
        <p:sp>
          <p:nvSpPr>
            <p:cNvPr id="417" name="Google Shape;417;p33">
              <a:extLst>
                <a:ext uri="{FF2B5EF4-FFF2-40B4-BE49-F238E27FC236}">
                  <a16:creationId xmlns:a16="http://schemas.microsoft.com/office/drawing/2014/main" id="{3CB32FEA-BD43-C6B9-C488-55A02A7D5B2A}"/>
                </a:ext>
              </a:extLst>
            </p:cNvPr>
            <p:cNvSpPr/>
            <p:nvPr/>
          </p:nvSpPr>
          <p:spPr>
            <a:xfrm>
              <a:off x="-834325" y="4144333"/>
              <a:ext cx="1930800" cy="440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8" name="Google Shape;418;p33">
              <a:extLst>
                <a:ext uri="{FF2B5EF4-FFF2-40B4-BE49-F238E27FC236}">
                  <a16:creationId xmlns:a16="http://schemas.microsoft.com/office/drawing/2014/main" id="{C9F46B79-3085-945F-2040-4AF70A4FC419}"/>
                </a:ext>
              </a:extLst>
            </p:cNvPr>
            <p:cNvSpPr/>
            <p:nvPr/>
          </p:nvSpPr>
          <p:spPr>
            <a:xfrm>
              <a:off x="-739075" y="4218433"/>
              <a:ext cx="1930800" cy="4404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419" name="Google Shape;419;p33">
            <a:extLst>
              <a:ext uri="{FF2B5EF4-FFF2-40B4-BE49-F238E27FC236}">
                <a16:creationId xmlns:a16="http://schemas.microsoft.com/office/drawing/2014/main" id="{4D755A96-063A-99A1-2842-B08A3261A1A0}"/>
              </a:ext>
            </a:extLst>
          </p:cNvPr>
          <p:cNvSpPr/>
          <p:nvPr/>
        </p:nvSpPr>
        <p:spPr>
          <a:xfrm rot="5400000">
            <a:off x="7358575" y="1030875"/>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0" name="Google Shape;420;p33">
            <a:extLst>
              <a:ext uri="{FF2B5EF4-FFF2-40B4-BE49-F238E27FC236}">
                <a16:creationId xmlns:a16="http://schemas.microsoft.com/office/drawing/2014/main" id="{FE2D5CE3-0689-908F-2B46-978C5319C338}"/>
              </a:ext>
            </a:extLst>
          </p:cNvPr>
          <p:cNvSpPr/>
          <p:nvPr/>
        </p:nvSpPr>
        <p:spPr>
          <a:xfrm>
            <a:off x="3094400" y="693033"/>
            <a:ext cx="156900" cy="156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421" name="Google Shape;421;p33">
            <a:extLst>
              <a:ext uri="{FF2B5EF4-FFF2-40B4-BE49-F238E27FC236}">
                <a16:creationId xmlns:a16="http://schemas.microsoft.com/office/drawing/2014/main" id="{197F6F1D-9432-843F-A765-D5E322AAD662}"/>
              </a:ext>
            </a:extLst>
          </p:cNvPr>
          <p:cNvCxnSpPr/>
          <p:nvPr/>
        </p:nvCxnSpPr>
        <p:spPr>
          <a:xfrm rot="10800000">
            <a:off x="-179050" y="3432175"/>
            <a:ext cx="6953400" cy="0"/>
          </a:xfrm>
          <a:prstGeom prst="straightConnector1">
            <a:avLst/>
          </a:prstGeom>
          <a:noFill/>
          <a:ln w="19050" cap="flat" cmpd="sng">
            <a:solidFill>
              <a:schemeClr val="lt2"/>
            </a:solidFill>
            <a:prstDash val="solid"/>
            <a:round/>
            <a:headEnd type="diamond" w="med" len="med"/>
            <a:tailEnd type="none" w="med" len="med"/>
          </a:ln>
        </p:spPr>
      </p:cxnSp>
    </p:spTree>
    <p:extLst>
      <p:ext uri="{BB962C8B-B14F-4D97-AF65-F5344CB8AC3E}">
        <p14:creationId xmlns:p14="http://schemas.microsoft.com/office/powerpoint/2010/main" val="28253215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B6567EBD-8D90-15D8-1DAE-6BED6B35C8BF}"/>
            </a:ext>
          </a:extLst>
        </p:cNvPr>
        <p:cNvGrpSpPr/>
        <p:nvPr/>
      </p:nvGrpSpPr>
      <p:grpSpPr>
        <a:xfrm>
          <a:off x="0" y="0"/>
          <a:ext cx="0" cy="0"/>
          <a:chOff x="0" y="0"/>
          <a:chExt cx="0" cy="0"/>
        </a:xfrm>
      </p:grpSpPr>
      <p:sp>
        <p:nvSpPr>
          <p:cNvPr id="382" name="Google Shape;382;p31">
            <a:extLst>
              <a:ext uri="{FF2B5EF4-FFF2-40B4-BE49-F238E27FC236}">
                <a16:creationId xmlns:a16="http://schemas.microsoft.com/office/drawing/2014/main" id="{C4193EE3-F73B-8ED6-1161-6E0FFC04770A}"/>
              </a:ext>
            </a:extLst>
          </p:cNvPr>
          <p:cNvSpPr txBox="1">
            <a:spLocks noGrp="1"/>
          </p:cNvSpPr>
          <p:nvPr>
            <p:ph type="title"/>
          </p:nvPr>
        </p:nvSpPr>
        <p:spPr>
          <a:xfrm>
            <a:off x="382542" y="416041"/>
            <a:ext cx="6704057" cy="6542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t>Tổng kết những điểm chính</a:t>
            </a:r>
            <a:endParaRPr b="1"/>
          </a:p>
        </p:txBody>
      </p:sp>
      <p:grpSp>
        <p:nvGrpSpPr>
          <p:cNvPr id="395" name="Google Shape;395;p31">
            <a:extLst>
              <a:ext uri="{FF2B5EF4-FFF2-40B4-BE49-F238E27FC236}">
                <a16:creationId xmlns:a16="http://schemas.microsoft.com/office/drawing/2014/main" id="{8C99556D-AABA-32CA-A182-92B8F6212040}"/>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E1F80684-B6E4-AF3C-9A0A-9839213F8792}"/>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0980318C-DF6E-6B29-81C7-7BB8F4FFE1E3}"/>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CAD99451-C6DF-ADB8-ACC2-8CC56E7C71EF}"/>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TextBox 19">
            <a:extLst>
              <a:ext uri="{FF2B5EF4-FFF2-40B4-BE49-F238E27FC236}">
                <a16:creationId xmlns:a16="http://schemas.microsoft.com/office/drawing/2014/main" id="{2E50236C-DFA5-0878-112C-FB088D0EB723}"/>
              </a:ext>
            </a:extLst>
          </p:cNvPr>
          <p:cNvSpPr txBox="1"/>
          <p:nvPr/>
        </p:nvSpPr>
        <p:spPr>
          <a:xfrm>
            <a:off x="382542" y="1336301"/>
            <a:ext cx="7961358" cy="2654894"/>
          </a:xfrm>
          <a:prstGeom prst="rect">
            <a:avLst/>
          </a:prstGeom>
          <a:noFill/>
        </p:spPr>
        <p:txBody>
          <a:bodyPr wrap="square">
            <a:spAutoFit/>
          </a:bodyPr>
          <a:lstStyle/>
          <a:p>
            <a:pPr marL="342900" indent="-342900" algn="just">
              <a:lnSpc>
                <a:spcPct val="120000"/>
              </a:lnSpc>
              <a:spcAft>
                <a:spcPts val="600"/>
              </a:spcAft>
              <a:buClr>
                <a:schemeClr val="dk1"/>
              </a:buClr>
              <a:buSzPct val="75000"/>
              <a:buFont typeface="Wingdings" panose="05000000000000000000" pitchFamily="2" charset="2"/>
              <a:buChar char="Ø"/>
            </a:pPr>
            <a:r>
              <a:rPr lang="vi-VN" sz="2000">
                <a:solidFill>
                  <a:schemeClr val="dk1"/>
                </a:solidFill>
                <a:latin typeface="Encode Sans"/>
                <a:sym typeface="Encode Sans"/>
              </a:rPr>
              <a:t>Tập trung vào việc</a:t>
            </a:r>
            <a:r>
              <a:rPr lang="en-US" sz="2000">
                <a:solidFill>
                  <a:schemeClr val="dk1"/>
                </a:solidFill>
                <a:latin typeface="Encode Sans"/>
                <a:sym typeface="Encode Sans"/>
              </a:rPr>
              <a:t> “phòng bệnh hơn là chữa bệnh”</a:t>
            </a:r>
          </a:p>
          <a:p>
            <a:pPr marL="342900" indent="-342900" algn="just">
              <a:lnSpc>
                <a:spcPct val="120000"/>
              </a:lnSpc>
              <a:spcAft>
                <a:spcPts val="600"/>
              </a:spcAft>
              <a:buClr>
                <a:schemeClr val="dk1"/>
              </a:buClr>
              <a:buSzPct val="75000"/>
              <a:buFont typeface="Wingdings" panose="05000000000000000000" pitchFamily="2" charset="2"/>
              <a:buChar char="Ø"/>
            </a:pPr>
            <a:r>
              <a:rPr lang="vi-VN" sz="2000">
                <a:solidFill>
                  <a:schemeClr val="dk1"/>
                </a:solidFill>
                <a:latin typeface="Encode Sans"/>
                <a:sym typeface="Encode Sans"/>
              </a:rPr>
              <a:t>Đánh giá rủi ro theo thời kỳ trong suốt vòng đời của dự án</a:t>
            </a:r>
            <a:endParaRPr lang="en-US" sz="2000">
              <a:solidFill>
                <a:schemeClr val="dk1"/>
              </a:solidFill>
              <a:latin typeface="Encode Sans"/>
              <a:sym typeface="Encode Sans"/>
            </a:endParaRPr>
          </a:p>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Quy trình quản lý rủi ro luôn được thực hiện liên tục và có sự lặp lại </a:t>
            </a:r>
          </a:p>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Nhận biết giới hạn và phạm vi của quản lý rủi ro</a:t>
            </a:r>
          </a:p>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Quản lý rủi ro cần được cân đối hợp lý với chi phí, nguồn lực sẵn có</a:t>
            </a:r>
          </a:p>
          <a:p>
            <a:pPr marL="342900" indent="-342900" algn="just">
              <a:lnSpc>
                <a:spcPct val="120000"/>
              </a:lnSpc>
              <a:spcAft>
                <a:spcPts val="600"/>
              </a:spcAft>
              <a:buClr>
                <a:schemeClr val="dk1"/>
              </a:buClr>
              <a:buSzPct val="75000"/>
              <a:buFont typeface="Wingdings" panose="05000000000000000000" pitchFamily="2" charset="2"/>
              <a:buChar char="Ø"/>
            </a:pPr>
            <a:r>
              <a:rPr lang="en-US" sz="2000">
                <a:solidFill>
                  <a:schemeClr val="dk1"/>
                </a:solidFill>
                <a:latin typeface="Encode Sans"/>
                <a:sym typeface="Encode Sans"/>
              </a:rPr>
              <a:t>Cần sự giao tiếp và tham gia của các bên liên quan</a:t>
            </a:r>
          </a:p>
        </p:txBody>
      </p:sp>
    </p:spTree>
    <p:extLst>
      <p:ext uri="{BB962C8B-B14F-4D97-AF65-F5344CB8AC3E}">
        <p14:creationId xmlns:p14="http://schemas.microsoft.com/office/powerpoint/2010/main" val="30001084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09">
          <a:extLst>
            <a:ext uri="{FF2B5EF4-FFF2-40B4-BE49-F238E27FC236}">
              <a16:creationId xmlns:a16="http://schemas.microsoft.com/office/drawing/2014/main" id="{7EEC27A4-9E70-B6D2-44A5-E0B0D6F13437}"/>
            </a:ext>
          </a:extLst>
        </p:cNvPr>
        <p:cNvGrpSpPr/>
        <p:nvPr/>
      </p:nvGrpSpPr>
      <p:grpSpPr>
        <a:xfrm>
          <a:off x="0" y="0"/>
          <a:ext cx="0" cy="0"/>
          <a:chOff x="0" y="0"/>
          <a:chExt cx="0" cy="0"/>
        </a:xfrm>
      </p:grpSpPr>
      <p:sp>
        <p:nvSpPr>
          <p:cNvPr id="410" name="Google Shape;410;p33">
            <a:extLst>
              <a:ext uri="{FF2B5EF4-FFF2-40B4-BE49-F238E27FC236}">
                <a16:creationId xmlns:a16="http://schemas.microsoft.com/office/drawing/2014/main" id="{1DA57AB9-7B36-0BAB-2EDE-608F9224BC6B}"/>
              </a:ext>
            </a:extLst>
          </p:cNvPr>
          <p:cNvSpPr txBox="1">
            <a:spLocks noGrp="1"/>
          </p:cNvSpPr>
          <p:nvPr>
            <p:ph type="title"/>
          </p:nvPr>
        </p:nvSpPr>
        <p:spPr>
          <a:xfrm>
            <a:off x="2512741" y="2259520"/>
            <a:ext cx="4928839" cy="66506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tx1"/>
                </a:solidFill>
              </a:rPr>
              <a:t>Câu hỏi ôn tập</a:t>
            </a:r>
            <a:endParaRPr sz="3200">
              <a:solidFill>
                <a:schemeClr val="tx1"/>
              </a:solidFill>
            </a:endParaRPr>
          </a:p>
        </p:txBody>
      </p:sp>
      <p:sp>
        <p:nvSpPr>
          <p:cNvPr id="411" name="Google Shape;411;p33">
            <a:extLst>
              <a:ext uri="{FF2B5EF4-FFF2-40B4-BE49-F238E27FC236}">
                <a16:creationId xmlns:a16="http://schemas.microsoft.com/office/drawing/2014/main" id="{F9181526-4AF7-6C4D-C29E-4E12142F32A1}"/>
              </a:ext>
            </a:extLst>
          </p:cNvPr>
          <p:cNvSpPr txBox="1">
            <a:spLocks noGrp="1"/>
          </p:cNvSpPr>
          <p:nvPr>
            <p:ph type="title" idx="2"/>
          </p:nvPr>
        </p:nvSpPr>
        <p:spPr>
          <a:xfrm>
            <a:off x="795454" y="2061450"/>
            <a:ext cx="1584721" cy="102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grpSp>
        <p:nvGrpSpPr>
          <p:cNvPr id="412" name="Google Shape;412;p33">
            <a:extLst>
              <a:ext uri="{FF2B5EF4-FFF2-40B4-BE49-F238E27FC236}">
                <a16:creationId xmlns:a16="http://schemas.microsoft.com/office/drawing/2014/main" id="{BD5A6606-54EC-CEAA-E0BA-6459D1C35C96}"/>
              </a:ext>
            </a:extLst>
          </p:cNvPr>
          <p:cNvGrpSpPr/>
          <p:nvPr/>
        </p:nvGrpSpPr>
        <p:grpSpPr>
          <a:xfrm>
            <a:off x="713226" y="1029883"/>
            <a:ext cx="2224840" cy="418725"/>
            <a:chOff x="7318351" y="2997150"/>
            <a:chExt cx="2224840" cy="418725"/>
          </a:xfrm>
        </p:grpSpPr>
        <p:sp>
          <p:nvSpPr>
            <p:cNvPr id="413" name="Google Shape;413;p33">
              <a:extLst>
                <a:ext uri="{FF2B5EF4-FFF2-40B4-BE49-F238E27FC236}">
                  <a16:creationId xmlns:a16="http://schemas.microsoft.com/office/drawing/2014/main" id="{1A6F4F7A-6817-799C-0640-61E6012AF8F5}"/>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BACFC26B-1BA3-5491-5976-2EC767049B73}"/>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a:extLst>
                <a:ext uri="{FF2B5EF4-FFF2-40B4-BE49-F238E27FC236}">
                  <a16:creationId xmlns:a16="http://schemas.microsoft.com/office/drawing/2014/main" id="{06CE48F6-F5A7-A178-9D2C-BED748F8B65A}"/>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 name="Google Shape;416;p33">
            <a:extLst>
              <a:ext uri="{FF2B5EF4-FFF2-40B4-BE49-F238E27FC236}">
                <a16:creationId xmlns:a16="http://schemas.microsoft.com/office/drawing/2014/main" id="{E1EADE05-7257-58ED-DEE1-3AA2B6431C9D}"/>
              </a:ext>
            </a:extLst>
          </p:cNvPr>
          <p:cNvGrpSpPr/>
          <p:nvPr/>
        </p:nvGrpSpPr>
        <p:grpSpPr>
          <a:xfrm>
            <a:off x="905675" y="3962558"/>
            <a:ext cx="2026050" cy="514500"/>
            <a:chOff x="-834325" y="4144333"/>
            <a:chExt cx="2026050" cy="514500"/>
          </a:xfrm>
        </p:grpSpPr>
        <p:sp>
          <p:nvSpPr>
            <p:cNvPr id="417" name="Google Shape;417;p33">
              <a:extLst>
                <a:ext uri="{FF2B5EF4-FFF2-40B4-BE49-F238E27FC236}">
                  <a16:creationId xmlns:a16="http://schemas.microsoft.com/office/drawing/2014/main" id="{0C14F838-D412-FA30-AB2A-621B47DC0D55}"/>
                </a:ext>
              </a:extLst>
            </p:cNvPr>
            <p:cNvSpPr/>
            <p:nvPr/>
          </p:nvSpPr>
          <p:spPr>
            <a:xfrm>
              <a:off x="-834325" y="4144333"/>
              <a:ext cx="1930800" cy="440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8" name="Google Shape;418;p33">
              <a:extLst>
                <a:ext uri="{FF2B5EF4-FFF2-40B4-BE49-F238E27FC236}">
                  <a16:creationId xmlns:a16="http://schemas.microsoft.com/office/drawing/2014/main" id="{72D05A46-B412-0689-D585-8242EB5CD077}"/>
                </a:ext>
              </a:extLst>
            </p:cNvPr>
            <p:cNvSpPr/>
            <p:nvPr/>
          </p:nvSpPr>
          <p:spPr>
            <a:xfrm>
              <a:off x="-739075" y="4218433"/>
              <a:ext cx="1930800" cy="4404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419" name="Google Shape;419;p33">
            <a:extLst>
              <a:ext uri="{FF2B5EF4-FFF2-40B4-BE49-F238E27FC236}">
                <a16:creationId xmlns:a16="http://schemas.microsoft.com/office/drawing/2014/main" id="{EB71FAF8-F21B-50AD-E5A7-534D53B7E57D}"/>
              </a:ext>
            </a:extLst>
          </p:cNvPr>
          <p:cNvSpPr/>
          <p:nvPr/>
        </p:nvSpPr>
        <p:spPr>
          <a:xfrm rot="5400000">
            <a:off x="7358575" y="1030875"/>
            <a:ext cx="120300" cy="804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0" name="Google Shape;420;p33">
            <a:extLst>
              <a:ext uri="{FF2B5EF4-FFF2-40B4-BE49-F238E27FC236}">
                <a16:creationId xmlns:a16="http://schemas.microsoft.com/office/drawing/2014/main" id="{91DC3C8E-1D71-25C0-0F37-9A5A39F1A84D}"/>
              </a:ext>
            </a:extLst>
          </p:cNvPr>
          <p:cNvSpPr/>
          <p:nvPr/>
        </p:nvSpPr>
        <p:spPr>
          <a:xfrm>
            <a:off x="3094400" y="693033"/>
            <a:ext cx="156900" cy="156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421" name="Google Shape;421;p33">
            <a:extLst>
              <a:ext uri="{FF2B5EF4-FFF2-40B4-BE49-F238E27FC236}">
                <a16:creationId xmlns:a16="http://schemas.microsoft.com/office/drawing/2014/main" id="{AC1235B0-9F06-DF08-B17E-B924CDE21B80}"/>
              </a:ext>
            </a:extLst>
          </p:cNvPr>
          <p:cNvCxnSpPr/>
          <p:nvPr/>
        </p:nvCxnSpPr>
        <p:spPr>
          <a:xfrm rot="10800000">
            <a:off x="-179050" y="3432175"/>
            <a:ext cx="6953400" cy="0"/>
          </a:xfrm>
          <a:prstGeom prst="straightConnector1">
            <a:avLst/>
          </a:prstGeom>
          <a:noFill/>
          <a:ln w="19050" cap="flat" cmpd="sng">
            <a:solidFill>
              <a:schemeClr val="lt2"/>
            </a:solidFill>
            <a:prstDash val="solid"/>
            <a:round/>
            <a:headEnd type="diamond" w="med" len="med"/>
            <a:tailEnd type="none" w="med" len="med"/>
          </a:ln>
        </p:spPr>
      </p:cxnSp>
    </p:spTree>
    <p:extLst>
      <p:ext uri="{BB962C8B-B14F-4D97-AF65-F5344CB8AC3E}">
        <p14:creationId xmlns:p14="http://schemas.microsoft.com/office/powerpoint/2010/main" val="20943316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88D60E83-E411-3EEE-317D-7F718E5E680D}"/>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4955F955-D962-06DC-E07A-03D74377B8AD}"/>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E6519D49-94D8-1690-FE5A-D0D7163E33BC}"/>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96B7B9BE-233B-F263-820F-635B670B4BC0}"/>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839D2627-2CF8-A22B-6B9B-DE4281829EFC}"/>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47789954-8D2B-1642-FC6E-88A591A4828B}"/>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EC071919-A4C4-61E5-02F5-57F5B0539DD8}"/>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C65DBDA2-060C-A78D-8EB8-7BAB22479D22}"/>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21D8EACC-E34D-8E27-13AC-C3C1F1231FD2}"/>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72313F9E-8E80-BE53-8CAC-962A597E41F2}"/>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vi-VN" sz="2000" b="1">
                <a:solidFill>
                  <a:schemeClr val="tx1"/>
                </a:solidFill>
              </a:rPr>
              <a:t>1. Rủi ro trong dự án phần mềm được định nghĩa là gì?</a:t>
            </a:r>
          </a:p>
        </p:txBody>
      </p:sp>
      <p:sp>
        <p:nvSpPr>
          <p:cNvPr id="38" name="Google Shape;389;p31">
            <a:extLst>
              <a:ext uri="{FF2B5EF4-FFF2-40B4-BE49-F238E27FC236}">
                <a16:creationId xmlns:a16="http://schemas.microsoft.com/office/drawing/2014/main" id="{DBC719F4-654D-ADCA-4DDA-AB8C393338D6}"/>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Một vấn đề đã xảy ra</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B2C1CD3F-7184-1652-609E-14C13D03D12D}"/>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Khả năng xảy ra sự kiện không mong muốn gây tác động tiêu cực</a:t>
            </a:r>
            <a:endParaRPr sz="1600">
              <a:latin typeface="Encode Sans"/>
              <a:cs typeface="Arial"/>
            </a:endParaRPr>
          </a:p>
        </p:txBody>
      </p:sp>
      <p:sp>
        <p:nvSpPr>
          <p:cNvPr id="40" name="Google Shape;391;p31">
            <a:extLst>
              <a:ext uri="{FF2B5EF4-FFF2-40B4-BE49-F238E27FC236}">
                <a16:creationId xmlns:a16="http://schemas.microsoft.com/office/drawing/2014/main" id="{D5F555E6-3A05-2EFB-6512-45402533F0E6}"/>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Một sự kiện chắc chắn sẽ xảy ra</a:t>
            </a:r>
          </a:p>
        </p:txBody>
      </p:sp>
      <p:sp>
        <p:nvSpPr>
          <p:cNvPr id="41" name="Google Shape;392;p31">
            <a:extLst>
              <a:ext uri="{FF2B5EF4-FFF2-40B4-BE49-F238E27FC236}">
                <a16:creationId xmlns:a16="http://schemas.microsoft.com/office/drawing/2014/main" id="{F1BC813E-C205-622B-F5B2-226595D6BFC5}"/>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Sự trễ hạn trong dự án</a:t>
            </a:r>
          </a:p>
        </p:txBody>
      </p:sp>
    </p:spTree>
    <p:extLst>
      <p:ext uri="{BB962C8B-B14F-4D97-AF65-F5344CB8AC3E}">
        <p14:creationId xmlns:p14="http://schemas.microsoft.com/office/powerpoint/2010/main" val="292619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01F14B"/>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681DE965-81CC-0852-E788-087378F5C260}"/>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27A3D280-BC29-A67D-A7E8-183106950082}"/>
              </a:ext>
            </a:extLst>
          </p:cNvPr>
          <p:cNvSpPr/>
          <p:nvPr/>
        </p:nvSpPr>
        <p:spPr>
          <a:xfrm>
            <a:off x="853085" y="3727065"/>
            <a:ext cx="3600300" cy="1205144"/>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54B1310B-ACF0-33B7-32AF-55A33818CF3E}"/>
              </a:ext>
            </a:extLst>
          </p:cNvPr>
          <p:cNvSpPr/>
          <p:nvPr/>
        </p:nvSpPr>
        <p:spPr>
          <a:xfrm>
            <a:off x="853085" y="2416058"/>
            <a:ext cx="3600300" cy="1205144"/>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D7CE9FB7-DA23-324E-2E01-F955043CCB6C}"/>
              </a:ext>
            </a:extLst>
          </p:cNvPr>
          <p:cNvSpPr/>
          <p:nvPr/>
        </p:nvSpPr>
        <p:spPr>
          <a:xfrm>
            <a:off x="4640827" y="3727065"/>
            <a:ext cx="3600300" cy="1205144"/>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6D6FAD1D-E3A3-56FB-B322-C725DF2F2889}"/>
              </a:ext>
            </a:extLst>
          </p:cNvPr>
          <p:cNvSpPr/>
          <p:nvPr/>
        </p:nvSpPr>
        <p:spPr>
          <a:xfrm>
            <a:off x="4640827" y="2416058"/>
            <a:ext cx="3600300" cy="1205144"/>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sp>
        <p:nvSpPr>
          <p:cNvPr id="3" name="Google Shape;382;p31">
            <a:extLst>
              <a:ext uri="{FF2B5EF4-FFF2-40B4-BE49-F238E27FC236}">
                <a16:creationId xmlns:a16="http://schemas.microsoft.com/office/drawing/2014/main" id="{C6941BD9-725F-CF4E-983C-D430E52E3DF1}"/>
              </a:ext>
            </a:extLst>
          </p:cNvPr>
          <p:cNvSpPr txBox="1">
            <a:spLocks/>
          </p:cNvSpPr>
          <p:nvPr/>
        </p:nvSpPr>
        <p:spPr>
          <a:xfrm>
            <a:off x="618792" y="349900"/>
            <a:ext cx="8044069" cy="19602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spcAft>
                <a:spcPts val="600"/>
              </a:spcAft>
            </a:pPr>
            <a:r>
              <a:rPr lang="en-US" sz="1800" b="1">
                <a:solidFill>
                  <a:schemeClr val="tx1"/>
                </a:solidFill>
              </a:rPr>
              <a:t>2</a:t>
            </a:r>
            <a:r>
              <a:rPr lang="vi-VN" sz="1800" b="1">
                <a:solidFill>
                  <a:schemeClr val="tx1"/>
                </a:solidFill>
              </a:rPr>
              <a:t>. Dự án gặp một rủi ro "Phần mềm không tương thích với thiết bị cũ". Biết</a:t>
            </a:r>
            <a:r>
              <a:rPr lang="en-US" sz="1800" b="1">
                <a:solidFill>
                  <a:schemeClr val="tx1"/>
                </a:solidFill>
              </a:rPr>
              <a:t>:</a:t>
            </a:r>
          </a:p>
          <a:p>
            <a:pPr marL="342900" indent="-342900">
              <a:buFont typeface="Arial" panose="020B0604020202020204" pitchFamily="34" charset="0"/>
              <a:buChar char="•"/>
            </a:pPr>
            <a:r>
              <a:rPr lang="en-US" sz="1800" b="1">
                <a:solidFill>
                  <a:srgbClr val="FF0000"/>
                </a:solidFill>
              </a:rPr>
              <a:t>X</a:t>
            </a:r>
            <a:r>
              <a:rPr lang="vi-VN" sz="1800" b="1">
                <a:solidFill>
                  <a:srgbClr val="FF0000"/>
                </a:solidFill>
              </a:rPr>
              <a:t>ác suất xảy ra là 0.7 </a:t>
            </a:r>
            <a:r>
              <a:rPr lang="vi-VN" sz="1800" b="1">
                <a:solidFill>
                  <a:schemeClr val="tx1"/>
                </a:solidFill>
              </a:rPr>
              <a:t>(hay xảy ra)</a:t>
            </a:r>
            <a:endParaRPr lang="en-US" sz="1800" b="1">
              <a:solidFill>
                <a:schemeClr val="tx1"/>
              </a:solidFill>
            </a:endParaRPr>
          </a:p>
          <a:p>
            <a:pPr marL="342900" indent="-342900">
              <a:buFont typeface="Arial" panose="020B0604020202020204" pitchFamily="34" charset="0"/>
              <a:buChar char="•"/>
            </a:pPr>
            <a:r>
              <a:rPr lang="en-US" sz="1800" b="1">
                <a:solidFill>
                  <a:srgbClr val="FF0000"/>
                </a:solidFill>
              </a:rPr>
              <a:t>T</a:t>
            </a:r>
            <a:r>
              <a:rPr lang="vi-VN" sz="1800" b="1">
                <a:solidFill>
                  <a:srgbClr val="FF0000"/>
                </a:solidFill>
              </a:rPr>
              <a:t>ác động là 0.8 </a:t>
            </a:r>
            <a:r>
              <a:rPr lang="vi-VN" sz="1800" b="1">
                <a:solidFill>
                  <a:schemeClr val="tx1"/>
                </a:solidFill>
              </a:rPr>
              <a:t>(trầm trọng)</a:t>
            </a:r>
            <a:endParaRPr lang="en-US" sz="1800" b="1">
              <a:solidFill>
                <a:schemeClr val="tx1"/>
              </a:solidFill>
            </a:endParaRPr>
          </a:p>
          <a:p>
            <a:pPr marL="342900" indent="-342900">
              <a:buFont typeface="Arial" panose="020B0604020202020204" pitchFamily="34" charset="0"/>
              <a:buChar char="•"/>
            </a:pPr>
            <a:r>
              <a:rPr lang="en-US" sz="1800" b="1">
                <a:solidFill>
                  <a:schemeClr val="tx2">
                    <a:lumMod val="75000"/>
                  </a:schemeClr>
                </a:solidFill>
              </a:rPr>
              <a:t>T</a:t>
            </a:r>
            <a:r>
              <a:rPr lang="vi-VN" sz="1800" b="1">
                <a:solidFill>
                  <a:schemeClr val="tx2">
                    <a:lumMod val="75000"/>
                  </a:schemeClr>
                </a:solidFill>
              </a:rPr>
              <a:t>hời điểm là 0.6 </a:t>
            </a:r>
            <a:r>
              <a:rPr lang="vi-VN" sz="1800" b="1">
                <a:solidFill>
                  <a:schemeClr val="tx1"/>
                </a:solidFill>
              </a:rPr>
              <a:t>(rất gần). </a:t>
            </a:r>
            <a:endParaRPr lang="en-US" sz="1800" b="1">
              <a:solidFill>
                <a:schemeClr val="tx1"/>
              </a:solidFill>
            </a:endParaRPr>
          </a:p>
          <a:p>
            <a:pPr algn="ctr">
              <a:spcBef>
                <a:spcPts val="600"/>
              </a:spcBef>
            </a:pPr>
            <a:r>
              <a:rPr lang="vi-VN" sz="1800" b="1">
                <a:solidFill>
                  <a:schemeClr val="tx1"/>
                </a:solidFill>
              </a:rPr>
              <a:t>Hỏi Risk Exposure của rủi ro này là bao nhiêu?</a:t>
            </a:r>
          </a:p>
        </p:txBody>
      </p:sp>
      <p:sp>
        <p:nvSpPr>
          <p:cNvPr id="38" name="Google Shape;389;p31">
            <a:extLst>
              <a:ext uri="{FF2B5EF4-FFF2-40B4-BE49-F238E27FC236}">
                <a16:creationId xmlns:a16="http://schemas.microsoft.com/office/drawing/2014/main" id="{0F89C270-691B-8D4D-743A-CF8849F67F23}"/>
              </a:ext>
            </a:extLst>
          </p:cNvPr>
          <p:cNvSpPr txBox="1">
            <a:spLocks noGrp="1"/>
          </p:cNvSpPr>
          <p:nvPr>
            <p:ph type="subTitle" idx="1"/>
          </p:nvPr>
        </p:nvSpPr>
        <p:spPr>
          <a:xfrm>
            <a:off x="934066" y="2521921"/>
            <a:ext cx="3421626" cy="1026775"/>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a:latin typeface="Encode Sans"/>
                <a:cs typeface="Arial"/>
              </a:rPr>
              <a:t>0.336</a:t>
            </a:r>
            <a:endParaRPr lang="en-US">
              <a:latin typeface="Encode Sans"/>
              <a:cs typeface="Arial"/>
              <a:sym typeface="Arial"/>
            </a:endParaRPr>
          </a:p>
        </p:txBody>
      </p:sp>
      <p:sp>
        <p:nvSpPr>
          <p:cNvPr id="39" name="Google Shape;390;p31">
            <a:extLst>
              <a:ext uri="{FF2B5EF4-FFF2-40B4-BE49-F238E27FC236}">
                <a16:creationId xmlns:a16="http://schemas.microsoft.com/office/drawing/2014/main" id="{CDDBB3DC-DD1D-441F-E031-CFD66654A3C8}"/>
              </a:ext>
            </a:extLst>
          </p:cNvPr>
          <p:cNvSpPr txBox="1">
            <a:spLocks noGrp="1"/>
          </p:cNvSpPr>
          <p:nvPr>
            <p:ph type="subTitle" idx="8"/>
          </p:nvPr>
        </p:nvSpPr>
        <p:spPr>
          <a:xfrm>
            <a:off x="4709654" y="2521921"/>
            <a:ext cx="3451122" cy="1026773"/>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a:latin typeface="Encode Sans"/>
                <a:cs typeface="Arial"/>
              </a:rPr>
              <a:t>1.1</a:t>
            </a:r>
          </a:p>
        </p:txBody>
      </p:sp>
      <p:sp>
        <p:nvSpPr>
          <p:cNvPr id="40" name="Google Shape;391;p31">
            <a:extLst>
              <a:ext uri="{FF2B5EF4-FFF2-40B4-BE49-F238E27FC236}">
                <a16:creationId xmlns:a16="http://schemas.microsoft.com/office/drawing/2014/main" id="{7A7688DE-DD4D-70BE-A269-7B8D1946EEE1}"/>
              </a:ext>
            </a:extLst>
          </p:cNvPr>
          <p:cNvSpPr txBox="1">
            <a:spLocks noGrp="1"/>
          </p:cNvSpPr>
          <p:nvPr>
            <p:ph type="subTitle" idx="9"/>
          </p:nvPr>
        </p:nvSpPr>
        <p:spPr>
          <a:xfrm>
            <a:off x="934066" y="3802908"/>
            <a:ext cx="3421626" cy="1067723"/>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a:latin typeface="Encode Sans"/>
                <a:cs typeface="Arial"/>
              </a:rPr>
              <a:t>0.84</a:t>
            </a:r>
          </a:p>
        </p:txBody>
      </p:sp>
      <p:sp>
        <p:nvSpPr>
          <p:cNvPr id="41" name="Google Shape;392;p31">
            <a:extLst>
              <a:ext uri="{FF2B5EF4-FFF2-40B4-BE49-F238E27FC236}">
                <a16:creationId xmlns:a16="http://schemas.microsoft.com/office/drawing/2014/main" id="{A7F035E7-A369-561D-CFD5-C41D65C824D0}"/>
              </a:ext>
            </a:extLst>
          </p:cNvPr>
          <p:cNvSpPr txBox="1">
            <a:spLocks noGrp="1"/>
          </p:cNvSpPr>
          <p:nvPr>
            <p:ph type="subTitle" idx="13"/>
          </p:nvPr>
        </p:nvSpPr>
        <p:spPr>
          <a:xfrm>
            <a:off x="4709654" y="3802908"/>
            <a:ext cx="3451122" cy="1067723"/>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a:latin typeface="Encode Sans"/>
                <a:cs typeface="Arial"/>
              </a:rPr>
              <a:t>0.42</a:t>
            </a:r>
          </a:p>
        </p:txBody>
      </p:sp>
    </p:spTree>
    <p:extLst>
      <p:ext uri="{BB962C8B-B14F-4D97-AF65-F5344CB8AC3E}">
        <p14:creationId xmlns:p14="http://schemas.microsoft.com/office/powerpoint/2010/main" val="164944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FF7171"/>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01F14B"/>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D7C73CBE-AF8C-3CBD-956C-CDA7047A93B6}"/>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45292F0E-A92C-56E2-20A4-06409D776112}"/>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E56C329D-7AFB-E8D8-CF34-9EEB8451F8B3}"/>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EA8AB55E-E279-468F-4939-AA154650A6BB}"/>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AA2BA6F3-9C4B-7EBF-4A5D-4168F4ECC812}"/>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sp>
        <p:nvSpPr>
          <p:cNvPr id="3" name="Google Shape;382;p31">
            <a:extLst>
              <a:ext uri="{FF2B5EF4-FFF2-40B4-BE49-F238E27FC236}">
                <a16:creationId xmlns:a16="http://schemas.microsoft.com/office/drawing/2014/main" id="{69355E12-137E-122E-FC45-FD5FF6E795B7}"/>
              </a:ext>
            </a:extLst>
          </p:cNvPr>
          <p:cNvSpPr txBox="1">
            <a:spLocks/>
          </p:cNvSpPr>
          <p:nvPr/>
        </p:nvSpPr>
        <p:spPr>
          <a:xfrm>
            <a:off x="596348" y="439417"/>
            <a:ext cx="785853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sz="1800" b="1">
                <a:solidFill>
                  <a:schemeClr val="tx1"/>
                </a:solidFill>
              </a:rPr>
              <a:t>3</a:t>
            </a:r>
            <a:r>
              <a:rPr lang="vi-VN" sz="1800" b="1">
                <a:solidFill>
                  <a:schemeClr val="tx1"/>
                </a:solidFill>
              </a:rPr>
              <a:t>. Trong dự án, bạn phát hiện rằng máy chủ bị ngừng hoạt động gây chậm tiến độ. Đây là ví dụ của?</a:t>
            </a:r>
          </a:p>
          <a:p>
            <a:pPr algn="ctr"/>
            <a:endParaRPr lang="vi-VN" sz="2000" b="1">
              <a:solidFill>
                <a:schemeClr val="tx1"/>
              </a:solidFill>
            </a:endParaRPr>
          </a:p>
        </p:txBody>
      </p:sp>
      <p:sp>
        <p:nvSpPr>
          <p:cNvPr id="38" name="Google Shape;389;p31">
            <a:extLst>
              <a:ext uri="{FF2B5EF4-FFF2-40B4-BE49-F238E27FC236}">
                <a16:creationId xmlns:a16="http://schemas.microsoft.com/office/drawing/2014/main" id="{8D4EFF85-CBB0-9F49-6C5E-59384080579B}"/>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Rủi ro</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CA0C408A-C51D-4FB6-F454-18E8897C433A}"/>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Kế hoạch ứng phó</a:t>
            </a:r>
            <a:endParaRPr sz="1600">
              <a:latin typeface="Encode Sans"/>
              <a:cs typeface="Arial"/>
            </a:endParaRPr>
          </a:p>
        </p:txBody>
      </p:sp>
      <p:sp>
        <p:nvSpPr>
          <p:cNvPr id="40" name="Google Shape;391;p31">
            <a:extLst>
              <a:ext uri="{FF2B5EF4-FFF2-40B4-BE49-F238E27FC236}">
                <a16:creationId xmlns:a16="http://schemas.microsoft.com/office/drawing/2014/main" id="{90B43643-E6EA-BA4B-CC71-A2A2CD63BAB6}"/>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Vấn đề</a:t>
            </a:r>
          </a:p>
        </p:txBody>
      </p:sp>
      <p:sp>
        <p:nvSpPr>
          <p:cNvPr id="41" name="Google Shape;392;p31">
            <a:extLst>
              <a:ext uri="{FF2B5EF4-FFF2-40B4-BE49-F238E27FC236}">
                <a16:creationId xmlns:a16="http://schemas.microsoft.com/office/drawing/2014/main" id="{099E5663-183D-F501-7A19-CB0846F5256C}"/>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Dự phòng ngân sách</a:t>
            </a:r>
          </a:p>
        </p:txBody>
      </p:sp>
    </p:spTree>
    <p:extLst>
      <p:ext uri="{BB962C8B-B14F-4D97-AF65-F5344CB8AC3E}">
        <p14:creationId xmlns:p14="http://schemas.microsoft.com/office/powerpoint/2010/main" val="3612842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FF7171"/>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01F14B"/>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5905125B-1CF8-CA60-4579-BB0A87BE5065}"/>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CAB85269-B2E9-36AE-2E28-BD2C766CE05F}"/>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39048539-05AF-D95C-4794-C42C838A33CB}"/>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C43AD02A-E614-14BB-2C36-B1B1447C6C0E}"/>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33BCE8B9-2A4D-A9C8-1DE0-5597035D2118}"/>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5C247449-A9FE-BD89-CC9D-5E258AF83E4A}"/>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3FFA48E5-52A8-E067-29B3-D4D8EAFB15FE}"/>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61085B1B-089C-A369-1B5A-AD0B864B9FF8}"/>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FAEA664F-CAC5-2B61-C184-8E3050A250F8}"/>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8E2B1118-3F66-A0F1-E0D4-99A012B1057B}"/>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sz="2000" b="1">
                <a:solidFill>
                  <a:schemeClr val="tx1"/>
                </a:solidFill>
              </a:rPr>
              <a:t>4</a:t>
            </a:r>
            <a:r>
              <a:rPr lang="vi-VN" sz="2000" b="1">
                <a:solidFill>
                  <a:schemeClr val="tx1"/>
                </a:solidFill>
              </a:rPr>
              <a:t>. Vì sao phải quản lý rủi ro trong dự án?</a:t>
            </a:r>
          </a:p>
        </p:txBody>
      </p:sp>
      <p:sp>
        <p:nvSpPr>
          <p:cNvPr id="38" name="Google Shape;389;p31">
            <a:extLst>
              <a:ext uri="{FF2B5EF4-FFF2-40B4-BE49-F238E27FC236}">
                <a16:creationId xmlns:a16="http://schemas.microsoft.com/office/drawing/2014/main" id="{B1BEE292-9B5B-0A57-4BF1-869F86E2DA9A}"/>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Để tiết kiệm chi phí</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81A3E1F1-20DE-A95F-9530-C29EA54F85A5}"/>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Vì luật yêu cầu</a:t>
            </a:r>
            <a:endParaRPr sz="1600">
              <a:latin typeface="Encode Sans"/>
              <a:cs typeface="Arial"/>
            </a:endParaRPr>
          </a:p>
        </p:txBody>
      </p:sp>
      <p:sp>
        <p:nvSpPr>
          <p:cNvPr id="40" name="Google Shape;391;p31">
            <a:extLst>
              <a:ext uri="{FF2B5EF4-FFF2-40B4-BE49-F238E27FC236}">
                <a16:creationId xmlns:a16="http://schemas.microsoft.com/office/drawing/2014/main" id="{CAE4154E-1C2D-ECEC-D3AF-19C3C66DD827}"/>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Vì rủi ro luôn hiện hữu và có thể làm thất bại dự án</a:t>
            </a:r>
          </a:p>
        </p:txBody>
      </p:sp>
      <p:sp>
        <p:nvSpPr>
          <p:cNvPr id="41" name="Google Shape;392;p31">
            <a:extLst>
              <a:ext uri="{FF2B5EF4-FFF2-40B4-BE49-F238E27FC236}">
                <a16:creationId xmlns:a16="http://schemas.microsoft.com/office/drawing/2014/main" id="{BCCDDE1F-16F6-8FE7-3989-BD2A59EF0E57}"/>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vi-VN" sz="1600">
                <a:latin typeface="Encode Sans"/>
                <a:cs typeface="Arial"/>
              </a:rPr>
              <a:t>Để quản lý nhân sự tốt hơn</a:t>
            </a:r>
            <a:endParaRPr lang="en-US" sz="1600">
              <a:latin typeface="Encode Sans"/>
              <a:cs typeface="Arial"/>
            </a:endParaRPr>
          </a:p>
        </p:txBody>
      </p:sp>
    </p:spTree>
    <p:extLst>
      <p:ext uri="{BB962C8B-B14F-4D97-AF65-F5344CB8AC3E}">
        <p14:creationId xmlns:p14="http://schemas.microsoft.com/office/powerpoint/2010/main" val="124819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FF7171"/>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01F14B"/>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37E29A01-5073-1F66-5296-4DCED8556733}"/>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40734F89-2A37-1C79-6A4C-95CCE65D23FA}"/>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58D519DF-B84F-DF67-6942-438C29DDCD31}"/>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9BD3729C-0D04-DACA-11BA-049B3E7AB461}"/>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CBD7D2CB-6CDC-8D83-4180-B4444602C3F8}"/>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CC91F4B5-99DF-1058-06BB-2395216F32AA}"/>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83226AB2-9602-3E0F-8F5C-068C944833E4}"/>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7B3EE249-B937-2B1B-C626-A91BFB278E9D}"/>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F8059E17-4009-C527-8F30-305EFCB75013}"/>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2478F169-129D-1211-B68C-A4B2F0082C16}"/>
              </a:ext>
            </a:extLst>
          </p:cNvPr>
          <p:cNvSpPr txBox="1">
            <a:spLocks/>
          </p:cNvSpPr>
          <p:nvPr/>
        </p:nvSpPr>
        <p:spPr>
          <a:xfrm>
            <a:off x="1713323" y="439417"/>
            <a:ext cx="5717354"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sz="2000" b="1">
                <a:solidFill>
                  <a:schemeClr val="tx1"/>
                </a:solidFill>
              </a:rPr>
              <a:t>5</a:t>
            </a:r>
            <a:r>
              <a:rPr lang="vi-VN" sz="2000" b="1">
                <a:solidFill>
                  <a:schemeClr val="tx1"/>
                </a:solidFill>
              </a:rPr>
              <a:t>. Một trong các lợi ích của quản lý rủi ro là gì?</a:t>
            </a:r>
          </a:p>
        </p:txBody>
      </p:sp>
      <p:sp>
        <p:nvSpPr>
          <p:cNvPr id="38" name="Google Shape;389;p31">
            <a:extLst>
              <a:ext uri="{FF2B5EF4-FFF2-40B4-BE49-F238E27FC236}">
                <a16:creationId xmlns:a16="http://schemas.microsoft.com/office/drawing/2014/main" id="{7CF611B5-8122-910E-2CE1-B611E71CCCA9}"/>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vi-VN" sz="1600">
                <a:latin typeface="Encode Sans"/>
                <a:cs typeface="Arial"/>
              </a:rPr>
              <a:t>Tăng chi phí đầu tư</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A6143C0D-5475-9DEF-D87E-A847FB9E0F6A}"/>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vi-VN" sz="1600">
                <a:latin typeface="Encode Sans"/>
                <a:cs typeface="Arial"/>
              </a:rPr>
              <a:t>Bảo vệ uy tín và thương hiệu</a:t>
            </a:r>
            <a:endParaRPr sz="1600">
              <a:latin typeface="Encode Sans"/>
              <a:cs typeface="Arial"/>
            </a:endParaRPr>
          </a:p>
        </p:txBody>
      </p:sp>
      <p:sp>
        <p:nvSpPr>
          <p:cNvPr id="40" name="Google Shape;391;p31">
            <a:extLst>
              <a:ext uri="{FF2B5EF4-FFF2-40B4-BE49-F238E27FC236}">
                <a16:creationId xmlns:a16="http://schemas.microsoft.com/office/drawing/2014/main" id="{F1D3707C-F2A9-C69F-F01B-3D5E3C497638}"/>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vi-VN" sz="1600">
                <a:latin typeface="Encode Sans"/>
                <a:cs typeface="Arial"/>
              </a:rPr>
              <a:t>Làm dự án kéo dài hơn</a:t>
            </a:r>
            <a:endParaRPr lang="en-US" sz="1600">
              <a:latin typeface="Encode Sans"/>
              <a:cs typeface="Arial"/>
            </a:endParaRPr>
          </a:p>
        </p:txBody>
      </p:sp>
      <p:sp>
        <p:nvSpPr>
          <p:cNvPr id="41" name="Google Shape;392;p31">
            <a:extLst>
              <a:ext uri="{FF2B5EF4-FFF2-40B4-BE49-F238E27FC236}">
                <a16:creationId xmlns:a16="http://schemas.microsoft.com/office/drawing/2014/main" id="{DB38095B-441E-1307-9BCB-7CEC084EBCCC}"/>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vi-VN" sz="1600">
                <a:latin typeface="Encode Sans"/>
                <a:cs typeface="Arial"/>
              </a:rPr>
              <a:t>Giảm cơ hội thành công</a:t>
            </a:r>
            <a:endParaRPr lang="en-US" sz="1600">
              <a:latin typeface="Encode Sans"/>
              <a:cs typeface="Arial"/>
            </a:endParaRPr>
          </a:p>
        </p:txBody>
      </p:sp>
    </p:spTree>
    <p:extLst>
      <p:ext uri="{BB962C8B-B14F-4D97-AF65-F5344CB8AC3E}">
        <p14:creationId xmlns:p14="http://schemas.microsoft.com/office/powerpoint/2010/main" val="3012376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01F14B"/>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E82C6093-F6BC-CF3C-2849-295FD688BAF2}"/>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7C5F2651-F05B-F1EE-8D2B-A2D137379423}"/>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F500737D-4A52-E519-5CE8-506771CA88DD}"/>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1607AD06-1C85-3FE5-22BF-0E47BA908040}"/>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9CA4AAE5-9AE1-D5C9-65EE-81D2A40A82CF}"/>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52DBD462-6140-71A3-1647-A7679567B2DF}"/>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23C315B5-9DF8-A6CF-B99C-DA35E363ED55}"/>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DD6D596E-A24C-C6C8-AD8A-395A01486A5A}"/>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6F39FCAA-F58D-5239-C5C0-99DF18E47B08}"/>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7D628765-06CE-8003-5AFF-5305B11750D6}"/>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sz="2000" b="1">
                <a:solidFill>
                  <a:schemeClr val="tx1"/>
                </a:solidFill>
              </a:rPr>
              <a:t>6</a:t>
            </a:r>
            <a:r>
              <a:rPr lang="vi-VN" sz="2000" b="1">
                <a:solidFill>
                  <a:schemeClr val="tx1"/>
                </a:solidFill>
              </a:rPr>
              <a:t>. Phương pháp nào </a:t>
            </a:r>
            <a:r>
              <a:rPr lang="vi-VN" sz="2000" b="1">
                <a:solidFill>
                  <a:srgbClr val="FF0000"/>
                </a:solidFill>
              </a:rPr>
              <a:t>KHÔNG</a:t>
            </a:r>
            <a:r>
              <a:rPr lang="vi-VN" sz="2000" b="1">
                <a:solidFill>
                  <a:schemeClr val="tx1"/>
                </a:solidFill>
              </a:rPr>
              <a:t> phải là kỹ thuật nhận diện rủi ro?</a:t>
            </a:r>
          </a:p>
        </p:txBody>
      </p:sp>
      <p:sp>
        <p:nvSpPr>
          <p:cNvPr id="38" name="Google Shape;389;p31">
            <a:extLst>
              <a:ext uri="{FF2B5EF4-FFF2-40B4-BE49-F238E27FC236}">
                <a16:creationId xmlns:a16="http://schemas.microsoft.com/office/drawing/2014/main" id="{1DE32CF6-AB60-04F5-7F1A-1B2C34D92AF8}"/>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Động não</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D7CCD22C-0C42-7467-EC82-98B95339F34C}"/>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Hỏi ý kiến chuyên gia</a:t>
            </a:r>
            <a:endParaRPr sz="1600">
              <a:latin typeface="Encode Sans"/>
              <a:cs typeface="Arial"/>
            </a:endParaRPr>
          </a:p>
        </p:txBody>
      </p:sp>
      <p:sp>
        <p:nvSpPr>
          <p:cNvPr id="40" name="Google Shape;391;p31">
            <a:extLst>
              <a:ext uri="{FF2B5EF4-FFF2-40B4-BE49-F238E27FC236}">
                <a16:creationId xmlns:a16="http://schemas.microsoft.com/office/drawing/2014/main" id="{D9408CA1-CC09-5D43-03B2-E50B0635ED9C}"/>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Sao chép từ dự án cũ</a:t>
            </a:r>
          </a:p>
        </p:txBody>
      </p:sp>
      <p:sp>
        <p:nvSpPr>
          <p:cNvPr id="41" name="Google Shape;392;p31">
            <a:extLst>
              <a:ext uri="{FF2B5EF4-FFF2-40B4-BE49-F238E27FC236}">
                <a16:creationId xmlns:a16="http://schemas.microsoft.com/office/drawing/2014/main" id="{B6B7166C-FF8A-BA8B-EC96-51177CCD390E}"/>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vi-VN" sz="1600">
                <a:latin typeface="Encode Sans"/>
                <a:cs typeface="Arial"/>
              </a:rPr>
              <a:t>Sử dụng biểu đồ xương cá</a:t>
            </a:r>
            <a:endParaRPr lang="en-US" sz="1600">
              <a:latin typeface="Encode Sans"/>
              <a:cs typeface="Arial"/>
            </a:endParaRPr>
          </a:p>
        </p:txBody>
      </p:sp>
    </p:spTree>
    <p:extLst>
      <p:ext uri="{BB962C8B-B14F-4D97-AF65-F5344CB8AC3E}">
        <p14:creationId xmlns:p14="http://schemas.microsoft.com/office/powerpoint/2010/main" val="393283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FF7171"/>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01F14B"/>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6818AA51-BEDD-384D-45F7-79E03C6AAE23}"/>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BA85584A-D64C-85D2-5A6F-3353AF89ADE6}"/>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9704734D-DEC0-1CC1-6E46-6B7223E05590}"/>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49696C4C-1E22-D1FA-ACAE-B24C2F7A2C88}"/>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54AD53E2-52DD-FD76-8ECA-2B956E8D9703}"/>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DCECE859-021C-9873-6F26-BCB8DE07DFE1}"/>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A188F050-2CC9-E4B7-E137-065C834E200C}"/>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3023EE14-7C2C-0075-2138-414B62519D06}"/>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906C554B-6ECA-D3AB-7B90-367CD7D1AE8D}"/>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649670EE-5A3D-890B-12D8-ECB6DC27E040}"/>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sz="2000" b="1">
                <a:solidFill>
                  <a:schemeClr val="tx1"/>
                </a:solidFill>
              </a:rPr>
              <a:t>7</a:t>
            </a:r>
            <a:r>
              <a:rPr lang="vi-VN" sz="2000" b="1">
                <a:solidFill>
                  <a:schemeClr val="tx1"/>
                </a:solidFill>
              </a:rPr>
              <a:t>. Biểu đồ xương cá giúp gì trong quản lý rủi ro?</a:t>
            </a:r>
          </a:p>
        </p:txBody>
      </p:sp>
      <p:sp>
        <p:nvSpPr>
          <p:cNvPr id="38" name="Google Shape;389;p31">
            <a:extLst>
              <a:ext uri="{FF2B5EF4-FFF2-40B4-BE49-F238E27FC236}">
                <a16:creationId xmlns:a16="http://schemas.microsoft.com/office/drawing/2014/main" id="{B7E7F3FF-63B4-DEF1-6A45-C86FB36DE2F9}"/>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Lập kế hoạch ngân sách</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B448007C-F9CB-51A5-8AF7-EDC1A92B6521}"/>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Xác định nguyên nhân gốc rễ rủi ro</a:t>
            </a:r>
            <a:endParaRPr sz="1600">
              <a:latin typeface="Encode Sans"/>
              <a:cs typeface="Arial"/>
            </a:endParaRPr>
          </a:p>
        </p:txBody>
      </p:sp>
      <p:sp>
        <p:nvSpPr>
          <p:cNvPr id="40" name="Google Shape;391;p31">
            <a:extLst>
              <a:ext uri="{FF2B5EF4-FFF2-40B4-BE49-F238E27FC236}">
                <a16:creationId xmlns:a16="http://schemas.microsoft.com/office/drawing/2014/main" id="{8C7A46CA-CFC6-2DF8-F111-3B8230AF7954}"/>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Dự đoán doanh thu</a:t>
            </a:r>
          </a:p>
        </p:txBody>
      </p:sp>
      <p:sp>
        <p:nvSpPr>
          <p:cNvPr id="41" name="Google Shape;392;p31">
            <a:extLst>
              <a:ext uri="{FF2B5EF4-FFF2-40B4-BE49-F238E27FC236}">
                <a16:creationId xmlns:a16="http://schemas.microsoft.com/office/drawing/2014/main" id="{4D6FCD79-B852-5687-ABFE-1CA9E0DF2982}"/>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Đánh giá năng suất nhân viên</a:t>
            </a:r>
          </a:p>
        </p:txBody>
      </p:sp>
    </p:spTree>
    <p:extLst>
      <p:ext uri="{BB962C8B-B14F-4D97-AF65-F5344CB8AC3E}">
        <p14:creationId xmlns:p14="http://schemas.microsoft.com/office/powerpoint/2010/main" val="1956332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01F14B"/>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687907ED-461D-010C-DE66-B516BFBE5970}"/>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24269FBF-358B-513D-E3C9-C8BC8491AFAF}"/>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B5E4E645-DD95-6BC7-55BB-E717FC498DBF}"/>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9746937D-538C-5FAD-AE40-2F7FDE1DB663}"/>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49CF53D3-090E-B24E-D788-E46906B85F11}"/>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F4ADC049-F51C-76AA-AD9E-7E58A125E573}"/>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8E205932-B918-3D1B-B1CF-ED803F0EB36C}"/>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312467AD-31F9-1A2F-451D-52147B81517C}"/>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A8A87F4A-9BAE-C92F-BB8E-6632526A1ADF}"/>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9A5ACEF5-8DE7-3EF9-7333-B16EF686374B}"/>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sz="2000" b="1">
                <a:solidFill>
                  <a:schemeClr val="tx1"/>
                </a:solidFill>
              </a:rPr>
              <a:t>8</a:t>
            </a:r>
            <a:r>
              <a:rPr lang="vi-VN" sz="2000" b="1">
                <a:solidFill>
                  <a:schemeClr val="tx1"/>
                </a:solidFill>
              </a:rPr>
              <a:t>. Trong phương pháp Delphi, điểm nổi bật là gì?</a:t>
            </a:r>
          </a:p>
        </p:txBody>
      </p:sp>
      <p:sp>
        <p:nvSpPr>
          <p:cNvPr id="38" name="Google Shape;389;p31">
            <a:extLst>
              <a:ext uri="{FF2B5EF4-FFF2-40B4-BE49-F238E27FC236}">
                <a16:creationId xmlns:a16="http://schemas.microsoft.com/office/drawing/2014/main" id="{107CAA45-70E5-C5DC-C284-4EAEB241B042}"/>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Phỏng vấn trực tiếp chuyên gia</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F1C7F638-B613-92D8-7D74-054EF589B327}"/>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Trao đổi ẩn danh qua nhiều vòng khảo sát</a:t>
            </a:r>
            <a:endParaRPr sz="1600">
              <a:latin typeface="Encode Sans"/>
              <a:cs typeface="Arial"/>
            </a:endParaRPr>
          </a:p>
        </p:txBody>
      </p:sp>
      <p:sp>
        <p:nvSpPr>
          <p:cNvPr id="40" name="Google Shape;391;p31">
            <a:extLst>
              <a:ext uri="{FF2B5EF4-FFF2-40B4-BE49-F238E27FC236}">
                <a16:creationId xmlns:a16="http://schemas.microsoft.com/office/drawing/2014/main" id="{FF72E614-7C30-C685-CA83-7708749078D3}"/>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Lập bảng câu hỏi nhanh</a:t>
            </a:r>
          </a:p>
        </p:txBody>
      </p:sp>
      <p:sp>
        <p:nvSpPr>
          <p:cNvPr id="41" name="Google Shape;392;p31">
            <a:extLst>
              <a:ext uri="{FF2B5EF4-FFF2-40B4-BE49-F238E27FC236}">
                <a16:creationId xmlns:a16="http://schemas.microsoft.com/office/drawing/2014/main" id="{1EB0F221-C5D4-0E8E-1DB7-897BF2DF34FD}"/>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Dự đoán chi phí</a:t>
            </a:r>
          </a:p>
        </p:txBody>
      </p:sp>
    </p:spTree>
    <p:extLst>
      <p:ext uri="{BB962C8B-B14F-4D97-AF65-F5344CB8AC3E}">
        <p14:creationId xmlns:p14="http://schemas.microsoft.com/office/powerpoint/2010/main" val="254390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01F14B"/>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989B1986-9868-34CE-78EB-0C5A4A6EA96D}"/>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0A66F178-56B5-A1FD-01ED-DDE5001A2EA6}"/>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3A3C562A-33D3-6207-CC44-E7AA7ED5D688}"/>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8B5FE0F4-E5AD-2CDE-7298-F1761DE72090}"/>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83EBE217-0CB8-B77D-CD4B-CCBDF071D0E8}"/>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B480881F-5012-525A-87F4-041EA492756C}"/>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7A046421-EABD-105E-83D7-A9CB1EBAEB43}"/>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CE202D62-1BFE-BD16-325D-C05A5E0BC0E1}"/>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499C5320-DA18-8AEA-011F-05D8CBBAEF39}"/>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647474E3-B15B-F28D-D557-63F05BE21013}"/>
              </a:ext>
            </a:extLst>
          </p:cNvPr>
          <p:cNvSpPr txBox="1">
            <a:spLocks/>
          </p:cNvSpPr>
          <p:nvPr/>
        </p:nvSpPr>
        <p:spPr>
          <a:xfrm>
            <a:off x="1843951" y="439417"/>
            <a:ext cx="5456097"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sz="2000" b="1">
                <a:solidFill>
                  <a:schemeClr val="tx1"/>
                </a:solidFill>
              </a:rPr>
              <a:t>9</a:t>
            </a:r>
            <a:r>
              <a:rPr lang="vi-VN" sz="2000" b="1">
                <a:solidFill>
                  <a:schemeClr val="tx1"/>
                </a:solidFill>
              </a:rPr>
              <a:t>. Công thức tính Risk Exposure là gì?</a:t>
            </a:r>
          </a:p>
        </p:txBody>
      </p:sp>
      <p:sp>
        <p:nvSpPr>
          <p:cNvPr id="38" name="Google Shape;389;p31">
            <a:extLst>
              <a:ext uri="{FF2B5EF4-FFF2-40B4-BE49-F238E27FC236}">
                <a16:creationId xmlns:a16="http://schemas.microsoft.com/office/drawing/2014/main" id="{93F5CE2D-7277-A7BA-0A22-5C6BA8240B98}"/>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Impact + Probability + Time</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2216FE62-0FC3-BBC7-5219-3B14815ABFF7}"/>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Impact * Probability * Time</a:t>
            </a:r>
            <a:endParaRPr sz="1600">
              <a:latin typeface="Encode Sans"/>
              <a:cs typeface="Arial"/>
            </a:endParaRPr>
          </a:p>
        </p:txBody>
      </p:sp>
      <p:sp>
        <p:nvSpPr>
          <p:cNvPr id="40" name="Google Shape;391;p31">
            <a:extLst>
              <a:ext uri="{FF2B5EF4-FFF2-40B4-BE49-F238E27FC236}">
                <a16:creationId xmlns:a16="http://schemas.microsoft.com/office/drawing/2014/main" id="{BCCA499F-F8EA-635C-B5F5-E39844767062}"/>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Impact / Probability</a:t>
            </a:r>
          </a:p>
        </p:txBody>
      </p:sp>
      <p:sp>
        <p:nvSpPr>
          <p:cNvPr id="41" name="Google Shape;392;p31">
            <a:extLst>
              <a:ext uri="{FF2B5EF4-FFF2-40B4-BE49-F238E27FC236}">
                <a16:creationId xmlns:a16="http://schemas.microsoft.com/office/drawing/2014/main" id="{5E04D3A3-C607-F829-79DB-A6B562052B32}"/>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Time – Impact</a:t>
            </a:r>
          </a:p>
        </p:txBody>
      </p:sp>
    </p:spTree>
    <p:extLst>
      <p:ext uri="{BB962C8B-B14F-4D97-AF65-F5344CB8AC3E}">
        <p14:creationId xmlns:p14="http://schemas.microsoft.com/office/powerpoint/2010/main" val="3162833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01F14B"/>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66052D92-B76C-38AB-F29F-E6849AA4EF12}"/>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F4F4F03E-3544-5367-734D-81ADB20E5CBC}"/>
              </a:ext>
            </a:extLst>
          </p:cNvPr>
          <p:cNvSpPr/>
          <p:nvPr/>
        </p:nvSpPr>
        <p:spPr>
          <a:xfrm>
            <a:off x="853084" y="3372580"/>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3EEFDF90-1A21-32CE-D81B-F2C3FB72D986}"/>
              </a:ext>
            </a:extLst>
          </p:cNvPr>
          <p:cNvSpPr/>
          <p:nvPr/>
        </p:nvSpPr>
        <p:spPr>
          <a:xfrm>
            <a:off x="853084" y="1655420"/>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39CF0FDB-B55F-374F-1BB2-1EA138173C2A}"/>
              </a:ext>
            </a:extLst>
          </p:cNvPr>
          <p:cNvSpPr/>
          <p:nvPr/>
        </p:nvSpPr>
        <p:spPr>
          <a:xfrm>
            <a:off x="4640826" y="3372580"/>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E193CBE1-37E0-D18E-E27D-52D32984036F}"/>
              </a:ext>
            </a:extLst>
          </p:cNvPr>
          <p:cNvSpPr/>
          <p:nvPr/>
        </p:nvSpPr>
        <p:spPr>
          <a:xfrm>
            <a:off x="4640826" y="1655420"/>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sp>
        <p:nvSpPr>
          <p:cNvPr id="3" name="Google Shape;382;p31">
            <a:extLst>
              <a:ext uri="{FF2B5EF4-FFF2-40B4-BE49-F238E27FC236}">
                <a16:creationId xmlns:a16="http://schemas.microsoft.com/office/drawing/2014/main" id="{D00AC4D9-080C-FE9C-8CE0-F88B1122775F}"/>
              </a:ext>
            </a:extLst>
          </p:cNvPr>
          <p:cNvSpPr txBox="1">
            <a:spLocks/>
          </p:cNvSpPr>
          <p:nvPr/>
        </p:nvSpPr>
        <p:spPr>
          <a:xfrm>
            <a:off x="853084" y="439417"/>
            <a:ext cx="7388042" cy="1110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vi-VN" sz="2000" b="1">
                <a:solidFill>
                  <a:schemeClr val="tx1"/>
                </a:solidFill>
              </a:rPr>
              <a:t>1</a:t>
            </a:r>
            <a:r>
              <a:rPr lang="en-US" sz="2000" b="1">
                <a:solidFill>
                  <a:schemeClr val="tx1"/>
                </a:solidFill>
              </a:rPr>
              <a:t>0</a:t>
            </a:r>
            <a:r>
              <a:rPr lang="vi-VN" sz="2000" b="1">
                <a:solidFill>
                  <a:schemeClr val="tx1"/>
                </a:solidFill>
              </a:rPr>
              <a:t>. Một rủi ro có </a:t>
            </a:r>
            <a:r>
              <a:rPr lang="vi-VN" sz="2000" b="1">
                <a:solidFill>
                  <a:schemeClr val="tx2">
                    <a:lumMod val="75000"/>
                  </a:schemeClr>
                </a:solidFill>
              </a:rPr>
              <a:t>xác suất xảy ra 0.5</a:t>
            </a:r>
            <a:r>
              <a:rPr lang="vi-VN" sz="2000" b="1">
                <a:solidFill>
                  <a:schemeClr val="tx1"/>
                </a:solidFill>
              </a:rPr>
              <a:t> (đôi khi), </a:t>
            </a:r>
            <a:r>
              <a:rPr lang="vi-VN" sz="2000" b="1">
                <a:solidFill>
                  <a:schemeClr val="tx2">
                    <a:lumMod val="75000"/>
                  </a:schemeClr>
                </a:solidFill>
              </a:rPr>
              <a:t>tác động 0.6 </a:t>
            </a:r>
            <a:r>
              <a:rPr lang="vi-VN" sz="2000" b="1">
                <a:solidFill>
                  <a:schemeClr val="tx1"/>
                </a:solidFill>
              </a:rPr>
              <a:t>(quan trọng), và </a:t>
            </a:r>
            <a:r>
              <a:rPr lang="vi-VN" sz="2000" b="1">
                <a:solidFill>
                  <a:schemeClr val="tx2">
                    <a:lumMod val="75000"/>
                  </a:schemeClr>
                </a:solidFill>
              </a:rPr>
              <a:t>thời điểm là 0.3 </a:t>
            </a:r>
            <a:r>
              <a:rPr lang="vi-VN" sz="2000" b="1">
                <a:solidFill>
                  <a:schemeClr val="tx1"/>
                </a:solidFill>
              </a:rPr>
              <a:t>(sắp xảy ra). Risk Exposure là?</a:t>
            </a:r>
          </a:p>
        </p:txBody>
      </p:sp>
      <p:sp>
        <p:nvSpPr>
          <p:cNvPr id="38" name="Google Shape;389;p31">
            <a:extLst>
              <a:ext uri="{FF2B5EF4-FFF2-40B4-BE49-F238E27FC236}">
                <a16:creationId xmlns:a16="http://schemas.microsoft.com/office/drawing/2014/main" id="{51F113A3-035B-2741-18E1-AE298EE2CB21}"/>
              </a:ext>
            </a:extLst>
          </p:cNvPr>
          <p:cNvSpPr txBox="1">
            <a:spLocks noGrp="1"/>
          </p:cNvSpPr>
          <p:nvPr>
            <p:ph type="subTitle" idx="1"/>
          </p:nvPr>
        </p:nvSpPr>
        <p:spPr>
          <a:xfrm>
            <a:off x="934065" y="1761282"/>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a:latin typeface="Encode Sans"/>
                <a:cs typeface="Arial"/>
              </a:rPr>
              <a:t>0.45</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D5FD1844-EA7B-4263-5900-C3AA4961C827}"/>
              </a:ext>
            </a:extLst>
          </p:cNvPr>
          <p:cNvSpPr txBox="1">
            <a:spLocks noGrp="1"/>
          </p:cNvSpPr>
          <p:nvPr>
            <p:ph type="subTitle" idx="8"/>
          </p:nvPr>
        </p:nvSpPr>
        <p:spPr>
          <a:xfrm>
            <a:off x="4709653" y="1761283"/>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a:r>
              <a:rPr lang="en-US">
                <a:latin typeface="Encode Sans"/>
                <a:cs typeface="Arial"/>
              </a:rPr>
              <a:t>0.09</a:t>
            </a:r>
            <a:endParaRPr>
              <a:latin typeface="Encode Sans"/>
              <a:cs typeface="Arial"/>
            </a:endParaRPr>
          </a:p>
        </p:txBody>
      </p:sp>
      <p:sp>
        <p:nvSpPr>
          <p:cNvPr id="40" name="Google Shape;391;p31">
            <a:extLst>
              <a:ext uri="{FF2B5EF4-FFF2-40B4-BE49-F238E27FC236}">
                <a16:creationId xmlns:a16="http://schemas.microsoft.com/office/drawing/2014/main" id="{4CB12821-6321-6F71-5F60-76CFCE5E5598}"/>
              </a:ext>
            </a:extLst>
          </p:cNvPr>
          <p:cNvSpPr txBox="1">
            <a:spLocks noGrp="1"/>
          </p:cNvSpPr>
          <p:nvPr>
            <p:ph type="subTitle" idx="9"/>
          </p:nvPr>
        </p:nvSpPr>
        <p:spPr>
          <a:xfrm>
            <a:off x="934065" y="3448423"/>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a:latin typeface="Encode Sans"/>
                <a:cs typeface="Arial"/>
              </a:rPr>
              <a:t>0.18</a:t>
            </a:r>
          </a:p>
        </p:txBody>
      </p:sp>
      <p:sp>
        <p:nvSpPr>
          <p:cNvPr id="41" name="Google Shape;392;p31">
            <a:extLst>
              <a:ext uri="{FF2B5EF4-FFF2-40B4-BE49-F238E27FC236}">
                <a16:creationId xmlns:a16="http://schemas.microsoft.com/office/drawing/2014/main" id="{D8A3B4DE-85D2-FDE2-93DD-06FD0CA1ECFC}"/>
              </a:ext>
            </a:extLst>
          </p:cNvPr>
          <p:cNvSpPr txBox="1">
            <a:spLocks noGrp="1"/>
          </p:cNvSpPr>
          <p:nvPr>
            <p:ph type="subTitle" idx="13"/>
          </p:nvPr>
        </p:nvSpPr>
        <p:spPr>
          <a:xfrm>
            <a:off x="4709653" y="3448423"/>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a:latin typeface="Encode Sans"/>
                <a:cs typeface="Arial"/>
              </a:rPr>
              <a:t>0.25</a:t>
            </a:r>
          </a:p>
        </p:txBody>
      </p:sp>
    </p:spTree>
    <p:extLst>
      <p:ext uri="{BB962C8B-B14F-4D97-AF65-F5344CB8AC3E}">
        <p14:creationId xmlns:p14="http://schemas.microsoft.com/office/powerpoint/2010/main" val="334707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01F14B"/>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64665990-7EF6-B558-610A-00EC34FC24B0}"/>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4E3F4EF6-2AF7-6402-47A6-0C4DB9D6A3F8}"/>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EC6BA8A7-5FC7-7424-84FF-7CCB886F81F2}"/>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CA505ABE-3ADC-43FB-6EE0-0BA6984BC79D}"/>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DCAF05B7-DD4C-3253-3C40-7901EBA2AB2E}"/>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5D903283-A89B-EC35-4700-53A981434E0E}"/>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B99EC933-776B-E451-9C75-6EB8D29A4B80}"/>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792DA586-705B-7C55-CFCD-1C4D03092BC0}"/>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A74566FC-1A07-46C5-36DA-9ECEF8504811}"/>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240409C1-0EB7-939F-1B64-6DA9957EFA6F}"/>
              </a:ext>
            </a:extLst>
          </p:cNvPr>
          <p:cNvSpPr txBox="1">
            <a:spLocks/>
          </p:cNvSpPr>
          <p:nvPr/>
        </p:nvSpPr>
        <p:spPr>
          <a:xfrm>
            <a:off x="1634946" y="439417"/>
            <a:ext cx="5874108"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vi-VN" sz="2000" b="1">
                <a:solidFill>
                  <a:schemeClr val="tx1"/>
                </a:solidFill>
              </a:rPr>
              <a:t>1</a:t>
            </a:r>
            <a:r>
              <a:rPr lang="en-US" sz="2000" b="1">
                <a:solidFill>
                  <a:schemeClr val="tx1"/>
                </a:solidFill>
              </a:rPr>
              <a:t>1</a:t>
            </a:r>
            <a:r>
              <a:rPr lang="vi-VN" sz="2000" b="1">
                <a:solidFill>
                  <a:schemeClr val="tx1"/>
                </a:solidFill>
              </a:rPr>
              <a:t>. Nguyên tắc </a:t>
            </a:r>
            <a:r>
              <a:rPr lang="en-US" sz="2000" b="1">
                <a:solidFill>
                  <a:schemeClr val="tx1"/>
                </a:solidFill>
              </a:rPr>
              <a:t>2</a:t>
            </a:r>
            <a:r>
              <a:rPr lang="vi-VN" sz="2000" b="1">
                <a:solidFill>
                  <a:schemeClr val="tx1"/>
                </a:solidFill>
              </a:rPr>
              <a:t>0/</a:t>
            </a:r>
            <a:r>
              <a:rPr lang="en-US" sz="2000" b="1">
                <a:solidFill>
                  <a:schemeClr val="tx1"/>
                </a:solidFill>
              </a:rPr>
              <a:t>8</a:t>
            </a:r>
            <a:r>
              <a:rPr lang="vi-VN" sz="2000" b="1">
                <a:solidFill>
                  <a:schemeClr val="tx1"/>
                </a:solidFill>
              </a:rPr>
              <a:t>0 được áp dụng trong phân tích rủi ro để làm gì?</a:t>
            </a:r>
          </a:p>
        </p:txBody>
      </p:sp>
      <p:sp>
        <p:nvSpPr>
          <p:cNvPr id="38" name="Google Shape;389;p31">
            <a:extLst>
              <a:ext uri="{FF2B5EF4-FFF2-40B4-BE49-F238E27FC236}">
                <a16:creationId xmlns:a16="http://schemas.microsoft.com/office/drawing/2014/main" id="{85882570-8A52-04E5-7447-8B68239A78D1}"/>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Đảm bảo phân phối ngân sách đều</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AC5551CD-A08D-3727-D425-4C999F89BAC3}"/>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Tập trung vào 20% rủi ro gây 80% tác động</a:t>
            </a:r>
            <a:endParaRPr sz="1600">
              <a:latin typeface="Encode Sans"/>
              <a:cs typeface="Arial"/>
            </a:endParaRPr>
          </a:p>
        </p:txBody>
      </p:sp>
      <p:sp>
        <p:nvSpPr>
          <p:cNvPr id="40" name="Google Shape;391;p31">
            <a:extLst>
              <a:ext uri="{FF2B5EF4-FFF2-40B4-BE49-F238E27FC236}">
                <a16:creationId xmlns:a16="http://schemas.microsoft.com/office/drawing/2014/main" id="{3DE65385-B1BB-D7D0-0D51-A1D42DD27B1C}"/>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vi-VN" sz="1600">
                <a:latin typeface="Encode Sans"/>
                <a:cs typeface="Arial"/>
              </a:rPr>
              <a:t>Ưu tiên rủi ro không đáng kể</a:t>
            </a:r>
            <a:endParaRPr lang="en-US" sz="1600">
              <a:latin typeface="Encode Sans"/>
              <a:cs typeface="Arial"/>
            </a:endParaRPr>
          </a:p>
        </p:txBody>
      </p:sp>
      <p:sp>
        <p:nvSpPr>
          <p:cNvPr id="41" name="Google Shape;392;p31">
            <a:extLst>
              <a:ext uri="{FF2B5EF4-FFF2-40B4-BE49-F238E27FC236}">
                <a16:creationId xmlns:a16="http://schemas.microsoft.com/office/drawing/2014/main" id="{2A96664B-0E06-AF65-A26F-DB9DF92F1CBC}"/>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Lập kế hoạch ngân sách dự phòng</a:t>
            </a:r>
          </a:p>
        </p:txBody>
      </p:sp>
    </p:spTree>
    <p:extLst>
      <p:ext uri="{BB962C8B-B14F-4D97-AF65-F5344CB8AC3E}">
        <p14:creationId xmlns:p14="http://schemas.microsoft.com/office/powerpoint/2010/main" val="888910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01F14B"/>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79784149-EB28-BD5C-5594-D0234C50178D}"/>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372AF0A0-6DAC-951B-DD80-AFA33DF1012A}"/>
              </a:ext>
            </a:extLst>
          </p:cNvPr>
          <p:cNvSpPr/>
          <p:nvPr/>
        </p:nvSpPr>
        <p:spPr>
          <a:xfrm>
            <a:off x="839831" y="3253391"/>
            <a:ext cx="3600300" cy="1426780"/>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D9B7439D-4ECB-C0E6-0F9E-A1A27CA3C52A}"/>
              </a:ext>
            </a:extLst>
          </p:cNvPr>
          <p:cNvSpPr/>
          <p:nvPr/>
        </p:nvSpPr>
        <p:spPr>
          <a:xfrm>
            <a:off x="839831" y="1720748"/>
            <a:ext cx="3600300" cy="1426780"/>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A3B8ED19-3D99-491A-7DA7-8EB6F9175EFB}"/>
              </a:ext>
            </a:extLst>
          </p:cNvPr>
          <p:cNvSpPr/>
          <p:nvPr/>
        </p:nvSpPr>
        <p:spPr>
          <a:xfrm>
            <a:off x="4627573" y="3253391"/>
            <a:ext cx="3600300" cy="1426780"/>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3C98EA72-469E-6898-E4FA-12721B9E4245}"/>
              </a:ext>
            </a:extLst>
          </p:cNvPr>
          <p:cNvSpPr/>
          <p:nvPr/>
        </p:nvSpPr>
        <p:spPr>
          <a:xfrm>
            <a:off x="4627573" y="1720748"/>
            <a:ext cx="3600300" cy="1426780"/>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1C9340A8-3003-F38B-DC5E-733BACCD9DE9}"/>
              </a:ext>
            </a:extLst>
          </p:cNvPr>
          <p:cNvGrpSpPr/>
          <p:nvPr/>
        </p:nvGrpSpPr>
        <p:grpSpPr>
          <a:xfrm>
            <a:off x="7877459" y="230054"/>
            <a:ext cx="2224840" cy="418725"/>
            <a:chOff x="7318351" y="2997150"/>
            <a:chExt cx="2224840" cy="418725"/>
          </a:xfrm>
        </p:grpSpPr>
        <p:sp>
          <p:nvSpPr>
            <p:cNvPr id="396" name="Google Shape;396;p31">
              <a:extLst>
                <a:ext uri="{FF2B5EF4-FFF2-40B4-BE49-F238E27FC236}">
                  <a16:creationId xmlns:a16="http://schemas.microsoft.com/office/drawing/2014/main" id="{CAFD25A2-EF77-1189-6098-A4ABBA6AECF3}"/>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15794634-D87C-3AE1-DD26-78200604DB2A}"/>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0582AE48-3838-7A8E-C10A-845D513A5059}"/>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14E4FDD0-E598-9395-9D18-2EA6CEB920D7}"/>
              </a:ext>
            </a:extLst>
          </p:cNvPr>
          <p:cNvSpPr txBox="1">
            <a:spLocks/>
          </p:cNvSpPr>
          <p:nvPr/>
        </p:nvSpPr>
        <p:spPr>
          <a:xfrm>
            <a:off x="1604643" y="463329"/>
            <a:ext cx="6045860" cy="9279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vi-VN" sz="2000" b="1">
                <a:solidFill>
                  <a:schemeClr val="tx1"/>
                </a:solidFill>
              </a:rPr>
              <a:t>1</a:t>
            </a:r>
            <a:r>
              <a:rPr lang="en-US" sz="2000" b="1">
                <a:solidFill>
                  <a:schemeClr val="tx1"/>
                </a:solidFill>
              </a:rPr>
              <a:t>2</a:t>
            </a:r>
            <a:r>
              <a:rPr lang="vi-VN" sz="2000" b="1">
                <a:solidFill>
                  <a:schemeClr val="tx1"/>
                </a:solidFill>
              </a:rPr>
              <a:t>. Một rủi ro có Risk Exposure được tính là 0.79. Theo phân loại, rủi ro này thuộc mức nào?</a:t>
            </a:r>
          </a:p>
        </p:txBody>
      </p:sp>
      <p:sp>
        <p:nvSpPr>
          <p:cNvPr id="38" name="Google Shape;389;p31">
            <a:extLst>
              <a:ext uri="{FF2B5EF4-FFF2-40B4-BE49-F238E27FC236}">
                <a16:creationId xmlns:a16="http://schemas.microsoft.com/office/drawing/2014/main" id="{04299AF1-6764-DF83-F6B1-EDE3B381EB63}"/>
              </a:ext>
            </a:extLst>
          </p:cNvPr>
          <p:cNvSpPr txBox="1">
            <a:spLocks noGrp="1"/>
          </p:cNvSpPr>
          <p:nvPr>
            <p:ph type="subTitle" idx="1"/>
          </p:nvPr>
        </p:nvSpPr>
        <p:spPr>
          <a:xfrm>
            <a:off x="920812" y="1826611"/>
            <a:ext cx="3421626" cy="1215608"/>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Rủi ro thấp – không cần xử lý</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A854B4FB-E957-D545-5667-2AF52223AE68}"/>
              </a:ext>
            </a:extLst>
          </p:cNvPr>
          <p:cNvSpPr txBox="1">
            <a:spLocks noGrp="1"/>
          </p:cNvSpPr>
          <p:nvPr>
            <p:ph type="subTitle" idx="8"/>
          </p:nvPr>
        </p:nvSpPr>
        <p:spPr>
          <a:xfrm>
            <a:off x="4696400" y="1826611"/>
            <a:ext cx="3451122" cy="1215607"/>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a:r>
              <a:rPr lang="en-US" sz="1600">
                <a:latin typeface="Encode Sans"/>
                <a:cs typeface="Arial"/>
              </a:rPr>
              <a:t>Rủi ro trung bình – cần theo dõi</a:t>
            </a:r>
            <a:endParaRPr sz="1600">
              <a:latin typeface="Encode Sans"/>
              <a:cs typeface="Arial"/>
            </a:endParaRPr>
          </a:p>
        </p:txBody>
      </p:sp>
      <p:sp>
        <p:nvSpPr>
          <p:cNvPr id="40" name="Google Shape;391;p31">
            <a:extLst>
              <a:ext uri="{FF2B5EF4-FFF2-40B4-BE49-F238E27FC236}">
                <a16:creationId xmlns:a16="http://schemas.microsoft.com/office/drawing/2014/main" id="{BFAC41BF-8847-1300-DC18-A1C3FCACF725}"/>
              </a:ext>
            </a:extLst>
          </p:cNvPr>
          <p:cNvSpPr txBox="1">
            <a:spLocks noGrp="1"/>
          </p:cNvSpPr>
          <p:nvPr>
            <p:ph type="subTitle" idx="9"/>
          </p:nvPr>
        </p:nvSpPr>
        <p:spPr>
          <a:xfrm>
            <a:off x="920812" y="3329234"/>
            <a:ext cx="3421626" cy="1264087"/>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vi-VN" sz="1600">
                <a:latin typeface="Encode Sans"/>
                <a:cs typeface="Arial"/>
              </a:rPr>
              <a:t>Rủi ro cao – cần ưu tiên xử lý</a:t>
            </a:r>
            <a:endParaRPr lang="en-US" sz="1600">
              <a:latin typeface="Encode Sans"/>
              <a:cs typeface="Arial"/>
            </a:endParaRPr>
          </a:p>
        </p:txBody>
      </p:sp>
      <p:sp>
        <p:nvSpPr>
          <p:cNvPr id="41" name="Google Shape;392;p31">
            <a:extLst>
              <a:ext uri="{FF2B5EF4-FFF2-40B4-BE49-F238E27FC236}">
                <a16:creationId xmlns:a16="http://schemas.microsoft.com/office/drawing/2014/main" id="{E4F36385-9753-6A36-6FD6-3D66B82CAEFD}"/>
              </a:ext>
            </a:extLst>
          </p:cNvPr>
          <p:cNvSpPr txBox="1">
            <a:spLocks noGrp="1"/>
          </p:cNvSpPr>
          <p:nvPr>
            <p:ph type="subTitle" idx="13"/>
          </p:nvPr>
        </p:nvSpPr>
        <p:spPr>
          <a:xfrm>
            <a:off x="4696400" y="3329234"/>
            <a:ext cx="3451122" cy="1264087"/>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Không đáng kể – có thể bỏ qua</a:t>
            </a:r>
          </a:p>
        </p:txBody>
      </p:sp>
    </p:spTree>
    <p:extLst>
      <p:ext uri="{BB962C8B-B14F-4D97-AF65-F5344CB8AC3E}">
        <p14:creationId xmlns:p14="http://schemas.microsoft.com/office/powerpoint/2010/main" val="220927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FF7171"/>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01F14B"/>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47D63F44-30A3-225B-2C57-C0BEBC96C41D}"/>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EF4F35D2-0931-E2FD-BE50-C4A69B265CD0}"/>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3CDB09E3-DD73-EE2E-FD21-528E5E219713}"/>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AF430B2F-B46B-4EC9-119E-D6DF829C2464}"/>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BC666F6D-C642-85F2-9E6B-89C78EB9A248}"/>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2966790C-9275-3EA1-E981-7185DCBD5E4B}"/>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1523B521-5F8B-1327-554D-8A61F18A0F50}"/>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B7CA812F-41E7-14AA-6463-17434EB011A8}"/>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866E5485-DDC3-5B8C-1942-A3CBBD22E510}"/>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62CD87CD-EC8D-0AF6-9F4E-86423E8331A5}"/>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vi-VN" sz="2000" b="1">
                <a:solidFill>
                  <a:schemeClr val="tx1"/>
                </a:solidFill>
              </a:rPr>
              <a:t>1</a:t>
            </a:r>
            <a:r>
              <a:rPr lang="en-US" sz="2000" b="1">
                <a:solidFill>
                  <a:schemeClr val="tx1"/>
                </a:solidFill>
              </a:rPr>
              <a:t>3</a:t>
            </a:r>
            <a:r>
              <a:rPr lang="vi-VN" sz="2000" b="1">
                <a:solidFill>
                  <a:schemeClr val="tx1"/>
                </a:solidFill>
              </a:rPr>
              <a:t>. Chiến lược xử lý rủi ro “tránh né” nghĩa là gì?</a:t>
            </a:r>
          </a:p>
        </p:txBody>
      </p:sp>
      <p:sp>
        <p:nvSpPr>
          <p:cNvPr id="38" name="Google Shape;389;p31">
            <a:extLst>
              <a:ext uri="{FF2B5EF4-FFF2-40B4-BE49-F238E27FC236}">
                <a16:creationId xmlns:a16="http://schemas.microsoft.com/office/drawing/2014/main" id="{85B317EC-F37A-DFE6-762B-9BBBC7B1E3A0}"/>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Chuyển giao cho bên khác</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C625DF59-5985-2BE7-4D0F-F6B9CE112C43}"/>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Cố gắng làm giảm rủi ro</a:t>
            </a:r>
            <a:endParaRPr sz="1600">
              <a:latin typeface="Encode Sans"/>
              <a:cs typeface="Arial"/>
            </a:endParaRPr>
          </a:p>
        </p:txBody>
      </p:sp>
      <p:sp>
        <p:nvSpPr>
          <p:cNvPr id="40" name="Google Shape;391;p31">
            <a:extLst>
              <a:ext uri="{FF2B5EF4-FFF2-40B4-BE49-F238E27FC236}">
                <a16:creationId xmlns:a16="http://schemas.microsoft.com/office/drawing/2014/main" id="{C375310E-9EDD-9076-87D9-CC4FD187393B}"/>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Không làm hành động nào</a:t>
            </a:r>
          </a:p>
        </p:txBody>
      </p:sp>
      <p:sp>
        <p:nvSpPr>
          <p:cNvPr id="41" name="Google Shape;392;p31">
            <a:extLst>
              <a:ext uri="{FF2B5EF4-FFF2-40B4-BE49-F238E27FC236}">
                <a16:creationId xmlns:a16="http://schemas.microsoft.com/office/drawing/2014/main" id="{E11E912D-9F09-99F7-906A-A6457860CC99}"/>
              </a:ext>
            </a:extLst>
          </p:cNvPr>
          <p:cNvSpPr txBox="1">
            <a:spLocks noGrp="1"/>
          </p:cNvSpPr>
          <p:nvPr>
            <p:ph type="subTitle" idx="13"/>
          </p:nvPr>
        </p:nvSpPr>
        <p:spPr>
          <a:xfrm>
            <a:off x="4810539" y="3215148"/>
            <a:ext cx="3220278"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Thay đổi kế hoạch để không gặp rủi ro đó</a:t>
            </a:r>
          </a:p>
        </p:txBody>
      </p:sp>
    </p:spTree>
    <p:extLst>
      <p:ext uri="{BB962C8B-B14F-4D97-AF65-F5344CB8AC3E}">
        <p14:creationId xmlns:p14="http://schemas.microsoft.com/office/powerpoint/2010/main" val="899227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FF7171"/>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01F14B"/>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CDDF1807-19B6-F31E-82B7-DE05B6381B67}"/>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ADE226F7-0A51-48DE-2886-2194621D0A5F}"/>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D5A319CC-4F00-56B7-F1DA-92B2DD7DBF0C}"/>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B44EB3C6-BA6B-A479-1F3A-6C3DA2161145}"/>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F1589F50-F654-5EDE-4016-5B4D12DADACC}"/>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FCA8B7B4-B94F-FB30-8073-EEAA55AD502C}"/>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2C11D242-852A-691B-9B9F-A0428B85EAFB}"/>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5BD38E6E-1706-BB47-DBFB-97A8CB0EE13A}"/>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90FA9D86-0E78-1AD4-9FF3-5B45CB5D7540}"/>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BEC1134C-B980-ECF1-DC76-8C4C9E826669}"/>
              </a:ext>
            </a:extLst>
          </p:cNvPr>
          <p:cNvSpPr txBox="1">
            <a:spLocks/>
          </p:cNvSpPr>
          <p:nvPr/>
        </p:nvSpPr>
        <p:spPr>
          <a:xfrm>
            <a:off x="1712187" y="439417"/>
            <a:ext cx="5719625"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vi-VN" sz="2000" b="1">
                <a:solidFill>
                  <a:schemeClr val="tx1"/>
                </a:solidFill>
              </a:rPr>
              <a:t>1</a:t>
            </a:r>
            <a:r>
              <a:rPr lang="en-US" sz="2000" b="1">
                <a:solidFill>
                  <a:schemeClr val="tx1"/>
                </a:solidFill>
              </a:rPr>
              <a:t>4</a:t>
            </a:r>
            <a:r>
              <a:rPr lang="vi-VN" sz="2000" b="1">
                <a:solidFill>
                  <a:schemeClr val="tx1"/>
                </a:solidFill>
              </a:rPr>
              <a:t>. “Chuyển giao rủi ro” nghĩa là gì?</a:t>
            </a:r>
          </a:p>
        </p:txBody>
      </p:sp>
      <p:sp>
        <p:nvSpPr>
          <p:cNvPr id="38" name="Google Shape;389;p31">
            <a:extLst>
              <a:ext uri="{FF2B5EF4-FFF2-40B4-BE49-F238E27FC236}">
                <a16:creationId xmlns:a16="http://schemas.microsoft.com/office/drawing/2014/main" id="{5D94F98A-6770-1A1E-E5CA-19A3E4346363}"/>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Bỏ qua rủi ro</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D4D03C46-8699-12BC-9193-0C0A76413787}"/>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Giảm thiểu rủi ro bằng cách chia sẻ tác hại khi chúng xảy ra</a:t>
            </a:r>
            <a:endParaRPr sz="1600">
              <a:latin typeface="Encode Sans"/>
              <a:cs typeface="Arial"/>
            </a:endParaRPr>
          </a:p>
        </p:txBody>
      </p:sp>
      <p:sp>
        <p:nvSpPr>
          <p:cNvPr id="40" name="Google Shape;391;p31">
            <a:extLst>
              <a:ext uri="{FF2B5EF4-FFF2-40B4-BE49-F238E27FC236}">
                <a16:creationId xmlns:a16="http://schemas.microsoft.com/office/drawing/2014/main" id="{7DE1F4D3-176D-342D-2642-E554CB537C76}"/>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vi-VN" sz="1600">
                <a:latin typeface="Encode Sans"/>
                <a:cs typeface="Arial"/>
              </a:rPr>
              <a:t>Lưu trữ rủi ro trong hệ thống, chờ đợi nhờ bên khác xử lý</a:t>
            </a:r>
            <a:endParaRPr lang="en-US" sz="1600">
              <a:latin typeface="Encode Sans"/>
              <a:cs typeface="Arial"/>
            </a:endParaRPr>
          </a:p>
        </p:txBody>
      </p:sp>
      <p:sp>
        <p:nvSpPr>
          <p:cNvPr id="41" name="Google Shape;392;p31">
            <a:extLst>
              <a:ext uri="{FF2B5EF4-FFF2-40B4-BE49-F238E27FC236}">
                <a16:creationId xmlns:a16="http://schemas.microsoft.com/office/drawing/2014/main" id="{6FBA0755-4AD1-34CA-80B0-9052C2D8ECE0}"/>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Tăng ngân sách dự phòng</a:t>
            </a:r>
          </a:p>
        </p:txBody>
      </p:sp>
    </p:spTree>
    <p:extLst>
      <p:ext uri="{BB962C8B-B14F-4D97-AF65-F5344CB8AC3E}">
        <p14:creationId xmlns:p14="http://schemas.microsoft.com/office/powerpoint/2010/main" val="110824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01F14B"/>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83058575-053B-98AE-4921-7E7BD91B985F}"/>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88AC15C1-C3DB-7E66-9899-77B4B5AA6B33}"/>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BC3D24C3-DF1D-97DA-2693-973F7FF2DDD3}"/>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EDF22DDD-6308-CD6C-52AA-70B6FF11BB8C}"/>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AAFC2989-F902-53EA-4039-0ED3E82EDE2D}"/>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FA652F7D-A387-F74F-CC9D-3A87E81AC693}"/>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BDEC0638-F3E2-E3DF-3E83-ABD34AA651C6}"/>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67F104DD-D5E7-F8FD-9C8B-4B01A5BF8498}"/>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9C80D527-20B0-5556-A197-B3AAE54761DF}"/>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583B06D3-41E5-7FE8-5BD5-BE7364235AE8}"/>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vi-VN" sz="2000" b="1">
                <a:solidFill>
                  <a:schemeClr val="tx1"/>
                </a:solidFill>
              </a:rPr>
              <a:t>1</a:t>
            </a:r>
            <a:r>
              <a:rPr lang="en-US" sz="2000" b="1">
                <a:solidFill>
                  <a:schemeClr val="tx1"/>
                </a:solidFill>
              </a:rPr>
              <a:t>5</a:t>
            </a:r>
            <a:r>
              <a:rPr lang="vi-VN" sz="2000" b="1">
                <a:solidFill>
                  <a:schemeClr val="tx1"/>
                </a:solidFill>
              </a:rPr>
              <a:t>. Chiến lược “giảm nhẹ rủi ro” thực hiện bằng cách nào?</a:t>
            </a:r>
          </a:p>
        </p:txBody>
      </p:sp>
      <p:sp>
        <p:nvSpPr>
          <p:cNvPr id="38" name="Google Shape;389;p31">
            <a:extLst>
              <a:ext uri="{FF2B5EF4-FFF2-40B4-BE49-F238E27FC236}">
                <a16:creationId xmlns:a16="http://schemas.microsoft.com/office/drawing/2014/main" id="{E96CF052-7ED4-9898-E3BB-D43E97FACEBA}"/>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Trì hoãn hành động</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47C1BAF8-FFD2-F88B-5C59-E78E23526C1D}"/>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a:r>
              <a:rPr lang="en-US" sz="1600">
                <a:latin typeface="Encode Sans"/>
                <a:cs typeface="Arial"/>
              </a:rPr>
              <a:t>Tăng chi phí dự phòng</a:t>
            </a:r>
            <a:endParaRPr sz="1600">
              <a:latin typeface="Encode Sans"/>
              <a:cs typeface="Arial"/>
            </a:endParaRPr>
          </a:p>
        </p:txBody>
      </p:sp>
      <p:sp>
        <p:nvSpPr>
          <p:cNvPr id="40" name="Google Shape;391;p31">
            <a:extLst>
              <a:ext uri="{FF2B5EF4-FFF2-40B4-BE49-F238E27FC236}">
                <a16:creationId xmlns:a16="http://schemas.microsoft.com/office/drawing/2014/main" id="{1737014E-D12E-0F06-8949-17E8B9868C7B}"/>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Làm giảm xác suất hoặc tác động của rủi ro</a:t>
            </a:r>
          </a:p>
        </p:txBody>
      </p:sp>
      <p:sp>
        <p:nvSpPr>
          <p:cNvPr id="41" name="Google Shape;392;p31">
            <a:extLst>
              <a:ext uri="{FF2B5EF4-FFF2-40B4-BE49-F238E27FC236}">
                <a16:creationId xmlns:a16="http://schemas.microsoft.com/office/drawing/2014/main" id="{62EE4F75-AC3D-08B1-96F5-026D4D75CB97}"/>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Bỏ qua rủi ro</a:t>
            </a:r>
          </a:p>
        </p:txBody>
      </p:sp>
    </p:spTree>
    <p:extLst>
      <p:ext uri="{BB962C8B-B14F-4D97-AF65-F5344CB8AC3E}">
        <p14:creationId xmlns:p14="http://schemas.microsoft.com/office/powerpoint/2010/main" val="332212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FF7171"/>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01F14B"/>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E618027B-E3AB-E5DE-A455-BA03911DB5F7}"/>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176350A2-9E42-1623-39B7-BBB398608CC5}"/>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D2249B88-A2E8-4323-294F-2AD631E70480}"/>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7C479C88-473B-7B1C-D552-54B19F329D8B}"/>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02A09E66-2CCF-6BFD-799C-C81E23DE8844}"/>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BC45CCA3-2DC0-584C-1989-B07143AA9152}"/>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44AA790A-A933-F5F6-E0EE-BFC65E0D63F8}"/>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812A12CD-02AC-7C13-F10F-1AE491DBD8BA}"/>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43767D22-5C49-C7A4-B97F-D974C4214C8A}"/>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585FA6A9-731E-6B20-6383-60052F76AD5C}"/>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vi-VN" sz="2000" b="1">
                <a:solidFill>
                  <a:schemeClr val="tx1"/>
                </a:solidFill>
              </a:rPr>
              <a:t>1</a:t>
            </a:r>
            <a:r>
              <a:rPr lang="en-US" sz="2000" b="1">
                <a:solidFill>
                  <a:schemeClr val="tx1"/>
                </a:solidFill>
              </a:rPr>
              <a:t>6</a:t>
            </a:r>
            <a:r>
              <a:rPr lang="vi-VN" sz="2000" b="1">
                <a:solidFill>
                  <a:schemeClr val="tx1"/>
                </a:solidFill>
              </a:rPr>
              <a:t>. Chiến lược “chấp nhận rủi ro” thường áp dụng khi nào?</a:t>
            </a:r>
          </a:p>
        </p:txBody>
      </p:sp>
      <p:sp>
        <p:nvSpPr>
          <p:cNvPr id="38" name="Google Shape;389;p31">
            <a:extLst>
              <a:ext uri="{FF2B5EF4-FFF2-40B4-BE49-F238E27FC236}">
                <a16:creationId xmlns:a16="http://schemas.microsoft.com/office/drawing/2014/main" id="{1D59323F-CA0C-A4BF-5A94-E9CB745EDE36}"/>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Rủi ro nghiêm trọng</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758D51E1-B32E-3B6A-8E92-77AFBD0FFAD0}"/>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Không có giải pháp khả thi</a:t>
            </a:r>
            <a:endParaRPr sz="1600">
              <a:latin typeface="Encode Sans"/>
              <a:cs typeface="Arial"/>
            </a:endParaRPr>
          </a:p>
        </p:txBody>
      </p:sp>
      <p:sp>
        <p:nvSpPr>
          <p:cNvPr id="40" name="Google Shape;391;p31">
            <a:extLst>
              <a:ext uri="{FF2B5EF4-FFF2-40B4-BE49-F238E27FC236}">
                <a16:creationId xmlns:a16="http://schemas.microsoft.com/office/drawing/2014/main" id="{32A20092-241F-FF03-4CF5-601A699EE6B6}"/>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Rủi ro quá cao</a:t>
            </a:r>
          </a:p>
        </p:txBody>
      </p:sp>
      <p:sp>
        <p:nvSpPr>
          <p:cNvPr id="41" name="Google Shape;392;p31">
            <a:extLst>
              <a:ext uri="{FF2B5EF4-FFF2-40B4-BE49-F238E27FC236}">
                <a16:creationId xmlns:a16="http://schemas.microsoft.com/office/drawing/2014/main" id="{5EF86FA7-ECC4-9D21-9929-AFE129D38C41}"/>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vi-VN" sz="1600">
                <a:latin typeface="Encode Sans"/>
                <a:cs typeface="Arial"/>
              </a:rPr>
              <a:t>Có phương án thay thế</a:t>
            </a:r>
            <a:endParaRPr lang="en-US" sz="1600">
              <a:latin typeface="Encode Sans"/>
              <a:cs typeface="Arial"/>
            </a:endParaRPr>
          </a:p>
        </p:txBody>
      </p:sp>
    </p:spTree>
    <p:extLst>
      <p:ext uri="{BB962C8B-B14F-4D97-AF65-F5344CB8AC3E}">
        <p14:creationId xmlns:p14="http://schemas.microsoft.com/office/powerpoint/2010/main" val="3358459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01F14B"/>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36C1306E-1F1A-8032-1642-2F9E4C25C50F}"/>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7412900D-D8DE-DAF8-931F-FB1E302B1619}"/>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128463AB-A048-A0A0-E894-622FA2398B49}"/>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46DBD533-6FBA-3DAC-6442-8433E694E071}"/>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C691BE74-208E-4821-DC7E-B8E403131B9C}"/>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5C0E1A63-9C84-AC9B-219B-BB11E5777064}"/>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28CE3853-6D46-000E-A9AB-3F3A6CA52127}"/>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6AB243D5-CFA3-7D71-E021-A8B46A324E87}"/>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AB794EB1-11BE-F4B6-6011-58A61D9AEEF2}"/>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7F25BF10-25E2-2F96-0DEC-7B98FF765CCE}"/>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vi-VN" sz="2000" b="1">
                <a:solidFill>
                  <a:schemeClr val="tx1"/>
                </a:solidFill>
              </a:rPr>
              <a:t>1</a:t>
            </a:r>
            <a:r>
              <a:rPr lang="en-US" sz="2000" b="1">
                <a:solidFill>
                  <a:schemeClr val="tx1"/>
                </a:solidFill>
              </a:rPr>
              <a:t>7</a:t>
            </a:r>
            <a:r>
              <a:rPr lang="vi-VN" sz="2000" b="1">
                <a:solidFill>
                  <a:schemeClr val="tx1"/>
                </a:solidFill>
              </a:rPr>
              <a:t>. Kế hoạch dự phòng (Contingency Plan) là gì?</a:t>
            </a:r>
          </a:p>
        </p:txBody>
      </p:sp>
      <p:sp>
        <p:nvSpPr>
          <p:cNvPr id="38" name="Google Shape;389;p31">
            <a:extLst>
              <a:ext uri="{FF2B5EF4-FFF2-40B4-BE49-F238E27FC236}">
                <a16:creationId xmlns:a16="http://schemas.microsoft.com/office/drawing/2014/main" id="{91BA05BA-9A9B-25A7-D31F-546A10CE798F}"/>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Phản ứng sau khi rủi ro xảy ra</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77B65FD7-7087-6AAD-76EF-78591FA248EC}"/>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a:r>
              <a:rPr lang="en-US" sz="1600">
                <a:latin typeface="Encode Sans"/>
                <a:cs typeface="Arial"/>
              </a:rPr>
              <a:t>Lập sau khi dự án kết thúc</a:t>
            </a:r>
            <a:endParaRPr sz="1600">
              <a:latin typeface="Encode Sans"/>
              <a:cs typeface="Arial"/>
            </a:endParaRPr>
          </a:p>
        </p:txBody>
      </p:sp>
      <p:sp>
        <p:nvSpPr>
          <p:cNvPr id="40" name="Google Shape;391;p31">
            <a:extLst>
              <a:ext uri="{FF2B5EF4-FFF2-40B4-BE49-F238E27FC236}">
                <a16:creationId xmlns:a16="http://schemas.microsoft.com/office/drawing/2014/main" id="{11A58637-137C-17F1-0216-E281FE9686E9}"/>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Xây dựng sẵn để đối phó rủi ro đã nhận diện</a:t>
            </a:r>
          </a:p>
        </p:txBody>
      </p:sp>
      <p:sp>
        <p:nvSpPr>
          <p:cNvPr id="41" name="Google Shape;392;p31">
            <a:extLst>
              <a:ext uri="{FF2B5EF4-FFF2-40B4-BE49-F238E27FC236}">
                <a16:creationId xmlns:a16="http://schemas.microsoft.com/office/drawing/2014/main" id="{D54D3480-C9AD-EA84-585B-CAEA99627508}"/>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Không cần thiết nếu rủi ro thấp</a:t>
            </a:r>
          </a:p>
        </p:txBody>
      </p:sp>
    </p:spTree>
    <p:extLst>
      <p:ext uri="{BB962C8B-B14F-4D97-AF65-F5344CB8AC3E}">
        <p14:creationId xmlns:p14="http://schemas.microsoft.com/office/powerpoint/2010/main" val="225854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FF7171"/>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01F14B"/>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E7200357-846D-0C6B-8E17-79636C097419}"/>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392E7EBB-DD9E-692D-73F7-3BEA51B1BE2A}"/>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AEEB2C42-FD41-8319-D1D8-683A943149FC}"/>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EFCC5194-92D3-39B2-9568-F88895750B3A}"/>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B556E445-2A01-952E-1F9C-119DE9E04DEA}"/>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F674EDE7-0D4C-8F05-B13B-A01A575FF325}"/>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47EDEF24-2BD7-DC66-44AE-72387B3EDAAD}"/>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3462ABEE-2ACA-1E8A-AD17-4F1FA6BCF92C}"/>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0DC2594D-9781-D94E-675D-AC1AD88D6B4D}"/>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3861105D-0F60-BBC6-7937-7CCAA7A01824}"/>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vi-VN" sz="2000" b="1">
                <a:solidFill>
                  <a:schemeClr val="tx1"/>
                </a:solidFill>
              </a:rPr>
              <a:t>1</a:t>
            </a:r>
            <a:r>
              <a:rPr lang="en-US" sz="2000" b="1">
                <a:solidFill>
                  <a:schemeClr val="tx1"/>
                </a:solidFill>
              </a:rPr>
              <a:t>8</a:t>
            </a:r>
            <a:r>
              <a:rPr lang="vi-VN" sz="2000" b="1">
                <a:solidFill>
                  <a:schemeClr val="tx1"/>
                </a:solidFill>
              </a:rPr>
              <a:t>. Kế hoạch rút lui (Fallback Plan) áp dụng khi nào?</a:t>
            </a:r>
          </a:p>
        </p:txBody>
      </p:sp>
      <p:sp>
        <p:nvSpPr>
          <p:cNvPr id="38" name="Google Shape;389;p31">
            <a:extLst>
              <a:ext uri="{FF2B5EF4-FFF2-40B4-BE49-F238E27FC236}">
                <a16:creationId xmlns:a16="http://schemas.microsoft.com/office/drawing/2014/main" id="{ABF0AE68-AD79-E6C3-4F90-B7E0722C9BEB}"/>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Rủi ro không xảy ra</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A601BA13-C8CF-35AC-4991-DF7FE4318A2B}"/>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Kế hoạch dự phòng thất bại</a:t>
            </a:r>
            <a:endParaRPr sz="1600">
              <a:latin typeface="Encode Sans"/>
              <a:cs typeface="Arial"/>
            </a:endParaRPr>
          </a:p>
        </p:txBody>
      </p:sp>
      <p:sp>
        <p:nvSpPr>
          <p:cNvPr id="40" name="Google Shape;391;p31">
            <a:extLst>
              <a:ext uri="{FF2B5EF4-FFF2-40B4-BE49-F238E27FC236}">
                <a16:creationId xmlns:a16="http://schemas.microsoft.com/office/drawing/2014/main" id="{0F353F9C-D395-8585-D04C-F6D6F2D0F2B6}"/>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Ngân sách tăng</a:t>
            </a:r>
          </a:p>
        </p:txBody>
      </p:sp>
      <p:sp>
        <p:nvSpPr>
          <p:cNvPr id="41" name="Google Shape;392;p31">
            <a:extLst>
              <a:ext uri="{FF2B5EF4-FFF2-40B4-BE49-F238E27FC236}">
                <a16:creationId xmlns:a16="http://schemas.microsoft.com/office/drawing/2014/main" id="{E04B31C9-4247-E009-3555-31A9963423C3}"/>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Dự án kết thúc sớm</a:t>
            </a:r>
          </a:p>
        </p:txBody>
      </p:sp>
    </p:spTree>
    <p:extLst>
      <p:ext uri="{BB962C8B-B14F-4D97-AF65-F5344CB8AC3E}">
        <p14:creationId xmlns:p14="http://schemas.microsoft.com/office/powerpoint/2010/main" val="3008883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01F14B"/>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6C9EBEFD-F30F-A627-F642-F3F711FCD580}"/>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10C8F7F3-5DF4-A0C4-9A93-9C6958132A8E}"/>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61D9E5D6-4938-4773-EF32-DFE5A1214DD1}"/>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C219645A-AA99-D74C-562E-55C9DA3615DC}"/>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D5445C71-2DE5-4197-9F43-6E2CC0BD568F}"/>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C4555B8F-0ADC-AA73-FEF3-F5930DBB51CF}"/>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BFE685D3-3E15-258D-C9DF-585E3BE8F3BC}"/>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673CA390-FAAC-B181-9BE5-20DF351B4001}"/>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25E66BDD-349E-2ABB-656F-A9FF8E149452}"/>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15648E3A-EA25-253D-BBB7-42247F3DA34B}"/>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vi-VN" sz="2000" b="1">
                <a:solidFill>
                  <a:schemeClr val="tx1"/>
                </a:solidFill>
              </a:rPr>
              <a:t>1</a:t>
            </a:r>
            <a:r>
              <a:rPr lang="en-US" sz="2000" b="1">
                <a:solidFill>
                  <a:schemeClr val="tx1"/>
                </a:solidFill>
              </a:rPr>
              <a:t>9</a:t>
            </a:r>
            <a:r>
              <a:rPr lang="vi-VN" sz="2000" b="1">
                <a:solidFill>
                  <a:schemeClr val="tx1"/>
                </a:solidFill>
              </a:rPr>
              <a:t>. Management Reserve dùng để làm gì?</a:t>
            </a:r>
          </a:p>
        </p:txBody>
      </p:sp>
      <p:sp>
        <p:nvSpPr>
          <p:cNvPr id="38" name="Google Shape;389;p31">
            <a:extLst>
              <a:ext uri="{FF2B5EF4-FFF2-40B4-BE49-F238E27FC236}">
                <a16:creationId xmlns:a16="http://schemas.microsoft.com/office/drawing/2014/main" id="{2CABA900-D038-4854-4FD2-3EADB2E58103}"/>
              </a:ext>
            </a:extLst>
          </p:cNvPr>
          <p:cNvSpPr txBox="1">
            <a:spLocks noGrp="1"/>
          </p:cNvSpPr>
          <p:nvPr>
            <p:ph type="subTitle" idx="1"/>
          </p:nvPr>
        </p:nvSpPr>
        <p:spPr>
          <a:xfrm>
            <a:off x="934065" y="1528007"/>
            <a:ext cx="342162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en-US" sz="1600">
                <a:latin typeface="Encode Sans"/>
                <a:cs typeface="Arial"/>
              </a:rPr>
              <a:t>Xử lý các rủi ro đã biết</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0DF1C42B-4D62-E772-A222-CC4A73C46209}"/>
              </a:ext>
            </a:extLst>
          </p:cNvPr>
          <p:cNvSpPr txBox="1">
            <a:spLocks noGrp="1"/>
          </p:cNvSpPr>
          <p:nvPr>
            <p:ph type="subTitle" idx="8"/>
          </p:nvPr>
        </p:nvSpPr>
        <p:spPr>
          <a:xfrm>
            <a:off x="4843301" y="1528008"/>
            <a:ext cx="3183826"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rtl="0">
              <a:spcBef>
                <a:spcPts val="0"/>
              </a:spcBef>
              <a:spcAft>
                <a:spcPts val="0"/>
              </a:spcAft>
              <a:buNone/>
            </a:pPr>
            <a:r>
              <a:rPr lang="en-US" sz="1600">
                <a:latin typeface="Encode Sans"/>
                <a:cs typeface="Arial"/>
              </a:rPr>
              <a:t>Dành cho rủi ro không xác định cụ thể</a:t>
            </a:r>
            <a:endParaRPr sz="1600">
              <a:latin typeface="Encode Sans"/>
              <a:cs typeface="Arial"/>
            </a:endParaRPr>
          </a:p>
        </p:txBody>
      </p:sp>
      <p:sp>
        <p:nvSpPr>
          <p:cNvPr id="40" name="Google Shape;391;p31">
            <a:extLst>
              <a:ext uri="{FF2B5EF4-FFF2-40B4-BE49-F238E27FC236}">
                <a16:creationId xmlns:a16="http://schemas.microsoft.com/office/drawing/2014/main" id="{8EDEF26E-1A56-3D38-003F-9E6010191C33}"/>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vi-VN" sz="1600">
                <a:latin typeface="Encode Sans"/>
                <a:cs typeface="Arial"/>
              </a:rPr>
              <a:t>Chia thưởng cho nhân viên</a:t>
            </a:r>
            <a:endParaRPr lang="en-US" sz="1600">
              <a:latin typeface="Encode Sans"/>
              <a:cs typeface="Arial"/>
            </a:endParaRPr>
          </a:p>
        </p:txBody>
      </p:sp>
      <p:sp>
        <p:nvSpPr>
          <p:cNvPr id="41" name="Google Shape;392;p31">
            <a:extLst>
              <a:ext uri="{FF2B5EF4-FFF2-40B4-BE49-F238E27FC236}">
                <a16:creationId xmlns:a16="http://schemas.microsoft.com/office/drawing/2014/main" id="{5C009770-25AC-9308-EE83-DE273C1C5225}"/>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Dự đoán doanh thu</a:t>
            </a:r>
          </a:p>
        </p:txBody>
      </p:sp>
    </p:spTree>
    <p:extLst>
      <p:ext uri="{BB962C8B-B14F-4D97-AF65-F5344CB8AC3E}">
        <p14:creationId xmlns:p14="http://schemas.microsoft.com/office/powerpoint/2010/main" val="204572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01F14B"/>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FF7171"/>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20998229-80BF-B725-430B-63993557F2C8}"/>
            </a:ext>
          </a:extLst>
        </p:cNvPr>
        <p:cNvGrpSpPr/>
        <p:nvPr/>
      </p:nvGrpSpPr>
      <p:grpSpPr>
        <a:xfrm>
          <a:off x="0" y="0"/>
          <a:ext cx="0" cy="0"/>
          <a:chOff x="0" y="0"/>
          <a:chExt cx="0" cy="0"/>
        </a:xfrm>
      </p:grpSpPr>
      <p:sp>
        <p:nvSpPr>
          <p:cNvPr id="45" name="Google Shape;381;p31">
            <a:extLst>
              <a:ext uri="{FF2B5EF4-FFF2-40B4-BE49-F238E27FC236}">
                <a16:creationId xmlns:a16="http://schemas.microsoft.com/office/drawing/2014/main" id="{C8817C4D-A5CD-8698-7A12-2A0A716E8775}"/>
              </a:ext>
            </a:extLst>
          </p:cNvPr>
          <p:cNvSpPr/>
          <p:nvPr/>
        </p:nvSpPr>
        <p:spPr>
          <a:xfrm>
            <a:off x="853084" y="3139305"/>
            <a:ext cx="3600300" cy="1564778"/>
          </a:xfrm>
          <a:prstGeom prst="rect">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381;p31">
            <a:extLst>
              <a:ext uri="{FF2B5EF4-FFF2-40B4-BE49-F238E27FC236}">
                <a16:creationId xmlns:a16="http://schemas.microsoft.com/office/drawing/2014/main" id="{C9431B0E-B7D9-EA07-2FA2-C3020A1304E8}"/>
              </a:ext>
            </a:extLst>
          </p:cNvPr>
          <p:cNvSpPr/>
          <p:nvPr/>
        </p:nvSpPr>
        <p:spPr>
          <a:xfrm>
            <a:off x="853084" y="1422145"/>
            <a:ext cx="3600300" cy="1564778"/>
          </a:xfrm>
          <a:prstGeom prst="rect">
            <a:avLst/>
          </a:pr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7171"/>
              </a:solidFill>
              <a:latin typeface="Open Sans"/>
              <a:ea typeface="Open Sans"/>
              <a:cs typeface="Open Sans"/>
              <a:sym typeface="Open Sans"/>
            </a:endParaRPr>
          </a:p>
        </p:txBody>
      </p:sp>
      <p:sp>
        <p:nvSpPr>
          <p:cNvPr id="44" name="Google Shape;381;p31">
            <a:extLst>
              <a:ext uri="{FF2B5EF4-FFF2-40B4-BE49-F238E27FC236}">
                <a16:creationId xmlns:a16="http://schemas.microsoft.com/office/drawing/2014/main" id="{DFF3D44E-0A8F-DF50-E832-C4BE9154E470}"/>
              </a:ext>
            </a:extLst>
          </p:cNvPr>
          <p:cNvSpPr/>
          <p:nvPr/>
        </p:nvSpPr>
        <p:spPr>
          <a:xfrm>
            <a:off x="4640826" y="3139305"/>
            <a:ext cx="3600300" cy="1564778"/>
          </a:xfrm>
          <a:prstGeom prst="rect">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381;p31">
            <a:extLst>
              <a:ext uri="{FF2B5EF4-FFF2-40B4-BE49-F238E27FC236}">
                <a16:creationId xmlns:a16="http://schemas.microsoft.com/office/drawing/2014/main" id="{3EB2D25E-EA16-208B-C6A0-9686A9C6DC76}"/>
              </a:ext>
            </a:extLst>
          </p:cNvPr>
          <p:cNvSpPr/>
          <p:nvPr/>
        </p:nvSpPr>
        <p:spPr>
          <a:xfrm>
            <a:off x="4640826" y="1422145"/>
            <a:ext cx="3600300" cy="1564778"/>
          </a:xfrm>
          <a:prstGeom prst="rect">
            <a:avLst/>
          </a:prstGeom>
          <a:solidFill>
            <a:schemeClr val="accent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1F14B"/>
              </a:solidFill>
              <a:latin typeface="Open Sans"/>
              <a:ea typeface="Open Sans"/>
              <a:cs typeface="Open Sans"/>
              <a:sym typeface="Open Sans"/>
            </a:endParaRPr>
          </a:p>
        </p:txBody>
      </p:sp>
      <p:grpSp>
        <p:nvGrpSpPr>
          <p:cNvPr id="395" name="Google Shape;395;p31">
            <a:extLst>
              <a:ext uri="{FF2B5EF4-FFF2-40B4-BE49-F238E27FC236}">
                <a16:creationId xmlns:a16="http://schemas.microsoft.com/office/drawing/2014/main" id="{FCDE6F6E-8664-2AA8-2A92-4C568112B256}"/>
              </a:ext>
            </a:extLst>
          </p:cNvPr>
          <p:cNvGrpSpPr/>
          <p:nvPr/>
        </p:nvGrpSpPr>
        <p:grpSpPr>
          <a:xfrm>
            <a:off x="7691928" y="206142"/>
            <a:ext cx="2224840" cy="418725"/>
            <a:chOff x="7318351" y="2997150"/>
            <a:chExt cx="2224840" cy="418725"/>
          </a:xfrm>
        </p:grpSpPr>
        <p:sp>
          <p:nvSpPr>
            <p:cNvPr id="396" name="Google Shape;396;p31">
              <a:extLst>
                <a:ext uri="{FF2B5EF4-FFF2-40B4-BE49-F238E27FC236}">
                  <a16:creationId xmlns:a16="http://schemas.microsoft.com/office/drawing/2014/main" id="{9041930D-6514-79E3-AA66-E02A8E885A8D}"/>
                </a:ext>
              </a:extLst>
            </p:cNvPr>
            <p:cNvSpPr/>
            <p:nvPr/>
          </p:nvSpPr>
          <p:spPr>
            <a:xfrm>
              <a:off x="7318351" y="2997150"/>
              <a:ext cx="2224840" cy="185449"/>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a:extLst>
                <a:ext uri="{FF2B5EF4-FFF2-40B4-BE49-F238E27FC236}">
                  <a16:creationId xmlns:a16="http://schemas.microsoft.com/office/drawing/2014/main" id="{C71956C1-FBA1-70D3-CE98-178A43B3595F}"/>
                </a:ext>
              </a:extLst>
            </p:cNvPr>
            <p:cNvSpPr/>
            <p:nvPr/>
          </p:nvSpPr>
          <p:spPr>
            <a:xfrm>
              <a:off x="7318351" y="3124563"/>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a:extLst>
                <a:ext uri="{FF2B5EF4-FFF2-40B4-BE49-F238E27FC236}">
                  <a16:creationId xmlns:a16="http://schemas.microsoft.com/office/drawing/2014/main" id="{DBD5F831-A610-43FC-7E06-AF1A39C4E910}"/>
                </a:ext>
              </a:extLst>
            </p:cNvPr>
            <p:cNvSpPr/>
            <p:nvPr/>
          </p:nvSpPr>
          <p:spPr>
            <a:xfrm>
              <a:off x="7318351" y="3230425"/>
              <a:ext cx="2224840" cy="185450"/>
            </a:xfrm>
            <a:custGeom>
              <a:avLst/>
              <a:gdLst/>
              <a:ahLst/>
              <a:cxnLst/>
              <a:rect l="l" t="t" r="r" b="b"/>
              <a:pathLst>
                <a:path w="15489" h="1710" fill="none" extrusionOk="0">
                  <a:moveTo>
                    <a:pt x="1" y="1709"/>
                  </a:moveTo>
                  <a:lnTo>
                    <a:pt x="1722" y="33"/>
                  </a:lnTo>
                  <a:lnTo>
                    <a:pt x="3437" y="1703"/>
                  </a:lnTo>
                  <a:lnTo>
                    <a:pt x="3444" y="1709"/>
                  </a:lnTo>
                  <a:lnTo>
                    <a:pt x="5159" y="39"/>
                  </a:lnTo>
                  <a:lnTo>
                    <a:pt x="6874" y="1709"/>
                  </a:lnTo>
                  <a:lnTo>
                    <a:pt x="8596" y="33"/>
                  </a:lnTo>
                  <a:lnTo>
                    <a:pt x="10318" y="1709"/>
                  </a:lnTo>
                  <a:lnTo>
                    <a:pt x="12039" y="33"/>
                  </a:lnTo>
                  <a:lnTo>
                    <a:pt x="13754" y="1703"/>
                  </a:lnTo>
                  <a:lnTo>
                    <a:pt x="13761" y="1709"/>
                  </a:lnTo>
                  <a:lnTo>
                    <a:pt x="15489" y="26"/>
                  </a:lnTo>
                  <a:lnTo>
                    <a:pt x="15476" y="7"/>
                  </a:lnTo>
                  <a:lnTo>
                    <a:pt x="13761" y="1684"/>
                  </a:lnTo>
                  <a:lnTo>
                    <a:pt x="12039" y="1"/>
                  </a:lnTo>
                  <a:lnTo>
                    <a:pt x="10318" y="1684"/>
                  </a:lnTo>
                  <a:lnTo>
                    <a:pt x="8596" y="1"/>
                  </a:lnTo>
                  <a:lnTo>
                    <a:pt x="6874" y="1684"/>
                  </a:lnTo>
                  <a:lnTo>
                    <a:pt x="5159" y="14"/>
                  </a:lnTo>
                  <a:lnTo>
                    <a:pt x="5159" y="7"/>
                  </a:lnTo>
                  <a:lnTo>
                    <a:pt x="3444" y="1684"/>
                  </a:lnTo>
                  <a:lnTo>
                    <a:pt x="1722" y="1"/>
                  </a:lnTo>
                  <a:lnTo>
                    <a:pt x="1" y="1684"/>
                  </a:ln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382;p31">
            <a:extLst>
              <a:ext uri="{FF2B5EF4-FFF2-40B4-BE49-F238E27FC236}">
                <a16:creationId xmlns:a16="http://schemas.microsoft.com/office/drawing/2014/main" id="{8A4B1C16-2D4F-EFBB-6164-F276CC3DAACA}"/>
              </a:ext>
            </a:extLst>
          </p:cNvPr>
          <p:cNvSpPr txBox="1">
            <a:spLocks/>
          </p:cNvSpPr>
          <p:nvPr/>
        </p:nvSpPr>
        <p:spPr>
          <a:xfrm>
            <a:off x="1754600" y="439417"/>
            <a:ext cx="5634799" cy="8424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Unbounded"/>
              <a:buNone/>
              <a:defRPr sz="3000" b="0"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sz="2000" b="1">
                <a:solidFill>
                  <a:schemeClr val="tx1"/>
                </a:solidFill>
              </a:rPr>
              <a:t>20</a:t>
            </a:r>
            <a:r>
              <a:rPr lang="vi-VN" sz="2000" b="1">
                <a:solidFill>
                  <a:schemeClr val="tx1"/>
                </a:solidFill>
              </a:rPr>
              <a:t>. Mục tiêu chính của giám sát &amp; điều chỉnh rủi ro là gì?</a:t>
            </a:r>
          </a:p>
        </p:txBody>
      </p:sp>
      <p:sp>
        <p:nvSpPr>
          <p:cNvPr id="38" name="Google Shape;389;p31">
            <a:extLst>
              <a:ext uri="{FF2B5EF4-FFF2-40B4-BE49-F238E27FC236}">
                <a16:creationId xmlns:a16="http://schemas.microsoft.com/office/drawing/2014/main" id="{6042CE5A-4E78-A320-6B42-FC113BF904DC}"/>
              </a:ext>
            </a:extLst>
          </p:cNvPr>
          <p:cNvSpPr txBox="1">
            <a:spLocks noGrp="1"/>
          </p:cNvSpPr>
          <p:nvPr>
            <p:ph type="subTitle" idx="1"/>
          </p:nvPr>
        </p:nvSpPr>
        <p:spPr>
          <a:xfrm>
            <a:off x="1082461" y="1528007"/>
            <a:ext cx="3141546" cy="1333181"/>
          </a:xfrm>
          <a:prstGeom prst="rect">
            <a:avLst/>
          </a:prstGeom>
        </p:spPr>
        <p:txBody>
          <a:bodyPr spcFirstLastPara="1" wrap="square" lIns="91425" tIns="91425" rIns="91425" bIns="91425" anchor="ctr" anchorCtr="0">
            <a:noAutofit/>
          </a:bodyPr>
          <a:lstStyle/>
          <a:p>
            <a:pPr marL="0" lvl="0" indent="0" algn="ctr">
              <a:spcAft>
                <a:spcPts val="600"/>
              </a:spcAft>
            </a:pPr>
            <a:r>
              <a:rPr lang="en-US" b="1"/>
              <a:t>A. </a:t>
            </a:r>
          </a:p>
          <a:p>
            <a:pPr marL="0" lvl="0" indent="0" algn="ctr"/>
            <a:r>
              <a:rPr lang="vi-VN" sz="1600">
                <a:latin typeface="Encode Sans"/>
                <a:cs typeface="Arial"/>
              </a:rPr>
              <a:t>Đánh giá hiệu quả và cập nhật chiến lược</a:t>
            </a:r>
            <a:endParaRPr sz="1600">
              <a:latin typeface="Encode Sans"/>
              <a:cs typeface="Arial"/>
              <a:sym typeface="Arial"/>
            </a:endParaRPr>
          </a:p>
        </p:txBody>
      </p:sp>
      <p:sp>
        <p:nvSpPr>
          <p:cNvPr id="39" name="Google Shape;390;p31">
            <a:extLst>
              <a:ext uri="{FF2B5EF4-FFF2-40B4-BE49-F238E27FC236}">
                <a16:creationId xmlns:a16="http://schemas.microsoft.com/office/drawing/2014/main" id="{94A0DCD0-1A53-7E25-7097-8C59F817EA77}"/>
              </a:ext>
            </a:extLst>
          </p:cNvPr>
          <p:cNvSpPr txBox="1">
            <a:spLocks noGrp="1"/>
          </p:cNvSpPr>
          <p:nvPr>
            <p:ph type="subTitle" idx="8"/>
          </p:nvPr>
        </p:nvSpPr>
        <p:spPr>
          <a:xfrm>
            <a:off x="4709653" y="1528008"/>
            <a:ext cx="3451122" cy="1333180"/>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B.</a:t>
            </a:r>
          </a:p>
          <a:p>
            <a:pPr marL="0" lvl="0" indent="0" algn="ctr"/>
            <a:r>
              <a:rPr lang="vi-VN" sz="1600">
                <a:latin typeface="Encode Sans"/>
                <a:cs typeface="Arial"/>
              </a:rPr>
              <a:t>Tăng lương nhân viên</a:t>
            </a:r>
            <a:endParaRPr sz="1600">
              <a:latin typeface="Encode Sans"/>
              <a:cs typeface="Arial"/>
            </a:endParaRPr>
          </a:p>
        </p:txBody>
      </p:sp>
      <p:sp>
        <p:nvSpPr>
          <p:cNvPr id="40" name="Google Shape;391;p31">
            <a:extLst>
              <a:ext uri="{FF2B5EF4-FFF2-40B4-BE49-F238E27FC236}">
                <a16:creationId xmlns:a16="http://schemas.microsoft.com/office/drawing/2014/main" id="{2CCA1CD4-218C-6E99-693D-781B575700CC}"/>
              </a:ext>
            </a:extLst>
          </p:cNvPr>
          <p:cNvSpPr txBox="1">
            <a:spLocks noGrp="1"/>
          </p:cNvSpPr>
          <p:nvPr>
            <p:ph type="subTitle" idx="9"/>
          </p:nvPr>
        </p:nvSpPr>
        <p:spPr>
          <a:xfrm>
            <a:off x="934065" y="3215148"/>
            <a:ext cx="3421626"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C.</a:t>
            </a:r>
          </a:p>
          <a:p>
            <a:pPr marL="0" indent="0" algn="ctr"/>
            <a:r>
              <a:rPr lang="en-US" sz="1600">
                <a:latin typeface="Encode Sans"/>
                <a:cs typeface="Arial"/>
              </a:rPr>
              <a:t>Thúc đẩy doanh số</a:t>
            </a:r>
          </a:p>
        </p:txBody>
      </p:sp>
      <p:sp>
        <p:nvSpPr>
          <p:cNvPr id="41" name="Google Shape;392;p31">
            <a:extLst>
              <a:ext uri="{FF2B5EF4-FFF2-40B4-BE49-F238E27FC236}">
                <a16:creationId xmlns:a16="http://schemas.microsoft.com/office/drawing/2014/main" id="{A03F28A3-4F78-1BED-9B67-9F971C0BC150}"/>
              </a:ext>
            </a:extLst>
          </p:cNvPr>
          <p:cNvSpPr txBox="1">
            <a:spLocks noGrp="1"/>
          </p:cNvSpPr>
          <p:nvPr>
            <p:ph type="subTitle" idx="13"/>
          </p:nvPr>
        </p:nvSpPr>
        <p:spPr>
          <a:xfrm>
            <a:off x="4709653" y="3215148"/>
            <a:ext cx="3451122" cy="1386349"/>
          </a:xfrm>
          <a:prstGeom prst="rect">
            <a:avLst/>
          </a:prstGeom>
        </p:spPr>
        <p:txBody>
          <a:bodyPr spcFirstLastPara="1" wrap="square" lIns="91425" tIns="91425" rIns="91425" bIns="91425" anchor="ctr" anchorCtr="0">
            <a:noAutofit/>
          </a:bodyPr>
          <a:lstStyle/>
          <a:p>
            <a:pPr marL="0" lvl="0" indent="0" algn="ctr" rtl="0">
              <a:spcBef>
                <a:spcPts val="0"/>
              </a:spcBef>
              <a:spcAft>
                <a:spcPts val="600"/>
              </a:spcAft>
              <a:buNone/>
            </a:pPr>
            <a:r>
              <a:rPr lang="en-US" b="1"/>
              <a:t>D.</a:t>
            </a:r>
          </a:p>
          <a:p>
            <a:pPr marL="0" indent="0" algn="ctr"/>
            <a:r>
              <a:rPr lang="en-US" sz="1600">
                <a:latin typeface="Encode Sans"/>
                <a:cs typeface="Arial"/>
              </a:rPr>
              <a:t>Tìm rủi ro mới từ dự án khác</a:t>
            </a:r>
          </a:p>
        </p:txBody>
      </p:sp>
    </p:spTree>
    <p:extLst>
      <p:ext uri="{BB962C8B-B14F-4D97-AF65-F5344CB8AC3E}">
        <p14:creationId xmlns:p14="http://schemas.microsoft.com/office/powerpoint/2010/main" val="3084647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3"/>
                                        </p:tgtEl>
                                        <p:attrNameLst>
                                          <p:attrName>fillcolor</p:attrName>
                                        </p:attrNameLst>
                                      </p:cBhvr>
                                      <p:to>
                                        <a:srgbClr val="FF7171"/>
                                      </p:to>
                                    </p:animClr>
                                    <p:set>
                                      <p:cBhvr>
                                        <p:cTn id="7" dur="500" fill="hold"/>
                                        <p:tgtEl>
                                          <p:spTgt spid="43"/>
                                        </p:tgtEl>
                                        <p:attrNameLst>
                                          <p:attrName>fill.type</p:attrName>
                                        </p:attrNameLst>
                                      </p:cBhvr>
                                      <p:to>
                                        <p:strVal val="solid"/>
                                      </p:to>
                                    </p:set>
                                    <p:set>
                                      <p:cBhvr>
                                        <p:cTn id="8" dur="500" fill="hold"/>
                                        <p:tgtEl>
                                          <p:spTgt spid="4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42"/>
                                        </p:tgtEl>
                                        <p:attrNameLst>
                                          <p:attrName>fillcolor</p:attrName>
                                        </p:attrNameLst>
                                      </p:cBhvr>
                                      <p:to>
                                        <a:srgbClr val="01F14B"/>
                                      </p:to>
                                    </p:animClr>
                                    <p:set>
                                      <p:cBhvr>
                                        <p:cTn id="11" dur="500" fill="hold"/>
                                        <p:tgtEl>
                                          <p:spTgt spid="42"/>
                                        </p:tgtEl>
                                        <p:attrNameLst>
                                          <p:attrName>fill.type</p:attrName>
                                        </p:attrNameLst>
                                      </p:cBhvr>
                                      <p:to>
                                        <p:strVal val="solid"/>
                                      </p:to>
                                    </p:set>
                                    <p:set>
                                      <p:cBhvr>
                                        <p:cTn id="12" dur="500" fill="hold"/>
                                        <p:tgtEl>
                                          <p:spTgt spid="42"/>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45"/>
                                        </p:tgtEl>
                                        <p:attrNameLst>
                                          <p:attrName>fillcolor</p:attrName>
                                        </p:attrNameLst>
                                      </p:cBhvr>
                                      <p:to>
                                        <a:srgbClr val="FF7171"/>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44"/>
                                        </p:tgtEl>
                                        <p:attrNameLst>
                                          <p:attrName>fillcolor</p:attrName>
                                        </p:attrNameLst>
                                      </p:cBhvr>
                                      <p:to>
                                        <a:srgbClr val="FF7171"/>
                                      </p:to>
                                    </p:animClr>
                                    <p:set>
                                      <p:cBhvr>
                                        <p:cTn id="19" dur="500" fill="hold"/>
                                        <p:tgtEl>
                                          <p:spTgt spid="44"/>
                                        </p:tgtEl>
                                        <p:attrNameLst>
                                          <p:attrName>fill.type</p:attrName>
                                        </p:attrNameLst>
                                      </p:cBhvr>
                                      <p:to>
                                        <p:strVal val="solid"/>
                                      </p:to>
                                    </p:set>
                                    <p:set>
                                      <p:cBhvr>
                                        <p:cTn id="20" dur="500" fill="hold"/>
                                        <p:tgtEl>
                                          <p:spTgt spid="4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7 Steps Of Risk Management Process Project Proposal by Slidesgo">
  <a:themeElements>
    <a:clrScheme name="Simple Light">
      <a:dk1>
        <a:srgbClr val="012C49"/>
      </a:dk1>
      <a:lt1>
        <a:srgbClr val="FFFFFF"/>
      </a:lt1>
      <a:dk2>
        <a:srgbClr val="FFE599"/>
      </a:dk2>
      <a:lt2>
        <a:srgbClr val="FF6768"/>
      </a:lt2>
      <a:accent1>
        <a:srgbClr val="B2F0FF"/>
      </a:accent1>
      <a:accent2>
        <a:srgbClr val="00B7B5"/>
      </a:accent2>
      <a:accent3>
        <a:srgbClr val="FFFFFF"/>
      </a:accent3>
      <a:accent4>
        <a:srgbClr val="FFFFFF"/>
      </a:accent4>
      <a:accent5>
        <a:srgbClr val="FFFFFF"/>
      </a:accent5>
      <a:accent6>
        <a:srgbClr val="FFFFFF"/>
      </a:accent6>
      <a:hlink>
        <a:srgbClr val="012C4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1320</TotalTime>
  <Words>5108</Words>
  <Application>Microsoft Office PowerPoint</Application>
  <PresentationFormat>On-screen Show (16:9)</PresentationFormat>
  <Paragraphs>501</Paragraphs>
  <Slides>79</Slides>
  <Notes>79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79</vt:i4>
      </vt:variant>
    </vt:vector>
  </HeadingPairs>
  <TitlesOfParts>
    <vt:vector size="89" baseType="lpstr">
      <vt:lpstr>Encode Sans</vt:lpstr>
      <vt:lpstr>Raleway</vt:lpstr>
      <vt:lpstr>Nunito Light</vt:lpstr>
      <vt:lpstr>Anaheim</vt:lpstr>
      <vt:lpstr>Wingdings</vt:lpstr>
      <vt:lpstr>Open Sans</vt:lpstr>
      <vt:lpstr>PT Sans</vt:lpstr>
      <vt:lpstr>Unbounded</vt:lpstr>
      <vt:lpstr>Arial</vt:lpstr>
      <vt:lpstr>7 Steps Of Risk Management Process Project Proposal by Slidesgo</vt:lpstr>
      <vt:lpstr>QUẢN LÝ RỦI RO (Project Risk Management)</vt:lpstr>
      <vt:lpstr>Thành viên nhóm</vt:lpstr>
      <vt:lpstr>Nội dung trình bày</vt:lpstr>
      <vt:lpstr>Giới thiệu chung về quản lý rủi ro</vt:lpstr>
      <vt:lpstr>Rủi ro là gì?</vt:lpstr>
      <vt:lpstr>Khái niệm về rủi ro</vt:lpstr>
      <vt:lpstr>Khái niệm về rủi ro</vt:lpstr>
      <vt:lpstr>Tại sao phải  quản lý rủi ro?</vt:lpstr>
      <vt:lpstr>PowerPoint Presentation</vt:lpstr>
      <vt:lpstr>Tại sao phải quản lý rủi ro?</vt:lpstr>
      <vt:lpstr>Tại sao phải quản lý rủi ro?</vt:lpstr>
      <vt:lpstr>Các yếu tố khiến  dự án phần mềm  trở nên rủi ro?</vt:lpstr>
      <vt:lpstr>Các yếu tố khiến phần mềm  trở nên rủi ro?</vt:lpstr>
      <vt:lpstr>Quy trình  quản lý rủi ro</vt:lpstr>
      <vt:lpstr>Quy trình quản lý rủi ro</vt:lpstr>
      <vt:lpstr>Lập kế hoạch quản lý rủi ro</vt:lpstr>
      <vt:lpstr>Lập kế hoạch quản lý</vt:lpstr>
      <vt:lpstr>Một số câu hỏi cốt lõi</vt:lpstr>
      <vt:lpstr>PowerPoint Presentation</vt:lpstr>
      <vt:lpstr>Kế hoạch dự phòng  (Contingency Plan)</vt:lpstr>
      <vt:lpstr>Kế hoạch rút lui  (Fallback Plan)</vt:lpstr>
      <vt:lpstr>Quỹ dự phòng (Reservers)</vt:lpstr>
      <vt:lpstr>Các phạm trù rủi ro cần xem xét</vt:lpstr>
      <vt:lpstr>Nhận diện rủi ro</vt:lpstr>
      <vt:lpstr>Các kỹ thuật nhận diện rủi ro</vt:lpstr>
      <vt:lpstr>Xem xét tài liệu  (Documentation Review)</vt:lpstr>
      <vt:lpstr>Động não  (Brainstorming)</vt:lpstr>
      <vt:lpstr>Động não  (Brainstorming)</vt:lpstr>
      <vt:lpstr>Kỹ thuật Delphi</vt:lpstr>
      <vt:lpstr>Kỹ thuật Delphi</vt:lpstr>
      <vt:lpstr>Hỏi ý kiến chuyên gia  (Expert Interviews)</vt:lpstr>
      <vt:lpstr>Hỏi ý kiến chuyên gia  (Expert Interviews)</vt:lpstr>
      <vt:lpstr> Phiếu kiểm tra và bảng câu hỏi (Checklists &amp; Questionnaires)</vt:lpstr>
      <vt:lpstr> Phiếu kiểm tra và bảng câu hỏi (Checklists &amp; Questionnaires)</vt:lpstr>
      <vt:lpstr> Biểu đồ xương cá  (Fishbone Diagram)</vt:lpstr>
      <vt:lpstr> Biểu đồ xương cá  (Fishbone Diagram)</vt:lpstr>
      <vt:lpstr> Biểu đồ quy trình (Process Flow Diagram)</vt:lpstr>
      <vt:lpstr> Biểu đồ quy trình (Process Flow Diagram)</vt:lpstr>
      <vt:lpstr>Phân tích rủi ro</vt:lpstr>
      <vt:lpstr>Phân loại và lựa chọn rủi ro  </vt:lpstr>
      <vt:lpstr>Phân tích rủi ro</vt:lpstr>
      <vt:lpstr>Phân tích khả năng xuất hiện của rủi ro (Risk Probability)</vt:lpstr>
      <vt:lpstr>Phân tích mức tác động của rủi ro (Risk impact)</vt:lpstr>
      <vt:lpstr>Phân tích thời điểm xuất hiện rủi ro (Time Frame)</vt:lpstr>
      <vt:lpstr>Ước lượng và phân hạng rủi ro (Risk Exposure)</vt:lpstr>
      <vt:lpstr>Ước lượng và phân hạng rủi ro (Risk Exposure)</vt:lpstr>
      <vt:lpstr>Ước lượng và phân hạng rủi ro (Risk Exposure)</vt:lpstr>
      <vt:lpstr>Ước lượng và phân hạng rủi ro (Risk Exposure)</vt:lpstr>
      <vt:lpstr>Ước lượng và phân hạng rủi ro (Risk Exposure)</vt:lpstr>
      <vt:lpstr>Kiểm soát rủi ro</vt:lpstr>
      <vt:lpstr>Kiểm soát rủi ro</vt:lpstr>
      <vt:lpstr>Giám sát  &amp; điều chỉnh rủi ro</vt:lpstr>
      <vt:lpstr>Giám sát và điều chỉnh rủi ro</vt:lpstr>
      <vt:lpstr>Mục đích của  giám sát &amp; điều chỉnh rủi ro</vt:lpstr>
      <vt:lpstr>Hoạt động chính của  giám sát &amp; điều chỉnh rủi ro</vt:lpstr>
      <vt:lpstr>Công cụ và kỹ thuật hỗ trợ</vt:lpstr>
      <vt:lpstr>Tổng kết nội dung</vt:lpstr>
      <vt:lpstr>Tổng kết những điểm chính</vt:lpstr>
      <vt:lpstr>Câu hỏi ôn tập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Âu Xuân Hoa-CN22CLCA</cp:lastModifiedBy>
  <cp:revision>17</cp:revision>
  <dcterms:modified xsi:type="dcterms:W3CDTF">2025-06-15T14:34:15Z</dcterms:modified>
</cp:coreProperties>
</file>