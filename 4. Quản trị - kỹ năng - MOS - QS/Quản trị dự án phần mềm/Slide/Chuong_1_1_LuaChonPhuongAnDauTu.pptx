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74" r:id="rId2"/>
  </p:sldMasterIdLst>
  <p:notesMasterIdLst>
    <p:notesMasterId r:id="rId17"/>
  </p:notesMasterIdLst>
  <p:handoutMasterIdLst>
    <p:handoutMasterId r:id="rId18"/>
  </p:handoutMasterIdLst>
  <p:sldIdLst>
    <p:sldId id="256" r:id="rId3"/>
    <p:sldId id="337" r:id="rId4"/>
    <p:sldId id="349" r:id="rId5"/>
    <p:sldId id="350" r:id="rId6"/>
    <p:sldId id="363" r:id="rId7"/>
    <p:sldId id="368" r:id="rId8"/>
    <p:sldId id="351" r:id="rId9"/>
    <p:sldId id="369" r:id="rId10"/>
    <p:sldId id="364" r:id="rId11"/>
    <p:sldId id="370" r:id="rId12"/>
    <p:sldId id="371" r:id="rId13"/>
    <p:sldId id="372" r:id="rId14"/>
    <p:sldId id="373" r:id="rId15"/>
    <p:sldId id="367" r:id="rId16"/>
  </p:sldIdLst>
  <p:sldSz cx="9144000" cy="6858000" type="screen4x3"/>
  <p:notesSz cx="6858000" cy="9199563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r" rtl="0" eaLnBrk="0" fontAlgn="base" hangingPunct="0">
      <a:spcBef>
        <a:spcPct val="0"/>
      </a:spcBef>
      <a:spcAft>
        <a:spcPct val="0"/>
      </a:spcAft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r" rtl="0" eaLnBrk="0" fontAlgn="base" hangingPunct="0">
      <a:spcBef>
        <a:spcPct val="0"/>
      </a:spcBef>
      <a:spcAft>
        <a:spcPct val="0"/>
      </a:spcAft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r" rtl="0" eaLnBrk="0" fontAlgn="base" hangingPunct="0">
      <a:spcBef>
        <a:spcPct val="0"/>
      </a:spcBef>
      <a:spcAft>
        <a:spcPct val="0"/>
      </a:spcAft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r" rtl="0" eaLnBrk="0" fontAlgn="base" hangingPunct="0">
      <a:spcBef>
        <a:spcPct val="0"/>
      </a:spcBef>
      <a:spcAft>
        <a:spcPct val="0"/>
      </a:spcAft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AEF8"/>
    <a:srgbClr val="FF3300"/>
    <a:srgbClr val="008000"/>
    <a:srgbClr val="0033CC"/>
    <a:srgbClr val="CCFFFF"/>
    <a:srgbClr val="FFFF99"/>
    <a:srgbClr val="0099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86560" autoAdjust="0"/>
  </p:normalViewPr>
  <p:slideViewPr>
    <p:cSldViewPr>
      <p:cViewPr>
        <p:scale>
          <a:sx n="75" d="100"/>
          <a:sy n="75" d="100"/>
        </p:scale>
        <p:origin x="1373" y="-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90"/>
    </p:cViewPr>
  </p:sorterViewPr>
  <p:notesViewPr>
    <p:cSldViewPr>
      <p:cViewPr varScale="1">
        <p:scale>
          <a:sx n="37" d="100"/>
          <a:sy n="37" d="100"/>
        </p:scale>
        <p:origin x="-1506" y="-78"/>
      </p:cViewPr>
      <p:guideLst>
        <p:guide orient="horz" pos="289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6E70270B-2254-FB18-9653-86DA846F49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i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A661370-7CFB-3CEA-57DE-8EF7DD897A6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i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8DD4CF05-1D5D-B240-CB3E-76467C1006D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505200" y="83820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i="0"/>
            </a:lvl1pPr>
          </a:lstStyle>
          <a:p>
            <a:pPr>
              <a:defRPr/>
            </a:pPr>
            <a:r>
              <a:rPr lang="en-US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E5D0945-A37C-4242-432C-D3FBC8CC5A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i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96C8D49-BD45-57B8-DC35-83B4228F6A5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i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DE83A846-1DA1-9E6A-A729-7DD5E302493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0300" y="690563"/>
            <a:ext cx="4598988" cy="3449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2547C212-FB72-048B-C2A9-ABAF5211DC3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70388"/>
            <a:ext cx="5029200" cy="413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8B7E0C86-6DB8-0A65-3234-0CE4DDCBA1F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39188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i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576657-29CB-645B-082D-8162D74C83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39188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i="0"/>
            </a:lvl1pPr>
          </a:lstStyle>
          <a:p>
            <a:fld id="{2B0E652C-59C6-4B4D-A3BC-E2D9CBA66ED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5CE596E-8A6D-E0CB-95BF-F93F5DFB25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0068D9B-C0D6-9B14-8492-6F9F1732A0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QQQQ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B7FAEEB0-9513-F1DA-EE1F-E049B7F9F7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DC3946C-95E1-4987-958F-D946D332F946}" type="slidenum">
              <a:rPr lang="en-US" altLang="en-US" sz="1200" i="0"/>
              <a:pPr/>
              <a:t>3</a:t>
            </a:fld>
            <a:endParaRPr lang="en-US" altLang="en-US" sz="1200" i="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8D4286C7-B2F8-6758-A191-D8CF47C7CF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082549C0-3DFB-A62B-D41D-8EC297D528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Năm</a:t>
            </a:r>
            <a:r>
              <a:rPr lang="en-US" dirty="0"/>
              <a:t> 0: </a:t>
            </a:r>
            <a:r>
              <a:rPr lang="en-US" dirty="0" err="1"/>
              <a:t>vay</a:t>
            </a:r>
            <a:r>
              <a:rPr lang="en-US" dirty="0"/>
              <a:t> 100</a:t>
            </a:r>
          </a:p>
          <a:p>
            <a:r>
              <a:rPr lang="en-US" dirty="0" err="1"/>
              <a:t>Năm</a:t>
            </a:r>
            <a:r>
              <a:rPr lang="en-US" dirty="0"/>
              <a:t> 1: </a:t>
            </a:r>
            <a:r>
              <a:rPr lang="en-US" dirty="0" err="1"/>
              <a:t>lãi</a:t>
            </a:r>
            <a:r>
              <a:rPr lang="en-US" dirty="0"/>
              <a:t> 10%: 100 (1+10%)</a:t>
            </a:r>
          </a:p>
          <a:p>
            <a:r>
              <a:rPr lang="en-US" dirty="0" err="1"/>
              <a:t>Năm</a:t>
            </a:r>
            <a:r>
              <a:rPr lang="en-US" dirty="0"/>
              <a:t> 2: (100 (1+10%))(1+10%)</a:t>
            </a:r>
          </a:p>
          <a:p>
            <a:r>
              <a:rPr lang="en-US" dirty="0"/>
              <a:t>…</a:t>
            </a:r>
          </a:p>
          <a:p>
            <a:r>
              <a:rPr lang="en-US" dirty="0" err="1"/>
              <a:t>Năm</a:t>
            </a:r>
            <a:r>
              <a:rPr lang="en-US" dirty="0"/>
              <a:t> n: F = p(1+i)^n, </a:t>
            </a:r>
            <a:r>
              <a:rPr lang="en-US" dirty="0" err="1"/>
              <a:t>với</a:t>
            </a:r>
            <a:r>
              <a:rPr lang="en-US" dirty="0"/>
              <a:t> p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0,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lãi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.</a:t>
            </a:r>
          </a:p>
          <a:p>
            <a:r>
              <a:rPr lang="en-US" dirty="0"/>
              <a:t>F: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lai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p=F/(1+i)^n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E652C-59C6-4B4D-A3BC-E2D9CBA66ED2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281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Bỏ</a:t>
            </a:r>
            <a:r>
              <a:rPr lang="en-US"/>
              <a:t>/chi </a:t>
            </a:r>
            <a:r>
              <a:rPr lang="en-US" dirty="0" err="1"/>
              <a:t>ra</a:t>
            </a:r>
            <a:r>
              <a:rPr lang="en-US" dirty="0"/>
              <a:t> -&gt; </a:t>
            </a:r>
            <a:r>
              <a:rPr lang="en-US" dirty="0" err="1"/>
              <a:t>mũi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xuống</a:t>
            </a:r>
            <a:endParaRPr lang="en-US" dirty="0"/>
          </a:p>
          <a:p>
            <a:r>
              <a:rPr lang="en-US" dirty="0"/>
              <a:t>Thu </a:t>
            </a:r>
            <a:r>
              <a:rPr lang="en-US" dirty="0" err="1"/>
              <a:t>vào</a:t>
            </a:r>
            <a:r>
              <a:rPr lang="en-US" dirty="0"/>
              <a:t> -&gt; </a:t>
            </a:r>
            <a:r>
              <a:rPr lang="en-US" dirty="0" err="1"/>
              <a:t>mũi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lên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E652C-59C6-4B4D-A3BC-E2D9CBA66ED2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7325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6182AE0-8F75-6813-7FFD-F9B1CEF875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7DD23AF-02ED-06E7-13EA-7DBBAA04A6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70388"/>
            <a:ext cx="5486400" cy="4138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E652C-59C6-4B4D-A3BC-E2D9CBA66ED2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7456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CB50F6A-9204-1E0B-6588-0009B12EE5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10002917-2CC3-2317-90AC-89E486F28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26" descr="Quarter Globe">
            <a:extLst>
              <a:ext uri="{FF2B5EF4-FFF2-40B4-BE49-F238E27FC236}">
                <a16:creationId xmlns:a16="http://schemas.microsoft.com/office/drawing/2014/main" id="{2BD9E5D9-9569-5567-8DC3-9FC83A367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1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175" y="2133600"/>
            <a:ext cx="4568825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1031">
            <a:extLst>
              <a:ext uri="{FF2B5EF4-FFF2-40B4-BE49-F238E27FC236}">
                <a16:creationId xmlns:a16="http://schemas.microsoft.com/office/drawing/2014/main" id="{ACFB3B3E-F07A-AC0A-A94C-E40B3EF87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0" y="5562600"/>
            <a:ext cx="184150" cy="457200"/>
          </a:xfrm>
          <a:prstGeom prst="rect">
            <a:avLst/>
          </a:prstGeom>
          <a:noFill/>
          <a:ln w="9525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GB" sz="2400"/>
          </a:p>
        </p:txBody>
      </p:sp>
      <p:sp>
        <p:nvSpPr>
          <p:cNvPr id="4" name="Text Box 1032">
            <a:extLst>
              <a:ext uri="{FF2B5EF4-FFF2-40B4-BE49-F238E27FC236}">
                <a16:creationId xmlns:a16="http://schemas.microsoft.com/office/drawing/2014/main" id="{5A7BB94F-39B5-B8DC-65F6-84867D80F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81000"/>
            <a:ext cx="3546475" cy="366713"/>
          </a:xfrm>
          <a:prstGeom prst="rect">
            <a:avLst/>
          </a:prstGeom>
          <a:noFill/>
          <a:ln w="9525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algn="l">
              <a:defRPr/>
            </a:pPr>
            <a:r>
              <a:rPr lang="en-US" sz="1400" b="1" i="0">
                <a:solidFill>
                  <a:srgbClr val="FF3300"/>
                </a:solidFill>
                <a:latin typeface="Lucida Sans" pitchFamily="34" charset="0"/>
              </a:rPr>
              <a:t>DSM/EE Training Program - Vietnam</a:t>
            </a:r>
            <a:r>
              <a:rPr lang="en-US" sz="1800" i="0" noProof="1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5" name="Picture 1034" descr="Boxes IIEC Small">
            <a:extLst>
              <a:ext uri="{FF2B5EF4-FFF2-40B4-BE49-F238E27FC236}">
                <a16:creationId xmlns:a16="http://schemas.microsoft.com/office/drawing/2014/main" id="{D13AFEF5-D88F-64CB-85D9-409CA9CEA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160020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036">
            <a:extLst>
              <a:ext uri="{FF2B5EF4-FFF2-40B4-BE49-F238E27FC236}">
                <a16:creationId xmlns:a16="http://schemas.microsoft.com/office/drawing/2014/main" id="{406EB168-2F99-2BDC-21DD-1DA60DA9941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1066800"/>
            <a:ext cx="3265488" cy="366713"/>
          </a:xfrm>
          <a:prstGeom prst="rect">
            <a:avLst/>
          </a:prstGeom>
          <a:noFill/>
          <a:ln w="9525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algn="l">
              <a:defRPr/>
            </a:pPr>
            <a:r>
              <a:rPr lang="en-US" sz="1400" b="1">
                <a:solidFill>
                  <a:srgbClr val="008000"/>
                </a:solidFill>
                <a:latin typeface="Monotype Corsiva" pitchFamily="66" charset="0"/>
              </a:rPr>
              <a:t>International Institute for Energy Conservation</a:t>
            </a:r>
            <a:r>
              <a:rPr lang="en-US" sz="1800" i="0" noProof="1">
                <a:solidFill>
                  <a:srgbClr val="000000"/>
                </a:solidFill>
                <a:latin typeface="Monotype Corsiva" pitchFamily="66" charset="0"/>
              </a:rPr>
              <a:t> </a:t>
            </a:r>
          </a:p>
        </p:txBody>
      </p:sp>
      <p:sp>
        <p:nvSpPr>
          <p:cNvPr id="33795" name="Rectangle 1027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2438400"/>
            <a:ext cx="6705600" cy="1828800"/>
          </a:xfrm>
        </p:spPr>
        <p:txBody>
          <a:bodyPr/>
          <a:lstStyle>
            <a:lvl1pPr algn="ctr">
              <a:defRPr sz="2800">
                <a:latin typeface="Copperplate Gothic Bold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796" name="Rectangle 10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19200" y="4419600"/>
            <a:ext cx="6705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52232F6E-27F5-E765-C864-CB28EE946EF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319838"/>
            <a:ext cx="2895600" cy="457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AFE71A48-EB28-2ECD-1DE2-27456EDDEF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7558088" y="6330950"/>
            <a:ext cx="1481137" cy="433388"/>
          </a:xfrm>
        </p:spPr>
        <p:txBody>
          <a:bodyPr/>
          <a:lstStyle>
            <a:lvl1pPr>
              <a:defRPr/>
            </a:lvl1pPr>
          </a:lstStyle>
          <a:p>
            <a:fld id="{43043EA1-0D37-49D1-9138-E055C78B9C1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A109C207-3713-11D4-1632-8E0B6698162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xfrm>
            <a:off x="114300" y="6319838"/>
            <a:ext cx="1409700" cy="4445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91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C9ABF7-F128-501D-3BE1-EF54458131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FF2FB-D04E-E361-A2D2-E29A4BC0FE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1F9735B-060D-4B5A-9F33-37FB7AD4F5B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710DAD-1638-7126-8B43-010EB77C5D0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77C10-A423-DE88-F906-5ED7F9FF54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C2D9EB-C1BA-4BB8-D543-3F0A00F371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F354EED-4644-4745-BB9A-3BFE252C563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2A0FE4-BAD3-338F-5CE4-4BFA47F86EE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779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0188" y="1752600"/>
            <a:ext cx="3724275" cy="4486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863" y="1752600"/>
            <a:ext cx="3724275" cy="4486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A1EBB-7709-C958-B3FC-8A57938CB5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5A59F-0C03-8F6C-D919-785144BDBB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19E7401-AEAE-42FF-808F-5477DD4EAB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342CF-24B6-6722-11AF-14D3CEB1FBA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B56CA82-073D-3B56-5ED5-A2C25EA46E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77084E-6AA9-954F-7203-0AC179A3DC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139191F-2EA3-4373-ABC1-954024FCDB3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378497-99B3-BEEA-89F3-DDC9CD170F4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42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3C1F0D-9AFA-68AB-606C-8D422D3E61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D11C2-2691-7241-666A-9B17A4FC0C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BAC628-1D42-40A9-B011-0F30C89DDE9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FC6F6-3529-B064-0D27-43BA0FFE77F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67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325D6-9E31-4F07-D50C-54F596C275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3ECF6-B0EF-BDC9-7821-D2653E97C0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0130981-04CA-4A1B-BC0E-C541D228AD0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185718-68A3-BC34-0227-3C2474BA865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4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AA685-903C-A30D-4627-EBB403196B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B4AA8-58E9-9642-A29E-BCBC6EE42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F52ED8B-410F-48ED-A5ED-7E1AEAC65E2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2BC8C8-A481-AFAC-93A4-EF0B873BA79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CB051-CF86-8D33-794C-A15475841D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76B49E-7C71-F63D-F3C8-BE4914E833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8BF87C4-F85B-4D0A-A936-D38770838D5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1E1551F-988C-871D-7F35-D19BA28D73B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9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00900" y="228600"/>
            <a:ext cx="1900238" cy="60102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0188" y="228600"/>
            <a:ext cx="5548312" cy="6010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77167C-E3EB-5E1C-E969-E25E6067E4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74463-6B5D-76C0-6098-D2F30D619F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0B0A963-7E09-4879-B3BC-022D7E4AAE3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9D0556C-B53D-C9A6-41DF-B2294400792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6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9365C0A-64AA-90D4-DC0D-EE2624181C9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F401212-E1FA-C913-F933-3A07118F1C2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-215207">
              <a:off x="3692" y="232"/>
              <a:ext cx="1856" cy="3627"/>
              <a:chOff x="3010" y="776"/>
              <a:chExt cx="1856" cy="3627"/>
            </a:xfrm>
          </p:grpSpPr>
          <p:sp>
            <p:nvSpPr>
              <p:cNvPr id="37" name="Freeform 4">
                <a:extLst>
                  <a:ext uri="{FF2B5EF4-FFF2-40B4-BE49-F238E27FC236}">
                    <a16:creationId xmlns:a16="http://schemas.microsoft.com/office/drawing/2014/main" id="{01CB8CF4-791C-1B54-BFB9-FC5CF3A21A7E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12185230" flipV="1">
                <a:off x="3533" y="775"/>
                <a:ext cx="1333" cy="1485"/>
              </a:xfrm>
              <a:custGeom>
                <a:avLst/>
                <a:gdLst/>
                <a:ahLst/>
                <a:cxnLst>
                  <a:cxn ang="0">
                    <a:pos x="16" y="370"/>
                  </a:cxn>
                  <a:cxn ang="0">
                    <a:pos x="6" y="341"/>
                  </a:cxn>
                  <a:cxn ang="0">
                    <a:pos x="0" y="289"/>
                  </a:cxn>
                  <a:cxn ang="0">
                    <a:pos x="4" y="222"/>
                  </a:cxn>
                  <a:cxn ang="0">
                    <a:pos x="25" y="151"/>
                  </a:cxn>
                  <a:cxn ang="0">
                    <a:pos x="69" y="84"/>
                  </a:cxn>
                  <a:cxn ang="0">
                    <a:pos x="142" y="31"/>
                  </a:cxn>
                  <a:cxn ang="0">
                    <a:pos x="247" y="2"/>
                  </a:cxn>
                  <a:cxn ang="0">
                    <a:pos x="380" y="9"/>
                  </a:cxn>
                  <a:cxn ang="0">
                    <a:pos x="484" y="68"/>
                  </a:cxn>
                  <a:cxn ang="0">
                    <a:pos x="554" y="165"/>
                  </a:cxn>
                  <a:cxn ang="0">
                    <a:pos x="591" y="284"/>
                  </a:cxn>
                  <a:cxn ang="0">
                    <a:pos x="595" y="409"/>
                  </a:cxn>
                  <a:cxn ang="0">
                    <a:pos x="566" y="525"/>
                  </a:cxn>
                  <a:cxn ang="0">
                    <a:pos x="507" y="615"/>
                  </a:cxn>
                  <a:cxn ang="0">
                    <a:pos x="417" y="663"/>
                  </a:cxn>
                  <a:cxn ang="0">
                    <a:pos x="389" y="659"/>
                  </a:cxn>
                  <a:cxn ang="0">
                    <a:pos x="441" y="617"/>
                  </a:cxn>
                  <a:cxn ang="0">
                    <a:pos x="482" y="544"/>
                  </a:cxn>
                  <a:cxn ang="0">
                    <a:pos x="509" y="454"/>
                  </a:cxn>
                  <a:cxn ang="0">
                    <a:pos x="520" y="355"/>
                  </a:cxn>
                  <a:cxn ang="0">
                    <a:pos x="514" y="258"/>
                  </a:cxn>
                  <a:cxn ang="0">
                    <a:pos x="485" y="174"/>
                  </a:cxn>
                  <a:cxn ang="0">
                    <a:pos x="433" y="112"/>
                  </a:cxn>
                  <a:cxn ang="0">
                    <a:pos x="341" y="75"/>
                  </a:cxn>
                  <a:cxn ang="0">
                    <a:pos x="246" y="61"/>
                  </a:cxn>
                  <a:cxn ang="0">
                    <a:pos x="174" y="71"/>
                  </a:cxn>
                  <a:cxn ang="0">
                    <a:pos x="121" y="101"/>
                  </a:cxn>
                  <a:cxn ang="0">
                    <a:pos x="84" y="149"/>
                  </a:cxn>
                  <a:cxn ang="0">
                    <a:pos x="57" y="206"/>
                  </a:cxn>
                  <a:cxn ang="0">
                    <a:pos x="40" y="272"/>
                  </a:cxn>
                  <a:cxn ang="0">
                    <a:pos x="28" y="339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8" name="Freeform 5">
                <a:extLst>
                  <a:ext uri="{FF2B5EF4-FFF2-40B4-BE49-F238E27FC236}">
                    <a16:creationId xmlns:a16="http://schemas.microsoft.com/office/drawing/2014/main" id="{941D45D2-CF21-023B-8F47-70A7E1F4872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12185230" flipV="1">
                <a:off x="4028" y="1799"/>
                <a:ext cx="571" cy="53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5"/>
                  </a:cxn>
                  <a:cxn ang="0">
                    <a:pos x="3" y="50"/>
                  </a:cxn>
                  <a:cxn ang="0">
                    <a:pos x="6" y="75"/>
                  </a:cxn>
                  <a:cxn ang="0">
                    <a:pos x="11" y="98"/>
                  </a:cxn>
                  <a:cxn ang="0">
                    <a:pos x="18" y="119"/>
                  </a:cxn>
                  <a:cxn ang="0">
                    <a:pos x="27" y="141"/>
                  </a:cxn>
                  <a:cxn ang="0">
                    <a:pos x="38" y="161"/>
                  </a:cxn>
                  <a:cxn ang="0">
                    <a:pos x="51" y="178"/>
                  </a:cxn>
                  <a:cxn ang="0">
                    <a:pos x="67" y="194"/>
                  </a:cxn>
                  <a:cxn ang="0">
                    <a:pos x="86" y="208"/>
                  </a:cxn>
                  <a:cxn ang="0">
                    <a:pos x="106" y="219"/>
                  </a:cxn>
                  <a:cxn ang="0">
                    <a:pos x="131" y="228"/>
                  </a:cxn>
                  <a:cxn ang="0">
                    <a:pos x="158" y="234"/>
                  </a:cxn>
                  <a:cxn ang="0">
                    <a:pos x="188" y="237"/>
                  </a:cxn>
                  <a:cxn ang="0">
                    <a:pos x="220" y="236"/>
                  </a:cxn>
                  <a:cxn ang="0">
                    <a:pos x="257" y="232"/>
                  </a:cxn>
                  <a:cxn ang="0">
                    <a:pos x="224" y="227"/>
                  </a:cxn>
                  <a:cxn ang="0">
                    <a:pos x="195" y="220"/>
                  </a:cxn>
                  <a:cxn ang="0">
                    <a:pos x="170" y="212"/>
                  </a:cxn>
                  <a:cxn ang="0">
                    <a:pos x="148" y="204"/>
                  </a:cxn>
                  <a:cxn ang="0">
                    <a:pos x="128" y="193"/>
                  </a:cxn>
                  <a:cxn ang="0">
                    <a:pos x="112" y="182"/>
                  </a:cxn>
                  <a:cxn ang="0">
                    <a:pos x="97" y="169"/>
                  </a:cxn>
                  <a:cxn ang="0">
                    <a:pos x="84" y="155"/>
                  </a:cxn>
                  <a:cxn ang="0">
                    <a:pos x="72" y="141"/>
                  </a:cxn>
                  <a:cxn ang="0">
                    <a:pos x="61" y="125"/>
                  </a:cxn>
                  <a:cxn ang="0">
                    <a:pos x="52" y="107"/>
                  </a:cxn>
                  <a:cxn ang="0">
                    <a:pos x="43" y="88"/>
                  </a:cxn>
                  <a:cxn ang="0">
                    <a:pos x="33" y="69"/>
                  </a:cxn>
                  <a:cxn ang="0">
                    <a:pos x="23" y="47"/>
                  </a:cxn>
                  <a:cxn ang="0">
                    <a:pos x="12" y="24"/>
                  </a:cxn>
                  <a:cxn ang="0">
                    <a:pos x="0" y="0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" name="Freeform 6">
                <a:extLst>
                  <a:ext uri="{FF2B5EF4-FFF2-40B4-BE49-F238E27FC236}">
                    <a16:creationId xmlns:a16="http://schemas.microsoft.com/office/drawing/2014/main" id="{1895667B-EB3C-E578-B85C-94F7F730F12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12185230" flipV="1">
                <a:off x="3636" y="2164"/>
                <a:ext cx="277" cy="249"/>
              </a:xfrm>
              <a:custGeom>
                <a:avLst/>
                <a:gdLst/>
                <a:ahLst/>
                <a:cxnLst>
                  <a:cxn ang="0">
                    <a:pos x="77" y="0"/>
                  </a:cxn>
                  <a:cxn ang="0">
                    <a:pos x="124" y="108"/>
                  </a:cxn>
                  <a:cxn ang="0">
                    <a:pos x="120" y="107"/>
                  </a:cxn>
                  <a:cxn ang="0">
                    <a:pos x="107" y="105"/>
                  </a:cxn>
                  <a:cxn ang="0">
                    <a:pos x="89" y="101"/>
                  </a:cxn>
                  <a:cxn ang="0">
                    <a:pos x="68" y="99"/>
                  </a:cxn>
                  <a:cxn ang="0">
                    <a:pos x="45" y="97"/>
                  </a:cxn>
                  <a:cxn ang="0">
                    <a:pos x="25" y="98"/>
                  </a:cxn>
                  <a:cxn ang="0">
                    <a:pos x="9" y="102"/>
                  </a:cxn>
                  <a:cxn ang="0">
                    <a:pos x="0" y="110"/>
                  </a:cxn>
                  <a:cxn ang="0">
                    <a:pos x="4" y="98"/>
                  </a:cxn>
                  <a:cxn ang="0">
                    <a:pos x="8" y="89"/>
                  </a:cxn>
                  <a:cxn ang="0">
                    <a:pos x="16" y="82"/>
                  </a:cxn>
                  <a:cxn ang="0">
                    <a:pos x="25" y="76"/>
                  </a:cxn>
                  <a:cxn ang="0">
                    <a:pos x="36" y="72"/>
                  </a:cxn>
                  <a:cxn ang="0">
                    <a:pos x="47" y="71"/>
                  </a:cxn>
                  <a:cxn ang="0">
                    <a:pos x="59" y="71"/>
                  </a:cxn>
                  <a:cxn ang="0">
                    <a:pos x="72" y="74"/>
                  </a:cxn>
                  <a:cxn ang="0">
                    <a:pos x="73" y="71"/>
                  </a:cxn>
                  <a:cxn ang="0">
                    <a:pos x="70" y="56"/>
                  </a:cxn>
                  <a:cxn ang="0">
                    <a:pos x="67" y="38"/>
                  </a:cxn>
                  <a:cxn ang="0">
                    <a:pos x="65" y="30"/>
                  </a:cxn>
                  <a:cxn ang="0">
                    <a:pos x="63" y="30"/>
                  </a:cxn>
                  <a:cxn ang="0">
                    <a:pos x="61" y="29"/>
                  </a:cxn>
                  <a:cxn ang="0">
                    <a:pos x="59" y="26"/>
                  </a:cxn>
                  <a:cxn ang="0">
                    <a:pos x="57" y="23"/>
                  </a:cxn>
                  <a:cxn ang="0">
                    <a:pos x="57" y="19"/>
                  </a:cxn>
                  <a:cxn ang="0">
                    <a:pos x="59" y="14"/>
                  </a:cxn>
                  <a:cxn ang="0">
                    <a:pos x="66" y="8"/>
                  </a:cxn>
                  <a:cxn ang="0">
                    <a:pos x="77" y="0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" name="Freeform 7">
                <a:extLst>
                  <a:ext uri="{FF2B5EF4-FFF2-40B4-BE49-F238E27FC236}">
                    <a16:creationId xmlns:a16="http://schemas.microsoft.com/office/drawing/2014/main" id="{D54BB2F8-E5CF-3090-B7CD-BE271DF6855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12185230" flipV="1">
                <a:off x="3977" y="974"/>
                <a:ext cx="245" cy="34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1"/>
                  </a:cxn>
                  <a:cxn ang="0">
                    <a:pos x="18" y="5"/>
                  </a:cxn>
                  <a:cxn ang="0">
                    <a:pos x="37" y="12"/>
                  </a:cxn>
                  <a:cxn ang="0">
                    <a:pos x="58" y="24"/>
                  </a:cxn>
                  <a:cxn ang="0">
                    <a:pos x="78" y="44"/>
                  </a:cxn>
                  <a:cxn ang="0">
                    <a:pos x="96" y="71"/>
                  </a:cxn>
                  <a:cxn ang="0">
                    <a:pos x="107" y="108"/>
                  </a:cxn>
                  <a:cxn ang="0">
                    <a:pos x="109" y="156"/>
                  </a:cxn>
                  <a:cxn ang="0">
                    <a:pos x="105" y="156"/>
                  </a:cxn>
                  <a:cxn ang="0">
                    <a:pos x="99" y="156"/>
                  </a:cxn>
                  <a:cxn ang="0">
                    <a:pos x="93" y="156"/>
                  </a:cxn>
                  <a:cxn ang="0">
                    <a:pos x="87" y="154"/>
                  </a:cxn>
                  <a:cxn ang="0">
                    <a:pos x="81" y="153"/>
                  </a:cxn>
                  <a:cxn ang="0">
                    <a:pos x="74" y="150"/>
                  </a:cxn>
                  <a:cxn ang="0">
                    <a:pos x="66" y="145"/>
                  </a:cxn>
                  <a:cxn ang="0">
                    <a:pos x="58" y="139"/>
                  </a:cxn>
                  <a:cxn ang="0">
                    <a:pos x="53" y="126"/>
                  </a:cxn>
                  <a:cxn ang="0">
                    <a:pos x="53" y="111"/>
                  </a:cxn>
                  <a:cxn ang="0">
                    <a:pos x="56" y="96"/>
                  </a:cxn>
                  <a:cxn ang="0">
                    <a:pos x="59" y="80"/>
                  </a:cxn>
                  <a:cxn ang="0">
                    <a:pos x="56" y="62"/>
                  </a:cxn>
                  <a:cxn ang="0">
                    <a:pos x="48" y="43"/>
                  </a:cxn>
                  <a:cxn ang="0">
                    <a:pos x="31" y="23"/>
                  </a:cxn>
                  <a:cxn ang="0">
                    <a:pos x="0" y="0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1" name="Freeform 8">
                <a:extLst>
                  <a:ext uri="{FF2B5EF4-FFF2-40B4-BE49-F238E27FC236}">
                    <a16:creationId xmlns:a16="http://schemas.microsoft.com/office/drawing/2014/main" id="{B6EA86D4-A0AE-E467-2D62-C7C267E2D81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12185230" flipV="1">
                <a:off x="3842" y="2207"/>
                <a:ext cx="103" cy="209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20" y="38"/>
                  </a:cxn>
                  <a:cxn ang="0">
                    <a:pos x="15" y="62"/>
                  </a:cxn>
                  <a:cxn ang="0">
                    <a:pos x="11" y="79"/>
                  </a:cxn>
                  <a:cxn ang="0">
                    <a:pos x="0" y="94"/>
                  </a:cxn>
                  <a:cxn ang="0">
                    <a:pos x="12" y="88"/>
                  </a:cxn>
                  <a:cxn ang="0">
                    <a:pos x="23" y="80"/>
                  </a:cxn>
                  <a:cxn ang="0">
                    <a:pos x="32" y="69"/>
                  </a:cxn>
                  <a:cxn ang="0">
                    <a:pos x="40" y="57"/>
                  </a:cxn>
                  <a:cxn ang="0">
                    <a:pos x="45" y="44"/>
                  </a:cxn>
                  <a:cxn ang="0">
                    <a:pos x="46" y="30"/>
                  </a:cxn>
                  <a:cxn ang="0">
                    <a:pos x="42" y="15"/>
                  </a:cxn>
                  <a:cxn ang="0">
                    <a:pos x="31" y="0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2" name="Freeform 9">
                <a:extLst>
                  <a:ext uri="{FF2B5EF4-FFF2-40B4-BE49-F238E27FC236}">
                    <a16:creationId xmlns:a16="http://schemas.microsoft.com/office/drawing/2014/main" id="{6C2CC496-3F22-D00E-829D-E6EA41EB3F1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12185230" flipV="1">
                <a:off x="3892" y="1325"/>
                <a:ext cx="120" cy="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"/>
                  </a:cxn>
                  <a:cxn ang="0">
                    <a:pos x="6" y="3"/>
                  </a:cxn>
                  <a:cxn ang="0">
                    <a:pos x="13" y="8"/>
                  </a:cxn>
                  <a:cxn ang="0">
                    <a:pos x="21" y="12"/>
                  </a:cxn>
                  <a:cxn ang="0">
                    <a:pos x="29" y="15"/>
                  </a:cxn>
                  <a:cxn ang="0">
                    <a:pos x="38" y="17"/>
                  </a:cxn>
                  <a:cxn ang="0">
                    <a:pos x="46" y="18"/>
                  </a:cxn>
                  <a:cxn ang="0">
                    <a:pos x="54" y="16"/>
                  </a:cxn>
                  <a:cxn ang="0">
                    <a:pos x="53" y="25"/>
                  </a:cxn>
                  <a:cxn ang="0">
                    <a:pos x="50" y="33"/>
                  </a:cxn>
                  <a:cxn ang="0">
                    <a:pos x="44" y="38"/>
                  </a:cxn>
                  <a:cxn ang="0">
                    <a:pos x="37" y="40"/>
                  </a:cxn>
                  <a:cxn ang="0">
                    <a:pos x="28" y="39"/>
                  </a:cxn>
                  <a:cxn ang="0">
                    <a:pos x="19" y="32"/>
                  </a:cxn>
                  <a:cxn ang="0">
                    <a:pos x="10" y="20"/>
                  </a:cxn>
                  <a:cxn ang="0">
                    <a:pos x="0" y="0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3" name="Freeform 10">
                <a:extLst>
                  <a:ext uri="{FF2B5EF4-FFF2-40B4-BE49-F238E27FC236}">
                    <a16:creationId xmlns:a16="http://schemas.microsoft.com/office/drawing/2014/main" id="{42EA32F1-67F6-B655-B8A1-386A2CBCD56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12185230" flipV="1">
                <a:off x="3009" y="2344"/>
                <a:ext cx="330" cy="20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6"/>
                  </a:cxn>
                  <a:cxn ang="0">
                    <a:pos x="16" y="14"/>
                  </a:cxn>
                  <a:cxn ang="0">
                    <a:pos x="28" y="24"/>
                  </a:cxn>
                  <a:cxn ang="0">
                    <a:pos x="41" y="37"/>
                  </a:cxn>
                  <a:cxn ang="0">
                    <a:pos x="58" y="53"/>
                  </a:cxn>
                  <a:cxn ang="0">
                    <a:pos x="73" y="70"/>
                  </a:cxn>
                  <a:cxn ang="0">
                    <a:pos x="88" y="90"/>
                  </a:cxn>
                  <a:cxn ang="0">
                    <a:pos x="100" y="113"/>
                  </a:cxn>
                  <a:cxn ang="0">
                    <a:pos x="112" y="137"/>
                  </a:cxn>
                  <a:cxn ang="0">
                    <a:pos x="120" y="165"/>
                  </a:cxn>
                  <a:cxn ang="0">
                    <a:pos x="124" y="196"/>
                  </a:cxn>
                  <a:cxn ang="0">
                    <a:pos x="126" y="228"/>
                  </a:cxn>
                  <a:cxn ang="0">
                    <a:pos x="120" y="264"/>
                  </a:cxn>
                  <a:cxn ang="0">
                    <a:pos x="109" y="302"/>
                  </a:cxn>
                  <a:cxn ang="0">
                    <a:pos x="92" y="342"/>
                  </a:cxn>
                  <a:cxn ang="0">
                    <a:pos x="67" y="386"/>
                  </a:cxn>
                  <a:cxn ang="0">
                    <a:pos x="39" y="436"/>
                  </a:cxn>
                  <a:cxn ang="0">
                    <a:pos x="21" y="482"/>
                  </a:cxn>
                  <a:cxn ang="0">
                    <a:pos x="10" y="525"/>
                  </a:cxn>
                  <a:cxn ang="0">
                    <a:pos x="6" y="566"/>
                  </a:cxn>
                  <a:cxn ang="0">
                    <a:pos x="6" y="605"/>
                  </a:cxn>
                  <a:cxn ang="0">
                    <a:pos x="8" y="641"/>
                  </a:cxn>
                  <a:cxn ang="0">
                    <a:pos x="12" y="673"/>
                  </a:cxn>
                  <a:cxn ang="0">
                    <a:pos x="14" y="704"/>
                  </a:cxn>
                  <a:cxn ang="0">
                    <a:pos x="41" y="688"/>
                  </a:cxn>
                  <a:cxn ang="0">
                    <a:pos x="39" y="680"/>
                  </a:cxn>
                  <a:cxn ang="0">
                    <a:pos x="36" y="657"/>
                  </a:cxn>
                  <a:cxn ang="0">
                    <a:pos x="33" y="622"/>
                  </a:cxn>
                  <a:cxn ang="0">
                    <a:pos x="35" y="575"/>
                  </a:cxn>
                  <a:cxn ang="0">
                    <a:pos x="41" y="519"/>
                  </a:cxn>
                  <a:cxn ang="0">
                    <a:pos x="58" y="455"/>
                  </a:cxn>
                  <a:cxn ang="0">
                    <a:pos x="86" y="386"/>
                  </a:cxn>
                  <a:cxn ang="0">
                    <a:pos x="129" y="313"/>
                  </a:cxn>
                  <a:cxn ang="0">
                    <a:pos x="143" y="279"/>
                  </a:cxn>
                  <a:cxn ang="0">
                    <a:pos x="149" y="235"/>
                  </a:cxn>
                  <a:cxn ang="0">
                    <a:pos x="144" y="184"/>
                  </a:cxn>
                  <a:cxn ang="0">
                    <a:pos x="131" y="134"/>
                  </a:cxn>
                  <a:cxn ang="0">
                    <a:pos x="109" y="85"/>
                  </a:cxn>
                  <a:cxn ang="0">
                    <a:pos x="81" y="44"/>
                  </a:cxn>
                  <a:cxn ang="0">
                    <a:pos x="44" y="14"/>
                  </a:cxn>
                  <a:cxn ang="0">
                    <a:pos x="0" y="0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4" name="Freeform 11">
              <a:extLst>
                <a:ext uri="{FF2B5EF4-FFF2-40B4-BE49-F238E27FC236}">
                  <a16:creationId xmlns:a16="http://schemas.microsoft.com/office/drawing/2014/main" id="{B289374C-F54A-3B08-B270-47B4A6D37C3C}"/>
                </a:ext>
              </a:extLst>
            </p:cNvPr>
            <p:cNvSpPr>
              <a:spLocks/>
            </p:cNvSpPr>
            <p:nvPr userDrawn="1"/>
          </p:nvSpPr>
          <p:spPr bwMode="ltGray">
            <a:xfrm rot="373331" flipH="1">
              <a:off x="22" y="1957"/>
              <a:ext cx="323" cy="649"/>
            </a:xfrm>
            <a:custGeom>
              <a:avLst/>
              <a:gdLst/>
              <a:ahLst/>
              <a:cxnLst>
                <a:cxn ang="0">
                  <a:pos x="94" y="0"/>
                </a:cxn>
                <a:cxn ang="0">
                  <a:pos x="105" y="9"/>
                </a:cxn>
                <a:cxn ang="0">
                  <a:pos x="115" y="27"/>
                </a:cxn>
                <a:cxn ang="0">
                  <a:pos x="123" y="50"/>
                </a:cxn>
                <a:cxn ang="0">
                  <a:pos x="128" y="78"/>
                </a:cxn>
                <a:cxn ang="0">
                  <a:pos x="127" y="111"/>
                </a:cxn>
                <a:cxn ang="0">
                  <a:pos x="116" y="145"/>
                </a:cxn>
                <a:cxn ang="0">
                  <a:pos x="94" y="181"/>
                </a:cxn>
                <a:cxn ang="0">
                  <a:pos x="60" y="217"/>
                </a:cxn>
                <a:cxn ang="0">
                  <a:pos x="49" y="213"/>
                </a:cxn>
                <a:cxn ang="0">
                  <a:pos x="38" y="210"/>
                </a:cxn>
                <a:cxn ang="0">
                  <a:pos x="26" y="205"/>
                </a:cxn>
                <a:cxn ang="0">
                  <a:pos x="16" y="201"/>
                </a:cxn>
                <a:cxn ang="0">
                  <a:pos x="8" y="196"/>
                </a:cxn>
                <a:cxn ang="0">
                  <a:pos x="2" y="190"/>
                </a:cxn>
                <a:cxn ang="0">
                  <a:pos x="0" y="183"/>
                </a:cxn>
                <a:cxn ang="0">
                  <a:pos x="1" y="178"/>
                </a:cxn>
                <a:cxn ang="0">
                  <a:pos x="13" y="171"/>
                </a:cxn>
                <a:cxn ang="0">
                  <a:pos x="29" y="161"/>
                </a:cxn>
                <a:cxn ang="0">
                  <a:pos x="46" y="150"/>
                </a:cxn>
                <a:cxn ang="0">
                  <a:pos x="63" y="134"/>
                </a:cxn>
                <a:cxn ang="0">
                  <a:pos x="79" y="112"/>
                </a:cxn>
                <a:cxn ang="0">
                  <a:pos x="91" y="83"/>
                </a:cxn>
                <a:cxn ang="0">
                  <a:pos x="97" y="46"/>
                </a:cxn>
                <a:cxn ang="0">
                  <a:pos x="94" y="0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" name="Freeform 12">
              <a:extLst>
                <a:ext uri="{FF2B5EF4-FFF2-40B4-BE49-F238E27FC236}">
                  <a16:creationId xmlns:a16="http://schemas.microsoft.com/office/drawing/2014/main" id="{3FC6EDB6-1E73-F366-3E37-5A7765A90A98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68" y="1260"/>
              <a:ext cx="1259" cy="1532"/>
            </a:xfrm>
            <a:custGeom>
              <a:avLst/>
              <a:gdLst/>
              <a:ahLst/>
              <a:cxnLst>
                <a:cxn ang="0">
                  <a:pos x="891" y="1532"/>
                </a:cxn>
                <a:cxn ang="0">
                  <a:pos x="954" y="1452"/>
                </a:cxn>
                <a:cxn ang="0">
                  <a:pos x="1032" y="1338"/>
                </a:cxn>
                <a:cxn ang="0">
                  <a:pos x="1115" y="1188"/>
                </a:cxn>
                <a:cxn ang="0">
                  <a:pos x="1194" y="1023"/>
                </a:cxn>
                <a:cxn ang="0">
                  <a:pos x="1244" y="841"/>
                </a:cxn>
                <a:cxn ang="0">
                  <a:pos x="1259" y="647"/>
                </a:cxn>
                <a:cxn ang="0">
                  <a:pos x="1230" y="463"/>
                </a:cxn>
                <a:cxn ang="0">
                  <a:pos x="1140" y="294"/>
                </a:cxn>
                <a:cxn ang="0">
                  <a:pos x="1043" y="190"/>
                </a:cxn>
                <a:cxn ang="0">
                  <a:pos x="961" y="109"/>
                </a:cxn>
                <a:cxn ang="0">
                  <a:pos x="894" y="65"/>
                </a:cxn>
                <a:cxn ang="0">
                  <a:pos x="786" y="18"/>
                </a:cxn>
                <a:cxn ang="0">
                  <a:pos x="642" y="0"/>
                </a:cxn>
                <a:cxn ang="0">
                  <a:pos x="440" y="23"/>
                </a:cxn>
                <a:cxn ang="0">
                  <a:pos x="366" y="44"/>
                </a:cxn>
                <a:cxn ang="0">
                  <a:pos x="292" y="58"/>
                </a:cxn>
                <a:cxn ang="0">
                  <a:pos x="229" y="79"/>
                </a:cxn>
                <a:cxn ang="0">
                  <a:pos x="178" y="103"/>
                </a:cxn>
                <a:cxn ang="0">
                  <a:pos x="127" y="127"/>
                </a:cxn>
                <a:cxn ang="0">
                  <a:pos x="82" y="158"/>
                </a:cxn>
                <a:cxn ang="0">
                  <a:pos x="41" y="197"/>
                </a:cxn>
                <a:cxn ang="0">
                  <a:pos x="0" y="243"/>
                </a:cxn>
                <a:cxn ang="0">
                  <a:pos x="76" y="215"/>
                </a:cxn>
                <a:cxn ang="0">
                  <a:pos x="144" y="194"/>
                </a:cxn>
                <a:cxn ang="0">
                  <a:pos x="212" y="179"/>
                </a:cxn>
                <a:cxn ang="0">
                  <a:pos x="280" y="164"/>
                </a:cxn>
                <a:cxn ang="0">
                  <a:pos x="336" y="149"/>
                </a:cxn>
                <a:cxn ang="0">
                  <a:pos x="397" y="149"/>
                </a:cxn>
                <a:cxn ang="0">
                  <a:pos x="458" y="141"/>
                </a:cxn>
                <a:cxn ang="0">
                  <a:pos x="511" y="146"/>
                </a:cxn>
                <a:cxn ang="0">
                  <a:pos x="565" y="152"/>
                </a:cxn>
                <a:cxn ang="0">
                  <a:pos x="618" y="166"/>
                </a:cxn>
                <a:cxn ang="0">
                  <a:pos x="669" y="186"/>
                </a:cxn>
                <a:cxn ang="0">
                  <a:pos x="715" y="205"/>
                </a:cxn>
                <a:cxn ang="0">
                  <a:pos x="760" y="239"/>
                </a:cxn>
                <a:cxn ang="0">
                  <a:pos x="811" y="267"/>
                </a:cxn>
                <a:cxn ang="0">
                  <a:pos x="855" y="307"/>
                </a:cxn>
                <a:cxn ang="0">
                  <a:pos x="899" y="348"/>
                </a:cxn>
                <a:cxn ang="0">
                  <a:pos x="971" y="464"/>
                </a:cxn>
                <a:cxn ang="0">
                  <a:pos x="1016" y="606"/>
                </a:cxn>
                <a:cxn ang="0">
                  <a:pos x="1027" y="774"/>
                </a:cxn>
                <a:cxn ang="0">
                  <a:pos x="1022" y="939"/>
                </a:cxn>
                <a:cxn ang="0">
                  <a:pos x="1002" y="1117"/>
                </a:cxn>
                <a:cxn ang="0">
                  <a:pos x="966" y="1279"/>
                </a:cxn>
                <a:cxn ang="0">
                  <a:pos x="933" y="1421"/>
                </a:cxn>
                <a:cxn ang="0">
                  <a:pos x="891" y="1532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Freeform 13">
              <a:extLst>
                <a:ext uri="{FF2B5EF4-FFF2-40B4-BE49-F238E27FC236}">
                  <a16:creationId xmlns:a16="http://schemas.microsoft.com/office/drawing/2014/main" id="{6669A938-37B7-7568-4D7A-94E7F1CE7FF0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0" y="2610"/>
              <a:ext cx="801" cy="4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" y="69"/>
                </a:cxn>
                <a:cxn ang="0">
                  <a:pos x="68" y="132"/>
                </a:cxn>
                <a:cxn ang="0">
                  <a:pos x="110" y="188"/>
                </a:cxn>
                <a:cxn ang="0">
                  <a:pos x="149" y="229"/>
                </a:cxn>
                <a:cxn ang="0">
                  <a:pos x="192" y="278"/>
                </a:cxn>
                <a:cxn ang="0">
                  <a:pos x="250" y="314"/>
                </a:cxn>
                <a:cxn ang="0">
                  <a:pos x="308" y="336"/>
                </a:cxn>
                <a:cxn ang="0">
                  <a:pos x="365" y="365"/>
                </a:cxn>
                <a:cxn ang="0">
                  <a:pos x="430" y="381"/>
                </a:cxn>
                <a:cxn ang="0">
                  <a:pos x="501" y="390"/>
                </a:cxn>
                <a:cxn ang="0">
                  <a:pos x="573" y="392"/>
                </a:cxn>
                <a:cxn ang="0">
                  <a:pos x="646" y="381"/>
                </a:cxn>
                <a:cxn ang="0">
                  <a:pos x="726" y="362"/>
                </a:cxn>
                <a:cxn ang="0">
                  <a:pos x="801" y="335"/>
                </a:cxn>
                <a:cxn ang="0">
                  <a:pos x="731" y="377"/>
                </a:cxn>
                <a:cxn ang="0">
                  <a:pos x="662" y="404"/>
                </a:cxn>
                <a:cxn ang="0">
                  <a:pos x="594" y="432"/>
                </a:cxn>
                <a:cxn ang="0">
                  <a:pos x="532" y="445"/>
                </a:cxn>
                <a:cxn ang="0">
                  <a:pos x="471" y="459"/>
                </a:cxn>
                <a:cxn ang="0">
                  <a:pos x="411" y="458"/>
                </a:cxn>
                <a:cxn ang="0">
                  <a:pos x="350" y="458"/>
                </a:cxn>
                <a:cxn ang="0">
                  <a:pos x="291" y="450"/>
                </a:cxn>
                <a:cxn ang="0">
                  <a:pos x="244" y="436"/>
                </a:cxn>
                <a:cxn ang="0">
                  <a:pos x="192" y="415"/>
                </a:cxn>
                <a:cxn ang="0">
                  <a:pos x="145" y="394"/>
                </a:cxn>
                <a:cxn ang="0">
                  <a:pos x="100" y="373"/>
                </a:cxn>
                <a:cxn ang="0">
                  <a:pos x="60" y="347"/>
                </a:cxn>
                <a:cxn ang="0">
                  <a:pos x="0" y="294"/>
                </a:cxn>
                <a:cxn ang="0">
                  <a:pos x="0" y="0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Freeform 14">
              <a:extLst>
                <a:ext uri="{FF2B5EF4-FFF2-40B4-BE49-F238E27FC236}">
                  <a16:creationId xmlns:a16="http://schemas.microsoft.com/office/drawing/2014/main" id="{C9708570-2E1A-85D8-E4BF-3D75E0CF983B}"/>
                </a:ext>
              </a:extLst>
            </p:cNvPr>
            <p:cNvSpPr>
              <a:spLocks/>
            </p:cNvSpPr>
            <p:nvPr userDrawn="1"/>
          </p:nvSpPr>
          <p:spPr bwMode="ltGray">
            <a:xfrm rot="373331" flipH="1">
              <a:off x="898" y="2855"/>
              <a:ext cx="354" cy="464"/>
            </a:xfrm>
            <a:custGeom>
              <a:avLst/>
              <a:gdLst/>
              <a:ahLst/>
              <a:cxnLst>
                <a:cxn ang="0">
                  <a:pos x="75" y="0"/>
                </a:cxn>
                <a:cxn ang="0">
                  <a:pos x="0" y="25"/>
                </a:cxn>
                <a:cxn ang="0">
                  <a:pos x="3" y="26"/>
                </a:cxn>
                <a:cxn ang="0">
                  <a:pos x="14" y="29"/>
                </a:cxn>
                <a:cxn ang="0">
                  <a:pos x="29" y="36"/>
                </a:cxn>
                <a:cxn ang="0">
                  <a:pos x="46" y="47"/>
                </a:cxn>
                <a:cxn ang="0">
                  <a:pos x="66" y="62"/>
                </a:cxn>
                <a:cxn ang="0">
                  <a:pos x="84" y="80"/>
                </a:cxn>
                <a:cxn ang="0">
                  <a:pos x="102" y="103"/>
                </a:cxn>
                <a:cxn ang="0">
                  <a:pos x="116" y="132"/>
                </a:cxn>
                <a:cxn ang="0">
                  <a:pos x="117" y="120"/>
                </a:cxn>
                <a:cxn ang="0">
                  <a:pos x="115" y="107"/>
                </a:cxn>
                <a:cxn ang="0">
                  <a:pos x="108" y="90"/>
                </a:cxn>
                <a:cxn ang="0">
                  <a:pos x="99" y="74"/>
                </a:cxn>
                <a:cxn ang="0">
                  <a:pos x="89" y="58"/>
                </a:cxn>
                <a:cxn ang="0">
                  <a:pos x="78" y="45"/>
                </a:cxn>
                <a:cxn ang="0">
                  <a:pos x="67" y="36"/>
                </a:cxn>
                <a:cxn ang="0">
                  <a:pos x="58" y="32"/>
                </a:cxn>
                <a:cxn ang="0">
                  <a:pos x="69" y="29"/>
                </a:cxn>
                <a:cxn ang="0">
                  <a:pos x="79" y="28"/>
                </a:cxn>
                <a:cxn ang="0">
                  <a:pos x="89" y="26"/>
                </a:cxn>
                <a:cxn ang="0">
                  <a:pos x="98" y="25"/>
                </a:cxn>
                <a:cxn ang="0">
                  <a:pos x="105" y="24"/>
                </a:cxn>
                <a:cxn ang="0">
                  <a:pos x="109" y="22"/>
                </a:cxn>
                <a:cxn ang="0">
                  <a:pos x="113" y="21"/>
                </a:cxn>
                <a:cxn ang="0">
                  <a:pos x="114" y="21"/>
                </a:cxn>
                <a:cxn ang="0">
                  <a:pos x="75" y="0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Freeform 15">
              <a:extLst>
                <a:ext uri="{FF2B5EF4-FFF2-40B4-BE49-F238E27FC236}">
                  <a16:creationId xmlns:a16="http://schemas.microsoft.com/office/drawing/2014/main" id="{B27107C4-615A-D30F-92A7-B9E339D961DB}"/>
                </a:ext>
              </a:extLst>
            </p:cNvPr>
            <p:cNvSpPr>
              <a:spLocks/>
            </p:cNvSpPr>
            <p:nvPr userDrawn="1"/>
          </p:nvSpPr>
          <p:spPr bwMode="ltGray">
            <a:xfrm rot="373331" flipH="1">
              <a:off x="799" y="2979"/>
              <a:ext cx="87" cy="274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3" y="0"/>
                </a:cxn>
                <a:cxn ang="0">
                  <a:pos x="16" y="4"/>
                </a:cxn>
                <a:cxn ang="0">
                  <a:pos x="9" y="9"/>
                </a:cxn>
                <a:cxn ang="0">
                  <a:pos x="4" y="19"/>
                </a:cxn>
                <a:cxn ang="0">
                  <a:pos x="1" y="30"/>
                </a:cxn>
                <a:cxn ang="0">
                  <a:pos x="0" y="44"/>
                </a:cxn>
                <a:cxn ang="0">
                  <a:pos x="3" y="60"/>
                </a:cxn>
                <a:cxn ang="0">
                  <a:pos x="11" y="77"/>
                </a:cxn>
                <a:cxn ang="0">
                  <a:pos x="15" y="53"/>
                </a:cxn>
                <a:cxn ang="0">
                  <a:pos x="19" y="37"/>
                </a:cxn>
                <a:cxn ang="0">
                  <a:pos x="23" y="22"/>
                </a:cxn>
                <a:cxn ang="0">
                  <a:pos x="29" y="0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Freeform 16">
              <a:extLst>
                <a:ext uri="{FF2B5EF4-FFF2-40B4-BE49-F238E27FC236}">
                  <a16:creationId xmlns:a16="http://schemas.microsoft.com/office/drawing/2014/main" id="{21DC9445-0C84-BCFB-CC30-6A900D4988A0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190" y="3273"/>
              <a:ext cx="1108" cy="1047"/>
            </a:xfrm>
            <a:custGeom>
              <a:avLst/>
              <a:gdLst/>
              <a:ahLst/>
              <a:cxnLst>
                <a:cxn ang="0">
                  <a:pos x="784" y="1047"/>
                </a:cxn>
                <a:cxn ang="0">
                  <a:pos x="692" y="1011"/>
                </a:cxn>
                <a:cxn ang="0">
                  <a:pos x="607" y="945"/>
                </a:cxn>
                <a:cxn ang="0">
                  <a:pos x="517" y="861"/>
                </a:cxn>
                <a:cxn ang="0">
                  <a:pos x="432" y="776"/>
                </a:cxn>
                <a:cxn ang="0">
                  <a:pos x="350" y="677"/>
                </a:cxn>
                <a:cxn ang="0">
                  <a:pos x="266" y="563"/>
                </a:cxn>
                <a:cxn ang="0">
                  <a:pos x="188" y="447"/>
                </a:cxn>
                <a:cxn ang="0">
                  <a:pos x="122" y="325"/>
                </a:cxn>
                <a:cxn ang="0">
                  <a:pos x="65" y="211"/>
                </a:cxn>
                <a:cxn ang="0">
                  <a:pos x="21" y="101"/>
                </a:cxn>
                <a:cxn ang="0">
                  <a:pos x="0" y="0"/>
                </a:cxn>
                <a:cxn ang="0">
                  <a:pos x="109" y="217"/>
                </a:cxn>
                <a:cxn ang="0">
                  <a:pos x="209" y="378"/>
                </a:cxn>
                <a:cxn ang="0">
                  <a:pos x="294" y="500"/>
                </a:cxn>
                <a:cxn ang="0">
                  <a:pos x="373" y="590"/>
                </a:cxn>
                <a:cxn ang="0">
                  <a:pos x="441" y="661"/>
                </a:cxn>
                <a:cxn ang="0">
                  <a:pos x="506" y="713"/>
                </a:cxn>
                <a:cxn ang="0">
                  <a:pos x="564" y="754"/>
                </a:cxn>
                <a:cxn ang="0">
                  <a:pos x="620" y="801"/>
                </a:cxn>
                <a:cxn ang="0">
                  <a:pos x="754" y="899"/>
                </a:cxn>
                <a:cxn ang="0">
                  <a:pos x="925" y="977"/>
                </a:cxn>
                <a:cxn ang="0">
                  <a:pos x="1108" y="1047"/>
                </a:cxn>
                <a:cxn ang="0">
                  <a:pos x="784" y="10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10" name="Group 17">
              <a:extLst>
                <a:ext uri="{FF2B5EF4-FFF2-40B4-BE49-F238E27FC236}">
                  <a16:creationId xmlns:a16="http://schemas.microsoft.com/office/drawing/2014/main" id="{5D5E277C-9E66-357F-B81A-CBB4C367F38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3220060">
              <a:off x="2636" y="751"/>
              <a:ext cx="569" cy="636"/>
              <a:chOff x="1727" y="866"/>
              <a:chExt cx="129" cy="157"/>
            </a:xfrm>
          </p:grpSpPr>
          <p:sp>
            <p:nvSpPr>
              <p:cNvPr id="34" name="Freeform 18">
                <a:extLst>
                  <a:ext uri="{FF2B5EF4-FFF2-40B4-BE49-F238E27FC236}">
                    <a16:creationId xmlns:a16="http://schemas.microsoft.com/office/drawing/2014/main" id="{4BFBDA78-7D7D-54BA-7395-C059CD0CC16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/>
                <a:ahLst/>
                <a:cxnLst>
                  <a:cxn ang="0">
                    <a:pos x="83" y="28"/>
                  </a:cxn>
                  <a:cxn ang="0">
                    <a:pos x="27" y="0"/>
                  </a:cxn>
                  <a:cxn ang="0">
                    <a:pos x="0" y="117"/>
                  </a:cxn>
                  <a:cxn ang="0">
                    <a:pos x="83" y="28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5" name="Freeform 19">
                <a:extLst>
                  <a:ext uri="{FF2B5EF4-FFF2-40B4-BE49-F238E27FC236}">
                    <a16:creationId xmlns:a16="http://schemas.microsoft.com/office/drawing/2014/main" id="{A1722041-8A6F-CD2B-25E0-B036F0FDAF3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/>
                <a:ahLst/>
                <a:cxnLst>
                  <a:cxn ang="0">
                    <a:pos x="0" y="98"/>
                  </a:cxn>
                  <a:cxn ang="0">
                    <a:pos x="118" y="0"/>
                  </a:cxn>
                  <a:cxn ang="0">
                    <a:pos x="140" y="49"/>
                  </a:cxn>
                  <a:cxn ang="0">
                    <a:pos x="0" y="98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6" name="Freeform 20">
                <a:extLst>
                  <a:ext uri="{FF2B5EF4-FFF2-40B4-BE49-F238E27FC236}">
                    <a16:creationId xmlns:a16="http://schemas.microsoft.com/office/drawing/2014/main" id="{C1859263-81B4-98FD-DABD-D8099D7AE80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145" y="0"/>
                  </a:cxn>
                  <a:cxn ang="0">
                    <a:pos x="131" y="49"/>
                  </a:cxn>
                  <a:cxn ang="0">
                    <a:pos x="0" y="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1" name="Group 21">
              <a:extLst>
                <a:ext uri="{FF2B5EF4-FFF2-40B4-BE49-F238E27FC236}">
                  <a16:creationId xmlns:a16="http://schemas.microsoft.com/office/drawing/2014/main" id="{9228BB8D-A116-5126-E581-F3F989AF66D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-6691250">
              <a:off x="3641" y="125"/>
              <a:ext cx="356" cy="608"/>
              <a:chOff x="1729" y="866"/>
              <a:chExt cx="129" cy="157"/>
            </a:xfrm>
          </p:grpSpPr>
          <p:sp>
            <p:nvSpPr>
              <p:cNvPr id="31" name="Freeform 22">
                <a:extLst>
                  <a:ext uri="{FF2B5EF4-FFF2-40B4-BE49-F238E27FC236}">
                    <a16:creationId xmlns:a16="http://schemas.microsoft.com/office/drawing/2014/main" id="{B72A02AD-DDBC-1D58-C98F-9DC0D1B6BBF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30" y="866"/>
                <a:ext cx="41" cy="59"/>
              </a:xfrm>
              <a:custGeom>
                <a:avLst/>
                <a:gdLst/>
                <a:ahLst/>
                <a:cxnLst>
                  <a:cxn ang="0">
                    <a:pos x="83" y="28"/>
                  </a:cxn>
                  <a:cxn ang="0">
                    <a:pos x="27" y="0"/>
                  </a:cxn>
                  <a:cxn ang="0">
                    <a:pos x="0" y="117"/>
                  </a:cxn>
                  <a:cxn ang="0">
                    <a:pos x="83" y="28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2" name="Freeform 23">
                <a:extLst>
                  <a:ext uri="{FF2B5EF4-FFF2-40B4-BE49-F238E27FC236}">
                    <a16:creationId xmlns:a16="http://schemas.microsoft.com/office/drawing/2014/main" id="{156FF51E-C75D-5258-A6ED-1E96C1F5892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9" y="894"/>
                <a:ext cx="70" cy="49"/>
              </a:xfrm>
              <a:custGeom>
                <a:avLst/>
                <a:gdLst/>
                <a:ahLst/>
                <a:cxnLst>
                  <a:cxn ang="0">
                    <a:pos x="0" y="98"/>
                  </a:cxn>
                  <a:cxn ang="0">
                    <a:pos x="118" y="0"/>
                  </a:cxn>
                  <a:cxn ang="0">
                    <a:pos x="140" y="49"/>
                  </a:cxn>
                  <a:cxn ang="0">
                    <a:pos x="0" y="98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3" name="Freeform 24">
                <a:extLst>
                  <a:ext uri="{FF2B5EF4-FFF2-40B4-BE49-F238E27FC236}">
                    <a16:creationId xmlns:a16="http://schemas.microsoft.com/office/drawing/2014/main" id="{465A5EA8-BAAC-2A0B-6FAA-0315CE908AC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3" y="998"/>
                <a:ext cx="73" cy="2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145" y="0"/>
                  </a:cxn>
                  <a:cxn ang="0">
                    <a:pos x="131" y="49"/>
                  </a:cxn>
                  <a:cxn ang="0">
                    <a:pos x="0" y="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2" name="Group 25">
              <a:extLst>
                <a:ext uri="{FF2B5EF4-FFF2-40B4-BE49-F238E27FC236}">
                  <a16:creationId xmlns:a16="http://schemas.microsoft.com/office/drawing/2014/main" id="{1F91C72F-AF23-EEF9-3C50-5FAE35429DF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8524840">
              <a:off x="677" y="3307"/>
              <a:ext cx="500" cy="500"/>
              <a:chOff x="1727" y="868"/>
              <a:chExt cx="129" cy="156"/>
            </a:xfrm>
          </p:grpSpPr>
          <p:sp>
            <p:nvSpPr>
              <p:cNvPr id="28" name="Freeform 26">
                <a:extLst>
                  <a:ext uri="{FF2B5EF4-FFF2-40B4-BE49-F238E27FC236}">
                    <a16:creationId xmlns:a16="http://schemas.microsoft.com/office/drawing/2014/main" id="{D35617D9-0DFF-A748-7BFB-9C3464CA9E2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9"/>
                <a:ext cx="41" cy="59"/>
              </a:xfrm>
              <a:custGeom>
                <a:avLst/>
                <a:gdLst/>
                <a:ahLst/>
                <a:cxnLst>
                  <a:cxn ang="0">
                    <a:pos x="83" y="28"/>
                  </a:cxn>
                  <a:cxn ang="0">
                    <a:pos x="27" y="0"/>
                  </a:cxn>
                  <a:cxn ang="0">
                    <a:pos x="0" y="117"/>
                  </a:cxn>
                  <a:cxn ang="0">
                    <a:pos x="83" y="28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9" name="Freeform 27">
                <a:extLst>
                  <a:ext uri="{FF2B5EF4-FFF2-40B4-BE49-F238E27FC236}">
                    <a16:creationId xmlns:a16="http://schemas.microsoft.com/office/drawing/2014/main" id="{028AC88C-1E0A-7520-2B7F-6C456BEBA97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7"/>
                <a:ext cx="70" cy="49"/>
              </a:xfrm>
              <a:custGeom>
                <a:avLst/>
                <a:gdLst/>
                <a:ahLst/>
                <a:cxnLst>
                  <a:cxn ang="0">
                    <a:pos x="0" y="98"/>
                  </a:cxn>
                  <a:cxn ang="0">
                    <a:pos x="118" y="0"/>
                  </a:cxn>
                  <a:cxn ang="0">
                    <a:pos x="140" y="49"/>
                  </a:cxn>
                  <a:cxn ang="0">
                    <a:pos x="0" y="98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0" name="Freeform 28">
                <a:extLst>
                  <a:ext uri="{FF2B5EF4-FFF2-40B4-BE49-F238E27FC236}">
                    <a16:creationId xmlns:a16="http://schemas.microsoft.com/office/drawing/2014/main" id="{4C1E9695-67E7-7CD2-72E3-7554419EFAF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1000"/>
                <a:ext cx="73" cy="2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145" y="0"/>
                  </a:cxn>
                  <a:cxn ang="0">
                    <a:pos x="131" y="49"/>
                  </a:cxn>
                  <a:cxn ang="0">
                    <a:pos x="0" y="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3" name="Group 29">
              <a:extLst>
                <a:ext uri="{FF2B5EF4-FFF2-40B4-BE49-F238E27FC236}">
                  <a16:creationId xmlns:a16="http://schemas.microsoft.com/office/drawing/2014/main" id="{03249B9F-7D15-EFCC-50FC-30FA7F00CB4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4106450" flipH="1">
              <a:off x="404" y="268"/>
              <a:ext cx="708" cy="891"/>
              <a:chOff x="1727" y="866"/>
              <a:chExt cx="129" cy="157"/>
            </a:xfrm>
          </p:grpSpPr>
          <p:sp>
            <p:nvSpPr>
              <p:cNvPr id="25" name="Freeform 30">
                <a:extLst>
                  <a:ext uri="{FF2B5EF4-FFF2-40B4-BE49-F238E27FC236}">
                    <a16:creationId xmlns:a16="http://schemas.microsoft.com/office/drawing/2014/main" id="{A6CA58EC-36B0-AE4C-5C81-EA443D646C5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/>
                <a:ahLst/>
                <a:cxnLst>
                  <a:cxn ang="0">
                    <a:pos x="83" y="28"/>
                  </a:cxn>
                  <a:cxn ang="0">
                    <a:pos x="27" y="0"/>
                  </a:cxn>
                  <a:cxn ang="0">
                    <a:pos x="0" y="117"/>
                  </a:cxn>
                  <a:cxn ang="0">
                    <a:pos x="83" y="28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6" name="Freeform 31">
                <a:extLst>
                  <a:ext uri="{FF2B5EF4-FFF2-40B4-BE49-F238E27FC236}">
                    <a16:creationId xmlns:a16="http://schemas.microsoft.com/office/drawing/2014/main" id="{C210E525-DAE2-6F76-3AB8-BA7A335AACE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/>
                <a:ahLst/>
                <a:cxnLst>
                  <a:cxn ang="0">
                    <a:pos x="0" y="98"/>
                  </a:cxn>
                  <a:cxn ang="0">
                    <a:pos x="118" y="0"/>
                  </a:cxn>
                  <a:cxn ang="0">
                    <a:pos x="140" y="49"/>
                  </a:cxn>
                  <a:cxn ang="0">
                    <a:pos x="0" y="98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7" name="Freeform 32">
                <a:extLst>
                  <a:ext uri="{FF2B5EF4-FFF2-40B4-BE49-F238E27FC236}">
                    <a16:creationId xmlns:a16="http://schemas.microsoft.com/office/drawing/2014/main" id="{9FE3BC62-FC6D-67BC-FAA1-1D9B209F85B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145" y="0"/>
                  </a:cxn>
                  <a:cxn ang="0">
                    <a:pos x="131" y="49"/>
                  </a:cxn>
                  <a:cxn ang="0">
                    <a:pos x="0" y="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4" name="Group 33">
              <a:extLst>
                <a:ext uri="{FF2B5EF4-FFF2-40B4-BE49-F238E27FC236}">
                  <a16:creationId xmlns:a16="http://schemas.microsoft.com/office/drawing/2014/main" id="{C03056FE-9559-DC3C-884A-4B78CE9BAF4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10015322" flipH="1">
              <a:off x="4618" y="2392"/>
              <a:ext cx="708" cy="891"/>
              <a:chOff x="1727" y="866"/>
              <a:chExt cx="129" cy="157"/>
            </a:xfrm>
          </p:grpSpPr>
          <p:sp>
            <p:nvSpPr>
              <p:cNvPr id="22" name="Freeform 34">
                <a:extLst>
                  <a:ext uri="{FF2B5EF4-FFF2-40B4-BE49-F238E27FC236}">
                    <a16:creationId xmlns:a16="http://schemas.microsoft.com/office/drawing/2014/main" id="{C48BB2E7-5E8A-9FCD-1C8D-A46C26052CC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/>
                <a:ahLst/>
                <a:cxnLst>
                  <a:cxn ang="0">
                    <a:pos x="83" y="28"/>
                  </a:cxn>
                  <a:cxn ang="0">
                    <a:pos x="27" y="0"/>
                  </a:cxn>
                  <a:cxn ang="0">
                    <a:pos x="0" y="117"/>
                  </a:cxn>
                  <a:cxn ang="0">
                    <a:pos x="83" y="28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3" name="Freeform 35">
                <a:extLst>
                  <a:ext uri="{FF2B5EF4-FFF2-40B4-BE49-F238E27FC236}">
                    <a16:creationId xmlns:a16="http://schemas.microsoft.com/office/drawing/2014/main" id="{3034CA7B-B898-362B-9B59-90ACB0B49EF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/>
                <a:ahLst/>
                <a:cxnLst>
                  <a:cxn ang="0">
                    <a:pos x="0" y="98"/>
                  </a:cxn>
                  <a:cxn ang="0">
                    <a:pos x="118" y="0"/>
                  </a:cxn>
                  <a:cxn ang="0">
                    <a:pos x="140" y="49"/>
                  </a:cxn>
                  <a:cxn ang="0">
                    <a:pos x="0" y="98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4" name="Freeform 36">
                <a:extLst>
                  <a:ext uri="{FF2B5EF4-FFF2-40B4-BE49-F238E27FC236}">
                    <a16:creationId xmlns:a16="http://schemas.microsoft.com/office/drawing/2014/main" id="{2F82821B-3A09-E305-73BD-B66C876E023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145" y="0"/>
                  </a:cxn>
                  <a:cxn ang="0">
                    <a:pos x="131" y="49"/>
                  </a:cxn>
                  <a:cxn ang="0">
                    <a:pos x="0" y="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15" name="Freeform 37">
              <a:extLst>
                <a:ext uri="{FF2B5EF4-FFF2-40B4-BE49-F238E27FC236}">
                  <a16:creationId xmlns:a16="http://schemas.microsoft.com/office/drawing/2014/main" id="{614E0CA2-FCC8-A3E5-2ED6-FD1C9342988A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217" y="2"/>
              <a:ext cx="862" cy="8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07"/>
                </a:cxn>
                <a:cxn ang="0">
                  <a:pos x="37" y="262"/>
                </a:cxn>
                <a:cxn ang="0">
                  <a:pos x="83" y="410"/>
                </a:cxn>
                <a:cxn ang="0">
                  <a:pos x="149" y="546"/>
                </a:cxn>
                <a:cxn ang="0">
                  <a:pos x="237" y="666"/>
                </a:cxn>
                <a:cxn ang="0">
                  <a:pos x="338" y="764"/>
                </a:cxn>
                <a:cxn ang="0">
                  <a:pos x="450" y="838"/>
                </a:cxn>
                <a:cxn ang="0">
                  <a:pos x="579" y="879"/>
                </a:cxn>
                <a:cxn ang="0">
                  <a:pos x="714" y="886"/>
                </a:cxn>
                <a:cxn ang="0">
                  <a:pos x="862" y="851"/>
                </a:cxn>
                <a:cxn ang="0">
                  <a:pos x="784" y="856"/>
                </a:cxn>
                <a:cxn ang="0">
                  <a:pos x="700" y="835"/>
                </a:cxn>
                <a:cxn ang="0">
                  <a:pos x="621" y="794"/>
                </a:cxn>
                <a:cxn ang="0">
                  <a:pos x="542" y="728"/>
                </a:cxn>
                <a:cxn ang="0">
                  <a:pos x="466" y="649"/>
                </a:cxn>
                <a:cxn ang="0">
                  <a:pos x="397" y="557"/>
                </a:cxn>
                <a:cxn ang="0">
                  <a:pos x="334" y="454"/>
                </a:cxn>
                <a:cxn ang="0">
                  <a:pos x="279" y="339"/>
                </a:cxn>
                <a:cxn ang="0">
                  <a:pos x="238" y="225"/>
                </a:cxn>
                <a:cxn ang="0">
                  <a:pos x="205" y="105"/>
                </a:cxn>
                <a:cxn ang="0">
                  <a:pos x="184" y="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Freeform 38">
              <a:extLst>
                <a:ext uri="{FF2B5EF4-FFF2-40B4-BE49-F238E27FC236}">
                  <a16:creationId xmlns:a16="http://schemas.microsoft.com/office/drawing/2014/main" id="{71ECF468-E16A-FF3A-34F1-DC6A15622557}"/>
                </a:ext>
              </a:extLst>
            </p:cNvPr>
            <p:cNvSpPr>
              <a:spLocks/>
            </p:cNvSpPr>
            <p:nvPr userDrawn="1"/>
          </p:nvSpPr>
          <p:spPr bwMode="ltGray">
            <a:xfrm rot="9832527" flipV="1">
              <a:off x="2158" y="102"/>
              <a:ext cx="681" cy="59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"/>
                </a:cxn>
                <a:cxn ang="0">
                  <a:pos x="3" y="50"/>
                </a:cxn>
                <a:cxn ang="0">
                  <a:pos x="6" y="75"/>
                </a:cxn>
                <a:cxn ang="0">
                  <a:pos x="11" y="98"/>
                </a:cxn>
                <a:cxn ang="0">
                  <a:pos x="18" y="119"/>
                </a:cxn>
                <a:cxn ang="0">
                  <a:pos x="27" y="141"/>
                </a:cxn>
                <a:cxn ang="0">
                  <a:pos x="38" y="161"/>
                </a:cxn>
                <a:cxn ang="0">
                  <a:pos x="51" y="178"/>
                </a:cxn>
                <a:cxn ang="0">
                  <a:pos x="67" y="194"/>
                </a:cxn>
                <a:cxn ang="0">
                  <a:pos x="86" y="208"/>
                </a:cxn>
                <a:cxn ang="0">
                  <a:pos x="106" y="219"/>
                </a:cxn>
                <a:cxn ang="0">
                  <a:pos x="131" y="228"/>
                </a:cxn>
                <a:cxn ang="0">
                  <a:pos x="158" y="234"/>
                </a:cxn>
                <a:cxn ang="0">
                  <a:pos x="188" y="237"/>
                </a:cxn>
                <a:cxn ang="0">
                  <a:pos x="220" y="236"/>
                </a:cxn>
                <a:cxn ang="0">
                  <a:pos x="257" y="232"/>
                </a:cxn>
                <a:cxn ang="0">
                  <a:pos x="224" y="227"/>
                </a:cxn>
                <a:cxn ang="0">
                  <a:pos x="195" y="220"/>
                </a:cxn>
                <a:cxn ang="0">
                  <a:pos x="170" y="212"/>
                </a:cxn>
                <a:cxn ang="0">
                  <a:pos x="148" y="204"/>
                </a:cxn>
                <a:cxn ang="0">
                  <a:pos x="128" y="193"/>
                </a:cxn>
                <a:cxn ang="0">
                  <a:pos x="112" y="182"/>
                </a:cxn>
                <a:cxn ang="0">
                  <a:pos x="97" y="169"/>
                </a:cxn>
                <a:cxn ang="0">
                  <a:pos x="84" y="155"/>
                </a:cxn>
                <a:cxn ang="0">
                  <a:pos x="72" y="141"/>
                </a:cxn>
                <a:cxn ang="0">
                  <a:pos x="61" y="125"/>
                </a:cxn>
                <a:cxn ang="0">
                  <a:pos x="52" y="107"/>
                </a:cxn>
                <a:cxn ang="0">
                  <a:pos x="43" y="88"/>
                </a:cxn>
                <a:cxn ang="0">
                  <a:pos x="33" y="69"/>
                </a:cxn>
                <a:cxn ang="0">
                  <a:pos x="23" y="47"/>
                </a:cxn>
                <a:cxn ang="0">
                  <a:pos x="12" y="24"/>
                </a:cxn>
                <a:cxn ang="0">
                  <a:pos x="0" y="0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Freeform 39">
              <a:extLst>
                <a:ext uri="{FF2B5EF4-FFF2-40B4-BE49-F238E27FC236}">
                  <a16:creationId xmlns:a16="http://schemas.microsoft.com/office/drawing/2014/main" id="{DA1B3E19-671D-2CE4-984E-053EEE82A816}"/>
                </a:ext>
              </a:extLst>
            </p:cNvPr>
            <p:cNvSpPr>
              <a:spLocks/>
            </p:cNvSpPr>
            <p:nvPr userDrawn="1"/>
          </p:nvSpPr>
          <p:spPr bwMode="ltGray">
            <a:xfrm rot="9832527" flipV="1">
              <a:off x="1997" y="858"/>
              <a:ext cx="330" cy="278"/>
            </a:xfrm>
            <a:custGeom>
              <a:avLst/>
              <a:gdLst/>
              <a:ahLst/>
              <a:cxnLst>
                <a:cxn ang="0">
                  <a:pos x="77" y="0"/>
                </a:cxn>
                <a:cxn ang="0">
                  <a:pos x="124" y="108"/>
                </a:cxn>
                <a:cxn ang="0">
                  <a:pos x="120" y="107"/>
                </a:cxn>
                <a:cxn ang="0">
                  <a:pos x="107" y="105"/>
                </a:cxn>
                <a:cxn ang="0">
                  <a:pos x="89" y="101"/>
                </a:cxn>
                <a:cxn ang="0">
                  <a:pos x="68" y="99"/>
                </a:cxn>
                <a:cxn ang="0">
                  <a:pos x="45" y="97"/>
                </a:cxn>
                <a:cxn ang="0">
                  <a:pos x="25" y="98"/>
                </a:cxn>
                <a:cxn ang="0">
                  <a:pos x="9" y="102"/>
                </a:cxn>
                <a:cxn ang="0">
                  <a:pos x="0" y="110"/>
                </a:cxn>
                <a:cxn ang="0">
                  <a:pos x="4" y="98"/>
                </a:cxn>
                <a:cxn ang="0">
                  <a:pos x="8" y="89"/>
                </a:cxn>
                <a:cxn ang="0">
                  <a:pos x="16" y="82"/>
                </a:cxn>
                <a:cxn ang="0">
                  <a:pos x="25" y="76"/>
                </a:cxn>
                <a:cxn ang="0">
                  <a:pos x="36" y="72"/>
                </a:cxn>
                <a:cxn ang="0">
                  <a:pos x="47" y="71"/>
                </a:cxn>
                <a:cxn ang="0">
                  <a:pos x="59" y="71"/>
                </a:cxn>
                <a:cxn ang="0">
                  <a:pos x="72" y="74"/>
                </a:cxn>
                <a:cxn ang="0">
                  <a:pos x="73" y="71"/>
                </a:cxn>
                <a:cxn ang="0">
                  <a:pos x="70" y="56"/>
                </a:cxn>
                <a:cxn ang="0">
                  <a:pos x="67" y="38"/>
                </a:cxn>
                <a:cxn ang="0">
                  <a:pos x="65" y="30"/>
                </a:cxn>
                <a:cxn ang="0">
                  <a:pos x="63" y="30"/>
                </a:cxn>
                <a:cxn ang="0">
                  <a:pos x="61" y="29"/>
                </a:cxn>
                <a:cxn ang="0">
                  <a:pos x="59" y="26"/>
                </a:cxn>
                <a:cxn ang="0">
                  <a:pos x="57" y="23"/>
                </a:cxn>
                <a:cxn ang="0">
                  <a:pos x="57" y="19"/>
                </a:cxn>
                <a:cxn ang="0">
                  <a:pos x="59" y="14"/>
                </a:cxn>
                <a:cxn ang="0">
                  <a:pos x="66" y="8"/>
                </a:cxn>
                <a:cxn ang="0">
                  <a:pos x="77" y="0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Freeform 40">
              <a:extLst>
                <a:ext uri="{FF2B5EF4-FFF2-40B4-BE49-F238E27FC236}">
                  <a16:creationId xmlns:a16="http://schemas.microsoft.com/office/drawing/2014/main" id="{9AAF8394-8037-9ACE-4B6B-C4E7B9CF6FF6}"/>
                </a:ext>
              </a:extLst>
            </p:cNvPr>
            <p:cNvSpPr>
              <a:spLocks/>
            </p:cNvSpPr>
            <p:nvPr userDrawn="1"/>
          </p:nvSpPr>
          <p:spPr bwMode="ltGray">
            <a:xfrm rot="9832527" flipV="1">
              <a:off x="2224" y="808"/>
              <a:ext cx="123" cy="233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20" y="38"/>
                </a:cxn>
                <a:cxn ang="0">
                  <a:pos x="15" y="62"/>
                </a:cxn>
                <a:cxn ang="0">
                  <a:pos x="11" y="79"/>
                </a:cxn>
                <a:cxn ang="0">
                  <a:pos x="0" y="94"/>
                </a:cxn>
                <a:cxn ang="0">
                  <a:pos x="12" y="88"/>
                </a:cxn>
                <a:cxn ang="0">
                  <a:pos x="23" y="80"/>
                </a:cxn>
                <a:cxn ang="0">
                  <a:pos x="32" y="69"/>
                </a:cxn>
                <a:cxn ang="0">
                  <a:pos x="40" y="57"/>
                </a:cxn>
                <a:cxn ang="0">
                  <a:pos x="45" y="44"/>
                </a:cxn>
                <a:cxn ang="0">
                  <a:pos x="46" y="30"/>
                </a:cxn>
                <a:cxn ang="0">
                  <a:pos x="42" y="15"/>
                </a:cxn>
                <a:cxn ang="0">
                  <a:pos x="31" y="0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BADBD7D0-6FF7-4DDD-3F01-6EB0B4B8C672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603" y="0"/>
              <a:ext cx="124" cy="121"/>
            </a:xfrm>
            <a:custGeom>
              <a:avLst/>
              <a:gdLst/>
              <a:ahLst/>
              <a:cxnLst>
                <a:cxn ang="0">
                  <a:pos x="124" y="0"/>
                </a:cxn>
                <a:cxn ang="0">
                  <a:pos x="113" y="9"/>
                </a:cxn>
                <a:cxn ang="0">
                  <a:pos x="99" y="25"/>
                </a:cxn>
                <a:cxn ang="0">
                  <a:pos x="81" y="41"/>
                </a:cxn>
                <a:cxn ang="0">
                  <a:pos x="63" y="54"/>
                </a:cxn>
                <a:cxn ang="0">
                  <a:pos x="41" y="66"/>
                </a:cxn>
                <a:cxn ang="0">
                  <a:pos x="22" y="74"/>
                </a:cxn>
                <a:cxn ang="0">
                  <a:pos x="0" y="75"/>
                </a:cxn>
                <a:cxn ang="0">
                  <a:pos x="10" y="96"/>
                </a:cxn>
                <a:cxn ang="0">
                  <a:pos x="23" y="113"/>
                </a:cxn>
                <a:cxn ang="0">
                  <a:pos x="41" y="121"/>
                </a:cxn>
                <a:cxn ang="0">
                  <a:pos x="60" y="121"/>
                </a:cxn>
                <a:cxn ang="0">
                  <a:pos x="83" y="111"/>
                </a:cxn>
                <a:cxn ang="0">
                  <a:pos x="101" y="88"/>
                </a:cxn>
                <a:cxn ang="0">
                  <a:pos x="116" y="53"/>
                </a:cxn>
                <a:cxn ang="0">
                  <a:pos x="124" y="0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1BB9F3BD-A19B-85D8-E44A-5A1252F6E085}"/>
                </a:ext>
              </a:extLst>
            </p:cNvPr>
            <p:cNvSpPr>
              <a:spLocks/>
            </p:cNvSpPr>
            <p:nvPr userDrawn="1"/>
          </p:nvSpPr>
          <p:spPr bwMode="ltGray">
            <a:xfrm rot="9832527" flipV="1">
              <a:off x="2173" y="1238"/>
              <a:ext cx="393" cy="23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6"/>
                </a:cxn>
                <a:cxn ang="0">
                  <a:pos x="16" y="14"/>
                </a:cxn>
                <a:cxn ang="0">
                  <a:pos x="28" y="24"/>
                </a:cxn>
                <a:cxn ang="0">
                  <a:pos x="41" y="37"/>
                </a:cxn>
                <a:cxn ang="0">
                  <a:pos x="58" y="53"/>
                </a:cxn>
                <a:cxn ang="0">
                  <a:pos x="73" y="70"/>
                </a:cxn>
                <a:cxn ang="0">
                  <a:pos x="88" y="90"/>
                </a:cxn>
                <a:cxn ang="0">
                  <a:pos x="100" y="113"/>
                </a:cxn>
                <a:cxn ang="0">
                  <a:pos x="112" y="137"/>
                </a:cxn>
                <a:cxn ang="0">
                  <a:pos x="120" y="165"/>
                </a:cxn>
                <a:cxn ang="0">
                  <a:pos x="124" y="196"/>
                </a:cxn>
                <a:cxn ang="0">
                  <a:pos x="126" y="228"/>
                </a:cxn>
                <a:cxn ang="0">
                  <a:pos x="120" y="264"/>
                </a:cxn>
                <a:cxn ang="0">
                  <a:pos x="109" y="302"/>
                </a:cxn>
                <a:cxn ang="0">
                  <a:pos x="92" y="342"/>
                </a:cxn>
                <a:cxn ang="0">
                  <a:pos x="67" y="386"/>
                </a:cxn>
                <a:cxn ang="0">
                  <a:pos x="39" y="436"/>
                </a:cxn>
                <a:cxn ang="0">
                  <a:pos x="21" y="482"/>
                </a:cxn>
                <a:cxn ang="0">
                  <a:pos x="10" y="525"/>
                </a:cxn>
                <a:cxn ang="0">
                  <a:pos x="6" y="566"/>
                </a:cxn>
                <a:cxn ang="0">
                  <a:pos x="6" y="605"/>
                </a:cxn>
                <a:cxn ang="0">
                  <a:pos x="8" y="641"/>
                </a:cxn>
                <a:cxn ang="0">
                  <a:pos x="12" y="673"/>
                </a:cxn>
                <a:cxn ang="0">
                  <a:pos x="14" y="704"/>
                </a:cxn>
                <a:cxn ang="0">
                  <a:pos x="41" y="688"/>
                </a:cxn>
                <a:cxn ang="0">
                  <a:pos x="39" y="680"/>
                </a:cxn>
                <a:cxn ang="0">
                  <a:pos x="36" y="657"/>
                </a:cxn>
                <a:cxn ang="0">
                  <a:pos x="33" y="622"/>
                </a:cxn>
                <a:cxn ang="0">
                  <a:pos x="35" y="575"/>
                </a:cxn>
                <a:cxn ang="0">
                  <a:pos x="41" y="519"/>
                </a:cxn>
                <a:cxn ang="0">
                  <a:pos x="58" y="455"/>
                </a:cxn>
                <a:cxn ang="0">
                  <a:pos x="86" y="386"/>
                </a:cxn>
                <a:cxn ang="0">
                  <a:pos x="129" y="313"/>
                </a:cxn>
                <a:cxn ang="0">
                  <a:pos x="143" y="279"/>
                </a:cxn>
                <a:cxn ang="0">
                  <a:pos x="149" y="235"/>
                </a:cxn>
                <a:cxn ang="0">
                  <a:pos x="144" y="184"/>
                </a:cxn>
                <a:cxn ang="0">
                  <a:pos x="131" y="134"/>
                </a:cxn>
                <a:cxn ang="0">
                  <a:pos x="109" y="85"/>
                </a:cxn>
                <a:cxn ang="0">
                  <a:pos x="81" y="44"/>
                </a:cxn>
                <a:cxn ang="0">
                  <a:pos x="44" y="14"/>
                </a:cxn>
                <a:cxn ang="0">
                  <a:pos x="0" y="0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Freeform 43">
              <a:extLst>
                <a:ext uri="{FF2B5EF4-FFF2-40B4-BE49-F238E27FC236}">
                  <a16:creationId xmlns:a16="http://schemas.microsoft.com/office/drawing/2014/main" id="{BAEF8A5F-EDEC-E7C5-0DA0-6786C7381A0A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0" y="1848"/>
              <a:ext cx="36" cy="1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" y="12"/>
                </a:cxn>
                <a:cxn ang="0">
                  <a:pos x="0" y="132"/>
                </a:cxn>
                <a:cxn ang="0">
                  <a:pos x="0" y="0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78895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</p:spPr>
        <p:txBody>
          <a:bodyPr/>
          <a:lstStyle>
            <a:lvl1pPr>
              <a:defRPr sz="5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8896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4" name="Rectangle 44">
            <a:extLst>
              <a:ext uri="{FF2B5EF4-FFF2-40B4-BE49-F238E27FC236}">
                <a16:creationId xmlns:a16="http://schemas.microsoft.com/office/drawing/2014/main" id="{1F3B3936-EED3-2BEE-A07E-9A61175A89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B6C38-83DB-4B0E-B07A-DFA977200557}" type="datetimeFigureOut">
              <a:rPr lang="en-US"/>
              <a:pPr>
                <a:defRPr/>
              </a:pPr>
              <a:t>26/05/2025</a:t>
            </a:fld>
            <a:endParaRPr lang="en-US"/>
          </a:p>
        </p:txBody>
      </p:sp>
      <p:sp>
        <p:nvSpPr>
          <p:cNvPr id="45" name="Rectangle 45">
            <a:extLst>
              <a:ext uri="{FF2B5EF4-FFF2-40B4-BE49-F238E27FC236}">
                <a16:creationId xmlns:a16="http://schemas.microsoft.com/office/drawing/2014/main" id="{EB963AD8-87BA-88C1-E1FB-8E5132665B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8A21EA57-C046-9618-53D1-A8203C9416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B8F5C-0198-42BB-AE94-CA7DDA4E48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4469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EDE25E82-ECCD-5459-2DA1-24D0D2123E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81AA56-EFA1-4DA3-8ACC-2A2E56ACAD1B}" type="datetimeFigureOut">
              <a:rPr lang="en-US"/>
              <a:pPr>
                <a:defRPr/>
              </a:pPr>
              <a:t>26/05/2025</a:t>
            </a:fld>
            <a:endParaRPr lang="en-US"/>
          </a:p>
        </p:txBody>
      </p:sp>
      <p:sp>
        <p:nvSpPr>
          <p:cNvPr id="5" name="Rectangle 48">
            <a:extLst>
              <a:ext uri="{FF2B5EF4-FFF2-40B4-BE49-F238E27FC236}">
                <a16:creationId xmlns:a16="http://schemas.microsoft.com/office/drawing/2014/main" id="{873844F0-3C07-7F04-813A-D67D4DEAEA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9">
            <a:extLst>
              <a:ext uri="{FF2B5EF4-FFF2-40B4-BE49-F238E27FC236}">
                <a16:creationId xmlns:a16="http://schemas.microsoft.com/office/drawing/2014/main" id="{AE9B466E-99A6-C4AE-E256-E080B4377F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AA7BDA-DCB8-4998-9B9A-9FDF4ED11D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977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726CDB2D-C35E-41C5-5B03-3E70E70925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7A690-5F06-4EBD-928D-616D7BE5BF51}" type="datetimeFigureOut">
              <a:rPr lang="en-US"/>
              <a:pPr>
                <a:defRPr/>
              </a:pPr>
              <a:t>26/05/2025</a:t>
            </a:fld>
            <a:endParaRPr lang="en-US"/>
          </a:p>
        </p:txBody>
      </p:sp>
      <p:sp>
        <p:nvSpPr>
          <p:cNvPr id="5" name="Rectangle 48">
            <a:extLst>
              <a:ext uri="{FF2B5EF4-FFF2-40B4-BE49-F238E27FC236}">
                <a16:creationId xmlns:a16="http://schemas.microsoft.com/office/drawing/2014/main" id="{203A1AF7-29FB-7893-F7DA-5572BE9CED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9">
            <a:extLst>
              <a:ext uri="{FF2B5EF4-FFF2-40B4-BE49-F238E27FC236}">
                <a16:creationId xmlns:a16="http://schemas.microsoft.com/office/drawing/2014/main" id="{83E28CE8-EDD1-1D6B-292D-93D7D2A075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386180-6733-4F39-B454-119E17023E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9328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id="{046555C1-850F-8621-207E-9FD9A03360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1DBAE1-43C2-4F84-8DB6-DC15FBDC487D}" type="datetimeFigureOut">
              <a:rPr lang="en-US"/>
              <a:pPr>
                <a:defRPr/>
              </a:pPr>
              <a:t>26/05/2025</a:t>
            </a:fld>
            <a:endParaRPr lang="en-US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F6834F43-60F3-FEC2-ABD1-0E703C4BD9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9">
            <a:extLst>
              <a:ext uri="{FF2B5EF4-FFF2-40B4-BE49-F238E27FC236}">
                <a16:creationId xmlns:a16="http://schemas.microsoft.com/office/drawing/2014/main" id="{AF042448-B673-61E0-0DA7-345522752A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17C735-1853-4751-9507-53F22FDEEC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5470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7">
            <a:extLst>
              <a:ext uri="{FF2B5EF4-FFF2-40B4-BE49-F238E27FC236}">
                <a16:creationId xmlns:a16="http://schemas.microsoft.com/office/drawing/2014/main" id="{DA2CAA1D-4854-6DAC-644B-8A528513AB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71CF2-D0EB-4ACD-93DA-31456ECEA9CF}" type="datetimeFigureOut">
              <a:rPr lang="en-US"/>
              <a:pPr>
                <a:defRPr/>
              </a:pPr>
              <a:t>26/05/2025</a:t>
            </a:fld>
            <a:endParaRPr lang="en-US"/>
          </a:p>
        </p:txBody>
      </p:sp>
      <p:sp>
        <p:nvSpPr>
          <p:cNvPr id="8" name="Rectangle 48">
            <a:extLst>
              <a:ext uri="{FF2B5EF4-FFF2-40B4-BE49-F238E27FC236}">
                <a16:creationId xmlns:a16="http://schemas.microsoft.com/office/drawing/2014/main" id="{F45FA4B7-E62E-A1DC-C16E-5765609ABF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9F4F29E2-DDEB-8486-70A2-BF7402D07D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532B9A-DF99-4E7F-91D3-25DDD0FABA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0962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7">
            <a:extLst>
              <a:ext uri="{FF2B5EF4-FFF2-40B4-BE49-F238E27FC236}">
                <a16:creationId xmlns:a16="http://schemas.microsoft.com/office/drawing/2014/main" id="{2A843975-31E9-91DE-C474-AEC0507D3E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F15A7-4A38-45B7-8471-5043713AEAFF}" type="datetimeFigureOut">
              <a:rPr lang="en-US"/>
              <a:pPr>
                <a:defRPr/>
              </a:pPr>
              <a:t>26/05/2025</a:t>
            </a:fld>
            <a:endParaRPr lang="en-US"/>
          </a:p>
        </p:txBody>
      </p:sp>
      <p:sp>
        <p:nvSpPr>
          <p:cNvPr id="4" name="Rectangle 48">
            <a:extLst>
              <a:ext uri="{FF2B5EF4-FFF2-40B4-BE49-F238E27FC236}">
                <a16:creationId xmlns:a16="http://schemas.microsoft.com/office/drawing/2014/main" id="{B4AE13C8-BEF5-CFF5-693C-6D384AD058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9">
            <a:extLst>
              <a:ext uri="{FF2B5EF4-FFF2-40B4-BE49-F238E27FC236}">
                <a16:creationId xmlns:a16="http://schemas.microsoft.com/office/drawing/2014/main" id="{E043D0BC-E5B5-70A5-C271-ED436D1D26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AD18A1-1978-49CD-A794-1D9A9E931C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9193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7">
            <a:extLst>
              <a:ext uri="{FF2B5EF4-FFF2-40B4-BE49-F238E27FC236}">
                <a16:creationId xmlns:a16="http://schemas.microsoft.com/office/drawing/2014/main" id="{0D1E6BE1-CD1A-3360-E847-D12FC8EA78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6B0D7E-C6D3-4065-93C0-0CDE164F5C13}" type="datetimeFigureOut">
              <a:rPr lang="en-US"/>
              <a:pPr>
                <a:defRPr/>
              </a:pPr>
              <a:t>26/05/2025</a:t>
            </a:fld>
            <a:endParaRPr lang="en-US"/>
          </a:p>
        </p:txBody>
      </p:sp>
      <p:sp>
        <p:nvSpPr>
          <p:cNvPr id="3" name="Rectangle 48">
            <a:extLst>
              <a:ext uri="{FF2B5EF4-FFF2-40B4-BE49-F238E27FC236}">
                <a16:creationId xmlns:a16="http://schemas.microsoft.com/office/drawing/2014/main" id="{B521132F-0F94-976A-5EA4-1103A9F936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9">
            <a:extLst>
              <a:ext uri="{FF2B5EF4-FFF2-40B4-BE49-F238E27FC236}">
                <a16:creationId xmlns:a16="http://schemas.microsoft.com/office/drawing/2014/main" id="{D40DB3F6-0959-5C69-CA0E-30045310C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4D3146-AED2-4C46-BC3F-7A45F33E54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364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id="{92EA1E32-1414-9118-7D74-0458B2C9EC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5A7C1-ECA6-483C-A7C5-B55379DAC1B4}" type="datetimeFigureOut">
              <a:rPr lang="en-US"/>
              <a:pPr>
                <a:defRPr/>
              </a:pPr>
              <a:t>26/05/2025</a:t>
            </a:fld>
            <a:endParaRPr lang="en-US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4DE12CA4-CBDE-2475-358E-1DFE3EDB3F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9">
            <a:extLst>
              <a:ext uri="{FF2B5EF4-FFF2-40B4-BE49-F238E27FC236}">
                <a16:creationId xmlns:a16="http://schemas.microsoft.com/office/drawing/2014/main" id="{270E4B7E-A496-FBD2-542D-B762AE4FD8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6CD9A-EC2F-44C4-9104-E653A1F6FB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9511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id="{199F90DE-9D63-D134-1633-097E36D7A9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6F0402-3E8A-4C2B-9B36-9553D2929270}" type="datetimeFigureOut">
              <a:rPr lang="en-US"/>
              <a:pPr>
                <a:defRPr/>
              </a:pPr>
              <a:t>26/05/2025</a:t>
            </a:fld>
            <a:endParaRPr lang="en-US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2CF460BF-E249-66AA-FBC3-94F43329CF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9">
            <a:extLst>
              <a:ext uri="{FF2B5EF4-FFF2-40B4-BE49-F238E27FC236}">
                <a16:creationId xmlns:a16="http://schemas.microsoft.com/office/drawing/2014/main" id="{BFE61B9E-FC44-797D-A578-40997360BF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621606-DA6F-4F78-876F-9D9499EFD6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1645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9A8A645F-7FC9-42BD-BB79-BC83E55925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D00C1-7226-4B60-9F11-D5F962C5B58C}" type="datetimeFigureOut">
              <a:rPr lang="en-US"/>
              <a:pPr>
                <a:defRPr/>
              </a:pPr>
              <a:t>26/05/2025</a:t>
            </a:fld>
            <a:endParaRPr lang="en-US"/>
          </a:p>
        </p:txBody>
      </p:sp>
      <p:sp>
        <p:nvSpPr>
          <p:cNvPr id="5" name="Rectangle 48">
            <a:extLst>
              <a:ext uri="{FF2B5EF4-FFF2-40B4-BE49-F238E27FC236}">
                <a16:creationId xmlns:a16="http://schemas.microsoft.com/office/drawing/2014/main" id="{E68EF746-84BE-C8AB-FD18-94662B1D23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9">
            <a:extLst>
              <a:ext uri="{FF2B5EF4-FFF2-40B4-BE49-F238E27FC236}">
                <a16:creationId xmlns:a16="http://schemas.microsoft.com/office/drawing/2014/main" id="{9C6BB82D-D784-4D81-1166-8FD098F69B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787F00-8598-492E-9203-D3CF39C7E5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3861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11B7BAF6-8FC1-CF0C-106A-0404A922C4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01A71-7136-43CE-A79B-2249469CF1E7}" type="datetimeFigureOut">
              <a:rPr lang="en-US"/>
              <a:pPr>
                <a:defRPr/>
              </a:pPr>
              <a:t>26/05/2025</a:t>
            </a:fld>
            <a:endParaRPr lang="en-US"/>
          </a:p>
        </p:txBody>
      </p:sp>
      <p:sp>
        <p:nvSpPr>
          <p:cNvPr id="5" name="Rectangle 48">
            <a:extLst>
              <a:ext uri="{FF2B5EF4-FFF2-40B4-BE49-F238E27FC236}">
                <a16:creationId xmlns:a16="http://schemas.microsoft.com/office/drawing/2014/main" id="{347562C3-B3AC-5BEA-A60C-69E59904B4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9">
            <a:extLst>
              <a:ext uri="{FF2B5EF4-FFF2-40B4-BE49-F238E27FC236}">
                <a16:creationId xmlns:a16="http://schemas.microsoft.com/office/drawing/2014/main" id="{05B5C14F-7423-92EB-25EB-FE6A22D418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C6BCD7-858D-458C-80E4-DFEE707C04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653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194CD62-04C3-073C-DAEE-6515D9B4D8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00188" y="228600"/>
            <a:ext cx="76009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7DF4D92-A02C-C4F7-87FA-E4515E052D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00188" y="1752600"/>
            <a:ext cx="760095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04D4620E-4231-2383-37E5-BA81E4A3B39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319838"/>
            <a:ext cx="320040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 b="1" i="0">
                <a:solidFill>
                  <a:srgbClr val="FF33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DSM/EE Training Program - Vietnam </a:t>
            </a: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D973F2DC-03B6-5001-E7BD-1895FE110AD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86663" y="6319838"/>
            <a:ext cx="1481137" cy="43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i="0"/>
            </a:lvl1pPr>
          </a:lstStyle>
          <a:p>
            <a:fld id="{3D54A66A-06C3-4E6D-9739-44A884BA82B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629C25FC-7DAE-657B-3C3F-536DB120940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319838"/>
            <a:ext cx="14097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>
              <a:defRPr sz="1400" i="0"/>
            </a:lvl1pPr>
          </a:lstStyle>
          <a:p>
            <a:pPr>
              <a:defRPr/>
            </a:pPr>
            <a:endParaRPr lang="en-US"/>
          </a:p>
        </p:txBody>
      </p:sp>
      <p:grpSp>
        <p:nvGrpSpPr>
          <p:cNvPr id="2055" name="Group 7">
            <a:extLst>
              <a:ext uri="{FF2B5EF4-FFF2-40B4-BE49-F238E27FC236}">
                <a16:creationId xmlns:a16="http://schemas.microsoft.com/office/drawing/2014/main" id="{E2F208F1-6E5E-F5FD-22E3-8DCA255FFB0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52538" cy="6858000"/>
            <a:chOff x="0" y="0"/>
            <a:chExt cx="789" cy="4320"/>
          </a:xfrm>
        </p:grpSpPr>
        <p:pic>
          <p:nvPicPr>
            <p:cNvPr id="2057" name="Picture 8" descr="Box1">
              <a:extLst>
                <a:ext uri="{FF2B5EF4-FFF2-40B4-BE49-F238E27FC236}">
                  <a16:creationId xmlns:a16="http://schemas.microsoft.com/office/drawing/2014/main" id="{EC9011C6-2095-3839-6ABD-83CA74057B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89" cy="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8" name="Picture 9" descr="Box2">
              <a:extLst>
                <a:ext uri="{FF2B5EF4-FFF2-40B4-BE49-F238E27FC236}">
                  <a16:creationId xmlns:a16="http://schemas.microsoft.com/office/drawing/2014/main" id="{DC1894B2-6091-E10B-B155-4D9B50DA8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157"/>
              <a:ext cx="789" cy="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9" name="Picture 10" descr="Box3">
              <a:extLst>
                <a:ext uri="{FF2B5EF4-FFF2-40B4-BE49-F238E27FC236}">
                  <a16:creationId xmlns:a16="http://schemas.microsoft.com/office/drawing/2014/main" id="{DD12514E-2E2D-3DCC-9A9E-60E34A35B5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352"/>
              <a:ext cx="789" cy="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60" name="Picture 11" descr="Box4">
              <a:extLst>
                <a:ext uri="{FF2B5EF4-FFF2-40B4-BE49-F238E27FC236}">
                  <a16:creationId xmlns:a16="http://schemas.microsoft.com/office/drawing/2014/main" id="{22C2AFDB-6F12-FB95-4E59-95E6750124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509"/>
              <a:ext cx="789" cy="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780" name="Line 12">
            <a:extLst>
              <a:ext uri="{FF2B5EF4-FFF2-40B4-BE49-F238E27FC236}">
                <a16:creationId xmlns:a16="http://schemas.microsoft.com/office/drawing/2014/main" id="{08BC02E3-D5EB-0B11-61B6-4DB6FA262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1371600"/>
            <a:ext cx="7696200" cy="0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SzPct val="75000"/>
        <a:buFont typeface="Wingdings" panose="05000000000000000000" pitchFamily="2" charset="2"/>
        <a:buChar char="l"/>
        <a:defRPr kumimoji="1" sz="2600" b="1">
          <a:solidFill>
            <a:schemeClr val="fol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–"/>
        <a:defRPr kumimoji="1"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kumimoji="1" sz="2400">
          <a:solidFill>
            <a:srgbClr val="0033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>
            <a:extLst>
              <a:ext uri="{FF2B5EF4-FFF2-40B4-BE49-F238E27FC236}">
                <a16:creationId xmlns:a16="http://schemas.microsoft.com/office/drawing/2014/main" id="{4D905B59-F1A1-EC01-C2B9-E24A19A23007}"/>
              </a:ext>
            </a:extLst>
          </p:cNvPr>
          <p:cNvGrpSpPr>
            <a:grpSpLocks/>
          </p:cNvGrpSpPr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77827" name="Freeform 3">
              <a:extLst>
                <a:ext uri="{FF2B5EF4-FFF2-40B4-BE49-F238E27FC236}">
                  <a16:creationId xmlns:a16="http://schemas.microsoft.com/office/drawing/2014/main" id="{A54EA880-F593-A2D0-8AF5-9AA1E28CAB0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-5" y="3262"/>
              <a:ext cx="472" cy="802"/>
            </a:xfrm>
            <a:custGeom>
              <a:avLst/>
              <a:gdLst/>
              <a:ahLst/>
              <a:cxnLst>
                <a:cxn ang="0">
                  <a:pos x="5" y="32"/>
                </a:cxn>
                <a:cxn ang="0">
                  <a:pos x="189" y="26"/>
                </a:cxn>
                <a:cxn ang="0">
                  <a:pos x="309" y="66"/>
                </a:cxn>
                <a:cxn ang="0">
                  <a:pos x="357" y="98"/>
                </a:cxn>
                <a:cxn ang="0">
                  <a:pos x="413" y="162"/>
                </a:cxn>
                <a:cxn ang="0">
                  <a:pos x="437" y="250"/>
                </a:cxn>
                <a:cxn ang="0">
                  <a:pos x="397" y="530"/>
                </a:cxn>
                <a:cxn ang="0">
                  <a:pos x="341" y="634"/>
                </a:cxn>
                <a:cxn ang="0">
                  <a:pos x="173" y="714"/>
                </a:cxn>
                <a:cxn ang="0">
                  <a:pos x="77" y="730"/>
                </a:cxn>
                <a:cxn ang="0">
                  <a:pos x="69" y="802"/>
                </a:cxn>
                <a:cxn ang="0">
                  <a:pos x="7" y="788"/>
                </a:cxn>
                <a:cxn ang="0">
                  <a:pos x="5" y="751"/>
                </a:cxn>
                <a:cxn ang="0">
                  <a:pos x="37" y="722"/>
                </a:cxn>
                <a:cxn ang="0">
                  <a:pos x="5" y="670"/>
                </a:cxn>
                <a:cxn ang="0">
                  <a:pos x="5" y="32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3081" name="Group 4">
              <a:extLst>
                <a:ext uri="{FF2B5EF4-FFF2-40B4-BE49-F238E27FC236}">
                  <a16:creationId xmlns:a16="http://schemas.microsoft.com/office/drawing/2014/main" id="{F29CF64A-1430-2F26-3B6E-9248C44F8576}"/>
                </a:ext>
              </a:extLst>
            </p:cNvPr>
            <p:cNvGrpSpPr>
              <a:grpSpLocks/>
            </p:cNvGrpSpPr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77829" name="Freeform 5">
                <a:extLst>
                  <a:ext uri="{FF2B5EF4-FFF2-40B4-BE49-F238E27FC236}">
                    <a16:creationId xmlns:a16="http://schemas.microsoft.com/office/drawing/2014/main" id="{D5FC616A-D8C2-F0C6-407A-402804E61DC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/>
                <a:ahLst/>
                <a:cxnLst>
                  <a:cxn ang="0">
                    <a:pos x="83" y="28"/>
                  </a:cxn>
                  <a:cxn ang="0">
                    <a:pos x="27" y="0"/>
                  </a:cxn>
                  <a:cxn ang="0">
                    <a:pos x="0" y="117"/>
                  </a:cxn>
                  <a:cxn ang="0">
                    <a:pos x="83" y="28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77830" name="Freeform 6">
                <a:extLst>
                  <a:ext uri="{FF2B5EF4-FFF2-40B4-BE49-F238E27FC236}">
                    <a16:creationId xmlns:a16="http://schemas.microsoft.com/office/drawing/2014/main" id="{C02588ED-CE29-CD00-6B2D-E1DC7904FAF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/>
                <a:ahLst/>
                <a:cxnLst>
                  <a:cxn ang="0">
                    <a:pos x="0" y="98"/>
                  </a:cxn>
                  <a:cxn ang="0">
                    <a:pos x="118" y="0"/>
                  </a:cxn>
                  <a:cxn ang="0">
                    <a:pos x="140" y="49"/>
                  </a:cxn>
                  <a:cxn ang="0">
                    <a:pos x="0" y="98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77831" name="Freeform 7">
                <a:extLst>
                  <a:ext uri="{FF2B5EF4-FFF2-40B4-BE49-F238E27FC236}">
                    <a16:creationId xmlns:a16="http://schemas.microsoft.com/office/drawing/2014/main" id="{B888B23B-C055-6E02-E041-6A8CEE386DA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145" y="0"/>
                  </a:cxn>
                  <a:cxn ang="0">
                    <a:pos x="131" y="49"/>
                  </a:cxn>
                  <a:cxn ang="0">
                    <a:pos x="0" y="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77832" name="Freeform 8">
              <a:extLst>
                <a:ext uri="{FF2B5EF4-FFF2-40B4-BE49-F238E27FC236}">
                  <a16:creationId xmlns:a16="http://schemas.microsoft.com/office/drawing/2014/main" id="{2D372EDF-F869-5017-93C6-E09124585746}"/>
                </a:ext>
              </a:extLst>
            </p:cNvPr>
            <p:cNvSpPr>
              <a:spLocks/>
            </p:cNvSpPr>
            <p:nvPr/>
          </p:nvSpPr>
          <p:spPr bwMode="ltGray">
            <a:xfrm>
              <a:off x="90" y="1736"/>
              <a:ext cx="710" cy="768"/>
            </a:xfrm>
            <a:custGeom>
              <a:avLst/>
              <a:gdLst/>
              <a:ahLst/>
              <a:cxnLst>
                <a:cxn ang="0">
                  <a:pos x="14" y="416"/>
                </a:cxn>
                <a:cxn ang="0">
                  <a:pos x="14" y="272"/>
                </a:cxn>
                <a:cxn ang="0">
                  <a:pos x="102" y="144"/>
                </a:cxn>
                <a:cxn ang="0">
                  <a:pos x="150" y="96"/>
                </a:cxn>
                <a:cxn ang="0">
                  <a:pos x="198" y="64"/>
                </a:cxn>
                <a:cxn ang="0">
                  <a:pos x="350" y="0"/>
                </a:cxn>
                <a:cxn ang="0">
                  <a:pos x="534" y="8"/>
                </a:cxn>
                <a:cxn ang="0">
                  <a:pos x="662" y="96"/>
                </a:cxn>
                <a:cxn ang="0">
                  <a:pos x="710" y="200"/>
                </a:cxn>
                <a:cxn ang="0">
                  <a:pos x="702" y="400"/>
                </a:cxn>
                <a:cxn ang="0">
                  <a:pos x="678" y="448"/>
                </a:cxn>
                <a:cxn ang="0">
                  <a:pos x="550" y="632"/>
                </a:cxn>
                <a:cxn ang="0">
                  <a:pos x="518" y="656"/>
                </a:cxn>
                <a:cxn ang="0">
                  <a:pos x="470" y="664"/>
                </a:cxn>
                <a:cxn ang="0">
                  <a:pos x="518" y="680"/>
                </a:cxn>
                <a:cxn ang="0">
                  <a:pos x="566" y="696"/>
                </a:cxn>
                <a:cxn ang="0">
                  <a:pos x="574" y="720"/>
                </a:cxn>
                <a:cxn ang="0">
                  <a:pos x="526" y="736"/>
                </a:cxn>
                <a:cxn ang="0">
                  <a:pos x="502" y="752"/>
                </a:cxn>
                <a:cxn ang="0">
                  <a:pos x="454" y="768"/>
                </a:cxn>
                <a:cxn ang="0">
                  <a:pos x="438" y="712"/>
                </a:cxn>
                <a:cxn ang="0">
                  <a:pos x="246" y="688"/>
                </a:cxn>
                <a:cxn ang="0">
                  <a:pos x="134" y="648"/>
                </a:cxn>
                <a:cxn ang="0">
                  <a:pos x="110" y="624"/>
                </a:cxn>
                <a:cxn ang="0">
                  <a:pos x="78" y="576"/>
                </a:cxn>
                <a:cxn ang="0">
                  <a:pos x="54" y="464"/>
                </a:cxn>
                <a:cxn ang="0">
                  <a:pos x="30" y="408"/>
                </a:cxn>
                <a:cxn ang="0">
                  <a:pos x="22" y="384"/>
                </a:cxn>
                <a:cxn ang="0">
                  <a:pos x="14" y="416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3083" name="Group 9">
              <a:extLst>
                <a:ext uri="{FF2B5EF4-FFF2-40B4-BE49-F238E27FC236}">
                  <a16:creationId xmlns:a16="http://schemas.microsoft.com/office/drawing/2014/main" id="{6366B5AC-BAE9-A14F-8981-50817BC4BB56}"/>
                </a:ext>
              </a:extLst>
            </p:cNvPr>
            <p:cNvGrpSpPr>
              <a:grpSpLocks/>
            </p:cNvGrpSpPr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77834" name="Freeform 10">
                <a:extLst>
                  <a:ext uri="{FF2B5EF4-FFF2-40B4-BE49-F238E27FC236}">
                    <a16:creationId xmlns:a16="http://schemas.microsoft.com/office/drawing/2014/main" id="{9FB23423-4C10-7714-908A-A56E71234F3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373331" flipH="1">
                <a:off x="125" y="2787"/>
                <a:ext cx="313" cy="303"/>
              </a:xfrm>
              <a:custGeom>
                <a:avLst/>
                <a:gdLst/>
                <a:ahLst/>
                <a:cxnLst>
                  <a:cxn ang="0">
                    <a:pos x="46" y="210"/>
                  </a:cxn>
                  <a:cxn ang="0">
                    <a:pos x="37" y="198"/>
                  </a:cxn>
                  <a:cxn ang="0">
                    <a:pos x="26" y="181"/>
                  </a:cxn>
                  <a:cxn ang="0">
                    <a:pos x="15" y="159"/>
                  </a:cxn>
                  <a:cxn ang="0">
                    <a:pos x="5" y="135"/>
                  </a:cxn>
                  <a:cxn ang="0">
                    <a:pos x="0" y="109"/>
                  </a:cxn>
                  <a:cxn ang="0">
                    <a:pos x="1" y="82"/>
                  </a:cxn>
                  <a:cxn ang="0">
                    <a:pos x="9" y="57"/>
                  </a:cxn>
                  <a:cxn ang="0">
                    <a:pos x="27" y="35"/>
                  </a:cxn>
                  <a:cxn ang="0">
                    <a:pos x="45" y="22"/>
                  </a:cxn>
                  <a:cxn ang="0">
                    <a:pos x="60" y="12"/>
                  </a:cxn>
                  <a:cxn ang="0">
                    <a:pos x="72" y="7"/>
                  </a:cxn>
                  <a:cxn ang="0">
                    <a:pos x="81" y="5"/>
                  </a:cxn>
                  <a:cxn ang="0">
                    <a:pos x="88" y="5"/>
                  </a:cxn>
                  <a:cxn ang="0">
                    <a:pos x="104" y="0"/>
                  </a:cxn>
                  <a:cxn ang="0">
                    <a:pos x="148" y="8"/>
                  </a:cxn>
                  <a:cxn ang="0">
                    <a:pos x="160" y="12"/>
                  </a:cxn>
                  <a:cxn ang="0">
                    <a:pos x="172" y="15"/>
                  </a:cxn>
                  <a:cxn ang="0">
                    <a:pos x="182" y="19"/>
                  </a:cxn>
                  <a:cxn ang="0">
                    <a:pos x="190" y="23"/>
                  </a:cxn>
                  <a:cxn ang="0">
                    <a:pos x="198" y="27"/>
                  </a:cxn>
                  <a:cxn ang="0">
                    <a:pos x="205" y="32"/>
                  </a:cxn>
                  <a:cxn ang="0">
                    <a:pos x="211" y="38"/>
                  </a:cxn>
                  <a:cxn ang="0">
                    <a:pos x="217" y="45"/>
                  </a:cxn>
                  <a:cxn ang="0">
                    <a:pos x="205" y="40"/>
                  </a:cxn>
                  <a:cxn ang="0">
                    <a:pos x="194" y="36"/>
                  </a:cxn>
                  <a:cxn ang="0">
                    <a:pos x="183" y="33"/>
                  </a:cxn>
                  <a:cxn ang="0">
                    <a:pos x="172" y="30"/>
                  </a:cxn>
                  <a:cxn ang="0">
                    <a:pos x="163" y="27"/>
                  </a:cxn>
                  <a:cxn ang="0">
                    <a:pos x="153" y="26"/>
                  </a:cxn>
                  <a:cxn ang="0">
                    <a:pos x="143" y="24"/>
                  </a:cxn>
                  <a:cxn ang="0">
                    <a:pos x="134" y="24"/>
                  </a:cxn>
                  <a:cxn ang="0">
                    <a:pos x="125" y="24"/>
                  </a:cxn>
                  <a:cxn ang="0">
                    <a:pos x="116" y="25"/>
                  </a:cxn>
                  <a:cxn ang="0">
                    <a:pos x="107" y="27"/>
                  </a:cxn>
                  <a:cxn ang="0">
                    <a:pos x="99" y="29"/>
                  </a:cxn>
                  <a:cxn ang="0">
                    <a:pos x="91" y="33"/>
                  </a:cxn>
                  <a:cxn ang="0">
                    <a:pos x="82" y="36"/>
                  </a:cxn>
                  <a:cxn ang="0">
                    <a:pos x="74" y="41"/>
                  </a:cxn>
                  <a:cxn ang="0">
                    <a:pos x="66" y="46"/>
                  </a:cxn>
                  <a:cxn ang="0">
                    <a:pos x="52" y="61"/>
                  </a:cxn>
                  <a:cxn ang="0">
                    <a:pos x="42" y="80"/>
                  </a:cxn>
                  <a:cxn ang="0">
                    <a:pos x="37" y="103"/>
                  </a:cxn>
                  <a:cxn ang="0">
                    <a:pos x="35" y="126"/>
                  </a:cxn>
                  <a:cxn ang="0">
                    <a:pos x="35" y="151"/>
                  </a:cxn>
                  <a:cxn ang="0">
                    <a:pos x="38" y="174"/>
                  </a:cxn>
                  <a:cxn ang="0">
                    <a:pos x="41" y="194"/>
                  </a:cxn>
                  <a:cxn ang="0">
                    <a:pos x="46" y="210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77835" name="Freeform 11">
                <a:extLst>
                  <a:ext uri="{FF2B5EF4-FFF2-40B4-BE49-F238E27FC236}">
                    <a16:creationId xmlns:a16="http://schemas.microsoft.com/office/drawing/2014/main" id="{85091461-8F58-7C29-BAEC-4E4CF4B5C8D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373331" flipH="1">
                <a:off x="41" y="2843"/>
                <a:ext cx="262" cy="308"/>
              </a:xfrm>
              <a:custGeom>
                <a:avLst/>
                <a:gdLst/>
                <a:ahLst/>
                <a:cxnLst>
                  <a:cxn ang="0">
                    <a:pos x="109" y="0"/>
                  </a:cxn>
                  <a:cxn ang="0">
                    <a:pos x="112" y="2"/>
                  </a:cxn>
                  <a:cxn ang="0">
                    <a:pos x="118" y="8"/>
                  </a:cxn>
                  <a:cxn ang="0">
                    <a:pos x="127" y="18"/>
                  </a:cxn>
                  <a:cxn ang="0">
                    <a:pos x="137" y="33"/>
                  </a:cxn>
                  <a:cxn ang="0">
                    <a:pos x="145" y="52"/>
                  </a:cxn>
                  <a:cxn ang="0">
                    <a:pos x="150" y="76"/>
                  </a:cxn>
                  <a:cxn ang="0">
                    <a:pos x="150" y="105"/>
                  </a:cxn>
                  <a:cxn ang="0">
                    <a:pos x="144" y="139"/>
                  </a:cxn>
                  <a:cxn ang="0">
                    <a:pos x="140" y="149"/>
                  </a:cxn>
                  <a:cxn ang="0">
                    <a:pos x="136" y="157"/>
                  </a:cxn>
                  <a:cxn ang="0">
                    <a:pos x="131" y="165"/>
                  </a:cxn>
                  <a:cxn ang="0">
                    <a:pos x="125" y="173"/>
                  </a:cxn>
                  <a:cxn ang="0">
                    <a:pos x="117" y="180"/>
                  </a:cxn>
                  <a:cxn ang="0">
                    <a:pos x="110" y="185"/>
                  </a:cxn>
                  <a:cxn ang="0">
                    <a:pos x="102" y="191"/>
                  </a:cxn>
                  <a:cxn ang="0">
                    <a:pos x="92" y="195"/>
                  </a:cxn>
                  <a:cxn ang="0">
                    <a:pos x="82" y="197"/>
                  </a:cxn>
                  <a:cxn ang="0">
                    <a:pos x="72" y="200"/>
                  </a:cxn>
                  <a:cxn ang="0">
                    <a:pos x="61" y="201"/>
                  </a:cxn>
                  <a:cxn ang="0">
                    <a:pos x="49" y="201"/>
                  </a:cxn>
                  <a:cxn ang="0">
                    <a:pos x="37" y="200"/>
                  </a:cxn>
                  <a:cxn ang="0">
                    <a:pos x="25" y="197"/>
                  </a:cxn>
                  <a:cxn ang="0">
                    <a:pos x="12" y="193"/>
                  </a:cxn>
                  <a:cxn ang="0">
                    <a:pos x="0" y="188"/>
                  </a:cxn>
                  <a:cxn ang="0">
                    <a:pos x="11" y="195"/>
                  </a:cxn>
                  <a:cxn ang="0">
                    <a:pos x="22" y="200"/>
                  </a:cxn>
                  <a:cxn ang="0">
                    <a:pos x="33" y="205"/>
                  </a:cxn>
                  <a:cxn ang="0">
                    <a:pos x="43" y="208"/>
                  </a:cxn>
                  <a:cxn ang="0">
                    <a:pos x="53" y="211"/>
                  </a:cxn>
                  <a:cxn ang="0">
                    <a:pos x="63" y="212"/>
                  </a:cxn>
                  <a:cxn ang="0">
                    <a:pos x="73" y="213"/>
                  </a:cxn>
                  <a:cxn ang="0">
                    <a:pos x="83" y="213"/>
                  </a:cxn>
                  <a:cxn ang="0">
                    <a:pos x="91" y="212"/>
                  </a:cxn>
                  <a:cxn ang="0">
                    <a:pos x="100" y="210"/>
                  </a:cxn>
                  <a:cxn ang="0">
                    <a:pos x="108" y="208"/>
                  </a:cxn>
                  <a:cxn ang="0">
                    <a:pos x="116" y="206"/>
                  </a:cxn>
                  <a:cxn ang="0">
                    <a:pos x="123" y="203"/>
                  </a:cxn>
                  <a:cxn ang="0">
                    <a:pos x="130" y="199"/>
                  </a:cxn>
                  <a:cxn ang="0">
                    <a:pos x="136" y="195"/>
                  </a:cxn>
                  <a:cxn ang="0">
                    <a:pos x="142" y="191"/>
                  </a:cxn>
                  <a:cxn ang="0">
                    <a:pos x="158" y="176"/>
                  </a:cxn>
                  <a:cxn ang="0">
                    <a:pos x="169" y="161"/>
                  </a:cxn>
                  <a:cxn ang="0">
                    <a:pos x="176" y="144"/>
                  </a:cxn>
                  <a:cxn ang="0">
                    <a:pos x="179" y="128"/>
                  </a:cxn>
                  <a:cxn ang="0">
                    <a:pos x="181" y="111"/>
                  </a:cxn>
                  <a:cxn ang="0">
                    <a:pos x="181" y="95"/>
                  </a:cxn>
                  <a:cxn ang="0">
                    <a:pos x="182" y="79"/>
                  </a:cxn>
                  <a:cxn ang="0">
                    <a:pos x="173" y="46"/>
                  </a:cxn>
                  <a:cxn ang="0">
                    <a:pos x="156" y="21"/>
                  </a:cxn>
                  <a:cxn ang="0">
                    <a:pos x="151" y="18"/>
                  </a:cxn>
                  <a:cxn ang="0">
                    <a:pos x="147" y="15"/>
                  </a:cxn>
                  <a:cxn ang="0">
                    <a:pos x="142" y="13"/>
                  </a:cxn>
                  <a:cxn ang="0">
                    <a:pos x="138" y="11"/>
                  </a:cxn>
                  <a:cxn ang="0">
                    <a:pos x="132" y="9"/>
                  </a:cxn>
                  <a:cxn ang="0">
                    <a:pos x="126" y="6"/>
                  </a:cxn>
                  <a:cxn ang="0">
                    <a:pos x="119" y="3"/>
                  </a:cxn>
                  <a:cxn ang="0">
                    <a:pos x="109" y="0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77836" name="Freeform 12">
                <a:extLst>
                  <a:ext uri="{FF2B5EF4-FFF2-40B4-BE49-F238E27FC236}">
                    <a16:creationId xmlns:a16="http://schemas.microsoft.com/office/drawing/2014/main" id="{530A37DC-336E-C131-4157-A847F671907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373331" flipH="1">
                <a:off x="121" y="2907"/>
                <a:ext cx="93" cy="156"/>
              </a:xfrm>
              <a:custGeom>
                <a:avLst/>
                <a:gdLst/>
                <a:ahLst/>
                <a:cxnLst>
                  <a:cxn ang="0">
                    <a:pos x="94" y="0"/>
                  </a:cxn>
                  <a:cxn ang="0">
                    <a:pos x="105" y="9"/>
                  </a:cxn>
                  <a:cxn ang="0">
                    <a:pos x="115" y="27"/>
                  </a:cxn>
                  <a:cxn ang="0">
                    <a:pos x="123" y="50"/>
                  </a:cxn>
                  <a:cxn ang="0">
                    <a:pos x="128" y="78"/>
                  </a:cxn>
                  <a:cxn ang="0">
                    <a:pos x="127" y="111"/>
                  </a:cxn>
                  <a:cxn ang="0">
                    <a:pos x="116" y="145"/>
                  </a:cxn>
                  <a:cxn ang="0">
                    <a:pos x="94" y="181"/>
                  </a:cxn>
                  <a:cxn ang="0">
                    <a:pos x="60" y="217"/>
                  </a:cxn>
                  <a:cxn ang="0">
                    <a:pos x="49" y="213"/>
                  </a:cxn>
                  <a:cxn ang="0">
                    <a:pos x="38" y="210"/>
                  </a:cxn>
                  <a:cxn ang="0">
                    <a:pos x="26" y="205"/>
                  </a:cxn>
                  <a:cxn ang="0">
                    <a:pos x="16" y="201"/>
                  </a:cxn>
                  <a:cxn ang="0">
                    <a:pos x="8" y="196"/>
                  </a:cxn>
                  <a:cxn ang="0">
                    <a:pos x="2" y="190"/>
                  </a:cxn>
                  <a:cxn ang="0">
                    <a:pos x="0" y="183"/>
                  </a:cxn>
                  <a:cxn ang="0">
                    <a:pos x="1" y="178"/>
                  </a:cxn>
                  <a:cxn ang="0">
                    <a:pos x="13" y="171"/>
                  </a:cxn>
                  <a:cxn ang="0">
                    <a:pos x="29" y="161"/>
                  </a:cxn>
                  <a:cxn ang="0">
                    <a:pos x="46" y="150"/>
                  </a:cxn>
                  <a:cxn ang="0">
                    <a:pos x="63" y="134"/>
                  </a:cxn>
                  <a:cxn ang="0">
                    <a:pos x="79" y="112"/>
                  </a:cxn>
                  <a:cxn ang="0">
                    <a:pos x="91" y="83"/>
                  </a:cxn>
                  <a:cxn ang="0">
                    <a:pos x="97" y="46"/>
                  </a:cxn>
                  <a:cxn ang="0">
                    <a:pos x="94" y="0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77837" name="Freeform 13">
                <a:extLst>
                  <a:ext uri="{FF2B5EF4-FFF2-40B4-BE49-F238E27FC236}">
                    <a16:creationId xmlns:a16="http://schemas.microsoft.com/office/drawing/2014/main" id="{ACB3DF72-64D6-23A2-5594-C4D051DDDD69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373331" flipH="1">
                <a:off x="313" y="3110"/>
                <a:ext cx="85" cy="93"/>
              </a:xfrm>
              <a:custGeom>
                <a:avLst/>
                <a:gdLst/>
                <a:ahLst/>
                <a:cxnLst>
                  <a:cxn ang="0">
                    <a:pos x="75" y="0"/>
                  </a:cxn>
                  <a:cxn ang="0">
                    <a:pos x="0" y="25"/>
                  </a:cxn>
                  <a:cxn ang="0">
                    <a:pos x="3" y="26"/>
                  </a:cxn>
                  <a:cxn ang="0">
                    <a:pos x="14" y="29"/>
                  </a:cxn>
                  <a:cxn ang="0">
                    <a:pos x="29" y="36"/>
                  </a:cxn>
                  <a:cxn ang="0">
                    <a:pos x="46" y="47"/>
                  </a:cxn>
                  <a:cxn ang="0">
                    <a:pos x="66" y="62"/>
                  </a:cxn>
                  <a:cxn ang="0">
                    <a:pos x="84" y="80"/>
                  </a:cxn>
                  <a:cxn ang="0">
                    <a:pos x="102" y="103"/>
                  </a:cxn>
                  <a:cxn ang="0">
                    <a:pos x="116" y="132"/>
                  </a:cxn>
                  <a:cxn ang="0">
                    <a:pos x="117" y="120"/>
                  </a:cxn>
                  <a:cxn ang="0">
                    <a:pos x="115" y="107"/>
                  </a:cxn>
                  <a:cxn ang="0">
                    <a:pos x="108" y="90"/>
                  </a:cxn>
                  <a:cxn ang="0">
                    <a:pos x="99" y="74"/>
                  </a:cxn>
                  <a:cxn ang="0">
                    <a:pos x="89" y="58"/>
                  </a:cxn>
                  <a:cxn ang="0">
                    <a:pos x="78" y="45"/>
                  </a:cxn>
                  <a:cxn ang="0">
                    <a:pos x="67" y="36"/>
                  </a:cxn>
                  <a:cxn ang="0">
                    <a:pos x="58" y="32"/>
                  </a:cxn>
                  <a:cxn ang="0">
                    <a:pos x="69" y="29"/>
                  </a:cxn>
                  <a:cxn ang="0">
                    <a:pos x="79" y="28"/>
                  </a:cxn>
                  <a:cxn ang="0">
                    <a:pos x="89" y="26"/>
                  </a:cxn>
                  <a:cxn ang="0">
                    <a:pos x="98" y="25"/>
                  </a:cxn>
                  <a:cxn ang="0">
                    <a:pos x="105" y="24"/>
                  </a:cxn>
                  <a:cxn ang="0">
                    <a:pos x="109" y="22"/>
                  </a:cxn>
                  <a:cxn ang="0">
                    <a:pos x="113" y="21"/>
                  </a:cxn>
                  <a:cxn ang="0">
                    <a:pos x="114" y="21"/>
                  </a:cxn>
                  <a:cxn ang="0">
                    <a:pos x="75" y="0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77838" name="Freeform 14">
                <a:extLst>
                  <a:ext uri="{FF2B5EF4-FFF2-40B4-BE49-F238E27FC236}">
                    <a16:creationId xmlns:a16="http://schemas.microsoft.com/office/drawing/2014/main" id="{CB944A91-1608-DACA-BC3E-E2BA6D2AB42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373331" flipH="1">
                <a:off x="289" y="3133"/>
                <a:ext cx="21" cy="55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23" y="0"/>
                  </a:cxn>
                  <a:cxn ang="0">
                    <a:pos x="16" y="4"/>
                  </a:cxn>
                  <a:cxn ang="0">
                    <a:pos x="9" y="9"/>
                  </a:cxn>
                  <a:cxn ang="0">
                    <a:pos x="4" y="19"/>
                  </a:cxn>
                  <a:cxn ang="0">
                    <a:pos x="1" y="30"/>
                  </a:cxn>
                  <a:cxn ang="0">
                    <a:pos x="0" y="44"/>
                  </a:cxn>
                  <a:cxn ang="0">
                    <a:pos x="3" y="60"/>
                  </a:cxn>
                  <a:cxn ang="0">
                    <a:pos x="11" y="77"/>
                  </a:cxn>
                  <a:cxn ang="0">
                    <a:pos x="15" y="53"/>
                  </a:cxn>
                  <a:cxn ang="0">
                    <a:pos x="19" y="37"/>
                  </a:cxn>
                  <a:cxn ang="0">
                    <a:pos x="23" y="22"/>
                  </a:cxn>
                  <a:cxn ang="0">
                    <a:pos x="29" y="0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3115" name="Group 15">
                <a:extLst>
                  <a:ext uri="{FF2B5EF4-FFF2-40B4-BE49-F238E27FC236}">
                    <a16:creationId xmlns:a16="http://schemas.microsoft.com/office/drawing/2014/main" id="{9A22B3D2-CE3F-147B-17BD-945F95B896FD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77840" name="Freeform 16">
                  <a:extLst>
                    <a:ext uri="{FF2B5EF4-FFF2-40B4-BE49-F238E27FC236}">
                      <a16:creationId xmlns:a16="http://schemas.microsoft.com/office/drawing/2014/main" id="{65626EF3-D42E-0C1E-F1CE-0B87BC149419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 rot="4200091">
                  <a:off x="-243" y="1807"/>
                  <a:ext cx="143" cy="390"/>
                </a:xfrm>
                <a:custGeom>
                  <a:avLst/>
                  <a:gdLst/>
                  <a:ahLst/>
                  <a:cxnLst>
                    <a:cxn ang="0">
                      <a:pos x="12" y="44"/>
                    </a:cxn>
                    <a:cxn ang="0">
                      <a:pos x="6" y="72"/>
                    </a:cxn>
                    <a:cxn ang="0">
                      <a:pos x="3" y="99"/>
                    </a:cxn>
                    <a:cxn ang="0">
                      <a:pos x="0" y="125"/>
                    </a:cxn>
                    <a:cxn ang="0">
                      <a:pos x="0" y="151"/>
                    </a:cxn>
                    <a:cxn ang="0">
                      <a:pos x="3" y="180"/>
                    </a:cxn>
                    <a:cxn ang="0">
                      <a:pos x="7" y="211"/>
                    </a:cxn>
                    <a:cxn ang="0">
                      <a:pos x="16" y="247"/>
                    </a:cxn>
                    <a:cxn ang="0">
                      <a:pos x="29" y="287"/>
                    </a:cxn>
                    <a:cxn ang="0">
                      <a:pos x="43" y="325"/>
                    </a:cxn>
                    <a:cxn ang="0">
                      <a:pos x="61" y="364"/>
                    </a:cxn>
                    <a:cxn ang="0">
                      <a:pos x="83" y="406"/>
                    </a:cxn>
                    <a:cxn ang="0">
                      <a:pos x="106" y="446"/>
                    </a:cxn>
                    <a:cxn ang="0">
                      <a:pos x="132" y="483"/>
                    </a:cxn>
                    <a:cxn ang="0">
                      <a:pos x="157" y="516"/>
                    </a:cxn>
                    <a:cxn ang="0">
                      <a:pos x="182" y="544"/>
                    </a:cxn>
                    <a:cxn ang="0">
                      <a:pos x="207" y="564"/>
                    </a:cxn>
                    <a:cxn ang="0">
                      <a:pos x="160" y="501"/>
                    </a:cxn>
                    <a:cxn ang="0">
                      <a:pos x="127" y="448"/>
                    </a:cxn>
                    <a:cxn ang="0">
                      <a:pos x="103" y="405"/>
                    </a:cxn>
                    <a:cxn ang="0">
                      <a:pos x="87" y="368"/>
                    </a:cxn>
                    <a:cxn ang="0">
                      <a:pos x="75" y="337"/>
                    </a:cxn>
                    <a:cxn ang="0">
                      <a:pos x="68" y="309"/>
                    </a:cxn>
                    <a:cxn ang="0">
                      <a:pos x="63" y="285"/>
                    </a:cxn>
                    <a:cxn ang="0">
                      <a:pos x="56" y="261"/>
                    </a:cxn>
                    <a:cxn ang="0">
                      <a:pos x="44" y="205"/>
                    </a:cxn>
                    <a:cxn ang="0">
                      <a:pos x="41" y="140"/>
                    </a:cxn>
                    <a:cxn ang="0">
                      <a:pos x="43" y="68"/>
                    </a:cxn>
                    <a:cxn ang="0">
                      <a:pos x="50" y="0"/>
                    </a:cxn>
                    <a:cxn ang="0">
                      <a:pos x="12" y="44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77841" name="Freeform 17">
                  <a:extLst>
                    <a:ext uri="{FF2B5EF4-FFF2-40B4-BE49-F238E27FC236}">
                      <a16:creationId xmlns:a16="http://schemas.microsoft.com/office/drawing/2014/main" id="{012600A0-CCDC-D203-7627-D5E6C258E086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 rot="4200091">
                  <a:off x="124" y="1761"/>
                  <a:ext cx="33" cy="160"/>
                </a:xfrm>
                <a:custGeom>
                  <a:avLst/>
                  <a:gdLst/>
                  <a:ahLst/>
                  <a:cxnLst>
                    <a:cxn ang="0">
                      <a:pos x="0" y="19"/>
                    </a:cxn>
                    <a:cxn ang="0">
                      <a:pos x="14" y="55"/>
                    </a:cxn>
                    <a:cxn ang="0">
                      <a:pos x="22" y="101"/>
                    </a:cxn>
                    <a:cxn ang="0">
                      <a:pos x="24" y="159"/>
                    </a:cxn>
                    <a:cxn ang="0">
                      <a:pos x="19" y="232"/>
                    </a:cxn>
                    <a:cxn ang="0">
                      <a:pos x="45" y="217"/>
                    </a:cxn>
                    <a:cxn ang="0">
                      <a:pos x="47" y="178"/>
                    </a:cxn>
                    <a:cxn ang="0">
                      <a:pos x="47" y="140"/>
                    </a:cxn>
                    <a:cxn ang="0">
                      <a:pos x="45" y="103"/>
                    </a:cxn>
                    <a:cxn ang="0">
                      <a:pos x="41" y="71"/>
                    </a:cxn>
                    <a:cxn ang="0">
                      <a:pos x="36" y="52"/>
                    </a:cxn>
                    <a:cxn ang="0">
                      <a:pos x="29" y="34"/>
                    </a:cxn>
                    <a:cxn ang="0">
                      <a:pos x="22" y="17"/>
                    </a:cxn>
                    <a:cxn ang="0">
                      <a:pos x="13" y="0"/>
                    </a:cxn>
                    <a:cxn ang="0">
                      <a:pos x="0" y="1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77842" name="Freeform 18">
                  <a:extLst>
                    <a:ext uri="{FF2B5EF4-FFF2-40B4-BE49-F238E27FC236}">
                      <a16:creationId xmlns:a16="http://schemas.microsoft.com/office/drawing/2014/main" id="{CE17DEAD-4FAE-F4FF-C840-E13F83896BE8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 rot="4200091">
                  <a:off x="195" y="1722"/>
                  <a:ext cx="60" cy="27"/>
                </a:xfrm>
                <a:custGeom>
                  <a:avLst/>
                  <a:gdLst/>
                  <a:ahLst/>
                  <a:cxnLst>
                    <a:cxn ang="0">
                      <a:pos x="87" y="22"/>
                    </a:cxn>
                    <a:cxn ang="0">
                      <a:pos x="77" y="17"/>
                    </a:cxn>
                    <a:cxn ang="0">
                      <a:pos x="68" y="12"/>
                    </a:cxn>
                    <a:cxn ang="0">
                      <a:pos x="58" y="7"/>
                    </a:cxn>
                    <a:cxn ang="0">
                      <a:pos x="47" y="5"/>
                    </a:cxn>
                    <a:cxn ang="0">
                      <a:pos x="37" y="3"/>
                    </a:cxn>
                    <a:cxn ang="0">
                      <a:pos x="26" y="2"/>
                    </a:cxn>
                    <a:cxn ang="0">
                      <a:pos x="13" y="0"/>
                    </a:cxn>
                    <a:cxn ang="0">
                      <a:pos x="0" y="2"/>
                    </a:cxn>
                    <a:cxn ang="0">
                      <a:pos x="6" y="6"/>
                    </a:cxn>
                    <a:cxn ang="0">
                      <a:pos x="14" y="10"/>
                    </a:cxn>
                    <a:cxn ang="0">
                      <a:pos x="22" y="14"/>
                    </a:cxn>
                    <a:cxn ang="0">
                      <a:pos x="33" y="18"/>
                    </a:cxn>
                    <a:cxn ang="0">
                      <a:pos x="42" y="22"/>
                    </a:cxn>
                    <a:cxn ang="0">
                      <a:pos x="52" y="27"/>
                    </a:cxn>
                    <a:cxn ang="0">
                      <a:pos x="64" y="33"/>
                    </a:cxn>
                    <a:cxn ang="0">
                      <a:pos x="74" y="40"/>
                    </a:cxn>
                    <a:cxn ang="0">
                      <a:pos x="87" y="22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</p:grpSp>
        <p:grpSp>
          <p:nvGrpSpPr>
            <p:cNvPr id="3084" name="Group 19">
              <a:extLst>
                <a:ext uri="{FF2B5EF4-FFF2-40B4-BE49-F238E27FC236}">
                  <a16:creationId xmlns:a16="http://schemas.microsoft.com/office/drawing/2014/main" id="{F04BAEE7-57DC-C359-00C5-89356F2BC325}"/>
                </a:ext>
              </a:extLst>
            </p:cNvPr>
            <p:cNvGrpSpPr>
              <a:grpSpLocks/>
            </p:cNvGrpSpPr>
            <p:nvPr/>
          </p:nvGrpSpPr>
          <p:grpSpPr bwMode="auto">
            <a:xfrm rot="6248562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77844" name="Freeform 20">
                <a:extLst>
                  <a:ext uri="{FF2B5EF4-FFF2-40B4-BE49-F238E27FC236}">
                    <a16:creationId xmlns:a16="http://schemas.microsoft.com/office/drawing/2014/main" id="{62431C28-1384-2A82-11D4-4AA0FE21B099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8"/>
                <a:ext cx="41" cy="59"/>
              </a:xfrm>
              <a:custGeom>
                <a:avLst/>
                <a:gdLst/>
                <a:ahLst/>
                <a:cxnLst>
                  <a:cxn ang="0">
                    <a:pos x="83" y="28"/>
                  </a:cxn>
                  <a:cxn ang="0">
                    <a:pos x="27" y="0"/>
                  </a:cxn>
                  <a:cxn ang="0">
                    <a:pos x="0" y="117"/>
                  </a:cxn>
                  <a:cxn ang="0">
                    <a:pos x="83" y="28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77845" name="Freeform 21">
                <a:extLst>
                  <a:ext uri="{FF2B5EF4-FFF2-40B4-BE49-F238E27FC236}">
                    <a16:creationId xmlns:a16="http://schemas.microsoft.com/office/drawing/2014/main" id="{7F20262E-55C6-9F84-969E-BCAB4F7CE45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6"/>
                <a:ext cx="70" cy="49"/>
              </a:xfrm>
              <a:custGeom>
                <a:avLst/>
                <a:gdLst/>
                <a:ahLst/>
                <a:cxnLst>
                  <a:cxn ang="0">
                    <a:pos x="0" y="98"/>
                  </a:cxn>
                  <a:cxn ang="0">
                    <a:pos x="118" y="0"/>
                  </a:cxn>
                  <a:cxn ang="0">
                    <a:pos x="140" y="49"/>
                  </a:cxn>
                  <a:cxn ang="0">
                    <a:pos x="0" y="98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77846" name="Freeform 22">
                <a:extLst>
                  <a:ext uri="{FF2B5EF4-FFF2-40B4-BE49-F238E27FC236}">
                    <a16:creationId xmlns:a16="http://schemas.microsoft.com/office/drawing/2014/main" id="{84EA0140-9CB8-1F22-1BBA-5A15029A2F4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145" y="0"/>
                  </a:cxn>
                  <a:cxn ang="0">
                    <a:pos x="131" y="49"/>
                  </a:cxn>
                  <a:cxn ang="0">
                    <a:pos x="0" y="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3085" name="Group 23">
              <a:extLst>
                <a:ext uri="{FF2B5EF4-FFF2-40B4-BE49-F238E27FC236}">
                  <a16:creationId xmlns:a16="http://schemas.microsoft.com/office/drawing/2014/main" id="{4ED24F66-FCA6-95AF-75DB-304DC043A2FE}"/>
                </a:ext>
              </a:extLst>
            </p:cNvPr>
            <p:cNvGrpSpPr>
              <a:grpSpLocks/>
            </p:cNvGrpSpPr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77848" name="Freeform 24">
                <a:extLst>
                  <a:ext uri="{FF2B5EF4-FFF2-40B4-BE49-F238E27FC236}">
                    <a16:creationId xmlns:a16="http://schemas.microsoft.com/office/drawing/2014/main" id="{80EA1173-8813-82A0-87B4-6674DAA6BFB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/>
                <a:ahLst/>
                <a:cxnLst>
                  <a:cxn ang="0">
                    <a:pos x="83" y="28"/>
                  </a:cxn>
                  <a:cxn ang="0">
                    <a:pos x="27" y="0"/>
                  </a:cxn>
                  <a:cxn ang="0">
                    <a:pos x="0" y="117"/>
                  </a:cxn>
                  <a:cxn ang="0">
                    <a:pos x="83" y="28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77849" name="Freeform 25">
                <a:extLst>
                  <a:ext uri="{FF2B5EF4-FFF2-40B4-BE49-F238E27FC236}">
                    <a16:creationId xmlns:a16="http://schemas.microsoft.com/office/drawing/2014/main" id="{DC57FB9B-DCB5-CD96-0FEF-B0647F76F83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/>
                <a:ahLst/>
                <a:cxnLst>
                  <a:cxn ang="0">
                    <a:pos x="0" y="98"/>
                  </a:cxn>
                  <a:cxn ang="0">
                    <a:pos x="118" y="0"/>
                  </a:cxn>
                  <a:cxn ang="0">
                    <a:pos x="140" y="49"/>
                  </a:cxn>
                  <a:cxn ang="0">
                    <a:pos x="0" y="98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77850" name="Freeform 26">
                <a:extLst>
                  <a:ext uri="{FF2B5EF4-FFF2-40B4-BE49-F238E27FC236}">
                    <a16:creationId xmlns:a16="http://schemas.microsoft.com/office/drawing/2014/main" id="{387568F5-A6A7-732D-78A0-45A6F6840A9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145" y="0"/>
                  </a:cxn>
                  <a:cxn ang="0">
                    <a:pos x="131" y="49"/>
                  </a:cxn>
                  <a:cxn ang="0">
                    <a:pos x="0" y="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3086" name="Group 27">
              <a:extLst>
                <a:ext uri="{FF2B5EF4-FFF2-40B4-BE49-F238E27FC236}">
                  <a16:creationId xmlns:a16="http://schemas.microsoft.com/office/drawing/2014/main" id="{1E06143D-FAFB-FD40-CD18-ED66B295F8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77852" name="Freeform 28">
                <a:extLst>
                  <a:ext uri="{FF2B5EF4-FFF2-40B4-BE49-F238E27FC236}">
                    <a16:creationId xmlns:a16="http://schemas.microsoft.com/office/drawing/2014/main" id="{B8EC62D4-F8EF-AB9D-216C-8F1B670825F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/>
                <a:ahLst/>
                <a:cxnLst>
                  <a:cxn ang="0">
                    <a:pos x="83" y="28"/>
                  </a:cxn>
                  <a:cxn ang="0">
                    <a:pos x="27" y="0"/>
                  </a:cxn>
                  <a:cxn ang="0">
                    <a:pos x="0" y="117"/>
                  </a:cxn>
                  <a:cxn ang="0">
                    <a:pos x="83" y="28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77853" name="Freeform 29">
                <a:extLst>
                  <a:ext uri="{FF2B5EF4-FFF2-40B4-BE49-F238E27FC236}">
                    <a16:creationId xmlns:a16="http://schemas.microsoft.com/office/drawing/2014/main" id="{75863DDC-8A78-AE70-6AA7-CA211EB4F92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/>
                <a:ahLst/>
                <a:cxnLst>
                  <a:cxn ang="0">
                    <a:pos x="0" y="98"/>
                  </a:cxn>
                  <a:cxn ang="0">
                    <a:pos x="118" y="0"/>
                  </a:cxn>
                  <a:cxn ang="0">
                    <a:pos x="140" y="49"/>
                  </a:cxn>
                  <a:cxn ang="0">
                    <a:pos x="0" y="98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77854" name="Freeform 30">
                <a:extLst>
                  <a:ext uri="{FF2B5EF4-FFF2-40B4-BE49-F238E27FC236}">
                    <a16:creationId xmlns:a16="http://schemas.microsoft.com/office/drawing/2014/main" id="{B26658B8-9047-D71B-DA6E-D513A64E5159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145" y="0"/>
                  </a:cxn>
                  <a:cxn ang="0">
                    <a:pos x="131" y="49"/>
                  </a:cxn>
                  <a:cxn ang="0">
                    <a:pos x="0" y="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77855" name="Freeform 31">
              <a:extLst>
                <a:ext uri="{FF2B5EF4-FFF2-40B4-BE49-F238E27FC236}">
                  <a16:creationId xmlns:a16="http://schemas.microsoft.com/office/drawing/2014/main" id="{55AA5356-E5CD-2315-22D7-1EA0DEA873F2}"/>
                </a:ext>
              </a:extLst>
            </p:cNvPr>
            <p:cNvSpPr>
              <a:spLocks/>
            </p:cNvSpPr>
            <p:nvPr/>
          </p:nvSpPr>
          <p:spPr bwMode="ltGray">
            <a:xfrm>
              <a:off x="87" y="94"/>
              <a:ext cx="699" cy="756"/>
            </a:xfrm>
            <a:custGeom>
              <a:avLst/>
              <a:gdLst/>
              <a:ahLst/>
              <a:cxnLst>
                <a:cxn ang="0">
                  <a:pos x="1" y="392"/>
                </a:cxn>
                <a:cxn ang="0">
                  <a:pos x="3" y="252"/>
                </a:cxn>
                <a:cxn ang="0">
                  <a:pos x="21" y="210"/>
                </a:cxn>
                <a:cxn ang="0">
                  <a:pos x="29" y="182"/>
                </a:cxn>
                <a:cxn ang="0">
                  <a:pos x="39" y="154"/>
                </a:cxn>
                <a:cxn ang="0">
                  <a:pos x="51" y="138"/>
                </a:cxn>
                <a:cxn ang="0">
                  <a:pos x="111" y="74"/>
                </a:cxn>
                <a:cxn ang="0">
                  <a:pos x="169" y="30"/>
                </a:cxn>
                <a:cxn ang="0">
                  <a:pos x="225" y="10"/>
                </a:cxn>
                <a:cxn ang="0">
                  <a:pos x="249" y="4"/>
                </a:cxn>
                <a:cxn ang="0">
                  <a:pos x="265" y="0"/>
                </a:cxn>
                <a:cxn ang="0">
                  <a:pos x="357" y="2"/>
                </a:cxn>
                <a:cxn ang="0">
                  <a:pos x="385" y="6"/>
                </a:cxn>
                <a:cxn ang="0">
                  <a:pos x="489" y="40"/>
                </a:cxn>
                <a:cxn ang="0">
                  <a:pos x="619" y="128"/>
                </a:cxn>
                <a:cxn ang="0">
                  <a:pos x="653" y="178"/>
                </a:cxn>
                <a:cxn ang="0">
                  <a:pos x="693" y="322"/>
                </a:cxn>
                <a:cxn ang="0">
                  <a:pos x="687" y="434"/>
                </a:cxn>
                <a:cxn ang="0">
                  <a:pos x="665" y="538"/>
                </a:cxn>
                <a:cxn ang="0">
                  <a:pos x="639" y="564"/>
                </a:cxn>
                <a:cxn ang="0">
                  <a:pos x="631" y="580"/>
                </a:cxn>
                <a:cxn ang="0">
                  <a:pos x="607" y="588"/>
                </a:cxn>
                <a:cxn ang="0">
                  <a:pos x="473" y="664"/>
                </a:cxn>
                <a:cxn ang="0">
                  <a:pos x="449" y="678"/>
                </a:cxn>
                <a:cxn ang="0">
                  <a:pos x="405" y="684"/>
                </a:cxn>
                <a:cxn ang="0">
                  <a:pos x="375" y="690"/>
                </a:cxn>
                <a:cxn ang="0">
                  <a:pos x="267" y="684"/>
                </a:cxn>
                <a:cxn ang="0">
                  <a:pos x="259" y="722"/>
                </a:cxn>
                <a:cxn ang="0">
                  <a:pos x="241" y="756"/>
                </a:cxn>
                <a:cxn ang="0">
                  <a:pos x="185" y="728"/>
                </a:cxn>
                <a:cxn ang="0">
                  <a:pos x="163" y="720"/>
                </a:cxn>
                <a:cxn ang="0">
                  <a:pos x="151" y="716"/>
                </a:cxn>
                <a:cxn ang="0">
                  <a:pos x="195" y="674"/>
                </a:cxn>
                <a:cxn ang="0">
                  <a:pos x="211" y="644"/>
                </a:cxn>
                <a:cxn ang="0">
                  <a:pos x="209" y="626"/>
                </a:cxn>
                <a:cxn ang="0">
                  <a:pos x="195" y="620"/>
                </a:cxn>
                <a:cxn ang="0">
                  <a:pos x="165" y="596"/>
                </a:cxn>
                <a:cxn ang="0">
                  <a:pos x="99" y="534"/>
                </a:cxn>
                <a:cxn ang="0">
                  <a:pos x="61" y="506"/>
                </a:cxn>
                <a:cxn ang="0">
                  <a:pos x="23" y="470"/>
                </a:cxn>
                <a:cxn ang="0">
                  <a:pos x="7" y="434"/>
                </a:cxn>
                <a:cxn ang="0">
                  <a:pos x="5" y="396"/>
                </a:cxn>
                <a:cxn ang="0">
                  <a:pos x="1" y="392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856" name="Freeform 32">
              <a:extLst>
                <a:ext uri="{FF2B5EF4-FFF2-40B4-BE49-F238E27FC236}">
                  <a16:creationId xmlns:a16="http://schemas.microsoft.com/office/drawing/2014/main" id="{C0E51F67-78E7-F2A3-9E0C-6A2280E683DF}"/>
                </a:ext>
              </a:extLst>
            </p:cNvPr>
            <p:cNvSpPr>
              <a:spLocks/>
            </p:cNvSpPr>
            <p:nvPr/>
          </p:nvSpPr>
          <p:spPr bwMode="ltGray">
            <a:xfrm rot="828663">
              <a:off x="242" y="3404"/>
              <a:ext cx="132" cy="16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18" y="5"/>
                </a:cxn>
                <a:cxn ang="0">
                  <a:pos x="37" y="12"/>
                </a:cxn>
                <a:cxn ang="0">
                  <a:pos x="58" y="24"/>
                </a:cxn>
                <a:cxn ang="0">
                  <a:pos x="78" y="44"/>
                </a:cxn>
                <a:cxn ang="0">
                  <a:pos x="96" y="71"/>
                </a:cxn>
                <a:cxn ang="0">
                  <a:pos x="107" y="108"/>
                </a:cxn>
                <a:cxn ang="0">
                  <a:pos x="109" y="156"/>
                </a:cxn>
                <a:cxn ang="0">
                  <a:pos x="105" y="156"/>
                </a:cxn>
                <a:cxn ang="0">
                  <a:pos x="99" y="156"/>
                </a:cxn>
                <a:cxn ang="0">
                  <a:pos x="93" y="156"/>
                </a:cxn>
                <a:cxn ang="0">
                  <a:pos x="87" y="154"/>
                </a:cxn>
                <a:cxn ang="0">
                  <a:pos x="81" y="153"/>
                </a:cxn>
                <a:cxn ang="0">
                  <a:pos x="74" y="150"/>
                </a:cxn>
                <a:cxn ang="0">
                  <a:pos x="66" y="145"/>
                </a:cxn>
                <a:cxn ang="0">
                  <a:pos x="58" y="139"/>
                </a:cxn>
                <a:cxn ang="0">
                  <a:pos x="53" y="126"/>
                </a:cxn>
                <a:cxn ang="0">
                  <a:pos x="53" y="111"/>
                </a:cxn>
                <a:cxn ang="0">
                  <a:pos x="56" y="96"/>
                </a:cxn>
                <a:cxn ang="0">
                  <a:pos x="59" y="80"/>
                </a:cxn>
                <a:cxn ang="0">
                  <a:pos x="56" y="62"/>
                </a:cxn>
                <a:cxn ang="0">
                  <a:pos x="48" y="43"/>
                </a:cxn>
                <a:cxn ang="0">
                  <a:pos x="31" y="23"/>
                </a:cxn>
                <a:cxn ang="0">
                  <a:pos x="0" y="0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857" name="Freeform 33">
              <a:extLst>
                <a:ext uri="{FF2B5EF4-FFF2-40B4-BE49-F238E27FC236}">
                  <a16:creationId xmlns:a16="http://schemas.microsoft.com/office/drawing/2014/main" id="{5176CC0D-23A4-982F-C51F-4CB1FB269F6A}"/>
                </a:ext>
              </a:extLst>
            </p:cNvPr>
            <p:cNvSpPr>
              <a:spLocks/>
            </p:cNvSpPr>
            <p:nvPr/>
          </p:nvSpPr>
          <p:spPr bwMode="ltGray">
            <a:xfrm rot="828663">
              <a:off x="266" y="3592"/>
              <a:ext cx="66" cy="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6" y="3"/>
                </a:cxn>
                <a:cxn ang="0">
                  <a:pos x="13" y="8"/>
                </a:cxn>
                <a:cxn ang="0">
                  <a:pos x="21" y="12"/>
                </a:cxn>
                <a:cxn ang="0">
                  <a:pos x="29" y="15"/>
                </a:cxn>
                <a:cxn ang="0">
                  <a:pos x="38" y="17"/>
                </a:cxn>
                <a:cxn ang="0">
                  <a:pos x="46" y="18"/>
                </a:cxn>
                <a:cxn ang="0">
                  <a:pos x="54" y="16"/>
                </a:cxn>
                <a:cxn ang="0">
                  <a:pos x="53" y="25"/>
                </a:cxn>
                <a:cxn ang="0">
                  <a:pos x="50" y="33"/>
                </a:cxn>
                <a:cxn ang="0">
                  <a:pos x="44" y="38"/>
                </a:cxn>
                <a:cxn ang="0">
                  <a:pos x="37" y="40"/>
                </a:cxn>
                <a:cxn ang="0">
                  <a:pos x="28" y="39"/>
                </a:cxn>
                <a:cxn ang="0">
                  <a:pos x="19" y="32"/>
                </a:cxn>
                <a:cxn ang="0">
                  <a:pos x="10" y="20"/>
                </a:cxn>
                <a:cxn ang="0">
                  <a:pos x="0" y="0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858" name="Freeform 34">
              <a:extLst>
                <a:ext uri="{FF2B5EF4-FFF2-40B4-BE49-F238E27FC236}">
                  <a16:creationId xmlns:a16="http://schemas.microsoft.com/office/drawing/2014/main" id="{1408A8C8-F269-142D-18C0-074B052CE57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1" y="4110"/>
              <a:ext cx="118" cy="20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8"/>
                </a:cxn>
                <a:cxn ang="0">
                  <a:pos x="15" y="19"/>
                </a:cxn>
                <a:cxn ang="0">
                  <a:pos x="26" y="33"/>
                </a:cxn>
                <a:cxn ang="0">
                  <a:pos x="38" y="51"/>
                </a:cxn>
                <a:cxn ang="0">
                  <a:pos x="54" y="72"/>
                </a:cxn>
                <a:cxn ang="0">
                  <a:pos x="67" y="94"/>
                </a:cxn>
                <a:cxn ang="0">
                  <a:pos x="79" y="119"/>
                </a:cxn>
                <a:cxn ang="0">
                  <a:pos x="87" y="146"/>
                </a:cxn>
                <a:cxn ang="0">
                  <a:pos x="94" y="175"/>
                </a:cxn>
                <a:cxn ang="0">
                  <a:pos x="91" y="209"/>
                </a:cxn>
                <a:cxn ang="0">
                  <a:pos x="118" y="209"/>
                </a:cxn>
                <a:cxn ang="0">
                  <a:pos x="117" y="177"/>
                </a:cxn>
                <a:cxn ang="0">
                  <a:pos x="104" y="119"/>
                </a:cxn>
                <a:cxn ang="0">
                  <a:pos x="82" y="69"/>
                </a:cxn>
                <a:cxn ang="0">
                  <a:pos x="47" y="27"/>
                </a:cxn>
                <a:cxn ang="0">
                  <a:pos x="0" y="0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859" name="Freeform 35">
              <a:extLst>
                <a:ext uri="{FF2B5EF4-FFF2-40B4-BE49-F238E27FC236}">
                  <a16:creationId xmlns:a16="http://schemas.microsoft.com/office/drawing/2014/main" id="{074EE0C7-ABC7-FBD7-30CE-2254B2F6727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3968"/>
              <a:ext cx="130" cy="128"/>
            </a:xfrm>
            <a:custGeom>
              <a:avLst/>
              <a:gdLst/>
              <a:ahLst/>
              <a:cxnLst>
                <a:cxn ang="0">
                  <a:pos x="103" y="0"/>
                </a:cxn>
                <a:cxn ang="0">
                  <a:pos x="130" y="128"/>
                </a:cxn>
                <a:cxn ang="0">
                  <a:pos x="125" y="126"/>
                </a:cxn>
                <a:cxn ang="0">
                  <a:pos x="111" y="121"/>
                </a:cxn>
                <a:cxn ang="0">
                  <a:pos x="92" y="111"/>
                </a:cxn>
                <a:cxn ang="0">
                  <a:pos x="68" y="103"/>
                </a:cxn>
                <a:cxn ang="0">
                  <a:pos x="41" y="94"/>
                </a:cxn>
                <a:cxn ang="0">
                  <a:pos x="19" y="90"/>
                </a:cxn>
                <a:cxn ang="0">
                  <a:pos x="0" y="93"/>
                </a:cxn>
                <a:cxn ang="0">
                  <a:pos x="0" y="72"/>
                </a:cxn>
                <a:cxn ang="0">
                  <a:pos x="12" y="70"/>
                </a:cxn>
                <a:cxn ang="0">
                  <a:pos x="24" y="66"/>
                </a:cxn>
                <a:cxn ang="0">
                  <a:pos x="38" y="66"/>
                </a:cxn>
                <a:cxn ang="0">
                  <a:pos x="51" y="67"/>
                </a:cxn>
                <a:cxn ang="0">
                  <a:pos x="65" y="70"/>
                </a:cxn>
                <a:cxn ang="0">
                  <a:pos x="78" y="78"/>
                </a:cxn>
                <a:cxn ang="0">
                  <a:pos x="81" y="74"/>
                </a:cxn>
                <a:cxn ang="0">
                  <a:pos x="81" y="58"/>
                </a:cxn>
                <a:cxn ang="0">
                  <a:pos x="82" y="37"/>
                </a:cxn>
                <a:cxn ang="0">
                  <a:pos x="82" y="29"/>
                </a:cxn>
                <a:cxn ang="0">
                  <a:pos x="80" y="29"/>
                </a:cxn>
                <a:cxn ang="0">
                  <a:pos x="77" y="27"/>
                </a:cxn>
                <a:cxn ang="0">
                  <a:pos x="76" y="22"/>
                </a:cxn>
                <a:cxn ang="0">
                  <a:pos x="75" y="19"/>
                </a:cxn>
                <a:cxn ang="0">
                  <a:pos x="76" y="15"/>
                </a:cxn>
                <a:cxn ang="0">
                  <a:pos x="79" y="10"/>
                </a:cxn>
                <a:cxn ang="0">
                  <a:pos x="89" y="6"/>
                </a:cxn>
                <a:cxn ang="0">
                  <a:pos x="103" y="0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860" name="Freeform 36">
              <a:extLst>
                <a:ext uri="{FF2B5EF4-FFF2-40B4-BE49-F238E27FC236}">
                  <a16:creationId xmlns:a16="http://schemas.microsoft.com/office/drawing/2014/main" id="{2FEC003F-0BAE-B159-2981-48765A65C01E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3949"/>
              <a:ext cx="47" cy="86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15" y="37"/>
                </a:cxn>
                <a:cxn ang="0">
                  <a:pos x="0" y="59"/>
                </a:cxn>
                <a:cxn ang="0">
                  <a:pos x="0" y="86"/>
                </a:cxn>
                <a:cxn ang="0">
                  <a:pos x="8" y="82"/>
                </a:cxn>
                <a:cxn ang="0">
                  <a:pos x="20" y="73"/>
                </a:cxn>
                <a:cxn ang="0">
                  <a:pos x="33" y="63"/>
                </a:cxn>
                <a:cxn ang="0">
                  <a:pos x="42" y="51"/>
                </a:cxn>
                <a:cxn ang="0">
                  <a:pos x="47" y="36"/>
                </a:cxn>
                <a:cxn ang="0">
                  <a:pos x="46" y="19"/>
                </a:cxn>
                <a:cxn ang="0">
                  <a:pos x="37" y="0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861" name="Freeform 37">
              <a:extLst>
                <a:ext uri="{FF2B5EF4-FFF2-40B4-BE49-F238E27FC236}">
                  <a16:creationId xmlns:a16="http://schemas.microsoft.com/office/drawing/2014/main" id="{4CE040DD-EB2D-E4BA-0079-4DD0DF3BFD8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3239"/>
              <a:ext cx="497" cy="740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41" y="4"/>
                </a:cxn>
                <a:cxn ang="0">
                  <a:pos x="101" y="0"/>
                </a:cxn>
                <a:cxn ang="0">
                  <a:pos x="170" y="4"/>
                </a:cxn>
                <a:cxn ang="0">
                  <a:pos x="248" y="21"/>
                </a:cxn>
                <a:cxn ang="0">
                  <a:pos x="323" y="50"/>
                </a:cxn>
                <a:cxn ang="0">
                  <a:pos x="382" y="90"/>
                </a:cxn>
                <a:cxn ang="0">
                  <a:pos x="428" y="141"/>
                </a:cxn>
                <a:cxn ang="0">
                  <a:pos x="463" y="199"/>
                </a:cxn>
                <a:cxn ang="0">
                  <a:pos x="485" y="262"/>
                </a:cxn>
                <a:cxn ang="0">
                  <a:pos x="496" y="327"/>
                </a:cxn>
                <a:cxn ang="0">
                  <a:pos x="497" y="396"/>
                </a:cxn>
                <a:cxn ang="0">
                  <a:pos x="487" y="462"/>
                </a:cxn>
                <a:cxn ang="0">
                  <a:pos x="470" y="527"/>
                </a:cxn>
                <a:cxn ang="0">
                  <a:pos x="443" y="586"/>
                </a:cxn>
                <a:cxn ang="0">
                  <a:pos x="406" y="639"/>
                </a:cxn>
                <a:cxn ang="0">
                  <a:pos x="364" y="683"/>
                </a:cxn>
                <a:cxn ang="0">
                  <a:pos x="315" y="715"/>
                </a:cxn>
                <a:cxn ang="0">
                  <a:pos x="259" y="736"/>
                </a:cxn>
                <a:cxn ang="0">
                  <a:pos x="198" y="740"/>
                </a:cxn>
                <a:cxn ang="0">
                  <a:pos x="131" y="727"/>
                </a:cxn>
                <a:cxn ang="0">
                  <a:pos x="167" y="728"/>
                </a:cxn>
                <a:cxn ang="0">
                  <a:pos x="204" y="718"/>
                </a:cxn>
                <a:cxn ang="0">
                  <a:pos x="238" y="700"/>
                </a:cxn>
                <a:cxn ang="0">
                  <a:pos x="272" y="670"/>
                </a:cxn>
                <a:cxn ang="0">
                  <a:pos x="304" y="635"/>
                </a:cxn>
                <a:cxn ang="0">
                  <a:pos x="333" y="594"/>
                </a:cxn>
                <a:cxn ang="0">
                  <a:pos x="358" y="549"/>
                </a:cxn>
                <a:cxn ang="0">
                  <a:pos x="381" y="500"/>
                </a:cxn>
                <a:cxn ang="0">
                  <a:pos x="396" y="449"/>
                </a:cxn>
                <a:cxn ang="0">
                  <a:pos x="408" y="397"/>
                </a:cxn>
                <a:cxn ang="0">
                  <a:pos x="414" y="346"/>
                </a:cxn>
                <a:cxn ang="0">
                  <a:pos x="412" y="296"/>
                </a:cxn>
                <a:cxn ang="0">
                  <a:pos x="402" y="251"/>
                </a:cxn>
                <a:cxn ang="0">
                  <a:pos x="384" y="208"/>
                </a:cxn>
                <a:cxn ang="0">
                  <a:pos x="357" y="172"/>
                </a:cxn>
                <a:cxn ang="0">
                  <a:pos x="320" y="142"/>
                </a:cxn>
                <a:cxn ang="0">
                  <a:pos x="260" y="107"/>
                </a:cxn>
                <a:cxn ang="0">
                  <a:pos x="203" y="82"/>
                </a:cxn>
                <a:cxn ang="0">
                  <a:pos x="154" y="65"/>
                </a:cxn>
                <a:cxn ang="0">
                  <a:pos x="108" y="56"/>
                </a:cxn>
                <a:cxn ang="0">
                  <a:pos x="68" y="55"/>
                </a:cxn>
                <a:cxn ang="0">
                  <a:pos x="32" y="61"/>
                </a:cxn>
                <a:cxn ang="0">
                  <a:pos x="0" y="70"/>
                </a:cxn>
                <a:cxn ang="0">
                  <a:pos x="0" y="13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862" name="Freeform 38">
              <a:extLst>
                <a:ext uri="{FF2B5EF4-FFF2-40B4-BE49-F238E27FC236}">
                  <a16:creationId xmlns:a16="http://schemas.microsoft.com/office/drawing/2014/main" id="{AF38F789-49DA-178C-CB2C-4CC02EB834B4}"/>
                </a:ext>
              </a:extLst>
            </p:cNvPr>
            <p:cNvSpPr>
              <a:spLocks/>
            </p:cNvSpPr>
            <p:nvPr/>
          </p:nvSpPr>
          <p:spPr bwMode="ltGray">
            <a:xfrm rot="1584153">
              <a:off x="20" y="410"/>
              <a:ext cx="344" cy="2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"/>
                </a:cxn>
                <a:cxn ang="0">
                  <a:pos x="3" y="50"/>
                </a:cxn>
                <a:cxn ang="0">
                  <a:pos x="6" y="75"/>
                </a:cxn>
                <a:cxn ang="0">
                  <a:pos x="11" y="98"/>
                </a:cxn>
                <a:cxn ang="0">
                  <a:pos x="18" y="119"/>
                </a:cxn>
                <a:cxn ang="0">
                  <a:pos x="27" y="141"/>
                </a:cxn>
                <a:cxn ang="0">
                  <a:pos x="38" y="161"/>
                </a:cxn>
                <a:cxn ang="0">
                  <a:pos x="51" y="178"/>
                </a:cxn>
                <a:cxn ang="0">
                  <a:pos x="67" y="194"/>
                </a:cxn>
                <a:cxn ang="0">
                  <a:pos x="86" y="208"/>
                </a:cxn>
                <a:cxn ang="0">
                  <a:pos x="106" y="219"/>
                </a:cxn>
                <a:cxn ang="0">
                  <a:pos x="131" y="228"/>
                </a:cxn>
                <a:cxn ang="0">
                  <a:pos x="158" y="234"/>
                </a:cxn>
                <a:cxn ang="0">
                  <a:pos x="188" y="237"/>
                </a:cxn>
                <a:cxn ang="0">
                  <a:pos x="220" y="236"/>
                </a:cxn>
                <a:cxn ang="0">
                  <a:pos x="257" y="232"/>
                </a:cxn>
                <a:cxn ang="0">
                  <a:pos x="224" y="227"/>
                </a:cxn>
                <a:cxn ang="0">
                  <a:pos x="195" y="220"/>
                </a:cxn>
                <a:cxn ang="0">
                  <a:pos x="170" y="212"/>
                </a:cxn>
                <a:cxn ang="0">
                  <a:pos x="148" y="204"/>
                </a:cxn>
                <a:cxn ang="0">
                  <a:pos x="128" y="193"/>
                </a:cxn>
                <a:cxn ang="0">
                  <a:pos x="112" y="182"/>
                </a:cxn>
                <a:cxn ang="0">
                  <a:pos x="97" y="169"/>
                </a:cxn>
                <a:cxn ang="0">
                  <a:pos x="84" y="155"/>
                </a:cxn>
                <a:cxn ang="0">
                  <a:pos x="72" y="141"/>
                </a:cxn>
                <a:cxn ang="0">
                  <a:pos x="61" y="125"/>
                </a:cxn>
                <a:cxn ang="0">
                  <a:pos x="52" y="107"/>
                </a:cxn>
                <a:cxn ang="0">
                  <a:pos x="43" y="88"/>
                </a:cxn>
                <a:cxn ang="0">
                  <a:pos x="33" y="69"/>
                </a:cxn>
                <a:cxn ang="0">
                  <a:pos x="23" y="47"/>
                </a:cxn>
                <a:cxn ang="0">
                  <a:pos x="12" y="24"/>
                </a:cxn>
                <a:cxn ang="0">
                  <a:pos x="0" y="0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863" name="Freeform 39">
              <a:extLst>
                <a:ext uri="{FF2B5EF4-FFF2-40B4-BE49-F238E27FC236}">
                  <a16:creationId xmlns:a16="http://schemas.microsoft.com/office/drawing/2014/main" id="{A96AAD77-E5D9-D0D1-3FD4-D843EA147CF2}"/>
                </a:ext>
              </a:extLst>
            </p:cNvPr>
            <p:cNvSpPr>
              <a:spLocks/>
            </p:cNvSpPr>
            <p:nvPr/>
          </p:nvSpPr>
          <p:spPr bwMode="ltGray">
            <a:xfrm rot="1584153">
              <a:off x="242" y="756"/>
              <a:ext cx="167" cy="115"/>
            </a:xfrm>
            <a:custGeom>
              <a:avLst/>
              <a:gdLst/>
              <a:ahLst/>
              <a:cxnLst>
                <a:cxn ang="0">
                  <a:pos x="77" y="0"/>
                </a:cxn>
                <a:cxn ang="0">
                  <a:pos x="124" y="108"/>
                </a:cxn>
                <a:cxn ang="0">
                  <a:pos x="120" y="107"/>
                </a:cxn>
                <a:cxn ang="0">
                  <a:pos x="107" y="105"/>
                </a:cxn>
                <a:cxn ang="0">
                  <a:pos x="89" y="101"/>
                </a:cxn>
                <a:cxn ang="0">
                  <a:pos x="68" y="99"/>
                </a:cxn>
                <a:cxn ang="0">
                  <a:pos x="45" y="97"/>
                </a:cxn>
                <a:cxn ang="0">
                  <a:pos x="25" y="98"/>
                </a:cxn>
                <a:cxn ang="0">
                  <a:pos x="9" y="102"/>
                </a:cxn>
                <a:cxn ang="0">
                  <a:pos x="0" y="110"/>
                </a:cxn>
                <a:cxn ang="0">
                  <a:pos x="4" y="98"/>
                </a:cxn>
                <a:cxn ang="0">
                  <a:pos x="8" y="89"/>
                </a:cxn>
                <a:cxn ang="0">
                  <a:pos x="16" y="82"/>
                </a:cxn>
                <a:cxn ang="0">
                  <a:pos x="25" y="76"/>
                </a:cxn>
                <a:cxn ang="0">
                  <a:pos x="36" y="72"/>
                </a:cxn>
                <a:cxn ang="0">
                  <a:pos x="47" y="71"/>
                </a:cxn>
                <a:cxn ang="0">
                  <a:pos x="59" y="71"/>
                </a:cxn>
                <a:cxn ang="0">
                  <a:pos x="72" y="74"/>
                </a:cxn>
                <a:cxn ang="0">
                  <a:pos x="73" y="71"/>
                </a:cxn>
                <a:cxn ang="0">
                  <a:pos x="70" y="56"/>
                </a:cxn>
                <a:cxn ang="0">
                  <a:pos x="67" y="38"/>
                </a:cxn>
                <a:cxn ang="0">
                  <a:pos x="65" y="30"/>
                </a:cxn>
                <a:cxn ang="0">
                  <a:pos x="63" y="30"/>
                </a:cxn>
                <a:cxn ang="0">
                  <a:pos x="61" y="29"/>
                </a:cxn>
                <a:cxn ang="0">
                  <a:pos x="59" y="26"/>
                </a:cxn>
                <a:cxn ang="0">
                  <a:pos x="57" y="23"/>
                </a:cxn>
                <a:cxn ang="0">
                  <a:pos x="57" y="19"/>
                </a:cxn>
                <a:cxn ang="0">
                  <a:pos x="59" y="14"/>
                </a:cxn>
                <a:cxn ang="0">
                  <a:pos x="66" y="8"/>
                </a:cxn>
                <a:cxn ang="0">
                  <a:pos x="77" y="0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864" name="Freeform 40">
              <a:extLst>
                <a:ext uri="{FF2B5EF4-FFF2-40B4-BE49-F238E27FC236}">
                  <a16:creationId xmlns:a16="http://schemas.microsoft.com/office/drawing/2014/main" id="{B65601B2-9EAA-F67A-759D-82A178F9E5F3}"/>
                </a:ext>
              </a:extLst>
            </p:cNvPr>
            <p:cNvSpPr>
              <a:spLocks/>
            </p:cNvSpPr>
            <p:nvPr/>
          </p:nvSpPr>
          <p:spPr bwMode="ltGray">
            <a:xfrm rot="1584153">
              <a:off x="574" y="286"/>
              <a:ext cx="147" cy="1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18" y="5"/>
                </a:cxn>
                <a:cxn ang="0">
                  <a:pos x="37" y="12"/>
                </a:cxn>
                <a:cxn ang="0">
                  <a:pos x="58" y="24"/>
                </a:cxn>
                <a:cxn ang="0">
                  <a:pos x="78" y="44"/>
                </a:cxn>
                <a:cxn ang="0">
                  <a:pos x="96" y="71"/>
                </a:cxn>
                <a:cxn ang="0">
                  <a:pos x="107" y="108"/>
                </a:cxn>
                <a:cxn ang="0">
                  <a:pos x="109" y="156"/>
                </a:cxn>
                <a:cxn ang="0">
                  <a:pos x="105" y="156"/>
                </a:cxn>
                <a:cxn ang="0">
                  <a:pos x="99" y="156"/>
                </a:cxn>
                <a:cxn ang="0">
                  <a:pos x="93" y="156"/>
                </a:cxn>
                <a:cxn ang="0">
                  <a:pos x="87" y="154"/>
                </a:cxn>
                <a:cxn ang="0">
                  <a:pos x="81" y="153"/>
                </a:cxn>
                <a:cxn ang="0">
                  <a:pos x="74" y="150"/>
                </a:cxn>
                <a:cxn ang="0">
                  <a:pos x="66" y="145"/>
                </a:cxn>
                <a:cxn ang="0">
                  <a:pos x="58" y="139"/>
                </a:cxn>
                <a:cxn ang="0">
                  <a:pos x="53" y="126"/>
                </a:cxn>
                <a:cxn ang="0">
                  <a:pos x="53" y="111"/>
                </a:cxn>
                <a:cxn ang="0">
                  <a:pos x="56" y="96"/>
                </a:cxn>
                <a:cxn ang="0">
                  <a:pos x="59" y="80"/>
                </a:cxn>
                <a:cxn ang="0">
                  <a:pos x="56" y="62"/>
                </a:cxn>
                <a:cxn ang="0">
                  <a:pos x="48" y="43"/>
                </a:cxn>
                <a:cxn ang="0">
                  <a:pos x="31" y="23"/>
                </a:cxn>
                <a:cxn ang="0">
                  <a:pos x="0" y="0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865" name="Freeform 41">
              <a:extLst>
                <a:ext uri="{FF2B5EF4-FFF2-40B4-BE49-F238E27FC236}">
                  <a16:creationId xmlns:a16="http://schemas.microsoft.com/office/drawing/2014/main" id="{A8652C18-DCC8-06E5-3560-AEAE679EC538}"/>
                </a:ext>
              </a:extLst>
            </p:cNvPr>
            <p:cNvSpPr>
              <a:spLocks/>
            </p:cNvSpPr>
            <p:nvPr/>
          </p:nvSpPr>
          <p:spPr bwMode="ltGray">
            <a:xfrm rot="1584153">
              <a:off x="236" y="721"/>
              <a:ext cx="62" cy="97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20" y="38"/>
                </a:cxn>
                <a:cxn ang="0">
                  <a:pos x="15" y="62"/>
                </a:cxn>
                <a:cxn ang="0">
                  <a:pos x="11" y="79"/>
                </a:cxn>
                <a:cxn ang="0">
                  <a:pos x="0" y="94"/>
                </a:cxn>
                <a:cxn ang="0">
                  <a:pos x="12" y="88"/>
                </a:cxn>
                <a:cxn ang="0">
                  <a:pos x="23" y="80"/>
                </a:cxn>
                <a:cxn ang="0">
                  <a:pos x="32" y="69"/>
                </a:cxn>
                <a:cxn ang="0">
                  <a:pos x="40" y="57"/>
                </a:cxn>
                <a:cxn ang="0">
                  <a:pos x="45" y="44"/>
                </a:cxn>
                <a:cxn ang="0">
                  <a:pos x="46" y="30"/>
                </a:cxn>
                <a:cxn ang="0">
                  <a:pos x="42" y="15"/>
                </a:cxn>
                <a:cxn ang="0">
                  <a:pos x="31" y="0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866" name="Freeform 42">
              <a:extLst>
                <a:ext uri="{FF2B5EF4-FFF2-40B4-BE49-F238E27FC236}">
                  <a16:creationId xmlns:a16="http://schemas.microsoft.com/office/drawing/2014/main" id="{89245165-F462-FD8F-9E27-DE809E1ED1D6}"/>
                </a:ext>
              </a:extLst>
            </p:cNvPr>
            <p:cNvSpPr>
              <a:spLocks/>
            </p:cNvSpPr>
            <p:nvPr/>
          </p:nvSpPr>
          <p:spPr bwMode="ltGray">
            <a:xfrm rot="1584153">
              <a:off x="585" y="466"/>
              <a:ext cx="72" cy="4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6" y="3"/>
                </a:cxn>
                <a:cxn ang="0">
                  <a:pos x="13" y="8"/>
                </a:cxn>
                <a:cxn ang="0">
                  <a:pos x="21" y="12"/>
                </a:cxn>
                <a:cxn ang="0">
                  <a:pos x="29" y="15"/>
                </a:cxn>
                <a:cxn ang="0">
                  <a:pos x="38" y="17"/>
                </a:cxn>
                <a:cxn ang="0">
                  <a:pos x="46" y="18"/>
                </a:cxn>
                <a:cxn ang="0">
                  <a:pos x="54" y="16"/>
                </a:cxn>
                <a:cxn ang="0">
                  <a:pos x="53" y="25"/>
                </a:cxn>
                <a:cxn ang="0">
                  <a:pos x="50" y="33"/>
                </a:cxn>
                <a:cxn ang="0">
                  <a:pos x="44" y="38"/>
                </a:cxn>
                <a:cxn ang="0">
                  <a:pos x="37" y="40"/>
                </a:cxn>
                <a:cxn ang="0">
                  <a:pos x="28" y="39"/>
                </a:cxn>
                <a:cxn ang="0">
                  <a:pos x="19" y="32"/>
                </a:cxn>
                <a:cxn ang="0">
                  <a:pos x="10" y="20"/>
                </a:cxn>
                <a:cxn ang="0">
                  <a:pos x="0" y="0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867" name="Freeform 43">
              <a:extLst>
                <a:ext uri="{FF2B5EF4-FFF2-40B4-BE49-F238E27FC236}">
                  <a16:creationId xmlns:a16="http://schemas.microsoft.com/office/drawing/2014/main" id="{D5A84812-B6EA-6E66-42E6-0B7709C37F2C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886"/>
              <a:ext cx="360" cy="65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269" y="9"/>
                </a:cxn>
                <a:cxn ang="0">
                  <a:pos x="277" y="22"/>
                </a:cxn>
                <a:cxn ang="0">
                  <a:pos x="286" y="39"/>
                </a:cxn>
                <a:cxn ang="0">
                  <a:pos x="297" y="58"/>
                </a:cxn>
                <a:cxn ang="0">
                  <a:pos x="309" y="83"/>
                </a:cxn>
                <a:cxn ang="0">
                  <a:pos x="319" y="108"/>
                </a:cxn>
                <a:cxn ang="0">
                  <a:pos x="329" y="136"/>
                </a:cxn>
                <a:cxn ang="0">
                  <a:pos x="333" y="163"/>
                </a:cxn>
                <a:cxn ang="0">
                  <a:pos x="336" y="193"/>
                </a:cxn>
                <a:cxn ang="0">
                  <a:pos x="332" y="223"/>
                </a:cxn>
                <a:cxn ang="0">
                  <a:pos x="323" y="255"/>
                </a:cxn>
                <a:cxn ang="0">
                  <a:pos x="310" y="285"/>
                </a:cxn>
                <a:cxn ang="0">
                  <a:pos x="287" y="315"/>
                </a:cxn>
                <a:cxn ang="0">
                  <a:pos x="257" y="343"/>
                </a:cxn>
                <a:cxn ang="0">
                  <a:pos x="218" y="370"/>
                </a:cxn>
                <a:cxn ang="0">
                  <a:pos x="167" y="396"/>
                </a:cxn>
                <a:cxn ang="0">
                  <a:pos x="111" y="425"/>
                </a:cxn>
                <a:cxn ang="0">
                  <a:pos x="69" y="457"/>
                </a:cxn>
                <a:cxn ang="0">
                  <a:pos x="35" y="490"/>
                </a:cxn>
                <a:cxn ang="0">
                  <a:pos x="12" y="526"/>
                </a:cxn>
                <a:cxn ang="0">
                  <a:pos x="0" y="553"/>
                </a:cxn>
                <a:cxn ang="0">
                  <a:pos x="0" y="650"/>
                </a:cxn>
                <a:cxn ang="0">
                  <a:pos x="6" y="628"/>
                </a:cxn>
                <a:cxn ang="0">
                  <a:pos x="19" y="594"/>
                </a:cxn>
                <a:cxn ang="0">
                  <a:pos x="43" y="551"/>
                </a:cxn>
                <a:cxn ang="0">
                  <a:pos x="76" y="503"/>
                </a:cxn>
                <a:cxn ang="0">
                  <a:pos x="125" y="454"/>
                </a:cxn>
                <a:cxn ang="0">
                  <a:pos x="190" y="408"/>
                </a:cxn>
                <a:cxn ang="0">
                  <a:pos x="275" y="365"/>
                </a:cxn>
                <a:cxn ang="0">
                  <a:pos x="308" y="342"/>
                </a:cxn>
                <a:cxn ang="0">
                  <a:pos x="335" y="305"/>
                </a:cxn>
                <a:cxn ang="0">
                  <a:pos x="352" y="255"/>
                </a:cxn>
                <a:cxn ang="0">
                  <a:pos x="360" y="201"/>
                </a:cxn>
                <a:cxn ang="0">
                  <a:pos x="356" y="144"/>
                </a:cxn>
                <a:cxn ang="0">
                  <a:pos x="341" y="88"/>
                </a:cxn>
                <a:cxn ang="0">
                  <a:pos x="311" y="39"/>
                </a:cxn>
                <a:cxn ang="0">
                  <a:pos x="264" y="0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868" name="Freeform 44">
              <a:extLst>
                <a:ext uri="{FF2B5EF4-FFF2-40B4-BE49-F238E27FC236}">
                  <a16:creationId xmlns:a16="http://schemas.microsoft.com/office/drawing/2014/main" id="{3651F288-A0B0-B32E-2F3B-D78E833CFAA7}"/>
                </a:ext>
              </a:extLst>
            </p:cNvPr>
            <p:cNvSpPr>
              <a:spLocks/>
            </p:cNvSpPr>
            <p:nvPr/>
          </p:nvSpPr>
          <p:spPr bwMode="ltGray">
            <a:xfrm rot="1584153">
              <a:off x="56" y="84"/>
              <a:ext cx="804" cy="686"/>
            </a:xfrm>
            <a:custGeom>
              <a:avLst/>
              <a:gdLst/>
              <a:ahLst/>
              <a:cxnLst>
                <a:cxn ang="0">
                  <a:pos x="16" y="370"/>
                </a:cxn>
                <a:cxn ang="0">
                  <a:pos x="6" y="341"/>
                </a:cxn>
                <a:cxn ang="0">
                  <a:pos x="0" y="289"/>
                </a:cxn>
                <a:cxn ang="0">
                  <a:pos x="4" y="222"/>
                </a:cxn>
                <a:cxn ang="0">
                  <a:pos x="25" y="151"/>
                </a:cxn>
                <a:cxn ang="0">
                  <a:pos x="69" y="84"/>
                </a:cxn>
                <a:cxn ang="0">
                  <a:pos x="142" y="31"/>
                </a:cxn>
                <a:cxn ang="0">
                  <a:pos x="247" y="2"/>
                </a:cxn>
                <a:cxn ang="0">
                  <a:pos x="380" y="9"/>
                </a:cxn>
                <a:cxn ang="0">
                  <a:pos x="484" y="68"/>
                </a:cxn>
                <a:cxn ang="0">
                  <a:pos x="554" y="165"/>
                </a:cxn>
                <a:cxn ang="0">
                  <a:pos x="591" y="284"/>
                </a:cxn>
                <a:cxn ang="0">
                  <a:pos x="595" y="409"/>
                </a:cxn>
                <a:cxn ang="0">
                  <a:pos x="566" y="525"/>
                </a:cxn>
                <a:cxn ang="0">
                  <a:pos x="507" y="615"/>
                </a:cxn>
                <a:cxn ang="0">
                  <a:pos x="417" y="663"/>
                </a:cxn>
                <a:cxn ang="0">
                  <a:pos x="389" y="659"/>
                </a:cxn>
                <a:cxn ang="0">
                  <a:pos x="441" y="617"/>
                </a:cxn>
                <a:cxn ang="0">
                  <a:pos x="482" y="544"/>
                </a:cxn>
                <a:cxn ang="0">
                  <a:pos x="509" y="454"/>
                </a:cxn>
                <a:cxn ang="0">
                  <a:pos x="520" y="355"/>
                </a:cxn>
                <a:cxn ang="0">
                  <a:pos x="514" y="258"/>
                </a:cxn>
                <a:cxn ang="0">
                  <a:pos x="485" y="174"/>
                </a:cxn>
                <a:cxn ang="0">
                  <a:pos x="433" y="112"/>
                </a:cxn>
                <a:cxn ang="0">
                  <a:pos x="341" y="75"/>
                </a:cxn>
                <a:cxn ang="0">
                  <a:pos x="246" y="61"/>
                </a:cxn>
                <a:cxn ang="0">
                  <a:pos x="174" y="71"/>
                </a:cxn>
                <a:cxn ang="0">
                  <a:pos x="121" y="101"/>
                </a:cxn>
                <a:cxn ang="0">
                  <a:pos x="84" y="149"/>
                </a:cxn>
                <a:cxn ang="0">
                  <a:pos x="57" y="206"/>
                </a:cxn>
                <a:cxn ang="0">
                  <a:pos x="40" y="272"/>
                </a:cxn>
                <a:cxn ang="0">
                  <a:pos x="28" y="339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77869" name="Rectangle 45">
            <a:extLst>
              <a:ext uri="{FF2B5EF4-FFF2-40B4-BE49-F238E27FC236}">
                <a16:creationId xmlns:a16="http://schemas.microsoft.com/office/drawing/2014/main" id="{0B7F6C84-F960-0768-052B-AC98B0B26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6" name="Rectangle 46">
            <a:extLst>
              <a:ext uri="{FF2B5EF4-FFF2-40B4-BE49-F238E27FC236}">
                <a16:creationId xmlns:a16="http://schemas.microsoft.com/office/drawing/2014/main" id="{9252769A-1089-347B-5E2E-49186C60BE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7871" name="Rectangle 47">
            <a:extLst>
              <a:ext uri="{FF2B5EF4-FFF2-40B4-BE49-F238E27FC236}">
                <a16:creationId xmlns:a16="http://schemas.microsoft.com/office/drawing/2014/main" id="{3DDE2778-C28C-D3D4-068E-EF1B891D90B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0">
                <a:latin typeface="+mn-lt"/>
              </a:defRPr>
            </a:lvl1pPr>
          </a:lstStyle>
          <a:p>
            <a:pPr>
              <a:defRPr/>
            </a:pPr>
            <a:fld id="{25CC8B88-36E3-4EB6-B1AD-9718EBE078B4}" type="datetimeFigureOut">
              <a:rPr lang="en-US"/>
              <a:pPr>
                <a:defRPr/>
              </a:pPr>
              <a:t>26/05/2025</a:t>
            </a:fld>
            <a:endParaRPr lang="en-US"/>
          </a:p>
        </p:txBody>
      </p:sp>
      <p:sp>
        <p:nvSpPr>
          <p:cNvPr id="77872" name="Rectangle 48">
            <a:extLst>
              <a:ext uri="{FF2B5EF4-FFF2-40B4-BE49-F238E27FC236}">
                <a16:creationId xmlns:a16="http://schemas.microsoft.com/office/drawing/2014/main" id="{84D61332-51A4-A7A9-D5C8-72287555203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i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73" name="Rectangle 49">
            <a:extLst>
              <a:ext uri="{FF2B5EF4-FFF2-40B4-BE49-F238E27FC236}">
                <a16:creationId xmlns:a16="http://schemas.microsoft.com/office/drawing/2014/main" id="{0489C423-FABF-C794-C85B-C6846DC7045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i="0">
                <a:latin typeface="Verdana" panose="020B0604030504040204" pitchFamily="34" charset="0"/>
              </a:defRPr>
            </a:lvl1pPr>
          </a:lstStyle>
          <a:p>
            <a:fld id="{1BAF98D0-9334-40D8-90C9-2631D33DB71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1A4BEA9-0F63-0E04-2EAB-F7B08C13042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2743200"/>
            <a:ext cx="8839200" cy="1524000"/>
          </a:xfrm>
        </p:spPr>
        <p:txBody>
          <a:bodyPr/>
          <a:lstStyle/>
          <a:p>
            <a:r>
              <a:rPr lang="en-US" altLang="en-US" sz="3200" b="1">
                <a:solidFill>
                  <a:schemeClr val="folHlink"/>
                </a:solidFill>
              </a:rPr>
              <a:t>CHƯƠNG 2</a:t>
            </a:r>
            <a:br>
              <a:rPr lang="en-US" altLang="en-US" sz="3200" b="1">
                <a:solidFill>
                  <a:schemeClr val="folHlink"/>
                </a:solidFill>
              </a:rPr>
            </a:br>
            <a:r>
              <a:rPr lang="en-US" altLang="en-US" sz="3200" b="1">
                <a:solidFill>
                  <a:schemeClr val="folHlink"/>
                </a:solidFill>
              </a:rPr>
              <a:t>GIÁ TRỊ THEO THỜI GIAN </a:t>
            </a:r>
            <a:br>
              <a:rPr lang="en-US" altLang="en-US" sz="3200" b="1">
                <a:solidFill>
                  <a:schemeClr val="folHlink"/>
                </a:solidFill>
              </a:rPr>
            </a:br>
            <a:r>
              <a:rPr lang="en-US" altLang="en-US" sz="3200" b="1">
                <a:solidFill>
                  <a:schemeClr val="folHlink"/>
                </a:solidFill>
              </a:rPr>
              <a:t>CỦA TIỀN TỆ</a:t>
            </a:r>
          </a:p>
        </p:txBody>
      </p:sp>
      <p:pic>
        <p:nvPicPr>
          <p:cNvPr id="15365" name="Picture 9">
            <a:extLst>
              <a:ext uri="{FF2B5EF4-FFF2-40B4-BE49-F238E27FC236}">
                <a16:creationId xmlns:a16="http://schemas.microsoft.com/office/drawing/2014/main" id="{A12C6F00-D63A-4C34-AF71-9298B09A5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000" b="-667"/>
          <a:stretch>
            <a:fillRect/>
          </a:stretch>
        </p:blipFill>
        <p:spPr bwMode="auto">
          <a:xfrm>
            <a:off x="0" y="1998663"/>
            <a:ext cx="108585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5366" name="Rectangle 10">
            <a:extLst>
              <a:ext uri="{FF2B5EF4-FFF2-40B4-BE49-F238E27FC236}">
                <a16:creationId xmlns:a16="http://schemas.microsoft.com/office/drawing/2014/main" id="{525C7E3A-1F8E-CFD0-2583-5C239C8CB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43600"/>
            <a:ext cx="9144000" cy="9144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 b="1">
                <a:solidFill>
                  <a:schemeClr val="folHlink"/>
                </a:solidFill>
              </a:rPr>
              <a:t>     </a:t>
            </a:r>
            <a:r>
              <a:rPr lang="en-US" altLang="en-US" sz="2400" b="1">
                <a:solidFill>
                  <a:srgbClr val="008000"/>
                </a:solidFill>
              </a:rPr>
              <a:t>GIÁO TRÌNH PHÂN TÍCH DỰ ÁN ĐẦU TƯ - GS. PHẠM PHỤ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D2A33B9-F29B-1CF9-6E5E-375943078C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en-US" b="1">
                <a:solidFill>
                  <a:schemeClr val="folHlink"/>
                </a:solidFill>
                <a:latin typeface="Arial" panose="020B0604020202020204" pitchFamily="34" charset="0"/>
              </a:rPr>
              <a:t>NỘI DUNG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CFB8BB6-08DB-BAF2-58D8-BA378C345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5400" y="1752600"/>
            <a:ext cx="7848600" cy="3276600"/>
          </a:xfrm>
        </p:spPr>
        <p:txBody>
          <a:bodyPr/>
          <a:lstStyle/>
          <a:p>
            <a:r>
              <a:rPr lang="en-US" altLang="en-US" b="0"/>
              <a:t>Tính toán lãi tức</a:t>
            </a:r>
          </a:p>
          <a:p>
            <a:r>
              <a:rPr lang="en-US" altLang="en-US" b="0"/>
              <a:t>Biểu đồ dòng tiền tệ</a:t>
            </a:r>
          </a:p>
          <a:p>
            <a:r>
              <a:rPr lang="en-US" altLang="en-US" b="0"/>
              <a:t>Công thức tính giá trị tương đương cho các dòng tiền tệ đơn và phân bố đều</a:t>
            </a:r>
          </a:p>
          <a:p>
            <a:r>
              <a:rPr lang="en-US" altLang="en-US" b="0"/>
              <a:t>Lãi suất danh nghĩa và lãi suất thực</a:t>
            </a:r>
          </a:p>
          <a:p>
            <a:endParaRPr lang="en-US" altLang="en-US" b="0"/>
          </a:p>
          <a:p>
            <a:endParaRPr lang="en-US" altLang="en-US" b="0"/>
          </a:p>
        </p:txBody>
      </p:sp>
      <p:pic>
        <p:nvPicPr>
          <p:cNvPr id="16393" name="Picture 9" descr="money-stack">
            <a:extLst>
              <a:ext uri="{FF2B5EF4-FFF2-40B4-BE49-F238E27FC236}">
                <a16:creationId xmlns:a16="http://schemas.microsoft.com/office/drawing/2014/main" id="{541A45E5-FB99-CE96-36DB-70B5AAE35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0"/>
            <a:ext cx="2895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>
            <a:extLst>
              <a:ext uri="{FF2B5EF4-FFF2-40B4-BE49-F238E27FC236}">
                <a16:creationId xmlns:a16="http://schemas.microsoft.com/office/drawing/2014/main" id="{8D5C33C4-21F6-A48B-8825-797F668E6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8229600" cy="1143000"/>
          </a:xfrm>
        </p:spPr>
        <p:txBody>
          <a:bodyPr/>
          <a:lstStyle/>
          <a:p>
            <a:pPr algn="r"/>
            <a:r>
              <a:rPr lang="en-US" altLang="en-US" b="1">
                <a:solidFill>
                  <a:srgbClr val="008000"/>
                </a:solidFill>
                <a:latin typeface="Arial" panose="020B0604020202020204" pitchFamily="34" charset="0"/>
              </a:rPr>
              <a:t>TÍNH TOÁN LÃI TỨC</a:t>
            </a:r>
          </a:p>
        </p:txBody>
      </p:sp>
      <p:sp>
        <p:nvSpPr>
          <p:cNvPr id="1030" name="Rectangle 3">
            <a:extLst>
              <a:ext uri="{FF2B5EF4-FFF2-40B4-BE49-F238E27FC236}">
                <a16:creationId xmlns:a16="http://schemas.microsoft.com/office/drawing/2014/main" id="{6D5AF0CA-1083-D507-6705-1426E1EA8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371600"/>
            <a:ext cx="80010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en-US" altLang="en-US" sz="20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Lãi</a:t>
            </a:r>
            <a:r>
              <a:rPr kumimoji="1" lang="en-US" altLang="en-US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suất</a:t>
            </a:r>
            <a:endParaRPr kumimoji="1" lang="en-US" altLang="en-US" sz="2000" b="1" i="0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000" i="0" dirty="0" err="1">
                <a:latin typeface="Arial" panose="020B0604020202020204" pitchFamily="34" charset="0"/>
              </a:rPr>
              <a:t>Lãi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tức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là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b="1" i="0" dirty="0" err="1">
                <a:latin typeface="Arial" panose="020B0604020202020204" pitchFamily="34" charset="0"/>
              </a:rPr>
              <a:t>biểu</a:t>
            </a:r>
            <a:r>
              <a:rPr kumimoji="1" lang="en-US" altLang="en-US" sz="2000" b="1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b="1" i="0" dirty="0" err="1">
                <a:latin typeface="Arial" panose="020B0604020202020204" pitchFamily="34" charset="0"/>
              </a:rPr>
              <a:t>hiện</a:t>
            </a:r>
            <a:r>
              <a:rPr kumimoji="1" lang="en-US" altLang="en-US" sz="2000" b="1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b="1" i="0" dirty="0" err="1">
                <a:latin typeface="Arial" panose="020B0604020202020204" pitchFamily="34" charset="0"/>
              </a:rPr>
              <a:t>giá</a:t>
            </a:r>
            <a:r>
              <a:rPr kumimoji="1" lang="en-US" altLang="en-US" sz="2000" b="1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b="1" i="0" dirty="0" err="1">
                <a:latin typeface="Arial" panose="020B0604020202020204" pitchFamily="34" charset="0"/>
              </a:rPr>
              <a:t>trị</a:t>
            </a:r>
            <a:r>
              <a:rPr kumimoji="1" lang="en-US" altLang="en-US" sz="2000" b="1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b="1" i="0" dirty="0" err="1">
                <a:latin typeface="Arial" panose="020B0604020202020204" pitchFamily="34" charset="0"/>
              </a:rPr>
              <a:t>theo</a:t>
            </a:r>
            <a:r>
              <a:rPr kumimoji="1" lang="en-US" altLang="en-US" sz="2000" b="1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b="1" i="0" dirty="0" err="1">
                <a:latin typeface="Arial" panose="020B0604020202020204" pitchFamily="34" charset="0"/>
              </a:rPr>
              <a:t>thời</a:t>
            </a:r>
            <a:r>
              <a:rPr kumimoji="1" lang="en-US" altLang="en-US" sz="2000" b="1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b="1" i="0" dirty="0" err="1">
                <a:latin typeface="Arial" panose="020B0604020202020204" pitchFamily="34" charset="0"/>
              </a:rPr>
              <a:t>gian</a:t>
            </a:r>
            <a:r>
              <a:rPr kumimoji="1" lang="en-US" altLang="en-US" sz="2000" b="1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b="1" i="0" dirty="0" err="1">
                <a:latin typeface="Arial" panose="020B0604020202020204" pitchFamily="34" charset="0"/>
              </a:rPr>
              <a:t>của</a:t>
            </a:r>
            <a:r>
              <a:rPr kumimoji="1" lang="en-US" altLang="en-US" sz="2000" b="1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b="1" i="0" dirty="0" err="1">
                <a:latin typeface="Arial" panose="020B0604020202020204" pitchFamily="34" charset="0"/>
              </a:rPr>
              <a:t>tiền</a:t>
            </a:r>
            <a:r>
              <a:rPr kumimoji="1" lang="en-US" altLang="en-US" sz="2000" b="1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b="1" i="0" dirty="0" err="1">
                <a:latin typeface="Arial" panose="020B0604020202020204" pitchFamily="34" charset="0"/>
              </a:rPr>
              <a:t>tệ</a:t>
            </a:r>
            <a:endParaRPr kumimoji="1" lang="en-US" altLang="en-US" sz="2000" b="1" i="0" dirty="0">
              <a:latin typeface="Arial" panose="020B0604020202020204" pitchFamily="34" charset="0"/>
            </a:endParaRP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000" i="0" dirty="0" err="1">
                <a:highlight>
                  <a:srgbClr val="FFFF00"/>
                </a:highlight>
                <a:latin typeface="Arial" panose="020B0604020202020204" pitchFamily="34" charset="0"/>
              </a:rPr>
              <a:t>Lãi</a:t>
            </a:r>
            <a:r>
              <a:rPr kumimoji="1" lang="en-US" altLang="en-US" sz="2000" i="0" dirty="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highlight>
                  <a:srgbClr val="FFFF00"/>
                </a:highlight>
                <a:latin typeface="Arial" panose="020B0604020202020204" pitchFamily="34" charset="0"/>
              </a:rPr>
              <a:t>tức</a:t>
            </a:r>
            <a:r>
              <a:rPr kumimoji="1" lang="en-US" altLang="en-US" sz="2000" i="0" dirty="0">
                <a:highlight>
                  <a:srgbClr val="FFFF00"/>
                </a:highlight>
                <a:latin typeface="Arial" panose="020B0604020202020204" pitchFamily="34" charset="0"/>
              </a:rPr>
              <a:t> = (</a:t>
            </a:r>
            <a:r>
              <a:rPr kumimoji="1" lang="en-US" altLang="en-US" sz="2000" i="0" dirty="0" err="1">
                <a:highlight>
                  <a:srgbClr val="FFFF00"/>
                </a:highlight>
                <a:latin typeface="Arial" panose="020B0604020202020204" pitchFamily="34" charset="0"/>
              </a:rPr>
              <a:t>Tổng</a:t>
            </a:r>
            <a:r>
              <a:rPr kumimoji="1" lang="en-US" altLang="en-US" sz="2000" i="0" dirty="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highlight>
                  <a:srgbClr val="FFFF00"/>
                </a:highlight>
                <a:latin typeface="Arial" panose="020B0604020202020204" pitchFamily="34" charset="0"/>
              </a:rPr>
              <a:t>vốn</a:t>
            </a:r>
            <a:r>
              <a:rPr kumimoji="1" lang="en-US" altLang="en-US" sz="2000" i="0" dirty="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highlight>
                  <a:srgbClr val="FFFF00"/>
                </a:highlight>
                <a:latin typeface="Arial" panose="020B0604020202020204" pitchFamily="34" charset="0"/>
              </a:rPr>
              <a:t>tích</a:t>
            </a:r>
            <a:r>
              <a:rPr kumimoji="1" lang="en-US" altLang="en-US" sz="2000" i="0" dirty="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highlight>
                  <a:srgbClr val="FFFF00"/>
                </a:highlight>
                <a:latin typeface="Arial" panose="020B0604020202020204" pitchFamily="34" charset="0"/>
              </a:rPr>
              <a:t>luỹ</a:t>
            </a:r>
            <a:r>
              <a:rPr kumimoji="1" lang="en-US" altLang="en-US" sz="2000" i="0" dirty="0">
                <a:highlight>
                  <a:srgbClr val="FFFF00"/>
                </a:highlight>
                <a:latin typeface="Arial" panose="020B0604020202020204" pitchFamily="34" charset="0"/>
              </a:rPr>
              <a:t>) – (</a:t>
            </a:r>
            <a:r>
              <a:rPr kumimoji="1" lang="en-US" altLang="en-US" sz="2000" i="0" dirty="0" err="1">
                <a:highlight>
                  <a:srgbClr val="FFFF00"/>
                </a:highlight>
                <a:latin typeface="Arial" panose="020B0604020202020204" pitchFamily="34" charset="0"/>
              </a:rPr>
              <a:t>Vốn</a:t>
            </a:r>
            <a:r>
              <a:rPr kumimoji="1" lang="en-US" altLang="en-US" sz="2000" i="0" dirty="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highlight>
                  <a:srgbClr val="FFFF00"/>
                </a:highlight>
                <a:latin typeface="Arial" panose="020B0604020202020204" pitchFamily="34" charset="0"/>
              </a:rPr>
              <a:t>đầu</a:t>
            </a:r>
            <a:r>
              <a:rPr kumimoji="1" lang="en-US" altLang="en-US" sz="2000" i="0" dirty="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highlight>
                  <a:srgbClr val="FFFF00"/>
                </a:highlight>
                <a:latin typeface="Arial" panose="020B0604020202020204" pitchFamily="34" charset="0"/>
              </a:rPr>
              <a:t>tư</a:t>
            </a:r>
            <a:r>
              <a:rPr kumimoji="1" lang="en-US" altLang="en-US" sz="2000" i="0" dirty="0">
                <a:highlight>
                  <a:srgbClr val="FFFF00"/>
                </a:highlight>
                <a:latin typeface="Arial" panose="020B0604020202020204" pitchFamily="34" charset="0"/>
              </a:rPr>
              <a:t> ban </a:t>
            </a:r>
            <a:r>
              <a:rPr kumimoji="1" lang="en-US" altLang="en-US" sz="2000" i="0" dirty="0" err="1">
                <a:highlight>
                  <a:srgbClr val="FFFF00"/>
                </a:highlight>
                <a:latin typeface="Arial" panose="020B0604020202020204" pitchFamily="34" charset="0"/>
              </a:rPr>
              <a:t>đầu</a:t>
            </a:r>
            <a:r>
              <a:rPr kumimoji="1" lang="en-US" altLang="en-US" sz="2000" i="0" dirty="0">
                <a:highlight>
                  <a:srgbClr val="FFFF00"/>
                </a:highlight>
                <a:latin typeface="Arial" panose="020B0604020202020204" pitchFamily="34" charset="0"/>
              </a:rPr>
              <a:t>)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000" i="0" dirty="0" err="1">
                <a:latin typeface="Arial" panose="020B0604020202020204" pitchFamily="34" charset="0"/>
              </a:rPr>
              <a:t>Lãi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suất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là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lãi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tức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biểu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thị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theo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tỷ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lệ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phần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trăm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đối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với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số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vốn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ban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đầu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cho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một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đơn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vị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thời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gian</a:t>
            </a:r>
            <a:r>
              <a:rPr kumimoji="1" lang="en-US" altLang="en-US" sz="2000" i="0" dirty="0">
                <a:latin typeface="Arial" panose="020B0604020202020204" pitchFamily="34" charset="0"/>
              </a:rPr>
              <a:t>: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</a:pPr>
            <a:r>
              <a:rPr kumimoji="1" lang="en-US" altLang="en-US" sz="2000" i="0" dirty="0">
                <a:latin typeface="Arial" panose="020B0604020202020204" pitchFamily="34" charset="0"/>
              </a:rPr>
              <a:t>    </a:t>
            </a:r>
            <a:r>
              <a:rPr kumimoji="1" lang="en-US" altLang="en-US" sz="2000" dirty="0" err="1">
                <a:highlight>
                  <a:srgbClr val="FFFF00"/>
                </a:highlight>
                <a:latin typeface="Arial" panose="020B0604020202020204" pitchFamily="34" charset="0"/>
              </a:rPr>
              <a:t>Lãi</a:t>
            </a:r>
            <a:r>
              <a:rPr kumimoji="1" lang="en-US" altLang="en-US" sz="2000" dirty="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1" lang="en-US" altLang="en-US" sz="2000" dirty="0" err="1">
                <a:highlight>
                  <a:srgbClr val="FFFF00"/>
                </a:highlight>
                <a:latin typeface="Arial" panose="020B0604020202020204" pitchFamily="34" charset="0"/>
              </a:rPr>
              <a:t>suất</a:t>
            </a:r>
            <a:r>
              <a:rPr kumimoji="1" lang="en-US" altLang="en-US" sz="2000" dirty="0">
                <a:highlight>
                  <a:srgbClr val="FFFF00"/>
                </a:highlight>
                <a:latin typeface="Arial" panose="020B0604020202020204" pitchFamily="34" charset="0"/>
              </a:rPr>
              <a:t> = (</a:t>
            </a:r>
            <a:r>
              <a:rPr kumimoji="1" lang="en-US" altLang="en-US" sz="2000" dirty="0" err="1">
                <a:highlight>
                  <a:srgbClr val="FFFF00"/>
                </a:highlight>
                <a:latin typeface="Arial" panose="020B0604020202020204" pitchFamily="34" charset="0"/>
              </a:rPr>
              <a:t>Lãi</a:t>
            </a:r>
            <a:r>
              <a:rPr kumimoji="1" lang="en-US" altLang="en-US" sz="2000" dirty="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1" lang="en-US" altLang="en-US" sz="2000" dirty="0" err="1">
                <a:highlight>
                  <a:srgbClr val="FFFF00"/>
                </a:highlight>
                <a:latin typeface="Arial" panose="020B0604020202020204" pitchFamily="34" charset="0"/>
              </a:rPr>
              <a:t>tức</a:t>
            </a:r>
            <a:r>
              <a:rPr kumimoji="1" lang="en-US" altLang="en-US" sz="2000" dirty="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1" lang="en-US" altLang="en-US" sz="2000" dirty="0" err="1">
                <a:highlight>
                  <a:srgbClr val="FFFF00"/>
                </a:highlight>
                <a:latin typeface="Arial" panose="020B0604020202020204" pitchFamily="34" charset="0"/>
              </a:rPr>
              <a:t>trong</a:t>
            </a:r>
            <a:r>
              <a:rPr kumimoji="1" lang="en-US" altLang="en-US" sz="2000" dirty="0">
                <a:highlight>
                  <a:srgbClr val="FFFF00"/>
                </a:highlight>
                <a:latin typeface="Arial" panose="020B0604020202020204" pitchFamily="34" charset="0"/>
              </a:rPr>
              <a:t> 1đơn </a:t>
            </a:r>
            <a:r>
              <a:rPr kumimoji="1" lang="en-US" altLang="en-US" sz="2000" dirty="0" err="1">
                <a:highlight>
                  <a:srgbClr val="FFFF00"/>
                </a:highlight>
                <a:latin typeface="Arial" panose="020B0604020202020204" pitchFamily="34" charset="0"/>
              </a:rPr>
              <a:t>vị</a:t>
            </a:r>
            <a:r>
              <a:rPr kumimoji="1" lang="en-US" altLang="en-US" sz="2000" dirty="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1" lang="en-US" altLang="en-US" sz="2000" dirty="0" err="1">
                <a:highlight>
                  <a:srgbClr val="FFFF00"/>
                </a:highlight>
                <a:latin typeface="Arial" panose="020B0604020202020204" pitchFamily="34" charset="0"/>
              </a:rPr>
              <a:t>thời</a:t>
            </a:r>
            <a:r>
              <a:rPr kumimoji="1" lang="en-US" altLang="en-US" sz="2000" dirty="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1" lang="en-US" altLang="en-US" sz="2000" dirty="0" err="1">
                <a:highlight>
                  <a:srgbClr val="FFFF00"/>
                </a:highlight>
                <a:latin typeface="Arial" panose="020B0604020202020204" pitchFamily="34" charset="0"/>
              </a:rPr>
              <a:t>gian</a:t>
            </a:r>
            <a:r>
              <a:rPr kumimoji="1" lang="en-US" altLang="en-US" sz="2000" dirty="0">
                <a:highlight>
                  <a:srgbClr val="FFFF00"/>
                </a:highlight>
                <a:latin typeface="Arial" panose="020B0604020202020204" pitchFamily="34" charset="0"/>
              </a:rPr>
              <a:t>) / (</a:t>
            </a:r>
            <a:r>
              <a:rPr kumimoji="1" lang="en-US" altLang="en-US" sz="2000" dirty="0" err="1">
                <a:highlight>
                  <a:srgbClr val="FFFF00"/>
                </a:highlight>
                <a:latin typeface="Arial" panose="020B0604020202020204" pitchFamily="34" charset="0"/>
              </a:rPr>
              <a:t>vốn</a:t>
            </a:r>
            <a:r>
              <a:rPr kumimoji="1" lang="en-US" altLang="en-US" sz="2000" dirty="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1" lang="en-US" altLang="en-US" sz="2000" dirty="0" err="1">
                <a:highlight>
                  <a:srgbClr val="FFFF00"/>
                </a:highlight>
                <a:latin typeface="Arial" panose="020B0604020202020204" pitchFamily="34" charset="0"/>
              </a:rPr>
              <a:t>gốc</a:t>
            </a:r>
            <a:r>
              <a:rPr kumimoji="1" lang="en-US" altLang="en-US" sz="2000" dirty="0">
                <a:highlight>
                  <a:srgbClr val="FFFF00"/>
                </a:highlight>
                <a:latin typeface="Arial" panose="020B0604020202020204" pitchFamily="34" charset="0"/>
              </a:rPr>
              <a:t>).100%</a:t>
            </a:r>
            <a:endParaRPr kumimoji="1" lang="en-US" altLang="en-US" sz="2000" i="0" dirty="0"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en-US" altLang="en-US" sz="20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Sự</a:t>
            </a:r>
            <a:r>
              <a:rPr kumimoji="1" lang="en-US" altLang="en-US" sz="20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tương</a:t>
            </a:r>
            <a:r>
              <a:rPr kumimoji="1" lang="en-US" altLang="en-US" sz="20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đương</a:t>
            </a:r>
            <a:endParaRPr kumimoji="1" lang="en-US" altLang="en-US" sz="2000" b="1" i="0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Những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số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tiền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khác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nhau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ở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những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thời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điểm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khác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nhau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có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thể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bằng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nhau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về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giá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trị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kinh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solidFill>
                  <a:srgbClr val="FF0000"/>
                </a:solidFill>
                <a:latin typeface="Arial" panose="020B0604020202020204" pitchFamily="34" charset="0"/>
              </a:rPr>
              <a:t>tế</a:t>
            </a:r>
            <a:r>
              <a:rPr kumimoji="1" lang="en-US" altLang="en-US" sz="2000" i="0" dirty="0">
                <a:solidFill>
                  <a:srgbClr val="FF0000"/>
                </a:solidFill>
                <a:latin typeface="Arial" panose="020B0604020202020204" pitchFamily="34" charset="0"/>
              </a:rPr>
              <a:t>.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000" i="0" dirty="0" err="1">
                <a:latin typeface="Arial" panose="020B0604020202020204" pitchFamily="34" charset="0"/>
              </a:rPr>
              <a:t>Lãi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suất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10%/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năm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thì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1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triệu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</a:rPr>
              <a:t>hôm</a:t>
            </a:r>
            <a:r>
              <a:rPr kumimoji="1" lang="en-US" altLang="en-US" sz="2000" i="0" dirty="0">
                <a:latin typeface="Arial" panose="020B0604020202020204" pitchFamily="34" charset="0"/>
              </a:rPr>
              <a:t> nay </a:t>
            </a:r>
            <a:r>
              <a:rPr kumimoji="1" lang="en-US" altLang="en-US" sz="2000" i="0" dirty="0">
                <a:latin typeface="Arial" panose="020B0604020202020204" pitchFamily="34" charset="0"/>
                <a:sym typeface="Wingdings" panose="05000000000000000000" pitchFamily="2" charset="2"/>
              </a:rPr>
              <a:t> 1,10 </a:t>
            </a:r>
            <a:r>
              <a:rPr kumimoji="1" lang="en-US" altLang="en-US" sz="2000" i="0" dirty="0" err="1">
                <a:latin typeface="Arial" panose="020B0604020202020204" pitchFamily="34" charset="0"/>
                <a:sym typeface="Wingdings" panose="05000000000000000000" pitchFamily="2" charset="2"/>
              </a:rPr>
              <a:t>triệu</a:t>
            </a:r>
            <a:r>
              <a:rPr kumimoji="1" lang="en-US" altLang="en-US" sz="2000" i="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kumimoji="1" lang="en-US" altLang="en-US" sz="2000" i="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en-US" sz="2000" i="0" dirty="0" err="1">
                <a:latin typeface="Arial" panose="020B0604020202020204" pitchFamily="34" charset="0"/>
                <a:sym typeface="Wingdings" panose="05000000000000000000" pitchFamily="2" charset="2"/>
              </a:rPr>
              <a:t>sau</a:t>
            </a:r>
            <a:endParaRPr kumimoji="1" lang="en-US" altLang="en-US" sz="2000" i="0" dirty="0">
              <a:latin typeface="Arial" panose="020B0604020202020204" pitchFamily="34" charset="0"/>
            </a:endParaRPr>
          </a:p>
        </p:txBody>
      </p:sp>
      <p:graphicFrame>
        <p:nvGraphicFramePr>
          <p:cNvPr id="17437" name="Object 29">
            <a:extLst>
              <a:ext uri="{FF2B5EF4-FFF2-40B4-BE49-F238E27FC236}">
                <a16:creationId xmlns:a16="http://schemas.microsoft.com/office/drawing/2014/main" id="{14540F35-37B4-5D35-578C-E995EE1641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4724400"/>
          <a:ext cx="12954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6866667" imgH="2924583" progId="Paint.Picture">
                  <p:embed/>
                </p:oleObj>
              </mc:Choice>
              <mc:Fallback>
                <p:oleObj name="Bitmap Image" r:id="rId3" imgW="6866667" imgH="2924583" progId="Paint.Picture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724400"/>
                        <a:ext cx="1295400" cy="5143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8" name="Line 30">
            <a:extLst>
              <a:ext uri="{FF2B5EF4-FFF2-40B4-BE49-F238E27FC236}">
                <a16:creationId xmlns:a16="http://schemas.microsoft.com/office/drawing/2014/main" id="{94B1B031-CFDB-EBF5-02B1-EF4210FE5C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5432425"/>
            <a:ext cx="1588" cy="349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9" name="Line 31">
            <a:extLst>
              <a:ext uri="{FF2B5EF4-FFF2-40B4-BE49-F238E27FC236}">
                <a16:creationId xmlns:a16="http://schemas.microsoft.com/office/drawing/2014/main" id="{94B122CB-7433-90DF-BD01-A78FC300B1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5411788"/>
            <a:ext cx="1588" cy="34925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0" name="Freeform 32">
            <a:extLst>
              <a:ext uri="{FF2B5EF4-FFF2-40B4-BE49-F238E27FC236}">
                <a16:creationId xmlns:a16="http://schemas.microsoft.com/office/drawing/2014/main" id="{5C9736F3-62E1-92A8-3EFF-EC566D87AEAF}"/>
              </a:ext>
            </a:extLst>
          </p:cNvPr>
          <p:cNvSpPr>
            <a:spLocks/>
          </p:cNvSpPr>
          <p:nvPr/>
        </p:nvSpPr>
        <p:spPr bwMode="auto">
          <a:xfrm>
            <a:off x="3271838" y="5105400"/>
            <a:ext cx="4343400" cy="330200"/>
          </a:xfrm>
          <a:custGeom>
            <a:avLst/>
            <a:gdLst>
              <a:gd name="T0" fmla="*/ 2147483647 w 3072"/>
              <a:gd name="T1" fmla="*/ 200426530 h 544"/>
              <a:gd name="T2" fmla="*/ 2147483647 w 3072"/>
              <a:gd name="T3" fmla="*/ 23579557 h 544"/>
              <a:gd name="T4" fmla="*/ 1631201384 w 3072"/>
              <a:gd name="T5" fmla="*/ 58949190 h 544"/>
              <a:gd name="T6" fmla="*/ 0 w 3072"/>
              <a:gd name="T7" fmla="*/ 200426530 h 544"/>
              <a:gd name="T8" fmla="*/ 0 60000 65536"/>
              <a:gd name="T9" fmla="*/ 0 60000 65536"/>
              <a:gd name="T10" fmla="*/ 0 60000 65536"/>
              <a:gd name="T11" fmla="*/ 0 60000 65536"/>
              <a:gd name="T12" fmla="*/ 0 w 3072"/>
              <a:gd name="T13" fmla="*/ 0 h 544"/>
              <a:gd name="T14" fmla="*/ 3072 w 3072"/>
              <a:gd name="T15" fmla="*/ 544 h 5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72" h="544">
                <a:moveTo>
                  <a:pt x="3072" y="544"/>
                </a:moveTo>
                <a:cubicBezTo>
                  <a:pt x="2684" y="336"/>
                  <a:pt x="2296" y="128"/>
                  <a:pt x="1920" y="64"/>
                </a:cubicBezTo>
                <a:cubicBezTo>
                  <a:pt x="1544" y="0"/>
                  <a:pt x="1136" y="80"/>
                  <a:pt x="816" y="160"/>
                </a:cubicBezTo>
                <a:cubicBezTo>
                  <a:pt x="496" y="240"/>
                  <a:pt x="248" y="392"/>
                  <a:pt x="0" y="544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round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1" name="Text Box 33">
            <a:extLst>
              <a:ext uri="{FF2B5EF4-FFF2-40B4-BE49-F238E27FC236}">
                <a16:creationId xmlns:a16="http://schemas.microsoft.com/office/drawing/2014/main" id="{3E9C9253-5799-4ABE-4141-959816EEF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637213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i="0">
                <a:solidFill>
                  <a:schemeClr val="folHlink"/>
                </a:solidFill>
                <a:latin typeface="Arial" panose="020B0604020202020204" pitchFamily="34" charset="0"/>
              </a:rPr>
              <a:t>$1.10</a:t>
            </a:r>
          </a:p>
        </p:txBody>
      </p:sp>
      <p:sp>
        <p:nvSpPr>
          <p:cNvPr id="17442" name="Text Box 34">
            <a:extLst>
              <a:ext uri="{FF2B5EF4-FFF2-40B4-BE49-F238E27FC236}">
                <a16:creationId xmlns:a16="http://schemas.microsoft.com/office/drawing/2014/main" id="{8F3454F1-8936-79E1-B9A8-3A379AB63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730875"/>
            <a:ext cx="838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i="0">
                <a:solidFill>
                  <a:schemeClr val="folHlink"/>
                </a:solidFill>
                <a:latin typeface="Arial" panose="020B0604020202020204" pitchFamily="34" charset="0"/>
              </a:rPr>
              <a:t>$ 1.00	</a:t>
            </a:r>
          </a:p>
        </p:txBody>
      </p:sp>
      <p:grpSp>
        <p:nvGrpSpPr>
          <p:cNvPr id="1036" name="Group 37">
            <a:extLst>
              <a:ext uri="{FF2B5EF4-FFF2-40B4-BE49-F238E27FC236}">
                <a16:creationId xmlns:a16="http://schemas.microsoft.com/office/drawing/2014/main" id="{6BBB3580-FA64-5564-1530-C65CCB9EF624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5784850"/>
            <a:ext cx="4495800" cy="58738"/>
            <a:chOff x="1392" y="1488"/>
            <a:chExt cx="2832" cy="96"/>
          </a:xfrm>
        </p:grpSpPr>
        <p:sp>
          <p:nvSpPr>
            <p:cNvPr id="1040" name="Line 38">
              <a:extLst>
                <a:ext uri="{FF2B5EF4-FFF2-40B4-BE49-F238E27FC236}">
                  <a16:creationId xmlns:a16="http://schemas.microsoft.com/office/drawing/2014/main" id="{058775AF-4F40-E382-8CAA-D388DE2CAF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536"/>
              <a:ext cx="28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Line 39">
              <a:extLst>
                <a:ext uri="{FF2B5EF4-FFF2-40B4-BE49-F238E27FC236}">
                  <a16:creationId xmlns:a16="http://schemas.microsoft.com/office/drawing/2014/main" id="{70779EA7-B211-4ABE-BF78-BA9ABE0C1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48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Line 40">
              <a:extLst>
                <a:ext uri="{FF2B5EF4-FFF2-40B4-BE49-F238E27FC236}">
                  <a16:creationId xmlns:a16="http://schemas.microsoft.com/office/drawing/2014/main" id="{2475E4C8-A8CB-8257-6DD1-9523E816F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48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37" name="Text Box 41">
            <a:extLst>
              <a:ext uri="{FF2B5EF4-FFF2-40B4-BE49-F238E27FC236}">
                <a16:creationId xmlns:a16="http://schemas.microsoft.com/office/drawing/2014/main" id="{218BC182-81B7-4CDB-653B-ABDB654E7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872163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i="0">
                <a:solidFill>
                  <a:schemeClr val="folHlink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038" name="Text Box 42">
            <a:extLst>
              <a:ext uri="{FF2B5EF4-FFF2-40B4-BE49-F238E27FC236}">
                <a16:creationId xmlns:a16="http://schemas.microsoft.com/office/drawing/2014/main" id="{E5DD4180-2BDC-57BE-107C-F85DBFDA7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58435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i="0">
                <a:solidFill>
                  <a:schemeClr val="folHlink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039" name="Text Box 43">
            <a:extLst>
              <a:ext uri="{FF2B5EF4-FFF2-40B4-BE49-F238E27FC236}">
                <a16:creationId xmlns:a16="http://schemas.microsoft.com/office/drawing/2014/main" id="{1696907E-947E-4872-345A-B3933C557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367338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dirty="0" err="1">
                <a:solidFill>
                  <a:schemeClr val="folHlink"/>
                </a:solidFill>
                <a:latin typeface="Arial" panose="020B0604020202020204" pitchFamily="34" charset="0"/>
              </a:rPr>
              <a:t>i</a:t>
            </a:r>
            <a:r>
              <a:rPr lang="en-US" altLang="en-US" sz="1800" dirty="0">
                <a:solidFill>
                  <a:schemeClr val="folHlink"/>
                </a:solidFill>
                <a:latin typeface="Arial" panose="020B0604020202020204" pitchFamily="34" charset="0"/>
              </a:rPr>
              <a:t> = 10%</a:t>
            </a:r>
          </a:p>
        </p:txBody>
      </p:sp>
      <p:graphicFrame>
        <p:nvGraphicFramePr>
          <p:cNvPr id="17452" name="Object 44">
            <a:extLst>
              <a:ext uri="{FF2B5EF4-FFF2-40B4-BE49-F238E27FC236}">
                <a16:creationId xmlns:a16="http://schemas.microsoft.com/office/drawing/2014/main" id="{BFC47A0C-F941-441E-C35C-AE233CC89B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4727575"/>
          <a:ext cx="12192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6866667" imgH="2924583" progId="Paint.Picture">
                  <p:embed/>
                </p:oleObj>
              </mc:Choice>
              <mc:Fallback>
                <p:oleObj name="Bitmap Image" r:id="rId3" imgW="6866667" imgH="2924583" progId="Paint.Picture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4727575"/>
                        <a:ext cx="1219200" cy="5302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3" name="Object 45">
            <a:extLst>
              <a:ext uri="{FF2B5EF4-FFF2-40B4-BE49-F238E27FC236}">
                <a16:creationId xmlns:a16="http://schemas.microsoft.com/office/drawing/2014/main" id="{42B777EA-BBB6-06F1-BEFD-5BCA1D089F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5181600"/>
          <a:ext cx="228600" cy="8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1457143" imgH="1448002" progId="Paint.Picture">
                  <p:embed/>
                </p:oleObj>
              </mc:Choice>
              <mc:Fallback>
                <p:oleObj name="Bitmap Image" r:id="rId5" imgW="1457143" imgH="1448002" progId="Paint.Picture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5181600"/>
                        <a:ext cx="228600" cy="873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800" decel="100000"/>
                                        <p:tgtEl>
                                          <p:spTgt spid="174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174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17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17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1" grpId="0"/>
      <p:bldP spid="174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4">
            <a:extLst>
              <a:ext uri="{FF2B5EF4-FFF2-40B4-BE49-F238E27FC236}">
                <a16:creationId xmlns:a16="http://schemas.microsoft.com/office/drawing/2014/main" id="{24C15BDF-558B-5472-C5DD-FD621CC01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406650" y="3241675"/>
            <a:ext cx="169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endParaRPr lang="en-GB" altLang="en-US" sz="2400" i="0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D2F94CD-2BD8-F438-60BC-E65401F66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524000"/>
            <a:ext cx="8001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en-US" altLang="en-US" sz="2000" b="1" i="0">
                <a:solidFill>
                  <a:schemeClr val="folHlink"/>
                </a:solidFill>
                <a:latin typeface="Arial" panose="020B0604020202020204" pitchFamily="34" charset="0"/>
              </a:rPr>
              <a:t>Lãi tức đơn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000" i="0">
                <a:latin typeface="Arial" panose="020B0604020202020204" pitchFamily="34" charset="0"/>
              </a:rPr>
              <a:t>Lãi tức chỉ tính theo số vốn gốc mà không tính thêm lãi tức tích luỹ phát sinh từ tiền lãi ở các thời đoạn trước đó.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000" b="1" i="0">
                <a:latin typeface="Arial" panose="020B0604020202020204" pitchFamily="34" charset="0"/>
              </a:rPr>
              <a:t>I = P.S.N </a:t>
            </a:r>
            <a:r>
              <a:rPr kumimoji="1" lang="en-US" altLang="en-US" sz="2000" i="0">
                <a:latin typeface="Arial" panose="020B0604020202020204" pitchFamily="34" charset="0"/>
              </a:rPr>
              <a:t>(P: số vốn cho vay, S: lãi suất đơn, N: số thời đoạn)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000" b="1">
                <a:latin typeface="Arial" panose="020B0604020202020204" pitchFamily="34" charset="0"/>
              </a:rPr>
              <a:t>Ví dụ:</a:t>
            </a:r>
            <a:r>
              <a:rPr kumimoji="1" lang="en-US" altLang="en-US" sz="2000" i="0">
                <a:latin typeface="Arial" panose="020B0604020202020204" pitchFamily="34" charset="0"/>
              </a:rPr>
              <a:t> Một người mượn 100.000Đ với lãi suất đơn 4% một tháng và sẽ phải trả cả vốn lẫn lãi sau sáu tháng. Hỏi anh ta phải trả bao nhiêu tiền?               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en-US" altLang="en-US" sz="2000" b="1" i="0">
                <a:solidFill>
                  <a:schemeClr val="folHlink"/>
                </a:solidFill>
                <a:latin typeface="Arial" panose="020B0604020202020204" pitchFamily="34" charset="0"/>
              </a:rPr>
              <a:t>Lãi tức ghép: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000" i="0">
                <a:latin typeface="Arial" panose="020B0604020202020204" pitchFamily="34" charset="0"/>
              </a:rPr>
              <a:t>Lãi tức ở mỗi thời đoạn được tính theo số vốn gốc và cả tổng số tiền lãi tích luỹ được trong các thời đoạn trước đó. 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000" i="0">
                <a:latin typeface="Arial" panose="020B0604020202020204" pitchFamily="34" charset="0"/>
              </a:rPr>
              <a:t>Phản ánh được hiệu quả giá trị theo thời gian của đồng tiền cho cả phần tiền lãi trước đó.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000" i="0">
                <a:latin typeface="Arial" panose="020B0604020202020204" pitchFamily="34" charset="0"/>
              </a:rPr>
              <a:t>Được sử dụng trong thực tế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000" b="1">
                <a:latin typeface="Arial" panose="020B0604020202020204" pitchFamily="34" charset="0"/>
              </a:rPr>
              <a:t>Ví dụ:</a:t>
            </a:r>
            <a:r>
              <a:rPr kumimoji="1" lang="en-US" altLang="en-US" sz="2000" i="0">
                <a:latin typeface="Arial" panose="020B0604020202020204" pitchFamily="34" charset="0"/>
              </a:rPr>
              <a:t> Trả lời câu hỏi của VD trên, nếu sử dụng lãi suất ghép?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000" b="1">
                <a:latin typeface="Arial" panose="020B0604020202020204" pitchFamily="34" charset="0"/>
              </a:rPr>
              <a:t>Với lãi suất ghép i%, số thời đoạn là N, tổng vốn lẫn lãi sau N thời đoạn là: P(1 + i)</a:t>
            </a:r>
            <a:r>
              <a:rPr kumimoji="1" lang="en-US" altLang="en-US" sz="2000" b="1" baseline="3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A334AD8C-A519-89CF-C165-FCCEEF92E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810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3600" b="1" i="0">
                <a:solidFill>
                  <a:srgbClr val="008000"/>
                </a:solidFill>
                <a:latin typeface="Arial" panose="020B0604020202020204" pitchFamily="34" charset="0"/>
              </a:rPr>
              <a:t>TÍNH TOÁN LÃI TỨC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FC9E32C-5993-BC89-1F36-53065499181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381000"/>
            <a:ext cx="8153400" cy="838200"/>
          </a:xfrm>
        </p:spPr>
        <p:txBody>
          <a:bodyPr/>
          <a:lstStyle/>
          <a:p>
            <a:pPr algn="r"/>
            <a:r>
              <a:rPr lang="en-US" altLang="en-US" b="1">
                <a:solidFill>
                  <a:srgbClr val="008000"/>
                </a:solidFill>
                <a:latin typeface="Arial" panose="020B0604020202020204" pitchFamily="34" charset="0"/>
              </a:rPr>
              <a:t>BIỂU ĐỒ DÒNG TIỀN TỆ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EA54775-E66E-5371-FBA7-C4328C65B5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95400" y="1371600"/>
            <a:ext cx="7848600" cy="533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err="1"/>
              <a:t>Dòng</a:t>
            </a:r>
            <a:r>
              <a:rPr lang="en-US" altLang="en-US" dirty="0"/>
              <a:t> </a:t>
            </a:r>
            <a:r>
              <a:rPr lang="en-US" altLang="en-US" dirty="0" err="1"/>
              <a:t>tiền</a:t>
            </a:r>
            <a:r>
              <a:rPr lang="en-US" altLang="en-US" dirty="0"/>
              <a:t> </a:t>
            </a:r>
            <a:r>
              <a:rPr lang="en-US" altLang="en-US" dirty="0" err="1"/>
              <a:t>tệ</a:t>
            </a:r>
            <a:r>
              <a:rPr lang="en-US" altLang="en-US" dirty="0"/>
              <a:t> (Cash Flow - CF):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CF bao </a:t>
            </a:r>
            <a:r>
              <a:rPr lang="en-US" altLang="en-US" dirty="0" err="1"/>
              <a:t>gồm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khoản</a:t>
            </a:r>
            <a:r>
              <a:rPr lang="en-US" altLang="en-US" dirty="0"/>
              <a:t> </a:t>
            </a:r>
            <a:r>
              <a:rPr lang="en-US" altLang="en-US" dirty="0" err="1"/>
              <a:t>thu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khoản</a:t>
            </a:r>
            <a:r>
              <a:rPr lang="en-US" altLang="en-US" dirty="0"/>
              <a:t> chi,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quy</a:t>
            </a:r>
            <a:r>
              <a:rPr lang="en-US" altLang="en-US" dirty="0"/>
              <a:t> </a:t>
            </a:r>
            <a:r>
              <a:rPr lang="en-US" altLang="en-US" dirty="0" err="1"/>
              <a:t>về</a:t>
            </a:r>
            <a:r>
              <a:rPr lang="en-US" altLang="en-US" dirty="0"/>
              <a:t> </a:t>
            </a:r>
            <a:r>
              <a:rPr lang="en-US" altLang="en-US" dirty="0" err="1"/>
              <a:t>cuối</a:t>
            </a:r>
            <a:r>
              <a:rPr lang="en-US" altLang="en-US" dirty="0"/>
              <a:t> </a:t>
            </a:r>
            <a:r>
              <a:rPr lang="en-US" altLang="en-US" dirty="0" err="1"/>
              <a:t>thời</a:t>
            </a:r>
            <a:r>
              <a:rPr lang="en-US" altLang="en-US" dirty="0"/>
              <a:t> </a:t>
            </a:r>
            <a:r>
              <a:rPr lang="en-US" altLang="en-US" dirty="0" err="1"/>
              <a:t>đoạn</a:t>
            </a:r>
            <a:r>
              <a:rPr lang="en-US" altLang="en-US" dirty="0"/>
              <a:t>. Trong </a:t>
            </a:r>
            <a:r>
              <a:rPr lang="en-US" altLang="en-US" dirty="0" err="1"/>
              <a:t>đó</a:t>
            </a:r>
            <a:r>
              <a:rPr lang="en-US" altLang="en-US" dirty="0"/>
              <a:t>, </a:t>
            </a:r>
            <a:r>
              <a:rPr lang="en-US" altLang="en-US" dirty="0" err="1"/>
              <a:t>khoản</a:t>
            </a:r>
            <a:r>
              <a:rPr lang="en-US" altLang="en-US" dirty="0"/>
              <a:t> </a:t>
            </a:r>
            <a:r>
              <a:rPr lang="en-US" altLang="en-US" dirty="0" err="1"/>
              <a:t>thu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quy</a:t>
            </a:r>
            <a:r>
              <a:rPr lang="en-US" altLang="en-US" dirty="0"/>
              <a:t> </a:t>
            </a:r>
            <a:r>
              <a:rPr lang="en-US" altLang="en-US" dirty="0" err="1"/>
              <a:t>ước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CF </a:t>
            </a:r>
            <a:r>
              <a:rPr lang="en-US" altLang="en-US" dirty="0" err="1"/>
              <a:t>dương</a:t>
            </a:r>
            <a:r>
              <a:rPr lang="en-US" altLang="en-US" dirty="0"/>
              <a:t>, </a:t>
            </a:r>
            <a:r>
              <a:rPr lang="en-US" altLang="en-US" dirty="0" err="1"/>
              <a:t>khoản</a:t>
            </a:r>
            <a:r>
              <a:rPr lang="en-US" altLang="en-US" dirty="0"/>
              <a:t> chi </a:t>
            </a:r>
            <a:r>
              <a:rPr lang="en-US" altLang="en-US" dirty="0" err="1"/>
              <a:t>là</a:t>
            </a:r>
            <a:r>
              <a:rPr lang="en-US" altLang="en-US" dirty="0"/>
              <a:t> CF </a:t>
            </a:r>
            <a:r>
              <a:rPr lang="en-US" altLang="en-US" dirty="0" err="1"/>
              <a:t>âm</a:t>
            </a:r>
            <a:r>
              <a:rPr lang="en-US" altLang="en-US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dirty="0" err="1"/>
              <a:t>Dòng</a:t>
            </a:r>
            <a:r>
              <a:rPr lang="en-US" altLang="en-US" dirty="0"/>
              <a:t> </a:t>
            </a:r>
            <a:r>
              <a:rPr lang="en-US" altLang="en-US" dirty="0" err="1"/>
              <a:t>tiền</a:t>
            </a:r>
            <a:r>
              <a:rPr lang="en-US" altLang="en-US" dirty="0"/>
              <a:t> </a:t>
            </a:r>
            <a:r>
              <a:rPr lang="en-US" altLang="en-US" dirty="0" err="1"/>
              <a:t>tệ</a:t>
            </a:r>
            <a:r>
              <a:rPr lang="en-US" altLang="en-US" dirty="0"/>
              <a:t> </a:t>
            </a:r>
            <a:r>
              <a:rPr lang="en-US" altLang="en-US" dirty="0" err="1"/>
              <a:t>ròng</a:t>
            </a:r>
            <a:r>
              <a:rPr lang="en-US" altLang="en-US" dirty="0"/>
              <a:t> = </a:t>
            </a:r>
            <a:r>
              <a:rPr lang="en-US" altLang="en-US" dirty="0" err="1"/>
              <a:t>Khoản</a:t>
            </a:r>
            <a:r>
              <a:rPr lang="en-US" altLang="en-US" dirty="0"/>
              <a:t> </a:t>
            </a:r>
            <a:r>
              <a:rPr lang="en-US" altLang="en-US" dirty="0" err="1"/>
              <a:t>thu</a:t>
            </a:r>
            <a:r>
              <a:rPr lang="en-US" altLang="en-US" dirty="0"/>
              <a:t> – </a:t>
            </a:r>
            <a:r>
              <a:rPr lang="en-US" altLang="en-US" dirty="0" err="1"/>
              <a:t>Khoản</a:t>
            </a:r>
            <a:r>
              <a:rPr lang="en-US" altLang="en-US" dirty="0"/>
              <a:t> chi </a:t>
            </a:r>
          </a:p>
          <a:p>
            <a:pPr lvl="1">
              <a:lnSpc>
                <a:spcPct val="90000"/>
              </a:lnSpc>
            </a:pP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đồ</a:t>
            </a:r>
            <a:r>
              <a:rPr lang="en-US" altLang="en-US" dirty="0"/>
              <a:t> </a:t>
            </a:r>
            <a:r>
              <a:rPr lang="en-US" altLang="en-US" dirty="0" err="1"/>
              <a:t>dòng</a:t>
            </a:r>
            <a:r>
              <a:rPr lang="en-US" altLang="en-US" dirty="0"/>
              <a:t> </a:t>
            </a:r>
            <a:r>
              <a:rPr lang="en-US" altLang="en-US" dirty="0" err="1"/>
              <a:t>tiền</a:t>
            </a:r>
            <a:r>
              <a:rPr lang="en-US" altLang="en-US" dirty="0"/>
              <a:t> </a:t>
            </a:r>
            <a:r>
              <a:rPr lang="en-US" altLang="en-US" dirty="0" err="1"/>
              <a:t>tệ</a:t>
            </a:r>
            <a:r>
              <a:rPr lang="en-US" altLang="en-US" dirty="0"/>
              <a:t> (Cash Flow Diagrams - CFD):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đồ</a:t>
            </a:r>
            <a:r>
              <a:rPr lang="en-US" altLang="en-US" dirty="0"/>
              <a:t> </a:t>
            </a:r>
            <a:r>
              <a:rPr lang="en-US" altLang="en-US" dirty="0" err="1"/>
              <a:t>thị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diễn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CF </a:t>
            </a:r>
            <a:r>
              <a:rPr lang="en-US" altLang="en-US" dirty="0" err="1"/>
              <a:t>theo</a:t>
            </a:r>
            <a:r>
              <a:rPr lang="en-US" altLang="en-US" dirty="0"/>
              <a:t> </a:t>
            </a:r>
            <a:r>
              <a:rPr lang="en-US" altLang="en-US" dirty="0" err="1"/>
              <a:t>thời</a:t>
            </a:r>
            <a:r>
              <a:rPr lang="en-US" altLang="en-US" dirty="0"/>
              <a:t> </a:t>
            </a:r>
            <a:r>
              <a:rPr lang="en-US" altLang="en-US" dirty="0" err="1"/>
              <a:t>gian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Các </a:t>
            </a:r>
            <a:r>
              <a:rPr lang="en-US" altLang="en-US" dirty="0" err="1"/>
              <a:t>ký</a:t>
            </a:r>
            <a:r>
              <a:rPr lang="en-US" altLang="en-US" dirty="0"/>
              <a:t> </a:t>
            </a:r>
            <a:r>
              <a:rPr lang="en-US" altLang="en-US" dirty="0" err="1"/>
              <a:t>hiệu</a:t>
            </a:r>
            <a:r>
              <a:rPr lang="en-US" altLang="en-US" dirty="0"/>
              <a:t> </a:t>
            </a:r>
            <a:r>
              <a:rPr lang="en-US" altLang="en-US" dirty="0" err="1"/>
              <a:t>dùng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CFD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P: </a:t>
            </a:r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hay </a:t>
            </a:r>
            <a:r>
              <a:rPr lang="en-US" altLang="en-US" dirty="0" err="1"/>
              <a:t>tổng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tiền</a:t>
            </a:r>
            <a:r>
              <a:rPr lang="en-US" altLang="en-US" dirty="0"/>
              <a:t> ở </a:t>
            </a:r>
            <a:r>
              <a:rPr lang="en-US" altLang="en-US" dirty="0" err="1"/>
              <a:t>mốc</a:t>
            </a:r>
            <a:r>
              <a:rPr lang="en-US" altLang="en-US" dirty="0"/>
              <a:t> </a:t>
            </a:r>
            <a:r>
              <a:rPr lang="en-US" altLang="en-US" dirty="0" err="1"/>
              <a:t>thời</a:t>
            </a:r>
            <a:r>
              <a:rPr lang="en-US" altLang="en-US" dirty="0"/>
              <a:t> </a:t>
            </a:r>
            <a:r>
              <a:rPr lang="en-US" altLang="en-US" dirty="0" err="1"/>
              <a:t>gian</a:t>
            </a:r>
            <a:r>
              <a:rPr lang="en-US" altLang="en-US" dirty="0"/>
              <a:t> </a:t>
            </a:r>
            <a:r>
              <a:rPr lang="en-US" altLang="en-US" dirty="0" err="1"/>
              <a:t>quy</a:t>
            </a:r>
            <a:r>
              <a:rPr lang="en-US" altLang="en-US" dirty="0"/>
              <a:t> </a:t>
            </a:r>
            <a:r>
              <a:rPr lang="en-US" altLang="en-US" dirty="0" err="1"/>
              <a:t>ước</a:t>
            </a:r>
            <a:r>
              <a:rPr lang="en-US" altLang="en-US" dirty="0"/>
              <a:t> </a:t>
            </a:r>
            <a:r>
              <a:rPr lang="en-US" altLang="en-US" dirty="0" err="1"/>
              <a:t>nào</a:t>
            </a:r>
            <a:r>
              <a:rPr lang="en-US" altLang="en-US" dirty="0"/>
              <a:t> </a:t>
            </a:r>
            <a:r>
              <a:rPr lang="en-US" altLang="en-US" dirty="0" err="1"/>
              <a:t>đó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gọi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hiện</a:t>
            </a:r>
            <a:r>
              <a:rPr lang="en-US" altLang="en-US" dirty="0"/>
              <a:t> </a:t>
            </a:r>
            <a:r>
              <a:rPr lang="en-US" altLang="en-US" dirty="0" err="1"/>
              <a:t>tại</a:t>
            </a:r>
            <a:r>
              <a:rPr lang="en-US" altLang="en-US" dirty="0"/>
              <a:t>. </a:t>
            </a:r>
            <a:r>
              <a:rPr lang="en-US" altLang="en-US" dirty="0" err="1"/>
              <a:t>Trên</a:t>
            </a:r>
            <a:r>
              <a:rPr lang="en-US" altLang="en-US" dirty="0"/>
              <a:t> CFD, P ở </a:t>
            </a:r>
            <a:r>
              <a:rPr lang="en-US" altLang="en-US" dirty="0" err="1"/>
              <a:t>cuối</a:t>
            </a:r>
            <a:r>
              <a:rPr lang="en-US" altLang="en-US" dirty="0"/>
              <a:t> </a:t>
            </a:r>
            <a:r>
              <a:rPr lang="en-US" altLang="en-US" dirty="0" err="1"/>
              <a:t>thời</a:t>
            </a:r>
            <a:r>
              <a:rPr lang="en-US" altLang="en-US" dirty="0"/>
              <a:t> </a:t>
            </a:r>
            <a:r>
              <a:rPr lang="en-US" altLang="en-US" dirty="0" err="1"/>
              <a:t>đọan</a:t>
            </a:r>
            <a:r>
              <a:rPr lang="en-US" altLang="en-US" dirty="0"/>
              <a:t> 0.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F: </a:t>
            </a:r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hay </a:t>
            </a:r>
            <a:r>
              <a:rPr lang="en-US" altLang="en-US" dirty="0" err="1"/>
              <a:t>tổng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tiền</a:t>
            </a:r>
            <a:r>
              <a:rPr lang="en-US" altLang="en-US" dirty="0"/>
              <a:t> ở </a:t>
            </a:r>
            <a:r>
              <a:rPr lang="en-US" altLang="en-US" dirty="0" err="1"/>
              <a:t>mốc</a:t>
            </a:r>
            <a:r>
              <a:rPr lang="en-US" altLang="en-US" dirty="0"/>
              <a:t> </a:t>
            </a:r>
            <a:r>
              <a:rPr lang="en-US" altLang="en-US" dirty="0" err="1"/>
              <a:t>thời</a:t>
            </a:r>
            <a:r>
              <a:rPr lang="en-US" altLang="en-US" dirty="0"/>
              <a:t> </a:t>
            </a:r>
            <a:r>
              <a:rPr lang="en-US" altLang="en-US" dirty="0" err="1"/>
              <a:t>gian</a:t>
            </a:r>
            <a:r>
              <a:rPr lang="en-US" altLang="en-US" dirty="0"/>
              <a:t> </a:t>
            </a:r>
            <a:r>
              <a:rPr lang="en-US" altLang="en-US" dirty="0" err="1"/>
              <a:t>quy</a:t>
            </a:r>
            <a:r>
              <a:rPr lang="en-US" altLang="en-US" dirty="0"/>
              <a:t> </a:t>
            </a:r>
            <a:r>
              <a:rPr lang="en-US" altLang="en-US" dirty="0" err="1"/>
              <a:t>ước</a:t>
            </a:r>
            <a:r>
              <a:rPr lang="en-US" altLang="en-US" dirty="0"/>
              <a:t> </a:t>
            </a:r>
            <a:r>
              <a:rPr lang="en-US" altLang="en-US" dirty="0" err="1"/>
              <a:t>nào</a:t>
            </a:r>
            <a:r>
              <a:rPr lang="en-US" altLang="en-US" dirty="0"/>
              <a:t> </a:t>
            </a:r>
            <a:r>
              <a:rPr lang="en-US" altLang="en-US" dirty="0" err="1"/>
              <a:t>đó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gọi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tương</a:t>
            </a:r>
            <a:r>
              <a:rPr lang="en-US" altLang="en-US" dirty="0"/>
              <a:t> lai. </a:t>
            </a:r>
            <a:r>
              <a:rPr lang="en-US" altLang="en-US" dirty="0" err="1"/>
              <a:t>Trên</a:t>
            </a:r>
            <a:r>
              <a:rPr lang="en-US" altLang="en-US" dirty="0"/>
              <a:t> CFD, F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thể</a:t>
            </a:r>
            <a:r>
              <a:rPr lang="en-US" altLang="en-US" dirty="0"/>
              <a:t> ở </a:t>
            </a:r>
            <a:r>
              <a:rPr lang="en-US" altLang="en-US" dirty="0" err="1"/>
              <a:t>cuối</a:t>
            </a:r>
            <a:r>
              <a:rPr lang="en-US" altLang="en-US" dirty="0"/>
              <a:t> </a:t>
            </a:r>
            <a:r>
              <a:rPr lang="en-US" altLang="en-US" dirty="0" err="1"/>
              <a:t>bất</a:t>
            </a:r>
            <a:r>
              <a:rPr lang="en-US" altLang="en-US" dirty="0"/>
              <a:t> </a:t>
            </a:r>
            <a:r>
              <a:rPr lang="en-US" altLang="en-US" dirty="0" err="1"/>
              <a:t>kỳ</a:t>
            </a:r>
            <a:r>
              <a:rPr lang="en-US" altLang="en-US" dirty="0"/>
              <a:t> </a:t>
            </a:r>
            <a:r>
              <a:rPr lang="en-US" altLang="en-US" dirty="0" err="1"/>
              <a:t>thời</a:t>
            </a:r>
            <a:r>
              <a:rPr lang="en-US" altLang="en-US" dirty="0"/>
              <a:t> </a:t>
            </a:r>
            <a:r>
              <a:rPr lang="en-US" altLang="en-US" dirty="0" err="1"/>
              <a:t>đọan</a:t>
            </a:r>
            <a:r>
              <a:rPr lang="en-US" altLang="en-US" dirty="0"/>
              <a:t> </a:t>
            </a:r>
            <a:r>
              <a:rPr lang="en-US" altLang="en-US" dirty="0" err="1"/>
              <a:t>nào</a:t>
            </a:r>
            <a:r>
              <a:rPr lang="en-US" altLang="en-US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A: </a:t>
            </a:r>
            <a:r>
              <a:rPr lang="en-US" altLang="en-US" dirty="0" err="1">
                <a:solidFill>
                  <a:srgbClr val="FF0000"/>
                </a:solidFill>
              </a:rPr>
              <a:t>Một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chuỗi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các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giá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trị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tiền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tệ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có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giá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trị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bằng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nhau</a:t>
            </a:r>
            <a:r>
              <a:rPr lang="en-US" altLang="en-US" dirty="0">
                <a:solidFill>
                  <a:srgbClr val="FF0000"/>
                </a:solidFill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N: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thời</a:t>
            </a:r>
            <a:r>
              <a:rPr lang="en-US" altLang="en-US" dirty="0"/>
              <a:t> </a:t>
            </a:r>
            <a:r>
              <a:rPr lang="en-US" altLang="en-US" dirty="0" err="1"/>
              <a:t>đoạn</a:t>
            </a:r>
            <a:r>
              <a:rPr lang="en-US" altLang="en-US" dirty="0"/>
              <a:t> (</a:t>
            </a:r>
            <a:r>
              <a:rPr lang="en-US" altLang="en-US" dirty="0" err="1"/>
              <a:t>năm</a:t>
            </a:r>
            <a:r>
              <a:rPr lang="en-US" altLang="en-US" dirty="0"/>
              <a:t>, </a:t>
            </a:r>
            <a:r>
              <a:rPr lang="en-US" altLang="en-US" dirty="0" err="1"/>
              <a:t>tháng</a:t>
            </a:r>
            <a:r>
              <a:rPr lang="en-US" altLang="en-US" dirty="0"/>
              <a:t>,…).</a:t>
            </a:r>
          </a:p>
          <a:p>
            <a:pPr lvl="1">
              <a:lnSpc>
                <a:spcPct val="90000"/>
              </a:lnSpc>
            </a:pPr>
            <a:r>
              <a:rPr lang="en-US" altLang="en-US" dirty="0" err="1"/>
              <a:t>i</a:t>
            </a:r>
            <a:r>
              <a:rPr lang="en-US" altLang="en-US" dirty="0"/>
              <a:t> (%): </a:t>
            </a:r>
            <a:r>
              <a:rPr lang="en-US" altLang="en-US" dirty="0" err="1"/>
              <a:t>Lãi</a:t>
            </a:r>
            <a:r>
              <a:rPr lang="en-US" altLang="en-US" dirty="0"/>
              <a:t> </a:t>
            </a:r>
            <a:r>
              <a:rPr lang="en-US" altLang="en-US" dirty="0" err="1"/>
              <a:t>suất</a:t>
            </a:r>
            <a:r>
              <a:rPr lang="en-US" altLang="en-US" dirty="0"/>
              <a:t> </a:t>
            </a:r>
            <a:r>
              <a:rPr lang="en-US" altLang="en-US" dirty="0" err="1"/>
              <a:t>chiết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r>
              <a:rPr lang="en-US" altLang="en-US" dirty="0"/>
              <a:t> (</a:t>
            </a:r>
            <a:r>
              <a:rPr lang="en-US" altLang="en-US" dirty="0" err="1"/>
              <a:t>mặc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lãi</a:t>
            </a:r>
            <a:r>
              <a:rPr lang="en-US" altLang="en-US" dirty="0"/>
              <a:t> </a:t>
            </a:r>
            <a:r>
              <a:rPr lang="en-US" altLang="en-US" dirty="0" err="1"/>
              <a:t>suất</a:t>
            </a:r>
            <a:r>
              <a:rPr lang="en-US" altLang="en-US" dirty="0"/>
              <a:t> </a:t>
            </a:r>
            <a:r>
              <a:rPr lang="en-US" altLang="en-US" dirty="0" err="1"/>
              <a:t>ghép</a:t>
            </a:r>
            <a:r>
              <a:rPr lang="en-US" altLang="en-US" dirty="0"/>
              <a:t>).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0ADDE2B6-3F05-25B0-1E20-F28E898AD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432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b="1" i="0">
                <a:solidFill>
                  <a:srgbClr val="008000"/>
                </a:solidFill>
                <a:latin typeface="Arial" panose="020B0604020202020204" pitchFamily="34" charset="0"/>
              </a:rPr>
              <a:t>P </a:t>
            </a:r>
            <a:r>
              <a:rPr lang="en-US" altLang="en-US" sz="1800">
                <a:solidFill>
                  <a:srgbClr val="008000"/>
                </a:solidFill>
                <a:latin typeface="Arial" panose="020B0604020202020204" pitchFamily="34" charset="0"/>
              </a:rPr>
              <a:t>(Giá trị hiện tại)</a:t>
            </a:r>
          </a:p>
        </p:txBody>
      </p:sp>
      <p:sp>
        <p:nvSpPr>
          <p:cNvPr id="19459" name="Line 3">
            <a:extLst>
              <a:ext uri="{FF2B5EF4-FFF2-40B4-BE49-F238E27FC236}">
                <a16:creationId xmlns:a16="http://schemas.microsoft.com/office/drawing/2014/main" id="{52298852-14D1-1EF3-A76A-23BD2FDFF9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3810000"/>
            <a:ext cx="0" cy="109537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171FB662-287F-AEEE-8546-573D97715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4290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b="1" i="0">
                <a:solidFill>
                  <a:srgbClr val="008000"/>
                </a:solidFill>
                <a:latin typeface="Arial" panose="020B0604020202020204" pitchFamily="34" charset="0"/>
              </a:rPr>
              <a:t>F </a:t>
            </a:r>
            <a:r>
              <a:rPr lang="en-US" altLang="en-US" sz="1800">
                <a:solidFill>
                  <a:srgbClr val="008000"/>
                </a:solidFill>
                <a:latin typeface="Arial" panose="020B0604020202020204" pitchFamily="34" charset="0"/>
              </a:rPr>
              <a:t>(Giá trị tương lai)</a:t>
            </a:r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835EB47D-5C14-EBD0-57B6-ADF1929BD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886200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b="1" i="0">
                <a:solidFill>
                  <a:srgbClr val="008000"/>
                </a:solidFill>
                <a:latin typeface="Arial" panose="020B0604020202020204" pitchFamily="34" charset="0"/>
              </a:rPr>
              <a:t>A </a:t>
            </a:r>
            <a:r>
              <a:rPr lang="en-US" altLang="en-US" sz="1800">
                <a:solidFill>
                  <a:srgbClr val="008000"/>
                </a:solidFill>
                <a:latin typeface="Arial" panose="020B0604020202020204" pitchFamily="34" charset="0"/>
              </a:rPr>
              <a:t>(Dòng thu đều mỗi thời đọan)</a:t>
            </a:r>
          </a:p>
        </p:txBody>
      </p:sp>
      <p:grpSp>
        <p:nvGrpSpPr>
          <p:cNvPr id="19462" name="Group 6">
            <a:extLst>
              <a:ext uri="{FF2B5EF4-FFF2-40B4-BE49-F238E27FC236}">
                <a16:creationId xmlns:a16="http://schemas.microsoft.com/office/drawing/2014/main" id="{368B8DA3-1174-70DF-DF9F-6609403B1AF6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4343400"/>
            <a:ext cx="5867400" cy="723900"/>
            <a:chOff x="1056" y="1824"/>
            <a:chExt cx="3696" cy="456"/>
          </a:xfrm>
        </p:grpSpPr>
        <p:grpSp>
          <p:nvGrpSpPr>
            <p:cNvPr id="19544" name="Group 7">
              <a:extLst>
                <a:ext uri="{FF2B5EF4-FFF2-40B4-BE49-F238E27FC236}">
                  <a16:creationId xmlns:a16="http://schemas.microsoft.com/office/drawing/2014/main" id="{F37430EB-96F7-1A2C-4B3C-835DB73CB8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2160"/>
              <a:ext cx="3696" cy="120"/>
              <a:chOff x="864" y="852"/>
              <a:chExt cx="3696" cy="120"/>
            </a:xfrm>
          </p:grpSpPr>
          <p:sp>
            <p:nvSpPr>
              <p:cNvPr id="19552" name="Line 8">
                <a:extLst>
                  <a:ext uri="{FF2B5EF4-FFF2-40B4-BE49-F238E27FC236}">
                    <a16:creationId xmlns:a16="http://schemas.microsoft.com/office/drawing/2014/main" id="{1570984B-029D-D038-1BE5-DD7A9F1BAF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912"/>
                <a:ext cx="3696" cy="0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553" name="Group 9">
                <a:extLst>
                  <a:ext uri="{FF2B5EF4-FFF2-40B4-BE49-F238E27FC236}">
                    <a16:creationId xmlns:a16="http://schemas.microsoft.com/office/drawing/2014/main" id="{D975586B-DCA3-782E-B4A5-3823A656A2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864"/>
                <a:ext cx="528" cy="96"/>
                <a:chOff x="864" y="864"/>
                <a:chExt cx="528" cy="96"/>
              </a:xfrm>
            </p:grpSpPr>
            <p:sp>
              <p:nvSpPr>
                <p:cNvPr id="19572" name="Line 10">
                  <a:extLst>
                    <a:ext uri="{FF2B5EF4-FFF2-40B4-BE49-F238E27FC236}">
                      <a16:creationId xmlns:a16="http://schemas.microsoft.com/office/drawing/2014/main" id="{A3FBB376-3A33-98C8-BCE2-5968797D0B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86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3" name="Line 11">
                  <a:extLst>
                    <a:ext uri="{FF2B5EF4-FFF2-40B4-BE49-F238E27FC236}">
                      <a16:creationId xmlns:a16="http://schemas.microsoft.com/office/drawing/2014/main" id="{20885010-4BD4-DEE2-E73E-4ECA2DFC15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86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554" name="Group 12">
                <a:extLst>
                  <a:ext uri="{FF2B5EF4-FFF2-40B4-BE49-F238E27FC236}">
                    <a16:creationId xmlns:a16="http://schemas.microsoft.com/office/drawing/2014/main" id="{FF1EDA24-F338-E06A-6021-016AA98E32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867"/>
                <a:ext cx="528" cy="96"/>
                <a:chOff x="864" y="864"/>
                <a:chExt cx="528" cy="96"/>
              </a:xfrm>
            </p:grpSpPr>
            <p:sp>
              <p:nvSpPr>
                <p:cNvPr id="19570" name="Line 13">
                  <a:extLst>
                    <a:ext uri="{FF2B5EF4-FFF2-40B4-BE49-F238E27FC236}">
                      <a16:creationId xmlns:a16="http://schemas.microsoft.com/office/drawing/2014/main" id="{D9C7647A-451B-D78F-53DE-E873E50812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86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1" name="Line 14">
                  <a:extLst>
                    <a:ext uri="{FF2B5EF4-FFF2-40B4-BE49-F238E27FC236}">
                      <a16:creationId xmlns:a16="http://schemas.microsoft.com/office/drawing/2014/main" id="{D586D5EE-88D0-1855-2E9A-C5B97CF420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86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555" name="Group 15">
                <a:extLst>
                  <a:ext uri="{FF2B5EF4-FFF2-40B4-BE49-F238E27FC236}">
                    <a16:creationId xmlns:a16="http://schemas.microsoft.com/office/drawing/2014/main" id="{32FE3DFE-CE8F-331A-ABDD-FD36E31F30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0" y="864"/>
                <a:ext cx="528" cy="96"/>
                <a:chOff x="864" y="864"/>
                <a:chExt cx="528" cy="96"/>
              </a:xfrm>
            </p:grpSpPr>
            <p:sp>
              <p:nvSpPr>
                <p:cNvPr id="19568" name="Line 16">
                  <a:extLst>
                    <a:ext uri="{FF2B5EF4-FFF2-40B4-BE49-F238E27FC236}">
                      <a16:creationId xmlns:a16="http://schemas.microsoft.com/office/drawing/2014/main" id="{EF655FE1-E316-14C2-9C82-E9777C489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86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9" name="Line 17">
                  <a:extLst>
                    <a:ext uri="{FF2B5EF4-FFF2-40B4-BE49-F238E27FC236}">
                      <a16:creationId xmlns:a16="http://schemas.microsoft.com/office/drawing/2014/main" id="{4785BCEE-83E3-7976-CA89-7791EFEE6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86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556" name="Group 18">
                <a:extLst>
                  <a:ext uri="{FF2B5EF4-FFF2-40B4-BE49-F238E27FC236}">
                    <a16:creationId xmlns:a16="http://schemas.microsoft.com/office/drawing/2014/main" id="{420F0CFB-629F-F8C2-ED01-19D765500A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8" y="861"/>
                <a:ext cx="528" cy="96"/>
                <a:chOff x="864" y="864"/>
                <a:chExt cx="528" cy="96"/>
              </a:xfrm>
            </p:grpSpPr>
            <p:sp>
              <p:nvSpPr>
                <p:cNvPr id="19566" name="Line 19">
                  <a:extLst>
                    <a:ext uri="{FF2B5EF4-FFF2-40B4-BE49-F238E27FC236}">
                      <a16:creationId xmlns:a16="http://schemas.microsoft.com/office/drawing/2014/main" id="{238FD093-FC77-AA31-C0C4-79AB8268BE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86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7" name="Line 20">
                  <a:extLst>
                    <a:ext uri="{FF2B5EF4-FFF2-40B4-BE49-F238E27FC236}">
                      <a16:creationId xmlns:a16="http://schemas.microsoft.com/office/drawing/2014/main" id="{2F65C71D-61AF-F4EB-A8BA-15011BF929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86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557" name="Group 21">
                <a:extLst>
                  <a:ext uri="{FF2B5EF4-FFF2-40B4-BE49-F238E27FC236}">
                    <a16:creationId xmlns:a16="http://schemas.microsoft.com/office/drawing/2014/main" id="{D5B35F46-4C74-9D69-91CE-F60B92BF07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876"/>
                <a:ext cx="528" cy="96"/>
                <a:chOff x="864" y="864"/>
                <a:chExt cx="528" cy="96"/>
              </a:xfrm>
            </p:grpSpPr>
            <p:sp>
              <p:nvSpPr>
                <p:cNvPr id="19564" name="Line 22">
                  <a:extLst>
                    <a:ext uri="{FF2B5EF4-FFF2-40B4-BE49-F238E27FC236}">
                      <a16:creationId xmlns:a16="http://schemas.microsoft.com/office/drawing/2014/main" id="{21737181-30C3-DF5C-9DE2-014B76B78E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86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5" name="Line 23">
                  <a:extLst>
                    <a:ext uri="{FF2B5EF4-FFF2-40B4-BE49-F238E27FC236}">
                      <a16:creationId xmlns:a16="http://schemas.microsoft.com/office/drawing/2014/main" id="{95B30205-D580-47A4-A457-EE19BA337B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86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558" name="Group 24">
                <a:extLst>
                  <a:ext uri="{FF2B5EF4-FFF2-40B4-BE49-F238E27FC236}">
                    <a16:creationId xmlns:a16="http://schemas.microsoft.com/office/drawing/2014/main" id="{C8BBD927-E7A6-59D8-EE1C-63BC503B22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4" y="855"/>
                <a:ext cx="528" cy="96"/>
                <a:chOff x="864" y="864"/>
                <a:chExt cx="528" cy="96"/>
              </a:xfrm>
            </p:grpSpPr>
            <p:sp>
              <p:nvSpPr>
                <p:cNvPr id="19562" name="Line 25">
                  <a:extLst>
                    <a:ext uri="{FF2B5EF4-FFF2-40B4-BE49-F238E27FC236}">
                      <a16:creationId xmlns:a16="http://schemas.microsoft.com/office/drawing/2014/main" id="{3ADD904B-41F9-2A47-D1A2-F2751EF613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86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3" name="Line 26">
                  <a:extLst>
                    <a:ext uri="{FF2B5EF4-FFF2-40B4-BE49-F238E27FC236}">
                      <a16:creationId xmlns:a16="http://schemas.microsoft.com/office/drawing/2014/main" id="{0640FB7B-4F32-61A8-2DAD-041011B0C4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86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559" name="Group 27">
                <a:extLst>
                  <a:ext uri="{FF2B5EF4-FFF2-40B4-BE49-F238E27FC236}">
                    <a16:creationId xmlns:a16="http://schemas.microsoft.com/office/drawing/2014/main" id="{C7CBAABD-45F7-F7E1-801A-2C6AF36656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2" y="852"/>
                <a:ext cx="528" cy="96"/>
                <a:chOff x="864" y="864"/>
                <a:chExt cx="528" cy="96"/>
              </a:xfrm>
            </p:grpSpPr>
            <p:sp>
              <p:nvSpPr>
                <p:cNvPr id="19560" name="Line 28">
                  <a:extLst>
                    <a:ext uri="{FF2B5EF4-FFF2-40B4-BE49-F238E27FC236}">
                      <a16:creationId xmlns:a16="http://schemas.microsoft.com/office/drawing/2014/main" id="{1ABF1853-EC75-11D4-358B-E37C56BD18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86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1" name="Line 29">
                  <a:extLst>
                    <a:ext uri="{FF2B5EF4-FFF2-40B4-BE49-F238E27FC236}">
                      <a16:creationId xmlns:a16="http://schemas.microsoft.com/office/drawing/2014/main" id="{F8B89317-5D5F-9596-DDC2-D7F498CDDF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86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9545" name="Line 30">
              <a:extLst>
                <a:ext uri="{FF2B5EF4-FFF2-40B4-BE49-F238E27FC236}">
                  <a16:creationId xmlns:a16="http://schemas.microsoft.com/office/drawing/2014/main" id="{C2CCCC7A-6422-9EE2-C9A1-9423C00E6A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1824"/>
              <a:ext cx="0" cy="384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6" name="Line 31">
              <a:extLst>
                <a:ext uri="{FF2B5EF4-FFF2-40B4-BE49-F238E27FC236}">
                  <a16:creationId xmlns:a16="http://schemas.microsoft.com/office/drawing/2014/main" id="{43C4175B-FF8C-BA37-FEFD-6BC509D9DC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824"/>
              <a:ext cx="0" cy="384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7" name="Line 32">
              <a:extLst>
                <a:ext uri="{FF2B5EF4-FFF2-40B4-BE49-F238E27FC236}">
                  <a16:creationId xmlns:a16="http://schemas.microsoft.com/office/drawing/2014/main" id="{38E710F7-18E3-1A9E-FF4D-DA2C27B0AF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1824"/>
              <a:ext cx="0" cy="384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8" name="Line 33">
              <a:extLst>
                <a:ext uri="{FF2B5EF4-FFF2-40B4-BE49-F238E27FC236}">
                  <a16:creationId xmlns:a16="http://schemas.microsoft.com/office/drawing/2014/main" id="{1752587D-7E90-04CF-6C76-5906D37B8B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1824"/>
              <a:ext cx="0" cy="384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" name="Line 34">
              <a:extLst>
                <a:ext uri="{FF2B5EF4-FFF2-40B4-BE49-F238E27FC236}">
                  <a16:creationId xmlns:a16="http://schemas.microsoft.com/office/drawing/2014/main" id="{5BFE33E7-A507-D31E-B50E-44CC1104EE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1824"/>
              <a:ext cx="0" cy="384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0" name="Line 35">
              <a:extLst>
                <a:ext uri="{FF2B5EF4-FFF2-40B4-BE49-F238E27FC236}">
                  <a16:creationId xmlns:a16="http://schemas.microsoft.com/office/drawing/2014/main" id="{EC93D5D2-513A-840C-2D13-D0473FE218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824"/>
              <a:ext cx="0" cy="384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1" name="Line 36">
              <a:extLst>
                <a:ext uri="{FF2B5EF4-FFF2-40B4-BE49-F238E27FC236}">
                  <a16:creationId xmlns:a16="http://schemas.microsoft.com/office/drawing/2014/main" id="{72FE0865-6E5F-1F85-1077-C27E1E9C83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1824"/>
              <a:ext cx="0" cy="384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63" name="Line 37">
            <a:extLst>
              <a:ext uri="{FF2B5EF4-FFF2-40B4-BE49-F238E27FC236}">
                <a16:creationId xmlns:a16="http://schemas.microsoft.com/office/drawing/2014/main" id="{75D55957-7CD5-FAE0-C856-C82498B529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343400"/>
            <a:ext cx="5029200" cy="0"/>
          </a:xfrm>
          <a:prstGeom prst="line">
            <a:avLst/>
          </a:prstGeom>
          <a:noFill/>
          <a:ln w="9525">
            <a:solidFill>
              <a:srgbClr val="008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464" name="Group 38">
            <a:extLst>
              <a:ext uri="{FF2B5EF4-FFF2-40B4-BE49-F238E27FC236}">
                <a16:creationId xmlns:a16="http://schemas.microsoft.com/office/drawing/2014/main" id="{645EC1E5-8DCA-F740-119B-2B0EA987996E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4876800"/>
            <a:ext cx="5867400" cy="190500"/>
            <a:chOff x="864" y="852"/>
            <a:chExt cx="3696" cy="120"/>
          </a:xfrm>
        </p:grpSpPr>
        <p:sp>
          <p:nvSpPr>
            <p:cNvPr id="19522" name="Line 39">
              <a:extLst>
                <a:ext uri="{FF2B5EF4-FFF2-40B4-BE49-F238E27FC236}">
                  <a16:creationId xmlns:a16="http://schemas.microsoft.com/office/drawing/2014/main" id="{9E790D5A-1E85-6F50-31F1-FA8EB15A83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12"/>
              <a:ext cx="3696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523" name="Group 40">
              <a:extLst>
                <a:ext uri="{FF2B5EF4-FFF2-40B4-BE49-F238E27FC236}">
                  <a16:creationId xmlns:a16="http://schemas.microsoft.com/office/drawing/2014/main" id="{99F88A42-2ADD-6D92-3E0A-3D1C6D4FA4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864"/>
              <a:ext cx="528" cy="96"/>
              <a:chOff x="864" y="864"/>
              <a:chExt cx="528" cy="96"/>
            </a:xfrm>
          </p:grpSpPr>
          <p:sp>
            <p:nvSpPr>
              <p:cNvPr id="19542" name="Line 41">
                <a:extLst>
                  <a:ext uri="{FF2B5EF4-FFF2-40B4-BE49-F238E27FC236}">
                    <a16:creationId xmlns:a16="http://schemas.microsoft.com/office/drawing/2014/main" id="{B33FB306-1395-AE04-7F3B-3932E51EE6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864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3" name="Line 42">
                <a:extLst>
                  <a:ext uri="{FF2B5EF4-FFF2-40B4-BE49-F238E27FC236}">
                    <a16:creationId xmlns:a16="http://schemas.microsoft.com/office/drawing/2014/main" id="{E41F0D35-F017-0ECC-577D-A12271FD34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864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524" name="Group 43">
              <a:extLst>
                <a:ext uri="{FF2B5EF4-FFF2-40B4-BE49-F238E27FC236}">
                  <a16:creationId xmlns:a16="http://schemas.microsoft.com/office/drawing/2014/main" id="{F2C8397F-FC48-8AD4-CEF5-FC8211AB2D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867"/>
              <a:ext cx="528" cy="96"/>
              <a:chOff x="864" y="864"/>
              <a:chExt cx="528" cy="96"/>
            </a:xfrm>
          </p:grpSpPr>
          <p:sp>
            <p:nvSpPr>
              <p:cNvPr id="19540" name="Line 44">
                <a:extLst>
                  <a:ext uri="{FF2B5EF4-FFF2-40B4-BE49-F238E27FC236}">
                    <a16:creationId xmlns:a16="http://schemas.microsoft.com/office/drawing/2014/main" id="{87C9151D-153D-4E19-9F1C-600C103020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864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1" name="Line 45">
                <a:extLst>
                  <a:ext uri="{FF2B5EF4-FFF2-40B4-BE49-F238E27FC236}">
                    <a16:creationId xmlns:a16="http://schemas.microsoft.com/office/drawing/2014/main" id="{DA992B98-36C3-60A1-B15E-BE813A6678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864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525" name="Group 46">
              <a:extLst>
                <a:ext uri="{FF2B5EF4-FFF2-40B4-BE49-F238E27FC236}">
                  <a16:creationId xmlns:a16="http://schemas.microsoft.com/office/drawing/2014/main" id="{BF89B7FC-F9C8-16C2-FF1A-93B9F77049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864"/>
              <a:ext cx="528" cy="96"/>
              <a:chOff x="864" y="864"/>
              <a:chExt cx="528" cy="96"/>
            </a:xfrm>
          </p:grpSpPr>
          <p:sp>
            <p:nvSpPr>
              <p:cNvPr id="19538" name="Line 47">
                <a:extLst>
                  <a:ext uri="{FF2B5EF4-FFF2-40B4-BE49-F238E27FC236}">
                    <a16:creationId xmlns:a16="http://schemas.microsoft.com/office/drawing/2014/main" id="{47D6CB1C-A1C0-C49C-8859-4D6664F42B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864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9" name="Line 48">
                <a:extLst>
                  <a:ext uri="{FF2B5EF4-FFF2-40B4-BE49-F238E27FC236}">
                    <a16:creationId xmlns:a16="http://schemas.microsoft.com/office/drawing/2014/main" id="{B9B3C08B-0174-B3B2-FF67-49104E9824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864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526" name="Group 49">
              <a:extLst>
                <a:ext uri="{FF2B5EF4-FFF2-40B4-BE49-F238E27FC236}">
                  <a16:creationId xmlns:a16="http://schemas.microsoft.com/office/drawing/2014/main" id="{E553BF1C-156B-19BB-2D66-83D6A2BF4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861"/>
              <a:ext cx="528" cy="96"/>
              <a:chOff x="864" y="864"/>
              <a:chExt cx="528" cy="96"/>
            </a:xfrm>
          </p:grpSpPr>
          <p:sp>
            <p:nvSpPr>
              <p:cNvPr id="19536" name="Line 50">
                <a:extLst>
                  <a:ext uri="{FF2B5EF4-FFF2-40B4-BE49-F238E27FC236}">
                    <a16:creationId xmlns:a16="http://schemas.microsoft.com/office/drawing/2014/main" id="{2255FF71-5867-1780-A4BF-CD32079C8E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864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7" name="Line 51">
                <a:extLst>
                  <a:ext uri="{FF2B5EF4-FFF2-40B4-BE49-F238E27FC236}">
                    <a16:creationId xmlns:a16="http://schemas.microsoft.com/office/drawing/2014/main" id="{766343B5-8A7D-57DE-3F9A-28033F739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864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527" name="Group 52">
              <a:extLst>
                <a:ext uri="{FF2B5EF4-FFF2-40B4-BE49-F238E27FC236}">
                  <a16:creationId xmlns:a16="http://schemas.microsoft.com/office/drawing/2014/main" id="{202EC97E-86C4-6658-4C0D-0095428F60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876"/>
              <a:ext cx="528" cy="96"/>
              <a:chOff x="864" y="864"/>
              <a:chExt cx="528" cy="96"/>
            </a:xfrm>
          </p:grpSpPr>
          <p:sp>
            <p:nvSpPr>
              <p:cNvPr id="19534" name="Line 53">
                <a:extLst>
                  <a:ext uri="{FF2B5EF4-FFF2-40B4-BE49-F238E27FC236}">
                    <a16:creationId xmlns:a16="http://schemas.microsoft.com/office/drawing/2014/main" id="{AE738009-5808-7E4A-1496-C238ECAF7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864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5" name="Line 54">
                <a:extLst>
                  <a:ext uri="{FF2B5EF4-FFF2-40B4-BE49-F238E27FC236}">
                    <a16:creationId xmlns:a16="http://schemas.microsoft.com/office/drawing/2014/main" id="{437DC6FA-9412-DB03-06A2-9D27EEA4A7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864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528" name="Group 55">
              <a:extLst>
                <a:ext uri="{FF2B5EF4-FFF2-40B4-BE49-F238E27FC236}">
                  <a16:creationId xmlns:a16="http://schemas.microsoft.com/office/drawing/2014/main" id="{E5617AA9-62E0-49AD-6A7B-EC83D85EB2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855"/>
              <a:ext cx="528" cy="96"/>
              <a:chOff x="864" y="864"/>
              <a:chExt cx="528" cy="96"/>
            </a:xfrm>
          </p:grpSpPr>
          <p:sp>
            <p:nvSpPr>
              <p:cNvPr id="19532" name="Line 56">
                <a:extLst>
                  <a:ext uri="{FF2B5EF4-FFF2-40B4-BE49-F238E27FC236}">
                    <a16:creationId xmlns:a16="http://schemas.microsoft.com/office/drawing/2014/main" id="{DBD54CE3-2D6B-7EF0-98F8-BCFA9887E5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864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3" name="Line 57">
                <a:extLst>
                  <a:ext uri="{FF2B5EF4-FFF2-40B4-BE49-F238E27FC236}">
                    <a16:creationId xmlns:a16="http://schemas.microsoft.com/office/drawing/2014/main" id="{19A5CF44-838C-F599-BDE4-047C6D1CC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864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529" name="Group 58">
              <a:extLst>
                <a:ext uri="{FF2B5EF4-FFF2-40B4-BE49-F238E27FC236}">
                  <a16:creationId xmlns:a16="http://schemas.microsoft.com/office/drawing/2014/main" id="{85C15C6A-6E5E-8DEB-EFFF-CE220CDDCC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852"/>
              <a:ext cx="528" cy="96"/>
              <a:chOff x="864" y="864"/>
              <a:chExt cx="528" cy="96"/>
            </a:xfrm>
          </p:grpSpPr>
          <p:sp>
            <p:nvSpPr>
              <p:cNvPr id="19530" name="Line 59">
                <a:extLst>
                  <a:ext uri="{FF2B5EF4-FFF2-40B4-BE49-F238E27FC236}">
                    <a16:creationId xmlns:a16="http://schemas.microsoft.com/office/drawing/2014/main" id="{3688F411-469C-A6D2-CAA8-A3EB225FD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864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1" name="Line 60">
                <a:extLst>
                  <a:ext uri="{FF2B5EF4-FFF2-40B4-BE49-F238E27FC236}">
                    <a16:creationId xmlns:a16="http://schemas.microsoft.com/office/drawing/2014/main" id="{72EBD9A6-8942-DB9C-305F-13EE98D4E7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864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9465" name="Line 61">
            <a:extLst>
              <a:ext uri="{FF2B5EF4-FFF2-40B4-BE49-F238E27FC236}">
                <a16:creationId xmlns:a16="http://schemas.microsoft.com/office/drawing/2014/main" id="{0EE1126B-2559-3DB3-28AA-727CAC21E2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4953000"/>
            <a:ext cx="0" cy="9906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6" name="Text Box 62">
            <a:extLst>
              <a:ext uri="{FF2B5EF4-FFF2-40B4-BE49-F238E27FC236}">
                <a16:creationId xmlns:a16="http://schemas.microsoft.com/office/drawing/2014/main" id="{C982F177-A47D-F3D3-A751-E95FA3B15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5720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b="1" i="0">
                <a:solidFill>
                  <a:srgbClr val="008000"/>
                </a:solidFill>
                <a:latin typeface="Arial" panose="020B0604020202020204" pitchFamily="34" charset="0"/>
              </a:rPr>
              <a:t>0</a:t>
            </a:r>
            <a:endParaRPr lang="en-US" altLang="en-US" sz="18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9467" name="Line 63">
            <a:extLst>
              <a:ext uri="{FF2B5EF4-FFF2-40B4-BE49-F238E27FC236}">
                <a16:creationId xmlns:a16="http://schemas.microsoft.com/office/drawing/2014/main" id="{7A15B398-E3A6-F08E-855F-BC175BC5DCA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72000" y="4953000"/>
            <a:ext cx="0" cy="99060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8" name="Text Box 64">
            <a:extLst>
              <a:ext uri="{FF2B5EF4-FFF2-40B4-BE49-F238E27FC236}">
                <a16:creationId xmlns:a16="http://schemas.microsoft.com/office/drawing/2014/main" id="{CA34A07F-213F-A1C1-2589-ACFDAC820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1816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b="1" i="0">
                <a:solidFill>
                  <a:srgbClr val="008000"/>
                </a:solidFill>
                <a:latin typeface="Arial" panose="020B0604020202020204" pitchFamily="34" charset="0"/>
              </a:rPr>
              <a:t>1</a:t>
            </a:r>
            <a:endParaRPr lang="en-US" altLang="en-US" sz="18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9469" name="Text Box 65">
            <a:extLst>
              <a:ext uri="{FF2B5EF4-FFF2-40B4-BE49-F238E27FC236}">
                <a16:creationId xmlns:a16="http://schemas.microsoft.com/office/drawing/2014/main" id="{4BF43FB4-671D-7A99-777E-353981CBC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1816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b="1" i="0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  <a:endParaRPr lang="en-US" altLang="en-US" sz="18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9470" name="Text Box 66">
            <a:extLst>
              <a:ext uri="{FF2B5EF4-FFF2-40B4-BE49-F238E27FC236}">
                <a16:creationId xmlns:a16="http://schemas.microsoft.com/office/drawing/2014/main" id="{19C3174B-22FE-7DB2-926F-368F349B3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1816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b="1" i="0">
                <a:solidFill>
                  <a:srgbClr val="008000"/>
                </a:solidFill>
                <a:latin typeface="Arial" panose="020B0604020202020204" pitchFamily="34" charset="0"/>
              </a:rPr>
              <a:t>3</a:t>
            </a:r>
            <a:endParaRPr lang="en-US" altLang="en-US" sz="18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9471" name="Text Box 67">
            <a:extLst>
              <a:ext uri="{FF2B5EF4-FFF2-40B4-BE49-F238E27FC236}">
                <a16:creationId xmlns:a16="http://schemas.microsoft.com/office/drawing/2014/main" id="{CB927BE3-9E64-6DE3-C50C-44E2268B8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1054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b="1" i="0">
                <a:solidFill>
                  <a:srgbClr val="008000"/>
                </a:solidFill>
                <a:latin typeface="Arial" panose="020B0604020202020204" pitchFamily="34" charset="0"/>
              </a:rPr>
              <a:t>4</a:t>
            </a:r>
            <a:endParaRPr lang="en-US" altLang="en-US" sz="18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9472" name="Text Box 68">
            <a:extLst>
              <a:ext uri="{FF2B5EF4-FFF2-40B4-BE49-F238E27FC236}">
                <a16:creationId xmlns:a16="http://schemas.microsoft.com/office/drawing/2014/main" id="{92564FEE-9D91-5616-0D55-B33D05CB2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51054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b="1" i="0">
                <a:solidFill>
                  <a:srgbClr val="008000"/>
                </a:solidFill>
                <a:latin typeface="Arial" panose="020B0604020202020204" pitchFamily="34" charset="0"/>
              </a:rPr>
              <a:t>5</a:t>
            </a:r>
            <a:endParaRPr lang="en-US" altLang="en-US" sz="18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9473" name="Text Box 69">
            <a:extLst>
              <a:ext uri="{FF2B5EF4-FFF2-40B4-BE49-F238E27FC236}">
                <a16:creationId xmlns:a16="http://schemas.microsoft.com/office/drawing/2014/main" id="{45E64675-9778-AE7C-330E-4DFD7497A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1054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b="1" i="0">
                <a:solidFill>
                  <a:srgbClr val="008000"/>
                </a:solidFill>
                <a:latin typeface="Arial" panose="020B0604020202020204" pitchFamily="34" charset="0"/>
              </a:rPr>
              <a:t>6</a:t>
            </a:r>
            <a:endParaRPr lang="en-US" altLang="en-US" sz="18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9474" name="Text Box 70">
            <a:extLst>
              <a:ext uri="{FF2B5EF4-FFF2-40B4-BE49-F238E27FC236}">
                <a16:creationId xmlns:a16="http://schemas.microsoft.com/office/drawing/2014/main" id="{7E992B6D-F163-CA14-6E57-B42B0F196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51054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b="1" i="0">
                <a:solidFill>
                  <a:srgbClr val="008000"/>
                </a:solidFill>
                <a:latin typeface="Arial" panose="020B0604020202020204" pitchFamily="34" charset="0"/>
              </a:rPr>
              <a:t>7</a:t>
            </a:r>
            <a:endParaRPr lang="en-US" altLang="en-US" sz="18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19475" name="Group 71">
            <a:extLst>
              <a:ext uri="{FF2B5EF4-FFF2-40B4-BE49-F238E27FC236}">
                <a16:creationId xmlns:a16="http://schemas.microsoft.com/office/drawing/2014/main" id="{8DADAE21-FA82-8EA6-2BDC-ABDB119F8A1F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81000"/>
            <a:ext cx="7543800" cy="2362200"/>
            <a:chOff x="480" y="336"/>
            <a:chExt cx="4752" cy="1488"/>
          </a:xfrm>
        </p:grpSpPr>
        <p:grpSp>
          <p:nvGrpSpPr>
            <p:cNvPr id="19486" name="Group 72">
              <a:extLst>
                <a:ext uri="{FF2B5EF4-FFF2-40B4-BE49-F238E27FC236}">
                  <a16:creationId xmlns:a16="http://schemas.microsoft.com/office/drawing/2014/main" id="{58EEAF3C-FA6A-6D03-DAC4-10CB2A852D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152"/>
              <a:ext cx="3696" cy="120"/>
              <a:chOff x="864" y="852"/>
              <a:chExt cx="3696" cy="120"/>
            </a:xfrm>
          </p:grpSpPr>
          <p:sp>
            <p:nvSpPr>
              <p:cNvPr id="19500" name="Line 73">
                <a:extLst>
                  <a:ext uri="{FF2B5EF4-FFF2-40B4-BE49-F238E27FC236}">
                    <a16:creationId xmlns:a16="http://schemas.microsoft.com/office/drawing/2014/main" id="{9689073A-2B24-2D70-54F7-52D6080659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912"/>
                <a:ext cx="3696" cy="0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501" name="Group 74">
                <a:extLst>
                  <a:ext uri="{FF2B5EF4-FFF2-40B4-BE49-F238E27FC236}">
                    <a16:creationId xmlns:a16="http://schemas.microsoft.com/office/drawing/2014/main" id="{97A48497-7423-A99D-1EE5-4C8BB23DF2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864"/>
                <a:ext cx="528" cy="96"/>
                <a:chOff x="864" y="864"/>
                <a:chExt cx="528" cy="96"/>
              </a:xfrm>
            </p:grpSpPr>
            <p:sp>
              <p:nvSpPr>
                <p:cNvPr id="19520" name="Line 75">
                  <a:extLst>
                    <a:ext uri="{FF2B5EF4-FFF2-40B4-BE49-F238E27FC236}">
                      <a16:creationId xmlns:a16="http://schemas.microsoft.com/office/drawing/2014/main" id="{C7F3BDC9-E8D2-B3EC-CF5B-D6CE9DB03E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864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1" name="Line 76">
                  <a:extLst>
                    <a:ext uri="{FF2B5EF4-FFF2-40B4-BE49-F238E27FC236}">
                      <a16:creationId xmlns:a16="http://schemas.microsoft.com/office/drawing/2014/main" id="{F7F6EE0F-DE2F-A883-B5A8-5F55D2FB9F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864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502" name="Group 77">
                <a:extLst>
                  <a:ext uri="{FF2B5EF4-FFF2-40B4-BE49-F238E27FC236}">
                    <a16:creationId xmlns:a16="http://schemas.microsoft.com/office/drawing/2014/main" id="{E1ED5AA8-BE2C-DC66-E0ED-5E9E376D7D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867"/>
                <a:ext cx="528" cy="96"/>
                <a:chOff x="864" y="864"/>
                <a:chExt cx="528" cy="96"/>
              </a:xfrm>
            </p:grpSpPr>
            <p:sp>
              <p:nvSpPr>
                <p:cNvPr id="19518" name="Line 78">
                  <a:extLst>
                    <a:ext uri="{FF2B5EF4-FFF2-40B4-BE49-F238E27FC236}">
                      <a16:creationId xmlns:a16="http://schemas.microsoft.com/office/drawing/2014/main" id="{25AE0E1D-685F-653F-64DE-6CA682853B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864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9" name="Line 79">
                  <a:extLst>
                    <a:ext uri="{FF2B5EF4-FFF2-40B4-BE49-F238E27FC236}">
                      <a16:creationId xmlns:a16="http://schemas.microsoft.com/office/drawing/2014/main" id="{67FA7C59-9703-53F5-F274-CFFD31261A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864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503" name="Group 80">
                <a:extLst>
                  <a:ext uri="{FF2B5EF4-FFF2-40B4-BE49-F238E27FC236}">
                    <a16:creationId xmlns:a16="http://schemas.microsoft.com/office/drawing/2014/main" id="{BF98F6AE-07FD-3C07-38EA-7715B6D7CB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0" y="864"/>
                <a:ext cx="528" cy="96"/>
                <a:chOff x="864" y="864"/>
                <a:chExt cx="528" cy="96"/>
              </a:xfrm>
            </p:grpSpPr>
            <p:sp>
              <p:nvSpPr>
                <p:cNvPr id="19516" name="Line 81">
                  <a:extLst>
                    <a:ext uri="{FF2B5EF4-FFF2-40B4-BE49-F238E27FC236}">
                      <a16:creationId xmlns:a16="http://schemas.microsoft.com/office/drawing/2014/main" id="{DBD064AE-7D42-1F1F-CFDF-2E703BD9F3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864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7" name="Line 82">
                  <a:extLst>
                    <a:ext uri="{FF2B5EF4-FFF2-40B4-BE49-F238E27FC236}">
                      <a16:creationId xmlns:a16="http://schemas.microsoft.com/office/drawing/2014/main" id="{EF4DCE97-4751-D72E-81C2-004E1385B0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864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504" name="Group 83">
                <a:extLst>
                  <a:ext uri="{FF2B5EF4-FFF2-40B4-BE49-F238E27FC236}">
                    <a16:creationId xmlns:a16="http://schemas.microsoft.com/office/drawing/2014/main" id="{DC5376C5-7822-7A02-3590-CEC90C41E6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8" y="861"/>
                <a:ext cx="528" cy="96"/>
                <a:chOff x="864" y="864"/>
                <a:chExt cx="528" cy="96"/>
              </a:xfrm>
            </p:grpSpPr>
            <p:sp>
              <p:nvSpPr>
                <p:cNvPr id="19514" name="Line 84">
                  <a:extLst>
                    <a:ext uri="{FF2B5EF4-FFF2-40B4-BE49-F238E27FC236}">
                      <a16:creationId xmlns:a16="http://schemas.microsoft.com/office/drawing/2014/main" id="{9A2516E3-55A9-155E-0A4F-C8E1548527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864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5" name="Line 85">
                  <a:extLst>
                    <a:ext uri="{FF2B5EF4-FFF2-40B4-BE49-F238E27FC236}">
                      <a16:creationId xmlns:a16="http://schemas.microsoft.com/office/drawing/2014/main" id="{3891D218-B377-9353-2CF1-7F3D5F43BD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864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505" name="Group 86">
                <a:extLst>
                  <a:ext uri="{FF2B5EF4-FFF2-40B4-BE49-F238E27FC236}">
                    <a16:creationId xmlns:a16="http://schemas.microsoft.com/office/drawing/2014/main" id="{64982249-3528-5992-9831-7C93401515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876"/>
                <a:ext cx="528" cy="96"/>
                <a:chOff x="864" y="864"/>
                <a:chExt cx="528" cy="96"/>
              </a:xfrm>
            </p:grpSpPr>
            <p:sp>
              <p:nvSpPr>
                <p:cNvPr id="19512" name="Line 87">
                  <a:extLst>
                    <a:ext uri="{FF2B5EF4-FFF2-40B4-BE49-F238E27FC236}">
                      <a16:creationId xmlns:a16="http://schemas.microsoft.com/office/drawing/2014/main" id="{A55EC5E3-E269-172A-794E-5A203F1488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864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3" name="Line 88">
                  <a:extLst>
                    <a:ext uri="{FF2B5EF4-FFF2-40B4-BE49-F238E27FC236}">
                      <a16:creationId xmlns:a16="http://schemas.microsoft.com/office/drawing/2014/main" id="{CBA3FD69-B80F-094C-039D-5A46DA0517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864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506" name="Group 89">
                <a:extLst>
                  <a:ext uri="{FF2B5EF4-FFF2-40B4-BE49-F238E27FC236}">
                    <a16:creationId xmlns:a16="http://schemas.microsoft.com/office/drawing/2014/main" id="{A5C70939-FB1A-DE2F-58A2-FAAE49AB1E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4" y="855"/>
                <a:ext cx="528" cy="96"/>
                <a:chOff x="864" y="864"/>
                <a:chExt cx="528" cy="96"/>
              </a:xfrm>
            </p:grpSpPr>
            <p:sp>
              <p:nvSpPr>
                <p:cNvPr id="19510" name="Line 90">
                  <a:extLst>
                    <a:ext uri="{FF2B5EF4-FFF2-40B4-BE49-F238E27FC236}">
                      <a16:creationId xmlns:a16="http://schemas.microsoft.com/office/drawing/2014/main" id="{FD702DFD-64DF-A0FB-2240-0AB331CEE5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864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1" name="Line 91">
                  <a:extLst>
                    <a:ext uri="{FF2B5EF4-FFF2-40B4-BE49-F238E27FC236}">
                      <a16:creationId xmlns:a16="http://schemas.microsoft.com/office/drawing/2014/main" id="{27D10C98-B97D-7327-60E3-92B300FBF3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864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507" name="Group 92">
                <a:extLst>
                  <a:ext uri="{FF2B5EF4-FFF2-40B4-BE49-F238E27FC236}">
                    <a16:creationId xmlns:a16="http://schemas.microsoft.com/office/drawing/2014/main" id="{644DD77F-C405-314D-6BC3-7BE2EE7F9A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2" y="852"/>
                <a:ext cx="528" cy="96"/>
                <a:chOff x="864" y="864"/>
                <a:chExt cx="528" cy="96"/>
              </a:xfrm>
            </p:grpSpPr>
            <p:sp>
              <p:nvSpPr>
                <p:cNvPr id="19508" name="Line 93">
                  <a:extLst>
                    <a:ext uri="{FF2B5EF4-FFF2-40B4-BE49-F238E27FC236}">
                      <a16:creationId xmlns:a16="http://schemas.microsoft.com/office/drawing/2014/main" id="{543B0BC5-80FF-2C43-6087-B9081244A5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864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09" name="Line 94">
                  <a:extLst>
                    <a:ext uri="{FF2B5EF4-FFF2-40B4-BE49-F238E27FC236}">
                      <a16:creationId xmlns:a16="http://schemas.microsoft.com/office/drawing/2014/main" id="{3FDF2FF0-DA5E-7BAB-FCA0-D9C4C03E42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864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9487" name="Line 95">
              <a:extLst>
                <a:ext uri="{FF2B5EF4-FFF2-40B4-BE49-F238E27FC236}">
                  <a16:creationId xmlns:a16="http://schemas.microsoft.com/office/drawing/2014/main" id="{50CCEBF1-0B2B-B32F-C49C-047C08C04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200"/>
              <a:ext cx="0" cy="62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8" name="Line 96">
              <a:extLst>
                <a:ext uri="{FF2B5EF4-FFF2-40B4-BE49-F238E27FC236}">
                  <a16:creationId xmlns:a16="http://schemas.microsoft.com/office/drawing/2014/main" id="{27D12CC1-5B4E-F3FF-96C7-64A2DBDC15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528"/>
              <a:ext cx="0" cy="69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9" name="Text Box 97">
              <a:extLst>
                <a:ext uri="{FF2B5EF4-FFF2-40B4-BE49-F238E27FC236}">
                  <a16:creationId xmlns:a16="http://schemas.microsoft.com/office/drawing/2014/main" id="{AF28AFAE-8BB5-B7BA-788D-07F57CD26A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36"/>
              <a:ext cx="13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i="0">
                  <a:solidFill>
                    <a:srgbClr val="008000"/>
                  </a:solidFill>
                  <a:latin typeface="Arial" panose="020B0604020202020204" pitchFamily="34" charset="0"/>
                </a:rPr>
                <a:t>F </a:t>
              </a:r>
              <a:r>
                <a:rPr lang="en-US" altLang="en-US" sz="1800">
                  <a:solidFill>
                    <a:srgbClr val="008000"/>
                  </a:solidFill>
                  <a:latin typeface="Arial" panose="020B0604020202020204" pitchFamily="34" charset="0"/>
                </a:rPr>
                <a:t>(Giá trị tương lai)</a:t>
              </a:r>
            </a:p>
          </p:txBody>
        </p:sp>
        <p:sp>
          <p:nvSpPr>
            <p:cNvPr id="19490" name="Text Box 98">
              <a:extLst>
                <a:ext uri="{FF2B5EF4-FFF2-40B4-BE49-F238E27FC236}">
                  <a16:creationId xmlns:a16="http://schemas.microsoft.com/office/drawing/2014/main" id="{A5E98E91-EC09-BDE3-164E-E2A1E030E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960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i="0">
                  <a:solidFill>
                    <a:srgbClr val="008000"/>
                  </a:solidFill>
                  <a:latin typeface="Arial" panose="020B0604020202020204" pitchFamily="34" charset="0"/>
                </a:rPr>
                <a:t>0</a:t>
              </a:r>
              <a:endParaRPr lang="en-US" altLang="en-US" sz="18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1" name="Line 99">
              <a:extLst>
                <a:ext uri="{FF2B5EF4-FFF2-40B4-BE49-F238E27FC236}">
                  <a16:creationId xmlns:a16="http://schemas.microsoft.com/office/drawing/2014/main" id="{B0ABF1FB-4727-7009-3B0F-79583D8BA4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768"/>
              <a:ext cx="0" cy="432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2" name="Line 100">
              <a:extLst>
                <a:ext uri="{FF2B5EF4-FFF2-40B4-BE49-F238E27FC236}">
                  <a16:creationId xmlns:a16="http://schemas.microsoft.com/office/drawing/2014/main" id="{C4CA4B68-C79A-5129-F49C-785AB8078D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" y="1200"/>
              <a:ext cx="0" cy="624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3" name="Text Box 101">
              <a:extLst>
                <a:ext uri="{FF2B5EF4-FFF2-40B4-BE49-F238E27FC236}">
                  <a16:creationId xmlns:a16="http://schemas.microsoft.com/office/drawing/2014/main" id="{51F30E99-083B-8CFD-F9E2-856F0314F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912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i="0">
                  <a:solidFill>
                    <a:srgbClr val="008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8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4" name="Text Box 102">
              <a:extLst>
                <a:ext uri="{FF2B5EF4-FFF2-40B4-BE49-F238E27FC236}">
                  <a16:creationId xmlns:a16="http://schemas.microsoft.com/office/drawing/2014/main" id="{EF71E947-12BA-70E7-426B-CF686EA09B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912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i="0">
                  <a:solidFill>
                    <a:srgbClr val="008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8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5" name="Text Box 103">
              <a:extLst>
                <a:ext uri="{FF2B5EF4-FFF2-40B4-BE49-F238E27FC236}">
                  <a16:creationId xmlns:a16="http://schemas.microsoft.com/office/drawing/2014/main" id="{4B24B7EC-4A40-C470-E576-9FD64D42A1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44"/>
              <a:ext cx="336" cy="23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i="0">
                  <a:solidFill>
                    <a:srgbClr val="008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8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6" name="Text Box 104">
              <a:extLst>
                <a:ext uri="{FF2B5EF4-FFF2-40B4-BE49-F238E27FC236}">
                  <a16:creationId xmlns:a16="http://schemas.microsoft.com/office/drawing/2014/main" id="{B8CE5C3A-820E-DFF1-5B5F-017F43D63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864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i="0">
                  <a:solidFill>
                    <a:srgbClr val="008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8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7" name="Text Box 105">
              <a:extLst>
                <a:ext uri="{FF2B5EF4-FFF2-40B4-BE49-F238E27FC236}">
                  <a16:creationId xmlns:a16="http://schemas.microsoft.com/office/drawing/2014/main" id="{A4E5A671-A043-5CF4-7007-EE7EC9435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864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i="0">
                  <a:solidFill>
                    <a:srgbClr val="008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8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8" name="Text Box 106">
              <a:extLst>
                <a:ext uri="{FF2B5EF4-FFF2-40B4-BE49-F238E27FC236}">
                  <a16:creationId xmlns:a16="http://schemas.microsoft.com/office/drawing/2014/main" id="{BD9812FA-A7A7-0ECC-45B6-6AD47FF46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864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i="0">
                  <a:solidFill>
                    <a:srgbClr val="008000"/>
                  </a:solidFill>
                  <a:latin typeface="Arial" panose="020B0604020202020204" pitchFamily="34" charset="0"/>
                </a:rPr>
                <a:t>6</a:t>
              </a:r>
              <a:endParaRPr lang="en-US" altLang="en-US" sz="18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9" name="Text Box 107">
              <a:extLst>
                <a:ext uri="{FF2B5EF4-FFF2-40B4-BE49-F238E27FC236}">
                  <a16:creationId xmlns:a16="http://schemas.microsoft.com/office/drawing/2014/main" id="{1BAD7D71-0179-3EC5-3EB3-67E0122BE0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296"/>
              <a:ext cx="336" cy="23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i="0">
                  <a:solidFill>
                    <a:srgbClr val="008000"/>
                  </a:solidFill>
                  <a:latin typeface="Arial" panose="020B0604020202020204" pitchFamily="34" charset="0"/>
                </a:rPr>
                <a:t>7</a:t>
              </a:r>
              <a:endParaRPr lang="en-US" altLang="en-US" sz="18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9476" name="Text Box 108">
            <a:extLst>
              <a:ext uri="{FF2B5EF4-FFF2-40B4-BE49-F238E27FC236}">
                <a16:creationId xmlns:a16="http://schemas.microsoft.com/office/drawing/2014/main" id="{9A5E263B-02BA-D1FC-4FF5-879E873EF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0198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b="1" i="0">
                <a:solidFill>
                  <a:srgbClr val="008000"/>
                </a:solidFill>
                <a:latin typeface="Arial" panose="020B0604020202020204" pitchFamily="34" charset="0"/>
              </a:rPr>
              <a:t>P </a:t>
            </a:r>
            <a:r>
              <a:rPr lang="en-US" altLang="en-US" sz="1800">
                <a:solidFill>
                  <a:srgbClr val="008000"/>
                </a:solidFill>
                <a:latin typeface="Arial" panose="020B0604020202020204" pitchFamily="34" charset="0"/>
              </a:rPr>
              <a:t>(Giá trị hiện tại)</a:t>
            </a:r>
          </a:p>
        </p:txBody>
      </p:sp>
      <p:sp>
        <p:nvSpPr>
          <p:cNvPr id="19477" name="Line 109">
            <a:extLst>
              <a:ext uri="{FF2B5EF4-FFF2-40B4-BE49-F238E27FC236}">
                <a16:creationId xmlns:a16="http://schemas.microsoft.com/office/drawing/2014/main" id="{5781846E-7182-8EF2-789E-F794FB1C34F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10200" y="4953000"/>
            <a:ext cx="0" cy="99060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8" name="Line 110">
            <a:extLst>
              <a:ext uri="{FF2B5EF4-FFF2-40B4-BE49-F238E27FC236}">
                <a16:creationId xmlns:a16="http://schemas.microsoft.com/office/drawing/2014/main" id="{B95349AF-5FD0-4101-9355-6A2969FDDAB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33800" y="4953000"/>
            <a:ext cx="0" cy="99060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9" name="Line 111">
            <a:extLst>
              <a:ext uri="{FF2B5EF4-FFF2-40B4-BE49-F238E27FC236}">
                <a16:creationId xmlns:a16="http://schemas.microsoft.com/office/drawing/2014/main" id="{BEFF3E9C-8B08-BCA0-FC00-041D27A0E7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5943600"/>
            <a:ext cx="1676400" cy="0"/>
          </a:xfrm>
          <a:prstGeom prst="line">
            <a:avLst/>
          </a:prstGeom>
          <a:noFill/>
          <a:ln w="9525">
            <a:solidFill>
              <a:srgbClr val="008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0" name="Text Box 112">
            <a:extLst>
              <a:ext uri="{FF2B5EF4-FFF2-40B4-BE49-F238E27FC236}">
                <a16:creationId xmlns:a16="http://schemas.microsoft.com/office/drawing/2014/main" id="{CA090E5F-472A-8A12-B8B0-B4E9AB1F1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019800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b="1" i="0">
                <a:solidFill>
                  <a:srgbClr val="008000"/>
                </a:solidFill>
                <a:latin typeface="Arial" panose="020B0604020202020204" pitchFamily="34" charset="0"/>
              </a:rPr>
              <a:t>A </a:t>
            </a:r>
            <a:r>
              <a:rPr lang="en-US" altLang="en-US" sz="1800">
                <a:solidFill>
                  <a:srgbClr val="008000"/>
                </a:solidFill>
                <a:latin typeface="Arial" panose="020B0604020202020204" pitchFamily="34" charset="0"/>
              </a:rPr>
              <a:t>(Dòng chi đều mỗi thời đọan)</a:t>
            </a:r>
          </a:p>
        </p:txBody>
      </p:sp>
      <p:sp>
        <p:nvSpPr>
          <p:cNvPr id="19481" name="Freeform 113">
            <a:extLst>
              <a:ext uri="{FF2B5EF4-FFF2-40B4-BE49-F238E27FC236}">
                <a16:creationId xmlns:a16="http://schemas.microsoft.com/office/drawing/2014/main" id="{EC2A2435-A5AE-AA05-04E7-2BFE399619C0}"/>
              </a:ext>
            </a:extLst>
          </p:cNvPr>
          <p:cNvSpPr>
            <a:spLocks/>
          </p:cNvSpPr>
          <p:nvPr/>
        </p:nvSpPr>
        <p:spPr bwMode="auto">
          <a:xfrm>
            <a:off x="0" y="1295400"/>
            <a:ext cx="9144000" cy="4343400"/>
          </a:xfrm>
          <a:custGeom>
            <a:avLst/>
            <a:gdLst>
              <a:gd name="T0" fmla="*/ 2147483647 w 5760"/>
              <a:gd name="T1" fmla="*/ 0 h 2736"/>
              <a:gd name="T2" fmla="*/ 2147483647 w 5760"/>
              <a:gd name="T3" fmla="*/ 2147483647 h 2736"/>
              <a:gd name="T4" fmla="*/ 2147483647 w 5760"/>
              <a:gd name="T5" fmla="*/ 2147483647 h 2736"/>
              <a:gd name="T6" fmla="*/ 967740069 w 5760"/>
              <a:gd name="T7" fmla="*/ 2147483647 h 2736"/>
              <a:gd name="T8" fmla="*/ 0 w 5760"/>
              <a:gd name="T9" fmla="*/ 2147483647 h 27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0"/>
              <a:gd name="T16" fmla="*/ 0 h 2736"/>
              <a:gd name="T17" fmla="*/ 5760 w 5760"/>
              <a:gd name="T18" fmla="*/ 2736 h 27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0" h="2736">
                <a:moveTo>
                  <a:pt x="5760" y="0"/>
                </a:moveTo>
                <a:cubicBezTo>
                  <a:pt x="5420" y="324"/>
                  <a:pt x="5080" y="648"/>
                  <a:pt x="4464" y="864"/>
                </a:cubicBezTo>
                <a:cubicBezTo>
                  <a:pt x="3848" y="1080"/>
                  <a:pt x="2744" y="1088"/>
                  <a:pt x="2064" y="1296"/>
                </a:cubicBezTo>
                <a:cubicBezTo>
                  <a:pt x="1384" y="1504"/>
                  <a:pt x="728" y="1872"/>
                  <a:pt x="384" y="2112"/>
                </a:cubicBezTo>
                <a:cubicBezTo>
                  <a:pt x="40" y="2352"/>
                  <a:pt x="64" y="2624"/>
                  <a:pt x="0" y="2736"/>
                </a:cubicBezTo>
              </a:path>
            </a:pathLst>
          </a:cu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2" name="Text Box 114">
            <a:extLst>
              <a:ext uri="{FF2B5EF4-FFF2-40B4-BE49-F238E27FC236}">
                <a16:creationId xmlns:a16="http://schemas.microsoft.com/office/drawing/2014/main" id="{65D89A88-B1AE-8DFF-AE6A-08CB3E7E9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52400"/>
            <a:ext cx="3962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3600" b="1" i="0">
                <a:solidFill>
                  <a:srgbClr val="008000"/>
                </a:solidFill>
                <a:latin typeface="Arial" panose="020B0604020202020204" pitchFamily="34" charset="0"/>
              </a:rPr>
              <a:t>VÍ DỤ VỀ CFD</a:t>
            </a:r>
            <a:endParaRPr lang="en-US" altLang="en-US" sz="36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9483" name="Line 115">
            <a:extLst>
              <a:ext uri="{FF2B5EF4-FFF2-40B4-BE49-F238E27FC236}">
                <a16:creationId xmlns:a16="http://schemas.microsoft.com/office/drawing/2014/main" id="{B7FF7D54-279D-4A32-01D1-A4F0AB6B35F8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6096000" cy="0"/>
          </a:xfrm>
          <a:prstGeom prst="line">
            <a:avLst/>
          </a:prstGeom>
          <a:noFill/>
          <a:ln w="9525" cap="sq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84" name="Text Box 116">
            <a:extLst>
              <a:ext uri="{FF2B5EF4-FFF2-40B4-BE49-F238E27FC236}">
                <a16:creationId xmlns:a16="http://schemas.microsoft.com/office/drawing/2014/main" id="{576E3A28-113B-56AB-78B2-1927D37DA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7620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b="1" i="0">
                <a:solidFill>
                  <a:srgbClr val="008000"/>
                </a:solidFill>
                <a:latin typeface="Arial" panose="020B0604020202020204" pitchFamily="34" charset="0"/>
              </a:rPr>
              <a:t>CF thu</a:t>
            </a:r>
            <a:endParaRPr lang="en-US" altLang="en-US" sz="18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9485" name="Text Box 117">
            <a:extLst>
              <a:ext uri="{FF2B5EF4-FFF2-40B4-BE49-F238E27FC236}">
                <a16:creationId xmlns:a16="http://schemas.microsoft.com/office/drawing/2014/main" id="{513F55B5-B6FB-04E0-AE94-7EC5D563D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6670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800" b="1" i="0">
                <a:solidFill>
                  <a:srgbClr val="008000"/>
                </a:solidFill>
                <a:latin typeface="Arial" panose="020B0604020202020204" pitchFamily="34" charset="0"/>
              </a:rPr>
              <a:t>CF chi</a:t>
            </a:r>
            <a:endParaRPr lang="en-US" altLang="en-US" sz="18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C249786-D54C-BF59-96DB-B9A48A7A0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1000"/>
            <a:ext cx="8153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3400" b="1" i="0">
                <a:solidFill>
                  <a:schemeClr val="folHlink"/>
                </a:solidFill>
                <a:latin typeface="Tahoma" panose="020B0604030504040204" pitchFamily="34" charset="0"/>
              </a:rPr>
              <a:t>CÔNG THỨC TÍNH GIÁ TRỊ TƯƠNG ĐƯƠNG CHO CÁC DÒNG TIỀN TỆ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C9B4922-DA8B-9305-8F72-5DB3409AD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828800"/>
            <a:ext cx="78486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Một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công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ty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vay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1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triệu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đồng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trong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5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năm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.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Hỏi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họ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phải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trả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lại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bao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nhiêu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vào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cuối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năm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thứ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5?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   </a:t>
            </a:r>
            <a:r>
              <a:rPr kumimoji="1" lang="en-US" altLang="en-US" sz="2200" b="1" i="0" dirty="0">
                <a:latin typeface="Arial" panose="020B0604020202020204" pitchFamily="34" charset="0"/>
                <a:sym typeface="Wingdings" panose="05000000000000000000" pitchFamily="2" charset="2"/>
              </a:rPr>
              <a:t> Cho P </a:t>
            </a:r>
            <a:r>
              <a:rPr kumimoji="1" lang="en-US" altLang="en-US" sz="2200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tìm</a:t>
            </a:r>
            <a:r>
              <a:rPr kumimoji="1" lang="en-US" altLang="en-US" sz="2200" b="1" i="0" dirty="0">
                <a:latin typeface="Arial" panose="020B0604020202020204" pitchFamily="34" charset="0"/>
                <a:sym typeface="Wingdings" panose="05000000000000000000" pitchFamily="2" charset="2"/>
              </a:rPr>
              <a:t> F!, </a:t>
            </a:r>
            <a:r>
              <a:rPr kumimoji="1" lang="en-US" altLang="en-US" sz="2200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với</a:t>
            </a:r>
            <a:r>
              <a:rPr kumimoji="1" lang="en-US" altLang="en-US" sz="2200" b="1" i="0" dirty="0">
                <a:latin typeface="Arial" panose="020B0604020202020204" pitchFamily="34" charset="0"/>
                <a:sym typeface="Wingdings" panose="05000000000000000000" pitchFamily="2" charset="2"/>
              </a:rPr>
              <a:t> P=1 </a:t>
            </a:r>
            <a:r>
              <a:rPr kumimoji="1" lang="en-US" altLang="en-US" sz="2200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triệu</a:t>
            </a:r>
            <a:endParaRPr kumimoji="1" lang="en-US" altLang="en-US" sz="2200" b="1" i="0" dirty="0">
              <a:latin typeface="Arial" panose="020B0604020202020204" pitchFamily="34" charset="0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Phải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tiết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kiệm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hàng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năm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là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bao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nhiêu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để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cuối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năm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thử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5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có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thể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tích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lũy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được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một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số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tiền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là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10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triệu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đồng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?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2200" b="1" i="0" dirty="0">
                <a:latin typeface="Arial" panose="020B0604020202020204" pitchFamily="34" charset="0"/>
                <a:sym typeface="Wingdings" panose="05000000000000000000" pitchFamily="2" charset="2"/>
              </a:rPr>
              <a:t>     Cho F </a:t>
            </a:r>
            <a:r>
              <a:rPr kumimoji="1" lang="en-US" altLang="en-US" sz="2200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tìm</a:t>
            </a:r>
            <a:r>
              <a:rPr kumimoji="1" lang="en-US" altLang="en-US" sz="2200" b="1" i="0" dirty="0">
                <a:latin typeface="Arial" panose="020B0604020202020204" pitchFamily="34" charset="0"/>
                <a:sym typeface="Wingdings" panose="05000000000000000000" pitchFamily="2" charset="2"/>
              </a:rPr>
              <a:t> A!, </a:t>
            </a:r>
            <a:r>
              <a:rPr kumimoji="1" lang="en-US" altLang="en-US" sz="2200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với</a:t>
            </a:r>
            <a:r>
              <a:rPr kumimoji="1" lang="en-US" altLang="en-US" sz="2200" b="1" i="0" dirty="0">
                <a:latin typeface="Arial" panose="020B0604020202020204" pitchFamily="34" charset="0"/>
                <a:sym typeface="Wingdings" panose="05000000000000000000" pitchFamily="2" charset="2"/>
              </a:rPr>
              <a:t> F=10 </a:t>
            </a:r>
            <a:r>
              <a:rPr kumimoji="1" lang="en-US" altLang="en-US" sz="2200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triệu</a:t>
            </a:r>
            <a:endParaRPr kumimoji="1" lang="en-US" altLang="en-US" sz="2200" b="1" i="0" dirty="0">
              <a:latin typeface="Arial" panose="020B0604020202020204" pitchFamily="34" charset="0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Phải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bỏ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vào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tiết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kiệm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là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bao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nhiêu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để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hàng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năm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có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thể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rút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ra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được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số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tiền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là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100.000 </a:t>
            </a:r>
            <a:r>
              <a:rPr kumimoji="1" lang="en-US" altLang="en-US" sz="2200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đồng</a:t>
            </a:r>
            <a:r>
              <a:rPr kumimoji="1" lang="en-US" altLang="en-US" sz="2200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trong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5 </a:t>
            </a:r>
            <a:r>
              <a:rPr kumimoji="1" lang="en-US" altLang="en-US" sz="2200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năm</a:t>
            </a:r>
            <a:r>
              <a:rPr kumimoji="1" lang="en-US" altLang="en-US" sz="2200" b="1" i="0" dirty="0">
                <a:solidFill>
                  <a:schemeClr val="folHlink"/>
                </a:solidFill>
                <a:latin typeface="Arial" panose="020B0604020202020204" pitchFamily="34" charset="0"/>
              </a:rPr>
              <a:t>?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2200" b="1" i="0" dirty="0">
                <a:latin typeface="Arial" panose="020B0604020202020204" pitchFamily="34" charset="0"/>
                <a:sym typeface="Wingdings" panose="05000000000000000000" pitchFamily="2" charset="2"/>
              </a:rPr>
              <a:t>     Cho ? </a:t>
            </a:r>
            <a:r>
              <a:rPr kumimoji="1" lang="en-US" altLang="en-US" sz="2200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tìm</a:t>
            </a:r>
            <a:r>
              <a:rPr kumimoji="1" lang="en-US" altLang="en-US" sz="2200" b="1" i="0" dirty="0">
                <a:latin typeface="Arial" panose="020B0604020202020204" pitchFamily="34" charset="0"/>
                <a:sym typeface="Wingdings" panose="05000000000000000000" pitchFamily="2" charset="2"/>
              </a:rPr>
              <a:t> ?!</a:t>
            </a:r>
            <a:endParaRPr kumimoji="1" lang="en-US" altLang="en-US" sz="2200" b="1" i="0" dirty="0">
              <a:latin typeface="Arial" panose="020B0604020202020204" pitchFamily="34" charset="0"/>
            </a:endParaRP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</a:pPr>
            <a:r>
              <a:rPr kumimoji="1" lang="en-US" altLang="en-US" sz="2200" i="0" dirty="0">
                <a:latin typeface="Arial" panose="020B0604020202020204" pitchFamily="34" charset="0"/>
              </a:rPr>
              <a:t>Cho A </a:t>
            </a:r>
            <a:r>
              <a:rPr kumimoji="1" lang="en-US" altLang="en-US" sz="2200" i="0" dirty="0" err="1">
                <a:latin typeface="Arial" panose="020B0604020202020204" pitchFamily="34" charset="0"/>
              </a:rPr>
              <a:t>tìm</a:t>
            </a:r>
            <a:r>
              <a:rPr kumimoji="1" lang="en-US" altLang="en-US" sz="2200" i="0" dirty="0">
                <a:latin typeface="Arial" panose="020B0604020202020204" pitchFamily="34" charset="0"/>
              </a:rPr>
              <a:t> 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0688407-017E-B4F7-5144-C5221A766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1000"/>
            <a:ext cx="8153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3600" b="1" i="0">
                <a:solidFill>
                  <a:schemeClr val="folHlink"/>
                </a:solidFill>
                <a:latin typeface="Tahoma" panose="020B0604030504040204" pitchFamily="34" charset="0"/>
              </a:rPr>
              <a:t>CÔNG THỨC TÍNH GIÁ TRỊ TƯƠNG ĐƯƠNG CHO CÁC DÒNG TIỀN TỆ</a:t>
            </a:r>
          </a:p>
        </p:txBody>
      </p:sp>
      <p:pic>
        <p:nvPicPr>
          <p:cNvPr id="21507" name="Picture 5">
            <a:extLst>
              <a:ext uri="{FF2B5EF4-FFF2-40B4-BE49-F238E27FC236}">
                <a16:creationId xmlns:a16="http://schemas.microsoft.com/office/drawing/2014/main" id="{339C2692-FFB3-FA97-655A-D0BA205EA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9" r="1205" b="35593"/>
          <a:stretch>
            <a:fillRect/>
          </a:stretch>
        </p:blipFill>
        <p:spPr bwMode="auto">
          <a:xfrm>
            <a:off x="1371600" y="2057400"/>
            <a:ext cx="7391400" cy="3810000"/>
          </a:xfrm>
          <a:prstGeom prst="rect">
            <a:avLst/>
          </a:prstGeom>
          <a:noFill/>
          <a:ln w="9525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08" name="Rectangle 6">
            <a:extLst>
              <a:ext uri="{FF2B5EF4-FFF2-40B4-BE49-F238E27FC236}">
                <a16:creationId xmlns:a16="http://schemas.microsoft.com/office/drawing/2014/main" id="{72CD3111-7FCE-A63F-9B54-827C21598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524000"/>
            <a:ext cx="1600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>
                <a:solidFill>
                  <a:srgbClr val="008000"/>
                </a:solidFill>
              </a:rPr>
              <a:t>Tìm</a:t>
            </a:r>
          </a:p>
        </p:txBody>
      </p:sp>
      <p:sp>
        <p:nvSpPr>
          <p:cNvPr id="21509" name="Rectangle 7">
            <a:extLst>
              <a:ext uri="{FF2B5EF4-FFF2-40B4-BE49-F238E27FC236}">
                <a16:creationId xmlns:a16="http://schemas.microsoft.com/office/drawing/2014/main" id="{FE3E4FFD-D650-044F-5467-ED156B138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524000"/>
            <a:ext cx="1600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>
                <a:solidFill>
                  <a:srgbClr val="008000"/>
                </a:solidFill>
              </a:rPr>
              <a:t>Theo</a:t>
            </a:r>
          </a:p>
        </p:txBody>
      </p:sp>
      <p:sp>
        <p:nvSpPr>
          <p:cNvPr id="21510" name="Rectangle 8">
            <a:extLst>
              <a:ext uri="{FF2B5EF4-FFF2-40B4-BE49-F238E27FC236}">
                <a16:creationId xmlns:a16="http://schemas.microsoft.com/office/drawing/2014/main" id="{4E63D98A-2CC5-FF7C-636E-FAD51227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524000"/>
            <a:ext cx="1600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>
                <a:solidFill>
                  <a:srgbClr val="008000"/>
                </a:solidFill>
              </a:rPr>
              <a:t>Bằng công thức</a:t>
            </a:r>
          </a:p>
        </p:txBody>
      </p:sp>
      <p:sp>
        <p:nvSpPr>
          <p:cNvPr id="21511" name="Rectangle 9">
            <a:extLst>
              <a:ext uri="{FF2B5EF4-FFF2-40B4-BE49-F238E27FC236}">
                <a16:creationId xmlns:a16="http://schemas.microsoft.com/office/drawing/2014/main" id="{8589CFFB-8587-A546-D443-4203BADC1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943600"/>
            <a:ext cx="441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>
                <a:solidFill>
                  <a:srgbClr val="008000"/>
                </a:solidFill>
              </a:rPr>
              <a:t>Cách khác?? </a:t>
            </a:r>
            <a:r>
              <a:rPr lang="en-US" altLang="en-US" b="1">
                <a:solidFill>
                  <a:srgbClr val="008000"/>
                </a:solidFill>
                <a:sym typeface="Wingdings" panose="05000000000000000000" pitchFamily="2" charset="2"/>
              </a:rPr>
              <a:t> Tra bảng!!</a:t>
            </a:r>
            <a:endParaRPr lang="en-US" altLang="en-US" b="1">
              <a:solidFill>
                <a:srgbClr val="008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2103E99-8FE5-469F-2626-F4C64D2107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9144000" cy="838200"/>
          </a:xfrm>
        </p:spPr>
        <p:txBody>
          <a:bodyPr/>
          <a:lstStyle/>
          <a:p>
            <a:pPr algn="r"/>
            <a:r>
              <a:rPr lang="en-US" altLang="en-US" b="1">
                <a:solidFill>
                  <a:schemeClr val="folHlink"/>
                </a:solidFill>
              </a:rPr>
              <a:t>LÃI SUẤT THỰC VÀ </a:t>
            </a:r>
            <a:br>
              <a:rPr lang="en-US" altLang="en-US" b="1">
                <a:solidFill>
                  <a:schemeClr val="folHlink"/>
                </a:solidFill>
              </a:rPr>
            </a:br>
            <a:r>
              <a:rPr lang="en-US" altLang="en-US" b="1">
                <a:solidFill>
                  <a:schemeClr val="folHlink"/>
                </a:solidFill>
              </a:rPr>
              <a:t>LÃI SUẤT DANH NGHĨA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96E8A511-4424-1B18-F9E9-C57142CECE3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371600" y="1752600"/>
            <a:ext cx="7386638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Thời đoạn phát biểu và thời đoạn ghép lãi: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/>
              <a:t>Xem cách phát biểu: Lãi suất 12% năm ghép lãi theo quý.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ym typeface="Wingdings" panose="05000000000000000000" pitchFamily="2" charset="2"/>
              </a:rPr>
              <a:t>Thời đọan phát biểu: NĂM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ym typeface="Wingdings" panose="05000000000000000000" pitchFamily="2" charset="2"/>
              </a:rPr>
              <a:t>Thời đoạn ghép lãi: QUÝ, cứ mỗi quý tiền lãi sẽ được nhập vào vốn gốc để tính tiền lãi cho quý sau.</a:t>
            </a: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 sz="2000"/>
              <a:t>Lãi suất danh nghĩa: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Thời đoạn phát biểu khác với thời đoạn ghép lãi (mà không có xác định là lãi suất thực).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Là lãi suất đơn.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Ví dụ: Lãi suất 12% năm ghép lãi theo tháng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ym typeface="Wingdings" panose="05000000000000000000" pitchFamily="2" charset="2"/>
              </a:rPr>
              <a:t> Lãi suất danh nghĩa 12% năm, Thời đoạn ghép lãi là tháng.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/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8C99535-F5D4-F939-FDFA-DF5FC6E4F4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9144000" cy="838200"/>
          </a:xfrm>
        </p:spPr>
        <p:txBody>
          <a:bodyPr/>
          <a:lstStyle/>
          <a:p>
            <a:pPr algn="r"/>
            <a:r>
              <a:rPr lang="en-US" altLang="en-US" b="1">
                <a:solidFill>
                  <a:schemeClr val="folHlink"/>
                </a:solidFill>
              </a:rPr>
              <a:t>LÃI SUẤT THỰC VÀ </a:t>
            </a:r>
            <a:br>
              <a:rPr lang="en-US" altLang="en-US" b="1">
                <a:solidFill>
                  <a:schemeClr val="folHlink"/>
                </a:solidFill>
              </a:rPr>
            </a:br>
            <a:r>
              <a:rPr lang="en-US" altLang="en-US" b="1">
                <a:solidFill>
                  <a:schemeClr val="folHlink"/>
                </a:solidFill>
              </a:rPr>
              <a:t>LÃI SUẤT DANH NGHĨA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E2F7F78-D0E2-9B2F-AEB5-03DB34C4295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95400" y="2133600"/>
            <a:ext cx="7386638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200"/>
              <a:t>Lãi suất thực: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Lãi suất phát biểu không có xác định thời đoạn ghép lãi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200">
                <a:sym typeface="Wingdings" panose="05000000000000000000" pitchFamily="2" charset="2"/>
              </a:rPr>
              <a:t> Ví dụ: Lãi suất 12% năm: Lãi suất thực 12% năm. Thời đoạn ghép lãi là năm</a:t>
            </a:r>
            <a:endParaRPr lang="en-US" altLang="en-US" sz="2200"/>
          </a:p>
          <a:p>
            <a:pPr lvl="1">
              <a:lnSpc>
                <a:spcPct val="90000"/>
              </a:lnSpc>
            </a:pPr>
            <a:r>
              <a:rPr lang="en-US" altLang="en-US" sz="2200"/>
              <a:t>Được xác định là lãi suất thực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200">
                <a:sym typeface="Wingdings" panose="05000000000000000000" pitchFamily="2" charset="2"/>
              </a:rPr>
              <a:t> </a:t>
            </a:r>
            <a:r>
              <a:rPr lang="en-US" altLang="en-US" sz="2200"/>
              <a:t>Ví dụ: Lãi suất thực 12% năm ghép lãi theo tháng: Lãi suất thực 12% năm. Thời đoạn ghép lãi là tháng.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D4F26F5-8B6A-E7C6-4CEC-44213F2A02E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19200" y="304800"/>
            <a:ext cx="7600950" cy="1143000"/>
          </a:xfrm>
        </p:spPr>
        <p:txBody>
          <a:bodyPr/>
          <a:lstStyle/>
          <a:p>
            <a:pPr algn="r"/>
            <a:r>
              <a:rPr lang="en-US" altLang="en-US" b="1">
                <a:solidFill>
                  <a:srgbClr val="008000"/>
                </a:solidFill>
                <a:latin typeface="Arial" panose="020B0604020202020204" pitchFamily="34" charset="0"/>
              </a:rPr>
              <a:t>CHUYỂN ĐỔI </a:t>
            </a:r>
            <a:br>
              <a:rPr lang="en-US" altLang="en-US" b="1">
                <a:solidFill>
                  <a:srgbClr val="008000"/>
                </a:solidFill>
                <a:latin typeface="Arial" panose="020B0604020202020204" pitchFamily="34" charset="0"/>
              </a:rPr>
            </a:br>
            <a:r>
              <a:rPr lang="en-US" altLang="en-US" b="1">
                <a:solidFill>
                  <a:srgbClr val="008000"/>
                </a:solidFill>
                <a:latin typeface="Arial" panose="020B0604020202020204" pitchFamily="34" charset="0"/>
              </a:rPr>
              <a:t>GIỮA CÁC LOẠI LÃI SUẤT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62AFBC4-2491-A9B6-B3EC-78DE8B9F02B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95388" y="1981200"/>
            <a:ext cx="7948612" cy="4486275"/>
          </a:xfrm>
        </p:spPr>
        <p:txBody>
          <a:bodyPr/>
          <a:lstStyle/>
          <a:p>
            <a:r>
              <a:rPr lang="en-US" altLang="en-US"/>
              <a:t>Lãi suất danh nghĩa (LSDN) sang lãi suất danh nghĩa: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/>
              <a:t>        </a:t>
            </a:r>
            <a:r>
              <a:rPr lang="en-US" altLang="en-US" i="1">
                <a:solidFill>
                  <a:schemeClr val="tx1"/>
                </a:solidFill>
              </a:rPr>
              <a:t>i</a:t>
            </a:r>
            <a:r>
              <a:rPr lang="en-US" altLang="en-US" i="1" baseline="-25000">
                <a:solidFill>
                  <a:schemeClr val="tx1"/>
                </a:solidFill>
              </a:rPr>
              <a:t>1</a:t>
            </a:r>
            <a:r>
              <a:rPr lang="en-US" altLang="en-US" i="1">
                <a:solidFill>
                  <a:schemeClr val="tx1"/>
                </a:solidFill>
              </a:rPr>
              <a:t> = i</a:t>
            </a:r>
            <a:r>
              <a:rPr lang="en-US" altLang="en-US" i="1" baseline="-25000">
                <a:solidFill>
                  <a:schemeClr val="tx1"/>
                </a:solidFill>
              </a:rPr>
              <a:t>2</a:t>
            </a:r>
            <a:r>
              <a:rPr lang="en-US" altLang="en-US" i="1">
                <a:solidFill>
                  <a:schemeClr val="tx1"/>
                </a:solidFill>
              </a:rPr>
              <a:t>/N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chemeClr val="tx1"/>
                </a:solidFill>
              </a:rPr>
              <a:t>Với: i</a:t>
            </a:r>
            <a:r>
              <a:rPr lang="en-US" altLang="en-US" i="1" baseline="-25000">
                <a:solidFill>
                  <a:schemeClr val="tx1"/>
                </a:solidFill>
              </a:rPr>
              <a:t>1</a:t>
            </a:r>
            <a:r>
              <a:rPr lang="en-US" altLang="en-US" i="1">
                <a:solidFill>
                  <a:schemeClr val="tx1"/>
                </a:solidFill>
              </a:rPr>
              <a:t>: LSDN trong thời đoạn NGẮN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chemeClr val="tx1"/>
                </a:solidFill>
              </a:rPr>
              <a:t>        i</a:t>
            </a:r>
            <a:r>
              <a:rPr lang="en-US" altLang="en-US" i="1" baseline="-25000">
                <a:solidFill>
                  <a:schemeClr val="tx1"/>
                </a:solidFill>
              </a:rPr>
              <a:t>2</a:t>
            </a:r>
            <a:r>
              <a:rPr lang="en-US" altLang="en-US" i="1">
                <a:solidFill>
                  <a:schemeClr val="tx1"/>
                </a:solidFill>
              </a:rPr>
              <a:t>: LSDN trong thời đoạn DÀI hơn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chemeClr val="tx1"/>
                </a:solidFill>
              </a:rPr>
              <a:t>	    N: Số thời đoạn ngắn trong thời đoạn dài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chemeClr val="tx1"/>
                </a:solidFill>
              </a:rPr>
              <a:t>Ví dụ: Lãi suất 12% năm ghép lãi theo tháng. 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altLang="en-US" i="1">
                <a:solidFill>
                  <a:schemeClr val="tx1"/>
                </a:solidFill>
                <a:sym typeface="Wingdings" panose="05000000000000000000" pitchFamily="2" charset="2"/>
              </a:rPr>
              <a:t>LSDN theo quý là 12%/4 = 3% quý, LSDN theo tháng là 12%/12 = 1% tháng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altLang="en-US" i="1">
                <a:solidFill>
                  <a:schemeClr val="tx1"/>
                </a:solidFill>
              </a:rPr>
              <a:t>LS thực theo tháng?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BC302D0-CE64-7C65-66E6-DE917894214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19200" y="304800"/>
            <a:ext cx="7600950" cy="1143000"/>
          </a:xfrm>
        </p:spPr>
        <p:txBody>
          <a:bodyPr/>
          <a:lstStyle/>
          <a:p>
            <a:pPr algn="r"/>
            <a:r>
              <a:rPr lang="en-US" altLang="en-US" b="1">
                <a:solidFill>
                  <a:srgbClr val="008000"/>
                </a:solidFill>
                <a:latin typeface="Arial" panose="020B0604020202020204" pitchFamily="34" charset="0"/>
              </a:rPr>
              <a:t>CHUYỂN ĐỔI </a:t>
            </a:r>
            <a:br>
              <a:rPr lang="en-US" altLang="en-US" b="1">
                <a:solidFill>
                  <a:srgbClr val="008000"/>
                </a:solidFill>
                <a:latin typeface="Arial" panose="020B0604020202020204" pitchFamily="34" charset="0"/>
              </a:rPr>
            </a:br>
            <a:r>
              <a:rPr lang="en-US" altLang="en-US" b="1">
                <a:solidFill>
                  <a:srgbClr val="008000"/>
                </a:solidFill>
                <a:latin typeface="Arial" panose="020B0604020202020204" pitchFamily="34" charset="0"/>
              </a:rPr>
              <a:t>GIỮA CÁC LOẠI LÃI SUẤT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6EAA479-DF7F-188D-38CC-EC1B458ABE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95388" y="1752600"/>
            <a:ext cx="7948612" cy="4486275"/>
          </a:xfrm>
        </p:spPr>
        <p:txBody>
          <a:bodyPr/>
          <a:lstStyle/>
          <a:p>
            <a:r>
              <a:rPr lang="en-US" altLang="en-US"/>
              <a:t>Lãi suất thực (LST) sang lãi suất thực (LST):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/>
              <a:t>        </a:t>
            </a:r>
            <a:r>
              <a:rPr lang="en-US" altLang="en-US" i="1">
                <a:solidFill>
                  <a:schemeClr val="tx1"/>
                </a:solidFill>
              </a:rPr>
              <a:t>i</a:t>
            </a:r>
            <a:r>
              <a:rPr lang="en-US" altLang="en-US" i="1" baseline="-25000">
                <a:solidFill>
                  <a:schemeClr val="tx1"/>
                </a:solidFill>
              </a:rPr>
              <a:t>2</a:t>
            </a:r>
            <a:r>
              <a:rPr lang="en-US" altLang="en-US" i="1">
                <a:solidFill>
                  <a:schemeClr val="tx1"/>
                </a:solidFill>
              </a:rPr>
              <a:t> = (1 + i</a:t>
            </a:r>
            <a:r>
              <a:rPr lang="en-US" altLang="en-US" i="1" baseline="-25000">
                <a:solidFill>
                  <a:schemeClr val="tx1"/>
                </a:solidFill>
              </a:rPr>
              <a:t>1</a:t>
            </a:r>
            <a:r>
              <a:rPr lang="en-US" altLang="en-US" i="1">
                <a:solidFill>
                  <a:schemeClr val="tx1"/>
                </a:solidFill>
              </a:rPr>
              <a:t>)</a:t>
            </a:r>
            <a:r>
              <a:rPr lang="en-US" altLang="en-US" i="1" baseline="30000">
                <a:solidFill>
                  <a:schemeClr val="tx1"/>
                </a:solidFill>
              </a:rPr>
              <a:t>m</a:t>
            </a:r>
            <a:r>
              <a:rPr lang="en-US" altLang="en-US" i="1">
                <a:solidFill>
                  <a:schemeClr val="tx1"/>
                </a:solidFill>
              </a:rPr>
              <a:t> - 1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chemeClr val="tx1"/>
                </a:solidFill>
              </a:rPr>
              <a:t>Với: i</a:t>
            </a:r>
            <a:r>
              <a:rPr lang="en-US" altLang="en-US" i="1" baseline="-25000">
                <a:solidFill>
                  <a:schemeClr val="tx1"/>
                </a:solidFill>
              </a:rPr>
              <a:t>1</a:t>
            </a:r>
            <a:r>
              <a:rPr lang="en-US" altLang="en-US" i="1">
                <a:solidFill>
                  <a:schemeClr val="tx1"/>
                </a:solidFill>
              </a:rPr>
              <a:t>: LST trong thời đoạn NGẮN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chemeClr val="tx1"/>
                </a:solidFill>
              </a:rPr>
              <a:t>        i</a:t>
            </a:r>
            <a:r>
              <a:rPr lang="en-US" altLang="en-US" i="1" baseline="-25000">
                <a:solidFill>
                  <a:schemeClr val="tx1"/>
                </a:solidFill>
              </a:rPr>
              <a:t>2</a:t>
            </a:r>
            <a:r>
              <a:rPr lang="en-US" altLang="en-US" i="1">
                <a:solidFill>
                  <a:schemeClr val="tx1"/>
                </a:solidFill>
              </a:rPr>
              <a:t>: LST trong thời đoạn DÀI hơn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chemeClr val="tx1"/>
                </a:solidFill>
              </a:rPr>
              <a:t>	    m: số thời đoạn ngắn trong thời đoạn dài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chemeClr val="tx1"/>
                </a:solidFill>
              </a:rPr>
              <a:t>Ví dụ: Lãi suất 1% tháng. 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altLang="en-US" i="1">
                <a:solidFill>
                  <a:schemeClr val="tx1"/>
                </a:solidFill>
                <a:sym typeface="Wingdings" panose="05000000000000000000" pitchFamily="2" charset="2"/>
              </a:rPr>
              <a:t>LST theo năm là (1 + 1%)</a:t>
            </a:r>
            <a:r>
              <a:rPr lang="en-US" altLang="en-US" i="1" baseline="30000">
                <a:solidFill>
                  <a:schemeClr val="tx1"/>
                </a:solidFill>
                <a:sym typeface="Wingdings" panose="05000000000000000000" pitchFamily="2" charset="2"/>
              </a:rPr>
              <a:t>12 </a:t>
            </a:r>
            <a:r>
              <a:rPr lang="en-US" altLang="en-US" i="1">
                <a:solidFill>
                  <a:schemeClr val="tx1"/>
                </a:solidFill>
                <a:sym typeface="Wingdings" panose="05000000000000000000" pitchFamily="2" charset="2"/>
              </a:rPr>
              <a:t>- 1</a:t>
            </a:r>
            <a:endParaRPr lang="en-US" altLang="en-US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9A27736-FC58-B182-5787-9282842FFCD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19200" y="304800"/>
            <a:ext cx="7600950" cy="1143000"/>
          </a:xfrm>
        </p:spPr>
        <p:txBody>
          <a:bodyPr/>
          <a:lstStyle/>
          <a:p>
            <a:pPr algn="r"/>
            <a:r>
              <a:rPr lang="en-US" altLang="en-US" b="1">
                <a:solidFill>
                  <a:srgbClr val="008000"/>
                </a:solidFill>
                <a:latin typeface="Arial" panose="020B0604020202020204" pitchFamily="34" charset="0"/>
              </a:rPr>
              <a:t>CHUYỂN ĐỔI </a:t>
            </a:r>
            <a:br>
              <a:rPr lang="en-US" altLang="en-US" b="1">
                <a:solidFill>
                  <a:srgbClr val="008000"/>
                </a:solidFill>
                <a:latin typeface="Arial" panose="020B0604020202020204" pitchFamily="34" charset="0"/>
              </a:rPr>
            </a:br>
            <a:r>
              <a:rPr lang="en-US" altLang="en-US" b="1">
                <a:solidFill>
                  <a:srgbClr val="008000"/>
                </a:solidFill>
                <a:latin typeface="Arial" panose="020B0604020202020204" pitchFamily="34" charset="0"/>
              </a:rPr>
              <a:t>GIỮA CÁC LOẠI LÃI SUẤT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77F55CD-9F53-6A96-03E8-ABB864EAE84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95388" y="1752600"/>
            <a:ext cx="7948612" cy="44862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200"/>
              <a:t>Lãi suất danh nghĩa (LSDN) sang lãi suất thực (LST) 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i="1"/>
              <a:t>       </a:t>
            </a:r>
            <a:r>
              <a:rPr lang="en-US" altLang="en-US" sz="2200" i="1">
                <a:solidFill>
                  <a:schemeClr val="tx1"/>
                </a:solidFill>
              </a:rPr>
              <a:t>i = (1 + r/m</a:t>
            </a:r>
            <a:r>
              <a:rPr lang="en-US" altLang="en-US" sz="2200" i="1" baseline="-25000">
                <a:solidFill>
                  <a:schemeClr val="tx1"/>
                </a:solidFill>
              </a:rPr>
              <a:t>1</a:t>
            </a:r>
            <a:r>
              <a:rPr lang="en-US" altLang="en-US" sz="2200" i="1">
                <a:solidFill>
                  <a:schemeClr val="tx1"/>
                </a:solidFill>
              </a:rPr>
              <a:t>)</a:t>
            </a:r>
            <a:r>
              <a:rPr lang="en-US" altLang="en-US" sz="2200" i="1" baseline="30000">
                <a:solidFill>
                  <a:schemeClr val="tx1"/>
                </a:solidFill>
              </a:rPr>
              <a:t>m2</a:t>
            </a:r>
            <a:r>
              <a:rPr lang="en-US" altLang="en-US" sz="2200" i="1">
                <a:solidFill>
                  <a:schemeClr val="tx1"/>
                </a:solidFill>
              </a:rPr>
              <a:t> - 1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i="1">
                <a:solidFill>
                  <a:schemeClr val="tx1"/>
                </a:solidFill>
              </a:rPr>
              <a:t>Với: i: LST trong thời đọan TÍNH TOÁN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i="1">
                <a:solidFill>
                  <a:schemeClr val="tx1"/>
                </a:solidFill>
              </a:rPr>
              <a:t>       r: LSDN trong thời đọan PHÁT BIỂU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i="1">
                <a:solidFill>
                  <a:schemeClr val="tx1"/>
                </a:solidFill>
              </a:rPr>
              <a:t>       m</a:t>
            </a:r>
            <a:r>
              <a:rPr lang="en-US" altLang="en-US" sz="2200" i="1" baseline="-25000">
                <a:solidFill>
                  <a:schemeClr val="tx1"/>
                </a:solidFill>
              </a:rPr>
              <a:t>1</a:t>
            </a:r>
            <a:r>
              <a:rPr lang="en-US" altLang="en-US" sz="2200" i="1">
                <a:solidFill>
                  <a:schemeClr val="tx1"/>
                </a:solidFill>
              </a:rPr>
              <a:t>: Số thời đoạn GL trong thời đoạn PB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i="1">
                <a:solidFill>
                  <a:schemeClr val="tx1"/>
                </a:solidFill>
              </a:rPr>
              <a:t>      m</a:t>
            </a:r>
            <a:r>
              <a:rPr lang="en-US" altLang="en-US" sz="2200" i="1" baseline="-25000">
                <a:solidFill>
                  <a:schemeClr val="tx1"/>
                </a:solidFill>
              </a:rPr>
              <a:t>2</a:t>
            </a:r>
            <a:r>
              <a:rPr lang="en-US" altLang="en-US" sz="2200" i="1">
                <a:solidFill>
                  <a:schemeClr val="tx1"/>
                </a:solidFill>
              </a:rPr>
              <a:t>: Số thời đoạn GL trong thời đoạn TT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i="1">
                <a:solidFill>
                  <a:schemeClr val="tx1"/>
                </a:solidFill>
              </a:rPr>
              <a:t>Ví dụ: Lãi suất 12% </a:t>
            </a:r>
            <a:r>
              <a:rPr lang="en-US" altLang="en-US" sz="2200" i="1">
                <a:solidFill>
                  <a:srgbClr val="0033CC"/>
                </a:solidFill>
              </a:rPr>
              <a:t>năm</a:t>
            </a:r>
            <a:r>
              <a:rPr lang="en-US" altLang="en-US" sz="2200" i="1">
                <a:solidFill>
                  <a:schemeClr val="tx1"/>
                </a:solidFill>
              </a:rPr>
              <a:t>, ghép lãi theo </a:t>
            </a:r>
            <a:r>
              <a:rPr lang="en-US" altLang="en-US" sz="2200" i="1">
                <a:solidFill>
                  <a:srgbClr val="FF3300"/>
                </a:solidFill>
              </a:rPr>
              <a:t>quý</a:t>
            </a:r>
            <a:r>
              <a:rPr lang="en-US" altLang="en-US" sz="2200" i="1">
                <a:solidFill>
                  <a:schemeClr val="tx1"/>
                </a:solidFill>
              </a:rPr>
              <a:t>. Tìm LST theo </a:t>
            </a:r>
            <a:r>
              <a:rPr lang="en-US" altLang="en-US" sz="2200" i="1"/>
              <a:t>năm</a:t>
            </a:r>
            <a:r>
              <a:rPr lang="en-US" altLang="en-US" sz="2200" i="1">
                <a:solidFill>
                  <a:schemeClr val="tx1"/>
                </a:solidFill>
              </a:rPr>
              <a:t>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i="1">
                <a:solidFill>
                  <a:schemeClr val="tx1"/>
                </a:solidFill>
                <a:sym typeface="Wingdings" panose="05000000000000000000" pitchFamily="2" charset="2"/>
              </a:rPr>
              <a:t> Thời đoạn GL: </a:t>
            </a:r>
            <a:r>
              <a:rPr lang="en-US" altLang="en-US" sz="2200" i="1">
                <a:solidFill>
                  <a:srgbClr val="FF3300"/>
                </a:solidFill>
                <a:sym typeface="Wingdings" panose="05000000000000000000" pitchFamily="2" charset="2"/>
              </a:rPr>
              <a:t>quý. </a:t>
            </a:r>
            <a:r>
              <a:rPr lang="en-US" altLang="en-US" sz="2200" i="1">
                <a:solidFill>
                  <a:schemeClr val="tx1"/>
                </a:solidFill>
                <a:sym typeface="Wingdings" panose="05000000000000000000" pitchFamily="2" charset="2"/>
              </a:rPr>
              <a:t>Thời đoạn PB: </a:t>
            </a:r>
            <a:r>
              <a:rPr lang="en-US" altLang="en-US" sz="2200" i="1">
                <a:solidFill>
                  <a:srgbClr val="0033CC"/>
                </a:solidFill>
                <a:sym typeface="Wingdings" panose="05000000000000000000" pitchFamily="2" charset="2"/>
              </a:rPr>
              <a:t>năm. </a:t>
            </a:r>
            <a:r>
              <a:rPr lang="en-US" altLang="en-US" sz="2200" i="1">
                <a:solidFill>
                  <a:schemeClr val="tx1"/>
                </a:solidFill>
                <a:sym typeface="Wingdings" panose="05000000000000000000" pitchFamily="2" charset="2"/>
              </a:rPr>
              <a:t>Thời đoạn TT: </a:t>
            </a:r>
            <a:r>
              <a:rPr lang="en-US" altLang="en-US" sz="2200" i="1">
                <a:sym typeface="Wingdings" panose="05000000000000000000" pitchFamily="2" charset="2"/>
              </a:rPr>
              <a:t>năm.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altLang="en-US" sz="2200" i="1">
                <a:sym typeface="Wingdings" panose="05000000000000000000" pitchFamily="2" charset="2"/>
              </a:rPr>
              <a:t>m</a:t>
            </a:r>
            <a:r>
              <a:rPr lang="en-US" altLang="en-US" sz="2200" i="1" baseline="-25000">
                <a:sym typeface="Wingdings" panose="05000000000000000000" pitchFamily="2" charset="2"/>
              </a:rPr>
              <a:t>1</a:t>
            </a:r>
            <a:r>
              <a:rPr lang="en-US" altLang="en-US" sz="2200" i="1">
                <a:sym typeface="Wingdings" panose="05000000000000000000" pitchFamily="2" charset="2"/>
              </a:rPr>
              <a:t> = m</a:t>
            </a:r>
            <a:r>
              <a:rPr lang="en-US" altLang="en-US" sz="2200" i="1" baseline="-25000">
                <a:sym typeface="Wingdings" panose="05000000000000000000" pitchFamily="2" charset="2"/>
              </a:rPr>
              <a:t>2</a:t>
            </a:r>
            <a:r>
              <a:rPr lang="en-US" altLang="en-US" sz="2200" i="1">
                <a:sym typeface="Wingdings" panose="05000000000000000000" pitchFamily="2" charset="2"/>
              </a:rPr>
              <a:t> = 4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altLang="en-US" sz="2200" i="1"/>
              <a:t>i = (1 + 12%/4)</a:t>
            </a:r>
            <a:r>
              <a:rPr lang="en-US" altLang="en-US" sz="2200" i="1" baseline="30000"/>
              <a:t>4</a:t>
            </a:r>
            <a:r>
              <a:rPr lang="en-US" altLang="en-US" sz="2200" i="1"/>
              <a:t> - 1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46EC3EE-5967-4EF6-1165-2FC5B9B97B38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3124200"/>
            <a:ext cx="8839200" cy="1524000"/>
          </a:xfrm>
        </p:spPr>
        <p:txBody>
          <a:bodyPr/>
          <a:lstStyle/>
          <a:p>
            <a:pPr algn="ctr"/>
            <a:r>
              <a:rPr lang="en-US" altLang="en-US" sz="3200" b="1">
                <a:solidFill>
                  <a:schemeClr val="folHlink"/>
                </a:solidFill>
                <a:latin typeface="Copperplate Gothic Bold" panose="020E0705020206020404" pitchFamily="34" charset="0"/>
              </a:rPr>
              <a:t>XIN CẢM ƠN </a:t>
            </a:r>
          </a:p>
        </p:txBody>
      </p:sp>
      <p:pic>
        <p:nvPicPr>
          <p:cNvPr id="60424" name="Picture 8" descr="money-stack">
            <a:extLst>
              <a:ext uri="{FF2B5EF4-FFF2-40B4-BE49-F238E27FC236}">
                <a16:creationId xmlns:a16="http://schemas.microsoft.com/office/drawing/2014/main" id="{5D644185-2C12-C3DA-5F95-A1131A24F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457200"/>
            <a:ext cx="4724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IEC PPT Design Template">
  <a:themeElements>
    <a:clrScheme name="">
      <a:dk1>
        <a:srgbClr val="333300"/>
      </a:dk1>
      <a:lt1>
        <a:srgbClr val="FFFFFF"/>
      </a:lt1>
      <a:dk2>
        <a:srgbClr val="000000"/>
      </a:dk2>
      <a:lt2>
        <a:srgbClr val="969696"/>
      </a:lt2>
      <a:accent1>
        <a:srgbClr val="A5EFD6"/>
      </a:accent1>
      <a:accent2>
        <a:srgbClr val="94ADB5"/>
      </a:accent2>
      <a:accent3>
        <a:srgbClr val="FFFFFF"/>
      </a:accent3>
      <a:accent4>
        <a:srgbClr val="2A2A00"/>
      </a:accent4>
      <a:accent5>
        <a:srgbClr val="CFF6E8"/>
      </a:accent5>
      <a:accent6>
        <a:srgbClr val="869CA4"/>
      </a:accent6>
      <a:hlink>
        <a:srgbClr val="18CE84"/>
      </a:hlink>
      <a:folHlink>
        <a:srgbClr val="008000"/>
      </a:folHlink>
    </a:clrScheme>
    <a:fontScheme name="IIEC PPT Design Template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6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6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IEC PPT Design Template 1">
        <a:dk1>
          <a:srgbClr val="333300"/>
        </a:dk1>
        <a:lt1>
          <a:srgbClr val="FFFFFF"/>
        </a:lt1>
        <a:dk2>
          <a:srgbClr val="000000"/>
        </a:dk2>
        <a:lt2>
          <a:srgbClr val="969696"/>
        </a:lt2>
        <a:accent1>
          <a:srgbClr val="E5D58A"/>
        </a:accent1>
        <a:accent2>
          <a:srgbClr val="CCCC00"/>
        </a:accent2>
        <a:accent3>
          <a:srgbClr val="FFFFFF"/>
        </a:accent3>
        <a:accent4>
          <a:srgbClr val="2A2A00"/>
        </a:accent4>
        <a:accent5>
          <a:srgbClr val="F0E7C4"/>
        </a:accent5>
        <a:accent6>
          <a:srgbClr val="B9B900"/>
        </a:accent6>
        <a:hlink>
          <a:srgbClr val="9999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IEC PPT Design Template 2">
        <a:dk1>
          <a:srgbClr val="000000"/>
        </a:dk1>
        <a:lt1>
          <a:srgbClr val="8EA1C0"/>
        </a:lt1>
        <a:dk2>
          <a:srgbClr val="FFFFFF"/>
        </a:dk2>
        <a:lt2>
          <a:srgbClr val="5F5F5F"/>
        </a:lt2>
        <a:accent1>
          <a:srgbClr val="B6CDDE"/>
        </a:accent1>
        <a:accent2>
          <a:srgbClr val="8A7CA2"/>
        </a:accent2>
        <a:accent3>
          <a:srgbClr val="C6CDDC"/>
        </a:accent3>
        <a:accent4>
          <a:srgbClr val="000000"/>
        </a:accent4>
        <a:accent5>
          <a:srgbClr val="D7E3EC"/>
        </a:accent5>
        <a:accent6>
          <a:srgbClr val="7D7092"/>
        </a:accent6>
        <a:hlink>
          <a:srgbClr val="336699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IEC PPT Design Template 3">
        <a:dk1>
          <a:srgbClr val="333300"/>
        </a:dk1>
        <a:lt1>
          <a:srgbClr val="FFFFFF"/>
        </a:lt1>
        <a:dk2>
          <a:srgbClr val="000000"/>
        </a:dk2>
        <a:lt2>
          <a:srgbClr val="969696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2A2A00"/>
        </a:accent4>
        <a:accent5>
          <a:srgbClr val="F3F3F3"/>
        </a:accent5>
        <a:accent6>
          <a:srgbClr val="878787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Balloon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Settings\Nitin Pandit\Application Data\Microsoft\Templates\IIEC PPT Design Template.pot</Template>
  <TotalTime>1816</TotalTime>
  <Words>1426</Words>
  <Application>Microsoft Office PowerPoint</Application>
  <PresentationFormat>On-screen Show (4:3)</PresentationFormat>
  <Paragraphs>141</Paragraphs>
  <Slides>14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Copperplate Gothic Bold</vt:lpstr>
      <vt:lpstr>Lucida Sans</vt:lpstr>
      <vt:lpstr>Monotype Corsiva</vt:lpstr>
      <vt:lpstr>Tahoma</vt:lpstr>
      <vt:lpstr>Times New Roman</vt:lpstr>
      <vt:lpstr>Verdana</vt:lpstr>
      <vt:lpstr>Wingdings</vt:lpstr>
      <vt:lpstr>IIEC PPT Design Template</vt:lpstr>
      <vt:lpstr>Balloons</vt:lpstr>
      <vt:lpstr>Bitmap Image</vt:lpstr>
      <vt:lpstr>CHƯƠNG 2 GIÁ TRỊ THEO THỜI GIAN  CỦA TIỀN TỆ</vt:lpstr>
      <vt:lpstr>NỘI DUNG</vt:lpstr>
      <vt:lpstr>TÍNH TOÁN LÃI TỨC</vt:lpstr>
      <vt:lpstr>PowerPoint Presentation</vt:lpstr>
      <vt:lpstr>BIỂU ĐỒ DÒNG TIỀN TỆ</vt:lpstr>
      <vt:lpstr>PowerPoint Presentation</vt:lpstr>
      <vt:lpstr>PowerPoint Presentation</vt:lpstr>
      <vt:lpstr>PowerPoint Presentation</vt:lpstr>
      <vt:lpstr>LÃI SUẤT THỰC VÀ  LÃI SUẤT DANH NGHĨA</vt:lpstr>
      <vt:lpstr>LÃI SUẤT THỰC VÀ  LÃI SUẤT DANH NGHĨA</vt:lpstr>
      <vt:lpstr>CHUYỂN ĐỔI  GIỮA CÁC LOẠI LÃI SUẤT</vt:lpstr>
      <vt:lpstr>CHUYỂN ĐỔI  GIỮA CÁC LOẠI LÃI SUẤT</vt:lpstr>
      <vt:lpstr>CHUYỂN ĐỔI  GIỮA CÁC LOẠI LÃI SUẤT</vt:lpstr>
      <vt:lpstr>XIN CẢM ƠN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LPG as a reliable alternate fuel</dc:title>
  <dc:creator>Tung Le</dc:creator>
  <cp:lastModifiedBy>Huỳnh Nguyễn Quốc Bảo-CN22CLCA</cp:lastModifiedBy>
  <cp:revision>123</cp:revision>
  <dcterms:created xsi:type="dcterms:W3CDTF">2004-09-13T09:11:11Z</dcterms:created>
  <dcterms:modified xsi:type="dcterms:W3CDTF">2025-05-26T03:22:12Z</dcterms:modified>
</cp:coreProperties>
</file>