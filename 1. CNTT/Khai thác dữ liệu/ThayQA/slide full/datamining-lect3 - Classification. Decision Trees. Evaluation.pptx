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97"/>
  </p:notesMasterIdLst>
  <p:sldIdLst>
    <p:sldId id="674" r:id="rId2"/>
    <p:sldId id="851" r:id="rId3"/>
    <p:sldId id="852" r:id="rId4"/>
    <p:sldId id="860" r:id="rId5"/>
    <p:sldId id="854" r:id="rId6"/>
    <p:sldId id="775" r:id="rId7"/>
    <p:sldId id="778" r:id="rId8"/>
    <p:sldId id="780" r:id="rId9"/>
    <p:sldId id="677" r:id="rId10"/>
    <p:sldId id="777" r:id="rId11"/>
    <p:sldId id="676" r:id="rId12"/>
    <p:sldId id="776" r:id="rId13"/>
    <p:sldId id="678" r:id="rId14"/>
    <p:sldId id="781" r:id="rId15"/>
    <p:sldId id="782" r:id="rId16"/>
    <p:sldId id="679" r:id="rId17"/>
    <p:sldId id="680" r:id="rId18"/>
    <p:sldId id="681" r:id="rId19"/>
    <p:sldId id="682" r:id="rId20"/>
    <p:sldId id="683" r:id="rId21"/>
    <p:sldId id="684" r:id="rId22"/>
    <p:sldId id="685" r:id="rId23"/>
    <p:sldId id="686" r:id="rId24"/>
    <p:sldId id="687" r:id="rId25"/>
    <p:sldId id="688" r:id="rId26"/>
    <p:sldId id="692" r:id="rId27"/>
    <p:sldId id="690" r:id="rId28"/>
    <p:sldId id="691" r:id="rId29"/>
    <p:sldId id="787" r:id="rId30"/>
    <p:sldId id="693" r:id="rId31"/>
    <p:sldId id="694" r:id="rId32"/>
    <p:sldId id="695" r:id="rId33"/>
    <p:sldId id="696" r:id="rId34"/>
    <p:sldId id="697" r:id="rId35"/>
    <p:sldId id="698" r:id="rId36"/>
    <p:sldId id="700" r:id="rId37"/>
    <p:sldId id="701" r:id="rId38"/>
    <p:sldId id="783" r:id="rId39"/>
    <p:sldId id="784" r:id="rId40"/>
    <p:sldId id="705" r:id="rId41"/>
    <p:sldId id="788" r:id="rId42"/>
    <p:sldId id="789" r:id="rId43"/>
    <p:sldId id="708" r:id="rId44"/>
    <p:sldId id="709" r:id="rId45"/>
    <p:sldId id="710" r:id="rId46"/>
    <p:sldId id="786" r:id="rId47"/>
    <p:sldId id="785" r:id="rId48"/>
    <p:sldId id="714" r:id="rId49"/>
    <p:sldId id="720" r:id="rId50"/>
    <p:sldId id="721" r:id="rId51"/>
    <p:sldId id="722" r:id="rId52"/>
    <p:sldId id="790" r:id="rId53"/>
    <p:sldId id="791" r:id="rId54"/>
    <p:sldId id="825" r:id="rId55"/>
    <p:sldId id="793" r:id="rId56"/>
    <p:sldId id="792" r:id="rId57"/>
    <p:sldId id="794" r:id="rId58"/>
    <p:sldId id="723" r:id="rId59"/>
    <p:sldId id="724" r:id="rId60"/>
    <p:sldId id="725" r:id="rId61"/>
    <p:sldId id="726" r:id="rId62"/>
    <p:sldId id="727" r:id="rId63"/>
    <p:sldId id="728" r:id="rId64"/>
    <p:sldId id="729" r:id="rId65"/>
    <p:sldId id="730" r:id="rId66"/>
    <p:sldId id="826" r:id="rId67"/>
    <p:sldId id="856" r:id="rId68"/>
    <p:sldId id="732" r:id="rId69"/>
    <p:sldId id="733" r:id="rId70"/>
    <p:sldId id="734" r:id="rId71"/>
    <p:sldId id="795" r:id="rId72"/>
    <p:sldId id="796" r:id="rId73"/>
    <p:sldId id="797" r:id="rId74"/>
    <p:sldId id="798" r:id="rId75"/>
    <p:sldId id="799" r:id="rId76"/>
    <p:sldId id="800" r:id="rId77"/>
    <p:sldId id="857" r:id="rId78"/>
    <p:sldId id="859" r:id="rId79"/>
    <p:sldId id="858" r:id="rId80"/>
    <p:sldId id="801" r:id="rId81"/>
    <p:sldId id="802" r:id="rId82"/>
    <p:sldId id="803" r:id="rId83"/>
    <p:sldId id="804" r:id="rId84"/>
    <p:sldId id="805" r:id="rId85"/>
    <p:sldId id="827" r:id="rId86"/>
    <p:sldId id="806" r:id="rId87"/>
    <p:sldId id="807" r:id="rId88"/>
    <p:sldId id="809" r:id="rId89"/>
    <p:sldId id="810" r:id="rId90"/>
    <p:sldId id="811" r:id="rId91"/>
    <p:sldId id="812" r:id="rId92"/>
    <p:sldId id="813" r:id="rId93"/>
    <p:sldId id="814" r:id="rId94"/>
    <p:sldId id="855" r:id="rId95"/>
    <p:sldId id="817" r:id="rId9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B3B"/>
    <a:srgbClr val="EF85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419" autoAdjust="0"/>
    <p:restoredTop sz="94722" autoAdjust="0"/>
  </p:normalViewPr>
  <p:slideViewPr>
    <p:cSldViewPr>
      <p:cViewPr varScale="1">
        <p:scale>
          <a:sx n="87" d="100"/>
          <a:sy n="87" d="100"/>
        </p:scale>
        <p:origin x="1344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image" Target="../media/image26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image" Target="../media/image31.e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e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image" Target="../media/image44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9.wmf"/><Relationship Id="rId1" Type="http://schemas.openxmlformats.org/officeDocument/2006/relationships/image" Target="../media/image48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e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57.emf"/><Relationship Id="rId1" Type="http://schemas.openxmlformats.org/officeDocument/2006/relationships/image" Target="../media/image56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w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wmf"/></Relationships>
</file>

<file path=ppt/drawings/_rels/vmlDrawing3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5.wmf"/><Relationship Id="rId1" Type="http://schemas.openxmlformats.org/officeDocument/2006/relationships/image" Target="../media/image6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8EA21D-F609-4883-9BF2-C2257D2F3E11}" type="datetimeFigureOut">
              <a:rPr lang="en-US" smtClean="0"/>
              <a:t>3/14/19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2ABF5E-119C-40D0-9F75-E2458688F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356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>
              <a:buFont typeface="Calibri" pitchFamily="34" charset="0"/>
              <a:buNone/>
            </a:pPr>
            <a:fld id="{F259F7AF-06FE-4BDB-BD30-B97F03CDD51C}" type="slidenum">
              <a:rPr lang="en-US" smtClean="0">
                <a:latin typeface="Calibri" pitchFamily="34" charset="0"/>
                <a:ea typeface="DejaVu LGC Sans"/>
                <a:cs typeface="DejaVu LGC Sans"/>
              </a:rPr>
              <a:pPr>
                <a:buFont typeface="Calibri" pitchFamily="34" charset="0"/>
                <a:buNone/>
              </a:pPr>
              <a:t>15</a:t>
            </a:fld>
            <a:endParaRPr lang="en-US">
              <a:latin typeface="Calibri" pitchFamily="34" charset="0"/>
              <a:ea typeface="DejaVu LGC Sans"/>
              <a:cs typeface="DejaVu LGC Sans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3823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>
              <a:buFont typeface="Calibri" pitchFamily="34" charset="0"/>
              <a:buNone/>
            </a:pPr>
            <a:fld id="{27F86DBC-9074-431C-AB33-99473EE12A17}" type="slidenum">
              <a:rPr lang="en-US" smtClean="0">
                <a:latin typeface="Calibri" pitchFamily="34" charset="0"/>
                <a:ea typeface="DejaVu LGC Sans"/>
                <a:cs typeface="DejaVu LGC Sans"/>
              </a:rPr>
              <a:pPr>
                <a:buFont typeface="Calibri" pitchFamily="34" charset="0"/>
                <a:buNone/>
              </a:pPr>
              <a:t>29</a:t>
            </a:fld>
            <a:endParaRPr lang="en-US">
              <a:latin typeface="Calibri" pitchFamily="34" charset="0"/>
              <a:ea typeface="DejaVu LGC Sans"/>
              <a:cs typeface="DejaVu LGC Sans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9014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>
              <a:buFont typeface="Calibri" pitchFamily="34" charset="0"/>
              <a:buNone/>
            </a:pPr>
            <a:fld id="{C3BFBDD2-41DB-45AD-95F0-2B4146935D89}" type="slidenum">
              <a:rPr lang="en-US" smtClean="0">
                <a:latin typeface="Calibri" pitchFamily="34" charset="0"/>
                <a:ea typeface="DejaVu LGC Sans"/>
                <a:cs typeface="DejaVu LGC Sans"/>
              </a:rPr>
              <a:pPr>
                <a:buFont typeface="Calibri" pitchFamily="34" charset="0"/>
                <a:buNone/>
              </a:pPr>
              <a:t>38</a:t>
            </a:fld>
            <a:endParaRPr lang="en-US">
              <a:latin typeface="Calibri" pitchFamily="34" charset="0"/>
              <a:ea typeface="DejaVu LGC Sans"/>
              <a:cs typeface="DejaVu LGC Sans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93350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TPR = sensitivity</a:t>
            </a:r>
          </a:p>
          <a:p>
            <a:r>
              <a:rPr lang="en-US" dirty="0"/>
              <a:t>FPR</a:t>
            </a:r>
            <a:r>
              <a:rPr lang="en-US" baseline="0" dirty="0"/>
              <a:t> = </a:t>
            </a:r>
            <a:r>
              <a:rPr lang="en-US" baseline="0"/>
              <a:t>1- selectivity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2ABF5E-119C-40D0-9F75-E2458688F62F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6976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 guessing</a:t>
            </a:r>
            <a:r>
              <a:rPr lang="en-US" baseline="0" dirty="0"/>
              <a:t> = Each record is classified to positive class with probability 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2ABF5E-119C-40D0-9F75-E2458688F62F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717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3/14/19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Clr>
                <a:schemeClr val="accent1"/>
              </a:buClr>
              <a:defRPr/>
            </a:lvl2pPr>
            <a:lvl4pPr>
              <a:buClr>
                <a:schemeClr val="accent1"/>
              </a:buClr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l-GR" dirty="0"/>
              <a:t>Χειμώνας 2011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CS-409: </a:t>
            </a:r>
            <a:r>
              <a:rPr lang="el-GR" dirty="0" err="1"/>
              <a:t>Αντικειμενοστρεφής</a:t>
            </a:r>
            <a:r>
              <a:rPr lang="el-GR" dirty="0"/>
              <a:t> </a:t>
            </a:r>
            <a:r>
              <a:rPr lang="el-GR" dirty="0" err="1"/>
              <a:t>Προγραμματισμος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3/14/19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3/14/19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3/14/19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3/14/19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3/14/19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3/14/19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3/14/19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3/14/19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3/14/19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D2C3B4-92C9-4193-A1CA-FDE1A82284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36793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83185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1163" y="3810000"/>
            <a:ext cx="83185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28519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6613" y="1143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6613" y="3810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793165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11163" y="1143000"/>
            <a:ext cx="8318500" cy="5181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903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0DD7E345-9BD5-414F-9B98-BE3DCAA5A9BF}" type="datetimeFigureOut">
              <a:rPr lang="en-US" smtClean="0"/>
              <a:t>3/14/19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l-GR" dirty="0" err="1"/>
              <a:t>Αντικειμενοστρεφής</a:t>
            </a:r>
            <a:r>
              <a:rPr lang="el-GR" dirty="0"/>
              <a:t> Προγραμματισμός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6"/>
        </a:buClr>
        <a:buSzPct val="85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6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6"/>
        </a:buClr>
        <a:buSzPct val="9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6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6"/>
        </a:buClr>
        <a:buSzPct val="100000"/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Relationship Id="rId9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4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6.wmf"/><Relationship Id="rId4" Type="http://schemas.openxmlformats.org/officeDocument/2006/relationships/image" Target="../media/image14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7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8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4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4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0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1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21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2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22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23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23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24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5.png"/><Relationship Id="rId5" Type="http://schemas.openxmlformats.org/officeDocument/2006/relationships/image" Target="../media/image25.emf"/><Relationship Id="rId4" Type="http://schemas.openxmlformats.org/officeDocument/2006/relationships/oleObject" Target="../embeddings/oleObject17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27.e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6.w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29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30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32.e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31.e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3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33.wmf"/><Relationship Id="rId4" Type="http://schemas.openxmlformats.org/officeDocument/2006/relationships/oleObject" Target="../embeddings/oleObject25.bin"/><Relationship Id="rId9" Type="http://schemas.openxmlformats.org/officeDocument/2006/relationships/image" Target="../media/image35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36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37.e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41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45.e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44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46.wmf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w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48.wmf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e.unsw.edu.au/~quinlan/c4.5r8.tar.gz" TargetMode="Externa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4" Type="http://schemas.openxmlformats.org/officeDocument/2006/relationships/image" Target="../media/image50.emf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emf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57.emf"/><Relationship Id="rId5" Type="http://schemas.openxmlformats.org/officeDocument/2006/relationships/oleObject" Target="../embeddings/oleObject42.bin"/><Relationship Id="rId4" Type="http://schemas.openxmlformats.org/officeDocument/2006/relationships/image" Target="../media/image56.wmf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wmf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9.vml"/><Relationship Id="rId4" Type="http://schemas.openxmlformats.org/officeDocument/2006/relationships/image" Target="../media/image60.wmf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4" Type="http://schemas.openxmlformats.org/officeDocument/2006/relationships/image" Target="../media/image61.wmf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1.vml"/><Relationship Id="rId4" Type="http://schemas.openxmlformats.org/officeDocument/2006/relationships/image" Target="../media/image62.wmf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6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48.bin"/><Relationship Id="rId5" Type="http://schemas.openxmlformats.org/officeDocument/2006/relationships/image" Target="../media/image64.wmf"/><Relationship Id="rId4" Type="http://schemas.openxmlformats.org/officeDocument/2006/relationships/oleObject" Target="../embeddings/oleObject47.bin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MINING</a:t>
            </a:r>
            <a:br>
              <a:rPr lang="en-US" dirty="0"/>
            </a:br>
            <a:r>
              <a:rPr lang="en-US"/>
              <a:t>LECTURE 3</a:t>
            </a:r>
            <a:endParaRPr lang="en-US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2057400"/>
          </a:xfrm>
        </p:spPr>
        <p:txBody>
          <a:bodyPr>
            <a:normAutofit/>
          </a:bodyPr>
          <a:lstStyle/>
          <a:p>
            <a:r>
              <a:rPr lang="en-US" b="1" dirty="0"/>
              <a:t>Classification</a:t>
            </a:r>
          </a:p>
          <a:p>
            <a:r>
              <a:rPr lang="en-US" dirty="0"/>
              <a:t>	Basic Concepts</a:t>
            </a:r>
          </a:p>
          <a:p>
            <a:r>
              <a:rPr lang="en-US" dirty="0"/>
              <a:t>	Decision Trees</a:t>
            </a:r>
          </a:p>
          <a:p>
            <a:r>
              <a:rPr lang="en-US"/>
              <a:t>	Evaluation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087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Vehicle Classifying at Toll Stations</a:t>
            </a:r>
          </a:p>
        </p:txBody>
      </p:sp>
      <p:pic>
        <p:nvPicPr>
          <p:cNvPr id="86020" name="Picture 4" descr="Image result for tram thu phi cac loai xe">
            <a:extLst>
              <a:ext uri="{FF2B5EF4-FFF2-40B4-BE49-F238E27FC236}">
                <a16:creationId xmlns:a16="http://schemas.microsoft.com/office/drawing/2014/main" id="{716E12B8-ED59-2E43-BB95-1992AAFA74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73" b="4646"/>
          <a:stretch/>
        </p:blipFill>
        <p:spPr bwMode="auto">
          <a:xfrm>
            <a:off x="457200" y="1371600"/>
            <a:ext cx="5983941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022" name="Picture 6" descr="Related image">
            <a:extLst>
              <a:ext uri="{FF2B5EF4-FFF2-40B4-BE49-F238E27FC236}">
                <a16:creationId xmlns:a16="http://schemas.microsoft.com/office/drawing/2014/main" id="{3DAD6E29-A6FC-DF46-B8EE-9D7C565B1C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95" b="3115"/>
          <a:stretch/>
        </p:blipFill>
        <p:spPr bwMode="auto">
          <a:xfrm>
            <a:off x="420329" y="4000500"/>
            <a:ext cx="4419600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024" name="Picture 8" descr="https://image.anninhthudo.vn/w700/uploaded/91/2016_10_13/antd-tram_thu_phi_ql5.jpg">
            <a:extLst>
              <a:ext uri="{FF2B5EF4-FFF2-40B4-BE49-F238E27FC236}">
                <a16:creationId xmlns:a16="http://schemas.microsoft.com/office/drawing/2014/main" id="{DDCDB4BE-D42D-1443-BB83-152B579048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2503" y="3677073"/>
            <a:ext cx="4355690" cy="2885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1020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 or Truck?</a:t>
            </a:r>
          </a:p>
        </p:txBody>
      </p:sp>
      <p:pic>
        <p:nvPicPr>
          <p:cNvPr id="84994" name="Picture 2" descr="Image result for car">
            <a:extLst>
              <a:ext uri="{FF2B5EF4-FFF2-40B4-BE49-F238E27FC236}">
                <a16:creationId xmlns:a16="http://schemas.microsoft.com/office/drawing/2014/main" id="{3E397466-4F43-5D4F-8A75-EB218761F8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760" y="2812216"/>
            <a:ext cx="2438400" cy="1298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996" name="Picture 4" descr="Image result for car">
            <a:extLst>
              <a:ext uri="{FF2B5EF4-FFF2-40B4-BE49-F238E27FC236}">
                <a16:creationId xmlns:a16="http://schemas.microsoft.com/office/drawing/2014/main" id="{F02AA387-C1CD-724B-905E-C1DC904AEB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5353992"/>
            <a:ext cx="2033679" cy="1279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000" name="Picture 8" descr="Image result for car">
            <a:extLst>
              <a:ext uri="{FF2B5EF4-FFF2-40B4-BE49-F238E27FC236}">
                <a16:creationId xmlns:a16="http://schemas.microsoft.com/office/drawing/2014/main" id="{0FF3BEA7-D93D-144E-97DA-33A5599E1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147456"/>
            <a:ext cx="2159000" cy="1279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002" name="Picture 10" descr="Image result for car">
            <a:extLst>
              <a:ext uri="{FF2B5EF4-FFF2-40B4-BE49-F238E27FC236}">
                <a16:creationId xmlns:a16="http://schemas.microsoft.com/office/drawing/2014/main" id="{3D3EFD54-8108-5942-8CE3-6C4C829DC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311463"/>
            <a:ext cx="2131892" cy="1279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83FAB3-94BB-F544-BDC0-16D8D39A1681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4572000" y="1524000"/>
            <a:ext cx="0" cy="4648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5004" name="Picture 12" descr="Image result for truck">
            <a:extLst>
              <a:ext uri="{FF2B5EF4-FFF2-40B4-BE49-F238E27FC236}">
                <a16:creationId xmlns:a16="http://schemas.microsoft.com/office/drawing/2014/main" id="{51A7F3E0-7DB4-CD44-B048-ACC99DE360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0692" y="1524000"/>
            <a:ext cx="2588630" cy="1378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008" name="Picture 16" descr="Image result for truck">
            <a:extLst>
              <a:ext uri="{FF2B5EF4-FFF2-40B4-BE49-F238E27FC236}">
                <a16:creationId xmlns:a16="http://schemas.microsoft.com/office/drawing/2014/main" id="{5F0A2B61-D71A-5C44-84B1-31A3D4D3E6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0006" y="3774172"/>
            <a:ext cx="2821108" cy="1579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010" name="Picture 18" descr="Image result for truck">
            <a:extLst>
              <a:ext uri="{FF2B5EF4-FFF2-40B4-BE49-F238E27FC236}">
                <a16:creationId xmlns:a16="http://schemas.microsoft.com/office/drawing/2014/main" id="{BCB63982-F7D0-3B40-A66F-33991E7D2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074559">
            <a:off x="5295913" y="5226875"/>
            <a:ext cx="1930400" cy="1354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012" name="Picture 20" descr="Image result for truck">
            <a:extLst>
              <a:ext uri="{FF2B5EF4-FFF2-40B4-BE49-F238E27FC236}">
                <a16:creationId xmlns:a16="http://schemas.microsoft.com/office/drawing/2014/main" id="{F234734F-2AB2-A249-A523-FCB8E4A7B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5007" y="2913030"/>
            <a:ext cx="2276177" cy="1704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8076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2AC57-22E7-0B42-92F0-BC7F31108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3200400" cy="4343400"/>
          </a:xfrm>
        </p:spPr>
        <p:txBody>
          <a:bodyPr/>
          <a:lstStyle/>
          <a:p>
            <a:r>
              <a:rPr lang="en-US" dirty="0"/>
              <a:t>Vehicles classification in reality</a:t>
            </a:r>
          </a:p>
        </p:txBody>
      </p:sp>
      <p:pic>
        <p:nvPicPr>
          <p:cNvPr id="83970" name="Picture 2" descr="Image result for vehicle classification">
            <a:extLst>
              <a:ext uri="{FF2B5EF4-FFF2-40B4-BE49-F238E27FC236}">
                <a16:creationId xmlns:a16="http://schemas.microsoft.com/office/drawing/2014/main" id="{10C513D4-CA28-8A4F-BF6E-112832EBF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379620"/>
            <a:ext cx="5527368" cy="6478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E9474D-3342-E741-9A21-BEC98AA5B6BC}"/>
              </a:ext>
            </a:extLst>
          </p:cNvPr>
          <p:cNvSpPr txBox="1"/>
          <p:nvPr/>
        </p:nvSpPr>
        <p:spPr>
          <a:xfrm>
            <a:off x="609600" y="5257800"/>
            <a:ext cx="213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 err="1"/>
              <a:t>www.fhwa.dot.gov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755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problem of discriminating between different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classes</a:t>
            </a:r>
            <a:r>
              <a:rPr lang="en-US" dirty="0"/>
              <a:t> of objects</a:t>
            </a:r>
          </a:p>
          <a:p>
            <a:pPr lvl="1"/>
            <a:r>
              <a:rPr lang="en-US" dirty="0"/>
              <a:t>In our case: car vs. </a:t>
            </a:r>
            <a:r>
              <a:rPr lang="en-US"/>
              <a:t>truck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Classification process:</a:t>
            </a:r>
          </a:p>
          <a:p>
            <a:pPr lvl="1"/>
            <a:r>
              <a:rPr lang="en-US" dirty="0"/>
              <a:t>Find </a:t>
            </a:r>
            <a:r>
              <a:rPr lang="en-US" dirty="0">
                <a:solidFill>
                  <a:srgbClr val="0070C0"/>
                </a:solidFill>
              </a:rPr>
              <a:t>examples</a:t>
            </a:r>
            <a:r>
              <a:rPr lang="en-US" dirty="0"/>
              <a:t> for which you know the class 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training set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Find a set of </a:t>
            </a:r>
            <a:r>
              <a:rPr lang="en-US" dirty="0">
                <a:solidFill>
                  <a:srgbClr val="0070C0"/>
                </a:solidFill>
              </a:rPr>
              <a:t>features</a:t>
            </a:r>
            <a:r>
              <a:rPr lang="en-US" dirty="0"/>
              <a:t> that discriminate between the examples within the class and outside the class</a:t>
            </a:r>
          </a:p>
          <a:p>
            <a:pPr lvl="1"/>
            <a:r>
              <a:rPr lang="en-US" dirty="0"/>
              <a:t>Create a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function</a:t>
            </a:r>
            <a:r>
              <a:rPr lang="en-US" dirty="0"/>
              <a:t> that given the features decides the class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Apply</a:t>
            </a:r>
            <a:r>
              <a:rPr lang="en-US" dirty="0"/>
              <a:t> the function to new examples.</a:t>
            </a:r>
          </a:p>
        </p:txBody>
      </p:sp>
    </p:spTree>
    <p:extLst>
      <p:ext uri="{BB962C8B-B14F-4D97-AF65-F5344CB8AC3E}">
        <p14:creationId xmlns:p14="http://schemas.microsoft.com/office/powerpoint/2010/main" val="3333107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Catching tax-evasion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6196121"/>
              </p:ext>
            </p:extLst>
          </p:nvPr>
        </p:nvGraphicFramePr>
        <p:xfrm>
          <a:off x="762000" y="1585118"/>
          <a:ext cx="3565525" cy="3687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1" name="Document" r:id="rId3" imgW="5405040" imgH="5780160" progId="Word.Document.8">
                  <p:embed/>
                </p:oleObj>
              </mc:Choice>
              <mc:Fallback>
                <p:oleObj name="Document" r:id="rId3" imgW="5405040" imgH="57801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585118"/>
                        <a:ext cx="3565525" cy="3687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4828516"/>
              </p:ext>
            </p:extLst>
          </p:nvPr>
        </p:nvGraphicFramePr>
        <p:xfrm>
          <a:off x="5029200" y="3962400"/>
          <a:ext cx="3146611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2" name="Document" r:id="rId5" imgW="4660937" imgH="1576052" progId="Word.Document.8">
                  <p:embed/>
                </p:oleObj>
              </mc:Choice>
              <mc:Fallback>
                <p:oleObj name="Document" r:id="rId5" imgW="4660937" imgH="1576052" progId="Word.Document.8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3962400"/>
                        <a:ext cx="3146611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495800" y="2209800"/>
            <a:ext cx="3142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Tax-return data for year 2011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3276600"/>
            <a:ext cx="30828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new tax return for 2012</a:t>
            </a:r>
          </a:p>
          <a:p>
            <a:r>
              <a:rPr lang="en-US" dirty="0"/>
              <a:t>Is this a cheating tax return?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" y="5715000"/>
            <a:ext cx="868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 instance of the classification problem: learn a method for discriminating between records of different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classes</a:t>
            </a:r>
            <a:r>
              <a:rPr lang="en-US" dirty="0"/>
              <a:t> (</a:t>
            </a:r>
            <a:r>
              <a:rPr lang="en-US" dirty="0">
                <a:solidFill>
                  <a:srgbClr val="00B050"/>
                </a:solidFill>
              </a:rPr>
              <a:t>cheaters </a:t>
            </a:r>
            <a:r>
              <a:rPr lang="en-US" dirty="0" err="1"/>
              <a:t>vs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non-cheaters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89760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classification?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457200" y="1448404"/>
            <a:ext cx="8228013" cy="948490"/>
          </a:xfrm>
        </p:spPr>
        <p:txBody>
          <a:bodyPr>
            <a:normAutofit fontScale="77500" lnSpcReduction="20000"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Classification</a:t>
            </a:r>
            <a:r>
              <a:rPr lang="en-US" sz="2800" dirty="0"/>
              <a:t> is the task of </a:t>
            </a:r>
            <a:r>
              <a:rPr lang="en-US" sz="2800" b="1" i="1" dirty="0">
                <a:solidFill>
                  <a:schemeClr val="accent6">
                    <a:lumMod val="75000"/>
                  </a:schemeClr>
                </a:solidFill>
              </a:rPr>
              <a:t>learning </a:t>
            </a:r>
            <a:r>
              <a:rPr lang="en-US" sz="2800" b="1" i="1" dirty="0"/>
              <a:t>a target </a:t>
            </a:r>
            <a:r>
              <a:rPr lang="en-US" sz="2800" b="1" i="1" dirty="0">
                <a:solidFill>
                  <a:schemeClr val="accent6">
                    <a:lumMod val="75000"/>
                  </a:schemeClr>
                </a:solidFill>
              </a:rPr>
              <a:t>function</a:t>
            </a:r>
            <a:r>
              <a:rPr lang="en-US" sz="2800" b="1" i="1" dirty="0"/>
              <a:t> </a:t>
            </a:r>
            <a:r>
              <a:rPr lang="en-US" sz="2800" b="1" dirty="0">
                <a:solidFill>
                  <a:srgbClr val="0070C0"/>
                </a:solidFill>
              </a:rPr>
              <a:t>f</a:t>
            </a:r>
            <a:r>
              <a:rPr lang="en-US" sz="2800" dirty="0"/>
              <a:t> that maps attribute set </a:t>
            </a:r>
            <a:r>
              <a:rPr lang="en-US" sz="2800" b="1" dirty="0">
                <a:solidFill>
                  <a:srgbClr val="0070C0"/>
                </a:solidFill>
              </a:rPr>
              <a:t>x</a:t>
            </a:r>
            <a:r>
              <a:rPr lang="en-US" sz="2800" dirty="0"/>
              <a:t> to one of the predefined class labels </a:t>
            </a:r>
            <a:r>
              <a:rPr lang="en-US" sz="2800" b="1" dirty="0">
                <a:solidFill>
                  <a:srgbClr val="0070C0"/>
                </a:solidFill>
              </a:rPr>
              <a:t>y</a:t>
            </a:r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271004" y="2423450"/>
            <a:ext cx="3587750" cy="4311650"/>
            <a:chOff x="288" y="951"/>
            <a:chExt cx="2260" cy="2716"/>
          </a:xfrm>
        </p:grpSpPr>
        <p:graphicFrame>
          <p:nvGraphicFramePr>
            <p:cNvPr id="6" name="Object 4"/>
            <p:cNvGraphicFramePr>
              <a:graphicFrameLocks noChangeAspect="1"/>
            </p:cNvGraphicFramePr>
            <p:nvPr/>
          </p:nvGraphicFramePr>
          <p:xfrm>
            <a:off x="288" y="1344"/>
            <a:ext cx="2246" cy="2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283" name="Document" r:id="rId3" imgW="5405040" imgH="5780160" progId="Word.Document.8">
                    <p:embed/>
                  </p:oleObj>
                </mc:Choice>
                <mc:Fallback>
                  <p:oleObj name="Document" r:id="rId3" imgW="5405040" imgH="5780160" progId="Word.Document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1344"/>
                          <a:ext cx="2246" cy="23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 rot="-2416809">
              <a:off x="672" y="951"/>
              <a:ext cx="7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 dirty="0">
                  <a:solidFill>
                    <a:srgbClr val="006600"/>
                  </a:solidFill>
                  <a:latin typeface="Arial" charset="0"/>
                </a:rPr>
                <a:t>categorical</a:t>
              </a:r>
              <a:endParaRPr lang="en-US" sz="1600" dirty="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 rot="-2416809">
              <a:off x="1104" y="951"/>
              <a:ext cx="7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>
                  <a:solidFill>
                    <a:srgbClr val="006600"/>
                  </a:solidFill>
                  <a:latin typeface="Arial" charset="0"/>
                </a:rPr>
                <a:t>categorical</a:t>
              </a:r>
              <a:endParaRPr lang="en-US" sz="160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 rot="-2416809">
              <a:off x="1632" y="951"/>
              <a:ext cx="80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>
                  <a:solidFill>
                    <a:srgbClr val="006600"/>
                  </a:solidFill>
                  <a:latin typeface="Arial" charset="0"/>
                </a:rPr>
                <a:t>continuous</a:t>
              </a:r>
              <a:endParaRPr lang="en-US" sz="160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 rot="-2416809">
              <a:off x="2112" y="1047"/>
              <a:ext cx="4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>
                  <a:solidFill>
                    <a:srgbClr val="006600"/>
                  </a:solidFill>
                  <a:latin typeface="Arial" charset="0"/>
                </a:rPr>
                <a:t>class</a:t>
              </a:r>
              <a:endParaRPr lang="en-US" sz="1600">
                <a:solidFill>
                  <a:schemeClr val="bg2"/>
                </a:solidFill>
                <a:latin typeface="Arial" charset="0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3837449" y="3072078"/>
            <a:ext cx="523989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One of the attributes is the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class attribute</a:t>
            </a:r>
          </a:p>
          <a:p>
            <a:r>
              <a:rPr lang="en-US" sz="2000" dirty="0"/>
              <a:t>	In this case: Cheat</a:t>
            </a:r>
          </a:p>
          <a:p>
            <a:endParaRPr lang="en-US" sz="2000" dirty="0"/>
          </a:p>
          <a:p>
            <a:r>
              <a:rPr lang="en-US" sz="2000" dirty="0"/>
              <a:t>Two </a:t>
            </a:r>
            <a:r>
              <a:rPr lang="en-US" sz="2000" dirty="0">
                <a:solidFill>
                  <a:srgbClr val="0070C0"/>
                </a:solidFill>
              </a:rPr>
              <a:t>class labels </a:t>
            </a:r>
            <a:r>
              <a:rPr lang="en-US" sz="2000" dirty="0"/>
              <a:t>(or</a:t>
            </a:r>
            <a:r>
              <a:rPr lang="en-US" sz="2000" dirty="0">
                <a:solidFill>
                  <a:srgbClr val="0070C0"/>
                </a:solidFill>
              </a:rPr>
              <a:t> classes</a:t>
            </a:r>
            <a:r>
              <a:rPr lang="en-US" sz="2000" dirty="0"/>
              <a:t>): </a:t>
            </a:r>
            <a:r>
              <a:rPr lang="en-US" sz="2000" dirty="0">
                <a:solidFill>
                  <a:srgbClr val="FF0000"/>
                </a:solidFill>
              </a:rPr>
              <a:t>Yes (1), No (0)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>
          <a:xfrm>
            <a:off x="3733800" y="4724399"/>
            <a:ext cx="5356122" cy="1383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468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classification?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target function </a:t>
            </a:r>
            <a:r>
              <a:rPr lang="en-US" dirty="0">
                <a:solidFill>
                  <a:schemeClr val="accent2"/>
                </a:solidFill>
              </a:rPr>
              <a:t>f</a:t>
            </a:r>
            <a:r>
              <a:rPr lang="en-US" dirty="0"/>
              <a:t> is known as a </a:t>
            </a:r>
            <a:r>
              <a:rPr lang="en-US" dirty="0">
                <a:solidFill>
                  <a:srgbClr val="0070C0"/>
                </a:solidFill>
              </a:rPr>
              <a:t>classification model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Descriptive modeling: </a:t>
            </a:r>
            <a:r>
              <a:rPr lang="en-US" dirty="0">
                <a:solidFill>
                  <a:srgbClr val="0070C0"/>
                </a:solidFill>
              </a:rPr>
              <a:t>Explanatory tool </a:t>
            </a:r>
            <a:r>
              <a:rPr lang="en-US" dirty="0">
                <a:solidFill>
                  <a:schemeClr val="tx1"/>
                </a:solidFill>
              </a:rPr>
              <a:t>to distinguish between objects of different classes (e.g., understand why people cheat on their taxes, or what makes a hipster)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Predictive modeling: </a:t>
            </a:r>
            <a:r>
              <a:rPr lang="en-US" dirty="0">
                <a:solidFill>
                  <a:schemeClr val="tx1"/>
                </a:solidFill>
              </a:rPr>
              <a:t>Predict a class of a </a:t>
            </a:r>
            <a:r>
              <a:rPr lang="en-US" dirty="0">
                <a:solidFill>
                  <a:srgbClr val="0070C0"/>
                </a:solidFill>
              </a:rPr>
              <a:t>previously unseen </a:t>
            </a:r>
            <a:r>
              <a:rPr lang="en-US" dirty="0">
                <a:solidFill>
                  <a:schemeClr val="tx1"/>
                </a:solidFill>
              </a:rPr>
              <a:t>record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2809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Classification Tasks</a:t>
            </a:r>
          </a:p>
        </p:txBody>
      </p:sp>
      <p:sp>
        <p:nvSpPr>
          <p:cNvPr id="919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2672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Predicting </a:t>
            </a:r>
            <a:r>
              <a:rPr lang="en-US" dirty="0">
                <a:solidFill>
                  <a:srgbClr val="0070C0"/>
                </a:solidFill>
              </a:rPr>
              <a:t>tumor </a:t>
            </a:r>
            <a:r>
              <a:rPr lang="en-US" dirty="0"/>
              <a:t>cells as </a:t>
            </a:r>
            <a:r>
              <a:rPr lang="en-US" dirty="0">
                <a:solidFill>
                  <a:srgbClr val="00B050"/>
                </a:solidFill>
              </a:rPr>
              <a:t>benign</a:t>
            </a:r>
            <a:r>
              <a:rPr lang="en-US" dirty="0"/>
              <a:t> or </a:t>
            </a:r>
            <a:r>
              <a:rPr lang="en-US" dirty="0">
                <a:solidFill>
                  <a:srgbClr val="FF0000"/>
                </a:solidFill>
              </a:rPr>
              <a:t>malignant</a:t>
            </a:r>
          </a:p>
          <a:p>
            <a:pPr lvl="4"/>
            <a:endParaRPr lang="en-US" dirty="0"/>
          </a:p>
          <a:p>
            <a:r>
              <a:rPr lang="en-US" dirty="0"/>
              <a:t>Classifying credit card </a:t>
            </a:r>
            <a:r>
              <a:rPr lang="en-US" dirty="0">
                <a:solidFill>
                  <a:srgbClr val="0070C0"/>
                </a:solidFill>
              </a:rPr>
              <a:t>transactions</a:t>
            </a:r>
            <a:r>
              <a:rPr lang="en-US" dirty="0"/>
              <a:t> as </a:t>
            </a:r>
            <a:r>
              <a:rPr lang="en-US" dirty="0">
                <a:solidFill>
                  <a:srgbClr val="00B050"/>
                </a:solidFill>
              </a:rPr>
              <a:t>legitimate</a:t>
            </a:r>
            <a:r>
              <a:rPr lang="en-US" dirty="0"/>
              <a:t> or </a:t>
            </a:r>
            <a:r>
              <a:rPr lang="en-US" dirty="0">
                <a:solidFill>
                  <a:srgbClr val="FF0000"/>
                </a:solidFill>
              </a:rPr>
              <a:t>fraudulent</a:t>
            </a:r>
          </a:p>
          <a:p>
            <a:pPr marL="1051560" lvl="4" indent="0">
              <a:buNone/>
            </a:pPr>
            <a:endParaRPr lang="en-US" dirty="0"/>
          </a:p>
          <a:p>
            <a:r>
              <a:rPr lang="en-US" dirty="0"/>
              <a:t>Categorizing </a:t>
            </a:r>
            <a:r>
              <a:rPr lang="en-US" dirty="0">
                <a:solidFill>
                  <a:srgbClr val="0070C0"/>
                </a:solidFill>
              </a:rPr>
              <a:t>news stories </a:t>
            </a:r>
            <a:r>
              <a:rPr lang="en-US" dirty="0"/>
              <a:t>as </a:t>
            </a:r>
            <a:r>
              <a:rPr lang="en-US" dirty="0">
                <a:solidFill>
                  <a:srgbClr val="00B050"/>
                </a:solidFill>
              </a:rPr>
              <a:t>finance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weather</a:t>
            </a:r>
            <a:r>
              <a:rPr lang="en-US" dirty="0"/>
              <a:t>,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entertainment</a:t>
            </a:r>
            <a:r>
              <a:rPr lang="en-US" dirty="0"/>
              <a:t>, </a:t>
            </a:r>
            <a:r>
              <a:rPr lang="en-US" dirty="0">
                <a:solidFill>
                  <a:srgbClr val="7030A0"/>
                </a:solidFill>
              </a:rPr>
              <a:t>sports</a:t>
            </a:r>
            <a:r>
              <a:rPr lang="en-US" dirty="0"/>
              <a:t>, </a:t>
            </a:r>
            <a:r>
              <a:rPr lang="en-US" dirty="0" err="1"/>
              <a:t>etc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Identifying </a:t>
            </a:r>
            <a:r>
              <a:rPr lang="en-US" dirty="0">
                <a:solidFill>
                  <a:srgbClr val="FF0000"/>
                </a:solidFill>
              </a:rPr>
              <a:t>spam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email</a:t>
            </a:r>
            <a:r>
              <a:rPr lang="en-US" dirty="0"/>
              <a:t>, spam web </a:t>
            </a:r>
            <a:r>
              <a:rPr lang="en-US" dirty="0">
                <a:solidFill>
                  <a:srgbClr val="0070C0"/>
                </a:solidFill>
              </a:rPr>
              <a:t>pages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adult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content</a:t>
            </a:r>
          </a:p>
          <a:p>
            <a:endParaRPr lang="en-US" dirty="0"/>
          </a:p>
          <a:p>
            <a:r>
              <a:rPr lang="en-US" dirty="0"/>
              <a:t>Understanding if a web </a:t>
            </a:r>
            <a:r>
              <a:rPr lang="en-US" dirty="0">
                <a:solidFill>
                  <a:srgbClr val="0070C0"/>
                </a:solidFill>
              </a:rPr>
              <a:t>query</a:t>
            </a:r>
            <a:r>
              <a:rPr lang="en-US" dirty="0"/>
              <a:t> has </a:t>
            </a:r>
            <a:r>
              <a:rPr lang="en-US" dirty="0">
                <a:solidFill>
                  <a:srgbClr val="FF0000"/>
                </a:solidFill>
              </a:rPr>
              <a:t>commercial intent </a:t>
            </a:r>
            <a:r>
              <a:rPr lang="en-US" dirty="0"/>
              <a:t>or not</a:t>
            </a:r>
          </a:p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2366682" y="5943600"/>
            <a:ext cx="4634602" cy="646331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Classification is </a:t>
            </a:r>
            <a:r>
              <a:rPr lang="en-US" dirty="0">
                <a:solidFill>
                  <a:srgbClr val="FF0000"/>
                </a:solidFill>
              </a:rPr>
              <a:t>everywhere</a:t>
            </a:r>
            <a:r>
              <a:rPr lang="en-US" dirty="0"/>
              <a:t> in data science</a:t>
            </a:r>
          </a:p>
          <a:p>
            <a:r>
              <a:rPr lang="en-US" dirty="0"/>
              <a:t>Big data has the answers all questions.</a:t>
            </a:r>
          </a:p>
        </p:txBody>
      </p:sp>
    </p:spTree>
    <p:extLst>
      <p:ext uri="{BB962C8B-B14F-4D97-AF65-F5344CB8AC3E}">
        <p14:creationId xmlns:p14="http://schemas.microsoft.com/office/powerpoint/2010/main" val="3602039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General approach to classification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Training set </a:t>
            </a:r>
            <a:r>
              <a:rPr lang="en-US" dirty="0"/>
              <a:t>consists of records with </a:t>
            </a:r>
            <a:r>
              <a:rPr lang="en-US" dirty="0">
                <a:solidFill>
                  <a:srgbClr val="0070C0"/>
                </a:solidFill>
              </a:rPr>
              <a:t>known class labels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Training set is used to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build</a:t>
            </a:r>
            <a:r>
              <a:rPr lang="en-US" dirty="0"/>
              <a:t> a classification model</a:t>
            </a:r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dirty="0">
                <a:solidFill>
                  <a:srgbClr val="0070C0"/>
                </a:solidFill>
              </a:rPr>
              <a:t>labeled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test set </a:t>
            </a:r>
            <a:r>
              <a:rPr lang="en-US" dirty="0"/>
              <a:t>of </a:t>
            </a:r>
            <a:r>
              <a:rPr lang="en-US" dirty="0">
                <a:solidFill>
                  <a:srgbClr val="0070C0"/>
                </a:solidFill>
              </a:rPr>
              <a:t>previously unseen </a:t>
            </a:r>
            <a:r>
              <a:rPr lang="en-US" dirty="0"/>
              <a:t>data records is used to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evaluate</a:t>
            </a:r>
            <a:r>
              <a:rPr lang="en-US" dirty="0"/>
              <a:t> the quality of the model.</a:t>
            </a:r>
          </a:p>
          <a:p>
            <a:endParaRPr lang="en-US" dirty="0"/>
          </a:p>
          <a:p>
            <a:r>
              <a:rPr lang="en-US" dirty="0"/>
              <a:t>The classification model is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applied</a:t>
            </a:r>
            <a:r>
              <a:rPr lang="en-US" dirty="0"/>
              <a:t> to new records with </a:t>
            </a:r>
            <a:r>
              <a:rPr lang="en-US" dirty="0">
                <a:solidFill>
                  <a:srgbClr val="0070C0"/>
                </a:solidFill>
              </a:rPr>
              <a:t>unknown class labels</a:t>
            </a:r>
          </a:p>
        </p:txBody>
      </p:sp>
    </p:spTree>
    <p:extLst>
      <p:ext uri="{BB962C8B-B14F-4D97-AF65-F5344CB8AC3E}">
        <p14:creationId xmlns:p14="http://schemas.microsoft.com/office/powerpoint/2010/main" val="3077792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Illustrating Classification Task</a:t>
            </a:r>
          </a:p>
        </p:txBody>
      </p:sp>
      <p:graphicFrame>
        <p:nvGraphicFramePr>
          <p:cNvPr id="828442" name="Object 26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7100914"/>
              </p:ext>
            </p:extLst>
          </p:nvPr>
        </p:nvGraphicFramePr>
        <p:xfrm>
          <a:off x="1217613" y="1524000"/>
          <a:ext cx="6800850" cy="518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Visio" r:id="rId3" imgW="8529300" imgH="6498656" progId="Visio.Drawing.11">
                  <p:embed/>
                </p:oleObj>
              </mc:Choice>
              <mc:Fallback>
                <p:oleObj name="Visio" r:id="rId3" imgW="8529300" imgH="6498656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7613" y="1524000"/>
                        <a:ext cx="6800850" cy="518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19768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Evaluation of classification models</a:t>
            </a:r>
          </a:p>
        </p:txBody>
      </p:sp>
      <p:sp>
        <p:nvSpPr>
          <p:cNvPr id="102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Counts of </a:t>
            </a:r>
            <a:r>
              <a:rPr lang="en-US" dirty="0">
                <a:solidFill>
                  <a:srgbClr val="0070C0"/>
                </a:solidFill>
              </a:rPr>
              <a:t>test records </a:t>
            </a:r>
            <a:r>
              <a:rPr lang="en-US" dirty="0"/>
              <a:t>that are correctly (or incorrectly) predicted by the classification model</a:t>
            </a:r>
          </a:p>
          <a:p>
            <a:r>
              <a:rPr lang="en-US" b="1" dirty="0"/>
              <a:t>Confusion matrix</a:t>
            </a:r>
          </a:p>
          <a:p>
            <a:endParaRPr lang="en-US" b="1" dirty="0"/>
          </a:p>
          <a:p>
            <a:endParaRPr lang="en-US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4493216"/>
              </p:ext>
            </p:extLst>
          </p:nvPr>
        </p:nvGraphicFramePr>
        <p:xfrm>
          <a:off x="4724400" y="3117850"/>
          <a:ext cx="3657600" cy="1112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Class =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Class</a:t>
                      </a:r>
                      <a:r>
                        <a:rPr lang="en-US" b="1" baseline="0" dirty="0"/>
                        <a:t> = 0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Class =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f</a:t>
                      </a:r>
                      <a:r>
                        <a:rPr lang="en-US" b="1" baseline="-25000" dirty="0">
                          <a:solidFill>
                            <a:srgbClr val="0070C0"/>
                          </a:solidFill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f</a:t>
                      </a:r>
                      <a:r>
                        <a:rPr lang="en-US" b="1" baseline="-25000" dirty="0">
                          <a:solidFill>
                            <a:srgbClr val="FF0000"/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Class =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f</a:t>
                      </a:r>
                      <a:r>
                        <a:rPr lang="en-US" b="1" baseline="-25000" dirty="0">
                          <a:solidFill>
                            <a:srgbClr val="FF0000"/>
                          </a:solidFill>
                        </a:rP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f</a:t>
                      </a:r>
                      <a:r>
                        <a:rPr lang="en-US" b="1" baseline="-25000" dirty="0">
                          <a:solidFill>
                            <a:srgbClr val="0070C0"/>
                          </a:solidFill>
                        </a:rPr>
                        <a:t>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48" name="TextBox 5"/>
          <p:cNvSpPr txBox="1">
            <a:spLocks noChangeArrowheads="1"/>
          </p:cNvSpPr>
          <p:nvPr/>
        </p:nvSpPr>
        <p:spPr bwMode="auto">
          <a:xfrm>
            <a:off x="5638800" y="2736850"/>
            <a:ext cx="25146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Predicted Class</a:t>
            </a:r>
          </a:p>
        </p:txBody>
      </p:sp>
      <p:sp>
        <p:nvSpPr>
          <p:cNvPr id="1049" name="TextBox 6"/>
          <p:cNvSpPr txBox="1">
            <a:spLocks noChangeArrowheads="1"/>
          </p:cNvSpPr>
          <p:nvPr/>
        </p:nvSpPr>
        <p:spPr bwMode="auto">
          <a:xfrm rot="-5400000">
            <a:off x="3575050" y="3359150"/>
            <a:ext cx="1911350" cy="37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Actual Class</a:t>
            </a: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2237586"/>
              </p:ext>
            </p:extLst>
          </p:nvPr>
        </p:nvGraphicFramePr>
        <p:xfrm>
          <a:off x="762000" y="4724400"/>
          <a:ext cx="653256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62" name="Equation" r:id="rId3" imgW="3365280" imgH="431640" progId="Equation.3">
                  <p:embed/>
                </p:oleObj>
              </mc:Choice>
              <mc:Fallback>
                <p:oleObj name="Equation" r:id="rId3" imgW="33652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724400"/>
                        <a:ext cx="6532563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0236797"/>
              </p:ext>
            </p:extLst>
          </p:nvPr>
        </p:nvGraphicFramePr>
        <p:xfrm>
          <a:off x="685800" y="5867400"/>
          <a:ext cx="6518275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63" name="Equation" r:id="rId5" imgW="3365280" imgH="431640" progId="Equation.3">
                  <p:embed/>
                </p:oleObj>
              </mc:Choice>
              <mc:Fallback>
                <p:oleObj name="Equation" r:id="rId5" imgW="33652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5867400"/>
                        <a:ext cx="6518275" cy="836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281505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91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Classification Techniques</a:t>
            </a:r>
          </a:p>
        </p:txBody>
      </p:sp>
      <p:sp>
        <p:nvSpPr>
          <p:cNvPr id="80691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4876800"/>
          </a:xfrm>
        </p:spPr>
        <p:txBody>
          <a:bodyPr/>
          <a:lstStyle/>
          <a:p>
            <a:r>
              <a:rPr lang="en-US" dirty="0"/>
              <a:t>Decision Tree based Methods</a:t>
            </a:r>
          </a:p>
          <a:p>
            <a:r>
              <a:rPr lang="en-US" dirty="0"/>
              <a:t>Rule-based Methods</a:t>
            </a:r>
          </a:p>
          <a:p>
            <a:r>
              <a:rPr lang="en-US" dirty="0"/>
              <a:t>Memory based reasoning</a:t>
            </a:r>
          </a:p>
          <a:p>
            <a:r>
              <a:rPr lang="en-US" dirty="0"/>
              <a:t>Neural Networks</a:t>
            </a:r>
          </a:p>
          <a:p>
            <a:r>
              <a:rPr lang="en-US" dirty="0"/>
              <a:t>Naïve Bayes and Bayesian Belief Networks</a:t>
            </a:r>
          </a:p>
          <a:p>
            <a:r>
              <a:rPr lang="en-US" dirty="0"/>
              <a:t>Support Vector Machines</a:t>
            </a:r>
          </a:p>
        </p:txBody>
      </p:sp>
    </p:spTree>
    <p:extLst>
      <p:ext uri="{BB962C8B-B14F-4D97-AF65-F5344CB8AC3E}">
        <p14:creationId xmlns:p14="http://schemas.microsoft.com/office/powerpoint/2010/main" val="8170777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91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Classification Techniques</a:t>
            </a:r>
          </a:p>
        </p:txBody>
      </p:sp>
      <p:sp>
        <p:nvSpPr>
          <p:cNvPr id="80691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48768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Decision Tree based Methods</a:t>
            </a:r>
          </a:p>
          <a:p>
            <a:r>
              <a:rPr lang="en-US" dirty="0"/>
              <a:t>Rule-based Methods</a:t>
            </a:r>
          </a:p>
          <a:p>
            <a:r>
              <a:rPr lang="en-US" dirty="0"/>
              <a:t>Memory based reasoning</a:t>
            </a:r>
          </a:p>
          <a:p>
            <a:r>
              <a:rPr lang="en-US" dirty="0"/>
              <a:t>Neural Networks</a:t>
            </a:r>
          </a:p>
          <a:p>
            <a:r>
              <a:rPr lang="en-US" dirty="0"/>
              <a:t>Naïve Bayes and Bayesian Belief Networks</a:t>
            </a:r>
          </a:p>
          <a:p>
            <a:r>
              <a:rPr lang="en-US" dirty="0"/>
              <a:t>Support Vector Machines</a:t>
            </a:r>
          </a:p>
        </p:txBody>
      </p:sp>
    </p:spTree>
    <p:extLst>
      <p:ext uri="{BB962C8B-B14F-4D97-AF65-F5344CB8AC3E}">
        <p14:creationId xmlns:p14="http://schemas.microsoft.com/office/powerpoint/2010/main" val="15453538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16838" cy="1143000"/>
          </a:xfrm>
        </p:spPr>
        <p:txBody>
          <a:bodyPr/>
          <a:lstStyle/>
          <a:p>
            <a:r>
              <a:rPr lang="en-US"/>
              <a:t>Decision Trees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382000" cy="4800600"/>
          </a:xfrm>
        </p:spPr>
        <p:txBody>
          <a:bodyPr>
            <a:normAutofit/>
          </a:bodyPr>
          <a:lstStyle/>
          <a:p>
            <a:r>
              <a:rPr lang="en-US" dirty="0"/>
              <a:t>Decision tree </a:t>
            </a:r>
          </a:p>
          <a:p>
            <a:pPr lvl="1"/>
            <a:r>
              <a:rPr lang="en-US" dirty="0"/>
              <a:t>A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flow-chart-like tree </a:t>
            </a:r>
            <a:r>
              <a:rPr lang="en-US" dirty="0"/>
              <a:t>structure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Internal node </a:t>
            </a:r>
            <a:r>
              <a:rPr lang="en-US" dirty="0"/>
              <a:t>denotes a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test on an attribute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Branch</a:t>
            </a:r>
            <a:r>
              <a:rPr lang="en-US" dirty="0"/>
              <a:t> represents an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outcome of the test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Leaf nodes </a:t>
            </a:r>
            <a:r>
              <a:rPr lang="en-US" dirty="0"/>
              <a:t>represent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class labels </a:t>
            </a:r>
            <a:r>
              <a:rPr lang="en-US" dirty="0"/>
              <a:t>or class distribution</a:t>
            </a:r>
          </a:p>
        </p:txBody>
      </p:sp>
    </p:spTree>
    <p:extLst>
      <p:ext uri="{BB962C8B-B14F-4D97-AF65-F5344CB8AC3E}">
        <p14:creationId xmlns:p14="http://schemas.microsoft.com/office/powerpoint/2010/main" val="3414470421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a Decision Tree</a:t>
            </a:r>
          </a:p>
        </p:txBody>
      </p:sp>
      <p:grpSp>
        <p:nvGrpSpPr>
          <p:cNvPr id="889859" name="Group 3"/>
          <p:cNvGrpSpPr>
            <a:grpSpLocks/>
          </p:cNvGrpSpPr>
          <p:nvPr/>
        </p:nvGrpSpPr>
        <p:grpSpPr bwMode="auto">
          <a:xfrm>
            <a:off x="228600" y="1644650"/>
            <a:ext cx="3587750" cy="4311650"/>
            <a:chOff x="288" y="951"/>
            <a:chExt cx="2260" cy="2716"/>
          </a:xfrm>
        </p:grpSpPr>
        <p:graphicFrame>
          <p:nvGraphicFramePr>
            <p:cNvPr id="889860" name="Object 4"/>
            <p:cNvGraphicFramePr>
              <a:graphicFrameLocks noChangeAspect="1"/>
            </p:cNvGraphicFramePr>
            <p:nvPr/>
          </p:nvGraphicFramePr>
          <p:xfrm>
            <a:off x="288" y="1344"/>
            <a:ext cx="2246" cy="2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82" name="Document" r:id="rId3" imgW="5405040" imgH="5780160" progId="Word.Document.8">
                    <p:embed/>
                  </p:oleObj>
                </mc:Choice>
                <mc:Fallback>
                  <p:oleObj name="Document" r:id="rId3" imgW="5405040" imgH="5780160" progId="Word.Document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1344"/>
                          <a:ext cx="2246" cy="23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89861" name="Text Box 5"/>
            <p:cNvSpPr txBox="1">
              <a:spLocks noChangeArrowheads="1"/>
            </p:cNvSpPr>
            <p:nvPr/>
          </p:nvSpPr>
          <p:spPr bwMode="auto">
            <a:xfrm rot="-2416809">
              <a:off x="672" y="951"/>
              <a:ext cx="7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>
                  <a:solidFill>
                    <a:srgbClr val="006600"/>
                  </a:solidFill>
                  <a:latin typeface="Arial" charset="0"/>
                </a:rPr>
                <a:t>categorical</a:t>
              </a:r>
              <a:endParaRPr lang="en-US" sz="160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889862" name="Text Box 6"/>
            <p:cNvSpPr txBox="1">
              <a:spLocks noChangeArrowheads="1"/>
            </p:cNvSpPr>
            <p:nvPr/>
          </p:nvSpPr>
          <p:spPr bwMode="auto">
            <a:xfrm rot="-2416809">
              <a:off x="1104" y="951"/>
              <a:ext cx="7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>
                  <a:solidFill>
                    <a:srgbClr val="006600"/>
                  </a:solidFill>
                  <a:latin typeface="Arial" charset="0"/>
                </a:rPr>
                <a:t>categorical</a:t>
              </a:r>
              <a:endParaRPr lang="en-US" sz="160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889863" name="Text Box 7"/>
            <p:cNvSpPr txBox="1">
              <a:spLocks noChangeArrowheads="1"/>
            </p:cNvSpPr>
            <p:nvPr/>
          </p:nvSpPr>
          <p:spPr bwMode="auto">
            <a:xfrm rot="-2416809">
              <a:off x="1632" y="951"/>
              <a:ext cx="80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>
                  <a:solidFill>
                    <a:srgbClr val="006600"/>
                  </a:solidFill>
                  <a:latin typeface="Arial" charset="0"/>
                </a:rPr>
                <a:t>continuous</a:t>
              </a:r>
              <a:endParaRPr lang="en-US" sz="160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889864" name="Text Box 8"/>
            <p:cNvSpPr txBox="1">
              <a:spLocks noChangeArrowheads="1"/>
            </p:cNvSpPr>
            <p:nvPr/>
          </p:nvSpPr>
          <p:spPr bwMode="auto">
            <a:xfrm rot="-2416809">
              <a:off x="2112" y="1047"/>
              <a:ext cx="4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>
                  <a:solidFill>
                    <a:srgbClr val="006600"/>
                  </a:solidFill>
                  <a:latin typeface="Arial" charset="0"/>
                </a:rPr>
                <a:t>class</a:t>
              </a:r>
              <a:endParaRPr lang="en-US" sz="1600">
                <a:solidFill>
                  <a:schemeClr val="bg2"/>
                </a:solidFill>
                <a:latin typeface="Arial" charset="0"/>
              </a:endParaRPr>
            </a:p>
          </p:txBody>
        </p:sp>
      </p:grpSp>
      <p:sp>
        <p:nvSpPr>
          <p:cNvPr id="889865" name="Line 9"/>
          <p:cNvSpPr>
            <a:spLocks noChangeShapeType="1"/>
          </p:cNvSpPr>
          <p:nvPr/>
        </p:nvSpPr>
        <p:spPr bwMode="auto">
          <a:xfrm>
            <a:off x="6965950" y="4778375"/>
            <a:ext cx="242888" cy="5270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9866" name="Line 10"/>
          <p:cNvSpPr>
            <a:spLocks noChangeShapeType="1"/>
          </p:cNvSpPr>
          <p:nvPr/>
        </p:nvSpPr>
        <p:spPr bwMode="auto">
          <a:xfrm flipH="1">
            <a:off x="5835650" y="4778375"/>
            <a:ext cx="323850" cy="5270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9867" name="Line 11"/>
          <p:cNvSpPr>
            <a:spLocks noChangeShapeType="1"/>
          </p:cNvSpPr>
          <p:nvPr/>
        </p:nvSpPr>
        <p:spPr bwMode="auto">
          <a:xfrm flipH="1">
            <a:off x="6481763" y="3984625"/>
            <a:ext cx="403225" cy="5286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9868" name="Line 12"/>
          <p:cNvSpPr>
            <a:spLocks noChangeShapeType="1"/>
          </p:cNvSpPr>
          <p:nvPr/>
        </p:nvSpPr>
        <p:spPr bwMode="auto">
          <a:xfrm>
            <a:off x="7693025" y="3984625"/>
            <a:ext cx="484188" cy="5286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9869" name="Line 13"/>
          <p:cNvSpPr>
            <a:spLocks noChangeShapeType="1"/>
          </p:cNvSpPr>
          <p:nvPr/>
        </p:nvSpPr>
        <p:spPr bwMode="auto">
          <a:xfrm>
            <a:off x="6643688" y="3257550"/>
            <a:ext cx="565150" cy="463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9870" name="Line 14"/>
          <p:cNvSpPr>
            <a:spLocks noChangeShapeType="1"/>
          </p:cNvSpPr>
          <p:nvPr/>
        </p:nvSpPr>
        <p:spPr bwMode="auto">
          <a:xfrm flipH="1">
            <a:off x="5270500" y="3257550"/>
            <a:ext cx="565150" cy="463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9871" name="Text Box 15"/>
          <p:cNvSpPr txBox="1">
            <a:spLocks noChangeArrowheads="1"/>
          </p:cNvSpPr>
          <p:nvPr/>
        </p:nvSpPr>
        <p:spPr bwMode="auto">
          <a:xfrm>
            <a:off x="5788025" y="2994025"/>
            <a:ext cx="936625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2D1993"/>
                </a:solidFill>
                <a:latin typeface="Arial" charset="0"/>
              </a:rPr>
              <a:t>Refund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89872" name="Text Box 16"/>
          <p:cNvSpPr txBox="1">
            <a:spLocks noChangeArrowheads="1"/>
          </p:cNvSpPr>
          <p:nvPr/>
        </p:nvSpPr>
        <p:spPr bwMode="auto">
          <a:xfrm>
            <a:off x="6804025" y="3721100"/>
            <a:ext cx="935038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2D1993"/>
                </a:solidFill>
                <a:latin typeface="Arial" charset="0"/>
              </a:rPr>
              <a:t>MarSt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89873" name="Text Box 17"/>
          <p:cNvSpPr txBox="1">
            <a:spLocks noChangeArrowheads="1"/>
          </p:cNvSpPr>
          <p:nvPr/>
        </p:nvSpPr>
        <p:spPr bwMode="auto">
          <a:xfrm>
            <a:off x="6078538" y="4513263"/>
            <a:ext cx="968375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2D1993"/>
                </a:solidFill>
                <a:latin typeface="Arial" charset="0"/>
              </a:rPr>
              <a:t>TaxInc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89874" name="AutoShape 18"/>
          <p:cNvSpPr>
            <a:spLocks noChangeArrowheads="1"/>
          </p:cNvSpPr>
          <p:nvPr/>
        </p:nvSpPr>
        <p:spPr bwMode="auto">
          <a:xfrm>
            <a:off x="7005638" y="5302250"/>
            <a:ext cx="627062" cy="36671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9875" name="Text Box 19"/>
          <p:cNvSpPr txBox="1">
            <a:spLocks noChangeArrowheads="1"/>
          </p:cNvSpPr>
          <p:nvPr/>
        </p:nvSpPr>
        <p:spPr bwMode="auto">
          <a:xfrm>
            <a:off x="6929438" y="5302250"/>
            <a:ext cx="685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YES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89876" name="AutoShape 20"/>
          <p:cNvSpPr>
            <a:spLocks noChangeArrowheads="1"/>
          </p:cNvSpPr>
          <p:nvPr/>
        </p:nvSpPr>
        <p:spPr bwMode="auto">
          <a:xfrm>
            <a:off x="5513388" y="5319713"/>
            <a:ext cx="654050" cy="3635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9877" name="Text Box 21"/>
          <p:cNvSpPr txBox="1">
            <a:spLocks noChangeArrowheads="1"/>
          </p:cNvSpPr>
          <p:nvPr/>
        </p:nvSpPr>
        <p:spPr bwMode="auto">
          <a:xfrm>
            <a:off x="5610225" y="5305425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89878" name="AutoShape 22"/>
          <p:cNvSpPr>
            <a:spLocks noChangeArrowheads="1"/>
          </p:cNvSpPr>
          <p:nvPr/>
        </p:nvSpPr>
        <p:spPr bwMode="auto">
          <a:xfrm>
            <a:off x="4948238" y="3735388"/>
            <a:ext cx="685800" cy="347662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9879" name="Text Box 23"/>
          <p:cNvSpPr txBox="1">
            <a:spLocks noChangeArrowheads="1"/>
          </p:cNvSpPr>
          <p:nvPr/>
        </p:nvSpPr>
        <p:spPr bwMode="auto">
          <a:xfrm>
            <a:off x="5043488" y="3721100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 b="0">
              <a:solidFill>
                <a:srgbClr val="00FFFF"/>
              </a:solidFill>
              <a:latin typeface="Arial" charset="0"/>
            </a:endParaRPr>
          </a:p>
        </p:txBody>
      </p:sp>
      <p:sp>
        <p:nvSpPr>
          <p:cNvPr id="889880" name="AutoShape 24"/>
          <p:cNvSpPr>
            <a:spLocks noChangeArrowheads="1"/>
          </p:cNvSpPr>
          <p:nvPr/>
        </p:nvSpPr>
        <p:spPr bwMode="auto">
          <a:xfrm>
            <a:off x="7843838" y="4540250"/>
            <a:ext cx="685800" cy="381000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9881" name="Text Box 25"/>
          <p:cNvSpPr txBox="1">
            <a:spLocks noChangeArrowheads="1"/>
          </p:cNvSpPr>
          <p:nvPr/>
        </p:nvSpPr>
        <p:spPr bwMode="auto">
          <a:xfrm>
            <a:off x="7920038" y="4540250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89882" name="Text Box 26"/>
          <p:cNvSpPr txBox="1">
            <a:spLocks noChangeArrowheads="1"/>
          </p:cNvSpPr>
          <p:nvPr/>
        </p:nvSpPr>
        <p:spPr bwMode="auto">
          <a:xfrm>
            <a:off x="5060950" y="3257550"/>
            <a:ext cx="533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Yes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89883" name="Text Box 27"/>
          <p:cNvSpPr txBox="1">
            <a:spLocks noChangeArrowheads="1"/>
          </p:cNvSpPr>
          <p:nvPr/>
        </p:nvSpPr>
        <p:spPr bwMode="auto">
          <a:xfrm>
            <a:off x="6926263" y="3257550"/>
            <a:ext cx="4429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No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89884" name="Text Box 28"/>
          <p:cNvSpPr txBox="1">
            <a:spLocks noChangeArrowheads="1"/>
          </p:cNvSpPr>
          <p:nvPr/>
        </p:nvSpPr>
        <p:spPr bwMode="auto">
          <a:xfrm>
            <a:off x="7908925" y="4022725"/>
            <a:ext cx="9302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Married</a:t>
            </a:r>
            <a:r>
              <a:rPr lang="en-US" sz="1600" b="0">
                <a:solidFill>
                  <a:schemeClr val="bg2"/>
                </a:solidFill>
                <a:latin typeface="Arial" charset="0"/>
              </a:rPr>
              <a:t> </a:t>
            </a:r>
          </a:p>
        </p:txBody>
      </p:sp>
      <p:sp>
        <p:nvSpPr>
          <p:cNvPr id="889885" name="Text Box 29"/>
          <p:cNvSpPr txBox="1">
            <a:spLocks noChangeArrowheads="1"/>
          </p:cNvSpPr>
          <p:nvPr/>
        </p:nvSpPr>
        <p:spPr bwMode="auto">
          <a:xfrm>
            <a:off x="5692775" y="4051300"/>
            <a:ext cx="1660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Single, Divorced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89886" name="Text Box 30"/>
          <p:cNvSpPr txBox="1">
            <a:spLocks noChangeArrowheads="1"/>
          </p:cNvSpPr>
          <p:nvPr/>
        </p:nvSpPr>
        <p:spPr bwMode="auto">
          <a:xfrm>
            <a:off x="5313363" y="4843463"/>
            <a:ext cx="720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&lt; 80K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89887" name="Text Box 31"/>
          <p:cNvSpPr txBox="1">
            <a:spLocks noChangeArrowheads="1"/>
          </p:cNvSpPr>
          <p:nvPr/>
        </p:nvSpPr>
        <p:spPr bwMode="auto">
          <a:xfrm>
            <a:off x="7088188" y="4843463"/>
            <a:ext cx="720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&gt; 80K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89888" name="Text Box 32"/>
          <p:cNvSpPr txBox="1">
            <a:spLocks noChangeArrowheads="1"/>
          </p:cNvSpPr>
          <p:nvPr/>
        </p:nvSpPr>
        <p:spPr bwMode="auto">
          <a:xfrm>
            <a:off x="6427788" y="2039938"/>
            <a:ext cx="2241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800" i="1" dirty="0">
                <a:solidFill>
                  <a:srgbClr val="FF0000"/>
                </a:solidFill>
                <a:latin typeface="Arial" charset="0"/>
              </a:rPr>
              <a:t>Splitting Attributes</a:t>
            </a:r>
          </a:p>
        </p:txBody>
      </p:sp>
      <p:sp>
        <p:nvSpPr>
          <p:cNvPr id="889889" name="Line 33"/>
          <p:cNvSpPr>
            <a:spLocks noChangeShapeType="1"/>
          </p:cNvSpPr>
          <p:nvPr/>
        </p:nvSpPr>
        <p:spPr bwMode="auto">
          <a:xfrm flipH="1">
            <a:off x="6805613" y="2420938"/>
            <a:ext cx="536575" cy="534987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9890" name="AutoShape 34"/>
          <p:cNvSpPr>
            <a:spLocks noChangeArrowheads="1"/>
          </p:cNvSpPr>
          <p:nvPr/>
        </p:nvSpPr>
        <p:spPr bwMode="auto">
          <a:xfrm>
            <a:off x="3810000" y="4083050"/>
            <a:ext cx="914400" cy="293688"/>
          </a:xfrm>
          <a:prstGeom prst="rightArrow">
            <a:avLst>
              <a:gd name="adj1" fmla="val 50000"/>
              <a:gd name="adj2" fmla="val 77838"/>
            </a:avLst>
          </a:prstGeom>
          <a:solidFill>
            <a:srgbClr val="CC0000"/>
          </a:solidFill>
          <a:ln w="12700">
            <a:solidFill>
              <a:srgbClr val="CC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9891" name="Line 35"/>
          <p:cNvSpPr>
            <a:spLocks noChangeShapeType="1"/>
          </p:cNvSpPr>
          <p:nvPr/>
        </p:nvSpPr>
        <p:spPr bwMode="auto">
          <a:xfrm>
            <a:off x="7418388" y="2420938"/>
            <a:ext cx="76200" cy="1144587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9892" name="Text Box 36"/>
          <p:cNvSpPr txBox="1">
            <a:spLocks noChangeArrowheads="1"/>
          </p:cNvSpPr>
          <p:nvPr/>
        </p:nvSpPr>
        <p:spPr bwMode="auto">
          <a:xfrm>
            <a:off x="762000" y="6140450"/>
            <a:ext cx="2514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2000">
                <a:solidFill>
                  <a:schemeClr val="tx2"/>
                </a:solidFill>
                <a:latin typeface="Arial" charset="0"/>
              </a:rPr>
              <a:t>Training Data</a:t>
            </a:r>
            <a:endParaRPr lang="en-US" sz="20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89893" name="Text Box 37"/>
          <p:cNvSpPr txBox="1">
            <a:spLocks noChangeArrowheads="1"/>
          </p:cNvSpPr>
          <p:nvPr/>
        </p:nvSpPr>
        <p:spPr bwMode="auto">
          <a:xfrm>
            <a:off x="5029200" y="6108700"/>
            <a:ext cx="3124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2000">
                <a:solidFill>
                  <a:schemeClr val="tx2"/>
                </a:solidFill>
                <a:latin typeface="Arial" charset="0"/>
              </a:rPr>
              <a:t>Model:  Decision Tree</a:t>
            </a:r>
            <a:endParaRPr lang="en-US" sz="20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38" name="Text Box 32"/>
          <p:cNvSpPr txBox="1">
            <a:spLocks noChangeArrowheads="1"/>
          </p:cNvSpPr>
          <p:nvPr/>
        </p:nvSpPr>
        <p:spPr bwMode="auto">
          <a:xfrm>
            <a:off x="7632700" y="3355067"/>
            <a:ext cx="15613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800" i="1" dirty="0">
                <a:solidFill>
                  <a:srgbClr val="FF0000"/>
                </a:solidFill>
                <a:latin typeface="Arial" charset="0"/>
              </a:rPr>
              <a:t>Test outcome</a:t>
            </a:r>
          </a:p>
        </p:txBody>
      </p:sp>
      <p:sp>
        <p:nvSpPr>
          <p:cNvPr id="39" name="Line 33"/>
          <p:cNvSpPr>
            <a:spLocks noChangeShapeType="1"/>
          </p:cNvSpPr>
          <p:nvPr/>
        </p:nvSpPr>
        <p:spPr bwMode="auto">
          <a:xfrm flipH="1">
            <a:off x="7353300" y="3787096"/>
            <a:ext cx="892897" cy="461847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" name="Line 33"/>
          <p:cNvSpPr>
            <a:spLocks noChangeShapeType="1"/>
          </p:cNvSpPr>
          <p:nvPr/>
        </p:nvSpPr>
        <p:spPr bwMode="auto">
          <a:xfrm>
            <a:off x="8246195" y="3787097"/>
            <a:ext cx="1" cy="270554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Text Box 32"/>
          <p:cNvSpPr txBox="1">
            <a:spLocks noChangeArrowheads="1"/>
          </p:cNvSpPr>
          <p:nvPr/>
        </p:nvSpPr>
        <p:spPr bwMode="auto">
          <a:xfrm>
            <a:off x="7668269" y="5683250"/>
            <a:ext cx="14285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800" i="1" dirty="0">
                <a:solidFill>
                  <a:srgbClr val="FF0000"/>
                </a:solidFill>
                <a:latin typeface="Arial" charset="0"/>
              </a:rPr>
              <a:t>Class labels</a:t>
            </a:r>
          </a:p>
        </p:txBody>
      </p:sp>
      <p:sp>
        <p:nvSpPr>
          <p:cNvPr id="42" name="Line 33"/>
          <p:cNvSpPr>
            <a:spLocks noChangeShapeType="1"/>
          </p:cNvSpPr>
          <p:nvPr/>
        </p:nvSpPr>
        <p:spPr bwMode="auto">
          <a:xfrm flipH="1" flipV="1">
            <a:off x="8177213" y="5011737"/>
            <a:ext cx="196849" cy="657226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Line 33"/>
          <p:cNvSpPr>
            <a:spLocks noChangeShapeType="1"/>
          </p:cNvSpPr>
          <p:nvPr/>
        </p:nvSpPr>
        <p:spPr bwMode="auto">
          <a:xfrm flipH="1" flipV="1">
            <a:off x="7693024" y="5470525"/>
            <a:ext cx="681038" cy="212725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264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Another Example of Decision Tree</a:t>
            </a:r>
          </a:p>
        </p:txBody>
      </p:sp>
      <p:graphicFrame>
        <p:nvGraphicFramePr>
          <p:cNvPr id="8345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2704583"/>
              </p:ext>
            </p:extLst>
          </p:nvPr>
        </p:nvGraphicFramePr>
        <p:xfrm>
          <a:off x="457200" y="2636837"/>
          <a:ext cx="3565525" cy="3687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5" name="Document" r:id="rId3" imgW="5405040" imgH="5780160" progId="Word.Document.8">
                  <p:embed/>
                </p:oleObj>
              </mc:Choice>
              <mc:Fallback>
                <p:oleObj name="Document" r:id="rId3" imgW="5405040" imgH="57801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636837"/>
                        <a:ext cx="3565525" cy="3687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4564" name="Text Box 4"/>
          <p:cNvSpPr txBox="1">
            <a:spLocks noChangeArrowheads="1"/>
          </p:cNvSpPr>
          <p:nvPr/>
        </p:nvSpPr>
        <p:spPr bwMode="auto">
          <a:xfrm rot="-2416809">
            <a:off x="1066800" y="2012950"/>
            <a:ext cx="12573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006600"/>
                </a:solidFill>
                <a:latin typeface="Arial" charset="0"/>
              </a:rPr>
              <a:t>categorical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34565" name="Text Box 5"/>
          <p:cNvSpPr txBox="1">
            <a:spLocks noChangeArrowheads="1"/>
          </p:cNvSpPr>
          <p:nvPr/>
        </p:nvSpPr>
        <p:spPr bwMode="auto">
          <a:xfrm rot="-2416809">
            <a:off x="1752600" y="2012950"/>
            <a:ext cx="12573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dirty="0">
                <a:solidFill>
                  <a:srgbClr val="006600"/>
                </a:solidFill>
                <a:latin typeface="Arial" charset="0"/>
              </a:rPr>
              <a:t>categorical</a:t>
            </a:r>
            <a:endParaRPr lang="en-US" sz="1600" dirty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34566" name="Text Box 6"/>
          <p:cNvSpPr txBox="1">
            <a:spLocks noChangeArrowheads="1"/>
          </p:cNvSpPr>
          <p:nvPr/>
        </p:nvSpPr>
        <p:spPr bwMode="auto">
          <a:xfrm rot="-2416809">
            <a:off x="2590800" y="2012950"/>
            <a:ext cx="12779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006600"/>
                </a:solidFill>
                <a:latin typeface="Arial" charset="0"/>
              </a:rPr>
              <a:t>continuous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34567" name="Text Box 7"/>
          <p:cNvSpPr txBox="1">
            <a:spLocks noChangeArrowheads="1"/>
          </p:cNvSpPr>
          <p:nvPr/>
        </p:nvSpPr>
        <p:spPr bwMode="auto">
          <a:xfrm rot="-2416809">
            <a:off x="3352800" y="2165350"/>
            <a:ext cx="6921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006600"/>
                </a:solidFill>
                <a:latin typeface="Arial" charset="0"/>
              </a:rPr>
              <a:t>class</a:t>
            </a:r>
            <a:endParaRPr lang="en-US" sz="160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34568" name="Line 8"/>
          <p:cNvSpPr>
            <a:spLocks noChangeShapeType="1"/>
          </p:cNvSpPr>
          <p:nvPr/>
        </p:nvSpPr>
        <p:spPr bwMode="auto">
          <a:xfrm>
            <a:off x="8005763" y="4000500"/>
            <a:ext cx="242887" cy="5270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569" name="Line 9"/>
          <p:cNvSpPr>
            <a:spLocks noChangeShapeType="1"/>
          </p:cNvSpPr>
          <p:nvPr/>
        </p:nvSpPr>
        <p:spPr bwMode="auto">
          <a:xfrm flipH="1">
            <a:off x="6875463" y="4000500"/>
            <a:ext cx="323850" cy="5270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570" name="Line 10"/>
          <p:cNvSpPr>
            <a:spLocks noChangeShapeType="1"/>
          </p:cNvSpPr>
          <p:nvPr/>
        </p:nvSpPr>
        <p:spPr bwMode="auto">
          <a:xfrm flipH="1">
            <a:off x="5881688" y="3236912"/>
            <a:ext cx="403225" cy="5286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571" name="Line 11"/>
          <p:cNvSpPr>
            <a:spLocks noChangeShapeType="1"/>
          </p:cNvSpPr>
          <p:nvPr/>
        </p:nvSpPr>
        <p:spPr bwMode="auto">
          <a:xfrm>
            <a:off x="7092950" y="3236912"/>
            <a:ext cx="484188" cy="5286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572" name="Line 12"/>
          <p:cNvSpPr>
            <a:spLocks noChangeShapeType="1"/>
          </p:cNvSpPr>
          <p:nvPr/>
        </p:nvSpPr>
        <p:spPr bwMode="auto">
          <a:xfrm>
            <a:off x="6043613" y="2509837"/>
            <a:ext cx="565150" cy="463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573" name="Line 13"/>
          <p:cNvSpPr>
            <a:spLocks noChangeShapeType="1"/>
          </p:cNvSpPr>
          <p:nvPr/>
        </p:nvSpPr>
        <p:spPr bwMode="auto">
          <a:xfrm flipH="1">
            <a:off x="4670425" y="2509837"/>
            <a:ext cx="565150" cy="463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574" name="Text Box 14"/>
          <p:cNvSpPr txBox="1">
            <a:spLocks noChangeArrowheads="1"/>
          </p:cNvSpPr>
          <p:nvPr/>
        </p:nvSpPr>
        <p:spPr bwMode="auto">
          <a:xfrm>
            <a:off x="5187950" y="2246312"/>
            <a:ext cx="936625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2D1993"/>
                </a:solidFill>
                <a:latin typeface="Arial" charset="0"/>
              </a:rPr>
              <a:t>MarSt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34575" name="Text Box 15"/>
          <p:cNvSpPr txBox="1">
            <a:spLocks noChangeArrowheads="1"/>
          </p:cNvSpPr>
          <p:nvPr/>
        </p:nvSpPr>
        <p:spPr bwMode="auto">
          <a:xfrm>
            <a:off x="6203950" y="2973387"/>
            <a:ext cx="935038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2D1993"/>
                </a:solidFill>
                <a:latin typeface="Arial" charset="0"/>
              </a:rPr>
              <a:t>Refund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34576" name="Text Box 16"/>
          <p:cNvSpPr txBox="1">
            <a:spLocks noChangeArrowheads="1"/>
          </p:cNvSpPr>
          <p:nvPr/>
        </p:nvSpPr>
        <p:spPr bwMode="auto">
          <a:xfrm>
            <a:off x="7118350" y="3735387"/>
            <a:ext cx="968375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2D1993"/>
                </a:solidFill>
                <a:latin typeface="Arial" charset="0"/>
              </a:rPr>
              <a:t>TaxInc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34577" name="AutoShape 17"/>
          <p:cNvSpPr>
            <a:spLocks noChangeArrowheads="1"/>
          </p:cNvSpPr>
          <p:nvPr/>
        </p:nvSpPr>
        <p:spPr bwMode="auto">
          <a:xfrm>
            <a:off x="8045450" y="4524375"/>
            <a:ext cx="627063" cy="366712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578" name="Text Box 18"/>
          <p:cNvSpPr txBox="1">
            <a:spLocks noChangeArrowheads="1"/>
          </p:cNvSpPr>
          <p:nvPr/>
        </p:nvSpPr>
        <p:spPr bwMode="auto">
          <a:xfrm>
            <a:off x="7969250" y="4524375"/>
            <a:ext cx="685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YES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34579" name="AutoShape 19"/>
          <p:cNvSpPr>
            <a:spLocks noChangeArrowheads="1"/>
          </p:cNvSpPr>
          <p:nvPr/>
        </p:nvSpPr>
        <p:spPr bwMode="auto">
          <a:xfrm>
            <a:off x="6553200" y="4541837"/>
            <a:ext cx="654050" cy="363538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580" name="Text Box 20"/>
          <p:cNvSpPr txBox="1">
            <a:spLocks noChangeArrowheads="1"/>
          </p:cNvSpPr>
          <p:nvPr/>
        </p:nvSpPr>
        <p:spPr bwMode="auto">
          <a:xfrm>
            <a:off x="6650038" y="4527550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34581" name="AutoShape 21"/>
          <p:cNvSpPr>
            <a:spLocks noChangeArrowheads="1"/>
          </p:cNvSpPr>
          <p:nvPr/>
        </p:nvSpPr>
        <p:spPr bwMode="auto">
          <a:xfrm>
            <a:off x="4348163" y="2987675"/>
            <a:ext cx="685800" cy="347662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4582" name="Text Box 22"/>
          <p:cNvSpPr txBox="1">
            <a:spLocks noChangeArrowheads="1"/>
          </p:cNvSpPr>
          <p:nvPr/>
        </p:nvSpPr>
        <p:spPr bwMode="auto">
          <a:xfrm>
            <a:off x="4443413" y="2973387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 b="0">
              <a:solidFill>
                <a:srgbClr val="00FFFF"/>
              </a:solidFill>
              <a:latin typeface="Arial" charset="0"/>
            </a:endParaRPr>
          </a:p>
        </p:txBody>
      </p:sp>
      <p:grpSp>
        <p:nvGrpSpPr>
          <p:cNvPr id="834595" name="Group 35"/>
          <p:cNvGrpSpPr>
            <a:grpSpLocks/>
          </p:cNvGrpSpPr>
          <p:nvPr/>
        </p:nvGrpSpPr>
        <p:grpSpPr bwMode="auto">
          <a:xfrm>
            <a:off x="5594350" y="3735387"/>
            <a:ext cx="685800" cy="381000"/>
            <a:chOff x="4927" y="2340"/>
            <a:chExt cx="432" cy="240"/>
          </a:xfrm>
        </p:grpSpPr>
        <p:sp>
          <p:nvSpPr>
            <p:cNvPr id="834583" name="AutoShape 23"/>
            <p:cNvSpPr>
              <a:spLocks noChangeArrowheads="1"/>
            </p:cNvSpPr>
            <p:nvPr/>
          </p:nvSpPr>
          <p:spPr bwMode="auto">
            <a:xfrm>
              <a:off x="4927" y="2340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rgbClr val="33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4584" name="Text Box 24"/>
            <p:cNvSpPr txBox="1">
              <a:spLocks noChangeArrowheads="1"/>
            </p:cNvSpPr>
            <p:nvPr/>
          </p:nvSpPr>
          <p:spPr bwMode="auto">
            <a:xfrm>
              <a:off x="4975" y="2340"/>
              <a:ext cx="30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>
                  <a:solidFill>
                    <a:srgbClr val="800000"/>
                  </a:solidFill>
                  <a:latin typeface="Arial" charset="0"/>
                </a:rPr>
                <a:t>NO</a:t>
              </a:r>
              <a:endParaRPr lang="en-US" sz="1600" b="0">
                <a:solidFill>
                  <a:schemeClr val="bg2"/>
                </a:solidFill>
                <a:latin typeface="Arial" charset="0"/>
              </a:endParaRPr>
            </a:p>
          </p:txBody>
        </p:sp>
      </p:grpSp>
      <p:sp>
        <p:nvSpPr>
          <p:cNvPr id="834585" name="Text Box 25"/>
          <p:cNvSpPr txBox="1">
            <a:spLocks noChangeArrowheads="1"/>
          </p:cNvSpPr>
          <p:nvPr/>
        </p:nvSpPr>
        <p:spPr bwMode="auto">
          <a:xfrm>
            <a:off x="5518150" y="3278187"/>
            <a:ext cx="533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Yes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34586" name="Text Box 26"/>
          <p:cNvSpPr txBox="1">
            <a:spLocks noChangeArrowheads="1"/>
          </p:cNvSpPr>
          <p:nvPr/>
        </p:nvSpPr>
        <p:spPr bwMode="auto">
          <a:xfrm>
            <a:off x="7270750" y="3201987"/>
            <a:ext cx="4429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No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34587" name="Text Box 27"/>
          <p:cNvSpPr txBox="1">
            <a:spLocks noChangeArrowheads="1"/>
          </p:cNvSpPr>
          <p:nvPr/>
        </p:nvSpPr>
        <p:spPr bwMode="auto">
          <a:xfrm>
            <a:off x="4146550" y="2439987"/>
            <a:ext cx="9302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Married</a:t>
            </a:r>
            <a:r>
              <a:rPr lang="en-US" sz="1600" b="0">
                <a:solidFill>
                  <a:schemeClr val="bg2"/>
                </a:solidFill>
                <a:latin typeface="Arial" charset="0"/>
              </a:rPr>
              <a:t> </a:t>
            </a:r>
          </a:p>
        </p:txBody>
      </p:sp>
      <p:sp>
        <p:nvSpPr>
          <p:cNvPr id="834588" name="Text Box 28"/>
          <p:cNvSpPr txBox="1">
            <a:spLocks noChangeArrowheads="1"/>
          </p:cNvSpPr>
          <p:nvPr/>
        </p:nvSpPr>
        <p:spPr bwMode="auto">
          <a:xfrm>
            <a:off x="5746750" y="2211387"/>
            <a:ext cx="139858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Single, Divorced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34589" name="Text Box 29"/>
          <p:cNvSpPr txBox="1">
            <a:spLocks noChangeArrowheads="1"/>
          </p:cNvSpPr>
          <p:nvPr/>
        </p:nvSpPr>
        <p:spPr bwMode="auto">
          <a:xfrm>
            <a:off x="6353175" y="4065587"/>
            <a:ext cx="720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&lt; 80K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34590" name="Text Box 30"/>
          <p:cNvSpPr txBox="1">
            <a:spLocks noChangeArrowheads="1"/>
          </p:cNvSpPr>
          <p:nvPr/>
        </p:nvSpPr>
        <p:spPr bwMode="auto">
          <a:xfrm>
            <a:off x="8128000" y="4065587"/>
            <a:ext cx="720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&gt; 80K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34597" name="Text Box 37"/>
          <p:cNvSpPr txBox="1">
            <a:spLocks noChangeArrowheads="1"/>
          </p:cNvSpPr>
          <p:nvPr/>
        </p:nvSpPr>
        <p:spPr bwMode="auto">
          <a:xfrm>
            <a:off x="4343400" y="5532437"/>
            <a:ext cx="4419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>
                <a:solidFill>
                  <a:srgbClr val="CC3300"/>
                </a:solidFill>
              </a:rPr>
              <a:t>There could be more than one tree that fits the same data!</a:t>
            </a:r>
          </a:p>
        </p:txBody>
      </p:sp>
    </p:spTree>
    <p:extLst>
      <p:ext uri="{BB962C8B-B14F-4D97-AF65-F5344CB8AC3E}">
        <p14:creationId xmlns:p14="http://schemas.microsoft.com/office/powerpoint/2010/main" val="7574002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Decision Tree Classification Task</a:t>
            </a:r>
          </a:p>
        </p:txBody>
      </p:sp>
      <p:graphicFrame>
        <p:nvGraphicFramePr>
          <p:cNvPr id="921603" name="Object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2983663"/>
              </p:ext>
            </p:extLst>
          </p:nvPr>
        </p:nvGraphicFramePr>
        <p:xfrm>
          <a:off x="1093788" y="1600200"/>
          <a:ext cx="6951662" cy="518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8" name="Visio" r:id="rId3" imgW="8424875" imgH="6279741" progId="Visio.Drawing.6">
                  <p:embed/>
                </p:oleObj>
              </mc:Choice>
              <mc:Fallback>
                <p:oleObj name="Visio" r:id="rId3" imgW="8424875" imgH="6279741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3788" y="1600200"/>
                        <a:ext cx="6951662" cy="518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04" name="Line 4"/>
          <p:cNvSpPr>
            <a:spLocks noChangeShapeType="1"/>
          </p:cNvSpPr>
          <p:nvPr/>
        </p:nvSpPr>
        <p:spPr bwMode="auto">
          <a:xfrm flipH="1" flipV="1">
            <a:off x="6019800" y="5181600"/>
            <a:ext cx="0" cy="6858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1605" name="Text Box 5"/>
          <p:cNvSpPr txBox="1">
            <a:spLocks noChangeArrowheads="1"/>
          </p:cNvSpPr>
          <p:nvPr/>
        </p:nvSpPr>
        <p:spPr bwMode="auto">
          <a:xfrm>
            <a:off x="7086600" y="4572000"/>
            <a:ext cx="121920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Decision Tree</a:t>
            </a:r>
          </a:p>
        </p:txBody>
      </p:sp>
    </p:spTree>
    <p:extLst>
      <p:ext uri="{BB962C8B-B14F-4D97-AF65-F5344CB8AC3E}">
        <p14:creationId xmlns:p14="http://schemas.microsoft.com/office/powerpoint/2010/main" val="8521173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Apply Model to Test Data</a:t>
            </a:r>
          </a:p>
        </p:txBody>
      </p:sp>
      <p:grpSp>
        <p:nvGrpSpPr>
          <p:cNvPr id="890883" name="Group 3"/>
          <p:cNvGrpSpPr>
            <a:grpSpLocks/>
          </p:cNvGrpSpPr>
          <p:nvPr/>
        </p:nvGrpSpPr>
        <p:grpSpPr bwMode="auto">
          <a:xfrm>
            <a:off x="685800" y="2873375"/>
            <a:ext cx="4267200" cy="3298825"/>
            <a:chOff x="384" y="1584"/>
            <a:chExt cx="2451" cy="1694"/>
          </a:xfrm>
        </p:grpSpPr>
        <p:sp>
          <p:nvSpPr>
            <p:cNvPr id="890884" name="Line 4"/>
            <p:cNvSpPr>
              <a:spLocks noChangeShapeType="1"/>
            </p:cNvSpPr>
            <p:nvPr/>
          </p:nvSpPr>
          <p:spPr bwMode="auto">
            <a:xfrm>
              <a:off x="1655" y="2708"/>
              <a:ext cx="153" cy="3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0885" name="Line 5"/>
            <p:cNvSpPr>
              <a:spLocks noChangeShapeType="1"/>
            </p:cNvSpPr>
            <p:nvPr/>
          </p:nvSpPr>
          <p:spPr bwMode="auto">
            <a:xfrm flipH="1">
              <a:off x="943" y="2708"/>
              <a:ext cx="204" cy="3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0886" name="Line 6"/>
            <p:cNvSpPr>
              <a:spLocks noChangeShapeType="1"/>
            </p:cNvSpPr>
            <p:nvPr/>
          </p:nvSpPr>
          <p:spPr bwMode="auto">
            <a:xfrm flipH="1">
              <a:off x="1350" y="2208"/>
              <a:ext cx="254" cy="3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0887" name="Line 7"/>
            <p:cNvSpPr>
              <a:spLocks noChangeShapeType="1"/>
            </p:cNvSpPr>
            <p:nvPr/>
          </p:nvSpPr>
          <p:spPr bwMode="auto">
            <a:xfrm>
              <a:off x="2113" y="2208"/>
              <a:ext cx="305" cy="3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0888" name="Line 8"/>
            <p:cNvSpPr>
              <a:spLocks noChangeShapeType="1"/>
            </p:cNvSpPr>
            <p:nvPr/>
          </p:nvSpPr>
          <p:spPr bwMode="auto">
            <a:xfrm>
              <a:off x="1452" y="1750"/>
              <a:ext cx="356" cy="29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0889" name="Line 9"/>
            <p:cNvSpPr>
              <a:spLocks noChangeShapeType="1"/>
            </p:cNvSpPr>
            <p:nvPr/>
          </p:nvSpPr>
          <p:spPr bwMode="auto">
            <a:xfrm flipH="1">
              <a:off x="587" y="1750"/>
              <a:ext cx="356" cy="29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0890" name="Text Box 10"/>
            <p:cNvSpPr txBox="1">
              <a:spLocks noChangeArrowheads="1"/>
            </p:cNvSpPr>
            <p:nvPr/>
          </p:nvSpPr>
          <p:spPr bwMode="auto">
            <a:xfrm>
              <a:off x="913" y="1584"/>
              <a:ext cx="590" cy="179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>
                  <a:solidFill>
                    <a:srgbClr val="2D1993"/>
                  </a:solidFill>
                  <a:latin typeface="Arial" charset="0"/>
                </a:rPr>
                <a:t>Refund</a:t>
              </a:r>
              <a:endParaRPr lang="en-US" sz="1600" b="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890891" name="Text Box 11"/>
            <p:cNvSpPr txBox="1">
              <a:spLocks noChangeArrowheads="1"/>
            </p:cNvSpPr>
            <p:nvPr/>
          </p:nvSpPr>
          <p:spPr bwMode="auto">
            <a:xfrm>
              <a:off x="1553" y="2042"/>
              <a:ext cx="589" cy="179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>
                  <a:solidFill>
                    <a:srgbClr val="2D1993"/>
                  </a:solidFill>
                  <a:latin typeface="Arial" charset="0"/>
                </a:rPr>
                <a:t>MarSt</a:t>
              </a:r>
              <a:endParaRPr lang="en-US" sz="1600" b="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890892" name="Text Box 12"/>
            <p:cNvSpPr txBox="1">
              <a:spLocks noChangeArrowheads="1"/>
            </p:cNvSpPr>
            <p:nvPr/>
          </p:nvSpPr>
          <p:spPr bwMode="auto">
            <a:xfrm>
              <a:off x="1096" y="2541"/>
              <a:ext cx="610" cy="179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>
                  <a:solidFill>
                    <a:srgbClr val="2D1993"/>
                  </a:solidFill>
                  <a:latin typeface="Arial" charset="0"/>
                </a:rPr>
                <a:t>TaxInc</a:t>
              </a:r>
              <a:endParaRPr lang="en-US" sz="1600" b="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890893" name="AutoShape 13"/>
            <p:cNvSpPr>
              <a:spLocks noChangeArrowheads="1"/>
            </p:cNvSpPr>
            <p:nvPr/>
          </p:nvSpPr>
          <p:spPr bwMode="auto">
            <a:xfrm>
              <a:off x="1680" y="3038"/>
              <a:ext cx="395" cy="231"/>
            </a:xfrm>
            <a:prstGeom prst="roundRect">
              <a:avLst>
                <a:gd name="adj" fmla="val 16769"/>
              </a:avLst>
            </a:prstGeom>
            <a:solidFill>
              <a:srgbClr val="33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0894" name="Text Box 14"/>
            <p:cNvSpPr txBox="1">
              <a:spLocks noChangeArrowheads="1"/>
            </p:cNvSpPr>
            <p:nvPr/>
          </p:nvSpPr>
          <p:spPr bwMode="auto">
            <a:xfrm>
              <a:off x="1632" y="3038"/>
              <a:ext cx="432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>
                  <a:solidFill>
                    <a:srgbClr val="800000"/>
                  </a:solidFill>
                  <a:latin typeface="Arial" charset="0"/>
                </a:rPr>
                <a:t>YES</a:t>
              </a:r>
              <a:endParaRPr lang="en-US" sz="1600" b="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890895" name="AutoShape 15"/>
            <p:cNvSpPr>
              <a:spLocks noChangeArrowheads="1"/>
            </p:cNvSpPr>
            <p:nvPr/>
          </p:nvSpPr>
          <p:spPr bwMode="auto">
            <a:xfrm>
              <a:off x="740" y="3049"/>
              <a:ext cx="412" cy="229"/>
            </a:xfrm>
            <a:prstGeom prst="roundRect">
              <a:avLst>
                <a:gd name="adj" fmla="val 16667"/>
              </a:avLst>
            </a:prstGeom>
            <a:solidFill>
              <a:srgbClr val="33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0896" name="Text Box 16"/>
            <p:cNvSpPr txBox="1">
              <a:spLocks noChangeArrowheads="1"/>
            </p:cNvSpPr>
            <p:nvPr/>
          </p:nvSpPr>
          <p:spPr bwMode="auto">
            <a:xfrm>
              <a:off x="814" y="3040"/>
              <a:ext cx="281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>
                  <a:solidFill>
                    <a:srgbClr val="800000"/>
                  </a:solidFill>
                  <a:latin typeface="Arial" charset="0"/>
                </a:rPr>
                <a:t>NO</a:t>
              </a:r>
              <a:endParaRPr lang="en-US" sz="1600" b="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890897" name="AutoShape 17"/>
            <p:cNvSpPr>
              <a:spLocks noChangeArrowheads="1"/>
            </p:cNvSpPr>
            <p:nvPr/>
          </p:nvSpPr>
          <p:spPr bwMode="auto">
            <a:xfrm>
              <a:off x="384" y="2051"/>
              <a:ext cx="432" cy="219"/>
            </a:xfrm>
            <a:prstGeom prst="roundRect">
              <a:avLst>
                <a:gd name="adj" fmla="val 16667"/>
              </a:avLst>
            </a:prstGeom>
            <a:solidFill>
              <a:srgbClr val="33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0898" name="Text Box 18"/>
            <p:cNvSpPr txBox="1">
              <a:spLocks noChangeArrowheads="1"/>
            </p:cNvSpPr>
            <p:nvPr/>
          </p:nvSpPr>
          <p:spPr bwMode="auto">
            <a:xfrm>
              <a:off x="458" y="2042"/>
              <a:ext cx="281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>
                  <a:solidFill>
                    <a:srgbClr val="800000"/>
                  </a:solidFill>
                  <a:latin typeface="Arial" charset="0"/>
                </a:rPr>
                <a:t>NO</a:t>
              </a:r>
              <a:endParaRPr lang="en-US" sz="1600" b="0">
                <a:solidFill>
                  <a:srgbClr val="00FFFF"/>
                </a:solidFill>
                <a:latin typeface="Arial" charset="0"/>
              </a:endParaRPr>
            </a:p>
          </p:txBody>
        </p:sp>
        <p:sp>
          <p:nvSpPr>
            <p:cNvPr id="890899" name="AutoShape 19"/>
            <p:cNvSpPr>
              <a:spLocks noChangeArrowheads="1"/>
            </p:cNvSpPr>
            <p:nvPr/>
          </p:nvSpPr>
          <p:spPr bwMode="auto">
            <a:xfrm>
              <a:off x="2208" y="2558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rgbClr val="33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0900" name="Text Box 20"/>
            <p:cNvSpPr txBox="1">
              <a:spLocks noChangeArrowheads="1"/>
            </p:cNvSpPr>
            <p:nvPr/>
          </p:nvSpPr>
          <p:spPr bwMode="auto">
            <a:xfrm>
              <a:off x="2270" y="2558"/>
              <a:ext cx="281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>
                  <a:solidFill>
                    <a:srgbClr val="800000"/>
                  </a:solidFill>
                  <a:latin typeface="Arial" charset="0"/>
                </a:rPr>
                <a:t>NO</a:t>
              </a:r>
              <a:endParaRPr lang="en-US" sz="1600" b="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890901" name="Text Box 21"/>
            <p:cNvSpPr txBox="1">
              <a:spLocks noChangeArrowheads="1"/>
            </p:cNvSpPr>
            <p:nvPr/>
          </p:nvSpPr>
          <p:spPr bwMode="auto">
            <a:xfrm>
              <a:off x="484" y="1750"/>
              <a:ext cx="307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 b="0">
                  <a:latin typeface="Arial" charset="0"/>
                </a:rPr>
                <a:t>Yes</a:t>
              </a:r>
              <a:endParaRPr lang="en-US" sz="1600" b="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890902" name="Text Box 22"/>
            <p:cNvSpPr txBox="1">
              <a:spLocks noChangeArrowheads="1"/>
            </p:cNvSpPr>
            <p:nvPr/>
          </p:nvSpPr>
          <p:spPr bwMode="auto">
            <a:xfrm>
              <a:off x="1654" y="1750"/>
              <a:ext cx="255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 b="0">
                  <a:latin typeface="Arial" charset="0"/>
                </a:rPr>
                <a:t>No</a:t>
              </a:r>
              <a:endParaRPr lang="en-US" sz="1600" b="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890903" name="Text Box 23"/>
            <p:cNvSpPr txBox="1">
              <a:spLocks noChangeArrowheads="1"/>
            </p:cNvSpPr>
            <p:nvPr/>
          </p:nvSpPr>
          <p:spPr bwMode="auto">
            <a:xfrm>
              <a:off x="2301" y="2232"/>
              <a:ext cx="53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 b="0">
                  <a:latin typeface="Arial" charset="0"/>
                </a:rPr>
                <a:t>Married</a:t>
              </a:r>
              <a:r>
                <a:rPr lang="en-US" sz="1600" b="0">
                  <a:solidFill>
                    <a:schemeClr val="bg2"/>
                  </a:solidFill>
                  <a:latin typeface="Arial" charset="0"/>
                </a:rPr>
                <a:t> </a:t>
              </a:r>
            </a:p>
          </p:txBody>
        </p:sp>
        <p:sp>
          <p:nvSpPr>
            <p:cNvPr id="890904" name="Text Box 24"/>
            <p:cNvSpPr txBox="1">
              <a:spLocks noChangeArrowheads="1"/>
            </p:cNvSpPr>
            <p:nvPr/>
          </p:nvSpPr>
          <p:spPr bwMode="auto">
            <a:xfrm>
              <a:off x="945" y="2250"/>
              <a:ext cx="95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 b="0">
                  <a:latin typeface="Arial" charset="0"/>
                </a:rPr>
                <a:t>Single, Divorced</a:t>
              </a:r>
              <a:endParaRPr lang="en-US" sz="1600" b="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890905" name="Text Box 25"/>
            <p:cNvSpPr txBox="1">
              <a:spLocks noChangeArrowheads="1"/>
            </p:cNvSpPr>
            <p:nvPr/>
          </p:nvSpPr>
          <p:spPr bwMode="auto">
            <a:xfrm>
              <a:off x="654" y="2749"/>
              <a:ext cx="41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 b="0">
                  <a:latin typeface="Arial" charset="0"/>
                </a:rPr>
                <a:t>&lt; 80K</a:t>
              </a:r>
              <a:endParaRPr lang="en-US" sz="1600" b="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890906" name="Text Box 26"/>
            <p:cNvSpPr txBox="1">
              <a:spLocks noChangeArrowheads="1"/>
            </p:cNvSpPr>
            <p:nvPr/>
          </p:nvSpPr>
          <p:spPr bwMode="auto">
            <a:xfrm>
              <a:off x="1772" y="2749"/>
              <a:ext cx="41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 b="0">
                  <a:latin typeface="Arial" charset="0"/>
                </a:rPr>
                <a:t>&gt; 80K</a:t>
              </a:r>
              <a:endParaRPr lang="en-US" sz="1600" b="0">
                <a:solidFill>
                  <a:schemeClr val="bg2"/>
                </a:solidFill>
                <a:latin typeface="Arial" charset="0"/>
              </a:endParaRPr>
            </a:p>
          </p:txBody>
        </p:sp>
      </p:grpSp>
      <p:graphicFrame>
        <p:nvGraphicFramePr>
          <p:cNvPr id="890907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9028556"/>
              </p:ext>
            </p:extLst>
          </p:nvPr>
        </p:nvGraphicFramePr>
        <p:xfrm>
          <a:off x="4953000" y="2111375"/>
          <a:ext cx="3343275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3" name="Document" r:id="rId3" imgW="4651200" imgH="1576440" progId="Word.Document.8">
                  <p:embed/>
                </p:oleObj>
              </mc:Choice>
              <mc:Fallback>
                <p:oleObj name="Document" r:id="rId3" imgW="4651200" imgH="15764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111375"/>
                        <a:ext cx="3343275" cy="1133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0908" name="Text Box 28"/>
          <p:cNvSpPr txBox="1">
            <a:spLocks noChangeArrowheads="1"/>
          </p:cNvSpPr>
          <p:nvPr/>
        </p:nvSpPr>
        <p:spPr bwMode="auto">
          <a:xfrm>
            <a:off x="4800600" y="1654175"/>
            <a:ext cx="160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2000">
                <a:solidFill>
                  <a:schemeClr val="tx2"/>
                </a:solidFill>
                <a:latin typeface="Arial" charset="0"/>
              </a:rPr>
              <a:t>Test Data</a:t>
            </a:r>
            <a:endParaRPr lang="en-US" sz="20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0909" name="Text Box 29"/>
          <p:cNvSpPr txBox="1">
            <a:spLocks noChangeArrowheads="1"/>
          </p:cNvSpPr>
          <p:nvPr/>
        </p:nvSpPr>
        <p:spPr bwMode="auto">
          <a:xfrm>
            <a:off x="990600" y="1958975"/>
            <a:ext cx="3429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2000" b="0">
                <a:latin typeface="Arial" charset="0"/>
              </a:rPr>
              <a:t>Start from the root of tree.</a:t>
            </a:r>
          </a:p>
        </p:txBody>
      </p:sp>
      <p:sp>
        <p:nvSpPr>
          <p:cNvPr id="890910" name="Line 30"/>
          <p:cNvSpPr>
            <a:spLocks noChangeShapeType="1"/>
          </p:cNvSpPr>
          <p:nvPr/>
        </p:nvSpPr>
        <p:spPr bwMode="auto">
          <a:xfrm>
            <a:off x="2133600" y="2339975"/>
            <a:ext cx="0" cy="4572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1098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Apply Model to Test Data</a:t>
            </a:r>
          </a:p>
        </p:txBody>
      </p:sp>
      <p:grpSp>
        <p:nvGrpSpPr>
          <p:cNvPr id="891907" name="Group 3"/>
          <p:cNvGrpSpPr>
            <a:grpSpLocks/>
          </p:cNvGrpSpPr>
          <p:nvPr/>
        </p:nvGrpSpPr>
        <p:grpSpPr bwMode="auto">
          <a:xfrm>
            <a:off x="685800" y="2873375"/>
            <a:ext cx="4267200" cy="3298825"/>
            <a:chOff x="384" y="1584"/>
            <a:chExt cx="2451" cy="1694"/>
          </a:xfrm>
        </p:grpSpPr>
        <p:sp>
          <p:nvSpPr>
            <p:cNvPr id="891908" name="Line 4"/>
            <p:cNvSpPr>
              <a:spLocks noChangeShapeType="1"/>
            </p:cNvSpPr>
            <p:nvPr/>
          </p:nvSpPr>
          <p:spPr bwMode="auto">
            <a:xfrm>
              <a:off x="1655" y="2708"/>
              <a:ext cx="153" cy="3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909" name="Line 5"/>
            <p:cNvSpPr>
              <a:spLocks noChangeShapeType="1"/>
            </p:cNvSpPr>
            <p:nvPr/>
          </p:nvSpPr>
          <p:spPr bwMode="auto">
            <a:xfrm flipH="1">
              <a:off x="943" y="2708"/>
              <a:ext cx="204" cy="3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910" name="Line 6"/>
            <p:cNvSpPr>
              <a:spLocks noChangeShapeType="1"/>
            </p:cNvSpPr>
            <p:nvPr/>
          </p:nvSpPr>
          <p:spPr bwMode="auto">
            <a:xfrm flipH="1">
              <a:off x="1350" y="2208"/>
              <a:ext cx="254" cy="3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911" name="Line 7"/>
            <p:cNvSpPr>
              <a:spLocks noChangeShapeType="1"/>
            </p:cNvSpPr>
            <p:nvPr/>
          </p:nvSpPr>
          <p:spPr bwMode="auto">
            <a:xfrm>
              <a:off x="2113" y="2208"/>
              <a:ext cx="305" cy="3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912" name="Line 8"/>
            <p:cNvSpPr>
              <a:spLocks noChangeShapeType="1"/>
            </p:cNvSpPr>
            <p:nvPr/>
          </p:nvSpPr>
          <p:spPr bwMode="auto">
            <a:xfrm>
              <a:off x="1452" y="1750"/>
              <a:ext cx="356" cy="29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913" name="Line 9"/>
            <p:cNvSpPr>
              <a:spLocks noChangeShapeType="1"/>
            </p:cNvSpPr>
            <p:nvPr/>
          </p:nvSpPr>
          <p:spPr bwMode="auto">
            <a:xfrm flipH="1">
              <a:off x="587" y="1750"/>
              <a:ext cx="356" cy="29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914" name="Text Box 10"/>
            <p:cNvSpPr txBox="1">
              <a:spLocks noChangeArrowheads="1"/>
            </p:cNvSpPr>
            <p:nvPr/>
          </p:nvSpPr>
          <p:spPr bwMode="auto">
            <a:xfrm>
              <a:off x="913" y="1584"/>
              <a:ext cx="590" cy="179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>
                  <a:solidFill>
                    <a:srgbClr val="2D1993"/>
                  </a:solidFill>
                  <a:latin typeface="Arial" charset="0"/>
                </a:rPr>
                <a:t>Refund</a:t>
              </a:r>
              <a:endParaRPr lang="en-US" sz="1600" b="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891915" name="Text Box 11"/>
            <p:cNvSpPr txBox="1">
              <a:spLocks noChangeArrowheads="1"/>
            </p:cNvSpPr>
            <p:nvPr/>
          </p:nvSpPr>
          <p:spPr bwMode="auto">
            <a:xfrm>
              <a:off x="1553" y="2042"/>
              <a:ext cx="589" cy="179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>
                  <a:solidFill>
                    <a:srgbClr val="2D1993"/>
                  </a:solidFill>
                  <a:latin typeface="Arial" charset="0"/>
                </a:rPr>
                <a:t>MarSt</a:t>
              </a:r>
              <a:endParaRPr lang="en-US" sz="1600" b="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891916" name="Text Box 12"/>
            <p:cNvSpPr txBox="1">
              <a:spLocks noChangeArrowheads="1"/>
            </p:cNvSpPr>
            <p:nvPr/>
          </p:nvSpPr>
          <p:spPr bwMode="auto">
            <a:xfrm>
              <a:off x="1096" y="2541"/>
              <a:ext cx="610" cy="179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>
                  <a:solidFill>
                    <a:srgbClr val="2D1993"/>
                  </a:solidFill>
                  <a:latin typeface="Arial" charset="0"/>
                </a:rPr>
                <a:t>TaxInc</a:t>
              </a:r>
              <a:endParaRPr lang="en-US" sz="1600" b="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891917" name="AutoShape 13"/>
            <p:cNvSpPr>
              <a:spLocks noChangeArrowheads="1"/>
            </p:cNvSpPr>
            <p:nvPr/>
          </p:nvSpPr>
          <p:spPr bwMode="auto">
            <a:xfrm>
              <a:off x="1680" y="3038"/>
              <a:ext cx="395" cy="231"/>
            </a:xfrm>
            <a:prstGeom prst="roundRect">
              <a:avLst>
                <a:gd name="adj" fmla="val 16769"/>
              </a:avLst>
            </a:prstGeom>
            <a:solidFill>
              <a:srgbClr val="33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918" name="Text Box 14"/>
            <p:cNvSpPr txBox="1">
              <a:spLocks noChangeArrowheads="1"/>
            </p:cNvSpPr>
            <p:nvPr/>
          </p:nvSpPr>
          <p:spPr bwMode="auto">
            <a:xfrm>
              <a:off x="1632" y="3038"/>
              <a:ext cx="432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>
                  <a:solidFill>
                    <a:srgbClr val="800000"/>
                  </a:solidFill>
                  <a:latin typeface="Arial" charset="0"/>
                </a:rPr>
                <a:t>YES</a:t>
              </a:r>
              <a:endParaRPr lang="en-US" sz="1600" b="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891919" name="AutoShape 15"/>
            <p:cNvSpPr>
              <a:spLocks noChangeArrowheads="1"/>
            </p:cNvSpPr>
            <p:nvPr/>
          </p:nvSpPr>
          <p:spPr bwMode="auto">
            <a:xfrm>
              <a:off x="740" y="3049"/>
              <a:ext cx="412" cy="229"/>
            </a:xfrm>
            <a:prstGeom prst="roundRect">
              <a:avLst>
                <a:gd name="adj" fmla="val 16667"/>
              </a:avLst>
            </a:prstGeom>
            <a:solidFill>
              <a:srgbClr val="33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920" name="Text Box 16"/>
            <p:cNvSpPr txBox="1">
              <a:spLocks noChangeArrowheads="1"/>
            </p:cNvSpPr>
            <p:nvPr/>
          </p:nvSpPr>
          <p:spPr bwMode="auto">
            <a:xfrm>
              <a:off x="814" y="3040"/>
              <a:ext cx="281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>
                  <a:solidFill>
                    <a:srgbClr val="800000"/>
                  </a:solidFill>
                  <a:latin typeface="Arial" charset="0"/>
                </a:rPr>
                <a:t>NO</a:t>
              </a:r>
              <a:endParaRPr lang="en-US" sz="1600" b="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891921" name="AutoShape 17"/>
            <p:cNvSpPr>
              <a:spLocks noChangeArrowheads="1"/>
            </p:cNvSpPr>
            <p:nvPr/>
          </p:nvSpPr>
          <p:spPr bwMode="auto">
            <a:xfrm>
              <a:off x="384" y="2051"/>
              <a:ext cx="432" cy="219"/>
            </a:xfrm>
            <a:prstGeom prst="roundRect">
              <a:avLst>
                <a:gd name="adj" fmla="val 16667"/>
              </a:avLst>
            </a:prstGeom>
            <a:solidFill>
              <a:srgbClr val="33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922" name="Text Box 18"/>
            <p:cNvSpPr txBox="1">
              <a:spLocks noChangeArrowheads="1"/>
            </p:cNvSpPr>
            <p:nvPr/>
          </p:nvSpPr>
          <p:spPr bwMode="auto">
            <a:xfrm>
              <a:off x="458" y="2042"/>
              <a:ext cx="281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>
                  <a:solidFill>
                    <a:srgbClr val="800000"/>
                  </a:solidFill>
                  <a:latin typeface="Arial" charset="0"/>
                </a:rPr>
                <a:t>NO</a:t>
              </a:r>
              <a:endParaRPr lang="en-US" sz="1600" b="0">
                <a:solidFill>
                  <a:srgbClr val="00FFFF"/>
                </a:solidFill>
                <a:latin typeface="Arial" charset="0"/>
              </a:endParaRPr>
            </a:p>
          </p:txBody>
        </p:sp>
        <p:sp>
          <p:nvSpPr>
            <p:cNvPr id="891923" name="AutoShape 19"/>
            <p:cNvSpPr>
              <a:spLocks noChangeArrowheads="1"/>
            </p:cNvSpPr>
            <p:nvPr/>
          </p:nvSpPr>
          <p:spPr bwMode="auto">
            <a:xfrm>
              <a:off x="2208" y="2558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rgbClr val="33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924" name="Text Box 20"/>
            <p:cNvSpPr txBox="1">
              <a:spLocks noChangeArrowheads="1"/>
            </p:cNvSpPr>
            <p:nvPr/>
          </p:nvSpPr>
          <p:spPr bwMode="auto">
            <a:xfrm>
              <a:off x="2270" y="2558"/>
              <a:ext cx="281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>
                  <a:solidFill>
                    <a:srgbClr val="800000"/>
                  </a:solidFill>
                  <a:latin typeface="Arial" charset="0"/>
                </a:rPr>
                <a:t>NO</a:t>
              </a:r>
              <a:endParaRPr lang="en-US" sz="1600" b="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891925" name="Text Box 21"/>
            <p:cNvSpPr txBox="1">
              <a:spLocks noChangeArrowheads="1"/>
            </p:cNvSpPr>
            <p:nvPr/>
          </p:nvSpPr>
          <p:spPr bwMode="auto">
            <a:xfrm>
              <a:off x="484" y="1750"/>
              <a:ext cx="307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 b="0">
                  <a:latin typeface="Arial" charset="0"/>
                </a:rPr>
                <a:t>Yes</a:t>
              </a:r>
              <a:endParaRPr lang="en-US" sz="1600" b="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891926" name="Text Box 22"/>
            <p:cNvSpPr txBox="1">
              <a:spLocks noChangeArrowheads="1"/>
            </p:cNvSpPr>
            <p:nvPr/>
          </p:nvSpPr>
          <p:spPr bwMode="auto">
            <a:xfrm>
              <a:off x="1654" y="1750"/>
              <a:ext cx="255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 b="0">
                  <a:latin typeface="Arial" charset="0"/>
                </a:rPr>
                <a:t>No</a:t>
              </a:r>
              <a:endParaRPr lang="en-US" sz="1600" b="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891927" name="Text Box 23"/>
            <p:cNvSpPr txBox="1">
              <a:spLocks noChangeArrowheads="1"/>
            </p:cNvSpPr>
            <p:nvPr/>
          </p:nvSpPr>
          <p:spPr bwMode="auto">
            <a:xfrm>
              <a:off x="2301" y="2232"/>
              <a:ext cx="53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 b="0">
                  <a:latin typeface="Arial" charset="0"/>
                </a:rPr>
                <a:t>Married</a:t>
              </a:r>
              <a:r>
                <a:rPr lang="en-US" sz="1600" b="0">
                  <a:solidFill>
                    <a:schemeClr val="bg2"/>
                  </a:solidFill>
                  <a:latin typeface="Arial" charset="0"/>
                </a:rPr>
                <a:t> </a:t>
              </a:r>
            </a:p>
          </p:txBody>
        </p:sp>
        <p:sp>
          <p:nvSpPr>
            <p:cNvPr id="891928" name="Text Box 24"/>
            <p:cNvSpPr txBox="1">
              <a:spLocks noChangeArrowheads="1"/>
            </p:cNvSpPr>
            <p:nvPr/>
          </p:nvSpPr>
          <p:spPr bwMode="auto">
            <a:xfrm>
              <a:off x="945" y="2250"/>
              <a:ext cx="95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 b="0">
                  <a:latin typeface="Arial" charset="0"/>
                </a:rPr>
                <a:t>Single, Divorced</a:t>
              </a:r>
              <a:endParaRPr lang="en-US" sz="1600" b="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891929" name="Text Box 25"/>
            <p:cNvSpPr txBox="1">
              <a:spLocks noChangeArrowheads="1"/>
            </p:cNvSpPr>
            <p:nvPr/>
          </p:nvSpPr>
          <p:spPr bwMode="auto">
            <a:xfrm>
              <a:off x="654" y="2749"/>
              <a:ext cx="41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 b="0">
                  <a:latin typeface="Arial" charset="0"/>
                </a:rPr>
                <a:t>&lt; 80K</a:t>
              </a:r>
              <a:endParaRPr lang="en-US" sz="1600" b="0">
                <a:solidFill>
                  <a:schemeClr val="bg2"/>
                </a:solidFill>
                <a:latin typeface="Arial" charset="0"/>
              </a:endParaRPr>
            </a:p>
          </p:txBody>
        </p:sp>
        <p:sp>
          <p:nvSpPr>
            <p:cNvPr id="891930" name="Text Box 26"/>
            <p:cNvSpPr txBox="1">
              <a:spLocks noChangeArrowheads="1"/>
            </p:cNvSpPr>
            <p:nvPr/>
          </p:nvSpPr>
          <p:spPr bwMode="auto">
            <a:xfrm>
              <a:off x="1772" y="2749"/>
              <a:ext cx="41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sz="1600" b="0">
                  <a:latin typeface="Arial" charset="0"/>
                </a:rPr>
                <a:t>&gt; 80K</a:t>
              </a:r>
              <a:endParaRPr lang="en-US" sz="1600" b="0">
                <a:solidFill>
                  <a:schemeClr val="bg2"/>
                </a:solidFill>
                <a:latin typeface="Arial" charset="0"/>
              </a:endParaRPr>
            </a:p>
          </p:txBody>
        </p:sp>
      </p:grpSp>
      <p:graphicFrame>
        <p:nvGraphicFramePr>
          <p:cNvPr id="891931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9915661"/>
              </p:ext>
            </p:extLst>
          </p:nvPr>
        </p:nvGraphicFramePr>
        <p:xfrm>
          <a:off x="4953000" y="2111375"/>
          <a:ext cx="3343275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6" name="Document" r:id="rId3" imgW="4651200" imgH="1576440" progId="Word.Document.8">
                  <p:embed/>
                </p:oleObj>
              </mc:Choice>
              <mc:Fallback>
                <p:oleObj name="Document" r:id="rId3" imgW="4651200" imgH="15764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111375"/>
                        <a:ext cx="3343275" cy="1133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1932" name="Text Box 28"/>
          <p:cNvSpPr txBox="1">
            <a:spLocks noChangeArrowheads="1"/>
          </p:cNvSpPr>
          <p:nvPr/>
        </p:nvSpPr>
        <p:spPr bwMode="auto">
          <a:xfrm>
            <a:off x="4800600" y="1654175"/>
            <a:ext cx="160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2000">
                <a:solidFill>
                  <a:schemeClr val="tx2"/>
                </a:solidFill>
                <a:latin typeface="Arial" charset="0"/>
              </a:rPr>
              <a:t>Test Data</a:t>
            </a:r>
            <a:endParaRPr lang="en-US" sz="20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1933" name="Line 29"/>
          <p:cNvSpPr>
            <a:spLocks noChangeShapeType="1"/>
          </p:cNvSpPr>
          <p:nvPr/>
        </p:nvSpPr>
        <p:spPr bwMode="auto">
          <a:xfrm flipH="1">
            <a:off x="2667000" y="2339975"/>
            <a:ext cx="2362200" cy="6858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4333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Apply Model to Test Data</a:t>
            </a:r>
          </a:p>
        </p:txBody>
      </p:sp>
      <p:sp>
        <p:nvSpPr>
          <p:cNvPr id="892931" name="Line 3"/>
          <p:cNvSpPr>
            <a:spLocks noChangeShapeType="1"/>
          </p:cNvSpPr>
          <p:nvPr/>
        </p:nvSpPr>
        <p:spPr bwMode="auto">
          <a:xfrm>
            <a:off x="2898775" y="5138738"/>
            <a:ext cx="2667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2932" name="Line 4"/>
          <p:cNvSpPr>
            <a:spLocks noChangeShapeType="1"/>
          </p:cNvSpPr>
          <p:nvPr/>
        </p:nvSpPr>
        <p:spPr bwMode="auto">
          <a:xfrm flipH="1">
            <a:off x="1658938" y="5138738"/>
            <a:ext cx="3556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2933" name="Line 5"/>
          <p:cNvSpPr>
            <a:spLocks noChangeShapeType="1"/>
          </p:cNvSpPr>
          <p:nvPr/>
        </p:nvSpPr>
        <p:spPr bwMode="auto">
          <a:xfrm flipH="1">
            <a:off x="2366963" y="4164013"/>
            <a:ext cx="442912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2934" name="Line 6"/>
          <p:cNvSpPr>
            <a:spLocks noChangeShapeType="1"/>
          </p:cNvSpPr>
          <p:nvPr/>
        </p:nvSpPr>
        <p:spPr bwMode="auto">
          <a:xfrm>
            <a:off x="3695700" y="4164013"/>
            <a:ext cx="531813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2935" name="Line 7"/>
          <p:cNvSpPr>
            <a:spLocks noChangeShapeType="1"/>
          </p:cNvSpPr>
          <p:nvPr/>
        </p:nvSpPr>
        <p:spPr bwMode="auto">
          <a:xfrm>
            <a:off x="2544763" y="3273425"/>
            <a:ext cx="620712" cy="5683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2936" name="Line 8"/>
          <p:cNvSpPr>
            <a:spLocks noChangeShapeType="1"/>
          </p:cNvSpPr>
          <p:nvPr/>
        </p:nvSpPr>
        <p:spPr bwMode="auto">
          <a:xfrm flipH="1">
            <a:off x="1039813" y="3273425"/>
            <a:ext cx="619125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2937" name="Text Box 9"/>
          <p:cNvSpPr txBox="1">
            <a:spLocks noChangeArrowheads="1"/>
          </p:cNvSpPr>
          <p:nvPr/>
        </p:nvSpPr>
        <p:spPr bwMode="auto">
          <a:xfrm>
            <a:off x="1606550" y="2949575"/>
            <a:ext cx="1027113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2D1993"/>
                </a:solidFill>
                <a:latin typeface="Arial" charset="0"/>
              </a:rPr>
              <a:t>Refund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2938" name="Text Box 10"/>
          <p:cNvSpPr txBox="1">
            <a:spLocks noChangeArrowheads="1"/>
          </p:cNvSpPr>
          <p:nvPr/>
        </p:nvSpPr>
        <p:spPr bwMode="auto">
          <a:xfrm>
            <a:off x="2720975" y="3841750"/>
            <a:ext cx="1025525" cy="3476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2D1993"/>
                </a:solidFill>
                <a:latin typeface="Arial" charset="0"/>
              </a:rPr>
              <a:t>MarSt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2939" name="Text Box 11"/>
          <p:cNvSpPr txBox="1">
            <a:spLocks noChangeArrowheads="1"/>
          </p:cNvSpPr>
          <p:nvPr/>
        </p:nvSpPr>
        <p:spPr bwMode="auto">
          <a:xfrm>
            <a:off x="1925638" y="4813300"/>
            <a:ext cx="1062037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2D1993"/>
                </a:solidFill>
                <a:latin typeface="Arial" charset="0"/>
              </a:rPr>
              <a:t>TaxInc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2940" name="AutoShape 12"/>
          <p:cNvSpPr>
            <a:spLocks noChangeArrowheads="1"/>
          </p:cNvSpPr>
          <p:nvPr/>
        </p:nvSpPr>
        <p:spPr bwMode="auto">
          <a:xfrm>
            <a:off x="2941638" y="5781675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2941" name="Text Box 13"/>
          <p:cNvSpPr txBox="1">
            <a:spLocks noChangeArrowheads="1"/>
          </p:cNvSpPr>
          <p:nvPr/>
        </p:nvSpPr>
        <p:spPr bwMode="auto">
          <a:xfrm>
            <a:off x="2859088" y="5781675"/>
            <a:ext cx="7508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YES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2942" name="AutoShape 14"/>
          <p:cNvSpPr>
            <a:spLocks noChangeArrowheads="1"/>
          </p:cNvSpPr>
          <p:nvPr/>
        </p:nvSpPr>
        <p:spPr bwMode="auto">
          <a:xfrm>
            <a:off x="1304925" y="5802313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2943" name="Text Box 15"/>
          <p:cNvSpPr txBox="1">
            <a:spLocks noChangeArrowheads="1"/>
          </p:cNvSpPr>
          <p:nvPr/>
        </p:nvSpPr>
        <p:spPr bwMode="auto">
          <a:xfrm>
            <a:off x="1435100" y="5784850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2944" name="AutoShape 16"/>
          <p:cNvSpPr>
            <a:spLocks noChangeArrowheads="1"/>
          </p:cNvSpPr>
          <p:nvPr/>
        </p:nvSpPr>
        <p:spPr bwMode="auto">
          <a:xfrm>
            <a:off x="685800" y="3859213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2945" name="Text Box 17"/>
          <p:cNvSpPr txBox="1">
            <a:spLocks noChangeArrowheads="1"/>
          </p:cNvSpPr>
          <p:nvPr/>
        </p:nvSpPr>
        <p:spPr bwMode="auto">
          <a:xfrm>
            <a:off x="814388" y="3841750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 b="0">
              <a:solidFill>
                <a:srgbClr val="00FFFF"/>
              </a:solidFill>
              <a:latin typeface="Arial" charset="0"/>
            </a:endParaRPr>
          </a:p>
        </p:txBody>
      </p:sp>
      <p:sp>
        <p:nvSpPr>
          <p:cNvPr id="892946" name="AutoShape 18"/>
          <p:cNvSpPr>
            <a:spLocks noChangeArrowheads="1"/>
          </p:cNvSpPr>
          <p:nvPr/>
        </p:nvSpPr>
        <p:spPr bwMode="auto">
          <a:xfrm>
            <a:off x="3860800" y="4846638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2947" name="Text Box 19"/>
          <p:cNvSpPr txBox="1">
            <a:spLocks noChangeArrowheads="1"/>
          </p:cNvSpPr>
          <p:nvPr/>
        </p:nvSpPr>
        <p:spPr bwMode="auto">
          <a:xfrm>
            <a:off x="3968750" y="4846638"/>
            <a:ext cx="4905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2948" name="Text Box 20"/>
          <p:cNvSpPr txBox="1">
            <a:spLocks noChangeArrowheads="1"/>
          </p:cNvSpPr>
          <p:nvPr/>
        </p:nvSpPr>
        <p:spPr bwMode="auto">
          <a:xfrm>
            <a:off x="860425" y="3273425"/>
            <a:ext cx="533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Yes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2949" name="Text Box 21"/>
          <p:cNvSpPr txBox="1">
            <a:spLocks noChangeArrowheads="1"/>
          </p:cNvSpPr>
          <p:nvPr/>
        </p:nvSpPr>
        <p:spPr bwMode="auto">
          <a:xfrm>
            <a:off x="2897188" y="3273425"/>
            <a:ext cx="4429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solidFill>
                  <a:srgbClr val="FF0000"/>
                </a:solidFill>
                <a:latin typeface="Arial" charset="0"/>
              </a:rPr>
              <a:t>No</a:t>
            </a:r>
          </a:p>
        </p:txBody>
      </p:sp>
      <p:sp>
        <p:nvSpPr>
          <p:cNvPr id="892950" name="Text Box 22"/>
          <p:cNvSpPr txBox="1">
            <a:spLocks noChangeArrowheads="1"/>
          </p:cNvSpPr>
          <p:nvPr/>
        </p:nvSpPr>
        <p:spPr bwMode="auto">
          <a:xfrm>
            <a:off x="4022725" y="4211638"/>
            <a:ext cx="9302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Married</a:t>
            </a:r>
            <a:r>
              <a:rPr lang="en-US" sz="1600" b="0">
                <a:solidFill>
                  <a:schemeClr val="bg2"/>
                </a:solidFill>
                <a:latin typeface="Arial" charset="0"/>
              </a:rPr>
              <a:t> </a:t>
            </a:r>
          </a:p>
        </p:txBody>
      </p:sp>
      <p:sp>
        <p:nvSpPr>
          <p:cNvPr id="892951" name="Text Box 23"/>
          <p:cNvSpPr txBox="1">
            <a:spLocks noChangeArrowheads="1"/>
          </p:cNvSpPr>
          <p:nvPr/>
        </p:nvSpPr>
        <p:spPr bwMode="auto">
          <a:xfrm>
            <a:off x="1662113" y="4246563"/>
            <a:ext cx="1660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Single, Divorced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2952" name="Text Box 24"/>
          <p:cNvSpPr txBox="1">
            <a:spLocks noChangeArrowheads="1"/>
          </p:cNvSpPr>
          <p:nvPr/>
        </p:nvSpPr>
        <p:spPr bwMode="auto">
          <a:xfrm>
            <a:off x="1155700" y="5218113"/>
            <a:ext cx="720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 dirty="0">
                <a:latin typeface="Arial" charset="0"/>
              </a:rPr>
              <a:t>&lt; </a:t>
            </a:r>
            <a:r>
              <a:rPr lang="en-US" sz="1600" b="0" dirty="0" err="1">
                <a:latin typeface="Arial" charset="0"/>
              </a:rPr>
              <a:t>80K</a:t>
            </a:r>
            <a:endParaRPr lang="en-US" sz="1600" b="0" dirty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2953" name="Text Box 25"/>
          <p:cNvSpPr txBox="1">
            <a:spLocks noChangeArrowheads="1"/>
          </p:cNvSpPr>
          <p:nvPr/>
        </p:nvSpPr>
        <p:spPr bwMode="auto">
          <a:xfrm>
            <a:off x="3101975" y="5218113"/>
            <a:ext cx="720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&gt; 80K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graphicFrame>
        <p:nvGraphicFramePr>
          <p:cNvPr id="892954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2486551"/>
              </p:ext>
            </p:extLst>
          </p:nvPr>
        </p:nvGraphicFramePr>
        <p:xfrm>
          <a:off x="4953000" y="2187575"/>
          <a:ext cx="3343275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0" name="Document" r:id="rId3" imgW="4651200" imgH="1576440" progId="Word.Document.8">
                  <p:embed/>
                </p:oleObj>
              </mc:Choice>
              <mc:Fallback>
                <p:oleObj name="Document" r:id="rId3" imgW="4651200" imgH="15764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187575"/>
                        <a:ext cx="3343275" cy="1133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2955" name="Text Box 27"/>
          <p:cNvSpPr txBox="1">
            <a:spLocks noChangeArrowheads="1"/>
          </p:cNvSpPr>
          <p:nvPr/>
        </p:nvSpPr>
        <p:spPr bwMode="auto">
          <a:xfrm>
            <a:off x="4800600" y="1730375"/>
            <a:ext cx="160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2000">
                <a:solidFill>
                  <a:schemeClr val="tx2"/>
                </a:solidFill>
                <a:latin typeface="Arial" charset="0"/>
              </a:rPr>
              <a:t>Test Data</a:t>
            </a:r>
            <a:endParaRPr lang="en-US" sz="20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2956" name="Line 28"/>
          <p:cNvSpPr>
            <a:spLocks noChangeShapeType="1"/>
          </p:cNvSpPr>
          <p:nvPr/>
        </p:nvSpPr>
        <p:spPr bwMode="auto">
          <a:xfrm flipH="1">
            <a:off x="3352800" y="2949575"/>
            <a:ext cx="1600200" cy="4572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5315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Apply Model to Test Data</a:t>
            </a:r>
          </a:p>
        </p:txBody>
      </p:sp>
      <p:sp>
        <p:nvSpPr>
          <p:cNvPr id="893955" name="Line 3"/>
          <p:cNvSpPr>
            <a:spLocks noChangeShapeType="1"/>
          </p:cNvSpPr>
          <p:nvPr/>
        </p:nvSpPr>
        <p:spPr bwMode="auto">
          <a:xfrm>
            <a:off x="2898775" y="5062538"/>
            <a:ext cx="2667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3956" name="Line 4"/>
          <p:cNvSpPr>
            <a:spLocks noChangeShapeType="1"/>
          </p:cNvSpPr>
          <p:nvPr/>
        </p:nvSpPr>
        <p:spPr bwMode="auto">
          <a:xfrm flipH="1">
            <a:off x="1658938" y="5062538"/>
            <a:ext cx="3556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3957" name="Line 5"/>
          <p:cNvSpPr>
            <a:spLocks noChangeShapeType="1"/>
          </p:cNvSpPr>
          <p:nvPr/>
        </p:nvSpPr>
        <p:spPr bwMode="auto">
          <a:xfrm flipH="1">
            <a:off x="2366963" y="4087813"/>
            <a:ext cx="442912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3958" name="Line 6"/>
          <p:cNvSpPr>
            <a:spLocks noChangeShapeType="1"/>
          </p:cNvSpPr>
          <p:nvPr/>
        </p:nvSpPr>
        <p:spPr bwMode="auto">
          <a:xfrm>
            <a:off x="3695700" y="4087813"/>
            <a:ext cx="531813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3959" name="Line 7"/>
          <p:cNvSpPr>
            <a:spLocks noChangeShapeType="1"/>
          </p:cNvSpPr>
          <p:nvPr/>
        </p:nvSpPr>
        <p:spPr bwMode="auto">
          <a:xfrm>
            <a:off x="2544763" y="3197225"/>
            <a:ext cx="620712" cy="5683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3960" name="Line 8"/>
          <p:cNvSpPr>
            <a:spLocks noChangeShapeType="1"/>
          </p:cNvSpPr>
          <p:nvPr/>
        </p:nvSpPr>
        <p:spPr bwMode="auto">
          <a:xfrm flipH="1">
            <a:off x="1039813" y="3197225"/>
            <a:ext cx="619125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3961" name="Text Box 9"/>
          <p:cNvSpPr txBox="1">
            <a:spLocks noChangeArrowheads="1"/>
          </p:cNvSpPr>
          <p:nvPr/>
        </p:nvSpPr>
        <p:spPr bwMode="auto">
          <a:xfrm>
            <a:off x="1606550" y="2873375"/>
            <a:ext cx="1027113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2D1993"/>
                </a:solidFill>
                <a:latin typeface="Arial" charset="0"/>
              </a:rPr>
              <a:t>Refund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3962" name="Text Box 10"/>
          <p:cNvSpPr txBox="1">
            <a:spLocks noChangeArrowheads="1"/>
          </p:cNvSpPr>
          <p:nvPr/>
        </p:nvSpPr>
        <p:spPr bwMode="auto">
          <a:xfrm>
            <a:off x="2720975" y="3765550"/>
            <a:ext cx="1025525" cy="3476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2D1993"/>
                </a:solidFill>
                <a:latin typeface="Arial" charset="0"/>
              </a:rPr>
              <a:t>MarSt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3963" name="Text Box 11"/>
          <p:cNvSpPr txBox="1">
            <a:spLocks noChangeArrowheads="1"/>
          </p:cNvSpPr>
          <p:nvPr/>
        </p:nvSpPr>
        <p:spPr bwMode="auto">
          <a:xfrm>
            <a:off x="1925638" y="4737100"/>
            <a:ext cx="1062037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2D1993"/>
                </a:solidFill>
                <a:latin typeface="Arial" charset="0"/>
              </a:rPr>
              <a:t>TaxInc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3964" name="AutoShape 12"/>
          <p:cNvSpPr>
            <a:spLocks noChangeArrowheads="1"/>
          </p:cNvSpPr>
          <p:nvPr/>
        </p:nvSpPr>
        <p:spPr bwMode="auto">
          <a:xfrm>
            <a:off x="2941638" y="5705475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3965" name="Text Box 13"/>
          <p:cNvSpPr txBox="1">
            <a:spLocks noChangeArrowheads="1"/>
          </p:cNvSpPr>
          <p:nvPr/>
        </p:nvSpPr>
        <p:spPr bwMode="auto">
          <a:xfrm>
            <a:off x="2859088" y="5705475"/>
            <a:ext cx="7508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YES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3966" name="AutoShape 14"/>
          <p:cNvSpPr>
            <a:spLocks noChangeArrowheads="1"/>
          </p:cNvSpPr>
          <p:nvPr/>
        </p:nvSpPr>
        <p:spPr bwMode="auto">
          <a:xfrm>
            <a:off x="1304925" y="5726113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3967" name="Text Box 15"/>
          <p:cNvSpPr txBox="1">
            <a:spLocks noChangeArrowheads="1"/>
          </p:cNvSpPr>
          <p:nvPr/>
        </p:nvSpPr>
        <p:spPr bwMode="auto">
          <a:xfrm>
            <a:off x="1435100" y="5708650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3968" name="AutoShape 16"/>
          <p:cNvSpPr>
            <a:spLocks noChangeArrowheads="1"/>
          </p:cNvSpPr>
          <p:nvPr/>
        </p:nvSpPr>
        <p:spPr bwMode="auto">
          <a:xfrm>
            <a:off x="685800" y="3783013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3969" name="Text Box 17"/>
          <p:cNvSpPr txBox="1">
            <a:spLocks noChangeArrowheads="1"/>
          </p:cNvSpPr>
          <p:nvPr/>
        </p:nvSpPr>
        <p:spPr bwMode="auto">
          <a:xfrm>
            <a:off x="814388" y="3765550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 b="0">
              <a:solidFill>
                <a:srgbClr val="00FFFF"/>
              </a:solidFill>
              <a:latin typeface="Arial" charset="0"/>
            </a:endParaRPr>
          </a:p>
        </p:txBody>
      </p:sp>
      <p:sp>
        <p:nvSpPr>
          <p:cNvPr id="893970" name="AutoShape 18"/>
          <p:cNvSpPr>
            <a:spLocks noChangeArrowheads="1"/>
          </p:cNvSpPr>
          <p:nvPr/>
        </p:nvSpPr>
        <p:spPr bwMode="auto">
          <a:xfrm>
            <a:off x="3860800" y="4770438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3971" name="Text Box 19"/>
          <p:cNvSpPr txBox="1">
            <a:spLocks noChangeArrowheads="1"/>
          </p:cNvSpPr>
          <p:nvPr/>
        </p:nvSpPr>
        <p:spPr bwMode="auto">
          <a:xfrm>
            <a:off x="3968750" y="4770438"/>
            <a:ext cx="4905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3972" name="Text Box 20"/>
          <p:cNvSpPr txBox="1">
            <a:spLocks noChangeArrowheads="1"/>
          </p:cNvSpPr>
          <p:nvPr/>
        </p:nvSpPr>
        <p:spPr bwMode="auto">
          <a:xfrm>
            <a:off x="860425" y="3197225"/>
            <a:ext cx="533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Yes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3973" name="Text Box 21"/>
          <p:cNvSpPr txBox="1">
            <a:spLocks noChangeArrowheads="1"/>
          </p:cNvSpPr>
          <p:nvPr/>
        </p:nvSpPr>
        <p:spPr bwMode="auto">
          <a:xfrm>
            <a:off x="2897188" y="3197225"/>
            <a:ext cx="4429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solidFill>
                  <a:srgbClr val="FF0000"/>
                </a:solidFill>
                <a:latin typeface="Arial" charset="0"/>
              </a:rPr>
              <a:t>No</a:t>
            </a:r>
          </a:p>
        </p:txBody>
      </p:sp>
      <p:sp>
        <p:nvSpPr>
          <p:cNvPr id="893974" name="Text Box 22"/>
          <p:cNvSpPr txBox="1">
            <a:spLocks noChangeArrowheads="1"/>
          </p:cNvSpPr>
          <p:nvPr/>
        </p:nvSpPr>
        <p:spPr bwMode="auto">
          <a:xfrm>
            <a:off x="4022725" y="4135438"/>
            <a:ext cx="9302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Married</a:t>
            </a:r>
            <a:r>
              <a:rPr lang="en-US" sz="1600" b="0">
                <a:solidFill>
                  <a:schemeClr val="bg2"/>
                </a:solidFill>
                <a:latin typeface="Arial" charset="0"/>
              </a:rPr>
              <a:t> </a:t>
            </a:r>
          </a:p>
        </p:txBody>
      </p:sp>
      <p:sp>
        <p:nvSpPr>
          <p:cNvPr id="893975" name="Text Box 23"/>
          <p:cNvSpPr txBox="1">
            <a:spLocks noChangeArrowheads="1"/>
          </p:cNvSpPr>
          <p:nvPr/>
        </p:nvSpPr>
        <p:spPr bwMode="auto">
          <a:xfrm>
            <a:off x="1662113" y="4170363"/>
            <a:ext cx="1660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Single, Divorced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3976" name="Text Box 24"/>
          <p:cNvSpPr txBox="1">
            <a:spLocks noChangeArrowheads="1"/>
          </p:cNvSpPr>
          <p:nvPr/>
        </p:nvSpPr>
        <p:spPr bwMode="auto">
          <a:xfrm>
            <a:off x="1155700" y="5141913"/>
            <a:ext cx="720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&lt; 80K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3977" name="Text Box 25"/>
          <p:cNvSpPr txBox="1">
            <a:spLocks noChangeArrowheads="1"/>
          </p:cNvSpPr>
          <p:nvPr/>
        </p:nvSpPr>
        <p:spPr bwMode="auto">
          <a:xfrm>
            <a:off x="3101975" y="5141913"/>
            <a:ext cx="720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&gt; 80K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graphicFrame>
        <p:nvGraphicFramePr>
          <p:cNvPr id="893978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6245054"/>
              </p:ext>
            </p:extLst>
          </p:nvPr>
        </p:nvGraphicFramePr>
        <p:xfrm>
          <a:off x="4953000" y="2111375"/>
          <a:ext cx="3343275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4" name="Document" r:id="rId3" imgW="4651200" imgH="1576440" progId="Word.Document.8">
                  <p:embed/>
                </p:oleObj>
              </mc:Choice>
              <mc:Fallback>
                <p:oleObj name="Document" r:id="rId3" imgW="4651200" imgH="15764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111375"/>
                        <a:ext cx="3343275" cy="1133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3979" name="Text Box 27"/>
          <p:cNvSpPr txBox="1">
            <a:spLocks noChangeArrowheads="1"/>
          </p:cNvSpPr>
          <p:nvPr/>
        </p:nvSpPr>
        <p:spPr bwMode="auto">
          <a:xfrm>
            <a:off x="4800600" y="1654175"/>
            <a:ext cx="160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2000">
                <a:solidFill>
                  <a:schemeClr val="tx2"/>
                </a:solidFill>
                <a:latin typeface="Arial" charset="0"/>
              </a:rPr>
              <a:t>Test Data</a:t>
            </a:r>
            <a:endParaRPr lang="en-US" sz="20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3980" name="Line 28"/>
          <p:cNvSpPr>
            <a:spLocks noChangeShapeType="1"/>
          </p:cNvSpPr>
          <p:nvPr/>
        </p:nvSpPr>
        <p:spPr bwMode="auto">
          <a:xfrm flipH="1">
            <a:off x="3810000" y="2568575"/>
            <a:ext cx="2057400" cy="12954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756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Apply Model to Test Data</a:t>
            </a:r>
          </a:p>
        </p:txBody>
      </p:sp>
      <p:sp>
        <p:nvSpPr>
          <p:cNvPr id="894979" name="Line 3"/>
          <p:cNvSpPr>
            <a:spLocks noChangeShapeType="1"/>
          </p:cNvSpPr>
          <p:nvPr/>
        </p:nvSpPr>
        <p:spPr bwMode="auto">
          <a:xfrm>
            <a:off x="2898775" y="4986338"/>
            <a:ext cx="2667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4980" name="Line 4"/>
          <p:cNvSpPr>
            <a:spLocks noChangeShapeType="1"/>
          </p:cNvSpPr>
          <p:nvPr/>
        </p:nvSpPr>
        <p:spPr bwMode="auto">
          <a:xfrm flipH="1">
            <a:off x="1658938" y="4986338"/>
            <a:ext cx="3556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4981" name="Line 5"/>
          <p:cNvSpPr>
            <a:spLocks noChangeShapeType="1"/>
          </p:cNvSpPr>
          <p:nvPr/>
        </p:nvSpPr>
        <p:spPr bwMode="auto">
          <a:xfrm flipH="1">
            <a:off x="2366963" y="4011613"/>
            <a:ext cx="442912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4982" name="Line 6"/>
          <p:cNvSpPr>
            <a:spLocks noChangeShapeType="1"/>
          </p:cNvSpPr>
          <p:nvPr/>
        </p:nvSpPr>
        <p:spPr bwMode="auto">
          <a:xfrm>
            <a:off x="3695700" y="4011613"/>
            <a:ext cx="531813" cy="6492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4983" name="Line 7"/>
          <p:cNvSpPr>
            <a:spLocks noChangeShapeType="1"/>
          </p:cNvSpPr>
          <p:nvPr/>
        </p:nvSpPr>
        <p:spPr bwMode="auto">
          <a:xfrm>
            <a:off x="2544763" y="3121025"/>
            <a:ext cx="620712" cy="5683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4984" name="Line 8"/>
          <p:cNvSpPr>
            <a:spLocks noChangeShapeType="1"/>
          </p:cNvSpPr>
          <p:nvPr/>
        </p:nvSpPr>
        <p:spPr bwMode="auto">
          <a:xfrm flipH="1">
            <a:off x="1039813" y="3121025"/>
            <a:ext cx="619125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4985" name="Text Box 9"/>
          <p:cNvSpPr txBox="1">
            <a:spLocks noChangeArrowheads="1"/>
          </p:cNvSpPr>
          <p:nvPr/>
        </p:nvSpPr>
        <p:spPr bwMode="auto">
          <a:xfrm>
            <a:off x="1606550" y="2797175"/>
            <a:ext cx="1027113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2D1993"/>
                </a:solidFill>
                <a:latin typeface="Arial" charset="0"/>
              </a:rPr>
              <a:t>Refund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4986" name="Text Box 10"/>
          <p:cNvSpPr txBox="1">
            <a:spLocks noChangeArrowheads="1"/>
          </p:cNvSpPr>
          <p:nvPr/>
        </p:nvSpPr>
        <p:spPr bwMode="auto">
          <a:xfrm>
            <a:off x="2720975" y="3689350"/>
            <a:ext cx="1025525" cy="3476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2D1993"/>
                </a:solidFill>
                <a:latin typeface="Arial" charset="0"/>
              </a:rPr>
              <a:t>MarSt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4987" name="Text Box 11"/>
          <p:cNvSpPr txBox="1">
            <a:spLocks noChangeArrowheads="1"/>
          </p:cNvSpPr>
          <p:nvPr/>
        </p:nvSpPr>
        <p:spPr bwMode="auto">
          <a:xfrm>
            <a:off x="1925638" y="4660900"/>
            <a:ext cx="1062037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2D1993"/>
                </a:solidFill>
                <a:latin typeface="Arial" charset="0"/>
              </a:rPr>
              <a:t>TaxInc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4988" name="AutoShape 12"/>
          <p:cNvSpPr>
            <a:spLocks noChangeArrowheads="1"/>
          </p:cNvSpPr>
          <p:nvPr/>
        </p:nvSpPr>
        <p:spPr bwMode="auto">
          <a:xfrm>
            <a:off x="2941638" y="5629275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4989" name="Text Box 13"/>
          <p:cNvSpPr txBox="1">
            <a:spLocks noChangeArrowheads="1"/>
          </p:cNvSpPr>
          <p:nvPr/>
        </p:nvSpPr>
        <p:spPr bwMode="auto">
          <a:xfrm>
            <a:off x="2859088" y="5629275"/>
            <a:ext cx="7508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YES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4990" name="AutoShape 14"/>
          <p:cNvSpPr>
            <a:spLocks noChangeArrowheads="1"/>
          </p:cNvSpPr>
          <p:nvPr/>
        </p:nvSpPr>
        <p:spPr bwMode="auto">
          <a:xfrm>
            <a:off x="1304925" y="5649913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4991" name="Text Box 15"/>
          <p:cNvSpPr txBox="1">
            <a:spLocks noChangeArrowheads="1"/>
          </p:cNvSpPr>
          <p:nvPr/>
        </p:nvSpPr>
        <p:spPr bwMode="auto">
          <a:xfrm>
            <a:off x="1435100" y="5632450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4992" name="AutoShape 16"/>
          <p:cNvSpPr>
            <a:spLocks noChangeArrowheads="1"/>
          </p:cNvSpPr>
          <p:nvPr/>
        </p:nvSpPr>
        <p:spPr bwMode="auto">
          <a:xfrm>
            <a:off x="685800" y="3706813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4993" name="Text Box 17"/>
          <p:cNvSpPr txBox="1">
            <a:spLocks noChangeArrowheads="1"/>
          </p:cNvSpPr>
          <p:nvPr/>
        </p:nvSpPr>
        <p:spPr bwMode="auto">
          <a:xfrm>
            <a:off x="814388" y="3689350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 b="0">
              <a:solidFill>
                <a:srgbClr val="00FFFF"/>
              </a:solidFill>
              <a:latin typeface="Arial" charset="0"/>
            </a:endParaRPr>
          </a:p>
        </p:txBody>
      </p:sp>
      <p:sp>
        <p:nvSpPr>
          <p:cNvPr id="894994" name="AutoShape 18"/>
          <p:cNvSpPr>
            <a:spLocks noChangeArrowheads="1"/>
          </p:cNvSpPr>
          <p:nvPr/>
        </p:nvSpPr>
        <p:spPr bwMode="auto">
          <a:xfrm>
            <a:off x="3860800" y="4694238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4995" name="Text Box 19"/>
          <p:cNvSpPr txBox="1">
            <a:spLocks noChangeArrowheads="1"/>
          </p:cNvSpPr>
          <p:nvPr/>
        </p:nvSpPr>
        <p:spPr bwMode="auto">
          <a:xfrm>
            <a:off x="3968750" y="4694238"/>
            <a:ext cx="4905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4996" name="Text Box 20"/>
          <p:cNvSpPr txBox="1">
            <a:spLocks noChangeArrowheads="1"/>
          </p:cNvSpPr>
          <p:nvPr/>
        </p:nvSpPr>
        <p:spPr bwMode="auto">
          <a:xfrm>
            <a:off x="860425" y="3121025"/>
            <a:ext cx="533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Yes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4997" name="Text Box 21"/>
          <p:cNvSpPr txBox="1">
            <a:spLocks noChangeArrowheads="1"/>
          </p:cNvSpPr>
          <p:nvPr/>
        </p:nvSpPr>
        <p:spPr bwMode="auto">
          <a:xfrm>
            <a:off x="2897188" y="3121025"/>
            <a:ext cx="4429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solidFill>
                  <a:srgbClr val="FF0000"/>
                </a:solidFill>
                <a:latin typeface="Arial" charset="0"/>
              </a:rPr>
              <a:t>No</a:t>
            </a:r>
          </a:p>
        </p:txBody>
      </p:sp>
      <p:sp>
        <p:nvSpPr>
          <p:cNvPr id="894998" name="Text Box 22"/>
          <p:cNvSpPr txBox="1">
            <a:spLocks noChangeArrowheads="1"/>
          </p:cNvSpPr>
          <p:nvPr/>
        </p:nvSpPr>
        <p:spPr bwMode="auto">
          <a:xfrm>
            <a:off x="4022725" y="4059238"/>
            <a:ext cx="9302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solidFill>
                  <a:srgbClr val="FF0000"/>
                </a:solidFill>
                <a:latin typeface="Arial" charset="0"/>
              </a:rPr>
              <a:t>Married </a:t>
            </a:r>
          </a:p>
        </p:txBody>
      </p:sp>
      <p:sp>
        <p:nvSpPr>
          <p:cNvPr id="894999" name="Text Box 23"/>
          <p:cNvSpPr txBox="1">
            <a:spLocks noChangeArrowheads="1"/>
          </p:cNvSpPr>
          <p:nvPr/>
        </p:nvSpPr>
        <p:spPr bwMode="auto">
          <a:xfrm>
            <a:off x="1662113" y="4094163"/>
            <a:ext cx="1660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Single, Divorced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5000" name="Text Box 24"/>
          <p:cNvSpPr txBox="1">
            <a:spLocks noChangeArrowheads="1"/>
          </p:cNvSpPr>
          <p:nvPr/>
        </p:nvSpPr>
        <p:spPr bwMode="auto">
          <a:xfrm>
            <a:off x="1155700" y="5065713"/>
            <a:ext cx="720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&lt; 80K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5001" name="Text Box 25"/>
          <p:cNvSpPr txBox="1">
            <a:spLocks noChangeArrowheads="1"/>
          </p:cNvSpPr>
          <p:nvPr/>
        </p:nvSpPr>
        <p:spPr bwMode="auto">
          <a:xfrm>
            <a:off x="3101975" y="5065713"/>
            <a:ext cx="720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&gt; 80K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graphicFrame>
        <p:nvGraphicFramePr>
          <p:cNvPr id="895002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7794434"/>
              </p:ext>
            </p:extLst>
          </p:nvPr>
        </p:nvGraphicFramePr>
        <p:xfrm>
          <a:off x="4953000" y="2035175"/>
          <a:ext cx="3343275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8" name="Document" r:id="rId3" imgW="4651200" imgH="1576440" progId="Word.Document.8">
                  <p:embed/>
                </p:oleObj>
              </mc:Choice>
              <mc:Fallback>
                <p:oleObj name="Document" r:id="rId3" imgW="4651200" imgH="15764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035175"/>
                        <a:ext cx="3343275" cy="1133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5003" name="Text Box 27"/>
          <p:cNvSpPr txBox="1">
            <a:spLocks noChangeArrowheads="1"/>
          </p:cNvSpPr>
          <p:nvPr/>
        </p:nvSpPr>
        <p:spPr bwMode="auto">
          <a:xfrm>
            <a:off x="4800600" y="1577975"/>
            <a:ext cx="160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2000">
                <a:solidFill>
                  <a:schemeClr val="tx2"/>
                </a:solidFill>
                <a:latin typeface="Arial" charset="0"/>
              </a:rPr>
              <a:t>Test Data</a:t>
            </a:r>
            <a:endParaRPr lang="en-US" sz="20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5004" name="Line 28"/>
          <p:cNvSpPr>
            <a:spLocks noChangeShapeType="1"/>
          </p:cNvSpPr>
          <p:nvPr/>
        </p:nvSpPr>
        <p:spPr bwMode="auto">
          <a:xfrm flipH="1">
            <a:off x="4648200" y="3025775"/>
            <a:ext cx="1295400" cy="9906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6210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Apply Model to Test Data</a:t>
            </a:r>
          </a:p>
        </p:txBody>
      </p:sp>
      <p:sp>
        <p:nvSpPr>
          <p:cNvPr id="896003" name="Line 3"/>
          <p:cNvSpPr>
            <a:spLocks noChangeShapeType="1"/>
          </p:cNvSpPr>
          <p:nvPr/>
        </p:nvSpPr>
        <p:spPr bwMode="auto">
          <a:xfrm>
            <a:off x="2898775" y="5062538"/>
            <a:ext cx="2667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6004" name="Line 4"/>
          <p:cNvSpPr>
            <a:spLocks noChangeShapeType="1"/>
          </p:cNvSpPr>
          <p:nvPr/>
        </p:nvSpPr>
        <p:spPr bwMode="auto">
          <a:xfrm flipH="1">
            <a:off x="1658938" y="5062538"/>
            <a:ext cx="3556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6005" name="Line 5"/>
          <p:cNvSpPr>
            <a:spLocks noChangeShapeType="1"/>
          </p:cNvSpPr>
          <p:nvPr/>
        </p:nvSpPr>
        <p:spPr bwMode="auto">
          <a:xfrm flipH="1">
            <a:off x="2366963" y="4087813"/>
            <a:ext cx="442912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6006" name="Line 6"/>
          <p:cNvSpPr>
            <a:spLocks noChangeShapeType="1"/>
          </p:cNvSpPr>
          <p:nvPr/>
        </p:nvSpPr>
        <p:spPr bwMode="auto">
          <a:xfrm>
            <a:off x="3695700" y="4087813"/>
            <a:ext cx="531813" cy="6492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6007" name="Line 7"/>
          <p:cNvSpPr>
            <a:spLocks noChangeShapeType="1"/>
          </p:cNvSpPr>
          <p:nvPr/>
        </p:nvSpPr>
        <p:spPr bwMode="auto">
          <a:xfrm>
            <a:off x="2544763" y="3197225"/>
            <a:ext cx="620712" cy="5683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6008" name="Line 8"/>
          <p:cNvSpPr>
            <a:spLocks noChangeShapeType="1"/>
          </p:cNvSpPr>
          <p:nvPr/>
        </p:nvSpPr>
        <p:spPr bwMode="auto">
          <a:xfrm flipH="1">
            <a:off x="1039813" y="3197225"/>
            <a:ext cx="619125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6009" name="Text Box 9"/>
          <p:cNvSpPr txBox="1">
            <a:spLocks noChangeArrowheads="1"/>
          </p:cNvSpPr>
          <p:nvPr/>
        </p:nvSpPr>
        <p:spPr bwMode="auto">
          <a:xfrm>
            <a:off x="1606550" y="2873375"/>
            <a:ext cx="1027113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2D1993"/>
                </a:solidFill>
                <a:latin typeface="Arial" charset="0"/>
              </a:rPr>
              <a:t>Refund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6010" name="Text Box 10"/>
          <p:cNvSpPr txBox="1">
            <a:spLocks noChangeArrowheads="1"/>
          </p:cNvSpPr>
          <p:nvPr/>
        </p:nvSpPr>
        <p:spPr bwMode="auto">
          <a:xfrm>
            <a:off x="2720975" y="3765550"/>
            <a:ext cx="1025525" cy="3476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2D1993"/>
                </a:solidFill>
                <a:latin typeface="Arial" charset="0"/>
              </a:rPr>
              <a:t>MarSt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6011" name="Text Box 11"/>
          <p:cNvSpPr txBox="1">
            <a:spLocks noChangeArrowheads="1"/>
          </p:cNvSpPr>
          <p:nvPr/>
        </p:nvSpPr>
        <p:spPr bwMode="auto">
          <a:xfrm>
            <a:off x="1925638" y="4737100"/>
            <a:ext cx="1062037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2D1993"/>
                </a:solidFill>
                <a:latin typeface="Arial" charset="0"/>
              </a:rPr>
              <a:t>TaxInc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6012" name="AutoShape 12"/>
          <p:cNvSpPr>
            <a:spLocks noChangeArrowheads="1"/>
          </p:cNvSpPr>
          <p:nvPr/>
        </p:nvSpPr>
        <p:spPr bwMode="auto">
          <a:xfrm>
            <a:off x="2941638" y="5705475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6013" name="Text Box 13"/>
          <p:cNvSpPr txBox="1">
            <a:spLocks noChangeArrowheads="1"/>
          </p:cNvSpPr>
          <p:nvPr/>
        </p:nvSpPr>
        <p:spPr bwMode="auto">
          <a:xfrm>
            <a:off x="2859088" y="5705475"/>
            <a:ext cx="7508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YES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6014" name="AutoShape 14"/>
          <p:cNvSpPr>
            <a:spLocks noChangeArrowheads="1"/>
          </p:cNvSpPr>
          <p:nvPr/>
        </p:nvSpPr>
        <p:spPr bwMode="auto">
          <a:xfrm>
            <a:off x="1304925" y="5726113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6015" name="Text Box 15"/>
          <p:cNvSpPr txBox="1">
            <a:spLocks noChangeArrowheads="1"/>
          </p:cNvSpPr>
          <p:nvPr/>
        </p:nvSpPr>
        <p:spPr bwMode="auto">
          <a:xfrm>
            <a:off x="1435100" y="5708650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6016" name="AutoShape 16"/>
          <p:cNvSpPr>
            <a:spLocks noChangeArrowheads="1"/>
          </p:cNvSpPr>
          <p:nvPr/>
        </p:nvSpPr>
        <p:spPr bwMode="auto">
          <a:xfrm>
            <a:off x="685800" y="3783013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6017" name="Text Box 17"/>
          <p:cNvSpPr txBox="1">
            <a:spLocks noChangeArrowheads="1"/>
          </p:cNvSpPr>
          <p:nvPr/>
        </p:nvSpPr>
        <p:spPr bwMode="auto">
          <a:xfrm>
            <a:off x="814388" y="3765550"/>
            <a:ext cx="488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 b="0">
              <a:solidFill>
                <a:srgbClr val="00FFFF"/>
              </a:solidFill>
              <a:latin typeface="Arial" charset="0"/>
            </a:endParaRPr>
          </a:p>
        </p:txBody>
      </p:sp>
      <p:sp>
        <p:nvSpPr>
          <p:cNvPr id="896018" name="AutoShape 18"/>
          <p:cNvSpPr>
            <a:spLocks noChangeArrowheads="1"/>
          </p:cNvSpPr>
          <p:nvPr/>
        </p:nvSpPr>
        <p:spPr bwMode="auto">
          <a:xfrm>
            <a:off x="3860800" y="4770438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6019" name="Text Box 19"/>
          <p:cNvSpPr txBox="1">
            <a:spLocks noChangeArrowheads="1"/>
          </p:cNvSpPr>
          <p:nvPr/>
        </p:nvSpPr>
        <p:spPr bwMode="auto">
          <a:xfrm>
            <a:off x="3968750" y="4770438"/>
            <a:ext cx="4905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>
                <a:solidFill>
                  <a:srgbClr val="800000"/>
                </a:solidFill>
                <a:latin typeface="Arial" charset="0"/>
              </a:rPr>
              <a:t>NO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6020" name="Text Box 20"/>
          <p:cNvSpPr txBox="1">
            <a:spLocks noChangeArrowheads="1"/>
          </p:cNvSpPr>
          <p:nvPr/>
        </p:nvSpPr>
        <p:spPr bwMode="auto">
          <a:xfrm>
            <a:off x="860425" y="3197225"/>
            <a:ext cx="533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Yes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6021" name="Text Box 21"/>
          <p:cNvSpPr txBox="1">
            <a:spLocks noChangeArrowheads="1"/>
          </p:cNvSpPr>
          <p:nvPr/>
        </p:nvSpPr>
        <p:spPr bwMode="auto">
          <a:xfrm>
            <a:off x="2897188" y="3197225"/>
            <a:ext cx="4429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solidFill>
                  <a:srgbClr val="FF0000"/>
                </a:solidFill>
                <a:latin typeface="Arial" charset="0"/>
              </a:rPr>
              <a:t>No</a:t>
            </a:r>
          </a:p>
        </p:txBody>
      </p:sp>
      <p:sp>
        <p:nvSpPr>
          <p:cNvPr id="896022" name="Text Box 22"/>
          <p:cNvSpPr txBox="1">
            <a:spLocks noChangeArrowheads="1"/>
          </p:cNvSpPr>
          <p:nvPr/>
        </p:nvSpPr>
        <p:spPr bwMode="auto">
          <a:xfrm>
            <a:off x="4022725" y="4135438"/>
            <a:ext cx="9302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solidFill>
                  <a:srgbClr val="FF0000"/>
                </a:solidFill>
                <a:latin typeface="Arial" charset="0"/>
              </a:rPr>
              <a:t>Married </a:t>
            </a:r>
          </a:p>
        </p:txBody>
      </p:sp>
      <p:sp>
        <p:nvSpPr>
          <p:cNvPr id="896023" name="Text Box 23"/>
          <p:cNvSpPr txBox="1">
            <a:spLocks noChangeArrowheads="1"/>
          </p:cNvSpPr>
          <p:nvPr/>
        </p:nvSpPr>
        <p:spPr bwMode="auto">
          <a:xfrm>
            <a:off x="1662113" y="4170363"/>
            <a:ext cx="1660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Single, Divorced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6024" name="Text Box 24"/>
          <p:cNvSpPr txBox="1">
            <a:spLocks noChangeArrowheads="1"/>
          </p:cNvSpPr>
          <p:nvPr/>
        </p:nvSpPr>
        <p:spPr bwMode="auto">
          <a:xfrm>
            <a:off x="1155700" y="5141913"/>
            <a:ext cx="720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&lt; 80K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6025" name="Text Box 25"/>
          <p:cNvSpPr txBox="1">
            <a:spLocks noChangeArrowheads="1"/>
          </p:cNvSpPr>
          <p:nvPr/>
        </p:nvSpPr>
        <p:spPr bwMode="auto">
          <a:xfrm>
            <a:off x="3101975" y="5141913"/>
            <a:ext cx="720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0">
                <a:latin typeface="Arial" charset="0"/>
              </a:rPr>
              <a:t>&gt; 80K</a:t>
            </a:r>
            <a:endParaRPr lang="en-US" sz="1600" b="0">
              <a:solidFill>
                <a:schemeClr val="bg2"/>
              </a:solidFill>
              <a:latin typeface="Arial" charset="0"/>
            </a:endParaRPr>
          </a:p>
        </p:txBody>
      </p:sp>
      <p:graphicFrame>
        <p:nvGraphicFramePr>
          <p:cNvPr id="896026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0248447"/>
              </p:ext>
            </p:extLst>
          </p:nvPr>
        </p:nvGraphicFramePr>
        <p:xfrm>
          <a:off x="4953000" y="2111375"/>
          <a:ext cx="3343275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2" name="Document" r:id="rId3" imgW="4651200" imgH="1576440" progId="Word.Document.8">
                  <p:embed/>
                </p:oleObj>
              </mc:Choice>
              <mc:Fallback>
                <p:oleObj name="Document" r:id="rId3" imgW="4651200" imgH="15764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111375"/>
                        <a:ext cx="3343275" cy="1133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6027" name="Text Box 27"/>
          <p:cNvSpPr txBox="1">
            <a:spLocks noChangeArrowheads="1"/>
          </p:cNvSpPr>
          <p:nvPr/>
        </p:nvSpPr>
        <p:spPr bwMode="auto">
          <a:xfrm>
            <a:off x="4800600" y="1654175"/>
            <a:ext cx="160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2000">
                <a:solidFill>
                  <a:schemeClr val="tx2"/>
                </a:solidFill>
                <a:latin typeface="Arial" charset="0"/>
              </a:rPr>
              <a:t>Test Data</a:t>
            </a:r>
            <a:endParaRPr lang="en-US" sz="2000" b="0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896028" name="Line 28"/>
          <p:cNvSpPr>
            <a:spLocks noChangeShapeType="1"/>
          </p:cNvSpPr>
          <p:nvPr/>
        </p:nvSpPr>
        <p:spPr bwMode="auto">
          <a:xfrm flipH="1">
            <a:off x="4495800" y="3101975"/>
            <a:ext cx="3124200" cy="18288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6029" name="Text Box 29"/>
          <p:cNvSpPr txBox="1">
            <a:spLocks noChangeArrowheads="1"/>
          </p:cNvSpPr>
          <p:nvPr/>
        </p:nvSpPr>
        <p:spPr bwMode="auto">
          <a:xfrm>
            <a:off x="6019800" y="4092575"/>
            <a:ext cx="2667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2000" b="0">
                <a:latin typeface="Arial" charset="0"/>
              </a:rPr>
              <a:t>Assign Cheat to “No”</a:t>
            </a:r>
          </a:p>
        </p:txBody>
      </p:sp>
    </p:spTree>
    <p:extLst>
      <p:ext uri="{BB962C8B-B14F-4D97-AF65-F5344CB8AC3E}">
        <p14:creationId xmlns:p14="http://schemas.microsoft.com/office/powerpoint/2010/main" val="443572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Decision Tree Classification Task</a:t>
            </a:r>
          </a:p>
        </p:txBody>
      </p:sp>
      <p:graphicFrame>
        <p:nvGraphicFramePr>
          <p:cNvPr id="922627" name="Object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9730797"/>
              </p:ext>
            </p:extLst>
          </p:nvPr>
        </p:nvGraphicFramePr>
        <p:xfrm>
          <a:off x="1093788" y="1600200"/>
          <a:ext cx="6951662" cy="518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6" name="Visio" r:id="rId3" imgW="8424875" imgH="6279741" progId="Visio.Drawing.6">
                  <p:embed/>
                </p:oleObj>
              </mc:Choice>
              <mc:Fallback>
                <p:oleObj name="Visio" r:id="rId3" imgW="8424875" imgH="6279741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3788" y="1600200"/>
                        <a:ext cx="6951662" cy="518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628" name="Line 4"/>
          <p:cNvSpPr>
            <a:spLocks noChangeShapeType="1"/>
          </p:cNvSpPr>
          <p:nvPr/>
        </p:nvSpPr>
        <p:spPr bwMode="auto">
          <a:xfrm flipH="1">
            <a:off x="6400800" y="2819400"/>
            <a:ext cx="6858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629" name="Text Box 5"/>
          <p:cNvSpPr txBox="1">
            <a:spLocks noChangeArrowheads="1"/>
          </p:cNvSpPr>
          <p:nvPr/>
        </p:nvSpPr>
        <p:spPr bwMode="auto">
          <a:xfrm>
            <a:off x="7086600" y="4740275"/>
            <a:ext cx="121920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Decision Tree</a:t>
            </a:r>
          </a:p>
        </p:txBody>
      </p:sp>
    </p:spTree>
    <p:extLst>
      <p:ext uri="{BB962C8B-B14F-4D97-AF65-F5344CB8AC3E}">
        <p14:creationId xmlns:p14="http://schemas.microsoft.com/office/powerpoint/2010/main" val="14760257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03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Tree Induction</a:t>
            </a:r>
          </a:p>
        </p:txBody>
      </p:sp>
      <p:sp>
        <p:nvSpPr>
          <p:cNvPr id="812039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Goal</a:t>
            </a:r>
            <a:r>
              <a:rPr lang="en-US" dirty="0">
                <a:solidFill>
                  <a:srgbClr val="002060"/>
                </a:solidFill>
              </a:rPr>
              <a:t>: Find the tree that has low classification error in the training data 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training error</a:t>
            </a:r>
            <a:r>
              <a:rPr lang="en-US" dirty="0">
                <a:solidFill>
                  <a:srgbClr val="002060"/>
                </a:solidFill>
              </a:rPr>
              <a:t>)</a:t>
            </a:r>
          </a:p>
          <a:p>
            <a:endParaRPr lang="en-US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Finding the </a:t>
            </a:r>
            <a:r>
              <a:rPr lang="en-US" dirty="0">
                <a:solidFill>
                  <a:srgbClr val="FF0000"/>
                </a:solidFill>
              </a:rPr>
              <a:t>best</a:t>
            </a:r>
            <a:r>
              <a:rPr lang="en-US" dirty="0">
                <a:solidFill>
                  <a:srgbClr val="002060"/>
                </a:solidFill>
              </a:rPr>
              <a:t> decision tree (lowest training error) is </a:t>
            </a:r>
            <a:r>
              <a:rPr lang="en-US" dirty="0">
                <a:solidFill>
                  <a:srgbClr val="FF0000"/>
                </a:solidFill>
              </a:rPr>
              <a:t>NP-hard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Greedy</a:t>
            </a:r>
            <a:r>
              <a:rPr lang="en-US" dirty="0"/>
              <a:t> strategy.</a:t>
            </a:r>
          </a:p>
          <a:p>
            <a:pPr lvl="1"/>
            <a:r>
              <a:rPr lang="en-US" dirty="0"/>
              <a:t>Split the records based on an attribute test that optimizes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certain criterion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Many Algorithms:</a:t>
            </a:r>
          </a:p>
          <a:p>
            <a:pPr lvl="1"/>
            <a:r>
              <a:rPr lang="en-US" dirty="0"/>
              <a:t>Hunt’s Algorithm (one of the earliest)</a:t>
            </a:r>
          </a:p>
          <a:p>
            <a:pPr lvl="1"/>
            <a:r>
              <a:rPr lang="en-US" dirty="0"/>
              <a:t>CART</a:t>
            </a:r>
          </a:p>
          <a:p>
            <a:pPr lvl="1"/>
            <a:r>
              <a:rPr lang="en-US" dirty="0"/>
              <a:t>ID3, </a:t>
            </a:r>
            <a:r>
              <a:rPr lang="en-US" dirty="0" err="1"/>
              <a:t>C4.5</a:t>
            </a:r>
            <a:endParaRPr lang="en-US" dirty="0"/>
          </a:p>
          <a:p>
            <a:pPr lvl="1"/>
            <a:r>
              <a:rPr lang="en-US" dirty="0"/>
              <a:t>SLIQ,SPRINT</a:t>
            </a:r>
          </a:p>
        </p:txBody>
      </p:sp>
    </p:spTree>
    <p:extLst>
      <p:ext uri="{BB962C8B-B14F-4D97-AF65-F5344CB8AC3E}">
        <p14:creationId xmlns:p14="http://schemas.microsoft.com/office/powerpoint/2010/main" val="39036718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General Structure of Hunt’s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112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81000" y="1714500"/>
                <a:ext cx="5181600" cy="4648200"/>
              </a:xfrm>
            </p:spPr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𝐷</m:t>
                    </m:r>
                    <m:r>
                      <a:rPr lang="en-US" i="1" baseline="-25000" dirty="0" err="1">
                        <a:solidFill>
                          <a:srgbClr val="0070C0"/>
                        </a:solidFill>
                        <a:latin typeface="Cambria Math"/>
                      </a:rPr>
                      <m:t>𝑡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be the set of training records that reach a node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𝑡</m:t>
                    </m:r>
                  </m:oMath>
                </a14:m>
                <a:endParaRPr lang="en-US" dirty="0">
                  <a:solidFill>
                    <a:srgbClr val="0070C0"/>
                  </a:solidFill>
                </a:endParaRPr>
              </a:p>
              <a:p>
                <a:pPr>
                  <a:lnSpc>
                    <a:spcPct val="90000"/>
                  </a:lnSpc>
                </a:pPr>
                <a:endParaRPr lang="en-US" sz="2400" dirty="0"/>
              </a:p>
              <a:p>
                <a:pPr>
                  <a:lnSpc>
                    <a:spcPct val="90000"/>
                  </a:lnSpc>
                </a:pPr>
                <a:r>
                  <a:rPr lang="en-US" dirty="0"/>
                  <a:t>General Procedure: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𝐷</m:t>
                    </m:r>
                    <m:r>
                      <a:rPr lang="en-US" i="1" baseline="-25000" dirty="0" err="1">
                        <a:solidFill>
                          <a:srgbClr val="0070C0"/>
                        </a:solidFill>
                        <a:latin typeface="Cambria Math"/>
                      </a:rPr>
                      <m:t>𝑡</m:t>
                    </m:r>
                  </m:oMath>
                </a14:m>
                <a:r>
                  <a:rPr lang="en-US" dirty="0"/>
                  <a:t> contains records that belong the </a:t>
                </a:r>
                <a:r>
                  <a:rPr lang="en-US" dirty="0">
                    <a:solidFill>
                      <a:srgbClr val="FF0000"/>
                    </a:solidFill>
                  </a:rPr>
                  <a:t>same class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𝑦</m:t>
                    </m:r>
                    <m:r>
                      <a:rPr lang="en-US" i="1" baseline="-25000" dirty="0" err="1">
                        <a:solidFill>
                          <a:srgbClr val="0070C0"/>
                        </a:solidFill>
                        <a:latin typeface="Cambria Math"/>
                      </a:rPr>
                      <m:t>𝑡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𝑡</m:t>
                    </m:r>
                  </m:oMath>
                </a14:m>
                <a:r>
                  <a:rPr lang="en-US" dirty="0"/>
                  <a:t> is a leaf node labeled as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𝑦</m:t>
                    </m:r>
                    <m:r>
                      <a:rPr lang="en-US" i="1" baseline="-25000" dirty="0" err="1" smtClean="0">
                        <a:solidFill>
                          <a:srgbClr val="0070C0"/>
                        </a:solidFill>
                        <a:latin typeface="Cambria Math"/>
                      </a:rPr>
                      <m:t>𝑡</m:t>
                    </m:r>
                  </m:oMath>
                </a14:m>
                <a:r>
                  <a:rPr lang="en-US" baseline="-25000" dirty="0">
                    <a:solidFill>
                      <a:srgbClr val="0070C0"/>
                    </a:solidFill>
                  </a:rPr>
                  <a:t> 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𝐷</m:t>
                    </m:r>
                    <m:r>
                      <a:rPr lang="en-US" i="1" baseline="-25000" dirty="0" err="1" smtClean="0">
                        <a:solidFill>
                          <a:srgbClr val="0070C0"/>
                        </a:solidFill>
                        <a:latin typeface="Cambria Math"/>
                      </a:rPr>
                      <m:t>𝑡</m:t>
                    </m:r>
                  </m:oMath>
                </a14:m>
                <a:r>
                  <a:rPr lang="en-US" dirty="0"/>
                  <a:t> contains records with the </a:t>
                </a:r>
                <a:r>
                  <a:rPr lang="en-US" dirty="0">
                    <a:solidFill>
                      <a:srgbClr val="FF0000"/>
                    </a:solidFill>
                  </a:rPr>
                  <a:t>same attribute values</a:t>
                </a:r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𝑡</m:t>
                    </m:r>
                  </m:oMath>
                </a14:m>
                <a:r>
                  <a:rPr lang="en-US" dirty="0"/>
                  <a:t> is a leaf node labeled with the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majority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class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𝑦</m:t>
                    </m:r>
                    <m:r>
                      <a:rPr lang="en-US" i="1" baseline="-25000" dirty="0" err="1">
                        <a:solidFill>
                          <a:srgbClr val="0070C0"/>
                        </a:solidFill>
                        <a:latin typeface="Cambria Math"/>
                      </a:rPr>
                      <m:t>𝑡</m:t>
                    </m:r>
                  </m:oMath>
                </a14:m>
                <a:endParaRPr lang="en-US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lvl="1">
                  <a:lnSpc>
                    <a:spcPct val="90000"/>
                  </a:lnSpc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𝐷</m:t>
                    </m:r>
                    <m:r>
                      <a:rPr lang="en-US" i="1" baseline="-25000" dirty="0" err="1">
                        <a:solidFill>
                          <a:srgbClr val="0070C0"/>
                        </a:solidFill>
                        <a:latin typeface="Cambria Math"/>
                      </a:rPr>
                      <m:t>𝑡</m:t>
                    </m:r>
                  </m:oMath>
                </a14:m>
                <a:r>
                  <a:rPr lang="en-US" dirty="0"/>
                  <a:t> is an </a:t>
                </a:r>
                <a:r>
                  <a:rPr lang="en-US" dirty="0">
                    <a:solidFill>
                      <a:srgbClr val="FF0000"/>
                    </a:solidFill>
                  </a:rPr>
                  <a:t>empty set</a:t>
                </a:r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𝑡</m:t>
                    </m:r>
                  </m:oMath>
                </a14:m>
                <a:r>
                  <a:rPr lang="en-US" dirty="0"/>
                  <a:t> is a leaf node labeled by the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default class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𝑦</m:t>
                    </m:r>
                    <m:r>
                      <a:rPr lang="en-US" i="1" baseline="-25000" dirty="0" err="1">
                        <a:solidFill>
                          <a:srgbClr val="0070C0"/>
                        </a:solidFill>
                        <a:latin typeface="Cambria Math"/>
                      </a:rPr>
                      <m:t>𝑑</m:t>
                    </m:r>
                  </m:oMath>
                </a14:m>
                <a:endParaRPr lang="en-US" baseline="-25000" dirty="0">
                  <a:solidFill>
                    <a:srgbClr val="0070C0"/>
                  </a:solidFill>
                </a:endParaRPr>
              </a:p>
              <a:p>
                <a:pPr lvl="1">
                  <a:lnSpc>
                    <a:spcPct val="90000"/>
                  </a:lnSpc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𝐷</m:t>
                    </m:r>
                    <m:r>
                      <a:rPr lang="en-US" i="1" baseline="-25000" dirty="0" err="1">
                        <a:solidFill>
                          <a:srgbClr val="0070C0"/>
                        </a:solidFill>
                        <a:latin typeface="Cambria Math"/>
                      </a:rPr>
                      <m:t>𝑡</m:t>
                    </m:r>
                  </m:oMath>
                </a14:m>
                <a:r>
                  <a:rPr lang="en-US" dirty="0"/>
                  <a:t> contains records that belong to </a:t>
                </a:r>
                <a:r>
                  <a:rPr lang="en-US" dirty="0">
                    <a:solidFill>
                      <a:srgbClr val="FF0000"/>
                    </a:solidFill>
                  </a:rPr>
                  <a:t>more than one class</a:t>
                </a:r>
                <a:r>
                  <a:rPr lang="en-US" dirty="0"/>
                  <a:t>, use an attribute test to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split</a:t>
                </a:r>
                <a:r>
                  <a:rPr lang="en-US" dirty="0"/>
                  <a:t> the data into smaller subsets. </a:t>
                </a:r>
              </a:p>
              <a:p>
                <a:pPr>
                  <a:lnSpc>
                    <a:spcPct val="90000"/>
                  </a:lnSpc>
                </a:pPr>
                <a:endParaRPr lang="en-US" dirty="0"/>
              </a:p>
              <a:p>
                <a:pPr>
                  <a:lnSpc>
                    <a:spcPct val="90000"/>
                  </a:lnSpc>
                </a:pPr>
                <a:r>
                  <a:rPr lang="en-US" dirty="0"/>
                  <a:t>Recursively apply the procedure to each subset.</a:t>
                </a:r>
              </a:p>
            </p:txBody>
          </p:sp>
        </mc:Choice>
        <mc:Fallback xmlns="">
          <p:sp>
            <p:nvSpPr>
              <p:cNvPr id="90112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81000" y="1714500"/>
                <a:ext cx="5181600" cy="4648200"/>
              </a:xfrm>
              <a:blipFill rotWithShape="1">
                <a:blip r:embed="rId3"/>
                <a:stretch>
                  <a:fillRect l="-824" t="-2752" r="-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011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3161736"/>
              </p:ext>
            </p:extLst>
          </p:nvPr>
        </p:nvGraphicFramePr>
        <p:xfrm>
          <a:off x="5665788" y="1676400"/>
          <a:ext cx="3021012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2" name="Document" r:id="rId4" imgW="5415994" imgH="5778378" progId="Word.Document.8">
                  <p:embed/>
                </p:oleObj>
              </mc:Choice>
              <mc:Fallback>
                <p:oleObj name="Document" r:id="rId4" imgW="5415994" imgH="577837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5788" y="1676400"/>
                        <a:ext cx="3021012" cy="312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131" name="Oval 11"/>
          <p:cNvSpPr>
            <a:spLocks noChangeArrowheads="1"/>
          </p:cNvSpPr>
          <p:nvPr/>
        </p:nvSpPr>
        <p:spPr bwMode="auto">
          <a:xfrm>
            <a:off x="6134100" y="5320552"/>
            <a:ext cx="1447800" cy="762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01132" name="Line 12"/>
          <p:cNvSpPr>
            <a:spLocks noChangeShapeType="1"/>
          </p:cNvSpPr>
          <p:nvPr/>
        </p:nvSpPr>
        <p:spPr bwMode="auto">
          <a:xfrm flipH="1">
            <a:off x="5715000" y="6096000"/>
            <a:ext cx="9906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1133" name="Line 13"/>
          <p:cNvSpPr>
            <a:spLocks noChangeShapeType="1"/>
          </p:cNvSpPr>
          <p:nvPr/>
        </p:nvSpPr>
        <p:spPr bwMode="auto">
          <a:xfrm>
            <a:off x="6858000" y="60960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1134" name="Line 14"/>
          <p:cNvSpPr>
            <a:spLocks noChangeShapeType="1"/>
          </p:cNvSpPr>
          <p:nvPr/>
        </p:nvSpPr>
        <p:spPr bwMode="auto">
          <a:xfrm>
            <a:off x="7010400" y="6096000"/>
            <a:ext cx="9906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1135" name="Line 15"/>
          <p:cNvSpPr>
            <a:spLocks noChangeShapeType="1"/>
          </p:cNvSpPr>
          <p:nvPr/>
        </p:nvSpPr>
        <p:spPr bwMode="auto">
          <a:xfrm flipH="1">
            <a:off x="6705600" y="4999036"/>
            <a:ext cx="304800" cy="3349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1136" name="Text Box 16"/>
              <p:cNvSpPr txBox="1">
                <a:spLocks noChangeArrowheads="1"/>
              </p:cNvSpPr>
              <p:nvPr/>
            </p:nvSpPr>
            <p:spPr bwMode="auto">
              <a:xfrm>
                <a:off x="6934200" y="4800600"/>
                <a:ext cx="609600" cy="3968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𝐷</m:t>
                      </m:r>
                      <m:r>
                        <a:rPr lang="en-US" sz="2000" i="1" baseline="-25000" dirty="0" err="1">
                          <a:solidFill>
                            <a:srgbClr val="0070C0"/>
                          </a:solidFill>
                          <a:latin typeface="Cambria Math"/>
                        </a:rPr>
                        <m:t>𝑡</m:t>
                      </m:r>
                    </m:oMath>
                  </m:oMathPara>
                </a14:m>
                <a:endParaRPr lang="en-US" sz="2000" baseline="-25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01136" name="Text 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34200" y="4800600"/>
                <a:ext cx="609600" cy="39687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1137" name="Text Box 17"/>
          <p:cNvSpPr txBox="1">
            <a:spLocks noChangeArrowheads="1"/>
          </p:cNvSpPr>
          <p:nvPr/>
        </p:nvSpPr>
        <p:spPr bwMode="auto">
          <a:xfrm>
            <a:off x="6553200" y="54864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619242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Hunt’s Algorithm</a:t>
            </a:r>
          </a:p>
        </p:txBody>
      </p:sp>
      <p:sp>
        <p:nvSpPr>
          <p:cNvPr id="900099" name="Rectangle 3"/>
          <p:cNvSpPr>
            <a:spLocks noChangeArrowheads="1"/>
          </p:cNvSpPr>
          <p:nvPr/>
        </p:nvSpPr>
        <p:spPr bwMode="auto">
          <a:xfrm>
            <a:off x="484187" y="1811337"/>
            <a:ext cx="576263" cy="414338"/>
          </a:xfrm>
          <a:prstGeom prst="rect">
            <a:avLst/>
          </a:prstGeom>
          <a:solidFill>
            <a:srgbClr val="FFFFFF"/>
          </a:solidFill>
          <a:ln w="25400">
            <a:solidFill>
              <a:srgbClr val="33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0">
                <a:latin typeface="Times New Roman" charset="0"/>
              </a:rPr>
              <a:t>Don’t </a:t>
            </a:r>
          </a:p>
          <a:p>
            <a:pPr algn="ctr"/>
            <a:r>
              <a:rPr lang="en-US" b="0">
                <a:latin typeface="Times New Roman" charset="0"/>
              </a:rPr>
              <a:t>Cheat</a:t>
            </a:r>
            <a:endParaRPr lang="en-US" sz="2400" b="0">
              <a:latin typeface="Times New Roman" charset="0"/>
            </a:endParaRPr>
          </a:p>
        </p:txBody>
      </p:sp>
      <p:grpSp>
        <p:nvGrpSpPr>
          <p:cNvPr id="900100" name="Group 4"/>
          <p:cNvGrpSpPr>
            <a:grpSpLocks/>
          </p:cNvGrpSpPr>
          <p:nvPr/>
        </p:nvGrpSpPr>
        <p:grpSpPr bwMode="auto">
          <a:xfrm>
            <a:off x="1169987" y="1506537"/>
            <a:ext cx="2168525" cy="1262063"/>
            <a:chOff x="624" y="720"/>
            <a:chExt cx="1366" cy="795"/>
          </a:xfrm>
        </p:grpSpPr>
        <p:grpSp>
          <p:nvGrpSpPr>
            <p:cNvPr id="900101" name="Group 5"/>
            <p:cNvGrpSpPr>
              <a:grpSpLocks/>
            </p:cNvGrpSpPr>
            <p:nvPr/>
          </p:nvGrpSpPr>
          <p:grpSpPr bwMode="auto">
            <a:xfrm>
              <a:off x="864" y="720"/>
              <a:ext cx="1126" cy="795"/>
              <a:chOff x="480" y="2640"/>
              <a:chExt cx="1126" cy="795"/>
            </a:xfrm>
          </p:grpSpPr>
          <p:sp>
            <p:nvSpPr>
              <p:cNvPr id="900102" name="Oval 6"/>
              <p:cNvSpPr>
                <a:spLocks noChangeArrowheads="1"/>
              </p:cNvSpPr>
              <p:nvPr/>
            </p:nvSpPr>
            <p:spPr bwMode="auto">
              <a:xfrm>
                <a:off x="807" y="2640"/>
                <a:ext cx="436" cy="272"/>
              </a:xfrm>
              <a:prstGeom prst="ellipse">
                <a:avLst/>
              </a:prstGeom>
              <a:solidFill>
                <a:srgbClr val="FFFFFF"/>
              </a:solidFill>
              <a:ln w="254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1600" b="0">
                    <a:solidFill>
                      <a:srgbClr val="0033CC"/>
                    </a:solidFill>
                    <a:latin typeface="Times New Roman" charset="0"/>
                  </a:rPr>
                  <a:t>Refund</a:t>
                </a:r>
                <a:endParaRPr lang="en-US" sz="1600" b="0">
                  <a:latin typeface="Times New Roman" charset="0"/>
                </a:endParaRPr>
              </a:p>
            </p:txBody>
          </p:sp>
          <p:sp>
            <p:nvSpPr>
              <p:cNvPr id="900103" name="Line 7"/>
              <p:cNvSpPr>
                <a:spLocks noChangeShapeType="1"/>
              </p:cNvSpPr>
              <p:nvPr/>
            </p:nvSpPr>
            <p:spPr bwMode="auto">
              <a:xfrm flipH="1">
                <a:off x="661" y="2912"/>
                <a:ext cx="364" cy="224"/>
              </a:xfrm>
              <a:prstGeom prst="line">
                <a:avLst/>
              </a:prstGeom>
              <a:noFill/>
              <a:ln w="254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00104" name="Line 8"/>
              <p:cNvSpPr>
                <a:spLocks noChangeShapeType="1"/>
              </p:cNvSpPr>
              <p:nvPr/>
            </p:nvSpPr>
            <p:spPr bwMode="auto">
              <a:xfrm>
                <a:off x="1025" y="2912"/>
                <a:ext cx="363" cy="224"/>
              </a:xfrm>
              <a:prstGeom prst="line">
                <a:avLst/>
              </a:prstGeom>
              <a:noFill/>
              <a:ln w="254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00105" name="Rectangle 9"/>
              <p:cNvSpPr>
                <a:spLocks noChangeArrowheads="1"/>
              </p:cNvSpPr>
              <p:nvPr/>
            </p:nvSpPr>
            <p:spPr bwMode="auto">
              <a:xfrm>
                <a:off x="480" y="3136"/>
                <a:ext cx="363" cy="299"/>
              </a:xfrm>
              <a:prstGeom prst="rect">
                <a:avLst/>
              </a:prstGeom>
              <a:solidFill>
                <a:srgbClr val="FFFFFF"/>
              </a:solidFill>
              <a:ln w="50800" cmpd="thickThin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b="0">
                    <a:latin typeface="Times New Roman" charset="0"/>
                  </a:rPr>
                  <a:t>Don’t </a:t>
                </a:r>
              </a:p>
              <a:p>
                <a:pPr algn="ctr"/>
                <a:r>
                  <a:rPr lang="en-US" b="0">
                    <a:latin typeface="Times New Roman" charset="0"/>
                  </a:rPr>
                  <a:t>Cheat</a:t>
                </a:r>
                <a:endParaRPr lang="en-US" sz="1800" b="0">
                  <a:latin typeface="Times New Roman" charset="0"/>
                </a:endParaRPr>
              </a:p>
            </p:txBody>
          </p:sp>
          <p:sp>
            <p:nvSpPr>
              <p:cNvPr id="900106" name="Rectangle 10"/>
              <p:cNvSpPr>
                <a:spLocks noChangeArrowheads="1"/>
              </p:cNvSpPr>
              <p:nvPr/>
            </p:nvSpPr>
            <p:spPr bwMode="auto">
              <a:xfrm>
                <a:off x="1243" y="3136"/>
                <a:ext cx="363" cy="261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3366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b="0">
                    <a:latin typeface="Times New Roman" charset="0"/>
                  </a:rPr>
                  <a:t>Don’t </a:t>
                </a:r>
              </a:p>
              <a:p>
                <a:pPr algn="ctr"/>
                <a:r>
                  <a:rPr lang="en-US" b="0">
                    <a:latin typeface="Times New Roman" charset="0"/>
                  </a:rPr>
                  <a:t>Cheat</a:t>
                </a:r>
                <a:endParaRPr lang="en-US" sz="2400" b="0">
                  <a:latin typeface="Times New Roman" charset="0"/>
                </a:endParaRPr>
              </a:p>
            </p:txBody>
          </p:sp>
          <p:sp>
            <p:nvSpPr>
              <p:cNvPr id="900107" name="Text Box 11"/>
              <p:cNvSpPr txBox="1">
                <a:spLocks noChangeArrowheads="1"/>
              </p:cNvSpPr>
              <p:nvPr/>
            </p:nvSpPr>
            <p:spPr bwMode="auto">
              <a:xfrm>
                <a:off x="568" y="2869"/>
                <a:ext cx="315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>
                    <a:solidFill>
                      <a:srgbClr val="0066FF"/>
                    </a:solidFill>
                  </a:rPr>
                  <a:t>Yes</a:t>
                </a:r>
                <a:endParaRPr lang="en-US" sz="1800" b="0">
                  <a:latin typeface="Times New Roman" charset="0"/>
                </a:endParaRPr>
              </a:p>
            </p:txBody>
          </p:sp>
          <p:sp>
            <p:nvSpPr>
              <p:cNvPr id="900108" name="Text Box 12"/>
              <p:cNvSpPr txBox="1">
                <a:spLocks noChangeArrowheads="1"/>
              </p:cNvSpPr>
              <p:nvPr/>
            </p:nvSpPr>
            <p:spPr bwMode="auto">
              <a:xfrm>
                <a:off x="1260" y="2869"/>
                <a:ext cx="265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>
                    <a:solidFill>
                      <a:srgbClr val="0066FF"/>
                    </a:solidFill>
                  </a:rPr>
                  <a:t>No</a:t>
                </a:r>
                <a:endParaRPr lang="en-US" sz="2400" b="0">
                  <a:latin typeface="Times New Roman" charset="0"/>
                </a:endParaRPr>
              </a:p>
            </p:txBody>
          </p:sp>
        </p:grpSp>
        <p:sp>
          <p:nvSpPr>
            <p:cNvPr id="900109" name="Line 13"/>
            <p:cNvSpPr>
              <a:spLocks noChangeShapeType="1"/>
            </p:cNvSpPr>
            <p:nvPr/>
          </p:nvSpPr>
          <p:spPr bwMode="auto">
            <a:xfrm flipV="1">
              <a:off x="624" y="1056"/>
              <a:ext cx="240" cy="0"/>
            </a:xfrm>
            <a:prstGeom prst="line">
              <a:avLst/>
            </a:prstGeom>
            <a:noFill/>
            <a:ln w="76200" cmpd="tri">
              <a:solidFill>
                <a:srgbClr val="CC3300"/>
              </a:solidFill>
              <a:round/>
              <a:headEnd/>
              <a:tailEnd type="arrow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00110" name="Group 14"/>
          <p:cNvGrpSpPr>
            <a:grpSpLocks/>
          </p:cNvGrpSpPr>
          <p:nvPr/>
        </p:nvGrpSpPr>
        <p:grpSpPr bwMode="auto">
          <a:xfrm>
            <a:off x="2846387" y="3411537"/>
            <a:ext cx="3325813" cy="3294063"/>
            <a:chOff x="1536" y="1920"/>
            <a:chExt cx="2095" cy="2075"/>
          </a:xfrm>
        </p:grpSpPr>
        <p:grpSp>
          <p:nvGrpSpPr>
            <p:cNvPr id="900111" name="Group 15"/>
            <p:cNvGrpSpPr>
              <a:grpSpLocks/>
            </p:cNvGrpSpPr>
            <p:nvPr/>
          </p:nvGrpSpPr>
          <p:grpSpPr bwMode="auto">
            <a:xfrm>
              <a:off x="1824" y="1920"/>
              <a:ext cx="1807" cy="2075"/>
              <a:chOff x="3840" y="1824"/>
              <a:chExt cx="1807" cy="2075"/>
            </a:xfrm>
          </p:grpSpPr>
          <p:sp>
            <p:nvSpPr>
              <p:cNvPr id="900112" name="Oval 16"/>
              <p:cNvSpPr>
                <a:spLocks noChangeArrowheads="1"/>
              </p:cNvSpPr>
              <p:nvPr/>
            </p:nvSpPr>
            <p:spPr bwMode="auto">
              <a:xfrm>
                <a:off x="4311" y="1824"/>
                <a:ext cx="437" cy="283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1600" b="0">
                    <a:latin typeface="Times New Roman" charset="0"/>
                  </a:rPr>
                  <a:t>Refund</a:t>
                </a:r>
                <a:endParaRPr lang="en-US" b="0">
                  <a:latin typeface="Times New Roman" charset="0"/>
                </a:endParaRPr>
              </a:p>
            </p:txBody>
          </p:sp>
          <p:sp>
            <p:nvSpPr>
              <p:cNvPr id="900113" name="Line 17"/>
              <p:cNvSpPr>
                <a:spLocks noChangeShapeType="1"/>
              </p:cNvSpPr>
              <p:nvPr/>
            </p:nvSpPr>
            <p:spPr bwMode="auto">
              <a:xfrm flipH="1">
                <a:off x="4166" y="2107"/>
                <a:ext cx="364" cy="2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00114" name="Line 18"/>
              <p:cNvSpPr>
                <a:spLocks noChangeShapeType="1"/>
              </p:cNvSpPr>
              <p:nvPr/>
            </p:nvSpPr>
            <p:spPr bwMode="auto">
              <a:xfrm>
                <a:off x="4530" y="2107"/>
                <a:ext cx="363" cy="2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00115" name="Rectangle 19"/>
              <p:cNvSpPr>
                <a:spLocks noChangeArrowheads="1"/>
              </p:cNvSpPr>
              <p:nvPr/>
            </p:nvSpPr>
            <p:spPr bwMode="auto">
              <a:xfrm>
                <a:off x="3984" y="2331"/>
                <a:ext cx="364" cy="298"/>
              </a:xfrm>
              <a:prstGeom prst="rect">
                <a:avLst/>
              </a:prstGeom>
              <a:solidFill>
                <a:srgbClr val="FFFFFF"/>
              </a:solidFill>
              <a:ln w="50800" cmpd="thickThin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b="0">
                    <a:latin typeface="Times New Roman" charset="0"/>
                  </a:rPr>
                  <a:t>Don’t </a:t>
                </a:r>
              </a:p>
              <a:p>
                <a:pPr algn="ctr"/>
                <a:r>
                  <a:rPr lang="en-US" b="0">
                    <a:latin typeface="Times New Roman" charset="0"/>
                  </a:rPr>
                  <a:t>Cheat</a:t>
                </a:r>
                <a:endParaRPr lang="en-US" sz="2400" b="0">
                  <a:latin typeface="Times New Roman" charset="0"/>
                </a:endParaRPr>
              </a:p>
            </p:txBody>
          </p:sp>
          <p:sp>
            <p:nvSpPr>
              <p:cNvPr id="900116" name="Text Box 20"/>
              <p:cNvSpPr txBox="1">
                <a:spLocks noChangeArrowheads="1"/>
              </p:cNvSpPr>
              <p:nvPr/>
            </p:nvSpPr>
            <p:spPr bwMode="auto">
              <a:xfrm>
                <a:off x="4072" y="2062"/>
                <a:ext cx="315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/>
                  <a:t>Yes</a:t>
                </a:r>
                <a:endParaRPr lang="en-US" sz="2400" b="0">
                  <a:latin typeface="Times New Roman" charset="0"/>
                </a:endParaRPr>
              </a:p>
            </p:txBody>
          </p:sp>
          <p:sp>
            <p:nvSpPr>
              <p:cNvPr id="900117" name="Text Box 21"/>
              <p:cNvSpPr txBox="1">
                <a:spLocks noChangeArrowheads="1"/>
              </p:cNvSpPr>
              <p:nvPr/>
            </p:nvSpPr>
            <p:spPr bwMode="auto">
              <a:xfrm>
                <a:off x="4765" y="2062"/>
                <a:ext cx="265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/>
                  <a:t>No</a:t>
                </a:r>
                <a:endParaRPr lang="en-US" sz="2400" b="0">
                  <a:latin typeface="Times New Roman" charset="0"/>
                </a:endParaRPr>
              </a:p>
            </p:txBody>
          </p:sp>
          <p:sp>
            <p:nvSpPr>
              <p:cNvPr id="900118" name="Oval 22"/>
              <p:cNvSpPr>
                <a:spLocks noChangeArrowheads="1"/>
              </p:cNvSpPr>
              <p:nvPr/>
            </p:nvSpPr>
            <p:spPr bwMode="auto">
              <a:xfrm>
                <a:off x="4639" y="2331"/>
                <a:ext cx="545" cy="373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1600" b="0">
                    <a:latin typeface="Times New Roman" charset="0"/>
                  </a:rPr>
                  <a:t>Marital</a:t>
                </a:r>
              </a:p>
              <a:p>
                <a:pPr algn="ctr"/>
                <a:r>
                  <a:rPr lang="en-US" sz="1600" b="0">
                    <a:latin typeface="Times New Roman" charset="0"/>
                  </a:rPr>
                  <a:t>Status</a:t>
                </a:r>
                <a:endParaRPr lang="en-US" sz="1800" b="0">
                  <a:latin typeface="Times New Roman" charset="0"/>
                </a:endParaRPr>
              </a:p>
            </p:txBody>
          </p:sp>
          <p:sp>
            <p:nvSpPr>
              <p:cNvPr id="900119" name="Line 23"/>
              <p:cNvSpPr>
                <a:spLocks noChangeShapeType="1"/>
              </p:cNvSpPr>
              <p:nvPr/>
            </p:nvSpPr>
            <p:spPr bwMode="auto">
              <a:xfrm flipH="1">
                <a:off x="4464" y="2704"/>
                <a:ext cx="465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00120" name="Line 24"/>
              <p:cNvSpPr>
                <a:spLocks noChangeShapeType="1"/>
              </p:cNvSpPr>
              <p:nvPr/>
            </p:nvSpPr>
            <p:spPr bwMode="auto">
              <a:xfrm>
                <a:off x="4929" y="2704"/>
                <a:ext cx="400" cy="26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00121" name="Rectangle 25"/>
              <p:cNvSpPr>
                <a:spLocks noChangeArrowheads="1"/>
              </p:cNvSpPr>
              <p:nvPr/>
            </p:nvSpPr>
            <p:spPr bwMode="auto">
              <a:xfrm>
                <a:off x="5148" y="2965"/>
                <a:ext cx="363" cy="299"/>
              </a:xfrm>
              <a:prstGeom prst="rect">
                <a:avLst/>
              </a:prstGeom>
              <a:solidFill>
                <a:srgbClr val="FFFFFF"/>
              </a:solidFill>
              <a:ln w="50800" cmpd="thickThin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b="0">
                    <a:latin typeface="Times New Roman" charset="0"/>
                  </a:rPr>
                  <a:t>Don’t </a:t>
                </a:r>
              </a:p>
              <a:p>
                <a:pPr algn="ctr"/>
                <a:r>
                  <a:rPr lang="en-US" b="0">
                    <a:latin typeface="Times New Roman" charset="0"/>
                  </a:rPr>
                  <a:t>Cheat</a:t>
                </a:r>
                <a:endParaRPr lang="en-US" sz="2400" b="0">
                  <a:latin typeface="Times New Roman" charset="0"/>
                </a:endParaRPr>
              </a:p>
            </p:txBody>
          </p:sp>
          <p:sp>
            <p:nvSpPr>
              <p:cNvPr id="900122" name="Rectangle 26"/>
              <p:cNvSpPr>
                <a:spLocks noChangeArrowheads="1"/>
              </p:cNvSpPr>
              <p:nvPr/>
            </p:nvSpPr>
            <p:spPr bwMode="auto">
              <a:xfrm>
                <a:off x="4704" y="3600"/>
                <a:ext cx="364" cy="262"/>
              </a:xfrm>
              <a:prstGeom prst="rect">
                <a:avLst/>
              </a:prstGeom>
              <a:solidFill>
                <a:srgbClr val="FFFFFF"/>
              </a:solidFill>
              <a:ln w="50800" cmpd="thickThin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1600" b="0">
                    <a:latin typeface="Times New Roman" charset="0"/>
                  </a:rPr>
                  <a:t>Cheat</a:t>
                </a:r>
                <a:endParaRPr lang="en-US" sz="2400" b="0">
                  <a:latin typeface="Times New Roman" charset="0"/>
                </a:endParaRPr>
              </a:p>
            </p:txBody>
          </p:sp>
          <p:sp>
            <p:nvSpPr>
              <p:cNvPr id="900123" name="Text Box 27"/>
              <p:cNvSpPr txBox="1">
                <a:spLocks noChangeArrowheads="1"/>
              </p:cNvSpPr>
              <p:nvPr/>
            </p:nvSpPr>
            <p:spPr bwMode="auto">
              <a:xfrm>
                <a:off x="4062" y="2621"/>
                <a:ext cx="594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/>
                  <a:t>Single,</a:t>
                </a:r>
              </a:p>
              <a:p>
                <a:pPr algn="ctr"/>
                <a:r>
                  <a:rPr lang="en-US"/>
                  <a:t>Divorced</a:t>
                </a:r>
                <a:endParaRPr lang="en-US" sz="1800" b="0"/>
              </a:p>
            </p:txBody>
          </p:sp>
          <p:sp>
            <p:nvSpPr>
              <p:cNvPr id="900124" name="Text Box 28"/>
              <p:cNvSpPr txBox="1">
                <a:spLocks noChangeArrowheads="1"/>
              </p:cNvSpPr>
              <p:nvPr/>
            </p:nvSpPr>
            <p:spPr bwMode="auto">
              <a:xfrm>
                <a:off x="5127" y="2688"/>
                <a:ext cx="520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/>
                  <a:t>Married</a:t>
                </a:r>
                <a:endParaRPr lang="en-US" sz="1800" b="0"/>
              </a:p>
            </p:txBody>
          </p:sp>
          <p:sp>
            <p:nvSpPr>
              <p:cNvPr id="900125" name="Oval 29"/>
              <p:cNvSpPr>
                <a:spLocks noChangeArrowheads="1"/>
              </p:cNvSpPr>
              <p:nvPr/>
            </p:nvSpPr>
            <p:spPr bwMode="auto">
              <a:xfrm>
                <a:off x="4080" y="2976"/>
                <a:ext cx="768" cy="384"/>
              </a:xfrm>
              <a:prstGeom prst="ellipse">
                <a:avLst/>
              </a:prstGeom>
              <a:solidFill>
                <a:srgbClr val="FFFFFF"/>
              </a:solidFill>
              <a:ln w="254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1600" b="0">
                    <a:solidFill>
                      <a:srgbClr val="0033CC"/>
                    </a:solidFill>
                    <a:latin typeface="Times New Roman" charset="0"/>
                  </a:rPr>
                  <a:t>Taxable</a:t>
                </a:r>
              </a:p>
              <a:p>
                <a:pPr algn="ctr"/>
                <a:r>
                  <a:rPr lang="en-US" sz="1600" b="0">
                    <a:solidFill>
                      <a:srgbClr val="0033CC"/>
                    </a:solidFill>
                    <a:latin typeface="Times New Roman" charset="0"/>
                  </a:rPr>
                  <a:t>Income</a:t>
                </a:r>
                <a:endParaRPr lang="en-US" sz="2400" b="0">
                  <a:latin typeface="Times New Roman" charset="0"/>
                </a:endParaRPr>
              </a:p>
            </p:txBody>
          </p:sp>
          <p:sp>
            <p:nvSpPr>
              <p:cNvPr id="900126" name="Rectangle 30"/>
              <p:cNvSpPr>
                <a:spLocks noChangeArrowheads="1"/>
              </p:cNvSpPr>
              <p:nvPr/>
            </p:nvSpPr>
            <p:spPr bwMode="auto">
              <a:xfrm>
                <a:off x="3840" y="3600"/>
                <a:ext cx="363" cy="299"/>
              </a:xfrm>
              <a:prstGeom prst="rect">
                <a:avLst/>
              </a:prstGeom>
              <a:solidFill>
                <a:srgbClr val="FFFFFF"/>
              </a:solidFill>
              <a:ln w="50800" cmpd="thickThin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b="0">
                    <a:latin typeface="Times New Roman" charset="0"/>
                  </a:rPr>
                  <a:t>Don’t </a:t>
                </a:r>
              </a:p>
              <a:p>
                <a:pPr algn="ctr"/>
                <a:r>
                  <a:rPr lang="en-US" b="0">
                    <a:latin typeface="Times New Roman" charset="0"/>
                  </a:rPr>
                  <a:t>Cheat</a:t>
                </a:r>
                <a:endParaRPr lang="en-US" sz="2400" b="0">
                  <a:latin typeface="Times New Roman" charset="0"/>
                </a:endParaRPr>
              </a:p>
            </p:txBody>
          </p:sp>
          <p:sp>
            <p:nvSpPr>
              <p:cNvPr id="900127" name="Line 31"/>
              <p:cNvSpPr>
                <a:spLocks noChangeShapeType="1"/>
              </p:cNvSpPr>
              <p:nvPr/>
            </p:nvSpPr>
            <p:spPr bwMode="auto">
              <a:xfrm flipH="1">
                <a:off x="4032" y="3360"/>
                <a:ext cx="432" cy="240"/>
              </a:xfrm>
              <a:prstGeom prst="line">
                <a:avLst/>
              </a:prstGeom>
              <a:noFill/>
              <a:ln w="254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00128" name="Line 32"/>
              <p:cNvSpPr>
                <a:spLocks noChangeShapeType="1"/>
              </p:cNvSpPr>
              <p:nvPr/>
            </p:nvSpPr>
            <p:spPr bwMode="auto">
              <a:xfrm>
                <a:off x="4464" y="3360"/>
                <a:ext cx="432" cy="240"/>
              </a:xfrm>
              <a:prstGeom prst="line">
                <a:avLst/>
              </a:prstGeom>
              <a:noFill/>
              <a:ln w="254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00129" name="Text Box 33"/>
              <p:cNvSpPr txBox="1">
                <a:spLocks noChangeArrowheads="1"/>
              </p:cNvSpPr>
              <p:nvPr/>
            </p:nvSpPr>
            <p:spPr bwMode="auto">
              <a:xfrm>
                <a:off x="3840" y="3360"/>
                <a:ext cx="417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>
                    <a:solidFill>
                      <a:srgbClr val="0066FF"/>
                    </a:solidFill>
                  </a:rPr>
                  <a:t>&lt; 80K</a:t>
                </a:r>
                <a:endParaRPr lang="en-US" sz="1800" b="0"/>
              </a:p>
            </p:txBody>
          </p:sp>
          <p:sp>
            <p:nvSpPr>
              <p:cNvPr id="900130" name="Text Box 34"/>
              <p:cNvSpPr txBox="1">
                <a:spLocks noChangeArrowheads="1"/>
              </p:cNvSpPr>
              <p:nvPr/>
            </p:nvSpPr>
            <p:spPr bwMode="auto">
              <a:xfrm>
                <a:off x="4704" y="3360"/>
                <a:ext cx="48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>
                    <a:solidFill>
                      <a:srgbClr val="0066FF"/>
                    </a:solidFill>
                  </a:rPr>
                  <a:t>&gt;= 80K</a:t>
                </a:r>
                <a:endParaRPr lang="en-US" sz="1800" b="0">
                  <a:solidFill>
                    <a:srgbClr val="0066FF"/>
                  </a:solidFill>
                </a:endParaRPr>
              </a:p>
            </p:txBody>
          </p:sp>
        </p:grpSp>
        <p:sp>
          <p:nvSpPr>
            <p:cNvPr id="900131" name="Line 35"/>
            <p:cNvSpPr>
              <a:spLocks noChangeShapeType="1"/>
            </p:cNvSpPr>
            <p:nvPr/>
          </p:nvSpPr>
          <p:spPr bwMode="auto">
            <a:xfrm rot="-2664477">
              <a:off x="1536" y="2400"/>
              <a:ext cx="192" cy="192"/>
            </a:xfrm>
            <a:prstGeom prst="line">
              <a:avLst/>
            </a:prstGeom>
            <a:noFill/>
            <a:ln w="76200" cmpd="tri">
              <a:solidFill>
                <a:srgbClr val="CC3300"/>
              </a:solidFill>
              <a:round/>
              <a:headEnd/>
              <a:tailEnd type="arrow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00132" name="Group 36"/>
          <p:cNvGrpSpPr>
            <a:grpSpLocks/>
          </p:cNvGrpSpPr>
          <p:nvPr/>
        </p:nvGrpSpPr>
        <p:grpSpPr bwMode="auto">
          <a:xfrm>
            <a:off x="255587" y="3152775"/>
            <a:ext cx="2654300" cy="2620962"/>
            <a:chOff x="48" y="1757"/>
            <a:chExt cx="1672" cy="1651"/>
          </a:xfrm>
        </p:grpSpPr>
        <p:grpSp>
          <p:nvGrpSpPr>
            <p:cNvPr id="900133" name="Group 37"/>
            <p:cNvGrpSpPr>
              <a:grpSpLocks/>
            </p:cNvGrpSpPr>
            <p:nvPr/>
          </p:nvGrpSpPr>
          <p:grpSpPr bwMode="auto">
            <a:xfrm>
              <a:off x="48" y="1968"/>
              <a:ext cx="1672" cy="1440"/>
              <a:chOff x="2016" y="1824"/>
              <a:chExt cx="1672" cy="1440"/>
            </a:xfrm>
          </p:grpSpPr>
          <p:grpSp>
            <p:nvGrpSpPr>
              <p:cNvPr id="900134" name="Group 38"/>
              <p:cNvGrpSpPr>
                <a:grpSpLocks/>
              </p:cNvGrpSpPr>
              <p:nvPr/>
            </p:nvGrpSpPr>
            <p:grpSpPr bwMode="auto">
              <a:xfrm>
                <a:off x="2016" y="1824"/>
                <a:ext cx="1527" cy="1440"/>
                <a:chOff x="2016" y="1968"/>
                <a:chExt cx="1527" cy="1440"/>
              </a:xfrm>
            </p:grpSpPr>
            <p:sp>
              <p:nvSpPr>
                <p:cNvPr id="900135" name="Oval 39"/>
                <p:cNvSpPr>
                  <a:spLocks noChangeArrowheads="1"/>
                </p:cNvSpPr>
                <p:nvPr/>
              </p:nvSpPr>
              <p:spPr bwMode="auto">
                <a:xfrm>
                  <a:off x="2343" y="1968"/>
                  <a:ext cx="437" cy="283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sz="1600" b="0">
                      <a:latin typeface="Times New Roman" charset="0"/>
                    </a:rPr>
                    <a:t>Refund</a:t>
                  </a:r>
                  <a:endParaRPr lang="en-US" b="0">
                    <a:latin typeface="Times New Roman" charset="0"/>
                  </a:endParaRPr>
                </a:p>
              </p:txBody>
            </p:sp>
            <p:sp>
              <p:nvSpPr>
                <p:cNvPr id="900136" name="Line 40"/>
                <p:cNvSpPr>
                  <a:spLocks noChangeShapeType="1"/>
                </p:cNvSpPr>
                <p:nvPr/>
              </p:nvSpPr>
              <p:spPr bwMode="auto">
                <a:xfrm flipH="1">
                  <a:off x="2198" y="2251"/>
                  <a:ext cx="364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00137" name="Line 41"/>
                <p:cNvSpPr>
                  <a:spLocks noChangeShapeType="1"/>
                </p:cNvSpPr>
                <p:nvPr/>
              </p:nvSpPr>
              <p:spPr bwMode="auto">
                <a:xfrm>
                  <a:off x="2562" y="2251"/>
                  <a:ext cx="363" cy="2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00138" name="Rectangle 42"/>
                <p:cNvSpPr>
                  <a:spLocks noChangeArrowheads="1"/>
                </p:cNvSpPr>
                <p:nvPr/>
              </p:nvSpPr>
              <p:spPr bwMode="auto">
                <a:xfrm>
                  <a:off x="2016" y="2475"/>
                  <a:ext cx="364" cy="298"/>
                </a:xfrm>
                <a:prstGeom prst="rect">
                  <a:avLst/>
                </a:prstGeom>
                <a:solidFill>
                  <a:srgbClr val="FFFFFF"/>
                </a:solidFill>
                <a:ln w="50800" cmpd="thickThin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b="0">
                      <a:latin typeface="Times New Roman" charset="0"/>
                    </a:rPr>
                    <a:t>Don’t </a:t>
                  </a:r>
                </a:p>
                <a:p>
                  <a:pPr algn="ctr"/>
                  <a:r>
                    <a:rPr lang="en-US" b="0">
                      <a:latin typeface="Times New Roman" charset="0"/>
                    </a:rPr>
                    <a:t>Cheat</a:t>
                  </a:r>
                  <a:endParaRPr lang="en-US" sz="2400" b="0">
                    <a:latin typeface="Times New Roman" charset="0"/>
                  </a:endParaRPr>
                </a:p>
              </p:txBody>
            </p:sp>
            <p:sp>
              <p:nvSpPr>
                <p:cNvPr id="900139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2104" y="2206"/>
                  <a:ext cx="315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/>
                    <a:t>Yes</a:t>
                  </a:r>
                  <a:endParaRPr lang="en-US" sz="2400" b="0">
                    <a:latin typeface="Times New Roman" charset="0"/>
                  </a:endParaRPr>
                </a:p>
              </p:txBody>
            </p:sp>
            <p:sp>
              <p:nvSpPr>
                <p:cNvPr id="900140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2797" y="2206"/>
                  <a:ext cx="265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/>
                    <a:t>No</a:t>
                  </a:r>
                  <a:endParaRPr lang="en-US" sz="2400" b="0">
                    <a:latin typeface="Times New Roman" charset="0"/>
                  </a:endParaRPr>
                </a:p>
              </p:txBody>
            </p:sp>
            <p:sp>
              <p:nvSpPr>
                <p:cNvPr id="900141" name="Oval 45"/>
                <p:cNvSpPr>
                  <a:spLocks noChangeArrowheads="1"/>
                </p:cNvSpPr>
                <p:nvPr/>
              </p:nvSpPr>
              <p:spPr bwMode="auto">
                <a:xfrm>
                  <a:off x="2671" y="2475"/>
                  <a:ext cx="545" cy="373"/>
                </a:xfrm>
                <a:prstGeom prst="ellipse">
                  <a:avLst/>
                </a:prstGeom>
                <a:solidFill>
                  <a:srgbClr val="FFFFFF"/>
                </a:solidFill>
                <a:ln w="25400">
                  <a:solidFill>
                    <a:srgbClr val="3366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sz="1600" b="0">
                      <a:solidFill>
                        <a:srgbClr val="0033CC"/>
                      </a:solidFill>
                      <a:latin typeface="Times New Roman" charset="0"/>
                    </a:rPr>
                    <a:t>Marital</a:t>
                  </a:r>
                </a:p>
                <a:p>
                  <a:pPr algn="ctr"/>
                  <a:r>
                    <a:rPr lang="en-US" sz="1600" b="0">
                      <a:solidFill>
                        <a:srgbClr val="0033CC"/>
                      </a:solidFill>
                      <a:latin typeface="Times New Roman" charset="0"/>
                    </a:rPr>
                    <a:t>Status</a:t>
                  </a:r>
                  <a:endParaRPr lang="en-US" sz="1800" b="0">
                    <a:latin typeface="Times New Roman" charset="0"/>
                  </a:endParaRPr>
                </a:p>
              </p:txBody>
            </p:sp>
            <p:sp>
              <p:nvSpPr>
                <p:cNvPr id="900142" name="Line 46"/>
                <p:cNvSpPr>
                  <a:spLocks noChangeShapeType="1"/>
                </p:cNvSpPr>
                <p:nvPr/>
              </p:nvSpPr>
              <p:spPr bwMode="auto">
                <a:xfrm flipH="1">
                  <a:off x="2525" y="2848"/>
                  <a:ext cx="436" cy="261"/>
                </a:xfrm>
                <a:prstGeom prst="line">
                  <a:avLst/>
                </a:prstGeom>
                <a:noFill/>
                <a:ln w="25400">
                  <a:solidFill>
                    <a:srgbClr val="3366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00143" name="Line 47"/>
                <p:cNvSpPr>
                  <a:spLocks noChangeShapeType="1"/>
                </p:cNvSpPr>
                <p:nvPr/>
              </p:nvSpPr>
              <p:spPr bwMode="auto">
                <a:xfrm>
                  <a:off x="2961" y="2848"/>
                  <a:ext cx="400" cy="261"/>
                </a:xfrm>
                <a:prstGeom prst="line">
                  <a:avLst/>
                </a:prstGeom>
                <a:noFill/>
                <a:ln w="25400">
                  <a:solidFill>
                    <a:srgbClr val="3366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00144" name="Rectangle 48"/>
                <p:cNvSpPr>
                  <a:spLocks noChangeArrowheads="1"/>
                </p:cNvSpPr>
                <p:nvPr/>
              </p:nvSpPr>
              <p:spPr bwMode="auto">
                <a:xfrm>
                  <a:off x="3180" y="3109"/>
                  <a:ext cx="363" cy="299"/>
                </a:xfrm>
                <a:prstGeom prst="rect">
                  <a:avLst/>
                </a:prstGeom>
                <a:solidFill>
                  <a:srgbClr val="FFFFFF"/>
                </a:solidFill>
                <a:ln w="50800" cmpd="thickThin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b="0">
                      <a:latin typeface="Times New Roman" charset="0"/>
                    </a:rPr>
                    <a:t>Don’t </a:t>
                  </a:r>
                </a:p>
                <a:p>
                  <a:pPr algn="ctr"/>
                  <a:r>
                    <a:rPr lang="en-US" b="0">
                      <a:latin typeface="Times New Roman" charset="0"/>
                    </a:rPr>
                    <a:t>Cheat</a:t>
                  </a:r>
                  <a:endParaRPr lang="en-US" sz="2400" b="0">
                    <a:latin typeface="Times New Roman" charset="0"/>
                  </a:endParaRPr>
                </a:p>
              </p:txBody>
            </p:sp>
            <p:sp>
              <p:nvSpPr>
                <p:cNvPr id="900145" name="Rectangle 49"/>
                <p:cNvSpPr>
                  <a:spLocks noChangeArrowheads="1"/>
                </p:cNvSpPr>
                <p:nvPr/>
              </p:nvSpPr>
              <p:spPr bwMode="auto">
                <a:xfrm>
                  <a:off x="2343" y="3109"/>
                  <a:ext cx="364" cy="26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sz="1600" b="0">
                      <a:latin typeface="Times New Roman" charset="0"/>
                    </a:rPr>
                    <a:t>Cheat</a:t>
                  </a:r>
                  <a:endParaRPr lang="en-US" sz="2400" b="0">
                    <a:latin typeface="Times New Roman" charset="0"/>
                  </a:endParaRPr>
                </a:p>
              </p:txBody>
            </p:sp>
            <p:sp>
              <p:nvSpPr>
                <p:cNvPr id="900146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2094" y="2765"/>
                  <a:ext cx="594" cy="32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>
                      <a:solidFill>
                        <a:srgbClr val="0066FF"/>
                      </a:solidFill>
                    </a:rPr>
                    <a:t>Single,</a:t>
                  </a:r>
                </a:p>
                <a:p>
                  <a:pPr algn="ctr"/>
                  <a:r>
                    <a:rPr lang="en-US">
                      <a:solidFill>
                        <a:srgbClr val="0066FF"/>
                      </a:solidFill>
                    </a:rPr>
                    <a:t>Divorced</a:t>
                  </a:r>
                  <a:endParaRPr lang="en-US" sz="1800" b="0"/>
                </a:p>
              </p:txBody>
            </p:sp>
          </p:grpSp>
          <p:sp>
            <p:nvSpPr>
              <p:cNvPr id="900147" name="Text Box 51"/>
              <p:cNvSpPr txBox="1">
                <a:spLocks noChangeArrowheads="1"/>
              </p:cNvSpPr>
              <p:nvPr/>
            </p:nvSpPr>
            <p:spPr bwMode="auto">
              <a:xfrm>
                <a:off x="3168" y="2688"/>
                <a:ext cx="520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>
                    <a:solidFill>
                      <a:srgbClr val="0066FF"/>
                    </a:solidFill>
                  </a:rPr>
                  <a:t>Married</a:t>
                </a:r>
                <a:endParaRPr lang="en-US" sz="1800" b="0">
                  <a:solidFill>
                    <a:srgbClr val="0066FF"/>
                  </a:solidFill>
                </a:endParaRPr>
              </a:p>
            </p:txBody>
          </p:sp>
        </p:grpSp>
        <p:sp>
          <p:nvSpPr>
            <p:cNvPr id="900148" name="Line 52"/>
            <p:cNvSpPr>
              <a:spLocks noChangeShapeType="1"/>
            </p:cNvSpPr>
            <p:nvPr/>
          </p:nvSpPr>
          <p:spPr bwMode="auto">
            <a:xfrm rot="-2664477" flipH="1" flipV="1">
              <a:off x="727" y="1757"/>
              <a:ext cx="402" cy="26"/>
            </a:xfrm>
            <a:prstGeom prst="line">
              <a:avLst/>
            </a:prstGeom>
            <a:noFill/>
            <a:ln w="76200" cmpd="tri">
              <a:solidFill>
                <a:srgbClr val="CC3300"/>
              </a:solidFill>
              <a:round/>
              <a:headEnd/>
              <a:tailEnd type="arrow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900149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5666739"/>
              </p:ext>
            </p:extLst>
          </p:nvPr>
        </p:nvGraphicFramePr>
        <p:xfrm>
          <a:off x="5656489" y="381793"/>
          <a:ext cx="3413125" cy="3687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2" name="Document" r:id="rId3" imgW="5405040" imgH="5781600" progId="Word.Document.8">
                  <p:embed/>
                </p:oleObj>
              </mc:Choice>
              <mc:Fallback>
                <p:oleObj name="Document" r:id="rId3" imgW="5405040" imgH="57816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4274"/>
                      <a:stretch>
                        <a:fillRect/>
                      </a:stretch>
                    </p:blipFill>
                    <p:spPr bwMode="auto">
                      <a:xfrm>
                        <a:off x="5656489" y="381793"/>
                        <a:ext cx="3413125" cy="3687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1725966"/>
              </p:ext>
            </p:extLst>
          </p:nvPr>
        </p:nvGraphicFramePr>
        <p:xfrm>
          <a:off x="5652507" y="377031"/>
          <a:ext cx="3387725" cy="369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3" name="Document" r:id="rId5" imgW="5407281" imgH="5772509" progId="Word.Document.8">
                  <p:embed/>
                </p:oleObj>
              </mc:Choice>
              <mc:Fallback>
                <p:oleObj name="Document" r:id="rId5" imgW="5407281" imgH="5772509" progId="Word.Document.8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4274"/>
                      <a:stretch>
                        <a:fillRect/>
                      </a:stretch>
                    </p:blipFill>
                    <p:spPr bwMode="auto">
                      <a:xfrm>
                        <a:off x="5652507" y="377031"/>
                        <a:ext cx="3387725" cy="3697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2994080"/>
              </p:ext>
            </p:extLst>
          </p:nvPr>
        </p:nvGraphicFramePr>
        <p:xfrm>
          <a:off x="5638800" y="384175"/>
          <a:ext cx="3462985" cy="3709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4" name="Document" r:id="rId7" imgW="5407281" imgH="5772509" progId="Word.Document.8">
                  <p:embed/>
                </p:oleObj>
              </mc:Choice>
              <mc:Fallback>
                <p:oleObj name="Document" r:id="rId7" imgW="5407281" imgH="5772509" progId="Word.Document.8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 r="4274"/>
                      <a:stretch>
                        <a:fillRect/>
                      </a:stretch>
                    </p:blipFill>
                    <p:spPr bwMode="auto">
                      <a:xfrm>
                        <a:off x="5638800" y="384175"/>
                        <a:ext cx="3462985" cy="3709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/>
          <p:nvPr/>
        </p:nvSpPr>
        <p:spPr>
          <a:xfrm>
            <a:off x="5562600" y="1870075"/>
            <a:ext cx="3505200" cy="21685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440362" y="2768600"/>
            <a:ext cx="3627438" cy="132556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973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0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0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0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0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0099" grpId="0" animBg="1" autoUpdateAnimBg="0"/>
      <p:bldP spid="4" grpId="0" animBg="1"/>
      <p:bldP spid="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Constructing decision-trees (pseudocode)</a:t>
            </a:r>
          </a:p>
        </p:txBody>
      </p:sp>
      <p:sp>
        <p:nvSpPr>
          <p:cNvPr id="356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382000" cy="4800600"/>
          </a:xfrm>
        </p:spPr>
        <p:txBody>
          <a:bodyPr/>
          <a:lstStyle/>
          <a:p>
            <a:pPr marL="533400" indent="-533400">
              <a:lnSpc>
                <a:spcPct val="95000"/>
              </a:lnSpc>
              <a:buFont typeface="Wingdings" pitchFamily="2" charset="2"/>
              <a:buNone/>
              <a:defRPr/>
            </a:pPr>
            <a:r>
              <a:rPr lang="en-US" sz="2000" b="1" dirty="0" err="1">
                <a:solidFill>
                  <a:srgbClr val="0070C0"/>
                </a:solidFill>
              </a:rPr>
              <a:t>GenDecTree</a:t>
            </a:r>
            <a:r>
              <a:rPr lang="en-US" sz="2000" dirty="0"/>
              <a:t>(Sample </a:t>
            </a:r>
            <a:r>
              <a:rPr lang="en-US" sz="2000" b="1" dirty="0">
                <a:solidFill>
                  <a:schemeClr val="accent2"/>
                </a:solidFill>
              </a:rPr>
              <a:t>S</a:t>
            </a:r>
            <a:r>
              <a:rPr lang="en-US" sz="2000" dirty="0"/>
              <a:t>, Features </a:t>
            </a:r>
            <a:r>
              <a:rPr lang="en-US" sz="2000" b="1" dirty="0">
                <a:solidFill>
                  <a:schemeClr val="accent2"/>
                </a:solidFill>
              </a:rPr>
              <a:t>F</a:t>
            </a:r>
            <a:r>
              <a:rPr lang="en-US" sz="2000" dirty="0"/>
              <a:t>)</a:t>
            </a:r>
          </a:p>
          <a:p>
            <a:pPr marL="533400" indent="-533400">
              <a:lnSpc>
                <a:spcPct val="95000"/>
              </a:lnSpc>
              <a:buFont typeface="Wingdings" pitchFamily="2" charset="2"/>
              <a:buAutoNum type="arabicPeriod"/>
              <a:defRPr/>
            </a:pPr>
            <a:r>
              <a:rPr lang="en-US" sz="2000" b="1" dirty="0"/>
              <a:t>If </a:t>
            </a:r>
            <a:r>
              <a:rPr lang="en-US" sz="2000" b="1" dirty="0" err="1">
                <a:solidFill>
                  <a:srgbClr val="FF0000"/>
                </a:solidFill>
              </a:rPr>
              <a:t>stopping_condition</a:t>
            </a:r>
            <a:r>
              <a:rPr lang="en-US" sz="2000" b="1" dirty="0"/>
              <a:t>(</a:t>
            </a:r>
            <a:r>
              <a:rPr lang="en-US" sz="2000" b="1" dirty="0">
                <a:solidFill>
                  <a:schemeClr val="accent2"/>
                </a:solidFill>
              </a:rPr>
              <a:t>S,F</a:t>
            </a:r>
            <a:r>
              <a:rPr lang="en-US" sz="2000" b="1" dirty="0"/>
              <a:t>) </a:t>
            </a:r>
            <a:r>
              <a:rPr lang="en-US" sz="2000" dirty="0"/>
              <a:t>= true </a:t>
            </a:r>
            <a:r>
              <a:rPr lang="en-US" sz="2000" b="1" dirty="0"/>
              <a:t>then</a:t>
            </a:r>
          </a:p>
          <a:p>
            <a:pPr marL="914400" lvl="1" indent="-457200">
              <a:lnSpc>
                <a:spcPct val="95000"/>
              </a:lnSpc>
              <a:buFont typeface="Wingdings" pitchFamily="2" charset="2"/>
              <a:buAutoNum type="alphaLcPeriod"/>
              <a:defRPr/>
            </a:pPr>
            <a:r>
              <a:rPr lang="en-US" sz="1800" b="1" dirty="0">
                <a:solidFill>
                  <a:schemeClr val="tx1"/>
                </a:solidFill>
                <a:sym typeface="Symbol" pitchFamily="18" charset="2"/>
              </a:rPr>
              <a:t>leaf </a:t>
            </a:r>
            <a:r>
              <a:rPr lang="en-US" sz="1800" b="1" dirty="0">
                <a:solidFill>
                  <a:schemeClr val="accent2"/>
                </a:solidFill>
                <a:sym typeface="Symbol" pitchFamily="18" charset="2"/>
              </a:rPr>
              <a:t>= </a:t>
            </a:r>
            <a:r>
              <a:rPr lang="en-US" sz="1800" b="1" dirty="0" err="1">
                <a:solidFill>
                  <a:srgbClr val="0070C0"/>
                </a:solidFill>
                <a:sym typeface="Symbol" pitchFamily="18" charset="2"/>
              </a:rPr>
              <a:t>createNode</a:t>
            </a:r>
            <a:r>
              <a:rPr lang="en-US" sz="1800" b="1" dirty="0">
                <a:solidFill>
                  <a:srgbClr val="0070C0"/>
                </a:solidFill>
                <a:sym typeface="Symbol" pitchFamily="18" charset="2"/>
              </a:rPr>
              <a:t>()</a:t>
            </a:r>
            <a:endParaRPr lang="en-US" sz="1800" dirty="0">
              <a:solidFill>
                <a:srgbClr val="0070C0"/>
              </a:solidFill>
              <a:sym typeface="Symbol" pitchFamily="18" charset="2"/>
            </a:endParaRPr>
          </a:p>
          <a:p>
            <a:pPr marL="914400" lvl="1" indent="-457200">
              <a:lnSpc>
                <a:spcPct val="95000"/>
              </a:lnSpc>
              <a:buFont typeface="Wingdings" pitchFamily="2" charset="2"/>
              <a:buAutoNum type="alphaLcPeriod"/>
              <a:defRPr/>
            </a:pPr>
            <a:r>
              <a:rPr lang="en-US" sz="1800" b="1" dirty="0" err="1">
                <a:sym typeface="Symbol" pitchFamily="18" charset="2"/>
              </a:rPr>
              <a:t>leaf.label</a:t>
            </a:r>
            <a:r>
              <a:rPr lang="en-US" sz="1800" b="1" dirty="0">
                <a:sym typeface="Symbol" pitchFamily="18" charset="2"/>
              </a:rPr>
              <a:t>= </a:t>
            </a:r>
            <a:r>
              <a:rPr lang="en-US" sz="1800" b="1" dirty="0">
                <a:solidFill>
                  <a:srgbClr val="FF0000"/>
                </a:solidFill>
                <a:sym typeface="Symbol" pitchFamily="18" charset="2"/>
              </a:rPr>
              <a:t>Classify</a:t>
            </a:r>
            <a:r>
              <a:rPr lang="en-US" sz="1800" b="1" dirty="0">
                <a:sym typeface="Symbol" pitchFamily="18" charset="2"/>
              </a:rPr>
              <a:t>(</a:t>
            </a:r>
            <a:r>
              <a:rPr lang="en-US" sz="1800" b="1" dirty="0">
                <a:solidFill>
                  <a:schemeClr val="accent2"/>
                </a:solidFill>
                <a:sym typeface="Symbol" pitchFamily="18" charset="2"/>
              </a:rPr>
              <a:t>S)</a:t>
            </a:r>
            <a:endParaRPr lang="en-US" sz="1800" dirty="0">
              <a:sym typeface="Symbol" pitchFamily="18" charset="2"/>
            </a:endParaRPr>
          </a:p>
          <a:p>
            <a:pPr marL="914400" lvl="1" indent="-457200">
              <a:lnSpc>
                <a:spcPct val="95000"/>
              </a:lnSpc>
              <a:buFont typeface="Wingdings" pitchFamily="2" charset="2"/>
              <a:buAutoNum type="alphaLcPeriod"/>
              <a:defRPr/>
            </a:pPr>
            <a:r>
              <a:rPr lang="en-US" sz="1800" b="1" dirty="0">
                <a:sym typeface="Symbol" pitchFamily="18" charset="2"/>
              </a:rPr>
              <a:t>return leaf</a:t>
            </a:r>
            <a:r>
              <a:rPr lang="en-US" sz="1800" dirty="0">
                <a:sym typeface="Symbol" pitchFamily="18" charset="2"/>
              </a:rPr>
              <a:t> </a:t>
            </a:r>
            <a:r>
              <a:rPr lang="en-US" sz="1800" b="1" dirty="0">
                <a:sym typeface="Wingdings" pitchFamily="2" charset="2"/>
              </a:rPr>
              <a:t> </a:t>
            </a:r>
            <a:r>
              <a:rPr lang="en-US" sz="1200" b="1" dirty="0"/>
              <a:t> </a:t>
            </a:r>
          </a:p>
          <a:p>
            <a:pPr marL="533400" indent="-533400">
              <a:lnSpc>
                <a:spcPct val="95000"/>
              </a:lnSpc>
              <a:buFont typeface="Wingdings" pitchFamily="2" charset="2"/>
              <a:buAutoNum type="arabicPeriod"/>
              <a:defRPr/>
            </a:pPr>
            <a:r>
              <a:rPr lang="en-US" sz="2000" b="1" dirty="0"/>
              <a:t>root =</a:t>
            </a:r>
            <a:r>
              <a:rPr lang="en-US" sz="2000" dirty="0"/>
              <a:t> </a:t>
            </a:r>
            <a:r>
              <a:rPr lang="en-US" sz="2000" b="1" dirty="0" err="1">
                <a:solidFill>
                  <a:srgbClr val="0070C0"/>
                </a:solidFill>
              </a:rPr>
              <a:t>createNode</a:t>
            </a:r>
            <a:r>
              <a:rPr lang="en-US" sz="2000" b="1" dirty="0">
                <a:solidFill>
                  <a:srgbClr val="0070C0"/>
                </a:solidFill>
              </a:rPr>
              <a:t>()</a:t>
            </a:r>
          </a:p>
          <a:p>
            <a:pPr marL="533400" indent="-533400">
              <a:lnSpc>
                <a:spcPct val="95000"/>
              </a:lnSpc>
              <a:buFont typeface="Wingdings" pitchFamily="2" charset="2"/>
              <a:buAutoNum type="arabicPeriod"/>
              <a:defRPr/>
            </a:pPr>
            <a:r>
              <a:rPr lang="en-US" sz="2000" b="1" dirty="0" err="1">
                <a:solidFill>
                  <a:schemeClr val="tx1"/>
                </a:solidFill>
              </a:rPr>
              <a:t>root.test_condition</a:t>
            </a:r>
            <a:r>
              <a:rPr lang="en-US" sz="2000" b="1" dirty="0">
                <a:solidFill>
                  <a:schemeClr val="tx1"/>
                </a:solidFill>
              </a:rPr>
              <a:t> = </a:t>
            </a:r>
            <a:r>
              <a:rPr lang="en-US" sz="2000" b="1" dirty="0" err="1">
                <a:solidFill>
                  <a:srgbClr val="FF0000"/>
                </a:solidFill>
              </a:rPr>
              <a:t>findBestSplit</a:t>
            </a:r>
            <a:r>
              <a:rPr lang="en-US" sz="2000" b="1" dirty="0">
                <a:solidFill>
                  <a:srgbClr val="FF0000"/>
                </a:solidFill>
              </a:rPr>
              <a:t>(</a:t>
            </a:r>
            <a:r>
              <a:rPr lang="en-US" sz="2000" b="1" dirty="0">
                <a:solidFill>
                  <a:schemeClr val="accent2"/>
                </a:solidFill>
              </a:rPr>
              <a:t>S,F</a:t>
            </a:r>
            <a:r>
              <a:rPr lang="en-US" sz="2000" b="1" dirty="0">
                <a:solidFill>
                  <a:srgbClr val="FF0000"/>
                </a:solidFill>
              </a:rPr>
              <a:t>)</a:t>
            </a:r>
          </a:p>
          <a:p>
            <a:pPr marL="533400" indent="-533400">
              <a:lnSpc>
                <a:spcPct val="95000"/>
              </a:lnSpc>
              <a:buFont typeface="Wingdings" pitchFamily="2" charset="2"/>
              <a:buAutoNum type="arabicPeriod"/>
              <a:defRPr/>
            </a:pPr>
            <a:r>
              <a:rPr lang="en-US" sz="2000" b="1" dirty="0">
                <a:solidFill>
                  <a:schemeClr val="accent2"/>
                </a:solidFill>
              </a:rPr>
              <a:t>V = {v| v </a:t>
            </a:r>
            <a:r>
              <a:rPr lang="en-US" sz="2000" dirty="0"/>
              <a:t>a p</a:t>
            </a:r>
            <a:r>
              <a:rPr lang="en-US" sz="2000" dirty="0">
                <a:solidFill>
                  <a:schemeClr val="tx1"/>
                </a:solidFill>
              </a:rPr>
              <a:t>ossible outcome of </a:t>
            </a:r>
            <a:r>
              <a:rPr lang="en-US" sz="2000" b="1" dirty="0" err="1">
                <a:solidFill>
                  <a:schemeClr val="tx1"/>
                </a:solidFill>
              </a:rPr>
              <a:t>root.test_condition</a:t>
            </a:r>
            <a:r>
              <a:rPr lang="en-US" sz="2000" b="1" dirty="0">
                <a:solidFill>
                  <a:schemeClr val="accent2"/>
                </a:solidFill>
              </a:rPr>
              <a:t>}</a:t>
            </a:r>
          </a:p>
          <a:p>
            <a:pPr marL="533400" indent="-533400">
              <a:lnSpc>
                <a:spcPct val="95000"/>
              </a:lnSpc>
              <a:buFont typeface="Wingdings" pitchFamily="2" charset="2"/>
              <a:buAutoNum type="arabicPeriod"/>
              <a:defRPr/>
            </a:pPr>
            <a:r>
              <a:rPr lang="en-US" sz="2000" b="1" dirty="0">
                <a:sym typeface="Symbol" pitchFamily="18" charset="2"/>
              </a:rPr>
              <a:t>for</a:t>
            </a:r>
            <a:r>
              <a:rPr lang="en-US" sz="2000" dirty="0">
                <a:sym typeface="Symbol" pitchFamily="18" charset="2"/>
              </a:rPr>
              <a:t> </a:t>
            </a:r>
            <a:r>
              <a:rPr lang="en-US" sz="2000" b="1" i="1" dirty="0">
                <a:sym typeface="Symbol" pitchFamily="18" charset="2"/>
              </a:rPr>
              <a:t>each</a:t>
            </a:r>
            <a:r>
              <a:rPr lang="en-US" sz="2000" dirty="0">
                <a:sym typeface="Symbol" pitchFamily="18" charset="2"/>
              </a:rPr>
              <a:t> value </a:t>
            </a:r>
            <a:r>
              <a:rPr lang="en-US" sz="2000" b="1" dirty="0">
                <a:solidFill>
                  <a:schemeClr val="accent2"/>
                </a:solidFill>
                <a:sym typeface="Symbol" pitchFamily="18" charset="2"/>
              </a:rPr>
              <a:t>v</a:t>
            </a:r>
            <a:r>
              <a:rPr lang="az-Cyrl-AZ" sz="2000" b="1" dirty="0">
                <a:solidFill>
                  <a:schemeClr val="accent2"/>
                </a:solidFill>
                <a:sym typeface="Symbol" pitchFamily="18" charset="2"/>
              </a:rPr>
              <a:t>є</a:t>
            </a:r>
            <a:r>
              <a:rPr lang="en-US" sz="2000" b="1" dirty="0">
                <a:solidFill>
                  <a:schemeClr val="accent2"/>
                </a:solidFill>
                <a:sym typeface="Symbol" pitchFamily="18" charset="2"/>
              </a:rPr>
              <a:t>V</a:t>
            </a:r>
            <a:r>
              <a:rPr lang="en-US" sz="2000" dirty="0">
                <a:sym typeface="Symbol" pitchFamily="18" charset="2"/>
              </a:rPr>
              <a:t>:</a:t>
            </a:r>
          </a:p>
          <a:p>
            <a:pPr marL="914400" lvl="1" indent="-457200">
              <a:lnSpc>
                <a:spcPct val="95000"/>
              </a:lnSpc>
              <a:buFont typeface="Wingdings" pitchFamily="2" charset="2"/>
              <a:buAutoNum type="alphaLcPeriod"/>
              <a:defRPr/>
            </a:pPr>
            <a:r>
              <a:rPr lang="en-US" sz="1800" b="1" dirty="0" err="1">
                <a:solidFill>
                  <a:schemeClr val="accent2"/>
                </a:solidFill>
                <a:sym typeface="Symbol" pitchFamily="18" charset="2"/>
              </a:rPr>
              <a:t>S</a:t>
            </a:r>
            <a:r>
              <a:rPr lang="en-US" sz="1800" b="1" baseline="-25000" dirty="0" err="1">
                <a:solidFill>
                  <a:schemeClr val="accent2"/>
                </a:solidFill>
                <a:sym typeface="Symbol" pitchFamily="18" charset="2"/>
              </a:rPr>
              <a:t>v</a:t>
            </a:r>
            <a:r>
              <a:rPr lang="en-US" sz="1800" b="1" dirty="0">
                <a:solidFill>
                  <a:schemeClr val="accent2"/>
                </a:solidFill>
                <a:sym typeface="Symbol" pitchFamily="18" charset="2"/>
              </a:rPr>
              <a:t>: = {s | </a:t>
            </a:r>
            <a:r>
              <a:rPr lang="en-US" sz="1800" b="1" dirty="0" err="1">
                <a:sym typeface="Symbol" pitchFamily="18" charset="2"/>
              </a:rPr>
              <a:t>root.test_condition</a:t>
            </a:r>
            <a:r>
              <a:rPr lang="en-US" sz="1800" b="1" dirty="0">
                <a:sym typeface="Symbol" pitchFamily="18" charset="2"/>
              </a:rPr>
              <a:t>(</a:t>
            </a:r>
            <a:r>
              <a:rPr lang="en-US" sz="1800" b="1" dirty="0">
                <a:solidFill>
                  <a:schemeClr val="accent2"/>
                </a:solidFill>
                <a:sym typeface="Symbol" pitchFamily="18" charset="2"/>
              </a:rPr>
              <a:t>s</a:t>
            </a:r>
            <a:r>
              <a:rPr lang="en-US" sz="1800" b="1" dirty="0">
                <a:sym typeface="Symbol" pitchFamily="18" charset="2"/>
              </a:rPr>
              <a:t>)</a:t>
            </a:r>
            <a:r>
              <a:rPr lang="en-US" sz="1800" dirty="0">
                <a:sym typeface="Symbol" pitchFamily="18" charset="2"/>
              </a:rPr>
              <a:t> = </a:t>
            </a:r>
            <a:r>
              <a:rPr lang="en-US" sz="1800" b="1" dirty="0">
                <a:solidFill>
                  <a:schemeClr val="accent2"/>
                </a:solidFill>
                <a:sym typeface="Symbol" pitchFamily="18" charset="2"/>
              </a:rPr>
              <a:t>v</a:t>
            </a:r>
            <a:r>
              <a:rPr lang="en-US" sz="1800" dirty="0">
                <a:sym typeface="Symbol" pitchFamily="18" charset="2"/>
              </a:rPr>
              <a:t> and </a:t>
            </a:r>
            <a:r>
              <a:rPr lang="en-US" sz="1800" b="1" dirty="0">
                <a:solidFill>
                  <a:schemeClr val="accent2"/>
                </a:solidFill>
                <a:sym typeface="Symbol" pitchFamily="18" charset="2"/>
              </a:rPr>
              <a:t>s </a:t>
            </a:r>
            <a:r>
              <a:rPr lang="az-Cyrl-AZ" sz="1800" b="1" dirty="0">
                <a:solidFill>
                  <a:schemeClr val="accent2"/>
                </a:solidFill>
                <a:sym typeface="Symbol" pitchFamily="18" charset="2"/>
              </a:rPr>
              <a:t>є</a:t>
            </a:r>
            <a:r>
              <a:rPr lang="en-US" sz="1800" b="1" dirty="0">
                <a:solidFill>
                  <a:schemeClr val="accent2"/>
                </a:solidFill>
                <a:sym typeface="Symbol" pitchFamily="18" charset="2"/>
              </a:rPr>
              <a:t> S}</a:t>
            </a:r>
            <a:r>
              <a:rPr lang="en-US" sz="1800" dirty="0">
                <a:sym typeface="Symbol" pitchFamily="18" charset="2"/>
              </a:rPr>
              <a:t>;</a:t>
            </a:r>
          </a:p>
          <a:p>
            <a:pPr marL="914400" lvl="1" indent="-457200">
              <a:lnSpc>
                <a:spcPct val="95000"/>
              </a:lnSpc>
              <a:buFont typeface="Wingdings" pitchFamily="2" charset="2"/>
              <a:buAutoNum type="alphaLcPeriod"/>
              <a:defRPr/>
            </a:pPr>
            <a:r>
              <a:rPr lang="en-US" sz="1800" b="1" dirty="0">
                <a:sym typeface="Symbol" pitchFamily="18" charset="2"/>
              </a:rPr>
              <a:t>child = </a:t>
            </a:r>
            <a:r>
              <a:rPr lang="en-US" sz="1800" b="1" dirty="0" err="1">
                <a:solidFill>
                  <a:srgbClr val="0070C0"/>
                </a:solidFill>
              </a:rPr>
              <a:t>GenDecTree</a:t>
            </a:r>
            <a:r>
              <a:rPr lang="en-US" sz="1800" b="1" dirty="0">
                <a:sym typeface="Symbol" pitchFamily="18" charset="2"/>
              </a:rPr>
              <a:t>(</a:t>
            </a:r>
            <a:r>
              <a:rPr lang="en-US" sz="1800" b="1" dirty="0" err="1">
                <a:solidFill>
                  <a:schemeClr val="accent2"/>
                </a:solidFill>
                <a:sym typeface="Symbol" pitchFamily="18" charset="2"/>
              </a:rPr>
              <a:t>S</a:t>
            </a:r>
            <a:r>
              <a:rPr lang="en-US" sz="1800" b="1" baseline="-25000" dirty="0" err="1">
                <a:solidFill>
                  <a:schemeClr val="accent2"/>
                </a:solidFill>
                <a:sym typeface="Symbol" pitchFamily="18" charset="2"/>
              </a:rPr>
              <a:t>v</a:t>
            </a:r>
            <a:r>
              <a:rPr lang="en-US" sz="1800" b="1" dirty="0">
                <a:solidFill>
                  <a:schemeClr val="accent2"/>
                </a:solidFill>
                <a:sym typeface="Symbol" pitchFamily="18" charset="2"/>
              </a:rPr>
              <a:t> ,F</a:t>
            </a:r>
            <a:r>
              <a:rPr lang="en-US" sz="1800" dirty="0">
                <a:sym typeface="Symbol" pitchFamily="18" charset="2"/>
              </a:rPr>
              <a:t>) ;</a:t>
            </a:r>
          </a:p>
          <a:p>
            <a:pPr marL="914400" lvl="1" indent="-457200">
              <a:lnSpc>
                <a:spcPct val="95000"/>
              </a:lnSpc>
              <a:buFont typeface="Wingdings" pitchFamily="2" charset="2"/>
              <a:buAutoNum type="alphaLcPeriod"/>
              <a:defRPr/>
            </a:pPr>
            <a:r>
              <a:rPr lang="en-US" sz="1800" dirty="0">
                <a:sym typeface="Symbol" pitchFamily="18" charset="2"/>
              </a:rPr>
              <a:t>Add</a:t>
            </a:r>
            <a:r>
              <a:rPr lang="en-US" sz="1800" b="1" dirty="0">
                <a:sym typeface="Symbol" pitchFamily="18" charset="2"/>
              </a:rPr>
              <a:t> child </a:t>
            </a:r>
            <a:r>
              <a:rPr lang="en-US" sz="1800" dirty="0">
                <a:sym typeface="Symbol" pitchFamily="18" charset="2"/>
              </a:rPr>
              <a:t>as a descent of </a:t>
            </a:r>
            <a:r>
              <a:rPr lang="en-US" sz="1800" b="1" dirty="0">
                <a:sym typeface="Symbol" pitchFamily="18" charset="2"/>
              </a:rPr>
              <a:t>root </a:t>
            </a:r>
            <a:r>
              <a:rPr lang="en-US" sz="1800" dirty="0">
                <a:sym typeface="Symbol" pitchFamily="18" charset="2"/>
              </a:rPr>
              <a:t>and label the edge </a:t>
            </a:r>
            <a:r>
              <a:rPr lang="en-US" sz="1800" b="1" dirty="0">
                <a:sym typeface="Symbol" pitchFamily="18" charset="2"/>
              </a:rPr>
              <a:t>(</a:t>
            </a:r>
            <a:r>
              <a:rPr lang="en-US" sz="1800" b="1" dirty="0" err="1">
                <a:sym typeface="Symbol" pitchFamily="18" charset="2"/>
              </a:rPr>
              <a:t>root</a:t>
            </a:r>
            <a:r>
              <a:rPr lang="en-US" sz="1800" b="1" dirty="0" err="1">
                <a:sym typeface="Wingdings" pitchFamily="2" charset="2"/>
              </a:rPr>
              <a:t>child</a:t>
            </a:r>
            <a:r>
              <a:rPr lang="en-US" sz="1800" b="1" dirty="0">
                <a:sym typeface="Wingdings" pitchFamily="2" charset="2"/>
              </a:rPr>
              <a:t>) as </a:t>
            </a:r>
            <a:r>
              <a:rPr lang="en-US" sz="1800" b="1" dirty="0">
                <a:solidFill>
                  <a:schemeClr val="accent2"/>
                </a:solidFill>
                <a:sym typeface="Wingdings" pitchFamily="2" charset="2"/>
              </a:rPr>
              <a:t>v</a:t>
            </a:r>
            <a:r>
              <a:rPr lang="en-US" sz="1800" b="1" dirty="0">
                <a:sym typeface="Wingdings" pitchFamily="2" charset="2"/>
              </a:rPr>
              <a:t> </a:t>
            </a:r>
          </a:p>
          <a:p>
            <a:pPr marL="514350" indent="-457200">
              <a:lnSpc>
                <a:spcPct val="95000"/>
              </a:lnSpc>
              <a:buFont typeface="Wingdings" pitchFamily="2" charset="2"/>
              <a:buAutoNum type="arabicPeriod"/>
              <a:defRPr/>
            </a:pPr>
            <a:r>
              <a:rPr lang="en-US" sz="2200" b="1" dirty="0">
                <a:sym typeface="Wingdings" pitchFamily="2" charset="2"/>
              </a:rPr>
              <a:t>return root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562108371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Tree Induction</a:t>
            </a:r>
          </a:p>
        </p:txBody>
      </p:sp>
      <p:sp>
        <p:nvSpPr>
          <p:cNvPr id="907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Issues</a:t>
            </a:r>
          </a:p>
          <a:p>
            <a:pPr lvl="1"/>
            <a:r>
              <a:rPr lang="en-US" dirty="0"/>
              <a:t>How to </a:t>
            </a:r>
            <a:r>
              <a:rPr lang="en-US" b="1" dirty="0">
                <a:solidFill>
                  <a:srgbClr val="FF0000"/>
                </a:solidFill>
              </a:rPr>
              <a:t>Classify</a:t>
            </a:r>
            <a:r>
              <a:rPr lang="en-US" dirty="0"/>
              <a:t> a leaf node</a:t>
            </a:r>
          </a:p>
          <a:p>
            <a:pPr lvl="2"/>
            <a:r>
              <a:rPr lang="en-US" dirty="0"/>
              <a:t>Assign the </a:t>
            </a:r>
            <a:r>
              <a:rPr lang="en-US" dirty="0">
                <a:solidFill>
                  <a:srgbClr val="0070C0"/>
                </a:solidFill>
              </a:rPr>
              <a:t>majority class</a:t>
            </a:r>
          </a:p>
          <a:p>
            <a:pPr lvl="2"/>
            <a:r>
              <a:rPr lang="en-US" dirty="0"/>
              <a:t>If leaf is empty, assign the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default class </a:t>
            </a:r>
            <a:r>
              <a:rPr lang="en-US" dirty="0"/>
              <a:t>– the class that has the highest popularity (overall or in the parent node).</a:t>
            </a:r>
          </a:p>
          <a:p>
            <a:pPr lvl="1"/>
            <a:r>
              <a:rPr lang="en-US" dirty="0"/>
              <a:t>Determine how to split the records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How to specify the attribute test condition?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How to determine the best split?</a:t>
            </a:r>
          </a:p>
          <a:p>
            <a:pPr lvl="1"/>
            <a:r>
              <a:rPr lang="en-US" dirty="0"/>
              <a:t>Determine when to stop splitting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498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to Specify Test Condition?</a:t>
            </a:r>
          </a:p>
        </p:txBody>
      </p:sp>
      <p:sp>
        <p:nvSpPr>
          <p:cNvPr id="902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Depends on attribute types</a:t>
            </a:r>
          </a:p>
          <a:p>
            <a:pPr lvl="1"/>
            <a:r>
              <a:rPr lang="en-US"/>
              <a:t>Nominal</a:t>
            </a:r>
          </a:p>
          <a:p>
            <a:pPr lvl="1"/>
            <a:r>
              <a:rPr lang="en-US"/>
              <a:t>Ordinal</a:t>
            </a:r>
          </a:p>
          <a:p>
            <a:pPr lvl="1"/>
            <a:r>
              <a:rPr lang="en-US"/>
              <a:t>Continuous</a:t>
            </a:r>
          </a:p>
          <a:p>
            <a:pPr lvl="1"/>
            <a:endParaRPr lang="en-US"/>
          </a:p>
          <a:p>
            <a:r>
              <a:rPr lang="en-US"/>
              <a:t>Depends on number of ways to split</a:t>
            </a:r>
          </a:p>
          <a:p>
            <a:pPr lvl="1"/>
            <a:r>
              <a:rPr lang="en-US"/>
              <a:t>2-way split</a:t>
            </a:r>
          </a:p>
          <a:p>
            <a:pPr lvl="1"/>
            <a:r>
              <a:rPr lang="en-US"/>
              <a:t>Multi-way split</a:t>
            </a:r>
          </a:p>
        </p:txBody>
      </p:sp>
    </p:spTree>
    <p:extLst>
      <p:ext uri="{BB962C8B-B14F-4D97-AF65-F5344CB8AC3E}">
        <p14:creationId xmlns:p14="http://schemas.microsoft.com/office/powerpoint/2010/main" val="38801709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058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81000"/>
            <a:ext cx="8610600" cy="762000"/>
          </a:xfrm>
        </p:spPr>
        <p:txBody>
          <a:bodyPr>
            <a:normAutofit/>
          </a:bodyPr>
          <a:lstStyle/>
          <a:p>
            <a:r>
              <a:rPr lang="en-US" dirty="0"/>
              <a:t>Splitting Based on Nominal Attributes</a:t>
            </a:r>
          </a:p>
        </p:txBody>
      </p:sp>
      <p:sp>
        <p:nvSpPr>
          <p:cNvPr id="813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82000" cy="3733800"/>
          </a:xfrm>
        </p:spPr>
        <p:txBody>
          <a:bodyPr/>
          <a:lstStyle/>
          <a:p>
            <a:pPr marL="342900" indent="-342900"/>
            <a:r>
              <a:rPr lang="en-US" dirty="0">
                <a:solidFill>
                  <a:srgbClr val="FF0000"/>
                </a:solidFill>
              </a:rPr>
              <a:t>Multi-way split:</a:t>
            </a:r>
            <a:r>
              <a:rPr lang="en-US" dirty="0"/>
              <a:t> Use as many partitions as distinct values. </a:t>
            </a:r>
          </a:p>
          <a:p>
            <a:pPr marL="342900" indent="-342900"/>
            <a:endParaRPr lang="en-US" dirty="0"/>
          </a:p>
          <a:p>
            <a:pPr marL="342900" indent="-342900"/>
            <a:endParaRPr lang="en-US" dirty="0"/>
          </a:p>
          <a:p>
            <a:pPr marL="342900" indent="-342900"/>
            <a:endParaRPr lang="en-US" dirty="0"/>
          </a:p>
          <a:p>
            <a:pPr marL="342900" indent="-342900"/>
            <a:r>
              <a:rPr lang="en-US" dirty="0">
                <a:solidFill>
                  <a:srgbClr val="FF0000"/>
                </a:solidFill>
              </a:rPr>
              <a:t>Binary split:</a:t>
            </a:r>
            <a:r>
              <a:rPr lang="en-US" dirty="0"/>
              <a:t>  Divides values into two subsets. </a:t>
            </a:r>
            <a:br>
              <a:rPr lang="en-US" dirty="0"/>
            </a:br>
            <a:r>
              <a:rPr lang="en-US" dirty="0"/>
              <a:t>		      Need to find optimal partitioning.</a:t>
            </a:r>
            <a:endParaRPr lang="en-US" sz="3600" dirty="0"/>
          </a:p>
        </p:txBody>
      </p:sp>
      <p:grpSp>
        <p:nvGrpSpPr>
          <p:cNvPr id="813060" name="Group 4"/>
          <p:cNvGrpSpPr>
            <a:grpSpLocks/>
          </p:cNvGrpSpPr>
          <p:nvPr/>
        </p:nvGrpSpPr>
        <p:grpSpPr bwMode="auto">
          <a:xfrm>
            <a:off x="2895600" y="2394857"/>
            <a:ext cx="2546350" cy="946150"/>
            <a:chOff x="1824" y="1680"/>
            <a:chExt cx="1604" cy="596"/>
          </a:xfrm>
        </p:grpSpPr>
        <p:sp>
          <p:nvSpPr>
            <p:cNvPr id="813061" name="Oval 5"/>
            <p:cNvSpPr>
              <a:spLocks noChangeArrowheads="1"/>
            </p:cNvSpPr>
            <p:nvPr/>
          </p:nvSpPr>
          <p:spPr bwMode="auto">
            <a:xfrm>
              <a:off x="2352" y="1680"/>
              <a:ext cx="576" cy="2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800" b="0">
                  <a:latin typeface="Times New Roman" charset="0"/>
                </a:rPr>
                <a:t>CarType</a:t>
              </a:r>
              <a:endParaRPr lang="en-US" sz="2400" b="0">
                <a:latin typeface="Times New Roman" charset="0"/>
              </a:endParaRPr>
            </a:p>
          </p:txBody>
        </p:sp>
        <p:sp>
          <p:nvSpPr>
            <p:cNvPr id="813062" name="Line 6"/>
            <p:cNvSpPr>
              <a:spLocks noChangeShapeType="1"/>
            </p:cNvSpPr>
            <p:nvPr/>
          </p:nvSpPr>
          <p:spPr bwMode="auto">
            <a:xfrm flipH="1">
              <a:off x="2064" y="1968"/>
              <a:ext cx="57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3063" name="Line 7"/>
            <p:cNvSpPr>
              <a:spLocks noChangeShapeType="1"/>
            </p:cNvSpPr>
            <p:nvPr/>
          </p:nvSpPr>
          <p:spPr bwMode="auto">
            <a:xfrm>
              <a:off x="2640" y="196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3064" name="Line 8"/>
            <p:cNvSpPr>
              <a:spLocks noChangeShapeType="1"/>
            </p:cNvSpPr>
            <p:nvPr/>
          </p:nvSpPr>
          <p:spPr bwMode="auto">
            <a:xfrm>
              <a:off x="2640" y="1968"/>
              <a:ext cx="57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3065" name="Text Box 9"/>
            <p:cNvSpPr txBox="1">
              <a:spLocks noChangeArrowheads="1"/>
            </p:cNvSpPr>
            <p:nvPr/>
          </p:nvSpPr>
          <p:spPr bwMode="auto">
            <a:xfrm>
              <a:off x="1824" y="1872"/>
              <a:ext cx="4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 b="0" dirty="0"/>
                <a:t>Family</a:t>
              </a:r>
            </a:p>
          </p:txBody>
        </p:sp>
        <p:sp>
          <p:nvSpPr>
            <p:cNvPr id="813066" name="Text Box 10"/>
            <p:cNvSpPr txBox="1">
              <a:spLocks noChangeArrowheads="1"/>
            </p:cNvSpPr>
            <p:nvPr/>
          </p:nvSpPr>
          <p:spPr bwMode="auto">
            <a:xfrm>
              <a:off x="2208" y="2064"/>
              <a:ext cx="48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 b="0"/>
                <a:t>Sports</a:t>
              </a:r>
            </a:p>
          </p:txBody>
        </p:sp>
        <p:sp>
          <p:nvSpPr>
            <p:cNvPr id="813067" name="Text Box 11"/>
            <p:cNvSpPr txBox="1">
              <a:spLocks noChangeArrowheads="1"/>
            </p:cNvSpPr>
            <p:nvPr/>
          </p:nvSpPr>
          <p:spPr bwMode="auto">
            <a:xfrm>
              <a:off x="2928" y="1872"/>
              <a:ext cx="50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 b="0"/>
                <a:t>Luxury</a:t>
              </a:r>
            </a:p>
          </p:txBody>
        </p:sp>
      </p:grpSp>
      <p:grpSp>
        <p:nvGrpSpPr>
          <p:cNvPr id="813068" name="Group 12"/>
          <p:cNvGrpSpPr>
            <a:grpSpLocks/>
          </p:cNvGrpSpPr>
          <p:nvPr/>
        </p:nvGrpSpPr>
        <p:grpSpPr bwMode="auto">
          <a:xfrm>
            <a:off x="5649912" y="5268686"/>
            <a:ext cx="2752725" cy="914400"/>
            <a:chOff x="3552" y="3216"/>
            <a:chExt cx="1734" cy="576"/>
          </a:xfrm>
        </p:grpSpPr>
        <p:sp>
          <p:nvSpPr>
            <p:cNvPr id="813069" name="Oval 13"/>
            <p:cNvSpPr>
              <a:spLocks noChangeArrowheads="1"/>
            </p:cNvSpPr>
            <p:nvPr/>
          </p:nvSpPr>
          <p:spPr bwMode="auto">
            <a:xfrm>
              <a:off x="4186" y="3216"/>
              <a:ext cx="576" cy="2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800" b="0">
                  <a:latin typeface="Times New Roman" charset="0"/>
                </a:rPr>
                <a:t>CarType</a:t>
              </a:r>
              <a:endParaRPr lang="en-US" sz="2400" b="0">
                <a:latin typeface="Times New Roman" charset="0"/>
              </a:endParaRPr>
            </a:p>
          </p:txBody>
        </p:sp>
        <p:sp>
          <p:nvSpPr>
            <p:cNvPr id="813070" name="Line 14"/>
            <p:cNvSpPr>
              <a:spLocks noChangeShapeType="1"/>
            </p:cNvSpPr>
            <p:nvPr/>
          </p:nvSpPr>
          <p:spPr bwMode="auto">
            <a:xfrm flipH="1">
              <a:off x="3946" y="3504"/>
              <a:ext cx="52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3071" name="Line 15"/>
            <p:cNvSpPr>
              <a:spLocks noChangeShapeType="1"/>
            </p:cNvSpPr>
            <p:nvPr/>
          </p:nvSpPr>
          <p:spPr bwMode="auto">
            <a:xfrm>
              <a:off x="4474" y="3504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3072" name="Text Box 16"/>
            <p:cNvSpPr txBox="1">
              <a:spLocks noChangeArrowheads="1"/>
            </p:cNvSpPr>
            <p:nvPr/>
          </p:nvSpPr>
          <p:spPr bwMode="auto">
            <a:xfrm>
              <a:off x="3552" y="3360"/>
              <a:ext cx="607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 b="0" dirty="0"/>
                <a:t>{Family, </a:t>
              </a:r>
              <a:br>
                <a:rPr lang="en-US" sz="1600" b="0" dirty="0"/>
              </a:br>
              <a:r>
                <a:rPr lang="en-US" sz="1600" b="0" dirty="0"/>
                <a:t>Luxury}</a:t>
              </a:r>
            </a:p>
          </p:txBody>
        </p:sp>
        <p:sp>
          <p:nvSpPr>
            <p:cNvPr id="813073" name="Text Box 17"/>
            <p:cNvSpPr txBox="1">
              <a:spLocks noChangeArrowheads="1"/>
            </p:cNvSpPr>
            <p:nvPr/>
          </p:nvSpPr>
          <p:spPr bwMode="auto">
            <a:xfrm>
              <a:off x="4714" y="3456"/>
              <a:ext cx="5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 b="0"/>
                <a:t>{Sports}</a:t>
              </a:r>
            </a:p>
          </p:txBody>
        </p:sp>
      </p:grpSp>
      <p:grpSp>
        <p:nvGrpSpPr>
          <p:cNvPr id="813074" name="Group 18"/>
          <p:cNvGrpSpPr>
            <a:grpSpLocks/>
          </p:cNvGrpSpPr>
          <p:nvPr/>
        </p:nvGrpSpPr>
        <p:grpSpPr bwMode="auto">
          <a:xfrm>
            <a:off x="718457" y="5268686"/>
            <a:ext cx="2905125" cy="914400"/>
            <a:chOff x="768" y="3216"/>
            <a:chExt cx="1830" cy="576"/>
          </a:xfrm>
        </p:grpSpPr>
        <p:sp>
          <p:nvSpPr>
            <p:cNvPr id="813075" name="Oval 19"/>
            <p:cNvSpPr>
              <a:spLocks noChangeArrowheads="1"/>
            </p:cNvSpPr>
            <p:nvPr/>
          </p:nvSpPr>
          <p:spPr bwMode="auto">
            <a:xfrm>
              <a:off x="1494" y="3216"/>
              <a:ext cx="576" cy="2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800" b="0" dirty="0" err="1">
                  <a:latin typeface="Times New Roman" charset="0"/>
                </a:rPr>
                <a:t>CarType</a:t>
              </a:r>
              <a:endParaRPr lang="en-US" sz="2400" b="0" dirty="0">
                <a:latin typeface="Times New Roman" charset="0"/>
              </a:endParaRPr>
            </a:p>
          </p:txBody>
        </p:sp>
        <p:sp>
          <p:nvSpPr>
            <p:cNvPr id="813076" name="Line 20"/>
            <p:cNvSpPr>
              <a:spLocks noChangeShapeType="1"/>
            </p:cNvSpPr>
            <p:nvPr/>
          </p:nvSpPr>
          <p:spPr bwMode="auto">
            <a:xfrm flipH="1">
              <a:off x="1254" y="3504"/>
              <a:ext cx="52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3077" name="Line 21"/>
            <p:cNvSpPr>
              <a:spLocks noChangeShapeType="1"/>
            </p:cNvSpPr>
            <p:nvPr/>
          </p:nvSpPr>
          <p:spPr bwMode="auto">
            <a:xfrm>
              <a:off x="1782" y="3504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3078" name="Text Box 22"/>
            <p:cNvSpPr txBox="1">
              <a:spLocks noChangeArrowheads="1"/>
            </p:cNvSpPr>
            <p:nvPr/>
          </p:nvSpPr>
          <p:spPr bwMode="auto">
            <a:xfrm>
              <a:off x="768" y="3360"/>
              <a:ext cx="594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/>
              <a:r>
                <a:rPr lang="en-US" sz="1600" b="0"/>
                <a:t>{Sports, Luxury}</a:t>
              </a:r>
            </a:p>
          </p:txBody>
        </p:sp>
        <p:sp>
          <p:nvSpPr>
            <p:cNvPr id="813079" name="Text Box 23"/>
            <p:cNvSpPr txBox="1">
              <a:spLocks noChangeArrowheads="1"/>
            </p:cNvSpPr>
            <p:nvPr/>
          </p:nvSpPr>
          <p:spPr bwMode="auto">
            <a:xfrm>
              <a:off x="2020" y="3456"/>
              <a:ext cx="57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 b="0"/>
                <a:t>{Family}</a:t>
              </a:r>
            </a:p>
          </p:txBody>
        </p:sp>
      </p:grpSp>
      <p:sp>
        <p:nvSpPr>
          <p:cNvPr id="813080" name="Text Box 24"/>
          <p:cNvSpPr txBox="1">
            <a:spLocks noChangeArrowheads="1"/>
          </p:cNvSpPr>
          <p:nvPr/>
        </p:nvSpPr>
        <p:spPr bwMode="auto">
          <a:xfrm>
            <a:off x="4231821" y="5328557"/>
            <a:ext cx="608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2400" b="0" dirty="0">
                <a:latin typeface="Times New Roman" charset="0"/>
              </a:rPr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13833749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638" name="Rectangle 30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534400" cy="5257800"/>
          </a:xfrm>
          <a:noFill/>
          <a:ln/>
        </p:spPr>
        <p:txBody>
          <a:bodyPr>
            <a:normAutofit lnSpcReduction="10000"/>
          </a:bodyPr>
          <a:lstStyle/>
          <a:p>
            <a:pPr marL="342900" indent="-342900"/>
            <a:r>
              <a:rPr lang="en-US" dirty="0">
                <a:solidFill>
                  <a:srgbClr val="FF0000"/>
                </a:solidFill>
              </a:rPr>
              <a:t>Multi-way split:</a:t>
            </a:r>
            <a:r>
              <a:rPr lang="en-US" dirty="0"/>
              <a:t> Use as many partitions as distinct values. </a:t>
            </a:r>
          </a:p>
          <a:p>
            <a:pPr marL="342900" indent="-342900"/>
            <a:endParaRPr lang="en-US" dirty="0"/>
          </a:p>
          <a:p>
            <a:pPr marL="342900" indent="-342900"/>
            <a:endParaRPr lang="en-US" dirty="0"/>
          </a:p>
          <a:p>
            <a:pPr lvl="4"/>
            <a:endParaRPr lang="en-US" sz="1200" dirty="0">
              <a:solidFill>
                <a:srgbClr val="FF0000"/>
              </a:solidFill>
            </a:endParaRPr>
          </a:p>
          <a:p>
            <a:pPr marL="342900" indent="-342900"/>
            <a:r>
              <a:rPr lang="en-US" dirty="0">
                <a:solidFill>
                  <a:srgbClr val="FF0000"/>
                </a:solidFill>
              </a:rPr>
              <a:t>Binary split:</a:t>
            </a:r>
            <a:r>
              <a:rPr lang="en-US" dirty="0"/>
              <a:t>  Divides values into two subsets – </a:t>
            </a:r>
            <a:r>
              <a:rPr lang="en-US" dirty="0">
                <a:solidFill>
                  <a:srgbClr val="0070C0"/>
                </a:solidFill>
              </a:rPr>
              <a:t>respects the order</a:t>
            </a:r>
            <a:r>
              <a:rPr lang="en-US" dirty="0"/>
              <a:t>. Need to find optimal partitioning.</a:t>
            </a:r>
          </a:p>
          <a:p>
            <a:pPr marL="342900" indent="-342900"/>
            <a:endParaRPr lang="en-US" dirty="0"/>
          </a:p>
          <a:p>
            <a:pPr marL="342900" indent="-342900"/>
            <a:endParaRPr lang="en-US" dirty="0"/>
          </a:p>
          <a:p>
            <a:pPr marL="342900" indent="-342900"/>
            <a:endParaRPr lang="en-US" dirty="0"/>
          </a:p>
          <a:p>
            <a:pPr marL="342900" indent="-342900"/>
            <a:r>
              <a:rPr lang="en-US" dirty="0"/>
              <a:t>What about this split?</a:t>
            </a:r>
            <a:endParaRPr lang="en-US" sz="3600" dirty="0"/>
          </a:p>
        </p:txBody>
      </p:sp>
      <p:sp>
        <p:nvSpPr>
          <p:cNvPr id="836635" name="Rectangle 27"/>
          <p:cNvSpPr>
            <a:spLocks noGrp="1" noChangeArrowheads="1"/>
          </p:cNvSpPr>
          <p:nvPr>
            <p:ph type="title"/>
          </p:nvPr>
        </p:nvSpPr>
        <p:spPr>
          <a:xfrm>
            <a:off x="456406" y="457200"/>
            <a:ext cx="8229600" cy="990600"/>
          </a:xfrm>
        </p:spPr>
        <p:txBody>
          <a:bodyPr/>
          <a:lstStyle/>
          <a:p>
            <a:r>
              <a:rPr lang="en-US" dirty="0"/>
              <a:t>Splitting Based on Ordinal Attributes</a:t>
            </a:r>
          </a:p>
        </p:txBody>
      </p:sp>
      <p:grpSp>
        <p:nvGrpSpPr>
          <p:cNvPr id="836634" name="Group 26"/>
          <p:cNvGrpSpPr>
            <a:grpSpLocks/>
          </p:cNvGrpSpPr>
          <p:nvPr/>
        </p:nvGrpSpPr>
        <p:grpSpPr bwMode="auto">
          <a:xfrm>
            <a:off x="2971800" y="2362200"/>
            <a:ext cx="2457450" cy="946150"/>
            <a:chOff x="1853" y="1248"/>
            <a:chExt cx="1548" cy="596"/>
          </a:xfrm>
        </p:grpSpPr>
        <p:sp>
          <p:nvSpPr>
            <p:cNvPr id="836613" name="Oval 5"/>
            <p:cNvSpPr>
              <a:spLocks noChangeArrowheads="1"/>
            </p:cNvSpPr>
            <p:nvPr/>
          </p:nvSpPr>
          <p:spPr bwMode="auto">
            <a:xfrm>
              <a:off x="2352" y="1248"/>
              <a:ext cx="576" cy="2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800" b="0">
                  <a:latin typeface="Times New Roman" charset="0"/>
                </a:rPr>
                <a:t>Size</a:t>
              </a:r>
              <a:endParaRPr lang="en-US" sz="2400" b="0">
                <a:latin typeface="Times New Roman" charset="0"/>
              </a:endParaRPr>
            </a:p>
          </p:txBody>
        </p:sp>
        <p:sp>
          <p:nvSpPr>
            <p:cNvPr id="836614" name="Line 6"/>
            <p:cNvSpPr>
              <a:spLocks noChangeShapeType="1"/>
            </p:cNvSpPr>
            <p:nvPr/>
          </p:nvSpPr>
          <p:spPr bwMode="auto">
            <a:xfrm flipH="1">
              <a:off x="2064" y="1536"/>
              <a:ext cx="57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15" name="Line 7"/>
            <p:cNvSpPr>
              <a:spLocks noChangeShapeType="1"/>
            </p:cNvSpPr>
            <p:nvPr/>
          </p:nvSpPr>
          <p:spPr bwMode="auto">
            <a:xfrm>
              <a:off x="2640" y="153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16" name="Line 8"/>
            <p:cNvSpPr>
              <a:spLocks noChangeShapeType="1"/>
            </p:cNvSpPr>
            <p:nvPr/>
          </p:nvSpPr>
          <p:spPr bwMode="auto">
            <a:xfrm>
              <a:off x="2640" y="1536"/>
              <a:ext cx="57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17" name="Text Box 9"/>
            <p:cNvSpPr txBox="1">
              <a:spLocks noChangeArrowheads="1"/>
            </p:cNvSpPr>
            <p:nvPr/>
          </p:nvSpPr>
          <p:spPr bwMode="auto">
            <a:xfrm>
              <a:off x="1853" y="1440"/>
              <a:ext cx="43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 b="0"/>
                <a:t>Small</a:t>
              </a:r>
            </a:p>
          </p:txBody>
        </p:sp>
        <p:sp>
          <p:nvSpPr>
            <p:cNvPr id="836618" name="Text Box 10"/>
            <p:cNvSpPr txBox="1">
              <a:spLocks noChangeArrowheads="1"/>
            </p:cNvSpPr>
            <p:nvPr/>
          </p:nvSpPr>
          <p:spPr bwMode="auto">
            <a:xfrm>
              <a:off x="2167" y="1632"/>
              <a:ext cx="57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 b="0"/>
                <a:t>Medium</a:t>
              </a:r>
            </a:p>
          </p:txBody>
        </p:sp>
        <p:sp>
          <p:nvSpPr>
            <p:cNvPr id="836619" name="Text Box 11"/>
            <p:cNvSpPr txBox="1">
              <a:spLocks noChangeArrowheads="1"/>
            </p:cNvSpPr>
            <p:nvPr/>
          </p:nvSpPr>
          <p:spPr bwMode="auto">
            <a:xfrm>
              <a:off x="2958" y="1440"/>
              <a:ext cx="44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 b="0"/>
                <a:t>Large</a:t>
              </a:r>
            </a:p>
          </p:txBody>
        </p:sp>
      </p:grpSp>
      <p:grpSp>
        <p:nvGrpSpPr>
          <p:cNvPr id="836620" name="Group 12"/>
          <p:cNvGrpSpPr>
            <a:grpSpLocks/>
          </p:cNvGrpSpPr>
          <p:nvPr/>
        </p:nvGrpSpPr>
        <p:grpSpPr bwMode="auto">
          <a:xfrm>
            <a:off x="5562600" y="4572000"/>
            <a:ext cx="2774950" cy="914400"/>
            <a:chOff x="3513" y="3216"/>
            <a:chExt cx="1748" cy="576"/>
          </a:xfrm>
        </p:grpSpPr>
        <p:sp>
          <p:nvSpPr>
            <p:cNvPr id="836621" name="Oval 13"/>
            <p:cNvSpPr>
              <a:spLocks noChangeArrowheads="1"/>
            </p:cNvSpPr>
            <p:nvPr/>
          </p:nvSpPr>
          <p:spPr bwMode="auto">
            <a:xfrm>
              <a:off x="4186" y="3216"/>
              <a:ext cx="576" cy="2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800" b="0">
                  <a:latin typeface="Times New Roman" charset="0"/>
                </a:rPr>
                <a:t>Size</a:t>
              </a:r>
              <a:endParaRPr lang="en-US" sz="2400" b="0">
                <a:latin typeface="Times New Roman" charset="0"/>
              </a:endParaRPr>
            </a:p>
          </p:txBody>
        </p:sp>
        <p:sp>
          <p:nvSpPr>
            <p:cNvPr id="836622" name="Line 14"/>
            <p:cNvSpPr>
              <a:spLocks noChangeShapeType="1"/>
            </p:cNvSpPr>
            <p:nvPr/>
          </p:nvSpPr>
          <p:spPr bwMode="auto">
            <a:xfrm flipH="1">
              <a:off x="3946" y="3504"/>
              <a:ext cx="52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23" name="Line 15"/>
            <p:cNvSpPr>
              <a:spLocks noChangeShapeType="1"/>
            </p:cNvSpPr>
            <p:nvPr/>
          </p:nvSpPr>
          <p:spPr bwMode="auto">
            <a:xfrm>
              <a:off x="4474" y="3504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24" name="Text Box 16"/>
            <p:cNvSpPr txBox="1">
              <a:spLocks noChangeArrowheads="1"/>
            </p:cNvSpPr>
            <p:nvPr/>
          </p:nvSpPr>
          <p:spPr bwMode="auto">
            <a:xfrm>
              <a:off x="3513" y="3360"/>
              <a:ext cx="686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 b="0"/>
                <a:t>{Medium, </a:t>
              </a:r>
              <a:br>
                <a:rPr lang="en-US" sz="1600" b="0"/>
              </a:br>
              <a:r>
                <a:rPr lang="en-US" sz="1600" b="0"/>
                <a:t>Large}</a:t>
              </a:r>
            </a:p>
          </p:txBody>
        </p:sp>
        <p:sp>
          <p:nvSpPr>
            <p:cNvPr id="836625" name="Text Box 17"/>
            <p:cNvSpPr txBox="1">
              <a:spLocks noChangeArrowheads="1"/>
            </p:cNvSpPr>
            <p:nvPr/>
          </p:nvSpPr>
          <p:spPr bwMode="auto">
            <a:xfrm>
              <a:off x="4740" y="3456"/>
              <a:ext cx="52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 b="0"/>
                <a:t>{Small}</a:t>
              </a:r>
            </a:p>
          </p:txBody>
        </p:sp>
      </p:grpSp>
      <p:grpSp>
        <p:nvGrpSpPr>
          <p:cNvPr id="836626" name="Group 18"/>
          <p:cNvGrpSpPr>
            <a:grpSpLocks/>
          </p:cNvGrpSpPr>
          <p:nvPr/>
        </p:nvGrpSpPr>
        <p:grpSpPr bwMode="auto">
          <a:xfrm>
            <a:off x="762000" y="4572000"/>
            <a:ext cx="2997200" cy="914400"/>
            <a:chOff x="768" y="3216"/>
            <a:chExt cx="1794" cy="576"/>
          </a:xfrm>
        </p:grpSpPr>
        <p:sp>
          <p:nvSpPr>
            <p:cNvPr id="836627" name="Oval 19"/>
            <p:cNvSpPr>
              <a:spLocks noChangeArrowheads="1"/>
            </p:cNvSpPr>
            <p:nvPr/>
          </p:nvSpPr>
          <p:spPr bwMode="auto">
            <a:xfrm>
              <a:off x="1494" y="3216"/>
              <a:ext cx="576" cy="2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800" b="0">
                  <a:latin typeface="Times New Roman" charset="0"/>
                </a:rPr>
                <a:t>Size</a:t>
              </a:r>
              <a:endParaRPr lang="en-US" sz="2400" b="0">
                <a:latin typeface="Times New Roman" charset="0"/>
              </a:endParaRPr>
            </a:p>
          </p:txBody>
        </p:sp>
        <p:sp>
          <p:nvSpPr>
            <p:cNvPr id="836628" name="Line 20"/>
            <p:cNvSpPr>
              <a:spLocks noChangeShapeType="1"/>
            </p:cNvSpPr>
            <p:nvPr/>
          </p:nvSpPr>
          <p:spPr bwMode="auto">
            <a:xfrm flipH="1">
              <a:off x="1254" y="3504"/>
              <a:ext cx="52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29" name="Line 21"/>
            <p:cNvSpPr>
              <a:spLocks noChangeShapeType="1"/>
            </p:cNvSpPr>
            <p:nvPr/>
          </p:nvSpPr>
          <p:spPr bwMode="auto">
            <a:xfrm>
              <a:off x="1782" y="3504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30" name="Text Box 22"/>
            <p:cNvSpPr txBox="1">
              <a:spLocks noChangeArrowheads="1"/>
            </p:cNvSpPr>
            <p:nvPr/>
          </p:nvSpPr>
          <p:spPr bwMode="auto">
            <a:xfrm>
              <a:off x="768" y="3360"/>
              <a:ext cx="594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/>
              <a:r>
                <a:rPr lang="en-US" sz="1600" b="0"/>
                <a:t>{Small, Medium}</a:t>
              </a:r>
            </a:p>
          </p:txBody>
        </p:sp>
        <p:sp>
          <p:nvSpPr>
            <p:cNvPr id="836631" name="Text Box 23"/>
            <p:cNvSpPr txBox="1">
              <a:spLocks noChangeArrowheads="1"/>
            </p:cNvSpPr>
            <p:nvPr/>
          </p:nvSpPr>
          <p:spPr bwMode="auto">
            <a:xfrm>
              <a:off x="2059" y="3456"/>
              <a:ext cx="50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 b="0"/>
                <a:t>{Large}</a:t>
              </a:r>
            </a:p>
          </p:txBody>
        </p:sp>
      </p:grpSp>
      <p:sp>
        <p:nvSpPr>
          <p:cNvPr id="836632" name="Text Box 24"/>
          <p:cNvSpPr txBox="1">
            <a:spLocks noChangeArrowheads="1"/>
          </p:cNvSpPr>
          <p:nvPr/>
        </p:nvSpPr>
        <p:spPr bwMode="auto">
          <a:xfrm>
            <a:off x="4267200" y="4724400"/>
            <a:ext cx="608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2400" b="0">
                <a:latin typeface="Times New Roman" charset="0"/>
              </a:rPr>
              <a:t>OR</a:t>
            </a:r>
          </a:p>
        </p:txBody>
      </p:sp>
      <p:grpSp>
        <p:nvGrpSpPr>
          <p:cNvPr id="836639" name="Group 31"/>
          <p:cNvGrpSpPr>
            <a:grpSpLocks/>
          </p:cNvGrpSpPr>
          <p:nvPr/>
        </p:nvGrpSpPr>
        <p:grpSpPr bwMode="auto">
          <a:xfrm>
            <a:off x="4289425" y="5791200"/>
            <a:ext cx="3101975" cy="914400"/>
            <a:chOff x="768" y="3216"/>
            <a:chExt cx="1856" cy="576"/>
          </a:xfrm>
        </p:grpSpPr>
        <p:sp>
          <p:nvSpPr>
            <p:cNvPr id="836640" name="Oval 32"/>
            <p:cNvSpPr>
              <a:spLocks noChangeArrowheads="1"/>
            </p:cNvSpPr>
            <p:nvPr/>
          </p:nvSpPr>
          <p:spPr bwMode="auto">
            <a:xfrm>
              <a:off x="1494" y="3216"/>
              <a:ext cx="576" cy="2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800" b="0">
                  <a:latin typeface="Times New Roman" charset="0"/>
                </a:rPr>
                <a:t>Size</a:t>
              </a:r>
              <a:endParaRPr lang="en-US" sz="2400" b="0">
                <a:latin typeface="Times New Roman" charset="0"/>
              </a:endParaRPr>
            </a:p>
          </p:txBody>
        </p:sp>
        <p:sp>
          <p:nvSpPr>
            <p:cNvPr id="836641" name="Line 33"/>
            <p:cNvSpPr>
              <a:spLocks noChangeShapeType="1"/>
            </p:cNvSpPr>
            <p:nvPr/>
          </p:nvSpPr>
          <p:spPr bwMode="auto">
            <a:xfrm flipH="1">
              <a:off x="1254" y="3504"/>
              <a:ext cx="52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42" name="Line 34"/>
            <p:cNvSpPr>
              <a:spLocks noChangeShapeType="1"/>
            </p:cNvSpPr>
            <p:nvPr/>
          </p:nvSpPr>
          <p:spPr bwMode="auto">
            <a:xfrm>
              <a:off x="1782" y="3504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43" name="Text Box 35"/>
            <p:cNvSpPr txBox="1">
              <a:spLocks noChangeArrowheads="1"/>
            </p:cNvSpPr>
            <p:nvPr/>
          </p:nvSpPr>
          <p:spPr bwMode="auto">
            <a:xfrm>
              <a:off x="768" y="3360"/>
              <a:ext cx="594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/>
              <a:r>
                <a:rPr lang="en-US" sz="1600" b="0"/>
                <a:t>{Small, Large}</a:t>
              </a:r>
            </a:p>
          </p:txBody>
        </p:sp>
        <p:sp>
          <p:nvSpPr>
            <p:cNvPr id="836644" name="Text Box 36"/>
            <p:cNvSpPr txBox="1">
              <a:spLocks noChangeArrowheads="1"/>
            </p:cNvSpPr>
            <p:nvPr/>
          </p:nvSpPr>
          <p:spPr bwMode="auto">
            <a:xfrm>
              <a:off x="2000" y="3456"/>
              <a:ext cx="6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 b="0"/>
                <a:t>{Medium}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167506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084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8534400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Splitting Based on Continuous Attributes</a:t>
            </a:r>
          </a:p>
        </p:txBody>
      </p:sp>
      <p:sp>
        <p:nvSpPr>
          <p:cNvPr id="81408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 ways of handling</a:t>
            </a:r>
          </a:p>
          <a:p>
            <a:pPr lvl="1"/>
            <a:r>
              <a:rPr lang="en-US" dirty="0">
                <a:solidFill>
                  <a:srgbClr val="CC3300"/>
                </a:solidFill>
              </a:rPr>
              <a:t>Discretization</a:t>
            </a:r>
            <a:r>
              <a:rPr lang="en-US" dirty="0"/>
              <a:t> to form an </a:t>
            </a:r>
            <a:r>
              <a:rPr lang="en-US" dirty="0">
                <a:solidFill>
                  <a:srgbClr val="0070C0"/>
                </a:solidFill>
              </a:rPr>
              <a:t>ordinal</a:t>
            </a:r>
            <a:r>
              <a:rPr lang="en-US" dirty="0"/>
              <a:t> categorical attribute</a:t>
            </a:r>
          </a:p>
          <a:p>
            <a:pPr lvl="2"/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Static</a:t>
            </a:r>
            <a:r>
              <a:rPr lang="en-US" dirty="0"/>
              <a:t> – discretize once at the beginning</a:t>
            </a:r>
          </a:p>
          <a:p>
            <a:pPr lvl="2"/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Dynamic</a:t>
            </a:r>
            <a:r>
              <a:rPr lang="en-US" dirty="0"/>
              <a:t> – ranges can be found by equal interval 	bucketing, equal frequency bucketing (percentiles), or clustering.</a:t>
            </a:r>
          </a:p>
          <a:p>
            <a:pPr lvl="4"/>
            <a:endParaRPr lang="en-US" dirty="0">
              <a:solidFill>
                <a:srgbClr val="CC3300"/>
              </a:solidFill>
            </a:endParaRPr>
          </a:p>
          <a:p>
            <a:pPr lvl="1"/>
            <a:r>
              <a:rPr lang="en-US" dirty="0">
                <a:solidFill>
                  <a:srgbClr val="CC3300"/>
                </a:solidFill>
              </a:rPr>
              <a:t>Binary Decision</a:t>
            </a:r>
            <a:r>
              <a:rPr lang="en-US" dirty="0"/>
              <a:t>: (</a:t>
            </a:r>
            <a:r>
              <a:rPr lang="en-US" dirty="0">
                <a:solidFill>
                  <a:srgbClr val="0070C0"/>
                </a:solidFill>
              </a:rPr>
              <a:t>A &lt; v</a:t>
            </a:r>
            <a:r>
              <a:rPr lang="en-US" dirty="0"/>
              <a:t>) or (</a:t>
            </a:r>
            <a:r>
              <a:rPr lang="en-US" dirty="0">
                <a:solidFill>
                  <a:srgbClr val="0070C0"/>
                </a:solidFill>
              </a:rPr>
              <a:t>A </a:t>
            </a:r>
            <a:r>
              <a:rPr lang="en-US" dirty="0">
                <a:solidFill>
                  <a:srgbClr val="0070C0"/>
                </a:solidFill>
                <a:sym typeface="Symbol" pitchFamily="18" charset="2"/>
              </a:rPr>
              <a:t> v</a:t>
            </a:r>
            <a:r>
              <a:rPr lang="en-US" dirty="0">
                <a:sym typeface="Symbol" pitchFamily="18" charset="2"/>
              </a:rPr>
              <a:t>)</a:t>
            </a:r>
            <a:endParaRPr lang="en-US" dirty="0"/>
          </a:p>
          <a:p>
            <a:pPr lvl="2"/>
            <a:r>
              <a:rPr lang="en-US" dirty="0"/>
              <a:t> consider all possible splits and finds the best cut</a:t>
            </a:r>
          </a:p>
          <a:p>
            <a:pPr lvl="2"/>
            <a:r>
              <a:rPr lang="en-US" dirty="0"/>
              <a:t> can be more computationally intensive</a:t>
            </a:r>
          </a:p>
        </p:txBody>
      </p:sp>
    </p:spTree>
    <p:extLst>
      <p:ext uri="{BB962C8B-B14F-4D97-AF65-F5344CB8AC3E}">
        <p14:creationId xmlns:p14="http://schemas.microsoft.com/office/powerpoint/2010/main" val="27684532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5344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Splitting Based on Continuous Attributes</a:t>
            </a:r>
          </a:p>
        </p:txBody>
      </p:sp>
      <p:graphicFrame>
        <p:nvGraphicFramePr>
          <p:cNvPr id="903172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8761298"/>
              </p:ext>
            </p:extLst>
          </p:nvPr>
        </p:nvGraphicFramePr>
        <p:xfrm>
          <a:off x="738188" y="2051050"/>
          <a:ext cx="7608887" cy="328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8" name="Visio" r:id="rId3" imgW="8538667" imgH="3684287" progId="Visio.Drawing.6">
                  <p:embed/>
                </p:oleObj>
              </mc:Choice>
              <mc:Fallback>
                <p:oleObj name="Visio" r:id="rId3" imgW="8538667" imgH="3684287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188" y="2051050"/>
                        <a:ext cx="7608887" cy="328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004062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29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to determine the Best Split</a:t>
            </a:r>
          </a:p>
        </p:txBody>
      </p:sp>
      <p:graphicFrame>
        <p:nvGraphicFramePr>
          <p:cNvPr id="908293" name="Object 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7895831"/>
              </p:ext>
            </p:extLst>
          </p:nvPr>
        </p:nvGraphicFramePr>
        <p:xfrm>
          <a:off x="381000" y="2794000"/>
          <a:ext cx="8545513" cy="200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2" name="Visio" r:id="rId3" imgW="9538614" imgH="2239584" progId="Visio.Drawing.6">
                  <p:embed/>
                </p:oleObj>
              </mc:Choice>
              <mc:Fallback>
                <p:oleObj name="Visio" r:id="rId3" imgW="9538614" imgH="2239584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794000"/>
                        <a:ext cx="8545513" cy="200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8296" name="Text Box 8"/>
          <p:cNvSpPr txBox="1">
            <a:spLocks noChangeArrowheads="1"/>
          </p:cNvSpPr>
          <p:nvPr/>
        </p:nvSpPr>
        <p:spPr bwMode="auto">
          <a:xfrm>
            <a:off x="2286000" y="1752600"/>
            <a:ext cx="5105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Before Splitting: 10 records of class 0,</a:t>
            </a:r>
            <a:br>
              <a:rPr lang="en-US" sz="1800"/>
            </a:br>
            <a:r>
              <a:rPr lang="en-US" sz="1800"/>
              <a:t>		10 records of class 1</a:t>
            </a:r>
          </a:p>
        </p:txBody>
      </p:sp>
      <p:sp>
        <p:nvSpPr>
          <p:cNvPr id="908297" name="Text Box 9"/>
          <p:cNvSpPr txBox="1">
            <a:spLocks noChangeArrowheads="1"/>
          </p:cNvSpPr>
          <p:nvPr/>
        </p:nvSpPr>
        <p:spPr bwMode="auto">
          <a:xfrm>
            <a:off x="1981200" y="5119688"/>
            <a:ext cx="5105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Which test condition is the best?</a:t>
            </a:r>
          </a:p>
        </p:txBody>
      </p:sp>
    </p:spTree>
    <p:extLst>
      <p:ext uri="{BB962C8B-B14F-4D97-AF65-F5344CB8AC3E}">
        <p14:creationId xmlns:p14="http://schemas.microsoft.com/office/powerpoint/2010/main" val="3025139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to determine the Best Split</a:t>
            </a:r>
          </a:p>
        </p:txBody>
      </p:sp>
      <p:sp>
        <p:nvSpPr>
          <p:cNvPr id="912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Greedy</a:t>
            </a:r>
            <a:r>
              <a:rPr lang="en-US" dirty="0"/>
              <a:t> approach: </a:t>
            </a:r>
          </a:p>
          <a:p>
            <a:pPr lvl="1"/>
            <a:r>
              <a:rPr lang="en-US" dirty="0"/>
              <a:t>Creation of nodes with </a:t>
            </a:r>
            <a:r>
              <a:rPr lang="en-US" dirty="0">
                <a:solidFill>
                  <a:srgbClr val="0070C0"/>
                </a:solidFill>
              </a:rPr>
              <a:t>homogeneous </a:t>
            </a:r>
            <a:r>
              <a:rPr lang="en-US" dirty="0"/>
              <a:t>class distribution is preferred</a:t>
            </a:r>
          </a:p>
          <a:p>
            <a:r>
              <a:rPr lang="en-US" dirty="0"/>
              <a:t>Need a measure of node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impurity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Ideas?</a:t>
            </a:r>
          </a:p>
          <a:p>
            <a:pPr lvl="1">
              <a:buFont typeface="Arial" charset="0"/>
              <a:buNone/>
            </a:pPr>
            <a:endParaRPr lang="en-US" dirty="0"/>
          </a:p>
        </p:txBody>
      </p:sp>
      <p:graphicFrame>
        <p:nvGraphicFramePr>
          <p:cNvPr id="912390" name="Object 6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215445578"/>
              </p:ext>
            </p:extLst>
          </p:nvPr>
        </p:nvGraphicFramePr>
        <p:xfrm>
          <a:off x="2209800" y="3581400"/>
          <a:ext cx="912813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6" name="Visio" r:id="rId3" imgW="655371" imgH="585812" progId="Visio.Drawing.6">
                  <p:embed/>
                </p:oleObj>
              </mc:Choice>
              <mc:Fallback>
                <p:oleObj name="Visio" r:id="rId3" imgW="655371" imgH="58581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581400"/>
                        <a:ext cx="912813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2394" name="Object 10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580997602"/>
              </p:ext>
            </p:extLst>
          </p:nvPr>
        </p:nvGraphicFramePr>
        <p:xfrm>
          <a:off x="5715000" y="3581400"/>
          <a:ext cx="912813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7" name="Visio" r:id="rId5" imgW="655371" imgH="585812" progId="Visio.Drawing.6">
                  <p:embed/>
                </p:oleObj>
              </mc:Choice>
              <mc:Fallback>
                <p:oleObj name="Visio" r:id="rId5" imgW="655371" imgH="58581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3581400"/>
                        <a:ext cx="912813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2396" name="Text Box 12"/>
          <p:cNvSpPr txBox="1">
            <a:spLocks noChangeArrowheads="1"/>
          </p:cNvSpPr>
          <p:nvPr/>
        </p:nvSpPr>
        <p:spPr bwMode="auto">
          <a:xfrm>
            <a:off x="1371600" y="4572000"/>
            <a:ext cx="2819400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Non-homogeneous,</a:t>
            </a:r>
          </a:p>
          <a:p>
            <a:pPr>
              <a:spcBef>
                <a:spcPct val="50000"/>
              </a:spcBef>
            </a:pPr>
            <a:r>
              <a:rPr lang="en-US" sz="1800"/>
              <a:t>High degree of impurity</a:t>
            </a:r>
          </a:p>
        </p:txBody>
      </p:sp>
      <p:sp>
        <p:nvSpPr>
          <p:cNvPr id="912397" name="Text Box 13"/>
          <p:cNvSpPr txBox="1">
            <a:spLocks noChangeArrowheads="1"/>
          </p:cNvSpPr>
          <p:nvPr/>
        </p:nvSpPr>
        <p:spPr bwMode="auto">
          <a:xfrm>
            <a:off x="5181600" y="4572000"/>
            <a:ext cx="2819400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Homogeneous,</a:t>
            </a:r>
          </a:p>
          <a:p>
            <a:pPr>
              <a:spcBef>
                <a:spcPct val="50000"/>
              </a:spcBef>
            </a:pPr>
            <a:r>
              <a:rPr lang="en-US" sz="1800"/>
              <a:t>Low degree of impurity</a:t>
            </a:r>
          </a:p>
        </p:txBody>
      </p:sp>
    </p:spTree>
    <p:extLst>
      <p:ext uri="{BB962C8B-B14F-4D97-AF65-F5344CB8AC3E}">
        <p14:creationId xmlns:p14="http://schemas.microsoft.com/office/powerpoint/2010/main" val="2759080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Node Impurity</a:t>
            </a:r>
          </a:p>
        </p:txBody>
      </p:sp>
      <p:sp>
        <p:nvSpPr>
          <p:cNvPr id="3078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p(</a:t>
            </a:r>
            <a:r>
              <a:rPr lang="en-US" dirty="0" err="1">
                <a:solidFill>
                  <a:srgbClr val="0070C0"/>
                </a:solidFill>
              </a:rPr>
              <a:t>i|t</a:t>
            </a:r>
            <a:r>
              <a:rPr lang="en-US" dirty="0">
                <a:solidFill>
                  <a:srgbClr val="0070C0"/>
                </a:solidFill>
              </a:rPr>
              <a:t>)</a:t>
            </a:r>
            <a:r>
              <a:rPr lang="en-US" dirty="0"/>
              <a:t>: fraction of records associated with node </a:t>
            </a:r>
            <a:r>
              <a:rPr lang="en-US" b="1" dirty="0">
                <a:solidFill>
                  <a:schemeClr val="accent2"/>
                </a:solidFill>
              </a:rPr>
              <a:t>t</a:t>
            </a:r>
            <a:r>
              <a:rPr lang="en-US" dirty="0"/>
              <a:t> belonging to class </a:t>
            </a:r>
            <a:r>
              <a:rPr lang="en-US" b="1" dirty="0" err="1">
                <a:solidFill>
                  <a:schemeClr val="accent2"/>
                </a:solidFill>
              </a:rPr>
              <a:t>i</a:t>
            </a:r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pPr lvl="1"/>
            <a:r>
              <a:rPr lang="en-US" dirty="0"/>
              <a:t>Used in ID3 and </a:t>
            </a:r>
            <a:r>
              <a:rPr lang="en-US" dirty="0" err="1"/>
              <a:t>C4.5</a:t>
            </a:r>
            <a:endParaRPr lang="en-US" dirty="0"/>
          </a:p>
          <a:p>
            <a:endParaRPr lang="en-US" b="1" dirty="0">
              <a:solidFill>
                <a:schemeClr val="accent2"/>
              </a:solidFill>
            </a:endParaRPr>
          </a:p>
          <a:p>
            <a:pPr lvl="1"/>
            <a:endParaRPr lang="en-US" dirty="0"/>
          </a:p>
          <a:p>
            <a:pPr lvl="1"/>
            <a:r>
              <a:rPr lang="en-US" dirty="0"/>
              <a:t>Used in CART, SLIQ, SPRINT.</a:t>
            </a:r>
          </a:p>
          <a:p>
            <a:endParaRPr lang="en-US" b="1" dirty="0">
              <a:solidFill>
                <a:schemeClr val="accent2"/>
              </a:solidFill>
            </a:endParaRPr>
          </a:p>
        </p:txBody>
      </p:sp>
      <p:graphicFrame>
        <p:nvGraphicFramePr>
          <p:cNvPr id="30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7794549"/>
              </p:ext>
            </p:extLst>
          </p:nvPr>
        </p:nvGraphicFramePr>
        <p:xfrm>
          <a:off x="533400" y="2590800"/>
          <a:ext cx="47244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63" name="Εξίσωση" r:id="rId4" imgW="2108160" imgH="431640" progId="Equation.3">
                  <p:embed/>
                </p:oleObj>
              </mc:Choice>
              <mc:Fallback>
                <p:oleObj name="Εξίσωση" r:id="rId4" imgW="21081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590800"/>
                        <a:ext cx="4724400" cy="977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6067465"/>
              </p:ext>
            </p:extLst>
          </p:nvPr>
        </p:nvGraphicFramePr>
        <p:xfrm>
          <a:off x="533400" y="3962400"/>
          <a:ext cx="34290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64" name="Equation" r:id="rId6" imgW="1511280" imgH="431640" progId="Equation.3">
                  <p:embed/>
                </p:oleObj>
              </mc:Choice>
              <mc:Fallback>
                <p:oleObj name="Equation" r:id="rId6" imgW="15112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962400"/>
                        <a:ext cx="3429000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5735090"/>
              </p:ext>
            </p:extLst>
          </p:nvPr>
        </p:nvGraphicFramePr>
        <p:xfrm>
          <a:off x="519113" y="5638800"/>
          <a:ext cx="5819775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65" name="Equation" r:id="rId8" imgW="2489040" imgH="228600" progId="Equation.3">
                  <p:embed/>
                </p:oleObj>
              </mc:Choice>
              <mc:Fallback>
                <p:oleObj name="Equation" r:id="rId8" imgW="24890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113" y="5638800"/>
                        <a:ext cx="5819775" cy="53181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98606887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Gain</a:t>
            </a:r>
          </a:p>
        </p:txBody>
      </p:sp>
      <p:sp>
        <p:nvSpPr>
          <p:cNvPr id="4100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lnSpcReduction="10000"/>
          </a:bodyPr>
          <a:lstStyle/>
          <a:p>
            <a:r>
              <a:rPr lang="en-US" sz="2800" b="1" i="1" dirty="0">
                <a:solidFill>
                  <a:schemeClr val="accent6">
                    <a:lumMod val="75000"/>
                  </a:schemeClr>
                </a:solidFill>
              </a:rPr>
              <a:t>Gain</a:t>
            </a:r>
            <a:r>
              <a:rPr lang="en-US" sz="2800" b="1" i="1" dirty="0"/>
              <a:t> of an attribute split: </a:t>
            </a:r>
            <a:r>
              <a:rPr lang="en-US" sz="2800" dirty="0"/>
              <a:t>compare the impurity of the parent node with the average impurity of the child nodes 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Maximizing</a:t>
            </a:r>
            <a:r>
              <a:rPr lang="en-US" sz="2800" dirty="0"/>
              <a:t> the </a:t>
            </a:r>
            <a:r>
              <a:rPr lang="en-US" sz="2800" dirty="0">
                <a:solidFill>
                  <a:srgbClr val="0070C0"/>
                </a:solidFill>
              </a:rPr>
              <a:t>gain</a:t>
            </a:r>
            <a:r>
              <a:rPr lang="en-US" sz="2800" dirty="0"/>
              <a:t> </a:t>
            </a:r>
            <a:r>
              <a:rPr lang="en-US" sz="2800" dirty="0">
                <a:sym typeface="Symbol"/>
              </a:rPr>
              <a:t> 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sym typeface="Symbol"/>
              </a:rPr>
              <a:t>M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inimizing </a:t>
            </a:r>
            <a:r>
              <a:rPr lang="en-US" sz="2800" dirty="0"/>
              <a:t>the weighted average </a:t>
            </a:r>
            <a:r>
              <a:rPr lang="en-US" sz="2800" dirty="0">
                <a:solidFill>
                  <a:srgbClr val="0070C0"/>
                </a:solidFill>
              </a:rPr>
              <a:t>impurity</a:t>
            </a:r>
            <a:r>
              <a:rPr lang="en-US" sz="2800" dirty="0"/>
              <a:t> measure of children nodes </a:t>
            </a:r>
            <a:r>
              <a:rPr lang="en-US" dirty="0">
                <a:sym typeface="Symbol"/>
              </a:rPr>
              <a:t>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sym typeface="Symbol"/>
              </a:rPr>
              <a:t>Maximizing</a:t>
            </a:r>
            <a:r>
              <a:rPr lang="en-US" dirty="0">
                <a:sym typeface="Symbol"/>
              </a:rPr>
              <a:t> </a:t>
            </a:r>
            <a:r>
              <a:rPr lang="en-US" dirty="0">
                <a:solidFill>
                  <a:srgbClr val="0070C0"/>
                </a:solidFill>
                <a:sym typeface="Symbol"/>
              </a:rPr>
              <a:t>purity</a:t>
            </a:r>
            <a:endParaRPr lang="en-US" sz="2800" dirty="0">
              <a:solidFill>
                <a:srgbClr val="0070C0"/>
              </a:solidFill>
            </a:endParaRPr>
          </a:p>
          <a:p>
            <a:r>
              <a:rPr lang="en-US" sz="2800" dirty="0"/>
              <a:t>If </a:t>
            </a:r>
            <a:r>
              <a:rPr lang="en-US" sz="2800" b="1" dirty="0">
                <a:solidFill>
                  <a:srgbClr val="0070C0"/>
                </a:solidFill>
              </a:rPr>
              <a:t>I() = Entropy(), </a:t>
            </a:r>
            <a:r>
              <a:rPr lang="en-US" sz="2800" dirty="0"/>
              <a:t>then </a:t>
            </a:r>
            <a:r>
              <a:rPr lang="el-GR" sz="2800" b="1" dirty="0">
                <a:solidFill>
                  <a:schemeClr val="accent2"/>
                </a:solidFill>
              </a:rPr>
              <a:t>Δ</a:t>
            </a:r>
            <a:r>
              <a:rPr lang="en-US" sz="2800" b="1" baseline="-25000" dirty="0">
                <a:solidFill>
                  <a:schemeClr val="accent2"/>
                </a:solidFill>
              </a:rPr>
              <a:t>info</a:t>
            </a:r>
            <a:r>
              <a:rPr lang="en-US" sz="2800" b="1" dirty="0">
                <a:solidFill>
                  <a:schemeClr val="accent2"/>
                </a:solidFill>
              </a:rPr>
              <a:t> </a:t>
            </a:r>
            <a:r>
              <a:rPr lang="en-US" sz="2800" dirty="0"/>
              <a:t>is called </a:t>
            </a:r>
            <a:r>
              <a:rPr lang="en-US" sz="2800" b="1" dirty="0">
                <a:solidFill>
                  <a:srgbClr val="0070C0"/>
                </a:solidFill>
              </a:rPr>
              <a:t>information gain</a:t>
            </a:r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5475803"/>
              </p:ext>
            </p:extLst>
          </p:nvPr>
        </p:nvGraphicFramePr>
        <p:xfrm>
          <a:off x="2057400" y="3048000"/>
          <a:ext cx="52578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55" name="Equation" r:id="rId3" imgW="1942920" imgH="457200" progId="Equation.3">
                  <p:embed/>
                </p:oleObj>
              </mc:Choice>
              <mc:Fallback>
                <p:oleObj name="Equation" r:id="rId3" imgW="194292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048000"/>
                        <a:ext cx="52578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120979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graphicFrame>
        <p:nvGraphicFramePr>
          <p:cNvPr id="8601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5036732"/>
              </p:ext>
            </p:extLst>
          </p:nvPr>
        </p:nvGraphicFramePr>
        <p:xfrm>
          <a:off x="457200" y="2072650"/>
          <a:ext cx="23622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25" name="Document" r:id="rId3" imgW="3240623" imgH="1355425" progId="Word.Document.8">
                  <p:embed/>
                </p:oleObj>
              </mc:Choice>
              <mc:Fallback>
                <p:oleObj name="Document" r:id="rId3" imgW="3240623" imgH="135542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072650"/>
                        <a:ext cx="236220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1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9991763"/>
              </p:ext>
            </p:extLst>
          </p:nvPr>
        </p:nvGraphicFramePr>
        <p:xfrm>
          <a:off x="533400" y="5462587"/>
          <a:ext cx="2286000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26" name="Document" r:id="rId5" imgW="3239280" imgH="1381680" progId="Word.Document.8">
                  <p:embed/>
                </p:oleObj>
              </mc:Choice>
              <mc:Fallback>
                <p:oleObj name="Document" r:id="rId5" imgW="3239280" imgH="13816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462587"/>
                        <a:ext cx="2286000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16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1007990"/>
              </p:ext>
            </p:extLst>
          </p:nvPr>
        </p:nvGraphicFramePr>
        <p:xfrm>
          <a:off x="457200" y="3907724"/>
          <a:ext cx="2286000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27" name="Document" r:id="rId7" imgW="3239280" imgH="1357560" progId="Word.Document.8">
                  <p:embed/>
                </p:oleObj>
              </mc:Choice>
              <mc:Fallback>
                <p:oleObj name="Document" r:id="rId7" imgW="3239280" imgH="13575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907724"/>
                        <a:ext cx="2286000" cy="906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170" name="Text Box 10"/>
          <p:cNvSpPr txBox="1">
            <a:spLocks noChangeArrowheads="1"/>
          </p:cNvSpPr>
          <p:nvPr/>
        </p:nvSpPr>
        <p:spPr bwMode="auto">
          <a:xfrm>
            <a:off x="3124200" y="1752600"/>
            <a:ext cx="5181600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dirty="0"/>
              <a:t>P(</a:t>
            </a:r>
            <a:r>
              <a:rPr lang="en-US" sz="1600" dirty="0" err="1"/>
              <a:t>C1</a:t>
            </a:r>
            <a:r>
              <a:rPr lang="en-US" sz="1600" dirty="0"/>
              <a:t>) = 0/6 = 0     P(</a:t>
            </a:r>
            <a:r>
              <a:rPr lang="en-US" sz="1600" dirty="0" err="1"/>
              <a:t>C2</a:t>
            </a:r>
            <a:r>
              <a:rPr lang="en-US" sz="1600" dirty="0"/>
              <a:t>) = 6/6 = 1</a:t>
            </a:r>
          </a:p>
          <a:p>
            <a:pPr>
              <a:spcBef>
                <a:spcPct val="50000"/>
              </a:spcBef>
            </a:pPr>
            <a:r>
              <a:rPr lang="en-US" sz="1600" dirty="0" err="1">
                <a:solidFill>
                  <a:srgbClr val="0070C0"/>
                </a:solidFill>
              </a:rPr>
              <a:t>Gini</a:t>
            </a:r>
            <a:r>
              <a:rPr lang="en-US" sz="1600" dirty="0">
                <a:solidFill>
                  <a:srgbClr val="0070C0"/>
                </a:solidFill>
              </a:rPr>
              <a:t> </a:t>
            </a:r>
            <a:r>
              <a:rPr lang="en-US" sz="1600" dirty="0"/>
              <a:t>= 1 – P(</a:t>
            </a:r>
            <a:r>
              <a:rPr lang="en-US" sz="1600" dirty="0" err="1"/>
              <a:t>C1</a:t>
            </a:r>
            <a:r>
              <a:rPr lang="en-US" sz="1600" dirty="0"/>
              <a:t>)</a:t>
            </a:r>
            <a:r>
              <a:rPr lang="en-US" sz="1600" baseline="30000" dirty="0"/>
              <a:t>2 </a:t>
            </a:r>
            <a:r>
              <a:rPr lang="en-US" sz="1600" dirty="0"/>
              <a:t>– P(</a:t>
            </a:r>
            <a:r>
              <a:rPr lang="en-US" sz="1600" dirty="0" err="1"/>
              <a:t>C2</a:t>
            </a:r>
            <a:r>
              <a:rPr lang="en-US" sz="1600" dirty="0"/>
              <a:t>)</a:t>
            </a:r>
            <a:r>
              <a:rPr lang="en-US" sz="1600" baseline="30000" dirty="0"/>
              <a:t>2</a:t>
            </a:r>
            <a:r>
              <a:rPr lang="en-US" sz="1600" dirty="0"/>
              <a:t> = 1 – 0 – 1 = 0</a:t>
            </a:r>
          </a:p>
          <a:p>
            <a:pPr>
              <a:spcBef>
                <a:spcPct val="50000"/>
              </a:spcBef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Entropy</a:t>
            </a:r>
            <a:r>
              <a:rPr lang="en-US" sz="1600" dirty="0"/>
              <a:t> = – 0 log 0</a:t>
            </a:r>
            <a:r>
              <a:rPr lang="en-US" sz="1600" baseline="30000" dirty="0"/>
              <a:t> </a:t>
            </a:r>
            <a:r>
              <a:rPr lang="en-US" sz="1600" dirty="0"/>
              <a:t>– 1 log 1 = – 0 – 0 = 0</a:t>
            </a:r>
          </a:p>
          <a:p>
            <a:pPr>
              <a:spcBef>
                <a:spcPct val="50000"/>
              </a:spcBef>
            </a:pPr>
            <a:r>
              <a:rPr lang="en-US" sz="1600" dirty="0">
                <a:solidFill>
                  <a:srgbClr val="FF0000"/>
                </a:solidFill>
              </a:rPr>
              <a:t>Error </a:t>
            </a:r>
            <a:r>
              <a:rPr lang="en-US" sz="1600" dirty="0"/>
              <a:t>= 1 – max (0, 1) = 1 – 1 = 0 </a:t>
            </a:r>
          </a:p>
        </p:txBody>
      </p:sp>
      <p:sp>
        <p:nvSpPr>
          <p:cNvPr id="860172" name="Text Box 12"/>
          <p:cNvSpPr txBox="1">
            <a:spLocks noChangeArrowheads="1"/>
          </p:cNvSpPr>
          <p:nvPr/>
        </p:nvSpPr>
        <p:spPr bwMode="auto">
          <a:xfrm>
            <a:off x="3102429" y="3505200"/>
            <a:ext cx="6019800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dirty="0"/>
              <a:t>P(</a:t>
            </a:r>
            <a:r>
              <a:rPr lang="en-US" sz="1600" dirty="0" err="1"/>
              <a:t>C1</a:t>
            </a:r>
            <a:r>
              <a:rPr lang="en-US" sz="1600" dirty="0"/>
              <a:t>) = 1/6          P(</a:t>
            </a:r>
            <a:r>
              <a:rPr lang="en-US" sz="1600" dirty="0" err="1"/>
              <a:t>C2</a:t>
            </a:r>
            <a:r>
              <a:rPr lang="en-US" sz="1600" dirty="0"/>
              <a:t>) = 5/6</a:t>
            </a:r>
          </a:p>
          <a:p>
            <a:pPr>
              <a:spcBef>
                <a:spcPct val="50000"/>
              </a:spcBef>
            </a:pPr>
            <a:r>
              <a:rPr lang="en-US" sz="1600" dirty="0" err="1">
                <a:solidFill>
                  <a:srgbClr val="0070C0"/>
                </a:solidFill>
              </a:rPr>
              <a:t>Gini</a:t>
            </a:r>
            <a:r>
              <a:rPr lang="en-US" sz="1600" dirty="0">
                <a:solidFill>
                  <a:srgbClr val="0070C0"/>
                </a:solidFill>
              </a:rPr>
              <a:t> </a:t>
            </a:r>
            <a:r>
              <a:rPr lang="en-US" sz="1600" dirty="0"/>
              <a:t>= 1 – (1/6)</a:t>
            </a:r>
            <a:r>
              <a:rPr lang="en-US" sz="1600" baseline="30000" dirty="0"/>
              <a:t>2 </a:t>
            </a:r>
            <a:r>
              <a:rPr lang="en-US" sz="1600" dirty="0"/>
              <a:t>– (5/6)</a:t>
            </a:r>
            <a:r>
              <a:rPr lang="en-US" sz="1600" baseline="30000" dirty="0"/>
              <a:t>2</a:t>
            </a:r>
            <a:r>
              <a:rPr lang="en-US" sz="1600" dirty="0"/>
              <a:t> = 0.278</a:t>
            </a:r>
          </a:p>
          <a:p>
            <a:pPr>
              <a:spcBef>
                <a:spcPct val="50000"/>
              </a:spcBef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Entropy</a:t>
            </a:r>
            <a:r>
              <a:rPr lang="en-US" sz="1600" dirty="0"/>
              <a:t> = – (1/6) </a:t>
            </a:r>
            <a:r>
              <a:rPr lang="en-US" sz="1600" dirty="0" err="1"/>
              <a:t>log</a:t>
            </a:r>
            <a:r>
              <a:rPr lang="en-US" sz="1600" baseline="-25000" dirty="0" err="1"/>
              <a:t>2</a:t>
            </a:r>
            <a:r>
              <a:rPr lang="en-US" sz="1600" dirty="0"/>
              <a:t> (1/6)</a:t>
            </a:r>
            <a:r>
              <a:rPr lang="en-US" sz="1600" baseline="30000" dirty="0"/>
              <a:t> </a:t>
            </a:r>
            <a:r>
              <a:rPr lang="en-US" sz="1600" dirty="0"/>
              <a:t>– (5/6) </a:t>
            </a:r>
            <a:r>
              <a:rPr lang="en-US" sz="1600" dirty="0" err="1"/>
              <a:t>log</a:t>
            </a:r>
            <a:r>
              <a:rPr lang="en-US" sz="1600" baseline="-25000" dirty="0" err="1"/>
              <a:t>2</a:t>
            </a:r>
            <a:r>
              <a:rPr lang="en-US" sz="1600" dirty="0"/>
              <a:t> (1/6) = 0.65</a:t>
            </a:r>
          </a:p>
          <a:p>
            <a:pPr>
              <a:spcBef>
                <a:spcPct val="50000"/>
              </a:spcBef>
            </a:pPr>
            <a:r>
              <a:rPr lang="en-US" sz="1600" dirty="0">
                <a:solidFill>
                  <a:srgbClr val="FF0000"/>
                </a:solidFill>
              </a:rPr>
              <a:t>Error </a:t>
            </a:r>
            <a:r>
              <a:rPr lang="en-US" sz="1600" dirty="0"/>
              <a:t>= 1 – max (1/6, 5/6) = 1 – 5/6 = 1/6</a:t>
            </a:r>
          </a:p>
        </p:txBody>
      </p:sp>
      <p:sp>
        <p:nvSpPr>
          <p:cNvPr id="860173" name="Text Box 13"/>
          <p:cNvSpPr txBox="1">
            <a:spLocks noChangeArrowheads="1"/>
          </p:cNvSpPr>
          <p:nvPr/>
        </p:nvSpPr>
        <p:spPr bwMode="auto">
          <a:xfrm>
            <a:off x="3091543" y="5257800"/>
            <a:ext cx="5791200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dirty="0"/>
              <a:t>P(</a:t>
            </a:r>
            <a:r>
              <a:rPr lang="en-US" sz="1600" dirty="0" err="1"/>
              <a:t>C1</a:t>
            </a:r>
            <a:r>
              <a:rPr lang="en-US" sz="1600" dirty="0"/>
              <a:t>) = 2/6          P(</a:t>
            </a:r>
            <a:r>
              <a:rPr lang="en-US" sz="1600" dirty="0" err="1"/>
              <a:t>C2</a:t>
            </a:r>
            <a:r>
              <a:rPr lang="en-US" sz="1600" dirty="0"/>
              <a:t>) = 4/6</a:t>
            </a:r>
          </a:p>
          <a:p>
            <a:pPr>
              <a:spcBef>
                <a:spcPct val="50000"/>
              </a:spcBef>
            </a:pPr>
            <a:r>
              <a:rPr lang="en-US" sz="1600" dirty="0" err="1">
                <a:solidFill>
                  <a:srgbClr val="0070C0"/>
                </a:solidFill>
              </a:rPr>
              <a:t>Gini</a:t>
            </a:r>
            <a:r>
              <a:rPr lang="en-US" sz="1600" dirty="0">
                <a:solidFill>
                  <a:srgbClr val="0070C0"/>
                </a:solidFill>
              </a:rPr>
              <a:t> </a:t>
            </a:r>
            <a:r>
              <a:rPr lang="en-US" sz="1600" dirty="0"/>
              <a:t>= 1 – (2/6)</a:t>
            </a:r>
            <a:r>
              <a:rPr lang="en-US" sz="1600" baseline="30000" dirty="0"/>
              <a:t>2 </a:t>
            </a:r>
            <a:r>
              <a:rPr lang="en-US" sz="1600" dirty="0"/>
              <a:t>– (4/6)</a:t>
            </a:r>
            <a:r>
              <a:rPr lang="en-US" sz="1600" baseline="30000" dirty="0"/>
              <a:t>2</a:t>
            </a:r>
            <a:r>
              <a:rPr lang="en-US" sz="1600" dirty="0"/>
              <a:t> = 0.444</a:t>
            </a:r>
          </a:p>
          <a:p>
            <a:pPr>
              <a:spcBef>
                <a:spcPct val="50000"/>
              </a:spcBef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Entropy</a:t>
            </a:r>
            <a:r>
              <a:rPr lang="en-US" sz="1600" dirty="0"/>
              <a:t> = – (2/6) </a:t>
            </a:r>
            <a:r>
              <a:rPr lang="en-US" sz="1600" dirty="0" err="1"/>
              <a:t>log</a:t>
            </a:r>
            <a:r>
              <a:rPr lang="en-US" sz="1600" baseline="-25000" dirty="0" err="1"/>
              <a:t>2</a:t>
            </a:r>
            <a:r>
              <a:rPr lang="en-US" sz="1600" dirty="0"/>
              <a:t> (2/6)</a:t>
            </a:r>
            <a:r>
              <a:rPr lang="en-US" sz="1600" baseline="30000" dirty="0"/>
              <a:t> </a:t>
            </a:r>
            <a:r>
              <a:rPr lang="en-US" sz="1600" dirty="0"/>
              <a:t>– (4/6) </a:t>
            </a:r>
            <a:r>
              <a:rPr lang="en-US" sz="1600" dirty="0" err="1"/>
              <a:t>log</a:t>
            </a:r>
            <a:r>
              <a:rPr lang="en-US" sz="1600" baseline="-25000" dirty="0" err="1"/>
              <a:t>2</a:t>
            </a:r>
            <a:r>
              <a:rPr lang="en-US" sz="1600" dirty="0"/>
              <a:t> (4/6) = 0.92</a:t>
            </a:r>
          </a:p>
          <a:p>
            <a:pPr>
              <a:spcBef>
                <a:spcPct val="50000"/>
              </a:spcBef>
            </a:pPr>
            <a:r>
              <a:rPr lang="en-US" sz="1600" dirty="0">
                <a:solidFill>
                  <a:srgbClr val="FF0000"/>
                </a:solidFill>
              </a:rPr>
              <a:t>Error</a:t>
            </a:r>
            <a:r>
              <a:rPr lang="en-US" sz="1600" dirty="0"/>
              <a:t> = 1 – max (2/6, 4/6) = 1 – 4/6 = 1/3</a:t>
            </a:r>
          </a:p>
        </p:txBody>
      </p:sp>
    </p:spTree>
    <p:extLst>
      <p:ext uri="{BB962C8B-B14F-4D97-AF65-F5344CB8AC3E}">
        <p14:creationId xmlns:p14="http://schemas.microsoft.com/office/powerpoint/2010/main" val="38933533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Impurity measures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of the impurity measures take value zero (</a:t>
            </a:r>
            <a:r>
              <a:rPr lang="en-US" dirty="0">
                <a:solidFill>
                  <a:srgbClr val="0070C0"/>
                </a:solidFill>
              </a:rPr>
              <a:t>minimum</a:t>
            </a:r>
            <a:r>
              <a:rPr lang="en-US" dirty="0"/>
              <a:t>) for the case of a pure node where a single value has probability 1</a:t>
            </a:r>
          </a:p>
          <a:p>
            <a:r>
              <a:rPr lang="en-US" dirty="0"/>
              <a:t>All of the impurity measures take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maximum</a:t>
            </a:r>
            <a:r>
              <a:rPr lang="en-US" dirty="0"/>
              <a:t> value when the class distribution in a node is </a:t>
            </a:r>
            <a:r>
              <a:rPr lang="en-US" dirty="0">
                <a:solidFill>
                  <a:srgbClr val="0070C0"/>
                </a:solidFill>
              </a:rPr>
              <a:t>uniform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381741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Comparison among Splitting Criteria</a:t>
            </a:r>
          </a:p>
        </p:txBody>
      </p:sp>
      <p:pic>
        <p:nvPicPr>
          <p:cNvPr id="8325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828800"/>
            <a:ext cx="6248400" cy="468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32516" name="Text Box 4"/>
          <p:cNvSpPr txBox="1">
            <a:spLocks noChangeArrowheads="1"/>
          </p:cNvSpPr>
          <p:nvPr/>
        </p:nvSpPr>
        <p:spPr bwMode="auto">
          <a:xfrm>
            <a:off x="412044" y="1447800"/>
            <a:ext cx="472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For a 2-class problem: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300111" y="3352800"/>
            <a:ext cx="6826956" cy="461665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The different impurity measures are </a:t>
            </a:r>
            <a:r>
              <a:rPr lang="en-US" sz="2400" dirty="0">
                <a:solidFill>
                  <a:srgbClr val="FF0000"/>
                </a:solidFill>
              </a:rPr>
              <a:t>consistent</a:t>
            </a:r>
          </a:p>
        </p:txBody>
      </p:sp>
    </p:spTree>
    <p:extLst>
      <p:ext uri="{BB962C8B-B14F-4D97-AF65-F5344CB8AC3E}">
        <p14:creationId xmlns:p14="http://schemas.microsoft.com/office/powerpoint/2010/main" val="2274857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0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609600"/>
            <a:ext cx="8458200" cy="533400"/>
          </a:xfrm>
        </p:spPr>
        <p:txBody>
          <a:bodyPr/>
          <a:lstStyle/>
          <a:p>
            <a:r>
              <a:rPr lang="en-US" sz="2800" dirty="0"/>
              <a:t>Categorical Attributes</a:t>
            </a:r>
          </a:p>
        </p:txBody>
      </p:sp>
      <p:sp>
        <p:nvSpPr>
          <p:cNvPr id="819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/>
              <a:t>For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binary</a:t>
            </a:r>
            <a:r>
              <a:rPr lang="en-US" sz="2400" dirty="0"/>
              <a:t> values split in two</a:t>
            </a:r>
          </a:p>
          <a:p>
            <a:r>
              <a:rPr lang="en-US" sz="2400" dirty="0"/>
              <a:t>For </a:t>
            </a:r>
            <a:r>
              <a:rPr lang="en-US" sz="2400" dirty="0">
                <a:solidFill>
                  <a:srgbClr val="0070C0"/>
                </a:solidFill>
              </a:rPr>
              <a:t>multivalued</a:t>
            </a:r>
            <a:r>
              <a:rPr lang="en-US" sz="2400" dirty="0"/>
              <a:t> attributes, for each distinct value, gather counts for each class in the dataset</a:t>
            </a:r>
          </a:p>
          <a:p>
            <a:pPr lvl="1"/>
            <a:r>
              <a:rPr lang="en-US" sz="2000" dirty="0"/>
              <a:t>Use the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count matrix </a:t>
            </a:r>
            <a:r>
              <a:rPr lang="en-US" sz="2000" dirty="0"/>
              <a:t>to make decisions</a:t>
            </a:r>
          </a:p>
        </p:txBody>
      </p:sp>
      <p:graphicFrame>
        <p:nvGraphicFramePr>
          <p:cNvPr id="81920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7956426"/>
              </p:ext>
            </p:extLst>
          </p:nvPr>
        </p:nvGraphicFramePr>
        <p:xfrm>
          <a:off x="3886200" y="4632325"/>
          <a:ext cx="2609850" cy="176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79" name="Document" r:id="rId3" imgW="5848560" imgH="4005360" progId="Word.Document.8">
                  <p:embed/>
                </p:oleObj>
              </mc:Choice>
              <mc:Fallback>
                <p:oleObj name="Document" r:id="rId3" imgW="5848560" imgH="40053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4632325"/>
                        <a:ext cx="2609850" cy="176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3752196"/>
              </p:ext>
            </p:extLst>
          </p:nvPr>
        </p:nvGraphicFramePr>
        <p:xfrm>
          <a:off x="6381750" y="4632325"/>
          <a:ext cx="2609850" cy="176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80" name="Document" r:id="rId5" imgW="5848560" imgH="4005360" progId="Word.Document.8">
                  <p:embed/>
                </p:oleObj>
              </mc:Choice>
              <mc:Fallback>
                <p:oleObj name="Document" r:id="rId5" imgW="5848560" imgH="40053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1750" y="4632325"/>
                        <a:ext cx="2609850" cy="176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1150521"/>
              </p:ext>
            </p:extLst>
          </p:nvPr>
        </p:nvGraphicFramePr>
        <p:xfrm>
          <a:off x="304800" y="4632325"/>
          <a:ext cx="2744788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81" name="Document" r:id="rId7" imgW="6205680" imgH="3191040" progId="Word.Document.8">
                  <p:embed/>
                </p:oleObj>
              </mc:Choice>
              <mc:Fallback>
                <p:oleObj name="Document" r:id="rId7" imgW="6205680" imgH="31910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632325"/>
                        <a:ext cx="2744788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07" name="Line 7"/>
          <p:cNvSpPr>
            <a:spLocks noChangeShapeType="1"/>
          </p:cNvSpPr>
          <p:nvPr/>
        </p:nvSpPr>
        <p:spPr bwMode="auto">
          <a:xfrm flipH="1">
            <a:off x="3581400" y="3794125"/>
            <a:ext cx="1588" cy="2438400"/>
          </a:xfrm>
          <a:prstGeom prst="line">
            <a:avLst/>
          </a:prstGeom>
          <a:noFill/>
          <a:ln w="38100">
            <a:solidFill>
              <a:schemeClr val="tx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208" name="Text Box 8"/>
          <p:cNvSpPr txBox="1">
            <a:spLocks noChangeArrowheads="1"/>
          </p:cNvSpPr>
          <p:nvPr/>
        </p:nvSpPr>
        <p:spPr bwMode="auto">
          <a:xfrm>
            <a:off x="915988" y="3690938"/>
            <a:ext cx="1752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0">
                <a:latin typeface="Times New Roman" charset="0"/>
              </a:rPr>
              <a:t>Multi-way split</a:t>
            </a:r>
          </a:p>
        </p:txBody>
      </p:sp>
      <p:sp>
        <p:nvSpPr>
          <p:cNvPr id="819209" name="Text Box 9"/>
          <p:cNvSpPr txBox="1">
            <a:spLocks noChangeArrowheads="1"/>
          </p:cNvSpPr>
          <p:nvPr/>
        </p:nvSpPr>
        <p:spPr bwMode="auto">
          <a:xfrm>
            <a:off x="4719638" y="3690938"/>
            <a:ext cx="313848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000" b="0">
                <a:latin typeface="Times New Roman" charset="0"/>
              </a:rPr>
              <a:t>Two-way split </a:t>
            </a:r>
          </a:p>
          <a:p>
            <a:pPr algn="ctr"/>
            <a:r>
              <a:rPr lang="en-US" sz="2000" b="0">
                <a:latin typeface="Times New Roman" charset="0"/>
              </a:rPr>
              <a:t>(find best partition of values)</a:t>
            </a:r>
          </a:p>
        </p:txBody>
      </p:sp>
    </p:spTree>
    <p:extLst>
      <p:ext uri="{BB962C8B-B14F-4D97-AF65-F5344CB8AC3E}">
        <p14:creationId xmlns:p14="http://schemas.microsoft.com/office/powerpoint/2010/main" val="11843101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228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8280400" cy="533400"/>
          </a:xfrm>
        </p:spPr>
        <p:txBody>
          <a:bodyPr/>
          <a:lstStyle/>
          <a:p>
            <a:r>
              <a:rPr lang="en-US" sz="2800" dirty="0"/>
              <a:t>Continuous Attributes</a:t>
            </a:r>
          </a:p>
        </p:txBody>
      </p:sp>
      <p:sp>
        <p:nvSpPr>
          <p:cNvPr id="820229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411163" y="1143000"/>
            <a:ext cx="4999037" cy="51816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000" dirty="0"/>
              <a:t>Use Binary Decisions based on one value</a:t>
            </a:r>
          </a:p>
          <a:p>
            <a:pPr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000" dirty="0"/>
              <a:t>Choices for the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splitting value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Number of possible splitting values </a:t>
            </a:r>
            <a:br>
              <a:rPr lang="en-US" sz="2000" dirty="0"/>
            </a:br>
            <a:r>
              <a:rPr lang="en-US" sz="2000" dirty="0"/>
              <a:t>= Number of </a:t>
            </a:r>
            <a:r>
              <a:rPr lang="en-US" sz="2000" dirty="0">
                <a:solidFill>
                  <a:srgbClr val="0070C0"/>
                </a:solidFill>
              </a:rPr>
              <a:t>distinct values</a:t>
            </a:r>
          </a:p>
          <a:p>
            <a:pPr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000" dirty="0"/>
              <a:t>Each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splitting value </a:t>
            </a:r>
            <a:r>
              <a:rPr lang="en-US" sz="2000" dirty="0"/>
              <a:t>has a </a:t>
            </a:r>
            <a:r>
              <a:rPr lang="en-US" sz="2000" dirty="0">
                <a:solidFill>
                  <a:srgbClr val="0070C0"/>
                </a:solidFill>
              </a:rPr>
              <a:t>count matrix </a:t>
            </a:r>
            <a:r>
              <a:rPr lang="en-US" sz="2000" dirty="0"/>
              <a:t>associated with it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Class counts in each of the partitions, </a:t>
            </a:r>
            <a:r>
              <a:rPr lang="en-US" sz="2000" dirty="0">
                <a:solidFill>
                  <a:srgbClr val="0070C0"/>
                </a:solidFill>
              </a:rPr>
              <a:t>A &lt; v </a:t>
            </a:r>
            <a:r>
              <a:rPr lang="en-US" sz="2000" dirty="0"/>
              <a:t>and </a:t>
            </a:r>
            <a:r>
              <a:rPr lang="en-US" sz="2000" dirty="0">
                <a:solidFill>
                  <a:srgbClr val="0070C0"/>
                </a:solidFill>
              </a:rPr>
              <a:t>A </a:t>
            </a:r>
            <a:r>
              <a:rPr lang="en-US" sz="2000" dirty="0">
                <a:solidFill>
                  <a:srgbClr val="0070C0"/>
                </a:solidFill>
                <a:sym typeface="Symbol" pitchFamily="18" charset="2"/>
              </a:rPr>
              <a:t></a:t>
            </a:r>
            <a:r>
              <a:rPr lang="en-US" sz="2000" dirty="0">
                <a:solidFill>
                  <a:srgbClr val="0070C0"/>
                </a:solidFill>
              </a:rPr>
              <a:t> v</a:t>
            </a:r>
          </a:p>
          <a:p>
            <a:pPr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Exhaustive</a:t>
            </a:r>
            <a:r>
              <a:rPr lang="en-US" sz="2000" dirty="0"/>
              <a:t> method to choose best </a:t>
            </a:r>
            <a:r>
              <a:rPr lang="en-US" sz="2000" dirty="0">
                <a:solidFill>
                  <a:srgbClr val="0070C0"/>
                </a:solidFill>
              </a:rPr>
              <a:t>v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For each </a:t>
            </a:r>
            <a:r>
              <a:rPr lang="en-US" sz="2000" dirty="0">
                <a:solidFill>
                  <a:srgbClr val="0070C0"/>
                </a:solidFill>
              </a:rPr>
              <a:t>v</a:t>
            </a:r>
            <a:r>
              <a:rPr lang="en-US" sz="2000" dirty="0"/>
              <a:t>, scan the database to gather count matrix and compute the impurity index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Computationally Inefficient! Repetition of work.</a:t>
            </a:r>
          </a:p>
        </p:txBody>
      </p:sp>
      <p:graphicFrame>
        <p:nvGraphicFramePr>
          <p:cNvPr id="820230" name="Object 6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5607050" y="1143000"/>
          <a:ext cx="3213100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44" name="Document" r:id="rId3" imgW="5415994" imgH="5779818" progId="Word.Document.8">
                  <p:embed/>
                </p:oleObj>
              </mc:Choice>
              <mc:Fallback>
                <p:oleObj name="Document" r:id="rId3" imgW="5415994" imgH="577981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4274"/>
                      <a:stretch>
                        <a:fillRect/>
                      </a:stretch>
                    </p:blipFill>
                    <p:spPr bwMode="auto">
                      <a:xfrm>
                        <a:off x="5607050" y="1143000"/>
                        <a:ext cx="3213100" cy="342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232" name="Object 8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6950075" y="4572000"/>
          <a:ext cx="1050925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45" name="Visio" r:id="rId5" imgW="1611935" imgH="2570756" progId="Visio.Drawing.6">
                  <p:embed/>
                </p:oleObj>
              </mc:Choice>
              <mc:Fallback>
                <p:oleObj name="Visio" r:id="rId5" imgW="1611935" imgH="2570756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0075" y="4572000"/>
                        <a:ext cx="1050925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17632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2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81000"/>
            <a:ext cx="8686800" cy="762000"/>
          </a:xfrm>
        </p:spPr>
        <p:txBody>
          <a:bodyPr/>
          <a:lstStyle/>
          <a:p>
            <a:r>
              <a:rPr lang="en-US" sz="2800" dirty="0"/>
              <a:t>Continuous Attributes</a:t>
            </a:r>
          </a:p>
        </p:txBody>
      </p:sp>
      <p:sp>
        <p:nvSpPr>
          <p:cNvPr id="821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178800" cy="1524000"/>
          </a:xfrm>
          <a:noFill/>
          <a:ln/>
        </p:spPr>
        <p:txBody>
          <a:bodyPr>
            <a:normAutofit lnSpcReduction="10000"/>
          </a:bodyPr>
          <a:lstStyle/>
          <a:p>
            <a:pPr marL="342900" indent="-342900">
              <a:lnSpc>
                <a:spcPct val="90000"/>
              </a:lnSpc>
            </a:pPr>
            <a:r>
              <a:rPr lang="en-US" sz="2000" dirty="0"/>
              <a:t>For efficient computation: for each attribute,</a:t>
            </a:r>
          </a:p>
          <a:p>
            <a:pPr marL="742950" lvl="1" indent="-285750">
              <a:lnSpc>
                <a:spcPct val="90000"/>
              </a:lnSpc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Sort</a:t>
            </a:r>
            <a:r>
              <a:rPr lang="en-US" sz="2000" dirty="0"/>
              <a:t> the attribute on values</a:t>
            </a:r>
          </a:p>
          <a:p>
            <a:pPr marL="742950" lvl="1" indent="-285750">
              <a:lnSpc>
                <a:spcPct val="90000"/>
              </a:lnSpc>
            </a:pPr>
            <a:r>
              <a:rPr lang="en-US" sz="2000" dirty="0"/>
              <a:t>Linearly scan these values, each time </a:t>
            </a:r>
            <a:r>
              <a:rPr lang="en-US" sz="2000" dirty="0">
                <a:solidFill>
                  <a:srgbClr val="0070C0"/>
                </a:solidFill>
              </a:rPr>
              <a:t>updating</a:t>
            </a:r>
            <a:r>
              <a:rPr lang="en-US" sz="2000" dirty="0"/>
              <a:t> the count matrix and computing impurity</a:t>
            </a:r>
          </a:p>
          <a:p>
            <a:pPr marL="742950" lvl="1" indent="-285750">
              <a:lnSpc>
                <a:spcPct val="90000"/>
              </a:lnSpc>
            </a:pPr>
            <a:r>
              <a:rPr lang="en-US" sz="2000" dirty="0"/>
              <a:t>Choose the split position that has the least impurity</a:t>
            </a:r>
          </a:p>
        </p:txBody>
      </p:sp>
      <p:grpSp>
        <p:nvGrpSpPr>
          <p:cNvPr id="821258" name="Group 10"/>
          <p:cNvGrpSpPr>
            <a:grpSpLocks/>
          </p:cNvGrpSpPr>
          <p:nvPr/>
        </p:nvGrpSpPr>
        <p:grpSpPr bwMode="auto">
          <a:xfrm>
            <a:off x="76200" y="3321050"/>
            <a:ext cx="9182100" cy="2622550"/>
            <a:chOff x="144" y="2360"/>
            <a:chExt cx="5784" cy="1652"/>
          </a:xfrm>
        </p:grpSpPr>
        <p:graphicFrame>
          <p:nvGraphicFramePr>
            <p:cNvPr id="821252" name="Object 4"/>
            <p:cNvGraphicFramePr>
              <a:graphicFrameLocks noChangeAspect="1"/>
            </p:cNvGraphicFramePr>
            <p:nvPr/>
          </p:nvGraphicFramePr>
          <p:xfrm>
            <a:off x="956" y="2360"/>
            <a:ext cx="4972" cy="16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09" name="Document" r:id="rId3" imgW="10585440" imgH="3557880" progId="Word.Document.8">
                    <p:embed/>
                  </p:oleObj>
                </mc:Choice>
                <mc:Fallback>
                  <p:oleObj name="Document" r:id="rId3" imgW="10585440" imgH="3557880" progId="Word.Document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6" y="2360"/>
                          <a:ext cx="4972" cy="16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253" name="Line 5"/>
            <p:cNvSpPr>
              <a:spLocks noChangeShapeType="1"/>
            </p:cNvSpPr>
            <p:nvPr/>
          </p:nvSpPr>
          <p:spPr bwMode="auto">
            <a:xfrm>
              <a:off x="1152" y="2793"/>
              <a:ext cx="192" cy="1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821254" name="Group 6"/>
            <p:cNvGrpSpPr>
              <a:grpSpLocks/>
            </p:cNvGrpSpPr>
            <p:nvPr/>
          </p:nvGrpSpPr>
          <p:grpSpPr bwMode="auto">
            <a:xfrm>
              <a:off x="149" y="2898"/>
              <a:ext cx="1195" cy="212"/>
              <a:chOff x="149" y="2802"/>
              <a:chExt cx="1195" cy="212"/>
            </a:xfrm>
          </p:grpSpPr>
          <p:sp>
            <p:nvSpPr>
              <p:cNvPr id="821255" name="Text Box 7"/>
              <p:cNvSpPr txBox="1">
                <a:spLocks noChangeArrowheads="1"/>
              </p:cNvSpPr>
              <p:nvPr/>
            </p:nvSpPr>
            <p:spPr bwMode="auto">
              <a:xfrm>
                <a:off x="149" y="2802"/>
                <a:ext cx="100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927100"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1pPr>
                <a:lvl2pPr marL="917575" defTabSz="927100"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 marL="1031875" defTabSz="927100"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3pPr>
                <a:lvl4pPr defTabSz="927100"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4pPr>
                <a:lvl5pPr defTabSz="927100"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5pPr>
                <a:lvl6pPr defTabSz="9271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6pPr>
                <a:lvl7pPr defTabSz="9271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7pPr>
                <a:lvl8pPr defTabSz="9271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8pPr>
                <a:lvl9pPr defTabSz="9271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None/>
                </a:pPr>
                <a:r>
                  <a:rPr kumimoji="1" lang="en-US" sz="1600" dirty="0">
                    <a:latin typeface="Arial" charset="0"/>
                  </a:rPr>
                  <a:t>Split Positions</a:t>
                </a:r>
              </a:p>
            </p:txBody>
          </p:sp>
          <p:sp>
            <p:nvSpPr>
              <p:cNvPr id="821256" name="Line 8"/>
              <p:cNvSpPr>
                <a:spLocks noChangeShapeType="1"/>
              </p:cNvSpPr>
              <p:nvPr/>
            </p:nvSpPr>
            <p:spPr bwMode="auto">
              <a:xfrm>
                <a:off x="1152" y="290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21257" name="Text Box 9"/>
            <p:cNvSpPr txBox="1">
              <a:spLocks noChangeArrowheads="1"/>
            </p:cNvSpPr>
            <p:nvPr/>
          </p:nvSpPr>
          <p:spPr bwMode="auto">
            <a:xfrm>
              <a:off x="144" y="2689"/>
              <a:ext cx="100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dirty="0"/>
                <a:t>Sorted Values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727536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Splitting based on impurity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Impurity measures favor attributes with large number of values</a:t>
            </a:r>
          </a:p>
          <a:p>
            <a:endParaRPr lang="en-US"/>
          </a:p>
          <a:p>
            <a:r>
              <a:rPr lang="en-US"/>
              <a:t>A test condition with large number of outcomes may not be desirable</a:t>
            </a:r>
          </a:p>
          <a:p>
            <a:pPr lvl="1"/>
            <a:r>
              <a:rPr lang="en-US"/>
              <a:t># of records in each partition is too small to make predictions</a:t>
            </a:r>
          </a:p>
        </p:txBody>
      </p:sp>
    </p:spTree>
    <p:extLst>
      <p:ext uri="{BB962C8B-B14F-4D97-AF65-F5344CB8AC3E}">
        <p14:creationId xmlns:p14="http://schemas.microsoft.com/office/powerpoint/2010/main" val="17732238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Splitting based on INFO</a:t>
            </a:r>
          </a:p>
        </p:txBody>
      </p:sp>
      <p:pic>
        <p:nvPicPr>
          <p:cNvPr id="3072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2125663"/>
            <a:ext cx="8458200" cy="35131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043271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3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280400" cy="838200"/>
          </a:xfrm>
        </p:spPr>
        <p:txBody>
          <a:bodyPr/>
          <a:lstStyle/>
          <a:p>
            <a:pPr marL="342900" indent="-342900">
              <a:lnSpc>
                <a:spcPct val="90000"/>
              </a:lnSpc>
            </a:pPr>
            <a:r>
              <a:rPr lang="en-US" sz="2800" dirty="0"/>
              <a:t>Gain Ratio</a:t>
            </a:r>
          </a:p>
        </p:txBody>
      </p:sp>
      <p:sp>
        <p:nvSpPr>
          <p:cNvPr id="8243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43000"/>
            <a:ext cx="8382000" cy="5105400"/>
          </a:xfrm>
        </p:spPr>
        <p:txBody>
          <a:bodyPr/>
          <a:lstStyle/>
          <a:p>
            <a:pPr marL="468630" indent="-285750">
              <a:lnSpc>
                <a:spcPct val="90000"/>
              </a:lnSpc>
            </a:pPr>
            <a:r>
              <a:rPr lang="en-US" sz="2800" dirty="0"/>
              <a:t>Splittin</a:t>
            </a:r>
            <a:r>
              <a:rPr lang="en-US" dirty="0"/>
              <a:t>g using information gain</a:t>
            </a:r>
            <a:endParaRPr lang="en-US" sz="2800" dirty="0"/>
          </a:p>
          <a:p>
            <a:pPr marL="742950" lvl="1" indent="-285750">
              <a:lnSpc>
                <a:spcPct val="90000"/>
              </a:lnSpc>
            </a:pPr>
            <a:endParaRPr lang="en-US" sz="2400" dirty="0"/>
          </a:p>
          <a:p>
            <a:pPr marL="1146175" lvl="2" indent="-228600">
              <a:lnSpc>
                <a:spcPct val="90000"/>
              </a:lnSpc>
            </a:pPr>
            <a:endParaRPr lang="en-US" sz="2000" dirty="0"/>
          </a:p>
          <a:p>
            <a:pPr marL="1146175" lvl="2" indent="-228600">
              <a:lnSpc>
                <a:spcPct val="90000"/>
              </a:lnSpc>
            </a:pPr>
            <a:endParaRPr lang="en-US" sz="2000" dirty="0"/>
          </a:p>
          <a:p>
            <a:pPr marL="1146175" lvl="2" indent="-228600">
              <a:lnSpc>
                <a:spcPct val="90000"/>
              </a:lnSpc>
              <a:buFont typeface="Wingdings" pitchFamily="2" charset="2"/>
              <a:buNone/>
            </a:pPr>
            <a:endParaRPr lang="en-US" sz="2000" dirty="0"/>
          </a:p>
          <a:p>
            <a:pPr marL="1146175" lvl="2" indent="-228600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/>
              <a:t>Parent Node, p is split into k partitions</a:t>
            </a:r>
          </a:p>
          <a:p>
            <a:pPr marL="1146175" lvl="2" indent="-228600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err="1">
                <a:solidFill>
                  <a:srgbClr val="0070C0"/>
                </a:solidFill>
              </a:rPr>
              <a:t>n</a:t>
            </a:r>
            <a:r>
              <a:rPr lang="en-US" sz="2000" baseline="-25000" dirty="0" err="1">
                <a:solidFill>
                  <a:srgbClr val="0070C0"/>
                </a:solidFill>
              </a:rPr>
              <a:t>i</a:t>
            </a:r>
            <a:r>
              <a:rPr lang="en-US" sz="2000" dirty="0"/>
              <a:t> is the number of records in partition </a:t>
            </a:r>
            <a:r>
              <a:rPr lang="en-US" sz="2000" dirty="0" err="1">
                <a:solidFill>
                  <a:srgbClr val="0070C0"/>
                </a:solidFill>
              </a:rPr>
              <a:t>i</a:t>
            </a:r>
            <a:endParaRPr lang="en-US" sz="2000" dirty="0">
              <a:solidFill>
                <a:srgbClr val="0070C0"/>
              </a:solidFill>
            </a:endParaRPr>
          </a:p>
          <a:p>
            <a:pPr marL="1146175" lvl="2" indent="-228600">
              <a:lnSpc>
                <a:spcPct val="90000"/>
              </a:lnSpc>
              <a:buFont typeface="Wingdings" pitchFamily="2" charset="2"/>
              <a:buNone/>
            </a:pPr>
            <a:endParaRPr lang="en-US" sz="800" dirty="0"/>
          </a:p>
          <a:p>
            <a:pPr marL="742950" lvl="1" indent="-285750">
              <a:lnSpc>
                <a:spcPct val="90000"/>
              </a:lnSpc>
            </a:pPr>
            <a:r>
              <a:rPr lang="en-US" sz="2400" dirty="0"/>
              <a:t>Adjusts Information Gain by the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entropy</a:t>
            </a:r>
            <a:r>
              <a:rPr lang="en-US" sz="2400" dirty="0"/>
              <a:t> of the partition (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</a:rPr>
              <a:t>SplitINFO</a:t>
            </a:r>
            <a:r>
              <a:rPr lang="en-US" sz="2400" dirty="0"/>
              <a:t>). Higher entropy partition (large number of small partitions) is penalized!</a:t>
            </a:r>
          </a:p>
          <a:p>
            <a:pPr marL="742950" lvl="1" indent="-285750">
              <a:lnSpc>
                <a:spcPct val="90000"/>
              </a:lnSpc>
            </a:pPr>
            <a:r>
              <a:rPr lang="en-US" sz="2400" dirty="0"/>
              <a:t>Used in C4.5</a:t>
            </a:r>
          </a:p>
          <a:p>
            <a:pPr marL="742950" lvl="1" indent="-285750">
              <a:lnSpc>
                <a:spcPct val="90000"/>
              </a:lnSpc>
            </a:pPr>
            <a:r>
              <a:rPr lang="en-US" sz="2400" dirty="0"/>
              <a:t>Designed to overcome the disadvantage of impurity</a:t>
            </a:r>
          </a:p>
        </p:txBody>
      </p:sp>
      <p:graphicFrame>
        <p:nvGraphicFramePr>
          <p:cNvPr id="8243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3193937"/>
              </p:ext>
            </p:extLst>
          </p:nvPr>
        </p:nvGraphicFramePr>
        <p:xfrm>
          <a:off x="609600" y="1828800"/>
          <a:ext cx="4114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6" name="Equation" r:id="rId3" imgW="3340080" imgH="799920" progId="Equation.3">
                  <p:embed/>
                </p:oleObj>
              </mc:Choice>
              <mc:Fallback>
                <p:oleObj name="Equation" r:id="rId3" imgW="3340080" imgH="7999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828800"/>
                        <a:ext cx="4114800" cy="92710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432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9280353"/>
              </p:ext>
            </p:extLst>
          </p:nvPr>
        </p:nvGraphicFramePr>
        <p:xfrm>
          <a:off x="4800600" y="1828800"/>
          <a:ext cx="4194175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7" name="Equation" r:id="rId5" imgW="2958840" imgH="723600" progId="Equation.3">
                  <p:embed/>
                </p:oleObj>
              </mc:Choice>
              <mc:Fallback>
                <p:oleObj name="Equation" r:id="rId5" imgW="2958840" imgH="723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1828800"/>
                        <a:ext cx="4194175" cy="935038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826833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Stopping Criteria for Tree Induction</a:t>
            </a:r>
          </a:p>
        </p:txBody>
      </p:sp>
      <p:sp>
        <p:nvSpPr>
          <p:cNvPr id="934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Stop expanding a node when all the records belong to the same class</a:t>
            </a:r>
          </a:p>
          <a:p>
            <a:endParaRPr lang="en-US" dirty="0"/>
          </a:p>
          <a:p>
            <a:r>
              <a:rPr lang="en-US" dirty="0"/>
              <a:t>Stop expanding a node when all the records have similar attribute values</a:t>
            </a:r>
          </a:p>
          <a:p>
            <a:endParaRPr lang="en-US" dirty="0"/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Early termination </a:t>
            </a:r>
            <a:r>
              <a:rPr lang="en-US" dirty="0"/>
              <a:t>(to be discussed later)</a:t>
            </a:r>
          </a:p>
        </p:txBody>
      </p:sp>
    </p:spTree>
    <p:extLst>
      <p:ext uri="{BB962C8B-B14F-4D97-AF65-F5344CB8AC3E}">
        <p14:creationId xmlns:p14="http://schemas.microsoft.com/office/powerpoint/2010/main" val="41500075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Decision Tree Based Classification</a:t>
            </a:r>
          </a:p>
        </p:txBody>
      </p:sp>
      <p:sp>
        <p:nvSpPr>
          <p:cNvPr id="899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Advantages:</a:t>
            </a:r>
          </a:p>
          <a:p>
            <a:pPr lvl="1"/>
            <a:r>
              <a:rPr lang="en-US" dirty="0"/>
              <a:t>Inexpensive to construct</a:t>
            </a:r>
          </a:p>
          <a:p>
            <a:pPr lvl="1"/>
            <a:r>
              <a:rPr lang="en-US" dirty="0"/>
              <a:t>Extremely fast at classifying unknown records</a:t>
            </a:r>
          </a:p>
          <a:p>
            <a:pPr lvl="1"/>
            <a:r>
              <a:rPr lang="en-US" dirty="0"/>
              <a:t>Easy to interpret </a:t>
            </a:r>
            <a:r>
              <a:rPr lang="en-US" dirty="0">
                <a:solidFill>
                  <a:srgbClr val="0070C0"/>
                </a:solidFill>
              </a:rPr>
              <a:t>for small-sized </a:t>
            </a:r>
            <a:r>
              <a:rPr lang="en-US" dirty="0"/>
              <a:t>trees</a:t>
            </a:r>
          </a:p>
          <a:p>
            <a:pPr lvl="1"/>
            <a:r>
              <a:rPr lang="en-US" dirty="0"/>
              <a:t>Accuracy is comparable to other classification techniques for many simple data sets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9812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666" name="Rectangle 307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C4.5</a:t>
            </a:r>
          </a:p>
        </p:txBody>
      </p:sp>
      <p:sp>
        <p:nvSpPr>
          <p:cNvPr id="881667" name="Rectangle 307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Simple depth-first construction.</a:t>
            </a:r>
          </a:p>
          <a:p>
            <a:r>
              <a:rPr lang="en-US"/>
              <a:t>Uses Information Gain</a:t>
            </a:r>
          </a:p>
          <a:p>
            <a:r>
              <a:rPr lang="en-US"/>
              <a:t>Sorts Continuous Attributes at each node.</a:t>
            </a:r>
          </a:p>
          <a:p>
            <a:r>
              <a:rPr lang="en-US"/>
              <a:t>Needs entire data to fit in memory.</a:t>
            </a:r>
          </a:p>
          <a:p>
            <a:r>
              <a:rPr lang="en-US"/>
              <a:t>Unsuitable for Large Datasets.</a:t>
            </a:r>
          </a:p>
          <a:p>
            <a:pPr lvl="1"/>
            <a:r>
              <a:rPr lang="en-US"/>
              <a:t>Needs out-of-core sorting.</a:t>
            </a:r>
          </a:p>
          <a:p>
            <a:pPr lvl="1"/>
            <a:endParaRPr lang="en-US"/>
          </a:p>
          <a:p>
            <a:r>
              <a:rPr lang="en-US"/>
              <a:t>You can download the software from:</a:t>
            </a:r>
            <a:br>
              <a:rPr lang="en-US"/>
            </a:br>
            <a:r>
              <a:rPr lang="en-US" sz="2400">
                <a:hlinkClick r:id="rId2"/>
              </a:rPr>
              <a:t>http://www.cse.unsw.edu.au/~quinlan/c4.5r8.tar.gz</a:t>
            </a:r>
            <a:endParaRPr lang="en-US" sz="2400"/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5255996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Other Issues</a:t>
            </a:r>
          </a:p>
        </p:txBody>
      </p:sp>
      <p:sp>
        <p:nvSpPr>
          <p:cNvPr id="954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Fragmentation</a:t>
            </a:r>
          </a:p>
          <a:p>
            <a:r>
              <a:rPr lang="en-US" dirty="0"/>
              <a:t>Expressiveness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9770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Fragmentation</a:t>
            </a:r>
          </a:p>
        </p:txBody>
      </p:sp>
      <p:sp>
        <p:nvSpPr>
          <p:cNvPr id="955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of instances gets smaller as you traverse down the tree</a:t>
            </a:r>
          </a:p>
          <a:p>
            <a:endParaRPr lang="en-US" dirty="0"/>
          </a:p>
          <a:p>
            <a:r>
              <a:rPr lang="en-US" dirty="0"/>
              <a:t>Number of instances at the leaf nodes could be </a:t>
            </a:r>
            <a:r>
              <a:rPr lang="en-US" dirty="0">
                <a:solidFill>
                  <a:srgbClr val="0070C0"/>
                </a:solidFill>
              </a:rPr>
              <a:t>too small </a:t>
            </a:r>
            <a:r>
              <a:rPr lang="en-US" dirty="0"/>
              <a:t>to make any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statistically significant decision</a:t>
            </a:r>
          </a:p>
          <a:p>
            <a:endParaRPr lang="en-US" dirty="0"/>
          </a:p>
          <a:p>
            <a:r>
              <a:rPr lang="en-US" dirty="0"/>
              <a:t>You can introduce a lower bound on the number of items per leaf node in the stopping criterion.</a:t>
            </a:r>
          </a:p>
        </p:txBody>
      </p:sp>
    </p:spTree>
    <p:extLst>
      <p:ext uri="{BB962C8B-B14F-4D97-AF65-F5344CB8AC3E}">
        <p14:creationId xmlns:p14="http://schemas.microsoft.com/office/powerpoint/2010/main" val="42092194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Expressiveness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classifier defines a </a:t>
            </a:r>
            <a:r>
              <a:rPr lang="en-US" dirty="0">
                <a:solidFill>
                  <a:srgbClr val="0070C0"/>
                </a:solidFill>
              </a:rPr>
              <a:t>function</a:t>
            </a:r>
            <a:r>
              <a:rPr lang="en-US" dirty="0"/>
              <a:t> that discriminates between two (or more) classes.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expressiveness</a:t>
            </a:r>
            <a:r>
              <a:rPr lang="en-US" dirty="0"/>
              <a:t> of a classifier is the </a:t>
            </a:r>
            <a:r>
              <a:rPr lang="en-US" dirty="0">
                <a:solidFill>
                  <a:srgbClr val="0070C0"/>
                </a:solidFill>
              </a:rPr>
              <a:t>class of functions</a:t>
            </a:r>
            <a:r>
              <a:rPr lang="en-US" dirty="0"/>
              <a:t> that it can model, and the kind of data that it can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separate</a:t>
            </a:r>
          </a:p>
          <a:p>
            <a:pPr lvl="1"/>
            <a:r>
              <a:rPr lang="en-US" dirty="0"/>
              <a:t>When we have </a:t>
            </a:r>
            <a:r>
              <a:rPr lang="en-US" dirty="0">
                <a:solidFill>
                  <a:srgbClr val="0070C0"/>
                </a:solidFill>
              </a:rPr>
              <a:t>discrete</a:t>
            </a:r>
            <a:r>
              <a:rPr lang="en-US" dirty="0"/>
              <a:t> (or binary) values, we are interested in the class of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boolean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functions </a:t>
            </a:r>
            <a:r>
              <a:rPr lang="en-US" dirty="0"/>
              <a:t>that can be modeled</a:t>
            </a:r>
          </a:p>
          <a:p>
            <a:pPr lvl="1"/>
            <a:r>
              <a:rPr lang="en-US" dirty="0"/>
              <a:t>If the data-points are real vectors we talk about the </a:t>
            </a:r>
            <a:r>
              <a:rPr lang="en-US" dirty="0">
                <a:solidFill>
                  <a:srgbClr val="0070C0"/>
                </a:solidFill>
              </a:rPr>
              <a:t>decision boundary </a:t>
            </a:r>
            <a:r>
              <a:rPr lang="en-US" dirty="0"/>
              <a:t>that the classifier can model</a:t>
            </a:r>
          </a:p>
        </p:txBody>
      </p:sp>
    </p:spTree>
    <p:extLst>
      <p:ext uri="{BB962C8B-B14F-4D97-AF65-F5344CB8AC3E}">
        <p14:creationId xmlns:p14="http://schemas.microsoft.com/office/powerpoint/2010/main" val="151866134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Decision Boundary</a:t>
            </a:r>
          </a:p>
        </p:txBody>
      </p:sp>
      <p:graphicFrame>
        <p:nvGraphicFramePr>
          <p:cNvPr id="958467" name="Object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7129048"/>
              </p:ext>
            </p:extLst>
          </p:nvPr>
        </p:nvGraphicFramePr>
        <p:xfrm>
          <a:off x="457200" y="1490662"/>
          <a:ext cx="8318500" cy="357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14" name="Visio" r:id="rId3" imgW="8908491" imgH="3827261" progId="Visio.Drawing.6">
                  <p:embed/>
                </p:oleObj>
              </mc:Choice>
              <mc:Fallback>
                <p:oleObj name="Visio" r:id="rId3" imgW="8908491" imgH="3827261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490662"/>
                        <a:ext cx="8318500" cy="357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8468" name="Text Box 4"/>
          <p:cNvSpPr txBox="1">
            <a:spLocks noChangeArrowheads="1"/>
          </p:cNvSpPr>
          <p:nvPr/>
        </p:nvSpPr>
        <p:spPr bwMode="auto">
          <a:xfrm>
            <a:off x="533400" y="5224462"/>
            <a:ext cx="8001000" cy="1328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sz="1800" dirty="0"/>
              <a:t> Border line between two neighboring regions of different classes is known as 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</a:rPr>
              <a:t>decision boundary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1800" dirty="0"/>
              <a:t> Decision boundary is </a:t>
            </a:r>
            <a:r>
              <a:rPr lang="en-US" sz="1800" dirty="0">
                <a:solidFill>
                  <a:srgbClr val="0070C0"/>
                </a:solidFill>
              </a:rPr>
              <a:t>parallel to axes</a:t>
            </a:r>
            <a:r>
              <a:rPr lang="en-US" sz="1800" dirty="0"/>
              <a:t> because test condition involves a single attribute at-a-time</a:t>
            </a:r>
          </a:p>
        </p:txBody>
      </p:sp>
    </p:spTree>
    <p:extLst>
      <p:ext uri="{BB962C8B-B14F-4D97-AF65-F5344CB8AC3E}">
        <p14:creationId xmlns:p14="http://schemas.microsoft.com/office/powerpoint/2010/main" val="29541686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Expressiveness</a:t>
            </a:r>
          </a:p>
        </p:txBody>
      </p:sp>
      <p:sp>
        <p:nvSpPr>
          <p:cNvPr id="957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Decision tree provides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expressive</a:t>
            </a:r>
            <a:r>
              <a:rPr lang="en-US" sz="2400" dirty="0"/>
              <a:t> representation for learning discrete-valued function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But they do not generalize well to certain types of Boolean functions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 Example: </a:t>
            </a:r>
            <a:r>
              <a:rPr lang="en-US" sz="2000" dirty="0">
                <a:solidFill>
                  <a:srgbClr val="FF0000"/>
                </a:solidFill>
              </a:rPr>
              <a:t>parity function</a:t>
            </a:r>
            <a:r>
              <a:rPr lang="en-US" sz="2000" dirty="0"/>
              <a:t>: </a:t>
            </a:r>
          </a:p>
          <a:p>
            <a:pPr lvl="3">
              <a:lnSpc>
                <a:spcPct val="90000"/>
              </a:lnSpc>
            </a:pPr>
            <a:r>
              <a:rPr lang="en-US" sz="1800" dirty="0"/>
              <a:t>Class = 1 if there is an 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</a:rPr>
              <a:t>even</a:t>
            </a:r>
            <a:r>
              <a:rPr lang="en-US" sz="1800" dirty="0"/>
              <a:t> number of Boolean attributes with truth value = True</a:t>
            </a:r>
          </a:p>
          <a:p>
            <a:pPr lvl="3">
              <a:lnSpc>
                <a:spcPct val="90000"/>
              </a:lnSpc>
            </a:pPr>
            <a:r>
              <a:rPr lang="en-US" sz="1800" dirty="0"/>
              <a:t>Class = 0 if there is an </a:t>
            </a:r>
            <a:r>
              <a:rPr lang="en-US" sz="1800" dirty="0">
                <a:solidFill>
                  <a:srgbClr val="0070C0"/>
                </a:solidFill>
              </a:rPr>
              <a:t>odd</a:t>
            </a:r>
            <a:r>
              <a:rPr lang="en-US" sz="1800" dirty="0"/>
              <a:t> number of Boolean attributes with truth value = True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 For accurate modeling, must have a complete tree</a:t>
            </a:r>
          </a:p>
          <a:p>
            <a:pPr lvl="4"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r>
              <a:rPr lang="en-US" sz="2400" dirty="0"/>
              <a:t>Less expressive for modeling continuous variables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Particularly when test condition involves only a single attribute at-a-time</a:t>
            </a:r>
          </a:p>
        </p:txBody>
      </p:sp>
    </p:spTree>
    <p:extLst>
      <p:ext uri="{BB962C8B-B14F-4D97-AF65-F5344CB8AC3E}">
        <p14:creationId xmlns:p14="http://schemas.microsoft.com/office/powerpoint/2010/main" val="21481570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Oblique Decision Trees</a:t>
            </a:r>
          </a:p>
        </p:txBody>
      </p:sp>
      <p:pic>
        <p:nvPicPr>
          <p:cNvPr id="95949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6654" r="7353" b="5882"/>
          <a:stretch>
            <a:fillRect/>
          </a:stretch>
        </p:blipFill>
        <p:spPr bwMode="auto">
          <a:xfrm>
            <a:off x="228600" y="1600200"/>
            <a:ext cx="49530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959492" name="Group 4"/>
          <p:cNvGrpSpPr>
            <a:grpSpLocks/>
          </p:cNvGrpSpPr>
          <p:nvPr/>
        </p:nvGrpSpPr>
        <p:grpSpPr bwMode="auto">
          <a:xfrm>
            <a:off x="5638800" y="2514600"/>
            <a:ext cx="3200400" cy="2286000"/>
            <a:chOff x="3552" y="1248"/>
            <a:chExt cx="2016" cy="1440"/>
          </a:xfrm>
        </p:grpSpPr>
        <p:sp>
          <p:nvSpPr>
            <p:cNvPr id="959493" name="Oval 5"/>
            <p:cNvSpPr>
              <a:spLocks noChangeArrowheads="1"/>
            </p:cNvSpPr>
            <p:nvPr/>
          </p:nvSpPr>
          <p:spPr bwMode="auto">
            <a:xfrm>
              <a:off x="4080" y="1248"/>
              <a:ext cx="1008" cy="48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/>
                <a:t>x + y &lt; 1</a:t>
              </a:r>
            </a:p>
          </p:txBody>
        </p:sp>
        <p:sp>
          <p:nvSpPr>
            <p:cNvPr id="959494" name="Line 6"/>
            <p:cNvSpPr>
              <a:spLocks noChangeShapeType="1"/>
            </p:cNvSpPr>
            <p:nvPr/>
          </p:nvSpPr>
          <p:spPr bwMode="auto">
            <a:xfrm flipH="1">
              <a:off x="4032" y="1728"/>
              <a:ext cx="528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9495" name="Line 7"/>
            <p:cNvSpPr>
              <a:spLocks noChangeShapeType="1"/>
            </p:cNvSpPr>
            <p:nvPr/>
          </p:nvSpPr>
          <p:spPr bwMode="auto">
            <a:xfrm>
              <a:off x="4560" y="1728"/>
              <a:ext cx="624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9496" name="Rectangle 8"/>
            <p:cNvSpPr>
              <a:spLocks noChangeArrowheads="1"/>
            </p:cNvSpPr>
            <p:nvPr/>
          </p:nvSpPr>
          <p:spPr bwMode="auto">
            <a:xfrm>
              <a:off x="3552" y="2208"/>
              <a:ext cx="816" cy="480"/>
            </a:xfrm>
            <a:prstGeom prst="rect">
              <a:avLst/>
            </a:prstGeom>
            <a:noFill/>
            <a:ln w="25400">
              <a:solidFill>
                <a:srgbClr val="1C5A6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800"/>
                <a:t>Class = </a:t>
              </a:r>
              <a:r>
                <a:rPr lang="en-US" sz="2400">
                  <a:solidFill>
                    <a:srgbClr val="FF0000"/>
                  </a:solidFill>
                </a:rPr>
                <a:t>+</a:t>
              </a:r>
              <a:r>
                <a:rPr lang="en-US" sz="1800"/>
                <a:t> </a:t>
              </a:r>
            </a:p>
          </p:txBody>
        </p:sp>
        <p:sp>
          <p:nvSpPr>
            <p:cNvPr id="959497" name="Rectangle 9"/>
            <p:cNvSpPr>
              <a:spLocks noChangeArrowheads="1"/>
            </p:cNvSpPr>
            <p:nvPr/>
          </p:nvSpPr>
          <p:spPr bwMode="auto">
            <a:xfrm>
              <a:off x="4752" y="2208"/>
              <a:ext cx="816" cy="480"/>
            </a:xfrm>
            <a:prstGeom prst="rect">
              <a:avLst/>
            </a:prstGeom>
            <a:noFill/>
            <a:ln w="25400">
              <a:solidFill>
                <a:srgbClr val="1C5A6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800"/>
                <a:t>Class =     </a:t>
              </a:r>
            </a:p>
          </p:txBody>
        </p:sp>
        <p:sp>
          <p:nvSpPr>
            <p:cNvPr id="959498" name="Oval 10"/>
            <p:cNvSpPr>
              <a:spLocks noChangeArrowheads="1"/>
            </p:cNvSpPr>
            <p:nvPr/>
          </p:nvSpPr>
          <p:spPr bwMode="auto">
            <a:xfrm>
              <a:off x="5376" y="2400"/>
              <a:ext cx="96" cy="96"/>
            </a:xfrm>
            <a:prstGeom prst="ellipse">
              <a:avLst/>
            </a:prstGeom>
            <a:solidFill>
              <a:srgbClr val="0000FF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59499" name="Text Box 11"/>
          <p:cNvSpPr txBox="1">
            <a:spLocks noChangeArrowheads="1"/>
          </p:cNvSpPr>
          <p:nvPr/>
        </p:nvSpPr>
        <p:spPr bwMode="auto">
          <a:xfrm>
            <a:off x="533400" y="5589588"/>
            <a:ext cx="8001000" cy="1192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sz="1800"/>
              <a:t> Test condition may involve multiple attributes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1800"/>
              <a:t> More expressive representation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1800"/>
              <a:t> Finding optimal test condition is computationally expensive</a:t>
            </a:r>
          </a:p>
        </p:txBody>
      </p:sp>
    </p:spTree>
    <p:extLst>
      <p:ext uri="{BB962C8B-B14F-4D97-AF65-F5344CB8AC3E}">
        <p14:creationId xmlns:p14="http://schemas.microsoft.com/office/powerpoint/2010/main" val="3611811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9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9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9499" grpId="0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Practical Issues of Classification</a:t>
            </a:r>
          </a:p>
        </p:txBody>
      </p:sp>
      <p:sp>
        <p:nvSpPr>
          <p:cNvPr id="936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Underfitting</a:t>
            </a:r>
            <a:r>
              <a:rPr lang="en-US" dirty="0"/>
              <a:t> and </a:t>
            </a:r>
            <a:r>
              <a:rPr lang="en-US" dirty="0" err="1"/>
              <a:t>Overfitting</a:t>
            </a:r>
            <a:endParaRPr lang="en-US" dirty="0"/>
          </a:p>
          <a:p>
            <a:endParaRPr lang="en-US" dirty="0"/>
          </a:p>
          <a:p>
            <a:r>
              <a:rPr lang="en-US" dirty="0"/>
              <a:t>Evaluation</a:t>
            </a:r>
          </a:p>
        </p:txBody>
      </p:sp>
    </p:spTree>
    <p:extLst>
      <p:ext uri="{BB962C8B-B14F-4D97-AF65-F5344CB8AC3E}">
        <p14:creationId xmlns:p14="http://schemas.microsoft.com/office/powerpoint/2010/main" val="375298322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Underfitting and Overfitting (Example)</a:t>
            </a:r>
          </a:p>
        </p:txBody>
      </p:sp>
      <p:pic>
        <p:nvPicPr>
          <p:cNvPr id="93798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9" t="5307" r="5814" b="5804"/>
          <a:stretch>
            <a:fillRect/>
          </a:stretch>
        </p:blipFill>
        <p:spPr bwMode="auto">
          <a:xfrm>
            <a:off x="304800" y="1600200"/>
            <a:ext cx="56388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37988" name="Text Box 4"/>
          <p:cNvSpPr txBox="1">
            <a:spLocks noChangeArrowheads="1"/>
          </p:cNvSpPr>
          <p:nvPr/>
        </p:nvSpPr>
        <p:spPr bwMode="auto">
          <a:xfrm>
            <a:off x="6172200" y="2362200"/>
            <a:ext cx="2743200" cy="353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500 circular and 500 triangular data points.</a:t>
            </a:r>
          </a:p>
          <a:p>
            <a:pPr>
              <a:spcBef>
                <a:spcPct val="50000"/>
              </a:spcBef>
            </a:pPr>
            <a:endParaRPr lang="en-US" sz="1800"/>
          </a:p>
          <a:p>
            <a:pPr>
              <a:spcBef>
                <a:spcPct val="50000"/>
              </a:spcBef>
            </a:pPr>
            <a:r>
              <a:rPr lang="en-US" sz="1800"/>
              <a:t>Circular points:</a:t>
            </a:r>
          </a:p>
          <a:p>
            <a:pPr>
              <a:spcBef>
                <a:spcPct val="50000"/>
              </a:spcBef>
            </a:pPr>
            <a:r>
              <a:rPr lang="en-US" sz="1800"/>
              <a:t>0.5 </a:t>
            </a:r>
            <a:r>
              <a:rPr lang="en-US" sz="1800">
                <a:sym typeface="Symbol" pitchFamily="18" charset="2"/>
              </a:rPr>
              <a:t> sqrt(x</a:t>
            </a:r>
            <a:r>
              <a:rPr lang="en-US" sz="1800" baseline="-25000">
                <a:sym typeface="Symbol" pitchFamily="18" charset="2"/>
              </a:rPr>
              <a:t>1</a:t>
            </a:r>
            <a:r>
              <a:rPr lang="en-US" sz="1800" baseline="30000">
                <a:sym typeface="Symbol" pitchFamily="18" charset="2"/>
              </a:rPr>
              <a:t>2</a:t>
            </a:r>
            <a:r>
              <a:rPr lang="en-US" sz="1800">
                <a:sym typeface="Symbol" pitchFamily="18" charset="2"/>
              </a:rPr>
              <a:t>+x</a:t>
            </a:r>
            <a:r>
              <a:rPr lang="en-US" sz="1800" baseline="-25000">
                <a:sym typeface="Symbol" pitchFamily="18" charset="2"/>
              </a:rPr>
              <a:t>2</a:t>
            </a:r>
            <a:r>
              <a:rPr lang="en-US" sz="1800" baseline="30000">
                <a:sym typeface="Symbol" pitchFamily="18" charset="2"/>
              </a:rPr>
              <a:t>2</a:t>
            </a:r>
            <a:r>
              <a:rPr lang="en-US" sz="1800">
                <a:sym typeface="Symbol" pitchFamily="18" charset="2"/>
              </a:rPr>
              <a:t>)  1</a:t>
            </a:r>
            <a:endParaRPr lang="en-US" sz="1800"/>
          </a:p>
          <a:p>
            <a:pPr>
              <a:spcBef>
                <a:spcPct val="50000"/>
              </a:spcBef>
            </a:pPr>
            <a:endParaRPr lang="en-US" sz="1800"/>
          </a:p>
          <a:p>
            <a:pPr>
              <a:spcBef>
                <a:spcPct val="50000"/>
              </a:spcBef>
            </a:pPr>
            <a:r>
              <a:rPr lang="en-US" sz="1800"/>
              <a:t>Triangular points:</a:t>
            </a:r>
          </a:p>
          <a:p>
            <a:pPr>
              <a:spcBef>
                <a:spcPct val="50000"/>
              </a:spcBef>
            </a:pPr>
            <a:r>
              <a:rPr lang="en-US" sz="1800">
                <a:sym typeface="Symbol" pitchFamily="18" charset="2"/>
              </a:rPr>
              <a:t>sqrt(x</a:t>
            </a:r>
            <a:r>
              <a:rPr lang="en-US" sz="1800" baseline="-25000">
                <a:sym typeface="Symbol" pitchFamily="18" charset="2"/>
              </a:rPr>
              <a:t>1</a:t>
            </a:r>
            <a:r>
              <a:rPr lang="en-US" sz="1800" baseline="30000">
                <a:sym typeface="Symbol" pitchFamily="18" charset="2"/>
              </a:rPr>
              <a:t>2</a:t>
            </a:r>
            <a:r>
              <a:rPr lang="en-US" sz="1800">
                <a:sym typeface="Symbol" pitchFamily="18" charset="2"/>
              </a:rPr>
              <a:t>+x</a:t>
            </a:r>
            <a:r>
              <a:rPr lang="en-US" sz="1800" baseline="-25000">
                <a:sym typeface="Symbol" pitchFamily="18" charset="2"/>
              </a:rPr>
              <a:t>2</a:t>
            </a:r>
            <a:r>
              <a:rPr lang="en-US" sz="1800" baseline="30000">
                <a:sym typeface="Symbol" pitchFamily="18" charset="2"/>
              </a:rPr>
              <a:t>2</a:t>
            </a:r>
            <a:r>
              <a:rPr lang="en-US" sz="1800">
                <a:sym typeface="Symbol" pitchFamily="18" charset="2"/>
              </a:rPr>
              <a:t>) &gt; 0.5 or</a:t>
            </a:r>
          </a:p>
          <a:p>
            <a:pPr>
              <a:spcBef>
                <a:spcPct val="50000"/>
              </a:spcBef>
            </a:pPr>
            <a:r>
              <a:rPr lang="en-US" sz="1800">
                <a:sym typeface="Symbol" pitchFamily="18" charset="2"/>
              </a:rPr>
              <a:t>sqrt(x</a:t>
            </a:r>
            <a:r>
              <a:rPr lang="en-US" sz="1800" baseline="-25000">
                <a:sym typeface="Symbol" pitchFamily="18" charset="2"/>
              </a:rPr>
              <a:t>1</a:t>
            </a:r>
            <a:r>
              <a:rPr lang="en-US" sz="1800" baseline="30000">
                <a:sym typeface="Symbol" pitchFamily="18" charset="2"/>
              </a:rPr>
              <a:t>2</a:t>
            </a:r>
            <a:r>
              <a:rPr lang="en-US" sz="1800">
                <a:sym typeface="Symbol" pitchFamily="18" charset="2"/>
              </a:rPr>
              <a:t>+x</a:t>
            </a:r>
            <a:r>
              <a:rPr lang="en-US" sz="1800" baseline="-25000">
                <a:sym typeface="Symbol" pitchFamily="18" charset="2"/>
              </a:rPr>
              <a:t>2</a:t>
            </a:r>
            <a:r>
              <a:rPr lang="en-US" sz="1800" baseline="30000">
                <a:sym typeface="Symbol" pitchFamily="18" charset="2"/>
              </a:rPr>
              <a:t>2</a:t>
            </a:r>
            <a:r>
              <a:rPr lang="en-US" sz="1800">
                <a:sym typeface="Symbol" pitchFamily="18" charset="2"/>
              </a:rPr>
              <a:t>) &lt; 1</a:t>
            </a:r>
          </a:p>
        </p:txBody>
      </p:sp>
    </p:spTree>
    <p:extLst>
      <p:ext uri="{BB962C8B-B14F-4D97-AF65-F5344CB8AC3E}">
        <p14:creationId xmlns:p14="http://schemas.microsoft.com/office/powerpoint/2010/main" val="103047930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525262"/>
            <a:ext cx="8229600" cy="990600"/>
          </a:xfrm>
        </p:spPr>
        <p:txBody>
          <a:bodyPr/>
          <a:lstStyle/>
          <a:p>
            <a:r>
              <a:rPr lang="en-US"/>
              <a:t>Underfitting and Overfitting</a:t>
            </a:r>
          </a:p>
        </p:txBody>
      </p:sp>
      <p:pic>
        <p:nvPicPr>
          <p:cNvPr id="9390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524000"/>
            <a:ext cx="5638800" cy="422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39012" name="Line 4"/>
          <p:cNvSpPr>
            <a:spLocks noChangeShapeType="1"/>
          </p:cNvSpPr>
          <p:nvPr/>
        </p:nvSpPr>
        <p:spPr bwMode="auto">
          <a:xfrm>
            <a:off x="4222811" y="1816963"/>
            <a:ext cx="0" cy="3581400"/>
          </a:xfrm>
          <a:prstGeom prst="line">
            <a:avLst/>
          </a:prstGeom>
          <a:noFill/>
          <a:ln w="25400">
            <a:solidFill>
              <a:srgbClr val="8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9013" name="Text Box 5"/>
          <p:cNvSpPr txBox="1">
            <a:spLocks noChangeArrowheads="1"/>
          </p:cNvSpPr>
          <p:nvPr/>
        </p:nvSpPr>
        <p:spPr bwMode="auto">
          <a:xfrm>
            <a:off x="4318247" y="1906873"/>
            <a:ext cx="1600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 err="1"/>
              <a:t>Overfitting</a:t>
            </a:r>
            <a:endParaRPr lang="en-US" sz="1800" dirty="0">
              <a:sym typeface="Symbol" pitchFamily="18" charset="2"/>
            </a:endParaRPr>
          </a:p>
        </p:txBody>
      </p:sp>
      <p:sp>
        <p:nvSpPr>
          <p:cNvPr id="939014" name="Text Box 6"/>
          <p:cNvSpPr txBox="1">
            <a:spLocks noChangeArrowheads="1"/>
          </p:cNvSpPr>
          <p:nvPr/>
        </p:nvSpPr>
        <p:spPr bwMode="auto">
          <a:xfrm>
            <a:off x="419100" y="5782438"/>
            <a:ext cx="8458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 err="1">
                <a:solidFill>
                  <a:srgbClr val="0070C0"/>
                </a:solidFill>
              </a:rPr>
              <a:t>Underfitting</a:t>
            </a:r>
            <a:r>
              <a:rPr lang="en-US" sz="1800" b="0" dirty="0"/>
              <a:t>: when model is </a:t>
            </a:r>
            <a:r>
              <a:rPr lang="en-US" sz="1800" b="0" dirty="0">
                <a:solidFill>
                  <a:schemeClr val="accent6">
                    <a:lumMod val="75000"/>
                  </a:schemeClr>
                </a:solidFill>
              </a:rPr>
              <a:t>too simple</a:t>
            </a:r>
            <a:r>
              <a:rPr lang="en-US" sz="1800" b="0" dirty="0"/>
              <a:t>, both training and test errors are large </a:t>
            </a:r>
            <a:endParaRPr lang="en-US" sz="1800" b="0" dirty="0">
              <a:sym typeface="Symbol" pitchFamily="18" charset="2"/>
            </a:endParaRPr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>
            <a:off x="2743200" y="1816963"/>
            <a:ext cx="0" cy="3581400"/>
          </a:xfrm>
          <a:prstGeom prst="line">
            <a:avLst/>
          </a:prstGeom>
          <a:noFill/>
          <a:ln w="25400">
            <a:solidFill>
              <a:srgbClr val="8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1828800" y="1889099"/>
            <a:ext cx="1600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 err="1"/>
              <a:t>Underfitting</a:t>
            </a:r>
            <a:endParaRPr lang="en-US" sz="1800" dirty="0">
              <a:sym typeface="Symbol" pitchFamily="18" charset="2"/>
            </a:endParaRP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454611" y="6149150"/>
            <a:ext cx="84582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err="1">
                <a:solidFill>
                  <a:srgbClr val="0070C0"/>
                </a:solidFill>
              </a:rPr>
              <a:t>Ove</a:t>
            </a:r>
            <a:r>
              <a:rPr lang="en-US" sz="1800" dirty="0" err="1">
                <a:solidFill>
                  <a:srgbClr val="0070C0"/>
                </a:solidFill>
              </a:rPr>
              <a:t>rfitting</a:t>
            </a:r>
            <a:r>
              <a:rPr lang="en-US" sz="1800" b="0" dirty="0"/>
              <a:t>: when model is </a:t>
            </a:r>
            <a:r>
              <a:rPr lang="en-US" sz="1800" b="0" dirty="0">
                <a:solidFill>
                  <a:schemeClr val="accent6">
                    <a:lumMod val="75000"/>
                  </a:schemeClr>
                </a:solidFill>
              </a:rPr>
              <a:t>too complex </a:t>
            </a:r>
            <a:r>
              <a:rPr lang="en-US" sz="1800" b="0" dirty="0"/>
              <a:t>it models the details of the training set and fails on the test set </a:t>
            </a:r>
            <a:endParaRPr lang="en-US" sz="1800" b="0" dirty="0"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12155663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Overfitting due to Noise </a:t>
            </a:r>
          </a:p>
        </p:txBody>
      </p:sp>
      <p:pic>
        <p:nvPicPr>
          <p:cNvPr id="9400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19" b="3615"/>
          <a:stretch>
            <a:fillRect/>
          </a:stretch>
        </p:blipFill>
        <p:spPr bwMode="auto">
          <a:xfrm>
            <a:off x="1295400" y="1614487"/>
            <a:ext cx="632460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40036" name="Text Box 4"/>
          <p:cNvSpPr txBox="1">
            <a:spLocks noChangeArrowheads="1"/>
          </p:cNvSpPr>
          <p:nvPr/>
        </p:nvSpPr>
        <p:spPr bwMode="auto">
          <a:xfrm>
            <a:off x="1676400" y="6262687"/>
            <a:ext cx="5791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Decision boundary is distorted by noise point</a:t>
            </a:r>
            <a:endParaRPr lang="en-US" sz="1800"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0706540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05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610600" cy="762000"/>
          </a:xfrm>
        </p:spPr>
        <p:txBody>
          <a:bodyPr>
            <a:normAutofit/>
          </a:bodyPr>
          <a:lstStyle/>
          <a:p>
            <a:r>
              <a:rPr lang="en-US" dirty="0" err="1"/>
              <a:t>Overfitting</a:t>
            </a:r>
            <a:r>
              <a:rPr lang="en-US" dirty="0"/>
              <a:t> due to Insufficient Examples</a:t>
            </a:r>
          </a:p>
        </p:txBody>
      </p:sp>
      <p:sp>
        <p:nvSpPr>
          <p:cNvPr id="941059" name="Text Box 3"/>
          <p:cNvSpPr txBox="1">
            <a:spLocks noChangeArrowheads="1"/>
          </p:cNvSpPr>
          <p:nvPr/>
        </p:nvSpPr>
        <p:spPr bwMode="auto">
          <a:xfrm>
            <a:off x="609600" y="5026025"/>
            <a:ext cx="7620000" cy="160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>
                <a:sym typeface="Symbol" pitchFamily="18" charset="2"/>
              </a:rPr>
              <a:t>Lack of data points in the lower half of the diagram makes it difficult to predict correctly the class labels of that region </a:t>
            </a:r>
          </a:p>
          <a:p>
            <a:pPr>
              <a:spcBef>
                <a:spcPct val="50000"/>
              </a:spcBef>
            </a:pPr>
            <a:r>
              <a:rPr lang="en-US" sz="1800"/>
              <a:t>- Insufficient number of training records in the region causes the decision tree to predict the test examples using other training records that are irrelevant to the classification task</a:t>
            </a:r>
            <a:endParaRPr lang="en-US" sz="1800">
              <a:sym typeface="Symbol" pitchFamily="18" charset="2"/>
            </a:endParaRPr>
          </a:p>
        </p:txBody>
      </p:sp>
      <p:pic>
        <p:nvPicPr>
          <p:cNvPr id="941060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72" t="4857" r="5357" b="4857"/>
          <a:stretch>
            <a:fillRect/>
          </a:stretch>
        </p:blipFill>
        <p:spPr>
          <a:xfrm>
            <a:off x="1828800" y="1419225"/>
            <a:ext cx="4470400" cy="3454400"/>
          </a:xfrm>
          <a:noFill/>
          <a:ln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Connector 2"/>
          <p:cNvCxnSpPr/>
          <p:nvPr/>
        </p:nvCxnSpPr>
        <p:spPr>
          <a:xfrm>
            <a:off x="1981200" y="1447800"/>
            <a:ext cx="4267200" cy="3276600"/>
          </a:xfrm>
          <a:prstGeom prst="line">
            <a:avLst/>
          </a:prstGeom>
          <a:ln w="285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7422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Notes on Overfitting</a:t>
            </a:r>
          </a:p>
        </p:txBody>
      </p:sp>
      <p:sp>
        <p:nvSpPr>
          <p:cNvPr id="942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Overfitting</a:t>
            </a:r>
            <a:r>
              <a:rPr lang="en-US" dirty="0"/>
              <a:t> results in decision trees that are more complex than necessary</a:t>
            </a:r>
          </a:p>
          <a:p>
            <a:endParaRPr lang="en-US" dirty="0"/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Training error </a:t>
            </a:r>
            <a:r>
              <a:rPr lang="en-US" dirty="0"/>
              <a:t>no longer provides a good estimate of </a:t>
            </a:r>
            <a:r>
              <a:rPr lang="en-US" dirty="0">
                <a:solidFill>
                  <a:srgbClr val="0070C0"/>
                </a:solidFill>
              </a:rPr>
              <a:t>test error</a:t>
            </a:r>
            <a:r>
              <a:rPr lang="en-US" dirty="0"/>
              <a:t>, that is, how well the tree will perform on previously unseen records</a:t>
            </a:r>
          </a:p>
          <a:p>
            <a:pPr lvl="1"/>
            <a:r>
              <a:rPr lang="en-US" dirty="0"/>
              <a:t>The model does not </a:t>
            </a:r>
            <a:r>
              <a:rPr lang="en-US" dirty="0">
                <a:solidFill>
                  <a:srgbClr val="FF0000"/>
                </a:solidFill>
              </a:rPr>
              <a:t>generalize</a:t>
            </a:r>
            <a:r>
              <a:rPr lang="en-US" dirty="0"/>
              <a:t> well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Generalization</a:t>
            </a:r>
            <a:r>
              <a:rPr lang="en-US" dirty="0"/>
              <a:t>: The ability of the model to predict data points that it has not already seen.</a:t>
            </a:r>
          </a:p>
          <a:p>
            <a:endParaRPr lang="en-US" dirty="0"/>
          </a:p>
          <a:p>
            <a:r>
              <a:rPr lang="en-US" dirty="0"/>
              <a:t>Need new ways for estimating errors</a:t>
            </a:r>
          </a:p>
        </p:txBody>
      </p:sp>
    </p:spTree>
    <p:extLst>
      <p:ext uri="{BB962C8B-B14F-4D97-AF65-F5344CB8AC3E}">
        <p14:creationId xmlns:p14="http://schemas.microsoft.com/office/powerpoint/2010/main" val="136460776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Estimating Generalization Errors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310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600200"/>
                <a:ext cx="8229600" cy="5029200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Re-substitution errors: </a:t>
                </a:r>
                <a:r>
                  <a:rPr lang="en-US" sz="2400" dirty="0"/>
                  <a:t>error on </a:t>
                </a:r>
                <a:r>
                  <a:rPr lang="en-US" sz="2400" dirty="0">
                    <a:solidFill>
                      <a:srgbClr val="0070C0"/>
                    </a:solidFill>
                  </a:rPr>
                  <a:t>training</a:t>
                </a:r>
                <a:r>
                  <a:rPr lang="en-US" sz="2400" dirty="0"/>
                  <a:t> (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/>
                      </a:rPr>
                      <m:t>∑</m:t>
                    </m:r>
                    <m:r>
                      <a:rPr lang="en-US" sz="2400" i="1" dirty="0" smtClean="0">
                        <a:latin typeface="Cambria Math"/>
                      </a:rPr>
                      <m:t>𝑒</m:t>
                    </m:r>
                    <m:r>
                      <a:rPr lang="en-US" sz="2400" i="1" dirty="0" smtClean="0">
                        <a:latin typeface="Cambria Math"/>
                      </a:rPr>
                      <m:t>(</m:t>
                    </m:r>
                    <m:r>
                      <a:rPr lang="en-US" sz="2400" i="1" dirty="0" smtClean="0">
                        <a:latin typeface="Cambria Math"/>
                      </a:rPr>
                      <m:t>𝑡</m:t>
                    </m:r>
                    <m:r>
                      <a:rPr lang="en-US" sz="240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400" dirty="0"/>
                  <a:t> )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sz="2400" dirty="0">
                    <a:solidFill>
                      <a:srgbClr val="FF0000"/>
                    </a:solidFill>
                  </a:rPr>
                  <a:t>Generalization errors:</a:t>
                </a:r>
                <a:r>
                  <a:rPr lang="en-US" sz="2400" dirty="0"/>
                  <a:t> error on </a:t>
                </a:r>
                <a:r>
                  <a:rPr lang="en-US" sz="2400" dirty="0">
                    <a:solidFill>
                      <a:srgbClr val="0070C0"/>
                    </a:solidFill>
                  </a:rPr>
                  <a:t>testing</a:t>
                </a:r>
                <a:r>
                  <a:rPr lang="en-US" sz="2400" dirty="0"/>
                  <a:t> (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/>
                      </a:rPr>
                      <m:t>∑</m:t>
                    </m:r>
                    <m:r>
                      <a:rPr lang="en-US" sz="2400" i="1" dirty="0" smtClean="0">
                        <a:latin typeface="Cambria Math"/>
                      </a:rPr>
                      <m:t>𝑒</m:t>
                    </m:r>
                    <m:r>
                      <a:rPr lang="en-US" sz="2400" b="0" i="1" dirty="0" smtClean="0">
                        <a:latin typeface="Cambria Math"/>
                      </a:rPr>
                      <m:t>′</m:t>
                    </m:r>
                    <m:r>
                      <a:rPr lang="en-US" sz="2400" i="1" dirty="0" smtClean="0">
                        <a:latin typeface="Cambria Math"/>
                      </a:rPr>
                      <m:t>(</m:t>
                    </m:r>
                    <m:r>
                      <a:rPr lang="en-US" sz="2400" i="1" dirty="0" smtClean="0">
                        <a:latin typeface="Cambria Math"/>
                      </a:rPr>
                      <m:t>𝑡</m:t>
                    </m:r>
                    <m:r>
                      <a:rPr lang="en-US" sz="240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400" dirty="0"/>
                  <a:t>)</a:t>
                </a:r>
              </a:p>
              <a:p>
                <a:pPr lvl="4">
                  <a:lnSpc>
                    <a:spcPct val="80000"/>
                  </a:lnSpc>
                </a:pPr>
                <a:endParaRPr lang="en-US" sz="600" dirty="0"/>
              </a:p>
              <a:p>
                <a:pPr>
                  <a:lnSpc>
                    <a:spcPct val="80000"/>
                  </a:lnSpc>
                </a:pPr>
                <a:r>
                  <a:rPr lang="en-US" sz="2400" dirty="0"/>
                  <a:t>Methods for estimating generalization errors: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Optimistic approach: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𝑒</m:t>
                    </m:r>
                    <m:r>
                      <a:rPr lang="en-US" sz="2400" b="0" i="1" dirty="0" smtClean="0">
                        <a:latin typeface="Cambria Math"/>
                      </a:rPr>
                      <m:t>′</m:t>
                    </m:r>
                    <m:r>
                      <a:rPr lang="en-US" sz="2400" i="1" dirty="0" smtClean="0">
                        <a:latin typeface="Cambria Math"/>
                      </a:rPr>
                      <m:t>(</m:t>
                    </m:r>
                    <m:r>
                      <a:rPr lang="en-US" sz="2400" i="1" dirty="0" smtClean="0">
                        <a:latin typeface="Cambria Math"/>
                      </a:rPr>
                      <m:t>𝑡</m:t>
                    </m:r>
                    <m:r>
                      <a:rPr lang="en-US" sz="2400" i="1" dirty="0" smtClean="0">
                        <a:latin typeface="Cambria Math"/>
                      </a:rPr>
                      <m:t>) = </m:t>
                    </m:r>
                    <m:r>
                      <a:rPr lang="en-US" sz="2400" i="1" dirty="0" smtClean="0">
                        <a:latin typeface="Cambria Math"/>
                      </a:rPr>
                      <m:t>𝑒</m:t>
                    </m:r>
                    <m:r>
                      <a:rPr lang="en-US" sz="2400" i="1" dirty="0" smtClean="0">
                        <a:latin typeface="Cambria Math"/>
                      </a:rPr>
                      <m:t>(</m:t>
                    </m:r>
                    <m:r>
                      <a:rPr lang="en-US" sz="2400" i="1" dirty="0" smtClean="0">
                        <a:latin typeface="Cambria Math"/>
                      </a:rPr>
                      <m:t>𝑡</m:t>
                    </m:r>
                    <m:r>
                      <a:rPr lang="en-US" sz="2400" i="1" dirty="0" smtClean="0">
                        <a:latin typeface="Cambria Math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lvl="1">
                  <a:lnSpc>
                    <a:spcPct val="80000"/>
                  </a:lnSpc>
                </a:pPr>
                <a:endParaRPr lang="en-US" sz="2400" dirty="0">
                  <a:solidFill>
                    <a:srgbClr val="FF0000"/>
                  </a:solidFill>
                </a:endParaRPr>
              </a:p>
              <a:p>
                <a:pPr lvl="1">
                  <a:lnSpc>
                    <a:spcPct val="80000"/>
                  </a:lnSpc>
                </a:pPr>
                <a:r>
                  <a:rPr lang="en-US" sz="2400" dirty="0">
                    <a:solidFill>
                      <a:srgbClr val="0070C0"/>
                    </a:solidFill>
                  </a:rPr>
                  <a:t>Pessimistic approach</a:t>
                </a:r>
                <a:r>
                  <a:rPr lang="en-US" sz="2400" dirty="0">
                    <a:solidFill>
                      <a:srgbClr val="FF0000"/>
                    </a:solidFill>
                  </a:rPr>
                  <a:t>:</a:t>
                </a:r>
                <a:r>
                  <a:rPr lang="en-US" sz="2400" dirty="0"/>
                  <a:t> </a:t>
                </a:r>
              </a:p>
              <a:p>
                <a:pPr lvl="2">
                  <a:lnSpc>
                    <a:spcPct val="80000"/>
                  </a:lnSpc>
                </a:pPr>
                <a:r>
                  <a:rPr lang="en-US" sz="2000" dirty="0"/>
                  <a:t>For each leaf node: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𝑒</m:t>
                    </m:r>
                    <m:r>
                      <a:rPr lang="en-US" sz="2000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′</m:t>
                    </m:r>
                    <m:r>
                      <a:rPr lang="en-US" sz="200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(</m:t>
                    </m:r>
                    <m:r>
                      <a:rPr lang="en-US" sz="200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𝑡</m:t>
                    </m:r>
                    <m:r>
                      <a:rPr lang="en-US" sz="200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) = (</m:t>
                    </m:r>
                    <m:r>
                      <a:rPr lang="en-US" sz="200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𝑒</m:t>
                    </m:r>
                    <m:r>
                      <a:rPr lang="en-US" sz="200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(</m:t>
                    </m:r>
                    <m:r>
                      <a:rPr lang="en-US" sz="200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𝑡</m:t>
                    </m:r>
                    <m:r>
                      <a:rPr lang="en-US" sz="200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)+0.5) </m:t>
                    </m:r>
                  </m:oMath>
                </a14:m>
                <a:endParaRPr lang="en-US" sz="2000" dirty="0">
                  <a:solidFill>
                    <a:srgbClr val="0070C0"/>
                  </a:solidFill>
                </a:endParaRPr>
              </a:p>
              <a:p>
                <a:pPr lvl="2">
                  <a:lnSpc>
                    <a:spcPct val="80000"/>
                  </a:lnSpc>
                </a:pPr>
                <a:r>
                  <a:rPr lang="en-US" sz="2000" dirty="0"/>
                  <a:t>Total errors: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𝑒</m:t>
                    </m:r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(</m:t>
                    </m:r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𝑇</m:t>
                    </m:r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) = 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  <a:sym typeface="Symbol" pitchFamily="18" charset="2"/>
                      </a:rPr>
                      <m:t>𝑒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  <a:sym typeface="Symbol" pitchFamily="18" charset="2"/>
                      </a:rPr>
                      <m:t>(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  <a:sym typeface="Symbol" pitchFamily="18" charset="2"/>
                      </a:rPr>
                      <m:t>𝑇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  <a:sym typeface="Symbol" pitchFamily="18" charset="2"/>
                      </a:rPr>
                      <m:t>) + 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  <a:sym typeface="Symbol" pitchFamily="18" charset="2"/>
                      </a:rPr>
                      <m:t>𝑁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  <a:sym typeface="Symbol" pitchFamily="18" charset="2"/>
                      </a:rPr>
                      <m:t>  0.5 </m:t>
                    </m:r>
                  </m:oMath>
                </a14:m>
                <a:r>
                  <a:rPr lang="en-US" sz="2000" dirty="0">
                    <a:sym typeface="Symbol" pitchFamily="18" charset="2"/>
                  </a:rPr>
                  <a:t>(</a:t>
                </a:r>
                <a:r>
                  <a:rPr lang="en-US" sz="2000" dirty="0">
                    <a:solidFill>
                      <a:srgbClr val="0070C0"/>
                    </a:solidFill>
                    <a:sym typeface="Symbol" pitchFamily="18" charset="2"/>
                  </a:rPr>
                  <a:t>N</a:t>
                </a:r>
                <a:r>
                  <a:rPr lang="en-US" sz="2000" dirty="0">
                    <a:sym typeface="Symbol" pitchFamily="18" charset="2"/>
                  </a:rPr>
                  <a:t>: number of leaf nodes)</a:t>
                </a:r>
              </a:p>
              <a:p>
                <a:pPr lvl="3">
                  <a:lnSpc>
                    <a:spcPct val="80000"/>
                  </a:lnSpc>
                </a:pPr>
                <a:r>
                  <a:rPr lang="en-US" sz="1800" dirty="0">
                    <a:sym typeface="Symbol" pitchFamily="18" charset="2"/>
                  </a:rPr>
                  <a:t>Penalize large trees</a:t>
                </a:r>
              </a:p>
              <a:p>
                <a:pPr lvl="2">
                  <a:lnSpc>
                    <a:spcPct val="80000"/>
                  </a:lnSpc>
                </a:pPr>
                <a:r>
                  <a:rPr lang="en-US" sz="2000" dirty="0">
                    <a:sym typeface="Symbol" pitchFamily="18" charset="2"/>
                  </a:rPr>
                  <a:t>For a tree with 30 leaf nodes and 10 errors on training (out of 1000 instances)</a:t>
                </a:r>
              </a:p>
              <a:p>
                <a:pPr lvl="3">
                  <a:lnSpc>
                    <a:spcPct val="80000"/>
                  </a:lnSpc>
                </a:pPr>
                <a:r>
                  <a:rPr lang="en-US" sz="1800" dirty="0">
                    <a:sym typeface="Symbol" pitchFamily="18" charset="2"/>
                  </a:rPr>
                  <a:t>Training error = 10/1000 = 1%</a:t>
                </a:r>
              </a:p>
              <a:p>
                <a:pPr lvl="3">
                  <a:lnSpc>
                    <a:spcPct val="80000"/>
                  </a:lnSpc>
                </a:pPr>
                <a:r>
                  <a:rPr lang="en-US" dirty="0">
                    <a:sym typeface="Symbol" pitchFamily="18" charset="2"/>
                  </a:rPr>
                  <a:t>Generalization error = (10 + 300.5)/1000 = 2.5%</a:t>
                </a:r>
              </a:p>
              <a:p>
                <a:pPr lvl="1">
                  <a:lnSpc>
                    <a:spcPct val="80000"/>
                  </a:lnSpc>
                </a:pPr>
                <a:endParaRPr lang="en-US" sz="2400" dirty="0">
                  <a:solidFill>
                    <a:srgbClr val="FF0000"/>
                  </a:solidFill>
                  <a:sym typeface="Symbol" pitchFamily="18" charset="2"/>
                </a:endParaRPr>
              </a:p>
              <a:p>
                <a:pPr lvl="1">
                  <a:lnSpc>
                    <a:spcPct val="80000"/>
                  </a:lnSpc>
                </a:pP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sym typeface="Symbol" pitchFamily="18" charset="2"/>
                  </a:rPr>
                  <a:t>Using </a:t>
                </a:r>
                <a:r>
                  <a:rPr lang="en-US" sz="2400" dirty="0">
                    <a:solidFill>
                      <a:srgbClr val="FF0000"/>
                    </a:solidFill>
                    <a:sym typeface="Symbol" pitchFamily="18" charset="2"/>
                  </a:rPr>
                  <a:t>validation set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sym typeface="Symbol" pitchFamily="18" charset="2"/>
                  </a:rPr>
                  <a:t>:</a:t>
                </a:r>
              </a:p>
              <a:p>
                <a:pPr lvl="2">
                  <a:lnSpc>
                    <a:spcPct val="80000"/>
                  </a:lnSpc>
                </a:pPr>
                <a:r>
                  <a:rPr lang="en-US" sz="2000" dirty="0">
                    <a:sym typeface="Symbol" pitchFamily="18" charset="2"/>
                  </a:rPr>
                  <a:t>Split data into </a:t>
                </a:r>
                <a:r>
                  <a:rPr lang="en-US" sz="2000" dirty="0">
                    <a:solidFill>
                      <a:srgbClr val="0070C0"/>
                    </a:solidFill>
                    <a:sym typeface="Symbol" pitchFamily="18" charset="2"/>
                  </a:rPr>
                  <a:t>training</a:t>
                </a:r>
                <a:r>
                  <a:rPr lang="en-US" sz="2000" dirty="0">
                    <a:sym typeface="Symbol" pitchFamily="18" charset="2"/>
                  </a:rPr>
                  <a:t>, </a:t>
                </a:r>
                <a:r>
                  <a:rPr lang="en-US" sz="2000" dirty="0">
                    <a:solidFill>
                      <a:srgbClr val="FF0000"/>
                    </a:solidFill>
                    <a:sym typeface="Symbol" pitchFamily="18" charset="2"/>
                  </a:rPr>
                  <a:t>validation</a:t>
                </a:r>
                <a:r>
                  <a:rPr lang="en-US" sz="2000" dirty="0">
                    <a:sym typeface="Symbol" pitchFamily="18" charset="2"/>
                  </a:rPr>
                  <a:t>, </a:t>
                </a:r>
                <a:r>
                  <a:rPr lang="en-US" sz="2000" dirty="0">
                    <a:solidFill>
                      <a:schemeClr val="accent6">
                        <a:lumMod val="75000"/>
                      </a:schemeClr>
                    </a:solidFill>
                    <a:sym typeface="Symbol" pitchFamily="18" charset="2"/>
                  </a:rPr>
                  <a:t>test</a:t>
                </a:r>
              </a:p>
              <a:p>
                <a:pPr lvl="2">
                  <a:lnSpc>
                    <a:spcPct val="80000"/>
                  </a:lnSpc>
                </a:pPr>
                <a:r>
                  <a:rPr lang="en-US" sz="2000" dirty="0">
                    <a:sym typeface="Symbol" pitchFamily="18" charset="2"/>
                  </a:rPr>
                  <a:t>Use </a:t>
                </a:r>
                <a:r>
                  <a:rPr lang="en-US" sz="2000" dirty="0">
                    <a:solidFill>
                      <a:srgbClr val="0070C0"/>
                    </a:solidFill>
                    <a:sym typeface="Symbol" pitchFamily="18" charset="2"/>
                  </a:rPr>
                  <a:t>validation dataset </a:t>
                </a:r>
                <a:r>
                  <a:rPr lang="en-US" sz="2000" dirty="0">
                    <a:sym typeface="Symbol" pitchFamily="18" charset="2"/>
                  </a:rPr>
                  <a:t>to estimate generalization error</a:t>
                </a:r>
              </a:p>
              <a:p>
                <a:pPr lvl="2">
                  <a:lnSpc>
                    <a:spcPct val="80000"/>
                  </a:lnSpc>
                </a:pPr>
                <a:r>
                  <a:rPr lang="en-US" dirty="0">
                    <a:sym typeface="Symbol" pitchFamily="18" charset="2"/>
                  </a:rPr>
                  <a:t>Drawback: less data for training.</a:t>
                </a:r>
                <a:endParaRPr lang="en-US" sz="2000" dirty="0"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94310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00200"/>
                <a:ext cx="8229600" cy="5029200"/>
              </a:xfrm>
              <a:blipFill rotWithShape="1">
                <a:blip r:embed="rId2"/>
                <a:stretch>
                  <a:fillRect l="-444" t="-2545" b="-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495571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Occam’s Razor</a:t>
            </a:r>
          </a:p>
        </p:txBody>
      </p:sp>
      <p:sp>
        <p:nvSpPr>
          <p:cNvPr id="944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Occam’s razor</a:t>
            </a:r>
            <a:r>
              <a:rPr lang="en-US" dirty="0"/>
              <a:t>: All other things being equal, the </a:t>
            </a:r>
            <a:r>
              <a:rPr lang="en-US"/>
              <a:t>simplest explanation/solution </a:t>
            </a:r>
            <a:r>
              <a:rPr lang="en-US" dirty="0"/>
              <a:t>is the best.</a:t>
            </a:r>
          </a:p>
          <a:p>
            <a:pPr lvl="1"/>
            <a:r>
              <a:rPr lang="en-US" dirty="0"/>
              <a:t>A good principle for life as well</a:t>
            </a:r>
          </a:p>
          <a:p>
            <a:endParaRPr lang="en-US" dirty="0"/>
          </a:p>
          <a:p>
            <a:r>
              <a:rPr lang="en-US" dirty="0"/>
              <a:t>Given two models of similar generalization errors,  one should prefer the simpler model over the more complex model</a:t>
            </a:r>
          </a:p>
          <a:p>
            <a:endParaRPr lang="en-US" dirty="0"/>
          </a:p>
          <a:p>
            <a:r>
              <a:rPr lang="en-US" dirty="0"/>
              <a:t> For complex models, there is a greater chance that it was fitted accidentally by errors in data</a:t>
            </a:r>
          </a:p>
          <a:p>
            <a:endParaRPr lang="en-US" dirty="0"/>
          </a:p>
          <a:p>
            <a:r>
              <a:rPr lang="en-US" dirty="0"/>
              <a:t> Therefore, one should include model complexity when evaluating a model</a:t>
            </a:r>
          </a:p>
        </p:txBody>
      </p:sp>
    </p:spTree>
    <p:extLst>
      <p:ext uri="{BB962C8B-B14F-4D97-AF65-F5344CB8AC3E}">
        <p14:creationId xmlns:p14="http://schemas.microsoft.com/office/powerpoint/2010/main" val="179698964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Minimum Description Length (MDL)</a:t>
            </a:r>
          </a:p>
        </p:txBody>
      </p:sp>
      <p:sp>
        <p:nvSpPr>
          <p:cNvPr id="945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171950"/>
            <a:ext cx="8229600" cy="2533650"/>
          </a:xfrm>
        </p:spPr>
        <p:txBody>
          <a:bodyPr>
            <a:normAutofit lnSpcReduction="10000"/>
          </a:bodyPr>
          <a:lstStyle/>
          <a:p>
            <a:pPr marL="342900" indent="-342900">
              <a:lnSpc>
                <a:spcPct val="90000"/>
              </a:lnSpc>
            </a:pPr>
            <a:r>
              <a:rPr lang="en-US" sz="2400" dirty="0">
                <a:solidFill>
                  <a:srgbClr val="FF0000"/>
                </a:solidFill>
              </a:rPr>
              <a:t>Cost(</a:t>
            </a:r>
            <a:r>
              <a:rPr lang="en-US" sz="2400" dirty="0" err="1">
                <a:solidFill>
                  <a:srgbClr val="FF0000"/>
                </a:solidFill>
              </a:rPr>
              <a:t>Model,Data</a:t>
            </a:r>
            <a:r>
              <a:rPr lang="en-US" sz="2400" dirty="0">
                <a:solidFill>
                  <a:srgbClr val="FF0000"/>
                </a:solidFill>
              </a:rPr>
              <a:t>) = Cost(Model) + Cost(</a:t>
            </a:r>
            <a:r>
              <a:rPr lang="en-US" sz="2400" dirty="0" err="1">
                <a:solidFill>
                  <a:srgbClr val="FF0000"/>
                </a:solidFill>
              </a:rPr>
              <a:t>Data|Model</a:t>
            </a:r>
            <a:r>
              <a:rPr lang="en-US" sz="2400" dirty="0">
                <a:solidFill>
                  <a:srgbClr val="FF0000"/>
                </a:solidFill>
              </a:rPr>
              <a:t>)</a:t>
            </a:r>
          </a:p>
          <a:p>
            <a:pPr marL="742950" lvl="1" indent="-285750">
              <a:lnSpc>
                <a:spcPct val="90000"/>
              </a:lnSpc>
            </a:pPr>
            <a:r>
              <a:rPr lang="en-US" sz="2400" dirty="0"/>
              <a:t>Search for the least costly model.</a:t>
            </a:r>
          </a:p>
          <a:p>
            <a:pPr marL="342900" indent="-342900">
              <a:lnSpc>
                <a:spcPct val="90000"/>
              </a:lnSpc>
            </a:pPr>
            <a:endParaRPr lang="en-US" sz="2400" dirty="0"/>
          </a:p>
          <a:p>
            <a:pPr marL="342900" indent="-342900">
              <a:lnSpc>
                <a:spcPct val="90000"/>
              </a:lnSpc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Cost(Model) </a:t>
            </a:r>
            <a:r>
              <a:rPr lang="en-US" sz="2400" dirty="0"/>
              <a:t>encodes the </a:t>
            </a:r>
            <a:r>
              <a:rPr lang="en-US" sz="2400" dirty="0">
                <a:solidFill>
                  <a:srgbClr val="0070C0"/>
                </a:solidFill>
              </a:rPr>
              <a:t>decision tree</a:t>
            </a:r>
          </a:p>
          <a:p>
            <a:pPr marL="617220" lvl="1" indent="-342900">
              <a:lnSpc>
                <a:spcPct val="90000"/>
              </a:lnSpc>
            </a:pPr>
            <a:r>
              <a:rPr lang="en-US" sz="2000" dirty="0"/>
              <a:t>node encoding (number of children) plus splitting condition encoding.</a:t>
            </a:r>
          </a:p>
          <a:p>
            <a:pPr marL="342900" indent="-342900">
              <a:lnSpc>
                <a:spcPct val="90000"/>
              </a:lnSpc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Cost(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</a:rPr>
              <a:t>Data|Model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)</a:t>
            </a:r>
            <a:r>
              <a:rPr lang="en-US" sz="2400" dirty="0"/>
              <a:t> encodes the </a:t>
            </a:r>
            <a:r>
              <a:rPr lang="en-US" sz="2400" dirty="0">
                <a:solidFill>
                  <a:srgbClr val="0070C0"/>
                </a:solidFill>
              </a:rPr>
              <a:t>misclassification errors</a:t>
            </a:r>
            <a:r>
              <a:rPr lang="en-US" sz="2400" dirty="0"/>
              <a:t>.</a:t>
            </a:r>
          </a:p>
        </p:txBody>
      </p:sp>
      <p:graphicFrame>
        <p:nvGraphicFramePr>
          <p:cNvPr id="9451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674066"/>
              </p:ext>
            </p:extLst>
          </p:nvPr>
        </p:nvGraphicFramePr>
        <p:xfrm>
          <a:off x="2209800" y="1600200"/>
          <a:ext cx="4392613" cy="240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03" name="VISIO" r:id="rId3" imgW="6346800" imgH="3477960" progId="Visio.Drawing.6">
                  <p:embed/>
                </p:oleObj>
              </mc:Choice>
              <mc:Fallback>
                <p:oleObj name="VISIO" r:id="rId3" imgW="6346800" imgH="347796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600200"/>
                        <a:ext cx="4392613" cy="240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51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3677676"/>
              </p:ext>
            </p:extLst>
          </p:nvPr>
        </p:nvGraphicFramePr>
        <p:xfrm>
          <a:off x="685800" y="1676400"/>
          <a:ext cx="1131888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04" name="Worksheet" r:id="rId5" imgW="1229106" imgH="2314854" progId="Excel.Sheet.8">
                  <p:embed/>
                </p:oleObj>
              </mc:Choice>
              <mc:Fallback>
                <p:oleObj name="Worksheet" r:id="rId5" imgW="1229106" imgH="2314854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676400"/>
                        <a:ext cx="1131888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51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685556"/>
              </p:ext>
            </p:extLst>
          </p:nvPr>
        </p:nvGraphicFramePr>
        <p:xfrm>
          <a:off x="7239000" y="1828800"/>
          <a:ext cx="1131888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05" name="Worksheet" r:id="rId7" imgW="1229106" imgH="2314854" progId="Excel.Sheet.8">
                  <p:embed/>
                </p:oleObj>
              </mc:Choice>
              <mc:Fallback>
                <p:oleObj name="Worksheet" r:id="rId7" imgW="1229106" imgH="2314854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1828800"/>
                        <a:ext cx="1131888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6939540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AC1801-07D2-4A22-823D-D59C128E862B}" type="slidenum">
              <a:rPr lang="en-US" altLang="zh-CN"/>
              <a:pPr>
                <a:defRPr/>
              </a:pPr>
              <a:t>67</a:t>
            </a:fld>
            <a:endParaRPr lang="en-US" altLang="zh-CN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Example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6571" y="1611086"/>
            <a:ext cx="8305800" cy="1208314"/>
          </a:xfrm>
        </p:spPr>
        <p:txBody>
          <a:bodyPr>
            <a:normAutofit fontScale="77500" lnSpcReduction="20000"/>
          </a:bodyPr>
          <a:lstStyle/>
          <a:p>
            <a:pPr eaLnBrk="1" hangingPunct="1"/>
            <a:r>
              <a:rPr lang="en-US" altLang="zh-CN" sz="2800" dirty="0">
                <a:solidFill>
                  <a:srgbClr val="FF0000"/>
                </a:solidFill>
              </a:rPr>
              <a:t>Regression</a:t>
            </a:r>
            <a:r>
              <a:rPr lang="en-US" altLang="zh-CN" sz="2800" dirty="0"/>
              <a:t>: find a </a:t>
            </a:r>
            <a:r>
              <a:rPr lang="en-US" altLang="zh-CN" sz="2800" dirty="0">
                <a:solidFill>
                  <a:srgbClr val="0070C0"/>
                </a:solidFill>
              </a:rPr>
              <a:t>polynomial</a:t>
            </a:r>
            <a:r>
              <a:rPr lang="en-US" altLang="zh-CN" sz="2800" dirty="0"/>
              <a:t> for describing a set of values</a:t>
            </a:r>
          </a:p>
          <a:p>
            <a:pPr lvl="1" eaLnBrk="1" hangingPunct="1"/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</a:rPr>
              <a:t>Model complexity </a:t>
            </a:r>
            <a:r>
              <a:rPr lang="en-US" altLang="zh-CN" sz="2400" dirty="0"/>
              <a:t>(model cost): </a:t>
            </a:r>
            <a:r>
              <a:rPr lang="en-US" altLang="zh-CN" dirty="0"/>
              <a:t>polynomial coefficients</a:t>
            </a:r>
            <a:endParaRPr lang="en-US" altLang="zh-CN" sz="2400" dirty="0"/>
          </a:p>
          <a:p>
            <a:pPr lvl="1"/>
            <a:r>
              <a:rPr lang="en-US" altLang="zh-CN" sz="2400" dirty="0">
                <a:solidFill>
                  <a:srgbClr val="0070C0"/>
                </a:solidFill>
              </a:rPr>
              <a:t>Goodness of fit </a:t>
            </a:r>
            <a:r>
              <a:rPr lang="en-US" altLang="zh-CN" sz="2400" dirty="0"/>
              <a:t>(data cost): difference between real value and the polynomial value</a:t>
            </a:r>
          </a:p>
        </p:txBody>
      </p:sp>
      <p:pic>
        <p:nvPicPr>
          <p:cNvPr id="6149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819400"/>
            <a:ext cx="8532813" cy="247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50" name="Text Box 9"/>
          <p:cNvSpPr txBox="1">
            <a:spLocks noChangeArrowheads="1"/>
          </p:cNvSpPr>
          <p:nvPr/>
        </p:nvSpPr>
        <p:spPr bwMode="auto">
          <a:xfrm>
            <a:off x="0" y="6491288"/>
            <a:ext cx="446333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dirty="0">
                <a:latin typeface="Garamond" pitchFamily="18" charset="0"/>
              </a:rPr>
              <a:t>Source: </a:t>
            </a:r>
            <a:r>
              <a:rPr lang="en-US" altLang="zh-CN" dirty="0" err="1">
                <a:latin typeface="Garamond" pitchFamily="18" charset="0"/>
              </a:rPr>
              <a:t>Grunwald</a:t>
            </a:r>
            <a:r>
              <a:rPr lang="en-US" altLang="zh-CN" dirty="0">
                <a:latin typeface="Garamond" pitchFamily="18" charset="0"/>
              </a:rPr>
              <a:t> et al. (2005) </a:t>
            </a:r>
            <a:r>
              <a:rPr lang="en-US" altLang="zh-CN" i="1" dirty="0">
                <a:latin typeface="Garamond" pitchFamily="18" charset="0"/>
              </a:rPr>
              <a:t>Tutorial on MDL.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57200" y="5329456"/>
            <a:ext cx="23006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Minimum model cost</a:t>
            </a:r>
          </a:p>
          <a:p>
            <a:r>
              <a:rPr lang="en-US" dirty="0"/>
              <a:t>High data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77371" y="5292255"/>
            <a:ext cx="21210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High model cost</a:t>
            </a:r>
          </a:p>
          <a:p>
            <a:r>
              <a:rPr lang="en-US" dirty="0"/>
              <a:t>Minimum data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5292725"/>
            <a:ext cx="17876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 model cost</a:t>
            </a:r>
          </a:p>
          <a:p>
            <a:r>
              <a:rPr lang="en-US" dirty="0"/>
              <a:t>Low data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95018" y="6121956"/>
            <a:ext cx="3933513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MDL avoids </a:t>
            </a:r>
            <a:r>
              <a:rPr lang="en-US" dirty="0" err="1">
                <a:solidFill>
                  <a:srgbClr val="FF0000"/>
                </a:solidFill>
              </a:rPr>
              <a:t>overfitting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automatically!</a:t>
            </a:r>
          </a:p>
        </p:txBody>
      </p:sp>
    </p:spTree>
    <p:extLst>
      <p:ext uri="{BB962C8B-B14F-4D97-AF65-F5344CB8AC3E}">
        <p14:creationId xmlns:p14="http://schemas.microsoft.com/office/powerpoint/2010/main" val="5860328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to Address Overfitting</a:t>
            </a:r>
          </a:p>
        </p:txBody>
      </p:sp>
      <p:sp>
        <p:nvSpPr>
          <p:cNvPr id="946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524000"/>
            <a:ext cx="8763000" cy="5181600"/>
          </a:xfrm>
        </p:spPr>
        <p:txBody>
          <a:bodyPr/>
          <a:lstStyle/>
          <a:p>
            <a:r>
              <a:rPr lang="en-US" sz="2400" dirty="0">
                <a:solidFill>
                  <a:srgbClr val="FF0000"/>
                </a:solidFill>
              </a:rPr>
              <a:t>Pre-Pruning (Early Stopping Rule)</a:t>
            </a:r>
          </a:p>
          <a:p>
            <a:pPr lvl="1"/>
            <a:r>
              <a:rPr lang="en-US" sz="2400" dirty="0"/>
              <a:t>Stop the algorithm before it becomes a fully-grown tree</a:t>
            </a:r>
          </a:p>
          <a:p>
            <a:pPr lvl="1"/>
            <a:r>
              <a:rPr lang="en-US" sz="2400" dirty="0"/>
              <a:t>Typical stopping conditions for a node:</a:t>
            </a:r>
          </a:p>
          <a:p>
            <a:pPr lvl="2"/>
            <a:r>
              <a:rPr lang="en-US" sz="2000" dirty="0"/>
              <a:t>Stop if all instances belong to the same class</a:t>
            </a:r>
          </a:p>
          <a:p>
            <a:pPr lvl="2"/>
            <a:r>
              <a:rPr lang="en-US" sz="2000" dirty="0"/>
              <a:t>Stop if all the attribute values are the same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More </a:t>
            </a:r>
            <a:r>
              <a:rPr lang="en-US" sz="2400" dirty="0">
                <a:solidFill>
                  <a:srgbClr val="0070C0"/>
                </a:solidFill>
              </a:rPr>
              <a:t>restrictive</a:t>
            </a:r>
            <a:r>
              <a:rPr lang="en-US" sz="2400" dirty="0"/>
              <a:t> conditions:</a:t>
            </a:r>
          </a:p>
          <a:p>
            <a:pPr lvl="2"/>
            <a:r>
              <a:rPr lang="en-US" sz="2000" dirty="0"/>
              <a:t>Stop if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number of instances </a:t>
            </a:r>
            <a:r>
              <a:rPr lang="en-US" sz="2000" dirty="0"/>
              <a:t>is less than some user-specified threshold</a:t>
            </a:r>
          </a:p>
          <a:p>
            <a:pPr lvl="2"/>
            <a:r>
              <a:rPr lang="en-US" sz="2000" dirty="0"/>
              <a:t>Stop if class distribution of instance classes are </a:t>
            </a:r>
            <a:r>
              <a:rPr lang="en-US" sz="2000" dirty="0">
                <a:solidFill>
                  <a:srgbClr val="0070C0"/>
                </a:solidFill>
              </a:rPr>
              <a:t>independent </a:t>
            </a:r>
            <a:r>
              <a:rPr lang="en-US" sz="2000" dirty="0"/>
              <a:t>of the available features (e.g., using </a:t>
            </a:r>
            <a:r>
              <a:rPr lang="en-US" sz="2000" dirty="0">
                <a:sym typeface="Symbol" pitchFamily="18" charset="2"/>
              </a:rPr>
              <a:t></a:t>
            </a:r>
            <a:r>
              <a:rPr lang="en-US" sz="2000" baseline="30000" dirty="0">
                <a:sym typeface="Symbol" pitchFamily="18" charset="2"/>
              </a:rPr>
              <a:t> 2</a:t>
            </a:r>
            <a:r>
              <a:rPr lang="en-US" sz="2000" dirty="0">
                <a:sym typeface="Symbol" pitchFamily="18" charset="2"/>
              </a:rPr>
              <a:t> test)</a:t>
            </a:r>
            <a:endParaRPr lang="en-US" sz="2000" baseline="30000" dirty="0"/>
          </a:p>
          <a:p>
            <a:pPr lvl="2"/>
            <a:r>
              <a:rPr lang="en-US" sz="2000" dirty="0"/>
              <a:t>Stop if expanding the current node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does not improve impurity </a:t>
            </a:r>
            <a:r>
              <a:rPr lang="en-US" sz="2000" dirty="0"/>
              <a:t>measures (e.g., </a:t>
            </a:r>
            <a:r>
              <a:rPr lang="en-US" sz="2000" dirty="0" err="1"/>
              <a:t>Gini</a:t>
            </a:r>
            <a:r>
              <a:rPr lang="en-US" sz="2000" dirty="0"/>
              <a:t> or information gain).</a:t>
            </a:r>
          </a:p>
        </p:txBody>
      </p:sp>
    </p:spTree>
    <p:extLst>
      <p:ext uri="{BB962C8B-B14F-4D97-AF65-F5344CB8AC3E}">
        <p14:creationId xmlns:p14="http://schemas.microsoft.com/office/powerpoint/2010/main" val="426790402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to Address Overfitting…</a:t>
            </a:r>
          </a:p>
        </p:txBody>
      </p:sp>
      <p:sp>
        <p:nvSpPr>
          <p:cNvPr id="947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Post-pruning</a:t>
            </a:r>
          </a:p>
          <a:p>
            <a:pPr lvl="1"/>
            <a:r>
              <a:rPr lang="en-US" dirty="0"/>
              <a:t>Grow decision tree to its entirety</a:t>
            </a:r>
          </a:p>
          <a:p>
            <a:pPr lvl="1"/>
            <a:r>
              <a:rPr lang="en-US" dirty="0"/>
              <a:t>Trim the nodes of the decision tree in a </a:t>
            </a:r>
            <a:r>
              <a:rPr lang="en-US" dirty="0">
                <a:solidFill>
                  <a:srgbClr val="0070C0"/>
                </a:solidFill>
              </a:rPr>
              <a:t>bottom-up</a:t>
            </a:r>
            <a:r>
              <a:rPr lang="en-US" dirty="0"/>
              <a:t> fashion</a:t>
            </a:r>
          </a:p>
          <a:p>
            <a:pPr lvl="1"/>
            <a:r>
              <a:rPr lang="en-US" dirty="0"/>
              <a:t>If generalization error improves after trimming, replace sub-tree by a leaf node.</a:t>
            </a:r>
          </a:p>
          <a:p>
            <a:pPr lvl="1"/>
            <a:r>
              <a:rPr lang="en-US" dirty="0"/>
              <a:t>Class label of leaf node is determined from majority class of instances in the sub-tree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Can use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MDL</a:t>
            </a:r>
            <a:r>
              <a:rPr lang="en-US" dirty="0"/>
              <a:t> for post-pruning</a:t>
            </a:r>
          </a:p>
        </p:txBody>
      </p:sp>
    </p:spTree>
    <p:extLst>
      <p:ext uri="{BB962C8B-B14F-4D97-AF65-F5344CB8AC3E}">
        <p14:creationId xmlns:p14="http://schemas.microsoft.com/office/powerpoint/2010/main" val="164832820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Post-Pruning</a:t>
            </a:r>
          </a:p>
        </p:txBody>
      </p:sp>
      <p:graphicFrame>
        <p:nvGraphicFramePr>
          <p:cNvPr id="948227" name="Object 3"/>
          <p:cNvGraphicFramePr>
            <a:graphicFrameLocks noChangeAspect="1"/>
          </p:cNvGraphicFramePr>
          <p:nvPr/>
        </p:nvGraphicFramePr>
        <p:xfrm>
          <a:off x="1447800" y="3017838"/>
          <a:ext cx="4689475" cy="239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24" name="VISIO" r:id="rId3" imgW="4689360" imgH="2390760" progId="Visio.Drawing.6">
                  <p:embed/>
                </p:oleObj>
              </mc:Choice>
              <mc:Fallback>
                <p:oleObj name="VISIO" r:id="rId3" imgW="4689360" imgH="239076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017838"/>
                        <a:ext cx="4689475" cy="2390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8228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5907968"/>
              </p:ext>
            </p:extLst>
          </p:nvPr>
        </p:nvGraphicFramePr>
        <p:xfrm>
          <a:off x="1066800" y="1981200"/>
          <a:ext cx="1905000" cy="1219200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= Yes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= No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Error = 10/30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48241" name="Text Box 17"/>
          <p:cNvSpPr txBox="1">
            <a:spLocks noChangeArrowheads="1"/>
          </p:cNvSpPr>
          <p:nvPr/>
        </p:nvSpPr>
        <p:spPr bwMode="auto">
          <a:xfrm>
            <a:off x="4495800" y="1447800"/>
            <a:ext cx="4648200" cy="243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/>
              <a:t>Training Error (Before splitting) = 10/30</a:t>
            </a:r>
          </a:p>
          <a:p>
            <a:pPr>
              <a:spcBef>
                <a:spcPct val="50000"/>
              </a:spcBef>
            </a:pPr>
            <a:r>
              <a:rPr lang="en-US" sz="1800" dirty="0"/>
              <a:t>Pessimistic error = (10 + 0.5)/30 = 10.5/30</a:t>
            </a:r>
          </a:p>
          <a:p>
            <a:pPr>
              <a:spcBef>
                <a:spcPct val="50000"/>
              </a:spcBef>
            </a:pPr>
            <a:r>
              <a:rPr lang="en-US" sz="1800" dirty="0"/>
              <a:t>Training Error (After splitting) = 9/30</a:t>
            </a:r>
          </a:p>
          <a:p>
            <a:pPr>
              <a:spcBef>
                <a:spcPct val="50000"/>
              </a:spcBef>
            </a:pPr>
            <a:r>
              <a:rPr lang="en-US" sz="1800" dirty="0"/>
              <a:t>Pessimistic error (After splitting)</a:t>
            </a:r>
          </a:p>
          <a:p>
            <a:pPr>
              <a:spcBef>
                <a:spcPct val="50000"/>
              </a:spcBef>
            </a:pPr>
            <a:r>
              <a:rPr lang="en-US" sz="1800" dirty="0"/>
              <a:t>	= (9 + 4 </a:t>
            </a:r>
            <a:r>
              <a:rPr lang="en-US" sz="1800" dirty="0">
                <a:sym typeface="Symbol" pitchFamily="18" charset="2"/>
              </a:rPr>
              <a:t> 0.5)/30 = 11/30</a:t>
            </a:r>
          </a:p>
          <a:p>
            <a:pPr>
              <a:spcBef>
                <a:spcPct val="50000"/>
              </a:spcBef>
            </a:pPr>
            <a:r>
              <a:rPr lang="en-US" sz="1800" dirty="0"/>
              <a:t>	</a:t>
            </a:r>
            <a:r>
              <a:rPr lang="en-US" sz="1800" dirty="0">
                <a:solidFill>
                  <a:srgbClr val="FF0000"/>
                </a:solidFill>
              </a:rPr>
              <a:t>PRUNE!</a:t>
            </a:r>
          </a:p>
        </p:txBody>
      </p:sp>
      <p:graphicFrame>
        <p:nvGraphicFramePr>
          <p:cNvPr id="948242" name="Group 18"/>
          <p:cNvGraphicFramePr>
            <a:graphicFrameLocks noGrp="1"/>
          </p:cNvGraphicFramePr>
          <p:nvPr/>
        </p:nvGraphicFramePr>
        <p:xfrm>
          <a:off x="152400" y="5456238"/>
          <a:ext cx="1752600" cy="716280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= Yes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= No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48253" name="Group 29"/>
          <p:cNvGraphicFramePr>
            <a:graphicFrameLocks noGrp="1"/>
          </p:cNvGraphicFramePr>
          <p:nvPr/>
        </p:nvGraphicFramePr>
        <p:xfrm>
          <a:off x="1981200" y="5456238"/>
          <a:ext cx="1752600" cy="716280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= Yes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= No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48264" name="Group 40"/>
          <p:cNvGraphicFramePr>
            <a:graphicFrameLocks noGrp="1"/>
          </p:cNvGraphicFramePr>
          <p:nvPr/>
        </p:nvGraphicFramePr>
        <p:xfrm>
          <a:off x="3810000" y="5456238"/>
          <a:ext cx="1752600" cy="716280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= Yes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= No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48275" name="Group 51"/>
          <p:cNvGraphicFramePr>
            <a:graphicFrameLocks noGrp="1"/>
          </p:cNvGraphicFramePr>
          <p:nvPr/>
        </p:nvGraphicFramePr>
        <p:xfrm>
          <a:off x="5638800" y="5456238"/>
          <a:ext cx="1752600" cy="716280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= Yes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= No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890459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Evaluation</a:t>
            </a:r>
          </a:p>
        </p:txBody>
      </p:sp>
      <p:sp>
        <p:nvSpPr>
          <p:cNvPr id="961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Metrics for Performance Evaluation</a:t>
            </a:r>
          </a:p>
          <a:p>
            <a:pPr lvl="1"/>
            <a:r>
              <a:rPr lang="en-US"/>
              <a:t>How to evaluate the performance of a model?</a:t>
            </a:r>
          </a:p>
          <a:p>
            <a:pPr lvl="1">
              <a:buFont typeface="Arial" charset="0"/>
              <a:buNone/>
            </a:pPr>
            <a:endParaRPr lang="en-US"/>
          </a:p>
          <a:p>
            <a:r>
              <a:rPr lang="en-US"/>
              <a:t>Methods for Performance Evaluation</a:t>
            </a:r>
          </a:p>
          <a:p>
            <a:pPr lvl="1"/>
            <a:r>
              <a:rPr lang="en-US"/>
              <a:t>How to obtain reliable estimates?</a:t>
            </a:r>
          </a:p>
          <a:p>
            <a:pPr lvl="1"/>
            <a:endParaRPr lang="en-US"/>
          </a:p>
          <a:p>
            <a:r>
              <a:rPr lang="en-US"/>
              <a:t>Methods for Model Comparison</a:t>
            </a:r>
          </a:p>
          <a:p>
            <a:pPr lvl="1"/>
            <a:r>
              <a:rPr lang="en-US"/>
              <a:t>How to compare the relative performance among competing models?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16551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Evaluation</a:t>
            </a:r>
          </a:p>
        </p:txBody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Metrics for Performance Evaluation</a:t>
            </a:r>
          </a:p>
          <a:p>
            <a:pPr lvl="1"/>
            <a:r>
              <a:rPr lang="en-US"/>
              <a:t>How to evaluate the performance of a model?</a:t>
            </a:r>
          </a:p>
          <a:p>
            <a:pPr lvl="1">
              <a:buFont typeface="Arial" charset="0"/>
              <a:buNone/>
            </a:pPr>
            <a:endParaRPr lang="en-US"/>
          </a:p>
          <a:p>
            <a:r>
              <a:rPr lang="en-US"/>
              <a:t>Methods for Performance Evaluation</a:t>
            </a:r>
          </a:p>
          <a:p>
            <a:pPr lvl="1"/>
            <a:r>
              <a:rPr lang="en-US"/>
              <a:t>How to obtain reliable estimates?</a:t>
            </a:r>
          </a:p>
          <a:p>
            <a:pPr lvl="1"/>
            <a:endParaRPr lang="en-US"/>
          </a:p>
          <a:p>
            <a:r>
              <a:rPr lang="en-US"/>
              <a:t>Methods for Model Comparison</a:t>
            </a:r>
          </a:p>
          <a:p>
            <a:pPr lvl="1"/>
            <a:r>
              <a:rPr lang="en-US"/>
              <a:t>How to compare the relative performance among competing models?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20915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Metrics for Performance Evaluation</a:t>
            </a:r>
          </a:p>
        </p:txBody>
      </p:sp>
      <p:sp>
        <p:nvSpPr>
          <p:cNvPr id="963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 on the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predictive capability </a:t>
            </a:r>
            <a:r>
              <a:rPr lang="en-US" dirty="0"/>
              <a:t>of a model</a:t>
            </a:r>
          </a:p>
          <a:p>
            <a:pPr lvl="1"/>
            <a:r>
              <a:rPr lang="en-US" dirty="0"/>
              <a:t>Rather than how fast it takes to classify or build models, scalability, etc.</a:t>
            </a:r>
          </a:p>
          <a:p>
            <a:r>
              <a:rPr lang="en-US" dirty="0">
                <a:solidFill>
                  <a:srgbClr val="0070C0"/>
                </a:solidFill>
              </a:rPr>
              <a:t>Confusion Matrix:</a:t>
            </a:r>
          </a:p>
        </p:txBody>
      </p:sp>
      <p:graphicFrame>
        <p:nvGraphicFramePr>
          <p:cNvPr id="963588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3870952"/>
              </p:ext>
            </p:extLst>
          </p:nvPr>
        </p:nvGraphicFramePr>
        <p:xfrm>
          <a:off x="381000" y="3581400"/>
          <a:ext cx="6096000" cy="27940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PREDICTED 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b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</a:t>
                      </a:r>
                      <a:b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47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63611" name="Text Box 27"/>
          <p:cNvSpPr txBox="1">
            <a:spLocks noChangeArrowheads="1"/>
          </p:cNvSpPr>
          <p:nvPr/>
        </p:nvSpPr>
        <p:spPr bwMode="auto">
          <a:xfrm>
            <a:off x="6616391" y="4836987"/>
            <a:ext cx="2453268" cy="1615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0070C0"/>
                </a:solidFill>
              </a:rPr>
              <a:t>a: TP (true positive)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rgbClr val="FF0000"/>
                </a:solidFill>
              </a:rPr>
              <a:t>b: FN (false negative)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rgbClr val="FF0000"/>
                </a:solidFill>
              </a:rPr>
              <a:t>c: FP (false positive)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rgbClr val="0070C0"/>
                </a:solidFill>
              </a:rPr>
              <a:t>d: TN (true negative)</a:t>
            </a:r>
          </a:p>
        </p:txBody>
      </p:sp>
    </p:spTree>
    <p:extLst>
      <p:ext uri="{BB962C8B-B14F-4D97-AF65-F5344CB8AC3E}">
        <p14:creationId xmlns:p14="http://schemas.microsoft.com/office/powerpoint/2010/main" val="179085542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Metrics for Performance Evaluation…</a:t>
            </a:r>
          </a:p>
        </p:txBody>
      </p:sp>
      <p:sp>
        <p:nvSpPr>
          <p:cNvPr id="964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Most widely-used metric:</a:t>
            </a:r>
          </a:p>
          <a:p>
            <a:endParaRPr lang="en-US"/>
          </a:p>
        </p:txBody>
      </p:sp>
      <p:graphicFrame>
        <p:nvGraphicFramePr>
          <p:cNvPr id="964612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0630450"/>
              </p:ext>
            </p:extLst>
          </p:nvPr>
        </p:nvGraphicFramePr>
        <p:xfrm>
          <a:off x="1600200" y="1524000"/>
          <a:ext cx="6096000" cy="282194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PREDICTED 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b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</a:t>
                      </a:r>
                      <a:b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  <a:b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(TP)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  <a:b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(FN)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47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  <a:b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(FP)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b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(TN)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64635" name="Object 27"/>
          <p:cNvGraphicFramePr>
            <a:graphicFrameLocks noChangeAspect="1"/>
          </p:cNvGraphicFramePr>
          <p:nvPr/>
        </p:nvGraphicFramePr>
        <p:xfrm>
          <a:off x="609600" y="5105400"/>
          <a:ext cx="7583488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38" name="Equation" r:id="rId3" imgW="5663880" imgH="723600" progId="Equation.3">
                  <p:embed/>
                </p:oleObj>
              </mc:Choice>
              <mc:Fallback>
                <p:oleObj name="Equation" r:id="rId3" imgW="5663880" imgH="723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105400"/>
                        <a:ext cx="7583488" cy="969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5307947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Limitation of Accuracy</a:t>
            </a:r>
          </a:p>
        </p:txBody>
      </p:sp>
      <p:sp>
        <p:nvSpPr>
          <p:cNvPr id="965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Consider a 2-class problem</a:t>
            </a:r>
          </a:p>
          <a:p>
            <a:pPr lvl="1"/>
            <a:r>
              <a:rPr lang="en-US"/>
              <a:t>Number of Class 0 examples = 9990</a:t>
            </a:r>
          </a:p>
          <a:p>
            <a:pPr lvl="1"/>
            <a:r>
              <a:rPr lang="en-US"/>
              <a:t>Number of Class 1 examples = 10</a:t>
            </a:r>
          </a:p>
          <a:p>
            <a:pPr lvl="1"/>
            <a:endParaRPr lang="en-US"/>
          </a:p>
          <a:p>
            <a:r>
              <a:rPr lang="en-US"/>
              <a:t>If model predicts everything to be class 0, accuracy is 9990/10000 = 99.9 %</a:t>
            </a:r>
          </a:p>
          <a:p>
            <a:pPr lvl="1"/>
            <a:r>
              <a:rPr lang="en-US"/>
              <a:t>Accuracy is misleading because model does not detect any class 1 example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49357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Cost Matrix</a:t>
            </a:r>
          </a:p>
        </p:txBody>
      </p:sp>
      <p:graphicFrame>
        <p:nvGraphicFramePr>
          <p:cNvPr id="966659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660290"/>
              </p:ext>
            </p:extLst>
          </p:nvPr>
        </p:nvGraphicFramePr>
        <p:xfrm>
          <a:off x="1447800" y="1625600"/>
          <a:ext cx="6096000" cy="27940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 PREDICTED 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b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</a:t>
                      </a:r>
                      <a:b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C(i|j)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C(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Yes|Yes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C(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No|Yes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47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C(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Yes|No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C(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No|No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66682" name="Rectangle 26"/>
          <p:cNvSpPr>
            <a:spLocks noChangeArrowheads="1"/>
          </p:cNvSpPr>
          <p:nvPr/>
        </p:nvSpPr>
        <p:spPr bwMode="auto">
          <a:xfrm>
            <a:off x="685800" y="5105400"/>
            <a:ext cx="7848600" cy="914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292100" indent="-292100">
              <a:spcBef>
                <a:spcPct val="50000"/>
              </a:spcBef>
            </a:pPr>
            <a:r>
              <a:rPr lang="en-US" sz="2400" b="1" dirty="0">
                <a:solidFill>
                  <a:schemeClr val="accent2"/>
                </a:solidFill>
              </a:rPr>
              <a:t>C(</a:t>
            </a:r>
            <a:r>
              <a:rPr lang="en-US" sz="2400" b="1" dirty="0" err="1">
                <a:solidFill>
                  <a:schemeClr val="accent2"/>
                </a:solidFill>
              </a:rPr>
              <a:t>i|j</a:t>
            </a:r>
            <a:r>
              <a:rPr lang="en-US" sz="2400" b="1" dirty="0">
                <a:solidFill>
                  <a:schemeClr val="accent2"/>
                </a:solidFill>
              </a:rPr>
              <a:t>): </a:t>
            </a:r>
            <a:r>
              <a:rPr lang="en-US" sz="2400" b="0" dirty="0">
                <a:solidFill>
                  <a:schemeClr val="tx1"/>
                </a:solidFill>
              </a:rPr>
              <a:t>Cost of classifying class </a:t>
            </a:r>
            <a:r>
              <a:rPr lang="en-US" sz="2400" b="1" dirty="0">
                <a:solidFill>
                  <a:schemeClr val="accent2"/>
                </a:solidFill>
              </a:rPr>
              <a:t>j</a:t>
            </a:r>
            <a:r>
              <a:rPr lang="en-US" sz="2400" b="0" dirty="0">
                <a:solidFill>
                  <a:schemeClr val="tx1"/>
                </a:solidFill>
              </a:rPr>
              <a:t> example as class </a:t>
            </a:r>
            <a:r>
              <a:rPr lang="en-US" sz="2400" b="1" dirty="0" err="1">
                <a:solidFill>
                  <a:schemeClr val="accent2"/>
                </a:solidFill>
              </a:rPr>
              <a:t>i</a:t>
            </a:r>
            <a:endParaRPr lang="en-US" sz="24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030425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65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295400"/>
            <a:ext cx="8229600" cy="2209800"/>
          </a:xfrm>
        </p:spPr>
        <p:txBody>
          <a:bodyPr>
            <a:normAutofit/>
          </a:bodyPr>
          <a:lstStyle/>
          <a:p>
            <a:r>
              <a:rPr lang="en-US" dirty="0"/>
              <a:t>Weighted</a:t>
            </a:r>
            <a:br>
              <a:rPr lang="en-US" dirty="0"/>
            </a:br>
            <a:r>
              <a:rPr lang="en-US" dirty="0"/>
              <a:t>Accuracy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66659" name="Group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2689107"/>
                  </p:ext>
                </p:extLst>
              </p:nvPr>
            </p:nvGraphicFramePr>
            <p:xfrm>
              <a:off x="3048000" y="2971800"/>
              <a:ext cx="5943604" cy="2513653"/>
            </p:xfrm>
            <a:graphic>
              <a:graphicData uri="http://schemas.openxmlformats.org/drawingml/2006/table">
                <a:tbl>
                  <a:tblPr/>
                  <a:tblGrid>
                    <a:gridCol w="148590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8590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8590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48590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7945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:r>
                            <a:rPr kumimoji="0" 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COST</a:t>
                          </a:r>
                        </a:p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:r>
                            <a:rPr kumimoji="0" 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MATRIX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:r>
                            <a:rPr kumimoji="0" lang="en-US" sz="18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      PREDICTED CLASS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CCEC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50741">
                    <a:tc rowSpan="3">
                      <a:txBody>
                        <a:bodyPr/>
                        <a:lstStyle/>
                        <a:p>
                          <a:pPr marL="0" marR="0" lvl="0" indent="0" algn="ctr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:br>
                            <a:rPr kumimoji="0" lang="en-US" sz="1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</a:br>
                          <a:endParaRPr kumimoji="0" lang="en-US" sz="1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  <a:p>
                          <a:pPr marL="0" marR="0" lvl="0" indent="0" algn="ctr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:r>
                            <a:rPr kumimoji="0" lang="en-US" sz="1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ACTUAL</a:t>
                          </a:r>
                          <a:br>
                            <a:rPr kumimoji="0" lang="en-US" sz="1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</a:br>
                          <a:r>
                            <a:rPr kumimoji="0" lang="en-US" sz="1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CLASS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CCE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:r>
                            <a:rPr kumimoji="0" lang="en-US" sz="1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C(</a:t>
                          </a:r>
                          <a:r>
                            <a:rPr kumimoji="0" lang="en-US" sz="1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i|j</a:t>
                          </a:r>
                          <a:r>
                            <a:rPr kumimoji="0" lang="en-US" sz="1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)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EAEAE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:r>
                            <a:rPr kumimoji="0" lang="en-US" sz="16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Class=Yes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EAEAE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:r>
                            <a:rPr kumimoji="0" lang="en-US" sz="16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Class=No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EAEAE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50741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:r>
                            <a:rPr kumimoji="0" lang="en-US" sz="16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Class=Yes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EAEAE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kumimoji="0" lang="en-US" sz="16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latin typeface="Arial" charset="0"/>
                          </a:endParaRPr>
                        </a:p>
                        <a:p>
                          <a:pPr marL="0" marR="0" lvl="0" indent="0" algn="ctr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:r>
                            <a:rPr kumimoji="0" 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latin typeface="Arial" charset="0"/>
                            </a:rPr>
                            <a:t>C(</a:t>
                          </a:r>
                          <a:r>
                            <a:rPr kumimoji="0" lang="en-US" sz="16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latin typeface="Arial" charset="0"/>
                            </a:rPr>
                            <a:t>Yes|Yes</a:t>
                          </a:r>
                          <a:r>
                            <a:rPr kumimoji="0" 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latin typeface="Arial" charset="0"/>
                            </a:rPr>
                            <a:t>)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kumimoji="0" lang="en-US" sz="16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Arial" charset="0"/>
                          </a:endParaRPr>
                        </a:p>
                        <a:p>
                          <a:pPr marL="0" marR="0" lvl="0" indent="0" algn="ctr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:r>
                            <a:rPr kumimoji="0" 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</a:rPr>
                            <a:t>C(</a:t>
                          </a:r>
                          <a:r>
                            <a:rPr kumimoji="0" lang="en-US" sz="16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</a:rPr>
                            <a:t>No|Yes</a:t>
                          </a:r>
                          <a:r>
                            <a:rPr kumimoji="0" 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</a:rPr>
                            <a:t>)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65876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:r>
                            <a:rPr kumimoji="0" lang="en-US" sz="16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Class=No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EAEAE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kumimoji="0" lang="en-US" sz="16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Arial" charset="0"/>
                          </a:endParaRPr>
                        </a:p>
                        <a:p>
                          <a:pPr marL="0" marR="0" lvl="0" indent="0" algn="ctr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:r>
                            <a:rPr kumimoji="0" 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</a:rPr>
                            <a:t>C(</a:t>
                          </a:r>
                          <a:r>
                            <a:rPr kumimoji="0" lang="en-US" sz="16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</a:rPr>
                            <a:t>Yes|No</a:t>
                          </a:r>
                          <a:r>
                            <a:rPr kumimoji="0" 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</a:rPr>
                            <a:t>)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kumimoji="0" lang="en-US" sz="16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latin typeface="Arial" charset="0"/>
                          </a:endParaRPr>
                        </a:p>
                        <a:p>
                          <a:pPr marL="0" marR="0" lvl="0" indent="0" algn="ctr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:r>
                            <a:rPr kumimoji="0" 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latin typeface="Arial" charset="0"/>
                            </a:rPr>
                            <a:t>C(</a:t>
                          </a:r>
                          <a:r>
                            <a:rPr kumimoji="0" lang="en-US" sz="16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latin typeface="Arial" charset="0"/>
                            </a:rPr>
                            <a:t>No|No</a:t>
                          </a:r>
                          <a:r>
                            <a:rPr kumimoji="0" 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latin typeface="Arial" charset="0"/>
                            </a:rPr>
                            <a:t>)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66659" name="Group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2689107"/>
                  </p:ext>
                </p:extLst>
              </p:nvPr>
            </p:nvGraphicFramePr>
            <p:xfrm>
              <a:off x="3048000" y="2971800"/>
              <a:ext cx="5943604" cy="2513653"/>
            </p:xfrm>
            <a:graphic>
              <a:graphicData uri="http://schemas.openxmlformats.org/drawingml/2006/table">
                <a:tbl>
                  <a:tblPr/>
                  <a:tblGrid>
                    <a:gridCol w="1485901"/>
                    <a:gridCol w="1485901"/>
                    <a:gridCol w="1485901"/>
                    <a:gridCol w="1485901"/>
                  </a:tblGrid>
                  <a:tr h="65430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:r>
                            <a:rPr kumimoji="0" lang="en-US" sz="16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COST</a:t>
                          </a:r>
                        </a:p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:r>
                            <a:rPr kumimoji="0" lang="en-US" sz="16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MATRIX</a:t>
                          </a:r>
                          <a:endParaRPr kumimoji="0" lang="en-US" sz="16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:r>
                            <a:rPr kumimoji="0" lang="en-US" sz="1800" b="0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      PREDICTED CLASS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CCEC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550741">
                    <a:tc rowSpan="3">
                      <a:txBody>
                        <a:bodyPr/>
                        <a:lstStyle/>
                        <a:p>
                          <a:pPr marL="0" marR="0" lvl="0" indent="0" algn="ctr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:r>
                            <a:rPr kumimoji="0" lang="en-US" sz="18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/>
                          </a:r>
                          <a:br>
                            <a:rPr kumimoji="0" lang="en-US" sz="18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</a:br>
                          <a:endParaRPr kumimoji="0" lang="en-US" sz="18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  <a:p>
                          <a:pPr marL="0" marR="0" lvl="0" indent="0" algn="ctr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:r>
                            <a:rPr kumimoji="0" lang="en-US" sz="18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ACTUAL</a:t>
                          </a:r>
                          <a:br>
                            <a:rPr kumimoji="0" lang="en-US" sz="18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</a:br>
                          <a:r>
                            <a:rPr kumimoji="0" lang="en-US" sz="18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CLASS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CCE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:r>
                            <a:rPr kumimoji="0" lang="en-US" sz="18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C(</a:t>
                          </a:r>
                          <a:r>
                            <a:rPr kumimoji="0" lang="en-US" sz="1800" b="0" i="0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i|j</a:t>
                          </a:r>
                          <a:r>
                            <a:rPr kumimoji="0" lang="en-US" sz="18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)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EAEAE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:r>
                            <a:rPr kumimoji="0" lang="en-US" sz="1600" b="1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Class=Yes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EAEAE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:r>
                            <a:rPr kumimoji="0" lang="en-US" sz="1600" b="1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Class=No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EAEAEA"/>
                        </a:solidFill>
                      </a:tcPr>
                    </a:tc>
                  </a:tr>
                  <a:tr h="654304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:r>
                            <a:rPr kumimoji="0" lang="en-US" sz="1600" b="1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Class=Yes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EAEAE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0">
                          <a:blip r:embed="rId2"/>
                          <a:stretch>
                            <a:fillRect l="-202049" t="-189720" r="-101639" b="-1140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0">
                          <a:blip r:embed="rId2"/>
                          <a:stretch>
                            <a:fillRect l="-302049" t="-189720" r="-1639" b="-114019"/>
                          </a:stretch>
                        </a:blipFill>
                      </a:tcPr>
                    </a:tc>
                  </a:tr>
                  <a:tr h="654304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:r>
                            <a:rPr kumimoji="0" lang="en-US" sz="1600" b="1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Class=No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EAEAE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0">
                          <a:blip r:embed="rId2"/>
                          <a:stretch>
                            <a:fillRect l="-202049" t="-287037" r="-101639" b="-129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0">
                          <a:blip r:embed="rId2"/>
                          <a:stretch>
                            <a:fillRect l="-302049" t="-287037" r="-1639" b="-12963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graphicFrame>
        <p:nvGraphicFramePr>
          <p:cNvPr id="6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6199556"/>
              </p:ext>
            </p:extLst>
          </p:nvPr>
        </p:nvGraphicFramePr>
        <p:xfrm>
          <a:off x="3094896" y="533400"/>
          <a:ext cx="5943600" cy="2308020"/>
        </p:xfrm>
        <a:graphic>
          <a:graphicData uri="http://schemas.openxmlformats.org/drawingml/2006/table">
            <a:tbl>
              <a:tblPr/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430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CONFUSION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MATRIX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PREDICTED 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712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00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  <a:b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(TP)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  <a:b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(FN)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900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  <a:b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(FP)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b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(TN)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33400" y="5867400"/>
                <a:ext cx="6280822" cy="7659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Weighted Accuracy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5867400"/>
                <a:ext cx="6280822" cy="765979"/>
              </a:xfrm>
              <a:prstGeom prst="rect">
                <a:avLst/>
              </a:prstGeom>
              <a:blipFill rotWithShape="0">
                <a:blip r:embed="rId3"/>
                <a:stretch>
                  <a:fillRect l="-2039" b="-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584314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68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Computing Cost of Classification</a:t>
            </a:r>
          </a:p>
        </p:txBody>
      </p:sp>
      <p:graphicFrame>
        <p:nvGraphicFramePr>
          <p:cNvPr id="967683" name="Group 10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5802922"/>
              </p:ext>
            </p:extLst>
          </p:nvPr>
        </p:nvGraphicFramePr>
        <p:xfrm>
          <a:off x="3048000" y="1600200"/>
          <a:ext cx="3581400" cy="1831023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30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Cost Matrix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PREDICTED 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838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b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</a:t>
                      </a:r>
                      <a:b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C(i|j)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4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67706" name="Group 1050"/>
          <p:cNvGraphicFramePr>
            <a:graphicFrameLocks noGrp="1"/>
          </p:cNvGraphicFramePr>
          <p:nvPr/>
        </p:nvGraphicFramePr>
        <p:xfrm>
          <a:off x="457200" y="3731577"/>
          <a:ext cx="3581400" cy="1831023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30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Model M</a:t>
                      </a:r>
                      <a:r>
                        <a:rPr kumimoji="0" 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PREDICTED 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838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b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</a:t>
                      </a:r>
                      <a:b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4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67729" name="Group 1073"/>
          <p:cNvGraphicFramePr>
            <a:graphicFrameLocks noGrp="1"/>
          </p:cNvGraphicFramePr>
          <p:nvPr/>
        </p:nvGraphicFramePr>
        <p:xfrm>
          <a:off x="5257800" y="3731577"/>
          <a:ext cx="3581400" cy="1831023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30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Model M</a:t>
                      </a:r>
                      <a:r>
                        <a:rPr kumimoji="0" 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PREDICTED 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838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b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4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67752" name="Rectangle 1096"/>
          <p:cNvSpPr>
            <a:spLocks noChangeArrowheads="1"/>
          </p:cNvSpPr>
          <p:nvPr/>
        </p:nvSpPr>
        <p:spPr bwMode="auto">
          <a:xfrm>
            <a:off x="228600" y="5715000"/>
            <a:ext cx="3886200" cy="990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2400" b="0" dirty="0">
                <a:solidFill>
                  <a:schemeClr val="tx1"/>
                </a:solidFill>
              </a:rPr>
              <a:t>Accuracy = 80%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2400" b="0" dirty="0">
                <a:solidFill>
                  <a:schemeClr val="tx1"/>
                </a:solidFill>
              </a:rPr>
              <a:t>Weighted Accuracy = 8.9%</a:t>
            </a:r>
          </a:p>
        </p:txBody>
      </p:sp>
      <p:sp>
        <p:nvSpPr>
          <p:cNvPr id="967753" name="Rectangle 1097"/>
          <p:cNvSpPr>
            <a:spLocks noChangeArrowheads="1"/>
          </p:cNvSpPr>
          <p:nvPr/>
        </p:nvSpPr>
        <p:spPr bwMode="auto">
          <a:xfrm>
            <a:off x="5181600" y="5638800"/>
            <a:ext cx="3733800" cy="990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2400" b="0" dirty="0">
                <a:solidFill>
                  <a:schemeClr val="tx1"/>
                </a:solidFill>
              </a:rPr>
              <a:t>Accuracy = 90%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2400" b="0" dirty="0">
                <a:solidFill>
                  <a:schemeClr val="tx1"/>
                </a:solidFill>
              </a:rPr>
              <a:t>Weighted Accuracy= 9%</a:t>
            </a:r>
          </a:p>
        </p:txBody>
      </p:sp>
    </p:spTree>
    <p:extLst>
      <p:ext uri="{BB962C8B-B14F-4D97-AF65-F5344CB8AC3E}">
        <p14:creationId xmlns:p14="http://schemas.microsoft.com/office/powerpoint/2010/main" val="30412573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6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295400"/>
            <a:ext cx="8229600" cy="2209800"/>
          </a:xfrm>
        </p:spPr>
        <p:txBody>
          <a:bodyPr>
            <a:normAutofit/>
          </a:bodyPr>
          <a:lstStyle/>
          <a:p>
            <a:r>
              <a:rPr lang="en-US" dirty="0"/>
              <a:t>Classification</a:t>
            </a:r>
            <a:br>
              <a:rPr lang="en-US" dirty="0"/>
            </a:br>
            <a:r>
              <a:rPr lang="en-US" dirty="0"/>
              <a:t>Cost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66659" name="Group 3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3048000" y="2971800"/>
              <a:ext cx="5943604" cy="2513653"/>
            </p:xfrm>
            <a:graphic>
              <a:graphicData uri="http://schemas.openxmlformats.org/drawingml/2006/table">
                <a:tbl>
                  <a:tblPr/>
                  <a:tblGrid>
                    <a:gridCol w="148590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8590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8590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48590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7945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:r>
                            <a:rPr kumimoji="0" 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COST</a:t>
                          </a:r>
                        </a:p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:r>
                            <a:rPr kumimoji="0" 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MATRIX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:r>
                            <a:rPr kumimoji="0" lang="en-US" sz="18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      PREDICTED CLASS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CCEC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50741">
                    <a:tc rowSpan="3">
                      <a:txBody>
                        <a:bodyPr/>
                        <a:lstStyle/>
                        <a:p>
                          <a:pPr marL="0" marR="0" lvl="0" indent="0" algn="ctr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:br>
                            <a:rPr kumimoji="0" lang="en-US" sz="1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</a:br>
                          <a:endParaRPr kumimoji="0" lang="en-US" sz="1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  <a:p>
                          <a:pPr marL="0" marR="0" lvl="0" indent="0" algn="ctr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:r>
                            <a:rPr kumimoji="0" lang="en-US" sz="1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ACTUAL</a:t>
                          </a:r>
                          <a:br>
                            <a:rPr kumimoji="0" lang="en-US" sz="1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</a:br>
                          <a:r>
                            <a:rPr kumimoji="0" lang="en-US" sz="1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CLASS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CCE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:r>
                            <a:rPr kumimoji="0" lang="en-US" sz="1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C(</a:t>
                          </a:r>
                          <a:r>
                            <a:rPr kumimoji="0" lang="en-US" sz="1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i|j</a:t>
                          </a:r>
                          <a:r>
                            <a:rPr kumimoji="0" lang="en-US" sz="1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)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EAEAE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:r>
                            <a:rPr kumimoji="0" lang="en-US" sz="16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Class=Yes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EAEAE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:r>
                            <a:rPr kumimoji="0" lang="en-US" sz="16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Class=No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EAEAE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50741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:r>
                            <a:rPr kumimoji="0" lang="en-US" sz="16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Class=Yes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EAEAE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kumimoji="0" lang="en-US" sz="16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latin typeface="Arial" charset="0"/>
                          </a:endParaRPr>
                        </a:p>
                        <a:p>
                          <a:pPr marL="0" marR="0" lvl="0" indent="0" algn="ctr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:r>
                            <a:rPr kumimoji="0" 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latin typeface="Arial" charset="0"/>
                            </a:rPr>
                            <a:t>C(</a:t>
                          </a:r>
                          <a:r>
                            <a:rPr kumimoji="0" lang="en-US" sz="16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latin typeface="Arial" charset="0"/>
                            </a:rPr>
                            <a:t>Yes|Yes</a:t>
                          </a:r>
                          <a:r>
                            <a:rPr kumimoji="0" 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latin typeface="Arial" charset="0"/>
                            </a:rPr>
                            <a:t>)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kumimoji="0" lang="en-US" sz="16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Arial" charset="0"/>
                          </a:endParaRPr>
                        </a:p>
                        <a:p>
                          <a:pPr marL="0" marR="0" lvl="0" indent="0" algn="ctr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:r>
                            <a:rPr kumimoji="0" 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</a:rPr>
                            <a:t>C(</a:t>
                          </a:r>
                          <a:r>
                            <a:rPr kumimoji="0" lang="en-US" sz="16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</a:rPr>
                            <a:t>No|Yes</a:t>
                          </a:r>
                          <a:r>
                            <a:rPr kumimoji="0" 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</a:rPr>
                            <a:t>)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65876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:r>
                            <a:rPr kumimoji="0" lang="en-US" sz="16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Class=No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EAEAE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kumimoji="0" lang="en-US" sz="16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Arial" charset="0"/>
                          </a:endParaRPr>
                        </a:p>
                        <a:p>
                          <a:pPr marL="0" marR="0" lvl="0" indent="0" algn="ctr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:r>
                            <a:rPr kumimoji="0" 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</a:rPr>
                            <a:t>C(</a:t>
                          </a:r>
                          <a:r>
                            <a:rPr kumimoji="0" lang="en-US" sz="16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</a:rPr>
                            <a:t>Yes|No</a:t>
                          </a:r>
                          <a:r>
                            <a:rPr kumimoji="0" 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</a:rPr>
                            <a:t>)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kumimoji="0" lang="en-US" sz="1600" b="0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latin typeface="Arial" charset="0"/>
                          </a:endParaRPr>
                        </a:p>
                        <a:p>
                          <a:pPr marL="0" marR="0" lvl="0" indent="0" algn="ctr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:r>
                            <a:rPr kumimoji="0" 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latin typeface="Arial" charset="0"/>
                            </a:rPr>
                            <a:t>C(</a:t>
                          </a:r>
                          <a:r>
                            <a:rPr kumimoji="0" lang="en-US" sz="16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latin typeface="Arial" charset="0"/>
                            </a:rPr>
                            <a:t>No|No</a:t>
                          </a:r>
                          <a:r>
                            <a:rPr kumimoji="0" 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latin typeface="Arial" charset="0"/>
                            </a:rPr>
                            <a:t>)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66659" name="Group 3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3048000" y="2971800"/>
              <a:ext cx="5943604" cy="2513653"/>
            </p:xfrm>
            <a:graphic>
              <a:graphicData uri="http://schemas.openxmlformats.org/drawingml/2006/table">
                <a:tbl>
                  <a:tblPr/>
                  <a:tblGrid>
                    <a:gridCol w="1485901"/>
                    <a:gridCol w="1485901"/>
                    <a:gridCol w="1485901"/>
                    <a:gridCol w="1485901"/>
                  </a:tblGrid>
                  <a:tr h="65430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:r>
                            <a:rPr kumimoji="0" lang="en-US" sz="16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COST</a:t>
                          </a:r>
                        </a:p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:r>
                            <a:rPr kumimoji="0" lang="en-US" sz="16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MATRIX</a:t>
                          </a:r>
                          <a:endParaRPr kumimoji="0" lang="en-US" sz="16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:r>
                            <a:rPr kumimoji="0" lang="en-US" sz="1800" b="0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      PREDICTED CLASS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CCEC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550741">
                    <a:tc rowSpan="3">
                      <a:txBody>
                        <a:bodyPr/>
                        <a:lstStyle/>
                        <a:p>
                          <a:pPr marL="0" marR="0" lvl="0" indent="0" algn="ctr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:r>
                            <a:rPr kumimoji="0" lang="en-US" sz="18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/>
                          </a:r>
                          <a:br>
                            <a:rPr kumimoji="0" lang="en-US" sz="18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</a:br>
                          <a:endParaRPr kumimoji="0" lang="en-US" sz="18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</a:endParaRPr>
                        </a:p>
                        <a:p>
                          <a:pPr marL="0" marR="0" lvl="0" indent="0" algn="ctr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:r>
                            <a:rPr kumimoji="0" lang="en-US" sz="18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ACTUAL</a:t>
                          </a:r>
                          <a:br>
                            <a:rPr kumimoji="0" lang="en-US" sz="18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</a:br>
                          <a:r>
                            <a:rPr kumimoji="0" lang="en-US" sz="18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CLASS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CCE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:r>
                            <a:rPr kumimoji="0" lang="en-US" sz="18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C(</a:t>
                          </a:r>
                          <a:r>
                            <a:rPr kumimoji="0" lang="en-US" sz="1800" b="0" i="0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i|j</a:t>
                          </a:r>
                          <a:r>
                            <a:rPr kumimoji="0" lang="en-US" sz="18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)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EAEAE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:r>
                            <a:rPr kumimoji="0" lang="en-US" sz="1600" b="1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Class=Yes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EAEAE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:r>
                            <a:rPr kumimoji="0" lang="en-US" sz="1600" b="1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Class=No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EAEAEA"/>
                        </a:solidFill>
                      </a:tcPr>
                    </a:tc>
                  </a:tr>
                  <a:tr h="654304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:r>
                            <a:rPr kumimoji="0" lang="en-US" sz="1600" b="1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Class=Yes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EAEAE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0">
                          <a:blip r:embed="rId2"/>
                          <a:stretch>
                            <a:fillRect l="-202049" t="-189720" r="-101639" b="-1140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0">
                          <a:blip r:embed="rId2"/>
                          <a:stretch>
                            <a:fillRect l="-302049" t="-189720" r="-1639" b="-114019"/>
                          </a:stretch>
                        </a:blipFill>
                      </a:tcPr>
                    </a:tc>
                  </a:tr>
                  <a:tr h="654304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10000"/>
                            </a:spcBef>
                            <a:spcAft>
                              <a:spcPts val="400"/>
                            </a:spcAft>
                            <a:buClr>
                              <a:srgbClr val="0C7B9C"/>
                            </a:buClr>
                            <a:buSzPct val="75000"/>
                            <a:buFont typeface="Monotype Sorts" pitchFamily="2" charset="2"/>
                            <a:buNone/>
                            <a:tabLst/>
                          </a:pPr>
                          <a:r>
                            <a:rPr kumimoji="0" lang="en-US" sz="1600" b="1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</a:rPr>
                            <a:t>Class=No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EAEAE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0">
                          <a:blip r:embed="rId2"/>
                          <a:stretch>
                            <a:fillRect l="-202049" t="-287037" r="-101639" b="-129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0">
                          <a:blip r:embed="rId2"/>
                          <a:stretch>
                            <a:fillRect l="-302049" t="-287037" r="-1639" b="-12963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graphicFrame>
        <p:nvGraphicFramePr>
          <p:cNvPr id="6" name="Group 4"/>
          <p:cNvGraphicFramePr>
            <a:graphicFrameLocks noGrp="1"/>
          </p:cNvGraphicFramePr>
          <p:nvPr>
            <p:extLst/>
          </p:nvPr>
        </p:nvGraphicFramePr>
        <p:xfrm>
          <a:off x="3094896" y="533400"/>
          <a:ext cx="5943600" cy="2308020"/>
        </p:xfrm>
        <a:graphic>
          <a:graphicData uri="http://schemas.openxmlformats.org/drawingml/2006/table">
            <a:tbl>
              <a:tblPr/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430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CONFUSION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MATRIX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PREDICTED 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712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00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  <a:b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(TP)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  <a:b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(FN)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900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  <a:b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(FP)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b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(TN)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09600" y="5715000"/>
                <a:ext cx="729981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Classification Cost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715000"/>
                <a:ext cx="7299819" cy="523220"/>
              </a:xfrm>
              <a:prstGeom prst="rect">
                <a:avLst/>
              </a:prstGeom>
              <a:blipFill rotWithShape="0">
                <a:blip r:embed="rId3"/>
                <a:stretch>
                  <a:fillRect l="-1671" t="-12941" b="-3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838200" y="6283101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Some weights can also be negative </a:t>
            </a:r>
          </a:p>
        </p:txBody>
      </p:sp>
    </p:spTree>
    <p:extLst>
      <p:ext uri="{BB962C8B-B14F-4D97-AF65-F5344CB8AC3E}">
        <p14:creationId xmlns:p14="http://schemas.microsoft.com/office/powerpoint/2010/main" val="183751374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68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Computing Cost of Classification</a:t>
            </a:r>
          </a:p>
        </p:txBody>
      </p:sp>
      <p:graphicFrame>
        <p:nvGraphicFramePr>
          <p:cNvPr id="967683" name="Group 10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7212527"/>
              </p:ext>
            </p:extLst>
          </p:nvPr>
        </p:nvGraphicFramePr>
        <p:xfrm>
          <a:off x="3048000" y="1600200"/>
          <a:ext cx="3581400" cy="1831023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30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Cost Matrix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PREDICTED 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838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b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</a:t>
                      </a:r>
                      <a:b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C(i|j)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4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67706" name="Group 1050"/>
          <p:cNvGraphicFramePr>
            <a:graphicFrameLocks noGrp="1"/>
          </p:cNvGraphicFramePr>
          <p:nvPr/>
        </p:nvGraphicFramePr>
        <p:xfrm>
          <a:off x="457200" y="3731577"/>
          <a:ext cx="3581400" cy="1831023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30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Model M</a:t>
                      </a:r>
                      <a:r>
                        <a:rPr kumimoji="0" 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PREDICTED 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838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b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</a:t>
                      </a:r>
                      <a:b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4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67729" name="Group 1073"/>
          <p:cNvGraphicFramePr>
            <a:graphicFrameLocks noGrp="1"/>
          </p:cNvGraphicFramePr>
          <p:nvPr/>
        </p:nvGraphicFramePr>
        <p:xfrm>
          <a:off x="5257800" y="3731577"/>
          <a:ext cx="3581400" cy="1831023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30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Model M</a:t>
                      </a:r>
                      <a:r>
                        <a:rPr kumimoji="0" 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PREDICTED 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838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b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4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67752" name="Rectangle 1096"/>
          <p:cNvSpPr>
            <a:spLocks noChangeArrowheads="1"/>
          </p:cNvSpPr>
          <p:nvPr/>
        </p:nvSpPr>
        <p:spPr bwMode="auto">
          <a:xfrm>
            <a:off x="762000" y="5715000"/>
            <a:ext cx="3048000" cy="990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2400" b="0" dirty="0">
                <a:solidFill>
                  <a:schemeClr val="tx1"/>
                </a:solidFill>
              </a:rPr>
              <a:t>Accuracy = 80%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2400" b="0" dirty="0">
                <a:solidFill>
                  <a:schemeClr val="tx1"/>
                </a:solidFill>
              </a:rPr>
              <a:t>Cost = 3910</a:t>
            </a:r>
          </a:p>
        </p:txBody>
      </p:sp>
      <p:sp>
        <p:nvSpPr>
          <p:cNvPr id="967753" name="Rectangle 1097"/>
          <p:cNvSpPr>
            <a:spLocks noChangeArrowheads="1"/>
          </p:cNvSpPr>
          <p:nvPr/>
        </p:nvSpPr>
        <p:spPr bwMode="auto">
          <a:xfrm>
            <a:off x="5181600" y="5638800"/>
            <a:ext cx="3048000" cy="990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2400" b="0" dirty="0">
                <a:solidFill>
                  <a:schemeClr val="tx1"/>
                </a:solidFill>
              </a:rPr>
              <a:t>Accuracy = 90%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2400" b="0" dirty="0">
                <a:solidFill>
                  <a:schemeClr val="tx1"/>
                </a:solidFill>
              </a:rPr>
              <a:t>Cost = 4255</a:t>
            </a:r>
          </a:p>
        </p:txBody>
      </p:sp>
    </p:spTree>
    <p:extLst>
      <p:ext uri="{BB962C8B-B14F-4D97-AF65-F5344CB8AC3E}">
        <p14:creationId xmlns:p14="http://schemas.microsoft.com/office/powerpoint/2010/main" val="65505497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70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280400" cy="533400"/>
          </a:xfrm>
        </p:spPr>
        <p:txBody>
          <a:bodyPr>
            <a:normAutofit fontScale="90000"/>
          </a:bodyPr>
          <a:lstStyle/>
          <a:p>
            <a:r>
              <a:rPr lang="en-US" dirty="0"/>
              <a:t>Cost </a:t>
            </a:r>
            <a:r>
              <a:rPr lang="en-US" dirty="0" err="1"/>
              <a:t>vs</a:t>
            </a:r>
            <a:r>
              <a:rPr lang="en-US" dirty="0"/>
              <a:t> Accuracy</a:t>
            </a:r>
          </a:p>
        </p:txBody>
      </p:sp>
      <p:graphicFrame>
        <p:nvGraphicFramePr>
          <p:cNvPr id="968707" name="Group 3"/>
          <p:cNvGraphicFramePr>
            <a:graphicFrameLocks noGrp="1"/>
          </p:cNvGraphicFramePr>
          <p:nvPr>
            <p:ph idx="1"/>
          </p:nvPr>
        </p:nvGraphicFramePr>
        <p:xfrm>
          <a:off x="411163" y="1140460"/>
          <a:ext cx="4389437" cy="2183130"/>
        </p:xfrm>
        <a:graphic>
          <a:graphicData uri="http://schemas.openxmlformats.org/drawingml/2006/table">
            <a:tbl>
              <a:tblPr/>
              <a:tblGrid>
                <a:gridCol w="1096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8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6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69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83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Count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PREDICTED 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b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7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68730" name="Group 26"/>
          <p:cNvGraphicFramePr>
            <a:graphicFrameLocks noGrp="1"/>
          </p:cNvGraphicFramePr>
          <p:nvPr/>
        </p:nvGraphicFramePr>
        <p:xfrm>
          <a:off x="381000" y="3886200"/>
          <a:ext cx="4389438" cy="2243138"/>
        </p:xfrm>
        <a:graphic>
          <a:graphicData uri="http://schemas.openxmlformats.org/drawingml/2006/table">
            <a:tbl>
              <a:tblPr/>
              <a:tblGrid>
                <a:gridCol w="1096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8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69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69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Cost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PREDICTED 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150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b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</a:t>
                      </a:r>
                      <a:b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63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" name="Group 49"/>
          <p:cNvGrpSpPr>
            <a:grpSpLocks/>
          </p:cNvGrpSpPr>
          <p:nvPr/>
        </p:nvGrpSpPr>
        <p:grpSpPr bwMode="auto">
          <a:xfrm>
            <a:off x="5105400" y="1143000"/>
            <a:ext cx="3733800" cy="4964113"/>
            <a:chOff x="3216" y="720"/>
            <a:chExt cx="2352" cy="3127"/>
          </a:xfrm>
        </p:grpSpPr>
        <p:sp>
          <p:nvSpPr>
            <p:cNvPr id="968754" name="Text Box 50"/>
            <p:cNvSpPr txBox="1">
              <a:spLocks noChangeArrowheads="1"/>
            </p:cNvSpPr>
            <p:nvPr/>
          </p:nvSpPr>
          <p:spPr bwMode="auto">
            <a:xfrm>
              <a:off x="3264" y="1536"/>
              <a:ext cx="2256" cy="231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 b="0" dirty="0">
                  <a:solidFill>
                    <a:schemeClr val="tx1"/>
                  </a:solidFill>
                </a:rPr>
                <a:t>N = a + b + c + d</a:t>
              </a:r>
            </a:p>
            <a:p>
              <a:pPr>
                <a:spcBef>
                  <a:spcPct val="50000"/>
                </a:spcBef>
              </a:pPr>
              <a:endParaRPr lang="en-US" sz="1800" b="0" dirty="0">
                <a:solidFill>
                  <a:schemeClr val="tx1"/>
                </a:solidFill>
              </a:endParaRPr>
            </a:p>
            <a:p>
              <a:pPr>
                <a:spcBef>
                  <a:spcPct val="50000"/>
                </a:spcBef>
              </a:pPr>
              <a:r>
                <a:rPr lang="en-US" sz="1800" b="0" dirty="0">
                  <a:solidFill>
                    <a:schemeClr val="tx1"/>
                  </a:solidFill>
                </a:rPr>
                <a:t>Accuracy = (a + d)/N</a:t>
              </a:r>
            </a:p>
            <a:p>
              <a:pPr>
                <a:spcBef>
                  <a:spcPct val="50000"/>
                </a:spcBef>
              </a:pPr>
              <a:endParaRPr lang="en-US" sz="1800" b="0" dirty="0">
                <a:solidFill>
                  <a:schemeClr val="tx1"/>
                </a:solidFill>
              </a:endParaRPr>
            </a:p>
            <a:p>
              <a:pPr>
                <a:spcBef>
                  <a:spcPct val="50000"/>
                </a:spcBef>
              </a:pPr>
              <a:r>
                <a:rPr lang="en-US" sz="1800" b="0" dirty="0">
                  <a:solidFill>
                    <a:schemeClr val="tx1"/>
                  </a:solidFill>
                </a:rPr>
                <a:t>Cost = p (a + d) + q (b + c)</a:t>
              </a:r>
            </a:p>
            <a:p>
              <a:pPr>
                <a:spcBef>
                  <a:spcPct val="50000"/>
                </a:spcBef>
              </a:pPr>
              <a:r>
                <a:rPr lang="en-US" sz="1800" b="0" dirty="0">
                  <a:solidFill>
                    <a:schemeClr val="tx1"/>
                  </a:solidFill>
                </a:rPr>
                <a:t>        = p (a + d) + q (N – a – d)</a:t>
              </a:r>
            </a:p>
            <a:p>
              <a:pPr>
                <a:spcBef>
                  <a:spcPct val="50000"/>
                </a:spcBef>
              </a:pPr>
              <a:r>
                <a:rPr lang="en-US" sz="1800" b="0" dirty="0">
                  <a:solidFill>
                    <a:schemeClr val="tx1"/>
                  </a:solidFill>
                </a:rPr>
                <a:t>        = q N – (q – p)(a + d)</a:t>
              </a:r>
            </a:p>
            <a:p>
              <a:pPr>
                <a:spcBef>
                  <a:spcPct val="50000"/>
                </a:spcBef>
              </a:pPr>
              <a:r>
                <a:rPr lang="en-US" sz="1800" b="0" dirty="0">
                  <a:solidFill>
                    <a:schemeClr val="tx1"/>
                  </a:solidFill>
                </a:rPr>
                <a:t>        = N [q – (q-p) </a:t>
              </a:r>
              <a:r>
                <a:rPr lang="en-US" sz="1800" b="0" dirty="0">
                  <a:solidFill>
                    <a:schemeClr val="tx1"/>
                  </a:solidFill>
                  <a:sym typeface="Symbol" pitchFamily="18" charset="2"/>
                </a:rPr>
                <a:t> </a:t>
              </a:r>
              <a:r>
                <a:rPr lang="en-US" sz="1800" b="0" dirty="0">
                  <a:solidFill>
                    <a:schemeClr val="tx1"/>
                  </a:solidFill>
                </a:rPr>
                <a:t>Accuracy] </a:t>
              </a:r>
            </a:p>
            <a:p>
              <a:pPr>
                <a:spcBef>
                  <a:spcPct val="50000"/>
                </a:spcBef>
              </a:pPr>
              <a:endParaRPr lang="en-US" sz="1800" b="0" dirty="0">
                <a:solidFill>
                  <a:schemeClr val="tx1"/>
                </a:solidFill>
              </a:endParaRPr>
            </a:p>
          </p:txBody>
        </p:sp>
        <p:sp>
          <p:nvSpPr>
            <p:cNvPr id="968755" name="Rectangle 51"/>
            <p:cNvSpPr>
              <a:spLocks noChangeArrowheads="1"/>
            </p:cNvSpPr>
            <p:nvPr/>
          </p:nvSpPr>
          <p:spPr bwMode="auto">
            <a:xfrm>
              <a:off x="3216" y="720"/>
              <a:ext cx="2352" cy="57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0" dirty="0">
                  <a:solidFill>
                    <a:schemeClr val="tx1"/>
                  </a:solidFill>
                </a:rPr>
                <a:t>Accuracy is proportional to cost if</a:t>
              </a:r>
              <a:br>
                <a:rPr lang="en-US" sz="1800" b="0" dirty="0">
                  <a:solidFill>
                    <a:schemeClr val="tx1"/>
                  </a:solidFill>
                </a:rPr>
              </a:br>
              <a:r>
                <a:rPr lang="en-US" sz="1800" b="0" dirty="0">
                  <a:solidFill>
                    <a:schemeClr val="tx1"/>
                  </a:solidFill>
                </a:rPr>
                <a:t>1. C(</a:t>
              </a:r>
              <a:r>
                <a:rPr lang="en-US" sz="1800" b="0" dirty="0" err="1">
                  <a:solidFill>
                    <a:schemeClr val="tx1"/>
                  </a:solidFill>
                </a:rPr>
                <a:t>Yes|No</a:t>
              </a:r>
              <a:r>
                <a:rPr lang="en-US" sz="1800" b="0" dirty="0">
                  <a:solidFill>
                    <a:schemeClr val="tx1"/>
                  </a:solidFill>
                </a:rPr>
                <a:t>)=C(</a:t>
              </a:r>
              <a:r>
                <a:rPr lang="en-US" sz="1800" b="0" dirty="0" err="1">
                  <a:solidFill>
                    <a:schemeClr val="tx1"/>
                  </a:solidFill>
                </a:rPr>
                <a:t>No|Yes</a:t>
              </a:r>
              <a:r>
                <a:rPr lang="en-US" sz="1800" b="0" dirty="0">
                  <a:solidFill>
                    <a:schemeClr val="tx1"/>
                  </a:solidFill>
                </a:rPr>
                <a:t>) = q </a:t>
              </a:r>
              <a:br>
                <a:rPr lang="en-US" sz="1800" b="0" dirty="0">
                  <a:solidFill>
                    <a:schemeClr val="tx1"/>
                  </a:solidFill>
                </a:rPr>
              </a:br>
              <a:r>
                <a:rPr lang="en-US" sz="1800" b="0" dirty="0">
                  <a:solidFill>
                    <a:schemeClr val="tx1"/>
                  </a:solidFill>
                </a:rPr>
                <a:t>2. C(</a:t>
              </a:r>
              <a:r>
                <a:rPr lang="en-US" sz="1800" b="0" dirty="0" err="1">
                  <a:solidFill>
                    <a:schemeClr val="tx1"/>
                  </a:solidFill>
                </a:rPr>
                <a:t>Yes|Yes</a:t>
              </a:r>
              <a:r>
                <a:rPr lang="en-US" sz="1800" b="0" dirty="0">
                  <a:solidFill>
                    <a:schemeClr val="tx1"/>
                  </a:solidFill>
                </a:rPr>
                <a:t>)=C(</a:t>
              </a:r>
              <a:r>
                <a:rPr lang="en-US" sz="1800" b="0" dirty="0" err="1">
                  <a:solidFill>
                    <a:schemeClr val="tx1"/>
                  </a:solidFill>
                </a:rPr>
                <a:t>No|No</a:t>
              </a:r>
              <a:r>
                <a:rPr lang="en-US" sz="1800" b="0" dirty="0">
                  <a:solidFill>
                    <a:schemeClr val="tx1"/>
                  </a:solidFill>
                </a:rPr>
                <a:t>) = 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4586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730" name="Rectangle 2"/>
          <p:cNvSpPr>
            <a:spLocks noGrp="1" noChangeArrowheads="1"/>
          </p:cNvSpPr>
          <p:nvPr>
            <p:ph type="title"/>
          </p:nvPr>
        </p:nvSpPr>
        <p:spPr>
          <a:xfrm>
            <a:off x="197528" y="381000"/>
            <a:ext cx="8229600" cy="990600"/>
          </a:xfrm>
        </p:spPr>
        <p:txBody>
          <a:bodyPr/>
          <a:lstStyle/>
          <a:p>
            <a:r>
              <a:rPr lang="en-US" dirty="0"/>
              <a:t>Precision-Recall</a:t>
            </a:r>
          </a:p>
        </p:txBody>
      </p:sp>
      <p:graphicFrame>
        <p:nvGraphicFramePr>
          <p:cNvPr id="9697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2112831"/>
              </p:ext>
            </p:extLst>
          </p:nvPr>
        </p:nvGraphicFramePr>
        <p:xfrm>
          <a:off x="457200" y="1872742"/>
          <a:ext cx="7386638" cy="2455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71" name="Εξίσωση" r:id="rId3" imgW="4305240" imgH="1447560" progId="Equation.3">
                  <p:embed/>
                </p:oleObj>
              </mc:Choice>
              <mc:Fallback>
                <p:oleObj name="Εξίσωση" r:id="rId3" imgW="4305240" imgH="1447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872742"/>
                        <a:ext cx="7386638" cy="2455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9732" name="Rectangle 4"/>
          <p:cNvSpPr>
            <a:spLocks noChangeArrowheads="1"/>
          </p:cNvSpPr>
          <p:nvPr/>
        </p:nvSpPr>
        <p:spPr bwMode="auto">
          <a:xfrm>
            <a:off x="173854" y="4495800"/>
            <a:ext cx="8839200" cy="2133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 dirty="0">
                <a:solidFill>
                  <a:schemeClr val="tx1"/>
                </a:solidFill>
              </a:rPr>
              <a:t>Precision is biased towards </a:t>
            </a:r>
            <a:r>
              <a:rPr lang="en-US" sz="2400" b="1" dirty="0">
                <a:solidFill>
                  <a:srgbClr val="0070C0"/>
                </a:solidFill>
              </a:rPr>
              <a:t>C(</a:t>
            </a:r>
            <a:r>
              <a:rPr lang="en-US" sz="2400" b="1" dirty="0" err="1">
                <a:solidFill>
                  <a:srgbClr val="FF0000"/>
                </a:solidFill>
              </a:rPr>
              <a:t>Yes</a:t>
            </a:r>
            <a:r>
              <a:rPr lang="en-US" sz="2400" b="1" dirty="0" err="1">
                <a:solidFill>
                  <a:srgbClr val="0070C0"/>
                </a:solidFill>
              </a:rPr>
              <a:t>|Yes</a:t>
            </a:r>
            <a:r>
              <a:rPr lang="en-US" sz="2400" b="1" dirty="0">
                <a:solidFill>
                  <a:srgbClr val="0070C0"/>
                </a:solidFill>
              </a:rPr>
              <a:t>) &amp; C(</a:t>
            </a:r>
            <a:r>
              <a:rPr lang="en-US" sz="2400" b="1" dirty="0" err="1">
                <a:solidFill>
                  <a:srgbClr val="FF0000"/>
                </a:solidFill>
              </a:rPr>
              <a:t>Yes</a:t>
            </a:r>
            <a:r>
              <a:rPr lang="en-US" sz="2400" b="1" dirty="0" err="1">
                <a:solidFill>
                  <a:srgbClr val="0070C0"/>
                </a:solidFill>
              </a:rPr>
              <a:t>|No</a:t>
            </a:r>
            <a:r>
              <a:rPr lang="en-US" sz="2400" b="1" dirty="0">
                <a:solidFill>
                  <a:srgbClr val="0070C0"/>
                </a:solidFill>
              </a:rPr>
              <a:t>)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 dirty="0">
                <a:solidFill>
                  <a:schemeClr val="tx1"/>
                </a:solidFill>
              </a:rPr>
              <a:t>Recall is biased towards </a:t>
            </a:r>
            <a:r>
              <a:rPr lang="en-US" sz="2400" b="1" dirty="0">
                <a:solidFill>
                  <a:srgbClr val="0070C0"/>
                </a:solidFill>
              </a:rPr>
              <a:t>C(</a:t>
            </a:r>
            <a:r>
              <a:rPr lang="en-US" sz="2400" b="1" dirty="0" err="1">
                <a:solidFill>
                  <a:srgbClr val="0070C0"/>
                </a:solidFill>
              </a:rPr>
              <a:t>Yes|</a:t>
            </a:r>
            <a:r>
              <a:rPr lang="en-US" sz="2400" b="1" dirty="0" err="1">
                <a:solidFill>
                  <a:srgbClr val="FF0000"/>
                </a:solidFill>
              </a:rPr>
              <a:t>Yes</a:t>
            </a:r>
            <a:r>
              <a:rPr lang="en-US" sz="2400" b="1" dirty="0">
                <a:solidFill>
                  <a:srgbClr val="0070C0"/>
                </a:solidFill>
              </a:rPr>
              <a:t>) &amp; C(</a:t>
            </a:r>
            <a:r>
              <a:rPr lang="en-US" sz="2400" b="1" dirty="0" err="1">
                <a:solidFill>
                  <a:srgbClr val="0070C0"/>
                </a:solidFill>
              </a:rPr>
              <a:t>No|</a:t>
            </a:r>
            <a:r>
              <a:rPr lang="en-US" sz="2400" b="1" dirty="0" err="1">
                <a:solidFill>
                  <a:srgbClr val="FF0000"/>
                </a:solidFill>
              </a:rPr>
              <a:t>Yes</a:t>
            </a:r>
            <a:r>
              <a:rPr lang="en-US" sz="2400" b="1" dirty="0">
                <a:solidFill>
                  <a:srgbClr val="0070C0"/>
                </a:solidFill>
              </a:rPr>
              <a:t>)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 dirty="0">
                <a:solidFill>
                  <a:schemeClr val="tx1"/>
                </a:solidFill>
              </a:rPr>
              <a:t>F-measure is biased towards all </a:t>
            </a:r>
            <a:r>
              <a:rPr lang="en-US" sz="2400" b="0" dirty="0">
                <a:solidFill>
                  <a:schemeClr val="accent6">
                    <a:lumMod val="75000"/>
                  </a:schemeClr>
                </a:solidFill>
              </a:rPr>
              <a:t>except</a:t>
            </a:r>
            <a:r>
              <a:rPr lang="en-US" sz="2400" b="0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rgbClr val="0070C0"/>
                </a:solidFill>
              </a:rPr>
              <a:t>C(</a:t>
            </a:r>
            <a:r>
              <a:rPr lang="en-US" sz="2400" b="1" dirty="0" err="1">
                <a:solidFill>
                  <a:srgbClr val="0070C0"/>
                </a:solidFill>
              </a:rPr>
              <a:t>No|No</a:t>
            </a:r>
            <a:r>
              <a:rPr lang="en-US" sz="2400" b="1" dirty="0">
                <a:solidFill>
                  <a:srgbClr val="0070C0"/>
                </a:solidFill>
              </a:rPr>
              <a:t>)</a:t>
            </a:r>
          </a:p>
        </p:txBody>
      </p:sp>
      <p:graphicFrame>
        <p:nvGraphicFramePr>
          <p:cNvPr id="6" name="Group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0080878"/>
              </p:ext>
            </p:extLst>
          </p:nvPr>
        </p:nvGraphicFramePr>
        <p:xfrm>
          <a:off x="5585535" y="1371600"/>
          <a:ext cx="3558465" cy="1504696"/>
        </p:xfrm>
        <a:graphic>
          <a:graphicData uri="http://schemas.openxmlformats.org/drawingml/2006/table">
            <a:tbl>
              <a:tblPr/>
              <a:tblGrid>
                <a:gridCol w="8892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0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2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2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636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Count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PREDICTED 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923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</a:t>
                      </a:r>
                      <a:b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6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2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076192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Evaluation</a:t>
            </a:r>
          </a:p>
        </p:txBody>
      </p:sp>
      <p:sp>
        <p:nvSpPr>
          <p:cNvPr id="970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Metrics for Performance Evaluation</a:t>
            </a:r>
          </a:p>
          <a:p>
            <a:pPr lvl="1"/>
            <a:r>
              <a:rPr lang="en-US"/>
              <a:t>How to evaluate the performance of a model?</a:t>
            </a:r>
          </a:p>
          <a:p>
            <a:pPr lvl="1">
              <a:buFont typeface="Arial" charset="0"/>
              <a:buNone/>
            </a:pPr>
            <a:endParaRPr lang="en-US"/>
          </a:p>
          <a:p>
            <a:r>
              <a:rPr lang="en-US">
                <a:solidFill>
                  <a:srgbClr val="FF0000"/>
                </a:solidFill>
              </a:rPr>
              <a:t>Methods for Performance Evaluation</a:t>
            </a:r>
          </a:p>
          <a:p>
            <a:pPr lvl="1"/>
            <a:r>
              <a:rPr lang="en-US"/>
              <a:t>How to obtain reliable estimates?</a:t>
            </a:r>
          </a:p>
          <a:p>
            <a:pPr lvl="1"/>
            <a:endParaRPr lang="en-US"/>
          </a:p>
          <a:p>
            <a:r>
              <a:rPr lang="en-US"/>
              <a:t>Methods for Model Comparison</a:t>
            </a:r>
          </a:p>
          <a:p>
            <a:pPr lvl="1"/>
            <a:r>
              <a:rPr lang="en-US"/>
              <a:t>How to compare the relative performance among competing models?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44618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Methods for Performance Evaluation</a:t>
            </a:r>
          </a:p>
        </p:txBody>
      </p:sp>
      <p:sp>
        <p:nvSpPr>
          <p:cNvPr id="971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How to obtain a reliable estimate of performance?</a:t>
            </a:r>
          </a:p>
          <a:p>
            <a:endParaRPr lang="en-US"/>
          </a:p>
          <a:p>
            <a:r>
              <a:rPr lang="en-US"/>
              <a:t>Performance of a model may depend on other factors besides the learning algorithm:</a:t>
            </a:r>
          </a:p>
          <a:p>
            <a:pPr lvl="1"/>
            <a:r>
              <a:rPr lang="en-US"/>
              <a:t>Class distribution</a:t>
            </a:r>
          </a:p>
          <a:p>
            <a:pPr lvl="1"/>
            <a:r>
              <a:rPr lang="en-US"/>
              <a:t>Cost of misclassification</a:t>
            </a:r>
          </a:p>
          <a:p>
            <a:pPr lvl="1"/>
            <a:r>
              <a:rPr lang="en-US"/>
              <a:t>Size of training and test sets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78397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of Estimation</a:t>
            </a:r>
          </a:p>
        </p:txBody>
      </p:sp>
      <p:sp>
        <p:nvSpPr>
          <p:cNvPr id="973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80438" cy="51816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Holdout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Reserve </a:t>
            </a:r>
            <a:r>
              <a:rPr lang="en-US" b="1" dirty="0">
                <a:solidFill>
                  <a:schemeClr val="accent2"/>
                </a:solidFill>
              </a:rPr>
              <a:t>2/3</a:t>
            </a:r>
            <a:r>
              <a:rPr lang="en-US" dirty="0"/>
              <a:t> for training and </a:t>
            </a:r>
            <a:r>
              <a:rPr lang="en-US" b="1" dirty="0">
                <a:solidFill>
                  <a:schemeClr val="accent2"/>
                </a:solidFill>
              </a:rPr>
              <a:t>1/3</a:t>
            </a:r>
            <a:r>
              <a:rPr lang="en-US" dirty="0"/>
              <a:t> for testing 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rgbClr val="0070C0"/>
                </a:solidFill>
              </a:rPr>
              <a:t>Random subsampling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One sample may be biased -- Repeated holdout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Cross validation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Partition data into </a:t>
            </a:r>
            <a:r>
              <a:rPr lang="en-US" sz="2400" b="1" dirty="0">
                <a:solidFill>
                  <a:schemeClr val="accent2"/>
                </a:solidFill>
              </a:rPr>
              <a:t>k</a:t>
            </a:r>
            <a:r>
              <a:rPr lang="en-US" sz="2400" dirty="0"/>
              <a:t> disjoint subsets</a:t>
            </a:r>
          </a:p>
          <a:p>
            <a:pPr lvl="1">
              <a:lnSpc>
                <a:spcPct val="90000"/>
              </a:lnSpc>
            </a:pPr>
            <a:r>
              <a:rPr lang="en-US" sz="2400" b="1" dirty="0">
                <a:solidFill>
                  <a:schemeClr val="accent2"/>
                </a:solidFill>
              </a:rPr>
              <a:t>k</a:t>
            </a:r>
            <a:r>
              <a:rPr lang="en-US" sz="2400" dirty="0"/>
              <a:t>-fold: train on </a:t>
            </a:r>
            <a:r>
              <a:rPr lang="en-US" sz="2400" b="1" dirty="0">
                <a:solidFill>
                  <a:schemeClr val="accent2"/>
                </a:solidFill>
              </a:rPr>
              <a:t>k-1</a:t>
            </a:r>
            <a:r>
              <a:rPr lang="en-US" sz="2400" dirty="0"/>
              <a:t> partitions, test on the remaining one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0070C0"/>
                </a:solidFill>
              </a:rPr>
              <a:t>Leave-one-out:</a:t>
            </a:r>
            <a:r>
              <a:rPr lang="en-US" sz="2400" dirty="0"/>
              <a:t> </a:t>
            </a:r>
            <a:r>
              <a:rPr lang="en-US" sz="2400" b="1" dirty="0">
                <a:solidFill>
                  <a:schemeClr val="accent2"/>
                </a:solidFill>
              </a:rPr>
              <a:t>k=n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Guarantees that each record is used the same number of times for training and testing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Bootstrap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Sampling with replacement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~63% of records used for training, ~27% for testing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2514313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class Imbalance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class we are interested in is very rare, then the classifier will ignore it.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class imbalance </a:t>
            </a:r>
            <a:r>
              <a:rPr lang="en-US" dirty="0"/>
              <a:t>problem</a:t>
            </a:r>
          </a:p>
          <a:p>
            <a:r>
              <a:rPr lang="en-US" dirty="0"/>
              <a:t>Solution</a:t>
            </a:r>
          </a:p>
          <a:p>
            <a:pPr lvl="1"/>
            <a:r>
              <a:rPr lang="en-US" dirty="0"/>
              <a:t>We can modify the optimization criterion by using a cost sensitive metric</a:t>
            </a:r>
          </a:p>
          <a:p>
            <a:pPr lvl="1"/>
            <a:r>
              <a:rPr lang="en-US" dirty="0"/>
              <a:t>We can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balance</a:t>
            </a:r>
            <a:r>
              <a:rPr lang="en-US" dirty="0"/>
              <a:t> the class distribution</a:t>
            </a:r>
          </a:p>
          <a:p>
            <a:pPr lvl="2"/>
            <a:r>
              <a:rPr lang="en-US" dirty="0"/>
              <a:t>Sample from the larger class so that the size of the two classes is the same</a:t>
            </a:r>
          </a:p>
          <a:p>
            <a:pPr lvl="2"/>
            <a:r>
              <a:rPr lang="en-US" dirty="0"/>
              <a:t>Replicate the data of the class of interest so that the classes are balanced </a:t>
            </a:r>
          </a:p>
          <a:p>
            <a:pPr lvl="3"/>
            <a:r>
              <a:rPr lang="en-US" dirty="0"/>
              <a:t>Over-fitting issues</a:t>
            </a:r>
          </a:p>
        </p:txBody>
      </p:sp>
    </p:spTree>
    <p:extLst>
      <p:ext uri="{BB962C8B-B14F-4D97-AF65-F5344CB8AC3E}">
        <p14:creationId xmlns:p14="http://schemas.microsoft.com/office/powerpoint/2010/main" val="248389344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Learning Curve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76200" y="1569156"/>
            <a:ext cx="5715000" cy="4857750"/>
            <a:chOff x="48" y="768"/>
            <a:chExt cx="3600" cy="3060"/>
          </a:xfrm>
        </p:grpSpPr>
        <p:pic>
          <p:nvPicPr>
            <p:cNvPr id="972804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5882" r="5882"/>
            <a:stretch>
              <a:fillRect/>
            </a:stretch>
          </p:blipFill>
          <p:spPr bwMode="auto">
            <a:xfrm>
              <a:off x="48" y="768"/>
              <a:ext cx="3600" cy="306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</p:pic>
        <p:sp>
          <p:nvSpPr>
            <p:cNvPr id="972805" name="Line 5"/>
            <p:cNvSpPr>
              <a:spLocks noChangeShapeType="1"/>
            </p:cNvSpPr>
            <p:nvPr/>
          </p:nvSpPr>
          <p:spPr bwMode="auto">
            <a:xfrm>
              <a:off x="336" y="1214"/>
              <a:ext cx="31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72806" name="Rectangle 6"/>
          <p:cNvSpPr>
            <a:spLocks noChangeArrowheads="1"/>
          </p:cNvSpPr>
          <p:nvPr/>
        </p:nvSpPr>
        <p:spPr bwMode="auto">
          <a:xfrm>
            <a:off x="5562600" y="1600200"/>
            <a:ext cx="3505200" cy="474745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000" b="0" dirty="0">
                <a:solidFill>
                  <a:schemeClr val="tx1"/>
                </a:solidFill>
              </a:rPr>
              <a:t>Learning curve shows how accuracy changes with varying sample size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endParaRPr lang="en-US" sz="2000" b="0" dirty="0">
              <a:solidFill>
                <a:schemeClr val="tx1"/>
              </a:solidFill>
            </a:endParaRP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000" b="0" dirty="0">
                <a:solidFill>
                  <a:schemeClr val="tx1"/>
                </a:solidFill>
              </a:rPr>
              <a:t>Requires a sampling schedule for creating learning curve</a:t>
            </a:r>
            <a:endParaRPr lang="en-US" sz="2000" dirty="0">
              <a:solidFill>
                <a:schemeClr val="tx1"/>
              </a:solidFill>
            </a:endParaRP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endParaRPr lang="en-US" sz="2000" b="0" dirty="0">
              <a:solidFill>
                <a:schemeClr val="tx1"/>
              </a:solidFill>
            </a:endParaRP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2000" b="0" dirty="0">
                <a:solidFill>
                  <a:schemeClr val="tx1"/>
                </a:solidFill>
              </a:rPr>
              <a:t>Effect of small sample size:</a:t>
            </a:r>
          </a:p>
          <a:p>
            <a:pPr marL="800100" lvl="1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Tx/>
              <a:buChar char="-"/>
            </a:pPr>
            <a:r>
              <a:rPr lang="en-US" sz="2000" b="0" dirty="0">
                <a:solidFill>
                  <a:schemeClr val="accent6">
                    <a:lumMod val="75000"/>
                  </a:schemeClr>
                </a:solidFill>
              </a:rPr>
              <a:t>Bias</a:t>
            </a:r>
            <a:r>
              <a:rPr lang="en-US" sz="2000" b="0" dirty="0">
                <a:solidFill>
                  <a:schemeClr val="tx1"/>
                </a:solidFill>
              </a:rPr>
              <a:t> in the estimate</a:t>
            </a:r>
          </a:p>
          <a:p>
            <a:pPr marL="1257300" lvl="2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Tx/>
              <a:buChar char="-"/>
            </a:pPr>
            <a:r>
              <a:rPr lang="en-US" sz="2000" dirty="0"/>
              <a:t>Poor model</a:t>
            </a:r>
            <a:endParaRPr lang="en-US" sz="2000" b="0" dirty="0">
              <a:solidFill>
                <a:schemeClr val="tx1"/>
              </a:solidFill>
            </a:endParaRPr>
          </a:p>
          <a:p>
            <a:pPr marL="800100" lvl="1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Tx/>
              <a:buChar char="-"/>
            </a:pPr>
            <a:r>
              <a:rPr lang="en-US" sz="2000" b="0" dirty="0">
                <a:solidFill>
                  <a:srgbClr val="0070C0"/>
                </a:solidFill>
              </a:rPr>
              <a:t>Variance</a:t>
            </a:r>
            <a:r>
              <a:rPr lang="en-US" sz="2000" b="0" dirty="0">
                <a:solidFill>
                  <a:schemeClr val="tx1"/>
                </a:solidFill>
              </a:rPr>
              <a:t> of estimate</a:t>
            </a:r>
          </a:p>
          <a:p>
            <a:pPr marL="1257300" lvl="2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Tx/>
              <a:buChar char="-"/>
            </a:pPr>
            <a:r>
              <a:rPr lang="en-US" sz="2000" dirty="0"/>
              <a:t>Poor training data</a:t>
            </a:r>
            <a:endParaRPr lang="en-US" sz="20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501012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Evaluation</a:t>
            </a:r>
          </a:p>
        </p:txBody>
      </p:sp>
      <p:sp>
        <p:nvSpPr>
          <p:cNvPr id="974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Metrics for Performance Evaluation</a:t>
            </a:r>
          </a:p>
          <a:p>
            <a:pPr lvl="1"/>
            <a:r>
              <a:rPr lang="en-US"/>
              <a:t>How to evaluate the performance of a model?</a:t>
            </a:r>
          </a:p>
          <a:p>
            <a:pPr lvl="1">
              <a:buFont typeface="Arial" charset="0"/>
              <a:buNone/>
            </a:pPr>
            <a:endParaRPr lang="en-US"/>
          </a:p>
          <a:p>
            <a:r>
              <a:rPr lang="en-US"/>
              <a:t>Methods for Performance Evaluation</a:t>
            </a:r>
          </a:p>
          <a:p>
            <a:pPr lvl="1"/>
            <a:r>
              <a:rPr lang="en-US"/>
              <a:t>How to obtain reliable estimates?</a:t>
            </a:r>
          </a:p>
          <a:p>
            <a:pPr lvl="1"/>
            <a:endParaRPr lang="en-US"/>
          </a:p>
          <a:p>
            <a:r>
              <a:rPr lang="en-US">
                <a:solidFill>
                  <a:srgbClr val="FF0000"/>
                </a:solidFill>
              </a:rPr>
              <a:t>Methods for Model Comparison</a:t>
            </a:r>
          </a:p>
          <a:p>
            <a:pPr lvl="1"/>
            <a:r>
              <a:rPr lang="en-US"/>
              <a:t>How to compare the relative performance among competing models?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57434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8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8534400" cy="53340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ROC (Receiver Operating Characteristic)</a:t>
            </a:r>
          </a:p>
        </p:txBody>
      </p:sp>
      <p:sp>
        <p:nvSpPr>
          <p:cNvPr id="975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876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Developed in 1950s for signal detection theory to analyze noisy signals 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Characterize the trade-off between positive hits and false alarms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FF0000"/>
                </a:solidFill>
              </a:rPr>
              <a:t>ROC </a:t>
            </a:r>
            <a:r>
              <a:rPr lang="en-US" sz="2400" dirty="0"/>
              <a:t>curve plots </a:t>
            </a:r>
            <a:r>
              <a:rPr lang="en-US" sz="2400" dirty="0">
                <a:solidFill>
                  <a:srgbClr val="0070C0"/>
                </a:solidFill>
              </a:rPr>
              <a:t>TPR (true positive rate)</a:t>
            </a:r>
            <a:r>
              <a:rPr lang="en-US" sz="2400" dirty="0"/>
              <a:t> (on the </a:t>
            </a:r>
            <a:r>
              <a:rPr lang="en-US" sz="2400" dirty="0">
                <a:solidFill>
                  <a:schemeClr val="accent2"/>
                </a:solidFill>
              </a:rPr>
              <a:t>y</a:t>
            </a:r>
            <a:r>
              <a:rPr lang="en-US" sz="2400" dirty="0"/>
              <a:t>-axis) against </a:t>
            </a:r>
            <a:r>
              <a:rPr lang="en-US" sz="2400" dirty="0">
                <a:solidFill>
                  <a:srgbClr val="0070C0"/>
                </a:solidFill>
              </a:rPr>
              <a:t>FPR (false positive rate)</a:t>
            </a:r>
            <a:r>
              <a:rPr lang="en-US" sz="2400" dirty="0"/>
              <a:t> (on the </a:t>
            </a:r>
            <a:r>
              <a:rPr lang="en-US" sz="2400" dirty="0">
                <a:solidFill>
                  <a:schemeClr val="accent2"/>
                </a:solidFill>
              </a:rPr>
              <a:t>x</a:t>
            </a:r>
            <a:r>
              <a:rPr lang="en-US" sz="2400" dirty="0"/>
              <a:t>-axis)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5180842"/>
              </p:ext>
            </p:extLst>
          </p:nvPr>
        </p:nvGraphicFramePr>
        <p:xfrm>
          <a:off x="490671" y="3962400"/>
          <a:ext cx="1981201" cy="7677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0" name="Equation" r:id="rId4" imgW="1015920" imgH="393480" progId="Equation.3">
                  <p:embed/>
                </p:oleObj>
              </mc:Choice>
              <mc:Fallback>
                <p:oleObj name="Equation" r:id="rId4" imgW="10159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671" y="3962400"/>
                        <a:ext cx="1981201" cy="76771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164042"/>
              </p:ext>
            </p:extLst>
          </p:nvPr>
        </p:nvGraphicFramePr>
        <p:xfrm>
          <a:off x="533400" y="5446912"/>
          <a:ext cx="1911211" cy="7225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1" name="Equation" r:id="rId6" imgW="1041120" imgH="393480" progId="Equation.3">
                  <p:embed/>
                </p:oleObj>
              </mc:Choice>
              <mc:Fallback>
                <p:oleObj name="Equation" r:id="rId6" imgW="10411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446912"/>
                        <a:ext cx="1911211" cy="722531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146751"/>
              </p:ext>
            </p:extLst>
          </p:nvPr>
        </p:nvGraphicFramePr>
        <p:xfrm>
          <a:off x="4419600" y="3588168"/>
          <a:ext cx="4191000" cy="2384251"/>
        </p:xfrm>
        <a:graphic>
          <a:graphicData uri="http://schemas.openxmlformats.org/drawingml/2006/table">
            <a:tbl>
              <a:tblPr/>
              <a:tblGrid>
                <a:gridCol w="104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7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PREDICTED 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799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b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79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  <a:b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(TP)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  <a:b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(FN)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59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  <a:b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(FP)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b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(TN)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457200" y="4800581"/>
            <a:ext cx="373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fraction of true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positive</a:t>
            </a:r>
            <a:r>
              <a:rPr lang="en-US" dirty="0"/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instances</a:t>
            </a:r>
            <a:r>
              <a:rPr lang="en-US" dirty="0"/>
              <a:t> are predicted </a:t>
            </a:r>
            <a:r>
              <a:rPr lang="en-US" dirty="0">
                <a:solidFill>
                  <a:srgbClr val="0070C0"/>
                </a:solidFill>
              </a:rPr>
              <a:t>correctly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96201"/>
            <a:ext cx="716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fraction of true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negative instances </a:t>
            </a:r>
            <a:r>
              <a:rPr lang="en-US" dirty="0"/>
              <a:t>were predicted </a:t>
            </a:r>
            <a:r>
              <a:rPr lang="en-US" dirty="0">
                <a:solidFill>
                  <a:srgbClr val="0070C0"/>
                </a:solidFill>
              </a:rPr>
              <a:t>incorrectly?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716" y="3352800"/>
            <a:ext cx="373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Look at the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positive</a:t>
            </a:r>
            <a:r>
              <a:rPr lang="en-US" dirty="0"/>
              <a:t> predictions of the classifier and compute: 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744493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8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8534400" cy="53340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ROC (Receiver Operating Characteristic)</a:t>
            </a:r>
          </a:p>
        </p:txBody>
      </p:sp>
      <p:sp>
        <p:nvSpPr>
          <p:cNvPr id="975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Performance of a classifier represented as a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point</a:t>
            </a:r>
            <a:r>
              <a:rPr lang="en-US" dirty="0"/>
              <a:t> on the </a:t>
            </a:r>
            <a:r>
              <a:rPr lang="en-US" b="1" dirty="0"/>
              <a:t>ROC</a:t>
            </a:r>
            <a:r>
              <a:rPr lang="en-US" dirty="0"/>
              <a:t> curve</a:t>
            </a:r>
          </a:p>
          <a:p>
            <a:pPr lvl="1"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Changing some </a:t>
            </a:r>
            <a:r>
              <a:rPr lang="en-US" dirty="0">
                <a:solidFill>
                  <a:srgbClr val="0070C0"/>
                </a:solidFill>
              </a:rPr>
              <a:t>parameter</a:t>
            </a:r>
            <a:r>
              <a:rPr lang="en-US" dirty="0"/>
              <a:t> of the algorithm,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sample </a:t>
            </a:r>
            <a:r>
              <a:rPr lang="en-US" dirty="0"/>
              <a:t>distribution, or </a:t>
            </a:r>
            <a:r>
              <a:rPr lang="en-US" dirty="0">
                <a:solidFill>
                  <a:srgbClr val="0070C0"/>
                </a:solidFill>
              </a:rPr>
              <a:t>cost matrix </a:t>
            </a:r>
            <a:r>
              <a:rPr lang="en-US" dirty="0"/>
              <a:t>changes the location of the point</a:t>
            </a:r>
          </a:p>
          <a:p>
            <a:pPr>
              <a:lnSpc>
                <a:spcPct val="9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40176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 Curve</a:t>
            </a:r>
          </a:p>
        </p:txBody>
      </p:sp>
      <p:pic>
        <p:nvPicPr>
          <p:cNvPr id="976899" name="Picture 3"/>
          <p:cNvPicPr>
            <a:picLocks noChangeAspect="1" noChangeArrowheads="1"/>
          </p:cNvPicPr>
          <p:nvPr/>
        </p:nvPicPr>
        <p:blipFill>
          <a:blip r:embed="rId2" cstate="print"/>
          <a:srcRect l="4286" r="5714"/>
          <a:stretch>
            <a:fillRect/>
          </a:stretch>
        </p:blipFill>
        <p:spPr bwMode="auto">
          <a:xfrm>
            <a:off x="0" y="2209800"/>
            <a:ext cx="4343400" cy="3619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976900" name="Oval 4"/>
          <p:cNvSpPr>
            <a:spLocks noChangeArrowheads="1"/>
          </p:cNvSpPr>
          <p:nvPr/>
        </p:nvSpPr>
        <p:spPr bwMode="auto">
          <a:xfrm>
            <a:off x="5273675" y="4267200"/>
            <a:ext cx="76200" cy="76200"/>
          </a:xfrm>
          <a:prstGeom prst="ellipse">
            <a:avLst/>
          </a:prstGeom>
          <a:solidFill>
            <a:srgbClr val="000000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57200" y="2057400"/>
            <a:ext cx="8534400" cy="4648200"/>
            <a:chOff x="288" y="1056"/>
            <a:chExt cx="5376" cy="2928"/>
          </a:xfrm>
        </p:grpSpPr>
        <p:pic>
          <p:nvPicPr>
            <p:cNvPr id="976902" name="Picture 6"/>
            <p:cNvPicPr>
              <a:picLocks noChangeAspect="1" noChangeArrowheads="1"/>
            </p:cNvPicPr>
            <p:nvPr/>
          </p:nvPicPr>
          <p:blipFill>
            <a:blip r:embed="rId3" cstate="print"/>
            <a:srcRect l="3069" r="6557"/>
            <a:stretch>
              <a:fillRect/>
            </a:stretch>
          </p:blipFill>
          <p:spPr bwMode="auto">
            <a:xfrm>
              <a:off x="2736" y="1056"/>
              <a:ext cx="2928" cy="292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</p:pic>
        <p:sp>
          <p:nvSpPr>
            <p:cNvPr id="976903" name="Text Box 7"/>
            <p:cNvSpPr txBox="1">
              <a:spLocks noChangeArrowheads="1"/>
            </p:cNvSpPr>
            <p:nvPr/>
          </p:nvSpPr>
          <p:spPr bwMode="auto">
            <a:xfrm>
              <a:off x="288" y="3408"/>
              <a:ext cx="3360" cy="5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dirty="0">
                  <a:solidFill>
                    <a:schemeClr val="tx1"/>
                  </a:solidFill>
                </a:rPr>
                <a:t>At </a:t>
              </a:r>
              <a:r>
                <a:rPr lang="en-US" sz="2000" dirty="0">
                  <a:solidFill>
                    <a:schemeClr val="accent6">
                      <a:lumMod val="75000"/>
                    </a:schemeClr>
                  </a:solidFill>
                </a:rPr>
                <a:t>threshold</a:t>
              </a:r>
              <a:r>
                <a:rPr lang="en-US" sz="2000" dirty="0">
                  <a:solidFill>
                    <a:schemeClr val="tx1"/>
                  </a:solidFill>
                </a:rPr>
                <a:t> </a:t>
              </a:r>
              <a:r>
                <a:rPr lang="en-US" sz="2000" b="1" dirty="0">
                  <a:solidFill>
                    <a:schemeClr val="tx1"/>
                  </a:solidFill>
                </a:rPr>
                <a:t>t</a:t>
              </a:r>
              <a:r>
                <a:rPr lang="en-US" sz="2000" dirty="0">
                  <a:solidFill>
                    <a:schemeClr val="tx1"/>
                  </a:solidFill>
                </a:rPr>
                <a:t>:</a:t>
              </a:r>
            </a:p>
            <a:p>
              <a:pPr>
                <a:spcBef>
                  <a:spcPct val="50000"/>
                </a:spcBef>
              </a:pPr>
              <a:r>
                <a:rPr lang="en-US" sz="2000" dirty="0">
                  <a:solidFill>
                    <a:schemeClr val="tx1"/>
                  </a:solidFill>
                </a:rPr>
                <a:t>TP=0.5, FN=0.5, FP=0.12, FN=0.88</a:t>
              </a:r>
            </a:p>
          </p:txBody>
        </p:sp>
        <p:sp>
          <p:nvSpPr>
            <p:cNvPr id="976904" name="Line 8"/>
            <p:cNvSpPr>
              <a:spLocks noChangeShapeType="1"/>
            </p:cNvSpPr>
            <p:nvPr/>
          </p:nvSpPr>
          <p:spPr bwMode="auto">
            <a:xfrm flipV="1">
              <a:off x="2160" y="2544"/>
              <a:ext cx="1104" cy="110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76905" name="Text Box 9"/>
          <p:cNvSpPr txBox="1">
            <a:spLocks noChangeArrowheads="1"/>
          </p:cNvSpPr>
          <p:nvPr/>
        </p:nvSpPr>
        <p:spPr bwMode="auto">
          <a:xfrm>
            <a:off x="228600" y="1447800"/>
            <a:ext cx="8229600" cy="7794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>
                <a:solidFill>
                  <a:schemeClr val="tx1"/>
                </a:solidFill>
              </a:rPr>
              <a:t>- </a:t>
            </a:r>
            <a:r>
              <a:rPr lang="en-US" sz="1800" b="1" dirty="0">
                <a:solidFill>
                  <a:schemeClr val="accent2"/>
                </a:solidFill>
              </a:rPr>
              <a:t>1</a:t>
            </a:r>
            <a:r>
              <a:rPr lang="en-US" sz="1800" dirty="0">
                <a:solidFill>
                  <a:schemeClr val="tx1"/>
                </a:solidFill>
              </a:rPr>
              <a:t>-dimensional data set containing </a:t>
            </a:r>
            <a:r>
              <a:rPr lang="en-US" sz="1800" b="1" dirty="0">
                <a:solidFill>
                  <a:schemeClr val="accent2"/>
                </a:solidFill>
              </a:rPr>
              <a:t>2</a:t>
            </a:r>
            <a:r>
              <a:rPr lang="en-US" sz="1800" dirty="0">
                <a:solidFill>
                  <a:schemeClr val="tx1"/>
                </a:solidFill>
              </a:rPr>
              <a:t> classes (</a:t>
            </a:r>
            <a:r>
              <a:rPr lang="en-US" sz="1800" b="1" i="1" dirty="0">
                <a:solidFill>
                  <a:schemeClr val="tx1"/>
                </a:solidFill>
              </a:rPr>
              <a:t>positive</a:t>
            </a:r>
            <a:r>
              <a:rPr lang="en-US" sz="1800" dirty="0">
                <a:solidFill>
                  <a:schemeClr val="tx1"/>
                </a:solidFill>
              </a:rPr>
              <a:t> and </a:t>
            </a:r>
            <a:r>
              <a:rPr lang="en-US" sz="1800" b="1" i="1" dirty="0">
                <a:solidFill>
                  <a:schemeClr val="tx1"/>
                </a:solidFill>
              </a:rPr>
              <a:t>negative</a:t>
            </a:r>
            <a:r>
              <a:rPr lang="en-US" sz="1800" dirty="0">
                <a:solidFill>
                  <a:schemeClr val="tx1"/>
                </a:solidFill>
              </a:rPr>
              <a:t>)</a:t>
            </a:r>
          </a:p>
          <a:p>
            <a:pPr>
              <a:spcBef>
                <a:spcPct val="50000"/>
              </a:spcBef>
            </a:pPr>
            <a:r>
              <a:rPr lang="en-US" sz="1800" dirty="0">
                <a:solidFill>
                  <a:schemeClr val="tx1"/>
                </a:solidFill>
              </a:rPr>
              <a:t>- any points located at </a:t>
            </a:r>
            <a:r>
              <a:rPr lang="en-US" sz="1800" b="1" dirty="0">
                <a:solidFill>
                  <a:schemeClr val="accent2"/>
                </a:solidFill>
              </a:rPr>
              <a:t>x &gt; t </a:t>
            </a:r>
            <a:r>
              <a:rPr lang="en-US" sz="1800" dirty="0">
                <a:solidFill>
                  <a:schemeClr val="tx1"/>
                </a:solidFill>
              </a:rPr>
              <a:t>is classified as </a:t>
            </a:r>
            <a:r>
              <a:rPr lang="en-US" sz="1800" b="1" i="1" dirty="0">
                <a:solidFill>
                  <a:schemeClr val="tx1"/>
                </a:solidFill>
              </a:rPr>
              <a:t>positive</a:t>
            </a:r>
          </a:p>
        </p:txBody>
      </p:sp>
    </p:spTree>
    <p:extLst>
      <p:ext uri="{BB962C8B-B14F-4D97-AF65-F5344CB8AC3E}">
        <p14:creationId xmlns:p14="http://schemas.microsoft.com/office/powerpoint/2010/main" val="2952871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ROC Curve</a:t>
            </a:r>
          </a:p>
        </p:txBody>
      </p:sp>
      <p:sp>
        <p:nvSpPr>
          <p:cNvPr id="977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524000"/>
            <a:ext cx="4038600" cy="5181600"/>
          </a:xfrm>
        </p:spPr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sz="2400" dirty="0"/>
              <a:t>(TP,FP):</a:t>
            </a:r>
          </a:p>
          <a:p>
            <a:r>
              <a:rPr lang="en-US" sz="2400" dirty="0"/>
              <a:t>(0,0): declare everything</a:t>
            </a:r>
            <a:br>
              <a:rPr lang="en-US" sz="2400" dirty="0"/>
            </a:br>
            <a:r>
              <a:rPr lang="en-US" sz="2400" dirty="0"/>
              <a:t>          to be negative class</a:t>
            </a:r>
          </a:p>
          <a:p>
            <a:r>
              <a:rPr lang="en-US" sz="2400" dirty="0"/>
              <a:t>(1,1): declare everything</a:t>
            </a:r>
            <a:br>
              <a:rPr lang="en-US" sz="2400" dirty="0"/>
            </a:br>
            <a:r>
              <a:rPr lang="en-US" sz="2400" dirty="0"/>
              <a:t>         to be positive class</a:t>
            </a:r>
          </a:p>
          <a:p>
            <a:r>
              <a:rPr lang="en-US" sz="2400" dirty="0"/>
              <a:t>(1,0): ideal</a:t>
            </a:r>
          </a:p>
          <a:p>
            <a:pPr>
              <a:buFont typeface="Monotype Sorts" pitchFamily="2" charset="2"/>
              <a:buNone/>
            </a:pPr>
            <a:endParaRPr lang="en-US" sz="2400" dirty="0"/>
          </a:p>
          <a:p>
            <a:r>
              <a:rPr lang="en-US" sz="2400" dirty="0"/>
              <a:t>Diagonal line:</a:t>
            </a:r>
          </a:p>
          <a:p>
            <a:pPr lvl="1"/>
            <a:r>
              <a:rPr lang="en-US" sz="2400" dirty="0"/>
              <a:t>Random guessing</a:t>
            </a:r>
          </a:p>
          <a:p>
            <a:pPr lvl="1"/>
            <a:r>
              <a:rPr lang="en-US" sz="2400" dirty="0"/>
              <a:t>Below diagonal line:</a:t>
            </a:r>
          </a:p>
          <a:p>
            <a:pPr lvl="2"/>
            <a:r>
              <a:rPr lang="en-US" sz="2000" dirty="0"/>
              <a:t> prediction is opposite of the true class</a:t>
            </a:r>
          </a:p>
        </p:txBody>
      </p:sp>
      <p:pic>
        <p:nvPicPr>
          <p:cNvPr id="977924" name="Picture 4"/>
          <p:cNvPicPr>
            <a:picLocks noChangeAspect="1" noChangeArrowheads="1"/>
          </p:cNvPicPr>
          <p:nvPr/>
        </p:nvPicPr>
        <p:blipFill>
          <a:blip r:embed="rId3" cstate="print"/>
          <a:srcRect l="3069" r="6557"/>
          <a:stretch>
            <a:fillRect/>
          </a:stretch>
        </p:blipFill>
        <p:spPr bwMode="auto">
          <a:xfrm>
            <a:off x="4267200" y="1143000"/>
            <a:ext cx="4267200" cy="304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graphicFrame>
        <p:nvGraphicFramePr>
          <p:cNvPr id="5" name="Group 4"/>
          <p:cNvGraphicFramePr>
            <a:graphicFrameLocks noGrp="1"/>
          </p:cNvGraphicFramePr>
          <p:nvPr/>
        </p:nvGraphicFramePr>
        <p:xfrm>
          <a:off x="4572000" y="4267200"/>
          <a:ext cx="4191000" cy="2384251"/>
        </p:xfrm>
        <a:graphic>
          <a:graphicData uri="http://schemas.openxmlformats.org/drawingml/2006/table">
            <a:tbl>
              <a:tblPr/>
              <a:tblGrid>
                <a:gridCol w="104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7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PREDICTED 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799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b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79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  <a:b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(TP)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  <a:b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(FN)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59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  <a:b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(FP)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b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(TN)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752260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ROC for Model Comparison</a:t>
            </a:r>
          </a:p>
        </p:txBody>
      </p:sp>
      <p:pic>
        <p:nvPicPr>
          <p:cNvPr id="978947" name="Picture 3"/>
          <p:cNvPicPr>
            <a:picLocks noChangeAspect="1" noChangeArrowheads="1"/>
          </p:cNvPicPr>
          <p:nvPr/>
        </p:nvPicPr>
        <p:blipFill>
          <a:blip r:embed="rId2" cstate="print"/>
          <a:srcRect l="5362" r="8220"/>
          <a:stretch>
            <a:fillRect/>
          </a:stretch>
        </p:blipFill>
        <p:spPr bwMode="auto">
          <a:xfrm>
            <a:off x="76200" y="1219200"/>
            <a:ext cx="5257800" cy="4876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978948" name="Rectangle 4"/>
          <p:cNvSpPr>
            <a:spLocks noChangeArrowheads="1"/>
          </p:cNvSpPr>
          <p:nvPr/>
        </p:nvSpPr>
        <p:spPr bwMode="auto">
          <a:xfrm>
            <a:off x="5410200" y="1447800"/>
            <a:ext cx="3581400" cy="4876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 dirty="0">
                <a:solidFill>
                  <a:schemeClr val="tx1"/>
                </a:solidFill>
              </a:rPr>
              <a:t>No model consistently outperform the other</a:t>
            </a:r>
          </a:p>
          <a:p>
            <a:pPr marL="800100" lvl="1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1" dirty="0">
                <a:solidFill>
                  <a:schemeClr val="accent2"/>
                </a:solidFill>
              </a:rPr>
              <a:t>M</a:t>
            </a:r>
            <a:r>
              <a:rPr lang="en-US" sz="2400" b="1" baseline="-25000" dirty="0">
                <a:solidFill>
                  <a:schemeClr val="accent2"/>
                </a:solidFill>
              </a:rPr>
              <a:t>1</a:t>
            </a:r>
            <a:r>
              <a:rPr lang="en-US" sz="2400" b="0" dirty="0">
                <a:solidFill>
                  <a:schemeClr val="tx1"/>
                </a:solidFill>
              </a:rPr>
              <a:t> is better for small FPR</a:t>
            </a:r>
          </a:p>
          <a:p>
            <a:pPr marL="800100" lvl="1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1" dirty="0">
                <a:solidFill>
                  <a:schemeClr val="accent2"/>
                </a:solidFill>
              </a:rPr>
              <a:t>M</a:t>
            </a:r>
            <a:r>
              <a:rPr lang="en-US" sz="2400" b="1" baseline="-25000" dirty="0">
                <a:solidFill>
                  <a:schemeClr val="accent2"/>
                </a:solidFill>
              </a:rPr>
              <a:t>2</a:t>
            </a:r>
            <a:r>
              <a:rPr lang="en-US" sz="2400" b="0" dirty="0">
                <a:solidFill>
                  <a:schemeClr val="tx1"/>
                </a:solidFill>
              </a:rPr>
              <a:t> is better for large FPR</a:t>
            </a:r>
          </a:p>
          <a:p>
            <a:pPr marL="800100" lvl="1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endParaRPr lang="en-US" sz="1000" b="0" dirty="0">
              <a:solidFill>
                <a:schemeClr val="tx1"/>
              </a:solidFill>
            </a:endParaRP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 dirty="0">
                <a:solidFill>
                  <a:schemeClr val="tx1"/>
                </a:solidFill>
              </a:rPr>
              <a:t>Area Under the ROC curve (</a:t>
            </a:r>
            <a:r>
              <a:rPr lang="en-US" sz="2400" b="0" dirty="0">
                <a:solidFill>
                  <a:srgbClr val="FF0000"/>
                </a:solidFill>
              </a:rPr>
              <a:t>AUC</a:t>
            </a:r>
            <a:r>
              <a:rPr lang="en-US" sz="2400" b="0" dirty="0">
                <a:solidFill>
                  <a:schemeClr val="tx1"/>
                </a:solidFill>
              </a:rPr>
              <a:t>)</a:t>
            </a:r>
          </a:p>
          <a:p>
            <a:pPr marL="800100" lvl="1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1800" b="0" dirty="0">
                <a:solidFill>
                  <a:schemeClr val="tx1"/>
                </a:solidFill>
              </a:rPr>
              <a:t>Ideal:  Area = 1</a:t>
            </a:r>
          </a:p>
          <a:p>
            <a:pPr marL="800100" lvl="1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1800" b="0" dirty="0">
                <a:solidFill>
                  <a:schemeClr val="tx1"/>
                </a:solidFill>
              </a:rPr>
              <a:t>Random guess:</a:t>
            </a:r>
          </a:p>
          <a:p>
            <a:pPr lvl="2">
              <a:spcBef>
                <a:spcPct val="10000"/>
              </a:spcBef>
              <a:spcAft>
                <a:spcPts val="400"/>
              </a:spcAft>
              <a:buClr>
                <a:schemeClr val="tx1"/>
              </a:buClr>
              <a:buSzPct val="75000"/>
              <a:buFont typeface="Wingdings" pitchFamily="2" charset="2"/>
              <a:buChar char="§"/>
            </a:pPr>
            <a:r>
              <a:rPr lang="en-US" sz="1800" b="0" dirty="0">
                <a:solidFill>
                  <a:schemeClr val="tx1"/>
                </a:solidFill>
              </a:rPr>
              <a:t> Area = 0.5</a:t>
            </a:r>
          </a:p>
        </p:txBody>
      </p:sp>
    </p:spTree>
    <p:extLst>
      <p:ext uri="{BB962C8B-B14F-4D97-AF65-F5344CB8AC3E}">
        <p14:creationId xmlns:p14="http://schemas.microsoft.com/office/powerpoint/2010/main" val="16582657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Precision-Recall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Usually for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parameterized</a:t>
            </a:r>
            <a:r>
              <a:rPr lang="en-US" dirty="0"/>
              <a:t> models, it controls the precision/recall tradeoff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5" r="49240"/>
          <a:stretch/>
        </p:blipFill>
        <p:spPr>
          <a:xfrm>
            <a:off x="1828800" y="2743200"/>
            <a:ext cx="4748074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33534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 curve </a:t>
            </a:r>
            <a:r>
              <a:rPr lang="en-US" dirty="0" err="1"/>
              <a:t>vs</a:t>
            </a:r>
            <a:r>
              <a:rPr lang="en-US" dirty="0"/>
              <a:t> Precision-Recall curve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81200"/>
            <a:ext cx="9144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24000" y="5911334"/>
            <a:ext cx="6596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Area Under the Curve (AUC) as a single number for evaluation</a:t>
            </a:r>
          </a:p>
        </p:txBody>
      </p:sp>
    </p:spTree>
    <p:extLst>
      <p:ext uri="{BB962C8B-B14F-4D97-AF65-F5344CB8AC3E}">
        <p14:creationId xmlns:p14="http://schemas.microsoft.com/office/powerpoint/2010/main" val="2488989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16316</TotalTime>
  <Words>4530</Words>
  <Application>Microsoft Macintosh PowerPoint</Application>
  <PresentationFormat>On-screen Show (4:3)</PresentationFormat>
  <Paragraphs>1056</Paragraphs>
  <Slides>95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6</vt:i4>
      </vt:variant>
      <vt:variant>
        <vt:lpstr>Slide Titles</vt:lpstr>
      </vt:variant>
      <vt:variant>
        <vt:i4>95</vt:i4>
      </vt:variant>
    </vt:vector>
  </HeadingPairs>
  <TitlesOfParts>
    <vt:vector size="113" baseType="lpstr">
      <vt:lpstr>宋体</vt:lpstr>
      <vt:lpstr>Arial</vt:lpstr>
      <vt:lpstr>Calibri</vt:lpstr>
      <vt:lpstr>Cambria Math</vt:lpstr>
      <vt:lpstr>DejaVu LGC Sans</vt:lpstr>
      <vt:lpstr>方正舒体</vt:lpstr>
      <vt:lpstr>Garamond</vt:lpstr>
      <vt:lpstr>Monotype Sorts</vt:lpstr>
      <vt:lpstr>Symbol</vt:lpstr>
      <vt:lpstr>Times New Roman</vt:lpstr>
      <vt:lpstr>Wingdings</vt:lpstr>
      <vt:lpstr>Clarity</vt:lpstr>
      <vt:lpstr>Visio</vt:lpstr>
      <vt:lpstr>Document</vt:lpstr>
      <vt:lpstr>Equation</vt:lpstr>
      <vt:lpstr>Εξίσωση</vt:lpstr>
      <vt:lpstr>VISIO</vt:lpstr>
      <vt:lpstr>Worksheet</vt:lpstr>
      <vt:lpstr>DATA MINING LECTURE 3</vt:lpstr>
      <vt:lpstr>Vehicle Classifying at Toll Stations</vt:lpstr>
      <vt:lpstr>Car or Truck?</vt:lpstr>
      <vt:lpstr>Vehicles classification in reality</vt:lpstr>
      <vt:lpstr>Classification</vt:lpstr>
      <vt:lpstr>Catching tax-evasion</vt:lpstr>
      <vt:lpstr>What is classification?</vt:lpstr>
      <vt:lpstr>Why classification?</vt:lpstr>
      <vt:lpstr>Examples of Classification Tasks</vt:lpstr>
      <vt:lpstr>General approach to classification</vt:lpstr>
      <vt:lpstr>Illustrating Classification Task</vt:lpstr>
      <vt:lpstr>Evaluation of classification models</vt:lpstr>
      <vt:lpstr>Classification Techniques</vt:lpstr>
      <vt:lpstr>Classification Techniques</vt:lpstr>
      <vt:lpstr>Decision Trees</vt:lpstr>
      <vt:lpstr>Example of a Decision Tree</vt:lpstr>
      <vt:lpstr>Another Example of Decision Tree</vt:lpstr>
      <vt:lpstr>Decision Tree Classification Task</vt:lpstr>
      <vt:lpstr>Apply Model to Test Data</vt:lpstr>
      <vt:lpstr>Apply Model to Test Data</vt:lpstr>
      <vt:lpstr>Apply Model to Test Data</vt:lpstr>
      <vt:lpstr>Apply Model to Test Data</vt:lpstr>
      <vt:lpstr>Apply Model to Test Data</vt:lpstr>
      <vt:lpstr>Apply Model to Test Data</vt:lpstr>
      <vt:lpstr>Decision Tree Classification Task</vt:lpstr>
      <vt:lpstr>Tree Induction</vt:lpstr>
      <vt:lpstr>General Structure of Hunt’s Algorithm</vt:lpstr>
      <vt:lpstr>Hunt’s Algorithm</vt:lpstr>
      <vt:lpstr>Constructing decision-trees (pseudocode)</vt:lpstr>
      <vt:lpstr>Tree Induction</vt:lpstr>
      <vt:lpstr>How to Specify Test Condition?</vt:lpstr>
      <vt:lpstr>Splitting Based on Nominal Attributes</vt:lpstr>
      <vt:lpstr>Splitting Based on Ordinal Attributes</vt:lpstr>
      <vt:lpstr>Splitting Based on Continuous Attributes</vt:lpstr>
      <vt:lpstr>Splitting Based on Continuous Attributes</vt:lpstr>
      <vt:lpstr>How to determine the Best Split</vt:lpstr>
      <vt:lpstr>How to determine the Best Split</vt:lpstr>
      <vt:lpstr>Measuring Node Impurity</vt:lpstr>
      <vt:lpstr>Gain</vt:lpstr>
      <vt:lpstr>Example</vt:lpstr>
      <vt:lpstr>Impurity measures</vt:lpstr>
      <vt:lpstr>Comparison among Splitting Criteria</vt:lpstr>
      <vt:lpstr>Categorical Attributes</vt:lpstr>
      <vt:lpstr>Continuous Attributes</vt:lpstr>
      <vt:lpstr>Continuous Attributes</vt:lpstr>
      <vt:lpstr>Splitting based on impurity</vt:lpstr>
      <vt:lpstr>Splitting based on INFO</vt:lpstr>
      <vt:lpstr>Gain Ratio</vt:lpstr>
      <vt:lpstr>Stopping Criteria for Tree Induction</vt:lpstr>
      <vt:lpstr>Decision Tree Based Classification</vt:lpstr>
      <vt:lpstr>Example: C4.5</vt:lpstr>
      <vt:lpstr>Other Issues</vt:lpstr>
      <vt:lpstr>Data Fragmentation</vt:lpstr>
      <vt:lpstr>Expressiveness</vt:lpstr>
      <vt:lpstr>Decision Boundary</vt:lpstr>
      <vt:lpstr>Expressiveness</vt:lpstr>
      <vt:lpstr>Oblique Decision Trees</vt:lpstr>
      <vt:lpstr>Practical Issues of Classification</vt:lpstr>
      <vt:lpstr>Underfitting and Overfitting (Example)</vt:lpstr>
      <vt:lpstr>Underfitting and Overfitting</vt:lpstr>
      <vt:lpstr>Overfitting due to Noise </vt:lpstr>
      <vt:lpstr>Overfitting due to Insufficient Examples</vt:lpstr>
      <vt:lpstr>Notes on Overfitting</vt:lpstr>
      <vt:lpstr>Estimating Generalization Errors</vt:lpstr>
      <vt:lpstr>Occam’s Razor</vt:lpstr>
      <vt:lpstr>Minimum Description Length (MDL)</vt:lpstr>
      <vt:lpstr>Example</vt:lpstr>
      <vt:lpstr>How to Address Overfitting</vt:lpstr>
      <vt:lpstr>How to Address Overfitting…</vt:lpstr>
      <vt:lpstr>Example of Post-Pruning</vt:lpstr>
      <vt:lpstr>Model Evaluation</vt:lpstr>
      <vt:lpstr>Model Evaluation</vt:lpstr>
      <vt:lpstr>Metrics for Performance Evaluation</vt:lpstr>
      <vt:lpstr>Metrics for Performance Evaluation…</vt:lpstr>
      <vt:lpstr>Limitation of Accuracy</vt:lpstr>
      <vt:lpstr>Cost Matrix</vt:lpstr>
      <vt:lpstr>Weighted Accuracy </vt:lpstr>
      <vt:lpstr>Computing Cost of Classification</vt:lpstr>
      <vt:lpstr>Classification Cost</vt:lpstr>
      <vt:lpstr>Computing Cost of Classification</vt:lpstr>
      <vt:lpstr>Cost vs Accuracy</vt:lpstr>
      <vt:lpstr>Precision-Recall</vt:lpstr>
      <vt:lpstr>Model Evaluation</vt:lpstr>
      <vt:lpstr>Methods for Performance Evaluation</vt:lpstr>
      <vt:lpstr>Methods of Estimation</vt:lpstr>
      <vt:lpstr>Dealing with class Imbalance</vt:lpstr>
      <vt:lpstr>Learning Curve</vt:lpstr>
      <vt:lpstr>Model Evaluation</vt:lpstr>
      <vt:lpstr>ROC (Receiver Operating Characteristic)</vt:lpstr>
      <vt:lpstr>ROC (Receiver Operating Characteristic)</vt:lpstr>
      <vt:lpstr>ROC Curve</vt:lpstr>
      <vt:lpstr>ROC Curve</vt:lpstr>
      <vt:lpstr>Using ROC for Model Comparison</vt:lpstr>
      <vt:lpstr>Precision-Recall plot</vt:lpstr>
      <vt:lpstr>ROC curve vs Precision-Recall curve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tsap</dc:creator>
  <cp:lastModifiedBy>Anh</cp:lastModifiedBy>
  <cp:revision>544</cp:revision>
  <dcterms:created xsi:type="dcterms:W3CDTF">2011-10-17T19:46:53Z</dcterms:created>
  <dcterms:modified xsi:type="dcterms:W3CDTF">2019-03-14T00:09:36Z</dcterms:modified>
</cp:coreProperties>
</file>