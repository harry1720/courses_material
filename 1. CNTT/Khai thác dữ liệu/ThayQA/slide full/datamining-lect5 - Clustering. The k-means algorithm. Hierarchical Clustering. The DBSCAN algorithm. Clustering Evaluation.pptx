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112"/>
  </p:notesMasterIdLst>
  <p:sldIdLst>
    <p:sldId id="369" r:id="rId2"/>
    <p:sldId id="551" r:id="rId3"/>
    <p:sldId id="552" r:id="rId4"/>
    <p:sldId id="553" r:id="rId5"/>
    <p:sldId id="554" r:id="rId6"/>
    <p:sldId id="555" r:id="rId7"/>
    <p:sldId id="556" r:id="rId8"/>
    <p:sldId id="642" r:id="rId9"/>
    <p:sldId id="619" r:id="rId10"/>
    <p:sldId id="560" r:id="rId11"/>
    <p:sldId id="561" r:id="rId12"/>
    <p:sldId id="562" r:id="rId13"/>
    <p:sldId id="563" r:id="rId14"/>
    <p:sldId id="564" r:id="rId15"/>
    <p:sldId id="565" r:id="rId16"/>
    <p:sldId id="566" r:id="rId17"/>
    <p:sldId id="639" r:id="rId18"/>
    <p:sldId id="567" r:id="rId19"/>
    <p:sldId id="568" r:id="rId20"/>
    <p:sldId id="620" r:id="rId21"/>
    <p:sldId id="569" r:id="rId22"/>
    <p:sldId id="570" r:id="rId23"/>
    <p:sldId id="571" r:id="rId24"/>
    <p:sldId id="572" r:id="rId25"/>
    <p:sldId id="573" r:id="rId26"/>
    <p:sldId id="574" r:id="rId27"/>
    <p:sldId id="575" r:id="rId28"/>
    <p:sldId id="576" r:id="rId29"/>
    <p:sldId id="577" r:id="rId30"/>
    <p:sldId id="622" r:id="rId31"/>
    <p:sldId id="623" r:id="rId32"/>
    <p:sldId id="578" r:id="rId33"/>
    <p:sldId id="579" r:id="rId34"/>
    <p:sldId id="580" r:id="rId35"/>
    <p:sldId id="581" r:id="rId36"/>
    <p:sldId id="582" r:id="rId37"/>
    <p:sldId id="583" r:id="rId38"/>
    <p:sldId id="584" r:id="rId39"/>
    <p:sldId id="585" r:id="rId40"/>
    <p:sldId id="644" r:id="rId41"/>
    <p:sldId id="645" r:id="rId42"/>
    <p:sldId id="646" r:id="rId43"/>
    <p:sldId id="647" r:id="rId44"/>
    <p:sldId id="648" r:id="rId45"/>
    <p:sldId id="649" r:id="rId46"/>
    <p:sldId id="650" r:id="rId47"/>
    <p:sldId id="651" r:id="rId48"/>
    <p:sldId id="652" r:id="rId49"/>
    <p:sldId id="653" r:id="rId50"/>
    <p:sldId id="654" r:id="rId51"/>
    <p:sldId id="655" r:id="rId52"/>
    <p:sldId id="656" r:id="rId53"/>
    <p:sldId id="657" r:id="rId54"/>
    <p:sldId id="658" r:id="rId55"/>
    <p:sldId id="659" r:id="rId56"/>
    <p:sldId id="660" r:id="rId57"/>
    <p:sldId id="661" r:id="rId58"/>
    <p:sldId id="662" r:id="rId59"/>
    <p:sldId id="663" r:id="rId60"/>
    <p:sldId id="664" r:id="rId61"/>
    <p:sldId id="665" r:id="rId62"/>
    <p:sldId id="666" r:id="rId63"/>
    <p:sldId id="667" r:id="rId64"/>
    <p:sldId id="668" r:id="rId65"/>
    <p:sldId id="669" r:id="rId66"/>
    <p:sldId id="670" r:id="rId67"/>
    <p:sldId id="671" r:id="rId68"/>
    <p:sldId id="672" r:id="rId69"/>
    <p:sldId id="673" r:id="rId70"/>
    <p:sldId id="674" r:id="rId71"/>
    <p:sldId id="675" r:id="rId72"/>
    <p:sldId id="676" r:id="rId73"/>
    <p:sldId id="677" r:id="rId74"/>
    <p:sldId id="678" r:id="rId75"/>
    <p:sldId id="679" r:id="rId76"/>
    <p:sldId id="680" r:id="rId77"/>
    <p:sldId id="681" r:id="rId78"/>
    <p:sldId id="682" r:id="rId79"/>
    <p:sldId id="683" r:id="rId80"/>
    <p:sldId id="714" r:id="rId81"/>
    <p:sldId id="684" r:id="rId82"/>
    <p:sldId id="685" r:id="rId83"/>
    <p:sldId id="686" r:id="rId84"/>
    <p:sldId id="687" r:id="rId85"/>
    <p:sldId id="688" r:id="rId86"/>
    <p:sldId id="689" r:id="rId87"/>
    <p:sldId id="690" r:id="rId88"/>
    <p:sldId id="691" r:id="rId89"/>
    <p:sldId id="692" r:id="rId90"/>
    <p:sldId id="693" r:id="rId91"/>
    <p:sldId id="694" r:id="rId92"/>
    <p:sldId id="695" r:id="rId93"/>
    <p:sldId id="698" r:id="rId94"/>
    <p:sldId id="699" r:id="rId95"/>
    <p:sldId id="700" r:id="rId96"/>
    <p:sldId id="701" r:id="rId97"/>
    <p:sldId id="702" r:id="rId98"/>
    <p:sldId id="703" r:id="rId99"/>
    <p:sldId id="704" r:id="rId100"/>
    <p:sldId id="715" r:id="rId101"/>
    <p:sldId id="716" r:id="rId102"/>
    <p:sldId id="705" r:id="rId103"/>
    <p:sldId id="706" r:id="rId104"/>
    <p:sldId id="707" r:id="rId105"/>
    <p:sldId id="708" r:id="rId106"/>
    <p:sldId id="709" r:id="rId107"/>
    <p:sldId id="710" r:id="rId108"/>
    <p:sldId id="711" r:id="rId109"/>
    <p:sldId id="712" r:id="rId110"/>
    <p:sldId id="713" r:id="rId1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DEE3"/>
    <a:srgbClr val="FFCC00"/>
    <a:srgbClr val="EF85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5" autoAdjust="0"/>
    <p:restoredTop sz="94722" autoAdjust="0"/>
  </p:normalViewPr>
  <p:slideViewPr>
    <p:cSldViewPr>
      <p:cViewPr varScale="1">
        <p:scale>
          <a:sx n="87" d="100"/>
          <a:sy n="87" d="100"/>
        </p:scale>
        <p:origin x="52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4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3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EA21D-F609-4883-9BF2-C2257D2F3E11}" type="datetimeFigureOut">
              <a:rPr lang="en-US" smtClean="0"/>
              <a:t>4/6/19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2ABF5E-119C-40D0-9F75-E2458688F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356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Cholera =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tả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2ABF5E-119C-40D0-9F75-E2458688F62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153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Globular =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/>
              <a:t>cầu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2ABF5E-119C-40D0-9F75-E2458688F62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2475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ABF5E-119C-40D0-9F75-E2458688F62F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088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4/6/19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Clr>
                <a:schemeClr val="accent1"/>
              </a:buClr>
              <a:defRPr/>
            </a:lvl2pPr>
            <a:lvl4pPr>
              <a:buClr>
                <a:schemeClr val="accent1"/>
              </a:buClr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l-GR" dirty="0"/>
              <a:t>Χειμώνας 2011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CS-409: </a:t>
            </a:r>
            <a:r>
              <a:rPr lang="el-GR" dirty="0" err="1"/>
              <a:t>Αντικειμενοστρεφής</a:t>
            </a:r>
            <a:r>
              <a:rPr lang="el-GR" dirty="0"/>
              <a:t> </a:t>
            </a:r>
            <a:r>
              <a:rPr lang="el-GR" dirty="0" err="1"/>
              <a:t>Προγραμματισμος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4/6/19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4/6/19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4/6/19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4/6/19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4/6/19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4/6/19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4/6/19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4/6/19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E345-9BD5-414F-9B98-BE3DCAA5A9BF}" type="datetimeFigureOut">
              <a:rPr lang="en-US" smtClean="0"/>
              <a:t>4/6/19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6613" y="1143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6613" y="3810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2409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0DD7E345-9BD5-414F-9B98-BE3DCAA5A9BF}" type="datetimeFigureOut">
              <a:rPr lang="en-US" smtClean="0"/>
              <a:t>4/6/19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l-GR" dirty="0" err="1"/>
              <a:t>Αντικειμενοστρεφής</a:t>
            </a:r>
            <a:r>
              <a:rPr lang="el-GR" dirty="0"/>
              <a:t> Προγραμματισμός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81A9E46F-7BA3-46CF-8DB8-B01995389C81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6"/>
        </a:buClr>
        <a:buSzPct val="85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6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6"/>
        </a:buClr>
        <a:buSzPct val="9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6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6"/>
        </a:buClr>
        <a:buSzPct val="100000"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6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7" Type="http://schemas.openxmlformats.org/officeDocument/2006/relationships/image" Target="../media/image21.wmf"/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7" Type="http://schemas.openxmlformats.org/officeDocument/2006/relationships/image" Target="../media/image21.wmf"/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36.wmf"/><Relationship Id="rId4" Type="http://schemas.openxmlformats.org/officeDocument/2006/relationships/oleObject" Target="../embeddings/oleObject8.bin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38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39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40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41.emf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51.wmf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wmf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5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58.png"/><Relationship Id="rId4" Type="http://schemas.openxmlformats.org/officeDocument/2006/relationships/oleObject" Target="../embeddings/oleObject14.bin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wmf"/><Relationship Id="rId4" Type="http://schemas.openxmlformats.org/officeDocument/2006/relationships/image" Target="../media/image66.wmf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68.wmf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0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70.wmf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71.wmf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2" Type="http://schemas.openxmlformats.org/officeDocument/2006/relationships/image" Target="../media/image67.wmf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78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77.wmf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80.wmf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68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wmf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73.wmf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2.png"/><Relationship Id="rId2" Type="http://schemas.openxmlformats.org/officeDocument/2006/relationships/image" Target="../media/image421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1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1.png"/><Relationship Id="rId2" Type="http://schemas.openxmlformats.org/officeDocument/2006/relationships/image" Target="../media/image442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4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83.png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MINING</a:t>
            </a:r>
            <a:br>
              <a:rPr lang="en-US" dirty="0"/>
            </a:br>
            <a:r>
              <a:rPr lang="en-US" dirty="0"/>
              <a:t>LECTURE 5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7086600" cy="22098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Clustering</a:t>
            </a:r>
          </a:p>
          <a:p>
            <a:r>
              <a:rPr lang="en-US" dirty="0"/>
              <a:t>The k-means algorithm</a:t>
            </a:r>
          </a:p>
          <a:p>
            <a:r>
              <a:rPr lang="en-US" dirty="0"/>
              <a:t>Hierarchical Clustering</a:t>
            </a:r>
          </a:p>
          <a:p>
            <a:r>
              <a:rPr lang="en-US" dirty="0"/>
              <a:t>The DBSCAN algorithm</a:t>
            </a:r>
          </a:p>
          <a:p>
            <a:r>
              <a:rPr lang="en-US" dirty="0"/>
              <a:t>Clustering Evaluation</a:t>
            </a:r>
          </a:p>
        </p:txBody>
      </p:sp>
    </p:spTree>
    <p:extLst>
      <p:ext uri="{BB962C8B-B14F-4D97-AF65-F5344CB8AC3E}">
        <p14:creationId xmlns:p14="http://schemas.microsoft.com/office/powerpoint/2010/main" val="3974019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98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Clustering</a:t>
            </a:r>
            <a:r>
              <a:rPr lang="en-US" dirty="0"/>
              <a:t>?</a:t>
            </a:r>
          </a:p>
        </p:txBody>
      </p:sp>
      <p:sp>
        <p:nvSpPr>
          <p:cNvPr id="153498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88950" y="1524000"/>
            <a:ext cx="8318500" cy="1295400"/>
          </a:xfrm>
        </p:spPr>
        <p:txBody>
          <a:bodyPr>
            <a:normAutofit/>
          </a:bodyPr>
          <a:lstStyle/>
          <a:p>
            <a:r>
              <a:rPr lang="en-US" sz="2400" dirty="0"/>
              <a:t>In general a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grouping</a:t>
            </a:r>
            <a:r>
              <a:rPr lang="en-US" sz="2400" dirty="0"/>
              <a:t> of objects such that the objects in a </a:t>
            </a:r>
            <a:r>
              <a:rPr lang="en-US" sz="2400" dirty="0">
                <a:solidFill>
                  <a:srgbClr val="0070C0"/>
                </a:solidFill>
              </a:rPr>
              <a:t>group</a:t>
            </a:r>
            <a:r>
              <a:rPr lang="en-US" sz="2400" dirty="0"/>
              <a:t> (</a:t>
            </a:r>
            <a:r>
              <a:rPr lang="en-US" sz="2400" dirty="0">
                <a:solidFill>
                  <a:srgbClr val="0070C0"/>
                </a:solidFill>
              </a:rPr>
              <a:t>cluster</a:t>
            </a:r>
            <a:r>
              <a:rPr lang="en-US" sz="2400" dirty="0"/>
              <a:t>) are similar (or related) to one another and different from (or unrelated to) the objects in other groups</a:t>
            </a:r>
          </a:p>
        </p:txBody>
      </p:sp>
      <p:grpSp>
        <p:nvGrpSpPr>
          <p:cNvPr id="1534982" name="Group 6"/>
          <p:cNvGrpSpPr>
            <a:grpSpLocks/>
          </p:cNvGrpSpPr>
          <p:nvPr/>
        </p:nvGrpSpPr>
        <p:grpSpPr bwMode="auto">
          <a:xfrm>
            <a:off x="3276600" y="3951288"/>
            <a:ext cx="3048000" cy="2678112"/>
            <a:chOff x="2160" y="2544"/>
            <a:chExt cx="1920" cy="1687"/>
          </a:xfrm>
        </p:grpSpPr>
        <p:sp>
          <p:nvSpPr>
            <p:cNvPr id="1534983" name="Line 7"/>
            <p:cNvSpPr>
              <a:spLocks noChangeShapeType="1"/>
            </p:cNvSpPr>
            <p:nvPr/>
          </p:nvSpPr>
          <p:spPr bwMode="auto">
            <a:xfrm>
              <a:off x="2736" y="2544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4984" name="Line 8"/>
            <p:cNvSpPr>
              <a:spLocks noChangeShapeType="1"/>
            </p:cNvSpPr>
            <p:nvPr/>
          </p:nvSpPr>
          <p:spPr bwMode="auto">
            <a:xfrm>
              <a:off x="2736" y="3696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4985" name="Freeform 9"/>
            <p:cNvSpPr>
              <a:spLocks/>
            </p:cNvSpPr>
            <p:nvPr/>
          </p:nvSpPr>
          <p:spPr bwMode="auto">
            <a:xfrm>
              <a:off x="2226" y="3696"/>
              <a:ext cx="510" cy="535"/>
            </a:xfrm>
            <a:custGeom>
              <a:avLst/>
              <a:gdLst>
                <a:gd name="T0" fmla="*/ 510 w 510"/>
                <a:gd name="T1" fmla="*/ 0 h 535"/>
                <a:gd name="T2" fmla="*/ 0 w 510"/>
                <a:gd name="T3" fmla="*/ 535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10" h="535">
                  <a:moveTo>
                    <a:pt x="510" y="0"/>
                  </a:moveTo>
                  <a:lnTo>
                    <a:pt x="0" y="53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4986" name="AutoShape 10"/>
            <p:cNvSpPr>
              <a:spLocks noChangeArrowheads="1"/>
            </p:cNvSpPr>
            <p:nvPr/>
          </p:nvSpPr>
          <p:spPr bwMode="auto">
            <a:xfrm>
              <a:off x="3264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4987" name="AutoShape 11"/>
            <p:cNvSpPr>
              <a:spLocks noChangeArrowheads="1"/>
            </p:cNvSpPr>
            <p:nvPr/>
          </p:nvSpPr>
          <p:spPr bwMode="auto">
            <a:xfrm>
              <a:off x="3408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4988" name="AutoShape 12"/>
            <p:cNvSpPr>
              <a:spLocks noChangeArrowheads="1"/>
            </p:cNvSpPr>
            <p:nvPr/>
          </p:nvSpPr>
          <p:spPr bwMode="auto">
            <a:xfrm>
              <a:off x="3360" y="273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4989" name="AutoShape 13"/>
            <p:cNvSpPr>
              <a:spLocks noChangeArrowheads="1"/>
            </p:cNvSpPr>
            <p:nvPr/>
          </p:nvSpPr>
          <p:spPr bwMode="auto">
            <a:xfrm>
              <a:off x="3360" y="302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4990" name="AutoShape 14"/>
            <p:cNvSpPr>
              <a:spLocks noChangeArrowheads="1"/>
            </p:cNvSpPr>
            <p:nvPr/>
          </p:nvSpPr>
          <p:spPr bwMode="auto">
            <a:xfrm>
              <a:off x="3600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4991" name="AutoShape 15"/>
            <p:cNvSpPr>
              <a:spLocks noChangeArrowheads="1"/>
            </p:cNvSpPr>
            <p:nvPr/>
          </p:nvSpPr>
          <p:spPr bwMode="auto">
            <a:xfrm>
              <a:off x="3504" y="278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4992" name="AutoShape 16"/>
            <p:cNvSpPr>
              <a:spLocks noChangeArrowheads="1"/>
            </p:cNvSpPr>
            <p:nvPr/>
          </p:nvSpPr>
          <p:spPr bwMode="auto">
            <a:xfrm>
              <a:off x="3168" y="273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4993" name="AutoShape 17"/>
            <p:cNvSpPr>
              <a:spLocks noChangeArrowheads="1"/>
            </p:cNvSpPr>
            <p:nvPr/>
          </p:nvSpPr>
          <p:spPr bwMode="auto">
            <a:xfrm>
              <a:off x="3504" y="297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4994" name="AutoShape 18"/>
            <p:cNvSpPr>
              <a:spLocks noChangeArrowheads="1"/>
            </p:cNvSpPr>
            <p:nvPr/>
          </p:nvSpPr>
          <p:spPr bwMode="auto">
            <a:xfrm>
              <a:off x="3168" y="297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4995" name="AutoShape 19"/>
            <p:cNvSpPr>
              <a:spLocks noChangeArrowheads="1"/>
            </p:cNvSpPr>
            <p:nvPr/>
          </p:nvSpPr>
          <p:spPr bwMode="auto">
            <a:xfrm>
              <a:off x="2160" y="3264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4996" name="AutoShape 20"/>
            <p:cNvSpPr>
              <a:spLocks noChangeArrowheads="1"/>
            </p:cNvSpPr>
            <p:nvPr/>
          </p:nvSpPr>
          <p:spPr bwMode="auto">
            <a:xfrm>
              <a:off x="2304" y="3312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4997" name="AutoShape 21"/>
            <p:cNvSpPr>
              <a:spLocks noChangeArrowheads="1"/>
            </p:cNvSpPr>
            <p:nvPr/>
          </p:nvSpPr>
          <p:spPr bwMode="auto">
            <a:xfrm>
              <a:off x="2304" y="3456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4998" name="AutoShape 22"/>
            <p:cNvSpPr>
              <a:spLocks noChangeArrowheads="1"/>
            </p:cNvSpPr>
            <p:nvPr/>
          </p:nvSpPr>
          <p:spPr bwMode="auto">
            <a:xfrm>
              <a:off x="2448" y="3312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4999" name="AutoShape 23"/>
            <p:cNvSpPr>
              <a:spLocks noChangeArrowheads="1"/>
            </p:cNvSpPr>
            <p:nvPr/>
          </p:nvSpPr>
          <p:spPr bwMode="auto">
            <a:xfrm>
              <a:off x="2352" y="3168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5000" name="AutoShape 24"/>
            <p:cNvSpPr>
              <a:spLocks noChangeArrowheads="1"/>
            </p:cNvSpPr>
            <p:nvPr/>
          </p:nvSpPr>
          <p:spPr bwMode="auto">
            <a:xfrm>
              <a:off x="2448" y="3456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5001" name="AutoShape 25"/>
            <p:cNvSpPr>
              <a:spLocks noChangeArrowheads="1"/>
            </p:cNvSpPr>
            <p:nvPr/>
          </p:nvSpPr>
          <p:spPr bwMode="auto">
            <a:xfrm>
              <a:off x="2160" y="3408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5002" name="AutoShape 26"/>
            <p:cNvSpPr>
              <a:spLocks noChangeArrowheads="1"/>
            </p:cNvSpPr>
            <p:nvPr/>
          </p:nvSpPr>
          <p:spPr bwMode="auto">
            <a:xfrm>
              <a:off x="3504" y="355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5003" name="AutoShape 27"/>
            <p:cNvSpPr>
              <a:spLocks noChangeArrowheads="1"/>
            </p:cNvSpPr>
            <p:nvPr/>
          </p:nvSpPr>
          <p:spPr bwMode="auto">
            <a:xfrm>
              <a:off x="3792" y="360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5004" name="AutoShape 28"/>
            <p:cNvSpPr>
              <a:spLocks noChangeArrowheads="1"/>
            </p:cNvSpPr>
            <p:nvPr/>
          </p:nvSpPr>
          <p:spPr bwMode="auto">
            <a:xfrm>
              <a:off x="3648" y="369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5005" name="AutoShape 29"/>
            <p:cNvSpPr>
              <a:spLocks noChangeArrowheads="1"/>
            </p:cNvSpPr>
            <p:nvPr/>
          </p:nvSpPr>
          <p:spPr bwMode="auto">
            <a:xfrm>
              <a:off x="3504" y="379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5006" name="AutoShape 30"/>
            <p:cNvSpPr>
              <a:spLocks noChangeArrowheads="1"/>
            </p:cNvSpPr>
            <p:nvPr/>
          </p:nvSpPr>
          <p:spPr bwMode="auto">
            <a:xfrm>
              <a:off x="3696" y="379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5007" name="AutoShape 31"/>
            <p:cNvSpPr>
              <a:spLocks noChangeArrowheads="1"/>
            </p:cNvSpPr>
            <p:nvPr/>
          </p:nvSpPr>
          <p:spPr bwMode="auto">
            <a:xfrm flipV="1">
              <a:off x="3504" y="3648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5008" name="AutoShape 32"/>
            <p:cNvSpPr>
              <a:spLocks noChangeArrowheads="1"/>
            </p:cNvSpPr>
            <p:nvPr/>
          </p:nvSpPr>
          <p:spPr bwMode="auto">
            <a:xfrm>
              <a:off x="3696" y="350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35009" name="Group 33"/>
          <p:cNvGrpSpPr>
            <a:grpSpLocks/>
          </p:cNvGrpSpPr>
          <p:nvPr/>
        </p:nvGrpSpPr>
        <p:grpSpPr bwMode="auto">
          <a:xfrm>
            <a:off x="5257800" y="3048000"/>
            <a:ext cx="3048000" cy="2514600"/>
            <a:chOff x="3312" y="1584"/>
            <a:chExt cx="1920" cy="1584"/>
          </a:xfrm>
        </p:grpSpPr>
        <p:sp>
          <p:nvSpPr>
            <p:cNvPr id="1535010" name="Line 34"/>
            <p:cNvSpPr>
              <a:spLocks noChangeShapeType="1"/>
            </p:cNvSpPr>
            <p:nvPr/>
          </p:nvSpPr>
          <p:spPr bwMode="auto">
            <a:xfrm flipH="1" flipV="1">
              <a:off x="3312" y="2736"/>
              <a:ext cx="144" cy="432"/>
            </a:xfrm>
            <a:prstGeom prst="line">
              <a:avLst/>
            </a:prstGeom>
            <a:noFill/>
            <a:ln w="25400">
              <a:solidFill>
                <a:srgbClr val="CC66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5011" name="AutoShape 35"/>
            <p:cNvSpPr>
              <a:spLocks noChangeArrowheads="1"/>
            </p:cNvSpPr>
            <p:nvPr/>
          </p:nvSpPr>
          <p:spPr bwMode="auto">
            <a:xfrm>
              <a:off x="3984" y="1584"/>
              <a:ext cx="1248" cy="672"/>
            </a:xfrm>
            <a:prstGeom prst="wedgeRectCallout">
              <a:avLst>
                <a:gd name="adj1" fmla="val -93509"/>
                <a:gd name="adj2" fmla="val 150894"/>
              </a:avLst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sz="2000" b="0">
                  <a:latin typeface="Tahoma" pitchFamily="34" charset="0"/>
                </a:rPr>
                <a:t>Inter-cluster distances are maximized</a:t>
              </a:r>
            </a:p>
          </p:txBody>
        </p:sp>
      </p:grpSp>
      <p:grpSp>
        <p:nvGrpSpPr>
          <p:cNvPr id="1535012" name="Group 36"/>
          <p:cNvGrpSpPr>
            <a:grpSpLocks/>
          </p:cNvGrpSpPr>
          <p:nvPr/>
        </p:nvGrpSpPr>
        <p:grpSpPr bwMode="auto">
          <a:xfrm>
            <a:off x="2895600" y="4038600"/>
            <a:ext cx="3276600" cy="2286000"/>
            <a:chOff x="1824" y="2208"/>
            <a:chExt cx="2064" cy="1440"/>
          </a:xfrm>
        </p:grpSpPr>
        <p:sp>
          <p:nvSpPr>
            <p:cNvPr id="1535013" name="Oval 37"/>
            <p:cNvSpPr>
              <a:spLocks noChangeArrowheads="1"/>
            </p:cNvSpPr>
            <p:nvPr/>
          </p:nvSpPr>
          <p:spPr bwMode="auto">
            <a:xfrm>
              <a:off x="1824" y="2592"/>
              <a:ext cx="816" cy="720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5014" name="Oval 38"/>
            <p:cNvSpPr>
              <a:spLocks noChangeArrowheads="1"/>
            </p:cNvSpPr>
            <p:nvPr/>
          </p:nvSpPr>
          <p:spPr bwMode="auto">
            <a:xfrm>
              <a:off x="2928" y="2208"/>
              <a:ext cx="720" cy="624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5015" name="Oval 39"/>
            <p:cNvSpPr>
              <a:spLocks noChangeArrowheads="1"/>
            </p:cNvSpPr>
            <p:nvPr/>
          </p:nvSpPr>
          <p:spPr bwMode="auto">
            <a:xfrm>
              <a:off x="3216" y="3024"/>
              <a:ext cx="672" cy="624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35016" name="Group 40"/>
          <p:cNvGrpSpPr>
            <a:grpSpLocks/>
          </p:cNvGrpSpPr>
          <p:nvPr/>
        </p:nvGrpSpPr>
        <p:grpSpPr bwMode="auto">
          <a:xfrm>
            <a:off x="1295400" y="3352800"/>
            <a:ext cx="2286000" cy="1676400"/>
            <a:chOff x="816" y="1776"/>
            <a:chExt cx="1440" cy="1056"/>
          </a:xfrm>
        </p:grpSpPr>
        <p:sp>
          <p:nvSpPr>
            <p:cNvPr id="1535017" name="Line 41"/>
            <p:cNvSpPr>
              <a:spLocks noChangeShapeType="1"/>
            </p:cNvSpPr>
            <p:nvPr/>
          </p:nvSpPr>
          <p:spPr bwMode="auto">
            <a:xfrm flipV="1">
              <a:off x="2064" y="2736"/>
              <a:ext cx="192" cy="96"/>
            </a:xfrm>
            <a:prstGeom prst="line">
              <a:avLst/>
            </a:prstGeom>
            <a:noFill/>
            <a:ln w="25400">
              <a:solidFill>
                <a:srgbClr val="CC66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5018" name="AutoShape 42"/>
            <p:cNvSpPr>
              <a:spLocks noChangeArrowheads="1"/>
            </p:cNvSpPr>
            <p:nvPr/>
          </p:nvSpPr>
          <p:spPr bwMode="auto">
            <a:xfrm>
              <a:off x="816" y="1776"/>
              <a:ext cx="1248" cy="672"/>
            </a:xfrm>
            <a:prstGeom prst="wedgeRectCallout">
              <a:avLst>
                <a:gd name="adj1" fmla="val 56250"/>
                <a:gd name="adj2" fmla="val 92856"/>
              </a:avLst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sz="2000" b="0">
                  <a:latin typeface="Tahoma" pitchFamily="34" charset="0"/>
                </a:rPr>
                <a:t>Intra-cluster distances are minimized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6163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69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80400" cy="914400"/>
          </a:xfrm>
        </p:spPr>
        <p:txBody>
          <a:bodyPr>
            <a:normAutofit/>
          </a:bodyPr>
          <a:lstStyle/>
          <a:p>
            <a:r>
              <a:rPr lang="en-US" dirty="0"/>
              <a:t>Applications of Cluster Analysis</a:t>
            </a:r>
          </a:p>
        </p:txBody>
      </p:sp>
      <p:sp>
        <p:nvSpPr>
          <p:cNvPr id="1565699" name="Rectangle 1027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524000"/>
            <a:ext cx="4083050" cy="5181600"/>
          </a:xfrm>
        </p:spPr>
        <p:txBody>
          <a:bodyPr>
            <a:normAutofit lnSpcReduction="10000"/>
          </a:bodyPr>
          <a:lstStyle/>
          <a:p>
            <a:pPr>
              <a:spcBef>
                <a:spcPct val="20000"/>
              </a:spcBef>
            </a:pPr>
            <a:r>
              <a:rPr lang="en-US" sz="2400" b="1" dirty="0"/>
              <a:t>Understanding</a:t>
            </a:r>
          </a:p>
          <a:p>
            <a:pPr lvl="1">
              <a:spcBef>
                <a:spcPct val="20000"/>
              </a:spcBef>
            </a:pPr>
            <a:r>
              <a:rPr lang="en-US" sz="2000" dirty="0">
                <a:solidFill>
                  <a:srgbClr val="FF0000"/>
                </a:solidFill>
              </a:rPr>
              <a:t>Group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000" dirty="0"/>
              <a:t>related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 documents </a:t>
            </a:r>
            <a:r>
              <a:rPr lang="en-US" sz="2000" dirty="0"/>
              <a:t>for browsing,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genes and proteins</a:t>
            </a:r>
            <a:r>
              <a:rPr lang="en-US" sz="2000" dirty="0"/>
              <a:t> that have similar functionality,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stocks </a:t>
            </a:r>
            <a:r>
              <a:rPr lang="en-US" sz="2000" dirty="0"/>
              <a:t>with similar price fluctuations,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users</a:t>
            </a:r>
            <a:r>
              <a:rPr lang="en-US" sz="2000" dirty="0"/>
              <a:t> with same behavior</a:t>
            </a:r>
            <a:endParaRPr lang="en-US" sz="2000" b="1" dirty="0"/>
          </a:p>
          <a:p>
            <a:pPr>
              <a:spcBef>
                <a:spcPct val="20000"/>
              </a:spcBef>
            </a:pPr>
            <a:endParaRPr lang="en-US" sz="2400" b="1" dirty="0"/>
          </a:p>
          <a:p>
            <a:pPr>
              <a:spcBef>
                <a:spcPct val="20000"/>
              </a:spcBef>
            </a:pPr>
            <a:r>
              <a:rPr lang="en-US" sz="2400" b="1" dirty="0"/>
              <a:t>Summarization</a:t>
            </a:r>
          </a:p>
          <a:p>
            <a:pPr lvl="1">
              <a:spcBef>
                <a:spcPct val="20000"/>
              </a:spcBef>
            </a:pPr>
            <a:r>
              <a:rPr lang="en-US" sz="2000" dirty="0"/>
              <a:t>Reduce the size of large data sets</a:t>
            </a:r>
          </a:p>
          <a:p>
            <a:pPr lvl="1">
              <a:spcBef>
                <a:spcPct val="20000"/>
              </a:spcBef>
            </a:pPr>
            <a:endParaRPr lang="en-US" sz="2000" dirty="0"/>
          </a:p>
          <a:p>
            <a:r>
              <a:rPr lang="en-US" sz="2400" b="1" dirty="0"/>
              <a:t>Applications</a:t>
            </a:r>
          </a:p>
          <a:p>
            <a:pPr lvl="1"/>
            <a:r>
              <a:rPr lang="en-US" sz="2000" dirty="0"/>
              <a:t>Recommendation systems</a:t>
            </a:r>
          </a:p>
          <a:p>
            <a:pPr lvl="1"/>
            <a:r>
              <a:rPr lang="en-US" sz="2000" dirty="0"/>
              <a:t>Search Personalization</a:t>
            </a:r>
          </a:p>
          <a:p>
            <a:endParaRPr lang="en-US" sz="2400" dirty="0"/>
          </a:p>
        </p:txBody>
      </p:sp>
      <p:graphicFrame>
        <p:nvGraphicFramePr>
          <p:cNvPr id="1565700" name="Object 1028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738688084"/>
              </p:ext>
            </p:extLst>
          </p:nvPr>
        </p:nvGraphicFramePr>
        <p:xfrm>
          <a:off x="4343400" y="1524000"/>
          <a:ext cx="4800600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" name="Document" r:id="rId3" imgW="5620181" imgH="3122232" progId="Word.Document.8">
                  <p:embed/>
                </p:oleObj>
              </mc:Choice>
              <mc:Fallback>
                <p:oleObj name="Document" r:id="rId3" imgW="5620181" imgH="312223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1524000"/>
                        <a:ext cx="4800600" cy="266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65702" name="Picture 1030" descr="precip_aust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64" t="12122" r="11072" b="18182"/>
          <a:stretch>
            <a:fillRect/>
          </a:stretch>
        </p:blipFill>
        <p:spPr>
          <a:xfrm>
            <a:off x="5438775" y="4038600"/>
            <a:ext cx="3657600" cy="24749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565704" name="Text Box 1032"/>
          <p:cNvSpPr txBox="1">
            <a:spLocks noChangeArrowheads="1"/>
          </p:cNvSpPr>
          <p:nvPr/>
        </p:nvSpPr>
        <p:spPr bwMode="auto">
          <a:xfrm>
            <a:off x="5410200" y="6019799"/>
            <a:ext cx="25146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Clustering precipitation in Australia</a:t>
            </a:r>
          </a:p>
        </p:txBody>
      </p:sp>
    </p:spTree>
    <p:extLst>
      <p:ext uri="{BB962C8B-B14F-4D97-AF65-F5344CB8AC3E}">
        <p14:creationId xmlns:p14="http://schemas.microsoft.com/office/powerpoint/2010/main" val="144735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Early applications of cluster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John Snow, London 1854</a:t>
            </a:r>
          </a:p>
        </p:txBody>
      </p:sp>
      <p:pic>
        <p:nvPicPr>
          <p:cNvPr id="1239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1" y="2213134"/>
            <a:ext cx="6781800" cy="44353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30652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02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533400"/>
            <a:ext cx="8280400" cy="1066800"/>
          </a:xfrm>
        </p:spPr>
        <p:txBody>
          <a:bodyPr>
            <a:normAutofit/>
          </a:bodyPr>
          <a:lstStyle/>
          <a:p>
            <a:r>
              <a:rPr lang="en-US" dirty="0"/>
              <a:t>Notion of a Cluster can be Ambiguous</a:t>
            </a:r>
          </a:p>
        </p:txBody>
      </p:sp>
      <p:grpSp>
        <p:nvGrpSpPr>
          <p:cNvPr id="1537115" name="Group 91"/>
          <p:cNvGrpSpPr>
            <a:grpSpLocks/>
          </p:cNvGrpSpPr>
          <p:nvPr/>
        </p:nvGrpSpPr>
        <p:grpSpPr bwMode="auto">
          <a:xfrm>
            <a:off x="685800" y="2209800"/>
            <a:ext cx="3344863" cy="1479550"/>
            <a:chOff x="432" y="1200"/>
            <a:chExt cx="2107" cy="932"/>
          </a:xfrm>
        </p:grpSpPr>
        <p:grpSp>
          <p:nvGrpSpPr>
            <p:cNvPr id="1537027" name="Group 3"/>
            <p:cNvGrpSpPr>
              <a:grpSpLocks noChangeAspect="1"/>
            </p:cNvGrpSpPr>
            <p:nvPr/>
          </p:nvGrpSpPr>
          <p:grpSpPr bwMode="auto">
            <a:xfrm>
              <a:off x="432" y="1200"/>
              <a:ext cx="2107" cy="516"/>
              <a:chOff x="2464" y="2296"/>
              <a:chExt cx="2634" cy="646"/>
            </a:xfrm>
          </p:grpSpPr>
          <p:sp>
            <p:nvSpPr>
              <p:cNvPr id="1537028" name="Oval 4"/>
              <p:cNvSpPr>
                <a:spLocks noChangeAspect="1" noChangeArrowheads="1"/>
              </p:cNvSpPr>
              <p:nvPr/>
            </p:nvSpPr>
            <p:spPr bwMode="auto">
              <a:xfrm>
                <a:off x="4564" y="2730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29" name="Oval 5"/>
              <p:cNvSpPr>
                <a:spLocks noChangeAspect="1" noChangeArrowheads="1"/>
              </p:cNvSpPr>
              <p:nvPr/>
            </p:nvSpPr>
            <p:spPr bwMode="auto">
              <a:xfrm>
                <a:off x="4312" y="2842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30" name="Oval 6"/>
              <p:cNvSpPr>
                <a:spLocks noChangeAspect="1" noChangeArrowheads="1"/>
              </p:cNvSpPr>
              <p:nvPr/>
            </p:nvSpPr>
            <p:spPr bwMode="auto">
              <a:xfrm>
                <a:off x="4466" y="285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31" name="Oval 7"/>
              <p:cNvSpPr>
                <a:spLocks noChangeAspect="1" noChangeArrowheads="1"/>
              </p:cNvSpPr>
              <p:nvPr/>
            </p:nvSpPr>
            <p:spPr bwMode="auto">
              <a:xfrm>
                <a:off x="4410" y="274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32" name="Oval 8"/>
              <p:cNvSpPr>
                <a:spLocks noChangeAspect="1" noChangeArrowheads="1"/>
              </p:cNvSpPr>
              <p:nvPr/>
            </p:nvSpPr>
            <p:spPr bwMode="auto">
              <a:xfrm>
                <a:off x="4326" y="247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33" name="Oval 9"/>
              <p:cNvSpPr>
                <a:spLocks noChangeAspect="1" noChangeArrowheads="1"/>
              </p:cNvSpPr>
              <p:nvPr/>
            </p:nvSpPr>
            <p:spPr bwMode="auto">
              <a:xfrm>
                <a:off x="4158" y="2422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34" name="Oval 10"/>
              <p:cNvSpPr>
                <a:spLocks noChangeAspect="1" noChangeArrowheads="1"/>
              </p:cNvSpPr>
              <p:nvPr/>
            </p:nvSpPr>
            <p:spPr bwMode="auto">
              <a:xfrm>
                <a:off x="4242" y="229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35" name="Oval 11"/>
              <p:cNvSpPr>
                <a:spLocks noChangeAspect="1" noChangeArrowheads="1"/>
              </p:cNvSpPr>
              <p:nvPr/>
            </p:nvSpPr>
            <p:spPr bwMode="auto">
              <a:xfrm>
                <a:off x="4788" y="271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36" name="Oval 12"/>
              <p:cNvSpPr>
                <a:spLocks noChangeAspect="1" noChangeArrowheads="1"/>
              </p:cNvSpPr>
              <p:nvPr/>
            </p:nvSpPr>
            <p:spPr bwMode="auto">
              <a:xfrm>
                <a:off x="5012" y="261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37" name="Oval 13"/>
              <p:cNvSpPr>
                <a:spLocks noChangeAspect="1" noChangeArrowheads="1"/>
              </p:cNvSpPr>
              <p:nvPr/>
            </p:nvSpPr>
            <p:spPr bwMode="auto">
              <a:xfrm>
                <a:off x="4788" y="253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38" name="Oval 14"/>
              <p:cNvSpPr>
                <a:spLocks noChangeAspect="1" noChangeArrowheads="1"/>
              </p:cNvSpPr>
              <p:nvPr/>
            </p:nvSpPr>
            <p:spPr bwMode="auto">
              <a:xfrm flipV="1">
                <a:off x="2870" y="2422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39" name="Oval 15"/>
              <p:cNvSpPr>
                <a:spLocks noChangeAspect="1" noChangeArrowheads="1"/>
              </p:cNvSpPr>
              <p:nvPr/>
            </p:nvSpPr>
            <p:spPr bwMode="auto">
              <a:xfrm flipV="1">
                <a:off x="2618" y="2310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40" name="Oval 16"/>
              <p:cNvSpPr>
                <a:spLocks noChangeAspect="1" noChangeArrowheads="1"/>
              </p:cNvSpPr>
              <p:nvPr/>
            </p:nvSpPr>
            <p:spPr bwMode="auto">
              <a:xfrm flipV="1">
                <a:off x="2772" y="229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41" name="Oval 17"/>
              <p:cNvSpPr>
                <a:spLocks noChangeAspect="1" noChangeArrowheads="1"/>
              </p:cNvSpPr>
              <p:nvPr/>
            </p:nvSpPr>
            <p:spPr bwMode="auto">
              <a:xfrm flipV="1">
                <a:off x="2716" y="240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42" name="Oval 18"/>
              <p:cNvSpPr>
                <a:spLocks noChangeAspect="1" noChangeArrowheads="1"/>
              </p:cNvSpPr>
              <p:nvPr/>
            </p:nvSpPr>
            <p:spPr bwMode="auto">
              <a:xfrm flipV="1">
                <a:off x="2632" y="267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43" name="Oval 19"/>
              <p:cNvSpPr>
                <a:spLocks noChangeAspect="1" noChangeArrowheads="1"/>
              </p:cNvSpPr>
              <p:nvPr/>
            </p:nvSpPr>
            <p:spPr bwMode="auto">
              <a:xfrm flipV="1">
                <a:off x="2464" y="2730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44" name="Oval 20"/>
              <p:cNvSpPr>
                <a:spLocks noChangeAspect="1" noChangeArrowheads="1"/>
              </p:cNvSpPr>
              <p:nvPr/>
            </p:nvSpPr>
            <p:spPr bwMode="auto">
              <a:xfrm flipV="1">
                <a:off x="2548" y="285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45" name="Oval 21"/>
              <p:cNvSpPr>
                <a:spLocks noChangeAspect="1" noChangeArrowheads="1"/>
              </p:cNvSpPr>
              <p:nvPr/>
            </p:nvSpPr>
            <p:spPr bwMode="auto">
              <a:xfrm flipV="1">
                <a:off x="3094" y="2436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46" name="Oval 22"/>
              <p:cNvSpPr>
                <a:spLocks noChangeAspect="1" noChangeArrowheads="1"/>
              </p:cNvSpPr>
              <p:nvPr/>
            </p:nvSpPr>
            <p:spPr bwMode="auto">
              <a:xfrm flipV="1">
                <a:off x="3318" y="2534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47" name="Oval 23"/>
              <p:cNvSpPr>
                <a:spLocks noChangeAspect="1" noChangeArrowheads="1"/>
              </p:cNvSpPr>
              <p:nvPr/>
            </p:nvSpPr>
            <p:spPr bwMode="auto">
              <a:xfrm flipV="1">
                <a:off x="3094" y="2618"/>
                <a:ext cx="86" cy="8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37111" name="Rectangle 87"/>
            <p:cNvSpPr>
              <a:spLocks noChangeArrowheads="1"/>
            </p:cNvSpPr>
            <p:nvPr/>
          </p:nvSpPr>
          <p:spPr bwMode="auto">
            <a:xfrm>
              <a:off x="624" y="1920"/>
              <a:ext cx="144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600" b="0">
                  <a:latin typeface="Times New Roman" charset="0"/>
                  <a:cs typeface="Times New Roman" charset="0"/>
                </a:rPr>
                <a:t>How many clusters?</a:t>
              </a:r>
              <a:endParaRPr lang="en-US" sz="1600" b="0">
                <a:latin typeface="Times New Roman" charset="0"/>
              </a:endParaRPr>
            </a:p>
          </p:txBody>
        </p:sp>
      </p:grpSp>
      <p:grpSp>
        <p:nvGrpSpPr>
          <p:cNvPr id="1537118" name="Group 94"/>
          <p:cNvGrpSpPr>
            <a:grpSpLocks/>
          </p:cNvGrpSpPr>
          <p:nvPr/>
        </p:nvGrpSpPr>
        <p:grpSpPr bwMode="auto">
          <a:xfrm>
            <a:off x="4960938" y="4419600"/>
            <a:ext cx="3344862" cy="1371600"/>
            <a:chOff x="3125" y="2592"/>
            <a:chExt cx="2107" cy="864"/>
          </a:xfrm>
        </p:grpSpPr>
        <p:grpSp>
          <p:nvGrpSpPr>
            <p:cNvPr id="1537090" name="Group 66"/>
            <p:cNvGrpSpPr>
              <a:grpSpLocks/>
            </p:cNvGrpSpPr>
            <p:nvPr/>
          </p:nvGrpSpPr>
          <p:grpSpPr bwMode="auto">
            <a:xfrm>
              <a:off x="3125" y="2592"/>
              <a:ext cx="2107" cy="518"/>
              <a:chOff x="3125" y="2592"/>
              <a:chExt cx="2107" cy="518"/>
            </a:xfrm>
          </p:grpSpPr>
          <p:sp>
            <p:nvSpPr>
              <p:cNvPr id="1537091" name="AutoShape 67"/>
              <p:cNvSpPr>
                <a:spLocks noChangeAspect="1" noChangeArrowheads="1"/>
              </p:cNvSpPr>
              <p:nvPr/>
            </p:nvSpPr>
            <p:spPr bwMode="auto">
              <a:xfrm>
                <a:off x="4805" y="2940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92" name="AutoShape 68"/>
              <p:cNvSpPr>
                <a:spLocks noChangeAspect="1" noChangeArrowheads="1"/>
              </p:cNvSpPr>
              <p:nvPr/>
            </p:nvSpPr>
            <p:spPr bwMode="auto">
              <a:xfrm>
                <a:off x="4603" y="3030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93" name="AutoShape 69"/>
              <p:cNvSpPr>
                <a:spLocks noChangeAspect="1" noChangeArrowheads="1"/>
              </p:cNvSpPr>
              <p:nvPr/>
            </p:nvSpPr>
            <p:spPr bwMode="auto">
              <a:xfrm>
                <a:off x="4726" y="3041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94" name="AutoShape 70"/>
              <p:cNvSpPr>
                <a:spLocks noChangeAspect="1" noChangeArrowheads="1"/>
              </p:cNvSpPr>
              <p:nvPr/>
            </p:nvSpPr>
            <p:spPr bwMode="auto">
              <a:xfrm>
                <a:off x="4682" y="2951"/>
                <a:ext cx="68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95" name="AutoShape 71"/>
              <p:cNvSpPr>
                <a:spLocks noChangeAspect="1" noChangeArrowheads="1"/>
              </p:cNvSpPr>
              <p:nvPr/>
            </p:nvSpPr>
            <p:spPr bwMode="auto">
              <a:xfrm>
                <a:off x="4614" y="2738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96" name="AutoShape 72"/>
              <p:cNvSpPr>
                <a:spLocks noChangeAspect="1" noChangeArrowheads="1"/>
              </p:cNvSpPr>
              <p:nvPr/>
            </p:nvSpPr>
            <p:spPr bwMode="auto">
              <a:xfrm>
                <a:off x="4480" y="2693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97" name="AutoShape 73"/>
              <p:cNvSpPr>
                <a:spLocks noChangeAspect="1" noChangeArrowheads="1"/>
              </p:cNvSpPr>
              <p:nvPr/>
            </p:nvSpPr>
            <p:spPr bwMode="auto">
              <a:xfrm>
                <a:off x="4547" y="2592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98" name="AutoShape 74"/>
              <p:cNvSpPr>
                <a:spLocks noChangeAspect="1" noChangeArrowheads="1"/>
              </p:cNvSpPr>
              <p:nvPr/>
            </p:nvSpPr>
            <p:spPr bwMode="auto">
              <a:xfrm>
                <a:off x="4984" y="2929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99" name="AutoShape 75"/>
              <p:cNvSpPr>
                <a:spLocks noChangeAspect="1" noChangeArrowheads="1"/>
              </p:cNvSpPr>
              <p:nvPr/>
            </p:nvSpPr>
            <p:spPr bwMode="auto">
              <a:xfrm>
                <a:off x="5163" y="2850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100" name="AutoShape 76"/>
              <p:cNvSpPr>
                <a:spLocks noChangeAspect="1" noChangeArrowheads="1"/>
              </p:cNvSpPr>
              <p:nvPr/>
            </p:nvSpPr>
            <p:spPr bwMode="auto">
              <a:xfrm>
                <a:off x="4984" y="2783"/>
                <a:ext cx="69" cy="69"/>
              </a:xfrm>
              <a:prstGeom prst="diamond">
                <a:avLst/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101" name="AutoShape 77"/>
              <p:cNvSpPr>
                <a:spLocks noChangeAspect="1" noChangeArrowheads="1"/>
              </p:cNvSpPr>
              <p:nvPr/>
            </p:nvSpPr>
            <p:spPr bwMode="auto">
              <a:xfrm flipV="1">
                <a:off x="3450" y="2693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102" name="AutoShape 78"/>
              <p:cNvSpPr>
                <a:spLocks noChangeAspect="1" noChangeArrowheads="1"/>
              </p:cNvSpPr>
              <p:nvPr/>
            </p:nvSpPr>
            <p:spPr bwMode="auto">
              <a:xfrm flipV="1">
                <a:off x="3248" y="2603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103" name="AutoShape 79"/>
              <p:cNvSpPr>
                <a:spLocks noChangeAspect="1" noChangeArrowheads="1"/>
              </p:cNvSpPr>
              <p:nvPr/>
            </p:nvSpPr>
            <p:spPr bwMode="auto">
              <a:xfrm flipV="1">
                <a:off x="3371" y="2592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104" name="AutoShape 80"/>
              <p:cNvSpPr>
                <a:spLocks noChangeAspect="1" noChangeArrowheads="1"/>
              </p:cNvSpPr>
              <p:nvPr/>
            </p:nvSpPr>
            <p:spPr bwMode="auto">
              <a:xfrm flipV="1">
                <a:off x="3327" y="2682"/>
                <a:ext cx="68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105" name="AutoShape 81"/>
              <p:cNvSpPr>
                <a:spLocks noChangeAspect="1" noChangeArrowheads="1"/>
              </p:cNvSpPr>
              <p:nvPr/>
            </p:nvSpPr>
            <p:spPr bwMode="auto">
              <a:xfrm flipV="1">
                <a:off x="3259" y="2895"/>
                <a:ext cx="69" cy="69"/>
              </a:xfrm>
              <a:prstGeom prst="flowChartExtract">
                <a:avLst/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106" name="AutoShape 82"/>
              <p:cNvSpPr>
                <a:spLocks noChangeAspect="1" noChangeArrowheads="1"/>
              </p:cNvSpPr>
              <p:nvPr/>
            </p:nvSpPr>
            <p:spPr bwMode="auto">
              <a:xfrm flipV="1">
                <a:off x="3125" y="2940"/>
                <a:ext cx="69" cy="69"/>
              </a:xfrm>
              <a:prstGeom prst="flowChartExtract">
                <a:avLst/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107" name="AutoShape 83"/>
              <p:cNvSpPr>
                <a:spLocks noChangeAspect="1" noChangeArrowheads="1"/>
              </p:cNvSpPr>
              <p:nvPr/>
            </p:nvSpPr>
            <p:spPr bwMode="auto">
              <a:xfrm flipV="1">
                <a:off x="3192" y="3041"/>
                <a:ext cx="69" cy="69"/>
              </a:xfrm>
              <a:prstGeom prst="flowChartExtract">
                <a:avLst/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108" name="AutoShape 84"/>
              <p:cNvSpPr>
                <a:spLocks noChangeAspect="1" noChangeArrowheads="1"/>
              </p:cNvSpPr>
              <p:nvPr/>
            </p:nvSpPr>
            <p:spPr bwMode="auto">
              <a:xfrm flipV="1">
                <a:off x="3629" y="2704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109" name="AutoShape 85"/>
              <p:cNvSpPr>
                <a:spLocks noChangeAspect="1" noChangeArrowheads="1"/>
              </p:cNvSpPr>
              <p:nvPr/>
            </p:nvSpPr>
            <p:spPr bwMode="auto">
              <a:xfrm flipV="1">
                <a:off x="3808" y="2783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110" name="AutoShape 86"/>
              <p:cNvSpPr>
                <a:spLocks noChangeAspect="1" noChangeArrowheads="1"/>
              </p:cNvSpPr>
              <p:nvPr/>
            </p:nvSpPr>
            <p:spPr bwMode="auto">
              <a:xfrm flipV="1">
                <a:off x="3629" y="2850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37112" name="Rectangle 88"/>
            <p:cNvSpPr>
              <a:spLocks noChangeArrowheads="1"/>
            </p:cNvSpPr>
            <p:nvPr/>
          </p:nvSpPr>
          <p:spPr bwMode="auto">
            <a:xfrm>
              <a:off x="3413" y="3244"/>
              <a:ext cx="144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600" b="0">
                  <a:latin typeface="Times New Roman" charset="0"/>
                  <a:cs typeface="Times New Roman" charset="0"/>
                </a:rPr>
                <a:t>Four Clusters</a:t>
              </a:r>
              <a:r>
                <a:rPr lang="en-US" sz="1600" b="0">
                  <a:latin typeface="Times New Roman" charset="0"/>
                </a:rPr>
                <a:t> </a:t>
              </a:r>
            </a:p>
          </p:txBody>
        </p:sp>
      </p:grpSp>
      <p:grpSp>
        <p:nvGrpSpPr>
          <p:cNvPr id="1537117" name="Group 93"/>
          <p:cNvGrpSpPr>
            <a:grpSpLocks/>
          </p:cNvGrpSpPr>
          <p:nvPr/>
        </p:nvGrpSpPr>
        <p:grpSpPr bwMode="auto">
          <a:xfrm>
            <a:off x="685800" y="4419600"/>
            <a:ext cx="3344863" cy="1371600"/>
            <a:chOff x="432" y="2592"/>
            <a:chExt cx="2107" cy="864"/>
          </a:xfrm>
        </p:grpSpPr>
        <p:grpSp>
          <p:nvGrpSpPr>
            <p:cNvPr id="1537069" name="Group 45"/>
            <p:cNvGrpSpPr>
              <a:grpSpLocks/>
            </p:cNvGrpSpPr>
            <p:nvPr/>
          </p:nvGrpSpPr>
          <p:grpSpPr bwMode="auto">
            <a:xfrm>
              <a:off x="432" y="2592"/>
              <a:ext cx="2107" cy="516"/>
              <a:chOff x="432" y="2592"/>
              <a:chExt cx="2107" cy="516"/>
            </a:xfrm>
          </p:grpSpPr>
          <p:sp>
            <p:nvSpPr>
              <p:cNvPr id="1537070" name="AutoShape 46"/>
              <p:cNvSpPr>
                <a:spLocks noChangeAspect="1" noChangeArrowheads="1"/>
              </p:cNvSpPr>
              <p:nvPr/>
            </p:nvSpPr>
            <p:spPr bwMode="auto">
              <a:xfrm>
                <a:off x="2112" y="2939"/>
                <a:ext cx="69" cy="68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71" name="AutoShape 47"/>
              <p:cNvSpPr>
                <a:spLocks noChangeAspect="1" noChangeArrowheads="1"/>
              </p:cNvSpPr>
              <p:nvPr/>
            </p:nvSpPr>
            <p:spPr bwMode="auto">
              <a:xfrm>
                <a:off x="1910" y="3028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72" name="AutoShape 48"/>
              <p:cNvSpPr>
                <a:spLocks noChangeAspect="1" noChangeArrowheads="1"/>
              </p:cNvSpPr>
              <p:nvPr/>
            </p:nvSpPr>
            <p:spPr bwMode="auto">
              <a:xfrm>
                <a:off x="2033" y="3039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73" name="AutoShape 49"/>
              <p:cNvSpPr>
                <a:spLocks noChangeAspect="1" noChangeArrowheads="1"/>
              </p:cNvSpPr>
              <p:nvPr/>
            </p:nvSpPr>
            <p:spPr bwMode="auto">
              <a:xfrm>
                <a:off x="1989" y="2950"/>
                <a:ext cx="68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74" name="AutoShape 50"/>
              <p:cNvSpPr>
                <a:spLocks noChangeAspect="1" noChangeArrowheads="1"/>
              </p:cNvSpPr>
              <p:nvPr/>
            </p:nvSpPr>
            <p:spPr bwMode="auto">
              <a:xfrm>
                <a:off x="1921" y="2737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75" name="AutoShape 51"/>
              <p:cNvSpPr>
                <a:spLocks noChangeAspect="1" noChangeArrowheads="1"/>
              </p:cNvSpPr>
              <p:nvPr/>
            </p:nvSpPr>
            <p:spPr bwMode="auto">
              <a:xfrm>
                <a:off x="1787" y="2693"/>
                <a:ext cx="69" cy="68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76" name="AutoShape 52"/>
              <p:cNvSpPr>
                <a:spLocks noChangeAspect="1" noChangeArrowheads="1"/>
              </p:cNvSpPr>
              <p:nvPr/>
            </p:nvSpPr>
            <p:spPr bwMode="auto">
              <a:xfrm>
                <a:off x="1854" y="2592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77" name="AutoShape 53"/>
              <p:cNvSpPr>
                <a:spLocks noChangeAspect="1" noChangeArrowheads="1"/>
              </p:cNvSpPr>
              <p:nvPr/>
            </p:nvSpPr>
            <p:spPr bwMode="auto">
              <a:xfrm>
                <a:off x="2291" y="2927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78" name="AutoShape 54"/>
              <p:cNvSpPr>
                <a:spLocks noChangeAspect="1" noChangeArrowheads="1"/>
              </p:cNvSpPr>
              <p:nvPr/>
            </p:nvSpPr>
            <p:spPr bwMode="auto">
              <a:xfrm>
                <a:off x="2470" y="2849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79" name="AutoShape 55"/>
              <p:cNvSpPr>
                <a:spLocks noChangeAspect="1" noChangeArrowheads="1"/>
              </p:cNvSpPr>
              <p:nvPr/>
            </p:nvSpPr>
            <p:spPr bwMode="auto">
              <a:xfrm>
                <a:off x="2291" y="2782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3366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80" name="Rectangle 56"/>
              <p:cNvSpPr>
                <a:spLocks noChangeAspect="1" noChangeArrowheads="1"/>
              </p:cNvSpPr>
              <p:nvPr/>
            </p:nvSpPr>
            <p:spPr bwMode="auto">
              <a:xfrm flipV="1">
                <a:off x="757" y="2693"/>
                <a:ext cx="69" cy="68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81" name="Rectangle 57"/>
              <p:cNvSpPr>
                <a:spLocks noChangeAspect="1" noChangeArrowheads="1"/>
              </p:cNvSpPr>
              <p:nvPr/>
            </p:nvSpPr>
            <p:spPr bwMode="auto">
              <a:xfrm flipV="1">
                <a:off x="555" y="2603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82" name="Rectangle 58"/>
              <p:cNvSpPr>
                <a:spLocks noChangeAspect="1" noChangeArrowheads="1"/>
              </p:cNvSpPr>
              <p:nvPr/>
            </p:nvSpPr>
            <p:spPr bwMode="auto">
              <a:xfrm flipV="1">
                <a:off x="678" y="2592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83" name="Rectangle 59"/>
              <p:cNvSpPr>
                <a:spLocks noChangeAspect="1" noChangeArrowheads="1"/>
              </p:cNvSpPr>
              <p:nvPr/>
            </p:nvSpPr>
            <p:spPr bwMode="auto">
              <a:xfrm flipV="1">
                <a:off x="634" y="2681"/>
                <a:ext cx="68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84" name="Rectangle 60"/>
              <p:cNvSpPr>
                <a:spLocks noChangeAspect="1" noChangeArrowheads="1"/>
              </p:cNvSpPr>
              <p:nvPr/>
            </p:nvSpPr>
            <p:spPr bwMode="auto">
              <a:xfrm flipV="1">
                <a:off x="566" y="2894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85" name="Rectangle 61"/>
              <p:cNvSpPr>
                <a:spLocks noChangeAspect="1" noChangeArrowheads="1"/>
              </p:cNvSpPr>
              <p:nvPr/>
            </p:nvSpPr>
            <p:spPr bwMode="auto">
              <a:xfrm flipV="1">
                <a:off x="432" y="2939"/>
                <a:ext cx="69" cy="68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86" name="Rectangle 62"/>
              <p:cNvSpPr>
                <a:spLocks noChangeAspect="1" noChangeArrowheads="1"/>
              </p:cNvSpPr>
              <p:nvPr/>
            </p:nvSpPr>
            <p:spPr bwMode="auto">
              <a:xfrm flipV="1">
                <a:off x="499" y="3039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87" name="Rectangle 63"/>
              <p:cNvSpPr>
                <a:spLocks noChangeAspect="1" noChangeArrowheads="1"/>
              </p:cNvSpPr>
              <p:nvPr/>
            </p:nvSpPr>
            <p:spPr bwMode="auto">
              <a:xfrm flipV="1">
                <a:off x="936" y="2704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88" name="Rectangle 64"/>
              <p:cNvSpPr>
                <a:spLocks noChangeAspect="1" noChangeArrowheads="1"/>
              </p:cNvSpPr>
              <p:nvPr/>
            </p:nvSpPr>
            <p:spPr bwMode="auto">
              <a:xfrm flipV="1">
                <a:off x="1115" y="2782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89" name="Rectangle 65"/>
              <p:cNvSpPr>
                <a:spLocks noChangeAspect="1" noChangeArrowheads="1"/>
              </p:cNvSpPr>
              <p:nvPr/>
            </p:nvSpPr>
            <p:spPr bwMode="auto">
              <a:xfrm flipV="1">
                <a:off x="936" y="2849"/>
                <a:ext cx="69" cy="69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37113" name="Rectangle 89"/>
            <p:cNvSpPr>
              <a:spLocks noChangeArrowheads="1"/>
            </p:cNvSpPr>
            <p:nvPr/>
          </p:nvSpPr>
          <p:spPr bwMode="auto">
            <a:xfrm>
              <a:off x="624" y="3244"/>
              <a:ext cx="144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600" b="0">
                  <a:latin typeface="Times New Roman" charset="0"/>
                  <a:cs typeface="Times New Roman" charset="0"/>
                </a:rPr>
                <a:t>Two Clusters</a:t>
              </a:r>
              <a:r>
                <a:rPr lang="en-US" sz="1600" b="0">
                  <a:latin typeface="Times New Roman" charset="0"/>
                </a:rPr>
                <a:t> </a:t>
              </a:r>
            </a:p>
          </p:txBody>
        </p:sp>
      </p:grpSp>
      <p:grpSp>
        <p:nvGrpSpPr>
          <p:cNvPr id="1537116" name="Group 92"/>
          <p:cNvGrpSpPr>
            <a:grpSpLocks/>
          </p:cNvGrpSpPr>
          <p:nvPr/>
        </p:nvGrpSpPr>
        <p:grpSpPr bwMode="auto">
          <a:xfrm>
            <a:off x="4960938" y="2209800"/>
            <a:ext cx="3344862" cy="1479550"/>
            <a:chOff x="3125" y="1200"/>
            <a:chExt cx="2107" cy="932"/>
          </a:xfrm>
        </p:grpSpPr>
        <p:grpSp>
          <p:nvGrpSpPr>
            <p:cNvPr id="1537048" name="Group 24"/>
            <p:cNvGrpSpPr>
              <a:grpSpLocks/>
            </p:cNvGrpSpPr>
            <p:nvPr/>
          </p:nvGrpSpPr>
          <p:grpSpPr bwMode="auto">
            <a:xfrm>
              <a:off x="3125" y="1200"/>
              <a:ext cx="2107" cy="518"/>
              <a:chOff x="3125" y="1200"/>
              <a:chExt cx="2107" cy="518"/>
            </a:xfrm>
          </p:grpSpPr>
          <p:sp>
            <p:nvSpPr>
              <p:cNvPr id="1537049" name="AutoShape 25"/>
              <p:cNvSpPr>
                <a:spLocks noChangeAspect="1" noChangeArrowheads="1"/>
              </p:cNvSpPr>
              <p:nvPr/>
            </p:nvSpPr>
            <p:spPr bwMode="auto">
              <a:xfrm>
                <a:off x="4805" y="1548"/>
                <a:ext cx="69" cy="69"/>
              </a:xfrm>
              <a:prstGeom prst="diamond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50" name="AutoShape 26"/>
              <p:cNvSpPr>
                <a:spLocks noChangeAspect="1" noChangeArrowheads="1"/>
              </p:cNvSpPr>
              <p:nvPr/>
            </p:nvSpPr>
            <p:spPr bwMode="auto">
              <a:xfrm>
                <a:off x="4603" y="1638"/>
                <a:ext cx="69" cy="69"/>
              </a:xfrm>
              <a:prstGeom prst="diamond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51" name="AutoShape 27"/>
              <p:cNvSpPr>
                <a:spLocks noChangeAspect="1" noChangeArrowheads="1"/>
              </p:cNvSpPr>
              <p:nvPr/>
            </p:nvSpPr>
            <p:spPr bwMode="auto">
              <a:xfrm>
                <a:off x="4726" y="1649"/>
                <a:ext cx="69" cy="69"/>
              </a:xfrm>
              <a:prstGeom prst="diamond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52" name="AutoShape 28"/>
              <p:cNvSpPr>
                <a:spLocks noChangeAspect="1" noChangeArrowheads="1"/>
              </p:cNvSpPr>
              <p:nvPr/>
            </p:nvSpPr>
            <p:spPr bwMode="auto">
              <a:xfrm>
                <a:off x="4682" y="1559"/>
                <a:ext cx="68" cy="69"/>
              </a:xfrm>
              <a:prstGeom prst="diamond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53" name="AutoShape 29"/>
              <p:cNvSpPr>
                <a:spLocks noChangeAspect="1" noChangeArrowheads="1"/>
              </p:cNvSpPr>
              <p:nvPr/>
            </p:nvSpPr>
            <p:spPr bwMode="auto">
              <a:xfrm>
                <a:off x="4614" y="1346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54" name="AutoShape 30"/>
              <p:cNvSpPr>
                <a:spLocks noChangeAspect="1" noChangeArrowheads="1"/>
              </p:cNvSpPr>
              <p:nvPr/>
            </p:nvSpPr>
            <p:spPr bwMode="auto">
              <a:xfrm>
                <a:off x="4480" y="1301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55" name="AutoShape 31"/>
              <p:cNvSpPr>
                <a:spLocks noChangeAspect="1" noChangeArrowheads="1"/>
              </p:cNvSpPr>
              <p:nvPr/>
            </p:nvSpPr>
            <p:spPr bwMode="auto">
              <a:xfrm>
                <a:off x="4547" y="1200"/>
                <a:ext cx="69" cy="69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56" name="Rectangle 32"/>
              <p:cNvSpPr>
                <a:spLocks noChangeAspect="1" noChangeArrowheads="1"/>
              </p:cNvSpPr>
              <p:nvPr/>
            </p:nvSpPr>
            <p:spPr bwMode="auto">
              <a:xfrm>
                <a:off x="4984" y="1537"/>
                <a:ext cx="69" cy="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57" name="Rectangle 33"/>
              <p:cNvSpPr>
                <a:spLocks noChangeAspect="1" noChangeArrowheads="1"/>
              </p:cNvSpPr>
              <p:nvPr/>
            </p:nvSpPr>
            <p:spPr bwMode="auto">
              <a:xfrm>
                <a:off x="5163" y="1458"/>
                <a:ext cx="69" cy="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58" name="Rectangle 34"/>
              <p:cNvSpPr>
                <a:spLocks noChangeAspect="1" noChangeArrowheads="1"/>
              </p:cNvSpPr>
              <p:nvPr/>
            </p:nvSpPr>
            <p:spPr bwMode="auto">
              <a:xfrm>
                <a:off x="4984" y="1391"/>
                <a:ext cx="69" cy="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59" name="AutoShape 35"/>
              <p:cNvSpPr>
                <a:spLocks noChangeAspect="1" noChangeArrowheads="1"/>
              </p:cNvSpPr>
              <p:nvPr/>
            </p:nvSpPr>
            <p:spPr bwMode="auto">
              <a:xfrm flipV="1">
                <a:off x="3450" y="1301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60" name="AutoShape 36"/>
              <p:cNvSpPr>
                <a:spLocks noChangeAspect="1" noChangeArrowheads="1"/>
              </p:cNvSpPr>
              <p:nvPr/>
            </p:nvSpPr>
            <p:spPr bwMode="auto">
              <a:xfrm flipV="1">
                <a:off x="3248" y="1211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61" name="AutoShape 37"/>
              <p:cNvSpPr>
                <a:spLocks noChangeAspect="1" noChangeArrowheads="1"/>
              </p:cNvSpPr>
              <p:nvPr/>
            </p:nvSpPr>
            <p:spPr bwMode="auto">
              <a:xfrm flipV="1">
                <a:off x="3371" y="1200"/>
                <a:ext cx="69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62" name="AutoShape 38"/>
              <p:cNvSpPr>
                <a:spLocks noChangeAspect="1" noChangeArrowheads="1"/>
              </p:cNvSpPr>
              <p:nvPr/>
            </p:nvSpPr>
            <p:spPr bwMode="auto">
              <a:xfrm flipV="1">
                <a:off x="3327" y="1290"/>
                <a:ext cx="68" cy="69"/>
              </a:xfrm>
              <a:prstGeom prst="star4">
                <a:avLst>
                  <a:gd name="adj" fmla="val 12500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63" name="AutoShape 39"/>
              <p:cNvSpPr>
                <a:spLocks noChangeAspect="1" noChangeArrowheads="1"/>
              </p:cNvSpPr>
              <p:nvPr/>
            </p:nvSpPr>
            <p:spPr bwMode="auto">
              <a:xfrm flipV="1">
                <a:off x="3259" y="1503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00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64" name="AutoShape 40"/>
              <p:cNvSpPr>
                <a:spLocks noChangeAspect="1" noChangeArrowheads="1"/>
              </p:cNvSpPr>
              <p:nvPr/>
            </p:nvSpPr>
            <p:spPr bwMode="auto">
              <a:xfrm flipV="1">
                <a:off x="3125" y="1548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00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65" name="AutoShape 41"/>
              <p:cNvSpPr>
                <a:spLocks noChangeAspect="1" noChangeArrowheads="1"/>
              </p:cNvSpPr>
              <p:nvPr/>
            </p:nvSpPr>
            <p:spPr bwMode="auto">
              <a:xfrm flipV="1">
                <a:off x="3192" y="1649"/>
                <a:ext cx="69" cy="69"/>
              </a:xfrm>
              <a:prstGeom prst="triangle">
                <a:avLst>
                  <a:gd name="adj" fmla="val 50000"/>
                </a:avLst>
              </a:prstGeom>
              <a:solidFill>
                <a:srgbClr val="00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66" name="Oval 42"/>
              <p:cNvSpPr>
                <a:spLocks noChangeAspect="1" noChangeArrowheads="1"/>
              </p:cNvSpPr>
              <p:nvPr/>
            </p:nvSpPr>
            <p:spPr bwMode="auto">
              <a:xfrm flipV="1">
                <a:off x="3629" y="1312"/>
                <a:ext cx="69" cy="69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67" name="Oval 43"/>
              <p:cNvSpPr>
                <a:spLocks noChangeAspect="1" noChangeArrowheads="1"/>
              </p:cNvSpPr>
              <p:nvPr/>
            </p:nvSpPr>
            <p:spPr bwMode="auto">
              <a:xfrm flipV="1">
                <a:off x="3808" y="1391"/>
                <a:ext cx="69" cy="69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068" name="Oval 44"/>
              <p:cNvSpPr>
                <a:spLocks noChangeAspect="1" noChangeArrowheads="1"/>
              </p:cNvSpPr>
              <p:nvPr/>
            </p:nvSpPr>
            <p:spPr bwMode="auto">
              <a:xfrm flipV="1">
                <a:off x="3629" y="1458"/>
                <a:ext cx="69" cy="69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37114" name="Rectangle 90"/>
            <p:cNvSpPr>
              <a:spLocks noChangeArrowheads="1"/>
            </p:cNvSpPr>
            <p:nvPr/>
          </p:nvSpPr>
          <p:spPr bwMode="auto">
            <a:xfrm>
              <a:off x="3413" y="1920"/>
              <a:ext cx="144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sz="1600" b="0">
                  <a:latin typeface="Times New Roman" charset="0"/>
                  <a:cs typeface="Times New Roman" charset="0"/>
                </a:rPr>
                <a:t>Six Clusters</a:t>
              </a:r>
              <a:r>
                <a:rPr lang="en-US" sz="1600" b="0">
                  <a:latin typeface="Times New Roman" charset="0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3801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05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280400" cy="1066800"/>
          </a:xfrm>
        </p:spPr>
        <p:txBody>
          <a:bodyPr>
            <a:normAutofit/>
          </a:bodyPr>
          <a:lstStyle/>
          <a:p>
            <a:r>
              <a:rPr lang="en-US" dirty="0"/>
              <a:t>Types of </a:t>
            </a:r>
            <a:r>
              <a:rPr lang="en-US" dirty="0" err="1"/>
              <a:t>Clusterings</a:t>
            </a:r>
            <a:endParaRPr lang="en-US" dirty="0"/>
          </a:p>
        </p:txBody>
      </p:sp>
      <p:sp>
        <p:nvSpPr>
          <p:cNvPr id="1538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001000" cy="5106988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A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clustering </a:t>
            </a:r>
            <a:r>
              <a:rPr lang="en-US" dirty="0"/>
              <a:t>is a set of </a:t>
            </a:r>
            <a:r>
              <a:rPr lang="en-US" dirty="0">
                <a:solidFill>
                  <a:srgbClr val="0070C0"/>
                </a:solidFill>
              </a:rPr>
              <a:t>clusters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20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Important distinction between </a:t>
            </a:r>
            <a:r>
              <a:rPr lang="en-US" dirty="0">
                <a:solidFill>
                  <a:srgbClr val="0070C0"/>
                </a:solidFill>
              </a:rPr>
              <a:t>hierarchical </a:t>
            </a:r>
            <a:r>
              <a:rPr lang="en-US" dirty="0"/>
              <a:t>and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partitional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sets of clusters </a:t>
            </a:r>
            <a:endParaRPr lang="en-US" dirty="0">
              <a:solidFill>
                <a:srgbClr val="FFCC00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1200" dirty="0">
              <a:solidFill>
                <a:srgbClr val="FFCC00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Partitional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Clustering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A division data objects into subsets (</a:t>
            </a:r>
            <a:r>
              <a:rPr lang="en-US" dirty="0">
                <a:solidFill>
                  <a:srgbClr val="FF0000"/>
                </a:solidFill>
              </a:rPr>
              <a:t>clusters</a:t>
            </a:r>
            <a:r>
              <a:rPr lang="en-US" dirty="0"/>
              <a:t>) such that each data object is in exactly one subset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endParaRPr lang="en-US" sz="1000" dirty="0">
              <a:solidFill>
                <a:srgbClr val="FFCC00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dirty="0">
                <a:solidFill>
                  <a:srgbClr val="0070C0"/>
                </a:solidFill>
              </a:rPr>
              <a:t>Hierarchical</a:t>
            </a:r>
            <a:r>
              <a:rPr lang="en-US" dirty="0"/>
              <a:t> clustering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A set of nested clusters organized as a hierarchical tree </a:t>
            </a:r>
          </a:p>
        </p:txBody>
      </p:sp>
    </p:spTree>
    <p:extLst>
      <p:ext uri="{BB962C8B-B14F-4D97-AF65-F5344CB8AC3E}">
        <p14:creationId xmlns:p14="http://schemas.microsoft.com/office/powerpoint/2010/main" val="2709534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0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280400" cy="1143000"/>
          </a:xfrm>
        </p:spPr>
        <p:txBody>
          <a:bodyPr>
            <a:normAutofit/>
          </a:bodyPr>
          <a:lstStyle/>
          <a:p>
            <a:r>
              <a:rPr lang="en-US" dirty="0" err="1"/>
              <a:t>Partitional</a:t>
            </a:r>
            <a:r>
              <a:rPr lang="en-US" dirty="0"/>
              <a:t> Clustering</a:t>
            </a:r>
          </a:p>
        </p:txBody>
      </p:sp>
      <p:sp>
        <p:nvSpPr>
          <p:cNvPr id="1539076" name="Freeform 4"/>
          <p:cNvSpPr>
            <a:spLocks/>
          </p:cNvSpPr>
          <p:nvPr/>
        </p:nvSpPr>
        <p:spPr bwMode="auto">
          <a:xfrm>
            <a:off x="1254125" y="2989262"/>
            <a:ext cx="96838" cy="101600"/>
          </a:xfrm>
          <a:custGeom>
            <a:avLst/>
            <a:gdLst>
              <a:gd name="T0" fmla="*/ 61 w 61"/>
              <a:gd name="T1" fmla="*/ 30 h 64"/>
              <a:gd name="T2" fmla="*/ 55 w 61"/>
              <a:gd name="T3" fmla="*/ 49 h 64"/>
              <a:gd name="T4" fmla="*/ 43 w 61"/>
              <a:gd name="T5" fmla="*/ 61 h 64"/>
              <a:gd name="T6" fmla="*/ 24 w 61"/>
              <a:gd name="T7" fmla="*/ 64 h 64"/>
              <a:gd name="T8" fmla="*/ 9 w 61"/>
              <a:gd name="T9" fmla="*/ 55 h 64"/>
              <a:gd name="T10" fmla="*/ 0 w 61"/>
              <a:gd name="T11" fmla="*/ 39 h 64"/>
              <a:gd name="T12" fmla="*/ 0 w 61"/>
              <a:gd name="T13" fmla="*/ 24 h 64"/>
              <a:gd name="T14" fmla="*/ 9 w 61"/>
              <a:gd name="T15" fmla="*/ 9 h 64"/>
              <a:gd name="T16" fmla="*/ 24 w 61"/>
              <a:gd name="T17" fmla="*/ 0 h 64"/>
              <a:gd name="T18" fmla="*/ 43 w 61"/>
              <a:gd name="T19" fmla="*/ 3 h 64"/>
              <a:gd name="T20" fmla="*/ 55 w 61"/>
              <a:gd name="T21" fmla="*/ 15 h 64"/>
              <a:gd name="T22" fmla="*/ 61 w 61"/>
              <a:gd name="T23" fmla="*/ 3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1" h="64">
                <a:moveTo>
                  <a:pt x="61" y="30"/>
                </a:moveTo>
                <a:lnTo>
                  <a:pt x="55" y="49"/>
                </a:lnTo>
                <a:lnTo>
                  <a:pt x="43" y="61"/>
                </a:lnTo>
                <a:lnTo>
                  <a:pt x="24" y="64"/>
                </a:lnTo>
                <a:lnTo>
                  <a:pt x="9" y="55"/>
                </a:lnTo>
                <a:lnTo>
                  <a:pt x="0" y="39"/>
                </a:lnTo>
                <a:lnTo>
                  <a:pt x="0" y="24"/>
                </a:lnTo>
                <a:lnTo>
                  <a:pt x="9" y="9"/>
                </a:lnTo>
                <a:lnTo>
                  <a:pt x="24" y="0"/>
                </a:lnTo>
                <a:lnTo>
                  <a:pt x="43" y="3"/>
                </a:lnTo>
                <a:lnTo>
                  <a:pt x="55" y="15"/>
                </a:lnTo>
                <a:lnTo>
                  <a:pt x="61" y="30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9077" name="Freeform 5"/>
          <p:cNvSpPr>
            <a:spLocks/>
          </p:cNvSpPr>
          <p:nvPr/>
        </p:nvSpPr>
        <p:spPr bwMode="auto">
          <a:xfrm>
            <a:off x="1254125" y="3187700"/>
            <a:ext cx="96838" cy="98425"/>
          </a:xfrm>
          <a:custGeom>
            <a:avLst/>
            <a:gdLst>
              <a:gd name="T0" fmla="*/ 61 w 61"/>
              <a:gd name="T1" fmla="*/ 31 h 62"/>
              <a:gd name="T2" fmla="*/ 55 w 61"/>
              <a:gd name="T3" fmla="*/ 49 h 62"/>
              <a:gd name="T4" fmla="*/ 43 w 61"/>
              <a:gd name="T5" fmla="*/ 62 h 62"/>
              <a:gd name="T6" fmla="*/ 24 w 61"/>
              <a:gd name="T7" fmla="*/ 62 h 62"/>
              <a:gd name="T8" fmla="*/ 9 w 61"/>
              <a:gd name="T9" fmla="*/ 55 h 62"/>
              <a:gd name="T10" fmla="*/ 0 w 61"/>
              <a:gd name="T11" fmla="*/ 40 h 62"/>
              <a:gd name="T12" fmla="*/ 0 w 61"/>
              <a:gd name="T13" fmla="*/ 22 h 62"/>
              <a:gd name="T14" fmla="*/ 9 w 61"/>
              <a:gd name="T15" fmla="*/ 9 h 62"/>
              <a:gd name="T16" fmla="*/ 24 w 61"/>
              <a:gd name="T17" fmla="*/ 0 h 62"/>
              <a:gd name="T18" fmla="*/ 43 w 61"/>
              <a:gd name="T19" fmla="*/ 3 h 62"/>
              <a:gd name="T20" fmla="*/ 55 w 61"/>
              <a:gd name="T21" fmla="*/ 16 h 62"/>
              <a:gd name="T22" fmla="*/ 61 w 61"/>
              <a:gd name="T23" fmla="*/ 31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1" h="62">
                <a:moveTo>
                  <a:pt x="61" y="31"/>
                </a:moveTo>
                <a:lnTo>
                  <a:pt x="55" y="49"/>
                </a:lnTo>
                <a:lnTo>
                  <a:pt x="43" y="62"/>
                </a:lnTo>
                <a:lnTo>
                  <a:pt x="24" y="62"/>
                </a:lnTo>
                <a:lnTo>
                  <a:pt x="9" y="55"/>
                </a:lnTo>
                <a:lnTo>
                  <a:pt x="0" y="40"/>
                </a:lnTo>
                <a:lnTo>
                  <a:pt x="0" y="22"/>
                </a:lnTo>
                <a:lnTo>
                  <a:pt x="9" y="9"/>
                </a:lnTo>
                <a:lnTo>
                  <a:pt x="24" y="0"/>
                </a:lnTo>
                <a:lnTo>
                  <a:pt x="43" y="3"/>
                </a:lnTo>
                <a:lnTo>
                  <a:pt x="55" y="16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9078" name="Freeform 6"/>
          <p:cNvSpPr>
            <a:spLocks/>
          </p:cNvSpPr>
          <p:nvPr/>
        </p:nvSpPr>
        <p:spPr bwMode="auto">
          <a:xfrm>
            <a:off x="1951038" y="5183187"/>
            <a:ext cx="96837" cy="98425"/>
          </a:xfrm>
          <a:custGeom>
            <a:avLst/>
            <a:gdLst>
              <a:gd name="T0" fmla="*/ 61 w 61"/>
              <a:gd name="T1" fmla="*/ 31 h 62"/>
              <a:gd name="T2" fmla="*/ 55 w 61"/>
              <a:gd name="T3" fmla="*/ 46 h 62"/>
              <a:gd name="T4" fmla="*/ 43 w 61"/>
              <a:gd name="T5" fmla="*/ 59 h 62"/>
              <a:gd name="T6" fmla="*/ 24 w 61"/>
              <a:gd name="T7" fmla="*/ 62 h 62"/>
              <a:gd name="T8" fmla="*/ 9 w 61"/>
              <a:gd name="T9" fmla="*/ 53 h 62"/>
              <a:gd name="T10" fmla="*/ 0 w 61"/>
              <a:gd name="T11" fmla="*/ 40 h 62"/>
              <a:gd name="T12" fmla="*/ 0 w 61"/>
              <a:gd name="T13" fmla="*/ 22 h 62"/>
              <a:gd name="T14" fmla="*/ 9 w 61"/>
              <a:gd name="T15" fmla="*/ 7 h 62"/>
              <a:gd name="T16" fmla="*/ 24 w 61"/>
              <a:gd name="T17" fmla="*/ 0 h 62"/>
              <a:gd name="T18" fmla="*/ 43 w 61"/>
              <a:gd name="T19" fmla="*/ 0 h 62"/>
              <a:gd name="T20" fmla="*/ 55 w 61"/>
              <a:gd name="T21" fmla="*/ 13 h 62"/>
              <a:gd name="T22" fmla="*/ 61 w 61"/>
              <a:gd name="T23" fmla="*/ 31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1" h="62">
                <a:moveTo>
                  <a:pt x="61" y="31"/>
                </a:moveTo>
                <a:lnTo>
                  <a:pt x="55" y="46"/>
                </a:lnTo>
                <a:lnTo>
                  <a:pt x="43" y="59"/>
                </a:lnTo>
                <a:lnTo>
                  <a:pt x="24" y="62"/>
                </a:lnTo>
                <a:lnTo>
                  <a:pt x="9" y="53"/>
                </a:lnTo>
                <a:lnTo>
                  <a:pt x="0" y="40"/>
                </a:lnTo>
                <a:lnTo>
                  <a:pt x="0" y="22"/>
                </a:lnTo>
                <a:lnTo>
                  <a:pt x="9" y="7"/>
                </a:lnTo>
                <a:lnTo>
                  <a:pt x="24" y="0"/>
                </a:lnTo>
                <a:lnTo>
                  <a:pt x="43" y="0"/>
                </a:lnTo>
                <a:lnTo>
                  <a:pt x="55" y="13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9079" name="Freeform 7"/>
          <p:cNvSpPr>
            <a:spLocks/>
          </p:cNvSpPr>
          <p:nvPr/>
        </p:nvSpPr>
        <p:spPr bwMode="auto">
          <a:xfrm>
            <a:off x="1550988" y="3090862"/>
            <a:ext cx="96837" cy="96838"/>
          </a:xfrm>
          <a:custGeom>
            <a:avLst/>
            <a:gdLst>
              <a:gd name="T0" fmla="*/ 61 w 61"/>
              <a:gd name="T1" fmla="*/ 31 h 61"/>
              <a:gd name="T2" fmla="*/ 58 w 61"/>
              <a:gd name="T3" fmla="*/ 46 h 61"/>
              <a:gd name="T4" fmla="*/ 43 w 61"/>
              <a:gd name="T5" fmla="*/ 58 h 61"/>
              <a:gd name="T6" fmla="*/ 25 w 61"/>
              <a:gd name="T7" fmla="*/ 61 h 61"/>
              <a:gd name="T8" fmla="*/ 9 w 61"/>
              <a:gd name="T9" fmla="*/ 55 h 61"/>
              <a:gd name="T10" fmla="*/ 0 w 61"/>
              <a:gd name="T11" fmla="*/ 40 h 61"/>
              <a:gd name="T12" fmla="*/ 0 w 61"/>
              <a:gd name="T13" fmla="*/ 21 h 61"/>
              <a:gd name="T14" fmla="*/ 9 w 61"/>
              <a:gd name="T15" fmla="*/ 6 h 61"/>
              <a:gd name="T16" fmla="*/ 25 w 61"/>
              <a:gd name="T17" fmla="*/ 0 h 61"/>
              <a:gd name="T18" fmla="*/ 43 w 61"/>
              <a:gd name="T19" fmla="*/ 3 h 61"/>
              <a:gd name="T20" fmla="*/ 58 w 61"/>
              <a:gd name="T21" fmla="*/ 12 h 61"/>
              <a:gd name="T22" fmla="*/ 61 w 61"/>
              <a:gd name="T23" fmla="*/ 31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1" h="61">
                <a:moveTo>
                  <a:pt x="61" y="31"/>
                </a:moveTo>
                <a:lnTo>
                  <a:pt x="58" y="46"/>
                </a:lnTo>
                <a:lnTo>
                  <a:pt x="43" y="58"/>
                </a:lnTo>
                <a:lnTo>
                  <a:pt x="25" y="61"/>
                </a:lnTo>
                <a:lnTo>
                  <a:pt x="9" y="55"/>
                </a:lnTo>
                <a:lnTo>
                  <a:pt x="0" y="40"/>
                </a:lnTo>
                <a:lnTo>
                  <a:pt x="0" y="21"/>
                </a:lnTo>
                <a:lnTo>
                  <a:pt x="9" y="6"/>
                </a:lnTo>
                <a:lnTo>
                  <a:pt x="25" y="0"/>
                </a:lnTo>
                <a:lnTo>
                  <a:pt x="43" y="3"/>
                </a:lnTo>
                <a:lnTo>
                  <a:pt x="58" y="12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9080" name="Freeform 8"/>
          <p:cNvSpPr>
            <a:spLocks/>
          </p:cNvSpPr>
          <p:nvPr/>
        </p:nvSpPr>
        <p:spPr bwMode="auto">
          <a:xfrm>
            <a:off x="1951038" y="4386262"/>
            <a:ext cx="96837" cy="96838"/>
          </a:xfrm>
          <a:custGeom>
            <a:avLst/>
            <a:gdLst>
              <a:gd name="T0" fmla="*/ 61 w 61"/>
              <a:gd name="T1" fmla="*/ 30 h 61"/>
              <a:gd name="T2" fmla="*/ 55 w 61"/>
              <a:gd name="T3" fmla="*/ 46 h 61"/>
              <a:gd name="T4" fmla="*/ 43 w 61"/>
              <a:gd name="T5" fmla="*/ 58 h 61"/>
              <a:gd name="T6" fmla="*/ 24 w 61"/>
              <a:gd name="T7" fmla="*/ 61 h 61"/>
              <a:gd name="T8" fmla="*/ 9 w 61"/>
              <a:gd name="T9" fmla="*/ 55 h 61"/>
              <a:gd name="T10" fmla="*/ 0 w 61"/>
              <a:gd name="T11" fmla="*/ 39 h 61"/>
              <a:gd name="T12" fmla="*/ 0 w 61"/>
              <a:gd name="T13" fmla="*/ 21 h 61"/>
              <a:gd name="T14" fmla="*/ 9 w 61"/>
              <a:gd name="T15" fmla="*/ 6 h 61"/>
              <a:gd name="T16" fmla="*/ 24 w 61"/>
              <a:gd name="T17" fmla="*/ 0 h 61"/>
              <a:gd name="T18" fmla="*/ 43 w 61"/>
              <a:gd name="T19" fmla="*/ 3 h 61"/>
              <a:gd name="T20" fmla="*/ 55 w 61"/>
              <a:gd name="T21" fmla="*/ 12 h 61"/>
              <a:gd name="T22" fmla="*/ 61 w 61"/>
              <a:gd name="T23" fmla="*/ 30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1" h="61">
                <a:moveTo>
                  <a:pt x="61" y="30"/>
                </a:moveTo>
                <a:lnTo>
                  <a:pt x="55" y="46"/>
                </a:lnTo>
                <a:lnTo>
                  <a:pt x="43" y="58"/>
                </a:lnTo>
                <a:lnTo>
                  <a:pt x="24" y="61"/>
                </a:lnTo>
                <a:lnTo>
                  <a:pt x="9" y="55"/>
                </a:lnTo>
                <a:lnTo>
                  <a:pt x="0" y="39"/>
                </a:lnTo>
                <a:lnTo>
                  <a:pt x="0" y="21"/>
                </a:lnTo>
                <a:lnTo>
                  <a:pt x="9" y="6"/>
                </a:lnTo>
                <a:lnTo>
                  <a:pt x="24" y="0"/>
                </a:lnTo>
                <a:lnTo>
                  <a:pt x="43" y="3"/>
                </a:lnTo>
                <a:lnTo>
                  <a:pt x="55" y="12"/>
                </a:lnTo>
                <a:lnTo>
                  <a:pt x="61" y="30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9081" name="Freeform 9"/>
          <p:cNvSpPr>
            <a:spLocks/>
          </p:cNvSpPr>
          <p:nvPr/>
        </p:nvSpPr>
        <p:spPr bwMode="auto">
          <a:xfrm>
            <a:off x="2120900" y="2297112"/>
            <a:ext cx="98425" cy="98425"/>
          </a:xfrm>
          <a:custGeom>
            <a:avLst/>
            <a:gdLst>
              <a:gd name="T0" fmla="*/ 62 w 62"/>
              <a:gd name="T1" fmla="*/ 31 h 62"/>
              <a:gd name="T2" fmla="*/ 56 w 62"/>
              <a:gd name="T3" fmla="*/ 46 h 62"/>
              <a:gd name="T4" fmla="*/ 43 w 62"/>
              <a:gd name="T5" fmla="*/ 58 h 62"/>
              <a:gd name="T6" fmla="*/ 25 w 62"/>
              <a:gd name="T7" fmla="*/ 62 h 62"/>
              <a:gd name="T8" fmla="*/ 9 w 62"/>
              <a:gd name="T9" fmla="*/ 55 h 62"/>
              <a:gd name="T10" fmla="*/ 0 w 62"/>
              <a:gd name="T11" fmla="*/ 40 h 62"/>
              <a:gd name="T12" fmla="*/ 0 w 62"/>
              <a:gd name="T13" fmla="*/ 22 h 62"/>
              <a:gd name="T14" fmla="*/ 9 w 62"/>
              <a:gd name="T15" fmla="*/ 6 h 62"/>
              <a:gd name="T16" fmla="*/ 25 w 62"/>
              <a:gd name="T17" fmla="*/ 0 h 62"/>
              <a:gd name="T18" fmla="*/ 43 w 62"/>
              <a:gd name="T19" fmla="*/ 3 h 62"/>
              <a:gd name="T20" fmla="*/ 56 w 62"/>
              <a:gd name="T21" fmla="*/ 12 h 62"/>
              <a:gd name="T22" fmla="*/ 62 w 62"/>
              <a:gd name="T23" fmla="*/ 31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2" h="62">
                <a:moveTo>
                  <a:pt x="62" y="31"/>
                </a:moveTo>
                <a:lnTo>
                  <a:pt x="56" y="46"/>
                </a:lnTo>
                <a:lnTo>
                  <a:pt x="43" y="58"/>
                </a:lnTo>
                <a:lnTo>
                  <a:pt x="25" y="62"/>
                </a:lnTo>
                <a:lnTo>
                  <a:pt x="9" y="55"/>
                </a:lnTo>
                <a:lnTo>
                  <a:pt x="0" y="40"/>
                </a:lnTo>
                <a:lnTo>
                  <a:pt x="0" y="22"/>
                </a:lnTo>
                <a:lnTo>
                  <a:pt x="9" y="6"/>
                </a:lnTo>
                <a:lnTo>
                  <a:pt x="25" y="0"/>
                </a:lnTo>
                <a:lnTo>
                  <a:pt x="43" y="3"/>
                </a:lnTo>
                <a:lnTo>
                  <a:pt x="56" y="12"/>
                </a:lnTo>
                <a:lnTo>
                  <a:pt x="62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9082" name="Freeform 10"/>
          <p:cNvSpPr>
            <a:spLocks/>
          </p:cNvSpPr>
          <p:nvPr/>
        </p:nvSpPr>
        <p:spPr bwMode="auto">
          <a:xfrm>
            <a:off x="2351088" y="2492375"/>
            <a:ext cx="96837" cy="96837"/>
          </a:xfrm>
          <a:custGeom>
            <a:avLst/>
            <a:gdLst>
              <a:gd name="T0" fmla="*/ 61 w 61"/>
              <a:gd name="T1" fmla="*/ 31 h 61"/>
              <a:gd name="T2" fmla="*/ 55 w 61"/>
              <a:gd name="T3" fmla="*/ 49 h 61"/>
              <a:gd name="T4" fmla="*/ 43 w 61"/>
              <a:gd name="T5" fmla="*/ 58 h 61"/>
              <a:gd name="T6" fmla="*/ 24 w 61"/>
              <a:gd name="T7" fmla="*/ 61 h 61"/>
              <a:gd name="T8" fmla="*/ 9 w 61"/>
              <a:gd name="T9" fmla="*/ 55 h 61"/>
              <a:gd name="T10" fmla="*/ 0 w 61"/>
              <a:gd name="T11" fmla="*/ 40 h 61"/>
              <a:gd name="T12" fmla="*/ 0 w 61"/>
              <a:gd name="T13" fmla="*/ 21 h 61"/>
              <a:gd name="T14" fmla="*/ 9 w 61"/>
              <a:gd name="T15" fmla="*/ 6 h 61"/>
              <a:gd name="T16" fmla="*/ 24 w 61"/>
              <a:gd name="T17" fmla="*/ 0 h 61"/>
              <a:gd name="T18" fmla="*/ 43 w 61"/>
              <a:gd name="T19" fmla="*/ 3 h 61"/>
              <a:gd name="T20" fmla="*/ 55 w 61"/>
              <a:gd name="T21" fmla="*/ 15 h 61"/>
              <a:gd name="T22" fmla="*/ 61 w 61"/>
              <a:gd name="T23" fmla="*/ 31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1" h="61">
                <a:moveTo>
                  <a:pt x="61" y="31"/>
                </a:moveTo>
                <a:lnTo>
                  <a:pt x="55" y="49"/>
                </a:lnTo>
                <a:lnTo>
                  <a:pt x="43" y="58"/>
                </a:lnTo>
                <a:lnTo>
                  <a:pt x="24" y="61"/>
                </a:lnTo>
                <a:lnTo>
                  <a:pt x="9" y="55"/>
                </a:lnTo>
                <a:lnTo>
                  <a:pt x="0" y="40"/>
                </a:lnTo>
                <a:lnTo>
                  <a:pt x="0" y="21"/>
                </a:lnTo>
                <a:lnTo>
                  <a:pt x="9" y="6"/>
                </a:lnTo>
                <a:lnTo>
                  <a:pt x="24" y="0"/>
                </a:lnTo>
                <a:lnTo>
                  <a:pt x="43" y="3"/>
                </a:lnTo>
                <a:lnTo>
                  <a:pt x="55" y="15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9083" name="Freeform 11"/>
          <p:cNvSpPr>
            <a:spLocks/>
          </p:cNvSpPr>
          <p:nvPr/>
        </p:nvSpPr>
        <p:spPr bwMode="auto">
          <a:xfrm>
            <a:off x="2447925" y="2789237"/>
            <a:ext cx="96838" cy="101600"/>
          </a:xfrm>
          <a:custGeom>
            <a:avLst/>
            <a:gdLst>
              <a:gd name="T0" fmla="*/ 61 w 61"/>
              <a:gd name="T1" fmla="*/ 31 h 64"/>
              <a:gd name="T2" fmla="*/ 58 w 61"/>
              <a:gd name="T3" fmla="*/ 49 h 64"/>
              <a:gd name="T4" fmla="*/ 43 w 61"/>
              <a:gd name="T5" fmla="*/ 61 h 64"/>
              <a:gd name="T6" fmla="*/ 28 w 61"/>
              <a:gd name="T7" fmla="*/ 64 h 64"/>
              <a:gd name="T8" fmla="*/ 9 w 61"/>
              <a:gd name="T9" fmla="*/ 55 h 64"/>
              <a:gd name="T10" fmla="*/ 0 w 61"/>
              <a:gd name="T11" fmla="*/ 40 h 64"/>
              <a:gd name="T12" fmla="*/ 0 w 61"/>
              <a:gd name="T13" fmla="*/ 24 h 64"/>
              <a:gd name="T14" fmla="*/ 9 w 61"/>
              <a:gd name="T15" fmla="*/ 9 h 64"/>
              <a:gd name="T16" fmla="*/ 28 w 61"/>
              <a:gd name="T17" fmla="*/ 0 h 64"/>
              <a:gd name="T18" fmla="*/ 43 w 61"/>
              <a:gd name="T19" fmla="*/ 3 h 64"/>
              <a:gd name="T20" fmla="*/ 58 w 61"/>
              <a:gd name="T21" fmla="*/ 15 h 64"/>
              <a:gd name="T22" fmla="*/ 61 w 61"/>
              <a:gd name="T23" fmla="*/ 31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1" h="64">
                <a:moveTo>
                  <a:pt x="61" y="31"/>
                </a:moveTo>
                <a:lnTo>
                  <a:pt x="58" y="49"/>
                </a:lnTo>
                <a:lnTo>
                  <a:pt x="43" y="61"/>
                </a:lnTo>
                <a:lnTo>
                  <a:pt x="28" y="64"/>
                </a:lnTo>
                <a:lnTo>
                  <a:pt x="9" y="55"/>
                </a:lnTo>
                <a:lnTo>
                  <a:pt x="0" y="40"/>
                </a:lnTo>
                <a:lnTo>
                  <a:pt x="0" y="24"/>
                </a:lnTo>
                <a:lnTo>
                  <a:pt x="9" y="9"/>
                </a:lnTo>
                <a:lnTo>
                  <a:pt x="28" y="0"/>
                </a:lnTo>
                <a:lnTo>
                  <a:pt x="43" y="3"/>
                </a:lnTo>
                <a:lnTo>
                  <a:pt x="58" y="15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9084" name="Freeform 12"/>
          <p:cNvSpPr>
            <a:spLocks/>
          </p:cNvSpPr>
          <p:nvPr/>
        </p:nvSpPr>
        <p:spPr bwMode="auto">
          <a:xfrm>
            <a:off x="2847975" y="2789237"/>
            <a:ext cx="96838" cy="101600"/>
          </a:xfrm>
          <a:custGeom>
            <a:avLst/>
            <a:gdLst>
              <a:gd name="T0" fmla="*/ 61 w 61"/>
              <a:gd name="T1" fmla="*/ 31 h 64"/>
              <a:gd name="T2" fmla="*/ 58 w 61"/>
              <a:gd name="T3" fmla="*/ 49 h 64"/>
              <a:gd name="T4" fmla="*/ 43 w 61"/>
              <a:gd name="T5" fmla="*/ 61 h 64"/>
              <a:gd name="T6" fmla="*/ 27 w 61"/>
              <a:gd name="T7" fmla="*/ 64 h 64"/>
              <a:gd name="T8" fmla="*/ 9 w 61"/>
              <a:gd name="T9" fmla="*/ 55 h 64"/>
              <a:gd name="T10" fmla="*/ 0 w 61"/>
              <a:gd name="T11" fmla="*/ 40 h 64"/>
              <a:gd name="T12" fmla="*/ 0 w 61"/>
              <a:gd name="T13" fmla="*/ 24 h 64"/>
              <a:gd name="T14" fmla="*/ 9 w 61"/>
              <a:gd name="T15" fmla="*/ 9 h 64"/>
              <a:gd name="T16" fmla="*/ 27 w 61"/>
              <a:gd name="T17" fmla="*/ 0 h 64"/>
              <a:gd name="T18" fmla="*/ 43 w 61"/>
              <a:gd name="T19" fmla="*/ 3 h 64"/>
              <a:gd name="T20" fmla="*/ 58 w 61"/>
              <a:gd name="T21" fmla="*/ 15 h 64"/>
              <a:gd name="T22" fmla="*/ 61 w 61"/>
              <a:gd name="T23" fmla="*/ 31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1" h="64">
                <a:moveTo>
                  <a:pt x="61" y="31"/>
                </a:moveTo>
                <a:lnTo>
                  <a:pt x="58" y="49"/>
                </a:lnTo>
                <a:lnTo>
                  <a:pt x="43" y="61"/>
                </a:lnTo>
                <a:lnTo>
                  <a:pt x="27" y="64"/>
                </a:lnTo>
                <a:lnTo>
                  <a:pt x="9" y="55"/>
                </a:lnTo>
                <a:lnTo>
                  <a:pt x="0" y="40"/>
                </a:lnTo>
                <a:lnTo>
                  <a:pt x="0" y="24"/>
                </a:lnTo>
                <a:lnTo>
                  <a:pt x="9" y="9"/>
                </a:lnTo>
                <a:lnTo>
                  <a:pt x="27" y="0"/>
                </a:lnTo>
                <a:lnTo>
                  <a:pt x="43" y="3"/>
                </a:lnTo>
                <a:lnTo>
                  <a:pt x="58" y="15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9085" name="Freeform 13"/>
          <p:cNvSpPr>
            <a:spLocks/>
          </p:cNvSpPr>
          <p:nvPr/>
        </p:nvSpPr>
        <p:spPr bwMode="auto">
          <a:xfrm>
            <a:off x="2647950" y="2589212"/>
            <a:ext cx="96838" cy="103188"/>
          </a:xfrm>
          <a:custGeom>
            <a:avLst/>
            <a:gdLst>
              <a:gd name="T0" fmla="*/ 61 w 61"/>
              <a:gd name="T1" fmla="*/ 34 h 65"/>
              <a:gd name="T2" fmla="*/ 58 w 61"/>
              <a:gd name="T3" fmla="*/ 49 h 65"/>
              <a:gd name="T4" fmla="*/ 43 w 61"/>
              <a:gd name="T5" fmla="*/ 61 h 65"/>
              <a:gd name="T6" fmla="*/ 28 w 61"/>
              <a:gd name="T7" fmla="*/ 65 h 65"/>
              <a:gd name="T8" fmla="*/ 9 w 61"/>
              <a:gd name="T9" fmla="*/ 55 h 65"/>
              <a:gd name="T10" fmla="*/ 0 w 61"/>
              <a:gd name="T11" fmla="*/ 40 h 65"/>
              <a:gd name="T12" fmla="*/ 0 w 61"/>
              <a:gd name="T13" fmla="*/ 25 h 65"/>
              <a:gd name="T14" fmla="*/ 9 w 61"/>
              <a:gd name="T15" fmla="*/ 9 h 65"/>
              <a:gd name="T16" fmla="*/ 28 w 61"/>
              <a:gd name="T17" fmla="*/ 0 h 65"/>
              <a:gd name="T18" fmla="*/ 43 w 61"/>
              <a:gd name="T19" fmla="*/ 3 h 65"/>
              <a:gd name="T20" fmla="*/ 58 w 61"/>
              <a:gd name="T21" fmla="*/ 16 h 65"/>
              <a:gd name="T22" fmla="*/ 61 w 61"/>
              <a:gd name="T23" fmla="*/ 34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1" h="65">
                <a:moveTo>
                  <a:pt x="61" y="34"/>
                </a:moveTo>
                <a:lnTo>
                  <a:pt x="58" y="49"/>
                </a:lnTo>
                <a:lnTo>
                  <a:pt x="43" y="61"/>
                </a:lnTo>
                <a:lnTo>
                  <a:pt x="28" y="65"/>
                </a:lnTo>
                <a:lnTo>
                  <a:pt x="9" y="55"/>
                </a:lnTo>
                <a:lnTo>
                  <a:pt x="0" y="40"/>
                </a:lnTo>
                <a:lnTo>
                  <a:pt x="0" y="25"/>
                </a:lnTo>
                <a:lnTo>
                  <a:pt x="9" y="9"/>
                </a:lnTo>
                <a:lnTo>
                  <a:pt x="28" y="0"/>
                </a:lnTo>
                <a:lnTo>
                  <a:pt x="43" y="3"/>
                </a:lnTo>
                <a:lnTo>
                  <a:pt x="58" y="16"/>
                </a:lnTo>
                <a:lnTo>
                  <a:pt x="61" y="34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9086" name="Freeform 14"/>
          <p:cNvSpPr>
            <a:spLocks/>
          </p:cNvSpPr>
          <p:nvPr/>
        </p:nvSpPr>
        <p:spPr bwMode="auto">
          <a:xfrm>
            <a:off x="2647950" y="2195512"/>
            <a:ext cx="96838" cy="96838"/>
          </a:xfrm>
          <a:custGeom>
            <a:avLst/>
            <a:gdLst>
              <a:gd name="T0" fmla="*/ 61 w 61"/>
              <a:gd name="T1" fmla="*/ 30 h 61"/>
              <a:gd name="T2" fmla="*/ 58 w 61"/>
              <a:gd name="T3" fmla="*/ 49 h 61"/>
              <a:gd name="T4" fmla="*/ 43 w 61"/>
              <a:gd name="T5" fmla="*/ 61 h 61"/>
              <a:gd name="T6" fmla="*/ 28 w 61"/>
              <a:gd name="T7" fmla="*/ 61 h 61"/>
              <a:gd name="T8" fmla="*/ 9 w 61"/>
              <a:gd name="T9" fmla="*/ 55 h 61"/>
              <a:gd name="T10" fmla="*/ 0 w 61"/>
              <a:gd name="T11" fmla="*/ 40 h 61"/>
              <a:gd name="T12" fmla="*/ 0 w 61"/>
              <a:gd name="T13" fmla="*/ 21 h 61"/>
              <a:gd name="T14" fmla="*/ 9 w 61"/>
              <a:gd name="T15" fmla="*/ 9 h 61"/>
              <a:gd name="T16" fmla="*/ 28 w 61"/>
              <a:gd name="T17" fmla="*/ 0 h 61"/>
              <a:gd name="T18" fmla="*/ 43 w 61"/>
              <a:gd name="T19" fmla="*/ 3 h 61"/>
              <a:gd name="T20" fmla="*/ 58 w 61"/>
              <a:gd name="T21" fmla="*/ 15 h 61"/>
              <a:gd name="T22" fmla="*/ 61 w 61"/>
              <a:gd name="T23" fmla="*/ 30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1" h="61">
                <a:moveTo>
                  <a:pt x="61" y="30"/>
                </a:moveTo>
                <a:lnTo>
                  <a:pt x="58" y="49"/>
                </a:lnTo>
                <a:lnTo>
                  <a:pt x="43" y="61"/>
                </a:lnTo>
                <a:lnTo>
                  <a:pt x="28" y="61"/>
                </a:lnTo>
                <a:lnTo>
                  <a:pt x="9" y="55"/>
                </a:lnTo>
                <a:lnTo>
                  <a:pt x="0" y="40"/>
                </a:lnTo>
                <a:lnTo>
                  <a:pt x="0" y="21"/>
                </a:lnTo>
                <a:lnTo>
                  <a:pt x="9" y="9"/>
                </a:lnTo>
                <a:lnTo>
                  <a:pt x="28" y="0"/>
                </a:lnTo>
                <a:lnTo>
                  <a:pt x="43" y="3"/>
                </a:lnTo>
                <a:lnTo>
                  <a:pt x="58" y="15"/>
                </a:lnTo>
                <a:lnTo>
                  <a:pt x="61" y="30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9087" name="Freeform 15"/>
          <p:cNvSpPr>
            <a:spLocks/>
          </p:cNvSpPr>
          <p:nvPr/>
        </p:nvSpPr>
        <p:spPr bwMode="auto">
          <a:xfrm>
            <a:off x="3344863" y="5183187"/>
            <a:ext cx="103187" cy="98425"/>
          </a:xfrm>
          <a:custGeom>
            <a:avLst/>
            <a:gdLst>
              <a:gd name="T0" fmla="*/ 65 w 65"/>
              <a:gd name="T1" fmla="*/ 31 h 62"/>
              <a:gd name="T2" fmla="*/ 58 w 65"/>
              <a:gd name="T3" fmla="*/ 46 h 62"/>
              <a:gd name="T4" fmla="*/ 46 w 65"/>
              <a:gd name="T5" fmla="*/ 59 h 62"/>
              <a:gd name="T6" fmla="*/ 28 w 65"/>
              <a:gd name="T7" fmla="*/ 62 h 62"/>
              <a:gd name="T8" fmla="*/ 12 w 65"/>
              <a:gd name="T9" fmla="*/ 53 h 62"/>
              <a:gd name="T10" fmla="*/ 0 w 65"/>
              <a:gd name="T11" fmla="*/ 40 h 62"/>
              <a:gd name="T12" fmla="*/ 0 w 65"/>
              <a:gd name="T13" fmla="*/ 22 h 62"/>
              <a:gd name="T14" fmla="*/ 12 w 65"/>
              <a:gd name="T15" fmla="*/ 7 h 62"/>
              <a:gd name="T16" fmla="*/ 28 w 65"/>
              <a:gd name="T17" fmla="*/ 0 h 62"/>
              <a:gd name="T18" fmla="*/ 46 w 65"/>
              <a:gd name="T19" fmla="*/ 0 h 62"/>
              <a:gd name="T20" fmla="*/ 58 w 65"/>
              <a:gd name="T21" fmla="*/ 13 h 62"/>
              <a:gd name="T22" fmla="*/ 65 w 65"/>
              <a:gd name="T23" fmla="*/ 31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5" h="62">
                <a:moveTo>
                  <a:pt x="65" y="31"/>
                </a:moveTo>
                <a:lnTo>
                  <a:pt x="58" y="46"/>
                </a:lnTo>
                <a:lnTo>
                  <a:pt x="46" y="59"/>
                </a:lnTo>
                <a:lnTo>
                  <a:pt x="28" y="62"/>
                </a:lnTo>
                <a:lnTo>
                  <a:pt x="12" y="53"/>
                </a:lnTo>
                <a:lnTo>
                  <a:pt x="0" y="40"/>
                </a:lnTo>
                <a:lnTo>
                  <a:pt x="0" y="22"/>
                </a:lnTo>
                <a:lnTo>
                  <a:pt x="12" y="7"/>
                </a:lnTo>
                <a:lnTo>
                  <a:pt x="28" y="0"/>
                </a:lnTo>
                <a:lnTo>
                  <a:pt x="46" y="0"/>
                </a:lnTo>
                <a:lnTo>
                  <a:pt x="58" y="13"/>
                </a:lnTo>
                <a:lnTo>
                  <a:pt x="65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9088" name="Freeform 16"/>
          <p:cNvSpPr>
            <a:spLocks/>
          </p:cNvSpPr>
          <p:nvPr/>
        </p:nvSpPr>
        <p:spPr bwMode="auto">
          <a:xfrm>
            <a:off x="1550988" y="2692400"/>
            <a:ext cx="96837" cy="96837"/>
          </a:xfrm>
          <a:custGeom>
            <a:avLst/>
            <a:gdLst>
              <a:gd name="T0" fmla="*/ 61 w 61"/>
              <a:gd name="T1" fmla="*/ 30 h 61"/>
              <a:gd name="T2" fmla="*/ 58 w 61"/>
              <a:gd name="T3" fmla="*/ 49 h 61"/>
              <a:gd name="T4" fmla="*/ 43 w 61"/>
              <a:gd name="T5" fmla="*/ 58 h 61"/>
              <a:gd name="T6" fmla="*/ 25 w 61"/>
              <a:gd name="T7" fmla="*/ 61 h 61"/>
              <a:gd name="T8" fmla="*/ 9 w 61"/>
              <a:gd name="T9" fmla="*/ 55 h 61"/>
              <a:gd name="T10" fmla="*/ 0 w 61"/>
              <a:gd name="T11" fmla="*/ 39 h 61"/>
              <a:gd name="T12" fmla="*/ 0 w 61"/>
              <a:gd name="T13" fmla="*/ 21 h 61"/>
              <a:gd name="T14" fmla="*/ 9 w 61"/>
              <a:gd name="T15" fmla="*/ 6 h 61"/>
              <a:gd name="T16" fmla="*/ 25 w 61"/>
              <a:gd name="T17" fmla="*/ 0 h 61"/>
              <a:gd name="T18" fmla="*/ 43 w 61"/>
              <a:gd name="T19" fmla="*/ 3 h 61"/>
              <a:gd name="T20" fmla="*/ 58 w 61"/>
              <a:gd name="T21" fmla="*/ 12 h 61"/>
              <a:gd name="T22" fmla="*/ 61 w 61"/>
              <a:gd name="T23" fmla="*/ 30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1" h="61">
                <a:moveTo>
                  <a:pt x="61" y="30"/>
                </a:moveTo>
                <a:lnTo>
                  <a:pt x="58" y="49"/>
                </a:lnTo>
                <a:lnTo>
                  <a:pt x="43" y="58"/>
                </a:lnTo>
                <a:lnTo>
                  <a:pt x="25" y="61"/>
                </a:lnTo>
                <a:lnTo>
                  <a:pt x="9" y="55"/>
                </a:lnTo>
                <a:lnTo>
                  <a:pt x="0" y="39"/>
                </a:lnTo>
                <a:lnTo>
                  <a:pt x="0" y="21"/>
                </a:lnTo>
                <a:lnTo>
                  <a:pt x="9" y="6"/>
                </a:lnTo>
                <a:lnTo>
                  <a:pt x="25" y="0"/>
                </a:lnTo>
                <a:lnTo>
                  <a:pt x="43" y="3"/>
                </a:lnTo>
                <a:lnTo>
                  <a:pt x="58" y="12"/>
                </a:lnTo>
                <a:lnTo>
                  <a:pt x="61" y="30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9089" name="Freeform 17"/>
          <p:cNvSpPr>
            <a:spLocks/>
          </p:cNvSpPr>
          <p:nvPr/>
        </p:nvSpPr>
        <p:spPr bwMode="auto">
          <a:xfrm>
            <a:off x="1223963" y="4881562"/>
            <a:ext cx="98425" cy="98425"/>
          </a:xfrm>
          <a:custGeom>
            <a:avLst/>
            <a:gdLst>
              <a:gd name="T0" fmla="*/ 62 w 62"/>
              <a:gd name="T1" fmla="*/ 31 h 62"/>
              <a:gd name="T2" fmla="*/ 56 w 62"/>
              <a:gd name="T3" fmla="*/ 49 h 62"/>
              <a:gd name="T4" fmla="*/ 43 w 62"/>
              <a:gd name="T5" fmla="*/ 62 h 62"/>
              <a:gd name="T6" fmla="*/ 25 w 62"/>
              <a:gd name="T7" fmla="*/ 62 h 62"/>
              <a:gd name="T8" fmla="*/ 9 w 62"/>
              <a:gd name="T9" fmla="*/ 55 h 62"/>
              <a:gd name="T10" fmla="*/ 0 w 62"/>
              <a:gd name="T11" fmla="*/ 40 h 62"/>
              <a:gd name="T12" fmla="*/ 0 w 62"/>
              <a:gd name="T13" fmla="*/ 22 h 62"/>
              <a:gd name="T14" fmla="*/ 9 w 62"/>
              <a:gd name="T15" fmla="*/ 10 h 62"/>
              <a:gd name="T16" fmla="*/ 25 w 62"/>
              <a:gd name="T17" fmla="*/ 0 h 62"/>
              <a:gd name="T18" fmla="*/ 43 w 62"/>
              <a:gd name="T19" fmla="*/ 3 h 62"/>
              <a:gd name="T20" fmla="*/ 56 w 62"/>
              <a:gd name="T21" fmla="*/ 16 h 62"/>
              <a:gd name="T22" fmla="*/ 62 w 62"/>
              <a:gd name="T23" fmla="*/ 31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2" h="62">
                <a:moveTo>
                  <a:pt x="62" y="31"/>
                </a:moveTo>
                <a:lnTo>
                  <a:pt x="56" y="49"/>
                </a:lnTo>
                <a:lnTo>
                  <a:pt x="43" y="62"/>
                </a:lnTo>
                <a:lnTo>
                  <a:pt x="25" y="62"/>
                </a:lnTo>
                <a:lnTo>
                  <a:pt x="9" y="55"/>
                </a:lnTo>
                <a:lnTo>
                  <a:pt x="0" y="40"/>
                </a:lnTo>
                <a:lnTo>
                  <a:pt x="0" y="22"/>
                </a:lnTo>
                <a:lnTo>
                  <a:pt x="9" y="10"/>
                </a:lnTo>
                <a:lnTo>
                  <a:pt x="25" y="0"/>
                </a:lnTo>
                <a:lnTo>
                  <a:pt x="43" y="3"/>
                </a:lnTo>
                <a:lnTo>
                  <a:pt x="56" y="16"/>
                </a:lnTo>
                <a:lnTo>
                  <a:pt x="62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9090" name="Freeform 18"/>
          <p:cNvSpPr>
            <a:spLocks/>
          </p:cNvSpPr>
          <p:nvPr/>
        </p:nvSpPr>
        <p:spPr bwMode="auto">
          <a:xfrm>
            <a:off x="1254125" y="5480050"/>
            <a:ext cx="96838" cy="98425"/>
          </a:xfrm>
          <a:custGeom>
            <a:avLst/>
            <a:gdLst>
              <a:gd name="T0" fmla="*/ 61 w 61"/>
              <a:gd name="T1" fmla="*/ 31 h 62"/>
              <a:gd name="T2" fmla="*/ 55 w 61"/>
              <a:gd name="T3" fmla="*/ 49 h 62"/>
              <a:gd name="T4" fmla="*/ 43 w 61"/>
              <a:gd name="T5" fmla="*/ 59 h 62"/>
              <a:gd name="T6" fmla="*/ 24 w 61"/>
              <a:gd name="T7" fmla="*/ 62 h 62"/>
              <a:gd name="T8" fmla="*/ 9 w 61"/>
              <a:gd name="T9" fmla="*/ 56 h 62"/>
              <a:gd name="T10" fmla="*/ 0 w 61"/>
              <a:gd name="T11" fmla="*/ 40 h 62"/>
              <a:gd name="T12" fmla="*/ 0 w 61"/>
              <a:gd name="T13" fmla="*/ 22 h 62"/>
              <a:gd name="T14" fmla="*/ 9 w 61"/>
              <a:gd name="T15" fmla="*/ 7 h 62"/>
              <a:gd name="T16" fmla="*/ 24 w 61"/>
              <a:gd name="T17" fmla="*/ 0 h 62"/>
              <a:gd name="T18" fmla="*/ 43 w 61"/>
              <a:gd name="T19" fmla="*/ 3 h 62"/>
              <a:gd name="T20" fmla="*/ 55 w 61"/>
              <a:gd name="T21" fmla="*/ 16 h 62"/>
              <a:gd name="T22" fmla="*/ 61 w 61"/>
              <a:gd name="T23" fmla="*/ 31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1" h="62">
                <a:moveTo>
                  <a:pt x="61" y="31"/>
                </a:moveTo>
                <a:lnTo>
                  <a:pt x="55" y="49"/>
                </a:lnTo>
                <a:lnTo>
                  <a:pt x="43" y="59"/>
                </a:lnTo>
                <a:lnTo>
                  <a:pt x="24" y="62"/>
                </a:lnTo>
                <a:lnTo>
                  <a:pt x="9" y="56"/>
                </a:lnTo>
                <a:lnTo>
                  <a:pt x="0" y="40"/>
                </a:lnTo>
                <a:lnTo>
                  <a:pt x="0" y="22"/>
                </a:lnTo>
                <a:lnTo>
                  <a:pt x="9" y="7"/>
                </a:lnTo>
                <a:lnTo>
                  <a:pt x="24" y="0"/>
                </a:lnTo>
                <a:lnTo>
                  <a:pt x="43" y="3"/>
                </a:lnTo>
                <a:lnTo>
                  <a:pt x="55" y="16"/>
                </a:lnTo>
                <a:lnTo>
                  <a:pt x="61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9091" name="Freeform 19"/>
          <p:cNvSpPr>
            <a:spLocks/>
          </p:cNvSpPr>
          <p:nvPr/>
        </p:nvSpPr>
        <p:spPr bwMode="auto">
          <a:xfrm>
            <a:off x="1720850" y="2462212"/>
            <a:ext cx="98425" cy="98425"/>
          </a:xfrm>
          <a:custGeom>
            <a:avLst/>
            <a:gdLst>
              <a:gd name="T0" fmla="*/ 62 w 62"/>
              <a:gd name="T1" fmla="*/ 31 h 62"/>
              <a:gd name="T2" fmla="*/ 56 w 62"/>
              <a:gd name="T3" fmla="*/ 46 h 62"/>
              <a:gd name="T4" fmla="*/ 43 w 62"/>
              <a:gd name="T5" fmla="*/ 59 h 62"/>
              <a:gd name="T6" fmla="*/ 25 w 62"/>
              <a:gd name="T7" fmla="*/ 62 h 62"/>
              <a:gd name="T8" fmla="*/ 10 w 62"/>
              <a:gd name="T9" fmla="*/ 56 h 62"/>
              <a:gd name="T10" fmla="*/ 0 w 62"/>
              <a:gd name="T11" fmla="*/ 40 h 62"/>
              <a:gd name="T12" fmla="*/ 0 w 62"/>
              <a:gd name="T13" fmla="*/ 22 h 62"/>
              <a:gd name="T14" fmla="*/ 10 w 62"/>
              <a:gd name="T15" fmla="*/ 7 h 62"/>
              <a:gd name="T16" fmla="*/ 25 w 62"/>
              <a:gd name="T17" fmla="*/ 0 h 62"/>
              <a:gd name="T18" fmla="*/ 43 w 62"/>
              <a:gd name="T19" fmla="*/ 4 h 62"/>
              <a:gd name="T20" fmla="*/ 56 w 62"/>
              <a:gd name="T21" fmla="*/ 13 h 62"/>
              <a:gd name="T22" fmla="*/ 62 w 62"/>
              <a:gd name="T23" fmla="*/ 31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2" h="62">
                <a:moveTo>
                  <a:pt x="62" y="31"/>
                </a:moveTo>
                <a:lnTo>
                  <a:pt x="56" y="46"/>
                </a:lnTo>
                <a:lnTo>
                  <a:pt x="43" y="59"/>
                </a:lnTo>
                <a:lnTo>
                  <a:pt x="25" y="62"/>
                </a:lnTo>
                <a:lnTo>
                  <a:pt x="10" y="56"/>
                </a:lnTo>
                <a:lnTo>
                  <a:pt x="0" y="40"/>
                </a:lnTo>
                <a:lnTo>
                  <a:pt x="0" y="22"/>
                </a:lnTo>
                <a:lnTo>
                  <a:pt x="10" y="7"/>
                </a:lnTo>
                <a:lnTo>
                  <a:pt x="25" y="0"/>
                </a:lnTo>
                <a:lnTo>
                  <a:pt x="43" y="4"/>
                </a:lnTo>
                <a:lnTo>
                  <a:pt x="56" y="13"/>
                </a:lnTo>
                <a:lnTo>
                  <a:pt x="62" y="31"/>
                </a:lnTo>
                <a:close/>
              </a:path>
            </a:pathLst>
          </a:custGeom>
          <a:solidFill>
            <a:srgbClr val="000000"/>
          </a:solidFill>
          <a:ln w="4763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9092" name="Text Box 20"/>
          <p:cNvSpPr txBox="1">
            <a:spLocks noChangeArrowheads="1"/>
          </p:cNvSpPr>
          <p:nvPr/>
        </p:nvSpPr>
        <p:spPr bwMode="auto">
          <a:xfrm>
            <a:off x="990600" y="6034087"/>
            <a:ext cx="2362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Original Points</a:t>
            </a:r>
          </a:p>
        </p:txBody>
      </p:sp>
      <p:grpSp>
        <p:nvGrpSpPr>
          <p:cNvPr id="1539094" name="Group 22"/>
          <p:cNvGrpSpPr>
            <a:grpSpLocks/>
          </p:cNvGrpSpPr>
          <p:nvPr/>
        </p:nvGrpSpPr>
        <p:grpSpPr bwMode="auto">
          <a:xfrm>
            <a:off x="4724400" y="1766887"/>
            <a:ext cx="3581400" cy="4633913"/>
            <a:chOff x="2976" y="816"/>
            <a:chExt cx="2256" cy="2919"/>
          </a:xfrm>
        </p:grpSpPr>
        <p:graphicFrame>
          <p:nvGraphicFramePr>
            <p:cNvPr id="1539075" name="Object 3"/>
            <p:cNvGraphicFramePr>
              <a:graphicFrameLocks noChangeAspect="1"/>
            </p:cNvGraphicFramePr>
            <p:nvPr/>
          </p:nvGraphicFramePr>
          <p:xfrm>
            <a:off x="2976" y="816"/>
            <a:ext cx="2125" cy="28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4" name="VISIO" r:id="rId3" imgW="1549800" imgH="2097000" progId="Visio.Drawing.6">
                    <p:embed/>
                  </p:oleObj>
                </mc:Choice>
                <mc:Fallback>
                  <p:oleObj name="VISIO" r:id="rId3" imgW="1549800" imgH="2097000" progId="Visio.Drawing.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816"/>
                          <a:ext cx="2125" cy="28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9093" name="Text Box 21"/>
            <p:cNvSpPr txBox="1">
              <a:spLocks noChangeArrowheads="1"/>
            </p:cNvSpPr>
            <p:nvPr/>
          </p:nvSpPr>
          <p:spPr bwMode="auto">
            <a:xfrm>
              <a:off x="3456" y="3504"/>
              <a:ext cx="17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/>
                <a:t>A Partitional  Clustering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7410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55600" y="304800"/>
            <a:ext cx="8280400" cy="1143000"/>
          </a:xfrm>
        </p:spPr>
        <p:txBody>
          <a:bodyPr>
            <a:normAutofit/>
          </a:bodyPr>
          <a:lstStyle/>
          <a:p>
            <a:r>
              <a:rPr lang="en-US" dirty="0"/>
              <a:t>Hierarchical Clustering</a:t>
            </a:r>
          </a:p>
        </p:txBody>
      </p:sp>
      <p:graphicFrame>
        <p:nvGraphicFramePr>
          <p:cNvPr id="15400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0633447"/>
              </p:ext>
            </p:extLst>
          </p:nvPr>
        </p:nvGraphicFramePr>
        <p:xfrm>
          <a:off x="990600" y="4343400"/>
          <a:ext cx="2752725" cy="196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98" name="VISIO" r:id="rId3" imgW="2752560" imgH="1960200" progId="Visio.Drawing.6">
                  <p:embed/>
                </p:oleObj>
              </mc:Choice>
              <mc:Fallback>
                <p:oleObj name="VISIO" r:id="rId3" imgW="2752560" imgH="19602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343400"/>
                        <a:ext cx="2752725" cy="196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01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0402884"/>
              </p:ext>
            </p:extLst>
          </p:nvPr>
        </p:nvGraphicFramePr>
        <p:xfrm>
          <a:off x="914400" y="1828800"/>
          <a:ext cx="2760663" cy="179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99" name="VISIO" r:id="rId5" imgW="2761200" imgH="1794600" progId="Visio.Drawing.6">
                  <p:embed/>
                </p:oleObj>
              </mc:Choice>
              <mc:Fallback>
                <p:oleObj name="VISIO" r:id="rId5" imgW="2761200" imgH="17946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828800"/>
                        <a:ext cx="2760663" cy="179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01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8872167"/>
              </p:ext>
            </p:extLst>
          </p:nvPr>
        </p:nvGraphicFramePr>
        <p:xfrm>
          <a:off x="5400675" y="1447800"/>
          <a:ext cx="1773238" cy="228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00" name="VISIO" r:id="rId7" imgW="1380960" imgH="1779120" progId="Visio.Drawing.6">
                  <p:embed/>
                </p:oleObj>
              </mc:Choice>
              <mc:Fallback>
                <p:oleObj name="VISIO" r:id="rId7" imgW="1380960" imgH="17791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0675" y="1447800"/>
                        <a:ext cx="1773238" cy="228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01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612263"/>
              </p:ext>
            </p:extLst>
          </p:nvPr>
        </p:nvGraphicFramePr>
        <p:xfrm>
          <a:off x="5400675" y="4038600"/>
          <a:ext cx="1909763" cy="228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01" name="VISIO" r:id="rId9" imgW="1473120" imgH="1760040" progId="Visio.Drawing.6">
                  <p:embed/>
                </p:oleObj>
              </mc:Choice>
              <mc:Fallback>
                <p:oleObj name="VISIO" r:id="rId9" imgW="1473120" imgH="17600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0675" y="4038600"/>
                        <a:ext cx="1909763" cy="228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0103" name="Text Box 7"/>
          <p:cNvSpPr txBox="1">
            <a:spLocks noChangeArrowheads="1"/>
          </p:cNvSpPr>
          <p:nvPr/>
        </p:nvSpPr>
        <p:spPr bwMode="auto">
          <a:xfrm>
            <a:off x="914400" y="3581400"/>
            <a:ext cx="3352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Traditional Hierarchical Clustering</a:t>
            </a:r>
          </a:p>
        </p:txBody>
      </p:sp>
      <p:sp>
        <p:nvSpPr>
          <p:cNvPr id="1540104" name="Text Box 8"/>
          <p:cNvSpPr txBox="1">
            <a:spLocks noChangeArrowheads="1"/>
          </p:cNvSpPr>
          <p:nvPr/>
        </p:nvSpPr>
        <p:spPr bwMode="auto">
          <a:xfrm>
            <a:off x="914400" y="6172200"/>
            <a:ext cx="3581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Non-traditional Hierarchical Clustering</a:t>
            </a:r>
          </a:p>
        </p:txBody>
      </p:sp>
      <p:sp>
        <p:nvSpPr>
          <p:cNvPr id="1540105" name="Text Box 9"/>
          <p:cNvSpPr txBox="1">
            <a:spLocks noChangeArrowheads="1"/>
          </p:cNvSpPr>
          <p:nvPr/>
        </p:nvSpPr>
        <p:spPr bwMode="auto">
          <a:xfrm>
            <a:off x="4800600" y="6172200"/>
            <a:ext cx="3810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Non-traditional Dendrogram</a:t>
            </a:r>
          </a:p>
        </p:txBody>
      </p:sp>
      <p:sp>
        <p:nvSpPr>
          <p:cNvPr id="1540106" name="Text Box 10"/>
          <p:cNvSpPr txBox="1">
            <a:spLocks noChangeArrowheads="1"/>
          </p:cNvSpPr>
          <p:nvPr/>
        </p:nvSpPr>
        <p:spPr bwMode="auto">
          <a:xfrm>
            <a:off x="4800600" y="3581400"/>
            <a:ext cx="3352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Traditional Dendrogram</a:t>
            </a:r>
          </a:p>
        </p:txBody>
      </p:sp>
    </p:spTree>
    <p:extLst>
      <p:ext uri="{BB962C8B-B14F-4D97-AF65-F5344CB8AC3E}">
        <p14:creationId xmlns:p14="http://schemas.microsoft.com/office/powerpoint/2010/main" val="546524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types of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lnSpc>
                <a:spcPct val="80000"/>
              </a:lnSpc>
            </a:pPr>
            <a:r>
              <a:rPr lang="en-US" dirty="0">
                <a:solidFill>
                  <a:srgbClr val="00B0F0"/>
                </a:solidFill>
              </a:rPr>
              <a:t>Exclusive </a:t>
            </a:r>
            <a:r>
              <a:rPr lang="en-US" dirty="0"/>
              <a:t>(or </a:t>
            </a:r>
            <a:r>
              <a:rPr lang="en-US" dirty="0">
                <a:solidFill>
                  <a:srgbClr val="00B0F0"/>
                </a:solidFill>
              </a:rPr>
              <a:t>non-overlapping</a:t>
            </a:r>
            <a:r>
              <a:rPr lang="en-US" dirty="0"/>
              <a:t>) versus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non-exclusive </a:t>
            </a:r>
            <a:r>
              <a:rPr lang="en-US" dirty="0"/>
              <a:t>(or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overlapping</a:t>
            </a:r>
            <a:r>
              <a:rPr lang="en-US" dirty="0"/>
              <a:t>)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  <a:p>
            <a:pPr marL="742950" lvl="1" indent="-285750">
              <a:lnSpc>
                <a:spcPct val="80000"/>
              </a:lnSpc>
            </a:pPr>
            <a:r>
              <a:rPr lang="en-US" dirty="0"/>
              <a:t>In non-exclusive </a:t>
            </a:r>
            <a:r>
              <a:rPr lang="en-US" dirty="0" err="1"/>
              <a:t>clusterings</a:t>
            </a:r>
            <a:r>
              <a:rPr lang="en-US" dirty="0"/>
              <a:t>, points may belong to multiple clusters.</a:t>
            </a:r>
          </a:p>
          <a:p>
            <a:pPr marL="1017270" lvl="2" indent="-285750">
              <a:lnSpc>
                <a:spcPct val="80000"/>
              </a:lnSpc>
            </a:pPr>
            <a:r>
              <a:rPr lang="en-US" dirty="0"/>
              <a:t>Points that belong to multiple classes, or ‘border’ points</a:t>
            </a:r>
          </a:p>
          <a:p>
            <a:pPr marL="342900" indent="-342900">
              <a:lnSpc>
                <a:spcPct val="80000"/>
              </a:lnSpc>
            </a:pPr>
            <a:endParaRPr lang="en-US" dirty="0">
              <a:solidFill>
                <a:srgbClr val="FF0000"/>
              </a:solidFill>
            </a:endParaRPr>
          </a:p>
          <a:p>
            <a:pPr marL="342900" indent="-342900">
              <a:lnSpc>
                <a:spcPct val="80000"/>
              </a:lnSpc>
            </a:pPr>
            <a:r>
              <a:rPr lang="en-US" dirty="0">
                <a:solidFill>
                  <a:srgbClr val="00B0F0"/>
                </a:solidFill>
              </a:rPr>
              <a:t>Fuzzy</a:t>
            </a:r>
            <a:r>
              <a:rPr lang="en-US" dirty="0"/>
              <a:t> (or </a:t>
            </a:r>
            <a:r>
              <a:rPr lang="en-US" dirty="0">
                <a:solidFill>
                  <a:srgbClr val="00B0F0"/>
                </a:solidFill>
              </a:rPr>
              <a:t>soft</a:t>
            </a:r>
            <a:r>
              <a:rPr lang="en-US" dirty="0"/>
              <a:t>) versus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non-fuzzy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(or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hard</a:t>
            </a:r>
            <a:r>
              <a:rPr lang="en-US" dirty="0"/>
              <a:t>)</a:t>
            </a:r>
          </a:p>
          <a:p>
            <a:pPr marL="742950" lvl="1" indent="-285750">
              <a:lnSpc>
                <a:spcPct val="80000"/>
              </a:lnSpc>
            </a:pPr>
            <a:r>
              <a:rPr lang="en-US" dirty="0"/>
              <a:t>In fuzzy clustering, a point belongs to every cluster with some weight between 0 and 1</a:t>
            </a:r>
          </a:p>
          <a:p>
            <a:pPr marL="1017270" lvl="2" indent="-285750">
              <a:lnSpc>
                <a:spcPct val="80000"/>
              </a:lnSpc>
            </a:pPr>
            <a:r>
              <a:rPr lang="en-US" sz="1800" dirty="0"/>
              <a:t>Weights usually must sum to 1 (often interpreted as </a:t>
            </a:r>
            <a:r>
              <a:rPr lang="en-US" sz="1800" dirty="0">
                <a:solidFill>
                  <a:srgbClr val="FF0000"/>
                </a:solidFill>
              </a:rPr>
              <a:t>probabilities</a:t>
            </a:r>
            <a:r>
              <a:rPr lang="en-US" sz="1800" dirty="0"/>
              <a:t>)</a:t>
            </a:r>
          </a:p>
          <a:p>
            <a:pPr marL="342900" indent="-342900">
              <a:lnSpc>
                <a:spcPct val="80000"/>
              </a:lnSpc>
            </a:pPr>
            <a:endParaRPr lang="en-US" dirty="0">
              <a:solidFill>
                <a:srgbClr val="FF0000"/>
              </a:solidFill>
            </a:endParaRPr>
          </a:p>
          <a:p>
            <a:pPr marL="342900" indent="-342900">
              <a:lnSpc>
                <a:spcPct val="80000"/>
              </a:lnSpc>
            </a:pPr>
            <a:r>
              <a:rPr lang="en-US" dirty="0">
                <a:solidFill>
                  <a:srgbClr val="00B0F0"/>
                </a:solidFill>
              </a:rPr>
              <a:t>Partial </a:t>
            </a:r>
            <a:r>
              <a:rPr lang="en-US" dirty="0"/>
              <a:t>versus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complete</a:t>
            </a:r>
          </a:p>
          <a:p>
            <a:pPr marL="742950" lvl="1" indent="-285750">
              <a:lnSpc>
                <a:spcPct val="80000"/>
              </a:lnSpc>
            </a:pPr>
            <a:r>
              <a:rPr lang="en-US" dirty="0"/>
              <a:t>In some cases, we only want to cluster some of the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677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1295400"/>
          </a:xfrm>
        </p:spPr>
        <p:txBody>
          <a:bodyPr>
            <a:normAutofit/>
          </a:bodyPr>
          <a:lstStyle/>
          <a:p>
            <a:r>
              <a:rPr lang="en-US" dirty="0"/>
              <a:t>Clustering objectives</a:t>
            </a:r>
          </a:p>
        </p:txBody>
      </p:sp>
      <p:sp>
        <p:nvSpPr>
          <p:cNvPr id="1542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9288" y="1561306"/>
            <a:ext cx="8001000" cy="5106988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Well-Separated Clusters: 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sz="2000" dirty="0"/>
              <a:t>A cluster is a set of points such that any point in a cluster is closer (or more similar) to every other point in the cluster than to any point not in the cluster.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2400" dirty="0"/>
          </a:p>
        </p:txBody>
      </p:sp>
      <p:sp>
        <p:nvSpPr>
          <p:cNvPr id="1542148" name="Oval 4"/>
          <p:cNvSpPr>
            <a:spLocks noChangeAspect="1" noChangeArrowheads="1"/>
          </p:cNvSpPr>
          <p:nvPr/>
        </p:nvSpPr>
        <p:spPr bwMode="auto">
          <a:xfrm>
            <a:off x="1447800" y="4965700"/>
            <a:ext cx="1143000" cy="1143000"/>
          </a:xfrm>
          <a:prstGeom prst="ellipse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2149" name="Oval 5"/>
          <p:cNvSpPr>
            <a:spLocks noChangeAspect="1" noChangeArrowheads="1"/>
          </p:cNvSpPr>
          <p:nvPr/>
        </p:nvSpPr>
        <p:spPr bwMode="auto">
          <a:xfrm>
            <a:off x="6018213" y="4965700"/>
            <a:ext cx="1143000" cy="1143000"/>
          </a:xfrm>
          <a:prstGeom prst="ellipse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2150" name="Oval 6"/>
          <p:cNvSpPr>
            <a:spLocks noChangeAspect="1" noChangeArrowheads="1"/>
          </p:cNvSpPr>
          <p:nvPr/>
        </p:nvSpPr>
        <p:spPr bwMode="auto">
          <a:xfrm>
            <a:off x="3506788" y="3367087"/>
            <a:ext cx="1143000" cy="114300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2151" name="Text Box 7"/>
          <p:cNvSpPr txBox="1">
            <a:spLocks noChangeArrowheads="1"/>
          </p:cNvSpPr>
          <p:nvPr/>
        </p:nvSpPr>
        <p:spPr bwMode="auto">
          <a:xfrm>
            <a:off x="2971800" y="6186487"/>
            <a:ext cx="3200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3 well-separated clusters</a:t>
            </a:r>
          </a:p>
        </p:txBody>
      </p:sp>
    </p:spTree>
    <p:extLst>
      <p:ext uri="{BB962C8B-B14F-4D97-AF65-F5344CB8AC3E}">
        <p14:creationId xmlns:p14="http://schemas.microsoft.com/office/powerpoint/2010/main" val="3525080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31800" y="228600"/>
            <a:ext cx="8280400" cy="1143000"/>
          </a:xfrm>
        </p:spPr>
        <p:txBody>
          <a:bodyPr>
            <a:normAutofit/>
          </a:bodyPr>
          <a:lstStyle/>
          <a:p>
            <a:r>
              <a:rPr lang="en-US" dirty="0"/>
              <a:t>Clustering objectives</a:t>
            </a:r>
          </a:p>
        </p:txBody>
      </p:sp>
      <p:sp>
        <p:nvSpPr>
          <p:cNvPr id="1543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522412"/>
            <a:ext cx="8001000" cy="5106988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Center-based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sz="2000" dirty="0"/>
              <a:t> A cluster is a set of objects such that an object in a cluster is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closer</a:t>
            </a:r>
            <a:r>
              <a:rPr lang="en-US" sz="2000" dirty="0"/>
              <a:t> (more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similar</a:t>
            </a:r>
            <a:r>
              <a:rPr lang="en-US" sz="2000" dirty="0"/>
              <a:t>) to the “center” of a cluster, than to the center of any other cluster  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sz="2000" dirty="0"/>
              <a:t>The center of a cluster is often a </a:t>
            </a:r>
            <a:r>
              <a:rPr lang="en-US" sz="2000" dirty="0">
                <a:solidFill>
                  <a:srgbClr val="FF0000"/>
                </a:solidFill>
              </a:rPr>
              <a:t>centroid</a:t>
            </a:r>
            <a:r>
              <a:rPr lang="en-US" sz="2000" dirty="0"/>
              <a:t>, the minimizer of distances from all the points in the cluster, or a </a:t>
            </a:r>
            <a:r>
              <a:rPr lang="en-US" sz="2000" dirty="0" err="1">
                <a:solidFill>
                  <a:srgbClr val="FF0000"/>
                </a:solidFill>
              </a:rPr>
              <a:t>medoid</a:t>
            </a:r>
            <a:r>
              <a:rPr lang="en-US" sz="2000" dirty="0"/>
              <a:t>, the most “representative” point of a cluster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dirty="0"/>
          </a:p>
        </p:txBody>
      </p:sp>
      <p:sp>
        <p:nvSpPr>
          <p:cNvPr id="1543172" name="Oval 4"/>
          <p:cNvSpPr>
            <a:spLocks noChangeAspect="1" noChangeArrowheads="1"/>
          </p:cNvSpPr>
          <p:nvPr/>
        </p:nvSpPr>
        <p:spPr bwMode="auto">
          <a:xfrm>
            <a:off x="1143000" y="4570412"/>
            <a:ext cx="1371600" cy="137160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3173" name="Oval 5"/>
          <p:cNvSpPr>
            <a:spLocks noChangeAspect="1" noChangeArrowheads="1"/>
          </p:cNvSpPr>
          <p:nvPr/>
        </p:nvSpPr>
        <p:spPr bwMode="auto">
          <a:xfrm>
            <a:off x="2514600" y="4570412"/>
            <a:ext cx="1371600" cy="1371600"/>
          </a:xfrm>
          <a:prstGeom prst="ellipse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3174" name="Oval 6"/>
          <p:cNvSpPr>
            <a:spLocks noChangeAspect="1" noChangeArrowheads="1"/>
          </p:cNvSpPr>
          <p:nvPr/>
        </p:nvSpPr>
        <p:spPr bwMode="auto">
          <a:xfrm>
            <a:off x="5322888" y="4708525"/>
            <a:ext cx="1166812" cy="1100137"/>
          </a:xfrm>
          <a:prstGeom prst="ellipse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3175" name="Oval 7"/>
          <p:cNvSpPr>
            <a:spLocks noChangeAspect="1" noChangeArrowheads="1"/>
          </p:cNvSpPr>
          <p:nvPr/>
        </p:nvSpPr>
        <p:spPr bwMode="auto">
          <a:xfrm>
            <a:off x="6694488" y="4708525"/>
            <a:ext cx="1166812" cy="1100137"/>
          </a:xfrm>
          <a:prstGeom prst="ellipse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3176" name="Text Box 8"/>
          <p:cNvSpPr txBox="1">
            <a:spLocks noChangeArrowheads="1"/>
          </p:cNvSpPr>
          <p:nvPr/>
        </p:nvSpPr>
        <p:spPr bwMode="auto">
          <a:xfrm>
            <a:off x="2971800" y="6170612"/>
            <a:ext cx="3200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4 center-based clusters</a:t>
            </a:r>
          </a:p>
        </p:txBody>
      </p:sp>
    </p:spTree>
    <p:extLst>
      <p:ext uri="{BB962C8B-B14F-4D97-AF65-F5344CB8AC3E}">
        <p14:creationId xmlns:p14="http://schemas.microsoft.com/office/powerpoint/2010/main" val="2876226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31800" y="304800"/>
            <a:ext cx="8280400" cy="1143000"/>
          </a:xfrm>
        </p:spPr>
        <p:txBody>
          <a:bodyPr>
            <a:normAutofit/>
          </a:bodyPr>
          <a:lstStyle/>
          <a:p>
            <a:r>
              <a:rPr lang="en-US" dirty="0"/>
              <a:t>Clustering objectives</a:t>
            </a:r>
          </a:p>
        </p:txBody>
      </p:sp>
      <p:sp>
        <p:nvSpPr>
          <p:cNvPr id="1544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522412"/>
            <a:ext cx="8001000" cy="5106988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/>
              <a:t>Contiguous Cluster (Nearest neighbor or Transitive)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sz="2000"/>
              <a:t>A cluster is a set of points such that a point in a cluster is closer (or more similar) to one or more other points in the cluster than to any point not in the cluster.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2400"/>
          </a:p>
        </p:txBody>
      </p:sp>
      <p:grpSp>
        <p:nvGrpSpPr>
          <p:cNvPr id="1544207" name="Group 15"/>
          <p:cNvGrpSpPr>
            <a:grpSpLocks/>
          </p:cNvGrpSpPr>
          <p:nvPr/>
        </p:nvGrpSpPr>
        <p:grpSpPr bwMode="auto">
          <a:xfrm>
            <a:off x="381000" y="4189412"/>
            <a:ext cx="8534400" cy="1219200"/>
            <a:chOff x="950" y="2544"/>
            <a:chExt cx="4106" cy="576"/>
          </a:xfrm>
        </p:grpSpPr>
        <p:sp>
          <p:nvSpPr>
            <p:cNvPr id="1544196" name="Freeform 4" descr="Large grid"/>
            <p:cNvSpPr>
              <a:spLocks noChangeAspect="1"/>
            </p:cNvSpPr>
            <p:nvPr/>
          </p:nvSpPr>
          <p:spPr bwMode="auto">
            <a:xfrm>
              <a:off x="950" y="2552"/>
              <a:ext cx="267" cy="457"/>
            </a:xfrm>
            <a:custGeom>
              <a:avLst/>
              <a:gdLst>
                <a:gd name="T0" fmla="*/ 432 w 432"/>
                <a:gd name="T1" fmla="*/ 0 h 744"/>
                <a:gd name="T2" fmla="*/ 264 w 432"/>
                <a:gd name="T3" fmla="*/ 12 h 744"/>
                <a:gd name="T4" fmla="*/ 228 w 432"/>
                <a:gd name="T5" fmla="*/ 36 h 744"/>
                <a:gd name="T6" fmla="*/ 168 w 432"/>
                <a:gd name="T7" fmla="*/ 180 h 744"/>
                <a:gd name="T8" fmla="*/ 180 w 432"/>
                <a:gd name="T9" fmla="*/ 324 h 744"/>
                <a:gd name="T10" fmla="*/ 300 w 432"/>
                <a:gd name="T11" fmla="*/ 504 h 744"/>
                <a:gd name="T12" fmla="*/ 300 w 432"/>
                <a:gd name="T13" fmla="*/ 708 h 744"/>
                <a:gd name="T14" fmla="*/ 252 w 432"/>
                <a:gd name="T15" fmla="*/ 720 h 744"/>
                <a:gd name="T16" fmla="*/ 0 w 432"/>
                <a:gd name="T17" fmla="*/ 744 h 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2" h="744">
                  <a:moveTo>
                    <a:pt x="432" y="0"/>
                  </a:moveTo>
                  <a:cubicBezTo>
                    <a:pt x="376" y="4"/>
                    <a:pt x="319" y="2"/>
                    <a:pt x="264" y="12"/>
                  </a:cubicBezTo>
                  <a:cubicBezTo>
                    <a:pt x="250" y="15"/>
                    <a:pt x="236" y="24"/>
                    <a:pt x="228" y="36"/>
                  </a:cubicBezTo>
                  <a:cubicBezTo>
                    <a:pt x="224" y="43"/>
                    <a:pt x="173" y="164"/>
                    <a:pt x="168" y="180"/>
                  </a:cubicBezTo>
                  <a:cubicBezTo>
                    <a:pt x="172" y="228"/>
                    <a:pt x="174" y="276"/>
                    <a:pt x="180" y="324"/>
                  </a:cubicBezTo>
                  <a:cubicBezTo>
                    <a:pt x="190" y="397"/>
                    <a:pt x="262" y="447"/>
                    <a:pt x="300" y="504"/>
                  </a:cubicBezTo>
                  <a:cubicBezTo>
                    <a:pt x="318" y="577"/>
                    <a:pt x="333" y="615"/>
                    <a:pt x="300" y="708"/>
                  </a:cubicBezTo>
                  <a:cubicBezTo>
                    <a:pt x="294" y="724"/>
                    <a:pt x="268" y="717"/>
                    <a:pt x="252" y="720"/>
                  </a:cubicBezTo>
                  <a:cubicBezTo>
                    <a:pt x="169" y="737"/>
                    <a:pt x="84" y="744"/>
                    <a:pt x="0" y="744"/>
                  </a:cubicBezTo>
                </a:path>
              </a:pathLst>
            </a:custGeom>
            <a:noFill/>
            <a:ln w="19050" cap="flat" cmpd="sng">
              <a:solidFill>
                <a:srgbClr val="99CC00"/>
              </a:solidFill>
              <a:prstDash val="lgDashDot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rgbClr val="000000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197" name="Freeform 5" descr="Large grid"/>
            <p:cNvSpPr>
              <a:spLocks noChangeAspect="1"/>
            </p:cNvSpPr>
            <p:nvPr/>
          </p:nvSpPr>
          <p:spPr bwMode="auto">
            <a:xfrm>
              <a:off x="1061" y="2618"/>
              <a:ext cx="267" cy="459"/>
            </a:xfrm>
            <a:custGeom>
              <a:avLst/>
              <a:gdLst>
                <a:gd name="T0" fmla="*/ 432 w 432"/>
                <a:gd name="T1" fmla="*/ 0 h 744"/>
                <a:gd name="T2" fmla="*/ 264 w 432"/>
                <a:gd name="T3" fmla="*/ 12 h 744"/>
                <a:gd name="T4" fmla="*/ 228 w 432"/>
                <a:gd name="T5" fmla="*/ 36 h 744"/>
                <a:gd name="T6" fmla="*/ 168 w 432"/>
                <a:gd name="T7" fmla="*/ 180 h 744"/>
                <a:gd name="T8" fmla="*/ 180 w 432"/>
                <a:gd name="T9" fmla="*/ 324 h 744"/>
                <a:gd name="T10" fmla="*/ 300 w 432"/>
                <a:gd name="T11" fmla="*/ 504 h 744"/>
                <a:gd name="T12" fmla="*/ 300 w 432"/>
                <a:gd name="T13" fmla="*/ 708 h 744"/>
                <a:gd name="T14" fmla="*/ 252 w 432"/>
                <a:gd name="T15" fmla="*/ 720 h 744"/>
                <a:gd name="T16" fmla="*/ 0 w 432"/>
                <a:gd name="T17" fmla="*/ 744 h 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2" h="744">
                  <a:moveTo>
                    <a:pt x="432" y="0"/>
                  </a:moveTo>
                  <a:cubicBezTo>
                    <a:pt x="376" y="4"/>
                    <a:pt x="319" y="2"/>
                    <a:pt x="264" y="12"/>
                  </a:cubicBezTo>
                  <a:cubicBezTo>
                    <a:pt x="250" y="15"/>
                    <a:pt x="236" y="24"/>
                    <a:pt x="228" y="36"/>
                  </a:cubicBezTo>
                  <a:cubicBezTo>
                    <a:pt x="224" y="43"/>
                    <a:pt x="173" y="164"/>
                    <a:pt x="168" y="180"/>
                  </a:cubicBezTo>
                  <a:cubicBezTo>
                    <a:pt x="172" y="228"/>
                    <a:pt x="174" y="276"/>
                    <a:pt x="180" y="324"/>
                  </a:cubicBezTo>
                  <a:cubicBezTo>
                    <a:pt x="190" y="397"/>
                    <a:pt x="262" y="447"/>
                    <a:pt x="300" y="504"/>
                  </a:cubicBezTo>
                  <a:cubicBezTo>
                    <a:pt x="318" y="577"/>
                    <a:pt x="333" y="615"/>
                    <a:pt x="300" y="708"/>
                  </a:cubicBezTo>
                  <a:cubicBezTo>
                    <a:pt x="294" y="724"/>
                    <a:pt x="268" y="717"/>
                    <a:pt x="252" y="720"/>
                  </a:cubicBezTo>
                  <a:cubicBezTo>
                    <a:pt x="169" y="737"/>
                    <a:pt x="84" y="744"/>
                    <a:pt x="0" y="744"/>
                  </a:cubicBezTo>
                </a:path>
              </a:pathLst>
            </a:custGeom>
            <a:noFill/>
            <a:ln w="19050" cap="rnd" cmpd="sng">
              <a:solidFill>
                <a:srgbClr val="000066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rgbClr val="000000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198" name="Freeform 6" descr="Large grid"/>
            <p:cNvSpPr>
              <a:spLocks noChangeAspect="1"/>
            </p:cNvSpPr>
            <p:nvPr/>
          </p:nvSpPr>
          <p:spPr bwMode="auto">
            <a:xfrm>
              <a:off x="1195" y="2663"/>
              <a:ext cx="267" cy="457"/>
            </a:xfrm>
            <a:custGeom>
              <a:avLst/>
              <a:gdLst>
                <a:gd name="T0" fmla="*/ 432 w 432"/>
                <a:gd name="T1" fmla="*/ 0 h 744"/>
                <a:gd name="T2" fmla="*/ 264 w 432"/>
                <a:gd name="T3" fmla="*/ 12 h 744"/>
                <a:gd name="T4" fmla="*/ 228 w 432"/>
                <a:gd name="T5" fmla="*/ 36 h 744"/>
                <a:gd name="T6" fmla="*/ 168 w 432"/>
                <a:gd name="T7" fmla="*/ 180 h 744"/>
                <a:gd name="T8" fmla="*/ 180 w 432"/>
                <a:gd name="T9" fmla="*/ 324 h 744"/>
                <a:gd name="T10" fmla="*/ 300 w 432"/>
                <a:gd name="T11" fmla="*/ 504 h 744"/>
                <a:gd name="T12" fmla="*/ 300 w 432"/>
                <a:gd name="T13" fmla="*/ 708 h 744"/>
                <a:gd name="T14" fmla="*/ 252 w 432"/>
                <a:gd name="T15" fmla="*/ 720 h 744"/>
                <a:gd name="T16" fmla="*/ 0 w 432"/>
                <a:gd name="T17" fmla="*/ 744 h 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2" h="744">
                  <a:moveTo>
                    <a:pt x="432" y="0"/>
                  </a:moveTo>
                  <a:cubicBezTo>
                    <a:pt x="376" y="4"/>
                    <a:pt x="319" y="2"/>
                    <a:pt x="264" y="12"/>
                  </a:cubicBezTo>
                  <a:cubicBezTo>
                    <a:pt x="250" y="15"/>
                    <a:pt x="236" y="24"/>
                    <a:pt x="228" y="36"/>
                  </a:cubicBezTo>
                  <a:cubicBezTo>
                    <a:pt x="224" y="43"/>
                    <a:pt x="173" y="164"/>
                    <a:pt x="168" y="180"/>
                  </a:cubicBezTo>
                  <a:cubicBezTo>
                    <a:pt x="172" y="228"/>
                    <a:pt x="174" y="276"/>
                    <a:pt x="180" y="324"/>
                  </a:cubicBezTo>
                  <a:cubicBezTo>
                    <a:pt x="190" y="397"/>
                    <a:pt x="262" y="447"/>
                    <a:pt x="300" y="504"/>
                  </a:cubicBezTo>
                  <a:cubicBezTo>
                    <a:pt x="318" y="577"/>
                    <a:pt x="333" y="615"/>
                    <a:pt x="300" y="708"/>
                  </a:cubicBezTo>
                  <a:cubicBezTo>
                    <a:pt x="294" y="724"/>
                    <a:pt x="268" y="717"/>
                    <a:pt x="252" y="720"/>
                  </a:cubicBezTo>
                  <a:cubicBezTo>
                    <a:pt x="169" y="737"/>
                    <a:pt x="84" y="744"/>
                    <a:pt x="0" y="744"/>
                  </a:cubicBezTo>
                </a:path>
              </a:pathLst>
            </a:custGeom>
            <a:noFill/>
            <a:ln w="19050" cap="flat" cmpd="sng">
              <a:solidFill>
                <a:srgbClr val="FF7C8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rgbClr val="000000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199" name="Oval 7"/>
            <p:cNvSpPr>
              <a:spLocks noChangeAspect="1" noChangeArrowheads="1"/>
            </p:cNvSpPr>
            <p:nvPr/>
          </p:nvSpPr>
          <p:spPr bwMode="auto">
            <a:xfrm>
              <a:off x="2171" y="2750"/>
              <a:ext cx="134" cy="134"/>
            </a:xfrm>
            <a:prstGeom prst="ellipse">
              <a:avLst/>
            </a:prstGeom>
            <a:solidFill>
              <a:srgbClr val="00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200" name="AutoShape 8"/>
            <p:cNvSpPr>
              <a:spLocks noChangeAspect="1" noChangeArrowheads="1"/>
            </p:cNvSpPr>
            <p:nvPr/>
          </p:nvSpPr>
          <p:spPr bwMode="auto">
            <a:xfrm rot="-5400000">
              <a:off x="1942" y="2382"/>
              <a:ext cx="525" cy="866"/>
            </a:xfrm>
            <a:custGeom>
              <a:avLst/>
              <a:gdLst>
                <a:gd name="G0" fmla="+- 5892 0 0"/>
                <a:gd name="G1" fmla="+- 9924669 0 0"/>
                <a:gd name="G2" fmla="+- 0 0 9924669"/>
                <a:gd name="T0" fmla="*/ 0 256 1"/>
                <a:gd name="T1" fmla="*/ 180 256 1"/>
                <a:gd name="G3" fmla="+- 9924669 T0 T1"/>
                <a:gd name="T2" fmla="*/ 0 256 1"/>
                <a:gd name="T3" fmla="*/ 90 256 1"/>
                <a:gd name="G4" fmla="+- 9924669 T2 T3"/>
                <a:gd name="G5" fmla="*/ G4 2 1"/>
                <a:gd name="T4" fmla="*/ 90 256 1"/>
                <a:gd name="T5" fmla="*/ 0 256 1"/>
                <a:gd name="G6" fmla="+- 9924669 T4 T5"/>
                <a:gd name="G7" fmla="*/ G6 2 1"/>
                <a:gd name="G8" fmla="abs 9924669"/>
                <a:gd name="T6" fmla="*/ 0 256 1"/>
                <a:gd name="T7" fmla="*/ 90 256 1"/>
                <a:gd name="G9" fmla="+- G8 T6 T7"/>
                <a:gd name="G10" fmla="?: G9 G7 G5"/>
                <a:gd name="T8" fmla="*/ 0 256 1"/>
                <a:gd name="T9" fmla="*/ 360 256 1"/>
                <a:gd name="G11" fmla="+- G10 T8 T9"/>
                <a:gd name="G12" fmla="?: G10 G11 G10"/>
                <a:gd name="T10" fmla="*/ 0 256 1"/>
                <a:gd name="T11" fmla="*/ 360 256 1"/>
                <a:gd name="G13" fmla="+- G12 T10 T11"/>
                <a:gd name="G14" fmla="?: G12 G13 G12"/>
                <a:gd name="G15" fmla="+- 0 0 G14"/>
                <a:gd name="G16" fmla="+- 10800 0 0"/>
                <a:gd name="G17" fmla="+- 10800 0 5892"/>
                <a:gd name="G18" fmla="*/ 5892 1 2"/>
                <a:gd name="G19" fmla="+- G18 5400 0"/>
                <a:gd name="G20" fmla="cos G19 9924669"/>
                <a:gd name="G21" fmla="sin G19 9924669"/>
                <a:gd name="G22" fmla="+- G20 10800 0"/>
                <a:gd name="G23" fmla="+- G21 10800 0"/>
                <a:gd name="G24" fmla="+- 10800 0 G20"/>
                <a:gd name="G25" fmla="+- 5892 10800 0"/>
                <a:gd name="G26" fmla="?: G9 G17 G25"/>
                <a:gd name="G27" fmla="?: G9 0 21600"/>
                <a:gd name="G28" fmla="cos 10800 9924669"/>
                <a:gd name="G29" fmla="sin 10800 9924669"/>
                <a:gd name="G30" fmla="sin 5892 9924669"/>
                <a:gd name="G31" fmla="+- G28 10800 0"/>
                <a:gd name="G32" fmla="+- G29 10800 0"/>
                <a:gd name="G33" fmla="+- G30 10800 0"/>
                <a:gd name="G34" fmla="?: G4 0 G31"/>
                <a:gd name="G35" fmla="?: 9924669 G34 0"/>
                <a:gd name="G36" fmla="?: G6 G35 G31"/>
                <a:gd name="G37" fmla="+- 21600 0 G36"/>
                <a:gd name="G38" fmla="?: G4 0 G33"/>
                <a:gd name="G39" fmla="?: 9924669 G38 G32"/>
                <a:gd name="G40" fmla="?: G6 G39 0"/>
                <a:gd name="G41" fmla="?: G4 G32 21600"/>
                <a:gd name="G42" fmla="?: G6 G41 G33"/>
                <a:gd name="T12" fmla="*/ 10800 w 21600"/>
                <a:gd name="T13" fmla="*/ 0 h 21600"/>
                <a:gd name="T14" fmla="*/ 3469 w 21600"/>
                <a:gd name="T15" fmla="*/ 14790 h 21600"/>
                <a:gd name="T16" fmla="*/ 10800 w 21600"/>
                <a:gd name="T17" fmla="*/ 4908 h 21600"/>
                <a:gd name="T18" fmla="*/ 18131 w 21600"/>
                <a:gd name="T19" fmla="*/ 14790 h 21600"/>
                <a:gd name="T20" fmla="*/ G36 w 21600"/>
                <a:gd name="T21" fmla="*/ G40 h 21600"/>
                <a:gd name="T22" fmla="*/ G37 w 21600"/>
                <a:gd name="T23" fmla="*/ G42 h 21600"/>
              </a:gdLst>
              <a:ahLst/>
              <a:cxnLst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>
                  <a:moveTo>
                    <a:pt x="5625" y="13616"/>
                  </a:moveTo>
                  <a:cubicBezTo>
                    <a:pt x="5154" y="12752"/>
                    <a:pt x="4908" y="11784"/>
                    <a:pt x="4908" y="10800"/>
                  </a:cubicBezTo>
                  <a:cubicBezTo>
                    <a:pt x="4908" y="7545"/>
                    <a:pt x="7545" y="4908"/>
                    <a:pt x="10800" y="4908"/>
                  </a:cubicBezTo>
                  <a:cubicBezTo>
                    <a:pt x="14054" y="4908"/>
                    <a:pt x="16692" y="7545"/>
                    <a:pt x="16692" y="10800"/>
                  </a:cubicBezTo>
                  <a:cubicBezTo>
                    <a:pt x="16692" y="11784"/>
                    <a:pt x="16445" y="12752"/>
                    <a:pt x="15974" y="13616"/>
                  </a:cubicBezTo>
                  <a:lnTo>
                    <a:pt x="20285" y="15963"/>
                  </a:lnTo>
                  <a:cubicBezTo>
                    <a:pt x="21148" y="14379"/>
                    <a:pt x="21600" y="12603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-1" y="12603"/>
                    <a:pt x="451" y="14379"/>
                    <a:pt x="1314" y="159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201" name="Oval 9"/>
            <p:cNvSpPr>
              <a:spLocks noChangeAspect="1" noChangeArrowheads="1"/>
            </p:cNvSpPr>
            <p:nvPr/>
          </p:nvSpPr>
          <p:spPr bwMode="auto">
            <a:xfrm>
              <a:off x="2504" y="2750"/>
              <a:ext cx="134" cy="134"/>
            </a:xfrm>
            <a:prstGeom prst="ellipse">
              <a:avLst/>
            </a:prstGeom>
            <a:solidFill>
              <a:srgbClr val="00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202" name="Line 10"/>
            <p:cNvSpPr>
              <a:spLocks noChangeAspect="1" noChangeShapeType="1"/>
            </p:cNvSpPr>
            <p:nvPr/>
          </p:nvSpPr>
          <p:spPr bwMode="auto">
            <a:xfrm>
              <a:off x="2305" y="2818"/>
              <a:ext cx="199" cy="0"/>
            </a:xfrm>
            <a:prstGeom prst="line">
              <a:avLst/>
            </a:prstGeom>
            <a:noFill/>
            <a:ln w="19050">
              <a:solidFill>
                <a:srgbClr val="00CC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203" name="Oval 11"/>
            <p:cNvSpPr>
              <a:spLocks noChangeAspect="1" noChangeArrowheads="1"/>
            </p:cNvSpPr>
            <p:nvPr/>
          </p:nvSpPr>
          <p:spPr bwMode="auto">
            <a:xfrm>
              <a:off x="4236" y="2633"/>
              <a:ext cx="376" cy="355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204" name="Oval 12"/>
            <p:cNvSpPr>
              <a:spLocks noChangeAspect="1" noChangeArrowheads="1"/>
            </p:cNvSpPr>
            <p:nvPr/>
          </p:nvSpPr>
          <p:spPr bwMode="auto">
            <a:xfrm>
              <a:off x="4680" y="2633"/>
              <a:ext cx="376" cy="355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205" name="Oval 13"/>
            <p:cNvSpPr>
              <a:spLocks noChangeAspect="1" noChangeArrowheads="1"/>
            </p:cNvSpPr>
            <p:nvPr/>
          </p:nvSpPr>
          <p:spPr bwMode="auto">
            <a:xfrm>
              <a:off x="2992" y="2544"/>
              <a:ext cx="444" cy="444"/>
            </a:xfrm>
            <a:prstGeom prst="ellipse">
              <a:avLst/>
            </a:prstGeom>
            <a:solidFill>
              <a:srgbClr val="33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206" name="Oval 14"/>
            <p:cNvSpPr>
              <a:spLocks noChangeAspect="1" noChangeArrowheads="1"/>
            </p:cNvSpPr>
            <p:nvPr/>
          </p:nvSpPr>
          <p:spPr bwMode="auto">
            <a:xfrm>
              <a:off x="3391" y="2544"/>
              <a:ext cx="444" cy="444"/>
            </a:xfrm>
            <a:prstGeom prst="ellipse">
              <a:avLst/>
            </a:prstGeom>
            <a:solidFill>
              <a:srgbClr val="33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44208" name="Text Box 16"/>
          <p:cNvSpPr txBox="1">
            <a:spLocks noChangeArrowheads="1"/>
          </p:cNvSpPr>
          <p:nvPr/>
        </p:nvSpPr>
        <p:spPr bwMode="auto">
          <a:xfrm>
            <a:off x="2971800" y="6170612"/>
            <a:ext cx="3200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8 contiguous clusters</a:t>
            </a:r>
          </a:p>
        </p:txBody>
      </p:sp>
    </p:spTree>
    <p:extLst>
      <p:ext uri="{BB962C8B-B14F-4D97-AF65-F5344CB8AC3E}">
        <p14:creationId xmlns:p14="http://schemas.microsoft.com/office/powerpoint/2010/main" val="478335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219" name="Rectangle 3"/>
          <p:cNvSpPr>
            <a:spLocks noGrp="1" noChangeArrowheads="1"/>
          </p:cNvSpPr>
          <p:nvPr>
            <p:ph type="title"/>
          </p:nvPr>
        </p:nvSpPr>
        <p:spPr>
          <a:xfrm>
            <a:off x="379393" y="304800"/>
            <a:ext cx="8280400" cy="1219200"/>
          </a:xfrm>
        </p:spPr>
        <p:txBody>
          <a:bodyPr>
            <a:normAutofit/>
          </a:bodyPr>
          <a:lstStyle/>
          <a:p>
            <a:r>
              <a:rPr lang="en-US" dirty="0"/>
              <a:t>Types of Clusters: Density-Based</a:t>
            </a:r>
          </a:p>
        </p:txBody>
      </p:sp>
      <p:sp>
        <p:nvSpPr>
          <p:cNvPr id="154522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58458" y="1534848"/>
            <a:ext cx="8001000" cy="5106988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Density-based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sz="2000" dirty="0"/>
              <a:t>A cluster is a dense region of points, which is separated by low-density regions, from other regions of high density. 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sz="2000" dirty="0"/>
              <a:t>Used when the clusters are irregular or intertwined, and when noise and outliers are present. </a:t>
            </a:r>
          </a:p>
        </p:txBody>
      </p:sp>
      <p:grpSp>
        <p:nvGrpSpPr>
          <p:cNvPr id="1545228" name="Group 12"/>
          <p:cNvGrpSpPr>
            <a:grpSpLocks/>
          </p:cNvGrpSpPr>
          <p:nvPr/>
        </p:nvGrpSpPr>
        <p:grpSpPr bwMode="auto">
          <a:xfrm>
            <a:off x="304800" y="3657600"/>
            <a:ext cx="8610600" cy="1676400"/>
            <a:chOff x="1056" y="3072"/>
            <a:chExt cx="3840" cy="720"/>
          </a:xfrm>
        </p:grpSpPr>
        <p:sp>
          <p:nvSpPr>
            <p:cNvPr id="1545218" name="Rectangle 2"/>
            <p:cNvSpPr>
              <a:spLocks noChangeArrowheads="1"/>
            </p:cNvSpPr>
            <p:nvPr/>
          </p:nvSpPr>
          <p:spPr bwMode="auto">
            <a:xfrm>
              <a:off x="1056" y="3072"/>
              <a:ext cx="3840" cy="720"/>
            </a:xfrm>
            <a:prstGeom prst="rect">
              <a:avLst/>
            </a:prstGeom>
            <a:pattFill prst="pct10">
              <a:fgClr>
                <a:schemeClr val="tx1"/>
              </a:fgClr>
              <a:bgClr>
                <a:srgbClr val="FFFFFF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5221" name="Oval 5"/>
            <p:cNvSpPr>
              <a:spLocks noChangeAspect="1" noChangeArrowheads="1"/>
            </p:cNvSpPr>
            <p:nvPr/>
          </p:nvSpPr>
          <p:spPr bwMode="auto">
            <a:xfrm>
              <a:off x="1599" y="3374"/>
              <a:ext cx="134" cy="134"/>
            </a:xfrm>
            <a:prstGeom prst="ellipse">
              <a:avLst/>
            </a:prstGeom>
            <a:solidFill>
              <a:srgbClr val="3333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222" name="AutoShape 6"/>
            <p:cNvSpPr>
              <a:spLocks noChangeAspect="1" noChangeArrowheads="1"/>
            </p:cNvSpPr>
            <p:nvPr/>
          </p:nvSpPr>
          <p:spPr bwMode="auto">
            <a:xfrm rot="-5400000">
              <a:off x="1370" y="3006"/>
              <a:ext cx="525" cy="866"/>
            </a:xfrm>
            <a:custGeom>
              <a:avLst/>
              <a:gdLst>
                <a:gd name="G0" fmla="+- 5892 0 0"/>
                <a:gd name="G1" fmla="+- 9924669 0 0"/>
                <a:gd name="G2" fmla="+- 0 0 9924669"/>
                <a:gd name="T0" fmla="*/ 0 256 1"/>
                <a:gd name="T1" fmla="*/ 180 256 1"/>
                <a:gd name="G3" fmla="+- 9924669 T0 T1"/>
                <a:gd name="T2" fmla="*/ 0 256 1"/>
                <a:gd name="T3" fmla="*/ 90 256 1"/>
                <a:gd name="G4" fmla="+- 9924669 T2 T3"/>
                <a:gd name="G5" fmla="*/ G4 2 1"/>
                <a:gd name="T4" fmla="*/ 90 256 1"/>
                <a:gd name="T5" fmla="*/ 0 256 1"/>
                <a:gd name="G6" fmla="+- 9924669 T4 T5"/>
                <a:gd name="G7" fmla="*/ G6 2 1"/>
                <a:gd name="G8" fmla="abs 9924669"/>
                <a:gd name="T6" fmla="*/ 0 256 1"/>
                <a:gd name="T7" fmla="*/ 90 256 1"/>
                <a:gd name="G9" fmla="+- G8 T6 T7"/>
                <a:gd name="G10" fmla="?: G9 G7 G5"/>
                <a:gd name="T8" fmla="*/ 0 256 1"/>
                <a:gd name="T9" fmla="*/ 360 256 1"/>
                <a:gd name="G11" fmla="+- G10 T8 T9"/>
                <a:gd name="G12" fmla="?: G10 G11 G10"/>
                <a:gd name="T10" fmla="*/ 0 256 1"/>
                <a:gd name="T11" fmla="*/ 360 256 1"/>
                <a:gd name="G13" fmla="+- G12 T10 T11"/>
                <a:gd name="G14" fmla="?: G12 G13 G12"/>
                <a:gd name="G15" fmla="+- 0 0 G14"/>
                <a:gd name="G16" fmla="+- 10800 0 0"/>
                <a:gd name="G17" fmla="+- 10800 0 5892"/>
                <a:gd name="G18" fmla="*/ 5892 1 2"/>
                <a:gd name="G19" fmla="+- G18 5400 0"/>
                <a:gd name="G20" fmla="cos G19 9924669"/>
                <a:gd name="G21" fmla="sin G19 9924669"/>
                <a:gd name="G22" fmla="+- G20 10800 0"/>
                <a:gd name="G23" fmla="+- G21 10800 0"/>
                <a:gd name="G24" fmla="+- 10800 0 G20"/>
                <a:gd name="G25" fmla="+- 5892 10800 0"/>
                <a:gd name="G26" fmla="?: G9 G17 G25"/>
                <a:gd name="G27" fmla="?: G9 0 21600"/>
                <a:gd name="G28" fmla="cos 10800 9924669"/>
                <a:gd name="G29" fmla="sin 10800 9924669"/>
                <a:gd name="G30" fmla="sin 5892 9924669"/>
                <a:gd name="G31" fmla="+- G28 10800 0"/>
                <a:gd name="G32" fmla="+- G29 10800 0"/>
                <a:gd name="G33" fmla="+- G30 10800 0"/>
                <a:gd name="G34" fmla="?: G4 0 G31"/>
                <a:gd name="G35" fmla="?: 9924669 G34 0"/>
                <a:gd name="G36" fmla="?: G6 G35 G31"/>
                <a:gd name="G37" fmla="+- 21600 0 G36"/>
                <a:gd name="G38" fmla="?: G4 0 G33"/>
                <a:gd name="G39" fmla="?: 9924669 G38 G32"/>
                <a:gd name="G40" fmla="?: G6 G39 0"/>
                <a:gd name="G41" fmla="?: G4 G32 21600"/>
                <a:gd name="G42" fmla="?: G6 G41 G33"/>
                <a:gd name="T12" fmla="*/ 10800 w 21600"/>
                <a:gd name="T13" fmla="*/ 0 h 21600"/>
                <a:gd name="T14" fmla="*/ 3469 w 21600"/>
                <a:gd name="T15" fmla="*/ 14790 h 21600"/>
                <a:gd name="T16" fmla="*/ 10800 w 21600"/>
                <a:gd name="T17" fmla="*/ 4908 h 21600"/>
                <a:gd name="T18" fmla="*/ 18131 w 21600"/>
                <a:gd name="T19" fmla="*/ 14790 h 21600"/>
                <a:gd name="T20" fmla="*/ G36 w 21600"/>
                <a:gd name="T21" fmla="*/ G40 h 21600"/>
                <a:gd name="T22" fmla="*/ G37 w 21600"/>
                <a:gd name="T23" fmla="*/ G42 h 21600"/>
              </a:gdLst>
              <a:ahLst/>
              <a:cxnLst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>
                  <a:moveTo>
                    <a:pt x="5625" y="13616"/>
                  </a:moveTo>
                  <a:cubicBezTo>
                    <a:pt x="5154" y="12752"/>
                    <a:pt x="4908" y="11784"/>
                    <a:pt x="4908" y="10800"/>
                  </a:cubicBezTo>
                  <a:cubicBezTo>
                    <a:pt x="4908" y="7545"/>
                    <a:pt x="7545" y="4908"/>
                    <a:pt x="10800" y="4908"/>
                  </a:cubicBezTo>
                  <a:cubicBezTo>
                    <a:pt x="14054" y="4908"/>
                    <a:pt x="16692" y="7545"/>
                    <a:pt x="16692" y="10800"/>
                  </a:cubicBezTo>
                  <a:cubicBezTo>
                    <a:pt x="16692" y="11784"/>
                    <a:pt x="16445" y="12752"/>
                    <a:pt x="15974" y="13616"/>
                  </a:cubicBezTo>
                  <a:lnTo>
                    <a:pt x="20285" y="15963"/>
                  </a:lnTo>
                  <a:cubicBezTo>
                    <a:pt x="21148" y="14379"/>
                    <a:pt x="21600" y="12603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-1" y="12603"/>
                    <a:pt x="451" y="14379"/>
                    <a:pt x="1314" y="159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223" name="Oval 7"/>
            <p:cNvSpPr>
              <a:spLocks noChangeAspect="1" noChangeArrowheads="1"/>
            </p:cNvSpPr>
            <p:nvPr/>
          </p:nvSpPr>
          <p:spPr bwMode="auto">
            <a:xfrm>
              <a:off x="1932" y="3374"/>
              <a:ext cx="134" cy="134"/>
            </a:xfrm>
            <a:prstGeom prst="ellipse">
              <a:avLst/>
            </a:prstGeom>
            <a:solidFill>
              <a:srgbClr val="00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224" name="Oval 8"/>
            <p:cNvSpPr>
              <a:spLocks noChangeAspect="1" noChangeArrowheads="1"/>
            </p:cNvSpPr>
            <p:nvPr/>
          </p:nvSpPr>
          <p:spPr bwMode="auto">
            <a:xfrm>
              <a:off x="3664" y="3257"/>
              <a:ext cx="376" cy="355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225" name="Oval 9"/>
            <p:cNvSpPr>
              <a:spLocks noChangeAspect="1" noChangeArrowheads="1"/>
            </p:cNvSpPr>
            <p:nvPr/>
          </p:nvSpPr>
          <p:spPr bwMode="auto">
            <a:xfrm>
              <a:off x="4108" y="3257"/>
              <a:ext cx="376" cy="355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226" name="Oval 10"/>
            <p:cNvSpPr>
              <a:spLocks noChangeAspect="1" noChangeArrowheads="1"/>
            </p:cNvSpPr>
            <p:nvPr/>
          </p:nvSpPr>
          <p:spPr bwMode="auto">
            <a:xfrm>
              <a:off x="2420" y="3168"/>
              <a:ext cx="444" cy="444"/>
            </a:xfrm>
            <a:prstGeom prst="ellipse">
              <a:avLst/>
            </a:prstGeom>
            <a:solidFill>
              <a:srgbClr val="33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227" name="Oval 11"/>
            <p:cNvSpPr>
              <a:spLocks noChangeAspect="1" noChangeArrowheads="1"/>
            </p:cNvSpPr>
            <p:nvPr/>
          </p:nvSpPr>
          <p:spPr bwMode="auto">
            <a:xfrm>
              <a:off x="2819" y="3168"/>
              <a:ext cx="444" cy="444"/>
            </a:xfrm>
            <a:prstGeom prst="ellipse">
              <a:avLst/>
            </a:prstGeom>
            <a:solidFill>
              <a:srgbClr val="33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45229" name="Text Box 13"/>
          <p:cNvSpPr txBox="1">
            <a:spLocks noChangeArrowheads="1"/>
          </p:cNvSpPr>
          <p:nvPr/>
        </p:nvSpPr>
        <p:spPr bwMode="auto">
          <a:xfrm>
            <a:off x="2971800" y="5791200"/>
            <a:ext cx="3200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6 density-based clusters</a:t>
            </a:r>
          </a:p>
        </p:txBody>
      </p:sp>
    </p:spTree>
    <p:extLst>
      <p:ext uri="{BB962C8B-B14F-4D97-AF65-F5344CB8AC3E}">
        <p14:creationId xmlns:p14="http://schemas.microsoft.com/office/powerpoint/2010/main" val="3565263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27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509000" cy="1219200"/>
          </a:xfrm>
        </p:spPr>
        <p:txBody>
          <a:bodyPr>
            <a:noAutofit/>
          </a:bodyPr>
          <a:lstStyle/>
          <a:p>
            <a:r>
              <a:rPr lang="en-US" dirty="0"/>
              <a:t>Clustering objectives</a:t>
            </a:r>
          </a:p>
        </p:txBody>
      </p:sp>
      <p:sp>
        <p:nvSpPr>
          <p:cNvPr id="1590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446212"/>
            <a:ext cx="8001000" cy="5106988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Shared Property or Conceptual Clusters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sz="2000" dirty="0"/>
              <a:t>Finds clusters that share some common property or represent a particular concept. 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sz="2000" dirty="0"/>
              <a:t>. </a:t>
            </a:r>
          </a:p>
        </p:txBody>
      </p:sp>
      <p:sp>
        <p:nvSpPr>
          <p:cNvPr id="1590285" name="Text Box 13"/>
          <p:cNvSpPr txBox="1">
            <a:spLocks noChangeArrowheads="1"/>
          </p:cNvSpPr>
          <p:nvPr/>
        </p:nvSpPr>
        <p:spPr bwMode="auto">
          <a:xfrm>
            <a:off x="2971800" y="6094412"/>
            <a:ext cx="3200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2 Overlapping Circles</a:t>
            </a:r>
          </a:p>
        </p:txBody>
      </p:sp>
      <p:sp>
        <p:nvSpPr>
          <p:cNvPr id="1590287" name="AutoShape 15"/>
          <p:cNvSpPr>
            <a:spLocks noChangeArrowheads="1"/>
          </p:cNvSpPr>
          <p:nvPr/>
        </p:nvSpPr>
        <p:spPr bwMode="auto">
          <a:xfrm>
            <a:off x="2819400" y="3122612"/>
            <a:ext cx="2286000" cy="2057400"/>
          </a:xfrm>
          <a:custGeom>
            <a:avLst/>
            <a:gdLst>
              <a:gd name="G0" fmla="+- 3030 0 0"/>
              <a:gd name="G1" fmla="+- 21600 0 3030"/>
              <a:gd name="G2" fmla="+- 21600 0 303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030" y="10800"/>
                </a:moveTo>
                <a:cubicBezTo>
                  <a:pt x="3030" y="15091"/>
                  <a:pt x="6509" y="18570"/>
                  <a:pt x="10800" y="18570"/>
                </a:cubicBezTo>
                <a:cubicBezTo>
                  <a:pt x="15091" y="18570"/>
                  <a:pt x="18570" y="15091"/>
                  <a:pt x="18570" y="10800"/>
                </a:cubicBezTo>
                <a:cubicBezTo>
                  <a:pt x="18570" y="6509"/>
                  <a:pt x="15091" y="3030"/>
                  <a:pt x="10800" y="3030"/>
                </a:cubicBezTo>
                <a:cubicBezTo>
                  <a:pt x="6509" y="3030"/>
                  <a:pt x="3030" y="6509"/>
                  <a:pt x="3030" y="10800"/>
                </a:cubicBezTo>
                <a:close/>
              </a:path>
            </a:pathLst>
          </a:custGeom>
          <a:solidFill>
            <a:srgbClr val="CC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90288" name="AutoShape 16"/>
          <p:cNvSpPr>
            <a:spLocks noChangeArrowheads="1"/>
          </p:cNvSpPr>
          <p:nvPr/>
        </p:nvSpPr>
        <p:spPr bwMode="auto">
          <a:xfrm>
            <a:off x="3886200" y="3122612"/>
            <a:ext cx="2286000" cy="2057400"/>
          </a:xfrm>
          <a:custGeom>
            <a:avLst/>
            <a:gdLst>
              <a:gd name="G0" fmla="+- 3030 0 0"/>
              <a:gd name="G1" fmla="+- 21600 0 3030"/>
              <a:gd name="G2" fmla="+- 21600 0 303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030" y="10800"/>
                </a:moveTo>
                <a:cubicBezTo>
                  <a:pt x="3030" y="15091"/>
                  <a:pt x="6509" y="18570"/>
                  <a:pt x="10800" y="18570"/>
                </a:cubicBezTo>
                <a:cubicBezTo>
                  <a:pt x="15091" y="18570"/>
                  <a:pt x="18570" y="15091"/>
                  <a:pt x="18570" y="10800"/>
                </a:cubicBezTo>
                <a:cubicBezTo>
                  <a:pt x="18570" y="6509"/>
                  <a:pt x="15091" y="3030"/>
                  <a:pt x="10800" y="3030"/>
                </a:cubicBezTo>
                <a:cubicBezTo>
                  <a:pt x="6509" y="3030"/>
                  <a:pt x="3030" y="6509"/>
                  <a:pt x="3030" y="10800"/>
                </a:cubicBezTo>
                <a:close/>
              </a:path>
            </a:pathLst>
          </a:custGeom>
          <a:solidFill>
            <a:srgbClr val="CC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617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2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534400" cy="914400"/>
          </a:xfrm>
        </p:spPr>
        <p:txBody>
          <a:bodyPr>
            <a:normAutofit/>
          </a:bodyPr>
          <a:lstStyle/>
          <a:p>
            <a:r>
              <a:rPr lang="en-US" dirty="0"/>
              <a:t>Types of Clusters: Objective Function</a:t>
            </a:r>
          </a:p>
        </p:txBody>
      </p:sp>
      <p:sp>
        <p:nvSpPr>
          <p:cNvPr id="1588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524000"/>
            <a:ext cx="8504237" cy="4953000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ct val="20000"/>
              </a:spcBef>
            </a:pPr>
            <a:r>
              <a:rPr lang="en-US" dirty="0"/>
              <a:t>Clustering as an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optimization problem</a:t>
            </a:r>
          </a:p>
          <a:p>
            <a:pPr lvl="1">
              <a:spcBef>
                <a:spcPct val="20000"/>
              </a:spcBef>
            </a:pPr>
            <a:r>
              <a:rPr lang="en-US" dirty="0"/>
              <a:t>Finds clusters that minimize or maximize an </a:t>
            </a:r>
            <a:r>
              <a:rPr lang="en-US" dirty="0">
                <a:solidFill>
                  <a:srgbClr val="00B0F0"/>
                </a:solidFill>
              </a:rPr>
              <a:t>objective function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Enumerate all possible ways of dividing the points into clusters and evaluate the `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goodness</a:t>
            </a:r>
            <a:r>
              <a:rPr lang="en-US" dirty="0"/>
              <a:t>' of each potential set of clusters by using the given objective function.  (NP Hard)</a:t>
            </a:r>
          </a:p>
          <a:p>
            <a:pPr lvl="1"/>
            <a:r>
              <a:rPr lang="en-US" dirty="0"/>
              <a:t> Can have </a:t>
            </a:r>
            <a:r>
              <a:rPr lang="en-US" dirty="0">
                <a:solidFill>
                  <a:srgbClr val="00B0F0"/>
                </a:solidFill>
              </a:rPr>
              <a:t>global</a:t>
            </a:r>
            <a:r>
              <a:rPr lang="en-US" dirty="0"/>
              <a:t> or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local</a:t>
            </a:r>
            <a:r>
              <a:rPr lang="en-US" dirty="0"/>
              <a:t> objectives.</a:t>
            </a:r>
          </a:p>
          <a:p>
            <a:pPr lvl="2"/>
            <a:r>
              <a:rPr lang="en-US" dirty="0"/>
              <a:t> Hierarchical clustering algorithms typically have local objectives</a:t>
            </a:r>
          </a:p>
          <a:p>
            <a:pPr lvl="2"/>
            <a:r>
              <a:rPr lang="en-US" dirty="0"/>
              <a:t> </a:t>
            </a:r>
            <a:r>
              <a:rPr lang="en-US" dirty="0" err="1"/>
              <a:t>Partitional</a:t>
            </a:r>
            <a:r>
              <a:rPr lang="en-US" dirty="0"/>
              <a:t> algorithms typically have global objectives</a:t>
            </a:r>
          </a:p>
          <a:p>
            <a:pPr lvl="1"/>
            <a:r>
              <a:rPr lang="en-US" dirty="0"/>
              <a:t>A variation of the global objective function approach is to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fit</a:t>
            </a:r>
            <a:r>
              <a:rPr lang="en-US" dirty="0"/>
              <a:t> the data to a </a:t>
            </a:r>
            <a:r>
              <a:rPr lang="en-US" dirty="0">
                <a:solidFill>
                  <a:srgbClr val="00B0F0"/>
                </a:solidFill>
              </a:rPr>
              <a:t>parameterized model</a:t>
            </a:r>
            <a:r>
              <a:rPr lang="en-US" dirty="0"/>
              <a:t>. </a:t>
            </a:r>
          </a:p>
          <a:p>
            <a:pPr lvl="2"/>
            <a:r>
              <a:rPr lang="en-US" dirty="0"/>
              <a:t> 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parameters</a:t>
            </a:r>
            <a:r>
              <a:rPr lang="en-US" dirty="0"/>
              <a:t> for the model are determined from the data, and they determine the clustering</a:t>
            </a:r>
          </a:p>
          <a:p>
            <a:pPr lvl="2"/>
            <a:r>
              <a:rPr lang="en-US" dirty="0"/>
              <a:t> E.g., </a:t>
            </a:r>
            <a:r>
              <a:rPr lang="en-US" dirty="0">
                <a:solidFill>
                  <a:srgbClr val="00B0F0"/>
                </a:solidFill>
              </a:rPr>
              <a:t>Mixture models </a:t>
            </a:r>
            <a:r>
              <a:rPr lang="en-US" dirty="0"/>
              <a:t>assume that the data is a ‘mixture' of a number of statistical distributions.  </a:t>
            </a:r>
          </a:p>
        </p:txBody>
      </p:sp>
    </p:spTree>
    <p:extLst>
      <p:ext uri="{BB962C8B-B14F-4D97-AF65-F5344CB8AC3E}">
        <p14:creationId xmlns:p14="http://schemas.microsoft.com/office/powerpoint/2010/main" val="2318126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29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Clustering Algorithms</a:t>
            </a:r>
          </a:p>
        </p:txBody>
      </p:sp>
      <p:sp>
        <p:nvSpPr>
          <p:cNvPr id="159129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K-means and its variants</a:t>
            </a:r>
          </a:p>
          <a:p>
            <a:pPr lvl="4"/>
            <a:endParaRPr lang="en-US" dirty="0"/>
          </a:p>
          <a:p>
            <a:r>
              <a:rPr lang="en-US" dirty="0"/>
              <a:t>Hierarchical clustering</a:t>
            </a:r>
          </a:p>
          <a:p>
            <a:endParaRPr lang="en-US" dirty="0"/>
          </a:p>
          <a:p>
            <a:r>
              <a:rPr lang="en-US" dirty="0"/>
              <a:t>DBSCAN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624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74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3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280400" cy="1219200"/>
          </a:xfrm>
        </p:spPr>
        <p:txBody>
          <a:bodyPr>
            <a:normAutofit/>
          </a:bodyPr>
          <a:lstStyle/>
          <a:p>
            <a:r>
              <a:rPr lang="en-US" sz="3600" dirty="0"/>
              <a:t>K-means Clustering</a:t>
            </a:r>
          </a:p>
        </p:txBody>
      </p:sp>
      <p:sp>
        <p:nvSpPr>
          <p:cNvPr id="1592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600200"/>
            <a:ext cx="8001000" cy="4572000"/>
          </a:xfrm>
        </p:spPr>
        <p:txBody>
          <a:bodyPr>
            <a:normAutofit/>
          </a:bodyPr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dirty="0" err="1"/>
              <a:t>Partitional</a:t>
            </a:r>
            <a:r>
              <a:rPr lang="en-US" dirty="0"/>
              <a:t> clustering approach 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Each cluster is associated with a </a:t>
            </a:r>
            <a:r>
              <a:rPr lang="en-US" dirty="0">
                <a:solidFill>
                  <a:srgbClr val="FF0000"/>
                </a:solidFill>
              </a:rPr>
              <a:t>centroid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(center point) 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Each point is assigned to the cluster with 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closest</a:t>
            </a:r>
            <a:r>
              <a:rPr lang="en-US" dirty="0"/>
              <a:t> centroid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Number of clusters, </a:t>
            </a:r>
            <a:r>
              <a:rPr lang="en-US" dirty="0">
                <a:solidFill>
                  <a:srgbClr val="0070C0"/>
                </a:solidFill>
              </a:rPr>
              <a:t>K</a:t>
            </a:r>
            <a:r>
              <a:rPr lang="en-US" dirty="0"/>
              <a:t>, must be specified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objective</a:t>
            </a:r>
            <a:r>
              <a:rPr lang="en-US" dirty="0"/>
              <a:t> is find </a:t>
            </a:r>
            <a:r>
              <a:rPr lang="en-US" dirty="0">
                <a:solidFill>
                  <a:srgbClr val="0070C0"/>
                </a:solidFill>
              </a:rPr>
              <a:t>K</a:t>
            </a:r>
            <a:r>
              <a:rPr lang="en-US" dirty="0"/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centroids</a:t>
            </a:r>
            <a:r>
              <a:rPr lang="en-US" dirty="0"/>
              <a:t> and the </a:t>
            </a:r>
            <a:r>
              <a:rPr lang="en-US" dirty="0">
                <a:solidFill>
                  <a:srgbClr val="0070C0"/>
                </a:solidFill>
              </a:rPr>
              <a:t>assignment</a:t>
            </a:r>
            <a:r>
              <a:rPr lang="en-US" dirty="0"/>
              <a:t> of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points to clusters/centroids </a:t>
            </a:r>
            <a:r>
              <a:rPr lang="en-US" dirty="0"/>
              <a:t>so as to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minimize the sum of distances </a:t>
            </a:r>
            <a:r>
              <a:rPr lang="en-US" dirty="0"/>
              <a:t>of the points to their respective </a:t>
            </a:r>
            <a:r>
              <a:rPr lang="en-US" dirty="0">
                <a:solidFill>
                  <a:srgbClr val="0070C0"/>
                </a:solidFill>
              </a:rPr>
              <a:t>centroid</a:t>
            </a:r>
          </a:p>
        </p:txBody>
      </p:sp>
    </p:spTree>
    <p:extLst>
      <p:ext uri="{BB962C8B-B14F-4D97-AF65-F5344CB8AC3E}">
        <p14:creationId xmlns:p14="http://schemas.microsoft.com/office/powerpoint/2010/main" val="21199269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 rtlCol="0">
                <a:normAutofit/>
              </a:bodyPr>
              <a:lstStyle/>
              <a:p>
                <a:pPr>
                  <a:defRPr/>
                </a:pPr>
                <a:r>
                  <a:rPr lang="en-US" dirty="0">
                    <a:solidFill>
                      <a:srgbClr val="FF0000"/>
                    </a:solidFill>
                  </a:rPr>
                  <a:t>Problem: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Given a set </a:t>
                </a:r>
                <a:r>
                  <a:rPr lang="en-US" dirty="0">
                    <a:solidFill>
                      <a:srgbClr val="0070C0"/>
                    </a:solidFill>
                  </a:rPr>
                  <a:t>X</a:t>
                </a:r>
                <a:r>
                  <a:rPr lang="en-US" dirty="0"/>
                  <a:t> of </a:t>
                </a:r>
                <a:r>
                  <a:rPr lang="en-US" dirty="0">
                    <a:solidFill>
                      <a:srgbClr val="0070C0"/>
                    </a:solidFill>
                  </a:rPr>
                  <a:t>n </a:t>
                </a:r>
                <a:r>
                  <a:rPr lang="en-US" dirty="0"/>
                  <a:t>objects and an integer </a:t>
                </a:r>
                <a:r>
                  <a:rPr lang="en-US" dirty="0">
                    <a:solidFill>
                      <a:srgbClr val="0070C0"/>
                    </a:solidFill>
                  </a:rPr>
                  <a:t>K</a:t>
                </a:r>
                <a:r>
                  <a:rPr lang="en-US" dirty="0">
                    <a:solidFill>
                      <a:schemeClr val="accent1"/>
                    </a:solidFill>
                  </a:rPr>
                  <a:t>, </a:t>
                </a:r>
                <a:r>
                  <a:rPr lang="en-US" dirty="0"/>
                  <a:t>group the points into </a:t>
                </a:r>
                <a:r>
                  <a:rPr lang="en-US" dirty="0">
                    <a:solidFill>
                      <a:srgbClr val="0070C0"/>
                    </a:solidFill>
                  </a:rPr>
                  <a:t>K</a:t>
                </a:r>
                <a:r>
                  <a:rPr lang="en-US" dirty="0"/>
                  <a:t> clusters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𝐶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</a:rPr>
                      <m:t>= {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𝐶</m:t>
                    </m:r>
                    <m:r>
                      <a:rPr lang="en-US" i="1" baseline="-25000" dirty="0" smtClean="0">
                        <a:solidFill>
                          <a:srgbClr val="0070C0"/>
                        </a:solidFill>
                        <a:latin typeface="Cambria Math"/>
                      </a:rPr>
                      <m:t>1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𝐶</m:t>
                    </m:r>
                    <m:r>
                      <a:rPr lang="en-US" i="1" baseline="-25000" dirty="0" smtClean="0">
                        <a:solidFill>
                          <a:srgbClr val="0070C0"/>
                        </a:solidFill>
                        <a:latin typeface="Cambria Math"/>
                      </a:rPr>
                      <m:t>2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</a:rPr>
                      <m:t>,…,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𝐶𝑘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</a:rPr>
                      <m:t>} </m:t>
                    </m:r>
                  </m:oMath>
                </a14:m>
                <a:r>
                  <a:rPr lang="en-US" dirty="0"/>
                  <a:t>such that</a:t>
                </a:r>
              </a:p>
              <a:p>
                <a:pPr marL="0" indent="0" fontAlgn="auto">
                  <a:spcAft>
                    <a:spcPts val="0"/>
                  </a:spcAft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𝐶𝑜𝑠𝑡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/>
                            </a:rPr>
                            <m:t>𝑘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𝑑𝑖𝑠𝑡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fontAlgn="auto">
                  <a:spcAft>
                    <a:spcPts val="0"/>
                  </a:spcAft>
                  <a:buFont typeface="Arial" pitchFamily="34" charset="0"/>
                  <a:buNone/>
                  <a:defRPr/>
                </a:pPr>
                <a:r>
                  <a:rPr lang="en-US" dirty="0"/>
                  <a:t>	is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minimized</a:t>
                </a:r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𝑐</m:t>
                    </m:r>
                    <m:r>
                      <a:rPr lang="en-US" i="1" baseline="-25000" dirty="0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dirty="0"/>
                  <a:t> is the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centroid </a:t>
                </a:r>
                <a:r>
                  <a:rPr lang="en-US" dirty="0"/>
                  <a:t>of the points in cluster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𝐶</m:t>
                    </m:r>
                    <m:r>
                      <a:rPr lang="en-US" i="1" baseline="-25000" dirty="0" err="1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</a:p>
              <a:p>
                <a:pPr>
                  <a:defRPr/>
                </a:pPr>
                <a:r>
                  <a:rPr lang="en-US" dirty="0"/>
                  <a:t>Note: We need to find </a:t>
                </a:r>
                <a:r>
                  <a:rPr lang="en-US" dirty="0">
                    <a:solidFill>
                      <a:srgbClr val="FF0000"/>
                    </a:solidFill>
                  </a:rPr>
                  <a:t>both</a:t>
                </a:r>
                <a:r>
                  <a:rPr lang="en-US" dirty="0"/>
                  <a:t> the </a:t>
                </a:r>
                <a:r>
                  <a:rPr lang="en-US" dirty="0">
                    <a:solidFill>
                      <a:srgbClr val="0070C0"/>
                    </a:solidFill>
                  </a:rPr>
                  <a:t>grouping</a:t>
                </a:r>
                <a:r>
                  <a:rPr lang="en-US" dirty="0"/>
                  <a:t> into clusters </a:t>
                </a:r>
                <a:r>
                  <a:rPr lang="en-US" dirty="0">
                    <a:solidFill>
                      <a:srgbClr val="FF0000"/>
                    </a:solidFill>
                  </a:rPr>
                  <a:t>and</a:t>
                </a:r>
                <a:r>
                  <a:rPr lang="en-US" dirty="0"/>
                  <a:t> the </a:t>
                </a:r>
                <a:r>
                  <a:rPr lang="en-US" dirty="0">
                    <a:solidFill>
                      <a:srgbClr val="0070C0"/>
                    </a:solidFill>
                  </a:rPr>
                  <a:t>centroids</a:t>
                </a:r>
                <a:r>
                  <a:rPr lang="en-US" dirty="0"/>
                  <a:t> per cluster.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63" t="-1250" r="-2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21294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 rtlCol="0">
                <a:normAutofit fontScale="92500" lnSpcReduction="10000"/>
              </a:bodyPr>
              <a:lstStyle/>
              <a:p>
                <a:pPr fontAlgn="auto">
                  <a:spcAft>
                    <a:spcPts val="0"/>
                  </a:spcAft>
                  <a:buFont typeface="Arial" pitchFamily="34" charset="0"/>
                  <a:buChar char="•"/>
                  <a:defRPr/>
                </a:pPr>
                <a:r>
                  <a:rPr lang="en-US" dirty="0"/>
                  <a:t>Most common definition is with </a:t>
                </a:r>
                <a:r>
                  <a:rPr lang="en-US" dirty="0" err="1"/>
                  <a:t>euclidean</a:t>
                </a:r>
                <a:r>
                  <a:rPr lang="en-US" dirty="0"/>
                  <a:t> distance, minimizing the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Sum of Squares Error (SSE)</a:t>
                </a:r>
                <a:r>
                  <a:rPr lang="en-US" dirty="0"/>
                  <a:t> function</a:t>
                </a:r>
              </a:p>
              <a:p>
                <a:pPr lvl="1">
                  <a:defRPr/>
                </a:pPr>
                <a:r>
                  <a:rPr lang="en-US" dirty="0"/>
                  <a:t>Sometimes K-means is defined like that</a:t>
                </a:r>
              </a:p>
              <a:p>
                <a:pPr>
                  <a:defRPr/>
                </a:pPr>
                <a:endParaRPr lang="en-US" b="1" dirty="0">
                  <a:solidFill>
                    <a:srgbClr val="FF0000"/>
                  </a:solidFill>
                </a:endParaRPr>
              </a:p>
              <a:p>
                <a:pPr>
                  <a:defRPr/>
                </a:pPr>
                <a:r>
                  <a:rPr lang="en-US" dirty="0">
                    <a:solidFill>
                      <a:srgbClr val="FF0000"/>
                    </a:solidFill>
                  </a:rPr>
                  <a:t>Problem: </a:t>
                </a:r>
                <a:r>
                  <a:rPr lang="en-US" dirty="0"/>
                  <a:t>Given a set </a:t>
                </a:r>
                <a:r>
                  <a:rPr lang="en-US" dirty="0">
                    <a:solidFill>
                      <a:schemeClr val="accent1"/>
                    </a:solidFill>
                  </a:rPr>
                  <a:t>X</a:t>
                </a:r>
                <a:r>
                  <a:rPr lang="en-US" dirty="0"/>
                  <a:t> of </a:t>
                </a:r>
                <a:r>
                  <a:rPr lang="en-US" dirty="0">
                    <a:solidFill>
                      <a:schemeClr val="accent1"/>
                    </a:solidFill>
                  </a:rPr>
                  <a:t>n</a:t>
                </a:r>
                <a:r>
                  <a:rPr lang="en-US" dirty="0"/>
                  <a:t> points in a </a:t>
                </a:r>
                <a:r>
                  <a:rPr lang="en-US" dirty="0">
                    <a:solidFill>
                      <a:schemeClr val="accent1"/>
                    </a:solidFill>
                  </a:rPr>
                  <a:t>d</a:t>
                </a:r>
                <a:r>
                  <a:rPr lang="en-US" dirty="0"/>
                  <a:t>-dimensional space and an integer </a:t>
                </a:r>
                <a:r>
                  <a:rPr lang="en-US" dirty="0">
                    <a:solidFill>
                      <a:schemeClr val="accent1"/>
                    </a:solidFill>
                  </a:rPr>
                  <a:t>K </a:t>
                </a:r>
                <a:r>
                  <a:rPr lang="en-US" dirty="0"/>
                  <a:t>group the points into </a:t>
                </a:r>
                <a:r>
                  <a:rPr lang="en-US" dirty="0">
                    <a:solidFill>
                      <a:srgbClr val="0070C0"/>
                    </a:solidFill>
                  </a:rPr>
                  <a:t>K</a:t>
                </a:r>
                <a:r>
                  <a:rPr lang="en-US" dirty="0"/>
                  <a:t> clusters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/>
                      </a:rPr>
                      <m:t>𝐶</m:t>
                    </m:r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/>
                      </a:rPr>
                      <m:t>= {</m:t>
                    </m:r>
                    <m:r>
                      <a:rPr lang="en-US" i="1" dirty="0" err="1" smtClean="0">
                        <a:solidFill>
                          <a:schemeClr val="accent1"/>
                        </a:solidFill>
                        <a:latin typeface="Cambria Math"/>
                      </a:rPr>
                      <m:t>𝐶</m:t>
                    </m:r>
                    <m:r>
                      <a:rPr lang="en-US" i="1" baseline="-25000" dirty="0" err="1" smtClean="0">
                        <a:solidFill>
                          <a:schemeClr val="accent1"/>
                        </a:solidFill>
                        <a:latin typeface="Cambria Math"/>
                      </a:rPr>
                      <m:t>1</m:t>
                    </m:r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/>
                      </a:rPr>
                      <m:t>𝐶</m:t>
                    </m:r>
                    <m:r>
                      <a:rPr lang="en-US" i="1" baseline="-25000" dirty="0" smtClean="0">
                        <a:solidFill>
                          <a:schemeClr val="accent1"/>
                        </a:solidFill>
                        <a:latin typeface="Cambria Math"/>
                      </a:rPr>
                      <m:t>2</m:t>
                    </m:r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/>
                      </a:rPr>
                      <m:t>,…,</m:t>
                    </m:r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/>
                      </a:rPr>
                      <m:t>𝐶𝑘</m:t>
                    </m:r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/>
                      </a:rPr>
                      <m:t>} </m:t>
                    </m:r>
                  </m:oMath>
                </a14:m>
                <a:r>
                  <a:rPr lang="en-US" dirty="0"/>
                  <a:t>such that</a:t>
                </a:r>
              </a:p>
              <a:p>
                <a:pPr marL="0" indent="0" fontAlgn="auto">
                  <a:spcAft>
                    <a:spcPts val="0"/>
                  </a:spcAft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𝐶𝑜𝑠𝑡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/>
                            </a:rPr>
                            <m:t>𝑘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fontAlgn="auto">
                  <a:spcAft>
                    <a:spcPts val="0"/>
                  </a:spcAft>
                  <a:buFont typeface="Arial" pitchFamily="34" charset="0"/>
                  <a:buNone/>
                  <a:defRPr/>
                </a:pPr>
                <a:r>
                  <a:rPr lang="en-US" dirty="0"/>
                  <a:t>is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minimized</a:t>
                </a:r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𝑐</m:t>
                    </m:r>
                    <m:r>
                      <a:rPr lang="en-US" i="1" baseline="-25000" dirty="0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dirty="0"/>
                  <a:t> is the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mean </a:t>
                </a:r>
                <a:r>
                  <a:rPr lang="en-US" dirty="0"/>
                  <a:t>of the points in cluster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𝐶</m:t>
                    </m:r>
                    <m:r>
                      <a:rPr lang="en-US" i="1" baseline="-25000" dirty="0" err="1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endParaRPr lang="en-US" baseline="-25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259" t="-2000" r="-1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6048281" y="6019800"/>
            <a:ext cx="3095719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Sum of Squares Error (SSE)</a:t>
            </a:r>
          </a:p>
        </p:txBody>
      </p:sp>
    </p:spTree>
    <p:extLst>
      <p:ext uri="{BB962C8B-B14F-4D97-AF65-F5344CB8AC3E}">
        <p14:creationId xmlns:p14="http://schemas.microsoft.com/office/powerpoint/2010/main" val="35596316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3400"/>
            <a:ext cx="8305800" cy="99060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Complexity of the k-means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87680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NP-hard</a:t>
            </a:r>
            <a:r>
              <a:rPr lang="en-US" dirty="0"/>
              <a:t> if the dimensionality of the data is at least 2 (</a:t>
            </a:r>
            <a:r>
              <a:rPr lang="en-US" dirty="0">
                <a:solidFill>
                  <a:schemeClr val="accent1"/>
                </a:solidFill>
              </a:rPr>
              <a:t>d≥2</a:t>
            </a:r>
            <a:r>
              <a:rPr lang="en-US" dirty="0"/>
              <a:t>)</a:t>
            </a:r>
          </a:p>
          <a:p>
            <a:pPr lvl="1">
              <a:defRPr/>
            </a:pPr>
            <a:r>
              <a:rPr lang="en-US" dirty="0"/>
              <a:t>Finding the best solution in polynomial time is infeasible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/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For </a:t>
            </a:r>
            <a:r>
              <a:rPr lang="en-US" dirty="0">
                <a:solidFill>
                  <a:schemeClr val="accent1"/>
                </a:solidFill>
              </a:rPr>
              <a:t>d=1</a:t>
            </a:r>
            <a:r>
              <a:rPr lang="en-US" dirty="0"/>
              <a:t> the problem is solvable in polynomial time (how?)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/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A simple iterative algorithm works quite well in practice</a:t>
            </a:r>
          </a:p>
        </p:txBody>
      </p:sp>
    </p:spTree>
    <p:extLst>
      <p:ext uri="{BB962C8B-B14F-4D97-AF65-F5344CB8AC3E}">
        <p14:creationId xmlns:p14="http://schemas.microsoft.com/office/powerpoint/2010/main" val="34588851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3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280400" cy="1219200"/>
          </a:xfrm>
        </p:spPr>
        <p:txBody>
          <a:bodyPr>
            <a:normAutofit/>
          </a:bodyPr>
          <a:lstStyle/>
          <a:p>
            <a:r>
              <a:rPr lang="en-US" dirty="0"/>
              <a:t>K-means Algorithm</a:t>
            </a:r>
          </a:p>
        </p:txBody>
      </p:sp>
      <p:graphicFrame>
        <p:nvGraphicFramePr>
          <p:cNvPr id="15923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9955827"/>
              </p:ext>
            </p:extLst>
          </p:nvPr>
        </p:nvGraphicFramePr>
        <p:xfrm>
          <a:off x="457200" y="3886200"/>
          <a:ext cx="8153400" cy="211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8" name="Bitmap Image" r:id="rId3" imgW="9784928" imgH="3177815" progId="Paint.Picture">
                  <p:embed/>
                </p:oleObj>
              </mc:Choice>
              <mc:Fallback>
                <p:oleObj name="Bitmap Image" r:id="rId3" imgW="9784928" imgH="3177815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20143"/>
                      <a:stretch>
                        <a:fillRect/>
                      </a:stretch>
                    </p:blipFill>
                    <p:spPr bwMode="auto">
                      <a:xfrm>
                        <a:off x="457200" y="3886200"/>
                        <a:ext cx="8153400" cy="211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905000"/>
          </a:xfrm>
        </p:spPr>
        <p:txBody>
          <a:bodyPr/>
          <a:lstStyle/>
          <a:p>
            <a:r>
              <a:rPr lang="en-US" dirty="0"/>
              <a:t>Also known as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Lloyd’s algorithm</a:t>
            </a:r>
            <a:r>
              <a:rPr lang="en-US" dirty="0"/>
              <a:t>.</a:t>
            </a:r>
          </a:p>
          <a:p>
            <a:r>
              <a:rPr lang="en-US" dirty="0"/>
              <a:t>K-means is sometimes synonymous with this algorithm</a:t>
            </a:r>
          </a:p>
        </p:txBody>
      </p:sp>
      <p:sp>
        <p:nvSpPr>
          <p:cNvPr id="3" name="Rectangle 2"/>
          <p:cNvSpPr/>
          <p:nvPr/>
        </p:nvSpPr>
        <p:spPr>
          <a:xfrm>
            <a:off x="533400" y="3886200"/>
            <a:ext cx="5257800" cy="381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33400" y="5029200"/>
            <a:ext cx="7848600" cy="381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937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3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K-means Algorithm – Initialization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 centroids are often chosen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randomly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Clusters produced vary from one run to another.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2027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370" name="Rectangle 2"/>
          <p:cNvSpPr>
            <a:spLocks noGrp="1" noChangeArrowheads="1"/>
          </p:cNvSpPr>
          <p:nvPr>
            <p:ph type="title"/>
          </p:nvPr>
        </p:nvSpPr>
        <p:spPr>
          <a:xfrm>
            <a:off x="393700" y="304800"/>
            <a:ext cx="8280400" cy="838200"/>
          </a:xfrm>
        </p:spPr>
        <p:txBody>
          <a:bodyPr>
            <a:normAutofit/>
          </a:bodyPr>
          <a:lstStyle/>
          <a:p>
            <a:r>
              <a:rPr lang="en-US" dirty="0"/>
              <a:t>Two different K-means </a:t>
            </a:r>
            <a:r>
              <a:rPr lang="en-US" dirty="0" err="1"/>
              <a:t>Clusterings</a:t>
            </a:r>
            <a:endParaRPr lang="en-US" dirty="0"/>
          </a:p>
        </p:txBody>
      </p:sp>
      <p:pic>
        <p:nvPicPr>
          <p:cNvPr id="15943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263" y="1295400"/>
            <a:ext cx="3043237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94372" name="Text Box 4"/>
          <p:cNvSpPr txBox="1">
            <a:spLocks noChangeArrowheads="1"/>
          </p:cNvSpPr>
          <p:nvPr/>
        </p:nvSpPr>
        <p:spPr bwMode="auto">
          <a:xfrm>
            <a:off x="609600" y="4419600"/>
            <a:ext cx="800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grpSp>
        <p:nvGrpSpPr>
          <p:cNvPr id="1594373" name="Group 5"/>
          <p:cNvGrpSpPr>
            <a:grpSpLocks/>
          </p:cNvGrpSpPr>
          <p:nvPr/>
        </p:nvGrpSpPr>
        <p:grpSpPr bwMode="auto">
          <a:xfrm>
            <a:off x="5105400" y="3660775"/>
            <a:ext cx="3048000" cy="2587625"/>
            <a:chOff x="3216" y="2306"/>
            <a:chExt cx="1920" cy="1630"/>
          </a:xfrm>
        </p:grpSpPr>
        <p:pic>
          <p:nvPicPr>
            <p:cNvPr id="1594374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6" y="2306"/>
              <a:ext cx="1917" cy="1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594375" name="Text Box 7"/>
            <p:cNvSpPr txBox="1">
              <a:spLocks noChangeArrowheads="1"/>
            </p:cNvSpPr>
            <p:nvPr/>
          </p:nvSpPr>
          <p:spPr bwMode="auto">
            <a:xfrm>
              <a:off x="3408" y="3705"/>
              <a:ext cx="17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/>
                <a:t>Sub-optimal Clustering</a:t>
              </a:r>
            </a:p>
          </p:txBody>
        </p:sp>
      </p:grpSp>
      <p:grpSp>
        <p:nvGrpSpPr>
          <p:cNvPr id="1594376" name="Group 8"/>
          <p:cNvGrpSpPr>
            <a:grpSpLocks/>
          </p:cNvGrpSpPr>
          <p:nvPr/>
        </p:nvGrpSpPr>
        <p:grpSpPr bwMode="auto">
          <a:xfrm>
            <a:off x="990600" y="3660775"/>
            <a:ext cx="3043238" cy="2587625"/>
            <a:chOff x="624" y="2306"/>
            <a:chExt cx="1917" cy="1630"/>
          </a:xfrm>
        </p:grpSpPr>
        <p:pic>
          <p:nvPicPr>
            <p:cNvPr id="1594377" name="Picture 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" y="2306"/>
              <a:ext cx="1917" cy="1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594378" name="Text Box 10"/>
            <p:cNvSpPr txBox="1">
              <a:spLocks noChangeArrowheads="1"/>
            </p:cNvSpPr>
            <p:nvPr/>
          </p:nvSpPr>
          <p:spPr bwMode="auto">
            <a:xfrm>
              <a:off x="912" y="3705"/>
              <a:ext cx="14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/>
                <a:t>Optimal Clustering</a:t>
              </a:r>
            </a:p>
          </p:txBody>
        </p:sp>
      </p:grpSp>
      <p:sp>
        <p:nvSpPr>
          <p:cNvPr id="1594379" name="Text Box 11"/>
          <p:cNvSpPr txBox="1">
            <a:spLocks noChangeArrowheads="1"/>
          </p:cNvSpPr>
          <p:nvPr/>
        </p:nvSpPr>
        <p:spPr bwMode="auto">
          <a:xfrm>
            <a:off x="5257800" y="1927226"/>
            <a:ext cx="2209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/>
              <a:t>Original Points</a:t>
            </a:r>
          </a:p>
        </p:txBody>
      </p:sp>
    </p:spTree>
    <p:extLst>
      <p:ext uri="{BB962C8B-B14F-4D97-AF65-F5344CB8AC3E}">
        <p14:creationId xmlns:p14="http://schemas.microsoft.com/office/powerpoint/2010/main" val="1653764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4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4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394" name="Rectangle 2"/>
          <p:cNvSpPr>
            <a:spLocks noGrp="1" noChangeArrowheads="1"/>
          </p:cNvSpPr>
          <p:nvPr>
            <p:ph type="title"/>
          </p:nvPr>
        </p:nvSpPr>
        <p:spPr>
          <a:xfrm>
            <a:off x="127794" y="381000"/>
            <a:ext cx="8863806" cy="990600"/>
          </a:xfrm>
        </p:spPr>
        <p:txBody>
          <a:bodyPr>
            <a:noAutofit/>
          </a:bodyPr>
          <a:lstStyle/>
          <a:p>
            <a:r>
              <a:rPr lang="en-US" dirty="0"/>
              <a:t>Importance of Choosing Initial Centroids</a:t>
            </a:r>
          </a:p>
        </p:txBody>
      </p:sp>
      <p:sp>
        <p:nvSpPr>
          <p:cNvPr id="1595395" name="Text Box 3"/>
          <p:cNvSpPr txBox="1">
            <a:spLocks noChangeArrowheads="1"/>
          </p:cNvSpPr>
          <p:nvPr/>
        </p:nvSpPr>
        <p:spPr bwMode="auto">
          <a:xfrm>
            <a:off x="609600" y="4784725"/>
            <a:ext cx="800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pic>
        <p:nvPicPr>
          <p:cNvPr id="15953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575" y="1719263"/>
            <a:ext cx="5529263" cy="414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539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575" y="1719263"/>
            <a:ext cx="5529263" cy="414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539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575" y="1719263"/>
            <a:ext cx="5529263" cy="414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5399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575" y="1719263"/>
            <a:ext cx="5529263" cy="414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5400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575" y="1719263"/>
            <a:ext cx="5529263" cy="414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5401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575" y="1719263"/>
            <a:ext cx="5529263" cy="414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07794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27038" y="304800"/>
            <a:ext cx="8280400" cy="914400"/>
          </a:xfrm>
        </p:spPr>
        <p:txBody>
          <a:bodyPr>
            <a:noAutofit/>
          </a:bodyPr>
          <a:lstStyle/>
          <a:p>
            <a:r>
              <a:rPr lang="en-US" sz="3600" dirty="0"/>
              <a:t>Importance of Choosing Initial Centroids</a:t>
            </a:r>
          </a:p>
        </p:txBody>
      </p:sp>
      <p:sp>
        <p:nvSpPr>
          <p:cNvPr id="1596419" name="Text Box 3"/>
          <p:cNvSpPr txBox="1">
            <a:spLocks noChangeArrowheads="1"/>
          </p:cNvSpPr>
          <p:nvPr/>
        </p:nvSpPr>
        <p:spPr bwMode="auto">
          <a:xfrm>
            <a:off x="609600" y="4727575"/>
            <a:ext cx="800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pic>
        <p:nvPicPr>
          <p:cNvPr id="15964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50975"/>
            <a:ext cx="3043238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642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450975"/>
            <a:ext cx="3043238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642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450975"/>
            <a:ext cx="3043238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6423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94175"/>
            <a:ext cx="3043238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642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4194175"/>
            <a:ext cx="3043238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6425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4194175"/>
            <a:ext cx="3043238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01688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4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87338"/>
            <a:ext cx="8839200" cy="1066800"/>
          </a:xfrm>
        </p:spPr>
        <p:txBody>
          <a:bodyPr>
            <a:noAutofit/>
          </a:bodyPr>
          <a:lstStyle/>
          <a:p>
            <a:r>
              <a:rPr lang="en-US" dirty="0"/>
              <a:t>Importance of Choosing Initial Centroids</a:t>
            </a:r>
          </a:p>
        </p:txBody>
      </p:sp>
      <p:sp>
        <p:nvSpPr>
          <p:cNvPr id="1598467" name="Text Box 3"/>
          <p:cNvSpPr txBox="1">
            <a:spLocks noChangeArrowheads="1"/>
          </p:cNvSpPr>
          <p:nvPr/>
        </p:nvSpPr>
        <p:spPr bwMode="auto">
          <a:xfrm>
            <a:off x="609600" y="4860925"/>
            <a:ext cx="800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pic>
        <p:nvPicPr>
          <p:cNvPr id="15984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795463"/>
            <a:ext cx="5529263" cy="414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846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795463"/>
            <a:ext cx="5529263" cy="414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847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795463"/>
            <a:ext cx="5529263" cy="414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847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795463"/>
            <a:ext cx="5529263" cy="414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8472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795463"/>
            <a:ext cx="5529263" cy="414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2646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490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534400" cy="914400"/>
          </a:xfrm>
        </p:spPr>
        <p:txBody>
          <a:bodyPr>
            <a:noAutofit/>
          </a:bodyPr>
          <a:lstStyle/>
          <a:p>
            <a:r>
              <a:rPr lang="en-US" sz="3600" dirty="0"/>
              <a:t>Importance of Choosing Initial Centroids …</a:t>
            </a:r>
          </a:p>
        </p:txBody>
      </p:sp>
      <p:sp>
        <p:nvSpPr>
          <p:cNvPr id="1599491" name="Text Box 3"/>
          <p:cNvSpPr txBox="1">
            <a:spLocks noChangeArrowheads="1"/>
          </p:cNvSpPr>
          <p:nvPr/>
        </p:nvSpPr>
        <p:spPr bwMode="auto">
          <a:xfrm>
            <a:off x="609600" y="4651375"/>
            <a:ext cx="800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pic>
        <p:nvPicPr>
          <p:cNvPr id="159949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450975"/>
            <a:ext cx="3043238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949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450975"/>
            <a:ext cx="3043238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949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041775"/>
            <a:ext cx="3043238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9495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4041775"/>
            <a:ext cx="3043238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949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4041775"/>
            <a:ext cx="3043238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69900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Initialization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multiple runs </a:t>
            </a:r>
            <a:r>
              <a:rPr lang="en-US" dirty="0"/>
              <a:t>and select the clustering with the smallest error</a:t>
            </a:r>
          </a:p>
          <a:p>
            <a:endParaRPr lang="en-US" dirty="0"/>
          </a:p>
          <a:p>
            <a:r>
              <a:rPr lang="en-US" dirty="0"/>
              <a:t>Select original set of  points by methods other than random . E.g.,  pick the most distant (from each other) points as cluster centers 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K-means++ </a:t>
            </a:r>
            <a:r>
              <a:rPr lang="en-US" dirty="0"/>
              <a:t>algorithm)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8308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3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K-means Algorithm – Centroids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centroid</a:t>
            </a:r>
            <a:r>
              <a:rPr lang="en-US" dirty="0"/>
              <a:t> depends on the distance function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rgbClr val="0070C0"/>
                </a:solidFill>
              </a:rPr>
              <a:t>minimizer</a:t>
            </a:r>
            <a:r>
              <a:rPr lang="en-US" dirty="0"/>
              <a:t> for the distance function</a:t>
            </a:r>
          </a:p>
          <a:p>
            <a:r>
              <a:rPr lang="en-US" dirty="0"/>
              <a:t>‘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Closeness</a:t>
            </a:r>
            <a:r>
              <a:rPr lang="en-US" dirty="0"/>
              <a:t>’ is measured by some similarity or distance function</a:t>
            </a:r>
          </a:p>
          <a:p>
            <a:pPr lvl="1"/>
            <a:r>
              <a:rPr lang="en-US" dirty="0"/>
              <a:t>E.g., Euclidean distance (SSE), cosine similarity, correlation, etc.</a:t>
            </a:r>
          </a:p>
          <a:p>
            <a:r>
              <a:rPr lang="en-US" dirty="0">
                <a:solidFill>
                  <a:srgbClr val="0070C0"/>
                </a:solidFill>
              </a:rPr>
              <a:t>Centroid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mean</a:t>
            </a:r>
            <a:r>
              <a:rPr lang="en-US" dirty="0"/>
              <a:t> of the points in the cluster for SSE, and cosine similarity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median</a:t>
            </a:r>
            <a:r>
              <a:rPr lang="en-US" dirty="0"/>
              <a:t> for Manhattan distance.</a:t>
            </a:r>
          </a:p>
          <a:p>
            <a:pPr lvl="1"/>
            <a:endParaRPr lang="en-US" dirty="0"/>
          </a:p>
          <a:p>
            <a:r>
              <a:rPr lang="en-US" dirty="0"/>
              <a:t>Finding the centroid is not always easy </a:t>
            </a:r>
          </a:p>
          <a:p>
            <a:pPr lvl="1"/>
            <a:r>
              <a:rPr lang="en-US" dirty="0"/>
              <a:t>It can be an NP-hard problem for some distance functions</a:t>
            </a:r>
          </a:p>
          <a:p>
            <a:pPr lvl="2"/>
            <a:r>
              <a:rPr lang="en-US" dirty="0"/>
              <a:t>E.g., median for multiple dimensions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1422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3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K-means Algorithm – Convergence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K-means will </a:t>
            </a:r>
            <a:r>
              <a:rPr lang="en-US" dirty="0">
                <a:solidFill>
                  <a:srgbClr val="0070C0"/>
                </a:solidFill>
              </a:rPr>
              <a:t>converge</a:t>
            </a:r>
            <a:r>
              <a:rPr lang="en-US" dirty="0"/>
              <a:t> for common similarity measures mentioned above.</a:t>
            </a:r>
          </a:p>
          <a:p>
            <a:pPr lvl="1"/>
            <a:r>
              <a:rPr lang="en-US" dirty="0"/>
              <a:t>Most of the convergence happens in the first few iterations.</a:t>
            </a:r>
          </a:p>
          <a:p>
            <a:pPr lvl="1"/>
            <a:r>
              <a:rPr lang="en-US" dirty="0"/>
              <a:t>Often the stopping condition is changed to ‘</a:t>
            </a:r>
            <a:r>
              <a:rPr lang="en-US" dirty="0">
                <a:solidFill>
                  <a:srgbClr val="00B050"/>
                </a:solidFill>
              </a:rPr>
              <a:t>Until relatively few points change clusters</a:t>
            </a:r>
            <a:r>
              <a:rPr lang="en-US" dirty="0"/>
              <a:t>’</a:t>
            </a:r>
          </a:p>
          <a:p>
            <a:r>
              <a:rPr lang="en-US" dirty="0"/>
              <a:t>Complexity is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O( n * K * I * d )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n</a:t>
            </a:r>
            <a:r>
              <a:rPr lang="en-US" dirty="0"/>
              <a:t> = number of points,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K</a:t>
            </a:r>
            <a:r>
              <a:rPr lang="en-US" dirty="0"/>
              <a:t> = number of clusters,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I</a:t>
            </a:r>
            <a:r>
              <a:rPr lang="en-US" dirty="0"/>
              <a:t> = number of iterations,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d</a:t>
            </a:r>
            <a:r>
              <a:rPr lang="en-US" dirty="0"/>
              <a:t> = dimensionality</a:t>
            </a:r>
          </a:p>
          <a:p>
            <a:r>
              <a:rPr lang="en-US" dirty="0"/>
              <a:t>In general a fast and efficient algorithm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5785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Limitations of K-means</a:t>
            </a:r>
          </a:p>
        </p:txBody>
      </p:sp>
      <p:sp>
        <p:nvSpPr>
          <p:cNvPr id="1611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K-means has problems when clusters are of different: </a:t>
            </a:r>
          </a:p>
          <a:p>
            <a:pPr lvl="1"/>
            <a:r>
              <a:rPr lang="en-US" dirty="0"/>
              <a:t>sizes</a:t>
            </a:r>
          </a:p>
          <a:p>
            <a:pPr lvl="1"/>
            <a:r>
              <a:rPr lang="en-US" dirty="0"/>
              <a:t>densities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non-globular</a:t>
            </a:r>
            <a:r>
              <a:rPr lang="en-US" dirty="0"/>
              <a:t> shapes</a:t>
            </a:r>
          </a:p>
          <a:p>
            <a:endParaRPr lang="en-US" dirty="0"/>
          </a:p>
          <a:p>
            <a:r>
              <a:rPr lang="en-US" dirty="0"/>
              <a:t>K-means has problems when the data contains outliers.</a:t>
            </a:r>
          </a:p>
        </p:txBody>
      </p:sp>
    </p:spTree>
    <p:extLst>
      <p:ext uri="{BB962C8B-B14F-4D97-AF65-F5344CB8AC3E}">
        <p14:creationId xmlns:p14="http://schemas.microsoft.com/office/powerpoint/2010/main" val="10709889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80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8280400" cy="914400"/>
          </a:xfrm>
        </p:spPr>
        <p:txBody>
          <a:bodyPr>
            <a:noAutofit/>
          </a:bodyPr>
          <a:lstStyle/>
          <a:p>
            <a:r>
              <a:rPr lang="en-US" sz="3600" dirty="0"/>
              <a:t>Limitations of K-means: Differing Sizes</a:t>
            </a:r>
          </a:p>
        </p:txBody>
      </p:sp>
      <p:sp>
        <p:nvSpPr>
          <p:cNvPr id="1612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524000"/>
            <a:ext cx="8001000" cy="976313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endParaRPr 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endParaRPr lang="en-US" sz="2000"/>
          </a:p>
        </p:txBody>
      </p:sp>
      <p:pic>
        <p:nvPicPr>
          <p:cNvPr id="161280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28800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1280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828800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12806" name="Text Box 6"/>
          <p:cNvSpPr txBox="1">
            <a:spLocks noChangeArrowheads="1"/>
          </p:cNvSpPr>
          <p:nvPr/>
        </p:nvSpPr>
        <p:spPr bwMode="auto">
          <a:xfrm>
            <a:off x="762000" y="5348287"/>
            <a:ext cx="2057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Original Points</a:t>
            </a:r>
          </a:p>
        </p:txBody>
      </p:sp>
      <p:sp>
        <p:nvSpPr>
          <p:cNvPr id="1612807" name="Rectangle 7"/>
          <p:cNvSpPr>
            <a:spLocks noChangeArrowheads="1"/>
          </p:cNvSpPr>
          <p:nvPr/>
        </p:nvSpPr>
        <p:spPr bwMode="auto">
          <a:xfrm>
            <a:off x="5334000" y="5297487"/>
            <a:ext cx="2470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K-means (3 Clusters)</a:t>
            </a:r>
          </a:p>
        </p:txBody>
      </p:sp>
    </p:spTree>
    <p:extLst>
      <p:ext uri="{BB962C8B-B14F-4D97-AF65-F5344CB8AC3E}">
        <p14:creationId xmlns:p14="http://schemas.microsoft.com/office/powerpoint/2010/main" val="3468929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2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2807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82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09600"/>
            <a:ext cx="8610600" cy="990600"/>
          </a:xfrm>
        </p:spPr>
        <p:txBody>
          <a:bodyPr>
            <a:noAutofit/>
          </a:bodyPr>
          <a:lstStyle/>
          <a:p>
            <a:r>
              <a:rPr lang="en-US" sz="3600" dirty="0"/>
              <a:t>Limitations of K-means: Differing Density</a:t>
            </a:r>
          </a:p>
        </p:txBody>
      </p:sp>
      <p:sp>
        <p:nvSpPr>
          <p:cNvPr id="1613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976313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endParaRPr 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endParaRPr lang="en-US" sz="2000"/>
          </a:p>
        </p:txBody>
      </p:sp>
      <p:sp>
        <p:nvSpPr>
          <p:cNvPr id="1613828" name="Text Box 4"/>
          <p:cNvSpPr txBox="1">
            <a:spLocks noChangeArrowheads="1"/>
          </p:cNvSpPr>
          <p:nvPr/>
        </p:nvSpPr>
        <p:spPr bwMode="auto">
          <a:xfrm>
            <a:off x="762000" y="5424487"/>
            <a:ext cx="2133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Original Points</a:t>
            </a:r>
          </a:p>
        </p:txBody>
      </p:sp>
      <p:pic>
        <p:nvPicPr>
          <p:cNvPr id="16138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19287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138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919287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13831" name="Rectangle 7"/>
          <p:cNvSpPr>
            <a:spLocks noChangeArrowheads="1"/>
          </p:cNvSpPr>
          <p:nvPr/>
        </p:nvSpPr>
        <p:spPr bwMode="auto">
          <a:xfrm>
            <a:off x="5334000" y="5373687"/>
            <a:ext cx="2470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K-means (3 Clusters)</a:t>
            </a:r>
          </a:p>
        </p:txBody>
      </p:sp>
    </p:spTree>
    <p:extLst>
      <p:ext uri="{BB962C8B-B14F-4D97-AF65-F5344CB8AC3E}">
        <p14:creationId xmlns:p14="http://schemas.microsoft.com/office/powerpoint/2010/main" val="1442257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3831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85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533400"/>
            <a:ext cx="8839200" cy="1143000"/>
          </a:xfrm>
        </p:spPr>
        <p:txBody>
          <a:bodyPr>
            <a:noAutofit/>
          </a:bodyPr>
          <a:lstStyle/>
          <a:p>
            <a:r>
              <a:rPr lang="en-US" sz="3600" dirty="0"/>
              <a:t>Limitations of K-means: Non-globular Shapes</a:t>
            </a:r>
          </a:p>
        </p:txBody>
      </p:sp>
      <p:sp>
        <p:nvSpPr>
          <p:cNvPr id="1614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817687"/>
            <a:ext cx="8001000" cy="976313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endParaRPr 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endParaRPr lang="en-US" sz="2000"/>
          </a:p>
        </p:txBody>
      </p:sp>
      <p:sp>
        <p:nvSpPr>
          <p:cNvPr id="1614852" name="Text Box 4"/>
          <p:cNvSpPr txBox="1">
            <a:spLocks noChangeArrowheads="1"/>
          </p:cNvSpPr>
          <p:nvPr/>
        </p:nvSpPr>
        <p:spPr bwMode="auto">
          <a:xfrm>
            <a:off x="1143000" y="5551487"/>
            <a:ext cx="2057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Original Points</a:t>
            </a:r>
          </a:p>
        </p:txBody>
      </p:sp>
      <p:pic>
        <p:nvPicPr>
          <p:cNvPr id="16148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893887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1485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893887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14855" name="Rectangle 7"/>
          <p:cNvSpPr>
            <a:spLocks noChangeArrowheads="1"/>
          </p:cNvSpPr>
          <p:nvPr/>
        </p:nvSpPr>
        <p:spPr bwMode="auto">
          <a:xfrm>
            <a:off x="5334000" y="5576887"/>
            <a:ext cx="2470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K-means (2 Clusters)</a:t>
            </a:r>
          </a:p>
        </p:txBody>
      </p:sp>
    </p:spTree>
    <p:extLst>
      <p:ext uri="{BB962C8B-B14F-4D97-AF65-F5344CB8AC3E}">
        <p14:creationId xmlns:p14="http://schemas.microsoft.com/office/powerpoint/2010/main" val="283891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4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4855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874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" y="533400"/>
            <a:ext cx="8686800" cy="914400"/>
          </a:xfrm>
        </p:spPr>
        <p:txBody>
          <a:bodyPr>
            <a:noAutofit/>
          </a:bodyPr>
          <a:lstStyle/>
          <a:p>
            <a:r>
              <a:rPr lang="en-US" dirty="0"/>
              <a:t>Overcoming K-means Limitations</a:t>
            </a:r>
          </a:p>
        </p:txBody>
      </p:sp>
      <p:sp>
        <p:nvSpPr>
          <p:cNvPr id="1615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976313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endParaRPr 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endParaRPr lang="en-US" sz="2000"/>
          </a:p>
        </p:txBody>
      </p:sp>
      <p:pic>
        <p:nvPicPr>
          <p:cNvPr id="16158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7800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15877" name="Text Box 5"/>
          <p:cNvSpPr txBox="1">
            <a:spLocks noChangeArrowheads="1"/>
          </p:cNvSpPr>
          <p:nvPr/>
        </p:nvSpPr>
        <p:spPr bwMode="auto">
          <a:xfrm>
            <a:off x="762000" y="4953000"/>
            <a:ext cx="7696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Original Points				K-means Clusters</a:t>
            </a:r>
          </a:p>
        </p:txBody>
      </p:sp>
      <p:pic>
        <p:nvPicPr>
          <p:cNvPr id="161587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447800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15879" name="Rectangle 7"/>
          <p:cNvSpPr>
            <a:spLocks noChangeArrowheads="1"/>
          </p:cNvSpPr>
          <p:nvPr/>
        </p:nvSpPr>
        <p:spPr bwMode="auto">
          <a:xfrm>
            <a:off x="1143000" y="5562600"/>
            <a:ext cx="65532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 b="0"/>
              <a:t>One solution is to use many clusters.</a:t>
            </a:r>
          </a:p>
          <a:p>
            <a:pPr lvl="1"/>
            <a:r>
              <a:rPr lang="en-US" sz="2000" b="0"/>
              <a:t>Find parts of clusters, but need to put together.</a:t>
            </a:r>
          </a:p>
        </p:txBody>
      </p:sp>
    </p:spTree>
    <p:extLst>
      <p:ext uri="{BB962C8B-B14F-4D97-AF65-F5344CB8AC3E}">
        <p14:creationId xmlns:p14="http://schemas.microsoft.com/office/powerpoint/2010/main" val="23772379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898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457200"/>
            <a:ext cx="8280400" cy="857250"/>
          </a:xfrm>
        </p:spPr>
        <p:txBody>
          <a:bodyPr>
            <a:noAutofit/>
          </a:bodyPr>
          <a:lstStyle/>
          <a:p>
            <a:r>
              <a:rPr lang="en-US" dirty="0"/>
              <a:t>Overcoming K-means Limitations</a:t>
            </a:r>
          </a:p>
        </p:txBody>
      </p:sp>
      <p:sp>
        <p:nvSpPr>
          <p:cNvPr id="1616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976313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endParaRPr 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endParaRPr lang="en-US" sz="2000"/>
          </a:p>
        </p:txBody>
      </p:sp>
      <p:sp>
        <p:nvSpPr>
          <p:cNvPr id="1616900" name="Text Box 4"/>
          <p:cNvSpPr txBox="1">
            <a:spLocks noChangeArrowheads="1"/>
          </p:cNvSpPr>
          <p:nvPr/>
        </p:nvSpPr>
        <p:spPr bwMode="auto">
          <a:xfrm>
            <a:off x="762000" y="5500687"/>
            <a:ext cx="7696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Original Points				K-means Clusters</a:t>
            </a:r>
          </a:p>
        </p:txBody>
      </p:sp>
      <p:pic>
        <p:nvPicPr>
          <p:cNvPr id="161690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95487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1690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2071687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18129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8610600" cy="1219200"/>
          </a:xfrm>
        </p:spPr>
        <p:txBody>
          <a:bodyPr>
            <a:noAutofit/>
          </a:bodyPr>
          <a:lstStyle/>
          <a:p>
            <a:r>
              <a:rPr lang="en-US" dirty="0"/>
              <a:t>Overcoming K-means Limitations</a:t>
            </a:r>
          </a:p>
        </p:txBody>
      </p:sp>
      <p:sp>
        <p:nvSpPr>
          <p:cNvPr id="1617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919287"/>
            <a:ext cx="8001000" cy="976313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endParaRPr 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endParaRPr lang="en-US" sz="2000"/>
          </a:p>
        </p:txBody>
      </p:sp>
      <p:sp>
        <p:nvSpPr>
          <p:cNvPr id="1617924" name="Text Box 4"/>
          <p:cNvSpPr txBox="1">
            <a:spLocks noChangeArrowheads="1"/>
          </p:cNvSpPr>
          <p:nvPr/>
        </p:nvSpPr>
        <p:spPr bwMode="auto">
          <a:xfrm>
            <a:off x="1143000" y="5653087"/>
            <a:ext cx="7696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Original Points				K-means Clusters</a:t>
            </a:r>
          </a:p>
        </p:txBody>
      </p:sp>
      <p:pic>
        <p:nvPicPr>
          <p:cNvPr id="161792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995487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1792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5613" y="1995487"/>
            <a:ext cx="4268787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31764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K-</a:t>
            </a:r>
            <a:r>
              <a:rPr lang="en-US" dirty="0" err="1">
                <a:solidFill>
                  <a:srgbClr val="FF0000"/>
                </a:solidFill>
              </a:rPr>
              <a:t>medoids</a:t>
            </a:r>
            <a:r>
              <a:rPr lang="en-US" dirty="0"/>
              <a:t>: Similar problem definition as in K-means, but the centroid of the cluster is defined to be one of the points in the cluster (the </a:t>
            </a:r>
            <a:r>
              <a:rPr lang="en-US" dirty="0" err="1">
                <a:solidFill>
                  <a:srgbClr val="00B0F0"/>
                </a:solidFill>
              </a:rPr>
              <a:t>medoid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K-centers</a:t>
            </a:r>
            <a:r>
              <a:rPr lang="en-US" dirty="0"/>
              <a:t>: Similar problem definition as in K-means, but the goal now is to minimize the maximum </a:t>
            </a:r>
            <a:r>
              <a:rPr lang="en-US" dirty="0">
                <a:solidFill>
                  <a:srgbClr val="00B0F0"/>
                </a:solidFill>
              </a:rPr>
              <a:t>diameter </a:t>
            </a:r>
            <a:r>
              <a:rPr lang="en-US" dirty="0"/>
              <a:t>of the clusters</a:t>
            </a:r>
          </a:p>
          <a:p>
            <a:pPr lvl="1"/>
            <a:r>
              <a:rPr lang="en-US" dirty="0"/>
              <a:t>diameter of a cluster is maximum distance between any two points in the cluster. </a:t>
            </a:r>
          </a:p>
        </p:txBody>
      </p:sp>
    </p:spTree>
    <p:extLst>
      <p:ext uri="{BB962C8B-B14F-4D97-AF65-F5344CB8AC3E}">
        <p14:creationId xmlns:p14="http://schemas.microsoft.com/office/powerpoint/2010/main" val="2076521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CLUSTERING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9132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Hierarchical Clustering</a:t>
            </a:r>
          </a:p>
        </p:txBody>
      </p:sp>
      <p:sp>
        <p:nvSpPr>
          <p:cNvPr id="1620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Two main types of hierarchical clustering</a:t>
            </a:r>
          </a:p>
          <a:p>
            <a:pPr lvl="1"/>
            <a:r>
              <a:rPr lang="en-US" sz="2000" dirty="0">
                <a:solidFill>
                  <a:srgbClr val="00B0F0"/>
                </a:solidFill>
              </a:rPr>
              <a:t>Agglomerative</a:t>
            </a:r>
            <a:r>
              <a:rPr lang="en-US" sz="2000" dirty="0"/>
              <a:t>:  </a:t>
            </a:r>
          </a:p>
          <a:p>
            <a:pPr lvl="2"/>
            <a:r>
              <a:rPr lang="en-US" sz="1800" dirty="0"/>
              <a:t> Start with the points as individual clusters</a:t>
            </a:r>
          </a:p>
          <a:p>
            <a:pPr lvl="2"/>
            <a:r>
              <a:rPr lang="en-US" sz="1800" dirty="0"/>
              <a:t> At each step, merge the closest pair of clusters until only one cluster (or k clusters) left</a:t>
            </a:r>
          </a:p>
          <a:p>
            <a:pPr lvl="4"/>
            <a:endParaRPr lang="en-US" sz="1800" dirty="0"/>
          </a:p>
          <a:p>
            <a:pPr lvl="1"/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Divisive</a:t>
            </a:r>
            <a:r>
              <a:rPr lang="en-US" sz="2000" dirty="0"/>
              <a:t>:  </a:t>
            </a:r>
          </a:p>
          <a:p>
            <a:pPr lvl="2"/>
            <a:r>
              <a:rPr lang="en-US" sz="1800" dirty="0"/>
              <a:t> Start with one, all-inclusive cluster </a:t>
            </a:r>
          </a:p>
          <a:p>
            <a:pPr lvl="2"/>
            <a:r>
              <a:rPr lang="en-US" sz="1800" dirty="0"/>
              <a:t> At each step, split a cluster until each cluster contains a point (or there are k clusters)</a:t>
            </a:r>
          </a:p>
          <a:p>
            <a:pPr lvl="4"/>
            <a:endParaRPr lang="en-US" sz="1800" dirty="0"/>
          </a:p>
          <a:p>
            <a:r>
              <a:rPr lang="en-US" sz="2400" dirty="0"/>
              <a:t>Traditional hierarchical algorithms use a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similarity</a:t>
            </a:r>
            <a:r>
              <a:rPr lang="en-US" sz="2400" dirty="0"/>
              <a:t> or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distance matrix</a:t>
            </a:r>
          </a:p>
          <a:p>
            <a:pPr lvl="1"/>
            <a:r>
              <a:rPr lang="en-US" sz="2000" dirty="0"/>
              <a:t>Merge or split one cluster at a time</a:t>
            </a:r>
          </a:p>
          <a:p>
            <a:pPr lvl="4"/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9755819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Hierarchical Clustering </a:t>
            </a:r>
          </a:p>
        </p:txBody>
      </p:sp>
      <p:sp>
        <p:nvSpPr>
          <p:cNvPr id="1618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Produces a set of nested clusters organized as a hierarchical tree</a:t>
            </a:r>
          </a:p>
          <a:p>
            <a:r>
              <a:rPr lang="en-US"/>
              <a:t>Can be visualized as a dendrogram</a:t>
            </a:r>
          </a:p>
          <a:p>
            <a:pPr lvl="1"/>
            <a:r>
              <a:rPr lang="en-US"/>
              <a:t>A tree like diagram that records the sequences of merges or splits</a:t>
            </a:r>
          </a:p>
        </p:txBody>
      </p:sp>
      <p:pic>
        <p:nvPicPr>
          <p:cNvPr id="16189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4087813"/>
            <a:ext cx="3459163" cy="2160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618949" name="Object 5"/>
          <p:cNvGraphicFramePr>
            <a:graphicFrameLocks noChangeAspect="1"/>
          </p:cNvGraphicFramePr>
          <p:nvPr>
            <p:extLst/>
          </p:nvPr>
        </p:nvGraphicFramePr>
        <p:xfrm>
          <a:off x="5257800" y="3857625"/>
          <a:ext cx="2319338" cy="236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3" name="VISIO" r:id="rId4" imgW="3168720" imgH="3227760" progId="Visio.Drawing.6">
                  <p:embed/>
                </p:oleObj>
              </mc:Choice>
              <mc:Fallback>
                <p:oleObj name="VISIO" r:id="rId4" imgW="3168720" imgH="322776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3857625"/>
                        <a:ext cx="2319338" cy="2360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912703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Strengths of Hierarchical Clustering</a:t>
            </a:r>
          </a:p>
        </p:txBody>
      </p:sp>
      <p:sp>
        <p:nvSpPr>
          <p:cNvPr id="161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Do not have to assume any particular number of clusters</a:t>
            </a:r>
          </a:p>
          <a:p>
            <a:pPr lvl="1">
              <a:lnSpc>
                <a:spcPct val="90000"/>
              </a:lnSpc>
            </a:pPr>
            <a:r>
              <a:rPr lang="en-US"/>
              <a:t>Any desired number of clusters can be obtained by ‘cutting’ the dendogram at the proper level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They may correspond to meaningful taxonomies</a:t>
            </a:r>
          </a:p>
          <a:p>
            <a:pPr lvl="1">
              <a:lnSpc>
                <a:spcPct val="90000"/>
              </a:lnSpc>
            </a:pPr>
            <a:r>
              <a:rPr lang="en-US"/>
              <a:t>Example in biological sciences (e.g., animal kingdom, phylogeny reconstruction, …)</a:t>
            </a:r>
          </a:p>
        </p:txBody>
      </p:sp>
    </p:spTree>
    <p:extLst>
      <p:ext uri="{BB962C8B-B14F-4D97-AF65-F5344CB8AC3E}">
        <p14:creationId xmlns:p14="http://schemas.microsoft.com/office/powerpoint/2010/main" val="36770135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01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8280400" cy="1066800"/>
          </a:xfrm>
        </p:spPr>
        <p:txBody>
          <a:bodyPr>
            <a:normAutofit/>
          </a:bodyPr>
          <a:lstStyle/>
          <a:p>
            <a:r>
              <a:rPr lang="en-US" dirty="0"/>
              <a:t>Agglomerative Clustering Algorithm</a:t>
            </a:r>
          </a:p>
        </p:txBody>
      </p:sp>
      <p:sp>
        <p:nvSpPr>
          <p:cNvPr id="1622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686800" cy="5181600"/>
          </a:xfrm>
        </p:spPr>
        <p:txBody>
          <a:bodyPr>
            <a:noAutofit/>
          </a:bodyPr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More popular hierarchical clustering technique</a:t>
            </a:r>
          </a:p>
          <a:p>
            <a:pPr marL="2209800" lvl="4" indent="-381000">
              <a:lnSpc>
                <a:spcPct val="90000"/>
              </a:lnSpc>
            </a:pPr>
            <a:endParaRPr lang="en-US" sz="900" dirty="0"/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Basic algorithm is straightforward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AutoNum type="arabicPeriod"/>
            </a:pPr>
            <a:r>
              <a:rPr lang="en-US" dirty="0"/>
              <a:t>Compute 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proximity matrix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AutoNum type="arabicPeriod"/>
            </a:pPr>
            <a:r>
              <a:rPr lang="en-US" dirty="0"/>
              <a:t>Let each data point be a cluster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AutoNum type="arabicPeriod"/>
            </a:pPr>
            <a:r>
              <a:rPr lang="en-US" b="1" dirty="0"/>
              <a:t>Repeat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dirty="0"/>
              <a:t>	</a:t>
            </a:r>
            <a:r>
              <a:rPr lang="en-US" dirty="0">
                <a:solidFill>
                  <a:srgbClr val="0070C0"/>
                </a:solidFill>
              </a:rPr>
              <a:t>Merge</a:t>
            </a:r>
            <a:r>
              <a:rPr lang="en-US" dirty="0"/>
              <a:t> the two closest clusters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dirty="0"/>
              <a:t>	</a:t>
            </a:r>
            <a:r>
              <a:rPr lang="en-US" dirty="0">
                <a:solidFill>
                  <a:srgbClr val="0070C0"/>
                </a:solidFill>
              </a:rPr>
              <a:t>Update</a:t>
            </a:r>
            <a:r>
              <a:rPr lang="en-US" dirty="0"/>
              <a:t> the proximity matrix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AutoNum type="arabicPeriod"/>
            </a:pPr>
            <a:r>
              <a:rPr lang="en-US" b="1" dirty="0"/>
              <a:t>Until</a:t>
            </a:r>
            <a:r>
              <a:rPr lang="en-US" dirty="0"/>
              <a:t> only a single cluster remains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sz="1050" dirty="0"/>
              <a:t> 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Key operation is the computation of 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proximity of two </a:t>
            </a:r>
            <a:r>
              <a:rPr lang="en-US" dirty="0">
                <a:solidFill>
                  <a:srgbClr val="0070C0"/>
                </a:solidFill>
              </a:rPr>
              <a:t>clusters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Different approaches to defining the distance between clusters distinguish the different algorithms</a:t>
            </a:r>
          </a:p>
        </p:txBody>
      </p:sp>
    </p:spTree>
    <p:extLst>
      <p:ext uri="{BB962C8B-B14F-4D97-AF65-F5344CB8AC3E}">
        <p14:creationId xmlns:p14="http://schemas.microsoft.com/office/powerpoint/2010/main" val="23066190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Starting Situation </a:t>
            </a:r>
          </a:p>
        </p:txBody>
      </p:sp>
      <p:sp>
        <p:nvSpPr>
          <p:cNvPr id="1623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81721"/>
            <a:ext cx="8229600" cy="4876800"/>
          </a:xfrm>
        </p:spPr>
        <p:txBody>
          <a:bodyPr/>
          <a:lstStyle/>
          <a:p>
            <a:r>
              <a:rPr lang="en-US"/>
              <a:t>Start with clusters of individual points and a proximity matrix</a:t>
            </a:r>
          </a:p>
          <a:p>
            <a:pPr lvl="1"/>
            <a:endParaRPr lang="en-US"/>
          </a:p>
        </p:txBody>
      </p:sp>
      <p:sp>
        <p:nvSpPr>
          <p:cNvPr id="1623044" name="Oval 4"/>
          <p:cNvSpPr>
            <a:spLocks noChangeArrowheads="1"/>
          </p:cNvSpPr>
          <p:nvPr/>
        </p:nvSpPr>
        <p:spPr bwMode="auto">
          <a:xfrm>
            <a:off x="685800" y="44037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3045" name="Oval 5"/>
          <p:cNvSpPr>
            <a:spLocks noChangeArrowheads="1"/>
          </p:cNvSpPr>
          <p:nvPr/>
        </p:nvSpPr>
        <p:spPr bwMode="auto">
          <a:xfrm>
            <a:off x="2743200" y="5470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3046" name="Oval 6"/>
          <p:cNvSpPr>
            <a:spLocks noChangeArrowheads="1"/>
          </p:cNvSpPr>
          <p:nvPr/>
        </p:nvSpPr>
        <p:spPr bwMode="auto">
          <a:xfrm>
            <a:off x="1600200" y="3565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3047" name="Oval 7"/>
          <p:cNvSpPr>
            <a:spLocks noChangeArrowheads="1"/>
          </p:cNvSpPr>
          <p:nvPr/>
        </p:nvSpPr>
        <p:spPr bwMode="auto">
          <a:xfrm>
            <a:off x="1447800" y="53181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3048" name="Oval 8"/>
          <p:cNvSpPr>
            <a:spLocks noChangeArrowheads="1"/>
          </p:cNvSpPr>
          <p:nvPr/>
        </p:nvSpPr>
        <p:spPr bwMode="auto">
          <a:xfrm>
            <a:off x="3124200" y="3565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3049" name="Oval 9"/>
          <p:cNvSpPr>
            <a:spLocks noChangeArrowheads="1"/>
          </p:cNvSpPr>
          <p:nvPr/>
        </p:nvSpPr>
        <p:spPr bwMode="auto">
          <a:xfrm>
            <a:off x="1600200" y="29559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3050" name="Oval 10"/>
          <p:cNvSpPr>
            <a:spLocks noChangeArrowheads="1"/>
          </p:cNvSpPr>
          <p:nvPr/>
        </p:nvSpPr>
        <p:spPr bwMode="auto">
          <a:xfrm>
            <a:off x="457200" y="4708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3051" name="Oval 11"/>
          <p:cNvSpPr>
            <a:spLocks noChangeArrowheads="1"/>
          </p:cNvSpPr>
          <p:nvPr/>
        </p:nvSpPr>
        <p:spPr bwMode="auto">
          <a:xfrm>
            <a:off x="1828800" y="53181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3052" name="Oval 12"/>
          <p:cNvSpPr>
            <a:spLocks noChangeArrowheads="1"/>
          </p:cNvSpPr>
          <p:nvPr/>
        </p:nvSpPr>
        <p:spPr bwMode="auto">
          <a:xfrm>
            <a:off x="3124200" y="5089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3053" name="Oval 13"/>
          <p:cNvSpPr>
            <a:spLocks noChangeArrowheads="1"/>
          </p:cNvSpPr>
          <p:nvPr/>
        </p:nvSpPr>
        <p:spPr bwMode="auto">
          <a:xfrm>
            <a:off x="2133600" y="30321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3054" name="Oval 14"/>
          <p:cNvSpPr>
            <a:spLocks noChangeArrowheads="1"/>
          </p:cNvSpPr>
          <p:nvPr/>
        </p:nvSpPr>
        <p:spPr bwMode="auto">
          <a:xfrm>
            <a:off x="3200400" y="40989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3055" name="Oval 15"/>
          <p:cNvSpPr>
            <a:spLocks noChangeArrowheads="1"/>
          </p:cNvSpPr>
          <p:nvPr/>
        </p:nvSpPr>
        <p:spPr bwMode="auto">
          <a:xfrm>
            <a:off x="3733800" y="3184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623056" name="Group 16"/>
          <p:cNvGrpSpPr>
            <a:grpSpLocks/>
          </p:cNvGrpSpPr>
          <p:nvPr/>
        </p:nvGrpSpPr>
        <p:grpSpPr bwMode="auto">
          <a:xfrm>
            <a:off x="5257800" y="2265436"/>
            <a:ext cx="3200400" cy="2789237"/>
            <a:chOff x="3456" y="1622"/>
            <a:chExt cx="2160" cy="2058"/>
          </a:xfrm>
        </p:grpSpPr>
        <p:sp>
          <p:nvSpPr>
            <p:cNvPr id="1623057" name="Line 17"/>
            <p:cNvSpPr>
              <a:spLocks noChangeShapeType="1"/>
            </p:cNvSpPr>
            <p:nvPr/>
          </p:nvSpPr>
          <p:spPr bwMode="auto">
            <a:xfrm>
              <a:off x="3696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3058" name="Line 18"/>
            <p:cNvSpPr>
              <a:spLocks noChangeShapeType="1"/>
            </p:cNvSpPr>
            <p:nvPr/>
          </p:nvSpPr>
          <p:spPr bwMode="auto">
            <a:xfrm>
              <a:off x="3504" y="1814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3059" name="Line 19"/>
            <p:cNvSpPr>
              <a:spLocks noChangeShapeType="1"/>
            </p:cNvSpPr>
            <p:nvPr/>
          </p:nvSpPr>
          <p:spPr bwMode="auto">
            <a:xfrm>
              <a:off x="4012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3060" name="Line 20"/>
            <p:cNvSpPr>
              <a:spLocks noChangeShapeType="1"/>
            </p:cNvSpPr>
            <p:nvPr/>
          </p:nvSpPr>
          <p:spPr bwMode="auto">
            <a:xfrm>
              <a:off x="4329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3061" name="Line 21"/>
            <p:cNvSpPr>
              <a:spLocks noChangeShapeType="1"/>
            </p:cNvSpPr>
            <p:nvPr/>
          </p:nvSpPr>
          <p:spPr bwMode="auto">
            <a:xfrm>
              <a:off x="4646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3062" name="Line 22"/>
            <p:cNvSpPr>
              <a:spLocks noChangeShapeType="1"/>
            </p:cNvSpPr>
            <p:nvPr/>
          </p:nvSpPr>
          <p:spPr bwMode="auto">
            <a:xfrm>
              <a:off x="4963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3063" name="Line 23"/>
            <p:cNvSpPr>
              <a:spLocks noChangeShapeType="1"/>
            </p:cNvSpPr>
            <p:nvPr/>
          </p:nvSpPr>
          <p:spPr bwMode="auto">
            <a:xfrm>
              <a:off x="5280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3064" name="Line 24"/>
            <p:cNvSpPr>
              <a:spLocks noChangeShapeType="1"/>
            </p:cNvSpPr>
            <p:nvPr/>
          </p:nvSpPr>
          <p:spPr bwMode="auto">
            <a:xfrm>
              <a:off x="3504" y="2073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3065" name="Line 25"/>
            <p:cNvSpPr>
              <a:spLocks noChangeShapeType="1"/>
            </p:cNvSpPr>
            <p:nvPr/>
          </p:nvSpPr>
          <p:spPr bwMode="auto">
            <a:xfrm>
              <a:off x="3504" y="23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3066" name="Line 26"/>
            <p:cNvSpPr>
              <a:spLocks noChangeShapeType="1"/>
            </p:cNvSpPr>
            <p:nvPr/>
          </p:nvSpPr>
          <p:spPr bwMode="auto">
            <a:xfrm>
              <a:off x="3504" y="25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3067" name="Line 27"/>
            <p:cNvSpPr>
              <a:spLocks noChangeShapeType="1"/>
            </p:cNvSpPr>
            <p:nvPr/>
          </p:nvSpPr>
          <p:spPr bwMode="auto">
            <a:xfrm>
              <a:off x="3504" y="28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3068" name="Line 28"/>
            <p:cNvSpPr>
              <a:spLocks noChangeShapeType="1"/>
            </p:cNvSpPr>
            <p:nvPr/>
          </p:nvSpPr>
          <p:spPr bwMode="auto">
            <a:xfrm>
              <a:off x="3504" y="311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3069" name="Text Box 29"/>
            <p:cNvSpPr txBox="1">
              <a:spLocks noChangeArrowheads="1"/>
            </p:cNvSpPr>
            <p:nvPr/>
          </p:nvSpPr>
          <p:spPr bwMode="auto">
            <a:xfrm>
              <a:off x="3456" y="1862"/>
              <a:ext cx="336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p1</a:t>
              </a:r>
            </a:p>
          </p:txBody>
        </p:sp>
        <p:sp>
          <p:nvSpPr>
            <p:cNvPr id="1623070" name="Text Box 30"/>
            <p:cNvSpPr txBox="1">
              <a:spLocks noChangeArrowheads="1"/>
            </p:cNvSpPr>
            <p:nvPr/>
          </p:nvSpPr>
          <p:spPr bwMode="auto">
            <a:xfrm>
              <a:off x="3456" y="2390"/>
              <a:ext cx="336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p3</a:t>
              </a:r>
            </a:p>
          </p:txBody>
        </p:sp>
        <p:sp>
          <p:nvSpPr>
            <p:cNvPr id="1623071" name="Text Box 31"/>
            <p:cNvSpPr txBox="1">
              <a:spLocks noChangeArrowheads="1"/>
            </p:cNvSpPr>
            <p:nvPr/>
          </p:nvSpPr>
          <p:spPr bwMode="auto">
            <a:xfrm>
              <a:off x="3456" y="2917"/>
              <a:ext cx="336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p5</a:t>
              </a:r>
            </a:p>
          </p:txBody>
        </p:sp>
        <p:sp>
          <p:nvSpPr>
            <p:cNvPr id="1623072" name="Text Box 32"/>
            <p:cNvSpPr txBox="1">
              <a:spLocks noChangeArrowheads="1"/>
            </p:cNvSpPr>
            <p:nvPr/>
          </p:nvSpPr>
          <p:spPr bwMode="auto">
            <a:xfrm>
              <a:off x="3456" y="2593"/>
              <a:ext cx="336" cy="2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 err="1"/>
                <a:t>p4</a:t>
              </a:r>
              <a:endParaRPr lang="en-US" dirty="0"/>
            </a:p>
          </p:txBody>
        </p:sp>
        <p:sp>
          <p:nvSpPr>
            <p:cNvPr id="1623073" name="Text Box 33"/>
            <p:cNvSpPr txBox="1">
              <a:spLocks noChangeArrowheads="1"/>
            </p:cNvSpPr>
            <p:nvPr/>
          </p:nvSpPr>
          <p:spPr bwMode="auto">
            <a:xfrm>
              <a:off x="3456" y="2150"/>
              <a:ext cx="336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p2</a:t>
              </a:r>
            </a:p>
          </p:txBody>
        </p:sp>
        <p:sp>
          <p:nvSpPr>
            <p:cNvPr id="1623074" name="Text Box 34"/>
            <p:cNvSpPr txBox="1">
              <a:spLocks noChangeArrowheads="1"/>
            </p:cNvSpPr>
            <p:nvPr/>
          </p:nvSpPr>
          <p:spPr bwMode="auto">
            <a:xfrm>
              <a:off x="3744" y="1622"/>
              <a:ext cx="337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p1</a:t>
              </a:r>
            </a:p>
          </p:txBody>
        </p:sp>
        <p:sp>
          <p:nvSpPr>
            <p:cNvPr id="1623075" name="Text Box 35"/>
            <p:cNvSpPr txBox="1">
              <a:spLocks noChangeArrowheads="1"/>
            </p:cNvSpPr>
            <p:nvPr/>
          </p:nvSpPr>
          <p:spPr bwMode="auto">
            <a:xfrm>
              <a:off x="4032" y="1622"/>
              <a:ext cx="336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p2</a:t>
              </a:r>
            </a:p>
          </p:txBody>
        </p:sp>
        <p:sp>
          <p:nvSpPr>
            <p:cNvPr id="1623076" name="Text Box 36"/>
            <p:cNvSpPr txBox="1">
              <a:spLocks noChangeArrowheads="1"/>
            </p:cNvSpPr>
            <p:nvPr/>
          </p:nvSpPr>
          <p:spPr bwMode="auto">
            <a:xfrm>
              <a:off x="4368" y="1622"/>
              <a:ext cx="336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p3</a:t>
              </a:r>
            </a:p>
          </p:txBody>
        </p:sp>
        <p:sp>
          <p:nvSpPr>
            <p:cNvPr id="1623077" name="Text Box 37"/>
            <p:cNvSpPr txBox="1">
              <a:spLocks noChangeArrowheads="1"/>
            </p:cNvSpPr>
            <p:nvPr/>
          </p:nvSpPr>
          <p:spPr bwMode="auto">
            <a:xfrm>
              <a:off x="4704" y="1622"/>
              <a:ext cx="336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p4</a:t>
              </a:r>
            </a:p>
          </p:txBody>
        </p:sp>
        <p:sp>
          <p:nvSpPr>
            <p:cNvPr id="1623078" name="Text Box 38"/>
            <p:cNvSpPr txBox="1">
              <a:spLocks noChangeArrowheads="1"/>
            </p:cNvSpPr>
            <p:nvPr/>
          </p:nvSpPr>
          <p:spPr bwMode="auto">
            <a:xfrm>
              <a:off x="4944" y="1622"/>
              <a:ext cx="336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p5</a:t>
              </a:r>
            </a:p>
          </p:txBody>
        </p:sp>
        <p:sp>
          <p:nvSpPr>
            <p:cNvPr id="1623079" name="Text Box 39"/>
            <p:cNvSpPr txBox="1">
              <a:spLocks noChangeArrowheads="1"/>
            </p:cNvSpPr>
            <p:nvPr/>
          </p:nvSpPr>
          <p:spPr bwMode="auto">
            <a:xfrm>
              <a:off x="5280" y="1622"/>
              <a:ext cx="336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/>
                <a:t>. . .</a:t>
              </a:r>
            </a:p>
          </p:txBody>
        </p:sp>
        <p:sp>
          <p:nvSpPr>
            <p:cNvPr id="1623080" name="Text Box 40"/>
            <p:cNvSpPr txBox="1">
              <a:spLocks noChangeArrowheads="1"/>
            </p:cNvSpPr>
            <p:nvPr/>
          </p:nvSpPr>
          <p:spPr bwMode="auto">
            <a:xfrm>
              <a:off x="3504" y="3072"/>
              <a:ext cx="192" cy="6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sz="12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sz="1200"/>
                <a:t>.</a:t>
              </a:r>
            </a:p>
          </p:txBody>
        </p:sp>
      </p:grpSp>
      <p:sp>
        <p:nvSpPr>
          <p:cNvPr id="1623081" name="Text Box 41"/>
          <p:cNvSpPr txBox="1">
            <a:spLocks noChangeArrowheads="1"/>
          </p:cNvSpPr>
          <p:nvPr/>
        </p:nvSpPr>
        <p:spPr bwMode="auto">
          <a:xfrm>
            <a:off x="5791200" y="4718050"/>
            <a:ext cx="2514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/>
              <a:t>Proximity Matrix</a:t>
            </a:r>
          </a:p>
        </p:txBody>
      </p:sp>
      <p:graphicFrame>
        <p:nvGraphicFramePr>
          <p:cNvPr id="1623082" name="Object 42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572000" y="5610225"/>
          <a:ext cx="4056063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7" name="Visio" r:id="rId3" imgW="7949438" imgH="1399827" progId="Visio.Drawing.6">
                  <p:embed/>
                </p:oleObj>
              </mc:Choice>
              <mc:Fallback>
                <p:oleObj name="Visio" r:id="rId3" imgW="7949438" imgH="1399827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610225"/>
                        <a:ext cx="4056063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40700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0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229600" cy="990600"/>
          </a:xfrm>
        </p:spPr>
        <p:txBody>
          <a:bodyPr/>
          <a:lstStyle/>
          <a:p>
            <a:r>
              <a:rPr lang="en-US" dirty="0"/>
              <a:t>Intermediate Situation</a:t>
            </a:r>
          </a:p>
        </p:txBody>
      </p:sp>
      <p:sp>
        <p:nvSpPr>
          <p:cNvPr id="1624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13014"/>
            <a:ext cx="8229600" cy="4876800"/>
          </a:xfrm>
        </p:spPr>
        <p:txBody>
          <a:bodyPr/>
          <a:lstStyle/>
          <a:p>
            <a:pPr marL="342900" indent="-342900"/>
            <a:r>
              <a:rPr lang="en-US" sz="2200" dirty="0"/>
              <a:t>After some merging steps, we have some clusters </a:t>
            </a:r>
          </a:p>
          <a:p>
            <a:pPr marL="742950" lvl="1" indent="-285750"/>
            <a:endParaRPr lang="en-US" sz="2000" dirty="0"/>
          </a:p>
        </p:txBody>
      </p:sp>
      <p:sp>
        <p:nvSpPr>
          <p:cNvPr id="1624068" name="Freeform 4"/>
          <p:cNvSpPr>
            <a:spLocks/>
          </p:cNvSpPr>
          <p:nvPr/>
        </p:nvSpPr>
        <p:spPr bwMode="auto">
          <a:xfrm>
            <a:off x="609600" y="3886200"/>
            <a:ext cx="546100" cy="773113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4069" name="Freeform 5"/>
          <p:cNvSpPr>
            <a:spLocks/>
          </p:cNvSpPr>
          <p:nvPr/>
        </p:nvSpPr>
        <p:spPr bwMode="auto">
          <a:xfrm rot="-5400000">
            <a:off x="1600200" y="2667000"/>
            <a:ext cx="762000" cy="914400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4070" name="Freeform 6"/>
          <p:cNvSpPr>
            <a:spLocks/>
          </p:cNvSpPr>
          <p:nvPr/>
        </p:nvSpPr>
        <p:spPr bwMode="auto">
          <a:xfrm rot="-10800000">
            <a:off x="3352800" y="3048000"/>
            <a:ext cx="685800" cy="762000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4071" name="Freeform 7"/>
          <p:cNvSpPr>
            <a:spLocks/>
          </p:cNvSpPr>
          <p:nvPr/>
        </p:nvSpPr>
        <p:spPr bwMode="auto">
          <a:xfrm>
            <a:off x="1295400" y="4953000"/>
            <a:ext cx="774700" cy="773113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4072" name="Freeform 8"/>
          <p:cNvSpPr>
            <a:spLocks/>
          </p:cNvSpPr>
          <p:nvPr/>
        </p:nvSpPr>
        <p:spPr bwMode="auto">
          <a:xfrm rot="-10800000">
            <a:off x="2590800" y="4876800"/>
            <a:ext cx="685800" cy="762000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4073" name="Text Box 9"/>
          <p:cNvSpPr txBox="1">
            <a:spLocks noChangeArrowheads="1"/>
          </p:cNvSpPr>
          <p:nvPr/>
        </p:nvSpPr>
        <p:spPr bwMode="auto">
          <a:xfrm>
            <a:off x="685800" y="4061618"/>
            <a:ext cx="609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C1</a:t>
            </a:r>
          </a:p>
        </p:txBody>
      </p:sp>
      <p:sp>
        <p:nvSpPr>
          <p:cNvPr id="1624074" name="Text Box 10"/>
          <p:cNvSpPr txBox="1">
            <a:spLocks noChangeArrowheads="1"/>
          </p:cNvSpPr>
          <p:nvPr/>
        </p:nvSpPr>
        <p:spPr bwMode="auto">
          <a:xfrm>
            <a:off x="3428999" y="3311556"/>
            <a:ext cx="6096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/>
              <a:t>C4</a:t>
            </a:r>
            <a:endParaRPr lang="en-US" dirty="0"/>
          </a:p>
        </p:txBody>
      </p:sp>
      <p:sp>
        <p:nvSpPr>
          <p:cNvPr id="1624075" name="Text Box 11"/>
          <p:cNvSpPr txBox="1">
            <a:spLocks noChangeArrowheads="1"/>
          </p:cNvSpPr>
          <p:nvPr/>
        </p:nvSpPr>
        <p:spPr bwMode="auto">
          <a:xfrm>
            <a:off x="1524000" y="5181600"/>
            <a:ext cx="5461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/>
              <a:t>C2</a:t>
            </a:r>
            <a:endParaRPr lang="en-US" dirty="0"/>
          </a:p>
        </p:txBody>
      </p:sp>
      <p:sp>
        <p:nvSpPr>
          <p:cNvPr id="1624076" name="Text Box 12"/>
          <p:cNvSpPr txBox="1">
            <a:spLocks noChangeArrowheads="1"/>
          </p:cNvSpPr>
          <p:nvPr/>
        </p:nvSpPr>
        <p:spPr bwMode="auto">
          <a:xfrm>
            <a:off x="2743199" y="5105400"/>
            <a:ext cx="5334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/>
              <a:t>C5</a:t>
            </a:r>
            <a:endParaRPr lang="en-US" dirty="0"/>
          </a:p>
        </p:txBody>
      </p:sp>
      <p:sp>
        <p:nvSpPr>
          <p:cNvPr id="1624077" name="Text Box 13"/>
          <p:cNvSpPr txBox="1">
            <a:spLocks noChangeArrowheads="1"/>
          </p:cNvSpPr>
          <p:nvPr/>
        </p:nvSpPr>
        <p:spPr bwMode="auto">
          <a:xfrm>
            <a:off x="1752600" y="2942224"/>
            <a:ext cx="685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/>
              <a:t>C3</a:t>
            </a:r>
            <a:endParaRPr lang="en-US" dirty="0"/>
          </a:p>
        </p:txBody>
      </p:sp>
      <p:grpSp>
        <p:nvGrpSpPr>
          <p:cNvPr id="1624078" name="Group 14"/>
          <p:cNvGrpSpPr>
            <a:grpSpLocks/>
          </p:cNvGrpSpPr>
          <p:nvPr/>
        </p:nvGrpSpPr>
        <p:grpSpPr bwMode="auto">
          <a:xfrm>
            <a:off x="5486400" y="1812915"/>
            <a:ext cx="2895600" cy="2212975"/>
            <a:chOff x="3456" y="1440"/>
            <a:chExt cx="1872" cy="1503"/>
          </a:xfrm>
        </p:grpSpPr>
        <p:sp>
          <p:nvSpPr>
            <p:cNvPr id="1624079" name="Text Box 15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C2</a:t>
              </a:r>
            </a:p>
          </p:txBody>
        </p:sp>
        <p:sp>
          <p:nvSpPr>
            <p:cNvPr id="1624080" name="Text Box 16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C1</a:t>
              </a:r>
            </a:p>
          </p:txBody>
        </p:sp>
        <p:sp>
          <p:nvSpPr>
            <p:cNvPr id="1624081" name="Line 17"/>
            <p:cNvSpPr>
              <a:spLocks noChangeShapeType="1"/>
            </p:cNvSpPr>
            <p:nvPr/>
          </p:nvSpPr>
          <p:spPr bwMode="auto">
            <a:xfrm>
              <a:off x="3696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4082" name="Line 18"/>
            <p:cNvSpPr>
              <a:spLocks noChangeShapeType="1"/>
            </p:cNvSpPr>
            <p:nvPr/>
          </p:nvSpPr>
          <p:spPr bwMode="auto">
            <a:xfrm>
              <a:off x="3504" y="1632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4083" name="Line 19"/>
            <p:cNvSpPr>
              <a:spLocks noChangeShapeType="1"/>
            </p:cNvSpPr>
            <p:nvPr/>
          </p:nvSpPr>
          <p:spPr bwMode="auto">
            <a:xfrm>
              <a:off x="5280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4084" name="Line 20"/>
            <p:cNvSpPr>
              <a:spLocks noChangeShapeType="1"/>
            </p:cNvSpPr>
            <p:nvPr/>
          </p:nvSpPr>
          <p:spPr bwMode="auto">
            <a:xfrm>
              <a:off x="3504" y="2928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4085" name="Text Box 21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C1</a:t>
              </a:r>
            </a:p>
          </p:txBody>
        </p:sp>
        <p:sp>
          <p:nvSpPr>
            <p:cNvPr id="1624086" name="Text Box 22"/>
            <p:cNvSpPr txBox="1">
              <a:spLocks noChangeArrowheads="1"/>
            </p:cNvSpPr>
            <p:nvPr/>
          </p:nvSpPr>
          <p:spPr bwMode="auto">
            <a:xfrm>
              <a:off x="3456" y="2207"/>
              <a:ext cx="336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C3</a:t>
              </a:r>
            </a:p>
          </p:txBody>
        </p:sp>
        <p:sp>
          <p:nvSpPr>
            <p:cNvPr id="1624087" name="Text Box 23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C5</a:t>
              </a:r>
            </a:p>
          </p:txBody>
        </p:sp>
        <p:sp>
          <p:nvSpPr>
            <p:cNvPr id="1624088" name="Text Box 24"/>
            <p:cNvSpPr txBox="1">
              <a:spLocks noChangeArrowheads="1"/>
            </p:cNvSpPr>
            <p:nvPr/>
          </p:nvSpPr>
          <p:spPr bwMode="auto">
            <a:xfrm>
              <a:off x="3456" y="2434"/>
              <a:ext cx="336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 err="1"/>
                <a:t>C4</a:t>
              </a:r>
              <a:endParaRPr lang="en-US" dirty="0"/>
            </a:p>
          </p:txBody>
        </p:sp>
        <p:sp>
          <p:nvSpPr>
            <p:cNvPr id="1624089" name="Text Box 25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2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C2</a:t>
              </a:r>
            </a:p>
          </p:txBody>
        </p:sp>
        <p:sp>
          <p:nvSpPr>
            <p:cNvPr id="1624090" name="Text Box 26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C3</a:t>
              </a:r>
            </a:p>
          </p:txBody>
        </p:sp>
        <p:sp>
          <p:nvSpPr>
            <p:cNvPr id="1624091" name="Text Box 27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C4</a:t>
              </a:r>
            </a:p>
          </p:txBody>
        </p:sp>
        <p:sp>
          <p:nvSpPr>
            <p:cNvPr id="1624092" name="Text Box 28"/>
            <p:cNvSpPr txBox="1">
              <a:spLocks noChangeArrowheads="1"/>
            </p:cNvSpPr>
            <p:nvPr/>
          </p:nvSpPr>
          <p:spPr bwMode="auto">
            <a:xfrm>
              <a:off x="4992" y="1440"/>
              <a:ext cx="336" cy="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C5</a:t>
              </a:r>
            </a:p>
          </p:txBody>
        </p:sp>
        <p:sp>
          <p:nvSpPr>
            <p:cNvPr id="1624093" name="Line 29"/>
            <p:cNvSpPr>
              <a:spLocks noChangeShapeType="1"/>
            </p:cNvSpPr>
            <p:nvPr/>
          </p:nvSpPr>
          <p:spPr bwMode="auto">
            <a:xfrm>
              <a:off x="3504" y="1872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4094" name="Line 30"/>
            <p:cNvSpPr>
              <a:spLocks noChangeShapeType="1"/>
            </p:cNvSpPr>
            <p:nvPr/>
          </p:nvSpPr>
          <p:spPr bwMode="auto">
            <a:xfrm>
              <a:off x="3504" y="2400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4095" name="Line 31"/>
            <p:cNvSpPr>
              <a:spLocks noChangeShapeType="1"/>
            </p:cNvSpPr>
            <p:nvPr/>
          </p:nvSpPr>
          <p:spPr bwMode="auto">
            <a:xfrm>
              <a:off x="3504" y="2160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4096" name="Line 32"/>
            <p:cNvSpPr>
              <a:spLocks noChangeShapeType="1"/>
            </p:cNvSpPr>
            <p:nvPr/>
          </p:nvSpPr>
          <p:spPr bwMode="auto">
            <a:xfrm>
              <a:off x="3504" y="2640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4097" name="Line 33"/>
            <p:cNvSpPr>
              <a:spLocks noChangeShapeType="1"/>
            </p:cNvSpPr>
            <p:nvPr/>
          </p:nvSpPr>
          <p:spPr bwMode="auto">
            <a:xfrm>
              <a:off x="4032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4098" name="Line 34"/>
            <p:cNvSpPr>
              <a:spLocks noChangeShapeType="1"/>
            </p:cNvSpPr>
            <p:nvPr/>
          </p:nvSpPr>
          <p:spPr bwMode="auto">
            <a:xfrm>
              <a:off x="4320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4099" name="Line 35"/>
            <p:cNvSpPr>
              <a:spLocks noChangeShapeType="1"/>
            </p:cNvSpPr>
            <p:nvPr/>
          </p:nvSpPr>
          <p:spPr bwMode="auto">
            <a:xfrm>
              <a:off x="4656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4100" name="Line 36"/>
            <p:cNvSpPr>
              <a:spLocks noChangeShapeType="1"/>
            </p:cNvSpPr>
            <p:nvPr/>
          </p:nvSpPr>
          <p:spPr bwMode="auto">
            <a:xfrm>
              <a:off x="4992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24101" name="Text Box 37"/>
          <p:cNvSpPr txBox="1">
            <a:spLocks noChangeArrowheads="1"/>
          </p:cNvSpPr>
          <p:nvPr/>
        </p:nvSpPr>
        <p:spPr bwMode="auto">
          <a:xfrm>
            <a:off x="5856654" y="4061618"/>
            <a:ext cx="2514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/>
              <a:t>Proximity Matrix</a:t>
            </a:r>
          </a:p>
        </p:txBody>
      </p:sp>
      <p:graphicFrame>
        <p:nvGraphicFramePr>
          <p:cNvPr id="1624102" name="Object 38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648200" y="4713288"/>
          <a:ext cx="4083050" cy="161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1" name="Visio" r:id="rId3" imgW="7591349" imgH="2996548" progId="Visio.Drawing.6">
                  <p:embed/>
                </p:oleObj>
              </mc:Choice>
              <mc:Fallback>
                <p:oleObj name="Visio" r:id="rId3" imgW="7591349" imgH="2996548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713288"/>
                        <a:ext cx="4083050" cy="161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121414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0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8229600" cy="990600"/>
          </a:xfrm>
        </p:spPr>
        <p:txBody>
          <a:bodyPr/>
          <a:lstStyle/>
          <a:p>
            <a:r>
              <a:rPr lang="en-US" dirty="0"/>
              <a:t>Intermediate Situation</a:t>
            </a:r>
          </a:p>
        </p:txBody>
      </p:sp>
      <p:sp>
        <p:nvSpPr>
          <p:cNvPr id="1625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28433"/>
            <a:ext cx="8229600" cy="4876800"/>
          </a:xfrm>
        </p:spPr>
        <p:txBody>
          <a:bodyPr/>
          <a:lstStyle/>
          <a:p>
            <a:pPr marL="342900" indent="-342900"/>
            <a:r>
              <a:rPr lang="en-US" sz="2200" dirty="0"/>
              <a:t>We want to merge the two closest clusters (</a:t>
            </a:r>
            <a:r>
              <a:rPr lang="en-US" sz="2200" dirty="0" err="1"/>
              <a:t>C2</a:t>
            </a:r>
            <a:r>
              <a:rPr lang="en-US" sz="2200" dirty="0"/>
              <a:t> and </a:t>
            </a:r>
            <a:r>
              <a:rPr lang="en-US" sz="2200" dirty="0" err="1"/>
              <a:t>C5</a:t>
            </a:r>
            <a:r>
              <a:rPr lang="en-US" sz="2200" dirty="0"/>
              <a:t>)  and update the proximity matrix. </a:t>
            </a:r>
          </a:p>
          <a:p>
            <a:pPr marL="742950" lvl="1" indent="-285750"/>
            <a:endParaRPr lang="en-US" sz="2000" dirty="0"/>
          </a:p>
        </p:txBody>
      </p:sp>
      <p:sp>
        <p:nvSpPr>
          <p:cNvPr id="1625092" name="Freeform 4"/>
          <p:cNvSpPr>
            <a:spLocks/>
          </p:cNvSpPr>
          <p:nvPr/>
        </p:nvSpPr>
        <p:spPr bwMode="auto">
          <a:xfrm>
            <a:off x="609600" y="4249737"/>
            <a:ext cx="546100" cy="773113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5093" name="Freeform 5"/>
          <p:cNvSpPr>
            <a:spLocks/>
          </p:cNvSpPr>
          <p:nvPr/>
        </p:nvSpPr>
        <p:spPr bwMode="auto">
          <a:xfrm rot="-5400000">
            <a:off x="1600200" y="3030537"/>
            <a:ext cx="762000" cy="914400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5094" name="Freeform 6"/>
          <p:cNvSpPr>
            <a:spLocks/>
          </p:cNvSpPr>
          <p:nvPr/>
        </p:nvSpPr>
        <p:spPr bwMode="auto">
          <a:xfrm rot="-10800000">
            <a:off x="3352800" y="3411537"/>
            <a:ext cx="685800" cy="762000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5095" name="Freeform 7"/>
          <p:cNvSpPr>
            <a:spLocks/>
          </p:cNvSpPr>
          <p:nvPr/>
        </p:nvSpPr>
        <p:spPr bwMode="auto">
          <a:xfrm>
            <a:off x="1295400" y="5316537"/>
            <a:ext cx="774700" cy="773113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5096" name="Freeform 8"/>
          <p:cNvSpPr>
            <a:spLocks/>
          </p:cNvSpPr>
          <p:nvPr/>
        </p:nvSpPr>
        <p:spPr bwMode="auto">
          <a:xfrm rot="-10800000">
            <a:off x="2590800" y="5240337"/>
            <a:ext cx="685800" cy="762000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5097" name="Text Box 9"/>
          <p:cNvSpPr txBox="1">
            <a:spLocks noChangeArrowheads="1"/>
          </p:cNvSpPr>
          <p:nvPr/>
        </p:nvSpPr>
        <p:spPr bwMode="auto">
          <a:xfrm>
            <a:off x="685800" y="4432299"/>
            <a:ext cx="609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/>
              <a:t>C1</a:t>
            </a:r>
            <a:endParaRPr lang="en-US" dirty="0"/>
          </a:p>
        </p:txBody>
      </p:sp>
      <p:sp>
        <p:nvSpPr>
          <p:cNvPr id="1625098" name="Text Box 10"/>
          <p:cNvSpPr txBox="1">
            <a:spLocks noChangeArrowheads="1"/>
          </p:cNvSpPr>
          <p:nvPr/>
        </p:nvSpPr>
        <p:spPr bwMode="auto">
          <a:xfrm>
            <a:off x="3428999" y="3640137"/>
            <a:ext cx="609601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/>
              <a:t>C4</a:t>
            </a:r>
            <a:endParaRPr lang="en-US" dirty="0"/>
          </a:p>
        </p:txBody>
      </p:sp>
      <p:sp>
        <p:nvSpPr>
          <p:cNvPr id="1625099" name="Text Box 11"/>
          <p:cNvSpPr txBox="1">
            <a:spLocks noChangeArrowheads="1"/>
          </p:cNvSpPr>
          <p:nvPr/>
        </p:nvSpPr>
        <p:spPr bwMode="auto">
          <a:xfrm>
            <a:off x="1524000" y="5468937"/>
            <a:ext cx="546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/>
              <a:t>C2</a:t>
            </a:r>
            <a:endParaRPr lang="en-US" dirty="0"/>
          </a:p>
        </p:txBody>
      </p:sp>
      <p:sp>
        <p:nvSpPr>
          <p:cNvPr id="1625100" name="Text Box 12"/>
          <p:cNvSpPr txBox="1">
            <a:spLocks noChangeArrowheads="1"/>
          </p:cNvSpPr>
          <p:nvPr/>
        </p:nvSpPr>
        <p:spPr bwMode="auto">
          <a:xfrm>
            <a:off x="2743199" y="5468937"/>
            <a:ext cx="5334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/>
              <a:t>C5</a:t>
            </a:r>
            <a:endParaRPr lang="en-US" dirty="0"/>
          </a:p>
        </p:txBody>
      </p:sp>
      <p:sp>
        <p:nvSpPr>
          <p:cNvPr id="1625101" name="Text Box 13"/>
          <p:cNvSpPr txBox="1">
            <a:spLocks noChangeArrowheads="1"/>
          </p:cNvSpPr>
          <p:nvPr/>
        </p:nvSpPr>
        <p:spPr bwMode="auto">
          <a:xfrm>
            <a:off x="1752600" y="3265353"/>
            <a:ext cx="495300" cy="374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/>
              <a:t>C3</a:t>
            </a:r>
            <a:endParaRPr lang="en-US" dirty="0"/>
          </a:p>
        </p:txBody>
      </p:sp>
      <p:grpSp>
        <p:nvGrpSpPr>
          <p:cNvPr id="1625102" name="Group 14"/>
          <p:cNvGrpSpPr>
            <a:grpSpLocks/>
          </p:cNvGrpSpPr>
          <p:nvPr/>
        </p:nvGrpSpPr>
        <p:grpSpPr bwMode="auto">
          <a:xfrm>
            <a:off x="5486400" y="2039937"/>
            <a:ext cx="2971800" cy="2193925"/>
            <a:chOff x="3456" y="1094"/>
            <a:chExt cx="1920" cy="1503"/>
          </a:xfrm>
        </p:grpSpPr>
        <p:sp>
          <p:nvSpPr>
            <p:cNvPr id="1625103" name="Text Box 15"/>
            <p:cNvSpPr txBox="1">
              <a:spLocks noChangeArrowheads="1"/>
            </p:cNvSpPr>
            <p:nvPr/>
          </p:nvSpPr>
          <p:spPr bwMode="auto">
            <a:xfrm>
              <a:off x="4032" y="1094"/>
              <a:ext cx="336" cy="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C2</a:t>
              </a:r>
            </a:p>
          </p:txBody>
        </p:sp>
        <p:sp>
          <p:nvSpPr>
            <p:cNvPr id="1625104" name="Text Box 16"/>
            <p:cNvSpPr txBox="1">
              <a:spLocks noChangeArrowheads="1"/>
            </p:cNvSpPr>
            <p:nvPr/>
          </p:nvSpPr>
          <p:spPr bwMode="auto">
            <a:xfrm>
              <a:off x="3744" y="1094"/>
              <a:ext cx="336" cy="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C1</a:t>
              </a:r>
            </a:p>
          </p:txBody>
        </p:sp>
        <p:sp>
          <p:nvSpPr>
            <p:cNvPr id="1625105" name="Line 17"/>
            <p:cNvSpPr>
              <a:spLocks noChangeShapeType="1"/>
            </p:cNvSpPr>
            <p:nvPr/>
          </p:nvSpPr>
          <p:spPr bwMode="auto">
            <a:xfrm>
              <a:off x="3696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5106" name="Line 18"/>
            <p:cNvSpPr>
              <a:spLocks noChangeShapeType="1"/>
            </p:cNvSpPr>
            <p:nvPr/>
          </p:nvSpPr>
          <p:spPr bwMode="auto">
            <a:xfrm>
              <a:off x="3504" y="1286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5107" name="Line 19"/>
            <p:cNvSpPr>
              <a:spLocks noChangeShapeType="1"/>
            </p:cNvSpPr>
            <p:nvPr/>
          </p:nvSpPr>
          <p:spPr bwMode="auto">
            <a:xfrm>
              <a:off x="5280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5108" name="Line 20"/>
            <p:cNvSpPr>
              <a:spLocks noChangeShapeType="1"/>
            </p:cNvSpPr>
            <p:nvPr/>
          </p:nvSpPr>
          <p:spPr bwMode="auto">
            <a:xfrm>
              <a:off x="3504" y="2582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5109" name="Text Box 21"/>
            <p:cNvSpPr txBox="1">
              <a:spLocks noChangeArrowheads="1"/>
            </p:cNvSpPr>
            <p:nvPr/>
          </p:nvSpPr>
          <p:spPr bwMode="auto">
            <a:xfrm>
              <a:off x="3456" y="1334"/>
              <a:ext cx="336" cy="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C1</a:t>
              </a:r>
            </a:p>
          </p:txBody>
        </p:sp>
        <p:sp>
          <p:nvSpPr>
            <p:cNvPr id="1625110" name="Text Box 22"/>
            <p:cNvSpPr txBox="1">
              <a:spLocks noChangeArrowheads="1"/>
            </p:cNvSpPr>
            <p:nvPr/>
          </p:nvSpPr>
          <p:spPr bwMode="auto">
            <a:xfrm>
              <a:off x="3456" y="1862"/>
              <a:ext cx="336" cy="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C3</a:t>
              </a:r>
            </a:p>
          </p:txBody>
        </p:sp>
        <p:sp>
          <p:nvSpPr>
            <p:cNvPr id="1625111" name="Text Box 23"/>
            <p:cNvSpPr txBox="1">
              <a:spLocks noChangeArrowheads="1"/>
            </p:cNvSpPr>
            <p:nvPr/>
          </p:nvSpPr>
          <p:spPr bwMode="auto">
            <a:xfrm>
              <a:off x="3456" y="2389"/>
              <a:ext cx="336" cy="2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 err="1"/>
                <a:t>C5</a:t>
              </a:r>
              <a:endParaRPr lang="en-US" dirty="0"/>
            </a:p>
          </p:txBody>
        </p:sp>
        <p:sp>
          <p:nvSpPr>
            <p:cNvPr id="1625112" name="Text Box 24"/>
            <p:cNvSpPr txBox="1">
              <a:spLocks noChangeArrowheads="1"/>
            </p:cNvSpPr>
            <p:nvPr/>
          </p:nvSpPr>
          <p:spPr bwMode="auto">
            <a:xfrm>
              <a:off x="3456" y="2098"/>
              <a:ext cx="336" cy="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 err="1"/>
                <a:t>C4</a:t>
              </a:r>
              <a:endParaRPr lang="en-US" dirty="0"/>
            </a:p>
          </p:txBody>
        </p:sp>
        <p:sp>
          <p:nvSpPr>
            <p:cNvPr id="1625113" name="Text Box 25"/>
            <p:cNvSpPr txBox="1">
              <a:spLocks noChangeArrowheads="1"/>
            </p:cNvSpPr>
            <p:nvPr/>
          </p:nvSpPr>
          <p:spPr bwMode="auto">
            <a:xfrm>
              <a:off x="3456" y="1622"/>
              <a:ext cx="336" cy="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C2</a:t>
              </a:r>
            </a:p>
          </p:txBody>
        </p:sp>
        <p:sp>
          <p:nvSpPr>
            <p:cNvPr id="1625114" name="Text Box 26"/>
            <p:cNvSpPr txBox="1">
              <a:spLocks noChangeArrowheads="1"/>
            </p:cNvSpPr>
            <p:nvPr/>
          </p:nvSpPr>
          <p:spPr bwMode="auto">
            <a:xfrm>
              <a:off x="4368" y="1094"/>
              <a:ext cx="336" cy="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C3</a:t>
              </a:r>
            </a:p>
          </p:txBody>
        </p:sp>
        <p:sp>
          <p:nvSpPr>
            <p:cNvPr id="1625115" name="Text Box 27"/>
            <p:cNvSpPr txBox="1">
              <a:spLocks noChangeArrowheads="1"/>
            </p:cNvSpPr>
            <p:nvPr/>
          </p:nvSpPr>
          <p:spPr bwMode="auto">
            <a:xfrm>
              <a:off x="4704" y="1094"/>
              <a:ext cx="336" cy="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C4</a:t>
              </a:r>
            </a:p>
          </p:txBody>
        </p:sp>
        <p:sp>
          <p:nvSpPr>
            <p:cNvPr id="1625116" name="Text Box 28"/>
            <p:cNvSpPr txBox="1">
              <a:spLocks noChangeArrowheads="1"/>
            </p:cNvSpPr>
            <p:nvPr/>
          </p:nvSpPr>
          <p:spPr bwMode="auto">
            <a:xfrm>
              <a:off x="4992" y="1094"/>
              <a:ext cx="336" cy="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C5</a:t>
              </a:r>
            </a:p>
          </p:txBody>
        </p:sp>
        <p:sp>
          <p:nvSpPr>
            <p:cNvPr id="1625117" name="Line 29"/>
            <p:cNvSpPr>
              <a:spLocks noChangeShapeType="1"/>
            </p:cNvSpPr>
            <p:nvPr/>
          </p:nvSpPr>
          <p:spPr bwMode="auto">
            <a:xfrm>
              <a:off x="3504" y="1526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5118" name="Line 30"/>
            <p:cNvSpPr>
              <a:spLocks noChangeShapeType="1"/>
            </p:cNvSpPr>
            <p:nvPr/>
          </p:nvSpPr>
          <p:spPr bwMode="auto">
            <a:xfrm>
              <a:off x="3504" y="2054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5119" name="Line 31"/>
            <p:cNvSpPr>
              <a:spLocks noChangeShapeType="1"/>
            </p:cNvSpPr>
            <p:nvPr/>
          </p:nvSpPr>
          <p:spPr bwMode="auto">
            <a:xfrm>
              <a:off x="3504" y="1814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5120" name="Line 32"/>
            <p:cNvSpPr>
              <a:spLocks noChangeShapeType="1"/>
            </p:cNvSpPr>
            <p:nvPr/>
          </p:nvSpPr>
          <p:spPr bwMode="auto">
            <a:xfrm>
              <a:off x="3504" y="2294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5121" name="Line 33"/>
            <p:cNvSpPr>
              <a:spLocks noChangeShapeType="1"/>
            </p:cNvSpPr>
            <p:nvPr/>
          </p:nvSpPr>
          <p:spPr bwMode="auto">
            <a:xfrm>
              <a:off x="4032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5122" name="Line 34"/>
            <p:cNvSpPr>
              <a:spLocks noChangeShapeType="1"/>
            </p:cNvSpPr>
            <p:nvPr/>
          </p:nvSpPr>
          <p:spPr bwMode="auto">
            <a:xfrm>
              <a:off x="4320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5123" name="Line 35"/>
            <p:cNvSpPr>
              <a:spLocks noChangeShapeType="1"/>
            </p:cNvSpPr>
            <p:nvPr/>
          </p:nvSpPr>
          <p:spPr bwMode="auto">
            <a:xfrm>
              <a:off x="4656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5124" name="Line 36"/>
            <p:cNvSpPr>
              <a:spLocks noChangeShapeType="1"/>
            </p:cNvSpPr>
            <p:nvPr/>
          </p:nvSpPr>
          <p:spPr bwMode="auto">
            <a:xfrm>
              <a:off x="4992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5125" name="Rectangle 37" descr="Wide downward diagonal"/>
            <p:cNvSpPr>
              <a:spLocks noChangeArrowheads="1"/>
            </p:cNvSpPr>
            <p:nvPr/>
          </p:nvSpPr>
          <p:spPr bwMode="auto">
            <a:xfrm>
              <a:off x="3696" y="1526"/>
              <a:ext cx="1584" cy="288"/>
            </a:xfrm>
            <a:prstGeom prst="rect">
              <a:avLst/>
            </a:prstGeom>
            <a:pattFill prst="wdDn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25126" name="Rectangle 38" descr="Wide downward diagonal"/>
            <p:cNvSpPr>
              <a:spLocks noChangeArrowheads="1"/>
            </p:cNvSpPr>
            <p:nvPr/>
          </p:nvSpPr>
          <p:spPr bwMode="auto">
            <a:xfrm>
              <a:off x="3696" y="2294"/>
              <a:ext cx="1584" cy="288"/>
            </a:xfrm>
            <a:prstGeom prst="rect">
              <a:avLst/>
            </a:prstGeom>
            <a:pattFill prst="wdDn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25127" name="Rectangle 39" descr="Wide downward diagonal"/>
            <p:cNvSpPr>
              <a:spLocks noChangeArrowheads="1"/>
            </p:cNvSpPr>
            <p:nvPr/>
          </p:nvSpPr>
          <p:spPr bwMode="auto">
            <a:xfrm rot="5400000">
              <a:off x="3521" y="1783"/>
              <a:ext cx="1298" cy="299"/>
            </a:xfrm>
            <a:prstGeom prst="rect">
              <a:avLst/>
            </a:prstGeom>
            <a:pattFill prst="wdDn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25128" name="Rectangle 40" descr="Wide downward diagonal"/>
            <p:cNvSpPr>
              <a:spLocks noChangeArrowheads="1"/>
            </p:cNvSpPr>
            <p:nvPr/>
          </p:nvSpPr>
          <p:spPr bwMode="auto">
            <a:xfrm rot="5400000">
              <a:off x="4477" y="1778"/>
              <a:ext cx="1297" cy="311"/>
            </a:xfrm>
            <a:prstGeom prst="rect">
              <a:avLst/>
            </a:prstGeom>
            <a:pattFill prst="wdDn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625129" name="Oval 41"/>
          <p:cNvSpPr>
            <a:spLocks noChangeArrowheads="1"/>
          </p:cNvSpPr>
          <p:nvPr/>
        </p:nvSpPr>
        <p:spPr bwMode="auto">
          <a:xfrm>
            <a:off x="990600" y="5011737"/>
            <a:ext cx="2514600" cy="1295400"/>
          </a:xfrm>
          <a:prstGeom prst="ellips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5130" name="Text Box 42"/>
          <p:cNvSpPr txBox="1">
            <a:spLocks noChangeArrowheads="1"/>
          </p:cNvSpPr>
          <p:nvPr/>
        </p:nvSpPr>
        <p:spPr bwMode="auto">
          <a:xfrm>
            <a:off x="5791200" y="4233862"/>
            <a:ext cx="2514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Proximity Matrix</a:t>
            </a:r>
          </a:p>
        </p:txBody>
      </p:sp>
      <p:graphicFrame>
        <p:nvGraphicFramePr>
          <p:cNvPr id="1625131" name="Object 43"/>
          <p:cNvGraphicFramePr>
            <a:graphicFrameLocks noGrp="1" noChangeAspect="1"/>
          </p:cNvGraphicFramePr>
          <p:nvPr>
            <p:ph sz="half" idx="4294967295"/>
            <p:extLst/>
          </p:nvPr>
        </p:nvGraphicFramePr>
        <p:xfrm>
          <a:off x="4648200" y="4859337"/>
          <a:ext cx="4083050" cy="184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5" name="Visio" r:id="rId3" imgW="7591349" imgH="3431733" progId="Visio.Drawing.6">
                  <p:embed/>
                </p:oleObj>
              </mc:Choice>
              <mc:Fallback>
                <p:oleObj name="Visio" r:id="rId3" imgW="7591349" imgH="3431733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859337"/>
                        <a:ext cx="4083050" cy="184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580311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1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990600"/>
          </a:xfrm>
        </p:spPr>
        <p:txBody>
          <a:bodyPr/>
          <a:lstStyle/>
          <a:p>
            <a:r>
              <a:rPr lang="en-US" dirty="0"/>
              <a:t>After Merging</a:t>
            </a:r>
          </a:p>
        </p:txBody>
      </p:sp>
      <p:sp>
        <p:nvSpPr>
          <p:cNvPr id="1626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876800"/>
          </a:xfrm>
        </p:spPr>
        <p:txBody>
          <a:bodyPr/>
          <a:lstStyle/>
          <a:p>
            <a:pPr marL="342900" indent="-342900"/>
            <a:r>
              <a:rPr lang="en-US" sz="2200" dirty="0"/>
              <a:t>The question is “How do we update the proximity matrix?” </a:t>
            </a:r>
          </a:p>
          <a:p>
            <a:pPr marL="742950" lvl="1" indent="-285750"/>
            <a:endParaRPr lang="en-US" sz="2000" dirty="0"/>
          </a:p>
        </p:txBody>
      </p:sp>
      <p:sp>
        <p:nvSpPr>
          <p:cNvPr id="1626116" name="Freeform 4"/>
          <p:cNvSpPr>
            <a:spLocks/>
          </p:cNvSpPr>
          <p:nvPr/>
        </p:nvSpPr>
        <p:spPr bwMode="auto">
          <a:xfrm>
            <a:off x="609600" y="4191000"/>
            <a:ext cx="546100" cy="773113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6117" name="Freeform 5"/>
          <p:cNvSpPr>
            <a:spLocks/>
          </p:cNvSpPr>
          <p:nvPr/>
        </p:nvSpPr>
        <p:spPr bwMode="auto">
          <a:xfrm rot="-5400000">
            <a:off x="1600200" y="2971800"/>
            <a:ext cx="762000" cy="914400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6118" name="Freeform 6"/>
          <p:cNvSpPr>
            <a:spLocks/>
          </p:cNvSpPr>
          <p:nvPr/>
        </p:nvSpPr>
        <p:spPr bwMode="auto">
          <a:xfrm rot="-10800000">
            <a:off x="3314700" y="3400862"/>
            <a:ext cx="838200" cy="762000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6119" name="Freeform 7"/>
          <p:cNvSpPr>
            <a:spLocks/>
          </p:cNvSpPr>
          <p:nvPr/>
        </p:nvSpPr>
        <p:spPr bwMode="auto">
          <a:xfrm>
            <a:off x="1295400" y="5257800"/>
            <a:ext cx="2362200" cy="773113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6120" name="Text Box 8"/>
          <p:cNvSpPr txBox="1">
            <a:spLocks noChangeArrowheads="1"/>
          </p:cNvSpPr>
          <p:nvPr/>
        </p:nvSpPr>
        <p:spPr bwMode="auto">
          <a:xfrm>
            <a:off x="685800" y="4267200"/>
            <a:ext cx="609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C1</a:t>
            </a:r>
          </a:p>
        </p:txBody>
      </p:sp>
      <p:sp>
        <p:nvSpPr>
          <p:cNvPr id="1626121" name="Text Box 9"/>
          <p:cNvSpPr txBox="1">
            <a:spLocks noChangeArrowheads="1"/>
          </p:cNvSpPr>
          <p:nvPr/>
        </p:nvSpPr>
        <p:spPr bwMode="auto">
          <a:xfrm>
            <a:off x="3429000" y="3657600"/>
            <a:ext cx="609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/>
              <a:t>C4</a:t>
            </a:r>
            <a:endParaRPr lang="en-US" dirty="0"/>
          </a:p>
        </p:txBody>
      </p:sp>
      <p:sp>
        <p:nvSpPr>
          <p:cNvPr id="1626122" name="Text Box 10"/>
          <p:cNvSpPr txBox="1">
            <a:spLocks noChangeArrowheads="1"/>
          </p:cNvSpPr>
          <p:nvPr/>
        </p:nvSpPr>
        <p:spPr bwMode="auto">
          <a:xfrm>
            <a:off x="1905000" y="5486399"/>
            <a:ext cx="1219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C2 </a:t>
            </a:r>
            <a:r>
              <a:rPr lang="en-US" b="0"/>
              <a:t>U</a:t>
            </a:r>
            <a:r>
              <a:rPr lang="en-US"/>
              <a:t> C5</a:t>
            </a:r>
          </a:p>
        </p:txBody>
      </p:sp>
      <p:sp>
        <p:nvSpPr>
          <p:cNvPr id="1626123" name="Text Box 11"/>
          <p:cNvSpPr txBox="1">
            <a:spLocks noChangeArrowheads="1"/>
          </p:cNvSpPr>
          <p:nvPr/>
        </p:nvSpPr>
        <p:spPr bwMode="auto">
          <a:xfrm>
            <a:off x="1752600" y="3276600"/>
            <a:ext cx="647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/>
              <a:t>C3</a:t>
            </a:r>
            <a:endParaRPr lang="en-US" dirty="0"/>
          </a:p>
        </p:txBody>
      </p:sp>
      <p:sp>
        <p:nvSpPr>
          <p:cNvPr id="1626124" name="Text Box 12"/>
          <p:cNvSpPr txBox="1">
            <a:spLocks noChangeArrowheads="1"/>
          </p:cNvSpPr>
          <p:nvPr/>
        </p:nvSpPr>
        <p:spPr bwMode="auto">
          <a:xfrm>
            <a:off x="5994400" y="3021231"/>
            <a:ext cx="22479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  ?      ?       ?      ?    	   </a:t>
            </a:r>
          </a:p>
        </p:txBody>
      </p:sp>
      <p:sp>
        <p:nvSpPr>
          <p:cNvPr id="1626125" name="Text Box 13"/>
          <p:cNvSpPr txBox="1">
            <a:spLocks noChangeArrowheads="1"/>
          </p:cNvSpPr>
          <p:nvPr/>
        </p:nvSpPr>
        <p:spPr bwMode="auto">
          <a:xfrm>
            <a:off x="6651625" y="2667000"/>
            <a:ext cx="533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?</a:t>
            </a:r>
          </a:p>
        </p:txBody>
      </p:sp>
      <p:sp>
        <p:nvSpPr>
          <p:cNvPr id="1626126" name="Text Box 14"/>
          <p:cNvSpPr txBox="1">
            <a:spLocks noChangeArrowheads="1"/>
          </p:cNvSpPr>
          <p:nvPr/>
        </p:nvSpPr>
        <p:spPr bwMode="auto">
          <a:xfrm>
            <a:off x="6651625" y="3505200"/>
            <a:ext cx="533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?</a:t>
            </a:r>
          </a:p>
        </p:txBody>
      </p:sp>
      <p:sp>
        <p:nvSpPr>
          <p:cNvPr id="1626127" name="Text Box 15"/>
          <p:cNvSpPr txBox="1">
            <a:spLocks noChangeArrowheads="1"/>
          </p:cNvSpPr>
          <p:nvPr/>
        </p:nvSpPr>
        <p:spPr bwMode="auto">
          <a:xfrm>
            <a:off x="6651625" y="3886200"/>
            <a:ext cx="533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?</a:t>
            </a:r>
          </a:p>
        </p:txBody>
      </p:sp>
      <p:sp>
        <p:nvSpPr>
          <p:cNvPr id="1626128" name="Text Box 16"/>
          <p:cNvSpPr txBox="1">
            <a:spLocks noChangeArrowheads="1"/>
          </p:cNvSpPr>
          <p:nvPr/>
        </p:nvSpPr>
        <p:spPr bwMode="auto">
          <a:xfrm>
            <a:off x="6575425" y="1727199"/>
            <a:ext cx="511174" cy="92333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/>
              <a:t>C2</a:t>
            </a:r>
            <a:r>
              <a:rPr lang="en-US" dirty="0"/>
              <a:t> </a:t>
            </a:r>
            <a:r>
              <a:rPr lang="en-US" b="0" dirty="0"/>
              <a:t>U </a:t>
            </a:r>
            <a:r>
              <a:rPr lang="en-US" dirty="0" err="1"/>
              <a:t>C5</a:t>
            </a:r>
            <a:endParaRPr lang="en-US" dirty="0"/>
          </a:p>
        </p:txBody>
      </p:sp>
      <p:sp>
        <p:nvSpPr>
          <p:cNvPr id="1626129" name="Text Box 17"/>
          <p:cNvSpPr txBox="1">
            <a:spLocks noChangeArrowheads="1"/>
          </p:cNvSpPr>
          <p:nvPr/>
        </p:nvSpPr>
        <p:spPr bwMode="auto">
          <a:xfrm>
            <a:off x="6096000" y="2286000"/>
            <a:ext cx="533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C1</a:t>
            </a:r>
          </a:p>
        </p:txBody>
      </p:sp>
      <p:sp>
        <p:nvSpPr>
          <p:cNvPr id="1626130" name="Line 18"/>
          <p:cNvSpPr>
            <a:spLocks noChangeShapeType="1"/>
          </p:cNvSpPr>
          <p:nvPr/>
        </p:nvSpPr>
        <p:spPr bwMode="auto">
          <a:xfrm>
            <a:off x="6019800" y="22860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6131" name="Line 19"/>
          <p:cNvSpPr>
            <a:spLocks noChangeShapeType="1"/>
          </p:cNvSpPr>
          <p:nvPr/>
        </p:nvSpPr>
        <p:spPr bwMode="auto">
          <a:xfrm>
            <a:off x="5715000" y="25908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6132" name="Text Box 20"/>
          <p:cNvSpPr txBox="1">
            <a:spLocks noChangeArrowheads="1"/>
          </p:cNvSpPr>
          <p:nvPr/>
        </p:nvSpPr>
        <p:spPr bwMode="auto">
          <a:xfrm>
            <a:off x="5638800" y="2667000"/>
            <a:ext cx="533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C1</a:t>
            </a:r>
          </a:p>
        </p:txBody>
      </p:sp>
      <p:sp>
        <p:nvSpPr>
          <p:cNvPr id="1626133" name="Text Box 21"/>
          <p:cNvSpPr txBox="1">
            <a:spLocks noChangeArrowheads="1"/>
          </p:cNvSpPr>
          <p:nvPr/>
        </p:nvSpPr>
        <p:spPr bwMode="auto">
          <a:xfrm>
            <a:off x="5638800" y="3458527"/>
            <a:ext cx="533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/>
              <a:t>C3</a:t>
            </a:r>
            <a:endParaRPr lang="en-US" dirty="0"/>
          </a:p>
        </p:txBody>
      </p:sp>
      <p:sp>
        <p:nvSpPr>
          <p:cNvPr id="1626134" name="Text Box 22"/>
          <p:cNvSpPr txBox="1">
            <a:spLocks noChangeArrowheads="1"/>
          </p:cNvSpPr>
          <p:nvPr/>
        </p:nvSpPr>
        <p:spPr bwMode="auto">
          <a:xfrm>
            <a:off x="5638800" y="3886200"/>
            <a:ext cx="533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C4</a:t>
            </a:r>
          </a:p>
        </p:txBody>
      </p:sp>
      <p:sp>
        <p:nvSpPr>
          <p:cNvPr id="1626135" name="Text Box 23"/>
          <p:cNvSpPr txBox="1">
            <a:spLocks noChangeArrowheads="1"/>
          </p:cNvSpPr>
          <p:nvPr/>
        </p:nvSpPr>
        <p:spPr bwMode="auto">
          <a:xfrm>
            <a:off x="4953000" y="3018473"/>
            <a:ext cx="1066800" cy="369332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/>
              <a:t>C2</a:t>
            </a:r>
            <a:r>
              <a:rPr lang="en-US" dirty="0"/>
              <a:t> </a:t>
            </a:r>
            <a:r>
              <a:rPr lang="en-US" b="0" dirty="0"/>
              <a:t>U </a:t>
            </a:r>
            <a:r>
              <a:rPr lang="en-US" dirty="0" err="1"/>
              <a:t>C5</a:t>
            </a:r>
            <a:endParaRPr lang="en-US" dirty="0"/>
          </a:p>
        </p:txBody>
      </p:sp>
      <p:sp>
        <p:nvSpPr>
          <p:cNvPr id="1626136" name="Text Box 24"/>
          <p:cNvSpPr txBox="1">
            <a:spLocks noChangeArrowheads="1"/>
          </p:cNvSpPr>
          <p:nvPr/>
        </p:nvSpPr>
        <p:spPr bwMode="auto">
          <a:xfrm>
            <a:off x="7086600" y="2286000"/>
            <a:ext cx="533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C3</a:t>
            </a:r>
          </a:p>
        </p:txBody>
      </p:sp>
      <p:sp>
        <p:nvSpPr>
          <p:cNvPr id="1626137" name="Text Box 25"/>
          <p:cNvSpPr txBox="1">
            <a:spLocks noChangeArrowheads="1"/>
          </p:cNvSpPr>
          <p:nvPr/>
        </p:nvSpPr>
        <p:spPr bwMode="auto">
          <a:xfrm>
            <a:off x="7620000" y="2286000"/>
            <a:ext cx="533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C4</a:t>
            </a:r>
          </a:p>
        </p:txBody>
      </p:sp>
      <p:sp>
        <p:nvSpPr>
          <p:cNvPr id="1626138" name="Line 26"/>
          <p:cNvSpPr>
            <a:spLocks noChangeShapeType="1"/>
          </p:cNvSpPr>
          <p:nvPr/>
        </p:nvSpPr>
        <p:spPr bwMode="auto">
          <a:xfrm>
            <a:off x="5715000" y="29718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6139" name="Line 27"/>
          <p:cNvSpPr>
            <a:spLocks noChangeShapeType="1"/>
          </p:cNvSpPr>
          <p:nvPr/>
        </p:nvSpPr>
        <p:spPr bwMode="auto">
          <a:xfrm>
            <a:off x="5715000" y="38100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6140" name="Line 28"/>
          <p:cNvSpPr>
            <a:spLocks noChangeShapeType="1"/>
          </p:cNvSpPr>
          <p:nvPr/>
        </p:nvSpPr>
        <p:spPr bwMode="auto">
          <a:xfrm>
            <a:off x="5715000" y="34290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6141" name="Line 29"/>
          <p:cNvSpPr>
            <a:spLocks noChangeShapeType="1"/>
          </p:cNvSpPr>
          <p:nvPr/>
        </p:nvSpPr>
        <p:spPr bwMode="auto">
          <a:xfrm>
            <a:off x="5715000" y="41910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6142" name="Line 30"/>
          <p:cNvSpPr>
            <a:spLocks noChangeShapeType="1"/>
          </p:cNvSpPr>
          <p:nvPr/>
        </p:nvSpPr>
        <p:spPr bwMode="auto">
          <a:xfrm>
            <a:off x="6553200" y="22860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6143" name="Line 31"/>
          <p:cNvSpPr>
            <a:spLocks noChangeShapeType="1"/>
          </p:cNvSpPr>
          <p:nvPr/>
        </p:nvSpPr>
        <p:spPr bwMode="auto">
          <a:xfrm>
            <a:off x="7010400" y="22860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6144" name="Line 32"/>
          <p:cNvSpPr>
            <a:spLocks noChangeShapeType="1"/>
          </p:cNvSpPr>
          <p:nvPr/>
        </p:nvSpPr>
        <p:spPr bwMode="auto">
          <a:xfrm>
            <a:off x="7543800" y="22860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6145" name="Line 33"/>
          <p:cNvSpPr>
            <a:spLocks noChangeShapeType="1"/>
          </p:cNvSpPr>
          <p:nvPr/>
        </p:nvSpPr>
        <p:spPr bwMode="auto">
          <a:xfrm>
            <a:off x="8077200" y="22860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6146" name="Text Box 34"/>
          <p:cNvSpPr txBox="1">
            <a:spLocks noChangeArrowheads="1"/>
          </p:cNvSpPr>
          <p:nvPr/>
        </p:nvSpPr>
        <p:spPr bwMode="auto">
          <a:xfrm>
            <a:off x="5791200" y="4267200"/>
            <a:ext cx="2514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Proximity Matrix</a:t>
            </a:r>
          </a:p>
        </p:txBody>
      </p:sp>
      <p:graphicFrame>
        <p:nvGraphicFramePr>
          <p:cNvPr id="1626147" name="Object 35"/>
          <p:cNvGraphicFramePr>
            <a:graphicFrameLocks noGrp="1" noChangeAspect="1"/>
          </p:cNvGraphicFramePr>
          <p:nvPr>
            <p:ph sz="half" idx="4294967295"/>
            <p:extLst/>
          </p:nvPr>
        </p:nvGraphicFramePr>
        <p:xfrm>
          <a:off x="4648200" y="4740275"/>
          <a:ext cx="4083050" cy="196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9" name="Visio" r:id="rId3" imgW="7591349" imgH="3654718" progId="Visio.Drawing.6">
                  <p:embed/>
                </p:oleObj>
              </mc:Choice>
              <mc:Fallback>
                <p:oleObj name="Visio" r:id="rId3" imgW="7591349" imgH="3654718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740275"/>
                        <a:ext cx="4083050" cy="196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748494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138" name="Rectangle 2"/>
          <p:cNvSpPr>
            <a:spLocks noGrp="1" noChangeArrowheads="1"/>
          </p:cNvSpPr>
          <p:nvPr>
            <p:ph type="title"/>
          </p:nvPr>
        </p:nvSpPr>
        <p:spPr>
          <a:xfrm>
            <a:off x="330200" y="457199"/>
            <a:ext cx="8280400" cy="1066800"/>
          </a:xfrm>
        </p:spPr>
        <p:txBody>
          <a:bodyPr>
            <a:normAutofit/>
          </a:bodyPr>
          <a:lstStyle/>
          <a:p>
            <a:r>
              <a:rPr lang="en-US" dirty="0"/>
              <a:t>How to Define Inter-Cluster Similarity</a:t>
            </a:r>
          </a:p>
        </p:txBody>
      </p:sp>
      <p:sp>
        <p:nvSpPr>
          <p:cNvPr id="1627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5963" y="2801938"/>
            <a:ext cx="4800600" cy="3303587"/>
          </a:xfrm>
        </p:spPr>
        <p:txBody>
          <a:bodyPr/>
          <a:lstStyle/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sz="1000"/>
              <a:t> </a:t>
            </a:r>
          </a:p>
        </p:txBody>
      </p:sp>
      <p:grpSp>
        <p:nvGrpSpPr>
          <p:cNvPr id="1627140" name="Group 4"/>
          <p:cNvGrpSpPr>
            <a:grpSpLocks/>
          </p:cNvGrpSpPr>
          <p:nvPr/>
        </p:nvGrpSpPr>
        <p:grpSpPr bwMode="auto">
          <a:xfrm>
            <a:off x="5562600" y="1524000"/>
            <a:ext cx="3429000" cy="3508375"/>
            <a:chOff x="3456" y="1440"/>
            <a:chExt cx="2160" cy="2210"/>
          </a:xfrm>
        </p:grpSpPr>
        <p:sp>
          <p:nvSpPr>
            <p:cNvPr id="1627141" name="Line 5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7142" name="Line 6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7143" name="Line 7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7144" name="Line 8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7145" name="Line 9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7146" name="Line 10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7147" name="Line 11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7148" name="Line 12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7149" name="Line 13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7150" name="Line 14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7151" name="Line 15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7152" name="Line 16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7153" name="Text Box 17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p1</a:t>
              </a:r>
            </a:p>
          </p:txBody>
        </p:sp>
        <p:sp>
          <p:nvSpPr>
            <p:cNvPr id="1627154" name="Text Box 18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p3</a:t>
              </a:r>
            </a:p>
          </p:txBody>
        </p:sp>
        <p:sp>
          <p:nvSpPr>
            <p:cNvPr id="1627155" name="Text Box 19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p5</a:t>
              </a:r>
            </a:p>
          </p:txBody>
        </p:sp>
        <p:sp>
          <p:nvSpPr>
            <p:cNvPr id="1627156" name="Text Box 20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p4</a:t>
              </a:r>
            </a:p>
          </p:txBody>
        </p:sp>
        <p:sp>
          <p:nvSpPr>
            <p:cNvPr id="1627157" name="Text Box 21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p2</a:t>
              </a:r>
            </a:p>
          </p:txBody>
        </p:sp>
        <p:sp>
          <p:nvSpPr>
            <p:cNvPr id="1627158" name="Text Box 22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p1</a:t>
              </a:r>
            </a:p>
          </p:txBody>
        </p:sp>
        <p:sp>
          <p:nvSpPr>
            <p:cNvPr id="1627159" name="Text Box 23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p2</a:t>
              </a:r>
            </a:p>
          </p:txBody>
        </p:sp>
        <p:sp>
          <p:nvSpPr>
            <p:cNvPr id="1627160" name="Text Box 24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p3</a:t>
              </a:r>
            </a:p>
          </p:txBody>
        </p:sp>
        <p:sp>
          <p:nvSpPr>
            <p:cNvPr id="1627161" name="Text Box 25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p4</a:t>
              </a:r>
            </a:p>
          </p:txBody>
        </p:sp>
        <p:sp>
          <p:nvSpPr>
            <p:cNvPr id="1627162" name="Text Box 26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p5</a:t>
              </a:r>
            </a:p>
          </p:txBody>
        </p:sp>
        <p:sp>
          <p:nvSpPr>
            <p:cNvPr id="1627163" name="Text Box 27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/>
                <a:t>. . .</a:t>
              </a:r>
            </a:p>
          </p:txBody>
        </p:sp>
        <p:sp>
          <p:nvSpPr>
            <p:cNvPr id="1627164" name="Text Box 28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sz="1600"/>
                <a:t>.</a:t>
              </a:r>
            </a:p>
          </p:txBody>
        </p:sp>
      </p:grpSp>
      <p:sp>
        <p:nvSpPr>
          <p:cNvPr id="1627165" name="Line 29"/>
          <p:cNvSpPr>
            <a:spLocks noChangeShapeType="1"/>
          </p:cNvSpPr>
          <p:nvPr/>
        </p:nvSpPr>
        <p:spPr bwMode="auto">
          <a:xfrm>
            <a:off x="2286000" y="2514600"/>
            <a:ext cx="106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7166" name="Text Box 30"/>
          <p:cNvSpPr txBox="1">
            <a:spLocks noChangeArrowheads="1"/>
          </p:cNvSpPr>
          <p:nvPr/>
        </p:nvSpPr>
        <p:spPr bwMode="auto">
          <a:xfrm>
            <a:off x="2286000" y="2057400"/>
            <a:ext cx="1447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Similarity?</a:t>
            </a:r>
          </a:p>
        </p:txBody>
      </p:sp>
      <p:sp>
        <p:nvSpPr>
          <p:cNvPr id="1627167" name="Rectangle 31"/>
          <p:cNvSpPr>
            <a:spLocks noChangeArrowheads="1"/>
          </p:cNvSpPr>
          <p:nvPr/>
        </p:nvSpPr>
        <p:spPr bwMode="auto">
          <a:xfrm>
            <a:off x="457200" y="3657600"/>
            <a:ext cx="5791200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 dirty="0"/>
              <a:t>MIN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 dirty="0"/>
              <a:t>MAX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 dirty="0"/>
              <a:t>Group Average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 dirty="0"/>
              <a:t>Distance Between Centroids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 dirty="0"/>
              <a:t>Other methods driven by an objective function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sz="2000" b="0" dirty="0"/>
              <a:t>Ward’s Method uses squared error</a:t>
            </a:r>
            <a:endParaRPr lang="en-US" sz="2400" b="0" dirty="0"/>
          </a:p>
        </p:txBody>
      </p:sp>
      <p:sp>
        <p:nvSpPr>
          <p:cNvPr id="1627168" name="Freeform 32" descr="5%"/>
          <p:cNvSpPr>
            <a:spLocks/>
          </p:cNvSpPr>
          <p:nvPr/>
        </p:nvSpPr>
        <p:spPr bwMode="auto">
          <a:xfrm rot="-5400000">
            <a:off x="538957" y="1747043"/>
            <a:ext cx="1828800" cy="1382713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tx1"/>
                  </a:fgClr>
                  <a:bgClr>
                    <a:srgbClr val="FFFFFF"/>
                  </a:bgClr>
                </a:patt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7169" name="Oval 33"/>
          <p:cNvSpPr>
            <a:spLocks noChangeArrowheads="1"/>
          </p:cNvSpPr>
          <p:nvPr/>
        </p:nvSpPr>
        <p:spPr bwMode="auto">
          <a:xfrm rot="-5400000">
            <a:off x="1828800" y="2667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7170" name="Oval 34"/>
          <p:cNvSpPr>
            <a:spLocks noChangeArrowheads="1"/>
          </p:cNvSpPr>
          <p:nvPr/>
        </p:nvSpPr>
        <p:spPr bwMode="auto">
          <a:xfrm rot="-5400000">
            <a:off x="17526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7171" name="Oval 35"/>
          <p:cNvSpPr>
            <a:spLocks noChangeArrowheads="1"/>
          </p:cNvSpPr>
          <p:nvPr/>
        </p:nvSpPr>
        <p:spPr bwMode="auto">
          <a:xfrm rot="-5400000">
            <a:off x="914400" y="2362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7172" name="Oval 36"/>
          <p:cNvSpPr>
            <a:spLocks noChangeArrowheads="1"/>
          </p:cNvSpPr>
          <p:nvPr/>
        </p:nvSpPr>
        <p:spPr bwMode="auto">
          <a:xfrm rot="-5400000">
            <a:off x="1979613" y="22082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7173" name="Freeform 37" descr="5%"/>
          <p:cNvSpPr>
            <a:spLocks/>
          </p:cNvSpPr>
          <p:nvPr/>
        </p:nvSpPr>
        <p:spPr bwMode="auto">
          <a:xfrm rot="5400000" flipV="1">
            <a:off x="3429000" y="1600200"/>
            <a:ext cx="1828800" cy="1676400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tx1"/>
                  </a:fgClr>
                  <a:bgClr>
                    <a:srgbClr val="FFFFFF"/>
                  </a:bgClr>
                </a:patt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7174" name="Oval 38"/>
          <p:cNvSpPr>
            <a:spLocks noChangeArrowheads="1"/>
          </p:cNvSpPr>
          <p:nvPr/>
        </p:nvSpPr>
        <p:spPr bwMode="auto">
          <a:xfrm rot="5400000" flipV="1">
            <a:off x="4953000" y="20574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7175" name="Oval 39"/>
          <p:cNvSpPr>
            <a:spLocks noChangeArrowheads="1"/>
          </p:cNvSpPr>
          <p:nvPr/>
        </p:nvSpPr>
        <p:spPr bwMode="auto">
          <a:xfrm rot="5400000" flipV="1">
            <a:off x="3592513" y="20558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7176" name="Oval 40"/>
          <p:cNvSpPr>
            <a:spLocks noChangeArrowheads="1"/>
          </p:cNvSpPr>
          <p:nvPr/>
        </p:nvSpPr>
        <p:spPr bwMode="auto">
          <a:xfrm rot="5400000" flipV="1">
            <a:off x="4114800" y="2667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7177" name="Oval 41"/>
          <p:cNvSpPr>
            <a:spLocks noChangeArrowheads="1"/>
          </p:cNvSpPr>
          <p:nvPr/>
        </p:nvSpPr>
        <p:spPr bwMode="auto">
          <a:xfrm rot="5400000" flipV="1">
            <a:off x="4114800" y="16764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7178" name="Text Box 42"/>
          <p:cNvSpPr txBox="1">
            <a:spLocks noChangeArrowheads="1"/>
          </p:cNvSpPr>
          <p:nvPr/>
        </p:nvSpPr>
        <p:spPr bwMode="auto">
          <a:xfrm>
            <a:off x="6019800" y="4800600"/>
            <a:ext cx="2514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Proximity Matrix</a:t>
            </a:r>
          </a:p>
        </p:txBody>
      </p:sp>
    </p:spTree>
    <p:extLst>
      <p:ext uri="{BB962C8B-B14F-4D97-AF65-F5344CB8AC3E}">
        <p14:creationId xmlns:p14="http://schemas.microsoft.com/office/powerpoint/2010/main" val="131282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716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62" name="Rectangle 2"/>
          <p:cNvSpPr>
            <a:spLocks noGrp="1" noChangeArrowheads="1"/>
          </p:cNvSpPr>
          <p:nvPr>
            <p:ph type="title"/>
          </p:nvPr>
        </p:nvSpPr>
        <p:spPr>
          <a:xfrm>
            <a:off x="368300" y="457200"/>
            <a:ext cx="8280400" cy="914400"/>
          </a:xfrm>
        </p:spPr>
        <p:txBody>
          <a:bodyPr>
            <a:normAutofit/>
          </a:bodyPr>
          <a:lstStyle/>
          <a:p>
            <a:r>
              <a:rPr lang="en-US" dirty="0"/>
              <a:t>How to Define Inter-Cluster Similarity</a:t>
            </a:r>
          </a:p>
        </p:txBody>
      </p:sp>
      <p:sp>
        <p:nvSpPr>
          <p:cNvPr id="1628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2801938"/>
            <a:ext cx="4800600" cy="3303587"/>
          </a:xfrm>
        </p:spPr>
        <p:txBody>
          <a:bodyPr/>
          <a:lstStyle/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sz="1000"/>
              <a:t> </a:t>
            </a:r>
          </a:p>
        </p:txBody>
      </p:sp>
      <p:grpSp>
        <p:nvGrpSpPr>
          <p:cNvPr id="1628164" name="Group 4"/>
          <p:cNvGrpSpPr>
            <a:grpSpLocks/>
          </p:cNvGrpSpPr>
          <p:nvPr/>
        </p:nvGrpSpPr>
        <p:grpSpPr bwMode="auto">
          <a:xfrm>
            <a:off x="5486400" y="1524000"/>
            <a:ext cx="3429000" cy="3508375"/>
            <a:chOff x="3456" y="1440"/>
            <a:chExt cx="2160" cy="2210"/>
          </a:xfrm>
        </p:grpSpPr>
        <p:sp>
          <p:nvSpPr>
            <p:cNvPr id="1628165" name="Line 5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8166" name="Line 6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8167" name="Line 7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8168" name="Line 8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8169" name="Line 9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8170" name="Line 10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8171" name="Line 11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8172" name="Line 12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8173" name="Line 13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8174" name="Line 14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8175" name="Line 15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8176" name="Line 16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8177" name="Text Box 17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p1</a:t>
              </a:r>
            </a:p>
          </p:txBody>
        </p:sp>
        <p:sp>
          <p:nvSpPr>
            <p:cNvPr id="1628178" name="Text Box 18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p3</a:t>
              </a:r>
            </a:p>
          </p:txBody>
        </p:sp>
        <p:sp>
          <p:nvSpPr>
            <p:cNvPr id="1628179" name="Text Box 19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p5</a:t>
              </a:r>
            </a:p>
          </p:txBody>
        </p:sp>
        <p:sp>
          <p:nvSpPr>
            <p:cNvPr id="1628180" name="Text Box 20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p4</a:t>
              </a:r>
            </a:p>
          </p:txBody>
        </p:sp>
        <p:sp>
          <p:nvSpPr>
            <p:cNvPr id="1628181" name="Text Box 21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p2</a:t>
              </a:r>
            </a:p>
          </p:txBody>
        </p:sp>
        <p:sp>
          <p:nvSpPr>
            <p:cNvPr id="1628182" name="Text Box 22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p1</a:t>
              </a:r>
            </a:p>
          </p:txBody>
        </p:sp>
        <p:sp>
          <p:nvSpPr>
            <p:cNvPr id="1628183" name="Text Box 23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p2</a:t>
              </a:r>
            </a:p>
          </p:txBody>
        </p:sp>
        <p:sp>
          <p:nvSpPr>
            <p:cNvPr id="1628184" name="Text Box 24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p3</a:t>
              </a:r>
            </a:p>
          </p:txBody>
        </p:sp>
        <p:sp>
          <p:nvSpPr>
            <p:cNvPr id="1628185" name="Text Box 25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p4</a:t>
              </a:r>
            </a:p>
          </p:txBody>
        </p:sp>
        <p:sp>
          <p:nvSpPr>
            <p:cNvPr id="1628186" name="Text Box 26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p5</a:t>
              </a:r>
            </a:p>
          </p:txBody>
        </p:sp>
        <p:sp>
          <p:nvSpPr>
            <p:cNvPr id="1628187" name="Text Box 27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/>
                <a:t>. . .</a:t>
              </a:r>
            </a:p>
          </p:txBody>
        </p:sp>
        <p:sp>
          <p:nvSpPr>
            <p:cNvPr id="1628188" name="Text Box 28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sz="1600"/>
                <a:t>.</a:t>
              </a:r>
            </a:p>
          </p:txBody>
        </p:sp>
      </p:grpSp>
      <p:sp>
        <p:nvSpPr>
          <p:cNvPr id="1628189" name="Freeform 29" descr="5%"/>
          <p:cNvSpPr>
            <a:spLocks/>
          </p:cNvSpPr>
          <p:nvPr/>
        </p:nvSpPr>
        <p:spPr bwMode="auto">
          <a:xfrm rot="-5400000">
            <a:off x="462757" y="1747043"/>
            <a:ext cx="1828800" cy="1382713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tx1"/>
                  </a:fgClr>
                  <a:bgClr>
                    <a:srgbClr val="FFFFFF"/>
                  </a:bgClr>
                </a:patt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8190" name="Oval 30"/>
          <p:cNvSpPr>
            <a:spLocks noChangeArrowheads="1"/>
          </p:cNvSpPr>
          <p:nvPr/>
        </p:nvSpPr>
        <p:spPr bwMode="auto">
          <a:xfrm rot="-5400000">
            <a:off x="1752600" y="2667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191" name="Oval 31"/>
          <p:cNvSpPr>
            <a:spLocks noChangeArrowheads="1"/>
          </p:cNvSpPr>
          <p:nvPr/>
        </p:nvSpPr>
        <p:spPr bwMode="auto">
          <a:xfrm rot="-5400000">
            <a:off x="16764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192" name="Oval 32"/>
          <p:cNvSpPr>
            <a:spLocks noChangeArrowheads="1"/>
          </p:cNvSpPr>
          <p:nvPr/>
        </p:nvSpPr>
        <p:spPr bwMode="auto">
          <a:xfrm rot="-5400000">
            <a:off x="838200" y="2362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193" name="Oval 33"/>
          <p:cNvSpPr>
            <a:spLocks noChangeArrowheads="1"/>
          </p:cNvSpPr>
          <p:nvPr/>
        </p:nvSpPr>
        <p:spPr bwMode="auto">
          <a:xfrm rot="-5400000">
            <a:off x="1903413" y="22082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194" name="Freeform 34" descr="5%"/>
          <p:cNvSpPr>
            <a:spLocks/>
          </p:cNvSpPr>
          <p:nvPr/>
        </p:nvSpPr>
        <p:spPr bwMode="auto">
          <a:xfrm rot="5400000" flipV="1">
            <a:off x="3352800" y="1600200"/>
            <a:ext cx="1828800" cy="1676400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tx1"/>
                  </a:fgClr>
                  <a:bgClr>
                    <a:srgbClr val="FFFFFF"/>
                  </a:bgClr>
                </a:patt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8195" name="Oval 35"/>
          <p:cNvSpPr>
            <a:spLocks noChangeArrowheads="1"/>
          </p:cNvSpPr>
          <p:nvPr/>
        </p:nvSpPr>
        <p:spPr bwMode="auto">
          <a:xfrm rot="5400000" flipV="1">
            <a:off x="4876800" y="20574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196" name="Oval 36"/>
          <p:cNvSpPr>
            <a:spLocks noChangeArrowheads="1"/>
          </p:cNvSpPr>
          <p:nvPr/>
        </p:nvSpPr>
        <p:spPr bwMode="auto">
          <a:xfrm rot="5400000" flipV="1">
            <a:off x="3516313" y="20558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197" name="Oval 37"/>
          <p:cNvSpPr>
            <a:spLocks noChangeArrowheads="1"/>
          </p:cNvSpPr>
          <p:nvPr/>
        </p:nvSpPr>
        <p:spPr bwMode="auto">
          <a:xfrm rot="5400000" flipV="1">
            <a:off x="4038600" y="2667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198" name="Oval 38"/>
          <p:cNvSpPr>
            <a:spLocks noChangeArrowheads="1"/>
          </p:cNvSpPr>
          <p:nvPr/>
        </p:nvSpPr>
        <p:spPr bwMode="auto">
          <a:xfrm rot="5400000" flipV="1">
            <a:off x="4038600" y="16764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199" name="Line 39"/>
          <p:cNvSpPr>
            <a:spLocks noChangeShapeType="1"/>
          </p:cNvSpPr>
          <p:nvPr/>
        </p:nvSpPr>
        <p:spPr bwMode="auto">
          <a:xfrm flipV="1">
            <a:off x="1981200" y="2057400"/>
            <a:ext cx="1524000" cy="15240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8200" name="Text Box 40"/>
          <p:cNvSpPr txBox="1">
            <a:spLocks noChangeArrowheads="1"/>
          </p:cNvSpPr>
          <p:nvPr/>
        </p:nvSpPr>
        <p:spPr bwMode="auto">
          <a:xfrm>
            <a:off x="5943600" y="4800600"/>
            <a:ext cx="2514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Proximity Matrix</a:t>
            </a:r>
          </a:p>
        </p:txBody>
      </p:sp>
      <p:sp>
        <p:nvSpPr>
          <p:cNvPr id="1628201" name="Rectangle 41"/>
          <p:cNvSpPr>
            <a:spLocks noChangeArrowheads="1"/>
          </p:cNvSpPr>
          <p:nvPr/>
        </p:nvSpPr>
        <p:spPr bwMode="auto">
          <a:xfrm>
            <a:off x="381000" y="3657600"/>
            <a:ext cx="5791200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>
                <a:solidFill>
                  <a:srgbClr val="FF0000"/>
                </a:solidFill>
              </a:rPr>
              <a:t>MIN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/>
              <a:t>MAX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/>
              <a:t>Group Average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/>
              <a:t>Distance Between Centroids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/>
              <a:t>Other methods driven by an objective function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sz="2000" b="0"/>
              <a:t>Ward’s Method uses squared error</a:t>
            </a:r>
            <a:endParaRPr lang="en-US" sz="2400" b="0"/>
          </a:p>
        </p:txBody>
      </p:sp>
    </p:spTree>
    <p:extLst>
      <p:ext uri="{BB962C8B-B14F-4D97-AF65-F5344CB8AC3E}">
        <p14:creationId xmlns:p14="http://schemas.microsoft.com/office/powerpoint/2010/main" val="5650311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1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1333500"/>
          </a:xfrm>
        </p:spPr>
        <p:txBody>
          <a:bodyPr>
            <a:noAutofit/>
          </a:bodyPr>
          <a:lstStyle/>
          <a:p>
            <a:r>
              <a:rPr lang="en-US" dirty="0"/>
              <a:t>How to Define Inter-Cluster Similarity</a:t>
            </a:r>
          </a:p>
        </p:txBody>
      </p:sp>
      <p:sp>
        <p:nvSpPr>
          <p:cNvPr id="1629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2954338"/>
            <a:ext cx="4800600" cy="3303587"/>
          </a:xfrm>
        </p:spPr>
        <p:txBody>
          <a:bodyPr/>
          <a:lstStyle/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sz="1000"/>
              <a:t> </a:t>
            </a:r>
          </a:p>
        </p:txBody>
      </p:sp>
      <p:grpSp>
        <p:nvGrpSpPr>
          <p:cNvPr id="1629188" name="Group 4"/>
          <p:cNvGrpSpPr>
            <a:grpSpLocks/>
          </p:cNvGrpSpPr>
          <p:nvPr/>
        </p:nvGrpSpPr>
        <p:grpSpPr bwMode="auto">
          <a:xfrm>
            <a:off x="5486400" y="1676400"/>
            <a:ext cx="3429000" cy="3508375"/>
            <a:chOff x="3456" y="1440"/>
            <a:chExt cx="2160" cy="2210"/>
          </a:xfrm>
        </p:grpSpPr>
        <p:sp>
          <p:nvSpPr>
            <p:cNvPr id="1629189" name="Line 5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9190" name="Line 6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9191" name="Line 7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9192" name="Line 8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9193" name="Line 9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9194" name="Line 10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9195" name="Line 11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9196" name="Line 12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9197" name="Line 13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9198" name="Line 14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9199" name="Line 15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9200" name="Line 16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9201" name="Text Box 17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p1</a:t>
              </a:r>
            </a:p>
          </p:txBody>
        </p:sp>
        <p:sp>
          <p:nvSpPr>
            <p:cNvPr id="1629202" name="Text Box 18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p3</a:t>
              </a:r>
            </a:p>
          </p:txBody>
        </p:sp>
        <p:sp>
          <p:nvSpPr>
            <p:cNvPr id="1629203" name="Text Box 19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p5</a:t>
              </a:r>
            </a:p>
          </p:txBody>
        </p:sp>
        <p:sp>
          <p:nvSpPr>
            <p:cNvPr id="1629204" name="Text Box 20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p4</a:t>
              </a:r>
            </a:p>
          </p:txBody>
        </p:sp>
        <p:sp>
          <p:nvSpPr>
            <p:cNvPr id="1629205" name="Text Box 21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p2</a:t>
              </a:r>
            </a:p>
          </p:txBody>
        </p:sp>
        <p:sp>
          <p:nvSpPr>
            <p:cNvPr id="1629206" name="Text Box 22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p1</a:t>
              </a:r>
            </a:p>
          </p:txBody>
        </p:sp>
        <p:sp>
          <p:nvSpPr>
            <p:cNvPr id="1629207" name="Text Box 23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p2</a:t>
              </a:r>
            </a:p>
          </p:txBody>
        </p:sp>
        <p:sp>
          <p:nvSpPr>
            <p:cNvPr id="1629208" name="Text Box 24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p3</a:t>
              </a:r>
            </a:p>
          </p:txBody>
        </p:sp>
        <p:sp>
          <p:nvSpPr>
            <p:cNvPr id="1629209" name="Text Box 25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p4</a:t>
              </a:r>
            </a:p>
          </p:txBody>
        </p:sp>
        <p:sp>
          <p:nvSpPr>
            <p:cNvPr id="1629210" name="Text Box 26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p5</a:t>
              </a:r>
            </a:p>
          </p:txBody>
        </p:sp>
        <p:sp>
          <p:nvSpPr>
            <p:cNvPr id="1629211" name="Text Box 27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/>
                <a:t>. . .</a:t>
              </a:r>
            </a:p>
          </p:txBody>
        </p:sp>
        <p:sp>
          <p:nvSpPr>
            <p:cNvPr id="1629212" name="Text Box 28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sz="1600"/>
                <a:t>.</a:t>
              </a:r>
            </a:p>
          </p:txBody>
        </p:sp>
      </p:grpSp>
      <p:sp>
        <p:nvSpPr>
          <p:cNvPr id="1629213" name="Freeform 29" descr="5%"/>
          <p:cNvSpPr>
            <a:spLocks/>
          </p:cNvSpPr>
          <p:nvPr/>
        </p:nvSpPr>
        <p:spPr bwMode="auto">
          <a:xfrm rot="-5400000">
            <a:off x="462757" y="1899443"/>
            <a:ext cx="1828800" cy="1382713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tx1"/>
                  </a:fgClr>
                  <a:bgClr>
                    <a:srgbClr val="FFFFFF"/>
                  </a:bgClr>
                </a:patt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9214" name="Oval 30"/>
          <p:cNvSpPr>
            <a:spLocks noChangeArrowheads="1"/>
          </p:cNvSpPr>
          <p:nvPr/>
        </p:nvSpPr>
        <p:spPr bwMode="auto">
          <a:xfrm rot="-5400000">
            <a:off x="1752600" y="28194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9215" name="Oval 31"/>
          <p:cNvSpPr>
            <a:spLocks noChangeArrowheads="1"/>
          </p:cNvSpPr>
          <p:nvPr/>
        </p:nvSpPr>
        <p:spPr bwMode="auto">
          <a:xfrm rot="-5400000">
            <a:off x="1676400" y="20574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9216" name="Oval 32"/>
          <p:cNvSpPr>
            <a:spLocks noChangeArrowheads="1"/>
          </p:cNvSpPr>
          <p:nvPr/>
        </p:nvSpPr>
        <p:spPr bwMode="auto">
          <a:xfrm rot="-5400000">
            <a:off x="838200" y="25146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9217" name="Oval 33"/>
          <p:cNvSpPr>
            <a:spLocks noChangeArrowheads="1"/>
          </p:cNvSpPr>
          <p:nvPr/>
        </p:nvSpPr>
        <p:spPr bwMode="auto">
          <a:xfrm rot="-5400000">
            <a:off x="1903413" y="23606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9218" name="Freeform 34" descr="5%"/>
          <p:cNvSpPr>
            <a:spLocks/>
          </p:cNvSpPr>
          <p:nvPr/>
        </p:nvSpPr>
        <p:spPr bwMode="auto">
          <a:xfrm rot="5400000" flipV="1">
            <a:off x="3352800" y="1752600"/>
            <a:ext cx="1828800" cy="1676400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tx1"/>
                  </a:fgClr>
                  <a:bgClr>
                    <a:srgbClr val="FFFFFF"/>
                  </a:bgClr>
                </a:patt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9219" name="Oval 35"/>
          <p:cNvSpPr>
            <a:spLocks noChangeArrowheads="1"/>
          </p:cNvSpPr>
          <p:nvPr/>
        </p:nvSpPr>
        <p:spPr bwMode="auto">
          <a:xfrm rot="5400000" flipV="1">
            <a:off x="48768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9220" name="Oval 36"/>
          <p:cNvSpPr>
            <a:spLocks noChangeArrowheads="1"/>
          </p:cNvSpPr>
          <p:nvPr/>
        </p:nvSpPr>
        <p:spPr bwMode="auto">
          <a:xfrm rot="5400000" flipV="1">
            <a:off x="3516313" y="22082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9221" name="Oval 37"/>
          <p:cNvSpPr>
            <a:spLocks noChangeArrowheads="1"/>
          </p:cNvSpPr>
          <p:nvPr/>
        </p:nvSpPr>
        <p:spPr bwMode="auto">
          <a:xfrm rot="5400000" flipV="1">
            <a:off x="4038600" y="28194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9222" name="Oval 38"/>
          <p:cNvSpPr>
            <a:spLocks noChangeArrowheads="1"/>
          </p:cNvSpPr>
          <p:nvPr/>
        </p:nvSpPr>
        <p:spPr bwMode="auto">
          <a:xfrm rot="5400000" flipV="1">
            <a:off x="4038600" y="1828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9223" name="Line 39"/>
          <p:cNvSpPr>
            <a:spLocks noChangeShapeType="1"/>
          </p:cNvSpPr>
          <p:nvPr/>
        </p:nvSpPr>
        <p:spPr bwMode="auto">
          <a:xfrm flipV="1">
            <a:off x="914400" y="2286000"/>
            <a:ext cx="3962400" cy="22860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29224" name="Text Box 40"/>
          <p:cNvSpPr txBox="1">
            <a:spLocks noChangeArrowheads="1"/>
          </p:cNvSpPr>
          <p:nvPr/>
        </p:nvSpPr>
        <p:spPr bwMode="auto">
          <a:xfrm>
            <a:off x="5943600" y="4953000"/>
            <a:ext cx="2514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Proximity Matrix</a:t>
            </a:r>
          </a:p>
        </p:txBody>
      </p:sp>
      <p:sp>
        <p:nvSpPr>
          <p:cNvPr id="1629225" name="Rectangle 41"/>
          <p:cNvSpPr>
            <a:spLocks noChangeArrowheads="1"/>
          </p:cNvSpPr>
          <p:nvPr/>
        </p:nvSpPr>
        <p:spPr bwMode="auto">
          <a:xfrm>
            <a:off x="381000" y="3810000"/>
            <a:ext cx="5791200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/>
              <a:t>MIN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>
                <a:solidFill>
                  <a:srgbClr val="FF0000"/>
                </a:solidFill>
              </a:rPr>
              <a:t>MAX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/>
              <a:t>Group Average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/>
              <a:t>Distance Between Centroids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/>
              <a:t>Other methods driven by an objective function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sz="2000" b="0"/>
              <a:t>Ward’s Method uses squared error</a:t>
            </a:r>
            <a:endParaRPr lang="en-US" sz="2400" b="0"/>
          </a:p>
        </p:txBody>
      </p:sp>
    </p:spTree>
    <p:extLst>
      <p:ext uri="{BB962C8B-B14F-4D97-AF65-F5344CB8AC3E}">
        <p14:creationId xmlns:p14="http://schemas.microsoft.com/office/powerpoint/2010/main" val="4704867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2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399"/>
            <a:ext cx="8280400" cy="1219199"/>
          </a:xfrm>
        </p:spPr>
        <p:txBody>
          <a:bodyPr>
            <a:noAutofit/>
          </a:bodyPr>
          <a:lstStyle/>
          <a:p>
            <a:r>
              <a:rPr lang="en-US" dirty="0"/>
              <a:t>How to Define Inter-Cluster Similarity</a:t>
            </a:r>
          </a:p>
        </p:txBody>
      </p:sp>
      <p:sp>
        <p:nvSpPr>
          <p:cNvPr id="1630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2649538"/>
            <a:ext cx="4800600" cy="3303587"/>
          </a:xfrm>
        </p:spPr>
        <p:txBody>
          <a:bodyPr/>
          <a:lstStyle/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sz="1000"/>
              <a:t> </a:t>
            </a:r>
          </a:p>
        </p:txBody>
      </p:sp>
      <p:grpSp>
        <p:nvGrpSpPr>
          <p:cNvPr id="1630212" name="Group 4"/>
          <p:cNvGrpSpPr>
            <a:grpSpLocks/>
          </p:cNvGrpSpPr>
          <p:nvPr/>
        </p:nvGrpSpPr>
        <p:grpSpPr bwMode="auto">
          <a:xfrm>
            <a:off x="5486400" y="1371600"/>
            <a:ext cx="3429000" cy="3508375"/>
            <a:chOff x="3456" y="1440"/>
            <a:chExt cx="2160" cy="2210"/>
          </a:xfrm>
        </p:grpSpPr>
        <p:sp>
          <p:nvSpPr>
            <p:cNvPr id="1630213" name="Line 5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0214" name="Line 6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0215" name="Line 7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0216" name="Line 8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0217" name="Line 9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0218" name="Line 10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0219" name="Line 11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0220" name="Line 12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0221" name="Line 13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0222" name="Line 14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0223" name="Line 15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0224" name="Line 16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0225" name="Text Box 17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p1</a:t>
              </a:r>
            </a:p>
          </p:txBody>
        </p:sp>
        <p:sp>
          <p:nvSpPr>
            <p:cNvPr id="1630226" name="Text Box 18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p3</a:t>
              </a:r>
            </a:p>
          </p:txBody>
        </p:sp>
        <p:sp>
          <p:nvSpPr>
            <p:cNvPr id="1630227" name="Text Box 19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p5</a:t>
              </a:r>
            </a:p>
          </p:txBody>
        </p:sp>
        <p:sp>
          <p:nvSpPr>
            <p:cNvPr id="1630228" name="Text Box 20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p4</a:t>
              </a:r>
            </a:p>
          </p:txBody>
        </p:sp>
        <p:sp>
          <p:nvSpPr>
            <p:cNvPr id="1630229" name="Text Box 21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p2</a:t>
              </a:r>
            </a:p>
          </p:txBody>
        </p:sp>
        <p:sp>
          <p:nvSpPr>
            <p:cNvPr id="1630230" name="Text Box 22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p1</a:t>
              </a:r>
            </a:p>
          </p:txBody>
        </p:sp>
        <p:sp>
          <p:nvSpPr>
            <p:cNvPr id="1630231" name="Text Box 23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p2</a:t>
              </a:r>
            </a:p>
          </p:txBody>
        </p:sp>
        <p:sp>
          <p:nvSpPr>
            <p:cNvPr id="1630232" name="Text Box 24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p3</a:t>
              </a:r>
            </a:p>
          </p:txBody>
        </p:sp>
        <p:sp>
          <p:nvSpPr>
            <p:cNvPr id="1630233" name="Text Box 25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p4</a:t>
              </a:r>
            </a:p>
          </p:txBody>
        </p:sp>
        <p:sp>
          <p:nvSpPr>
            <p:cNvPr id="1630234" name="Text Box 26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p5</a:t>
              </a:r>
            </a:p>
          </p:txBody>
        </p:sp>
        <p:sp>
          <p:nvSpPr>
            <p:cNvPr id="1630235" name="Text Box 27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/>
                <a:t>. . .</a:t>
              </a:r>
            </a:p>
          </p:txBody>
        </p:sp>
        <p:sp>
          <p:nvSpPr>
            <p:cNvPr id="1630236" name="Text Box 28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sz="1600"/>
                <a:t>.</a:t>
              </a:r>
            </a:p>
          </p:txBody>
        </p:sp>
      </p:grpSp>
      <p:sp>
        <p:nvSpPr>
          <p:cNvPr id="1630237" name="Freeform 29" descr="5%"/>
          <p:cNvSpPr>
            <a:spLocks/>
          </p:cNvSpPr>
          <p:nvPr/>
        </p:nvSpPr>
        <p:spPr bwMode="auto">
          <a:xfrm rot="-5400000">
            <a:off x="462757" y="1594643"/>
            <a:ext cx="1828800" cy="1382713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tx1"/>
                  </a:fgClr>
                  <a:bgClr>
                    <a:srgbClr val="FFFFFF"/>
                  </a:bgClr>
                </a:patt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0238" name="Oval 30"/>
          <p:cNvSpPr>
            <a:spLocks noChangeArrowheads="1"/>
          </p:cNvSpPr>
          <p:nvPr/>
        </p:nvSpPr>
        <p:spPr bwMode="auto">
          <a:xfrm rot="-5400000">
            <a:off x="1752600" y="25146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0239" name="Oval 31"/>
          <p:cNvSpPr>
            <a:spLocks noChangeArrowheads="1"/>
          </p:cNvSpPr>
          <p:nvPr/>
        </p:nvSpPr>
        <p:spPr bwMode="auto">
          <a:xfrm rot="-5400000">
            <a:off x="1676400" y="17526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0240" name="Oval 32"/>
          <p:cNvSpPr>
            <a:spLocks noChangeArrowheads="1"/>
          </p:cNvSpPr>
          <p:nvPr/>
        </p:nvSpPr>
        <p:spPr bwMode="auto">
          <a:xfrm rot="-5400000">
            <a:off x="8382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0241" name="Oval 33"/>
          <p:cNvSpPr>
            <a:spLocks noChangeArrowheads="1"/>
          </p:cNvSpPr>
          <p:nvPr/>
        </p:nvSpPr>
        <p:spPr bwMode="auto">
          <a:xfrm rot="-5400000">
            <a:off x="1903413" y="20558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0242" name="Freeform 34" descr="5%"/>
          <p:cNvSpPr>
            <a:spLocks/>
          </p:cNvSpPr>
          <p:nvPr/>
        </p:nvSpPr>
        <p:spPr bwMode="auto">
          <a:xfrm rot="5400000" flipV="1">
            <a:off x="3352800" y="1447800"/>
            <a:ext cx="1828800" cy="1676400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tx1"/>
                  </a:fgClr>
                  <a:bgClr>
                    <a:srgbClr val="FFFFFF"/>
                  </a:bgClr>
                </a:patt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0243" name="Oval 35"/>
          <p:cNvSpPr>
            <a:spLocks noChangeArrowheads="1"/>
          </p:cNvSpPr>
          <p:nvPr/>
        </p:nvSpPr>
        <p:spPr bwMode="auto">
          <a:xfrm rot="5400000" flipV="1">
            <a:off x="48768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0244" name="Oval 36"/>
          <p:cNvSpPr>
            <a:spLocks noChangeArrowheads="1"/>
          </p:cNvSpPr>
          <p:nvPr/>
        </p:nvSpPr>
        <p:spPr bwMode="auto">
          <a:xfrm rot="5400000" flipV="1">
            <a:off x="3516313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0245" name="Oval 37"/>
          <p:cNvSpPr>
            <a:spLocks noChangeArrowheads="1"/>
          </p:cNvSpPr>
          <p:nvPr/>
        </p:nvSpPr>
        <p:spPr bwMode="auto">
          <a:xfrm rot="5400000" flipV="1">
            <a:off x="4038600" y="25146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0246" name="Oval 38"/>
          <p:cNvSpPr>
            <a:spLocks noChangeArrowheads="1"/>
          </p:cNvSpPr>
          <p:nvPr/>
        </p:nvSpPr>
        <p:spPr bwMode="auto">
          <a:xfrm rot="5400000" flipV="1">
            <a:off x="4038600" y="1524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0247" name="Line 39"/>
          <p:cNvSpPr>
            <a:spLocks noChangeShapeType="1"/>
          </p:cNvSpPr>
          <p:nvPr/>
        </p:nvSpPr>
        <p:spPr bwMode="auto">
          <a:xfrm>
            <a:off x="1828800" y="2514600"/>
            <a:ext cx="2209800" cy="76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0248" name="Line 40"/>
          <p:cNvSpPr>
            <a:spLocks noChangeShapeType="1"/>
          </p:cNvSpPr>
          <p:nvPr/>
        </p:nvSpPr>
        <p:spPr bwMode="auto">
          <a:xfrm flipV="1">
            <a:off x="1828800" y="1981200"/>
            <a:ext cx="16764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0249" name="Line 41"/>
          <p:cNvSpPr>
            <a:spLocks noChangeShapeType="1"/>
          </p:cNvSpPr>
          <p:nvPr/>
        </p:nvSpPr>
        <p:spPr bwMode="auto">
          <a:xfrm flipV="1">
            <a:off x="1828800" y="1600200"/>
            <a:ext cx="2209800" cy="914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0250" name="Line 42"/>
          <p:cNvSpPr>
            <a:spLocks noChangeShapeType="1"/>
          </p:cNvSpPr>
          <p:nvPr/>
        </p:nvSpPr>
        <p:spPr bwMode="auto">
          <a:xfrm flipV="1">
            <a:off x="1828800" y="1981200"/>
            <a:ext cx="30480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0251" name="Line 43"/>
          <p:cNvSpPr>
            <a:spLocks noChangeShapeType="1"/>
          </p:cNvSpPr>
          <p:nvPr/>
        </p:nvSpPr>
        <p:spPr bwMode="auto">
          <a:xfrm>
            <a:off x="1981200" y="2133600"/>
            <a:ext cx="2057400" cy="457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0252" name="Line 44"/>
          <p:cNvSpPr>
            <a:spLocks noChangeShapeType="1"/>
          </p:cNvSpPr>
          <p:nvPr/>
        </p:nvSpPr>
        <p:spPr bwMode="auto">
          <a:xfrm flipV="1">
            <a:off x="1981200" y="1981200"/>
            <a:ext cx="15240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0253" name="Line 45"/>
          <p:cNvSpPr>
            <a:spLocks noChangeShapeType="1"/>
          </p:cNvSpPr>
          <p:nvPr/>
        </p:nvSpPr>
        <p:spPr bwMode="auto">
          <a:xfrm flipV="1">
            <a:off x="1981200" y="1600200"/>
            <a:ext cx="20574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0254" name="Line 46"/>
          <p:cNvSpPr>
            <a:spLocks noChangeShapeType="1"/>
          </p:cNvSpPr>
          <p:nvPr/>
        </p:nvSpPr>
        <p:spPr bwMode="auto">
          <a:xfrm flipV="1">
            <a:off x="1981200" y="1981200"/>
            <a:ext cx="28956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0255" name="Line 47"/>
          <p:cNvSpPr>
            <a:spLocks noChangeShapeType="1"/>
          </p:cNvSpPr>
          <p:nvPr/>
        </p:nvSpPr>
        <p:spPr bwMode="auto">
          <a:xfrm>
            <a:off x="914400" y="2209800"/>
            <a:ext cx="3124200" cy="3810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0256" name="Line 48"/>
          <p:cNvSpPr>
            <a:spLocks noChangeShapeType="1"/>
          </p:cNvSpPr>
          <p:nvPr/>
        </p:nvSpPr>
        <p:spPr bwMode="auto">
          <a:xfrm flipV="1">
            <a:off x="914400" y="1981200"/>
            <a:ext cx="39624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0257" name="Line 49"/>
          <p:cNvSpPr>
            <a:spLocks noChangeShapeType="1"/>
          </p:cNvSpPr>
          <p:nvPr/>
        </p:nvSpPr>
        <p:spPr bwMode="auto">
          <a:xfrm flipV="1">
            <a:off x="914400" y="1600200"/>
            <a:ext cx="3124200" cy="609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0258" name="Line 50"/>
          <p:cNvSpPr>
            <a:spLocks noChangeShapeType="1"/>
          </p:cNvSpPr>
          <p:nvPr/>
        </p:nvSpPr>
        <p:spPr bwMode="auto">
          <a:xfrm flipV="1">
            <a:off x="914400" y="1981200"/>
            <a:ext cx="25908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0259" name="Line 51"/>
          <p:cNvSpPr>
            <a:spLocks noChangeShapeType="1"/>
          </p:cNvSpPr>
          <p:nvPr/>
        </p:nvSpPr>
        <p:spPr bwMode="auto">
          <a:xfrm>
            <a:off x="1752600" y="1752600"/>
            <a:ext cx="2286000" cy="838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0260" name="Line 52"/>
          <p:cNvSpPr>
            <a:spLocks noChangeShapeType="1"/>
          </p:cNvSpPr>
          <p:nvPr/>
        </p:nvSpPr>
        <p:spPr bwMode="auto">
          <a:xfrm>
            <a:off x="1752600" y="1752600"/>
            <a:ext cx="17526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0261" name="Line 53"/>
          <p:cNvSpPr>
            <a:spLocks noChangeShapeType="1"/>
          </p:cNvSpPr>
          <p:nvPr/>
        </p:nvSpPr>
        <p:spPr bwMode="auto">
          <a:xfrm flipV="1">
            <a:off x="1752600" y="1600200"/>
            <a:ext cx="22860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0262" name="Line 54"/>
          <p:cNvSpPr>
            <a:spLocks noChangeShapeType="1"/>
          </p:cNvSpPr>
          <p:nvPr/>
        </p:nvSpPr>
        <p:spPr bwMode="auto">
          <a:xfrm>
            <a:off x="1752600" y="1752600"/>
            <a:ext cx="31242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0263" name="Text Box 55"/>
          <p:cNvSpPr txBox="1">
            <a:spLocks noChangeArrowheads="1"/>
          </p:cNvSpPr>
          <p:nvPr/>
        </p:nvSpPr>
        <p:spPr bwMode="auto">
          <a:xfrm>
            <a:off x="5943600" y="4648200"/>
            <a:ext cx="2514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Proximity Matrix</a:t>
            </a:r>
          </a:p>
        </p:txBody>
      </p:sp>
      <p:sp>
        <p:nvSpPr>
          <p:cNvPr id="1630264" name="Rectangle 56"/>
          <p:cNvSpPr>
            <a:spLocks noChangeArrowheads="1"/>
          </p:cNvSpPr>
          <p:nvPr/>
        </p:nvSpPr>
        <p:spPr bwMode="auto">
          <a:xfrm>
            <a:off x="381000" y="3505200"/>
            <a:ext cx="5791200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/>
              <a:t>MIN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/>
              <a:t>MAX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>
                <a:solidFill>
                  <a:srgbClr val="FF0000"/>
                </a:solidFill>
              </a:rPr>
              <a:t>Group Average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/>
              <a:t>Distance Between Centroids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/>
              <a:t>Other methods driven by an objective function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sz="2000" b="0"/>
              <a:t>Ward’s Method uses squared error</a:t>
            </a:r>
            <a:endParaRPr lang="en-US" sz="2400" b="0"/>
          </a:p>
        </p:txBody>
      </p:sp>
    </p:spTree>
    <p:extLst>
      <p:ext uri="{BB962C8B-B14F-4D97-AF65-F5344CB8AC3E}">
        <p14:creationId xmlns:p14="http://schemas.microsoft.com/office/powerpoint/2010/main" val="15855901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234" name="Line 2"/>
          <p:cNvSpPr>
            <a:spLocks noChangeShapeType="1"/>
          </p:cNvSpPr>
          <p:nvPr/>
        </p:nvSpPr>
        <p:spPr bwMode="auto">
          <a:xfrm flipV="1">
            <a:off x="1371600" y="2514600"/>
            <a:ext cx="2895600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1235" name="Freeform 3" descr="5%"/>
          <p:cNvSpPr>
            <a:spLocks/>
          </p:cNvSpPr>
          <p:nvPr/>
        </p:nvSpPr>
        <p:spPr bwMode="auto">
          <a:xfrm rot="-5400000">
            <a:off x="462757" y="1823243"/>
            <a:ext cx="1828800" cy="1382713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tx1"/>
                  </a:fgClr>
                  <a:bgClr>
                    <a:srgbClr val="FFFFFF"/>
                  </a:bgClr>
                </a:patt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1236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280400" cy="1219200"/>
          </a:xfrm>
        </p:spPr>
        <p:txBody>
          <a:bodyPr>
            <a:noAutofit/>
          </a:bodyPr>
          <a:lstStyle/>
          <a:p>
            <a:r>
              <a:rPr lang="en-US" dirty="0"/>
              <a:t>How to Define Inter-Cluster Similarity</a:t>
            </a:r>
          </a:p>
        </p:txBody>
      </p:sp>
      <p:sp>
        <p:nvSpPr>
          <p:cNvPr id="163123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39763" y="2878138"/>
            <a:ext cx="4800600" cy="3303587"/>
          </a:xfrm>
        </p:spPr>
        <p:txBody>
          <a:bodyPr/>
          <a:lstStyle/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sz="1000"/>
              <a:t> </a:t>
            </a:r>
          </a:p>
        </p:txBody>
      </p:sp>
      <p:grpSp>
        <p:nvGrpSpPr>
          <p:cNvPr id="1631238" name="Group 6"/>
          <p:cNvGrpSpPr>
            <a:grpSpLocks/>
          </p:cNvGrpSpPr>
          <p:nvPr/>
        </p:nvGrpSpPr>
        <p:grpSpPr bwMode="auto">
          <a:xfrm>
            <a:off x="5486400" y="1600200"/>
            <a:ext cx="3429000" cy="3508375"/>
            <a:chOff x="3456" y="1440"/>
            <a:chExt cx="2160" cy="2210"/>
          </a:xfrm>
        </p:grpSpPr>
        <p:sp>
          <p:nvSpPr>
            <p:cNvPr id="1631239" name="Line 7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1240" name="Line 8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1241" name="Line 9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1242" name="Line 10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1243" name="Line 11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1244" name="Line 12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1245" name="Line 13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1246" name="Line 14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1247" name="Line 15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1248" name="Line 16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1249" name="Line 17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1250" name="Line 18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1251" name="Text Box 19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p1</a:t>
              </a:r>
            </a:p>
          </p:txBody>
        </p:sp>
        <p:sp>
          <p:nvSpPr>
            <p:cNvPr id="1631252" name="Text Box 20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p3</a:t>
              </a:r>
            </a:p>
          </p:txBody>
        </p:sp>
        <p:sp>
          <p:nvSpPr>
            <p:cNvPr id="1631253" name="Text Box 21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p5</a:t>
              </a:r>
            </a:p>
          </p:txBody>
        </p:sp>
        <p:sp>
          <p:nvSpPr>
            <p:cNvPr id="1631254" name="Text Box 22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p4</a:t>
              </a:r>
            </a:p>
          </p:txBody>
        </p:sp>
        <p:sp>
          <p:nvSpPr>
            <p:cNvPr id="1631255" name="Text Box 23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p2</a:t>
              </a:r>
            </a:p>
          </p:txBody>
        </p:sp>
        <p:sp>
          <p:nvSpPr>
            <p:cNvPr id="1631256" name="Text Box 24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p1</a:t>
              </a:r>
            </a:p>
          </p:txBody>
        </p:sp>
        <p:sp>
          <p:nvSpPr>
            <p:cNvPr id="1631257" name="Text Box 25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p2</a:t>
              </a:r>
            </a:p>
          </p:txBody>
        </p:sp>
        <p:sp>
          <p:nvSpPr>
            <p:cNvPr id="1631258" name="Text Box 26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p3</a:t>
              </a:r>
            </a:p>
          </p:txBody>
        </p:sp>
        <p:sp>
          <p:nvSpPr>
            <p:cNvPr id="1631259" name="Text Box 27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p4</a:t>
              </a:r>
            </a:p>
          </p:txBody>
        </p:sp>
        <p:sp>
          <p:nvSpPr>
            <p:cNvPr id="1631260" name="Text Box 28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p5</a:t>
              </a:r>
            </a:p>
          </p:txBody>
        </p:sp>
        <p:sp>
          <p:nvSpPr>
            <p:cNvPr id="1631261" name="Text Box 29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/>
                <a:t>. . .</a:t>
              </a:r>
            </a:p>
          </p:txBody>
        </p:sp>
        <p:sp>
          <p:nvSpPr>
            <p:cNvPr id="1631262" name="Text Box 30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sz="1600"/>
                <a:t>.</a:t>
              </a:r>
            </a:p>
          </p:txBody>
        </p:sp>
      </p:grpSp>
      <p:sp>
        <p:nvSpPr>
          <p:cNvPr id="1631263" name="Oval 31"/>
          <p:cNvSpPr>
            <a:spLocks noChangeArrowheads="1"/>
          </p:cNvSpPr>
          <p:nvPr/>
        </p:nvSpPr>
        <p:spPr bwMode="auto">
          <a:xfrm rot="-5400000">
            <a:off x="1752600" y="2743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1264" name="Oval 32"/>
          <p:cNvSpPr>
            <a:spLocks noChangeArrowheads="1"/>
          </p:cNvSpPr>
          <p:nvPr/>
        </p:nvSpPr>
        <p:spPr bwMode="auto">
          <a:xfrm rot="-5400000">
            <a:off x="1676400" y="1981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1265" name="Oval 33"/>
          <p:cNvSpPr>
            <a:spLocks noChangeArrowheads="1"/>
          </p:cNvSpPr>
          <p:nvPr/>
        </p:nvSpPr>
        <p:spPr bwMode="auto">
          <a:xfrm rot="-5400000">
            <a:off x="838200" y="24384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1266" name="Oval 34"/>
          <p:cNvSpPr>
            <a:spLocks noChangeArrowheads="1"/>
          </p:cNvSpPr>
          <p:nvPr/>
        </p:nvSpPr>
        <p:spPr bwMode="auto">
          <a:xfrm rot="-5400000">
            <a:off x="1903413" y="22844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1267" name="Freeform 35" descr="5%"/>
          <p:cNvSpPr>
            <a:spLocks/>
          </p:cNvSpPr>
          <p:nvPr/>
        </p:nvSpPr>
        <p:spPr bwMode="auto">
          <a:xfrm rot="5400000" flipV="1">
            <a:off x="3352800" y="1676400"/>
            <a:ext cx="1828800" cy="1676400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tx1"/>
                  </a:fgClr>
                  <a:bgClr>
                    <a:srgbClr val="FFFFFF"/>
                  </a:bgClr>
                </a:patt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1268" name="Oval 36"/>
          <p:cNvSpPr>
            <a:spLocks noChangeArrowheads="1"/>
          </p:cNvSpPr>
          <p:nvPr/>
        </p:nvSpPr>
        <p:spPr bwMode="auto">
          <a:xfrm rot="5400000" flipV="1">
            <a:off x="4876800" y="21336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1269" name="Oval 37"/>
          <p:cNvSpPr>
            <a:spLocks noChangeArrowheads="1"/>
          </p:cNvSpPr>
          <p:nvPr/>
        </p:nvSpPr>
        <p:spPr bwMode="auto">
          <a:xfrm rot="5400000" flipV="1">
            <a:off x="3516313" y="2132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1270" name="Oval 38"/>
          <p:cNvSpPr>
            <a:spLocks noChangeArrowheads="1"/>
          </p:cNvSpPr>
          <p:nvPr/>
        </p:nvSpPr>
        <p:spPr bwMode="auto">
          <a:xfrm rot="5400000" flipV="1">
            <a:off x="4038600" y="2743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1271" name="Oval 39"/>
          <p:cNvSpPr>
            <a:spLocks noChangeArrowheads="1"/>
          </p:cNvSpPr>
          <p:nvPr/>
        </p:nvSpPr>
        <p:spPr bwMode="auto">
          <a:xfrm rot="5400000" flipV="1">
            <a:off x="4038600" y="17526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1272" name="Text Box 40"/>
          <p:cNvSpPr txBox="1">
            <a:spLocks noChangeArrowheads="1"/>
          </p:cNvSpPr>
          <p:nvPr/>
        </p:nvSpPr>
        <p:spPr bwMode="auto">
          <a:xfrm>
            <a:off x="5943600" y="4876800"/>
            <a:ext cx="2514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Proximity Matrix</a:t>
            </a:r>
          </a:p>
        </p:txBody>
      </p:sp>
      <p:sp>
        <p:nvSpPr>
          <p:cNvPr id="1631273" name="Rectangle 41"/>
          <p:cNvSpPr>
            <a:spLocks noChangeArrowheads="1"/>
          </p:cNvSpPr>
          <p:nvPr/>
        </p:nvSpPr>
        <p:spPr bwMode="auto">
          <a:xfrm>
            <a:off x="381000" y="3733800"/>
            <a:ext cx="5791200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/>
              <a:t>MIN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/>
              <a:t>MAX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/>
              <a:t>Group Average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>
                <a:solidFill>
                  <a:srgbClr val="FF0000"/>
                </a:solidFill>
              </a:rPr>
              <a:t>Distance Between Centroids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/>
              <a:t>Other methods driven by an objective function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sz="2000" b="0"/>
              <a:t>Ward’s Method uses squared error</a:t>
            </a:r>
            <a:endParaRPr lang="en-US" sz="2400" b="0"/>
          </a:p>
        </p:txBody>
      </p:sp>
      <p:sp>
        <p:nvSpPr>
          <p:cNvPr id="1631274" name="Text Box 42"/>
          <p:cNvSpPr txBox="1">
            <a:spLocks noChangeArrowheads="1"/>
          </p:cNvSpPr>
          <p:nvPr/>
        </p:nvSpPr>
        <p:spPr bwMode="auto">
          <a:xfrm>
            <a:off x="1219200" y="2362200"/>
            <a:ext cx="228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sym typeface="Symbol" pitchFamily="18" charset="2"/>
              </a:rPr>
              <a:t></a:t>
            </a:r>
          </a:p>
        </p:txBody>
      </p:sp>
      <p:sp>
        <p:nvSpPr>
          <p:cNvPr id="1631275" name="Text Box 43"/>
          <p:cNvSpPr txBox="1">
            <a:spLocks noChangeArrowheads="1"/>
          </p:cNvSpPr>
          <p:nvPr/>
        </p:nvSpPr>
        <p:spPr bwMode="auto">
          <a:xfrm>
            <a:off x="4114800" y="2362200"/>
            <a:ext cx="228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  <a:sym typeface="Symbol" pitchFamily="18" charset="2"/>
              </a:rPr>
              <a:t></a:t>
            </a:r>
          </a:p>
        </p:txBody>
      </p:sp>
    </p:spTree>
    <p:extLst>
      <p:ext uri="{BB962C8B-B14F-4D97-AF65-F5344CB8AC3E}">
        <p14:creationId xmlns:p14="http://schemas.microsoft.com/office/powerpoint/2010/main" val="15890790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Link – Complete Link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Another way to view the processing of the hierarchical algorithm is that we create links between 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elements</a:t>
            </a:r>
            <a:r>
              <a:rPr lang="en-US" dirty="0"/>
              <a:t> in order of </a:t>
            </a:r>
            <a:r>
              <a:rPr lang="en-US" dirty="0">
                <a:solidFill>
                  <a:srgbClr val="0070C0"/>
                </a:solidFill>
              </a:rPr>
              <a:t>increasing distance</a:t>
            </a:r>
          </a:p>
          <a:p>
            <a:pPr lvl="1"/>
            <a:r>
              <a:rPr lang="en-US" dirty="0"/>
              <a:t>The MIN – </a:t>
            </a:r>
            <a:r>
              <a:rPr lang="en-US" dirty="0">
                <a:solidFill>
                  <a:srgbClr val="FF0000"/>
                </a:solidFill>
              </a:rPr>
              <a:t>Single Link</a:t>
            </a:r>
            <a:r>
              <a:rPr lang="en-US" dirty="0"/>
              <a:t>, will merge two clusters when a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single pair </a:t>
            </a:r>
            <a:r>
              <a:rPr lang="en-US" dirty="0"/>
              <a:t>of elements is linked</a:t>
            </a:r>
          </a:p>
          <a:p>
            <a:pPr lvl="1"/>
            <a:r>
              <a:rPr lang="en-US" dirty="0"/>
              <a:t>The MAX – </a:t>
            </a:r>
            <a:r>
              <a:rPr lang="en-US" dirty="0">
                <a:solidFill>
                  <a:srgbClr val="FF0000"/>
                </a:solidFill>
              </a:rPr>
              <a:t>Complete Linkage </a:t>
            </a:r>
            <a:r>
              <a:rPr lang="en-US" dirty="0"/>
              <a:t>will merge two clusters when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all pairs </a:t>
            </a:r>
            <a:r>
              <a:rPr lang="en-US" dirty="0"/>
              <a:t>of elements have been linked.</a:t>
            </a:r>
          </a:p>
        </p:txBody>
      </p:sp>
    </p:spTree>
    <p:extLst>
      <p:ext uri="{BB962C8B-B14F-4D97-AF65-F5344CB8AC3E}">
        <p14:creationId xmlns:p14="http://schemas.microsoft.com/office/powerpoint/2010/main" val="284261369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Straight Connector 41"/>
          <p:cNvCxnSpPr>
            <a:stCxn id="1633289" idx="9"/>
            <a:endCxn id="1633286" idx="1"/>
          </p:cNvCxnSpPr>
          <p:nvPr/>
        </p:nvCxnSpPr>
        <p:spPr>
          <a:xfrm>
            <a:off x="881063" y="3086100"/>
            <a:ext cx="827088" cy="147638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stCxn id="1633290" idx="9"/>
            <a:endCxn id="1633291" idx="0"/>
          </p:cNvCxnSpPr>
          <p:nvPr/>
        </p:nvCxnSpPr>
        <p:spPr>
          <a:xfrm>
            <a:off x="2755901" y="3778250"/>
            <a:ext cx="631825" cy="65088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328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1295400"/>
          </a:xfrm>
        </p:spPr>
        <p:txBody>
          <a:bodyPr>
            <a:normAutofit/>
          </a:bodyPr>
          <a:lstStyle/>
          <a:p>
            <a:r>
              <a:rPr lang="en-US"/>
              <a:t>Hierarchical Clustering: MIN</a:t>
            </a:r>
          </a:p>
        </p:txBody>
      </p:sp>
      <p:sp>
        <p:nvSpPr>
          <p:cNvPr id="1633283" name="Text Box 3"/>
          <p:cNvSpPr txBox="1">
            <a:spLocks noChangeArrowheads="1"/>
          </p:cNvSpPr>
          <p:nvPr/>
        </p:nvSpPr>
        <p:spPr bwMode="auto">
          <a:xfrm>
            <a:off x="914400" y="6034087"/>
            <a:ext cx="3352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Nested Clusters</a:t>
            </a:r>
          </a:p>
        </p:txBody>
      </p:sp>
      <p:sp>
        <p:nvSpPr>
          <p:cNvPr id="1633284" name="Text Box 4"/>
          <p:cNvSpPr txBox="1">
            <a:spLocks noChangeArrowheads="1"/>
          </p:cNvSpPr>
          <p:nvPr/>
        </p:nvSpPr>
        <p:spPr bwMode="auto">
          <a:xfrm>
            <a:off x="3486151" y="6034087"/>
            <a:ext cx="2286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 err="1"/>
              <a:t>Dendrogram</a:t>
            </a:r>
            <a:endParaRPr lang="en-US" sz="1800" dirty="0"/>
          </a:p>
        </p:txBody>
      </p:sp>
      <p:grpSp>
        <p:nvGrpSpPr>
          <p:cNvPr id="1633285" name="Group 5"/>
          <p:cNvGrpSpPr>
            <a:grpSpLocks/>
          </p:cNvGrpSpPr>
          <p:nvPr/>
        </p:nvGrpSpPr>
        <p:grpSpPr bwMode="auto">
          <a:xfrm>
            <a:off x="747713" y="2092325"/>
            <a:ext cx="3175000" cy="2790825"/>
            <a:chOff x="471" y="1117"/>
            <a:chExt cx="2000" cy="1758"/>
          </a:xfrm>
        </p:grpSpPr>
        <p:sp>
          <p:nvSpPr>
            <p:cNvPr id="1633286" name="Freeform 6"/>
            <p:cNvSpPr>
              <a:spLocks/>
            </p:cNvSpPr>
            <p:nvPr/>
          </p:nvSpPr>
          <p:spPr bwMode="auto">
            <a:xfrm>
              <a:off x="1072" y="1810"/>
              <a:ext cx="89" cy="87"/>
            </a:xfrm>
            <a:custGeom>
              <a:avLst/>
              <a:gdLst>
                <a:gd name="T0" fmla="*/ 0 w 89"/>
                <a:gd name="T1" fmla="*/ 43 h 87"/>
                <a:gd name="T2" fmla="*/ 4 w 89"/>
                <a:gd name="T3" fmla="*/ 26 h 87"/>
                <a:gd name="T4" fmla="*/ 13 w 89"/>
                <a:gd name="T5" fmla="*/ 11 h 87"/>
                <a:gd name="T6" fmla="*/ 28 w 89"/>
                <a:gd name="T7" fmla="*/ 2 h 87"/>
                <a:gd name="T8" fmla="*/ 43 w 89"/>
                <a:gd name="T9" fmla="*/ 0 h 87"/>
                <a:gd name="T10" fmla="*/ 61 w 89"/>
                <a:gd name="T11" fmla="*/ 2 h 87"/>
                <a:gd name="T12" fmla="*/ 76 w 89"/>
                <a:gd name="T13" fmla="*/ 11 h 87"/>
                <a:gd name="T14" fmla="*/ 84 w 89"/>
                <a:gd name="T15" fmla="*/ 26 h 87"/>
                <a:gd name="T16" fmla="*/ 89 w 89"/>
                <a:gd name="T17" fmla="*/ 43 h 87"/>
                <a:gd name="T18" fmla="*/ 84 w 89"/>
                <a:gd name="T19" fmla="*/ 61 h 87"/>
                <a:gd name="T20" fmla="*/ 76 w 89"/>
                <a:gd name="T21" fmla="*/ 74 h 87"/>
                <a:gd name="T22" fmla="*/ 61 w 89"/>
                <a:gd name="T23" fmla="*/ 84 h 87"/>
                <a:gd name="T24" fmla="*/ 43 w 89"/>
                <a:gd name="T25" fmla="*/ 87 h 87"/>
                <a:gd name="T26" fmla="*/ 28 w 89"/>
                <a:gd name="T27" fmla="*/ 84 h 87"/>
                <a:gd name="T28" fmla="*/ 13 w 89"/>
                <a:gd name="T29" fmla="*/ 74 h 87"/>
                <a:gd name="T30" fmla="*/ 4 w 89"/>
                <a:gd name="T31" fmla="*/ 61 h 87"/>
                <a:gd name="T32" fmla="*/ 0 w 89"/>
                <a:gd name="T33" fmla="*/ 4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87">
                  <a:moveTo>
                    <a:pt x="0" y="43"/>
                  </a:moveTo>
                  <a:lnTo>
                    <a:pt x="4" y="26"/>
                  </a:lnTo>
                  <a:lnTo>
                    <a:pt x="13" y="11"/>
                  </a:lnTo>
                  <a:lnTo>
                    <a:pt x="28" y="2"/>
                  </a:lnTo>
                  <a:lnTo>
                    <a:pt x="43" y="0"/>
                  </a:lnTo>
                  <a:lnTo>
                    <a:pt x="61" y="2"/>
                  </a:lnTo>
                  <a:lnTo>
                    <a:pt x="76" y="11"/>
                  </a:lnTo>
                  <a:lnTo>
                    <a:pt x="84" y="26"/>
                  </a:lnTo>
                  <a:lnTo>
                    <a:pt x="89" y="43"/>
                  </a:lnTo>
                  <a:lnTo>
                    <a:pt x="84" y="61"/>
                  </a:lnTo>
                  <a:lnTo>
                    <a:pt x="76" y="74"/>
                  </a:lnTo>
                  <a:lnTo>
                    <a:pt x="61" y="84"/>
                  </a:lnTo>
                  <a:lnTo>
                    <a:pt x="43" y="87"/>
                  </a:lnTo>
                  <a:lnTo>
                    <a:pt x="28" y="84"/>
                  </a:lnTo>
                  <a:lnTo>
                    <a:pt x="13" y="74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3287" name="Freeform 7"/>
            <p:cNvSpPr>
              <a:spLocks/>
            </p:cNvSpPr>
            <p:nvPr/>
          </p:nvSpPr>
          <p:spPr bwMode="auto">
            <a:xfrm>
              <a:off x="1894" y="1169"/>
              <a:ext cx="89" cy="86"/>
            </a:xfrm>
            <a:custGeom>
              <a:avLst/>
              <a:gdLst>
                <a:gd name="T0" fmla="*/ 0 w 89"/>
                <a:gd name="T1" fmla="*/ 43 h 86"/>
                <a:gd name="T2" fmla="*/ 4 w 89"/>
                <a:gd name="T3" fmla="*/ 26 h 86"/>
                <a:gd name="T4" fmla="*/ 13 w 89"/>
                <a:gd name="T5" fmla="*/ 13 h 86"/>
                <a:gd name="T6" fmla="*/ 28 w 89"/>
                <a:gd name="T7" fmla="*/ 2 h 86"/>
                <a:gd name="T8" fmla="*/ 45 w 89"/>
                <a:gd name="T9" fmla="*/ 0 h 86"/>
                <a:gd name="T10" fmla="*/ 61 w 89"/>
                <a:gd name="T11" fmla="*/ 2 h 86"/>
                <a:gd name="T12" fmla="*/ 76 w 89"/>
                <a:gd name="T13" fmla="*/ 13 h 86"/>
                <a:gd name="T14" fmla="*/ 84 w 89"/>
                <a:gd name="T15" fmla="*/ 26 h 86"/>
                <a:gd name="T16" fmla="*/ 89 w 89"/>
                <a:gd name="T17" fmla="*/ 43 h 86"/>
                <a:gd name="T18" fmla="*/ 84 w 89"/>
                <a:gd name="T19" fmla="*/ 60 h 86"/>
                <a:gd name="T20" fmla="*/ 76 w 89"/>
                <a:gd name="T21" fmla="*/ 73 h 86"/>
                <a:gd name="T22" fmla="*/ 61 w 89"/>
                <a:gd name="T23" fmla="*/ 84 h 86"/>
                <a:gd name="T24" fmla="*/ 45 w 89"/>
                <a:gd name="T25" fmla="*/ 86 h 86"/>
                <a:gd name="T26" fmla="*/ 28 w 89"/>
                <a:gd name="T27" fmla="*/ 84 h 86"/>
                <a:gd name="T28" fmla="*/ 13 w 89"/>
                <a:gd name="T29" fmla="*/ 73 h 86"/>
                <a:gd name="T30" fmla="*/ 4 w 89"/>
                <a:gd name="T31" fmla="*/ 60 h 86"/>
                <a:gd name="T32" fmla="*/ 0 w 89"/>
                <a:gd name="T33" fmla="*/ 4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86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1" y="2"/>
                  </a:lnTo>
                  <a:lnTo>
                    <a:pt x="76" y="13"/>
                  </a:lnTo>
                  <a:lnTo>
                    <a:pt x="84" y="26"/>
                  </a:lnTo>
                  <a:lnTo>
                    <a:pt x="89" y="43"/>
                  </a:lnTo>
                  <a:lnTo>
                    <a:pt x="84" y="60"/>
                  </a:lnTo>
                  <a:lnTo>
                    <a:pt x="76" y="73"/>
                  </a:lnTo>
                  <a:lnTo>
                    <a:pt x="61" y="84"/>
                  </a:lnTo>
                  <a:lnTo>
                    <a:pt x="45" y="86"/>
                  </a:lnTo>
                  <a:lnTo>
                    <a:pt x="28" y="84"/>
                  </a:lnTo>
                  <a:lnTo>
                    <a:pt x="13" y="73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3288" name="Freeform 8"/>
            <p:cNvSpPr>
              <a:spLocks/>
            </p:cNvSpPr>
            <p:nvPr/>
          </p:nvSpPr>
          <p:spPr bwMode="auto">
            <a:xfrm>
              <a:off x="1295" y="2683"/>
              <a:ext cx="89" cy="88"/>
            </a:xfrm>
            <a:custGeom>
              <a:avLst/>
              <a:gdLst>
                <a:gd name="T0" fmla="*/ 0 w 89"/>
                <a:gd name="T1" fmla="*/ 45 h 88"/>
                <a:gd name="T2" fmla="*/ 4 w 89"/>
                <a:gd name="T3" fmla="*/ 28 h 88"/>
                <a:gd name="T4" fmla="*/ 13 w 89"/>
                <a:gd name="T5" fmla="*/ 12 h 88"/>
                <a:gd name="T6" fmla="*/ 28 w 89"/>
                <a:gd name="T7" fmla="*/ 4 h 88"/>
                <a:gd name="T8" fmla="*/ 45 w 89"/>
                <a:gd name="T9" fmla="*/ 0 h 88"/>
                <a:gd name="T10" fmla="*/ 60 w 89"/>
                <a:gd name="T11" fmla="*/ 4 h 88"/>
                <a:gd name="T12" fmla="*/ 76 w 89"/>
                <a:gd name="T13" fmla="*/ 12 h 88"/>
                <a:gd name="T14" fmla="*/ 86 w 89"/>
                <a:gd name="T15" fmla="*/ 28 h 88"/>
                <a:gd name="T16" fmla="*/ 89 w 89"/>
                <a:gd name="T17" fmla="*/ 45 h 88"/>
                <a:gd name="T18" fmla="*/ 86 w 89"/>
                <a:gd name="T19" fmla="*/ 62 h 88"/>
                <a:gd name="T20" fmla="*/ 76 w 89"/>
                <a:gd name="T21" fmla="*/ 75 h 88"/>
                <a:gd name="T22" fmla="*/ 60 w 89"/>
                <a:gd name="T23" fmla="*/ 86 h 88"/>
                <a:gd name="T24" fmla="*/ 45 w 89"/>
                <a:gd name="T25" fmla="*/ 88 h 88"/>
                <a:gd name="T26" fmla="*/ 28 w 89"/>
                <a:gd name="T27" fmla="*/ 86 h 88"/>
                <a:gd name="T28" fmla="*/ 13 w 89"/>
                <a:gd name="T29" fmla="*/ 75 h 88"/>
                <a:gd name="T30" fmla="*/ 4 w 89"/>
                <a:gd name="T31" fmla="*/ 62 h 88"/>
                <a:gd name="T32" fmla="*/ 0 w 89"/>
                <a:gd name="T33" fmla="*/ 45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88">
                  <a:moveTo>
                    <a:pt x="0" y="45"/>
                  </a:moveTo>
                  <a:lnTo>
                    <a:pt x="4" y="28"/>
                  </a:lnTo>
                  <a:lnTo>
                    <a:pt x="13" y="12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0" y="4"/>
                  </a:lnTo>
                  <a:lnTo>
                    <a:pt x="76" y="12"/>
                  </a:lnTo>
                  <a:lnTo>
                    <a:pt x="86" y="28"/>
                  </a:lnTo>
                  <a:lnTo>
                    <a:pt x="89" y="45"/>
                  </a:lnTo>
                  <a:lnTo>
                    <a:pt x="86" y="62"/>
                  </a:lnTo>
                  <a:lnTo>
                    <a:pt x="76" y="75"/>
                  </a:lnTo>
                  <a:lnTo>
                    <a:pt x="60" y="86"/>
                  </a:lnTo>
                  <a:lnTo>
                    <a:pt x="45" y="88"/>
                  </a:lnTo>
                  <a:lnTo>
                    <a:pt x="28" y="86"/>
                  </a:lnTo>
                  <a:lnTo>
                    <a:pt x="13" y="75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3289" name="Freeform 9"/>
            <p:cNvSpPr>
              <a:spLocks/>
            </p:cNvSpPr>
            <p:nvPr/>
          </p:nvSpPr>
          <p:spPr bwMode="auto">
            <a:xfrm>
              <a:off x="471" y="1683"/>
              <a:ext cx="88" cy="88"/>
            </a:xfrm>
            <a:custGeom>
              <a:avLst/>
              <a:gdLst>
                <a:gd name="T0" fmla="*/ 0 w 88"/>
                <a:gd name="T1" fmla="*/ 45 h 88"/>
                <a:gd name="T2" fmla="*/ 4 w 88"/>
                <a:gd name="T3" fmla="*/ 28 h 88"/>
                <a:gd name="T4" fmla="*/ 13 w 88"/>
                <a:gd name="T5" fmla="*/ 13 h 88"/>
                <a:gd name="T6" fmla="*/ 28 w 88"/>
                <a:gd name="T7" fmla="*/ 4 h 88"/>
                <a:gd name="T8" fmla="*/ 45 w 88"/>
                <a:gd name="T9" fmla="*/ 0 h 88"/>
                <a:gd name="T10" fmla="*/ 60 w 88"/>
                <a:gd name="T11" fmla="*/ 4 h 88"/>
                <a:gd name="T12" fmla="*/ 75 w 88"/>
                <a:gd name="T13" fmla="*/ 13 h 88"/>
                <a:gd name="T14" fmla="*/ 84 w 88"/>
                <a:gd name="T15" fmla="*/ 28 h 88"/>
                <a:gd name="T16" fmla="*/ 88 w 88"/>
                <a:gd name="T17" fmla="*/ 45 h 88"/>
                <a:gd name="T18" fmla="*/ 84 w 88"/>
                <a:gd name="T19" fmla="*/ 60 h 88"/>
                <a:gd name="T20" fmla="*/ 75 w 88"/>
                <a:gd name="T21" fmla="*/ 75 h 88"/>
                <a:gd name="T22" fmla="*/ 60 w 88"/>
                <a:gd name="T23" fmla="*/ 86 h 88"/>
                <a:gd name="T24" fmla="*/ 45 w 88"/>
                <a:gd name="T25" fmla="*/ 88 h 88"/>
                <a:gd name="T26" fmla="*/ 28 w 88"/>
                <a:gd name="T27" fmla="*/ 86 h 88"/>
                <a:gd name="T28" fmla="*/ 13 w 88"/>
                <a:gd name="T29" fmla="*/ 75 h 88"/>
                <a:gd name="T30" fmla="*/ 4 w 88"/>
                <a:gd name="T31" fmla="*/ 60 h 88"/>
                <a:gd name="T32" fmla="*/ 0 w 88"/>
                <a:gd name="T33" fmla="*/ 45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8" h="88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0" y="4"/>
                  </a:lnTo>
                  <a:lnTo>
                    <a:pt x="75" y="13"/>
                  </a:lnTo>
                  <a:lnTo>
                    <a:pt x="84" y="28"/>
                  </a:lnTo>
                  <a:lnTo>
                    <a:pt x="88" y="45"/>
                  </a:lnTo>
                  <a:lnTo>
                    <a:pt x="84" y="60"/>
                  </a:lnTo>
                  <a:lnTo>
                    <a:pt x="75" y="75"/>
                  </a:lnTo>
                  <a:lnTo>
                    <a:pt x="60" y="86"/>
                  </a:lnTo>
                  <a:lnTo>
                    <a:pt x="45" y="88"/>
                  </a:lnTo>
                  <a:lnTo>
                    <a:pt x="28" y="86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3290" name="Freeform 10"/>
            <p:cNvSpPr>
              <a:spLocks/>
            </p:cNvSpPr>
            <p:nvPr/>
          </p:nvSpPr>
          <p:spPr bwMode="auto">
            <a:xfrm>
              <a:off x="1652" y="2117"/>
              <a:ext cx="88" cy="88"/>
            </a:xfrm>
            <a:custGeom>
              <a:avLst/>
              <a:gdLst>
                <a:gd name="T0" fmla="*/ 0 w 88"/>
                <a:gd name="T1" fmla="*/ 45 h 88"/>
                <a:gd name="T2" fmla="*/ 2 w 88"/>
                <a:gd name="T3" fmla="*/ 28 h 88"/>
                <a:gd name="T4" fmla="*/ 13 w 88"/>
                <a:gd name="T5" fmla="*/ 13 h 88"/>
                <a:gd name="T6" fmla="*/ 26 w 88"/>
                <a:gd name="T7" fmla="*/ 4 h 88"/>
                <a:gd name="T8" fmla="*/ 43 w 88"/>
                <a:gd name="T9" fmla="*/ 0 h 88"/>
                <a:gd name="T10" fmla="*/ 60 w 88"/>
                <a:gd name="T11" fmla="*/ 4 h 88"/>
                <a:gd name="T12" fmla="*/ 75 w 88"/>
                <a:gd name="T13" fmla="*/ 13 h 88"/>
                <a:gd name="T14" fmla="*/ 84 w 88"/>
                <a:gd name="T15" fmla="*/ 28 h 88"/>
                <a:gd name="T16" fmla="*/ 88 w 88"/>
                <a:gd name="T17" fmla="*/ 45 h 88"/>
                <a:gd name="T18" fmla="*/ 84 w 88"/>
                <a:gd name="T19" fmla="*/ 62 h 88"/>
                <a:gd name="T20" fmla="*/ 75 w 88"/>
                <a:gd name="T21" fmla="*/ 75 h 88"/>
                <a:gd name="T22" fmla="*/ 60 w 88"/>
                <a:gd name="T23" fmla="*/ 86 h 88"/>
                <a:gd name="T24" fmla="*/ 43 w 88"/>
                <a:gd name="T25" fmla="*/ 88 h 88"/>
                <a:gd name="T26" fmla="*/ 26 w 88"/>
                <a:gd name="T27" fmla="*/ 86 h 88"/>
                <a:gd name="T28" fmla="*/ 13 w 88"/>
                <a:gd name="T29" fmla="*/ 75 h 88"/>
                <a:gd name="T30" fmla="*/ 2 w 88"/>
                <a:gd name="T31" fmla="*/ 62 h 88"/>
                <a:gd name="T32" fmla="*/ 0 w 88"/>
                <a:gd name="T33" fmla="*/ 45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8" h="88">
                  <a:moveTo>
                    <a:pt x="0" y="45"/>
                  </a:moveTo>
                  <a:lnTo>
                    <a:pt x="2" y="28"/>
                  </a:lnTo>
                  <a:lnTo>
                    <a:pt x="13" y="13"/>
                  </a:lnTo>
                  <a:lnTo>
                    <a:pt x="26" y="4"/>
                  </a:lnTo>
                  <a:lnTo>
                    <a:pt x="43" y="0"/>
                  </a:lnTo>
                  <a:lnTo>
                    <a:pt x="60" y="4"/>
                  </a:lnTo>
                  <a:lnTo>
                    <a:pt x="75" y="13"/>
                  </a:lnTo>
                  <a:lnTo>
                    <a:pt x="84" y="28"/>
                  </a:lnTo>
                  <a:lnTo>
                    <a:pt x="88" y="45"/>
                  </a:lnTo>
                  <a:lnTo>
                    <a:pt x="84" y="62"/>
                  </a:lnTo>
                  <a:lnTo>
                    <a:pt x="75" y="75"/>
                  </a:lnTo>
                  <a:lnTo>
                    <a:pt x="60" y="86"/>
                  </a:lnTo>
                  <a:lnTo>
                    <a:pt x="43" y="88"/>
                  </a:lnTo>
                  <a:lnTo>
                    <a:pt x="26" y="86"/>
                  </a:lnTo>
                  <a:lnTo>
                    <a:pt x="13" y="75"/>
                  </a:lnTo>
                  <a:lnTo>
                    <a:pt x="2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3291" name="Freeform 11"/>
            <p:cNvSpPr>
              <a:spLocks/>
            </p:cNvSpPr>
            <p:nvPr/>
          </p:nvSpPr>
          <p:spPr bwMode="auto">
            <a:xfrm>
              <a:off x="2134" y="2177"/>
              <a:ext cx="89" cy="89"/>
            </a:xfrm>
            <a:custGeom>
              <a:avLst/>
              <a:gdLst>
                <a:gd name="T0" fmla="*/ 0 w 89"/>
                <a:gd name="T1" fmla="*/ 43 h 89"/>
                <a:gd name="T2" fmla="*/ 4 w 89"/>
                <a:gd name="T3" fmla="*/ 26 h 89"/>
                <a:gd name="T4" fmla="*/ 13 w 89"/>
                <a:gd name="T5" fmla="*/ 13 h 89"/>
                <a:gd name="T6" fmla="*/ 28 w 89"/>
                <a:gd name="T7" fmla="*/ 2 h 89"/>
                <a:gd name="T8" fmla="*/ 46 w 89"/>
                <a:gd name="T9" fmla="*/ 0 h 89"/>
                <a:gd name="T10" fmla="*/ 63 w 89"/>
                <a:gd name="T11" fmla="*/ 2 h 89"/>
                <a:gd name="T12" fmla="*/ 76 w 89"/>
                <a:gd name="T13" fmla="*/ 13 h 89"/>
                <a:gd name="T14" fmla="*/ 87 w 89"/>
                <a:gd name="T15" fmla="*/ 26 h 89"/>
                <a:gd name="T16" fmla="*/ 89 w 89"/>
                <a:gd name="T17" fmla="*/ 43 h 89"/>
                <a:gd name="T18" fmla="*/ 87 w 89"/>
                <a:gd name="T19" fmla="*/ 61 h 89"/>
                <a:gd name="T20" fmla="*/ 76 w 89"/>
                <a:gd name="T21" fmla="*/ 76 h 89"/>
                <a:gd name="T22" fmla="*/ 63 w 89"/>
                <a:gd name="T23" fmla="*/ 84 h 89"/>
                <a:gd name="T24" fmla="*/ 46 w 89"/>
                <a:gd name="T25" fmla="*/ 89 h 89"/>
                <a:gd name="T26" fmla="*/ 28 w 89"/>
                <a:gd name="T27" fmla="*/ 84 h 89"/>
                <a:gd name="T28" fmla="*/ 13 w 89"/>
                <a:gd name="T29" fmla="*/ 76 h 89"/>
                <a:gd name="T30" fmla="*/ 4 w 89"/>
                <a:gd name="T31" fmla="*/ 61 h 89"/>
                <a:gd name="T32" fmla="*/ 0 w 89"/>
                <a:gd name="T33" fmla="*/ 43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89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6" y="0"/>
                  </a:lnTo>
                  <a:lnTo>
                    <a:pt x="63" y="2"/>
                  </a:lnTo>
                  <a:lnTo>
                    <a:pt x="76" y="13"/>
                  </a:lnTo>
                  <a:lnTo>
                    <a:pt x="87" y="26"/>
                  </a:lnTo>
                  <a:lnTo>
                    <a:pt x="89" y="43"/>
                  </a:lnTo>
                  <a:lnTo>
                    <a:pt x="87" y="61"/>
                  </a:lnTo>
                  <a:lnTo>
                    <a:pt x="76" y="76"/>
                  </a:lnTo>
                  <a:lnTo>
                    <a:pt x="63" y="84"/>
                  </a:lnTo>
                  <a:lnTo>
                    <a:pt x="46" y="89"/>
                  </a:lnTo>
                  <a:lnTo>
                    <a:pt x="28" y="84"/>
                  </a:lnTo>
                  <a:lnTo>
                    <a:pt x="13" y="76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3292" name="Rectangle 12"/>
            <p:cNvSpPr>
              <a:spLocks noChangeArrowheads="1"/>
            </p:cNvSpPr>
            <p:nvPr/>
          </p:nvSpPr>
          <p:spPr bwMode="auto">
            <a:xfrm>
              <a:off x="2032" y="1117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200">
                  <a:solidFill>
                    <a:srgbClr val="000000"/>
                  </a:solidFill>
                  <a:latin typeface="Times New Roman" charset="0"/>
                </a:rPr>
                <a:t>1</a:t>
              </a:r>
              <a:endParaRPr lang="en-US"/>
            </a:p>
          </p:txBody>
        </p:sp>
        <p:sp>
          <p:nvSpPr>
            <p:cNvPr id="1633293" name="Rectangle 13"/>
            <p:cNvSpPr>
              <a:spLocks noChangeArrowheads="1"/>
            </p:cNvSpPr>
            <p:nvPr/>
          </p:nvSpPr>
          <p:spPr bwMode="auto">
            <a:xfrm>
              <a:off x="1256" y="1764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200">
                  <a:solidFill>
                    <a:srgbClr val="000000"/>
                  </a:solidFill>
                  <a:latin typeface="Times New Roman" charset="0"/>
                </a:rPr>
                <a:t>2</a:t>
              </a:r>
              <a:endParaRPr lang="en-US"/>
            </a:p>
          </p:txBody>
        </p:sp>
        <p:sp>
          <p:nvSpPr>
            <p:cNvPr id="1633294" name="Rectangle 14"/>
            <p:cNvSpPr>
              <a:spLocks noChangeArrowheads="1"/>
            </p:cNvSpPr>
            <p:nvPr/>
          </p:nvSpPr>
          <p:spPr bwMode="auto">
            <a:xfrm>
              <a:off x="1810" y="2069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200">
                  <a:solidFill>
                    <a:srgbClr val="000000"/>
                  </a:solidFill>
                  <a:latin typeface="Times New Roman" charset="0"/>
                </a:rPr>
                <a:t>3</a:t>
              </a:r>
              <a:endParaRPr lang="en-US"/>
            </a:p>
          </p:txBody>
        </p:sp>
        <p:sp>
          <p:nvSpPr>
            <p:cNvPr id="1633295" name="Rectangle 15"/>
            <p:cNvSpPr>
              <a:spLocks noChangeArrowheads="1"/>
            </p:cNvSpPr>
            <p:nvPr/>
          </p:nvSpPr>
          <p:spPr bwMode="auto">
            <a:xfrm>
              <a:off x="1422" y="2635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200">
                  <a:solidFill>
                    <a:srgbClr val="000000"/>
                  </a:solidFill>
                  <a:latin typeface="Times New Roman" charset="0"/>
                </a:rPr>
                <a:t>4</a:t>
              </a:r>
              <a:endParaRPr lang="en-US"/>
            </a:p>
          </p:txBody>
        </p:sp>
        <p:sp>
          <p:nvSpPr>
            <p:cNvPr id="1633296" name="Rectangle 16"/>
            <p:cNvSpPr>
              <a:spLocks noChangeArrowheads="1"/>
            </p:cNvSpPr>
            <p:nvPr/>
          </p:nvSpPr>
          <p:spPr bwMode="auto">
            <a:xfrm>
              <a:off x="648" y="1626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200">
                  <a:solidFill>
                    <a:srgbClr val="000000"/>
                  </a:solidFill>
                  <a:latin typeface="Times New Roman" charset="0"/>
                </a:rPr>
                <a:t>5</a:t>
              </a:r>
              <a:endParaRPr lang="en-US"/>
            </a:p>
          </p:txBody>
        </p:sp>
        <p:sp>
          <p:nvSpPr>
            <p:cNvPr id="1633297" name="Rectangle 17"/>
            <p:cNvSpPr>
              <a:spLocks noChangeArrowheads="1"/>
            </p:cNvSpPr>
            <p:nvPr/>
          </p:nvSpPr>
          <p:spPr bwMode="auto">
            <a:xfrm>
              <a:off x="2307" y="2125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200">
                  <a:solidFill>
                    <a:srgbClr val="000000"/>
                  </a:solidFill>
                  <a:latin typeface="Times New Roman" charset="0"/>
                </a:rPr>
                <a:t>6</a:t>
              </a:r>
              <a:endParaRPr lang="en-US"/>
            </a:p>
          </p:txBody>
        </p:sp>
      </p:grpSp>
      <p:grpSp>
        <p:nvGrpSpPr>
          <p:cNvPr id="1633298" name="Group 18"/>
          <p:cNvGrpSpPr>
            <a:grpSpLocks/>
          </p:cNvGrpSpPr>
          <p:nvPr/>
        </p:nvGrpSpPr>
        <p:grpSpPr bwMode="auto">
          <a:xfrm>
            <a:off x="2495550" y="3182937"/>
            <a:ext cx="1423988" cy="914400"/>
            <a:chOff x="1572" y="1804"/>
            <a:chExt cx="897" cy="576"/>
          </a:xfrm>
        </p:grpSpPr>
        <p:sp>
          <p:nvSpPr>
            <p:cNvPr id="1633299" name="Freeform 19"/>
            <p:cNvSpPr>
              <a:spLocks/>
            </p:cNvSpPr>
            <p:nvPr/>
          </p:nvSpPr>
          <p:spPr bwMode="auto">
            <a:xfrm>
              <a:off x="1572" y="2005"/>
              <a:ext cx="897" cy="375"/>
            </a:xfrm>
            <a:custGeom>
              <a:avLst/>
              <a:gdLst>
                <a:gd name="T0" fmla="*/ 450 w 897"/>
                <a:gd name="T1" fmla="*/ 0 h 375"/>
                <a:gd name="T2" fmla="*/ 510 w 897"/>
                <a:gd name="T3" fmla="*/ 2 h 375"/>
                <a:gd name="T4" fmla="*/ 571 w 897"/>
                <a:gd name="T5" fmla="*/ 6 h 375"/>
                <a:gd name="T6" fmla="*/ 629 w 897"/>
                <a:gd name="T7" fmla="*/ 15 h 375"/>
                <a:gd name="T8" fmla="*/ 683 w 897"/>
                <a:gd name="T9" fmla="*/ 28 h 375"/>
                <a:gd name="T10" fmla="*/ 733 w 897"/>
                <a:gd name="T11" fmla="*/ 43 h 375"/>
                <a:gd name="T12" fmla="*/ 778 w 897"/>
                <a:gd name="T13" fmla="*/ 60 h 375"/>
                <a:gd name="T14" fmla="*/ 817 w 897"/>
                <a:gd name="T15" fmla="*/ 79 h 375"/>
                <a:gd name="T16" fmla="*/ 850 w 897"/>
                <a:gd name="T17" fmla="*/ 101 h 375"/>
                <a:gd name="T18" fmla="*/ 874 w 897"/>
                <a:gd name="T19" fmla="*/ 125 h 375"/>
                <a:gd name="T20" fmla="*/ 891 w 897"/>
                <a:gd name="T21" fmla="*/ 149 h 375"/>
                <a:gd name="T22" fmla="*/ 897 w 897"/>
                <a:gd name="T23" fmla="*/ 174 h 375"/>
                <a:gd name="T24" fmla="*/ 897 w 897"/>
                <a:gd name="T25" fmla="*/ 200 h 375"/>
                <a:gd name="T26" fmla="*/ 891 w 897"/>
                <a:gd name="T27" fmla="*/ 226 h 375"/>
                <a:gd name="T28" fmla="*/ 874 w 897"/>
                <a:gd name="T29" fmla="*/ 250 h 375"/>
                <a:gd name="T30" fmla="*/ 850 w 897"/>
                <a:gd name="T31" fmla="*/ 274 h 375"/>
                <a:gd name="T32" fmla="*/ 817 w 897"/>
                <a:gd name="T33" fmla="*/ 295 h 375"/>
                <a:gd name="T34" fmla="*/ 778 w 897"/>
                <a:gd name="T35" fmla="*/ 315 h 375"/>
                <a:gd name="T36" fmla="*/ 733 w 897"/>
                <a:gd name="T37" fmla="*/ 332 h 375"/>
                <a:gd name="T38" fmla="*/ 683 w 897"/>
                <a:gd name="T39" fmla="*/ 347 h 375"/>
                <a:gd name="T40" fmla="*/ 629 w 897"/>
                <a:gd name="T41" fmla="*/ 360 h 375"/>
                <a:gd name="T42" fmla="*/ 571 w 897"/>
                <a:gd name="T43" fmla="*/ 369 h 375"/>
                <a:gd name="T44" fmla="*/ 510 w 897"/>
                <a:gd name="T45" fmla="*/ 373 h 375"/>
                <a:gd name="T46" fmla="*/ 450 w 897"/>
                <a:gd name="T47" fmla="*/ 375 h 375"/>
                <a:gd name="T48" fmla="*/ 387 w 897"/>
                <a:gd name="T49" fmla="*/ 373 h 375"/>
                <a:gd name="T50" fmla="*/ 329 w 897"/>
                <a:gd name="T51" fmla="*/ 369 h 375"/>
                <a:gd name="T52" fmla="*/ 270 w 897"/>
                <a:gd name="T53" fmla="*/ 360 h 375"/>
                <a:gd name="T54" fmla="*/ 216 w 897"/>
                <a:gd name="T55" fmla="*/ 347 h 375"/>
                <a:gd name="T56" fmla="*/ 164 w 897"/>
                <a:gd name="T57" fmla="*/ 332 h 375"/>
                <a:gd name="T58" fmla="*/ 121 w 897"/>
                <a:gd name="T59" fmla="*/ 315 h 375"/>
                <a:gd name="T60" fmla="*/ 82 w 897"/>
                <a:gd name="T61" fmla="*/ 295 h 375"/>
                <a:gd name="T62" fmla="*/ 49 w 897"/>
                <a:gd name="T63" fmla="*/ 274 h 375"/>
                <a:gd name="T64" fmla="*/ 26 w 897"/>
                <a:gd name="T65" fmla="*/ 250 h 375"/>
                <a:gd name="T66" fmla="*/ 8 w 897"/>
                <a:gd name="T67" fmla="*/ 226 h 375"/>
                <a:gd name="T68" fmla="*/ 0 w 897"/>
                <a:gd name="T69" fmla="*/ 200 h 375"/>
                <a:gd name="T70" fmla="*/ 0 w 897"/>
                <a:gd name="T71" fmla="*/ 174 h 375"/>
                <a:gd name="T72" fmla="*/ 8 w 897"/>
                <a:gd name="T73" fmla="*/ 149 h 375"/>
                <a:gd name="T74" fmla="*/ 26 w 897"/>
                <a:gd name="T75" fmla="*/ 125 h 375"/>
                <a:gd name="T76" fmla="*/ 49 w 897"/>
                <a:gd name="T77" fmla="*/ 101 h 375"/>
                <a:gd name="T78" fmla="*/ 82 w 897"/>
                <a:gd name="T79" fmla="*/ 79 h 375"/>
                <a:gd name="T80" fmla="*/ 121 w 897"/>
                <a:gd name="T81" fmla="*/ 60 h 375"/>
                <a:gd name="T82" fmla="*/ 164 w 897"/>
                <a:gd name="T83" fmla="*/ 43 h 375"/>
                <a:gd name="T84" fmla="*/ 216 w 897"/>
                <a:gd name="T85" fmla="*/ 28 h 375"/>
                <a:gd name="T86" fmla="*/ 270 w 897"/>
                <a:gd name="T87" fmla="*/ 15 h 375"/>
                <a:gd name="T88" fmla="*/ 329 w 897"/>
                <a:gd name="T89" fmla="*/ 6 h 375"/>
                <a:gd name="T90" fmla="*/ 387 w 897"/>
                <a:gd name="T91" fmla="*/ 2 h 375"/>
                <a:gd name="T92" fmla="*/ 450 w 897"/>
                <a:gd name="T93" fmla="*/ 0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97" h="375">
                  <a:moveTo>
                    <a:pt x="450" y="0"/>
                  </a:moveTo>
                  <a:lnTo>
                    <a:pt x="510" y="2"/>
                  </a:lnTo>
                  <a:lnTo>
                    <a:pt x="571" y="6"/>
                  </a:lnTo>
                  <a:lnTo>
                    <a:pt x="629" y="15"/>
                  </a:lnTo>
                  <a:lnTo>
                    <a:pt x="683" y="28"/>
                  </a:lnTo>
                  <a:lnTo>
                    <a:pt x="733" y="43"/>
                  </a:lnTo>
                  <a:lnTo>
                    <a:pt x="778" y="60"/>
                  </a:lnTo>
                  <a:lnTo>
                    <a:pt x="817" y="79"/>
                  </a:lnTo>
                  <a:lnTo>
                    <a:pt x="850" y="101"/>
                  </a:lnTo>
                  <a:lnTo>
                    <a:pt x="874" y="125"/>
                  </a:lnTo>
                  <a:lnTo>
                    <a:pt x="891" y="149"/>
                  </a:lnTo>
                  <a:lnTo>
                    <a:pt x="897" y="174"/>
                  </a:lnTo>
                  <a:lnTo>
                    <a:pt x="897" y="200"/>
                  </a:lnTo>
                  <a:lnTo>
                    <a:pt x="891" y="226"/>
                  </a:lnTo>
                  <a:lnTo>
                    <a:pt x="874" y="250"/>
                  </a:lnTo>
                  <a:lnTo>
                    <a:pt x="850" y="274"/>
                  </a:lnTo>
                  <a:lnTo>
                    <a:pt x="817" y="295"/>
                  </a:lnTo>
                  <a:lnTo>
                    <a:pt x="778" y="315"/>
                  </a:lnTo>
                  <a:lnTo>
                    <a:pt x="733" y="332"/>
                  </a:lnTo>
                  <a:lnTo>
                    <a:pt x="683" y="347"/>
                  </a:lnTo>
                  <a:lnTo>
                    <a:pt x="629" y="360"/>
                  </a:lnTo>
                  <a:lnTo>
                    <a:pt x="571" y="369"/>
                  </a:lnTo>
                  <a:lnTo>
                    <a:pt x="510" y="373"/>
                  </a:lnTo>
                  <a:lnTo>
                    <a:pt x="450" y="375"/>
                  </a:lnTo>
                  <a:lnTo>
                    <a:pt x="387" y="373"/>
                  </a:lnTo>
                  <a:lnTo>
                    <a:pt x="329" y="369"/>
                  </a:lnTo>
                  <a:lnTo>
                    <a:pt x="270" y="360"/>
                  </a:lnTo>
                  <a:lnTo>
                    <a:pt x="216" y="347"/>
                  </a:lnTo>
                  <a:lnTo>
                    <a:pt x="164" y="332"/>
                  </a:lnTo>
                  <a:lnTo>
                    <a:pt x="121" y="315"/>
                  </a:lnTo>
                  <a:lnTo>
                    <a:pt x="82" y="295"/>
                  </a:lnTo>
                  <a:lnTo>
                    <a:pt x="49" y="274"/>
                  </a:lnTo>
                  <a:lnTo>
                    <a:pt x="26" y="250"/>
                  </a:lnTo>
                  <a:lnTo>
                    <a:pt x="8" y="226"/>
                  </a:lnTo>
                  <a:lnTo>
                    <a:pt x="0" y="200"/>
                  </a:lnTo>
                  <a:lnTo>
                    <a:pt x="0" y="174"/>
                  </a:lnTo>
                  <a:lnTo>
                    <a:pt x="8" y="149"/>
                  </a:lnTo>
                  <a:lnTo>
                    <a:pt x="26" y="125"/>
                  </a:lnTo>
                  <a:lnTo>
                    <a:pt x="49" y="101"/>
                  </a:lnTo>
                  <a:lnTo>
                    <a:pt x="82" y="79"/>
                  </a:lnTo>
                  <a:lnTo>
                    <a:pt x="121" y="60"/>
                  </a:lnTo>
                  <a:lnTo>
                    <a:pt x="164" y="43"/>
                  </a:lnTo>
                  <a:lnTo>
                    <a:pt x="216" y="28"/>
                  </a:lnTo>
                  <a:lnTo>
                    <a:pt x="270" y="15"/>
                  </a:lnTo>
                  <a:lnTo>
                    <a:pt x="329" y="6"/>
                  </a:lnTo>
                  <a:lnTo>
                    <a:pt x="387" y="2"/>
                  </a:lnTo>
                  <a:lnTo>
                    <a:pt x="4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3300" name="Rectangle 20"/>
            <p:cNvSpPr>
              <a:spLocks noChangeArrowheads="1"/>
            </p:cNvSpPr>
            <p:nvPr/>
          </p:nvSpPr>
          <p:spPr bwMode="auto">
            <a:xfrm>
              <a:off x="1944" y="1804"/>
              <a:ext cx="1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200">
                  <a:solidFill>
                    <a:srgbClr val="FF0000"/>
                  </a:solidFill>
                </a:rPr>
                <a:t>1</a:t>
              </a:r>
              <a:endParaRPr lang="en-US"/>
            </a:p>
          </p:txBody>
        </p:sp>
      </p:grpSp>
      <p:grpSp>
        <p:nvGrpSpPr>
          <p:cNvPr id="1633301" name="Group 21"/>
          <p:cNvGrpSpPr>
            <a:grpSpLocks/>
          </p:cNvGrpSpPr>
          <p:nvPr/>
        </p:nvGrpSpPr>
        <p:grpSpPr bwMode="auto">
          <a:xfrm>
            <a:off x="527050" y="2808287"/>
            <a:ext cx="1735138" cy="1158875"/>
            <a:chOff x="332" y="1568"/>
            <a:chExt cx="1093" cy="730"/>
          </a:xfrm>
        </p:grpSpPr>
        <p:sp>
          <p:nvSpPr>
            <p:cNvPr id="1633302" name="Freeform 22"/>
            <p:cNvSpPr>
              <a:spLocks/>
            </p:cNvSpPr>
            <p:nvPr/>
          </p:nvSpPr>
          <p:spPr bwMode="auto">
            <a:xfrm>
              <a:off x="332" y="1568"/>
              <a:ext cx="1093" cy="497"/>
            </a:xfrm>
            <a:custGeom>
              <a:avLst/>
              <a:gdLst>
                <a:gd name="T0" fmla="*/ 547 w 1093"/>
                <a:gd name="T1" fmla="*/ 0 h 497"/>
                <a:gd name="T2" fmla="*/ 615 w 1093"/>
                <a:gd name="T3" fmla="*/ 3 h 497"/>
                <a:gd name="T4" fmla="*/ 684 w 1093"/>
                <a:gd name="T5" fmla="*/ 7 h 497"/>
                <a:gd name="T6" fmla="*/ 749 w 1093"/>
                <a:gd name="T7" fmla="*/ 18 h 497"/>
                <a:gd name="T8" fmla="*/ 811 w 1093"/>
                <a:gd name="T9" fmla="*/ 31 h 497"/>
                <a:gd name="T10" fmla="*/ 868 w 1093"/>
                <a:gd name="T11" fmla="*/ 48 h 497"/>
                <a:gd name="T12" fmla="*/ 922 w 1093"/>
                <a:gd name="T13" fmla="*/ 67 h 497"/>
                <a:gd name="T14" fmla="*/ 969 w 1093"/>
                <a:gd name="T15" fmla="*/ 91 h 497"/>
                <a:gd name="T16" fmla="*/ 1008 w 1093"/>
                <a:gd name="T17" fmla="*/ 115 h 497"/>
                <a:gd name="T18" fmla="*/ 1043 w 1093"/>
                <a:gd name="T19" fmla="*/ 143 h 497"/>
                <a:gd name="T20" fmla="*/ 1067 w 1093"/>
                <a:gd name="T21" fmla="*/ 171 h 497"/>
                <a:gd name="T22" fmla="*/ 1084 w 1093"/>
                <a:gd name="T23" fmla="*/ 201 h 497"/>
                <a:gd name="T24" fmla="*/ 1093 w 1093"/>
                <a:gd name="T25" fmla="*/ 234 h 497"/>
                <a:gd name="T26" fmla="*/ 1093 w 1093"/>
                <a:gd name="T27" fmla="*/ 264 h 497"/>
                <a:gd name="T28" fmla="*/ 1084 w 1093"/>
                <a:gd name="T29" fmla="*/ 294 h 497"/>
                <a:gd name="T30" fmla="*/ 1067 w 1093"/>
                <a:gd name="T31" fmla="*/ 324 h 497"/>
                <a:gd name="T32" fmla="*/ 1043 w 1093"/>
                <a:gd name="T33" fmla="*/ 354 h 497"/>
                <a:gd name="T34" fmla="*/ 1008 w 1093"/>
                <a:gd name="T35" fmla="*/ 383 h 497"/>
                <a:gd name="T36" fmla="*/ 969 w 1093"/>
                <a:gd name="T37" fmla="*/ 406 h 497"/>
                <a:gd name="T38" fmla="*/ 922 w 1093"/>
                <a:gd name="T39" fmla="*/ 430 h 497"/>
                <a:gd name="T40" fmla="*/ 868 w 1093"/>
                <a:gd name="T41" fmla="*/ 449 h 497"/>
                <a:gd name="T42" fmla="*/ 811 w 1093"/>
                <a:gd name="T43" fmla="*/ 467 h 497"/>
                <a:gd name="T44" fmla="*/ 749 w 1093"/>
                <a:gd name="T45" fmla="*/ 480 h 497"/>
                <a:gd name="T46" fmla="*/ 684 w 1093"/>
                <a:gd name="T47" fmla="*/ 488 h 497"/>
                <a:gd name="T48" fmla="*/ 615 w 1093"/>
                <a:gd name="T49" fmla="*/ 495 h 497"/>
                <a:gd name="T50" fmla="*/ 547 w 1093"/>
                <a:gd name="T51" fmla="*/ 497 h 497"/>
                <a:gd name="T52" fmla="*/ 478 w 1093"/>
                <a:gd name="T53" fmla="*/ 495 h 497"/>
                <a:gd name="T54" fmla="*/ 411 w 1093"/>
                <a:gd name="T55" fmla="*/ 488 h 497"/>
                <a:gd name="T56" fmla="*/ 346 w 1093"/>
                <a:gd name="T57" fmla="*/ 480 h 497"/>
                <a:gd name="T58" fmla="*/ 284 w 1093"/>
                <a:gd name="T59" fmla="*/ 467 h 497"/>
                <a:gd name="T60" fmla="*/ 225 w 1093"/>
                <a:gd name="T61" fmla="*/ 449 h 497"/>
                <a:gd name="T62" fmla="*/ 173 w 1093"/>
                <a:gd name="T63" fmla="*/ 430 h 497"/>
                <a:gd name="T64" fmla="*/ 126 w 1093"/>
                <a:gd name="T65" fmla="*/ 406 h 497"/>
                <a:gd name="T66" fmla="*/ 85 w 1093"/>
                <a:gd name="T67" fmla="*/ 383 h 497"/>
                <a:gd name="T68" fmla="*/ 52 w 1093"/>
                <a:gd name="T69" fmla="*/ 354 h 497"/>
                <a:gd name="T70" fmla="*/ 26 w 1093"/>
                <a:gd name="T71" fmla="*/ 324 h 497"/>
                <a:gd name="T72" fmla="*/ 9 w 1093"/>
                <a:gd name="T73" fmla="*/ 294 h 497"/>
                <a:gd name="T74" fmla="*/ 0 w 1093"/>
                <a:gd name="T75" fmla="*/ 264 h 497"/>
                <a:gd name="T76" fmla="*/ 0 w 1093"/>
                <a:gd name="T77" fmla="*/ 234 h 497"/>
                <a:gd name="T78" fmla="*/ 9 w 1093"/>
                <a:gd name="T79" fmla="*/ 201 h 497"/>
                <a:gd name="T80" fmla="*/ 26 w 1093"/>
                <a:gd name="T81" fmla="*/ 171 h 497"/>
                <a:gd name="T82" fmla="*/ 52 w 1093"/>
                <a:gd name="T83" fmla="*/ 143 h 497"/>
                <a:gd name="T84" fmla="*/ 85 w 1093"/>
                <a:gd name="T85" fmla="*/ 115 h 497"/>
                <a:gd name="T86" fmla="*/ 126 w 1093"/>
                <a:gd name="T87" fmla="*/ 91 h 497"/>
                <a:gd name="T88" fmla="*/ 173 w 1093"/>
                <a:gd name="T89" fmla="*/ 67 h 497"/>
                <a:gd name="T90" fmla="*/ 225 w 1093"/>
                <a:gd name="T91" fmla="*/ 48 h 497"/>
                <a:gd name="T92" fmla="*/ 284 w 1093"/>
                <a:gd name="T93" fmla="*/ 31 h 497"/>
                <a:gd name="T94" fmla="*/ 346 w 1093"/>
                <a:gd name="T95" fmla="*/ 18 h 497"/>
                <a:gd name="T96" fmla="*/ 411 w 1093"/>
                <a:gd name="T97" fmla="*/ 7 h 497"/>
                <a:gd name="T98" fmla="*/ 478 w 1093"/>
                <a:gd name="T99" fmla="*/ 3 h 497"/>
                <a:gd name="T100" fmla="*/ 547 w 1093"/>
                <a:gd name="T101" fmla="*/ 0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93" h="497">
                  <a:moveTo>
                    <a:pt x="547" y="0"/>
                  </a:moveTo>
                  <a:lnTo>
                    <a:pt x="615" y="3"/>
                  </a:lnTo>
                  <a:lnTo>
                    <a:pt x="684" y="7"/>
                  </a:lnTo>
                  <a:lnTo>
                    <a:pt x="749" y="18"/>
                  </a:lnTo>
                  <a:lnTo>
                    <a:pt x="811" y="31"/>
                  </a:lnTo>
                  <a:lnTo>
                    <a:pt x="868" y="48"/>
                  </a:lnTo>
                  <a:lnTo>
                    <a:pt x="922" y="67"/>
                  </a:lnTo>
                  <a:lnTo>
                    <a:pt x="969" y="91"/>
                  </a:lnTo>
                  <a:lnTo>
                    <a:pt x="1008" y="115"/>
                  </a:lnTo>
                  <a:lnTo>
                    <a:pt x="1043" y="143"/>
                  </a:lnTo>
                  <a:lnTo>
                    <a:pt x="1067" y="171"/>
                  </a:lnTo>
                  <a:lnTo>
                    <a:pt x="1084" y="201"/>
                  </a:lnTo>
                  <a:lnTo>
                    <a:pt x="1093" y="234"/>
                  </a:lnTo>
                  <a:lnTo>
                    <a:pt x="1093" y="264"/>
                  </a:lnTo>
                  <a:lnTo>
                    <a:pt x="1084" y="294"/>
                  </a:lnTo>
                  <a:lnTo>
                    <a:pt x="1067" y="324"/>
                  </a:lnTo>
                  <a:lnTo>
                    <a:pt x="1043" y="354"/>
                  </a:lnTo>
                  <a:lnTo>
                    <a:pt x="1008" y="383"/>
                  </a:lnTo>
                  <a:lnTo>
                    <a:pt x="969" y="406"/>
                  </a:lnTo>
                  <a:lnTo>
                    <a:pt x="922" y="430"/>
                  </a:lnTo>
                  <a:lnTo>
                    <a:pt x="868" y="449"/>
                  </a:lnTo>
                  <a:lnTo>
                    <a:pt x="811" y="467"/>
                  </a:lnTo>
                  <a:lnTo>
                    <a:pt x="749" y="480"/>
                  </a:lnTo>
                  <a:lnTo>
                    <a:pt x="684" y="488"/>
                  </a:lnTo>
                  <a:lnTo>
                    <a:pt x="615" y="495"/>
                  </a:lnTo>
                  <a:lnTo>
                    <a:pt x="547" y="497"/>
                  </a:lnTo>
                  <a:lnTo>
                    <a:pt x="478" y="495"/>
                  </a:lnTo>
                  <a:lnTo>
                    <a:pt x="411" y="488"/>
                  </a:lnTo>
                  <a:lnTo>
                    <a:pt x="346" y="480"/>
                  </a:lnTo>
                  <a:lnTo>
                    <a:pt x="284" y="467"/>
                  </a:lnTo>
                  <a:lnTo>
                    <a:pt x="225" y="449"/>
                  </a:lnTo>
                  <a:lnTo>
                    <a:pt x="173" y="430"/>
                  </a:lnTo>
                  <a:lnTo>
                    <a:pt x="126" y="406"/>
                  </a:lnTo>
                  <a:lnTo>
                    <a:pt x="85" y="383"/>
                  </a:lnTo>
                  <a:lnTo>
                    <a:pt x="52" y="354"/>
                  </a:lnTo>
                  <a:lnTo>
                    <a:pt x="26" y="324"/>
                  </a:lnTo>
                  <a:lnTo>
                    <a:pt x="9" y="294"/>
                  </a:lnTo>
                  <a:lnTo>
                    <a:pt x="0" y="264"/>
                  </a:lnTo>
                  <a:lnTo>
                    <a:pt x="0" y="234"/>
                  </a:lnTo>
                  <a:lnTo>
                    <a:pt x="9" y="201"/>
                  </a:lnTo>
                  <a:lnTo>
                    <a:pt x="26" y="171"/>
                  </a:lnTo>
                  <a:lnTo>
                    <a:pt x="52" y="143"/>
                  </a:lnTo>
                  <a:lnTo>
                    <a:pt x="85" y="115"/>
                  </a:lnTo>
                  <a:lnTo>
                    <a:pt x="126" y="91"/>
                  </a:lnTo>
                  <a:lnTo>
                    <a:pt x="173" y="67"/>
                  </a:lnTo>
                  <a:lnTo>
                    <a:pt x="225" y="48"/>
                  </a:lnTo>
                  <a:lnTo>
                    <a:pt x="284" y="31"/>
                  </a:lnTo>
                  <a:lnTo>
                    <a:pt x="346" y="18"/>
                  </a:lnTo>
                  <a:lnTo>
                    <a:pt x="411" y="7"/>
                  </a:lnTo>
                  <a:lnTo>
                    <a:pt x="478" y="3"/>
                  </a:lnTo>
                  <a:lnTo>
                    <a:pt x="547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3303" name="Rectangle 23"/>
            <p:cNvSpPr>
              <a:spLocks noChangeArrowheads="1"/>
            </p:cNvSpPr>
            <p:nvPr/>
          </p:nvSpPr>
          <p:spPr bwMode="auto">
            <a:xfrm>
              <a:off x="949" y="2052"/>
              <a:ext cx="1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200">
                  <a:solidFill>
                    <a:srgbClr val="FF0000"/>
                  </a:solidFill>
                </a:rPr>
                <a:t>2</a:t>
              </a:r>
              <a:endParaRPr lang="en-US"/>
            </a:p>
          </p:txBody>
        </p:sp>
      </p:grpSp>
      <p:grpSp>
        <p:nvGrpSpPr>
          <p:cNvPr id="1633304" name="Group 24"/>
          <p:cNvGrpSpPr>
            <a:grpSpLocks/>
          </p:cNvGrpSpPr>
          <p:nvPr/>
        </p:nvGrpSpPr>
        <p:grpSpPr bwMode="auto">
          <a:xfrm>
            <a:off x="444500" y="2390775"/>
            <a:ext cx="3675063" cy="2097087"/>
            <a:chOff x="280" y="1305"/>
            <a:chExt cx="2315" cy="1321"/>
          </a:xfrm>
        </p:grpSpPr>
        <p:sp>
          <p:nvSpPr>
            <p:cNvPr id="1633305" name="Freeform 25"/>
            <p:cNvSpPr>
              <a:spLocks/>
            </p:cNvSpPr>
            <p:nvPr/>
          </p:nvSpPr>
          <p:spPr bwMode="auto">
            <a:xfrm>
              <a:off x="280" y="1314"/>
              <a:ext cx="2315" cy="1312"/>
            </a:xfrm>
            <a:custGeom>
              <a:avLst/>
              <a:gdLst>
                <a:gd name="T0" fmla="*/ 1326 w 2315"/>
                <a:gd name="T1" fmla="*/ 23 h 1312"/>
                <a:gd name="T2" fmla="*/ 1519 w 2315"/>
                <a:gd name="T3" fmla="*/ 64 h 1312"/>
                <a:gd name="T4" fmla="*/ 1698 w 2315"/>
                <a:gd name="T5" fmla="*/ 121 h 1312"/>
                <a:gd name="T6" fmla="*/ 1865 w 2315"/>
                <a:gd name="T7" fmla="*/ 194 h 1312"/>
                <a:gd name="T8" fmla="*/ 2008 w 2315"/>
                <a:gd name="T9" fmla="*/ 278 h 1312"/>
                <a:gd name="T10" fmla="*/ 2129 w 2315"/>
                <a:gd name="T11" fmla="*/ 375 h 1312"/>
                <a:gd name="T12" fmla="*/ 2222 w 2315"/>
                <a:gd name="T13" fmla="*/ 479 h 1312"/>
                <a:gd name="T14" fmla="*/ 2282 w 2315"/>
                <a:gd name="T15" fmla="*/ 589 h 1312"/>
                <a:gd name="T16" fmla="*/ 2313 w 2315"/>
                <a:gd name="T17" fmla="*/ 699 h 1312"/>
                <a:gd name="T18" fmla="*/ 2308 w 2315"/>
                <a:gd name="T19" fmla="*/ 809 h 1312"/>
                <a:gd name="T20" fmla="*/ 2272 w 2315"/>
                <a:gd name="T21" fmla="*/ 915 h 1312"/>
                <a:gd name="T22" fmla="*/ 2202 w 2315"/>
                <a:gd name="T23" fmla="*/ 1014 h 1312"/>
                <a:gd name="T24" fmla="*/ 2105 w 2315"/>
                <a:gd name="T25" fmla="*/ 1101 h 1312"/>
                <a:gd name="T26" fmla="*/ 1977 w 2315"/>
                <a:gd name="T27" fmla="*/ 1176 h 1312"/>
                <a:gd name="T28" fmla="*/ 1828 w 2315"/>
                <a:gd name="T29" fmla="*/ 1237 h 1312"/>
                <a:gd name="T30" fmla="*/ 1659 w 2315"/>
                <a:gd name="T31" fmla="*/ 1280 h 1312"/>
                <a:gd name="T32" fmla="*/ 1476 w 2315"/>
                <a:gd name="T33" fmla="*/ 1306 h 1312"/>
                <a:gd name="T34" fmla="*/ 1283 w 2315"/>
                <a:gd name="T35" fmla="*/ 1312 h 1312"/>
                <a:gd name="T36" fmla="*/ 1086 w 2315"/>
                <a:gd name="T37" fmla="*/ 1299 h 1312"/>
                <a:gd name="T38" fmla="*/ 894 w 2315"/>
                <a:gd name="T39" fmla="*/ 1269 h 1312"/>
                <a:gd name="T40" fmla="*/ 705 w 2315"/>
                <a:gd name="T41" fmla="*/ 1220 h 1312"/>
                <a:gd name="T42" fmla="*/ 532 w 2315"/>
                <a:gd name="T43" fmla="*/ 1155 h 1312"/>
                <a:gd name="T44" fmla="*/ 377 w 2315"/>
                <a:gd name="T45" fmla="*/ 1077 h 1312"/>
                <a:gd name="T46" fmla="*/ 245 w 2315"/>
                <a:gd name="T47" fmla="*/ 984 h 1312"/>
                <a:gd name="T48" fmla="*/ 137 w 2315"/>
                <a:gd name="T49" fmla="*/ 885 h 1312"/>
                <a:gd name="T50" fmla="*/ 61 w 2315"/>
                <a:gd name="T51" fmla="*/ 777 h 1312"/>
                <a:gd name="T52" fmla="*/ 13 w 2315"/>
                <a:gd name="T53" fmla="*/ 667 h 1312"/>
                <a:gd name="T54" fmla="*/ 0 w 2315"/>
                <a:gd name="T55" fmla="*/ 555 h 1312"/>
                <a:gd name="T56" fmla="*/ 22 w 2315"/>
                <a:gd name="T57" fmla="*/ 447 h 1312"/>
                <a:gd name="T58" fmla="*/ 74 w 2315"/>
                <a:gd name="T59" fmla="*/ 345 h 1312"/>
                <a:gd name="T60" fmla="*/ 158 w 2315"/>
                <a:gd name="T61" fmla="*/ 252 h 1312"/>
                <a:gd name="T62" fmla="*/ 273 w 2315"/>
                <a:gd name="T63" fmla="*/ 170 h 1312"/>
                <a:gd name="T64" fmla="*/ 411 w 2315"/>
                <a:gd name="T65" fmla="*/ 103 h 1312"/>
                <a:gd name="T66" fmla="*/ 571 w 2315"/>
                <a:gd name="T67" fmla="*/ 49 h 1312"/>
                <a:gd name="T68" fmla="*/ 747 w 2315"/>
                <a:gd name="T69" fmla="*/ 17 h 1312"/>
                <a:gd name="T70" fmla="*/ 937 w 2315"/>
                <a:gd name="T71" fmla="*/ 0 h 1312"/>
                <a:gd name="T72" fmla="*/ 1132 w 2315"/>
                <a:gd name="T73" fmla="*/ 2 h 1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315" h="1312">
                  <a:moveTo>
                    <a:pt x="1229" y="10"/>
                  </a:moveTo>
                  <a:lnTo>
                    <a:pt x="1326" y="23"/>
                  </a:lnTo>
                  <a:lnTo>
                    <a:pt x="1424" y="43"/>
                  </a:lnTo>
                  <a:lnTo>
                    <a:pt x="1519" y="64"/>
                  </a:lnTo>
                  <a:lnTo>
                    <a:pt x="1610" y="90"/>
                  </a:lnTo>
                  <a:lnTo>
                    <a:pt x="1698" y="121"/>
                  </a:lnTo>
                  <a:lnTo>
                    <a:pt x="1783" y="155"/>
                  </a:lnTo>
                  <a:lnTo>
                    <a:pt x="1865" y="194"/>
                  </a:lnTo>
                  <a:lnTo>
                    <a:pt x="1938" y="235"/>
                  </a:lnTo>
                  <a:lnTo>
                    <a:pt x="2008" y="278"/>
                  </a:lnTo>
                  <a:lnTo>
                    <a:pt x="2073" y="326"/>
                  </a:lnTo>
                  <a:lnTo>
                    <a:pt x="2129" y="375"/>
                  </a:lnTo>
                  <a:lnTo>
                    <a:pt x="2179" y="425"/>
                  </a:lnTo>
                  <a:lnTo>
                    <a:pt x="2222" y="479"/>
                  </a:lnTo>
                  <a:lnTo>
                    <a:pt x="2256" y="533"/>
                  </a:lnTo>
                  <a:lnTo>
                    <a:pt x="2282" y="589"/>
                  </a:lnTo>
                  <a:lnTo>
                    <a:pt x="2302" y="643"/>
                  </a:lnTo>
                  <a:lnTo>
                    <a:pt x="2313" y="699"/>
                  </a:lnTo>
                  <a:lnTo>
                    <a:pt x="2315" y="755"/>
                  </a:lnTo>
                  <a:lnTo>
                    <a:pt x="2308" y="809"/>
                  </a:lnTo>
                  <a:lnTo>
                    <a:pt x="2295" y="863"/>
                  </a:lnTo>
                  <a:lnTo>
                    <a:pt x="2272" y="915"/>
                  </a:lnTo>
                  <a:lnTo>
                    <a:pt x="2241" y="965"/>
                  </a:lnTo>
                  <a:lnTo>
                    <a:pt x="2202" y="1014"/>
                  </a:lnTo>
                  <a:lnTo>
                    <a:pt x="2157" y="1060"/>
                  </a:lnTo>
                  <a:lnTo>
                    <a:pt x="2105" y="1101"/>
                  </a:lnTo>
                  <a:lnTo>
                    <a:pt x="2044" y="1140"/>
                  </a:lnTo>
                  <a:lnTo>
                    <a:pt x="1977" y="1176"/>
                  </a:lnTo>
                  <a:lnTo>
                    <a:pt x="1906" y="1209"/>
                  </a:lnTo>
                  <a:lnTo>
                    <a:pt x="1828" y="1237"/>
                  </a:lnTo>
                  <a:lnTo>
                    <a:pt x="1746" y="1261"/>
                  </a:lnTo>
                  <a:lnTo>
                    <a:pt x="1659" y="1280"/>
                  </a:lnTo>
                  <a:lnTo>
                    <a:pt x="1569" y="1295"/>
                  </a:lnTo>
                  <a:lnTo>
                    <a:pt x="1476" y="1306"/>
                  </a:lnTo>
                  <a:lnTo>
                    <a:pt x="1380" y="1310"/>
                  </a:lnTo>
                  <a:lnTo>
                    <a:pt x="1283" y="1312"/>
                  </a:lnTo>
                  <a:lnTo>
                    <a:pt x="1186" y="1308"/>
                  </a:lnTo>
                  <a:lnTo>
                    <a:pt x="1086" y="1299"/>
                  </a:lnTo>
                  <a:lnTo>
                    <a:pt x="989" y="1286"/>
                  </a:lnTo>
                  <a:lnTo>
                    <a:pt x="894" y="1269"/>
                  </a:lnTo>
                  <a:lnTo>
                    <a:pt x="798" y="1245"/>
                  </a:lnTo>
                  <a:lnTo>
                    <a:pt x="705" y="1220"/>
                  </a:lnTo>
                  <a:lnTo>
                    <a:pt x="617" y="1189"/>
                  </a:lnTo>
                  <a:lnTo>
                    <a:pt x="532" y="1155"/>
                  </a:lnTo>
                  <a:lnTo>
                    <a:pt x="452" y="1118"/>
                  </a:lnTo>
                  <a:lnTo>
                    <a:pt x="377" y="1077"/>
                  </a:lnTo>
                  <a:lnTo>
                    <a:pt x="307" y="1032"/>
                  </a:lnTo>
                  <a:lnTo>
                    <a:pt x="245" y="984"/>
                  </a:lnTo>
                  <a:lnTo>
                    <a:pt x="186" y="937"/>
                  </a:lnTo>
                  <a:lnTo>
                    <a:pt x="137" y="885"/>
                  </a:lnTo>
                  <a:lnTo>
                    <a:pt x="95" y="831"/>
                  </a:lnTo>
                  <a:lnTo>
                    <a:pt x="61" y="777"/>
                  </a:lnTo>
                  <a:lnTo>
                    <a:pt x="33" y="723"/>
                  </a:lnTo>
                  <a:lnTo>
                    <a:pt x="13" y="667"/>
                  </a:lnTo>
                  <a:lnTo>
                    <a:pt x="5" y="611"/>
                  </a:lnTo>
                  <a:lnTo>
                    <a:pt x="0" y="555"/>
                  </a:lnTo>
                  <a:lnTo>
                    <a:pt x="7" y="501"/>
                  </a:lnTo>
                  <a:lnTo>
                    <a:pt x="22" y="447"/>
                  </a:lnTo>
                  <a:lnTo>
                    <a:pt x="44" y="395"/>
                  </a:lnTo>
                  <a:lnTo>
                    <a:pt x="74" y="345"/>
                  </a:lnTo>
                  <a:lnTo>
                    <a:pt x="113" y="298"/>
                  </a:lnTo>
                  <a:lnTo>
                    <a:pt x="158" y="252"/>
                  </a:lnTo>
                  <a:lnTo>
                    <a:pt x="212" y="209"/>
                  </a:lnTo>
                  <a:lnTo>
                    <a:pt x="273" y="170"/>
                  </a:lnTo>
                  <a:lnTo>
                    <a:pt x="338" y="133"/>
                  </a:lnTo>
                  <a:lnTo>
                    <a:pt x="411" y="103"/>
                  </a:lnTo>
                  <a:lnTo>
                    <a:pt x="489" y="75"/>
                  </a:lnTo>
                  <a:lnTo>
                    <a:pt x="571" y="49"/>
                  </a:lnTo>
                  <a:lnTo>
                    <a:pt x="658" y="30"/>
                  </a:lnTo>
                  <a:lnTo>
                    <a:pt x="747" y="17"/>
                  </a:lnTo>
                  <a:lnTo>
                    <a:pt x="840" y="6"/>
                  </a:lnTo>
                  <a:lnTo>
                    <a:pt x="937" y="0"/>
                  </a:lnTo>
                  <a:lnTo>
                    <a:pt x="1034" y="0"/>
                  </a:lnTo>
                  <a:lnTo>
                    <a:pt x="1132" y="2"/>
                  </a:lnTo>
                  <a:lnTo>
                    <a:pt x="1229" y="1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3306" name="Rectangle 26"/>
            <p:cNvSpPr>
              <a:spLocks noChangeArrowheads="1"/>
            </p:cNvSpPr>
            <p:nvPr/>
          </p:nvSpPr>
          <p:spPr bwMode="auto">
            <a:xfrm>
              <a:off x="1390" y="1305"/>
              <a:ext cx="1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200">
                  <a:solidFill>
                    <a:srgbClr val="FF0000"/>
                  </a:solidFill>
                </a:rPr>
                <a:t>3</a:t>
              </a:r>
              <a:endParaRPr lang="en-US"/>
            </a:p>
          </p:txBody>
        </p:sp>
      </p:grpSp>
      <p:grpSp>
        <p:nvGrpSpPr>
          <p:cNvPr id="1633307" name="Group 27"/>
          <p:cNvGrpSpPr>
            <a:grpSpLocks/>
          </p:cNvGrpSpPr>
          <p:nvPr/>
        </p:nvGrpSpPr>
        <p:grpSpPr bwMode="auto">
          <a:xfrm>
            <a:off x="382588" y="2270125"/>
            <a:ext cx="3795712" cy="2924175"/>
            <a:chOff x="241" y="1229"/>
            <a:chExt cx="2391" cy="1842"/>
          </a:xfrm>
        </p:grpSpPr>
        <p:sp>
          <p:nvSpPr>
            <p:cNvPr id="1633308" name="Freeform 28"/>
            <p:cNvSpPr>
              <a:spLocks/>
            </p:cNvSpPr>
            <p:nvPr/>
          </p:nvSpPr>
          <p:spPr bwMode="auto">
            <a:xfrm>
              <a:off x="241" y="1229"/>
              <a:ext cx="2391" cy="1611"/>
            </a:xfrm>
            <a:custGeom>
              <a:avLst/>
              <a:gdLst>
                <a:gd name="T0" fmla="*/ 1385 w 2391"/>
                <a:gd name="T1" fmla="*/ 24 h 1611"/>
                <a:gd name="T2" fmla="*/ 1582 w 2391"/>
                <a:gd name="T3" fmla="*/ 69 h 1611"/>
                <a:gd name="T4" fmla="*/ 1768 w 2391"/>
                <a:gd name="T5" fmla="*/ 136 h 1611"/>
                <a:gd name="T6" fmla="*/ 1936 w 2391"/>
                <a:gd name="T7" fmla="*/ 221 h 1611"/>
                <a:gd name="T8" fmla="*/ 2083 w 2391"/>
                <a:gd name="T9" fmla="*/ 322 h 1611"/>
                <a:gd name="T10" fmla="*/ 2207 w 2391"/>
                <a:gd name="T11" fmla="*/ 439 h 1611"/>
                <a:gd name="T12" fmla="*/ 2300 w 2391"/>
                <a:gd name="T13" fmla="*/ 566 h 1611"/>
                <a:gd name="T14" fmla="*/ 2360 w 2391"/>
                <a:gd name="T15" fmla="*/ 698 h 1611"/>
                <a:gd name="T16" fmla="*/ 2388 w 2391"/>
                <a:gd name="T17" fmla="*/ 836 h 1611"/>
                <a:gd name="T18" fmla="*/ 2382 w 2391"/>
                <a:gd name="T19" fmla="*/ 970 h 1611"/>
                <a:gd name="T20" fmla="*/ 2343 w 2391"/>
                <a:gd name="T21" fmla="*/ 1102 h 1611"/>
                <a:gd name="T22" fmla="*/ 2270 w 2391"/>
                <a:gd name="T23" fmla="*/ 1225 h 1611"/>
                <a:gd name="T24" fmla="*/ 2166 w 2391"/>
                <a:gd name="T25" fmla="*/ 1335 h 1611"/>
                <a:gd name="T26" fmla="*/ 2032 w 2391"/>
                <a:gd name="T27" fmla="*/ 1430 h 1611"/>
                <a:gd name="T28" fmla="*/ 1876 w 2391"/>
                <a:gd name="T29" fmla="*/ 1508 h 1611"/>
                <a:gd name="T30" fmla="*/ 1701 w 2391"/>
                <a:gd name="T31" fmla="*/ 1564 h 1611"/>
                <a:gd name="T32" fmla="*/ 1510 w 2391"/>
                <a:gd name="T33" fmla="*/ 1598 h 1611"/>
                <a:gd name="T34" fmla="*/ 1311 w 2391"/>
                <a:gd name="T35" fmla="*/ 1611 h 1611"/>
                <a:gd name="T36" fmla="*/ 1108 w 2391"/>
                <a:gd name="T37" fmla="*/ 1600 h 1611"/>
                <a:gd name="T38" fmla="*/ 907 w 2391"/>
                <a:gd name="T39" fmla="*/ 1568 h 1611"/>
                <a:gd name="T40" fmla="*/ 716 w 2391"/>
                <a:gd name="T41" fmla="*/ 1512 h 1611"/>
                <a:gd name="T42" fmla="*/ 537 w 2391"/>
                <a:gd name="T43" fmla="*/ 1436 h 1611"/>
                <a:gd name="T44" fmla="*/ 379 w 2391"/>
                <a:gd name="T45" fmla="*/ 1341 h 1611"/>
                <a:gd name="T46" fmla="*/ 243 w 2391"/>
                <a:gd name="T47" fmla="*/ 1233 h 1611"/>
                <a:gd name="T48" fmla="*/ 134 w 2391"/>
                <a:gd name="T49" fmla="*/ 1110 h 1611"/>
                <a:gd name="T50" fmla="*/ 57 w 2391"/>
                <a:gd name="T51" fmla="*/ 981 h 1611"/>
                <a:gd name="T52" fmla="*/ 11 w 2391"/>
                <a:gd name="T53" fmla="*/ 845 h 1611"/>
                <a:gd name="T54" fmla="*/ 0 w 2391"/>
                <a:gd name="T55" fmla="*/ 709 h 1611"/>
                <a:gd name="T56" fmla="*/ 24 w 2391"/>
                <a:gd name="T57" fmla="*/ 575 h 1611"/>
                <a:gd name="T58" fmla="*/ 83 w 2391"/>
                <a:gd name="T59" fmla="*/ 447 h 1611"/>
                <a:gd name="T60" fmla="*/ 171 w 2391"/>
                <a:gd name="T61" fmla="*/ 331 h 1611"/>
                <a:gd name="T62" fmla="*/ 290 w 2391"/>
                <a:gd name="T63" fmla="*/ 227 h 1611"/>
                <a:gd name="T64" fmla="*/ 435 w 2391"/>
                <a:gd name="T65" fmla="*/ 141 h 1611"/>
                <a:gd name="T66" fmla="*/ 602 w 2391"/>
                <a:gd name="T67" fmla="*/ 74 h 1611"/>
                <a:gd name="T68" fmla="*/ 786 w 2391"/>
                <a:gd name="T69" fmla="*/ 28 h 1611"/>
                <a:gd name="T70" fmla="*/ 980 w 2391"/>
                <a:gd name="T71" fmla="*/ 3 h 1611"/>
                <a:gd name="T72" fmla="*/ 1181 w 2391"/>
                <a:gd name="T73" fmla="*/ 3 h 16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391" h="1611">
                  <a:moveTo>
                    <a:pt x="1283" y="11"/>
                  </a:moveTo>
                  <a:lnTo>
                    <a:pt x="1385" y="24"/>
                  </a:lnTo>
                  <a:lnTo>
                    <a:pt x="1484" y="46"/>
                  </a:lnTo>
                  <a:lnTo>
                    <a:pt x="1582" y="69"/>
                  </a:lnTo>
                  <a:lnTo>
                    <a:pt x="1675" y="100"/>
                  </a:lnTo>
                  <a:lnTo>
                    <a:pt x="1768" y="136"/>
                  </a:lnTo>
                  <a:lnTo>
                    <a:pt x="1854" y="175"/>
                  </a:lnTo>
                  <a:lnTo>
                    <a:pt x="1936" y="221"/>
                  </a:lnTo>
                  <a:lnTo>
                    <a:pt x="2012" y="270"/>
                  </a:lnTo>
                  <a:lnTo>
                    <a:pt x="2083" y="322"/>
                  </a:lnTo>
                  <a:lnTo>
                    <a:pt x="2148" y="380"/>
                  </a:lnTo>
                  <a:lnTo>
                    <a:pt x="2207" y="439"/>
                  </a:lnTo>
                  <a:lnTo>
                    <a:pt x="2257" y="501"/>
                  </a:lnTo>
                  <a:lnTo>
                    <a:pt x="2300" y="566"/>
                  </a:lnTo>
                  <a:lnTo>
                    <a:pt x="2334" y="631"/>
                  </a:lnTo>
                  <a:lnTo>
                    <a:pt x="2360" y="698"/>
                  </a:lnTo>
                  <a:lnTo>
                    <a:pt x="2380" y="767"/>
                  </a:lnTo>
                  <a:lnTo>
                    <a:pt x="2388" y="836"/>
                  </a:lnTo>
                  <a:lnTo>
                    <a:pt x="2391" y="903"/>
                  </a:lnTo>
                  <a:lnTo>
                    <a:pt x="2382" y="970"/>
                  </a:lnTo>
                  <a:lnTo>
                    <a:pt x="2367" y="1037"/>
                  </a:lnTo>
                  <a:lnTo>
                    <a:pt x="2343" y="1102"/>
                  </a:lnTo>
                  <a:lnTo>
                    <a:pt x="2311" y="1164"/>
                  </a:lnTo>
                  <a:lnTo>
                    <a:pt x="2270" y="1225"/>
                  </a:lnTo>
                  <a:lnTo>
                    <a:pt x="2220" y="1281"/>
                  </a:lnTo>
                  <a:lnTo>
                    <a:pt x="2166" y="1335"/>
                  </a:lnTo>
                  <a:lnTo>
                    <a:pt x="2101" y="1384"/>
                  </a:lnTo>
                  <a:lnTo>
                    <a:pt x="2032" y="1430"/>
                  </a:lnTo>
                  <a:lnTo>
                    <a:pt x="1958" y="1471"/>
                  </a:lnTo>
                  <a:lnTo>
                    <a:pt x="1876" y="1508"/>
                  </a:lnTo>
                  <a:lnTo>
                    <a:pt x="1789" y="1538"/>
                  </a:lnTo>
                  <a:lnTo>
                    <a:pt x="1701" y="1564"/>
                  </a:lnTo>
                  <a:lnTo>
                    <a:pt x="1608" y="1585"/>
                  </a:lnTo>
                  <a:lnTo>
                    <a:pt x="1510" y="1598"/>
                  </a:lnTo>
                  <a:lnTo>
                    <a:pt x="1411" y="1609"/>
                  </a:lnTo>
                  <a:lnTo>
                    <a:pt x="1311" y="1611"/>
                  </a:lnTo>
                  <a:lnTo>
                    <a:pt x="1210" y="1609"/>
                  </a:lnTo>
                  <a:lnTo>
                    <a:pt x="1108" y="1600"/>
                  </a:lnTo>
                  <a:lnTo>
                    <a:pt x="1006" y="1587"/>
                  </a:lnTo>
                  <a:lnTo>
                    <a:pt x="907" y="1568"/>
                  </a:lnTo>
                  <a:lnTo>
                    <a:pt x="809" y="1542"/>
                  </a:lnTo>
                  <a:lnTo>
                    <a:pt x="716" y="1512"/>
                  </a:lnTo>
                  <a:lnTo>
                    <a:pt x="626" y="1475"/>
                  </a:lnTo>
                  <a:lnTo>
                    <a:pt x="537" y="1436"/>
                  </a:lnTo>
                  <a:lnTo>
                    <a:pt x="455" y="1391"/>
                  </a:lnTo>
                  <a:lnTo>
                    <a:pt x="379" y="1341"/>
                  </a:lnTo>
                  <a:lnTo>
                    <a:pt x="308" y="1289"/>
                  </a:lnTo>
                  <a:lnTo>
                    <a:pt x="243" y="1233"/>
                  </a:lnTo>
                  <a:lnTo>
                    <a:pt x="184" y="1173"/>
                  </a:lnTo>
                  <a:lnTo>
                    <a:pt x="134" y="1110"/>
                  </a:lnTo>
                  <a:lnTo>
                    <a:pt x="91" y="1045"/>
                  </a:lnTo>
                  <a:lnTo>
                    <a:pt x="57" y="981"/>
                  </a:lnTo>
                  <a:lnTo>
                    <a:pt x="31" y="914"/>
                  </a:lnTo>
                  <a:lnTo>
                    <a:pt x="11" y="845"/>
                  </a:lnTo>
                  <a:lnTo>
                    <a:pt x="3" y="776"/>
                  </a:lnTo>
                  <a:lnTo>
                    <a:pt x="0" y="709"/>
                  </a:lnTo>
                  <a:lnTo>
                    <a:pt x="9" y="642"/>
                  </a:lnTo>
                  <a:lnTo>
                    <a:pt x="24" y="575"/>
                  </a:lnTo>
                  <a:lnTo>
                    <a:pt x="48" y="510"/>
                  </a:lnTo>
                  <a:lnTo>
                    <a:pt x="83" y="447"/>
                  </a:lnTo>
                  <a:lnTo>
                    <a:pt x="121" y="387"/>
                  </a:lnTo>
                  <a:lnTo>
                    <a:pt x="171" y="331"/>
                  </a:lnTo>
                  <a:lnTo>
                    <a:pt x="227" y="277"/>
                  </a:lnTo>
                  <a:lnTo>
                    <a:pt x="290" y="227"/>
                  </a:lnTo>
                  <a:lnTo>
                    <a:pt x="359" y="182"/>
                  </a:lnTo>
                  <a:lnTo>
                    <a:pt x="435" y="141"/>
                  </a:lnTo>
                  <a:lnTo>
                    <a:pt x="515" y="104"/>
                  </a:lnTo>
                  <a:lnTo>
                    <a:pt x="602" y="74"/>
                  </a:lnTo>
                  <a:lnTo>
                    <a:pt x="690" y="48"/>
                  </a:lnTo>
                  <a:lnTo>
                    <a:pt x="786" y="28"/>
                  </a:lnTo>
                  <a:lnTo>
                    <a:pt x="881" y="13"/>
                  </a:lnTo>
                  <a:lnTo>
                    <a:pt x="980" y="3"/>
                  </a:lnTo>
                  <a:lnTo>
                    <a:pt x="1082" y="0"/>
                  </a:lnTo>
                  <a:lnTo>
                    <a:pt x="1181" y="3"/>
                  </a:lnTo>
                  <a:lnTo>
                    <a:pt x="1283" y="11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3309" name="Rectangle 29"/>
            <p:cNvSpPr>
              <a:spLocks noChangeArrowheads="1"/>
            </p:cNvSpPr>
            <p:nvPr/>
          </p:nvSpPr>
          <p:spPr bwMode="auto">
            <a:xfrm>
              <a:off x="1239" y="2825"/>
              <a:ext cx="1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200">
                  <a:solidFill>
                    <a:srgbClr val="FF0000"/>
                  </a:solidFill>
                </a:rPr>
                <a:t>4</a:t>
              </a:r>
              <a:endParaRPr lang="en-US"/>
            </a:p>
          </p:txBody>
        </p:sp>
      </p:grpSp>
      <p:grpSp>
        <p:nvGrpSpPr>
          <p:cNvPr id="1633310" name="Group 30"/>
          <p:cNvGrpSpPr>
            <a:grpSpLocks/>
          </p:cNvGrpSpPr>
          <p:nvPr/>
        </p:nvGrpSpPr>
        <p:grpSpPr bwMode="auto">
          <a:xfrm>
            <a:off x="307975" y="1866900"/>
            <a:ext cx="4003675" cy="3530600"/>
            <a:chOff x="194" y="975"/>
            <a:chExt cx="2522" cy="2224"/>
          </a:xfrm>
        </p:grpSpPr>
        <p:sp>
          <p:nvSpPr>
            <p:cNvPr id="1633311" name="Rectangle 31"/>
            <p:cNvSpPr>
              <a:spLocks noChangeArrowheads="1"/>
            </p:cNvSpPr>
            <p:nvPr/>
          </p:nvSpPr>
          <p:spPr bwMode="auto">
            <a:xfrm>
              <a:off x="2138" y="975"/>
              <a:ext cx="1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200">
                  <a:solidFill>
                    <a:srgbClr val="FF0000"/>
                  </a:solidFill>
                </a:rPr>
                <a:t>5</a:t>
              </a:r>
              <a:endParaRPr lang="en-US"/>
            </a:p>
          </p:txBody>
        </p:sp>
        <p:sp>
          <p:nvSpPr>
            <p:cNvPr id="1633312" name="Freeform 32"/>
            <p:cNvSpPr>
              <a:spLocks/>
            </p:cNvSpPr>
            <p:nvPr/>
          </p:nvSpPr>
          <p:spPr bwMode="auto">
            <a:xfrm>
              <a:off x="194" y="988"/>
              <a:ext cx="2522" cy="2211"/>
            </a:xfrm>
            <a:custGeom>
              <a:avLst/>
              <a:gdLst>
                <a:gd name="T0" fmla="*/ 1363 w 2522"/>
                <a:gd name="T1" fmla="*/ 4 h 2211"/>
                <a:gd name="T2" fmla="*/ 1568 w 2522"/>
                <a:gd name="T3" fmla="*/ 34 h 2211"/>
                <a:gd name="T4" fmla="*/ 1765 w 2522"/>
                <a:gd name="T5" fmla="*/ 92 h 2211"/>
                <a:gd name="T6" fmla="*/ 1949 w 2522"/>
                <a:gd name="T7" fmla="*/ 179 h 2211"/>
                <a:gd name="T8" fmla="*/ 2113 w 2522"/>
                <a:gd name="T9" fmla="*/ 291 h 2211"/>
                <a:gd name="T10" fmla="*/ 2254 w 2522"/>
                <a:gd name="T11" fmla="*/ 425 h 2211"/>
                <a:gd name="T12" fmla="*/ 2368 w 2522"/>
                <a:gd name="T13" fmla="*/ 578 h 2211"/>
                <a:gd name="T14" fmla="*/ 2453 w 2522"/>
                <a:gd name="T15" fmla="*/ 744 h 2211"/>
                <a:gd name="T16" fmla="*/ 2505 w 2522"/>
                <a:gd name="T17" fmla="*/ 922 h 2211"/>
                <a:gd name="T18" fmla="*/ 2522 w 2522"/>
                <a:gd name="T19" fmla="*/ 1103 h 2211"/>
                <a:gd name="T20" fmla="*/ 2505 w 2522"/>
                <a:gd name="T21" fmla="*/ 1284 h 2211"/>
                <a:gd name="T22" fmla="*/ 2453 w 2522"/>
                <a:gd name="T23" fmla="*/ 1461 h 2211"/>
                <a:gd name="T24" fmla="*/ 2371 w 2522"/>
                <a:gd name="T25" fmla="*/ 1630 h 2211"/>
                <a:gd name="T26" fmla="*/ 2256 w 2522"/>
                <a:gd name="T27" fmla="*/ 1783 h 2211"/>
                <a:gd name="T28" fmla="*/ 2115 w 2522"/>
                <a:gd name="T29" fmla="*/ 1917 h 2211"/>
                <a:gd name="T30" fmla="*/ 1951 w 2522"/>
                <a:gd name="T31" fmla="*/ 2029 h 2211"/>
                <a:gd name="T32" fmla="*/ 1769 w 2522"/>
                <a:gd name="T33" fmla="*/ 2118 h 2211"/>
                <a:gd name="T34" fmla="*/ 1572 w 2522"/>
                <a:gd name="T35" fmla="*/ 2176 h 2211"/>
                <a:gd name="T36" fmla="*/ 1367 w 2522"/>
                <a:gd name="T37" fmla="*/ 2206 h 2211"/>
                <a:gd name="T38" fmla="*/ 1159 w 2522"/>
                <a:gd name="T39" fmla="*/ 2206 h 2211"/>
                <a:gd name="T40" fmla="*/ 954 w 2522"/>
                <a:gd name="T41" fmla="*/ 2178 h 2211"/>
                <a:gd name="T42" fmla="*/ 755 w 2522"/>
                <a:gd name="T43" fmla="*/ 2118 h 2211"/>
                <a:gd name="T44" fmla="*/ 573 w 2522"/>
                <a:gd name="T45" fmla="*/ 2031 h 2211"/>
                <a:gd name="T46" fmla="*/ 409 w 2522"/>
                <a:gd name="T47" fmla="*/ 1919 h 2211"/>
                <a:gd name="T48" fmla="*/ 266 w 2522"/>
                <a:gd name="T49" fmla="*/ 1785 h 2211"/>
                <a:gd name="T50" fmla="*/ 151 w 2522"/>
                <a:gd name="T51" fmla="*/ 1634 h 2211"/>
                <a:gd name="T52" fmla="*/ 69 w 2522"/>
                <a:gd name="T53" fmla="*/ 1466 h 2211"/>
                <a:gd name="T54" fmla="*/ 17 w 2522"/>
                <a:gd name="T55" fmla="*/ 1289 h 2211"/>
                <a:gd name="T56" fmla="*/ 0 w 2522"/>
                <a:gd name="T57" fmla="*/ 1107 h 2211"/>
                <a:gd name="T58" fmla="*/ 17 w 2522"/>
                <a:gd name="T59" fmla="*/ 926 h 2211"/>
                <a:gd name="T60" fmla="*/ 67 w 2522"/>
                <a:gd name="T61" fmla="*/ 749 h 2211"/>
                <a:gd name="T62" fmla="*/ 151 w 2522"/>
                <a:gd name="T63" fmla="*/ 580 h 2211"/>
                <a:gd name="T64" fmla="*/ 264 w 2522"/>
                <a:gd name="T65" fmla="*/ 429 h 2211"/>
                <a:gd name="T66" fmla="*/ 404 w 2522"/>
                <a:gd name="T67" fmla="*/ 293 h 2211"/>
                <a:gd name="T68" fmla="*/ 569 w 2522"/>
                <a:gd name="T69" fmla="*/ 181 h 2211"/>
                <a:gd name="T70" fmla="*/ 753 w 2522"/>
                <a:gd name="T71" fmla="*/ 95 h 2211"/>
                <a:gd name="T72" fmla="*/ 949 w 2522"/>
                <a:gd name="T73" fmla="*/ 34 h 2211"/>
                <a:gd name="T74" fmla="*/ 1155 w 2522"/>
                <a:gd name="T75" fmla="*/ 4 h 2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522" h="2211">
                  <a:moveTo>
                    <a:pt x="1259" y="0"/>
                  </a:moveTo>
                  <a:lnTo>
                    <a:pt x="1363" y="4"/>
                  </a:lnTo>
                  <a:lnTo>
                    <a:pt x="1466" y="15"/>
                  </a:lnTo>
                  <a:lnTo>
                    <a:pt x="1568" y="34"/>
                  </a:lnTo>
                  <a:lnTo>
                    <a:pt x="1668" y="60"/>
                  </a:lnTo>
                  <a:lnTo>
                    <a:pt x="1765" y="92"/>
                  </a:lnTo>
                  <a:lnTo>
                    <a:pt x="1858" y="131"/>
                  </a:lnTo>
                  <a:lnTo>
                    <a:pt x="1949" y="179"/>
                  </a:lnTo>
                  <a:lnTo>
                    <a:pt x="2033" y="233"/>
                  </a:lnTo>
                  <a:lnTo>
                    <a:pt x="2113" y="291"/>
                  </a:lnTo>
                  <a:lnTo>
                    <a:pt x="2187" y="356"/>
                  </a:lnTo>
                  <a:lnTo>
                    <a:pt x="2254" y="425"/>
                  </a:lnTo>
                  <a:lnTo>
                    <a:pt x="2314" y="498"/>
                  </a:lnTo>
                  <a:lnTo>
                    <a:pt x="2368" y="578"/>
                  </a:lnTo>
                  <a:lnTo>
                    <a:pt x="2414" y="660"/>
                  </a:lnTo>
                  <a:lnTo>
                    <a:pt x="2453" y="744"/>
                  </a:lnTo>
                  <a:lnTo>
                    <a:pt x="2483" y="831"/>
                  </a:lnTo>
                  <a:lnTo>
                    <a:pt x="2505" y="922"/>
                  </a:lnTo>
                  <a:lnTo>
                    <a:pt x="2518" y="1012"/>
                  </a:lnTo>
                  <a:lnTo>
                    <a:pt x="2522" y="1103"/>
                  </a:lnTo>
                  <a:lnTo>
                    <a:pt x="2518" y="1194"/>
                  </a:lnTo>
                  <a:lnTo>
                    <a:pt x="2505" y="1284"/>
                  </a:lnTo>
                  <a:lnTo>
                    <a:pt x="2483" y="1375"/>
                  </a:lnTo>
                  <a:lnTo>
                    <a:pt x="2453" y="1461"/>
                  </a:lnTo>
                  <a:lnTo>
                    <a:pt x="2416" y="1548"/>
                  </a:lnTo>
                  <a:lnTo>
                    <a:pt x="2371" y="1630"/>
                  </a:lnTo>
                  <a:lnTo>
                    <a:pt x="2317" y="1707"/>
                  </a:lnTo>
                  <a:lnTo>
                    <a:pt x="2256" y="1783"/>
                  </a:lnTo>
                  <a:lnTo>
                    <a:pt x="2189" y="1852"/>
                  </a:lnTo>
                  <a:lnTo>
                    <a:pt x="2115" y="1917"/>
                  </a:lnTo>
                  <a:lnTo>
                    <a:pt x="2037" y="1975"/>
                  </a:lnTo>
                  <a:lnTo>
                    <a:pt x="1951" y="2029"/>
                  </a:lnTo>
                  <a:lnTo>
                    <a:pt x="1862" y="2077"/>
                  </a:lnTo>
                  <a:lnTo>
                    <a:pt x="1769" y="2118"/>
                  </a:lnTo>
                  <a:lnTo>
                    <a:pt x="1672" y="2150"/>
                  </a:lnTo>
                  <a:lnTo>
                    <a:pt x="1572" y="2176"/>
                  </a:lnTo>
                  <a:lnTo>
                    <a:pt x="1471" y="2195"/>
                  </a:lnTo>
                  <a:lnTo>
                    <a:pt x="1367" y="2206"/>
                  </a:lnTo>
                  <a:lnTo>
                    <a:pt x="1263" y="2211"/>
                  </a:lnTo>
                  <a:lnTo>
                    <a:pt x="1159" y="2206"/>
                  </a:lnTo>
                  <a:lnTo>
                    <a:pt x="1055" y="2195"/>
                  </a:lnTo>
                  <a:lnTo>
                    <a:pt x="954" y="2178"/>
                  </a:lnTo>
                  <a:lnTo>
                    <a:pt x="852" y="2152"/>
                  </a:lnTo>
                  <a:lnTo>
                    <a:pt x="755" y="2118"/>
                  </a:lnTo>
                  <a:lnTo>
                    <a:pt x="662" y="2079"/>
                  </a:lnTo>
                  <a:lnTo>
                    <a:pt x="573" y="2031"/>
                  </a:lnTo>
                  <a:lnTo>
                    <a:pt x="486" y="1980"/>
                  </a:lnTo>
                  <a:lnTo>
                    <a:pt x="409" y="1919"/>
                  </a:lnTo>
                  <a:lnTo>
                    <a:pt x="333" y="1856"/>
                  </a:lnTo>
                  <a:lnTo>
                    <a:pt x="266" y="1785"/>
                  </a:lnTo>
                  <a:lnTo>
                    <a:pt x="205" y="1712"/>
                  </a:lnTo>
                  <a:lnTo>
                    <a:pt x="151" y="1634"/>
                  </a:lnTo>
                  <a:lnTo>
                    <a:pt x="106" y="1552"/>
                  </a:lnTo>
                  <a:lnTo>
                    <a:pt x="69" y="1466"/>
                  </a:lnTo>
                  <a:lnTo>
                    <a:pt x="39" y="1379"/>
                  </a:lnTo>
                  <a:lnTo>
                    <a:pt x="17" y="1289"/>
                  </a:lnTo>
                  <a:lnTo>
                    <a:pt x="4" y="1198"/>
                  </a:lnTo>
                  <a:lnTo>
                    <a:pt x="0" y="1107"/>
                  </a:lnTo>
                  <a:lnTo>
                    <a:pt x="4" y="1017"/>
                  </a:lnTo>
                  <a:lnTo>
                    <a:pt x="17" y="926"/>
                  </a:lnTo>
                  <a:lnTo>
                    <a:pt x="37" y="835"/>
                  </a:lnTo>
                  <a:lnTo>
                    <a:pt x="67" y="749"/>
                  </a:lnTo>
                  <a:lnTo>
                    <a:pt x="106" y="662"/>
                  </a:lnTo>
                  <a:lnTo>
                    <a:pt x="151" y="580"/>
                  </a:lnTo>
                  <a:lnTo>
                    <a:pt x="203" y="503"/>
                  </a:lnTo>
                  <a:lnTo>
                    <a:pt x="264" y="429"/>
                  </a:lnTo>
                  <a:lnTo>
                    <a:pt x="331" y="358"/>
                  </a:lnTo>
                  <a:lnTo>
                    <a:pt x="404" y="293"/>
                  </a:lnTo>
                  <a:lnTo>
                    <a:pt x="484" y="235"/>
                  </a:lnTo>
                  <a:lnTo>
                    <a:pt x="569" y="181"/>
                  </a:lnTo>
                  <a:lnTo>
                    <a:pt x="660" y="133"/>
                  </a:lnTo>
                  <a:lnTo>
                    <a:pt x="753" y="95"/>
                  </a:lnTo>
                  <a:lnTo>
                    <a:pt x="850" y="60"/>
                  </a:lnTo>
                  <a:lnTo>
                    <a:pt x="949" y="34"/>
                  </a:lnTo>
                  <a:lnTo>
                    <a:pt x="1051" y="15"/>
                  </a:lnTo>
                  <a:lnTo>
                    <a:pt x="1155" y="4"/>
                  </a:lnTo>
                  <a:lnTo>
                    <a:pt x="125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633313" name="Picture 3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967162"/>
            <a:ext cx="438785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513519"/>
              </p:ext>
            </p:extLst>
          </p:nvPr>
        </p:nvGraphicFramePr>
        <p:xfrm>
          <a:off x="5410200" y="1371599"/>
          <a:ext cx="3219451" cy="23469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4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5029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003613"/>
              </p:ext>
            </p:extLst>
          </p:nvPr>
        </p:nvGraphicFramePr>
        <p:xfrm>
          <a:off x="5410200" y="1371600"/>
          <a:ext cx="3219451" cy="23469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4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5029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955477"/>
              </p:ext>
            </p:extLst>
          </p:nvPr>
        </p:nvGraphicFramePr>
        <p:xfrm>
          <a:off x="5410200" y="1393190"/>
          <a:ext cx="3219451" cy="23469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4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5029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7" name="Table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762177"/>
              </p:ext>
            </p:extLst>
          </p:nvPr>
        </p:nvGraphicFramePr>
        <p:xfrm>
          <a:off x="5410200" y="1386840"/>
          <a:ext cx="3219451" cy="23469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4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5029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092660"/>
              </p:ext>
            </p:extLst>
          </p:nvPr>
        </p:nvGraphicFramePr>
        <p:xfrm>
          <a:off x="5410200" y="1398205"/>
          <a:ext cx="3219451" cy="23469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4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5029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9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0120132"/>
              </p:ext>
            </p:extLst>
          </p:nvPr>
        </p:nvGraphicFramePr>
        <p:xfrm>
          <a:off x="5410200" y="1377315"/>
          <a:ext cx="3219451" cy="23469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4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5029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47" name="Straight Connector 46"/>
          <p:cNvCxnSpPr>
            <a:stCxn id="1633286" idx="10"/>
            <a:endCxn id="1633290" idx="1"/>
          </p:cNvCxnSpPr>
          <p:nvPr/>
        </p:nvCxnSpPr>
        <p:spPr>
          <a:xfrm>
            <a:off x="1822451" y="3309938"/>
            <a:ext cx="803275" cy="414337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1633290" idx="13"/>
            <a:endCxn id="1633288" idx="6"/>
          </p:cNvCxnSpPr>
          <p:nvPr/>
        </p:nvCxnSpPr>
        <p:spPr>
          <a:xfrm flipH="1">
            <a:off x="2176463" y="3816350"/>
            <a:ext cx="487363" cy="781050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1633287" idx="12"/>
            <a:endCxn id="1633290" idx="5"/>
          </p:cNvCxnSpPr>
          <p:nvPr/>
        </p:nvCxnSpPr>
        <p:spPr>
          <a:xfrm flipH="1">
            <a:off x="2717801" y="2311400"/>
            <a:ext cx="360363" cy="1374775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1633286" idx="11"/>
            <a:endCxn id="1633288" idx="3"/>
          </p:cNvCxnSpPr>
          <p:nvPr/>
        </p:nvCxnSpPr>
        <p:spPr>
          <a:xfrm>
            <a:off x="1798639" y="3325813"/>
            <a:ext cx="301624" cy="1258887"/>
          </a:xfrm>
          <a:prstGeom prst="line">
            <a:avLst/>
          </a:prstGeom>
          <a:ln w="1905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5266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3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3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3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328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3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33400"/>
            <a:ext cx="8280400" cy="1066800"/>
          </a:xfrm>
        </p:spPr>
        <p:txBody>
          <a:bodyPr>
            <a:normAutofit/>
          </a:bodyPr>
          <a:lstStyle/>
          <a:p>
            <a:r>
              <a:rPr lang="en-US" dirty="0"/>
              <a:t>Strength of MIN</a:t>
            </a:r>
          </a:p>
        </p:txBody>
      </p:sp>
      <p:sp>
        <p:nvSpPr>
          <p:cNvPr id="1634307" name="Text Box 3"/>
          <p:cNvSpPr txBox="1">
            <a:spLocks noChangeArrowheads="1"/>
          </p:cNvSpPr>
          <p:nvPr/>
        </p:nvSpPr>
        <p:spPr bwMode="auto">
          <a:xfrm>
            <a:off x="1066800" y="42672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Original Points</a:t>
            </a:r>
          </a:p>
        </p:txBody>
      </p:sp>
      <p:grpSp>
        <p:nvGrpSpPr>
          <p:cNvPr id="1634308" name="Group 4"/>
          <p:cNvGrpSpPr>
            <a:grpSpLocks/>
          </p:cNvGrpSpPr>
          <p:nvPr/>
        </p:nvGrpSpPr>
        <p:grpSpPr bwMode="auto">
          <a:xfrm>
            <a:off x="4876800" y="1981200"/>
            <a:ext cx="4103688" cy="2652713"/>
            <a:chOff x="3072" y="1248"/>
            <a:chExt cx="2585" cy="1671"/>
          </a:xfrm>
        </p:grpSpPr>
        <p:sp>
          <p:nvSpPr>
            <p:cNvPr id="1634309" name="Text Box 5"/>
            <p:cNvSpPr txBox="1">
              <a:spLocks noChangeArrowheads="1"/>
            </p:cNvSpPr>
            <p:nvPr/>
          </p:nvSpPr>
          <p:spPr bwMode="auto">
            <a:xfrm>
              <a:off x="3408" y="2688"/>
              <a:ext cx="14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/>
                <a:t>Two Clusters</a:t>
              </a:r>
            </a:p>
          </p:txBody>
        </p:sp>
        <p:pic>
          <p:nvPicPr>
            <p:cNvPr id="1634310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928" r="7143"/>
            <a:stretch>
              <a:fillRect/>
            </a:stretch>
          </p:blipFill>
          <p:spPr bwMode="auto">
            <a:xfrm>
              <a:off x="3072" y="1248"/>
              <a:ext cx="2585" cy="1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63431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5357"/>
          <a:stretch>
            <a:fillRect/>
          </a:stretch>
        </p:blipFill>
        <p:spPr bwMode="auto">
          <a:xfrm>
            <a:off x="152400" y="1981200"/>
            <a:ext cx="4186238" cy="209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34312" name="Text Box 8"/>
          <p:cNvSpPr txBox="1">
            <a:spLocks noChangeArrowheads="1"/>
          </p:cNvSpPr>
          <p:nvPr/>
        </p:nvSpPr>
        <p:spPr bwMode="auto">
          <a:xfrm>
            <a:off x="609600" y="5576888"/>
            <a:ext cx="6324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sz="1800"/>
              <a:t> Can handle non-elliptical shapes</a:t>
            </a:r>
          </a:p>
        </p:txBody>
      </p:sp>
    </p:spTree>
    <p:extLst>
      <p:ext uri="{BB962C8B-B14F-4D97-AF65-F5344CB8AC3E}">
        <p14:creationId xmlns:p14="http://schemas.microsoft.com/office/powerpoint/2010/main" val="3862026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4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4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4312" grpId="0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330" name="Rectangle 2"/>
          <p:cNvSpPr>
            <a:spLocks noGrp="1" noChangeArrowheads="1"/>
          </p:cNvSpPr>
          <p:nvPr>
            <p:ph type="title"/>
          </p:nvPr>
        </p:nvSpPr>
        <p:spPr>
          <a:xfrm>
            <a:off x="254000" y="457200"/>
            <a:ext cx="8280400" cy="1066800"/>
          </a:xfrm>
        </p:spPr>
        <p:txBody>
          <a:bodyPr>
            <a:normAutofit/>
          </a:bodyPr>
          <a:lstStyle/>
          <a:p>
            <a:r>
              <a:rPr lang="en-US" dirty="0"/>
              <a:t>Limitations of MIN</a:t>
            </a:r>
          </a:p>
        </p:txBody>
      </p:sp>
      <p:sp>
        <p:nvSpPr>
          <p:cNvPr id="1635331" name="Text Box 3"/>
          <p:cNvSpPr txBox="1">
            <a:spLocks noChangeArrowheads="1"/>
          </p:cNvSpPr>
          <p:nvPr/>
        </p:nvSpPr>
        <p:spPr bwMode="auto">
          <a:xfrm>
            <a:off x="1066800" y="47244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Original Points</a:t>
            </a:r>
          </a:p>
        </p:txBody>
      </p:sp>
      <p:pic>
        <p:nvPicPr>
          <p:cNvPr id="163533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0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635333" name="Group 5"/>
          <p:cNvGrpSpPr>
            <a:grpSpLocks/>
          </p:cNvGrpSpPr>
          <p:nvPr/>
        </p:nvGrpSpPr>
        <p:grpSpPr bwMode="auto">
          <a:xfrm>
            <a:off x="4265613" y="1524000"/>
            <a:ext cx="4268787" cy="3567113"/>
            <a:chOff x="2496" y="960"/>
            <a:chExt cx="2689" cy="2247"/>
          </a:xfrm>
        </p:grpSpPr>
        <p:sp>
          <p:nvSpPr>
            <p:cNvPr id="1635334" name="Text Box 6"/>
            <p:cNvSpPr txBox="1">
              <a:spLocks noChangeArrowheads="1"/>
            </p:cNvSpPr>
            <p:nvPr/>
          </p:nvSpPr>
          <p:spPr bwMode="auto">
            <a:xfrm>
              <a:off x="3072" y="2976"/>
              <a:ext cx="18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/>
                <a:t>Two Clusters</a:t>
              </a:r>
            </a:p>
          </p:txBody>
        </p:sp>
        <p:pic>
          <p:nvPicPr>
            <p:cNvPr id="1635335" name="Picture 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6" y="960"/>
              <a:ext cx="2689" cy="20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635336" name="Text Box 8"/>
          <p:cNvSpPr txBox="1">
            <a:spLocks noChangeArrowheads="1"/>
          </p:cNvSpPr>
          <p:nvPr/>
        </p:nvSpPr>
        <p:spPr bwMode="auto">
          <a:xfrm>
            <a:off x="609600" y="5576888"/>
            <a:ext cx="6324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sz="1800"/>
              <a:t> Sensitive to noise and outliers</a:t>
            </a:r>
          </a:p>
        </p:txBody>
      </p:sp>
    </p:spTree>
    <p:extLst>
      <p:ext uri="{BB962C8B-B14F-4D97-AF65-F5344CB8AC3E}">
        <p14:creationId xmlns:p14="http://schemas.microsoft.com/office/powerpoint/2010/main" val="383489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5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5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5336" grpId="0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378" name="Rectangle 2"/>
          <p:cNvSpPr>
            <a:spLocks noGrp="1" noChangeArrowheads="1"/>
          </p:cNvSpPr>
          <p:nvPr>
            <p:ph type="title"/>
          </p:nvPr>
        </p:nvSpPr>
        <p:spPr>
          <a:xfrm>
            <a:off x="360363" y="490538"/>
            <a:ext cx="8280400" cy="1066800"/>
          </a:xfrm>
        </p:spPr>
        <p:txBody>
          <a:bodyPr>
            <a:normAutofit/>
          </a:bodyPr>
          <a:lstStyle/>
          <a:p>
            <a:r>
              <a:rPr lang="en-US" dirty="0"/>
              <a:t>Hierarchical Clustering: MAX</a:t>
            </a:r>
          </a:p>
        </p:txBody>
      </p:sp>
      <p:sp>
        <p:nvSpPr>
          <p:cNvPr id="1637379" name="Text Box 3"/>
          <p:cNvSpPr txBox="1">
            <a:spLocks noChangeArrowheads="1"/>
          </p:cNvSpPr>
          <p:nvPr/>
        </p:nvSpPr>
        <p:spPr bwMode="auto">
          <a:xfrm>
            <a:off x="1098550" y="5653088"/>
            <a:ext cx="3352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Nested Clusters</a:t>
            </a:r>
          </a:p>
        </p:txBody>
      </p:sp>
      <p:sp>
        <p:nvSpPr>
          <p:cNvPr id="1637380" name="Text Box 4"/>
          <p:cNvSpPr txBox="1">
            <a:spLocks noChangeArrowheads="1"/>
          </p:cNvSpPr>
          <p:nvPr/>
        </p:nvSpPr>
        <p:spPr bwMode="auto">
          <a:xfrm>
            <a:off x="3467326" y="5653088"/>
            <a:ext cx="1797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 err="1"/>
              <a:t>Dendrogram</a:t>
            </a:r>
            <a:endParaRPr lang="en-US" sz="1800" dirty="0"/>
          </a:p>
        </p:txBody>
      </p:sp>
      <p:pic>
        <p:nvPicPr>
          <p:cNvPr id="163738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89829"/>
            <a:ext cx="438785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637382" name="Group 6"/>
          <p:cNvGrpSpPr>
            <a:grpSpLocks/>
          </p:cNvGrpSpPr>
          <p:nvPr/>
        </p:nvGrpSpPr>
        <p:grpSpPr bwMode="auto">
          <a:xfrm>
            <a:off x="792163" y="2128838"/>
            <a:ext cx="2998787" cy="2687637"/>
            <a:chOff x="383" y="1437"/>
            <a:chExt cx="1889" cy="1693"/>
          </a:xfrm>
        </p:grpSpPr>
        <p:sp>
          <p:nvSpPr>
            <p:cNvPr id="1637383" name="Freeform 7"/>
            <p:cNvSpPr>
              <a:spLocks/>
            </p:cNvSpPr>
            <p:nvPr/>
          </p:nvSpPr>
          <p:spPr bwMode="auto">
            <a:xfrm>
              <a:off x="974" y="2118"/>
              <a:ext cx="87" cy="87"/>
            </a:xfrm>
            <a:custGeom>
              <a:avLst/>
              <a:gdLst>
                <a:gd name="T0" fmla="*/ 0 w 87"/>
                <a:gd name="T1" fmla="*/ 43 h 87"/>
                <a:gd name="T2" fmla="*/ 4 w 87"/>
                <a:gd name="T3" fmla="*/ 26 h 87"/>
                <a:gd name="T4" fmla="*/ 13 w 87"/>
                <a:gd name="T5" fmla="*/ 13 h 87"/>
                <a:gd name="T6" fmla="*/ 28 w 87"/>
                <a:gd name="T7" fmla="*/ 2 h 87"/>
                <a:gd name="T8" fmla="*/ 45 w 87"/>
                <a:gd name="T9" fmla="*/ 0 h 87"/>
                <a:gd name="T10" fmla="*/ 62 w 87"/>
                <a:gd name="T11" fmla="*/ 2 h 87"/>
                <a:gd name="T12" fmla="*/ 75 w 87"/>
                <a:gd name="T13" fmla="*/ 13 h 87"/>
                <a:gd name="T14" fmla="*/ 85 w 87"/>
                <a:gd name="T15" fmla="*/ 26 h 87"/>
                <a:gd name="T16" fmla="*/ 87 w 87"/>
                <a:gd name="T17" fmla="*/ 43 h 87"/>
                <a:gd name="T18" fmla="*/ 85 w 87"/>
                <a:gd name="T19" fmla="*/ 60 h 87"/>
                <a:gd name="T20" fmla="*/ 75 w 87"/>
                <a:gd name="T21" fmla="*/ 75 h 87"/>
                <a:gd name="T22" fmla="*/ 62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5 h 87"/>
                <a:gd name="T30" fmla="*/ 4 w 87"/>
                <a:gd name="T31" fmla="*/ 60 h 87"/>
                <a:gd name="T32" fmla="*/ 0 w 87"/>
                <a:gd name="T33" fmla="*/ 4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5" y="13"/>
                  </a:lnTo>
                  <a:lnTo>
                    <a:pt x="85" y="26"/>
                  </a:lnTo>
                  <a:lnTo>
                    <a:pt x="87" y="43"/>
                  </a:lnTo>
                  <a:lnTo>
                    <a:pt x="85" y="60"/>
                  </a:lnTo>
                  <a:lnTo>
                    <a:pt x="75" y="75"/>
                  </a:lnTo>
                  <a:lnTo>
                    <a:pt x="62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7384" name="Freeform 8"/>
            <p:cNvSpPr>
              <a:spLocks/>
            </p:cNvSpPr>
            <p:nvPr/>
          </p:nvSpPr>
          <p:spPr bwMode="auto">
            <a:xfrm>
              <a:off x="1782" y="1488"/>
              <a:ext cx="87" cy="87"/>
            </a:xfrm>
            <a:custGeom>
              <a:avLst/>
              <a:gdLst>
                <a:gd name="T0" fmla="*/ 0 w 87"/>
                <a:gd name="T1" fmla="*/ 43 h 87"/>
                <a:gd name="T2" fmla="*/ 4 w 87"/>
                <a:gd name="T3" fmla="*/ 26 h 87"/>
                <a:gd name="T4" fmla="*/ 13 w 87"/>
                <a:gd name="T5" fmla="*/ 13 h 87"/>
                <a:gd name="T6" fmla="*/ 28 w 87"/>
                <a:gd name="T7" fmla="*/ 3 h 87"/>
                <a:gd name="T8" fmla="*/ 45 w 87"/>
                <a:gd name="T9" fmla="*/ 0 h 87"/>
                <a:gd name="T10" fmla="*/ 60 w 87"/>
                <a:gd name="T11" fmla="*/ 3 h 87"/>
                <a:gd name="T12" fmla="*/ 74 w 87"/>
                <a:gd name="T13" fmla="*/ 13 h 87"/>
                <a:gd name="T14" fmla="*/ 85 w 87"/>
                <a:gd name="T15" fmla="*/ 26 h 87"/>
                <a:gd name="T16" fmla="*/ 87 w 87"/>
                <a:gd name="T17" fmla="*/ 43 h 87"/>
                <a:gd name="T18" fmla="*/ 85 w 87"/>
                <a:gd name="T19" fmla="*/ 60 h 87"/>
                <a:gd name="T20" fmla="*/ 74 w 87"/>
                <a:gd name="T21" fmla="*/ 75 h 87"/>
                <a:gd name="T22" fmla="*/ 60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5 h 87"/>
                <a:gd name="T30" fmla="*/ 4 w 87"/>
                <a:gd name="T31" fmla="*/ 60 h 87"/>
                <a:gd name="T32" fmla="*/ 0 w 87"/>
                <a:gd name="T33" fmla="*/ 4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3"/>
                  </a:lnTo>
                  <a:lnTo>
                    <a:pt x="45" y="0"/>
                  </a:lnTo>
                  <a:lnTo>
                    <a:pt x="60" y="3"/>
                  </a:lnTo>
                  <a:lnTo>
                    <a:pt x="74" y="13"/>
                  </a:lnTo>
                  <a:lnTo>
                    <a:pt x="85" y="26"/>
                  </a:lnTo>
                  <a:lnTo>
                    <a:pt x="87" y="43"/>
                  </a:lnTo>
                  <a:lnTo>
                    <a:pt x="85" y="60"/>
                  </a:lnTo>
                  <a:lnTo>
                    <a:pt x="74" y="75"/>
                  </a:lnTo>
                  <a:lnTo>
                    <a:pt x="60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7385" name="Freeform 9"/>
            <p:cNvSpPr>
              <a:spLocks/>
            </p:cNvSpPr>
            <p:nvPr/>
          </p:nvSpPr>
          <p:spPr bwMode="auto">
            <a:xfrm>
              <a:off x="1193" y="2975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4 h 87"/>
                <a:gd name="T8" fmla="*/ 45 w 87"/>
                <a:gd name="T9" fmla="*/ 0 h 87"/>
                <a:gd name="T10" fmla="*/ 62 w 87"/>
                <a:gd name="T11" fmla="*/ 4 h 87"/>
                <a:gd name="T12" fmla="*/ 75 w 87"/>
                <a:gd name="T13" fmla="*/ 13 h 87"/>
                <a:gd name="T14" fmla="*/ 85 w 87"/>
                <a:gd name="T15" fmla="*/ 28 h 87"/>
                <a:gd name="T16" fmla="*/ 87 w 87"/>
                <a:gd name="T17" fmla="*/ 45 h 87"/>
                <a:gd name="T18" fmla="*/ 85 w 87"/>
                <a:gd name="T19" fmla="*/ 62 h 87"/>
                <a:gd name="T20" fmla="*/ 75 w 87"/>
                <a:gd name="T21" fmla="*/ 74 h 87"/>
                <a:gd name="T22" fmla="*/ 62 w 87"/>
                <a:gd name="T23" fmla="*/ 85 h 87"/>
                <a:gd name="T24" fmla="*/ 45 w 87"/>
                <a:gd name="T25" fmla="*/ 87 h 87"/>
                <a:gd name="T26" fmla="*/ 28 w 87"/>
                <a:gd name="T27" fmla="*/ 85 h 87"/>
                <a:gd name="T28" fmla="*/ 13 w 87"/>
                <a:gd name="T29" fmla="*/ 74 h 87"/>
                <a:gd name="T30" fmla="*/ 4 w 87"/>
                <a:gd name="T31" fmla="*/ 62 h 87"/>
                <a:gd name="T32" fmla="*/ 0 w 87"/>
                <a:gd name="T33" fmla="*/ 45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2" y="4"/>
                  </a:lnTo>
                  <a:lnTo>
                    <a:pt x="75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5" y="74"/>
                  </a:lnTo>
                  <a:lnTo>
                    <a:pt x="62" y="85"/>
                  </a:lnTo>
                  <a:lnTo>
                    <a:pt x="45" y="87"/>
                  </a:lnTo>
                  <a:lnTo>
                    <a:pt x="28" y="85"/>
                  </a:lnTo>
                  <a:lnTo>
                    <a:pt x="13" y="74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7386" name="Freeform 10"/>
            <p:cNvSpPr>
              <a:spLocks/>
            </p:cNvSpPr>
            <p:nvPr/>
          </p:nvSpPr>
          <p:spPr bwMode="auto">
            <a:xfrm>
              <a:off x="383" y="1993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4 h 87"/>
                <a:gd name="T8" fmla="*/ 45 w 87"/>
                <a:gd name="T9" fmla="*/ 0 h 87"/>
                <a:gd name="T10" fmla="*/ 62 w 87"/>
                <a:gd name="T11" fmla="*/ 4 h 87"/>
                <a:gd name="T12" fmla="*/ 74 w 87"/>
                <a:gd name="T13" fmla="*/ 13 h 87"/>
                <a:gd name="T14" fmla="*/ 85 w 87"/>
                <a:gd name="T15" fmla="*/ 28 h 87"/>
                <a:gd name="T16" fmla="*/ 87 w 87"/>
                <a:gd name="T17" fmla="*/ 45 h 87"/>
                <a:gd name="T18" fmla="*/ 85 w 87"/>
                <a:gd name="T19" fmla="*/ 62 h 87"/>
                <a:gd name="T20" fmla="*/ 74 w 87"/>
                <a:gd name="T21" fmla="*/ 74 h 87"/>
                <a:gd name="T22" fmla="*/ 62 w 87"/>
                <a:gd name="T23" fmla="*/ 85 h 87"/>
                <a:gd name="T24" fmla="*/ 45 w 87"/>
                <a:gd name="T25" fmla="*/ 87 h 87"/>
                <a:gd name="T26" fmla="*/ 28 w 87"/>
                <a:gd name="T27" fmla="*/ 85 h 87"/>
                <a:gd name="T28" fmla="*/ 13 w 87"/>
                <a:gd name="T29" fmla="*/ 74 h 87"/>
                <a:gd name="T30" fmla="*/ 4 w 87"/>
                <a:gd name="T31" fmla="*/ 62 h 87"/>
                <a:gd name="T32" fmla="*/ 0 w 87"/>
                <a:gd name="T33" fmla="*/ 45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2" y="4"/>
                  </a:lnTo>
                  <a:lnTo>
                    <a:pt x="74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4" y="74"/>
                  </a:lnTo>
                  <a:lnTo>
                    <a:pt x="62" y="85"/>
                  </a:lnTo>
                  <a:lnTo>
                    <a:pt x="45" y="87"/>
                  </a:lnTo>
                  <a:lnTo>
                    <a:pt x="28" y="85"/>
                  </a:lnTo>
                  <a:lnTo>
                    <a:pt x="13" y="74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7387" name="Freeform 11"/>
            <p:cNvSpPr>
              <a:spLocks/>
            </p:cNvSpPr>
            <p:nvPr/>
          </p:nvSpPr>
          <p:spPr bwMode="auto">
            <a:xfrm>
              <a:off x="1544" y="2419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5 h 87"/>
                <a:gd name="T8" fmla="*/ 42 w 87"/>
                <a:gd name="T9" fmla="*/ 0 h 87"/>
                <a:gd name="T10" fmla="*/ 59 w 87"/>
                <a:gd name="T11" fmla="*/ 5 h 87"/>
                <a:gd name="T12" fmla="*/ 74 w 87"/>
                <a:gd name="T13" fmla="*/ 13 h 87"/>
                <a:gd name="T14" fmla="*/ 83 w 87"/>
                <a:gd name="T15" fmla="*/ 28 h 87"/>
                <a:gd name="T16" fmla="*/ 87 w 87"/>
                <a:gd name="T17" fmla="*/ 45 h 87"/>
                <a:gd name="T18" fmla="*/ 83 w 87"/>
                <a:gd name="T19" fmla="*/ 62 h 87"/>
                <a:gd name="T20" fmla="*/ 74 w 87"/>
                <a:gd name="T21" fmla="*/ 75 h 87"/>
                <a:gd name="T22" fmla="*/ 59 w 87"/>
                <a:gd name="T23" fmla="*/ 85 h 87"/>
                <a:gd name="T24" fmla="*/ 42 w 87"/>
                <a:gd name="T25" fmla="*/ 87 h 87"/>
                <a:gd name="T26" fmla="*/ 28 w 87"/>
                <a:gd name="T27" fmla="*/ 85 h 87"/>
                <a:gd name="T28" fmla="*/ 13 w 87"/>
                <a:gd name="T29" fmla="*/ 75 h 87"/>
                <a:gd name="T30" fmla="*/ 4 w 87"/>
                <a:gd name="T31" fmla="*/ 62 h 87"/>
                <a:gd name="T32" fmla="*/ 0 w 87"/>
                <a:gd name="T33" fmla="*/ 45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5"/>
                  </a:lnTo>
                  <a:lnTo>
                    <a:pt x="42" y="0"/>
                  </a:lnTo>
                  <a:lnTo>
                    <a:pt x="59" y="5"/>
                  </a:lnTo>
                  <a:lnTo>
                    <a:pt x="74" y="13"/>
                  </a:lnTo>
                  <a:lnTo>
                    <a:pt x="83" y="28"/>
                  </a:lnTo>
                  <a:lnTo>
                    <a:pt x="87" y="45"/>
                  </a:lnTo>
                  <a:lnTo>
                    <a:pt x="83" y="62"/>
                  </a:lnTo>
                  <a:lnTo>
                    <a:pt x="74" y="75"/>
                  </a:lnTo>
                  <a:lnTo>
                    <a:pt x="59" y="85"/>
                  </a:lnTo>
                  <a:lnTo>
                    <a:pt x="42" y="87"/>
                  </a:lnTo>
                  <a:lnTo>
                    <a:pt x="28" y="85"/>
                  </a:lnTo>
                  <a:lnTo>
                    <a:pt x="13" y="75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7388" name="Freeform 12"/>
            <p:cNvSpPr>
              <a:spLocks/>
            </p:cNvSpPr>
            <p:nvPr/>
          </p:nvSpPr>
          <p:spPr bwMode="auto">
            <a:xfrm>
              <a:off x="2018" y="2479"/>
              <a:ext cx="87" cy="87"/>
            </a:xfrm>
            <a:custGeom>
              <a:avLst/>
              <a:gdLst>
                <a:gd name="T0" fmla="*/ 0 w 87"/>
                <a:gd name="T1" fmla="*/ 42 h 87"/>
                <a:gd name="T2" fmla="*/ 4 w 87"/>
                <a:gd name="T3" fmla="*/ 25 h 87"/>
                <a:gd name="T4" fmla="*/ 13 w 87"/>
                <a:gd name="T5" fmla="*/ 13 h 87"/>
                <a:gd name="T6" fmla="*/ 28 w 87"/>
                <a:gd name="T7" fmla="*/ 2 h 87"/>
                <a:gd name="T8" fmla="*/ 45 w 87"/>
                <a:gd name="T9" fmla="*/ 0 h 87"/>
                <a:gd name="T10" fmla="*/ 62 w 87"/>
                <a:gd name="T11" fmla="*/ 2 h 87"/>
                <a:gd name="T12" fmla="*/ 74 w 87"/>
                <a:gd name="T13" fmla="*/ 13 h 87"/>
                <a:gd name="T14" fmla="*/ 85 w 87"/>
                <a:gd name="T15" fmla="*/ 25 h 87"/>
                <a:gd name="T16" fmla="*/ 87 w 87"/>
                <a:gd name="T17" fmla="*/ 42 h 87"/>
                <a:gd name="T18" fmla="*/ 85 w 87"/>
                <a:gd name="T19" fmla="*/ 59 h 87"/>
                <a:gd name="T20" fmla="*/ 74 w 87"/>
                <a:gd name="T21" fmla="*/ 74 h 87"/>
                <a:gd name="T22" fmla="*/ 62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4 h 87"/>
                <a:gd name="T30" fmla="*/ 4 w 87"/>
                <a:gd name="T31" fmla="*/ 59 h 87"/>
                <a:gd name="T32" fmla="*/ 0 w 87"/>
                <a:gd name="T33" fmla="*/ 42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" h="87">
                  <a:moveTo>
                    <a:pt x="0" y="42"/>
                  </a:moveTo>
                  <a:lnTo>
                    <a:pt x="4" y="25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4" y="13"/>
                  </a:lnTo>
                  <a:lnTo>
                    <a:pt x="85" y="25"/>
                  </a:lnTo>
                  <a:lnTo>
                    <a:pt x="87" y="42"/>
                  </a:lnTo>
                  <a:lnTo>
                    <a:pt x="85" y="59"/>
                  </a:lnTo>
                  <a:lnTo>
                    <a:pt x="74" y="74"/>
                  </a:lnTo>
                  <a:lnTo>
                    <a:pt x="62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4"/>
                  </a:lnTo>
                  <a:lnTo>
                    <a:pt x="4" y="59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7389" name="Rectangle 13"/>
            <p:cNvSpPr>
              <a:spLocks noChangeArrowheads="1"/>
            </p:cNvSpPr>
            <p:nvPr/>
          </p:nvSpPr>
          <p:spPr bwMode="auto">
            <a:xfrm>
              <a:off x="1890" y="1437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  <a:latin typeface="Times New Roman" charset="0"/>
                </a:rPr>
                <a:t>1</a:t>
              </a:r>
              <a:endParaRPr lang="en-US"/>
            </a:p>
          </p:txBody>
        </p:sp>
        <p:sp>
          <p:nvSpPr>
            <p:cNvPr id="1637390" name="Rectangle 14"/>
            <p:cNvSpPr>
              <a:spLocks noChangeArrowheads="1"/>
            </p:cNvSpPr>
            <p:nvPr/>
          </p:nvSpPr>
          <p:spPr bwMode="auto">
            <a:xfrm>
              <a:off x="1089" y="2061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  <a:latin typeface="Times New Roman" charset="0"/>
                </a:rPr>
                <a:t>2</a:t>
              </a:r>
              <a:endParaRPr lang="en-US"/>
            </a:p>
          </p:txBody>
        </p:sp>
        <p:sp>
          <p:nvSpPr>
            <p:cNvPr id="1637391" name="Rectangle 15"/>
            <p:cNvSpPr>
              <a:spLocks noChangeArrowheads="1"/>
            </p:cNvSpPr>
            <p:nvPr/>
          </p:nvSpPr>
          <p:spPr bwMode="auto">
            <a:xfrm>
              <a:off x="1699" y="2373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  <a:latin typeface="Times New Roman" charset="0"/>
                </a:rPr>
                <a:t>3</a:t>
              </a:r>
              <a:endParaRPr lang="en-US"/>
            </a:p>
          </p:txBody>
        </p:sp>
        <p:sp>
          <p:nvSpPr>
            <p:cNvPr id="1637392" name="Rectangle 16"/>
            <p:cNvSpPr>
              <a:spLocks noChangeArrowheads="1"/>
            </p:cNvSpPr>
            <p:nvPr/>
          </p:nvSpPr>
          <p:spPr bwMode="auto">
            <a:xfrm>
              <a:off x="1319" y="2928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  <a:latin typeface="Times New Roman" charset="0"/>
                </a:rPr>
                <a:t>4</a:t>
              </a:r>
              <a:endParaRPr lang="en-US"/>
            </a:p>
          </p:txBody>
        </p:sp>
        <p:sp>
          <p:nvSpPr>
            <p:cNvPr id="1637393" name="Rectangle 17"/>
            <p:cNvSpPr>
              <a:spLocks noChangeArrowheads="1"/>
            </p:cNvSpPr>
            <p:nvPr/>
          </p:nvSpPr>
          <p:spPr bwMode="auto">
            <a:xfrm>
              <a:off x="517" y="1940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  <a:latin typeface="Times New Roman" charset="0"/>
                </a:rPr>
                <a:t>5</a:t>
              </a:r>
              <a:endParaRPr lang="en-US"/>
            </a:p>
          </p:txBody>
        </p:sp>
        <p:sp>
          <p:nvSpPr>
            <p:cNvPr id="1637394" name="Rectangle 18"/>
            <p:cNvSpPr>
              <a:spLocks noChangeArrowheads="1"/>
            </p:cNvSpPr>
            <p:nvPr/>
          </p:nvSpPr>
          <p:spPr bwMode="auto">
            <a:xfrm>
              <a:off x="2188" y="2428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000000"/>
                  </a:solidFill>
                  <a:latin typeface="Times New Roman" charset="0"/>
                </a:rPr>
                <a:t>6</a:t>
              </a:r>
              <a:endParaRPr lang="en-US"/>
            </a:p>
          </p:txBody>
        </p:sp>
      </p:grpSp>
      <p:grpSp>
        <p:nvGrpSpPr>
          <p:cNvPr id="1637395" name="Group 19"/>
          <p:cNvGrpSpPr>
            <a:grpSpLocks/>
          </p:cNvGrpSpPr>
          <p:nvPr/>
        </p:nvGrpSpPr>
        <p:grpSpPr bwMode="auto">
          <a:xfrm>
            <a:off x="2509838" y="3513138"/>
            <a:ext cx="1401762" cy="890587"/>
            <a:chOff x="1465" y="2309"/>
            <a:chExt cx="883" cy="561"/>
          </a:xfrm>
        </p:grpSpPr>
        <p:sp>
          <p:nvSpPr>
            <p:cNvPr id="1637396" name="Freeform 20"/>
            <p:cNvSpPr>
              <a:spLocks/>
            </p:cNvSpPr>
            <p:nvPr/>
          </p:nvSpPr>
          <p:spPr bwMode="auto">
            <a:xfrm>
              <a:off x="1465" y="2309"/>
              <a:ext cx="883" cy="369"/>
            </a:xfrm>
            <a:custGeom>
              <a:avLst/>
              <a:gdLst>
                <a:gd name="T0" fmla="*/ 442 w 883"/>
                <a:gd name="T1" fmla="*/ 0 h 369"/>
                <a:gd name="T2" fmla="*/ 502 w 883"/>
                <a:gd name="T3" fmla="*/ 2 h 369"/>
                <a:gd name="T4" fmla="*/ 562 w 883"/>
                <a:gd name="T5" fmla="*/ 7 h 369"/>
                <a:gd name="T6" fmla="*/ 619 w 883"/>
                <a:gd name="T7" fmla="*/ 15 h 369"/>
                <a:gd name="T8" fmla="*/ 672 w 883"/>
                <a:gd name="T9" fmla="*/ 28 h 369"/>
                <a:gd name="T10" fmla="*/ 721 w 883"/>
                <a:gd name="T11" fmla="*/ 43 h 369"/>
                <a:gd name="T12" fmla="*/ 766 w 883"/>
                <a:gd name="T13" fmla="*/ 60 h 369"/>
                <a:gd name="T14" fmla="*/ 804 w 883"/>
                <a:gd name="T15" fmla="*/ 79 h 369"/>
                <a:gd name="T16" fmla="*/ 836 w 883"/>
                <a:gd name="T17" fmla="*/ 100 h 369"/>
                <a:gd name="T18" fmla="*/ 859 w 883"/>
                <a:gd name="T19" fmla="*/ 123 h 369"/>
                <a:gd name="T20" fmla="*/ 876 w 883"/>
                <a:gd name="T21" fmla="*/ 147 h 369"/>
                <a:gd name="T22" fmla="*/ 883 w 883"/>
                <a:gd name="T23" fmla="*/ 172 h 369"/>
                <a:gd name="T24" fmla="*/ 883 w 883"/>
                <a:gd name="T25" fmla="*/ 197 h 369"/>
                <a:gd name="T26" fmla="*/ 876 w 883"/>
                <a:gd name="T27" fmla="*/ 223 h 369"/>
                <a:gd name="T28" fmla="*/ 859 w 883"/>
                <a:gd name="T29" fmla="*/ 246 h 369"/>
                <a:gd name="T30" fmla="*/ 836 w 883"/>
                <a:gd name="T31" fmla="*/ 270 h 369"/>
                <a:gd name="T32" fmla="*/ 804 w 883"/>
                <a:gd name="T33" fmla="*/ 291 h 369"/>
                <a:gd name="T34" fmla="*/ 766 w 883"/>
                <a:gd name="T35" fmla="*/ 310 h 369"/>
                <a:gd name="T36" fmla="*/ 721 w 883"/>
                <a:gd name="T37" fmla="*/ 327 h 369"/>
                <a:gd name="T38" fmla="*/ 672 w 883"/>
                <a:gd name="T39" fmla="*/ 342 h 369"/>
                <a:gd name="T40" fmla="*/ 619 w 883"/>
                <a:gd name="T41" fmla="*/ 354 h 369"/>
                <a:gd name="T42" fmla="*/ 562 w 883"/>
                <a:gd name="T43" fmla="*/ 363 h 369"/>
                <a:gd name="T44" fmla="*/ 502 w 883"/>
                <a:gd name="T45" fmla="*/ 367 h 369"/>
                <a:gd name="T46" fmla="*/ 442 w 883"/>
                <a:gd name="T47" fmla="*/ 369 h 369"/>
                <a:gd name="T48" fmla="*/ 381 w 883"/>
                <a:gd name="T49" fmla="*/ 367 h 369"/>
                <a:gd name="T50" fmla="*/ 323 w 883"/>
                <a:gd name="T51" fmla="*/ 363 h 369"/>
                <a:gd name="T52" fmla="*/ 266 w 883"/>
                <a:gd name="T53" fmla="*/ 354 h 369"/>
                <a:gd name="T54" fmla="*/ 213 w 883"/>
                <a:gd name="T55" fmla="*/ 342 h 369"/>
                <a:gd name="T56" fmla="*/ 162 w 883"/>
                <a:gd name="T57" fmla="*/ 327 h 369"/>
                <a:gd name="T58" fmla="*/ 119 w 883"/>
                <a:gd name="T59" fmla="*/ 310 h 369"/>
                <a:gd name="T60" fmla="*/ 81 w 883"/>
                <a:gd name="T61" fmla="*/ 291 h 369"/>
                <a:gd name="T62" fmla="*/ 49 w 883"/>
                <a:gd name="T63" fmla="*/ 270 h 369"/>
                <a:gd name="T64" fmla="*/ 26 w 883"/>
                <a:gd name="T65" fmla="*/ 246 h 369"/>
                <a:gd name="T66" fmla="*/ 9 w 883"/>
                <a:gd name="T67" fmla="*/ 223 h 369"/>
                <a:gd name="T68" fmla="*/ 0 w 883"/>
                <a:gd name="T69" fmla="*/ 197 h 369"/>
                <a:gd name="T70" fmla="*/ 0 w 883"/>
                <a:gd name="T71" fmla="*/ 172 h 369"/>
                <a:gd name="T72" fmla="*/ 9 w 883"/>
                <a:gd name="T73" fmla="*/ 147 h 369"/>
                <a:gd name="T74" fmla="*/ 26 w 883"/>
                <a:gd name="T75" fmla="*/ 123 h 369"/>
                <a:gd name="T76" fmla="*/ 49 w 883"/>
                <a:gd name="T77" fmla="*/ 100 h 369"/>
                <a:gd name="T78" fmla="*/ 81 w 883"/>
                <a:gd name="T79" fmla="*/ 79 h 369"/>
                <a:gd name="T80" fmla="*/ 119 w 883"/>
                <a:gd name="T81" fmla="*/ 60 h 369"/>
                <a:gd name="T82" fmla="*/ 162 w 883"/>
                <a:gd name="T83" fmla="*/ 43 h 369"/>
                <a:gd name="T84" fmla="*/ 213 w 883"/>
                <a:gd name="T85" fmla="*/ 28 h 369"/>
                <a:gd name="T86" fmla="*/ 266 w 883"/>
                <a:gd name="T87" fmla="*/ 15 h 369"/>
                <a:gd name="T88" fmla="*/ 323 w 883"/>
                <a:gd name="T89" fmla="*/ 7 h 369"/>
                <a:gd name="T90" fmla="*/ 381 w 883"/>
                <a:gd name="T91" fmla="*/ 2 h 369"/>
                <a:gd name="T92" fmla="*/ 442 w 883"/>
                <a:gd name="T93" fmla="*/ 0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83" h="369">
                  <a:moveTo>
                    <a:pt x="442" y="0"/>
                  </a:moveTo>
                  <a:lnTo>
                    <a:pt x="502" y="2"/>
                  </a:lnTo>
                  <a:lnTo>
                    <a:pt x="562" y="7"/>
                  </a:lnTo>
                  <a:lnTo>
                    <a:pt x="619" y="15"/>
                  </a:lnTo>
                  <a:lnTo>
                    <a:pt x="672" y="28"/>
                  </a:lnTo>
                  <a:lnTo>
                    <a:pt x="721" y="43"/>
                  </a:lnTo>
                  <a:lnTo>
                    <a:pt x="766" y="60"/>
                  </a:lnTo>
                  <a:lnTo>
                    <a:pt x="804" y="79"/>
                  </a:lnTo>
                  <a:lnTo>
                    <a:pt x="836" y="100"/>
                  </a:lnTo>
                  <a:lnTo>
                    <a:pt x="859" y="123"/>
                  </a:lnTo>
                  <a:lnTo>
                    <a:pt x="876" y="147"/>
                  </a:lnTo>
                  <a:lnTo>
                    <a:pt x="883" y="172"/>
                  </a:lnTo>
                  <a:lnTo>
                    <a:pt x="883" y="197"/>
                  </a:lnTo>
                  <a:lnTo>
                    <a:pt x="876" y="223"/>
                  </a:lnTo>
                  <a:lnTo>
                    <a:pt x="859" y="246"/>
                  </a:lnTo>
                  <a:lnTo>
                    <a:pt x="836" y="270"/>
                  </a:lnTo>
                  <a:lnTo>
                    <a:pt x="804" y="291"/>
                  </a:lnTo>
                  <a:lnTo>
                    <a:pt x="766" y="310"/>
                  </a:lnTo>
                  <a:lnTo>
                    <a:pt x="721" y="327"/>
                  </a:lnTo>
                  <a:lnTo>
                    <a:pt x="672" y="342"/>
                  </a:lnTo>
                  <a:lnTo>
                    <a:pt x="619" y="354"/>
                  </a:lnTo>
                  <a:lnTo>
                    <a:pt x="562" y="363"/>
                  </a:lnTo>
                  <a:lnTo>
                    <a:pt x="502" y="367"/>
                  </a:lnTo>
                  <a:lnTo>
                    <a:pt x="442" y="369"/>
                  </a:lnTo>
                  <a:lnTo>
                    <a:pt x="381" y="367"/>
                  </a:lnTo>
                  <a:lnTo>
                    <a:pt x="323" y="363"/>
                  </a:lnTo>
                  <a:lnTo>
                    <a:pt x="266" y="354"/>
                  </a:lnTo>
                  <a:lnTo>
                    <a:pt x="213" y="342"/>
                  </a:lnTo>
                  <a:lnTo>
                    <a:pt x="162" y="327"/>
                  </a:lnTo>
                  <a:lnTo>
                    <a:pt x="119" y="310"/>
                  </a:lnTo>
                  <a:lnTo>
                    <a:pt x="81" y="291"/>
                  </a:lnTo>
                  <a:lnTo>
                    <a:pt x="49" y="270"/>
                  </a:lnTo>
                  <a:lnTo>
                    <a:pt x="26" y="246"/>
                  </a:lnTo>
                  <a:lnTo>
                    <a:pt x="9" y="223"/>
                  </a:lnTo>
                  <a:lnTo>
                    <a:pt x="0" y="197"/>
                  </a:lnTo>
                  <a:lnTo>
                    <a:pt x="0" y="172"/>
                  </a:lnTo>
                  <a:lnTo>
                    <a:pt x="9" y="147"/>
                  </a:lnTo>
                  <a:lnTo>
                    <a:pt x="26" y="123"/>
                  </a:lnTo>
                  <a:lnTo>
                    <a:pt x="49" y="100"/>
                  </a:lnTo>
                  <a:lnTo>
                    <a:pt x="81" y="79"/>
                  </a:lnTo>
                  <a:lnTo>
                    <a:pt x="119" y="60"/>
                  </a:lnTo>
                  <a:lnTo>
                    <a:pt x="162" y="43"/>
                  </a:lnTo>
                  <a:lnTo>
                    <a:pt x="213" y="28"/>
                  </a:lnTo>
                  <a:lnTo>
                    <a:pt x="266" y="15"/>
                  </a:lnTo>
                  <a:lnTo>
                    <a:pt x="323" y="7"/>
                  </a:lnTo>
                  <a:lnTo>
                    <a:pt x="381" y="2"/>
                  </a:lnTo>
                  <a:lnTo>
                    <a:pt x="442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7397" name="Rectangle 21"/>
            <p:cNvSpPr>
              <a:spLocks noChangeArrowheads="1"/>
            </p:cNvSpPr>
            <p:nvPr/>
          </p:nvSpPr>
          <p:spPr bwMode="auto">
            <a:xfrm>
              <a:off x="1831" y="2668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FF0000"/>
                  </a:solidFill>
                </a:rPr>
                <a:t>1</a:t>
              </a:r>
              <a:endParaRPr lang="en-US"/>
            </a:p>
          </p:txBody>
        </p:sp>
      </p:grpSp>
      <p:grpSp>
        <p:nvGrpSpPr>
          <p:cNvPr id="1637398" name="Group 22"/>
          <p:cNvGrpSpPr>
            <a:grpSpLocks/>
          </p:cNvGrpSpPr>
          <p:nvPr/>
        </p:nvGrpSpPr>
        <p:grpSpPr bwMode="auto">
          <a:xfrm>
            <a:off x="704850" y="2554288"/>
            <a:ext cx="1579563" cy="889000"/>
            <a:chOff x="328" y="1705"/>
            <a:chExt cx="995" cy="560"/>
          </a:xfrm>
        </p:grpSpPr>
        <p:sp>
          <p:nvSpPr>
            <p:cNvPr id="1637399" name="Freeform 23"/>
            <p:cNvSpPr>
              <a:spLocks/>
            </p:cNvSpPr>
            <p:nvPr/>
          </p:nvSpPr>
          <p:spPr bwMode="auto">
            <a:xfrm>
              <a:off x="328" y="1881"/>
              <a:ext cx="995" cy="384"/>
            </a:xfrm>
            <a:custGeom>
              <a:avLst/>
              <a:gdLst>
                <a:gd name="T0" fmla="*/ 514 w 995"/>
                <a:gd name="T1" fmla="*/ 4 h 384"/>
                <a:gd name="T2" fmla="*/ 576 w 995"/>
                <a:gd name="T3" fmla="*/ 10 h 384"/>
                <a:gd name="T4" fmla="*/ 638 w 995"/>
                <a:gd name="T5" fmla="*/ 21 h 384"/>
                <a:gd name="T6" fmla="*/ 695 w 995"/>
                <a:gd name="T7" fmla="*/ 34 h 384"/>
                <a:gd name="T8" fmla="*/ 752 w 995"/>
                <a:gd name="T9" fmla="*/ 49 h 384"/>
                <a:gd name="T10" fmla="*/ 803 w 995"/>
                <a:gd name="T11" fmla="*/ 66 h 384"/>
                <a:gd name="T12" fmla="*/ 850 w 995"/>
                <a:gd name="T13" fmla="*/ 85 h 384"/>
                <a:gd name="T14" fmla="*/ 891 w 995"/>
                <a:gd name="T15" fmla="*/ 106 h 384"/>
                <a:gd name="T16" fmla="*/ 927 w 995"/>
                <a:gd name="T17" fmla="*/ 127 h 384"/>
                <a:gd name="T18" fmla="*/ 954 w 995"/>
                <a:gd name="T19" fmla="*/ 150 h 384"/>
                <a:gd name="T20" fmla="*/ 976 w 995"/>
                <a:gd name="T21" fmla="*/ 176 h 384"/>
                <a:gd name="T22" fmla="*/ 988 w 995"/>
                <a:gd name="T23" fmla="*/ 199 h 384"/>
                <a:gd name="T24" fmla="*/ 995 w 995"/>
                <a:gd name="T25" fmla="*/ 222 h 384"/>
                <a:gd name="T26" fmla="*/ 993 w 995"/>
                <a:gd name="T27" fmla="*/ 248 h 384"/>
                <a:gd name="T28" fmla="*/ 982 w 995"/>
                <a:gd name="T29" fmla="*/ 269 h 384"/>
                <a:gd name="T30" fmla="*/ 965 w 995"/>
                <a:gd name="T31" fmla="*/ 290 h 384"/>
                <a:gd name="T32" fmla="*/ 940 w 995"/>
                <a:gd name="T33" fmla="*/ 312 h 384"/>
                <a:gd name="T34" fmla="*/ 908 w 995"/>
                <a:gd name="T35" fmla="*/ 329 h 384"/>
                <a:gd name="T36" fmla="*/ 869 w 995"/>
                <a:gd name="T37" fmla="*/ 345 h 384"/>
                <a:gd name="T38" fmla="*/ 827 w 995"/>
                <a:gd name="T39" fmla="*/ 358 h 384"/>
                <a:gd name="T40" fmla="*/ 776 w 995"/>
                <a:gd name="T41" fmla="*/ 369 h 384"/>
                <a:gd name="T42" fmla="*/ 723 w 995"/>
                <a:gd name="T43" fmla="*/ 377 h 384"/>
                <a:gd name="T44" fmla="*/ 665 w 995"/>
                <a:gd name="T45" fmla="*/ 382 h 384"/>
                <a:gd name="T46" fmla="*/ 606 w 995"/>
                <a:gd name="T47" fmla="*/ 384 h 384"/>
                <a:gd name="T48" fmla="*/ 544 w 995"/>
                <a:gd name="T49" fmla="*/ 384 h 384"/>
                <a:gd name="T50" fmla="*/ 480 w 995"/>
                <a:gd name="T51" fmla="*/ 379 h 384"/>
                <a:gd name="T52" fmla="*/ 419 w 995"/>
                <a:gd name="T53" fmla="*/ 373 h 384"/>
                <a:gd name="T54" fmla="*/ 357 w 995"/>
                <a:gd name="T55" fmla="*/ 362 h 384"/>
                <a:gd name="T56" fmla="*/ 300 w 995"/>
                <a:gd name="T57" fmla="*/ 350 h 384"/>
                <a:gd name="T58" fmla="*/ 242 w 995"/>
                <a:gd name="T59" fmla="*/ 335 h 384"/>
                <a:gd name="T60" fmla="*/ 191 w 995"/>
                <a:gd name="T61" fmla="*/ 318 h 384"/>
                <a:gd name="T62" fmla="*/ 144 w 995"/>
                <a:gd name="T63" fmla="*/ 299 h 384"/>
                <a:gd name="T64" fmla="*/ 104 w 995"/>
                <a:gd name="T65" fmla="*/ 278 h 384"/>
                <a:gd name="T66" fmla="*/ 68 w 995"/>
                <a:gd name="T67" fmla="*/ 256 h 384"/>
                <a:gd name="T68" fmla="*/ 40 w 995"/>
                <a:gd name="T69" fmla="*/ 233 h 384"/>
                <a:gd name="T70" fmla="*/ 19 w 995"/>
                <a:gd name="T71" fmla="*/ 208 h 384"/>
                <a:gd name="T72" fmla="*/ 6 w 995"/>
                <a:gd name="T73" fmla="*/ 184 h 384"/>
                <a:gd name="T74" fmla="*/ 0 w 995"/>
                <a:gd name="T75" fmla="*/ 161 h 384"/>
                <a:gd name="T76" fmla="*/ 2 w 995"/>
                <a:gd name="T77" fmla="*/ 138 h 384"/>
                <a:gd name="T78" fmla="*/ 13 w 995"/>
                <a:gd name="T79" fmla="*/ 114 h 384"/>
                <a:gd name="T80" fmla="*/ 30 w 995"/>
                <a:gd name="T81" fmla="*/ 93 h 384"/>
                <a:gd name="T82" fmla="*/ 55 w 995"/>
                <a:gd name="T83" fmla="*/ 72 h 384"/>
                <a:gd name="T84" fmla="*/ 87 w 995"/>
                <a:gd name="T85" fmla="*/ 55 h 384"/>
                <a:gd name="T86" fmla="*/ 125 w 995"/>
                <a:gd name="T87" fmla="*/ 38 h 384"/>
                <a:gd name="T88" fmla="*/ 168 w 995"/>
                <a:gd name="T89" fmla="*/ 25 h 384"/>
                <a:gd name="T90" fmla="*/ 219 w 995"/>
                <a:gd name="T91" fmla="*/ 15 h 384"/>
                <a:gd name="T92" fmla="*/ 272 w 995"/>
                <a:gd name="T93" fmla="*/ 6 h 384"/>
                <a:gd name="T94" fmla="*/ 329 w 995"/>
                <a:gd name="T95" fmla="*/ 2 h 384"/>
                <a:gd name="T96" fmla="*/ 389 w 995"/>
                <a:gd name="T97" fmla="*/ 0 h 384"/>
                <a:gd name="T98" fmla="*/ 450 w 995"/>
                <a:gd name="T99" fmla="*/ 0 h 384"/>
                <a:gd name="T100" fmla="*/ 514 w 995"/>
                <a:gd name="T101" fmla="*/ 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95" h="384">
                  <a:moveTo>
                    <a:pt x="514" y="4"/>
                  </a:moveTo>
                  <a:lnTo>
                    <a:pt x="576" y="10"/>
                  </a:lnTo>
                  <a:lnTo>
                    <a:pt x="638" y="21"/>
                  </a:lnTo>
                  <a:lnTo>
                    <a:pt x="695" y="34"/>
                  </a:lnTo>
                  <a:lnTo>
                    <a:pt x="752" y="49"/>
                  </a:lnTo>
                  <a:lnTo>
                    <a:pt x="803" y="66"/>
                  </a:lnTo>
                  <a:lnTo>
                    <a:pt x="850" y="85"/>
                  </a:lnTo>
                  <a:lnTo>
                    <a:pt x="891" y="106"/>
                  </a:lnTo>
                  <a:lnTo>
                    <a:pt x="927" y="127"/>
                  </a:lnTo>
                  <a:lnTo>
                    <a:pt x="954" y="150"/>
                  </a:lnTo>
                  <a:lnTo>
                    <a:pt x="976" y="176"/>
                  </a:lnTo>
                  <a:lnTo>
                    <a:pt x="988" y="199"/>
                  </a:lnTo>
                  <a:lnTo>
                    <a:pt x="995" y="222"/>
                  </a:lnTo>
                  <a:lnTo>
                    <a:pt x="993" y="248"/>
                  </a:lnTo>
                  <a:lnTo>
                    <a:pt x="982" y="269"/>
                  </a:lnTo>
                  <a:lnTo>
                    <a:pt x="965" y="290"/>
                  </a:lnTo>
                  <a:lnTo>
                    <a:pt x="940" y="312"/>
                  </a:lnTo>
                  <a:lnTo>
                    <a:pt x="908" y="329"/>
                  </a:lnTo>
                  <a:lnTo>
                    <a:pt x="869" y="345"/>
                  </a:lnTo>
                  <a:lnTo>
                    <a:pt x="827" y="358"/>
                  </a:lnTo>
                  <a:lnTo>
                    <a:pt x="776" y="369"/>
                  </a:lnTo>
                  <a:lnTo>
                    <a:pt x="723" y="377"/>
                  </a:lnTo>
                  <a:lnTo>
                    <a:pt x="665" y="382"/>
                  </a:lnTo>
                  <a:lnTo>
                    <a:pt x="606" y="384"/>
                  </a:lnTo>
                  <a:lnTo>
                    <a:pt x="544" y="384"/>
                  </a:lnTo>
                  <a:lnTo>
                    <a:pt x="480" y="379"/>
                  </a:lnTo>
                  <a:lnTo>
                    <a:pt x="419" y="373"/>
                  </a:lnTo>
                  <a:lnTo>
                    <a:pt x="357" y="362"/>
                  </a:lnTo>
                  <a:lnTo>
                    <a:pt x="300" y="350"/>
                  </a:lnTo>
                  <a:lnTo>
                    <a:pt x="242" y="335"/>
                  </a:lnTo>
                  <a:lnTo>
                    <a:pt x="191" y="318"/>
                  </a:lnTo>
                  <a:lnTo>
                    <a:pt x="144" y="299"/>
                  </a:lnTo>
                  <a:lnTo>
                    <a:pt x="104" y="278"/>
                  </a:lnTo>
                  <a:lnTo>
                    <a:pt x="68" y="256"/>
                  </a:lnTo>
                  <a:lnTo>
                    <a:pt x="40" y="233"/>
                  </a:lnTo>
                  <a:lnTo>
                    <a:pt x="19" y="208"/>
                  </a:lnTo>
                  <a:lnTo>
                    <a:pt x="6" y="184"/>
                  </a:lnTo>
                  <a:lnTo>
                    <a:pt x="0" y="161"/>
                  </a:lnTo>
                  <a:lnTo>
                    <a:pt x="2" y="138"/>
                  </a:lnTo>
                  <a:lnTo>
                    <a:pt x="13" y="114"/>
                  </a:lnTo>
                  <a:lnTo>
                    <a:pt x="30" y="93"/>
                  </a:lnTo>
                  <a:lnTo>
                    <a:pt x="55" y="72"/>
                  </a:lnTo>
                  <a:lnTo>
                    <a:pt x="87" y="55"/>
                  </a:lnTo>
                  <a:lnTo>
                    <a:pt x="125" y="38"/>
                  </a:lnTo>
                  <a:lnTo>
                    <a:pt x="168" y="25"/>
                  </a:lnTo>
                  <a:lnTo>
                    <a:pt x="219" y="15"/>
                  </a:lnTo>
                  <a:lnTo>
                    <a:pt x="272" y="6"/>
                  </a:lnTo>
                  <a:lnTo>
                    <a:pt x="329" y="2"/>
                  </a:lnTo>
                  <a:lnTo>
                    <a:pt x="389" y="0"/>
                  </a:lnTo>
                  <a:lnTo>
                    <a:pt x="450" y="0"/>
                  </a:lnTo>
                  <a:lnTo>
                    <a:pt x="514" y="4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7400" name="Rectangle 24"/>
            <p:cNvSpPr>
              <a:spLocks noChangeArrowheads="1"/>
            </p:cNvSpPr>
            <p:nvPr/>
          </p:nvSpPr>
          <p:spPr bwMode="auto">
            <a:xfrm>
              <a:off x="853" y="1705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FF0000"/>
                  </a:solidFill>
                </a:rPr>
                <a:t>2</a:t>
              </a:r>
              <a:endParaRPr lang="en-US"/>
            </a:p>
          </p:txBody>
        </p:sp>
      </p:grpSp>
      <p:grpSp>
        <p:nvGrpSpPr>
          <p:cNvPr id="1637401" name="Group 25"/>
          <p:cNvGrpSpPr>
            <a:grpSpLocks/>
          </p:cNvGrpSpPr>
          <p:nvPr/>
        </p:nvGrpSpPr>
        <p:grpSpPr bwMode="auto">
          <a:xfrm>
            <a:off x="360363" y="1887538"/>
            <a:ext cx="3935412" cy="3487737"/>
            <a:chOff x="111" y="1285"/>
            <a:chExt cx="2479" cy="2197"/>
          </a:xfrm>
        </p:grpSpPr>
        <p:sp>
          <p:nvSpPr>
            <p:cNvPr id="1637402" name="Rectangle 26"/>
            <p:cNvSpPr>
              <a:spLocks noChangeArrowheads="1"/>
            </p:cNvSpPr>
            <p:nvPr/>
          </p:nvSpPr>
          <p:spPr bwMode="auto">
            <a:xfrm>
              <a:off x="2484" y="1705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FF0000"/>
                  </a:solidFill>
                </a:rPr>
                <a:t>5</a:t>
              </a:r>
              <a:endParaRPr lang="en-US"/>
            </a:p>
          </p:txBody>
        </p:sp>
        <p:sp>
          <p:nvSpPr>
            <p:cNvPr id="1637403" name="Freeform 27"/>
            <p:cNvSpPr>
              <a:spLocks/>
            </p:cNvSpPr>
            <p:nvPr/>
          </p:nvSpPr>
          <p:spPr bwMode="auto">
            <a:xfrm>
              <a:off x="111" y="1285"/>
              <a:ext cx="2479" cy="2197"/>
            </a:xfrm>
            <a:custGeom>
              <a:avLst/>
              <a:gdLst>
                <a:gd name="T0" fmla="*/ 1339 w 2479"/>
                <a:gd name="T1" fmla="*/ 2 h 2197"/>
                <a:gd name="T2" fmla="*/ 1541 w 2479"/>
                <a:gd name="T3" fmla="*/ 32 h 2197"/>
                <a:gd name="T4" fmla="*/ 1735 w 2479"/>
                <a:gd name="T5" fmla="*/ 91 h 2197"/>
                <a:gd name="T6" fmla="*/ 1916 w 2479"/>
                <a:gd name="T7" fmla="*/ 178 h 2197"/>
                <a:gd name="T8" fmla="*/ 2077 w 2479"/>
                <a:gd name="T9" fmla="*/ 288 h 2197"/>
                <a:gd name="T10" fmla="*/ 2215 w 2479"/>
                <a:gd name="T11" fmla="*/ 422 h 2197"/>
                <a:gd name="T12" fmla="*/ 2328 w 2479"/>
                <a:gd name="T13" fmla="*/ 572 h 2197"/>
                <a:gd name="T14" fmla="*/ 2411 w 2479"/>
                <a:gd name="T15" fmla="*/ 740 h 2197"/>
                <a:gd name="T16" fmla="*/ 2462 w 2479"/>
                <a:gd name="T17" fmla="*/ 916 h 2197"/>
                <a:gd name="T18" fmla="*/ 2479 w 2479"/>
                <a:gd name="T19" fmla="*/ 1096 h 2197"/>
                <a:gd name="T20" fmla="*/ 2462 w 2479"/>
                <a:gd name="T21" fmla="*/ 1277 h 2197"/>
                <a:gd name="T22" fmla="*/ 2411 w 2479"/>
                <a:gd name="T23" fmla="*/ 1453 h 2197"/>
                <a:gd name="T24" fmla="*/ 2330 w 2479"/>
                <a:gd name="T25" fmla="*/ 1620 h 2197"/>
                <a:gd name="T26" fmla="*/ 2217 w 2479"/>
                <a:gd name="T27" fmla="*/ 1771 h 2197"/>
                <a:gd name="T28" fmla="*/ 2079 w 2479"/>
                <a:gd name="T29" fmla="*/ 1904 h 2197"/>
                <a:gd name="T30" fmla="*/ 1918 w 2479"/>
                <a:gd name="T31" fmla="*/ 2017 h 2197"/>
                <a:gd name="T32" fmla="*/ 1739 w 2479"/>
                <a:gd name="T33" fmla="*/ 2104 h 2197"/>
                <a:gd name="T34" fmla="*/ 1546 w 2479"/>
                <a:gd name="T35" fmla="*/ 2163 h 2197"/>
                <a:gd name="T36" fmla="*/ 1344 w 2479"/>
                <a:gd name="T37" fmla="*/ 2193 h 2197"/>
                <a:gd name="T38" fmla="*/ 1139 w 2479"/>
                <a:gd name="T39" fmla="*/ 2193 h 2197"/>
                <a:gd name="T40" fmla="*/ 938 w 2479"/>
                <a:gd name="T41" fmla="*/ 2163 h 2197"/>
                <a:gd name="T42" fmla="*/ 744 w 2479"/>
                <a:gd name="T43" fmla="*/ 2106 h 2197"/>
                <a:gd name="T44" fmla="*/ 563 w 2479"/>
                <a:gd name="T45" fmla="*/ 2019 h 2197"/>
                <a:gd name="T46" fmla="*/ 402 w 2479"/>
                <a:gd name="T47" fmla="*/ 1909 h 2197"/>
                <a:gd name="T48" fmla="*/ 264 w 2479"/>
                <a:gd name="T49" fmla="*/ 1775 h 2197"/>
                <a:gd name="T50" fmla="*/ 151 w 2479"/>
                <a:gd name="T51" fmla="*/ 1622 h 2197"/>
                <a:gd name="T52" fmla="*/ 68 w 2479"/>
                <a:gd name="T53" fmla="*/ 1457 h 2197"/>
                <a:gd name="T54" fmla="*/ 17 w 2479"/>
                <a:gd name="T55" fmla="*/ 1281 h 2197"/>
                <a:gd name="T56" fmla="*/ 0 w 2479"/>
                <a:gd name="T57" fmla="*/ 1101 h 2197"/>
                <a:gd name="T58" fmla="*/ 17 w 2479"/>
                <a:gd name="T59" fmla="*/ 920 h 2197"/>
                <a:gd name="T60" fmla="*/ 68 w 2479"/>
                <a:gd name="T61" fmla="*/ 744 h 2197"/>
                <a:gd name="T62" fmla="*/ 149 w 2479"/>
                <a:gd name="T63" fmla="*/ 577 h 2197"/>
                <a:gd name="T64" fmla="*/ 261 w 2479"/>
                <a:gd name="T65" fmla="*/ 424 h 2197"/>
                <a:gd name="T66" fmla="*/ 400 w 2479"/>
                <a:gd name="T67" fmla="*/ 290 h 2197"/>
                <a:gd name="T68" fmla="*/ 559 w 2479"/>
                <a:gd name="T69" fmla="*/ 180 h 2197"/>
                <a:gd name="T70" fmla="*/ 740 w 2479"/>
                <a:gd name="T71" fmla="*/ 93 h 2197"/>
                <a:gd name="T72" fmla="*/ 933 w 2479"/>
                <a:gd name="T73" fmla="*/ 34 h 2197"/>
                <a:gd name="T74" fmla="*/ 1135 w 2479"/>
                <a:gd name="T75" fmla="*/ 4 h 2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479" h="2197">
                  <a:moveTo>
                    <a:pt x="1237" y="0"/>
                  </a:moveTo>
                  <a:lnTo>
                    <a:pt x="1339" y="2"/>
                  </a:lnTo>
                  <a:lnTo>
                    <a:pt x="1441" y="15"/>
                  </a:lnTo>
                  <a:lnTo>
                    <a:pt x="1541" y="32"/>
                  </a:lnTo>
                  <a:lnTo>
                    <a:pt x="1639" y="59"/>
                  </a:lnTo>
                  <a:lnTo>
                    <a:pt x="1735" y="91"/>
                  </a:lnTo>
                  <a:lnTo>
                    <a:pt x="1826" y="131"/>
                  </a:lnTo>
                  <a:lnTo>
                    <a:pt x="1916" y="178"/>
                  </a:lnTo>
                  <a:lnTo>
                    <a:pt x="1998" y="229"/>
                  </a:lnTo>
                  <a:lnTo>
                    <a:pt x="2077" y="288"/>
                  </a:lnTo>
                  <a:lnTo>
                    <a:pt x="2149" y="352"/>
                  </a:lnTo>
                  <a:lnTo>
                    <a:pt x="2215" y="422"/>
                  </a:lnTo>
                  <a:lnTo>
                    <a:pt x="2275" y="496"/>
                  </a:lnTo>
                  <a:lnTo>
                    <a:pt x="2328" y="572"/>
                  </a:lnTo>
                  <a:lnTo>
                    <a:pt x="2373" y="655"/>
                  </a:lnTo>
                  <a:lnTo>
                    <a:pt x="2411" y="740"/>
                  </a:lnTo>
                  <a:lnTo>
                    <a:pt x="2441" y="827"/>
                  </a:lnTo>
                  <a:lnTo>
                    <a:pt x="2462" y="916"/>
                  </a:lnTo>
                  <a:lnTo>
                    <a:pt x="2475" y="1005"/>
                  </a:lnTo>
                  <a:lnTo>
                    <a:pt x="2479" y="1096"/>
                  </a:lnTo>
                  <a:lnTo>
                    <a:pt x="2475" y="1188"/>
                  </a:lnTo>
                  <a:lnTo>
                    <a:pt x="2462" y="1277"/>
                  </a:lnTo>
                  <a:lnTo>
                    <a:pt x="2441" y="1366"/>
                  </a:lnTo>
                  <a:lnTo>
                    <a:pt x="2411" y="1453"/>
                  </a:lnTo>
                  <a:lnTo>
                    <a:pt x="2375" y="1537"/>
                  </a:lnTo>
                  <a:lnTo>
                    <a:pt x="2330" y="1620"/>
                  </a:lnTo>
                  <a:lnTo>
                    <a:pt x="2277" y="1697"/>
                  </a:lnTo>
                  <a:lnTo>
                    <a:pt x="2217" y="1771"/>
                  </a:lnTo>
                  <a:lnTo>
                    <a:pt x="2152" y="1841"/>
                  </a:lnTo>
                  <a:lnTo>
                    <a:pt x="2079" y="1904"/>
                  </a:lnTo>
                  <a:lnTo>
                    <a:pt x="2003" y="1964"/>
                  </a:lnTo>
                  <a:lnTo>
                    <a:pt x="1918" y="2017"/>
                  </a:lnTo>
                  <a:lnTo>
                    <a:pt x="1830" y="2063"/>
                  </a:lnTo>
                  <a:lnTo>
                    <a:pt x="1739" y="2104"/>
                  </a:lnTo>
                  <a:lnTo>
                    <a:pt x="1643" y="2136"/>
                  </a:lnTo>
                  <a:lnTo>
                    <a:pt x="1546" y="2163"/>
                  </a:lnTo>
                  <a:lnTo>
                    <a:pt x="1446" y="2182"/>
                  </a:lnTo>
                  <a:lnTo>
                    <a:pt x="1344" y="2193"/>
                  </a:lnTo>
                  <a:lnTo>
                    <a:pt x="1242" y="2197"/>
                  </a:lnTo>
                  <a:lnTo>
                    <a:pt x="1139" y="2193"/>
                  </a:lnTo>
                  <a:lnTo>
                    <a:pt x="1037" y="2182"/>
                  </a:lnTo>
                  <a:lnTo>
                    <a:pt x="938" y="2163"/>
                  </a:lnTo>
                  <a:lnTo>
                    <a:pt x="840" y="2138"/>
                  </a:lnTo>
                  <a:lnTo>
                    <a:pt x="744" y="2106"/>
                  </a:lnTo>
                  <a:lnTo>
                    <a:pt x="650" y="2066"/>
                  </a:lnTo>
                  <a:lnTo>
                    <a:pt x="563" y="2019"/>
                  </a:lnTo>
                  <a:lnTo>
                    <a:pt x="480" y="1966"/>
                  </a:lnTo>
                  <a:lnTo>
                    <a:pt x="402" y="1909"/>
                  </a:lnTo>
                  <a:lnTo>
                    <a:pt x="329" y="1843"/>
                  </a:lnTo>
                  <a:lnTo>
                    <a:pt x="264" y="1775"/>
                  </a:lnTo>
                  <a:lnTo>
                    <a:pt x="204" y="1701"/>
                  </a:lnTo>
                  <a:lnTo>
                    <a:pt x="151" y="1622"/>
                  </a:lnTo>
                  <a:lnTo>
                    <a:pt x="106" y="1542"/>
                  </a:lnTo>
                  <a:lnTo>
                    <a:pt x="68" y="1457"/>
                  </a:lnTo>
                  <a:lnTo>
                    <a:pt x="38" y="1370"/>
                  </a:lnTo>
                  <a:lnTo>
                    <a:pt x="17" y="1281"/>
                  </a:lnTo>
                  <a:lnTo>
                    <a:pt x="4" y="1192"/>
                  </a:lnTo>
                  <a:lnTo>
                    <a:pt x="0" y="1101"/>
                  </a:lnTo>
                  <a:lnTo>
                    <a:pt x="4" y="1009"/>
                  </a:lnTo>
                  <a:lnTo>
                    <a:pt x="17" y="920"/>
                  </a:lnTo>
                  <a:lnTo>
                    <a:pt x="38" y="831"/>
                  </a:lnTo>
                  <a:lnTo>
                    <a:pt x="68" y="744"/>
                  </a:lnTo>
                  <a:lnTo>
                    <a:pt x="104" y="659"/>
                  </a:lnTo>
                  <a:lnTo>
                    <a:pt x="149" y="577"/>
                  </a:lnTo>
                  <a:lnTo>
                    <a:pt x="202" y="498"/>
                  </a:lnTo>
                  <a:lnTo>
                    <a:pt x="261" y="424"/>
                  </a:lnTo>
                  <a:lnTo>
                    <a:pt x="327" y="356"/>
                  </a:lnTo>
                  <a:lnTo>
                    <a:pt x="400" y="290"/>
                  </a:lnTo>
                  <a:lnTo>
                    <a:pt x="476" y="233"/>
                  </a:lnTo>
                  <a:lnTo>
                    <a:pt x="559" y="180"/>
                  </a:lnTo>
                  <a:lnTo>
                    <a:pt x="648" y="133"/>
                  </a:lnTo>
                  <a:lnTo>
                    <a:pt x="740" y="93"/>
                  </a:lnTo>
                  <a:lnTo>
                    <a:pt x="835" y="59"/>
                  </a:lnTo>
                  <a:lnTo>
                    <a:pt x="933" y="34"/>
                  </a:lnTo>
                  <a:lnTo>
                    <a:pt x="1033" y="15"/>
                  </a:lnTo>
                  <a:lnTo>
                    <a:pt x="1135" y="4"/>
                  </a:lnTo>
                  <a:lnTo>
                    <a:pt x="1237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37404" name="Group 28"/>
          <p:cNvGrpSpPr>
            <a:grpSpLocks/>
          </p:cNvGrpSpPr>
          <p:nvPr/>
        </p:nvGrpSpPr>
        <p:grpSpPr bwMode="auto">
          <a:xfrm>
            <a:off x="1882775" y="3287713"/>
            <a:ext cx="2160588" cy="1652587"/>
            <a:chOff x="1070" y="2167"/>
            <a:chExt cx="1361" cy="1041"/>
          </a:xfrm>
        </p:grpSpPr>
        <p:sp>
          <p:nvSpPr>
            <p:cNvPr id="1637405" name="Rectangle 29"/>
            <p:cNvSpPr>
              <a:spLocks noChangeArrowheads="1"/>
            </p:cNvSpPr>
            <p:nvPr/>
          </p:nvSpPr>
          <p:spPr bwMode="auto">
            <a:xfrm>
              <a:off x="1070" y="2560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FF0000"/>
                  </a:solidFill>
                </a:rPr>
                <a:t>3</a:t>
              </a:r>
              <a:endParaRPr lang="en-US"/>
            </a:p>
          </p:txBody>
        </p:sp>
        <p:sp>
          <p:nvSpPr>
            <p:cNvPr id="1637406" name="Freeform 30"/>
            <p:cNvSpPr>
              <a:spLocks/>
            </p:cNvSpPr>
            <p:nvPr/>
          </p:nvSpPr>
          <p:spPr bwMode="auto">
            <a:xfrm>
              <a:off x="1114" y="2167"/>
              <a:ext cx="1317" cy="1041"/>
            </a:xfrm>
            <a:custGeom>
              <a:avLst/>
              <a:gdLst>
                <a:gd name="T0" fmla="*/ 441 w 1317"/>
                <a:gd name="T1" fmla="*/ 174 h 1041"/>
                <a:gd name="T2" fmla="*/ 506 w 1317"/>
                <a:gd name="T3" fmla="*/ 134 h 1041"/>
                <a:gd name="T4" fmla="*/ 574 w 1317"/>
                <a:gd name="T5" fmla="*/ 100 h 1041"/>
                <a:gd name="T6" fmla="*/ 643 w 1317"/>
                <a:gd name="T7" fmla="*/ 70 h 1041"/>
                <a:gd name="T8" fmla="*/ 711 w 1317"/>
                <a:gd name="T9" fmla="*/ 47 h 1041"/>
                <a:gd name="T10" fmla="*/ 781 w 1317"/>
                <a:gd name="T11" fmla="*/ 26 h 1041"/>
                <a:gd name="T12" fmla="*/ 847 w 1317"/>
                <a:gd name="T13" fmla="*/ 13 h 1041"/>
                <a:gd name="T14" fmla="*/ 910 w 1317"/>
                <a:gd name="T15" fmla="*/ 4 h 1041"/>
                <a:gd name="T16" fmla="*/ 974 w 1317"/>
                <a:gd name="T17" fmla="*/ 0 h 1041"/>
                <a:gd name="T18" fmla="*/ 1032 w 1317"/>
                <a:gd name="T19" fmla="*/ 4 h 1041"/>
                <a:gd name="T20" fmla="*/ 1087 w 1317"/>
                <a:gd name="T21" fmla="*/ 13 h 1041"/>
                <a:gd name="T22" fmla="*/ 1136 w 1317"/>
                <a:gd name="T23" fmla="*/ 26 h 1041"/>
                <a:gd name="T24" fmla="*/ 1180 w 1317"/>
                <a:gd name="T25" fmla="*/ 45 h 1041"/>
                <a:gd name="T26" fmla="*/ 1219 w 1317"/>
                <a:gd name="T27" fmla="*/ 70 h 1041"/>
                <a:gd name="T28" fmla="*/ 1253 w 1317"/>
                <a:gd name="T29" fmla="*/ 100 h 1041"/>
                <a:gd name="T30" fmla="*/ 1278 w 1317"/>
                <a:gd name="T31" fmla="*/ 134 h 1041"/>
                <a:gd name="T32" fmla="*/ 1297 w 1317"/>
                <a:gd name="T33" fmla="*/ 172 h 1041"/>
                <a:gd name="T34" fmla="*/ 1310 w 1317"/>
                <a:gd name="T35" fmla="*/ 214 h 1041"/>
                <a:gd name="T36" fmla="*/ 1317 w 1317"/>
                <a:gd name="T37" fmla="*/ 261 h 1041"/>
                <a:gd name="T38" fmla="*/ 1314 w 1317"/>
                <a:gd name="T39" fmla="*/ 310 h 1041"/>
                <a:gd name="T40" fmla="*/ 1304 w 1317"/>
                <a:gd name="T41" fmla="*/ 359 h 1041"/>
                <a:gd name="T42" fmla="*/ 1289 w 1317"/>
                <a:gd name="T43" fmla="*/ 412 h 1041"/>
                <a:gd name="T44" fmla="*/ 1265 w 1317"/>
                <a:gd name="T45" fmla="*/ 467 h 1041"/>
                <a:gd name="T46" fmla="*/ 1236 w 1317"/>
                <a:gd name="T47" fmla="*/ 520 h 1041"/>
                <a:gd name="T48" fmla="*/ 1200 w 1317"/>
                <a:gd name="T49" fmla="*/ 575 h 1041"/>
                <a:gd name="T50" fmla="*/ 1157 w 1317"/>
                <a:gd name="T51" fmla="*/ 628 h 1041"/>
                <a:gd name="T52" fmla="*/ 1110 w 1317"/>
                <a:gd name="T53" fmla="*/ 681 h 1041"/>
                <a:gd name="T54" fmla="*/ 1057 w 1317"/>
                <a:gd name="T55" fmla="*/ 732 h 1041"/>
                <a:gd name="T56" fmla="*/ 1000 w 1317"/>
                <a:gd name="T57" fmla="*/ 781 h 1041"/>
                <a:gd name="T58" fmla="*/ 940 w 1317"/>
                <a:gd name="T59" fmla="*/ 825 h 1041"/>
                <a:gd name="T60" fmla="*/ 876 w 1317"/>
                <a:gd name="T61" fmla="*/ 868 h 1041"/>
                <a:gd name="T62" fmla="*/ 810 w 1317"/>
                <a:gd name="T63" fmla="*/ 908 h 1041"/>
                <a:gd name="T64" fmla="*/ 742 w 1317"/>
                <a:gd name="T65" fmla="*/ 942 h 1041"/>
                <a:gd name="T66" fmla="*/ 674 w 1317"/>
                <a:gd name="T67" fmla="*/ 971 h 1041"/>
                <a:gd name="T68" fmla="*/ 604 w 1317"/>
                <a:gd name="T69" fmla="*/ 995 h 1041"/>
                <a:gd name="T70" fmla="*/ 536 w 1317"/>
                <a:gd name="T71" fmla="*/ 1016 h 1041"/>
                <a:gd name="T72" fmla="*/ 470 w 1317"/>
                <a:gd name="T73" fmla="*/ 1029 h 1041"/>
                <a:gd name="T74" fmla="*/ 404 w 1317"/>
                <a:gd name="T75" fmla="*/ 1037 h 1041"/>
                <a:gd name="T76" fmla="*/ 343 w 1317"/>
                <a:gd name="T77" fmla="*/ 1041 h 1041"/>
                <a:gd name="T78" fmla="*/ 283 w 1317"/>
                <a:gd name="T79" fmla="*/ 1037 h 1041"/>
                <a:gd name="T80" fmla="*/ 230 w 1317"/>
                <a:gd name="T81" fmla="*/ 1029 h 1041"/>
                <a:gd name="T82" fmla="*/ 179 w 1317"/>
                <a:gd name="T83" fmla="*/ 1016 h 1041"/>
                <a:gd name="T84" fmla="*/ 134 w 1317"/>
                <a:gd name="T85" fmla="*/ 997 h 1041"/>
                <a:gd name="T86" fmla="*/ 96 w 1317"/>
                <a:gd name="T87" fmla="*/ 971 h 1041"/>
                <a:gd name="T88" fmla="*/ 64 w 1317"/>
                <a:gd name="T89" fmla="*/ 942 h 1041"/>
                <a:gd name="T90" fmla="*/ 37 w 1317"/>
                <a:gd name="T91" fmla="*/ 908 h 1041"/>
                <a:gd name="T92" fmla="*/ 17 w 1317"/>
                <a:gd name="T93" fmla="*/ 870 h 1041"/>
                <a:gd name="T94" fmla="*/ 7 w 1317"/>
                <a:gd name="T95" fmla="*/ 827 h 1041"/>
                <a:gd name="T96" fmla="*/ 0 w 1317"/>
                <a:gd name="T97" fmla="*/ 781 h 1041"/>
                <a:gd name="T98" fmla="*/ 3 w 1317"/>
                <a:gd name="T99" fmla="*/ 732 h 1041"/>
                <a:gd name="T100" fmla="*/ 11 w 1317"/>
                <a:gd name="T101" fmla="*/ 681 h 1041"/>
                <a:gd name="T102" fmla="*/ 28 w 1317"/>
                <a:gd name="T103" fmla="*/ 630 h 1041"/>
                <a:gd name="T104" fmla="*/ 51 w 1317"/>
                <a:gd name="T105" fmla="*/ 575 h 1041"/>
                <a:gd name="T106" fmla="*/ 81 w 1317"/>
                <a:gd name="T107" fmla="*/ 522 h 1041"/>
                <a:gd name="T108" fmla="*/ 117 w 1317"/>
                <a:gd name="T109" fmla="*/ 467 h 1041"/>
                <a:gd name="T110" fmla="*/ 160 w 1317"/>
                <a:gd name="T111" fmla="*/ 414 h 1041"/>
                <a:gd name="T112" fmla="*/ 207 w 1317"/>
                <a:gd name="T113" fmla="*/ 361 h 1041"/>
                <a:gd name="T114" fmla="*/ 260 w 1317"/>
                <a:gd name="T115" fmla="*/ 310 h 1041"/>
                <a:gd name="T116" fmla="*/ 315 w 1317"/>
                <a:gd name="T117" fmla="*/ 261 h 1041"/>
                <a:gd name="T118" fmla="*/ 377 w 1317"/>
                <a:gd name="T119" fmla="*/ 216 h 1041"/>
                <a:gd name="T120" fmla="*/ 441 w 1317"/>
                <a:gd name="T121" fmla="*/ 174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17" h="1041">
                  <a:moveTo>
                    <a:pt x="441" y="174"/>
                  </a:moveTo>
                  <a:lnTo>
                    <a:pt x="506" y="134"/>
                  </a:lnTo>
                  <a:lnTo>
                    <a:pt x="574" y="100"/>
                  </a:lnTo>
                  <a:lnTo>
                    <a:pt x="643" y="70"/>
                  </a:lnTo>
                  <a:lnTo>
                    <a:pt x="711" y="47"/>
                  </a:lnTo>
                  <a:lnTo>
                    <a:pt x="781" y="26"/>
                  </a:lnTo>
                  <a:lnTo>
                    <a:pt x="847" y="13"/>
                  </a:lnTo>
                  <a:lnTo>
                    <a:pt x="910" y="4"/>
                  </a:lnTo>
                  <a:lnTo>
                    <a:pt x="974" y="0"/>
                  </a:lnTo>
                  <a:lnTo>
                    <a:pt x="1032" y="4"/>
                  </a:lnTo>
                  <a:lnTo>
                    <a:pt x="1087" y="13"/>
                  </a:lnTo>
                  <a:lnTo>
                    <a:pt x="1136" y="26"/>
                  </a:lnTo>
                  <a:lnTo>
                    <a:pt x="1180" y="45"/>
                  </a:lnTo>
                  <a:lnTo>
                    <a:pt x="1219" y="70"/>
                  </a:lnTo>
                  <a:lnTo>
                    <a:pt x="1253" y="100"/>
                  </a:lnTo>
                  <a:lnTo>
                    <a:pt x="1278" y="134"/>
                  </a:lnTo>
                  <a:lnTo>
                    <a:pt x="1297" y="172"/>
                  </a:lnTo>
                  <a:lnTo>
                    <a:pt x="1310" y="214"/>
                  </a:lnTo>
                  <a:lnTo>
                    <a:pt x="1317" y="261"/>
                  </a:lnTo>
                  <a:lnTo>
                    <a:pt x="1314" y="310"/>
                  </a:lnTo>
                  <a:lnTo>
                    <a:pt x="1304" y="359"/>
                  </a:lnTo>
                  <a:lnTo>
                    <a:pt x="1289" y="412"/>
                  </a:lnTo>
                  <a:lnTo>
                    <a:pt x="1265" y="467"/>
                  </a:lnTo>
                  <a:lnTo>
                    <a:pt x="1236" y="520"/>
                  </a:lnTo>
                  <a:lnTo>
                    <a:pt x="1200" y="575"/>
                  </a:lnTo>
                  <a:lnTo>
                    <a:pt x="1157" y="628"/>
                  </a:lnTo>
                  <a:lnTo>
                    <a:pt x="1110" y="681"/>
                  </a:lnTo>
                  <a:lnTo>
                    <a:pt x="1057" y="732"/>
                  </a:lnTo>
                  <a:lnTo>
                    <a:pt x="1000" y="781"/>
                  </a:lnTo>
                  <a:lnTo>
                    <a:pt x="940" y="825"/>
                  </a:lnTo>
                  <a:lnTo>
                    <a:pt x="876" y="868"/>
                  </a:lnTo>
                  <a:lnTo>
                    <a:pt x="810" y="908"/>
                  </a:lnTo>
                  <a:lnTo>
                    <a:pt x="742" y="942"/>
                  </a:lnTo>
                  <a:lnTo>
                    <a:pt x="674" y="971"/>
                  </a:lnTo>
                  <a:lnTo>
                    <a:pt x="604" y="995"/>
                  </a:lnTo>
                  <a:lnTo>
                    <a:pt x="536" y="1016"/>
                  </a:lnTo>
                  <a:lnTo>
                    <a:pt x="470" y="1029"/>
                  </a:lnTo>
                  <a:lnTo>
                    <a:pt x="404" y="1037"/>
                  </a:lnTo>
                  <a:lnTo>
                    <a:pt x="343" y="1041"/>
                  </a:lnTo>
                  <a:lnTo>
                    <a:pt x="283" y="1037"/>
                  </a:lnTo>
                  <a:lnTo>
                    <a:pt x="230" y="1029"/>
                  </a:lnTo>
                  <a:lnTo>
                    <a:pt x="179" y="1016"/>
                  </a:lnTo>
                  <a:lnTo>
                    <a:pt x="134" y="997"/>
                  </a:lnTo>
                  <a:lnTo>
                    <a:pt x="96" y="971"/>
                  </a:lnTo>
                  <a:lnTo>
                    <a:pt x="64" y="942"/>
                  </a:lnTo>
                  <a:lnTo>
                    <a:pt x="37" y="908"/>
                  </a:lnTo>
                  <a:lnTo>
                    <a:pt x="17" y="870"/>
                  </a:lnTo>
                  <a:lnTo>
                    <a:pt x="7" y="827"/>
                  </a:lnTo>
                  <a:lnTo>
                    <a:pt x="0" y="781"/>
                  </a:lnTo>
                  <a:lnTo>
                    <a:pt x="3" y="732"/>
                  </a:lnTo>
                  <a:lnTo>
                    <a:pt x="11" y="681"/>
                  </a:lnTo>
                  <a:lnTo>
                    <a:pt x="28" y="630"/>
                  </a:lnTo>
                  <a:lnTo>
                    <a:pt x="51" y="575"/>
                  </a:lnTo>
                  <a:lnTo>
                    <a:pt x="81" y="522"/>
                  </a:lnTo>
                  <a:lnTo>
                    <a:pt x="117" y="467"/>
                  </a:lnTo>
                  <a:lnTo>
                    <a:pt x="160" y="414"/>
                  </a:lnTo>
                  <a:lnTo>
                    <a:pt x="207" y="361"/>
                  </a:lnTo>
                  <a:lnTo>
                    <a:pt x="260" y="310"/>
                  </a:lnTo>
                  <a:lnTo>
                    <a:pt x="315" y="261"/>
                  </a:lnTo>
                  <a:lnTo>
                    <a:pt x="377" y="216"/>
                  </a:lnTo>
                  <a:lnTo>
                    <a:pt x="441" y="174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37407" name="Group 31"/>
          <p:cNvGrpSpPr>
            <a:grpSpLocks/>
          </p:cNvGrpSpPr>
          <p:nvPr/>
        </p:nvGrpSpPr>
        <p:grpSpPr bwMode="auto">
          <a:xfrm>
            <a:off x="615950" y="2025650"/>
            <a:ext cx="2906713" cy="1520825"/>
            <a:chOff x="272" y="1372"/>
            <a:chExt cx="1831" cy="958"/>
          </a:xfrm>
        </p:grpSpPr>
        <p:sp>
          <p:nvSpPr>
            <p:cNvPr id="1637408" name="Rectangle 32"/>
            <p:cNvSpPr>
              <a:spLocks noChangeArrowheads="1"/>
            </p:cNvSpPr>
            <p:nvPr/>
          </p:nvSpPr>
          <p:spPr bwMode="auto">
            <a:xfrm>
              <a:off x="1165" y="1380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100">
                  <a:solidFill>
                    <a:srgbClr val="FF0000"/>
                  </a:solidFill>
                </a:rPr>
                <a:t>4</a:t>
              </a:r>
              <a:endParaRPr lang="en-US"/>
            </a:p>
          </p:txBody>
        </p:sp>
        <p:sp>
          <p:nvSpPr>
            <p:cNvPr id="1637409" name="Freeform 33"/>
            <p:cNvSpPr>
              <a:spLocks/>
            </p:cNvSpPr>
            <p:nvPr/>
          </p:nvSpPr>
          <p:spPr bwMode="auto">
            <a:xfrm>
              <a:off x="272" y="1372"/>
              <a:ext cx="1831" cy="958"/>
            </a:xfrm>
            <a:custGeom>
              <a:avLst/>
              <a:gdLst>
                <a:gd name="T0" fmla="*/ 906 w 1831"/>
                <a:gd name="T1" fmla="*/ 25 h 958"/>
                <a:gd name="T2" fmla="*/ 1081 w 1831"/>
                <a:gd name="T3" fmla="*/ 4 h 958"/>
                <a:gd name="T4" fmla="*/ 1246 w 1831"/>
                <a:gd name="T5" fmla="*/ 0 h 958"/>
                <a:gd name="T6" fmla="*/ 1404 w 1831"/>
                <a:gd name="T7" fmla="*/ 13 h 958"/>
                <a:gd name="T8" fmla="*/ 1542 w 1831"/>
                <a:gd name="T9" fmla="*/ 42 h 958"/>
                <a:gd name="T10" fmla="*/ 1657 w 1831"/>
                <a:gd name="T11" fmla="*/ 87 h 958"/>
                <a:gd name="T12" fmla="*/ 1744 w 1831"/>
                <a:gd name="T13" fmla="*/ 146 h 958"/>
                <a:gd name="T14" fmla="*/ 1803 w 1831"/>
                <a:gd name="T15" fmla="*/ 218 h 958"/>
                <a:gd name="T16" fmla="*/ 1829 w 1831"/>
                <a:gd name="T17" fmla="*/ 299 h 958"/>
                <a:gd name="T18" fmla="*/ 1823 w 1831"/>
                <a:gd name="T19" fmla="*/ 388 h 958"/>
                <a:gd name="T20" fmla="*/ 1784 w 1831"/>
                <a:gd name="T21" fmla="*/ 477 h 958"/>
                <a:gd name="T22" fmla="*/ 1714 w 1831"/>
                <a:gd name="T23" fmla="*/ 568 h 958"/>
                <a:gd name="T24" fmla="*/ 1614 w 1831"/>
                <a:gd name="T25" fmla="*/ 657 h 958"/>
                <a:gd name="T26" fmla="*/ 1489 w 1831"/>
                <a:gd name="T27" fmla="*/ 738 h 958"/>
                <a:gd name="T28" fmla="*/ 1344 w 1831"/>
                <a:gd name="T29" fmla="*/ 810 h 958"/>
                <a:gd name="T30" fmla="*/ 1183 w 1831"/>
                <a:gd name="T31" fmla="*/ 869 h 958"/>
                <a:gd name="T32" fmla="*/ 1010 w 1831"/>
                <a:gd name="T33" fmla="*/ 914 h 958"/>
                <a:gd name="T34" fmla="*/ 838 w 1831"/>
                <a:gd name="T35" fmla="*/ 946 h 958"/>
                <a:gd name="T36" fmla="*/ 666 w 1831"/>
                <a:gd name="T37" fmla="*/ 958 h 958"/>
                <a:gd name="T38" fmla="*/ 504 w 1831"/>
                <a:gd name="T39" fmla="*/ 954 h 958"/>
                <a:gd name="T40" fmla="*/ 356 w 1831"/>
                <a:gd name="T41" fmla="*/ 933 h 958"/>
                <a:gd name="T42" fmla="*/ 228 w 1831"/>
                <a:gd name="T43" fmla="*/ 895 h 958"/>
                <a:gd name="T44" fmla="*/ 126 w 1831"/>
                <a:gd name="T45" fmla="*/ 842 h 958"/>
                <a:gd name="T46" fmla="*/ 51 w 1831"/>
                <a:gd name="T47" fmla="*/ 776 h 958"/>
                <a:gd name="T48" fmla="*/ 9 w 1831"/>
                <a:gd name="T49" fmla="*/ 700 h 958"/>
                <a:gd name="T50" fmla="*/ 0 w 1831"/>
                <a:gd name="T51" fmla="*/ 615 h 958"/>
                <a:gd name="T52" fmla="*/ 22 w 1831"/>
                <a:gd name="T53" fmla="*/ 524 h 958"/>
                <a:gd name="T54" fmla="*/ 77 w 1831"/>
                <a:gd name="T55" fmla="*/ 432 h 958"/>
                <a:gd name="T56" fmla="*/ 164 w 1831"/>
                <a:gd name="T57" fmla="*/ 343 h 958"/>
                <a:gd name="T58" fmla="*/ 277 w 1831"/>
                <a:gd name="T59" fmla="*/ 259 h 958"/>
                <a:gd name="T60" fmla="*/ 413 w 1831"/>
                <a:gd name="T61" fmla="*/ 182 h 958"/>
                <a:gd name="T62" fmla="*/ 566 w 1831"/>
                <a:gd name="T63" fmla="*/ 116 h 958"/>
                <a:gd name="T64" fmla="*/ 732 w 1831"/>
                <a:gd name="T65" fmla="*/ 63 h 9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831" h="958">
                  <a:moveTo>
                    <a:pt x="819" y="42"/>
                  </a:moveTo>
                  <a:lnTo>
                    <a:pt x="906" y="25"/>
                  </a:lnTo>
                  <a:lnTo>
                    <a:pt x="993" y="13"/>
                  </a:lnTo>
                  <a:lnTo>
                    <a:pt x="1081" y="4"/>
                  </a:lnTo>
                  <a:lnTo>
                    <a:pt x="1166" y="0"/>
                  </a:lnTo>
                  <a:lnTo>
                    <a:pt x="1246" y="0"/>
                  </a:lnTo>
                  <a:lnTo>
                    <a:pt x="1327" y="4"/>
                  </a:lnTo>
                  <a:lnTo>
                    <a:pt x="1404" y="13"/>
                  </a:lnTo>
                  <a:lnTo>
                    <a:pt x="1474" y="25"/>
                  </a:lnTo>
                  <a:lnTo>
                    <a:pt x="1542" y="42"/>
                  </a:lnTo>
                  <a:lnTo>
                    <a:pt x="1601" y="63"/>
                  </a:lnTo>
                  <a:lnTo>
                    <a:pt x="1657" y="87"/>
                  </a:lnTo>
                  <a:lnTo>
                    <a:pt x="1704" y="116"/>
                  </a:lnTo>
                  <a:lnTo>
                    <a:pt x="1744" y="146"/>
                  </a:lnTo>
                  <a:lnTo>
                    <a:pt x="1778" y="182"/>
                  </a:lnTo>
                  <a:lnTo>
                    <a:pt x="1803" y="218"/>
                  </a:lnTo>
                  <a:lnTo>
                    <a:pt x="1820" y="259"/>
                  </a:lnTo>
                  <a:lnTo>
                    <a:pt x="1829" y="299"/>
                  </a:lnTo>
                  <a:lnTo>
                    <a:pt x="1831" y="343"/>
                  </a:lnTo>
                  <a:lnTo>
                    <a:pt x="1823" y="388"/>
                  </a:lnTo>
                  <a:lnTo>
                    <a:pt x="1808" y="432"/>
                  </a:lnTo>
                  <a:lnTo>
                    <a:pt x="1784" y="477"/>
                  </a:lnTo>
                  <a:lnTo>
                    <a:pt x="1752" y="524"/>
                  </a:lnTo>
                  <a:lnTo>
                    <a:pt x="1714" y="568"/>
                  </a:lnTo>
                  <a:lnTo>
                    <a:pt x="1667" y="613"/>
                  </a:lnTo>
                  <a:lnTo>
                    <a:pt x="1614" y="657"/>
                  </a:lnTo>
                  <a:lnTo>
                    <a:pt x="1555" y="698"/>
                  </a:lnTo>
                  <a:lnTo>
                    <a:pt x="1489" y="738"/>
                  </a:lnTo>
                  <a:lnTo>
                    <a:pt x="1419" y="774"/>
                  </a:lnTo>
                  <a:lnTo>
                    <a:pt x="1344" y="810"/>
                  </a:lnTo>
                  <a:lnTo>
                    <a:pt x="1263" y="842"/>
                  </a:lnTo>
                  <a:lnTo>
                    <a:pt x="1183" y="869"/>
                  </a:lnTo>
                  <a:lnTo>
                    <a:pt x="1098" y="895"/>
                  </a:lnTo>
                  <a:lnTo>
                    <a:pt x="1010" y="914"/>
                  </a:lnTo>
                  <a:lnTo>
                    <a:pt x="925" y="931"/>
                  </a:lnTo>
                  <a:lnTo>
                    <a:pt x="838" y="946"/>
                  </a:lnTo>
                  <a:lnTo>
                    <a:pt x="751" y="954"/>
                  </a:lnTo>
                  <a:lnTo>
                    <a:pt x="666" y="958"/>
                  </a:lnTo>
                  <a:lnTo>
                    <a:pt x="583" y="958"/>
                  </a:lnTo>
                  <a:lnTo>
                    <a:pt x="504" y="954"/>
                  </a:lnTo>
                  <a:lnTo>
                    <a:pt x="428" y="946"/>
                  </a:lnTo>
                  <a:lnTo>
                    <a:pt x="356" y="933"/>
                  </a:lnTo>
                  <a:lnTo>
                    <a:pt x="290" y="916"/>
                  </a:lnTo>
                  <a:lnTo>
                    <a:pt x="228" y="895"/>
                  </a:lnTo>
                  <a:lnTo>
                    <a:pt x="175" y="869"/>
                  </a:lnTo>
                  <a:lnTo>
                    <a:pt x="126" y="842"/>
                  </a:lnTo>
                  <a:lnTo>
                    <a:pt x="86" y="810"/>
                  </a:lnTo>
                  <a:lnTo>
                    <a:pt x="51" y="776"/>
                  </a:lnTo>
                  <a:lnTo>
                    <a:pt x="26" y="738"/>
                  </a:lnTo>
                  <a:lnTo>
                    <a:pt x="9" y="700"/>
                  </a:lnTo>
                  <a:lnTo>
                    <a:pt x="0" y="657"/>
                  </a:lnTo>
                  <a:lnTo>
                    <a:pt x="0" y="615"/>
                  </a:lnTo>
                  <a:lnTo>
                    <a:pt x="7" y="570"/>
                  </a:lnTo>
                  <a:lnTo>
                    <a:pt x="22" y="524"/>
                  </a:lnTo>
                  <a:lnTo>
                    <a:pt x="47" y="479"/>
                  </a:lnTo>
                  <a:lnTo>
                    <a:pt x="77" y="432"/>
                  </a:lnTo>
                  <a:lnTo>
                    <a:pt x="117" y="388"/>
                  </a:lnTo>
                  <a:lnTo>
                    <a:pt x="164" y="343"/>
                  </a:lnTo>
                  <a:lnTo>
                    <a:pt x="217" y="301"/>
                  </a:lnTo>
                  <a:lnTo>
                    <a:pt x="277" y="259"/>
                  </a:lnTo>
                  <a:lnTo>
                    <a:pt x="341" y="220"/>
                  </a:lnTo>
                  <a:lnTo>
                    <a:pt x="413" y="182"/>
                  </a:lnTo>
                  <a:lnTo>
                    <a:pt x="487" y="148"/>
                  </a:lnTo>
                  <a:lnTo>
                    <a:pt x="566" y="116"/>
                  </a:lnTo>
                  <a:lnTo>
                    <a:pt x="649" y="89"/>
                  </a:lnTo>
                  <a:lnTo>
                    <a:pt x="732" y="63"/>
                  </a:lnTo>
                  <a:lnTo>
                    <a:pt x="819" y="4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334928"/>
              </p:ext>
            </p:extLst>
          </p:nvPr>
        </p:nvGraphicFramePr>
        <p:xfrm>
          <a:off x="5460999" y="1505109"/>
          <a:ext cx="3219451" cy="23469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4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5029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916551"/>
              </p:ext>
            </p:extLst>
          </p:nvPr>
        </p:nvGraphicFramePr>
        <p:xfrm>
          <a:off x="5460999" y="1507490"/>
          <a:ext cx="3219451" cy="23469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4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5029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161742"/>
              </p:ext>
            </p:extLst>
          </p:nvPr>
        </p:nvGraphicFramePr>
        <p:xfrm>
          <a:off x="5460999" y="1505109"/>
          <a:ext cx="3219451" cy="23469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4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5029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39" name="Straight Connector 38"/>
          <p:cNvCxnSpPr>
            <a:stCxn id="1637387" idx="8"/>
            <a:endCxn id="1637388" idx="0"/>
          </p:cNvCxnSpPr>
          <p:nvPr/>
        </p:nvCxnSpPr>
        <p:spPr>
          <a:xfrm>
            <a:off x="2773362" y="3759200"/>
            <a:ext cx="614363" cy="90488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1637386" idx="8"/>
            <a:endCxn id="1637383" idx="0"/>
          </p:cNvCxnSpPr>
          <p:nvPr/>
        </p:nvCxnSpPr>
        <p:spPr>
          <a:xfrm>
            <a:off x="930275" y="3082925"/>
            <a:ext cx="800100" cy="195262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1637383" idx="9"/>
            <a:endCxn id="1637387" idx="2"/>
          </p:cNvCxnSpPr>
          <p:nvPr/>
        </p:nvCxnSpPr>
        <p:spPr>
          <a:xfrm>
            <a:off x="1865312" y="3305175"/>
            <a:ext cx="790575" cy="403225"/>
          </a:xfrm>
          <a:prstGeom prst="line">
            <a:avLst/>
          </a:prstGeom>
          <a:ln w="1905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1637387" idx="14"/>
            <a:endCxn id="1637385" idx="5"/>
          </p:cNvCxnSpPr>
          <p:nvPr/>
        </p:nvCxnSpPr>
        <p:spPr>
          <a:xfrm flipH="1">
            <a:off x="2176463" y="3806825"/>
            <a:ext cx="479424" cy="769938"/>
          </a:xfrm>
          <a:prstGeom prst="line">
            <a:avLst/>
          </a:prstGeom>
          <a:ln w="1905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1637383" idx="11"/>
            <a:endCxn id="1637385" idx="3"/>
          </p:cNvCxnSpPr>
          <p:nvPr/>
        </p:nvCxnSpPr>
        <p:spPr>
          <a:xfrm>
            <a:off x="1828800" y="3341687"/>
            <a:ext cx="293688" cy="1235076"/>
          </a:xfrm>
          <a:prstGeom prst="line">
            <a:avLst/>
          </a:prstGeom>
          <a:ln w="1905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1637385" idx="7"/>
            <a:endCxn id="1637388" idx="13"/>
          </p:cNvCxnSpPr>
          <p:nvPr/>
        </p:nvCxnSpPr>
        <p:spPr>
          <a:xfrm flipV="1">
            <a:off x="2212975" y="3914775"/>
            <a:ext cx="1219200" cy="700088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637387" idx="4"/>
            <a:endCxn id="1637384" idx="12"/>
          </p:cNvCxnSpPr>
          <p:nvPr/>
        </p:nvCxnSpPr>
        <p:spPr>
          <a:xfrm flipV="1">
            <a:off x="2701925" y="2347912"/>
            <a:ext cx="382587" cy="1339851"/>
          </a:xfrm>
          <a:prstGeom prst="line">
            <a:avLst/>
          </a:prstGeom>
          <a:ln w="1905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stCxn id="1637388" idx="3"/>
            <a:endCxn id="1637384" idx="11"/>
          </p:cNvCxnSpPr>
          <p:nvPr/>
        </p:nvCxnSpPr>
        <p:spPr>
          <a:xfrm flipH="1" flipV="1">
            <a:off x="3108325" y="2341562"/>
            <a:ext cx="323850" cy="1444626"/>
          </a:xfrm>
          <a:prstGeom prst="line">
            <a:avLst/>
          </a:prstGeom>
          <a:ln w="1905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>
            <a:stCxn id="1637383" idx="7"/>
            <a:endCxn id="1637384" idx="13"/>
          </p:cNvCxnSpPr>
          <p:nvPr/>
        </p:nvCxnSpPr>
        <p:spPr>
          <a:xfrm flipV="1">
            <a:off x="1865312" y="2341562"/>
            <a:ext cx="1192213" cy="909638"/>
          </a:xfrm>
          <a:prstGeom prst="line">
            <a:avLst/>
          </a:prstGeom>
          <a:ln w="1905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1637386" idx="6"/>
            <a:endCxn id="1637384" idx="15"/>
          </p:cNvCxnSpPr>
          <p:nvPr/>
        </p:nvCxnSpPr>
        <p:spPr>
          <a:xfrm flipV="1">
            <a:off x="909638" y="2305050"/>
            <a:ext cx="2109787" cy="727075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1637387" idx="1"/>
            <a:endCxn id="1637386" idx="8"/>
          </p:cNvCxnSpPr>
          <p:nvPr/>
        </p:nvCxnSpPr>
        <p:spPr>
          <a:xfrm flipH="1" flipV="1">
            <a:off x="930275" y="3082925"/>
            <a:ext cx="1711325" cy="649288"/>
          </a:xfrm>
          <a:prstGeom prst="line">
            <a:avLst/>
          </a:prstGeom>
          <a:ln w="1905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1637385" idx="2"/>
            <a:endCxn id="1637386" idx="9"/>
          </p:cNvCxnSpPr>
          <p:nvPr/>
        </p:nvCxnSpPr>
        <p:spPr>
          <a:xfrm flipH="1" flipV="1">
            <a:off x="927100" y="3109913"/>
            <a:ext cx="1171575" cy="1481137"/>
          </a:xfrm>
          <a:prstGeom prst="line">
            <a:avLst/>
          </a:prstGeom>
          <a:ln w="1905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4" name="Table 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3451"/>
              </p:ext>
            </p:extLst>
          </p:nvPr>
        </p:nvGraphicFramePr>
        <p:xfrm>
          <a:off x="5460999" y="1506689"/>
          <a:ext cx="3219451" cy="23469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4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5029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5" name="Table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238570"/>
              </p:ext>
            </p:extLst>
          </p:nvPr>
        </p:nvGraphicFramePr>
        <p:xfrm>
          <a:off x="5460999" y="1505109"/>
          <a:ext cx="3219451" cy="23469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4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5029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7" name="Table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1626"/>
              </p:ext>
            </p:extLst>
          </p:nvPr>
        </p:nvGraphicFramePr>
        <p:xfrm>
          <a:off x="5460999" y="1523421"/>
          <a:ext cx="3219451" cy="23664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4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5029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72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</a:t>
                      </a:r>
                      <a:r>
                        <a:rPr lang="en-US" sz="16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7" name="Table 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612900"/>
              </p:ext>
            </p:extLst>
          </p:nvPr>
        </p:nvGraphicFramePr>
        <p:xfrm>
          <a:off x="5460999" y="1518276"/>
          <a:ext cx="3219451" cy="23469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4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5029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17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</a:t>
                      </a:r>
                      <a:r>
                        <a:rPr lang="en-US" sz="16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3" name="Table 8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9283089"/>
              </p:ext>
            </p:extLst>
          </p:nvPr>
        </p:nvGraphicFramePr>
        <p:xfrm>
          <a:off x="5460999" y="1515427"/>
          <a:ext cx="3219451" cy="23469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4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5029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</a:t>
                      </a:r>
                      <a:r>
                        <a:rPr lang="en-US" sz="16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8" name="Table 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005801"/>
              </p:ext>
            </p:extLst>
          </p:nvPr>
        </p:nvGraphicFramePr>
        <p:xfrm>
          <a:off x="5460999" y="1505109"/>
          <a:ext cx="3219451" cy="23469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4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5029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</a:t>
                      </a:r>
                      <a:r>
                        <a:rPr lang="en-US" sz="16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9" name="Table 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235039"/>
              </p:ext>
            </p:extLst>
          </p:nvPr>
        </p:nvGraphicFramePr>
        <p:xfrm>
          <a:off x="5460999" y="1505109"/>
          <a:ext cx="3219451" cy="23469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4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5029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</a:t>
                      </a:r>
                      <a:r>
                        <a:rPr lang="en-US" sz="16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240266"/>
              </p:ext>
            </p:extLst>
          </p:nvPr>
        </p:nvGraphicFramePr>
        <p:xfrm>
          <a:off x="5460999" y="1522356"/>
          <a:ext cx="3219451" cy="23469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4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5029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B050"/>
                          </a:solidFill>
                        </a:rPr>
                        <a:t>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</a:t>
                      </a:r>
                      <a:r>
                        <a:rPr lang="en-US" sz="16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764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7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7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7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7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7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7380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02" name="Rectangle 2"/>
          <p:cNvSpPr>
            <a:spLocks noGrp="1" noChangeArrowheads="1"/>
          </p:cNvSpPr>
          <p:nvPr>
            <p:ph type="title"/>
          </p:nvPr>
        </p:nvSpPr>
        <p:spPr>
          <a:xfrm>
            <a:off x="330200" y="381000"/>
            <a:ext cx="8280400" cy="1295400"/>
          </a:xfrm>
        </p:spPr>
        <p:txBody>
          <a:bodyPr>
            <a:normAutofit/>
          </a:bodyPr>
          <a:lstStyle/>
          <a:p>
            <a:r>
              <a:rPr lang="en-US" dirty="0"/>
              <a:t>Strength of MAX</a:t>
            </a:r>
          </a:p>
        </p:txBody>
      </p:sp>
      <p:sp>
        <p:nvSpPr>
          <p:cNvPr id="1638403" name="Text Box 3"/>
          <p:cNvSpPr txBox="1">
            <a:spLocks noChangeArrowheads="1"/>
          </p:cNvSpPr>
          <p:nvPr/>
        </p:nvSpPr>
        <p:spPr bwMode="auto">
          <a:xfrm>
            <a:off x="1370013" y="4357688"/>
            <a:ext cx="2895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Original Points</a:t>
            </a:r>
          </a:p>
        </p:txBody>
      </p:sp>
      <p:pic>
        <p:nvPicPr>
          <p:cNvPr id="163840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905"/>
          <a:stretch>
            <a:fillRect/>
          </a:stretch>
        </p:blipFill>
        <p:spPr bwMode="auto">
          <a:xfrm>
            <a:off x="303213" y="1295400"/>
            <a:ext cx="4268787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638405" name="Group 5"/>
          <p:cNvGrpSpPr>
            <a:grpSpLocks/>
          </p:cNvGrpSpPr>
          <p:nvPr/>
        </p:nvGrpSpPr>
        <p:grpSpPr bwMode="auto">
          <a:xfrm>
            <a:off x="4341813" y="1219200"/>
            <a:ext cx="4268787" cy="3505200"/>
            <a:chOff x="2735" y="768"/>
            <a:chExt cx="2689" cy="2208"/>
          </a:xfrm>
        </p:grpSpPr>
        <p:sp>
          <p:nvSpPr>
            <p:cNvPr id="1638406" name="Text Box 6"/>
            <p:cNvSpPr txBox="1">
              <a:spLocks noChangeArrowheads="1"/>
            </p:cNvSpPr>
            <p:nvPr/>
          </p:nvSpPr>
          <p:spPr bwMode="auto">
            <a:xfrm>
              <a:off x="3263" y="2745"/>
              <a:ext cx="18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/>
                <a:t>Two Clusters</a:t>
              </a:r>
            </a:p>
          </p:txBody>
        </p:sp>
        <p:pic>
          <p:nvPicPr>
            <p:cNvPr id="1638407" name="Picture 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1905"/>
            <a:stretch>
              <a:fillRect/>
            </a:stretch>
          </p:blipFill>
          <p:spPr bwMode="auto">
            <a:xfrm>
              <a:off x="2735" y="768"/>
              <a:ext cx="2689" cy="17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638408" name="Text Box 8"/>
          <p:cNvSpPr txBox="1">
            <a:spLocks noChangeArrowheads="1"/>
          </p:cNvSpPr>
          <p:nvPr/>
        </p:nvSpPr>
        <p:spPr bwMode="auto">
          <a:xfrm>
            <a:off x="609600" y="5576888"/>
            <a:ext cx="6324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sz="1800"/>
              <a:t> Less susceptible to noise and outliers</a:t>
            </a:r>
          </a:p>
        </p:txBody>
      </p:sp>
    </p:spTree>
    <p:extLst>
      <p:ext uri="{BB962C8B-B14F-4D97-AF65-F5344CB8AC3E}">
        <p14:creationId xmlns:p14="http://schemas.microsoft.com/office/powerpoint/2010/main" val="800861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08" grpId="0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426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381000"/>
            <a:ext cx="8280400" cy="1219200"/>
          </a:xfrm>
        </p:spPr>
        <p:txBody>
          <a:bodyPr>
            <a:normAutofit/>
          </a:bodyPr>
          <a:lstStyle/>
          <a:p>
            <a:r>
              <a:rPr lang="en-US" dirty="0"/>
              <a:t>Limitations of MAX</a:t>
            </a:r>
          </a:p>
        </p:txBody>
      </p:sp>
      <p:pic>
        <p:nvPicPr>
          <p:cNvPr id="16394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47800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39428" name="Text Box 4"/>
          <p:cNvSpPr txBox="1">
            <a:spLocks noChangeArrowheads="1"/>
          </p:cNvSpPr>
          <p:nvPr/>
        </p:nvSpPr>
        <p:spPr bwMode="auto">
          <a:xfrm>
            <a:off x="1066800" y="4738688"/>
            <a:ext cx="2895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Original Points</a:t>
            </a:r>
          </a:p>
        </p:txBody>
      </p:sp>
      <p:grpSp>
        <p:nvGrpSpPr>
          <p:cNvPr id="1639429" name="Group 5"/>
          <p:cNvGrpSpPr>
            <a:grpSpLocks/>
          </p:cNvGrpSpPr>
          <p:nvPr/>
        </p:nvGrpSpPr>
        <p:grpSpPr bwMode="auto">
          <a:xfrm>
            <a:off x="4418013" y="1371600"/>
            <a:ext cx="4268787" cy="3733800"/>
            <a:chOff x="2783" y="864"/>
            <a:chExt cx="2689" cy="2352"/>
          </a:xfrm>
        </p:grpSpPr>
        <p:pic>
          <p:nvPicPr>
            <p:cNvPr id="1639430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3" y="864"/>
              <a:ext cx="2689" cy="20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39431" name="Text Box 7"/>
            <p:cNvSpPr txBox="1">
              <a:spLocks noChangeArrowheads="1"/>
            </p:cNvSpPr>
            <p:nvPr/>
          </p:nvSpPr>
          <p:spPr bwMode="auto">
            <a:xfrm>
              <a:off x="3263" y="2985"/>
              <a:ext cx="18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/>
                <a:t>Two Clusters</a:t>
              </a:r>
            </a:p>
          </p:txBody>
        </p:sp>
      </p:grpSp>
      <p:sp>
        <p:nvSpPr>
          <p:cNvPr id="1639432" name="Text Box 8"/>
          <p:cNvSpPr txBox="1">
            <a:spLocks noChangeArrowheads="1"/>
          </p:cNvSpPr>
          <p:nvPr/>
        </p:nvSpPr>
        <p:spPr bwMode="auto">
          <a:xfrm>
            <a:off x="609600" y="5486400"/>
            <a:ext cx="63246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sz="1800"/>
              <a:t>Tends to break large clusters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1800"/>
              <a:t>Biased towards globular clusters</a:t>
            </a:r>
          </a:p>
        </p:txBody>
      </p:sp>
    </p:spTree>
    <p:extLst>
      <p:ext uri="{BB962C8B-B14F-4D97-AF65-F5344CB8AC3E}">
        <p14:creationId xmlns:p14="http://schemas.microsoft.com/office/powerpoint/2010/main" val="4186370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432" grpId="0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45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229600" cy="990600"/>
          </a:xfrm>
        </p:spPr>
        <p:txBody>
          <a:bodyPr/>
          <a:lstStyle/>
          <a:p>
            <a:r>
              <a:rPr lang="en-US" dirty="0"/>
              <a:t>Cluster Similarity: Group Average</a:t>
            </a:r>
          </a:p>
        </p:txBody>
      </p:sp>
      <p:sp>
        <p:nvSpPr>
          <p:cNvPr id="1640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85875"/>
            <a:ext cx="8318500" cy="3505200"/>
          </a:xfrm>
        </p:spPr>
        <p:txBody>
          <a:bodyPr/>
          <a:lstStyle/>
          <a:p>
            <a:r>
              <a:rPr lang="en-US" sz="2200" dirty="0"/>
              <a:t>Proximity of two clusters is the average of pairwise proximity between points in the two clusters.</a:t>
            </a:r>
          </a:p>
          <a:p>
            <a:endParaRPr lang="en-US" sz="2200" dirty="0"/>
          </a:p>
          <a:p>
            <a:endParaRPr lang="en-US" sz="2200" dirty="0"/>
          </a:p>
          <a:p>
            <a:pPr lvl="4"/>
            <a:endParaRPr lang="en-US" sz="1800" dirty="0"/>
          </a:p>
          <a:p>
            <a:r>
              <a:rPr lang="en-US" sz="2200" dirty="0"/>
              <a:t>Need to use average connectivity for scalability since total proximity favors large clusters</a:t>
            </a:r>
          </a:p>
          <a:p>
            <a:endParaRPr lang="en-US" sz="2200" dirty="0"/>
          </a:p>
        </p:txBody>
      </p:sp>
      <p:graphicFrame>
        <p:nvGraphicFramePr>
          <p:cNvPr id="1640452" name="Object 4"/>
          <p:cNvGraphicFramePr>
            <a:graphicFrameLocks noChangeAspect="1"/>
          </p:cNvGraphicFramePr>
          <p:nvPr/>
        </p:nvGraphicFramePr>
        <p:xfrm>
          <a:off x="2057400" y="1905000"/>
          <a:ext cx="5575300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3" name="Equation" r:id="rId3" imgW="3873240" imgH="698400" progId="Equation.3">
                  <p:embed/>
                </p:oleObj>
              </mc:Choice>
              <mc:Fallback>
                <p:oleObj name="Equation" r:id="rId3" imgW="387324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905000"/>
                        <a:ext cx="5575300" cy="998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>
            <p:extLst/>
          </p:nvPr>
        </p:nvGraphicFramePr>
        <p:xfrm>
          <a:off x="838200" y="4114800"/>
          <a:ext cx="3219451" cy="23469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4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5029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853791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474" name="Rectangle 2"/>
          <p:cNvSpPr>
            <a:spLocks noGrp="1" noChangeArrowheads="1"/>
          </p:cNvSpPr>
          <p:nvPr>
            <p:ph type="title"/>
          </p:nvPr>
        </p:nvSpPr>
        <p:spPr>
          <a:xfrm>
            <a:off x="482600" y="301625"/>
            <a:ext cx="8661400" cy="1295400"/>
          </a:xfrm>
        </p:spPr>
        <p:txBody>
          <a:bodyPr>
            <a:noAutofit/>
          </a:bodyPr>
          <a:lstStyle/>
          <a:p>
            <a:r>
              <a:rPr lang="en-US" dirty="0"/>
              <a:t>Hierarchical Clustering: Group Average</a:t>
            </a:r>
          </a:p>
        </p:txBody>
      </p:sp>
      <p:sp>
        <p:nvSpPr>
          <p:cNvPr id="1641475" name="Text Box 3"/>
          <p:cNvSpPr txBox="1">
            <a:spLocks noChangeArrowheads="1"/>
          </p:cNvSpPr>
          <p:nvPr/>
        </p:nvSpPr>
        <p:spPr bwMode="auto">
          <a:xfrm>
            <a:off x="914400" y="5805487"/>
            <a:ext cx="3352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Nested Clusters</a:t>
            </a:r>
          </a:p>
        </p:txBody>
      </p:sp>
      <p:sp>
        <p:nvSpPr>
          <p:cNvPr id="1641476" name="Text Box 4"/>
          <p:cNvSpPr txBox="1">
            <a:spLocks noChangeArrowheads="1"/>
          </p:cNvSpPr>
          <p:nvPr/>
        </p:nvSpPr>
        <p:spPr bwMode="auto">
          <a:xfrm>
            <a:off x="3267076" y="5805486"/>
            <a:ext cx="2209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 err="1"/>
              <a:t>Dendrogram</a:t>
            </a:r>
            <a:endParaRPr lang="en-US" sz="1800" dirty="0"/>
          </a:p>
        </p:txBody>
      </p:sp>
      <p:pic>
        <p:nvPicPr>
          <p:cNvPr id="164147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4037013"/>
            <a:ext cx="438785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641478" name="Group 6"/>
          <p:cNvGrpSpPr>
            <a:grpSpLocks/>
          </p:cNvGrpSpPr>
          <p:nvPr/>
        </p:nvGrpSpPr>
        <p:grpSpPr bwMode="auto">
          <a:xfrm>
            <a:off x="808038" y="2230437"/>
            <a:ext cx="2901950" cy="2544763"/>
            <a:chOff x="509" y="1252"/>
            <a:chExt cx="1828" cy="1603"/>
          </a:xfrm>
        </p:grpSpPr>
        <p:sp>
          <p:nvSpPr>
            <p:cNvPr id="1641479" name="Freeform 7"/>
            <p:cNvSpPr>
              <a:spLocks/>
            </p:cNvSpPr>
            <p:nvPr/>
          </p:nvSpPr>
          <p:spPr bwMode="auto">
            <a:xfrm>
              <a:off x="1058" y="1885"/>
              <a:ext cx="79" cy="81"/>
            </a:xfrm>
            <a:custGeom>
              <a:avLst/>
              <a:gdLst>
                <a:gd name="T0" fmla="*/ 0 w 79"/>
                <a:gd name="T1" fmla="*/ 40 h 81"/>
                <a:gd name="T2" fmla="*/ 2 w 79"/>
                <a:gd name="T3" fmla="*/ 24 h 81"/>
                <a:gd name="T4" fmla="*/ 12 w 79"/>
                <a:gd name="T5" fmla="*/ 12 h 81"/>
                <a:gd name="T6" fmla="*/ 24 w 79"/>
                <a:gd name="T7" fmla="*/ 2 h 81"/>
                <a:gd name="T8" fmla="*/ 40 w 79"/>
                <a:gd name="T9" fmla="*/ 0 h 81"/>
                <a:gd name="T10" fmla="*/ 56 w 79"/>
                <a:gd name="T11" fmla="*/ 2 h 81"/>
                <a:gd name="T12" fmla="*/ 68 w 79"/>
                <a:gd name="T13" fmla="*/ 12 h 81"/>
                <a:gd name="T14" fmla="*/ 77 w 79"/>
                <a:gd name="T15" fmla="*/ 24 h 81"/>
                <a:gd name="T16" fmla="*/ 79 w 79"/>
                <a:gd name="T17" fmla="*/ 40 h 81"/>
                <a:gd name="T18" fmla="*/ 77 w 79"/>
                <a:gd name="T19" fmla="*/ 55 h 81"/>
                <a:gd name="T20" fmla="*/ 68 w 79"/>
                <a:gd name="T21" fmla="*/ 69 h 81"/>
                <a:gd name="T22" fmla="*/ 56 w 79"/>
                <a:gd name="T23" fmla="*/ 77 h 81"/>
                <a:gd name="T24" fmla="*/ 40 w 79"/>
                <a:gd name="T25" fmla="*/ 81 h 81"/>
                <a:gd name="T26" fmla="*/ 24 w 79"/>
                <a:gd name="T27" fmla="*/ 77 h 81"/>
                <a:gd name="T28" fmla="*/ 12 w 79"/>
                <a:gd name="T29" fmla="*/ 69 h 81"/>
                <a:gd name="T30" fmla="*/ 2 w 79"/>
                <a:gd name="T31" fmla="*/ 55 h 81"/>
                <a:gd name="T32" fmla="*/ 0 w 79"/>
                <a:gd name="T33" fmla="*/ 4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9" h="81">
                  <a:moveTo>
                    <a:pt x="0" y="40"/>
                  </a:moveTo>
                  <a:lnTo>
                    <a:pt x="2" y="24"/>
                  </a:lnTo>
                  <a:lnTo>
                    <a:pt x="12" y="12"/>
                  </a:lnTo>
                  <a:lnTo>
                    <a:pt x="24" y="2"/>
                  </a:lnTo>
                  <a:lnTo>
                    <a:pt x="40" y="0"/>
                  </a:lnTo>
                  <a:lnTo>
                    <a:pt x="56" y="2"/>
                  </a:lnTo>
                  <a:lnTo>
                    <a:pt x="68" y="12"/>
                  </a:lnTo>
                  <a:lnTo>
                    <a:pt x="77" y="24"/>
                  </a:lnTo>
                  <a:lnTo>
                    <a:pt x="79" y="40"/>
                  </a:lnTo>
                  <a:lnTo>
                    <a:pt x="77" y="55"/>
                  </a:lnTo>
                  <a:lnTo>
                    <a:pt x="68" y="69"/>
                  </a:lnTo>
                  <a:lnTo>
                    <a:pt x="56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5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480" name="Freeform 8"/>
            <p:cNvSpPr>
              <a:spLocks/>
            </p:cNvSpPr>
            <p:nvPr/>
          </p:nvSpPr>
          <p:spPr bwMode="auto">
            <a:xfrm>
              <a:off x="1810" y="1300"/>
              <a:ext cx="81" cy="81"/>
            </a:xfrm>
            <a:custGeom>
              <a:avLst/>
              <a:gdLst>
                <a:gd name="T0" fmla="*/ 0 w 81"/>
                <a:gd name="T1" fmla="*/ 39 h 81"/>
                <a:gd name="T2" fmla="*/ 2 w 81"/>
                <a:gd name="T3" fmla="*/ 23 h 81"/>
                <a:gd name="T4" fmla="*/ 11 w 81"/>
                <a:gd name="T5" fmla="*/ 12 h 81"/>
                <a:gd name="T6" fmla="*/ 23 w 81"/>
                <a:gd name="T7" fmla="*/ 2 h 81"/>
                <a:gd name="T8" fmla="*/ 39 w 81"/>
                <a:gd name="T9" fmla="*/ 0 h 81"/>
                <a:gd name="T10" fmla="*/ 55 w 81"/>
                <a:gd name="T11" fmla="*/ 2 h 81"/>
                <a:gd name="T12" fmla="*/ 69 w 81"/>
                <a:gd name="T13" fmla="*/ 12 h 81"/>
                <a:gd name="T14" fmla="*/ 77 w 81"/>
                <a:gd name="T15" fmla="*/ 23 h 81"/>
                <a:gd name="T16" fmla="*/ 81 w 81"/>
                <a:gd name="T17" fmla="*/ 39 h 81"/>
                <a:gd name="T18" fmla="*/ 77 w 81"/>
                <a:gd name="T19" fmla="*/ 55 h 81"/>
                <a:gd name="T20" fmla="*/ 69 w 81"/>
                <a:gd name="T21" fmla="*/ 69 h 81"/>
                <a:gd name="T22" fmla="*/ 55 w 81"/>
                <a:gd name="T23" fmla="*/ 77 h 81"/>
                <a:gd name="T24" fmla="*/ 39 w 81"/>
                <a:gd name="T25" fmla="*/ 81 h 81"/>
                <a:gd name="T26" fmla="*/ 23 w 81"/>
                <a:gd name="T27" fmla="*/ 77 h 81"/>
                <a:gd name="T28" fmla="*/ 11 w 81"/>
                <a:gd name="T29" fmla="*/ 69 h 81"/>
                <a:gd name="T30" fmla="*/ 2 w 81"/>
                <a:gd name="T31" fmla="*/ 55 h 81"/>
                <a:gd name="T32" fmla="*/ 0 w 81"/>
                <a:gd name="T33" fmla="*/ 3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1" h="81">
                  <a:moveTo>
                    <a:pt x="0" y="39"/>
                  </a:moveTo>
                  <a:lnTo>
                    <a:pt x="2" y="23"/>
                  </a:lnTo>
                  <a:lnTo>
                    <a:pt x="11" y="12"/>
                  </a:lnTo>
                  <a:lnTo>
                    <a:pt x="23" y="2"/>
                  </a:lnTo>
                  <a:lnTo>
                    <a:pt x="39" y="0"/>
                  </a:lnTo>
                  <a:lnTo>
                    <a:pt x="55" y="2"/>
                  </a:lnTo>
                  <a:lnTo>
                    <a:pt x="69" y="12"/>
                  </a:lnTo>
                  <a:lnTo>
                    <a:pt x="77" y="23"/>
                  </a:lnTo>
                  <a:lnTo>
                    <a:pt x="81" y="39"/>
                  </a:lnTo>
                  <a:lnTo>
                    <a:pt x="77" y="55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39" y="81"/>
                  </a:lnTo>
                  <a:lnTo>
                    <a:pt x="23" y="77"/>
                  </a:lnTo>
                  <a:lnTo>
                    <a:pt x="11" y="69"/>
                  </a:lnTo>
                  <a:lnTo>
                    <a:pt x="2" y="55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481" name="Freeform 9"/>
            <p:cNvSpPr>
              <a:spLocks/>
            </p:cNvSpPr>
            <p:nvPr/>
          </p:nvSpPr>
          <p:spPr bwMode="auto">
            <a:xfrm>
              <a:off x="1262" y="2683"/>
              <a:ext cx="81" cy="81"/>
            </a:xfrm>
            <a:custGeom>
              <a:avLst/>
              <a:gdLst>
                <a:gd name="T0" fmla="*/ 0 w 81"/>
                <a:gd name="T1" fmla="*/ 40 h 81"/>
                <a:gd name="T2" fmla="*/ 2 w 81"/>
                <a:gd name="T3" fmla="*/ 24 h 81"/>
                <a:gd name="T4" fmla="*/ 12 w 81"/>
                <a:gd name="T5" fmla="*/ 12 h 81"/>
                <a:gd name="T6" fmla="*/ 24 w 81"/>
                <a:gd name="T7" fmla="*/ 2 h 81"/>
                <a:gd name="T8" fmla="*/ 40 w 81"/>
                <a:gd name="T9" fmla="*/ 0 h 81"/>
                <a:gd name="T10" fmla="*/ 55 w 81"/>
                <a:gd name="T11" fmla="*/ 2 h 81"/>
                <a:gd name="T12" fmla="*/ 69 w 81"/>
                <a:gd name="T13" fmla="*/ 12 h 81"/>
                <a:gd name="T14" fmla="*/ 77 w 81"/>
                <a:gd name="T15" fmla="*/ 24 h 81"/>
                <a:gd name="T16" fmla="*/ 81 w 81"/>
                <a:gd name="T17" fmla="*/ 40 h 81"/>
                <a:gd name="T18" fmla="*/ 77 w 81"/>
                <a:gd name="T19" fmla="*/ 56 h 81"/>
                <a:gd name="T20" fmla="*/ 69 w 81"/>
                <a:gd name="T21" fmla="*/ 69 h 81"/>
                <a:gd name="T22" fmla="*/ 55 w 81"/>
                <a:gd name="T23" fmla="*/ 77 h 81"/>
                <a:gd name="T24" fmla="*/ 40 w 81"/>
                <a:gd name="T25" fmla="*/ 81 h 81"/>
                <a:gd name="T26" fmla="*/ 24 w 81"/>
                <a:gd name="T27" fmla="*/ 77 h 81"/>
                <a:gd name="T28" fmla="*/ 12 w 81"/>
                <a:gd name="T29" fmla="*/ 69 h 81"/>
                <a:gd name="T30" fmla="*/ 2 w 81"/>
                <a:gd name="T31" fmla="*/ 56 h 81"/>
                <a:gd name="T32" fmla="*/ 0 w 81"/>
                <a:gd name="T33" fmla="*/ 4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1" h="81">
                  <a:moveTo>
                    <a:pt x="0" y="40"/>
                  </a:moveTo>
                  <a:lnTo>
                    <a:pt x="2" y="24"/>
                  </a:lnTo>
                  <a:lnTo>
                    <a:pt x="12" y="12"/>
                  </a:lnTo>
                  <a:lnTo>
                    <a:pt x="24" y="2"/>
                  </a:lnTo>
                  <a:lnTo>
                    <a:pt x="40" y="0"/>
                  </a:lnTo>
                  <a:lnTo>
                    <a:pt x="55" y="2"/>
                  </a:lnTo>
                  <a:lnTo>
                    <a:pt x="69" y="12"/>
                  </a:lnTo>
                  <a:lnTo>
                    <a:pt x="77" y="24"/>
                  </a:lnTo>
                  <a:lnTo>
                    <a:pt x="81" y="40"/>
                  </a:lnTo>
                  <a:lnTo>
                    <a:pt x="77" y="56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6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482" name="Freeform 10"/>
            <p:cNvSpPr>
              <a:spLocks/>
            </p:cNvSpPr>
            <p:nvPr/>
          </p:nvSpPr>
          <p:spPr bwMode="auto">
            <a:xfrm>
              <a:off x="509" y="1769"/>
              <a:ext cx="81" cy="81"/>
            </a:xfrm>
            <a:custGeom>
              <a:avLst/>
              <a:gdLst>
                <a:gd name="T0" fmla="*/ 0 w 81"/>
                <a:gd name="T1" fmla="*/ 41 h 81"/>
                <a:gd name="T2" fmla="*/ 2 w 81"/>
                <a:gd name="T3" fmla="*/ 25 h 81"/>
                <a:gd name="T4" fmla="*/ 12 w 81"/>
                <a:gd name="T5" fmla="*/ 12 h 81"/>
                <a:gd name="T6" fmla="*/ 24 w 81"/>
                <a:gd name="T7" fmla="*/ 4 h 81"/>
                <a:gd name="T8" fmla="*/ 39 w 81"/>
                <a:gd name="T9" fmla="*/ 0 h 81"/>
                <a:gd name="T10" fmla="*/ 55 w 81"/>
                <a:gd name="T11" fmla="*/ 4 h 81"/>
                <a:gd name="T12" fmla="*/ 69 w 81"/>
                <a:gd name="T13" fmla="*/ 12 h 81"/>
                <a:gd name="T14" fmla="*/ 77 w 81"/>
                <a:gd name="T15" fmla="*/ 25 h 81"/>
                <a:gd name="T16" fmla="*/ 81 w 81"/>
                <a:gd name="T17" fmla="*/ 41 h 81"/>
                <a:gd name="T18" fmla="*/ 77 w 81"/>
                <a:gd name="T19" fmla="*/ 57 h 81"/>
                <a:gd name="T20" fmla="*/ 69 w 81"/>
                <a:gd name="T21" fmla="*/ 69 h 81"/>
                <a:gd name="T22" fmla="*/ 55 w 81"/>
                <a:gd name="T23" fmla="*/ 79 h 81"/>
                <a:gd name="T24" fmla="*/ 39 w 81"/>
                <a:gd name="T25" fmla="*/ 81 h 81"/>
                <a:gd name="T26" fmla="*/ 24 w 81"/>
                <a:gd name="T27" fmla="*/ 79 h 81"/>
                <a:gd name="T28" fmla="*/ 12 w 81"/>
                <a:gd name="T29" fmla="*/ 69 h 81"/>
                <a:gd name="T30" fmla="*/ 2 w 81"/>
                <a:gd name="T31" fmla="*/ 57 h 81"/>
                <a:gd name="T32" fmla="*/ 0 w 81"/>
                <a:gd name="T33" fmla="*/ 4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1" h="81">
                  <a:moveTo>
                    <a:pt x="0" y="41"/>
                  </a:moveTo>
                  <a:lnTo>
                    <a:pt x="2" y="25"/>
                  </a:lnTo>
                  <a:lnTo>
                    <a:pt x="12" y="12"/>
                  </a:lnTo>
                  <a:lnTo>
                    <a:pt x="24" y="4"/>
                  </a:lnTo>
                  <a:lnTo>
                    <a:pt x="39" y="0"/>
                  </a:lnTo>
                  <a:lnTo>
                    <a:pt x="55" y="4"/>
                  </a:lnTo>
                  <a:lnTo>
                    <a:pt x="69" y="12"/>
                  </a:lnTo>
                  <a:lnTo>
                    <a:pt x="77" y="25"/>
                  </a:lnTo>
                  <a:lnTo>
                    <a:pt x="81" y="41"/>
                  </a:lnTo>
                  <a:lnTo>
                    <a:pt x="77" y="57"/>
                  </a:lnTo>
                  <a:lnTo>
                    <a:pt x="69" y="69"/>
                  </a:lnTo>
                  <a:lnTo>
                    <a:pt x="55" y="79"/>
                  </a:lnTo>
                  <a:lnTo>
                    <a:pt x="39" y="81"/>
                  </a:lnTo>
                  <a:lnTo>
                    <a:pt x="24" y="79"/>
                  </a:lnTo>
                  <a:lnTo>
                    <a:pt x="12" y="69"/>
                  </a:lnTo>
                  <a:lnTo>
                    <a:pt x="2" y="57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483" name="Freeform 11"/>
            <p:cNvSpPr>
              <a:spLocks/>
            </p:cNvSpPr>
            <p:nvPr/>
          </p:nvSpPr>
          <p:spPr bwMode="auto">
            <a:xfrm>
              <a:off x="1586" y="2167"/>
              <a:ext cx="81" cy="79"/>
            </a:xfrm>
            <a:custGeom>
              <a:avLst/>
              <a:gdLst>
                <a:gd name="T0" fmla="*/ 0 w 81"/>
                <a:gd name="T1" fmla="*/ 39 h 79"/>
                <a:gd name="T2" fmla="*/ 4 w 81"/>
                <a:gd name="T3" fmla="*/ 24 h 79"/>
                <a:gd name="T4" fmla="*/ 12 w 81"/>
                <a:gd name="T5" fmla="*/ 12 h 79"/>
                <a:gd name="T6" fmla="*/ 26 w 81"/>
                <a:gd name="T7" fmla="*/ 2 h 79"/>
                <a:gd name="T8" fmla="*/ 42 w 81"/>
                <a:gd name="T9" fmla="*/ 0 h 79"/>
                <a:gd name="T10" fmla="*/ 58 w 81"/>
                <a:gd name="T11" fmla="*/ 2 h 79"/>
                <a:gd name="T12" fmla="*/ 69 w 81"/>
                <a:gd name="T13" fmla="*/ 12 h 79"/>
                <a:gd name="T14" fmla="*/ 79 w 81"/>
                <a:gd name="T15" fmla="*/ 24 h 79"/>
                <a:gd name="T16" fmla="*/ 81 w 81"/>
                <a:gd name="T17" fmla="*/ 39 h 79"/>
                <a:gd name="T18" fmla="*/ 79 w 81"/>
                <a:gd name="T19" fmla="*/ 55 h 79"/>
                <a:gd name="T20" fmla="*/ 69 w 81"/>
                <a:gd name="T21" fmla="*/ 67 h 79"/>
                <a:gd name="T22" fmla="*/ 58 w 81"/>
                <a:gd name="T23" fmla="*/ 77 h 79"/>
                <a:gd name="T24" fmla="*/ 42 w 81"/>
                <a:gd name="T25" fmla="*/ 79 h 79"/>
                <a:gd name="T26" fmla="*/ 26 w 81"/>
                <a:gd name="T27" fmla="*/ 77 h 79"/>
                <a:gd name="T28" fmla="*/ 12 w 81"/>
                <a:gd name="T29" fmla="*/ 67 h 79"/>
                <a:gd name="T30" fmla="*/ 4 w 81"/>
                <a:gd name="T31" fmla="*/ 55 h 79"/>
                <a:gd name="T32" fmla="*/ 0 w 81"/>
                <a:gd name="T33" fmla="*/ 3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1" h="79">
                  <a:moveTo>
                    <a:pt x="0" y="39"/>
                  </a:moveTo>
                  <a:lnTo>
                    <a:pt x="4" y="24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lnTo>
                    <a:pt x="58" y="2"/>
                  </a:lnTo>
                  <a:lnTo>
                    <a:pt x="69" y="12"/>
                  </a:lnTo>
                  <a:lnTo>
                    <a:pt x="79" y="24"/>
                  </a:lnTo>
                  <a:lnTo>
                    <a:pt x="81" y="39"/>
                  </a:lnTo>
                  <a:lnTo>
                    <a:pt x="79" y="55"/>
                  </a:lnTo>
                  <a:lnTo>
                    <a:pt x="69" y="67"/>
                  </a:lnTo>
                  <a:lnTo>
                    <a:pt x="58" y="77"/>
                  </a:lnTo>
                  <a:lnTo>
                    <a:pt x="42" y="79"/>
                  </a:lnTo>
                  <a:lnTo>
                    <a:pt x="26" y="77"/>
                  </a:lnTo>
                  <a:lnTo>
                    <a:pt x="12" y="67"/>
                  </a:lnTo>
                  <a:lnTo>
                    <a:pt x="4" y="55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484" name="Freeform 12"/>
            <p:cNvSpPr>
              <a:spLocks/>
            </p:cNvSpPr>
            <p:nvPr/>
          </p:nvSpPr>
          <p:spPr bwMode="auto">
            <a:xfrm>
              <a:off x="2029" y="2220"/>
              <a:ext cx="81" cy="81"/>
            </a:xfrm>
            <a:custGeom>
              <a:avLst/>
              <a:gdLst>
                <a:gd name="T0" fmla="*/ 0 w 81"/>
                <a:gd name="T1" fmla="*/ 40 h 81"/>
                <a:gd name="T2" fmla="*/ 2 w 81"/>
                <a:gd name="T3" fmla="*/ 26 h 81"/>
                <a:gd name="T4" fmla="*/ 12 w 81"/>
                <a:gd name="T5" fmla="*/ 12 h 81"/>
                <a:gd name="T6" fmla="*/ 24 w 81"/>
                <a:gd name="T7" fmla="*/ 4 h 81"/>
                <a:gd name="T8" fmla="*/ 40 w 81"/>
                <a:gd name="T9" fmla="*/ 0 h 81"/>
                <a:gd name="T10" fmla="*/ 55 w 81"/>
                <a:gd name="T11" fmla="*/ 4 h 81"/>
                <a:gd name="T12" fmla="*/ 69 w 81"/>
                <a:gd name="T13" fmla="*/ 12 h 81"/>
                <a:gd name="T14" fmla="*/ 77 w 81"/>
                <a:gd name="T15" fmla="*/ 26 h 81"/>
                <a:gd name="T16" fmla="*/ 81 w 81"/>
                <a:gd name="T17" fmla="*/ 40 h 81"/>
                <a:gd name="T18" fmla="*/ 77 w 81"/>
                <a:gd name="T19" fmla="*/ 55 h 81"/>
                <a:gd name="T20" fmla="*/ 69 w 81"/>
                <a:gd name="T21" fmla="*/ 69 h 81"/>
                <a:gd name="T22" fmla="*/ 55 w 81"/>
                <a:gd name="T23" fmla="*/ 77 h 81"/>
                <a:gd name="T24" fmla="*/ 40 w 81"/>
                <a:gd name="T25" fmla="*/ 81 h 81"/>
                <a:gd name="T26" fmla="*/ 24 w 81"/>
                <a:gd name="T27" fmla="*/ 77 h 81"/>
                <a:gd name="T28" fmla="*/ 12 w 81"/>
                <a:gd name="T29" fmla="*/ 69 h 81"/>
                <a:gd name="T30" fmla="*/ 2 w 81"/>
                <a:gd name="T31" fmla="*/ 55 h 81"/>
                <a:gd name="T32" fmla="*/ 0 w 81"/>
                <a:gd name="T33" fmla="*/ 4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1" h="81">
                  <a:moveTo>
                    <a:pt x="0" y="40"/>
                  </a:moveTo>
                  <a:lnTo>
                    <a:pt x="2" y="26"/>
                  </a:lnTo>
                  <a:lnTo>
                    <a:pt x="12" y="12"/>
                  </a:lnTo>
                  <a:lnTo>
                    <a:pt x="24" y="4"/>
                  </a:lnTo>
                  <a:lnTo>
                    <a:pt x="40" y="0"/>
                  </a:lnTo>
                  <a:lnTo>
                    <a:pt x="55" y="4"/>
                  </a:lnTo>
                  <a:lnTo>
                    <a:pt x="69" y="12"/>
                  </a:lnTo>
                  <a:lnTo>
                    <a:pt x="77" y="26"/>
                  </a:lnTo>
                  <a:lnTo>
                    <a:pt x="81" y="40"/>
                  </a:lnTo>
                  <a:lnTo>
                    <a:pt x="77" y="55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5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485" name="Rectangle 13"/>
            <p:cNvSpPr>
              <a:spLocks noChangeArrowheads="1"/>
            </p:cNvSpPr>
            <p:nvPr/>
          </p:nvSpPr>
          <p:spPr bwMode="auto">
            <a:xfrm>
              <a:off x="1908" y="1252"/>
              <a:ext cx="150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  <a:latin typeface="Times New Roman" charset="0"/>
                </a:rPr>
                <a:t>1</a:t>
              </a:r>
              <a:endParaRPr lang="en-US"/>
            </a:p>
          </p:txBody>
        </p:sp>
        <p:sp>
          <p:nvSpPr>
            <p:cNvPr id="1641486" name="Rectangle 14"/>
            <p:cNvSpPr>
              <a:spLocks noChangeArrowheads="1"/>
            </p:cNvSpPr>
            <p:nvPr/>
          </p:nvSpPr>
          <p:spPr bwMode="auto">
            <a:xfrm>
              <a:off x="1163" y="1832"/>
              <a:ext cx="150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  <a:latin typeface="Times New Roman" charset="0"/>
                </a:rPr>
                <a:t>2</a:t>
              </a:r>
              <a:endParaRPr lang="en-US"/>
            </a:p>
          </p:txBody>
        </p:sp>
        <p:sp>
          <p:nvSpPr>
            <p:cNvPr id="1641487" name="Rectangle 15"/>
            <p:cNvSpPr>
              <a:spLocks noChangeArrowheads="1"/>
            </p:cNvSpPr>
            <p:nvPr/>
          </p:nvSpPr>
          <p:spPr bwMode="auto">
            <a:xfrm>
              <a:off x="1732" y="2121"/>
              <a:ext cx="150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  <a:latin typeface="Times New Roman" charset="0"/>
                </a:rPr>
                <a:t>3</a:t>
              </a:r>
              <a:endParaRPr lang="en-US"/>
            </a:p>
          </p:txBody>
        </p:sp>
        <p:sp>
          <p:nvSpPr>
            <p:cNvPr id="1641488" name="Rectangle 16"/>
            <p:cNvSpPr>
              <a:spLocks noChangeArrowheads="1"/>
            </p:cNvSpPr>
            <p:nvPr/>
          </p:nvSpPr>
          <p:spPr bwMode="auto">
            <a:xfrm>
              <a:off x="1379" y="2638"/>
              <a:ext cx="150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  <a:latin typeface="Times New Roman" charset="0"/>
                </a:rPr>
                <a:t>4</a:t>
              </a:r>
              <a:endParaRPr lang="en-US"/>
            </a:p>
          </p:txBody>
        </p:sp>
        <p:sp>
          <p:nvSpPr>
            <p:cNvPr id="1641489" name="Rectangle 17"/>
            <p:cNvSpPr>
              <a:spLocks noChangeArrowheads="1"/>
            </p:cNvSpPr>
            <p:nvPr/>
          </p:nvSpPr>
          <p:spPr bwMode="auto">
            <a:xfrm>
              <a:off x="631" y="1719"/>
              <a:ext cx="150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  <a:latin typeface="Times New Roman" charset="0"/>
                </a:rPr>
                <a:t>5</a:t>
              </a:r>
              <a:endParaRPr lang="en-US"/>
            </a:p>
          </p:txBody>
        </p:sp>
        <p:sp>
          <p:nvSpPr>
            <p:cNvPr id="1641490" name="Rectangle 18"/>
            <p:cNvSpPr>
              <a:spLocks noChangeArrowheads="1"/>
            </p:cNvSpPr>
            <p:nvPr/>
          </p:nvSpPr>
          <p:spPr bwMode="auto">
            <a:xfrm>
              <a:off x="2187" y="2173"/>
              <a:ext cx="150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  <a:latin typeface="Times New Roman" charset="0"/>
                </a:rPr>
                <a:t>6</a:t>
              </a:r>
              <a:endParaRPr lang="en-US"/>
            </a:p>
          </p:txBody>
        </p:sp>
      </p:grpSp>
      <p:grpSp>
        <p:nvGrpSpPr>
          <p:cNvPr id="1641491" name="Group 19"/>
          <p:cNvGrpSpPr>
            <a:grpSpLocks/>
          </p:cNvGrpSpPr>
          <p:nvPr/>
        </p:nvGrpSpPr>
        <p:grpSpPr bwMode="auto">
          <a:xfrm>
            <a:off x="2405063" y="3516312"/>
            <a:ext cx="1301750" cy="889000"/>
            <a:chOff x="1515" y="2062"/>
            <a:chExt cx="820" cy="560"/>
          </a:xfrm>
        </p:grpSpPr>
        <p:sp>
          <p:nvSpPr>
            <p:cNvPr id="1641492" name="Freeform 20"/>
            <p:cNvSpPr>
              <a:spLocks/>
            </p:cNvSpPr>
            <p:nvPr/>
          </p:nvSpPr>
          <p:spPr bwMode="auto">
            <a:xfrm>
              <a:off x="1515" y="2062"/>
              <a:ext cx="820" cy="343"/>
            </a:xfrm>
            <a:custGeom>
              <a:avLst/>
              <a:gdLst>
                <a:gd name="T0" fmla="*/ 409 w 820"/>
                <a:gd name="T1" fmla="*/ 0 h 343"/>
                <a:gd name="T2" fmla="*/ 467 w 820"/>
                <a:gd name="T3" fmla="*/ 2 h 343"/>
                <a:gd name="T4" fmla="*/ 520 w 820"/>
                <a:gd name="T5" fmla="*/ 8 h 343"/>
                <a:gd name="T6" fmla="*/ 573 w 820"/>
                <a:gd name="T7" fmla="*/ 16 h 343"/>
                <a:gd name="T8" fmla="*/ 623 w 820"/>
                <a:gd name="T9" fmla="*/ 26 h 343"/>
                <a:gd name="T10" fmla="*/ 670 w 820"/>
                <a:gd name="T11" fmla="*/ 40 h 343"/>
                <a:gd name="T12" fmla="*/ 710 w 820"/>
                <a:gd name="T13" fmla="*/ 56 h 343"/>
                <a:gd name="T14" fmla="*/ 745 w 820"/>
                <a:gd name="T15" fmla="*/ 73 h 343"/>
                <a:gd name="T16" fmla="*/ 775 w 820"/>
                <a:gd name="T17" fmla="*/ 93 h 343"/>
                <a:gd name="T18" fmla="*/ 797 w 820"/>
                <a:gd name="T19" fmla="*/ 115 h 343"/>
                <a:gd name="T20" fmla="*/ 812 w 820"/>
                <a:gd name="T21" fmla="*/ 138 h 343"/>
                <a:gd name="T22" fmla="*/ 820 w 820"/>
                <a:gd name="T23" fmla="*/ 160 h 343"/>
                <a:gd name="T24" fmla="*/ 820 w 820"/>
                <a:gd name="T25" fmla="*/ 184 h 343"/>
                <a:gd name="T26" fmla="*/ 812 w 820"/>
                <a:gd name="T27" fmla="*/ 207 h 343"/>
                <a:gd name="T28" fmla="*/ 797 w 820"/>
                <a:gd name="T29" fmla="*/ 229 h 343"/>
                <a:gd name="T30" fmla="*/ 775 w 820"/>
                <a:gd name="T31" fmla="*/ 251 h 343"/>
                <a:gd name="T32" fmla="*/ 745 w 820"/>
                <a:gd name="T33" fmla="*/ 271 h 343"/>
                <a:gd name="T34" fmla="*/ 710 w 820"/>
                <a:gd name="T35" fmla="*/ 290 h 343"/>
                <a:gd name="T36" fmla="*/ 670 w 820"/>
                <a:gd name="T37" fmla="*/ 306 h 343"/>
                <a:gd name="T38" fmla="*/ 623 w 820"/>
                <a:gd name="T39" fmla="*/ 318 h 343"/>
                <a:gd name="T40" fmla="*/ 573 w 820"/>
                <a:gd name="T41" fmla="*/ 330 h 343"/>
                <a:gd name="T42" fmla="*/ 520 w 820"/>
                <a:gd name="T43" fmla="*/ 338 h 343"/>
                <a:gd name="T44" fmla="*/ 467 w 820"/>
                <a:gd name="T45" fmla="*/ 341 h 343"/>
                <a:gd name="T46" fmla="*/ 409 w 820"/>
                <a:gd name="T47" fmla="*/ 343 h 343"/>
                <a:gd name="T48" fmla="*/ 354 w 820"/>
                <a:gd name="T49" fmla="*/ 341 h 343"/>
                <a:gd name="T50" fmla="*/ 299 w 820"/>
                <a:gd name="T51" fmla="*/ 338 h 343"/>
                <a:gd name="T52" fmla="*/ 245 w 820"/>
                <a:gd name="T53" fmla="*/ 330 h 343"/>
                <a:gd name="T54" fmla="*/ 196 w 820"/>
                <a:gd name="T55" fmla="*/ 318 h 343"/>
                <a:gd name="T56" fmla="*/ 150 w 820"/>
                <a:gd name="T57" fmla="*/ 306 h 343"/>
                <a:gd name="T58" fmla="*/ 109 w 820"/>
                <a:gd name="T59" fmla="*/ 290 h 343"/>
                <a:gd name="T60" fmla="*/ 73 w 820"/>
                <a:gd name="T61" fmla="*/ 271 h 343"/>
                <a:gd name="T62" fmla="*/ 44 w 820"/>
                <a:gd name="T63" fmla="*/ 251 h 343"/>
                <a:gd name="T64" fmla="*/ 22 w 820"/>
                <a:gd name="T65" fmla="*/ 229 h 343"/>
                <a:gd name="T66" fmla="*/ 6 w 820"/>
                <a:gd name="T67" fmla="*/ 207 h 343"/>
                <a:gd name="T68" fmla="*/ 0 w 820"/>
                <a:gd name="T69" fmla="*/ 184 h 343"/>
                <a:gd name="T70" fmla="*/ 0 w 820"/>
                <a:gd name="T71" fmla="*/ 160 h 343"/>
                <a:gd name="T72" fmla="*/ 6 w 820"/>
                <a:gd name="T73" fmla="*/ 138 h 343"/>
                <a:gd name="T74" fmla="*/ 22 w 820"/>
                <a:gd name="T75" fmla="*/ 115 h 343"/>
                <a:gd name="T76" fmla="*/ 44 w 820"/>
                <a:gd name="T77" fmla="*/ 93 h 343"/>
                <a:gd name="T78" fmla="*/ 73 w 820"/>
                <a:gd name="T79" fmla="*/ 73 h 343"/>
                <a:gd name="T80" fmla="*/ 109 w 820"/>
                <a:gd name="T81" fmla="*/ 56 h 343"/>
                <a:gd name="T82" fmla="*/ 150 w 820"/>
                <a:gd name="T83" fmla="*/ 40 h 343"/>
                <a:gd name="T84" fmla="*/ 196 w 820"/>
                <a:gd name="T85" fmla="*/ 26 h 343"/>
                <a:gd name="T86" fmla="*/ 245 w 820"/>
                <a:gd name="T87" fmla="*/ 16 h 343"/>
                <a:gd name="T88" fmla="*/ 299 w 820"/>
                <a:gd name="T89" fmla="*/ 8 h 343"/>
                <a:gd name="T90" fmla="*/ 354 w 820"/>
                <a:gd name="T91" fmla="*/ 2 h 343"/>
                <a:gd name="T92" fmla="*/ 409 w 820"/>
                <a:gd name="T93" fmla="*/ 0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20" h="343">
                  <a:moveTo>
                    <a:pt x="409" y="0"/>
                  </a:moveTo>
                  <a:lnTo>
                    <a:pt x="467" y="2"/>
                  </a:lnTo>
                  <a:lnTo>
                    <a:pt x="520" y="8"/>
                  </a:lnTo>
                  <a:lnTo>
                    <a:pt x="573" y="16"/>
                  </a:lnTo>
                  <a:lnTo>
                    <a:pt x="623" y="26"/>
                  </a:lnTo>
                  <a:lnTo>
                    <a:pt x="670" y="40"/>
                  </a:lnTo>
                  <a:lnTo>
                    <a:pt x="710" y="56"/>
                  </a:lnTo>
                  <a:lnTo>
                    <a:pt x="745" y="73"/>
                  </a:lnTo>
                  <a:lnTo>
                    <a:pt x="775" y="93"/>
                  </a:lnTo>
                  <a:lnTo>
                    <a:pt x="797" y="115"/>
                  </a:lnTo>
                  <a:lnTo>
                    <a:pt x="812" y="138"/>
                  </a:lnTo>
                  <a:lnTo>
                    <a:pt x="820" y="160"/>
                  </a:lnTo>
                  <a:lnTo>
                    <a:pt x="820" y="184"/>
                  </a:lnTo>
                  <a:lnTo>
                    <a:pt x="812" y="207"/>
                  </a:lnTo>
                  <a:lnTo>
                    <a:pt x="797" y="229"/>
                  </a:lnTo>
                  <a:lnTo>
                    <a:pt x="775" y="251"/>
                  </a:lnTo>
                  <a:lnTo>
                    <a:pt x="745" y="271"/>
                  </a:lnTo>
                  <a:lnTo>
                    <a:pt x="710" y="290"/>
                  </a:lnTo>
                  <a:lnTo>
                    <a:pt x="670" y="306"/>
                  </a:lnTo>
                  <a:lnTo>
                    <a:pt x="623" y="318"/>
                  </a:lnTo>
                  <a:lnTo>
                    <a:pt x="573" y="330"/>
                  </a:lnTo>
                  <a:lnTo>
                    <a:pt x="520" y="338"/>
                  </a:lnTo>
                  <a:lnTo>
                    <a:pt x="467" y="341"/>
                  </a:lnTo>
                  <a:lnTo>
                    <a:pt x="409" y="343"/>
                  </a:lnTo>
                  <a:lnTo>
                    <a:pt x="354" y="341"/>
                  </a:lnTo>
                  <a:lnTo>
                    <a:pt x="299" y="338"/>
                  </a:lnTo>
                  <a:lnTo>
                    <a:pt x="245" y="330"/>
                  </a:lnTo>
                  <a:lnTo>
                    <a:pt x="196" y="318"/>
                  </a:lnTo>
                  <a:lnTo>
                    <a:pt x="150" y="306"/>
                  </a:lnTo>
                  <a:lnTo>
                    <a:pt x="109" y="290"/>
                  </a:lnTo>
                  <a:lnTo>
                    <a:pt x="73" y="271"/>
                  </a:lnTo>
                  <a:lnTo>
                    <a:pt x="44" y="251"/>
                  </a:lnTo>
                  <a:lnTo>
                    <a:pt x="22" y="229"/>
                  </a:lnTo>
                  <a:lnTo>
                    <a:pt x="6" y="207"/>
                  </a:lnTo>
                  <a:lnTo>
                    <a:pt x="0" y="184"/>
                  </a:lnTo>
                  <a:lnTo>
                    <a:pt x="0" y="160"/>
                  </a:lnTo>
                  <a:lnTo>
                    <a:pt x="6" y="138"/>
                  </a:lnTo>
                  <a:lnTo>
                    <a:pt x="22" y="115"/>
                  </a:lnTo>
                  <a:lnTo>
                    <a:pt x="44" y="93"/>
                  </a:lnTo>
                  <a:lnTo>
                    <a:pt x="73" y="73"/>
                  </a:lnTo>
                  <a:lnTo>
                    <a:pt x="109" y="56"/>
                  </a:lnTo>
                  <a:lnTo>
                    <a:pt x="150" y="40"/>
                  </a:lnTo>
                  <a:lnTo>
                    <a:pt x="196" y="26"/>
                  </a:lnTo>
                  <a:lnTo>
                    <a:pt x="245" y="16"/>
                  </a:lnTo>
                  <a:lnTo>
                    <a:pt x="299" y="8"/>
                  </a:lnTo>
                  <a:lnTo>
                    <a:pt x="354" y="2"/>
                  </a:lnTo>
                  <a:lnTo>
                    <a:pt x="40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493" name="Rectangle 21"/>
            <p:cNvSpPr>
              <a:spLocks noChangeArrowheads="1"/>
            </p:cNvSpPr>
            <p:nvPr/>
          </p:nvSpPr>
          <p:spPr bwMode="auto">
            <a:xfrm>
              <a:off x="1855" y="2395"/>
              <a:ext cx="166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rgbClr val="FF0000"/>
                  </a:solidFill>
                </a:rPr>
                <a:t>1</a:t>
              </a:r>
              <a:endParaRPr lang="en-US"/>
            </a:p>
          </p:txBody>
        </p:sp>
      </p:grpSp>
      <p:grpSp>
        <p:nvGrpSpPr>
          <p:cNvPr id="1641494" name="Group 22"/>
          <p:cNvGrpSpPr>
            <a:grpSpLocks/>
          </p:cNvGrpSpPr>
          <p:nvPr/>
        </p:nvGrpSpPr>
        <p:grpSpPr bwMode="auto">
          <a:xfrm>
            <a:off x="717550" y="2625725"/>
            <a:ext cx="1323975" cy="985837"/>
            <a:chOff x="452" y="1501"/>
            <a:chExt cx="834" cy="621"/>
          </a:xfrm>
        </p:grpSpPr>
        <p:sp>
          <p:nvSpPr>
            <p:cNvPr id="1641495" name="Freeform 23"/>
            <p:cNvSpPr>
              <a:spLocks/>
            </p:cNvSpPr>
            <p:nvPr/>
          </p:nvSpPr>
          <p:spPr bwMode="auto">
            <a:xfrm>
              <a:off x="452" y="1662"/>
              <a:ext cx="834" cy="460"/>
            </a:xfrm>
            <a:custGeom>
              <a:avLst/>
              <a:gdLst>
                <a:gd name="T0" fmla="*/ 436 w 834"/>
                <a:gd name="T1" fmla="*/ 2 h 460"/>
                <a:gd name="T2" fmla="*/ 494 w 834"/>
                <a:gd name="T3" fmla="*/ 10 h 460"/>
                <a:gd name="T4" fmla="*/ 547 w 834"/>
                <a:gd name="T5" fmla="*/ 20 h 460"/>
                <a:gd name="T6" fmla="*/ 600 w 834"/>
                <a:gd name="T7" fmla="*/ 36 h 460"/>
                <a:gd name="T8" fmla="*/ 650 w 834"/>
                <a:gd name="T9" fmla="*/ 54 h 460"/>
                <a:gd name="T10" fmla="*/ 695 w 834"/>
                <a:gd name="T11" fmla="*/ 77 h 460"/>
                <a:gd name="T12" fmla="*/ 735 w 834"/>
                <a:gd name="T13" fmla="*/ 101 h 460"/>
                <a:gd name="T14" fmla="*/ 768 w 834"/>
                <a:gd name="T15" fmla="*/ 128 h 460"/>
                <a:gd name="T16" fmla="*/ 796 w 834"/>
                <a:gd name="T17" fmla="*/ 158 h 460"/>
                <a:gd name="T18" fmla="*/ 816 w 834"/>
                <a:gd name="T19" fmla="*/ 188 h 460"/>
                <a:gd name="T20" fmla="*/ 830 w 834"/>
                <a:gd name="T21" fmla="*/ 219 h 460"/>
                <a:gd name="T22" fmla="*/ 834 w 834"/>
                <a:gd name="T23" fmla="*/ 251 h 460"/>
                <a:gd name="T24" fmla="*/ 832 w 834"/>
                <a:gd name="T25" fmla="*/ 282 h 460"/>
                <a:gd name="T26" fmla="*/ 820 w 834"/>
                <a:gd name="T27" fmla="*/ 312 h 460"/>
                <a:gd name="T28" fmla="*/ 802 w 834"/>
                <a:gd name="T29" fmla="*/ 339 h 460"/>
                <a:gd name="T30" fmla="*/ 778 w 834"/>
                <a:gd name="T31" fmla="*/ 367 h 460"/>
                <a:gd name="T32" fmla="*/ 745 w 834"/>
                <a:gd name="T33" fmla="*/ 391 h 460"/>
                <a:gd name="T34" fmla="*/ 707 w 834"/>
                <a:gd name="T35" fmla="*/ 412 h 460"/>
                <a:gd name="T36" fmla="*/ 664 w 834"/>
                <a:gd name="T37" fmla="*/ 430 h 460"/>
                <a:gd name="T38" fmla="*/ 616 w 834"/>
                <a:gd name="T39" fmla="*/ 444 h 460"/>
                <a:gd name="T40" fmla="*/ 565 w 834"/>
                <a:gd name="T41" fmla="*/ 454 h 460"/>
                <a:gd name="T42" fmla="*/ 510 w 834"/>
                <a:gd name="T43" fmla="*/ 460 h 460"/>
                <a:gd name="T44" fmla="*/ 454 w 834"/>
                <a:gd name="T45" fmla="*/ 460 h 460"/>
                <a:gd name="T46" fmla="*/ 397 w 834"/>
                <a:gd name="T47" fmla="*/ 458 h 460"/>
                <a:gd name="T48" fmla="*/ 340 w 834"/>
                <a:gd name="T49" fmla="*/ 450 h 460"/>
                <a:gd name="T50" fmla="*/ 284 w 834"/>
                <a:gd name="T51" fmla="*/ 440 h 460"/>
                <a:gd name="T52" fmla="*/ 231 w 834"/>
                <a:gd name="T53" fmla="*/ 424 h 460"/>
                <a:gd name="T54" fmla="*/ 183 w 834"/>
                <a:gd name="T55" fmla="*/ 404 h 460"/>
                <a:gd name="T56" fmla="*/ 138 w 834"/>
                <a:gd name="T57" fmla="*/ 383 h 460"/>
                <a:gd name="T58" fmla="*/ 98 w 834"/>
                <a:gd name="T59" fmla="*/ 359 h 460"/>
                <a:gd name="T60" fmla="*/ 65 w 834"/>
                <a:gd name="T61" fmla="*/ 331 h 460"/>
                <a:gd name="T62" fmla="*/ 37 w 834"/>
                <a:gd name="T63" fmla="*/ 302 h 460"/>
                <a:gd name="T64" fmla="*/ 17 w 834"/>
                <a:gd name="T65" fmla="*/ 272 h 460"/>
                <a:gd name="T66" fmla="*/ 3 w 834"/>
                <a:gd name="T67" fmla="*/ 241 h 460"/>
                <a:gd name="T68" fmla="*/ 0 w 834"/>
                <a:gd name="T69" fmla="*/ 209 h 460"/>
                <a:gd name="T70" fmla="*/ 1 w 834"/>
                <a:gd name="T71" fmla="*/ 178 h 460"/>
                <a:gd name="T72" fmla="*/ 11 w 834"/>
                <a:gd name="T73" fmla="*/ 148 h 460"/>
                <a:gd name="T74" fmla="*/ 29 w 834"/>
                <a:gd name="T75" fmla="*/ 119 h 460"/>
                <a:gd name="T76" fmla="*/ 55 w 834"/>
                <a:gd name="T77" fmla="*/ 93 h 460"/>
                <a:gd name="T78" fmla="*/ 86 w 834"/>
                <a:gd name="T79" fmla="*/ 69 h 460"/>
                <a:gd name="T80" fmla="*/ 124 w 834"/>
                <a:gd name="T81" fmla="*/ 48 h 460"/>
                <a:gd name="T82" fmla="*/ 168 w 834"/>
                <a:gd name="T83" fmla="*/ 30 h 460"/>
                <a:gd name="T84" fmla="*/ 217 w 834"/>
                <a:gd name="T85" fmla="*/ 16 h 460"/>
                <a:gd name="T86" fmla="*/ 268 w 834"/>
                <a:gd name="T87" fmla="*/ 6 h 460"/>
                <a:gd name="T88" fmla="*/ 324 w 834"/>
                <a:gd name="T89" fmla="*/ 0 h 460"/>
                <a:gd name="T90" fmla="*/ 379 w 834"/>
                <a:gd name="T91" fmla="*/ 0 h 460"/>
                <a:gd name="T92" fmla="*/ 436 w 834"/>
                <a:gd name="T93" fmla="*/ 2 h 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34" h="460">
                  <a:moveTo>
                    <a:pt x="436" y="2"/>
                  </a:moveTo>
                  <a:lnTo>
                    <a:pt x="494" y="10"/>
                  </a:lnTo>
                  <a:lnTo>
                    <a:pt x="547" y="20"/>
                  </a:lnTo>
                  <a:lnTo>
                    <a:pt x="600" y="36"/>
                  </a:lnTo>
                  <a:lnTo>
                    <a:pt x="650" y="54"/>
                  </a:lnTo>
                  <a:lnTo>
                    <a:pt x="695" y="77"/>
                  </a:lnTo>
                  <a:lnTo>
                    <a:pt x="735" y="101"/>
                  </a:lnTo>
                  <a:lnTo>
                    <a:pt x="768" y="128"/>
                  </a:lnTo>
                  <a:lnTo>
                    <a:pt x="796" y="158"/>
                  </a:lnTo>
                  <a:lnTo>
                    <a:pt x="816" y="188"/>
                  </a:lnTo>
                  <a:lnTo>
                    <a:pt x="830" y="219"/>
                  </a:lnTo>
                  <a:lnTo>
                    <a:pt x="834" y="251"/>
                  </a:lnTo>
                  <a:lnTo>
                    <a:pt x="832" y="282"/>
                  </a:lnTo>
                  <a:lnTo>
                    <a:pt x="820" y="312"/>
                  </a:lnTo>
                  <a:lnTo>
                    <a:pt x="802" y="339"/>
                  </a:lnTo>
                  <a:lnTo>
                    <a:pt x="778" y="367"/>
                  </a:lnTo>
                  <a:lnTo>
                    <a:pt x="745" y="391"/>
                  </a:lnTo>
                  <a:lnTo>
                    <a:pt x="707" y="412"/>
                  </a:lnTo>
                  <a:lnTo>
                    <a:pt x="664" y="430"/>
                  </a:lnTo>
                  <a:lnTo>
                    <a:pt x="616" y="444"/>
                  </a:lnTo>
                  <a:lnTo>
                    <a:pt x="565" y="454"/>
                  </a:lnTo>
                  <a:lnTo>
                    <a:pt x="510" y="460"/>
                  </a:lnTo>
                  <a:lnTo>
                    <a:pt x="454" y="460"/>
                  </a:lnTo>
                  <a:lnTo>
                    <a:pt x="397" y="458"/>
                  </a:lnTo>
                  <a:lnTo>
                    <a:pt x="340" y="450"/>
                  </a:lnTo>
                  <a:lnTo>
                    <a:pt x="284" y="440"/>
                  </a:lnTo>
                  <a:lnTo>
                    <a:pt x="231" y="424"/>
                  </a:lnTo>
                  <a:lnTo>
                    <a:pt x="183" y="404"/>
                  </a:lnTo>
                  <a:lnTo>
                    <a:pt x="138" y="383"/>
                  </a:lnTo>
                  <a:lnTo>
                    <a:pt x="98" y="359"/>
                  </a:lnTo>
                  <a:lnTo>
                    <a:pt x="65" y="331"/>
                  </a:lnTo>
                  <a:lnTo>
                    <a:pt x="37" y="302"/>
                  </a:lnTo>
                  <a:lnTo>
                    <a:pt x="17" y="272"/>
                  </a:lnTo>
                  <a:lnTo>
                    <a:pt x="3" y="241"/>
                  </a:lnTo>
                  <a:lnTo>
                    <a:pt x="0" y="209"/>
                  </a:lnTo>
                  <a:lnTo>
                    <a:pt x="1" y="178"/>
                  </a:lnTo>
                  <a:lnTo>
                    <a:pt x="11" y="148"/>
                  </a:lnTo>
                  <a:lnTo>
                    <a:pt x="29" y="119"/>
                  </a:lnTo>
                  <a:lnTo>
                    <a:pt x="55" y="93"/>
                  </a:lnTo>
                  <a:lnTo>
                    <a:pt x="86" y="69"/>
                  </a:lnTo>
                  <a:lnTo>
                    <a:pt x="124" y="48"/>
                  </a:lnTo>
                  <a:lnTo>
                    <a:pt x="168" y="30"/>
                  </a:lnTo>
                  <a:lnTo>
                    <a:pt x="217" y="16"/>
                  </a:lnTo>
                  <a:lnTo>
                    <a:pt x="268" y="6"/>
                  </a:lnTo>
                  <a:lnTo>
                    <a:pt x="324" y="0"/>
                  </a:lnTo>
                  <a:lnTo>
                    <a:pt x="379" y="0"/>
                  </a:lnTo>
                  <a:lnTo>
                    <a:pt x="436" y="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496" name="Rectangle 24"/>
            <p:cNvSpPr>
              <a:spLocks noChangeArrowheads="1"/>
            </p:cNvSpPr>
            <p:nvPr/>
          </p:nvSpPr>
          <p:spPr bwMode="auto">
            <a:xfrm>
              <a:off x="944" y="1501"/>
              <a:ext cx="166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rgbClr val="FF0000"/>
                  </a:solidFill>
                </a:rPr>
                <a:t>2</a:t>
              </a:r>
              <a:endParaRPr lang="en-US"/>
            </a:p>
          </p:txBody>
        </p:sp>
      </p:grpSp>
      <p:grpSp>
        <p:nvGrpSpPr>
          <p:cNvPr id="1641497" name="Group 25"/>
          <p:cNvGrpSpPr>
            <a:grpSpLocks/>
          </p:cNvGrpSpPr>
          <p:nvPr/>
        </p:nvGrpSpPr>
        <p:grpSpPr bwMode="auto">
          <a:xfrm>
            <a:off x="403225" y="1865312"/>
            <a:ext cx="3659188" cy="3460750"/>
            <a:chOff x="254" y="1022"/>
            <a:chExt cx="2305" cy="2180"/>
          </a:xfrm>
        </p:grpSpPr>
        <p:sp>
          <p:nvSpPr>
            <p:cNvPr id="1641498" name="Rectangle 26"/>
            <p:cNvSpPr>
              <a:spLocks noChangeArrowheads="1"/>
            </p:cNvSpPr>
            <p:nvPr/>
          </p:nvSpPr>
          <p:spPr bwMode="auto">
            <a:xfrm>
              <a:off x="564" y="1148"/>
              <a:ext cx="166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rgbClr val="FF0000"/>
                  </a:solidFill>
                </a:rPr>
                <a:t>5</a:t>
              </a:r>
              <a:endParaRPr lang="en-US"/>
            </a:p>
          </p:txBody>
        </p:sp>
        <p:sp>
          <p:nvSpPr>
            <p:cNvPr id="1641499" name="Freeform 27"/>
            <p:cNvSpPr>
              <a:spLocks/>
            </p:cNvSpPr>
            <p:nvPr/>
          </p:nvSpPr>
          <p:spPr bwMode="auto">
            <a:xfrm>
              <a:off x="254" y="1022"/>
              <a:ext cx="2305" cy="2180"/>
            </a:xfrm>
            <a:custGeom>
              <a:avLst/>
              <a:gdLst>
                <a:gd name="T0" fmla="*/ 1245 w 2305"/>
                <a:gd name="T1" fmla="*/ 4 h 2180"/>
                <a:gd name="T2" fmla="*/ 1433 w 2305"/>
                <a:gd name="T3" fmla="*/ 33 h 2180"/>
                <a:gd name="T4" fmla="*/ 1615 w 2305"/>
                <a:gd name="T5" fmla="*/ 90 h 2180"/>
                <a:gd name="T6" fmla="*/ 1781 w 2305"/>
                <a:gd name="T7" fmla="*/ 175 h 2180"/>
                <a:gd name="T8" fmla="*/ 1931 w 2305"/>
                <a:gd name="T9" fmla="*/ 286 h 2180"/>
                <a:gd name="T10" fmla="*/ 2062 w 2305"/>
                <a:gd name="T11" fmla="*/ 420 h 2180"/>
                <a:gd name="T12" fmla="*/ 2166 w 2305"/>
                <a:gd name="T13" fmla="*/ 569 h 2180"/>
                <a:gd name="T14" fmla="*/ 2242 w 2305"/>
                <a:gd name="T15" fmla="*/ 735 h 2180"/>
                <a:gd name="T16" fmla="*/ 2289 w 2305"/>
                <a:gd name="T17" fmla="*/ 908 h 2180"/>
                <a:gd name="T18" fmla="*/ 2305 w 2305"/>
                <a:gd name="T19" fmla="*/ 1088 h 2180"/>
                <a:gd name="T20" fmla="*/ 2289 w 2305"/>
                <a:gd name="T21" fmla="*/ 1267 h 2180"/>
                <a:gd name="T22" fmla="*/ 2243 w 2305"/>
                <a:gd name="T23" fmla="*/ 1443 h 2180"/>
                <a:gd name="T24" fmla="*/ 2166 w 2305"/>
                <a:gd name="T25" fmla="*/ 1606 h 2180"/>
                <a:gd name="T26" fmla="*/ 2064 w 2305"/>
                <a:gd name="T27" fmla="*/ 1758 h 2180"/>
                <a:gd name="T28" fmla="*/ 1935 w 2305"/>
                <a:gd name="T29" fmla="*/ 1890 h 2180"/>
                <a:gd name="T30" fmla="*/ 1785 w 2305"/>
                <a:gd name="T31" fmla="*/ 2002 h 2180"/>
                <a:gd name="T32" fmla="*/ 1617 w 2305"/>
                <a:gd name="T33" fmla="*/ 2087 h 2180"/>
                <a:gd name="T34" fmla="*/ 1437 w 2305"/>
                <a:gd name="T35" fmla="*/ 2146 h 2180"/>
                <a:gd name="T36" fmla="*/ 1249 w 2305"/>
                <a:gd name="T37" fmla="*/ 2176 h 2180"/>
                <a:gd name="T38" fmla="*/ 1059 w 2305"/>
                <a:gd name="T39" fmla="*/ 2176 h 2180"/>
                <a:gd name="T40" fmla="*/ 872 w 2305"/>
                <a:gd name="T41" fmla="*/ 2148 h 2180"/>
                <a:gd name="T42" fmla="*/ 692 w 2305"/>
                <a:gd name="T43" fmla="*/ 2089 h 2180"/>
                <a:gd name="T44" fmla="*/ 524 w 2305"/>
                <a:gd name="T45" fmla="*/ 2004 h 2180"/>
                <a:gd name="T46" fmla="*/ 373 w 2305"/>
                <a:gd name="T47" fmla="*/ 1894 h 2180"/>
                <a:gd name="T48" fmla="*/ 245 w 2305"/>
                <a:gd name="T49" fmla="*/ 1762 h 2180"/>
                <a:gd name="T50" fmla="*/ 140 w 2305"/>
                <a:gd name="T51" fmla="*/ 1610 h 2180"/>
                <a:gd name="T52" fmla="*/ 63 w 2305"/>
                <a:gd name="T53" fmla="*/ 1447 h 2180"/>
                <a:gd name="T54" fmla="*/ 16 w 2305"/>
                <a:gd name="T55" fmla="*/ 1271 h 2180"/>
                <a:gd name="T56" fmla="*/ 0 w 2305"/>
                <a:gd name="T57" fmla="*/ 1092 h 2180"/>
                <a:gd name="T58" fmla="*/ 16 w 2305"/>
                <a:gd name="T59" fmla="*/ 912 h 2180"/>
                <a:gd name="T60" fmla="*/ 63 w 2305"/>
                <a:gd name="T61" fmla="*/ 737 h 2180"/>
                <a:gd name="T62" fmla="*/ 138 w 2305"/>
                <a:gd name="T63" fmla="*/ 573 h 2180"/>
                <a:gd name="T64" fmla="*/ 243 w 2305"/>
                <a:gd name="T65" fmla="*/ 422 h 2180"/>
                <a:gd name="T66" fmla="*/ 371 w 2305"/>
                <a:gd name="T67" fmla="*/ 290 h 2180"/>
                <a:gd name="T68" fmla="*/ 522 w 2305"/>
                <a:gd name="T69" fmla="*/ 179 h 2180"/>
                <a:gd name="T70" fmla="*/ 688 w 2305"/>
                <a:gd name="T71" fmla="*/ 92 h 2180"/>
                <a:gd name="T72" fmla="*/ 868 w 2305"/>
                <a:gd name="T73" fmla="*/ 33 h 2180"/>
                <a:gd name="T74" fmla="*/ 1055 w 2305"/>
                <a:gd name="T75" fmla="*/ 4 h 2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305" h="2180">
                  <a:moveTo>
                    <a:pt x="1150" y="0"/>
                  </a:moveTo>
                  <a:lnTo>
                    <a:pt x="1245" y="4"/>
                  </a:lnTo>
                  <a:lnTo>
                    <a:pt x="1340" y="14"/>
                  </a:lnTo>
                  <a:lnTo>
                    <a:pt x="1433" y="33"/>
                  </a:lnTo>
                  <a:lnTo>
                    <a:pt x="1526" y="59"/>
                  </a:lnTo>
                  <a:lnTo>
                    <a:pt x="1615" y="90"/>
                  </a:lnTo>
                  <a:lnTo>
                    <a:pt x="1700" y="130"/>
                  </a:lnTo>
                  <a:lnTo>
                    <a:pt x="1781" y="175"/>
                  </a:lnTo>
                  <a:lnTo>
                    <a:pt x="1860" y="228"/>
                  </a:lnTo>
                  <a:lnTo>
                    <a:pt x="1931" y="286"/>
                  </a:lnTo>
                  <a:lnTo>
                    <a:pt x="2000" y="351"/>
                  </a:lnTo>
                  <a:lnTo>
                    <a:pt x="2062" y="420"/>
                  </a:lnTo>
                  <a:lnTo>
                    <a:pt x="2117" y="493"/>
                  </a:lnTo>
                  <a:lnTo>
                    <a:pt x="2166" y="569"/>
                  </a:lnTo>
                  <a:lnTo>
                    <a:pt x="2208" y="650"/>
                  </a:lnTo>
                  <a:lnTo>
                    <a:pt x="2242" y="735"/>
                  </a:lnTo>
                  <a:lnTo>
                    <a:pt x="2269" y="820"/>
                  </a:lnTo>
                  <a:lnTo>
                    <a:pt x="2289" y="908"/>
                  </a:lnTo>
                  <a:lnTo>
                    <a:pt x="2301" y="997"/>
                  </a:lnTo>
                  <a:lnTo>
                    <a:pt x="2305" y="1088"/>
                  </a:lnTo>
                  <a:lnTo>
                    <a:pt x="2301" y="1178"/>
                  </a:lnTo>
                  <a:lnTo>
                    <a:pt x="2289" y="1267"/>
                  </a:lnTo>
                  <a:lnTo>
                    <a:pt x="2271" y="1356"/>
                  </a:lnTo>
                  <a:lnTo>
                    <a:pt x="2243" y="1443"/>
                  </a:lnTo>
                  <a:lnTo>
                    <a:pt x="2210" y="1525"/>
                  </a:lnTo>
                  <a:lnTo>
                    <a:pt x="2166" y="1606"/>
                  </a:lnTo>
                  <a:lnTo>
                    <a:pt x="2119" y="1685"/>
                  </a:lnTo>
                  <a:lnTo>
                    <a:pt x="2064" y="1758"/>
                  </a:lnTo>
                  <a:lnTo>
                    <a:pt x="2002" y="1827"/>
                  </a:lnTo>
                  <a:lnTo>
                    <a:pt x="1935" y="1890"/>
                  </a:lnTo>
                  <a:lnTo>
                    <a:pt x="1862" y="1949"/>
                  </a:lnTo>
                  <a:lnTo>
                    <a:pt x="1785" y="2002"/>
                  </a:lnTo>
                  <a:lnTo>
                    <a:pt x="1704" y="2048"/>
                  </a:lnTo>
                  <a:lnTo>
                    <a:pt x="1617" y="2087"/>
                  </a:lnTo>
                  <a:lnTo>
                    <a:pt x="1528" y="2121"/>
                  </a:lnTo>
                  <a:lnTo>
                    <a:pt x="1437" y="2146"/>
                  </a:lnTo>
                  <a:lnTo>
                    <a:pt x="1344" y="2164"/>
                  </a:lnTo>
                  <a:lnTo>
                    <a:pt x="1249" y="2176"/>
                  </a:lnTo>
                  <a:lnTo>
                    <a:pt x="1154" y="2180"/>
                  </a:lnTo>
                  <a:lnTo>
                    <a:pt x="1059" y="2176"/>
                  </a:lnTo>
                  <a:lnTo>
                    <a:pt x="965" y="2166"/>
                  </a:lnTo>
                  <a:lnTo>
                    <a:pt x="872" y="2148"/>
                  </a:lnTo>
                  <a:lnTo>
                    <a:pt x="781" y="2123"/>
                  </a:lnTo>
                  <a:lnTo>
                    <a:pt x="692" y="2089"/>
                  </a:lnTo>
                  <a:lnTo>
                    <a:pt x="607" y="2050"/>
                  </a:lnTo>
                  <a:lnTo>
                    <a:pt x="524" y="2004"/>
                  </a:lnTo>
                  <a:lnTo>
                    <a:pt x="447" y="1951"/>
                  </a:lnTo>
                  <a:lnTo>
                    <a:pt x="373" y="1894"/>
                  </a:lnTo>
                  <a:lnTo>
                    <a:pt x="306" y="1829"/>
                  </a:lnTo>
                  <a:lnTo>
                    <a:pt x="245" y="1762"/>
                  </a:lnTo>
                  <a:lnTo>
                    <a:pt x="190" y="1687"/>
                  </a:lnTo>
                  <a:lnTo>
                    <a:pt x="140" y="1610"/>
                  </a:lnTo>
                  <a:lnTo>
                    <a:pt x="99" y="1529"/>
                  </a:lnTo>
                  <a:lnTo>
                    <a:pt x="63" y="1447"/>
                  </a:lnTo>
                  <a:lnTo>
                    <a:pt x="35" y="1360"/>
                  </a:lnTo>
                  <a:lnTo>
                    <a:pt x="16" y="1271"/>
                  </a:lnTo>
                  <a:lnTo>
                    <a:pt x="4" y="1182"/>
                  </a:lnTo>
                  <a:lnTo>
                    <a:pt x="0" y="1092"/>
                  </a:lnTo>
                  <a:lnTo>
                    <a:pt x="4" y="1001"/>
                  </a:lnTo>
                  <a:lnTo>
                    <a:pt x="16" y="912"/>
                  </a:lnTo>
                  <a:lnTo>
                    <a:pt x="35" y="824"/>
                  </a:lnTo>
                  <a:lnTo>
                    <a:pt x="63" y="737"/>
                  </a:lnTo>
                  <a:lnTo>
                    <a:pt x="97" y="654"/>
                  </a:lnTo>
                  <a:lnTo>
                    <a:pt x="138" y="573"/>
                  </a:lnTo>
                  <a:lnTo>
                    <a:pt x="188" y="495"/>
                  </a:lnTo>
                  <a:lnTo>
                    <a:pt x="243" y="422"/>
                  </a:lnTo>
                  <a:lnTo>
                    <a:pt x="304" y="353"/>
                  </a:lnTo>
                  <a:lnTo>
                    <a:pt x="371" y="290"/>
                  </a:lnTo>
                  <a:lnTo>
                    <a:pt x="443" y="230"/>
                  </a:lnTo>
                  <a:lnTo>
                    <a:pt x="522" y="179"/>
                  </a:lnTo>
                  <a:lnTo>
                    <a:pt x="603" y="132"/>
                  </a:lnTo>
                  <a:lnTo>
                    <a:pt x="688" y="92"/>
                  </a:lnTo>
                  <a:lnTo>
                    <a:pt x="777" y="59"/>
                  </a:lnTo>
                  <a:lnTo>
                    <a:pt x="868" y="33"/>
                  </a:lnTo>
                  <a:lnTo>
                    <a:pt x="961" y="16"/>
                  </a:lnTo>
                  <a:lnTo>
                    <a:pt x="1055" y="4"/>
                  </a:lnTo>
                  <a:lnTo>
                    <a:pt x="11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41500" name="Group 28"/>
          <p:cNvGrpSpPr>
            <a:grpSpLocks/>
          </p:cNvGrpSpPr>
          <p:nvPr/>
        </p:nvGrpSpPr>
        <p:grpSpPr bwMode="auto">
          <a:xfrm>
            <a:off x="1931988" y="3344862"/>
            <a:ext cx="1800225" cy="1720850"/>
            <a:chOff x="1217" y="1954"/>
            <a:chExt cx="1134" cy="1084"/>
          </a:xfrm>
        </p:grpSpPr>
        <p:sp>
          <p:nvSpPr>
            <p:cNvPr id="1641501" name="Rectangle 29"/>
            <p:cNvSpPr>
              <a:spLocks noChangeArrowheads="1"/>
            </p:cNvSpPr>
            <p:nvPr/>
          </p:nvSpPr>
          <p:spPr bwMode="auto">
            <a:xfrm>
              <a:off x="1665" y="2811"/>
              <a:ext cx="166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rgbClr val="FF0000"/>
                  </a:solidFill>
                </a:rPr>
                <a:t>3</a:t>
              </a:r>
              <a:endParaRPr lang="en-US"/>
            </a:p>
          </p:txBody>
        </p:sp>
        <p:sp>
          <p:nvSpPr>
            <p:cNvPr id="1641502" name="Freeform 30"/>
            <p:cNvSpPr>
              <a:spLocks/>
            </p:cNvSpPr>
            <p:nvPr/>
          </p:nvSpPr>
          <p:spPr bwMode="auto">
            <a:xfrm>
              <a:off x="1217" y="1954"/>
              <a:ext cx="1134" cy="909"/>
            </a:xfrm>
            <a:custGeom>
              <a:avLst/>
              <a:gdLst>
                <a:gd name="T0" fmla="*/ 371 w 1134"/>
                <a:gd name="T1" fmla="*/ 142 h 909"/>
                <a:gd name="T2" fmla="*/ 430 w 1134"/>
                <a:gd name="T3" fmla="*/ 108 h 909"/>
                <a:gd name="T4" fmla="*/ 492 w 1134"/>
                <a:gd name="T5" fmla="*/ 79 h 909"/>
                <a:gd name="T6" fmla="*/ 551 w 1134"/>
                <a:gd name="T7" fmla="*/ 53 h 909"/>
                <a:gd name="T8" fmla="*/ 614 w 1134"/>
                <a:gd name="T9" fmla="*/ 32 h 909"/>
                <a:gd name="T10" fmla="*/ 674 w 1134"/>
                <a:gd name="T11" fmla="*/ 16 h 909"/>
                <a:gd name="T12" fmla="*/ 735 w 1134"/>
                <a:gd name="T13" fmla="*/ 6 h 909"/>
                <a:gd name="T14" fmla="*/ 792 w 1134"/>
                <a:gd name="T15" fmla="*/ 0 h 909"/>
                <a:gd name="T16" fmla="*/ 848 w 1134"/>
                <a:gd name="T17" fmla="*/ 0 h 909"/>
                <a:gd name="T18" fmla="*/ 899 w 1134"/>
                <a:gd name="T19" fmla="*/ 4 h 909"/>
                <a:gd name="T20" fmla="*/ 946 w 1134"/>
                <a:gd name="T21" fmla="*/ 14 h 909"/>
                <a:gd name="T22" fmla="*/ 990 w 1134"/>
                <a:gd name="T23" fmla="*/ 30 h 909"/>
                <a:gd name="T24" fmla="*/ 1027 w 1134"/>
                <a:gd name="T25" fmla="*/ 51 h 909"/>
                <a:gd name="T26" fmla="*/ 1061 w 1134"/>
                <a:gd name="T27" fmla="*/ 77 h 909"/>
                <a:gd name="T28" fmla="*/ 1089 w 1134"/>
                <a:gd name="T29" fmla="*/ 107 h 909"/>
                <a:gd name="T30" fmla="*/ 1110 w 1134"/>
                <a:gd name="T31" fmla="*/ 140 h 909"/>
                <a:gd name="T32" fmla="*/ 1124 w 1134"/>
                <a:gd name="T33" fmla="*/ 177 h 909"/>
                <a:gd name="T34" fmla="*/ 1132 w 1134"/>
                <a:gd name="T35" fmla="*/ 217 h 909"/>
                <a:gd name="T36" fmla="*/ 1134 w 1134"/>
                <a:gd name="T37" fmla="*/ 260 h 909"/>
                <a:gd name="T38" fmla="*/ 1128 w 1134"/>
                <a:gd name="T39" fmla="*/ 308 h 909"/>
                <a:gd name="T40" fmla="*/ 1118 w 1134"/>
                <a:gd name="T41" fmla="*/ 355 h 909"/>
                <a:gd name="T42" fmla="*/ 1099 w 1134"/>
                <a:gd name="T43" fmla="*/ 402 h 909"/>
                <a:gd name="T44" fmla="*/ 1075 w 1134"/>
                <a:gd name="T45" fmla="*/ 451 h 909"/>
                <a:gd name="T46" fmla="*/ 1045 w 1134"/>
                <a:gd name="T47" fmla="*/ 501 h 909"/>
                <a:gd name="T48" fmla="*/ 1010 w 1134"/>
                <a:gd name="T49" fmla="*/ 550 h 909"/>
                <a:gd name="T50" fmla="*/ 968 w 1134"/>
                <a:gd name="T51" fmla="*/ 597 h 909"/>
                <a:gd name="T52" fmla="*/ 923 w 1134"/>
                <a:gd name="T53" fmla="*/ 643 h 909"/>
                <a:gd name="T54" fmla="*/ 871 w 1134"/>
                <a:gd name="T55" fmla="*/ 688 h 909"/>
                <a:gd name="T56" fmla="*/ 818 w 1134"/>
                <a:gd name="T57" fmla="*/ 727 h 909"/>
                <a:gd name="T58" fmla="*/ 763 w 1134"/>
                <a:gd name="T59" fmla="*/ 765 h 909"/>
                <a:gd name="T60" fmla="*/ 703 w 1134"/>
                <a:gd name="T61" fmla="*/ 800 h 909"/>
                <a:gd name="T62" fmla="*/ 644 w 1134"/>
                <a:gd name="T63" fmla="*/ 830 h 909"/>
                <a:gd name="T64" fmla="*/ 583 w 1134"/>
                <a:gd name="T65" fmla="*/ 855 h 909"/>
                <a:gd name="T66" fmla="*/ 519 w 1134"/>
                <a:gd name="T67" fmla="*/ 877 h 909"/>
                <a:gd name="T68" fmla="*/ 460 w 1134"/>
                <a:gd name="T69" fmla="*/ 893 h 909"/>
                <a:gd name="T70" fmla="*/ 401 w 1134"/>
                <a:gd name="T71" fmla="*/ 903 h 909"/>
                <a:gd name="T72" fmla="*/ 342 w 1134"/>
                <a:gd name="T73" fmla="*/ 909 h 909"/>
                <a:gd name="T74" fmla="*/ 286 w 1134"/>
                <a:gd name="T75" fmla="*/ 909 h 909"/>
                <a:gd name="T76" fmla="*/ 235 w 1134"/>
                <a:gd name="T77" fmla="*/ 905 h 909"/>
                <a:gd name="T78" fmla="*/ 187 w 1134"/>
                <a:gd name="T79" fmla="*/ 893 h 909"/>
                <a:gd name="T80" fmla="*/ 144 w 1134"/>
                <a:gd name="T81" fmla="*/ 877 h 909"/>
                <a:gd name="T82" fmla="*/ 106 w 1134"/>
                <a:gd name="T83" fmla="*/ 857 h 909"/>
                <a:gd name="T84" fmla="*/ 73 w 1134"/>
                <a:gd name="T85" fmla="*/ 832 h 909"/>
                <a:gd name="T86" fmla="*/ 45 w 1134"/>
                <a:gd name="T87" fmla="*/ 802 h 909"/>
                <a:gd name="T88" fmla="*/ 23 w 1134"/>
                <a:gd name="T89" fmla="*/ 769 h 909"/>
                <a:gd name="T90" fmla="*/ 9 w 1134"/>
                <a:gd name="T91" fmla="*/ 731 h 909"/>
                <a:gd name="T92" fmla="*/ 2 w 1134"/>
                <a:gd name="T93" fmla="*/ 690 h 909"/>
                <a:gd name="T94" fmla="*/ 0 w 1134"/>
                <a:gd name="T95" fmla="*/ 647 h 909"/>
                <a:gd name="T96" fmla="*/ 5 w 1134"/>
                <a:gd name="T97" fmla="*/ 601 h 909"/>
                <a:gd name="T98" fmla="*/ 15 w 1134"/>
                <a:gd name="T99" fmla="*/ 554 h 909"/>
                <a:gd name="T100" fmla="*/ 35 w 1134"/>
                <a:gd name="T101" fmla="*/ 505 h 909"/>
                <a:gd name="T102" fmla="*/ 59 w 1134"/>
                <a:gd name="T103" fmla="*/ 455 h 909"/>
                <a:gd name="T104" fmla="*/ 88 w 1134"/>
                <a:gd name="T105" fmla="*/ 406 h 909"/>
                <a:gd name="T106" fmla="*/ 124 w 1134"/>
                <a:gd name="T107" fmla="*/ 359 h 909"/>
                <a:gd name="T108" fmla="*/ 166 w 1134"/>
                <a:gd name="T109" fmla="*/ 311 h 909"/>
                <a:gd name="T110" fmla="*/ 211 w 1134"/>
                <a:gd name="T111" fmla="*/ 264 h 909"/>
                <a:gd name="T112" fmla="*/ 262 w 1134"/>
                <a:gd name="T113" fmla="*/ 221 h 909"/>
                <a:gd name="T114" fmla="*/ 316 w 1134"/>
                <a:gd name="T115" fmla="*/ 179 h 909"/>
                <a:gd name="T116" fmla="*/ 371 w 1134"/>
                <a:gd name="T117" fmla="*/ 142 h 9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134" h="909">
                  <a:moveTo>
                    <a:pt x="371" y="142"/>
                  </a:moveTo>
                  <a:lnTo>
                    <a:pt x="430" y="108"/>
                  </a:lnTo>
                  <a:lnTo>
                    <a:pt x="492" y="79"/>
                  </a:lnTo>
                  <a:lnTo>
                    <a:pt x="551" y="53"/>
                  </a:lnTo>
                  <a:lnTo>
                    <a:pt x="614" y="32"/>
                  </a:lnTo>
                  <a:lnTo>
                    <a:pt x="674" y="16"/>
                  </a:lnTo>
                  <a:lnTo>
                    <a:pt x="735" y="6"/>
                  </a:lnTo>
                  <a:lnTo>
                    <a:pt x="792" y="0"/>
                  </a:lnTo>
                  <a:lnTo>
                    <a:pt x="848" y="0"/>
                  </a:lnTo>
                  <a:lnTo>
                    <a:pt x="899" y="4"/>
                  </a:lnTo>
                  <a:lnTo>
                    <a:pt x="946" y="14"/>
                  </a:lnTo>
                  <a:lnTo>
                    <a:pt x="990" y="30"/>
                  </a:lnTo>
                  <a:lnTo>
                    <a:pt x="1027" y="51"/>
                  </a:lnTo>
                  <a:lnTo>
                    <a:pt x="1061" y="77"/>
                  </a:lnTo>
                  <a:lnTo>
                    <a:pt x="1089" y="107"/>
                  </a:lnTo>
                  <a:lnTo>
                    <a:pt x="1110" y="140"/>
                  </a:lnTo>
                  <a:lnTo>
                    <a:pt x="1124" y="177"/>
                  </a:lnTo>
                  <a:lnTo>
                    <a:pt x="1132" y="217"/>
                  </a:lnTo>
                  <a:lnTo>
                    <a:pt x="1134" y="260"/>
                  </a:lnTo>
                  <a:lnTo>
                    <a:pt x="1128" y="308"/>
                  </a:lnTo>
                  <a:lnTo>
                    <a:pt x="1118" y="355"/>
                  </a:lnTo>
                  <a:lnTo>
                    <a:pt x="1099" y="402"/>
                  </a:lnTo>
                  <a:lnTo>
                    <a:pt x="1075" y="451"/>
                  </a:lnTo>
                  <a:lnTo>
                    <a:pt x="1045" y="501"/>
                  </a:lnTo>
                  <a:lnTo>
                    <a:pt x="1010" y="550"/>
                  </a:lnTo>
                  <a:lnTo>
                    <a:pt x="968" y="597"/>
                  </a:lnTo>
                  <a:lnTo>
                    <a:pt x="923" y="643"/>
                  </a:lnTo>
                  <a:lnTo>
                    <a:pt x="871" y="688"/>
                  </a:lnTo>
                  <a:lnTo>
                    <a:pt x="818" y="727"/>
                  </a:lnTo>
                  <a:lnTo>
                    <a:pt x="763" y="765"/>
                  </a:lnTo>
                  <a:lnTo>
                    <a:pt x="703" y="800"/>
                  </a:lnTo>
                  <a:lnTo>
                    <a:pt x="644" y="830"/>
                  </a:lnTo>
                  <a:lnTo>
                    <a:pt x="583" y="855"/>
                  </a:lnTo>
                  <a:lnTo>
                    <a:pt x="519" y="877"/>
                  </a:lnTo>
                  <a:lnTo>
                    <a:pt x="460" y="893"/>
                  </a:lnTo>
                  <a:lnTo>
                    <a:pt x="401" y="903"/>
                  </a:lnTo>
                  <a:lnTo>
                    <a:pt x="342" y="909"/>
                  </a:lnTo>
                  <a:lnTo>
                    <a:pt x="286" y="909"/>
                  </a:lnTo>
                  <a:lnTo>
                    <a:pt x="235" y="905"/>
                  </a:lnTo>
                  <a:lnTo>
                    <a:pt x="187" y="893"/>
                  </a:lnTo>
                  <a:lnTo>
                    <a:pt x="144" y="877"/>
                  </a:lnTo>
                  <a:lnTo>
                    <a:pt x="106" y="857"/>
                  </a:lnTo>
                  <a:lnTo>
                    <a:pt x="73" y="832"/>
                  </a:lnTo>
                  <a:lnTo>
                    <a:pt x="45" y="802"/>
                  </a:lnTo>
                  <a:lnTo>
                    <a:pt x="23" y="769"/>
                  </a:lnTo>
                  <a:lnTo>
                    <a:pt x="9" y="731"/>
                  </a:lnTo>
                  <a:lnTo>
                    <a:pt x="2" y="690"/>
                  </a:lnTo>
                  <a:lnTo>
                    <a:pt x="0" y="647"/>
                  </a:lnTo>
                  <a:lnTo>
                    <a:pt x="5" y="601"/>
                  </a:lnTo>
                  <a:lnTo>
                    <a:pt x="15" y="554"/>
                  </a:lnTo>
                  <a:lnTo>
                    <a:pt x="35" y="505"/>
                  </a:lnTo>
                  <a:lnTo>
                    <a:pt x="59" y="455"/>
                  </a:lnTo>
                  <a:lnTo>
                    <a:pt x="88" y="406"/>
                  </a:lnTo>
                  <a:lnTo>
                    <a:pt x="124" y="359"/>
                  </a:lnTo>
                  <a:lnTo>
                    <a:pt x="166" y="311"/>
                  </a:lnTo>
                  <a:lnTo>
                    <a:pt x="211" y="264"/>
                  </a:lnTo>
                  <a:lnTo>
                    <a:pt x="262" y="221"/>
                  </a:lnTo>
                  <a:lnTo>
                    <a:pt x="316" y="179"/>
                  </a:lnTo>
                  <a:lnTo>
                    <a:pt x="371" y="14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41503" name="Group 31"/>
          <p:cNvGrpSpPr>
            <a:grpSpLocks/>
          </p:cNvGrpSpPr>
          <p:nvPr/>
        </p:nvGrpSpPr>
        <p:grpSpPr bwMode="auto">
          <a:xfrm>
            <a:off x="1893888" y="2165350"/>
            <a:ext cx="1933575" cy="3097212"/>
            <a:chOff x="1193" y="1211"/>
            <a:chExt cx="1218" cy="1951"/>
          </a:xfrm>
        </p:grpSpPr>
        <p:sp>
          <p:nvSpPr>
            <p:cNvPr id="1641504" name="Rectangle 32"/>
            <p:cNvSpPr>
              <a:spLocks noChangeArrowheads="1"/>
            </p:cNvSpPr>
            <p:nvPr/>
          </p:nvSpPr>
          <p:spPr bwMode="auto">
            <a:xfrm>
              <a:off x="1602" y="1211"/>
              <a:ext cx="166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rgbClr val="FF0000"/>
                  </a:solidFill>
                </a:rPr>
                <a:t>4</a:t>
              </a:r>
              <a:endParaRPr lang="en-US"/>
            </a:p>
          </p:txBody>
        </p:sp>
        <p:sp>
          <p:nvSpPr>
            <p:cNvPr id="1641505" name="Freeform 33"/>
            <p:cNvSpPr>
              <a:spLocks/>
            </p:cNvSpPr>
            <p:nvPr/>
          </p:nvSpPr>
          <p:spPr bwMode="auto">
            <a:xfrm>
              <a:off x="1193" y="1246"/>
              <a:ext cx="1218" cy="1916"/>
            </a:xfrm>
            <a:custGeom>
              <a:avLst/>
              <a:gdLst>
                <a:gd name="T0" fmla="*/ 87 w 1218"/>
                <a:gd name="T1" fmla="*/ 724 h 1916"/>
                <a:gd name="T2" fmla="*/ 148 w 1218"/>
                <a:gd name="T3" fmla="*/ 566 h 1916"/>
                <a:gd name="T4" fmla="*/ 225 w 1218"/>
                <a:gd name="T5" fmla="*/ 420 h 1916"/>
                <a:gd name="T6" fmla="*/ 312 w 1218"/>
                <a:gd name="T7" fmla="*/ 290 h 1916"/>
                <a:gd name="T8" fmla="*/ 409 w 1218"/>
                <a:gd name="T9" fmla="*/ 182 h 1916"/>
                <a:gd name="T10" fmla="*/ 514 w 1218"/>
                <a:gd name="T11" fmla="*/ 97 h 1916"/>
                <a:gd name="T12" fmla="*/ 619 w 1218"/>
                <a:gd name="T13" fmla="*/ 38 h 1916"/>
                <a:gd name="T14" fmla="*/ 725 w 1218"/>
                <a:gd name="T15" fmla="*/ 6 h 1916"/>
                <a:gd name="T16" fmla="*/ 826 w 1218"/>
                <a:gd name="T17" fmla="*/ 4 h 1916"/>
                <a:gd name="T18" fmla="*/ 923 w 1218"/>
                <a:gd name="T19" fmla="*/ 30 h 1916"/>
                <a:gd name="T20" fmla="*/ 1008 w 1218"/>
                <a:gd name="T21" fmla="*/ 85 h 1916"/>
                <a:gd name="T22" fmla="*/ 1081 w 1218"/>
                <a:gd name="T23" fmla="*/ 168 h 1916"/>
                <a:gd name="T24" fmla="*/ 1142 w 1218"/>
                <a:gd name="T25" fmla="*/ 272 h 1916"/>
                <a:gd name="T26" fmla="*/ 1184 w 1218"/>
                <a:gd name="T27" fmla="*/ 399 h 1916"/>
                <a:gd name="T28" fmla="*/ 1212 w 1218"/>
                <a:gd name="T29" fmla="*/ 543 h 1916"/>
                <a:gd name="T30" fmla="*/ 1218 w 1218"/>
                <a:gd name="T31" fmla="*/ 698 h 1916"/>
                <a:gd name="T32" fmla="*/ 1208 w 1218"/>
                <a:gd name="T33" fmla="*/ 862 h 1916"/>
                <a:gd name="T34" fmla="*/ 1178 w 1218"/>
                <a:gd name="T35" fmla="*/ 1029 h 1916"/>
                <a:gd name="T36" fmla="*/ 1133 w 1218"/>
                <a:gd name="T37" fmla="*/ 1193 h 1916"/>
                <a:gd name="T38" fmla="*/ 1069 w 1218"/>
                <a:gd name="T39" fmla="*/ 1351 h 1916"/>
                <a:gd name="T40" fmla="*/ 992 w 1218"/>
                <a:gd name="T41" fmla="*/ 1496 h 1916"/>
                <a:gd name="T42" fmla="*/ 905 w 1218"/>
                <a:gd name="T43" fmla="*/ 1627 h 1916"/>
                <a:gd name="T44" fmla="*/ 808 w 1218"/>
                <a:gd name="T45" fmla="*/ 1735 h 1916"/>
                <a:gd name="T46" fmla="*/ 706 w 1218"/>
                <a:gd name="T47" fmla="*/ 1820 h 1916"/>
                <a:gd name="T48" fmla="*/ 599 w 1218"/>
                <a:gd name="T49" fmla="*/ 1879 h 1916"/>
                <a:gd name="T50" fmla="*/ 494 w 1218"/>
                <a:gd name="T51" fmla="*/ 1910 h 1916"/>
                <a:gd name="T52" fmla="*/ 391 w 1218"/>
                <a:gd name="T53" fmla="*/ 1912 h 1916"/>
                <a:gd name="T54" fmla="*/ 296 w 1218"/>
                <a:gd name="T55" fmla="*/ 1887 h 1916"/>
                <a:gd name="T56" fmla="*/ 209 w 1218"/>
                <a:gd name="T57" fmla="*/ 1832 h 1916"/>
                <a:gd name="T58" fmla="*/ 136 w 1218"/>
                <a:gd name="T59" fmla="*/ 1751 h 1916"/>
                <a:gd name="T60" fmla="*/ 77 w 1218"/>
                <a:gd name="T61" fmla="*/ 1644 h 1916"/>
                <a:gd name="T62" fmla="*/ 33 w 1218"/>
                <a:gd name="T63" fmla="*/ 1518 h 1916"/>
                <a:gd name="T64" fmla="*/ 8 w 1218"/>
                <a:gd name="T65" fmla="*/ 1374 h 1916"/>
                <a:gd name="T66" fmla="*/ 0 w 1218"/>
                <a:gd name="T67" fmla="*/ 1219 h 1916"/>
                <a:gd name="T68" fmla="*/ 12 w 1218"/>
                <a:gd name="T69" fmla="*/ 1055 h 1916"/>
                <a:gd name="T70" fmla="*/ 39 w 1218"/>
                <a:gd name="T71" fmla="*/ 887 h 19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18" h="1916">
                  <a:moveTo>
                    <a:pt x="61" y="805"/>
                  </a:moveTo>
                  <a:lnTo>
                    <a:pt x="87" y="724"/>
                  </a:lnTo>
                  <a:lnTo>
                    <a:pt x="116" y="643"/>
                  </a:lnTo>
                  <a:lnTo>
                    <a:pt x="148" y="566"/>
                  </a:lnTo>
                  <a:lnTo>
                    <a:pt x="186" y="491"/>
                  </a:lnTo>
                  <a:lnTo>
                    <a:pt x="225" y="420"/>
                  </a:lnTo>
                  <a:lnTo>
                    <a:pt x="267" y="353"/>
                  </a:lnTo>
                  <a:lnTo>
                    <a:pt x="312" y="290"/>
                  </a:lnTo>
                  <a:lnTo>
                    <a:pt x="360" y="233"/>
                  </a:lnTo>
                  <a:lnTo>
                    <a:pt x="409" y="182"/>
                  </a:lnTo>
                  <a:lnTo>
                    <a:pt x="460" y="136"/>
                  </a:lnTo>
                  <a:lnTo>
                    <a:pt x="514" y="97"/>
                  </a:lnTo>
                  <a:lnTo>
                    <a:pt x="565" y="64"/>
                  </a:lnTo>
                  <a:lnTo>
                    <a:pt x="619" y="38"/>
                  </a:lnTo>
                  <a:lnTo>
                    <a:pt x="672" y="18"/>
                  </a:lnTo>
                  <a:lnTo>
                    <a:pt x="725" y="6"/>
                  </a:lnTo>
                  <a:lnTo>
                    <a:pt x="777" y="0"/>
                  </a:lnTo>
                  <a:lnTo>
                    <a:pt x="826" y="4"/>
                  </a:lnTo>
                  <a:lnTo>
                    <a:pt x="876" y="14"/>
                  </a:lnTo>
                  <a:lnTo>
                    <a:pt x="923" y="30"/>
                  </a:lnTo>
                  <a:lnTo>
                    <a:pt x="966" y="54"/>
                  </a:lnTo>
                  <a:lnTo>
                    <a:pt x="1008" y="85"/>
                  </a:lnTo>
                  <a:lnTo>
                    <a:pt x="1048" y="123"/>
                  </a:lnTo>
                  <a:lnTo>
                    <a:pt x="1081" y="168"/>
                  </a:lnTo>
                  <a:lnTo>
                    <a:pt x="1113" y="217"/>
                  </a:lnTo>
                  <a:lnTo>
                    <a:pt x="1142" y="272"/>
                  </a:lnTo>
                  <a:lnTo>
                    <a:pt x="1166" y="334"/>
                  </a:lnTo>
                  <a:lnTo>
                    <a:pt x="1184" y="399"/>
                  </a:lnTo>
                  <a:lnTo>
                    <a:pt x="1200" y="470"/>
                  </a:lnTo>
                  <a:lnTo>
                    <a:pt x="1212" y="543"/>
                  </a:lnTo>
                  <a:lnTo>
                    <a:pt x="1218" y="619"/>
                  </a:lnTo>
                  <a:lnTo>
                    <a:pt x="1218" y="698"/>
                  </a:lnTo>
                  <a:lnTo>
                    <a:pt x="1216" y="779"/>
                  </a:lnTo>
                  <a:lnTo>
                    <a:pt x="1208" y="862"/>
                  </a:lnTo>
                  <a:lnTo>
                    <a:pt x="1196" y="947"/>
                  </a:lnTo>
                  <a:lnTo>
                    <a:pt x="1178" y="1029"/>
                  </a:lnTo>
                  <a:lnTo>
                    <a:pt x="1156" y="1112"/>
                  </a:lnTo>
                  <a:lnTo>
                    <a:pt x="1133" y="1193"/>
                  </a:lnTo>
                  <a:lnTo>
                    <a:pt x="1103" y="1274"/>
                  </a:lnTo>
                  <a:lnTo>
                    <a:pt x="1069" y="1351"/>
                  </a:lnTo>
                  <a:lnTo>
                    <a:pt x="1034" y="1426"/>
                  </a:lnTo>
                  <a:lnTo>
                    <a:pt x="992" y="1496"/>
                  </a:lnTo>
                  <a:lnTo>
                    <a:pt x="951" y="1563"/>
                  </a:lnTo>
                  <a:lnTo>
                    <a:pt x="905" y="1627"/>
                  </a:lnTo>
                  <a:lnTo>
                    <a:pt x="858" y="1684"/>
                  </a:lnTo>
                  <a:lnTo>
                    <a:pt x="808" y="1735"/>
                  </a:lnTo>
                  <a:lnTo>
                    <a:pt x="757" y="1780"/>
                  </a:lnTo>
                  <a:lnTo>
                    <a:pt x="706" y="1820"/>
                  </a:lnTo>
                  <a:lnTo>
                    <a:pt x="652" y="1853"/>
                  </a:lnTo>
                  <a:lnTo>
                    <a:pt x="599" y="1879"/>
                  </a:lnTo>
                  <a:lnTo>
                    <a:pt x="545" y="1899"/>
                  </a:lnTo>
                  <a:lnTo>
                    <a:pt x="494" y="1910"/>
                  </a:lnTo>
                  <a:lnTo>
                    <a:pt x="443" y="1916"/>
                  </a:lnTo>
                  <a:lnTo>
                    <a:pt x="391" y="1912"/>
                  </a:lnTo>
                  <a:lnTo>
                    <a:pt x="342" y="1902"/>
                  </a:lnTo>
                  <a:lnTo>
                    <a:pt x="296" y="1887"/>
                  </a:lnTo>
                  <a:lnTo>
                    <a:pt x="251" y="1863"/>
                  </a:lnTo>
                  <a:lnTo>
                    <a:pt x="209" y="1832"/>
                  </a:lnTo>
                  <a:lnTo>
                    <a:pt x="172" y="1794"/>
                  </a:lnTo>
                  <a:lnTo>
                    <a:pt x="136" y="1751"/>
                  </a:lnTo>
                  <a:lnTo>
                    <a:pt x="105" y="1699"/>
                  </a:lnTo>
                  <a:lnTo>
                    <a:pt x="77" y="1644"/>
                  </a:lnTo>
                  <a:lnTo>
                    <a:pt x="53" y="1583"/>
                  </a:lnTo>
                  <a:lnTo>
                    <a:pt x="33" y="1518"/>
                  </a:lnTo>
                  <a:lnTo>
                    <a:pt x="18" y="1449"/>
                  </a:lnTo>
                  <a:lnTo>
                    <a:pt x="8" y="1374"/>
                  </a:lnTo>
                  <a:lnTo>
                    <a:pt x="2" y="1297"/>
                  </a:lnTo>
                  <a:lnTo>
                    <a:pt x="0" y="1219"/>
                  </a:lnTo>
                  <a:lnTo>
                    <a:pt x="4" y="1138"/>
                  </a:lnTo>
                  <a:lnTo>
                    <a:pt x="12" y="1055"/>
                  </a:lnTo>
                  <a:lnTo>
                    <a:pt x="24" y="972"/>
                  </a:lnTo>
                  <a:lnTo>
                    <a:pt x="39" y="887"/>
                  </a:lnTo>
                  <a:lnTo>
                    <a:pt x="61" y="805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34" name="Table 33"/>
          <p:cNvGraphicFramePr>
            <a:graphicFrameLocks noGrp="1"/>
          </p:cNvGraphicFramePr>
          <p:nvPr>
            <p:extLst/>
          </p:nvPr>
        </p:nvGraphicFramePr>
        <p:xfrm>
          <a:off x="5460999" y="1548765"/>
          <a:ext cx="3219451" cy="23469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4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08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5029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0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5644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1476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49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533400"/>
            <a:ext cx="8610600" cy="990600"/>
          </a:xfrm>
        </p:spPr>
        <p:txBody>
          <a:bodyPr>
            <a:noAutofit/>
          </a:bodyPr>
          <a:lstStyle/>
          <a:p>
            <a:r>
              <a:rPr lang="en-US" dirty="0"/>
              <a:t>Hierarchical Clustering: Group Average</a:t>
            </a:r>
          </a:p>
        </p:txBody>
      </p:sp>
      <p:sp>
        <p:nvSpPr>
          <p:cNvPr id="1642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/>
            <a:r>
              <a:rPr lang="en-US" sz="3100"/>
              <a:t>Compromise between Single and Complete Link</a:t>
            </a:r>
          </a:p>
          <a:p>
            <a:pPr marL="533400" indent="-533400"/>
            <a:endParaRPr lang="en-US" sz="3100"/>
          </a:p>
          <a:p>
            <a:pPr marL="533400" indent="-533400"/>
            <a:r>
              <a:rPr lang="en-US" sz="3100"/>
              <a:t>Strengths</a:t>
            </a:r>
          </a:p>
          <a:p>
            <a:pPr marL="914400" lvl="1" indent="-457200"/>
            <a:r>
              <a:rPr lang="en-US" sz="2700"/>
              <a:t>Less susceptible to noise and outliers</a:t>
            </a:r>
          </a:p>
          <a:p>
            <a:pPr marL="533400" indent="-533400"/>
            <a:endParaRPr lang="en-US" sz="3100"/>
          </a:p>
          <a:p>
            <a:pPr marL="533400" indent="-533400"/>
            <a:r>
              <a:rPr lang="en-US" sz="3100"/>
              <a:t>Limitations</a:t>
            </a:r>
          </a:p>
          <a:p>
            <a:pPr marL="914400" lvl="1" indent="-457200"/>
            <a:r>
              <a:rPr lang="en-US" sz="2700"/>
              <a:t>Biased towards globular clusters</a:t>
            </a:r>
          </a:p>
        </p:txBody>
      </p:sp>
    </p:spTree>
    <p:extLst>
      <p:ext uri="{BB962C8B-B14F-4D97-AF65-F5344CB8AC3E}">
        <p14:creationId xmlns:p14="http://schemas.microsoft.com/office/powerpoint/2010/main" val="242307470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Cluster Similarity: Ward’s Method</a:t>
            </a:r>
          </a:p>
        </p:txBody>
      </p:sp>
      <p:sp>
        <p:nvSpPr>
          <p:cNvPr id="1643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Similarity of two clusters is based on 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increase</a:t>
            </a:r>
            <a:r>
              <a:rPr lang="en-US" dirty="0"/>
              <a:t> in </a:t>
            </a:r>
            <a:r>
              <a:rPr lang="en-US" dirty="0">
                <a:solidFill>
                  <a:srgbClr val="00B0F0"/>
                </a:solidFill>
              </a:rPr>
              <a:t>squared error (SSE) </a:t>
            </a:r>
            <a:r>
              <a:rPr lang="en-US" dirty="0"/>
              <a:t>when two clusters are merged</a:t>
            </a:r>
          </a:p>
          <a:p>
            <a:pPr lvl="1"/>
            <a:r>
              <a:rPr lang="en-US" dirty="0"/>
              <a:t>Similar to group average if distance between points is distance squared</a:t>
            </a:r>
          </a:p>
          <a:p>
            <a:pPr lvl="4"/>
            <a:endParaRPr lang="en-US" dirty="0"/>
          </a:p>
          <a:p>
            <a:r>
              <a:rPr lang="en-US" dirty="0"/>
              <a:t>Less susceptible to noise and outliers</a:t>
            </a:r>
          </a:p>
          <a:p>
            <a:pPr lvl="4"/>
            <a:endParaRPr lang="en-US" dirty="0"/>
          </a:p>
          <a:p>
            <a:r>
              <a:rPr lang="en-US" dirty="0"/>
              <a:t>Biased towards globular clusters</a:t>
            </a:r>
          </a:p>
          <a:p>
            <a:pPr lvl="4"/>
            <a:endParaRPr lang="en-US" dirty="0"/>
          </a:p>
          <a:p>
            <a:r>
              <a:rPr lang="en-US" dirty="0"/>
              <a:t>Hierarchical analogue of K-means</a:t>
            </a:r>
          </a:p>
          <a:p>
            <a:pPr lvl="1"/>
            <a:r>
              <a:rPr lang="en-US" dirty="0"/>
              <a:t>Can be used to initialize K-means</a:t>
            </a:r>
          </a:p>
        </p:txBody>
      </p:sp>
    </p:spTree>
    <p:extLst>
      <p:ext uri="{BB962C8B-B14F-4D97-AF65-F5344CB8AC3E}">
        <p14:creationId xmlns:p14="http://schemas.microsoft.com/office/powerpoint/2010/main" val="385998099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546" name="Rectangle 2"/>
          <p:cNvSpPr>
            <a:spLocks noGrp="1" noChangeArrowheads="1"/>
          </p:cNvSpPr>
          <p:nvPr>
            <p:ph type="title"/>
          </p:nvPr>
        </p:nvSpPr>
        <p:spPr>
          <a:xfrm>
            <a:off x="415925" y="425003"/>
            <a:ext cx="8229600" cy="990600"/>
          </a:xfrm>
        </p:spPr>
        <p:txBody>
          <a:bodyPr>
            <a:normAutofit/>
          </a:bodyPr>
          <a:lstStyle/>
          <a:p>
            <a:r>
              <a:rPr lang="en-US" sz="3600" dirty="0"/>
              <a:t>Hierarchical Clustering: Comparison</a:t>
            </a:r>
          </a:p>
        </p:txBody>
      </p:sp>
      <p:sp>
        <p:nvSpPr>
          <p:cNvPr id="1644547" name="Text Box 3"/>
          <p:cNvSpPr txBox="1">
            <a:spLocks noChangeArrowheads="1"/>
          </p:cNvSpPr>
          <p:nvPr/>
        </p:nvSpPr>
        <p:spPr bwMode="auto">
          <a:xfrm>
            <a:off x="3235325" y="5410200"/>
            <a:ext cx="1676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Group Average</a:t>
            </a:r>
          </a:p>
        </p:txBody>
      </p:sp>
      <p:sp>
        <p:nvSpPr>
          <p:cNvPr id="1644548" name="Text Box 4"/>
          <p:cNvSpPr txBox="1">
            <a:spLocks noChangeArrowheads="1"/>
          </p:cNvSpPr>
          <p:nvPr/>
        </p:nvSpPr>
        <p:spPr bwMode="auto">
          <a:xfrm>
            <a:off x="4530725" y="5029200"/>
            <a:ext cx="1752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Ward’s Method</a:t>
            </a:r>
          </a:p>
        </p:txBody>
      </p:sp>
      <p:grpSp>
        <p:nvGrpSpPr>
          <p:cNvPr id="1644549" name="Group 5"/>
          <p:cNvGrpSpPr>
            <a:grpSpLocks noChangeAspect="1"/>
          </p:cNvGrpSpPr>
          <p:nvPr/>
        </p:nvGrpSpPr>
        <p:grpSpPr bwMode="auto">
          <a:xfrm>
            <a:off x="6270625" y="4589463"/>
            <a:ext cx="1858963" cy="1693862"/>
            <a:chOff x="509" y="1253"/>
            <a:chExt cx="1776" cy="1618"/>
          </a:xfrm>
        </p:grpSpPr>
        <p:sp>
          <p:nvSpPr>
            <p:cNvPr id="1644550" name="Freeform 6"/>
            <p:cNvSpPr>
              <a:spLocks noChangeAspect="1"/>
            </p:cNvSpPr>
            <p:nvPr/>
          </p:nvSpPr>
          <p:spPr bwMode="auto">
            <a:xfrm>
              <a:off x="1058" y="1885"/>
              <a:ext cx="79" cy="81"/>
            </a:xfrm>
            <a:custGeom>
              <a:avLst/>
              <a:gdLst>
                <a:gd name="T0" fmla="*/ 0 w 79"/>
                <a:gd name="T1" fmla="*/ 40 h 81"/>
                <a:gd name="T2" fmla="*/ 2 w 79"/>
                <a:gd name="T3" fmla="*/ 24 h 81"/>
                <a:gd name="T4" fmla="*/ 12 w 79"/>
                <a:gd name="T5" fmla="*/ 12 h 81"/>
                <a:gd name="T6" fmla="*/ 24 w 79"/>
                <a:gd name="T7" fmla="*/ 2 h 81"/>
                <a:gd name="T8" fmla="*/ 40 w 79"/>
                <a:gd name="T9" fmla="*/ 0 h 81"/>
                <a:gd name="T10" fmla="*/ 56 w 79"/>
                <a:gd name="T11" fmla="*/ 2 h 81"/>
                <a:gd name="T12" fmla="*/ 68 w 79"/>
                <a:gd name="T13" fmla="*/ 12 h 81"/>
                <a:gd name="T14" fmla="*/ 77 w 79"/>
                <a:gd name="T15" fmla="*/ 24 h 81"/>
                <a:gd name="T16" fmla="*/ 79 w 79"/>
                <a:gd name="T17" fmla="*/ 40 h 81"/>
                <a:gd name="T18" fmla="*/ 77 w 79"/>
                <a:gd name="T19" fmla="*/ 55 h 81"/>
                <a:gd name="T20" fmla="*/ 68 w 79"/>
                <a:gd name="T21" fmla="*/ 69 h 81"/>
                <a:gd name="T22" fmla="*/ 56 w 79"/>
                <a:gd name="T23" fmla="*/ 77 h 81"/>
                <a:gd name="T24" fmla="*/ 40 w 79"/>
                <a:gd name="T25" fmla="*/ 81 h 81"/>
                <a:gd name="T26" fmla="*/ 24 w 79"/>
                <a:gd name="T27" fmla="*/ 77 h 81"/>
                <a:gd name="T28" fmla="*/ 12 w 79"/>
                <a:gd name="T29" fmla="*/ 69 h 81"/>
                <a:gd name="T30" fmla="*/ 2 w 79"/>
                <a:gd name="T31" fmla="*/ 55 h 81"/>
                <a:gd name="T32" fmla="*/ 0 w 79"/>
                <a:gd name="T33" fmla="*/ 4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9" h="81">
                  <a:moveTo>
                    <a:pt x="0" y="40"/>
                  </a:moveTo>
                  <a:lnTo>
                    <a:pt x="2" y="24"/>
                  </a:lnTo>
                  <a:lnTo>
                    <a:pt x="12" y="12"/>
                  </a:lnTo>
                  <a:lnTo>
                    <a:pt x="24" y="2"/>
                  </a:lnTo>
                  <a:lnTo>
                    <a:pt x="40" y="0"/>
                  </a:lnTo>
                  <a:lnTo>
                    <a:pt x="56" y="2"/>
                  </a:lnTo>
                  <a:lnTo>
                    <a:pt x="68" y="12"/>
                  </a:lnTo>
                  <a:lnTo>
                    <a:pt x="77" y="24"/>
                  </a:lnTo>
                  <a:lnTo>
                    <a:pt x="79" y="40"/>
                  </a:lnTo>
                  <a:lnTo>
                    <a:pt x="77" y="55"/>
                  </a:lnTo>
                  <a:lnTo>
                    <a:pt x="68" y="69"/>
                  </a:lnTo>
                  <a:lnTo>
                    <a:pt x="56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5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551" name="Freeform 7"/>
            <p:cNvSpPr>
              <a:spLocks noChangeAspect="1"/>
            </p:cNvSpPr>
            <p:nvPr/>
          </p:nvSpPr>
          <p:spPr bwMode="auto">
            <a:xfrm>
              <a:off x="1810" y="1300"/>
              <a:ext cx="81" cy="81"/>
            </a:xfrm>
            <a:custGeom>
              <a:avLst/>
              <a:gdLst>
                <a:gd name="T0" fmla="*/ 0 w 81"/>
                <a:gd name="T1" fmla="*/ 39 h 81"/>
                <a:gd name="T2" fmla="*/ 2 w 81"/>
                <a:gd name="T3" fmla="*/ 23 h 81"/>
                <a:gd name="T4" fmla="*/ 11 w 81"/>
                <a:gd name="T5" fmla="*/ 12 h 81"/>
                <a:gd name="T6" fmla="*/ 23 w 81"/>
                <a:gd name="T7" fmla="*/ 2 h 81"/>
                <a:gd name="T8" fmla="*/ 39 w 81"/>
                <a:gd name="T9" fmla="*/ 0 h 81"/>
                <a:gd name="T10" fmla="*/ 55 w 81"/>
                <a:gd name="T11" fmla="*/ 2 h 81"/>
                <a:gd name="T12" fmla="*/ 69 w 81"/>
                <a:gd name="T13" fmla="*/ 12 h 81"/>
                <a:gd name="T14" fmla="*/ 77 w 81"/>
                <a:gd name="T15" fmla="*/ 23 h 81"/>
                <a:gd name="T16" fmla="*/ 81 w 81"/>
                <a:gd name="T17" fmla="*/ 39 h 81"/>
                <a:gd name="T18" fmla="*/ 77 w 81"/>
                <a:gd name="T19" fmla="*/ 55 h 81"/>
                <a:gd name="T20" fmla="*/ 69 w 81"/>
                <a:gd name="T21" fmla="*/ 69 h 81"/>
                <a:gd name="T22" fmla="*/ 55 w 81"/>
                <a:gd name="T23" fmla="*/ 77 h 81"/>
                <a:gd name="T24" fmla="*/ 39 w 81"/>
                <a:gd name="T25" fmla="*/ 81 h 81"/>
                <a:gd name="T26" fmla="*/ 23 w 81"/>
                <a:gd name="T27" fmla="*/ 77 h 81"/>
                <a:gd name="T28" fmla="*/ 11 w 81"/>
                <a:gd name="T29" fmla="*/ 69 h 81"/>
                <a:gd name="T30" fmla="*/ 2 w 81"/>
                <a:gd name="T31" fmla="*/ 55 h 81"/>
                <a:gd name="T32" fmla="*/ 0 w 81"/>
                <a:gd name="T33" fmla="*/ 3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1" h="81">
                  <a:moveTo>
                    <a:pt x="0" y="39"/>
                  </a:moveTo>
                  <a:lnTo>
                    <a:pt x="2" y="23"/>
                  </a:lnTo>
                  <a:lnTo>
                    <a:pt x="11" y="12"/>
                  </a:lnTo>
                  <a:lnTo>
                    <a:pt x="23" y="2"/>
                  </a:lnTo>
                  <a:lnTo>
                    <a:pt x="39" y="0"/>
                  </a:lnTo>
                  <a:lnTo>
                    <a:pt x="55" y="2"/>
                  </a:lnTo>
                  <a:lnTo>
                    <a:pt x="69" y="12"/>
                  </a:lnTo>
                  <a:lnTo>
                    <a:pt x="77" y="23"/>
                  </a:lnTo>
                  <a:lnTo>
                    <a:pt x="81" y="39"/>
                  </a:lnTo>
                  <a:lnTo>
                    <a:pt x="77" y="55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39" y="81"/>
                  </a:lnTo>
                  <a:lnTo>
                    <a:pt x="23" y="77"/>
                  </a:lnTo>
                  <a:lnTo>
                    <a:pt x="11" y="69"/>
                  </a:lnTo>
                  <a:lnTo>
                    <a:pt x="2" y="55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552" name="Freeform 8"/>
            <p:cNvSpPr>
              <a:spLocks noChangeAspect="1"/>
            </p:cNvSpPr>
            <p:nvPr/>
          </p:nvSpPr>
          <p:spPr bwMode="auto">
            <a:xfrm>
              <a:off x="1262" y="2683"/>
              <a:ext cx="81" cy="81"/>
            </a:xfrm>
            <a:custGeom>
              <a:avLst/>
              <a:gdLst>
                <a:gd name="T0" fmla="*/ 0 w 81"/>
                <a:gd name="T1" fmla="*/ 40 h 81"/>
                <a:gd name="T2" fmla="*/ 2 w 81"/>
                <a:gd name="T3" fmla="*/ 24 h 81"/>
                <a:gd name="T4" fmla="*/ 12 w 81"/>
                <a:gd name="T5" fmla="*/ 12 h 81"/>
                <a:gd name="T6" fmla="*/ 24 w 81"/>
                <a:gd name="T7" fmla="*/ 2 h 81"/>
                <a:gd name="T8" fmla="*/ 40 w 81"/>
                <a:gd name="T9" fmla="*/ 0 h 81"/>
                <a:gd name="T10" fmla="*/ 55 w 81"/>
                <a:gd name="T11" fmla="*/ 2 h 81"/>
                <a:gd name="T12" fmla="*/ 69 w 81"/>
                <a:gd name="T13" fmla="*/ 12 h 81"/>
                <a:gd name="T14" fmla="*/ 77 w 81"/>
                <a:gd name="T15" fmla="*/ 24 h 81"/>
                <a:gd name="T16" fmla="*/ 81 w 81"/>
                <a:gd name="T17" fmla="*/ 40 h 81"/>
                <a:gd name="T18" fmla="*/ 77 w 81"/>
                <a:gd name="T19" fmla="*/ 56 h 81"/>
                <a:gd name="T20" fmla="*/ 69 w 81"/>
                <a:gd name="T21" fmla="*/ 69 h 81"/>
                <a:gd name="T22" fmla="*/ 55 w 81"/>
                <a:gd name="T23" fmla="*/ 77 h 81"/>
                <a:gd name="T24" fmla="*/ 40 w 81"/>
                <a:gd name="T25" fmla="*/ 81 h 81"/>
                <a:gd name="T26" fmla="*/ 24 w 81"/>
                <a:gd name="T27" fmla="*/ 77 h 81"/>
                <a:gd name="T28" fmla="*/ 12 w 81"/>
                <a:gd name="T29" fmla="*/ 69 h 81"/>
                <a:gd name="T30" fmla="*/ 2 w 81"/>
                <a:gd name="T31" fmla="*/ 56 h 81"/>
                <a:gd name="T32" fmla="*/ 0 w 81"/>
                <a:gd name="T33" fmla="*/ 4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1" h="81">
                  <a:moveTo>
                    <a:pt x="0" y="40"/>
                  </a:moveTo>
                  <a:lnTo>
                    <a:pt x="2" y="24"/>
                  </a:lnTo>
                  <a:lnTo>
                    <a:pt x="12" y="12"/>
                  </a:lnTo>
                  <a:lnTo>
                    <a:pt x="24" y="2"/>
                  </a:lnTo>
                  <a:lnTo>
                    <a:pt x="40" y="0"/>
                  </a:lnTo>
                  <a:lnTo>
                    <a:pt x="55" y="2"/>
                  </a:lnTo>
                  <a:lnTo>
                    <a:pt x="69" y="12"/>
                  </a:lnTo>
                  <a:lnTo>
                    <a:pt x="77" y="24"/>
                  </a:lnTo>
                  <a:lnTo>
                    <a:pt x="81" y="40"/>
                  </a:lnTo>
                  <a:lnTo>
                    <a:pt x="77" y="56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6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553" name="Freeform 9"/>
            <p:cNvSpPr>
              <a:spLocks noChangeAspect="1"/>
            </p:cNvSpPr>
            <p:nvPr/>
          </p:nvSpPr>
          <p:spPr bwMode="auto">
            <a:xfrm>
              <a:off x="509" y="1769"/>
              <a:ext cx="81" cy="81"/>
            </a:xfrm>
            <a:custGeom>
              <a:avLst/>
              <a:gdLst>
                <a:gd name="T0" fmla="*/ 0 w 81"/>
                <a:gd name="T1" fmla="*/ 41 h 81"/>
                <a:gd name="T2" fmla="*/ 2 w 81"/>
                <a:gd name="T3" fmla="*/ 25 h 81"/>
                <a:gd name="T4" fmla="*/ 12 w 81"/>
                <a:gd name="T5" fmla="*/ 12 h 81"/>
                <a:gd name="T6" fmla="*/ 24 w 81"/>
                <a:gd name="T7" fmla="*/ 4 h 81"/>
                <a:gd name="T8" fmla="*/ 39 w 81"/>
                <a:gd name="T9" fmla="*/ 0 h 81"/>
                <a:gd name="T10" fmla="*/ 55 w 81"/>
                <a:gd name="T11" fmla="*/ 4 h 81"/>
                <a:gd name="T12" fmla="*/ 69 w 81"/>
                <a:gd name="T13" fmla="*/ 12 h 81"/>
                <a:gd name="T14" fmla="*/ 77 w 81"/>
                <a:gd name="T15" fmla="*/ 25 h 81"/>
                <a:gd name="T16" fmla="*/ 81 w 81"/>
                <a:gd name="T17" fmla="*/ 41 h 81"/>
                <a:gd name="T18" fmla="*/ 77 w 81"/>
                <a:gd name="T19" fmla="*/ 57 h 81"/>
                <a:gd name="T20" fmla="*/ 69 w 81"/>
                <a:gd name="T21" fmla="*/ 69 h 81"/>
                <a:gd name="T22" fmla="*/ 55 w 81"/>
                <a:gd name="T23" fmla="*/ 79 h 81"/>
                <a:gd name="T24" fmla="*/ 39 w 81"/>
                <a:gd name="T25" fmla="*/ 81 h 81"/>
                <a:gd name="T26" fmla="*/ 24 w 81"/>
                <a:gd name="T27" fmla="*/ 79 h 81"/>
                <a:gd name="T28" fmla="*/ 12 w 81"/>
                <a:gd name="T29" fmla="*/ 69 h 81"/>
                <a:gd name="T30" fmla="*/ 2 w 81"/>
                <a:gd name="T31" fmla="*/ 57 h 81"/>
                <a:gd name="T32" fmla="*/ 0 w 81"/>
                <a:gd name="T33" fmla="*/ 4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1" h="81">
                  <a:moveTo>
                    <a:pt x="0" y="41"/>
                  </a:moveTo>
                  <a:lnTo>
                    <a:pt x="2" y="25"/>
                  </a:lnTo>
                  <a:lnTo>
                    <a:pt x="12" y="12"/>
                  </a:lnTo>
                  <a:lnTo>
                    <a:pt x="24" y="4"/>
                  </a:lnTo>
                  <a:lnTo>
                    <a:pt x="39" y="0"/>
                  </a:lnTo>
                  <a:lnTo>
                    <a:pt x="55" y="4"/>
                  </a:lnTo>
                  <a:lnTo>
                    <a:pt x="69" y="12"/>
                  </a:lnTo>
                  <a:lnTo>
                    <a:pt x="77" y="25"/>
                  </a:lnTo>
                  <a:lnTo>
                    <a:pt x="81" y="41"/>
                  </a:lnTo>
                  <a:lnTo>
                    <a:pt x="77" y="57"/>
                  </a:lnTo>
                  <a:lnTo>
                    <a:pt x="69" y="69"/>
                  </a:lnTo>
                  <a:lnTo>
                    <a:pt x="55" y="79"/>
                  </a:lnTo>
                  <a:lnTo>
                    <a:pt x="39" y="81"/>
                  </a:lnTo>
                  <a:lnTo>
                    <a:pt x="24" y="79"/>
                  </a:lnTo>
                  <a:lnTo>
                    <a:pt x="12" y="69"/>
                  </a:lnTo>
                  <a:lnTo>
                    <a:pt x="2" y="57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554" name="Freeform 10"/>
            <p:cNvSpPr>
              <a:spLocks noChangeAspect="1"/>
            </p:cNvSpPr>
            <p:nvPr/>
          </p:nvSpPr>
          <p:spPr bwMode="auto">
            <a:xfrm>
              <a:off x="1586" y="2167"/>
              <a:ext cx="81" cy="79"/>
            </a:xfrm>
            <a:custGeom>
              <a:avLst/>
              <a:gdLst>
                <a:gd name="T0" fmla="*/ 0 w 81"/>
                <a:gd name="T1" fmla="*/ 39 h 79"/>
                <a:gd name="T2" fmla="*/ 4 w 81"/>
                <a:gd name="T3" fmla="*/ 24 h 79"/>
                <a:gd name="T4" fmla="*/ 12 w 81"/>
                <a:gd name="T5" fmla="*/ 12 h 79"/>
                <a:gd name="T6" fmla="*/ 26 w 81"/>
                <a:gd name="T7" fmla="*/ 2 h 79"/>
                <a:gd name="T8" fmla="*/ 42 w 81"/>
                <a:gd name="T9" fmla="*/ 0 h 79"/>
                <a:gd name="T10" fmla="*/ 58 w 81"/>
                <a:gd name="T11" fmla="*/ 2 h 79"/>
                <a:gd name="T12" fmla="*/ 69 w 81"/>
                <a:gd name="T13" fmla="*/ 12 h 79"/>
                <a:gd name="T14" fmla="*/ 79 w 81"/>
                <a:gd name="T15" fmla="*/ 24 h 79"/>
                <a:gd name="T16" fmla="*/ 81 w 81"/>
                <a:gd name="T17" fmla="*/ 39 h 79"/>
                <a:gd name="T18" fmla="*/ 79 w 81"/>
                <a:gd name="T19" fmla="*/ 55 h 79"/>
                <a:gd name="T20" fmla="*/ 69 w 81"/>
                <a:gd name="T21" fmla="*/ 67 h 79"/>
                <a:gd name="T22" fmla="*/ 58 w 81"/>
                <a:gd name="T23" fmla="*/ 77 h 79"/>
                <a:gd name="T24" fmla="*/ 42 w 81"/>
                <a:gd name="T25" fmla="*/ 79 h 79"/>
                <a:gd name="T26" fmla="*/ 26 w 81"/>
                <a:gd name="T27" fmla="*/ 77 h 79"/>
                <a:gd name="T28" fmla="*/ 12 w 81"/>
                <a:gd name="T29" fmla="*/ 67 h 79"/>
                <a:gd name="T30" fmla="*/ 4 w 81"/>
                <a:gd name="T31" fmla="*/ 55 h 79"/>
                <a:gd name="T32" fmla="*/ 0 w 81"/>
                <a:gd name="T33" fmla="*/ 3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1" h="79">
                  <a:moveTo>
                    <a:pt x="0" y="39"/>
                  </a:moveTo>
                  <a:lnTo>
                    <a:pt x="4" y="24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lnTo>
                    <a:pt x="58" y="2"/>
                  </a:lnTo>
                  <a:lnTo>
                    <a:pt x="69" y="12"/>
                  </a:lnTo>
                  <a:lnTo>
                    <a:pt x="79" y="24"/>
                  </a:lnTo>
                  <a:lnTo>
                    <a:pt x="81" y="39"/>
                  </a:lnTo>
                  <a:lnTo>
                    <a:pt x="79" y="55"/>
                  </a:lnTo>
                  <a:lnTo>
                    <a:pt x="69" y="67"/>
                  </a:lnTo>
                  <a:lnTo>
                    <a:pt x="58" y="77"/>
                  </a:lnTo>
                  <a:lnTo>
                    <a:pt x="42" y="79"/>
                  </a:lnTo>
                  <a:lnTo>
                    <a:pt x="26" y="77"/>
                  </a:lnTo>
                  <a:lnTo>
                    <a:pt x="12" y="67"/>
                  </a:lnTo>
                  <a:lnTo>
                    <a:pt x="4" y="55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555" name="Freeform 11"/>
            <p:cNvSpPr>
              <a:spLocks noChangeAspect="1"/>
            </p:cNvSpPr>
            <p:nvPr/>
          </p:nvSpPr>
          <p:spPr bwMode="auto">
            <a:xfrm>
              <a:off x="2029" y="2220"/>
              <a:ext cx="81" cy="81"/>
            </a:xfrm>
            <a:custGeom>
              <a:avLst/>
              <a:gdLst>
                <a:gd name="T0" fmla="*/ 0 w 81"/>
                <a:gd name="T1" fmla="*/ 40 h 81"/>
                <a:gd name="T2" fmla="*/ 2 w 81"/>
                <a:gd name="T3" fmla="*/ 26 h 81"/>
                <a:gd name="T4" fmla="*/ 12 w 81"/>
                <a:gd name="T5" fmla="*/ 12 h 81"/>
                <a:gd name="T6" fmla="*/ 24 w 81"/>
                <a:gd name="T7" fmla="*/ 4 h 81"/>
                <a:gd name="T8" fmla="*/ 40 w 81"/>
                <a:gd name="T9" fmla="*/ 0 h 81"/>
                <a:gd name="T10" fmla="*/ 55 w 81"/>
                <a:gd name="T11" fmla="*/ 4 h 81"/>
                <a:gd name="T12" fmla="*/ 69 w 81"/>
                <a:gd name="T13" fmla="*/ 12 h 81"/>
                <a:gd name="T14" fmla="*/ 77 w 81"/>
                <a:gd name="T15" fmla="*/ 26 h 81"/>
                <a:gd name="T16" fmla="*/ 81 w 81"/>
                <a:gd name="T17" fmla="*/ 40 h 81"/>
                <a:gd name="T18" fmla="*/ 77 w 81"/>
                <a:gd name="T19" fmla="*/ 55 h 81"/>
                <a:gd name="T20" fmla="*/ 69 w 81"/>
                <a:gd name="T21" fmla="*/ 69 h 81"/>
                <a:gd name="T22" fmla="*/ 55 w 81"/>
                <a:gd name="T23" fmla="*/ 77 h 81"/>
                <a:gd name="T24" fmla="*/ 40 w 81"/>
                <a:gd name="T25" fmla="*/ 81 h 81"/>
                <a:gd name="T26" fmla="*/ 24 w 81"/>
                <a:gd name="T27" fmla="*/ 77 h 81"/>
                <a:gd name="T28" fmla="*/ 12 w 81"/>
                <a:gd name="T29" fmla="*/ 69 h 81"/>
                <a:gd name="T30" fmla="*/ 2 w 81"/>
                <a:gd name="T31" fmla="*/ 55 h 81"/>
                <a:gd name="T32" fmla="*/ 0 w 81"/>
                <a:gd name="T33" fmla="*/ 4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1" h="81">
                  <a:moveTo>
                    <a:pt x="0" y="40"/>
                  </a:moveTo>
                  <a:lnTo>
                    <a:pt x="2" y="26"/>
                  </a:lnTo>
                  <a:lnTo>
                    <a:pt x="12" y="12"/>
                  </a:lnTo>
                  <a:lnTo>
                    <a:pt x="24" y="4"/>
                  </a:lnTo>
                  <a:lnTo>
                    <a:pt x="40" y="0"/>
                  </a:lnTo>
                  <a:lnTo>
                    <a:pt x="55" y="4"/>
                  </a:lnTo>
                  <a:lnTo>
                    <a:pt x="69" y="12"/>
                  </a:lnTo>
                  <a:lnTo>
                    <a:pt x="77" y="26"/>
                  </a:lnTo>
                  <a:lnTo>
                    <a:pt x="81" y="40"/>
                  </a:lnTo>
                  <a:lnTo>
                    <a:pt x="77" y="55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5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556" name="Rectangle 12"/>
            <p:cNvSpPr>
              <a:spLocks noChangeAspect="1" noChangeArrowheads="1"/>
            </p:cNvSpPr>
            <p:nvPr/>
          </p:nvSpPr>
          <p:spPr bwMode="auto">
            <a:xfrm>
              <a:off x="1909" y="1253"/>
              <a:ext cx="9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1</a:t>
              </a:r>
              <a:endParaRPr lang="en-US" sz="1600"/>
            </a:p>
          </p:txBody>
        </p:sp>
        <p:sp>
          <p:nvSpPr>
            <p:cNvPr id="1644557" name="Rectangle 13"/>
            <p:cNvSpPr>
              <a:spLocks noChangeAspect="1" noChangeArrowheads="1"/>
            </p:cNvSpPr>
            <p:nvPr/>
          </p:nvSpPr>
          <p:spPr bwMode="auto">
            <a:xfrm>
              <a:off x="1163" y="1832"/>
              <a:ext cx="9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2</a:t>
              </a:r>
              <a:endParaRPr lang="en-US" sz="1600"/>
            </a:p>
          </p:txBody>
        </p:sp>
        <p:sp>
          <p:nvSpPr>
            <p:cNvPr id="1644558" name="Rectangle 14"/>
            <p:cNvSpPr>
              <a:spLocks noChangeAspect="1" noChangeArrowheads="1"/>
            </p:cNvSpPr>
            <p:nvPr/>
          </p:nvSpPr>
          <p:spPr bwMode="auto">
            <a:xfrm>
              <a:off x="1733" y="2122"/>
              <a:ext cx="9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3</a:t>
              </a:r>
              <a:endParaRPr lang="en-US" sz="1600"/>
            </a:p>
          </p:txBody>
        </p:sp>
        <p:sp>
          <p:nvSpPr>
            <p:cNvPr id="1644559" name="Rectangle 15"/>
            <p:cNvSpPr>
              <a:spLocks noChangeAspect="1" noChangeArrowheads="1"/>
            </p:cNvSpPr>
            <p:nvPr/>
          </p:nvSpPr>
          <p:spPr bwMode="auto">
            <a:xfrm>
              <a:off x="1379" y="263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4</a:t>
              </a:r>
              <a:endParaRPr lang="en-US" sz="1600"/>
            </a:p>
          </p:txBody>
        </p:sp>
        <p:sp>
          <p:nvSpPr>
            <p:cNvPr id="1644560" name="Rectangle 16"/>
            <p:cNvSpPr>
              <a:spLocks noChangeAspect="1" noChangeArrowheads="1"/>
            </p:cNvSpPr>
            <p:nvPr/>
          </p:nvSpPr>
          <p:spPr bwMode="auto">
            <a:xfrm>
              <a:off x="630" y="1720"/>
              <a:ext cx="9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5</a:t>
              </a:r>
              <a:endParaRPr lang="en-US" sz="1600"/>
            </a:p>
          </p:txBody>
        </p:sp>
        <p:sp>
          <p:nvSpPr>
            <p:cNvPr id="1644561" name="Rectangle 17"/>
            <p:cNvSpPr>
              <a:spLocks noChangeAspect="1" noChangeArrowheads="1"/>
            </p:cNvSpPr>
            <p:nvPr/>
          </p:nvSpPr>
          <p:spPr bwMode="auto">
            <a:xfrm>
              <a:off x="2188" y="2173"/>
              <a:ext cx="9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6</a:t>
              </a:r>
              <a:endParaRPr lang="en-US" sz="1600"/>
            </a:p>
          </p:txBody>
        </p:sp>
      </p:grpSp>
      <p:grpSp>
        <p:nvGrpSpPr>
          <p:cNvPr id="1644562" name="Group 18"/>
          <p:cNvGrpSpPr>
            <a:grpSpLocks noChangeAspect="1"/>
          </p:cNvGrpSpPr>
          <p:nvPr/>
        </p:nvGrpSpPr>
        <p:grpSpPr bwMode="auto">
          <a:xfrm>
            <a:off x="7324725" y="5437188"/>
            <a:ext cx="857250" cy="592137"/>
            <a:chOff x="1515" y="2062"/>
            <a:chExt cx="820" cy="566"/>
          </a:xfrm>
        </p:grpSpPr>
        <p:sp>
          <p:nvSpPr>
            <p:cNvPr id="1644563" name="Freeform 19"/>
            <p:cNvSpPr>
              <a:spLocks noChangeAspect="1"/>
            </p:cNvSpPr>
            <p:nvPr/>
          </p:nvSpPr>
          <p:spPr bwMode="auto">
            <a:xfrm>
              <a:off x="1515" y="2062"/>
              <a:ext cx="820" cy="343"/>
            </a:xfrm>
            <a:custGeom>
              <a:avLst/>
              <a:gdLst>
                <a:gd name="T0" fmla="*/ 409 w 820"/>
                <a:gd name="T1" fmla="*/ 0 h 343"/>
                <a:gd name="T2" fmla="*/ 467 w 820"/>
                <a:gd name="T3" fmla="*/ 2 h 343"/>
                <a:gd name="T4" fmla="*/ 520 w 820"/>
                <a:gd name="T5" fmla="*/ 8 h 343"/>
                <a:gd name="T6" fmla="*/ 573 w 820"/>
                <a:gd name="T7" fmla="*/ 16 h 343"/>
                <a:gd name="T8" fmla="*/ 623 w 820"/>
                <a:gd name="T9" fmla="*/ 26 h 343"/>
                <a:gd name="T10" fmla="*/ 670 w 820"/>
                <a:gd name="T11" fmla="*/ 40 h 343"/>
                <a:gd name="T12" fmla="*/ 710 w 820"/>
                <a:gd name="T13" fmla="*/ 56 h 343"/>
                <a:gd name="T14" fmla="*/ 745 w 820"/>
                <a:gd name="T15" fmla="*/ 73 h 343"/>
                <a:gd name="T16" fmla="*/ 775 w 820"/>
                <a:gd name="T17" fmla="*/ 93 h 343"/>
                <a:gd name="T18" fmla="*/ 797 w 820"/>
                <a:gd name="T19" fmla="*/ 115 h 343"/>
                <a:gd name="T20" fmla="*/ 812 w 820"/>
                <a:gd name="T21" fmla="*/ 138 h 343"/>
                <a:gd name="T22" fmla="*/ 820 w 820"/>
                <a:gd name="T23" fmla="*/ 160 h 343"/>
                <a:gd name="T24" fmla="*/ 820 w 820"/>
                <a:gd name="T25" fmla="*/ 184 h 343"/>
                <a:gd name="T26" fmla="*/ 812 w 820"/>
                <a:gd name="T27" fmla="*/ 207 h 343"/>
                <a:gd name="T28" fmla="*/ 797 w 820"/>
                <a:gd name="T29" fmla="*/ 229 h 343"/>
                <a:gd name="T30" fmla="*/ 775 w 820"/>
                <a:gd name="T31" fmla="*/ 251 h 343"/>
                <a:gd name="T32" fmla="*/ 745 w 820"/>
                <a:gd name="T33" fmla="*/ 271 h 343"/>
                <a:gd name="T34" fmla="*/ 710 w 820"/>
                <a:gd name="T35" fmla="*/ 290 h 343"/>
                <a:gd name="T36" fmla="*/ 670 w 820"/>
                <a:gd name="T37" fmla="*/ 306 h 343"/>
                <a:gd name="T38" fmla="*/ 623 w 820"/>
                <a:gd name="T39" fmla="*/ 318 h 343"/>
                <a:gd name="T40" fmla="*/ 573 w 820"/>
                <a:gd name="T41" fmla="*/ 330 h 343"/>
                <a:gd name="T42" fmla="*/ 520 w 820"/>
                <a:gd name="T43" fmla="*/ 338 h 343"/>
                <a:gd name="T44" fmla="*/ 467 w 820"/>
                <a:gd name="T45" fmla="*/ 341 h 343"/>
                <a:gd name="T46" fmla="*/ 409 w 820"/>
                <a:gd name="T47" fmla="*/ 343 h 343"/>
                <a:gd name="T48" fmla="*/ 354 w 820"/>
                <a:gd name="T49" fmla="*/ 341 h 343"/>
                <a:gd name="T50" fmla="*/ 299 w 820"/>
                <a:gd name="T51" fmla="*/ 338 h 343"/>
                <a:gd name="T52" fmla="*/ 245 w 820"/>
                <a:gd name="T53" fmla="*/ 330 h 343"/>
                <a:gd name="T54" fmla="*/ 196 w 820"/>
                <a:gd name="T55" fmla="*/ 318 h 343"/>
                <a:gd name="T56" fmla="*/ 150 w 820"/>
                <a:gd name="T57" fmla="*/ 306 h 343"/>
                <a:gd name="T58" fmla="*/ 109 w 820"/>
                <a:gd name="T59" fmla="*/ 290 h 343"/>
                <a:gd name="T60" fmla="*/ 73 w 820"/>
                <a:gd name="T61" fmla="*/ 271 h 343"/>
                <a:gd name="T62" fmla="*/ 44 w 820"/>
                <a:gd name="T63" fmla="*/ 251 h 343"/>
                <a:gd name="T64" fmla="*/ 22 w 820"/>
                <a:gd name="T65" fmla="*/ 229 h 343"/>
                <a:gd name="T66" fmla="*/ 6 w 820"/>
                <a:gd name="T67" fmla="*/ 207 h 343"/>
                <a:gd name="T68" fmla="*/ 0 w 820"/>
                <a:gd name="T69" fmla="*/ 184 h 343"/>
                <a:gd name="T70" fmla="*/ 0 w 820"/>
                <a:gd name="T71" fmla="*/ 160 h 343"/>
                <a:gd name="T72" fmla="*/ 6 w 820"/>
                <a:gd name="T73" fmla="*/ 138 h 343"/>
                <a:gd name="T74" fmla="*/ 22 w 820"/>
                <a:gd name="T75" fmla="*/ 115 h 343"/>
                <a:gd name="T76" fmla="*/ 44 w 820"/>
                <a:gd name="T77" fmla="*/ 93 h 343"/>
                <a:gd name="T78" fmla="*/ 73 w 820"/>
                <a:gd name="T79" fmla="*/ 73 h 343"/>
                <a:gd name="T80" fmla="*/ 109 w 820"/>
                <a:gd name="T81" fmla="*/ 56 h 343"/>
                <a:gd name="T82" fmla="*/ 150 w 820"/>
                <a:gd name="T83" fmla="*/ 40 h 343"/>
                <a:gd name="T84" fmla="*/ 196 w 820"/>
                <a:gd name="T85" fmla="*/ 26 h 343"/>
                <a:gd name="T86" fmla="*/ 245 w 820"/>
                <a:gd name="T87" fmla="*/ 16 h 343"/>
                <a:gd name="T88" fmla="*/ 299 w 820"/>
                <a:gd name="T89" fmla="*/ 8 h 343"/>
                <a:gd name="T90" fmla="*/ 354 w 820"/>
                <a:gd name="T91" fmla="*/ 2 h 343"/>
                <a:gd name="T92" fmla="*/ 409 w 820"/>
                <a:gd name="T93" fmla="*/ 0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20" h="343">
                  <a:moveTo>
                    <a:pt x="409" y="0"/>
                  </a:moveTo>
                  <a:lnTo>
                    <a:pt x="467" y="2"/>
                  </a:lnTo>
                  <a:lnTo>
                    <a:pt x="520" y="8"/>
                  </a:lnTo>
                  <a:lnTo>
                    <a:pt x="573" y="16"/>
                  </a:lnTo>
                  <a:lnTo>
                    <a:pt x="623" y="26"/>
                  </a:lnTo>
                  <a:lnTo>
                    <a:pt x="670" y="40"/>
                  </a:lnTo>
                  <a:lnTo>
                    <a:pt x="710" y="56"/>
                  </a:lnTo>
                  <a:lnTo>
                    <a:pt x="745" y="73"/>
                  </a:lnTo>
                  <a:lnTo>
                    <a:pt x="775" y="93"/>
                  </a:lnTo>
                  <a:lnTo>
                    <a:pt x="797" y="115"/>
                  </a:lnTo>
                  <a:lnTo>
                    <a:pt x="812" y="138"/>
                  </a:lnTo>
                  <a:lnTo>
                    <a:pt x="820" y="160"/>
                  </a:lnTo>
                  <a:lnTo>
                    <a:pt x="820" y="184"/>
                  </a:lnTo>
                  <a:lnTo>
                    <a:pt x="812" y="207"/>
                  </a:lnTo>
                  <a:lnTo>
                    <a:pt x="797" y="229"/>
                  </a:lnTo>
                  <a:lnTo>
                    <a:pt x="775" y="251"/>
                  </a:lnTo>
                  <a:lnTo>
                    <a:pt x="745" y="271"/>
                  </a:lnTo>
                  <a:lnTo>
                    <a:pt x="710" y="290"/>
                  </a:lnTo>
                  <a:lnTo>
                    <a:pt x="670" y="306"/>
                  </a:lnTo>
                  <a:lnTo>
                    <a:pt x="623" y="318"/>
                  </a:lnTo>
                  <a:lnTo>
                    <a:pt x="573" y="330"/>
                  </a:lnTo>
                  <a:lnTo>
                    <a:pt x="520" y="338"/>
                  </a:lnTo>
                  <a:lnTo>
                    <a:pt x="467" y="341"/>
                  </a:lnTo>
                  <a:lnTo>
                    <a:pt x="409" y="343"/>
                  </a:lnTo>
                  <a:lnTo>
                    <a:pt x="354" y="341"/>
                  </a:lnTo>
                  <a:lnTo>
                    <a:pt x="299" y="338"/>
                  </a:lnTo>
                  <a:lnTo>
                    <a:pt x="245" y="330"/>
                  </a:lnTo>
                  <a:lnTo>
                    <a:pt x="196" y="318"/>
                  </a:lnTo>
                  <a:lnTo>
                    <a:pt x="150" y="306"/>
                  </a:lnTo>
                  <a:lnTo>
                    <a:pt x="109" y="290"/>
                  </a:lnTo>
                  <a:lnTo>
                    <a:pt x="73" y="271"/>
                  </a:lnTo>
                  <a:lnTo>
                    <a:pt x="44" y="251"/>
                  </a:lnTo>
                  <a:lnTo>
                    <a:pt x="22" y="229"/>
                  </a:lnTo>
                  <a:lnTo>
                    <a:pt x="6" y="207"/>
                  </a:lnTo>
                  <a:lnTo>
                    <a:pt x="0" y="184"/>
                  </a:lnTo>
                  <a:lnTo>
                    <a:pt x="0" y="160"/>
                  </a:lnTo>
                  <a:lnTo>
                    <a:pt x="6" y="138"/>
                  </a:lnTo>
                  <a:lnTo>
                    <a:pt x="22" y="115"/>
                  </a:lnTo>
                  <a:lnTo>
                    <a:pt x="44" y="93"/>
                  </a:lnTo>
                  <a:lnTo>
                    <a:pt x="73" y="73"/>
                  </a:lnTo>
                  <a:lnTo>
                    <a:pt x="109" y="56"/>
                  </a:lnTo>
                  <a:lnTo>
                    <a:pt x="150" y="40"/>
                  </a:lnTo>
                  <a:lnTo>
                    <a:pt x="196" y="26"/>
                  </a:lnTo>
                  <a:lnTo>
                    <a:pt x="245" y="16"/>
                  </a:lnTo>
                  <a:lnTo>
                    <a:pt x="299" y="8"/>
                  </a:lnTo>
                  <a:lnTo>
                    <a:pt x="354" y="2"/>
                  </a:lnTo>
                  <a:lnTo>
                    <a:pt x="40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564" name="Rectangle 20"/>
            <p:cNvSpPr>
              <a:spLocks noChangeAspect="1" noChangeArrowheads="1"/>
            </p:cNvSpPr>
            <p:nvPr/>
          </p:nvSpPr>
          <p:spPr bwMode="auto">
            <a:xfrm>
              <a:off x="1855" y="2394"/>
              <a:ext cx="108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1</a:t>
              </a:r>
              <a:endParaRPr lang="en-US" sz="1600"/>
            </a:p>
          </p:txBody>
        </p:sp>
      </p:grpSp>
      <p:grpSp>
        <p:nvGrpSpPr>
          <p:cNvPr id="1644565" name="Group 21"/>
          <p:cNvGrpSpPr>
            <a:grpSpLocks noChangeAspect="1"/>
          </p:cNvGrpSpPr>
          <p:nvPr/>
        </p:nvGrpSpPr>
        <p:grpSpPr bwMode="auto">
          <a:xfrm>
            <a:off x="6211888" y="4849813"/>
            <a:ext cx="873125" cy="649287"/>
            <a:chOff x="452" y="1501"/>
            <a:chExt cx="834" cy="621"/>
          </a:xfrm>
        </p:grpSpPr>
        <p:sp>
          <p:nvSpPr>
            <p:cNvPr id="1644566" name="Freeform 22"/>
            <p:cNvSpPr>
              <a:spLocks noChangeAspect="1"/>
            </p:cNvSpPr>
            <p:nvPr/>
          </p:nvSpPr>
          <p:spPr bwMode="auto">
            <a:xfrm>
              <a:off x="452" y="1662"/>
              <a:ext cx="834" cy="460"/>
            </a:xfrm>
            <a:custGeom>
              <a:avLst/>
              <a:gdLst>
                <a:gd name="T0" fmla="*/ 436 w 834"/>
                <a:gd name="T1" fmla="*/ 2 h 460"/>
                <a:gd name="T2" fmla="*/ 494 w 834"/>
                <a:gd name="T3" fmla="*/ 10 h 460"/>
                <a:gd name="T4" fmla="*/ 547 w 834"/>
                <a:gd name="T5" fmla="*/ 20 h 460"/>
                <a:gd name="T6" fmla="*/ 600 w 834"/>
                <a:gd name="T7" fmla="*/ 36 h 460"/>
                <a:gd name="T8" fmla="*/ 650 w 834"/>
                <a:gd name="T9" fmla="*/ 54 h 460"/>
                <a:gd name="T10" fmla="*/ 695 w 834"/>
                <a:gd name="T11" fmla="*/ 77 h 460"/>
                <a:gd name="T12" fmla="*/ 735 w 834"/>
                <a:gd name="T13" fmla="*/ 101 h 460"/>
                <a:gd name="T14" fmla="*/ 768 w 834"/>
                <a:gd name="T15" fmla="*/ 128 h 460"/>
                <a:gd name="T16" fmla="*/ 796 w 834"/>
                <a:gd name="T17" fmla="*/ 158 h 460"/>
                <a:gd name="T18" fmla="*/ 816 w 834"/>
                <a:gd name="T19" fmla="*/ 188 h 460"/>
                <a:gd name="T20" fmla="*/ 830 w 834"/>
                <a:gd name="T21" fmla="*/ 219 h 460"/>
                <a:gd name="T22" fmla="*/ 834 w 834"/>
                <a:gd name="T23" fmla="*/ 251 h 460"/>
                <a:gd name="T24" fmla="*/ 832 w 834"/>
                <a:gd name="T25" fmla="*/ 282 h 460"/>
                <a:gd name="T26" fmla="*/ 820 w 834"/>
                <a:gd name="T27" fmla="*/ 312 h 460"/>
                <a:gd name="T28" fmla="*/ 802 w 834"/>
                <a:gd name="T29" fmla="*/ 339 h 460"/>
                <a:gd name="T30" fmla="*/ 778 w 834"/>
                <a:gd name="T31" fmla="*/ 367 h 460"/>
                <a:gd name="T32" fmla="*/ 745 w 834"/>
                <a:gd name="T33" fmla="*/ 391 h 460"/>
                <a:gd name="T34" fmla="*/ 707 w 834"/>
                <a:gd name="T35" fmla="*/ 412 h 460"/>
                <a:gd name="T36" fmla="*/ 664 w 834"/>
                <a:gd name="T37" fmla="*/ 430 h 460"/>
                <a:gd name="T38" fmla="*/ 616 w 834"/>
                <a:gd name="T39" fmla="*/ 444 h 460"/>
                <a:gd name="T40" fmla="*/ 565 w 834"/>
                <a:gd name="T41" fmla="*/ 454 h 460"/>
                <a:gd name="T42" fmla="*/ 510 w 834"/>
                <a:gd name="T43" fmla="*/ 460 h 460"/>
                <a:gd name="T44" fmla="*/ 454 w 834"/>
                <a:gd name="T45" fmla="*/ 460 h 460"/>
                <a:gd name="T46" fmla="*/ 397 w 834"/>
                <a:gd name="T47" fmla="*/ 458 h 460"/>
                <a:gd name="T48" fmla="*/ 340 w 834"/>
                <a:gd name="T49" fmla="*/ 450 h 460"/>
                <a:gd name="T50" fmla="*/ 284 w 834"/>
                <a:gd name="T51" fmla="*/ 440 h 460"/>
                <a:gd name="T52" fmla="*/ 231 w 834"/>
                <a:gd name="T53" fmla="*/ 424 h 460"/>
                <a:gd name="T54" fmla="*/ 183 w 834"/>
                <a:gd name="T55" fmla="*/ 404 h 460"/>
                <a:gd name="T56" fmla="*/ 138 w 834"/>
                <a:gd name="T57" fmla="*/ 383 h 460"/>
                <a:gd name="T58" fmla="*/ 98 w 834"/>
                <a:gd name="T59" fmla="*/ 359 h 460"/>
                <a:gd name="T60" fmla="*/ 65 w 834"/>
                <a:gd name="T61" fmla="*/ 331 h 460"/>
                <a:gd name="T62" fmla="*/ 37 w 834"/>
                <a:gd name="T63" fmla="*/ 302 h 460"/>
                <a:gd name="T64" fmla="*/ 17 w 834"/>
                <a:gd name="T65" fmla="*/ 272 h 460"/>
                <a:gd name="T66" fmla="*/ 3 w 834"/>
                <a:gd name="T67" fmla="*/ 241 h 460"/>
                <a:gd name="T68" fmla="*/ 0 w 834"/>
                <a:gd name="T69" fmla="*/ 209 h 460"/>
                <a:gd name="T70" fmla="*/ 1 w 834"/>
                <a:gd name="T71" fmla="*/ 178 h 460"/>
                <a:gd name="T72" fmla="*/ 11 w 834"/>
                <a:gd name="T73" fmla="*/ 148 h 460"/>
                <a:gd name="T74" fmla="*/ 29 w 834"/>
                <a:gd name="T75" fmla="*/ 119 h 460"/>
                <a:gd name="T76" fmla="*/ 55 w 834"/>
                <a:gd name="T77" fmla="*/ 93 h 460"/>
                <a:gd name="T78" fmla="*/ 86 w 834"/>
                <a:gd name="T79" fmla="*/ 69 h 460"/>
                <a:gd name="T80" fmla="*/ 124 w 834"/>
                <a:gd name="T81" fmla="*/ 48 h 460"/>
                <a:gd name="T82" fmla="*/ 168 w 834"/>
                <a:gd name="T83" fmla="*/ 30 h 460"/>
                <a:gd name="T84" fmla="*/ 217 w 834"/>
                <a:gd name="T85" fmla="*/ 16 h 460"/>
                <a:gd name="T86" fmla="*/ 268 w 834"/>
                <a:gd name="T87" fmla="*/ 6 h 460"/>
                <a:gd name="T88" fmla="*/ 324 w 834"/>
                <a:gd name="T89" fmla="*/ 0 h 460"/>
                <a:gd name="T90" fmla="*/ 379 w 834"/>
                <a:gd name="T91" fmla="*/ 0 h 460"/>
                <a:gd name="T92" fmla="*/ 436 w 834"/>
                <a:gd name="T93" fmla="*/ 2 h 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34" h="460">
                  <a:moveTo>
                    <a:pt x="436" y="2"/>
                  </a:moveTo>
                  <a:lnTo>
                    <a:pt x="494" y="10"/>
                  </a:lnTo>
                  <a:lnTo>
                    <a:pt x="547" y="20"/>
                  </a:lnTo>
                  <a:lnTo>
                    <a:pt x="600" y="36"/>
                  </a:lnTo>
                  <a:lnTo>
                    <a:pt x="650" y="54"/>
                  </a:lnTo>
                  <a:lnTo>
                    <a:pt x="695" y="77"/>
                  </a:lnTo>
                  <a:lnTo>
                    <a:pt x="735" y="101"/>
                  </a:lnTo>
                  <a:lnTo>
                    <a:pt x="768" y="128"/>
                  </a:lnTo>
                  <a:lnTo>
                    <a:pt x="796" y="158"/>
                  </a:lnTo>
                  <a:lnTo>
                    <a:pt x="816" y="188"/>
                  </a:lnTo>
                  <a:lnTo>
                    <a:pt x="830" y="219"/>
                  </a:lnTo>
                  <a:lnTo>
                    <a:pt x="834" y="251"/>
                  </a:lnTo>
                  <a:lnTo>
                    <a:pt x="832" y="282"/>
                  </a:lnTo>
                  <a:lnTo>
                    <a:pt x="820" y="312"/>
                  </a:lnTo>
                  <a:lnTo>
                    <a:pt x="802" y="339"/>
                  </a:lnTo>
                  <a:lnTo>
                    <a:pt x="778" y="367"/>
                  </a:lnTo>
                  <a:lnTo>
                    <a:pt x="745" y="391"/>
                  </a:lnTo>
                  <a:lnTo>
                    <a:pt x="707" y="412"/>
                  </a:lnTo>
                  <a:lnTo>
                    <a:pt x="664" y="430"/>
                  </a:lnTo>
                  <a:lnTo>
                    <a:pt x="616" y="444"/>
                  </a:lnTo>
                  <a:lnTo>
                    <a:pt x="565" y="454"/>
                  </a:lnTo>
                  <a:lnTo>
                    <a:pt x="510" y="460"/>
                  </a:lnTo>
                  <a:lnTo>
                    <a:pt x="454" y="460"/>
                  </a:lnTo>
                  <a:lnTo>
                    <a:pt x="397" y="458"/>
                  </a:lnTo>
                  <a:lnTo>
                    <a:pt x="340" y="450"/>
                  </a:lnTo>
                  <a:lnTo>
                    <a:pt x="284" y="440"/>
                  </a:lnTo>
                  <a:lnTo>
                    <a:pt x="231" y="424"/>
                  </a:lnTo>
                  <a:lnTo>
                    <a:pt x="183" y="404"/>
                  </a:lnTo>
                  <a:lnTo>
                    <a:pt x="138" y="383"/>
                  </a:lnTo>
                  <a:lnTo>
                    <a:pt x="98" y="359"/>
                  </a:lnTo>
                  <a:lnTo>
                    <a:pt x="65" y="331"/>
                  </a:lnTo>
                  <a:lnTo>
                    <a:pt x="37" y="302"/>
                  </a:lnTo>
                  <a:lnTo>
                    <a:pt x="17" y="272"/>
                  </a:lnTo>
                  <a:lnTo>
                    <a:pt x="3" y="241"/>
                  </a:lnTo>
                  <a:lnTo>
                    <a:pt x="0" y="209"/>
                  </a:lnTo>
                  <a:lnTo>
                    <a:pt x="1" y="178"/>
                  </a:lnTo>
                  <a:lnTo>
                    <a:pt x="11" y="148"/>
                  </a:lnTo>
                  <a:lnTo>
                    <a:pt x="29" y="119"/>
                  </a:lnTo>
                  <a:lnTo>
                    <a:pt x="55" y="93"/>
                  </a:lnTo>
                  <a:lnTo>
                    <a:pt x="86" y="69"/>
                  </a:lnTo>
                  <a:lnTo>
                    <a:pt x="124" y="48"/>
                  </a:lnTo>
                  <a:lnTo>
                    <a:pt x="168" y="30"/>
                  </a:lnTo>
                  <a:lnTo>
                    <a:pt x="217" y="16"/>
                  </a:lnTo>
                  <a:lnTo>
                    <a:pt x="268" y="6"/>
                  </a:lnTo>
                  <a:lnTo>
                    <a:pt x="324" y="0"/>
                  </a:lnTo>
                  <a:lnTo>
                    <a:pt x="379" y="0"/>
                  </a:lnTo>
                  <a:lnTo>
                    <a:pt x="436" y="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567" name="Rectangle 23"/>
            <p:cNvSpPr>
              <a:spLocks noChangeAspect="1" noChangeArrowheads="1"/>
            </p:cNvSpPr>
            <p:nvPr/>
          </p:nvSpPr>
          <p:spPr bwMode="auto">
            <a:xfrm>
              <a:off x="943" y="1501"/>
              <a:ext cx="108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2</a:t>
              </a:r>
              <a:endParaRPr lang="en-US" sz="1600"/>
            </a:p>
          </p:txBody>
        </p:sp>
      </p:grpSp>
      <p:grpSp>
        <p:nvGrpSpPr>
          <p:cNvPr id="1644568" name="Group 24"/>
          <p:cNvGrpSpPr>
            <a:grpSpLocks noChangeAspect="1"/>
          </p:cNvGrpSpPr>
          <p:nvPr/>
        </p:nvGrpSpPr>
        <p:grpSpPr bwMode="auto">
          <a:xfrm>
            <a:off x="6003925" y="4348163"/>
            <a:ext cx="2413000" cy="2281237"/>
            <a:chOff x="254" y="1022"/>
            <a:chExt cx="2305" cy="2180"/>
          </a:xfrm>
        </p:grpSpPr>
        <p:sp>
          <p:nvSpPr>
            <p:cNvPr id="1644569" name="Rectangle 25"/>
            <p:cNvSpPr>
              <a:spLocks noChangeAspect="1" noChangeArrowheads="1"/>
            </p:cNvSpPr>
            <p:nvPr/>
          </p:nvSpPr>
          <p:spPr bwMode="auto">
            <a:xfrm>
              <a:off x="563" y="1148"/>
              <a:ext cx="108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5</a:t>
              </a:r>
              <a:endParaRPr lang="en-US" sz="1600"/>
            </a:p>
          </p:txBody>
        </p:sp>
        <p:sp>
          <p:nvSpPr>
            <p:cNvPr id="1644570" name="Freeform 26"/>
            <p:cNvSpPr>
              <a:spLocks noChangeAspect="1"/>
            </p:cNvSpPr>
            <p:nvPr/>
          </p:nvSpPr>
          <p:spPr bwMode="auto">
            <a:xfrm>
              <a:off x="254" y="1022"/>
              <a:ext cx="2305" cy="2180"/>
            </a:xfrm>
            <a:custGeom>
              <a:avLst/>
              <a:gdLst>
                <a:gd name="T0" fmla="*/ 1245 w 2305"/>
                <a:gd name="T1" fmla="*/ 4 h 2180"/>
                <a:gd name="T2" fmla="*/ 1433 w 2305"/>
                <a:gd name="T3" fmla="*/ 33 h 2180"/>
                <a:gd name="T4" fmla="*/ 1615 w 2305"/>
                <a:gd name="T5" fmla="*/ 90 h 2180"/>
                <a:gd name="T6" fmla="*/ 1781 w 2305"/>
                <a:gd name="T7" fmla="*/ 175 h 2180"/>
                <a:gd name="T8" fmla="*/ 1931 w 2305"/>
                <a:gd name="T9" fmla="*/ 286 h 2180"/>
                <a:gd name="T10" fmla="*/ 2062 w 2305"/>
                <a:gd name="T11" fmla="*/ 420 h 2180"/>
                <a:gd name="T12" fmla="*/ 2166 w 2305"/>
                <a:gd name="T13" fmla="*/ 569 h 2180"/>
                <a:gd name="T14" fmla="*/ 2242 w 2305"/>
                <a:gd name="T15" fmla="*/ 735 h 2180"/>
                <a:gd name="T16" fmla="*/ 2289 w 2305"/>
                <a:gd name="T17" fmla="*/ 908 h 2180"/>
                <a:gd name="T18" fmla="*/ 2305 w 2305"/>
                <a:gd name="T19" fmla="*/ 1088 h 2180"/>
                <a:gd name="T20" fmla="*/ 2289 w 2305"/>
                <a:gd name="T21" fmla="*/ 1267 h 2180"/>
                <a:gd name="T22" fmla="*/ 2243 w 2305"/>
                <a:gd name="T23" fmla="*/ 1443 h 2180"/>
                <a:gd name="T24" fmla="*/ 2166 w 2305"/>
                <a:gd name="T25" fmla="*/ 1606 h 2180"/>
                <a:gd name="T26" fmla="*/ 2064 w 2305"/>
                <a:gd name="T27" fmla="*/ 1758 h 2180"/>
                <a:gd name="T28" fmla="*/ 1935 w 2305"/>
                <a:gd name="T29" fmla="*/ 1890 h 2180"/>
                <a:gd name="T30" fmla="*/ 1785 w 2305"/>
                <a:gd name="T31" fmla="*/ 2002 h 2180"/>
                <a:gd name="T32" fmla="*/ 1617 w 2305"/>
                <a:gd name="T33" fmla="*/ 2087 h 2180"/>
                <a:gd name="T34" fmla="*/ 1437 w 2305"/>
                <a:gd name="T35" fmla="*/ 2146 h 2180"/>
                <a:gd name="T36" fmla="*/ 1249 w 2305"/>
                <a:gd name="T37" fmla="*/ 2176 h 2180"/>
                <a:gd name="T38" fmla="*/ 1059 w 2305"/>
                <a:gd name="T39" fmla="*/ 2176 h 2180"/>
                <a:gd name="T40" fmla="*/ 872 w 2305"/>
                <a:gd name="T41" fmla="*/ 2148 h 2180"/>
                <a:gd name="T42" fmla="*/ 692 w 2305"/>
                <a:gd name="T43" fmla="*/ 2089 h 2180"/>
                <a:gd name="T44" fmla="*/ 524 w 2305"/>
                <a:gd name="T45" fmla="*/ 2004 h 2180"/>
                <a:gd name="T46" fmla="*/ 373 w 2305"/>
                <a:gd name="T47" fmla="*/ 1894 h 2180"/>
                <a:gd name="T48" fmla="*/ 245 w 2305"/>
                <a:gd name="T49" fmla="*/ 1762 h 2180"/>
                <a:gd name="T50" fmla="*/ 140 w 2305"/>
                <a:gd name="T51" fmla="*/ 1610 h 2180"/>
                <a:gd name="T52" fmla="*/ 63 w 2305"/>
                <a:gd name="T53" fmla="*/ 1447 h 2180"/>
                <a:gd name="T54" fmla="*/ 16 w 2305"/>
                <a:gd name="T55" fmla="*/ 1271 h 2180"/>
                <a:gd name="T56" fmla="*/ 0 w 2305"/>
                <a:gd name="T57" fmla="*/ 1092 h 2180"/>
                <a:gd name="T58" fmla="*/ 16 w 2305"/>
                <a:gd name="T59" fmla="*/ 912 h 2180"/>
                <a:gd name="T60" fmla="*/ 63 w 2305"/>
                <a:gd name="T61" fmla="*/ 737 h 2180"/>
                <a:gd name="T62" fmla="*/ 138 w 2305"/>
                <a:gd name="T63" fmla="*/ 573 h 2180"/>
                <a:gd name="T64" fmla="*/ 243 w 2305"/>
                <a:gd name="T65" fmla="*/ 422 h 2180"/>
                <a:gd name="T66" fmla="*/ 371 w 2305"/>
                <a:gd name="T67" fmla="*/ 290 h 2180"/>
                <a:gd name="T68" fmla="*/ 522 w 2305"/>
                <a:gd name="T69" fmla="*/ 179 h 2180"/>
                <a:gd name="T70" fmla="*/ 688 w 2305"/>
                <a:gd name="T71" fmla="*/ 92 h 2180"/>
                <a:gd name="T72" fmla="*/ 868 w 2305"/>
                <a:gd name="T73" fmla="*/ 33 h 2180"/>
                <a:gd name="T74" fmla="*/ 1055 w 2305"/>
                <a:gd name="T75" fmla="*/ 4 h 2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305" h="2180">
                  <a:moveTo>
                    <a:pt x="1150" y="0"/>
                  </a:moveTo>
                  <a:lnTo>
                    <a:pt x="1245" y="4"/>
                  </a:lnTo>
                  <a:lnTo>
                    <a:pt x="1340" y="14"/>
                  </a:lnTo>
                  <a:lnTo>
                    <a:pt x="1433" y="33"/>
                  </a:lnTo>
                  <a:lnTo>
                    <a:pt x="1526" y="59"/>
                  </a:lnTo>
                  <a:lnTo>
                    <a:pt x="1615" y="90"/>
                  </a:lnTo>
                  <a:lnTo>
                    <a:pt x="1700" y="130"/>
                  </a:lnTo>
                  <a:lnTo>
                    <a:pt x="1781" y="175"/>
                  </a:lnTo>
                  <a:lnTo>
                    <a:pt x="1860" y="228"/>
                  </a:lnTo>
                  <a:lnTo>
                    <a:pt x="1931" y="286"/>
                  </a:lnTo>
                  <a:lnTo>
                    <a:pt x="2000" y="351"/>
                  </a:lnTo>
                  <a:lnTo>
                    <a:pt x="2062" y="420"/>
                  </a:lnTo>
                  <a:lnTo>
                    <a:pt x="2117" y="493"/>
                  </a:lnTo>
                  <a:lnTo>
                    <a:pt x="2166" y="569"/>
                  </a:lnTo>
                  <a:lnTo>
                    <a:pt x="2208" y="650"/>
                  </a:lnTo>
                  <a:lnTo>
                    <a:pt x="2242" y="735"/>
                  </a:lnTo>
                  <a:lnTo>
                    <a:pt x="2269" y="820"/>
                  </a:lnTo>
                  <a:lnTo>
                    <a:pt x="2289" y="908"/>
                  </a:lnTo>
                  <a:lnTo>
                    <a:pt x="2301" y="997"/>
                  </a:lnTo>
                  <a:lnTo>
                    <a:pt x="2305" y="1088"/>
                  </a:lnTo>
                  <a:lnTo>
                    <a:pt x="2301" y="1178"/>
                  </a:lnTo>
                  <a:lnTo>
                    <a:pt x="2289" y="1267"/>
                  </a:lnTo>
                  <a:lnTo>
                    <a:pt x="2271" y="1356"/>
                  </a:lnTo>
                  <a:lnTo>
                    <a:pt x="2243" y="1443"/>
                  </a:lnTo>
                  <a:lnTo>
                    <a:pt x="2210" y="1525"/>
                  </a:lnTo>
                  <a:lnTo>
                    <a:pt x="2166" y="1606"/>
                  </a:lnTo>
                  <a:lnTo>
                    <a:pt x="2119" y="1685"/>
                  </a:lnTo>
                  <a:lnTo>
                    <a:pt x="2064" y="1758"/>
                  </a:lnTo>
                  <a:lnTo>
                    <a:pt x="2002" y="1827"/>
                  </a:lnTo>
                  <a:lnTo>
                    <a:pt x="1935" y="1890"/>
                  </a:lnTo>
                  <a:lnTo>
                    <a:pt x="1862" y="1949"/>
                  </a:lnTo>
                  <a:lnTo>
                    <a:pt x="1785" y="2002"/>
                  </a:lnTo>
                  <a:lnTo>
                    <a:pt x="1704" y="2048"/>
                  </a:lnTo>
                  <a:lnTo>
                    <a:pt x="1617" y="2087"/>
                  </a:lnTo>
                  <a:lnTo>
                    <a:pt x="1528" y="2121"/>
                  </a:lnTo>
                  <a:lnTo>
                    <a:pt x="1437" y="2146"/>
                  </a:lnTo>
                  <a:lnTo>
                    <a:pt x="1344" y="2164"/>
                  </a:lnTo>
                  <a:lnTo>
                    <a:pt x="1249" y="2176"/>
                  </a:lnTo>
                  <a:lnTo>
                    <a:pt x="1154" y="2180"/>
                  </a:lnTo>
                  <a:lnTo>
                    <a:pt x="1059" y="2176"/>
                  </a:lnTo>
                  <a:lnTo>
                    <a:pt x="965" y="2166"/>
                  </a:lnTo>
                  <a:lnTo>
                    <a:pt x="872" y="2148"/>
                  </a:lnTo>
                  <a:lnTo>
                    <a:pt x="781" y="2123"/>
                  </a:lnTo>
                  <a:lnTo>
                    <a:pt x="692" y="2089"/>
                  </a:lnTo>
                  <a:lnTo>
                    <a:pt x="607" y="2050"/>
                  </a:lnTo>
                  <a:lnTo>
                    <a:pt x="524" y="2004"/>
                  </a:lnTo>
                  <a:lnTo>
                    <a:pt x="447" y="1951"/>
                  </a:lnTo>
                  <a:lnTo>
                    <a:pt x="373" y="1894"/>
                  </a:lnTo>
                  <a:lnTo>
                    <a:pt x="306" y="1829"/>
                  </a:lnTo>
                  <a:lnTo>
                    <a:pt x="245" y="1762"/>
                  </a:lnTo>
                  <a:lnTo>
                    <a:pt x="190" y="1687"/>
                  </a:lnTo>
                  <a:lnTo>
                    <a:pt x="140" y="1610"/>
                  </a:lnTo>
                  <a:lnTo>
                    <a:pt x="99" y="1529"/>
                  </a:lnTo>
                  <a:lnTo>
                    <a:pt x="63" y="1447"/>
                  </a:lnTo>
                  <a:lnTo>
                    <a:pt x="35" y="1360"/>
                  </a:lnTo>
                  <a:lnTo>
                    <a:pt x="16" y="1271"/>
                  </a:lnTo>
                  <a:lnTo>
                    <a:pt x="4" y="1182"/>
                  </a:lnTo>
                  <a:lnTo>
                    <a:pt x="0" y="1092"/>
                  </a:lnTo>
                  <a:lnTo>
                    <a:pt x="4" y="1001"/>
                  </a:lnTo>
                  <a:lnTo>
                    <a:pt x="16" y="912"/>
                  </a:lnTo>
                  <a:lnTo>
                    <a:pt x="35" y="824"/>
                  </a:lnTo>
                  <a:lnTo>
                    <a:pt x="63" y="737"/>
                  </a:lnTo>
                  <a:lnTo>
                    <a:pt x="97" y="654"/>
                  </a:lnTo>
                  <a:lnTo>
                    <a:pt x="138" y="573"/>
                  </a:lnTo>
                  <a:lnTo>
                    <a:pt x="188" y="495"/>
                  </a:lnTo>
                  <a:lnTo>
                    <a:pt x="243" y="422"/>
                  </a:lnTo>
                  <a:lnTo>
                    <a:pt x="304" y="353"/>
                  </a:lnTo>
                  <a:lnTo>
                    <a:pt x="371" y="290"/>
                  </a:lnTo>
                  <a:lnTo>
                    <a:pt x="443" y="230"/>
                  </a:lnTo>
                  <a:lnTo>
                    <a:pt x="522" y="179"/>
                  </a:lnTo>
                  <a:lnTo>
                    <a:pt x="603" y="132"/>
                  </a:lnTo>
                  <a:lnTo>
                    <a:pt x="688" y="92"/>
                  </a:lnTo>
                  <a:lnTo>
                    <a:pt x="777" y="59"/>
                  </a:lnTo>
                  <a:lnTo>
                    <a:pt x="868" y="33"/>
                  </a:lnTo>
                  <a:lnTo>
                    <a:pt x="961" y="16"/>
                  </a:lnTo>
                  <a:lnTo>
                    <a:pt x="1055" y="4"/>
                  </a:lnTo>
                  <a:lnTo>
                    <a:pt x="11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44571" name="Group 27"/>
          <p:cNvGrpSpPr>
            <a:grpSpLocks noChangeAspect="1"/>
          </p:cNvGrpSpPr>
          <p:nvPr/>
        </p:nvGrpSpPr>
        <p:grpSpPr bwMode="auto">
          <a:xfrm>
            <a:off x="7011988" y="5322888"/>
            <a:ext cx="1187450" cy="1141412"/>
            <a:chOff x="1217" y="1954"/>
            <a:chExt cx="1134" cy="1090"/>
          </a:xfrm>
        </p:grpSpPr>
        <p:sp>
          <p:nvSpPr>
            <p:cNvPr id="1644572" name="Rectangle 28"/>
            <p:cNvSpPr>
              <a:spLocks noChangeAspect="1" noChangeArrowheads="1"/>
            </p:cNvSpPr>
            <p:nvPr/>
          </p:nvSpPr>
          <p:spPr bwMode="auto">
            <a:xfrm>
              <a:off x="1666" y="2811"/>
              <a:ext cx="10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3</a:t>
              </a:r>
              <a:endParaRPr lang="en-US" sz="1600"/>
            </a:p>
          </p:txBody>
        </p:sp>
        <p:sp>
          <p:nvSpPr>
            <p:cNvPr id="1644573" name="Freeform 29"/>
            <p:cNvSpPr>
              <a:spLocks noChangeAspect="1"/>
            </p:cNvSpPr>
            <p:nvPr/>
          </p:nvSpPr>
          <p:spPr bwMode="auto">
            <a:xfrm>
              <a:off x="1217" y="1954"/>
              <a:ext cx="1134" cy="909"/>
            </a:xfrm>
            <a:custGeom>
              <a:avLst/>
              <a:gdLst>
                <a:gd name="T0" fmla="*/ 371 w 1134"/>
                <a:gd name="T1" fmla="*/ 142 h 909"/>
                <a:gd name="T2" fmla="*/ 430 w 1134"/>
                <a:gd name="T3" fmla="*/ 108 h 909"/>
                <a:gd name="T4" fmla="*/ 492 w 1134"/>
                <a:gd name="T5" fmla="*/ 79 h 909"/>
                <a:gd name="T6" fmla="*/ 551 w 1134"/>
                <a:gd name="T7" fmla="*/ 53 h 909"/>
                <a:gd name="T8" fmla="*/ 614 w 1134"/>
                <a:gd name="T9" fmla="*/ 32 h 909"/>
                <a:gd name="T10" fmla="*/ 674 w 1134"/>
                <a:gd name="T11" fmla="*/ 16 h 909"/>
                <a:gd name="T12" fmla="*/ 735 w 1134"/>
                <a:gd name="T13" fmla="*/ 6 h 909"/>
                <a:gd name="T14" fmla="*/ 792 w 1134"/>
                <a:gd name="T15" fmla="*/ 0 h 909"/>
                <a:gd name="T16" fmla="*/ 848 w 1134"/>
                <a:gd name="T17" fmla="*/ 0 h 909"/>
                <a:gd name="T18" fmla="*/ 899 w 1134"/>
                <a:gd name="T19" fmla="*/ 4 h 909"/>
                <a:gd name="T20" fmla="*/ 946 w 1134"/>
                <a:gd name="T21" fmla="*/ 14 h 909"/>
                <a:gd name="T22" fmla="*/ 990 w 1134"/>
                <a:gd name="T23" fmla="*/ 30 h 909"/>
                <a:gd name="T24" fmla="*/ 1027 w 1134"/>
                <a:gd name="T25" fmla="*/ 51 h 909"/>
                <a:gd name="T26" fmla="*/ 1061 w 1134"/>
                <a:gd name="T27" fmla="*/ 77 h 909"/>
                <a:gd name="T28" fmla="*/ 1089 w 1134"/>
                <a:gd name="T29" fmla="*/ 107 h 909"/>
                <a:gd name="T30" fmla="*/ 1110 w 1134"/>
                <a:gd name="T31" fmla="*/ 140 h 909"/>
                <a:gd name="T32" fmla="*/ 1124 w 1134"/>
                <a:gd name="T33" fmla="*/ 177 h 909"/>
                <a:gd name="T34" fmla="*/ 1132 w 1134"/>
                <a:gd name="T35" fmla="*/ 217 h 909"/>
                <a:gd name="T36" fmla="*/ 1134 w 1134"/>
                <a:gd name="T37" fmla="*/ 260 h 909"/>
                <a:gd name="T38" fmla="*/ 1128 w 1134"/>
                <a:gd name="T39" fmla="*/ 308 h 909"/>
                <a:gd name="T40" fmla="*/ 1118 w 1134"/>
                <a:gd name="T41" fmla="*/ 355 h 909"/>
                <a:gd name="T42" fmla="*/ 1099 w 1134"/>
                <a:gd name="T43" fmla="*/ 402 h 909"/>
                <a:gd name="T44" fmla="*/ 1075 w 1134"/>
                <a:gd name="T45" fmla="*/ 451 h 909"/>
                <a:gd name="T46" fmla="*/ 1045 w 1134"/>
                <a:gd name="T47" fmla="*/ 501 h 909"/>
                <a:gd name="T48" fmla="*/ 1010 w 1134"/>
                <a:gd name="T49" fmla="*/ 550 h 909"/>
                <a:gd name="T50" fmla="*/ 968 w 1134"/>
                <a:gd name="T51" fmla="*/ 597 h 909"/>
                <a:gd name="T52" fmla="*/ 923 w 1134"/>
                <a:gd name="T53" fmla="*/ 643 h 909"/>
                <a:gd name="T54" fmla="*/ 871 w 1134"/>
                <a:gd name="T55" fmla="*/ 688 h 909"/>
                <a:gd name="T56" fmla="*/ 818 w 1134"/>
                <a:gd name="T57" fmla="*/ 727 h 909"/>
                <a:gd name="T58" fmla="*/ 763 w 1134"/>
                <a:gd name="T59" fmla="*/ 765 h 909"/>
                <a:gd name="T60" fmla="*/ 703 w 1134"/>
                <a:gd name="T61" fmla="*/ 800 h 909"/>
                <a:gd name="T62" fmla="*/ 644 w 1134"/>
                <a:gd name="T63" fmla="*/ 830 h 909"/>
                <a:gd name="T64" fmla="*/ 583 w 1134"/>
                <a:gd name="T65" fmla="*/ 855 h 909"/>
                <a:gd name="T66" fmla="*/ 519 w 1134"/>
                <a:gd name="T67" fmla="*/ 877 h 909"/>
                <a:gd name="T68" fmla="*/ 460 w 1134"/>
                <a:gd name="T69" fmla="*/ 893 h 909"/>
                <a:gd name="T70" fmla="*/ 401 w 1134"/>
                <a:gd name="T71" fmla="*/ 903 h 909"/>
                <a:gd name="T72" fmla="*/ 342 w 1134"/>
                <a:gd name="T73" fmla="*/ 909 h 909"/>
                <a:gd name="T74" fmla="*/ 286 w 1134"/>
                <a:gd name="T75" fmla="*/ 909 h 909"/>
                <a:gd name="T76" fmla="*/ 235 w 1134"/>
                <a:gd name="T77" fmla="*/ 905 h 909"/>
                <a:gd name="T78" fmla="*/ 187 w 1134"/>
                <a:gd name="T79" fmla="*/ 893 h 909"/>
                <a:gd name="T80" fmla="*/ 144 w 1134"/>
                <a:gd name="T81" fmla="*/ 877 h 909"/>
                <a:gd name="T82" fmla="*/ 106 w 1134"/>
                <a:gd name="T83" fmla="*/ 857 h 909"/>
                <a:gd name="T84" fmla="*/ 73 w 1134"/>
                <a:gd name="T85" fmla="*/ 832 h 909"/>
                <a:gd name="T86" fmla="*/ 45 w 1134"/>
                <a:gd name="T87" fmla="*/ 802 h 909"/>
                <a:gd name="T88" fmla="*/ 23 w 1134"/>
                <a:gd name="T89" fmla="*/ 769 h 909"/>
                <a:gd name="T90" fmla="*/ 9 w 1134"/>
                <a:gd name="T91" fmla="*/ 731 h 909"/>
                <a:gd name="T92" fmla="*/ 2 w 1134"/>
                <a:gd name="T93" fmla="*/ 690 h 909"/>
                <a:gd name="T94" fmla="*/ 0 w 1134"/>
                <a:gd name="T95" fmla="*/ 647 h 909"/>
                <a:gd name="T96" fmla="*/ 5 w 1134"/>
                <a:gd name="T97" fmla="*/ 601 h 909"/>
                <a:gd name="T98" fmla="*/ 15 w 1134"/>
                <a:gd name="T99" fmla="*/ 554 h 909"/>
                <a:gd name="T100" fmla="*/ 35 w 1134"/>
                <a:gd name="T101" fmla="*/ 505 h 909"/>
                <a:gd name="T102" fmla="*/ 59 w 1134"/>
                <a:gd name="T103" fmla="*/ 455 h 909"/>
                <a:gd name="T104" fmla="*/ 88 w 1134"/>
                <a:gd name="T105" fmla="*/ 406 h 909"/>
                <a:gd name="T106" fmla="*/ 124 w 1134"/>
                <a:gd name="T107" fmla="*/ 359 h 909"/>
                <a:gd name="T108" fmla="*/ 166 w 1134"/>
                <a:gd name="T109" fmla="*/ 311 h 909"/>
                <a:gd name="T110" fmla="*/ 211 w 1134"/>
                <a:gd name="T111" fmla="*/ 264 h 909"/>
                <a:gd name="T112" fmla="*/ 262 w 1134"/>
                <a:gd name="T113" fmla="*/ 221 h 909"/>
                <a:gd name="T114" fmla="*/ 316 w 1134"/>
                <a:gd name="T115" fmla="*/ 179 h 909"/>
                <a:gd name="T116" fmla="*/ 371 w 1134"/>
                <a:gd name="T117" fmla="*/ 142 h 9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134" h="909">
                  <a:moveTo>
                    <a:pt x="371" y="142"/>
                  </a:moveTo>
                  <a:lnTo>
                    <a:pt x="430" y="108"/>
                  </a:lnTo>
                  <a:lnTo>
                    <a:pt x="492" y="79"/>
                  </a:lnTo>
                  <a:lnTo>
                    <a:pt x="551" y="53"/>
                  </a:lnTo>
                  <a:lnTo>
                    <a:pt x="614" y="32"/>
                  </a:lnTo>
                  <a:lnTo>
                    <a:pt x="674" y="16"/>
                  </a:lnTo>
                  <a:lnTo>
                    <a:pt x="735" y="6"/>
                  </a:lnTo>
                  <a:lnTo>
                    <a:pt x="792" y="0"/>
                  </a:lnTo>
                  <a:lnTo>
                    <a:pt x="848" y="0"/>
                  </a:lnTo>
                  <a:lnTo>
                    <a:pt x="899" y="4"/>
                  </a:lnTo>
                  <a:lnTo>
                    <a:pt x="946" y="14"/>
                  </a:lnTo>
                  <a:lnTo>
                    <a:pt x="990" y="30"/>
                  </a:lnTo>
                  <a:lnTo>
                    <a:pt x="1027" y="51"/>
                  </a:lnTo>
                  <a:lnTo>
                    <a:pt x="1061" y="77"/>
                  </a:lnTo>
                  <a:lnTo>
                    <a:pt x="1089" y="107"/>
                  </a:lnTo>
                  <a:lnTo>
                    <a:pt x="1110" y="140"/>
                  </a:lnTo>
                  <a:lnTo>
                    <a:pt x="1124" y="177"/>
                  </a:lnTo>
                  <a:lnTo>
                    <a:pt x="1132" y="217"/>
                  </a:lnTo>
                  <a:lnTo>
                    <a:pt x="1134" y="260"/>
                  </a:lnTo>
                  <a:lnTo>
                    <a:pt x="1128" y="308"/>
                  </a:lnTo>
                  <a:lnTo>
                    <a:pt x="1118" y="355"/>
                  </a:lnTo>
                  <a:lnTo>
                    <a:pt x="1099" y="402"/>
                  </a:lnTo>
                  <a:lnTo>
                    <a:pt x="1075" y="451"/>
                  </a:lnTo>
                  <a:lnTo>
                    <a:pt x="1045" y="501"/>
                  </a:lnTo>
                  <a:lnTo>
                    <a:pt x="1010" y="550"/>
                  </a:lnTo>
                  <a:lnTo>
                    <a:pt x="968" y="597"/>
                  </a:lnTo>
                  <a:lnTo>
                    <a:pt x="923" y="643"/>
                  </a:lnTo>
                  <a:lnTo>
                    <a:pt x="871" y="688"/>
                  </a:lnTo>
                  <a:lnTo>
                    <a:pt x="818" y="727"/>
                  </a:lnTo>
                  <a:lnTo>
                    <a:pt x="763" y="765"/>
                  </a:lnTo>
                  <a:lnTo>
                    <a:pt x="703" y="800"/>
                  </a:lnTo>
                  <a:lnTo>
                    <a:pt x="644" y="830"/>
                  </a:lnTo>
                  <a:lnTo>
                    <a:pt x="583" y="855"/>
                  </a:lnTo>
                  <a:lnTo>
                    <a:pt x="519" y="877"/>
                  </a:lnTo>
                  <a:lnTo>
                    <a:pt x="460" y="893"/>
                  </a:lnTo>
                  <a:lnTo>
                    <a:pt x="401" y="903"/>
                  </a:lnTo>
                  <a:lnTo>
                    <a:pt x="342" y="909"/>
                  </a:lnTo>
                  <a:lnTo>
                    <a:pt x="286" y="909"/>
                  </a:lnTo>
                  <a:lnTo>
                    <a:pt x="235" y="905"/>
                  </a:lnTo>
                  <a:lnTo>
                    <a:pt x="187" y="893"/>
                  </a:lnTo>
                  <a:lnTo>
                    <a:pt x="144" y="877"/>
                  </a:lnTo>
                  <a:lnTo>
                    <a:pt x="106" y="857"/>
                  </a:lnTo>
                  <a:lnTo>
                    <a:pt x="73" y="832"/>
                  </a:lnTo>
                  <a:lnTo>
                    <a:pt x="45" y="802"/>
                  </a:lnTo>
                  <a:lnTo>
                    <a:pt x="23" y="769"/>
                  </a:lnTo>
                  <a:lnTo>
                    <a:pt x="9" y="731"/>
                  </a:lnTo>
                  <a:lnTo>
                    <a:pt x="2" y="690"/>
                  </a:lnTo>
                  <a:lnTo>
                    <a:pt x="0" y="647"/>
                  </a:lnTo>
                  <a:lnTo>
                    <a:pt x="5" y="601"/>
                  </a:lnTo>
                  <a:lnTo>
                    <a:pt x="15" y="554"/>
                  </a:lnTo>
                  <a:lnTo>
                    <a:pt x="35" y="505"/>
                  </a:lnTo>
                  <a:lnTo>
                    <a:pt x="59" y="455"/>
                  </a:lnTo>
                  <a:lnTo>
                    <a:pt x="88" y="406"/>
                  </a:lnTo>
                  <a:lnTo>
                    <a:pt x="124" y="359"/>
                  </a:lnTo>
                  <a:lnTo>
                    <a:pt x="166" y="311"/>
                  </a:lnTo>
                  <a:lnTo>
                    <a:pt x="211" y="264"/>
                  </a:lnTo>
                  <a:lnTo>
                    <a:pt x="262" y="221"/>
                  </a:lnTo>
                  <a:lnTo>
                    <a:pt x="316" y="179"/>
                  </a:lnTo>
                  <a:lnTo>
                    <a:pt x="371" y="14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44574" name="Group 30"/>
          <p:cNvGrpSpPr>
            <a:grpSpLocks noChangeAspect="1"/>
          </p:cNvGrpSpPr>
          <p:nvPr/>
        </p:nvGrpSpPr>
        <p:grpSpPr bwMode="auto">
          <a:xfrm>
            <a:off x="6986588" y="4546600"/>
            <a:ext cx="1274762" cy="2041525"/>
            <a:chOff x="1193" y="1212"/>
            <a:chExt cx="1218" cy="1950"/>
          </a:xfrm>
        </p:grpSpPr>
        <p:sp>
          <p:nvSpPr>
            <p:cNvPr id="1644575" name="Rectangle 31"/>
            <p:cNvSpPr>
              <a:spLocks noChangeAspect="1" noChangeArrowheads="1"/>
            </p:cNvSpPr>
            <p:nvPr/>
          </p:nvSpPr>
          <p:spPr bwMode="auto">
            <a:xfrm>
              <a:off x="1603" y="1212"/>
              <a:ext cx="10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4</a:t>
              </a:r>
              <a:endParaRPr lang="en-US" sz="1600"/>
            </a:p>
          </p:txBody>
        </p:sp>
        <p:sp>
          <p:nvSpPr>
            <p:cNvPr id="1644576" name="Freeform 32"/>
            <p:cNvSpPr>
              <a:spLocks noChangeAspect="1"/>
            </p:cNvSpPr>
            <p:nvPr/>
          </p:nvSpPr>
          <p:spPr bwMode="auto">
            <a:xfrm>
              <a:off x="1193" y="1246"/>
              <a:ext cx="1218" cy="1916"/>
            </a:xfrm>
            <a:custGeom>
              <a:avLst/>
              <a:gdLst>
                <a:gd name="T0" fmla="*/ 87 w 1218"/>
                <a:gd name="T1" fmla="*/ 724 h 1916"/>
                <a:gd name="T2" fmla="*/ 148 w 1218"/>
                <a:gd name="T3" fmla="*/ 566 h 1916"/>
                <a:gd name="T4" fmla="*/ 225 w 1218"/>
                <a:gd name="T5" fmla="*/ 420 h 1916"/>
                <a:gd name="T6" fmla="*/ 312 w 1218"/>
                <a:gd name="T7" fmla="*/ 290 h 1916"/>
                <a:gd name="T8" fmla="*/ 409 w 1218"/>
                <a:gd name="T9" fmla="*/ 182 h 1916"/>
                <a:gd name="T10" fmla="*/ 514 w 1218"/>
                <a:gd name="T11" fmla="*/ 97 h 1916"/>
                <a:gd name="T12" fmla="*/ 619 w 1218"/>
                <a:gd name="T13" fmla="*/ 38 h 1916"/>
                <a:gd name="T14" fmla="*/ 725 w 1218"/>
                <a:gd name="T15" fmla="*/ 6 h 1916"/>
                <a:gd name="T16" fmla="*/ 826 w 1218"/>
                <a:gd name="T17" fmla="*/ 4 h 1916"/>
                <a:gd name="T18" fmla="*/ 923 w 1218"/>
                <a:gd name="T19" fmla="*/ 30 h 1916"/>
                <a:gd name="T20" fmla="*/ 1008 w 1218"/>
                <a:gd name="T21" fmla="*/ 85 h 1916"/>
                <a:gd name="T22" fmla="*/ 1081 w 1218"/>
                <a:gd name="T23" fmla="*/ 168 h 1916"/>
                <a:gd name="T24" fmla="*/ 1142 w 1218"/>
                <a:gd name="T25" fmla="*/ 272 h 1916"/>
                <a:gd name="T26" fmla="*/ 1184 w 1218"/>
                <a:gd name="T27" fmla="*/ 399 h 1916"/>
                <a:gd name="T28" fmla="*/ 1212 w 1218"/>
                <a:gd name="T29" fmla="*/ 543 h 1916"/>
                <a:gd name="T30" fmla="*/ 1218 w 1218"/>
                <a:gd name="T31" fmla="*/ 698 h 1916"/>
                <a:gd name="T32" fmla="*/ 1208 w 1218"/>
                <a:gd name="T33" fmla="*/ 862 h 1916"/>
                <a:gd name="T34" fmla="*/ 1178 w 1218"/>
                <a:gd name="T35" fmla="*/ 1029 h 1916"/>
                <a:gd name="T36" fmla="*/ 1133 w 1218"/>
                <a:gd name="T37" fmla="*/ 1193 h 1916"/>
                <a:gd name="T38" fmla="*/ 1069 w 1218"/>
                <a:gd name="T39" fmla="*/ 1351 h 1916"/>
                <a:gd name="T40" fmla="*/ 992 w 1218"/>
                <a:gd name="T41" fmla="*/ 1496 h 1916"/>
                <a:gd name="T42" fmla="*/ 905 w 1218"/>
                <a:gd name="T43" fmla="*/ 1627 h 1916"/>
                <a:gd name="T44" fmla="*/ 808 w 1218"/>
                <a:gd name="T45" fmla="*/ 1735 h 1916"/>
                <a:gd name="T46" fmla="*/ 706 w 1218"/>
                <a:gd name="T47" fmla="*/ 1820 h 1916"/>
                <a:gd name="T48" fmla="*/ 599 w 1218"/>
                <a:gd name="T49" fmla="*/ 1879 h 1916"/>
                <a:gd name="T50" fmla="*/ 494 w 1218"/>
                <a:gd name="T51" fmla="*/ 1910 h 1916"/>
                <a:gd name="T52" fmla="*/ 391 w 1218"/>
                <a:gd name="T53" fmla="*/ 1912 h 1916"/>
                <a:gd name="T54" fmla="*/ 296 w 1218"/>
                <a:gd name="T55" fmla="*/ 1887 h 1916"/>
                <a:gd name="T56" fmla="*/ 209 w 1218"/>
                <a:gd name="T57" fmla="*/ 1832 h 1916"/>
                <a:gd name="T58" fmla="*/ 136 w 1218"/>
                <a:gd name="T59" fmla="*/ 1751 h 1916"/>
                <a:gd name="T60" fmla="*/ 77 w 1218"/>
                <a:gd name="T61" fmla="*/ 1644 h 1916"/>
                <a:gd name="T62" fmla="*/ 33 w 1218"/>
                <a:gd name="T63" fmla="*/ 1518 h 1916"/>
                <a:gd name="T64" fmla="*/ 8 w 1218"/>
                <a:gd name="T65" fmla="*/ 1374 h 1916"/>
                <a:gd name="T66" fmla="*/ 0 w 1218"/>
                <a:gd name="T67" fmla="*/ 1219 h 1916"/>
                <a:gd name="T68" fmla="*/ 12 w 1218"/>
                <a:gd name="T69" fmla="*/ 1055 h 1916"/>
                <a:gd name="T70" fmla="*/ 39 w 1218"/>
                <a:gd name="T71" fmla="*/ 887 h 19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18" h="1916">
                  <a:moveTo>
                    <a:pt x="61" y="805"/>
                  </a:moveTo>
                  <a:lnTo>
                    <a:pt x="87" y="724"/>
                  </a:lnTo>
                  <a:lnTo>
                    <a:pt x="116" y="643"/>
                  </a:lnTo>
                  <a:lnTo>
                    <a:pt x="148" y="566"/>
                  </a:lnTo>
                  <a:lnTo>
                    <a:pt x="186" y="491"/>
                  </a:lnTo>
                  <a:lnTo>
                    <a:pt x="225" y="420"/>
                  </a:lnTo>
                  <a:lnTo>
                    <a:pt x="267" y="353"/>
                  </a:lnTo>
                  <a:lnTo>
                    <a:pt x="312" y="290"/>
                  </a:lnTo>
                  <a:lnTo>
                    <a:pt x="360" y="233"/>
                  </a:lnTo>
                  <a:lnTo>
                    <a:pt x="409" y="182"/>
                  </a:lnTo>
                  <a:lnTo>
                    <a:pt x="460" y="136"/>
                  </a:lnTo>
                  <a:lnTo>
                    <a:pt x="514" y="97"/>
                  </a:lnTo>
                  <a:lnTo>
                    <a:pt x="565" y="64"/>
                  </a:lnTo>
                  <a:lnTo>
                    <a:pt x="619" y="38"/>
                  </a:lnTo>
                  <a:lnTo>
                    <a:pt x="672" y="18"/>
                  </a:lnTo>
                  <a:lnTo>
                    <a:pt x="725" y="6"/>
                  </a:lnTo>
                  <a:lnTo>
                    <a:pt x="777" y="0"/>
                  </a:lnTo>
                  <a:lnTo>
                    <a:pt x="826" y="4"/>
                  </a:lnTo>
                  <a:lnTo>
                    <a:pt x="876" y="14"/>
                  </a:lnTo>
                  <a:lnTo>
                    <a:pt x="923" y="30"/>
                  </a:lnTo>
                  <a:lnTo>
                    <a:pt x="966" y="54"/>
                  </a:lnTo>
                  <a:lnTo>
                    <a:pt x="1008" y="85"/>
                  </a:lnTo>
                  <a:lnTo>
                    <a:pt x="1048" y="123"/>
                  </a:lnTo>
                  <a:lnTo>
                    <a:pt x="1081" y="168"/>
                  </a:lnTo>
                  <a:lnTo>
                    <a:pt x="1113" y="217"/>
                  </a:lnTo>
                  <a:lnTo>
                    <a:pt x="1142" y="272"/>
                  </a:lnTo>
                  <a:lnTo>
                    <a:pt x="1166" y="334"/>
                  </a:lnTo>
                  <a:lnTo>
                    <a:pt x="1184" y="399"/>
                  </a:lnTo>
                  <a:lnTo>
                    <a:pt x="1200" y="470"/>
                  </a:lnTo>
                  <a:lnTo>
                    <a:pt x="1212" y="543"/>
                  </a:lnTo>
                  <a:lnTo>
                    <a:pt x="1218" y="619"/>
                  </a:lnTo>
                  <a:lnTo>
                    <a:pt x="1218" y="698"/>
                  </a:lnTo>
                  <a:lnTo>
                    <a:pt x="1216" y="779"/>
                  </a:lnTo>
                  <a:lnTo>
                    <a:pt x="1208" y="862"/>
                  </a:lnTo>
                  <a:lnTo>
                    <a:pt x="1196" y="947"/>
                  </a:lnTo>
                  <a:lnTo>
                    <a:pt x="1178" y="1029"/>
                  </a:lnTo>
                  <a:lnTo>
                    <a:pt x="1156" y="1112"/>
                  </a:lnTo>
                  <a:lnTo>
                    <a:pt x="1133" y="1193"/>
                  </a:lnTo>
                  <a:lnTo>
                    <a:pt x="1103" y="1274"/>
                  </a:lnTo>
                  <a:lnTo>
                    <a:pt x="1069" y="1351"/>
                  </a:lnTo>
                  <a:lnTo>
                    <a:pt x="1034" y="1426"/>
                  </a:lnTo>
                  <a:lnTo>
                    <a:pt x="992" y="1496"/>
                  </a:lnTo>
                  <a:lnTo>
                    <a:pt x="951" y="1563"/>
                  </a:lnTo>
                  <a:lnTo>
                    <a:pt x="905" y="1627"/>
                  </a:lnTo>
                  <a:lnTo>
                    <a:pt x="858" y="1684"/>
                  </a:lnTo>
                  <a:lnTo>
                    <a:pt x="808" y="1735"/>
                  </a:lnTo>
                  <a:lnTo>
                    <a:pt x="757" y="1780"/>
                  </a:lnTo>
                  <a:lnTo>
                    <a:pt x="706" y="1820"/>
                  </a:lnTo>
                  <a:lnTo>
                    <a:pt x="652" y="1853"/>
                  </a:lnTo>
                  <a:lnTo>
                    <a:pt x="599" y="1879"/>
                  </a:lnTo>
                  <a:lnTo>
                    <a:pt x="545" y="1899"/>
                  </a:lnTo>
                  <a:lnTo>
                    <a:pt x="494" y="1910"/>
                  </a:lnTo>
                  <a:lnTo>
                    <a:pt x="443" y="1916"/>
                  </a:lnTo>
                  <a:lnTo>
                    <a:pt x="391" y="1912"/>
                  </a:lnTo>
                  <a:lnTo>
                    <a:pt x="342" y="1902"/>
                  </a:lnTo>
                  <a:lnTo>
                    <a:pt x="296" y="1887"/>
                  </a:lnTo>
                  <a:lnTo>
                    <a:pt x="251" y="1863"/>
                  </a:lnTo>
                  <a:lnTo>
                    <a:pt x="209" y="1832"/>
                  </a:lnTo>
                  <a:lnTo>
                    <a:pt x="172" y="1794"/>
                  </a:lnTo>
                  <a:lnTo>
                    <a:pt x="136" y="1751"/>
                  </a:lnTo>
                  <a:lnTo>
                    <a:pt x="105" y="1699"/>
                  </a:lnTo>
                  <a:lnTo>
                    <a:pt x="77" y="1644"/>
                  </a:lnTo>
                  <a:lnTo>
                    <a:pt x="53" y="1583"/>
                  </a:lnTo>
                  <a:lnTo>
                    <a:pt x="33" y="1518"/>
                  </a:lnTo>
                  <a:lnTo>
                    <a:pt x="18" y="1449"/>
                  </a:lnTo>
                  <a:lnTo>
                    <a:pt x="8" y="1374"/>
                  </a:lnTo>
                  <a:lnTo>
                    <a:pt x="2" y="1297"/>
                  </a:lnTo>
                  <a:lnTo>
                    <a:pt x="0" y="1219"/>
                  </a:lnTo>
                  <a:lnTo>
                    <a:pt x="4" y="1138"/>
                  </a:lnTo>
                  <a:lnTo>
                    <a:pt x="12" y="1055"/>
                  </a:lnTo>
                  <a:lnTo>
                    <a:pt x="24" y="972"/>
                  </a:lnTo>
                  <a:lnTo>
                    <a:pt x="39" y="887"/>
                  </a:lnTo>
                  <a:lnTo>
                    <a:pt x="61" y="805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44577" name="Text Box 33"/>
          <p:cNvSpPr txBox="1">
            <a:spLocks noChangeArrowheads="1"/>
          </p:cNvSpPr>
          <p:nvPr/>
        </p:nvSpPr>
        <p:spPr bwMode="auto">
          <a:xfrm>
            <a:off x="3387725" y="2590800"/>
            <a:ext cx="1676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MIN</a:t>
            </a:r>
          </a:p>
        </p:txBody>
      </p:sp>
      <p:sp>
        <p:nvSpPr>
          <p:cNvPr id="1644578" name="Text Box 34"/>
          <p:cNvSpPr txBox="1">
            <a:spLocks noChangeArrowheads="1"/>
          </p:cNvSpPr>
          <p:nvPr/>
        </p:nvSpPr>
        <p:spPr bwMode="auto">
          <a:xfrm>
            <a:off x="5292725" y="2590800"/>
            <a:ext cx="1752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MAX</a:t>
            </a:r>
          </a:p>
        </p:txBody>
      </p:sp>
      <p:grpSp>
        <p:nvGrpSpPr>
          <p:cNvPr id="1644579" name="Group 35"/>
          <p:cNvGrpSpPr>
            <a:grpSpLocks noChangeAspect="1"/>
          </p:cNvGrpSpPr>
          <p:nvPr/>
        </p:nvGrpSpPr>
        <p:grpSpPr bwMode="auto">
          <a:xfrm>
            <a:off x="954088" y="4502150"/>
            <a:ext cx="1978025" cy="1795463"/>
            <a:chOff x="438" y="1309"/>
            <a:chExt cx="1937" cy="1757"/>
          </a:xfrm>
        </p:grpSpPr>
        <p:sp>
          <p:nvSpPr>
            <p:cNvPr id="1644580" name="Freeform 36"/>
            <p:cNvSpPr>
              <a:spLocks noChangeAspect="1"/>
            </p:cNvSpPr>
            <p:nvPr/>
          </p:nvSpPr>
          <p:spPr bwMode="auto">
            <a:xfrm>
              <a:off x="1038" y="2002"/>
              <a:ext cx="88" cy="87"/>
            </a:xfrm>
            <a:custGeom>
              <a:avLst/>
              <a:gdLst>
                <a:gd name="T0" fmla="*/ 0 w 88"/>
                <a:gd name="T1" fmla="*/ 43 h 87"/>
                <a:gd name="T2" fmla="*/ 4 w 88"/>
                <a:gd name="T3" fmla="*/ 26 h 87"/>
                <a:gd name="T4" fmla="*/ 13 w 88"/>
                <a:gd name="T5" fmla="*/ 13 h 87"/>
                <a:gd name="T6" fmla="*/ 28 w 88"/>
                <a:gd name="T7" fmla="*/ 2 h 87"/>
                <a:gd name="T8" fmla="*/ 45 w 88"/>
                <a:gd name="T9" fmla="*/ 0 h 87"/>
                <a:gd name="T10" fmla="*/ 62 w 88"/>
                <a:gd name="T11" fmla="*/ 2 h 87"/>
                <a:gd name="T12" fmla="*/ 75 w 88"/>
                <a:gd name="T13" fmla="*/ 13 h 87"/>
                <a:gd name="T14" fmla="*/ 86 w 88"/>
                <a:gd name="T15" fmla="*/ 26 h 87"/>
                <a:gd name="T16" fmla="*/ 88 w 88"/>
                <a:gd name="T17" fmla="*/ 43 h 87"/>
                <a:gd name="T18" fmla="*/ 86 w 88"/>
                <a:gd name="T19" fmla="*/ 61 h 87"/>
                <a:gd name="T20" fmla="*/ 75 w 88"/>
                <a:gd name="T21" fmla="*/ 74 h 87"/>
                <a:gd name="T22" fmla="*/ 62 w 88"/>
                <a:gd name="T23" fmla="*/ 84 h 87"/>
                <a:gd name="T24" fmla="*/ 45 w 88"/>
                <a:gd name="T25" fmla="*/ 87 h 87"/>
                <a:gd name="T26" fmla="*/ 28 w 88"/>
                <a:gd name="T27" fmla="*/ 84 h 87"/>
                <a:gd name="T28" fmla="*/ 13 w 88"/>
                <a:gd name="T29" fmla="*/ 74 h 87"/>
                <a:gd name="T30" fmla="*/ 4 w 88"/>
                <a:gd name="T31" fmla="*/ 61 h 87"/>
                <a:gd name="T32" fmla="*/ 0 w 88"/>
                <a:gd name="T33" fmla="*/ 4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8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5" y="13"/>
                  </a:lnTo>
                  <a:lnTo>
                    <a:pt x="86" y="26"/>
                  </a:lnTo>
                  <a:lnTo>
                    <a:pt x="88" y="43"/>
                  </a:lnTo>
                  <a:lnTo>
                    <a:pt x="86" y="61"/>
                  </a:lnTo>
                  <a:lnTo>
                    <a:pt x="75" y="74"/>
                  </a:lnTo>
                  <a:lnTo>
                    <a:pt x="62" y="84"/>
                  </a:lnTo>
                  <a:lnTo>
                    <a:pt x="45" y="87"/>
                  </a:lnTo>
                  <a:lnTo>
                    <a:pt x="28" y="84"/>
                  </a:lnTo>
                  <a:lnTo>
                    <a:pt x="13" y="74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581" name="Freeform 37"/>
            <p:cNvSpPr>
              <a:spLocks noChangeAspect="1"/>
            </p:cNvSpPr>
            <p:nvPr/>
          </p:nvSpPr>
          <p:spPr bwMode="auto">
            <a:xfrm>
              <a:off x="1860" y="1361"/>
              <a:ext cx="89" cy="88"/>
            </a:xfrm>
            <a:custGeom>
              <a:avLst/>
              <a:gdLst>
                <a:gd name="T0" fmla="*/ 0 w 89"/>
                <a:gd name="T1" fmla="*/ 43 h 88"/>
                <a:gd name="T2" fmla="*/ 4 w 89"/>
                <a:gd name="T3" fmla="*/ 26 h 88"/>
                <a:gd name="T4" fmla="*/ 13 w 89"/>
                <a:gd name="T5" fmla="*/ 13 h 88"/>
                <a:gd name="T6" fmla="*/ 28 w 89"/>
                <a:gd name="T7" fmla="*/ 2 h 88"/>
                <a:gd name="T8" fmla="*/ 45 w 89"/>
                <a:gd name="T9" fmla="*/ 0 h 88"/>
                <a:gd name="T10" fmla="*/ 63 w 89"/>
                <a:gd name="T11" fmla="*/ 2 h 88"/>
                <a:gd name="T12" fmla="*/ 76 w 89"/>
                <a:gd name="T13" fmla="*/ 13 h 88"/>
                <a:gd name="T14" fmla="*/ 86 w 89"/>
                <a:gd name="T15" fmla="*/ 26 h 88"/>
                <a:gd name="T16" fmla="*/ 89 w 89"/>
                <a:gd name="T17" fmla="*/ 43 h 88"/>
                <a:gd name="T18" fmla="*/ 86 w 89"/>
                <a:gd name="T19" fmla="*/ 60 h 88"/>
                <a:gd name="T20" fmla="*/ 76 w 89"/>
                <a:gd name="T21" fmla="*/ 76 h 88"/>
                <a:gd name="T22" fmla="*/ 63 w 89"/>
                <a:gd name="T23" fmla="*/ 84 h 88"/>
                <a:gd name="T24" fmla="*/ 45 w 89"/>
                <a:gd name="T25" fmla="*/ 88 h 88"/>
                <a:gd name="T26" fmla="*/ 28 w 89"/>
                <a:gd name="T27" fmla="*/ 84 h 88"/>
                <a:gd name="T28" fmla="*/ 13 w 89"/>
                <a:gd name="T29" fmla="*/ 76 h 88"/>
                <a:gd name="T30" fmla="*/ 4 w 89"/>
                <a:gd name="T31" fmla="*/ 60 h 88"/>
                <a:gd name="T32" fmla="*/ 0 w 89"/>
                <a:gd name="T33" fmla="*/ 43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88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3" y="2"/>
                  </a:lnTo>
                  <a:lnTo>
                    <a:pt x="76" y="13"/>
                  </a:lnTo>
                  <a:lnTo>
                    <a:pt x="86" y="26"/>
                  </a:lnTo>
                  <a:lnTo>
                    <a:pt x="89" y="43"/>
                  </a:lnTo>
                  <a:lnTo>
                    <a:pt x="86" y="60"/>
                  </a:lnTo>
                  <a:lnTo>
                    <a:pt x="76" y="76"/>
                  </a:lnTo>
                  <a:lnTo>
                    <a:pt x="63" y="84"/>
                  </a:lnTo>
                  <a:lnTo>
                    <a:pt x="45" y="88"/>
                  </a:lnTo>
                  <a:lnTo>
                    <a:pt x="28" y="84"/>
                  </a:lnTo>
                  <a:lnTo>
                    <a:pt x="13" y="76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582" name="Freeform 38"/>
            <p:cNvSpPr>
              <a:spLocks noChangeAspect="1"/>
            </p:cNvSpPr>
            <p:nvPr/>
          </p:nvSpPr>
          <p:spPr bwMode="auto">
            <a:xfrm>
              <a:off x="1260" y="2875"/>
              <a:ext cx="89" cy="88"/>
            </a:xfrm>
            <a:custGeom>
              <a:avLst/>
              <a:gdLst>
                <a:gd name="T0" fmla="*/ 0 w 89"/>
                <a:gd name="T1" fmla="*/ 45 h 88"/>
                <a:gd name="T2" fmla="*/ 5 w 89"/>
                <a:gd name="T3" fmla="*/ 28 h 88"/>
                <a:gd name="T4" fmla="*/ 13 w 89"/>
                <a:gd name="T5" fmla="*/ 12 h 88"/>
                <a:gd name="T6" fmla="*/ 29 w 89"/>
                <a:gd name="T7" fmla="*/ 4 h 88"/>
                <a:gd name="T8" fmla="*/ 46 w 89"/>
                <a:gd name="T9" fmla="*/ 0 h 88"/>
                <a:gd name="T10" fmla="*/ 63 w 89"/>
                <a:gd name="T11" fmla="*/ 4 h 88"/>
                <a:gd name="T12" fmla="*/ 76 w 89"/>
                <a:gd name="T13" fmla="*/ 12 h 88"/>
                <a:gd name="T14" fmla="*/ 87 w 89"/>
                <a:gd name="T15" fmla="*/ 28 h 88"/>
                <a:gd name="T16" fmla="*/ 89 w 89"/>
                <a:gd name="T17" fmla="*/ 45 h 88"/>
                <a:gd name="T18" fmla="*/ 87 w 89"/>
                <a:gd name="T19" fmla="*/ 62 h 88"/>
                <a:gd name="T20" fmla="*/ 76 w 89"/>
                <a:gd name="T21" fmla="*/ 75 h 88"/>
                <a:gd name="T22" fmla="*/ 63 w 89"/>
                <a:gd name="T23" fmla="*/ 86 h 88"/>
                <a:gd name="T24" fmla="*/ 46 w 89"/>
                <a:gd name="T25" fmla="*/ 88 h 88"/>
                <a:gd name="T26" fmla="*/ 29 w 89"/>
                <a:gd name="T27" fmla="*/ 86 h 88"/>
                <a:gd name="T28" fmla="*/ 13 w 89"/>
                <a:gd name="T29" fmla="*/ 75 h 88"/>
                <a:gd name="T30" fmla="*/ 5 w 89"/>
                <a:gd name="T31" fmla="*/ 62 h 88"/>
                <a:gd name="T32" fmla="*/ 0 w 89"/>
                <a:gd name="T33" fmla="*/ 45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88">
                  <a:moveTo>
                    <a:pt x="0" y="45"/>
                  </a:moveTo>
                  <a:lnTo>
                    <a:pt x="5" y="28"/>
                  </a:lnTo>
                  <a:lnTo>
                    <a:pt x="13" y="12"/>
                  </a:lnTo>
                  <a:lnTo>
                    <a:pt x="29" y="4"/>
                  </a:lnTo>
                  <a:lnTo>
                    <a:pt x="46" y="0"/>
                  </a:lnTo>
                  <a:lnTo>
                    <a:pt x="63" y="4"/>
                  </a:lnTo>
                  <a:lnTo>
                    <a:pt x="76" y="12"/>
                  </a:lnTo>
                  <a:lnTo>
                    <a:pt x="87" y="28"/>
                  </a:lnTo>
                  <a:lnTo>
                    <a:pt x="89" y="45"/>
                  </a:lnTo>
                  <a:lnTo>
                    <a:pt x="87" y="62"/>
                  </a:lnTo>
                  <a:lnTo>
                    <a:pt x="76" y="75"/>
                  </a:lnTo>
                  <a:lnTo>
                    <a:pt x="63" y="86"/>
                  </a:lnTo>
                  <a:lnTo>
                    <a:pt x="46" y="88"/>
                  </a:lnTo>
                  <a:lnTo>
                    <a:pt x="29" y="86"/>
                  </a:lnTo>
                  <a:lnTo>
                    <a:pt x="13" y="75"/>
                  </a:lnTo>
                  <a:lnTo>
                    <a:pt x="5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583" name="Freeform 39"/>
            <p:cNvSpPr>
              <a:spLocks noChangeAspect="1"/>
            </p:cNvSpPr>
            <p:nvPr/>
          </p:nvSpPr>
          <p:spPr bwMode="auto">
            <a:xfrm>
              <a:off x="438" y="1875"/>
              <a:ext cx="87" cy="88"/>
            </a:xfrm>
            <a:custGeom>
              <a:avLst/>
              <a:gdLst>
                <a:gd name="T0" fmla="*/ 0 w 87"/>
                <a:gd name="T1" fmla="*/ 45 h 88"/>
                <a:gd name="T2" fmla="*/ 2 w 87"/>
                <a:gd name="T3" fmla="*/ 28 h 88"/>
                <a:gd name="T4" fmla="*/ 11 w 87"/>
                <a:gd name="T5" fmla="*/ 13 h 88"/>
                <a:gd name="T6" fmla="*/ 26 w 87"/>
                <a:gd name="T7" fmla="*/ 4 h 88"/>
                <a:gd name="T8" fmla="*/ 44 w 87"/>
                <a:gd name="T9" fmla="*/ 0 h 88"/>
                <a:gd name="T10" fmla="*/ 61 w 87"/>
                <a:gd name="T11" fmla="*/ 4 h 88"/>
                <a:gd name="T12" fmla="*/ 74 w 87"/>
                <a:gd name="T13" fmla="*/ 13 h 88"/>
                <a:gd name="T14" fmla="*/ 85 w 87"/>
                <a:gd name="T15" fmla="*/ 28 h 88"/>
                <a:gd name="T16" fmla="*/ 87 w 87"/>
                <a:gd name="T17" fmla="*/ 45 h 88"/>
                <a:gd name="T18" fmla="*/ 85 w 87"/>
                <a:gd name="T19" fmla="*/ 62 h 88"/>
                <a:gd name="T20" fmla="*/ 74 w 87"/>
                <a:gd name="T21" fmla="*/ 75 h 88"/>
                <a:gd name="T22" fmla="*/ 61 w 87"/>
                <a:gd name="T23" fmla="*/ 86 h 88"/>
                <a:gd name="T24" fmla="*/ 44 w 87"/>
                <a:gd name="T25" fmla="*/ 88 h 88"/>
                <a:gd name="T26" fmla="*/ 26 w 87"/>
                <a:gd name="T27" fmla="*/ 86 h 88"/>
                <a:gd name="T28" fmla="*/ 11 w 87"/>
                <a:gd name="T29" fmla="*/ 75 h 88"/>
                <a:gd name="T30" fmla="*/ 2 w 87"/>
                <a:gd name="T31" fmla="*/ 62 h 88"/>
                <a:gd name="T32" fmla="*/ 0 w 87"/>
                <a:gd name="T33" fmla="*/ 45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" h="88">
                  <a:moveTo>
                    <a:pt x="0" y="45"/>
                  </a:moveTo>
                  <a:lnTo>
                    <a:pt x="2" y="28"/>
                  </a:lnTo>
                  <a:lnTo>
                    <a:pt x="11" y="13"/>
                  </a:lnTo>
                  <a:lnTo>
                    <a:pt x="26" y="4"/>
                  </a:lnTo>
                  <a:lnTo>
                    <a:pt x="44" y="0"/>
                  </a:lnTo>
                  <a:lnTo>
                    <a:pt x="61" y="4"/>
                  </a:lnTo>
                  <a:lnTo>
                    <a:pt x="74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4" y="75"/>
                  </a:lnTo>
                  <a:lnTo>
                    <a:pt x="61" y="86"/>
                  </a:lnTo>
                  <a:lnTo>
                    <a:pt x="44" y="88"/>
                  </a:lnTo>
                  <a:lnTo>
                    <a:pt x="26" y="86"/>
                  </a:lnTo>
                  <a:lnTo>
                    <a:pt x="11" y="75"/>
                  </a:lnTo>
                  <a:lnTo>
                    <a:pt x="2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584" name="Freeform 40"/>
            <p:cNvSpPr>
              <a:spLocks noChangeAspect="1"/>
            </p:cNvSpPr>
            <p:nvPr/>
          </p:nvSpPr>
          <p:spPr bwMode="auto">
            <a:xfrm>
              <a:off x="1617" y="2309"/>
              <a:ext cx="89" cy="88"/>
            </a:xfrm>
            <a:custGeom>
              <a:avLst/>
              <a:gdLst>
                <a:gd name="T0" fmla="*/ 0 w 89"/>
                <a:gd name="T1" fmla="*/ 45 h 88"/>
                <a:gd name="T2" fmla="*/ 5 w 89"/>
                <a:gd name="T3" fmla="*/ 28 h 88"/>
                <a:gd name="T4" fmla="*/ 13 w 89"/>
                <a:gd name="T5" fmla="*/ 13 h 88"/>
                <a:gd name="T6" fmla="*/ 29 w 89"/>
                <a:gd name="T7" fmla="*/ 4 h 88"/>
                <a:gd name="T8" fmla="*/ 46 w 89"/>
                <a:gd name="T9" fmla="*/ 0 h 88"/>
                <a:gd name="T10" fmla="*/ 61 w 89"/>
                <a:gd name="T11" fmla="*/ 4 h 88"/>
                <a:gd name="T12" fmla="*/ 76 w 89"/>
                <a:gd name="T13" fmla="*/ 13 h 88"/>
                <a:gd name="T14" fmla="*/ 85 w 89"/>
                <a:gd name="T15" fmla="*/ 28 h 88"/>
                <a:gd name="T16" fmla="*/ 89 w 89"/>
                <a:gd name="T17" fmla="*/ 45 h 88"/>
                <a:gd name="T18" fmla="*/ 85 w 89"/>
                <a:gd name="T19" fmla="*/ 62 h 88"/>
                <a:gd name="T20" fmla="*/ 76 w 89"/>
                <a:gd name="T21" fmla="*/ 75 h 88"/>
                <a:gd name="T22" fmla="*/ 61 w 89"/>
                <a:gd name="T23" fmla="*/ 86 h 88"/>
                <a:gd name="T24" fmla="*/ 46 w 89"/>
                <a:gd name="T25" fmla="*/ 88 h 88"/>
                <a:gd name="T26" fmla="*/ 29 w 89"/>
                <a:gd name="T27" fmla="*/ 86 h 88"/>
                <a:gd name="T28" fmla="*/ 13 w 89"/>
                <a:gd name="T29" fmla="*/ 75 h 88"/>
                <a:gd name="T30" fmla="*/ 5 w 89"/>
                <a:gd name="T31" fmla="*/ 62 h 88"/>
                <a:gd name="T32" fmla="*/ 0 w 89"/>
                <a:gd name="T33" fmla="*/ 45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88">
                  <a:moveTo>
                    <a:pt x="0" y="45"/>
                  </a:moveTo>
                  <a:lnTo>
                    <a:pt x="5" y="28"/>
                  </a:lnTo>
                  <a:lnTo>
                    <a:pt x="13" y="13"/>
                  </a:lnTo>
                  <a:lnTo>
                    <a:pt x="29" y="4"/>
                  </a:lnTo>
                  <a:lnTo>
                    <a:pt x="46" y="0"/>
                  </a:lnTo>
                  <a:lnTo>
                    <a:pt x="61" y="4"/>
                  </a:lnTo>
                  <a:lnTo>
                    <a:pt x="76" y="13"/>
                  </a:lnTo>
                  <a:lnTo>
                    <a:pt x="85" y="28"/>
                  </a:lnTo>
                  <a:lnTo>
                    <a:pt x="89" y="45"/>
                  </a:lnTo>
                  <a:lnTo>
                    <a:pt x="85" y="62"/>
                  </a:lnTo>
                  <a:lnTo>
                    <a:pt x="76" y="75"/>
                  </a:lnTo>
                  <a:lnTo>
                    <a:pt x="61" y="86"/>
                  </a:lnTo>
                  <a:lnTo>
                    <a:pt x="46" y="88"/>
                  </a:lnTo>
                  <a:lnTo>
                    <a:pt x="29" y="86"/>
                  </a:lnTo>
                  <a:lnTo>
                    <a:pt x="13" y="75"/>
                  </a:lnTo>
                  <a:lnTo>
                    <a:pt x="5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585" name="Freeform 41"/>
            <p:cNvSpPr>
              <a:spLocks noChangeAspect="1"/>
            </p:cNvSpPr>
            <p:nvPr/>
          </p:nvSpPr>
          <p:spPr bwMode="auto">
            <a:xfrm>
              <a:off x="2100" y="2369"/>
              <a:ext cx="89" cy="89"/>
            </a:xfrm>
            <a:custGeom>
              <a:avLst/>
              <a:gdLst>
                <a:gd name="T0" fmla="*/ 0 w 89"/>
                <a:gd name="T1" fmla="*/ 43 h 89"/>
                <a:gd name="T2" fmla="*/ 4 w 89"/>
                <a:gd name="T3" fmla="*/ 26 h 89"/>
                <a:gd name="T4" fmla="*/ 13 w 89"/>
                <a:gd name="T5" fmla="*/ 13 h 89"/>
                <a:gd name="T6" fmla="*/ 28 w 89"/>
                <a:gd name="T7" fmla="*/ 2 h 89"/>
                <a:gd name="T8" fmla="*/ 45 w 89"/>
                <a:gd name="T9" fmla="*/ 0 h 89"/>
                <a:gd name="T10" fmla="*/ 63 w 89"/>
                <a:gd name="T11" fmla="*/ 2 h 89"/>
                <a:gd name="T12" fmla="*/ 76 w 89"/>
                <a:gd name="T13" fmla="*/ 13 h 89"/>
                <a:gd name="T14" fmla="*/ 87 w 89"/>
                <a:gd name="T15" fmla="*/ 26 h 89"/>
                <a:gd name="T16" fmla="*/ 89 w 89"/>
                <a:gd name="T17" fmla="*/ 43 h 89"/>
                <a:gd name="T18" fmla="*/ 87 w 89"/>
                <a:gd name="T19" fmla="*/ 61 h 89"/>
                <a:gd name="T20" fmla="*/ 76 w 89"/>
                <a:gd name="T21" fmla="*/ 76 h 89"/>
                <a:gd name="T22" fmla="*/ 63 w 89"/>
                <a:gd name="T23" fmla="*/ 84 h 89"/>
                <a:gd name="T24" fmla="*/ 45 w 89"/>
                <a:gd name="T25" fmla="*/ 89 h 89"/>
                <a:gd name="T26" fmla="*/ 28 w 89"/>
                <a:gd name="T27" fmla="*/ 84 h 89"/>
                <a:gd name="T28" fmla="*/ 13 w 89"/>
                <a:gd name="T29" fmla="*/ 76 h 89"/>
                <a:gd name="T30" fmla="*/ 4 w 89"/>
                <a:gd name="T31" fmla="*/ 61 h 89"/>
                <a:gd name="T32" fmla="*/ 0 w 89"/>
                <a:gd name="T33" fmla="*/ 43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89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3" y="2"/>
                  </a:lnTo>
                  <a:lnTo>
                    <a:pt x="76" y="13"/>
                  </a:lnTo>
                  <a:lnTo>
                    <a:pt x="87" y="26"/>
                  </a:lnTo>
                  <a:lnTo>
                    <a:pt x="89" y="43"/>
                  </a:lnTo>
                  <a:lnTo>
                    <a:pt x="87" y="61"/>
                  </a:lnTo>
                  <a:lnTo>
                    <a:pt x="76" y="76"/>
                  </a:lnTo>
                  <a:lnTo>
                    <a:pt x="63" y="84"/>
                  </a:lnTo>
                  <a:lnTo>
                    <a:pt x="45" y="89"/>
                  </a:lnTo>
                  <a:lnTo>
                    <a:pt x="28" y="84"/>
                  </a:lnTo>
                  <a:lnTo>
                    <a:pt x="13" y="76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586" name="Rectangle 42"/>
            <p:cNvSpPr>
              <a:spLocks noChangeAspect="1" noChangeArrowheads="1"/>
            </p:cNvSpPr>
            <p:nvPr/>
          </p:nvSpPr>
          <p:spPr bwMode="auto">
            <a:xfrm>
              <a:off x="1971" y="1309"/>
              <a:ext cx="9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1</a:t>
              </a:r>
              <a:endParaRPr lang="en-US" sz="1600"/>
            </a:p>
          </p:txBody>
        </p:sp>
        <p:sp>
          <p:nvSpPr>
            <p:cNvPr id="1644587" name="Rectangle 43"/>
            <p:cNvSpPr>
              <a:spLocks noChangeAspect="1" noChangeArrowheads="1"/>
            </p:cNvSpPr>
            <p:nvPr/>
          </p:nvSpPr>
          <p:spPr bwMode="auto">
            <a:xfrm>
              <a:off x="1155" y="1945"/>
              <a:ext cx="9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2</a:t>
              </a:r>
              <a:endParaRPr lang="en-US" sz="1600"/>
            </a:p>
          </p:txBody>
        </p:sp>
        <p:sp>
          <p:nvSpPr>
            <p:cNvPr id="1644588" name="Rectangle 44"/>
            <p:cNvSpPr>
              <a:spLocks noChangeAspect="1" noChangeArrowheads="1"/>
            </p:cNvSpPr>
            <p:nvPr/>
          </p:nvSpPr>
          <p:spPr bwMode="auto">
            <a:xfrm>
              <a:off x="1775" y="2262"/>
              <a:ext cx="9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3</a:t>
              </a:r>
              <a:endParaRPr lang="en-US" sz="1600"/>
            </a:p>
          </p:txBody>
        </p:sp>
        <p:sp>
          <p:nvSpPr>
            <p:cNvPr id="1644589" name="Rectangle 45"/>
            <p:cNvSpPr>
              <a:spLocks noChangeAspect="1" noChangeArrowheads="1"/>
            </p:cNvSpPr>
            <p:nvPr/>
          </p:nvSpPr>
          <p:spPr bwMode="auto">
            <a:xfrm>
              <a:off x="1388" y="2827"/>
              <a:ext cx="9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4</a:t>
              </a:r>
              <a:endParaRPr lang="en-US" sz="1600"/>
            </a:p>
          </p:txBody>
        </p:sp>
        <p:sp>
          <p:nvSpPr>
            <p:cNvPr id="1644590" name="Rectangle 46"/>
            <p:cNvSpPr>
              <a:spLocks noChangeAspect="1" noChangeArrowheads="1"/>
            </p:cNvSpPr>
            <p:nvPr/>
          </p:nvSpPr>
          <p:spPr bwMode="auto">
            <a:xfrm>
              <a:off x="572" y="1817"/>
              <a:ext cx="9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5</a:t>
              </a:r>
              <a:endParaRPr lang="en-US" sz="1600"/>
            </a:p>
          </p:txBody>
        </p:sp>
        <p:sp>
          <p:nvSpPr>
            <p:cNvPr id="1644591" name="Rectangle 47"/>
            <p:cNvSpPr>
              <a:spLocks noChangeAspect="1" noChangeArrowheads="1"/>
            </p:cNvSpPr>
            <p:nvPr/>
          </p:nvSpPr>
          <p:spPr bwMode="auto">
            <a:xfrm>
              <a:off x="2275" y="2316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6</a:t>
              </a:r>
              <a:endParaRPr lang="en-US" sz="1600"/>
            </a:p>
          </p:txBody>
        </p:sp>
      </p:grpSp>
      <p:grpSp>
        <p:nvGrpSpPr>
          <p:cNvPr id="1644592" name="Group 48"/>
          <p:cNvGrpSpPr>
            <a:grpSpLocks noChangeAspect="1"/>
          </p:cNvGrpSpPr>
          <p:nvPr/>
        </p:nvGrpSpPr>
        <p:grpSpPr bwMode="auto">
          <a:xfrm>
            <a:off x="2076450" y="5408613"/>
            <a:ext cx="917575" cy="617537"/>
            <a:chOff x="1537" y="2197"/>
            <a:chExt cx="898" cy="604"/>
          </a:xfrm>
        </p:grpSpPr>
        <p:sp>
          <p:nvSpPr>
            <p:cNvPr id="1644593" name="Freeform 49"/>
            <p:cNvSpPr>
              <a:spLocks noChangeAspect="1"/>
            </p:cNvSpPr>
            <p:nvPr/>
          </p:nvSpPr>
          <p:spPr bwMode="auto">
            <a:xfrm>
              <a:off x="1537" y="2197"/>
              <a:ext cx="898" cy="375"/>
            </a:xfrm>
            <a:custGeom>
              <a:avLst/>
              <a:gdLst>
                <a:gd name="T0" fmla="*/ 450 w 898"/>
                <a:gd name="T1" fmla="*/ 0 h 375"/>
                <a:gd name="T2" fmla="*/ 511 w 898"/>
                <a:gd name="T3" fmla="*/ 2 h 375"/>
                <a:gd name="T4" fmla="*/ 572 w 898"/>
                <a:gd name="T5" fmla="*/ 6 h 375"/>
                <a:gd name="T6" fmla="*/ 630 w 898"/>
                <a:gd name="T7" fmla="*/ 15 h 375"/>
                <a:gd name="T8" fmla="*/ 684 w 898"/>
                <a:gd name="T9" fmla="*/ 28 h 375"/>
                <a:gd name="T10" fmla="*/ 734 w 898"/>
                <a:gd name="T11" fmla="*/ 43 h 375"/>
                <a:gd name="T12" fmla="*/ 779 w 898"/>
                <a:gd name="T13" fmla="*/ 60 h 375"/>
                <a:gd name="T14" fmla="*/ 818 w 898"/>
                <a:gd name="T15" fmla="*/ 79 h 375"/>
                <a:gd name="T16" fmla="*/ 851 w 898"/>
                <a:gd name="T17" fmla="*/ 101 h 375"/>
                <a:gd name="T18" fmla="*/ 875 w 898"/>
                <a:gd name="T19" fmla="*/ 125 h 375"/>
                <a:gd name="T20" fmla="*/ 892 w 898"/>
                <a:gd name="T21" fmla="*/ 149 h 375"/>
                <a:gd name="T22" fmla="*/ 898 w 898"/>
                <a:gd name="T23" fmla="*/ 174 h 375"/>
                <a:gd name="T24" fmla="*/ 898 w 898"/>
                <a:gd name="T25" fmla="*/ 200 h 375"/>
                <a:gd name="T26" fmla="*/ 892 w 898"/>
                <a:gd name="T27" fmla="*/ 226 h 375"/>
                <a:gd name="T28" fmla="*/ 875 w 898"/>
                <a:gd name="T29" fmla="*/ 250 h 375"/>
                <a:gd name="T30" fmla="*/ 851 w 898"/>
                <a:gd name="T31" fmla="*/ 274 h 375"/>
                <a:gd name="T32" fmla="*/ 818 w 898"/>
                <a:gd name="T33" fmla="*/ 295 h 375"/>
                <a:gd name="T34" fmla="*/ 779 w 898"/>
                <a:gd name="T35" fmla="*/ 315 h 375"/>
                <a:gd name="T36" fmla="*/ 734 w 898"/>
                <a:gd name="T37" fmla="*/ 332 h 375"/>
                <a:gd name="T38" fmla="*/ 684 w 898"/>
                <a:gd name="T39" fmla="*/ 347 h 375"/>
                <a:gd name="T40" fmla="*/ 630 w 898"/>
                <a:gd name="T41" fmla="*/ 360 h 375"/>
                <a:gd name="T42" fmla="*/ 572 w 898"/>
                <a:gd name="T43" fmla="*/ 369 h 375"/>
                <a:gd name="T44" fmla="*/ 511 w 898"/>
                <a:gd name="T45" fmla="*/ 373 h 375"/>
                <a:gd name="T46" fmla="*/ 450 w 898"/>
                <a:gd name="T47" fmla="*/ 375 h 375"/>
                <a:gd name="T48" fmla="*/ 390 w 898"/>
                <a:gd name="T49" fmla="*/ 373 h 375"/>
                <a:gd name="T50" fmla="*/ 329 w 898"/>
                <a:gd name="T51" fmla="*/ 369 h 375"/>
                <a:gd name="T52" fmla="*/ 271 w 898"/>
                <a:gd name="T53" fmla="*/ 360 h 375"/>
                <a:gd name="T54" fmla="*/ 217 w 898"/>
                <a:gd name="T55" fmla="*/ 347 h 375"/>
                <a:gd name="T56" fmla="*/ 167 w 898"/>
                <a:gd name="T57" fmla="*/ 332 h 375"/>
                <a:gd name="T58" fmla="*/ 122 w 898"/>
                <a:gd name="T59" fmla="*/ 315 h 375"/>
                <a:gd name="T60" fmla="*/ 83 w 898"/>
                <a:gd name="T61" fmla="*/ 295 h 375"/>
                <a:gd name="T62" fmla="*/ 50 w 898"/>
                <a:gd name="T63" fmla="*/ 274 h 375"/>
                <a:gd name="T64" fmla="*/ 26 w 898"/>
                <a:gd name="T65" fmla="*/ 250 h 375"/>
                <a:gd name="T66" fmla="*/ 9 w 898"/>
                <a:gd name="T67" fmla="*/ 226 h 375"/>
                <a:gd name="T68" fmla="*/ 0 w 898"/>
                <a:gd name="T69" fmla="*/ 200 h 375"/>
                <a:gd name="T70" fmla="*/ 0 w 898"/>
                <a:gd name="T71" fmla="*/ 174 h 375"/>
                <a:gd name="T72" fmla="*/ 9 w 898"/>
                <a:gd name="T73" fmla="*/ 149 h 375"/>
                <a:gd name="T74" fmla="*/ 26 w 898"/>
                <a:gd name="T75" fmla="*/ 125 h 375"/>
                <a:gd name="T76" fmla="*/ 50 w 898"/>
                <a:gd name="T77" fmla="*/ 101 h 375"/>
                <a:gd name="T78" fmla="*/ 83 w 898"/>
                <a:gd name="T79" fmla="*/ 79 h 375"/>
                <a:gd name="T80" fmla="*/ 122 w 898"/>
                <a:gd name="T81" fmla="*/ 60 h 375"/>
                <a:gd name="T82" fmla="*/ 167 w 898"/>
                <a:gd name="T83" fmla="*/ 43 h 375"/>
                <a:gd name="T84" fmla="*/ 217 w 898"/>
                <a:gd name="T85" fmla="*/ 28 h 375"/>
                <a:gd name="T86" fmla="*/ 271 w 898"/>
                <a:gd name="T87" fmla="*/ 15 h 375"/>
                <a:gd name="T88" fmla="*/ 329 w 898"/>
                <a:gd name="T89" fmla="*/ 6 h 375"/>
                <a:gd name="T90" fmla="*/ 390 w 898"/>
                <a:gd name="T91" fmla="*/ 2 h 375"/>
                <a:gd name="T92" fmla="*/ 450 w 898"/>
                <a:gd name="T93" fmla="*/ 0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98" h="375">
                  <a:moveTo>
                    <a:pt x="450" y="0"/>
                  </a:moveTo>
                  <a:lnTo>
                    <a:pt x="511" y="2"/>
                  </a:lnTo>
                  <a:lnTo>
                    <a:pt x="572" y="6"/>
                  </a:lnTo>
                  <a:lnTo>
                    <a:pt x="630" y="15"/>
                  </a:lnTo>
                  <a:lnTo>
                    <a:pt x="684" y="28"/>
                  </a:lnTo>
                  <a:lnTo>
                    <a:pt x="734" y="43"/>
                  </a:lnTo>
                  <a:lnTo>
                    <a:pt x="779" y="60"/>
                  </a:lnTo>
                  <a:lnTo>
                    <a:pt x="818" y="79"/>
                  </a:lnTo>
                  <a:lnTo>
                    <a:pt x="851" y="101"/>
                  </a:lnTo>
                  <a:lnTo>
                    <a:pt x="875" y="125"/>
                  </a:lnTo>
                  <a:lnTo>
                    <a:pt x="892" y="149"/>
                  </a:lnTo>
                  <a:lnTo>
                    <a:pt x="898" y="174"/>
                  </a:lnTo>
                  <a:lnTo>
                    <a:pt x="898" y="200"/>
                  </a:lnTo>
                  <a:lnTo>
                    <a:pt x="892" y="226"/>
                  </a:lnTo>
                  <a:lnTo>
                    <a:pt x="875" y="250"/>
                  </a:lnTo>
                  <a:lnTo>
                    <a:pt x="851" y="274"/>
                  </a:lnTo>
                  <a:lnTo>
                    <a:pt x="818" y="295"/>
                  </a:lnTo>
                  <a:lnTo>
                    <a:pt x="779" y="315"/>
                  </a:lnTo>
                  <a:lnTo>
                    <a:pt x="734" y="332"/>
                  </a:lnTo>
                  <a:lnTo>
                    <a:pt x="684" y="347"/>
                  </a:lnTo>
                  <a:lnTo>
                    <a:pt x="630" y="360"/>
                  </a:lnTo>
                  <a:lnTo>
                    <a:pt x="572" y="369"/>
                  </a:lnTo>
                  <a:lnTo>
                    <a:pt x="511" y="373"/>
                  </a:lnTo>
                  <a:lnTo>
                    <a:pt x="450" y="375"/>
                  </a:lnTo>
                  <a:lnTo>
                    <a:pt x="390" y="373"/>
                  </a:lnTo>
                  <a:lnTo>
                    <a:pt x="329" y="369"/>
                  </a:lnTo>
                  <a:lnTo>
                    <a:pt x="271" y="360"/>
                  </a:lnTo>
                  <a:lnTo>
                    <a:pt x="217" y="347"/>
                  </a:lnTo>
                  <a:lnTo>
                    <a:pt x="167" y="332"/>
                  </a:lnTo>
                  <a:lnTo>
                    <a:pt x="122" y="315"/>
                  </a:lnTo>
                  <a:lnTo>
                    <a:pt x="83" y="295"/>
                  </a:lnTo>
                  <a:lnTo>
                    <a:pt x="50" y="274"/>
                  </a:lnTo>
                  <a:lnTo>
                    <a:pt x="26" y="250"/>
                  </a:lnTo>
                  <a:lnTo>
                    <a:pt x="9" y="226"/>
                  </a:lnTo>
                  <a:lnTo>
                    <a:pt x="0" y="200"/>
                  </a:lnTo>
                  <a:lnTo>
                    <a:pt x="0" y="174"/>
                  </a:lnTo>
                  <a:lnTo>
                    <a:pt x="9" y="149"/>
                  </a:lnTo>
                  <a:lnTo>
                    <a:pt x="26" y="125"/>
                  </a:lnTo>
                  <a:lnTo>
                    <a:pt x="50" y="101"/>
                  </a:lnTo>
                  <a:lnTo>
                    <a:pt x="83" y="79"/>
                  </a:lnTo>
                  <a:lnTo>
                    <a:pt x="122" y="60"/>
                  </a:lnTo>
                  <a:lnTo>
                    <a:pt x="167" y="43"/>
                  </a:lnTo>
                  <a:lnTo>
                    <a:pt x="217" y="28"/>
                  </a:lnTo>
                  <a:lnTo>
                    <a:pt x="271" y="15"/>
                  </a:lnTo>
                  <a:lnTo>
                    <a:pt x="329" y="6"/>
                  </a:lnTo>
                  <a:lnTo>
                    <a:pt x="390" y="2"/>
                  </a:lnTo>
                  <a:lnTo>
                    <a:pt x="4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594" name="Rectangle 50"/>
            <p:cNvSpPr>
              <a:spLocks noChangeAspect="1" noChangeArrowheads="1"/>
            </p:cNvSpPr>
            <p:nvPr/>
          </p:nvSpPr>
          <p:spPr bwMode="auto">
            <a:xfrm>
              <a:off x="1910" y="2562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1</a:t>
              </a:r>
              <a:endParaRPr lang="en-US" sz="1600"/>
            </a:p>
          </p:txBody>
        </p:sp>
      </p:grpSp>
      <p:grpSp>
        <p:nvGrpSpPr>
          <p:cNvPr id="1644595" name="Group 51"/>
          <p:cNvGrpSpPr>
            <a:grpSpLocks noChangeAspect="1"/>
          </p:cNvGrpSpPr>
          <p:nvPr/>
        </p:nvGrpSpPr>
        <p:grpSpPr bwMode="auto">
          <a:xfrm>
            <a:off x="893763" y="4779963"/>
            <a:ext cx="1035050" cy="582612"/>
            <a:chOff x="380" y="1581"/>
            <a:chExt cx="1012" cy="570"/>
          </a:xfrm>
        </p:grpSpPr>
        <p:sp>
          <p:nvSpPr>
            <p:cNvPr id="1644596" name="Freeform 52"/>
            <p:cNvSpPr>
              <a:spLocks noChangeAspect="1"/>
            </p:cNvSpPr>
            <p:nvPr/>
          </p:nvSpPr>
          <p:spPr bwMode="auto">
            <a:xfrm>
              <a:off x="380" y="1760"/>
              <a:ext cx="1012" cy="391"/>
            </a:xfrm>
            <a:custGeom>
              <a:avLst/>
              <a:gdLst>
                <a:gd name="T0" fmla="*/ 523 w 1012"/>
                <a:gd name="T1" fmla="*/ 5 h 391"/>
                <a:gd name="T2" fmla="*/ 586 w 1012"/>
                <a:gd name="T3" fmla="*/ 11 h 391"/>
                <a:gd name="T4" fmla="*/ 649 w 1012"/>
                <a:gd name="T5" fmla="*/ 22 h 391"/>
                <a:gd name="T6" fmla="*/ 707 w 1012"/>
                <a:gd name="T7" fmla="*/ 35 h 391"/>
                <a:gd name="T8" fmla="*/ 766 w 1012"/>
                <a:gd name="T9" fmla="*/ 50 h 391"/>
                <a:gd name="T10" fmla="*/ 818 w 1012"/>
                <a:gd name="T11" fmla="*/ 67 h 391"/>
                <a:gd name="T12" fmla="*/ 865 w 1012"/>
                <a:gd name="T13" fmla="*/ 87 h 391"/>
                <a:gd name="T14" fmla="*/ 906 w 1012"/>
                <a:gd name="T15" fmla="*/ 108 h 391"/>
                <a:gd name="T16" fmla="*/ 943 w 1012"/>
                <a:gd name="T17" fmla="*/ 130 h 391"/>
                <a:gd name="T18" fmla="*/ 971 w 1012"/>
                <a:gd name="T19" fmla="*/ 154 h 391"/>
                <a:gd name="T20" fmla="*/ 993 w 1012"/>
                <a:gd name="T21" fmla="*/ 180 h 391"/>
                <a:gd name="T22" fmla="*/ 1006 w 1012"/>
                <a:gd name="T23" fmla="*/ 203 h 391"/>
                <a:gd name="T24" fmla="*/ 1012 w 1012"/>
                <a:gd name="T25" fmla="*/ 227 h 391"/>
                <a:gd name="T26" fmla="*/ 1010 w 1012"/>
                <a:gd name="T27" fmla="*/ 251 h 391"/>
                <a:gd name="T28" fmla="*/ 999 w 1012"/>
                <a:gd name="T29" fmla="*/ 275 h 391"/>
                <a:gd name="T30" fmla="*/ 982 w 1012"/>
                <a:gd name="T31" fmla="*/ 296 h 391"/>
                <a:gd name="T32" fmla="*/ 956 w 1012"/>
                <a:gd name="T33" fmla="*/ 318 h 391"/>
                <a:gd name="T34" fmla="*/ 924 w 1012"/>
                <a:gd name="T35" fmla="*/ 335 h 391"/>
                <a:gd name="T36" fmla="*/ 885 w 1012"/>
                <a:gd name="T37" fmla="*/ 352 h 391"/>
                <a:gd name="T38" fmla="*/ 842 w 1012"/>
                <a:gd name="T39" fmla="*/ 365 h 391"/>
                <a:gd name="T40" fmla="*/ 790 w 1012"/>
                <a:gd name="T41" fmla="*/ 376 h 391"/>
                <a:gd name="T42" fmla="*/ 736 w 1012"/>
                <a:gd name="T43" fmla="*/ 385 h 391"/>
                <a:gd name="T44" fmla="*/ 677 w 1012"/>
                <a:gd name="T45" fmla="*/ 389 h 391"/>
                <a:gd name="T46" fmla="*/ 616 w 1012"/>
                <a:gd name="T47" fmla="*/ 391 h 391"/>
                <a:gd name="T48" fmla="*/ 554 w 1012"/>
                <a:gd name="T49" fmla="*/ 391 h 391"/>
                <a:gd name="T50" fmla="*/ 489 w 1012"/>
                <a:gd name="T51" fmla="*/ 387 h 391"/>
                <a:gd name="T52" fmla="*/ 426 w 1012"/>
                <a:gd name="T53" fmla="*/ 380 h 391"/>
                <a:gd name="T54" fmla="*/ 363 w 1012"/>
                <a:gd name="T55" fmla="*/ 370 h 391"/>
                <a:gd name="T56" fmla="*/ 305 w 1012"/>
                <a:gd name="T57" fmla="*/ 357 h 391"/>
                <a:gd name="T58" fmla="*/ 249 w 1012"/>
                <a:gd name="T59" fmla="*/ 342 h 391"/>
                <a:gd name="T60" fmla="*/ 195 w 1012"/>
                <a:gd name="T61" fmla="*/ 324 h 391"/>
                <a:gd name="T62" fmla="*/ 147 w 1012"/>
                <a:gd name="T63" fmla="*/ 305 h 391"/>
                <a:gd name="T64" fmla="*/ 106 w 1012"/>
                <a:gd name="T65" fmla="*/ 283 h 391"/>
                <a:gd name="T66" fmla="*/ 69 w 1012"/>
                <a:gd name="T67" fmla="*/ 262 h 391"/>
                <a:gd name="T68" fmla="*/ 41 w 1012"/>
                <a:gd name="T69" fmla="*/ 238 h 391"/>
                <a:gd name="T70" fmla="*/ 19 w 1012"/>
                <a:gd name="T71" fmla="*/ 212 h 391"/>
                <a:gd name="T72" fmla="*/ 6 w 1012"/>
                <a:gd name="T73" fmla="*/ 188 h 391"/>
                <a:gd name="T74" fmla="*/ 0 w 1012"/>
                <a:gd name="T75" fmla="*/ 164 h 391"/>
                <a:gd name="T76" fmla="*/ 2 w 1012"/>
                <a:gd name="T77" fmla="*/ 139 h 391"/>
                <a:gd name="T78" fmla="*/ 13 w 1012"/>
                <a:gd name="T79" fmla="*/ 117 h 391"/>
                <a:gd name="T80" fmla="*/ 30 w 1012"/>
                <a:gd name="T81" fmla="*/ 95 h 391"/>
                <a:gd name="T82" fmla="*/ 56 w 1012"/>
                <a:gd name="T83" fmla="*/ 74 h 391"/>
                <a:gd name="T84" fmla="*/ 89 w 1012"/>
                <a:gd name="T85" fmla="*/ 57 h 391"/>
                <a:gd name="T86" fmla="*/ 128 w 1012"/>
                <a:gd name="T87" fmla="*/ 39 h 391"/>
                <a:gd name="T88" fmla="*/ 171 w 1012"/>
                <a:gd name="T89" fmla="*/ 26 h 391"/>
                <a:gd name="T90" fmla="*/ 223 w 1012"/>
                <a:gd name="T91" fmla="*/ 16 h 391"/>
                <a:gd name="T92" fmla="*/ 277 w 1012"/>
                <a:gd name="T93" fmla="*/ 7 h 391"/>
                <a:gd name="T94" fmla="*/ 335 w 1012"/>
                <a:gd name="T95" fmla="*/ 3 h 391"/>
                <a:gd name="T96" fmla="*/ 396 w 1012"/>
                <a:gd name="T97" fmla="*/ 0 h 391"/>
                <a:gd name="T98" fmla="*/ 459 w 1012"/>
                <a:gd name="T99" fmla="*/ 0 h 391"/>
                <a:gd name="T100" fmla="*/ 523 w 1012"/>
                <a:gd name="T101" fmla="*/ 5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12" h="391">
                  <a:moveTo>
                    <a:pt x="523" y="5"/>
                  </a:moveTo>
                  <a:lnTo>
                    <a:pt x="586" y="11"/>
                  </a:lnTo>
                  <a:lnTo>
                    <a:pt x="649" y="22"/>
                  </a:lnTo>
                  <a:lnTo>
                    <a:pt x="707" y="35"/>
                  </a:lnTo>
                  <a:lnTo>
                    <a:pt x="766" y="50"/>
                  </a:lnTo>
                  <a:lnTo>
                    <a:pt x="818" y="67"/>
                  </a:lnTo>
                  <a:lnTo>
                    <a:pt x="865" y="87"/>
                  </a:lnTo>
                  <a:lnTo>
                    <a:pt x="906" y="108"/>
                  </a:lnTo>
                  <a:lnTo>
                    <a:pt x="943" y="130"/>
                  </a:lnTo>
                  <a:lnTo>
                    <a:pt x="971" y="154"/>
                  </a:lnTo>
                  <a:lnTo>
                    <a:pt x="993" y="180"/>
                  </a:lnTo>
                  <a:lnTo>
                    <a:pt x="1006" y="203"/>
                  </a:lnTo>
                  <a:lnTo>
                    <a:pt x="1012" y="227"/>
                  </a:lnTo>
                  <a:lnTo>
                    <a:pt x="1010" y="251"/>
                  </a:lnTo>
                  <a:lnTo>
                    <a:pt x="999" y="275"/>
                  </a:lnTo>
                  <a:lnTo>
                    <a:pt x="982" y="296"/>
                  </a:lnTo>
                  <a:lnTo>
                    <a:pt x="956" y="318"/>
                  </a:lnTo>
                  <a:lnTo>
                    <a:pt x="924" y="335"/>
                  </a:lnTo>
                  <a:lnTo>
                    <a:pt x="885" y="352"/>
                  </a:lnTo>
                  <a:lnTo>
                    <a:pt x="842" y="365"/>
                  </a:lnTo>
                  <a:lnTo>
                    <a:pt x="790" y="376"/>
                  </a:lnTo>
                  <a:lnTo>
                    <a:pt x="736" y="385"/>
                  </a:lnTo>
                  <a:lnTo>
                    <a:pt x="677" y="389"/>
                  </a:lnTo>
                  <a:lnTo>
                    <a:pt x="616" y="391"/>
                  </a:lnTo>
                  <a:lnTo>
                    <a:pt x="554" y="391"/>
                  </a:lnTo>
                  <a:lnTo>
                    <a:pt x="489" y="387"/>
                  </a:lnTo>
                  <a:lnTo>
                    <a:pt x="426" y="380"/>
                  </a:lnTo>
                  <a:lnTo>
                    <a:pt x="363" y="370"/>
                  </a:lnTo>
                  <a:lnTo>
                    <a:pt x="305" y="357"/>
                  </a:lnTo>
                  <a:lnTo>
                    <a:pt x="249" y="342"/>
                  </a:lnTo>
                  <a:lnTo>
                    <a:pt x="195" y="324"/>
                  </a:lnTo>
                  <a:lnTo>
                    <a:pt x="147" y="305"/>
                  </a:lnTo>
                  <a:lnTo>
                    <a:pt x="106" y="283"/>
                  </a:lnTo>
                  <a:lnTo>
                    <a:pt x="69" y="262"/>
                  </a:lnTo>
                  <a:lnTo>
                    <a:pt x="41" y="238"/>
                  </a:lnTo>
                  <a:lnTo>
                    <a:pt x="19" y="212"/>
                  </a:lnTo>
                  <a:lnTo>
                    <a:pt x="6" y="188"/>
                  </a:lnTo>
                  <a:lnTo>
                    <a:pt x="0" y="164"/>
                  </a:lnTo>
                  <a:lnTo>
                    <a:pt x="2" y="139"/>
                  </a:lnTo>
                  <a:lnTo>
                    <a:pt x="13" y="117"/>
                  </a:lnTo>
                  <a:lnTo>
                    <a:pt x="30" y="95"/>
                  </a:lnTo>
                  <a:lnTo>
                    <a:pt x="56" y="74"/>
                  </a:lnTo>
                  <a:lnTo>
                    <a:pt x="89" y="57"/>
                  </a:lnTo>
                  <a:lnTo>
                    <a:pt x="128" y="39"/>
                  </a:lnTo>
                  <a:lnTo>
                    <a:pt x="171" y="26"/>
                  </a:lnTo>
                  <a:lnTo>
                    <a:pt x="223" y="16"/>
                  </a:lnTo>
                  <a:lnTo>
                    <a:pt x="277" y="7"/>
                  </a:lnTo>
                  <a:lnTo>
                    <a:pt x="335" y="3"/>
                  </a:lnTo>
                  <a:lnTo>
                    <a:pt x="396" y="0"/>
                  </a:lnTo>
                  <a:lnTo>
                    <a:pt x="459" y="0"/>
                  </a:lnTo>
                  <a:lnTo>
                    <a:pt x="523" y="5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597" name="Rectangle 53"/>
            <p:cNvSpPr>
              <a:spLocks noChangeAspect="1" noChangeArrowheads="1"/>
            </p:cNvSpPr>
            <p:nvPr/>
          </p:nvSpPr>
          <p:spPr bwMode="auto">
            <a:xfrm>
              <a:off x="914" y="1581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2</a:t>
              </a:r>
              <a:endParaRPr lang="en-US" sz="1600"/>
            </a:p>
          </p:txBody>
        </p:sp>
      </p:grpSp>
      <p:grpSp>
        <p:nvGrpSpPr>
          <p:cNvPr id="1644598" name="Group 54"/>
          <p:cNvGrpSpPr>
            <a:grpSpLocks noChangeAspect="1"/>
          </p:cNvGrpSpPr>
          <p:nvPr/>
        </p:nvGrpSpPr>
        <p:grpSpPr bwMode="auto">
          <a:xfrm>
            <a:off x="668338" y="4343400"/>
            <a:ext cx="2578100" cy="2286000"/>
            <a:chOff x="159" y="1154"/>
            <a:chExt cx="2523" cy="2237"/>
          </a:xfrm>
        </p:grpSpPr>
        <p:sp>
          <p:nvSpPr>
            <p:cNvPr id="1644599" name="Rectangle 55"/>
            <p:cNvSpPr>
              <a:spLocks noChangeAspect="1" noChangeArrowheads="1"/>
            </p:cNvSpPr>
            <p:nvPr/>
          </p:nvSpPr>
          <p:spPr bwMode="auto">
            <a:xfrm>
              <a:off x="2186" y="1166"/>
              <a:ext cx="111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5</a:t>
              </a:r>
              <a:endParaRPr lang="en-US" sz="1600"/>
            </a:p>
          </p:txBody>
        </p:sp>
        <p:sp>
          <p:nvSpPr>
            <p:cNvPr id="1644600" name="Freeform 56"/>
            <p:cNvSpPr>
              <a:spLocks noChangeAspect="1"/>
            </p:cNvSpPr>
            <p:nvPr/>
          </p:nvSpPr>
          <p:spPr bwMode="auto">
            <a:xfrm>
              <a:off x="159" y="1154"/>
              <a:ext cx="2523" cy="2237"/>
            </a:xfrm>
            <a:custGeom>
              <a:avLst/>
              <a:gdLst>
                <a:gd name="T0" fmla="*/ 1363 w 2523"/>
                <a:gd name="T1" fmla="*/ 2 h 2237"/>
                <a:gd name="T2" fmla="*/ 1569 w 2523"/>
                <a:gd name="T3" fmla="*/ 32 h 2237"/>
                <a:gd name="T4" fmla="*/ 1766 w 2523"/>
                <a:gd name="T5" fmla="*/ 93 h 2237"/>
                <a:gd name="T6" fmla="*/ 1950 w 2523"/>
                <a:gd name="T7" fmla="*/ 179 h 2237"/>
                <a:gd name="T8" fmla="*/ 2114 w 2523"/>
                <a:gd name="T9" fmla="*/ 293 h 2237"/>
                <a:gd name="T10" fmla="*/ 2255 w 2523"/>
                <a:gd name="T11" fmla="*/ 429 h 2237"/>
                <a:gd name="T12" fmla="*/ 2369 w 2523"/>
                <a:gd name="T13" fmla="*/ 583 h 2237"/>
                <a:gd name="T14" fmla="*/ 2454 w 2523"/>
                <a:gd name="T15" fmla="*/ 753 h 2237"/>
                <a:gd name="T16" fmla="*/ 2506 w 2523"/>
                <a:gd name="T17" fmla="*/ 930 h 2237"/>
                <a:gd name="T18" fmla="*/ 2523 w 2523"/>
                <a:gd name="T19" fmla="*/ 1116 h 2237"/>
                <a:gd name="T20" fmla="*/ 2506 w 2523"/>
                <a:gd name="T21" fmla="*/ 1299 h 2237"/>
                <a:gd name="T22" fmla="*/ 2454 w 2523"/>
                <a:gd name="T23" fmla="*/ 1479 h 2237"/>
                <a:gd name="T24" fmla="*/ 2372 w 2523"/>
                <a:gd name="T25" fmla="*/ 1647 h 2237"/>
                <a:gd name="T26" fmla="*/ 2257 w 2523"/>
                <a:gd name="T27" fmla="*/ 1803 h 2237"/>
                <a:gd name="T28" fmla="*/ 2116 w 2523"/>
                <a:gd name="T29" fmla="*/ 1939 h 2237"/>
                <a:gd name="T30" fmla="*/ 1952 w 2523"/>
                <a:gd name="T31" fmla="*/ 2053 h 2237"/>
                <a:gd name="T32" fmla="*/ 1770 w 2523"/>
                <a:gd name="T33" fmla="*/ 2142 h 2237"/>
                <a:gd name="T34" fmla="*/ 1573 w 2523"/>
                <a:gd name="T35" fmla="*/ 2202 h 2237"/>
                <a:gd name="T36" fmla="*/ 1368 w 2523"/>
                <a:gd name="T37" fmla="*/ 2232 h 2237"/>
                <a:gd name="T38" fmla="*/ 1160 w 2523"/>
                <a:gd name="T39" fmla="*/ 2232 h 2237"/>
                <a:gd name="T40" fmla="*/ 954 w 2523"/>
                <a:gd name="T41" fmla="*/ 2202 h 2237"/>
                <a:gd name="T42" fmla="*/ 757 w 2523"/>
                <a:gd name="T43" fmla="*/ 2144 h 2237"/>
                <a:gd name="T44" fmla="*/ 574 w 2523"/>
                <a:gd name="T45" fmla="*/ 2055 h 2237"/>
                <a:gd name="T46" fmla="*/ 409 w 2523"/>
                <a:gd name="T47" fmla="*/ 1943 h 2237"/>
                <a:gd name="T48" fmla="*/ 268 w 2523"/>
                <a:gd name="T49" fmla="*/ 1807 h 2237"/>
                <a:gd name="T50" fmla="*/ 154 w 2523"/>
                <a:gd name="T51" fmla="*/ 1651 h 2237"/>
                <a:gd name="T52" fmla="*/ 69 w 2523"/>
                <a:gd name="T53" fmla="*/ 1483 h 2237"/>
                <a:gd name="T54" fmla="*/ 17 w 2523"/>
                <a:gd name="T55" fmla="*/ 1304 h 2237"/>
                <a:gd name="T56" fmla="*/ 0 w 2523"/>
                <a:gd name="T57" fmla="*/ 1120 h 2237"/>
                <a:gd name="T58" fmla="*/ 17 w 2523"/>
                <a:gd name="T59" fmla="*/ 935 h 2237"/>
                <a:gd name="T60" fmla="*/ 69 w 2523"/>
                <a:gd name="T61" fmla="*/ 755 h 2237"/>
                <a:gd name="T62" fmla="*/ 152 w 2523"/>
                <a:gd name="T63" fmla="*/ 587 h 2237"/>
                <a:gd name="T64" fmla="*/ 266 w 2523"/>
                <a:gd name="T65" fmla="*/ 431 h 2237"/>
                <a:gd name="T66" fmla="*/ 407 w 2523"/>
                <a:gd name="T67" fmla="*/ 295 h 2237"/>
                <a:gd name="T68" fmla="*/ 571 w 2523"/>
                <a:gd name="T69" fmla="*/ 183 h 2237"/>
                <a:gd name="T70" fmla="*/ 753 w 2523"/>
                <a:gd name="T71" fmla="*/ 95 h 2237"/>
                <a:gd name="T72" fmla="*/ 950 w 2523"/>
                <a:gd name="T73" fmla="*/ 34 h 2237"/>
                <a:gd name="T74" fmla="*/ 1156 w 2523"/>
                <a:gd name="T75" fmla="*/ 4 h 2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523" h="2237">
                  <a:moveTo>
                    <a:pt x="1259" y="0"/>
                  </a:moveTo>
                  <a:lnTo>
                    <a:pt x="1363" y="2"/>
                  </a:lnTo>
                  <a:lnTo>
                    <a:pt x="1467" y="15"/>
                  </a:lnTo>
                  <a:lnTo>
                    <a:pt x="1569" y="32"/>
                  </a:lnTo>
                  <a:lnTo>
                    <a:pt x="1668" y="58"/>
                  </a:lnTo>
                  <a:lnTo>
                    <a:pt x="1766" y="93"/>
                  </a:lnTo>
                  <a:lnTo>
                    <a:pt x="1861" y="134"/>
                  </a:lnTo>
                  <a:lnTo>
                    <a:pt x="1950" y="179"/>
                  </a:lnTo>
                  <a:lnTo>
                    <a:pt x="2034" y="233"/>
                  </a:lnTo>
                  <a:lnTo>
                    <a:pt x="2114" y="293"/>
                  </a:lnTo>
                  <a:lnTo>
                    <a:pt x="2188" y="358"/>
                  </a:lnTo>
                  <a:lnTo>
                    <a:pt x="2255" y="429"/>
                  </a:lnTo>
                  <a:lnTo>
                    <a:pt x="2315" y="505"/>
                  </a:lnTo>
                  <a:lnTo>
                    <a:pt x="2369" y="583"/>
                  </a:lnTo>
                  <a:lnTo>
                    <a:pt x="2415" y="667"/>
                  </a:lnTo>
                  <a:lnTo>
                    <a:pt x="2454" y="753"/>
                  </a:lnTo>
                  <a:lnTo>
                    <a:pt x="2484" y="842"/>
                  </a:lnTo>
                  <a:lnTo>
                    <a:pt x="2506" y="930"/>
                  </a:lnTo>
                  <a:lnTo>
                    <a:pt x="2519" y="1023"/>
                  </a:lnTo>
                  <a:lnTo>
                    <a:pt x="2523" y="1116"/>
                  </a:lnTo>
                  <a:lnTo>
                    <a:pt x="2519" y="1209"/>
                  </a:lnTo>
                  <a:lnTo>
                    <a:pt x="2506" y="1299"/>
                  </a:lnTo>
                  <a:lnTo>
                    <a:pt x="2484" y="1390"/>
                  </a:lnTo>
                  <a:lnTo>
                    <a:pt x="2454" y="1479"/>
                  </a:lnTo>
                  <a:lnTo>
                    <a:pt x="2417" y="1565"/>
                  </a:lnTo>
                  <a:lnTo>
                    <a:pt x="2372" y="1647"/>
                  </a:lnTo>
                  <a:lnTo>
                    <a:pt x="2317" y="1727"/>
                  </a:lnTo>
                  <a:lnTo>
                    <a:pt x="2257" y="1803"/>
                  </a:lnTo>
                  <a:lnTo>
                    <a:pt x="2190" y="1874"/>
                  </a:lnTo>
                  <a:lnTo>
                    <a:pt x="2116" y="1939"/>
                  </a:lnTo>
                  <a:lnTo>
                    <a:pt x="2038" y="1999"/>
                  </a:lnTo>
                  <a:lnTo>
                    <a:pt x="1952" y="2053"/>
                  </a:lnTo>
                  <a:lnTo>
                    <a:pt x="1863" y="2101"/>
                  </a:lnTo>
                  <a:lnTo>
                    <a:pt x="1770" y="2142"/>
                  </a:lnTo>
                  <a:lnTo>
                    <a:pt x="1673" y="2174"/>
                  </a:lnTo>
                  <a:lnTo>
                    <a:pt x="1573" y="2202"/>
                  </a:lnTo>
                  <a:lnTo>
                    <a:pt x="1471" y="2221"/>
                  </a:lnTo>
                  <a:lnTo>
                    <a:pt x="1368" y="2232"/>
                  </a:lnTo>
                  <a:lnTo>
                    <a:pt x="1264" y="2237"/>
                  </a:lnTo>
                  <a:lnTo>
                    <a:pt x="1160" y="2232"/>
                  </a:lnTo>
                  <a:lnTo>
                    <a:pt x="1056" y="2221"/>
                  </a:lnTo>
                  <a:lnTo>
                    <a:pt x="954" y="2202"/>
                  </a:lnTo>
                  <a:lnTo>
                    <a:pt x="855" y="2176"/>
                  </a:lnTo>
                  <a:lnTo>
                    <a:pt x="757" y="2144"/>
                  </a:lnTo>
                  <a:lnTo>
                    <a:pt x="662" y="2103"/>
                  </a:lnTo>
                  <a:lnTo>
                    <a:pt x="574" y="2055"/>
                  </a:lnTo>
                  <a:lnTo>
                    <a:pt x="489" y="2001"/>
                  </a:lnTo>
                  <a:lnTo>
                    <a:pt x="409" y="1943"/>
                  </a:lnTo>
                  <a:lnTo>
                    <a:pt x="336" y="1876"/>
                  </a:lnTo>
                  <a:lnTo>
                    <a:pt x="268" y="1807"/>
                  </a:lnTo>
                  <a:lnTo>
                    <a:pt x="208" y="1731"/>
                  </a:lnTo>
                  <a:lnTo>
                    <a:pt x="154" y="1651"/>
                  </a:lnTo>
                  <a:lnTo>
                    <a:pt x="108" y="1569"/>
                  </a:lnTo>
                  <a:lnTo>
                    <a:pt x="69" y="1483"/>
                  </a:lnTo>
                  <a:lnTo>
                    <a:pt x="39" y="1394"/>
                  </a:lnTo>
                  <a:lnTo>
                    <a:pt x="17" y="1304"/>
                  </a:lnTo>
                  <a:lnTo>
                    <a:pt x="4" y="1213"/>
                  </a:lnTo>
                  <a:lnTo>
                    <a:pt x="0" y="1120"/>
                  </a:lnTo>
                  <a:lnTo>
                    <a:pt x="4" y="1027"/>
                  </a:lnTo>
                  <a:lnTo>
                    <a:pt x="17" y="935"/>
                  </a:lnTo>
                  <a:lnTo>
                    <a:pt x="39" y="846"/>
                  </a:lnTo>
                  <a:lnTo>
                    <a:pt x="69" y="755"/>
                  </a:lnTo>
                  <a:lnTo>
                    <a:pt x="106" y="671"/>
                  </a:lnTo>
                  <a:lnTo>
                    <a:pt x="152" y="587"/>
                  </a:lnTo>
                  <a:lnTo>
                    <a:pt x="206" y="507"/>
                  </a:lnTo>
                  <a:lnTo>
                    <a:pt x="266" y="431"/>
                  </a:lnTo>
                  <a:lnTo>
                    <a:pt x="333" y="362"/>
                  </a:lnTo>
                  <a:lnTo>
                    <a:pt x="407" y="295"/>
                  </a:lnTo>
                  <a:lnTo>
                    <a:pt x="485" y="237"/>
                  </a:lnTo>
                  <a:lnTo>
                    <a:pt x="571" y="183"/>
                  </a:lnTo>
                  <a:lnTo>
                    <a:pt x="660" y="136"/>
                  </a:lnTo>
                  <a:lnTo>
                    <a:pt x="753" y="95"/>
                  </a:lnTo>
                  <a:lnTo>
                    <a:pt x="850" y="60"/>
                  </a:lnTo>
                  <a:lnTo>
                    <a:pt x="950" y="34"/>
                  </a:lnTo>
                  <a:lnTo>
                    <a:pt x="1052" y="15"/>
                  </a:lnTo>
                  <a:lnTo>
                    <a:pt x="1156" y="4"/>
                  </a:lnTo>
                  <a:lnTo>
                    <a:pt x="125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44601" name="Group 57"/>
          <p:cNvGrpSpPr>
            <a:grpSpLocks noChangeAspect="1"/>
          </p:cNvGrpSpPr>
          <p:nvPr/>
        </p:nvGrpSpPr>
        <p:grpSpPr bwMode="auto">
          <a:xfrm>
            <a:off x="1665288" y="5294313"/>
            <a:ext cx="1357312" cy="1052512"/>
            <a:chOff x="1135" y="2084"/>
            <a:chExt cx="1328" cy="1030"/>
          </a:xfrm>
        </p:grpSpPr>
        <p:sp>
          <p:nvSpPr>
            <p:cNvPr id="1644602" name="Rectangle 58"/>
            <p:cNvSpPr>
              <a:spLocks noChangeAspect="1" noChangeArrowheads="1"/>
            </p:cNvSpPr>
            <p:nvPr/>
          </p:nvSpPr>
          <p:spPr bwMode="auto">
            <a:xfrm>
              <a:off x="1135" y="2451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3</a:t>
              </a:r>
              <a:endParaRPr lang="en-US" sz="1600"/>
            </a:p>
          </p:txBody>
        </p:sp>
        <p:sp>
          <p:nvSpPr>
            <p:cNvPr id="1644603" name="Freeform 59"/>
            <p:cNvSpPr>
              <a:spLocks noChangeAspect="1"/>
            </p:cNvSpPr>
            <p:nvPr/>
          </p:nvSpPr>
          <p:spPr bwMode="auto">
            <a:xfrm>
              <a:off x="1178" y="2084"/>
              <a:ext cx="1285" cy="1030"/>
            </a:xfrm>
            <a:custGeom>
              <a:avLst/>
              <a:gdLst>
                <a:gd name="T0" fmla="*/ 422 w 1285"/>
                <a:gd name="T1" fmla="*/ 162 h 1030"/>
                <a:gd name="T2" fmla="*/ 487 w 1285"/>
                <a:gd name="T3" fmla="*/ 123 h 1030"/>
                <a:gd name="T4" fmla="*/ 556 w 1285"/>
                <a:gd name="T5" fmla="*/ 89 h 1030"/>
                <a:gd name="T6" fmla="*/ 626 w 1285"/>
                <a:gd name="T7" fmla="*/ 61 h 1030"/>
                <a:gd name="T8" fmla="*/ 695 w 1285"/>
                <a:gd name="T9" fmla="*/ 37 h 1030"/>
                <a:gd name="T10" fmla="*/ 764 w 1285"/>
                <a:gd name="T11" fmla="*/ 18 h 1030"/>
                <a:gd name="T12" fmla="*/ 831 w 1285"/>
                <a:gd name="T13" fmla="*/ 7 h 1030"/>
                <a:gd name="T14" fmla="*/ 896 w 1285"/>
                <a:gd name="T15" fmla="*/ 0 h 1030"/>
                <a:gd name="T16" fmla="*/ 959 w 1285"/>
                <a:gd name="T17" fmla="*/ 0 h 1030"/>
                <a:gd name="T18" fmla="*/ 1017 w 1285"/>
                <a:gd name="T19" fmla="*/ 7 h 1030"/>
                <a:gd name="T20" fmla="*/ 1071 w 1285"/>
                <a:gd name="T21" fmla="*/ 18 h 1030"/>
                <a:gd name="T22" fmla="*/ 1121 w 1285"/>
                <a:gd name="T23" fmla="*/ 35 h 1030"/>
                <a:gd name="T24" fmla="*/ 1164 w 1285"/>
                <a:gd name="T25" fmla="*/ 59 h 1030"/>
                <a:gd name="T26" fmla="*/ 1203 w 1285"/>
                <a:gd name="T27" fmla="*/ 87 h 1030"/>
                <a:gd name="T28" fmla="*/ 1234 w 1285"/>
                <a:gd name="T29" fmla="*/ 121 h 1030"/>
                <a:gd name="T30" fmla="*/ 1257 w 1285"/>
                <a:gd name="T31" fmla="*/ 160 h 1030"/>
                <a:gd name="T32" fmla="*/ 1275 w 1285"/>
                <a:gd name="T33" fmla="*/ 201 h 1030"/>
                <a:gd name="T34" fmla="*/ 1283 w 1285"/>
                <a:gd name="T35" fmla="*/ 249 h 1030"/>
                <a:gd name="T36" fmla="*/ 1285 w 1285"/>
                <a:gd name="T37" fmla="*/ 298 h 1030"/>
                <a:gd name="T38" fmla="*/ 1279 w 1285"/>
                <a:gd name="T39" fmla="*/ 350 h 1030"/>
                <a:gd name="T40" fmla="*/ 1266 w 1285"/>
                <a:gd name="T41" fmla="*/ 404 h 1030"/>
                <a:gd name="T42" fmla="*/ 1247 w 1285"/>
                <a:gd name="T43" fmla="*/ 458 h 1030"/>
                <a:gd name="T44" fmla="*/ 1218 w 1285"/>
                <a:gd name="T45" fmla="*/ 514 h 1030"/>
                <a:gd name="T46" fmla="*/ 1184 w 1285"/>
                <a:gd name="T47" fmla="*/ 570 h 1030"/>
                <a:gd name="T48" fmla="*/ 1145 w 1285"/>
                <a:gd name="T49" fmla="*/ 624 h 1030"/>
                <a:gd name="T50" fmla="*/ 1097 w 1285"/>
                <a:gd name="T51" fmla="*/ 678 h 1030"/>
                <a:gd name="T52" fmla="*/ 1045 w 1285"/>
                <a:gd name="T53" fmla="*/ 730 h 1030"/>
                <a:gd name="T54" fmla="*/ 989 w 1285"/>
                <a:gd name="T55" fmla="*/ 780 h 1030"/>
                <a:gd name="T56" fmla="*/ 928 w 1285"/>
                <a:gd name="T57" fmla="*/ 827 h 1030"/>
                <a:gd name="T58" fmla="*/ 866 w 1285"/>
                <a:gd name="T59" fmla="*/ 870 h 1030"/>
                <a:gd name="T60" fmla="*/ 799 w 1285"/>
                <a:gd name="T61" fmla="*/ 907 h 1030"/>
                <a:gd name="T62" fmla="*/ 729 w 1285"/>
                <a:gd name="T63" fmla="*/ 942 h 1030"/>
                <a:gd name="T64" fmla="*/ 660 w 1285"/>
                <a:gd name="T65" fmla="*/ 972 h 1030"/>
                <a:gd name="T66" fmla="*/ 591 w 1285"/>
                <a:gd name="T67" fmla="*/ 996 h 1030"/>
                <a:gd name="T68" fmla="*/ 522 w 1285"/>
                <a:gd name="T69" fmla="*/ 1013 h 1030"/>
                <a:gd name="T70" fmla="*/ 455 w 1285"/>
                <a:gd name="T71" fmla="*/ 1026 h 1030"/>
                <a:gd name="T72" fmla="*/ 390 w 1285"/>
                <a:gd name="T73" fmla="*/ 1030 h 1030"/>
                <a:gd name="T74" fmla="*/ 327 w 1285"/>
                <a:gd name="T75" fmla="*/ 1030 h 1030"/>
                <a:gd name="T76" fmla="*/ 269 w 1285"/>
                <a:gd name="T77" fmla="*/ 1026 h 1030"/>
                <a:gd name="T78" fmla="*/ 214 w 1285"/>
                <a:gd name="T79" fmla="*/ 1013 h 1030"/>
                <a:gd name="T80" fmla="*/ 165 w 1285"/>
                <a:gd name="T81" fmla="*/ 996 h 1030"/>
                <a:gd name="T82" fmla="*/ 121 w 1285"/>
                <a:gd name="T83" fmla="*/ 972 h 1030"/>
                <a:gd name="T84" fmla="*/ 85 w 1285"/>
                <a:gd name="T85" fmla="*/ 944 h 1030"/>
                <a:gd name="T86" fmla="*/ 52 w 1285"/>
                <a:gd name="T87" fmla="*/ 909 h 1030"/>
                <a:gd name="T88" fmla="*/ 28 w 1285"/>
                <a:gd name="T89" fmla="*/ 873 h 1030"/>
                <a:gd name="T90" fmla="*/ 13 w 1285"/>
                <a:gd name="T91" fmla="*/ 829 h 1030"/>
                <a:gd name="T92" fmla="*/ 2 w 1285"/>
                <a:gd name="T93" fmla="*/ 784 h 1030"/>
                <a:gd name="T94" fmla="*/ 0 w 1285"/>
                <a:gd name="T95" fmla="*/ 734 h 1030"/>
                <a:gd name="T96" fmla="*/ 7 w 1285"/>
                <a:gd name="T97" fmla="*/ 683 h 1030"/>
                <a:gd name="T98" fmla="*/ 20 w 1285"/>
                <a:gd name="T99" fmla="*/ 629 h 1030"/>
                <a:gd name="T100" fmla="*/ 39 w 1285"/>
                <a:gd name="T101" fmla="*/ 572 h 1030"/>
                <a:gd name="T102" fmla="*/ 67 w 1285"/>
                <a:gd name="T103" fmla="*/ 516 h 1030"/>
                <a:gd name="T104" fmla="*/ 102 w 1285"/>
                <a:gd name="T105" fmla="*/ 462 h 1030"/>
                <a:gd name="T106" fmla="*/ 143 w 1285"/>
                <a:gd name="T107" fmla="*/ 406 h 1030"/>
                <a:gd name="T108" fmla="*/ 188 w 1285"/>
                <a:gd name="T109" fmla="*/ 352 h 1030"/>
                <a:gd name="T110" fmla="*/ 240 w 1285"/>
                <a:gd name="T111" fmla="*/ 300 h 1030"/>
                <a:gd name="T112" fmla="*/ 297 w 1285"/>
                <a:gd name="T113" fmla="*/ 251 h 1030"/>
                <a:gd name="T114" fmla="*/ 357 w 1285"/>
                <a:gd name="T115" fmla="*/ 205 h 1030"/>
                <a:gd name="T116" fmla="*/ 422 w 1285"/>
                <a:gd name="T117" fmla="*/ 162 h 1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285" h="1030">
                  <a:moveTo>
                    <a:pt x="422" y="162"/>
                  </a:moveTo>
                  <a:lnTo>
                    <a:pt x="487" y="123"/>
                  </a:lnTo>
                  <a:lnTo>
                    <a:pt x="556" y="89"/>
                  </a:lnTo>
                  <a:lnTo>
                    <a:pt x="626" y="61"/>
                  </a:lnTo>
                  <a:lnTo>
                    <a:pt x="695" y="37"/>
                  </a:lnTo>
                  <a:lnTo>
                    <a:pt x="764" y="18"/>
                  </a:lnTo>
                  <a:lnTo>
                    <a:pt x="831" y="7"/>
                  </a:lnTo>
                  <a:lnTo>
                    <a:pt x="896" y="0"/>
                  </a:lnTo>
                  <a:lnTo>
                    <a:pt x="959" y="0"/>
                  </a:lnTo>
                  <a:lnTo>
                    <a:pt x="1017" y="7"/>
                  </a:lnTo>
                  <a:lnTo>
                    <a:pt x="1071" y="18"/>
                  </a:lnTo>
                  <a:lnTo>
                    <a:pt x="1121" y="35"/>
                  </a:lnTo>
                  <a:lnTo>
                    <a:pt x="1164" y="59"/>
                  </a:lnTo>
                  <a:lnTo>
                    <a:pt x="1203" y="87"/>
                  </a:lnTo>
                  <a:lnTo>
                    <a:pt x="1234" y="121"/>
                  </a:lnTo>
                  <a:lnTo>
                    <a:pt x="1257" y="160"/>
                  </a:lnTo>
                  <a:lnTo>
                    <a:pt x="1275" y="201"/>
                  </a:lnTo>
                  <a:lnTo>
                    <a:pt x="1283" y="249"/>
                  </a:lnTo>
                  <a:lnTo>
                    <a:pt x="1285" y="298"/>
                  </a:lnTo>
                  <a:lnTo>
                    <a:pt x="1279" y="350"/>
                  </a:lnTo>
                  <a:lnTo>
                    <a:pt x="1266" y="404"/>
                  </a:lnTo>
                  <a:lnTo>
                    <a:pt x="1247" y="458"/>
                  </a:lnTo>
                  <a:lnTo>
                    <a:pt x="1218" y="514"/>
                  </a:lnTo>
                  <a:lnTo>
                    <a:pt x="1184" y="570"/>
                  </a:lnTo>
                  <a:lnTo>
                    <a:pt x="1145" y="624"/>
                  </a:lnTo>
                  <a:lnTo>
                    <a:pt x="1097" y="678"/>
                  </a:lnTo>
                  <a:lnTo>
                    <a:pt x="1045" y="730"/>
                  </a:lnTo>
                  <a:lnTo>
                    <a:pt x="989" y="780"/>
                  </a:lnTo>
                  <a:lnTo>
                    <a:pt x="928" y="827"/>
                  </a:lnTo>
                  <a:lnTo>
                    <a:pt x="866" y="870"/>
                  </a:lnTo>
                  <a:lnTo>
                    <a:pt x="799" y="907"/>
                  </a:lnTo>
                  <a:lnTo>
                    <a:pt x="729" y="942"/>
                  </a:lnTo>
                  <a:lnTo>
                    <a:pt x="660" y="972"/>
                  </a:lnTo>
                  <a:lnTo>
                    <a:pt x="591" y="996"/>
                  </a:lnTo>
                  <a:lnTo>
                    <a:pt x="522" y="1013"/>
                  </a:lnTo>
                  <a:lnTo>
                    <a:pt x="455" y="1026"/>
                  </a:lnTo>
                  <a:lnTo>
                    <a:pt x="390" y="1030"/>
                  </a:lnTo>
                  <a:lnTo>
                    <a:pt x="327" y="1030"/>
                  </a:lnTo>
                  <a:lnTo>
                    <a:pt x="269" y="1026"/>
                  </a:lnTo>
                  <a:lnTo>
                    <a:pt x="214" y="1013"/>
                  </a:lnTo>
                  <a:lnTo>
                    <a:pt x="165" y="996"/>
                  </a:lnTo>
                  <a:lnTo>
                    <a:pt x="121" y="972"/>
                  </a:lnTo>
                  <a:lnTo>
                    <a:pt x="85" y="944"/>
                  </a:lnTo>
                  <a:lnTo>
                    <a:pt x="52" y="909"/>
                  </a:lnTo>
                  <a:lnTo>
                    <a:pt x="28" y="873"/>
                  </a:lnTo>
                  <a:lnTo>
                    <a:pt x="13" y="829"/>
                  </a:lnTo>
                  <a:lnTo>
                    <a:pt x="2" y="784"/>
                  </a:lnTo>
                  <a:lnTo>
                    <a:pt x="0" y="734"/>
                  </a:lnTo>
                  <a:lnTo>
                    <a:pt x="7" y="683"/>
                  </a:lnTo>
                  <a:lnTo>
                    <a:pt x="20" y="629"/>
                  </a:lnTo>
                  <a:lnTo>
                    <a:pt x="39" y="572"/>
                  </a:lnTo>
                  <a:lnTo>
                    <a:pt x="67" y="516"/>
                  </a:lnTo>
                  <a:lnTo>
                    <a:pt x="102" y="462"/>
                  </a:lnTo>
                  <a:lnTo>
                    <a:pt x="143" y="406"/>
                  </a:lnTo>
                  <a:lnTo>
                    <a:pt x="188" y="352"/>
                  </a:lnTo>
                  <a:lnTo>
                    <a:pt x="240" y="300"/>
                  </a:lnTo>
                  <a:lnTo>
                    <a:pt x="297" y="251"/>
                  </a:lnTo>
                  <a:lnTo>
                    <a:pt x="357" y="205"/>
                  </a:lnTo>
                  <a:lnTo>
                    <a:pt x="422" y="16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44604" name="Group 60"/>
          <p:cNvGrpSpPr>
            <a:grpSpLocks noChangeAspect="1"/>
          </p:cNvGrpSpPr>
          <p:nvPr/>
        </p:nvGrpSpPr>
        <p:grpSpPr bwMode="auto">
          <a:xfrm>
            <a:off x="696913" y="4625975"/>
            <a:ext cx="2432050" cy="1789113"/>
            <a:chOff x="187" y="1430"/>
            <a:chExt cx="2380" cy="1751"/>
          </a:xfrm>
        </p:grpSpPr>
        <p:sp>
          <p:nvSpPr>
            <p:cNvPr id="1644605" name="Rectangle 61"/>
            <p:cNvSpPr>
              <a:spLocks noChangeAspect="1" noChangeArrowheads="1"/>
            </p:cNvSpPr>
            <p:nvPr/>
          </p:nvSpPr>
          <p:spPr bwMode="auto">
            <a:xfrm>
              <a:off x="417" y="2643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4</a:t>
              </a:r>
              <a:endParaRPr lang="en-US" sz="1600"/>
            </a:p>
          </p:txBody>
        </p:sp>
        <p:sp>
          <p:nvSpPr>
            <p:cNvPr id="1644606" name="Freeform 62"/>
            <p:cNvSpPr>
              <a:spLocks noChangeAspect="1"/>
            </p:cNvSpPr>
            <p:nvPr/>
          </p:nvSpPr>
          <p:spPr bwMode="auto">
            <a:xfrm>
              <a:off x="187" y="1430"/>
              <a:ext cx="2380" cy="1751"/>
            </a:xfrm>
            <a:custGeom>
              <a:avLst/>
              <a:gdLst>
                <a:gd name="T0" fmla="*/ 1275 w 2380"/>
                <a:gd name="T1" fmla="*/ 0 h 1751"/>
                <a:gd name="T2" fmla="*/ 1474 w 2380"/>
                <a:gd name="T3" fmla="*/ 22 h 1751"/>
                <a:gd name="T4" fmla="*/ 1664 w 2380"/>
                <a:gd name="T5" fmla="*/ 67 h 1751"/>
                <a:gd name="T6" fmla="*/ 1842 w 2380"/>
                <a:gd name="T7" fmla="*/ 136 h 1751"/>
                <a:gd name="T8" fmla="*/ 2002 w 2380"/>
                <a:gd name="T9" fmla="*/ 227 h 1751"/>
                <a:gd name="T10" fmla="*/ 2138 w 2380"/>
                <a:gd name="T11" fmla="*/ 335 h 1751"/>
                <a:gd name="T12" fmla="*/ 2246 w 2380"/>
                <a:gd name="T13" fmla="*/ 460 h 1751"/>
                <a:gd name="T14" fmla="*/ 2324 w 2380"/>
                <a:gd name="T15" fmla="*/ 596 h 1751"/>
                <a:gd name="T16" fmla="*/ 2370 w 2380"/>
                <a:gd name="T17" fmla="*/ 741 h 1751"/>
                <a:gd name="T18" fmla="*/ 2380 w 2380"/>
                <a:gd name="T19" fmla="*/ 887 h 1751"/>
                <a:gd name="T20" fmla="*/ 2359 w 2380"/>
                <a:gd name="T21" fmla="*/ 1036 h 1751"/>
                <a:gd name="T22" fmla="*/ 2302 w 2380"/>
                <a:gd name="T23" fmla="*/ 1179 h 1751"/>
                <a:gd name="T24" fmla="*/ 2214 w 2380"/>
                <a:gd name="T25" fmla="*/ 1313 h 1751"/>
                <a:gd name="T26" fmla="*/ 2097 w 2380"/>
                <a:gd name="T27" fmla="*/ 1436 h 1751"/>
                <a:gd name="T28" fmla="*/ 1954 w 2380"/>
                <a:gd name="T29" fmla="*/ 1542 h 1751"/>
                <a:gd name="T30" fmla="*/ 1787 w 2380"/>
                <a:gd name="T31" fmla="*/ 1628 h 1751"/>
                <a:gd name="T32" fmla="*/ 1606 w 2380"/>
                <a:gd name="T33" fmla="*/ 1693 h 1751"/>
                <a:gd name="T34" fmla="*/ 1411 w 2380"/>
                <a:gd name="T35" fmla="*/ 1736 h 1751"/>
                <a:gd name="T36" fmla="*/ 1210 w 2380"/>
                <a:gd name="T37" fmla="*/ 1751 h 1751"/>
                <a:gd name="T38" fmla="*/ 1009 w 2380"/>
                <a:gd name="T39" fmla="*/ 1742 h 1751"/>
                <a:gd name="T40" fmla="*/ 812 w 2380"/>
                <a:gd name="T41" fmla="*/ 1710 h 1751"/>
                <a:gd name="T42" fmla="*/ 626 w 2380"/>
                <a:gd name="T43" fmla="*/ 1652 h 1751"/>
                <a:gd name="T44" fmla="*/ 457 w 2380"/>
                <a:gd name="T45" fmla="*/ 1572 h 1751"/>
                <a:gd name="T46" fmla="*/ 310 w 2380"/>
                <a:gd name="T47" fmla="*/ 1473 h 1751"/>
                <a:gd name="T48" fmla="*/ 186 w 2380"/>
                <a:gd name="T49" fmla="*/ 1356 h 1751"/>
                <a:gd name="T50" fmla="*/ 93 w 2380"/>
                <a:gd name="T51" fmla="*/ 1226 h 1751"/>
                <a:gd name="T52" fmla="*/ 31 w 2380"/>
                <a:gd name="T53" fmla="*/ 1084 h 1751"/>
                <a:gd name="T54" fmla="*/ 2 w 2380"/>
                <a:gd name="T55" fmla="*/ 937 h 1751"/>
                <a:gd name="T56" fmla="*/ 9 w 2380"/>
                <a:gd name="T57" fmla="*/ 788 h 1751"/>
                <a:gd name="T58" fmla="*/ 48 w 2380"/>
                <a:gd name="T59" fmla="*/ 643 h 1751"/>
                <a:gd name="T60" fmla="*/ 119 w 2380"/>
                <a:gd name="T61" fmla="*/ 503 h 1751"/>
                <a:gd name="T62" fmla="*/ 223 w 2380"/>
                <a:gd name="T63" fmla="*/ 374 h 1751"/>
                <a:gd name="T64" fmla="*/ 355 w 2380"/>
                <a:gd name="T65" fmla="*/ 259 h 1751"/>
                <a:gd name="T66" fmla="*/ 509 w 2380"/>
                <a:gd name="T67" fmla="*/ 164 h 1751"/>
                <a:gd name="T68" fmla="*/ 684 w 2380"/>
                <a:gd name="T69" fmla="*/ 86 h 1751"/>
                <a:gd name="T70" fmla="*/ 874 w 2380"/>
                <a:gd name="T71" fmla="*/ 35 h 1751"/>
                <a:gd name="T72" fmla="*/ 1071 w 2380"/>
                <a:gd name="T73" fmla="*/ 4 h 1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380" h="1751">
                  <a:moveTo>
                    <a:pt x="1173" y="0"/>
                  </a:moveTo>
                  <a:lnTo>
                    <a:pt x="1275" y="0"/>
                  </a:lnTo>
                  <a:lnTo>
                    <a:pt x="1374" y="9"/>
                  </a:lnTo>
                  <a:lnTo>
                    <a:pt x="1474" y="22"/>
                  </a:lnTo>
                  <a:lnTo>
                    <a:pt x="1571" y="41"/>
                  </a:lnTo>
                  <a:lnTo>
                    <a:pt x="1664" y="67"/>
                  </a:lnTo>
                  <a:lnTo>
                    <a:pt x="1755" y="99"/>
                  </a:lnTo>
                  <a:lnTo>
                    <a:pt x="1842" y="136"/>
                  </a:lnTo>
                  <a:lnTo>
                    <a:pt x="1924" y="179"/>
                  </a:lnTo>
                  <a:lnTo>
                    <a:pt x="2002" y="227"/>
                  </a:lnTo>
                  <a:lnTo>
                    <a:pt x="2073" y="279"/>
                  </a:lnTo>
                  <a:lnTo>
                    <a:pt x="2138" y="335"/>
                  </a:lnTo>
                  <a:lnTo>
                    <a:pt x="2194" y="395"/>
                  </a:lnTo>
                  <a:lnTo>
                    <a:pt x="2246" y="460"/>
                  </a:lnTo>
                  <a:lnTo>
                    <a:pt x="2289" y="527"/>
                  </a:lnTo>
                  <a:lnTo>
                    <a:pt x="2324" y="596"/>
                  </a:lnTo>
                  <a:lnTo>
                    <a:pt x="2350" y="667"/>
                  </a:lnTo>
                  <a:lnTo>
                    <a:pt x="2370" y="741"/>
                  </a:lnTo>
                  <a:lnTo>
                    <a:pt x="2380" y="814"/>
                  </a:lnTo>
                  <a:lnTo>
                    <a:pt x="2380" y="887"/>
                  </a:lnTo>
                  <a:lnTo>
                    <a:pt x="2374" y="963"/>
                  </a:lnTo>
                  <a:lnTo>
                    <a:pt x="2359" y="1036"/>
                  </a:lnTo>
                  <a:lnTo>
                    <a:pt x="2335" y="1108"/>
                  </a:lnTo>
                  <a:lnTo>
                    <a:pt x="2302" y="1179"/>
                  </a:lnTo>
                  <a:lnTo>
                    <a:pt x="2261" y="1248"/>
                  </a:lnTo>
                  <a:lnTo>
                    <a:pt x="2214" y="1313"/>
                  </a:lnTo>
                  <a:lnTo>
                    <a:pt x="2160" y="1378"/>
                  </a:lnTo>
                  <a:lnTo>
                    <a:pt x="2097" y="1436"/>
                  </a:lnTo>
                  <a:lnTo>
                    <a:pt x="2028" y="1492"/>
                  </a:lnTo>
                  <a:lnTo>
                    <a:pt x="1954" y="1542"/>
                  </a:lnTo>
                  <a:lnTo>
                    <a:pt x="1872" y="1587"/>
                  </a:lnTo>
                  <a:lnTo>
                    <a:pt x="1787" y="1628"/>
                  </a:lnTo>
                  <a:lnTo>
                    <a:pt x="1699" y="1665"/>
                  </a:lnTo>
                  <a:lnTo>
                    <a:pt x="1606" y="1693"/>
                  </a:lnTo>
                  <a:lnTo>
                    <a:pt x="1508" y="1717"/>
                  </a:lnTo>
                  <a:lnTo>
                    <a:pt x="1411" y="1736"/>
                  </a:lnTo>
                  <a:lnTo>
                    <a:pt x="1309" y="1747"/>
                  </a:lnTo>
                  <a:lnTo>
                    <a:pt x="1210" y="1751"/>
                  </a:lnTo>
                  <a:lnTo>
                    <a:pt x="1108" y="1751"/>
                  </a:lnTo>
                  <a:lnTo>
                    <a:pt x="1009" y="1742"/>
                  </a:lnTo>
                  <a:lnTo>
                    <a:pt x="909" y="1730"/>
                  </a:lnTo>
                  <a:lnTo>
                    <a:pt x="812" y="1710"/>
                  </a:lnTo>
                  <a:lnTo>
                    <a:pt x="719" y="1684"/>
                  </a:lnTo>
                  <a:lnTo>
                    <a:pt x="626" y="1652"/>
                  </a:lnTo>
                  <a:lnTo>
                    <a:pt x="539" y="1615"/>
                  </a:lnTo>
                  <a:lnTo>
                    <a:pt x="457" y="1572"/>
                  </a:lnTo>
                  <a:lnTo>
                    <a:pt x="381" y="1524"/>
                  </a:lnTo>
                  <a:lnTo>
                    <a:pt x="310" y="1473"/>
                  </a:lnTo>
                  <a:lnTo>
                    <a:pt x="245" y="1416"/>
                  </a:lnTo>
                  <a:lnTo>
                    <a:pt x="186" y="1356"/>
                  </a:lnTo>
                  <a:lnTo>
                    <a:pt x="137" y="1291"/>
                  </a:lnTo>
                  <a:lnTo>
                    <a:pt x="93" y="1226"/>
                  </a:lnTo>
                  <a:lnTo>
                    <a:pt x="59" y="1155"/>
                  </a:lnTo>
                  <a:lnTo>
                    <a:pt x="31" y="1084"/>
                  </a:lnTo>
                  <a:lnTo>
                    <a:pt x="13" y="1011"/>
                  </a:lnTo>
                  <a:lnTo>
                    <a:pt x="2" y="937"/>
                  </a:lnTo>
                  <a:lnTo>
                    <a:pt x="0" y="864"/>
                  </a:lnTo>
                  <a:lnTo>
                    <a:pt x="9" y="788"/>
                  </a:lnTo>
                  <a:lnTo>
                    <a:pt x="24" y="715"/>
                  </a:lnTo>
                  <a:lnTo>
                    <a:pt x="48" y="643"/>
                  </a:lnTo>
                  <a:lnTo>
                    <a:pt x="80" y="572"/>
                  </a:lnTo>
                  <a:lnTo>
                    <a:pt x="119" y="503"/>
                  </a:lnTo>
                  <a:lnTo>
                    <a:pt x="167" y="438"/>
                  </a:lnTo>
                  <a:lnTo>
                    <a:pt x="223" y="374"/>
                  </a:lnTo>
                  <a:lnTo>
                    <a:pt x="286" y="315"/>
                  </a:lnTo>
                  <a:lnTo>
                    <a:pt x="355" y="259"/>
                  </a:lnTo>
                  <a:lnTo>
                    <a:pt x="429" y="209"/>
                  </a:lnTo>
                  <a:lnTo>
                    <a:pt x="509" y="164"/>
                  </a:lnTo>
                  <a:lnTo>
                    <a:pt x="595" y="123"/>
                  </a:lnTo>
                  <a:lnTo>
                    <a:pt x="684" y="86"/>
                  </a:lnTo>
                  <a:lnTo>
                    <a:pt x="777" y="58"/>
                  </a:lnTo>
                  <a:lnTo>
                    <a:pt x="874" y="35"/>
                  </a:lnTo>
                  <a:lnTo>
                    <a:pt x="972" y="15"/>
                  </a:lnTo>
                  <a:lnTo>
                    <a:pt x="1071" y="4"/>
                  </a:lnTo>
                  <a:lnTo>
                    <a:pt x="1173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44607" name="Group 63"/>
          <p:cNvGrpSpPr>
            <a:grpSpLocks noChangeAspect="1"/>
          </p:cNvGrpSpPr>
          <p:nvPr/>
        </p:nvGrpSpPr>
        <p:grpSpPr bwMode="auto">
          <a:xfrm>
            <a:off x="6157913" y="1909763"/>
            <a:ext cx="1979612" cy="1797050"/>
            <a:chOff x="383" y="1437"/>
            <a:chExt cx="1902" cy="1727"/>
          </a:xfrm>
        </p:grpSpPr>
        <p:sp>
          <p:nvSpPr>
            <p:cNvPr id="1644608" name="Freeform 64"/>
            <p:cNvSpPr>
              <a:spLocks noChangeAspect="1"/>
            </p:cNvSpPr>
            <p:nvPr/>
          </p:nvSpPr>
          <p:spPr bwMode="auto">
            <a:xfrm>
              <a:off x="974" y="2118"/>
              <a:ext cx="87" cy="87"/>
            </a:xfrm>
            <a:custGeom>
              <a:avLst/>
              <a:gdLst>
                <a:gd name="T0" fmla="*/ 0 w 87"/>
                <a:gd name="T1" fmla="*/ 43 h 87"/>
                <a:gd name="T2" fmla="*/ 4 w 87"/>
                <a:gd name="T3" fmla="*/ 26 h 87"/>
                <a:gd name="T4" fmla="*/ 13 w 87"/>
                <a:gd name="T5" fmla="*/ 13 h 87"/>
                <a:gd name="T6" fmla="*/ 28 w 87"/>
                <a:gd name="T7" fmla="*/ 2 h 87"/>
                <a:gd name="T8" fmla="*/ 45 w 87"/>
                <a:gd name="T9" fmla="*/ 0 h 87"/>
                <a:gd name="T10" fmla="*/ 62 w 87"/>
                <a:gd name="T11" fmla="*/ 2 h 87"/>
                <a:gd name="T12" fmla="*/ 75 w 87"/>
                <a:gd name="T13" fmla="*/ 13 h 87"/>
                <a:gd name="T14" fmla="*/ 85 w 87"/>
                <a:gd name="T15" fmla="*/ 26 h 87"/>
                <a:gd name="T16" fmla="*/ 87 w 87"/>
                <a:gd name="T17" fmla="*/ 43 h 87"/>
                <a:gd name="T18" fmla="*/ 85 w 87"/>
                <a:gd name="T19" fmla="*/ 60 h 87"/>
                <a:gd name="T20" fmla="*/ 75 w 87"/>
                <a:gd name="T21" fmla="*/ 75 h 87"/>
                <a:gd name="T22" fmla="*/ 62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5 h 87"/>
                <a:gd name="T30" fmla="*/ 4 w 87"/>
                <a:gd name="T31" fmla="*/ 60 h 87"/>
                <a:gd name="T32" fmla="*/ 0 w 87"/>
                <a:gd name="T33" fmla="*/ 4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5" y="13"/>
                  </a:lnTo>
                  <a:lnTo>
                    <a:pt x="85" y="26"/>
                  </a:lnTo>
                  <a:lnTo>
                    <a:pt x="87" y="43"/>
                  </a:lnTo>
                  <a:lnTo>
                    <a:pt x="85" y="60"/>
                  </a:lnTo>
                  <a:lnTo>
                    <a:pt x="75" y="75"/>
                  </a:lnTo>
                  <a:lnTo>
                    <a:pt x="62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609" name="Freeform 65"/>
            <p:cNvSpPr>
              <a:spLocks noChangeAspect="1"/>
            </p:cNvSpPr>
            <p:nvPr/>
          </p:nvSpPr>
          <p:spPr bwMode="auto">
            <a:xfrm>
              <a:off x="1782" y="1488"/>
              <a:ext cx="87" cy="87"/>
            </a:xfrm>
            <a:custGeom>
              <a:avLst/>
              <a:gdLst>
                <a:gd name="T0" fmla="*/ 0 w 87"/>
                <a:gd name="T1" fmla="*/ 43 h 87"/>
                <a:gd name="T2" fmla="*/ 4 w 87"/>
                <a:gd name="T3" fmla="*/ 26 h 87"/>
                <a:gd name="T4" fmla="*/ 13 w 87"/>
                <a:gd name="T5" fmla="*/ 13 h 87"/>
                <a:gd name="T6" fmla="*/ 28 w 87"/>
                <a:gd name="T7" fmla="*/ 3 h 87"/>
                <a:gd name="T8" fmla="*/ 45 w 87"/>
                <a:gd name="T9" fmla="*/ 0 h 87"/>
                <a:gd name="T10" fmla="*/ 60 w 87"/>
                <a:gd name="T11" fmla="*/ 3 h 87"/>
                <a:gd name="T12" fmla="*/ 74 w 87"/>
                <a:gd name="T13" fmla="*/ 13 h 87"/>
                <a:gd name="T14" fmla="*/ 85 w 87"/>
                <a:gd name="T15" fmla="*/ 26 h 87"/>
                <a:gd name="T16" fmla="*/ 87 w 87"/>
                <a:gd name="T17" fmla="*/ 43 h 87"/>
                <a:gd name="T18" fmla="*/ 85 w 87"/>
                <a:gd name="T19" fmla="*/ 60 h 87"/>
                <a:gd name="T20" fmla="*/ 74 w 87"/>
                <a:gd name="T21" fmla="*/ 75 h 87"/>
                <a:gd name="T22" fmla="*/ 60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5 h 87"/>
                <a:gd name="T30" fmla="*/ 4 w 87"/>
                <a:gd name="T31" fmla="*/ 60 h 87"/>
                <a:gd name="T32" fmla="*/ 0 w 87"/>
                <a:gd name="T33" fmla="*/ 4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3"/>
                  </a:lnTo>
                  <a:lnTo>
                    <a:pt x="45" y="0"/>
                  </a:lnTo>
                  <a:lnTo>
                    <a:pt x="60" y="3"/>
                  </a:lnTo>
                  <a:lnTo>
                    <a:pt x="74" y="13"/>
                  </a:lnTo>
                  <a:lnTo>
                    <a:pt x="85" y="26"/>
                  </a:lnTo>
                  <a:lnTo>
                    <a:pt x="87" y="43"/>
                  </a:lnTo>
                  <a:lnTo>
                    <a:pt x="85" y="60"/>
                  </a:lnTo>
                  <a:lnTo>
                    <a:pt x="74" y="75"/>
                  </a:lnTo>
                  <a:lnTo>
                    <a:pt x="60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610" name="Freeform 66"/>
            <p:cNvSpPr>
              <a:spLocks noChangeAspect="1"/>
            </p:cNvSpPr>
            <p:nvPr/>
          </p:nvSpPr>
          <p:spPr bwMode="auto">
            <a:xfrm>
              <a:off x="1193" y="2975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4 h 87"/>
                <a:gd name="T8" fmla="*/ 45 w 87"/>
                <a:gd name="T9" fmla="*/ 0 h 87"/>
                <a:gd name="T10" fmla="*/ 62 w 87"/>
                <a:gd name="T11" fmla="*/ 4 h 87"/>
                <a:gd name="T12" fmla="*/ 75 w 87"/>
                <a:gd name="T13" fmla="*/ 13 h 87"/>
                <a:gd name="T14" fmla="*/ 85 w 87"/>
                <a:gd name="T15" fmla="*/ 28 h 87"/>
                <a:gd name="T16" fmla="*/ 87 w 87"/>
                <a:gd name="T17" fmla="*/ 45 h 87"/>
                <a:gd name="T18" fmla="*/ 85 w 87"/>
                <a:gd name="T19" fmla="*/ 62 h 87"/>
                <a:gd name="T20" fmla="*/ 75 w 87"/>
                <a:gd name="T21" fmla="*/ 74 h 87"/>
                <a:gd name="T22" fmla="*/ 62 w 87"/>
                <a:gd name="T23" fmla="*/ 85 h 87"/>
                <a:gd name="T24" fmla="*/ 45 w 87"/>
                <a:gd name="T25" fmla="*/ 87 h 87"/>
                <a:gd name="T26" fmla="*/ 28 w 87"/>
                <a:gd name="T27" fmla="*/ 85 h 87"/>
                <a:gd name="T28" fmla="*/ 13 w 87"/>
                <a:gd name="T29" fmla="*/ 74 h 87"/>
                <a:gd name="T30" fmla="*/ 4 w 87"/>
                <a:gd name="T31" fmla="*/ 62 h 87"/>
                <a:gd name="T32" fmla="*/ 0 w 87"/>
                <a:gd name="T33" fmla="*/ 45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2" y="4"/>
                  </a:lnTo>
                  <a:lnTo>
                    <a:pt x="75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5" y="74"/>
                  </a:lnTo>
                  <a:lnTo>
                    <a:pt x="62" y="85"/>
                  </a:lnTo>
                  <a:lnTo>
                    <a:pt x="45" y="87"/>
                  </a:lnTo>
                  <a:lnTo>
                    <a:pt x="28" y="85"/>
                  </a:lnTo>
                  <a:lnTo>
                    <a:pt x="13" y="74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611" name="Freeform 67"/>
            <p:cNvSpPr>
              <a:spLocks noChangeAspect="1"/>
            </p:cNvSpPr>
            <p:nvPr/>
          </p:nvSpPr>
          <p:spPr bwMode="auto">
            <a:xfrm>
              <a:off x="383" y="1993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4 h 87"/>
                <a:gd name="T8" fmla="*/ 45 w 87"/>
                <a:gd name="T9" fmla="*/ 0 h 87"/>
                <a:gd name="T10" fmla="*/ 62 w 87"/>
                <a:gd name="T11" fmla="*/ 4 h 87"/>
                <a:gd name="T12" fmla="*/ 74 w 87"/>
                <a:gd name="T13" fmla="*/ 13 h 87"/>
                <a:gd name="T14" fmla="*/ 85 w 87"/>
                <a:gd name="T15" fmla="*/ 28 h 87"/>
                <a:gd name="T16" fmla="*/ 87 w 87"/>
                <a:gd name="T17" fmla="*/ 45 h 87"/>
                <a:gd name="T18" fmla="*/ 85 w 87"/>
                <a:gd name="T19" fmla="*/ 62 h 87"/>
                <a:gd name="T20" fmla="*/ 74 w 87"/>
                <a:gd name="T21" fmla="*/ 74 h 87"/>
                <a:gd name="T22" fmla="*/ 62 w 87"/>
                <a:gd name="T23" fmla="*/ 85 h 87"/>
                <a:gd name="T24" fmla="*/ 45 w 87"/>
                <a:gd name="T25" fmla="*/ 87 h 87"/>
                <a:gd name="T26" fmla="*/ 28 w 87"/>
                <a:gd name="T27" fmla="*/ 85 h 87"/>
                <a:gd name="T28" fmla="*/ 13 w 87"/>
                <a:gd name="T29" fmla="*/ 74 h 87"/>
                <a:gd name="T30" fmla="*/ 4 w 87"/>
                <a:gd name="T31" fmla="*/ 62 h 87"/>
                <a:gd name="T32" fmla="*/ 0 w 87"/>
                <a:gd name="T33" fmla="*/ 45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2" y="4"/>
                  </a:lnTo>
                  <a:lnTo>
                    <a:pt x="74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4" y="74"/>
                  </a:lnTo>
                  <a:lnTo>
                    <a:pt x="62" y="85"/>
                  </a:lnTo>
                  <a:lnTo>
                    <a:pt x="45" y="87"/>
                  </a:lnTo>
                  <a:lnTo>
                    <a:pt x="28" y="85"/>
                  </a:lnTo>
                  <a:lnTo>
                    <a:pt x="13" y="74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612" name="Freeform 68"/>
            <p:cNvSpPr>
              <a:spLocks noChangeAspect="1"/>
            </p:cNvSpPr>
            <p:nvPr/>
          </p:nvSpPr>
          <p:spPr bwMode="auto">
            <a:xfrm>
              <a:off x="1544" y="2419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5 h 87"/>
                <a:gd name="T8" fmla="*/ 42 w 87"/>
                <a:gd name="T9" fmla="*/ 0 h 87"/>
                <a:gd name="T10" fmla="*/ 59 w 87"/>
                <a:gd name="T11" fmla="*/ 5 h 87"/>
                <a:gd name="T12" fmla="*/ 74 w 87"/>
                <a:gd name="T13" fmla="*/ 13 h 87"/>
                <a:gd name="T14" fmla="*/ 83 w 87"/>
                <a:gd name="T15" fmla="*/ 28 h 87"/>
                <a:gd name="T16" fmla="*/ 87 w 87"/>
                <a:gd name="T17" fmla="*/ 45 h 87"/>
                <a:gd name="T18" fmla="*/ 83 w 87"/>
                <a:gd name="T19" fmla="*/ 62 h 87"/>
                <a:gd name="T20" fmla="*/ 74 w 87"/>
                <a:gd name="T21" fmla="*/ 75 h 87"/>
                <a:gd name="T22" fmla="*/ 59 w 87"/>
                <a:gd name="T23" fmla="*/ 85 h 87"/>
                <a:gd name="T24" fmla="*/ 42 w 87"/>
                <a:gd name="T25" fmla="*/ 87 h 87"/>
                <a:gd name="T26" fmla="*/ 28 w 87"/>
                <a:gd name="T27" fmla="*/ 85 h 87"/>
                <a:gd name="T28" fmla="*/ 13 w 87"/>
                <a:gd name="T29" fmla="*/ 75 h 87"/>
                <a:gd name="T30" fmla="*/ 4 w 87"/>
                <a:gd name="T31" fmla="*/ 62 h 87"/>
                <a:gd name="T32" fmla="*/ 0 w 87"/>
                <a:gd name="T33" fmla="*/ 45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5"/>
                  </a:lnTo>
                  <a:lnTo>
                    <a:pt x="42" y="0"/>
                  </a:lnTo>
                  <a:lnTo>
                    <a:pt x="59" y="5"/>
                  </a:lnTo>
                  <a:lnTo>
                    <a:pt x="74" y="13"/>
                  </a:lnTo>
                  <a:lnTo>
                    <a:pt x="83" y="28"/>
                  </a:lnTo>
                  <a:lnTo>
                    <a:pt x="87" y="45"/>
                  </a:lnTo>
                  <a:lnTo>
                    <a:pt x="83" y="62"/>
                  </a:lnTo>
                  <a:lnTo>
                    <a:pt x="74" y="75"/>
                  </a:lnTo>
                  <a:lnTo>
                    <a:pt x="59" y="85"/>
                  </a:lnTo>
                  <a:lnTo>
                    <a:pt x="42" y="87"/>
                  </a:lnTo>
                  <a:lnTo>
                    <a:pt x="28" y="85"/>
                  </a:lnTo>
                  <a:lnTo>
                    <a:pt x="13" y="75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613" name="Freeform 69"/>
            <p:cNvSpPr>
              <a:spLocks noChangeAspect="1"/>
            </p:cNvSpPr>
            <p:nvPr/>
          </p:nvSpPr>
          <p:spPr bwMode="auto">
            <a:xfrm>
              <a:off x="2018" y="2479"/>
              <a:ext cx="87" cy="87"/>
            </a:xfrm>
            <a:custGeom>
              <a:avLst/>
              <a:gdLst>
                <a:gd name="T0" fmla="*/ 0 w 87"/>
                <a:gd name="T1" fmla="*/ 42 h 87"/>
                <a:gd name="T2" fmla="*/ 4 w 87"/>
                <a:gd name="T3" fmla="*/ 25 h 87"/>
                <a:gd name="T4" fmla="*/ 13 w 87"/>
                <a:gd name="T5" fmla="*/ 13 h 87"/>
                <a:gd name="T6" fmla="*/ 28 w 87"/>
                <a:gd name="T7" fmla="*/ 2 h 87"/>
                <a:gd name="T8" fmla="*/ 45 w 87"/>
                <a:gd name="T9" fmla="*/ 0 h 87"/>
                <a:gd name="T10" fmla="*/ 62 w 87"/>
                <a:gd name="T11" fmla="*/ 2 h 87"/>
                <a:gd name="T12" fmla="*/ 74 w 87"/>
                <a:gd name="T13" fmla="*/ 13 h 87"/>
                <a:gd name="T14" fmla="*/ 85 w 87"/>
                <a:gd name="T15" fmla="*/ 25 h 87"/>
                <a:gd name="T16" fmla="*/ 87 w 87"/>
                <a:gd name="T17" fmla="*/ 42 h 87"/>
                <a:gd name="T18" fmla="*/ 85 w 87"/>
                <a:gd name="T19" fmla="*/ 59 h 87"/>
                <a:gd name="T20" fmla="*/ 74 w 87"/>
                <a:gd name="T21" fmla="*/ 74 h 87"/>
                <a:gd name="T22" fmla="*/ 62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4 h 87"/>
                <a:gd name="T30" fmla="*/ 4 w 87"/>
                <a:gd name="T31" fmla="*/ 59 h 87"/>
                <a:gd name="T32" fmla="*/ 0 w 87"/>
                <a:gd name="T33" fmla="*/ 42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" h="87">
                  <a:moveTo>
                    <a:pt x="0" y="42"/>
                  </a:moveTo>
                  <a:lnTo>
                    <a:pt x="4" y="25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4" y="13"/>
                  </a:lnTo>
                  <a:lnTo>
                    <a:pt x="85" y="25"/>
                  </a:lnTo>
                  <a:lnTo>
                    <a:pt x="87" y="42"/>
                  </a:lnTo>
                  <a:lnTo>
                    <a:pt x="85" y="59"/>
                  </a:lnTo>
                  <a:lnTo>
                    <a:pt x="74" y="74"/>
                  </a:lnTo>
                  <a:lnTo>
                    <a:pt x="62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4"/>
                  </a:lnTo>
                  <a:lnTo>
                    <a:pt x="4" y="59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614" name="Rectangle 70"/>
            <p:cNvSpPr>
              <a:spLocks noChangeAspect="1" noChangeArrowheads="1"/>
            </p:cNvSpPr>
            <p:nvPr/>
          </p:nvSpPr>
          <p:spPr bwMode="auto">
            <a:xfrm>
              <a:off x="1890" y="1437"/>
              <a:ext cx="97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1</a:t>
              </a:r>
              <a:endParaRPr lang="en-US" sz="1600"/>
            </a:p>
          </p:txBody>
        </p:sp>
        <p:sp>
          <p:nvSpPr>
            <p:cNvPr id="1644615" name="Rectangle 71"/>
            <p:cNvSpPr>
              <a:spLocks noChangeAspect="1" noChangeArrowheads="1"/>
            </p:cNvSpPr>
            <p:nvPr/>
          </p:nvSpPr>
          <p:spPr bwMode="auto">
            <a:xfrm>
              <a:off x="1089" y="2061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2</a:t>
              </a:r>
              <a:endParaRPr lang="en-US" sz="1600"/>
            </a:p>
          </p:txBody>
        </p:sp>
        <p:sp>
          <p:nvSpPr>
            <p:cNvPr id="1644616" name="Rectangle 72"/>
            <p:cNvSpPr>
              <a:spLocks noChangeAspect="1" noChangeArrowheads="1"/>
            </p:cNvSpPr>
            <p:nvPr/>
          </p:nvSpPr>
          <p:spPr bwMode="auto">
            <a:xfrm>
              <a:off x="1699" y="2374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3</a:t>
              </a:r>
              <a:endParaRPr lang="en-US" sz="1600"/>
            </a:p>
          </p:txBody>
        </p:sp>
        <p:sp>
          <p:nvSpPr>
            <p:cNvPr id="1644617" name="Rectangle 73"/>
            <p:cNvSpPr>
              <a:spLocks noChangeAspect="1" noChangeArrowheads="1"/>
            </p:cNvSpPr>
            <p:nvPr/>
          </p:nvSpPr>
          <p:spPr bwMode="auto">
            <a:xfrm>
              <a:off x="1319" y="2929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4</a:t>
              </a:r>
              <a:endParaRPr lang="en-US" sz="1600"/>
            </a:p>
          </p:txBody>
        </p:sp>
        <p:sp>
          <p:nvSpPr>
            <p:cNvPr id="1644618" name="Rectangle 74"/>
            <p:cNvSpPr>
              <a:spLocks noChangeAspect="1" noChangeArrowheads="1"/>
            </p:cNvSpPr>
            <p:nvPr/>
          </p:nvSpPr>
          <p:spPr bwMode="auto">
            <a:xfrm>
              <a:off x="517" y="1940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5</a:t>
              </a:r>
              <a:endParaRPr lang="en-US" sz="1600"/>
            </a:p>
          </p:txBody>
        </p:sp>
        <p:sp>
          <p:nvSpPr>
            <p:cNvPr id="1644619" name="Rectangle 75"/>
            <p:cNvSpPr>
              <a:spLocks noChangeAspect="1" noChangeArrowheads="1"/>
            </p:cNvSpPr>
            <p:nvPr/>
          </p:nvSpPr>
          <p:spPr bwMode="auto">
            <a:xfrm>
              <a:off x="2187" y="2429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6</a:t>
              </a:r>
              <a:endParaRPr lang="en-US" sz="1600"/>
            </a:p>
          </p:txBody>
        </p:sp>
      </p:grpSp>
      <p:grpSp>
        <p:nvGrpSpPr>
          <p:cNvPr id="1644620" name="Group 76"/>
          <p:cNvGrpSpPr>
            <a:grpSpLocks noChangeAspect="1"/>
          </p:cNvGrpSpPr>
          <p:nvPr/>
        </p:nvGrpSpPr>
        <p:grpSpPr bwMode="auto">
          <a:xfrm>
            <a:off x="7285038" y="2817813"/>
            <a:ext cx="919162" cy="617537"/>
            <a:chOff x="1465" y="2309"/>
            <a:chExt cx="883" cy="594"/>
          </a:xfrm>
        </p:grpSpPr>
        <p:sp>
          <p:nvSpPr>
            <p:cNvPr id="1644621" name="Freeform 77"/>
            <p:cNvSpPr>
              <a:spLocks noChangeAspect="1"/>
            </p:cNvSpPr>
            <p:nvPr/>
          </p:nvSpPr>
          <p:spPr bwMode="auto">
            <a:xfrm>
              <a:off x="1465" y="2309"/>
              <a:ext cx="883" cy="369"/>
            </a:xfrm>
            <a:custGeom>
              <a:avLst/>
              <a:gdLst>
                <a:gd name="T0" fmla="*/ 442 w 883"/>
                <a:gd name="T1" fmla="*/ 0 h 369"/>
                <a:gd name="T2" fmla="*/ 502 w 883"/>
                <a:gd name="T3" fmla="*/ 2 h 369"/>
                <a:gd name="T4" fmla="*/ 562 w 883"/>
                <a:gd name="T5" fmla="*/ 7 h 369"/>
                <a:gd name="T6" fmla="*/ 619 w 883"/>
                <a:gd name="T7" fmla="*/ 15 h 369"/>
                <a:gd name="T8" fmla="*/ 672 w 883"/>
                <a:gd name="T9" fmla="*/ 28 h 369"/>
                <a:gd name="T10" fmla="*/ 721 w 883"/>
                <a:gd name="T11" fmla="*/ 43 h 369"/>
                <a:gd name="T12" fmla="*/ 766 w 883"/>
                <a:gd name="T13" fmla="*/ 60 h 369"/>
                <a:gd name="T14" fmla="*/ 804 w 883"/>
                <a:gd name="T15" fmla="*/ 79 h 369"/>
                <a:gd name="T16" fmla="*/ 836 w 883"/>
                <a:gd name="T17" fmla="*/ 100 h 369"/>
                <a:gd name="T18" fmla="*/ 859 w 883"/>
                <a:gd name="T19" fmla="*/ 123 h 369"/>
                <a:gd name="T20" fmla="*/ 876 w 883"/>
                <a:gd name="T21" fmla="*/ 147 h 369"/>
                <a:gd name="T22" fmla="*/ 883 w 883"/>
                <a:gd name="T23" fmla="*/ 172 h 369"/>
                <a:gd name="T24" fmla="*/ 883 w 883"/>
                <a:gd name="T25" fmla="*/ 197 h 369"/>
                <a:gd name="T26" fmla="*/ 876 w 883"/>
                <a:gd name="T27" fmla="*/ 223 h 369"/>
                <a:gd name="T28" fmla="*/ 859 w 883"/>
                <a:gd name="T29" fmla="*/ 246 h 369"/>
                <a:gd name="T30" fmla="*/ 836 w 883"/>
                <a:gd name="T31" fmla="*/ 270 h 369"/>
                <a:gd name="T32" fmla="*/ 804 w 883"/>
                <a:gd name="T33" fmla="*/ 291 h 369"/>
                <a:gd name="T34" fmla="*/ 766 w 883"/>
                <a:gd name="T35" fmla="*/ 310 h 369"/>
                <a:gd name="T36" fmla="*/ 721 w 883"/>
                <a:gd name="T37" fmla="*/ 327 h 369"/>
                <a:gd name="T38" fmla="*/ 672 w 883"/>
                <a:gd name="T39" fmla="*/ 342 h 369"/>
                <a:gd name="T40" fmla="*/ 619 w 883"/>
                <a:gd name="T41" fmla="*/ 354 h 369"/>
                <a:gd name="T42" fmla="*/ 562 w 883"/>
                <a:gd name="T43" fmla="*/ 363 h 369"/>
                <a:gd name="T44" fmla="*/ 502 w 883"/>
                <a:gd name="T45" fmla="*/ 367 h 369"/>
                <a:gd name="T46" fmla="*/ 442 w 883"/>
                <a:gd name="T47" fmla="*/ 369 h 369"/>
                <a:gd name="T48" fmla="*/ 381 w 883"/>
                <a:gd name="T49" fmla="*/ 367 h 369"/>
                <a:gd name="T50" fmla="*/ 323 w 883"/>
                <a:gd name="T51" fmla="*/ 363 h 369"/>
                <a:gd name="T52" fmla="*/ 266 w 883"/>
                <a:gd name="T53" fmla="*/ 354 h 369"/>
                <a:gd name="T54" fmla="*/ 213 w 883"/>
                <a:gd name="T55" fmla="*/ 342 h 369"/>
                <a:gd name="T56" fmla="*/ 162 w 883"/>
                <a:gd name="T57" fmla="*/ 327 h 369"/>
                <a:gd name="T58" fmla="*/ 119 w 883"/>
                <a:gd name="T59" fmla="*/ 310 h 369"/>
                <a:gd name="T60" fmla="*/ 81 w 883"/>
                <a:gd name="T61" fmla="*/ 291 h 369"/>
                <a:gd name="T62" fmla="*/ 49 w 883"/>
                <a:gd name="T63" fmla="*/ 270 h 369"/>
                <a:gd name="T64" fmla="*/ 26 w 883"/>
                <a:gd name="T65" fmla="*/ 246 h 369"/>
                <a:gd name="T66" fmla="*/ 9 w 883"/>
                <a:gd name="T67" fmla="*/ 223 h 369"/>
                <a:gd name="T68" fmla="*/ 0 w 883"/>
                <a:gd name="T69" fmla="*/ 197 h 369"/>
                <a:gd name="T70" fmla="*/ 0 w 883"/>
                <a:gd name="T71" fmla="*/ 172 h 369"/>
                <a:gd name="T72" fmla="*/ 9 w 883"/>
                <a:gd name="T73" fmla="*/ 147 h 369"/>
                <a:gd name="T74" fmla="*/ 26 w 883"/>
                <a:gd name="T75" fmla="*/ 123 h 369"/>
                <a:gd name="T76" fmla="*/ 49 w 883"/>
                <a:gd name="T77" fmla="*/ 100 h 369"/>
                <a:gd name="T78" fmla="*/ 81 w 883"/>
                <a:gd name="T79" fmla="*/ 79 h 369"/>
                <a:gd name="T80" fmla="*/ 119 w 883"/>
                <a:gd name="T81" fmla="*/ 60 h 369"/>
                <a:gd name="T82" fmla="*/ 162 w 883"/>
                <a:gd name="T83" fmla="*/ 43 h 369"/>
                <a:gd name="T84" fmla="*/ 213 w 883"/>
                <a:gd name="T85" fmla="*/ 28 h 369"/>
                <a:gd name="T86" fmla="*/ 266 w 883"/>
                <a:gd name="T87" fmla="*/ 15 h 369"/>
                <a:gd name="T88" fmla="*/ 323 w 883"/>
                <a:gd name="T89" fmla="*/ 7 h 369"/>
                <a:gd name="T90" fmla="*/ 381 w 883"/>
                <a:gd name="T91" fmla="*/ 2 h 369"/>
                <a:gd name="T92" fmla="*/ 442 w 883"/>
                <a:gd name="T93" fmla="*/ 0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83" h="369">
                  <a:moveTo>
                    <a:pt x="442" y="0"/>
                  </a:moveTo>
                  <a:lnTo>
                    <a:pt x="502" y="2"/>
                  </a:lnTo>
                  <a:lnTo>
                    <a:pt x="562" y="7"/>
                  </a:lnTo>
                  <a:lnTo>
                    <a:pt x="619" y="15"/>
                  </a:lnTo>
                  <a:lnTo>
                    <a:pt x="672" y="28"/>
                  </a:lnTo>
                  <a:lnTo>
                    <a:pt x="721" y="43"/>
                  </a:lnTo>
                  <a:lnTo>
                    <a:pt x="766" y="60"/>
                  </a:lnTo>
                  <a:lnTo>
                    <a:pt x="804" y="79"/>
                  </a:lnTo>
                  <a:lnTo>
                    <a:pt x="836" y="100"/>
                  </a:lnTo>
                  <a:lnTo>
                    <a:pt x="859" y="123"/>
                  </a:lnTo>
                  <a:lnTo>
                    <a:pt x="876" y="147"/>
                  </a:lnTo>
                  <a:lnTo>
                    <a:pt x="883" y="172"/>
                  </a:lnTo>
                  <a:lnTo>
                    <a:pt x="883" y="197"/>
                  </a:lnTo>
                  <a:lnTo>
                    <a:pt x="876" y="223"/>
                  </a:lnTo>
                  <a:lnTo>
                    <a:pt x="859" y="246"/>
                  </a:lnTo>
                  <a:lnTo>
                    <a:pt x="836" y="270"/>
                  </a:lnTo>
                  <a:lnTo>
                    <a:pt x="804" y="291"/>
                  </a:lnTo>
                  <a:lnTo>
                    <a:pt x="766" y="310"/>
                  </a:lnTo>
                  <a:lnTo>
                    <a:pt x="721" y="327"/>
                  </a:lnTo>
                  <a:lnTo>
                    <a:pt x="672" y="342"/>
                  </a:lnTo>
                  <a:lnTo>
                    <a:pt x="619" y="354"/>
                  </a:lnTo>
                  <a:lnTo>
                    <a:pt x="562" y="363"/>
                  </a:lnTo>
                  <a:lnTo>
                    <a:pt x="502" y="367"/>
                  </a:lnTo>
                  <a:lnTo>
                    <a:pt x="442" y="369"/>
                  </a:lnTo>
                  <a:lnTo>
                    <a:pt x="381" y="367"/>
                  </a:lnTo>
                  <a:lnTo>
                    <a:pt x="323" y="363"/>
                  </a:lnTo>
                  <a:lnTo>
                    <a:pt x="266" y="354"/>
                  </a:lnTo>
                  <a:lnTo>
                    <a:pt x="213" y="342"/>
                  </a:lnTo>
                  <a:lnTo>
                    <a:pt x="162" y="327"/>
                  </a:lnTo>
                  <a:lnTo>
                    <a:pt x="119" y="310"/>
                  </a:lnTo>
                  <a:lnTo>
                    <a:pt x="81" y="291"/>
                  </a:lnTo>
                  <a:lnTo>
                    <a:pt x="49" y="270"/>
                  </a:lnTo>
                  <a:lnTo>
                    <a:pt x="26" y="246"/>
                  </a:lnTo>
                  <a:lnTo>
                    <a:pt x="9" y="223"/>
                  </a:lnTo>
                  <a:lnTo>
                    <a:pt x="0" y="197"/>
                  </a:lnTo>
                  <a:lnTo>
                    <a:pt x="0" y="172"/>
                  </a:lnTo>
                  <a:lnTo>
                    <a:pt x="9" y="147"/>
                  </a:lnTo>
                  <a:lnTo>
                    <a:pt x="26" y="123"/>
                  </a:lnTo>
                  <a:lnTo>
                    <a:pt x="49" y="100"/>
                  </a:lnTo>
                  <a:lnTo>
                    <a:pt x="81" y="79"/>
                  </a:lnTo>
                  <a:lnTo>
                    <a:pt x="119" y="60"/>
                  </a:lnTo>
                  <a:lnTo>
                    <a:pt x="162" y="43"/>
                  </a:lnTo>
                  <a:lnTo>
                    <a:pt x="213" y="28"/>
                  </a:lnTo>
                  <a:lnTo>
                    <a:pt x="266" y="15"/>
                  </a:lnTo>
                  <a:lnTo>
                    <a:pt x="323" y="7"/>
                  </a:lnTo>
                  <a:lnTo>
                    <a:pt x="381" y="2"/>
                  </a:lnTo>
                  <a:lnTo>
                    <a:pt x="442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622" name="Rectangle 78"/>
            <p:cNvSpPr>
              <a:spLocks noChangeAspect="1" noChangeArrowheads="1"/>
            </p:cNvSpPr>
            <p:nvPr/>
          </p:nvSpPr>
          <p:spPr bwMode="auto">
            <a:xfrm>
              <a:off x="1831" y="2668"/>
              <a:ext cx="10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1</a:t>
              </a:r>
              <a:endParaRPr lang="en-US" sz="1600"/>
            </a:p>
          </p:txBody>
        </p:sp>
      </p:grpSp>
      <p:grpSp>
        <p:nvGrpSpPr>
          <p:cNvPr id="1644623" name="Group 79"/>
          <p:cNvGrpSpPr>
            <a:grpSpLocks noChangeAspect="1"/>
          </p:cNvGrpSpPr>
          <p:nvPr/>
        </p:nvGrpSpPr>
        <p:grpSpPr bwMode="auto">
          <a:xfrm>
            <a:off x="6100763" y="2187575"/>
            <a:ext cx="1036637" cy="584200"/>
            <a:chOff x="328" y="1704"/>
            <a:chExt cx="995" cy="561"/>
          </a:xfrm>
        </p:grpSpPr>
        <p:sp>
          <p:nvSpPr>
            <p:cNvPr id="1644624" name="Freeform 80"/>
            <p:cNvSpPr>
              <a:spLocks noChangeAspect="1"/>
            </p:cNvSpPr>
            <p:nvPr/>
          </p:nvSpPr>
          <p:spPr bwMode="auto">
            <a:xfrm>
              <a:off x="328" y="1881"/>
              <a:ext cx="995" cy="384"/>
            </a:xfrm>
            <a:custGeom>
              <a:avLst/>
              <a:gdLst>
                <a:gd name="T0" fmla="*/ 514 w 995"/>
                <a:gd name="T1" fmla="*/ 4 h 384"/>
                <a:gd name="T2" fmla="*/ 576 w 995"/>
                <a:gd name="T3" fmla="*/ 10 h 384"/>
                <a:gd name="T4" fmla="*/ 638 w 995"/>
                <a:gd name="T5" fmla="*/ 21 h 384"/>
                <a:gd name="T6" fmla="*/ 695 w 995"/>
                <a:gd name="T7" fmla="*/ 34 h 384"/>
                <a:gd name="T8" fmla="*/ 752 w 995"/>
                <a:gd name="T9" fmla="*/ 49 h 384"/>
                <a:gd name="T10" fmla="*/ 803 w 995"/>
                <a:gd name="T11" fmla="*/ 66 h 384"/>
                <a:gd name="T12" fmla="*/ 850 w 995"/>
                <a:gd name="T13" fmla="*/ 85 h 384"/>
                <a:gd name="T14" fmla="*/ 891 w 995"/>
                <a:gd name="T15" fmla="*/ 106 h 384"/>
                <a:gd name="T16" fmla="*/ 927 w 995"/>
                <a:gd name="T17" fmla="*/ 127 h 384"/>
                <a:gd name="T18" fmla="*/ 954 w 995"/>
                <a:gd name="T19" fmla="*/ 150 h 384"/>
                <a:gd name="T20" fmla="*/ 976 w 995"/>
                <a:gd name="T21" fmla="*/ 176 h 384"/>
                <a:gd name="T22" fmla="*/ 988 w 995"/>
                <a:gd name="T23" fmla="*/ 199 h 384"/>
                <a:gd name="T24" fmla="*/ 995 w 995"/>
                <a:gd name="T25" fmla="*/ 222 h 384"/>
                <a:gd name="T26" fmla="*/ 993 w 995"/>
                <a:gd name="T27" fmla="*/ 248 h 384"/>
                <a:gd name="T28" fmla="*/ 982 w 995"/>
                <a:gd name="T29" fmla="*/ 269 h 384"/>
                <a:gd name="T30" fmla="*/ 965 w 995"/>
                <a:gd name="T31" fmla="*/ 290 h 384"/>
                <a:gd name="T32" fmla="*/ 940 w 995"/>
                <a:gd name="T33" fmla="*/ 312 h 384"/>
                <a:gd name="T34" fmla="*/ 908 w 995"/>
                <a:gd name="T35" fmla="*/ 329 h 384"/>
                <a:gd name="T36" fmla="*/ 869 w 995"/>
                <a:gd name="T37" fmla="*/ 345 h 384"/>
                <a:gd name="T38" fmla="*/ 827 w 995"/>
                <a:gd name="T39" fmla="*/ 358 h 384"/>
                <a:gd name="T40" fmla="*/ 776 w 995"/>
                <a:gd name="T41" fmla="*/ 369 h 384"/>
                <a:gd name="T42" fmla="*/ 723 w 995"/>
                <a:gd name="T43" fmla="*/ 377 h 384"/>
                <a:gd name="T44" fmla="*/ 665 w 995"/>
                <a:gd name="T45" fmla="*/ 382 h 384"/>
                <a:gd name="T46" fmla="*/ 606 w 995"/>
                <a:gd name="T47" fmla="*/ 384 h 384"/>
                <a:gd name="T48" fmla="*/ 544 w 995"/>
                <a:gd name="T49" fmla="*/ 384 h 384"/>
                <a:gd name="T50" fmla="*/ 480 w 995"/>
                <a:gd name="T51" fmla="*/ 379 h 384"/>
                <a:gd name="T52" fmla="*/ 419 w 995"/>
                <a:gd name="T53" fmla="*/ 373 h 384"/>
                <a:gd name="T54" fmla="*/ 357 w 995"/>
                <a:gd name="T55" fmla="*/ 362 h 384"/>
                <a:gd name="T56" fmla="*/ 300 w 995"/>
                <a:gd name="T57" fmla="*/ 350 h 384"/>
                <a:gd name="T58" fmla="*/ 242 w 995"/>
                <a:gd name="T59" fmla="*/ 335 h 384"/>
                <a:gd name="T60" fmla="*/ 191 w 995"/>
                <a:gd name="T61" fmla="*/ 318 h 384"/>
                <a:gd name="T62" fmla="*/ 144 w 995"/>
                <a:gd name="T63" fmla="*/ 299 h 384"/>
                <a:gd name="T64" fmla="*/ 104 w 995"/>
                <a:gd name="T65" fmla="*/ 278 h 384"/>
                <a:gd name="T66" fmla="*/ 68 w 995"/>
                <a:gd name="T67" fmla="*/ 256 h 384"/>
                <a:gd name="T68" fmla="*/ 40 w 995"/>
                <a:gd name="T69" fmla="*/ 233 h 384"/>
                <a:gd name="T70" fmla="*/ 19 w 995"/>
                <a:gd name="T71" fmla="*/ 208 h 384"/>
                <a:gd name="T72" fmla="*/ 6 w 995"/>
                <a:gd name="T73" fmla="*/ 184 h 384"/>
                <a:gd name="T74" fmla="*/ 0 w 995"/>
                <a:gd name="T75" fmla="*/ 161 h 384"/>
                <a:gd name="T76" fmla="*/ 2 w 995"/>
                <a:gd name="T77" fmla="*/ 138 h 384"/>
                <a:gd name="T78" fmla="*/ 13 w 995"/>
                <a:gd name="T79" fmla="*/ 114 h 384"/>
                <a:gd name="T80" fmla="*/ 30 w 995"/>
                <a:gd name="T81" fmla="*/ 93 h 384"/>
                <a:gd name="T82" fmla="*/ 55 w 995"/>
                <a:gd name="T83" fmla="*/ 72 h 384"/>
                <a:gd name="T84" fmla="*/ 87 w 995"/>
                <a:gd name="T85" fmla="*/ 55 h 384"/>
                <a:gd name="T86" fmla="*/ 125 w 995"/>
                <a:gd name="T87" fmla="*/ 38 h 384"/>
                <a:gd name="T88" fmla="*/ 168 w 995"/>
                <a:gd name="T89" fmla="*/ 25 h 384"/>
                <a:gd name="T90" fmla="*/ 219 w 995"/>
                <a:gd name="T91" fmla="*/ 15 h 384"/>
                <a:gd name="T92" fmla="*/ 272 w 995"/>
                <a:gd name="T93" fmla="*/ 6 h 384"/>
                <a:gd name="T94" fmla="*/ 329 w 995"/>
                <a:gd name="T95" fmla="*/ 2 h 384"/>
                <a:gd name="T96" fmla="*/ 389 w 995"/>
                <a:gd name="T97" fmla="*/ 0 h 384"/>
                <a:gd name="T98" fmla="*/ 450 w 995"/>
                <a:gd name="T99" fmla="*/ 0 h 384"/>
                <a:gd name="T100" fmla="*/ 514 w 995"/>
                <a:gd name="T101" fmla="*/ 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95" h="384">
                  <a:moveTo>
                    <a:pt x="514" y="4"/>
                  </a:moveTo>
                  <a:lnTo>
                    <a:pt x="576" y="10"/>
                  </a:lnTo>
                  <a:lnTo>
                    <a:pt x="638" y="21"/>
                  </a:lnTo>
                  <a:lnTo>
                    <a:pt x="695" y="34"/>
                  </a:lnTo>
                  <a:lnTo>
                    <a:pt x="752" y="49"/>
                  </a:lnTo>
                  <a:lnTo>
                    <a:pt x="803" y="66"/>
                  </a:lnTo>
                  <a:lnTo>
                    <a:pt x="850" y="85"/>
                  </a:lnTo>
                  <a:lnTo>
                    <a:pt x="891" y="106"/>
                  </a:lnTo>
                  <a:lnTo>
                    <a:pt x="927" y="127"/>
                  </a:lnTo>
                  <a:lnTo>
                    <a:pt x="954" y="150"/>
                  </a:lnTo>
                  <a:lnTo>
                    <a:pt x="976" y="176"/>
                  </a:lnTo>
                  <a:lnTo>
                    <a:pt x="988" y="199"/>
                  </a:lnTo>
                  <a:lnTo>
                    <a:pt x="995" y="222"/>
                  </a:lnTo>
                  <a:lnTo>
                    <a:pt x="993" y="248"/>
                  </a:lnTo>
                  <a:lnTo>
                    <a:pt x="982" y="269"/>
                  </a:lnTo>
                  <a:lnTo>
                    <a:pt x="965" y="290"/>
                  </a:lnTo>
                  <a:lnTo>
                    <a:pt x="940" y="312"/>
                  </a:lnTo>
                  <a:lnTo>
                    <a:pt x="908" y="329"/>
                  </a:lnTo>
                  <a:lnTo>
                    <a:pt x="869" y="345"/>
                  </a:lnTo>
                  <a:lnTo>
                    <a:pt x="827" y="358"/>
                  </a:lnTo>
                  <a:lnTo>
                    <a:pt x="776" y="369"/>
                  </a:lnTo>
                  <a:lnTo>
                    <a:pt x="723" y="377"/>
                  </a:lnTo>
                  <a:lnTo>
                    <a:pt x="665" y="382"/>
                  </a:lnTo>
                  <a:lnTo>
                    <a:pt x="606" y="384"/>
                  </a:lnTo>
                  <a:lnTo>
                    <a:pt x="544" y="384"/>
                  </a:lnTo>
                  <a:lnTo>
                    <a:pt x="480" y="379"/>
                  </a:lnTo>
                  <a:lnTo>
                    <a:pt x="419" y="373"/>
                  </a:lnTo>
                  <a:lnTo>
                    <a:pt x="357" y="362"/>
                  </a:lnTo>
                  <a:lnTo>
                    <a:pt x="300" y="350"/>
                  </a:lnTo>
                  <a:lnTo>
                    <a:pt x="242" y="335"/>
                  </a:lnTo>
                  <a:lnTo>
                    <a:pt x="191" y="318"/>
                  </a:lnTo>
                  <a:lnTo>
                    <a:pt x="144" y="299"/>
                  </a:lnTo>
                  <a:lnTo>
                    <a:pt x="104" y="278"/>
                  </a:lnTo>
                  <a:lnTo>
                    <a:pt x="68" y="256"/>
                  </a:lnTo>
                  <a:lnTo>
                    <a:pt x="40" y="233"/>
                  </a:lnTo>
                  <a:lnTo>
                    <a:pt x="19" y="208"/>
                  </a:lnTo>
                  <a:lnTo>
                    <a:pt x="6" y="184"/>
                  </a:lnTo>
                  <a:lnTo>
                    <a:pt x="0" y="161"/>
                  </a:lnTo>
                  <a:lnTo>
                    <a:pt x="2" y="138"/>
                  </a:lnTo>
                  <a:lnTo>
                    <a:pt x="13" y="114"/>
                  </a:lnTo>
                  <a:lnTo>
                    <a:pt x="30" y="93"/>
                  </a:lnTo>
                  <a:lnTo>
                    <a:pt x="55" y="72"/>
                  </a:lnTo>
                  <a:lnTo>
                    <a:pt x="87" y="55"/>
                  </a:lnTo>
                  <a:lnTo>
                    <a:pt x="125" y="38"/>
                  </a:lnTo>
                  <a:lnTo>
                    <a:pt x="168" y="25"/>
                  </a:lnTo>
                  <a:lnTo>
                    <a:pt x="219" y="15"/>
                  </a:lnTo>
                  <a:lnTo>
                    <a:pt x="272" y="6"/>
                  </a:lnTo>
                  <a:lnTo>
                    <a:pt x="329" y="2"/>
                  </a:lnTo>
                  <a:lnTo>
                    <a:pt x="389" y="0"/>
                  </a:lnTo>
                  <a:lnTo>
                    <a:pt x="450" y="0"/>
                  </a:lnTo>
                  <a:lnTo>
                    <a:pt x="514" y="4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625" name="Rectangle 81"/>
            <p:cNvSpPr>
              <a:spLocks noChangeAspect="1" noChangeArrowheads="1"/>
            </p:cNvSpPr>
            <p:nvPr/>
          </p:nvSpPr>
          <p:spPr bwMode="auto">
            <a:xfrm>
              <a:off x="854" y="1704"/>
              <a:ext cx="10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2</a:t>
              </a:r>
              <a:endParaRPr lang="en-US" sz="1600"/>
            </a:p>
          </p:txBody>
        </p:sp>
      </p:grpSp>
      <p:grpSp>
        <p:nvGrpSpPr>
          <p:cNvPr id="1644626" name="Group 82"/>
          <p:cNvGrpSpPr>
            <a:grpSpLocks noChangeAspect="1"/>
          </p:cNvGrpSpPr>
          <p:nvPr/>
        </p:nvGrpSpPr>
        <p:grpSpPr bwMode="auto">
          <a:xfrm>
            <a:off x="5875338" y="1751013"/>
            <a:ext cx="2582862" cy="2287587"/>
            <a:chOff x="111" y="1285"/>
            <a:chExt cx="2481" cy="2197"/>
          </a:xfrm>
        </p:grpSpPr>
        <p:sp>
          <p:nvSpPr>
            <p:cNvPr id="1644627" name="Rectangle 83"/>
            <p:cNvSpPr>
              <a:spLocks noChangeAspect="1" noChangeArrowheads="1"/>
            </p:cNvSpPr>
            <p:nvPr/>
          </p:nvSpPr>
          <p:spPr bwMode="auto">
            <a:xfrm>
              <a:off x="2484" y="1704"/>
              <a:ext cx="10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5</a:t>
              </a:r>
              <a:endParaRPr lang="en-US" sz="1600"/>
            </a:p>
          </p:txBody>
        </p:sp>
        <p:sp>
          <p:nvSpPr>
            <p:cNvPr id="1644628" name="Freeform 84"/>
            <p:cNvSpPr>
              <a:spLocks noChangeAspect="1"/>
            </p:cNvSpPr>
            <p:nvPr/>
          </p:nvSpPr>
          <p:spPr bwMode="auto">
            <a:xfrm>
              <a:off x="111" y="1285"/>
              <a:ext cx="2479" cy="2197"/>
            </a:xfrm>
            <a:custGeom>
              <a:avLst/>
              <a:gdLst>
                <a:gd name="T0" fmla="*/ 1339 w 2479"/>
                <a:gd name="T1" fmla="*/ 2 h 2197"/>
                <a:gd name="T2" fmla="*/ 1541 w 2479"/>
                <a:gd name="T3" fmla="*/ 32 h 2197"/>
                <a:gd name="T4" fmla="*/ 1735 w 2479"/>
                <a:gd name="T5" fmla="*/ 91 h 2197"/>
                <a:gd name="T6" fmla="*/ 1916 w 2479"/>
                <a:gd name="T7" fmla="*/ 178 h 2197"/>
                <a:gd name="T8" fmla="*/ 2077 w 2479"/>
                <a:gd name="T9" fmla="*/ 288 h 2197"/>
                <a:gd name="T10" fmla="*/ 2215 w 2479"/>
                <a:gd name="T11" fmla="*/ 422 h 2197"/>
                <a:gd name="T12" fmla="*/ 2328 w 2479"/>
                <a:gd name="T13" fmla="*/ 572 h 2197"/>
                <a:gd name="T14" fmla="*/ 2411 w 2479"/>
                <a:gd name="T15" fmla="*/ 740 h 2197"/>
                <a:gd name="T16" fmla="*/ 2462 w 2479"/>
                <a:gd name="T17" fmla="*/ 916 h 2197"/>
                <a:gd name="T18" fmla="*/ 2479 w 2479"/>
                <a:gd name="T19" fmla="*/ 1096 h 2197"/>
                <a:gd name="T20" fmla="*/ 2462 w 2479"/>
                <a:gd name="T21" fmla="*/ 1277 h 2197"/>
                <a:gd name="T22" fmla="*/ 2411 w 2479"/>
                <a:gd name="T23" fmla="*/ 1453 h 2197"/>
                <a:gd name="T24" fmla="*/ 2330 w 2479"/>
                <a:gd name="T25" fmla="*/ 1620 h 2197"/>
                <a:gd name="T26" fmla="*/ 2217 w 2479"/>
                <a:gd name="T27" fmla="*/ 1771 h 2197"/>
                <a:gd name="T28" fmla="*/ 2079 w 2479"/>
                <a:gd name="T29" fmla="*/ 1904 h 2197"/>
                <a:gd name="T30" fmla="*/ 1918 w 2479"/>
                <a:gd name="T31" fmla="*/ 2017 h 2197"/>
                <a:gd name="T32" fmla="*/ 1739 w 2479"/>
                <a:gd name="T33" fmla="*/ 2104 h 2197"/>
                <a:gd name="T34" fmla="*/ 1546 w 2479"/>
                <a:gd name="T35" fmla="*/ 2163 h 2197"/>
                <a:gd name="T36" fmla="*/ 1344 w 2479"/>
                <a:gd name="T37" fmla="*/ 2193 h 2197"/>
                <a:gd name="T38" fmla="*/ 1139 w 2479"/>
                <a:gd name="T39" fmla="*/ 2193 h 2197"/>
                <a:gd name="T40" fmla="*/ 938 w 2479"/>
                <a:gd name="T41" fmla="*/ 2163 h 2197"/>
                <a:gd name="T42" fmla="*/ 744 w 2479"/>
                <a:gd name="T43" fmla="*/ 2106 h 2197"/>
                <a:gd name="T44" fmla="*/ 563 w 2479"/>
                <a:gd name="T45" fmla="*/ 2019 h 2197"/>
                <a:gd name="T46" fmla="*/ 402 w 2479"/>
                <a:gd name="T47" fmla="*/ 1909 h 2197"/>
                <a:gd name="T48" fmla="*/ 264 w 2479"/>
                <a:gd name="T49" fmla="*/ 1775 h 2197"/>
                <a:gd name="T50" fmla="*/ 151 w 2479"/>
                <a:gd name="T51" fmla="*/ 1622 h 2197"/>
                <a:gd name="T52" fmla="*/ 68 w 2479"/>
                <a:gd name="T53" fmla="*/ 1457 h 2197"/>
                <a:gd name="T54" fmla="*/ 17 w 2479"/>
                <a:gd name="T55" fmla="*/ 1281 h 2197"/>
                <a:gd name="T56" fmla="*/ 0 w 2479"/>
                <a:gd name="T57" fmla="*/ 1101 h 2197"/>
                <a:gd name="T58" fmla="*/ 17 w 2479"/>
                <a:gd name="T59" fmla="*/ 920 h 2197"/>
                <a:gd name="T60" fmla="*/ 68 w 2479"/>
                <a:gd name="T61" fmla="*/ 744 h 2197"/>
                <a:gd name="T62" fmla="*/ 149 w 2479"/>
                <a:gd name="T63" fmla="*/ 577 h 2197"/>
                <a:gd name="T64" fmla="*/ 261 w 2479"/>
                <a:gd name="T65" fmla="*/ 424 h 2197"/>
                <a:gd name="T66" fmla="*/ 400 w 2479"/>
                <a:gd name="T67" fmla="*/ 290 h 2197"/>
                <a:gd name="T68" fmla="*/ 559 w 2479"/>
                <a:gd name="T69" fmla="*/ 180 h 2197"/>
                <a:gd name="T70" fmla="*/ 740 w 2479"/>
                <a:gd name="T71" fmla="*/ 93 h 2197"/>
                <a:gd name="T72" fmla="*/ 933 w 2479"/>
                <a:gd name="T73" fmla="*/ 34 h 2197"/>
                <a:gd name="T74" fmla="*/ 1135 w 2479"/>
                <a:gd name="T75" fmla="*/ 4 h 2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479" h="2197">
                  <a:moveTo>
                    <a:pt x="1237" y="0"/>
                  </a:moveTo>
                  <a:lnTo>
                    <a:pt x="1339" y="2"/>
                  </a:lnTo>
                  <a:lnTo>
                    <a:pt x="1441" y="15"/>
                  </a:lnTo>
                  <a:lnTo>
                    <a:pt x="1541" y="32"/>
                  </a:lnTo>
                  <a:lnTo>
                    <a:pt x="1639" y="59"/>
                  </a:lnTo>
                  <a:lnTo>
                    <a:pt x="1735" y="91"/>
                  </a:lnTo>
                  <a:lnTo>
                    <a:pt x="1826" y="131"/>
                  </a:lnTo>
                  <a:lnTo>
                    <a:pt x="1916" y="178"/>
                  </a:lnTo>
                  <a:lnTo>
                    <a:pt x="1998" y="229"/>
                  </a:lnTo>
                  <a:lnTo>
                    <a:pt x="2077" y="288"/>
                  </a:lnTo>
                  <a:lnTo>
                    <a:pt x="2149" y="352"/>
                  </a:lnTo>
                  <a:lnTo>
                    <a:pt x="2215" y="422"/>
                  </a:lnTo>
                  <a:lnTo>
                    <a:pt x="2275" y="496"/>
                  </a:lnTo>
                  <a:lnTo>
                    <a:pt x="2328" y="572"/>
                  </a:lnTo>
                  <a:lnTo>
                    <a:pt x="2373" y="655"/>
                  </a:lnTo>
                  <a:lnTo>
                    <a:pt x="2411" y="740"/>
                  </a:lnTo>
                  <a:lnTo>
                    <a:pt x="2441" y="827"/>
                  </a:lnTo>
                  <a:lnTo>
                    <a:pt x="2462" y="916"/>
                  </a:lnTo>
                  <a:lnTo>
                    <a:pt x="2475" y="1005"/>
                  </a:lnTo>
                  <a:lnTo>
                    <a:pt x="2479" y="1096"/>
                  </a:lnTo>
                  <a:lnTo>
                    <a:pt x="2475" y="1188"/>
                  </a:lnTo>
                  <a:lnTo>
                    <a:pt x="2462" y="1277"/>
                  </a:lnTo>
                  <a:lnTo>
                    <a:pt x="2441" y="1366"/>
                  </a:lnTo>
                  <a:lnTo>
                    <a:pt x="2411" y="1453"/>
                  </a:lnTo>
                  <a:lnTo>
                    <a:pt x="2375" y="1537"/>
                  </a:lnTo>
                  <a:lnTo>
                    <a:pt x="2330" y="1620"/>
                  </a:lnTo>
                  <a:lnTo>
                    <a:pt x="2277" y="1697"/>
                  </a:lnTo>
                  <a:lnTo>
                    <a:pt x="2217" y="1771"/>
                  </a:lnTo>
                  <a:lnTo>
                    <a:pt x="2152" y="1841"/>
                  </a:lnTo>
                  <a:lnTo>
                    <a:pt x="2079" y="1904"/>
                  </a:lnTo>
                  <a:lnTo>
                    <a:pt x="2003" y="1964"/>
                  </a:lnTo>
                  <a:lnTo>
                    <a:pt x="1918" y="2017"/>
                  </a:lnTo>
                  <a:lnTo>
                    <a:pt x="1830" y="2063"/>
                  </a:lnTo>
                  <a:lnTo>
                    <a:pt x="1739" y="2104"/>
                  </a:lnTo>
                  <a:lnTo>
                    <a:pt x="1643" y="2136"/>
                  </a:lnTo>
                  <a:lnTo>
                    <a:pt x="1546" y="2163"/>
                  </a:lnTo>
                  <a:lnTo>
                    <a:pt x="1446" y="2182"/>
                  </a:lnTo>
                  <a:lnTo>
                    <a:pt x="1344" y="2193"/>
                  </a:lnTo>
                  <a:lnTo>
                    <a:pt x="1242" y="2197"/>
                  </a:lnTo>
                  <a:lnTo>
                    <a:pt x="1139" y="2193"/>
                  </a:lnTo>
                  <a:lnTo>
                    <a:pt x="1037" y="2182"/>
                  </a:lnTo>
                  <a:lnTo>
                    <a:pt x="938" y="2163"/>
                  </a:lnTo>
                  <a:lnTo>
                    <a:pt x="840" y="2138"/>
                  </a:lnTo>
                  <a:lnTo>
                    <a:pt x="744" y="2106"/>
                  </a:lnTo>
                  <a:lnTo>
                    <a:pt x="650" y="2066"/>
                  </a:lnTo>
                  <a:lnTo>
                    <a:pt x="563" y="2019"/>
                  </a:lnTo>
                  <a:lnTo>
                    <a:pt x="480" y="1966"/>
                  </a:lnTo>
                  <a:lnTo>
                    <a:pt x="402" y="1909"/>
                  </a:lnTo>
                  <a:lnTo>
                    <a:pt x="329" y="1843"/>
                  </a:lnTo>
                  <a:lnTo>
                    <a:pt x="264" y="1775"/>
                  </a:lnTo>
                  <a:lnTo>
                    <a:pt x="204" y="1701"/>
                  </a:lnTo>
                  <a:lnTo>
                    <a:pt x="151" y="1622"/>
                  </a:lnTo>
                  <a:lnTo>
                    <a:pt x="106" y="1542"/>
                  </a:lnTo>
                  <a:lnTo>
                    <a:pt x="68" y="1457"/>
                  </a:lnTo>
                  <a:lnTo>
                    <a:pt x="38" y="1370"/>
                  </a:lnTo>
                  <a:lnTo>
                    <a:pt x="17" y="1281"/>
                  </a:lnTo>
                  <a:lnTo>
                    <a:pt x="4" y="1192"/>
                  </a:lnTo>
                  <a:lnTo>
                    <a:pt x="0" y="1101"/>
                  </a:lnTo>
                  <a:lnTo>
                    <a:pt x="4" y="1009"/>
                  </a:lnTo>
                  <a:lnTo>
                    <a:pt x="17" y="920"/>
                  </a:lnTo>
                  <a:lnTo>
                    <a:pt x="38" y="831"/>
                  </a:lnTo>
                  <a:lnTo>
                    <a:pt x="68" y="744"/>
                  </a:lnTo>
                  <a:lnTo>
                    <a:pt x="104" y="659"/>
                  </a:lnTo>
                  <a:lnTo>
                    <a:pt x="149" y="577"/>
                  </a:lnTo>
                  <a:lnTo>
                    <a:pt x="202" y="498"/>
                  </a:lnTo>
                  <a:lnTo>
                    <a:pt x="261" y="424"/>
                  </a:lnTo>
                  <a:lnTo>
                    <a:pt x="327" y="356"/>
                  </a:lnTo>
                  <a:lnTo>
                    <a:pt x="400" y="290"/>
                  </a:lnTo>
                  <a:lnTo>
                    <a:pt x="476" y="233"/>
                  </a:lnTo>
                  <a:lnTo>
                    <a:pt x="559" y="180"/>
                  </a:lnTo>
                  <a:lnTo>
                    <a:pt x="648" y="133"/>
                  </a:lnTo>
                  <a:lnTo>
                    <a:pt x="740" y="93"/>
                  </a:lnTo>
                  <a:lnTo>
                    <a:pt x="835" y="59"/>
                  </a:lnTo>
                  <a:lnTo>
                    <a:pt x="933" y="34"/>
                  </a:lnTo>
                  <a:lnTo>
                    <a:pt x="1033" y="15"/>
                  </a:lnTo>
                  <a:lnTo>
                    <a:pt x="1135" y="4"/>
                  </a:lnTo>
                  <a:lnTo>
                    <a:pt x="1237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44629" name="Group 85"/>
          <p:cNvGrpSpPr>
            <a:grpSpLocks noChangeAspect="1"/>
          </p:cNvGrpSpPr>
          <p:nvPr/>
        </p:nvGrpSpPr>
        <p:grpSpPr bwMode="auto">
          <a:xfrm>
            <a:off x="6873875" y="2668588"/>
            <a:ext cx="1416050" cy="1084262"/>
            <a:chOff x="1070" y="2167"/>
            <a:chExt cx="1361" cy="1041"/>
          </a:xfrm>
        </p:grpSpPr>
        <p:sp>
          <p:nvSpPr>
            <p:cNvPr id="1644630" name="Rectangle 86"/>
            <p:cNvSpPr>
              <a:spLocks noChangeAspect="1" noChangeArrowheads="1"/>
            </p:cNvSpPr>
            <p:nvPr/>
          </p:nvSpPr>
          <p:spPr bwMode="auto">
            <a:xfrm>
              <a:off x="1070" y="2560"/>
              <a:ext cx="10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3</a:t>
              </a:r>
              <a:endParaRPr lang="en-US" sz="1600"/>
            </a:p>
          </p:txBody>
        </p:sp>
        <p:sp>
          <p:nvSpPr>
            <p:cNvPr id="1644631" name="Freeform 87"/>
            <p:cNvSpPr>
              <a:spLocks noChangeAspect="1"/>
            </p:cNvSpPr>
            <p:nvPr/>
          </p:nvSpPr>
          <p:spPr bwMode="auto">
            <a:xfrm>
              <a:off x="1114" y="2167"/>
              <a:ext cx="1317" cy="1041"/>
            </a:xfrm>
            <a:custGeom>
              <a:avLst/>
              <a:gdLst>
                <a:gd name="T0" fmla="*/ 441 w 1317"/>
                <a:gd name="T1" fmla="*/ 174 h 1041"/>
                <a:gd name="T2" fmla="*/ 506 w 1317"/>
                <a:gd name="T3" fmla="*/ 134 h 1041"/>
                <a:gd name="T4" fmla="*/ 574 w 1317"/>
                <a:gd name="T5" fmla="*/ 100 h 1041"/>
                <a:gd name="T6" fmla="*/ 643 w 1317"/>
                <a:gd name="T7" fmla="*/ 70 h 1041"/>
                <a:gd name="T8" fmla="*/ 711 w 1317"/>
                <a:gd name="T9" fmla="*/ 47 h 1041"/>
                <a:gd name="T10" fmla="*/ 781 w 1317"/>
                <a:gd name="T11" fmla="*/ 26 h 1041"/>
                <a:gd name="T12" fmla="*/ 847 w 1317"/>
                <a:gd name="T13" fmla="*/ 13 h 1041"/>
                <a:gd name="T14" fmla="*/ 910 w 1317"/>
                <a:gd name="T15" fmla="*/ 4 h 1041"/>
                <a:gd name="T16" fmla="*/ 974 w 1317"/>
                <a:gd name="T17" fmla="*/ 0 h 1041"/>
                <a:gd name="T18" fmla="*/ 1032 w 1317"/>
                <a:gd name="T19" fmla="*/ 4 h 1041"/>
                <a:gd name="T20" fmla="*/ 1087 w 1317"/>
                <a:gd name="T21" fmla="*/ 13 h 1041"/>
                <a:gd name="T22" fmla="*/ 1136 w 1317"/>
                <a:gd name="T23" fmla="*/ 26 h 1041"/>
                <a:gd name="T24" fmla="*/ 1180 w 1317"/>
                <a:gd name="T25" fmla="*/ 45 h 1041"/>
                <a:gd name="T26" fmla="*/ 1219 w 1317"/>
                <a:gd name="T27" fmla="*/ 70 h 1041"/>
                <a:gd name="T28" fmla="*/ 1253 w 1317"/>
                <a:gd name="T29" fmla="*/ 100 h 1041"/>
                <a:gd name="T30" fmla="*/ 1278 w 1317"/>
                <a:gd name="T31" fmla="*/ 134 h 1041"/>
                <a:gd name="T32" fmla="*/ 1297 w 1317"/>
                <a:gd name="T33" fmla="*/ 172 h 1041"/>
                <a:gd name="T34" fmla="*/ 1310 w 1317"/>
                <a:gd name="T35" fmla="*/ 214 h 1041"/>
                <a:gd name="T36" fmla="*/ 1317 w 1317"/>
                <a:gd name="T37" fmla="*/ 261 h 1041"/>
                <a:gd name="T38" fmla="*/ 1314 w 1317"/>
                <a:gd name="T39" fmla="*/ 310 h 1041"/>
                <a:gd name="T40" fmla="*/ 1304 w 1317"/>
                <a:gd name="T41" fmla="*/ 359 h 1041"/>
                <a:gd name="T42" fmla="*/ 1289 w 1317"/>
                <a:gd name="T43" fmla="*/ 412 h 1041"/>
                <a:gd name="T44" fmla="*/ 1265 w 1317"/>
                <a:gd name="T45" fmla="*/ 467 h 1041"/>
                <a:gd name="T46" fmla="*/ 1236 w 1317"/>
                <a:gd name="T47" fmla="*/ 520 h 1041"/>
                <a:gd name="T48" fmla="*/ 1200 w 1317"/>
                <a:gd name="T49" fmla="*/ 575 h 1041"/>
                <a:gd name="T50" fmla="*/ 1157 w 1317"/>
                <a:gd name="T51" fmla="*/ 628 h 1041"/>
                <a:gd name="T52" fmla="*/ 1110 w 1317"/>
                <a:gd name="T53" fmla="*/ 681 h 1041"/>
                <a:gd name="T54" fmla="*/ 1057 w 1317"/>
                <a:gd name="T55" fmla="*/ 732 h 1041"/>
                <a:gd name="T56" fmla="*/ 1000 w 1317"/>
                <a:gd name="T57" fmla="*/ 781 h 1041"/>
                <a:gd name="T58" fmla="*/ 940 w 1317"/>
                <a:gd name="T59" fmla="*/ 825 h 1041"/>
                <a:gd name="T60" fmla="*/ 876 w 1317"/>
                <a:gd name="T61" fmla="*/ 868 h 1041"/>
                <a:gd name="T62" fmla="*/ 810 w 1317"/>
                <a:gd name="T63" fmla="*/ 908 h 1041"/>
                <a:gd name="T64" fmla="*/ 742 w 1317"/>
                <a:gd name="T65" fmla="*/ 942 h 1041"/>
                <a:gd name="T66" fmla="*/ 674 w 1317"/>
                <a:gd name="T67" fmla="*/ 971 h 1041"/>
                <a:gd name="T68" fmla="*/ 604 w 1317"/>
                <a:gd name="T69" fmla="*/ 995 h 1041"/>
                <a:gd name="T70" fmla="*/ 536 w 1317"/>
                <a:gd name="T71" fmla="*/ 1016 h 1041"/>
                <a:gd name="T72" fmla="*/ 470 w 1317"/>
                <a:gd name="T73" fmla="*/ 1029 h 1041"/>
                <a:gd name="T74" fmla="*/ 404 w 1317"/>
                <a:gd name="T75" fmla="*/ 1037 h 1041"/>
                <a:gd name="T76" fmla="*/ 343 w 1317"/>
                <a:gd name="T77" fmla="*/ 1041 h 1041"/>
                <a:gd name="T78" fmla="*/ 283 w 1317"/>
                <a:gd name="T79" fmla="*/ 1037 h 1041"/>
                <a:gd name="T80" fmla="*/ 230 w 1317"/>
                <a:gd name="T81" fmla="*/ 1029 h 1041"/>
                <a:gd name="T82" fmla="*/ 179 w 1317"/>
                <a:gd name="T83" fmla="*/ 1016 h 1041"/>
                <a:gd name="T84" fmla="*/ 134 w 1317"/>
                <a:gd name="T85" fmla="*/ 997 h 1041"/>
                <a:gd name="T86" fmla="*/ 96 w 1317"/>
                <a:gd name="T87" fmla="*/ 971 h 1041"/>
                <a:gd name="T88" fmla="*/ 64 w 1317"/>
                <a:gd name="T89" fmla="*/ 942 h 1041"/>
                <a:gd name="T90" fmla="*/ 37 w 1317"/>
                <a:gd name="T91" fmla="*/ 908 h 1041"/>
                <a:gd name="T92" fmla="*/ 17 w 1317"/>
                <a:gd name="T93" fmla="*/ 870 h 1041"/>
                <a:gd name="T94" fmla="*/ 7 w 1317"/>
                <a:gd name="T95" fmla="*/ 827 h 1041"/>
                <a:gd name="T96" fmla="*/ 0 w 1317"/>
                <a:gd name="T97" fmla="*/ 781 h 1041"/>
                <a:gd name="T98" fmla="*/ 3 w 1317"/>
                <a:gd name="T99" fmla="*/ 732 h 1041"/>
                <a:gd name="T100" fmla="*/ 11 w 1317"/>
                <a:gd name="T101" fmla="*/ 681 h 1041"/>
                <a:gd name="T102" fmla="*/ 28 w 1317"/>
                <a:gd name="T103" fmla="*/ 630 h 1041"/>
                <a:gd name="T104" fmla="*/ 51 w 1317"/>
                <a:gd name="T105" fmla="*/ 575 h 1041"/>
                <a:gd name="T106" fmla="*/ 81 w 1317"/>
                <a:gd name="T107" fmla="*/ 522 h 1041"/>
                <a:gd name="T108" fmla="*/ 117 w 1317"/>
                <a:gd name="T109" fmla="*/ 467 h 1041"/>
                <a:gd name="T110" fmla="*/ 160 w 1317"/>
                <a:gd name="T111" fmla="*/ 414 h 1041"/>
                <a:gd name="T112" fmla="*/ 207 w 1317"/>
                <a:gd name="T113" fmla="*/ 361 h 1041"/>
                <a:gd name="T114" fmla="*/ 260 w 1317"/>
                <a:gd name="T115" fmla="*/ 310 h 1041"/>
                <a:gd name="T116" fmla="*/ 315 w 1317"/>
                <a:gd name="T117" fmla="*/ 261 h 1041"/>
                <a:gd name="T118" fmla="*/ 377 w 1317"/>
                <a:gd name="T119" fmla="*/ 216 h 1041"/>
                <a:gd name="T120" fmla="*/ 441 w 1317"/>
                <a:gd name="T121" fmla="*/ 174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17" h="1041">
                  <a:moveTo>
                    <a:pt x="441" y="174"/>
                  </a:moveTo>
                  <a:lnTo>
                    <a:pt x="506" y="134"/>
                  </a:lnTo>
                  <a:lnTo>
                    <a:pt x="574" y="100"/>
                  </a:lnTo>
                  <a:lnTo>
                    <a:pt x="643" y="70"/>
                  </a:lnTo>
                  <a:lnTo>
                    <a:pt x="711" y="47"/>
                  </a:lnTo>
                  <a:lnTo>
                    <a:pt x="781" y="26"/>
                  </a:lnTo>
                  <a:lnTo>
                    <a:pt x="847" y="13"/>
                  </a:lnTo>
                  <a:lnTo>
                    <a:pt x="910" y="4"/>
                  </a:lnTo>
                  <a:lnTo>
                    <a:pt x="974" y="0"/>
                  </a:lnTo>
                  <a:lnTo>
                    <a:pt x="1032" y="4"/>
                  </a:lnTo>
                  <a:lnTo>
                    <a:pt x="1087" y="13"/>
                  </a:lnTo>
                  <a:lnTo>
                    <a:pt x="1136" y="26"/>
                  </a:lnTo>
                  <a:lnTo>
                    <a:pt x="1180" y="45"/>
                  </a:lnTo>
                  <a:lnTo>
                    <a:pt x="1219" y="70"/>
                  </a:lnTo>
                  <a:lnTo>
                    <a:pt x="1253" y="100"/>
                  </a:lnTo>
                  <a:lnTo>
                    <a:pt x="1278" y="134"/>
                  </a:lnTo>
                  <a:lnTo>
                    <a:pt x="1297" y="172"/>
                  </a:lnTo>
                  <a:lnTo>
                    <a:pt x="1310" y="214"/>
                  </a:lnTo>
                  <a:lnTo>
                    <a:pt x="1317" y="261"/>
                  </a:lnTo>
                  <a:lnTo>
                    <a:pt x="1314" y="310"/>
                  </a:lnTo>
                  <a:lnTo>
                    <a:pt x="1304" y="359"/>
                  </a:lnTo>
                  <a:lnTo>
                    <a:pt x="1289" y="412"/>
                  </a:lnTo>
                  <a:lnTo>
                    <a:pt x="1265" y="467"/>
                  </a:lnTo>
                  <a:lnTo>
                    <a:pt x="1236" y="520"/>
                  </a:lnTo>
                  <a:lnTo>
                    <a:pt x="1200" y="575"/>
                  </a:lnTo>
                  <a:lnTo>
                    <a:pt x="1157" y="628"/>
                  </a:lnTo>
                  <a:lnTo>
                    <a:pt x="1110" y="681"/>
                  </a:lnTo>
                  <a:lnTo>
                    <a:pt x="1057" y="732"/>
                  </a:lnTo>
                  <a:lnTo>
                    <a:pt x="1000" y="781"/>
                  </a:lnTo>
                  <a:lnTo>
                    <a:pt x="940" y="825"/>
                  </a:lnTo>
                  <a:lnTo>
                    <a:pt x="876" y="868"/>
                  </a:lnTo>
                  <a:lnTo>
                    <a:pt x="810" y="908"/>
                  </a:lnTo>
                  <a:lnTo>
                    <a:pt x="742" y="942"/>
                  </a:lnTo>
                  <a:lnTo>
                    <a:pt x="674" y="971"/>
                  </a:lnTo>
                  <a:lnTo>
                    <a:pt x="604" y="995"/>
                  </a:lnTo>
                  <a:lnTo>
                    <a:pt x="536" y="1016"/>
                  </a:lnTo>
                  <a:lnTo>
                    <a:pt x="470" y="1029"/>
                  </a:lnTo>
                  <a:lnTo>
                    <a:pt x="404" y="1037"/>
                  </a:lnTo>
                  <a:lnTo>
                    <a:pt x="343" y="1041"/>
                  </a:lnTo>
                  <a:lnTo>
                    <a:pt x="283" y="1037"/>
                  </a:lnTo>
                  <a:lnTo>
                    <a:pt x="230" y="1029"/>
                  </a:lnTo>
                  <a:lnTo>
                    <a:pt x="179" y="1016"/>
                  </a:lnTo>
                  <a:lnTo>
                    <a:pt x="134" y="997"/>
                  </a:lnTo>
                  <a:lnTo>
                    <a:pt x="96" y="971"/>
                  </a:lnTo>
                  <a:lnTo>
                    <a:pt x="64" y="942"/>
                  </a:lnTo>
                  <a:lnTo>
                    <a:pt x="37" y="908"/>
                  </a:lnTo>
                  <a:lnTo>
                    <a:pt x="17" y="870"/>
                  </a:lnTo>
                  <a:lnTo>
                    <a:pt x="7" y="827"/>
                  </a:lnTo>
                  <a:lnTo>
                    <a:pt x="0" y="781"/>
                  </a:lnTo>
                  <a:lnTo>
                    <a:pt x="3" y="732"/>
                  </a:lnTo>
                  <a:lnTo>
                    <a:pt x="11" y="681"/>
                  </a:lnTo>
                  <a:lnTo>
                    <a:pt x="28" y="630"/>
                  </a:lnTo>
                  <a:lnTo>
                    <a:pt x="51" y="575"/>
                  </a:lnTo>
                  <a:lnTo>
                    <a:pt x="81" y="522"/>
                  </a:lnTo>
                  <a:lnTo>
                    <a:pt x="117" y="467"/>
                  </a:lnTo>
                  <a:lnTo>
                    <a:pt x="160" y="414"/>
                  </a:lnTo>
                  <a:lnTo>
                    <a:pt x="207" y="361"/>
                  </a:lnTo>
                  <a:lnTo>
                    <a:pt x="260" y="310"/>
                  </a:lnTo>
                  <a:lnTo>
                    <a:pt x="315" y="261"/>
                  </a:lnTo>
                  <a:lnTo>
                    <a:pt x="377" y="216"/>
                  </a:lnTo>
                  <a:lnTo>
                    <a:pt x="441" y="174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44632" name="Group 88"/>
          <p:cNvGrpSpPr>
            <a:grpSpLocks noChangeAspect="1"/>
          </p:cNvGrpSpPr>
          <p:nvPr/>
        </p:nvGrpSpPr>
        <p:grpSpPr bwMode="auto">
          <a:xfrm>
            <a:off x="6043613" y="1841500"/>
            <a:ext cx="1905000" cy="996950"/>
            <a:chOff x="272" y="1372"/>
            <a:chExt cx="1831" cy="958"/>
          </a:xfrm>
        </p:grpSpPr>
        <p:sp>
          <p:nvSpPr>
            <p:cNvPr id="1644633" name="Rectangle 89"/>
            <p:cNvSpPr>
              <a:spLocks noChangeAspect="1" noChangeArrowheads="1"/>
            </p:cNvSpPr>
            <p:nvPr/>
          </p:nvSpPr>
          <p:spPr bwMode="auto">
            <a:xfrm>
              <a:off x="1165" y="1380"/>
              <a:ext cx="10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4</a:t>
              </a:r>
              <a:endParaRPr lang="en-US" sz="1600"/>
            </a:p>
          </p:txBody>
        </p:sp>
        <p:sp>
          <p:nvSpPr>
            <p:cNvPr id="1644634" name="Freeform 90"/>
            <p:cNvSpPr>
              <a:spLocks noChangeAspect="1"/>
            </p:cNvSpPr>
            <p:nvPr/>
          </p:nvSpPr>
          <p:spPr bwMode="auto">
            <a:xfrm>
              <a:off x="272" y="1372"/>
              <a:ext cx="1831" cy="958"/>
            </a:xfrm>
            <a:custGeom>
              <a:avLst/>
              <a:gdLst>
                <a:gd name="T0" fmla="*/ 906 w 1831"/>
                <a:gd name="T1" fmla="*/ 25 h 958"/>
                <a:gd name="T2" fmla="*/ 1081 w 1831"/>
                <a:gd name="T3" fmla="*/ 4 h 958"/>
                <a:gd name="T4" fmla="*/ 1246 w 1831"/>
                <a:gd name="T5" fmla="*/ 0 h 958"/>
                <a:gd name="T6" fmla="*/ 1404 w 1831"/>
                <a:gd name="T7" fmla="*/ 13 h 958"/>
                <a:gd name="T8" fmla="*/ 1542 w 1831"/>
                <a:gd name="T9" fmla="*/ 42 h 958"/>
                <a:gd name="T10" fmla="*/ 1657 w 1831"/>
                <a:gd name="T11" fmla="*/ 87 h 958"/>
                <a:gd name="T12" fmla="*/ 1744 w 1831"/>
                <a:gd name="T13" fmla="*/ 146 h 958"/>
                <a:gd name="T14" fmla="*/ 1803 w 1831"/>
                <a:gd name="T15" fmla="*/ 218 h 958"/>
                <a:gd name="T16" fmla="*/ 1829 w 1831"/>
                <a:gd name="T17" fmla="*/ 299 h 958"/>
                <a:gd name="T18" fmla="*/ 1823 w 1831"/>
                <a:gd name="T19" fmla="*/ 388 h 958"/>
                <a:gd name="T20" fmla="*/ 1784 w 1831"/>
                <a:gd name="T21" fmla="*/ 477 h 958"/>
                <a:gd name="T22" fmla="*/ 1714 w 1831"/>
                <a:gd name="T23" fmla="*/ 568 h 958"/>
                <a:gd name="T24" fmla="*/ 1614 w 1831"/>
                <a:gd name="T25" fmla="*/ 657 h 958"/>
                <a:gd name="T26" fmla="*/ 1489 w 1831"/>
                <a:gd name="T27" fmla="*/ 738 h 958"/>
                <a:gd name="T28" fmla="*/ 1344 w 1831"/>
                <a:gd name="T29" fmla="*/ 810 h 958"/>
                <a:gd name="T30" fmla="*/ 1183 w 1831"/>
                <a:gd name="T31" fmla="*/ 869 h 958"/>
                <a:gd name="T32" fmla="*/ 1010 w 1831"/>
                <a:gd name="T33" fmla="*/ 914 h 958"/>
                <a:gd name="T34" fmla="*/ 838 w 1831"/>
                <a:gd name="T35" fmla="*/ 946 h 958"/>
                <a:gd name="T36" fmla="*/ 666 w 1831"/>
                <a:gd name="T37" fmla="*/ 958 h 958"/>
                <a:gd name="T38" fmla="*/ 504 w 1831"/>
                <a:gd name="T39" fmla="*/ 954 h 958"/>
                <a:gd name="T40" fmla="*/ 356 w 1831"/>
                <a:gd name="T41" fmla="*/ 933 h 958"/>
                <a:gd name="T42" fmla="*/ 228 w 1831"/>
                <a:gd name="T43" fmla="*/ 895 h 958"/>
                <a:gd name="T44" fmla="*/ 126 w 1831"/>
                <a:gd name="T45" fmla="*/ 842 h 958"/>
                <a:gd name="T46" fmla="*/ 51 w 1831"/>
                <a:gd name="T47" fmla="*/ 776 h 958"/>
                <a:gd name="T48" fmla="*/ 9 w 1831"/>
                <a:gd name="T49" fmla="*/ 700 h 958"/>
                <a:gd name="T50" fmla="*/ 0 w 1831"/>
                <a:gd name="T51" fmla="*/ 615 h 958"/>
                <a:gd name="T52" fmla="*/ 22 w 1831"/>
                <a:gd name="T53" fmla="*/ 524 h 958"/>
                <a:gd name="T54" fmla="*/ 77 w 1831"/>
                <a:gd name="T55" fmla="*/ 432 h 958"/>
                <a:gd name="T56" fmla="*/ 164 w 1831"/>
                <a:gd name="T57" fmla="*/ 343 h 958"/>
                <a:gd name="T58" fmla="*/ 277 w 1831"/>
                <a:gd name="T59" fmla="*/ 259 h 958"/>
                <a:gd name="T60" fmla="*/ 413 w 1831"/>
                <a:gd name="T61" fmla="*/ 182 h 958"/>
                <a:gd name="T62" fmla="*/ 566 w 1831"/>
                <a:gd name="T63" fmla="*/ 116 h 958"/>
                <a:gd name="T64" fmla="*/ 732 w 1831"/>
                <a:gd name="T65" fmla="*/ 63 h 9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831" h="958">
                  <a:moveTo>
                    <a:pt x="819" y="42"/>
                  </a:moveTo>
                  <a:lnTo>
                    <a:pt x="906" y="25"/>
                  </a:lnTo>
                  <a:lnTo>
                    <a:pt x="993" y="13"/>
                  </a:lnTo>
                  <a:lnTo>
                    <a:pt x="1081" y="4"/>
                  </a:lnTo>
                  <a:lnTo>
                    <a:pt x="1166" y="0"/>
                  </a:lnTo>
                  <a:lnTo>
                    <a:pt x="1246" y="0"/>
                  </a:lnTo>
                  <a:lnTo>
                    <a:pt x="1327" y="4"/>
                  </a:lnTo>
                  <a:lnTo>
                    <a:pt x="1404" y="13"/>
                  </a:lnTo>
                  <a:lnTo>
                    <a:pt x="1474" y="25"/>
                  </a:lnTo>
                  <a:lnTo>
                    <a:pt x="1542" y="42"/>
                  </a:lnTo>
                  <a:lnTo>
                    <a:pt x="1601" y="63"/>
                  </a:lnTo>
                  <a:lnTo>
                    <a:pt x="1657" y="87"/>
                  </a:lnTo>
                  <a:lnTo>
                    <a:pt x="1704" y="116"/>
                  </a:lnTo>
                  <a:lnTo>
                    <a:pt x="1744" y="146"/>
                  </a:lnTo>
                  <a:lnTo>
                    <a:pt x="1778" y="182"/>
                  </a:lnTo>
                  <a:lnTo>
                    <a:pt x="1803" y="218"/>
                  </a:lnTo>
                  <a:lnTo>
                    <a:pt x="1820" y="259"/>
                  </a:lnTo>
                  <a:lnTo>
                    <a:pt x="1829" y="299"/>
                  </a:lnTo>
                  <a:lnTo>
                    <a:pt x="1831" y="343"/>
                  </a:lnTo>
                  <a:lnTo>
                    <a:pt x="1823" y="388"/>
                  </a:lnTo>
                  <a:lnTo>
                    <a:pt x="1808" y="432"/>
                  </a:lnTo>
                  <a:lnTo>
                    <a:pt x="1784" y="477"/>
                  </a:lnTo>
                  <a:lnTo>
                    <a:pt x="1752" y="524"/>
                  </a:lnTo>
                  <a:lnTo>
                    <a:pt x="1714" y="568"/>
                  </a:lnTo>
                  <a:lnTo>
                    <a:pt x="1667" y="613"/>
                  </a:lnTo>
                  <a:lnTo>
                    <a:pt x="1614" y="657"/>
                  </a:lnTo>
                  <a:lnTo>
                    <a:pt x="1555" y="698"/>
                  </a:lnTo>
                  <a:lnTo>
                    <a:pt x="1489" y="738"/>
                  </a:lnTo>
                  <a:lnTo>
                    <a:pt x="1419" y="774"/>
                  </a:lnTo>
                  <a:lnTo>
                    <a:pt x="1344" y="810"/>
                  </a:lnTo>
                  <a:lnTo>
                    <a:pt x="1263" y="842"/>
                  </a:lnTo>
                  <a:lnTo>
                    <a:pt x="1183" y="869"/>
                  </a:lnTo>
                  <a:lnTo>
                    <a:pt x="1098" y="895"/>
                  </a:lnTo>
                  <a:lnTo>
                    <a:pt x="1010" y="914"/>
                  </a:lnTo>
                  <a:lnTo>
                    <a:pt x="925" y="931"/>
                  </a:lnTo>
                  <a:lnTo>
                    <a:pt x="838" y="946"/>
                  </a:lnTo>
                  <a:lnTo>
                    <a:pt x="751" y="954"/>
                  </a:lnTo>
                  <a:lnTo>
                    <a:pt x="666" y="958"/>
                  </a:lnTo>
                  <a:lnTo>
                    <a:pt x="583" y="958"/>
                  </a:lnTo>
                  <a:lnTo>
                    <a:pt x="504" y="954"/>
                  </a:lnTo>
                  <a:lnTo>
                    <a:pt x="428" y="946"/>
                  </a:lnTo>
                  <a:lnTo>
                    <a:pt x="356" y="933"/>
                  </a:lnTo>
                  <a:lnTo>
                    <a:pt x="290" y="916"/>
                  </a:lnTo>
                  <a:lnTo>
                    <a:pt x="228" y="895"/>
                  </a:lnTo>
                  <a:lnTo>
                    <a:pt x="175" y="869"/>
                  </a:lnTo>
                  <a:lnTo>
                    <a:pt x="126" y="842"/>
                  </a:lnTo>
                  <a:lnTo>
                    <a:pt x="86" y="810"/>
                  </a:lnTo>
                  <a:lnTo>
                    <a:pt x="51" y="776"/>
                  </a:lnTo>
                  <a:lnTo>
                    <a:pt x="26" y="738"/>
                  </a:lnTo>
                  <a:lnTo>
                    <a:pt x="9" y="700"/>
                  </a:lnTo>
                  <a:lnTo>
                    <a:pt x="0" y="657"/>
                  </a:lnTo>
                  <a:lnTo>
                    <a:pt x="0" y="615"/>
                  </a:lnTo>
                  <a:lnTo>
                    <a:pt x="7" y="570"/>
                  </a:lnTo>
                  <a:lnTo>
                    <a:pt x="22" y="524"/>
                  </a:lnTo>
                  <a:lnTo>
                    <a:pt x="47" y="479"/>
                  </a:lnTo>
                  <a:lnTo>
                    <a:pt x="77" y="432"/>
                  </a:lnTo>
                  <a:lnTo>
                    <a:pt x="117" y="388"/>
                  </a:lnTo>
                  <a:lnTo>
                    <a:pt x="164" y="343"/>
                  </a:lnTo>
                  <a:lnTo>
                    <a:pt x="217" y="301"/>
                  </a:lnTo>
                  <a:lnTo>
                    <a:pt x="277" y="259"/>
                  </a:lnTo>
                  <a:lnTo>
                    <a:pt x="341" y="220"/>
                  </a:lnTo>
                  <a:lnTo>
                    <a:pt x="413" y="182"/>
                  </a:lnTo>
                  <a:lnTo>
                    <a:pt x="487" y="148"/>
                  </a:lnTo>
                  <a:lnTo>
                    <a:pt x="566" y="116"/>
                  </a:lnTo>
                  <a:lnTo>
                    <a:pt x="649" y="89"/>
                  </a:lnTo>
                  <a:lnTo>
                    <a:pt x="732" y="63"/>
                  </a:lnTo>
                  <a:lnTo>
                    <a:pt x="819" y="4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44635" name="Group 91"/>
          <p:cNvGrpSpPr>
            <a:grpSpLocks noChangeAspect="1"/>
          </p:cNvGrpSpPr>
          <p:nvPr/>
        </p:nvGrpSpPr>
        <p:grpSpPr bwMode="auto">
          <a:xfrm>
            <a:off x="1009650" y="1819275"/>
            <a:ext cx="1990725" cy="1806575"/>
            <a:chOff x="471" y="1117"/>
            <a:chExt cx="1935" cy="1755"/>
          </a:xfrm>
        </p:grpSpPr>
        <p:sp>
          <p:nvSpPr>
            <p:cNvPr id="1644636" name="Freeform 92"/>
            <p:cNvSpPr>
              <a:spLocks noChangeAspect="1"/>
            </p:cNvSpPr>
            <p:nvPr/>
          </p:nvSpPr>
          <p:spPr bwMode="auto">
            <a:xfrm>
              <a:off x="1072" y="1810"/>
              <a:ext cx="89" cy="87"/>
            </a:xfrm>
            <a:custGeom>
              <a:avLst/>
              <a:gdLst>
                <a:gd name="T0" fmla="*/ 0 w 89"/>
                <a:gd name="T1" fmla="*/ 43 h 87"/>
                <a:gd name="T2" fmla="*/ 4 w 89"/>
                <a:gd name="T3" fmla="*/ 26 h 87"/>
                <a:gd name="T4" fmla="*/ 13 w 89"/>
                <a:gd name="T5" fmla="*/ 11 h 87"/>
                <a:gd name="T6" fmla="*/ 28 w 89"/>
                <a:gd name="T7" fmla="*/ 2 h 87"/>
                <a:gd name="T8" fmla="*/ 43 w 89"/>
                <a:gd name="T9" fmla="*/ 0 h 87"/>
                <a:gd name="T10" fmla="*/ 61 w 89"/>
                <a:gd name="T11" fmla="*/ 2 h 87"/>
                <a:gd name="T12" fmla="*/ 76 w 89"/>
                <a:gd name="T13" fmla="*/ 11 h 87"/>
                <a:gd name="T14" fmla="*/ 84 w 89"/>
                <a:gd name="T15" fmla="*/ 26 h 87"/>
                <a:gd name="T16" fmla="*/ 89 w 89"/>
                <a:gd name="T17" fmla="*/ 43 h 87"/>
                <a:gd name="T18" fmla="*/ 84 w 89"/>
                <a:gd name="T19" fmla="*/ 61 h 87"/>
                <a:gd name="T20" fmla="*/ 76 w 89"/>
                <a:gd name="T21" fmla="*/ 74 h 87"/>
                <a:gd name="T22" fmla="*/ 61 w 89"/>
                <a:gd name="T23" fmla="*/ 84 h 87"/>
                <a:gd name="T24" fmla="*/ 43 w 89"/>
                <a:gd name="T25" fmla="*/ 87 h 87"/>
                <a:gd name="T26" fmla="*/ 28 w 89"/>
                <a:gd name="T27" fmla="*/ 84 h 87"/>
                <a:gd name="T28" fmla="*/ 13 w 89"/>
                <a:gd name="T29" fmla="*/ 74 h 87"/>
                <a:gd name="T30" fmla="*/ 4 w 89"/>
                <a:gd name="T31" fmla="*/ 61 h 87"/>
                <a:gd name="T32" fmla="*/ 0 w 89"/>
                <a:gd name="T33" fmla="*/ 4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87">
                  <a:moveTo>
                    <a:pt x="0" y="43"/>
                  </a:moveTo>
                  <a:lnTo>
                    <a:pt x="4" y="26"/>
                  </a:lnTo>
                  <a:lnTo>
                    <a:pt x="13" y="11"/>
                  </a:lnTo>
                  <a:lnTo>
                    <a:pt x="28" y="2"/>
                  </a:lnTo>
                  <a:lnTo>
                    <a:pt x="43" y="0"/>
                  </a:lnTo>
                  <a:lnTo>
                    <a:pt x="61" y="2"/>
                  </a:lnTo>
                  <a:lnTo>
                    <a:pt x="76" y="11"/>
                  </a:lnTo>
                  <a:lnTo>
                    <a:pt x="84" y="26"/>
                  </a:lnTo>
                  <a:lnTo>
                    <a:pt x="89" y="43"/>
                  </a:lnTo>
                  <a:lnTo>
                    <a:pt x="84" y="61"/>
                  </a:lnTo>
                  <a:lnTo>
                    <a:pt x="76" y="74"/>
                  </a:lnTo>
                  <a:lnTo>
                    <a:pt x="61" y="84"/>
                  </a:lnTo>
                  <a:lnTo>
                    <a:pt x="43" y="87"/>
                  </a:lnTo>
                  <a:lnTo>
                    <a:pt x="28" y="84"/>
                  </a:lnTo>
                  <a:lnTo>
                    <a:pt x="13" y="74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637" name="Freeform 93"/>
            <p:cNvSpPr>
              <a:spLocks noChangeAspect="1"/>
            </p:cNvSpPr>
            <p:nvPr/>
          </p:nvSpPr>
          <p:spPr bwMode="auto">
            <a:xfrm>
              <a:off x="1894" y="1169"/>
              <a:ext cx="89" cy="86"/>
            </a:xfrm>
            <a:custGeom>
              <a:avLst/>
              <a:gdLst>
                <a:gd name="T0" fmla="*/ 0 w 89"/>
                <a:gd name="T1" fmla="*/ 43 h 86"/>
                <a:gd name="T2" fmla="*/ 4 w 89"/>
                <a:gd name="T3" fmla="*/ 26 h 86"/>
                <a:gd name="T4" fmla="*/ 13 w 89"/>
                <a:gd name="T5" fmla="*/ 13 h 86"/>
                <a:gd name="T6" fmla="*/ 28 w 89"/>
                <a:gd name="T7" fmla="*/ 2 h 86"/>
                <a:gd name="T8" fmla="*/ 45 w 89"/>
                <a:gd name="T9" fmla="*/ 0 h 86"/>
                <a:gd name="T10" fmla="*/ 61 w 89"/>
                <a:gd name="T11" fmla="*/ 2 h 86"/>
                <a:gd name="T12" fmla="*/ 76 w 89"/>
                <a:gd name="T13" fmla="*/ 13 h 86"/>
                <a:gd name="T14" fmla="*/ 84 w 89"/>
                <a:gd name="T15" fmla="*/ 26 h 86"/>
                <a:gd name="T16" fmla="*/ 89 w 89"/>
                <a:gd name="T17" fmla="*/ 43 h 86"/>
                <a:gd name="T18" fmla="*/ 84 w 89"/>
                <a:gd name="T19" fmla="*/ 60 h 86"/>
                <a:gd name="T20" fmla="*/ 76 w 89"/>
                <a:gd name="T21" fmla="*/ 73 h 86"/>
                <a:gd name="T22" fmla="*/ 61 w 89"/>
                <a:gd name="T23" fmla="*/ 84 h 86"/>
                <a:gd name="T24" fmla="*/ 45 w 89"/>
                <a:gd name="T25" fmla="*/ 86 h 86"/>
                <a:gd name="T26" fmla="*/ 28 w 89"/>
                <a:gd name="T27" fmla="*/ 84 h 86"/>
                <a:gd name="T28" fmla="*/ 13 w 89"/>
                <a:gd name="T29" fmla="*/ 73 h 86"/>
                <a:gd name="T30" fmla="*/ 4 w 89"/>
                <a:gd name="T31" fmla="*/ 60 h 86"/>
                <a:gd name="T32" fmla="*/ 0 w 89"/>
                <a:gd name="T33" fmla="*/ 4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86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1" y="2"/>
                  </a:lnTo>
                  <a:lnTo>
                    <a:pt x="76" y="13"/>
                  </a:lnTo>
                  <a:lnTo>
                    <a:pt x="84" y="26"/>
                  </a:lnTo>
                  <a:lnTo>
                    <a:pt x="89" y="43"/>
                  </a:lnTo>
                  <a:lnTo>
                    <a:pt x="84" y="60"/>
                  </a:lnTo>
                  <a:lnTo>
                    <a:pt x="76" y="73"/>
                  </a:lnTo>
                  <a:lnTo>
                    <a:pt x="61" y="84"/>
                  </a:lnTo>
                  <a:lnTo>
                    <a:pt x="45" y="86"/>
                  </a:lnTo>
                  <a:lnTo>
                    <a:pt x="28" y="84"/>
                  </a:lnTo>
                  <a:lnTo>
                    <a:pt x="13" y="73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638" name="Freeform 94"/>
            <p:cNvSpPr>
              <a:spLocks noChangeAspect="1"/>
            </p:cNvSpPr>
            <p:nvPr/>
          </p:nvSpPr>
          <p:spPr bwMode="auto">
            <a:xfrm>
              <a:off x="1295" y="2683"/>
              <a:ext cx="89" cy="88"/>
            </a:xfrm>
            <a:custGeom>
              <a:avLst/>
              <a:gdLst>
                <a:gd name="T0" fmla="*/ 0 w 89"/>
                <a:gd name="T1" fmla="*/ 45 h 88"/>
                <a:gd name="T2" fmla="*/ 4 w 89"/>
                <a:gd name="T3" fmla="*/ 28 h 88"/>
                <a:gd name="T4" fmla="*/ 13 w 89"/>
                <a:gd name="T5" fmla="*/ 12 h 88"/>
                <a:gd name="T6" fmla="*/ 28 w 89"/>
                <a:gd name="T7" fmla="*/ 4 h 88"/>
                <a:gd name="T8" fmla="*/ 45 w 89"/>
                <a:gd name="T9" fmla="*/ 0 h 88"/>
                <a:gd name="T10" fmla="*/ 60 w 89"/>
                <a:gd name="T11" fmla="*/ 4 h 88"/>
                <a:gd name="T12" fmla="*/ 76 w 89"/>
                <a:gd name="T13" fmla="*/ 12 h 88"/>
                <a:gd name="T14" fmla="*/ 86 w 89"/>
                <a:gd name="T15" fmla="*/ 28 h 88"/>
                <a:gd name="T16" fmla="*/ 89 w 89"/>
                <a:gd name="T17" fmla="*/ 45 h 88"/>
                <a:gd name="T18" fmla="*/ 86 w 89"/>
                <a:gd name="T19" fmla="*/ 62 h 88"/>
                <a:gd name="T20" fmla="*/ 76 w 89"/>
                <a:gd name="T21" fmla="*/ 75 h 88"/>
                <a:gd name="T22" fmla="*/ 60 w 89"/>
                <a:gd name="T23" fmla="*/ 86 h 88"/>
                <a:gd name="T24" fmla="*/ 45 w 89"/>
                <a:gd name="T25" fmla="*/ 88 h 88"/>
                <a:gd name="T26" fmla="*/ 28 w 89"/>
                <a:gd name="T27" fmla="*/ 86 h 88"/>
                <a:gd name="T28" fmla="*/ 13 w 89"/>
                <a:gd name="T29" fmla="*/ 75 h 88"/>
                <a:gd name="T30" fmla="*/ 4 w 89"/>
                <a:gd name="T31" fmla="*/ 62 h 88"/>
                <a:gd name="T32" fmla="*/ 0 w 89"/>
                <a:gd name="T33" fmla="*/ 45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88">
                  <a:moveTo>
                    <a:pt x="0" y="45"/>
                  </a:moveTo>
                  <a:lnTo>
                    <a:pt x="4" y="28"/>
                  </a:lnTo>
                  <a:lnTo>
                    <a:pt x="13" y="12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0" y="4"/>
                  </a:lnTo>
                  <a:lnTo>
                    <a:pt x="76" y="12"/>
                  </a:lnTo>
                  <a:lnTo>
                    <a:pt x="86" y="28"/>
                  </a:lnTo>
                  <a:lnTo>
                    <a:pt x="89" y="45"/>
                  </a:lnTo>
                  <a:lnTo>
                    <a:pt x="86" y="62"/>
                  </a:lnTo>
                  <a:lnTo>
                    <a:pt x="76" y="75"/>
                  </a:lnTo>
                  <a:lnTo>
                    <a:pt x="60" y="86"/>
                  </a:lnTo>
                  <a:lnTo>
                    <a:pt x="45" y="88"/>
                  </a:lnTo>
                  <a:lnTo>
                    <a:pt x="28" y="86"/>
                  </a:lnTo>
                  <a:lnTo>
                    <a:pt x="13" y="75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639" name="Freeform 95"/>
            <p:cNvSpPr>
              <a:spLocks noChangeAspect="1"/>
            </p:cNvSpPr>
            <p:nvPr/>
          </p:nvSpPr>
          <p:spPr bwMode="auto">
            <a:xfrm>
              <a:off x="471" y="1683"/>
              <a:ext cx="88" cy="88"/>
            </a:xfrm>
            <a:custGeom>
              <a:avLst/>
              <a:gdLst>
                <a:gd name="T0" fmla="*/ 0 w 88"/>
                <a:gd name="T1" fmla="*/ 45 h 88"/>
                <a:gd name="T2" fmla="*/ 4 w 88"/>
                <a:gd name="T3" fmla="*/ 28 h 88"/>
                <a:gd name="T4" fmla="*/ 13 w 88"/>
                <a:gd name="T5" fmla="*/ 13 h 88"/>
                <a:gd name="T6" fmla="*/ 28 w 88"/>
                <a:gd name="T7" fmla="*/ 4 h 88"/>
                <a:gd name="T8" fmla="*/ 45 w 88"/>
                <a:gd name="T9" fmla="*/ 0 h 88"/>
                <a:gd name="T10" fmla="*/ 60 w 88"/>
                <a:gd name="T11" fmla="*/ 4 h 88"/>
                <a:gd name="T12" fmla="*/ 75 w 88"/>
                <a:gd name="T13" fmla="*/ 13 h 88"/>
                <a:gd name="T14" fmla="*/ 84 w 88"/>
                <a:gd name="T15" fmla="*/ 28 h 88"/>
                <a:gd name="T16" fmla="*/ 88 w 88"/>
                <a:gd name="T17" fmla="*/ 45 h 88"/>
                <a:gd name="T18" fmla="*/ 84 w 88"/>
                <a:gd name="T19" fmla="*/ 60 h 88"/>
                <a:gd name="T20" fmla="*/ 75 w 88"/>
                <a:gd name="T21" fmla="*/ 75 h 88"/>
                <a:gd name="T22" fmla="*/ 60 w 88"/>
                <a:gd name="T23" fmla="*/ 86 h 88"/>
                <a:gd name="T24" fmla="*/ 45 w 88"/>
                <a:gd name="T25" fmla="*/ 88 h 88"/>
                <a:gd name="T26" fmla="*/ 28 w 88"/>
                <a:gd name="T27" fmla="*/ 86 h 88"/>
                <a:gd name="T28" fmla="*/ 13 w 88"/>
                <a:gd name="T29" fmla="*/ 75 h 88"/>
                <a:gd name="T30" fmla="*/ 4 w 88"/>
                <a:gd name="T31" fmla="*/ 60 h 88"/>
                <a:gd name="T32" fmla="*/ 0 w 88"/>
                <a:gd name="T33" fmla="*/ 45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8" h="88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0" y="4"/>
                  </a:lnTo>
                  <a:lnTo>
                    <a:pt x="75" y="13"/>
                  </a:lnTo>
                  <a:lnTo>
                    <a:pt x="84" y="28"/>
                  </a:lnTo>
                  <a:lnTo>
                    <a:pt x="88" y="45"/>
                  </a:lnTo>
                  <a:lnTo>
                    <a:pt x="84" y="60"/>
                  </a:lnTo>
                  <a:lnTo>
                    <a:pt x="75" y="75"/>
                  </a:lnTo>
                  <a:lnTo>
                    <a:pt x="60" y="86"/>
                  </a:lnTo>
                  <a:lnTo>
                    <a:pt x="45" y="88"/>
                  </a:lnTo>
                  <a:lnTo>
                    <a:pt x="28" y="86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640" name="Freeform 96"/>
            <p:cNvSpPr>
              <a:spLocks noChangeAspect="1"/>
            </p:cNvSpPr>
            <p:nvPr/>
          </p:nvSpPr>
          <p:spPr bwMode="auto">
            <a:xfrm>
              <a:off x="1652" y="2117"/>
              <a:ext cx="88" cy="88"/>
            </a:xfrm>
            <a:custGeom>
              <a:avLst/>
              <a:gdLst>
                <a:gd name="T0" fmla="*/ 0 w 88"/>
                <a:gd name="T1" fmla="*/ 45 h 88"/>
                <a:gd name="T2" fmla="*/ 2 w 88"/>
                <a:gd name="T3" fmla="*/ 28 h 88"/>
                <a:gd name="T4" fmla="*/ 13 w 88"/>
                <a:gd name="T5" fmla="*/ 13 h 88"/>
                <a:gd name="T6" fmla="*/ 26 w 88"/>
                <a:gd name="T7" fmla="*/ 4 h 88"/>
                <a:gd name="T8" fmla="*/ 43 w 88"/>
                <a:gd name="T9" fmla="*/ 0 h 88"/>
                <a:gd name="T10" fmla="*/ 60 w 88"/>
                <a:gd name="T11" fmla="*/ 4 h 88"/>
                <a:gd name="T12" fmla="*/ 75 w 88"/>
                <a:gd name="T13" fmla="*/ 13 h 88"/>
                <a:gd name="T14" fmla="*/ 84 w 88"/>
                <a:gd name="T15" fmla="*/ 28 h 88"/>
                <a:gd name="T16" fmla="*/ 88 w 88"/>
                <a:gd name="T17" fmla="*/ 45 h 88"/>
                <a:gd name="T18" fmla="*/ 84 w 88"/>
                <a:gd name="T19" fmla="*/ 62 h 88"/>
                <a:gd name="T20" fmla="*/ 75 w 88"/>
                <a:gd name="T21" fmla="*/ 75 h 88"/>
                <a:gd name="T22" fmla="*/ 60 w 88"/>
                <a:gd name="T23" fmla="*/ 86 h 88"/>
                <a:gd name="T24" fmla="*/ 43 w 88"/>
                <a:gd name="T25" fmla="*/ 88 h 88"/>
                <a:gd name="T26" fmla="*/ 26 w 88"/>
                <a:gd name="T27" fmla="*/ 86 h 88"/>
                <a:gd name="T28" fmla="*/ 13 w 88"/>
                <a:gd name="T29" fmla="*/ 75 h 88"/>
                <a:gd name="T30" fmla="*/ 2 w 88"/>
                <a:gd name="T31" fmla="*/ 62 h 88"/>
                <a:gd name="T32" fmla="*/ 0 w 88"/>
                <a:gd name="T33" fmla="*/ 45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8" h="88">
                  <a:moveTo>
                    <a:pt x="0" y="45"/>
                  </a:moveTo>
                  <a:lnTo>
                    <a:pt x="2" y="28"/>
                  </a:lnTo>
                  <a:lnTo>
                    <a:pt x="13" y="13"/>
                  </a:lnTo>
                  <a:lnTo>
                    <a:pt x="26" y="4"/>
                  </a:lnTo>
                  <a:lnTo>
                    <a:pt x="43" y="0"/>
                  </a:lnTo>
                  <a:lnTo>
                    <a:pt x="60" y="4"/>
                  </a:lnTo>
                  <a:lnTo>
                    <a:pt x="75" y="13"/>
                  </a:lnTo>
                  <a:lnTo>
                    <a:pt x="84" y="28"/>
                  </a:lnTo>
                  <a:lnTo>
                    <a:pt x="88" y="45"/>
                  </a:lnTo>
                  <a:lnTo>
                    <a:pt x="84" y="62"/>
                  </a:lnTo>
                  <a:lnTo>
                    <a:pt x="75" y="75"/>
                  </a:lnTo>
                  <a:lnTo>
                    <a:pt x="60" y="86"/>
                  </a:lnTo>
                  <a:lnTo>
                    <a:pt x="43" y="88"/>
                  </a:lnTo>
                  <a:lnTo>
                    <a:pt x="26" y="86"/>
                  </a:lnTo>
                  <a:lnTo>
                    <a:pt x="13" y="75"/>
                  </a:lnTo>
                  <a:lnTo>
                    <a:pt x="2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641" name="Freeform 97"/>
            <p:cNvSpPr>
              <a:spLocks noChangeAspect="1"/>
            </p:cNvSpPr>
            <p:nvPr/>
          </p:nvSpPr>
          <p:spPr bwMode="auto">
            <a:xfrm>
              <a:off x="2134" y="2177"/>
              <a:ext cx="89" cy="89"/>
            </a:xfrm>
            <a:custGeom>
              <a:avLst/>
              <a:gdLst>
                <a:gd name="T0" fmla="*/ 0 w 89"/>
                <a:gd name="T1" fmla="*/ 43 h 89"/>
                <a:gd name="T2" fmla="*/ 4 w 89"/>
                <a:gd name="T3" fmla="*/ 26 h 89"/>
                <a:gd name="T4" fmla="*/ 13 w 89"/>
                <a:gd name="T5" fmla="*/ 13 h 89"/>
                <a:gd name="T6" fmla="*/ 28 w 89"/>
                <a:gd name="T7" fmla="*/ 2 h 89"/>
                <a:gd name="T8" fmla="*/ 46 w 89"/>
                <a:gd name="T9" fmla="*/ 0 h 89"/>
                <a:gd name="T10" fmla="*/ 63 w 89"/>
                <a:gd name="T11" fmla="*/ 2 h 89"/>
                <a:gd name="T12" fmla="*/ 76 w 89"/>
                <a:gd name="T13" fmla="*/ 13 h 89"/>
                <a:gd name="T14" fmla="*/ 87 w 89"/>
                <a:gd name="T15" fmla="*/ 26 h 89"/>
                <a:gd name="T16" fmla="*/ 89 w 89"/>
                <a:gd name="T17" fmla="*/ 43 h 89"/>
                <a:gd name="T18" fmla="*/ 87 w 89"/>
                <a:gd name="T19" fmla="*/ 61 h 89"/>
                <a:gd name="T20" fmla="*/ 76 w 89"/>
                <a:gd name="T21" fmla="*/ 76 h 89"/>
                <a:gd name="T22" fmla="*/ 63 w 89"/>
                <a:gd name="T23" fmla="*/ 84 h 89"/>
                <a:gd name="T24" fmla="*/ 46 w 89"/>
                <a:gd name="T25" fmla="*/ 89 h 89"/>
                <a:gd name="T26" fmla="*/ 28 w 89"/>
                <a:gd name="T27" fmla="*/ 84 h 89"/>
                <a:gd name="T28" fmla="*/ 13 w 89"/>
                <a:gd name="T29" fmla="*/ 76 h 89"/>
                <a:gd name="T30" fmla="*/ 4 w 89"/>
                <a:gd name="T31" fmla="*/ 61 h 89"/>
                <a:gd name="T32" fmla="*/ 0 w 89"/>
                <a:gd name="T33" fmla="*/ 43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89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6" y="0"/>
                  </a:lnTo>
                  <a:lnTo>
                    <a:pt x="63" y="2"/>
                  </a:lnTo>
                  <a:lnTo>
                    <a:pt x="76" y="13"/>
                  </a:lnTo>
                  <a:lnTo>
                    <a:pt x="87" y="26"/>
                  </a:lnTo>
                  <a:lnTo>
                    <a:pt x="89" y="43"/>
                  </a:lnTo>
                  <a:lnTo>
                    <a:pt x="87" y="61"/>
                  </a:lnTo>
                  <a:lnTo>
                    <a:pt x="76" y="76"/>
                  </a:lnTo>
                  <a:lnTo>
                    <a:pt x="63" y="84"/>
                  </a:lnTo>
                  <a:lnTo>
                    <a:pt x="46" y="89"/>
                  </a:lnTo>
                  <a:lnTo>
                    <a:pt x="28" y="84"/>
                  </a:lnTo>
                  <a:lnTo>
                    <a:pt x="13" y="76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642" name="Rectangle 98"/>
            <p:cNvSpPr>
              <a:spLocks noChangeAspect="1" noChangeArrowheads="1"/>
            </p:cNvSpPr>
            <p:nvPr/>
          </p:nvSpPr>
          <p:spPr bwMode="auto">
            <a:xfrm>
              <a:off x="2033" y="1117"/>
              <a:ext cx="98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1</a:t>
              </a:r>
              <a:endParaRPr lang="en-US" sz="1600"/>
            </a:p>
          </p:txBody>
        </p:sp>
        <p:sp>
          <p:nvSpPr>
            <p:cNvPr id="1644643" name="Rectangle 99"/>
            <p:cNvSpPr>
              <a:spLocks noChangeAspect="1" noChangeArrowheads="1"/>
            </p:cNvSpPr>
            <p:nvPr/>
          </p:nvSpPr>
          <p:spPr bwMode="auto">
            <a:xfrm>
              <a:off x="1256" y="1765"/>
              <a:ext cx="9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2</a:t>
              </a:r>
              <a:endParaRPr lang="en-US" sz="1600"/>
            </a:p>
          </p:txBody>
        </p:sp>
        <p:sp>
          <p:nvSpPr>
            <p:cNvPr id="1644644" name="Rectangle 100"/>
            <p:cNvSpPr>
              <a:spLocks noChangeAspect="1" noChangeArrowheads="1"/>
            </p:cNvSpPr>
            <p:nvPr/>
          </p:nvSpPr>
          <p:spPr bwMode="auto">
            <a:xfrm>
              <a:off x="1810" y="2069"/>
              <a:ext cx="9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3</a:t>
              </a:r>
              <a:endParaRPr lang="en-US" sz="1600"/>
            </a:p>
          </p:txBody>
        </p:sp>
        <p:sp>
          <p:nvSpPr>
            <p:cNvPr id="1644645" name="Rectangle 101"/>
            <p:cNvSpPr>
              <a:spLocks noChangeAspect="1" noChangeArrowheads="1"/>
            </p:cNvSpPr>
            <p:nvPr/>
          </p:nvSpPr>
          <p:spPr bwMode="auto">
            <a:xfrm>
              <a:off x="1422" y="2635"/>
              <a:ext cx="98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4</a:t>
              </a:r>
              <a:endParaRPr lang="en-US" sz="1600"/>
            </a:p>
          </p:txBody>
        </p:sp>
        <p:sp>
          <p:nvSpPr>
            <p:cNvPr id="1644646" name="Rectangle 102"/>
            <p:cNvSpPr>
              <a:spLocks noChangeAspect="1" noChangeArrowheads="1"/>
            </p:cNvSpPr>
            <p:nvPr/>
          </p:nvSpPr>
          <p:spPr bwMode="auto">
            <a:xfrm>
              <a:off x="648" y="1626"/>
              <a:ext cx="9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5</a:t>
              </a:r>
              <a:endParaRPr lang="en-US" sz="1600"/>
            </a:p>
          </p:txBody>
        </p:sp>
        <p:sp>
          <p:nvSpPr>
            <p:cNvPr id="1644647" name="Rectangle 103"/>
            <p:cNvSpPr>
              <a:spLocks noChangeAspect="1" noChangeArrowheads="1"/>
            </p:cNvSpPr>
            <p:nvPr/>
          </p:nvSpPr>
          <p:spPr bwMode="auto">
            <a:xfrm>
              <a:off x="2307" y="2126"/>
              <a:ext cx="9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 New Roman" charset="0"/>
                </a:rPr>
                <a:t>6</a:t>
              </a:r>
              <a:endParaRPr lang="en-US" sz="1600"/>
            </a:p>
          </p:txBody>
        </p:sp>
      </p:grpSp>
      <p:grpSp>
        <p:nvGrpSpPr>
          <p:cNvPr id="1644648" name="Group 104"/>
          <p:cNvGrpSpPr>
            <a:grpSpLocks noChangeAspect="1"/>
          </p:cNvGrpSpPr>
          <p:nvPr/>
        </p:nvGrpSpPr>
        <p:grpSpPr bwMode="auto">
          <a:xfrm>
            <a:off x="2141538" y="2527300"/>
            <a:ext cx="923925" cy="592138"/>
            <a:chOff x="1572" y="1805"/>
            <a:chExt cx="897" cy="575"/>
          </a:xfrm>
        </p:grpSpPr>
        <p:sp>
          <p:nvSpPr>
            <p:cNvPr id="1644649" name="Freeform 105"/>
            <p:cNvSpPr>
              <a:spLocks noChangeAspect="1"/>
            </p:cNvSpPr>
            <p:nvPr/>
          </p:nvSpPr>
          <p:spPr bwMode="auto">
            <a:xfrm>
              <a:off x="1572" y="2005"/>
              <a:ext cx="897" cy="375"/>
            </a:xfrm>
            <a:custGeom>
              <a:avLst/>
              <a:gdLst>
                <a:gd name="T0" fmla="*/ 450 w 897"/>
                <a:gd name="T1" fmla="*/ 0 h 375"/>
                <a:gd name="T2" fmla="*/ 510 w 897"/>
                <a:gd name="T3" fmla="*/ 2 h 375"/>
                <a:gd name="T4" fmla="*/ 571 w 897"/>
                <a:gd name="T5" fmla="*/ 6 h 375"/>
                <a:gd name="T6" fmla="*/ 629 w 897"/>
                <a:gd name="T7" fmla="*/ 15 h 375"/>
                <a:gd name="T8" fmla="*/ 683 w 897"/>
                <a:gd name="T9" fmla="*/ 28 h 375"/>
                <a:gd name="T10" fmla="*/ 733 w 897"/>
                <a:gd name="T11" fmla="*/ 43 h 375"/>
                <a:gd name="T12" fmla="*/ 778 w 897"/>
                <a:gd name="T13" fmla="*/ 60 h 375"/>
                <a:gd name="T14" fmla="*/ 817 w 897"/>
                <a:gd name="T15" fmla="*/ 79 h 375"/>
                <a:gd name="T16" fmla="*/ 850 w 897"/>
                <a:gd name="T17" fmla="*/ 101 h 375"/>
                <a:gd name="T18" fmla="*/ 874 w 897"/>
                <a:gd name="T19" fmla="*/ 125 h 375"/>
                <a:gd name="T20" fmla="*/ 891 w 897"/>
                <a:gd name="T21" fmla="*/ 149 h 375"/>
                <a:gd name="T22" fmla="*/ 897 w 897"/>
                <a:gd name="T23" fmla="*/ 174 h 375"/>
                <a:gd name="T24" fmla="*/ 897 w 897"/>
                <a:gd name="T25" fmla="*/ 200 h 375"/>
                <a:gd name="T26" fmla="*/ 891 w 897"/>
                <a:gd name="T27" fmla="*/ 226 h 375"/>
                <a:gd name="T28" fmla="*/ 874 w 897"/>
                <a:gd name="T29" fmla="*/ 250 h 375"/>
                <a:gd name="T30" fmla="*/ 850 w 897"/>
                <a:gd name="T31" fmla="*/ 274 h 375"/>
                <a:gd name="T32" fmla="*/ 817 w 897"/>
                <a:gd name="T33" fmla="*/ 295 h 375"/>
                <a:gd name="T34" fmla="*/ 778 w 897"/>
                <a:gd name="T35" fmla="*/ 315 h 375"/>
                <a:gd name="T36" fmla="*/ 733 w 897"/>
                <a:gd name="T37" fmla="*/ 332 h 375"/>
                <a:gd name="T38" fmla="*/ 683 w 897"/>
                <a:gd name="T39" fmla="*/ 347 h 375"/>
                <a:gd name="T40" fmla="*/ 629 w 897"/>
                <a:gd name="T41" fmla="*/ 360 h 375"/>
                <a:gd name="T42" fmla="*/ 571 w 897"/>
                <a:gd name="T43" fmla="*/ 369 h 375"/>
                <a:gd name="T44" fmla="*/ 510 w 897"/>
                <a:gd name="T45" fmla="*/ 373 h 375"/>
                <a:gd name="T46" fmla="*/ 450 w 897"/>
                <a:gd name="T47" fmla="*/ 375 h 375"/>
                <a:gd name="T48" fmla="*/ 387 w 897"/>
                <a:gd name="T49" fmla="*/ 373 h 375"/>
                <a:gd name="T50" fmla="*/ 329 w 897"/>
                <a:gd name="T51" fmla="*/ 369 h 375"/>
                <a:gd name="T52" fmla="*/ 270 w 897"/>
                <a:gd name="T53" fmla="*/ 360 h 375"/>
                <a:gd name="T54" fmla="*/ 216 w 897"/>
                <a:gd name="T55" fmla="*/ 347 h 375"/>
                <a:gd name="T56" fmla="*/ 164 w 897"/>
                <a:gd name="T57" fmla="*/ 332 h 375"/>
                <a:gd name="T58" fmla="*/ 121 w 897"/>
                <a:gd name="T59" fmla="*/ 315 h 375"/>
                <a:gd name="T60" fmla="*/ 82 w 897"/>
                <a:gd name="T61" fmla="*/ 295 h 375"/>
                <a:gd name="T62" fmla="*/ 49 w 897"/>
                <a:gd name="T63" fmla="*/ 274 h 375"/>
                <a:gd name="T64" fmla="*/ 26 w 897"/>
                <a:gd name="T65" fmla="*/ 250 h 375"/>
                <a:gd name="T66" fmla="*/ 8 w 897"/>
                <a:gd name="T67" fmla="*/ 226 h 375"/>
                <a:gd name="T68" fmla="*/ 0 w 897"/>
                <a:gd name="T69" fmla="*/ 200 h 375"/>
                <a:gd name="T70" fmla="*/ 0 w 897"/>
                <a:gd name="T71" fmla="*/ 174 h 375"/>
                <a:gd name="T72" fmla="*/ 8 w 897"/>
                <a:gd name="T73" fmla="*/ 149 h 375"/>
                <a:gd name="T74" fmla="*/ 26 w 897"/>
                <a:gd name="T75" fmla="*/ 125 h 375"/>
                <a:gd name="T76" fmla="*/ 49 w 897"/>
                <a:gd name="T77" fmla="*/ 101 h 375"/>
                <a:gd name="T78" fmla="*/ 82 w 897"/>
                <a:gd name="T79" fmla="*/ 79 h 375"/>
                <a:gd name="T80" fmla="*/ 121 w 897"/>
                <a:gd name="T81" fmla="*/ 60 h 375"/>
                <a:gd name="T82" fmla="*/ 164 w 897"/>
                <a:gd name="T83" fmla="*/ 43 h 375"/>
                <a:gd name="T84" fmla="*/ 216 w 897"/>
                <a:gd name="T85" fmla="*/ 28 h 375"/>
                <a:gd name="T86" fmla="*/ 270 w 897"/>
                <a:gd name="T87" fmla="*/ 15 h 375"/>
                <a:gd name="T88" fmla="*/ 329 w 897"/>
                <a:gd name="T89" fmla="*/ 6 h 375"/>
                <a:gd name="T90" fmla="*/ 387 w 897"/>
                <a:gd name="T91" fmla="*/ 2 h 375"/>
                <a:gd name="T92" fmla="*/ 450 w 897"/>
                <a:gd name="T93" fmla="*/ 0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97" h="375">
                  <a:moveTo>
                    <a:pt x="450" y="0"/>
                  </a:moveTo>
                  <a:lnTo>
                    <a:pt x="510" y="2"/>
                  </a:lnTo>
                  <a:lnTo>
                    <a:pt x="571" y="6"/>
                  </a:lnTo>
                  <a:lnTo>
                    <a:pt x="629" y="15"/>
                  </a:lnTo>
                  <a:lnTo>
                    <a:pt x="683" y="28"/>
                  </a:lnTo>
                  <a:lnTo>
                    <a:pt x="733" y="43"/>
                  </a:lnTo>
                  <a:lnTo>
                    <a:pt x="778" y="60"/>
                  </a:lnTo>
                  <a:lnTo>
                    <a:pt x="817" y="79"/>
                  </a:lnTo>
                  <a:lnTo>
                    <a:pt x="850" y="101"/>
                  </a:lnTo>
                  <a:lnTo>
                    <a:pt x="874" y="125"/>
                  </a:lnTo>
                  <a:lnTo>
                    <a:pt x="891" y="149"/>
                  </a:lnTo>
                  <a:lnTo>
                    <a:pt x="897" y="174"/>
                  </a:lnTo>
                  <a:lnTo>
                    <a:pt x="897" y="200"/>
                  </a:lnTo>
                  <a:lnTo>
                    <a:pt x="891" y="226"/>
                  </a:lnTo>
                  <a:lnTo>
                    <a:pt x="874" y="250"/>
                  </a:lnTo>
                  <a:lnTo>
                    <a:pt x="850" y="274"/>
                  </a:lnTo>
                  <a:lnTo>
                    <a:pt x="817" y="295"/>
                  </a:lnTo>
                  <a:lnTo>
                    <a:pt x="778" y="315"/>
                  </a:lnTo>
                  <a:lnTo>
                    <a:pt x="733" y="332"/>
                  </a:lnTo>
                  <a:lnTo>
                    <a:pt x="683" y="347"/>
                  </a:lnTo>
                  <a:lnTo>
                    <a:pt x="629" y="360"/>
                  </a:lnTo>
                  <a:lnTo>
                    <a:pt x="571" y="369"/>
                  </a:lnTo>
                  <a:lnTo>
                    <a:pt x="510" y="373"/>
                  </a:lnTo>
                  <a:lnTo>
                    <a:pt x="450" y="375"/>
                  </a:lnTo>
                  <a:lnTo>
                    <a:pt x="387" y="373"/>
                  </a:lnTo>
                  <a:lnTo>
                    <a:pt x="329" y="369"/>
                  </a:lnTo>
                  <a:lnTo>
                    <a:pt x="270" y="360"/>
                  </a:lnTo>
                  <a:lnTo>
                    <a:pt x="216" y="347"/>
                  </a:lnTo>
                  <a:lnTo>
                    <a:pt x="164" y="332"/>
                  </a:lnTo>
                  <a:lnTo>
                    <a:pt x="121" y="315"/>
                  </a:lnTo>
                  <a:lnTo>
                    <a:pt x="82" y="295"/>
                  </a:lnTo>
                  <a:lnTo>
                    <a:pt x="49" y="274"/>
                  </a:lnTo>
                  <a:lnTo>
                    <a:pt x="26" y="250"/>
                  </a:lnTo>
                  <a:lnTo>
                    <a:pt x="8" y="226"/>
                  </a:lnTo>
                  <a:lnTo>
                    <a:pt x="0" y="200"/>
                  </a:lnTo>
                  <a:lnTo>
                    <a:pt x="0" y="174"/>
                  </a:lnTo>
                  <a:lnTo>
                    <a:pt x="8" y="149"/>
                  </a:lnTo>
                  <a:lnTo>
                    <a:pt x="26" y="125"/>
                  </a:lnTo>
                  <a:lnTo>
                    <a:pt x="49" y="101"/>
                  </a:lnTo>
                  <a:lnTo>
                    <a:pt x="82" y="79"/>
                  </a:lnTo>
                  <a:lnTo>
                    <a:pt x="121" y="60"/>
                  </a:lnTo>
                  <a:lnTo>
                    <a:pt x="164" y="43"/>
                  </a:lnTo>
                  <a:lnTo>
                    <a:pt x="216" y="28"/>
                  </a:lnTo>
                  <a:lnTo>
                    <a:pt x="270" y="15"/>
                  </a:lnTo>
                  <a:lnTo>
                    <a:pt x="329" y="6"/>
                  </a:lnTo>
                  <a:lnTo>
                    <a:pt x="387" y="2"/>
                  </a:lnTo>
                  <a:lnTo>
                    <a:pt x="4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650" name="Rectangle 106"/>
            <p:cNvSpPr>
              <a:spLocks noChangeAspect="1" noChangeArrowheads="1"/>
            </p:cNvSpPr>
            <p:nvPr/>
          </p:nvSpPr>
          <p:spPr bwMode="auto">
            <a:xfrm>
              <a:off x="1943" y="1805"/>
              <a:ext cx="110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1</a:t>
              </a:r>
              <a:endParaRPr lang="en-US" sz="1600"/>
            </a:p>
          </p:txBody>
        </p:sp>
      </p:grpSp>
      <p:grpSp>
        <p:nvGrpSpPr>
          <p:cNvPr id="1644651" name="Group 107"/>
          <p:cNvGrpSpPr>
            <a:grpSpLocks noChangeAspect="1"/>
          </p:cNvGrpSpPr>
          <p:nvPr/>
        </p:nvGrpSpPr>
        <p:grpSpPr bwMode="auto">
          <a:xfrm>
            <a:off x="865188" y="2282825"/>
            <a:ext cx="1125537" cy="742950"/>
            <a:chOff x="332" y="1568"/>
            <a:chExt cx="1093" cy="721"/>
          </a:xfrm>
        </p:grpSpPr>
        <p:sp>
          <p:nvSpPr>
            <p:cNvPr id="1644652" name="Freeform 108"/>
            <p:cNvSpPr>
              <a:spLocks noChangeAspect="1"/>
            </p:cNvSpPr>
            <p:nvPr/>
          </p:nvSpPr>
          <p:spPr bwMode="auto">
            <a:xfrm>
              <a:off x="332" y="1568"/>
              <a:ext cx="1093" cy="497"/>
            </a:xfrm>
            <a:custGeom>
              <a:avLst/>
              <a:gdLst>
                <a:gd name="T0" fmla="*/ 547 w 1093"/>
                <a:gd name="T1" fmla="*/ 0 h 497"/>
                <a:gd name="T2" fmla="*/ 615 w 1093"/>
                <a:gd name="T3" fmla="*/ 3 h 497"/>
                <a:gd name="T4" fmla="*/ 684 w 1093"/>
                <a:gd name="T5" fmla="*/ 7 h 497"/>
                <a:gd name="T6" fmla="*/ 749 w 1093"/>
                <a:gd name="T7" fmla="*/ 18 h 497"/>
                <a:gd name="T8" fmla="*/ 811 w 1093"/>
                <a:gd name="T9" fmla="*/ 31 h 497"/>
                <a:gd name="T10" fmla="*/ 868 w 1093"/>
                <a:gd name="T11" fmla="*/ 48 h 497"/>
                <a:gd name="T12" fmla="*/ 922 w 1093"/>
                <a:gd name="T13" fmla="*/ 67 h 497"/>
                <a:gd name="T14" fmla="*/ 969 w 1093"/>
                <a:gd name="T15" fmla="*/ 91 h 497"/>
                <a:gd name="T16" fmla="*/ 1008 w 1093"/>
                <a:gd name="T17" fmla="*/ 115 h 497"/>
                <a:gd name="T18" fmla="*/ 1043 w 1093"/>
                <a:gd name="T19" fmla="*/ 143 h 497"/>
                <a:gd name="T20" fmla="*/ 1067 w 1093"/>
                <a:gd name="T21" fmla="*/ 171 h 497"/>
                <a:gd name="T22" fmla="*/ 1084 w 1093"/>
                <a:gd name="T23" fmla="*/ 201 h 497"/>
                <a:gd name="T24" fmla="*/ 1093 w 1093"/>
                <a:gd name="T25" fmla="*/ 234 h 497"/>
                <a:gd name="T26" fmla="*/ 1093 w 1093"/>
                <a:gd name="T27" fmla="*/ 264 h 497"/>
                <a:gd name="T28" fmla="*/ 1084 w 1093"/>
                <a:gd name="T29" fmla="*/ 294 h 497"/>
                <a:gd name="T30" fmla="*/ 1067 w 1093"/>
                <a:gd name="T31" fmla="*/ 324 h 497"/>
                <a:gd name="T32" fmla="*/ 1043 w 1093"/>
                <a:gd name="T33" fmla="*/ 354 h 497"/>
                <a:gd name="T34" fmla="*/ 1008 w 1093"/>
                <a:gd name="T35" fmla="*/ 383 h 497"/>
                <a:gd name="T36" fmla="*/ 969 w 1093"/>
                <a:gd name="T37" fmla="*/ 406 h 497"/>
                <a:gd name="T38" fmla="*/ 922 w 1093"/>
                <a:gd name="T39" fmla="*/ 430 h 497"/>
                <a:gd name="T40" fmla="*/ 868 w 1093"/>
                <a:gd name="T41" fmla="*/ 449 h 497"/>
                <a:gd name="T42" fmla="*/ 811 w 1093"/>
                <a:gd name="T43" fmla="*/ 467 h 497"/>
                <a:gd name="T44" fmla="*/ 749 w 1093"/>
                <a:gd name="T45" fmla="*/ 480 h 497"/>
                <a:gd name="T46" fmla="*/ 684 w 1093"/>
                <a:gd name="T47" fmla="*/ 488 h 497"/>
                <a:gd name="T48" fmla="*/ 615 w 1093"/>
                <a:gd name="T49" fmla="*/ 495 h 497"/>
                <a:gd name="T50" fmla="*/ 547 w 1093"/>
                <a:gd name="T51" fmla="*/ 497 h 497"/>
                <a:gd name="T52" fmla="*/ 478 w 1093"/>
                <a:gd name="T53" fmla="*/ 495 h 497"/>
                <a:gd name="T54" fmla="*/ 411 w 1093"/>
                <a:gd name="T55" fmla="*/ 488 h 497"/>
                <a:gd name="T56" fmla="*/ 346 w 1093"/>
                <a:gd name="T57" fmla="*/ 480 h 497"/>
                <a:gd name="T58" fmla="*/ 284 w 1093"/>
                <a:gd name="T59" fmla="*/ 467 h 497"/>
                <a:gd name="T60" fmla="*/ 225 w 1093"/>
                <a:gd name="T61" fmla="*/ 449 h 497"/>
                <a:gd name="T62" fmla="*/ 173 w 1093"/>
                <a:gd name="T63" fmla="*/ 430 h 497"/>
                <a:gd name="T64" fmla="*/ 126 w 1093"/>
                <a:gd name="T65" fmla="*/ 406 h 497"/>
                <a:gd name="T66" fmla="*/ 85 w 1093"/>
                <a:gd name="T67" fmla="*/ 383 h 497"/>
                <a:gd name="T68" fmla="*/ 52 w 1093"/>
                <a:gd name="T69" fmla="*/ 354 h 497"/>
                <a:gd name="T70" fmla="*/ 26 w 1093"/>
                <a:gd name="T71" fmla="*/ 324 h 497"/>
                <a:gd name="T72" fmla="*/ 9 w 1093"/>
                <a:gd name="T73" fmla="*/ 294 h 497"/>
                <a:gd name="T74" fmla="*/ 0 w 1093"/>
                <a:gd name="T75" fmla="*/ 264 h 497"/>
                <a:gd name="T76" fmla="*/ 0 w 1093"/>
                <a:gd name="T77" fmla="*/ 234 h 497"/>
                <a:gd name="T78" fmla="*/ 9 w 1093"/>
                <a:gd name="T79" fmla="*/ 201 h 497"/>
                <a:gd name="T80" fmla="*/ 26 w 1093"/>
                <a:gd name="T81" fmla="*/ 171 h 497"/>
                <a:gd name="T82" fmla="*/ 52 w 1093"/>
                <a:gd name="T83" fmla="*/ 143 h 497"/>
                <a:gd name="T84" fmla="*/ 85 w 1093"/>
                <a:gd name="T85" fmla="*/ 115 h 497"/>
                <a:gd name="T86" fmla="*/ 126 w 1093"/>
                <a:gd name="T87" fmla="*/ 91 h 497"/>
                <a:gd name="T88" fmla="*/ 173 w 1093"/>
                <a:gd name="T89" fmla="*/ 67 h 497"/>
                <a:gd name="T90" fmla="*/ 225 w 1093"/>
                <a:gd name="T91" fmla="*/ 48 h 497"/>
                <a:gd name="T92" fmla="*/ 284 w 1093"/>
                <a:gd name="T93" fmla="*/ 31 h 497"/>
                <a:gd name="T94" fmla="*/ 346 w 1093"/>
                <a:gd name="T95" fmla="*/ 18 h 497"/>
                <a:gd name="T96" fmla="*/ 411 w 1093"/>
                <a:gd name="T97" fmla="*/ 7 h 497"/>
                <a:gd name="T98" fmla="*/ 478 w 1093"/>
                <a:gd name="T99" fmla="*/ 3 h 497"/>
                <a:gd name="T100" fmla="*/ 547 w 1093"/>
                <a:gd name="T101" fmla="*/ 0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93" h="497">
                  <a:moveTo>
                    <a:pt x="547" y="0"/>
                  </a:moveTo>
                  <a:lnTo>
                    <a:pt x="615" y="3"/>
                  </a:lnTo>
                  <a:lnTo>
                    <a:pt x="684" y="7"/>
                  </a:lnTo>
                  <a:lnTo>
                    <a:pt x="749" y="18"/>
                  </a:lnTo>
                  <a:lnTo>
                    <a:pt x="811" y="31"/>
                  </a:lnTo>
                  <a:lnTo>
                    <a:pt x="868" y="48"/>
                  </a:lnTo>
                  <a:lnTo>
                    <a:pt x="922" y="67"/>
                  </a:lnTo>
                  <a:lnTo>
                    <a:pt x="969" y="91"/>
                  </a:lnTo>
                  <a:lnTo>
                    <a:pt x="1008" y="115"/>
                  </a:lnTo>
                  <a:lnTo>
                    <a:pt x="1043" y="143"/>
                  </a:lnTo>
                  <a:lnTo>
                    <a:pt x="1067" y="171"/>
                  </a:lnTo>
                  <a:lnTo>
                    <a:pt x="1084" y="201"/>
                  </a:lnTo>
                  <a:lnTo>
                    <a:pt x="1093" y="234"/>
                  </a:lnTo>
                  <a:lnTo>
                    <a:pt x="1093" y="264"/>
                  </a:lnTo>
                  <a:lnTo>
                    <a:pt x="1084" y="294"/>
                  </a:lnTo>
                  <a:lnTo>
                    <a:pt x="1067" y="324"/>
                  </a:lnTo>
                  <a:lnTo>
                    <a:pt x="1043" y="354"/>
                  </a:lnTo>
                  <a:lnTo>
                    <a:pt x="1008" y="383"/>
                  </a:lnTo>
                  <a:lnTo>
                    <a:pt x="969" y="406"/>
                  </a:lnTo>
                  <a:lnTo>
                    <a:pt x="922" y="430"/>
                  </a:lnTo>
                  <a:lnTo>
                    <a:pt x="868" y="449"/>
                  </a:lnTo>
                  <a:lnTo>
                    <a:pt x="811" y="467"/>
                  </a:lnTo>
                  <a:lnTo>
                    <a:pt x="749" y="480"/>
                  </a:lnTo>
                  <a:lnTo>
                    <a:pt x="684" y="488"/>
                  </a:lnTo>
                  <a:lnTo>
                    <a:pt x="615" y="495"/>
                  </a:lnTo>
                  <a:lnTo>
                    <a:pt x="547" y="497"/>
                  </a:lnTo>
                  <a:lnTo>
                    <a:pt x="478" y="495"/>
                  </a:lnTo>
                  <a:lnTo>
                    <a:pt x="411" y="488"/>
                  </a:lnTo>
                  <a:lnTo>
                    <a:pt x="346" y="480"/>
                  </a:lnTo>
                  <a:lnTo>
                    <a:pt x="284" y="467"/>
                  </a:lnTo>
                  <a:lnTo>
                    <a:pt x="225" y="449"/>
                  </a:lnTo>
                  <a:lnTo>
                    <a:pt x="173" y="430"/>
                  </a:lnTo>
                  <a:lnTo>
                    <a:pt x="126" y="406"/>
                  </a:lnTo>
                  <a:lnTo>
                    <a:pt x="85" y="383"/>
                  </a:lnTo>
                  <a:lnTo>
                    <a:pt x="52" y="354"/>
                  </a:lnTo>
                  <a:lnTo>
                    <a:pt x="26" y="324"/>
                  </a:lnTo>
                  <a:lnTo>
                    <a:pt x="9" y="294"/>
                  </a:lnTo>
                  <a:lnTo>
                    <a:pt x="0" y="264"/>
                  </a:lnTo>
                  <a:lnTo>
                    <a:pt x="0" y="234"/>
                  </a:lnTo>
                  <a:lnTo>
                    <a:pt x="9" y="201"/>
                  </a:lnTo>
                  <a:lnTo>
                    <a:pt x="26" y="171"/>
                  </a:lnTo>
                  <a:lnTo>
                    <a:pt x="52" y="143"/>
                  </a:lnTo>
                  <a:lnTo>
                    <a:pt x="85" y="115"/>
                  </a:lnTo>
                  <a:lnTo>
                    <a:pt x="126" y="91"/>
                  </a:lnTo>
                  <a:lnTo>
                    <a:pt x="173" y="67"/>
                  </a:lnTo>
                  <a:lnTo>
                    <a:pt x="225" y="48"/>
                  </a:lnTo>
                  <a:lnTo>
                    <a:pt x="284" y="31"/>
                  </a:lnTo>
                  <a:lnTo>
                    <a:pt x="346" y="18"/>
                  </a:lnTo>
                  <a:lnTo>
                    <a:pt x="411" y="7"/>
                  </a:lnTo>
                  <a:lnTo>
                    <a:pt x="478" y="3"/>
                  </a:lnTo>
                  <a:lnTo>
                    <a:pt x="547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653" name="Rectangle 109"/>
            <p:cNvSpPr>
              <a:spLocks noChangeAspect="1" noChangeArrowheads="1"/>
            </p:cNvSpPr>
            <p:nvPr/>
          </p:nvSpPr>
          <p:spPr bwMode="auto">
            <a:xfrm>
              <a:off x="949" y="2052"/>
              <a:ext cx="10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2</a:t>
              </a:r>
              <a:endParaRPr lang="en-US" sz="1600"/>
            </a:p>
          </p:txBody>
        </p:sp>
      </p:grpSp>
      <p:grpSp>
        <p:nvGrpSpPr>
          <p:cNvPr id="1644654" name="Group 110"/>
          <p:cNvGrpSpPr>
            <a:grpSpLocks noChangeAspect="1"/>
          </p:cNvGrpSpPr>
          <p:nvPr/>
        </p:nvGrpSpPr>
        <p:grpSpPr bwMode="auto">
          <a:xfrm>
            <a:off x="812800" y="2012950"/>
            <a:ext cx="2382838" cy="1358900"/>
            <a:chOff x="280" y="1305"/>
            <a:chExt cx="2315" cy="1321"/>
          </a:xfrm>
        </p:grpSpPr>
        <p:sp>
          <p:nvSpPr>
            <p:cNvPr id="1644655" name="Freeform 111"/>
            <p:cNvSpPr>
              <a:spLocks noChangeAspect="1"/>
            </p:cNvSpPr>
            <p:nvPr/>
          </p:nvSpPr>
          <p:spPr bwMode="auto">
            <a:xfrm>
              <a:off x="280" y="1314"/>
              <a:ext cx="2315" cy="1312"/>
            </a:xfrm>
            <a:custGeom>
              <a:avLst/>
              <a:gdLst>
                <a:gd name="T0" fmla="*/ 1326 w 2315"/>
                <a:gd name="T1" fmla="*/ 23 h 1312"/>
                <a:gd name="T2" fmla="*/ 1519 w 2315"/>
                <a:gd name="T3" fmla="*/ 64 h 1312"/>
                <a:gd name="T4" fmla="*/ 1698 w 2315"/>
                <a:gd name="T5" fmla="*/ 121 h 1312"/>
                <a:gd name="T6" fmla="*/ 1865 w 2315"/>
                <a:gd name="T7" fmla="*/ 194 h 1312"/>
                <a:gd name="T8" fmla="*/ 2008 w 2315"/>
                <a:gd name="T9" fmla="*/ 278 h 1312"/>
                <a:gd name="T10" fmla="*/ 2129 w 2315"/>
                <a:gd name="T11" fmla="*/ 375 h 1312"/>
                <a:gd name="T12" fmla="*/ 2222 w 2315"/>
                <a:gd name="T13" fmla="*/ 479 h 1312"/>
                <a:gd name="T14" fmla="*/ 2282 w 2315"/>
                <a:gd name="T15" fmla="*/ 589 h 1312"/>
                <a:gd name="T16" fmla="*/ 2313 w 2315"/>
                <a:gd name="T17" fmla="*/ 699 h 1312"/>
                <a:gd name="T18" fmla="*/ 2308 w 2315"/>
                <a:gd name="T19" fmla="*/ 809 h 1312"/>
                <a:gd name="T20" fmla="*/ 2272 w 2315"/>
                <a:gd name="T21" fmla="*/ 915 h 1312"/>
                <a:gd name="T22" fmla="*/ 2202 w 2315"/>
                <a:gd name="T23" fmla="*/ 1014 h 1312"/>
                <a:gd name="T24" fmla="*/ 2105 w 2315"/>
                <a:gd name="T25" fmla="*/ 1101 h 1312"/>
                <a:gd name="T26" fmla="*/ 1977 w 2315"/>
                <a:gd name="T27" fmla="*/ 1176 h 1312"/>
                <a:gd name="T28" fmla="*/ 1828 w 2315"/>
                <a:gd name="T29" fmla="*/ 1237 h 1312"/>
                <a:gd name="T30" fmla="*/ 1659 w 2315"/>
                <a:gd name="T31" fmla="*/ 1280 h 1312"/>
                <a:gd name="T32" fmla="*/ 1476 w 2315"/>
                <a:gd name="T33" fmla="*/ 1306 h 1312"/>
                <a:gd name="T34" fmla="*/ 1283 w 2315"/>
                <a:gd name="T35" fmla="*/ 1312 h 1312"/>
                <a:gd name="T36" fmla="*/ 1086 w 2315"/>
                <a:gd name="T37" fmla="*/ 1299 h 1312"/>
                <a:gd name="T38" fmla="*/ 894 w 2315"/>
                <a:gd name="T39" fmla="*/ 1269 h 1312"/>
                <a:gd name="T40" fmla="*/ 705 w 2315"/>
                <a:gd name="T41" fmla="*/ 1220 h 1312"/>
                <a:gd name="T42" fmla="*/ 532 w 2315"/>
                <a:gd name="T43" fmla="*/ 1155 h 1312"/>
                <a:gd name="T44" fmla="*/ 377 w 2315"/>
                <a:gd name="T45" fmla="*/ 1077 h 1312"/>
                <a:gd name="T46" fmla="*/ 245 w 2315"/>
                <a:gd name="T47" fmla="*/ 984 h 1312"/>
                <a:gd name="T48" fmla="*/ 137 w 2315"/>
                <a:gd name="T49" fmla="*/ 885 h 1312"/>
                <a:gd name="T50" fmla="*/ 61 w 2315"/>
                <a:gd name="T51" fmla="*/ 777 h 1312"/>
                <a:gd name="T52" fmla="*/ 13 w 2315"/>
                <a:gd name="T53" fmla="*/ 667 h 1312"/>
                <a:gd name="T54" fmla="*/ 0 w 2315"/>
                <a:gd name="T55" fmla="*/ 555 h 1312"/>
                <a:gd name="T56" fmla="*/ 22 w 2315"/>
                <a:gd name="T57" fmla="*/ 447 h 1312"/>
                <a:gd name="T58" fmla="*/ 74 w 2315"/>
                <a:gd name="T59" fmla="*/ 345 h 1312"/>
                <a:gd name="T60" fmla="*/ 158 w 2315"/>
                <a:gd name="T61" fmla="*/ 252 h 1312"/>
                <a:gd name="T62" fmla="*/ 273 w 2315"/>
                <a:gd name="T63" fmla="*/ 170 h 1312"/>
                <a:gd name="T64" fmla="*/ 411 w 2315"/>
                <a:gd name="T65" fmla="*/ 103 h 1312"/>
                <a:gd name="T66" fmla="*/ 571 w 2315"/>
                <a:gd name="T67" fmla="*/ 49 h 1312"/>
                <a:gd name="T68" fmla="*/ 747 w 2315"/>
                <a:gd name="T69" fmla="*/ 17 h 1312"/>
                <a:gd name="T70" fmla="*/ 937 w 2315"/>
                <a:gd name="T71" fmla="*/ 0 h 1312"/>
                <a:gd name="T72" fmla="*/ 1132 w 2315"/>
                <a:gd name="T73" fmla="*/ 2 h 1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315" h="1312">
                  <a:moveTo>
                    <a:pt x="1229" y="10"/>
                  </a:moveTo>
                  <a:lnTo>
                    <a:pt x="1326" y="23"/>
                  </a:lnTo>
                  <a:lnTo>
                    <a:pt x="1424" y="43"/>
                  </a:lnTo>
                  <a:lnTo>
                    <a:pt x="1519" y="64"/>
                  </a:lnTo>
                  <a:lnTo>
                    <a:pt x="1610" y="90"/>
                  </a:lnTo>
                  <a:lnTo>
                    <a:pt x="1698" y="121"/>
                  </a:lnTo>
                  <a:lnTo>
                    <a:pt x="1783" y="155"/>
                  </a:lnTo>
                  <a:lnTo>
                    <a:pt x="1865" y="194"/>
                  </a:lnTo>
                  <a:lnTo>
                    <a:pt x="1938" y="235"/>
                  </a:lnTo>
                  <a:lnTo>
                    <a:pt x="2008" y="278"/>
                  </a:lnTo>
                  <a:lnTo>
                    <a:pt x="2073" y="326"/>
                  </a:lnTo>
                  <a:lnTo>
                    <a:pt x="2129" y="375"/>
                  </a:lnTo>
                  <a:lnTo>
                    <a:pt x="2179" y="425"/>
                  </a:lnTo>
                  <a:lnTo>
                    <a:pt x="2222" y="479"/>
                  </a:lnTo>
                  <a:lnTo>
                    <a:pt x="2256" y="533"/>
                  </a:lnTo>
                  <a:lnTo>
                    <a:pt x="2282" y="589"/>
                  </a:lnTo>
                  <a:lnTo>
                    <a:pt x="2302" y="643"/>
                  </a:lnTo>
                  <a:lnTo>
                    <a:pt x="2313" y="699"/>
                  </a:lnTo>
                  <a:lnTo>
                    <a:pt x="2315" y="755"/>
                  </a:lnTo>
                  <a:lnTo>
                    <a:pt x="2308" y="809"/>
                  </a:lnTo>
                  <a:lnTo>
                    <a:pt x="2295" y="863"/>
                  </a:lnTo>
                  <a:lnTo>
                    <a:pt x="2272" y="915"/>
                  </a:lnTo>
                  <a:lnTo>
                    <a:pt x="2241" y="965"/>
                  </a:lnTo>
                  <a:lnTo>
                    <a:pt x="2202" y="1014"/>
                  </a:lnTo>
                  <a:lnTo>
                    <a:pt x="2157" y="1060"/>
                  </a:lnTo>
                  <a:lnTo>
                    <a:pt x="2105" y="1101"/>
                  </a:lnTo>
                  <a:lnTo>
                    <a:pt x="2044" y="1140"/>
                  </a:lnTo>
                  <a:lnTo>
                    <a:pt x="1977" y="1176"/>
                  </a:lnTo>
                  <a:lnTo>
                    <a:pt x="1906" y="1209"/>
                  </a:lnTo>
                  <a:lnTo>
                    <a:pt x="1828" y="1237"/>
                  </a:lnTo>
                  <a:lnTo>
                    <a:pt x="1746" y="1261"/>
                  </a:lnTo>
                  <a:lnTo>
                    <a:pt x="1659" y="1280"/>
                  </a:lnTo>
                  <a:lnTo>
                    <a:pt x="1569" y="1295"/>
                  </a:lnTo>
                  <a:lnTo>
                    <a:pt x="1476" y="1306"/>
                  </a:lnTo>
                  <a:lnTo>
                    <a:pt x="1380" y="1310"/>
                  </a:lnTo>
                  <a:lnTo>
                    <a:pt x="1283" y="1312"/>
                  </a:lnTo>
                  <a:lnTo>
                    <a:pt x="1186" y="1308"/>
                  </a:lnTo>
                  <a:lnTo>
                    <a:pt x="1086" y="1299"/>
                  </a:lnTo>
                  <a:lnTo>
                    <a:pt x="989" y="1286"/>
                  </a:lnTo>
                  <a:lnTo>
                    <a:pt x="894" y="1269"/>
                  </a:lnTo>
                  <a:lnTo>
                    <a:pt x="798" y="1245"/>
                  </a:lnTo>
                  <a:lnTo>
                    <a:pt x="705" y="1220"/>
                  </a:lnTo>
                  <a:lnTo>
                    <a:pt x="617" y="1189"/>
                  </a:lnTo>
                  <a:lnTo>
                    <a:pt x="532" y="1155"/>
                  </a:lnTo>
                  <a:lnTo>
                    <a:pt x="452" y="1118"/>
                  </a:lnTo>
                  <a:lnTo>
                    <a:pt x="377" y="1077"/>
                  </a:lnTo>
                  <a:lnTo>
                    <a:pt x="307" y="1032"/>
                  </a:lnTo>
                  <a:lnTo>
                    <a:pt x="245" y="984"/>
                  </a:lnTo>
                  <a:lnTo>
                    <a:pt x="186" y="937"/>
                  </a:lnTo>
                  <a:lnTo>
                    <a:pt x="137" y="885"/>
                  </a:lnTo>
                  <a:lnTo>
                    <a:pt x="95" y="831"/>
                  </a:lnTo>
                  <a:lnTo>
                    <a:pt x="61" y="777"/>
                  </a:lnTo>
                  <a:lnTo>
                    <a:pt x="33" y="723"/>
                  </a:lnTo>
                  <a:lnTo>
                    <a:pt x="13" y="667"/>
                  </a:lnTo>
                  <a:lnTo>
                    <a:pt x="5" y="611"/>
                  </a:lnTo>
                  <a:lnTo>
                    <a:pt x="0" y="555"/>
                  </a:lnTo>
                  <a:lnTo>
                    <a:pt x="7" y="501"/>
                  </a:lnTo>
                  <a:lnTo>
                    <a:pt x="22" y="447"/>
                  </a:lnTo>
                  <a:lnTo>
                    <a:pt x="44" y="395"/>
                  </a:lnTo>
                  <a:lnTo>
                    <a:pt x="74" y="345"/>
                  </a:lnTo>
                  <a:lnTo>
                    <a:pt x="113" y="298"/>
                  </a:lnTo>
                  <a:lnTo>
                    <a:pt x="158" y="252"/>
                  </a:lnTo>
                  <a:lnTo>
                    <a:pt x="212" y="209"/>
                  </a:lnTo>
                  <a:lnTo>
                    <a:pt x="273" y="170"/>
                  </a:lnTo>
                  <a:lnTo>
                    <a:pt x="338" y="133"/>
                  </a:lnTo>
                  <a:lnTo>
                    <a:pt x="411" y="103"/>
                  </a:lnTo>
                  <a:lnTo>
                    <a:pt x="489" y="75"/>
                  </a:lnTo>
                  <a:lnTo>
                    <a:pt x="571" y="49"/>
                  </a:lnTo>
                  <a:lnTo>
                    <a:pt x="658" y="30"/>
                  </a:lnTo>
                  <a:lnTo>
                    <a:pt x="747" y="17"/>
                  </a:lnTo>
                  <a:lnTo>
                    <a:pt x="840" y="6"/>
                  </a:lnTo>
                  <a:lnTo>
                    <a:pt x="937" y="0"/>
                  </a:lnTo>
                  <a:lnTo>
                    <a:pt x="1034" y="0"/>
                  </a:lnTo>
                  <a:lnTo>
                    <a:pt x="1132" y="2"/>
                  </a:lnTo>
                  <a:lnTo>
                    <a:pt x="1229" y="1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656" name="Rectangle 112"/>
            <p:cNvSpPr>
              <a:spLocks noChangeAspect="1" noChangeArrowheads="1"/>
            </p:cNvSpPr>
            <p:nvPr/>
          </p:nvSpPr>
          <p:spPr bwMode="auto">
            <a:xfrm>
              <a:off x="1390" y="1305"/>
              <a:ext cx="110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3</a:t>
              </a:r>
              <a:endParaRPr lang="en-US" sz="1600"/>
            </a:p>
          </p:txBody>
        </p:sp>
      </p:grpSp>
      <p:grpSp>
        <p:nvGrpSpPr>
          <p:cNvPr id="1644657" name="Group 113"/>
          <p:cNvGrpSpPr>
            <a:grpSpLocks noChangeAspect="1"/>
          </p:cNvGrpSpPr>
          <p:nvPr/>
        </p:nvGrpSpPr>
        <p:grpSpPr bwMode="auto">
          <a:xfrm>
            <a:off x="771525" y="1935163"/>
            <a:ext cx="2462213" cy="1887537"/>
            <a:chOff x="241" y="1229"/>
            <a:chExt cx="2391" cy="1834"/>
          </a:xfrm>
        </p:grpSpPr>
        <p:sp>
          <p:nvSpPr>
            <p:cNvPr id="1644658" name="Freeform 114"/>
            <p:cNvSpPr>
              <a:spLocks noChangeAspect="1"/>
            </p:cNvSpPr>
            <p:nvPr/>
          </p:nvSpPr>
          <p:spPr bwMode="auto">
            <a:xfrm>
              <a:off x="241" y="1229"/>
              <a:ext cx="2391" cy="1611"/>
            </a:xfrm>
            <a:custGeom>
              <a:avLst/>
              <a:gdLst>
                <a:gd name="T0" fmla="*/ 1385 w 2391"/>
                <a:gd name="T1" fmla="*/ 24 h 1611"/>
                <a:gd name="T2" fmla="*/ 1582 w 2391"/>
                <a:gd name="T3" fmla="*/ 69 h 1611"/>
                <a:gd name="T4" fmla="*/ 1768 w 2391"/>
                <a:gd name="T5" fmla="*/ 136 h 1611"/>
                <a:gd name="T6" fmla="*/ 1936 w 2391"/>
                <a:gd name="T7" fmla="*/ 221 h 1611"/>
                <a:gd name="T8" fmla="*/ 2083 w 2391"/>
                <a:gd name="T9" fmla="*/ 322 h 1611"/>
                <a:gd name="T10" fmla="*/ 2207 w 2391"/>
                <a:gd name="T11" fmla="*/ 439 h 1611"/>
                <a:gd name="T12" fmla="*/ 2300 w 2391"/>
                <a:gd name="T13" fmla="*/ 566 h 1611"/>
                <a:gd name="T14" fmla="*/ 2360 w 2391"/>
                <a:gd name="T15" fmla="*/ 698 h 1611"/>
                <a:gd name="T16" fmla="*/ 2388 w 2391"/>
                <a:gd name="T17" fmla="*/ 836 h 1611"/>
                <a:gd name="T18" fmla="*/ 2382 w 2391"/>
                <a:gd name="T19" fmla="*/ 970 h 1611"/>
                <a:gd name="T20" fmla="*/ 2343 w 2391"/>
                <a:gd name="T21" fmla="*/ 1102 h 1611"/>
                <a:gd name="T22" fmla="*/ 2270 w 2391"/>
                <a:gd name="T23" fmla="*/ 1225 h 1611"/>
                <a:gd name="T24" fmla="*/ 2166 w 2391"/>
                <a:gd name="T25" fmla="*/ 1335 h 1611"/>
                <a:gd name="T26" fmla="*/ 2032 w 2391"/>
                <a:gd name="T27" fmla="*/ 1430 h 1611"/>
                <a:gd name="T28" fmla="*/ 1876 w 2391"/>
                <a:gd name="T29" fmla="*/ 1508 h 1611"/>
                <a:gd name="T30" fmla="*/ 1701 w 2391"/>
                <a:gd name="T31" fmla="*/ 1564 h 1611"/>
                <a:gd name="T32" fmla="*/ 1510 w 2391"/>
                <a:gd name="T33" fmla="*/ 1598 h 1611"/>
                <a:gd name="T34" fmla="*/ 1311 w 2391"/>
                <a:gd name="T35" fmla="*/ 1611 h 1611"/>
                <a:gd name="T36" fmla="*/ 1108 w 2391"/>
                <a:gd name="T37" fmla="*/ 1600 h 1611"/>
                <a:gd name="T38" fmla="*/ 907 w 2391"/>
                <a:gd name="T39" fmla="*/ 1568 h 1611"/>
                <a:gd name="T40" fmla="*/ 716 w 2391"/>
                <a:gd name="T41" fmla="*/ 1512 h 1611"/>
                <a:gd name="T42" fmla="*/ 537 w 2391"/>
                <a:gd name="T43" fmla="*/ 1436 h 1611"/>
                <a:gd name="T44" fmla="*/ 379 w 2391"/>
                <a:gd name="T45" fmla="*/ 1341 h 1611"/>
                <a:gd name="T46" fmla="*/ 243 w 2391"/>
                <a:gd name="T47" fmla="*/ 1233 h 1611"/>
                <a:gd name="T48" fmla="*/ 134 w 2391"/>
                <a:gd name="T49" fmla="*/ 1110 h 1611"/>
                <a:gd name="T50" fmla="*/ 57 w 2391"/>
                <a:gd name="T51" fmla="*/ 981 h 1611"/>
                <a:gd name="T52" fmla="*/ 11 w 2391"/>
                <a:gd name="T53" fmla="*/ 845 h 1611"/>
                <a:gd name="T54" fmla="*/ 0 w 2391"/>
                <a:gd name="T55" fmla="*/ 709 h 1611"/>
                <a:gd name="T56" fmla="*/ 24 w 2391"/>
                <a:gd name="T57" fmla="*/ 575 h 1611"/>
                <a:gd name="T58" fmla="*/ 83 w 2391"/>
                <a:gd name="T59" fmla="*/ 447 h 1611"/>
                <a:gd name="T60" fmla="*/ 171 w 2391"/>
                <a:gd name="T61" fmla="*/ 331 h 1611"/>
                <a:gd name="T62" fmla="*/ 290 w 2391"/>
                <a:gd name="T63" fmla="*/ 227 h 1611"/>
                <a:gd name="T64" fmla="*/ 435 w 2391"/>
                <a:gd name="T65" fmla="*/ 141 h 1611"/>
                <a:gd name="T66" fmla="*/ 602 w 2391"/>
                <a:gd name="T67" fmla="*/ 74 h 1611"/>
                <a:gd name="T68" fmla="*/ 786 w 2391"/>
                <a:gd name="T69" fmla="*/ 28 h 1611"/>
                <a:gd name="T70" fmla="*/ 980 w 2391"/>
                <a:gd name="T71" fmla="*/ 3 h 1611"/>
                <a:gd name="T72" fmla="*/ 1181 w 2391"/>
                <a:gd name="T73" fmla="*/ 3 h 16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391" h="1611">
                  <a:moveTo>
                    <a:pt x="1283" y="11"/>
                  </a:moveTo>
                  <a:lnTo>
                    <a:pt x="1385" y="24"/>
                  </a:lnTo>
                  <a:lnTo>
                    <a:pt x="1484" y="46"/>
                  </a:lnTo>
                  <a:lnTo>
                    <a:pt x="1582" y="69"/>
                  </a:lnTo>
                  <a:lnTo>
                    <a:pt x="1675" y="100"/>
                  </a:lnTo>
                  <a:lnTo>
                    <a:pt x="1768" y="136"/>
                  </a:lnTo>
                  <a:lnTo>
                    <a:pt x="1854" y="175"/>
                  </a:lnTo>
                  <a:lnTo>
                    <a:pt x="1936" y="221"/>
                  </a:lnTo>
                  <a:lnTo>
                    <a:pt x="2012" y="270"/>
                  </a:lnTo>
                  <a:lnTo>
                    <a:pt x="2083" y="322"/>
                  </a:lnTo>
                  <a:lnTo>
                    <a:pt x="2148" y="380"/>
                  </a:lnTo>
                  <a:lnTo>
                    <a:pt x="2207" y="439"/>
                  </a:lnTo>
                  <a:lnTo>
                    <a:pt x="2257" y="501"/>
                  </a:lnTo>
                  <a:lnTo>
                    <a:pt x="2300" y="566"/>
                  </a:lnTo>
                  <a:lnTo>
                    <a:pt x="2334" y="631"/>
                  </a:lnTo>
                  <a:lnTo>
                    <a:pt x="2360" y="698"/>
                  </a:lnTo>
                  <a:lnTo>
                    <a:pt x="2380" y="767"/>
                  </a:lnTo>
                  <a:lnTo>
                    <a:pt x="2388" y="836"/>
                  </a:lnTo>
                  <a:lnTo>
                    <a:pt x="2391" y="903"/>
                  </a:lnTo>
                  <a:lnTo>
                    <a:pt x="2382" y="970"/>
                  </a:lnTo>
                  <a:lnTo>
                    <a:pt x="2367" y="1037"/>
                  </a:lnTo>
                  <a:lnTo>
                    <a:pt x="2343" y="1102"/>
                  </a:lnTo>
                  <a:lnTo>
                    <a:pt x="2311" y="1164"/>
                  </a:lnTo>
                  <a:lnTo>
                    <a:pt x="2270" y="1225"/>
                  </a:lnTo>
                  <a:lnTo>
                    <a:pt x="2220" y="1281"/>
                  </a:lnTo>
                  <a:lnTo>
                    <a:pt x="2166" y="1335"/>
                  </a:lnTo>
                  <a:lnTo>
                    <a:pt x="2101" y="1384"/>
                  </a:lnTo>
                  <a:lnTo>
                    <a:pt x="2032" y="1430"/>
                  </a:lnTo>
                  <a:lnTo>
                    <a:pt x="1958" y="1471"/>
                  </a:lnTo>
                  <a:lnTo>
                    <a:pt x="1876" y="1508"/>
                  </a:lnTo>
                  <a:lnTo>
                    <a:pt x="1789" y="1538"/>
                  </a:lnTo>
                  <a:lnTo>
                    <a:pt x="1701" y="1564"/>
                  </a:lnTo>
                  <a:lnTo>
                    <a:pt x="1608" y="1585"/>
                  </a:lnTo>
                  <a:lnTo>
                    <a:pt x="1510" y="1598"/>
                  </a:lnTo>
                  <a:lnTo>
                    <a:pt x="1411" y="1609"/>
                  </a:lnTo>
                  <a:lnTo>
                    <a:pt x="1311" y="1611"/>
                  </a:lnTo>
                  <a:lnTo>
                    <a:pt x="1210" y="1609"/>
                  </a:lnTo>
                  <a:lnTo>
                    <a:pt x="1108" y="1600"/>
                  </a:lnTo>
                  <a:lnTo>
                    <a:pt x="1006" y="1587"/>
                  </a:lnTo>
                  <a:lnTo>
                    <a:pt x="907" y="1568"/>
                  </a:lnTo>
                  <a:lnTo>
                    <a:pt x="809" y="1542"/>
                  </a:lnTo>
                  <a:lnTo>
                    <a:pt x="716" y="1512"/>
                  </a:lnTo>
                  <a:lnTo>
                    <a:pt x="626" y="1475"/>
                  </a:lnTo>
                  <a:lnTo>
                    <a:pt x="537" y="1436"/>
                  </a:lnTo>
                  <a:lnTo>
                    <a:pt x="455" y="1391"/>
                  </a:lnTo>
                  <a:lnTo>
                    <a:pt x="379" y="1341"/>
                  </a:lnTo>
                  <a:lnTo>
                    <a:pt x="308" y="1289"/>
                  </a:lnTo>
                  <a:lnTo>
                    <a:pt x="243" y="1233"/>
                  </a:lnTo>
                  <a:lnTo>
                    <a:pt x="184" y="1173"/>
                  </a:lnTo>
                  <a:lnTo>
                    <a:pt x="134" y="1110"/>
                  </a:lnTo>
                  <a:lnTo>
                    <a:pt x="91" y="1045"/>
                  </a:lnTo>
                  <a:lnTo>
                    <a:pt x="57" y="981"/>
                  </a:lnTo>
                  <a:lnTo>
                    <a:pt x="31" y="914"/>
                  </a:lnTo>
                  <a:lnTo>
                    <a:pt x="11" y="845"/>
                  </a:lnTo>
                  <a:lnTo>
                    <a:pt x="3" y="776"/>
                  </a:lnTo>
                  <a:lnTo>
                    <a:pt x="0" y="709"/>
                  </a:lnTo>
                  <a:lnTo>
                    <a:pt x="9" y="642"/>
                  </a:lnTo>
                  <a:lnTo>
                    <a:pt x="24" y="575"/>
                  </a:lnTo>
                  <a:lnTo>
                    <a:pt x="48" y="510"/>
                  </a:lnTo>
                  <a:lnTo>
                    <a:pt x="83" y="447"/>
                  </a:lnTo>
                  <a:lnTo>
                    <a:pt x="121" y="387"/>
                  </a:lnTo>
                  <a:lnTo>
                    <a:pt x="171" y="331"/>
                  </a:lnTo>
                  <a:lnTo>
                    <a:pt x="227" y="277"/>
                  </a:lnTo>
                  <a:lnTo>
                    <a:pt x="290" y="227"/>
                  </a:lnTo>
                  <a:lnTo>
                    <a:pt x="359" y="182"/>
                  </a:lnTo>
                  <a:lnTo>
                    <a:pt x="435" y="141"/>
                  </a:lnTo>
                  <a:lnTo>
                    <a:pt x="515" y="104"/>
                  </a:lnTo>
                  <a:lnTo>
                    <a:pt x="602" y="74"/>
                  </a:lnTo>
                  <a:lnTo>
                    <a:pt x="690" y="48"/>
                  </a:lnTo>
                  <a:lnTo>
                    <a:pt x="786" y="28"/>
                  </a:lnTo>
                  <a:lnTo>
                    <a:pt x="881" y="13"/>
                  </a:lnTo>
                  <a:lnTo>
                    <a:pt x="980" y="3"/>
                  </a:lnTo>
                  <a:lnTo>
                    <a:pt x="1082" y="0"/>
                  </a:lnTo>
                  <a:lnTo>
                    <a:pt x="1181" y="3"/>
                  </a:lnTo>
                  <a:lnTo>
                    <a:pt x="1283" y="11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659" name="Rectangle 115"/>
            <p:cNvSpPr>
              <a:spLocks noChangeAspect="1" noChangeArrowheads="1"/>
            </p:cNvSpPr>
            <p:nvPr/>
          </p:nvSpPr>
          <p:spPr bwMode="auto">
            <a:xfrm>
              <a:off x="1238" y="2826"/>
              <a:ext cx="110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4</a:t>
              </a:r>
              <a:endParaRPr lang="en-US" sz="1600"/>
            </a:p>
          </p:txBody>
        </p:sp>
      </p:grpSp>
      <p:grpSp>
        <p:nvGrpSpPr>
          <p:cNvPr id="1644660" name="Group 116"/>
          <p:cNvGrpSpPr>
            <a:grpSpLocks noChangeAspect="1"/>
          </p:cNvGrpSpPr>
          <p:nvPr/>
        </p:nvGrpSpPr>
        <p:grpSpPr bwMode="auto">
          <a:xfrm>
            <a:off x="723900" y="1673225"/>
            <a:ext cx="2595563" cy="2289175"/>
            <a:chOff x="194" y="975"/>
            <a:chExt cx="2522" cy="2224"/>
          </a:xfrm>
        </p:grpSpPr>
        <p:sp>
          <p:nvSpPr>
            <p:cNvPr id="1644661" name="Rectangle 117"/>
            <p:cNvSpPr>
              <a:spLocks noChangeAspect="1" noChangeArrowheads="1"/>
            </p:cNvSpPr>
            <p:nvPr/>
          </p:nvSpPr>
          <p:spPr bwMode="auto">
            <a:xfrm>
              <a:off x="2138" y="975"/>
              <a:ext cx="109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FF0000"/>
                  </a:solidFill>
                </a:rPr>
                <a:t>5</a:t>
              </a:r>
              <a:endParaRPr lang="en-US" sz="1600"/>
            </a:p>
          </p:txBody>
        </p:sp>
        <p:sp>
          <p:nvSpPr>
            <p:cNvPr id="1644662" name="Freeform 118"/>
            <p:cNvSpPr>
              <a:spLocks noChangeAspect="1"/>
            </p:cNvSpPr>
            <p:nvPr/>
          </p:nvSpPr>
          <p:spPr bwMode="auto">
            <a:xfrm>
              <a:off x="194" y="988"/>
              <a:ext cx="2522" cy="2211"/>
            </a:xfrm>
            <a:custGeom>
              <a:avLst/>
              <a:gdLst>
                <a:gd name="T0" fmla="*/ 1363 w 2522"/>
                <a:gd name="T1" fmla="*/ 4 h 2211"/>
                <a:gd name="T2" fmla="*/ 1568 w 2522"/>
                <a:gd name="T3" fmla="*/ 34 h 2211"/>
                <a:gd name="T4" fmla="*/ 1765 w 2522"/>
                <a:gd name="T5" fmla="*/ 92 h 2211"/>
                <a:gd name="T6" fmla="*/ 1949 w 2522"/>
                <a:gd name="T7" fmla="*/ 179 h 2211"/>
                <a:gd name="T8" fmla="*/ 2113 w 2522"/>
                <a:gd name="T9" fmla="*/ 291 h 2211"/>
                <a:gd name="T10" fmla="*/ 2254 w 2522"/>
                <a:gd name="T11" fmla="*/ 425 h 2211"/>
                <a:gd name="T12" fmla="*/ 2368 w 2522"/>
                <a:gd name="T13" fmla="*/ 578 h 2211"/>
                <a:gd name="T14" fmla="*/ 2453 w 2522"/>
                <a:gd name="T15" fmla="*/ 744 h 2211"/>
                <a:gd name="T16" fmla="*/ 2505 w 2522"/>
                <a:gd name="T17" fmla="*/ 922 h 2211"/>
                <a:gd name="T18" fmla="*/ 2522 w 2522"/>
                <a:gd name="T19" fmla="*/ 1103 h 2211"/>
                <a:gd name="T20" fmla="*/ 2505 w 2522"/>
                <a:gd name="T21" fmla="*/ 1284 h 2211"/>
                <a:gd name="T22" fmla="*/ 2453 w 2522"/>
                <a:gd name="T23" fmla="*/ 1461 h 2211"/>
                <a:gd name="T24" fmla="*/ 2371 w 2522"/>
                <a:gd name="T25" fmla="*/ 1630 h 2211"/>
                <a:gd name="T26" fmla="*/ 2256 w 2522"/>
                <a:gd name="T27" fmla="*/ 1783 h 2211"/>
                <a:gd name="T28" fmla="*/ 2115 w 2522"/>
                <a:gd name="T29" fmla="*/ 1917 h 2211"/>
                <a:gd name="T30" fmla="*/ 1951 w 2522"/>
                <a:gd name="T31" fmla="*/ 2029 h 2211"/>
                <a:gd name="T32" fmla="*/ 1769 w 2522"/>
                <a:gd name="T33" fmla="*/ 2118 h 2211"/>
                <a:gd name="T34" fmla="*/ 1572 w 2522"/>
                <a:gd name="T35" fmla="*/ 2176 h 2211"/>
                <a:gd name="T36" fmla="*/ 1367 w 2522"/>
                <a:gd name="T37" fmla="*/ 2206 h 2211"/>
                <a:gd name="T38" fmla="*/ 1159 w 2522"/>
                <a:gd name="T39" fmla="*/ 2206 h 2211"/>
                <a:gd name="T40" fmla="*/ 954 w 2522"/>
                <a:gd name="T41" fmla="*/ 2178 h 2211"/>
                <a:gd name="T42" fmla="*/ 755 w 2522"/>
                <a:gd name="T43" fmla="*/ 2118 h 2211"/>
                <a:gd name="T44" fmla="*/ 573 w 2522"/>
                <a:gd name="T45" fmla="*/ 2031 h 2211"/>
                <a:gd name="T46" fmla="*/ 409 w 2522"/>
                <a:gd name="T47" fmla="*/ 1919 h 2211"/>
                <a:gd name="T48" fmla="*/ 266 w 2522"/>
                <a:gd name="T49" fmla="*/ 1785 h 2211"/>
                <a:gd name="T50" fmla="*/ 151 w 2522"/>
                <a:gd name="T51" fmla="*/ 1634 h 2211"/>
                <a:gd name="T52" fmla="*/ 69 w 2522"/>
                <a:gd name="T53" fmla="*/ 1466 h 2211"/>
                <a:gd name="T54" fmla="*/ 17 w 2522"/>
                <a:gd name="T55" fmla="*/ 1289 h 2211"/>
                <a:gd name="T56" fmla="*/ 0 w 2522"/>
                <a:gd name="T57" fmla="*/ 1107 h 2211"/>
                <a:gd name="T58" fmla="*/ 17 w 2522"/>
                <a:gd name="T59" fmla="*/ 926 h 2211"/>
                <a:gd name="T60" fmla="*/ 67 w 2522"/>
                <a:gd name="T61" fmla="*/ 749 h 2211"/>
                <a:gd name="T62" fmla="*/ 151 w 2522"/>
                <a:gd name="T63" fmla="*/ 580 h 2211"/>
                <a:gd name="T64" fmla="*/ 264 w 2522"/>
                <a:gd name="T65" fmla="*/ 429 h 2211"/>
                <a:gd name="T66" fmla="*/ 404 w 2522"/>
                <a:gd name="T67" fmla="*/ 293 h 2211"/>
                <a:gd name="T68" fmla="*/ 569 w 2522"/>
                <a:gd name="T69" fmla="*/ 181 h 2211"/>
                <a:gd name="T70" fmla="*/ 753 w 2522"/>
                <a:gd name="T71" fmla="*/ 95 h 2211"/>
                <a:gd name="T72" fmla="*/ 949 w 2522"/>
                <a:gd name="T73" fmla="*/ 34 h 2211"/>
                <a:gd name="T74" fmla="*/ 1155 w 2522"/>
                <a:gd name="T75" fmla="*/ 4 h 2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522" h="2211">
                  <a:moveTo>
                    <a:pt x="1259" y="0"/>
                  </a:moveTo>
                  <a:lnTo>
                    <a:pt x="1363" y="4"/>
                  </a:lnTo>
                  <a:lnTo>
                    <a:pt x="1466" y="15"/>
                  </a:lnTo>
                  <a:lnTo>
                    <a:pt x="1568" y="34"/>
                  </a:lnTo>
                  <a:lnTo>
                    <a:pt x="1668" y="60"/>
                  </a:lnTo>
                  <a:lnTo>
                    <a:pt x="1765" y="92"/>
                  </a:lnTo>
                  <a:lnTo>
                    <a:pt x="1858" y="131"/>
                  </a:lnTo>
                  <a:lnTo>
                    <a:pt x="1949" y="179"/>
                  </a:lnTo>
                  <a:lnTo>
                    <a:pt x="2033" y="233"/>
                  </a:lnTo>
                  <a:lnTo>
                    <a:pt x="2113" y="291"/>
                  </a:lnTo>
                  <a:lnTo>
                    <a:pt x="2187" y="356"/>
                  </a:lnTo>
                  <a:lnTo>
                    <a:pt x="2254" y="425"/>
                  </a:lnTo>
                  <a:lnTo>
                    <a:pt x="2314" y="498"/>
                  </a:lnTo>
                  <a:lnTo>
                    <a:pt x="2368" y="578"/>
                  </a:lnTo>
                  <a:lnTo>
                    <a:pt x="2414" y="660"/>
                  </a:lnTo>
                  <a:lnTo>
                    <a:pt x="2453" y="744"/>
                  </a:lnTo>
                  <a:lnTo>
                    <a:pt x="2483" y="831"/>
                  </a:lnTo>
                  <a:lnTo>
                    <a:pt x="2505" y="922"/>
                  </a:lnTo>
                  <a:lnTo>
                    <a:pt x="2518" y="1012"/>
                  </a:lnTo>
                  <a:lnTo>
                    <a:pt x="2522" y="1103"/>
                  </a:lnTo>
                  <a:lnTo>
                    <a:pt x="2518" y="1194"/>
                  </a:lnTo>
                  <a:lnTo>
                    <a:pt x="2505" y="1284"/>
                  </a:lnTo>
                  <a:lnTo>
                    <a:pt x="2483" y="1375"/>
                  </a:lnTo>
                  <a:lnTo>
                    <a:pt x="2453" y="1461"/>
                  </a:lnTo>
                  <a:lnTo>
                    <a:pt x="2416" y="1548"/>
                  </a:lnTo>
                  <a:lnTo>
                    <a:pt x="2371" y="1630"/>
                  </a:lnTo>
                  <a:lnTo>
                    <a:pt x="2317" y="1707"/>
                  </a:lnTo>
                  <a:lnTo>
                    <a:pt x="2256" y="1783"/>
                  </a:lnTo>
                  <a:lnTo>
                    <a:pt x="2189" y="1852"/>
                  </a:lnTo>
                  <a:lnTo>
                    <a:pt x="2115" y="1917"/>
                  </a:lnTo>
                  <a:lnTo>
                    <a:pt x="2037" y="1975"/>
                  </a:lnTo>
                  <a:lnTo>
                    <a:pt x="1951" y="2029"/>
                  </a:lnTo>
                  <a:lnTo>
                    <a:pt x="1862" y="2077"/>
                  </a:lnTo>
                  <a:lnTo>
                    <a:pt x="1769" y="2118"/>
                  </a:lnTo>
                  <a:lnTo>
                    <a:pt x="1672" y="2150"/>
                  </a:lnTo>
                  <a:lnTo>
                    <a:pt x="1572" y="2176"/>
                  </a:lnTo>
                  <a:lnTo>
                    <a:pt x="1471" y="2195"/>
                  </a:lnTo>
                  <a:lnTo>
                    <a:pt x="1367" y="2206"/>
                  </a:lnTo>
                  <a:lnTo>
                    <a:pt x="1263" y="2211"/>
                  </a:lnTo>
                  <a:lnTo>
                    <a:pt x="1159" y="2206"/>
                  </a:lnTo>
                  <a:lnTo>
                    <a:pt x="1055" y="2195"/>
                  </a:lnTo>
                  <a:lnTo>
                    <a:pt x="954" y="2178"/>
                  </a:lnTo>
                  <a:lnTo>
                    <a:pt x="852" y="2152"/>
                  </a:lnTo>
                  <a:lnTo>
                    <a:pt x="755" y="2118"/>
                  </a:lnTo>
                  <a:lnTo>
                    <a:pt x="662" y="2079"/>
                  </a:lnTo>
                  <a:lnTo>
                    <a:pt x="573" y="2031"/>
                  </a:lnTo>
                  <a:lnTo>
                    <a:pt x="486" y="1980"/>
                  </a:lnTo>
                  <a:lnTo>
                    <a:pt x="409" y="1919"/>
                  </a:lnTo>
                  <a:lnTo>
                    <a:pt x="333" y="1856"/>
                  </a:lnTo>
                  <a:lnTo>
                    <a:pt x="266" y="1785"/>
                  </a:lnTo>
                  <a:lnTo>
                    <a:pt x="205" y="1712"/>
                  </a:lnTo>
                  <a:lnTo>
                    <a:pt x="151" y="1634"/>
                  </a:lnTo>
                  <a:lnTo>
                    <a:pt x="106" y="1552"/>
                  </a:lnTo>
                  <a:lnTo>
                    <a:pt x="69" y="1466"/>
                  </a:lnTo>
                  <a:lnTo>
                    <a:pt x="39" y="1379"/>
                  </a:lnTo>
                  <a:lnTo>
                    <a:pt x="17" y="1289"/>
                  </a:lnTo>
                  <a:lnTo>
                    <a:pt x="4" y="1198"/>
                  </a:lnTo>
                  <a:lnTo>
                    <a:pt x="0" y="1107"/>
                  </a:lnTo>
                  <a:lnTo>
                    <a:pt x="4" y="1017"/>
                  </a:lnTo>
                  <a:lnTo>
                    <a:pt x="17" y="926"/>
                  </a:lnTo>
                  <a:lnTo>
                    <a:pt x="37" y="835"/>
                  </a:lnTo>
                  <a:lnTo>
                    <a:pt x="67" y="749"/>
                  </a:lnTo>
                  <a:lnTo>
                    <a:pt x="106" y="662"/>
                  </a:lnTo>
                  <a:lnTo>
                    <a:pt x="151" y="580"/>
                  </a:lnTo>
                  <a:lnTo>
                    <a:pt x="203" y="503"/>
                  </a:lnTo>
                  <a:lnTo>
                    <a:pt x="264" y="429"/>
                  </a:lnTo>
                  <a:lnTo>
                    <a:pt x="331" y="358"/>
                  </a:lnTo>
                  <a:lnTo>
                    <a:pt x="404" y="293"/>
                  </a:lnTo>
                  <a:lnTo>
                    <a:pt x="484" y="235"/>
                  </a:lnTo>
                  <a:lnTo>
                    <a:pt x="569" y="181"/>
                  </a:lnTo>
                  <a:lnTo>
                    <a:pt x="660" y="133"/>
                  </a:lnTo>
                  <a:lnTo>
                    <a:pt x="753" y="95"/>
                  </a:lnTo>
                  <a:lnTo>
                    <a:pt x="850" y="60"/>
                  </a:lnTo>
                  <a:lnTo>
                    <a:pt x="949" y="34"/>
                  </a:lnTo>
                  <a:lnTo>
                    <a:pt x="1051" y="15"/>
                  </a:lnTo>
                  <a:lnTo>
                    <a:pt x="1155" y="4"/>
                  </a:lnTo>
                  <a:lnTo>
                    <a:pt x="125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31668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5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1295400"/>
          </a:xfrm>
        </p:spPr>
        <p:txBody>
          <a:bodyPr>
            <a:normAutofit fontScale="90000"/>
          </a:bodyPr>
          <a:lstStyle/>
          <a:p>
            <a:r>
              <a:rPr lang="en-US" dirty="0"/>
              <a:t>Hierarchical Clustering:  </a:t>
            </a:r>
            <a:br>
              <a:rPr lang="en-US" dirty="0"/>
            </a:br>
            <a:r>
              <a:rPr lang="en-US" dirty="0"/>
              <a:t>Time and Space requirements</a:t>
            </a:r>
          </a:p>
        </p:txBody>
      </p:sp>
      <p:sp>
        <p:nvSpPr>
          <p:cNvPr id="1645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2133600"/>
            <a:ext cx="8229600" cy="4229100"/>
          </a:xfrm>
        </p:spPr>
        <p:txBody>
          <a:bodyPr/>
          <a:lstStyle/>
          <a:p>
            <a:r>
              <a:rPr lang="en-US" dirty="0"/>
              <a:t>O(</a:t>
            </a:r>
            <a:r>
              <a:rPr lang="en-US" dirty="0" err="1"/>
              <a:t>N</a:t>
            </a:r>
            <a:r>
              <a:rPr lang="en-US" baseline="30000" dirty="0" err="1"/>
              <a:t>2</a:t>
            </a:r>
            <a:r>
              <a:rPr lang="en-US" dirty="0"/>
              <a:t>) space since it uses the proximity matrix.  </a:t>
            </a:r>
          </a:p>
          <a:p>
            <a:pPr lvl="1"/>
            <a:r>
              <a:rPr lang="en-US" dirty="0"/>
              <a:t>N is the number of points.</a:t>
            </a:r>
          </a:p>
          <a:p>
            <a:pPr lvl="1"/>
            <a:endParaRPr lang="en-US" dirty="0"/>
          </a:p>
          <a:p>
            <a:r>
              <a:rPr lang="en-US" dirty="0"/>
              <a:t>O(</a:t>
            </a:r>
            <a:r>
              <a:rPr lang="en-US" dirty="0" err="1"/>
              <a:t>N</a:t>
            </a:r>
            <a:r>
              <a:rPr lang="en-US" baseline="30000" dirty="0" err="1"/>
              <a:t>3</a:t>
            </a:r>
            <a:r>
              <a:rPr lang="en-US" dirty="0"/>
              <a:t>) time in many cases</a:t>
            </a:r>
          </a:p>
          <a:p>
            <a:pPr lvl="1"/>
            <a:r>
              <a:rPr lang="en-US" dirty="0"/>
              <a:t>There are N steps and at each step the size, </a:t>
            </a:r>
            <a:r>
              <a:rPr lang="en-US" dirty="0" err="1"/>
              <a:t>N</a:t>
            </a:r>
            <a:r>
              <a:rPr lang="en-US" baseline="30000" dirty="0" err="1"/>
              <a:t>2</a:t>
            </a:r>
            <a:r>
              <a:rPr lang="en-US" dirty="0"/>
              <a:t>, proximity matrix must be updated and searched</a:t>
            </a:r>
          </a:p>
          <a:p>
            <a:pPr lvl="1"/>
            <a:r>
              <a:rPr lang="en-US" dirty="0"/>
              <a:t>Complexity can be reduced to O(</a:t>
            </a:r>
            <a:r>
              <a:rPr lang="en-US" dirty="0" err="1"/>
              <a:t>N</a:t>
            </a:r>
            <a:r>
              <a:rPr lang="en-US" baseline="30000" dirty="0" err="1"/>
              <a:t>2</a:t>
            </a:r>
            <a:r>
              <a:rPr lang="en-US" dirty="0"/>
              <a:t> log(N) ) time for some approaches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35833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5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>
            <a:noAutofit/>
          </a:bodyPr>
          <a:lstStyle/>
          <a:p>
            <a:r>
              <a:rPr lang="en-US" dirty="0"/>
              <a:t>Hierarchical Clustering:  </a:t>
            </a:r>
            <a:br>
              <a:rPr lang="en-US" dirty="0"/>
            </a:br>
            <a:r>
              <a:rPr lang="en-US" dirty="0"/>
              <a:t>Problems and Limitations</a:t>
            </a:r>
          </a:p>
        </p:txBody>
      </p:sp>
      <p:sp>
        <p:nvSpPr>
          <p:cNvPr id="1646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28800"/>
            <a:ext cx="8229600" cy="48768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Computational complexity in time and space</a:t>
            </a:r>
          </a:p>
          <a:p>
            <a:endParaRPr lang="en-US" dirty="0"/>
          </a:p>
          <a:p>
            <a:r>
              <a:rPr lang="en-US" dirty="0"/>
              <a:t>Once a decision is made to combine two clusters, it cannot be undone</a:t>
            </a:r>
          </a:p>
          <a:p>
            <a:pPr lvl="4"/>
            <a:endParaRPr lang="en-US" dirty="0"/>
          </a:p>
          <a:p>
            <a:r>
              <a:rPr lang="en-US" dirty="0"/>
              <a:t>No objective function is directly minimized</a:t>
            </a:r>
          </a:p>
          <a:p>
            <a:pPr lvl="4"/>
            <a:endParaRPr lang="en-US" dirty="0"/>
          </a:p>
          <a:p>
            <a:r>
              <a:rPr lang="en-US" dirty="0"/>
              <a:t>Different schemes have problems with one or more of the following:</a:t>
            </a:r>
          </a:p>
          <a:p>
            <a:pPr lvl="1"/>
            <a:r>
              <a:rPr lang="en-US" dirty="0"/>
              <a:t>Sensitivity to noise and outliers</a:t>
            </a:r>
          </a:p>
          <a:p>
            <a:pPr lvl="1"/>
            <a:r>
              <a:rPr lang="en-US" dirty="0"/>
              <a:t>Difficulty handling different sized clusters and convex shapes</a:t>
            </a:r>
          </a:p>
          <a:p>
            <a:pPr lvl="1"/>
            <a:r>
              <a:rPr lang="en-US" dirty="0"/>
              <a:t>Breaking large clusters</a:t>
            </a:r>
          </a:p>
        </p:txBody>
      </p:sp>
    </p:spTree>
    <p:extLst>
      <p:ext uri="{BB962C8B-B14F-4D97-AF65-F5344CB8AC3E}">
        <p14:creationId xmlns:p14="http://schemas.microsoft.com/office/powerpoint/2010/main" val="233596271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DBSCAN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58603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DBSCAN: Density-Based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DBSCAN</a:t>
            </a:r>
            <a:r>
              <a:rPr lang="en-US" dirty="0"/>
              <a:t> is a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Density-Based Clustering </a:t>
            </a:r>
            <a:r>
              <a:rPr lang="en-US" dirty="0"/>
              <a:t>algorithm</a:t>
            </a:r>
          </a:p>
          <a:p>
            <a:endParaRPr lang="en-US" dirty="0"/>
          </a:p>
          <a:p>
            <a:r>
              <a:rPr lang="en-US" dirty="0"/>
              <a:t>Reminder: In density based clustering we partition points into dense regions separated by not-so-dense regions.</a:t>
            </a:r>
          </a:p>
          <a:p>
            <a:endParaRPr lang="en-US" dirty="0"/>
          </a:p>
          <a:p>
            <a:r>
              <a:rPr lang="en-US" dirty="0"/>
              <a:t>Important Questions:</a:t>
            </a:r>
          </a:p>
          <a:p>
            <a:pPr lvl="1"/>
            <a:r>
              <a:rPr lang="en-US" dirty="0"/>
              <a:t>How do we measure density?</a:t>
            </a:r>
          </a:p>
          <a:p>
            <a:pPr lvl="1"/>
            <a:r>
              <a:rPr lang="en-US" dirty="0"/>
              <a:t>What is a dense region?</a:t>
            </a:r>
          </a:p>
          <a:p>
            <a:pPr lvl="1"/>
            <a:endParaRPr lang="en-US" dirty="0"/>
          </a:p>
          <a:p>
            <a:r>
              <a:rPr lang="en-US" dirty="0"/>
              <a:t>DBSCAN: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Density at point </a:t>
            </a:r>
            <a:r>
              <a:rPr lang="en-US" dirty="0">
                <a:solidFill>
                  <a:srgbClr val="0070C0"/>
                </a:solidFill>
              </a:rPr>
              <a:t>p</a:t>
            </a:r>
            <a:r>
              <a:rPr lang="en-US" dirty="0"/>
              <a:t>: number of points within a circle of radius </a:t>
            </a:r>
            <a:r>
              <a:rPr lang="en-US" dirty="0" err="1">
                <a:solidFill>
                  <a:srgbClr val="0070C0"/>
                </a:solidFill>
              </a:rPr>
              <a:t>Eps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Dense Region</a:t>
            </a:r>
            <a:r>
              <a:rPr lang="en-US" dirty="0"/>
              <a:t>: A circle of radius </a:t>
            </a:r>
            <a:r>
              <a:rPr lang="en-US" dirty="0" err="1">
                <a:solidFill>
                  <a:srgbClr val="0070C0"/>
                </a:solidFill>
              </a:rPr>
              <a:t>Eps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that contains at least </a:t>
            </a:r>
            <a:r>
              <a:rPr lang="en-US" dirty="0" err="1">
                <a:solidFill>
                  <a:srgbClr val="0070C0"/>
                </a:solidFill>
              </a:rPr>
              <a:t>MinPts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points</a:t>
            </a:r>
          </a:p>
        </p:txBody>
      </p:sp>
    </p:spTree>
    <p:extLst>
      <p:ext uri="{BB962C8B-B14F-4D97-AF65-F5344CB8AC3E}">
        <p14:creationId xmlns:p14="http://schemas.microsoft.com/office/powerpoint/2010/main" val="237434133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6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8280400" cy="1066800"/>
          </a:xfrm>
        </p:spPr>
        <p:txBody>
          <a:bodyPr>
            <a:normAutofit/>
          </a:bodyPr>
          <a:lstStyle/>
          <a:p>
            <a:r>
              <a:rPr lang="en-US" dirty="0"/>
              <a:t>DBSCAN</a:t>
            </a:r>
          </a:p>
        </p:txBody>
      </p:sp>
      <p:sp>
        <p:nvSpPr>
          <p:cNvPr id="1649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001000" cy="5181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Characterization of points</a:t>
            </a:r>
            <a:endParaRPr lang="en-US" sz="1800" dirty="0"/>
          </a:p>
          <a:p>
            <a:pPr lvl="1">
              <a:lnSpc>
                <a:spcPct val="90000"/>
              </a:lnSpc>
            </a:pPr>
            <a:r>
              <a:rPr lang="en-US" dirty="0"/>
              <a:t>A point is a </a:t>
            </a:r>
            <a:r>
              <a:rPr lang="en-US" dirty="0">
                <a:solidFill>
                  <a:srgbClr val="FF0000"/>
                </a:solidFill>
              </a:rPr>
              <a:t>core point</a:t>
            </a:r>
            <a:r>
              <a:rPr lang="en-US" dirty="0"/>
              <a:t> if it has more than a specified number of points (</a:t>
            </a:r>
            <a:r>
              <a:rPr lang="en-US" dirty="0" err="1">
                <a:solidFill>
                  <a:srgbClr val="0070C0"/>
                </a:solidFill>
              </a:rPr>
              <a:t>MinPts</a:t>
            </a:r>
            <a:r>
              <a:rPr lang="en-US" dirty="0"/>
              <a:t>) within </a:t>
            </a:r>
            <a:r>
              <a:rPr lang="en-US" dirty="0" err="1">
                <a:solidFill>
                  <a:srgbClr val="0070C0"/>
                </a:solidFill>
              </a:rPr>
              <a:t>Eps</a:t>
            </a:r>
            <a:endParaRPr lang="en-US" dirty="0">
              <a:solidFill>
                <a:srgbClr val="0070C0"/>
              </a:solidFill>
            </a:endParaRPr>
          </a:p>
          <a:p>
            <a:pPr lvl="2">
              <a:lnSpc>
                <a:spcPct val="90000"/>
              </a:lnSpc>
            </a:pPr>
            <a:r>
              <a:rPr lang="en-US" dirty="0"/>
              <a:t>These points belong in a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dense region </a:t>
            </a:r>
            <a:r>
              <a:rPr lang="en-US" dirty="0"/>
              <a:t>and are at 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interior</a:t>
            </a:r>
            <a:r>
              <a:rPr lang="en-US" dirty="0"/>
              <a:t> of a cluster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border point</a:t>
            </a:r>
            <a:r>
              <a:rPr lang="en-US" dirty="0"/>
              <a:t> has fewer than </a:t>
            </a:r>
            <a:r>
              <a:rPr lang="en-US" dirty="0" err="1">
                <a:solidFill>
                  <a:srgbClr val="0070C0"/>
                </a:solidFill>
              </a:rPr>
              <a:t>MinPts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within </a:t>
            </a:r>
            <a:r>
              <a:rPr lang="en-US" dirty="0" err="1">
                <a:solidFill>
                  <a:srgbClr val="0070C0"/>
                </a:solidFill>
              </a:rPr>
              <a:t>Eps</a:t>
            </a:r>
            <a:r>
              <a:rPr lang="en-US" dirty="0"/>
              <a:t>, but is in the neighborhood of a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core</a:t>
            </a:r>
            <a:r>
              <a:rPr lang="en-US" dirty="0"/>
              <a:t> point.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noise point</a:t>
            </a:r>
            <a:r>
              <a:rPr lang="en-US" dirty="0"/>
              <a:t> is any point that is not a core point or a border point. </a:t>
            </a:r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877085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6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280400" cy="1219200"/>
          </a:xfrm>
        </p:spPr>
        <p:txBody>
          <a:bodyPr>
            <a:normAutofit fontScale="90000"/>
          </a:bodyPr>
          <a:lstStyle/>
          <a:p>
            <a:r>
              <a:rPr lang="en-US" dirty="0"/>
              <a:t>DBSCAN: Core, Border, and Noise Points</a:t>
            </a:r>
          </a:p>
        </p:txBody>
      </p:sp>
      <p:pic>
        <p:nvPicPr>
          <p:cNvPr id="16506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11"/>
          <a:stretch>
            <a:fillRect/>
          </a:stretch>
        </p:blipFill>
        <p:spPr bwMode="auto">
          <a:xfrm>
            <a:off x="761998" y="1447800"/>
            <a:ext cx="7313613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0446741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7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804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DBSCAN: Core, Border and Noise Points</a:t>
            </a:r>
          </a:p>
        </p:txBody>
      </p:sp>
      <p:pic>
        <p:nvPicPr>
          <p:cNvPr id="16527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717" y="1558131"/>
            <a:ext cx="4872038" cy="365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52740" name="Text Box 4"/>
          <p:cNvSpPr txBox="1">
            <a:spLocks noChangeArrowheads="1"/>
          </p:cNvSpPr>
          <p:nvPr/>
        </p:nvSpPr>
        <p:spPr bwMode="auto">
          <a:xfrm>
            <a:off x="990600" y="5355992"/>
            <a:ext cx="2514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/>
              <a:t>Original Points</a:t>
            </a:r>
          </a:p>
        </p:txBody>
      </p:sp>
      <p:sp>
        <p:nvSpPr>
          <p:cNvPr id="1652741" name="Text Box 5"/>
          <p:cNvSpPr txBox="1">
            <a:spLocks noChangeArrowheads="1"/>
          </p:cNvSpPr>
          <p:nvPr/>
        </p:nvSpPr>
        <p:spPr bwMode="auto">
          <a:xfrm>
            <a:off x="5257800" y="5218674"/>
            <a:ext cx="2514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/>
              <a:t>Point types: </a:t>
            </a:r>
            <a:r>
              <a:rPr lang="en-US" sz="1800" dirty="0">
                <a:solidFill>
                  <a:srgbClr val="92D050"/>
                </a:solidFill>
              </a:rPr>
              <a:t>core</a:t>
            </a:r>
            <a:r>
              <a:rPr lang="en-US" sz="1800" dirty="0"/>
              <a:t>, </a:t>
            </a:r>
            <a:r>
              <a:rPr lang="en-US" sz="1800" dirty="0">
                <a:solidFill>
                  <a:srgbClr val="003399"/>
                </a:solidFill>
              </a:rPr>
              <a:t>border</a:t>
            </a:r>
            <a:r>
              <a:rPr lang="en-US" sz="1800" dirty="0"/>
              <a:t> and </a:t>
            </a:r>
            <a:r>
              <a:rPr lang="en-US" sz="1800" dirty="0">
                <a:solidFill>
                  <a:srgbClr val="FF0000"/>
                </a:solidFill>
              </a:rPr>
              <a:t>noise</a:t>
            </a:r>
          </a:p>
        </p:txBody>
      </p:sp>
      <p:pic>
        <p:nvPicPr>
          <p:cNvPr id="165274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5507" y="1564249"/>
            <a:ext cx="4872038" cy="365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52743" name="Text Box 7"/>
          <p:cNvSpPr txBox="1">
            <a:spLocks noChangeArrowheads="1"/>
          </p:cNvSpPr>
          <p:nvPr/>
        </p:nvSpPr>
        <p:spPr bwMode="auto">
          <a:xfrm>
            <a:off x="2739483" y="5953474"/>
            <a:ext cx="3276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 err="1"/>
              <a:t>Eps</a:t>
            </a:r>
            <a:r>
              <a:rPr lang="en-US" sz="1800" dirty="0"/>
              <a:t> = 10, </a:t>
            </a:r>
            <a:r>
              <a:rPr lang="en-US" sz="1800" dirty="0" err="1"/>
              <a:t>MinPts</a:t>
            </a:r>
            <a:r>
              <a:rPr lang="en-US" sz="1800" dirty="0"/>
              <a:t> = 4</a:t>
            </a:r>
          </a:p>
        </p:txBody>
      </p:sp>
    </p:spTree>
    <p:extLst>
      <p:ext uri="{BB962C8B-B14F-4D97-AF65-F5344CB8AC3E}">
        <p14:creationId xmlns:p14="http://schemas.microsoft.com/office/powerpoint/2010/main" val="296970995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13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00990" y="457200"/>
            <a:ext cx="8426450" cy="838200"/>
          </a:xfrm>
          <a:noFill/>
          <a:ln/>
        </p:spPr>
        <p:txBody>
          <a:bodyPr lIns="92075" tIns="46038" rIns="92075" bIns="46038" anchor="ctr">
            <a:normAutofit/>
          </a:bodyPr>
          <a:lstStyle/>
          <a:p>
            <a:r>
              <a:rPr lang="en-US" altLang="zh-CN" dirty="0">
                <a:ea typeface="宋体" pitchFamily="2" charset="-122"/>
              </a:rPr>
              <a:t>Density-Connected points</a:t>
            </a:r>
          </a:p>
        </p:txBody>
      </p:sp>
      <p:sp>
        <p:nvSpPr>
          <p:cNvPr id="149913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5638800" cy="5029200"/>
          </a:xfrm>
          <a:noFill/>
          <a:ln/>
        </p:spPr>
        <p:txBody>
          <a:bodyPr lIns="92075" tIns="46038" rIns="92075" bIns="46038">
            <a:norm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  <a:ea typeface="宋体" pitchFamily="2" charset="-122"/>
              </a:rPr>
              <a:t>Density edge</a:t>
            </a:r>
          </a:p>
          <a:p>
            <a:pPr lvl="1">
              <a:spcBef>
                <a:spcPct val="50000"/>
              </a:spcBef>
            </a:pPr>
            <a:r>
              <a:rPr lang="en-US" altLang="zh-CN" dirty="0">
                <a:ea typeface="宋体" pitchFamily="2" charset="-122"/>
              </a:rPr>
              <a:t>We place an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edge</a:t>
            </a:r>
            <a:r>
              <a:rPr lang="en-US" altLang="zh-CN" dirty="0">
                <a:ea typeface="宋体" pitchFamily="2" charset="-122"/>
              </a:rPr>
              <a:t> between two core points </a:t>
            </a:r>
            <a:r>
              <a:rPr lang="en-US" altLang="zh-CN" dirty="0">
                <a:solidFill>
                  <a:srgbClr val="00B050"/>
                </a:solidFill>
                <a:ea typeface="宋体" pitchFamily="2" charset="-122"/>
              </a:rPr>
              <a:t>q</a:t>
            </a:r>
            <a:r>
              <a:rPr lang="en-US" altLang="zh-CN" dirty="0">
                <a:ea typeface="宋体" pitchFamily="2" charset="-122"/>
              </a:rPr>
              <a:t> and </a:t>
            </a:r>
            <a:r>
              <a:rPr lang="en-US" altLang="zh-CN" dirty="0">
                <a:solidFill>
                  <a:srgbClr val="00B050"/>
                </a:solidFill>
                <a:ea typeface="宋体" pitchFamily="2" charset="-122"/>
              </a:rPr>
              <a:t>p</a:t>
            </a:r>
            <a:r>
              <a:rPr lang="en-US" altLang="zh-CN" dirty="0">
                <a:ea typeface="宋体" pitchFamily="2" charset="-122"/>
              </a:rPr>
              <a:t> if they are within distance </a:t>
            </a:r>
            <a:r>
              <a:rPr lang="en-US" altLang="zh-CN" dirty="0" err="1">
                <a:solidFill>
                  <a:srgbClr val="0070C0"/>
                </a:solidFill>
                <a:ea typeface="宋体" pitchFamily="2" charset="-122"/>
              </a:rPr>
              <a:t>Eps</a:t>
            </a:r>
            <a:r>
              <a:rPr lang="en-US" altLang="zh-CN" dirty="0">
                <a:ea typeface="宋体" pitchFamily="2" charset="-122"/>
              </a:rPr>
              <a:t>.</a:t>
            </a:r>
          </a:p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  <a:ea typeface="宋体" pitchFamily="2" charset="-122"/>
              </a:rPr>
              <a:t>Density-connected</a:t>
            </a:r>
          </a:p>
          <a:p>
            <a:pPr lvl="1">
              <a:spcBef>
                <a:spcPct val="50000"/>
              </a:spcBef>
            </a:pPr>
            <a:r>
              <a:rPr lang="en-US" altLang="zh-CN" sz="2400" dirty="0">
                <a:ea typeface="宋体" pitchFamily="2" charset="-122"/>
              </a:rPr>
              <a:t>A point </a:t>
            </a:r>
            <a:r>
              <a:rPr lang="en-US" altLang="zh-CN" sz="2400" dirty="0">
                <a:solidFill>
                  <a:srgbClr val="00B050"/>
                </a:solidFill>
                <a:ea typeface="宋体" pitchFamily="2" charset="-122"/>
              </a:rPr>
              <a:t>p</a:t>
            </a:r>
            <a:r>
              <a:rPr lang="en-US" altLang="zh-CN" sz="2400" dirty="0">
                <a:ea typeface="宋体" pitchFamily="2" charset="-122"/>
              </a:rPr>
              <a:t> is </a:t>
            </a:r>
            <a:r>
              <a:rPr lang="en-US" altLang="zh-CN" sz="2400" dirty="0">
                <a:solidFill>
                  <a:srgbClr val="FF0000"/>
                </a:solidFill>
                <a:ea typeface="宋体" pitchFamily="2" charset="-122"/>
              </a:rPr>
              <a:t>density-connected</a:t>
            </a:r>
            <a:r>
              <a:rPr lang="en-US" altLang="zh-CN" sz="2400" dirty="0">
                <a:ea typeface="宋体" pitchFamily="2" charset="-122"/>
              </a:rPr>
              <a:t> to a point </a:t>
            </a:r>
            <a:r>
              <a:rPr lang="en-US" altLang="zh-CN" sz="2400" dirty="0">
                <a:solidFill>
                  <a:srgbClr val="00B050"/>
                </a:solidFill>
                <a:ea typeface="宋体" pitchFamily="2" charset="-122"/>
              </a:rPr>
              <a:t>q </a:t>
            </a:r>
            <a:r>
              <a:rPr lang="en-US" altLang="zh-CN" sz="2400" dirty="0">
                <a:ea typeface="宋体" pitchFamily="2" charset="-122"/>
              </a:rPr>
              <a:t>if there is a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ea typeface="宋体" pitchFamily="2" charset="-122"/>
              </a:rPr>
              <a:t>path of edges </a:t>
            </a:r>
            <a:r>
              <a:rPr lang="en-US" altLang="zh-CN" sz="2400" dirty="0">
                <a:ea typeface="宋体" pitchFamily="2" charset="-122"/>
              </a:rPr>
              <a:t>from </a:t>
            </a:r>
            <a:r>
              <a:rPr lang="en-US" altLang="zh-CN" sz="2400" dirty="0">
                <a:solidFill>
                  <a:srgbClr val="00B050"/>
                </a:solidFill>
                <a:ea typeface="宋体" pitchFamily="2" charset="-122"/>
              </a:rPr>
              <a:t>p</a:t>
            </a:r>
            <a:r>
              <a:rPr lang="en-US" altLang="zh-CN" sz="2400" dirty="0">
                <a:ea typeface="宋体" pitchFamily="2" charset="-122"/>
              </a:rPr>
              <a:t> to </a:t>
            </a:r>
            <a:r>
              <a:rPr lang="en-US" altLang="zh-CN" sz="2400" dirty="0">
                <a:solidFill>
                  <a:srgbClr val="00B050"/>
                </a:solidFill>
                <a:ea typeface="宋体" pitchFamily="2" charset="-122"/>
              </a:rPr>
              <a:t>q</a:t>
            </a:r>
          </a:p>
        </p:txBody>
      </p:sp>
      <p:sp>
        <p:nvSpPr>
          <p:cNvPr id="1499140" name="Oval 1028"/>
          <p:cNvSpPr>
            <a:spLocks noChangeArrowheads="1"/>
          </p:cNvSpPr>
          <p:nvPr/>
        </p:nvSpPr>
        <p:spPr bwMode="auto">
          <a:xfrm>
            <a:off x="7019925" y="2459038"/>
            <a:ext cx="100013" cy="98425"/>
          </a:xfrm>
          <a:prstGeom prst="ellipse">
            <a:avLst/>
          </a:prstGeom>
          <a:solidFill>
            <a:srgbClr val="CC33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99141" name="Oval 1029"/>
          <p:cNvSpPr>
            <a:spLocks noChangeArrowheads="1"/>
          </p:cNvSpPr>
          <p:nvPr/>
        </p:nvSpPr>
        <p:spPr bwMode="auto">
          <a:xfrm>
            <a:off x="7356475" y="2570163"/>
            <a:ext cx="98425" cy="100012"/>
          </a:xfrm>
          <a:prstGeom prst="ellipse">
            <a:avLst/>
          </a:prstGeom>
          <a:solidFill>
            <a:srgbClr val="CC33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99142" name="Oval 1030"/>
          <p:cNvSpPr>
            <a:spLocks noChangeArrowheads="1"/>
          </p:cNvSpPr>
          <p:nvPr/>
        </p:nvSpPr>
        <p:spPr bwMode="auto">
          <a:xfrm>
            <a:off x="7356475" y="2235200"/>
            <a:ext cx="98425" cy="98425"/>
          </a:xfrm>
          <a:prstGeom prst="ellipse">
            <a:avLst/>
          </a:prstGeom>
          <a:solidFill>
            <a:srgbClr val="CC33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99143" name="Oval 1031"/>
          <p:cNvSpPr>
            <a:spLocks noChangeArrowheads="1"/>
          </p:cNvSpPr>
          <p:nvPr/>
        </p:nvSpPr>
        <p:spPr bwMode="auto">
          <a:xfrm>
            <a:off x="6908800" y="2905125"/>
            <a:ext cx="98425" cy="100013"/>
          </a:xfrm>
          <a:prstGeom prst="ellipse">
            <a:avLst/>
          </a:prstGeom>
          <a:solidFill>
            <a:srgbClr val="CC33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99144" name="Oval 1032"/>
          <p:cNvSpPr>
            <a:spLocks noChangeArrowheads="1"/>
          </p:cNvSpPr>
          <p:nvPr/>
        </p:nvSpPr>
        <p:spPr bwMode="auto">
          <a:xfrm>
            <a:off x="7132638" y="2682875"/>
            <a:ext cx="98425" cy="98425"/>
          </a:xfrm>
          <a:prstGeom prst="ellipse">
            <a:avLst/>
          </a:prstGeom>
          <a:solidFill>
            <a:srgbClr val="CC33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99145" name="Oval 1033"/>
          <p:cNvSpPr>
            <a:spLocks noChangeArrowheads="1"/>
          </p:cNvSpPr>
          <p:nvPr/>
        </p:nvSpPr>
        <p:spPr bwMode="auto">
          <a:xfrm>
            <a:off x="7132638" y="2905125"/>
            <a:ext cx="98425" cy="100013"/>
          </a:xfrm>
          <a:prstGeom prst="ellipse">
            <a:avLst/>
          </a:prstGeom>
          <a:solidFill>
            <a:srgbClr val="CC33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99146" name="Oval 1034"/>
          <p:cNvSpPr>
            <a:spLocks noChangeArrowheads="1"/>
          </p:cNvSpPr>
          <p:nvPr/>
        </p:nvSpPr>
        <p:spPr bwMode="auto">
          <a:xfrm>
            <a:off x="7467600" y="3017838"/>
            <a:ext cx="98425" cy="98425"/>
          </a:xfrm>
          <a:prstGeom prst="ellipse">
            <a:avLst/>
          </a:prstGeom>
          <a:solidFill>
            <a:srgbClr val="CC33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99147" name="Oval 1035"/>
          <p:cNvSpPr>
            <a:spLocks noChangeArrowheads="1"/>
          </p:cNvSpPr>
          <p:nvPr/>
        </p:nvSpPr>
        <p:spPr bwMode="auto">
          <a:xfrm>
            <a:off x="7467600" y="2011363"/>
            <a:ext cx="98425" cy="100012"/>
          </a:xfrm>
          <a:prstGeom prst="ellipse">
            <a:avLst/>
          </a:prstGeom>
          <a:solidFill>
            <a:srgbClr val="CC33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99148" name="Oval 1036"/>
          <p:cNvSpPr>
            <a:spLocks noChangeArrowheads="1"/>
          </p:cNvSpPr>
          <p:nvPr/>
        </p:nvSpPr>
        <p:spPr bwMode="auto">
          <a:xfrm>
            <a:off x="8137525" y="2682875"/>
            <a:ext cx="100013" cy="98425"/>
          </a:xfrm>
          <a:prstGeom prst="ellipse">
            <a:avLst/>
          </a:prstGeom>
          <a:solidFill>
            <a:srgbClr val="CC33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99149" name="Oval 1037"/>
          <p:cNvSpPr>
            <a:spLocks noChangeArrowheads="1"/>
          </p:cNvSpPr>
          <p:nvPr/>
        </p:nvSpPr>
        <p:spPr bwMode="auto">
          <a:xfrm>
            <a:off x="7915275" y="2235200"/>
            <a:ext cx="98425" cy="98425"/>
          </a:xfrm>
          <a:prstGeom prst="ellipse">
            <a:avLst/>
          </a:prstGeom>
          <a:solidFill>
            <a:srgbClr val="CC33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99150" name="Oval 1038"/>
          <p:cNvSpPr>
            <a:spLocks noChangeArrowheads="1"/>
          </p:cNvSpPr>
          <p:nvPr/>
        </p:nvSpPr>
        <p:spPr bwMode="auto">
          <a:xfrm>
            <a:off x="7356475" y="2794000"/>
            <a:ext cx="98425" cy="98425"/>
          </a:xfrm>
          <a:prstGeom prst="ellipse">
            <a:avLst/>
          </a:prstGeom>
          <a:solidFill>
            <a:srgbClr val="CC33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99151" name="Oval 1039"/>
          <p:cNvSpPr>
            <a:spLocks noChangeArrowheads="1"/>
          </p:cNvSpPr>
          <p:nvPr/>
        </p:nvSpPr>
        <p:spPr bwMode="auto">
          <a:xfrm>
            <a:off x="7578725" y="2570163"/>
            <a:ext cx="100013" cy="100012"/>
          </a:xfrm>
          <a:prstGeom prst="ellipse">
            <a:avLst/>
          </a:prstGeom>
          <a:solidFill>
            <a:srgbClr val="CC33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99152" name="Oval 1040"/>
          <p:cNvSpPr>
            <a:spLocks noChangeArrowheads="1"/>
          </p:cNvSpPr>
          <p:nvPr/>
        </p:nvSpPr>
        <p:spPr bwMode="auto">
          <a:xfrm>
            <a:off x="7802563" y="2905125"/>
            <a:ext cx="100012" cy="100013"/>
          </a:xfrm>
          <a:prstGeom prst="ellipse">
            <a:avLst/>
          </a:prstGeom>
          <a:solidFill>
            <a:srgbClr val="CC33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99153" name="Oval 1041"/>
          <p:cNvSpPr>
            <a:spLocks noChangeArrowheads="1"/>
          </p:cNvSpPr>
          <p:nvPr/>
        </p:nvSpPr>
        <p:spPr bwMode="auto">
          <a:xfrm>
            <a:off x="8361363" y="3017838"/>
            <a:ext cx="100012" cy="98425"/>
          </a:xfrm>
          <a:prstGeom prst="ellipse">
            <a:avLst/>
          </a:prstGeom>
          <a:solidFill>
            <a:srgbClr val="CC33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99154" name="Oval 1042"/>
          <p:cNvSpPr>
            <a:spLocks noChangeArrowheads="1"/>
          </p:cNvSpPr>
          <p:nvPr/>
        </p:nvSpPr>
        <p:spPr bwMode="auto">
          <a:xfrm>
            <a:off x="7086600" y="2438400"/>
            <a:ext cx="1104900" cy="11049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99155" name="Oval 1043"/>
          <p:cNvSpPr>
            <a:spLocks noChangeArrowheads="1"/>
          </p:cNvSpPr>
          <p:nvPr/>
        </p:nvSpPr>
        <p:spPr bwMode="auto">
          <a:xfrm>
            <a:off x="6370638" y="2311400"/>
            <a:ext cx="1104900" cy="11049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99156" name="Rectangle 1044"/>
          <p:cNvSpPr>
            <a:spLocks noChangeArrowheads="1"/>
          </p:cNvSpPr>
          <p:nvPr/>
        </p:nvSpPr>
        <p:spPr bwMode="auto">
          <a:xfrm>
            <a:off x="7969250" y="205105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b="1" i="1">
                <a:latin typeface="Times New Roman" pitchFamily="18" charset="0"/>
                <a:ea typeface="宋体" pitchFamily="2" charset="-122"/>
              </a:rPr>
              <a:t>p</a:t>
            </a:r>
          </a:p>
        </p:txBody>
      </p:sp>
      <p:sp>
        <p:nvSpPr>
          <p:cNvPr id="1499157" name="Rectangle 1045"/>
          <p:cNvSpPr>
            <a:spLocks noChangeArrowheads="1"/>
          </p:cNvSpPr>
          <p:nvPr/>
        </p:nvSpPr>
        <p:spPr bwMode="auto">
          <a:xfrm>
            <a:off x="6597650" y="273685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b="1" i="1">
                <a:latin typeface="Times New Roman" pitchFamily="18" charset="0"/>
                <a:ea typeface="宋体" pitchFamily="2" charset="-122"/>
              </a:rPr>
              <a:t>q</a:t>
            </a:r>
          </a:p>
        </p:txBody>
      </p:sp>
      <p:sp>
        <p:nvSpPr>
          <p:cNvPr id="1499158" name="Oval 1046"/>
          <p:cNvSpPr>
            <a:spLocks noChangeArrowheads="1"/>
          </p:cNvSpPr>
          <p:nvPr/>
        </p:nvSpPr>
        <p:spPr bwMode="auto">
          <a:xfrm>
            <a:off x="7315200" y="1752600"/>
            <a:ext cx="1104900" cy="11049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99159" name="Rectangle 1047"/>
          <p:cNvSpPr>
            <a:spLocks noChangeArrowheads="1"/>
          </p:cNvSpPr>
          <p:nvPr/>
        </p:nvSpPr>
        <p:spPr bwMode="auto">
          <a:xfrm>
            <a:off x="7359650" y="250825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b="1" i="1">
                <a:latin typeface="Times New Roman" pitchFamily="18" charset="0"/>
                <a:ea typeface="宋体" pitchFamily="2" charset="-122"/>
              </a:rPr>
              <a:t>p</a:t>
            </a:r>
            <a:r>
              <a:rPr lang="en-US" altLang="zh-CN" b="1" i="1" baseline="-25000">
                <a:latin typeface="Times New Roman" pitchFamily="18" charset="0"/>
                <a:ea typeface="宋体" pitchFamily="2" charset="-122"/>
              </a:rPr>
              <a:t>1</a:t>
            </a:r>
          </a:p>
        </p:txBody>
      </p:sp>
      <p:sp>
        <p:nvSpPr>
          <p:cNvPr id="1499160" name="Line 1048"/>
          <p:cNvSpPr>
            <a:spLocks noChangeShapeType="1"/>
          </p:cNvSpPr>
          <p:nvPr/>
        </p:nvSpPr>
        <p:spPr bwMode="auto">
          <a:xfrm flipH="1">
            <a:off x="7435850" y="2355850"/>
            <a:ext cx="4572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499161" name="Group 1049"/>
          <p:cNvGrpSpPr>
            <a:grpSpLocks/>
          </p:cNvGrpSpPr>
          <p:nvPr/>
        </p:nvGrpSpPr>
        <p:grpSpPr bwMode="auto">
          <a:xfrm>
            <a:off x="5867400" y="4343400"/>
            <a:ext cx="2863850" cy="1638300"/>
            <a:chOff x="3428" y="2740"/>
            <a:chExt cx="1804" cy="1032"/>
          </a:xfrm>
        </p:grpSpPr>
        <p:sp>
          <p:nvSpPr>
            <p:cNvPr id="1499162" name="Oval 1050"/>
            <p:cNvSpPr>
              <a:spLocks noChangeArrowheads="1"/>
            </p:cNvSpPr>
            <p:nvPr/>
          </p:nvSpPr>
          <p:spPr bwMode="auto">
            <a:xfrm>
              <a:off x="3914" y="3089"/>
              <a:ext cx="63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63" name="Oval 1051"/>
            <p:cNvSpPr>
              <a:spLocks noChangeArrowheads="1"/>
            </p:cNvSpPr>
            <p:nvPr/>
          </p:nvSpPr>
          <p:spPr bwMode="auto">
            <a:xfrm>
              <a:off x="4126" y="3159"/>
              <a:ext cx="62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64" name="Oval 1052"/>
            <p:cNvSpPr>
              <a:spLocks noChangeArrowheads="1"/>
            </p:cNvSpPr>
            <p:nvPr/>
          </p:nvSpPr>
          <p:spPr bwMode="auto">
            <a:xfrm>
              <a:off x="4126" y="2948"/>
              <a:ext cx="62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65" name="Oval 1053"/>
            <p:cNvSpPr>
              <a:spLocks noChangeArrowheads="1"/>
            </p:cNvSpPr>
            <p:nvPr/>
          </p:nvSpPr>
          <p:spPr bwMode="auto">
            <a:xfrm>
              <a:off x="3844" y="3370"/>
              <a:ext cx="62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66" name="Oval 1054"/>
            <p:cNvSpPr>
              <a:spLocks noChangeArrowheads="1"/>
            </p:cNvSpPr>
            <p:nvPr/>
          </p:nvSpPr>
          <p:spPr bwMode="auto">
            <a:xfrm>
              <a:off x="3985" y="3230"/>
              <a:ext cx="62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67" name="Oval 1055"/>
            <p:cNvSpPr>
              <a:spLocks noChangeArrowheads="1"/>
            </p:cNvSpPr>
            <p:nvPr/>
          </p:nvSpPr>
          <p:spPr bwMode="auto">
            <a:xfrm>
              <a:off x="4129" y="3514"/>
              <a:ext cx="62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68" name="Oval 1056"/>
            <p:cNvSpPr>
              <a:spLocks noChangeArrowheads="1"/>
            </p:cNvSpPr>
            <p:nvPr/>
          </p:nvSpPr>
          <p:spPr bwMode="auto">
            <a:xfrm>
              <a:off x="4196" y="3297"/>
              <a:ext cx="62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69" name="Oval 1057"/>
            <p:cNvSpPr>
              <a:spLocks noChangeArrowheads="1"/>
            </p:cNvSpPr>
            <p:nvPr/>
          </p:nvSpPr>
          <p:spPr bwMode="auto">
            <a:xfrm>
              <a:off x="4196" y="2807"/>
              <a:ext cx="62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70" name="Oval 1058"/>
            <p:cNvSpPr>
              <a:spLocks noChangeArrowheads="1"/>
            </p:cNvSpPr>
            <p:nvPr/>
          </p:nvSpPr>
          <p:spPr bwMode="auto">
            <a:xfrm>
              <a:off x="4618" y="3230"/>
              <a:ext cx="63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71" name="Oval 1059"/>
            <p:cNvSpPr>
              <a:spLocks noChangeArrowheads="1"/>
            </p:cNvSpPr>
            <p:nvPr/>
          </p:nvSpPr>
          <p:spPr bwMode="auto">
            <a:xfrm>
              <a:off x="4478" y="2948"/>
              <a:ext cx="62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72" name="Oval 1060"/>
            <p:cNvSpPr>
              <a:spLocks noChangeArrowheads="1"/>
            </p:cNvSpPr>
            <p:nvPr/>
          </p:nvSpPr>
          <p:spPr bwMode="auto">
            <a:xfrm>
              <a:off x="3694" y="3252"/>
              <a:ext cx="62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73" name="Oval 1061"/>
            <p:cNvSpPr>
              <a:spLocks noChangeArrowheads="1"/>
            </p:cNvSpPr>
            <p:nvPr/>
          </p:nvSpPr>
          <p:spPr bwMode="auto">
            <a:xfrm>
              <a:off x="4266" y="3159"/>
              <a:ext cx="63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74" name="Oval 1062"/>
            <p:cNvSpPr>
              <a:spLocks noChangeArrowheads="1"/>
            </p:cNvSpPr>
            <p:nvPr/>
          </p:nvSpPr>
          <p:spPr bwMode="auto">
            <a:xfrm>
              <a:off x="4407" y="3370"/>
              <a:ext cx="63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75" name="Oval 1063"/>
            <p:cNvSpPr>
              <a:spLocks noChangeArrowheads="1"/>
            </p:cNvSpPr>
            <p:nvPr/>
          </p:nvSpPr>
          <p:spPr bwMode="auto">
            <a:xfrm>
              <a:off x="4759" y="3441"/>
              <a:ext cx="63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76" name="Rectangle 1064"/>
            <p:cNvSpPr>
              <a:spLocks noChangeArrowheads="1"/>
            </p:cNvSpPr>
            <p:nvPr/>
          </p:nvSpPr>
          <p:spPr bwMode="auto">
            <a:xfrm>
              <a:off x="3504" y="283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latin typeface="Times New Roman" pitchFamily="18" charset="0"/>
                  <a:ea typeface="宋体" pitchFamily="2" charset="-122"/>
                </a:rPr>
                <a:t>p</a:t>
              </a:r>
            </a:p>
          </p:txBody>
        </p:sp>
        <p:sp>
          <p:nvSpPr>
            <p:cNvPr id="1499177" name="Rectangle 1065"/>
            <p:cNvSpPr>
              <a:spLocks noChangeArrowheads="1"/>
            </p:cNvSpPr>
            <p:nvPr/>
          </p:nvSpPr>
          <p:spPr bwMode="auto">
            <a:xfrm>
              <a:off x="4992" y="283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latin typeface="Times New Roman" pitchFamily="18" charset="0"/>
                  <a:ea typeface="宋体" pitchFamily="2" charset="-122"/>
                </a:rPr>
                <a:t>q</a:t>
              </a:r>
            </a:p>
          </p:txBody>
        </p:sp>
        <p:sp>
          <p:nvSpPr>
            <p:cNvPr id="1499178" name="Oval 1066"/>
            <p:cNvSpPr>
              <a:spLocks noChangeArrowheads="1"/>
            </p:cNvSpPr>
            <p:nvPr/>
          </p:nvSpPr>
          <p:spPr bwMode="auto">
            <a:xfrm>
              <a:off x="4858" y="3182"/>
              <a:ext cx="63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79" name="Oval 1067"/>
            <p:cNvSpPr>
              <a:spLocks noChangeArrowheads="1"/>
            </p:cNvSpPr>
            <p:nvPr/>
          </p:nvSpPr>
          <p:spPr bwMode="auto">
            <a:xfrm>
              <a:off x="4506" y="3207"/>
              <a:ext cx="63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80" name="Oval 1068"/>
            <p:cNvSpPr>
              <a:spLocks noChangeArrowheads="1"/>
            </p:cNvSpPr>
            <p:nvPr/>
          </p:nvSpPr>
          <p:spPr bwMode="auto">
            <a:xfrm>
              <a:off x="4647" y="3322"/>
              <a:ext cx="63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81" name="Oval 1069"/>
            <p:cNvSpPr>
              <a:spLocks noChangeArrowheads="1"/>
            </p:cNvSpPr>
            <p:nvPr/>
          </p:nvSpPr>
          <p:spPr bwMode="auto">
            <a:xfrm>
              <a:off x="4954" y="2942"/>
              <a:ext cx="63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82" name="Oval 1070"/>
            <p:cNvSpPr>
              <a:spLocks noChangeArrowheads="1"/>
            </p:cNvSpPr>
            <p:nvPr/>
          </p:nvSpPr>
          <p:spPr bwMode="auto">
            <a:xfrm>
              <a:off x="4602" y="2871"/>
              <a:ext cx="63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83" name="Oval 1071"/>
            <p:cNvSpPr>
              <a:spLocks noChangeArrowheads="1"/>
            </p:cNvSpPr>
            <p:nvPr/>
          </p:nvSpPr>
          <p:spPr bwMode="auto">
            <a:xfrm>
              <a:off x="4791" y="3034"/>
              <a:ext cx="63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84" name="Oval 1072"/>
            <p:cNvSpPr>
              <a:spLocks noChangeArrowheads="1"/>
            </p:cNvSpPr>
            <p:nvPr/>
          </p:nvSpPr>
          <p:spPr bwMode="auto">
            <a:xfrm>
              <a:off x="3524" y="2980"/>
              <a:ext cx="696" cy="69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85" name="Oval 1073"/>
            <p:cNvSpPr>
              <a:spLocks noChangeArrowheads="1"/>
            </p:cNvSpPr>
            <p:nvPr/>
          </p:nvSpPr>
          <p:spPr bwMode="auto">
            <a:xfrm>
              <a:off x="3860" y="3076"/>
              <a:ext cx="696" cy="69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86" name="Oval 1074"/>
            <p:cNvSpPr>
              <a:spLocks noChangeArrowheads="1"/>
            </p:cNvSpPr>
            <p:nvPr/>
          </p:nvSpPr>
          <p:spPr bwMode="auto">
            <a:xfrm>
              <a:off x="4244" y="2980"/>
              <a:ext cx="696" cy="69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87" name="Oval 1075"/>
            <p:cNvSpPr>
              <a:spLocks noChangeArrowheads="1"/>
            </p:cNvSpPr>
            <p:nvPr/>
          </p:nvSpPr>
          <p:spPr bwMode="auto">
            <a:xfrm>
              <a:off x="4484" y="2740"/>
              <a:ext cx="696" cy="69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88" name="Line 1076"/>
            <p:cNvSpPr>
              <a:spLocks noChangeShapeType="1"/>
            </p:cNvSpPr>
            <p:nvPr/>
          </p:nvSpPr>
          <p:spPr bwMode="auto">
            <a:xfrm flipV="1">
              <a:off x="3888" y="3312"/>
              <a:ext cx="288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89" name="Line 1077"/>
            <p:cNvSpPr>
              <a:spLocks noChangeShapeType="1"/>
            </p:cNvSpPr>
            <p:nvPr/>
          </p:nvSpPr>
          <p:spPr bwMode="auto">
            <a:xfrm flipH="1">
              <a:off x="4272" y="3264"/>
              <a:ext cx="240" cy="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90" name="Oval 1078"/>
            <p:cNvSpPr>
              <a:spLocks noChangeArrowheads="1"/>
            </p:cNvSpPr>
            <p:nvPr/>
          </p:nvSpPr>
          <p:spPr bwMode="auto">
            <a:xfrm>
              <a:off x="3818" y="2993"/>
              <a:ext cx="63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91" name="Oval 1079"/>
            <p:cNvSpPr>
              <a:spLocks noChangeArrowheads="1"/>
            </p:cNvSpPr>
            <p:nvPr/>
          </p:nvSpPr>
          <p:spPr bwMode="auto">
            <a:xfrm>
              <a:off x="3694" y="3044"/>
              <a:ext cx="62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92" name="Oval 1080"/>
            <p:cNvSpPr>
              <a:spLocks noChangeArrowheads="1"/>
            </p:cNvSpPr>
            <p:nvPr/>
          </p:nvSpPr>
          <p:spPr bwMode="auto">
            <a:xfrm>
              <a:off x="3860" y="2807"/>
              <a:ext cx="62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93" name="Oval 1081"/>
            <p:cNvSpPr>
              <a:spLocks noChangeArrowheads="1"/>
            </p:cNvSpPr>
            <p:nvPr/>
          </p:nvSpPr>
          <p:spPr bwMode="auto">
            <a:xfrm>
              <a:off x="3428" y="2740"/>
              <a:ext cx="696" cy="69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94" name="Line 1082"/>
            <p:cNvSpPr>
              <a:spLocks noChangeShapeType="1"/>
            </p:cNvSpPr>
            <p:nvPr/>
          </p:nvSpPr>
          <p:spPr bwMode="auto">
            <a:xfrm>
              <a:off x="3744" y="3072"/>
              <a:ext cx="96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95" name="Line 1083"/>
            <p:cNvSpPr>
              <a:spLocks noChangeShapeType="1"/>
            </p:cNvSpPr>
            <p:nvPr/>
          </p:nvSpPr>
          <p:spPr bwMode="auto">
            <a:xfrm flipH="1">
              <a:off x="4560" y="3072"/>
              <a:ext cx="24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9196" name="Rectangle 1084"/>
            <p:cNvSpPr>
              <a:spLocks noChangeArrowheads="1"/>
            </p:cNvSpPr>
            <p:nvPr/>
          </p:nvSpPr>
          <p:spPr bwMode="auto">
            <a:xfrm>
              <a:off x="4176" y="331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latin typeface="Times New Roman" pitchFamily="18" charset="0"/>
                  <a:ea typeface="宋体" pitchFamily="2" charset="-122"/>
                </a:rPr>
                <a:t>o</a:t>
              </a:r>
            </a:p>
          </p:txBody>
        </p:sp>
      </p:grpSp>
      <p:sp>
        <p:nvSpPr>
          <p:cNvPr id="1499197" name="Line 1085"/>
          <p:cNvSpPr>
            <a:spLocks noChangeShapeType="1"/>
          </p:cNvSpPr>
          <p:nvPr/>
        </p:nvSpPr>
        <p:spPr bwMode="auto">
          <a:xfrm flipV="1">
            <a:off x="6934200" y="2667000"/>
            <a:ext cx="4572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28194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DBSCAN Algorithm</a:t>
            </a:r>
          </a:p>
        </p:txBody>
      </p:sp>
      <p:sp>
        <p:nvSpPr>
          <p:cNvPr id="1651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Label points as </a:t>
            </a:r>
            <a:r>
              <a:rPr lang="en-US" dirty="0">
                <a:solidFill>
                  <a:srgbClr val="92D050"/>
                </a:solidFill>
              </a:rPr>
              <a:t>core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border </a:t>
            </a:r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noise</a:t>
            </a:r>
            <a:endParaRPr lang="en-US" dirty="0"/>
          </a:p>
          <a:p>
            <a:r>
              <a:rPr lang="en-US" dirty="0"/>
              <a:t>Eliminate </a:t>
            </a:r>
            <a:r>
              <a:rPr lang="en-US" dirty="0">
                <a:solidFill>
                  <a:srgbClr val="FF0000"/>
                </a:solidFill>
              </a:rPr>
              <a:t>noise</a:t>
            </a:r>
            <a:r>
              <a:rPr lang="en-US" dirty="0"/>
              <a:t> points</a:t>
            </a:r>
          </a:p>
          <a:p>
            <a:r>
              <a:rPr lang="en-US" dirty="0"/>
              <a:t>For every </a:t>
            </a:r>
            <a:r>
              <a:rPr lang="en-US" dirty="0">
                <a:solidFill>
                  <a:srgbClr val="92D050"/>
                </a:solidFill>
              </a:rPr>
              <a:t>core</a:t>
            </a:r>
            <a:r>
              <a:rPr lang="en-US" dirty="0"/>
              <a:t> point </a:t>
            </a:r>
            <a:r>
              <a:rPr lang="en-US" dirty="0">
                <a:solidFill>
                  <a:srgbClr val="92D050"/>
                </a:solidFill>
              </a:rPr>
              <a:t>p</a:t>
            </a:r>
            <a:r>
              <a:rPr lang="en-US" dirty="0"/>
              <a:t> that has not been assigned to a cluster</a:t>
            </a:r>
          </a:p>
          <a:p>
            <a:pPr lvl="1"/>
            <a:r>
              <a:rPr lang="en-US" sz="2800" dirty="0"/>
              <a:t>Create a new cluster with the point </a:t>
            </a:r>
            <a:r>
              <a:rPr lang="en-US" sz="2800" dirty="0">
                <a:solidFill>
                  <a:srgbClr val="92D050"/>
                </a:solidFill>
              </a:rPr>
              <a:t>p</a:t>
            </a:r>
            <a:r>
              <a:rPr lang="en-US" sz="2800" dirty="0"/>
              <a:t> and all the points that are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density-connected</a:t>
            </a:r>
            <a:r>
              <a:rPr lang="en-US" sz="2800" dirty="0"/>
              <a:t> to </a:t>
            </a:r>
            <a:r>
              <a:rPr lang="en-US" sz="2800" dirty="0">
                <a:solidFill>
                  <a:srgbClr val="92D050"/>
                </a:solidFill>
              </a:rPr>
              <a:t>p</a:t>
            </a:r>
            <a:r>
              <a:rPr lang="en-US" sz="2800" dirty="0"/>
              <a:t>.</a:t>
            </a:r>
          </a:p>
          <a:p>
            <a:r>
              <a:rPr lang="en-US" dirty="0"/>
              <a:t>Assign </a:t>
            </a:r>
            <a:r>
              <a:rPr lang="en-US" dirty="0">
                <a:solidFill>
                  <a:srgbClr val="0070C0"/>
                </a:solidFill>
              </a:rPr>
              <a:t>border</a:t>
            </a:r>
            <a:r>
              <a:rPr lang="en-US" dirty="0"/>
              <a:t> points to the cluster of  the closest core point.</a:t>
            </a:r>
          </a:p>
        </p:txBody>
      </p:sp>
    </p:spTree>
    <p:extLst>
      <p:ext uri="{BB962C8B-B14F-4D97-AF65-F5344CB8AC3E}">
        <p14:creationId xmlns:p14="http://schemas.microsoft.com/office/powerpoint/2010/main" val="331418565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8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09600"/>
            <a:ext cx="82804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DBSCAN: Determining </a:t>
            </a:r>
            <a:r>
              <a:rPr lang="en-US" dirty="0" err="1"/>
              <a:t>Eps</a:t>
            </a:r>
            <a:r>
              <a:rPr lang="en-US" dirty="0"/>
              <a:t> and </a:t>
            </a:r>
            <a:r>
              <a:rPr lang="en-US" dirty="0" err="1"/>
              <a:t>MinPts</a:t>
            </a:r>
            <a:endParaRPr lang="en-US" dirty="0"/>
          </a:p>
        </p:txBody>
      </p:sp>
      <p:sp>
        <p:nvSpPr>
          <p:cNvPr id="1655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8001000" cy="2209800"/>
          </a:xfrm>
          <a:noFill/>
          <a:ln/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Idea is that for points in a cluster, their </a:t>
            </a:r>
            <a:r>
              <a:rPr lang="en-US" sz="2400" dirty="0" err="1">
                <a:solidFill>
                  <a:srgbClr val="0070C0"/>
                </a:solidFill>
              </a:rPr>
              <a:t>k</a:t>
            </a:r>
            <a:r>
              <a:rPr lang="en-US" sz="2400" baseline="30000" dirty="0" err="1">
                <a:solidFill>
                  <a:srgbClr val="0070C0"/>
                </a:solidFill>
              </a:rPr>
              <a:t>th</a:t>
            </a:r>
            <a:r>
              <a:rPr lang="en-US" sz="2400" dirty="0"/>
              <a:t> nearest neighbors are at roughly the same distance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Noise points have the </a:t>
            </a:r>
            <a:r>
              <a:rPr lang="en-US" sz="2400" dirty="0" err="1">
                <a:solidFill>
                  <a:srgbClr val="0070C0"/>
                </a:solidFill>
              </a:rPr>
              <a:t>k</a:t>
            </a:r>
            <a:r>
              <a:rPr lang="en-US" sz="2400" baseline="30000" dirty="0" err="1">
                <a:solidFill>
                  <a:srgbClr val="0070C0"/>
                </a:solidFill>
              </a:rPr>
              <a:t>th</a:t>
            </a:r>
            <a:r>
              <a:rPr lang="en-US" sz="2400" dirty="0"/>
              <a:t> nearest neighbor at farther distance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So, plot sorted distance of every point to its </a:t>
            </a:r>
            <a:r>
              <a:rPr lang="en-US" sz="2400" dirty="0" err="1">
                <a:solidFill>
                  <a:srgbClr val="0070C0"/>
                </a:solidFill>
              </a:rPr>
              <a:t>k</a:t>
            </a:r>
            <a:r>
              <a:rPr lang="en-US" sz="2400" baseline="30000" dirty="0" err="1">
                <a:solidFill>
                  <a:srgbClr val="0070C0"/>
                </a:solidFill>
              </a:rPr>
              <a:t>th</a:t>
            </a:r>
            <a:r>
              <a:rPr lang="en-US" sz="2400" dirty="0"/>
              <a:t> nearest neighbor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Find the distance </a:t>
            </a:r>
            <a:r>
              <a:rPr lang="en-US" sz="2400" dirty="0">
                <a:solidFill>
                  <a:srgbClr val="0070C0"/>
                </a:solidFill>
              </a:rPr>
              <a:t>d</a:t>
            </a:r>
            <a:r>
              <a:rPr lang="en-US" sz="2400" dirty="0"/>
              <a:t> where there is a “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knee</a:t>
            </a:r>
            <a:r>
              <a:rPr lang="en-US" sz="2400" dirty="0"/>
              <a:t>” in the curve</a:t>
            </a:r>
          </a:p>
          <a:p>
            <a:pPr lvl="1">
              <a:lnSpc>
                <a:spcPct val="90000"/>
              </a:lnSpc>
            </a:pPr>
            <a:r>
              <a:rPr lang="en-US" sz="2000" dirty="0" err="1">
                <a:solidFill>
                  <a:srgbClr val="0070C0"/>
                </a:solidFill>
              </a:rPr>
              <a:t>Eps</a:t>
            </a:r>
            <a:r>
              <a:rPr lang="en-US" sz="2000" dirty="0">
                <a:solidFill>
                  <a:srgbClr val="0070C0"/>
                </a:solidFill>
              </a:rPr>
              <a:t> = d, </a:t>
            </a:r>
            <a:r>
              <a:rPr lang="en-US" sz="2000" dirty="0" err="1">
                <a:solidFill>
                  <a:srgbClr val="0070C0"/>
                </a:solidFill>
              </a:rPr>
              <a:t>MinPts</a:t>
            </a:r>
            <a:r>
              <a:rPr lang="en-US" sz="2000" dirty="0">
                <a:solidFill>
                  <a:srgbClr val="0070C0"/>
                </a:solidFill>
              </a:rPr>
              <a:t> = k</a:t>
            </a:r>
          </a:p>
          <a:p>
            <a:pPr lvl="1">
              <a:lnSpc>
                <a:spcPct val="90000"/>
              </a:lnSpc>
            </a:pPr>
            <a:endParaRPr lang="en-US" dirty="0"/>
          </a:p>
        </p:txBody>
      </p:sp>
      <p:pic>
        <p:nvPicPr>
          <p:cNvPr id="165581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0078" y="3810000"/>
            <a:ext cx="3656013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Straight Arrow Connector 2"/>
          <p:cNvCxnSpPr/>
          <p:nvPr/>
        </p:nvCxnSpPr>
        <p:spPr>
          <a:xfrm flipH="1">
            <a:off x="5486400" y="5867400"/>
            <a:ext cx="17526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239000" y="5638799"/>
            <a:ext cx="13067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Eps</a:t>
            </a:r>
            <a:r>
              <a:rPr lang="en-US" dirty="0"/>
              <a:t> ~ 7-10</a:t>
            </a:r>
          </a:p>
          <a:p>
            <a:r>
              <a:rPr lang="en-US" dirty="0" err="1"/>
              <a:t>MinPts</a:t>
            </a:r>
            <a:r>
              <a:rPr lang="en-US" dirty="0"/>
              <a:t> = 4</a:t>
            </a:r>
          </a:p>
        </p:txBody>
      </p:sp>
    </p:spTree>
    <p:extLst>
      <p:ext uri="{BB962C8B-B14F-4D97-AF65-F5344CB8AC3E}">
        <p14:creationId xmlns:p14="http://schemas.microsoft.com/office/powerpoint/2010/main" val="3230654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762" name="Rectangle 2050"/>
          <p:cNvSpPr>
            <a:spLocks noGrp="1" noChangeArrowheads="1"/>
          </p:cNvSpPr>
          <p:nvPr>
            <p:ph type="title"/>
          </p:nvPr>
        </p:nvSpPr>
        <p:spPr>
          <a:xfrm>
            <a:off x="457200" y="500760"/>
            <a:ext cx="8280400" cy="870840"/>
          </a:xfrm>
        </p:spPr>
        <p:txBody>
          <a:bodyPr>
            <a:noAutofit/>
          </a:bodyPr>
          <a:lstStyle/>
          <a:p>
            <a:r>
              <a:rPr lang="en-US" dirty="0"/>
              <a:t>When DBSCAN Works Well</a:t>
            </a:r>
          </a:p>
        </p:txBody>
      </p:sp>
      <p:pic>
        <p:nvPicPr>
          <p:cNvPr id="1653763" name="Picture 205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63972"/>
            <a:ext cx="4872038" cy="365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53764" name="Text Box 2052"/>
          <p:cNvSpPr txBox="1">
            <a:spLocks noChangeArrowheads="1"/>
          </p:cNvSpPr>
          <p:nvPr/>
        </p:nvSpPr>
        <p:spPr bwMode="auto">
          <a:xfrm>
            <a:off x="979449" y="4768329"/>
            <a:ext cx="2514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/>
              <a:t>Original Points</a:t>
            </a:r>
          </a:p>
        </p:txBody>
      </p:sp>
      <p:grpSp>
        <p:nvGrpSpPr>
          <p:cNvPr id="1653765" name="Group 2053"/>
          <p:cNvGrpSpPr>
            <a:grpSpLocks/>
          </p:cNvGrpSpPr>
          <p:nvPr/>
        </p:nvGrpSpPr>
        <p:grpSpPr bwMode="auto">
          <a:xfrm>
            <a:off x="4271962" y="1446485"/>
            <a:ext cx="4872037" cy="3871912"/>
            <a:chOff x="2691" y="633"/>
            <a:chExt cx="3069" cy="2439"/>
          </a:xfrm>
        </p:grpSpPr>
        <p:pic>
          <p:nvPicPr>
            <p:cNvPr id="1653766" name="Picture 205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1" y="633"/>
              <a:ext cx="3069" cy="23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53767" name="Text Box 2055"/>
            <p:cNvSpPr txBox="1">
              <a:spLocks noChangeArrowheads="1"/>
            </p:cNvSpPr>
            <p:nvPr/>
          </p:nvSpPr>
          <p:spPr bwMode="auto">
            <a:xfrm>
              <a:off x="3312" y="2841"/>
              <a:ext cx="15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 dirty="0"/>
                <a:t>Clusters</a:t>
              </a:r>
            </a:p>
          </p:txBody>
        </p:sp>
      </p:grpSp>
      <p:sp>
        <p:nvSpPr>
          <p:cNvPr id="1653768" name="Text Box 2056"/>
          <p:cNvSpPr txBox="1">
            <a:spLocks noChangeArrowheads="1"/>
          </p:cNvSpPr>
          <p:nvPr/>
        </p:nvSpPr>
        <p:spPr bwMode="auto">
          <a:xfrm>
            <a:off x="607741" y="5638800"/>
            <a:ext cx="6629400" cy="779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sz="1800" dirty="0"/>
              <a:t> Resistant to Noise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1800" dirty="0"/>
              <a:t> Can handle clusters of different shapes and sizes</a:t>
            </a:r>
          </a:p>
        </p:txBody>
      </p:sp>
    </p:spTree>
    <p:extLst>
      <p:ext uri="{BB962C8B-B14F-4D97-AF65-F5344CB8AC3E}">
        <p14:creationId xmlns:p14="http://schemas.microsoft.com/office/powerpoint/2010/main" val="489795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3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3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3768" grpId="0" autoUpdateAnimBg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7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8280400" cy="838200"/>
          </a:xfrm>
        </p:spPr>
        <p:txBody>
          <a:bodyPr>
            <a:normAutofit fontScale="90000"/>
          </a:bodyPr>
          <a:lstStyle/>
          <a:p>
            <a:r>
              <a:rPr lang="en-US" dirty="0"/>
              <a:t>When DBSCAN Does NOT Work Well</a:t>
            </a:r>
          </a:p>
        </p:txBody>
      </p:sp>
      <p:sp>
        <p:nvSpPr>
          <p:cNvPr id="1654787" name="Text Box 3"/>
          <p:cNvSpPr txBox="1">
            <a:spLocks noChangeArrowheads="1"/>
          </p:cNvSpPr>
          <p:nvPr/>
        </p:nvSpPr>
        <p:spPr bwMode="auto">
          <a:xfrm>
            <a:off x="1116013" y="4160220"/>
            <a:ext cx="2514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/>
              <a:t>Original Points</a:t>
            </a:r>
          </a:p>
        </p:txBody>
      </p:sp>
      <p:sp>
        <p:nvSpPr>
          <p:cNvPr id="1654788" name="Rectangle 4"/>
          <p:cNvSpPr>
            <a:spLocks noChangeArrowheads="1"/>
          </p:cNvSpPr>
          <p:nvPr/>
        </p:nvSpPr>
        <p:spPr bwMode="auto">
          <a:xfrm>
            <a:off x="3048000" y="22288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1654789" name="Picture 5" descr="fish_cluster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363" y="1752600"/>
            <a:ext cx="3048000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54790" name="Rectangle 6"/>
          <p:cNvSpPr>
            <a:spLocks noChangeArrowheads="1"/>
          </p:cNvSpPr>
          <p:nvPr/>
        </p:nvSpPr>
        <p:spPr bwMode="auto">
          <a:xfrm>
            <a:off x="3630613" y="27892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1654791" name="Object 7"/>
          <p:cNvGraphicFramePr>
            <a:graphicFrameLocks noChangeAspect="1"/>
          </p:cNvGraphicFramePr>
          <p:nvPr>
            <p:extLst/>
          </p:nvPr>
        </p:nvGraphicFramePr>
        <p:xfrm>
          <a:off x="4648200" y="1416050"/>
          <a:ext cx="3363913" cy="228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0" r:id="rId4" imgW="4686706" imgH="3177815" progId="MSPhotoEd.3">
                  <p:embed/>
                </p:oleObj>
              </mc:Choice>
              <mc:Fallback>
                <p:oleObj r:id="rId4" imgW="4686706" imgH="3177815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1416050"/>
                        <a:ext cx="3363913" cy="2287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4792" name="Rectangle 8"/>
          <p:cNvSpPr>
            <a:spLocks noChangeArrowheads="1"/>
          </p:cNvSpPr>
          <p:nvPr/>
        </p:nvSpPr>
        <p:spPr bwMode="auto">
          <a:xfrm>
            <a:off x="4800600" y="3702050"/>
            <a:ext cx="2514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600" b="0">
                <a:latin typeface="Times New Roman" pitchFamily="18" charset="0"/>
                <a:cs typeface="Times New Roman" pitchFamily="18" charset="0"/>
              </a:rPr>
              <a:t>(MinPts=4, Eps=9.75).</a:t>
            </a:r>
            <a:r>
              <a:rPr lang="en-US" sz="900" b="0">
                <a:latin typeface="Times New Roman" pitchFamily="18" charset="0"/>
              </a:rPr>
              <a:t> </a:t>
            </a:r>
            <a:endParaRPr lang="en-US" sz="2400" b="0">
              <a:latin typeface="Times New Roman" pitchFamily="18" charset="0"/>
            </a:endParaRPr>
          </a:p>
        </p:txBody>
      </p:sp>
      <p:sp>
        <p:nvSpPr>
          <p:cNvPr id="1654793" name="Rectangle 9"/>
          <p:cNvSpPr>
            <a:spLocks noChangeArrowheads="1"/>
          </p:cNvSpPr>
          <p:nvPr/>
        </p:nvSpPr>
        <p:spPr bwMode="auto">
          <a:xfrm>
            <a:off x="3630613" y="27892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1654794" name="Object 10"/>
          <p:cNvGraphicFramePr>
            <a:graphicFrameLocks noChangeAspect="1"/>
          </p:cNvGraphicFramePr>
          <p:nvPr>
            <p:extLst/>
          </p:nvPr>
        </p:nvGraphicFramePr>
        <p:xfrm>
          <a:off x="4724400" y="4083050"/>
          <a:ext cx="3363913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1" r:id="rId6" imgW="4686706" imgH="3177815" progId="MSPhotoEd.3">
                  <p:embed/>
                </p:oleObj>
              </mc:Choice>
              <mc:Fallback>
                <p:oleObj r:id="rId6" imgW="4686706" imgH="3177815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4083050"/>
                        <a:ext cx="3363913" cy="228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4795" name="Rectangle 11"/>
          <p:cNvSpPr>
            <a:spLocks noChangeArrowheads="1"/>
          </p:cNvSpPr>
          <p:nvPr/>
        </p:nvSpPr>
        <p:spPr bwMode="auto">
          <a:xfrm>
            <a:off x="4724400" y="6369050"/>
            <a:ext cx="2514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600" b="0">
                <a:latin typeface="Times New Roman" pitchFamily="18" charset="0"/>
                <a:cs typeface="Times New Roman" pitchFamily="18" charset="0"/>
              </a:rPr>
              <a:t> (MinPts=4, Eps=9.92)</a:t>
            </a:r>
          </a:p>
        </p:txBody>
      </p:sp>
      <p:sp>
        <p:nvSpPr>
          <p:cNvPr id="1654796" name="Text Box 12"/>
          <p:cNvSpPr txBox="1">
            <a:spLocks noChangeArrowheads="1"/>
          </p:cNvSpPr>
          <p:nvPr/>
        </p:nvSpPr>
        <p:spPr bwMode="auto">
          <a:xfrm>
            <a:off x="609600" y="5392738"/>
            <a:ext cx="3505200" cy="779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sz="1800" dirty="0"/>
              <a:t> Varying densities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1800" dirty="0"/>
              <a:t> High-dimensional data</a:t>
            </a:r>
          </a:p>
        </p:txBody>
      </p:sp>
    </p:spTree>
    <p:extLst>
      <p:ext uri="{BB962C8B-B14F-4D97-AF65-F5344CB8AC3E}">
        <p14:creationId xmlns:p14="http://schemas.microsoft.com/office/powerpoint/2010/main" val="3498416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4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4796" grpId="0" autoUpdateAnimBg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0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1038" y="492124"/>
            <a:ext cx="7437437" cy="727075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ea typeface="宋体" pitchFamily="2" charset="-122"/>
              </a:rPr>
              <a:t>DBSCAN: Sensitive to Parameters</a:t>
            </a:r>
            <a:endParaRPr lang="en-US" altLang="zh-CN" sz="3200" dirty="0">
              <a:ea typeface="宋体" pitchFamily="2" charset="-122"/>
            </a:endParaRPr>
          </a:p>
        </p:txBody>
      </p:sp>
      <p:pic>
        <p:nvPicPr>
          <p:cNvPr id="1666051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371600"/>
            <a:ext cx="8305800" cy="3124200"/>
          </a:xfrm>
        </p:spPr>
      </p:pic>
      <p:pic>
        <p:nvPicPr>
          <p:cNvPr id="1666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724400"/>
            <a:ext cx="85344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66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455988"/>
            <a:ext cx="1524000" cy="1192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3553052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PAM</a:t>
            </a:r>
            <a:r>
              <a:rPr lang="en-US" dirty="0"/>
              <a:t>,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CLARANS</a:t>
            </a:r>
            <a:r>
              <a:rPr lang="en-US" dirty="0"/>
              <a:t>: Solutions for the </a:t>
            </a:r>
            <a:r>
              <a:rPr lang="en-US" dirty="0">
                <a:solidFill>
                  <a:srgbClr val="0070C0"/>
                </a:solidFill>
              </a:rPr>
              <a:t>k-</a:t>
            </a:r>
            <a:r>
              <a:rPr lang="en-US" dirty="0" err="1">
                <a:solidFill>
                  <a:srgbClr val="0070C0"/>
                </a:solidFill>
              </a:rPr>
              <a:t>medoids</a:t>
            </a:r>
            <a:r>
              <a:rPr lang="en-US" dirty="0"/>
              <a:t> problem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BIRCH</a:t>
            </a:r>
            <a:r>
              <a:rPr lang="en-US" dirty="0"/>
              <a:t>: Constructs a </a:t>
            </a:r>
            <a:r>
              <a:rPr lang="en-US" dirty="0">
                <a:solidFill>
                  <a:srgbClr val="0070C0"/>
                </a:solidFill>
              </a:rPr>
              <a:t>hierarchical tree </a:t>
            </a:r>
            <a:r>
              <a:rPr lang="en-US" dirty="0"/>
              <a:t>that acts a summary of the data, and then clusters the leaves.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MST</a:t>
            </a:r>
            <a:r>
              <a:rPr lang="en-US" dirty="0"/>
              <a:t>: Clustering using the </a:t>
            </a:r>
            <a:r>
              <a:rPr lang="en-US" dirty="0">
                <a:solidFill>
                  <a:srgbClr val="0070C0"/>
                </a:solidFill>
              </a:rPr>
              <a:t>Minimum Spanning Tree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ROCK</a:t>
            </a:r>
            <a:r>
              <a:rPr lang="en-US" dirty="0"/>
              <a:t>: clustering </a:t>
            </a:r>
            <a:r>
              <a:rPr lang="en-US" dirty="0">
                <a:solidFill>
                  <a:srgbClr val="0070C0"/>
                </a:solidFill>
              </a:rPr>
              <a:t>categorical data </a:t>
            </a:r>
            <a:r>
              <a:rPr lang="en-US" dirty="0"/>
              <a:t>by neighbor and link analysis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LIMBO, COOLCAT</a:t>
            </a:r>
            <a:r>
              <a:rPr lang="en-US" dirty="0"/>
              <a:t>: Clustering </a:t>
            </a:r>
            <a:r>
              <a:rPr lang="en-US" dirty="0">
                <a:solidFill>
                  <a:srgbClr val="0070C0"/>
                </a:solidFill>
              </a:rPr>
              <a:t>categorical data</a:t>
            </a:r>
            <a:r>
              <a:rPr lang="en-US" dirty="0"/>
              <a:t> using </a:t>
            </a:r>
            <a:r>
              <a:rPr lang="en-US" dirty="0">
                <a:solidFill>
                  <a:srgbClr val="0070C0"/>
                </a:solidFill>
              </a:rPr>
              <a:t>information theoretic</a:t>
            </a:r>
            <a:r>
              <a:rPr lang="en-US" dirty="0"/>
              <a:t> tools.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CURE</a:t>
            </a:r>
            <a:r>
              <a:rPr lang="en-US" dirty="0"/>
              <a:t>: </a:t>
            </a:r>
            <a:r>
              <a:rPr lang="en-US" dirty="0">
                <a:solidFill>
                  <a:srgbClr val="0070C0"/>
                </a:solidFill>
              </a:rPr>
              <a:t>Hierarchical</a:t>
            </a:r>
            <a:r>
              <a:rPr lang="en-US" dirty="0"/>
              <a:t> algorithm uses different representation of the cluster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CHAMELEON</a:t>
            </a:r>
            <a:r>
              <a:rPr lang="en-US" dirty="0"/>
              <a:t>: </a:t>
            </a:r>
            <a:r>
              <a:rPr lang="en-US" dirty="0">
                <a:solidFill>
                  <a:srgbClr val="0070C0"/>
                </a:solidFill>
              </a:rPr>
              <a:t>Hierarchical</a:t>
            </a:r>
            <a:r>
              <a:rPr lang="en-US" dirty="0"/>
              <a:t> algorithm uses </a:t>
            </a:r>
            <a:r>
              <a:rPr lang="en-US" dirty="0">
                <a:solidFill>
                  <a:srgbClr val="0070C0"/>
                </a:solidFill>
              </a:rPr>
              <a:t>closeness and interconnectivity</a:t>
            </a:r>
            <a:r>
              <a:rPr lang="en-US" dirty="0"/>
              <a:t> for merging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77810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Evaluation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60460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Evaluation</a:t>
            </a:r>
          </a:p>
        </p:txBody>
      </p:sp>
      <p:sp>
        <p:nvSpPr>
          <p:cNvPr id="1656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400" dirty="0"/>
              <a:t>We need to evaluate the “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goodness</a:t>
            </a:r>
            <a:r>
              <a:rPr lang="en-US" sz="2400" dirty="0"/>
              <a:t>” of the resulting clusters?</a:t>
            </a:r>
          </a:p>
          <a:p>
            <a:pPr>
              <a:lnSpc>
                <a:spcPct val="80000"/>
              </a:lnSpc>
            </a:pPr>
            <a:endParaRPr lang="en-US" sz="2400" dirty="0"/>
          </a:p>
          <a:p>
            <a:pPr>
              <a:lnSpc>
                <a:spcPct val="80000"/>
              </a:lnSpc>
            </a:pPr>
            <a:r>
              <a:rPr lang="en-US" sz="2400" dirty="0"/>
              <a:t>But “</a:t>
            </a:r>
            <a:r>
              <a:rPr lang="en-US" sz="2400" dirty="0">
                <a:solidFill>
                  <a:srgbClr val="0070C0"/>
                </a:solidFill>
              </a:rPr>
              <a:t>clustering lies in the eye of the beholder</a:t>
            </a:r>
            <a:r>
              <a:rPr lang="en-US" sz="2400" dirty="0"/>
              <a:t>”! </a:t>
            </a:r>
          </a:p>
          <a:p>
            <a:pPr>
              <a:lnSpc>
                <a:spcPct val="80000"/>
              </a:lnSpc>
            </a:pPr>
            <a:endParaRPr lang="en-US" sz="2400" dirty="0"/>
          </a:p>
          <a:p>
            <a:pPr>
              <a:lnSpc>
                <a:spcPct val="80000"/>
              </a:lnSpc>
            </a:pPr>
            <a:r>
              <a:rPr lang="en-US" sz="2400" dirty="0"/>
              <a:t>Then why do we want to evaluate them?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To avoid finding patterns in noise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To compare </a:t>
            </a:r>
            <a:r>
              <a:rPr lang="en-US" sz="2000" dirty="0" err="1"/>
              <a:t>clusterings</a:t>
            </a:r>
            <a:r>
              <a:rPr lang="en-US" sz="2000" dirty="0"/>
              <a:t>, or clustering algorithms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To compare against a “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ground truth</a:t>
            </a:r>
            <a:r>
              <a:rPr lang="en-US" sz="20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903878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8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Clusters found in Random Data</a:t>
            </a:r>
          </a:p>
        </p:txBody>
      </p:sp>
      <p:pic>
        <p:nvPicPr>
          <p:cNvPr id="165785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371600"/>
            <a:ext cx="3648075" cy="273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57860" name="Text Box 4"/>
          <p:cNvSpPr txBox="1">
            <a:spLocks noChangeArrowheads="1"/>
          </p:cNvSpPr>
          <p:nvPr/>
        </p:nvSpPr>
        <p:spPr bwMode="auto">
          <a:xfrm>
            <a:off x="152400" y="2286000"/>
            <a:ext cx="1143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Random Points</a:t>
            </a:r>
          </a:p>
        </p:txBody>
      </p:sp>
      <p:grpSp>
        <p:nvGrpSpPr>
          <p:cNvPr id="1657861" name="Group 5"/>
          <p:cNvGrpSpPr>
            <a:grpSpLocks/>
          </p:cNvGrpSpPr>
          <p:nvPr/>
        </p:nvGrpSpPr>
        <p:grpSpPr bwMode="auto">
          <a:xfrm>
            <a:off x="152400" y="4038600"/>
            <a:ext cx="4113213" cy="2743200"/>
            <a:chOff x="96" y="2304"/>
            <a:chExt cx="2591" cy="1728"/>
          </a:xfrm>
        </p:grpSpPr>
        <p:pic>
          <p:nvPicPr>
            <p:cNvPr id="1657862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" y="2304"/>
              <a:ext cx="2303" cy="17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57863" name="Text Box 7"/>
            <p:cNvSpPr txBox="1">
              <a:spLocks noChangeArrowheads="1"/>
            </p:cNvSpPr>
            <p:nvPr/>
          </p:nvSpPr>
          <p:spPr bwMode="auto">
            <a:xfrm>
              <a:off x="96" y="2640"/>
              <a:ext cx="72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/>
                <a:t>K-means</a:t>
              </a:r>
            </a:p>
          </p:txBody>
        </p:sp>
      </p:grpSp>
      <p:grpSp>
        <p:nvGrpSpPr>
          <p:cNvPr id="1657864" name="Group 8"/>
          <p:cNvGrpSpPr>
            <a:grpSpLocks/>
          </p:cNvGrpSpPr>
          <p:nvPr/>
        </p:nvGrpSpPr>
        <p:grpSpPr bwMode="auto">
          <a:xfrm>
            <a:off x="4116388" y="1371600"/>
            <a:ext cx="4494212" cy="2743200"/>
            <a:chOff x="2593" y="624"/>
            <a:chExt cx="2831" cy="1728"/>
          </a:xfrm>
        </p:grpSpPr>
        <p:pic>
          <p:nvPicPr>
            <p:cNvPr id="1657865" name="Picture 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3" y="624"/>
              <a:ext cx="2303" cy="17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57866" name="Text Box 10"/>
            <p:cNvSpPr txBox="1">
              <a:spLocks noChangeArrowheads="1"/>
            </p:cNvSpPr>
            <p:nvPr/>
          </p:nvSpPr>
          <p:spPr bwMode="auto">
            <a:xfrm>
              <a:off x="4704" y="1200"/>
              <a:ext cx="72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/>
                <a:t>DBSCAN</a:t>
              </a:r>
            </a:p>
          </p:txBody>
        </p:sp>
      </p:grpSp>
      <p:grpSp>
        <p:nvGrpSpPr>
          <p:cNvPr id="1657867" name="Group 11"/>
          <p:cNvGrpSpPr>
            <a:grpSpLocks/>
          </p:cNvGrpSpPr>
          <p:nvPr/>
        </p:nvGrpSpPr>
        <p:grpSpPr bwMode="auto">
          <a:xfrm>
            <a:off x="4116388" y="4038600"/>
            <a:ext cx="4799012" cy="2743200"/>
            <a:chOff x="2593" y="2304"/>
            <a:chExt cx="3023" cy="1728"/>
          </a:xfrm>
        </p:grpSpPr>
        <p:pic>
          <p:nvPicPr>
            <p:cNvPr id="1657868" name="Picture 1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3" y="2304"/>
              <a:ext cx="2303" cy="17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57869" name="Text Box 13"/>
            <p:cNvSpPr txBox="1">
              <a:spLocks noChangeArrowheads="1"/>
            </p:cNvSpPr>
            <p:nvPr/>
          </p:nvSpPr>
          <p:spPr bwMode="auto">
            <a:xfrm>
              <a:off x="4800" y="2640"/>
              <a:ext cx="816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/>
                <a:t>Complete Link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0853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7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7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7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8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458200" cy="5257800"/>
          </a:xfrm>
        </p:spPr>
        <p:txBody>
          <a:bodyPr/>
          <a:lstStyle/>
          <a:p>
            <a:pPr marL="533400" indent="-533400">
              <a:buSzTx/>
              <a:buFont typeface="Monotype Sorts" pitchFamily="2" charset="2"/>
              <a:buAutoNum type="arabicPeriod"/>
            </a:pPr>
            <a:r>
              <a:rPr lang="en-US" sz="2000" dirty="0"/>
              <a:t>Determining the</a:t>
            </a:r>
            <a:r>
              <a:rPr lang="en-US" sz="2000" dirty="0">
                <a:solidFill>
                  <a:srgbClr val="FF990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</a:rPr>
              <a:t>clustering tendency</a:t>
            </a:r>
            <a:r>
              <a:rPr lang="en-US" sz="2000" dirty="0"/>
              <a:t> of a set of data, i.e., distinguishing whether non-random structure actually exists in the data. </a:t>
            </a:r>
          </a:p>
          <a:p>
            <a:pPr marL="533400" indent="-533400">
              <a:buSzTx/>
              <a:buFont typeface="Monotype Sorts" pitchFamily="2" charset="2"/>
              <a:buAutoNum type="arabicPeriod"/>
            </a:pPr>
            <a:r>
              <a:rPr lang="en-US" sz="2000" dirty="0"/>
              <a:t>Comparing the results of a cluster analysis to externally known results, e.g., to externally given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class labels</a:t>
            </a:r>
            <a:r>
              <a:rPr lang="en-US" sz="2000" dirty="0"/>
              <a:t>.</a:t>
            </a:r>
          </a:p>
          <a:p>
            <a:pPr marL="533400" indent="-533400">
              <a:buSzTx/>
              <a:buFont typeface="Monotype Sorts" pitchFamily="2" charset="2"/>
              <a:buAutoNum type="arabicPeriod"/>
            </a:pPr>
            <a:r>
              <a:rPr lang="en-US" sz="2000" dirty="0"/>
              <a:t>Evaluating how well the results of a cluster analysis fit the data </a:t>
            </a:r>
            <a:r>
              <a:rPr lang="en-US" sz="2000" i="1" dirty="0"/>
              <a:t>without</a:t>
            </a:r>
            <a:r>
              <a:rPr lang="en-US" sz="2000" dirty="0"/>
              <a:t> reference to external information. </a:t>
            </a:r>
          </a:p>
          <a:p>
            <a:pPr marL="990600" lvl="1" indent="-533400">
              <a:buSzTx/>
              <a:buFont typeface="Arial" charset="0"/>
              <a:buNone/>
            </a:pPr>
            <a:r>
              <a:rPr lang="en-US" sz="1800" dirty="0"/>
              <a:t>	- Use only the data</a:t>
            </a:r>
          </a:p>
          <a:p>
            <a:pPr marL="533400" indent="-533400">
              <a:buSzTx/>
              <a:buFont typeface="Monotype Sorts" pitchFamily="2" charset="2"/>
              <a:buAutoNum type="arabicPeriod"/>
            </a:pPr>
            <a:r>
              <a:rPr lang="en-US" sz="2000" dirty="0"/>
              <a:t>Comparing the results of two different sets of cluster analyses to determine which is better.</a:t>
            </a:r>
          </a:p>
          <a:p>
            <a:pPr marL="533400" indent="-533400">
              <a:buSzTx/>
              <a:buFont typeface="Monotype Sorts" pitchFamily="2" charset="2"/>
              <a:buAutoNum type="arabicPeriod"/>
            </a:pPr>
            <a:r>
              <a:rPr lang="en-US" sz="2000" dirty="0"/>
              <a:t>Determining the </a:t>
            </a:r>
            <a:r>
              <a:rPr lang="en-US" sz="2000" dirty="0">
                <a:solidFill>
                  <a:srgbClr val="0070C0"/>
                </a:solidFill>
              </a:rPr>
              <a:t>‘correct’ number of clusters</a:t>
            </a:r>
            <a:r>
              <a:rPr lang="en-US" sz="2000" dirty="0"/>
              <a:t>.</a:t>
            </a:r>
          </a:p>
          <a:p>
            <a:pPr marL="533400" indent="-533400"/>
            <a:endParaRPr lang="en-US" sz="2000" dirty="0"/>
          </a:p>
          <a:p>
            <a:pPr marL="533400" indent="-533400">
              <a:buFont typeface="Monotype Sorts" pitchFamily="2" charset="2"/>
              <a:buNone/>
            </a:pPr>
            <a:r>
              <a:rPr lang="en-US" sz="2400" dirty="0"/>
              <a:t>	</a:t>
            </a:r>
            <a:r>
              <a:rPr lang="en-US" sz="2000" dirty="0"/>
              <a:t>For 2, 3, and 4, we can further distinguish whether we want to evaluate the entire clustering or just individual clusters. </a:t>
            </a:r>
          </a:p>
          <a:p>
            <a:pPr marL="533400" indent="-533400"/>
            <a:endParaRPr lang="en-US" sz="2000" dirty="0"/>
          </a:p>
        </p:txBody>
      </p:sp>
      <p:sp>
        <p:nvSpPr>
          <p:cNvPr id="1658883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8229600" cy="990600"/>
          </a:xfrm>
        </p:spPr>
        <p:txBody>
          <a:bodyPr>
            <a:normAutofit/>
          </a:bodyPr>
          <a:lstStyle/>
          <a:p>
            <a:r>
              <a:rPr lang="en-US" dirty="0"/>
              <a:t>Different Aspects of Cluster Validation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108535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88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88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88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88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88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88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88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882" grpId="0" build="p" autoUpdateAnimBg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9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458200" cy="5334000"/>
          </a:xfrm>
        </p:spPr>
        <p:txBody>
          <a:bodyPr/>
          <a:lstStyle/>
          <a:p>
            <a:pPr marL="342900" indent="-342900"/>
            <a:r>
              <a:rPr lang="en-US" sz="2200" dirty="0"/>
              <a:t>Numerical measures that are applied to judge various aspects of cluster validity, are classified into the following three types.</a:t>
            </a:r>
          </a:p>
          <a:p>
            <a:pPr marL="742950" lvl="1" indent="-285750"/>
            <a:r>
              <a:rPr lang="en-US" sz="2000" dirty="0">
                <a:solidFill>
                  <a:srgbClr val="FF0000"/>
                </a:solidFill>
              </a:rPr>
              <a:t>External Index:</a:t>
            </a:r>
            <a:r>
              <a:rPr lang="en-US" sz="2000" dirty="0"/>
              <a:t> Used to measure the extent to which cluster labels match </a:t>
            </a:r>
            <a:r>
              <a:rPr lang="en-US" sz="2000" dirty="0">
                <a:solidFill>
                  <a:srgbClr val="00B0F0"/>
                </a:solidFill>
              </a:rPr>
              <a:t>externally supplied class labels</a:t>
            </a:r>
            <a:r>
              <a:rPr lang="en-US" sz="2000" dirty="0"/>
              <a:t>.</a:t>
            </a:r>
          </a:p>
          <a:p>
            <a:pPr marL="1143000" lvl="2" indent="-228600">
              <a:lnSpc>
                <a:spcPct val="80000"/>
              </a:lnSpc>
            </a:pPr>
            <a:r>
              <a:rPr lang="en-US" sz="1600" dirty="0"/>
              <a:t>E.g., entropy, precision, recall</a:t>
            </a:r>
          </a:p>
          <a:p>
            <a:pPr marL="742950" lvl="1" indent="-285750"/>
            <a:r>
              <a:rPr lang="en-US" sz="2000" dirty="0">
                <a:solidFill>
                  <a:srgbClr val="FF0000"/>
                </a:solidFill>
              </a:rPr>
              <a:t>Internal Index:</a:t>
            </a:r>
            <a:r>
              <a:rPr lang="en-US" sz="2000" dirty="0"/>
              <a:t>  Used to measure the goodness of a clustering structure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without</a:t>
            </a:r>
            <a:r>
              <a:rPr lang="en-US" sz="2000" dirty="0"/>
              <a:t> reference to external information. </a:t>
            </a:r>
          </a:p>
          <a:p>
            <a:pPr marL="1143000" lvl="2" indent="-228600">
              <a:lnSpc>
                <a:spcPct val="80000"/>
              </a:lnSpc>
            </a:pPr>
            <a:r>
              <a:rPr lang="en-US" sz="1600" dirty="0"/>
              <a:t>E.g., Sum of Squared Error (SSE)</a:t>
            </a:r>
          </a:p>
          <a:p>
            <a:pPr marL="742950" lvl="1" indent="-285750"/>
            <a:r>
              <a:rPr lang="en-US" sz="2000" dirty="0">
                <a:solidFill>
                  <a:srgbClr val="FF0000"/>
                </a:solidFill>
              </a:rPr>
              <a:t>Relative Index:</a:t>
            </a:r>
            <a:r>
              <a:rPr lang="en-US" sz="2000" dirty="0"/>
              <a:t> Used to compare two different </a:t>
            </a:r>
            <a:r>
              <a:rPr lang="en-US" sz="2000" dirty="0" err="1"/>
              <a:t>clusterings</a:t>
            </a:r>
            <a:r>
              <a:rPr lang="en-US" sz="2000" dirty="0"/>
              <a:t> or clusters. </a:t>
            </a:r>
          </a:p>
          <a:p>
            <a:pPr marL="1143000" lvl="2" indent="-228600">
              <a:lnSpc>
                <a:spcPct val="80000"/>
              </a:lnSpc>
            </a:pPr>
            <a:r>
              <a:rPr lang="en-US" sz="1600" dirty="0"/>
              <a:t>Often an external or internal index is used for this function, e.g., SSE or entropy</a:t>
            </a:r>
          </a:p>
          <a:p>
            <a:pPr marL="342900" indent="-342900"/>
            <a:r>
              <a:rPr lang="en-US" sz="2200" dirty="0"/>
              <a:t>Sometimes these are referred to as </a:t>
            </a:r>
            <a:r>
              <a:rPr lang="en-US" sz="2200" dirty="0">
                <a:solidFill>
                  <a:schemeClr val="accent6">
                    <a:lumMod val="75000"/>
                  </a:schemeClr>
                </a:solidFill>
              </a:rPr>
              <a:t>criteria </a:t>
            </a:r>
            <a:r>
              <a:rPr lang="en-US" sz="2200" dirty="0"/>
              <a:t>instead of </a:t>
            </a:r>
            <a:r>
              <a:rPr lang="en-US" sz="2200" dirty="0">
                <a:solidFill>
                  <a:srgbClr val="00B0F0"/>
                </a:solidFill>
              </a:rPr>
              <a:t>indices</a:t>
            </a:r>
          </a:p>
          <a:p>
            <a:pPr marL="742950" lvl="1" indent="-285750"/>
            <a:r>
              <a:rPr lang="en-US" sz="1800" dirty="0"/>
              <a:t>However, sometimes criterion is the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general strategy </a:t>
            </a:r>
            <a:r>
              <a:rPr lang="en-US" sz="1800" dirty="0"/>
              <a:t>and index is the </a:t>
            </a:r>
            <a:r>
              <a:rPr lang="en-US" sz="1800" dirty="0">
                <a:solidFill>
                  <a:srgbClr val="00B0F0"/>
                </a:solidFill>
              </a:rPr>
              <a:t>numerical measure </a:t>
            </a:r>
            <a:r>
              <a:rPr lang="en-US" sz="1800" dirty="0"/>
              <a:t>that implements the criterion.</a:t>
            </a:r>
          </a:p>
        </p:txBody>
      </p:sp>
      <p:sp>
        <p:nvSpPr>
          <p:cNvPr id="1659907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90600"/>
          </a:xfrm>
        </p:spPr>
        <p:txBody>
          <a:bodyPr>
            <a:normAutofit/>
          </a:bodyPr>
          <a:lstStyle/>
          <a:p>
            <a:r>
              <a:rPr lang="en-US" dirty="0"/>
              <a:t>Measures of Cluster Validity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43221450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60930" name="Rectangle 2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81000" y="1295400"/>
                <a:ext cx="8458200" cy="5334000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Two matrices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1900" dirty="0">
                    <a:solidFill>
                      <a:schemeClr val="accent6">
                        <a:lumMod val="75000"/>
                      </a:schemeClr>
                    </a:solidFill>
                  </a:rPr>
                  <a:t>Similarity</a:t>
                </a:r>
                <a:r>
                  <a:rPr lang="en-US" sz="1900" dirty="0"/>
                  <a:t> or </a:t>
                </a:r>
                <a:r>
                  <a:rPr lang="en-US" sz="1900" dirty="0">
                    <a:solidFill>
                      <a:srgbClr val="00B0F0"/>
                    </a:solidFill>
                  </a:rPr>
                  <a:t>Distance</a:t>
                </a:r>
                <a:r>
                  <a:rPr lang="en-US" sz="1900" dirty="0"/>
                  <a:t> Matrix</a:t>
                </a:r>
              </a:p>
              <a:p>
                <a:pPr lvl="2">
                  <a:buFont typeface="Wingdings" panose="05000000000000000000" pitchFamily="2" charset="2"/>
                  <a:buChar char="§"/>
                </a:pPr>
                <a:r>
                  <a:rPr lang="en-US" sz="1700" dirty="0"/>
                  <a:t>One row and one column for each data point</a:t>
                </a:r>
              </a:p>
              <a:p>
                <a:pPr lvl="2">
                  <a:buFont typeface="Wingdings" panose="05000000000000000000" pitchFamily="2" charset="2"/>
                  <a:buChar char="§"/>
                </a:pPr>
                <a:r>
                  <a:rPr lang="en-US" sz="1700" dirty="0"/>
                  <a:t>An entry is the similarity or distance of the associated pair of points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1900" dirty="0">
                    <a:solidFill>
                      <a:schemeClr val="accent6">
                        <a:lumMod val="75000"/>
                      </a:schemeClr>
                    </a:solidFill>
                  </a:rPr>
                  <a:t>“Incidence” Matrix</a:t>
                </a:r>
              </a:p>
              <a:p>
                <a:pPr lvl="2">
                  <a:buFont typeface="Wingdings" panose="05000000000000000000" pitchFamily="2" charset="2"/>
                  <a:buChar char="§"/>
                </a:pPr>
                <a:r>
                  <a:rPr lang="en-US" sz="1700" dirty="0"/>
                  <a:t>One row and one column for each data point</a:t>
                </a:r>
              </a:p>
              <a:p>
                <a:pPr lvl="2">
                  <a:buFont typeface="Wingdings" panose="05000000000000000000" pitchFamily="2" charset="2"/>
                  <a:buChar char="§"/>
                </a:pPr>
                <a:r>
                  <a:rPr lang="en-US" sz="1700" dirty="0"/>
                  <a:t>An entry is 1 if the associated pair of points belong to the same cluster</a:t>
                </a:r>
              </a:p>
              <a:p>
                <a:pPr lvl="2">
                  <a:buFont typeface="Wingdings" panose="05000000000000000000" pitchFamily="2" charset="2"/>
                  <a:buChar char="§"/>
                </a:pPr>
                <a:r>
                  <a:rPr lang="en-US" sz="1700" dirty="0"/>
                  <a:t>An entry is 0 if the associated pair of points belongs to different clusters</a:t>
                </a:r>
                <a:endParaRPr lang="en-US" sz="1500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Compute the </a:t>
                </a:r>
                <a:r>
                  <a:rPr lang="en-US" sz="2400" dirty="0">
                    <a:solidFill>
                      <a:srgbClr val="FF0000"/>
                    </a:solidFill>
                  </a:rPr>
                  <a:t>correlation </a:t>
                </a:r>
                <a:r>
                  <a:rPr lang="en-US" sz="2400" dirty="0"/>
                  <a:t>between the two matrices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1900" dirty="0"/>
                  <a:t>Since the matrices are symmetric, only the correlation between </a:t>
                </a:r>
                <a:br>
                  <a:rPr lang="en-US" sz="1900" dirty="0"/>
                </a:br>
                <a:r>
                  <a:rPr lang="en-US" sz="1900" dirty="0"/>
                  <a:t>n(n-1) / 2 entries needs to be calculated.</a:t>
                </a:r>
              </a:p>
              <a:p>
                <a:pPr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00" i="1">
                          <a:latin typeface="Cambria Math" panose="02040503050406030204" pitchFamily="18" charset="0"/>
                        </a:rPr>
                        <m:t>𝐶𝑜𝑟𝑟𝐶𝑜𝑒𝑓𝑓</m:t>
                      </m:r>
                      <m:r>
                        <a:rPr lang="en-US" sz="19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9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9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9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900" i="1"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sz="19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sub>
                              </m:sSub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9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sz="1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9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9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9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9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9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9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900" i="1">
                                                  <a:latin typeface="Cambria Math" panose="02040503050406030204" pitchFamily="18" charset="0"/>
                                                </a:rPr>
                                                <m:t>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900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9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n-US" sz="19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sz="1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9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9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9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9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9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9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900" i="1">
                                                  <a:latin typeface="Cambria Math" panose="02040503050406030204" pitchFamily="18" charset="0"/>
                                                </a:rPr>
                                                <m:t>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900" i="1">
                                                  <a:latin typeface="Cambria Math" panose="02040503050406030204" pitchFamily="18" charset="0"/>
                                                </a:rPr>
                                                <m:t>𝑌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9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en-US" sz="1900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solidFill>
                      <a:srgbClr val="FF0000"/>
                    </a:solidFill>
                  </a:rPr>
                  <a:t>High </a:t>
                </a:r>
                <a:r>
                  <a:rPr lang="en-US" sz="2400" dirty="0"/>
                  <a:t>correlation (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positive</a:t>
                </a:r>
                <a:r>
                  <a:rPr lang="en-US" sz="2400" dirty="0"/>
                  <a:t> for similarity, </a:t>
                </a:r>
                <a:r>
                  <a:rPr lang="en-US" sz="2400" dirty="0">
                    <a:solidFill>
                      <a:srgbClr val="00B0F0"/>
                    </a:solidFill>
                  </a:rPr>
                  <a:t>negative</a:t>
                </a:r>
                <a:r>
                  <a:rPr lang="en-US" sz="2400" dirty="0"/>
                  <a:t> for distance) indicates that points that belong to the same cluster are close to each other. 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Not a good measure for some density or contiguity based clusters.</a:t>
                </a:r>
                <a:endParaRPr lang="en-US" sz="2000" dirty="0"/>
              </a:p>
            </p:txBody>
          </p:sp>
        </mc:Choice>
        <mc:Fallback xmlns="">
          <p:sp>
            <p:nvSpPr>
              <p:cNvPr id="1660930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1000" y="1295400"/>
                <a:ext cx="8458200" cy="5334000"/>
              </a:xfrm>
              <a:blipFill rotWithShape="0">
                <a:blip r:embed="rId2"/>
                <a:stretch>
                  <a:fillRect l="-505" t="-1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60931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229600" cy="990600"/>
          </a:xfrm>
        </p:spPr>
        <p:txBody>
          <a:bodyPr>
            <a:noAutofit/>
          </a:bodyPr>
          <a:lstStyle/>
          <a:p>
            <a:r>
              <a:rPr lang="en-US" sz="3600" dirty="0"/>
              <a:t>Measuring Cluster Validity Via Correlation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091796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0930" grpId="0" build="p" autoUpdateAnimBg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9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Measuring Cluster Validity Via Correlation</a:t>
            </a:r>
          </a:p>
        </p:txBody>
      </p:sp>
      <p:sp>
        <p:nvSpPr>
          <p:cNvPr id="1661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Correlation of incidence and proximity matrices for the K-means clusterings of the following two data sets. </a:t>
            </a:r>
          </a:p>
          <a:p>
            <a:endParaRPr lang="en-US"/>
          </a:p>
        </p:txBody>
      </p:sp>
      <p:pic>
        <p:nvPicPr>
          <p:cNvPr id="16619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88" y="3156857"/>
            <a:ext cx="3656012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6195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8788" y="3124200"/>
            <a:ext cx="3656012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61958" name="Text Box 6"/>
          <p:cNvSpPr txBox="1">
            <a:spLocks noChangeArrowheads="1"/>
          </p:cNvSpPr>
          <p:nvPr/>
        </p:nvSpPr>
        <p:spPr bwMode="auto">
          <a:xfrm>
            <a:off x="1295400" y="5998029"/>
            <a:ext cx="2362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 err="1">
                <a:solidFill>
                  <a:srgbClr val="FF0000"/>
                </a:solidFill>
              </a:rPr>
              <a:t>Corr</a:t>
            </a:r>
            <a:r>
              <a:rPr lang="en-US" sz="2000" b="1" dirty="0">
                <a:solidFill>
                  <a:srgbClr val="FF0000"/>
                </a:solidFill>
              </a:rPr>
              <a:t> = -0.9235</a:t>
            </a:r>
          </a:p>
        </p:txBody>
      </p:sp>
      <p:sp>
        <p:nvSpPr>
          <p:cNvPr id="1661959" name="Text Box 7"/>
          <p:cNvSpPr txBox="1">
            <a:spLocks noChangeArrowheads="1"/>
          </p:cNvSpPr>
          <p:nvPr/>
        </p:nvSpPr>
        <p:spPr bwMode="auto">
          <a:xfrm>
            <a:off x="5030788" y="5943600"/>
            <a:ext cx="2362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 err="1">
                <a:solidFill>
                  <a:srgbClr val="FF0000"/>
                </a:solidFill>
              </a:rPr>
              <a:t>Corr</a:t>
            </a:r>
            <a:r>
              <a:rPr lang="en-US" sz="2000" b="1" dirty="0">
                <a:solidFill>
                  <a:srgbClr val="FF0000"/>
                </a:solidFill>
              </a:rPr>
              <a:t> = -0.5810</a:t>
            </a:r>
          </a:p>
        </p:txBody>
      </p:sp>
    </p:spTree>
    <p:extLst>
      <p:ext uri="{BB962C8B-B14F-4D97-AF65-F5344CB8AC3E}">
        <p14:creationId xmlns:p14="http://schemas.microsoft.com/office/powerpoint/2010/main" val="80014428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97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76922" y="1550020"/>
            <a:ext cx="8458200" cy="5079380"/>
          </a:xfrm>
        </p:spPr>
        <p:txBody>
          <a:bodyPr/>
          <a:lstStyle/>
          <a:p>
            <a:pPr marL="342900" indent="-342900"/>
            <a:r>
              <a:rPr lang="en-US" sz="2600" dirty="0"/>
              <a:t>Order the </a:t>
            </a:r>
            <a:r>
              <a:rPr lang="en-US" sz="2600" dirty="0">
                <a:solidFill>
                  <a:schemeClr val="accent6">
                    <a:lumMod val="75000"/>
                  </a:schemeClr>
                </a:solidFill>
              </a:rPr>
              <a:t>similarity</a:t>
            </a:r>
            <a:r>
              <a:rPr lang="en-US" sz="2600" dirty="0"/>
              <a:t> matrix with respect to cluster labels and inspect visually. </a:t>
            </a:r>
          </a:p>
          <a:p>
            <a:pPr marL="342900" indent="-342900"/>
            <a:endParaRPr lang="en-US" sz="2600" dirty="0"/>
          </a:p>
        </p:txBody>
      </p:sp>
      <p:sp>
        <p:nvSpPr>
          <p:cNvPr id="1662979" name="Rectangle 3"/>
          <p:cNvSpPr>
            <a:spLocks noGrp="1" noChangeArrowheads="1"/>
          </p:cNvSpPr>
          <p:nvPr>
            <p:ph type="title"/>
          </p:nvPr>
        </p:nvSpPr>
        <p:spPr>
          <a:xfrm>
            <a:off x="202310" y="457200"/>
            <a:ext cx="86868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Using Similarity Matrix for Cluster Validation</a:t>
            </a:r>
          </a:p>
        </p:txBody>
      </p:sp>
      <p:pic>
        <p:nvPicPr>
          <p:cNvPr id="166298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922" y="2743200"/>
            <a:ext cx="4268788" cy="3201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6298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0556" y="2514600"/>
            <a:ext cx="4268788" cy="3201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429000" y="5943010"/>
                <a:ext cx="3190361" cy="673069"/>
              </a:xfrm>
              <a:prstGeom prst="rect">
                <a:avLst/>
              </a:prstGeom>
              <a:solidFill>
                <a:srgbClr val="92D050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𝑠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𝑖𝑚</m:t>
                      </m:r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𝑖</m:t>
                      </m:r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𝑗</m:t>
                      </m:r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) = 1−</m:t>
                      </m:r>
                      <m:f>
                        <m:fPr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𝑚𝑖𝑛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𝑚𝑖𝑛</m:t>
                              </m:r>
                            </m:sub>
                          </m:sSub>
                        </m:den>
                      </m:f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5943010"/>
                <a:ext cx="3190361" cy="67306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616633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00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33400"/>
            <a:ext cx="8534400" cy="990600"/>
          </a:xfrm>
        </p:spPr>
        <p:txBody>
          <a:bodyPr>
            <a:noAutofit/>
          </a:bodyPr>
          <a:lstStyle/>
          <a:p>
            <a:r>
              <a:rPr lang="en-US" sz="3600" dirty="0"/>
              <a:t>Using Similarity Matrix for Cluster Validation</a:t>
            </a:r>
          </a:p>
        </p:txBody>
      </p:sp>
      <p:sp>
        <p:nvSpPr>
          <p:cNvPr id="1664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876800"/>
          </a:xfrm>
        </p:spPr>
        <p:txBody>
          <a:bodyPr/>
          <a:lstStyle/>
          <a:p>
            <a:r>
              <a:rPr lang="en-US" dirty="0"/>
              <a:t>Clusters in random data are not so crisp</a:t>
            </a:r>
          </a:p>
          <a:p>
            <a:endParaRPr lang="en-US" dirty="0"/>
          </a:p>
        </p:txBody>
      </p:sp>
      <p:pic>
        <p:nvPicPr>
          <p:cNvPr id="166400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544763"/>
            <a:ext cx="3656013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64005" name="Text Box 5"/>
          <p:cNvSpPr txBox="1">
            <a:spLocks noChangeArrowheads="1"/>
          </p:cNvSpPr>
          <p:nvPr/>
        </p:nvSpPr>
        <p:spPr bwMode="auto">
          <a:xfrm>
            <a:off x="3124200" y="5638800"/>
            <a:ext cx="28956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00" dirty="0"/>
              <a:t>DBSCAN</a:t>
            </a:r>
          </a:p>
        </p:txBody>
      </p:sp>
      <p:pic>
        <p:nvPicPr>
          <p:cNvPr id="166400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6593" y="2544763"/>
            <a:ext cx="3656013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998097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5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88" y="2620963"/>
            <a:ext cx="3656012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65027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533400"/>
            <a:ext cx="8610600" cy="1219200"/>
          </a:xfrm>
        </p:spPr>
        <p:txBody>
          <a:bodyPr>
            <a:noAutofit/>
          </a:bodyPr>
          <a:lstStyle/>
          <a:p>
            <a:r>
              <a:rPr lang="en-US" sz="3600" dirty="0"/>
              <a:t>Using Similarity Matrix for Cluster Validation</a:t>
            </a:r>
          </a:p>
        </p:txBody>
      </p:sp>
      <p:sp>
        <p:nvSpPr>
          <p:cNvPr id="166502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8788" y="1752600"/>
            <a:ext cx="8229600" cy="4876800"/>
          </a:xfrm>
        </p:spPr>
        <p:txBody>
          <a:bodyPr/>
          <a:lstStyle/>
          <a:p>
            <a:r>
              <a:rPr lang="en-US" dirty="0"/>
              <a:t>Clusters in random data are not so crisp</a:t>
            </a:r>
          </a:p>
          <a:p>
            <a:endParaRPr lang="en-US" dirty="0"/>
          </a:p>
        </p:txBody>
      </p:sp>
      <p:sp>
        <p:nvSpPr>
          <p:cNvPr id="1665029" name="Text Box 5"/>
          <p:cNvSpPr txBox="1">
            <a:spLocks noChangeArrowheads="1"/>
          </p:cNvSpPr>
          <p:nvPr/>
        </p:nvSpPr>
        <p:spPr bwMode="auto">
          <a:xfrm>
            <a:off x="3505200" y="5821363"/>
            <a:ext cx="28956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00"/>
              <a:t>K-means</a:t>
            </a:r>
          </a:p>
        </p:txBody>
      </p:sp>
      <p:pic>
        <p:nvPicPr>
          <p:cNvPr id="16650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3588" y="2616200"/>
            <a:ext cx="3656012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725864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0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458200" cy="990600"/>
          </a:xfrm>
        </p:spPr>
        <p:txBody>
          <a:bodyPr>
            <a:noAutofit/>
          </a:bodyPr>
          <a:lstStyle/>
          <a:p>
            <a:r>
              <a:rPr lang="en-US" sz="3600" dirty="0"/>
              <a:t>Using Similarity Matrix for Cluster Validation</a:t>
            </a:r>
          </a:p>
        </p:txBody>
      </p:sp>
      <p:sp>
        <p:nvSpPr>
          <p:cNvPr id="1666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Clusters in random data are not so crisp</a:t>
            </a:r>
          </a:p>
          <a:p>
            <a:endParaRPr lang="en-US"/>
          </a:p>
        </p:txBody>
      </p:sp>
      <p:pic>
        <p:nvPicPr>
          <p:cNvPr id="1666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3588" y="2387600"/>
            <a:ext cx="3656012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66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88" y="2387600"/>
            <a:ext cx="3656012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66054" name="Text Box 6"/>
          <p:cNvSpPr txBox="1">
            <a:spLocks noChangeArrowheads="1"/>
          </p:cNvSpPr>
          <p:nvPr/>
        </p:nvSpPr>
        <p:spPr bwMode="auto">
          <a:xfrm>
            <a:off x="3505200" y="5592763"/>
            <a:ext cx="28956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00"/>
              <a:t>Complete Link</a:t>
            </a:r>
          </a:p>
        </p:txBody>
      </p:sp>
    </p:spTree>
    <p:extLst>
      <p:ext uri="{BB962C8B-B14F-4D97-AF65-F5344CB8AC3E}">
        <p14:creationId xmlns:p14="http://schemas.microsoft.com/office/powerpoint/2010/main" val="357499933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199" y="533400"/>
            <a:ext cx="8526463" cy="990600"/>
          </a:xfrm>
        </p:spPr>
        <p:txBody>
          <a:bodyPr>
            <a:noAutofit/>
          </a:bodyPr>
          <a:lstStyle/>
          <a:p>
            <a:r>
              <a:rPr lang="en-US" sz="3600" dirty="0"/>
              <a:t>Using Similarity Matrix for Cluster Validation</a:t>
            </a:r>
            <a:endParaRPr lang="en-US" sz="4400" dirty="0"/>
          </a:p>
        </p:txBody>
      </p:sp>
      <p:pic>
        <p:nvPicPr>
          <p:cNvPr id="1667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05" t="18518" r="12798" b="20370"/>
          <a:stretch>
            <a:fillRect/>
          </a:stretch>
        </p:blipFill>
        <p:spPr bwMode="auto">
          <a:xfrm>
            <a:off x="228600" y="1981200"/>
            <a:ext cx="4800600" cy="2779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67076" name="Text Box 4"/>
          <p:cNvSpPr txBox="1">
            <a:spLocks noChangeArrowheads="1"/>
          </p:cNvSpPr>
          <p:nvPr/>
        </p:nvSpPr>
        <p:spPr bwMode="auto">
          <a:xfrm>
            <a:off x="3429000" y="4953000"/>
            <a:ext cx="28956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00"/>
              <a:t>DBSCAN</a:t>
            </a:r>
          </a:p>
        </p:txBody>
      </p:sp>
      <p:pic>
        <p:nvPicPr>
          <p:cNvPr id="1667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676400"/>
            <a:ext cx="4259263" cy="3195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57200" y="617220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5524431"/>
            <a:ext cx="8305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Clusters in more complicated figures are not well separated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technique can only be used for small datasets since it requires a quadratic computation</a:t>
            </a:r>
          </a:p>
        </p:txBody>
      </p:sp>
    </p:spTree>
    <p:extLst>
      <p:ext uri="{BB962C8B-B14F-4D97-AF65-F5344CB8AC3E}">
        <p14:creationId xmlns:p14="http://schemas.microsoft.com/office/powerpoint/2010/main" val="90842886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0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458200" cy="5334000"/>
          </a:xfrm>
        </p:spPr>
        <p:txBody>
          <a:bodyPr/>
          <a:lstStyle/>
          <a:p>
            <a:pPr marL="342900" indent="-342900"/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Internal Index</a:t>
            </a:r>
            <a:r>
              <a:rPr lang="en-US" sz="2400" dirty="0"/>
              <a:t>:  Used to measure the goodness of a clustering structure without reference to external information</a:t>
            </a:r>
          </a:p>
          <a:p>
            <a:pPr marL="742950" lvl="1" indent="-285750"/>
            <a:r>
              <a:rPr lang="en-US" sz="2000" dirty="0"/>
              <a:t>Example: SSE</a:t>
            </a:r>
          </a:p>
          <a:p>
            <a:pPr marL="342900" indent="-342900"/>
            <a:r>
              <a:rPr lang="en-US" sz="2400" dirty="0"/>
              <a:t>SSE is good for comparing two </a:t>
            </a:r>
            <a:r>
              <a:rPr lang="en-US" sz="2400" dirty="0" err="1"/>
              <a:t>clusterings</a:t>
            </a:r>
            <a:r>
              <a:rPr lang="en-US" sz="2400" dirty="0"/>
              <a:t> or two clusters (average SSE).</a:t>
            </a:r>
          </a:p>
          <a:p>
            <a:pPr marL="342900" indent="-342900"/>
            <a:r>
              <a:rPr lang="en-US" sz="2400" dirty="0"/>
              <a:t>Can also be used to estimate the number of clusters</a:t>
            </a:r>
          </a:p>
          <a:p>
            <a:pPr marL="342900" indent="-342900">
              <a:buFont typeface="Monotype Sorts" pitchFamily="2" charset="2"/>
              <a:buNone/>
            </a:pPr>
            <a:endParaRPr lang="en-US" sz="2400" dirty="0"/>
          </a:p>
          <a:p>
            <a:pPr marL="342900" indent="-342900"/>
            <a:endParaRPr lang="en-US" sz="2400" dirty="0"/>
          </a:p>
        </p:txBody>
      </p:sp>
      <p:sp>
        <p:nvSpPr>
          <p:cNvPr id="1668099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90600"/>
          </a:xfrm>
        </p:spPr>
        <p:txBody>
          <a:bodyPr/>
          <a:lstStyle/>
          <a:p>
            <a:r>
              <a:rPr lang="en-US" dirty="0"/>
              <a:t>Internal Measures: SSE</a:t>
            </a:r>
          </a:p>
        </p:txBody>
      </p:sp>
      <p:pic>
        <p:nvPicPr>
          <p:cNvPr id="16681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6"/>
          <a:stretch>
            <a:fillRect/>
          </a:stretch>
        </p:blipFill>
        <p:spPr bwMode="auto">
          <a:xfrm>
            <a:off x="4800600" y="4191000"/>
            <a:ext cx="3656012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6810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6" b="5556"/>
          <a:stretch>
            <a:fillRect/>
          </a:stretch>
        </p:blipFill>
        <p:spPr bwMode="auto">
          <a:xfrm>
            <a:off x="839787" y="4267200"/>
            <a:ext cx="3656013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4457003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369741"/>
            <a:ext cx="8458200" cy="5486400"/>
          </a:xfrm>
        </p:spPr>
        <p:txBody>
          <a:bodyPr>
            <a:normAutofit lnSpcReduction="10000"/>
          </a:bodyPr>
          <a:lstStyle/>
          <a:p>
            <a:pPr marL="342900" indent="-342900">
              <a:spcBef>
                <a:spcPct val="0"/>
              </a:spcBef>
            </a:pPr>
            <a:r>
              <a:rPr lang="en-US" dirty="0">
                <a:solidFill>
                  <a:srgbClr val="FF0000"/>
                </a:solidFill>
              </a:rPr>
              <a:t>Cluster Cohesion</a:t>
            </a:r>
            <a:r>
              <a:rPr lang="en-US" dirty="0">
                <a:solidFill>
                  <a:srgbClr val="FF9900"/>
                </a:solidFill>
              </a:rPr>
              <a:t>:</a:t>
            </a:r>
            <a:r>
              <a:rPr lang="en-US" dirty="0"/>
              <a:t> Measures how closely related are objects in a cluster</a:t>
            </a:r>
          </a:p>
          <a:p>
            <a:pPr marL="342900" indent="-342900">
              <a:spcBef>
                <a:spcPct val="0"/>
              </a:spcBef>
            </a:pPr>
            <a:r>
              <a:rPr lang="en-US" dirty="0">
                <a:solidFill>
                  <a:srgbClr val="FF0000"/>
                </a:solidFill>
              </a:rPr>
              <a:t>Cluster Separation</a:t>
            </a:r>
            <a:r>
              <a:rPr lang="en-US" dirty="0"/>
              <a:t>: Measure how distinct or well-separated a cluster is from other clusters</a:t>
            </a:r>
          </a:p>
          <a:p>
            <a:pPr marL="342900" indent="-342900"/>
            <a:r>
              <a:rPr lang="en-US" sz="2400" dirty="0"/>
              <a:t>Example: Squared Error</a:t>
            </a:r>
          </a:p>
          <a:p>
            <a:pPr marL="742950" lvl="1" indent="-285750"/>
            <a:r>
              <a:rPr lang="en-US" sz="2000" dirty="0"/>
              <a:t>Cohesion is measured by the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within cluster sum of squares </a:t>
            </a:r>
            <a:r>
              <a:rPr lang="en-US" sz="2000" dirty="0"/>
              <a:t>(SSE)</a:t>
            </a:r>
          </a:p>
          <a:p>
            <a:pPr marL="742950" lvl="1" indent="-285750"/>
            <a:endParaRPr lang="en-US" sz="2000" dirty="0"/>
          </a:p>
          <a:p>
            <a:pPr marL="742950" lvl="1" indent="-285750"/>
            <a:endParaRPr lang="en-US" sz="2000" dirty="0"/>
          </a:p>
          <a:p>
            <a:pPr marL="742950" lvl="1" indent="-285750"/>
            <a:r>
              <a:rPr lang="en-US" sz="2000" dirty="0"/>
              <a:t>Separation is measured by the </a:t>
            </a:r>
            <a:r>
              <a:rPr lang="en-US" sz="2000" dirty="0">
                <a:solidFill>
                  <a:srgbClr val="0070C0"/>
                </a:solidFill>
              </a:rPr>
              <a:t>between cluster sum of squares</a:t>
            </a:r>
          </a:p>
          <a:p>
            <a:pPr marL="742950" lvl="1" indent="-285750"/>
            <a:endParaRPr lang="en-US" sz="2000" dirty="0"/>
          </a:p>
          <a:p>
            <a:pPr marL="822960" lvl="3" indent="0">
              <a:buNone/>
            </a:pPr>
            <a:endParaRPr lang="en-US" dirty="0"/>
          </a:p>
          <a:p>
            <a:pPr lvl="3"/>
            <a:r>
              <a:rPr lang="en-US" sz="1800" dirty="0"/>
              <a:t>Where </a:t>
            </a:r>
            <a:r>
              <a:rPr lang="en-US" dirty="0"/>
              <a:t>m</a:t>
            </a:r>
            <a:r>
              <a:rPr lang="en-US" baseline="-25000" dirty="0"/>
              <a:t>i</a:t>
            </a:r>
            <a:r>
              <a:rPr lang="en-US" sz="1800" dirty="0"/>
              <a:t> is the size of cluster </a:t>
            </a:r>
            <a:r>
              <a:rPr lang="en-US" sz="1800" dirty="0" err="1"/>
              <a:t>i</a:t>
            </a:r>
            <a:r>
              <a:rPr lang="en-US" sz="1800" dirty="0"/>
              <a:t> , c the overall mean</a:t>
            </a:r>
          </a:p>
          <a:p>
            <a:pPr lvl="3"/>
            <a:endParaRPr lang="en-US" dirty="0"/>
          </a:p>
          <a:p>
            <a:pPr lvl="3"/>
            <a:endParaRPr lang="en-US" sz="1800" dirty="0"/>
          </a:p>
          <a:p>
            <a:r>
              <a:rPr lang="en-US" sz="2800" dirty="0"/>
              <a:t>Interesting observation: WSS+BSS = constant</a:t>
            </a:r>
          </a:p>
          <a:p>
            <a:pPr marL="742950" lvl="1" indent="-285750">
              <a:buFont typeface="Arial" charset="0"/>
              <a:buNone/>
            </a:pPr>
            <a:endParaRPr lang="en-US" sz="2000" dirty="0"/>
          </a:p>
        </p:txBody>
      </p:sp>
      <p:sp>
        <p:nvSpPr>
          <p:cNvPr id="1673219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" y="457200"/>
            <a:ext cx="8915400" cy="990600"/>
          </a:xfrm>
        </p:spPr>
        <p:txBody>
          <a:bodyPr>
            <a:noAutofit/>
          </a:bodyPr>
          <a:lstStyle/>
          <a:p>
            <a:r>
              <a:rPr lang="en-US" sz="3600" dirty="0"/>
              <a:t>Internal Measures: Cohesion and Separation</a:t>
            </a:r>
          </a:p>
        </p:txBody>
      </p:sp>
      <p:graphicFrame>
        <p:nvGraphicFramePr>
          <p:cNvPr id="16732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1367301"/>
              </p:ext>
            </p:extLst>
          </p:nvPr>
        </p:nvGraphicFramePr>
        <p:xfrm>
          <a:off x="1752601" y="3733800"/>
          <a:ext cx="2666999" cy="675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5" name="Εξίσωση" r:id="rId3" imgW="1346040" imgH="368280" progId="Equation.3">
                  <p:embed/>
                </p:oleObj>
              </mc:Choice>
              <mc:Fallback>
                <p:oleObj name="Εξίσωση" r:id="rId3" imgW="134604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1" y="3733800"/>
                        <a:ext cx="2666999" cy="6753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32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7877725"/>
              </p:ext>
            </p:extLst>
          </p:nvPr>
        </p:nvGraphicFramePr>
        <p:xfrm>
          <a:off x="1752600" y="4737371"/>
          <a:ext cx="2514600" cy="6728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6" name="Εξίσωση" r:id="rId5" imgW="1282680" imgH="342720" progId="Equation.3">
                  <p:embed/>
                </p:oleObj>
              </mc:Choice>
              <mc:Fallback>
                <p:oleObj name="Εξίσωση" r:id="rId5" imgW="1282680" imgH="342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737371"/>
                        <a:ext cx="2514600" cy="6728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462817" y="3810000"/>
            <a:ext cx="2681183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We want this to be small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8465" y="4876800"/>
            <a:ext cx="2655535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We want this to be large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5202484"/>
              </p:ext>
            </p:extLst>
          </p:nvPr>
        </p:nvGraphicFramePr>
        <p:xfrm>
          <a:off x="1703388" y="5638800"/>
          <a:ext cx="2613025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7" name="Εξίσωση" r:id="rId7" imgW="1333440" imgH="380880" progId="Equation.3">
                  <p:embed/>
                </p:oleObj>
              </mc:Choice>
              <mc:Fallback>
                <p:oleObj name="Εξίσωση" r:id="rId7" imgW="133344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388" y="5638800"/>
                        <a:ext cx="2613025" cy="74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5617155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2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48457" y="1408113"/>
            <a:ext cx="8458200" cy="5334000"/>
          </a:xfrm>
        </p:spPr>
        <p:txBody>
          <a:bodyPr/>
          <a:lstStyle/>
          <a:p>
            <a:pPr marL="342900" indent="-342900">
              <a:spcBef>
                <a:spcPct val="0"/>
              </a:spcBef>
            </a:pPr>
            <a:r>
              <a:rPr lang="en-US" sz="2200" dirty="0"/>
              <a:t>A proximity graph based approach can also be used for cohesion and separation.</a:t>
            </a:r>
          </a:p>
          <a:p>
            <a:pPr marL="742950" lvl="1" indent="-285750"/>
            <a:r>
              <a:rPr lang="en-US" sz="1800" dirty="0"/>
              <a:t>Cluster cohesion is the sum of the weight of all links within a cluster.</a:t>
            </a:r>
          </a:p>
          <a:p>
            <a:pPr marL="742950" lvl="1" indent="-285750"/>
            <a:r>
              <a:rPr lang="en-US" sz="1800" dirty="0"/>
              <a:t>Cluster separation is the sum of the weights between nodes in the cluster and nodes outside the cluster.</a:t>
            </a:r>
          </a:p>
        </p:txBody>
      </p:sp>
      <p:sp>
        <p:nvSpPr>
          <p:cNvPr id="1675267" name="Rectangle 3"/>
          <p:cNvSpPr>
            <a:spLocks noGrp="1" noChangeArrowheads="1"/>
          </p:cNvSpPr>
          <p:nvPr>
            <p:ph type="title"/>
          </p:nvPr>
        </p:nvSpPr>
        <p:spPr>
          <a:xfrm>
            <a:off x="462756" y="457200"/>
            <a:ext cx="8452644" cy="990600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Internal Measures: Cohesion and Separation</a:t>
            </a:r>
          </a:p>
        </p:txBody>
      </p:sp>
      <p:sp>
        <p:nvSpPr>
          <p:cNvPr id="1675268" name="Freeform 4" descr="5%"/>
          <p:cNvSpPr>
            <a:spLocks/>
          </p:cNvSpPr>
          <p:nvPr/>
        </p:nvSpPr>
        <p:spPr bwMode="auto">
          <a:xfrm rot="-5400000">
            <a:off x="3815557" y="3788568"/>
            <a:ext cx="1828800" cy="1382713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tx1"/>
                  </a:fgClr>
                  <a:bgClr>
                    <a:srgbClr val="FFFFFF"/>
                  </a:bgClr>
                </a:patt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5269" name="Oval 5"/>
          <p:cNvSpPr>
            <a:spLocks noChangeArrowheads="1"/>
          </p:cNvSpPr>
          <p:nvPr/>
        </p:nvSpPr>
        <p:spPr bwMode="auto">
          <a:xfrm rot="-5400000">
            <a:off x="5105400" y="4708525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5270" name="Oval 6"/>
          <p:cNvSpPr>
            <a:spLocks noChangeArrowheads="1"/>
          </p:cNvSpPr>
          <p:nvPr/>
        </p:nvSpPr>
        <p:spPr bwMode="auto">
          <a:xfrm rot="-5400000">
            <a:off x="5029200" y="3946525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5271" name="Oval 7"/>
          <p:cNvSpPr>
            <a:spLocks noChangeArrowheads="1"/>
          </p:cNvSpPr>
          <p:nvPr/>
        </p:nvSpPr>
        <p:spPr bwMode="auto">
          <a:xfrm rot="-5400000">
            <a:off x="4191000" y="4403725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5272" name="Oval 8"/>
          <p:cNvSpPr>
            <a:spLocks noChangeArrowheads="1"/>
          </p:cNvSpPr>
          <p:nvPr/>
        </p:nvSpPr>
        <p:spPr bwMode="auto">
          <a:xfrm rot="-5400000">
            <a:off x="5256213" y="4249738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5273" name="Freeform 9" descr="5%"/>
          <p:cNvSpPr>
            <a:spLocks/>
          </p:cNvSpPr>
          <p:nvPr/>
        </p:nvSpPr>
        <p:spPr bwMode="auto">
          <a:xfrm rot="5400000" flipV="1">
            <a:off x="6705600" y="3641725"/>
            <a:ext cx="1828800" cy="1676400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tx1"/>
                  </a:fgClr>
                  <a:bgClr>
                    <a:srgbClr val="FFFFFF"/>
                  </a:bgClr>
                </a:patt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5274" name="Oval 10"/>
          <p:cNvSpPr>
            <a:spLocks noChangeArrowheads="1"/>
          </p:cNvSpPr>
          <p:nvPr/>
        </p:nvSpPr>
        <p:spPr bwMode="auto">
          <a:xfrm rot="5400000" flipV="1">
            <a:off x="8229600" y="4098925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5275" name="Oval 11"/>
          <p:cNvSpPr>
            <a:spLocks noChangeArrowheads="1"/>
          </p:cNvSpPr>
          <p:nvPr/>
        </p:nvSpPr>
        <p:spPr bwMode="auto">
          <a:xfrm rot="5400000" flipV="1">
            <a:off x="6869113" y="4098925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5276" name="Oval 12"/>
          <p:cNvSpPr>
            <a:spLocks noChangeArrowheads="1"/>
          </p:cNvSpPr>
          <p:nvPr/>
        </p:nvSpPr>
        <p:spPr bwMode="auto">
          <a:xfrm rot="5400000" flipV="1">
            <a:off x="7391400" y="4708525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5277" name="Oval 13"/>
          <p:cNvSpPr>
            <a:spLocks noChangeArrowheads="1"/>
          </p:cNvSpPr>
          <p:nvPr/>
        </p:nvSpPr>
        <p:spPr bwMode="auto">
          <a:xfrm rot="5400000" flipV="1">
            <a:off x="7391400" y="3717925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5278" name="Line 14"/>
          <p:cNvSpPr>
            <a:spLocks noChangeShapeType="1"/>
          </p:cNvSpPr>
          <p:nvPr/>
        </p:nvSpPr>
        <p:spPr bwMode="auto">
          <a:xfrm>
            <a:off x="5181600" y="4708525"/>
            <a:ext cx="2209800" cy="76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5279" name="Line 15"/>
          <p:cNvSpPr>
            <a:spLocks noChangeShapeType="1"/>
          </p:cNvSpPr>
          <p:nvPr/>
        </p:nvSpPr>
        <p:spPr bwMode="auto">
          <a:xfrm flipV="1">
            <a:off x="5181600" y="4175125"/>
            <a:ext cx="16764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5280" name="Line 16"/>
          <p:cNvSpPr>
            <a:spLocks noChangeShapeType="1"/>
          </p:cNvSpPr>
          <p:nvPr/>
        </p:nvSpPr>
        <p:spPr bwMode="auto">
          <a:xfrm flipV="1">
            <a:off x="5181600" y="3794125"/>
            <a:ext cx="2209800" cy="914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5281" name="Line 17"/>
          <p:cNvSpPr>
            <a:spLocks noChangeShapeType="1"/>
          </p:cNvSpPr>
          <p:nvPr/>
        </p:nvSpPr>
        <p:spPr bwMode="auto">
          <a:xfrm flipV="1">
            <a:off x="5181600" y="4175125"/>
            <a:ext cx="30480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5282" name="Line 18"/>
          <p:cNvSpPr>
            <a:spLocks noChangeShapeType="1"/>
          </p:cNvSpPr>
          <p:nvPr/>
        </p:nvSpPr>
        <p:spPr bwMode="auto">
          <a:xfrm>
            <a:off x="5334000" y="4327525"/>
            <a:ext cx="2057400" cy="457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5283" name="Line 19"/>
          <p:cNvSpPr>
            <a:spLocks noChangeShapeType="1"/>
          </p:cNvSpPr>
          <p:nvPr/>
        </p:nvSpPr>
        <p:spPr bwMode="auto">
          <a:xfrm flipV="1">
            <a:off x="5334000" y="4175125"/>
            <a:ext cx="15240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5284" name="Line 20"/>
          <p:cNvSpPr>
            <a:spLocks noChangeShapeType="1"/>
          </p:cNvSpPr>
          <p:nvPr/>
        </p:nvSpPr>
        <p:spPr bwMode="auto">
          <a:xfrm flipV="1">
            <a:off x="5334000" y="3794125"/>
            <a:ext cx="20574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5285" name="Line 21"/>
          <p:cNvSpPr>
            <a:spLocks noChangeShapeType="1"/>
          </p:cNvSpPr>
          <p:nvPr/>
        </p:nvSpPr>
        <p:spPr bwMode="auto">
          <a:xfrm flipV="1">
            <a:off x="5334000" y="4175125"/>
            <a:ext cx="28956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5286" name="Line 22"/>
          <p:cNvSpPr>
            <a:spLocks noChangeShapeType="1"/>
          </p:cNvSpPr>
          <p:nvPr/>
        </p:nvSpPr>
        <p:spPr bwMode="auto">
          <a:xfrm>
            <a:off x="4267200" y="4403725"/>
            <a:ext cx="3124200" cy="3810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5287" name="Line 23"/>
          <p:cNvSpPr>
            <a:spLocks noChangeShapeType="1"/>
          </p:cNvSpPr>
          <p:nvPr/>
        </p:nvSpPr>
        <p:spPr bwMode="auto">
          <a:xfrm flipV="1">
            <a:off x="4267200" y="4175125"/>
            <a:ext cx="39624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5288" name="Line 24"/>
          <p:cNvSpPr>
            <a:spLocks noChangeShapeType="1"/>
          </p:cNvSpPr>
          <p:nvPr/>
        </p:nvSpPr>
        <p:spPr bwMode="auto">
          <a:xfrm flipV="1">
            <a:off x="4267200" y="3794125"/>
            <a:ext cx="3124200" cy="609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5289" name="Line 25"/>
          <p:cNvSpPr>
            <a:spLocks noChangeShapeType="1"/>
          </p:cNvSpPr>
          <p:nvPr/>
        </p:nvSpPr>
        <p:spPr bwMode="auto">
          <a:xfrm flipV="1">
            <a:off x="4267200" y="4175125"/>
            <a:ext cx="25908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5290" name="Line 26"/>
          <p:cNvSpPr>
            <a:spLocks noChangeShapeType="1"/>
          </p:cNvSpPr>
          <p:nvPr/>
        </p:nvSpPr>
        <p:spPr bwMode="auto">
          <a:xfrm>
            <a:off x="5105400" y="3946525"/>
            <a:ext cx="2286000" cy="838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5291" name="Line 27"/>
          <p:cNvSpPr>
            <a:spLocks noChangeShapeType="1"/>
          </p:cNvSpPr>
          <p:nvPr/>
        </p:nvSpPr>
        <p:spPr bwMode="auto">
          <a:xfrm>
            <a:off x="5105400" y="3946525"/>
            <a:ext cx="17526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5292" name="Line 28"/>
          <p:cNvSpPr>
            <a:spLocks noChangeShapeType="1"/>
          </p:cNvSpPr>
          <p:nvPr/>
        </p:nvSpPr>
        <p:spPr bwMode="auto">
          <a:xfrm flipV="1">
            <a:off x="5105400" y="3794125"/>
            <a:ext cx="22860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5293" name="Line 29"/>
          <p:cNvSpPr>
            <a:spLocks noChangeShapeType="1"/>
          </p:cNvSpPr>
          <p:nvPr/>
        </p:nvSpPr>
        <p:spPr bwMode="auto">
          <a:xfrm>
            <a:off x="5105400" y="3946525"/>
            <a:ext cx="31242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5294" name="Freeform 30" descr="5%"/>
          <p:cNvSpPr>
            <a:spLocks/>
          </p:cNvSpPr>
          <p:nvPr/>
        </p:nvSpPr>
        <p:spPr bwMode="auto">
          <a:xfrm rot="-5400000">
            <a:off x="843757" y="3940968"/>
            <a:ext cx="1828800" cy="1382713"/>
          </a:xfrm>
          <a:custGeom>
            <a:avLst/>
            <a:gdLst>
              <a:gd name="T0" fmla="*/ 433 w 598"/>
              <a:gd name="T1" fmla="*/ 69 h 652"/>
              <a:gd name="T2" fmla="*/ 248 w 598"/>
              <a:gd name="T3" fmla="*/ 0 h 652"/>
              <a:gd name="T4" fmla="*/ 152 w 598"/>
              <a:gd name="T5" fmla="*/ 34 h 652"/>
              <a:gd name="T6" fmla="*/ 125 w 598"/>
              <a:gd name="T7" fmla="*/ 96 h 652"/>
              <a:gd name="T8" fmla="*/ 70 w 598"/>
              <a:gd name="T9" fmla="*/ 172 h 652"/>
              <a:gd name="T10" fmla="*/ 49 w 598"/>
              <a:gd name="T11" fmla="*/ 178 h 652"/>
              <a:gd name="T12" fmla="*/ 29 w 598"/>
              <a:gd name="T13" fmla="*/ 220 h 652"/>
              <a:gd name="T14" fmla="*/ 15 w 598"/>
              <a:gd name="T15" fmla="*/ 261 h 652"/>
              <a:gd name="T16" fmla="*/ 29 w 598"/>
              <a:gd name="T17" fmla="*/ 384 h 652"/>
              <a:gd name="T18" fmla="*/ 97 w 598"/>
              <a:gd name="T19" fmla="*/ 412 h 652"/>
              <a:gd name="T20" fmla="*/ 77 w 598"/>
              <a:gd name="T21" fmla="*/ 487 h 652"/>
              <a:gd name="T22" fmla="*/ 104 w 598"/>
              <a:gd name="T23" fmla="*/ 617 h 652"/>
              <a:gd name="T24" fmla="*/ 166 w 598"/>
              <a:gd name="T25" fmla="*/ 645 h 652"/>
              <a:gd name="T26" fmla="*/ 186 w 598"/>
              <a:gd name="T27" fmla="*/ 652 h 652"/>
              <a:gd name="T28" fmla="*/ 241 w 598"/>
              <a:gd name="T29" fmla="*/ 604 h 652"/>
              <a:gd name="T30" fmla="*/ 351 w 598"/>
              <a:gd name="T31" fmla="*/ 652 h 652"/>
              <a:gd name="T32" fmla="*/ 447 w 598"/>
              <a:gd name="T33" fmla="*/ 590 h 652"/>
              <a:gd name="T34" fmla="*/ 522 w 598"/>
              <a:gd name="T35" fmla="*/ 542 h 652"/>
              <a:gd name="T36" fmla="*/ 570 w 598"/>
              <a:gd name="T37" fmla="*/ 446 h 652"/>
              <a:gd name="T38" fmla="*/ 536 w 598"/>
              <a:gd name="T39" fmla="*/ 391 h 652"/>
              <a:gd name="T40" fmla="*/ 563 w 598"/>
              <a:gd name="T41" fmla="*/ 350 h 652"/>
              <a:gd name="T42" fmla="*/ 598 w 598"/>
              <a:gd name="T43" fmla="*/ 288 h 652"/>
              <a:gd name="T44" fmla="*/ 584 w 598"/>
              <a:gd name="T45" fmla="*/ 192 h 652"/>
              <a:gd name="T46" fmla="*/ 447 w 598"/>
              <a:gd name="T47" fmla="*/ 96 h 652"/>
              <a:gd name="T48" fmla="*/ 433 w 598"/>
              <a:gd name="T49" fmla="*/ 69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pattFill prst="pct5">
                  <a:fgClr>
                    <a:schemeClr val="tx1"/>
                  </a:fgClr>
                  <a:bgClr>
                    <a:srgbClr val="FFFFFF"/>
                  </a:bgClr>
                </a:patt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5295" name="Oval 31"/>
          <p:cNvSpPr>
            <a:spLocks noChangeArrowheads="1"/>
          </p:cNvSpPr>
          <p:nvPr/>
        </p:nvSpPr>
        <p:spPr bwMode="auto">
          <a:xfrm rot="-5400000">
            <a:off x="2133600" y="4860925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5296" name="Oval 32"/>
          <p:cNvSpPr>
            <a:spLocks noChangeArrowheads="1"/>
          </p:cNvSpPr>
          <p:nvPr/>
        </p:nvSpPr>
        <p:spPr bwMode="auto">
          <a:xfrm rot="-5400000">
            <a:off x="2057400" y="4098925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5297" name="Oval 33"/>
          <p:cNvSpPr>
            <a:spLocks noChangeArrowheads="1"/>
          </p:cNvSpPr>
          <p:nvPr/>
        </p:nvSpPr>
        <p:spPr bwMode="auto">
          <a:xfrm rot="-5400000">
            <a:off x="1219200" y="4556125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5298" name="Oval 34"/>
          <p:cNvSpPr>
            <a:spLocks noChangeArrowheads="1"/>
          </p:cNvSpPr>
          <p:nvPr/>
        </p:nvSpPr>
        <p:spPr bwMode="auto">
          <a:xfrm rot="-5400000">
            <a:off x="2284413" y="4402138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5299" name="Line 35"/>
          <p:cNvSpPr>
            <a:spLocks noChangeShapeType="1"/>
          </p:cNvSpPr>
          <p:nvPr/>
        </p:nvSpPr>
        <p:spPr bwMode="auto">
          <a:xfrm flipV="1">
            <a:off x="1295400" y="4175125"/>
            <a:ext cx="762000" cy="3810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5300" name="Line 36"/>
          <p:cNvSpPr>
            <a:spLocks noChangeShapeType="1"/>
          </p:cNvSpPr>
          <p:nvPr/>
        </p:nvSpPr>
        <p:spPr bwMode="auto">
          <a:xfrm flipH="1" flipV="1">
            <a:off x="2057400" y="4175125"/>
            <a:ext cx="76200" cy="6858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5301" name="Line 37"/>
          <p:cNvSpPr>
            <a:spLocks noChangeShapeType="1"/>
          </p:cNvSpPr>
          <p:nvPr/>
        </p:nvSpPr>
        <p:spPr bwMode="auto">
          <a:xfrm>
            <a:off x="1295400" y="4556125"/>
            <a:ext cx="838200" cy="3048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5302" name="Line 38"/>
          <p:cNvSpPr>
            <a:spLocks noChangeShapeType="1"/>
          </p:cNvSpPr>
          <p:nvPr/>
        </p:nvSpPr>
        <p:spPr bwMode="auto">
          <a:xfrm flipH="1" flipV="1">
            <a:off x="2057400" y="4175125"/>
            <a:ext cx="228600" cy="3048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5303" name="Line 39"/>
          <p:cNvSpPr>
            <a:spLocks noChangeShapeType="1"/>
          </p:cNvSpPr>
          <p:nvPr/>
        </p:nvSpPr>
        <p:spPr bwMode="auto">
          <a:xfrm flipH="1">
            <a:off x="1295400" y="4479925"/>
            <a:ext cx="990600" cy="76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5304" name="Line 40"/>
          <p:cNvSpPr>
            <a:spLocks noChangeShapeType="1"/>
          </p:cNvSpPr>
          <p:nvPr/>
        </p:nvSpPr>
        <p:spPr bwMode="auto">
          <a:xfrm flipH="1">
            <a:off x="2133600" y="4479925"/>
            <a:ext cx="152400" cy="3810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5305" name="Rectangle 41"/>
          <p:cNvSpPr>
            <a:spLocks noChangeArrowheads="1"/>
          </p:cNvSpPr>
          <p:nvPr/>
        </p:nvSpPr>
        <p:spPr bwMode="auto">
          <a:xfrm>
            <a:off x="1143000" y="5699125"/>
            <a:ext cx="12017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0"/>
              <a:t>cohesion</a:t>
            </a:r>
          </a:p>
        </p:txBody>
      </p:sp>
      <p:sp>
        <p:nvSpPr>
          <p:cNvPr id="1675306" name="Rectangle 42"/>
          <p:cNvSpPr>
            <a:spLocks noChangeArrowheads="1"/>
          </p:cNvSpPr>
          <p:nvPr/>
        </p:nvSpPr>
        <p:spPr bwMode="auto">
          <a:xfrm>
            <a:off x="5181600" y="5699125"/>
            <a:ext cx="1370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0"/>
              <a:t>separation</a:t>
            </a:r>
          </a:p>
        </p:txBody>
      </p:sp>
    </p:spTree>
    <p:extLst>
      <p:ext uri="{BB962C8B-B14F-4D97-AF65-F5344CB8AC3E}">
        <p14:creationId xmlns:p14="http://schemas.microsoft.com/office/powerpoint/2010/main" val="255578917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measures – caveats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Internal measures have the problem that the clustering algorithm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did not set out to optimize this measure</a:t>
            </a:r>
            <a:r>
              <a:rPr lang="en-US" dirty="0"/>
              <a:t>, so it is will not necessarily do well with respect to the measure.</a:t>
            </a:r>
          </a:p>
          <a:p>
            <a:endParaRPr lang="en-US" dirty="0"/>
          </a:p>
          <a:p>
            <a:r>
              <a:rPr lang="en-US" dirty="0"/>
              <a:t>An internal measure can also be used as an objective function for clustering</a:t>
            </a:r>
          </a:p>
        </p:txBody>
      </p:sp>
    </p:spTree>
    <p:extLst>
      <p:ext uri="{BB962C8B-B14F-4D97-AF65-F5344CB8AC3E}">
        <p14:creationId xmlns:p14="http://schemas.microsoft.com/office/powerpoint/2010/main" val="50731823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1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1535151"/>
            <a:ext cx="8458200" cy="5094249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Need a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framework</a:t>
            </a:r>
            <a:r>
              <a:rPr lang="en-US" sz="2400" dirty="0"/>
              <a:t> to interpret any measure.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/>
              <a:t>For example, if our measure of evaluation has the value, 10, is that good, fair, or poor?</a:t>
            </a:r>
          </a:p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Statistics</a:t>
            </a:r>
            <a:r>
              <a:rPr lang="en-US" sz="2400" dirty="0"/>
              <a:t> provide a framework for cluster validity</a:t>
            </a:r>
          </a:p>
          <a:p>
            <a:pPr marL="742950" lvl="1" indent="-285750"/>
            <a:r>
              <a:rPr lang="en-US" sz="1800" dirty="0"/>
              <a:t>The more “</a:t>
            </a:r>
            <a:r>
              <a:rPr lang="en-US" sz="1800" dirty="0">
                <a:solidFill>
                  <a:srgbClr val="0070C0"/>
                </a:solidFill>
              </a:rPr>
              <a:t>non-random</a:t>
            </a:r>
            <a:r>
              <a:rPr lang="en-US" sz="1800" dirty="0"/>
              <a:t>” a clustering result is, the more likely it represents valid structure in the data</a:t>
            </a:r>
          </a:p>
          <a:p>
            <a:pPr marL="742950" lvl="1" indent="-285750"/>
            <a:r>
              <a:rPr lang="en-US" sz="1800" dirty="0"/>
              <a:t>Can compare the values of an index that result from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random</a:t>
            </a:r>
            <a:r>
              <a:rPr lang="en-US" sz="1800" dirty="0"/>
              <a:t> data or </a:t>
            </a:r>
            <a:r>
              <a:rPr lang="en-US" sz="1800" dirty="0" err="1"/>
              <a:t>clusterings</a:t>
            </a:r>
            <a:r>
              <a:rPr lang="en-US" sz="1800" dirty="0"/>
              <a:t> to those of a clustering result.</a:t>
            </a:r>
          </a:p>
          <a:p>
            <a:pPr marL="1200150" lvl="2" indent="-285750"/>
            <a:r>
              <a:rPr lang="en-US" sz="1600" dirty="0"/>
              <a:t>If the value of the index is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unlikely</a:t>
            </a:r>
            <a:r>
              <a:rPr lang="en-US" sz="1600" dirty="0"/>
              <a:t>, then the cluster results are valid</a:t>
            </a:r>
          </a:p>
          <a:p>
            <a:r>
              <a:rPr lang="en-US" sz="2400" dirty="0"/>
              <a:t>For comparing the results of two different sets of cluster analyses, a framework is less necessary.</a:t>
            </a:r>
          </a:p>
          <a:p>
            <a:pPr marL="742950" lvl="1" indent="-285750"/>
            <a:r>
              <a:rPr lang="en-US" sz="1800" dirty="0"/>
              <a:t>However, there is the question of whether the difference between two index values is </a:t>
            </a:r>
            <a:r>
              <a:rPr lang="en-US" sz="1800" dirty="0">
                <a:solidFill>
                  <a:srgbClr val="0070C0"/>
                </a:solidFill>
              </a:rPr>
              <a:t>significant</a:t>
            </a:r>
          </a:p>
          <a:p>
            <a:pPr marL="533400" indent="-533400"/>
            <a:endParaRPr lang="en-US" sz="2000" dirty="0"/>
          </a:p>
        </p:txBody>
      </p:sp>
      <p:sp>
        <p:nvSpPr>
          <p:cNvPr id="1670147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Framework for Cluster Validity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4082355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0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0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0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0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0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0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0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0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0146" grpId="0" build="p" autoUpdateAnimBg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1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1624" y="1447800"/>
            <a:ext cx="8458200" cy="5334000"/>
          </a:xfrm>
        </p:spPr>
        <p:txBody>
          <a:bodyPr/>
          <a:lstStyle/>
          <a:p>
            <a:pPr marL="342900" indent="-342900"/>
            <a:r>
              <a:rPr lang="en-US" sz="3200" dirty="0"/>
              <a:t>Example</a:t>
            </a:r>
          </a:p>
          <a:p>
            <a:pPr marL="742950" lvl="1" indent="-285750"/>
            <a:r>
              <a:rPr lang="en-US" sz="2000" dirty="0"/>
              <a:t>Compare SSE of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0.005</a:t>
            </a:r>
            <a:r>
              <a:rPr lang="en-US" sz="2000" dirty="0"/>
              <a:t> against three clusters in random data</a:t>
            </a:r>
          </a:p>
          <a:p>
            <a:pPr marL="742950" lvl="1" indent="-285750"/>
            <a:r>
              <a:rPr lang="en-US" sz="2000" dirty="0"/>
              <a:t>Histogram of SSE for three clusters in 500 random data sets of </a:t>
            </a:r>
            <a:r>
              <a:rPr lang="en-US" sz="2000" dirty="0">
                <a:solidFill>
                  <a:srgbClr val="0070C0"/>
                </a:solidFill>
              </a:rPr>
              <a:t>100 random points distributed in the range 0.2 – 0.8 </a:t>
            </a:r>
            <a:r>
              <a:rPr lang="en-US" sz="2000" dirty="0"/>
              <a:t>for x and y</a:t>
            </a:r>
          </a:p>
          <a:p>
            <a:pPr marL="1017270" lvl="2" indent="-285750"/>
            <a:r>
              <a:rPr lang="en-US" sz="1600" dirty="0"/>
              <a:t>Value 0.005 is very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unlikely</a:t>
            </a:r>
          </a:p>
          <a:p>
            <a:pPr marL="742950" lvl="1" indent="-285750">
              <a:buFont typeface="Arial" charset="0"/>
              <a:buNone/>
            </a:pPr>
            <a:endParaRPr lang="en-US" sz="2000" dirty="0"/>
          </a:p>
        </p:txBody>
      </p:sp>
      <p:sp>
        <p:nvSpPr>
          <p:cNvPr id="1671171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Statistical Framework for SSE</a:t>
            </a:r>
            <a:endParaRPr lang="en-US" sz="5400" dirty="0"/>
          </a:p>
        </p:txBody>
      </p:sp>
      <p:grpSp>
        <p:nvGrpSpPr>
          <p:cNvPr id="1671172" name="Group 4"/>
          <p:cNvGrpSpPr>
            <a:grpSpLocks/>
          </p:cNvGrpSpPr>
          <p:nvPr/>
        </p:nvGrpSpPr>
        <p:grpSpPr bwMode="auto">
          <a:xfrm>
            <a:off x="762000" y="3429000"/>
            <a:ext cx="7848600" cy="3124200"/>
            <a:chOff x="288" y="1488"/>
            <a:chExt cx="4944" cy="1968"/>
          </a:xfrm>
        </p:grpSpPr>
        <p:pic>
          <p:nvPicPr>
            <p:cNvPr id="1671173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810"/>
            <a:stretch>
              <a:fillRect/>
            </a:stretch>
          </p:blipFill>
          <p:spPr bwMode="auto">
            <a:xfrm>
              <a:off x="2543" y="1536"/>
              <a:ext cx="2689" cy="19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671174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10" t="4759"/>
            <a:stretch>
              <a:fillRect/>
            </a:stretch>
          </p:blipFill>
          <p:spPr bwMode="auto">
            <a:xfrm>
              <a:off x="288" y="1488"/>
              <a:ext cx="2401" cy="19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71175" name="Rectangle 7"/>
            <p:cNvSpPr>
              <a:spLocks noChangeArrowheads="1"/>
            </p:cNvSpPr>
            <p:nvPr/>
          </p:nvSpPr>
          <p:spPr bwMode="auto">
            <a:xfrm>
              <a:off x="912" y="1872"/>
              <a:ext cx="960" cy="96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1584556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1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68198" y="1522412"/>
            <a:ext cx="8458200" cy="4954588"/>
          </a:xfrm>
        </p:spPr>
        <p:txBody>
          <a:bodyPr/>
          <a:lstStyle/>
          <a:p>
            <a:pPr marL="342900" indent="-342900"/>
            <a:r>
              <a:rPr lang="en-US" sz="2600" dirty="0"/>
              <a:t>Correlation of incidence and proximity matrices for the K-means </a:t>
            </a:r>
            <a:r>
              <a:rPr lang="en-US" sz="2600" dirty="0" err="1"/>
              <a:t>clusterings</a:t>
            </a:r>
            <a:r>
              <a:rPr lang="en-US" sz="2600" dirty="0"/>
              <a:t> of the following two data sets. </a:t>
            </a:r>
          </a:p>
          <a:p>
            <a:pPr marL="342900" indent="-342900"/>
            <a:endParaRPr lang="en-US" sz="2600" dirty="0"/>
          </a:p>
        </p:txBody>
      </p:sp>
      <p:sp>
        <p:nvSpPr>
          <p:cNvPr id="1672195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8686800" cy="1066800"/>
          </a:xfrm>
        </p:spPr>
        <p:txBody>
          <a:bodyPr>
            <a:noAutofit/>
          </a:bodyPr>
          <a:lstStyle/>
          <a:p>
            <a:r>
              <a:rPr lang="en-US" dirty="0"/>
              <a:t>Statistical Framework for Correlation</a:t>
            </a:r>
          </a:p>
        </p:txBody>
      </p:sp>
      <p:pic>
        <p:nvPicPr>
          <p:cNvPr id="16721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048000"/>
            <a:ext cx="3043238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7219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049588"/>
            <a:ext cx="3043238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72198" name="Text Box 6"/>
          <p:cNvSpPr txBox="1">
            <a:spLocks noChangeArrowheads="1"/>
          </p:cNvSpPr>
          <p:nvPr/>
        </p:nvSpPr>
        <p:spPr bwMode="auto">
          <a:xfrm>
            <a:off x="685800" y="5715000"/>
            <a:ext cx="2362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Corr = -0.9235</a:t>
            </a:r>
          </a:p>
        </p:txBody>
      </p:sp>
      <p:sp>
        <p:nvSpPr>
          <p:cNvPr id="1672199" name="Text Box 7"/>
          <p:cNvSpPr txBox="1">
            <a:spLocks noChangeArrowheads="1"/>
          </p:cNvSpPr>
          <p:nvPr/>
        </p:nvSpPr>
        <p:spPr bwMode="auto">
          <a:xfrm>
            <a:off x="3429000" y="5715000"/>
            <a:ext cx="2362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Corr = -0.5810</a:t>
            </a:r>
          </a:p>
        </p:txBody>
      </p:sp>
      <p:pic>
        <p:nvPicPr>
          <p:cNvPr id="167220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590800"/>
            <a:ext cx="3656013" cy="274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583681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 p-value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If we have a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measurement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v</a:t>
            </a:r>
            <a:r>
              <a:rPr lang="en-US" dirty="0"/>
              <a:t> (e.g., the SSE value)</a:t>
            </a:r>
          </a:p>
          <a:p>
            <a:r>
              <a:rPr lang="en-US" dirty="0"/>
              <a:t>..and we have </a:t>
            </a:r>
            <a:r>
              <a:rPr lang="en-US" dirty="0">
                <a:solidFill>
                  <a:srgbClr val="00B050"/>
                </a:solidFill>
              </a:rPr>
              <a:t>N</a:t>
            </a:r>
            <a:r>
              <a:rPr lang="en-US" dirty="0"/>
              <a:t> measurements on </a:t>
            </a:r>
            <a:r>
              <a:rPr lang="en-US" dirty="0">
                <a:solidFill>
                  <a:srgbClr val="0070C0"/>
                </a:solidFill>
              </a:rPr>
              <a:t>random datasets</a:t>
            </a:r>
          </a:p>
          <a:p>
            <a:r>
              <a:rPr lang="en-US" dirty="0"/>
              <a:t>…the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empirical p-value </a:t>
            </a:r>
            <a:r>
              <a:rPr lang="en-US" dirty="0"/>
              <a:t>is the </a:t>
            </a:r>
            <a:r>
              <a:rPr lang="en-US" dirty="0">
                <a:solidFill>
                  <a:srgbClr val="0070C0"/>
                </a:solidFill>
              </a:rPr>
              <a:t>fraction</a:t>
            </a:r>
            <a:r>
              <a:rPr lang="en-US" dirty="0"/>
              <a:t> of measurements in the random data that have value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less or equal </a:t>
            </a:r>
            <a:r>
              <a:rPr lang="en-US" dirty="0"/>
              <a:t>than value </a:t>
            </a:r>
            <a:r>
              <a:rPr lang="en-US" dirty="0">
                <a:solidFill>
                  <a:srgbClr val="00B050"/>
                </a:solidFill>
              </a:rPr>
              <a:t>v </a:t>
            </a:r>
            <a:r>
              <a:rPr lang="en-US" dirty="0"/>
              <a:t>(or greater or equal if we want to maximize) </a:t>
            </a:r>
          </a:p>
          <a:p>
            <a:pPr lvl="1"/>
            <a:r>
              <a:rPr lang="en-US" dirty="0"/>
              <a:t>i.e., the value in the random dataset is </a:t>
            </a:r>
            <a:r>
              <a:rPr lang="en-US" dirty="0">
                <a:solidFill>
                  <a:srgbClr val="00B0F0"/>
                </a:solidFill>
              </a:rPr>
              <a:t>at least as good </a:t>
            </a:r>
            <a:r>
              <a:rPr lang="en-US" dirty="0"/>
              <a:t>as that in the real data</a:t>
            </a:r>
          </a:p>
          <a:p>
            <a:pPr lvl="1"/>
            <a:endParaRPr lang="en-US" dirty="0"/>
          </a:p>
          <a:p>
            <a:r>
              <a:rPr lang="en-US" dirty="0"/>
              <a:t>We usually require that </a:t>
            </a:r>
            <a:r>
              <a:rPr lang="en-US" dirty="0">
                <a:solidFill>
                  <a:srgbClr val="FF0000"/>
                </a:solidFill>
              </a:rPr>
              <a:t>p-value ≤ 0.05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Hard question</a:t>
            </a:r>
            <a:r>
              <a:rPr lang="en-US" dirty="0"/>
              <a:t>: what is the right notion of a random dataset?</a:t>
            </a:r>
          </a:p>
        </p:txBody>
      </p:sp>
    </p:spTree>
    <p:extLst>
      <p:ext uri="{BB962C8B-B14F-4D97-AF65-F5344CB8AC3E}">
        <p14:creationId xmlns:p14="http://schemas.microsoft.com/office/powerpoint/2010/main" val="343452846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Estimating the “right” number of clusters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Typical approach: find a “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knee</a:t>
            </a:r>
            <a:r>
              <a:rPr lang="en-US" dirty="0"/>
              <a:t>” in an internal measure curve.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Question: why not the k that </a:t>
            </a:r>
            <a:r>
              <a:rPr lang="en-US" dirty="0">
                <a:solidFill>
                  <a:srgbClr val="FF0000"/>
                </a:solidFill>
              </a:rPr>
              <a:t>minimizes</a:t>
            </a:r>
            <a:r>
              <a:rPr lang="en-US" dirty="0"/>
              <a:t> the SSE?</a:t>
            </a:r>
          </a:p>
          <a:p>
            <a:pPr lvl="1"/>
            <a:r>
              <a:rPr lang="en-US" dirty="0"/>
              <a:t>Forward reference: minimize a measure, but with a “</a:t>
            </a:r>
            <a:r>
              <a:rPr lang="en-US" dirty="0">
                <a:solidFill>
                  <a:srgbClr val="00B0F0"/>
                </a:solidFill>
              </a:rPr>
              <a:t>simple</a:t>
            </a:r>
            <a:r>
              <a:rPr lang="en-US" dirty="0"/>
              <a:t>” clustering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Desirable property</a:t>
            </a:r>
            <a:r>
              <a:rPr lang="en-US" dirty="0"/>
              <a:t>: the clustering algorithm does not require the number of clusters to be specified (e.g., DBSCAN)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6"/>
          <a:stretch>
            <a:fillRect/>
          </a:stretch>
        </p:blipFill>
        <p:spPr bwMode="auto">
          <a:xfrm>
            <a:off x="2514600" y="2057400"/>
            <a:ext cx="3656012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754784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Estimating the “right” number </a:t>
            </a:r>
            <a:r>
              <a:rPr lang="en-US"/>
              <a:t>of clusters</a:t>
            </a:r>
            <a:endParaRPr lang="en-US" dirty="0"/>
          </a:p>
        </p:txBody>
      </p:sp>
      <p:sp>
        <p:nvSpPr>
          <p:cNvPr id="1669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SSE curve for a more complicated data set</a:t>
            </a:r>
          </a:p>
          <a:p>
            <a:endParaRPr lang="en-US" dirty="0"/>
          </a:p>
        </p:txBody>
      </p:sp>
      <p:pic>
        <p:nvPicPr>
          <p:cNvPr id="1669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05" t="18518" r="12798" b="20370"/>
          <a:stretch>
            <a:fillRect/>
          </a:stretch>
        </p:blipFill>
        <p:spPr bwMode="auto">
          <a:xfrm>
            <a:off x="533400" y="2909888"/>
            <a:ext cx="43434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69125" name="Text Box 5"/>
          <p:cNvSpPr txBox="1">
            <a:spLocks noChangeArrowheads="1"/>
          </p:cNvSpPr>
          <p:nvPr/>
        </p:nvSpPr>
        <p:spPr bwMode="auto">
          <a:xfrm>
            <a:off x="4495800" y="5805488"/>
            <a:ext cx="4267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SSE of clusters found using K-means</a:t>
            </a:r>
          </a:p>
        </p:txBody>
      </p:sp>
      <p:pic>
        <p:nvPicPr>
          <p:cNvPr id="166912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2528888"/>
            <a:ext cx="4259263" cy="3195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350407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External Measures for Clustering Validity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Assume that the data is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labeled</a:t>
            </a:r>
            <a:r>
              <a:rPr lang="en-US" dirty="0"/>
              <a:t> with some class labels</a:t>
            </a:r>
          </a:p>
          <a:p>
            <a:pPr lvl="1"/>
            <a:r>
              <a:rPr lang="en-US" dirty="0"/>
              <a:t>E.g., </a:t>
            </a:r>
            <a:r>
              <a:rPr lang="en-US" dirty="0">
                <a:solidFill>
                  <a:srgbClr val="0070C0"/>
                </a:solidFill>
              </a:rPr>
              <a:t>documents</a:t>
            </a:r>
            <a:r>
              <a:rPr lang="en-US" dirty="0"/>
              <a:t> are classified into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topics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people</a:t>
            </a:r>
            <a:r>
              <a:rPr lang="en-US" dirty="0"/>
              <a:t> classified according to their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income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politicians</a:t>
            </a:r>
            <a:r>
              <a:rPr lang="en-US" dirty="0"/>
              <a:t> classified according to 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political party.</a:t>
            </a:r>
          </a:p>
          <a:p>
            <a:pPr lvl="1"/>
            <a:r>
              <a:rPr lang="en-US" dirty="0"/>
              <a:t>This is called 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“ground truth”</a:t>
            </a:r>
          </a:p>
          <a:p>
            <a:r>
              <a:rPr lang="en-US" dirty="0"/>
              <a:t>In this case we want the clusters to be </a:t>
            </a:r>
            <a:r>
              <a:rPr lang="en-US" dirty="0">
                <a:solidFill>
                  <a:srgbClr val="0070C0"/>
                </a:solidFill>
              </a:rPr>
              <a:t>homogeneous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/>
              <a:t>with respect to classes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Each cluster </a:t>
            </a:r>
            <a:r>
              <a:rPr lang="en-US" dirty="0"/>
              <a:t>should contain elements of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mostly one class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Each class </a:t>
            </a:r>
            <a:r>
              <a:rPr lang="en-US" dirty="0"/>
              <a:t>should ideally be assigned to a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single cluster</a:t>
            </a:r>
          </a:p>
          <a:p>
            <a:r>
              <a:rPr lang="en-US" dirty="0"/>
              <a:t>This does not always make sense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Clustering</a:t>
            </a:r>
            <a:r>
              <a:rPr lang="en-US" dirty="0"/>
              <a:t> is not the same as </a:t>
            </a:r>
            <a:r>
              <a:rPr lang="en-US" dirty="0">
                <a:solidFill>
                  <a:srgbClr val="0070C0"/>
                </a:solidFill>
              </a:rPr>
              <a:t>classification</a:t>
            </a:r>
          </a:p>
          <a:p>
            <a:pPr lvl="1"/>
            <a:r>
              <a:rPr lang="en-US" dirty="0"/>
              <a:t>…but this is what people use most of the time</a:t>
            </a:r>
          </a:p>
        </p:txBody>
      </p:sp>
    </p:spTree>
    <p:extLst>
      <p:ext uri="{BB962C8B-B14F-4D97-AF65-F5344CB8AC3E}">
        <p14:creationId xmlns:p14="http://schemas.microsoft.com/office/powerpoint/2010/main" val="204345707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600200"/>
                <a:ext cx="4495800" cy="5029200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= number of points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= points in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cluster i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= points in </a:t>
                </a:r>
                <a:r>
                  <a:rPr lang="en-US" dirty="0">
                    <a:solidFill>
                      <a:srgbClr val="00B050"/>
                    </a:solidFill>
                  </a:rPr>
                  <a:t>class j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= </a:t>
                </a:r>
                <a:r>
                  <a:rPr lang="en-US" dirty="0"/>
                  <a:t>points in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cluster i</a:t>
                </a:r>
                <a:r>
                  <a:rPr lang="en-US" dirty="0"/>
                  <a:t> coming from </a:t>
                </a:r>
                <a:r>
                  <a:rPr lang="en-US" dirty="0">
                    <a:solidFill>
                      <a:srgbClr val="00B050"/>
                    </a:solidFill>
                  </a:rPr>
                  <a:t>class j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/</m:t>
                    </m:r>
                    <m:sSub>
                      <m:sSubPr>
                        <m:ctrlPr>
                          <a:rPr lang="en-US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= probability of element from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cluster </a:t>
                </a:r>
                <a:r>
                  <a:rPr lang="en-US" dirty="0" err="1">
                    <a:solidFill>
                      <a:schemeClr val="accent6">
                        <a:lumMod val="75000"/>
                      </a:schemeClr>
                    </a:solidFill>
                  </a:rPr>
                  <a:t>i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to be assigned in </a:t>
                </a:r>
                <a:r>
                  <a:rPr lang="en-US" dirty="0">
                    <a:solidFill>
                      <a:srgbClr val="00B050"/>
                    </a:solidFill>
                  </a:rPr>
                  <a:t>class j</a:t>
                </a:r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600200"/>
                <a:ext cx="4495800" cy="5029200"/>
              </a:xfrm>
              <a:blipFill rotWithShape="1">
                <a:blip r:embed="rId2"/>
                <a:stretch>
                  <a:fillRect t="-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5105400" y="1143000"/>
              <a:ext cx="3733800" cy="24384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84306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430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4306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4306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154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14350"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Class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Class 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Class 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Cluster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Cluster 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Cluster 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31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32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33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latin typeface="Cambria Math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926301"/>
                  </p:ext>
                </p:extLst>
              </p:nvPr>
            </p:nvGraphicFramePr>
            <p:xfrm>
              <a:off x="5105400" y="1143000"/>
              <a:ext cx="3733800" cy="24384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843064"/>
                    <a:gridCol w="843064"/>
                    <a:gridCol w="843064"/>
                    <a:gridCol w="843064"/>
                    <a:gridCol w="361544"/>
                  </a:tblGrid>
                  <a:tr h="514350"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Class 1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Class 2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Class 3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Cluster 1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3"/>
                          <a:stretch>
                            <a:fillRect l="-100725" t="-100000" r="-243478" b="-27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3"/>
                          <a:stretch>
                            <a:fillRect l="-199281" t="-100000" r="-141727" b="-27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3"/>
                          <a:stretch>
                            <a:fillRect l="-301449" t="-100000" r="-42754" b="-27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3"/>
                          <a:stretch>
                            <a:fillRect l="-938983" t="-100000" b="-271765"/>
                          </a:stretch>
                        </a:blipFill>
                      </a:tcPr>
                    </a:tc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Cluster 2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3"/>
                          <a:stretch>
                            <a:fillRect l="-100725" t="-202381" r="-243478" b="-17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3"/>
                          <a:stretch>
                            <a:fillRect l="-199281" t="-202381" r="-141727" b="-17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3"/>
                          <a:stretch>
                            <a:fillRect l="-301449" t="-202381" r="-42754" b="-17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3"/>
                          <a:stretch>
                            <a:fillRect l="-938983" t="-202381" b="-175000"/>
                          </a:stretch>
                        </a:blipFill>
                      </a:tcPr>
                    </a:tc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Cluster 3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3"/>
                          <a:stretch>
                            <a:fillRect l="-100725" t="-298824" r="-243478" b="-7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3"/>
                          <a:stretch>
                            <a:fillRect l="-199281" t="-298824" r="-141727" b="-7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3"/>
                          <a:stretch>
                            <a:fillRect l="-301449" t="-298824" r="-42754" b="-7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3"/>
                          <a:stretch>
                            <a:fillRect l="-938983" t="-298824" b="-72941"/>
                          </a:stretch>
                        </a:blipFill>
                      </a:tcPr>
                    </a:tc>
                  </a:tr>
                  <a:tr h="381000"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3"/>
                          <a:stretch>
                            <a:fillRect l="-100725" t="-546774" r="-243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3"/>
                          <a:stretch>
                            <a:fillRect l="-199281" t="-546774" r="-141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3"/>
                          <a:stretch>
                            <a:fillRect l="-301449" t="-546774" r="-42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3"/>
                          <a:stretch>
                            <a:fillRect l="-938983" t="-546774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5105400" y="4038600"/>
              <a:ext cx="3733800" cy="24384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84306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430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4306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4306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154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14350"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Class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Class 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Class 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Cluster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Cluster 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Cluster 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31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32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33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latin typeface="Cambria Math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458016"/>
                  </p:ext>
                </p:extLst>
              </p:nvPr>
            </p:nvGraphicFramePr>
            <p:xfrm>
              <a:off x="5105400" y="4038600"/>
              <a:ext cx="3733800" cy="24384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843064"/>
                    <a:gridCol w="843064"/>
                    <a:gridCol w="843064"/>
                    <a:gridCol w="843064"/>
                    <a:gridCol w="361544"/>
                  </a:tblGrid>
                  <a:tr h="514350"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Class 1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Class 2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Class 3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Cluster 1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4"/>
                          <a:stretch>
                            <a:fillRect l="-100725" t="-100000" r="-243478" b="-27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4"/>
                          <a:stretch>
                            <a:fillRect l="-199281" t="-100000" r="-141727" b="-27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4"/>
                          <a:stretch>
                            <a:fillRect l="-301449" t="-100000" r="-42754" b="-27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4"/>
                          <a:stretch>
                            <a:fillRect l="-938983" t="-100000" b="-271765"/>
                          </a:stretch>
                        </a:blipFill>
                      </a:tcPr>
                    </a:tc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Cluster 2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4"/>
                          <a:stretch>
                            <a:fillRect l="-100725" t="-202381" r="-243478" b="-17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4"/>
                          <a:stretch>
                            <a:fillRect l="-199281" t="-202381" r="-141727" b="-17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4"/>
                          <a:stretch>
                            <a:fillRect l="-301449" t="-202381" r="-42754" b="-17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4"/>
                          <a:stretch>
                            <a:fillRect l="-938983" t="-202381" b="-175000"/>
                          </a:stretch>
                        </a:blipFill>
                      </a:tcPr>
                    </a:tc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Cluster 3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4"/>
                          <a:stretch>
                            <a:fillRect l="-100725" t="-298824" r="-243478" b="-7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4"/>
                          <a:stretch>
                            <a:fillRect l="-199281" t="-298824" r="-141727" b="-7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4"/>
                          <a:stretch>
                            <a:fillRect l="-301449" t="-298824" r="-42754" b="-7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4"/>
                          <a:stretch>
                            <a:fillRect l="-938983" t="-298824" b="-72941"/>
                          </a:stretch>
                        </a:blipFill>
                      </a:tcPr>
                    </a:tc>
                  </a:tr>
                  <a:tr h="381000"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4"/>
                          <a:stretch>
                            <a:fillRect l="-100725" t="-546774" r="-243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4"/>
                          <a:stretch>
                            <a:fillRect l="-199281" t="-546774" r="-141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4"/>
                          <a:stretch>
                            <a:fillRect l="-301449" t="-546774" r="-42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4"/>
                          <a:stretch>
                            <a:fillRect l="-938983" t="-546774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25779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2362200"/>
                <a:ext cx="6248400" cy="4038600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Entropy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Of a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cluster i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=−</m:t>
                    </m:r>
                    <m:nary>
                      <m:naryPr>
                        <m:chr m:val="∑"/>
                        <m:limLoc m:val="subSup"/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𝐿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𝑖𝑗</m:t>
                            </m:r>
                          </m:sub>
                        </m:sSub>
                        <m:func>
                          <m:func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𝑖𝑗</m:t>
                                </m:r>
                              </m:sub>
                            </m:sSub>
                          </m:e>
                        </m:func>
                      </m:e>
                    </m:nary>
                  </m:oMath>
                </a14:m>
                <a:r>
                  <a:rPr lang="en-US" dirty="0"/>
                  <a:t>  </a:t>
                </a:r>
              </a:p>
              <a:p>
                <a:pPr lvl="2"/>
                <a:r>
                  <a:rPr lang="en-US" dirty="0"/>
                  <a:t>Highest when uniform, zero when single class</a:t>
                </a:r>
              </a:p>
              <a:p>
                <a:pPr lvl="1"/>
                <a:r>
                  <a:rPr lang="en-US" dirty="0"/>
                  <a:t>Of a </a:t>
                </a:r>
                <a:r>
                  <a:rPr lang="en-US" dirty="0">
                    <a:solidFill>
                      <a:srgbClr val="002060"/>
                    </a:solidFill>
                  </a:rPr>
                  <a:t>clustering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𝑒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= </m:t>
                    </m:r>
                    <m:nary>
                      <m:naryPr>
                        <m:chr m:val="∑"/>
                        <m:limLoc m:val="subSup"/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𝐾</m:t>
                        </m:r>
                      </m:sup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𝑛</m:t>
                            </m:r>
                          </m:den>
                        </m:f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Purity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Of a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cluster i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max</m:t>
                            </m:r>
                          </m:e>
                          <m:lim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𝑗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𝑖𝑗</m:t>
                            </m:r>
                          </m:sub>
                        </m:sSub>
                      </m:e>
                    </m:func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Of a </a:t>
                </a:r>
                <a:r>
                  <a:rPr lang="en-US" dirty="0">
                    <a:solidFill>
                      <a:srgbClr val="002060"/>
                    </a:solidFill>
                  </a:rPr>
                  <a:t>clustering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𝑝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𝐶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)= </m:t>
                    </m:r>
                    <m:nary>
                      <m:naryPr>
                        <m:chr m:val="∑"/>
                        <m:limLoc m:val="subSup"/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𝐾</m:t>
                        </m:r>
                      </m:sup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𝑛</m:t>
                            </m:r>
                          </m:den>
                        </m:f>
                        <m:sSub>
                          <m:sSub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362200"/>
                <a:ext cx="6248400" cy="4038600"/>
              </a:xfrm>
              <a:blipFill rotWithShape="1">
                <a:blip r:embed="rId2"/>
                <a:stretch>
                  <a:fillRect l="-1268" t="-1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5334000" y="381000"/>
              <a:ext cx="3733800" cy="24384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84306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430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4306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4306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154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14350"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Class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Class 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Class 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Cluster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Cluster 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Cluster 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31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32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33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latin typeface="Cambria Math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2592998"/>
                  </p:ext>
                </p:extLst>
              </p:nvPr>
            </p:nvGraphicFramePr>
            <p:xfrm>
              <a:off x="5334000" y="381000"/>
              <a:ext cx="3733800" cy="24384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843064"/>
                    <a:gridCol w="843064"/>
                    <a:gridCol w="843064"/>
                    <a:gridCol w="843064"/>
                    <a:gridCol w="361544"/>
                  </a:tblGrid>
                  <a:tr h="514350"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Class 1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Class 2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Class 3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Cluster 1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00719" t="-102381" r="-244604" b="-27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02174" t="-102381" r="-146377" b="-27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300000" t="-102381" r="-45324" b="-27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942373" t="-102381" r="-6780" b="-278571"/>
                          </a:stretch>
                        </a:blipFill>
                      </a:tcPr>
                    </a:tc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Cluster 2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00719" t="-200000" r="-244604" b="-17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02174" t="-200000" r="-146377" b="-17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300000" t="-200000" r="-45324" b="-17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942373" t="-200000" r="-6780" b="-175294"/>
                          </a:stretch>
                        </a:blipFill>
                      </a:tcPr>
                    </a:tc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Cluster 3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00719" t="-303571" r="-244604" b="-77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02174" t="-303571" r="-146377" b="-77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300000" t="-303571" r="-45324" b="-77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942373" t="-303571" r="-6780" b="-77381"/>
                          </a:stretch>
                        </a:blipFill>
                      </a:tcPr>
                    </a:tc>
                  </a:tr>
                  <a:tr h="381000"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00719" t="-538095" r="-244604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02174" t="-538095" r="-146377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300000" t="-538095" r="-45324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942373" t="-538095" r="-6780" b="-3175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1180370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914400"/>
            <a:ext cx="8229600" cy="990600"/>
          </a:xfrm>
        </p:spPr>
        <p:txBody>
          <a:bodyPr/>
          <a:lstStyle/>
          <a:p>
            <a:r>
              <a:rPr lang="en-US" dirty="0"/>
              <a:t>Measures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2438400"/>
                <a:ext cx="8229600" cy="4114800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Precision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Of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cluster i</a:t>
                </a:r>
                <a:r>
                  <a:rPr lang="en-US" dirty="0"/>
                  <a:t> with respect to </a:t>
                </a:r>
                <a:r>
                  <a:rPr lang="en-US" dirty="0">
                    <a:solidFill>
                      <a:srgbClr val="00B050"/>
                    </a:solidFill>
                  </a:rPr>
                  <a:t>class j: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𝑃𝑟𝑒𝑐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Recall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Of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cluster i</a:t>
                </a:r>
                <a:r>
                  <a:rPr lang="en-US" dirty="0"/>
                  <a:t> with respect to </a:t>
                </a:r>
                <a:r>
                  <a:rPr lang="en-US" dirty="0">
                    <a:solidFill>
                      <a:srgbClr val="00B050"/>
                    </a:solidFill>
                  </a:rPr>
                  <a:t>class j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𝑅𝑒𝑐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𝑖𝑗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F-measure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>
                    <a:solidFill>
                      <a:srgbClr val="00B050"/>
                    </a:solidFill>
                  </a:rPr>
                  <a:t>Harmonic Mean </a:t>
                </a:r>
                <a:r>
                  <a:rPr lang="en-US" dirty="0"/>
                  <a:t>of Precision and Recall: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𝑗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2∗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𝑃𝑟𝑒𝑐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𝑗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∗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𝑅𝑒𝑐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𝑃𝑟𝑒𝑐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𝑗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𝑅𝑒𝑐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2438400"/>
                <a:ext cx="8229600" cy="4114800"/>
              </a:xfrm>
              <a:blipFill rotWithShape="1">
                <a:blip r:embed="rId2"/>
                <a:stretch>
                  <a:fillRect l="-963" t="-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5334000" y="381000"/>
              <a:ext cx="3733800" cy="24384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84306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430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4306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4306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154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14350"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Class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Class 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Class 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Cluster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Cluster 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Cluster 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31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32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33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latin typeface="Cambria Math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6318976"/>
                  </p:ext>
                </p:extLst>
              </p:nvPr>
            </p:nvGraphicFramePr>
            <p:xfrm>
              <a:off x="5334000" y="381000"/>
              <a:ext cx="3733800" cy="24384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843064"/>
                    <a:gridCol w="843064"/>
                    <a:gridCol w="843064"/>
                    <a:gridCol w="843064"/>
                    <a:gridCol w="361544"/>
                  </a:tblGrid>
                  <a:tr h="514350"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Class 1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Class 2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Class 3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Cluster 1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00719" t="-102381" r="-244604" b="-27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02174" t="-102381" r="-146377" b="-27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300000" t="-102381" r="-45324" b="-27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942373" t="-102381" r="-6780" b="-278571"/>
                          </a:stretch>
                        </a:blipFill>
                      </a:tcPr>
                    </a:tc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Cluster 2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00719" t="-200000" r="-244604" b="-17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02174" t="-200000" r="-146377" b="-17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300000" t="-200000" r="-45324" b="-17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942373" t="-200000" r="-6780" b="-175294"/>
                          </a:stretch>
                        </a:blipFill>
                      </a:tcPr>
                    </a:tc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Cluster 3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00719" t="-303571" r="-244604" b="-77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02174" t="-303571" r="-146377" b="-77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300000" t="-303571" r="-45324" b="-77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942373" t="-303571" r="-6780" b="-77381"/>
                          </a:stretch>
                        </a:blipFill>
                      </a:tcPr>
                    </a:tc>
                  </a:tr>
                  <a:tr h="381000"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00719" t="-538095" r="-244604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02174" t="-538095" r="-146377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300000" t="-538095" r="-45324" b="-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942373" t="-538095" r="-6780" b="-3175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6842643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33612"/>
            <a:ext cx="8229600" cy="990600"/>
          </a:xfrm>
        </p:spPr>
        <p:txBody>
          <a:bodyPr/>
          <a:lstStyle/>
          <a:p>
            <a:r>
              <a:rPr lang="en-US" dirty="0"/>
              <a:t>Measures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2743200"/>
                <a:ext cx="8229600" cy="4114800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Assign to cluster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the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func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Precision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Of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cluster i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𝑃𝑟𝑒𝑐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b="0" dirty="0"/>
                  <a:t>Of the </a:t>
                </a:r>
                <a:r>
                  <a:rPr lang="en-US" b="0" dirty="0">
                    <a:solidFill>
                      <a:srgbClr val="002060"/>
                    </a:solidFill>
                  </a:rPr>
                  <a:t>clustering</a:t>
                </a:r>
                <a:r>
                  <a:rPr lang="en-US" b="0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𝑃𝑟𝑒𝑐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nary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𝑃𝑟𝑒𝑐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Recall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Of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cluster i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𝑅𝑒𝑐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𝑖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Of the </a:t>
                </a:r>
                <a:r>
                  <a:rPr lang="en-US" dirty="0">
                    <a:solidFill>
                      <a:srgbClr val="002060"/>
                    </a:solidFill>
                  </a:rPr>
                  <a:t>clustering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𝑅𝑒𝑐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nary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𝑅𝑒𝑐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F-measure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>
                    <a:solidFill>
                      <a:srgbClr val="00B050"/>
                    </a:solidFill>
                  </a:rPr>
                  <a:t>Harmonic Mean </a:t>
                </a:r>
                <a:r>
                  <a:rPr lang="en-US" dirty="0"/>
                  <a:t>of Precision and Recall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2743200"/>
                <a:ext cx="8229600" cy="4114800"/>
              </a:xfrm>
              <a:blipFill rotWithShape="1">
                <a:blip r:embed="rId2"/>
                <a:stretch>
                  <a:fillRect l="-593" t="-3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5410200" y="304800"/>
              <a:ext cx="3733800" cy="24384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84306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430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4306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4306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154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14350"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Class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Class 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Class 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Cluster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Cluster 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Cluster 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31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32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33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kumimoji="0" lang="en-US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latin typeface="Cambria Math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6724513"/>
                  </p:ext>
                </p:extLst>
              </p:nvPr>
            </p:nvGraphicFramePr>
            <p:xfrm>
              <a:off x="5410200" y="304800"/>
              <a:ext cx="3733800" cy="24384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843064"/>
                    <a:gridCol w="843064"/>
                    <a:gridCol w="843064"/>
                    <a:gridCol w="843064"/>
                    <a:gridCol w="361544"/>
                  </a:tblGrid>
                  <a:tr h="514350"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Class 1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Class 2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Class 3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Cluster 1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00000" t="-101176" r="-245324" b="-27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01449" t="-101176" r="-147101" b="-27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99281" t="-101176" r="-46043" b="-27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940678" t="-101176" r="-8475" b="-275294"/>
                          </a:stretch>
                        </a:blipFill>
                      </a:tcPr>
                    </a:tc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Cluster 2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00000" t="-203571" r="-245324" b="-17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01449" t="-203571" r="-147101" b="-17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99281" t="-203571" r="-46043" b="-17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940678" t="-203571" r="-8475" b="-178571"/>
                          </a:stretch>
                        </a:blipFill>
                      </a:tcPr>
                    </a:tc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Cluster 3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00000" t="-300000" r="-245324" b="-7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01449" t="-300000" r="-147101" b="-7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99281" t="-300000" r="-46043" b="-7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940678" t="-300000" r="-8475" b="-76471"/>
                          </a:stretch>
                        </a:blipFill>
                      </a:tcPr>
                    </a:tc>
                  </a:tr>
                  <a:tr h="381000"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00000" t="-548387" r="-245324" b="-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01449" t="-548387" r="-147101" b="-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99281" t="-548387" r="-46043" b="-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940678" t="-548387" r="-8475" b="-4839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5" name="TextBox 4"/>
          <p:cNvSpPr txBox="1"/>
          <p:nvPr/>
        </p:nvSpPr>
        <p:spPr>
          <a:xfrm>
            <a:off x="152400" y="1995577"/>
            <a:ext cx="51443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Precision/Recall for clusters and </a:t>
            </a:r>
            <a:r>
              <a:rPr lang="en-US" sz="2000" dirty="0" err="1">
                <a:solidFill>
                  <a:srgbClr val="C00000"/>
                </a:solidFill>
              </a:rPr>
              <a:t>clusterings</a:t>
            </a:r>
            <a:endParaRPr 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360245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and bad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5029200" y="1981200"/>
              <a:ext cx="3962400" cy="24384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84306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430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4306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4306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9014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14350"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Class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Class 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Class 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Cluster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35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35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/>
                                  </a:rPr>
                                  <m:t>90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Cluster 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30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42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38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110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Cluster 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38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35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27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100</a:t>
                          </a: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300</a:t>
                          </a: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5029200" y="1981200"/>
              <a:ext cx="3962400" cy="24384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843064"/>
                    <a:gridCol w="843064"/>
                    <a:gridCol w="843064"/>
                    <a:gridCol w="843064"/>
                    <a:gridCol w="590144"/>
                  </a:tblGrid>
                  <a:tr h="514350"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Class 1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Class 2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Class 3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Cluster 1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00719" t="-101176" r="-271942" b="-28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02174" t="-101176" r="-173913" b="-28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302174" t="-101176" r="-73913" b="-28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572165" t="-101176" r="-5155" b="-289412"/>
                          </a:stretch>
                        </a:blipFill>
                      </a:tcPr>
                    </a:tc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Cluster 2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00719" t="-203571" r="-271942" b="-19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02174" t="-203571" r="-173913" b="-19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302174" t="-203571" r="-73913" b="-19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572165" t="-203571" r="-5155" b="-192857"/>
                          </a:stretch>
                        </a:blipFill>
                      </a:tcPr>
                    </a:tc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Cluster 3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00719" t="-300000" r="-271942" b="-90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02174" t="-300000" r="-173913" b="-90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302174" t="-300000" r="-73913" b="-90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572165" t="-300000" r="-5155" b="-90588"/>
                          </a:stretch>
                        </a:blipFill>
                      </a:tcPr>
                    </a:tc>
                  </a:tr>
                  <a:tr h="381000"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00719" t="-548387" r="-271942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02174" t="-548387" r="-173913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100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300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381000" y="1981200"/>
              <a:ext cx="3962400" cy="24384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84306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430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4306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4306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9014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14350"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Class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Class 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Class 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Cluster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85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/>
                                  </a:rPr>
                                  <m:t>90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Cluster 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90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110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Cluster 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85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100</a:t>
                          </a: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300</a:t>
                          </a: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381000" y="1981200"/>
              <a:ext cx="3962400" cy="24384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843064"/>
                    <a:gridCol w="843064"/>
                    <a:gridCol w="843064"/>
                    <a:gridCol w="843064"/>
                    <a:gridCol w="590144"/>
                  </a:tblGrid>
                  <a:tr h="514350"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Class 1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Class 2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Class 3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Cluster 1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01449" t="-101176" r="-273913" b="-28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00000" t="-101176" r="-171942" b="-28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302174" t="-101176" r="-73188" b="-28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572165" t="-101176" r="-4124" b="-289412"/>
                          </a:stretch>
                        </a:blipFill>
                      </a:tcPr>
                    </a:tc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Cluster 2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01449" t="-203571" r="-273913" b="-19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00000" t="-203571" r="-171942" b="-19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302174" t="-203571" r="-73188" b="-19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572165" t="-203571" r="-4124" b="-192857"/>
                          </a:stretch>
                        </a:blipFill>
                      </a:tcPr>
                    </a:tc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Cluster 3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01449" t="-300000" r="-273913" b="-90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00000" t="-300000" r="-171942" b="-90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302174" t="-300000" r="-73188" b="-90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572165" t="-300000" r="-4124" b="-90588"/>
                          </a:stretch>
                        </a:blipFill>
                      </a:tcPr>
                    </a:tc>
                  </a:tr>
                  <a:tr h="381000"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101449" t="-548387" r="-273913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00000" t="-548387" r="-171942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100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300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TextBox 2"/>
          <p:cNvSpPr txBox="1"/>
          <p:nvPr/>
        </p:nvSpPr>
        <p:spPr>
          <a:xfrm>
            <a:off x="685800" y="4800600"/>
            <a:ext cx="308289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Purity</a:t>
            </a:r>
            <a:r>
              <a:rPr lang="en-US" dirty="0"/>
              <a:t>: (0.94, 0.81, 0.85) </a:t>
            </a:r>
          </a:p>
          <a:p>
            <a:r>
              <a:rPr lang="en-US" dirty="0"/>
              <a:t>	– overall 0.86</a:t>
            </a:r>
          </a:p>
          <a:p>
            <a:r>
              <a:rPr lang="en-US" dirty="0">
                <a:solidFill>
                  <a:srgbClr val="C00000"/>
                </a:solidFill>
              </a:rPr>
              <a:t>Precision</a:t>
            </a:r>
            <a:r>
              <a:rPr lang="en-US" dirty="0"/>
              <a:t>: (0.94, 0.81, 0.85) </a:t>
            </a:r>
          </a:p>
          <a:p>
            <a:r>
              <a:rPr lang="en-US" dirty="0"/>
              <a:t>	– overall 0.86</a:t>
            </a:r>
          </a:p>
          <a:p>
            <a:r>
              <a:rPr lang="en-US" dirty="0">
                <a:solidFill>
                  <a:srgbClr val="C00000"/>
                </a:solidFill>
              </a:rPr>
              <a:t>Recall</a:t>
            </a:r>
            <a:r>
              <a:rPr lang="en-US" dirty="0"/>
              <a:t>: (0.85, 0.9, 0.85)  </a:t>
            </a:r>
          </a:p>
          <a:p>
            <a:r>
              <a:rPr lang="en-US" dirty="0"/>
              <a:t>	- overall 0.87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4800600"/>
            <a:ext cx="308289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Purity</a:t>
            </a:r>
            <a:r>
              <a:rPr lang="en-US" dirty="0"/>
              <a:t>: (0.38, 0.38, 0.38) </a:t>
            </a:r>
          </a:p>
          <a:p>
            <a:r>
              <a:rPr lang="en-US" dirty="0"/>
              <a:t>	– overall 0.38</a:t>
            </a:r>
          </a:p>
          <a:p>
            <a:r>
              <a:rPr lang="en-US" dirty="0">
                <a:solidFill>
                  <a:srgbClr val="C00000"/>
                </a:solidFill>
              </a:rPr>
              <a:t>Precision</a:t>
            </a:r>
            <a:r>
              <a:rPr lang="en-US" dirty="0"/>
              <a:t>: (0.38, 0.38, 0.38) </a:t>
            </a:r>
          </a:p>
          <a:p>
            <a:r>
              <a:rPr lang="en-US" dirty="0"/>
              <a:t>	– overall 0.38</a:t>
            </a:r>
          </a:p>
          <a:p>
            <a:r>
              <a:rPr lang="en-US" dirty="0">
                <a:solidFill>
                  <a:srgbClr val="C00000"/>
                </a:solidFill>
              </a:rPr>
              <a:t>Recall</a:t>
            </a:r>
            <a:r>
              <a:rPr lang="en-US" dirty="0"/>
              <a:t>: (0.35, 0.42, 0.38) </a:t>
            </a:r>
          </a:p>
          <a:p>
            <a:r>
              <a:rPr lang="en-US" dirty="0"/>
              <a:t>	– overall 0.39 </a:t>
            </a:r>
          </a:p>
        </p:txBody>
      </p:sp>
    </p:spTree>
    <p:extLst>
      <p:ext uri="{BB962C8B-B14F-4D97-AF65-F5344CB8AC3E}">
        <p14:creationId xmlns:p14="http://schemas.microsoft.com/office/powerpoint/2010/main" val="242647447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1524000" y="2590800"/>
              <a:ext cx="3962400" cy="24384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84306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430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4306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4306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9014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14350"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Class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Class 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Class 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Cluster 1</a:t>
                          </a: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35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/>
                                  </a:rPr>
                                  <m:t>35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Cluster 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77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38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165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/>
                            <a:t>Cluster 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38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35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27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100</a:t>
                          </a: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300</a:t>
                          </a: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1524000" y="2590800"/>
              <a:ext cx="3962400" cy="24384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843064"/>
                    <a:gridCol w="843064"/>
                    <a:gridCol w="843064"/>
                    <a:gridCol w="843064"/>
                    <a:gridCol w="590144"/>
                  </a:tblGrid>
                  <a:tr h="514350"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Class 1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Class 2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Class 3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Cluster 1</a:t>
                          </a:r>
                          <a:endParaRPr lang="en-US" sz="1200" dirty="0"/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00719" t="-101176" r="-271942" b="-28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02174" t="-101176" r="-173913" b="-28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302174" t="-101176" r="-73913" b="-28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572165" t="-101176" r="-5155" b="-289412"/>
                          </a:stretch>
                        </a:blipFill>
                      </a:tcPr>
                    </a:tc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Cluster 2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00719" t="-203571" r="-271942" b="-19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02174" t="-203571" r="-173913" b="-19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302174" t="-203571" r="-73913" b="-19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572165" t="-203571" r="-5155" b="-192857"/>
                          </a:stretch>
                        </a:blipFill>
                      </a:tcPr>
                    </a:tc>
                  </a:tr>
                  <a:tr h="5143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 smtClean="0"/>
                            <a:t>Cluster 3</a:t>
                          </a:r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00719" t="-300000" r="-271942" b="-90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02174" t="-300000" r="-173913" b="-90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302174" t="-300000" r="-73913" b="-90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572165" t="-300000" r="-5155" b="-90588"/>
                          </a:stretch>
                        </a:blipFill>
                      </a:tcPr>
                    </a:tc>
                  </a:tr>
                  <a:tr h="381000">
                    <a:tc>
                      <a:txBody>
                        <a:bodyPr/>
                        <a:lstStyle/>
                        <a:p>
                          <a:pPr algn="ctr"/>
                          <a:endParaRPr lang="en-US" sz="1200" dirty="0"/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00719" t="-548387" r="-271942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02174" t="-548387" r="-173913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100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 smtClean="0"/>
                            <a:t>300</a:t>
                          </a:r>
                          <a:endParaRPr lang="en-US" sz="1800" dirty="0"/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TextBox 7"/>
          <p:cNvSpPr txBox="1"/>
          <p:nvPr/>
        </p:nvSpPr>
        <p:spPr>
          <a:xfrm>
            <a:off x="6019800" y="3581400"/>
            <a:ext cx="19928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Cluster 1: </a:t>
            </a:r>
          </a:p>
          <a:p>
            <a:pPr lvl="1"/>
            <a:r>
              <a:rPr lang="en-US" dirty="0"/>
              <a:t>Purity: 1</a:t>
            </a:r>
          </a:p>
          <a:p>
            <a:pPr lvl="1"/>
            <a:r>
              <a:rPr lang="en-US" dirty="0"/>
              <a:t>Precision: 1</a:t>
            </a:r>
          </a:p>
          <a:p>
            <a:pPr lvl="1"/>
            <a:r>
              <a:rPr lang="en-US" dirty="0"/>
              <a:t>Recall: 0.35  </a:t>
            </a:r>
          </a:p>
        </p:txBody>
      </p:sp>
    </p:spTree>
    <p:extLst>
      <p:ext uri="{BB962C8B-B14F-4D97-AF65-F5344CB8AC3E}">
        <p14:creationId xmlns:p14="http://schemas.microsoft.com/office/powerpoint/2010/main" val="48138957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External Measures of Cluster Validity: Entropy and Purity</a:t>
            </a:r>
          </a:p>
        </p:txBody>
      </p:sp>
      <p:graphicFrame>
        <p:nvGraphicFramePr>
          <p:cNvPr id="1677315" name="Object 3"/>
          <p:cNvGraphicFramePr>
            <a:graphicFrameLocks noChangeAspect="1"/>
          </p:cNvGraphicFramePr>
          <p:nvPr>
            <p:extLst/>
          </p:nvPr>
        </p:nvGraphicFramePr>
        <p:xfrm>
          <a:off x="533400" y="1600200"/>
          <a:ext cx="7753350" cy="495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1" name="Bitmap Image" r:id="rId3" imgW="9304826" imgH="6119390" progId="Paint.Picture">
                  <p:embed/>
                </p:oleObj>
              </mc:Choice>
              <mc:Fallback>
                <p:oleObj name="Bitmap Image" r:id="rId3" imgW="9304826" imgH="6119390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2864"/>
                      <a:stretch>
                        <a:fillRect/>
                      </a:stretch>
                    </p:blipFill>
                    <p:spPr bwMode="auto">
                      <a:xfrm>
                        <a:off x="533400" y="1600200"/>
                        <a:ext cx="7753350" cy="495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4652377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3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458200" cy="5105400"/>
          </a:xfrm>
        </p:spPr>
        <p:txBody>
          <a:bodyPr/>
          <a:lstStyle/>
          <a:p>
            <a:pPr marL="342900" indent="-342900">
              <a:lnSpc>
                <a:spcPts val="3200"/>
              </a:lnSpc>
              <a:spcBef>
                <a:spcPts val="800"/>
              </a:spcBef>
              <a:spcAft>
                <a:spcPts val="800"/>
              </a:spcAft>
              <a:buSzPct val="85000"/>
              <a:buFont typeface="Monotype Sorts" pitchFamily="2" charset="2"/>
              <a:buNone/>
            </a:pPr>
            <a:r>
              <a:rPr lang="en-US" dirty="0"/>
              <a:t>   “The validation of clustering structures is the most difficult and frustrating part of cluster analysis. </a:t>
            </a:r>
          </a:p>
          <a:p>
            <a:pPr marL="342900" indent="-342900">
              <a:lnSpc>
                <a:spcPts val="3200"/>
              </a:lnSpc>
              <a:spcBef>
                <a:spcPts val="800"/>
              </a:spcBef>
              <a:spcAft>
                <a:spcPts val="800"/>
              </a:spcAft>
              <a:buSzPct val="85000"/>
              <a:buFont typeface="Monotype Sorts" pitchFamily="2" charset="2"/>
              <a:buNone/>
            </a:pPr>
            <a:r>
              <a:rPr lang="en-US" dirty="0"/>
              <a:t>   Without a strong effort in this direction, cluster analysis will remain a black art accessible only to those true believers who have experience and great courage.”</a:t>
            </a:r>
          </a:p>
          <a:p>
            <a:pPr marL="342900" indent="-342900">
              <a:spcBef>
                <a:spcPct val="0"/>
              </a:spcBef>
              <a:buSzPct val="85000"/>
            </a:pPr>
            <a:endParaRPr lang="en-US" dirty="0"/>
          </a:p>
          <a:p>
            <a:pPr marL="342900" indent="-342900">
              <a:spcBef>
                <a:spcPct val="0"/>
              </a:spcBef>
              <a:buSzPct val="85000"/>
              <a:buFont typeface="Monotype Sorts" pitchFamily="2" charset="2"/>
              <a:buNone/>
            </a:pPr>
            <a:r>
              <a:rPr lang="en-US" i="1" dirty="0"/>
              <a:t>Algorithms for Clustering Data</a:t>
            </a:r>
            <a:r>
              <a:rPr lang="en-US" dirty="0"/>
              <a:t>, Jain and </a:t>
            </a:r>
            <a:r>
              <a:rPr lang="en-US" dirty="0" err="1"/>
              <a:t>Dubes</a:t>
            </a:r>
            <a:endParaRPr lang="en-US" dirty="0"/>
          </a:p>
        </p:txBody>
      </p:sp>
      <p:sp>
        <p:nvSpPr>
          <p:cNvPr id="1678339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Final Comment on Cluster Validity</a:t>
            </a:r>
          </a:p>
        </p:txBody>
      </p:sp>
    </p:spTree>
    <p:extLst>
      <p:ext uri="{BB962C8B-B14F-4D97-AF65-F5344CB8AC3E}">
        <p14:creationId xmlns:p14="http://schemas.microsoft.com/office/powerpoint/2010/main" val="27243604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9959</TotalTime>
  <Words>6203</Words>
  <Application>Microsoft Macintosh PowerPoint</Application>
  <PresentationFormat>On-screen Show (4:3)</PresentationFormat>
  <Paragraphs>1959</Paragraphs>
  <Slides>110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7</vt:i4>
      </vt:variant>
      <vt:variant>
        <vt:lpstr>Slide Titles</vt:lpstr>
      </vt:variant>
      <vt:variant>
        <vt:i4>110</vt:i4>
      </vt:variant>
    </vt:vector>
  </HeadingPairs>
  <TitlesOfParts>
    <vt:vector size="127" baseType="lpstr">
      <vt:lpstr>宋体</vt:lpstr>
      <vt:lpstr>Arial</vt:lpstr>
      <vt:lpstr>Calibri</vt:lpstr>
      <vt:lpstr>Cambria Math</vt:lpstr>
      <vt:lpstr>Monotype Sorts</vt:lpstr>
      <vt:lpstr>Symbol</vt:lpstr>
      <vt:lpstr>Tahoma</vt:lpstr>
      <vt:lpstr>Times New Roman</vt:lpstr>
      <vt:lpstr>Wingdings</vt:lpstr>
      <vt:lpstr>Clarity</vt:lpstr>
      <vt:lpstr>Document</vt:lpstr>
      <vt:lpstr>VISIO</vt:lpstr>
      <vt:lpstr>Bitmap Image</vt:lpstr>
      <vt:lpstr>Visio</vt:lpstr>
      <vt:lpstr>Equation</vt:lpstr>
      <vt:lpstr>MSPhotoEd.3</vt:lpstr>
      <vt:lpstr>Εξίσωση</vt:lpstr>
      <vt:lpstr>DATA MINING LECTURE 5</vt:lpstr>
      <vt:lpstr>What is a Clustering?</vt:lpstr>
      <vt:lpstr>Applications of Cluster Analysis</vt:lpstr>
      <vt:lpstr>Early applications of cluster analysis</vt:lpstr>
      <vt:lpstr>Notion of a Cluster can be Ambiguous</vt:lpstr>
      <vt:lpstr>Types of Clusterings</vt:lpstr>
      <vt:lpstr>Partitional Clustering</vt:lpstr>
      <vt:lpstr>Hierarchical Clustering</vt:lpstr>
      <vt:lpstr>Other types of clustering</vt:lpstr>
      <vt:lpstr>Clustering objectives</vt:lpstr>
      <vt:lpstr>Clustering objectives</vt:lpstr>
      <vt:lpstr>Clustering objectives</vt:lpstr>
      <vt:lpstr>Types of Clusters: Density-Based</vt:lpstr>
      <vt:lpstr>Clustering objectives</vt:lpstr>
      <vt:lpstr>Types of Clusters: Objective Function</vt:lpstr>
      <vt:lpstr>Clustering Algorithms</vt:lpstr>
      <vt:lpstr>K-means</vt:lpstr>
      <vt:lpstr>K-means Clustering</vt:lpstr>
      <vt:lpstr>K-means Clustering</vt:lpstr>
      <vt:lpstr>K-means Clustering</vt:lpstr>
      <vt:lpstr>Complexity of the k-means problem</vt:lpstr>
      <vt:lpstr>K-means Algorithm</vt:lpstr>
      <vt:lpstr>K-means Algorithm – Initialization</vt:lpstr>
      <vt:lpstr>Two different K-means Clusterings</vt:lpstr>
      <vt:lpstr>Importance of Choosing Initial Centroids</vt:lpstr>
      <vt:lpstr>Importance of Choosing Initial Centroids</vt:lpstr>
      <vt:lpstr>Importance of Choosing Initial Centroids</vt:lpstr>
      <vt:lpstr>Importance of Choosing Initial Centroids …</vt:lpstr>
      <vt:lpstr>Dealing with Initialization</vt:lpstr>
      <vt:lpstr>K-means Algorithm – Centroids</vt:lpstr>
      <vt:lpstr>K-means Algorithm – Convergence</vt:lpstr>
      <vt:lpstr>Limitations of K-means</vt:lpstr>
      <vt:lpstr>Limitations of K-means: Differing Sizes</vt:lpstr>
      <vt:lpstr>Limitations of K-means: Differing Density</vt:lpstr>
      <vt:lpstr>Limitations of K-means: Non-globular Shapes</vt:lpstr>
      <vt:lpstr>Overcoming K-means Limitations</vt:lpstr>
      <vt:lpstr>Overcoming K-means Limitations</vt:lpstr>
      <vt:lpstr>Overcoming K-means Limitations</vt:lpstr>
      <vt:lpstr>Variations</vt:lpstr>
      <vt:lpstr>HIERARCHICAL CLUSTERING</vt:lpstr>
      <vt:lpstr>Hierarchical Clustering</vt:lpstr>
      <vt:lpstr>Hierarchical Clustering </vt:lpstr>
      <vt:lpstr>Strengths of Hierarchical Clustering</vt:lpstr>
      <vt:lpstr>Agglomerative Clustering Algorithm</vt:lpstr>
      <vt:lpstr>Starting Situation </vt:lpstr>
      <vt:lpstr>Intermediate Situation</vt:lpstr>
      <vt:lpstr>Intermediate Situation</vt:lpstr>
      <vt:lpstr>After Merging</vt:lpstr>
      <vt:lpstr>How to Define Inter-Cluster Similarity</vt:lpstr>
      <vt:lpstr>How to Define Inter-Cluster Similarity</vt:lpstr>
      <vt:lpstr>How to Define Inter-Cluster Similarity</vt:lpstr>
      <vt:lpstr>How to Define Inter-Cluster Similarity</vt:lpstr>
      <vt:lpstr>How to Define Inter-Cluster Similarity</vt:lpstr>
      <vt:lpstr>Single Link – Complete Link</vt:lpstr>
      <vt:lpstr>Hierarchical Clustering: MIN</vt:lpstr>
      <vt:lpstr>Strength of MIN</vt:lpstr>
      <vt:lpstr>Limitations of MIN</vt:lpstr>
      <vt:lpstr>Hierarchical Clustering: MAX</vt:lpstr>
      <vt:lpstr>Strength of MAX</vt:lpstr>
      <vt:lpstr>Limitations of MAX</vt:lpstr>
      <vt:lpstr>Cluster Similarity: Group Average</vt:lpstr>
      <vt:lpstr>Hierarchical Clustering: Group Average</vt:lpstr>
      <vt:lpstr>Hierarchical Clustering: Group Average</vt:lpstr>
      <vt:lpstr>Cluster Similarity: Ward’s Method</vt:lpstr>
      <vt:lpstr>Hierarchical Clustering: Comparison</vt:lpstr>
      <vt:lpstr>Hierarchical Clustering:   Time and Space requirements</vt:lpstr>
      <vt:lpstr>Hierarchical Clustering:   Problems and Limitations</vt:lpstr>
      <vt:lpstr>DBSCAN</vt:lpstr>
      <vt:lpstr>DBSCAN: Density-Based Clustering</vt:lpstr>
      <vt:lpstr>DBSCAN</vt:lpstr>
      <vt:lpstr>DBSCAN: Core, Border, and Noise Points</vt:lpstr>
      <vt:lpstr>DBSCAN: Core, Border and Noise Points</vt:lpstr>
      <vt:lpstr>Density-Connected points</vt:lpstr>
      <vt:lpstr>DBSCAN Algorithm</vt:lpstr>
      <vt:lpstr>DBSCAN: Determining Eps and MinPts</vt:lpstr>
      <vt:lpstr>When DBSCAN Works Well</vt:lpstr>
      <vt:lpstr>When DBSCAN Does NOT Work Well</vt:lpstr>
      <vt:lpstr>DBSCAN: Sensitive to Parameters</vt:lpstr>
      <vt:lpstr>Other algorithms</vt:lpstr>
      <vt:lpstr>CLUSTERING Evaluation</vt:lpstr>
      <vt:lpstr>Clustering Evaluation</vt:lpstr>
      <vt:lpstr>Clusters found in Random Data</vt:lpstr>
      <vt:lpstr>Different Aspects of Cluster Validation</vt:lpstr>
      <vt:lpstr>Measures of Cluster Validity</vt:lpstr>
      <vt:lpstr>Measuring Cluster Validity Via Correlation</vt:lpstr>
      <vt:lpstr>Measuring Cluster Validity Via Correlation</vt:lpstr>
      <vt:lpstr>Using Similarity Matrix for Cluster Validation</vt:lpstr>
      <vt:lpstr>Using Similarity Matrix for Cluster Validation</vt:lpstr>
      <vt:lpstr>Using Similarity Matrix for Cluster Validation</vt:lpstr>
      <vt:lpstr>Using Similarity Matrix for Cluster Validation</vt:lpstr>
      <vt:lpstr>Using Similarity Matrix for Cluster Validation</vt:lpstr>
      <vt:lpstr>Internal Measures: SSE</vt:lpstr>
      <vt:lpstr>Internal Measures: Cohesion and Separation</vt:lpstr>
      <vt:lpstr>Internal Measures: Cohesion and Separation</vt:lpstr>
      <vt:lpstr>Internal measures – caveats </vt:lpstr>
      <vt:lpstr>Framework for Cluster Validity</vt:lpstr>
      <vt:lpstr>Statistical Framework for SSE</vt:lpstr>
      <vt:lpstr>Statistical Framework for Correlation</vt:lpstr>
      <vt:lpstr>Empirical p-value</vt:lpstr>
      <vt:lpstr>Estimating the “right” number of clusters</vt:lpstr>
      <vt:lpstr>Estimating the “right” number of clusters</vt:lpstr>
      <vt:lpstr>External Measures for Clustering Validity</vt:lpstr>
      <vt:lpstr>Confusion matrix</vt:lpstr>
      <vt:lpstr>Measures</vt:lpstr>
      <vt:lpstr>Measures</vt:lpstr>
      <vt:lpstr>Measures</vt:lpstr>
      <vt:lpstr>Good and bad clustering</vt:lpstr>
      <vt:lpstr>Another clustering</vt:lpstr>
      <vt:lpstr>External Measures of Cluster Validity: Entropy and Purity</vt:lpstr>
      <vt:lpstr>Final Comment on Cluster Validity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tsap</dc:creator>
  <cp:lastModifiedBy>Microsoft Office User</cp:lastModifiedBy>
  <cp:revision>364</cp:revision>
  <dcterms:created xsi:type="dcterms:W3CDTF">2011-10-17T19:46:53Z</dcterms:created>
  <dcterms:modified xsi:type="dcterms:W3CDTF">2019-04-06T09:17:35Z</dcterms:modified>
</cp:coreProperties>
</file>