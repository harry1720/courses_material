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9"/>
  </p:notesMasterIdLst>
  <p:sldIdLst>
    <p:sldId id="256" r:id="rId5"/>
    <p:sldId id="257" r:id="rId6"/>
    <p:sldId id="268" r:id="rId7"/>
    <p:sldId id="258" r:id="rId8"/>
    <p:sldId id="262" r:id="rId9"/>
    <p:sldId id="269" r:id="rId10"/>
    <p:sldId id="288" r:id="rId11"/>
    <p:sldId id="259" r:id="rId12"/>
    <p:sldId id="270" r:id="rId13"/>
    <p:sldId id="274" r:id="rId14"/>
    <p:sldId id="275" r:id="rId15"/>
    <p:sldId id="289" r:id="rId16"/>
    <p:sldId id="260" r:id="rId17"/>
    <p:sldId id="276" r:id="rId18"/>
    <p:sldId id="290" r:id="rId19"/>
    <p:sldId id="277" r:id="rId20"/>
    <p:sldId id="291" r:id="rId21"/>
    <p:sldId id="261" r:id="rId22"/>
    <p:sldId id="278" r:id="rId23"/>
    <p:sldId id="266" r:id="rId24"/>
    <p:sldId id="263" r:id="rId25"/>
    <p:sldId id="283" r:id="rId26"/>
    <p:sldId id="292" r:id="rId27"/>
    <p:sldId id="267" r:id="rId28"/>
  </p:sldIdLst>
  <p:sldSz cx="12192000" cy="6858000"/>
  <p:notesSz cx="6858000" cy="9144000"/>
  <p:defaultTextStyle>
    <a:defPPr>
      <a:defRPr lang="en-US"/>
    </a:defPPr>
    <a:lvl1pPr marL="0" algn="l" defTabSz="9142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08" algn="l" defTabSz="9142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18" algn="l" defTabSz="9142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6" algn="l" defTabSz="9142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4" algn="l" defTabSz="9142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3" algn="l" defTabSz="9142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2" algn="l" defTabSz="9142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0" algn="l" defTabSz="9142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68" algn="l" defTabSz="9142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95A1"/>
    <a:srgbClr val="0097B1"/>
    <a:srgbClr val="C4631B"/>
    <a:srgbClr val="608566"/>
    <a:srgbClr val="7E7C31"/>
    <a:srgbClr val="E2B8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1159" autoAdjust="0"/>
  </p:normalViewPr>
  <p:slideViewPr>
    <p:cSldViewPr snapToGrid="0">
      <p:cViewPr varScale="1">
        <p:scale>
          <a:sx n="53" d="100"/>
          <a:sy n="53" d="100"/>
        </p:scale>
        <p:origin x="1738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023AED-185E-4765-942A-49DC24CA15F9}" type="datetimeFigureOut">
              <a:rPr lang="en-US" smtClean="0"/>
              <a:t>01/02/2026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EC5671-5E5F-4FAA-8D28-7761E0EB7D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643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EC5671-5E5F-4FAA-8D28-7761E0EB7D0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709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"/>
            <a:r>
              <a:rPr lang="vi-V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 thống của nhóm là một web application dành cho admin, phục vụ việc quản lý xe như thêm, sửa, xóa và xem danh sách xe.</a:t>
            </a:r>
          </a:p>
          <a:p>
            <a:pPr rtl="0" fontAlgn="b"/>
            <a:r>
              <a:rPr lang="vi-VN" sz="12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Ứng dụng được chia rõ thành frontend, backend và database, triển khai theo mô hình</a:t>
            </a:r>
            <a:r>
              <a:rPr lang="vi-V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client–server.</a:t>
            </a:r>
            <a:endParaRPr lang="vi-V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b"/>
            <a:r>
              <a:rPr lang="vi-VN" sz="12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Mục tiêu của nhóm không chỉ là xây dựng ứng dụng web, mà là triển khai một hệ thống hoàn chỉnh trên cloud, </a:t>
            </a:r>
            <a:r>
              <a:rPr lang="vi-VN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đúng với nội dung môn học</a:t>
            </a:r>
            <a:r>
              <a:rPr lang="vi-VN" sz="12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vi-V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EC5671-5E5F-4FAA-8D28-7761E0EB7D0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7089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"/>
            <a:endParaRPr lang="vi-V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EC5671-5E5F-4FAA-8D28-7761E0EB7D0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9785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Luồng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triển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khai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cloud.</a:t>
            </a:r>
          </a:p>
          <a:p>
            <a:pPr rtl="0" fontAlgn="b"/>
            <a:r>
              <a:rPr lang="vi-VN" dirty="0"/>
              <a:t>Hình minh họa kiến trúc triển khai website showroom ô tô VinFast trên nền tảng điện toán đám mây AWS.</a:t>
            </a:r>
            <a:br>
              <a:rPr lang="vi-VN" dirty="0"/>
            </a:br>
            <a:r>
              <a:rPr lang="vi-VN" dirty="0"/>
              <a:t>Hệ thống </a:t>
            </a:r>
            <a:r>
              <a:rPr lang="vi-VN" b="1" dirty="0"/>
              <a:t>được triển khai trên một máy chủ AWS EC2, </a:t>
            </a:r>
            <a:r>
              <a:rPr lang="vi-VN" dirty="0"/>
              <a:t>trong đó frontend và backend được tách biệt rõ ràng.</a:t>
            </a:r>
            <a:endParaRPr lang="en-US" dirty="0"/>
          </a:p>
          <a:p>
            <a:pPr marL="0" marR="0" lvl="0" indent="0" algn="l" defTabSz="9144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Frontend và backend chạy trong các Docker container riêng biệt, giao tiếp qua Docker network nội bộ.</a:t>
            </a:r>
            <a:br>
              <a:rPr lang="vi-VN" b="1" dirty="0"/>
            </a:br>
            <a:r>
              <a:rPr lang="vi-VN" dirty="0"/>
              <a:t>Quản trị viên truy cập và quản lý hệ thống thông qua SSH bằng khóa bảo mật .pem.</a:t>
            </a:r>
            <a:r>
              <a:rPr lang="en-US" dirty="0"/>
              <a:t> (Quản </a:t>
            </a:r>
            <a:r>
              <a:rPr lang="en-US" dirty="0" err="1"/>
              <a:t>trị</a:t>
            </a:r>
            <a:r>
              <a:rPr lang="en-US" dirty="0"/>
              <a:t> server </a:t>
            </a:r>
            <a:r>
              <a:rPr lang="en-US" dirty="0" err="1"/>
              <a:t>thông</a:t>
            </a:r>
            <a:r>
              <a:rPr lang="en-US" dirty="0"/>
              <a:t> qua </a:t>
            </a:r>
            <a:r>
              <a:rPr lang="en-US" b="1" dirty="0"/>
              <a:t>SSH (.</a:t>
            </a:r>
            <a:r>
              <a:rPr lang="en-US" b="1" dirty="0" err="1"/>
              <a:t>pem</a:t>
            </a:r>
            <a:r>
              <a:rPr lang="en-US" b="1" dirty="0"/>
              <a:t> key))</a:t>
            </a:r>
          </a:p>
          <a:p>
            <a:pPr marL="0" marR="0" lvl="0" indent="0" algn="l" defTabSz="9144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/>
          </a:p>
          <a:p>
            <a:r>
              <a:rPr lang="vi-VN" b="1" dirty="0"/>
              <a:t>Xác thực SSH bằng key (.pem)</a:t>
            </a:r>
          </a:p>
          <a:p>
            <a:r>
              <a:rPr lang="vi-VN" dirty="0"/>
              <a:t>Thay vì mật khẩu, SSH sử dụng </a:t>
            </a:r>
            <a:r>
              <a:rPr lang="vi-VN" b="1" dirty="0"/>
              <a:t>cặp khóa mã hóa</a:t>
            </a:r>
            <a:endParaRPr lang="vi-VN" dirty="0"/>
          </a:p>
          <a:p>
            <a:pPr lvl="1"/>
            <a:r>
              <a:rPr lang="vi-VN" b="1" dirty="0"/>
              <a:t>Private key</a:t>
            </a:r>
            <a:r>
              <a:rPr lang="vi-VN" dirty="0"/>
              <a:t>: file </a:t>
            </a:r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.pem</a:t>
            </a:r>
            <a:r>
              <a:rPr lang="vi-VN" dirty="0"/>
              <a:t> (lưu trên máy cá nhân)</a:t>
            </a:r>
          </a:p>
          <a:p>
            <a:pPr lvl="1"/>
            <a:r>
              <a:rPr lang="vi-VN" b="1" dirty="0"/>
              <a:t>Public key</a:t>
            </a:r>
            <a:r>
              <a:rPr lang="vi-VN" dirty="0"/>
              <a:t>: lưu trên server EC2</a:t>
            </a:r>
          </a:p>
          <a:p>
            <a:r>
              <a:rPr lang="vi-VN" dirty="0"/>
              <a:t>Chỉ người có file </a:t>
            </a:r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.pem</a:t>
            </a:r>
            <a:r>
              <a:rPr lang="vi-VN" dirty="0"/>
              <a:t> hợp lệ mới có thể đăng nhập</a:t>
            </a:r>
          </a:p>
          <a:p>
            <a:pPr marL="0" marR="0" lvl="0" indent="0" algn="l" defTabSz="9144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rtl="0" fontAlgn="b"/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b"/>
            <a:r>
              <a:rPr lang="en-US" b="1" dirty="0"/>
              <a:t>SSH (Secure Shell)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b="1" dirty="0" err="1"/>
              <a:t>giao</a:t>
            </a:r>
            <a:r>
              <a:rPr lang="en-US" b="1" dirty="0"/>
              <a:t> </a:t>
            </a:r>
            <a:r>
              <a:rPr lang="en-US" b="1" dirty="0" err="1"/>
              <a:t>thức</a:t>
            </a:r>
            <a:r>
              <a:rPr lang="en-US" b="1" dirty="0"/>
              <a:t> </a:t>
            </a:r>
            <a:r>
              <a:rPr lang="en-US" b="1" dirty="0" err="1"/>
              <a:t>mạng</a:t>
            </a:r>
            <a:r>
              <a:rPr lang="en-US" b="1" dirty="0"/>
              <a:t> </a:t>
            </a:r>
            <a:r>
              <a:rPr lang="en-US" b="1" dirty="0" err="1"/>
              <a:t>bảo</a:t>
            </a:r>
            <a:r>
              <a:rPr lang="en-US" b="1" dirty="0"/>
              <a:t> </a:t>
            </a:r>
            <a:r>
              <a:rPr lang="en-US" b="1" dirty="0" err="1"/>
              <a:t>mật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b="1" dirty="0" err="1"/>
              <a:t>truy</a:t>
            </a:r>
            <a:r>
              <a:rPr lang="en-US" b="1" dirty="0"/>
              <a:t> </a:t>
            </a:r>
            <a:r>
              <a:rPr lang="en-US" b="1" dirty="0" err="1"/>
              <a:t>cập</a:t>
            </a:r>
            <a:r>
              <a:rPr lang="en-US" b="1" dirty="0"/>
              <a:t> </a:t>
            </a:r>
            <a:r>
              <a:rPr lang="en-US" b="1" dirty="0" err="1"/>
              <a:t>và</a:t>
            </a:r>
            <a:r>
              <a:rPr lang="en-US" b="1" dirty="0"/>
              <a:t> </a:t>
            </a:r>
            <a:r>
              <a:rPr lang="en-US" b="1" dirty="0" err="1"/>
              <a:t>điều</a:t>
            </a:r>
            <a:r>
              <a:rPr lang="en-US" b="1" dirty="0"/>
              <a:t> </a:t>
            </a:r>
            <a:r>
              <a:rPr lang="en-US" b="1" dirty="0" err="1"/>
              <a:t>khiển</a:t>
            </a:r>
            <a:r>
              <a:rPr lang="en-US" b="1" dirty="0"/>
              <a:t> </a:t>
            </a:r>
            <a:r>
              <a:rPr lang="en-US" b="1" dirty="0" err="1"/>
              <a:t>máy</a:t>
            </a:r>
            <a:r>
              <a:rPr lang="en-US" b="1" dirty="0"/>
              <a:t> </a:t>
            </a:r>
            <a:r>
              <a:rPr lang="en-US" b="1" dirty="0" err="1"/>
              <a:t>chủ</a:t>
            </a:r>
            <a:r>
              <a:rPr lang="en-US" b="1" dirty="0"/>
              <a:t> </a:t>
            </a:r>
            <a:r>
              <a:rPr lang="en-US" b="1" dirty="0" err="1"/>
              <a:t>từ</a:t>
            </a:r>
            <a:r>
              <a:rPr lang="en-US" b="1" dirty="0"/>
              <a:t> xa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qua </a:t>
            </a:r>
            <a:r>
              <a:rPr lang="en-US" dirty="0" err="1"/>
              <a:t>dòng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, </a:t>
            </a:r>
            <a:r>
              <a:rPr lang="en-US" dirty="0" err="1"/>
              <a:t>phổ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server.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EC5671-5E5F-4FAA-8D28-7761E0EB7D0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5690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EC5671-5E5F-4FAA-8D28-7761E0EB7D0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1944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64AC6-9084-9A07-2306-7621443C2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7A0232-A7A7-4F53-F544-1C2710F051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CCEAF6-184E-3261-F3C3-297CE96CE7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92E77E-7B83-6F61-DD6F-DE6A17BBC4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EC5671-5E5F-4FAA-8D28-7761E0EB7D0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5189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A4479-4526-CCAA-2E05-350B2BB09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CC2C54-8D52-237C-6E72-7DEF78CA1A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4E3412-AD96-DA52-0234-8EC64999D5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80F3A1-9B89-26AF-0F56-7B87B4C522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EC5671-5E5F-4FAA-8D28-7761E0EB7D0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548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5D291-5C5C-EAED-328A-50962499F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E81B82-C6F3-8EFB-FF40-2DE2A97D62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55A043-B4D2-6B50-0EE0-F1992927F6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C6C408-FAEF-F3C5-F049-EB87123B21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EC5671-5E5F-4FAA-8D28-7761E0EB7D0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1386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81C23-C1AA-7BDD-5757-1F487C8C7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96173B-F686-1848-49C5-57DCA56B84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5C7F3A-BDBA-CECF-A8BD-617169C027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4468A4-5802-0BB2-AE50-86F0593F60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EC5671-5E5F-4FAA-8D28-7761E0EB7D0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1269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11E3D-A4FB-BD25-F2BD-1E838BF87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BA621C-209D-9AC0-7A4C-496F2FE2E2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6533A4-384E-AA28-3AFE-864D2F6558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7BF435-3316-BC0B-FA1B-24BFA279CA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EC5671-5E5F-4FAA-8D28-7761E0EB7D0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0383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565AC-D422-19DC-4712-DB4201AF6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F08E73-D2B4-2614-EC24-DD6A461D0F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6BB9DC-10C5-53E6-AEA3-01373F5033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1A3B17-61F6-8742-420C-4CB98008A4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EC5671-5E5F-4FAA-8D28-7761E0EB7D0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584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rgbClr val="C00000"/>
                </a:solidFill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008080"/>
                </a:solidFill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  <a:lvl2pPr marL="457246" indent="0" algn="ctr">
              <a:buNone/>
              <a:defRPr sz="2000"/>
            </a:lvl2pPr>
            <a:lvl3pPr marL="914492" indent="0" algn="ctr">
              <a:buNone/>
              <a:defRPr sz="1800"/>
            </a:lvl3pPr>
            <a:lvl4pPr marL="1371738" indent="0" algn="ctr">
              <a:buNone/>
              <a:defRPr sz="1600"/>
            </a:lvl4pPr>
            <a:lvl5pPr marL="1828983" indent="0" algn="ctr">
              <a:buNone/>
              <a:defRPr sz="1600"/>
            </a:lvl5pPr>
            <a:lvl6pPr marL="2286228" indent="0" algn="ctr">
              <a:buNone/>
              <a:defRPr sz="1600"/>
            </a:lvl6pPr>
            <a:lvl7pPr marL="2743475" indent="0" algn="ctr">
              <a:buNone/>
              <a:defRPr sz="1600"/>
            </a:lvl7pPr>
            <a:lvl8pPr marL="3200720" indent="0" algn="ctr">
              <a:buNone/>
              <a:defRPr sz="1600"/>
            </a:lvl8pPr>
            <a:lvl9pPr marL="365796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7FD2D-7E25-40C1-B99F-845E4B320A5D}" type="datetime1">
              <a:rPr lang="en-GB" smtClean="0"/>
              <a:t>01/02/2026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9007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15848B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just">
              <a:defRPr/>
            </a:lvl1pPr>
            <a:lvl2pPr algn="just">
              <a:defRPr/>
            </a:lvl2pPr>
            <a:lvl3pPr algn="just">
              <a:defRPr/>
            </a:lvl3pPr>
            <a:lvl4pPr algn="just">
              <a:defRPr/>
            </a:lvl4pPr>
            <a:lvl5pPr algn="just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0B88C4B-DC86-4C2C-9282-EF36252EDE3D}" type="datetime1">
              <a:rPr lang="en-GB" smtClean="0"/>
              <a:t>01/02/2026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A3D6EC1-CEF0-44B9-AC69-1554EEB371D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4427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42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7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4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9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73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98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22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47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7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9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E3996-AE48-4B3D-9E71-1B991F732A9A}" type="datetime1">
              <a:rPr lang="en-GB" smtClean="0"/>
              <a:t>01/02/2026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3709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808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095130"/>
            <a:ext cx="5181600" cy="40818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095129"/>
            <a:ext cx="5181600" cy="40818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525B3-BBC4-4703-BD1C-0DA01B4C84D1}" type="datetime1">
              <a:rPr lang="en-GB" smtClean="0"/>
              <a:t>01/02/2026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0018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866776"/>
            <a:ext cx="10515600" cy="8239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91" y="1857375"/>
            <a:ext cx="5157787" cy="6477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46" indent="0">
              <a:buNone/>
              <a:defRPr sz="2000" b="1"/>
            </a:lvl2pPr>
            <a:lvl3pPr marL="914492" indent="0">
              <a:buNone/>
              <a:defRPr sz="1800" b="1"/>
            </a:lvl3pPr>
            <a:lvl4pPr marL="1371738" indent="0">
              <a:buNone/>
              <a:defRPr sz="1600" b="1"/>
            </a:lvl4pPr>
            <a:lvl5pPr marL="1828983" indent="0">
              <a:buNone/>
              <a:defRPr sz="1600" b="1"/>
            </a:lvl5pPr>
            <a:lvl6pPr marL="2286228" indent="0">
              <a:buNone/>
              <a:defRPr sz="1600" b="1"/>
            </a:lvl6pPr>
            <a:lvl7pPr marL="2743475" indent="0">
              <a:buNone/>
              <a:defRPr sz="1600" b="1"/>
            </a:lvl7pPr>
            <a:lvl8pPr marL="3200720" indent="0">
              <a:buNone/>
              <a:defRPr sz="1600" b="1"/>
            </a:lvl8pPr>
            <a:lvl9pPr marL="365796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91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857375"/>
            <a:ext cx="5183188" cy="6477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46" indent="0">
              <a:buNone/>
              <a:defRPr sz="2000" b="1"/>
            </a:lvl2pPr>
            <a:lvl3pPr marL="914492" indent="0">
              <a:buNone/>
              <a:defRPr sz="1800" b="1"/>
            </a:lvl3pPr>
            <a:lvl4pPr marL="1371738" indent="0">
              <a:buNone/>
              <a:defRPr sz="1600" b="1"/>
            </a:lvl4pPr>
            <a:lvl5pPr marL="1828983" indent="0">
              <a:buNone/>
              <a:defRPr sz="1600" b="1"/>
            </a:lvl5pPr>
            <a:lvl6pPr marL="2286228" indent="0">
              <a:buNone/>
              <a:defRPr sz="1600" b="1"/>
            </a:lvl6pPr>
            <a:lvl7pPr marL="2743475" indent="0">
              <a:buNone/>
              <a:defRPr sz="1600" b="1"/>
            </a:lvl7pPr>
            <a:lvl8pPr marL="3200720" indent="0">
              <a:buNone/>
              <a:defRPr sz="1600" b="1"/>
            </a:lvl8pPr>
            <a:lvl9pPr marL="365796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8F96C-A2A7-48B1-995F-FE6A4B26DD04}" type="datetime1">
              <a:rPr lang="en-GB" smtClean="0"/>
              <a:t>01/02/2026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3579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3BA79-5C94-43C3-80FC-24E7FCDB2BC8}" type="datetime1">
              <a:rPr lang="en-GB" smtClean="0"/>
              <a:t>01/02/2026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9901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0459A-180A-4F93-9C7D-2A283963F1AB}" type="datetime1">
              <a:rPr lang="en-GB" smtClean="0"/>
              <a:t>01/02/2026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7016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1" y="987428"/>
            <a:ext cx="3932237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1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46" indent="0">
              <a:buNone/>
              <a:defRPr sz="1400"/>
            </a:lvl2pPr>
            <a:lvl3pPr marL="914492" indent="0">
              <a:buNone/>
              <a:defRPr sz="1200"/>
            </a:lvl3pPr>
            <a:lvl4pPr marL="1371738" indent="0">
              <a:buNone/>
              <a:defRPr sz="1000"/>
            </a:lvl4pPr>
            <a:lvl5pPr marL="1828983" indent="0">
              <a:buNone/>
              <a:defRPr sz="1000"/>
            </a:lvl5pPr>
            <a:lvl6pPr marL="2286228" indent="0">
              <a:buNone/>
              <a:defRPr sz="1000"/>
            </a:lvl6pPr>
            <a:lvl7pPr marL="2743475" indent="0">
              <a:buNone/>
              <a:defRPr sz="1000"/>
            </a:lvl7pPr>
            <a:lvl8pPr marL="3200720" indent="0">
              <a:buNone/>
              <a:defRPr sz="1000"/>
            </a:lvl8pPr>
            <a:lvl9pPr marL="365796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CB542-E9D4-459A-86D4-3FEF9E1749F7}" type="datetime1">
              <a:rPr lang="en-GB" smtClean="0"/>
              <a:t>01/02/2026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6821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1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46" indent="0">
              <a:buNone/>
              <a:defRPr sz="2800"/>
            </a:lvl2pPr>
            <a:lvl3pPr marL="914492" indent="0">
              <a:buNone/>
              <a:defRPr sz="2400"/>
            </a:lvl3pPr>
            <a:lvl4pPr marL="1371738" indent="0">
              <a:buNone/>
              <a:defRPr sz="2000"/>
            </a:lvl4pPr>
            <a:lvl5pPr marL="1828983" indent="0">
              <a:buNone/>
              <a:defRPr sz="2000"/>
            </a:lvl5pPr>
            <a:lvl6pPr marL="2286228" indent="0">
              <a:buNone/>
              <a:defRPr sz="2000"/>
            </a:lvl6pPr>
            <a:lvl7pPr marL="2743475" indent="0">
              <a:buNone/>
              <a:defRPr sz="2000"/>
            </a:lvl7pPr>
            <a:lvl8pPr marL="3200720" indent="0">
              <a:buNone/>
              <a:defRPr sz="2000"/>
            </a:lvl8pPr>
            <a:lvl9pPr marL="3657966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1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46" indent="0">
              <a:buNone/>
              <a:defRPr sz="1400"/>
            </a:lvl2pPr>
            <a:lvl3pPr marL="914492" indent="0">
              <a:buNone/>
              <a:defRPr sz="1200"/>
            </a:lvl3pPr>
            <a:lvl4pPr marL="1371738" indent="0">
              <a:buNone/>
              <a:defRPr sz="1000"/>
            </a:lvl4pPr>
            <a:lvl5pPr marL="1828983" indent="0">
              <a:buNone/>
              <a:defRPr sz="1000"/>
            </a:lvl5pPr>
            <a:lvl6pPr marL="2286228" indent="0">
              <a:buNone/>
              <a:defRPr sz="1000"/>
            </a:lvl6pPr>
            <a:lvl7pPr marL="2743475" indent="0">
              <a:buNone/>
              <a:defRPr sz="1000"/>
            </a:lvl7pPr>
            <a:lvl8pPr marL="3200720" indent="0">
              <a:buNone/>
              <a:defRPr sz="1000"/>
            </a:lvl8pPr>
            <a:lvl9pPr marL="365796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9CB31-F45A-4B6A-8344-279D173C0003}" type="datetime1">
              <a:rPr lang="en-GB" smtClean="0"/>
              <a:t>01/02/2026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9903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BFFDA-63FE-4152-8992-91A0FD628B55}" type="datetime1">
              <a:rPr lang="en-GB" smtClean="0"/>
              <a:t>01/02/2026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7026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6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6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0AE88-1923-4C45-BB59-BFF73CAED44F}" type="datetime1">
              <a:rPr lang="en-GB" smtClean="0"/>
              <a:t>01/02/2026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7122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228232"/>
            <a:ext cx="10515600" cy="7674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175030"/>
            <a:ext cx="10515600" cy="40019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886F1E9-F702-4172-A456-D772FEA4A11A}" type="datetime1">
              <a:rPr lang="en-GB" smtClean="0"/>
              <a:t>01/02/2026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C00000"/>
                </a:solidFill>
              </a:defRPr>
            </a:lvl1pPr>
          </a:lstStyle>
          <a:p>
            <a:r>
              <a:rPr lang="en-GB"/>
              <a:t>KIẾN THỨC - KỸ NĂNG - SÁNG TẠO - HỘI NHẬP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AA3D6EC1-CEF0-44B9-AC69-1554EEB371D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3F9058A-D643-E990-0257-69C3B7F9EF2C}"/>
              </a:ext>
            </a:extLst>
          </p:cNvPr>
          <p:cNvSpPr txBox="1">
            <a:spLocks/>
          </p:cNvSpPr>
          <p:nvPr/>
        </p:nvSpPr>
        <p:spPr>
          <a:xfrm>
            <a:off x="5344358" y="228539"/>
            <a:ext cx="6847642" cy="6890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en-US" sz="2400" b="1">
                <a:solidFill>
                  <a:srgbClr val="008080"/>
                </a:solidFill>
              </a:rPr>
              <a:t>TRƯỜNG ĐẠI HỌC GIAO THÔNG VẬN TẢI </a:t>
            </a:r>
            <a:br>
              <a:rPr lang="en-US" sz="2400" b="1">
                <a:solidFill>
                  <a:srgbClr val="008080"/>
                </a:solidFill>
              </a:rPr>
            </a:br>
            <a:r>
              <a:rPr lang="en-US" sz="2400" b="1">
                <a:solidFill>
                  <a:srgbClr val="008080"/>
                </a:solidFill>
              </a:rPr>
              <a:t>THÀNH PHỐ HỒ CHÍ MINH</a:t>
            </a:r>
            <a:endParaRPr lang="en-GB" sz="2400" b="1"/>
          </a:p>
        </p:txBody>
      </p:sp>
    </p:spTree>
    <p:extLst>
      <p:ext uri="{BB962C8B-B14F-4D97-AF65-F5344CB8AC3E}">
        <p14:creationId xmlns:p14="http://schemas.microsoft.com/office/powerpoint/2010/main" val="3760992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92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5848B"/>
          </a:solidFill>
          <a:latin typeface="Segoe UI Black" panose="020B0A02040204020203" pitchFamily="34" charset="0"/>
          <a:ea typeface="Segoe UI Black" panose="020B0A02040204020203" pitchFamily="34" charset="0"/>
          <a:cs typeface="Times New Roman" panose="02020603050405020304" pitchFamily="18" charset="0"/>
        </a:defRPr>
      </a:lvl1pPr>
    </p:titleStyle>
    <p:bodyStyle>
      <a:lvl1pPr marL="228623" indent="-228623" algn="l" defTabSz="91449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68" indent="-228623" algn="l" defTabSz="91449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114" indent="-228623" algn="l" defTabSz="91449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360" indent="-228623" algn="l" defTabSz="91449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606" indent="-228623" algn="l" defTabSz="91449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852" indent="-228623" algn="l" defTabSz="91449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2098" indent="-228623" algn="l" defTabSz="91449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343" indent="-228623" algn="l" defTabSz="91449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588" indent="-228623" algn="l" defTabSz="91449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9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46" algn="l" defTabSz="91449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92" algn="l" defTabSz="91449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738" algn="l" defTabSz="91449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983" algn="l" defTabSz="91449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228" algn="l" defTabSz="91449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475" algn="l" defTabSz="91449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720" algn="l" defTabSz="91449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966" algn="l" defTabSz="91449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4">
            <a:extLst>
              <a:ext uri="{FF2B5EF4-FFF2-40B4-BE49-F238E27FC236}">
                <a16:creationId xmlns:a16="http://schemas.microsoft.com/office/drawing/2014/main" id="{2D490FA8-7517-C54B-8276-6515D7A6317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47450" h="10287000">
                <a:moveTo>
                  <a:pt x="0" y="0"/>
                </a:moveTo>
                <a:lnTo>
                  <a:pt x="18247450" y="0"/>
                </a:lnTo>
                <a:lnTo>
                  <a:pt x="182474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>
              <a:solidFill>
                <a:srgbClr val="C4631B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B8A423-00C5-3E1A-107B-CE90E85D3D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3438" y="1492801"/>
            <a:ext cx="10485120" cy="2387600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dirty="0" err="1">
                <a:latin typeface="Segoe UI Black"/>
                <a:ea typeface="Segoe UI Black"/>
                <a:cs typeface="Times New Roman"/>
              </a:rPr>
              <a:t>Triển</a:t>
            </a:r>
            <a:r>
              <a:rPr lang="en-US" dirty="0">
                <a:latin typeface="Segoe UI Black"/>
                <a:ea typeface="Segoe UI Black"/>
                <a:cs typeface="Times New Roman"/>
              </a:rPr>
              <a:t> </a:t>
            </a:r>
            <a:r>
              <a:rPr lang="en-US" dirty="0" err="1">
                <a:latin typeface="Segoe UI Black"/>
                <a:ea typeface="Segoe UI Black"/>
                <a:cs typeface="Times New Roman"/>
              </a:rPr>
              <a:t>khai</a:t>
            </a:r>
            <a:r>
              <a:rPr lang="en-US" dirty="0">
                <a:latin typeface="Segoe UI Black"/>
                <a:ea typeface="Segoe UI Black"/>
                <a:cs typeface="Times New Roman"/>
              </a:rPr>
              <a:t> </a:t>
            </a:r>
            <a:r>
              <a:rPr lang="en-US" dirty="0" err="1">
                <a:latin typeface="Segoe UI Black"/>
                <a:ea typeface="Segoe UI Black"/>
                <a:cs typeface="Times New Roman"/>
              </a:rPr>
              <a:t>hệ</a:t>
            </a:r>
            <a:r>
              <a:rPr lang="en-US" dirty="0">
                <a:latin typeface="Segoe UI Black"/>
                <a:ea typeface="Segoe UI Black"/>
                <a:cs typeface="Times New Roman"/>
              </a:rPr>
              <a:t> </a:t>
            </a:r>
            <a:r>
              <a:rPr lang="en-US" dirty="0" err="1">
                <a:latin typeface="Segoe UI Black"/>
                <a:ea typeface="Segoe UI Black"/>
                <a:cs typeface="Times New Roman"/>
              </a:rPr>
              <a:t>thống</a:t>
            </a:r>
            <a:r>
              <a:rPr lang="en-US" dirty="0">
                <a:latin typeface="Segoe UI Black"/>
                <a:ea typeface="Segoe UI Black"/>
                <a:cs typeface="Times New Roman"/>
              </a:rPr>
              <a:t> </a:t>
            </a:r>
            <a:r>
              <a:rPr lang="en-US" dirty="0" err="1">
                <a:latin typeface="Segoe UI Black"/>
                <a:ea typeface="Segoe UI Black"/>
                <a:cs typeface="Times New Roman"/>
              </a:rPr>
              <a:t>quản</a:t>
            </a:r>
            <a:r>
              <a:rPr lang="en-US" dirty="0">
                <a:latin typeface="Segoe UI Black"/>
                <a:ea typeface="Segoe UI Black"/>
                <a:cs typeface="Times New Roman"/>
              </a:rPr>
              <a:t> </a:t>
            </a:r>
            <a:r>
              <a:rPr lang="en-US" dirty="0" err="1">
                <a:latin typeface="Segoe UI Black"/>
                <a:ea typeface="Segoe UI Black"/>
                <a:cs typeface="Times New Roman"/>
              </a:rPr>
              <a:t>lý</a:t>
            </a:r>
            <a:r>
              <a:rPr lang="en-US" dirty="0">
                <a:latin typeface="Segoe UI Black"/>
                <a:ea typeface="Segoe UI Black"/>
                <a:cs typeface="Times New Roman"/>
              </a:rPr>
              <a:t> </a:t>
            </a:r>
            <a:br>
              <a:rPr lang="en-US" dirty="0">
                <a:latin typeface="Segoe UI Black"/>
                <a:ea typeface="Segoe UI Black"/>
                <a:cs typeface="Times New Roman"/>
              </a:rPr>
            </a:br>
            <a:r>
              <a:rPr lang="en-US" dirty="0" err="1">
                <a:latin typeface="Segoe UI Black"/>
                <a:ea typeface="Segoe UI Black"/>
                <a:cs typeface="Times New Roman"/>
              </a:rPr>
              <a:t>xe</a:t>
            </a:r>
            <a:r>
              <a:rPr lang="en-US" dirty="0">
                <a:latin typeface="Segoe UI Black"/>
                <a:ea typeface="Segoe UI Black"/>
                <a:cs typeface="Times New Roman"/>
              </a:rPr>
              <a:t> </a:t>
            </a:r>
            <a:r>
              <a:rPr lang="en-US" dirty="0" err="1">
                <a:latin typeface="Segoe UI Black"/>
                <a:ea typeface="Segoe UI Black"/>
                <a:cs typeface="Times New Roman"/>
              </a:rPr>
              <a:t>VinFast</a:t>
            </a:r>
            <a:r>
              <a:rPr lang="en-US" dirty="0">
                <a:latin typeface="Segoe UI Black"/>
                <a:ea typeface="Segoe UI Black"/>
                <a:cs typeface="Times New Roman"/>
              </a:rPr>
              <a:t> </a:t>
            </a:r>
            <a:r>
              <a:rPr lang="en-US" dirty="0" err="1">
                <a:latin typeface="Segoe UI Black"/>
                <a:ea typeface="Segoe UI Black"/>
                <a:cs typeface="Times New Roman"/>
              </a:rPr>
              <a:t>trên</a:t>
            </a:r>
            <a:r>
              <a:rPr lang="en-US" dirty="0">
                <a:latin typeface="Segoe UI Black"/>
                <a:ea typeface="Segoe UI Black"/>
                <a:cs typeface="Times New Roman"/>
              </a:rPr>
              <a:t> </a:t>
            </a:r>
            <a:r>
              <a:rPr lang="en-US" dirty="0" err="1">
                <a:latin typeface="Segoe UI Black"/>
                <a:ea typeface="Segoe UI Black"/>
                <a:cs typeface="Times New Roman"/>
              </a:rPr>
              <a:t>nền</a:t>
            </a:r>
            <a:r>
              <a:rPr lang="en-US" dirty="0">
                <a:latin typeface="Segoe UI Black"/>
                <a:ea typeface="Segoe UI Black"/>
                <a:cs typeface="Times New Roman"/>
              </a:rPr>
              <a:t> </a:t>
            </a:r>
            <a:r>
              <a:rPr lang="en-US" dirty="0" err="1">
                <a:latin typeface="Segoe UI Black"/>
                <a:ea typeface="Segoe UI Black"/>
                <a:cs typeface="Times New Roman"/>
              </a:rPr>
              <a:t>tảng</a:t>
            </a:r>
            <a:r>
              <a:rPr lang="en-US" dirty="0">
                <a:latin typeface="Segoe UI Black"/>
                <a:ea typeface="Segoe UI Black"/>
                <a:cs typeface="Times New Roman"/>
              </a:rPr>
              <a:t> AWS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sz="3600" dirty="0">
                <a:solidFill>
                  <a:srgbClr val="2995A1"/>
                </a:solidFill>
              </a:rPr>
              <a:t>(</a:t>
            </a:r>
            <a:r>
              <a:rPr lang="en-US" sz="3600" dirty="0">
                <a:solidFill>
                  <a:srgbClr val="2995A1"/>
                </a:solidFill>
                <a:latin typeface="Segoe UI Black"/>
                <a:ea typeface="Segoe UI Black"/>
                <a:cs typeface="Times New Roman"/>
              </a:rPr>
              <a:t>Car Management System – </a:t>
            </a:r>
            <a:br>
              <a:rPr lang="en-US" sz="3600" dirty="0">
                <a:solidFill>
                  <a:srgbClr val="2995A1"/>
                </a:solidFill>
                <a:latin typeface="Segoe UI Black"/>
                <a:ea typeface="Segoe UI Black"/>
                <a:cs typeface="Times New Roman"/>
              </a:rPr>
            </a:br>
            <a:r>
              <a:rPr lang="en-US" sz="3600" dirty="0">
                <a:solidFill>
                  <a:srgbClr val="2995A1"/>
                </a:solidFill>
                <a:latin typeface="Segoe UI Black"/>
                <a:ea typeface="Segoe UI Black"/>
                <a:cs typeface="Times New Roman"/>
              </a:rPr>
              <a:t>Cloud Deployment on AWS)</a:t>
            </a:r>
            <a:endParaRPr lang="en-US" b="1" dirty="0">
              <a:solidFill>
                <a:srgbClr val="2995A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B51C7F-2251-8789-C2F4-57BB44A78B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27792" y="4348256"/>
            <a:ext cx="8136411" cy="1655762"/>
          </a:xfrm>
        </p:spPr>
        <p:txBody>
          <a:bodyPr>
            <a:normAutofit fontScale="92500"/>
          </a:bodyPr>
          <a:lstStyle/>
          <a:p>
            <a:pPr algn="just"/>
            <a:r>
              <a:rPr lang="en-US" sz="2800" dirty="0">
                <a:solidFill>
                  <a:srgbClr val="2995A1"/>
                </a:solidFill>
              </a:rPr>
              <a:t>Học </a:t>
            </a:r>
            <a:r>
              <a:rPr lang="en-US" sz="2800" dirty="0" err="1">
                <a:solidFill>
                  <a:srgbClr val="2995A1"/>
                </a:solidFill>
              </a:rPr>
              <a:t>phần</a:t>
            </a:r>
            <a:r>
              <a:rPr lang="en-US" sz="2800" dirty="0">
                <a:solidFill>
                  <a:srgbClr val="2995A1"/>
                </a:solidFill>
              </a:rPr>
              <a:t>: 	</a:t>
            </a:r>
            <a:r>
              <a:rPr lang="en-US" sz="2800" dirty="0"/>
              <a:t>			</a:t>
            </a:r>
            <a:r>
              <a:rPr lang="en-US" sz="2800" dirty="0" err="1">
                <a:solidFill>
                  <a:srgbClr val="FF0000"/>
                </a:solidFill>
              </a:rPr>
              <a:t>Điện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toán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đám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mây</a:t>
            </a:r>
            <a:endParaRPr lang="en-US" sz="2800" dirty="0">
              <a:solidFill>
                <a:srgbClr val="FF0000"/>
              </a:solidFill>
            </a:endParaRPr>
          </a:p>
          <a:p>
            <a:pPr algn="just"/>
            <a:r>
              <a:rPr lang="en-US" sz="2800" dirty="0" err="1">
                <a:solidFill>
                  <a:srgbClr val="2995A1"/>
                </a:solidFill>
              </a:rPr>
              <a:t>Giảng</a:t>
            </a:r>
            <a:r>
              <a:rPr lang="en-US" sz="2800" dirty="0">
                <a:solidFill>
                  <a:srgbClr val="2995A1"/>
                </a:solidFill>
              </a:rPr>
              <a:t> </a:t>
            </a:r>
            <a:r>
              <a:rPr lang="en-US" sz="2800" dirty="0" err="1">
                <a:solidFill>
                  <a:srgbClr val="2995A1"/>
                </a:solidFill>
              </a:rPr>
              <a:t>viên</a:t>
            </a:r>
            <a:r>
              <a:rPr lang="en-US" sz="2800" dirty="0">
                <a:solidFill>
                  <a:srgbClr val="2995A1"/>
                </a:solidFill>
              </a:rPr>
              <a:t> </a:t>
            </a:r>
            <a:r>
              <a:rPr lang="en-US" sz="2800" dirty="0" err="1">
                <a:solidFill>
                  <a:srgbClr val="2995A1"/>
                </a:solidFill>
              </a:rPr>
              <a:t>hướng</a:t>
            </a:r>
            <a:r>
              <a:rPr lang="en-US" sz="2800" dirty="0">
                <a:solidFill>
                  <a:srgbClr val="2995A1"/>
                </a:solidFill>
              </a:rPr>
              <a:t> </a:t>
            </a:r>
            <a:r>
              <a:rPr lang="en-US" sz="2800" dirty="0" err="1">
                <a:solidFill>
                  <a:srgbClr val="2995A1"/>
                </a:solidFill>
              </a:rPr>
              <a:t>dẫn</a:t>
            </a:r>
            <a:r>
              <a:rPr lang="en-US" sz="2800" dirty="0">
                <a:solidFill>
                  <a:srgbClr val="2995A1"/>
                </a:solidFill>
              </a:rPr>
              <a:t>: </a:t>
            </a:r>
            <a:r>
              <a:rPr lang="en-US" sz="2800" dirty="0"/>
              <a:t>	</a:t>
            </a:r>
            <a:r>
              <a:rPr lang="en-US" sz="2800" dirty="0">
                <a:solidFill>
                  <a:srgbClr val="FF0000"/>
                </a:solidFill>
              </a:rPr>
              <a:t>TS. </a:t>
            </a:r>
            <a:r>
              <a:rPr lang="en-US" sz="2800" dirty="0" err="1">
                <a:solidFill>
                  <a:srgbClr val="FF0000"/>
                </a:solidFill>
              </a:rPr>
              <a:t>Hàn</a:t>
            </a:r>
            <a:r>
              <a:rPr lang="en-US" sz="2800" dirty="0">
                <a:solidFill>
                  <a:srgbClr val="FF0000"/>
                </a:solidFill>
              </a:rPr>
              <a:t> Trung Định</a:t>
            </a:r>
          </a:p>
          <a:p>
            <a:pPr algn="just"/>
            <a:r>
              <a:rPr lang="en-US" sz="2800" dirty="0" err="1">
                <a:solidFill>
                  <a:srgbClr val="2995A1"/>
                </a:solidFill>
              </a:rPr>
              <a:t>Nhóm</a:t>
            </a:r>
            <a:r>
              <a:rPr lang="en-US" sz="2800" dirty="0">
                <a:solidFill>
                  <a:srgbClr val="2995A1"/>
                </a:solidFill>
              </a:rPr>
              <a:t> </a:t>
            </a:r>
            <a:r>
              <a:rPr lang="en-US" sz="2800" dirty="0" err="1">
                <a:solidFill>
                  <a:srgbClr val="2995A1"/>
                </a:solidFill>
              </a:rPr>
              <a:t>thực</a:t>
            </a:r>
            <a:r>
              <a:rPr lang="en-US" sz="2800" dirty="0">
                <a:solidFill>
                  <a:srgbClr val="2995A1"/>
                </a:solidFill>
              </a:rPr>
              <a:t> </a:t>
            </a:r>
            <a:r>
              <a:rPr lang="en-US" sz="2800" dirty="0" err="1">
                <a:solidFill>
                  <a:srgbClr val="2995A1"/>
                </a:solidFill>
              </a:rPr>
              <a:t>hiện</a:t>
            </a:r>
            <a:r>
              <a:rPr lang="en-US" sz="2800" dirty="0">
                <a:solidFill>
                  <a:srgbClr val="2995A1"/>
                </a:solidFill>
              </a:rPr>
              <a:t>: </a:t>
            </a:r>
            <a:r>
              <a:rPr lang="en-US" sz="2800" dirty="0"/>
              <a:t>		</a:t>
            </a:r>
            <a:r>
              <a:rPr lang="en-US" sz="2800" dirty="0" err="1">
                <a:solidFill>
                  <a:srgbClr val="FF0000"/>
                </a:solidFill>
              </a:rPr>
              <a:t>Nhóm</a:t>
            </a:r>
            <a:r>
              <a:rPr lang="en-US" sz="2800" dirty="0">
                <a:solidFill>
                  <a:srgbClr val="FF0000"/>
                </a:solidFill>
              </a:rPr>
              <a:t> 01</a:t>
            </a:r>
          </a:p>
        </p:txBody>
      </p:sp>
    </p:spTree>
    <p:extLst>
      <p:ext uri="{BB962C8B-B14F-4D97-AF65-F5344CB8AC3E}">
        <p14:creationId xmlns:p14="http://schemas.microsoft.com/office/powerpoint/2010/main" val="2520375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4B6F2-DEB9-4429-E151-99BC62E80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THÀNH VIÊN NHÓM 01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A84AC-B954-20DE-ECCF-F3953D4E7E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08038" indent="-457200">
              <a:buFont typeface="Wingdings" panose="05000000000000000000" pitchFamily="2" charset="2"/>
              <a:buChar char="§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22H1120002 – Huỳnh Nguyễn Quốc Bảo</a:t>
            </a:r>
          </a:p>
          <a:p>
            <a:pPr marL="808038" indent="-457200">
              <a:buFont typeface="Wingdings" panose="05000000000000000000" pitchFamily="2" charset="2"/>
              <a:buChar char="§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22H1120004 – Nguyễn Việt Dũng		</a:t>
            </a:r>
          </a:p>
          <a:p>
            <a:pPr marL="808038" indent="-457200">
              <a:buFont typeface="Wingdings" panose="05000000000000000000" pitchFamily="2" charset="2"/>
              <a:buChar char="§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22H1120016 – Trần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Đăng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Nam</a:t>
            </a:r>
          </a:p>
          <a:p>
            <a:pPr marL="808038" indent="-457200">
              <a:buFont typeface="Wingdings" panose="05000000000000000000" pitchFamily="2" charset="2"/>
              <a:buChar char="§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22H1120024 – Phan Ngọc Thạch</a:t>
            </a:r>
          </a:p>
          <a:p>
            <a:pPr marL="808038" indent="-457200">
              <a:buFont typeface="Wingdings" panose="05000000000000000000" pitchFamily="2" charset="2"/>
              <a:buChar char="§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2251120129 – Nguyễn Hoàng Việt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5992DC-A906-83BA-C175-24D3D7485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C680A-606E-45AD-9179-17AB83417B36}" type="datetime1">
              <a:rPr lang="en-GB" smtClean="0"/>
              <a:t>01/02/2026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7CA333-9D16-DDF1-1677-A5A22430D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61FABB-9624-4457-C873-A6D3FB5B1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5165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0C597-3DBA-852F-A300-3C4B6D703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NỘI DUNG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CA5DA-6B00-86A4-B524-366A7776C6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517525" indent="-517525">
              <a:buFont typeface="Wingdings" panose="05000000000000000000" pitchFamily="2" charset="2"/>
              <a:buChar char="Ø"/>
            </a:pPr>
            <a:r>
              <a:rPr lang="en-US" b="1" dirty="0">
                <a:latin typeface="Tahoma"/>
                <a:ea typeface="Tahoma"/>
                <a:cs typeface="Tahoma"/>
              </a:rPr>
              <a:t>01. </a:t>
            </a:r>
            <a:r>
              <a:rPr lang="en-US" dirty="0" err="1">
                <a:latin typeface="Tahoma"/>
                <a:ea typeface="Tahoma"/>
                <a:cs typeface="Times New Roman"/>
              </a:rPr>
              <a:t>Giới</a:t>
            </a:r>
            <a:r>
              <a:rPr lang="en-US" dirty="0">
                <a:latin typeface="Tahoma"/>
                <a:ea typeface="Tahoma"/>
                <a:cs typeface="Times New Roman"/>
              </a:rPr>
              <a:t> </a:t>
            </a:r>
            <a:r>
              <a:rPr lang="en-US" dirty="0" err="1">
                <a:latin typeface="Tahoma"/>
                <a:ea typeface="Tahoma"/>
                <a:cs typeface="Times New Roman"/>
              </a:rPr>
              <a:t>thiệu</a:t>
            </a:r>
            <a:r>
              <a:rPr lang="en-US" dirty="0">
                <a:latin typeface="Tahoma"/>
                <a:ea typeface="Tahoma"/>
                <a:cs typeface="Times New Roman"/>
              </a:rPr>
              <a:t> </a:t>
            </a:r>
            <a:r>
              <a:rPr lang="en-US" dirty="0" err="1">
                <a:latin typeface="Tahoma"/>
                <a:ea typeface="Tahoma"/>
                <a:cs typeface="Times New Roman"/>
              </a:rPr>
              <a:t>dự</a:t>
            </a:r>
            <a:r>
              <a:rPr lang="en-US" dirty="0">
                <a:latin typeface="Tahoma"/>
                <a:ea typeface="Tahoma"/>
                <a:cs typeface="Times New Roman"/>
              </a:rPr>
              <a:t> </a:t>
            </a:r>
            <a:r>
              <a:rPr lang="en-US" dirty="0" err="1">
                <a:latin typeface="Tahoma"/>
                <a:ea typeface="Tahoma"/>
                <a:cs typeface="Times New Roman"/>
              </a:rPr>
              <a:t>án</a:t>
            </a:r>
            <a:r>
              <a:rPr lang="en-US" dirty="0">
                <a:latin typeface="Tahoma"/>
                <a:ea typeface="Tahoma"/>
                <a:cs typeface="Times New Roman"/>
              </a:rPr>
              <a:t> &amp; </a:t>
            </a:r>
            <a:r>
              <a:rPr lang="en-US" dirty="0" err="1">
                <a:latin typeface="Tahoma"/>
                <a:ea typeface="Tahoma"/>
                <a:cs typeface="Times New Roman"/>
              </a:rPr>
              <a:t>Kiến</a:t>
            </a:r>
            <a:r>
              <a:rPr lang="en-US" dirty="0">
                <a:latin typeface="Tahoma"/>
                <a:ea typeface="Tahoma"/>
                <a:cs typeface="Times New Roman"/>
              </a:rPr>
              <a:t> </a:t>
            </a:r>
            <a:r>
              <a:rPr lang="en-US" dirty="0" err="1">
                <a:latin typeface="Tahoma"/>
                <a:ea typeface="Tahoma"/>
                <a:cs typeface="Times New Roman"/>
              </a:rPr>
              <a:t>trúc</a:t>
            </a:r>
            <a:r>
              <a:rPr lang="en-US" dirty="0">
                <a:latin typeface="Tahoma"/>
                <a:ea typeface="Tahoma"/>
                <a:cs typeface="Times New Roman"/>
              </a:rPr>
              <a:t> </a:t>
            </a:r>
            <a:r>
              <a:rPr lang="en-US" dirty="0" err="1">
                <a:latin typeface="Tahoma"/>
                <a:ea typeface="Tahoma"/>
                <a:cs typeface="Times New Roman"/>
              </a:rPr>
              <a:t>tổng</a:t>
            </a:r>
            <a:r>
              <a:rPr lang="en-US" dirty="0">
                <a:latin typeface="Tahoma"/>
                <a:ea typeface="Tahoma"/>
                <a:cs typeface="Times New Roman"/>
              </a:rPr>
              <a:t> </a:t>
            </a:r>
            <a:r>
              <a:rPr lang="en-US" dirty="0" err="1">
                <a:latin typeface="Tahoma"/>
                <a:ea typeface="Tahoma"/>
                <a:cs typeface="Times New Roman"/>
              </a:rPr>
              <a:t>quan</a:t>
            </a:r>
            <a:endParaRPr lang="en-US" dirty="0">
              <a:latin typeface="Tahoma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17525" indent="-517525">
              <a:buFont typeface="Wingdings" panose="05000000000000000000" pitchFamily="2" charset="2"/>
              <a:buChar char="Ø"/>
            </a:pPr>
            <a:r>
              <a:rPr lang="en-US" b="1" dirty="0">
                <a:latin typeface="Tahoma"/>
                <a:ea typeface="Tahoma"/>
                <a:cs typeface="Tahoma"/>
              </a:rPr>
              <a:t>02.</a:t>
            </a:r>
            <a:r>
              <a:rPr lang="en-US" dirty="0">
                <a:latin typeface="Tahoma"/>
                <a:ea typeface="Tahoma"/>
                <a:cs typeface="Tahoma"/>
              </a:rPr>
              <a:t> </a:t>
            </a:r>
            <a:r>
              <a:rPr lang="en-US" dirty="0" err="1">
                <a:latin typeface="Tahoma"/>
                <a:ea typeface="Tahoma"/>
                <a:cs typeface="Times New Roman"/>
              </a:rPr>
              <a:t>Hạ</a:t>
            </a:r>
            <a:r>
              <a:rPr lang="en-US" dirty="0">
                <a:latin typeface="Tahoma"/>
                <a:ea typeface="Tahoma"/>
                <a:cs typeface="Times New Roman"/>
              </a:rPr>
              <a:t> </a:t>
            </a:r>
            <a:r>
              <a:rPr lang="en-US" dirty="0" err="1">
                <a:latin typeface="Tahoma"/>
                <a:ea typeface="Tahoma"/>
                <a:cs typeface="Times New Roman"/>
              </a:rPr>
              <a:t>tầng</a:t>
            </a:r>
            <a:r>
              <a:rPr lang="en-US" dirty="0">
                <a:latin typeface="Tahoma"/>
                <a:ea typeface="Tahoma"/>
                <a:cs typeface="Times New Roman"/>
              </a:rPr>
              <a:t> Cloud &amp; Docker</a:t>
            </a:r>
            <a:endParaRPr lang="en-US" dirty="0">
              <a:latin typeface="Tahoma"/>
              <a:ea typeface="Tahoma"/>
              <a:cs typeface="Tahoma" panose="020B0604030504040204" pitchFamily="34" charset="0"/>
            </a:endParaRPr>
          </a:p>
          <a:p>
            <a:pPr marL="517525" indent="-517525">
              <a:buFont typeface="Wingdings" panose="05000000000000000000" pitchFamily="2" charset="2"/>
              <a:buChar char="Ø"/>
            </a:pPr>
            <a:r>
              <a:rPr lang="en-US" b="1" dirty="0">
                <a:latin typeface="Tahoma"/>
                <a:ea typeface="Tahoma"/>
                <a:cs typeface="Tahoma"/>
              </a:rPr>
              <a:t>03.</a:t>
            </a:r>
            <a:r>
              <a:rPr lang="en-US" dirty="0">
                <a:latin typeface="Tahoma"/>
                <a:ea typeface="Tahoma"/>
                <a:cs typeface="Tahoma"/>
              </a:rPr>
              <a:t> </a:t>
            </a:r>
            <a:r>
              <a:rPr lang="en-US" dirty="0" err="1">
                <a:latin typeface="Tahoma"/>
                <a:ea typeface="Tahoma"/>
                <a:cs typeface="Times New Roman"/>
              </a:rPr>
              <a:t>Triển</a:t>
            </a:r>
            <a:r>
              <a:rPr lang="en-US" dirty="0">
                <a:latin typeface="Tahoma"/>
                <a:ea typeface="Tahoma"/>
                <a:cs typeface="Times New Roman"/>
              </a:rPr>
              <a:t> </a:t>
            </a:r>
            <a:r>
              <a:rPr lang="en-US" dirty="0" err="1">
                <a:latin typeface="Tahoma"/>
                <a:ea typeface="Tahoma"/>
                <a:cs typeface="Times New Roman"/>
              </a:rPr>
              <a:t>khai</a:t>
            </a:r>
            <a:r>
              <a:rPr lang="en-US" dirty="0">
                <a:latin typeface="Tahoma"/>
                <a:ea typeface="Tahoma"/>
                <a:cs typeface="Times New Roman"/>
              </a:rPr>
              <a:t> Backend – Frontend – Database</a:t>
            </a:r>
            <a:endParaRPr lang="en-US" dirty="0">
              <a:latin typeface="Tahoma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17525" indent="-517525">
              <a:buFont typeface="Wingdings" panose="05000000000000000000" pitchFamily="2" charset="2"/>
              <a:buChar char="Ø"/>
            </a:pPr>
            <a:r>
              <a:rPr lang="en-US" b="1" dirty="0">
                <a:latin typeface="Tahoma"/>
                <a:ea typeface="Tahoma"/>
                <a:cs typeface="Tahoma"/>
              </a:rPr>
              <a:t>04.</a:t>
            </a:r>
            <a:r>
              <a:rPr lang="en-US" dirty="0">
                <a:latin typeface="Tahoma"/>
                <a:ea typeface="Tahoma"/>
                <a:cs typeface="Tahoma"/>
              </a:rPr>
              <a:t> </a:t>
            </a:r>
            <a:r>
              <a:rPr lang="en-US" dirty="0" err="1">
                <a:latin typeface="Tahoma"/>
                <a:ea typeface="Tahoma"/>
                <a:cs typeface="Times New Roman"/>
              </a:rPr>
              <a:t>Kiểm</a:t>
            </a:r>
            <a:r>
              <a:rPr lang="en-US" dirty="0">
                <a:latin typeface="Tahoma"/>
                <a:ea typeface="Tahoma"/>
                <a:cs typeface="Times New Roman"/>
              </a:rPr>
              <a:t> </a:t>
            </a:r>
            <a:r>
              <a:rPr lang="en-US" dirty="0" err="1">
                <a:latin typeface="Tahoma"/>
                <a:ea typeface="Tahoma"/>
                <a:cs typeface="Times New Roman"/>
              </a:rPr>
              <a:t>thử</a:t>
            </a:r>
            <a:r>
              <a:rPr lang="en-US" dirty="0">
                <a:latin typeface="Tahoma"/>
                <a:ea typeface="Tahoma"/>
                <a:cs typeface="Times New Roman"/>
              </a:rPr>
              <a:t> &amp; </a:t>
            </a:r>
            <a:r>
              <a:rPr lang="en-US" dirty="0" err="1">
                <a:latin typeface="Tahoma"/>
                <a:ea typeface="Tahoma"/>
                <a:cs typeface="Times New Roman"/>
              </a:rPr>
              <a:t>vận</a:t>
            </a:r>
            <a:r>
              <a:rPr lang="en-US" dirty="0">
                <a:latin typeface="Tahoma"/>
                <a:ea typeface="Tahoma"/>
                <a:cs typeface="Times New Roman"/>
              </a:rPr>
              <a:t> </a:t>
            </a:r>
            <a:r>
              <a:rPr lang="en-US" dirty="0" err="1">
                <a:latin typeface="Tahoma"/>
                <a:ea typeface="Tahoma"/>
                <a:cs typeface="Times New Roman"/>
              </a:rPr>
              <a:t>hành</a:t>
            </a:r>
            <a:r>
              <a:rPr lang="en-US" dirty="0">
                <a:latin typeface="Tahoma"/>
                <a:ea typeface="Tahoma"/>
                <a:cs typeface="Times New Roman"/>
              </a:rPr>
              <a:t> </a:t>
            </a:r>
            <a:r>
              <a:rPr lang="en-US" dirty="0" err="1">
                <a:latin typeface="Tahoma"/>
                <a:ea typeface="Tahoma"/>
                <a:cs typeface="Times New Roman"/>
              </a:rPr>
              <a:t>hệ</a:t>
            </a:r>
            <a:r>
              <a:rPr lang="en-US" dirty="0">
                <a:latin typeface="Tahoma"/>
                <a:ea typeface="Tahoma"/>
                <a:cs typeface="Times New Roman"/>
              </a:rPr>
              <a:t> </a:t>
            </a:r>
            <a:r>
              <a:rPr lang="en-US" dirty="0" err="1">
                <a:latin typeface="Tahoma"/>
                <a:ea typeface="Tahoma"/>
                <a:cs typeface="Times New Roman"/>
              </a:rPr>
              <a:t>thống</a:t>
            </a:r>
            <a:r>
              <a:rPr lang="en-US" dirty="0">
                <a:latin typeface="Tahoma"/>
                <a:ea typeface="Tahoma"/>
                <a:cs typeface="Times New Roman"/>
              </a:rPr>
              <a:t> </a:t>
            </a:r>
            <a:endParaRPr lang="en-US" dirty="0">
              <a:latin typeface="Tahoma"/>
              <a:ea typeface="Tahoma"/>
              <a:cs typeface="Tahoma"/>
            </a:endParaRPr>
          </a:p>
          <a:p>
            <a:pPr marL="517525" indent="-517525">
              <a:buFont typeface="Wingdings" panose="05000000000000000000" pitchFamily="2" charset="2"/>
              <a:buChar char="Ø"/>
            </a:pPr>
            <a:r>
              <a:rPr lang="en-US" b="1" dirty="0">
                <a:latin typeface="Tahoma"/>
                <a:ea typeface="Tahoma"/>
                <a:cs typeface="Tahoma"/>
              </a:rPr>
              <a:t>05. </a:t>
            </a:r>
            <a:r>
              <a:rPr lang="en-US" dirty="0" err="1">
                <a:latin typeface="Tahoma"/>
                <a:ea typeface="Tahoma"/>
                <a:cs typeface="Tahoma"/>
              </a:rPr>
              <a:t>Kết</a:t>
            </a:r>
            <a:r>
              <a:rPr lang="en-US" dirty="0">
                <a:latin typeface="Tahoma"/>
                <a:ea typeface="Tahoma"/>
                <a:cs typeface="Tahoma"/>
              </a:rPr>
              <a:t> </a:t>
            </a:r>
            <a:r>
              <a:rPr lang="en-US" dirty="0" err="1">
                <a:latin typeface="Tahoma"/>
                <a:ea typeface="Tahoma"/>
                <a:cs typeface="Tahoma"/>
              </a:rPr>
              <a:t>luận</a:t>
            </a:r>
            <a:r>
              <a:rPr lang="en-US" dirty="0">
                <a:latin typeface="Tahoma"/>
                <a:ea typeface="Tahoma"/>
                <a:cs typeface="Tahoma"/>
              </a:rPr>
              <a:t> </a:t>
            </a:r>
            <a:r>
              <a:rPr lang="en-US" dirty="0" err="1">
                <a:latin typeface="Tahoma"/>
                <a:ea typeface="Tahoma"/>
                <a:cs typeface="Tahoma"/>
              </a:rPr>
              <a:t>và</a:t>
            </a:r>
            <a:r>
              <a:rPr lang="en-US" dirty="0">
                <a:latin typeface="Tahoma"/>
                <a:ea typeface="Tahoma"/>
                <a:cs typeface="Tahoma"/>
              </a:rPr>
              <a:t> </a:t>
            </a:r>
            <a:r>
              <a:rPr lang="en-US" dirty="0" err="1">
                <a:latin typeface="Tahoma"/>
                <a:ea typeface="Tahoma"/>
                <a:cs typeface="Tahoma"/>
              </a:rPr>
              <a:t>hướng</a:t>
            </a:r>
            <a:r>
              <a:rPr lang="en-US" dirty="0">
                <a:latin typeface="Tahoma"/>
                <a:ea typeface="Tahoma"/>
                <a:cs typeface="Tahoma"/>
              </a:rPr>
              <a:t> </a:t>
            </a:r>
            <a:r>
              <a:rPr lang="en-US" dirty="0" err="1">
                <a:latin typeface="Tahoma"/>
                <a:ea typeface="Tahoma"/>
                <a:cs typeface="Tahoma"/>
              </a:rPr>
              <a:t>phát</a:t>
            </a:r>
            <a:r>
              <a:rPr lang="en-US" dirty="0">
                <a:latin typeface="Tahoma"/>
                <a:ea typeface="Tahoma"/>
                <a:cs typeface="Tahoma"/>
              </a:rPr>
              <a:t> </a:t>
            </a:r>
            <a:r>
              <a:rPr lang="en-US" dirty="0" err="1">
                <a:latin typeface="Tahoma"/>
                <a:ea typeface="Tahoma"/>
                <a:cs typeface="Tahoma"/>
              </a:rPr>
              <a:t>triển</a:t>
            </a:r>
            <a:endParaRPr lang="en-US" dirty="0">
              <a:latin typeface="Tahoma"/>
              <a:ea typeface="Tahoma"/>
              <a:cs typeface="Tahoma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ED8D7-5FD1-A5BE-3F94-E9EA2533B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E543C-AB5F-4606-9DE3-637762877CE1}" type="datetime1">
              <a:rPr lang="en-GB" smtClean="0"/>
              <a:t>01/02/2026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D1B209-10EB-FC21-8EEB-0E07EF152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3D7299-A2E2-FABE-6654-54819DC1F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64063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1757E-0D7C-CB21-4F0B-D5563E98A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4">
            <a:extLst>
              <a:ext uri="{FF2B5EF4-FFF2-40B4-BE49-F238E27FC236}">
                <a16:creationId xmlns:a16="http://schemas.microsoft.com/office/drawing/2014/main" id="{9A9521B8-2D03-8A9F-7526-7D130766D9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47450" h="10287000">
                <a:moveTo>
                  <a:pt x="0" y="0"/>
                </a:moveTo>
                <a:lnTo>
                  <a:pt x="18247450" y="0"/>
                </a:lnTo>
                <a:lnTo>
                  <a:pt x="182474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A56ABFEA-A3B1-A679-A134-71EBAAA3D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41400"/>
            <a:ext cx="9144000" cy="2387600"/>
          </a:xfrm>
        </p:spPr>
        <p:txBody>
          <a:bodyPr/>
          <a:lstStyle/>
          <a:p>
            <a:r>
              <a:rPr lang="en-US" dirty="0">
                <a:latin typeface="Segoe UI Black"/>
                <a:ea typeface="Segoe UI Black"/>
                <a:cs typeface="Times New Roman"/>
              </a:rPr>
              <a:t>01. GIỚI THIỆU DỰ ÁN &amp;</a:t>
            </a:r>
            <a:br>
              <a:rPr lang="en-US" dirty="0">
                <a:latin typeface="Segoe UI Black"/>
                <a:ea typeface="Segoe UI Black"/>
                <a:cs typeface="Times New Roman"/>
              </a:rPr>
            </a:br>
            <a:r>
              <a:rPr lang="en-US" dirty="0">
                <a:latin typeface="Segoe UI Black"/>
                <a:ea typeface="Segoe UI Black"/>
                <a:cs typeface="Times New Roman"/>
              </a:rPr>
              <a:t>KIẾN TRÚC TỔNG QUAN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8845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1FC9A-D7F3-D194-966B-0479AD29A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Segoe UI Black"/>
                <a:ea typeface="Segoe UI Black"/>
                <a:cs typeface="Times New Roman"/>
              </a:rPr>
              <a:t>1. </a:t>
            </a:r>
            <a:r>
              <a:rPr lang="en-US" sz="4000" dirty="0" err="1">
                <a:latin typeface="Segoe UI Black"/>
                <a:ea typeface="Segoe UI Black"/>
                <a:cs typeface="Times New Roman"/>
              </a:rPr>
              <a:t>Giới</a:t>
            </a:r>
            <a:r>
              <a:rPr lang="en-US" sz="4000" dirty="0">
                <a:latin typeface="Segoe UI Black"/>
                <a:ea typeface="Segoe UI Black"/>
                <a:cs typeface="Times New Roman"/>
              </a:rPr>
              <a:t> </a:t>
            </a:r>
            <a:r>
              <a:rPr lang="en-US" sz="4000" dirty="0" err="1">
                <a:latin typeface="Segoe UI Black"/>
                <a:ea typeface="Segoe UI Black"/>
                <a:cs typeface="Times New Roman"/>
              </a:rPr>
              <a:t>thiệu</a:t>
            </a:r>
            <a:r>
              <a:rPr lang="en-US" sz="4000" dirty="0">
                <a:latin typeface="Segoe UI Black"/>
                <a:ea typeface="Segoe UI Black"/>
                <a:cs typeface="Times New Roman"/>
              </a:rPr>
              <a:t> </a:t>
            </a:r>
            <a:r>
              <a:rPr lang="en-US" sz="4000" dirty="0" err="1">
                <a:latin typeface="Segoe UI Black"/>
                <a:ea typeface="Segoe UI Black"/>
                <a:cs typeface="Times New Roman"/>
              </a:rPr>
              <a:t>dự</a:t>
            </a:r>
            <a:r>
              <a:rPr lang="en-US" sz="4000" dirty="0">
                <a:latin typeface="Segoe UI Black"/>
                <a:ea typeface="Segoe UI Black"/>
                <a:cs typeface="Times New Roman"/>
              </a:rPr>
              <a:t> </a:t>
            </a:r>
            <a:r>
              <a:rPr lang="en-US" sz="4000" dirty="0" err="1">
                <a:latin typeface="Segoe UI Black"/>
                <a:ea typeface="Segoe UI Black"/>
                <a:cs typeface="Times New Roman"/>
              </a:rPr>
              <a:t>án</a:t>
            </a:r>
            <a:r>
              <a:rPr lang="en-US" sz="4000" dirty="0">
                <a:latin typeface="Segoe UI Black"/>
                <a:ea typeface="Segoe UI Black"/>
                <a:cs typeface="Times New Roman"/>
              </a:rPr>
              <a:t> &amp; </a:t>
            </a:r>
            <a:r>
              <a:rPr lang="en-US" sz="4000" dirty="0" err="1">
                <a:latin typeface="Segoe UI Black"/>
                <a:ea typeface="Segoe UI Black"/>
                <a:cs typeface="Times New Roman"/>
              </a:rPr>
              <a:t>kiến</a:t>
            </a:r>
            <a:r>
              <a:rPr lang="en-US" sz="4000" dirty="0">
                <a:latin typeface="Segoe UI Black"/>
                <a:ea typeface="Segoe UI Black"/>
                <a:cs typeface="Times New Roman"/>
              </a:rPr>
              <a:t> </a:t>
            </a:r>
            <a:r>
              <a:rPr lang="en-US" sz="4000" dirty="0" err="1">
                <a:latin typeface="Segoe UI Black"/>
                <a:ea typeface="Segoe UI Black"/>
                <a:cs typeface="Times New Roman"/>
              </a:rPr>
              <a:t>trúc</a:t>
            </a:r>
            <a:r>
              <a:rPr lang="en-US" sz="4000" dirty="0">
                <a:latin typeface="Segoe UI Black"/>
                <a:ea typeface="Segoe UI Black"/>
                <a:cs typeface="Times New Roman"/>
              </a:rPr>
              <a:t> </a:t>
            </a:r>
            <a:r>
              <a:rPr lang="en-US" sz="4000" dirty="0" err="1">
                <a:latin typeface="Segoe UI Black"/>
                <a:ea typeface="Segoe UI Black"/>
                <a:cs typeface="Times New Roman"/>
              </a:rPr>
              <a:t>tổng</a:t>
            </a:r>
            <a:r>
              <a:rPr lang="en-US" sz="4000" dirty="0">
                <a:latin typeface="Segoe UI Black"/>
                <a:ea typeface="Segoe UI Black"/>
                <a:cs typeface="Times New Roman"/>
              </a:rPr>
              <a:t> </a:t>
            </a:r>
            <a:r>
              <a:rPr lang="en-US" sz="4000" dirty="0" err="1">
                <a:latin typeface="Segoe UI Black"/>
                <a:ea typeface="Segoe UI Black"/>
                <a:cs typeface="Times New Roman"/>
              </a:rPr>
              <a:t>quan</a:t>
            </a:r>
            <a:endParaRPr lang="en-US" sz="4000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0B9DD-4B09-F092-D2D6-A140158A82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1.1.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Giới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thiệu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tổng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quan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dự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án</a:t>
            </a:r>
            <a:endParaRPr lang="en-US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lnSpc>
                <a:spcPct val="110000"/>
              </a:lnSpc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Website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phục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vụ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mục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đích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nghiên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cứu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học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tập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</a:t>
            </a:r>
            <a:r>
              <a:rPr lang="vi-V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không mang tính thương mại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lvl="1">
              <a:lnSpc>
                <a:spcPct val="110000"/>
              </a:lnSpc>
            </a:pPr>
            <a:r>
              <a:rPr lang="vi-V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Hai nhóm người dùng chính: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Khách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hàng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&amp; Admin.</a:t>
            </a:r>
          </a:p>
          <a:p>
            <a:pPr lvl="1">
              <a:lnSpc>
                <a:spcPct val="110000"/>
              </a:lnSpc>
            </a:pP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Triển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khai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hệ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thống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hoàn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chỉnh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trên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Cloud (AWS).</a:t>
            </a:r>
          </a:p>
          <a:p>
            <a:pPr lvl="1">
              <a:lnSpc>
                <a:spcPct val="110000"/>
              </a:lnSpc>
            </a:pP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Áp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dụng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Docker, Cloud Database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Cloud Storage.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2AA28B-5196-D6DB-FB8D-8008D10F5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68B0-FAA6-42F9-A15B-AAFA5FDC7318}" type="datetime1">
              <a:rPr lang="en-GB" smtClean="0"/>
              <a:t>01/02/2026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AF48A7-2D24-13CA-BC99-88D8A4651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7CDD2A-6382-1418-56AE-0B7336790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216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êu đề 7">
            <a:extLst>
              <a:ext uri="{FF2B5EF4-FFF2-40B4-BE49-F238E27FC236}">
                <a16:creationId xmlns:a16="http://schemas.microsoft.com/office/drawing/2014/main" id="{3C59E416-76AA-E4A1-210B-B28DC9AFC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Segoe UI Black"/>
                <a:ea typeface="Segoe UI Black"/>
                <a:cs typeface="Times New Roman"/>
              </a:rPr>
              <a:t>1. </a:t>
            </a:r>
            <a:r>
              <a:rPr lang="en-US" sz="4000" dirty="0" err="1">
                <a:latin typeface="Segoe UI Black"/>
                <a:ea typeface="Segoe UI Black"/>
                <a:cs typeface="Times New Roman"/>
              </a:rPr>
              <a:t>Giới</a:t>
            </a:r>
            <a:r>
              <a:rPr lang="en-US" sz="4000" dirty="0">
                <a:latin typeface="Segoe UI Black"/>
                <a:ea typeface="Segoe UI Black"/>
                <a:cs typeface="Times New Roman"/>
              </a:rPr>
              <a:t> </a:t>
            </a:r>
            <a:r>
              <a:rPr lang="en-US" sz="4000" dirty="0" err="1">
                <a:latin typeface="Segoe UI Black"/>
                <a:ea typeface="Segoe UI Black"/>
                <a:cs typeface="Times New Roman"/>
              </a:rPr>
              <a:t>thiệu</a:t>
            </a:r>
            <a:r>
              <a:rPr lang="en-US" sz="4000" dirty="0">
                <a:latin typeface="Segoe UI Black"/>
                <a:ea typeface="Segoe UI Black"/>
                <a:cs typeface="Times New Roman"/>
              </a:rPr>
              <a:t> </a:t>
            </a:r>
            <a:r>
              <a:rPr lang="en-US" sz="4000" dirty="0" err="1">
                <a:latin typeface="Segoe UI Black"/>
                <a:ea typeface="Segoe UI Black"/>
                <a:cs typeface="Times New Roman"/>
              </a:rPr>
              <a:t>dự</a:t>
            </a:r>
            <a:r>
              <a:rPr lang="en-US" sz="4000" dirty="0">
                <a:latin typeface="Segoe UI Black"/>
                <a:ea typeface="Segoe UI Black"/>
                <a:cs typeface="Times New Roman"/>
              </a:rPr>
              <a:t> </a:t>
            </a:r>
            <a:r>
              <a:rPr lang="en-US" sz="4000" dirty="0" err="1">
                <a:latin typeface="Segoe UI Black"/>
                <a:ea typeface="Segoe UI Black"/>
                <a:cs typeface="Times New Roman"/>
              </a:rPr>
              <a:t>án</a:t>
            </a:r>
            <a:r>
              <a:rPr lang="en-US" sz="4000" dirty="0">
                <a:latin typeface="Segoe UI Black"/>
                <a:ea typeface="Segoe UI Black"/>
                <a:cs typeface="Times New Roman"/>
              </a:rPr>
              <a:t> &amp; </a:t>
            </a:r>
            <a:r>
              <a:rPr lang="en-US" sz="4000" dirty="0" err="1">
                <a:latin typeface="Segoe UI Black"/>
                <a:ea typeface="Segoe UI Black"/>
                <a:cs typeface="Times New Roman"/>
              </a:rPr>
              <a:t>kiến</a:t>
            </a:r>
            <a:r>
              <a:rPr lang="en-US" sz="4000" dirty="0">
                <a:latin typeface="Segoe UI Black"/>
                <a:ea typeface="Segoe UI Black"/>
                <a:cs typeface="Times New Roman"/>
              </a:rPr>
              <a:t> </a:t>
            </a:r>
            <a:r>
              <a:rPr lang="en-US" sz="4000" dirty="0" err="1">
                <a:latin typeface="Segoe UI Black"/>
                <a:ea typeface="Segoe UI Black"/>
                <a:cs typeface="Times New Roman"/>
              </a:rPr>
              <a:t>trúc</a:t>
            </a:r>
            <a:r>
              <a:rPr lang="en-US" sz="4000" dirty="0">
                <a:latin typeface="Segoe UI Black"/>
                <a:ea typeface="Segoe UI Black"/>
                <a:cs typeface="Times New Roman"/>
              </a:rPr>
              <a:t> </a:t>
            </a:r>
            <a:r>
              <a:rPr lang="en-US" sz="4000" dirty="0" err="1">
                <a:latin typeface="Segoe UI Black"/>
                <a:ea typeface="Segoe UI Black"/>
                <a:cs typeface="Times New Roman"/>
              </a:rPr>
              <a:t>tổng</a:t>
            </a:r>
            <a:r>
              <a:rPr lang="en-US" sz="4000" dirty="0">
                <a:latin typeface="Segoe UI Black"/>
                <a:ea typeface="Segoe UI Black"/>
                <a:cs typeface="Times New Roman"/>
              </a:rPr>
              <a:t> </a:t>
            </a:r>
            <a:r>
              <a:rPr lang="en-US" sz="4000" dirty="0" err="1">
                <a:latin typeface="Segoe UI Black"/>
                <a:ea typeface="Segoe UI Black"/>
                <a:cs typeface="Times New Roman"/>
              </a:rPr>
              <a:t>quan</a:t>
            </a:r>
            <a:endParaRPr lang="vi-VN" sz="4000" dirty="0" err="1">
              <a:solidFill>
                <a:srgbClr val="000000"/>
              </a:solidFill>
              <a:latin typeface="Segoe UI Black"/>
              <a:ea typeface="Segoe UI Black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0B9DD-4B09-F092-D2D6-A140158A82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ahoma"/>
                <a:ea typeface="Tahoma"/>
                <a:cs typeface="Tahoma"/>
              </a:rPr>
              <a:t>1.2. </a:t>
            </a:r>
            <a:r>
              <a:rPr lang="en-US" b="1" dirty="0" err="1">
                <a:latin typeface="Tahoma"/>
                <a:ea typeface="Tahoma"/>
                <a:cs typeface="Tahoma"/>
              </a:rPr>
              <a:t>Kiến</a:t>
            </a:r>
            <a:r>
              <a:rPr lang="en-US" b="1" dirty="0">
                <a:latin typeface="Tahoma"/>
                <a:ea typeface="Tahoma"/>
                <a:cs typeface="Tahoma"/>
              </a:rPr>
              <a:t> </a:t>
            </a:r>
            <a:r>
              <a:rPr lang="en-US" b="1" dirty="0" err="1">
                <a:latin typeface="Tahoma"/>
                <a:ea typeface="Tahoma"/>
                <a:cs typeface="Tahoma"/>
              </a:rPr>
              <a:t>trúc</a:t>
            </a:r>
            <a:r>
              <a:rPr lang="en-US" b="1" dirty="0">
                <a:latin typeface="Tahoma"/>
                <a:ea typeface="Tahoma"/>
                <a:cs typeface="Tahoma"/>
              </a:rPr>
              <a:t> </a:t>
            </a:r>
            <a:r>
              <a:rPr lang="en-US" b="1" dirty="0" err="1">
                <a:latin typeface="Tahoma"/>
                <a:ea typeface="Tahoma"/>
                <a:cs typeface="Tahoma"/>
              </a:rPr>
              <a:t>tổng</a:t>
            </a:r>
            <a:r>
              <a:rPr lang="en-US" b="1" dirty="0">
                <a:latin typeface="Tahoma"/>
                <a:ea typeface="Tahoma"/>
                <a:cs typeface="Tahoma"/>
              </a:rPr>
              <a:t> </a:t>
            </a:r>
            <a:r>
              <a:rPr lang="en-US" b="1" dirty="0" err="1">
                <a:latin typeface="Tahoma"/>
                <a:ea typeface="Tahoma"/>
                <a:cs typeface="Tahoma"/>
              </a:rPr>
              <a:t>quan</a:t>
            </a:r>
            <a:r>
              <a:rPr lang="en-US" b="1" dirty="0">
                <a:latin typeface="Tahoma"/>
                <a:ea typeface="Tahoma"/>
                <a:cs typeface="Tahoma"/>
              </a:rPr>
              <a:t> </a:t>
            </a:r>
            <a:r>
              <a:rPr lang="en-US" b="1" dirty="0" err="1">
                <a:latin typeface="Tahoma"/>
                <a:ea typeface="Tahoma"/>
                <a:cs typeface="Tahoma"/>
              </a:rPr>
              <a:t>trước</a:t>
            </a:r>
            <a:r>
              <a:rPr lang="en-US" b="1" dirty="0">
                <a:latin typeface="Tahoma"/>
                <a:ea typeface="Tahoma"/>
                <a:cs typeface="Tahoma"/>
              </a:rPr>
              <a:t> </a:t>
            </a:r>
            <a:r>
              <a:rPr lang="en-US" b="1" dirty="0" err="1">
                <a:latin typeface="Tahoma"/>
                <a:ea typeface="Tahoma"/>
                <a:cs typeface="Tahoma"/>
              </a:rPr>
              <a:t>triển</a:t>
            </a:r>
            <a:r>
              <a:rPr lang="en-US" b="1" dirty="0">
                <a:latin typeface="Tahoma"/>
                <a:ea typeface="Tahoma"/>
                <a:cs typeface="Tahoma"/>
              </a:rPr>
              <a:t> </a:t>
            </a:r>
            <a:r>
              <a:rPr lang="en-US" b="1" dirty="0" err="1">
                <a:latin typeface="Tahoma"/>
                <a:ea typeface="Tahoma"/>
                <a:cs typeface="Tahoma"/>
              </a:rPr>
              <a:t>khai</a:t>
            </a:r>
            <a:endParaRPr lang="en-US" b="1" dirty="0">
              <a:latin typeface="Tahoma"/>
              <a:ea typeface="Tahoma"/>
              <a:cs typeface="Tahoma"/>
            </a:endParaRPr>
          </a:p>
          <a:p>
            <a:pPr marL="971550" lvl="1" indent="-285750">
              <a:lnSpc>
                <a:spcPct val="150000"/>
              </a:lnSpc>
              <a:buFont typeface="Arial"/>
              <a:buChar char="•"/>
            </a:pPr>
            <a:endParaRPr lang="vi-VN" sz="2600" dirty="0">
              <a:latin typeface="Tahoma"/>
              <a:ea typeface="Tahoma"/>
            </a:endParaRPr>
          </a:p>
          <a:p>
            <a:pPr marL="457200" lvl="1" indent="0">
              <a:buNone/>
            </a:pPr>
            <a:endParaRPr lang="vi-VN" sz="2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2AA28B-5196-D6DB-FB8D-8008D10F5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4904A-0124-4CFD-8C38-AB47E06D03EA}" type="datetime1">
              <a:rPr lang="en-GB" smtClean="0"/>
              <a:t>01/02/2026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AF48A7-2D24-13CA-BC99-88D8A4651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7CDD2A-6382-1418-56AE-0B7336790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pPr/>
              <a:t>6</a:t>
            </a:fld>
            <a:endParaRPr lang="en-GB"/>
          </a:p>
        </p:txBody>
      </p:sp>
      <p:pic>
        <p:nvPicPr>
          <p:cNvPr id="2" name="Picture 1" descr="A diagram of a system">
            <a:extLst>
              <a:ext uri="{FF2B5EF4-FFF2-40B4-BE49-F238E27FC236}">
                <a16:creationId xmlns:a16="http://schemas.microsoft.com/office/drawing/2014/main" id="{941EDCB8-E330-B114-8EC4-98211DF15A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2916098"/>
            <a:ext cx="8991600" cy="309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621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êu đề 7">
            <a:extLst>
              <a:ext uri="{FF2B5EF4-FFF2-40B4-BE49-F238E27FC236}">
                <a16:creationId xmlns:a16="http://schemas.microsoft.com/office/drawing/2014/main" id="{4DC1888D-127D-E19F-C579-070403F29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Segoe UI Black"/>
                <a:ea typeface="Segoe UI Black"/>
                <a:cs typeface="Times New Roman"/>
              </a:rPr>
              <a:t>1. </a:t>
            </a:r>
            <a:r>
              <a:rPr lang="en-US" sz="4000" dirty="0" err="1">
                <a:latin typeface="Segoe UI Black"/>
                <a:ea typeface="Segoe UI Black"/>
                <a:cs typeface="Times New Roman"/>
              </a:rPr>
              <a:t>Giới</a:t>
            </a:r>
            <a:r>
              <a:rPr lang="en-US" sz="4000" dirty="0">
                <a:latin typeface="Segoe UI Black"/>
                <a:ea typeface="Segoe UI Black"/>
                <a:cs typeface="Times New Roman"/>
              </a:rPr>
              <a:t> </a:t>
            </a:r>
            <a:r>
              <a:rPr lang="en-US" sz="4000" dirty="0" err="1">
                <a:latin typeface="Segoe UI Black"/>
                <a:ea typeface="Segoe UI Black"/>
                <a:cs typeface="Times New Roman"/>
              </a:rPr>
              <a:t>thiệu</a:t>
            </a:r>
            <a:r>
              <a:rPr lang="en-US" sz="4000" dirty="0">
                <a:latin typeface="Segoe UI Black"/>
                <a:ea typeface="Segoe UI Black"/>
                <a:cs typeface="Times New Roman"/>
              </a:rPr>
              <a:t> </a:t>
            </a:r>
            <a:r>
              <a:rPr lang="en-US" sz="4000" dirty="0" err="1">
                <a:latin typeface="Segoe UI Black"/>
                <a:ea typeface="Segoe UI Black"/>
                <a:cs typeface="Times New Roman"/>
              </a:rPr>
              <a:t>dự</a:t>
            </a:r>
            <a:r>
              <a:rPr lang="en-US" sz="4000" dirty="0">
                <a:latin typeface="Segoe UI Black"/>
                <a:ea typeface="Segoe UI Black"/>
                <a:cs typeface="Times New Roman"/>
              </a:rPr>
              <a:t> </a:t>
            </a:r>
            <a:r>
              <a:rPr lang="en-US" sz="4000" dirty="0" err="1">
                <a:latin typeface="Segoe UI Black"/>
                <a:ea typeface="Segoe UI Black"/>
                <a:cs typeface="Times New Roman"/>
              </a:rPr>
              <a:t>án</a:t>
            </a:r>
            <a:r>
              <a:rPr lang="en-US" sz="4000" dirty="0">
                <a:latin typeface="Segoe UI Black"/>
                <a:ea typeface="Segoe UI Black"/>
                <a:cs typeface="Times New Roman"/>
              </a:rPr>
              <a:t> &amp; </a:t>
            </a:r>
            <a:r>
              <a:rPr lang="en-US" sz="4000" dirty="0" err="1">
                <a:latin typeface="Segoe UI Black"/>
                <a:ea typeface="Segoe UI Black"/>
                <a:cs typeface="Times New Roman"/>
              </a:rPr>
              <a:t>kiến</a:t>
            </a:r>
            <a:r>
              <a:rPr lang="en-US" sz="4000" dirty="0">
                <a:latin typeface="Segoe UI Black"/>
                <a:ea typeface="Segoe UI Black"/>
                <a:cs typeface="Times New Roman"/>
              </a:rPr>
              <a:t> </a:t>
            </a:r>
            <a:r>
              <a:rPr lang="en-US" sz="4000" dirty="0" err="1">
                <a:latin typeface="Segoe UI Black"/>
                <a:ea typeface="Segoe UI Black"/>
                <a:cs typeface="Times New Roman"/>
              </a:rPr>
              <a:t>trúc</a:t>
            </a:r>
            <a:r>
              <a:rPr lang="en-US" sz="4000" dirty="0">
                <a:latin typeface="Segoe UI Black"/>
                <a:ea typeface="Segoe UI Black"/>
                <a:cs typeface="Times New Roman"/>
              </a:rPr>
              <a:t> </a:t>
            </a:r>
            <a:r>
              <a:rPr lang="en-US" sz="4000" dirty="0" err="1">
                <a:latin typeface="Segoe UI Black"/>
                <a:ea typeface="Segoe UI Black"/>
                <a:cs typeface="Times New Roman"/>
              </a:rPr>
              <a:t>tổng</a:t>
            </a:r>
            <a:r>
              <a:rPr lang="en-US" sz="4000" dirty="0">
                <a:latin typeface="Segoe UI Black"/>
                <a:ea typeface="Segoe UI Black"/>
                <a:cs typeface="Times New Roman"/>
              </a:rPr>
              <a:t> </a:t>
            </a:r>
            <a:r>
              <a:rPr lang="en-US" sz="4000" dirty="0" err="1">
                <a:latin typeface="Segoe UI Black"/>
                <a:ea typeface="Segoe UI Black"/>
                <a:cs typeface="Times New Roman"/>
              </a:rPr>
              <a:t>quan</a:t>
            </a:r>
            <a:endParaRPr lang="vi-VN" sz="4000" dirty="0" err="1">
              <a:solidFill>
                <a:srgbClr val="000000"/>
              </a:solidFill>
              <a:latin typeface="Segoe UI Black"/>
              <a:ea typeface="Segoe UI Black"/>
              <a:cs typeface="Times New Roman"/>
            </a:endParaRP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EE37A35-9D88-856C-9635-3B987CD5D2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ahoma"/>
                <a:ea typeface="Tahoma"/>
                <a:cs typeface="Tahoma"/>
              </a:rPr>
              <a:t>1.3. </a:t>
            </a:r>
            <a:r>
              <a:rPr lang="en-US" b="1" dirty="0" err="1">
                <a:latin typeface="Tahoma"/>
                <a:ea typeface="Tahoma"/>
                <a:cs typeface="Tahoma"/>
              </a:rPr>
              <a:t>Kiến</a:t>
            </a:r>
            <a:r>
              <a:rPr lang="en-US" b="1" dirty="0">
                <a:latin typeface="Tahoma"/>
                <a:ea typeface="Tahoma"/>
                <a:cs typeface="Tahoma"/>
              </a:rPr>
              <a:t> </a:t>
            </a:r>
            <a:r>
              <a:rPr lang="en-US" b="1" dirty="0" err="1">
                <a:latin typeface="Tahoma"/>
                <a:ea typeface="Tahoma"/>
                <a:cs typeface="Tahoma"/>
              </a:rPr>
              <a:t>trúc</a:t>
            </a:r>
            <a:r>
              <a:rPr lang="en-US" b="1" dirty="0">
                <a:latin typeface="Tahoma"/>
                <a:ea typeface="Tahoma"/>
                <a:cs typeface="Tahoma"/>
              </a:rPr>
              <a:t> </a:t>
            </a:r>
            <a:r>
              <a:rPr lang="en-US" b="1" dirty="0" err="1">
                <a:latin typeface="Tahoma"/>
                <a:ea typeface="Tahoma"/>
                <a:cs typeface="Tahoma"/>
              </a:rPr>
              <a:t>khi</a:t>
            </a:r>
            <a:r>
              <a:rPr lang="en-US" b="1" dirty="0">
                <a:latin typeface="Tahoma"/>
                <a:ea typeface="Tahoma"/>
                <a:cs typeface="Tahoma"/>
              </a:rPr>
              <a:t> </a:t>
            </a:r>
            <a:r>
              <a:rPr lang="en-US" b="1" dirty="0" err="1">
                <a:latin typeface="Tahoma"/>
                <a:ea typeface="Tahoma"/>
                <a:cs typeface="Tahoma"/>
              </a:rPr>
              <a:t>triển</a:t>
            </a:r>
            <a:r>
              <a:rPr lang="en-US" b="1" dirty="0">
                <a:latin typeface="Tahoma"/>
                <a:ea typeface="Tahoma"/>
                <a:cs typeface="Tahoma"/>
              </a:rPr>
              <a:t> </a:t>
            </a:r>
            <a:r>
              <a:rPr lang="en-US" b="1" dirty="0" err="1">
                <a:latin typeface="Tahoma"/>
                <a:ea typeface="Tahoma"/>
                <a:cs typeface="Tahoma"/>
              </a:rPr>
              <a:t>khai</a:t>
            </a:r>
            <a:r>
              <a:rPr lang="en-US" b="1" dirty="0">
                <a:latin typeface="Tahoma"/>
                <a:ea typeface="Tahoma"/>
                <a:cs typeface="Tahoma"/>
              </a:rPr>
              <a:t> </a:t>
            </a:r>
            <a:r>
              <a:rPr lang="en-US" b="1" dirty="0" err="1">
                <a:latin typeface="Tahoma"/>
                <a:ea typeface="Tahoma"/>
                <a:cs typeface="Tahoma"/>
              </a:rPr>
              <a:t>toàn</a:t>
            </a:r>
            <a:r>
              <a:rPr lang="en-US" b="1" dirty="0">
                <a:latin typeface="Tahoma"/>
                <a:ea typeface="Tahoma"/>
                <a:cs typeface="Tahoma"/>
              </a:rPr>
              <a:t> </a:t>
            </a:r>
            <a:r>
              <a:rPr lang="en-US" b="1" dirty="0" err="1">
                <a:latin typeface="Tahoma"/>
                <a:ea typeface="Tahoma"/>
                <a:cs typeface="Tahoma"/>
              </a:rPr>
              <a:t>bộ</a:t>
            </a:r>
            <a:r>
              <a:rPr lang="en-US" b="1" dirty="0">
                <a:latin typeface="Tahoma"/>
                <a:ea typeface="Tahoma"/>
                <a:cs typeface="Tahoma"/>
              </a:rPr>
              <a:t> </a:t>
            </a:r>
            <a:r>
              <a:rPr lang="en-US" b="1" dirty="0" err="1">
                <a:latin typeface="Tahoma"/>
                <a:ea typeface="Tahoma"/>
                <a:cs typeface="Tahoma"/>
              </a:rPr>
              <a:t>hệ</a:t>
            </a:r>
            <a:r>
              <a:rPr lang="en-US" b="1" dirty="0">
                <a:latin typeface="Tahoma"/>
                <a:ea typeface="Tahoma"/>
                <a:cs typeface="Tahoma"/>
              </a:rPr>
              <a:t> </a:t>
            </a:r>
            <a:r>
              <a:rPr lang="en-US" b="1" dirty="0" err="1">
                <a:latin typeface="Tahoma"/>
                <a:ea typeface="Tahoma"/>
                <a:cs typeface="Tahoma"/>
              </a:rPr>
              <a:t>thống</a:t>
            </a:r>
            <a:r>
              <a:rPr lang="en-US" b="1" dirty="0">
                <a:latin typeface="Tahoma"/>
                <a:ea typeface="Tahoma"/>
                <a:cs typeface="Tahoma"/>
              </a:rPr>
              <a:t> </a:t>
            </a:r>
            <a:r>
              <a:rPr lang="en-US" b="1" dirty="0" err="1">
                <a:latin typeface="Tahoma"/>
                <a:ea typeface="Tahoma"/>
                <a:cs typeface="Tahoma"/>
              </a:rPr>
              <a:t>trên</a:t>
            </a:r>
            <a:r>
              <a:rPr lang="en-US" b="1" dirty="0">
                <a:latin typeface="Tahoma"/>
                <a:ea typeface="Tahoma"/>
                <a:cs typeface="Tahoma"/>
              </a:rPr>
              <a:t> </a:t>
            </a:r>
            <a:r>
              <a:rPr lang="en-US" b="1" dirty="0" err="1">
                <a:latin typeface="Tahoma"/>
                <a:ea typeface="Tahoma"/>
                <a:cs typeface="Tahoma"/>
              </a:rPr>
              <a:t>nền</a:t>
            </a:r>
            <a:r>
              <a:rPr lang="en-US" b="1" dirty="0">
                <a:latin typeface="Tahoma"/>
                <a:ea typeface="Tahoma"/>
                <a:cs typeface="Tahoma"/>
              </a:rPr>
              <a:t> </a:t>
            </a:r>
            <a:r>
              <a:rPr lang="en-US" b="1" dirty="0" err="1">
                <a:latin typeface="Tahoma"/>
                <a:ea typeface="Tahoma"/>
                <a:cs typeface="Tahoma"/>
              </a:rPr>
              <a:t>tảng</a:t>
            </a:r>
            <a:r>
              <a:rPr lang="en-US" b="1" dirty="0">
                <a:latin typeface="Tahoma"/>
                <a:ea typeface="Tahoma"/>
                <a:cs typeface="Tahoma"/>
              </a:rPr>
              <a:t> Cloud</a:t>
            </a:r>
          </a:p>
          <a:p>
            <a:pPr marL="971550" lvl="1" indent="-285750">
              <a:lnSpc>
                <a:spcPct val="150000"/>
              </a:lnSpc>
              <a:buFont typeface="Arial"/>
              <a:buChar char="•"/>
            </a:pPr>
            <a:endParaRPr lang="vi-VN" sz="2600" dirty="0">
              <a:latin typeface="Tahoma"/>
              <a:ea typeface="Tahoma"/>
            </a:endParaRPr>
          </a:p>
          <a:p>
            <a:pPr marL="457200" lvl="1" indent="0">
              <a:buNone/>
            </a:pPr>
            <a:endParaRPr lang="vi-VN" sz="2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7F1AFEAE-B185-237F-380B-384C34378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C0603-B336-43F0-8B0D-9E6316F641BA}" type="datetime1">
              <a:rPr lang="en-GB" smtClean="0"/>
              <a:t>01/02/2026</a:t>
            </a:fld>
            <a:endParaRPr lang="en-GB"/>
          </a:p>
        </p:txBody>
      </p:sp>
      <p:sp>
        <p:nvSpPr>
          <p:cNvPr id="22" name="Footer Placeholder 4">
            <a:extLst>
              <a:ext uri="{FF2B5EF4-FFF2-40B4-BE49-F238E27FC236}">
                <a16:creationId xmlns:a16="http://schemas.microsoft.com/office/drawing/2014/main" id="{C8AAF56D-AAB5-6A86-6C40-D43F33E3F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7DC4B86C-F3D4-A928-E566-5AB50492F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pPr/>
              <a:t>7</a:t>
            </a:fld>
            <a:endParaRPr lang="en-GB"/>
          </a:p>
        </p:txBody>
      </p:sp>
      <p:pic>
        <p:nvPicPr>
          <p:cNvPr id="3" name="Picture 2" descr="A diagram of a diagram">
            <a:extLst>
              <a:ext uri="{FF2B5EF4-FFF2-40B4-BE49-F238E27FC236}">
                <a16:creationId xmlns:a16="http://schemas.microsoft.com/office/drawing/2014/main" id="{8F26E139-846B-3DF4-E1B6-1F09D7C172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0866" y="3107052"/>
            <a:ext cx="6790268" cy="3159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3164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7EBC2-137E-9A0A-399F-753A28967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4">
            <a:extLst>
              <a:ext uri="{FF2B5EF4-FFF2-40B4-BE49-F238E27FC236}">
                <a16:creationId xmlns:a16="http://schemas.microsoft.com/office/drawing/2014/main" id="{5AA7BA7A-19A7-5BF8-8376-CBCE75DECC1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47450" h="10287000">
                <a:moveTo>
                  <a:pt x="0" y="0"/>
                </a:moveTo>
                <a:lnTo>
                  <a:pt x="18247450" y="0"/>
                </a:lnTo>
                <a:lnTo>
                  <a:pt x="182474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9BF0808-930C-7512-089D-8D3776AD03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4753" y="1030962"/>
            <a:ext cx="9822493" cy="2398038"/>
          </a:xfrm>
        </p:spPr>
        <p:txBody>
          <a:bodyPr/>
          <a:lstStyle/>
          <a:p>
            <a:r>
              <a:rPr lang="en-US" dirty="0">
                <a:latin typeface="Segoe UI Black"/>
                <a:ea typeface="Segoe UI Black"/>
                <a:cs typeface="Times New Roman"/>
              </a:rPr>
              <a:t>02. HẠ TẦNG CLOUD &amp; DOCKER</a:t>
            </a:r>
            <a:endParaRPr lang="en-US" sz="4400" dirty="0">
              <a:solidFill>
                <a:srgbClr val="15848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31925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1FC9A-D7F3-D194-966B-0479AD29A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Segoe UI Black"/>
                <a:ea typeface="Segoe UI Black"/>
                <a:cs typeface="Times New Roman"/>
              </a:rPr>
              <a:t>2. </a:t>
            </a:r>
            <a:r>
              <a:rPr lang="en-US" sz="4000" dirty="0" err="1">
                <a:latin typeface="Segoe UI Black"/>
                <a:ea typeface="Segoe UI Black"/>
                <a:cs typeface="Times New Roman"/>
              </a:rPr>
              <a:t>Hạ</a:t>
            </a:r>
            <a:r>
              <a:rPr lang="en-US" sz="4000" dirty="0">
                <a:latin typeface="Segoe UI Black"/>
                <a:ea typeface="Segoe UI Black"/>
                <a:cs typeface="Times New Roman"/>
              </a:rPr>
              <a:t> </a:t>
            </a:r>
            <a:r>
              <a:rPr lang="en-US" sz="4000" dirty="0" err="1">
                <a:latin typeface="Segoe UI Black"/>
                <a:ea typeface="Segoe UI Black"/>
                <a:cs typeface="Times New Roman"/>
              </a:rPr>
              <a:t>tầng</a:t>
            </a:r>
            <a:r>
              <a:rPr lang="en-US" sz="4000" dirty="0">
                <a:latin typeface="Segoe UI Black"/>
                <a:ea typeface="Segoe UI Black"/>
                <a:cs typeface="Times New Roman"/>
              </a:rPr>
              <a:t> Cloud &amp; Docker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0B9DD-4B09-F092-D2D6-A140158A82B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800" b="1" dirty="0">
                <a:latin typeface="Tahoma"/>
                <a:ea typeface="Tahoma"/>
                <a:cs typeface="Tahoma"/>
              </a:rPr>
              <a:t>2.1. </a:t>
            </a:r>
            <a:r>
              <a:rPr lang="en-US" sz="2800" b="1" dirty="0" err="1">
                <a:latin typeface="Tahoma"/>
                <a:ea typeface="Tahoma"/>
                <a:cs typeface="Tahoma"/>
              </a:rPr>
              <a:t>Hạ</a:t>
            </a:r>
            <a:r>
              <a:rPr lang="en-US" sz="2800" b="1" dirty="0">
                <a:latin typeface="Tahoma"/>
                <a:ea typeface="Tahoma"/>
                <a:cs typeface="Tahoma"/>
              </a:rPr>
              <a:t> </a:t>
            </a:r>
            <a:r>
              <a:rPr lang="en-US" sz="2800" b="1" dirty="0" err="1">
                <a:latin typeface="Tahoma"/>
                <a:ea typeface="Tahoma"/>
                <a:cs typeface="Tahoma"/>
              </a:rPr>
              <a:t>tầng</a:t>
            </a:r>
            <a:r>
              <a:rPr lang="en-US" sz="2800" b="1" dirty="0">
                <a:latin typeface="Tahoma"/>
                <a:ea typeface="Tahoma"/>
                <a:cs typeface="Tahoma"/>
              </a:rPr>
              <a:t> Cloud </a:t>
            </a:r>
            <a:r>
              <a:rPr lang="en-US" sz="2800" b="1" dirty="0" err="1">
                <a:latin typeface="Tahoma"/>
                <a:ea typeface="Tahoma"/>
                <a:cs typeface="Tahoma"/>
              </a:rPr>
              <a:t>sử</a:t>
            </a:r>
            <a:r>
              <a:rPr lang="en-US" sz="2800" b="1" dirty="0">
                <a:latin typeface="Tahoma"/>
                <a:ea typeface="Tahoma"/>
                <a:cs typeface="Tahoma"/>
              </a:rPr>
              <a:t> </a:t>
            </a:r>
            <a:r>
              <a:rPr lang="en-US" sz="2800" b="1" dirty="0" err="1">
                <a:latin typeface="Tahoma"/>
                <a:ea typeface="Tahoma"/>
                <a:cs typeface="Tahoma"/>
              </a:rPr>
              <a:t>dụng</a:t>
            </a:r>
            <a:endParaRPr lang="en-US" sz="2800" b="1" dirty="0">
              <a:latin typeface="Tahoma"/>
              <a:ea typeface="Tahoma"/>
              <a:cs typeface="Tahoma"/>
            </a:endParaRPr>
          </a:p>
          <a:p>
            <a:pPr>
              <a:lnSpc>
                <a:spcPct val="100000"/>
              </a:lnSpc>
            </a:pPr>
            <a:r>
              <a:rPr lang="en-US" sz="2800" dirty="0">
                <a:latin typeface="Tahoma"/>
                <a:ea typeface="+mn-lt"/>
                <a:cs typeface="+mn-lt"/>
              </a:rPr>
              <a:t>AWS EC2 (m7i-flex.large).</a:t>
            </a:r>
            <a:endParaRPr lang="en-US" sz="2800" dirty="0">
              <a:latin typeface="Tahoma"/>
              <a:ea typeface="Tahoma"/>
              <a:cs typeface="Tahoma"/>
            </a:endParaRPr>
          </a:p>
          <a:p>
            <a:pPr>
              <a:lnSpc>
                <a:spcPct val="100000"/>
              </a:lnSpc>
            </a:pPr>
            <a:r>
              <a:rPr lang="en-US" sz="2800" dirty="0">
                <a:latin typeface="Tahoma"/>
                <a:ea typeface="+mn-lt"/>
                <a:cs typeface="+mn-lt"/>
              </a:rPr>
              <a:t>Ubuntu Server.</a:t>
            </a:r>
          </a:p>
          <a:p>
            <a:pPr>
              <a:lnSpc>
                <a:spcPct val="100000"/>
              </a:lnSpc>
            </a:pPr>
            <a:r>
              <a:rPr lang="en-US" sz="2800" dirty="0">
                <a:latin typeface="Tahoma"/>
                <a:ea typeface="+mn-lt"/>
                <a:cs typeface="+mn-lt"/>
              </a:rPr>
              <a:t>Security Group </a:t>
            </a:r>
            <a:r>
              <a:rPr lang="en-US" sz="2800" dirty="0" err="1">
                <a:latin typeface="Tahoma"/>
                <a:ea typeface="+mn-lt"/>
                <a:cs typeface="+mn-lt"/>
              </a:rPr>
              <a:t>mở</a:t>
            </a:r>
            <a:r>
              <a:rPr lang="en-US" sz="2800" dirty="0">
                <a:latin typeface="Tahoma"/>
                <a:ea typeface="+mn-lt"/>
                <a:cs typeface="+mn-lt"/>
              </a:rPr>
              <a:t> port 22, 80, 5000.</a:t>
            </a:r>
            <a:endParaRPr lang="vi-VN" sz="2800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B6A860B-B0AB-7676-2586-4CD596702E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2586103"/>
            <a:ext cx="5356185" cy="3590859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800" b="1" dirty="0">
                <a:latin typeface="Tahoma"/>
                <a:ea typeface="Calibri"/>
                <a:cs typeface="Calibri"/>
              </a:rPr>
              <a:t>Lý do </a:t>
            </a:r>
            <a:r>
              <a:rPr lang="en-US" sz="2800" b="1" dirty="0" err="1">
                <a:latin typeface="Tahoma"/>
                <a:ea typeface="Calibri"/>
                <a:cs typeface="Calibri"/>
              </a:rPr>
              <a:t>chọn</a:t>
            </a:r>
            <a:r>
              <a:rPr lang="en-US" sz="2800" b="1" dirty="0">
                <a:latin typeface="Tahoma"/>
                <a:ea typeface="Calibri"/>
                <a:cs typeface="Calibri"/>
              </a:rPr>
              <a:t> EC2:</a:t>
            </a:r>
            <a:endParaRPr lang="vi-VN" sz="2800" b="1" dirty="0">
              <a:latin typeface="Tahoma"/>
              <a:ea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lang="en-US" sz="2800" dirty="0" err="1">
                <a:latin typeface="Tahoma"/>
                <a:ea typeface="Calibri"/>
                <a:cs typeface="Calibri"/>
              </a:rPr>
              <a:t>Chủ</a:t>
            </a:r>
            <a:r>
              <a:rPr lang="en-US" sz="2800" dirty="0">
                <a:latin typeface="Tahoma"/>
                <a:ea typeface="Calibri"/>
                <a:cs typeface="Calibri"/>
              </a:rPr>
              <a:t> </a:t>
            </a:r>
            <a:r>
              <a:rPr lang="en-US" sz="2800" dirty="0" err="1">
                <a:latin typeface="Tahoma"/>
                <a:ea typeface="Calibri"/>
                <a:cs typeface="Calibri"/>
              </a:rPr>
              <a:t>động</a:t>
            </a:r>
            <a:r>
              <a:rPr lang="en-US" sz="2800" dirty="0">
                <a:latin typeface="Tahoma"/>
                <a:ea typeface="Calibri"/>
                <a:cs typeface="Calibri"/>
              </a:rPr>
              <a:t> </a:t>
            </a:r>
            <a:r>
              <a:rPr lang="en-US" sz="2800" dirty="0" err="1">
                <a:latin typeface="Tahoma"/>
                <a:ea typeface="Calibri"/>
                <a:cs typeface="Calibri"/>
              </a:rPr>
              <a:t>cấu</a:t>
            </a:r>
            <a:r>
              <a:rPr lang="en-US" sz="2800" dirty="0">
                <a:latin typeface="Tahoma"/>
                <a:ea typeface="Calibri"/>
                <a:cs typeface="Calibri"/>
              </a:rPr>
              <a:t> </a:t>
            </a:r>
            <a:r>
              <a:rPr lang="en-US" sz="2800" dirty="0" err="1">
                <a:latin typeface="Tahoma"/>
                <a:ea typeface="Calibri"/>
                <a:cs typeface="Calibri"/>
              </a:rPr>
              <a:t>hình</a:t>
            </a:r>
            <a:r>
              <a:rPr lang="en-US" sz="2800" dirty="0">
                <a:latin typeface="Tahoma"/>
                <a:ea typeface="Calibri"/>
                <a:cs typeface="Calibri"/>
              </a:rPr>
              <a:t>.</a:t>
            </a:r>
            <a:endParaRPr lang="vi-VN" sz="2800" dirty="0">
              <a:latin typeface="Tahoma"/>
              <a:ea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lang="en-US" sz="2800" dirty="0" err="1">
                <a:latin typeface="Tahoma"/>
                <a:ea typeface="Calibri"/>
                <a:cs typeface="Calibri"/>
              </a:rPr>
              <a:t>Phù</a:t>
            </a:r>
            <a:r>
              <a:rPr lang="en-US" sz="2800" dirty="0">
                <a:latin typeface="Tahoma"/>
                <a:ea typeface="Calibri"/>
                <a:cs typeface="Calibri"/>
              </a:rPr>
              <a:t> </a:t>
            </a:r>
            <a:r>
              <a:rPr lang="en-US" sz="2800" dirty="0" err="1">
                <a:latin typeface="Tahoma"/>
                <a:ea typeface="Calibri"/>
                <a:cs typeface="Calibri"/>
              </a:rPr>
              <a:t>hợp</a:t>
            </a:r>
            <a:r>
              <a:rPr lang="en-US" sz="2800" dirty="0">
                <a:latin typeface="Tahoma"/>
                <a:ea typeface="Calibri"/>
                <a:cs typeface="Calibri"/>
              </a:rPr>
              <a:t> </a:t>
            </a:r>
            <a:r>
              <a:rPr lang="en-US" sz="2800" dirty="0" err="1">
                <a:latin typeface="Tahoma"/>
                <a:ea typeface="Calibri"/>
                <a:cs typeface="Calibri"/>
              </a:rPr>
              <a:t>mô</a:t>
            </a:r>
            <a:r>
              <a:rPr lang="en-US" sz="2800" dirty="0">
                <a:latin typeface="Tahoma"/>
                <a:ea typeface="Calibri"/>
                <a:cs typeface="Calibri"/>
              </a:rPr>
              <a:t> </a:t>
            </a:r>
            <a:r>
              <a:rPr lang="en-US" sz="2800" dirty="0" err="1">
                <a:latin typeface="Tahoma"/>
                <a:ea typeface="Calibri"/>
                <a:cs typeface="Calibri"/>
              </a:rPr>
              <a:t>hình</a:t>
            </a:r>
            <a:r>
              <a:rPr lang="en-US" sz="2800" dirty="0">
                <a:latin typeface="Tahoma"/>
                <a:ea typeface="Calibri"/>
                <a:cs typeface="Calibri"/>
              </a:rPr>
              <a:t> </a:t>
            </a:r>
            <a:r>
              <a:rPr lang="en-US" sz="2800" dirty="0" err="1">
                <a:latin typeface="Tahoma"/>
                <a:ea typeface="Calibri"/>
                <a:cs typeface="Calibri"/>
              </a:rPr>
              <a:t>học</a:t>
            </a:r>
            <a:r>
              <a:rPr lang="en-US" sz="2800" dirty="0">
                <a:latin typeface="Tahoma"/>
                <a:ea typeface="Calibri"/>
                <a:cs typeface="Calibri"/>
              </a:rPr>
              <a:t> </a:t>
            </a:r>
            <a:r>
              <a:rPr lang="en-US" sz="2800" dirty="0" err="1">
                <a:latin typeface="Tahoma"/>
                <a:ea typeface="Calibri"/>
                <a:cs typeface="Calibri"/>
              </a:rPr>
              <a:t>tập</a:t>
            </a:r>
            <a:r>
              <a:rPr lang="en-US" sz="2800" dirty="0">
                <a:latin typeface="Tahoma"/>
                <a:ea typeface="Calibri"/>
                <a:cs typeface="Calibri"/>
              </a:rPr>
              <a:t>.</a:t>
            </a:r>
            <a:endParaRPr lang="vi-VN" sz="2800" dirty="0">
              <a:latin typeface="Tahoma"/>
              <a:ea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lang="en-US" sz="2800" dirty="0" err="1">
                <a:latin typeface="Tahoma"/>
                <a:ea typeface="Calibri"/>
                <a:cs typeface="Calibri"/>
              </a:rPr>
              <a:t>Gần</a:t>
            </a:r>
            <a:r>
              <a:rPr lang="en-US" sz="2800" dirty="0">
                <a:latin typeface="Tahoma"/>
                <a:ea typeface="Calibri"/>
                <a:cs typeface="Calibri"/>
              </a:rPr>
              <a:t> </a:t>
            </a:r>
            <a:r>
              <a:rPr lang="en-US" sz="2800" dirty="0" err="1">
                <a:latin typeface="Tahoma"/>
                <a:ea typeface="Calibri"/>
                <a:cs typeface="Calibri"/>
              </a:rPr>
              <a:t>với</a:t>
            </a:r>
            <a:r>
              <a:rPr lang="en-US" sz="2800" dirty="0">
                <a:latin typeface="Tahoma"/>
                <a:ea typeface="Calibri"/>
                <a:cs typeface="Calibri"/>
              </a:rPr>
              <a:t> </a:t>
            </a:r>
            <a:r>
              <a:rPr lang="en-US" sz="2800" dirty="0" err="1">
                <a:latin typeface="Tahoma"/>
                <a:ea typeface="Calibri"/>
                <a:cs typeface="Calibri"/>
              </a:rPr>
              <a:t>môi</a:t>
            </a:r>
            <a:r>
              <a:rPr lang="en-US" sz="2800" dirty="0">
                <a:latin typeface="Tahoma"/>
                <a:ea typeface="Calibri"/>
                <a:cs typeface="Calibri"/>
              </a:rPr>
              <a:t> </a:t>
            </a:r>
            <a:r>
              <a:rPr lang="en-US" sz="2800" dirty="0" err="1">
                <a:latin typeface="Tahoma"/>
                <a:ea typeface="Calibri"/>
                <a:cs typeface="Calibri"/>
              </a:rPr>
              <a:t>trường</a:t>
            </a:r>
            <a:r>
              <a:rPr lang="en-US" sz="2800" dirty="0">
                <a:latin typeface="Tahoma"/>
                <a:ea typeface="Calibri"/>
                <a:cs typeface="Calibri"/>
              </a:rPr>
              <a:t> production.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2AA28B-5196-D6DB-FB8D-8008D10F5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26085-68AE-45CD-B802-AB520BF8EDAE}" type="datetime1">
              <a:rPr lang="en-GB" smtClean="0"/>
              <a:t>01/02/2026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AF48A7-2D24-13CA-BC99-88D8A4651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7CDD2A-6382-1418-56AE-0B7336790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pPr/>
              <a:t>9</a:t>
            </a:fld>
            <a:endParaRPr lang="en-GB"/>
          </a:p>
        </p:txBody>
      </p:sp>
      <p:pic>
        <p:nvPicPr>
          <p:cNvPr id="7" name="Picture 6" descr="Amazon EC2 là gì? Tìm hiểu về dịch vụ đám mây phổ biến của Amazon">
            <a:extLst>
              <a:ext uri="{FF2B5EF4-FFF2-40B4-BE49-F238E27FC236}">
                <a16:creationId xmlns:a16="http://schemas.microsoft.com/office/drawing/2014/main" id="{3D583372-F27B-2D3F-F3AA-A19D8E43441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54" t="20293" r="15103" b="16843"/>
          <a:stretch>
            <a:fillRect/>
          </a:stretch>
        </p:blipFill>
        <p:spPr bwMode="auto">
          <a:xfrm>
            <a:off x="4180113" y="4862359"/>
            <a:ext cx="3679373" cy="143268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265604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D2EBF-B721-1D28-5F77-CC54C8D9F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83D0B-3E69-6415-7AE7-23975E61E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Segoe UI Black"/>
                <a:ea typeface="Segoe UI Black"/>
                <a:cs typeface="Times New Roman"/>
              </a:rPr>
              <a:t>2. </a:t>
            </a:r>
            <a:r>
              <a:rPr lang="en-US" sz="4000" dirty="0" err="1">
                <a:latin typeface="Segoe UI Black"/>
                <a:ea typeface="Segoe UI Black"/>
                <a:cs typeface="Times New Roman"/>
              </a:rPr>
              <a:t>Hạ</a:t>
            </a:r>
            <a:r>
              <a:rPr lang="en-US" sz="4000" dirty="0">
                <a:latin typeface="Segoe UI Black"/>
                <a:ea typeface="Segoe UI Black"/>
                <a:cs typeface="Times New Roman"/>
              </a:rPr>
              <a:t> </a:t>
            </a:r>
            <a:r>
              <a:rPr lang="en-US" sz="4000" dirty="0" err="1">
                <a:latin typeface="Segoe UI Black"/>
                <a:ea typeface="Segoe UI Black"/>
                <a:cs typeface="Times New Roman"/>
              </a:rPr>
              <a:t>tầng</a:t>
            </a:r>
            <a:r>
              <a:rPr lang="en-US" sz="4000" dirty="0">
                <a:latin typeface="Segoe UI Black"/>
                <a:ea typeface="Segoe UI Black"/>
                <a:cs typeface="Times New Roman"/>
              </a:rPr>
              <a:t> Cloud &amp; Docker</a:t>
            </a:r>
            <a:endParaRPr lang="vi-VN" sz="4000" dirty="0"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0E833-0C0C-7BC3-5410-5859C7986A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ahoma"/>
                <a:ea typeface="Tahoma"/>
                <a:cs typeface="Tahoma"/>
              </a:rPr>
              <a:t>2.1. </a:t>
            </a:r>
            <a:r>
              <a:rPr lang="en-US" b="1" dirty="0" err="1">
                <a:latin typeface="Tahoma"/>
                <a:ea typeface="Tahoma"/>
                <a:cs typeface="Tahoma"/>
              </a:rPr>
              <a:t>Hạ</a:t>
            </a:r>
            <a:r>
              <a:rPr lang="en-US" b="1" dirty="0">
                <a:latin typeface="Tahoma"/>
                <a:ea typeface="Tahoma"/>
                <a:cs typeface="Tahoma"/>
              </a:rPr>
              <a:t> </a:t>
            </a:r>
            <a:r>
              <a:rPr lang="en-US" b="1" dirty="0" err="1">
                <a:latin typeface="Tahoma"/>
                <a:ea typeface="Tahoma"/>
                <a:cs typeface="Tahoma"/>
              </a:rPr>
              <a:t>tầng</a:t>
            </a:r>
            <a:r>
              <a:rPr lang="en-US" b="1" dirty="0">
                <a:latin typeface="Tahoma"/>
                <a:ea typeface="Tahoma"/>
                <a:cs typeface="Tahoma"/>
              </a:rPr>
              <a:t> Cloud</a:t>
            </a:r>
            <a:endParaRPr lang="en-US" dirty="0">
              <a:latin typeface="Tahoma"/>
              <a:ea typeface="Tahoma"/>
              <a:cs typeface="Tahoma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0EC73-98C4-FADE-7DBD-B5C361452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D1D5B-E72C-49D0-A695-16D07EBE8427}" type="datetime1">
              <a:rPr lang="en-GB" smtClean="0"/>
              <a:t>01/02/2026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E7F37-378D-6985-096A-22DA6DD89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309964-5759-F6A0-503A-A3449EC86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pPr/>
              <a:t>10</a:t>
            </a:fld>
            <a:endParaRPr lang="en-GB"/>
          </a:p>
        </p:txBody>
      </p:sp>
      <p:pic>
        <p:nvPicPr>
          <p:cNvPr id="8" name="Hình ảnh 7" descr="Ảnh có chứa văn bản, ảnh chụp màn hình, số, màn hình&#10;&#10;Nội dung do AI tạo ra có thể không chính xác.">
            <a:extLst>
              <a:ext uri="{FF2B5EF4-FFF2-40B4-BE49-F238E27FC236}">
                <a16:creationId xmlns:a16="http://schemas.microsoft.com/office/drawing/2014/main" id="{A06EF303-548D-391C-6F88-6F3C3FAEAF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9586" y="2809129"/>
            <a:ext cx="7572828" cy="3367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628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AD0B5-A201-4DC1-18F3-AD8D839F9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D5967-82F3-9907-780E-9E2DE85E2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Segoe UI Black"/>
                <a:ea typeface="Segoe UI Black"/>
                <a:cs typeface="Times New Roman"/>
              </a:rPr>
              <a:t>2. </a:t>
            </a:r>
            <a:r>
              <a:rPr lang="en-US" sz="4000" dirty="0" err="1">
                <a:latin typeface="Segoe UI Black"/>
                <a:ea typeface="Segoe UI Black"/>
                <a:cs typeface="Times New Roman"/>
              </a:rPr>
              <a:t>Hạ</a:t>
            </a:r>
            <a:r>
              <a:rPr lang="en-US" sz="4000" dirty="0">
                <a:latin typeface="Segoe UI Black"/>
                <a:ea typeface="Segoe UI Black"/>
                <a:cs typeface="Times New Roman"/>
              </a:rPr>
              <a:t> </a:t>
            </a:r>
            <a:r>
              <a:rPr lang="en-US" sz="4000" dirty="0" err="1">
                <a:latin typeface="Segoe UI Black"/>
                <a:ea typeface="Segoe UI Black"/>
                <a:cs typeface="Times New Roman"/>
              </a:rPr>
              <a:t>tầng</a:t>
            </a:r>
            <a:r>
              <a:rPr lang="en-US" sz="4000" dirty="0">
                <a:latin typeface="Segoe UI Black"/>
                <a:ea typeface="Segoe UI Black"/>
                <a:cs typeface="Times New Roman"/>
              </a:rPr>
              <a:t> Cloud &amp; Docker</a:t>
            </a:r>
            <a:endParaRPr lang="en-US" sz="4000" dirty="0">
              <a:solidFill>
                <a:srgbClr val="000000"/>
              </a:solidFill>
              <a:latin typeface="Segoe UI Black"/>
              <a:ea typeface="Segoe UI Black"/>
            </a:endParaRPr>
          </a:p>
        </p:txBody>
      </p:sp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BFE9028D-B83A-FA0C-0DD9-0299C1A5B5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686443"/>
            <a:ext cx="5181600" cy="349051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800" b="1" dirty="0">
                <a:latin typeface="Tahoma"/>
                <a:ea typeface="+mn-lt"/>
                <a:cs typeface="+mn-lt"/>
              </a:rPr>
              <a:t>Docker:</a:t>
            </a:r>
            <a:endParaRPr lang="en-US" sz="2800" b="1" dirty="0">
              <a:latin typeface="Tahoma"/>
              <a:ea typeface="Tahoma"/>
              <a:cs typeface="Times New Roman"/>
            </a:endParaRPr>
          </a:p>
          <a:p>
            <a:pPr algn="just">
              <a:lnSpc>
                <a:spcPct val="100000"/>
              </a:lnSpc>
            </a:pPr>
            <a:r>
              <a:rPr lang="en-US" sz="2800" dirty="0" err="1">
                <a:latin typeface="Tahoma"/>
                <a:ea typeface="+mn-lt"/>
                <a:cs typeface="+mn-lt"/>
              </a:rPr>
              <a:t>Đóng</a:t>
            </a:r>
            <a:r>
              <a:rPr lang="en-US" sz="2800" dirty="0">
                <a:latin typeface="Tahoma"/>
                <a:ea typeface="+mn-lt"/>
                <a:cs typeface="+mn-lt"/>
              </a:rPr>
              <a:t> </a:t>
            </a:r>
            <a:r>
              <a:rPr lang="en-US" sz="2800" dirty="0" err="1">
                <a:latin typeface="Tahoma"/>
                <a:ea typeface="+mn-lt"/>
                <a:cs typeface="+mn-lt"/>
              </a:rPr>
              <a:t>gói</a:t>
            </a:r>
            <a:r>
              <a:rPr lang="en-US" sz="2800" dirty="0">
                <a:latin typeface="Tahoma"/>
                <a:ea typeface="+mn-lt"/>
                <a:cs typeface="+mn-lt"/>
              </a:rPr>
              <a:t> </a:t>
            </a:r>
            <a:r>
              <a:rPr lang="en-US" sz="2800" dirty="0" err="1">
                <a:latin typeface="Tahoma"/>
                <a:ea typeface="+mn-lt"/>
                <a:cs typeface="+mn-lt"/>
              </a:rPr>
              <a:t>ứng</a:t>
            </a:r>
            <a:r>
              <a:rPr lang="en-US" sz="2800" dirty="0">
                <a:latin typeface="Tahoma"/>
                <a:ea typeface="+mn-lt"/>
                <a:cs typeface="+mn-lt"/>
              </a:rPr>
              <a:t> </a:t>
            </a:r>
            <a:r>
              <a:rPr lang="en-US" sz="2800" dirty="0" err="1">
                <a:latin typeface="Tahoma"/>
                <a:ea typeface="+mn-lt"/>
                <a:cs typeface="+mn-lt"/>
              </a:rPr>
              <a:t>dụng</a:t>
            </a:r>
            <a:r>
              <a:rPr lang="en-US" sz="2800" dirty="0">
                <a:latin typeface="Tahoma"/>
                <a:ea typeface="+mn-lt"/>
                <a:cs typeface="+mn-lt"/>
              </a:rPr>
              <a:t> </a:t>
            </a:r>
            <a:r>
              <a:rPr lang="en-US" sz="2800" dirty="0" err="1">
                <a:latin typeface="Tahoma"/>
                <a:ea typeface="+mn-lt"/>
                <a:cs typeface="+mn-lt"/>
              </a:rPr>
              <a:t>thành</a:t>
            </a:r>
            <a:r>
              <a:rPr lang="en-US" sz="2800" dirty="0">
                <a:latin typeface="Tahoma"/>
                <a:ea typeface="+mn-lt"/>
                <a:cs typeface="+mn-lt"/>
              </a:rPr>
              <a:t> container.</a:t>
            </a:r>
            <a:endParaRPr lang="en-US" sz="2800" dirty="0">
              <a:latin typeface="Tahoma"/>
              <a:ea typeface="Calibri"/>
              <a:cs typeface="Calibri"/>
            </a:endParaRPr>
          </a:p>
          <a:p>
            <a:pPr algn="just">
              <a:lnSpc>
                <a:spcPct val="100000"/>
              </a:lnSpc>
            </a:pPr>
            <a:r>
              <a:rPr lang="en-US" sz="2800" dirty="0" err="1">
                <a:latin typeface="Tahoma"/>
                <a:ea typeface="+mn-lt"/>
                <a:cs typeface="+mn-lt"/>
              </a:rPr>
              <a:t>Đảm</a:t>
            </a:r>
            <a:r>
              <a:rPr lang="en-US" sz="2800" dirty="0">
                <a:latin typeface="Tahoma"/>
                <a:ea typeface="+mn-lt"/>
                <a:cs typeface="+mn-lt"/>
              </a:rPr>
              <a:t> </a:t>
            </a:r>
            <a:r>
              <a:rPr lang="en-US" sz="2800" dirty="0" err="1">
                <a:latin typeface="Tahoma"/>
                <a:ea typeface="+mn-lt"/>
                <a:cs typeface="+mn-lt"/>
              </a:rPr>
              <a:t>bảo</a:t>
            </a:r>
            <a:r>
              <a:rPr lang="en-US" sz="2800" dirty="0">
                <a:latin typeface="Tahoma"/>
                <a:ea typeface="+mn-lt"/>
                <a:cs typeface="+mn-lt"/>
              </a:rPr>
              <a:t> </a:t>
            </a:r>
            <a:r>
              <a:rPr lang="en-US" sz="2800" dirty="0" err="1">
                <a:latin typeface="Tahoma"/>
                <a:ea typeface="+mn-lt"/>
                <a:cs typeface="+mn-lt"/>
              </a:rPr>
              <a:t>môi</a:t>
            </a:r>
            <a:r>
              <a:rPr lang="en-US" sz="2800" dirty="0">
                <a:latin typeface="Tahoma"/>
                <a:ea typeface="+mn-lt"/>
                <a:cs typeface="+mn-lt"/>
              </a:rPr>
              <a:t> </a:t>
            </a:r>
            <a:r>
              <a:rPr lang="en-US" sz="2800" dirty="0" err="1">
                <a:latin typeface="Tahoma"/>
                <a:ea typeface="+mn-lt"/>
                <a:cs typeface="+mn-lt"/>
              </a:rPr>
              <a:t>trường</a:t>
            </a:r>
            <a:r>
              <a:rPr lang="en-US" sz="2800" dirty="0">
                <a:latin typeface="Tahoma"/>
                <a:ea typeface="+mn-lt"/>
                <a:cs typeface="+mn-lt"/>
              </a:rPr>
              <a:t> </a:t>
            </a:r>
            <a:r>
              <a:rPr lang="en-US" sz="2800" dirty="0" err="1">
                <a:latin typeface="Tahoma"/>
                <a:ea typeface="+mn-lt"/>
                <a:cs typeface="+mn-lt"/>
              </a:rPr>
              <a:t>nhất</a:t>
            </a:r>
            <a:r>
              <a:rPr lang="en-US" sz="2800" dirty="0">
                <a:latin typeface="Tahoma"/>
                <a:ea typeface="+mn-lt"/>
                <a:cs typeface="+mn-lt"/>
              </a:rPr>
              <a:t> </a:t>
            </a:r>
            <a:r>
              <a:rPr lang="en-US" sz="2800" dirty="0" err="1">
                <a:latin typeface="Tahoma"/>
                <a:ea typeface="+mn-lt"/>
                <a:cs typeface="+mn-lt"/>
              </a:rPr>
              <a:t>quán</a:t>
            </a:r>
            <a:r>
              <a:rPr lang="en-US" sz="2800" dirty="0">
                <a:latin typeface="Tahoma"/>
                <a:ea typeface="+mn-lt"/>
                <a:cs typeface="+mn-lt"/>
              </a:rPr>
              <a:t>.</a:t>
            </a:r>
            <a:endParaRPr lang="en-US" sz="2800" dirty="0">
              <a:latin typeface="Tahoma"/>
              <a:ea typeface="Calibri"/>
              <a:cs typeface="Calibri"/>
            </a:endParaRPr>
          </a:p>
        </p:txBody>
      </p:sp>
      <p:sp>
        <p:nvSpPr>
          <p:cNvPr id="30" name="Content Placeholder 29">
            <a:extLst>
              <a:ext uri="{FF2B5EF4-FFF2-40B4-BE49-F238E27FC236}">
                <a16:creationId xmlns:a16="http://schemas.microsoft.com/office/drawing/2014/main" id="{D1F3BF08-5268-C1ED-9636-9F62FD891F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686442"/>
            <a:ext cx="5181600" cy="3490519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800" b="1" dirty="0">
                <a:latin typeface="Tahoma"/>
                <a:ea typeface="Segoe UI"/>
                <a:cs typeface="Segoe UI"/>
              </a:rPr>
              <a:t>Docker Compose:​</a:t>
            </a:r>
            <a:endParaRPr lang="vi-VN" sz="2800" b="1" dirty="0"/>
          </a:p>
          <a:p>
            <a:pPr algn="just">
              <a:lnSpc>
                <a:spcPct val="100000"/>
              </a:lnSpc>
            </a:pPr>
            <a:r>
              <a:rPr lang="en-US" sz="2800" dirty="0">
                <a:latin typeface="Tahoma"/>
                <a:ea typeface="Segoe UI"/>
                <a:cs typeface="Segoe UI"/>
              </a:rPr>
              <a:t>Quản </a:t>
            </a:r>
            <a:r>
              <a:rPr lang="en-US" sz="2800" dirty="0" err="1">
                <a:latin typeface="Tahoma"/>
                <a:ea typeface="Segoe UI"/>
                <a:cs typeface="Segoe UI"/>
              </a:rPr>
              <a:t>lý</a:t>
            </a:r>
            <a:r>
              <a:rPr lang="en-US" sz="2800" dirty="0">
                <a:latin typeface="Tahoma"/>
                <a:ea typeface="Segoe UI"/>
                <a:cs typeface="Segoe UI"/>
              </a:rPr>
              <a:t> </a:t>
            </a:r>
            <a:r>
              <a:rPr lang="en-US" sz="2800" dirty="0" err="1">
                <a:latin typeface="Tahoma"/>
                <a:ea typeface="Segoe UI"/>
                <a:cs typeface="Segoe UI"/>
              </a:rPr>
              <a:t>nhiều</a:t>
            </a:r>
            <a:r>
              <a:rPr lang="en-US" sz="2800" dirty="0">
                <a:latin typeface="Tahoma"/>
                <a:ea typeface="Segoe UI"/>
                <a:cs typeface="Segoe UI"/>
              </a:rPr>
              <a:t> container </a:t>
            </a:r>
            <a:r>
              <a:rPr lang="en-US" sz="2800" dirty="0" err="1">
                <a:latin typeface="Tahoma"/>
                <a:ea typeface="Segoe UI"/>
                <a:cs typeface="Segoe UI"/>
              </a:rPr>
              <a:t>cùng</a:t>
            </a:r>
            <a:r>
              <a:rPr lang="en-US" sz="2800" dirty="0">
                <a:latin typeface="Tahoma"/>
                <a:ea typeface="Segoe UI"/>
                <a:cs typeface="Segoe UI"/>
              </a:rPr>
              <a:t> </a:t>
            </a:r>
            <a:r>
              <a:rPr lang="en-US" sz="2800" dirty="0" err="1">
                <a:latin typeface="Tahoma"/>
                <a:ea typeface="Segoe UI"/>
                <a:cs typeface="Segoe UI"/>
              </a:rPr>
              <a:t>lúc</a:t>
            </a:r>
            <a:r>
              <a:rPr lang="en-US" sz="2800" dirty="0">
                <a:latin typeface="Tahoma"/>
                <a:ea typeface="Segoe UI"/>
                <a:cs typeface="Segoe UI"/>
              </a:rPr>
              <a:t>.</a:t>
            </a:r>
          </a:p>
          <a:p>
            <a:pPr algn="just">
              <a:lnSpc>
                <a:spcPct val="100000"/>
              </a:lnSpc>
            </a:pPr>
            <a:r>
              <a:rPr lang="en-US" sz="2800" dirty="0">
                <a:latin typeface="Tahoma"/>
                <a:ea typeface="Segoe UI"/>
                <a:cs typeface="Segoe UI"/>
              </a:rPr>
              <a:t>Frontend </a:t>
            </a:r>
            <a:r>
              <a:rPr lang="en-US" sz="2800" dirty="0" err="1">
                <a:latin typeface="Tahoma"/>
                <a:ea typeface="Segoe UI"/>
                <a:cs typeface="Segoe UI"/>
              </a:rPr>
              <a:t>và</a:t>
            </a:r>
            <a:r>
              <a:rPr lang="en-US" sz="2800" dirty="0">
                <a:latin typeface="Tahoma"/>
                <a:ea typeface="Segoe UI"/>
                <a:cs typeface="Segoe UI"/>
              </a:rPr>
              <a:t> Backend </a:t>
            </a:r>
            <a:r>
              <a:rPr lang="en-US" sz="2800" dirty="0" err="1">
                <a:latin typeface="Tahoma"/>
                <a:ea typeface="Segoe UI"/>
                <a:cs typeface="Segoe UI"/>
              </a:rPr>
              <a:t>chạy</a:t>
            </a:r>
            <a:r>
              <a:rPr lang="en-US" sz="2800" dirty="0">
                <a:latin typeface="Tahoma"/>
                <a:ea typeface="Segoe UI"/>
                <a:cs typeface="Segoe UI"/>
              </a:rPr>
              <a:t> </a:t>
            </a:r>
            <a:r>
              <a:rPr lang="en-US" sz="2800" dirty="0" err="1">
                <a:latin typeface="Tahoma"/>
                <a:ea typeface="Segoe UI"/>
                <a:cs typeface="Segoe UI"/>
              </a:rPr>
              <a:t>độc</a:t>
            </a:r>
            <a:r>
              <a:rPr lang="en-US" sz="2800" dirty="0">
                <a:latin typeface="Tahoma"/>
                <a:ea typeface="Segoe UI"/>
                <a:cs typeface="Segoe UI"/>
              </a:rPr>
              <a:t> </a:t>
            </a:r>
            <a:r>
              <a:rPr lang="en-US" sz="2800" dirty="0" err="1">
                <a:latin typeface="Tahoma"/>
                <a:ea typeface="Segoe UI"/>
                <a:cs typeface="Segoe UI"/>
              </a:rPr>
              <a:t>lập</a:t>
            </a:r>
            <a:r>
              <a:rPr lang="en-US" sz="2800" dirty="0">
                <a:latin typeface="Tahoma"/>
                <a:ea typeface="Segoe UI"/>
                <a:cs typeface="Segoe UI"/>
              </a:rPr>
              <a:t>.</a:t>
            </a:r>
            <a:endParaRPr lang="vi-VN" sz="2800" dirty="0">
              <a:cs typeface="Arial" panose="020B0604020202020204" pitchFamily="34" charset="0"/>
            </a:endParaRPr>
          </a:p>
          <a:p>
            <a:pPr algn="just">
              <a:lnSpc>
                <a:spcPct val="100000"/>
              </a:lnSpc>
            </a:pPr>
            <a:endParaRPr lang="en-US" sz="2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C4E838-9A75-3EE6-D9AC-9CFB4D126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B0F28-65AF-49B3-9780-E69376CFC7AC}" type="datetime1">
              <a:rPr lang="en-GB" smtClean="0"/>
              <a:t>01/02/2026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3D196B-A106-D4DD-40EE-F2907BDE4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711A7-4777-19BD-E7CF-D23DD7232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pPr/>
              <a:t>11</a:t>
            </a:fld>
            <a:endParaRPr lang="en-GB"/>
          </a:p>
        </p:txBody>
      </p:sp>
      <p:pic>
        <p:nvPicPr>
          <p:cNvPr id="10" name="Hình ảnh 9" descr="Ảnh có chứa văn bản, ảnh chụp màn hình, Phông chữ&#10;&#10;Nội dung do AI tạo ra có thể không chính xác.">
            <a:extLst>
              <a:ext uri="{FF2B5EF4-FFF2-40B4-BE49-F238E27FC236}">
                <a16:creationId xmlns:a16="http://schemas.microsoft.com/office/drawing/2014/main" id="{5C1ACB73-615F-BEE7-1A79-0EB8AFD9CB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879" t="680" r="1144" b="4082"/>
          <a:stretch>
            <a:fillRect/>
          </a:stretch>
        </p:blipFill>
        <p:spPr>
          <a:xfrm>
            <a:off x="861621" y="5366733"/>
            <a:ext cx="5439557" cy="8102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8B075830-6AAC-293D-1503-36B778F653EC}"/>
              </a:ext>
            </a:extLst>
          </p:cNvPr>
          <p:cNvSpPr txBox="1"/>
          <p:nvPr/>
        </p:nvSpPr>
        <p:spPr>
          <a:xfrm>
            <a:off x="838200" y="1922276"/>
            <a:ext cx="669356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None/>
            </a:pPr>
            <a:r>
              <a:rPr lang="en-US" sz="3200" b="1" dirty="0">
                <a:latin typeface="Tahoma"/>
                <a:ea typeface="Tahoma"/>
                <a:cs typeface="Tahoma"/>
              </a:rPr>
              <a:t>2.2. Docker &amp; Docker Compose</a:t>
            </a:r>
            <a:endParaRPr lang="en-US" sz="3200" dirty="0">
              <a:latin typeface="Tahoma"/>
              <a:ea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9108388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8D5AA6FA-6028-DECB-628C-8F04B8788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65050-507D-4BC4-B602-C2E8BACF865E}" type="datetime1">
              <a:rPr lang="en-GB" smtClean="0"/>
              <a:t>01/02/2026</a:t>
            </a:fld>
            <a:endParaRPr lang="en-GB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A8A5F67-025E-69F2-B530-21429411E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28232"/>
            <a:ext cx="10515600" cy="76741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Segoe UI Black"/>
                <a:ea typeface="Segoe UI Black"/>
                <a:cs typeface="Times New Roman"/>
              </a:rPr>
              <a:t>2. </a:t>
            </a:r>
            <a:r>
              <a:rPr lang="en-US" sz="4000" dirty="0" err="1">
                <a:latin typeface="Segoe UI Black"/>
                <a:ea typeface="Segoe UI Black"/>
                <a:cs typeface="Times New Roman"/>
              </a:rPr>
              <a:t>Hạ</a:t>
            </a:r>
            <a:r>
              <a:rPr lang="en-US" sz="4000" dirty="0">
                <a:latin typeface="Segoe UI Black"/>
                <a:ea typeface="Segoe UI Black"/>
                <a:cs typeface="Times New Roman"/>
              </a:rPr>
              <a:t> </a:t>
            </a:r>
            <a:r>
              <a:rPr lang="en-US" sz="4000" dirty="0" err="1">
                <a:latin typeface="Segoe UI Black"/>
                <a:ea typeface="Segoe UI Black"/>
                <a:cs typeface="Times New Roman"/>
              </a:rPr>
              <a:t>tầng</a:t>
            </a:r>
            <a:r>
              <a:rPr lang="en-US" sz="4000" dirty="0">
                <a:latin typeface="Segoe UI Black"/>
                <a:ea typeface="Segoe UI Black"/>
                <a:cs typeface="Times New Roman"/>
              </a:rPr>
              <a:t> Cloud &amp; Docker</a:t>
            </a:r>
            <a:endParaRPr lang="en-US" sz="4000" dirty="0">
              <a:solidFill>
                <a:srgbClr val="000000"/>
              </a:solidFill>
              <a:latin typeface="Segoe UI Black"/>
              <a:ea typeface="Segoe UI Black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5147F67-997A-B396-A424-2F23A1D1DD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987140"/>
            <a:ext cx="10869707" cy="66166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28600" indent="-228600">
              <a:buNone/>
            </a:pPr>
            <a:r>
              <a:rPr lang="en-US" b="1" dirty="0">
                <a:latin typeface="Tahoma"/>
                <a:ea typeface="Tahoma"/>
                <a:cs typeface="Tahoma"/>
              </a:rPr>
              <a:t>2.2. Docker &amp; Docker Compose</a:t>
            </a:r>
            <a:endParaRPr lang="en-US" dirty="0">
              <a:latin typeface="Tahoma"/>
              <a:ea typeface="Tahoma"/>
              <a:cs typeface="Tahoma"/>
            </a:endParaRPr>
          </a:p>
          <a:p>
            <a:pPr marL="0" indent="0">
              <a:buNone/>
            </a:pPr>
            <a:endParaRPr lang="en-US" b="1" dirty="0">
              <a:latin typeface="Tahoma"/>
              <a:ea typeface="Tahoma"/>
              <a:cs typeface="Tahoma"/>
            </a:endParaRP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13A339B2-0534-A2EB-B821-752D0CFBA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</p:spPr>
        <p:txBody>
          <a:bodyPr/>
          <a:lstStyle/>
          <a:p>
            <a:r>
              <a:rPr lang="en-GB"/>
              <a:t>KIẾN THỨC - KỸ NĂNG - SÁNG TẠO - HỘI NHẬP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05549E6E-1D10-BABD-DFD9-D61F2CC23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4"/>
            <a:ext cx="2743200" cy="365125"/>
          </a:xfrm>
        </p:spPr>
        <p:txBody>
          <a:bodyPr/>
          <a:lstStyle/>
          <a:p>
            <a:fld id="{AA3D6EC1-CEF0-44B9-AC69-1554EEB371D5}" type="slidenum">
              <a:rPr lang="en-GB" smtClean="0"/>
              <a:pPr/>
              <a:t>12</a:t>
            </a:fld>
            <a:endParaRPr lang="en-GB"/>
          </a:p>
        </p:txBody>
      </p:sp>
      <p:pic>
        <p:nvPicPr>
          <p:cNvPr id="54" name="Hình ảnh 53" descr="Ảnh có chứa văn bản, ảnh chụp màn hình, biểu tượng&#10;&#10;Nội dung do AI tạo ra có thể không chính xác.">
            <a:extLst>
              <a:ext uri="{FF2B5EF4-FFF2-40B4-BE49-F238E27FC236}">
                <a16:creationId xmlns:a16="http://schemas.microsoft.com/office/drawing/2014/main" id="{9428B01A-7921-DCE0-F843-16735FFF3C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437" y="2518172"/>
            <a:ext cx="4825125" cy="3838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0757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08DCB-AFF4-328D-6183-583C03BC5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4">
            <a:extLst>
              <a:ext uri="{FF2B5EF4-FFF2-40B4-BE49-F238E27FC236}">
                <a16:creationId xmlns:a16="http://schemas.microsoft.com/office/drawing/2014/main" id="{406A45BC-4B3B-66C7-2CEB-7E1BD789A47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47450" h="10287000">
                <a:moveTo>
                  <a:pt x="0" y="0"/>
                </a:moveTo>
                <a:lnTo>
                  <a:pt x="18247450" y="0"/>
                </a:lnTo>
                <a:lnTo>
                  <a:pt x="182474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FB19BBC6-45F8-CCA0-9547-0CAF9464A1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41400"/>
            <a:ext cx="9144000" cy="2387600"/>
          </a:xfrm>
        </p:spPr>
        <p:txBody>
          <a:bodyPr/>
          <a:lstStyle/>
          <a:p>
            <a:r>
              <a:rPr lang="en-US" dirty="0">
                <a:latin typeface="Segoe UI Black"/>
                <a:ea typeface="Segoe UI Black"/>
                <a:cs typeface="Times New Roman"/>
              </a:rPr>
              <a:t>03. TRIỂN KHAI FONTEND – BACKEND – DATABASE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4432386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F6367-CE58-0D44-61CA-328D2D1F7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D7FD5-11C5-FFC4-09E8-5E9223DB5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228232"/>
            <a:ext cx="10773229" cy="76741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Segoe UI Black"/>
                <a:ea typeface="Segoe UI Black"/>
                <a:cs typeface="Times New Roman"/>
              </a:rPr>
              <a:t>3. </a:t>
            </a:r>
            <a:r>
              <a:rPr lang="en-US" dirty="0" err="1">
                <a:latin typeface="Segoe UI Black"/>
                <a:ea typeface="Segoe UI Black"/>
                <a:cs typeface="Times New Roman"/>
              </a:rPr>
              <a:t>Triển</a:t>
            </a:r>
            <a:r>
              <a:rPr lang="en-US" dirty="0">
                <a:latin typeface="Segoe UI Black"/>
                <a:ea typeface="Segoe UI Black"/>
                <a:cs typeface="Times New Roman"/>
              </a:rPr>
              <a:t> </a:t>
            </a:r>
            <a:r>
              <a:rPr lang="en-US" dirty="0" err="1">
                <a:latin typeface="Segoe UI Black"/>
                <a:ea typeface="Segoe UI Black"/>
                <a:cs typeface="Times New Roman"/>
              </a:rPr>
              <a:t>khai</a:t>
            </a:r>
            <a:r>
              <a:rPr lang="en-US" dirty="0">
                <a:latin typeface="Segoe UI Black"/>
                <a:ea typeface="Segoe UI Black"/>
                <a:cs typeface="Times New Roman"/>
              </a:rPr>
              <a:t> Backend, Frontend, Database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F83386B-2BDB-637E-ECF8-8FE056AD09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873828"/>
            <a:ext cx="5181600" cy="3303133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b="1" dirty="0">
                <a:latin typeface="Tahoma"/>
                <a:ea typeface="+mn-lt"/>
                <a:cs typeface="+mn-lt"/>
              </a:rPr>
              <a:t>Frontend:</a:t>
            </a:r>
            <a:endParaRPr lang="vi-VN" b="1" dirty="0">
              <a:latin typeface="Tahoma"/>
              <a:ea typeface="Tahoma"/>
              <a:cs typeface="Tahoma"/>
            </a:endParaRPr>
          </a:p>
          <a:p>
            <a:pPr algn="just">
              <a:lnSpc>
                <a:spcPct val="100000"/>
              </a:lnSpc>
            </a:pPr>
            <a:r>
              <a:rPr lang="en-US" dirty="0">
                <a:latin typeface="Tahoma"/>
                <a:ea typeface="+mn-lt"/>
                <a:cs typeface="+mn-lt"/>
              </a:rPr>
              <a:t>React + Vite.</a:t>
            </a:r>
            <a:endParaRPr lang="vi-VN" dirty="0">
              <a:latin typeface="Tahoma"/>
              <a:ea typeface="Tahoma"/>
              <a:cs typeface="Arial" panose="020B0604020202020204" pitchFamily="34" charset="0"/>
            </a:endParaRPr>
          </a:p>
          <a:p>
            <a:pPr algn="just">
              <a:lnSpc>
                <a:spcPct val="100000"/>
              </a:lnSpc>
            </a:pPr>
            <a:r>
              <a:rPr lang="en-US" dirty="0">
                <a:latin typeface="Tahoma"/>
                <a:ea typeface="+mn-lt"/>
                <a:cs typeface="+mn-lt"/>
              </a:rPr>
              <a:t>Build </a:t>
            </a:r>
            <a:r>
              <a:rPr lang="en-US" dirty="0" err="1">
                <a:latin typeface="Tahoma"/>
                <a:ea typeface="+mn-lt"/>
                <a:cs typeface="+mn-lt"/>
              </a:rPr>
              <a:t>thành</a:t>
            </a:r>
            <a:r>
              <a:rPr lang="en-US" dirty="0">
                <a:latin typeface="Tahoma"/>
                <a:ea typeface="+mn-lt"/>
                <a:cs typeface="+mn-lt"/>
              </a:rPr>
              <a:t> static files.</a:t>
            </a:r>
            <a:endParaRPr lang="en-US" dirty="0">
              <a:latin typeface="Tahoma"/>
              <a:ea typeface="Calibri"/>
              <a:cs typeface="Calibri"/>
            </a:endParaRPr>
          </a:p>
          <a:p>
            <a:pPr algn="just">
              <a:lnSpc>
                <a:spcPct val="100000"/>
              </a:lnSpc>
            </a:pPr>
            <a:r>
              <a:rPr lang="en-US" dirty="0">
                <a:latin typeface="Tahoma"/>
                <a:ea typeface="+mn-lt"/>
                <a:cs typeface="+mn-lt"/>
              </a:rPr>
              <a:t>Serve </a:t>
            </a:r>
            <a:r>
              <a:rPr lang="en-US" dirty="0" err="1">
                <a:latin typeface="Tahoma"/>
                <a:ea typeface="+mn-lt"/>
                <a:cs typeface="+mn-lt"/>
              </a:rPr>
              <a:t>bằng</a:t>
            </a:r>
            <a:r>
              <a:rPr lang="en-US" dirty="0">
                <a:latin typeface="Tahoma"/>
                <a:ea typeface="+mn-lt"/>
                <a:cs typeface="+mn-lt"/>
              </a:rPr>
              <a:t> Nginx (port 80).</a:t>
            </a:r>
            <a:endParaRPr lang="vi-VN" dirty="0">
              <a:latin typeface="Tahoma"/>
              <a:ea typeface="Tahoma"/>
              <a:cs typeface="Arial" panose="020B0604020202020204" pitchFamily="34" charset="0"/>
            </a:endParaRP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0C37AA4-BBAB-E513-AC53-1DB3F9B7BB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873828"/>
            <a:ext cx="5181600" cy="3303134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10000"/>
              </a:lnSpc>
              <a:buNone/>
            </a:pPr>
            <a:r>
              <a:rPr lang="en-US" b="1" dirty="0">
                <a:latin typeface="Tahoma"/>
                <a:ea typeface="Tahoma"/>
                <a:cs typeface="Tahoma"/>
              </a:rPr>
              <a:t>Backend: </a:t>
            </a:r>
            <a:endParaRPr lang="vi-VN" b="1" dirty="0">
              <a:latin typeface="Tahoma"/>
              <a:ea typeface="Tahoma"/>
              <a:cs typeface="Tahoma"/>
            </a:endParaRPr>
          </a:p>
          <a:p>
            <a:pPr algn="just">
              <a:lnSpc>
                <a:spcPct val="110000"/>
              </a:lnSpc>
            </a:pPr>
            <a:r>
              <a:rPr lang="en-US" dirty="0">
                <a:latin typeface="Tahoma"/>
                <a:ea typeface="Tahoma"/>
                <a:cs typeface="Tahoma"/>
              </a:rPr>
              <a:t>Node.js + Express.</a:t>
            </a:r>
          </a:p>
          <a:p>
            <a:pPr algn="just">
              <a:lnSpc>
                <a:spcPct val="110000"/>
              </a:lnSpc>
            </a:pPr>
            <a:r>
              <a:rPr lang="en-US" dirty="0">
                <a:latin typeface="Tahoma"/>
                <a:ea typeface="Tahoma"/>
                <a:cs typeface="Tahoma"/>
              </a:rPr>
              <a:t>REST API.</a:t>
            </a:r>
          </a:p>
          <a:p>
            <a:pPr algn="just">
              <a:lnSpc>
                <a:spcPct val="110000"/>
              </a:lnSpc>
            </a:pPr>
            <a:r>
              <a:rPr lang="en-US" dirty="0" err="1">
                <a:latin typeface="Tahoma"/>
                <a:ea typeface="Tahoma"/>
                <a:cs typeface="Tahoma"/>
              </a:rPr>
              <a:t>Chạy</a:t>
            </a:r>
            <a:r>
              <a:rPr lang="en-US" dirty="0">
                <a:latin typeface="Tahoma"/>
                <a:ea typeface="Tahoma"/>
                <a:cs typeface="Tahoma"/>
              </a:rPr>
              <a:t> </a:t>
            </a:r>
            <a:r>
              <a:rPr lang="en-US" dirty="0" err="1">
                <a:latin typeface="Tahoma"/>
                <a:ea typeface="Tahoma"/>
                <a:cs typeface="Tahoma"/>
              </a:rPr>
              <a:t>trong</a:t>
            </a:r>
            <a:r>
              <a:rPr lang="en-US" dirty="0">
                <a:latin typeface="Tahoma"/>
                <a:ea typeface="Tahoma"/>
                <a:cs typeface="Tahoma"/>
              </a:rPr>
              <a:t> container (port 5000).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502F82-325A-4A08-AFF8-5FF2B3087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26707-F0D2-4074-BF98-1861C55D90C6}" type="datetime1">
              <a:rPr lang="en-GB" smtClean="0"/>
              <a:t>01/02/2026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99871-D7F9-4036-9666-364710708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FEEB36-147A-0C71-C4CC-48D9A7AAF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pPr/>
              <a:t>14</a:t>
            </a:fld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2A241F0-2C93-5DF9-DA6A-0CE4CBD8C05B}"/>
              </a:ext>
            </a:extLst>
          </p:cNvPr>
          <p:cNvSpPr txBox="1"/>
          <p:nvPr/>
        </p:nvSpPr>
        <p:spPr>
          <a:xfrm>
            <a:off x="838200" y="2199356"/>
            <a:ext cx="75075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200" b="1" dirty="0">
                <a:latin typeface="Tahoma"/>
                <a:ea typeface="Tahoma"/>
                <a:cs typeface="Tahoma"/>
              </a:rPr>
              <a:t>3.1. </a:t>
            </a:r>
            <a:r>
              <a:rPr lang="en-US" sz="3200" b="1" dirty="0" err="1">
                <a:latin typeface="Tahoma"/>
                <a:ea typeface="Tahoma"/>
                <a:cs typeface="Tahoma"/>
              </a:rPr>
              <a:t>Triển</a:t>
            </a:r>
            <a:r>
              <a:rPr lang="en-US" sz="3200" b="1" dirty="0">
                <a:latin typeface="Tahoma"/>
                <a:ea typeface="Tahoma"/>
                <a:cs typeface="Tahoma"/>
              </a:rPr>
              <a:t> </a:t>
            </a:r>
            <a:r>
              <a:rPr lang="en-US" sz="3200" b="1" dirty="0" err="1">
                <a:latin typeface="Tahoma"/>
                <a:ea typeface="Tahoma"/>
                <a:cs typeface="Tahoma"/>
              </a:rPr>
              <a:t>khai</a:t>
            </a:r>
            <a:r>
              <a:rPr lang="en-US" sz="3200" b="1" dirty="0">
                <a:latin typeface="Tahoma"/>
                <a:ea typeface="Tahoma"/>
                <a:cs typeface="Tahoma"/>
              </a:rPr>
              <a:t> Frontend &amp; Backend </a:t>
            </a:r>
          </a:p>
        </p:txBody>
      </p:sp>
    </p:spTree>
    <p:extLst>
      <p:ext uri="{BB962C8B-B14F-4D97-AF65-F5344CB8AC3E}">
        <p14:creationId xmlns:p14="http://schemas.microsoft.com/office/powerpoint/2010/main" val="31589756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72F57E1C-6F90-3B2F-5D68-610873F9F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9C33B-F38E-4006-AC3A-3CA3D54F5F28}" type="datetime1">
              <a:rPr lang="en-GB" smtClean="0"/>
              <a:t>01/02/2026</a:t>
            </a:fld>
            <a:endParaRPr lang="en-GB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2332C06-23D6-6B55-40EC-A4E1A08E8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</p:spPr>
        <p:txBody>
          <a:bodyPr/>
          <a:lstStyle/>
          <a:p>
            <a:r>
              <a:rPr lang="en-GB"/>
              <a:t>KIẾN THỨC - KỸ NĂNG - SÁNG TẠO - HỘI NHẬP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582ADCF-69B2-E8B3-20A1-4E902DBA3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4"/>
            <a:ext cx="2743200" cy="365125"/>
          </a:xfrm>
        </p:spPr>
        <p:txBody>
          <a:bodyPr/>
          <a:lstStyle/>
          <a:p>
            <a:fld id="{AA3D6EC1-CEF0-44B9-AC69-1554EEB371D5}" type="slidenum">
              <a:rPr lang="en-GB" smtClean="0"/>
              <a:pPr/>
              <a:t>15</a:t>
            </a:fld>
            <a:endParaRPr lang="en-GB"/>
          </a:p>
        </p:txBody>
      </p:sp>
      <p:pic>
        <p:nvPicPr>
          <p:cNvPr id="19" name="Hình ảnh 18" descr="Ảnh có chứa văn bản, ảnh chụp màn hình, Phông chữ&#10;&#10;Nội dung do AI tạo ra có thể không chính xác.">
            <a:extLst>
              <a:ext uri="{FF2B5EF4-FFF2-40B4-BE49-F238E27FC236}">
                <a16:creationId xmlns:a16="http://schemas.microsoft.com/office/drawing/2014/main" id="{FC16AAF7-0D97-F288-4E91-6C9971568A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07929"/>
            <a:ext cx="4114800" cy="4911192"/>
          </a:xfrm>
          <a:prstGeom prst="rect">
            <a:avLst/>
          </a:prstGeom>
        </p:spPr>
      </p:pic>
      <p:sp>
        <p:nvSpPr>
          <p:cNvPr id="25" name="Hộp Văn bản 24">
            <a:extLst>
              <a:ext uri="{FF2B5EF4-FFF2-40B4-BE49-F238E27FC236}">
                <a16:creationId xmlns:a16="http://schemas.microsoft.com/office/drawing/2014/main" id="{7EF61395-6022-DC8C-2770-819E8962C016}"/>
              </a:ext>
            </a:extLst>
          </p:cNvPr>
          <p:cNvSpPr txBox="1"/>
          <p:nvPr/>
        </p:nvSpPr>
        <p:spPr>
          <a:xfrm>
            <a:off x="719727" y="807968"/>
            <a:ext cx="484769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vi-VN" sz="2800" b="1" dirty="0" err="1">
                <a:latin typeface="Tahoma"/>
                <a:ea typeface="+mn-lt"/>
                <a:cs typeface="Arial"/>
              </a:rPr>
              <a:t>docker-compose.yml</a:t>
            </a:r>
            <a:endParaRPr lang="vi-VN" sz="2800" b="1" dirty="0" err="1">
              <a:latin typeface="Arial"/>
              <a:ea typeface="Tahoma"/>
              <a:cs typeface="Arial"/>
            </a:endParaRPr>
          </a:p>
        </p:txBody>
      </p:sp>
      <p:pic>
        <p:nvPicPr>
          <p:cNvPr id="26" name="Hình ảnh 25" descr="Ảnh có chứa văn bản, ảnh chụp màn hình, Phông chữ, hàng&#10;&#10;Nội dung do AI tạo ra có thể không chính xác.">
            <a:extLst>
              <a:ext uri="{FF2B5EF4-FFF2-40B4-BE49-F238E27FC236}">
                <a16:creationId xmlns:a16="http://schemas.microsoft.com/office/drawing/2014/main" id="{D9B387A0-A3AE-818D-1BBB-94A48F3A6D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0" y="3088617"/>
            <a:ext cx="6778882" cy="641424"/>
          </a:xfrm>
          <a:prstGeom prst="rect">
            <a:avLst/>
          </a:prstGeom>
        </p:spPr>
      </p:pic>
      <p:sp>
        <p:nvSpPr>
          <p:cNvPr id="27" name="Hộp Văn bản 26">
            <a:extLst>
              <a:ext uri="{FF2B5EF4-FFF2-40B4-BE49-F238E27FC236}">
                <a16:creationId xmlns:a16="http://schemas.microsoft.com/office/drawing/2014/main" id="{DF965A44-7634-419D-BC89-E7101695F4F1}"/>
              </a:ext>
            </a:extLst>
          </p:cNvPr>
          <p:cNvSpPr txBox="1"/>
          <p:nvPr/>
        </p:nvSpPr>
        <p:spPr>
          <a:xfrm>
            <a:off x="6419324" y="2473469"/>
            <a:ext cx="388764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vi-VN" sz="2800" b="1" dirty="0">
                <a:latin typeface="Tahoma"/>
                <a:ea typeface="Tahoma"/>
                <a:cs typeface="Arial"/>
              </a:rPr>
              <a:t>docker-compose ps</a:t>
            </a:r>
            <a:endParaRPr lang="vi-VN" sz="2800" b="1" dirty="0">
              <a:latin typeface="Tahoma"/>
              <a:ea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7457504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532FD-D273-648C-0435-E711D022C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FC5B8A3D-534A-8010-959A-37251238C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28232"/>
            <a:ext cx="10869706" cy="76741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Segoe UI Black"/>
                <a:ea typeface="Segoe UI Black"/>
                <a:cs typeface="Times New Roman"/>
              </a:rPr>
              <a:t>3. </a:t>
            </a:r>
            <a:r>
              <a:rPr lang="en-US" dirty="0" err="1">
                <a:latin typeface="Segoe UI Black"/>
                <a:ea typeface="Segoe UI Black"/>
                <a:cs typeface="Times New Roman"/>
              </a:rPr>
              <a:t>Triển</a:t>
            </a:r>
            <a:r>
              <a:rPr lang="en-US" dirty="0">
                <a:latin typeface="Segoe UI Black"/>
                <a:ea typeface="Segoe UI Black"/>
                <a:cs typeface="Times New Roman"/>
              </a:rPr>
              <a:t> </a:t>
            </a:r>
            <a:r>
              <a:rPr lang="en-US" dirty="0" err="1">
                <a:latin typeface="Segoe UI Black"/>
                <a:ea typeface="Segoe UI Black"/>
                <a:cs typeface="Times New Roman"/>
              </a:rPr>
              <a:t>khai</a:t>
            </a:r>
            <a:r>
              <a:rPr lang="en-US" dirty="0">
                <a:latin typeface="Segoe UI Black"/>
                <a:ea typeface="Segoe UI Black"/>
                <a:cs typeface="Times New Roman"/>
              </a:rPr>
              <a:t> Backend, Frontend, Database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D6DDD7D-6E7B-0B2A-E329-47EA627741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892292"/>
            <a:ext cx="5181600" cy="328467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b="1" dirty="0">
                <a:latin typeface="Tahoma"/>
                <a:ea typeface="+mn-lt"/>
                <a:cs typeface="+mn-lt"/>
              </a:rPr>
              <a:t>MongoDB Atlas:</a:t>
            </a:r>
            <a:endParaRPr lang="vi-VN" b="1" dirty="0">
              <a:latin typeface="Tahoma"/>
              <a:ea typeface="+mn-lt"/>
              <a:cs typeface="Arial"/>
            </a:endParaRPr>
          </a:p>
          <a:p>
            <a:pPr>
              <a:lnSpc>
                <a:spcPct val="100000"/>
              </a:lnSpc>
            </a:pPr>
            <a:r>
              <a:rPr lang="en-US" dirty="0">
                <a:latin typeface="Tahoma"/>
                <a:ea typeface="+mn-lt"/>
                <a:cs typeface="+mn-lt"/>
              </a:rPr>
              <a:t>Database-as-a-Service.</a:t>
            </a:r>
            <a:endParaRPr lang="vi-VN" dirty="0">
              <a:latin typeface="Tahoma"/>
              <a:ea typeface="Tahoma"/>
              <a:cs typeface="Tahoma"/>
            </a:endParaRPr>
          </a:p>
          <a:p>
            <a:pPr>
              <a:lnSpc>
                <a:spcPct val="100000"/>
              </a:lnSpc>
            </a:pPr>
            <a:r>
              <a:rPr lang="en-US" dirty="0" err="1">
                <a:latin typeface="Tahoma"/>
                <a:ea typeface="+mn-lt"/>
                <a:cs typeface="+mn-lt"/>
              </a:rPr>
              <a:t>Không</a:t>
            </a:r>
            <a:r>
              <a:rPr lang="en-US" dirty="0">
                <a:latin typeface="Tahoma"/>
                <a:ea typeface="+mn-lt"/>
                <a:cs typeface="+mn-lt"/>
              </a:rPr>
              <a:t> </a:t>
            </a:r>
            <a:r>
              <a:rPr lang="en-US" dirty="0" err="1">
                <a:latin typeface="Tahoma"/>
                <a:ea typeface="+mn-lt"/>
                <a:cs typeface="+mn-lt"/>
              </a:rPr>
              <a:t>cài</a:t>
            </a:r>
            <a:r>
              <a:rPr lang="en-US" dirty="0">
                <a:latin typeface="Tahoma"/>
                <a:ea typeface="+mn-lt"/>
                <a:cs typeface="+mn-lt"/>
              </a:rPr>
              <a:t> DB </a:t>
            </a:r>
            <a:r>
              <a:rPr lang="en-US" dirty="0" err="1">
                <a:latin typeface="Tahoma"/>
                <a:ea typeface="+mn-lt"/>
                <a:cs typeface="+mn-lt"/>
              </a:rPr>
              <a:t>trên</a:t>
            </a:r>
            <a:r>
              <a:rPr lang="en-US" dirty="0">
                <a:latin typeface="Tahoma"/>
                <a:ea typeface="+mn-lt"/>
                <a:cs typeface="+mn-lt"/>
              </a:rPr>
              <a:t> EC2.</a:t>
            </a:r>
            <a:endParaRPr lang="en-US" dirty="0">
              <a:latin typeface="Tahoma"/>
              <a:ea typeface="Tahoma"/>
              <a:cs typeface="Tahoma"/>
            </a:endParaRPr>
          </a:p>
          <a:p>
            <a:pPr>
              <a:lnSpc>
                <a:spcPct val="100000"/>
              </a:lnSpc>
            </a:pPr>
            <a:r>
              <a:rPr lang="en-US" dirty="0" err="1">
                <a:latin typeface="Tahoma"/>
                <a:ea typeface="+mn-lt"/>
                <a:cs typeface="+mn-lt"/>
              </a:rPr>
              <a:t>Dữ</a:t>
            </a:r>
            <a:r>
              <a:rPr lang="en-US" dirty="0">
                <a:latin typeface="Tahoma"/>
                <a:ea typeface="+mn-lt"/>
                <a:cs typeface="+mn-lt"/>
              </a:rPr>
              <a:t> </a:t>
            </a:r>
            <a:r>
              <a:rPr lang="en-US" dirty="0" err="1">
                <a:latin typeface="Tahoma"/>
                <a:ea typeface="+mn-lt"/>
                <a:cs typeface="+mn-lt"/>
              </a:rPr>
              <a:t>liệu</a:t>
            </a:r>
            <a:r>
              <a:rPr lang="en-US" dirty="0">
                <a:latin typeface="Tahoma"/>
                <a:ea typeface="+mn-lt"/>
                <a:cs typeface="+mn-lt"/>
              </a:rPr>
              <a:t> an </a:t>
            </a:r>
            <a:r>
              <a:rPr lang="en-US" dirty="0" err="1">
                <a:latin typeface="Tahoma"/>
                <a:ea typeface="+mn-lt"/>
                <a:cs typeface="+mn-lt"/>
              </a:rPr>
              <a:t>toàn</a:t>
            </a:r>
            <a:r>
              <a:rPr lang="en-US" dirty="0">
                <a:latin typeface="Tahoma"/>
                <a:ea typeface="+mn-lt"/>
                <a:cs typeface="+mn-lt"/>
              </a:rPr>
              <a:t>, </a:t>
            </a:r>
            <a:r>
              <a:rPr lang="en-US" dirty="0" err="1">
                <a:latin typeface="Tahoma"/>
                <a:ea typeface="+mn-lt"/>
                <a:cs typeface="+mn-lt"/>
              </a:rPr>
              <a:t>dễ</a:t>
            </a:r>
            <a:r>
              <a:rPr lang="en-US" dirty="0">
                <a:latin typeface="Tahoma"/>
                <a:ea typeface="+mn-lt"/>
                <a:cs typeface="+mn-lt"/>
              </a:rPr>
              <a:t> scale.</a:t>
            </a:r>
            <a:endParaRPr lang="vi-VN" dirty="0">
              <a:latin typeface="Arial"/>
              <a:ea typeface="Tahoma"/>
              <a:cs typeface="Tahoma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157A5C3-3907-7D38-B10C-09C4A85054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942734"/>
            <a:ext cx="5181600" cy="318938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28600" indent="-228600" algn="just">
              <a:buNone/>
            </a:pPr>
            <a:r>
              <a:rPr lang="en-US" b="1" dirty="0">
                <a:latin typeface="Tahoma"/>
                <a:ea typeface="Tahoma"/>
                <a:cs typeface="Tahoma"/>
              </a:rPr>
              <a:t>Amazon S3:</a:t>
            </a:r>
            <a:endParaRPr lang="en-US" dirty="0">
              <a:ea typeface="Tahoma"/>
              <a:cs typeface="Tahoma"/>
            </a:endParaRPr>
          </a:p>
          <a:p>
            <a:pPr algn="just"/>
            <a:r>
              <a:rPr lang="en-US" dirty="0">
                <a:latin typeface="Tahoma"/>
                <a:ea typeface="Tahoma"/>
                <a:cs typeface="Tahoma"/>
              </a:rPr>
              <a:t>Lưu </a:t>
            </a:r>
            <a:r>
              <a:rPr lang="en-US" dirty="0" err="1">
                <a:latin typeface="Tahoma"/>
                <a:ea typeface="Tahoma"/>
                <a:cs typeface="Tahoma"/>
              </a:rPr>
              <a:t>trữ</a:t>
            </a:r>
            <a:r>
              <a:rPr lang="en-US" dirty="0">
                <a:latin typeface="Tahoma"/>
                <a:ea typeface="Tahoma"/>
                <a:cs typeface="Tahoma"/>
              </a:rPr>
              <a:t> </a:t>
            </a:r>
            <a:r>
              <a:rPr lang="en-US" dirty="0" err="1">
                <a:latin typeface="Tahoma"/>
                <a:ea typeface="Tahoma"/>
                <a:cs typeface="Tahoma"/>
              </a:rPr>
              <a:t>ảnh</a:t>
            </a:r>
            <a:r>
              <a:rPr lang="en-US" dirty="0">
                <a:latin typeface="Tahoma"/>
                <a:ea typeface="Tahoma"/>
                <a:cs typeface="Tahoma"/>
              </a:rPr>
              <a:t> (Object Storage).</a:t>
            </a:r>
            <a:endParaRPr lang="en-US" dirty="0"/>
          </a:p>
          <a:p>
            <a:pPr algn="just"/>
            <a:r>
              <a:rPr lang="en-US" dirty="0">
                <a:latin typeface="Tahoma"/>
                <a:ea typeface="Tahoma"/>
                <a:cs typeface="Tahoma"/>
              </a:rPr>
              <a:t>DB </a:t>
            </a:r>
            <a:r>
              <a:rPr lang="en-US" dirty="0" err="1">
                <a:latin typeface="Tahoma"/>
                <a:ea typeface="Tahoma"/>
                <a:cs typeface="Tahoma"/>
              </a:rPr>
              <a:t>chỉ</a:t>
            </a:r>
            <a:r>
              <a:rPr lang="en-US" dirty="0">
                <a:latin typeface="Tahoma"/>
                <a:ea typeface="Tahoma"/>
                <a:cs typeface="Tahoma"/>
              </a:rPr>
              <a:t> </a:t>
            </a:r>
            <a:r>
              <a:rPr lang="en-US" dirty="0" err="1">
                <a:latin typeface="Tahoma"/>
                <a:ea typeface="Tahoma"/>
                <a:cs typeface="Tahoma"/>
              </a:rPr>
              <a:t>lưu</a:t>
            </a:r>
            <a:r>
              <a:rPr lang="en-US" dirty="0">
                <a:latin typeface="Tahoma"/>
                <a:ea typeface="Tahoma"/>
                <a:cs typeface="Tahoma"/>
              </a:rPr>
              <a:t> URL </a:t>
            </a:r>
            <a:r>
              <a:rPr lang="en-US" dirty="0" err="1">
                <a:latin typeface="Tahoma"/>
                <a:ea typeface="Tahoma"/>
                <a:cs typeface="Tahoma"/>
              </a:rPr>
              <a:t>ảnh</a:t>
            </a:r>
            <a:r>
              <a:rPr lang="en-US" dirty="0">
                <a:latin typeface="Tahoma"/>
                <a:ea typeface="Tahoma"/>
                <a:cs typeface="Tahoma"/>
              </a:rPr>
              <a:t>.</a:t>
            </a:r>
            <a:endParaRPr lang="en-US" dirty="0">
              <a:ea typeface="Tahoma"/>
              <a:cs typeface="Tahoma"/>
            </a:endParaRPr>
          </a:p>
          <a:p>
            <a:pPr algn="just"/>
            <a:r>
              <a:rPr lang="en-US" dirty="0">
                <a:latin typeface="Tahoma"/>
                <a:ea typeface="Tahoma"/>
                <a:cs typeface="Tahoma"/>
              </a:rPr>
              <a:t>Bảo </a:t>
            </a:r>
            <a:r>
              <a:rPr lang="en-US" dirty="0" err="1">
                <a:latin typeface="Tahoma"/>
                <a:ea typeface="Tahoma"/>
                <a:cs typeface="Tahoma"/>
              </a:rPr>
              <a:t>mật</a:t>
            </a:r>
            <a:r>
              <a:rPr lang="en-US" dirty="0">
                <a:latin typeface="Tahoma"/>
                <a:ea typeface="Tahoma"/>
                <a:cs typeface="Tahoma"/>
              </a:rPr>
              <a:t>: </a:t>
            </a:r>
            <a:r>
              <a:rPr lang="en-US" dirty="0" err="1">
                <a:latin typeface="Tahoma"/>
                <a:ea typeface="Tahoma"/>
                <a:cs typeface="Tahoma"/>
              </a:rPr>
              <a:t>Dùng</a:t>
            </a:r>
            <a:r>
              <a:rPr lang="en-US" dirty="0">
                <a:latin typeface="Tahoma"/>
                <a:ea typeface="Tahoma"/>
                <a:cs typeface="Tahoma"/>
              </a:rPr>
              <a:t> IAM Role (</a:t>
            </a:r>
            <a:r>
              <a:rPr lang="en-US" dirty="0" err="1">
                <a:latin typeface="Tahoma"/>
                <a:ea typeface="Tahoma"/>
                <a:cs typeface="Tahoma"/>
              </a:rPr>
              <a:t>Không</a:t>
            </a:r>
            <a:r>
              <a:rPr lang="en-US" dirty="0">
                <a:latin typeface="Tahoma"/>
                <a:ea typeface="Tahoma"/>
                <a:cs typeface="Tahoma"/>
              </a:rPr>
              <a:t> Access Key).</a:t>
            </a:r>
            <a:endParaRPr lang="en-US" dirty="0"/>
          </a:p>
          <a:p>
            <a:pPr marL="0" indent="0" algn="just">
              <a:lnSpc>
                <a:spcPct val="100000"/>
              </a:lnSpc>
              <a:buNone/>
            </a:pPr>
            <a:endParaRPr lang="en-US" b="1" dirty="0">
              <a:latin typeface="Tahoma"/>
              <a:ea typeface="Calibri"/>
              <a:cs typeface="Calibri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573F78-FF55-65B9-C016-2F278D163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DFE13-1891-4D66-9686-36504FE0D0CA}" type="datetime1">
              <a:rPr lang="en-GB" smtClean="0"/>
              <a:t>01/02/2026</a:t>
            </a:fld>
            <a:endParaRPr lang="en-GB"/>
          </a:p>
        </p:txBody>
      </p:sp>
      <p:sp>
        <p:nvSpPr>
          <p:cNvPr id="28" name="Footer Placeholder 4">
            <a:extLst>
              <a:ext uri="{FF2B5EF4-FFF2-40B4-BE49-F238E27FC236}">
                <a16:creationId xmlns:a16="http://schemas.microsoft.com/office/drawing/2014/main" id="{9264B9AE-94F2-FF35-DAD8-A1B115459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BFF67EFF-12C7-D8DB-D072-78EEE5761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pPr/>
              <a:t>16</a:t>
            </a:fld>
            <a:endParaRPr lang="en-GB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3CAE918-FEB2-CF32-350C-A1C730B4F243}"/>
              </a:ext>
            </a:extLst>
          </p:cNvPr>
          <p:cNvSpPr txBox="1">
            <a:spLocks/>
          </p:cNvSpPr>
          <p:nvPr/>
        </p:nvSpPr>
        <p:spPr>
          <a:xfrm>
            <a:off x="838200" y="2246510"/>
            <a:ext cx="10869707" cy="65137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23" indent="-228623" algn="l" defTabSz="914492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68" indent="-228623" algn="l" defTabSz="91449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114" indent="-228623" algn="l" defTabSz="91449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360" indent="-228623" algn="l" defTabSz="91449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606" indent="-228623" algn="l" defTabSz="91449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852" indent="-228623" algn="l" defTabSz="91449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098" indent="-228623" algn="l" defTabSz="91449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343" indent="-228623" algn="l" defTabSz="91449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588" indent="-228623" algn="l" defTabSz="91449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latin typeface="Tahoma"/>
                <a:ea typeface="Tahoma"/>
                <a:cs typeface="Tahoma"/>
              </a:rPr>
              <a:t>3.2. Database &amp; Cloud Storage </a:t>
            </a:r>
          </a:p>
        </p:txBody>
      </p:sp>
    </p:spTree>
    <p:extLst>
      <p:ext uri="{BB962C8B-B14F-4D97-AF65-F5344CB8AC3E}">
        <p14:creationId xmlns:p14="http://schemas.microsoft.com/office/powerpoint/2010/main" val="34759748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EE082D55-3A86-DB10-DF3D-E60C8821A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9DEC-44D3-4DCC-8FBD-13D4EDF2E65B}" type="datetime1">
              <a:rPr lang="en-GB" smtClean="0"/>
              <a:t>01/02/2026</a:t>
            </a:fld>
            <a:endParaRPr lang="en-GB"/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CE0D8506-B3AA-55D2-AE55-51C2721F6D46}"/>
              </a:ext>
            </a:extLst>
          </p:cNvPr>
          <p:cNvSpPr txBox="1"/>
          <p:nvPr/>
        </p:nvSpPr>
        <p:spPr>
          <a:xfrm>
            <a:off x="4724399" y="5548318"/>
            <a:ext cx="274319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vi-VN" sz="2400" b="1" dirty="0">
                <a:latin typeface="Arial"/>
                <a:cs typeface="Arial"/>
              </a:rPr>
              <a:t>MongoDB Atlas</a:t>
            </a:r>
          </a:p>
        </p:txBody>
      </p:sp>
      <p:pic>
        <p:nvPicPr>
          <p:cNvPr id="9" name="Hình ảnh 8" descr="Ảnh có chứa văn bản, ảnh chụp màn hình, số, Phông chữ&#10;&#10;Nội dung do AI tạo ra có thể không chính xác.">
            <a:extLst>
              <a:ext uri="{FF2B5EF4-FFF2-40B4-BE49-F238E27FC236}">
                <a16:creationId xmlns:a16="http://schemas.microsoft.com/office/drawing/2014/main" id="{E0E82C0F-227F-4F7F-019B-6B5C9BAAFB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934" y="1656052"/>
            <a:ext cx="11540130" cy="3545895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84BF10-063C-CB4F-BA8C-B7729D370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B08097-19C8-3B47-E4E5-76AEA9999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pPr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46116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F5007-94DE-D9D9-F1BD-5BD6757B4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4">
            <a:extLst>
              <a:ext uri="{FF2B5EF4-FFF2-40B4-BE49-F238E27FC236}">
                <a16:creationId xmlns:a16="http://schemas.microsoft.com/office/drawing/2014/main" id="{0A50F6CE-AA89-23E5-6A62-40C378A79BC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47450" h="10287000">
                <a:moveTo>
                  <a:pt x="0" y="0"/>
                </a:moveTo>
                <a:lnTo>
                  <a:pt x="18247450" y="0"/>
                </a:lnTo>
                <a:lnTo>
                  <a:pt x="182474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AB2CA054-0AD5-0143-B593-3494FA4D50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22190"/>
            <a:ext cx="9144000" cy="2387600"/>
          </a:xfrm>
        </p:spPr>
        <p:txBody>
          <a:bodyPr/>
          <a:lstStyle/>
          <a:p>
            <a:r>
              <a:rPr lang="en-US" dirty="0">
                <a:latin typeface="Segoe UI Black"/>
                <a:ea typeface="Segoe UI Black"/>
                <a:cs typeface="Times New Roman"/>
              </a:rPr>
              <a:t>04. KIỂM THỬ &amp; </a:t>
            </a:r>
            <a:br>
              <a:rPr lang="en-US" dirty="0">
                <a:latin typeface="Segoe UI Black"/>
                <a:ea typeface="Segoe UI Black"/>
                <a:cs typeface="Times New Roman"/>
              </a:rPr>
            </a:br>
            <a:r>
              <a:rPr lang="en-US" dirty="0">
                <a:latin typeface="Segoe UI Black"/>
                <a:ea typeface="Segoe UI Black"/>
                <a:cs typeface="Times New Roman"/>
              </a:rPr>
              <a:t>VẬN HÀNH HỆ THỐNG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12721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47711-07BD-5457-2A2F-FE1483751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C6683-18D2-3819-613A-E88ECFB28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Segoe UI Black"/>
                <a:ea typeface="Segoe UI Black"/>
                <a:cs typeface="Times New Roman"/>
              </a:rPr>
              <a:t>4. </a:t>
            </a:r>
            <a:r>
              <a:rPr lang="en-US" sz="4000" dirty="0" err="1">
                <a:latin typeface="Segoe UI Black"/>
                <a:ea typeface="Segoe UI Black"/>
                <a:cs typeface="Times New Roman"/>
              </a:rPr>
              <a:t>Kiểm</a:t>
            </a:r>
            <a:r>
              <a:rPr lang="en-US" sz="4000" dirty="0">
                <a:latin typeface="Segoe UI Black"/>
                <a:ea typeface="Segoe UI Black"/>
                <a:cs typeface="Times New Roman"/>
              </a:rPr>
              <a:t> </a:t>
            </a:r>
            <a:r>
              <a:rPr lang="en-US" sz="4000" dirty="0" err="1">
                <a:latin typeface="Segoe UI Black"/>
                <a:ea typeface="Segoe UI Black"/>
                <a:cs typeface="Times New Roman"/>
              </a:rPr>
              <a:t>thử</a:t>
            </a:r>
            <a:r>
              <a:rPr lang="en-US" sz="4000" dirty="0">
                <a:latin typeface="Segoe UI Black"/>
                <a:ea typeface="Segoe UI Black"/>
                <a:cs typeface="Times New Roman"/>
              </a:rPr>
              <a:t> &amp; </a:t>
            </a:r>
            <a:r>
              <a:rPr lang="en-US" sz="4000" dirty="0" err="1">
                <a:latin typeface="Segoe UI Black"/>
                <a:ea typeface="Segoe UI Black"/>
                <a:cs typeface="Times New Roman"/>
              </a:rPr>
              <a:t>vận</a:t>
            </a:r>
            <a:r>
              <a:rPr lang="en-US" sz="4000" dirty="0">
                <a:latin typeface="Segoe UI Black"/>
                <a:ea typeface="Segoe UI Black"/>
                <a:cs typeface="Times New Roman"/>
              </a:rPr>
              <a:t> </a:t>
            </a:r>
            <a:r>
              <a:rPr lang="en-US" sz="4000" dirty="0" err="1">
                <a:latin typeface="Segoe UI Black"/>
                <a:ea typeface="Segoe UI Black"/>
                <a:cs typeface="Times New Roman"/>
              </a:rPr>
              <a:t>hành</a:t>
            </a:r>
            <a:r>
              <a:rPr lang="en-US" sz="4000" dirty="0">
                <a:latin typeface="Segoe UI Black"/>
                <a:ea typeface="Segoe UI Black"/>
                <a:cs typeface="Times New Roman"/>
              </a:rPr>
              <a:t> </a:t>
            </a:r>
            <a:r>
              <a:rPr lang="en-US" sz="4000" dirty="0" err="1">
                <a:latin typeface="Segoe UI Black"/>
                <a:ea typeface="Segoe UI Black"/>
                <a:cs typeface="Times New Roman"/>
              </a:rPr>
              <a:t>hệ</a:t>
            </a:r>
            <a:r>
              <a:rPr lang="en-US" sz="4000" dirty="0">
                <a:latin typeface="Segoe UI Black"/>
                <a:ea typeface="Segoe UI Black"/>
                <a:cs typeface="Times New Roman"/>
              </a:rPr>
              <a:t> </a:t>
            </a:r>
            <a:r>
              <a:rPr lang="en-US" sz="4000" dirty="0" err="1">
                <a:latin typeface="Segoe UI Black"/>
                <a:ea typeface="Segoe UI Black"/>
                <a:cs typeface="Times New Roman"/>
              </a:rPr>
              <a:t>thống</a:t>
            </a:r>
            <a:endParaRPr lang="en-US" sz="4000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BEFF7-6AF6-FE25-5B84-903FFE4665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800" b="1" dirty="0" err="1">
                <a:latin typeface="Tahoma"/>
                <a:ea typeface="Tahoma"/>
                <a:cs typeface="Tahoma"/>
              </a:rPr>
              <a:t>Kiểm</a:t>
            </a:r>
            <a:r>
              <a:rPr lang="en-US" sz="2800" b="1" dirty="0">
                <a:latin typeface="Tahoma"/>
                <a:ea typeface="Tahoma"/>
                <a:cs typeface="Tahoma"/>
              </a:rPr>
              <a:t> </a:t>
            </a:r>
            <a:r>
              <a:rPr lang="en-US" sz="2800" b="1" dirty="0" err="1">
                <a:latin typeface="Tahoma"/>
                <a:ea typeface="Tahoma"/>
                <a:cs typeface="Tahoma"/>
              </a:rPr>
              <a:t>thử</a:t>
            </a:r>
            <a:r>
              <a:rPr lang="en-US" sz="2800" b="1" dirty="0">
                <a:latin typeface="Tahoma"/>
                <a:ea typeface="Tahoma"/>
                <a:cs typeface="Tahoma"/>
              </a:rPr>
              <a:t> </a:t>
            </a:r>
            <a:r>
              <a:rPr lang="en-US" sz="2800" b="1" dirty="0" err="1">
                <a:latin typeface="Tahoma"/>
                <a:ea typeface="Tahoma"/>
                <a:cs typeface="Tahoma"/>
              </a:rPr>
              <a:t>sau</a:t>
            </a:r>
            <a:r>
              <a:rPr lang="en-US" sz="2800" b="1" dirty="0">
                <a:latin typeface="Tahoma"/>
                <a:ea typeface="Tahoma"/>
                <a:cs typeface="Tahoma"/>
              </a:rPr>
              <a:t> </a:t>
            </a:r>
            <a:r>
              <a:rPr lang="en-US" sz="2800" b="1" dirty="0" err="1">
                <a:latin typeface="Tahoma"/>
                <a:ea typeface="Tahoma"/>
                <a:cs typeface="Tahoma"/>
              </a:rPr>
              <a:t>triển</a:t>
            </a:r>
            <a:r>
              <a:rPr lang="en-US" sz="2800" b="1" dirty="0">
                <a:latin typeface="Tahoma"/>
                <a:ea typeface="Tahoma"/>
                <a:cs typeface="Tahoma"/>
              </a:rPr>
              <a:t> </a:t>
            </a:r>
            <a:r>
              <a:rPr lang="en-US" sz="2800" b="1" dirty="0" err="1">
                <a:latin typeface="Tahoma"/>
                <a:ea typeface="Tahoma"/>
                <a:cs typeface="Tahoma"/>
              </a:rPr>
              <a:t>khai</a:t>
            </a:r>
            <a:endParaRPr lang="en-US" sz="2800" b="1" dirty="0">
              <a:latin typeface="Tahoma"/>
              <a:ea typeface="Tahoma"/>
              <a:cs typeface="Tahoma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800" dirty="0" err="1">
                <a:latin typeface="Tahoma"/>
                <a:ea typeface="Tahoma"/>
                <a:cs typeface="Tahoma"/>
              </a:rPr>
              <a:t>Kiểm</a:t>
            </a:r>
            <a:r>
              <a:rPr lang="en-US" sz="2800" dirty="0">
                <a:latin typeface="Tahoma"/>
                <a:ea typeface="Tahoma"/>
                <a:cs typeface="Tahoma"/>
              </a:rPr>
              <a:t> </a:t>
            </a:r>
            <a:r>
              <a:rPr lang="en-US" sz="2800" dirty="0" err="1">
                <a:latin typeface="Tahoma"/>
                <a:ea typeface="Tahoma"/>
                <a:cs typeface="Tahoma"/>
              </a:rPr>
              <a:t>thử</a:t>
            </a:r>
            <a:r>
              <a:rPr lang="en-US" sz="2800" dirty="0">
                <a:latin typeface="Tahoma"/>
                <a:ea typeface="Tahoma"/>
                <a:cs typeface="Tahoma"/>
              </a:rPr>
              <a:t> </a:t>
            </a:r>
            <a:r>
              <a:rPr lang="en-US" sz="2800" dirty="0" err="1">
                <a:latin typeface="Tahoma"/>
                <a:ea typeface="Tahoma"/>
                <a:cs typeface="Tahoma"/>
              </a:rPr>
              <a:t>hệ</a:t>
            </a:r>
            <a:r>
              <a:rPr lang="en-US" sz="2800" dirty="0">
                <a:latin typeface="Tahoma"/>
                <a:ea typeface="Tahoma"/>
                <a:cs typeface="Tahoma"/>
              </a:rPr>
              <a:t> </a:t>
            </a:r>
            <a:r>
              <a:rPr lang="en-US" sz="2800" dirty="0" err="1">
                <a:latin typeface="Tahoma"/>
                <a:ea typeface="Tahoma"/>
                <a:cs typeface="Tahoma"/>
              </a:rPr>
              <a:t>thống</a:t>
            </a:r>
            <a:r>
              <a:rPr lang="en-US" sz="2800" dirty="0">
                <a:latin typeface="Tahoma"/>
                <a:ea typeface="Tahoma"/>
                <a:cs typeface="Tahoma"/>
              </a:rPr>
              <a:t>: </a:t>
            </a:r>
            <a:endParaRPr lang="vi-VN" sz="2800" dirty="0">
              <a:latin typeface="Tahoma"/>
              <a:ea typeface="Tahoma"/>
              <a:cs typeface="Tahoma"/>
            </a:endParaRPr>
          </a:p>
          <a:p>
            <a:pPr>
              <a:lnSpc>
                <a:spcPct val="100000"/>
              </a:lnSpc>
            </a:pPr>
            <a:r>
              <a:rPr lang="en-US" sz="2800" dirty="0" err="1">
                <a:latin typeface="Tahoma"/>
                <a:ea typeface="Tahoma"/>
                <a:cs typeface="Tahoma"/>
              </a:rPr>
              <a:t>Truy</a:t>
            </a:r>
            <a:r>
              <a:rPr lang="en-US" sz="2800" dirty="0">
                <a:latin typeface="Tahoma"/>
                <a:ea typeface="Tahoma"/>
                <a:cs typeface="Tahoma"/>
              </a:rPr>
              <a:t> </a:t>
            </a:r>
            <a:r>
              <a:rPr lang="en-US" sz="2800" dirty="0" err="1">
                <a:latin typeface="Tahoma"/>
                <a:ea typeface="Tahoma"/>
                <a:cs typeface="Tahoma"/>
              </a:rPr>
              <a:t>cập</a:t>
            </a:r>
            <a:r>
              <a:rPr lang="en-US" sz="2800" dirty="0">
                <a:latin typeface="Tahoma"/>
                <a:ea typeface="Tahoma"/>
                <a:cs typeface="Tahoma"/>
              </a:rPr>
              <a:t> web qua Public IP.</a:t>
            </a:r>
          </a:p>
          <a:p>
            <a:pPr>
              <a:lnSpc>
                <a:spcPct val="100000"/>
              </a:lnSpc>
            </a:pPr>
            <a:r>
              <a:rPr lang="en-US" sz="2800" dirty="0" err="1">
                <a:latin typeface="Tahoma"/>
                <a:ea typeface="Tahoma"/>
                <a:cs typeface="Tahoma"/>
              </a:rPr>
              <a:t>Đăng</a:t>
            </a:r>
            <a:r>
              <a:rPr lang="en-US" sz="2800" dirty="0">
                <a:latin typeface="Tahoma"/>
                <a:ea typeface="Tahoma"/>
                <a:cs typeface="Tahoma"/>
              </a:rPr>
              <a:t> </a:t>
            </a:r>
            <a:r>
              <a:rPr lang="en-US" sz="2800" dirty="0" err="1">
                <a:latin typeface="Tahoma"/>
                <a:ea typeface="Tahoma"/>
                <a:cs typeface="Tahoma"/>
              </a:rPr>
              <a:t>nhập</a:t>
            </a:r>
            <a:r>
              <a:rPr lang="en-US" sz="2800" dirty="0">
                <a:latin typeface="Tahoma"/>
                <a:ea typeface="Tahoma"/>
                <a:cs typeface="Tahoma"/>
              </a:rPr>
              <a:t> admin.</a:t>
            </a:r>
          </a:p>
          <a:p>
            <a:pPr>
              <a:lnSpc>
                <a:spcPct val="100000"/>
              </a:lnSpc>
            </a:pPr>
            <a:r>
              <a:rPr lang="en-US" sz="2800" dirty="0" err="1">
                <a:latin typeface="Tahoma"/>
                <a:ea typeface="Tahoma"/>
                <a:cs typeface="Tahoma"/>
              </a:rPr>
              <a:t>Thêm</a:t>
            </a:r>
            <a:r>
              <a:rPr lang="en-US" sz="2800" dirty="0">
                <a:latin typeface="Tahoma"/>
                <a:ea typeface="Tahoma"/>
                <a:cs typeface="Tahoma"/>
              </a:rPr>
              <a:t> / </a:t>
            </a:r>
            <a:r>
              <a:rPr lang="en-US" sz="2800" dirty="0" err="1">
                <a:latin typeface="Tahoma"/>
                <a:ea typeface="Tahoma"/>
                <a:cs typeface="Tahoma"/>
              </a:rPr>
              <a:t>sửa</a:t>
            </a:r>
            <a:r>
              <a:rPr lang="en-US" sz="2800" dirty="0">
                <a:latin typeface="Tahoma"/>
                <a:ea typeface="Tahoma"/>
                <a:cs typeface="Tahoma"/>
              </a:rPr>
              <a:t> / </a:t>
            </a:r>
            <a:r>
              <a:rPr lang="en-US" sz="2800" dirty="0" err="1">
                <a:latin typeface="Tahoma"/>
                <a:ea typeface="Tahoma"/>
                <a:cs typeface="Tahoma"/>
              </a:rPr>
              <a:t>xóa</a:t>
            </a:r>
            <a:r>
              <a:rPr lang="en-US" sz="2800" dirty="0">
                <a:latin typeface="Tahoma"/>
                <a:ea typeface="Tahoma"/>
                <a:cs typeface="Tahoma"/>
              </a:rPr>
              <a:t> </a:t>
            </a:r>
            <a:r>
              <a:rPr lang="en-US" sz="2800" dirty="0" err="1">
                <a:latin typeface="Tahoma"/>
                <a:ea typeface="Tahoma"/>
                <a:cs typeface="Tahoma"/>
              </a:rPr>
              <a:t>xe</a:t>
            </a:r>
            <a:r>
              <a:rPr lang="en-US" sz="2800" dirty="0">
                <a:latin typeface="Tahoma"/>
                <a:ea typeface="Tahoma"/>
                <a:cs typeface="Tahoma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n-US" sz="2800" dirty="0">
                <a:latin typeface="Tahoma"/>
                <a:ea typeface="Tahoma"/>
                <a:cs typeface="Tahoma"/>
              </a:rPr>
              <a:t>Upload </a:t>
            </a:r>
            <a:r>
              <a:rPr lang="en-US" sz="2800" dirty="0" err="1">
                <a:latin typeface="Tahoma"/>
                <a:ea typeface="Tahoma"/>
                <a:cs typeface="Tahoma"/>
              </a:rPr>
              <a:t>và</a:t>
            </a:r>
            <a:r>
              <a:rPr lang="en-US" sz="2800" dirty="0">
                <a:latin typeface="Tahoma"/>
                <a:ea typeface="Tahoma"/>
                <a:cs typeface="Tahoma"/>
              </a:rPr>
              <a:t> </a:t>
            </a:r>
            <a:r>
              <a:rPr lang="en-US" sz="2800" dirty="0" err="1">
                <a:latin typeface="Tahoma"/>
                <a:ea typeface="Tahoma"/>
                <a:cs typeface="Tahoma"/>
              </a:rPr>
              <a:t>hiển</a:t>
            </a:r>
            <a:r>
              <a:rPr lang="en-US" sz="2800" dirty="0">
                <a:latin typeface="Tahoma"/>
                <a:ea typeface="Tahoma"/>
                <a:cs typeface="Tahoma"/>
              </a:rPr>
              <a:t> </a:t>
            </a:r>
            <a:r>
              <a:rPr lang="en-US" sz="2800" dirty="0" err="1">
                <a:latin typeface="Tahoma"/>
                <a:ea typeface="Tahoma"/>
                <a:cs typeface="Tahoma"/>
              </a:rPr>
              <a:t>thị</a:t>
            </a:r>
            <a:r>
              <a:rPr lang="en-US" sz="2800" dirty="0">
                <a:latin typeface="Tahoma"/>
                <a:ea typeface="Tahoma"/>
                <a:cs typeface="Tahoma"/>
              </a:rPr>
              <a:t> </a:t>
            </a:r>
            <a:r>
              <a:rPr lang="en-US" sz="2800" dirty="0" err="1">
                <a:latin typeface="Tahoma"/>
                <a:ea typeface="Tahoma"/>
                <a:cs typeface="Tahoma"/>
              </a:rPr>
              <a:t>ảnh</a:t>
            </a:r>
            <a:r>
              <a:rPr lang="en-US" sz="2800" dirty="0">
                <a:latin typeface="Tahoma"/>
                <a:ea typeface="Tahoma"/>
                <a:cs typeface="Tahoma"/>
              </a:rPr>
              <a:t>.</a:t>
            </a:r>
          </a:p>
          <a:p>
            <a:pPr algn="ctr">
              <a:lnSpc>
                <a:spcPct val="100000"/>
              </a:lnSpc>
            </a:pPr>
            <a:endParaRPr lang="vi-VN" sz="2800" dirty="0">
              <a:latin typeface="Tahoma"/>
              <a:ea typeface="Tahoma"/>
              <a:cs typeface="Tahoma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800" b="1" dirty="0">
              <a:latin typeface="Tahoma"/>
              <a:ea typeface="Tahoma"/>
              <a:cs typeface="Tahoma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B7F92-F5C4-72A7-A7DD-DE39646D9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D9C17-F1B4-411B-9CEB-7E0A0F9DD21F}" type="datetime1">
              <a:rPr lang="en-GB" smtClean="0"/>
              <a:t>01/02/2026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AD97A8-36B4-7380-13C6-7508018AA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4D8B60-EBA3-3E1A-99E9-13627960A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pPr/>
              <a:t>19</a:t>
            </a:fld>
            <a:endParaRPr lang="en-GB"/>
          </a:p>
        </p:txBody>
      </p:sp>
      <p:pic>
        <p:nvPicPr>
          <p:cNvPr id="8" name="Hình ảnh 7" descr="Ảnh có chứa văn bản, ảnh chụp màn hình, Phần mềm đa phương tiện, phần mềm&#10;&#10;Nội dung do AI tạo ra có thể không chính xác.">
            <a:extLst>
              <a:ext uri="{FF2B5EF4-FFF2-40B4-BE49-F238E27FC236}">
                <a16:creationId xmlns:a16="http://schemas.microsoft.com/office/drawing/2014/main" id="{FC210FB9-DEC2-AB1A-BE21-F78803FFDB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948" y="1984842"/>
            <a:ext cx="5193927" cy="2630581"/>
          </a:xfrm>
          <a:prstGeom prst="rect">
            <a:avLst/>
          </a:prstGeom>
        </p:spPr>
      </p:pic>
      <p:pic>
        <p:nvPicPr>
          <p:cNvPr id="9" name="Hình ảnh 8" descr="Ảnh có chứa văn bản, số, phần mềm, Phông chữ&#10;&#10;Nội dung do AI tạo ra có thể không chính xác.">
            <a:extLst>
              <a:ext uri="{FF2B5EF4-FFF2-40B4-BE49-F238E27FC236}">
                <a16:creationId xmlns:a16="http://schemas.microsoft.com/office/drawing/2014/main" id="{C3EC7893-00B7-CD66-4356-0B4B733DD2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4282" y="3626224"/>
            <a:ext cx="565785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9411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E9971-69DF-010E-366D-E1673F537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4">
            <a:extLst>
              <a:ext uri="{FF2B5EF4-FFF2-40B4-BE49-F238E27FC236}">
                <a16:creationId xmlns:a16="http://schemas.microsoft.com/office/drawing/2014/main" id="{C9251200-8965-0691-351F-E318B55AB94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47450" h="10287000">
                <a:moveTo>
                  <a:pt x="0" y="0"/>
                </a:moveTo>
                <a:lnTo>
                  <a:pt x="18247450" y="0"/>
                </a:lnTo>
                <a:lnTo>
                  <a:pt x="182474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969C11F-D7E9-BAC3-A91E-17D71F3815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41400"/>
            <a:ext cx="9144000" cy="2387600"/>
          </a:xfrm>
        </p:spPr>
        <p:txBody>
          <a:bodyPr/>
          <a:lstStyle/>
          <a:p>
            <a:r>
              <a:rPr lang="en-US" dirty="0">
                <a:latin typeface="Segoe UI Black"/>
                <a:ea typeface="Segoe UI Black"/>
                <a:cs typeface="Times New Roman"/>
              </a:rPr>
              <a:t>05. KẾT LUẬN &amp; </a:t>
            </a:r>
            <a:br>
              <a:rPr lang="en-US" dirty="0">
                <a:latin typeface="Segoe UI Black"/>
                <a:ea typeface="Segoe UI Black"/>
                <a:cs typeface="Times New Roman"/>
              </a:rPr>
            </a:br>
            <a:r>
              <a:rPr lang="en-US" dirty="0">
                <a:latin typeface="Segoe UI Black"/>
                <a:ea typeface="Segoe UI Black"/>
                <a:cs typeface="Times New Roman"/>
              </a:rPr>
              <a:t>HƯỚNG PHÁT TRIỂN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1826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86F6C-9318-B944-07E3-9C60069DE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Segoe UI Black"/>
                <a:ea typeface="Segoe UI Black"/>
                <a:cs typeface="Times New Roman"/>
              </a:rPr>
              <a:t>5. </a:t>
            </a:r>
            <a:r>
              <a:rPr lang="en-US" sz="4000" dirty="0" err="1">
                <a:latin typeface="Segoe UI Black"/>
                <a:ea typeface="Segoe UI Black"/>
                <a:cs typeface="Times New Roman"/>
              </a:rPr>
              <a:t>Kết</a:t>
            </a:r>
            <a:r>
              <a:rPr lang="en-US" sz="4000" dirty="0">
                <a:latin typeface="Segoe UI Black"/>
                <a:ea typeface="Segoe UI Black"/>
                <a:cs typeface="Times New Roman"/>
              </a:rPr>
              <a:t> </a:t>
            </a:r>
            <a:r>
              <a:rPr lang="en-US" sz="4000" dirty="0" err="1">
                <a:latin typeface="Segoe UI Black"/>
                <a:ea typeface="Segoe UI Black"/>
                <a:cs typeface="Times New Roman"/>
              </a:rPr>
              <a:t>luận</a:t>
            </a:r>
            <a:r>
              <a:rPr lang="en-US" sz="4000" dirty="0">
                <a:latin typeface="Segoe UI Black"/>
                <a:ea typeface="Segoe UI Black"/>
                <a:cs typeface="Times New Roman"/>
              </a:rPr>
              <a:t> &amp; </a:t>
            </a:r>
            <a:r>
              <a:rPr lang="en-US" sz="4000" dirty="0" err="1">
                <a:latin typeface="Segoe UI Black"/>
                <a:ea typeface="Segoe UI Black"/>
                <a:cs typeface="Times New Roman"/>
              </a:rPr>
              <a:t>Hướng</a:t>
            </a:r>
            <a:r>
              <a:rPr lang="en-US" sz="4000" dirty="0">
                <a:latin typeface="Segoe UI Black"/>
                <a:ea typeface="Segoe UI Black"/>
                <a:cs typeface="Times New Roman"/>
              </a:rPr>
              <a:t> </a:t>
            </a:r>
            <a:r>
              <a:rPr lang="en-US" sz="4000" dirty="0" err="1">
                <a:latin typeface="Segoe UI Black"/>
                <a:ea typeface="Segoe UI Black"/>
                <a:cs typeface="Times New Roman"/>
              </a:rPr>
              <a:t>phát</a:t>
            </a:r>
            <a:r>
              <a:rPr lang="en-US" sz="4000" dirty="0">
                <a:latin typeface="Segoe UI Black"/>
                <a:ea typeface="Segoe UI Black"/>
                <a:cs typeface="Times New Roman"/>
              </a:rPr>
              <a:t> </a:t>
            </a:r>
            <a:r>
              <a:rPr lang="en-US" sz="4000" dirty="0" err="1">
                <a:latin typeface="Segoe UI Black"/>
                <a:ea typeface="Segoe UI Black"/>
                <a:cs typeface="Times New Roman"/>
              </a:rPr>
              <a:t>triển</a:t>
            </a:r>
            <a:endParaRPr lang="en-US" sz="4000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6DA33-2925-47DD-E520-A22AD22B9A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vi-VN" b="1" dirty="0">
                <a:latin typeface="Tahoma"/>
                <a:ea typeface="Tahoma"/>
                <a:cs typeface="Tahoma"/>
              </a:rPr>
              <a:t>5.1. Giá trị </a:t>
            </a:r>
            <a:r>
              <a:rPr lang="en-US" b="1" dirty="0" err="1">
                <a:latin typeface="Tahoma"/>
                <a:ea typeface="Tahoma"/>
                <a:cs typeface="Tahoma"/>
              </a:rPr>
              <a:t>đạt</a:t>
            </a:r>
            <a:r>
              <a:rPr lang="en-US" b="1" dirty="0">
                <a:latin typeface="Tahoma"/>
                <a:ea typeface="Tahoma"/>
                <a:cs typeface="Tahoma"/>
              </a:rPr>
              <a:t> </a:t>
            </a:r>
            <a:r>
              <a:rPr lang="en-US" b="1" dirty="0" err="1">
                <a:latin typeface="Tahoma"/>
                <a:ea typeface="Tahoma"/>
                <a:cs typeface="Tahoma"/>
              </a:rPr>
              <a:t>được</a:t>
            </a:r>
            <a:r>
              <a:rPr lang="en-US" b="1" dirty="0">
                <a:latin typeface="Tahoma"/>
                <a:ea typeface="Tahoma"/>
                <a:cs typeface="Tahoma"/>
              </a:rPr>
              <a:t> </a:t>
            </a:r>
            <a:r>
              <a:rPr lang="en-US" b="1" dirty="0" err="1">
                <a:latin typeface="Tahoma"/>
                <a:ea typeface="Tahoma"/>
                <a:cs typeface="Tahoma"/>
              </a:rPr>
              <a:t>khi</a:t>
            </a:r>
            <a:r>
              <a:rPr lang="en-US" b="1" dirty="0">
                <a:latin typeface="Tahoma"/>
                <a:ea typeface="Tahoma"/>
                <a:cs typeface="Tahoma"/>
              </a:rPr>
              <a:t> </a:t>
            </a:r>
            <a:r>
              <a:rPr lang="en-US" b="1" dirty="0" err="1">
                <a:latin typeface="Tahoma"/>
                <a:ea typeface="Tahoma"/>
                <a:cs typeface="Tahoma"/>
              </a:rPr>
              <a:t>áp</a:t>
            </a:r>
            <a:r>
              <a:rPr lang="en-US" b="1" dirty="0">
                <a:latin typeface="Tahoma"/>
                <a:ea typeface="Tahoma"/>
                <a:cs typeface="Tahoma"/>
              </a:rPr>
              <a:t> </a:t>
            </a:r>
            <a:r>
              <a:rPr lang="en-US" b="1" dirty="0" err="1">
                <a:latin typeface="Tahoma"/>
                <a:ea typeface="Tahoma"/>
                <a:cs typeface="Tahoma"/>
              </a:rPr>
              <a:t>dụng</a:t>
            </a:r>
            <a:r>
              <a:rPr lang="en-US" b="1" dirty="0">
                <a:latin typeface="Tahoma"/>
                <a:ea typeface="Tahoma"/>
                <a:cs typeface="Tahoma"/>
              </a:rPr>
              <a:t> </a:t>
            </a:r>
            <a:r>
              <a:rPr lang="vi-VN" b="1" dirty="0">
                <a:latin typeface="Tahoma"/>
                <a:ea typeface="Tahoma"/>
                <a:cs typeface="Tahoma"/>
              </a:rPr>
              <a:t>Cloud </a:t>
            </a:r>
            <a:r>
              <a:rPr lang="en-US" b="1" dirty="0" err="1">
                <a:latin typeface="Tahoma"/>
                <a:ea typeface="Tahoma"/>
                <a:cs typeface="Tahoma"/>
              </a:rPr>
              <a:t>vào</a:t>
            </a:r>
            <a:r>
              <a:rPr lang="vi-VN" b="1" dirty="0">
                <a:latin typeface="Tahoma"/>
                <a:ea typeface="Tahoma"/>
                <a:cs typeface="Tahoma"/>
              </a:rPr>
              <a:t> dự án</a:t>
            </a:r>
            <a:endParaRPr lang="en-US" b="1" dirty="0">
              <a:latin typeface="Tahoma"/>
              <a:ea typeface="Tahoma"/>
              <a:cs typeface="Tahoma"/>
            </a:endParaRPr>
          </a:p>
          <a:p>
            <a:pPr>
              <a:lnSpc>
                <a:spcPct val="100000"/>
              </a:lnSpc>
            </a:pPr>
            <a:r>
              <a:rPr lang="en-US" dirty="0" err="1">
                <a:latin typeface="Tahoma"/>
                <a:ea typeface="Tahoma"/>
                <a:cs typeface="Tahoma"/>
              </a:rPr>
              <a:t>Áp</a:t>
            </a:r>
            <a:r>
              <a:rPr lang="en-US" dirty="0">
                <a:latin typeface="Tahoma"/>
                <a:ea typeface="Tahoma"/>
                <a:cs typeface="Tahoma"/>
              </a:rPr>
              <a:t> </a:t>
            </a:r>
            <a:r>
              <a:rPr lang="en-US" dirty="0" err="1">
                <a:latin typeface="Tahoma"/>
                <a:ea typeface="Tahoma"/>
                <a:cs typeface="Tahoma"/>
              </a:rPr>
              <a:t>dụng</a:t>
            </a:r>
            <a:r>
              <a:rPr lang="en-US" dirty="0">
                <a:latin typeface="Tahoma"/>
                <a:ea typeface="Tahoma"/>
                <a:cs typeface="Tahoma"/>
              </a:rPr>
              <a:t> Cloud-native mindset.</a:t>
            </a:r>
          </a:p>
          <a:p>
            <a:pPr>
              <a:lnSpc>
                <a:spcPct val="100000"/>
              </a:lnSpc>
            </a:pPr>
            <a:r>
              <a:rPr lang="en-US" dirty="0" err="1">
                <a:latin typeface="Tahoma"/>
                <a:ea typeface="Tahoma"/>
                <a:cs typeface="Tahoma"/>
              </a:rPr>
              <a:t>Tách</a:t>
            </a:r>
            <a:r>
              <a:rPr lang="en-US" dirty="0">
                <a:latin typeface="Tahoma"/>
                <a:ea typeface="Tahoma"/>
                <a:cs typeface="Tahoma"/>
              </a:rPr>
              <a:t> </a:t>
            </a:r>
            <a:r>
              <a:rPr lang="en-US" dirty="0" err="1">
                <a:latin typeface="Tahoma"/>
                <a:ea typeface="Tahoma"/>
                <a:cs typeface="Tahoma"/>
              </a:rPr>
              <a:t>biệt</a:t>
            </a:r>
            <a:r>
              <a:rPr lang="en-US" dirty="0">
                <a:latin typeface="Tahoma"/>
                <a:ea typeface="Tahoma"/>
                <a:cs typeface="Tahoma"/>
              </a:rPr>
              <a:t> </a:t>
            </a:r>
            <a:r>
              <a:rPr lang="en-US" dirty="0" err="1">
                <a:latin typeface="Tahoma"/>
                <a:ea typeface="Tahoma"/>
                <a:cs typeface="Tahoma"/>
              </a:rPr>
              <a:t>hạ</a:t>
            </a:r>
            <a:r>
              <a:rPr lang="en-US" dirty="0">
                <a:latin typeface="Tahoma"/>
                <a:ea typeface="Tahoma"/>
                <a:cs typeface="Tahoma"/>
              </a:rPr>
              <a:t> </a:t>
            </a:r>
            <a:r>
              <a:rPr lang="en-US" dirty="0" err="1">
                <a:latin typeface="Tahoma"/>
                <a:ea typeface="Tahoma"/>
                <a:cs typeface="Tahoma"/>
              </a:rPr>
              <a:t>tầng</a:t>
            </a:r>
            <a:r>
              <a:rPr lang="en-US" dirty="0">
                <a:latin typeface="Tahoma"/>
                <a:ea typeface="Tahoma"/>
                <a:cs typeface="Tahoma"/>
              </a:rPr>
              <a:t> </a:t>
            </a:r>
            <a:r>
              <a:rPr lang="en-US" dirty="0" err="1">
                <a:latin typeface="Tahoma"/>
                <a:ea typeface="Tahoma"/>
                <a:cs typeface="Tahoma"/>
              </a:rPr>
              <a:t>và</a:t>
            </a:r>
            <a:r>
              <a:rPr lang="en-US" dirty="0">
                <a:latin typeface="Tahoma"/>
                <a:ea typeface="Tahoma"/>
                <a:cs typeface="Tahoma"/>
              </a:rPr>
              <a:t> </a:t>
            </a:r>
            <a:r>
              <a:rPr lang="en-US" dirty="0" err="1">
                <a:latin typeface="Tahoma"/>
                <a:ea typeface="Tahoma"/>
                <a:cs typeface="Tahoma"/>
              </a:rPr>
              <a:t>ứng</a:t>
            </a:r>
            <a:r>
              <a:rPr lang="en-US" dirty="0">
                <a:latin typeface="Tahoma"/>
                <a:ea typeface="Tahoma"/>
                <a:cs typeface="Tahoma"/>
              </a:rPr>
              <a:t> </a:t>
            </a:r>
            <a:r>
              <a:rPr lang="en-US" dirty="0" err="1">
                <a:latin typeface="Tahoma"/>
                <a:ea typeface="Tahoma"/>
                <a:cs typeface="Tahoma"/>
              </a:rPr>
              <a:t>dụng</a:t>
            </a:r>
            <a:r>
              <a:rPr lang="en-US" dirty="0">
                <a:latin typeface="Tahoma"/>
                <a:ea typeface="Tahoma"/>
                <a:cs typeface="Tahoma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n-US" dirty="0" err="1">
                <a:latin typeface="Tahoma"/>
                <a:ea typeface="Tahoma"/>
                <a:cs typeface="Tahoma"/>
              </a:rPr>
              <a:t>Dễ</a:t>
            </a:r>
            <a:r>
              <a:rPr lang="en-US" dirty="0">
                <a:latin typeface="Tahoma"/>
                <a:ea typeface="Tahoma"/>
                <a:cs typeface="Tahoma"/>
              </a:rPr>
              <a:t> scale, </a:t>
            </a:r>
            <a:r>
              <a:rPr lang="en-US" dirty="0" err="1">
                <a:latin typeface="Tahoma"/>
                <a:ea typeface="Tahoma"/>
                <a:cs typeface="Tahoma"/>
              </a:rPr>
              <a:t>dễ</a:t>
            </a:r>
            <a:r>
              <a:rPr lang="en-US" dirty="0">
                <a:latin typeface="Tahoma"/>
                <a:ea typeface="Tahoma"/>
                <a:cs typeface="Tahoma"/>
              </a:rPr>
              <a:t> </a:t>
            </a:r>
            <a:r>
              <a:rPr lang="en-US" dirty="0" err="1">
                <a:latin typeface="Tahoma"/>
                <a:ea typeface="Tahoma"/>
                <a:cs typeface="Tahoma"/>
              </a:rPr>
              <a:t>bảo</a:t>
            </a:r>
            <a:r>
              <a:rPr lang="en-US" dirty="0">
                <a:latin typeface="Tahoma"/>
                <a:ea typeface="Tahoma"/>
                <a:cs typeface="Tahoma"/>
              </a:rPr>
              <a:t> </a:t>
            </a:r>
            <a:r>
              <a:rPr lang="en-US" dirty="0" err="1">
                <a:latin typeface="Tahoma"/>
                <a:ea typeface="Tahoma"/>
                <a:cs typeface="Tahoma"/>
              </a:rPr>
              <a:t>trì</a:t>
            </a:r>
            <a:r>
              <a:rPr lang="en-US" dirty="0">
                <a:latin typeface="Tahoma"/>
                <a:ea typeface="Tahoma"/>
                <a:cs typeface="Tahoma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n-US" dirty="0" err="1">
                <a:latin typeface="Tahoma"/>
                <a:ea typeface="Tahoma"/>
                <a:cs typeface="Tahoma"/>
              </a:rPr>
              <a:t>Gần</a:t>
            </a:r>
            <a:r>
              <a:rPr lang="en-US" dirty="0">
                <a:latin typeface="Tahoma"/>
                <a:ea typeface="Tahoma"/>
                <a:cs typeface="Tahoma"/>
              </a:rPr>
              <a:t> </a:t>
            </a:r>
            <a:r>
              <a:rPr lang="en-US" dirty="0" err="1">
                <a:latin typeface="Tahoma"/>
                <a:ea typeface="Tahoma"/>
                <a:cs typeface="Tahoma"/>
              </a:rPr>
              <a:t>với</a:t>
            </a:r>
            <a:r>
              <a:rPr lang="en-US" dirty="0">
                <a:latin typeface="Tahoma"/>
                <a:ea typeface="Tahoma"/>
                <a:cs typeface="Tahoma"/>
              </a:rPr>
              <a:t> </a:t>
            </a:r>
            <a:r>
              <a:rPr lang="en-US" dirty="0" err="1">
                <a:latin typeface="Tahoma"/>
                <a:ea typeface="Tahoma"/>
                <a:cs typeface="Tahoma"/>
              </a:rPr>
              <a:t>hệ</a:t>
            </a:r>
            <a:r>
              <a:rPr lang="en-US" dirty="0">
                <a:latin typeface="Tahoma"/>
                <a:ea typeface="Tahoma"/>
                <a:cs typeface="Tahoma"/>
              </a:rPr>
              <a:t> </a:t>
            </a:r>
            <a:r>
              <a:rPr lang="en-US" dirty="0" err="1">
                <a:latin typeface="Tahoma"/>
                <a:ea typeface="Tahoma"/>
                <a:cs typeface="Tahoma"/>
              </a:rPr>
              <a:t>thống</a:t>
            </a:r>
            <a:r>
              <a:rPr lang="en-US" dirty="0">
                <a:latin typeface="Tahoma"/>
                <a:ea typeface="Tahoma"/>
                <a:cs typeface="Tahoma"/>
              </a:rPr>
              <a:t> </a:t>
            </a:r>
            <a:r>
              <a:rPr lang="en-US" dirty="0" err="1">
                <a:latin typeface="Tahoma"/>
                <a:ea typeface="Tahoma"/>
                <a:cs typeface="Tahoma"/>
              </a:rPr>
              <a:t>thực</a:t>
            </a:r>
            <a:r>
              <a:rPr lang="en-US" dirty="0">
                <a:latin typeface="Tahoma"/>
                <a:ea typeface="Tahoma"/>
                <a:cs typeface="Tahoma"/>
              </a:rPr>
              <a:t> </a:t>
            </a:r>
            <a:r>
              <a:rPr lang="en-US" dirty="0" err="1">
                <a:latin typeface="Tahoma"/>
                <a:ea typeface="Tahoma"/>
                <a:cs typeface="Tahoma"/>
              </a:rPr>
              <a:t>tế</a:t>
            </a:r>
            <a:r>
              <a:rPr lang="en-US" dirty="0">
                <a:latin typeface="Tahoma"/>
                <a:ea typeface="Tahoma"/>
                <a:cs typeface="Tahoma"/>
              </a:rPr>
              <a:t> </a:t>
            </a:r>
            <a:r>
              <a:rPr lang="en-US" dirty="0" err="1">
                <a:latin typeface="Tahoma"/>
                <a:ea typeface="Tahoma"/>
                <a:cs typeface="Tahoma"/>
              </a:rPr>
              <a:t>doanh</a:t>
            </a:r>
            <a:r>
              <a:rPr lang="en-US" dirty="0">
                <a:latin typeface="Tahoma"/>
                <a:ea typeface="Tahoma"/>
                <a:cs typeface="Tahoma"/>
              </a:rPr>
              <a:t> </a:t>
            </a:r>
            <a:r>
              <a:rPr lang="en-US" dirty="0" err="1">
                <a:latin typeface="Tahoma"/>
                <a:ea typeface="Tahoma"/>
                <a:cs typeface="Tahoma"/>
              </a:rPr>
              <a:t>nghiệp</a:t>
            </a:r>
            <a:r>
              <a:rPr lang="en-US" dirty="0">
                <a:latin typeface="Tahoma"/>
                <a:ea typeface="Tahoma"/>
                <a:cs typeface="Tahoma"/>
              </a:rPr>
              <a:t>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vi-VN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7E2F9A-D8BF-BD5C-D4C2-0E6ABA2B2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204B4-A4A2-42BD-BCA0-D8E638D0E282}" type="datetime1">
              <a:rPr lang="en-GB" smtClean="0"/>
              <a:t>01/02/2026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349D0F-AE9D-B895-683C-5270DC5A2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E9AD7F-F010-5A21-3422-B499972E9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pPr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02188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F7DB4-8343-8FA7-C7D0-F70570E35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6B7B2F2B-E0C3-0388-30E9-4F5631628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Segoe UI Black"/>
                <a:ea typeface="Segoe UI Black"/>
                <a:cs typeface="Times New Roman"/>
              </a:rPr>
              <a:t>5. </a:t>
            </a:r>
            <a:r>
              <a:rPr lang="en-US" sz="4000" dirty="0" err="1">
                <a:latin typeface="Segoe UI Black"/>
                <a:ea typeface="Segoe UI Black"/>
                <a:cs typeface="Times New Roman"/>
              </a:rPr>
              <a:t>Kết</a:t>
            </a:r>
            <a:r>
              <a:rPr lang="en-US" sz="4000" dirty="0">
                <a:latin typeface="Segoe UI Black"/>
                <a:ea typeface="Segoe UI Black"/>
                <a:cs typeface="Times New Roman"/>
              </a:rPr>
              <a:t> </a:t>
            </a:r>
            <a:r>
              <a:rPr lang="en-US" sz="4000" dirty="0" err="1">
                <a:latin typeface="Segoe UI Black"/>
                <a:ea typeface="Segoe UI Black"/>
                <a:cs typeface="Times New Roman"/>
              </a:rPr>
              <a:t>luận</a:t>
            </a:r>
            <a:r>
              <a:rPr lang="en-US" sz="4000" dirty="0">
                <a:latin typeface="Segoe UI Black"/>
                <a:ea typeface="Segoe UI Black"/>
                <a:cs typeface="Times New Roman"/>
              </a:rPr>
              <a:t> &amp; </a:t>
            </a:r>
            <a:r>
              <a:rPr lang="en-US" sz="4000" dirty="0" err="1">
                <a:latin typeface="Segoe UI Black"/>
                <a:ea typeface="Segoe UI Black"/>
                <a:cs typeface="Times New Roman"/>
              </a:rPr>
              <a:t>Hướng</a:t>
            </a:r>
            <a:r>
              <a:rPr lang="en-US" sz="4000" dirty="0">
                <a:latin typeface="Segoe UI Black"/>
                <a:ea typeface="Segoe UI Black"/>
                <a:cs typeface="Times New Roman"/>
              </a:rPr>
              <a:t> </a:t>
            </a:r>
            <a:r>
              <a:rPr lang="en-US" sz="4000" dirty="0" err="1">
                <a:latin typeface="Segoe UI Black"/>
                <a:ea typeface="Segoe UI Black"/>
                <a:cs typeface="Times New Roman"/>
              </a:rPr>
              <a:t>phát</a:t>
            </a:r>
            <a:r>
              <a:rPr lang="en-US" sz="4000" dirty="0">
                <a:latin typeface="Segoe UI Black"/>
                <a:ea typeface="Segoe UI Black"/>
                <a:cs typeface="Times New Roman"/>
              </a:rPr>
              <a:t> </a:t>
            </a:r>
            <a:r>
              <a:rPr lang="en-US" sz="4000" dirty="0" err="1">
                <a:latin typeface="Segoe UI Black"/>
                <a:ea typeface="Segoe UI Black"/>
                <a:cs typeface="Times New Roman"/>
              </a:rPr>
              <a:t>triển</a:t>
            </a:r>
            <a:endParaRPr lang="en-US" sz="4000" dirty="0" err="1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54979BB1-36C7-E1EC-21A2-74D6DAA2B5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vi-VN" b="1" dirty="0">
                <a:latin typeface="Tahoma"/>
                <a:ea typeface="Tahoma"/>
                <a:cs typeface="Tahoma"/>
              </a:rPr>
              <a:t>5.2. Kết luận</a:t>
            </a:r>
            <a:endParaRPr lang="en-US" b="1" dirty="0">
              <a:latin typeface="Tahoma"/>
              <a:ea typeface="Tahoma"/>
              <a:cs typeface="Tahoma"/>
            </a:endParaRPr>
          </a:p>
          <a:p>
            <a:pPr lvl="1">
              <a:lnSpc>
                <a:spcPct val="150000"/>
              </a:lnSpc>
            </a:pPr>
            <a:r>
              <a:rPr lang="en-US" sz="3200" dirty="0" err="1">
                <a:latin typeface="Tahoma"/>
                <a:ea typeface="+mn-lt"/>
                <a:cs typeface="+mn-lt"/>
              </a:rPr>
              <a:t>Nhóm</a:t>
            </a:r>
            <a:r>
              <a:rPr lang="en-US" sz="3200" dirty="0">
                <a:latin typeface="Tahoma"/>
                <a:ea typeface="+mn-lt"/>
                <a:cs typeface="+mn-lt"/>
              </a:rPr>
              <a:t> </a:t>
            </a:r>
            <a:r>
              <a:rPr lang="en-US" sz="3200" dirty="0" err="1">
                <a:latin typeface="Tahoma"/>
                <a:ea typeface="+mn-lt"/>
                <a:cs typeface="+mn-lt"/>
              </a:rPr>
              <a:t>đã</a:t>
            </a:r>
            <a:r>
              <a:rPr lang="en-US" sz="3200" dirty="0">
                <a:latin typeface="Tahoma"/>
                <a:ea typeface="+mn-lt"/>
                <a:cs typeface="+mn-lt"/>
              </a:rPr>
              <a:t> </a:t>
            </a:r>
            <a:r>
              <a:rPr lang="en-US" sz="3200" dirty="0" err="1">
                <a:latin typeface="Tahoma"/>
                <a:ea typeface="+mn-lt"/>
                <a:cs typeface="+mn-lt"/>
              </a:rPr>
              <a:t>triển</a:t>
            </a:r>
            <a:r>
              <a:rPr lang="en-US" sz="3200" dirty="0">
                <a:latin typeface="Tahoma"/>
                <a:ea typeface="+mn-lt"/>
                <a:cs typeface="+mn-lt"/>
              </a:rPr>
              <a:t> </a:t>
            </a:r>
            <a:r>
              <a:rPr lang="en-US" sz="3200" dirty="0" err="1">
                <a:latin typeface="Tahoma"/>
                <a:ea typeface="+mn-lt"/>
                <a:cs typeface="+mn-lt"/>
              </a:rPr>
              <a:t>khai</a:t>
            </a:r>
            <a:r>
              <a:rPr lang="en-US" sz="3200" dirty="0">
                <a:latin typeface="Tahoma"/>
                <a:ea typeface="+mn-lt"/>
                <a:cs typeface="+mn-lt"/>
              </a:rPr>
              <a:t> </a:t>
            </a:r>
            <a:r>
              <a:rPr lang="en-US" sz="3200" dirty="0" err="1">
                <a:latin typeface="Tahoma"/>
                <a:ea typeface="+mn-lt"/>
                <a:cs typeface="+mn-lt"/>
              </a:rPr>
              <a:t>thành</a:t>
            </a:r>
            <a:r>
              <a:rPr lang="en-US" sz="3200" dirty="0">
                <a:latin typeface="Tahoma"/>
                <a:ea typeface="+mn-lt"/>
                <a:cs typeface="+mn-lt"/>
              </a:rPr>
              <a:t> </a:t>
            </a:r>
            <a:r>
              <a:rPr lang="en-US" sz="3200" dirty="0" err="1">
                <a:latin typeface="Tahoma"/>
                <a:ea typeface="+mn-lt"/>
                <a:cs typeface="+mn-lt"/>
              </a:rPr>
              <a:t>công</a:t>
            </a:r>
            <a:r>
              <a:rPr lang="en-US" sz="3200" dirty="0">
                <a:latin typeface="Tahoma"/>
                <a:ea typeface="+mn-lt"/>
                <a:cs typeface="+mn-lt"/>
              </a:rPr>
              <a:t> </a:t>
            </a:r>
            <a:r>
              <a:rPr lang="en-US" sz="3200" dirty="0" err="1">
                <a:latin typeface="Tahoma"/>
                <a:ea typeface="+mn-lt"/>
                <a:cs typeface="+mn-lt"/>
              </a:rPr>
              <a:t>hệ</a:t>
            </a:r>
            <a:r>
              <a:rPr lang="en-US" sz="3200" dirty="0">
                <a:latin typeface="Tahoma"/>
                <a:ea typeface="+mn-lt"/>
                <a:cs typeface="+mn-lt"/>
              </a:rPr>
              <a:t> </a:t>
            </a:r>
            <a:r>
              <a:rPr lang="en-US" sz="3200" dirty="0" err="1">
                <a:latin typeface="Tahoma"/>
                <a:ea typeface="+mn-lt"/>
                <a:cs typeface="+mn-lt"/>
              </a:rPr>
              <a:t>thống</a:t>
            </a:r>
            <a:r>
              <a:rPr lang="en-US" sz="3200" dirty="0">
                <a:latin typeface="Tahoma"/>
                <a:ea typeface="+mn-lt"/>
                <a:cs typeface="+mn-lt"/>
              </a:rPr>
              <a:t> </a:t>
            </a:r>
            <a:r>
              <a:rPr lang="en-US" sz="3200" dirty="0" err="1">
                <a:latin typeface="Tahoma"/>
                <a:ea typeface="+mn-lt"/>
                <a:cs typeface="+mn-lt"/>
              </a:rPr>
              <a:t>trên</a:t>
            </a:r>
            <a:r>
              <a:rPr lang="en-US" sz="3200" dirty="0">
                <a:latin typeface="Tahoma"/>
                <a:ea typeface="+mn-lt"/>
                <a:cs typeface="+mn-lt"/>
              </a:rPr>
              <a:t> AWS.</a:t>
            </a:r>
            <a:endParaRPr lang="en-US" sz="3200" dirty="0">
              <a:latin typeface="Tahoma"/>
              <a:ea typeface="Tahoma"/>
              <a:cs typeface="Tahoma"/>
            </a:endParaRPr>
          </a:p>
          <a:p>
            <a:pPr lvl="1">
              <a:lnSpc>
                <a:spcPct val="150000"/>
              </a:lnSpc>
            </a:pPr>
            <a:r>
              <a:rPr lang="en-US" sz="3200" dirty="0" err="1">
                <a:latin typeface="Tahoma"/>
                <a:ea typeface="+mn-lt"/>
                <a:cs typeface="+mn-lt"/>
              </a:rPr>
              <a:t>Ứng</a:t>
            </a:r>
            <a:r>
              <a:rPr lang="en-US" sz="3200" dirty="0">
                <a:latin typeface="Tahoma"/>
                <a:ea typeface="+mn-lt"/>
                <a:cs typeface="+mn-lt"/>
              </a:rPr>
              <a:t> </a:t>
            </a:r>
            <a:r>
              <a:rPr lang="en-US" sz="3200" dirty="0" err="1">
                <a:latin typeface="Tahoma"/>
                <a:ea typeface="+mn-lt"/>
                <a:cs typeface="+mn-lt"/>
              </a:rPr>
              <a:t>dụng</a:t>
            </a:r>
            <a:r>
              <a:rPr lang="en-US" sz="3200" dirty="0">
                <a:latin typeface="Tahoma"/>
                <a:ea typeface="+mn-lt"/>
                <a:cs typeface="+mn-lt"/>
              </a:rPr>
              <a:t> Docker, Cloud Database, Cloud Storage.</a:t>
            </a:r>
            <a:endParaRPr lang="en-US" sz="3200" dirty="0">
              <a:latin typeface="Tahoma"/>
              <a:ea typeface="Tahoma"/>
              <a:cs typeface="Tahoma"/>
            </a:endParaRPr>
          </a:p>
          <a:p>
            <a:pPr lvl="1">
              <a:lnSpc>
                <a:spcPct val="150000"/>
              </a:lnSpc>
            </a:pPr>
            <a:r>
              <a:rPr lang="en-US" sz="3200" dirty="0" err="1">
                <a:latin typeface="Tahoma"/>
                <a:ea typeface="+mn-lt"/>
                <a:cs typeface="+mn-lt"/>
              </a:rPr>
              <a:t>Đáp</a:t>
            </a:r>
            <a:r>
              <a:rPr lang="en-US" sz="3200" dirty="0">
                <a:latin typeface="Tahoma"/>
                <a:ea typeface="+mn-lt"/>
                <a:cs typeface="+mn-lt"/>
              </a:rPr>
              <a:t> </a:t>
            </a:r>
            <a:r>
              <a:rPr lang="en-US" sz="3200" dirty="0" err="1">
                <a:latin typeface="Tahoma"/>
                <a:ea typeface="+mn-lt"/>
                <a:cs typeface="+mn-lt"/>
              </a:rPr>
              <a:t>ứng</a:t>
            </a:r>
            <a:r>
              <a:rPr lang="en-US" sz="3200" dirty="0">
                <a:latin typeface="Tahoma"/>
                <a:ea typeface="+mn-lt"/>
                <a:cs typeface="+mn-lt"/>
              </a:rPr>
              <a:t> </a:t>
            </a:r>
            <a:r>
              <a:rPr lang="en-US" sz="3200" dirty="0" err="1">
                <a:latin typeface="Tahoma"/>
                <a:ea typeface="+mn-lt"/>
                <a:cs typeface="+mn-lt"/>
              </a:rPr>
              <a:t>đủ</a:t>
            </a:r>
            <a:r>
              <a:rPr lang="en-US" sz="3200" dirty="0">
                <a:latin typeface="Tahoma"/>
                <a:ea typeface="+mn-lt"/>
                <a:cs typeface="+mn-lt"/>
              </a:rPr>
              <a:t> </a:t>
            </a:r>
            <a:r>
              <a:rPr lang="en-US" sz="3200" dirty="0" err="1">
                <a:latin typeface="Tahoma"/>
                <a:ea typeface="+mn-lt"/>
                <a:cs typeface="+mn-lt"/>
              </a:rPr>
              <a:t>yêu</a:t>
            </a:r>
            <a:r>
              <a:rPr lang="en-US" sz="3200" dirty="0">
                <a:latin typeface="Tahoma"/>
                <a:ea typeface="+mn-lt"/>
                <a:cs typeface="+mn-lt"/>
              </a:rPr>
              <a:t> </a:t>
            </a:r>
            <a:r>
              <a:rPr lang="en-US" sz="3200" dirty="0" err="1">
                <a:latin typeface="Tahoma"/>
                <a:ea typeface="+mn-lt"/>
                <a:cs typeface="+mn-lt"/>
              </a:rPr>
              <a:t>cầu</a:t>
            </a:r>
            <a:r>
              <a:rPr lang="en-US" sz="3200" dirty="0">
                <a:latin typeface="Tahoma"/>
                <a:ea typeface="+mn-lt"/>
                <a:cs typeface="+mn-lt"/>
              </a:rPr>
              <a:t> </a:t>
            </a:r>
            <a:r>
              <a:rPr lang="en-US" sz="3200" dirty="0" err="1">
                <a:latin typeface="Tahoma"/>
                <a:ea typeface="+mn-lt"/>
                <a:cs typeface="+mn-lt"/>
              </a:rPr>
              <a:t>môn</a:t>
            </a:r>
            <a:r>
              <a:rPr lang="en-US" sz="3200" dirty="0">
                <a:latin typeface="Tahoma"/>
                <a:ea typeface="+mn-lt"/>
                <a:cs typeface="+mn-lt"/>
              </a:rPr>
              <a:t> </a:t>
            </a:r>
            <a:r>
              <a:rPr lang="en-US" sz="3200" dirty="0" err="1">
                <a:latin typeface="Tahoma"/>
                <a:ea typeface="+mn-lt"/>
                <a:cs typeface="+mn-lt"/>
              </a:rPr>
              <a:t>Điện</a:t>
            </a:r>
            <a:r>
              <a:rPr lang="en-US" sz="3200" dirty="0">
                <a:latin typeface="Tahoma"/>
                <a:ea typeface="+mn-lt"/>
                <a:cs typeface="+mn-lt"/>
              </a:rPr>
              <a:t> </a:t>
            </a:r>
            <a:r>
              <a:rPr lang="en-US" sz="3200" dirty="0" err="1">
                <a:latin typeface="Tahoma"/>
                <a:ea typeface="+mn-lt"/>
                <a:cs typeface="+mn-lt"/>
              </a:rPr>
              <a:t>toán</a:t>
            </a:r>
            <a:r>
              <a:rPr lang="en-US" sz="3200" dirty="0">
                <a:latin typeface="Tahoma"/>
                <a:ea typeface="+mn-lt"/>
                <a:cs typeface="+mn-lt"/>
              </a:rPr>
              <a:t> </a:t>
            </a:r>
            <a:r>
              <a:rPr lang="en-US" sz="3200" dirty="0" err="1">
                <a:latin typeface="Tahoma"/>
                <a:ea typeface="+mn-lt"/>
                <a:cs typeface="+mn-lt"/>
              </a:rPr>
              <a:t>đám</a:t>
            </a:r>
            <a:r>
              <a:rPr lang="en-US" sz="3200" dirty="0">
                <a:latin typeface="Tahoma"/>
                <a:ea typeface="+mn-lt"/>
                <a:cs typeface="+mn-lt"/>
              </a:rPr>
              <a:t> </a:t>
            </a:r>
            <a:r>
              <a:rPr lang="en-US" sz="3200" dirty="0" err="1">
                <a:latin typeface="Tahoma"/>
                <a:ea typeface="+mn-lt"/>
                <a:cs typeface="+mn-lt"/>
              </a:rPr>
              <a:t>mây</a:t>
            </a:r>
            <a:r>
              <a:rPr lang="en-US" sz="3200" dirty="0">
                <a:latin typeface="Tahoma"/>
                <a:ea typeface="Tahoma"/>
                <a:cs typeface="Tahoma"/>
              </a:rPr>
              <a:t>.</a:t>
            </a:r>
            <a:endParaRPr lang="vi-VN" sz="32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3CD14-9A90-B557-608E-5CF71FF32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A7B3F-904D-4520-A4FD-76C2F3F4B9DB}" type="datetime1">
              <a:rPr lang="en-GB" smtClean="0"/>
              <a:t>01/02/2026</a:t>
            </a:fld>
            <a:endParaRPr lang="en-GB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4BAD20B8-A97E-B8BF-9366-F5657859E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CE7F3E36-8093-192D-6D33-5D1BAA8B7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pPr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78992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808A7E9-FC4F-F72D-E98B-94D429EF1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Segoe UI Black"/>
                <a:ea typeface="Segoe UI Black"/>
                <a:cs typeface="Times New Roman"/>
              </a:rPr>
              <a:t>5. </a:t>
            </a:r>
            <a:r>
              <a:rPr lang="en-US" sz="4000" dirty="0" err="1">
                <a:latin typeface="Segoe UI Black"/>
                <a:ea typeface="Segoe UI Black"/>
                <a:cs typeface="Times New Roman"/>
              </a:rPr>
              <a:t>Kết</a:t>
            </a:r>
            <a:r>
              <a:rPr lang="en-US" sz="4000" dirty="0">
                <a:latin typeface="Segoe UI Black"/>
                <a:ea typeface="Segoe UI Black"/>
                <a:cs typeface="Times New Roman"/>
              </a:rPr>
              <a:t> </a:t>
            </a:r>
            <a:r>
              <a:rPr lang="en-US" sz="4000" dirty="0" err="1">
                <a:latin typeface="Segoe UI Black"/>
                <a:ea typeface="Segoe UI Black"/>
                <a:cs typeface="Times New Roman"/>
              </a:rPr>
              <a:t>luận</a:t>
            </a:r>
            <a:r>
              <a:rPr lang="en-US" sz="4000" dirty="0">
                <a:latin typeface="Segoe UI Black"/>
                <a:ea typeface="Segoe UI Black"/>
                <a:cs typeface="Times New Roman"/>
              </a:rPr>
              <a:t> &amp; </a:t>
            </a:r>
            <a:r>
              <a:rPr lang="en-US" sz="4000" dirty="0" err="1">
                <a:latin typeface="Segoe UI Black"/>
                <a:ea typeface="Segoe UI Black"/>
                <a:cs typeface="Times New Roman"/>
              </a:rPr>
              <a:t>Hướng</a:t>
            </a:r>
            <a:r>
              <a:rPr lang="en-US" sz="4000" dirty="0">
                <a:latin typeface="Segoe UI Black"/>
                <a:ea typeface="Segoe UI Black"/>
                <a:cs typeface="Times New Roman"/>
              </a:rPr>
              <a:t> </a:t>
            </a:r>
            <a:r>
              <a:rPr lang="en-US" sz="4000" dirty="0" err="1">
                <a:latin typeface="Segoe UI Black"/>
                <a:ea typeface="Segoe UI Black"/>
                <a:cs typeface="Times New Roman"/>
              </a:rPr>
              <a:t>phát</a:t>
            </a:r>
            <a:r>
              <a:rPr lang="en-US" sz="4000" dirty="0">
                <a:latin typeface="Segoe UI Black"/>
                <a:ea typeface="Segoe UI Black"/>
                <a:cs typeface="Times New Roman"/>
              </a:rPr>
              <a:t> </a:t>
            </a:r>
            <a:r>
              <a:rPr lang="en-US" sz="4000" dirty="0" err="1">
                <a:latin typeface="Segoe UI Black"/>
                <a:ea typeface="Segoe UI Black"/>
                <a:cs typeface="Times New Roman"/>
              </a:rPr>
              <a:t>triển</a:t>
            </a:r>
            <a:endParaRPr lang="en-US" sz="4000" dirty="0" err="1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ADFE2BB-1545-56FB-3530-36A94D1DAC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vi-VN" b="1" dirty="0">
                <a:latin typeface="Tahoma"/>
                <a:ea typeface="Tahoma"/>
                <a:cs typeface="Tahoma"/>
              </a:rPr>
              <a:t>5.3. Hướng phát triển</a:t>
            </a:r>
            <a:endParaRPr lang="en-US" b="1" dirty="0">
              <a:latin typeface="Tahoma"/>
              <a:ea typeface="Tahoma"/>
              <a:cs typeface="Tahoma"/>
            </a:endParaRPr>
          </a:p>
          <a:p>
            <a:pPr lvl="1">
              <a:lnSpc>
                <a:spcPct val="100000"/>
              </a:lnSpc>
            </a:pPr>
            <a:r>
              <a:rPr lang="en-US" sz="3200" dirty="0" err="1">
                <a:latin typeface="Tahoma"/>
                <a:ea typeface="Tahoma"/>
                <a:cs typeface="Tahoma"/>
              </a:rPr>
              <a:t>Tích</a:t>
            </a:r>
            <a:r>
              <a:rPr lang="en-US" sz="3200" dirty="0">
                <a:latin typeface="Tahoma"/>
                <a:ea typeface="Tahoma"/>
                <a:cs typeface="Tahoma"/>
              </a:rPr>
              <a:t> </a:t>
            </a:r>
            <a:r>
              <a:rPr lang="en-US" sz="3200" dirty="0" err="1">
                <a:latin typeface="Tahoma"/>
                <a:ea typeface="Tahoma"/>
                <a:cs typeface="Tahoma"/>
              </a:rPr>
              <a:t>hợp</a:t>
            </a:r>
            <a:r>
              <a:rPr lang="en-US" sz="3200" dirty="0">
                <a:latin typeface="Tahoma"/>
                <a:ea typeface="Tahoma"/>
                <a:cs typeface="Tahoma"/>
              </a:rPr>
              <a:t> </a:t>
            </a:r>
            <a:r>
              <a:rPr lang="en-US" sz="3200" dirty="0" err="1">
                <a:latin typeface="Tahoma"/>
                <a:ea typeface="Tahoma"/>
                <a:cs typeface="Tahoma"/>
              </a:rPr>
              <a:t>thêm</a:t>
            </a:r>
            <a:r>
              <a:rPr lang="en-US" sz="3200" dirty="0">
                <a:latin typeface="Tahoma"/>
                <a:ea typeface="Tahoma"/>
                <a:cs typeface="Tahoma"/>
              </a:rPr>
              <a:t> </a:t>
            </a:r>
            <a:r>
              <a:rPr lang="en-US" sz="3200" dirty="0" err="1">
                <a:latin typeface="Tahoma"/>
                <a:ea typeface="Tahoma"/>
                <a:cs typeface="Tahoma"/>
              </a:rPr>
              <a:t>các</a:t>
            </a:r>
            <a:r>
              <a:rPr lang="en-US" sz="3200" dirty="0">
                <a:latin typeface="Tahoma"/>
                <a:ea typeface="Tahoma"/>
                <a:cs typeface="Tahoma"/>
              </a:rPr>
              <a:t> </a:t>
            </a:r>
            <a:r>
              <a:rPr lang="en-US" sz="3200" dirty="0" err="1">
                <a:latin typeface="Tahoma"/>
                <a:ea typeface="Tahoma"/>
                <a:cs typeface="Tahoma"/>
              </a:rPr>
              <a:t>phương</a:t>
            </a:r>
            <a:r>
              <a:rPr lang="en-US" sz="3200" dirty="0">
                <a:latin typeface="Tahoma"/>
                <a:ea typeface="Tahoma"/>
                <a:cs typeface="Tahoma"/>
              </a:rPr>
              <a:t> </a:t>
            </a:r>
            <a:r>
              <a:rPr lang="en-US" sz="3200" dirty="0" err="1">
                <a:latin typeface="Tahoma"/>
                <a:ea typeface="Tahoma"/>
                <a:cs typeface="Tahoma"/>
              </a:rPr>
              <a:t>thức</a:t>
            </a:r>
            <a:r>
              <a:rPr lang="en-US" sz="3200" dirty="0">
                <a:latin typeface="Tahoma"/>
                <a:ea typeface="Tahoma"/>
                <a:cs typeface="Tahoma"/>
              </a:rPr>
              <a:t> </a:t>
            </a:r>
            <a:r>
              <a:rPr lang="en-US" sz="3200" dirty="0" err="1">
                <a:latin typeface="Tahoma"/>
                <a:ea typeface="Tahoma"/>
                <a:cs typeface="Tahoma"/>
              </a:rPr>
              <a:t>thanh</a:t>
            </a:r>
            <a:r>
              <a:rPr lang="en-US" sz="3200" dirty="0">
                <a:latin typeface="Tahoma"/>
                <a:ea typeface="Tahoma"/>
                <a:cs typeface="Tahoma"/>
              </a:rPr>
              <a:t> </a:t>
            </a:r>
            <a:r>
              <a:rPr lang="en-US" sz="3200" dirty="0" err="1">
                <a:latin typeface="Tahoma"/>
                <a:ea typeface="Tahoma"/>
                <a:cs typeface="Tahoma"/>
              </a:rPr>
              <a:t>toán</a:t>
            </a:r>
            <a:r>
              <a:rPr lang="en-US" sz="3200" dirty="0">
                <a:latin typeface="Tahoma"/>
                <a:ea typeface="Tahoma"/>
                <a:cs typeface="Tahoma"/>
              </a:rPr>
              <a:t> </a:t>
            </a:r>
            <a:r>
              <a:rPr lang="en-US" sz="3200" dirty="0" err="1">
                <a:latin typeface="Tahoma"/>
                <a:ea typeface="Tahoma"/>
                <a:cs typeface="Tahoma"/>
              </a:rPr>
              <a:t>thực</a:t>
            </a:r>
            <a:r>
              <a:rPr lang="en-US" sz="3200" dirty="0">
                <a:latin typeface="Tahoma"/>
                <a:ea typeface="Tahoma"/>
                <a:cs typeface="Tahoma"/>
              </a:rPr>
              <a:t> </a:t>
            </a:r>
            <a:r>
              <a:rPr lang="en-US" sz="3200" dirty="0" err="1">
                <a:latin typeface="Tahoma"/>
                <a:ea typeface="Tahoma"/>
                <a:cs typeface="Tahoma"/>
              </a:rPr>
              <a:t>tế</a:t>
            </a:r>
            <a:r>
              <a:rPr lang="en-US" sz="3200" dirty="0">
                <a:latin typeface="Tahoma"/>
                <a:ea typeface="Tahoma"/>
                <a:cs typeface="Tahoma"/>
              </a:rPr>
              <a:t>.</a:t>
            </a:r>
          </a:p>
          <a:p>
            <a:pPr lvl="1">
              <a:lnSpc>
                <a:spcPct val="100000"/>
              </a:lnSpc>
            </a:pPr>
            <a:r>
              <a:rPr lang="en-US" sz="3200" dirty="0" err="1">
                <a:latin typeface="Tahoma"/>
                <a:ea typeface="Tahoma"/>
                <a:cs typeface="Tahoma"/>
              </a:rPr>
              <a:t>Thêm</a:t>
            </a:r>
            <a:r>
              <a:rPr lang="en-US" sz="3200" dirty="0">
                <a:latin typeface="Tahoma"/>
                <a:ea typeface="Tahoma"/>
                <a:cs typeface="Tahoma"/>
              </a:rPr>
              <a:t> </a:t>
            </a:r>
            <a:r>
              <a:rPr lang="en-US" sz="3200" dirty="0" err="1">
                <a:latin typeface="Tahoma"/>
                <a:ea typeface="Tahoma"/>
                <a:cs typeface="Tahoma"/>
              </a:rPr>
              <a:t>cơ</a:t>
            </a:r>
            <a:r>
              <a:rPr lang="en-US" sz="3200" dirty="0">
                <a:latin typeface="Tahoma"/>
                <a:ea typeface="Tahoma"/>
                <a:cs typeface="Tahoma"/>
              </a:rPr>
              <a:t> </a:t>
            </a:r>
            <a:r>
              <a:rPr lang="en-US" sz="3200" dirty="0" err="1">
                <a:latin typeface="Tahoma"/>
                <a:ea typeface="Tahoma"/>
                <a:cs typeface="Tahoma"/>
              </a:rPr>
              <a:t>chế</a:t>
            </a:r>
            <a:r>
              <a:rPr lang="en-US" sz="3200" dirty="0">
                <a:latin typeface="Tahoma"/>
                <a:ea typeface="Tahoma"/>
                <a:cs typeface="Tahoma"/>
              </a:rPr>
              <a:t> Load Balancing.</a:t>
            </a:r>
          </a:p>
          <a:p>
            <a:pPr lvl="1">
              <a:lnSpc>
                <a:spcPct val="100000"/>
              </a:lnSpc>
            </a:pPr>
            <a:r>
              <a:rPr lang="en-US" sz="3200" dirty="0" err="1">
                <a:latin typeface="Tahoma"/>
                <a:ea typeface="Tahoma"/>
                <a:cs typeface="Tahoma"/>
              </a:rPr>
              <a:t>Ứng</a:t>
            </a:r>
            <a:r>
              <a:rPr lang="en-US" sz="3200" dirty="0">
                <a:latin typeface="Tahoma"/>
                <a:ea typeface="Tahoma"/>
                <a:cs typeface="Tahoma"/>
              </a:rPr>
              <a:t> </a:t>
            </a:r>
            <a:r>
              <a:rPr lang="en-US" sz="3200" dirty="0" err="1">
                <a:latin typeface="Tahoma"/>
                <a:ea typeface="Tahoma"/>
                <a:cs typeface="Tahoma"/>
              </a:rPr>
              <a:t>dụng</a:t>
            </a:r>
            <a:r>
              <a:rPr lang="en-US" sz="3200" dirty="0">
                <a:latin typeface="Tahoma"/>
                <a:ea typeface="Tahoma"/>
                <a:cs typeface="Tahoma"/>
              </a:rPr>
              <a:t> Auto-scaling.</a:t>
            </a:r>
          </a:p>
          <a:p>
            <a:pPr lvl="1">
              <a:lnSpc>
                <a:spcPct val="100000"/>
              </a:lnSpc>
            </a:pPr>
            <a:r>
              <a:rPr lang="en-US" sz="3200" dirty="0">
                <a:latin typeface="Tahoma"/>
                <a:ea typeface="Tahoma"/>
                <a:cs typeface="Tahoma"/>
              </a:rPr>
              <a:t>CI/CD.</a:t>
            </a:r>
          </a:p>
          <a:p>
            <a:pPr lvl="1">
              <a:lnSpc>
                <a:spcPct val="100000"/>
              </a:lnSpc>
            </a:pPr>
            <a:r>
              <a:rPr lang="en-US" sz="3200" dirty="0" err="1">
                <a:latin typeface="Tahoma"/>
                <a:ea typeface="Tahoma"/>
                <a:cs typeface="Tahoma"/>
              </a:rPr>
              <a:t>Triển</a:t>
            </a:r>
            <a:r>
              <a:rPr lang="en-US" sz="3200" dirty="0">
                <a:latin typeface="Tahoma"/>
                <a:ea typeface="Tahoma"/>
                <a:cs typeface="Tahoma"/>
              </a:rPr>
              <a:t> </a:t>
            </a:r>
            <a:r>
              <a:rPr lang="en-US" sz="3200" dirty="0" err="1">
                <a:latin typeface="Tahoma"/>
                <a:ea typeface="Tahoma"/>
                <a:cs typeface="Tahoma"/>
              </a:rPr>
              <a:t>khai</a:t>
            </a:r>
            <a:r>
              <a:rPr lang="en-US" sz="3200" dirty="0">
                <a:latin typeface="Tahoma"/>
                <a:ea typeface="Tahoma"/>
                <a:cs typeface="Tahoma"/>
              </a:rPr>
              <a:t> </a:t>
            </a:r>
            <a:r>
              <a:rPr lang="en-US" sz="3200" dirty="0" err="1">
                <a:latin typeface="Tahoma"/>
                <a:ea typeface="Tahoma"/>
                <a:cs typeface="Tahoma"/>
              </a:rPr>
              <a:t>trên</a:t>
            </a:r>
            <a:r>
              <a:rPr lang="en-US" sz="3200" dirty="0">
                <a:latin typeface="Tahoma"/>
                <a:ea typeface="Tahoma"/>
                <a:cs typeface="Tahoma"/>
              </a:rPr>
              <a:t> ECS/ Kubernetes.</a:t>
            </a:r>
          </a:p>
          <a:p>
            <a:pPr lvl="1">
              <a:lnSpc>
                <a:spcPct val="100000"/>
              </a:lnSpc>
            </a:pPr>
            <a:r>
              <a:rPr lang="en-US" sz="3200" dirty="0">
                <a:latin typeface="Tahoma"/>
                <a:ea typeface="Tahoma"/>
                <a:cs typeface="Tahoma"/>
              </a:rPr>
              <a:t>…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13DABCB8-27C3-AF4C-417B-8D033CF8A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11FBB-F4BA-4DD2-8096-D448C12E492B}" type="datetime1">
              <a:rPr lang="en-GB" smtClean="0"/>
              <a:t>01/02/2026</a:t>
            </a:fld>
            <a:endParaRPr lang="en-GB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75233637-71C0-BBE5-6F39-86EE468AF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A52D7DC-C382-B68B-BB87-EA954948A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pPr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58584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38B16-E240-96CD-E7D5-94DE12A19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4">
            <a:extLst>
              <a:ext uri="{FF2B5EF4-FFF2-40B4-BE49-F238E27FC236}">
                <a16:creationId xmlns:a16="http://schemas.microsoft.com/office/drawing/2014/main" id="{10C77B8F-668A-6ED6-B993-829F1378F5C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47450" h="10287000">
                <a:moveTo>
                  <a:pt x="0" y="0"/>
                </a:moveTo>
                <a:lnTo>
                  <a:pt x="18247450" y="0"/>
                </a:lnTo>
                <a:lnTo>
                  <a:pt x="182474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2DD0A8A-24DE-8934-0DEB-F25F44B100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85581"/>
            <a:ext cx="9144000" cy="2387600"/>
          </a:xfrm>
        </p:spPr>
        <p:txBody>
          <a:bodyPr>
            <a:normAutofit/>
          </a:bodyPr>
          <a:lstStyle/>
          <a:p>
            <a:r>
              <a:rPr lang="en-US" sz="5400" dirty="0" err="1"/>
              <a:t>Cảm</a:t>
            </a:r>
            <a:r>
              <a:rPr lang="en-US" sz="5400" dirty="0"/>
              <a:t> </a:t>
            </a:r>
            <a:r>
              <a:rPr lang="en-US" sz="5400" dirty="0" err="1"/>
              <a:t>ơn</a:t>
            </a:r>
            <a:r>
              <a:rPr lang="en-US" sz="5400" dirty="0"/>
              <a:t> </a:t>
            </a:r>
            <a:r>
              <a:rPr lang="en-US" sz="5400" dirty="0" err="1"/>
              <a:t>Thầy</a:t>
            </a:r>
            <a:r>
              <a:rPr lang="en-US" sz="5400" dirty="0"/>
              <a:t> </a:t>
            </a:r>
            <a:r>
              <a:rPr lang="en-US" sz="5400" dirty="0" err="1"/>
              <a:t>và</a:t>
            </a:r>
            <a:br>
              <a:rPr lang="en-US" sz="5400" dirty="0"/>
            </a:br>
            <a:r>
              <a:rPr lang="en-US" sz="5400" dirty="0" err="1"/>
              <a:t>các</a:t>
            </a:r>
            <a:r>
              <a:rPr lang="en-US" sz="5400" dirty="0"/>
              <a:t> </a:t>
            </a:r>
            <a:r>
              <a:rPr lang="en-US" sz="5400" dirty="0" err="1"/>
              <a:t>bạn</a:t>
            </a:r>
            <a:r>
              <a:rPr lang="en-US" sz="5400" dirty="0"/>
              <a:t> </a:t>
            </a:r>
            <a:r>
              <a:rPr lang="en-US" sz="5400" dirty="0" err="1"/>
              <a:t>đã</a:t>
            </a:r>
            <a:r>
              <a:rPr lang="en-US" sz="5400" dirty="0"/>
              <a:t> </a:t>
            </a:r>
            <a:r>
              <a:rPr lang="en-US" sz="5400" dirty="0" err="1"/>
              <a:t>lắng</a:t>
            </a:r>
            <a:r>
              <a:rPr lang="en-US" sz="5400" dirty="0"/>
              <a:t> </a:t>
            </a:r>
            <a:r>
              <a:rPr lang="en-US" sz="5400" dirty="0" err="1"/>
              <a:t>nghe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623190242"/>
      </p:ext>
    </p:extLst>
  </p:cSld>
  <p:clrMapOvr>
    <a:masterClrMapping/>
  </p:clrMapOvr>
</p:sld>
</file>

<file path=ppt/theme/theme1.xml><?xml version="1.0" encoding="utf-8"?>
<a:theme xmlns:a="http://schemas.openxmlformats.org/drawingml/2006/main" name="UTH-Slide-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TH-Slide-Theme" id="{2763F190-FCB6-4FC7-BA38-A1E39173AA87}" vid="{E1D9DFA4-F8AD-4E2F-9982-D367BC00A6B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2C01F76A52D0C458BB16892D6C661AC" ma:contentTypeVersion="15" ma:contentTypeDescription="Create a new document." ma:contentTypeScope="" ma:versionID="bebed324dfa382a946df0ae8981e915d">
  <xsd:schema xmlns:xsd="http://www.w3.org/2001/XMLSchema" xmlns:xs="http://www.w3.org/2001/XMLSchema" xmlns:p="http://schemas.microsoft.com/office/2006/metadata/properties" xmlns:ns3="3ece0d0f-b473-407a-94f1-b78eb9e7751c" xmlns:ns4="45f85f0f-1f91-4440-8eeb-13d6d114e7bf" targetNamespace="http://schemas.microsoft.com/office/2006/metadata/properties" ma:root="true" ma:fieldsID="30914364830973e47d7c78a93a202bae" ns3:_="" ns4:_="">
    <xsd:import namespace="3ece0d0f-b473-407a-94f1-b78eb9e7751c"/>
    <xsd:import namespace="45f85f0f-1f91-4440-8eeb-13d6d114e7b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  <xsd:element ref="ns3:_activity" minOccurs="0"/>
                <xsd:element ref="ns3:MediaServiceSystemTag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ce0d0f-b473-407a-94f1-b78eb9e7751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SystemTags" ma:index="18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f85f0f-1f91-4440-8eeb-13d6d114e7bf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ece0d0f-b473-407a-94f1-b78eb9e7751c" xsi:nil="true"/>
  </documentManagement>
</p:properties>
</file>

<file path=customXml/itemProps1.xml><?xml version="1.0" encoding="utf-8"?>
<ds:datastoreItem xmlns:ds="http://schemas.openxmlformats.org/officeDocument/2006/customXml" ds:itemID="{4DF5A4A8-22B0-4845-B486-7E02D5DFFE40}">
  <ds:schemaRefs>
    <ds:schemaRef ds:uri="3ece0d0f-b473-407a-94f1-b78eb9e7751c"/>
    <ds:schemaRef ds:uri="45f85f0f-1f91-4440-8eeb-13d6d114e7b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273A9B56-9AA8-463B-ABE9-4BC17DF695E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C66CB2C-136A-47E6-A31C-A8D07B0C9CB5}">
  <ds:schemaRefs>
    <ds:schemaRef ds:uri="3ece0d0f-b473-407a-94f1-b78eb9e7751c"/>
    <ds:schemaRef ds:uri="45f85f0f-1f91-4440-8eeb-13d6d114e7b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UTH-Slide-Theme</Template>
  <TotalTime>241</TotalTime>
  <Words>1249</Words>
  <Application>Microsoft Office PowerPoint</Application>
  <PresentationFormat>Widescreen</PresentationFormat>
  <Paragraphs>179</Paragraphs>
  <Slides>24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Aptos</vt:lpstr>
      <vt:lpstr>Arial</vt:lpstr>
      <vt:lpstr>Calibri</vt:lpstr>
      <vt:lpstr>Segoe UI Black</vt:lpstr>
      <vt:lpstr>Tahoma</vt:lpstr>
      <vt:lpstr>Times New Roman</vt:lpstr>
      <vt:lpstr>Wingdings</vt:lpstr>
      <vt:lpstr>UTH-Slide-Theme</vt:lpstr>
      <vt:lpstr>Triển khai hệ thống quản lý  xe VinFast trên nền tảng AWS (Car Management System –  Cloud Deployment on AWS)</vt:lpstr>
      <vt:lpstr>THÀNH VIÊN NHÓM 01</vt:lpstr>
      <vt:lpstr>NỘI DUNG</vt:lpstr>
      <vt:lpstr>01. GIỚI THIỆU DỰ ÁN &amp; KIẾN TRÚC TỔNG QUAN</vt:lpstr>
      <vt:lpstr>1. Giới thiệu dự án &amp; kiến trúc tổng quan</vt:lpstr>
      <vt:lpstr>1. Giới thiệu dự án &amp; kiến trúc tổng quan</vt:lpstr>
      <vt:lpstr>1. Giới thiệu dự án &amp; kiến trúc tổng quan</vt:lpstr>
      <vt:lpstr>02. HẠ TẦNG CLOUD &amp; DOCKER</vt:lpstr>
      <vt:lpstr>2. Hạ tầng Cloud &amp; Docker</vt:lpstr>
      <vt:lpstr>2. Hạ tầng Cloud &amp; Docker</vt:lpstr>
      <vt:lpstr>2. Hạ tầng Cloud &amp; Docker</vt:lpstr>
      <vt:lpstr>2. Hạ tầng Cloud &amp; Docker</vt:lpstr>
      <vt:lpstr>03. TRIỂN KHAI FONTEND – BACKEND – DATABASE</vt:lpstr>
      <vt:lpstr>3. Triển khai Backend, Frontend, Database</vt:lpstr>
      <vt:lpstr>PowerPoint Presentation</vt:lpstr>
      <vt:lpstr>3. Triển khai Backend, Frontend, Database</vt:lpstr>
      <vt:lpstr>PowerPoint Presentation</vt:lpstr>
      <vt:lpstr>04. KIỂM THỬ &amp;  VẬN HÀNH HỆ THỐNG</vt:lpstr>
      <vt:lpstr>4. Kiểm thử &amp; vận hành hệ thống</vt:lpstr>
      <vt:lpstr>05. KẾT LUẬN &amp;  HƯỚNG PHÁT TRIỂN</vt:lpstr>
      <vt:lpstr>5. Kết luận &amp; Hướng phát triển</vt:lpstr>
      <vt:lpstr>5. Kết luận &amp; Hướng phát triển</vt:lpstr>
      <vt:lpstr>5. Kết luận &amp; Hướng phát triển</vt:lpstr>
      <vt:lpstr>Cảm ơn Thầy và các bạn đã lắng nghe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SỬ DỤNG CÔNG CỤ CLAUDE SONNET HỖ TRỢ XÂY DỰNG  ỨNG DỤNG DIỄN ĐÀN CHIA SẺ SÁCH</dc:title>
  <dc:creator>Huỳnh Nguyễn Quốc Bảo-CN22CLCA</dc:creator>
  <cp:lastModifiedBy>Bảo Trần</cp:lastModifiedBy>
  <cp:revision>513</cp:revision>
  <dcterms:created xsi:type="dcterms:W3CDTF">2025-05-11T04:36:26Z</dcterms:created>
  <dcterms:modified xsi:type="dcterms:W3CDTF">2026-02-01T15:42:52Z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0x01010092C01F76A52D0C458BB16892D6C661AC</vt:lpwstr>
  </property>
</Properties>
</file>