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61" r:id="rId2"/>
    <p:sldId id="1864" r:id="rId3"/>
    <p:sldId id="1865" r:id="rId4"/>
    <p:sldId id="1858" r:id="rId5"/>
    <p:sldId id="1873" r:id="rId6"/>
    <p:sldId id="1868" r:id="rId7"/>
    <p:sldId id="1869" r:id="rId8"/>
    <p:sldId id="1874" r:id="rId9"/>
    <p:sldId id="1875" r:id="rId10"/>
    <p:sldId id="1876" r:id="rId11"/>
    <p:sldId id="1877" r:id="rId12"/>
    <p:sldId id="1870" r:id="rId13"/>
    <p:sldId id="1878" r:id="rId14"/>
    <p:sldId id="1880" r:id="rId15"/>
    <p:sldId id="1879" r:id="rId16"/>
    <p:sldId id="1881" r:id="rId17"/>
    <p:sldId id="1871" r:id="rId18"/>
    <p:sldId id="1866" r:id="rId19"/>
    <p:sldId id="1867" r:id="rId20"/>
    <p:sldId id="1872" r:id="rId21"/>
    <p:sldId id="1883" r:id="rId22"/>
    <p:sldId id="1882" r:id="rId23"/>
    <p:sldId id="267" r:id="rId2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0" autoAdjust="0"/>
    <p:restoredTop sz="93988" autoAdjust="0"/>
  </p:normalViewPr>
  <p:slideViewPr>
    <p:cSldViewPr snapToGrid="0">
      <p:cViewPr varScale="1">
        <p:scale>
          <a:sx n="112" d="100"/>
          <a:sy n="112" d="100"/>
        </p:scale>
        <p:origin x="82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en.wikipedia.org/wiki/Object_detec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illiz.com/learn/what-is-object-detec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rekognition/latest/dg/images-displaying-bounding-boxes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bellerr.com/blog/why-do-autonomous-vehicles-need-object-detection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deos.cctvcamerapros.com/v/ai-security-camera-object-detection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306-5354/10/7/80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augmentedstartups.com/blog/what-is-object-recognition-a-comprehensive-guide-to-visual-percepti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bject_detectio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bject_detection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tutorial/precision-recall-curve-tutoria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abellerr.com/blog/why-do-autonomous-vehicles-need-object-detection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040" y="2762804"/>
            <a:ext cx="8579899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200" b="1" dirty="0"/>
              <a:t>2D Object Detection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05-2025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841DC-C270-1014-A528-2868BCFE061E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Object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378743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C8266-EEFB-CE51-DACE-C16C612B8FF0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Object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81817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58FE-5B4B-B416-3AF2-CBD56F33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9585-3013-C327-F7DC-5C9EFD68922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Introduction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98F24-3C73-4577-E13A-592DD7931BE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B620D-37E8-2A7E-0827-ED7D3A34DAD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Object detection is a computer vision technique that identifies and localizes objects within images or videos.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112E7-B73B-0405-9EE7-1C06F4D7AA0E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https://en.wikipedia.org/wiki/Object_detection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C8942-8D5F-89C6-233D-D5CD1D691F19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Object detection not only identifies objects but also determines their precise location within the image using bounding boxes.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302E85-E7EE-E6BD-B52A-8D57B8756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8" y="2774484"/>
            <a:ext cx="5326352" cy="342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CF259B0A-7CA9-FBBB-3C68-D299FE38D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738" y="2774484"/>
            <a:ext cx="6058921" cy="342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31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B216-34E4-47C4-040D-35F6B0D3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A493AC-25AE-6E70-FDE6-FF03300BD4CE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Introduction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F6573-A31E-EC3F-2E10-C1957DD3032A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31E7865-071D-EAD7-B3A8-9EE3480A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719" y="965192"/>
            <a:ext cx="6504562" cy="271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A0D8A8-33A7-F31D-2264-DC9CF09C1703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https://zilliz.com/learn/what-is-object-detection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3078" name="Picture 6" descr="Output">
            <a:extLst>
              <a:ext uri="{FF2B5EF4-FFF2-40B4-BE49-F238E27FC236}">
                <a16:creationId xmlns:a16="http://schemas.microsoft.com/office/drawing/2014/main" id="{66374813-AEAB-4251-D02F-447AA4BF3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086" y="3786718"/>
            <a:ext cx="6443827" cy="267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15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20DA-180D-7EFB-5E68-5E41B928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54FFE6-69E0-6CBC-8E89-DD505A670E8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Key Components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C4244-95AA-1743-F4F9-036DDDE51A79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ACFEE-A295-6A3C-5E3A-D7D0E836D807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Classification</a:t>
            </a:r>
            <a:r>
              <a:rPr lang="en-US" altLang="ko-KR" sz="2000" dirty="0"/>
              <a:t>: Identifying </a:t>
            </a:r>
            <a:r>
              <a:rPr lang="en-US" altLang="ko-KR" sz="2000" i="1" dirty="0"/>
              <a:t>what</a:t>
            </a:r>
            <a:r>
              <a:rPr lang="en-US" altLang="ko-KR" sz="2000" dirty="0"/>
              <a:t> the object is.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0A18F-B658-25AC-61D7-0DC67CD9A47F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Localization</a:t>
            </a:r>
            <a:r>
              <a:rPr lang="en-US" altLang="ko-KR" sz="2000" dirty="0"/>
              <a:t>: Finding </a:t>
            </a:r>
            <a:r>
              <a:rPr lang="en-US" altLang="ko-KR" sz="2000" i="1" dirty="0"/>
              <a:t>where</a:t>
            </a:r>
            <a:r>
              <a:rPr lang="en-US" altLang="ko-KR" sz="2000" dirty="0"/>
              <a:t> the object is.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3A45B-E0B9-C250-2A9C-9ED883FEADEC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Bounding boxes </a:t>
            </a:r>
            <a:r>
              <a:rPr lang="en-US" altLang="ko-KR" sz="2000" dirty="0"/>
              <a:t>are drawn around objects of interest in images.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2050" name="Picture 2" descr="Displaying bounding boxes - Amazon Rekognition">
            <a:extLst>
              <a:ext uri="{FF2B5EF4-FFF2-40B4-BE49-F238E27FC236}">
                <a16:creationId xmlns:a16="http://schemas.microsoft.com/office/drawing/2014/main" id="{0ADA1F20-948E-415C-A3DD-891AF517A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470" y="2779466"/>
            <a:ext cx="3413600" cy="341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395436-4D6F-D58B-C49F-2B6A128E5DAA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https://docs.aws.amazon.com/rekognition/latest/dg/images-displaying-bounding-boxes.html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334594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40D2-A546-3DEF-99A8-53EC9D4F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7AC81-F58A-34C0-C8C7-E5006D04482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5A265-D9BB-30D2-2D02-2F62A47CF987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BA7FC-BE1C-C182-DD45-682DB82E2159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Autonomous vehicles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BEECC-7BA8-0EBC-8FBA-4E11B011E9CF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Surveillance and security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1245E4-6696-79AA-E57A-E839A16A5754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Medical imaging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B673C-389E-48D9-C9AA-ABADB60703AB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Augmented reality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33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B90B2-016D-8EB5-8B32-8FCEA8F9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B54E09-75B6-E39A-C30D-0E79D9AA02B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9AADA-D364-476D-C42D-C18B64ED342E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3BEAF-B8E0-A4F9-15C6-CBA43404A88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Autonomous vehicles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7C8CCC-0008-1B92-D623-C24702DCB37B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Surveillance and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E9155-402E-32D8-F7A4-7AA43269202D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Medical imaging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9BCAB-836E-D14F-B3A0-446ABBFE8602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Augmented reality</a:t>
            </a:r>
          </a:p>
        </p:txBody>
      </p:sp>
      <p:pic>
        <p:nvPicPr>
          <p:cNvPr id="4098" name="Picture 2" descr="Object Detection: The Process Behind Autonomous Vehicle Tech">
            <a:extLst>
              <a:ext uri="{FF2B5EF4-FFF2-40B4-BE49-F238E27FC236}">
                <a16:creationId xmlns:a16="http://schemas.microsoft.com/office/drawing/2014/main" id="{9466EE4F-2E3E-2566-509D-D237F311F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610" y="1519839"/>
            <a:ext cx="7461859" cy="419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FE2B0-8ED2-8219-CE63-8277F33C5BDC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https://www.labellerr.com/blog/why-do-autonomous-vehicles-need-object-detection/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3156692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D0C2-1025-EEBB-C9F7-D099259F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8B5381-C354-5016-5731-A0D65A79936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E93E8-A57F-F075-AFD0-509645CCF6D5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E49B8-05D3-2448-ADE2-8F6480F901A6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Autonomous vehicles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A403F9-D475-500F-761D-F2DA03A441C3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Surveillance and security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2586A-6DB7-F051-14B0-DD7DE37145C7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Medical imaging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76749-C8B6-935C-DBD9-ADE70FC87AA7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Augmented reality</a:t>
            </a:r>
          </a:p>
        </p:txBody>
      </p:sp>
      <p:pic>
        <p:nvPicPr>
          <p:cNvPr id="4100" name="Picture 4" descr="AI Security Camera System Real-Time Object Detection Display">
            <a:extLst>
              <a:ext uri="{FF2B5EF4-FFF2-40B4-BE49-F238E27FC236}">
                <a16:creationId xmlns:a16="http://schemas.microsoft.com/office/drawing/2014/main" id="{65A8F839-A02C-BF1C-235B-452723834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610" y="1519839"/>
            <a:ext cx="7461859" cy="419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5A494-F198-B86E-B946-D5902239CBEB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https://videos.cctvcamerapros.com/v/ai-security-camera-object-detection.html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372904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9D772-DE55-A4FE-3610-DAEBE9F7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D347FD-8027-980E-E173-55825E57A78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093B0-437F-5C1C-84CE-C5A5295004DE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895F2-E119-718F-A4A2-8BFB7FECE59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Autonomous vehicles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6D9176-B487-E806-7383-BCF074F6B9BC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Surveillance and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E0FE3-F77D-24E1-6875-8C2979EA08AE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Medical imaging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030DF-0D17-0266-259C-F2A4778D7C0E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Augmented reality</a:t>
            </a:r>
          </a:p>
        </p:txBody>
      </p:sp>
      <p:pic>
        <p:nvPicPr>
          <p:cNvPr id="6" name="Picture 2" descr="Performance Comparison of Object Detection Networks for Shrapnel  Identification in Ultrasound Images">
            <a:extLst>
              <a:ext uri="{FF2B5EF4-FFF2-40B4-BE49-F238E27FC236}">
                <a16:creationId xmlns:a16="http://schemas.microsoft.com/office/drawing/2014/main" id="{A057F3AC-BD66-CFA4-DE05-650F5FD97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610" y="1519839"/>
            <a:ext cx="7459406" cy="250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A0612-0208-5C6A-AAFB-C497AB4568D2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https://www.mdpi.com/2306-5354/10/7/807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1791757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D675-6616-489E-F4EC-01B027F3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1A77B4-60B7-03EE-F0C7-C98CB5CD6F0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Applications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5A0E-48CE-1133-3861-49E120B184C5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43C54-7E3F-4423-026E-66163FEC5BFD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Autonomous vehicles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F3B4BF-9C09-28A3-86FE-488579E6A5AD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Surveillance and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95562-5488-D9DC-77D2-AACB68C68F66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</a:rPr>
              <a:t>- Medical imaging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34449-D7E5-9D03-C9ED-3F9B6714E27D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Augmented reality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1220B-4260-1D11-2B97-18A3FC97DEF8}"/>
              </a:ext>
            </a:extLst>
          </p:cNvPr>
          <p:cNvSpPr txBox="1"/>
          <p:nvPr/>
        </p:nvSpPr>
        <p:spPr>
          <a:xfrm>
            <a:off x="34184" y="6493808"/>
            <a:ext cx="10605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2"/>
              </a:rPr>
              <a:t>https://www.augmentedstartups.com/blog/what-is-object-recognition-a-comprehensive-guide-to-visual-perception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8" name="Picture 2" descr="What is Object Recognition? A Comprehensive Guide to Visual Perception">
            <a:extLst>
              <a:ext uri="{FF2B5EF4-FFF2-40B4-BE49-F238E27FC236}">
                <a16:creationId xmlns:a16="http://schemas.microsoft.com/office/drawing/2014/main" id="{B4B31086-B7E0-FAE7-0332-157EA0CD8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"/>
          <a:stretch/>
        </p:blipFill>
        <p:spPr bwMode="auto">
          <a:xfrm>
            <a:off x="3939609" y="1521825"/>
            <a:ext cx="7461860" cy="419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34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A846-729E-27B5-9F51-CC5285EB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A7F6A7-C307-6E88-9130-CB7087ADE3E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Evaluation Metrics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61E53-C65F-93F9-84BA-88EA23DE01EC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216342-CB08-FD5D-3914-66BFA791E9C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IoU (Intersection over Union)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3B80E-7475-76F5-3911-3C64596D4CCF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mAP (mean Average Precision)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5F49A-E48F-D972-1216-379A6F20BC71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Precision, Recall, F1-score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486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5430-3441-940D-8EF0-6EF4D507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6BD87-049D-5A2A-4B74-7D9E23669BB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IoU (Intersection over Union)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C2BC2-ED5B-09A7-3662-B4A0745D5AAA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6898AB9-6424-A5E2-E8B2-E809D9864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329" y="2461957"/>
            <a:ext cx="4417515" cy="344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953C6C-9E6E-2B51-A58C-EDD8EEAE4D82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IoU is achieved by quantifying the degree of intersection of two boxes which are the true box (ground truth) and the predicted box.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DAC28-487C-CA96-BABB-B343A23567E0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https://en.wikipedia.org/wiki/Object_detection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4D06B1C5-DB7F-CBDC-54ED-D0BBE812A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35" y="2502404"/>
            <a:ext cx="4486357" cy="336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401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B3C0-4660-D9D1-C7B0-BF6A20D4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15A1A0-FE4C-1FF1-96F1-CB7B93140FE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IoU (Intersection over Union)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FB688-2206-A8EC-2B74-C19ACCA80F7E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BF714AAD-E6AF-2A2E-E262-2EFA36FDA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49" y="3337691"/>
            <a:ext cx="5834102" cy="241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087CF5-C032-B8D3-9021-B0660D0DCF08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If IoU ≥ threshold → the predicted box = true positive. 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E5CB1-4863-89A0-8C76-7377E9AE88E5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https://en.wikipedia.org/wiki/Object_detection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4FAEBB-BA05-A753-14F3-D58A7C710B42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If IoU &lt; threshold → the predicted box = false positive. 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39EAC-E211-DAFC-CE4B-F70027E040F2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If a true object is not detected → the ground truth label has a false negative.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9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1A5D8-0DA0-93BC-3E32-1665C62F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EA12DF-B1FA-CDF7-07DD-22F7CFD8887D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mAP (mean Average Precision)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A6A3C-3193-4C72-3F50-2AE758032C13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C36F2-882A-7357-71E7-97855F5F893F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Simultaneous object localization and classification is benchmarked by the mean average precision (mAP).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B3F55-6E4D-0A9F-1D60-1F3BDFE8374D}"/>
              </a:ext>
            </a:extLst>
          </p:cNvPr>
          <p:cNvSpPr txBox="1"/>
          <p:nvPr/>
        </p:nvSpPr>
        <p:spPr>
          <a:xfrm>
            <a:off x="191115" y="179278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The average precision (AP) for a class of objects is the area under the precision-recall curve as the IoU threshold is varied. The mAP is the average of AP over all classes.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5CD479-3DE6-6948-4BE0-C5B77609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93" y="2635352"/>
            <a:ext cx="6913548" cy="37094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036E5C-06CD-C919-3DCF-FA5E86B4080B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https://www.datacamp.com/tutorial/precision-recall-curve-tutorial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</p:spTree>
    <p:extLst>
      <p:ext uri="{BB962C8B-B14F-4D97-AF65-F5344CB8AC3E}">
        <p14:creationId xmlns:p14="http://schemas.microsoft.com/office/powerpoint/2010/main" val="1268496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BDCD-EA2F-DC89-FEB1-791C0AF3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DFC3B7-4F13-1342-C7B7-279F3CF5834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Precision, Recall, F1-score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1286B-D2B6-8731-859A-7CB608DFE1BA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D8D90-E7B6-20F2-8227-4670965C40F4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Precision measures how accurate is your predictions.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9218" name="Picture 2" descr="mAP (mean Average Precision) for Object Detection | by Jonathan Hui | Medium">
            <a:extLst>
              <a:ext uri="{FF2B5EF4-FFF2-40B4-BE49-F238E27FC236}">
                <a16:creationId xmlns:a16="http://schemas.microsoft.com/office/drawing/2014/main" id="{2A6C9120-45A5-9B62-62A9-7E1F58126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502" y="2947945"/>
            <a:ext cx="6622079" cy="251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171B0F-C4AA-2DE2-BB9E-38198F3C379D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Recall measures how good you find all the positives.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594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E807E-C63F-9A55-9E49-BCD9AAD5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6970E9-F267-320E-AA01-ED1445A00FE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Challenges 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AB696-F2BD-EF62-AF5F-1D99D2A57CF0}"/>
              </a:ext>
            </a:extLst>
          </p:cNvPr>
          <p:cNvSpPr txBox="1"/>
          <p:nvPr/>
        </p:nvSpPr>
        <p:spPr>
          <a:xfrm>
            <a:off x="109348" y="407788"/>
            <a:ext cx="5635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Object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9E02A-E9B6-434B-FEEA-C5DD3198E9D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Scale and Complexity</a:t>
            </a:r>
            <a:r>
              <a:rPr lang="en-US" altLang="ko-KR" sz="2000" dirty="0"/>
              <a:t>: The number of objects in the world is vast, and the complexity of their appearances makes it challenging to create comprehensive object recognition models.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6AE4D-D556-49BA-003C-609F5A1AB474}"/>
              </a:ext>
            </a:extLst>
          </p:cNvPr>
          <p:cNvSpPr txBox="1"/>
          <p:nvPr/>
        </p:nvSpPr>
        <p:spPr>
          <a:xfrm>
            <a:off x="191115" y="2100559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Real-time Processing</a:t>
            </a:r>
            <a:r>
              <a:rPr lang="en-US" altLang="ko-KR" sz="2000" dirty="0"/>
              <a:t>: In many applications, real-time object recognition is crucial. Achieving fast and efficient processing while maintaining accuracy is a significant challenge.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1F9C7-7D58-083A-8639-68A482C56688}"/>
              </a:ext>
            </a:extLst>
          </p:cNvPr>
          <p:cNvSpPr txBox="1"/>
          <p:nvPr/>
        </p:nvSpPr>
        <p:spPr>
          <a:xfrm>
            <a:off x="191115" y="2808445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Large-scale Datasets</a:t>
            </a:r>
            <a:r>
              <a:rPr lang="en-US" altLang="ko-KR" sz="2000" dirty="0"/>
              <a:t>: Building robust object recognition models requires extensive labeled datasets, which can be time-consuming and costly to create.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7F244-8F02-DBF8-9CD6-E2108E0CAF29}"/>
              </a:ext>
            </a:extLst>
          </p:cNvPr>
          <p:cNvSpPr txBox="1"/>
          <p:nvPr/>
        </p:nvSpPr>
        <p:spPr>
          <a:xfrm>
            <a:off x="191115" y="3516331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altLang="ko-KR" sz="2000" b="1" dirty="0"/>
              <a:t>Adaptability</a:t>
            </a:r>
            <a:r>
              <a:rPr lang="en-US" altLang="ko-KR" sz="2000" dirty="0"/>
              <a:t>: Object recognition systems should be adaptable to new objects, scenarios, or environments without requiring extensive retraining.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483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C274A-1150-4408-2080-82D0284ABF9A}"/>
              </a:ext>
            </a:extLst>
          </p:cNvPr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Object Detection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2881932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6A4C-8FD0-DEFE-C82B-2D551155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6D7C7D-7641-37E7-1284-F056C743283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Evolution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7B55F-A7E5-FE92-735A-FE57B27E35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Algorithms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26CF8-D05D-7409-0F24-2E0BDC75717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From traditional methods to deep learning.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2290" name="Picture 2" descr="How Object Detection Evolved (Part 1) | by Andrii Polukhin | Medium">
            <a:extLst>
              <a:ext uri="{FF2B5EF4-FFF2-40B4-BE49-F238E27FC236}">
                <a16:creationId xmlns:a16="http://schemas.microsoft.com/office/drawing/2014/main" id="{B90C2635-F84F-D8AC-63F6-16C7EA0C0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84716"/>
            <a:ext cx="12192000" cy="390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145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8F4F-FA6F-4788-102C-E8BEDE2C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4DF130-15A7-A169-08D6-CC8DBA1D51E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Types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9D38E-A392-8E77-F09B-C01D79659FF0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Algorithms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7DE9CD-3890-23D2-E33A-9AA9C73C1AF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Traditional pipeline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DCDC8-BFB1-EE63-F209-ABF4B87EC002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Deep learning-based methods: SSD, YOLO, R-CNN, Faster R-CNN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86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5AC6-D08F-9A36-FE7D-5575A29B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F8571E-5437-8C5B-39AA-2E178B5D13D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Traditional Pipeline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6F367-8720-5203-9E07-0C0B1DBE1805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Algorithms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FF8A6-03BF-D586-72CD-157AA3EEFD30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Pre-processing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B5E97-5CE7-6785-E708-ECA0FC4EB8AD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Region of interest extraction (ROI): Sliding Window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1D00B-59CD-DB78-75D1-DC894E57C4CB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Object classification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3314" name="Picture 2" descr="Sliding Window Approach">
            <a:extLst>
              <a:ext uri="{FF2B5EF4-FFF2-40B4-BE49-F238E27FC236}">
                <a16:creationId xmlns:a16="http://schemas.microsoft.com/office/drawing/2014/main" id="{1C0C7090-A9F6-C766-A69A-88C716C73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506" y="3291686"/>
            <a:ext cx="3186719" cy="228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OI Extraction and Object Classification">
            <a:extLst>
              <a:ext uri="{FF2B5EF4-FFF2-40B4-BE49-F238E27FC236}">
                <a16:creationId xmlns:a16="http://schemas.microsoft.com/office/drawing/2014/main" id="{FDF56407-AAD4-6C30-F21D-9431AA46B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306" y="2641514"/>
            <a:ext cx="4982377" cy="358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566B4725-7825-6B6E-96E1-5C4E2B83C9CE}"/>
              </a:ext>
            </a:extLst>
          </p:cNvPr>
          <p:cNvSpPr/>
          <p:nvPr/>
        </p:nvSpPr>
        <p:spPr>
          <a:xfrm>
            <a:off x="5594529" y="4290297"/>
            <a:ext cx="461473" cy="2828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6E48D-6559-17A6-86E5-9126BAAC345C}"/>
              </a:ext>
            </a:extLst>
          </p:cNvPr>
          <p:cNvSpPr txBox="1"/>
          <p:nvPr/>
        </p:nvSpPr>
        <p:spPr>
          <a:xfrm>
            <a:off x="34184" y="6493808"/>
            <a:ext cx="10113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4"/>
              </a:rPr>
              <a:t>https://www.labellerr.com/blog/why-do-autonomous-vehicles-need-object-detection/</a:t>
            </a:r>
            <a:r>
              <a:rPr lang="en-US" altLang="ko-KR" sz="1600" dirty="0"/>
              <a:t> </a:t>
            </a:r>
            <a:endParaRPr lang="en-US" altLang="ko-KR" sz="1600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63980-B52E-5F70-7566-3BEFFB047577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Refinement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61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646E-2466-9DC5-8C20-450FD9FC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7B451D-AD8D-5575-3BA2-53502DF4530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YOLO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BFDB8-AAE6-35DE-3649-B397C5AFAA08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Algorithms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459B1-F20A-2953-9316-D5C9D0BF0B94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YOLOv1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68B6F-E852-51F0-CF8C-1244D54542AB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YOLOv2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28FF3-5B57-97D6-34BC-8E3ED2ECBF57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YOLOv3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91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114564</TotalTime>
  <Words>720</Words>
  <Application>Microsoft Office PowerPoint</Application>
  <PresentationFormat>Widescreen</PresentationFormat>
  <Paragraphs>111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Linux Libertine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6589</cp:revision>
  <cp:lastPrinted>2021-09-06T03:39:39Z</cp:lastPrinted>
  <dcterms:created xsi:type="dcterms:W3CDTF">2020-10-10T03:17:57Z</dcterms:created>
  <dcterms:modified xsi:type="dcterms:W3CDTF">2025-05-04T18:29:05Z</dcterms:modified>
</cp:coreProperties>
</file>