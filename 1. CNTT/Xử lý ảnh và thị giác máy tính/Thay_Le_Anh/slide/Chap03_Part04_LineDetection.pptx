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61" r:id="rId2"/>
    <p:sldId id="331" r:id="rId3"/>
    <p:sldId id="1852" r:id="rId4"/>
    <p:sldId id="1847" r:id="rId5"/>
    <p:sldId id="1874" r:id="rId6"/>
    <p:sldId id="1871" r:id="rId7"/>
    <p:sldId id="1873" r:id="rId8"/>
    <p:sldId id="1875" r:id="rId9"/>
    <p:sldId id="1876" r:id="rId10"/>
    <p:sldId id="1870" r:id="rId11"/>
    <p:sldId id="1872" r:id="rId12"/>
    <p:sldId id="1877" r:id="rId13"/>
    <p:sldId id="1878" r:id="rId14"/>
    <p:sldId id="1853" r:id="rId15"/>
    <p:sldId id="1858" r:id="rId16"/>
    <p:sldId id="1879" r:id="rId17"/>
    <p:sldId id="1880" r:id="rId18"/>
    <p:sldId id="1881" r:id="rId19"/>
    <p:sldId id="1882" r:id="rId20"/>
    <p:sldId id="1883" r:id="rId21"/>
    <p:sldId id="1884" r:id="rId22"/>
    <p:sldId id="1885" r:id="rId23"/>
    <p:sldId id="1804" r:id="rId24"/>
    <p:sldId id="267" r:id="rId25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0" autoAdjust="0"/>
    <p:restoredTop sz="93988" autoAdjust="0"/>
  </p:normalViewPr>
  <p:slideViewPr>
    <p:cSldViewPr snapToGrid="0">
      <p:cViewPr varScale="1">
        <p:scale>
          <a:sx n="112" d="100"/>
          <a:sy n="112" d="100"/>
        </p:scale>
        <p:origin x="82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ine_detec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man.hubwiz.com/docset/Scikit-image.docset/Contents/Resources/Documents/auto_examples/edges/plot_line_hough_transform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homepages.inf.ed.ac.uk/rbf/HIPR2/linedet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Hanqer/deep-hough-transfor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autonomous.ai/blog/lane-detection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ckoverflow.com/questions/45322630/how-to-detect-lines-in-opencv" TargetMode="Externa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openaccess.thecvf.com/content_ICCV_2017/papers/Lee_Semantic_Line_Detection_ICCV_2017_paper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er.com/topics/hough-transform-in-image-processing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vincmazet.github.io/bip/detection/line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vincmazet.github.io/bip/detection/line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vincmazet.github.io/bip/detection/lines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vincmazet.github.io/bip/detection/lines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vincmazet.github.io/bip/detection/lines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vincmazet.github.io/bip/detection/lines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lo.br/j/tema/a/FD5MHcLjMVpcZdJLVBmscBC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6040" y="2762804"/>
            <a:ext cx="8579899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Line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9B116-55C3-657B-AF0B-0849FBE9CC15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Line Detection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Hough Transform</a:t>
            </a:r>
          </a:p>
        </p:txBody>
      </p:sp>
    </p:spTree>
    <p:extLst>
      <p:ext uri="{BB962C8B-B14F-4D97-AF65-F5344CB8AC3E}">
        <p14:creationId xmlns:p14="http://schemas.microsoft.com/office/powerpoint/2010/main" val="187719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4AC4-6079-EE71-595E-80801C0C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1D148-9613-DC33-1F2A-E8BFC06C455E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Line Detection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Hough Transform</a:t>
            </a:r>
          </a:p>
        </p:txBody>
      </p:sp>
    </p:spTree>
    <p:extLst>
      <p:ext uri="{BB962C8B-B14F-4D97-AF65-F5344CB8AC3E}">
        <p14:creationId xmlns:p14="http://schemas.microsoft.com/office/powerpoint/2010/main" val="147922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8852-3CC6-1C3C-8A6F-55A92BF5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14691F-470B-1194-598C-4D974753952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Concept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77E23-6924-089B-5AC5-F76D9E8BDF5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BAF3C-714B-C558-873B-C881AB91328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 image processing, line detection is an algorithm that takes a collection of n edge points and finds all the lines on which these edge points lie.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Deep Hough-Transform Line Priors | Papers With Code">
            <a:extLst>
              <a:ext uri="{FF2B5EF4-FFF2-40B4-BE49-F238E27FC236}">
                <a16:creationId xmlns:a16="http://schemas.microsoft.com/office/drawing/2014/main" id="{7BF5B1E7-2519-36DE-D30D-F0A72E1DE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199" y="2718296"/>
            <a:ext cx="3289394" cy="328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e Segment Detector">
            <a:extLst>
              <a:ext uri="{FF2B5EF4-FFF2-40B4-BE49-F238E27FC236}">
                <a16:creationId xmlns:a16="http://schemas.microsoft.com/office/drawing/2014/main" id="{25C4086E-E7A7-F17D-8FCC-F7D2131C2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407" y="2718295"/>
            <a:ext cx="3289395" cy="328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07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8852-3CC6-1C3C-8A6F-55A92BF5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14691F-470B-1194-598C-4D974753952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Parameterization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77E23-6924-089B-5AC5-F76D9E8BDF5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3B0D8-9C0E-3FBA-1F13-2565D47E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42" y="1768253"/>
            <a:ext cx="7020905" cy="4172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619038-7BAC-6E0D-E60F-54A27DD4C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39" y="1594624"/>
            <a:ext cx="3052318" cy="27494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67FFD0-7683-0166-00B2-1AB30C712670}"/>
              </a:ext>
            </a:extLst>
          </p:cNvPr>
          <p:cNvCxnSpPr>
            <a:cxnSpLocks/>
          </p:cNvCxnSpPr>
          <p:nvPr/>
        </p:nvCxnSpPr>
        <p:spPr>
          <a:xfrm>
            <a:off x="5272067" y="2991670"/>
            <a:ext cx="2065436" cy="66592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B9FF33-C75F-84D3-F3AF-6C2A298C6C27}"/>
              </a:ext>
            </a:extLst>
          </p:cNvPr>
          <p:cNvCxnSpPr>
            <a:cxnSpLocks/>
          </p:cNvCxnSpPr>
          <p:nvPr/>
        </p:nvCxnSpPr>
        <p:spPr>
          <a:xfrm flipV="1">
            <a:off x="7226560" y="3013972"/>
            <a:ext cx="1627509" cy="59623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71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A2D-9EFC-493E-C6D3-A79DB6DC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7E496BF-239C-48F9-B0E8-10BD05FCFA4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C4BEC-BA36-F894-BB3D-8AF17FB3EE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D7837-49B6-9692-624D-E22D2DDAE703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Hough transform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BB339-DE9C-5CEA-5F16-08D5A5105C7C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Convolution-based techniques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1969C-9F8A-DF73-3485-6A985D4FFE79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https://en.wikipedia.org/wiki/Line_detection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FB0E9-D47A-32BA-2422-3CAE1BECB4DB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Deep learning approaches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68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A2D-9EFC-493E-C6D3-A79DB6DC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B0FB88C-4B73-AAD1-E908-722D54111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507" y="2227220"/>
            <a:ext cx="8666985" cy="433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E496BF-239C-48F9-B0E8-10BD05FCFA4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Hough Transform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C4BEC-BA36-F894-BB3D-8AF17FB3EE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701EE-389B-FA1D-E6A4-80AAE44AE11A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Straight line Hough transform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5F497-13C8-E874-BEA8-0CBB9EE0340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Hough transform is a feature extraction technique in image processing used to detect shapes, particularly lines, circles, and other curves, by transforming the image from the image space to a parameter space.</a:t>
            </a:r>
          </a:p>
        </p:txBody>
      </p:sp>
    </p:spTree>
    <p:extLst>
      <p:ext uri="{BB962C8B-B14F-4D97-AF65-F5344CB8AC3E}">
        <p14:creationId xmlns:p14="http://schemas.microsoft.com/office/powerpoint/2010/main" val="386851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A2D-9EFC-493E-C6D3-A79DB6DC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7E496BF-239C-48F9-B0E8-10BD05FCFA4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Convolution-based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C4BEC-BA36-F894-BB3D-8AF17FB3EE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701EE-389B-FA1D-E6A4-80AAE44AE11A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https://homepages.inf.ed.ac.uk/rbf/HIPR2/linedet.htm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123654-A087-F21E-FFE0-14CF521164E4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line detection operator consists of a convolution kernel tuned to detect the presence of lines of a particular width n, at a particular orientation θ.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B2146-2933-E8D5-2E0C-8B825ACDC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40" y="2948271"/>
            <a:ext cx="6387862" cy="15441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D4860B-F090-3F17-65BD-7C2BC913EAEE}"/>
              </a:ext>
            </a:extLst>
          </p:cNvPr>
          <p:cNvSpPr txBox="1"/>
          <p:nvPr/>
        </p:nvSpPr>
        <p:spPr>
          <a:xfrm>
            <a:off x="461775" y="4626920"/>
            <a:ext cx="6902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Four line detection kernels which respond maximally to horizontal, vertical and oblique (+45 and - 45 degree) single pixel wide lines.</a:t>
            </a:r>
          </a:p>
        </p:txBody>
      </p:sp>
      <p:pic>
        <p:nvPicPr>
          <p:cNvPr id="3074" name="Picture 2" descr="art2">
            <a:extLst>
              <a:ext uri="{FF2B5EF4-FFF2-40B4-BE49-F238E27FC236}">
                <a16:creationId xmlns:a16="http://schemas.microsoft.com/office/drawing/2014/main" id="{2012A04E-76E7-1817-C92E-88F6EEAFD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172" y="2372652"/>
            <a:ext cx="1477564" cy="1761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rt2ldh1">
            <a:extLst>
              <a:ext uri="{FF2B5EF4-FFF2-40B4-BE49-F238E27FC236}">
                <a16:creationId xmlns:a16="http://schemas.microsoft.com/office/drawing/2014/main" id="{FF301B88-719A-45FF-6DC0-AC98BA3F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867" y="2372652"/>
            <a:ext cx="1477564" cy="177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rt2ldn2">
            <a:extLst>
              <a:ext uri="{FF2B5EF4-FFF2-40B4-BE49-F238E27FC236}">
                <a16:creationId xmlns:a16="http://schemas.microsoft.com/office/drawing/2014/main" id="{45DC58EF-5430-9AB1-8FC0-6ADF8D560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867" y="4730054"/>
            <a:ext cx="1477564" cy="177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54803C-47D6-7492-97D3-D6235500329A}"/>
              </a:ext>
            </a:extLst>
          </p:cNvPr>
          <p:cNvSpPr txBox="1"/>
          <p:nvPr/>
        </p:nvSpPr>
        <p:spPr>
          <a:xfrm>
            <a:off x="8102762" y="2027733"/>
            <a:ext cx="940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image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8779A-5E6B-4F14-2C44-4E1DBC5EADC9}"/>
              </a:ext>
            </a:extLst>
          </p:cNvPr>
          <p:cNvSpPr txBox="1"/>
          <p:nvPr/>
        </p:nvSpPr>
        <p:spPr>
          <a:xfrm>
            <a:off x="9628446" y="2025599"/>
            <a:ext cx="1746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horizontal kernel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1BCB7-BF60-189B-F477-2534F1DA45BD}"/>
              </a:ext>
            </a:extLst>
          </p:cNvPr>
          <p:cNvSpPr txBox="1"/>
          <p:nvPr/>
        </p:nvSpPr>
        <p:spPr>
          <a:xfrm>
            <a:off x="9628446" y="4383130"/>
            <a:ext cx="1746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45 degree kernel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13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A2D-9EFC-493E-C6D3-A79DB6DC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7E496BF-239C-48F9-B0E8-10BD05FCFA4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Deep Learning Approaches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C4BEC-BA36-F894-BB3D-8AF17FB3EE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5F497-13C8-E874-BEA8-0CBB9EE0340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Deep Hough Transform (DHT) for semantic line detection is a method that integrates the classical Hough Transform with deep learning to detect meaningful line structures in images.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701EE-389B-FA1D-E6A4-80AAE44AE11A}"/>
              </a:ext>
            </a:extLst>
          </p:cNvPr>
          <p:cNvSpPr txBox="1"/>
          <p:nvPr/>
        </p:nvSpPr>
        <p:spPr>
          <a:xfrm>
            <a:off x="34184" y="648543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Deep Hough Transform for Semantic Line Detection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08EF8-CE49-3FF0-E59C-2D0742F4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6" y="2446841"/>
            <a:ext cx="9997988" cy="327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F668A-7918-D237-4286-AE3D8A3A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F57B63-6E7C-00CB-9C4B-63DB4788868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1CC3A-D9A9-0DAC-F48F-3D01E2B1648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C2128E-7032-364C-348F-7BE0C134BF0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Autonomous driving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AF8F7-283D-4901-6202-92545DE98A84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Automatic parking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5B5BD-1A12-3647-89AF-BC2852E5569F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Scene analysis</a:t>
            </a:r>
          </a:p>
        </p:txBody>
      </p:sp>
    </p:spTree>
    <p:extLst>
      <p:ext uri="{BB962C8B-B14F-4D97-AF65-F5344CB8AC3E}">
        <p14:creationId xmlns:p14="http://schemas.microsoft.com/office/powerpoint/2010/main" val="620398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1CDC-A031-6494-0357-BED6ABDA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3CCDDF-BFDC-DD6C-D15D-948ADC1725B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Autonomous Driving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DDDCE-EFA2-53A1-0834-9693546C224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pic>
        <p:nvPicPr>
          <p:cNvPr id="2050" name="Picture 2" descr="Lane Detection: The 3 types of Deep Learning (non-OpenCV) algorithms">
            <a:extLst>
              <a:ext uri="{FF2B5EF4-FFF2-40B4-BE49-F238E27FC236}">
                <a16:creationId xmlns:a16="http://schemas.microsoft.com/office/drawing/2014/main" id="{F467B05B-14EF-1517-46E9-E7EED09A0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995" y="2243746"/>
            <a:ext cx="7504009" cy="403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0FD1B5-6042-E22F-4AB6-BB923AD73661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https://www.thinkautonomous.ai/blog/lane-detection/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10619-4202-59AB-53FA-7ADB3A6E239B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Lane line detection is crucial for driver assistance systems and self-driving cars, helping them navigate and avoid obstacles.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756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1CDC-A031-6494-0357-BED6ABDA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3CCDDF-BFDC-DD6C-D15D-948ADC1725B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Automatic Parking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DDDCE-EFA2-53A1-0834-9693546C224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10619-4202-59AB-53FA-7ADB3A6E239B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Automatic parking is an autonomous car-maneuvering system that moves a vehicle from a traffic lane into a parking spot to perform parallel, perpendicular, or angle parking.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5122" name="Picture 2" descr="python - How to detect lines in OpenCV? - Stack Overflow">
            <a:extLst>
              <a:ext uri="{FF2B5EF4-FFF2-40B4-BE49-F238E27FC236}">
                <a16:creationId xmlns:a16="http://schemas.microsoft.com/office/drawing/2014/main" id="{CD2B8828-AB20-C7C1-9D7C-DA93B9AF0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5" y="2878909"/>
            <a:ext cx="3597237" cy="269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ython - How to detect lines in OpenCV? - Stack Overflow">
            <a:extLst>
              <a:ext uri="{FF2B5EF4-FFF2-40B4-BE49-F238E27FC236}">
                <a16:creationId xmlns:a16="http://schemas.microsoft.com/office/drawing/2014/main" id="{DBB88986-8F18-4421-F14A-CCB9BC49F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675" y="2878909"/>
            <a:ext cx="3597238" cy="269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ython - How to detect lines in OpenCV? - Stack Overflow">
            <a:extLst>
              <a:ext uri="{FF2B5EF4-FFF2-40B4-BE49-F238E27FC236}">
                <a16:creationId xmlns:a16="http://schemas.microsoft.com/office/drawing/2014/main" id="{39E27B40-4AF1-CD46-8293-752E3BD5B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175" y="2884485"/>
            <a:ext cx="3595649" cy="269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A412DA-F6A5-12F3-3955-D17F84CC99E7}"/>
              </a:ext>
            </a:extLst>
          </p:cNvPr>
          <p:cNvSpPr txBox="1"/>
          <p:nvPr/>
        </p:nvSpPr>
        <p:spPr>
          <a:xfrm>
            <a:off x="1797511" y="2540355"/>
            <a:ext cx="940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image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991F6-E920-02DC-972A-BE2CE05A762F}"/>
              </a:ext>
            </a:extLst>
          </p:cNvPr>
          <p:cNvSpPr txBox="1"/>
          <p:nvPr/>
        </p:nvSpPr>
        <p:spPr>
          <a:xfrm>
            <a:off x="5625806" y="2540355"/>
            <a:ext cx="940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mask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415A7-830F-AD98-848E-90CE1CE90AF4}"/>
              </a:ext>
            </a:extLst>
          </p:cNvPr>
          <p:cNvSpPr txBox="1"/>
          <p:nvPr/>
        </p:nvSpPr>
        <p:spPr>
          <a:xfrm>
            <a:off x="9454105" y="2540241"/>
            <a:ext cx="940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lines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E5800-A84A-E0CD-50CA-EC13DA987E30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5"/>
              </a:rPr>
              <a:t>https://stackoverflow.com/questions/45322630/how-to-detect-lines-in-opencv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708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1CDC-A031-6494-0357-BED6ABDA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3CCDDF-BFDC-DD6C-D15D-948ADC1725B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Scene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DDDCE-EFA2-53A1-0834-9693546C224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10619-4202-59AB-53FA-7ADB3A6E239B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Line detection can be used for horizon estimation, composition enhancement, and image simplification, which are key feature in many visual tasks.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E5800-A84A-E0CD-50CA-EC13DA987E30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Semantic Line Detection and Its Applications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F65E2E-B72C-6331-3A49-D8973BA6B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581"/>
          <a:stretch/>
        </p:blipFill>
        <p:spPr>
          <a:xfrm>
            <a:off x="223343" y="2821285"/>
            <a:ext cx="5904885" cy="2333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DCBE04-BCCD-3BBA-D566-DBCB8491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176"/>
          <a:stretch/>
        </p:blipFill>
        <p:spPr>
          <a:xfrm>
            <a:off x="6072473" y="2798983"/>
            <a:ext cx="5904885" cy="240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71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4030-C928-73FB-F567-95E88949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947FE-4FD8-81A5-D3E4-BB5024EF3BB9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Line Detection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Hough Transform</a:t>
            </a:r>
          </a:p>
        </p:txBody>
      </p:sp>
    </p:spTree>
    <p:extLst>
      <p:ext uri="{BB962C8B-B14F-4D97-AF65-F5344CB8AC3E}">
        <p14:creationId xmlns:p14="http://schemas.microsoft.com/office/powerpoint/2010/main" val="2729124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9585-3013-C327-F7DC-5C9EFD68922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Concept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6F98D-21E7-D3A6-F7A4-773296D726E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Hough transform transposes the image from the spatial space to another space, where the information of interest is represented differently: the lines in the spatial space are transformed into points in the Hough space.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37D6BF-B600-CA7B-D81B-8C389BE34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16" y="2279213"/>
            <a:ext cx="7116168" cy="40391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https://www.scaler.com/topics/hough-transform-in-image-processing/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1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9585-3013-C327-F7DC-5C9EFD68922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Hough’s Idea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6F98D-21E7-D3A6-F7A4-773296D726E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 the spatial space (</a:t>
            </a:r>
            <a:r>
              <a:rPr lang="en-US" altLang="ko-KR" sz="2000" dirty="0" err="1"/>
              <a:t>x,y</a:t>
            </a:r>
            <a:r>
              <a:rPr lang="en-US" altLang="ko-KR" sz="2000" dirty="0"/>
              <a:t>), a line is parameterized by its coefficients a and b, giving the equation y=</a:t>
            </a:r>
            <a:r>
              <a:rPr lang="en-US" altLang="ko-KR" sz="2000" dirty="0" err="1"/>
              <a:t>ax+b</a:t>
            </a:r>
            <a:r>
              <a:rPr lang="en-US" altLang="ko-KR" sz="2000" dirty="0"/>
              <a:t>. Thus, any line can be identified by the pair 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).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https://vincmazet.github.io/bip/detection/lines.html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929530-F893-04B3-CE53-AC28DB525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953" y="3256222"/>
            <a:ext cx="7406094" cy="27898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807A6-F151-1CDA-22DF-0723DD277DB8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Hough's idea: each line of the image can be represented by a point in the Hough space 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). The Hough space is then called the parameter space.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6B539-1E48-578F-6400-35B59B9ADFDF}"/>
              </a:ext>
            </a:extLst>
          </p:cNvPr>
          <p:cNvSpPr txBox="1"/>
          <p:nvPr/>
        </p:nvSpPr>
        <p:spPr>
          <a:xfrm>
            <a:off x="3202562" y="2917668"/>
            <a:ext cx="15255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Image Space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71DCE-ACD8-5F6F-A859-E58D2832FDE6}"/>
              </a:ext>
            </a:extLst>
          </p:cNvPr>
          <p:cNvSpPr txBox="1"/>
          <p:nvPr/>
        </p:nvSpPr>
        <p:spPr>
          <a:xfrm>
            <a:off x="7369401" y="2917668"/>
            <a:ext cx="2031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Parameter Space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6177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6F98D-21E7-D3A6-F7A4-773296D726E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 the spatial space (</a:t>
            </a:r>
            <a:r>
              <a:rPr lang="en-US" altLang="ko-KR" sz="2000" dirty="0" err="1"/>
              <a:t>x,y</a:t>
            </a:r>
            <a:r>
              <a:rPr lang="en-US" altLang="ko-KR" sz="2000" dirty="0"/>
              <a:t>), a line is parameterized by its coefficients a and b, giving the equation y=</a:t>
            </a:r>
            <a:r>
              <a:rPr lang="en-US" altLang="ko-KR" sz="2000" dirty="0" err="1"/>
              <a:t>ax+b</a:t>
            </a:r>
            <a:r>
              <a:rPr lang="en-US" altLang="ko-KR" sz="2000" dirty="0"/>
              <a:t>. Thus, any line can be identified by the pair 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).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https://vincmazet.github.io/bip/detection/lines.html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5807A6-F151-1CDA-22DF-0723DD277DB8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Hough's idea: each line of the image can be represented by a point in the Hough space 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). The Hough space is then called the parameter space.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6B539-1E48-578F-6400-35B59B9ADFDF}"/>
              </a:ext>
            </a:extLst>
          </p:cNvPr>
          <p:cNvSpPr txBox="1"/>
          <p:nvPr/>
        </p:nvSpPr>
        <p:spPr>
          <a:xfrm>
            <a:off x="3202562" y="2917668"/>
            <a:ext cx="15255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Image Space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71DCE-ACD8-5F6F-A859-E58D2832FDE6}"/>
              </a:ext>
            </a:extLst>
          </p:cNvPr>
          <p:cNvSpPr txBox="1"/>
          <p:nvPr/>
        </p:nvSpPr>
        <p:spPr>
          <a:xfrm>
            <a:off x="7369401" y="2917668"/>
            <a:ext cx="2031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Parameter Space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DD032-3E7D-C2BC-C647-7CB767308B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Hough’s Idea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B7DF90-E634-24D8-3537-C1B3A250E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389" y="3245071"/>
            <a:ext cx="7458290" cy="28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86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6F98D-21E7-D3A6-F7A4-773296D726E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The lines are defined from two other parameters: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https://vincmazet.github.io/bip/detection/lines.html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DD032-3E7D-C2BC-C647-7CB767308B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Re-parameterization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98261-1D67-3B5D-A3CC-44847BE11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222" y="3108019"/>
            <a:ext cx="8173555" cy="3108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B81404-72E7-15C5-AA71-836FA479EA06}"/>
              </a:ext>
            </a:extLst>
          </p:cNvPr>
          <p:cNvSpPr txBox="1"/>
          <p:nvPr/>
        </p:nvSpPr>
        <p:spPr>
          <a:xfrm>
            <a:off x="191115" y="179278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distance d of the segment connecting the origin with the point closest to the line (this segment is perpendicular to the line).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1DE08-A77C-0D96-FDAB-3D1AEB74234A}"/>
              </a:ext>
            </a:extLst>
          </p:cNvPr>
          <p:cNvSpPr txBox="1"/>
          <p:nvPr/>
        </p:nvSpPr>
        <p:spPr>
          <a:xfrm>
            <a:off x="191115" y="2500669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angle θ of this segment with the x-axis.</a:t>
            </a:r>
          </a:p>
        </p:txBody>
      </p:sp>
    </p:spTree>
    <p:extLst>
      <p:ext uri="{BB962C8B-B14F-4D97-AF65-F5344CB8AC3E}">
        <p14:creationId xmlns:p14="http://schemas.microsoft.com/office/powerpoint/2010/main" val="1620549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6F98D-21E7-D3A6-F7A4-773296D726E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For each point (x</a:t>
            </a:r>
            <a:r>
              <a:rPr lang="en-US" altLang="ko-KR" sz="2000" baseline="-25000" dirty="0"/>
              <a:t>i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y</a:t>
            </a:r>
            <a:r>
              <a:rPr lang="en-US" altLang="ko-KR" sz="2000" baseline="-25000" dirty="0" err="1"/>
              <a:t>i</a:t>
            </a:r>
            <a:r>
              <a:rPr lang="en-US" altLang="ko-KR" sz="2000" dirty="0"/>
              <a:t>) of the image, a sinusoid of equation </a:t>
            </a:r>
            <a:r>
              <a:rPr lang="es-ES" altLang="ko-KR" sz="2000" dirty="0"/>
              <a:t>d=</a:t>
            </a:r>
            <a:r>
              <a:rPr lang="en-US" altLang="ko-KR" sz="2000" dirty="0"/>
              <a:t> x</a:t>
            </a:r>
            <a:r>
              <a:rPr lang="en-US" altLang="ko-KR" sz="2000" baseline="-25000" dirty="0"/>
              <a:t>i</a:t>
            </a:r>
            <a:r>
              <a:rPr lang="es-ES" altLang="ko-KR" sz="2000" dirty="0"/>
              <a:t>cos(θ)+</a:t>
            </a:r>
            <a:r>
              <a:rPr lang="en-US" altLang="ko-KR" sz="2000" dirty="0"/>
              <a:t> </a:t>
            </a:r>
            <a:r>
              <a:rPr lang="en-US" altLang="ko-KR" sz="2000" dirty="0" err="1"/>
              <a:t>y</a:t>
            </a:r>
            <a:r>
              <a:rPr lang="en-US" altLang="ko-KR" sz="2000" baseline="-25000" dirty="0" err="1"/>
              <a:t>i</a:t>
            </a:r>
            <a:r>
              <a:rPr lang="es-ES" altLang="ko-KR" sz="2000" dirty="0"/>
              <a:t>sin(θ) </a:t>
            </a:r>
            <a:r>
              <a:rPr lang="en-US" altLang="ko-KR" sz="2000" dirty="0"/>
              <a:t>is associated in the space (θ, d).</a:t>
            </a:r>
            <a:r>
              <a:rPr lang="es-ES" altLang="ko-KR" sz="2000" dirty="0"/>
              <a:t> </a:t>
            </a:r>
            <a:endParaRPr lang="en-US" altLang="ko-KR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https://vincmazet.github.io/bip/detection/lines.html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DD032-3E7D-C2BC-C647-7CB767308B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Re-parameterization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8E4724-7023-4BF2-7327-810F9AABA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222" y="2498718"/>
            <a:ext cx="8173555" cy="310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70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CF39810-771E-0022-AE54-ED604522D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87" y="3086696"/>
            <a:ext cx="10113426" cy="35327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6F98D-21E7-D3A6-F7A4-773296D726E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Compute an edge detection of the image.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https://vincmazet.github.io/bip/detection/lines.html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DD032-3E7D-C2BC-C647-7CB767308B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Algorithm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69479-821D-A2C6-0975-D13B55846967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Initialize the accumulator (as the discrete space of the parameters).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40CA1-F723-5B5B-DC97-7F7E050E6CFA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For each pixel in the edges, determine the sinusoid corresponding to the points.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CAEE-6F1F-7D56-CB3F-5304AA2DCFA1}"/>
              </a:ext>
            </a:extLst>
          </p:cNvPr>
          <p:cNvSpPr txBox="1"/>
          <p:nvPr/>
        </p:nvSpPr>
        <p:spPr>
          <a:xfrm>
            <a:off x="191115" y="258871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Search for the maxima in the accumulator: they correspond to the parameters of the lines in the image.</a:t>
            </a:r>
          </a:p>
        </p:txBody>
      </p:sp>
    </p:spTree>
    <p:extLst>
      <p:ext uri="{BB962C8B-B14F-4D97-AF65-F5344CB8AC3E}">
        <p14:creationId xmlns:p14="http://schemas.microsoft.com/office/powerpoint/2010/main" val="1456614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12A94-06DE-4C18-556E-62D42F11CF7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https://vincmazet.github.io/bip/detection/lines.html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DD032-3E7D-C2BC-C647-7CB767308B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Example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81F52D-C48F-5905-B5B7-10D2DF99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48" y="2048165"/>
            <a:ext cx="11563704" cy="3983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6C6B82-B62D-CBA7-7381-455D6C8B9AC7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An example of a Hough transform on a real photograph.</a:t>
            </a:r>
          </a:p>
        </p:txBody>
      </p:sp>
    </p:spTree>
    <p:extLst>
      <p:ext uri="{BB962C8B-B14F-4D97-AF65-F5344CB8AC3E}">
        <p14:creationId xmlns:p14="http://schemas.microsoft.com/office/powerpoint/2010/main" val="1696929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Hough Transform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DD032-3E7D-C2BC-C647-7CB767308B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Other Shapes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34E1E-B755-6655-692F-09F4A21C502A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Example: Circle detection</a:t>
            </a:r>
          </a:p>
        </p:txBody>
      </p:sp>
      <p:pic>
        <p:nvPicPr>
          <p:cNvPr id="8194" name="Picture 2" descr="SciELO Brasil - On the Improvement of Multiple Circles Detection from  Images using Hough Transform On the Improvement of Multiple Circles  Detection from Images using Hough Transform">
            <a:extLst>
              <a:ext uri="{FF2B5EF4-FFF2-40B4-BE49-F238E27FC236}">
                <a16:creationId xmlns:a16="http://schemas.microsoft.com/office/drawing/2014/main" id="{0A8C999C-A356-FB62-0D7E-8ACE4B738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8"/>
          <a:stretch/>
        </p:blipFill>
        <p:spPr bwMode="auto">
          <a:xfrm>
            <a:off x="1119952" y="2120633"/>
            <a:ext cx="9952095" cy="3772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DFD2D-9D36-E324-4C36-40DEF28EB438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https://www.scielo.br/j/tema/a/FD5MHcLjMVpcZdJLVBmscBC/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43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7" y="407788"/>
            <a:ext cx="750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Practice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337872" y="139267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Hough Transform</a:t>
            </a:r>
          </a:p>
        </p:txBody>
      </p:sp>
    </p:spTree>
    <p:extLst>
      <p:ext uri="{BB962C8B-B14F-4D97-AF65-F5344CB8AC3E}">
        <p14:creationId xmlns:p14="http://schemas.microsoft.com/office/powerpoint/2010/main" val="1162992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114363</TotalTime>
  <Words>960</Words>
  <Application>Microsoft Office PowerPoint</Application>
  <PresentationFormat>Widescreen</PresentationFormat>
  <Paragraphs>107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6547</cp:revision>
  <cp:lastPrinted>2021-09-06T03:39:39Z</cp:lastPrinted>
  <dcterms:created xsi:type="dcterms:W3CDTF">2020-10-10T03:17:57Z</dcterms:created>
  <dcterms:modified xsi:type="dcterms:W3CDTF">2025-04-21T11:07:51Z</dcterms:modified>
</cp:coreProperties>
</file>