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61" r:id="rId2"/>
    <p:sldId id="331" r:id="rId3"/>
    <p:sldId id="1852" r:id="rId4"/>
    <p:sldId id="1847" r:id="rId5"/>
    <p:sldId id="1862" r:id="rId6"/>
    <p:sldId id="1861" r:id="rId7"/>
    <p:sldId id="1863" r:id="rId8"/>
    <p:sldId id="1864" r:id="rId9"/>
    <p:sldId id="1865" r:id="rId10"/>
    <p:sldId id="1866" r:id="rId11"/>
    <p:sldId id="1867" r:id="rId12"/>
    <p:sldId id="1868" r:id="rId13"/>
    <p:sldId id="1869" r:id="rId14"/>
    <p:sldId id="1870" r:id="rId15"/>
    <p:sldId id="1853" r:id="rId16"/>
    <p:sldId id="1858" r:id="rId17"/>
    <p:sldId id="1860" r:id="rId18"/>
    <p:sldId id="1872" r:id="rId19"/>
    <p:sldId id="1873" r:id="rId20"/>
    <p:sldId id="1874" r:id="rId21"/>
    <p:sldId id="1871" r:id="rId22"/>
    <p:sldId id="1875" r:id="rId23"/>
    <p:sldId id="1876" r:id="rId24"/>
    <p:sldId id="1877" r:id="rId25"/>
    <p:sldId id="1878" r:id="rId26"/>
    <p:sldId id="1804" r:id="rId27"/>
    <p:sldId id="267" r:id="rId2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Tran Le Anh" initials="TLA" lastIdx="3" clrIdx="1">
    <p:extLst>
      <p:ext uri="{19B8F6BF-5375-455C-9EA6-DF929625EA0E}">
        <p15:presenceInfo xmlns:p15="http://schemas.microsoft.com/office/powerpoint/2012/main" userId="Tran Le 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189E"/>
    <a:srgbClr val="F0F0F0"/>
    <a:srgbClr val="F5F5F5"/>
    <a:srgbClr val="FDFDFD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20" autoAdjust="0"/>
    <p:restoredTop sz="93988" autoAdjust="0"/>
  </p:normalViewPr>
  <p:slideViewPr>
    <p:cSldViewPr snapToGrid="0">
      <p:cViewPr varScale="1">
        <p:scale>
          <a:sx n="112" d="100"/>
          <a:sy n="112" d="100"/>
        </p:scale>
        <p:origin x="82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73FD9801-A144-4B40-9127-0684BD7D58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5E947791-EB80-4ECA-83D2-BD9595BD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F85EF-21C5-415F-AEF3-0F51C92A13CF}"/>
              </a:ext>
            </a:extLst>
          </p:cNvPr>
          <p:cNvSpPr/>
          <p:nvPr userDrawn="1"/>
        </p:nvSpPr>
        <p:spPr>
          <a:xfrm>
            <a:off x="9877587" y="6610027"/>
            <a:ext cx="2314413" cy="247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anhtl@ut.edu.vn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A4BF7-4007-4EE9-8948-4D4E0A77C823}"/>
              </a:ext>
            </a:extLst>
          </p:cNvPr>
          <p:cNvSpPr txBox="1"/>
          <p:nvPr userDrawn="1"/>
        </p:nvSpPr>
        <p:spPr>
          <a:xfrm>
            <a:off x="4053216" y="30693"/>
            <a:ext cx="4085568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>
                <a:solidFill>
                  <a:schemeClr val="bg1">
                    <a:lumMod val="75000"/>
                  </a:schemeClr>
                </a:solidFill>
              </a:rPr>
              <a:t>Ho Chi Minh City University of Transport</a:t>
            </a:r>
          </a:p>
        </p:txBody>
      </p:sp>
    </p:spTree>
    <p:extLst>
      <p:ext uri="{BB962C8B-B14F-4D97-AF65-F5344CB8AC3E}">
        <p14:creationId xmlns:p14="http://schemas.microsoft.com/office/powerpoint/2010/main" val="11005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viso.ai/deep-learning/image-segmentation-using-deep-learning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mindy-support.com/news-post/what-is-image-segmentation-the-basics-and-key-techniqu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67-024-44824-z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blogs.nvidia.com/blog/drive-labs-panoptic-segmenta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tandfonline.com/doi/full/10.1080/10095020.2021.201723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7labs.com/blog/image-segmentation-guide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py-lectures.org/packages/scikit-image/auto_examples/plot_threshold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3dqlab.stanford.edu/region-growin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vincmazet.github.io/bip/segmentation/clusterin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mindy-support.com/news-post/complete-guide-to-semantic-segmentation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geeksforgeeks.org/image-blending-using-opencv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cs/image-stitching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cs.brown.edu/courses/cs129/asgn/proj3_poisson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nxtinteractive.ae/blog/how-augmented-reality-%28ar%29-works-a-deep-div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9rAOAL12SY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s.brown.edu/courses/cs129/results/proj2/taox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openaccess.thecvf.com/content_WACV_2020/papers/Zhang_Deep_Image_Blending_WACV_2020_paper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WACV_2020/papers/Zhang_Deep_Image_Blending_WACV_2020_paper.pdf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6040" y="2762804"/>
            <a:ext cx="8579899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Segmentation &amp; Blending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2430" y="4487464"/>
            <a:ext cx="23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 Le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3905" y="30525"/>
            <a:ext cx="3064176" cy="2840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Ho Chi Minh City University of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013" y="4856796"/>
            <a:ext cx="2485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anhtl@ut.edu.vn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894" y="6534648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04-2025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912" y="1458669"/>
            <a:ext cx="468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Image Processing and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14413" y="6534648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0F536-84A9-F63C-9FC0-C898AC1A1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41" y="61725"/>
            <a:ext cx="2252164" cy="5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9B116-55C3-657B-AF0B-0849FBE9CC15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Segmentation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Blending</a:t>
            </a:r>
          </a:p>
        </p:txBody>
      </p:sp>
    </p:spTree>
    <p:extLst>
      <p:ext uri="{BB962C8B-B14F-4D97-AF65-F5344CB8AC3E}">
        <p14:creationId xmlns:p14="http://schemas.microsoft.com/office/powerpoint/2010/main" val="187719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4AC4-6079-EE71-595E-80801C0C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1D148-9613-DC33-1F2A-E8BFC06C455E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Segmentation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Blending</a:t>
            </a:r>
          </a:p>
        </p:txBody>
      </p:sp>
    </p:spTree>
    <p:extLst>
      <p:ext uri="{BB962C8B-B14F-4D97-AF65-F5344CB8AC3E}">
        <p14:creationId xmlns:p14="http://schemas.microsoft.com/office/powerpoint/2010/main" val="147922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8852-3CC6-1C3C-8A6F-55A92BF5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14691F-470B-1194-598C-4D974753952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Concept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77E23-6924-089B-5AC5-F76D9E8BDF5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BAF3C-714B-C558-873B-C881AB91328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Image segmentation involves dividing an image into different regions or segments based on certain characteristics, like pixel intensity or color.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8BFDE-E745-E6FA-42AA-7208A5379CE6}"/>
              </a:ext>
            </a:extLst>
          </p:cNvPr>
          <p:cNvSpPr txBox="1"/>
          <p:nvPr/>
        </p:nvSpPr>
        <p:spPr>
          <a:xfrm>
            <a:off x="191115" y="2100559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goal is to identify meaningful regions to represent objects or features, making the image easier to analyze.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5" name="Picture 2" descr="Image Segmentation with Deep Learning (Guide) - viso.ai">
            <a:extLst>
              <a:ext uri="{FF2B5EF4-FFF2-40B4-BE49-F238E27FC236}">
                <a16:creationId xmlns:a16="http://schemas.microsoft.com/office/drawing/2014/main" id="{E04535C9-8944-2D0D-AF7F-67E27F37E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937" y="2526307"/>
            <a:ext cx="9238126" cy="388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424FB6-3F30-C1AD-7721-5FE26E9CE99D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https://viso.ai/deep-learning/image-segmentation-using-deep-learning/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07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1AAF-BB59-A87C-6D7C-64B87E14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9D693D-E474-4B6E-5080-30609A2F560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C820C-D71C-9EC7-4663-3C7BAA27CBFF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87D85-0F21-5F47-F0EE-5EFEFFC2696F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Semantic segmentation: Assigns a class label to each pixel, grouping pixels belonging to the same object.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9CAAA-FE0E-2340-1271-3DC404C5DB8A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Instance segmentation: Identifies individual instances (objects) within a class and segments them.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29E5C-236E-92AC-46EB-0DB0E1F83362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https://mindy-support.com/news-post/what-is-image-segmentation-the-basics-and-key-techniques/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67123-0D3F-866E-FA25-973C95E41293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Panoptic segmentation: Combines semantic and instance segmentation.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F4E2CE1-DF4F-4275-03B2-C1C1F5AFEC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14" b="4479"/>
          <a:stretch/>
        </p:blipFill>
        <p:spPr bwMode="auto">
          <a:xfrm>
            <a:off x="1688772" y="2631890"/>
            <a:ext cx="8814456" cy="382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7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B2CA-EF84-1EA6-3FA0-8C8407C97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35199E9-7E59-522C-DB4A-D70BFC2AB9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30899-A235-E0E5-90DA-AAEFDF6EF348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3AC0D-364C-C851-EEC4-9C150C362CFD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Medical Imaging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AF108-90AA-0501-49BF-08B1A26FF910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Autonomous Driving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A17125-326A-A4F9-D60D-6648A8B68AAE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/>
              <a:t>Remote Sensing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47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0A80-006F-F2B1-80CA-ED6B143B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E0F810-0C67-7334-682C-5E478EF52A5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Medical Imaging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2D49A-4E5A-55C6-FA0C-0FE2DFB0DB6D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pic>
        <p:nvPicPr>
          <p:cNvPr id="3074" name="Picture 2" descr="Segment anything in medical images | Nature Communications">
            <a:extLst>
              <a:ext uri="{FF2B5EF4-FFF2-40B4-BE49-F238E27FC236}">
                <a16:creationId xmlns:a16="http://schemas.microsoft.com/office/drawing/2014/main" id="{01854B64-FB4E-80C3-DFA4-8EE9E4AD1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17" y="2192766"/>
            <a:ext cx="5040397" cy="367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89A065-D094-9E06-75D9-D648DAF4A75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Segment anything in medical images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E91545-C825-06C0-87F6-DA41773AD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669" y="2192766"/>
            <a:ext cx="4648142" cy="18229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54ECBC-AD61-0F4E-EBE4-F8B33245F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141" y="4254341"/>
            <a:ext cx="4640670" cy="23306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27162E-7234-E25C-A020-9A9159B2CDE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To isolate and analyze specific regions of interest (ROIs) within medical images, aiding in various clinical applications.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347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A9BC-F02B-51CD-418D-A97DE738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EAFD08-2128-7ADC-6879-9F35D33CAB7C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Autonomous Driving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9CD682-34E0-C84E-6ADB-62E766D9FB9C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94188-5C6F-FE47-7446-2B74E9AFA3B0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https://blogs.nvidia.com/blog/drive-labs-panoptic-segmentation/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7F679-06C7-076D-0C5C-395592A35A35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To enable vehicles to understand their surroundings, allowing for the precise labeling of each pixel in an image, identifying objects like cars, pedestrians, roads, and traffic lights.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4098" name="Picture 2" descr="Panoptic Segmentation Helps Autonomous Vehicles See Outside the Box |  NVIDIA Blog">
            <a:extLst>
              <a:ext uri="{FF2B5EF4-FFF2-40B4-BE49-F238E27FC236}">
                <a16:creationId xmlns:a16="http://schemas.microsoft.com/office/drawing/2014/main" id="{FD8EEECD-E96C-5094-C05D-2478061A4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32" y="2562224"/>
            <a:ext cx="5443671" cy="306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anoptic Segmentation Helps Autonomous Vehicles See Outside the Box |  NVIDIA Blog">
            <a:extLst>
              <a:ext uri="{FF2B5EF4-FFF2-40B4-BE49-F238E27FC236}">
                <a16:creationId xmlns:a16="http://schemas.microsoft.com/office/drawing/2014/main" id="{37C0F2AF-5E36-5A7C-A9D9-6E285A417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647" y="2562657"/>
            <a:ext cx="4990744" cy="306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44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C61BC-5D1B-DBFA-6B43-8F8FDC51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A71236-3CC0-DC99-06EE-4863A2D155C7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Remote Sensing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E09C8-2170-3F43-3ED9-AA254E1CC324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F374D-1FFA-054A-6CB6-73AE97AF6B9A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https://www.tandfonline.com/doi/full/10.1080/10095020.2021.2017237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7E7351-3242-8A4D-6BC0-C3F27C45C530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To extract urban features (roads, buildings, water bodies) from satellite images, identifying land cover types, and monitoring changes in the Earth's surface.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5122" name="Picture 2" descr="A Deep Learning-Based Method for the Semi-Automatic Identification of  Built-Up Areas within Risk Zones Using Aerial Imagery and Multi-Source GIS  Data: An Application for Landslide Risk">
            <a:extLst>
              <a:ext uri="{FF2B5EF4-FFF2-40B4-BE49-F238E27FC236}">
                <a16:creationId xmlns:a16="http://schemas.microsoft.com/office/drawing/2014/main" id="{62195009-91F4-1FF9-D660-5B3282972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19" y="2356786"/>
            <a:ext cx="4872616" cy="364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52D53C-C9ED-4631-C2B6-FE23DAE51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195" y="2197989"/>
            <a:ext cx="4734586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5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594A-BCE1-0909-80E8-4A28792A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0B9DF7-A455-1B92-82E2-44C621861FFD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E29F92-4A78-C925-71EE-80FE446276CA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314FE-4D50-BDC0-750B-AA0146C89C9A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Thresholding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CD64C-0A00-3173-CAFE-490902FD621D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Region growing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31E15-D78E-6180-67A5-8C6626CD2BE9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Clustering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6146" name="Picture 2" descr="Traditional Image Segmentation Techniques">
            <a:extLst>
              <a:ext uri="{FF2B5EF4-FFF2-40B4-BE49-F238E27FC236}">
                <a16:creationId xmlns:a16="http://schemas.microsoft.com/office/drawing/2014/main" id="{9BD9D894-90F2-10CE-8BB8-B884ED24F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58" y="693460"/>
            <a:ext cx="6993358" cy="547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70C24A-2886-C782-E7CD-D424BBE91024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https://www.v7labs.com/blog/image-segmentation-guide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ED239-F250-81B1-E984-9063AFE396D7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Deep learning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19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8105-6082-CEF0-E874-839ECC2E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D9FEE2E-56C1-F20E-35FC-E6C192E48B41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A2BC7-6951-0192-3FCF-5D082B058225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E9B7F-5FBA-2ECA-624C-796F56F82351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Thresholding methods create binary images, classifying pixels based on whether their intensity is above or below a given “threshold value”.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246" name="Picture 6" descr="3.3.9.7. Otsu thresholding — Scipy lecture notes">
            <a:extLst>
              <a:ext uri="{FF2B5EF4-FFF2-40B4-BE49-F238E27FC236}">
                <a16:creationId xmlns:a16="http://schemas.microsoft.com/office/drawing/2014/main" id="{6E2A3CA2-A84A-86D9-F84C-AD64F4E2F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267484"/>
            <a:ext cx="857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BCEF57-D7C3-E62B-1BF3-E164D4B1DC79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https://scipy-lectures.org/packages/scikit-image/auto_examples/plot_threshold.html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42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8A0B-96F8-1A5E-E26C-A80002A4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CD50CB-B313-4AE4-EC15-FA43E7D8806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Region Growing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8BA6B-0ABC-7302-19D0-DC6CCAE17B0C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8F38F7-E172-A2BD-7DD7-F24AB3A74694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Region growing starts by selecting a seed pixel or region and gradually expands this seed by incorporating neighboring pixels or regions that meet specific similarity conditions.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9AD1A-455B-40A1-FE85-254402D776EC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https://3dqlab.stanford.edu/region-growing/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91DB3-AE78-9190-B77E-9195538D3C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58"/>
          <a:stretch/>
        </p:blipFill>
        <p:spPr>
          <a:xfrm>
            <a:off x="2049566" y="2652384"/>
            <a:ext cx="8092867" cy="327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2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DE64-8C4F-F45E-F477-845A3E1D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92E4F8-9497-DFC9-90CC-0A9D09CC198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Clustering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F6FC1-3397-630B-36F6-E36A54FAD2AE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B2ADF7-9CC8-1F6D-1B85-2388F10472C7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https://vincmazet.github.io/bip/segmentation/clustering.html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C58B2-C884-29C5-F72F-111A8B72B90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Clustering-based image segmentation relies on clustering algorithms like K-means or Mean Shift to identify distinct areas with similar attributes.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1A956-8F87-4C75-0A11-E9DEC1DD0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45" y="3184109"/>
            <a:ext cx="4018317" cy="1839448"/>
          </a:xfrm>
          <a:prstGeom prst="rect">
            <a:avLst/>
          </a:prstGeom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C09267D6-956E-0539-18FE-693C775C8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94" y="3044637"/>
            <a:ext cx="6577216" cy="210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764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03CE-E23D-CBB8-2F82-5BAD1BF67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CA0F6F-34C6-EE60-06EA-852D7C10F36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Deep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F5D12B-19F0-97CA-683A-A728E2E3386E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484633-A715-867D-3BE0-37D7DA389BC2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Deep learning-based image segmentation uses neural networks, often Convolutional Neural Networks (CNNs), to learn hierarchical features from large datasets to predict pixel-level labels.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BC940-D9C2-EC83-CDBA-4148F0177517}"/>
              </a:ext>
            </a:extLst>
          </p:cNvPr>
          <p:cNvSpPr txBox="1"/>
          <p:nvPr/>
        </p:nvSpPr>
        <p:spPr>
          <a:xfrm>
            <a:off x="34184" y="6493808"/>
            <a:ext cx="11442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https://mindy-support.com/news-post/complete-guide-to-semantic-segmentation/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7172" name="Picture 4" descr="Complete Guide to Semantic Segmentation | Mindy Support Outsourcing">
            <a:extLst>
              <a:ext uri="{FF2B5EF4-FFF2-40B4-BE49-F238E27FC236}">
                <a16:creationId xmlns:a16="http://schemas.microsoft.com/office/drawing/2014/main" id="{269CA3CA-685E-4A14-EFF9-59DE15902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53" b="8139"/>
          <a:stretch/>
        </p:blipFill>
        <p:spPr bwMode="auto">
          <a:xfrm>
            <a:off x="1804654" y="2523609"/>
            <a:ext cx="8582692" cy="354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33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84030-C928-73FB-F567-95E88949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947FE-4FD8-81A5-D3E4-BB5024EF3BB9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Segmentation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Blending</a:t>
            </a:r>
          </a:p>
        </p:txBody>
      </p:sp>
    </p:spTree>
    <p:extLst>
      <p:ext uri="{BB962C8B-B14F-4D97-AF65-F5344CB8AC3E}">
        <p14:creationId xmlns:p14="http://schemas.microsoft.com/office/powerpoint/2010/main" val="272912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9585-3013-C327-F7DC-5C9EFD68922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Concept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B620D-37E8-2A7E-0827-ED7D3A34DAD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Image blending combines two or more images into a single, seamless image.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112E7-B73B-0405-9EE7-1C06F4D7AA0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https://www.geeksforgeeks.org/image-blending-using-opencv/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C8942-8D5F-89C6-233D-D5CD1D691F19}"/>
              </a:ext>
            </a:extLst>
          </p:cNvPr>
          <p:cNvSpPr txBox="1"/>
          <p:nvPr/>
        </p:nvSpPr>
        <p:spPr>
          <a:xfrm>
            <a:off x="191115" y="179278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goal is to create a natural-looking composite image, often by overlapping regions and adjusting transparency.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7D370-9F5C-FD13-1AA3-D056290CA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309" y="2716976"/>
            <a:ext cx="8459381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17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07D4-F192-2837-9EC3-76BD699F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C34B48-3C38-E45F-2047-CD91876F257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83657-781C-6186-9C33-6505543F319D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B192E3-A962-3E2C-63C9-A7D94F6312A3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Panorama Stitching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EBA43-BA0A-F1E8-FA33-D8686E702F01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Image Composition and Editing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A4376E-1E08-BBA4-E526-EEC0A3991587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Augmented Reality (AR)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360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62C0-64B2-AC3A-68AC-5D38AF88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D615E-A33A-0C63-14DD-4E71D9AB8AD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Panorama Stitching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47D51-519E-3F7E-053F-8686C8E9AA0D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75B9E2-7DC5-DCCF-6C90-3FFC448812BB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Panorama stitching is the process of combining multiple overlapping images to create a larger, seamless panoramic image.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2290" name="Picture 2" descr="What Is Image Stitching? | Baeldung on Computer Science">
            <a:extLst>
              <a:ext uri="{FF2B5EF4-FFF2-40B4-BE49-F238E27FC236}">
                <a16:creationId xmlns:a16="http://schemas.microsoft.com/office/drawing/2014/main" id="{54D64BF3-2D02-1FA9-A428-FE7E98473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2" y="2495105"/>
            <a:ext cx="8715375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9FAD77-680B-C460-C143-83853D388600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https://www.baeldung.com/cs/image-stitching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232045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6D99-4EAB-8B63-14FA-6B758EA9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F9B3FF-1A8C-BAF4-CFC4-B6282257A9C2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Composition/Editing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2A340-25B7-2EA5-A438-D4E0C50976B2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F19A6-24AA-9767-A01E-F896D928808B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Image blending is used in photo editing and image composition tools to combine different images, adjust color, and create visually appealing compositions.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F47AA-709C-E800-E88F-B989E945E824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https://cs.brown.edu/courses/cs129/asgn/proj3_poisson/index.html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13314" name="Picture 2" descr="image equation">
            <a:extLst>
              <a:ext uri="{FF2B5EF4-FFF2-40B4-BE49-F238E27FC236}">
                <a16:creationId xmlns:a16="http://schemas.microsoft.com/office/drawing/2014/main" id="{800D41DE-30B6-3173-1C3E-6F7A5F6FE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15" y="3041066"/>
            <a:ext cx="6586344" cy="250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ow To Merge Layer Blend Modes In Photoshop">
            <a:extLst>
              <a:ext uri="{FF2B5EF4-FFF2-40B4-BE49-F238E27FC236}">
                <a16:creationId xmlns:a16="http://schemas.microsoft.com/office/drawing/2014/main" id="{39B275E8-306E-04F7-51D2-AB15D8480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108" y="3041066"/>
            <a:ext cx="3725673" cy="250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B92463-06A7-7EA1-2062-C5C3D6D252EA}"/>
              </a:ext>
            </a:extLst>
          </p:cNvPr>
          <p:cNvCxnSpPr/>
          <p:nvPr/>
        </p:nvCxnSpPr>
        <p:spPr>
          <a:xfrm>
            <a:off x="7426296" y="2495372"/>
            <a:ext cx="0" cy="3760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12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219A-6F37-07BF-9388-14A1A5D2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A073A6-CD57-4D65-B4D0-52FEA512F45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Augmented Reality (AR)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7F914-46D0-8F95-858F-DB85944C52CB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CDA6BB-C829-7738-CC0A-4EDF8D5EAB82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Augmented Reality (AR) utilizes image blending to overlay digital content onto the real world.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24A82-4EE3-A5F6-2643-515EA8F3DC2A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https://nxtinteractive.ae/blog/how-augmented-reality-%28ar%29-works-a-deep-dive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14338" name="Picture 2" descr="NXT Interactive - How Augmented Reality (AR) Works: A Deep Dive">
            <a:extLst>
              <a:ext uri="{FF2B5EF4-FFF2-40B4-BE49-F238E27FC236}">
                <a16:creationId xmlns:a16="http://schemas.microsoft.com/office/drawing/2014/main" id="{3B645B87-0404-2098-B9A8-87FE0E92C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700" y="2348582"/>
            <a:ext cx="6538600" cy="368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87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2FFF-CB7D-548B-86CF-4DD7CD53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1EB88B-779B-D2FA-0BBF-3C313BB59534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Techniques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216B5-45D0-E49D-2629-13238EE58294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01499-744C-6A07-09D7-D62C2BED1DA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Weight-based Blending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4226D-17F1-26E1-D97B-114FD718EA21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Poisson Image Blending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0FA0B-DA42-BBD2-F487-71304D8CA1DE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Deep Image Blending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019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F4B8-4F7C-99B7-2FD2-B1DCF428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E82126-8BEC-AC94-99CB-D0E646E26E3B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Weight-based Blending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AAC7F-8D6F-6610-E8E6-D4E9DB6CF994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FC2E8-6F81-B1FE-4CD0-1605A6AA1740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Involves assigning weights to different regions of the input images and combining them proportionally.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Warping and Blending Images | Image Stitching">
            <a:extLst>
              <a:ext uri="{FF2B5EF4-FFF2-40B4-BE49-F238E27FC236}">
                <a16:creationId xmlns:a16="http://schemas.microsoft.com/office/drawing/2014/main" id="{C200C2E5-28D6-88D6-1674-7B6702360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0" b="13591"/>
          <a:stretch/>
        </p:blipFill>
        <p:spPr bwMode="auto">
          <a:xfrm>
            <a:off x="2351873" y="2048514"/>
            <a:ext cx="7488254" cy="41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6F9230-907B-F47A-6F8E-5C8C29F14FC4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https://www.youtube.com/watch?v=D9rAOAL12SY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1866790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637F-2212-AA60-60D7-074327EC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34E639-6A43-2BC5-6186-CC2ADA56F39E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Poisson Image Blending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3FBF5-A1D1-22EF-242D-CD3A1FC6EA47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B74F4-3B48-3CCA-476B-115F3D8D15B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Combines two images by focusing on gradients (changes in intensity) rather than the pixel values.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9289B-83BE-B577-D7C4-92B4C665A656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https://cs.brown.edu/courses/cs129/results/proj2/taox/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B58B3-AC82-4307-0DB6-B9653D341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491" y="1792783"/>
            <a:ext cx="5544945" cy="4665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EB0728-750D-CEBB-71A1-0D69F686A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64" y="1784992"/>
            <a:ext cx="4572832" cy="467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9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7FB10-F6F5-4307-59B3-701BCEC4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FDC066-88E4-AF88-88B7-EB20E8E779F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Deep Image Blending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C02DF-6831-C9BB-A4E1-3DA982B218D2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338A1-153F-066C-B85D-AE427ACB9801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sz="1600" dirty="0">
                <a:hlinkClick r:id="rId2"/>
              </a:rPr>
              <a:t>Deep Image Blending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BFAA1-82E8-C706-3E0D-4BC824B27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363" y="1871430"/>
            <a:ext cx="7491273" cy="4595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2BA7FE-8FE6-A2C4-E754-2521BA2ACBC8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Leverages deep learning to generate realistic and visually appealing blending results.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72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31C3-76AE-5A68-0EB2-C8229483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5735EF-F911-B599-B834-22989544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42" y="1218644"/>
            <a:ext cx="8950716" cy="5309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4EBF3-84C1-58DF-E50A-5EF5CF6BEA64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Deep Image Blending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32065-51FE-ADF3-87E2-6F8216F7269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Blending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E1EDC-9B22-C5A5-FDF0-47E22979D712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sz="1600" dirty="0">
                <a:hlinkClick r:id="rId3"/>
              </a:rPr>
              <a:t>Deep Image Blending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2576430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7" y="407788"/>
            <a:ext cx="7504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Segmentation &amp; Blending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Practice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5A277-F9A1-779B-FD38-B4266B677248}"/>
              </a:ext>
            </a:extLst>
          </p:cNvPr>
          <p:cNvSpPr txBox="1"/>
          <p:nvPr/>
        </p:nvSpPr>
        <p:spPr>
          <a:xfrm>
            <a:off x="337872" y="139267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Segmentation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19B12-7542-387B-BA2A-644CA9F719E0}"/>
              </a:ext>
            </a:extLst>
          </p:cNvPr>
          <p:cNvSpPr txBox="1"/>
          <p:nvPr/>
        </p:nvSpPr>
        <p:spPr>
          <a:xfrm>
            <a:off x="337872" y="179278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Blending</a:t>
            </a:r>
          </a:p>
        </p:txBody>
      </p:sp>
    </p:spTree>
    <p:extLst>
      <p:ext uri="{BB962C8B-B14F-4D97-AF65-F5344CB8AC3E}">
        <p14:creationId xmlns:p14="http://schemas.microsoft.com/office/powerpoint/2010/main" val="1162992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224" y="2852184"/>
            <a:ext cx="5307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0902" y="3651873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anhtl@ut.edu.vn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13274" y="6542116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114298</TotalTime>
  <Words>822</Words>
  <Application>Microsoft Office PowerPoint</Application>
  <PresentationFormat>Widescreen</PresentationFormat>
  <Paragraphs>111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Linux Libertine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6542</cp:revision>
  <cp:lastPrinted>2021-09-06T03:39:39Z</cp:lastPrinted>
  <dcterms:created xsi:type="dcterms:W3CDTF">2020-10-10T03:17:57Z</dcterms:created>
  <dcterms:modified xsi:type="dcterms:W3CDTF">2025-04-28T07:46:39Z</dcterms:modified>
</cp:coreProperties>
</file>