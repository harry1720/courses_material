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61" r:id="rId2"/>
    <p:sldId id="331" r:id="rId3"/>
    <p:sldId id="1835" r:id="rId4"/>
    <p:sldId id="1806" r:id="rId5"/>
    <p:sldId id="1837" r:id="rId6"/>
    <p:sldId id="1807" r:id="rId7"/>
    <p:sldId id="1838" r:id="rId8"/>
    <p:sldId id="1839" r:id="rId9"/>
    <p:sldId id="1844" r:id="rId10"/>
    <p:sldId id="1842" r:id="rId11"/>
    <p:sldId id="1843" r:id="rId12"/>
    <p:sldId id="1841" r:id="rId13"/>
    <p:sldId id="1845" r:id="rId14"/>
    <p:sldId id="1836" r:id="rId15"/>
    <p:sldId id="1805" r:id="rId16"/>
    <p:sldId id="1846" r:id="rId17"/>
    <p:sldId id="1849" r:id="rId18"/>
    <p:sldId id="1847" r:id="rId19"/>
    <p:sldId id="1848" r:id="rId20"/>
    <p:sldId id="1850" r:id="rId21"/>
    <p:sldId id="1851" r:id="rId22"/>
    <p:sldId id="1852" r:id="rId23"/>
    <p:sldId id="1804" r:id="rId24"/>
    <p:sldId id="267" r:id="rId25"/>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extLst>
      <p:ext uri="{19B8F6BF-5375-455C-9EA6-DF929625EA0E}">
        <p15:presenceInfo xmlns:p15="http://schemas.microsoft.com/office/powerpoint/2012/main" userId="admin" providerId="None"/>
      </p:ext>
    </p:extLst>
  </p:cmAuthor>
  <p:cmAuthor id="2" name="Tran Le Anh" initials="TLA" lastIdx="3" clrIdx="1">
    <p:extLst>
      <p:ext uri="{19B8F6BF-5375-455C-9EA6-DF929625EA0E}">
        <p15:presenceInfo xmlns:p15="http://schemas.microsoft.com/office/powerpoint/2012/main" userId="Tran Le An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8189E"/>
    <a:srgbClr val="F0F0F0"/>
    <a:srgbClr val="F5F5F5"/>
    <a:srgbClr val="FDFDFD"/>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31" autoAdjust="0"/>
    <p:restoredTop sz="93988" autoAdjust="0"/>
  </p:normalViewPr>
  <p:slideViewPr>
    <p:cSldViewPr snapToGrid="0">
      <p:cViewPr varScale="1">
        <p:scale>
          <a:sx n="112" d="100"/>
          <a:sy n="112" d="100"/>
        </p:scale>
        <p:origin x="834" y="78"/>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47" cy="498328"/>
          </a:xfrm>
          <a:prstGeom prst="rect">
            <a:avLst/>
          </a:prstGeom>
        </p:spPr>
        <p:txBody>
          <a:bodyPr vert="horz" lIns="92108" tIns="46054" rIns="92108" bIns="46054" rtlCol="0"/>
          <a:lstStyle>
            <a:lvl1pPr algn="l">
              <a:defRPr sz="1200"/>
            </a:lvl1pPr>
          </a:lstStyle>
          <a:p>
            <a:endParaRPr lang="en-US"/>
          </a:p>
        </p:txBody>
      </p:sp>
      <p:sp>
        <p:nvSpPr>
          <p:cNvPr id="3" name="Date Placeholder 2"/>
          <p:cNvSpPr>
            <a:spLocks noGrp="1"/>
          </p:cNvSpPr>
          <p:nvPr>
            <p:ph type="dt" idx="1"/>
          </p:nvPr>
        </p:nvSpPr>
        <p:spPr>
          <a:xfrm>
            <a:off x="3849826" y="0"/>
            <a:ext cx="2946246" cy="498328"/>
          </a:xfrm>
          <a:prstGeom prst="rect">
            <a:avLst/>
          </a:prstGeom>
        </p:spPr>
        <p:txBody>
          <a:bodyPr vert="horz" lIns="92108" tIns="46054" rIns="92108" bIns="46054" rtlCol="0"/>
          <a:lstStyle>
            <a:lvl1pPr algn="r">
              <a:defRPr sz="1200"/>
            </a:lvl1pPr>
          </a:lstStyle>
          <a:p>
            <a:fld id="{73FD9801-A144-4B40-9127-0684BD7D58AB}" type="datetimeFigureOut">
              <a:rPr lang="en-US" smtClean="0"/>
              <a:t>3/30/2025</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2108" tIns="46054" rIns="92108" bIns="46054" rtlCol="0" anchor="ctr"/>
          <a:lstStyle/>
          <a:p>
            <a:endParaRPr lang="en-US"/>
          </a:p>
        </p:txBody>
      </p:sp>
      <p:sp>
        <p:nvSpPr>
          <p:cNvPr id="5" name="Notes Placeholder 4"/>
          <p:cNvSpPr>
            <a:spLocks noGrp="1"/>
          </p:cNvSpPr>
          <p:nvPr>
            <p:ph type="body" sz="quarter" idx="3"/>
          </p:nvPr>
        </p:nvSpPr>
        <p:spPr>
          <a:xfrm>
            <a:off x="679288" y="4777245"/>
            <a:ext cx="5439101" cy="3908363"/>
          </a:xfrm>
          <a:prstGeom prst="rect">
            <a:avLst/>
          </a:prstGeom>
        </p:spPr>
        <p:txBody>
          <a:bodyPr vert="horz" lIns="92108" tIns="46054" rIns="92108" bIns="4605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310"/>
            <a:ext cx="2946247" cy="498328"/>
          </a:xfrm>
          <a:prstGeom prst="rect">
            <a:avLst/>
          </a:prstGeom>
        </p:spPr>
        <p:txBody>
          <a:bodyPr vert="horz" lIns="92108" tIns="46054" rIns="92108" bIns="46054" rtlCol="0" anchor="b"/>
          <a:lstStyle>
            <a:lvl1pPr algn="l">
              <a:defRPr sz="1200"/>
            </a:lvl1pPr>
          </a:lstStyle>
          <a:p>
            <a:endParaRPr lang="en-US"/>
          </a:p>
        </p:txBody>
      </p:sp>
      <p:sp>
        <p:nvSpPr>
          <p:cNvPr id="7" name="Slide Number Placeholder 6"/>
          <p:cNvSpPr>
            <a:spLocks noGrp="1"/>
          </p:cNvSpPr>
          <p:nvPr>
            <p:ph type="sldNum" sz="quarter" idx="5"/>
          </p:nvPr>
        </p:nvSpPr>
        <p:spPr>
          <a:xfrm>
            <a:off x="3849826" y="9428310"/>
            <a:ext cx="2946246" cy="498328"/>
          </a:xfrm>
          <a:prstGeom prst="rect">
            <a:avLst/>
          </a:prstGeom>
        </p:spPr>
        <p:txBody>
          <a:bodyPr vert="horz" lIns="92108" tIns="46054" rIns="92108" bIns="46054" rtlCol="0" anchor="b"/>
          <a:lstStyle>
            <a:lvl1pPr algn="r">
              <a:defRPr sz="1200"/>
            </a:lvl1pPr>
          </a:lstStyle>
          <a:p>
            <a:fld id="{5E947791-EB80-4ECA-83D2-BD9595BD98A0}" type="slidenum">
              <a:rPr lang="en-US" smtClean="0"/>
              <a:t>‹#›</a:t>
            </a:fld>
            <a:endParaRPr lang="en-US"/>
          </a:p>
        </p:txBody>
      </p:sp>
    </p:spTree>
    <p:extLst>
      <p:ext uri="{BB962C8B-B14F-4D97-AF65-F5344CB8AC3E}">
        <p14:creationId xmlns:p14="http://schemas.microsoft.com/office/powerpoint/2010/main" val="1147632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6401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Content Placeholder 2"/>
          <p:cNvSpPr>
            <a:spLocks noGrp="1"/>
          </p:cNvSpPr>
          <p:nvPr>
            <p:ph idx="1"/>
          </p:nvPr>
        </p:nvSpPr>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385465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ko-KR"/>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a:t>Click to edit Master text styles</a:t>
            </a:r>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47113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5" name="Date Placeholder 4"/>
          <p:cNvSpPr>
            <a:spLocks noGrp="1"/>
          </p:cNvSpPr>
          <p:nvPr>
            <p:ph type="dt" sz="half" idx="10"/>
          </p:nvPr>
        </p:nvSpPr>
        <p:spPr/>
        <p:txBody>
          <a:bodyPr/>
          <a:lstStyle/>
          <a:p>
            <a:fld id="{082BFE88-591F-4A3E-B0A4-257ECE97BEAB}"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1839532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ko-KR"/>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7" name="Date Placeholder 6"/>
          <p:cNvSpPr>
            <a:spLocks noGrp="1"/>
          </p:cNvSpPr>
          <p:nvPr>
            <p:ph type="dt" sz="half" idx="10"/>
          </p:nvPr>
        </p:nvSpPr>
        <p:spPr/>
        <p:txBody>
          <a:bodyPr/>
          <a:lstStyle/>
          <a:p>
            <a:fld id="{082BFE88-591F-4A3E-B0A4-257ECE97BEAB}" type="datetimeFigureOut">
              <a:rPr lang="en-US" smtClean="0"/>
              <a:t>3/30/2025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749853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Date Placeholder 2"/>
          <p:cNvSpPr>
            <a:spLocks noGrp="1"/>
          </p:cNvSpPr>
          <p:nvPr>
            <p:ph type="dt" sz="half" idx="10"/>
          </p:nvPr>
        </p:nvSpPr>
        <p:spPr/>
        <p:txBody>
          <a:bodyPr/>
          <a:lstStyle/>
          <a:p>
            <a:fld id="{082BFE88-591F-4A3E-B0A4-257ECE97BEAB}" type="datetimeFigureOut">
              <a:rPr lang="en-US" smtClean="0"/>
              <a:t>3/30/2025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856810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2BFE88-591F-4A3E-B0A4-257ECE97BEAB}" type="datetimeFigureOut">
              <a:rPr lang="en-US" smtClean="0"/>
              <a:t>3/30/2025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40798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p:cNvSpPr>
            <a:spLocks noGrp="1"/>
          </p:cNvSpPr>
          <p:nvPr>
            <p:ph type="dt" sz="half" idx="10"/>
          </p:nvPr>
        </p:nvSpPr>
        <p:spPr/>
        <p:txBody>
          <a:bodyPr/>
          <a:lstStyle/>
          <a:p>
            <a:fld id="{082BFE88-591F-4A3E-B0A4-257ECE97BEAB}"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991959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ko-KR"/>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ko-KR"/>
              <a:t>Click to edit Master text styles</a:t>
            </a:r>
          </a:p>
        </p:txBody>
      </p:sp>
      <p:sp>
        <p:nvSpPr>
          <p:cNvPr id="5" name="Date Placeholder 4"/>
          <p:cNvSpPr>
            <a:spLocks noGrp="1"/>
          </p:cNvSpPr>
          <p:nvPr>
            <p:ph type="dt" sz="half" idx="10"/>
          </p:nvPr>
        </p:nvSpPr>
        <p:spPr/>
        <p:txBody>
          <a:bodyPr/>
          <a:lstStyle/>
          <a:p>
            <a:fld id="{082BFE88-591F-4A3E-B0A4-257ECE97BEAB}" type="datetimeFigureOut">
              <a:rPr lang="en-US" smtClean="0"/>
              <a:t>3/30/2025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4162544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726672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ko-KR"/>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10"/>
          </p:nvPr>
        </p:nvSpPr>
        <p:spPr/>
        <p:txBody>
          <a:bodyPr/>
          <a:lstStyle/>
          <a:p>
            <a:fld id="{082BFE88-591F-4A3E-B0A4-257ECE97BEAB}" type="datetimeFigureOut">
              <a:rPr lang="en-US" smtClean="0"/>
              <a:t>3/30/2025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976AA-E383-40E1-B8E8-5B4096AD0A48}" type="slidenum">
              <a:rPr lang="en-US" smtClean="0"/>
              <a:t>‹#›</a:t>
            </a:fld>
            <a:endParaRPr lang="en-US"/>
          </a:p>
        </p:txBody>
      </p:sp>
    </p:spTree>
    <p:extLst>
      <p:ext uri="{BB962C8B-B14F-4D97-AF65-F5344CB8AC3E}">
        <p14:creationId xmlns:p14="http://schemas.microsoft.com/office/powerpoint/2010/main" val="3124180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ko-KR"/>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2BFE88-591F-4A3E-B0A4-257ECE97BEAB}" type="datetimeFigureOut">
              <a:rPr lang="en-US" smtClean="0"/>
              <a:t>3/30/2025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Rectangle 6">
            <a:extLst>
              <a:ext uri="{FF2B5EF4-FFF2-40B4-BE49-F238E27FC236}">
                <a16:creationId xmlns:a16="http://schemas.microsoft.com/office/drawing/2014/main" id="{F62F85EF-21C5-415F-AEF3-0F51C92A13CF}"/>
              </a:ext>
            </a:extLst>
          </p:cNvPr>
          <p:cNvSpPr/>
          <p:nvPr userDrawn="1"/>
        </p:nvSpPr>
        <p:spPr>
          <a:xfrm>
            <a:off x="9877587" y="6610027"/>
            <a:ext cx="2314413" cy="2479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100" dirty="0">
                <a:solidFill>
                  <a:schemeClr val="bg1">
                    <a:lumMod val="75000"/>
                  </a:schemeClr>
                </a:solidFill>
              </a:rPr>
              <a:t>anhtl@ut.edu.vn</a:t>
            </a:r>
          </a:p>
        </p:txBody>
      </p:sp>
      <p:sp>
        <p:nvSpPr>
          <p:cNvPr id="8" name="TextBox 7">
            <a:extLst>
              <a:ext uri="{FF2B5EF4-FFF2-40B4-BE49-F238E27FC236}">
                <a16:creationId xmlns:a16="http://schemas.microsoft.com/office/drawing/2014/main" id="{023A4BF7-4007-4EE9-8948-4D4E0A77C823}"/>
              </a:ext>
            </a:extLst>
          </p:cNvPr>
          <p:cNvSpPr txBox="1"/>
          <p:nvPr userDrawn="1"/>
        </p:nvSpPr>
        <p:spPr>
          <a:xfrm>
            <a:off x="4053216" y="30693"/>
            <a:ext cx="4085568" cy="284052"/>
          </a:xfrm>
          <a:prstGeom prst="rect">
            <a:avLst/>
          </a:prstGeom>
          <a:noFill/>
        </p:spPr>
        <p:txBody>
          <a:bodyPr wrap="square" rtlCol="0">
            <a:spAutoFit/>
          </a:bodyPr>
          <a:lstStyle/>
          <a:p>
            <a:pPr algn="ctr"/>
            <a:r>
              <a:rPr lang="en-US" sz="1246" dirty="0">
                <a:solidFill>
                  <a:schemeClr val="bg1">
                    <a:lumMod val="75000"/>
                  </a:schemeClr>
                </a:solidFill>
              </a:rPr>
              <a:t>Ho Chi Minh City University of Transport</a:t>
            </a:r>
          </a:p>
        </p:txBody>
      </p:sp>
    </p:spTree>
    <p:extLst>
      <p:ext uri="{BB962C8B-B14F-4D97-AF65-F5344CB8AC3E}">
        <p14:creationId xmlns:p14="http://schemas.microsoft.com/office/powerpoint/2010/main" val="11005746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neubias.github.io/training-resources/median_filter/index.html"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neubias.github.io/training-resources/median_filter/index.html"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robots.ox.ac.uk/~az/lectures/ia/lect2.pdf" TargetMode="Externa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hyperlink" Target="https://developer.apple.com/documentation/accelerate/halftone-descreening-with-2d-fast-fourier-transfor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34514" y="2762804"/>
            <a:ext cx="7922951" cy="754694"/>
          </a:xfrm>
          <a:prstGeom prst="rect">
            <a:avLst/>
          </a:prstGeom>
          <a:noFill/>
        </p:spPr>
        <p:txBody>
          <a:bodyPr wrap="square" rtlCol="0">
            <a:spAutoFit/>
          </a:bodyPr>
          <a:lstStyle/>
          <a:p>
            <a:pPr algn="ctr">
              <a:lnSpc>
                <a:spcPct val="150000"/>
              </a:lnSpc>
            </a:pPr>
            <a:r>
              <a:rPr lang="en-US" sz="3200" b="1" dirty="0"/>
              <a:t>LOCAL OPERATORS &amp; FOURIER TRANSFORM</a:t>
            </a:r>
          </a:p>
        </p:txBody>
      </p:sp>
      <p:sp>
        <p:nvSpPr>
          <p:cNvPr id="3" name="TextBox 2"/>
          <p:cNvSpPr txBox="1"/>
          <p:nvPr/>
        </p:nvSpPr>
        <p:spPr>
          <a:xfrm>
            <a:off x="4922430" y="4487464"/>
            <a:ext cx="2347122" cy="369332"/>
          </a:xfrm>
          <a:prstGeom prst="rect">
            <a:avLst/>
          </a:prstGeom>
          <a:noFill/>
        </p:spPr>
        <p:txBody>
          <a:bodyPr wrap="square" rtlCol="0">
            <a:spAutoFit/>
          </a:bodyPr>
          <a:lstStyle/>
          <a:p>
            <a:pPr algn="ctr"/>
            <a:r>
              <a:rPr lang="en-US" dirty="0"/>
              <a:t>Tran Le Anh</a:t>
            </a:r>
          </a:p>
        </p:txBody>
      </p:sp>
      <p:sp>
        <p:nvSpPr>
          <p:cNvPr id="4" name="TextBox 3"/>
          <p:cNvSpPr txBox="1"/>
          <p:nvPr/>
        </p:nvSpPr>
        <p:spPr>
          <a:xfrm>
            <a:off x="4563905" y="30525"/>
            <a:ext cx="3064176" cy="284052"/>
          </a:xfrm>
          <a:prstGeom prst="rect">
            <a:avLst/>
          </a:prstGeom>
          <a:solidFill>
            <a:schemeClr val="bg1"/>
          </a:solidFill>
        </p:spPr>
        <p:txBody>
          <a:bodyPr wrap="square" rtlCol="0">
            <a:spAutoFit/>
          </a:bodyPr>
          <a:lstStyle/>
          <a:p>
            <a:pPr algn="ctr"/>
            <a:r>
              <a:rPr lang="en-US" sz="1246" dirty="0"/>
              <a:t>Ho Chi Minh City University of Transport</a:t>
            </a:r>
          </a:p>
        </p:txBody>
      </p:sp>
      <p:sp>
        <p:nvSpPr>
          <p:cNvPr id="5" name="TextBox 4"/>
          <p:cNvSpPr txBox="1"/>
          <p:nvPr/>
        </p:nvSpPr>
        <p:spPr>
          <a:xfrm>
            <a:off x="4853013" y="4856796"/>
            <a:ext cx="2485955" cy="338554"/>
          </a:xfrm>
          <a:prstGeom prst="rect">
            <a:avLst/>
          </a:prstGeom>
          <a:noFill/>
        </p:spPr>
        <p:txBody>
          <a:bodyPr wrap="square" rtlCol="0">
            <a:spAutoFit/>
          </a:bodyPr>
          <a:lstStyle/>
          <a:p>
            <a:pPr algn="ctr"/>
            <a:r>
              <a:rPr lang="en-US" sz="1600" dirty="0"/>
              <a:t>anhtl@ut.edu.vn</a:t>
            </a:r>
          </a:p>
        </p:txBody>
      </p:sp>
      <p:sp>
        <p:nvSpPr>
          <p:cNvPr id="6" name="TextBox 5"/>
          <p:cNvSpPr txBox="1"/>
          <p:nvPr/>
        </p:nvSpPr>
        <p:spPr>
          <a:xfrm>
            <a:off x="5230894" y="6534648"/>
            <a:ext cx="1730195" cy="284052"/>
          </a:xfrm>
          <a:prstGeom prst="rect">
            <a:avLst/>
          </a:prstGeom>
          <a:noFill/>
        </p:spPr>
        <p:txBody>
          <a:bodyPr wrap="square" rtlCol="0">
            <a:spAutoFit/>
          </a:bodyPr>
          <a:lstStyle/>
          <a:p>
            <a:pPr algn="ctr"/>
            <a:r>
              <a:rPr lang="en-US" sz="1246" dirty="0"/>
              <a:t>03-2025</a:t>
            </a:r>
          </a:p>
        </p:txBody>
      </p:sp>
      <p:sp>
        <p:nvSpPr>
          <p:cNvPr id="7" name="TextBox 6"/>
          <p:cNvSpPr txBox="1"/>
          <p:nvPr/>
        </p:nvSpPr>
        <p:spPr>
          <a:xfrm>
            <a:off x="3752912" y="1458669"/>
            <a:ext cx="4686156" cy="400110"/>
          </a:xfrm>
          <a:prstGeom prst="rect">
            <a:avLst/>
          </a:prstGeom>
          <a:noFill/>
        </p:spPr>
        <p:txBody>
          <a:bodyPr wrap="square" rtlCol="0">
            <a:spAutoFit/>
          </a:bodyPr>
          <a:lstStyle/>
          <a:p>
            <a:pPr algn="ctr"/>
            <a:r>
              <a:rPr lang="en-US" sz="2000" dirty="0"/>
              <a:t>Image Processing and Computer Vision</a:t>
            </a:r>
          </a:p>
        </p:txBody>
      </p:sp>
      <p:sp>
        <p:nvSpPr>
          <p:cNvPr id="8" name="Rectangle 7"/>
          <p:cNvSpPr/>
          <p:nvPr/>
        </p:nvSpPr>
        <p:spPr>
          <a:xfrm>
            <a:off x="10714413" y="6534648"/>
            <a:ext cx="1454727" cy="3158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AC10F536-84A9-F63C-9FC0-C898AC1A1B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71141" y="61725"/>
            <a:ext cx="2252164" cy="505067"/>
          </a:xfrm>
          <a:prstGeom prst="rect">
            <a:avLst/>
          </a:prstGeom>
        </p:spPr>
      </p:pic>
    </p:spTree>
    <p:extLst>
      <p:ext uri="{BB962C8B-B14F-4D97-AF65-F5344CB8AC3E}">
        <p14:creationId xmlns:p14="http://schemas.microsoft.com/office/powerpoint/2010/main" val="349254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extBox 8"/>
          <p:cNvSpPr txBox="1"/>
          <p:nvPr/>
        </p:nvSpPr>
        <p:spPr>
          <a:xfrm>
            <a:off x="3099381" y="2505795"/>
            <a:ext cx="4872669" cy="967957"/>
          </a:xfrm>
          <a:prstGeom prst="rect">
            <a:avLst/>
          </a:prstGeom>
          <a:noFill/>
        </p:spPr>
        <p:txBody>
          <a:bodyPr wrap="square" rtlCol="0">
            <a:spAutoFit/>
          </a:bodyPr>
          <a:lstStyle/>
          <a:p>
            <a:pPr>
              <a:lnSpc>
                <a:spcPct val="150000"/>
              </a:lnSpc>
            </a:pPr>
            <a:r>
              <a:rPr lang="en-US" altLang="ko-KR" sz="2000" b="1" dirty="0"/>
              <a:t>Local Operators </a:t>
            </a:r>
          </a:p>
          <a:p>
            <a:pPr>
              <a:lnSpc>
                <a:spcPct val="150000"/>
              </a:lnSpc>
            </a:pPr>
            <a:r>
              <a:rPr lang="en-US" altLang="ko-KR" sz="2000" b="1" dirty="0"/>
              <a:t>Fourier Transform</a:t>
            </a:r>
          </a:p>
        </p:txBody>
      </p:sp>
    </p:spTree>
    <p:extLst>
      <p:ext uri="{BB962C8B-B14F-4D97-AF65-F5344CB8AC3E}">
        <p14:creationId xmlns:p14="http://schemas.microsoft.com/office/powerpoint/2010/main" val="187719318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099381" y="2505795"/>
            <a:ext cx="4872669" cy="967957"/>
          </a:xfrm>
          <a:prstGeom prst="rect">
            <a:avLst/>
          </a:prstGeom>
          <a:noFill/>
        </p:spPr>
        <p:txBody>
          <a:bodyPr wrap="square" rtlCol="0">
            <a:spAutoFit/>
          </a:bodyPr>
          <a:lstStyle/>
          <a:p>
            <a:pPr>
              <a:lnSpc>
                <a:spcPct val="150000"/>
              </a:lnSpc>
            </a:pPr>
            <a:r>
              <a:rPr lang="en-US" altLang="ko-KR" sz="2000" b="1" dirty="0"/>
              <a:t>Local Operators </a:t>
            </a:r>
          </a:p>
          <a:p>
            <a:pPr>
              <a:lnSpc>
                <a:spcPct val="150000"/>
              </a:lnSpc>
            </a:pPr>
            <a:r>
              <a:rPr lang="en-US" altLang="ko-KR" sz="2000" b="1" dirty="0">
                <a:solidFill>
                  <a:schemeClr val="bg1">
                    <a:lumMod val="85000"/>
                  </a:schemeClr>
                </a:solidFill>
              </a:rPr>
              <a:t>Fourier Transform</a:t>
            </a:r>
          </a:p>
        </p:txBody>
      </p:sp>
    </p:spTree>
    <p:extLst>
      <p:ext uri="{BB962C8B-B14F-4D97-AF65-F5344CB8AC3E}">
        <p14:creationId xmlns:p14="http://schemas.microsoft.com/office/powerpoint/2010/main" val="2037465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638FD-9C9C-D13B-9A65-546036C6E12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2EB427A-A4DF-57EA-B3A8-CD8A39E6070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Definition</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D60D36E5-1CE4-A91D-77EE-F4461F0EB37C}"/>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sp>
        <p:nvSpPr>
          <p:cNvPr id="2" name="TextBox 1">
            <a:extLst>
              <a:ext uri="{FF2B5EF4-FFF2-40B4-BE49-F238E27FC236}">
                <a16:creationId xmlns:a16="http://schemas.microsoft.com/office/drawing/2014/main" id="{2AD233D3-CE1B-D465-3271-A252EE798573}"/>
              </a:ext>
            </a:extLst>
          </p:cNvPr>
          <p:cNvSpPr txBox="1"/>
          <p:nvPr/>
        </p:nvSpPr>
        <p:spPr>
          <a:xfrm>
            <a:off x="191115" y="1392673"/>
            <a:ext cx="11809770" cy="707886"/>
          </a:xfrm>
          <a:prstGeom prst="rect">
            <a:avLst/>
          </a:prstGeom>
          <a:noFill/>
        </p:spPr>
        <p:txBody>
          <a:bodyPr wrap="square" rtlCol="0">
            <a:spAutoFit/>
          </a:bodyPr>
          <a:lstStyle/>
          <a:p>
            <a:pPr algn="just"/>
            <a:r>
              <a:rPr lang="en-US" altLang="ko-KR" sz="2000" dirty="0"/>
              <a:t>In computer vision, local operators, also called neighborhood operators, process images by considering a pixel's value relative to its surrounding pixels, unlike point operations which only consider a single pixel. </a:t>
            </a:r>
            <a:endParaRPr lang="en-US" altLang="ko-KR" sz="2000" dirty="0">
              <a:solidFill>
                <a:srgbClr val="FF0000"/>
              </a:solidFill>
            </a:endParaRPr>
          </a:p>
        </p:txBody>
      </p:sp>
      <p:pic>
        <p:nvPicPr>
          <p:cNvPr id="1026" name="Picture 2" descr="Image Functions, Pixels and Types of Image Processing | by Saai Sudarsanan  D | Medium">
            <a:extLst>
              <a:ext uri="{FF2B5EF4-FFF2-40B4-BE49-F238E27FC236}">
                <a16:creationId xmlns:a16="http://schemas.microsoft.com/office/drawing/2014/main" id="{23B63F4A-A849-C02F-6605-9D483C439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2479" y="3236530"/>
            <a:ext cx="4679610" cy="221764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84033A1-EE0F-EABE-90DD-821E6A8B8675}"/>
              </a:ext>
            </a:extLst>
          </p:cNvPr>
          <p:cNvPicPr>
            <a:picLocks noChangeAspect="1"/>
          </p:cNvPicPr>
          <p:nvPr/>
        </p:nvPicPr>
        <p:blipFill>
          <a:blip r:embed="rId3"/>
          <a:stretch>
            <a:fillRect/>
          </a:stretch>
        </p:blipFill>
        <p:spPr>
          <a:xfrm>
            <a:off x="1092486" y="3444557"/>
            <a:ext cx="4170889" cy="1600874"/>
          </a:xfrm>
          <a:prstGeom prst="rect">
            <a:avLst/>
          </a:prstGeom>
        </p:spPr>
      </p:pic>
      <p:sp>
        <p:nvSpPr>
          <p:cNvPr id="7" name="Oval 6">
            <a:extLst>
              <a:ext uri="{FF2B5EF4-FFF2-40B4-BE49-F238E27FC236}">
                <a16:creationId xmlns:a16="http://schemas.microsoft.com/office/drawing/2014/main" id="{AAA69487-ACA7-0B51-9DF4-AB836CB9F393}"/>
              </a:ext>
            </a:extLst>
          </p:cNvPr>
          <p:cNvSpPr/>
          <p:nvPr/>
        </p:nvSpPr>
        <p:spPr>
          <a:xfrm>
            <a:off x="6646128" y="3455708"/>
            <a:ext cx="947854" cy="1004780"/>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8">
            <a:extLst>
              <a:ext uri="{FF2B5EF4-FFF2-40B4-BE49-F238E27FC236}">
                <a16:creationId xmlns:a16="http://schemas.microsoft.com/office/drawing/2014/main" id="{6AB8D9A4-494A-EB90-770E-F9D127913043}"/>
              </a:ext>
            </a:extLst>
          </p:cNvPr>
          <p:cNvSpPr/>
          <p:nvPr/>
        </p:nvSpPr>
        <p:spPr>
          <a:xfrm>
            <a:off x="892099" y="3247681"/>
            <a:ext cx="4572000" cy="192648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77819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638FD-9C9C-D13B-9A65-546036C6E12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2EB427A-A4DF-57EA-B3A8-CD8A39E6070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Local vs. Global Operators</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D60D36E5-1CE4-A91D-77EE-F4461F0EB37C}"/>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sp>
        <p:nvSpPr>
          <p:cNvPr id="2" name="TextBox 1">
            <a:extLst>
              <a:ext uri="{FF2B5EF4-FFF2-40B4-BE49-F238E27FC236}">
                <a16:creationId xmlns:a16="http://schemas.microsoft.com/office/drawing/2014/main" id="{2AD233D3-CE1B-D465-3271-A252EE798573}"/>
              </a:ext>
            </a:extLst>
          </p:cNvPr>
          <p:cNvSpPr txBox="1"/>
          <p:nvPr/>
        </p:nvSpPr>
        <p:spPr>
          <a:xfrm>
            <a:off x="191115" y="1392673"/>
            <a:ext cx="11809770" cy="707886"/>
          </a:xfrm>
          <a:prstGeom prst="rect">
            <a:avLst/>
          </a:prstGeom>
          <a:noFill/>
        </p:spPr>
        <p:txBody>
          <a:bodyPr wrap="square" rtlCol="0">
            <a:spAutoFit/>
          </a:bodyPr>
          <a:lstStyle/>
          <a:p>
            <a:pPr algn="just"/>
            <a:r>
              <a:rPr lang="en-US" altLang="ko-KR" sz="2000" dirty="0"/>
              <a:t>- Local operators focus on a limited area (neighborhood) of pixels around a target pixel to determine the output value for that pixel. </a:t>
            </a:r>
            <a:endParaRPr lang="en-US" altLang="ko-KR" sz="2000" dirty="0">
              <a:solidFill>
                <a:srgbClr val="FF0000"/>
              </a:solidFill>
            </a:endParaRPr>
          </a:p>
        </p:txBody>
      </p:sp>
      <p:sp>
        <p:nvSpPr>
          <p:cNvPr id="3" name="TextBox 2">
            <a:extLst>
              <a:ext uri="{FF2B5EF4-FFF2-40B4-BE49-F238E27FC236}">
                <a16:creationId xmlns:a16="http://schemas.microsoft.com/office/drawing/2014/main" id="{F2B54979-18DE-4050-50AA-2D98E1155310}"/>
              </a:ext>
            </a:extLst>
          </p:cNvPr>
          <p:cNvSpPr txBox="1"/>
          <p:nvPr/>
        </p:nvSpPr>
        <p:spPr>
          <a:xfrm>
            <a:off x="191115" y="2100559"/>
            <a:ext cx="11809770" cy="400110"/>
          </a:xfrm>
          <a:prstGeom prst="rect">
            <a:avLst/>
          </a:prstGeom>
          <a:noFill/>
        </p:spPr>
        <p:txBody>
          <a:bodyPr wrap="square" rtlCol="0">
            <a:spAutoFit/>
          </a:bodyPr>
          <a:lstStyle/>
          <a:p>
            <a:pPr algn="just"/>
            <a:r>
              <a:rPr lang="en-US" altLang="ko-KR" sz="2000" dirty="0"/>
              <a:t>- Global operators, on the other hand, consider the entire image when calculating the output pixel value. </a:t>
            </a:r>
            <a:endParaRPr lang="en-US" altLang="ko-KR" sz="2000" dirty="0">
              <a:solidFill>
                <a:srgbClr val="FF0000"/>
              </a:solidFill>
            </a:endParaRPr>
          </a:p>
        </p:txBody>
      </p:sp>
      <p:pic>
        <p:nvPicPr>
          <p:cNvPr id="5" name="Picture 4">
            <a:extLst>
              <a:ext uri="{FF2B5EF4-FFF2-40B4-BE49-F238E27FC236}">
                <a16:creationId xmlns:a16="http://schemas.microsoft.com/office/drawing/2014/main" id="{8104CB25-4006-46A2-4B0D-658C14BE7D2E}"/>
              </a:ext>
            </a:extLst>
          </p:cNvPr>
          <p:cNvPicPr>
            <a:picLocks noChangeAspect="1"/>
          </p:cNvPicPr>
          <p:nvPr/>
        </p:nvPicPr>
        <p:blipFill>
          <a:blip r:embed="rId2"/>
          <a:stretch>
            <a:fillRect/>
          </a:stretch>
        </p:blipFill>
        <p:spPr>
          <a:xfrm>
            <a:off x="2804287" y="3108193"/>
            <a:ext cx="6583425" cy="2956735"/>
          </a:xfrm>
          <a:prstGeom prst="rect">
            <a:avLst/>
          </a:prstGeom>
        </p:spPr>
      </p:pic>
    </p:spTree>
    <p:extLst>
      <p:ext uri="{BB962C8B-B14F-4D97-AF65-F5344CB8AC3E}">
        <p14:creationId xmlns:p14="http://schemas.microsoft.com/office/powerpoint/2010/main" val="3103416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C66-75D9-09F7-5214-96B8544319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0787FA-CD74-5B8E-EE61-D1E955AD099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Examples</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2048F168-2AE0-95C3-237D-12F3A8125F4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sp>
        <p:nvSpPr>
          <p:cNvPr id="2" name="TextBox 1">
            <a:extLst>
              <a:ext uri="{FF2B5EF4-FFF2-40B4-BE49-F238E27FC236}">
                <a16:creationId xmlns:a16="http://schemas.microsoft.com/office/drawing/2014/main" id="{136090B8-FBC6-8708-14BE-18D6869E0D5D}"/>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Convolution with Kernels: Sobel, Prewitt, Laplacian</a:t>
            </a:r>
          </a:p>
        </p:txBody>
      </p:sp>
      <p:sp>
        <p:nvSpPr>
          <p:cNvPr id="3" name="TextBox 2">
            <a:extLst>
              <a:ext uri="{FF2B5EF4-FFF2-40B4-BE49-F238E27FC236}">
                <a16:creationId xmlns:a16="http://schemas.microsoft.com/office/drawing/2014/main" id="{E5AEA6BD-12CD-0DB2-AB0C-0B46FB78AEA9}"/>
              </a:ext>
            </a:extLst>
          </p:cNvPr>
          <p:cNvSpPr txBox="1"/>
          <p:nvPr/>
        </p:nvSpPr>
        <p:spPr>
          <a:xfrm>
            <a:off x="197337" y="1792783"/>
            <a:ext cx="11809770" cy="400110"/>
          </a:xfrm>
          <a:prstGeom prst="rect">
            <a:avLst/>
          </a:prstGeom>
          <a:noFill/>
        </p:spPr>
        <p:txBody>
          <a:bodyPr wrap="square" rtlCol="0">
            <a:spAutoFit/>
          </a:bodyPr>
          <a:lstStyle/>
          <a:p>
            <a:pPr algn="just"/>
            <a:r>
              <a:rPr lang="en-US" altLang="ko-KR" sz="2000" dirty="0"/>
              <a:t>- Smoothing Filters: Gaussian Blur, Mean Filter (Box Filter)</a:t>
            </a:r>
          </a:p>
        </p:txBody>
      </p:sp>
      <p:sp>
        <p:nvSpPr>
          <p:cNvPr id="6" name="TextBox 5">
            <a:extLst>
              <a:ext uri="{FF2B5EF4-FFF2-40B4-BE49-F238E27FC236}">
                <a16:creationId xmlns:a16="http://schemas.microsoft.com/office/drawing/2014/main" id="{5CE81155-30D2-75F6-48D8-886EEB4F1F57}"/>
              </a:ext>
            </a:extLst>
          </p:cNvPr>
          <p:cNvSpPr txBox="1"/>
          <p:nvPr/>
        </p:nvSpPr>
        <p:spPr>
          <a:xfrm>
            <a:off x="191115" y="2192893"/>
            <a:ext cx="11809770" cy="400110"/>
          </a:xfrm>
          <a:prstGeom prst="rect">
            <a:avLst/>
          </a:prstGeom>
          <a:noFill/>
        </p:spPr>
        <p:txBody>
          <a:bodyPr wrap="square" rtlCol="0">
            <a:spAutoFit/>
          </a:bodyPr>
          <a:lstStyle/>
          <a:p>
            <a:pPr algn="just"/>
            <a:r>
              <a:rPr lang="en-US" altLang="ko-KR" sz="2000" dirty="0"/>
              <a:t>- Sharpening Filters: Unsharp Masking, High-Pass Filter</a:t>
            </a:r>
          </a:p>
        </p:txBody>
      </p:sp>
      <p:sp>
        <p:nvSpPr>
          <p:cNvPr id="7" name="TextBox 6">
            <a:extLst>
              <a:ext uri="{FF2B5EF4-FFF2-40B4-BE49-F238E27FC236}">
                <a16:creationId xmlns:a16="http://schemas.microsoft.com/office/drawing/2014/main" id="{9439C0A3-6BF1-AFC4-05B5-2D0243163769}"/>
              </a:ext>
            </a:extLst>
          </p:cNvPr>
          <p:cNvSpPr txBox="1"/>
          <p:nvPr/>
        </p:nvSpPr>
        <p:spPr>
          <a:xfrm>
            <a:off x="197337" y="2593003"/>
            <a:ext cx="11809770" cy="400110"/>
          </a:xfrm>
          <a:prstGeom prst="rect">
            <a:avLst/>
          </a:prstGeom>
          <a:noFill/>
        </p:spPr>
        <p:txBody>
          <a:bodyPr wrap="square" rtlCol="0">
            <a:spAutoFit/>
          </a:bodyPr>
          <a:lstStyle/>
          <a:p>
            <a:pPr algn="just"/>
            <a:r>
              <a:rPr lang="en-US" altLang="ko-KR" sz="2000" dirty="0"/>
              <a:t>- Median Filter: Replaces each pixel with the median value of its neighborhood</a:t>
            </a:r>
          </a:p>
        </p:txBody>
      </p:sp>
      <p:sp>
        <p:nvSpPr>
          <p:cNvPr id="4" name="TextBox 3">
            <a:extLst>
              <a:ext uri="{FF2B5EF4-FFF2-40B4-BE49-F238E27FC236}">
                <a16:creationId xmlns:a16="http://schemas.microsoft.com/office/drawing/2014/main" id="{EDB555F3-E6A4-49B5-D131-2096C561CC35}"/>
              </a:ext>
            </a:extLst>
          </p:cNvPr>
          <p:cNvSpPr txBox="1"/>
          <p:nvPr/>
        </p:nvSpPr>
        <p:spPr>
          <a:xfrm>
            <a:off x="197337" y="2993113"/>
            <a:ext cx="11809770" cy="400110"/>
          </a:xfrm>
          <a:prstGeom prst="rect">
            <a:avLst/>
          </a:prstGeom>
          <a:noFill/>
        </p:spPr>
        <p:txBody>
          <a:bodyPr wrap="square" rtlCol="0">
            <a:spAutoFit/>
          </a:bodyPr>
          <a:lstStyle/>
          <a:p>
            <a:pPr algn="just"/>
            <a:r>
              <a:rPr lang="en-US" altLang="ko-KR" sz="2000" dirty="0"/>
              <a:t>- Morphological Operators: Dilation, Erosion</a:t>
            </a:r>
          </a:p>
        </p:txBody>
      </p:sp>
    </p:spTree>
    <p:extLst>
      <p:ext uri="{BB962C8B-B14F-4D97-AF65-F5344CB8AC3E}">
        <p14:creationId xmlns:p14="http://schemas.microsoft.com/office/powerpoint/2010/main" val="1204572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C66-75D9-09F7-5214-96B8544319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0787FA-CD74-5B8E-EE61-D1E955AD099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Convolution with Kernels</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2048F168-2AE0-95C3-237D-12F3A8125F4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pic>
        <p:nvPicPr>
          <p:cNvPr id="4" name="Picture 3">
            <a:extLst>
              <a:ext uri="{FF2B5EF4-FFF2-40B4-BE49-F238E27FC236}">
                <a16:creationId xmlns:a16="http://schemas.microsoft.com/office/drawing/2014/main" id="{CD7F12F7-B0FF-0103-D9B0-92CB59E68DBA}"/>
              </a:ext>
            </a:extLst>
          </p:cNvPr>
          <p:cNvPicPr>
            <a:picLocks noChangeAspect="1"/>
          </p:cNvPicPr>
          <p:nvPr/>
        </p:nvPicPr>
        <p:blipFill>
          <a:blip r:embed="rId2"/>
          <a:stretch>
            <a:fillRect/>
          </a:stretch>
        </p:blipFill>
        <p:spPr>
          <a:xfrm>
            <a:off x="1025913" y="1392673"/>
            <a:ext cx="3962086" cy="1589311"/>
          </a:xfrm>
          <a:prstGeom prst="rect">
            <a:avLst/>
          </a:prstGeom>
        </p:spPr>
      </p:pic>
      <p:pic>
        <p:nvPicPr>
          <p:cNvPr id="5" name="Picture 4">
            <a:extLst>
              <a:ext uri="{FF2B5EF4-FFF2-40B4-BE49-F238E27FC236}">
                <a16:creationId xmlns:a16="http://schemas.microsoft.com/office/drawing/2014/main" id="{02BC312A-F4A0-3E1A-9756-B804C110810C}"/>
              </a:ext>
            </a:extLst>
          </p:cNvPr>
          <p:cNvPicPr>
            <a:picLocks noChangeAspect="1"/>
          </p:cNvPicPr>
          <p:nvPr/>
        </p:nvPicPr>
        <p:blipFill>
          <a:blip r:embed="rId3"/>
          <a:stretch>
            <a:fillRect/>
          </a:stretch>
        </p:blipFill>
        <p:spPr>
          <a:xfrm>
            <a:off x="1065996" y="3315488"/>
            <a:ext cx="3947463" cy="1480299"/>
          </a:xfrm>
          <a:prstGeom prst="rect">
            <a:avLst/>
          </a:prstGeom>
        </p:spPr>
      </p:pic>
      <p:pic>
        <p:nvPicPr>
          <p:cNvPr id="9" name="Picture 2">
            <a:extLst>
              <a:ext uri="{FF2B5EF4-FFF2-40B4-BE49-F238E27FC236}">
                <a16:creationId xmlns:a16="http://schemas.microsoft.com/office/drawing/2014/main" id="{63170034-548A-FF51-EA9B-508F93EEBC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1088" y="5047283"/>
            <a:ext cx="3048000" cy="13335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DE94BD2-41BB-7B0F-71FD-8DEC8C7F9431}"/>
              </a:ext>
            </a:extLst>
          </p:cNvPr>
          <p:cNvSpPr txBox="1"/>
          <p:nvPr/>
        </p:nvSpPr>
        <p:spPr>
          <a:xfrm>
            <a:off x="905524" y="6470564"/>
            <a:ext cx="4279127" cy="261610"/>
          </a:xfrm>
          <a:prstGeom prst="rect">
            <a:avLst/>
          </a:prstGeom>
          <a:noFill/>
        </p:spPr>
        <p:txBody>
          <a:bodyPr wrap="square" rtlCol="0">
            <a:spAutoFit/>
          </a:bodyPr>
          <a:lstStyle/>
          <a:p>
            <a:pPr algn="ctr"/>
            <a:r>
              <a:rPr lang="en-US" altLang="ko-KR" sz="1100" dirty="0">
                <a:solidFill>
                  <a:schemeClr val="bg1">
                    <a:lumMod val="50000"/>
                  </a:schemeClr>
                </a:solidFill>
              </a:rPr>
              <a:t>Laplacian </a:t>
            </a:r>
          </a:p>
        </p:txBody>
      </p:sp>
      <p:pic>
        <p:nvPicPr>
          <p:cNvPr id="12" name="Picture 2" descr="OpenCV: Image Gradients">
            <a:extLst>
              <a:ext uri="{FF2B5EF4-FFF2-40B4-BE49-F238E27FC236}">
                <a16:creationId xmlns:a16="http://schemas.microsoft.com/office/drawing/2014/main" id="{C4B2B68A-277B-85BE-9A80-54613BEF88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5667" y="407788"/>
            <a:ext cx="5746603" cy="6219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401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C66-75D9-09F7-5214-96B8544319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0787FA-CD74-5B8E-EE61-D1E955AD099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Smoothing Filters</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2048F168-2AE0-95C3-237D-12F3A8125F4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pic>
        <p:nvPicPr>
          <p:cNvPr id="4" name="Picture 2">
            <a:extLst>
              <a:ext uri="{FF2B5EF4-FFF2-40B4-BE49-F238E27FC236}">
                <a16:creationId xmlns:a16="http://schemas.microsoft.com/office/drawing/2014/main" id="{C4AEE16F-CC74-564B-71E6-240324ED77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329"/>
          <a:stretch/>
        </p:blipFill>
        <p:spPr bwMode="auto">
          <a:xfrm>
            <a:off x="1415275" y="1789004"/>
            <a:ext cx="9361449" cy="4616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923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C66-75D9-09F7-5214-96B8544319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0787FA-CD74-5B8E-EE61-D1E955AD0999}"/>
              </a:ext>
            </a:extLst>
          </p:cNvPr>
          <p:cNvSpPr txBox="1"/>
          <p:nvPr/>
        </p:nvSpPr>
        <p:spPr>
          <a:xfrm>
            <a:off x="191115" y="931008"/>
            <a:ext cx="7057178" cy="461665"/>
          </a:xfrm>
          <a:prstGeom prst="rect">
            <a:avLst/>
          </a:prstGeom>
          <a:noFill/>
        </p:spPr>
        <p:txBody>
          <a:bodyPr wrap="square" rtlCol="0">
            <a:spAutoFit/>
          </a:bodyPr>
          <a:lstStyle/>
          <a:p>
            <a:r>
              <a:rPr lang="en-US" altLang="ko-KR" sz="2400" i="1" dirty="0"/>
              <a:t>Sharpening Filter: Unsharp Masking</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2048F168-2AE0-95C3-237D-12F3A8125F4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sp>
        <p:nvSpPr>
          <p:cNvPr id="3" name="TextBox 2">
            <a:extLst>
              <a:ext uri="{FF2B5EF4-FFF2-40B4-BE49-F238E27FC236}">
                <a16:creationId xmlns:a16="http://schemas.microsoft.com/office/drawing/2014/main" id="{766048AD-8E73-799D-24FC-EAFEDF469342}"/>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S1_Blurring: A slightly blurred copy of the original image is created. </a:t>
            </a:r>
          </a:p>
        </p:txBody>
      </p:sp>
      <p:sp>
        <p:nvSpPr>
          <p:cNvPr id="4" name="TextBox 3">
            <a:extLst>
              <a:ext uri="{FF2B5EF4-FFF2-40B4-BE49-F238E27FC236}">
                <a16:creationId xmlns:a16="http://schemas.microsoft.com/office/drawing/2014/main" id="{242EBBB5-5291-7656-A336-FB76FDED9E71}"/>
              </a:ext>
            </a:extLst>
          </p:cNvPr>
          <p:cNvSpPr txBox="1"/>
          <p:nvPr/>
        </p:nvSpPr>
        <p:spPr>
          <a:xfrm>
            <a:off x="197337" y="1792783"/>
            <a:ext cx="11809770" cy="400110"/>
          </a:xfrm>
          <a:prstGeom prst="rect">
            <a:avLst/>
          </a:prstGeom>
          <a:noFill/>
        </p:spPr>
        <p:txBody>
          <a:bodyPr wrap="square" rtlCol="0">
            <a:spAutoFit/>
          </a:bodyPr>
          <a:lstStyle/>
          <a:p>
            <a:pPr algn="just"/>
            <a:r>
              <a:rPr lang="en-US" altLang="ko-KR" sz="2000" dirty="0"/>
              <a:t>- S2_Subtraction: The blurred copy is subtracted from the original image. </a:t>
            </a:r>
          </a:p>
        </p:txBody>
      </p:sp>
      <p:sp>
        <p:nvSpPr>
          <p:cNvPr id="5" name="TextBox 4">
            <a:extLst>
              <a:ext uri="{FF2B5EF4-FFF2-40B4-BE49-F238E27FC236}">
                <a16:creationId xmlns:a16="http://schemas.microsoft.com/office/drawing/2014/main" id="{4B07F25F-CF31-A9C8-1BBB-241DBECFE8BE}"/>
              </a:ext>
            </a:extLst>
          </p:cNvPr>
          <p:cNvSpPr txBox="1"/>
          <p:nvPr/>
        </p:nvSpPr>
        <p:spPr>
          <a:xfrm>
            <a:off x="191115" y="2192893"/>
            <a:ext cx="11809770" cy="707886"/>
          </a:xfrm>
          <a:prstGeom prst="rect">
            <a:avLst/>
          </a:prstGeom>
          <a:noFill/>
        </p:spPr>
        <p:txBody>
          <a:bodyPr wrap="square" rtlCol="0">
            <a:spAutoFit/>
          </a:bodyPr>
          <a:lstStyle/>
          <a:p>
            <a:pPr algn="just"/>
            <a:r>
              <a:rPr lang="en-US" altLang="ko-KR" sz="2000" dirty="0"/>
              <a:t>- S3_Adding Back: The resulting difference (which highlights edges) is added back to the original image, creating a sharper appearance. </a:t>
            </a:r>
          </a:p>
        </p:txBody>
      </p:sp>
      <p:pic>
        <p:nvPicPr>
          <p:cNvPr id="6146" name="Picture 2" descr="Unsharp Mask filter in Motion - Apple Support">
            <a:extLst>
              <a:ext uri="{FF2B5EF4-FFF2-40B4-BE49-F238E27FC236}">
                <a16:creationId xmlns:a16="http://schemas.microsoft.com/office/drawing/2014/main" id="{DF21C7BA-112A-FA5C-52CB-EC704961A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2819" y="3633049"/>
            <a:ext cx="7066361" cy="296271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1086409-57E4-FFDA-6E81-DA4C33D3FE29}"/>
              </a:ext>
            </a:extLst>
          </p:cNvPr>
          <p:cNvSpPr txBox="1"/>
          <p:nvPr/>
        </p:nvSpPr>
        <p:spPr>
          <a:xfrm>
            <a:off x="3046142" y="2995128"/>
            <a:ext cx="6099716" cy="369332"/>
          </a:xfrm>
          <a:prstGeom prst="rect">
            <a:avLst/>
          </a:prstGeom>
          <a:noFill/>
        </p:spPr>
        <p:txBody>
          <a:bodyPr wrap="square">
            <a:spAutoFit/>
          </a:bodyPr>
          <a:lstStyle/>
          <a:p>
            <a:r>
              <a:rPr lang="en-US" altLang="ko-KR" b="0" i="0" dirty="0">
                <a:solidFill>
                  <a:srgbClr val="202122"/>
                </a:solidFill>
                <a:effectLst/>
                <a:latin typeface="Arial" panose="020B0604020202020204" pitchFamily="34" charset="0"/>
              </a:rPr>
              <a:t>sharpened = original + (original − blurred) × amount</a:t>
            </a:r>
            <a:endParaRPr lang="ko-KR" altLang="en-US" dirty="0"/>
          </a:p>
        </p:txBody>
      </p:sp>
    </p:spTree>
    <p:extLst>
      <p:ext uri="{BB962C8B-B14F-4D97-AF65-F5344CB8AC3E}">
        <p14:creationId xmlns:p14="http://schemas.microsoft.com/office/powerpoint/2010/main" val="1997885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C66-75D9-09F7-5214-96B8544319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0787FA-CD74-5B8E-EE61-D1E955AD099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Median Filter</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2048F168-2AE0-95C3-237D-12F3A8125F4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pic>
        <p:nvPicPr>
          <p:cNvPr id="4098" name="Picture 2" descr="Median filter – Training Resources">
            <a:extLst>
              <a:ext uri="{FF2B5EF4-FFF2-40B4-BE49-F238E27FC236}">
                <a16:creationId xmlns:a16="http://schemas.microsoft.com/office/drawing/2014/main" id="{A093E3C7-0C46-A827-72D5-5DB8D9F30F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6866" y="2216974"/>
            <a:ext cx="8051180" cy="368173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5153B46-0357-DAA5-29ED-8FEAAFC98712}"/>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3"/>
              </a:rPr>
              <a:t>https://neubias.github.io/training-resources/median_filter/index.html</a:t>
            </a:r>
            <a:r>
              <a:rPr lang="en-US" altLang="ko-KR" sz="1600" dirty="0"/>
              <a:t> </a:t>
            </a:r>
            <a:endParaRPr lang="en-US" altLang="ko-KR" sz="1600" dirty="0">
              <a:solidFill>
                <a:srgbClr val="FF0000"/>
              </a:solidFill>
            </a:endParaRPr>
          </a:p>
        </p:txBody>
      </p:sp>
      <p:sp>
        <p:nvSpPr>
          <p:cNvPr id="3" name="TextBox 2">
            <a:extLst>
              <a:ext uri="{FF2B5EF4-FFF2-40B4-BE49-F238E27FC236}">
                <a16:creationId xmlns:a16="http://schemas.microsoft.com/office/drawing/2014/main" id="{EB3A087F-F289-62AF-0E5C-CB4328306F7D}"/>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Effective for removing salt-and-pepper noise while preserving edges.</a:t>
            </a:r>
          </a:p>
        </p:txBody>
      </p:sp>
    </p:spTree>
    <p:extLst>
      <p:ext uri="{BB962C8B-B14F-4D97-AF65-F5344CB8AC3E}">
        <p14:creationId xmlns:p14="http://schemas.microsoft.com/office/powerpoint/2010/main" val="1290299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C66-75D9-09F7-5214-96B854431969}"/>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F56FD5F6-34D4-7D50-FDD9-2E1C25765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856" y="1622245"/>
            <a:ext cx="9360287" cy="455486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E0787FA-CD74-5B8E-EE61-D1E955AD099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Median Filter</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2048F168-2AE0-95C3-237D-12F3A8125F4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sp>
        <p:nvSpPr>
          <p:cNvPr id="2" name="TextBox 1">
            <a:extLst>
              <a:ext uri="{FF2B5EF4-FFF2-40B4-BE49-F238E27FC236}">
                <a16:creationId xmlns:a16="http://schemas.microsoft.com/office/drawing/2014/main" id="{F5153B46-0357-DAA5-29ED-8FEAAFC98712}"/>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3"/>
              </a:rPr>
              <a:t>https://neubias.github.io/training-resources/median_filter/index.html</a:t>
            </a:r>
            <a:r>
              <a:rPr lang="en-US" altLang="ko-KR" sz="1600" dirty="0"/>
              <a:t> </a:t>
            </a:r>
            <a:endParaRPr lang="en-US" altLang="ko-KR" sz="1600" dirty="0">
              <a:solidFill>
                <a:srgbClr val="FF0000"/>
              </a:solidFill>
            </a:endParaRPr>
          </a:p>
        </p:txBody>
      </p:sp>
      <p:sp>
        <p:nvSpPr>
          <p:cNvPr id="3" name="TextBox 2">
            <a:extLst>
              <a:ext uri="{FF2B5EF4-FFF2-40B4-BE49-F238E27FC236}">
                <a16:creationId xmlns:a16="http://schemas.microsoft.com/office/drawing/2014/main" id="{48A8A8CD-43C5-127B-FE33-B35FF3DE2E95}"/>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Median filter example: Left - Raw; Right - After a 5x5 median filter.</a:t>
            </a:r>
          </a:p>
        </p:txBody>
      </p:sp>
    </p:spTree>
    <p:extLst>
      <p:ext uri="{BB962C8B-B14F-4D97-AF65-F5344CB8AC3E}">
        <p14:creationId xmlns:p14="http://schemas.microsoft.com/office/powerpoint/2010/main" val="3145717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C66-75D9-09F7-5214-96B8544319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0787FA-CD74-5B8E-EE61-D1E955AD099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Morphological Operators</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2048F168-2AE0-95C3-237D-12F3A8125F4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sp>
        <p:nvSpPr>
          <p:cNvPr id="2" name="TextBox 1">
            <a:extLst>
              <a:ext uri="{FF2B5EF4-FFF2-40B4-BE49-F238E27FC236}">
                <a16:creationId xmlns:a16="http://schemas.microsoft.com/office/drawing/2014/main" id="{4AF249A3-32F5-D4EF-6015-D6F2AE2D2896}"/>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b="1" dirty="0"/>
              <a:t>Dilation</a:t>
            </a:r>
            <a:endParaRPr lang="en-US" altLang="ko-KR" sz="2000" b="1" dirty="0">
              <a:solidFill>
                <a:srgbClr val="FF0000"/>
              </a:solidFill>
            </a:endParaRPr>
          </a:p>
        </p:txBody>
      </p:sp>
      <p:sp>
        <p:nvSpPr>
          <p:cNvPr id="3" name="TextBox 2">
            <a:extLst>
              <a:ext uri="{FF2B5EF4-FFF2-40B4-BE49-F238E27FC236}">
                <a16:creationId xmlns:a16="http://schemas.microsoft.com/office/drawing/2014/main" id="{2496023D-7EAE-C386-DC63-DF68DE1E4C69}"/>
              </a:ext>
            </a:extLst>
          </p:cNvPr>
          <p:cNvSpPr txBox="1"/>
          <p:nvPr/>
        </p:nvSpPr>
        <p:spPr>
          <a:xfrm>
            <a:off x="197337" y="1792783"/>
            <a:ext cx="11809770" cy="400110"/>
          </a:xfrm>
          <a:prstGeom prst="rect">
            <a:avLst/>
          </a:prstGeom>
          <a:noFill/>
        </p:spPr>
        <p:txBody>
          <a:bodyPr wrap="square" rtlCol="0">
            <a:spAutoFit/>
          </a:bodyPr>
          <a:lstStyle/>
          <a:p>
            <a:pPr algn="just"/>
            <a:r>
              <a:rPr lang="en-US" altLang="ko-KR" sz="2000" dirty="0"/>
              <a:t>- What it does: Expands or "grows" bright (foreground) regions in an image.</a:t>
            </a:r>
          </a:p>
        </p:txBody>
      </p:sp>
      <p:sp>
        <p:nvSpPr>
          <p:cNvPr id="4" name="TextBox 3">
            <a:extLst>
              <a:ext uri="{FF2B5EF4-FFF2-40B4-BE49-F238E27FC236}">
                <a16:creationId xmlns:a16="http://schemas.microsoft.com/office/drawing/2014/main" id="{0B35CC94-7A95-A077-5D7D-75877D0A6CF8}"/>
              </a:ext>
            </a:extLst>
          </p:cNvPr>
          <p:cNvSpPr txBox="1"/>
          <p:nvPr/>
        </p:nvSpPr>
        <p:spPr>
          <a:xfrm>
            <a:off x="197337" y="2192893"/>
            <a:ext cx="11809770" cy="1015663"/>
          </a:xfrm>
          <a:prstGeom prst="rect">
            <a:avLst/>
          </a:prstGeom>
          <a:noFill/>
        </p:spPr>
        <p:txBody>
          <a:bodyPr wrap="square" rtlCol="0">
            <a:spAutoFit/>
          </a:bodyPr>
          <a:lstStyle/>
          <a:p>
            <a:pPr algn="just"/>
            <a:r>
              <a:rPr lang="en-US" altLang="ko-KR" sz="2000" dirty="0"/>
              <a:t>- How it works: For each pixel, the structuring element scans the image. If any pixel in the neighborhood matches the structuring element’s pattern, the central pixel is set to the maximum value (e.g., white in a binary image).</a:t>
            </a:r>
          </a:p>
        </p:txBody>
      </p:sp>
      <p:sp>
        <p:nvSpPr>
          <p:cNvPr id="5" name="TextBox 4">
            <a:extLst>
              <a:ext uri="{FF2B5EF4-FFF2-40B4-BE49-F238E27FC236}">
                <a16:creationId xmlns:a16="http://schemas.microsoft.com/office/drawing/2014/main" id="{5EC288C2-8E2B-037A-CD35-B0FA927C05A5}"/>
              </a:ext>
            </a:extLst>
          </p:cNvPr>
          <p:cNvSpPr txBox="1"/>
          <p:nvPr/>
        </p:nvSpPr>
        <p:spPr>
          <a:xfrm>
            <a:off x="184893" y="3649444"/>
            <a:ext cx="11809770" cy="400110"/>
          </a:xfrm>
          <a:prstGeom prst="rect">
            <a:avLst/>
          </a:prstGeom>
          <a:noFill/>
        </p:spPr>
        <p:txBody>
          <a:bodyPr wrap="square" rtlCol="0">
            <a:spAutoFit/>
          </a:bodyPr>
          <a:lstStyle/>
          <a:p>
            <a:pPr algn="just"/>
            <a:r>
              <a:rPr lang="en-US" altLang="ko-KR" sz="2000" b="1" dirty="0"/>
              <a:t>Erosion</a:t>
            </a:r>
            <a:endParaRPr lang="en-US" altLang="ko-KR" sz="2000" b="1" dirty="0">
              <a:solidFill>
                <a:srgbClr val="FF0000"/>
              </a:solidFill>
            </a:endParaRPr>
          </a:p>
        </p:txBody>
      </p:sp>
      <p:sp>
        <p:nvSpPr>
          <p:cNvPr id="6" name="TextBox 5">
            <a:extLst>
              <a:ext uri="{FF2B5EF4-FFF2-40B4-BE49-F238E27FC236}">
                <a16:creationId xmlns:a16="http://schemas.microsoft.com/office/drawing/2014/main" id="{8DDB1DE0-D96E-577B-13A6-78B5AC65CD9D}"/>
              </a:ext>
            </a:extLst>
          </p:cNvPr>
          <p:cNvSpPr txBox="1"/>
          <p:nvPr/>
        </p:nvSpPr>
        <p:spPr>
          <a:xfrm>
            <a:off x="191115" y="4049554"/>
            <a:ext cx="11809770" cy="400110"/>
          </a:xfrm>
          <a:prstGeom prst="rect">
            <a:avLst/>
          </a:prstGeom>
          <a:noFill/>
        </p:spPr>
        <p:txBody>
          <a:bodyPr wrap="square" rtlCol="0">
            <a:spAutoFit/>
          </a:bodyPr>
          <a:lstStyle/>
          <a:p>
            <a:pPr algn="just"/>
            <a:r>
              <a:rPr lang="en-US" altLang="ko-KR" sz="2000" dirty="0"/>
              <a:t>- What it does: Shrinks or "erodes" bright (foreground) regions in an image. </a:t>
            </a:r>
          </a:p>
        </p:txBody>
      </p:sp>
      <p:sp>
        <p:nvSpPr>
          <p:cNvPr id="7" name="TextBox 6">
            <a:extLst>
              <a:ext uri="{FF2B5EF4-FFF2-40B4-BE49-F238E27FC236}">
                <a16:creationId xmlns:a16="http://schemas.microsoft.com/office/drawing/2014/main" id="{F055FBC6-FE6E-7E1E-F843-228CA44537C1}"/>
              </a:ext>
            </a:extLst>
          </p:cNvPr>
          <p:cNvSpPr txBox="1"/>
          <p:nvPr/>
        </p:nvSpPr>
        <p:spPr>
          <a:xfrm>
            <a:off x="191115" y="4449664"/>
            <a:ext cx="11809770" cy="707886"/>
          </a:xfrm>
          <a:prstGeom prst="rect">
            <a:avLst/>
          </a:prstGeom>
          <a:noFill/>
        </p:spPr>
        <p:txBody>
          <a:bodyPr wrap="square" rtlCol="0">
            <a:spAutoFit/>
          </a:bodyPr>
          <a:lstStyle/>
          <a:p>
            <a:pPr algn="just"/>
            <a:r>
              <a:rPr lang="en-US" altLang="ko-KR" sz="2000" dirty="0"/>
              <a:t>- How it works: The structuring element scans the image, and the central pixel is set to the minimum value (e.g., black in a binary image) unless all pixels in the neighborhood match the structuring element’s pattern.</a:t>
            </a:r>
          </a:p>
        </p:txBody>
      </p:sp>
    </p:spTree>
    <p:extLst>
      <p:ext uri="{BB962C8B-B14F-4D97-AF65-F5344CB8AC3E}">
        <p14:creationId xmlns:p14="http://schemas.microsoft.com/office/powerpoint/2010/main" val="615500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AC66-75D9-09F7-5214-96B8544319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E0787FA-CD74-5B8E-EE61-D1E955AD0999}"/>
              </a:ext>
            </a:extLst>
          </p:cNvPr>
          <p:cNvSpPr txBox="1"/>
          <p:nvPr/>
        </p:nvSpPr>
        <p:spPr>
          <a:xfrm>
            <a:off x="191115" y="931008"/>
            <a:ext cx="4279127" cy="461665"/>
          </a:xfrm>
          <a:prstGeom prst="rect">
            <a:avLst/>
          </a:prstGeom>
          <a:noFill/>
        </p:spPr>
        <p:txBody>
          <a:bodyPr wrap="square" rtlCol="0">
            <a:spAutoFit/>
          </a:bodyPr>
          <a:lstStyle/>
          <a:p>
            <a:r>
              <a:rPr lang="en-US" altLang="ko-KR" sz="2400" i="1" dirty="0"/>
              <a:t>Morphological Operators</a:t>
            </a:r>
            <a:endParaRPr lang="en-US" altLang="ko-KR" sz="2400" i="1" dirty="0">
              <a:solidFill>
                <a:srgbClr val="FF0000"/>
              </a:solidFill>
            </a:endParaRPr>
          </a:p>
        </p:txBody>
      </p:sp>
      <p:sp>
        <p:nvSpPr>
          <p:cNvPr id="10" name="TextBox 9">
            <a:extLst>
              <a:ext uri="{FF2B5EF4-FFF2-40B4-BE49-F238E27FC236}">
                <a16:creationId xmlns:a16="http://schemas.microsoft.com/office/drawing/2014/main" id="{2048F168-2AE0-95C3-237D-12F3A8125F41}"/>
              </a:ext>
            </a:extLst>
          </p:cNvPr>
          <p:cNvSpPr txBox="1"/>
          <p:nvPr/>
        </p:nvSpPr>
        <p:spPr>
          <a:xfrm>
            <a:off x="109348" y="407788"/>
            <a:ext cx="3848316" cy="523220"/>
          </a:xfrm>
          <a:prstGeom prst="rect">
            <a:avLst/>
          </a:prstGeom>
          <a:noFill/>
        </p:spPr>
        <p:txBody>
          <a:bodyPr wrap="square" rtlCol="0">
            <a:spAutoFit/>
          </a:bodyPr>
          <a:lstStyle/>
          <a:p>
            <a:r>
              <a:rPr lang="en-US" altLang="ko-KR" sz="2800" b="1" dirty="0"/>
              <a:t>Local Operators </a:t>
            </a:r>
          </a:p>
        </p:txBody>
      </p:sp>
      <p:pic>
        <p:nvPicPr>
          <p:cNvPr id="7170" name="Picture 2" descr="딥러닝 첫걸음] OpenCV - dilate, erode (수학적 형태학) 쉽게 이해하고 넘어가기">
            <a:extLst>
              <a:ext uri="{FF2B5EF4-FFF2-40B4-BE49-F238E27FC236}">
                <a16:creationId xmlns:a16="http://schemas.microsoft.com/office/drawing/2014/main" id="{278ECA38-3D46-F927-A040-8728C67C6E8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827"/>
          <a:stretch/>
        </p:blipFill>
        <p:spPr bwMode="auto">
          <a:xfrm>
            <a:off x="1230825" y="1685264"/>
            <a:ext cx="10087663" cy="4494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052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099381" y="2505795"/>
            <a:ext cx="4872669" cy="967957"/>
          </a:xfrm>
          <a:prstGeom prst="rect">
            <a:avLst/>
          </a:prstGeom>
          <a:noFill/>
        </p:spPr>
        <p:txBody>
          <a:bodyPr wrap="square" rtlCol="0">
            <a:spAutoFit/>
          </a:bodyPr>
          <a:lstStyle/>
          <a:p>
            <a:pPr>
              <a:lnSpc>
                <a:spcPct val="150000"/>
              </a:lnSpc>
            </a:pPr>
            <a:r>
              <a:rPr lang="en-US" altLang="ko-KR" sz="2000" b="1" dirty="0">
                <a:solidFill>
                  <a:schemeClr val="bg1">
                    <a:lumMod val="85000"/>
                  </a:schemeClr>
                </a:solidFill>
              </a:rPr>
              <a:t>Local Operators </a:t>
            </a:r>
          </a:p>
          <a:p>
            <a:pPr>
              <a:lnSpc>
                <a:spcPct val="150000"/>
              </a:lnSpc>
            </a:pPr>
            <a:r>
              <a:rPr lang="en-US" altLang="ko-KR" sz="2000" b="1" dirty="0"/>
              <a:t>Fourier Transform</a:t>
            </a:r>
          </a:p>
        </p:txBody>
      </p:sp>
    </p:spTree>
    <p:extLst>
      <p:ext uri="{BB962C8B-B14F-4D97-AF65-F5344CB8AC3E}">
        <p14:creationId xmlns:p14="http://schemas.microsoft.com/office/powerpoint/2010/main" val="1534316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8EE3BA-ACDA-25ED-2CC6-FD698D0DEBEB}"/>
              </a:ext>
            </a:extLst>
          </p:cNvPr>
          <p:cNvSpPr txBox="1"/>
          <p:nvPr/>
        </p:nvSpPr>
        <p:spPr>
          <a:xfrm>
            <a:off x="191115" y="931008"/>
            <a:ext cx="4279127" cy="461665"/>
          </a:xfrm>
          <a:prstGeom prst="rect">
            <a:avLst/>
          </a:prstGeom>
          <a:noFill/>
        </p:spPr>
        <p:txBody>
          <a:bodyPr wrap="square" rtlCol="0">
            <a:spAutoFit/>
          </a:bodyPr>
          <a:lstStyle/>
          <a:p>
            <a:r>
              <a:rPr lang="en-US" altLang="ko-KR" sz="2400" i="1" dirty="0"/>
              <a:t>Concept</a:t>
            </a:r>
            <a:endParaRPr lang="en-US" altLang="ko-KR" sz="2400" i="1" dirty="0">
              <a:solidFill>
                <a:srgbClr val="FF0000"/>
              </a:solidFill>
            </a:endParaRPr>
          </a:p>
        </p:txBody>
      </p:sp>
      <p:sp>
        <p:nvSpPr>
          <p:cNvPr id="5" name="TextBox 4">
            <a:extLst>
              <a:ext uri="{FF2B5EF4-FFF2-40B4-BE49-F238E27FC236}">
                <a16:creationId xmlns:a16="http://schemas.microsoft.com/office/drawing/2014/main" id="{E0559EAD-929B-986B-2CDB-CAC9163D4B5D}"/>
              </a:ext>
            </a:extLst>
          </p:cNvPr>
          <p:cNvSpPr txBox="1"/>
          <p:nvPr/>
        </p:nvSpPr>
        <p:spPr>
          <a:xfrm>
            <a:off x="109348" y="407788"/>
            <a:ext cx="3848316" cy="523220"/>
          </a:xfrm>
          <a:prstGeom prst="rect">
            <a:avLst/>
          </a:prstGeom>
          <a:noFill/>
        </p:spPr>
        <p:txBody>
          <a:bodyPr wrap="square" rtlCol="0">
            <a:spAutoFit/>
          </a:bodyPr>
          <a:lstStyle/>
          <a:p>
            <a:r>
              <a:rPr lang="en-US" altLang="ko-KR" sz="2800" b="1" dirty="0"/>
              <a:t>Fourier Transform</a:t>
            </a:r>
          </a:p>
        </p:txBody>
      </p:sp>
      <p:sp>
        <p:nvSpPr>
          <p:cNvPr id="7" name="TextBox 6">
            <a:extLst>
              <a:ext uri="{FF2B5EF4-FFF2-40B4-BE49-F238E27FC236}">
                <a16:creationId xmlns:a16="http://schemas.microsoft.com/office/drawing/2014/main" id="{44B43786-B934-DB76-DE8C-0998A073DA19}"/>
              </a:ext>
            </a:extLst>
          </p:cNvPr>
          <p:cNvSpPr txBox="1"/>
          <p:nvPr/>
        </p:nvSpPr>
        <p:spPr>
          <a:xfrm>
            <a:off x="191115" y="1392673"/>
            <a:ext cx="11809770" cy="1015663"/>
          </a:xfrm>
          <a:prstGeom prst="rect">
            <a:avLst/>
          </a:prstGeom>
          <a:noFill/>
        </p:spPr>
        <p:txBody>
          <a:bodyPr wrap="square" rtlCol="0">
            <a:spAutoFit/>
          </a:bodyPr>
          <a:lstStyle/>
          <a:p>
            <a:pPr algn="just"/>
            <a:r>
              <a:rPr lang="en-US" altLang="ko-KR" sz="2000" dirty="0"/>
              <a:t>In image processing, the Fourier Transform decomposes an image into its frequency components, allowing for analysis and manipulation in the frequency domain, which is useful for tasks like filtering, noise reduction, and compression.</a:t>
            </a:r>
          </a:p>
        </p:txBody>
      </p:sp>
      <p:pic>
        <p:nvPicPr>
          <p:cNvPr id="1026" name="Picture 2" descr="Digital Image Processing: Fourier Transform | by Jeffrey | NTUST-AIVC |  Medium">
            <a:extLst>
              <a:ext uri="{FF2B5EF4-FFF2-40B4-BE49-F238E27FC236}">
                <a16:creationId xmlns:a16="http://schemas.microsoft.com/office/drawing/2014/main" id="{EB6050CD-DF57-B9A4-2696-6AAB4194A4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5" y="3018650"/>
            <a:ext cx="7029450" cy="31527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EA7347F-F294-BDAB-B8EA-AD7EFA6B6DA2}"/>
              </a:ext>
            </a:extLst>
          </p:cNvPr>
          <p:cNvSpPr txBox="1"/>
          <p:nvPr/>
        </p:nvSpPr>
        <p:spPr>
          <a:xfrm>
            <a:off x="3293970" y="2649318"/>
            <a:ext cx="1688228" cy="369332"/>
          </a:xfrm>
          <a:prstGeom prst="rect">
            <a:avLst/>
          </a:prstGeom>
          <a:noFill/>
        </p:spPr>
        <p:txBody>
          <a:bodyPr wrap="square">
            <a:spAutoFit/>
          </a:bodyPr>
          <a:lstStyle/>
          <a:p>
            <a:pPr algn="ctr"/>
            <a:r>
              <a:rPr lang="en-US" altLang="ko-KR" b="0" i="0" dirty="0">
                <a:solidFill>
                  <a:srgbClr val="202122"/>
                </a:solidFill>
                <a:effectLst/>
                <a:latin typeface="Arial" panose="020B0604020202020204" pitchFamily="34" charset="0"/>
              </a:rPr>
              <a:t>original</a:t>
            </a:r>
            <a:endParaRPr lang="ko-KR" altLang="en-US" dirty="0"/>
          </a:p>
        </p:txBody>
      </p:sp>
      <p:sp>
        <p:nvSpPr>
          <p:cNvPr id="9" name="TextBox 8">
            <a:extLst>
              <a:ext uri="{FF2B5EF4-FFF2-40B4-BE49-F238E27FC236}">
                <a16:creationId xmlns:a16="http://schemas.microsoft.com/office/drawing/2014/main" id="{D1E6926F-EFB4-CB16-64BA-0549494F6396}"/>
              </a:ext>
            </a:extLst>
          </p:cNvPr>
          <p:cNvSpPr txBox="1"/>
          <p:nvPr/>
        </p:nvSpPr>
        <p:spPr>
          <a:xfrm>
            <a:off x="6399921" y="2649318"/>
            <a:ext cx="3227896" cy="369332"/>
          </a:xfrm>
          <a:prstGeom prst="rect">
            <a:avLst/>
          </a:prstGeom>
          <a:noFill/>
        </p:spPr>
        <p:txBody>
          <a:bodyPr wrap="square">
            <a:spAutoFit/>
          </a:bodyPr>
          <a:lstStyle/>
          <a:p>
            <a:pPr algn="ctr"/>
            <a:r>
              <a:rPr lang="en-US" altLang="ko-KR" b="0" i="0" dirty="0">
                <a:solidFill>
                  <a:srgbClr val="202122"/>
                </a:solidFill>
                <a:effectLst/>
                <a:latin typeface="Arial" panose="020B0604020202020204" pitchFamily="34" charset="0"/>
              </a:rPr>
              <a:t>frequency distribution map</a:t>
            </a:r>
            <a:endParaRPr lang="ko-KR" altLang="en-US" dirty="0"/>
          </a:p>
        </p:txBody>
      </p:sp>
    </p:spTree>
    <p:extLst>
      <p:ext uri="{BB962C8B-B14F-4D97-AF65-F5344CB8AC3E}">
        <p14:creationId xmlns:p14="http://schemas.microsoft.com/office/powerpoint/2010/main" val="649021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4A0E7-16B6-6F31-CC9F-AC09B4B255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30FF6F3-DF7C-3F2F-64A1-30A436C8B840}"/>
              </a:ext>
            </a:extLst>
          </p:cNvPr>
          <p:cNvSpPr txBox="1"/>
          <p:nvPr/>
        </p:nvSpPr>
        <p:spPr>
          <a:xfrm>
            <a:off x="191115" y="931008"/>
            <a:ext cx="4279127" cy="461665"/>
          </a:xfrm>
          <a:prstGeom prst="rect">
            <a:avLst/>
          </a:prstGeom>
          <a:noFill/>
        </p:spPr>
        <p:txBody>
          <a:bodyPr wrap="square" rtlCol="0">
            <a:spAutoFit/>
          </a:bodyPr>
          <a:lstStyle/>
          <a:p>
            <a:r>
              <a:rPr lang="en-US" altLang="ko-KR" sz="2400" i="1" dirty="0"/>
              <a:t>Why Frequency Domain?</a:t>
            </a:r>
            <a:endParaRPr lang="en-US" altLang="ko-KR" sz="2400" i="1" dirty="0">
              <a:solidFill>
                <a:srgbClr val="FF0000"/>
              </a:solidFill>
            </a:endParaRPr>
          </a:p>
        </p:txBody>
      </p:sp>
      <p:sp>
        <p:nvSpPr>
          <p:cNvPr id="5" name="TextBox 4">
            <a:extLst>
              <a:ext uri="{FF2B5EF4-FFF2-40B4-BE49-F238E27FC236}">
                <a16:creationId xmlns:a16="http://schemas.microsoft.com/office/drawing/2014/main" id="{B353EF45-8140-D8C7-FF91-CF1C35FAA128}"/>
              </a:ext>
            </a:extLst>
          </p:cNvPr>
          <p:cNvSpPr txBox="1"/>
          <p:nvPr/>
        </p:nvSpPr>
        <p:spPr>
          <a:xfrm>
            <a:off x="109348" y="407788"/>
            <a:ext cx="3848316" cy="523220"/>
          </a:xfrm>
          <a:prstGeom prst="rect">
            <a:avLst/>
          </a:prstGeom>
          <a:noFill/>
        </p:spPr>
        <p:txBody>
          <a:bodyPr wrap="square" rtlCol="0">
            <a:spAutoFit/>
          </a:bodyPr>
          <a:lstStyle/>
          <a:p>
            <a:r>
              <a:rPr lang="en-US" altLang="ko-KR" sz="2800" b="1" dirty="0"/>
              <a:t>Fourier Transform</a:t>
            </a:r>
          </a:p>
        </p:txBody>
      </p:sp>
      <p:sp>
        <p:nvSpPr>
          <p:cNvPr id="7" name="TextBox 6">
            <a:extLst>
              <a:ext uri="{FF2B5EF4-FFF2-40B4-BE49-F238E27FC236}">
                <a16:creationId xmlns:a16="http://schemas.microsoft.com/office/drawing/2014/main" id="{E0C963B3-AB47-5848-634E-0DB5985117C4}"/>
              </a:ext>
            </a:extLst>
          </p:cNvPr>
          <p:cNvSpPr txBox="1"/>
          <p:nvPr/>
        </p:nvSpPr>
        <p:spPr>
          <a:xfrm>
            <a:off x="191115" y="1392673"/>
            <a:ext cx="11809770" cy="707886"/>
          </a:xfrm>
          <a:prstGeom prst="rect">
            <a:avLst/>
          </a:prstGeom>
          <a:noFill/>
        </p:spPr>
        <p:txBody>
          <a:bodyPr wrap="square" rtlCol="0">
            <a:spAutoFit/>
          </a:bodyPr>
          <a:lstStyle/>
          <a:p>
            <a:pPr algn="just"/>
            <a:r>
              <a:rPr lang="en-US" altLang="ko-KR" sz="2000" dirty="0"/>
              <a:t>In the frequency domain, the image is represented by its constituent frequencies, such as low frequencies (smooth areas) and high frequencies (edges and fine details).</a:t>
            </a:r>
          </a:p>
        </p:txBody>
      </p:sp>
      <p:sp>
        <p:nvSpPr>
          <p:cNvPr id="3" name="TextBox 2">
            <a:extLst>
              <a:ext uri="{FF2B5EF4-FFF2-40B4-BE49-F238E27FC236}">
                <a16:creationId xmlns:a16="http://schemas.microsoft.com/office/drawing/2014/main" id="{A2C8DDC6-E3AB-7BC7-6F09-1A47E0A66DB6}"/>
              </a:ext>
            </a:extLst>
          </p:cNvPr>
          <p:cNvSpPr txBox="1"/>
          <p:nvPr/>
        </p:nvSpPr>
        <p:spPr>
          <a:xfrm>
            <a:off x="775078" y="2420691"/>
            <a:ext cx="5406380" cy="1631216"/>
          </a:xfrm>
          <a:prstGeom prst="rect">
            <a:avLst/>
          </a:prstGeom>
          <a:noFill/>
        </p:spPr>
        <p:txBody>
          <a:bodyPr wrap="square" rtlCol="0">
            <a:spAutoFit/>
          </a:bodyPr>
          <a:lstStyle/>
          <a:p>
            <a:pPr algn="just"/>
            <a:r>
              <a:rPr lang="en-US" altLang="ko-KR" sz="2000" dirty="0"/>
              <a:t>- </a:t>
            </a:r>
            <a:r>
              <a:rPr lang="en-US" altLang="ko-KR" sz="2000" b="1" dirty="0"/>
              <a:t>Low frequency: </a:t>
            </a:r>
            <a:r>
              <a:rPr lang="en-US" altLang="ko-KR" sz="2000" dirty="0"/>
              <a:t>Refers to gradual changes in intensity over a large spatial region (e.g., smooth gradients, uniform areas). A smooth sky: Contains mostly low-frequency components because intensity changes gradually across the image.</a:t>
            </a:r>
          </a:p>
        </p:txBody>
      </p:sp>
      <p:sp>
        <p:nvSpPr>
          <p:cNvPr id="11" name="TextBox 10">
            <a:extLst>
              <a:ext uri="{FF2B5EF4-FFF2-40B4-BE49-F238E27FC236}">
                <a16:creationId xmlns:a16="http://schemas.microsoft.com/office/drawing/2014/main" id="{7AE8B0D6-5B37-0D41-2751-354C932F0391}"/>
              </a:ext>
            </a:extLst>
          </p:cNvPr>
          <p:cNvSpPr txBox="1"/>
          <p:nvPr/>
        </p:nvSpPr>
        <p:spPr>
          <a:xfrm>
            <a:off x="775078" y="4547167"/>
            <a:ext cx="5406380" cy="1631216"/>
          </a:xfrm>
          <a:prstGeom prst="rect">
            <a:avLst/>
          </a:prstGeom>
          <a:noFill/>
        </p:spPr>
        <p:txBody>
          <a:bodyPr wrap="square" rtlCol="0">
            <a:spAutoFit/>
          </a:bodyPr>
          <a:lstStyle/>
          <a:p>
            <a:pPr algn="just"/>
            <a:r>
              <a:rPr lang="en-US" altLang="ko-KR" sz="2000" dirty="0"/>
              <a:t>- </a:t>
            </a:r>
            <a:r>
              <a:rPr lang="en-US" altLang="ko-KR" sz="2000" b="1" dirty="0"/>
              <a:t>High frequency: </a:t>
            </a:r>
            <a:r>
              <a:rPr lang="en-US" altLang="ko-KR" sz="2000" dirty="0"/>
              <a:t>Refers to rapid changes in intensity (e.g., edges, fine details, sharp transitions). A checkerboard pattern: Contains high-frequency components because intensity changes rapidly between black and white.</a:t>
            </a:r>
          </a:p>
        </p:txBody>
      </p:sp>
      <p:pic>
        <p:nvPicPr>
          <p:cNvPr id="2050" name="Picture 2">
            <a:extLst>
              <a:ext uri="{FF2B5EF4-FFF2-40B4-BE49-F238E27FC236}">
                <a16:creationId xmlns:a16="http://schemas.microsoft.com/office/drawing/2014/main" id="{2955385B-6240-E0FA-45E2-E553ED74E0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7014" y="2465033"/>
            <a:ext cx="4007977" cy="154020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hecker Board Pattern Vector Art, Icons, and Graphics for Free Download">
            <a:extLst>
              <a:ext uri="{FF2B5EF4-FFF2-40B4-BE49-F238E27FC236}">
                <a16:creationId xmlns:a16="http://schemas.microsoft.com/office/drawing/2014/main" id="{333C884C-4EE5-7A1C-61FA-DDAB0A64FC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7769" y="4572931"/>
            <a:ext cx="2691926" cy="1514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391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7DBD2-E510-F7B4-384B-2FC8534D8AC3}"/>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11BE7FAE-9C27-4F72-4BE9-D843A6C100E9}"/>
              </a:ext>
            </a:extLst>
          </p:cNvPr>
          <p:cNvPicPr>
            <a:picLocks noChangeAspect="1"/>
          </p:cNvPicPr>
          <p:nvPr/>
        </p:nvPicPr>
        <p:blipFill>
          <a:blip r:embed="rId2"/>
          <a:stretch>
            <a:fillRect/>
          </a:stretch>
        </p:blipFill>
        <p:spPr>
          <a:xfrm>
            <a:off x="3412441" y="1911334"/>
            <a:ext cx="5367117" cy="1018877"/>
          </a:xfrm>
          <a:prstGeom prst="rect">
            <a:avLst/>
          </a:prstGeom>
        </p:spPr>
      </p:pic>
      <p:pic>
        <p:nvPicPr>
          <p:cNvPr id="15" name="Picture 14">
            <a:extLst>
              <a:ext uri="{FF2B5EF4-FFF2-40B4-BE49-F238E27FC236}">
                <a16:creationId xmlns:a16="http://schemas.microsoft.com/office/drawing/2014/main" id="{48D551A5-D945-493D-4330-06ABA6D68017}"/>
              </a:ext>
            </a:extLst>
          </p:cNvPr>
          <p:cNvPicPr>
            <a:picLocks noChangeAspect="1"/>
          </p:cNvPicPr>
          <p:nvPr/>
        </p:nvPicPr>
        <p:blipFill>
          <a:blip r:embed="rId3"/>
          <a:stretch>
            <a:fillRect/>
          </a:stretch>
        </p:blipFill>
        <p:spPr>
          <a:xfrm>
            <a:off x="3260688" y="3892792"/>
            <a:ext cx="5670624" cy="1045232"/>
          </a:xfrm>
          <a:prstGeom prst="rect">
            <a:avLst/>
          </a:prstGeom>
        </p:spPr>
      </p:pic>
      <p:sp>
        <p:nvSpPr>
          <p:cNvPr id="4" name="TextBox 3">
            <a:extLst>
              <a:ext uri="{FF2B5EF4-FFF2-40B4-BE49-F238E27FC236}">
                <a16:creationId xmlns:a16="http://schemas.microsoft.com/office/drawing/2014/main" id="{7DF2A0F9-DD69-6D9C-B457-03F8AAA392D7}"/>
              </a:ext>
            </a:extLst>
          </p:cNvPr>
          <p:cNvSpPr txBox="1"/>
          <p:nvPr/>
        </p:nvSpPr>
        <p:spPr>
          <a:xfrm>
            <a:off x="191115" y="931008"/>
            <a:ext cx="6021678" cy="461665"/>
          </a:xfrm>
          <a:prstGeom prst="rect">
            <a:avLst/>
          </a:prstGeom>
          <a:noFill/>
        </p:spPr>
        <p:txBody>
          <a:bodyPr wrap="square" rtlCol="0">
            <a:spAutoFit/>
          </a:bodyPr>
          <a:lstStyle/>
          <a:p>
            <a:r>
              <a:rPr lang="en-US" altLang="ko-KR" sz="2400" i="1" dirty="0"/>
              <a:t>Discrete Fourier Transform (DFT)</a:t>
            </a:r>
            <a:endParaRPr lang="en-US" altLang="ko-KR" sz="2400" i="1" dirty="0">
              <a:solidFill>
                <a:srgbClr val="FF0000"/>
              </a:solidFill>
            </a:endParaRPr>
          </a:p>
        </p:txBody>
      </p:sp>
      <p:sp>
        <p:nvSpPr>
          <p:cNvPr id="5" name="TextBox 4">
            <a:extLst>
              <a:ext uri="{FF2B5EF4-FFF2-40B4-BE49-F238E27FC236}">
                <a16:creationId xmlns:a16="http://schemas.microsoft.com/office/drawing/2014/main" id="{DF6B1CB8-E8B5-FF98-7990-590773FE9E6C}"/>
              </a:ext>
            </a:extLst>
          </p:cNvPr>
          <p:cNvSpPr txBox="1"/>
          <p:nvPr/>
        </p:nvSpPr>
        <p:spPr>
          <a:xfrm>
            <a:off x="109348" y="407788"/>
            <a:ext cx="3848316" cy="523220"/>
          </a:xfrm>
          <a:prstGeom prst="rect">
            <a:avLst/>
          </a:prstGeom>
          <a:noFill/>
        </p:spPr>
        <p:txBody>
          <a:bodyPr wrap="square" rtlCol="0">
            <a:spAutoFit/>
          </a:bodyPr>
          <a:lstStyle/>
          <a:p>
            <a:r>
              <a:rPr lang="en-US" altLang="ko-KR" sz="2800" b="1" dirty="0"/>
              <a:t>Fourier Transform</a:t>
            </a:r>
          </a:p>
        </p:txBody>
      </p:sp>
      <p:sp>
        <p:nvSpPr>
          <p:cNvPr id="6" name="TextBox 5">
            <a:extLst>
              <a:ext uri="{FF2B5EF4-FFF2-40B4-BE49-F238E27FC236}">
                <a16:creationId xmlns:a16="http://schemas.microsoft.com/office/drawing/2014/main" id="{59F5199A-33D9-5E51-E4B4-66421005EA55}"/>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b="1" dirty="0"/>
              <a:t>DFT for 2D Image: </a:t>
            </a:r>
            <a:r>
              <a:rPr lang="en-US" altLang="ko-KR" sz="2000" dirty="0"/>
              <a:t>Spatial Domain → Frequency Domain</a:t>
            </a:r>
            <a:endParaRPr lang="en-US" altLang="ko-KR" sz="2000" dirty="0">
              <a:solidFill>
                <a:srgbClr val="FF0000"/>
              </a:solidFill>
            </a:endParaRPr>
          </a:p>
        </p:txBody>
      </p:sp>
      <p:sp>
        <p:nvSpPr>
          <p:cNvPr id="8" name="TextBox 7">
            <a:extLst>
              <a:ext uri="{FF2B5EF4-FFF2-40B4-BE49-F238E27FC236}">
                <a16:creationId xmlns:a16="http://schemas.microsoft.com/office/drawing/2014/main" id="{DD8875B4-80B3-D6D8-50D3-BC310E38905F}"/>
              </a:ext>
            </a:extLst>
          </p:cNvPr>
          <p:cNvSpPr txBox="1"/>
          <p:nvPr/>
        </p:nvSpPr>
        <p:spPr>
          <a:xfrm>
            <a:off x="191115" y="3382571"/>
            <a:ext cx="11809770" cy="400110"/>
          </a:xfrm>
          <a:prstGeom prst="rect">
            <a:avLst/>
          </a:prstGeom>
          <a:noFill/>
        </p:spPr>
        <p:txBody>
          <a:bodyPr wrap="square" rtlCol="0">
            <a:spAutoFit/>
          </a:bodyPr>
          <a:lstStyle/>
          <a:p>
            <a:pPr algn="just"/>
            <a:r>
              <a:rPr lang="en-US" altLang="ko-KR" sz="2000" b="1" dirty="0"/>
              <a:t>Inverse DFT for 2D Image: </a:t>
            </a:r>
            <a:r>
              <a:rPr lang="en-US" altLang="ko-KR" sz="2000" dirty="0"/>
              <a:t>Frequency Domain → Spatial Domain </a:t>
            </a:r>
            <a:endParaRPr lang="en-US" altLang="ko-KR" sz="2000" b="1" dirty="0">
              <a:solidFill>
                <a:srgbClr val="FF0000"/>
              </a:solidFill>
            </a:endParaRPr>
          </a:p>
        </p:txBody>
      </p:sp>
      <p:sp>
        <p:nvSpPr>
          <p:cNvPr id="10" name="TextBox 9">
            <a:extLst>
              <a:ext uri="{FF2B5EF4-FFF2-40B4-BE49-F238E27FC236}">
                <a16:creationId xmlns:a16="http://schemas.microsoft.com/office/drawing/2014/main" id="{7AD0DE08-069D-BC0B-4E0C-22FD95041D2A}"/>
              </a:ext>
            </a:extLst>
          </p:cNvPr>
          <p:cNvSpPr txBox="1"/>
          <p:nvPr/>
        </p:nvSpPr>
        <p:spPr>
          <a:xfrm>
            <a:off x="406256" y="5430079"/>
            <a:ext cx="5316027" cy="369332"/>
          </a:xfrm>
          <a:prstGeom prst="rect">
            <a:avLst/>
          </a:prstGeom>
          <a:noFill/>
        </p:spPr>
        <p:txBody>
          <a:bodyPr wrap="square">
            <a:spAutoFit/>
          </a:bodyPr>
          <a:lstStyle/>
          <a:p>
            <a:r>
              <a:rPr lang="en-US" dirty="0"/>
              <a:t>f(x, y) is the pixel value at spatial coordinates (x, y) </a:t>
            </a:r>
          </a:p>
        </p:txBody>
      </p:sp>
      <p:sp>
        <p:nvSpPr>
          <p:cNvPr id="12" name="TextBox 11">
            <a:extLst>
              <a:ext uri="{FF2B5EF4-FFF2-40B4-BE49-F238E27FC236}">
                <a16:creationId xmlns:a16="http://schemas.microsoft.com/office/drawing/2014/main" id="{431AA42E-44BA-A882-FEF0-DF026E538AA5}"/>
              </a:ext>
            </a:extLst>
          </p:cNvPr>
          <p:cNvSpPr txBox="1"/>
          <p:nvPr/>
        </p:nvSpPr>
        <p:spPr>
          <a:xfrm>
            <a:off x="406256" y="5799936"/>
            <a:ext cx="7435155" cy="369332"/>
          </a:xfrm>
          <a:prstGeom prst="rect">
            <a:avLst/>
          </a:prstGeom>
          <a:noFill/>
        </p:spPr>
        <p:txBody>
          <a:bodyPr wrap="square">
            <a:spAutoFit/>
          </a:bodyPr>
          <a:lstStyle/>
          <a:p>
            <a:r>
              <a:rPr lang="en-US" dirty="0"/>
              <a:t>F(u, v) is the Fourier transform value at frequency coordinates (u, v) </a:t>
            </a:r>
          </a:p>
        </p:txBody>
      </p:sp>
      <p:sp>
        <p:nvSpPr>
          <p:cNvPr id="13" name="TextBox 12">
            <a:extLst>
              <a:ext uri="{FF2B5EF4-FFF2-40B4-BE49-F238E27FC236}">
                <a16:creationId xmlns:a16="http://schemas.microsoft.com/office/drawing/2014/main" id="{B949E1F0-2C99-46EA-F7A7-D222548808D7}"/>
              </a:ext>
            </a:extLst>
          </p:cNvPr>
          <p:cNvSpPr txBox="1"/>
          <p:nvPr/>
        </p:nvSpPr>
        <p:spPr>
          <a:xfrm>
            <a:off x="406256" y="6169268"/>
            <a:ext cx="4976627" cy="369332"/>
          </a:xfrm>
          <a:prstGeom prst="rect">
            <a:avLst/>
          </a:prstGeom>
          <a:noFill/>
        </p:spPr>
        <p:txBody>
          <a:bodyPr wrap="square">
            <a:spAutoFit/>
          </a:bodyPr>
          <a:lstStyle/>
          <a:p>
            <a:r>
              <a:rPr lang="en-US" dirty="0"/>
              <a:t>M and N are the image size</a:t>
            </a:r>
          </a:p>
        </p:txBody>
      </p:sp>
    </p:spTree>
    <p:extLst>
      <p:ext uri="{BB962C8B-B14F-4D97-AF65-F5344CB8AC3E}">
        <p14:creationId xmlns:p14="http://schemas.microsoft.com/office/powerpoint/2010/main" val="4227574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25862-A7AC-3DA0-5EC6-287122D3BB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B8295D2-47D4-C0E7-EBF7-935C9A8D9020}"/>
              </a:ext>
            </a:extLst>
          </p:cNvPr>
          <p:cNvSpPr txBox="1"/>
          <p:nvPr/>
        </p:nvSpPr>
        <p:spPr>
          <a:xfrm>
            <a:off x="191115" y="931008"/>
            <a:ext cx="4279127" cy="461665"/>
          </a:xfrm>
          <a:prstGeom prst="rect">
            <a:avLst/>
          </a:prstGeom>
          <a:noFill/>
        </p:spPr>
        <p:txBody>
          <a:bodyPr wrap="square" rtlCol="0">
            <a:spAutoFit/>
          </a:bodyPr>
          <a:lstStyle/>
          <a:p>
            <a:r>
              <a:rPr lang="en-US" altLang="ko-KR" sz="2400" i="1" dirty="0"/>
              <a:t>Frequency Image</a:t>
            </a:r>
            <a:endParaRPr lang="en-US" altLang="ko-KR" sz="2400" i="1" dirty="0">
              <a:solidFill>
                <a:srgbClr val="FF0000"/>
              </a:solidFill>
            </a:endParaRPr>
          </a:p>
        </p:txBody>
      </p:sp>
      <p:sp>
        <p:nvSpPr>
          <p:cNvPr id="5" name="TextBox 4">
            <a:extLst>
              <a:ext uri="{FF2B5EF4-FFF2-40B4-BE49-F238E27FC236}">
                <a16:creationId xmlns:a16="http://schemas.microsoft.com/office/drawing/2014/main" id="{1F8332A9-985B-96F3-A67D-C889C155614E}"/>
              </a:ext>
            </a:extLst>
          </p:cNvPr>
          <p:cNvSpPr txBox="1"/>
          <p:nvPr/>
        </p:nvSpPr>
        <p:spPr>
          <a:xfrm>
            <a:off x="109348" y="407788"/>
            <a:ext cx="3848316" cy="523220"/>
          </a:xfrm>
          <a:prstGeom prst="rect">
            <a:avLst/>
          </a:prstGeom>
          <a:noFill/>
        </p:spPr>
        <p:txBody>
          <a:bodyPr wrap="square" rtlCol="0">
            <a:spAutoFit/>
          </a:bodyPr>
          <a:lstStyle/>
          <a:p>
            <a:r>
              <a:rPr lang="en-US" altLang="ko-KR" sz="2800" b="1" dirty="0"/>
              <a:t>Fourier Transform</a:t>
            </a:r>
          </a:p>
        </p:txBody>
      </p:sp>
      <p:sp>
        <p:nvSpPr>
          <p:cNvPr id="7" name="TextBox 6">
            <a:extLst>
              <a:ext uri="{FF2B5EF4-FFF2-40B4-BE49-F238E27FC236}">
                <a16:creationId xmlns:a16="http://schemas.microsoft.com/office/drawing/2014/main" id="{CA960A67-1A8E-4B8A-6A03-3D4A637E025B}"/>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dirty="0"/>
              <a:t>- The </a:t>
            </a:r>
            <a:r>
              <a:rPr lang="en-US" altLang="ko-KR" sz="2000" b="1" dirty="0"/>
              <a:t>center</a:t>
            </a:r>
            <a:r>
              <a:rPr lang="en-US" altLang="ko-KR" sz="2000" dirty="0"/>
              <a:t> area corresponds to low frequencies (gradual changes like smooth gradients).</a:t>
            </a:r>
          </a:p>
        </p:txBody>
      </p:sp>
      <p:pic>
        <p:nvPicPr>
          <p:cNvPr id="3074" name="Picture 2">
            <a:extLst>
              <a:ext uri="{FF2B5EF4-FFF2-40B4-BE49-F238E27FC236}">
                <a16:creationId xmlns:a16="http://schemas.microsoft.com/office/drawing/2014/main" id="{F9AEB461-50C0-14B0-A5E8-E344CB8B35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180" t="15657" r="4678" b="4720"/>
          <a:stretch/>
        </p:blipFill>
        <p:spPr bwMode="auto">
          <a:xfrm>
            <a:off x="1105646" y="3201384"/>
            <a:ext cx="3364596" cy="22639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97030AE-12C6-8739-68A7-B8AB9869F8AB}"/>
              </a:ext>
            </a:extLst>
          </p:cNvPr>
          <p:cNvSpPr txBox="1"/>
          <p:nvPr/>
        </p:nvSpPr>
        <p:spPr>
          <a:xfrm>
            <a:off x="191115" y="1792783"/>
            <a:ext cx="11809770" cy="400110"/>
          </a:xfrm>
          <a:prstGeom prst="rect">
            <a:avLst/>
          </a:prstGeom>
          <a:noFill/>
        </p:spPr>
        <p:txBody>
          <a:bodyPr wrap="square" rtlCol="0">
            <a:spAutoFit/>
          </a:bodyPr>
          <a:lstStyle/>
          <a:p>
            <a:pPr algn="just"/>
            <a:r>
              <a:rPr lang="en-US" altLang="ko-KR" sz="2000" dirty="0"/>
              <a:t>- The </a:t>
            </a:r>
            <a:r>
              <a:rPr lang="en-US" altLang="ko-KR" sz="2000" b="1" dirty="0"/>
              <a:t>peripheral</a:t>
            </a:r>
            <a:r>
              <a:rPr lang="en-US" altLang="ko-KR" sz="2000" dirty="0"/>
              <a:t> area corresponds to high frequencies (rapid changes like edges or fine details).</a:t>
            </a:r>
          </a:p>
        </p:txBody>
      </p:sp>
      <p:pic>
        <p:nvPicPr>
          <p:cNvPr id="3076" name="Picture 4" descr="Image Processing using Fourier Transform | by Max Dubakov | Medium">
            <a:extLst>
              <a:ext uri="{FF2B5EF4-FFF2-40B4-BE49-F238E27FC236}">
                <a16:creationId xmlns:a16="http://schemas.microsoft.com/office/drawing/2014/main" id="{CB16AEF0-07AB-CA2A-036C-8AFC3DF162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8855" y="2297178"/>
            <a:ext cx="5558505" cy="42895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A5D1516-53E7-A784-4A10-DF2DF442D249}"/>
              </a:ext>
            </a:extLst>
          </p:cNvPr>
          <p:cNvSpPr txBox="1"/>
          <p:nvPr/>
        </p:nvSpPr>
        <p:spPr>
          <a:xfrm>
            <a:off x="6096000" y="2271540"/>
            <a:ext cx="4387675" cy="307777"/>
          </a:xfrm>
          <a:prstGeom prst="rect">
            <a:avLst/>
          </a:prstGeom>
          <a:solidFill>
            <a:schemeClr val="bg1"/>
          </a:solidFill>
          <a:ln>
            <a:noFill/>
          </a:ln>
        </p:spPr>
        <p:txBody>
          <a:bodyPr wrap="square" rtlCol="0">
            <a:spAutoFit/>
          </a:bodyPr>
          <a:lstStyle/>
          <a:p>
            <a:endParaRPr lang="en-US" altLang="ko-KR" sz="1400" b="1" dirty="0"/>
          </a:p>
        </p:txBody>
      </p:sp>
      <p:sp>
        <p:nvSpPr>
          <p:cNvPr id="8" name="TextBox 7">
            <a:extLst>
              <a:ext uri="{FF2B5EF4-FFF2-40B4-BE49-F238E27FC236}">
                <a16:creationId xmlns:a16="http://schemas.microsoft.com/office/drawing/2014/main" id="{6F1DDE5F-FB01-7D38-816E-7E7BC111C5A0}"/>
              </a:ext>
            </a:extLst>
          </p:cNvPr>
          <p:cNvSpPr txBox="1"/>
          <p:nvPr/>
        </p:nvSpPr>
        <p:spPr>
          <a:xfrm>
            <a:off x="6096000" y="4419061"/>
            <a:ext cx="4387675" cy="307777"/>
          </a:xfrm>
          <a:prstGeom prst="rect">
            <a:avLst/>
          </a:prstGeom>
          <a:solidFill>
            <a:schemeClr val="bg1"/>
          </a:solidFill>
          <a:ln>
            <a:noFill/>
          </a:ln>
        </p:spPr>
        <p:txBody>
          <a:bodyPr wrap="square" rtlCol="0">
            <a:spAutoFit/>
          </a:bodyPr>
          <a:lstStyle/>
          <a:p>
            <a:endParaRPr lang="en-US" altLang="ko-KR" sz="1400" b="1" dirty="0"/>
          </a:p>
        </p:txBody>
      </p:sp>
      <p:sp>
        <p:nvSpPr>
          <p:cNvPr id="9" name="Arrow: Right 8">
            <a:extLst>
              <a:ext uri="{FF2B5EF4-FFF2-40B4-BE49-F238E27FC236}">
                <a16:creationId xmlns:a16="http://schemas.microsoft.com/office/drawing/2014/main" id="{EA2D4FD9-F751-1A95-6E9F-9409CDC10A5E}"/>
              </a:ext>
            </a:extLst>
          </p:cNvPr>
          <p:cNvSpPr/>
          <p:nvPr/>
        </p:nvSpPr>
        <p:spPr>
          <a:xfrm>
            <a:off x="7921950" y="3397425"/>
            <a:ext cx="290557" cy="2035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85B5A520-42E6-3E3B-080F-0F10B42EB73B}"/>
              </a:ext>
            </a:extLst>
          </p:cNvPr>
          <p:cNvSpPr/>
          <p:nvPr/>
        </p:nvSpPr>
        <p:spPr>
          <a:xfrm>
            <a:off x="7921949" y="5544947"/>
            <a:ext cx="290557" cy="2035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32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5D722-B94A-3AF9-4237-3D21F99814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8D260D-6553-47E5-D2B4-090A8E83A0BB}"/>
              </a:ext>
            </a:extLst>
          </p:cNvPr>
          <p:cNvSpPr txBox="1"/>
          <p:nvPr/>
        </p:nvSpPr>
        <p:spPr>
          <a:xfrm>
            <a:off x="191115" y="931008"/>
            <a:ext cx="4279127" cy="461665"/>
          </a:xfrm>
          <a:prstGeom prst="rect">
            <a:avLst/>
          </a:prstGeom>
          <a:noFill/>
        </p:spPr>
        <p:txBody>
          <a:bodyPr wrap="square" rtlCol="0">
            <a:spAutoFit/>
          </a:bodyPr>
          <a:lstStyle/>
          <a:p>
            <a:r>
              <a:rPr lang="en-US" altLang="ko-KR" sz="2400" i="1" dirty="0"/>
              <a:t>Frequency Image</a:t>
            </a:r>
            <a:endParaRPr lang="en-US" altLang="ko-KR" sz="2400" i="1" dirty="0">
              <a:solidFill>
                <a:srgbClr val="FF0000"/>
              </a:solidFill>
            </a:endParaRPr>
          </a:p>
        </p:txBody>
      </p:sp>
      <p:sp>
        <p:nvSpPr>
          <p:cNvPr id="5" name="TextBox 4">
            <a:extLst>
              <a:ext uri="{FF2B5EF4-FFF2-40B4-BE49-F238E27FC236}">
                <a16:creationId xmlns:a16="http://schemas.microsoft.com/office/drawing/2014/main" id="{ADD6670F-CAF1-7D2B-2C67-DC846ADA9013}"/>
              </a:ext>
            </a:extLst>
          </p:cNvPr>
          <p:cNvSpPr txBox="1"/>
          <p:nvPr/>
        </p:nvSpPr>
        <p:spPr>
          <a:xfrm>
            <a:off x="109348" y="407788"/>
            <a:ext cx="3848316" cy="523220"/>
          </a:xfrm>
          <a:prstGeom prst="rect">
            <a:avLst/>
          </a:prstGeom>
          <a:noFill/>
        </p:spPr>
        <p:txBody>
          <a:bodyPr wrap="square" rtlCol="0">
            <a:spAutoFit/>
          </a:bodyPr>
          <a:lstStyle/>
          <a:p>
            <a:r>
              <a:rPr lang="en-US" altLang="ko-KR" sz="2800" b="1" dirty="0"/>
              <a:t>Fourier Transform</a:t>
            </a:r>
          </a:p>
        </p:txBody>
      </p:sp>
      <p:pic>
        <p:nvPicPr>
          <p:cNvPr id="4098" name="Picture 2" descr="Comparing images in frequency domain. “Spectral loss” – does it make sense?  | Bart Wronski">
            <a:extLst>
              <a:ext uri="{FF2B5EF4-FFF2-40B4-BE49-F238E27FC236}">
                <a16:creationId xmlns:a16="http://schemas.microsoft.com/office/drawing/2014/main" id="{3EBF6DA4-92D6-FC10-AB1D-4951B871AC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4178" y="2220037"/>
            <a:ext cx="3346064" cy="334994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58A8851F-A472-5B55-DA6D-54CFD382D0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10" t="13438" r="1255" b="13222"/>
          <a:stretch/>
        </p:blipFill>
        <p:spPr bwMode="auto">
          <a:xfrm>
            <a:off x="5853863" y="1298961"/>
            <a:ext cx="5306941" cy="200826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C3F505D7-6476-140B-B368-8177583AE0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3863" y="3828337"/>
            <a:ext cx="5306941" cy="25837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948D195-3600-4A8D-0C0B-89EB9098FB1B}"/>
              </a:ext>
            </a:extLst>
          </p:cNvPr>
          <p:cNvSpPr txBox="1"/>
          <p:nvPr/>
        </p:nvSpPr>
        <p:spPr>
          <a:xfrm>
            <a:off x="6156648" y="792508"/>
            <a:ext cx="1953230" cy="369332"/>
          </a:xfrm>
          <a:prstGeom prst="rect">
            <a:avLst/>
          </a:prstGeom>
          <a:noFill/>
        </p:spPr>
        <p:txBody>
          <a:bodyPr wrap="square">
            <a:spAutoFit/>
          </a:bodyPr>
          <a:lstStyle/>
          <a:p>
            <a:pPr algn="ctr"/>
            <a:r>
              <a:rPr lang="en-US" altLang="ko-KR" b="0" i="0" dirty="0">
                <a:solidFill>
                  <a:srgbClr val="202122"/>
                </a:solidFill>
                <a:effectLst/>
                <a:latin typeface="Arial" panose="020B0604020202020204" pitchFamily="34" charset="0"/>
              </a:rPr>
              <a:t>spatial domain</a:t>
            </a:r>
            <a:endParaRPr lang="ko-KR" altLang="en-US" dirty="0"/>
          </a:p>
        </p:txBody>
      </p:sp>
      <p:sp>
        <p:nvSpPr>
          <p:cNvPr id="11" name="TextBox 10">
            <a:extLst>
              <a:ext uri="{FF2B5EF4-FFF2-40B4-BE49-F238E27FC236}">
                <a16:creationId xmlns:a16="http://schemas.microsoft.com/office/drawing/2014/main" id="{8641027D-09C2-6E21-C13C-B63C20EBC0AD}"/>
              </a:ext>
            </a:extLst>
          </p:cNvPr>
          <p:cNvSpPr txBox="1"/>
          <p:nvPr/>
        </p:nvSpPr>
        <p:spPr>
          <a:xfrm>
            <a:off x="8217246" y="792508"/>
            <a:ext cx="3227896" cy="369332"/>
          </a:xfrm>
          <a:prstGeom prst="rect">
            <a:avLst/>
          </a:prstGeom>
          <a:noFill/>
        </p:spPr>
        <p:txBody>
          <a:bodyPr wrap="square">
            <a:spAutoFit/>
          </a:bodyPr>
          <a:lstStyle/>
          <a:p>
            <a:pPr algn="ctr"/>
            <a:r>
              <a:rPr lang="en-US" altLang="ko-KR" b="0" i="0" dirty="0">
                <a:solidFill>
                  <a:srgbClr val="202122"/>
                </a:solidFill>
                <a:effectLst/>
                <a:latin typeface="Arial" panose="020B0604020202020204" pitchFamily="34" charset="0"/>
              </a:rPr>
              <a:t>frequency domain</a:t>
            </a:r>
            <a:endParaRPr lang="ko-KR" altLang="en-US" dirty="0"/>
          </a:p>
        </p:txBody>
      </p:sp>
    </p:spTree>
    <p:extLst>
      <p:ext uri="{BB962C8B-B14F-4D97-AF65-F5344CB8AC3E}">
        <p14:creationId xmlns:p14="http://schemas.microsoft.com/office/powerpoint/2010/main" val="2261207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F8B1A-3906-94EC-F260-28449CBCCF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386759C-4155-38AA-8221-1F9EF5FD26B5}"/>
              </a:ext>
            </a:extLst>
          </p:cNvPr>
          <p:cNvSpPr txBox="1"/>
          <p:nvPr/>
        </p:nvSpPr>
        <p:spPr>
          <a:xfrm>
            <a:off x="191115" y="931008"/>
            <a:ext cx="4279127" cy="461665"/>
          </a:xfrm>
          <a:prstGeom prst="rect">
            <a:avLst/>
          </a:prstGeom>
          <a:noFill/>
        </p:spPr>
        <p:txBody>
          <a:bodyPr wrap="square" rtlCol="0">
            <a:spAutoFit/>
          </a:bodyPr>
          <a:lstStyle/>
          <a:p>
            <a:r>
              <a:rPr lang="en-US" altLang="ko-KR" sz="2400" i="1" dirty="0"/>
              <a:t>Applications</a:t>
            </a:r>
            <a:endParaRPr lang="en-US" altLang="ko-KR" sz="2400" i="1" dirty="0">
              <a:solidFill>
                <a:srgbClr val="FF0000"/>
              </a:solidFill>
            </a:endParaRPr>
          </a:p>
        </p:txBody>
      </p:sp>
      <p:sp>
        <p:nvSpPr>
          <p:cNvPr id="5" name="TextBox 4">
            <a:extLst>
              <a:ext uri="{FF2B5EF4-FFF2-40B4-BE49-F238E27FC236}">
                <a16:creationId xmlns:a16="http://schemas.microsoft.com/office/drawing/2014/main" id="{D41EA58B-F945-EE62-5DA1-0DBDD5D00BE9}"/>
              </a:ext>
            </a:extLst>
          </p:cNvPr>
          <p:cNvSpPr txBox="1"/>
          <p:nvPr/>
        </p:nvSpPr>
        <p:spPr>
          <a:xfrm>
            <a:off x="109348" y="407788"/>
            <a:ext cx="3848316" cy="523220"/>
          </a:xfrm>
          <a:prstGeom prst="rect">
            <a:avLst/>
          </a:prstGeom>
          <a:noFill/>
        </p:spPr>
        <p:txBody>
          <a:bodyPr wrap="square" rtlCol="0">
            <a:spAutoFit/>
          </a:bodyPr>
          <a:lstStyle/>
          <a:p>
            <a:r>
              <a:rPr lang="en-US" altLang="ko-KR" sz="2800" b="1" dirty="0"/>
              <a:t>Fourier Transform</a:t>
            </a:r>
          </a:p>
        </p:txBody>
      </p:sp>
      <p:sp>
        <p:nvSpPr>
          <p:cNvPr id="2" name="TextBox 1">
            <a:extLst>
              <a:ext uri="{FF2B5EF4-FFF2-40B4-BE49-F238E27FC236}">
                <a16:creationId xmlns:a16="http://schemas.microsoft.com/office/drawing/2014/main" id="{9B8F2188-2A62-2B70-8389-C4A4922D3480}"/>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b="1" dirty="0"/>
              <a:t>Edge Detection</a:t>
            </a:r>
            <a:endParaRPr lang="en-US" altLang="ko-KR" sz="2000" b="1" dirty="0">
              <a:solidFill>
                <a:srgbClr val="FF0000"/>
              </a:solidFill>
            </a:endParaRPr>
          </a:p>
        </p:txBody>
      </p:sp>
      <p:sp>
        <p:nvSpPr>
          <p:cNvPr id="6" name="TextBox 5">
            <a:extLst>
              <a:ext uri="{FF2B5EF4-FFF2-40B4-BE49-F238E27FC236}">
                <a16:creationId xmlns:a16="http://schemas.microsoft.com/office/drawing/2014/main" id="{C08D99EE-0915-579E-EEB9-3DD68F1C4490}"/>
              </a:ext>
            </a:extLst>
          </p:cNvPr>
          <p:cNvSpPr txBox="1"/>
          <p:nvPr/>
        </p:nvSpPr>
        <p:spPr>
          <a:xfrm>
            <a:off x="197337" y="1792783"/>
            <a:ext cx="11809770" cy="400110"/>
          </a:xfrm>
          <a:prstGeom prst="rect">
            <a:avLst/>
          </a:prstGeom>
          <a:noFill/>
        </p:spPr>
        <p:txBody>
          <a:bodyPr wrap="square" rtlCol="0">
            <a:spAutoFit/>
          </a:bodyPr>
          <a:lstStyle/>
          <a:p>
            <a:pPr algn="just"/>
            <a:r>
              <a:rPr lang="en-US" altLang="ko-KR" sz="2000" dirty="0"/>
              <a:t>- Transform an image using FT to frequency domain</a:t>
            </a:r>
          </a:p>
        </p:txBody>
      </p:sp>
      <p:sp>
        <p:nvSpPr>
          <p:cNvPr id="8" name="TextBox 7">
            <a:extLst>
              <a:ext uri="{FF2B5EF4-FFF2-40B4-BE49-F238E27FC236}">
                <a16:creationId xmlns:a16="http://schemas.microsoft.com/office/drawing/2014/main" id="{CFA6F3E0-9F04-3FA1-D566-56CF701F026A}"/>
              </a:ext>
            </a:extLst>
          </p:cNvPr>
          <p:cNvSpPr txBox="1"/>
          <p:nvPr/>
        </p:nvSpPr>
        <p:spPr>
          <a:xfrm>
            <a:off x="197337" y="2192893"/>
            <a:ext cx="11809770" cy="400110"/>
          </a:xfrm>
          <a:prstGeom prst="rect">
            <a:avLst/>
          </a:prstGeom>
          <a:noFill/>
        </p:spPr>
        <p:txBody>
          <a:bodyPr wrap="square" rtlCol="0">
            <a:spAutoFit/>
          </a:bodyPr>
          <a:lstStyle/>
          <a:p>
            <a:pPr algn="just"/>
            <a:r>
              <a:rPr lang="en-US" altLang="ko-KR" sz="2000" dirty="0"/>
              <a:t>- Leave only high frequencies to </a:t>
            </a:r>
            <a:r>
              <a:rPr lang="en-US" sz="2000" b="0" i="0" dirty="0">
                <a:solidFill>
                  <a:srgbClr val="242424"/>
                </a:solidFill>
                <a:effectLst/>
                <a:latin typeface="source-serif-pro"/>
              </a:rPr>
              <a:t>isolate the edge components</a:t>
            </a:r>
            <a:endParaRPr lang="en-US" altLang="ko-KR" sz="2000" dirty="0"/>
          </a:p>
        </p:txBody>
      </p:sp>
      <p:sp>
        <p:nvSpPr>
          <p:cNvPr id="9" name="TextBox 8">
            <a:extLst>
              <a:ext uri="{FF2B5EF4-FFF2-40B4-BE49-F238E27FC236}">
                <a16:creationId xmlns:a16="http://schemas.microsoft.com/office/drawing/2014/main" id="{D289ED28-C59F-5147-7D29-D04E96C23192}"/>
              </a:ext>
            </a:extLst>
          </p:cNvPr>
          <p:cNvSpPr txBox="1"/>
          <p:nvPr/>
        </p:nvSpPr>
        <p:spPr>
          <a:xfrm>
            <a:off x="197337" y="2593003"/>
            <a:ext cx="11809770" cy="400110"/>
          </a:xfrm>
          <a:prstGeom prst="rect">
            <a:avLst/>
          </a:prstGeom>
          <a:noFill/>
        </p:spPr>
        <p:txBody>
          <a:bodyPr wrap="square" rtlCol="0">
            <a:spAutoFit/>
          </a:bodyPr>
          <a:lstStyle/>
          <a:p>
            <a:pPr algn="just"/>
            <a:r>
              <a:rPr lang="en-US" altLang="ko-KR" sz="2000" dirty="0"/>
              <a:t>- Perform inverse FT to obtain the result </a:t>
            </a:r>
          </a:p>
        </p:txBody>
      </p:sp>
      <p:pic>
        <p:nvPicPr>
          <p:cNvPr id="5122" name="Picture 2">
            <a:extLst>
              <a:ext uri="{FF2B5EF4-FFF2-40B4-BE49-F238E27FC236}">
                <a16:creationId xmlns:a16="http://schemas.microsoft.com/office/drawing/2014/main" id="{DB1ED81F-F5CF-5C29-881A-0813079099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159" y="3619066"/>
            <a:ext cx="4834961" cy="227933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Detect objects edges in images using Fourier transform">
            <a:extLst>
              <a:ext uri="{FF2B5EF4-FFF2-40B4-BE49-F238E27FC236}">
                <a16:creationId xmlns:a16="http://schemas.microsoft.com/office/drawing/2014/main" id="{0D0A267D-6EA5-39E2-FEE1-2C742E861E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6745"/>
          <a:stretch/>
        </p:blipFill>
        <p:spPr bwMode="auto">
          <a:xfrm>
            <a:off x="5966726" y="2611772"/>
            <a:ext cx="5719115" cy="210255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Detect objects edges in images using Fourier transform">
            <a:extLst>
              <a:ext uri="{FF2B5EF4-FFF2-40B4-BE49-F238E27FC236}">
                <a16:creationId xmlns:a16="http://schemas.microsoft.com/office/drawing/2014/main" id="{E7230457-49EA-06E9-F996-7E145C96C0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745"/>
          <a:stretch/>
        </p:blipFill>
        <p:spPr bwMode="auto">
          <a:xfrm>
            <a:off x="5966725" y="4612322"/>
            <a:ext cx="5719115" cy="2102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326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8D5EC-27AD-660D-BB46-CD0DB0DB6516}"/>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63F498C2-2BFB-2BAF-492F-E6D9A8A32C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4748" y="1330807"/>
            <a:ext cx="7055809" cy="51406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33FCF4-68AD-7816-6AC4-018646027EB0}"/>
              </a:ext>
            </a:extLst>
          </p:cNvPr>
          <p:cNvSpPr txBox="1"/>
          <p:nvPr/>
        </p:nvSpPr>
        <p:spPr>
          <a:xfrm>
            <a:off x="191115" y="931008"/>
            <a:ext cx="4279127" cy="461665"/>
          </a:xfrm>
          <a:prstGeom prst="rect">
            <a:avLst/>
          </a:prstGeom>
          <a:noFill/>
        </p:spPr>
        <p:txBody>
          <a:bodyPr wrap="square" rtlCol="0">
            <a:spAutoFit/>
          </a:bodyPr>
          <a:lstStyle/>
          <a:p>
            <a:r>
              <a:rPr lang="en-US" altLang="ko-KR" sz="2400" i="1" dirty="0"/>
              <a:t>Applications</a:t>
            </a:r>
            <a:endParaRPr lang="en-US" altLang="ko-KR" sz="2400" i="1" dirty="0">
              <a:solidFill>
                <a:srgbClr val="FF0000"/>
              </a:solidFill>
            </a:endParaRPr>
          </a:p>
        </p:txBody>
      </p:sp>
      <p:sp>
        <p:nvSpPr>
          <p:cNvPr id="5" name="TextBox 4">
            <a:extLst>
              <a:ext uri="{FF2B5EF4-FFF2-40B4-BE49-F238E27FC236}">
                <a16:creationId xmlns:a16="http://schemas.microsoft.com/office/drawing/2014/main" id="{003C732C-D318-CFE4-04FE-C8CF19E8A01D}"/>
              </a:ext>
            </a:extLst>
          </p:cNvPr>
          <p:cNvSpPr txBox="1"/>
          <p:nvPr/>
        </p:nvSpPr>
        <p:spPr>
          <a:xfrm>
            <a:off x="109348" y="407788"/>
            <a:ext cx="3848316" cy="523220"/>
          </a:xfrm>
          <a:prstGeom prst="rect">
            <a:avLst/>
          </a:prstGeom>
          <a:noFill/>
        </p:spPr>
        <p:txBody>
          <a:bodyPr wrap="square" rtlCol="0">
            <a:spAutoFit/>
          </a:bodyPr>
          <a:lstStyle/>
          <a:p>
            <a:r>
              <a:rPr lang="en-US" altLang="ko-KR" sz="2800" b="1" dirty="0"/>
              <a:t>Fourier Transform</a:t>
            </a:r>
          </a:p>
        </p:txBody>
      </p:sp>
      <p:sp>
        <p:nvSpPr>
          <p:cNvPr id="2" name="TextBox 1">
            <a:extLst>
              <a:ext uri="{FF2B5EF4-FFF2-40B4-BE49-F238E27FC236}">
                <a16:creationId xmlns:a16="http://schemas.microsoft.com/office/drawing/2014/main" id="{D2EE3E02-60BF-7476-5A2F-3641D9E68E2B}"/>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b="1" dirty="0"/>
              <a:t>Image Smoothing</a:t>
            </a:r>
            <a:endParaRPr lang="en-US" altLang="ko-KR" sz="2000" b="1" dirty="0">
              <a:solidFill>
                <a:srgbClr val="FF0000"/>
              </a:solidFill>
            </a:endParaRPr>
          </a:p>
        </p:txBody>
      </p:sp>
      <p:sp>
        <p:nvSpPr>
          <p:cNvPr id="3" name="TextBox 2">
            <a:extLst>
              <a:ext uri="{FF2B5EF4-FFF2-40B4-BE49-F238E27FC236}">
                <a16:creationId xmlns:a16="http://schemas.microsoft.com/office/drawing/2014/main" id="{EA127D73-646A-38EA-4DAA-489741A3412A}"/>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3"/>
              </a:rPr>
              <a:t>https://www.robots.ox.ac.uk/~az/lectures/ia/lect2.pdf</a:t>
            </a:r>
            <a:r>
              <a:rPr lang="en-US" altLang="ko-KR" sz="1600" dirty="0"/>
              <a:t> </a:t>
            </a:r>
            <a:endParaRPr lang="en-US" altLang="ko-KR" sz="1600" dirty="0">
              <a:solidFill>
                <a:srgbClr val="FF0000"/>
              </a:solidFill>
            </a:endParaRPr>
          </a:p>
        </p:txBody>
      </p:sp>
      <p:pic>
        <p:nvPicPr>
          <p:cNvPr id="10" name="Picture 9">
            <a:extLst>
              <a:ext uri="{FF2B5EF4-FFF2-40B4-BE49-F238E27FC236}">
                <a16:creationId xmlns:a16="http://schemas.microsoft.com/office/drawing/2014/main" id="{B630934A-BFE3-707E-E2A7-7952BA283C8E}"/>
              </a:ext>
            </a:extLst>
          </p:cNvPr>
          <p:cNvPicPr>
            <a:picLocks noChangeAspect="1"/>
          </p:cNvPicPr>
          <p:nvPr/>
        </p:nvPicPr>
        <p:blipFill>
          <a:blip r:embed="rId4"/>
          <a:srcRect b="31681"/>
          <a:stretch/>
        </p:blipFill>
        <p:spPr>
          <a:xfrm>
            <a:off x="191113" y="3700230"/>
            <a:ext cx="5107351" cy="1179421"/>
          </a:xfrm>
          <a:prstGeom prst="rect">
            <a:avLst/>
          </a:prstGeom>
        </p:spPr>
      </p:pic>
      <p:sp>
        <p:nvSpPr>
          <p:cNvPr id="14" name="TextBox 13">
            <a:extLst>
              <a:ext uri="{FF2B5EF4-FFF2-40B4-BE49-F238E27FC236}">
                <a16:creationId xmlns:a16="http://schemas.microsoft.com/office/drawing/2014/main" id="{8C63D394-BED8-6E17-BF69-D38C2E6B2841}"/>
              </a:ext>
            </a:extLst>
          </p:cNvPr>
          <p:cNvSpPr txBox="1"/>
          <p:nvPr/>
        </p:nvSpPr>
        <p:spPr>
          <a:xfrm>
            <a:off x="197337" y="1792783"/>
            <a:ext cx="4998506" cy="1015663"/>
          </a:xfrm>
          <a:prstGeom prst="rect">
            <a:avLst/>
          </a:prstGeom>
          <a:noFill/>
        </p:spPr>
        <p:txBody>
          <a:bodyPr wrap="square" rtlCol="0">
            <a:spAutoFit/>
          </a:bodyPr>
          <a:lstStyle/>
          <a:p>
            <a:pPr algn="just"/>
            <a:r>
              <a:rPr lang="en-US" sz="2000" dirty="0"/>
              <a:t>The Fourier transform of the convolution of two functions is the product of their individual Fourier transforms.</a:t>
            </a:r>
            <a:endParaRPr lang="en-US" altLang="ko-KR" sz="2000" dirty="0"/>
          </a:p>
        </p:txBody>
      </p:sp>
    </p:spTree>
    <p:extLst>
      <p:ext uri="{BB962C8B-B14F-4D97-AF65-F5344CB8AC3E}">
        <p14:creationId xmlns:p14="http://schemas.microsoft.com/office/powerpoint/2010/main" val="3802033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9B068-B1A3-0D3C-1FC2-3F45F37381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120417-3A98-4E64-B8B1-7A5DABB554D1}"/>
              </a:ext>
            </a:extLst>
          </p:cNvPr>
          <p:cNvSpPr txBox="1"/>
          <p:nvPr/>
        </p:nvSpPr>
        <p:spPr>
          <a:xfrm>
            <a:off x="191115" y="931008"/>
            <a:ext cx="4279127" cy="461665"/>
          </a:xfrm>
          <a:prstGeom prst="rect">
            <a:avLst/>
          </a:prstGeom>
          <a:noFill/>
        </p:spPr>
        <p:txBody>
          <a:bodyPr wrap="square" rtlCol="0">
            <a:spAutoFit/>
          </a:bodyPr>
          <a:lstStyle/>
          <a:p>
            <a:r>
              <a:rPr lang="en-US" altLang="ko-KR" sz="2400" i="1" dirty="0"/>
              <a:t>Applications</a:t>
            </a:r>
            <a:endParaRPr lang="en-US" altLang="ko-KR" sz="2400" i="1" dirty="0">
              <a:solidFill>
                <a:srgbClr val="FF0000"/>
              </a:solidFill>
            </a:endParaRPr>
          </a:p>
        </p:txBody>
      </p:sp>
      <p:sp>
        <p:nvSpPr>
          <p:cNvPr id="5" name="TextBox 4">
            <a:extLst>
              <a:ext uri="{FF2B5EF4-FFF2-40B4-BE49-F238E27FC236}">
                <a16:creationId xmlns:a16="http://schemas.microsoft.com/office/drawing/2014/main" id="{2083CBA0-E5A0-068B-0162-FCE3CAC1BED5}"/>
              </a:ext>
            </a:extLst>
          </p:cNvPr>
          <p:cNvSpPr txBox="1"/>
          <p:nvPr/>
        </p:nvSpPr>
        <p:spPr>
          <a:xfrm>
            <a:off x="109348" y="407788"/>
            <a:ext cx="3848316" cy="523220"/>
          </a:xfrm>
          <a:prstGeom prst="rect">
            <a:avLst/>
          </a:prstGeom>
          <a:noFill/>
        </p:spPr>
        <p:txBody>
          <a:bodyPr wrap="square" rtlCol="0">
            <a:spAutoFit/>
          </a:bodyPr>
          <a:lstStyle/>
          <a:p>
            <a:r>
              <a:rPr lang="en-US" altLang="ko-KR" sz="2800" b="1" dirty="0"/>
              <a:t>Fourier Transform</a:t>
            </a:r>
          </a:p>
        </p:txBody>
      </p:sp>
      <p:sp>
        <p:nvSpPr>
          <p:cNvPr id="2" name="TextBox 1">
            <a:extLst>
              <a:ext uri="{FF2B5EF4-FFF2-40B4-BE49-F238E27FC236}">
                <a16:creationId xmlns:a16="http://schemas.microsoft.com/office/drawing/2014/main" id="{63774724-0ECD-F42B-A1F4-40C06CA80208}"/>
              </a:ext>
            </a:extLst>
          </p:cNvPr>
          <p:cNvSpPr txBox="1"/>
          <p:nvPr/>
        </p:nvSpPr>
        <p:spPr>
          <a:xfrm>
            <a:off x="191115" y="1392673"/>
            <a:ext cx="11809770" cy="400110"/>
          </a:xfrm>
          <a:prstGeom prst="rect">
            <a:avLst/>
          </a:prstGeom>
          <a:noFill/>
        </p:spPr>
        <p:txBody>
          <a:bodyPr wrap="square" rtlCol="0">
            <a:spAutoFit/>
          </a:bodyPr>
          <a:lstStyle/>
          <a:p>
            <a:pPr algn="just"/>
            <a:r>
              <a:rPr lang="en-US" altLang="ko-KR" sz="2000" b="1" dirty="0"/>
              <a:t>Halftone </a:t>
            </a:r>
            <a:r>
              <a:rPr lang="en-US" altLang="ko-KR" sz="2000" b="1" dirty="0" err="1"/>
              <a:t>Descreening</a:t>
            </a:r>
            <a:endParaRPr lang="en-US" altLang="ko-KR" sz="2000" b="1" dirty="0">
              <a:solidFill>
                <a:srgbClr val="FF0000"/>
              </a:solidFill>
            </a:endParaRPr>
          </a:p>
        </p:txBody>
      </p:sp>
      <p:pic>
        <p:nvPicPr>
          <p:cNvPr id="9218" name="Picture 2" descr="A comparison of the original image of a flower with its descreened counterpart. A zoomed-in segment of the original image shows pronounced diagonal halftone lines. In the descreened image, the same close-up segment appears smoother, with more continuous tones.">
            <a:extLst>
              <a:ext uri="{FF2B5EF4-FFF2-40B4-BE49-F238E27FC236}">
                <a16:creationId xmlns:a16="http://schemas.microsoft.com/office/drawing/2014/main" id="{8286FBF8-40B8-B75A-3D2E-248337DA2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9091" y="1872866"/>
            <a:ext cx="6993419" cy="435701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An image of the frequency-domain representation of the halftone screen containing a series of bright star shapes. The stars follow a diagonal path from the top-left to the middle-right of the image and decrease in size from left to right.">
            <a:extLst>
              <a:ext uri="{FF2B5EF4-FFF2-40B4-BE49-F238E27FC236}">
                <a16:creationId xmlns:a16="http://schemas.microsoft.com/office/drawing/2014/main" id="{74F501A4-C770-3676-345B-52C472C55A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8966" y="4141590"/>
            <a:ext cx="1839277" cy="183927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6BE1CE4-DCEC-2E08-3277-00AF87D5B85B}"/>
              </a:ext>
            </a:extLst>
          </p:cNvPr>
          <p:cNvSpPr txBox="1"/>
          <p:nvPr/>
        </p:nvSpPr>
        <p:spPr>
          <a:xfrm>
            <a:off x="197337" y="1792783"/>
            <a:ext cx="5297609" cy="1015663"/>
          </a:xfrm>
          <a:prstGeom prst="rect">
            <a:avLst/>
          </a:prstGeom>
          <a:noFill/>
        </p:spPr>
        <p:txBody>
          <a:bodyPr wrap="square" rtlCol="0">
            <a:spAutoFit/>
          </a:bodyPr>
          <a:lstStyle/>
          <a:p>
            <a:pPr algn="just"/>
            <a:r>
              <a:rPr lang="en-US" altLang="ko-KR" sz="2000" dirty="0"/>
              <a:t>The process of removing or reducing the visual artifacts (like dot patterns) caused by a halftone printing technique to create a smoother image.</a:t>
            </a:r>
          </a:p>
        </p:txBody>
      </p:sp>
      <p:sp>
        <p:nvSpPr>
          <p:cNvPr id="7" name="TextBox 6">
            <a:extLst>
              <a:ext uri="{FF2B5EF4-FFF2-40B4-BE49-F238E27FC236}">
                <a16:creationId xmlns:a16="http://schemas.microsoft.com/office/drawing/2014/main" id="{DDC5B36E-88B7-F88C-981F-860BBDCDD28C}"/>
              </a:ext>
            </a:extLst>
          </p:cNvPr>
          <p:cNvSpPr txBox="1"/>
          <p:nvPr/>
        </p:nvSpPr>
        <p:spPr>
          <a:xfrm>
            <a:off x="34184" y="6493808"/>
            <a:ext cx="9673839" cy="338554"/>
          </a:xfrm>
          <a:prstGeom prst="rect">
            <a:avLst/>
          </a:prstGeom>
          <a:noFill/>
        </p:spPr>
        <p:txBody>
          <a:bodyPr wrap="square" rtlCol="0">
            <a:spAutoFit/>
          </a:bodyPr>
          <a:lstStyle/>
          <a:p>
            <a:pPr algn="just"/>
            <a:r>
              <a:rPr lang="en-US" altLang="ko-KR" sz="1600" dirty="0"/>
              <a:t>Ref: </a:t>
            </a:r>
            <a:r>
              <a:rPr lang="en-US" altLang="ko-KR" sz="1600" dirty="0">
                <a:hlinkClick r:id="rId4"/>
              </a:rPr>
              <a:t>https://developer.apple.com/documentation/accelerate/halftone-descreening-with-2d-fast-fourier-transform</a:t>
            </a:r>
            <a:r>
              <a:rPr lang="en-US" altLang="ko-KR" sz="1600" dirty="0"/>
              <a:t> </a:t>
            </a:r>
            <a:endParaRPr lang="en-US" altLang="ko-KR" sz="1600" dirty="0">
              <a:solidFill>
                <a:srgbClr val="FF0000"/>
              </a:solidFill>
            </a:endParaRPr>
          </a:p>
        </p:txBody>
      </p:sp>
    </p:spTree>
    <p:extLst>
      <p:ext uri="{BB962C8B-B14F-4D97-AF65-F5344CB8AC3E}">
        <p14:creationId xmlns:p14="http://schemas.microsoft.com/office/powerpoint/2010/main" val="1597763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C79C5-28B9-093F-E79B-BD1DB47A2E4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64B73BC-F930-0895-1265-A71BD73F6E09}"/>
              </a:ext>
            </a:extLst>
          </p:cNvPr>
          <p:cNvSpPr txBox="1"/>
          <p:nvPr/>
        </p:nvSpPr>
        <p:spPr>
          <a:xfrm>
            <a:off x="109347" y="407788"/>
            <a:ext cx="7504955" cy="523220"/>
          </a:xfrm>
          <a:prstGeom prst="rect">
            <a:avLst/>
          </a:prstGeom>
          <a:noFill/>
        </p:spPr>
        <p:txBody>
          <a:bodyPr wrap="square" rtlCol="0">
            <a:spAutoFit/>
          </a:bodyPr>
          <a:lstStyle/>
          <a:p>
            <a:r>
              <a:rPr lang="en-US" altLang="ko-KR" sz="2800" b="1" dirty="0"/>
              <a:t>Local Operators &amp; Fourier Transform</a:t>
            </a:r>
          </a:p>
        </p:txBody>
      </p:sp>
      <p:sp>
        <p:nvSpPr>
          <p:cNvPr id="2" name="TextBox 1">
            <a:extLst>
              <a:ext uri="{FF2B5EF4-FFF2-40B4-BE49-F238E27FC236}">
                <a16:creationId xmlns:a16="http://schemas.microsoft.com/office/drawing/2014/main" id="{0914D72E-18BD-E734-CA98-DBD1302D3350}"/>
              </a:ext>
            </a:extLst>
          </p:cNvPr>
          <p:cNvSpPr txBox="1"/>
          <p:nvPr/>
        </p:nvSpPr>
        <p:spPr>
          <a:xfrm>
            <a:off x="191115" y="931008"/>
            <a:ext cx="4279127" cy="461665"/>
          </a:xfrm>
          <a:prstGeom prst="rect">
            <a:avLst/>
          </a:prstGeom>
          <a:noFill/>
        </p:spPr>
        <p:txBody>
          <a:bodyPr wrap="square" rtlCol="0">
            <a:spAutoFit/>
          </a:bodyPr>
          <a:lstStyle/>
          <a:p>
            <a:r>
              <a:rPr lang="en-US" altLang="ko-KR" sz="2400" i="1" dirty="0"/>
              <a:t>Practice</a:t>
            </a:r>
            <a:endParaRPr lang="en-US" altLang="ko-KR" sz="2400" i="1" dirty="0">
              <a:solidFill>
                <a:srgbClr val="FF0000"/>
              </a:solidFill>
            </a:endParaRPr>
          </a:p>
        </p:txBody>
      </p:sp>
      <p:sp>
        <p:nvSpPr>
          <p:cNvPr id="7" name="TextBox 6">
            <a:extLst>
              <a:ext uri="{FF2B5EF4-FFF2-40B4-BE49-F238E27FC236}">
                <a16:creationId xmlns:a16="http://schemas.microsoft.com/office/drawing/2014/main" id="{0815A277-F9A1-779B-FD38-B4266B677248}"/>
              </a:ext>
            </a:extLst>
          </p:cNvPr>
          <p:cNvSpPr txBox="1"/>
          <p:nvPr/>
        </p:nvSpPr>
        <p:spPr>
          <a:xfrm>
            <a:off x="337872" y="1392673"/>
            <a:ext cx="6187107" cy="400110"/>
          </a:xfrm>
          <a:prstGeom prst="rect">
            <a:avLst/>
          </a:prstGeom>
          <a:noFill/>
        </p:spPr>
        <p:txBody>
          <a:bodyPr wrap="square" rtlCol="0">
            <a:spAutoFit/>
          </a:bodyPr>
          <a:lstStyle/>
          <a:p>
            <a:pPr algn="just"/>
            <a:r>
              <a:rPr lang="en-US" altLang="ko-KR" sz="2000" dirty="0"/>
              <a:t>- Local Operators  </a:t>
            </a:r>
          </a:p>
        </p:txBody>
      </p:sp>
      <p:sp>
        <p:nvSpPr>
          <p:cNvPr id="4" name="TextBox 3">
            <a:extLst>
              <a:ext uri="{FF2B5EF4-FFF2-40B4-BE49-F238E27FC236}">
                <a16:creationId xmlns:a16="http://schemas.microsoft.com/office/drawing/2014/main" id="{72EBF8A6-F488-1175-86AD-4A2E62DCD87E}"/>
              </a:ext>
            </a:extLst>
          </p:cNvPr>
          <p:cNvSpPr txBox="1"/>
          <p:nvPr/>
        </p:nvSpPr>
        <p:spPr>
          <a:xfrm>
            <a:off x="337872" y="1792783"/>
            <a:ext cx="6187107" cy="400110"/>
          </a:xfrm>
          <a:prstGeom prst="rect">
            <a:avLst/>
          </a:prstGeom>
          <a:noFill/>
        </p:spPr>
        <p:txBody>
          <a:bodyPr wrap="square" rtlCol="0">
            <a:spAutoFit/>
          </a:bodyPr>
          <a:lstStyle/>
          <a:p>
            <a:pPr algn="just"/>
            <a:r>
              <a:rPr lang="en-US" altLang="ko-KR" sz="2000" dirty="0"/>
              <a:t>- Fourier Transform</a:t>
            </a:r>
          </a:p>
        </p:txBody>
      </p:sp>
    </p:spTree>
    <p:extLst>
      <p:ext uri="{BB962C8B-B14F-4D97-AF65-F5344CB8AC3E}">
        <p14:creationId xmlns:p14="http://schemas.microsoft.com/office/powerpoint/2010/main" val="1162992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42224" y="2852184"/>
            <a:ext cx="5307549" cy="707886"/>
          </a:xfrm>
          <a:prstGeom prst="rect">
            <a:avLst/>
          </a:prstGeom>
          <a:noFill/>
        </p:spPr>
        <p:txBody>
          <a:bodyPr wrap="square" rtlCol="0">
            <a:spAutoFit/>
          </a:bodyPr>
          <a:lstStyle/>
          <a:p>
            <a:pPr algn="ctr"/>
            <a:r>
              <a:rPr lang="en-US" sz="4000" dirty="0"/>
              <a:t>Thank You</a:t>
            </a:r>
          </a:p>
        </p:txBody>
      </p:sp>
      <p:sp>
        <p:nvSpPr>
          <p:cNvPr id="3" name="TextBox 2"/>
          <p:cNvSpPr txBox="1"/>
          <p:nvPr/>
        </p:nvSpPr>
        <p:spPr>
          <a:xfrm>
            <a:off x="5230902" y="3651873"/>
            <a:ext cx="1730195" cy="284052"/>
          </a:xfrm>
          <a:prstGeom prst="rect">
            <a:avLst/>
          </a:prstGeom>
          <a:noFill/>
        </p:spPr>
        <p:txBody>
          <a:bodyPr wrap="square" rtlCol="0">
            <a:spAutoFit/>
          </a:bodyPr>
          <a:lstStyle/>
          <a:p>
            <a:pPr algn="ctr"/>
            <a:r>
              <a:rPr lang="en-US" sz="1246" dirty="0"/>
              <a:t>anhtl@ut.edu.vn</a:t>
            </a:r>
          </a:p>
        </p:txBody>
      </p:sp>
      <p:sp>
        <p:nvSpPr>
          <p:cNvPr id="4" name="Rectangle 3"/>
          <p:cNvSpPr/>
          <p:nvPr/>
        </p:nvSpPr>
        <p:spPr>
          <a:xfrm>
            <a:off x="9213274" y="6542116"/>
            <a:ext cx="1454727" cy="3158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023490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113143</TotalTime>
  <Words>911</Words>
  <Application>Microsoft Office PowerPoint</Application>
  <PresentationFormat>Widescreen</PresentationFormat>
  <Paragraphs>102</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source-serif-pro</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Tran Le Anh</cp:lastModifiedBy>
  <cp:revision>6305</cp:revision>
  <cp:lastPrinted>2021-09-06T03:39:39Z</cp:lastPrinted>
  <dcterms:created xsi:type="dcterms:W3CDTF">2020-10-10T03:17:57Z</dcterms:created>
  <dcterms:modified xsi:type="dcterms:W3CDTF">2025-03-30T14:22:59Z</dcterms:modified>
</cp:coreProperties>
</file>